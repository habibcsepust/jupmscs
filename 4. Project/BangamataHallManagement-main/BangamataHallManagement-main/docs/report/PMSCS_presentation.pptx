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7"/>
  </p:notesMasterIdLst>
  <p:sldIdLst>
    <p:sldId id="256" r:id="rId2"/>
    <p:sldId id="257" r:id="rId3"/>
    <p:sldId id="284" r:id="rId4"/>
    <p:sldId id="279" r:id="rId5"/>
    <p:sldId id="282" r:id="rId6"/>
    <p:sldId id="305" r:id="rId7"/>
    <p:sldId id="285" r:id="rId8"/>
    <p:sldId id="286" r:id="rId9"/>
    <p:sldId id="287" r:id="rId10"/>
    <p:sldId id="288" r:id="rId11"/>
    <p:sldId id="289" r:id="rId12"/>
    <p:sldId id="291" r:id="rId13"/>
    <p:sldId id="292" r:id="rId14"/>
    <p:sldId id="293" r:id="rId15"/>
    <p:sldId id="294" r:id="rId16"/>
    <p:sldId id="295" r:id="rId17"/>
    <p:sldId id="296" r:id="rId18"/>
    <p:sldId id="297" r:id="rId19"/>
    <p:sldId id="298" r:id="rId20"/>
    <p:sldId id="299" r:id="rId21"/>
    <p:sldId id="300" r:id="rId22"/>
    <p:sldId id="301" r:id="rId23"/>
    <p:sldId id="302" r:id="rId24"/>
    <p:sldId id="303" r:id="rId25"/>
    <p:sldId id="304"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ECFF"/>
    <a:srgbClr val="FFCCFF"/>
    <a:srgbClr val="0033CC"/>
    <a:srgbClr val="CCCCFF"/>
    <a:srgbClr val="99CCFF"/>
    <a:srgbClr val="FF9966"/>
    <a:srgbClr val="FF99FF"/>
    <a:srgbClr val="FFCCCC"/>
    <a:srgbClr val="00FFFF"/>
    <a:srgbClr val="CCFFCC"/>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5" d="100"/>
          <a:sy n="105" d="100"/>
        </p:scale>
        <p:origin x="-1794" y="-7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 Id="rId4"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4" Type="http://schemas.openxmlformats.org/officeDocument/2006/relationships/image" Target="../media/image1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6E8486-4D53-4155-8CCD-EA32A9FFA795}" type="datetimeFigureOut">
              <a:rPr lang="en-US" smtClean="0"/>
              <a:pPr/>
              <a:t>2024-03-20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5629AAC-87E7-4429-BFA3-CD3A6E901DB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5629AAC-87E7-4429-BFA3-CD3A6E901DBF}" type="slidenum">
              <a:rPr lang="en-US" smtClean="0"/>
              <a:pPr/>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5C35A41-A9BC-4E4E-AB72-6A40DCEA6E4F}" type="datetime1">
              <a:rPr lang="en-US" smtClean="0"/>
              <a:pPr/>
              <a:t>2024-03-20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pull di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49F86F-AEEA-4946-82A2-257E530F045B}" type="datetime1">
              <a:rPr lang="en-US" smtClean="0"/>
              <a:pPr/>
              <a:t>2024-03-20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pull di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9F93D3-D550-4C00-A2BD-AA240C9E0090}" type="datetime1">
              <a:rPr lang="en-US" smtClean="0"/>
              <a:pPr/>
              <a:t>2024-03-20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pull di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8E9E73D-8DEB-447C-8CED-EE45E4E34555}" type="datetime1">
              <a:rPr lang="en-US" smtClean="0"/>
              <a:pPr/>
              <a:t>2024-03-20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pull di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A94A61-FB0B-4C87-A15C-8199ED4B83CC}" type="datetime1">
              <a:rPr lang="en-US" smtClean="0"/>
              <a:pPr/>
              <a:t>2024-03-20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pull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61643A3-0030-43ED-B274-E02EF7063FFC}" type="datetime1">
              <a:rPr lang="en-US" smtClean="0"/>
              <a:pPr/>
              <a:t>2024-03-20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pull di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487B38-267A-4345-893D-C6D7FDA08098}" type="datetime1">
              <a:rPr lang="en-US" smtClean="0"/>
              <a:pPr/>
              <a:t>2024-03-20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pull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557A758-5033-4657-A8A7-B0D911AB9458}" type="datetime1">
              <a:rPr lang="en-US" smtClean="0"/>
              <a:pPr/>
              <a:t>2024-03-20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pull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1E29BE2-DC8B-4F63-B9CB-20ED698BE543}" type="datetime1">
              <a:rPr lang="en-US" smtClean="0"/>
              <a:pPr/>
              <a:t>2024-03-20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pull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6C741D8-3352-42ED-B5E7-DBD91A8BE599}" type="datetime1">
              <a:rPr lang="en-US" smtClean="0"/>
              <a:pPr/>
              <a:t>2024-03-20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pull di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FD5B265-25B4-4114-9879-8D94034C96CC}" type="datetime1">
              <a:rPr lang="en-US" smtClean="0"/>
              <a:pPr/>
              <a:t>2024-03-20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pull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EAAA0B-5C2C-4196-B741-79CD8F14358B}" type="datetime1">
              <a:rPr lang="en-US" smtClean="0"/>
              <a:pPr/>
              <a:t>2024-03-20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pull dir="d"/>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http://upload.wikimedia.org/wikipedia/en/0/0a/JU-logo.png"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 Id="rId5" Type="http://schemas.openxmlformats.org/officeDocument/2006/relationships/image" Target="../media/image7.emf"/><Relationship Id="rId4" Type="http://schemas.openxmlformats.org/officeDocument/2006/relationships/image" Target="../media/image6.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6.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10.bin"/><Relationship Id="rId5" Type="http://schemas.openxmlformats.org/officeDocument/2006/relationships/oleObject" Target="../embeddings/oleObject9.bin"/><Relationship Id="rId4" Type="http://schemas.openxmlformats.org/officeDocument/2006/relationships/oleObject" Target="../embeddings/oleObject8.bin"/></Relationships>
</file>

<file path=ppt/slides/_rels/slide1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emf"/><Relationship Id="rId7" Type="http://schemas.openxmlformats.org/officeDocument/2006/relationships/image" Target="../media/image27.emf"/><Relationship Id="rId2" Type="http://schemas.openxmlformats.org/officeDocument/2006/relationships/image" Target="../media/image22.emf"/><Relationship Id="rId1" Type="http://schemas.openxmlformats.org/officeDocument/2006/relationships/slideLayout" Target="../slideLayouts/slideLayout2.xml"/><Relationship Id="rId6" Type="http://schemas.openxmlformats.org/officeDocument/2006/relationships/image" Target="../media/image26.emf"/><Relationship Id="rId5" Type="http://schemas.openxmlformats.org/officeDocument/2006/relationships/image" Target="../media/image25.emf"/><Relationship Id="rId4" Type="http://schemas.openxmlformats.org/officeDocument/2006/relationships/image" Target="../media/image24.emf"/></Relationships>
</file>

<file path=ppt/slides/_rels/slide18.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2.xml"/><Relationship Id="rId5" Type="http://schemas.openxmlformats.org/officeDocument/2006/relationships/image" Target="../media/image32.emf"/><Relationship Id="rId4" Type="http://schemas.openxmlformats.org/officeDocument/2006/relationships/image" Target="../media/image31.emf"/></Relationships>
</file>

<file path=ppt/slides/_rels/slide20.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xml"/><Relationship Id="rId5" Type="http://schemas.openxmlformats.org/officeDocument/2006/relationships/image" Target="../media/image36.emf"/><Relationship Id="rId4" Type="http://schemas.openxmlformats.org/officeDocument/2006/relationships/image" Target="../media/image35.emf"/></Relationships>
</file>

<file path=ppt/slides/_rels/slide21.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1477328"/>
          </a:xfrm>
          <a:solidFill>
            <a:srgbClr val="92D050"/>
          </a:solidFill>
        </p:spPr>
        <p:txBody>
          <a:bodyPr>
            <a:noAutofit/>
          </a:bodyPr>
          <a:lstStyle/>
          <a:p>
            <a:r>
              <a:rPr lang="en-US" sz="3200" b="1" dirty="0" smtClean="0">
                <a:solidFill>
                  <a:srgbClr val="0033CC"/>
                </a:solidFill>
                <a:latin typeface="Times New Roman" pitchFamily="18" charset="0"/>
                <a:cs typeface="Times New Roman" pitchFamily="18" charset="0"/>
              </a:rPr>
              <a:t>Web Application </a:t>
            </a:r>
            <a:br>
              <a:rPr lang="en-US" sz="3200" b="1" dirty="0" smtClean="0">
                <a:solidFill>
                  <a:srgbClr val="0033CC"/>
                </a:solidFill>
                <a:latin typeface="Times New Roman" pitchFamily="18" charset="0"/>
                <a:cs typeface="Times New Roman" pitchFamily="18" charset="0"/>
              </a:rPr>
            </a:br>
            <a:r>
              <a:rPr lang="en-US" sz="3200" b="1" dirty="0" smtClean="0">
                <a:solidFill>
                  <a:srgbClr val="0033CC"/>
                </a:solidFill>
                <a:latin typeface="Times New Roman" pitchFamily="18" charset="0"/>
                <a:cs typeface="Times New Roman" pitchFamily="18" charset="0"/>
              </a:rPr>
              <a:t>on</a:t>
            </a:r>
            <a:br>
              <a:rPr lang="en-US" sz="3200" b="1" dirty="0" smtClean="0">
                <a:solidFill>
                  <a:srgbClr val="0033CC"/>
                </a:solidFill>
                <a:latin typeface="Times New Roman" pitchFamily="18" charset="0"/>
                <a:cs typeface="Times New Roman" pitchFamily="18" charset="0"/>
              </a:rPr>
            </a:br>
            <a:r>
              <a:rPr lang="en-US" sz="3200" b="1" dirty="0" err="1" smtClean="0">
                <a:solidFill>
                  <a:srgbClr val="0033CC"/>
                </a:solidFill>
                <a:latin typeface="Times New Roman" pitchFamily="18" charset="0"/>
                <a:cs typeface="Times New Roman" pitchFamily="18" charset="0"/>
              </a:rPr>
              <a:t>Bangamata</a:t>
            </a:r>
            <a:r>
              <a:rPr lang="en-US" sz="3200" b="1" dirty="0" smtClean="0">
                <a:solidFill>
                  <a:srgbClr val="0033CC"/>
                </a:solidFill>
                <a:latin typeface="Times New Roman" pitchFamily="18" charset="0"/>
                <a:cs typeface="Times New Roman" pitchFamily="18" charset="0"/>
              </a:rPr>
              <a:t> Hall Management</a:t>
            </a:r>
            <a:endParaRPr lang="en-US" sz="3200" b="1" dirty="0">
              <a:solidFill>
                <a:srgbClr val="0033CC"/>
              </a:solidFill>
              <a:latin typeface="Times New Roman" pitchFamily="18" charset="0"/>
              <a:cs typeface="Times New Roman" pitchFamily="18" charset="0"/>
            </a:endParaRPr>
          </a:p>
        </p:txBody>
      </p:sp>
      <p:sp>
        <p:nvSpPr>
          <p:cNvPr id="4" name="TextBox 3"/>
          <p:cNvSpPr txBox="1"/>
          <p:nvPr/>
        </p:nvSpPr>
        <p:spPr>
          <a:xfrm>
            <a:off x="1371600" y="4800600"/>
            <a:ext cx="5867400" cy="1200329"/>
          </a:xfrm>
          <a:prstGeom prst="rect">
            <a:avLst/>
          </a:prstGeom>
          <a:solidFill>
            <a:srgbClr val="CCECFF"/>
          </a:solidFill>
        </p:spPr>
        <p:txBody>
          <a:bodyPr wrap="square" rtlCol="0">
            <a:spAutoFit/>
          </a:bodyPr>
          <a:lstStyle/>
          <a:p>
            <a:pPr algn="ctr"/>
            <a:r>
              <a:rPr lang="en-US" b="1" dirty="0">
                <a:latin typeface="Times New Roman" pitchFamily="18" charset="0"/>
                <a:cs typeface="Times New Roman" pitchFamily="18" charset="0"/>
              </a:rPr>
              <a:t>Supervised by</a:t>
            </a:r>
          </a:p>
          <a:p>
            <a:pPr algn="ctr"/>
            <a:r>
              <a:rPr lang="en-US" b="1" dirty="0">
                <a:latin typeface="Times New Roman" pitchFamily="18" charset="0"/>
                <a:cs typeface="Times New Roman" pitchFamily="18" charset="0"/>
              </a:rPr>
              <a:t>Dr. Md. </a:t>
            </a:r>
            <a:r>
              <a:rPr lang="en-US" b="1" dirty="0" err="1">
                <a:latin typeface="Times New Roman" pitchFamily="18" charset="0"/>
                <a:cs typeface="Times New Roman" pitchFamily="18" charset="0"/>
              </a:rPr>
              <a:t>Imdadul</a:t>
            </a:r>
            <a:r>
              <a:rPr lang="en-US" b="1" dirty="0">
                <a:latin typeface="Times New Roman" pitchFamily="18" charset="0"/>
                <a:cs typeface="Times New Roman" pitchFamily="18" charset="0"/>
              </a:rPr>
              <a:t> Islam</a:t>
            </a:r>
          </a:p>
          <a:p>
            <a:pPr algn="ctr"/>
            <a:r>
              <a:rPr lang="en-US" dirty="0">
                <a:latin typeface="Times New Roman" pitchFamily="18" charset="0"/>
                <a:cs typeface="Times New Roman" pitchFamily="18" charset="0"/>
              </a:rPr>
              <a:t>Professor Department of Computer Science and engineering,</a:t>
            </a:r>
          </a:p>
          <a:p>
            <a:pPr algn="ctr"/>
            <a:r>
              <a:rPr lang="en-US" dirty="0" err="1">
                <a:latin typeface="Times New Roman" pitchFamily="18" charset="0"/>
                <a:cs typeface="Times New Roman" pitchFamily="18" charset="0"/>
              </a:rPr>
              <a:t>Jahangirnagar</a:t>
            </a:r>
            <a:r>
              <a:rPr lang="en-US" dirty="0">
                <a:latin typeface="Times New Roman" pitchFamily="18" charset="0"/>
                <a:cs typeface="Times New Roman" pitchFamily="18" charset="0"/>
              </a:rPr>
              <a:t> University</a:t>
            </a:r>
          </a:p>
        </p:txBody>
      </p:sp>
      <p:sp>
        <p:nvSpPr>
          <p:cNvPr id="5" name="TextBox 4"/>
          <p:cNvSpPr txBox="1"/>
          <p:nvPr/>
        </p:nvSpPr>
        <p:spPr>
          <a:xfrm>
            <a:off x="3729912" y="6199457"/>
            <a:ext cx="1219200" cy="369332"/>
          </a:xfrm>
          <a:prstGeom prst="rect">
            <a:avLst/>
          </a:prstGeom>
          <a:solidFill>
            <a:srgbClr val="CCECFF"/>
          </a:solidFill>
        </p:spPr>
        <p:txBody>
          <a:bodyPr wrap="square" rtlCol="0">
            <a:spAutoFit/>
          </a:bodyPr>
          <a:lstStyle/>
          <a:p>
            <a:r>
              <a:rPr lang="en-US" b="1" dirty="0">
                <a:solidFill>
                  <a:srgbClr val="FF0000"/>
                </a:solidFill>
                <a:latin typeface="Times New Roman" pitchFamily="18" charset="0"/>
                <a:cs typeface="Times New Roman" pitchFamily="18" charset="0"/>
              </a:rPr>
              <a:t>June 21</a:t>
            </a:r>
          </a:p>
        </p:txBody>
      </p:sp>
      <p:pic>
        <p:nvPicPr>
          <p:cNvPr id="3073" name="il_fi" descr="http://upload.wikimedia.org/wikipedia/en/0/0a/JU-logo.png"/>
          <p:cNvPicPr>
            <a:picLocks noChangeAspect="1" noChangeArrowheads="1"/>
          </p:cNvPicPr>
          <p:nvPr/>
        </p:nvPicPr>
        <p:blipFill>
          <a:blip r:embed="rId2" r:link="rId3" cstate="print"/>
          <a:srcRect/>
          <a:stretch>
            <a:fillRect/>
          </a:stretch>
        </p:blipFill>
        <p:spPr bwMode="auto">
          <a:xfrm>
            <a:off x="3695700" y="1617118"/>
            <a:ext cx="1219200" cy="1435155"/>
          </a:xfrm>
          <a:prstGeom prst="rect">
            <a:avLst/>
          </a:prstGeom>
          <a:noFill/>
          <a:ln w="9525">
            <a:noFill/>
            <a:miter lim="800000"/>
            <a:headEnd/>
            <a:tailEnd/>
          </a:ln>
        </p:spPr>
      </p:pic>
      <p:sp>
        <p:nvSpPr>
          <p:cNvPr id="6" name="TextBox 5">
            <a:extLst>
              <a:ext uri="{FF2B5EF4-FFF2-40B4-BE49-F238E27FC236}">
                <a16:creationId xmlns:a16="http://schemas.microsoft.com/office/drawing/2014/main" xmlns="" id="{BF02718D-BAD7-48C7-AA40-435D74C83632}"/>
              </a:ext>
            </a:extLst>
          </p:cNvPr>
          <p:cNvSpPr txBox="1"/>
          <p:nvPr/>
        </p:nvSpPr>
        <p:spPr>
          <a:xfrm>
            <a:off x="1371600" y="3192062"/>
            <a:ext cx="5867400" cy="1477328"/>
          </a:xfrm>
          <a:prstGeom prst="rect">
            <a:avLst/>
          </a:prstGeom>
          <a:solidFill>
            <a:srgbClr val="FFCCFF"/>
          </a:solidFill>
        </p:spPr>
        <p:txBody>
          <a:bodyPr wrap="square" rtlCol="0">
            <a:spAutoFit/>
          </a:bodyPr>
          <a:lstStyle/>
          <a:p>
            <a:pPr algn="ctr"/>
            <a:r>
              <a:rPr lang="en-US" b="1" dirty="0">
                <a:latin typeface="Times New Roman" pitchFamily="18" charset="0"/>
                <a:cs typeface="Times New Roman" pitchFamily="18" charset="0"/>
              </a:rPr>
              <a:t>Presented by</a:t>
            </a:r>
          </a:p>
          <a:p>
            <a:pPr algn="ctr"/>
            <a:r>
              <a:rPr lang="en-US" b="1" dirty="0">
                <a:latin typeface="Times New Roman" pitchFamily="18" charset="0"/>
                <a:cs typeface="Times New Roman" pitchFamily="18" charset="0"/>
              </a:rPr>
              <a:t>Name: </a:t>
            </a:r>
            <a:r>
              <a:rPr lang="en-US" b="1" dirty="0" smtClean="0">
                <a:latin typeface="Times New Roman" pitchFamily="18" charset="0"/>
                <a:cs typeface="Times New Roman" pitchFamily="18" charset="0"/>
              </a:rPr>
              <a:t>Md. </a:t>
            </a:r>
            <a:r>
              <a:rPr lang="en-US" b="1" dirty="0" err="1" smtClean="0">
                <a:latin typeface="Times New Roman" pitchFamily="18" charset="0"/>
                <a:cs typeface="Times New Roman" pitchFamily="18" charset="0"/>
              </a:rPr>
              <a:t>Shariful</a:t>
            </a:r>
            <a:r>
              <a:rPr lang="en-US" b="1" dirty="0" smtClean="0">
                <a:latin typeface="Times New Roman" pitchFamily="18" charset="0"/>
                <a:cs typeface="Times New Roman" pitchFamily="18" charset="0"/>
              </a:rPr>
              <a:t> Islam</a:t>
            </a:r>
            <a:endParaRPr lang="en-US" b="1" dirty="0">
              <a:latin typeface="Times New Roman" pitchFamily="18" charset="0"/>
              <a:cs typeface="Times New Roman" pitchFamily="18" charset="0"/>
            </a:endParaRPr>
          </a:p>
          <a:p>
            <a:pPr algn="ctr"/>
            <a:r>
              <a:rPr lang="en-US" dirty="0">
                <a:latin typeface="Times New Roman" pitchFamily="18" charset="0"/>
                <a:cs typeface="Times New Roman" pitchFamily="18" charset="0"/>
              </a:rPr>
              <a:t>Roll: </a:t>
            </a:r>
            <a:r>
              <a:rPr lang="en-US" dirty="0" smtClean="0">
                <a:latin typeface="Times New Roman" pitchFamily="18" charset="0"/>
                <a:cs typeface="Times New Roman" pitchFamily="18" charset="0"/>
              </a:rPr>
              <a:t>CSE202301044</a:t>
            </a:r>
            <a:endParaRPr lang="en-US" dirty="0">
              <a:latin typeface="Times New Roman" pitchFamily="18" charset="0"/>
              <a:cs typeface="Times New Roman" pitchFamily="18" charset="0"/>
            </a:endParaRPr>
          </a:p>
          <a:p>
            <a:pPr algn="ctr"/>
            <a:r>
              <a:rPr lang="en-US" dirty="0">
                <a:latin typeface="Times New Roman" pitchFamily="18" charset="0"/>
                <a:cs typeface="Times New Roman" pitchFamily="18" charset="0"/>
              </a:rPr>
              <a:t>Session: </a:t>
            </a:r>
            <a:r>
              <a:rPr lang="en-US" dirty="0" smtClean="0">
                <a:latin typeface="Times New Roman" pitchFamily="18" charset="0"/>
                <a:cs typeface="Times New Roman" pitchFamily="18" charset="0"/>
              </a:rPr>
              <a:t>2023</a:t>
            </a:r>
            <a:endParaRPr lang="en-US" dirty="0">
              <a:latin typeface="Times New Roman" pitchFamily="18" charset="0"/>
              <a:cs typeface="Times New Roman" pitchFamily="18" charset="0"/>
            </a:endParaRPr>
          </a:p>
          <a:p>
            <a:pPr algn="ctr"/>
            <a:r>
              <a:rPr lang="en-US" dirty="0" err="1">
                <a:latin typeface="Times New Roman" pitchFamily="18" charset="0"/>
                <a:cs typeface="Times New Roman" pitchFamily="18" charset="0"/>
              </a:rPr>
              <a:t>Jahangirnagar</a:t>
            </a:r>
            <a:r>
              <a:rPr lang="en-US" dirty="0">
                <a:latin typeface="Times New Roman" pitchFamily="18" charset="0"/>
                <a:cs typeface="Times New Roman" pitchFamily="18" charset="0"/>
              </a:rPr>
              <a:t> University</a:t>
            </a:r>
          </a:p>
        </p:txBody>
      </p:sp>
    </p:spTree>
  </p:cSld>
  <p:clrMapOvr>
    <a:masterClrMapping/>
  </p:clrMapOvr>
  <p:transition>
    <p:wedg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1066800"/>
            <a:ext cx="8915400" cy="4339650"/>
          </a:xfrm>
          <a:prstGeom prst="rect">
            <a:avLst/>
          </a:prstGeom>
          <a:solidFill>
            <a:srgbClr val="CCECFF"/>
          </a:solidFill>
        </p:spPr>
        <p:txBody>
          <a:bodyPr wrap="square" rtlCol="0">
            <a:spAutoFit/>
          </a:bodyPr>
          <a:lstStyle/>
          <a:p>
            <a:pPr algn="just"/>
            <a:r>
              <a:rPr lang="en-US" sz="3600" b="1" dirty="0">
                <a:solidFill>
                  <a:srgbClr val="FF0000"/>
                </a:solidFill>
                <a:latin typeface="Times New Roman" pitchFamily="18" charset="0"/>
                <a:cs typeface="Times New Roman" pitchFamily="18" charset="0"/>
              </a:rPr>
              <a:t>Abstract</a:t>
            </a:r>
          </a:p>
          <a:p>
            <a:pPr algn="just"/>
            <a:endParaRPr lang="en-US" sz="2400" dirty="0">
              <a:latin typeface="Times New Roman" pitchFamily="18" charset="0"/>
              <a:cs typeface="Times New Roman" pitchFamily="18" charset="0"/>
            </a:endParaRPr>
          </a:p>
          <a:p>
            <a:pPr algn="just">
              <a:buFont typeface="Wingdings" pitchFamily="2" charset="2"/>
              <a:buChar char="ü"/>
            </a:pPr>
            <a:r>
              <a:rPr lang="en-US" sz="2400" dirty="0">
                <a:latin typeface="Times New Roman" pitchFamily="18" charset="0"/>
                <a:cs typeface="Times New Roman" pitchFamily="18" charset="0"/>
              </a:rPr>
              <a:t>Objective of this project work is to implement ‘</a:t>
            </a:r>
            <a:r>
              <a:rPr lang="en-US" sz="2400" dirty="0">
                <a:solidFill>
                  <a:srgbClr val="0033CC"/>
                </a:solidFill>
                <a:latin typeface="Times New Roman" pitchFamily="18" charset="0"/>
                <a:cs typeface="Times New Roman" pitchFamily="18" charset="0"/>
              </a:rPr>
              <a:t>digital watermarking</a:t>
            </a:r>
            <a:r>
              <a:rPr lang="en-US" sz="2400" dirty="0">
                <a:latin typeface="Times New Roman" pitchFamily="18" charset="0"/>
                <a:cs typeface="Times New Roman" pitchFamily="18" charset="0"/>
              </a:rPr>
              <a:t>’ algorithm using ‘</a:t>
            </a:r>
            <a:r>
              <a:rPr lang="en-US" sz="2400" dirty="0">
                <a:solidFill>
                  <a:srgbClr val="0033CC"/>
                </a:solidFill>
                <a:latin typeface="Times New Roman" pitchFamily="18" charset="0"/>
                <a:cs typeface="Times New Roman" pitchFamily="18" charset="0"/>
              </a:rPr>
              <a:t>complex number</a:t>
            </a:r>
            <a:r>
              <a:rPr lang="en-US" sz="2400" dirty="0">
                <a:latin typeface="Times New Roman" pitchFamily="18" charset="0"/>
                <a:cs typeface="Times New Roman" pitchFamily="18" charset="0"/>
              </a:rPr>
              <a:t>’ theory. Here each pixel of original image is considered as the real part of each complex number and imaginary part correspond to the pixel of watermark. </a:t>
            </a:r>
          </a:p>
          <a:p>
            <a:pPr algn="just"/>
            <a:endParaRPr lang="en-US" sz="2400" dirty="0">
              <a:latin typeface="Times New Roman" pitchFamily="18" charset="0"/>
              <a:cs typeface="Times New Roman" pitchFamily="18" charset="0"/>
            </a:endParaRPr>
          </a:p>
          <a:p>
            <a:pPr algn="just">
              <a:buFont typeface="Wingdings" pitchFamily="2" charset="2"/>
              <a:buChar char="ü"/>
            </a:pPr>
            <a:r>
              <a:rPr lang="en-US" sz="2400" dirty="0">
                <a:latin typeface="Times New Roman" pitchFamily="18" charset="0"/>
                <a:cs typeface="Times New Roman" pitchFamily="18" charset="0"/>
              </a:rPr>
              <a:t>The matrix consists of absolute value of the complex number is treated as the watermarked image. The real and imaginary components of each complex number cannot be retrieved without the knowledge phase angle, which is treated as the key of secured watermarked image. </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ransition>
    <p:pull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6781800" y="6492875"/>
            <a:ext cx="2133600" cy="365125"/>
          </a:xfrm>
        </p:spPr>
        <p:txBody>
          <a:bodyPr/>
          <a:lstStyle/>
          <a:p>
            <a:fld id="{B6F15528-21DE-4FAA-801E-634DDDAF4B2B}" type="slidenum">
              <a:rPr lang="en-US" smtClean="0"/>
              <a:pPr/>
              <a:t>3</a:t>
            </a:fld>
            <a:endParaRPr lang="en-US"/>
          </a:p>
        </p:txBody>
      </p:sp>
      <p:sp>
        <p:nvSpPr>
          <p:cNvPr id="5" name="TextBox 4"/>
          <p:cNvSpPr txBox="1"/>
          <p:nvPr/>
        </p:nvSpPr>
        <p:spPr>
          <a:xfrm>
            <a:off x="4665" y="1295400"/>
            <a:ext cx="8991600" cy="1938992"/>
          </a:xfrm>
          <a:prstGeom prst="rect">
            <a:avLst/>
          </a:prstGeom>
          <a:solidFill>
            <a:srgbClr val="CCECFF"/>
          </a:solidFill>
        </p:spPr>
        <p:txBody>
          <a:bodyPr wrap="square" rtlCol="0">
            <a:spAutoFit/>
          </a:bodyPr>
          <a:lstStyle/>
          <a:p>
            <a:pPr algn="just">
              <a:buFont typeface="Wingdings" pitchFamily="2" charset="2"/>
              <a:buChar char="ü"/>
            </a:pPr>
            <a:r>
              <a:rPr lang="en-US" sz="2400" dirty="0">
                <a:latin typeface="Times New Roman" pitchFamily="18" charset="0"/>
                <a:cs typeface="Times New Roman" pitchFamily="18" charset="0"/>
              </a:rPr>
              <a:t>The phase angle of each complex number is transmitted through a secured channel. At receiving end when both the magnitude and phase angle of each pixel is estimated then the real and imaginary components of each complex number correspond to the pixel of original and watermarked images are determined with some accuracy.</a:t>
            </a:r>
            <a:endParaRPr lang="en-US" sz="2400" dirty="0"/>
          </a:p>
        </p:txBody>
      </p:sp>
    </p:spTree>
  </p:cSld>
  <p:clrMapOvr>
    <a:masterClrMapping/>
  </p:clrMapOvr>
  <p:transition spd="med">
    <p:pull dir="l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
        <p:nvSpPr>
          <p:cNvPr id="5" name="TextBox 4"/>
          <p:cNvSpPr txBox="1"/>
          <p:nvPr/>
        </p:nvSpPr>
        <p:spPr>
          <a:xfrm>
            <a:off x="990600" y="838200"/>
            <a:ext cx="6781800" cy="4370427"/>
          </a:xfrm>
          <a:prstGeom prst="rect">
            <a:avLst/>
          </a:prstGeom>
          <a:solidFill>
            <a:srgbClr val="CCECFF"/>
          </a:solidFill>
        </p:spPr>
        <p:txBody>
          <a:bodyPr wrap="square" rtlCol="0">
            <a:spAutoFit/>
          </a:bodyPr>
          <a:lstStyle/>
          <a:p>
            <a:r>
              <a:rPr lang="en-US" sz="5400" b="1" dirty="0">
                <a:solidFill>
                  <a:srgbClr val="0033CC"/>
                </a:solidFill>
                <a:latin typeface="Times New Roman" pitchFamily="18" charset="0"/>
                <a:cs typeface="Times New Roman" pitchFamily="18" charset="0"/>
              </a:rPr>
              <a:t>Presentation Outline</a:t>
            </a:r>
          </a:p>
          <a:p>
            <a:r>
              <a:rPr lang="en-US" sz="3200" b="1" dirty="0">
                <a:solidFill>
                  <a:srgbClr val="FF0000"/>
                </a:solidFill>
                <a:latin typeface="Times New Roman" pitchFamily="18" charset="0"/>
                <a:cs typeface="Times New Roman" pitchFamily="18" charset="0"/>
              </a:rPr>
              <a:t>1. Introduction</a:t>
            </a:r>
          </a:p>
          <a:p>
            <a:r>
              <a:rPr lang="en-US" sz="3200" b="1" dirty="0">
                <a:solidFill>
                  <a:srgbClr val="FF0000"/>
                </a:solidFill>
                <a:latin typeface="Times New Roman" pitchFamily="18" charset="0"/>
                <a:cs typeface="Times New Roman" pitchFamily="18" charset="0"/>
              </a:rPr>
              <a:t>2. Asymmetric Cryptography</a:t>
            </a:r>
          </a:p>
          <a:p>
            <a:r>
              <a:rPr lang="en-US" sz="3200" b="1" dirty="0">
                <a:solidFill>
                  <a:srgbClr val="FF0000"/>
                </a:solidFill>
                <a:latin typeface="Times New Roman" pitchFamily="18" charset="0"/>
                <a:cs typeface="Times New Roman" pitchFamily="18" charset="0"/>
              </a:rPr>
              <a:t>3. RSA algorithm</a:t>
            </a:r>
          </a:p>
          <a:p>
            <a:r>
              <a:rPr lang="en-US" sz="3200" b="1" dirty="0">
                <a:solidFill>
                  <a:srgbClr val="FF0000"/>
                </a:solidFill>
                <a:latin typeface="Times New Roman" pitchFamily="18" charset="0"/>
                <a:cs typeface="Times New Roman" pitchFamily="18" charset="0"/>
              </a:rPr>
              <a:t>4. Algorithm of Complex Number</a:t>
            </a:r>
          </a:p>
          <a:p>
            <a:r>
              <a:rPr lang="en-US" sz="3200" b="1" dirty="0">
                <a:solidFill>
                  <a:srgbClr val="FF0000"/>
                </a:solidFill>
                <a:latin typeface="Times New Roman" pitchFamily="18" charset="0"/>
                <a:cs typeface="Times New Roman" pitchFamily="18" charset="0"/>
              </a:rPr>
              <a:t>5. Results</a:t>
            </a:r>
          </a:p>
          <a:p>
            <a:r>
              <a:rPr lang="en-US" sz="3200" b="1" dirty="0">
                <a:solidFill>
                  <a:srgbClr val="FF0000"/>
                </a:solidFill>
                <a:latin typeface="Times New Roman" pitchFamily="18" charset="0"/>
                <a:cs typeface="Times New Roman" pitchFamily="18" charset="0"/>
              </a:rPr>
              <a:t>6. Conclusions</a:t>
            </a:r>
          </a:p>
          <a:p>
            <a:r>
              <a:rPr lang="en-US" sz="3200" b="1" dirty="0">
                <a:solidFill>
                  <a:srgbClr val="FF0000"/>
                </a:solidFill>
                <a:latin typeface="Times New Roman" pitchFamily="18" charset="0"/>
                <a:cs typeface="Times New Roman" pitchFamily="18" charset="0"/>
              </a:rPr>
              <a:t>7. References</a:t>
            </a:r>
          </a:p>
        </p:txBody>
      </p:sp>
    </p:spTree>
  </p:cSld>
  <p:clrMapOvr>
    <a:masterClrMapping/>
  </p:clrMapOvr>
  <p:transition spd="med">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 calcmode="lin" valueType="num">
                                      <p:cBhvr additive="base">
                                        <p:cTn id="2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 calcmode="lin" valueType="num">
                                      <p:cBhvr additive="base">
                                        <p:cTn id="31"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 calcmode="lin" valueType="num">
                                      <p:cBhvr additive="base">
                                        <p:cTn id="37"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7" end="7"/>
                                            </p:txEl>
                                          </p:spTgt>
                                        </p:tgtEl>
                                        <p:attrNameLst>
                                          <p:attrName>style.visibility</p:attrName>
                                        </p:attrNameLst>
                                      </p:cBhvr>
                                      <p:to>
                                        <p:strVal val="visible"/>
                                      </p:to>
                                    </p:set>
                                    <p:anim calcmode="lin" valueType="num">
                                      <p:cBhvr additive="base">
                                        <p:cTn id="43"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
        <p:nvSpPr>
          <p:cNvPr id="5" name="TextBox 4"/>
          <p:cNvSpPr txBox="1"/>
          <p:nvPr/>
        </p:nvSpPr>
        <p:spPr>
          <a:xfrm>
            <a:off x="228600" y="381000"/>
            <a:ext cx="3276600" cy="646331"/>
          </a:xfrm>
          <a:prstGeom prst="rect">
            <a:avLst/>
          </a:prstGeom>
          <a:solidFill>
            <a:srgbClr val="CCECFF"/>
          </a:solidFill>
        </p:spPr>
        <p:txBody>
          <a:bodyPr wrap="square" rtlCol="0">
            <a:spAutoFit/>
          </a:bodyPr>
          <a:lstStyle/>
          <a:p>
            <a:pPr marL="514350" indent="-514350" algn="just">
              <a:buAutoNum type="arabicPeriod"/>
            </a:pPr>
            <a:r>
              <a:rPr lang="en-US" sz="3600" b="1" dirty="0">
                <a:solidFill>
                  <a:srgbClr val="FF0000"/>
                </a:solidFill>
                <a:latin typeface="Times New Roman" pitchFamily="18" charset="0"/>
                <a:cs typeface="Times New Roman" pitchFamily="18" charset="0"/>
              </a:rPr>
              <a:t>Introduction</a:t>
            </a:r>
            <a:endParaRPr lang="en-US" sz="3600" dirty="0">
              <a:latin typeface="Times New Roman" pitchFamily="18" charset="0"/>
              <a:cs typeface="Times New Roman" pitchFamily="18" charset="0"/>
            </a:endParaRPr>
          </a:p>
        </p:txBody>
      </p:sp>
      <p:sp>
        <p:nvSpPr>
          <p:cNvPr id="6" name="TextBox 5"/>
          <p:cNvSpPr txBox="1"/>
          <p:nvPr/>
        </p:nvSpPr>
        <p:spPr>
          <a:xfrm>
            <a:off x="228600" y="1447800"/>
            <a:ext cx="8686800" cy="3785652"/>
          </a:xfrm>
          <a:prstGeom prst="rect">
            <a:avLst/>
          </a:prstGeom>
          <a:solidFill>
            <a:srgbClr val="FFCCFF"/>
          </a:solidFill>
        </p:spPr>
        <p:txBody>
          <a:bodyPr wrap="square" rtlCol="0">
            <a:spAutoFit/>
          </a:bodyPr>
          <a:lstStyle/>
          <a:p>
            <a:pPr algn="just">
              <a:buFont typeface="Wingdings" pitchFamily="2" charset="2"/>
              <a:buChar char="ü"/>
            </a:pPr>
            <a:r>
              <a:rPr lang="en-US" sz="2400" dirty="0">
                <a:latin typeface="Times New Roman" pitchFamily="18" charset="0"/>
                <a:cs typeface="Times New Roman" pitchFamily="18" charset="0"/>
              </a:rPr>
              <a:t>A digital </a:t>
            </a:r>
            <a:r>
              <a:rPr lang="en-US" sz="2400" i="1" dirty="0">
                <a:latin typeface="Times New Roman" pitchFamily="18" charset="0"/>
                <a:cs typeface="Times New Roman" pitchFamily="18" charset="0"/>
              </a:rPr>
              <a:t>watermarking </a:t>
            </a:r>
            <a:r>
              <a:rPr lang="en-US" sz="2400" dirty="0">
                <a:latin typeface="Times New Roman" pitchFamily="18" charset="0"/>
                <a:cs typeface="Times New Roman" pitchFamily="18" charset="0"/>
              </a:rPr>
              <a:t>is</a:t>
            </a:r>
            <a:r>
              <a:rPr lang="en-US" sz="2400" i="1" dirty="0">
                <a:latin typeface="Times New Roman" pitchFamily="18" charset="0"/>
                <a:cs typeface="Times New Roman" pitchFamily="18" charset="0"/>
              </a:rPr>
              <a:t> </a:t>
            </a:r>
            <a:r>
              <a:rPr lang="en-US" sz="2400" dirty="0">
                <a:latin typeface="Times New Roman" pitchFamily="18" charset="0"/>
                <a:cs typeface="Times New Roman" pitchFamily="18" charset="0"/>
              </a:rPr>
              <a:t>a pattern of bits inserted into a digital image, audio or video file that identifies the file's copyright information. </a:t>
            </a:r>
          </a:p>
          <a:p>
            <a:pPr algn="just"/>
            <a:endParaRPr lang="en-US" sz="2400" dirty="0">
              <a:latin typeface="Times New Roman" pitchFamily="18" charset="0"/>
              <a:cs typeface="Times New Roman" pitchFamily="18" charset="0"/>
            </a:endParaRPr>
          </a:p>
          <a:p>
            <a:pPr algn="just">
              <a:buFont typeface="Wingdings" pitchFamily="2" charset="2"/>
              <a:buChar char="ü"/>
            </a:pPr>
            <a:r>
              <a:rPr lang="en-US" sz="2400" dirty="0">
                <a:latin typeface="Times New Roman" pitchFamily="18" charset="0"/>
                <a:cs typeface="Times New Roman" pitchFamily="18" charset="0"/>
              </a:rPr>
              <a:t>The watermarking techniques can be on four types of signal: Image Watermarking, Video Watermarking, Audio Watermarking, and Text Watermarking.  Watermarking can be visible or invisible. </a:t>
            </a:r>
          </a:p>
          <a:p>
            <a:pPr algn="just"/>
            <a:endParaRPr lang="en-US" sz="2400" dirty="0">
              <a:latin typeface="Times New Roman" pitchFamily="18" charset="0"/>
              <a:cs typeface="Times New Roman" pitchFamily="18" charset="0"/>
            </a:endParaRPr>
          </a:p>
          <a:p>
            <a:pPr algn="just">
              <a:buFont typeface="Wingdings" pitchFamily="2" charset="2"/>
              <a:buChar char="ü"/>
            </a:pPr>
            <a:r>
              <a:rPr lang="en-US" sz="2400" dirty="0">
                <a:latin typeface="Times New Roman" pitchFamily="18" charset="0"/>
                <a:cs typeface="Times New Roman" pitchFamily="18" charset="0"/>
              </a:rPr>
              <a:t>The project work emphasis on secure communication based on digital watermarking.</a:t>
            </a:r>
            <a:endParaRPr lang="en-GB" sz="2400" dirty="0">
              <a:latin typeface="Times New Roman" pitchFamily="18" charset="0"/>
              <a:cs typeface="Times New Roman" pitchFamily="18" charset="0"/>
            </a:endParaRPr>
          </a:p>
        </p:txBody>
      </p:sp>
    </p:spTree>
  </p:cSld>
  <p:clrMapOvr>
    <a:masterClrMapping/>
  </p:clrMapOvr>
  <p:transition>
    <p:circl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FEDE4883-B581-4D14-B231-0AFAB597D1C5}"/>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5" name="TextBox 4">
            <a:extLst>
              <a:ext uri="{FF2B5EF4-FFF2-40B4-BE49-F238E27FC236}">
                <a16:creationId xmlns:a16="http://schemas.microsoft.com/office/drawing/2014/main" xmlns="" id="{F95A5AFC-C1A7-4E1F-B439-5E3C49C05EAE}"/>
              </a:ext>
            </a:extLst>
          </p:cNvPr>
          <p:cNvSpPr txBox="1"/>
          <p:nvPr/>
        </p:nvSpPr>
        <p:spPr>
          <a:xfrm>
            <a:off x="143069" y="457200"/>
            <a:ext cx="2895600" cy="523220"/>
          </a:xfrm>
          <a:prstGeom prst="rect">
            <a:avLst/>
          </a:prstGeom>
          <a:solidFill>
            <a:srgbClr val="FFC000"/>
          </a:solidFill>
        </p:spPr>
        <p:txBody>
          <a:bodyPr wrap="square" rtlCol="0">
            <a:spAutoFit/>
          </a:bodyPr>
          <a:lstStyle/>
          <a:p>
            <a:r>
              <a:rPr lang="en-US" sz="2800" dirty="0">
                <a:latin typeface="Times New Roman" panose="02020603050405020304" pitchFamily="18" charset="0"/>
                <a:cs typeface="Times New Roman" panose="02020603050405020304" pitchFamily="18" charset="0"/>
              </a:rPr>
              <a:t>Literature review</a:t>
            </a:r>
          </a:p>
        </p:txBody>
      </p:sp>
      <p:sp>
        <p:nvSpPr>
          <p:cNvPr id="6" name="TextBox 5">
            <a:extLst>
              <a:ext uri="{FF2B5EF4-FFF2-40B4-BE49-F238E27FC236}">
                <a16:creationId xmlns:a16="http://schemas.microsoft.com/office/drawing/2014/main" xmlns="" id="{C366E299-4FBF-49AC-8406-0FED443E83E6}"/>
              </a:ext>
            </a:extLst>
          </p:cNvPr>
          <p:cNvSpPr txBox="1"/>
          <p:nvPr/>
        </p:nvSpPr>
        <p:spPr>
          <a:xfrm>
            <a:off x="152400" y="1524000"/>
            <a:ext cx="8610600" cy="4154984"/>
          </a:xfrm>
          <a:prstGeom prst="rect">
            <a:avLst/>
          </a:prstGeom>
          <a:solidFill>
            <a:srgbClr val="CCECFF"/>
          </a:solidFill>
        </p:spPr>
        <p:txBody>
          <a:bodyPr wrap="square" rtlCol="0">
            <a:spAutoFit/>
          </a:bodyPr>
          <a:lstStyle/>
          <a:p>
            <a:pPr marL="342900"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In [2], short-term load forecasting is done based on fuzzy logic, to find electrical load loss in the generation end. The authors prepare fuzzy rules based on historical data. </a:t>
            </a:r>
          </a:p>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 work is found about long term forecasting of power system in [3], where the authors use Artificial Neural Network (ANN) and Adaptive Neuro-Fuzzy Interference System (ANFIS). Six parameters are used as input, which are temperature, humidity, wind speed, rainfall, data of previous load and data of actual load. A table is presented to compare the error between ANN and ANFIS, where the average error is 6.7% and 0.096% respectively.</a:t>
            </a:r>
          </a:p>
        </p:txBody>
      </p:sp>
      <p:sp>
        <p:nvSpPr>
          <p:cNvPr id="7" name="TextBox 6">
            <a:extLst>
              <a:ext uri="{FF2B5EF4-FFF2-40B4-BE49-F238E27FC236}">
                <a16:creationId xmlns:a16="http://schemas.microsoft.com/office/drawing/2014/main" xmlns="" id="{536BBD77-79C0-468B-8187-8FD0D64FF910}"/>
              </a:ext>
            </a:extLst>
          </p:cNvPr>
          <p:cNvSpPr txBox="1"/>
          <p:nvPr/>
        </p:nvSpPr>
        <p:spPr>
          <a:xfrm>
            <a:off x="304800" y="5943600"/>
            <a:ext cx="861060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Research Gap: </a:t>
            </a:r>
          </a:p>
        </p:txBody>
      </p:sp>
    </p:spTree>
    <p:extLst>
      <p:ext uri="{BB962C8B-B14F-4D97-AF65-F5344CB8AC3E}">
        <p14:creationId xmlns:p14="http://schemas.microsoft.com/office/powerpoint/2010/main" xmlns="" val="2184233019"/>
      </p:ext>
    </p:extLst>
  </p:cSld>
  <p:clrMapOvr>
    <a:masterClrMapping/>
  </p:clrMapOvr>
  <p:transition>
    <p:pull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
        <p:nvSpPr>
          <p:cNvPr id="5" name="TextBox 4"/>
          <p:cNvSpPr txBox="1"/>
          <p:nvPr/>
        </p:nvSpPr>
        <p:spPr>
          <a:xfrm>
            <a:off x="152400" y="914400"/>
            <a:ext cx="8839200" cy="1938992"/>
          </a:xfrm>
          <a:prstGeom prst="rect">
            <a:avLst/>
          </a:prstGeom>
          <a:solidFill>
            <a:srgbClr val="CCECFF"/>
          </a:solidFill>
        </p:spPr>
        <p:txBody>
          <a:bodyPr wrap="square" rtlCol="0">
            <a:spAutoFit/>
          </a:bodyPr>
          <a:lstStyle/>
          <a:p>
            <a:pPr algn="just"/>
            <a:r>
              <a:rPr lang="en-US" sz="2400" dirty="0">
                <a:latin typeface="Times New Roman" pitchFamily="18" charset="0"/>
                <a:cs typeface="Times New Roman" pitchFamily="18" charset="0"/>
              </a:rPr>
              <a:t>Under asymmetric cryptography, each user (for example </a:t>
            </a:r>
            <a:r>
              <a:rPr lang="en-US" sz="2400" dirty="0" err="1">
                <a:latin typeface="Times New Roman" pitchFamily="18" charset="0"/>
                <a:cs typeface="Times New Roman" pitchFamily="18" charset="0"/>
              </a:rPr>
              <a:t>Kabir</a:t>
            </a:r>
            <a:r>
              <a:rPr lang="en-US" sz="2400" dirty="0">
                <a:latin typeface="Times New Roman" pitchFamily="18" charset="0"/>
                <a:cs typeface="Times New Roman" pitchFamily="18" charset="0"/>
              </a:rPr>
              <a:t>) requires two key: ‘</a:t>
            </a:r>
            <a:r>
              <a:rPr lang="en-US" sz="2400" dirty="0">
                <a:solidFill>
                  <a:srgbClr val="0033CC"/>
                </a:solidFill>
                <a:latin typeface="Times New Roman" pitchFamily="18" charset="0"/>
                <a:cs typeface="Times New Roman" pitchFamily="18" charset="0"/>
              </a:rPr>
              <a:t>public key</a:t>
            </a:r>
            <a:r>
              <a:rPr lang="en-US" sz="2400" dirty="0">
                <a:latin typeface="Times New Roman" pitchFamily="18" charset="0"/>
                <a:cs typeface="Times New Roman" pitchFamily="18" charset="0"/>
              </a:rPr>
              <a:t>’ which is used by all users (</a:t>
            </a:r>
            <a:r>
              <a:rPr lang="en-US" sz="2400" dirty="0" err="1">
                <a:latin typeface="Times New Roman" pitchFamily="18" charset="0"/>
                <a:cs typeface="Times New Roman" pitchFamily="18" charset="0"/>
              </a:rPr>
              <a:t>Badal</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Nasir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Belal</a:t>
            </a:r>
            <a:r>
              <a:rPr lang="en-US" sz="2400" dirty="0">
                <a:latin typeface="Times New Roman" pitchFamily="18" charset="0"/>
                <a:cs typeface="Times New Roman" pitchFamily="18" charset="0"/>
              </a:rPr>
              <a:t>, …)  to encrypt the message to be sent to that user (</a:t>
            </a:r>
            <a:r>
              <a:rPr lang="en-US" sz="2400" dirty="0" err="1">
                <a:latin typeface="Times New Roman" pitchFamily="18" charset="0"/>
                <a:cs typeface="Times New Roman" pitchFamily="18" charset="0"/>
              </a:rPr>
              <a:t>Kabir</a:t>
            </a:r>
            <a:r>
              <a:rPr lang="en-US" sz="2400" dirty="0">
                <a:latin typeface="Times New Roman" pitchFamily="18" charset="0"/>
                <a:cs typeface="Times New Roman" pitchFamily="18" charset="0"/>
              </a:rPr>
              <a:t>) and a ‘</a:t>
            </a:r>
            <a:r>
              <a:rPr lang="en-US" sz="2400" dirty="0">
                <a:solidFill>
                  <a:srgbClr val="0033CC"/>
                </a:solidFill>
                <a:latin typeface="Times New Roman" pitchFamily="18" charset="0"/>
                <a:cs typeface="Times New Roman" pitchFamily="18" charset="0"/>
              </a:rPr>
              <a:t>private key</a:t>
            </a:r>
            <a:r>
              <a:rPr lang="en-US" sz="2400" dirty="0">
                <a:latin typeface="Times New Roman" pitchFamily="18" charset="0"/>
                <a:cs typeface="Times New Roman" pitchFamily="18" charset="0"/>
              </a:rPr>
              <a:t>’, which is used by that user (</a:t>
            </a:r>
            <a:r>
              <a:rPr lang="en-US" sz="2400" dirty="0" err="1">
                <a:latin typeface="Times New Roman" pitchFamily="18" charset="0"/>
                <a:cs typeface="Times New Roman" pitchFamily="18" charset="0"/>
              </a:rPr>
              <a:t>Kabir</a:t>
            </a:r>
            <a:r>
              <a:rPr lang="en-US" sz="2400" dirty="0">
                <a:latin typeface="Times New Roman" pitchFamily="18" charset="0"/>
                <a:cs typeface="Times New Roman" pitchFamily="18" charset="0"/>
              </a:rPr>
              <a:t>) to decrypt message. The idea of public-private key cryptography is visualized from fig.1.</a:t>
            </a:r>
          </a:p>
        </p:txBody>
      </p:sp>
      <p:sp>
        <p:nvSpPr>
          <p:cNvPr id="7" name="Rectangle 6"/>
          <p:cNvSpPr/>
          <p:nvPr/>
        </p:nvSpPr>
        <p:spPr>
          <a:xfrm>
            <a:off x="0" y="0"/>
            <a:ext cx="5968493" cy="646331"/>
          </a:xfrm>
          <a:prstGeom prst="rect">
            <a:avLst/>
          </a:prstGeom>
        </p:spPr>
        <p:txBody>
          <a:bodyPr wrap="none">
            <a:spAutoFit/>
          </a:bodyPr>
          <a:lstStyle/>
          <a:p>
            <a:r>
              <a:rPr lang="en-US" sz="3600" b="1" dirty="0">
                <a:solidFill>
                  <a:srgbClr val="FF0000"/>
                </a:solidFill>
                <a:latin typeface="Times New Roman" pitchFamily="18" charset="0"/>
                <a:cs typeface="Times New Roman" pitchFamily="18" charset="0"/>
              </a:rPr>
              <a:t>2. Asymmetric Cryptography</a:t>
            </a:r>
            <a:endParaRPr lang="en-US" sz="3600" b="1" dirty="0"/>
          </a:p>
        </p:txBody>
      </p:sp>
      <p:pic>
        <p:nvPicPr>
          <p:cNvPr id="47105" name="Picture 1"/>
          <p:cNvPicPr>
            <a:picLocks noChangeAspect="1" noChangeArrowheads="1"/>
          </p:cNvPicPr>
          <p:nvPr/>
        </p:nvPicPr>
        <p:blipFill>
          <a:blip r:embed="rId2"/>
          <a:srcRect/>
          <a:stretch>
            <a:fillRect/>
          </a:stretch>
        </p:blipFill>
        <p:spPr bwMode="auto">
          <a:xfrm>
            <a:off x="1600200" y="3276600"/>
            <a:ext cx="5391150" cy="3105150"/>
          </a:xfrm>
          <a:prstGeom prst="rect">
            <a:avLst/>
          </a:prstGeom>
          <a:noFill/>
          <a:ln w="9525">
            <a:noFill/>
            <a:miter lim="800000"/>
            <a:headEnd/>
            <a:tailEnd/>
          </a:ln>
          <a:effectLst/>
        </p:spPr>
      </p:pic>
    </p:spTree>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
        <p:nvSpPr>
          <p:cNvPr id="5" name="TextBox 4"/>
          <p:cNvSpPr txBox="1"/>
          <p:nvPr/>
        </p:nvSpPr>
        <p:spPr>
          <a:xfrm>
            <a:off x="304800" y="1676400"/>
            <a:ext cx="8610600" cy="3046988"/>
          </a:xfrm>
          <a:prstGeom prst="rect">
            <a:avLst/>
          </a:prstGeom>
          <a:solidFill>
            <a:srgbClr val="CCECFF"/>
          </a:solidFill>
        </p:spPr>
        <p:txBody>
          <a:bodyPr wrap="square" rtlCol="0">
            <a:spAutoFit/>
          </a:bodyPr>
          <a:lstStyle/>
          <a:p>
            <a:pPr algn="just"/>
            <a:r>
              <a:rPr lang="en-US" sz="2400" dirty="0">
                <a:latin typeface="Times New Roman" pitchFamily="18" charset="0"/>
                <a:cs typeface="Times New Roman" pitchFamily="18" charset="0"/>
              </a:rPr>
              <a:t>The irreversible algorithm was developed by two researchers at Stanford University, </a:t>
            </a:r>
            <a:r>
              <a:rPr lang="en-US" sz="2400" dirty="0" err="1">
                <a:latin typeface="Times New Roman" pitchFamily="18" charset="0"/>
                <a:cs typeface="Times New Roman" pitchFamily="18" charset="0"/>
              </a:rPr>
              <a:t>Diffie</a:t>
            </a:r>
            <a:r>
              <a:rPr lang="en-US" sz="2400" dirty="0">
                <a:latin typeface="Times New Roman" pitchFamily="18" charset="0"/>
                <a:cs typeface="Times New Roman" pitchFamily="18" charset="0"/>
              </a:rPr>
              <a:t> and Hellman (1976. Under this algorithm, let the (keyed) encryption algorithm, </a:t>
            </a:r>
            <a:r>
              <a:rPr lang="en-US" sz="2400" i="1" dirty="0">
                <a:latin typeface="Times New Roman" pitchFamily="18" charset="0"/>
                <a:cs typeface="Times New Roman" pitchFamily="18" charset="0"/>
              </a:rPr>
              <a:t>E</a:t>
            </a:r>
            <a:r>
              <a:rPr lang="en-US" sz="2400" dirty="0">
                <a:latin typeface="Times New Roman" pitchFamily="18" charset="0"/>
                <a:cs typeface="Times New Roman" pitchFamily="18" charset="0"/>
              </a:rPr>
              <a:t>, and the (keyed) decryption algorithm, </a:t>
            </a:r>
            <a:r>
              <a:rPr lang="en-US" sz="2400" i="1" dirty="0">
                <a:latin typeface="Times New Roman" pitchFamily="18" charset="0"/>
                <a:cs typeface="Times New Roman" pitchFamily="18" charset="0"/>
              </a:rPr>
              <a:t>D</a:t>
            </a:r>
            <a:r>
              <a:rPr lang="en-US" sz="2400" dirty="0">
                <a:latin typeface="Times New Roman" pitchFamily="18" charset="0"/>
                <a:cs typeface="Times New Roman" pitchFamily="18" charset="0"/>
              </a:rPr>
              <a:t>, must satisfy: </a:t>
            </a:r>
          </a:p>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1. </a:t>
            </a:r>
            <a:r>
              <a:rPr lang="en-US" sz="2400" i="1" dirty="0">
                <a:latin typeface="Times New Roman" pitchFamily="18" charset="0"/>
                <a:cs typeface="Times New Roman" pitchFamily="18" charset="0"/>
              </a:rPr>
              <a:t>D</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E</a:t>
            </a:r>
            <a:r>
              <a:rPr lang="en-US" sz="2400" dirty="0">
                <a:latin typeface="Times New Roman" pitchFamily="18" charset="0"/>
                <a:cs typeface="Times New Roman" pitchFamily="18" charset="0"/>
              </a:rPr>
              <a:t>(</a:t>
            </a:r>
            <a:r>
              <a:rPr lang="en-US" sz="2400" i="1" dirty="0">
                <a:latin typeface="Times New Roman" pitchFamily="18" charset="0"/>
                <a:cs typeface="Times New Roman" pitchFamily="18" charset="0"/>
              </a:rPr>
              <a:t>P</a:t>
            </a:r>
            <a:r>
              <a:rPr lang="en-US" sz="2400" dirty="0">
                <a:latin typeface="Times New Roman" pitchFamily="18" charset="0"/>
                <a:cs typeface="Times New Roman" pitchFamily="18" charset="0"/>
              </a:rPr>
              <a:t>)) = </a:t>
            </a:r>
            <a:r>
              <a:rPr lang="en-US" sz="2400" i="1" dirty="0">
                <a:latin typeface="Times New Roman" pitchFamily="18" charset="0"/>
                <a:cs typeface="Times New Roman" pitchFamily="18" charset="0"/>
              </a:rPr>
              <a:t>P. </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2. It is extremely difficult to derive </a:t>
            </a:r>
            <a:r>
              <a:rPr lang="en-US" sz="2400" i="1" dirty="0">
                <a:latin typeface="Times New Roman" pitchFamily="18" charset="0"/>
                <a:cs typeface="Times New Roman" pitchFamily="18" charset="0"/>
              </a:rPr>
              <a:t>D </a:t>
            </a:r>
            <a:r>
              <a:rPr lang="en-US" sz="2400" dirty="0">
                <a:latin typeface="Times New Roman" pitchFamily="18" charset="0"/>
                <a:cs typeface="Times New Roman" pitchFamily="18" charset="0"/>
              </a:rPr>
              <a:t>from </a:t>
            </a:r>
            <a:r>
              <a:rPr lang="en-US" sz="2400" i="1" dirty="0">
                <a:latin typeface="Times New Roman" pitchFamily="18" charset="0"/>
                <a:cs typeface="Times New Roman" pitchFamily="18" charset="0"/>
              </a:rPr>
              <a:t>E</a:t>
            </a:r>
            <a:r>
              <a:rPr lang="en-US" sz="2400" dirty="0">
                <a:latin typeface="Times New Roman" pitchFamily="18" charset="0"/>
                <a:cs typeface="Times New Roman" pitchFamily="18" charset="0"/>
              </a:rPr>
              <a:t>. </a:t>
            </a:r>
          </a:p>
          <a:p>
            <a:pPr algn="just"/>
            <a:r>
              <a:rPr lang="en-US" sz="2400" dirty="0">
                <a:latin typeface="Times New Roman" pitchFamily="18" charset="0"/>
                <a:cs typeface="Times New Roman" pitchFamily="18" charset="0"/>
              </a:rPr>
              <a:t>3. </a:t>
            </a:r>
            <a:r>
              <a:rPr lang="en-US" sz="2400" i="1" dirty="0">
                <a:latin typeface="Times New Roman" pitchFamily="18" charset="0"/>
                <a:cs typeface="Times New Roman" pitchFamily="18" charset="0"/>
              </a:rPr>
              <a:t>E </a:t>
            </a:r>
            <a:r>
              <a:rPr lang="en-US" sz="2400" dirty="0">
                <a:latin typeface="Times New Roman" pitchFamily="18" charset="0"/>
                <a:cs typeface="Times New Roman" pitchFamily="18" charset="0"/>
              </a:rPr>
              <a:t>cannot be broken by a chosen plaintext attack.</a:t>
            </a:r>
          </a:p>
        </p:txBody>
      </p:sp>
    </p:spTree>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
        <p:nvSpPr>
          <p:cNvPr id="5" name="TextBox 4"/>
          <p:cNvSpPr txBox="1"/>
          <p:nvPr/>
        </p:nvSpPr>
        <p:spPr>
          <a:xfrm>
            <a:off x="152400" y="152400"/>
            <a:ext cx="8839200" cy="3600986"/>
          </a:xfrm>
          <a:prstGeom prst="rect">
            <a:avLst/>
          </a:prstGeom>
          <a:solidFill>
            <a:srgbClr val="CCECFF"/>
          </a:solidFill>
        </p:spPr>
        <p:txBody>
          <a:bodyPr wrap="square" rtlCol="0">
            <a:spAutoFit/>
          </a:bodyPr>
          <a:lstStyle/>
          <a:p>
            <a:pPr algn="just"/>
            <a:r>
              <a:rPr lang="en-US" sz="3600" b="1" dirty="0">
                <a:solidFill>
                  <a:srgbClr val="FF0000"/>
                </a:solidFill>
                <a:latin typeface="Times New Roman" pitchFamily="18" charset="0"/>
                <a:cs typeface="Times New Roman" pitchFamily="18" charset="0"/>
              </a:rPr>
              <a:t>3. RSA algorithm</a:t>
            </a:r>
            <a:endParaRPr lang="en-US" sz="3600" b="1" dirty="0">
              <a:latin typeface="Times New Roman" pitchFamily="18" charset="0"/>
              <a:cs typeface="Times New Roman" pitchFamily="18" charset="0"/>
            </a:endParaRPr>
          </a:p>
          <a:p>
            <a:pPr algn="just"/>
            <a:r>
              <a:rPr lang="en-US" sz="2400" b="1" dirty="0">
                <a:latin typeface="Times New Roman" pitchFamily="18" charset="0"/>
                <a:cs typeface="Times New Roman" pitchFamily="18" charset="0"/>
              </a:rPr>
              <a:t>RSA</a:t>
            </a:r>
            <a:r>
              <a:rPr lang="en-US" sz="2400" dirty="0">
                <a:latin typeface="Times New Roman" pitchFamily="18" charset="0"/>
                <a:cs typeface="Times New Roman" pitchFamily="18" charset="0"/>
              </a:rPr>
              <a:t> algorithm discovered by three researcher: </a:t>
            </a:r>
            <a:r>
              <a:rPr lang="en-US" sz="2400" dirty="0" err="1">
                <a:latin typeface="Times New Roman" pitchFamily="18" charset="0"/>
                <a:cs typeface="Times New Roman" pitchFamily="18" charset="0"/>
              </a:rPr>
              <a:t>Rivest</a:t>
            </a:r>
            <a:r>
              <a:rPr lang="en-US" sz="2400" dirty="0">
                <a:latin typeface="Times New Roman" pitchFamily="18" charset="0"/>
                <a:cs typeface="Times New Roman" pitchFamily="18" charset="0"/>
              </a:rPr>
              <a:t>, Shamir, </a:t>
            </a:r>
            <a:r>
              <a:rPr lang="en-US" sz="2400" dirty="0" err="1">
                <a:latin typeface="Times New Roman" pitchFamily="18" charset="0"/>
                <a:cs typeface="Times New Roman" pitchFamily="18" charset="0"/>
              </a:rPr>
              <a:t>Adleman</a:t>
            </a:r>
            <a:r>
              <a:rPr lang="en-US" sz="2400" dirty="0">
                <a:latin typeface="Times New Roman" pitchFamily="18" charset="0"/>
                <a:cs typeface="Times New Roman" pitchFamily="18" charset="0"/>
              </a:rPr>
              <a:t> in 1978  satisfied above concept. The RSA method is based on some principles from number theory. The steps of the algorithm is below.  </a:t>
            </a:r>
          </a:p>
          <a:p>
            <a:pPr algn="just"/>
            <a:r>
              <a:rPr lang="en-US" sz="2400" dirty="0">
                <a:latin typeface="Times New Roman" pitchFamily="18" charset="0"/>
                <a:cs typeface="Times New Roman" pitchFamily="18" charset="0"/>
              </a:rPr>
              <a:t>1. Choose two large primes, </a:t>
            </a:r>
            <a:r>
              <a:rPr lang="en-US" sz="2400" i="1" dirty="0">
                <a:latin typeface="Times New Roman" pitchFamily="18" charset="0"/>
                <a:cs typeface="Times New Roman" pitchFamily="18" charset="0"/>
              </a:rPr>
              <a:t>p </a:t>
            </a:r>
            <a:r>
              <a:rPr lang="en-US" sz="2400" dirty="0">
                <a:latin typeface="Times New Roman" pitchFamily="18" charset="0"/>
                <a:cs typeface="Times New Roman" pitchFamily="18" charset="0"/>
              </a:rPr>
              <a:t>and </a:t>
            </a:r>
            <a:r>
              <a:rPr lang="en-US" sz="2400" i="1" dirty="0">
                <a:latin typeface="Times New Roman" pitchFamily="18" charset="0"/>
                <a:cs typeface="Times New Roman" pitchFamily="18" charset="0"/>
              </a:rPr>
              <a:t>q </a:t>
            </a:r>
            <a:r>
              <a:rPr lang="en-US" sz="2400" dirty="0">
                <a:latin typeface="Times New Roman" pitchFamily="18" charset="0"/>
                <a:cs typeface="Times New Roman" pitchFamily="18" charset="0"/>
              </a:rPr>
              <a:t>(typically 1024 bits). </a:t>
            </a:r>
          </a:p>
          <a:p>
            <a:pPr algn="just"/>
            <a:r>
              <a:rPr lang="en-US" sz="2400" dirty="0">
                <a:latin typeface="Times New Roman" pitchFamily="18" charset="0"/>
                <a:cs typeface="Times New Roman" pitchFamily="18" charset="0"/>
              </a:rPr>
              <a:t>2. Compute </a:t>
            </a:r>
            <a:r>
              <a:rPr lang="en-US" sz="2400" i="1" dirty="0">
                <a:latin typeface="Times New Roman" pitchFamily="18" charset="0"/>
                <a:cs typeface="Times New Roman" pitchFamily="18" charset="0"/>
              </a:rPr>
              <a:t>n </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p </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q </a:t>
            </a:r>
            <a:r>
              <a:rPr lang="en-US" sz="2400" dirty="0">
                <a:latin typeface="Times New Roman" pitchFamily="18" charset="0"/>
                <a:cs typeface="Times New Roman" pitchFamily="18" charset="0"/>
              </a:rPr>
              <a:t>and </a:t>
            </a:r>
            <a:r>
              <a:rPr lang="en-US" sz="2400" i="1" dirty="0">
                <a:latin typeface="Times New Roman" pitchFamily="18" charset="0"/>
                <a:cs typeface="Times New Roman" pitchFamily="18" charset="0"/>
              </a:rPr>
              <a:t>z </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p </a:t>
            </a:r>
            <a:r>
              <a:rPr lang="en-US" sz="2400" dirty="0">
                <a:latin typeface="Times New Roman" pitchFamily="18" charset="0"/>
                <a:cs typeface="Times New Roman" pitchFamily="18" charset="0"/>
              </a:rPr>
              <a:t>- 1) × (</a:t>
            </a:r>
            <a:r>
              <a:rPr lang="en-US" sz="2400" i="1" dirty="0">
                <a:latin typeface="Times New Roman" pitchFamily="18" charset="0"/>
                <a:cs typeface="Times New Roman" pitchFamily="18" charset="0"/>
              </a:rPr>
              <a:t>q </a:t>
            </a:r>
            <a:r>
              <a:rPr lang="en-US" sz="2400" dirty="0">
                <a:latin typeface="Times New Roman" pitchFamily="18" charset="0"/>
                <a:cs typeface="Times New Roman" pitchFamily="18" charset="0"/>
              </a:rPr>
              <a:t>- 1)</a:t>
            </a:r>
            <a:r>
              <a:rPr lang="en-US" sz="2400" i="1" dirty="0">
                <a:latin typeface="Times New Roman" pitchFamily="18" charset="0"/>
                <a:cs typeface="Times New Roman" pitchFamily="18" charset="0"/>
              </a:rPr>
              <a:t>. </a:t>
            </a: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3. Choose a number relatively prime to </a:t>
            </a:r>
            <a:r>
              <a:rPr lang="en-US" sz="2400" i="1" dirty="0">
                <a:latin typeface="Times New Roman" pitchFamily="18" charset="0"/>
                <a:cs typeface="Times New Roman" pitchFamily="18" charset="0"/>
              </a:rPr>
              <a:t>z </a:t>
            </a:r>
            <a:r>
              <a:rPr lang="en-US" sz="2400" dirty="0">
                <a:latin typeface="Times New Roman" pitchFamily="18" charset="0"/>
                <a:cs typeface="Times New Roman" pitchFamily="18" charset="0"/>
              </a:rPr>
              <a:t>and call it </a:t>
            </a:r>
            <a:r>
              <a:rPr lang="en-US" sz="2400" i="1" dirty="0">
                <a:latin typeface="Times New Roman" pitchFamily="18" charset="0"/>
                <a:cs typeface="Times New Roman" pitchFamily="18" charset="0"/>
              </a:rPr>
              <a:t>d</a:t>
            </a:r>
            <a:r>
              <a:rPr lang="en-US" sz="2400" dirty="0">
                <a:latin typeface="Times New Roman" pitchFamily="18" charset="0"/>
                <a:cs typeface="Times New Roman" pitchFamily="18" charset="0"/>
              </a:rPr>
              <a:t>. </a:t>
            </a:r>
          </a:p>
          <a:p>
            <a:pPr algn="just"/>
            <a:r>
              <a:rPr lang="en-US" sz="2400" dirty="0">
                <a:latin typeface="Times New Roman" pitchFamily="18" charset="0"/>
                <a:cs typeface="Times New Roman" pitchFamily="18" charset="0"/>
              </a:rPr>
              <a:t>4. Find </a:t>
            </a:r>
            <a:r>
              <a:rPr lang="en-US" sz="2400" i="1" dirty="0">
                <a:latin typeface="Times New Roman" pitchFamily="18" charset="0"/>
                <a:cs typeface="Times New Roman" pitchFamily="18" charset="0"/>
              </a:rPr>
              <a:t>e </a:t>
            </a:r>
            <a:r>
              <a:rPr lang="en-US" sz="2400" dirty="0">
                <a:latin typeface="Times New Roman" pitchFamily="18" charset="0"/>
                <a:cs typeface="Times New Roman" pitchFamily="18" charset="0"/>
              </a:rPr>
              <a:t>such that </a:t>
            </a:r>
            <a:r>
              <a:rPr lang="en-US" sz="2400" i="1" dirty="0">
                <a:latin typeface="Times New Roman" pitchFamily="18" charset="0"/>
                <a:cs typeface="Times New Roman" pitchFamily="18" charset="0"/>
              </a:rPr>
              <a:t>e </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d </a:t>
            </a:r>
            <a:r>
              <a:rPr lang="en-US" sz="2400" dirty="0">
                <a:latin typeface="Times New Roman" pitchFamily="18" charset="0"/>
                <a:cs typeface="Times New Roman" pitchFamily="18" charset="0"/>
              </a:rPr>
              <a:t>= 1 </a:t>
            </a:r>
            <a:r>
              <a:rPr lang="en-US" sz="2400" i="1" dirty="0">
                <a:latin typeface="Times New Roman" pitchFamily="18" charset="0"/>
                <a:cs typeface="Times New Roman" pitchFamily="18" charset="0"/>
              </a:rPr>
              <a:t>mod z. </a:t>
            </a:r>
            <a:r>
              <a:rPr lang="en-US" sz="2400" dirty="0">
                <a:latin typeface="Times New Roman" pitchFamily="18" charset="0"/>
                <a:cs typeface="Times New Roman" pitchFamily="18" charset="0"/>
              </a:rPr>
              <a:t> </a:t>
            </a:r>
          </a:p>
        </p:txBody>
      </p:sp>
      <p:sp>
        <p:nvSpPr>
          <p:cNvPr id="6" name="TextBox 5"/>
          <p:cNvSpPr txBox="1"/>
          <p:nvPr/>
        </p:nvSpPr>
        <p:spPr>
          <a:xfrm>
            <a:off x="304800" y="4191000"/>
            <a:ext cx="6781800" cy="2308324"/>
          </a:xfrm>
          <a:prstGeom prst="rect">
            <a:avLst/>
          </a:prstGeom>
          <a:solidFill>
            <a:srgbClr val="FF9966"/>
          </a:solidFill>
        </p:spPr>
        <p:txBody>
          <a:bodyPr wrap="square" rtlCol="0">
            <a:spAutoFit/>
          </a:bodyPr>
          <a:lstStyle/>
          <a:p>
            <a:pPr algn="just"/>
            <a:r>
              <a:rPr lang="en-US" sz="2400" dirty="0">
                <a:latin typeface="Times New Roman" pitchFamily="18" charset="0"/>
                <a:cs typeface="Times New Roman" pitchFamily="18" charset="0"/>
              </a:rPr>
              <a:t>Example-1</a:t>
            </a:r>
          </a:p>
          <a:p>
            <a:pPr algn="just"/>
            <a:r>
              <a:rPr lang="en-US" sz="2400" dirty="0">
                <a:latin typeface="Times New Roman" pitchFamily="18" charset="0"/>
                <a:cs typeface="Times New Roman" pitchFamily="18" charset="0"/>
              </a:rPr>
              <a:t>Let, </a:t>
            </a:r>
            <a:r>
              <a:rPr lang="en-US" sz="2400" i="1" dirty="0">
                <a:latin typeface="Times New Roman" pitchFamily="18" charset="0"/>
                <a:cs typeface="Times New Roman" pitchFamily="18" charset="0"/>
              </a:rPr>
              <a:t>p</a:t>
            </a:r>
            <a:r>
              <a:rPr lang="en-US" sz="2400" dirty="0">
                <a:latin typeface="Times New Roman" pitchFamily="18" charset="0"/>
                <a:cs typeface="Times New Roman" pitchFamily="18" charset="0"/>
              </a:rPr>
              <a:t> = 3, </a:t>
            </a:r>
            <a:r>
              <a:rPr lang="en-US" sz="2400" i="1" dirty="0">
                <a:latin typeface="Times New Roman" pitchFamily="18" charset="0"/>
                <a:cs typeface="Times New Roman" pitchFamily="18" charset="0"/>
              </a:rPr>
              <a:t>q</a:t>
            </a:r>
            <a:r>
              <a:rPr lang="en-US" sz="2400" dirty="0">
                <a:latin typeface="Times New Roman" pitchFamily="18" charset="0"/>
                <a:cs typeface="Times New Roman" pitchFamily="18" charset="0"/>
              </a:rPr>
              <a:t> = 11</a:t>
            </a:r>
          </a:p>
          <a:p>
            <a:pPr algn="just"/>
            <a:r>
              <a:rPr lang="en-US" sz="2400" i="1" dirty="0">
                <a:latin typeface="Times New Roman" pitchFamily="18" charset="0"/>
                <a:cs typeface="Times New Roman" pitchFamily="18" charset="0"/>
              </a:rPr>
              <a:t>n</a:t>
            </a:r>
            <a:r>
              <a:rPr lang="en-US" sz="2400" dirty="0">
                <a:latin typeface="Times New Roman" pitchFamily="18" charset="0"/>
                <a:cs typeface="Times New Roman" pitchFamily="18" charset="0"/>
              </a:rPr>
              <a:t> = </a:t>
            </a:r>
            <a:r>
              <a:rPr lang="en-US" sz="2400" i="1" dirty="0" err="1">
                <a:latin typeface="Times New Roman" pitchFamily="18" charset="0"/>
                <a:cs typeface="Times New Roman" pitchFamily="18" charset="0"/>
              </a:rPr>
              <a:t>pq</a:t>
            </a:r>
            <a:r>
              <a:rPr lang="en-US" sz="2400" dirty="0">
                <a:latin typeface="Times New Roman" pitchFamily="18" charset="0"/>
                <a:cs typeface="Times New Roman" pitchFamily="18" charset="0"/>
              </a:rPr>
              <a:t> = 33, </a:t>
            </a:r>
            <a:r>
              <a:rPr lang="en-US" sz="2400" i="1" dirty="0">
                <a:latin typeface="Times New Roman" pitchFamily="18" charset="0"/>
                <a:cs typeface="Times New Roman" pitchFamily="18" charset="0"/>
              </a:rPr>
              <a:t>z = (p-</a:t>
            </a:r>
            <a:r>
              <a:rPr lang="en-US" sz="2400" dirty="0">
                <a:latin typeface="Times New Roman" pitchFamily="18" charset="0"/>
                <a:cs typeface="Times New Roman" pitchFamily="18" charset="0"/>
              </a:rPr>
              <a:t>1</a:t>
            </a:r>
            <a:r>
              <a:rPr lang="en-US" sz="2400" i="1" dirty="0">
                <a:latin typeface="Times New Roman" pitchFamily="18" charset="0"/>
                <a:cs typeface="Times New Roman" pitchFamily="18" charset="0"/>
              </a:rPr>
              <a:t>)(q-</a:t>
            </a:r>
            <a:r>
              <a:rPr lang="en-US" sz="2400" dirty="0">
                <a:latin typeface="Times New Roman" pitchFamily="18" charset="0"/>
                <a:cs typeface="Times New Roman" pitchFamily="18" charset="0"/>
              </a:rPr>
              <a:t>1</a:t>
            </a:r>
            <a:r>
              <a:rPr lang="en-US" sz="2400" i="1" dirty="0">
                <a:latin typeface="Times New Roman" pitchFamily="18" charset="0"/>
                <a:cs typeface="Times New Roman" pitchFamily="18" charset="0"/>
              </a:rPr>
              <a:t>)</a:t>
            </a:r>
            <a:r>
              <a:rPr lang="en-US" sz="2400" dirty="0">
                <a:latin typeface="Times New Roman" pitchFamily="18" charset="0"/>
                <a:cs typeface="Times New Roman" pitchFamily="18" charset="0"/>
              </a:rPr>
              <a:t> = 20</a:t>
            </a:r>
          </a:p>
          <a:p>
            <a:pPr algn="just"/>
            <a:r>
              <a:rPr lang="en-US" sz="2400" i="1" dirty="0">
                <a:latin typeface="Times New Roman" pitchFamily="18" charset="0"/>
                <a:cs typeface="Times New Roman" pitchFamily="18" charset="0"/>
              </a:rPr>
              <a:t>d</a:t>
            </a:r>
            <a:r>
              <a:rPr lang="en-US" sz="2400" dirty="0">
                <a:latin typeface="Times New Roman" pitchFamily="18" charset="0"/>
                <a:cs typeface="Times New Roman" pitchFamily="18" charset="0"/>
              </a:rPr>
              <a:t> = 7, since 20 and 7 does not have common factor</a:t>
            </a:r>
          </a:p>
          <a:p>
            <a:pPr algn="just"/>
            <a:r>
              <a:rPr lang="en-US" sz="2400" dirty="0">
                <a:latin typeface="Times New Roman" pitchFamily="18" charset="0"/>
                <a:cs typeface="Times New Roman" pitchFamily="18" charset="0"/>
              </a:rPr>
              <a:t>Now 7</a:t>
            </a:r>
            <a:r>
              <a:rPr lang="en-US" sz="2400" i="1" dirty="0">
                <a:latin typeface="Times New Roman" pitchFamily="18" charset="0"/>
                <a:cs typeface="Times New Roman" pitchFamily="18" charset="0"/>
              </a:rPr>
              <a:t>e</a:t>
            </a:r>
            <a:r>
              <a:rPr lang="en-US" sz="2400" dirty="0">
                <a:latin typeface="Times New Roman" pitchFamily="18" charset="0"/>
                <a:cs typeface="Times New Roman" pitchFamily="18" charset="0"/>
              </a:rPr>
              <a:t> = 1 mod 20 which provides </a:t>
            </a:r>
            <a:r>
              <a:rPr lang="en-US" sz="2400" i="1" dirty="0">
                <a:latin typeface="Times New Roman" pitchFamily="18" charset="0"/>
                <a:cs typeface="Times New Roman" pitchFamily="18" charset="0"/>
              </a:rPr>
              <a:t>e</a:t>
            </a:r>
            <a:r>
              <a:rPr lang="en-US" sz="2400" dirty="0">
                <a:latin typeface="Times New Roman" pitchFamily="18" charset="0"/>
                <a:cs typeface="Times New Roman" pitchFamily="18" charset="0"/>
              </a:rPr>
              <a:t> = 3</a:t>
            </a:r>
          </a:p>
          <a:p>
            <a:pPr algn="just"/>
            <a:r>
              <a:rPr lang="en-US" sz="2400" i="1" dirty="0">
                <a:latin typeface="Times New Roman" pitchFamily="18" charset="0"/>
                <a:cs typeface="Times New Roman" pitchFamily="18" charset="0"/>
              </a:rPr>
              <a:t>C</a:t>
            </a:r>
            <a:r>
              <a:rPr lang="en-US" sz="2400" dirty="0">
                <a:latin typeface="Times New Roman" pitchFamily="18" charset="0"/>
                <a:cs typeface="Times New Roman" pitchFamily="18" charset="0"/>
              </a:rPr>
              <a:t> = </a:t>
            </a:r>
            <a:r>
              <a:rPr lang="en-US" sz="2400" i="1" dirty="0">
                <a:latin typeface="Times New Roman" pitchFamily="18" charset="0"/>
                <a:cs typeface="Times New Roman" pitchFamily="18" charset="0"/>
              </a:rPr>
              <a:t>P</a:t>
            </a:r>
            <a:r>
              <a:rPr lang="en-US" sz="2400" baseline="30000" dirty="0">
                <a:latin typeface="Times New Roman" pitchFamily="18" charset="0"/>
                <a:cs typeface="Times New Roman" pitchFamily="18" charset="0"/>
              </a:rPr>
              <a:t>3</a:t>
            </a:r>
            <a:r>
              <a:rPr lang="en-US" sz="2400" dirty="0">
                <a:latin typeface="Times New Roman" pitchFamily="18" charset="0"/>
                <a:cs typeface="Times New Roman" pitchFamily="18" charset="0"/>
              </a:rPr>
              <a:t> (mod 33) which provides encoded value </a:t>
            </a:r>
            <a:r>
              <a:rPr lang="en-US" sz="2400" i="1" dirty="0">
                <a:latin typeface="Times New Roman" pitchFamily="18" charset="0"/>
                <a:cs typeface="Times New Roman" pitchFamily="18" charset="0"/>
              </a:rPr>
              <a:t>C</a:t>
            </a:r>
            <a:endParaRPr lang="en-US" sz="2400" dirty="0"/>
          </a:p>
        </p:txBody>
      </p:sp>
    </p:spTree>
  </p:cSld>
  <p:clrMapOvr>
    <a:masterClrMapping/>
  </p:clrMapOvr>
  <p:transition>
    <p:split dir="in"/>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
        <p:nvSpPr>
          <p:cNvPr id="5" name="TextBox 4"/>
          <p:cNvSpPr txBox="1"/>
          <p:nvPr/>
        </p:nvSpPr>
        <p:spPr>
          <a:xfrm>
            <a:off x="0" y="0"/>
            <a:ext cx="9144000" cy="1569660"/>
          </a:xfrm>
          <a:prstGeom prst="rect">
            <a:avLst/>
          </a:prstGeom>
          <a:noFill/>
        </p:spPr>
        <p:txBody>
          <a:bodyPr wrap="square" rtlCol="0">
            <a:spAutoFit/>
          </a:bodyPr>
          <a:lstStyle/>
          <a:p>
            <a:r>
              <a:rPr lang="en-US" sz="2400" dirty="0">
                <a:latin typeface="Times New Roman" pitchFamily="18" charset="0"/>
                <a:cs typeface="Times New Roman" pitchFamily="18" charset="0"/>
              </a:rPr>
              <a:t>The table-1 shows the encryption of the plaintext ''SUZANNE'' as an example(</a:t>
            </a:r>
            <a:r>
              <a:rPr lang="en-US" sz="2400" i="1" dirty="0">
                <a:latin typeface="Times New Roman" pitchFamily="18" charset="0"/>
                <a:cs typeface="Times New Roman" pitchFamily="18" charset="0"/>
              </a:rPr>
              <a:t>n</a:t>
            </a:r>
            <a:r>
              <a:rPr lang="en-US" sz="2400" dirty="0">
                <a:latin typeface="Times New Roman" pitchFamily="18" charset="0"/>
                <a:cs typeface="Times New Roman" pitchFamily="18" charset="0"/>
              </a:rPr>
              <a:t> = 33, </a:t>
            </a:r>
            <a:r>
              <a:rPr lang="en-US" sz="2400" i="1" dirty="0">
                <a:latin typeface="Times New Roman" pitchFamily="18" charset="0"/>
                <a:cs typeface="Times New Roman" pitchFamily="18" charset="0"/>
              </a:rPr>
              <a:t>d</a:t>
            </a:r>
            <a:r>
              <a:rPr lang="en-US" sz="2400" dirty="0">
                <a:latin typeface="Times New Roman" pitchFamily="18" charset="0"/>
                <a:cs typeface="Times New Roman" pitchFamily="18" charset="0"/>
              </a:rPr>
              <a:t> = 7 and </a:t>
            </a:r>
            <a:r>
              <a:rPr lang="en-US" sz="2400" i="1" dirty="0">
                <a:latin typeface="Times New Roman" pitchFamily="18" charset="0"/>
                <a:cs typeface="Times New Roman" pitchFamily="18" charset="0"/>
              </a:rPr>
              <a:t>e</a:t>
            </a:r>
            <a:r>
              <a:rPr lang="en-US" sz="2400" dirty="0">
                <a:latin typeface="Times New Roman" pitchFamily="18" charset="0"/>
                <a:cs typeface="Times New Roman" pitchFamily="18" charset="0"/>
              </a:rPr>
              <a:t> = 3).</a:t>
            </a:r>
          </a:p>
          <a:p>
            <a:pPr algn="ctr"/>
            <a:r>
              <a:rPr lang="en-US" sz="2400" dirty="0">
                <a:latin typeface="Times New Roman" pitchFamily="18" charset="0"/>
                <a:cs typeface="Times New Roman" pitchFamily="18" charset="0"/>
              </a:rPr>
              <a:t>Table-1</a:t>
            </a:r>
          </a:p>
          <a:p>
            <a:pPr algn="ctr"/>
            <a:r>
              <a:rPr lang="en-US" sz="2400" dirty="0">
                <a:latin typeface="Times New Roman" pitchFamily="18" charset="0"/>
                <a:cs typeface="Times New Roman" pitchFamily="18" charset="0"/>
              </a:rPr>
              <a:t>Text recovery using RSA</a:t>
            </a:r>
          </a:p>
        </p:txBody>
      </p:sp>
      <p:pic>
        <p:nvPicPr>
          <p:cNvPr id="6" name="Picture 5"/>
          <p:cNvPicPr/>
          <p:nvPr/>
        </p:nvPicPr>
        <p:blipFill>
          <a:blip r:embed="rId3"/>
          <a:srcRect/>
          <a:stretch>
            <a:fillRect/>
          </a:stretch>
        </p:blipFill>
        <p:spPr bwMode="auto">
          <a:xfrm>
            <a:off x="457200" y="2133600"/>
            <a:ext cx="8305800" cy="3048000"/>
          </a:xfrm>
          <a:prstGeom prst="rect">
            <a:avLst/>
          </a:prstGeom>
          <a:noFill/>
          <a:ln w="9525">
            <a:noFill/>
            <a:miter lim="800000"/>
            <a:headEnd/>
            <a:tailEnd/>
          </a:ln>
        </p:spPr>
      </p:pic>
    </p:spTree>
  </p:cSld>
  <p:clrMapOvr>
    <a:masterClrMapping/>
  </p:clrMapOvr>
  <p:transition>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sp>
        <p:nvSpPr>
          <p:cNvPr id="5" name="TextBox 4"/>
          <p:cNvSpPr txBox="1"/>
          <p:nvPr/>
        </p:nvSpPr>
        <p:spPr>
          <a:xfrm>
            <a:off x="0" y="381000"/>
            <a:ext cx="8991600" cy="830997"/>
          </a:xfrm>
          <a:prstGeom prst="rect">
            <a:avLst/>
          </a:prstGeom>
          <a:solidFill>
            <a:srgbClr val="FFCCFF"/>
          </a:solidFill>
        </p:spPr>
        <p:txBody>
          <a:bodyPr wrap="square" rtlCol="0">
            <a:spAutoFit/>
          </a:bodyPr>
          <a:lstStyle/>
          <a:p>
            <a:pPr algn="just"/>
            <a:r>
              <a:rPr lang="en-US" sz="2400" dirty="0">
                <a:latin typeface="Times New Roman" pitchFamily="18" charset="0"/>
                <a:cs typeface="Times New Roman" pitchFamily="18" charset="0"/>
              </a:rPr>
              <a:t>The pixels of images can be encrypted and decrypted using RSA algorithm. An example regarding RGB image is shown in figure below.</a:t>
            </a:r>
          </a:p>
        </p:txBody>
      </p:sp>
      <p:pic>
        <p:nvPicPr>
          <p:cNvPr id="6" name="Picture 5"/>
          <p:cNvPicPr/>
          <p:nvPr/>
        </p:nvPicPr>
        <p:blipFill>
          <a:blip r:embed="rId2"/>
          <a:srcRect/>
          <a:stretch>
            <a:fillRect/>
          </a:stretch>
        </p:blipFill>
        <p:spPr bwMode="auto">
          <a:xfrm>
            <a:off x="762000" y="1371600"/>
            <a:ext cx="3276600" cy="2438400"/>
          </a:xfrm>
          <a:prstGeom prst="rect">
            <a:avLst/>
          </a:prstGeom>
          <a:noFill/>
          <a:ln w="9525">
            <a:noFill/>
            <a:miter lim="800000"/>
            <a:headEnd/>
            <a:tailEnd/>
          </a:ln>
        </p:spPr>
      </p:pic>
      <p:pic>
        <p:nvPicPr>
          <p:cNvPr id="7" name="Picture 6"/>
          <p:cNvPicPr/>
          <p:nvPr/>
        </p:nvPicPr>
        <p:blipFill>
          <a:blip r:embed="rId3"/>
          <a:srcRect/>
          <a:stretch>
            <a:fillRect/>
          </a:stretch>
        </p:blipFill>
        <p:spPr bwMode="auto">
          <a:xfrm>
            <a:off x="4572000" y="1295400"/>
            <a:ext cx="3581400" cy="2438400"/>
          </a:xfrm>
          <a:prstGeom prst="rect">
            <a:avLst/>
          </a:prstGeom>
          <a:noFill/>
          <a:ln w="9525">
            <a:noFill/>
            <a:miter lim="800000"/>
            <a:headEnd/>
            <a:tailEnd/>
          </a:ln>
        </p:spPr>
      </p:pic>
      <p:pic>
        <p:nvPicPr>
          <p:cNvPr id="8" name="Picture 7"/>
          <p:cNvPicPr/>
          <p:nvPr/>
        </p:nvPicPr>
        <p:blipFill>
          <a:blip r:embed="rId4"/>
          <a:srcRect/>
          <a:stretch>
            <a:fillRect/>
          </a:stretch>
        </p:blipFill>
        <p:spPr bwMode="auto">
          <a:xfrm>
            <a:off x="762000" y="3733800"/>
            <a:ext cx="3581400" cy="2286000"/>
          </a:xfrm>
          <a:prstGeom prst="rect">
            <a:avLst/>
          </a:prstGeom>
          <a:noFill/>
          <a:ln w="9525">
            <a:noFill/>
            <a:miter lim="800000"/>
            <a:headEnd/>
            <a:tailEnd/>
          </a:ln>
        </p:spPr>
      </p:pic>
      <p:pic>
        <p:nvPicPr>
          <p:cNvPr id="9" name="Picture 8"/>
          <p:cNvPicPr/>
          <p:nvPr/>
        </p:nvPicPr>
        <p:blipFill>
          <a:blip r:embed="rId5"/>
          <a:srcRect/>
          <a:stretch>
            <a:fillRect/>
          </a:stretch>
        </p:blipFill>
        <p:spPr bwMode="auto">
          <a:xfrm>
            <a:off x="4724400" y="3581400"/>
            <a:ext cx="3581400" cy="2438400"/>
          </a:xfrm>
          <a:prstGeom prst="rect">
            <a:avLst/>
          </a:prstGeom>
          <a:noFill/>
          <a:ln w="9525">
            <a:noFill/>
            <a:miter lim="800000"/>
            <a:headEnd/>
            <a:tailEnd/>
          </a:ln>
        </p:spPr>
      </p:pic>
      <p:sp>
        <p:nvSpPr>
          <p:cNvPr id="10" name="Rectangle 9"/>
          <p:cNvSpPr/>
          <p:nvPr/>
        </p:nvSpPr>
        <p:spPr>
          <a:xfrm>
            <a:off x="1828800" y="6019800"/>
            <a:ext cx="5341527" cy="461665"/>
          </a:xfrm>
          <a:prstGeom prst="rect">
            <a:avLst/>
          </a:prstGeom>
        </p:spPr>
        <p:txBody>
          <a:bodyPr wrap="none">
            <a:spAutoFit/>
          </a:bodyPr>
          <a:lstStyle/>
          <a:p>
            <a:r>
              <a:rPr lang="en-US" sz="2400" dirty="0">
                <a:latin typeface="Times New Roman" pitchFamily="18" charset="0"/>
                <a:cs typeface="Times New Roman" pitchFamily="18" charset="0"/>
              </a:rPr>
              <a:t>Fig.1 Encryption and decryption of image</a:t>
            </a:r>
          </a:p>
        </p:txBody>
      </p:sp>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
        <p:nvSpPr>
          <p:cNvPr id="5" name="TextBox 4"/>
          <p:cNvSpPr txBox="1"/>
          <p:nvPr/>
        </p:nvSpPr>
        <p:spPr>
          <a:xfrm>
            <a:off x="304800" y="381000"/>
            <a:ext cx="8610600" cy="5601533"/>
          </a:xfrm>
          <a:prstGeom prst="rect">
            <a:avLst/>
          </a:prstGeom>
          <a:solidFill>
            <a:srgbClr val="99CCFF"/>
          </a:solidFill>
        </p:spPr>
        <p:txBody>
          <a:bodyPr wrap="square" rtlCol="0">
            <a:spAutoFit/>
          </a:bodyPr>
          <a:lstStyle/>
          <a:p>
            <a:pPr lvl="1"/>
            <a:r>
              <a:rPr lang="en-US" sz="3600" b="1" dirty="0">
                <a:solidFill>
                  <a:srgbClr val="FF0000"/>
                </a:solidFill>
                <a:latin typeface="Times New Roman" pitchFamily="18" charset="0"/>
                <a:cs typeface="Times New Roman" pitchFamily="18" charset="0"/>
              </a:rPr>
              <a:t>4. Algorithm of Complex Number</a:t>
            </a:r>
            <a:endParaRPr lang="en-US" sz="3600" b="1" dirty="0">
              <a:latin typeface="Times New Roman" pitchFamily="18" charset="0"/>
              <a:cs typeface="Times New Roman" pitchFamily="18" charset="0"/>
            </a:endParaRPr>
          </a:p>
          <a:p>
            <a:pPr lvl="1"/>
            <a:endParaRPr lang="en-US" dirty="0">
              <a:latin typeface="Times New Roman" pitchFamily="18" charset="0"/>
              <a:cs typeface="Times New Roman" pitchFamily="18" charset="0"/>
            </a:endParaRPr>
          </a:p>
          <a:p>
            <a:pPr lvl="0">
              <a:buFont typeface="Wingdings" pitchFamily="2" charset="2"/>
              <a:buChar char="ü"/>
            </a:pPr>
            <a:r>
              <a:rPr lang="en-US" dirty="0">
                <a:latin typeface="Times New Roman" pitchFamily="18" charset="0"/>
                <a:cs typeface="Times New Roman" pitchFamily="18" charset="0"/>
              </a:rPr>
              <a:t>Read the original image </a:t>
            </a:r>
            <a:r>
              <a:rPr lang="en-US" b="1" dirty="0">
                <a:latin typeface="Times New Roman" pitchFamily="18" charset="0"/>
                <a:cs typeface="Times New Roman" pitchFamily="18" charset="0"/>
              </a:rPr>
              <a:t>O</a:t>
            </a:r>
            <a:r>
              <a:rPr lang="en-US" dirty="0">
                <a:latin typeface="Times New Roman" pitchFamily="18" charset="0"/>
                <a:cs typeface="Times New Roman" pitchFamily="18" charset="0"/>
              </a:rPr>
              <a:t> and watermark image </a:t>
            </a:r>
            <a:r>
              <a:rPr lang="en-US" b="1" dirty="0">
                <a:latin typeface="Times New Roman" pitchFamily="18" charset="0"/>
                <a:cs typeface="Times New Roman" pitchFamily="18" charset="0"/>
              </a:rPr>
              <a:t>W</a:t>
            </a:r>
            <a:r>
              <a:rPr lang="en-US" dirty="0">
                <a:latin typeface="Times New Roman" pitchFamily="18" charset="0"/>
                <a:cs typeface="Times New Roman" pitchFamily="18" charset="0"/>
              </a:rPr>
              <a:t>.</a:t>
            </a:r>
          </a:p>
          <a:p>
            <a:pPr lvl="0">
              <a:buFont typeface="Wingdings" pitchFamily="2" charset="2"/>
              <a:buChar char="ü"/>
            </a:pPr>
            <a:endParaRPr lang="en-US" sz="1600" dirty="0">
              <a:latin typeface="Times New Roman" pitchFamily="18" charset="0"/>
              <a:cs typeface="Times New Roman" pitchFamily="18" charset="0"/>
            </a:endParaRPr>
          </a:p>
          <a:p>
            <a:pPr lvl="0">
              <a:buFont typeface="Wingdings" pitchFamily="2" charset="2"/>
              <a:buChar char="ü"/>
            </a:pPr>
            <a:r>
              <a:rPr lang="en-US" dirty="0">
                <a:latin typeface="Times New Roman" pitchFamily="18" charset="0"/>
                <a:cs typeface="Times New Roman" pitchFamily="18" charset="0"/>
              </a:rPr>
              <a:t>Determine magnitude </a:t>
            </a:r>
          </a:p>
          <a:p>
            <a:pPr lvl="0">
              <a:buFont typeface="Wingdings" pitchFamily="2" charset="2"/>
              <a:buChar char="ü"/>
            </a:pPr>
            <a:endParaRPr lang="en-US" dirty="0">
              <a:latin typeface="Times New Roman" pitchFamily="18" charset="0"/>
              <a:cs typeface="Times New Roman" pitchFamily="18" charset="0"/>
            </a:endParaRPr>
          </a:p>
          <a:p>
            <a:pPr lvl="0">
              <a:buFont typeface="Wingdings" pitchFamily="2" charset="2"/>
              <a:buChar char="ü"/>
            </a:pPr>
            <a:endParaRPr lang="en-US" dirty="0">
              <a:latin typeface="Times New Roman" pitchFamily="18" charset="0"/>
              <a:cs typeface="Times New Roman" pitchFamily="18" charset="0"/>
            </a:endParaRPr>
          </a:p>
          <a:p>
            <a:pPr lvl="0">
              <a:buFont typeface="Wingdings" pitchFamily="2" charset="2"/>
              <a:buChar char="ü"/>
            </a:pPr>
            <a:endParaRPr lang="en-US" dirty="0">
              <a:latin typeface="Times New Roman" pitchFamily="18" charset="0"/>
              <a:cs typeface="Times New Roman" pitchFamily="18" charset="0"/>
            </a:endParaRPr>
          </a:p>
          <a:p>
            <a:pPr lvl="0"/>
            <a:r>
              <a:rPr lang="en-US" dirty="0">
                <a:latin typeface="Times New Roman" pitchFamily="18" charset="0"/>
                <a:cs typeface="Times New Roman" pitchFamily="18" charset="0"/>
              </a:rPr>
              <a:t>and phase angle  </a:t>
            </a:r>
          </a:p>
          <a:p>
            <a:pPr lvl="0"/>
            <a:endParaRPr lang="en-US" dirty="0">
              <a:latin typeface="Times New Roman" pitchFamily="18" charset="0"/>
              <a:cs typeface="Times New Roman" pitchFamily="18" charset="0"/>
            </a:endParaRPr>
          </a:p>
          <a:p>
            <a:pPr lvl="0"/>
            <a:endParaRPr lang="en-US" dirty="0">
              <a:latin typeface="Times New Roman" pitchFamily="18" charset="0"/>
              <a:cs typeface="Times New Roman" pitchFamily="18" charset="0"/>
            </a:endParaRPr>
          </a:p>
          <a:p>
            <a:pPr lvl="0"/>
            <a:r>
              <a:rPr lang="en-US" dirty="0">
                <a:latin typeface="Times New Roman" pitchFamily="18" charset="0"/>
                <a:cs typeface="Times New Roman" pitchFamily="18" charset="0"/>
              </a:rPr>
              <a:t>at </a:t>
            </a:r>
            <a:r>
              <a:rPr lang="en-US" i="1" dirty="0">
                <a:latin typeface="Times New Roman" pitchFamily="18" charset="0"/>
                <a:cs typeface="Times New Roman" pitchFamily="18" charset="0"/>
              </a:rPr>
              <a:t>(</a:t>
            </a:r>
            <a:r>
              <a:rPr lang="en-US" i="1" dirty="0" err="1">
                <a:latin typeface="Times New Roman" pitchFamily="18" charset="0"/>
                <a:cs typeface="Times New Roman" pitchFamily="18" charset="0"/>
              </a:rPr>
              <a:t>i</a:t>
            </a:r>
            <a:r>
              <a:rPr lang="en-US" i="1" dirty="0">
                <a:latin typeface="Times New Roman" pitchFamily="18" charset="0"/>
                <a:cs typeface="Times New Roman" pitchFamily="18" charset="0"/>
              </a:rPr>
              <a:t>, j)</a:t>
            </a:r>
            <a:r>
              <a:rPr lang="en-US" dirty="0">
                <a:latin typeface="Times New Roman" pitchFamily="18" charset="0"/>
                <a:cs typeface="Times New Roman" pitchFamily="18" charset="0"/>
              </a:rPr>
              <a:t>; where </a:t>
            </a:r>
            <a:r>
              <a:rPr lang="en-US" i="1" dirty="0">
                <a:latin typeface="Times New Roman" pitchFamily="18" charset="0"/>
                <a:cs typeface="Times New Roman" pitchFamily="18" charset="0"/>
              </a:rPr>
              <a:t>O(</a:t>
            </a:r>
            <a:r>
              <a:rPr lang="en-US" i="1" dirty="0" err="1">
                <a:latin typeface="Times New Roman" pitchFamily="18" charset="0"/>
                <a:cs typeface="Times New Roman" pitchFamily="18" charset="0"/>
              </a:rPr>
              <a:t>i</a:t>
            </a:r>
            <a:r>
              <a:rPr lang="en-US" i="1" dirty="0">
                <a:latin typeface="Times New Roman" pitchFamily="18" charset="0"/>
                <a:cs typeface="Times New Roman" pitchFamily="18" charset="0"/>
              </a:rPr>
              <a:t>, j)</a:t>
            </a:r>
            <a:r>
              <a:rPr lang="en-US" dirty="0">
                <a:latin typeface="Times New Roman" pitchFamily="18" charset="0"/>
                <a:cs typeface="Times New Roman" pitchFamily="18" charset="0"/>
              </a:rPr>
              <a:t> and </a:t>
            </a:r>
            <a:r>
              <a:rPr lang="en-US" i="1" dirty="0">
                <a:latin typeface="Times New Roman" pitchFamily="18" charset="0"/>
                <a:cs typeface="Times New Roman" pitchFamily="18" charset="0"/>
              </a:rPr>
              <a:t>W(</a:t>
            </a:r>
            <a:r>
              <a:rPr lang="en-US" i="1" dirty="0" err="1">
                <a:latin typeface="Times New Roman" pitchFamily="18" charset="0"/>
                <a:cs typeface="Times New Roman" pitchFamily="18" charset="0"/>
              </a:rPr>
              <a:t>i</a:t>
            </a:r>
            <a:r>
              <a:rPr lang="en-US" i="1" dirty="0">
                <a:latin typeface="Times New Roman" pitchFamily="18" charset="0"/>
                <a:cs typeface="Times New Roman" pitchFamily="18" charset="0"/>
              </a:rPr>
              <a:t>, j)</a:t>
            </a:r>
            <a:r>
              <a:rPr lang="en-US" dirty="0">
                <a:latin typeface="Times New Roman" pitchFamily="18" charset="0"/>
                <a:cs typeface="Times New Roman" pitchFamily="18" charset="0"/>
              </a:rPr>
              <a:t> are the pixel at </a:t>
            </a:r>
            <a:r>
              <a:rPr lang="en-US" i="1" dirty="0">
                <a:latin typeface="Times New Roman" pitchFamily="18" charset="0"/>
                <a:cs typeface="Times New Roman" pitchFamily="18" charset="0"/>
              </a:rPr>
              <a:t>(</a:t>
            </a:r>
            <a:r>
              <a:rPr lang="en-US" i="1" dirty="0" err="1">
                <a:latin typeface="Times New Roman" pitchFamily="18" charset="0"/>
                <a:cs typeface="Times New Roman" pitchFamily="18" charset="0"/>
              </a:rPr>
              <a:t>i</a:t>
            </a:r>
            <a:r>
              <a:rPr lang="en-US" i="1" dirty="0">
                <a:latin typeface="Times New Roman" pitchFamily="18" charset="0"/>
                <a:cs typeface="Times New Roman" pitchFamily="18" charset="0"/>
              </a:rPr>
              <a:t>, j) </a:t>
            </a:r>
            <a:r>
              <a:rPr lang="en-US" dirty="0">
                <a:latin typeface="Times New Roman" pitchFamily="18" charset="0"/>
                <a:cs typeface="Times New Roman" pitchFamily="18" charset="0"/>
              </a:rPr>
              <a:t>of</a:t>
            </a:r>
            <a:r>
              <a:rPr lang="en-US" i="1" dirty="0">
                <a:latin typeface="Times New Roman" pitchFamily="18" charset="0"/>
                <a:cs typeface="Times New Roman" pitchFamily="18" charset="0"/>
              </a:rPr>
              <a:t> </a:t>
            </a:r>
            <a:r>
              <a:rPr lang="en-US" dirty="0">
                <a:latin typeface="Times New Roman" pitchFamily="18" charset="0"/>
                <a:cs typeface="Times New Roman" pitchFamily="18" charset="0"/>
              </a:rPr>
              <a:t> original and watermark image respectively and weighting factor 0 &lt; </a:t>
            </a:r>
            <a:r>
              <a:rPr lang="en-US" i="1" dirty="0">
                <a:latin typeface="Times New Roman" pitchFamily="18" charset="0"/>
                <a:cs typeface="Times New Roman" pitchFamily="18" charset="0"/>
              </a:rPr>
              <a:t>α</a:t>
            </a:r>
            <a:r>
              <a:rPr lang="en-US" dirty="0">
                <a:latin typeface="Times New Roman" pitchFamily="18" charset="0"/>
                <a:cs typeface="Times New Roman" pitchFamily="18" charset="0"/>
              </a:rPr>
              <a:t> &lt; 1. </a:t>
            </a:r>
            <a:endParaRPr lang="en-US" sz="1600"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pPr>
              <a:buFont typeface="Wingdings" pitchFamily="2" charset="2"/>
              <a:buChar char="ü"/>
            </a:pPr>
            <a:r>
              <a:rPr lang="en-US" dirty="0">
                <a:latin typeface="Times New Roman" pitchFamily="18" charset="0"/>
                <a:cs typeface="Times New Roman" pitchFamily="18" charset="0"/>
              </a:rPr>
              <a:t>Apply RSA algorithm on both </a:t>
            </a:r>
            <a:r>
              <a:rPr lang="en-US" i="1" dirty="0">
                <a:latin typeface="Times New Roman" pitchFamily="18" charset="0"/>
                <a:cs typeface="Times New Roman" pitchFamily="18" charset="0"/>
              </a:rPr>
              <a:t>M(</a:t>
            </a:r>
            <a:r>
              <a:rPr lang="en-US" i="1" dirty="0" err="1">
                <a:latin typeface="Times New Roman" pitchFamily="18" charset="0"/>
                <a:cs typeface="Times New Roman" pitchFamily="18" charset="0"/>
              </a:rPr>
              <a:t>i,j</a:t>
            </a:r>
            <a:r>
              <a:rPr lang="en-US" i="1" dirty="0">
                <a:latin typeface="Times New Roman" pitchFamily="18" charset="0"/>
                <a:cs typeface="Times New Roman" pitchFamily="18" charset="0"/>
              </a:rPr>
              <a:t>)</a:t>
            </a:r>
            <a:r>
              <a:rPr lang="en-US" dirty="0">
                <a:latin typeface="Times New Roman" pitchFamily="18" charset="0"/>
                <a:cs typeface="Times New Roman" pitchFamily="18" charset="0"/>
              </a:rPr>
              <a:t> and  </a:t>
            </a:r>
            <a:r>
              <a:rPr lang="el-GR" i="1" dirty="0">
                <a:latin typeface="Times New Roman" pitchFamily="18" charset="0"/>
                <a:cs typeface="Times New Roman" pitchFamily="18" charset="0"/>
              </a:rPr>
              <a:t>φ</a:t>
            </a:r>
            <a:r>
              <a:rPr lang="en-US" i="1" dirty="0">
                <a:latin typeface="Times New Roman" pitchFamily="18" charset="0"/>
                <a:cs typeface="Times New Roman" pitchFamily="18" charset="0"/>
              </a:rPr>
              <a:t>(</a:t>
            </a:r>
            <a:r>
              <a:rPr lang="en-US" i="1" dirty="0" err="1">
                <a:latin typeface="Times New Roman" pitchFamily="18" charset="0"/>
                <a:cs typeface="Times New Roman" pitchFamily="18" charset="0"/>
              </a:rPr>
              <a:t>i,j</a:t>
            </a:r>
            <a:r>
              <a:rPr lang="en-US" i="1" dirty="0">
                <a:latin typeface="Times New Roman" pitchFamily="18" charset="0"/>
                <a:cs typeface="Times New Roman" pitchFamily="18" charset="0"/>
              </a:rPr>
              <a:t>) </a:t>
            </a:r>
            <a:r>
              <a:rPr lang="en-US" dirty="0">
                <a:latin typeface="Times New Roman" pitchFamily="18" charset="0"/>
                <a:cs typeface="Times New Roman" pitchFamily="18" charset="0"/>
              </a:rPr>
              <a:t>like: </a:t>
            </a:r>
          </a:p>
          <a:p>
            <a:pPr>
              <a:buFont typeface="Wingdings" pitchFamily="2" charset="2"/>
              <a:buChar char="ü"/>
            </a:pPr>
            <a:endParaRPr lang="en-US" dirty="0">
              <a:latin typeface="Times New Roman" pitchFamily="18" charset="0"/>
              <a:cs typeface="Times New Roman" pitchFamily="18" charset="0"/>
            </a:endParaRPr>
          </a:p>
          <a:p>
            <a:pPr>
              <a:buFont typeface="Wingdings" pitchFamily="2" charset="2"/>
              <a:buChar char="ü"/>
            </a:pP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and</a:t>
            </a:r>
          </a:p>
          <a:p>
            <a:endParaRPr lang="en-US" dirty="0">
              <a:latin typeface="Times New Roman" pitchFamily="18" charset="0"/>
              <a:cs typeface="Times New Roman" pitchFamily="18" charset="0"/>
            </a:endParaRPr>
          </a:p>
        </p:txBody>
      </p:sp>
      <p:sp>
        <p:nvSpPr>
          <p:cNvPr id="409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961" name="Object 1"/>
          <p:cNvGraphicFramePr>
            <a:graphicFrameLocks noChangeAspect="1"/>
          </p:cNvGraphicFramePr>
          <p:nvPr/>
        </p:nvGraphicFramePr>
        <p:xfrm>
          <a:off x="990600" y="1981200"/>
          <a:ext cx="6076335" cy="609600"/>
        </p:xfrm>
        <a:graphic>
          <a:graphicData uri="http://schemas.openxmlformats.org/presentationml/2006/ole">
            <p:oleObj spid="_x0000_s40988" name="Equation" r:id="rId3" imgW="70408800" imgH="7315200" progId="Equation.3">
              <p:embed/>
            </p:oleObj>
          </a:graphicData>
        </a:graphic>
      </p:graphicFrame>
      <p:sp>
        <p:nvSpPr>
          <p:cNvPr id="4096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963" name="Object 3"/>
          <p:cNvGraphicFramePr>
            <a:graphicFrameLocks noChangeAspect="1"/>
          </p:cNvGraphicFramePr>
          <p:nvPr/>
        </p:nvGraphicFramePr>
        <p:xfrm>
          <a:off x="2057400" y="2590800"/>
          <a:ext cx="2686050" cy="838200"/>
        </p:xfrm>
        <a:graphic>
          <a:graphicData uri="http://schemas.openxmlformats.org/presentationml/2006/ole">
            <p:oleObj spid="_x0000_s40989" name="Equation" r:id="rId4" imgW="32308800" imgH="10058400" progId="Equation.3">
              <p:embed/>
            </p:oleObj>
          </a:graphicData>
        </a:graphic>
      </p:graphicFrame>
      <p:sp>
        <p:nvSpPr>
          <p:cNvPr id="4096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965" name="Object 5"/>
          <p:cNvGraphicFramePr>
            <a:graphicFrameLocks noChangeAspect="1"/>
          </p:cNvGraphicFramePr>
          <p:nvPr/>
        </p:nvGraphicFramePr>
        <p:xfrm>
          <a:off x="5486400" y="4375674"/>
          <a:ext cx="3403600" cy="479702"/>
        </p:xfrm>
        <a:graphic>
          <a:graphicData uri="http://schemas.openxmlformats.org/presentationml/2006/ole">
            <p:oleObj spid="_x0000_s40990" name="Equation" r:id="rId5" imgW="34137600" imgH="4572000" progId="Equation.3">
              <p:embed/>
            </p:oleObj>
          </a:graphicData>
        </a:graphic>
      </p:graphicFrame>
      <p:sp>
        <p:nvSpPr>
          <p:cNvPr id="4096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967" name="Object 7"/>
          <p:cNvGraphicFramePr>
            <a:graphicFrameLocks noChangeAspect="1"/>
          </p:cNvGraphicFramePr>
          <p:nvPr/>
        </p:nvGraphicFramePr>
        <p:xfrm>
          <a:off x="914400" y="5181600"/>
          <a:ext cx="3454400" cy="533400"/>
        </p:xfrm>
        <a:graphic>
          <a:graphicData uri="http://schemas.openxmlformats.org/presentationml/2006/ole">
            <p:oleObj spid="_x0000_s40991" name="Equation" r:id="rId6" imgW="31089600" imgH="4572000" progId="Equation.3">
              <p:embed/>
            </p:oleObj>
          </a:graphicData>
        </a:graphic>
      </p:graphicFrame>
    </p:spTree>
  </p:cSld>
  <p:clrMapOvr>
    <a:masterClrMapping/>
  </p:clrMapOvr>
  <p:transition>
    <p:pull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
        <p:nvSpPr>
          <p:cNvPr id="5" name="TextBox 4"/>
          <p:cNvSpPr txBox="1"/>
          <p:nvPr/>
        </p:nvSpPr>
        <p:spPr>
          <a:xfrm>
            <a:off x="304800" y="457200"/>
            <a:ext cx="8305800" cy="5262979"/>
          </a:xfrm>
          <a:prstGeom prst="rect">
            <a:avLst/>
          </a:prstGeom>
          <a:solidFill>
            <a:srgbClr val="99CCFF"/>
          </a:solidFill>
        </p:spPr>
        <p:txBody>
          <a:bodyPr wrap="square" rtlCol="0">
            <a:spAutoFit/>
          </a:bodyPr>
          <a:lstStyle/>
          <a:p>
            <a:pPr algn="just">
              <a:buFont typeface="Wingdings" pitchFamily="2" charset="2"/>
              <a:buChar char="ü"/>
            </a:pPr>
            <a:r>
              <a:rPr lang="en-US" sz="2400" dirty="0">
                <a:latin typeface="Times New Roman" pitchFamily="18" charset="0"/>
                <a:cs typeface="Times New Roman" pitchFamily="18" charset="0"/>
              </a:rPr>
              <a:t>Transmit encrypted </a:t>
            </a:r>
            <a:r>
              <a:rPr lang="en-US" sz="2400" i="1" dirty="0">
                <a:latin typeface="Times New Roman" pitchFamily="18" charset="0"/>
                <a:cs typeface="Times New Roman" pitchFamily="18" charset="0"/>
              </a:rPr>
              <a:t>M(</a:t>
            </a:r>
            <a:r>
              <a:rPr lang="en-US" sz="2400" i="1" dirty="0" err="1">
                <a:latin typeface="Times New Roman" pitchFamily="18" charset="0"/>
                <a:cs typeface="Times New Roman" pitchFamily="18" charset="0"/>
              </a:rPr>
              <a:t>i</a:t>
            </a:r>
            <a:r>
              <a:rPr lang="en-US" sz="2400" i="1" dirty="0">
                <a:latin typeface="Times New Roman" pitchFamily="18" charset="0"/>
                <a:cs typeface="Times New Roman" pitchFamily="18" charset="0"/>
              </a:rPr>
              <a:t>, j) </a:t>
            </a:r>
            <a:r>
              <a:rPr lang="en-US" sz="2400" dirty="0">
                <a:latin typeface="Times New Roman" pitchFamily="18" charset="0"/>
                <a:cs typeface="Times New Roman" pitchFamily="18" charset="0"/>
              </a:rPr>
              <a:t>i.e. </a:t>
            </a:r>
            <a:r>
              <a:rPr lang="en-US" sz="2400" i="1" dirty="0">
                <a:latin typeface="Times New Roman" pitchFamily="18" charset="0"/>
                <a:cs typeface="Times New Roman" pitchFamily="18" charset="0"/>
              </a:rPr>
              <a:t>M</a:t>
            </a:r>
            <a:r>
              <a:rPr lang="en-US" sz="2400" i="1" baseline="-25000" dirty="0">
                <a:latin typeface="Times New Roman" pitchFamily="18" charset="0"/>
                <a:cs typeface="Times New Roman" pitchFamily="18" charset="0"/>
              </a:rPr>
              <a:t>RSA</a:t>
            </a:r>
            <a:r>
              <a:rPr lang="en-US" sz="2400" i="1" dirty="0">
                <a:latin typeface="Times New Roman" pitchFamily="18" charset="0"/>
                <a:cs typeface="Times New Roman" pitchFamily="18" charset="0"/>
              </a:rPr>
              <a:t>(</a:t>
            </a:r>
            <a:r>
              <a:rPr lang="en-US" sz="2400" i="1" dirty="0" err="1">
                <a:latin typeface="Times New Roman" pitchFamily="18" charset="0"/>
                <a:cs typeface="Times New Roman" pitchFamily="18" charset="0"/>
              </a:rPr>
              <a:t>i</a:t>
            </a:r>
            <a:r>
              <a:rPr lang="en-US" sz="2400" i="1" dirty="0">
                <a:latin typeface="Times New Roman" pitchFamily="18" charset="0"/>
                <a:cs typeface="Times New Roman" pitchFamily="18" charset="0"/>
              </a:rPr>
              <a:t>, j) </a:t>
            </a:r>
            <a:r>
              <a:rPr lang="en-US" sz="2400" dirty="0">
                <a:latin typeface="Times New Roman" pitchFamily="18" charset="0"/>
                <a:cs typeface="Times New Roman" pitchFamily="18" charset="0"/>
              </a:rPr>
              <a:t>as the watermarked image to the receiver through public channel and </a:t>
            </a:r>
            <a:r>
              <a:rPr lang="el-GR" sz="2400" i="1" dirty="0">
                <a:latin typeface="Times New Roman" pitchFamily="18" charset="0"/>
                <a:cs typeface="Times New Roman" pitchFamily="18" charset="0"/>
              </a:rPr>
              <a:t>φ</a:t>
            </a:r>
            <a:r>
              <a:rPr lang="en-US" sz="2400" i="1" baseline="-25000" dirty="0">
                <a:latin typeface="Times New Roman" pitchFamily="18" charset="0"/>
                <a:cs typeface="Times New Roman" pitchFamily="18" charset="0"/>
              </a:rPr>
              <a:t>RSA</a:t>
            </a:r>
            <a:r>
              <a:rPr lang="en-US" sz="2400" i="1" dirty="0">
                <a:latin typeface="Times New Roman" pitchFamily="18" charset="0"/>
                <a:cs typeface="Times New Roman" pitchFamily="18" charset="0"/>
              </a:rPr>
              <a:t>(</a:t>
            </a:r>
            <a:r>
              <a:rPr lang="en-US" sz="2400" i="1" dirty="0" err="1">
                <a:latin typeface="Times New Roman" pitchFamily="18" charset="0"/>
                <a:cs typeface="Times New Roman" pitchFamily="18" charset="0"/>
              </a:rPr>
              <a:t>i,j</a:t>
            </a:r>
            <a:r>
              <a:rPr lang="en-US" sz="2400" i="1" dirty="0">
                <a:latin typeface="Times New Roman" pitchFamily="18" charset="0"/>
                <a:cs typeface="Times New Roman" pitchFamily="18" charset="0"/>
              </a:rPr>
              <a:t>) </a:t>
            </a:r>
            <a:r>
              <a:rPr lang="en-US" sz="2400" dirty="0">
                <a:latin typeface="Times New Roman" pitchFamily="18" charset="0"/>
                <a:cs typeface="Times New Roman" pitchFamily="18" charset="0"/>
              </a:rPr>
              <a:t>as the private (both phase angle itself and RSA parameters) key through the secured channel.</a:t>
            </a:r>
          </a:p>
          <a:p>
            <a:pPr algn="just">
              <a:buFont typeface="Wingdings" pitchFamily="2" charset="2"/>
              <a:buChar char="ü"/>
            </a:pPr>
            <a:endParaRPr lang="en-US" sz="2400" dirty="0">
              <a:latin typeface="Times New Roman" pitchFamily="18" charset="0"/>
              <a:cs typeface="Times New Roman" pitchFamily="18" charset="0"/>
            </a:endParaRPr>
          </a:p>
          <a:p>
            <a:pPr algn="just">
              <a:buFont typeface="Wingdings" pitchFamily="2" charset="2"/>
              <a:buChar char="ü"/>
            </a:pPr>
            <a:r>
              <a:rPr lang="en-US" sz="2400" dirty="0">
                <a:latin typeface="Times New Roman" pitchFamily="18" charset="0"/>
                <a:cs typeface="Times New Roman" pitchFamily="18" charset="0"/>
              </a:rPr>
              <a:t>At receiving end decrypt the magnitude and phase angle at </a:t>
            </a:r>
            <a:r>
              <a:rPr lang="en-US" sz="2400" i="1" dirty="0">
                <a:latin typeface="Times New Roman" pitchFamily="18" charset="0"/>
                <a:cs typeface="Times New Roman" pitchFamily="18" charset="0"/>
              </a:rPr>
              <a:t>(</a:t>
            </a:r>
            <a:r>
              <a:rPr lang="en-US" sz="2400" i="1" dirty="0" err="1">
                <a:latin typeface="Times New Roman" pitchFamily="18" charset="0"/>
                <a:cs typeface="Times New Roman" pitchFamily="18" charset="0"/>
              </a:rPr>
              <a:t>i</a:t>
            </a:r>
            <a:r>
              <a:rPr lang="en-US" sz="2400" i="1" dirty="0">
                <a:latin typeface="Times New Roman" pitchFamily="18" charset="0"/>
                <a:cs typeface="Times New Roman" pitchFamily="18" charset="0"/>
              </a:rPr>
              <a:t>, j)</a:t>
            </a:r>
            <a:r>
              <a:rPr lang="en-US" sz="2400" dirty="0">
                <a:latin typeface="Times New Roman" pitchFamily="18" charset="0"/>
                <a:cs typeface="Times New Roman" pitchFamily="18" charset="0"/>
              </a:rPr>
              <a:t>  as:</a:t>
            </a:r>
          </a:p>
          <a:p>
            <a:pPr algn="just">
              <a:buFont typeface="Wingdings" pitchFamily="2" charset="2"/>
              <a:buChar char="ü"/>
            </a:pPr>
            <a:endParaRPr lang="en-US" sz="2400" dirty="0">
              <a:latin typeface="Times New Roman" pitchFamily="18" charset="0"/>
              <a:cs typeface="Times New Roman" pitchFamily="18" charset="0"/>
            </a:endParaRPr>
          </a:p>
          <a:p>
            <a:pPr algn="just">
              <a:buFont typeface="Wingdings" pitchFamily="2" charset="2"/>
              <a:buChar char="ü"/>
            </a:pPr>
            <a:endParaRPr lang="en-US" sz="2400" dirty="0">
              <a:latin typeface="Times New Roman" pitchFamily="18" charset="0"/>
              <a:cs typeface="Times New Roman" pitchFamily="18" charset="0"/>
            </a:endParaRPr>
          </a:p>
          <a:p>
            <a:pPr algn="just">
              <a:buFont typeface="Wingdings" pitchFamily="2" charset="2"/>
              <a:buChar char="ü"/>
            </a:pPr>
            <a:endParaRPr lang="en-US" sz="2400" dirty="0">
              <a:latin typeface="Times New Roman" pitchFamily="18" charset="0"/>
              <a:cs typeface="Times New Roman" pitchFamily="18" charset="0"/>
            </a:endParaRPr>
          </a:p>
          <a:p>
            <a:pPr algn="just">
              <a:buFont typeface="Wingdings" pitchFamily="2" charset="2"/>
              <a:buChar char="ü"/>
            </a:pP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where </a:t>
            </a:r>
            <a:r>
              <a:rPr lang="en-US" sz="2400" i="1" dirty="0">
                <a:latin typeface="Times New Roman" pitchFamily="18" charset="0"/>
                <a:cs typeface="Times New Roman" pitchFamily="18" charset="0"/>
              </a:rPr>
              <a:t>n(t)</a:t>
            </a:r>
            <a:r>
              <a:rPr lang="en-US" sz="2400" dirty="0">
                <a:latin typeface="Times New Roman" pitchFamily="18" charset="0"/>
                <a:cs typeface="Times New Roman" pitchFamily="18" charset="0"/>
              </a:rPr>
              <a:t> and </a:t>
            </a:r>
            <a:r>
              <a:rPr lang="en-US" sz="2400" i="1" dirty="0">
                <a:latin typeface="Times New Roman" pitchFamily="18" charset="0"/>
                <a:cs typeface="Times New Roman" pitchFamily="18" charset="0"/>
              </a:rPr>
              <a:t>nʹ(t)</a:t>
            </a:r>
            <a:r>
              <a:rPr lang="en-US" sz="2400" dirty="0">
                <a:latin typeface="Times New Roman" pitchFamily="18" charset="0"/>
                <a:cs typeface="Times New Roman" pitchFamily="18" charset="0"/>
              </a:rPr>
              <a:t> are the noise of public and secured channels respectively at the instant of arrival of the pixel. Here and are the error of the decrypted data at </a:t>
            </a:r>
            <a:r>
              <a:rPr lang="en-US" sz="2400" i="1" dirty="0">
                <a:latin typeface="Times New Roman" pitchFamily="18" charset="0"/>
                <a:cs typeface="Times New Roman" pitchFamily="18" charset="0"/>
              </a:rPr>
              <a:t>(</a:t>
            </a:r>
            <a:r>
              <a:rPr lang="en-US" sz="2400" i="1" dirty="0" err="1">
                <a:latin typeface="Times New Roman" pitchFamily="18" charset="0"/>
                <a:cs typeface="Times New Roman" pitchFamily="18" charset="0"/>
              </a:rPr>
              <a:t>i</a:t>
            </a:r>
            <a:r>
              <a:rPr lang="en-US" sz="2400" i="1" dirty="0">
                <a:latin typeface="Times New Roman" pitchFamily="18" charset="0"/>
                <a:cs typeface="Times New Roman" pitchFamily="18" charset="0"/>
              </a:rPr>
              <a:t>, j)</a:t>
            </a:r>
            <a:r>
              <a:rPr lang="en-US" sz="2400" dirty="0">
                <a:latin typeface="Times New Roman" pitchFamily="18" charset="0"/>
                <a:cs typeface="Times New Roman" pitchFamily="18" charset="0"/>
              </a:rPr>
              <a:t>.</a:t>
            </a:r>
          </a:p>
        </p:txBody>
      </p:sp>
      <p:sp>
        <p:nvSpPr>
          <p:cNvPr id="5529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5297" name="Object 1"/>
          <p:cNvGraphicFramePr>
            <a:graphicFrameLocks noChangeAspect="1"/>
          </p:cNvGraphicFramePr>
          <p:nvPr/>
        </p:nvGraphicFramePr>
        <p:xfrm>
          <a:off x="990600" y="2895600"/>
          <a:ext cx="6516757" cy="533400"/>
        </p:xfrm>
        <a:graphic>
          <a:graphicData uri="http://schemas.openxmlformats.org/presentationml/2006/ole">
            <p:oleObj spid="_x0000_s55310" name="Equation" r:id="rId3" imgW="64312800" imgH="5181600" progId="Equation.3">
              <p:embed/>
            </p:oleObj>
          </a:graphicData>
        </a:graphic>
      </p:graphicFrame>
      <p:sp>
        <p:nvSpPr>
          <p:cNvPr id="5530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5299" name="Object 3"/>
          <p:cNvGraphicFramePr>
            <a:graphicFrameLocks noChangeAspect="1"/>
          </p:cNvGraphicFramePr>
          <p:nvPr/>
        </p:nvGraphicFramePr>
        <p:xfrm>
          <a:off x="914400" y="3657600"/>
          <a:ext cx="6781800" cy="609600"/>
        </p:xfrm>
        <a:graphic>
          <a:graphicData uri="http://schemas.openxmlformats.org/presentationml/2006/ole">
            <p:oleObj spid="_x0000_s55311" name="Equation" r:id="rId4" imgW="61264800" imgH="5486400" progId="Equation.3">
              <p:embed/>
            </p:oleObj>
          </a:graphicData>
        </a:graphic>
      </p:graphicFrame>
    </p:spTree>
  </p:cSld>
  <p:clrMapOvr>
    <a:masterClrMapping/>
  </p:clrMapOvr>
  <p:transition>
    <p:wipe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
        <p:nvSpPr>
          <p:cNvPr id="5" name="TextBox 4"/>
          <p:cNvSpPr txBox="1"/>
          <p:nvPr/>
        </p:nvSpPr>
        <p:spPr>
          <a:xfrm>
            <a:off x="228600" y="457200"/>
            <a:ext cx="8610600" cy="3416320"/>
          </a:xfrm>
          <a:prstGeom prst="rect">
            <a:avLst/>
          </a:prstGeom>
          <a:solidFill>
            <a:srgbClr val="99CCFF"/>
          </a:solidFill>
        </p:spPr>
        <p:txBody>
          <a:bodyPr wrap="square" rtlCol="0">
            <a:spAutoFit/>
          </a:bodyPr>
          <a:lstStyle/>
          <a:p>
            <a:pPr lvl="0" algn="just">
              <a:buFont typeface="Wingdings" pitchFamily="2" charset="2"/>
              <a:buChar char="ü"/>
            </a:pPr>
            <a:r>
              <a:rPr lang="en-US" sz="2400" dirty="0">
                <a:latin typeface="Times New Roman" pitchFamily="18" charset="0"/>
                <a:cs typeface="Times New Roman" pitchFamily="18" charset="0"/>
              </a:rPr>
              <a:t>Recover the pixels of original and watermark image as:</a:t>
            </a:r>
          </a:p>
          <a:p>
            <a:pPr lvl="0" algn="just"/>
            <a:endParaRPr lang="en-US" sz="2400" dirty="0">
              <a:latin typeface="Times New Roman" pitchFamily="18" charset="0"/>
              <a:cs typeface="Times New Roman" pitchFamily="18" charset="0"/>
            </a:endParaRPr>
          </a:p>
          <a:p>
            <a:pPr lvl="0"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and </a:t>
            </a:r>
          </a:p>
          <a:p>
            <a:pPr algn="just"/>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where           and            are the estimated value of pixels original and watermark image because of noisy channel.</a:t>
            </a:r>
          </a:p>
        </p:txBody>
      </p:sp>
      <p:sp>
        <p:nvSpPr>
          <p:cNvPr id="563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6321" name="Object 1"/>
          <p:cNvGraphicFramePr>
            <a:graphicFrameLocks noChangeAspect="1"/>
          </p:cNvGraphicFramePr>
          <p:nvPr/>
        </p:nvGraphicFramePr>
        <p:xfrm>
          <a:off x="1196975" y="990600"/>
          <a:ext cx="3235325" cy="533400"/>
        </p:xfrm>
        <a:graphic>
          <a:graphicData uri="http://schemas.openxmlformats.org/presentationml/2006/ole">
            <p:oleObj spid="_x0000_s56348" name="Equation" r:id="rId3" imgW="33223200" imgH="5486400" progId="">
              <p:embed/>
            </p:oleObj>
          </a:graphicData>
        </a:graphic>
      </p:graphicFrame>
      <p:sp>
        <p:nvSpPr>
          <p:cNvPr id="563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6323" name="Object 3"/>
          <p:cNvGraphicFramePr>
            <a:graphicFrameLocks noChangeAspect="1"/>
          </p:cNvGraphicFramePr>
          <p:nvPr/>
        </p:nvGraphicFramePr>
        <p:xfrm>
          <a:off x="1096963" y="2132013"/>
          <a:ext cx="4206875" cy="593725"/>
        </p:xfrm>
        <a:graphic>
          <a:graphicData uri="http://schemas.openxmlformats.org/presentationml/2006/ole">
            <p:oleObj spid="_x0000_s56349" name="Equation" r:id="rId4" imgW="37490400" imgH="5181600" progId="">
              <p:embed/>
            </p:oleObj>
          </a:graphicData>
        </a:graphic>
      </p:graphicFrame>
      <p:sp>
        <p:nvSpPr>
          <p:cNvPr id="563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6325" name="Object 5"/>
          <p:cNvGraphicFramePr>
            <a:graphicFrameLocks noChangeAspect="1"/>
          </p:cNvGraphicFramePr>
          <p:nvPr/>
        </p:nvGraphicFramePr>
        <p:xfrm>
          <a:off x="1143000" y="3048000"/>
          <a:ext cx="762000" cy="457200"/>
        </p:xfrm>
        <a:graphic>
          <a:graphicData uri="http://schemas.openxmlformats.org/presentationml/2006/ole">
            <p:oleObj spid="_x0000_s56350" name="Equation" r:id="rId5" imgW="9144000" imgH="5486400" progId="Equation.3">
              <p:embed/>
            </p:oleObj>
          </a:graphicData>
        </a:graphic>
      </p:graphicFrame>
      <p:sp>
        <p:nvSpPr>
          <p:cNvPr id="5632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56327" name="Object 7"/>
          <p:cNvGraphicFramePr>
            <a:graphicFrameLocks noChangeAspect="1"/>
          </p:cNvGraphicFramePr>
          <p:nvPr/>
        </p:nvGraphicFramePr>
        <p:xfrm>
          <a:off x="2553789" y="3113315"/>
          <a:ext cx="662609" cy="381000"/>
        </p:xfrm>
        <a:graphic>
          <a:graphicData uri="http://schemas.openxmlformats.org/presentationml/2006/ole">
            <p:oleObj spid="_x0000_s56351" name="Equation" r:id="rId6" imgW="9448800" imgH="5181600" progId="Equation.3">
              <p:embed/>
            </p:oleObj>
          </a:graphicData>
        </a:graphic>
      </p:graphicFrame>
    </p:spTree>
  </p:cSld>
  <p:clrMapOvr>
    <a:masterClrMapping/>
  </p:clrMapOvr>
  <p:transition>
    <p:pull dir="d"/>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CCFFCC"/>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latin typeface="Times New Roman" pitchFamily="18" charset="0"/>
                <a:cs typeface="Times New Roman" pitchFamily="18" charset="0"/>
              </a:rPr>
              <a:pPr/>
              <a:t>15</a:t>
            </a:fld>
            <a:endParaRPr lang="en-US">
              <a:latin typeface="Times New Roman" pitchFamily="18" charset="0"/>
              <a:cs typeface="Times New Roman" pitchFamily="18" charset="0"/>
            </a:endParaRPr>
          </a:p>
        </p:txBody>
      </p:sp>
      <p:sp>
        <p:nvSpPr>
          <p:cNvPr id="5" name="TextBox 4"/>
          <p:cNvSpPr txBox="1"/>
          <p:nvPr/>
        </p:nvSpPr>
        <p:spPr>
          <a:xfrm>
            <a:off x="76200" y="833764"/>
            <a:ext cx="9144000" cy="1200329"/>
          </a:xfrm>
          <a:prstGeom prst="rect">
            <a:avLst/>
          </a:prstGeom>
          <a:solidFill>
            <a:srgbClr val="CCECFF"/>
          </a:solidFill>
        </p:spPr>
        <p:txBody>
          <a:bodyPr wrap="square" rtlCol="0">
            <a:spAutoFit/>
          </a:bodyPr>
          <a:lstStyle/>
          <a:p>
            <a:pPr algn="just"/>
            <a:r>
              <a:rPr lang="en-US" sz="2400" dirty="0">
                <a:latin typeface="Times New Roman" pitchFamily="18" charset="0"/>
                <a:cs typeface="Times New Roman" pitchFamily="18" charset="0"/>
              </a:rPr>
              <a:t>The original image, watermark, transmitted combined image, recovered </a:t>
            </a:r>
            <a:r>
              <a:rPr lang="en-US" sz="2400" dirty="0" err="1">
                <a:latin typeface="Times New Roman" pitchFamily="18" charset="0"/>
                <a:cs typeface="Times New Roman" pitchFamily="18" charset="0"/>
              </a:rPr>
              <a:t>watermak</a:t>
            </a:r>
            <a:r>
              <a:rPr lang="en-US" sz="2400" dirty="0">
                <a:latin typeface="Times New Roman" pitchFamily="18" charset="0"/>
                <a:cs typeface="Times New Roman" pitchFamily="18" charset="0"/>
              </a:rPr>
              <a:t>, recovered original image and received noisy image are shown in fig. 3-6 for -20dB, -25dB and -30dB </a:t>
            </a:r>
            <a:r>
              <a:rPr lang="en-US" sz="2400" dirty="0" err="1">
                <a:latin typeface="Times New Roman" pitchFamily="18" charset="0"/>
                <a:cs typeface="Times New Roman" pitchFamily="18" charset="0"/>
              </a:rPr>
              <a:t>awgn</a:t>
            </a:r>
            <a:r>
              <a:rPr lang="en-US" sz="2400" dirty="0">
                <a:latin typeface="Times New Roman" pitchFamily="18" charset="0"/>
                <a:cs typeface="Times New Roman" pitchFamily="18" charset="0"/>
              </a:rPr>
              <a:t> channel taking </a:t>
            </a:r>
            <a:r>
              <a:rPr lang="en-US" sz="2400" i="1" dirty="0">
                <a:latin typeface="Times New Roman" pitchFamily="18" charset="0"/>
                <a:cs typeface="Times New Roman" pitchFamily="18" charset="0"/>
              </a:rPr>
              <a:t>α</a:t>
            </a:r>
            <a:r>
              <a:rPr lang="en-US" sz="2400" dirty="0">
                <a:latin typeface="Times New Roman" pitchFamily="18" charset="0"/>
                <a:cs typeface="Times New Roman" pitchFamily="18" charset="0"/>
              </a:rPr>
              <a:t> = 0.05. </a:t>
            </a:r>
          </a:p>
        </p:txBody>
      </p:sp>
      <p:pic>
        <p:nvPicPr>
          <p:cNvPr id="6" name="Picture 5"/>
          <p:cNvPicPr/>
          <p:nvPr/>
        </p:nvPicPr>
        <p:blipFill>
          <a:blip r:embed="rId2"/>
          <a:srcRect/>
          <a:stretch>
            <a:fillRect/>
          </a:stretch>
        </p:blipFill>
        <p:spPr bwMode="auto">
          <a:xfrm>
            <a:off x="-228600" y="2366636"/>
            <a:ext cx="5029200" cy="3657600"/>
          </a:xfrm>
          <a:prstGeom prst="rect">
            <a:avLst/>
          </a:prstGeom>
          <a:noFill/>
          <a:ln w="9525">
            <a:noFill/>
            <a:miter lim="800000"/>
            <a:headEnd/>
            <a:tailEnd/>
          </a:ln>
        </p:spPr>
      </p:pic>
      <p:sp>
        <p:nvSpPr>
          <p:cNvPr id="7" name="TextBox 6"/>
          <p:cNvSpPr txBox="1"/>
          <p:nvPr/>
        </p:nvSpPr>
        <p:spPr>
          <a:xfrm>
            <a:off x="381000" y="5867400"/>
            <a:ext cx="4267200" cy="338554"/>
          </a:xfrm>
          <a:prstGeom prst="rect">
            <a:avLst/>
          </a:prstGeom>
          <a:noFill/>
        </p:spPr>
        <p:txBody>
          <a:bodyPr wrap="square" rtlCol="0">
            <a:spAutoFit/>
          </a:bodyPr>
          <a:lstStyle/>
          <a:p>
            <a:r>
              <a:rPr lang="en-US" sz="1600" dirty="0">
                <a:latin typeface="Times New Roman" pitchFamily="18" charset="0"/>
                <a:cs typeface="Times New Roman" pitchFamily="18" charset="0"/>
              </a:rPr>
              <a:t>(a) Recovery of watermark under -12dB channel</a:t>
            </a:r>
          </a:p>
        </p:txBody>
      </p:sp>
      <p:pic>
        <p:nvPicPr>
          <p:cNvPr id="8" name="Picture 7"/>
          <p:cNvPicPr/>
          <p:nvPr/>
        </p:nvPicPr>
        <p:blipFill>
          <a:blip r:embed="rId3"/>
          <a:srcRect/>
          <a:stretch>
            <a:fillRect/>
          </a:stretch>
        </p:blipFill>
        <p:spPr bwMode="auto">
          <a:xfrm>
            <a:off x="4282751" y="2423951"/>
            <a:ext cx="5029200" cy="3657600"/>
          </a:xfrm>
          <a:prstGeom prst="rect">
            <a:avLst/>
          </a:prstGeom>
          <a:noFill/>
          <a:ln w="9525">
            <a:noFill/>
            <a:miter lim="800000"/>
            <a:headEnd/>
            <a:tailEnd/>
          </a:ln>
        </p:spPr>
      </p:pic>
      <p:sp>
        <p:nvSpPr>
          <p:cNvPr id="9" name="TextBox 8"/>
          <p:cNvSpPr txBox="1"/>
          <p:nvPr/>
        </p:nvSpPr>
        <p:spPr>
          <a:xfrm>
            <a:off x="4572000" y="5903167"/>
            <a:ext cx="4191000" cy="338554"/>
          </a:xfrm>
          <a:prstGeom prst="rect">
            <a:avLst/>
          </a:prstGeom>
          <a:noFill/>
        </p:spPr>
        <p:txBody>
          <a:bodyPr wrap="square" rtlCol="0">
            <a:spAutoFit/>
          </a:bodyPr>
          <a:lstStyle/>
          <a:p>
            <a:r>
              <a:rPr lang="en-US" sz="1600" dirty="0">
                <a:latin typeface="Times New Roman" pitchFamily="18" charset="0"/>
                <a:cs typeface="Times New Roman" pitchFamily="18" charset="0"/>
              </a:rPr>
              <a:t>(b) Recovery of watermark under -20dB channel</a:t>
            </a:r>
          </a:p>
        </p:txBody>
      </p:sp>
      <p:sp>
        <p:nvSpPr>
          <p:cNvPr id="10" name="Title 1">
            <a:extLst>
              <a:ext uri="{FF2B5EF4-FFF2-40B4-BE49-F238E27FC236}">
                <a16:creationId xmlns:a16="http://schemas.microsoft.com/office/drawing/2014/main" xmlns="" id="{610FE18E-25F5-4377-8D22-F5EE033C6F73}"/>
              </a:ext>
            </a:extLst>
          </p:cNvPr>
          <p:cNvSpPr>
            <a:spLocks noGrp="1"/>
          </p:cNvSpPr>
          <p:nvPr>
            <p:ph type="title"/>
          </p:nvPr>
        </p:nvSpPr>
        <p:spPr>
          <a:xfrm>
            <a:off x="0" y="55530"/>
            <a:ext cx="2438400" cy="596516"/>
          </a:xfrm>
          <a:solidFill>
            <a:srgbClr val="CCECFF"/>
          </a:solidFill>
        </p:spPr>
        <p:txBody>
          <a:bodyPr>
            <a:normAutofit fontScale="90000"/>
          </a:bodyPr>
          <a:lstStyle/>
          <a:p>
            <a:r>
              <a:rPr lang="en-US" sz="3600" b="1" dirty="0">
                <a:solidFill>
                  <a:srgbClr val="FF0000"/>
                </a:solidFill>
                <a:latin typeface="Times New Roman" pitchFamily="18" charset="0"/>
                <a:cs typeface="Times New Roman" pitchFamily="18" charset="0"/>
              </a:rPr>
              <a:t>5. Results</a:t>
            </a:r>
          </a:p>
        </p:txBody>
      </p:sp>
    </p:spTree>
  </p:cSld>
  <p:clrMapOvr>
    <a:masterClrMapping/>
  </p:clrMapOvr>
  <p:transition>
    <p:wip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CCFFCC"/>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pic>
        <p:nvPicPr>
          <p:cNvPr id="5" name="Picture 4"/>
          <p:cNvPicPr/>
          <p:nvPr/>
        </p:nvPicPr>
        <p:blipFill>
          <a:blip r:embed="rId2"/>
          <a:srcRect/>
          <a:stretch>
            <a:fillRect/>
          </a:stretch>
        </p:blipFill>
        <p:spPr bwMode="auto">
          <a:xfrm>
            <a:off x="-381000" y="533400"/>
            <a:ext cx="5029200" cy="3810000"/>
          </a:xfrm>
          <a:prstGeom prst="rect">
            <a:avLst/>
          </a:prstGeom>
          <a:noFill/>
          <a:ln w="9525">
            <a:noFill/>
            <a:miter lim="800000"/>
            <a:headEnd/>
            <a:tailEnd/>
          </a:ln>
        </p:spPr>
      </p:pic>
      <p:pic>
        <p:nvPicPr>
          <p:cNvPr id="6" name="Picture 5"/>
          <p:cNvPicPr/>
          <p:nvPr/>
        </p:nvPicPr>
        <p:blipFill>
          <a:blip r:embed="rId3"/>
          <a:srcRect/>
          <a:stretch>
            <a:fillRect/>
          </a:stretch>
        </p:blipFill>
        <p:spPr bwMode="auto">
          <a:xfrm>
            <a:off x="4114800" y="533400"/>
            <a:ext cx="4876800" cy="3810000"/>
          </a:xfrm>
          <a:prstGeom prst="rect">
            <a:avLst/>
          </a:prstGeom>
          <a:noFill/>
          <a:ln w="9525">
            <a:noFill/>
            <a:miter lim="800000"/>
            <a:headEnd/>
            <a:tailEnd/>
          </a:ln>
        </p:spPr>
      </p:pic>
      <p:sp>
        <p:nvSpPr>
          <p:cNvPr id="7" name="TextBox 6"/>
          <p:cNvSpPr txBox="1"/>
          <p:nvPr/>
        </p:nvSpPr>
        <p:spPr>
          <a:xfrm>
            <a:off x="76200" y="4572000"/>
            <a:ext cx="4267200" cy="338554"/>
          </a:xfrm>
          <a:prstGeom prst="rect">
            <a:avLst/>
          </a:prstGeom>
          <a:noFill/>
        </p:spPr>
        <p:txBody>
          <a:bodyPr wrap="square" rtlCol="0">
            <a:spAutoFit/>
          </a:bodyPr>
          <a:lstStyle/>
          <a:p>
            <a:r>
              <a:rPr lang="en-US" sz="1600" dirty="0">
                <a:latin typeface="Times New Roman" pitchFamily="18" charset="0"/>
                <a:cs typeface="Times New Roman" pitchFamily="18" charset="0"/>
              </a:rPr>
              <a:t>(c) Recovery of watermark under -25dB channel</a:t>
            </a:r>
          </a:p>
        </p:txBody>
      </p:sp>
      <p:sp>
        <p:nvSpPr>
          <p:cNvPr id="8" name="TextBox 7"/>
          <p:cNvSpPr txBox="1"/>
          <p:nvPr/>
        </p:nvSpPr>
        <p:spPr>
          <a:xfrm>
            <a:off x="4572000" y="4572000"/>
            <a:ext cx="4495800" cy="338554"/>
          </a:xfrm>
          <a:prstGeom prst="rect">
            <a:avLst/>
          </a:prstGeom>
          <a:noFill/>
        </p:spPr>
        <p:txBody>
          <a:bodyPr wrap="square" rtlCol="0">
            <a:spAutoFit/>
          </a:bodyPr>
          <a:lstStyle/>
          <a:p>
            <a:r>
              <a:rPr lang="en-US" sz="1600" dirty="0">
                <a:latin typeface="Times New Roman" pitchFamily="18" charset="0"/>
                <a:cs typeface="Times New Roman" pitchFamily="18" charset="0"/>
              </a:rPr>
              <a:t>(d) Recovery of watermark under -30dB channel</a:t>
            </a:r>
          </a:p>
        </p:txBody>
      </p:sp>
    </p:spTree>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CCCC"/>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dirty="0"/>
          </a:p>
        </p:txBody>
      </p:sp>
      <p:pic>
        <p:nvPicPr>
          <p:cNvPr id="5" name="Picture 4"/>
          <p:cNvPicPr/>
          <p:nvPr/>
        </p:nvPicPr>
        <p:blipFill>
          <a:blip r:embed="rId2"/>
          <a:srcRect/>
          <a:stretch>
            <a:fillRect/>
          </a:stretch>
        </p:blipFill>
        <p:spPr bwMode="auto">
          <a:xfrm>
            <a:off x="-381000" y="0"/>
            <a:ext cx="3581400" cy="2667000"/>
          </a:xfrm>
          <a:prstGeom prst="rect">
            <a:avLst/>
          </a:prstGeom>
          <a:noFill/>
          <a:ln w="9525">
            <a:noFill/>
            <a:miter lim="800000"/>
            <a:headEnd/>
            <a:tailEnd/>
          </a:ln>
        </p:spPr>
      </p:pic>
      <p:pic>
        <p:nvPicPr>
          <p:cNvPr id="6" name="Picture 5"/>
          <p:cNvPicPr/>
          <p:nvPr/>
        </p:nvPicPr>
        <p:blipFill>
          <a:blip r:embed="rId3"/>
          <a:srcRect/>
          <a:stretch>
            <a:fillRect/>
          </a:stretch>
        </p:blipFill>
        <p:spPr bwMode="auto">
          <a:xfrm>
            <a:off x="2819400" y="0"/>
            <a:ext cx="3429000" cy="2590800"/>
          </a:xfrm>
          <a:prstGeom prst="rect">
            <a:avLst/>
          </a:prstGeom>
          <a:noFill/>
          <a:ln w="9525">
            <a:noFill/>
            <a:miter lim="800000"/>
            <a:headEnd/>
            <a:tailEnd/>
          </a:ln>
        </p:spPr>
      </p:pic>
      <p:pic>
        <p:nvPicPr>
          <p:cNvPr id="7" name="Picture 6"/>
          <p:cNvPicPr/>
          <p:nvPr/>
        </p:nvPicPr>
        <p:blipFill>
          <a:blip r:embed="rId4"/>
          <a:srcRect/>
          <a:stretch>
            <a:fillRect/>
          </a:stretch>
        </p:blipFill>
        <p:spPr bwMode="auto">
          <a:xfrm>
            <a:off x="5867400" y="0"/>
            <a:ext cx="3276600" cy="2590800"/>
          </a:xfrm>
          <a:prstGeom prst="rect">
            <a:avLst/>
          </a:prstGeom>
          <a:noFill/>
          <a:ln w="9525">
            <a:noFill/>
            <a:miter lim="800000"/>
            <a:headEnd/>
            <a:tailEnd/>
          </a:ln>
        </p:spPr>
      </p:pic>
      <p:sp>
        <p:nvSpPr>
          <p:cNvPr id="8" name="TextBox 7"/>
          <p:cNvSpPr txBox="1"/>
          <p:nvPr/>
        </p:nvSpPr>
        <p:spPr>
          <a:xfrm>
            <a:off x="381000" y="2438400"/>
            <a:ext cx="8153400" cy="369332"/>
          </a:xfrm>
          <a:prstGeom prst="rect">
            <a:avLst/>
          </a:prstGeom>
          <a:noFill/>
        </p:spPr>
        <p:txBody>
          <a:bodyPr wrap="square" rtlCol="0">
            <a:spAutoFit/>
          </a:bodyPr>
          <a:lstStyle/>
          <a:p>
            <a:pPr algn="ctr"/>
            <a:r>
              <a:rPr lang="el-GR" i="1" dirty="0">
                <a:latin typeface="Times New Roman" pitchFamily="18" charset="0"/>
                <a:cs typeface="Times New Roman" pitchFamily="18" charset="0"/>
              </a:rPr>
              <a:t>α</a:t>
            </a:r>
            <a:r>
              <a:rPr lang="en-US" dirty="0">
                <a:latin typeface="Times New Roman" pitchFamily="18" charset="0"/>
                <a:cs typeface="Times New Roman" pitchFamily="18" charset="0"/>
              </a:rPr>
              <a:t> = 0.05                                        </a:t>
            </a:r>
            <a:r>
              <a:rPr lang="el-GR" i="1" dirty="0">
                <a:latin typeface="Times New Roman" pitchFamily="18" charset="0"/>
                <a:cs typeface="Times New Roman" pitchFamily="18" charset="0"/>
              </a:rPr>
              <a:t>α</a:t>
            </a:r>
            <a:r>
              <a:rPr lang="en-US" dirty="0">
                <a:latin typeface="Times New Roman" pitchFamily="18" charset="0"/>
                <a:cs typeface="Times New Roman" pitchFamily="18" charset="0"/>
              </a:rPr>
              <a:t> = 0.1                                      </a:t>
            </a:r>
            <a:r>
              <a:rPr lang="el-GR" i="1" dirty="0">
                <a:latin typeface="Times New Roman" pitchFamily="18" charset="0"/>
                <a:cs typeface="Times New Roman" pitchFamily="18" charset="0"/>
              </a:rPr>
              <a:t>α</a:t>
            </a:r>
            <a:r>
              <a:rPr lang="en-US" dirty="0">
                <a:latin typeface="Times New Roman" pitchFamily="18" charset="0"/>
                <a:cs typeface="Times New Roman" pitchFamily="18" charset="0"/>
              </a:rPr>
              <a:t> = 0.2</a:t>
            </a:r>
            <a:endParaRPr lang="en-US" dirty="0"/>
          </a:p>
        </p:txBody>
      </p:sp>
      <p:pic>
        <p:nvPicPr>
          <p:cNvPr id="11" name="Picture 10"/>
          <p:cNvPicPr/>
          <p:nvPr/>
        </p:nvPicPr>
        <p:blipFill>
          <a:blip r:embed="rId5"/>
          <a:srcRect/>
          <a:stretch>
            <a:fillRect/>
          </a:stretch>
        </p:blipFill>
        <p:spPr bwMode="auto">
          <a:xfrm>
            <a:off x="-305694" y="2950284"/>
            <a:ext cx="3429000" cy="2514600"/>
          </a:xfrm>
          <a:prstGeom prst="rect">
            <a:avLst/>
          </a:prstGeom>
          <a:noFill/>
          <a:ln w="9525">
            <a:noFill/>
            <a:miter lim="800000"/>
            <a:headEnd/>
            <a:tailEnd/>
          </a:ln>
        </p:spPr>
      </p:pic>
      <p:pic>
        <p:nvPicPr>
          <p:cNvPr id="12" name="Picture 11"/>
          <p:cNvPicPr/>
          <p:nvPr/>
        </p:nvPicPr>
        <p:blipFill>
          <a:blip r:embed="rId6"/>
          <a:srcRect/>
          <a:stretch>
            <a:fillRect/>
          </a:stretch>
        </p:blipFill>
        <p:spPr bwMode="auto">
          <a:xfrm>
            <a:off x="2743200" y="2971800"/>
            <a:ext cx="3581400" cy="2514600"/>
          </a:xfrm>
          <a:prstGeom prst="rect">
            <a:avLst/>
          </a:prstGeom>
          <a:noFill/>
          <a:ln w="9525">
            <a:noFill/>
            <a:miter lim="800000"/>
            <a:headEnd/>
            <a:tailEnd/>
          </a:ln>
        </p:spPr>
      </p:pic>
      <p:pic>
        <p:nvPicPr>
          <p:cNvPr id="13" name="Picture 12"/>
          <p:cNvPicPr/>
          <p:nvPr/>
        </p:nvPicPr>
        <p:blipFill>
          <a:blip r:embed="rId7"/>
          <a:srcRect/>
          <a:stretch>
            <a:fillRect/>
          </a:stretch>
        </p:blipFill>
        <p:spPr bwMode="auto">
          <a:xfrm>
            <a:off x="5867400" y="2951178"/>
            <a:ext cx="3429000" cy="2514600"/>
          </a:xfrm>
          <a:prstGeom prst="rect">
            <a:avLst/>
          </a:prstGeom>
          <a:noFill/>
          <a:ln w="9525">
            <a:noFill/>
            <a:miter lim="800000"/>
            <a:headEnd/>
            <a:tailEnd/>
          </a:ln>
        </p:spPr>
      </p:pic>
      <p:sp>
        <p:nvSpPr>
          <p:cNvPr id="14" name="TextBox 13"/>
          <p:cNvSpPr txBox="1"/>
          <p:nvPr/>
        </p:nvSpPr>
        <p:spPr>
          <a:xfrm>
            <a:off x="533400" y="5410200"/>
            <a:ext cx="8153400" cy="369332"/>
          </a:xfrm>
          <a:prstGeom prst="rect">
            <a:avLst/>
          </a:prstGeom>
          <a:noFill/>
        </p:spPr>
        <p:txBody>
          <a:bodyPr wrap="square" rtlCol="0">
            <a:spAutoFit/>
          </a:bodyPr>
          <a:lstStyle/>
          <a:p>
            <a:pPr algn="ctr"/>
            <a:r>
              <a:rPr lang="el-GR" i="1" dirty="0">
                <a:latin typeface="Times New Roman" pitchFamily="18" charset="0"/>
                <a:cs typeface="Times New Roman" pitchFamily="18" charset="0"/>
              </a:rPr>
              <a:t>α</a:t>
            </a:r>
            <a:r>
              <a:rPr lang="en-US" dirty="0">
                <a:latin typeface="Times New Roman" pitchFamily="18" charset="0"/>
                <a:cs typeface="Times New Roman" pitchFamily="18" charset="0"/>
              </a:rPr>
              <a:t> = 0.25                                      </a:t>
            </a:r>
            <a:r>
              <a:rPr lang="el-GR" i="1" dirty="0">
                <a:latin typeface="Times New Roman" pitchFamily="18" charset="0"/>
                <a:cs typeface="Times New Roman" pitchFamily="18" charset="0"/>
              </a:rPr>
              <a:t>α</a:t>
            </a:r>
            <a:r>
              <a:rPr lang="en-US" dirty="0">
                <a:latin typeface="Times New Roman" pitchFamily="18" charset="0"/>
                <a:cs typeface="Times New Roman" pitchFamily="18" charset="0"/>
              </a:rPr>
              <a:t> = 0.3                                      </a:t>
            </a:r>
            <a:r>
              <a:rPr lang="el-GR" i="1" dirty="0">
                <a:latin typeface="Times New Roman" pitchFamily="18" charset="0"/>
                <a:cs typeface="Times New Roman" pitchFamily="18" charset="0"/>
              </a:rPr>
              <a:t>α</a:t>
            </a:r>
            <a:r>
              <a:rPr lang="en-US" dirty="0">
                <a:latin typeface="Times New Roman" pitchFamily="18" charset="0"/>
                <a:cs typeface="Times New Roman" pitchFamily="18" charset="0"/>
              </a:rPr>
              <a:t> = 0.35</a:t>
            </a:r>
            <a:endParaRPr lang="en-US" dirty="0"/>
          </a:p>
        </p:txBody>
      </p:sp>
      <p:sp>
        <p:nvSpPr>
          <p:cNvPr id="15" name="Rectangle 14"/>
          <p:cNvSpPr/>
          <p:nvPr/>
        </p:nvSpPr>
        <p:spPr>
          <a:xfrm>
            <a:off x="2590800" y="6019800"/>
            <a:ext cx="3980064" cy="369332"/>
          </a:xfrm>
          <a:prstGeom prst="rect">
            <a:avLst/>
          </a:prstGeom>
        </p:spPr>
        <p:txBody>
          <a:bodyPr wrap="none">
            <a:spAutoFit/>
          </a:bodyPr>
          <a:lstStyle/>
          <a:p>
            <a:r>
              <a:rPr lang="en-US" dirty="0">
                <a:latin typeface="Times New Roman" pitchFamily="18" charset="0"/>
                <a:cs typeface="Times New Roman" pitchFamily="18" charset="0"/>
              </a:rPr>
              <a:t>Fig.7 Impact of </a:t>
            </a:r>
            <a:r>
              <a:rPr lang="en-US" i="1" dirty="0">
                <a:latin typeface="Times New Roman" pitchFamily="18" charset="0"/>
                <a:cs typeface="Times New Roman" pitchFamily="18" charset="0"/>
              </a:rPr>
              <a:t>α</a:t>
            </a:r>
            <a:r>
              <a:rPr lang="en-US" dirty="0">
                <a:latin typeface="Times New Roman" pitchFamily="18" charset="0"/>
                <a:cs typeface="Times New Roman" pitchFamily="18" charset="0"/>
              </a:rPr>
              <a:t> on watermarked image</a:t>
            </a:r>
          </a:p>
        </p:txBody>
      </p:sp>
    </p:spTree>
  </p:cSld>
  <p:clrMapOvr>
    <a:masterClrMapping/>
  </p:clrMapOvr>
  <p:transition>
    <p:wipe dir="u"/>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CCCC"/>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pic>
        <p:nvPicPr>
          <p:cNvPr id="5" name="Picture 4"/>
          <p:cNvPicPr/>
          <p:nvPr/>
        </p:nvPicPr>
        <p:blipFill>
          <a:blip r:embed="rId2"/>
          <a:srcRect/>
          <a:stretch>
            <a:fillRect/>
          </a:stretch>
        </p:blipFill>
        <p:spPr bwMode="auto">
          <a:xfrm>
            <a:off x="1219200" y="533400"/>
            <a:ext cx="6705600" cy="5181600"/>
          </a:xfrm>
          <a:prstGeom prst="rect">
            <a:avLst/>
          </a:prstGeom>
          <a:noFill/>
          <a:ln w="9525">
            <a:noFill/>
            <a:miter lim="800000"/>
            <a:headEnd/>
            <a:tailEnd/>
          </a:ln>
        </p:spPr>
      </p:pic>
      <p:sp>
        <p:nvSpPr>
          <p:cNvPr id="6" name="Rectangle 5"/>
          <p:cNvSpPr/>
          <p:nvPr/>
        </p:nvSpPr>
        <p:spPr>
          <a:xfrm>
            <a:off x="838200" y="5867400"/>
            <a:ext cx="7924800" cy="369332"/>
          </a:xfrm>
          <a:prstGeom prst="rect">
            <a:avLst/>
          </a:prstGeom>
        </p:spPr>
        <p:txBody>
          <a:bodyPr wrap="square">
            <a:spAutoFit/>
          </a:bodyPr>
          <a:lstStyle/>
          <a:p>
            <a:r>
              <a:rPr lang="en-US" dirty="0">
                <a:latin typeface="Times New Roman" pitchFamily="18" charset="0"/>
                <a:cs typeface="Times New Roman" pitchFamily="18" charset="0"/>
              </a:rPr>
              <a:t>Fig.8 variation of cross-correlation coefficients against SNR taking </a:t>
            </a:r>
            <a:r>
              <a:rPr lang="en-US" i="1" dirty="0">
                <a:latin typeface="Times New Roman" pitchFamily="18" charset="0"/>
                <a:cs typeface="Times New Roman" pitchFamily="18" charset="0"/>
              </a:rPr>
              <a:t>α </a:t>
            </a:r>
            <a:r>
              <a:rPr lang="en-US" dirty="0">
                <a:latin typeface="Times New Roman" pitchFamily="18" charset="0"/>
                <a:cs typeface="Times New Roman" pitchFamily="18" charset="0"/>
              </a:rPr>
              <a:t>as a parameter</a:t>
            </a:r>
          </a:p>
        </p:txBody>
      </p:sp>
    </p:spTree>
  </p:cSld>
  <p:clrMapOvr>
    <a:masterClrMapping/>
  </p:clrMapOvr>
  <p:transition>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pic>
        <p:nvPicPr>
          <p:cNvPr id="68614" name="Picture 2"/>
          <p:cNvPicPr>
            <a:picLocks noChangeAspect="1" noChangeArrowheads="1"/>
          </p:cNvPicPr>
          <p:nvPr/>
        </p:nvPicPr>
        <p:blipFill>
          <a:blip r:embed="rId2"/>
          <a:srcRect/>
          <a:stretch>
            <a:fillRect/>
          </a:stretch>
        </p:blipFill>
        <p:spPr bwMode="auto">
          <a:xfrm>
            <a:off x="228600" y="152400"/>
            <a:ext cx="4054805" cy="3048000"/>
          </a:xfrm>
          <a:prstGeom prst="rect">
            <a:avLst/>
          </a:prstGeom>
          <a:noFill/>
        </p:spPr>
      </p:pic>
      <p:pic>
        <p:nvPicPr>
          <p:cNvPr id="68613" name="Picture 3"/>
          <p:cNvPicPr>
            <a:picLocks noChangeAspect="1" noChangeArrowheads="1"/>
          </p:cNvPicPr>
          <p:nvPr/>
        </p:nvPicPr>
        <p:blipFill>
          <a:blip r:embed="rId3"/>
          <a:srcRect/>
          <a:stretch>
            <a:fillRect/>
          </a:stretch>
        </p:blipFill>
        <p:spPr bwMode="auto">
          <a:xfrm>
            <a:off x="4724400" y="152400"/>
            <a:ext cx="3860800" cy="2895600"/>
          </a:xfrm>
          <a:prstGeom prst="rect">
            <a:avLst/>
          </a:prstGeom>
          <a:noFill/>
        </p:spPr>
      </p:pic>
      <p:pic>
        <p:nvPicPr>
          <p:cNvPr id="68612" name="Picture 4"/>
          <p:cNvPicPr>
            <a:picLocks noChangeAspect="1" noChangeArrowheads="1"/>
          </p:cNvPicPr>
          <p:nvPr/>
        </p:nvPicPr>
        <p:blipFill>
          <a:blip r:embed="rId4"/>
          <a:srcRect/>
          <a:stretch>
            <a:fillRect/>
          </a:stretch>
        </p:blipFill>
        <p:spPr bwMode="auto">
          <a:xfrm>
            <a:off x="381000" y="3200400"/>
            <a:ext cx="3962400" cy="2975091"/>
          </a:xfrm>
          <a:prstGeom prst="rect">
            <a:avLst/>
          </a:prstGeom>
          <a:noFill/>
        </p:spPr>
      </p:pic>
      <p:pic>
        <p:nvPicPr>
          <p:cNvPr id="68611" name="Picture 5"/>
          <p:cNvPicPr>
            <a:picLocks noChangeAspect="1" noChangeArrowheads="1"/>
          </p:cNvPicPr>
          <p:nvPr/>
        </p:nvPicPr>
        <p:blipFill>
          <a:blip r:embed="rId5"/>
          <a:srcRect/>
          <a:stretch>
            <a:fillRect/>
          </a:stretch>
        </p:blipFill>
        <p:spPr bwMode="auto">
          <a:xfrm>
            <a:off x="4724400" y="3124200"/>
            <a:ext cx="3750695" cy="2819400"/>
          </a:xfrm>
          <a:prstGeom prst="rect">
            <a:avLst/>
          </a:prstGeom>
          <a:noFill/>
        </p:spPr>
      </p:pic>
      <p:sp>
        <p:nvSpPr>
          <p:cNvPr id="68615" name="Rectangle 7"/>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5" name="Rectangle 14"/>
          <p:cNvSpPr/>
          <p:nvPr/>
        </p:nvSpPr>
        <p:spPr>
          <a:xfrm>
            <a:off x="1752600" y="2895600"/>
            <a:ext cx="5562600" cy="369332"/>
          </a:xfrm>
          <a:prstGeom prst="rect">
            <a:avLst/>
          </a:prstGeom>
        </p:spPr>
        <p:txBody>
          <a:bodyPr wrap="square">
            <a:spAutoFit/>
          </a:bodyPr>
          <a:lstStyle/>
          <a:p>
            <a:r>
              <a:rPr lang="en-US" dirty="0">
                <a:latin typeface="Times New Roman" pitchFamily="18" charset="0"/>
                <a:cs typeface="Times New Roman" pitchFamily="18" charset="0"/>
              </a:rPr>
              <a:t>(c) -20dB                                                            (d)   -25dB</a:t>
            </a:r>
          </a:p>
        </p:txBody>
      </p:sp>
      <p:sp>
        <p:nvSpPr>
          <p:cNvPr id="16" name="Rectangle 15"/>
          <p:cNvSpPr/>
          <p:nvPr/>
        </p:nvSpPr>
        <p:spPr>
          <a:xfrm>
            <a:off x="1676400" y="5867400"/>
            <a:ext cx="5562600" cy="369332"/>
          </a:xfrm>
          <a:prstGeom prst="rect">
            <a:avLst/>
          </a:prstGeom>
        </p:spPr>
        <p:txBody>
          <a:bodyPr wrap="square">
            <a:spAutoFit/>
          </a:bodyPr>
          <a:lstStyle/>
          <a:p>
            <a:r>
              <a:rPr lang="en-US" dirty="0">
                <a:latin typeface="Times New Roman" pitchFamily="18" charset="0"/>
                <a:cs typeface="Times New Roman" pitchFamily="18" charset="0"/>
              </a:rPr>
              <a:t>(c) -30dB                                                            (d)   -40dB</a:t>
            </a:r>
          </a:p>
        </p:txBody>
      </p:sp>
      <p:sp>
        <p:nvSpPr>
          <p:cNvPr id="17" name="Rectangle 16"/>
          <p:cNvSpPr/>
          <p:nvPr/>
        </p:nvSpPr>
        <p:spPr>
          <a:xfrm>
            <a:off x="1828800" y="6248400"/>
            <a:ext cx="5943600" cy="369332"/>
          </a:xfrm>
          <a:prstGeom prst="rect">
            <a:avLst/>
          </a:prstGeom>
        </p:spPr>
        <p:txBody>
          <a:bodyPr wrap="square">
            <a:spAutoFit/>
          </a:bodyPr>
          <a:lstStyle/>
          <a:p>
            <a:r>
              <a:rPr lang="en-US" dirty="0">
                <a:latin typeface="Times New Roman" pitchFamily="18" charset="0"/>
                <a:cs typeface="Times New Roman" pitchFamily="18" charset="0"/>
              </a:rPr>
              <a:t>Fig.9 RGB watermarking on RGB image at different SNR</a:t>
            </a:r>
          </a:p>
        </p:txBody>
      </p:sp>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pic>
        <p:nvPicPr>
          <p:cNvPr id="74756" name="Picture 11"/>
          <p:cNvPicPr>
            <a:picLocks noChangeAspect="1" noChangeArrowheads="1"/>
          </p:cNvPicPr>
          <p:nvPr/>
        </p:nvPicPr>
        <p:blipFill>
          <a:blip r:embed="rId2"/>
          <a:srcRect/>
          <a:stretch>
            <a:fillRect/>
          </a:stretch>
        </p:blipFill>
        <p:spPr bwMode="auto">
          <a:xfrm>
            <a:off x="304800" y="228600"/>
            <a:ext cx="3886200" cy="2907345"/>
          </a:xfrm>
          <a:prstGeom prst="rect">
            <a:avLst/>
          </a:prstGeom>
          <a:noFill/>
        </p:spPr>
      </p:pic>
      <p:pic>
        <p:nvPicPr>
          <p:cNvPr id="74755" name="Picture 9"/>
          <p:cNvPicPr>
            <a:picLocks noChangeAspect="1" noChangeArrowheads="1"/>
          </p:cNvPicPr>
          <p:nvPr/>
        </p:nvPicPr>
        <p:blipFill>
          <a:blip r:embed="rId3"/>
          <a:srcRect/>
          <a:stretch>
            <a:fillRect/>
          </a:stretch>
        </p:blipFill>
        <p:spPr bwMode="auto">
          <a:xfrm>
            <a:off x="4648200" y="228600"/>
            <a:ext cx="3564935" cy="2667000"/>
          </a:xfrm>
          <a:prstGeom prst="rect">
            <a:avLst/>
          </a:prstGeom>
          <a:noFill/>
        </p:spPr>
      </p:pic>
      <p:pic>
        <p:nvPicPr>
          <p:cNvPr id="74754" name="Picture 10"/>
          <p:cNvPicPr>
            <a:picLocks noChangeAspect="1" noChangeArrowheads="1"/>
          </p:cNvPicPr>
          <p:nvPr/>
        </p:nvPicPr>
        <p:blipFill>
          <a:blip r:embed="rId4"/>
          <a:srcRect/>
          <a:stretch>
            <a:fillRect/>
          </a:stretch>
        </p:blipFill>
        <p:spPr bwMode="auto">
          <a:xfrm>
            <a:off x="685800" y="3429000"/>
            <a:ext cx="3560193" cy="2667000"/>
          </a:xfrm>
          <a:prstGeom prst="rect">
            <a:avLst/>
          </a:prstGeom>
          <a:noFill/>
        </p:spPr>
      </p:pic>
      <p:pic>
        <p:nvPicPr>
          <p:cNvPr id="74753" name="Picture 12"/>
          <p:cNvPicPr>
            <a:picLocks noChangeAspect="1" noChangeArrowheads="1"/>
          </p:cNvPicPr>
          <p:nvPr/>
        </p:nvPicPr>
        <p:blipFill>
          <a:blip r:embed="rId5"/>
          <a:srcRect/>
          <a:stretch>
            <a:fillRect/>
          </a:stretch>
        </p:blipFill>
        <p:spPr bwMode="auto">
          <a:xfrm>
            <a:off x="4495800" y="3200400"/>
            <a:ext cx="3962400" cy="2965647"/>
          </a:xfrm>
          <a:prstGeom prst="rect">
            <a:avLst/>
          </a:prstGeom>
          <a:noFill/>
        </p:spPr>
      </p:pic>
      <p:sp>
        <p:nvSpPr>
          <p:cNvPr id="74757"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4759" name="Rectangle 7"/>
          <p:cNvSpPr>
            <a:spLocks noChangeArrowheads="1"/>
          </p:cNvSpPr>
          <p:nvPr/>
        </p:nvSpPr>
        <p:spPr bwMode="auto">
          <a:xfrm>
            <a:off x="0" y="6267450"/>
            <a:ext cx="223138" cy="27699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ea typeface="Times New Roman" pitchFamily="18" charset="0"/>
                <a:cs typeface="Times New Roman" pitchFamily="18" charset="0"/>
              </a:rPr>
              <a:t> </a:t>
            </a:r>
            <a:endParaRPr kumimoji="0" lang="en-US" sz="1800" b="0" i="0" u="none" strike="noStrike" cap="none" normalizeH="0" baseline="0">
              <a:ln>
                <a:noFill/>
              </a:ln>
              <a:solidFill>
                <a:schemeClr val="tx1"/>
              </a:solidFill>
              <a:effectLst/>
              <a:latin typeface="Times New Roman" pitchFamily="18" charset="0"/>
              <a:cs typeface="Times New Roman" pitchFamily="18" charset="0"/>
            </a:endParaRPr>
          </a:p>
        </p:txBody>
      </p:sp>
      <p:sp>
        <p:nvSpPr>
          <p:cNvPr id="13" name="Rectangle 12"/>
          <p:cNvSpPr/>
          <p:nvPr/>
        </p:nvSpPr>
        <p:spPr>
          <a:xfrm>
            <a:off x="2057400" y="2819400"/>
            <a:ext cx="4953000" cy="369332"/>
          </a:xfrm>
          <a:prstGeom prst="rect">
            <a:avLst/>
          </a:prstGeom>
        </p:spPr>
        <p:txBody>
          <a:bodyPr wrap="square">
            <a:spAutoFit/>
          </a:bodyPr>
          <a:lstStyle/>
          <a:p>
            <a:r>
              <a:rPr lang="en-US" dirty="0">
                <a:latin typeface="Times New Roman" pitchFamily="18" charset="0"/>
                <a:cs typeface="Times New Roman" pitchFamily="18" charset="0"/>
              </a:rPr>
              <a:t>α = 0.3                                                         α = 0.5</a:t>
            </a:r>
          </a:p>
        </p:txBody>
      </p:sp>
      <p:sp>
        <p:nvSpPr>
          <p:cNvPr id="14" name="Rectangle 13"/>
          <p:cNvSpPr/>
          <p:nvPr/>
        </p:nvSpPr>
        <p:spPr>
          <a:xfrm>
            <a:off x="2362200" y="5867400"/>
            <a:ext cx="4953000" cy="369332"/>
          </a:xfrm>
          <a:prstGeom prst="rect">
            <a:avLst/>
          </a:prstGeom>
        </p:spPr>
        <p:txBody>
          <a:bodyPr wrap="square">
            <a:spAutoFit/>
          </a:bodyPr>
          <a:lstStyle/>
          <a:p>
            <a:r>
              <a:rPr lang="en-US" dirty="0">
                <a:latin typeface="Times New Roman" pitchFamily="18" charset="0"/>
                <a:cs typeface="Times New Roman" pitchFamily="18" charset="0"/>
              </a:rPr>
              <a:t>α = 0.75                                                          α = 0.9</a:t>
            </a:r>
          </a:p>
        </p:txBody>
      </p:sp>
      <p:sp>
        <p:nvSpPr>
          <p:cNvPr id="15" name="Rectangle 14"/>
          <p:cNvSpPr/>
          <p:nvPr/>
        </p:nvSpPr>
        <p:spPr>
          <a:xfrm>
            <a:off x="2362200" y="6324600"/>
            <a:ext cx="4543808" cy="369332"/>
          </a:xfrm>
          <a:prstGeom prst="rect">
            <a:avLst/>
          </a:prstGeom>
        </p:spPr>
        <p:txBody>
          <a:bodyPr wrap="none">
            <a:spAutoFit/>
          </a:bodyPr>
          <a:lstStyle/>
          <a:p>
            <a:r>
              <a:rPr lang="en-US" dirty="0"/>
              <a:t>Fig.10 Impact of </a:t>
            </a:r>
            <a:r>
              <a:rPr lang="en-US" i="1" dirty="0"/>
              <a:t>α</a:t>
            </a:r>
            <a:r>
              <a:rPr lang="en-US" dirty="0"/>
              <a:t> on RGB watermarked image</a:t>
            </a:r>
          </a:p>
        </p:txBody>
      </p:sp>
    </p:spTree>
  </p:cSld>
  <p:clrMapOvr>
    <a:masterClrMapping/>
  </p:clrMapOvr>
  <p:transition>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pic>
        <p:nvPicPr>
          <p:cNvPr id="5" name="Picture 4"/>
          <p:cNvPicPr/>
          <p:nvPr/>
        </p:nvPicPr>
        <p:blipFill>
          <a:blip r:embed="rId2"/>
          <a:srcRect/>
          <a:stretch>
            <a:fillRect/>
          </a:stretch>
        </p:blipFill>
        <p:spPr bwMode="auto">
          <a:xfrm>
            <a:off x="1524000" y="457200"/>
            <a:ext cx="6172200" cy="4953000"/>
          </a:xfrm>
          <a:prstGeom prst="rect">
            <a:avLst/>
          </a:prstGeom>
          <a:noFill/>
          <a:ln w="9525">
            <a:noFill/>
            <a:miter lim="800000"/>
            <a:headEnd/>
            <a:tailEnd/>
          </a:ln>
        </p:spPr>
      </p:pic>
      <p:sp>
        <p:nvSpPr>
          <p:cNvPr id="6" name="Rectangle 5"/>
          <p:cNvSpPr/>
          <p:nvPr/>
        </p:nvSpPr>
        <p:spPr>
          <a:xfrm>
            <a:off x="228600" y="5791200"/>
            <a:ext cx="8686800" cy="646331"/>
          </a:xfrm>
          <a:prstGeom prst="rect">
            <a:avLst/>
          </a:prstGeom>
        </p:spPr>
        <p:txBody>
          <a:bodyPr wrap="square">
            <a:spAutoFit/>
          </a:bodyPr>
          <a:lstStyle/>
          <a:p>
            <a:r>
              <a:rPr lang="en-US" dirty="0">
                <a:latin typeface="Times New Roman" pitchFamily="18" charset="0"/>
                <a:cs typeface="Times New Roman" pitchFamily="18" charset="0"/>
              </a:rPr>
              <a:t>Fig.11 Variation of cross-correlation coefficients against SNR on RGB image taking </a:t>
            </a:r>
            <a:r>
              <a:rPr lang="en-US" i="1" dirty="0">
                <a:latin typeface="Times New Roman" pitchFamily="18" charset="0"/>
                <a:cs typeface="Times New Roman" pitchFamily="18" charset="0"/>
              </a:rPr>
              <a:t>α </a:t>
            </a:r>
            <a:r>
              <a:rPr lang="en-US" dirty="0">
                <a:latin typeface="Times New Roman" pitchFamily="18" charset="0"/>
                <a:cs typeface="Times New Roman" pitchFamily="18" charset="0"/>
              </a:rPr>
              <a:t>as a parameter</a:t>
            </a:r>
          </a:p>
        </p:txBody>
      </p:sp>
    </p:spTree>
  </p:cSld>
  <p:clrMapOvr>
    <a:masterClrMapping/>
  </p:clrMapOvr>
  <p:transition>
    <p:wipe dir="u"/>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CCCC"/>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pic>
        <p:nvPicPr>
          <p:cNvPr id="75778" name="Picture 2"/>
          <p:cNvPicPr>
            <a:picLocks noChangeAspect="1" noChangeArrowheads="1"/>
          </p:cNvPicPr>
          <p:nvPr/>
        </p:nvPicPr>
        <p:blipFill>
          <a:blip r:embed="rId2"/>
          <a:srcRect/>
          <a:stretch>
            <a:fillRect/>
          </a:stretch>
        </p:blipFill>
        <p:spPr bwMode="auto">
          <a:xfrm>
            <a:off x="0" y="1371600"/>
            <a:ext cx="4340543" cy="2362200"/>
          </a:xfrm>
          <a:prstGeom prst="rect">
            <a:avLst/>
          </a:prstGeom>
          <a:noFill/>
        </p:spPr>
      </p:pic>
      <p:pic>
        <p:nvPicPr>
          <p:cNvPr id="75777" name="Picture 24"/>
          <p:cNvPicPr>
            <a:picLocks noChangeAspect="1" noChangeArrowheads="1"/>
          </p:cNvPicPr>
          <p:nvPr/>
        </p:nvPicPr>
        <p:blipFill>
          <a:blip r:embed="rId3"/>
          <a:srcRect/>
          <a:stretch>
            <a:fillRect/>
          </a:stretch>
        </p:blipFill>
        <p:spPr bwMode="auto">
          <a:xfrm>
            <a:off x="4648200" y="1295400"/>
            <a:ext cx="4340542" cy="2362200"/>
          </a:xfrm>
          <a:prstGeom prst="rect">
            <a:avLst/>
          </a:prstGeom>
          <a:noFill/>
        </p:spPr>
      </p:pic>
      <p:sp>
        <p:nvSpPr>
          <p:cNvPr id="75779"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75780" name="Rectangle 4"/>
          <p:cNvSpPr>
            <a:spLocks noChangeArrowheads="1"/>
          </p:cNvSpPr>
          <p:nvPr/>
        </p:nvSpPr>
        <p:spPr bwMode="auto">
          <a:xfrm>
            <a:off x="0" y="1981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a:ln>
                  <a:noFill/>
                </a:ln>
                <a:solidFill>
                  <a:schemeClr val="tx1"/>
                </a:solidFill>
                <a:effectLst/>
                <a:latin typeface="Times New Roman" pitchFamily="18" charset="0"/>
                <a:ea typeface="Times New Roman" pitchFamily="18" charset="0"/>
                <a:cs typeface="Times New Roman" pitchFamily="18" charset="0"/>
              </a:rPr>
              <a:t> </a:t>
            </a:r>
            <a:endParaRPr kumimoji="0" lang="en-GB" sz="1800" b="0" i="0" u="none" strike="noStrike" cap="none" normalizeH="0" baseline="0">
              <a:ln>
                <a:noFill/>
              </a:ln>
              <a:solidFill>
                <a:schemeClr val="tx1"/>
              </a:solidFill>
              <a:effectLst/>
              <a:latin typeface="Arial" pitchFamily="34" charset="0"/>
              <a:cs typeface="Arial" pitchFamily="34" charset="0"/>
            </a:endParaRPr>
          </a:p>
        </p:txBody>
      </p:sp>
      <p:sp>
        <p:nvSpPr>
          <p:cNvPr id="75782" name="Rectangle 6"/>
          <p:cNvSpPr>
            <a:spLocks noChangeArrowheads="1"/>
          </p:cNvSpPr>
          <p:nvPr/>
        </p:nvSpPr>
        <p:spPr bwMode="auto">
          <a:xfrm>
            <a:off x="304800" y="4114800"/>
            <a:ext cx="8839200" cy="92333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tabLst/>
            </a:pPr>
            <a:r>
              <a:rPr kumimoji="0" lang="en-US"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 Handwritten signature                                                             (b) Text</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Fig.12. Recovery of handwritten signature and text under – 12 dB channel</a:t>
            </a:r>
            <a:r>
              <a:rPr kumimoji="0" lang="en-US" b="0" i="0" u="none" strike="noStrike" cap="none" normalizeH="0" baseline="0" dirty="0">
                <a:ln>
                  <a:noFill/>
                </a:ln>
                <a:solidFill>
                  <a:schemeClr val="tx1"/>
                </a:solidFill>
                <a:effectLst/>
                <a:latin typeface="Times New Roman" pitchFamily="18" charset="0"/>
                <a:cs typeface="Times New Roman" pitchFamily="18" charset="0"/>
              </a:rPr>
              <a:t> </a:t>
            </a:r>
          </a:p>
        </p:txBody>
      </p:sp>
    </p:spTree>
  </p:cSld>
  <p:clrMapOvr>
    <a:masterClrMapping/>
  </p:clrMapOvr>
  <p:transition>
    <p:wipe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
        <p:nvSpPr>
          <p:cNvPr id="5" name="TextBox 4"/>
          <p:cNvSpPr txBox="1"/>
          <p:nvPr/>
        </p:nvSpPr>
        <p:spPr>
          <a:xfrm>
            <a:off x="190500" y="1720840"/>
            <a:ext cx="8763000" cy="3416320"/>
          </a:xfrm>
          <a:prstGeom prst="rect">
            <a:avLst/>
          </a:prstGeom>
          <a:solidFill>
            <a:srgbClr val="CCECFF"/>
          </a:solidFill>
        </p:spPr>
        <p:txBody>
          <a:bodyPr wrap="square" rtlCol="0">
            <a:spAutoFit/>
          </a:bodyPr>
          <a:lstStyle/>
          <a:p>
            <a:pPr algn="just"/>
            <a:r>
              <a:rPr lang="en-US" sz="2400" dirty="0">
                <a:latin typeface="Times New Roman" pitchFamily="18" charset="0"/>
                <a:cs typeface="Times New Roman" pitchFamily="18" charset="0"/>
              </a:rPr>
              <a:t>In this project work digital watermarking technique is implemented with a simple algorithm. The result reveals the recovery of base and watermarking image effectively. Here the recovery of image is verified with cross-correlation coefficients but still we have the scope to verify it with other statistical parameters and features of image. </a:t>
            </a:r>
          </a:p>
          <a:p>
            <a:pPr algn="just"/>
            <a:endParaRPr lang="en-US" sz="2400" dirty="0">
              <a:latin typeface="Times New Roman" pitchFamily="18" charset="0"/>
              <a:cs typeface="Times New Roman" pitchFamily="18" charset="0"/>
            </a:endParaRPr>
          </a:p>
          <a:p>
            <a:pPr lvl="0" algn="just">
              <a:buFont typeface="Wingdings" pitchFamily="2" charset="2"/>
              <a:buChar char="ü"/>
            </a:pPr>
            <a:r>
              <a:rPr lang="en-US" sz="2400" dirty="0">
                <a:latin typeface="Times New Roman" pitchFamily="18" charset="0"/>
                <a:cs typeface="Times New Roman" pitchFamily="18" charset="0"/>
              </a:rPr>
              <a:t>We can apply other encrypted algorithms for example: Elliptic curve cryptography, Triple DES, Blowfish, </a:t>
            </a:r>
            <a:r>
              <a:rPr lang="en-US" sz="2400" dirty="0" err="1">
                <a:latin typeface="Times New Roman" pitchFamily="18" charset="0"/>
                <a:cs typeface="Times New Roman" pitchFamily="18" charset="0"/>
              </a:rPr>
              <a:t>Twofish</a:t>
            </a:r>
            <a:r>
              <a:rPr lang="en-US" sz="2400" dirty="0">
                <a:latin typeface="Times New Roman" pitchFamily="18" charset="0"/>
                <a:cs typeface="Times New Roman" pitchFamily="18" charset="0"/>
              </a:rPr>
              <a:t>, AES etc. instead of RSA.</a:t>
            </a:r>
          </a:p>
        </p:txBody>
      </p:sp>
      <p:sp>
        <p:nvSpPr>
          <p:cNvPr id="2" name="Rectangle 1">
            <a:extLst>
              <a:ext uri="{FF2B5EF4-FFF2-40B4-BE49-F238E27FC236}">
                <a16:creationId xmlns:a16="http://schemas.microsoft.com/office/drawing/2014/main" xmlns="" id="{618D83F3-672F-4A9E-973E-8E4C6AF3B9FC}"/>
              </a:ext>
            </a:extLst>
          </p:cNvPr>
          <p:cNvSpPr/>
          <p:nvPr/>
        </p:nvSpPr>
        <p:spPr>
          <a:xfrm>
            <a:off x="533400" y="316468"/>
            <a:ext cx="2852063" cy="646331"/>
          </a:xfrm>
          <a:prstGeom prst="rect">
            <a:avLst/>
          </a:prstGeom>
        </p:spPr>
        <p:txBody>
          <a:bodyPr wrap="none">
            <a:spAutoFit/>
          </a:bodyPr>
          <a:lstStyle/>
          <a:p>
            <a:r>
              <a:rPr lang="en-US" sz="3600" b="1" dirty="0">
                <a:solidFill>
                  <a:srgbClr val="FF0000"/>
                </a:solidFill>
                <a:latin typeface="Times New Roman" pitchFamily="18" charset="0"/>
                <a:cs typeface="Times New Roman" pitchFamily="18" charset="0"/>
              </a:rPr>
              <a:t>6. Conclusion</a:t>
            </a:r>
            <a:endParaRPr lang="en-US" sz="3600" dirty="0"/>
          </a:p>
        </p:txBody>
      </p:sp>
    </p:spTree>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
        <p:nvSpPr>
          <p:cNvPr id="5" name="TextBox 4"/>
          <p:cNvSpPr txBox="1"/>
          <p:nvPr/>
        </p:nvSpPr>
        <p:spPr>
          <a:xfrm>
            <a:off x="152400" y="1066800"/>
            <a:ext cx="8763000" cy="3785652"/>
          </a:xfrm>
          <a:prstGeom prst="rect">
            <a:avLst/>
          </a:prstGeom>
          <a:solidFill>
            <a:srgbClr val="CCECFF"/>
          </a:solidFill>
        </p:spPr>
        <p:txBody>
          <a:bodyPr wrap="square" rtlCol="0">
            <a:spAutoFit/>
          </a:bodyPr>
          <a:lstStyle/>
          <a:p>
            <a:pPr lvl="0" algn="just">
              <a:buFont typeface="Wingdings" pitchFamily="2" charset="2"/>
              <a:buChar char="ü"/>
            </a:pPr>
            <a:r>
              <a:rPr lang="en-US" sz="2400" dirty="0">
                <a:latin typeface="Times New Roman" pitchFamily="18" charset="0"/>
                <a:cs typeface="Times New Roman" pitchFamily="18" charset="0"/>
              </a:rPr>
              <a:t>We can compare the model with other watermarking technique like: Discrete Cosine Transform (DCT) and DWT in context of accuracy and process time.   </a:t>
            </a:r>
          </a:p>
          <a:p>
            <a:pPr lvl="0" algn="just">
              <a:buFont typeface="Wingdings" pitchFamily="2" charset="2"/>
              <a:buChar char="ü"/>
            </a:pPr>
            <a:endParaRPr lang="en-US" sz="2400" dirty="0">
              <a:latin typeface="Times New Roman" pitchFamily="18" charset="0"/>
              <a:cs typeface="Times New Roman" pitchFamily="18" charset="0"/>
            </a:endParaRPr>
          </a:p>
          <a:p>
            <a:pPr lvl="0" algn="just">
              <a:buFont typeface="Wingdings" pitchFamily="2" charset="2"/>
              <a:buChar char="ü"/>
            </a:pPr>
            <a:r>
              <a:rPr lang="en-US" sz="2400" dirty="0">
                <a:latin typeface="Times New Roman" pitchFamily="18" charset="0"/>
                <a:cs typeface="Times New Roman" pitchFamily="18" charset="0"/>
              </a:rPr>
              <a:t>If we use channel coding (for example </a:t>
            </a:r>
            <a:r>
              <a:rPr lang="en-US" sz="2400" dirty="0" err="1">
                <a:latin typeface="Times New Roman" pitchFamily="18" charset="0"/>
                <a:cs typeface="Times New Roman" pitchFamily="18" charset="0"/>
              </a:rPr>
              <a:t>convolutional</a:t>
            </a:r>
            <a:r>
              <a:rPr lang="en-US" sz="2400" dirty="0">
                <a:latin typeface="Times New Roman" pitchFamily="18" charset="0"/>
                <a:cs typeface="Times New Roman" pitchFamily="18" charset="0"/>
              </a:rPr>
              <a:t> coding), it will give more immunity to additive white nose.</a:t>
            </a:r>
          </a:p>
          <a:p>
            <a:pPr lvl="0" algn="just">
              <a:buFont typeface="Wingdings" pitchFamily="2" charset="2"/>
              <a:buChar char="ü"/>
            </a:pPr>
            <a:endParaRPr lang="en-US" sz="2400" dirty="0">
              <a:latin typeface="Times New Roman" pitchFamily="18" charset="0"/>
              <a:cs typeface="Times New Roman" pitchFamily="18" charset="0"/>
            </a:endParaRPr>
          </a:p>
          <a:p>
            <a:pPr algn="just">
              <a:buFont typeface="Wingdings" pitchFamily="2" charset="2"/>
              <a:buChar char="ü"/>
            </a:pPr>
            <a:r>
              <a:rPr lang="en-US" sz="2400" dirty="0">
                <a:latin typeface="Times New Roman" pitchFamily="18" charset="0"/>
                <a:cs typeface="Times New Roman" pitchFamily="18" charset="0"/>
              </a:rPr>
              <a:t>The tradeoff between the degree of security watermark and the complexity of encryption-decryption algorithm (specially process time) can be made to reach at an optimum point.</a:t>
            </a:r>
            <a:endParaRPr lang="en-GB" sz="2400" dirty="0"/>
          </a:p>
        </p:txBody>
      </p:sp>
    </p:spTree>
  </p:cSld>
  <p:clrMapOvr>
    <a:masterClrMapping/>
  </p:clrMapOvr>
  <p:transition>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
        <p:nvSpPr>
          <p:cNvPr id="5" name="TextBox 4"/>
          <p:cNvSpPr txBox="1"/>
          <p:nvPr/>
        </p:nvSpPr>
        <p:spPr>
          <a:xfrm>
            <a:off x="228600" y="304800"/>
            <a:ext cx="8534400" cy="6001643"/>
          </a:xfrm>
          <a:prstGeom prst="rect">
            <a:avLst/>
          </a:prstGeom>
          <a:noFill/>
        </p:spPr>
        <p:txBody>
          <a:bodyPr wrap="square" rtlCol="0">
            <a:spAutoFit/>
          </a:bodyPr>
          <a:lstStyle/>
          <a:p>
            <a:pPr algn="just"/>
            <a:r>
              <a:rPr lang="en-US" sz="2400" b="1" dirty="0">
                <a:latin typeface="Times New Roman" pitchFamily="18" charset="0"/>
                <a:cs typeface="Times New Roman" pitchFamily="18" charset="0"/>
              </a:rPr>
              <a:t>References</a:t>
            </a:r>
            <a:endParaRPr lang="en-GB" sz="2400" dirty="0">
              <a:latin typeface="Times New Roman" pitchFamily="18" charset="0"/>
              <a:cs typeface="Times New Roman" pitchFamily="18" charset="0"/>
            </a:endParaRPr>
          </a:p>
          <a:p>
            <a:pPr marL="228600" lvl="0" indent="-228600" algn="just">
              <a:buFont typeface="+mj-lt"/>
              <a:buAutoNum type="arabicPeriod"/>
            </a:pPr>
            <a:r>
              <a:rPr lang="en-US" sz="1200" dirty="0" err="1">
                <a:latin typeface="Times New Roman" pitchFamily="18" charset="0"/>
                <a:cs typeface="Times New Roman" pitchFamily="18" charset="0"/>
              </a:rPr>
              <a:t>Hanaa</a:t>
            </a:r>
            <a:r>
              <a:rPr lang="en-US" sz="1200" dirty="0">
                <a:latin typeface="Times New Roman" pitchFamily="18" charset="0"/>
                <a:cs typeface="Times New Roman" pitchFamily="18" charset="0"/>
              </a:rPr>
              <a:t> A. </a:t>
            </a:r>
            <a:r>
              <a:rPr lang="en-US" sz="1200" dirty="0" err="1">
                <a:latin typeface="Times New Roman" pitchFamily="18" charset="0"/>
                <a:cs typeface="Times New Roman" pitchFamily="18" charset="0"/>
              </a:rPr>
              <a:t>Abdallah</a:t>
            </a:r>
            <a:r>
              <a:rPr lang="en-US" sz="1200" dirty="0">
                <a:latin typeface="Times New Roman" pitchFamily="18" charset="0"/>
                <a:cs typeface="Times New Roman" pitchFamily="18" charset="0"/>
              </a:rPr>
              <a:t>, </a:t>
            </a:r>
            <a:r>
              <a:rPr lang="en-US" sz="1200" dirty="0" err="1">
                <a:latin typeface="Times New Roman" pitchFamily="18" charset="0"/>
                <a:cs typeface="Times New Roman" pitchFamily="18" charset="0"/>
              </a:rPr>
              <a:t>Mohiy</a:t>
            </a:r>
            <a:r>
              <a:rPr lang="en-US" sz="1200" dirty="0">
                <a:latin typeface="Times New Roman" pitchFamily="18" charset="0"/>
                <a:cs typeface="Times New Roman" pitchFamily="18" charset="0"/>
              </a:rPr>
              <a:t> M. </a:t>
            </a:r>
            <a:r>
              <a:rPr lang="en-US" sz="1200" dirty="0" err="1">
                <a:latin typeface="Times New Roman" pitchFamily="18" charset="0"/>
                <a:cs typeface="Times New Roman" pitchFamily="18" charset="0"/>
              </a:rPr>
              <a:t>Hadhoud</a:t>
            </a:r>
            <a:r>
              <a:rPr lang="en-US" sz="1200" dirty="0">
                <a:latin typeface="Times New Roman" pitchFamily="18" charset="0"/>
                <a:cs typeface="Times New Roman" pitchFamily="18" charset="0"/>
              </a:rPr>
              <a:t> , </a:t>
            </a:r>
            <a:r>
              <a:rPr lang="en-US" sz="1200" dirty="0" err="1">
                <a:latin typeface="Times New Roman" pitchFamily="18" charset="0"/>
                <a:cs typeface="Times New Roman" pitchFamily="18" charset="0"/>
              </a:rPr>
              <a:t>Abdalhameed</a:t>
            </a:r>
            <a:r>
              <a:rPr lang="en-US" sz="1200" dirty="0">
                <a:latin typeface="Times New Roman" pitchFamily="18" charset="0"/>
                <a:cs typeface="Times New Roman" pitchFamily="18" charset="0"/>
              </a:rPr>
              <a:t> A. </a:t>
            </a:r>
            <a:r>
              <a:rPr lang="en-US" sz="1200" dirty="0" err="1">
                <a:latin typeface="Times New Roman" pitchFamily="18" charset="0"/>
                <a:cs typeface="Times New Roman" pitchFamily="18" charset="0"/>
              </a:rPr>
              <a:t>Shaalan</a:t>
            </a:r>
            <a:r>
              <a:rPr lang="en-US" sz="1200" dirty="0">
                <a:latin typeface="Times New Roman" pitchFamily="18" charset="0"/>
                <a:cs typeface="Times New Roman" pitchFamily="18" charset="0"/>
              </a:rPr>
              <a:t>  and </a:t>
            </a:r>
            <a:r>
              <a:rPr lang="en-US" sz="1200" dirty="0" err="1">
                <a:latin typeface="Times New Roman" pitchFamily="18" charset="0"/>
                <a:cs typeface="Times New Roman" pitchFamily="18" charset="0"/>
              </a:rPr>
              <a:t>Fathi</a:t>
            </a:r>
            <a:r>
              <a:rPr lang="en-US" sz="1200" dirty="0">
                <a:latin typeface="Times New Roman" pitchFamily="18" charset="0"/>
                <a:cs typeface="Times New Roman" pitchFamily="18" charset="0"/>
              </a:rPr>
              <a:t> E. </a:t>
            </a:r>
            <a:r>
              <a:rPr lang="en-US" sz="1200" dirty="0" err="1">
                <a:latin typeface="Times New Roman" pitchFamily="18" charset="0"/>
                <a:cs typeface="Times New Roman" pitchFamily="18" charset="0"/>
              </a:rPr>
              <a:t>Abd</a:t>
            </a:r>
            <a:r>
              <a:rPr lang="en-US" sz="1200" dirty="0">
                <a:latin typeface="Times New Roman" pitchFamily="18" charset="0"/>
                <a:cs typeface="Times New Roman" pitchFamily="18" charset="0"/>
              </a:rPr>
              <a:t> El-</a:t>
            </a:r>
            <a:r>
              <a:rPr lang="en-US" sz="1200" dirty="0" err="1">
                <a:latin typeface="Times New Roman" pitchFamily="18" charset="0"/>
                <a:cs typeface="Times New Roman" pitchFamily="18" charset="0"/>
              </a:rPr>
              <a:t>samie</a:t>
            </a:r>
            <a:r>
              <a:rPr lang="en-US" sz="1200" dirty="0">
                <a:latin typeface="Times New Roman" pitchFamily="18" charset="0"/>
                <a:cs typeface="Times New Roman" pitchFamily="18" charset="0"/>
              </a:rPr>
              <a:t>, ‘Blind Wavelet-Based Image Watermarking,’ International Journal of Signal Processing, Image Processing and Pattern Recognition, Vol. 4, No. 1, pp.15-28, March 2011</a:t>
            </a:r>
          </a:p>
          <a:p>
            <a:pPr marL="228600" lvl="0" indent="-228600" algn="just">
              <a:buFont typeface="+mj-lt"/>
              <a:buAutoNum type="arabicPeriod"/>
            </a:pPr>
            <a:r>
              <a:rPr lang="en-US" sz="1200" dirty="0" err="1">
                <a:latin typeface="Times New Roman" pitchFamily="18" charset="0"/>
                <a:cs typeface="Times New Roman" pitchFamily="18" charset="0"/>
              </a:rPr>
              <a:t>Malika</a:t>
            </a:r>
            <a:r>
              <a:rPr lang="en-US" sz="1200" dirty="0">
                <a:latin typeface="Times New Roman" pitchFamily="18" charset="0"/>
                <a:cs typeface="Times New Roman" pitchFamily="18" charset="0"/>
              </a:rPr>
              <a:t> </a:t>
            </a:r>
            <a:r>
              <a:rPr lang="en-US" sz="1200" dirty="0" err="1">
                <a:latin typeface="Times New Roman" pitchFamily="18" charset="0"/>
                <a:cs typeface="Times New Roman" pitchFamily="18" charset="0"/>
              </a:rPr>
              <a:t>Narang</a:t>
            </a:r>
            <a:r>
              <a:rPr lang="en-US" sz="1200" dirty="0">
                <a:latin typeface="Times New Roman" pitchFamily="18" charset="0"/>
                <a:cs typeface="Times New Roman" pitchFamily="18" charset="0"/>
              </a:rPr>
              <a:t> and  </a:t>
            </a:r>
            <a:r>
              <a:rPr lang="en-US" sz="1200" dirty="0" err="1">
                <a:latin typeface="Times New Roman" pitchFamily="18" charset="0"/>
                <a:cs typeface="Times New Roman" pitchFamily="18" charset="0"/>
              </a:rPr>
              <a:t>Sharda</a:t>
            </a:r>
            <a:r>
              <a:rPr lang="en-US" sz="1200" dirty="0">
                <a:latin typeface="Times New Roman" pitchFamily="18" charset="0"/>
                <a:cs typeface="Times New Roman" pitchFamily="18" charset="0"/>
              </a:rPr>
              <a:t> </a:t>
            </a:r>
            <a:r>
              <a:rPr lang="en-US" sz="1200" dirty="0" err="1">
                <a:latin typeface="Times New Roman" pitchFamily="18" charset="0"/>
                <a:cs typeface="Times New Roman" pitchFamily="18" charset="0"/>
              </a:rPr>
              <a:t>Vashisth</a:t>
            </a:r>
            <a:r>
              <a:rPr lang="en-US" sz="1200" dirty="0">
                <a:latin typeface="Times New Roman" pitchFamily="18" charset="0"/>
                <a:cs typeface="Times New Roman" pitchFamily="18" charset="0"/>
              </a:rPr>
              <a:t>, ‘ Digital Watermarking using Discrete Wavelet Transform,’ International Journal of Computer Applications (0975 – 8887) Volume 74– No. 20, pp.34-38, July 2013</a:t>
            </a:r>
          </a:p>
          <a:p>
            <a:pPr marL="228600" lvl="0" indent="-228600" algn="just">
              <a:buFont typeface="+mj-lt"/>
              <a:buAutoNum type="arabicPeriod"/>
            </a:pPr>
            <a:r>
              <a:rPr lang="en-US" sz="1200" dirty="0">
                <a:latin typeface="Times New Roman" pitchFamily="18" charset="0"/>
                <a:cs typeface="Times New Roman" pitchFamily="18" charset="0"/>
              </a:rPr>
              <a:t>Rafael C. Gonzalez and Richard E. Wood, Digital Image Processing, Third edition, Pearson education, 2013</a:t>
            </a:r>
          </a:p>
          <a:p>
            <a:pPr marL="228600" lvl="0" indent="-228600" algn="just">
              <a:buFont typeface="+mj-lt"/>
              <a:buAutoNum type="arabicPeriod"/>
            </a:pPr>
            <a:r>
              <a:rPr lang="en-US" sz="1200" dirty="0">
                <a:latin typeface="Times New Roman" pitchFamily="18" charset="0"/>
                <a:cs typeface="Times New Roman" pitchFamily="18" charset="0"/>
              </a:rPr>
              <a:t>V. </a:t>
            </a:r>
            <a:r>
              <a:rPr lang="en-US" sz="1200" dirty="0" err="1">
                <a:latin typeface="Times New Roman" pitchFamily="18" charset="0"/>
                <a:cs typeface="Times New Roman" pitchFamily="18" charset="0"/>
              </a:rPr>
              <a:t>Padmanabha</a:t>
            </a:r>
            <a:r>
              <a:rPr lang="en-US" sz="1200" dirty="0">
                <a:latin typeface="Times New Roman" pitchFamily="18" charset="0"/>
                <a:cs typeface="Times New Roman" pitchFamily="18" charset="0"/>
              </a:rPr>
              <a:t> Reddy and S. </a:t>
            </a:r>
            <a:r>
              <a:rPr lang="en-US" sz="1200" dirty="0" err="1">
                <a:latin typeface="Times New Roman" pitchFamily="18" charset="0"/>
                <a:cs typeface="Times New Roman" pitchFamily="18" charset="0"/>
              </a:rPr>
              <a:t>Varadarajan</a:t>
            </a:r>
            <a:r>
              <a:rPr lang="en-US" sz="1200" dirty="0">
                <a:latin typeface="Times New Roman" pitchFamily="18" charset="0"/>
                <a:cs typeface="Times New Roman" pitchFamily="18" charset="0"/>
              </a:rPr>
              <a:t>, ‘An Effective Wavelet-Based Watermarking Scheme Using Human Visual System for Protecting Copyrights of Digital Images,’ International Journal of Computer and Electrical Engineering, Vol. 2, No. 1, pp.32-40, February, 2010</a:t>
            </a:r>
          </a:p>
          <a:p>
            <a:pPr marL="228600" lvl="0" indent="-228600" algn="just">
              <a:buFont typeface="+mj-lt"/>
              <a:buAutoNum type="arabicPeriod"/>
            </a:pPr>
            <a:r>
              <a:rPr lang="en-US" sz="1200" dirty="0" err="1">
                <a:latin typeface="Times New Roman" pitchFamily="18" charset="0"/>
                <a:cs typeface="Times New Roman" pitchFamily="18" charset="0"/>
              </a:rPr>
              <a:t>Navnidhi</a:t>
            </a:r>
            <a:r>
              <a:rPr lang="en-US" sz="1200" dirty="0">
                <a:latin typeface="Times New Roman" pitchFamily="18" charset="0"/>
                <a:cs typeface="Times New Roman" pitchFamily="18" charset="0"/>
              </a:rPr>
              <a:t> Chaturvedi1, </a:t>
            </a:r>
            <a:r>
              <a:rPr lang="en-US" sz="1200" dirty="0" err="1">
                <a:latin typeface="Times New Roman" pitchFamily="18" charset="0"/>
                <a:cs typeface="Times New Roman" pitchFamily="18" charset="0"/>
              </a:rPr>
              <a:t>Dr.S.J.Basha</a:t>
            </a:r>
            <a:r>
              <a:rPr lang="en-US" sz="1200" dirty="0">
                <a:latin typeface="Times New Roman" pitchFamily="18" charset="0"/>
                <a:cs typeface="Times New Roman" pitchFamily="18" charset="0"/>
              </a:rPr>
              <a:t>, ‘Comparison of Digital Image watermarking Methods DWT &amp; DWT-DCT on the Basis of PSNR,’ International Journal of Innovative Research in Science, Engineering and Technology Vol. 1, Issue 2, pp.147-153, December 2012</a:t>
            </a:r>
          </a:p>
          <a:p>
            <a:pPr marL="228600" lvl="0" indent="-228600" algn="just">
              <a:buFont typeface="+mj-lt"/>
              <a:buAutoNum type="arabicPeriod"/>
            </a:pPr>
            <a:r>
              <a:rPr lang="en-US" sz="1200" dirty="0" err="1">
                <a:latin typeface="Times New Roman" pitchFamily="18" charset="0"/>
                <a:cs typeface="Times New Roman" pitchFamily="18" charset="0"/>
              </a:rPr>
              <a:t>Afroja</a:t>
            </a:r>
            <a:r>
              <a:rPr lang="en-US" sz="1200" dirty="0">
                <a:latin typeface="Times New Roman" pitchFamily="18" charset="0"/>
                <a:cs typeface="Times New Roman" pitchFamily="18" charset="0"/>
              </a:rPr>
              <a:t> </a:t>
            </a:r>
            <a:r>
              <a:rPr lang="en-US" sz="1200" dirty="0" err="1">
                <a:latin typeface="Times New Roman" pitchFamily="18" charset="0"/>
                <a:cs typeface="Times New Roman" pitchFamily="18" charset="0"/>
              </a:rPr>
              <a:t>Akter</a:t>
            </a:r>
            <a:r>
              <a:rPr lang="en-US" sz="1200" dirty="0">
                <a:latin typeface="Times New Roman" pitchFamily="18" charset="0"/>
                <a:cs typeface="Times New Roman" pitchFamily="18" charset="0"/>
              </a:rPr>
              <a:t>, Muhammad </a:t>
            </a:r>
            <a:r>
              <a:rPr lang="en-US" sz="1200" dirty="0" err="1">
                <a:latin typeface="Times New Roman" pitchFamily="18" charset="0"/>
                <a:cs typeface="Times New Roman" pitchFamily="18" charset="0"/>
              </a:rPr>
              <a:t>Ahsan</a:t>
            </a:r>
            <a:r>
              <a:rPr lang="en-US" sz="1200" dirty="0">
                <a:latin typeface="Times New Roman" pitchFamily="18" charset="0"/>
                <a:cs typeface="Times New Roman" pitchFamily="18" charset="0"/>
              </a:rPr>
              <a:t> </a:t>
            </a:r>
            <a:r>
              <a:rPr lang="en-US" sz="1200" dirty="0" err="1">
                <a:latin typeface="Times New Roman" pitchFamily="18" charset="0"/>
                <a:cs typeface="Times New Roman" pitchFamily="18" charset="0"/>
              </a:rPr>
              <a:t>Ullah,‘Digital</a:t>
            </a:r>
            <a:r>
              <a:rPr lang="en-US" sz="1200" dirty="0">
                <a:latin typeface="Times New Roman" pitchFamily="18" charset="0"/>
                <a:cs typeface="Times New Roman" pitchFamily="18" charset="0"/>
              </a:rPr>
              <a:t> Watermarking with a New Algorithm,’ International Journal of Research in Engineering and Technology , Volume: 03 Issue: 03,pp212-217, Mar-2014</a:t>
            </a:r>
          </a:p>
          <a:p>
            <a:pPr marL="228600" lvl="0" indent="-228600" algn="just">
              <a:buFont typeface="+mj-lt"/>
              <a:buAutoNum type="arabicPeriod"/>
            </a:pPr>
            <a:r>
              <a:rPr lang="en-US" sz="1200" dirty="0">
                <a:latin typeface="Times New Roman" pitchFamily="18" charset="0"/>
                <a:cs typeface="Times New Roman" pitchFamily="18" charset="0"/>
              </a:rPr>
              <a:t> M. Kim1, D. Li and S. Hong, ‘ A Robust Digital Watermarking Technique for Image Contents based on DWT-DFRNT Multiple Transform Method,’   International Journal of Multimedia and Ubiquitous Engineering Vol.9, No.1 , pp.369-378, 2014</a:t>
            </a:r>
          </a:p>
          <a:p>
            <a:pPr marL="228600" lvl="0" indent="-228600" algn="just">
              <a:buFont typeface="+mj-lt"/>
              <a:buAutoNum type="arabicPeriod"/>
            </a:pPr>
            <a:r>
              <a:rPr lang="en-US" sz="1200" dirty="0">
                <a:latin typeface="Times New Roman" pitchFamily="18" charset="0"/>
                <a:cs typeface="Times New Roman" pitchFamily="18" charset="0"/>
              </a:rPr>
              <a:t>T. Liu and W. Tsai, ‘Generic Lossless Visible Watermarking-A New Approach’, IEEE Trans. on Image Processing, vol. 19, no. 5, pp. 1224-1235, 2010.</a:t>
            </a:r>
          </a:p>
          <a:p>
            <a:pPr marL="228600" lvl="0" indent="-228600" algn="just">
              <a:buFont typeface="+mj-lt"/>
              <a:buAutoNum type="arabicPeriod"/>
            </a:pPr>
            <a:r>
              <a:rPr lang="en-US" sz="1200" dirty="0">
                <a:latin typeface="Times New Roman" pitchFamily="18" charset="0"/>
                <a:cs typeface="Times New Roman" pitchFamily="18" charset="0"/>
              </a:rPr>
              <a:t>Y. </a:t>
            </a:r>
            <a:r>
              <a:rPr lang="en-US" sz="1200" dirty="0" err="1">
                <a:latin typeface="Times New Roman" pitchFamily="18" charset="0"/>
                <a:cs typeface="Times New Roman" pitchFamily="18" charset="0"/>
              </a:rPr>
              <a:t>Tsengand</a:t>
            </a:r>
            <a:r>
              <a:rPr lang="en-US" sz="1200" dirty="0">
                <a:latin typeface="Times New Roman" pitchFamily="18" charset="0"/>
                <a:cs typeface="Times New Roman" pitchFamily="18" charset="0"/>
              </a:rPr>
              <a:t> and H. Pan, ‘Data Hiding in 2-Color Images,’ IEEE Transactions on Computers, vol.51, no.7, pp.873-878, 2002.</a:t>
            </a:r>
          </a:p>
          <a:p>
            <a:pPr marL="228600" lvl="0" indent="-228600" algn="just">
              <a:buFont typeface="+mj-lt"/>
              <a:buAutoNum type="arabicPeriod"/>
            </a:pPr>
            <a:r>
              <a:rPr lang="en-US" sz="1200" dirty="0">
                <a:latin typeface="Times New Roman" pitchFamily="18" charset="0"/>
                <a:cs typeface="Times New Roman" pitchFamily="18" charset="0"/>
              </a:rPr>
              <a:t> L. Huang, ‘A Fragile Watermark Method for Improving Medical Images Security,’ Journal of Computers, vol.9, no. 9, pp. 2043-2049, 2014.</a:t>
            </a:r>
          </a:p>
          <a:p>
            <a:pPr marL="228600" lvl="0" indent="-228600" algn="just">
              <a:buFont typeface="+mj-lt"/>
              <a:buAutoNum type="arabicPeriod"/>
            </a:pPr>
            <a:r>
              <a:rPr lang="en-US" sz="1200" dirty="0" err="1">
                <a:latin typeface="Times New Roman" pitchFamily="18" charset="0"/>
                <a:cs typeface="Times New Roman" pitchFamily="18" charset="0"/>
              </a:rPr>
              <a:t>Hayam</a:t>
            </a:r>
            <a:r>
              <a:rPr lang="en-US" sz="1200" dirty="0">
                <a:latin typeface="Times New Roman" pitchFamily="18" charset="0"/>
                <a:cs typeface="Times New Roman" pitchFamily="18" charset="0"/>
              </a:rPr>
              <a:t> K. Al-</a:t>
            </a:r>
            <a:r>
              <a:rPr lang="en-US" sz="1200" dirty="0" err="1">
                <a:latin typeface="Times New Roman" pitchFamily="18" charset="0"/>
                <a:cs typeface="Times New Roman" pitchFamily="18" charset="0"/>
              </a:rPr>
              <a:t>Anie</a:t>
            </a:r>
            <a:r>
              <a:rPr lang="en-US" sz="1200" dirty="0">
                <a:latin typeface="Times New Roman" pitchFamily="18" charset="0"/>
                <a:cs typeface="Times New Roman" pitchFamily="18" charset="0"/>
              </a:rPr>
              <a:t>, Mohammad A. Alia and </a:t>
            </a:r>
            <a:r>
              <a:rPr lang="en-US" sz="1200" dirty="0" err="1">
                <a:latin typeface="Times New Roman" pitchFamily="18" charset="0"/>
                <a:cs typeface="Times New Roman" pitchFamily="18" charset="0"/>
              </a:rPr>
              <a:t>Adnan</a:t>
            </a:r>
            <a:r>
              <a:rPr lang="en-US" sz="1200" dirty="0">
                <a:latin typeface="Times New Roman" pitchFamily="18" charset="0"/>
                <a:cs typeface="Times New Roman" pitchFamily="18" charset="0"/>
              </a:rPr>
              <a:t> A. </a:t>
            </a:r>
            <a:r>
              <a:rPr lang="en-US" sz="1200" dirty="0" err="1">
                <a:latin typeface="Times New Roman" pitchFamily="18" charset="0"/>
                <a:cs typeface="Times New Roman" pitchFamily="18" charset="0"/>
              </a:rPr>
              <a:t>Hnaif</a:t>
            </a:r>
            <a:r>
              <a:rPr lang="en-US" sz="1200" dirty="0">
                <a:latin typeface="Times New Roman" pitchFamily="18" charset="0"/>
                <a:cs typeface="Times New Roman" pitchFamily="18" charset="0"/>
              </a:rPr>
              <a:t>, ‘E-VOTING PROTOCOL BASED ON PUBLIC-KEY CRYPTOGRAPHY,’ International Journal of Network Security &amp; Its Applications (IJNSA), Vol.3, No.4, July 2011, pp.87-98</a:t>
            </a:r>
          </a:p>
          <a:p>
            <a:pPr marL="228600" lvl="0" indent="-228600" algn="just">
              <a:buFont typeface="+mj-lt"/>
              <a:buAutoNum type="arabicPeriod"/>
            </a:pPr>
            <a:r>
              <a:rPr lang="en-US" sz="1200" dirty="0" err="1">
                <a:latin typeface="Times New Roman" pitchFamily="18" charset="0"/>
                <a:cs typeface="Times New Roman" pitchFamily="18" charset="0"/>
              </a:rPr>
              <a:t>Nivedita</a:t>
            </a:r>
            <a:r>
              <a:rPr lang="en-US" sz="1200" dirty="0">
                <a:latin typeface="Times New Roman" pitchFamily="18" charset="0"/>
                <a:cs typeface="Times New Roman" pitchFamily="18" charset="0"/>
              </a:rPr>
              <a:t> </a:t>
            </a:r>
            <a:r>
              <a:rPr lang="en-US" sz="1200" dirty="0" err="1">
                <a:latin typeface="Times New Roman" pitchFamily="18" charset="0"/>
                <a:cs typeface="Times New Roman" pitchFamily="18" charset="0"/>
              </a:rPr>
              <a:t>Bisht</a:t>
            </a:r>
            <a:r>
              <a:rPr lang="en-US" sz="1200" dirty="0">
                <a:latin typeface="Times New Roman" pitchFamily="18" charset="0"/>
                <a:cs typeface="Times New Roman" pitchFamily="18" charset="0"/>
              </a:rPr>
              <a:t> , </a:t>
            </a:r>
            <a:r>
              <a:rPr lang="en-US" sz="1200" dirty="0" err="1">
                <a:latin typeface="Times New Roman" pitchFamily="18" charset="0"/>
                <a:cs typeface="Times New Roman" pitchFamily="18" charset="0"/>
              </a:rPr>
              <a:t>Sapna</a:t>
            </a:r>
            <a:r>
              <a:rPr lang="en-US" sz="1200" dirty="0">
                <a:latin typeface="Times New Roman" pitchFamily="18" charset="0"/>
                <a:cs typeface="Times New Roman" pitchFamily="18" charset="0"/>
              </a:rPr>
              <a:t> Singh,’ A Comparative Study of Some Symmetric and Asymmetric Key Cryptography Algorithms,’ International Journal of Innovative Research in Science, Engineering and Technology (An ISO 3297: 2007 Certified Organization) Vol. 4, Issue 3, March 2015, pp.1028-1031</a:t>
            </a:r>
          </a:p>
          <a:p>
            <a:pPr marL="228600" lvl="0" indent="-228600" algn="just">
              <a:buFont typeface="+mj-lt"/>
              <a:buAutoNum type="arabicPeriod"/>
            </a:pPr>
            <a:r>
              <a:rPr lang="en-US" sz="1200" dirty="0" err="1">
                <a:latin typeface="Times New Roman" pitchFamily="18" charset="0"/>
                <a:cs typeface="Times New Roman" pitchFamily="18" charset="0"/>
              </a:rPr>
              <a:t>Punita</a:t>
            </a:r>
            <a:r>
              <a:rPr lang="en-US" sz="1200" dirty="0">
                <a:latin typeface="Times New Roman" pitchFamily="18" charset="0"/>
                <a:cs typeface="Times New Roman" pitchFamily="18" charset="0"/>
              </a:rPr>
              <a:t> </a:t>
            </a:r>
            <a:r>
              <a:rPr lang="en-US" sz="1200" dirty="0" err="1">
                <a:latin typeface="Times New Roman" pitchFamily="18" charset="0"/>
                <a:cs typeface="Times New Roman" pitchFamily="18" charset="0"/>
              </a:rPr>
              <a:t>Meelu</a:t>
            </a:r>
            <a:r>
              <a:rPr lang="en-US" sz="1200" dirty="0">
                <a:latin typeface="Times New Roman" pitchFamily="18" charset="0"/>
                <a:cs typeface="Times New Roman" pitchFamily="18" charset="0"/>
              </a:rPr>
              <a:t> and </a:t>
            </a:r>
            <a:r>
              <a:rPr lang="en-US" sz="1200" dirty="0" err="1">
                <a:latin typeface="Times New Roman" pitchFamily="18" charset="0"/>
                <a:cs typeface="Times New Roman" pitchFamily="18" charset="0"/>
              </a:rPr>
              <a:t>Rajni</a:t>
            </a:r>
            <a:r>
              <a:rPr lang="en-US" sz="1200" dirty="0">
                <a:latin typeface="Times New Roman" pitchFamily="18" charset="0"/>
                <a:cs typeface="Times New Roman" pitchFamily="18" charset="0"/>
              </a:rPr>
              <a:t> </a:t>
            </a:r>
            <a:r>
              <a:rPr lang="en-US" sz="1200" dirty="0" err="1">
                <a:latin typeface="Times New Roman" pitchFamily="18" charset="0"/>
                <a:cs typeface="Times New Roman" pitchFamily="18" charset="0"/>
              </a:rPr>
              <a:t>Meelu</a:t>
            </a:r>
            <a:r>
              <a:rPr lang="en-US" sz="1200" dirty="0">
                <a:latin typeface="Times New Roman" pitchFamily="18" charset="0"/>
                <a:cs typeface="Times New Roman" pitchFamily="18" charset="0"/>
              </a:rPr>
              <a:t>, ‘IMPLEMENTATION OF PUBLIC KEY CRYPTOGRAPHIC SYSTEM: RSA,’ International Journal of Information Technology and Knowledge Management July-December 2012, Volume 5, No. 2, pp. 239-242</a:t>
            </a:r>
          </a:p>
          <a:p>
            <a:pPr marL="228600" lvl="0" indent="-228600" algn="just">
              <a:buFont typeface="+mj-lt"/>
              <a:buAutoNum type="arabicPeriod"/>
            </a:pPr>
            <a:r>
              <a:rPr lang="en-US" sz="1200" dirty="0" err="1">
                <a:latin typeface="Times New Roman" pitchFamily="18" charset="0"/>
                <a:cs typeface="Times New Roman" pitchFamily="18" charset="0"/>
              </a:rPr>
              <a:t>Aninda</a:t>
            </a:r>
            <a:r>
              <a:rPr lang="en-US" sz="1200" dirty="0">
                <a:latin typeface="Times New Roman" pitchFamily="18" charset="0"/>
                <a:cs typeface="Times New Roman" pitchFamily="18" charset="0"/>
              </a:rPr>
              <a:t> </a:t>
            </a:r>
            <a:r>
              <a:rPr lang="en-US" sz="1200" dirty="0" err="1">
                <a:latin typeface="Times New Roman" pitchFamily="18" charset="0"/>
                <a:cs typeface="Times New Roman" pitchFamily="18" charset="0"/>
              </a:rPr>
              <a:t>Majumder</a:t>
            </a:r>
            <a:r>
              <a:rPr lang="en-US" sz="1200" dirty="0">
                <a:latin typeface="Times New Roman" pitchFamily="18" charset="0"/>
                <a:cs typeface="Times New Roman" pitchFamily="18" charset="0"/>
              </a:rPr>
              <a:t>, Mohammad </a:t>
            </a:r>
            <a:r>
              <a:rPr lang="en-US" sz="1200" dirty="0" err="1">
                <a:latin typeface="Times New Roman" pitchFamily="18" charset="0"/>
                <a:cs typeface="Times New Roman" pitchFamily="18" charset="0"/>
              </a:rPr>
              <a:t>Raihan</a:t>
            </a:r>
            <a:r>
              <a:rPr lang="en-US" sz="1200" dirty="0">
                <a:latin typeface="Times New Roman" pitchFamily="18" charset="0"/>
                <a:cs typeface="Times New Roman" pitchFamily="18" charset="0"/>
              </a:rPr>
              <a:t> </a:t>
            </a:r>
            <a:r>
              <a:rPr lang="en-US" sz="1200" dirty="0" err="1">
                <a:latin typeface="Times New Roman" pitchFamily="18" charset="0"/>
                <a:cs typeface="Times New Roman" pitchFamily="18" charset="0"/>
              </a:rPr>
              <a:t>Ruhin</a:t>
            </a:r>
            <a:r>
              <a:rPr lang="en-US" sz="1200" dirty="0">
                <a:latin typeface="Times New Roman" pitchFamily="18" charset="0"/>
                <a:cs typeface="Times New Roman" pitchFamily="18" charset="0"/>
              </a:rPr>
              <a:t>, </a:t>
            </a:r>
            <a:r>
              <a:rPr lang="en-US" sz="1200" dirty="0" err="1">
                <a:latin typeface="Times New Roman" pitchFamily="18" charset="0"/>
                <a:cs typeface="Times New Roman" pitchFamily="18" charset="0"/>
              </a:rPr>
              <a:t>Tahsina</a:t>
            </a:r>
            <a:r>
              <a:rPr lang="en-US" sz="1200" dirty="0">
                <a:latin typeface="Times New Roman" pitchFamily="18" charset="0"/>
                <a:cs typeface="Times New Roman" pitchFamily="18" charset="0"/>
              </a:rPr>
              <a:t> </a:t>
            </a:r>
            <a:r>
              <a:rPr lang="en-US" sz="1200" dirty="0" err="1">
                <a:latin typeface="Times New Roman" pitchFamily="18" charset="0"/>
                <a:cs typeface="Times New Roman" pitchFamily="18" charset="0"/>
              </a:rPr>
              <a:t>Hashem</a:t>
            </a:r>
            <a:r>
              <a:rPr lang="en-US" sz="1200" dirty="0">
                <a:latin typeface="Times New Roman" pitchFamily="18" charset="0"/>
                <a:cs typeface="Times New Roman" pitchFamily="18" charset="0"/>
              </a:rPr>
              <a:t>, Md. </a:t>
            </a:r>
            <a:r>
              <a:rPr lang="en-US" sz="1200" dirty="0" err="1">
                <a:latin typeface="Times New Roman" pitchFamily="18" charset="0"/>
                <a:cs typeface="Times New Roman" pitchFamily="18" charset="0"/>
              </a:rPr>
              <a:t>Imdadul</a:t>
            </a:r>
            <a:r>
              <a:rPr lang="en-US" sz="1200" dirty="0">
                <a:latin typeface="Times New Roman" pitchFamily="18" charset="0"/>
                <a:cs typeface="Times New Roman" pitchFamily="18" charset="0"/>
              </a:rPr>
              <a:t> Islam, ‘Recovery of Image through </a:t>
            </a:r>
            <a:r>
              <a:rPr lang="en-US" sz="1200" dirty="0" err="1">
                <a:latin typeface="Times New Roman" pitchFamily="18" charset="0"/>
                <a:cs typeface="Times New Roman" pitchFamily="18" charset="0"/>
              </a:rPr>
              <a:t>Alamouti</a:t>
            </a:r>
            <a:r>
              <a:rPr lang="en-US" sz="1200" dirty="0">
                <a:latin typeface="Times New Roman" pitchFamily="18" charset="0"/>
                <a:cs typeface="Times New Roman" pitchFamily="18" charset="0"/>
              </a:rPr>
              <a:t> Channel with Incorporation of RSA Algorithm,’ Journal of Computer and Communications, 2016, 4, pp.1-10.</a:t>
            </a:r>
            <a:endParaRPr lang="en-GB" sz="1200" dirty="0">
              <a:latin typeface="Times New Roman" pitchFamily="18" charset="0"/>
              <a:cs typeface="Times New Roman" pitchFamily="18" charset="0"/>
            </a:endParaRPr>
          </a:p>
        </p:txBody>
      </p:sp>
    </p:spTree>
  </p:cSld>
  <p:clrMapOvr>
    <a:masterClrMapping/>
  </p:clrMapOvr>
  <p:transition>
    <p:pull di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529</TotalTime>
  <Words>1864</Words>
  <Application>Microsoft Office PowerPoint</Application>
  <PresentationFormat>On-screen Show (4:3)</PresentationFormat>
  <Paragraphs>164</Paragraphs>
  <Slides>25</Slides>
  <Notes>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27" baseType="lpstr">
      <vt:lpstr>Office Theme</vt:lpstr>
      <vt:lpstr>Equation</vt:lpstr>
      <vt:lpstr>Web Application  on Bangamata Hall Management</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5. Results</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Face Detection Based on Modified Principle Component (PCA) Analysis</dc:title>
  <dc:creator>Asus</dc:creator>
  <cp:lastModifiedBy>Sharif</cp:lastModifiedBy>
  <cp:revision>161</cp:revision>
  <dcterms:created xsi:type="dcterms:W3CDTF">2006-08-16T00:00:00Z</dcterms:created>
  <dcterms:modified xsi:type="dcterms:W3CDTF">2024-03-20T16:10:08Z</dcterms:modified>
</cp:coreProperties>
</file>