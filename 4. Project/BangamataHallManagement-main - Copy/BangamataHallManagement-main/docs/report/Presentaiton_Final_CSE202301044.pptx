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handoutMasterIdLst>
    <p:handoutMasterId r:id="rId41"/>
  </p:handoutMasterIdLst>
  <p:sldIdLst>
    <p:sldId id="256" r:id="rId2"/>
    <p:sldId id="285" r:id="rId3"/>
    <p:sldId id="257" r:id="rId4"/>
    <p:sldId id="304" r:id="rId5"/>
    <p:sldId id="258" r:id="rId6"/>
    <p:sldId id="313" r:id="rId7"/>
    <p:sldId id="399" r:id="rId8"/>
    <p:sldId id="362" r:id="rId9"/>
    <p:sldId id="363" r:id="rId10"/>
    <p:sldId id="440" r:id="rId11"/>
    <p:sldId id="364" r:id="rId12"/>
    <p:sldId id="365" r:id="rId13"/>
    <p:sldId id="366" r:id="rId14"/>
    <p:sldId id="367" r:id="rId15"/>
    <p:sldId id="368" r:id="rId16"/>
    <p:sldId id="369" r:id="rId17"/>
    <p:sldId id="370" r:id="rId18"/>
    <p:sldId id="371" r:id="rId19"/>
    <p:sldId id="372" r:id="rId20"/>
    <p:sldId id="373" r:id="rId21"/>
    <p:sldId id="374" r:id="rId22"/>
    <p:sldId id="375" r:id="rId23"/>
    <p:sldId id="376" r:id="rId24"/>
    <p:sldId id="377" r:id="rId25"/>
    <p:sldId id="382" r:id="rId26"/>
    <p:sldId id="378" r:id="rId27"/>
    <p:sldId id="379" r:id="rId28"/>
    <p:sldId id="436" r:id="rId29"/>
    <p:sldId id="380" r:id="rId30"/>
    <p:sldId id="381" r:id="rId31"/>
    <p:sldId id="383" r:id="rId32"/>
    <p:sldId id="384" r:id="rId33"/>
    <p:sldId id="385" r:id="rId34"/>
    <p:sldId id="438" r:id="rId35"/>
    <p:sldId id="386" r:id="rId36"/>
    <p:sldId id="387" r:id="rId37"/>
    <p:sldId id="338" r:id="rId38"/>
    <p:sldId id="431" r:id="rId39"/>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9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xmlns="" val="1"/>
      </p:ext>
    </p:extLst>
  </p:showPr>
  <p:clrMru>
    <a:srgbClr val="33CCCC"/>
    <a:srgbClr val="00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47429"/>
  </p:normalViewPr>
  <p:slideViewPr>
    <p:cSldViewPr snapToGrid="0" showGuides="1">
      <p:cViewPr>
        <p:scale>
          <a:sx n="100" d="100"/>
          <a:sy n="100" d="100"/>
        </p:scale>
        <p:origin x="-1860" y="-366"/>
      </p:cViewPr>
      <p:guideLst>
        <p:guide orient="horz" pos="2160"/>
        <p:guide pos="2926"/>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45CBD384-831C-4A3C-B28C-F6114571E2E7}"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defRPr/>
              </a:pPr>
              <a:t>2024-03-20</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en-US" sz="1200" dirty="0"/>
              <a:pPr lvl="0" algn="r" eaLnBrk="1" hangingPunct="1">
                <a:buNone/>
              </a:pPr>
              <a:t>‹#›</a:t>
            </a:fld>
            <a:endParaRPr lang="en-US" sz="1200" dirty="0"/>
          </a:p>
        </p:txBody>
      </p:sp>
    </p:spTree>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3A48D40-C156-499B-9CE8-3495D46DB0E9}"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defRPr/>
              </a:pPr>
              <a:t>2024-03-20</a:t>
            </a:fld>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CA"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smtClean="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smtClean="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smtClean="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smtClean="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smtClean="0">
                <a:ln>
                  <a:noFill/>
                </a:ln>
                <a:solidFill>
                  <a:schemeClr val="tx1"/>
                </a:solidFill>
                <a:effectLst/>
                <a:uLnTx/>
                <a:uFillTx/>
                <a:latin typeface="+mn-lt"/>
                <a:ea typeface="+mn-ea"/>
                <a:cs typeface="+mn-cs"/>
              </a:rPr>
              <a:t>Fifth level</a:t>
            </a:r>
            <a:endParaRPr kumimoji="0" lang="en-CA"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en-CA" altLang="x-none" sz="1200" dirty="0"/>
              <a:pPr lvl="0" algn="r" eaLnBrk="1" hangingPunct="1">
                <a:buNone/>
              </a:pPr>
              <a:t>‹#›</a:t>
            </a:fld>
            <a:endParaRPr lang="en-CA" altLang="x-none" sz="1200" dirty="0"/>
          </a:p>
        </p:txBody>
      </p:sp>
    </p:spTree>
  </p:cSld>
  <p:clrMap bg1="lt1" tx1="dk1" bg2="lt2" tx2="dk2" accent1="accent1" accent2="accent2" accent3="accent3" accent4="accent4" accent5="accent5" accent6="accent6" hlink="hlink" folHlink="folHlink"/>
  <p:hf sldNum="0"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a:solidFill>
              <a:srgbClr val="000000">
                <a:alpha val="100000"/>
              </a:srgbClr>
            </a:solidFill>
            <a:miter lim="800000"/>
          </a:ln>
        </p:spPr>
      </p:sp>
      <p:sp>
        <p:nvSpPr>
          <p:cNvPr id="45059"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a:solidFill>
              <a:srgbClr val="000000">
                <a:alpha val="100000"/>
              </a:srgbClr>
            </a:solidFill>
            <a:miter lim="800000"/>
          </a:ln>
        </p:spPr>
      </p:sp>
      <p:sp>
        <p:nvSpPr>
          <p:cNvPr id="46083"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a:solidFill>
              <a:srgbClr val="000000">
                <a:alpha val="100000"/>
              </a:srgbClr>
            </a:solidFill>
            <a:miter lim="800000"/>
          </a:ln>
        </p:spPr>
      </p:sp>
      <p:sp>
        <p:nvSpPr>
          <p:cNvPr id="48131"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a:solidFill>
              <a:srgbClr val="000000">
                <a:alpha val="100000"/>
              </a:srgbClr>
            </a:solidFill>
            <a:miter lim="800000"/>
          </a:ln>
        </p:spPr>
      </p:sp>
      <p:sp>
        <p:nvSpPr>
          <p:cNvPr id="50179"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0" y="5970588"/>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9525" y="6053138"/>
            <a:ext cx="2249488"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3" name="Date Placeholder 27"/>
          <p:cNvSpPr>
            <a:spLocks noGrp="1"/>
          </p:cNvSpPr>
          <p:nvPr>
            <p:ph type="dt" sz="half" idx="2"/>
          </p:nvPr>
        </p:nvSpPr>
        <p:spPr>
          <a:xfrm>
            <a:off x="76200" y="6069013"/>
            <a:ext cx="2057400" cy="685800"/>
          </a:xfrm>
          <a:prstGeom prst="rect">
            <a:avLst/>
          </a:prstGeom>
        </p:spPr>
        <p:txBody>
          <a:bodyPr vert="horz" anchor="ctr" anchorCtr="0">
            <a:noAutofit/>
          </a:bodyPr>
          <a:lstStyle>
            <a:lvl1pPr algn="ctr">
              <a:defRPr sz="2000">
                <a:solidFill>
                  <a:srgbClr val="FFFF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D843A048-694F-4420-918A-A0EBEB013641}" type="datetime1">
              <a:rPr kumimoji="0" lang="en-US" sz="2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defRPr/>
              </a:pPr>
              <a:t>2024-03-20</a:t>
            </a:fld>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Footer Placeholder 16"/>
          <p:cNvSpPr>
            <a:spLocks noGrp="1"/>
          </p:cNvSpPr>
          <p:nvPr>
            <p:ph type="ftr" sz="quarter" idx="3"/>
          </p:nvPr>
        </p:nvSpPr>
        <p:spPr>
          <a:xfrm>
            <a:off x="2085975" y="236538"/>
            <a:ext cx="5867400" cy="365125"/>
          </a:xfrm>
          <a:prstGeom prst="rect">
            <a:avLst/>
          </a:prstGeom>
        </p:spPr>
        <p:txBody>
          <a:bodyPr vert="horz" anchor="ctr"/>
          <a:lstStyle>
            <a:lvl1pPr algn="r">
              <a:defRPr>
                <a:solidFill>
                  <a:schemeClr val="tx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 name="Slide Number Placeholder 1"/>
          <p:cNvSpPr>
            <a:spLocks noGrp="1"/>
          </p:cNvSpPr>
          <p:nvPr>
            <p:ph type="sldNum" sz="quarter" idx="10"/>
          </p:nvPr>
        </p:nvSpPr>
        <p:spPr/>
        <p:txBody>
          <a:bodyPr/>
          <a:lstStyle/>
          <a:p>
            <a:pPr lvl="0" eaLnBrk="1" hangingPunct="1">
              <a:buNone/>
            </a:pPr>
            <a:fld id="{9A0DB2DC-4C9A-4742-B13C-FB6460FD3503}" type="slidenum">
              <a:rPr lang="en-US" dirty="0">
                <a:latin typeface="Arial" panose="020B0604020202020204" pitchFamily="34" charset="0"/>
              </a:rPr>
              <a:pPr lvl="0" eaLnBrk="1" hangingPunct="1">
                <a:buNone/>
              </a:pPr>
              <a:t>‹#›</a:t>
            </a:fld>
            <a:endParaRPr lang="en-US" dirty="0">
              <a:latin typeface="Arial" panose="020B0604020202020204" pitchFamily="34" charset="0"/>
            </a:endParaRPr>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a:p>
        </p:txBody>
      </p:sp>
      <p:sp>
        <p:nvSpPr>
          <p:cNvPr id="8" name="Content Placeholder 7"/>
          <p:cNvSpPr>
            <a:spLocks noGrp="1"/>
          </p:cNvSpPr>
          <p:nvPr>
            <p:ph sz="quarter" idx="1"/>
          </p:nvPr>
        </p:nvSpPr>
        <p:spPr>
          <a:xfrm>
            <a:off x="612648" y="1600200"/>
            <a:ext cx="8153400" cy="44958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50F8920-29B0-4997-84DC-63508E7B9BF9}"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0" y="2286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0" y="304800"/>
            <a:ext cx="9906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1066800" y="304800"/>
            <a:ext cx="8077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1066800" y="1447800"/>
            <a:ext cx="7696200" cy="4191000"/>
          </a:xfrm>
        </p:spPr>
        <p:txBody>
          <a:bodyPr>
            <a:normAutofit/>
          </a:bodyPr>
          <a:lstStyle>
            <a:lvl1pPr marL="0" indent="0">
              <a:buNone/>
              <a:defRPr sz="2400">
                <a:solidFill>
                  <a:schemeClr val="bg2">
                    <a:lumMod val="2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dirty="0" smtClean="0"/>
              <a:t>Click to edit Master text styles</a:t>
            </a:r>
          </a:p>
        </p:txBody>
      </p:sp>
      <p:sp>
        <p:nvSpPr>
          <p:cNvPr id="2" name="Title 1"/>
          <p:cNvSpPr>
            <a:spLocks noGrp="1"/>
          </p:cNvSpPr>
          <p:nvPr>
            <p:ph type="title"/>
          </p:nvPr>
        </p:nvSpPr>
        <p:spPr>
          <a:xfrm>
            <a:off x="1066800" y="304800"/>
            <a:ext cx="7918824" cy="990600"/>
          </a:xfrm>
        </p:spPr>
        <p:txBody>
          <a:bodyPr/>
          <a:lstStyle>
            <a:lvl1pPr algn="l">
              <a:buNone/>
              <a:defRPr sz="4400" b="0" cap="none">
                <a:solidFill>
                  <a:srgbClr val="FFFFFF"/>
                </a:solidFill>
              </a:defRPr>
            </a:lvl1pPr>
          </a:lstStyle>
          <a:p>
            <a:r>
              <a:rPr lang="en-US" smtClean="0"/>
              <a:t>Click to edit Master title style</a:t>
            </a:r>
            <a:endParaRPr lang="en-US"/>
          </a:p>
        </p:txBody>
      </p:sp>
      <p:sp>
        <p:nvSpPr>
          <p:cNvPr id="13" name="Date Placeholder 11"/>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6154F42-DBBF-40B7-9ABC-C9CC3D959D33}"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5" name="Slide Number Placeholder 12"/>
          <p:cNvSpPr>
            <a:spLocks noGrp="1"/>
          </p:cNvSpPr>
          <p:nvPr>
            <p:ph type="sldNum" sz="quarter" idx="4"/>
          </p:nvPr>
        </p:nvSpPr>
        <p:spPr>
          <a:xfrm>
            <a:off x="0" y="457200"/>
            <a:ext cx="914400" cy="701675"/>
          </a:xfrm>
          <a:prstGeom prst="rect">
            <a:avLst/>
          </a:prstGeom>
        </p:spPr>
        <p:txBody>
          <a:bodyPr vert="horz" anchor="ctr" anchorCtr="0">
            <a:noAutofit/>
          </a:bodyPr>
          <a:lstStyle/>
          <a:p>
            <a:pPr algn="ctr">
              <a:buNone/>
            </a:pPr>
            <a:fld id="{9A0DB2DC-4C9A-4742-B13C-FB6460FD3503}" type="slidenum">
              <a:rPr lang="en-US" sz="2400" dirty="0"/>
              <a:pPr algn="ctr">
                <a:buNone/>
              </a:pPr>
              <a:t>‹#›</a:t>
            </a:fld>
            <a:endParaRPr lang="en-US" sz="2400" dirty="0"/>
          </a:p>
        </p:txBody>
      </p:sp>
      <p:sp>
        <p:nvSpPr>
          <p:cNvPr id="16" name="Footer Placeholder 13"/>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Date Placeholder 7"/>
          <p:cNvSpPr>
            <a:spLocks noGrp="1"/>
          </p:cNvSpPr>
          <p:nvPr>
            <p:ph type="dt" sz="half" idx="12"/>
          </p:nvPr>
        </p:nvSpPr>
        <p:spPr>
          <a:xfrm>
            <a:off x="6096000" y="6248400"/>
            <a:ext cx="26670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2666EAA7-9575-4971-AF8B-CB0675578568}"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Slide Number Placeholder 9"/>
          <p:cNvSpPr>
            <a:spLocks noGrp="1"/>
          </p:cNvSpPr>
          <p:nvPr>
            <p:ph type="sldNum" sz="quarter" idx="4"/>
          </p:nvPr>
        </p:nvSpPr>
        <p:spPr>
          <a:xfrm>
            <a:off x="0" y="1271588"/>
            <a:ext cx="533400" cy="244475"/>
          </a:xfrm>
          <a:prstGeom prst="rect">
            <a:avLst/>
          </a:prstGeom>
        </p:spPr>
        <p:txBody>
          <a:bodyPr vert="horz" rtlCol="0" anchor="ctr" anchorCtr="0"/>
          <a:lstStyle/>
          <a:p>
            <a:pPr algn="ctr">
              <a:buNone/>
            </a:pPr>
            <a:fld id="{9A0DB2DC-4C9A-4742-B13C-FB6460FD3503}" type="slidenum">
              <a:rPr lang="en-US" dirty="0"/>
              <a:pPr algn="ctr">
                <a:buNone/>
              </a:pPr>
              <a:t>‹#›</a:t>
            </a:fld>
            <a:endParaRPr lang="en-US" dirty="0"/>
          </a:p>
        </p:txBody>
      </p:sp>
      <p:sp>
        <p:nvSpPr>
          <p:cNvPr id="12" name="Footer Placeholder 11"/>
          <p:cNvSpPr>
            <a:spLocks noGrp="1"/>
          </p:cNvSpPr>
          <p:nvPr>
            <p:ph type="ftr" sz="quarter" idx="3"/>
          </p:nvPr>
        </p:nvSpPr>
        <p:spPr>
          <a:xfrm>
            <a:off x="609600" y="6248400"/>
            <a:ext cx="5421313" cy="365125"/>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0" name="Date Placeholder 9"/>
          <p:cNvSpPr>
            <a:spLocks noGrp="1"/>
          </p:cNvSpPr>
          <p:nvPr>
            <p:ph type="dt" sz="half" idx="12"/>
          </p:nvPr>
        </p:nvSpPr>
        <p:spPr>
          <a:xfrm>
            <a:off x="6096000" y="6248400"/>
            <a:ext cx="26670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EC309D-C5C4-4AA7-9A4F-A817075843AE}"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Slide Number Placeholder 11"/>
          <p:cNvSpPr>
            <a:spLocks noGrp="1"/>
          </p:cNvSpPr>
          <p:nvPr>
            <p:ph type="sldNum" sz="quarter" idx="14"/>
          </p:nvPr>
        </p:nvSpPr>
        <p:spPr>
          <a:xfrm>
            <a:off x="0" y="1271588"/>
            <a:ext cx="533400" cy="244475"/>
          </a:xfrm>
          <a:prstGeom prst="rect">
            <a:avLst/>
          </a:prstGeom>
        </p:spPr>
        <p:txBody>
          <a:bodyPr vert="horz" rtlCol="0" anchor="ctr" anchorCtr="0"/>
          <a:lstStyle/>
          <a:p>
            <a:pPr algn="ctr">
              <a:buNone/>
            </a:pPr>
            <a:fld id="{9A0DB2DC-4C9A-4742-B13C-FB6460FD3503}" type="slidenum">
              <a:rPr lang="en-US" dirty="0"/>
              <a:pPr algn="ctr">
                <a:buNone/>
              </a:pPr>
              <a:t>‹#›</a:t>
            </a:fld>
            <a:endParaRPr lang="en-US" dirty="0"/>
          </a:p>
        </p:txBody>
      </p:sp>
      <p:sp>
        <p:nvSpPr>
          <p:cNvPr id="12" name="Footer Placeholder 13"/>
          <p:cNvSpPr>
            <a:spLocks noGrp="1"/>
          </p:cNvSpPr>
          <p:nvPr>
            <p:ph type="ftr" sz="quarter" idx="13"/>
          </p:nvPr>
        </p:nvSpPr>
        <p:spPr>
          <a:xfrm>
            <a:off x="609600" y="6248400"/>
            <a:ext cx="5421313" cy="365125"/>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DFCC942-35FB-4B5C-ACCE-246E772F7B19}"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10" name="Date Placeholder 1"/>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1E4C924E-7BD6-4DDD-A468-90DA87511D77}"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3"/>
          <p:cNvSpPr>
            <a:spLocks noGrp="1"/>
          </p:cNvSpPr>
          <p:nvPr>
            <p:ph type="sldNum" sz="quarter" idx="4"/>
          </p:nvPr>
        </p:nvSpPr>
        <p:spPr>
          <a:xfrm>
            <a:off x="0" y="6248400"/>
            <a:ext cx="533400" cy="381000"/>
          </a:xfrm>
          <a:prstGeom prst="rect">
            <a:avLst/>
          </a:prstGeom>
        </p:spPr>
        <p:txBody>
          <a:bodyPr vert="horz" anchor="ctr" anchorCtr="0"/>
          <a:lstStyle/>
          <a:p>
            <a:pPr algn="ctr">
              <a:buNone/>
            </a:pPr>
            <a:fld id="{9A0DB2DC-4C9A-4742-B13C-FB6460FD3503}" type="slidenum">
              <a:rPr lang="en-US" dirty="0">
                <a:solidFill>
                  <a:schemeClr val="tx2"/>
                </a:solidFill>
              </a:rPr>
              <a:pPr algn="ctr">
                <a:buNone/>
              </a:pPr>
              <a:t>‹#›</a:t>
            </a:fld>
            <a:endParaRPr lang="en-US" dirty="0">
              <a:solidFill>
                <a:schemeClr val="tx2"/>
              </a:solidFill>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smtClean="0"/>
              <a:t>Click to edit Master title style</a:t>
            </a:r>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Date Placeholder 13"/>
          <p:cNvSpPr>
            <a:spLocks noGrp="1"/>
          </p:cNvSpPr>
          <p:nvPr>
            <p:ph type="dt" sz="half" idx="1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EF631C7-6828-45CD-B9AD-1DE5AAC4C423}"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1544638" y="4654550"/>
            <a:ext cx="7599363"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Rectangle 12"/>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Date Placeholder 11"/>
          <p:cNvSpPr>
            <a:spLocks noGrp="1"/>
          </p:cNvSpPr>
          <p:nvPr>
            <p:ph type="dt" sz="half" idx="12"/>
          </p:nvPr>
        </p:nvSpPr>
        <p:spPr>
          <a:xfrm>
            <a:off x="6248400" y="6248400"/>
            <a:ext cx="26670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4844378-16A1-4A50-9FDC-E82FC3EE5853}"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6" name="Slide Number Placeholder 12"/>
          <p:cNvSpPr>
            <a:spLocks noGrp="1"/>
          </p:cNvSpPr>
          <p:nvPr>
            <p:ph type="sldNum" sz="quarter" idx="4"/>
          </p:nvPr>
        </p:nvSpPr>
        <p:spPr>
          <a:xfrm>
            <a:off x="0" y="4667250"/>
            <a:ext cx="1447800" cy="663575"/>
          </a:xfrm>
          <a:prstGeom prst="rect">
            <a:avLst/>
          </a:prstGeom>
        </p:spPr>
        <p:txBody>
          <a:bodyPr vert="horz" rtlCol="0" anchor="ctr" anchorCtr="0"/>
          <a:lstStyle/>
          <a:p>
            <a:pPr algn="ctr">
              <a:buNone/>
            </a:pPr>
            <a:fld id="{9A0DB2DC-4C9A-4742-B13C-FB6460FD3503}" type="slidenum">
              <a:rPr lang="en-US" sz="2800" dirty="0"/>
              <a:pPr algn="ctr">
                <a:buNone/>
              </a:pPr>
              <a:t>‹#›</a:t>
            </a:fld>
            <a:endParaRPr lang="en-US" sz="2800" dirty="0"/>
          </a:p>
        </p:txBody>
      </p:sp>
      <p:sp>
        <p:nvSpPr>
          <p:cNvPr id="17" name="Footer Placeholder 13"/>
          <p:cNvSpPr>
            <a:spLocks noGrp="1"/>
          </p:cNvSpPr>
          <p:nvPr>
            <p:ph type="ftr" sz="quarter" idx="3"/>
          </p:nvPr>
        </p:nvSpPr>
        <p:spPr>
          <a:xfrm>
            <a:off x="1600200" y="6248400"/>
            <a:ext cx="4572000" cy="365125"/>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5E43C51-72E2-47CA-841B-77685045A8DB}"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3"/>
          <p:cNvSpPr>
            <a:spLocks noGrp="1"/>
          </p:cNvSpPr>
          <p:nvPr>
            <p:ph type="dt" sz="half" idx="2"/>
          </p:nvPr>
        </p:nvSpPr>
        <p:spPr>
          <a:xfrm>
            <a:off x="6553200" y="6248400"/>
            <a:ext cx="22098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871AF0C-0F8A-4C52-B53C-489898718D08}"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5" name="Footer Placeholder 4"/>
          <p:cNvSpPr>
            <a:spLocks noGrp="1"/>
          </p:cNvSpPr>
          <p:nvPr>
            <p:ph type="ftr" sz="quarter" idx="3"/>
          </p:nvPr>
        </p:nvSpPr>
        <p:spPr>
          <a:xfrm>
            <a:off x="457200" y="6248400"/>
            <a:ext cx="55737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6" name="Slide Number Placeholder 5"/>
          <p:cNvSpPr>
            <a:spLocks noGrp="1"/>
          </p:cNvSpPr>
          <p:nvPr>
            <p:ph type="sldNum" sz="quarter" idx="4"/>
          </p:nvPr>
        </p:nvSpPr>
        <p:spPr>
          <a:xfrm rot="5400000">
            <a:off x="5989638" y="144463"/>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a:xfrm>
            <a:off x="609600" y="228600"/>
            <a:ext cx="8153400" cy="990600"/>
          </a:xfrm>
          <a:prstGeom prst="rect">
            <a:avLst/>
          </a:prstGeom>
          <a:noFill/>
          <a:ln w="9525">
            <a:noFill/>
          </a:ln>
        </p:spPr>
        <p:txBody>
          <a:bodyPr anchor="ctr" anchorCtr="0"/>
          <a:lstStyle/>
          <a:p>
            <a:pPr lvl="0"/>
            <a:r>
              <a:rPr dirty="0"/>
              <a:t>Click to edit Master title style</a:t>
            </a:r>
          </a:p>
        </p:txBody>
      </p:sp>
      <p:sp>
        <p:nvSpPr>
          <p:cNvPr id="1027" name="Text Placeholder 12"/>
          <p:cNvSpPr>
            <a:spLocks noGrp="1"/>
          </p:cNvSpPr>
          <p:nvPr>
            <p:ph type="body" idx="1"/>
          </p:nvPr>
        </p:nvSpPr>
        <p:spPr>
          <a:xfrm>
            <a:off x="612775" y="1600200"/>
            <a:ext cx="81534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377784B-809B-4791-A557-E24A1E844CD5}"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2024-03-20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lstStyle>
            <a:lvl1pPr algn="ctr">
              <a:defRPr sz="1400" b="1">
                <a:solidFill>
                  <a:srgbClr val="FFFFFF"/>
                </a:solidFill>
              </a:defRPr>
            </a:lvl1pPr>
          </a:lstStyle>
          <a:p>
            <a:pPr lvl="0" eaLnBrk="1" hangingPunct="1">
              <a:buNone/>
            </a:pPr>
            <a:fld id="{9A0DB2DC-4C9A-4742-B13C-FB6460FD3503}" type="slidenum">
              <a:rPr lang="en-US" dirty="0">
                <a:latin typeface="Arial" panose="020B0604020202020204" pitchFamily="34" charset="0"/>
              </a:rPr>
              <a:pPr lvl="0" eaLnBrk="1" hangingPunct="1">
                <a:buNone/>
              </a:p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w Cen MT" panose="020B0602020104020603" pitchFamily="34" charset="0"/>
        </a:defRPr>
      </a:lvl2pPr>
      <a:lvl3pPr algn="l" rtl="0" eaLnBrk="0" fontAlgn="base" hangingPunct="0">
        <a:spcBef>
          <a:spcPct val="0"/>
        </a:spcBef>
        <a:spcAft>
          <a:spcPct val="0"/>
        </a:spcAft>
        <a:defRPr sz="4400">
          <a:solidFill>
            <a:schemeClr val="tx2"/>
          </a:solidFill>
          <a:latin typeface="Tw Cen MT" panose="020B0602020104020603" pitchFamily="34" charset="0"/>
        </a:defRPr>
      </a:lvl3pPr>
      <a:lvl4pPr algn="l" rtl="0" eaLnBrk="0" fontAlgn="base" hangingPunct="0">
        <a:spcBef>
          <a:spcPct val="0"/>
        </a:spcBef>
        <a:spcAft>
          <a:spcPct val="0"/>
        </a:spcAft>
        <a:defRPr sz="4400">
          <a:solidFill>
            <a:schemeClr val="tx2"/>
          </a:solidFill>
          <a:latin typeface="Tw Cen MT" panose="020B0602020104020603" pitchFamily="34" charset="0"/>
        </a:defRPr>
      </a:lvl4pPr>
      <a:lvl5pPr algn="l" rtl="0" eaLnBrk="0" fontAlgn="base" hangingPunct="0">
        <a:spcBef>
          <a:spcPct val="0"/>
        </a:spcBef>
        <a:spcAft>
          <a:spcPct val="0"/>
        </a:spcAft>
        <a:defRPr sz="4400">
          <a:solidFill>
            <a:schemeClr val="tx2"/>
          </a:solidFill>
          <a:latin typeface="Tw Cen MT" panose="020B0602020104020603" pitchFamily="34" charset="0"/>
        </a:defRPr>
      </a:lvl5pPr>
      <a:lvl6pPr marL="457200" algn="l" rtl="0" fontAlgn="base">
        <a:spcBef>
          <a:spcPct val="0"/>
        </a:spcBef>
        <a:spcAft>
          <a:spcPct val="0"/>
        </a:spcAft>
        <a:defRPr sz="4400">
          <a:solidFill>
            <a:schemeClr val="tx2"/>
          </a:solidFill>
          <a:latin typeface="Tw Cen MT" panose="020B0602020104020603" pitchFamily="34" charset="0"/>
        </a:defRPr>
      </a:lvl6pPr>
      <a:lvl7pPr marL="914400" algn="l" rtl="0" fontAlgn="base">
        <a:spcBef>
          <a:spcPct val="0"/>
        </a:spcBef>
        <a:spcAft>
          <a:spcPct val="0"/>
        </a:spcAft>
        <a:defRPr sz="4400">
          <a:solidFill>
            <a:schemeClr val="tx2"/>
          </a:solidFill>
          <a:latin typeface="Tw Cen MT" panose="020B0602020104020603" pitchFamily="34" charset="0"/>
        </a:defRPr>
      </a:lvl7pPr>
      <a:lvl8pPr marL="1371600" algn="l" rtl="0" fontAlgn="base">
        <a:spcBef>
          <a:spcPct val="0"/>
        </a:spcBef>
        <a:spcAft>
          <a:spcPct val="0"/>
        </a:spcAft>
        <a:defRPr sz="4400">
          <a:solidFill>
            <a:schemeClr val="tx2"/>
          </a:solidFill>
          <a:latin typeface="Tw Cen MT" panose="020B0602020104020603" pitchFamily="34" charset="0"/>
        </a:defRPr>
      </a:lvl8pPr>
      <a:lvl9pPr marL="1828800" algn="l" rtl="0" fontAlgn="base">
        <a:spcBef>
          <a:spcPct val="0"/>
        </a:spcBef>
        <a:spcAft>
          <a:spcPct val="0"/>
        </a:spcAft>
        <a:defRPr sz="4400">
          <a:solidFill>
            <a:schemeClr val="tx2"/>
          </a:solidFill>
          <a:latin typeface="Tw Cen MT" panose="020B0602020104020603" pitchFamily="34" charset="0"/>
        </a:defRPr>
      </a:lvl9pPr>
    </p:titleStyle>
    <p:bodyStyle>
      <a:lvl1pPr marL="319405" indent="-319405" algn="l" rtl="0" eaLnBrk="0" fontAlgn="base" hangingPunct="0">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40080" indent="-273050" algn="l" rtl="0" eaLnBrk="0" fontAlgn="base" hangingPunct="0">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4339" name="TextBox 3"/>
          <p:cNvSpPr txBox="1"/>
          <p:nvPr/>
        </p:nvSpPr>
        <p:spPr>
          <a:xfrm>
            <a:off x="635" y="6358255"/>
            <a:ext cx="9144000" cy="471170"/>
          </a:xfrm>
          <a:prstGeom prst="rect">
            <a:avLst/>
          </a:prstGeom>
          <a:solidFill>
            <a:srgbClr val="0070C0"/>
          </a:solidFill>
          <a:ln w="9525">
            <a:noFill/>
          </a:ln>
        </p:spPr>
        <p:txBody>
          <a:bodyPr wrap="square">
            <a:noAutofit/>
          </a:bodyPr>
          <a:lstStyle/>
          <a:p>
            <a:pPr algn="ctr" eaLnBrk="0" hangingPunct="0">
              <a:lnSpc>
                <a:spcPts val="3000"/>
              </a:lnSpc>
            </a:pPr>
            <a:r>
              <a:rPr lang="en-US" sz="2000" b="1" dirty="0">
                <a:latin typeface="Times New Roman" panose="02020603050405020304" pitchFamily="18" charset="0"/>
                <a:cs typeface="Times New Roman" panose="02020603050405020304" pitchFamily="18" charset="0"/>
              </a:rPr>
              <a:t>Masters in CS</a:t>
            </a:r>
            <a:r>
              <a:rP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Intake </a:t>
            </a:r>
            <a:r>
              <a:rPr lang="en-US" sz="2000" b="1" dirty="0" smtClean="0">
                <a:latin typeface="Times New Roman" panose="02020603050405020304" pitchFamily="18" charset="0"/>
                <a:cs typeface="Times New Roman" panose="02020603050405020304" pitchFamily="18" charset="0"/>
              </a:rPr>
              <a:t>Spring-2023</a:t>
            </a:r>
            <a:endParaRPr lang="en-US" sz="2000" b="1"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204470" y="3173095"/>
          <a:ext cx="8634730" cy="2955290"/>
        </p:xfrm>
        <a:graphic>
          <a:graphicData uri="http://schemas.openxmlformats.org/drawingml/2006/table">
            <a:tbl>
              <a:tblPr firstRow="1" bandRow="1">
                <a:tableStyleId>{5C22544A-7EE6-4342-B048-85BDC9FD1C3A}</a:tableStyleId>
              </a:tblPr>
              <a:tblGrid>
                <a:gridCol w="4215130"/>
                <a:gridCol w="4419600"/>
              </a:tblGrid>
              <a:tr h="2955290">
                <a:tc>
                  <a:txBody>
                    <a:bodyPr/>
                    <a:lstStyle/>
                    <a:p>
                      <a:pPr>
                        <a:lnSpc>
                          <a:spcPct val="100000"/>
                        </a:lnSpc>
                        <a:defRPr/>
                      </a:pPr>
                      <a:r>
                        <a:rPr lang="en-US" sz="2400" b="1" u="sng" dirty="0" smtClean="0">
                          <a:solidFill>
                            <a:schemeClr val="bg1"/>
                          </a:solidFill>
                          <a:latin typeface="Times New Roman" panose="02020603050405020304" pitchFamily="18" charset="0"/>
                          <a:cs typeface="Times New Roman" panose="02020603050405020304" pitchFamily="18" charset="0"/>
                        </a:rPr>
                        <a:t>Presented by </a:t>
                      </a:r>
                    </a:p>
                    <a:p>
                      <a:pPr>
                        <a:lnSpc>
                          <a:spcPct val="100000"/>
                        </a:lnSpc>
                        <a:defRPr/>
                      </a:pPr>
                      <a:r>
                        <a:rPr lang="en-US" sz="2400" dirty="0" smtClean="0">
                          <a:solidFill>
                            <a:schemeClr val="bg1"/>
                          </a:solidFill>
                          <a:latin typeface="Times New Roman" panose="02020603050405020304" pitchFamily="18" charset="0"/>
                          <a:cs typeface="Times New Roman" panose="02020603050405020304" pitchFamily="18" charset="0"/>
                          <a:sym typeface="+mn-ea"/>
                        </a:rPr>
                        <a:t>Md</a:t>
                      </a:r>
                      <a:r>
                        <a:rPr lang="en-US" sz="2400" dirty="0">
                          <a:solidFill>
                            <a:schemeClr val="bg1"/>
                          </a:solidFill>
                          <a:latin typeface="Times New Roman" panose="02020603050405020304" pitchFamily="18" charset="0"/>
                          <a:cs typeface="Times New Roman" panose="02020603050405020304" pitchFamily="18" charset="0"/>
                          <a:sym typeface="+mn-ea"/>
                        </a:rPr>
                        <a:t>. </a:t>
                      </a:r>
                      <a:r>
                        <a:rPr lang="en-US" sz="2400" dirty="0" err="1" smtClean="0">
                          <a:solidFill>
                            <a:schemeClr val="bg1"/>
                          </a:solidFill>
                          <a:latin typeface="Times New Roman" panose="02020603050405020304" pitchFamily="18" charset="0"/>
                          <a:cs typeface="Times New Roman" panose="02020603050405020304" pitchFamily="18" charset="0"/>
                          <a:sym typeface="+mn-ea"/>
                        </a:rPr>
                        <a:t>Shariful</a:t>
                      </a:r>
                      <a:r>
                        <a:rPr lang="en-US" sz="2400" baseline="0" dirty="0" smtClean="0">
                          <a:solidFill>
                            <a:schemeClr val="bg1"/>
                          </a:solidFill>
                          <a:latin typeface="Times New Roman" panose="02020603050405020304" pitchFamily="18" charset="0"/>
                          <a:cs typeface="Times New Roman" panose="02020603050405020304" pitchFamily="18" charset="0"/>
                          <a:sym typeface="+mn-ea"/>
                        </a:rPr>
                        <a:t> Islam</a:t>
                      </a:r>
                      <a:endParaRPr lang="en-US" sz="2400" b="1" dirty="0" smtClean="0">
                        <a:solidFill>
                          <a:schemeClr val="bg1"/>
                        </a:solidFill>
                        <a:latin typeface="Times New Roman" panose="02020603050405020304" pitchFamily="18" charset="0"/>
                        <a:cs typeface="Times New Roman" panose="02020603050405020304" pitchFamily="18" charset="0"/>
                      </a:endParaRPr>
                    </a:p>
                    <a:p>
                      <a:pPr>
                        <a:lnSpc>
                          <a:spcPct val="100000"/>
                        </a:lnSpc>
                        <a:defRPr/>
                      </a:pPr>
                      <a:r>
                        <a:rPr lang="en-US" sz="2400" b="1" dirty="0" smtClean="0">
                          <a:solidFill>
                            <a:schemeClr val="bg1"/>
                          </a:solidFill>
                          <a:latin typeface="Times New Roman" panose="02020603050405020304" pitchFamily="18" charset="0"/>
                          <a:cs typeface="Times New Roman" panose="02020603050405020304" pitchFamily="18" charset="0"/>
                        </a:rPr>
                        <a:t>ID: </a:t>
                      </a:r>
                      <a:r>
                        <a:rPr lang="en-US" sz="2400" b="1" dirty="0" smtClean="0">
                          <a:solidFill>
                            <a:schemeClr val="bg1"/>
                          </a:solidFill>
                          <a:latin typeface="Times New Roman" panose="02020603050405020304" pitchFamily="18" charset="0"/>
                          <a:cs typeface="Times New Roman" panose="02020603050405020304" pitchFamily="18" charset="0"/>
                        </a:rPr>
                        <a:t>CSE202301044</a:t>
                      </a:r>
                      <a:endParaRPr lang="en-US" sz="2400" b="1" dirty="0" smtClean="0">
                        <a:solidFill>
                          <a:schemeClr val="bg1"/>
                        </a:solidFill>
                        <a:latin typeface="Times New Roman" panose="02020603050405020304" pitchFamily="18" charset="0"/>
                        <a:cs typeface="Times New Roman" panose="02020603050405020304" pitchFamily="18" charset="0"/>
                      </a:endParaRPr>
                    </a:p>
                    <a:p>
                      <a:pPr>
                        <a:lnSpc>
                          <a:spcPct val="100000"/>
                        </a:lnSpc>
                        <a:defRPr/>
                      </a:pPr>
                      <a:r>
                        <a:rPr lang="en-US" sz="2400" b="1" dirty="0" smtClean="0">
                          <a:solidFill>
                            <a:schemeClr val="bg1"/>
                          </a:solidFill>
                          <a:latin typeface="Times New Roman" panose="02020603050405020304" pitchFamily="18" charset="0"/>
                          <a:cs typeface="Times New Roman" panose="02020603050405020304" pitchFamily="18" charset="0"/>
                        </a:rPr>
                        <a:t>Batch: </a:t>
                      </a:r>
                      <a:r>
                        <a:rPr lang="en-US" sz="2400" dirty="0" smtClean="0">
                          <a:solidFill>
                            <a:schemeClr val="bg1"/>
                          </a:solidFill>
                          <a:latin typeface="Times New Roman" panose="02020603050405020304" pitchFamily="18" charset="0"/>
                          <a:cs typeface="Times New Roman" panose="02020603050405020304" pitchFamily="18" charset="0"/>
                          <a:sym typeface="+mn-ea"/>
                        </a:rPr>
                        <a:t>31th</a:t>
                      </a:r>
                      <a:endParaRPr lang="en-US" sz="2400" dirty="0">
                        <a:solidFill>
                          <a:schemeClr val="bg1"/>
                        </a:solidFill>
                        <a:latin typeface="Times New Roman" panose="02020603050405020304" pitchFamily="18" charset="0"/>
                        <a:cs typeface="Times New Roman" panose="02020603050405020304" pitchFamily="18" charset="0"/>
                      </a:endParaRPr>
                    </a:p>
                    <a:p>
                      <a:pPr>
                        <a:lnSpc>
                          <a:spcPct val="100000"/>
                        </a:lnSpc>
                        <a:defRPr/>
                      </a:pPr>
                      <a:endParaRPr lang="en-US" sz="2400" b="1" dirty="0" smtClean="0">
                        <a:solidFill>
                          <a:schemeClr val="bg1"/>
                        </a:solidFill>
                        <a:latin typeface="Times New Roman" panose="02020603050405020304" pitchFamily="18" charset="0"/>
                        <a:cs typeface="Times New Roman" panose="02020603050405020304" pitchFamily="18" charset="0"/>
                      </a:endParaRPr>
                    </a:p>
                    <a:p>
                      <a:pPr>
                        <a:lnSpc>
                          <a:spcPct val="100000"/>
                        </a:lnSpc>
                      </a:pPr>
                      <a:endParaRPr lang="en-US" sz="2400" b="1" dirty="0" smtClean="0">
                        <a:solidFill>
                          <a:schemeClr val="bg1"/>
                        </a:solidFill>
                        <a:latin typeface="Times New Roman" panose="02020603050405020304" pitchFamily="18" charset="0"/>
                        <a:cs typeface="Times New Roman" panose="02020603050405020304" pitchFamily="18" charset="0"/>
                      </a:endParaRPr>
                    </a:p>
                  </a:txBody>
                  <a:tcPr marL="91434" marR="91434" marT="45714" marB="45714">
                    <a:noFill/>
                  </a:tcPr>
                </a:tc>
                <a:tc>
                  <a:txBody>
                    <a:bodyPr/>
                    <a:lstStyle/>
                    <a:p>
                      <a:pPr>
                        <a:lnSpc>
                          <a:spcPct val="100000"/>
                        </a:lnSpc>
                        <a:defRPr/>
                      </a:pPr>
                      <a:r>
                        <a:rPr lang="en-US" sz="2400" b="1" u="sng" dirty="0" smtClean="0">
                          <a:solidFill>
                            <a:schemeClr val="bg1"/>
                          </a:solidFill>
                          <a:latin typeface="Times New Roman" panose="02020603050405020304" pitchFamily="18" charset="0"/>
                          <a:cs typeface="Times New Roman" panose="02020603050405020304" pitchFamily="18" charset="0"/>
                        </a:rPr>
                        <a:t>Supervised by</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solidFill>
                            <a:schemeClr val="bg1"/>
                          </a:solidFill>
                          <a:latin typeface="Times New Roman" panose="02020603050405020304" pitchFamily="18" charset="0"/>
                          <a:cs typeface="Times New Roman" panose="02020603050405020304" pitchFamily="18" charset="0"/>
                          <a:sym typeface="+mn-ea"/>
                        </a:rPr>
                        <a:t>Prof</a:t>
                      </a:r>
                      <a:r>
                        <a:rPr lang="en-US" sz="2400" dirty="0">
                          <a:solidFill>
                            <a:schemeClr val="bg1"/>
                          </a:solidFill>
                          <a:latin typeface="Times New Roman" panose="02020603050405020304" pitchFamily="18" charset="0"/>
                          <a:cs typeface="Times New Roman" panose="02020603050405020304" pitchFamily="18" charset="0"/>
                          <a:sym typeface="+mn-ea"/>
                        </a:rPr>
                        <a:t>. </a:t>
                      </a:r>
                      <a:r>
                        <a:rPr lang="en-US" sz="2400" dirty="0" smtClean="0">
                          <a:solidFill>
                            <a:schemeClr val="bg1"/>
                          </a:solidFill>
                          <a:latin typeface="Times New Roman" panose="02020603050405020304" pitchFamily="18" charset="0"/>
                          <a:cs typeface="Times New Roman" panose="02020603050405020304" pitchFamily="18" charset="0"/>
                          <a:sym typeface="+mn-ea"/>
                        </a:rPr>
                        <a:t>Dr. </a:t>
                      </a:r>
                      <a:r>
                        <a:rPr lang="en-US" sz="2400" dirty="0" err="1" smtClean="0">
                          <a:solidFill>
                            <a:schemeClr val="bg1"/>
                          </a:solidFill>
                          <a:latin typeface="Times New Roman" panose="02020603050405020304" pitchFamily="18" charset="0"/>
                          <a:cs typeface="Times New Roman" panose="02020603050405020304" pitchFamily="18" charset="0"/>
                          <a:sym typeface="+mn-ea"/>
                        </a:rPr>
                        <a:t>Md</a:t>
                      </a:r>
                      <a:r>
                        <a:rPr lang="en-US" sz="2400" dirty="0" smtClean="0">
                          <a:solidFill>
                            <a:schemeClr val="bg1"/>
                          </a:solidFill>
                          <a:latin typeface="Times New Roman" panose="02020603050405020304" pitchFamily="18" charset="0"/>
                          <a:cs typeface="Times New Roman" panose="02020603050405020304" pitchFamily="18" charset="0"/>
                          <a:sym typeface="+mn-ea"/>
                        </a:rPr>
                        <a:t> </a:t>
                      </a:r>
                      <a:r>
                        <a:rPr lang="en-US" sz="2400" dirty="0" err="1" smtClean="0">
                          <a:solidFill>
                            <a:schemeClr val="bg1"/>
                          </a:solidFill>
                          <a:latin typeface="Times New Roman" panose="02020603050405020304" pitchFamily="18" charset="0"/>
                          <a:cs typeface="Times New Roman" panose="02020603050405020304" pitchFamily="18" charset="0"/>
                          <a:sym typeface="+mn-ea"/>
                        </a:rPr>
                        <a:t>Abul</a:t>
                      </a:r>
                      <a:r>
                        <a:rPr lang="en-US" sz="2400" dirty="0" smtClean="0">
                          <a:solidFill>
                            <a:schemeClr val="bg1"/>
                          </a:solidFill>
                          <a:latin typeface="Times New Roman" panose="02020603050405020304" pitchFamily="18" charset="0"/>
                          <a:cs typeface="Times New Roman" panose="02020603050405020304" pitchFamily="18" charset="0"/>
                          <a:sym typeface="+mn-ea"/>
                        </a:rPr>
                        <a:t> </a:t>
                      </a:r>
                      <a:r>
                        <a:rPr lang="en-US" sz="2400" dirty="0" err="1" smtClean="0">
                          <a:solidFill>
                            <a:schemeClr val="bg1"/>
                          </a:solidFill>
                          <a:latin typeface="Times New Roman" panose="02020603050405020304" pitchFamily="18" charset="0"/>
                          <a:cs typeface="Times New Roman" panose="02020603050405020304" pitchFamily="18" charset="0"/>
                          <a:sym typeface="+mn-ea"/>
                        </a:rPr>
                        <a:t>Kalam</a:t>
                      </a:r>
                      <a:r>
                        <a:rPr lang="en-US" sz="2400" dirty="0" smtClean="0">
                          <a:solidFill>
                            <a:schemeClr val="bg1"/>
                          </a:solidFill>
                          <a:latin typeface="Times New Roman" panose="02020603050405020304" pitchFamily="18" charset="0"/>
                          <a:cs typeface="Times New Roman" panose="02020603050405020304" pitchFamily="18" charset="0"/>
                          <a:sym typeface="+mn-ea"/>
                        </a:rPr>
                        <a:t> Azad</a:t>
                      </a:r>
                      <a:endParaRPr lang="en-US" sz="2400" b="1" dirty="0" smtClean="0">
                        <a:solidFill>
                          <a:schemeClr val="bg1"/>
                        </a:solidFill>
                        <a:latin typeface="Times New Roman" panose="02020603050405020304" pitchFamily="18" charset="0"/>
                        <a:cs typeface="Times New Roman" panose="02020603050405020304" pitchFamily="18" charset="0"/>
                      </a:endParaRPr>
                    </a:p>
                    <a:p>
                      <a:pPr>
                        <a:lnSpc>
                          <a:spcPct val="100000"/>
                        </a:lnSpc>
                        <a:defRPr/>
                      </a:pPr>
                      <a:r>
                        <a:rPr lang="en-US" sz="2400" b="1" dirty="0" smtClean="0">
                          <a:solidFill>
                            <a:schemeClr val="bg1"/>
                          </a:solidFill>
                          <a:latin typeface="Times New Roman" panose="02020603050405020304" pitchFamily="18" charset="0"/>
                          <a:cs typeface="Times New Roman" panose="02020603050405020304" pitchFamily="18" charset="0"/>
                        </a:rPr>
                        <a:t>Department of </a:t>
                      </a:r>
                      <a:r>
                        <a:rPr lang="en-US" sz="2400" dirty="0" smtClean="0">
                          <a:solidFill>
                            <a:schemeClr val="bg1"/>
                          </a:solidFill>
                          <a:latin typeface="Times New Roman" panose="02020603050405020304" pitchFamily="18" charset="0"/>
                          <a:cs typeface="Times New Roman" panose="02020603050405020304" pitchFamily="18" charset="0"/>
                          <a:sym typeface="+mn-ea"/>
                        </a:rPr>
                        <a:t>Computer Science &amp; Engineering</a:t>
                      </a:r>
                      <a:r>
                        <a:rPr lang="en-US" sz="2400" b="1" dirty="0" smtClean="0">
                          <a:solidFill>
                            <a:schemeClr val="bg1"/>
                          </a:solidFill>
                          <a:latin typeface="Times New Roman" panose="02020603050405020304" pitchFamily="18" charset="0"/>
                          <a:cs typeface="Times New Roman" panose="02020603050405020304" pitchFamily="18" charset="0"/>
                        </a:rPr>
                        <a:t>,</a:t>
                      </a:r>
                    </a:p>
                    <a:p>
                      <a:pPr algn="just">
                        <a:lnSpc>
                          <a:spcPct val="100000"/>
                        </a:lnSpc>
                        <a:defRPr/>
                      </a:pPr>
                      <a:r>
                        <a:rPr lang="en-US" sz="2400" b="1" dirty="0" err="1" smtClean="0">
                          <a:solidFill>
                            <a:schemeClr val="bg1"/>
                          </a:solidFill>
                          <a:latin typeface="Times New Roman" panose="02020603050405020304" pitchFamily="18" charset="0"/>
                          <a:cs typeface="Times New Roman" panose="02020603050405020304" pitchFamily="18" charset="0"/>
                        </a:rPr>
                        <a:t>Jahangirnagar</a:t>
                      </a:r>
                      <a:r>
                        <a:rPr lang="en-US" sz="2400" b="1" dirty="0" smtClean="0">
                          <a:solidFill>
                            <a:schemeClr val="bg1"/>
                          </a:solidFill>
                          <a:latin typeface="Times New Roman" panose="02020603050405020304" pitchFamily="18" charset="0"/>
                          <a:cs typeface="Times New Roman" panose="02020603050405020304" pitchFamily="18" charset="0"/>
                        </a:rPr>
                        <a:t> University</a:t>
                      </a:r>
                    </a:p>
                  </a:txBody>
                  <a:tcPr marL="91434" marR="91434" marT="45714" marB="45714">
                    <a:noFill/>
                  </a:tcPr>
                </a:tc>
              </a:tr>
            </a:tbl>
          </a:graphicData>
        </a:graphic>
      </p:graphicFrame>
      <p:pic>
        <p:nvPicPr>
          <p:cNvPr id="14349" name="Picture 6"/>
          <p:cNvPicPr>
            <a:picLocks noChangeAspect="1"/>
          </p:cNvPicPr>
          <p:nvPr/>
        </p:nvPicPr>
        <p:blipFill>
          <a:blip r:embed="rId3"/>
          <a:stretch>
            <a:fillRect/>
          </a:stretch>
        </p:blipFill>
        <p:spPr>
          <a:xfrm>
            <a:off x="396875" y="144463"/>
            <a:ext cx="5757863" cy="923925"/>
          </a:xfrm>
          <a:prstGeom prst="rect">
            <a:avLst/>
          </a:prstGeom>
          <a:noFill/>
          <a:ln w="9525">
            <a:noFill/>
          </a:ln>
        </p:spPr>
      </p:pic>
      <p:sp>
        <p:nvSpPr>
          <p:cNvPr id="5" name="Text Box 4"/>
          <p:cNvSpPr txBox="1"/>
          <p:nvPr/>
        </p:nvSpPr>
        <p:spPr>
          <a:xfrm>
            <a:off x="422275" y="1266825"/>
            <a:ext cx="8416925" cy="1707515"/>
          </a:xfrm>
          <a:prstGeom prst="rect">
            <a:avLst/>
          </a:prstGeom>
          <a:noFill/>
        </p:spPr>
        <p:txBody>
          <a:bodyPr wrap="square" rtlCol="0">
            <a:noAutofit/>
          </a:bodyPr>
          <a:lstStyle/>
          <a:p>
            <a:pPr algn="ctr">
              <a:lnSpc>
                <a:spcPct val="120000"/>
              </a:lnSpc>
            </a:pPr>
            <a:r>
              <a:rPr lang="en-US" sz="2800" b="1" dirty="0" smtClean="0">
                <a:solidFill>
                  <a:schemeClr val="bg1"/>
                </a:solidFill>
                <a:latin typeface="Times New Roman" panose="02020603050405020304" pitchFamily="18" charset="0"/>
                <a:cs typeface="Times New Roman" panose="02020603050405020304" pitchFamily="18" charset="0"/>
              </a:rPr>
              <a:t>STUDY </a:t>
            </a:r>
            <a:r>
              <a:rPr lang="en-US" sz="2800" b="1" dirty="0">
                <a:solidFill>
                  <a:schemeClr val="bg1"/>
                </a:solidFill>
                <a:latin typeface="Times New Roman" panose="02020603050405020304" pitchFamily="18" charset="0"/>
                <a:cs typeface="Times New Roman" panose="02020603050405020304" pitchFamily="18" charset="0"/>
              </a:rPr>
              <a:t>ON DESIGN AND DEVELOPMENT OF </a:t>
            </a:r>
            <a:r>
              <a:rPr lang="en-US" sz="2800" b="1" dirty="0" smtClean="0">
                <a:solidFill>
                  <a:schemeClr val="bg1"/>
                </a:solidFill>
                <a:latin typeface="Times New Roman" panose="02020603050405020304" pitchFamily="18" charset="0"/>
                <a:cs typeface="Times New Roman" panose="02020603050405020304" pitchFamily="18" charset="0"/>
              </a:rPr>
              <a:t>BANGAMATA HALL </a:t>
            </a:r>
            <a:r>
              <a:rPr lang="en-US" sz="2800" b="1" dirty="0" smtClean="0">
                <a:solidFill>
                  <a:schemeClr val="bg1"/>
                </a:solidFill>
                <a:latin typeface="Times New Roman" panose="02020603050405020304" pitchFamily="18" charset="0"/>
                <a:cs typeface="Times New Roman" panose="02020603050405020304" pitchFamily="18" charset="0"/>
              </a:rPr>
              <a:t>MANAGEMENT </a:t>
            </a:r>
            <a:r>
              <a:rPr lang="en-US" sz="2800" b="1" dirty="0">
                <a:solidFill>
                  <a:schemeClr val="bg1"/>
                </a:solidFill>
                <a:latin typeface="Times New Roman" panose="02020603050405020304" pitchFamily="18" charset="0"/>
                <a:cs typeface="Times New Roman" panose="02020603050405020304" pitchFamily="18" charset="0"/>
              </a:rPr>
              <a:t>SYSTEM</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idx="1"/>
          </p:nvPr>
        </p:nvSpPr>
        <p:spPr>
          <a:xfrm>
            <a:off x="0" y="1796415"/>
            <a:ext cx="4780915" cy="4711700"/>
          </a:xfrm>
        </p:spPr>
        <p:txBody>
          <a:bodyPr vert="horz" wrap="square" lIns="91440" tIns="45720" rIns="91440" bIns="45720" numCol="1" anchor="t" anchorCtr="0" compatLnSpc="1">
            <a:normAutofit fontScale="90000" lnSpcReduction="20000"/>
          </a:bodyPr>
          <a:lstStyle/>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Tools </a:t>
            </a: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And Technology</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Working Process Flowchart</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3000" b="1" noProof="0" dirty="0" smtClean="0">
                <a:ln>
                  <a:noFill/>
                </a:ln>
                <a:effectLst/>
                <a:uLnTx/>
                <a:uFillTx/>
                <a:latin typeface="Times New Roman" panose="02020603050405020304" pitchFamily="18" charset="0"/>
                <a:cs typeface="Times New Roman" panose="02020603050405020304" pitchFamily="18" charset="0"/>
                <a:sym typeface="+mn-ea"/>
              </a:rPr>
              <a:t>Use Case Diagram</a:t>
            </a:r>
            <a:endParaRPr kumimoji="0" lang="en-CA" sz="30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Data </a:t>
            </a: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Flow </a:t>
            </a:r>
            <a:r>
              <a:rPr kumimoji="0" lang="en-US" sz="30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Diagram</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ER Diagram</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MVC Structure</a:t>
            </a:r>
          </a:p>
          <a:p>
            <a:pPr marL="914400" marR="0" lvl="1"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21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Model Files</a:t>
            </a:r>
          </a:p>
          <a:p>
            <a:pPr marL="914400" marR="0" lvl="1"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21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View Files</a:t>
            </a:r>
          </a:p>
          <a:p>
            <a:pPr marL="914400" marR="0" lvl="1"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21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Controller Files</a:t>
            </a: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US" sz="2800" b="0" i="0" u="none" strike="noStrike" kern="1200" cap="none" spc="0" normalizeH="0" baseline="0" noProof="0" dirty="0" smtClean="0">
              <a:ln>
                <a:noFill/>
              </a:ln>
              <a:solidFill>
                <a:schemeClr val="bg2">
                  <a:lumMod val="25000"/>
                </a:schemeClr>
              </a:solidFill>
              <a:effectLst/>
              <a:uLnTx/>
              <a:uFillTx/>
              <a:latin typeface="+mn-lt"/>
              <a:ea typeface="+mn-ea"/>
              <a:cs typeface="+mn-cs"/>
            </a:endParaRP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CA" sz="2800" b="0" i="0" u="none" strike="noStrike" kern="1200" cap="none" spc="0" normalizeH="0" baseline="0" noProof="0" dirty="0" smtClean="0">
              <a:ln>
                <a:noFill/>
              </a:ln>
              <a:solidFill>
                <a:schemeClr val="bg2">
                  <a:lumMod val="25000"/>
                </a:schemeClr>
              </a:solidFill>
              <a:effectLst/>
              <a:uLnTx/>
              <a:uFillTx/>
              <a:latin typeface="Garamond" panose="02020404030301010803" pitchFamily="18" charset="0"/>
              <a:ea typeface="+mn-ea"/>
              <a:cs typeface="+mn-cs"/>
            </a:endParaRPr>
          </a:p>
        </p:txBody>
      </p:sp>
      <p:sp>
        <p:nvSpPr>
          <p:cNvPr id="15363" name="Title 2"/>
          <p:cNvSpPr>
            <a:spLocks noGrp="1"/>
          </p:cNvSpPr>
          <p:nvPr>
            <p:ph type="title"/>
          </p:nvPr>
        </p:nvSpPr>
        <p:spPr>
          <a:xfrm>
            <a:off x="1066800" y="304800"/>
            <a:ext cx="7918450" cy="990600"/>
          </a:xfrm>
        </p:spPr>
        <p:txBody>
          <a:bodyPr vert="horz" wrap="square" lIns="91440" tIns="45720" rIns="91440" bIns="45720" anchor="ctr" anchorCtr="0"/>
          <a:lstStyle/>
          <a:p>
            <a:r>
              <a:rPr lang="en-US" altLang="en-CA" sz="4000" kern="1200" dirty="0">
                <a:solidFill>
                  <a:srgbClr val="FFFFFF"/>
                </a:solidFill>
                <a:latin typeface="+mj-lt"/>
                <a:ea typeface="+mj-ea"/>
                <a:cs typeface="+mj-cs"/>
              </a:rPr>
              <a:t>Outline</a:t>
            </a:r>
            <a:r>
              <a:rPr lang="en-CA" altLang="x-none" sz="4000" kern="1200" dirty="0">
                <a:solidFill>
                  <a:srgbClr val="FFFFFF"/>
                </a:solidFill>
                <a:latin typeface="+mj-lt"/>
                <a:ea typeface="+mj-ea"/>
                <a:cs typeface="+mj-cs"/>
              </a:rPr>
              <a:t> </a:t>
            </a:r>
          </a:p>
        </p:txBody>
      </p:sp>
      <p:sp>
        <p:nvSpPr>
          <p:cNvPr id="1536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GB" altLang="x-none" sz="2400" b="1" dirty="0">
                <a:solidFill>
                  <a:srgbClr val="FFFFFF"/>
                </a:solidFill>
              </a:rPr>
              <a:t>1</a:t>
            </a:r>
            <a:endParaRPr sz="2400" b="1" dirty="0">
              <a:solidFill>
                <a:srgbClr val="FFFFFF"/>
              </a:solidFill>
            </a:endParaRPr>
          </a:p>
        </p:txBody>
      </p:sp>
      <p:sp>
        <p:nvSpPr>
          <p:cNvPr id="5" name="Text Placeholder 1"/>
          <p:cNvSpPr txBox="1"/>
          <p:nvPr/>
        </p:nvSpPr>
        <p:spPr bwMode="auto">
          <a:xfrm>
            <a:off x="4726305" y="1796415"/>
            <a:ext cx="4472305" cy="45237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Autofit/>
          </a:bodyPr>
          <a:lstStyle>
            <a:lvl1pPr marL="0" indent="0" algn="l" rtl="0" eaLnBrk="0" fontAlgn="base" hangingPunct="0">
              <a:spcBef>
                <a:spcPts val="700"/>
              </a:spcBef>
              <a:spcAft>
                <a:spcPct val="0"/>
              </a:spcAft>
              <a:buClr>
                <a:schemeClr val="accent2"/>
              </a:buClr>
              <a:buSzPct val="60000"/>
              <a:buFont typeface="Wingdings" panose="05000000000000000000" pitchFamily="2" charset="2"/>
              <a:buNone/>
              <a:defRPr sz="2400" kern="1200">
                <a:solidFill>
                  <a:schemeClr val="bg2">
                    <a:lumMod val="25000"/>
                  </a:schemeClr>
                </a:solidFill>
                <a:latin typeface="+mn-lt"/>
                <a:ea typeface="+mn-ea"/>
                <a:cs typeface="+mn-cs"/>
              </a:defRPr>
            </a:lvl1pPr>
            <a:lvl2pPr marL="640080" indent="-273050" algn="l" rtl="0" eaLnBrk="0" fontAlgn="base" hangingPunct="0">
              <a:spcBef>
                <a:spcPts val="550"/>
              </a:spcBef>
              <a:spcAft>
                <a:spcPct val="0"/>
              </a:spcAft>
              <a:buClr>
                <a:schemeClr val="accent1"/>
              </a:buClr>
              <a:buSzPct val="70000"/>
              <a:buFont typeface="Wingdings 2" panose="05020102010507070707" pitchFamily="18" charset="2"/>
              <a:buNone/>
              <a:defRPr sz="1800" kern="1200">
                <a:solidFill>
                  <a:schemeClr val="tx1">
                    <a:tint val="75000"/>
                  </a:schemeClr>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None/>
              <a:defRPr sz="1600" kern="1200">
                <a:solidFill>
                  <a:schemeClr val="tx1">
                    <a:tint val="75000"/>
                  </a:schemeClr>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None/>
              <a:defRPr sz="1400" kern="1200">
                <a:solidFill>
                  <a:schemeClr val="tx1">
                    <a:tint val="75000"/>
                  </a:schemeClr>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None/>
              <a:defRPr sz="1400" kern="1200">
                <a:solidFill>
                  <a:schemeClr val="tx1">
                    <a:tint val="75000"/>
                  </a:schemeClr>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a:lstStyle>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Database Table Structure</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GUI - Graphical User Interface</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User Access Control</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Function and </a:t>
            </a:r>
            <a:r>
              <a:rPr lang="en-US" sz="2700" b="1" noProof="0" dirty="0" smtClean="0">
                <a:ln>
                  <a:noFill/>
                </a:ln>
                <a:effectLst/>
                <a:uLnTx/>
                <a:uFillTx/>
                <a:latin typeface="Times New Roman" panose="02020603050405020304" pitchFamily="18" charset="0"/>
                <a:cs typeface="Times New Roman" panose="02020603050405020304" pitchFamily="18" charset="0"/>
                <a:sym typeface="+mn-ea"/>
              </a:rPr>
              <a:t>Modules</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Project Demo screenshot</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Results &amp; Report</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Conclusion</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Future Work</a:t>
            </a:r>
            <a:endParaRPr kumimoji="0" lang="en-CA" sz="27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endParaRPr>
          </a:p>
          <a:p>
            <a:pPr marL="571500" marR="0" lvl="0" indent="-571500" algn="l" defTabSz="914400" rtl="0" eaLnBrk="0" fontAlgn="base" latinLnBrk="0" hangingPunct="0">
              <a:lnSpc>
                <a:spcPct val="100000"/>
              </a:lnSpc>
              <a:spcBef>
                <a:spcPts val="700"/>
              </a:spcBef>
              <a:spcAft>
                <a:spcPct val="0"/>
              </a:spcAft>
              <a:buClr>
                <a:schemeClr val="accent2"/>
              </a:buClr>
              <a:buSzPct val="60000"/>
              <a:buFont typeface="Arial" panose="020B0604020202020204" pitchFamily="34" charset="0"/>
              <a:buChar char="•"/>
              <a:defRPr/>
            </a:pPr>
            <a:endParaRPr kumimoji="0" lang="en-CA" sz="1800" b="1"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advClick="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888490"/>
            <a:ext cx="8458200" cy="4969510"/>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altLang="en-GB" sz="2000" dirty="0" smtClean="0">
                <a:latin typeface="Times New Roman" panose="02020603050405020304" pitchFamily="18" charset="0"/>
                <a:cs typeface="Times New Roman" panose="02020603050405020304" pitchFamily="18" charset="0"/>
              </a:rPr>
              <a:t>The University Hall Management Web App is </a:t>
            </a:r>
            <a:r>
              <a:rPr lang="en-US" altLang="en-GB" sz="2000" dirty="0" smtClean="0">
                <a:latin typeface="Times New Roman" panose="02020603050405020304" pitchFamily="18" charset="0"/>
                <a:cs typeface="Times New Roman" panose="02020603050405020304" pitchFamily="18" charset="0"/>
              </a:rPr>
              <a:t>designed and developed </a:t>
            </a:r>
            <a:r>
              <a:rPr lang="en-US" altLang="en-GB" sz="2000" dirty="0" smtClean="0">
                <a:latin typeface="Times New Roman" panose="02020603050405020304" pitchFamily="18" charset="0"/>
                <a:cs typeface="Times New Roman" panose="02020603050405020304" pitchFamily="18" charset="0"/>
              </a:rPr>
              <a:t>to facilitate </a:t>
            </a:r>
            <a:r>
              <a:rPr lang="en-US" altLang="en-GB" sz="2000" dirty="0" smtClean="0">
                <a:latin typeface="Times New Roman" panose="02020603050405020304" pitchFamily="18" charset="0"/>
                <a:cs typeface="Times New Roman" panose="02020603050405020304" pitchFamily="18" charset="0"/>
              </a:rPr>
              <a:t>the overall </a:t>
            </a:r>
            <a:r>
              <a:rPr lang="en-US" altLang="en-GB" sz="2000" dirty="0" smtClean="0">
                <a:latin typeface="Times New Roman" panose="02020603050405020304" pitchFamily="18" charset="0"/>
                <a:cs typeface="Times New Roman" panose="02020603050405020304" pitchFamily="18" charset="0"/>
              </a:rPr>
              <a:t>management of university hall, room allocation, student registration, </a:t>
            </a:r>
            <a:r>
              <a:rPr lang="en-US" altLang="en-GB" sz="2000" dirty="0" smtClean="0">
                <a:latin typeface="Times New Roman" panose="02020603050405020304" pitchFamily="18" charset="0"/>
                <a:cs typeface="Times New Roman" panose="02020603050405020304" pitchFamily="18" charset="0"/>
              </a:rPr>
              <a:t>maintenance tracking</a:t>
            </a:r>
            <a:r>
              <a:rPr lang="en-US" altLang="en-GB" sz="2000" dirty="0" smtClean="0">
                <a:latin typeface="Times New Roman" panose="02020603050405020304" pitchFamily="18" charset="0"/>
                <a:cs typeface="Times New Roman" panose="02020603050405020304" pitchFamily="18" charset="0"/>
              </a:rPr>
              <a:t>. It is intended to develop a user-friendly and scalable web application that meets </a:t>
            </a:r>
            <a:r>
              <a:rPr lang="en-US" altLang="en-GB" sz="2000" dirty="0" smtClean="0">
                <a:latin typeface="Times New Roman" panose="02020603050405020304" pitchFamily="18" charset="0"/>
                <a:cs typeface="Times New Roman" panose="02020603050405020304" pitchFamily="18" charset="0"/>
              </a:rPr>
              <a:t>the unique requirements </a:t>
            </a:r>
            <a:r>
              <a:rPr lang="en-US" altLang="en-GB" sz="2000" dirty="0" smtClean="0">
                <a:latin typeface="Times New Roman" panose="02020603050405020304" pitchFamily="18" charset="0"/>
                <a:cs typeface="Times New Roman" panose="02020603050405020304" pitchFamily="18" charset="0"/>
              </a:rPr>
              <a:t>of university hall </a:t>
            </a:r>
            <a:r>
              <a:rPr lang="en-US" altLang="en-GB" sz="2000" dirty="0" smtClean="0">
                <a:latin typeface="Times New Roman" panose="02020603050405020304" pitchFamily="18" charset="0"/>
                <a:cs typeface="Times New Roman" panose="02020603050405020304" pitchFamily="18" charset="0"/>
              </a:rPr>
              <a:t>management.</a:t>
            </a:r>
            <a:endParaRPr kumimoji="0" lang="en-US" altLang="en-GB"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ts val="700"/>
              </a:spcBef>
              <a:spcAft>
                <a:spcPct val="0"/>
              </a:spcAft>
              <a:buClr>
                <a:schemeClr val="accent2"/>
              </a:buClr>
              <a:buSzPct val="145000"/>
              <a:buFont typeface="Arial" panose="020B0604020202020204" pitchFamily="34" charset="0"/>
              <a:buChar char="•"/>
              <a:defRPr/>
            </a:pPr>
            <a:r>
              <a:rPr kumimoji="0" lang="en-US" altLang="en-GB" sz="2000" b="0"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This </a:t>
            </a:r>
            <a:r>
              <a:rPr kumimoji="0" lang="en-US" altLang="en-GB"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web-based </a:t>
            </a:r>
            <a:r>
              <a:rPr kumimoji="0" lang="en-US" altLang="en-GB" sz="2000" b="0"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system can keep all residential</a:t>
            </a:r>
            <a:r>
              <a:rPr kumimoji="0" lang="en-US" altLang="en-GB" sz="2000" b="0" i="0" u="none" strike="noStrike" kern="1200" cap="none" spc="0" normalizeH="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 </a:t>
            </a:r>
            <a:r>
              <a:rPr kumimoji="0" lang="en-US" altLang="en-GB" sz="2000" b="0" i="0" u="none" strike="noStrike" kern="1200" cap="none" spc="0" normalizeH="0" baseline="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student records,</a:t>
            </a:r>
            <a:r>
              <a:rPr kumimoji="0" lang="en-US" altLang="en-GB" sz="2000" b="0" i="0" u="none" strike="noStrike" kern="1200" cap="none" spc="0" normalizeH="0" noProof="0" dirty="0" smtClean="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 allocate/de-allocate room seats, can collect establishment charge with proper audit trail. Also, the application has admin control who can add, update staff, give permission, remove permission, deactivate staff, etc. </a:t>
            </a:r>
            <a:r>
              <a:rPr lang="en-US" altLang="en-GB" sz="2000" dirty="0" smtClean="0">
                <a:latin typeface="Times New Roman" panose="02020603050405020304" pitchFamily="18" charset="0"/>
                <a:cs typeface="Times New Roman" panose="02020603050405020304" pitchFamily="18" charset="0"/>
              </a:rPr>
              <a:t>Master data of the system is configurable from UI by the admin.</a:t>
            </a:r>
          </a:p>
          <a:p>
            <a:pPr marL="342900" marR="0" lvl="0" indent="-342900" algn="l" defTabSz="914400" rtl="0" eaLnBrk="0" fontAlgn="base" latinLnBrk="0" hangingPunct="0">
              <a:lnSpc>
                <a:spcPct val="100000"/>
              </a:lnSpc>
              <a:spcBef>
                <a:spcPts val="700"/>
              </a:spcBef>
              <a:spcAft>
                <a:spcPct val="0"/>
              </a:spcAft>
              <a:buClr>
                <a:schemeClr val="accent2"/>
              </a:buClr>
              <a:buSzPct val="145000"/>
              <a:buFont typeface="Arial" panose="020B0604020202020204" pitchFamily="34" charset="0"/>
              <a:buChar char="•"/>
              <a:defRPr/>
            </a:pPr>
            <a:r>
              <a:rPr lang="en-US" altLang="en-GB" sz="2000" dirty="0" smtClean="0">
                <a:latin typeface="Times New Roman" panose="02020603050405020304" pitchFamily="18" charset="0"/>
                <a:cs typeface="Times New Roman" panose="02020603050405020304" pitchFamily="18" charset="0"/>
              </a:rPr>
              <a:t>Student can visit their own information with default password. There is also mechanism for information security and credential management.</a:t>
            </a:r>
          </a:p>
          <a:p>
            <a:pPr marL="342900" marR="0" lvl="0" indent="-342900" algn="l" defTabSz="914400" rtl="0" eaLnBrk="0" fontAlgn="base" latinLnBrk="0" hangingPunct="0">
              <a:lnSpc>
                <a:spcPct val="100000"/>
              </a:lnSpc>
              <a:spcBef>
                <a:spcPts val="700"/>
              </a:spcBef>
              <a:spcAft>
                <a:spcPct val="0"/>
              </a:spcAft>
              <a:buClr>
                <a:schemeClr val="accent2"/>
              </a:buClr>
              <a:buSzPct val="145000"/>
              <a:buFont typeface="Arial" panose="020B0604020202020204" pitchFamily="34" charset="0"/>
              <a:buChar char="•"/>
              <a:defRPr/>
            </a:pPr>
            <a:r>
              <a:rPr lang="en-US" altLang="en-GB" sz="2000" dirty="0" smtClean="0">
                <a:latin typeface="Times New Roman" panose="02020603050405020304" pitchFamily="18" charset="0"/>
                <a:cs typeface="Times New Roman" panose="02020603050405020304" pitchFamily="18" charset="0"/>
              </a:rPr>
              <a:t>The system has been developed using C#, MVC, .NET Core 6, and repository pattern with backend MSSQL Database.</a:t>
            </a:r>
            <a:endParaRPr kumimoji="0" lang="en-US" sz="2000" b="0" i="0" u="none" strike="noStrike" kern="1200" cap="none" spc="0" normalizeH="0" baseline="0" noProof="0" dirty="0" smtClean="0">
              <a:ln>
                <a:noFill/>
              </a:ln>
              <a:solidFill>
                <a:schemeClr val="bg2">
                  <a:lumMod val="25000"/>
                </a:schemeClr>
              </a:solidFill>
              <a:effectLst/>
              <a:uLnTx/>
              <a:uFillTx/>
              <a:latin typeface="+mn-lt"/>
              <a:ea typeface="+mn-ea"/>
              <a:cs typeface="+mn-cs"/>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sz="4000" kern="1200" dirty="0">
                <a:solidFill>
                  <a:srgbClr val="FFFFFF"/>
                </a:solidFill>
                <a:latin typeface="+mj-lt"/>
                <a:ea typeface="+mj-ea"/>
                <a:cs typeface="+mj-cs"/>
              </a:rPr>
              <a:t>Introduction</a:t>
            </a:r>
            <a:endParaRPr lang="en-CA"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sz="2400" b="1" dirty="0">
                <a:solidFill>
                  <a:srgbClr val="FFFFFF"/>
                </a:solidFill>
              </a:rPr>
              <a:t>2</a:t>
            </a:r>
          </a:p>
        </p:txBody>
      </p:sp>
    </p:spTree>
  </p:cSld>
  <p:clrMapOvr>
    <a:masterClrMapping/>
  </p:clrMapOvr>
  <p:transition advClick="0">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Placeholder 2"/>
          <p:cNvSpPr>
            <a:spLocks noGrp="1"/>
          </p:cNvSpPr>
          <p:nvPr>
            <p:ph type="body" idx="1"/>
          </p:nvPr>
        </p:nvSpPr>
        <p:spPr>
          <a:xfrm>
            <a:off x="372533" y="3782060"/>
            <a:ext cx="4826000" cy="3075940"/>
          </a:xfrm>
        </p:spPr>
        <p:txBody>
          <a:bodyPr vert="horz" wrap="square" lIns="91440" tIns="45720" rIns="91440" bIns="45720" numCol="1" anchor="t" anchorCtr="0" compatLnSpc="1">
            <a:noAutofit/>
          </a:bodyPr>
          <a:lstStyle/>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smtClean="0">
                <a:latin typeface="Times New Roman" panose="02020603050405020304" pitchFamily="18" charset="0"/>
                <a:cs typeface="CIDFont+F3" charset="0"/>
                <a:sym typeface="+mn-ea"/>
              </a:rPr>
              <a:t>Student Info Add/Update,</a:t>
            </a:r>
            <a:endParaRPr lang="en-US" sz="2000" dirty="0">
              <a:latin typeface="Times New Roman" panose="02020603050405020304" pitchFamily="18" charset="0"/>
              <a:cs typeface="CIDFont+F3" charset="0"/>
              <a:sym typeface="+mn-ea"/>
            </a:endParaRP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smtClean="0">
                <a:latin typeface="Times New Roman" panose="02020603050405020304" pitchFamily="18" charset="0"/>
                <a:cs typeface="CIDFont+F3" charset="0"/>
                <a:sym typeface="+mn-ea"/>
              </a:rPr>
              <a:t>Allocate/de-allocate seat, </a:t>
            </a:r>
            <a:endParaRPr lang="en-US" sz="2000" dirty="0">
              <a:latin typeface="Times New Roman" panose="02020603050405020304" pitchFamily="18" charset="0"/>
              <a:cs typeface="CIDFont+F3" charset="0"/>
              <a:sym typeface="+mn-ea"/>
            </a:endParaRP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smtClean="0">
                <a:latin typeface="Times New Roman" panose="02020603050405020304" pitchFamily="18" charset="0"/>
                <a:cs typeface="CIDFont+F3" charset="0"/>
                <a:sym typeface="+mn-ea"/>
              </a:rPr>
              <a:t>Yearly establishment charge collect from student,</a:t>
            </a:r>
            <a:endParaRPr lang="en-US" sz="2000" dirty="0">
              <a:latin typeface="Times New Roman" panose="02020603050405020304" pitchFamily="18" charset="0"/>
              <a:cs typeface="CIDFont+F3" charset="0"/>
              <a:sym typeface="+mn-ea"/>
            </a:endParaRP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smtClean="0">
                <a:latin typeface="Times New Roman" panose="02020603050405020304" pitchFamily="18" charset="0"/>
                <a:cs typeface="CIDFont+F3" charset="0"/>
                <a:sym typeface="+mn-ea"/>
              </a:rPr>
              <a:t> Hall Officials Add/Update,</a:t>
            </a:r>
            <a:endParaRPr lang="en-US" sz="2000" dirty="0">
              <a:latin typeface="Times New Roman" panose="02020603050405020304" pitchFamily="18" charset="0"/>
              <a:cs typeface="CIDFont+F3" charset="0"/>
              <a:sym typeface="+mn-ea"/>
            </a:endParaRP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smtClean="0">
                <a:latin typeface="Times New Roman" panose="02020603050405020304" pitchFamily="18" charset="0"/>
                <a:cs typeface="CIDFont+F3" charset="0"/>
                <a:sym typeface="+mn-ea"/>
              </a:rPr>
              <a:t>System User Credentials Management</a:t>
            </a:r>
          </a:p>
          <a:p>
            <a:pPr marL="365760" indent="-365760">
              <a:spcBef>
                <a:spcPts val="600"/>
              </a:spcBef>
              <a:buSzPct val="100000"/>
              <a:buFont typeface="+mj-lt"/>
              <a:buAutoNum type="romanLcPeriod"/>
              <a:defRPr/>
            </a:pPr>
            <a:r>
              <a:rPr lang="en-US" sz="2000" dirty="0" smtClean="0">
                <a:latin typeface="Times New Roman" panose="02020603050405020304" pitchFamily="18" charset="0"/>
                <a:cs typeface="CIDFont+F3" charset="0"/>
                <a:sym typeface="+mn-ea"/>
              </a:rPr>
              <a:t>Master data configure from UI by admin user,</a:t>
            </a: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endParaRPr kumimoji="0" lang="en-US" sz="2000" b="1" i="0" u="none" strike="noStrike" kern="1200" cap="none" spc="0" normalizeH="0" baseline="0" noProof="0" dirty="0" smtClean="0">
              <a:ln>
                <a:noFill/>
              </a:ln>
              <a:solidFill>
                <a:srgbClr val="898989"/>
              </a:solidFill>
              <a:effectLst/>
              <a:uLnTx/>
              <a:uFillTx/>
              <a:latin typeface="Times New Roman" panose="02020603050405020304" pitchFamily="18" charset="0"/>
              <a:ea typeface="+mn-ea"/>
              <a:cs typeface="CIDFont+F3" charset="0"/>
              <a:sym typeface="+mn-ea"/>
            </a:endParaRPr>
          </a:p>
        </p:txBody>
      </p:sp>
      <p:sp>
        <p:nvSpPr>
          <p:cNvPr id="17411" name="Title 1"/>
          <p:cNvSpPr>
            <a:spLocks noGrp="1"/>
          </p:cNvSpPr>
          <p:nvPr>
            <p:ph type="title"/>
          </p:nvPr>
        </p:nvSpPr>
        <p:spPr>
          <a:xfrm>
            <a:off x="1066800" y="304800"/>
            <a:ext cx="7918450" cy="990600"/>
          </a:xfrm>
        </p:spPr>
        <p:txBody>
          <a:bodyPr vert="horz" wrap="square" lIns="91440" tIns="45720" rIns="91440" bIns="45720" anchor="ctr" anchorCtr="0"/>
          <a:lstStyle/>
          <a:p>
            <a:pPr eaLnBrk="1" hangingPunct="1"/>
            <a:r>
              <a:rPr lang="en-US" sz="4000">
                <a:sym typeface="+mn-ea"/>
              </a:rPr>
              <a:t>Objective Of The Project</a:t>
            </a:r>
            <a:endParaRPr sz="4000" kern="1200" dirty="0">
              <a:solidFill>
                <a:srgbClr val="FFFFFF"/>
              </a:solidFill>
              <a:latin typeface="+mj-lt"/>
              <a:ea typeface="+mj-ea"/>
              <a:cs typeface="+mj-cs"/>
            </a:endParaRPr>
          </a:p>
        </p:txBody>
      </p:sp>
      <p:sp>
        <p:nvSpPr>
          <p:cNvPr id="17412"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GB" altLang="x-none" sz="2400" b="1" dirty="0">
                <a:solidFill>
                  <a:srgbClr val="FFFFFF"/>
                </a:solidFill>
              </a:rPr>
              <a:t>3</a:t>
            </a:r>
            <a:endParaRPr sz="2400" b="1" dirty="0">
              <a:solidFill>
                <a:srgbClr val="FFFFFF"/>
              </a:solidFill>
            </a:endParaRPr>
          </a:p>
        </p:txBody>
      </p:sp>
      <p:sp>
        <p:nvSpPr>
          <p:cNvPr id="100" name="Text Box 99"/>
          <p:cNvSpPr txBox="1"/>
          <p:nvPr/>
        </p:nvSpPr>
        <p:spPr>
          <a:xfrm>
            <a:off x="454660" y="1536700"/>
            <a:ext cx="8380730" cy="2246769"/>
          </a:xfrm>
          <a:prstGeom prst="rect">
            <a:avLst/>
          </a:prstGeom>
          <a:noFill/>
          <a:ln w="9525">
            <a:noFill/>
          </a:ln>
        </p:spPr>
        <p:txBody>
          <a:bodyPr wrap="square">
            <a:spAutoFit/>
          </a:bodyPr>
          <a:lstStyle/>
          <a:p>
            <a:pPr marL="342900" indent="-342900" algn="just">
              <a:buFont typeface="Wingdings" panose="05000000000000000000" charset="0"/>
              <a:buChar char="Ø"/>
            </a:pPr>
            <a:r>
              <a:rPr lang="en-US" sz="2800" dirty="0">
                <a:latin typeface="Times New Roman" panose="02020603050405020304" pitchFamily="18" charset="0"/>
                <a:cs typeface="Calibri" panose="020F0502020204030204" charset="0"/>
              </a:rPr>
              <a:t>The main objective of this Implementation of </a:t>
            </a:r>
            <a:r>
              <a:rPr lang="en-US" sz="2800" dirty="0" err="1" smtClean="0">
                <a:latin typeface="Times New Roman" panose="02020603050405020304" pitchFamily="18" charset="0"/>
                <a:cs typeface="Calibri" panose="020F0502020204030204" charset="0"/>
              </a:rPr>
              <a:t>Bangamata</a:t>
            </a:r>
            <a:r>
              <a:rPr lang="en-US" sz="2800" dirty="0" smtClean="0">
                <a:latin typeface="Times New Roman" panose="02020603050405020304" pitchFamily="18" charset="0"/>
                <a:cs typeface="Calibri" panose="020F0502020204030204" charset="0"/>
              </a:rPr>
              <a:t> Hall Management </a:t>
            </a:r>
            <a:r>
              <a:rPr lang="en-US" sz="2800" dirty="0">
                <a:latin typeface="Times New Roman" panose="02020603050405020304" pitchFamily="18" charset="0"/>
                <a:cs typeface="Calibri" panose="020F0502020204030204" charset="0"/>
              </a:rPr>
              <a:t>System project is to design and implement for the easy to maintain, data accuracy, large data control, high availability and ensure security</a:t>
            </a:r>
            <a:r>
              <a:rPr lang="en-US" sz="2800" dirty="0" smtClean="0">
                <a:latin typeface="Times New Roman" panose="02020603050405020304" pitchFamily="18" charset="0"/>
                <a:cs typeface="Calibri" panose="020F0502020204030204" charset="0"/>
              </a:rPr>
              <a:t>. Here are the</a:t>
            </a:r>
            <a:r>
              <a:rPr lang="en-US" sz="2800" dirty="0" smtClean="0">
                <a:latin typeface="Times New Roman" panose="02020603050405020304" pitchFamily="18" charset="0"/>
                <a:cs typeface="Calibri" panose="020F0502020204030204" charset="0"/>
              </a:rPr>
              <a:t> f</a:t>
            </a:r>
            <a:r>
              <a:rPr lang="en-US" sz="2800" dirty="0" smtClean="0">
                <a:latin typeface="Times New Roman" panose="02020603050405020304" pitchFamily="18" charset="0"/>
                <a:cs typeface="Calibri" panose="020F0502020204030204" charset="0"/>
              </a:rPr>
              <a:t>eatures implemented:</a:t>
            </a:r>
            <a:endParaRPr lang="en-US" sz="2800" dirty="0">
              <a:latin typeface="Times New Roman" panose="02020603050405020304" pitchFamily="18" charset="0"/>
              <a:cs typeface="Calibri" panose="020F0502020204030204" charset="0"/>
            </a:endParaRPr>
          </a:p>
        </p:txBody>
      </p:sp>
      <p:sp>
        <p:nvSpPr>
          <p:cNvPr id="3" name="Text Box 2"/>
          <p:cNvSpPr txBox="1"/>
          <p:nvPr/>
        </p:nvSpPr>
        <p:spPr>
          <a:xfrm>
            <a:off x="5020733" y="3820369"/>
            <a:ext cx="4123267" cy="2868295"/>
          </a:xfrm>
          <a:prstGeom prst="rect">
            <a:avLst/>
          </a:prstGeom>
          <a:noFill/>
        </p:spPr>
        <p:txBody>
          <a:bodyPr wrap="square" rtlCol="0" anchor="t">
            <a:noAutofit/>
          </a:bodyPr>
          <a:lstStyle/>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dirty="0" smtClean="0">
                <a:solidFill>
                  <a:schemeClr val="bg2">
                    <a:lumMod val="25000"/>
                  </a:schemeClr>
                </a:solidFill>
                <a:latin typeface="Times New Roman" panose="02020603050405020304" pitchFamily="18" charset="0"/>
                <a:sym typeface="+mn-ea"/>
              </a:rPr>
              <a:t>Information Access to Student with default password,</a:t>
            </a:r>
          </a:p>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dirty="0" smtClean="0">
                <a:solidFill>
                  <a:schemeClr val="bg2">
                    <a:lumMod val="25000"/>
                  </a:schemeClr>
                </a:solidFill>
                <a:latin typeface="Times New Roman" panose="02020603050405020304" pitchFamily="18" charset="0"/>
                <a:sym typeface="+mn-ea"/>
              </a:rPr>
              <a:t>Dynamically menu accessibility by user role,</a:t>
            </a:r>
          </a:p>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dirty="0" smtClean="0">
                <a:solidFill>
                  <a:schemeClr val="bg2">
                    <a:lumMod val="25000"/>
                  </a:schemeClr>
                </a:solidFill>
                <a:latin typeface="Times New Roman" panose="02020603050405020304" pitchFamily="18" charset="0"/>
                <a:sym typeface="+mn-ea"/>
              </a:rPr>
              <a:t>Password recovery,</a:t>
            </a:r>
          </a:p>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noProof="0" dirty="0" smtClean="0">
                <a:ln>
                  <a:noFill/>
                </a:ln>
                <a:solidFill>
                  <a:schemeClr val="bg2">
                    <a:lumMod val="25000"/>
                  </a:schemeClr>
                </a:solidFill>
                <a:effectLst/>
                <a:uLnTx/>
                <a:uFillTx/>
                <a:latin typeface="Times New Roman" panose="02020603050405020304" pitchFamily="18" charset="0"/>
                <a:sym typeface="+mn-ea"/>
              </a:rPr>
              <a:t>Responsive design from mobile view.</a:t>
            </a:r>
            <a:endParaRPr lang="en-US" altLang="en-GB" sz="2000" noProof="0" dirty="0">
              <a:ln>
                <a:noFill/>
              </a:ln>
              <a:solidFill>
                <a:schemeClr val="bg2">
                  <a:lumMod val="25000"/>
                </a:schemeClr>
              </a:solidFill>
              <a:effectLst/>
              <a:uLnTx/>
              <a:uFillTx/>
              <a:latin typeface="+mn-lt"/>
              <a:sym typeface="+mn-ea"/>
            </a:endParaRPr>
          </a:p>
        </p:txBody>
      </p:sp>
    </p:spTree>
  </p:cSld>
  <p:clrMapOvr>
    <a:masterClrMapping/>
  </p:clrMapOvr>
  <p:transition advClick="0">
    <p:push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 Placeholder 44"/>
          <p:cNvSpPr>
            <a:spLocks noGrp="1"/>
          </p:cNvSpPr>
          <p:nvPr>
            <p:ph type="body" idx="1"/>
          </p:nvPr>
        </p:nvSpPr>
        <p:spPr>
          <a:xfrm>
            <a:off x="1066800" y="1447800"/>
            <a:ext cx="7696200" cy="5029200"/>
          </a:xfrm>
        </p:spPr>
        <p:txBody>
          <a:bodyPr vert="horz" wrap="square" lIns="91440" tIns="45720" rIns="91440" bIns="45720" numCol="1" anchor="t" anchorCtr="0" compatLnSpc="1">
            <a:normAutofit/>
          </a:bodyPr>
          <a:lstStyle/>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GB" sz="2400" b="0" i="0" u="none" strike="noStrike" kern="1200" cap="none" spc="0" normalizeH="0" baseline="0" noProof="0" dirty="0">
              <a:ln>
                <a:noFill/>
              </a:ln>
              <a:solidFill>
                <a:schemeClr val="bg2">
                  <a:lumMod val="25000"/>
                </a:schemeClr>
              </a:solidFill>
              <a:effectLst/>
              <a:uLnTx/>
              <a:uFillTx/>
              <a:latin typeface="+mn-lt"/>
              <a:ea typeface="+mn-ea"/>
              <a:cs typeface="+mn-cs"/>
            </a:endParaRP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US" sz="2400" b="0" i="0" u="none" strike="noStrike" kern="1200" cap="none" spc="0" normalizeH="0" baseline="0" noProof="0" dirty="0" smtClean="0">
              <a:ln>
                <a:noFill/>
              </a:ln>
              <a:solidFill>
                <a:schemeClr val="bg2">
                  <a:lumMod val="25000"/>
                </a:schemeClr>
              </a:solidFill>
              <a:effectLst/>
              <a:uLnTx/>
              <a:uFillTx/>
              <a:latin typeface="+mn-lt"/>
              <a:ea typeface="+mn-ea"/>
              <a:cs typeface="+mn-cs"/>
            </a:endParaRPr>
          </a:p>
        </p:txBody>
      </p:sp>
      <p:sp>
        <p:nvSpPr>
          <p:cNvPr id="20483" name="Title 1"/>
          <p:cNvSpPr>
            <a:spLocks noGrp="1"/>
          </p:cNvSpPr>
          <p:nvPr>
            <p:ph type="title"/>
          </p:nvPr>
        </p:nvSpPr>
        <p:spPr>
          <a:xfrm>
            <a:off x="1066800" y="304800"/>
            <a:ext cx="7918450" cy="990600"/>
          </a:xfrm>
        </p:spPr>
        <p:txBody>
          <a:bodyPr vert="horz" wrap="square" lIns="91440" tIns="45720" rIns="91440" bIns="45720" anchor="ctr" anchorCtr="0"/>
          <a:lstStyle/>
          <a:p>
            <a:pPr algn="ctr"/>
            <a:r>
              <a:rPr sz="4000" b="1" kern="1200" dirty="0">
                <a:solidFill>
                  <a:srgbClr val="FFFFFF"/>
                </a:solidFill>
                <a:latin typeface="+mj-lt"/>
                <a:ea typeface="+mj-ea"/>
                <a:cs typeface="+mj-cs"/>
              </a:rPr>
              <a:t/>
            </a:r>
            <a:br>
              <a:rPr sz="4000" b="1" kern="1200" dirty="0">
                <a:solidFill>
                  <a:srgbClr val="FFFFFF"/>
                </a:solidFill>
                <a:latin typeface="+mj-lt"/>
                <a:ea typeface="+mj-ea"/>
                <a:cs typeface="+mj-cs"/>
              </a:rPr>
            </a:br>
            <a:r>
              <a:rPr sz="4000" b="1" kern="1200" dirty="0">
                <a:solidFill>
                  <a:srgbClr val="FFFFFF"/>
                </a:solidFill>
                <a:latin typeface="+mj-lt"/>
                <a:ea typeface="+mj-ea"/>
                <a:cs typeface="+mj-cs"/>
              </a:rPr>
              <a:t/>
            </a:r>
            <a:br>
              <a:rPr sz="4000" b="1" kern="1200" dirty="0">
                <a:solidFill>
                  <a:srgbClr val="FFFFFF"/>
                </a:solidFill>
                <a:latin typeface="+mj-lt"/>
                <a:ea typeface="+mj-ea"/>
                <a:cs typeface="+mj-cs"/>
              </a:rPr>
            </a:br>
            <a:r>
              <a:rPr sz="4000" b="1" kern="1200" dirty="0">
                <a:solidFill>
                  <a:srgbClr val="FFFFFF"/>
                </a:solidFill>
                <a:latin typeface="+mj-lt"/>
                <a:ea typeface="+mj-ea"/>
                <a:cs typeface="+mj-cs"/>
              </a:rPr>
              <a:t>Tools And Technology</a:t>
            </a:r>
            <a:r>
              <a:rPr sz="4000" kern="1200" dirty="0">
                <a:solidFill>
                  <a:srgbClr val="FFFFFF"/>
                </a:solidFill>
                <a:latin typeface="+mj-lt"/>
                <a:ea typeface="+mj-ea"/>
                <a:cs typeface="+mj-cs"/>
              </a:rPr>
              <a:t/>
            </a:r>
            <a:br>
              <a:rPr sz="4000" kern="1200" dirty="0">
                <a:solidFill>
                  <a:srgbClr val="FFFFFF"/>
                </a:solidFill>
                <a:latin typeface="+mj-lt"/>
                <a:ea typeface="+mj-ea"/>
                <a:cs typeface="+mj-cs"/>
              </a:rPr>
            </a:br>
            <a:r>
              <a:rPr sz="4000" kern="1200" dirty="0">
                <a:solidFill>
                  <a:srgbClr val="FFFFFF"/>
                </a:solidFill>
                <a:latin typeface="+mj-lt"/>
                <a:ea typeface="+mj-ea"/>
                <a:cs typeface="+mj-cs"/>
              </a:rPr>
              <a:t/>
            </a:r>
            <a:br>
              <a:rPr sz="4000" kern="1200" dirty="0">
                <a:solidFill>
                  <a:srgbClr val="FFFFFF"/>
                </a:solidFill>
                <a:latin typeface="+mj-lt"/>
                <a:ea typeface="+mj-ea"/>
                <a:cs typeface="+mj-cs"/>
              </a:rPr>
            </a:br>
            <a:endParaRPr sz="4000" kern="1200" dirty="0">
              <a:solidFill>
                <a:srgbClr val="FFFFFF"/>
              </a:solidFill>
              <a:latin typeface="+mj-lt"/>
              <a:ea typeface="+mj-ea"/>
              <a:cs typeface="+mj-cs"/>
            </a:endParaRPr>
          </a:p>
        </p:txBody>
      </p:sp>
      <p:sp>
        <p:nvSpPr>
          <p:cNvPr id="2048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GB" altLang="x-none" sz="2400" b="1" dirty="0">
                <a:solidFill>
                  <a:srgbClr val="FFFFFF"/>
                </a:solidFill>
              </a:rPr>
              <a:t>6</a:t>
            </a:r>
            <a:endParaRPr sz="2400" b="1" dirty="0">
              <a:solidFill>
                <a:srgbClr val="FFFFFF"/>
              </a:solidFill>
            </a:endParaRPr>
          </a:p>
        </p:txBody>
      </p:sp>
      <p:sp>
        <p:nvSpPr>
          <p:cNvPr id="20485" name="Rectangle 7"/>
          <p:cNvSpPr/>
          <p:nvPr/>
        </p:nvSpPr>
        <p:spPr>
          <a:xfrm>
            <a:off x="0" y="0"/>
            <a:ext cx="9144000" cy="0"/>
          </a:xfrm>
          <a:prstGeom prst="rect">
            <a:avLst/>
          </a:prstGeom>
          <a:noFill/>
          <a:ln w="9525">
            <a:noFill/>
          </a:ln>
        </p:spPr>
        <p:txBody>
          <a:bodyPr wrap="none" anchor="ctr" anchorCtr="0">
            <a:spAutoFit/>
          </a:bodyPr>
          <a:lstStyle/>
          <a:p>
            <a:endParaRPr dirty="0">
              <a:latin typeface="Arial" panose="020B0604020202020204" pitchFamily="34" charset="0"/>
            </a:endParaRPr>
          </a:p>
        </p:txBody>
      </p:sp>
      <p:sp>
        <p:nvSpPr>
          <p:cNvPr id="100" name="Text Box 99"/>
          <p:cNvSpPr txBox="1"/>
          <p:nvPr/>
        </p:nvSpPr>
        <p:spPr>
          <a:xfrm>
            <a:off x="123190" y="1721485"/>
            <a:ext cx="9020810" cy="4755515"/>
          </a:xfrm>
          <a:prstGeom prst="rect">
            <a:avLst/>
          </a:prstGeom>
          <a:noFill/>
          <a:ln w="9525">
            <a:noFill/>
          </a:ln>
        </p:spPr>
        <p:txBody>
          <a:bodyPr>
            <a:noAutofit/>
          </a:bodyPr>
          <a:lstStyle/>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 Programming Languages:</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C#,</a:t>
            </a:r>
            <a:endParaRPr lang="en-US" sz="2500" dirty="0">
              <a:latin typeface="Times New Roman" panose="02020603050405020304" pitchFamily="18" charset="0"/>
              <a:cs typeface="Times New Roman" panose="02020603050405020304" pitchFamily="18" charset="0"/>
            </a:endParaRP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Framework:</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ASP.NET Core MVC, Repository Pattern,</a:t>
            </a:r>
            <a:endParaRPr lang="en-US" sz="2500" dirty="0">
              <a:latin typeface="Times New Roman" panose="02020603050405020304" pitchFamily="18" charset="0"/>
              <a:cs typeface="Times New Roman" panose="02020603050405020304" pitchFamily="18" charset="0"/>
            </a:endParaRP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Scripting Language:</a:t>
            </a:r>
            <a:r>
              <a:rPr lang="en-US" sz="2500" dirty="0">
                <a:latin typeface="Times New Roman" panose="02020603050405020304" pitchFamily="18" charset="0"/>
                <a:cs typeface="Times New Roman" panose="02020603050405020304" pitchFamily="18" charset="0"/>
              </a:rPr>
              <a:t> HTML5, CSS3, Bootstrap, JavaScript, </a:t>
            </a:r>
            <a:r>
              <a:rPr lang="en-US" sz="2500" dirty="0" err="1" smtClean="0">
                <a:latin typeface="Times New Roman" panose="02020603050405020304" pitchFamily="18" charset="0"/>
                <a:cs typeface="Times New Roman" panose="02020603050405020304" pitchFamily="18" charset="0"/>
              </a:rPr>
              <a:t>jQuery</a:t>
            </a:r>
            <a:r>
              <a:rPr lang="en-US" sz="2500" dirty="0" smtClean="0">
                <a:latin typeface="Times New Roman" panose="02020603050405020304" pitchFamily="18" charset="0"/>
                <a:cs typeface="Times New Roman" panose="02020603050405020304" pitchFamily="18" charset="0"/>
              </a:rPr>
              <a:t>,</a:t>
            </a:r>
            <a:endParaRPr lang="en-US" sz="2500" dirty="0">
              <a:latin typeface="Times New Roman" panose="02020603050405020304" pitchFamily="18" charset="0"/>
              <a:cs typeface="Times New Roman" panose="02020603050405020304" pitchFamily="18" charset="0"/>
            </a:endParaRP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Database:</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MSSQL,</a:t>
            </a:r>
            <a:endParaRPr lang="en-US" sz="2500" dirty="0">
              <a:latin typeface="Times New Roman" panose="02020603050405020304" pitchFamily="18" charset="0"/>
              <a:cs typeface="Times New Roman" panose="02020603050405020304" pitchFamily="18" charset="0"/>
            </a:endParaRP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Server:</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IIS,</a:t>
            </a:r>
            <a:endParaRPr lang="en-US" sz="2500" dirty="0">
              <a:latin typeface="Times New Roman" panose="02020603050405020304" pitchFamily="18" charset="0"/>
              <a:cs typeface="Times New Roman" panose="02020603050405020304" pitchFamily="18" charset="0"/>
            </a:endParaRP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API: </a:t>
            </a:r>
            <a:r>
              <a:rPr lang="en-US" sz="2500" dirty="0" smtClean="0">
                <a:latin typeface="Times New Roman" panose="02020603050405020304" pitchFamily="18" charset="0"/>
                <a:cs typeface="Times New Roman" panose="02020603050405020304" pitchFamily="18" charset="0"/>
              </a:rPr>
              <a:t>SMS/Email integration,</a:t>
            </a:r>
            <a:endParaRPr lang="en-US" sz="2500" dirty="0">
              <a:latin typeface="Times New Roman" panose="02020603050405020304" pitchFamily="18" charset="0"/>
              <a:cs typeface="Times New Roman" panose="02020603050405020304" pitchFamily="18" charset="0"/>
            </a:endParaRP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Tools:</a:t>
            </a:r>
            <a:r>
              <a:rPr lang="en-US" sz="2500" dirty="0">
                <a:latin typeface="Times New Roman" panose="02020603050405020304" pitchFamily="18" charset="0"/>
                <a:cs typeface="Times New Roman" panose="02020603050405020304" pitchFamily="18" charset="0"/>
              </a:rPr>
              <a:t> </a:t>
            </a:r>
            <a:r>
              <a:rPr lang="en-US" sz="2500" dirty="0" smtClean="0">
                <a:latin typeface="Times New Roman" panose="02020603050405020304" pitchFamily="18" charset="0"/>
                <a:cs typeface="Times New Roman" panose="02020603050405020304" pitchFamily="18" charset="0"/>
              </a:rPr>
              <a:t>MSSQL Server Management </a:t>
            </a:r>
            <a:r>
              <a:rPr lang="en-US" sz="2500" dirty="0" smtClean="0">
                <a:latin typeface="Times New Roman" panose="02020603050405020304" pitchFamily="18" charset="0"/>
                <a:cs typeface="Times New Roman" panose="02020603050405020304" pitchFamily="18" charset="0"/>
              </a:rPr>
              <a:t>Studio, Tortoise </a:t>
            </a:r>
            <a:r>
              <a:rPr lang="en-US" sz="2500" dirty="0" err="1" smtClean="0">
                <a:latin typeface="Times New Roman" panose="02020603050405020304" pitchFamily="18" charset="0"/>
                <a:cs typeface="Times New Roman" panose="02020603050405020304" pitchFamily="18" charset="0"/>
              </a:rPr>
              <a:t>git</a:t>
            </a:r>
            <a:r>
              <a:rPr lang="en-US" sz="2500" dirty="0" smtClean="0">
                <a:latin typeface="Times New Roman" panose="02020603050405020304" pitchFamily="18" charset="0"/>
                <a:cs typeface="Times New Roman" panose="02020603050405020304" pitchFamily="18" charset="0"/>
              </a:rPr>
              <a:t> client,</a:t>
            </a:r>
            <a:endParaRPr lang="en-US" sz="2500" dirty="0">
              <a:latin typeface="Times New Roman" panose="02020603050405020304" pitchFamily="18" charset="0"/>
              <a:cs typeface="Times New Roman" panose="02020603050405020304" pitchFamily="18" charset="0"/>
            </a:endParaRP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IDE:</a:t>
            </a:r>
            <a:r>
              <a:rPr lang="en-US" sz="2500" dirty="0">
                <a:latin typeface="Times New Roman" panose="02020603050405020304" pitchFamily="18" charset="0"/>
                <a:cs typeface="Times New Roman" panose="02020603050405020304" pitchFamily="18" charset="0"/>
              </a:rPr>
              <a:t> Visual Studio </a:t>
            </a:r>
            <a:r>
              <a:rPr lang="en-US" sz="2500" dirty="0" smtClean="0">
                <a:latin typeface="Times New Roman" panose="02020603050405020304" pitchFamily="18" charset="0"/>
                <a:cs typeface="Times New Roman" panose="02020603050405020304" pitchFamily="18" charset="0"/>
              </a:rPr>
              <a:t>2022</a:t>
            </a:r>
            <a:r>
              <a:rPr lang="en-US" sz="2500" dirty="0" smtClean="0">
                <a:latin typeface="Times New Roman" panose="02020603050405020304" pitchFamily="18" charset="0"/>
                <a:cs typeface="Times New Roman" panose="02020603050405020304" pitchFamily="18" charset="0"/>
              </a:rPr>
              <a:t>,</a:t>
            </a:r>
          </a:p>
          <a:p>
            <a:pPr marL="342900" indent="-342900">
              <a:lnSpc>
                <a:spcPct val="120000"/>
              </a:lnSpc>
              <a:spcBef>
                <a:spcPts val="0"/>
              </a:spcBef>
              <a:spcAft>
                <a:spcPts val="0"/>
              </a:spcAft>
              <a:buFont typeface="Arial" panose="020B0604020202020204" pitchFamily="34" charset="0"/>
              <a:buChar char="•"/>
            </a:pPr>
            <a:r>
              <a:rPr lang="en-US" sz="2500" b="1" dirty="0" smtClean="0">
                <a:latin typeface="Times New Roman" panose="02020603050405020304" pitchFamily="18" charset="0"/>
                <a:cs typeface="Times New Roman" panose="02020603050405020304" pitchFamily="18" charset="0"/>
              </a:rPr>
              <a:t>Version Control: </a:t>
            </a:r>
            <a:r>
              <a:rPr lang="en-US" sz="2500" dirty="0" err="1" smtClean="0">
                <a:latin typeface="Times New Roman" panose="02020603050405020304" pitchFamily="18" charset="0"/>
                <a:cs typeface="Times New Roman" panose="02020603050405020304" pitchFamily="18" charset="0"/>
              </a:rPr>
              <a:t>github</a:t>
            </a:r>
            <a:r>
              <a:rPr lang="en-US" sz="2500" dirty="0" smtClean="0">
                <a:latin typeface="Times New Roman" panose="02020603050405020304" pitchFamily="18" charset="0"/>
                <a:cs typeface="Times New Roman" panose="02020603050405020304" pitchFamily="18" charset="0"/>
              </a:rPr>
              <a:t>, </a:t>
            </a:r>
            <a:r>
              <a:rPr lang="en-US" sz="2500" dirty="0" err="1" smtClean="0">
                <a:latin typeface="Times New Roman" panose="02020603050405020304" pitchFamily="18" charset="0"/>
                <a:cs typeface="Times New Roman" panose="02020603050405020304" pitchFamily="18" charset="0"/>
              </a:rPr>
              <a:t>git</a:t>
            </a:r>
            <a:r>
              <a:rPr lang="en-US" sz="2500" dirty="0" smtClean="0">
                <a:latin typeface="Times New Roman" panose="02020603050405020304" pitchFamily="18" charset="0"/>
                <a:cs typeface="Times New Roman" panose="02020603050405020304" pitchFamily="18" charset="0"/>
              </a:rPr>
              <a:t>.</a:t>
            </a:r>
            <a:endParaRPr lang="en-US" sz="2500" b="1" dirty="0">
              <a:latin typeface="Times New Roman" panose="02020603050405020304" pitchFamily="18" charset="0"/>
              <a:cs typeface="Times New Roman" panose="02020603050405020304" pitchFamily="18" charset="0"/>
            </a:endParaRPr>
          </a:p>
        </p:txBody>
      </p:sp>
    </p:spTree>
  </p:cSld>
  <p:clrMapOvr>
    <a:masterClrMapping/>
  </p:clrMapOvr>
  <p:transition advClick="0">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66800" y="1447800"/>
            <a:ext cx="7696200" cy="5257800"/>
          </a:xfrm>
        </p:spPr>
        <p:txBody>
          <a:bodyPr vert="horz" wrap="square" lIns="91440" tIns="45720" rIns="91440" bIns="45720" numCol="1" anchor="t" anchorCtr="0" compatLnSpc="1">
            <a:normAutofit/>
          </a:bodyPr>
          <a:lstStyle/>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US" sz="2800" b="1" i="0" u="none" strike="noStrike" kern="1200" cap="none" spc="0" normalizeH="0" baseline="0" noProof="0" dirty="0" smtClean="0">
              <a:ln>
                <a:noFill/>
              </a:ln>
              <a:solidFill>
                <a:schemeClr val="bg2">
                  <a:lumMod val="25000"/>
                </a:schemeClr>
              </a:solidFill>
              <a:effectLst/>
              <a:uLnTx/>
              <a:uFillTx/>
              <a:latin typeface="Garamond" panose="02020404030301010803" pitchFamily="18" charset="0"/>
              <a:ea typeface="+mn-ea"/>
              <a:cs typeface="+mn-cs"/>
            </a:endParaRPr>
          </a:p>
          <a:p>
            <a:pPr marL="640080" marR="0" lvl="1" indent="-273050" algn="l" defTabSz="914400" rtl="0" eaLnBrk="0" fontAlgn="base" latinLnBrk="0" hangingPunct="0">
              <a:lnSpc>
                <a:spcPct val="100000"/>
              </a:lnSpc>
              <a:spcBef>
                <a:spcPts val="550"/>
              </a:spcBef>
              <a:spcAft>
                <a:spcPct val="0"/>
              </a:spcAft>
              <a:buClr>
                <a:schemeClr val="accent1"/>
              </a:buClr>
              <a:buSzPct val="70000"/>
              <a:buFont typeface="Wingdings" panose="05000000000000000000" pitchFamily="2" charset="2"/>
              <a:buChar char="Ø"/>
              <a:defRPr/>
            </a:pPr>
            <a:endParaRPr kumimoji="0" lang="en-US" sz="1800" b="0" i="0" u="none" strike="noStrike" kern="1200" cap="none" spc="0" normalizeH="0" baseline="0" noProof="0" dirty="0" smtClean="0">
              <a:ln>
                <a:noFill/>
              </a:ln>
              <a:solidFill>
                <a:schemeClr val="tx1">
                  <a:tint val="75000"/>
                </a:schemeClr>
              </a:solidFill>
              <a:effectLst/>
              <a:uLnTx/>
              <a:uFillTx/>
              <a:latin typeface="Garamond" panose="02020404030301010803" pitchFamily="18" charset="0"/>
              <a:ea typeface="+mn-ea"/>
              <a:cs typeface="+mn-cs"/>
            </a:endParaRPr>
          </a:p>
          <a:p>
            <a:pPr marL="367030" marR="0" lvl="1" indent="0" algn="l" defTabSz="914400" rtl="0" eaLnBrk="0" fontAlgn="base" latinLnBrk="0" hangingPunct="0">
              <a:lnSpc>
                <a:spcPct val="100000"/>
              </a:lnSpc>
              <a:spcBef>
                <a:spcPts val="550"/>
              </a:spcBef>
              <a:spcAft>
                <a:spcPct val="0"/>
              </a:spcAft>
              <a:buClr>
                <a:schemeClr val="accent1"/>
              </a:buClr>
              <a:buSzPct val="70000"/>
              <a:buFont typeface="Wingdings" panose="05000000000000000000" pitchFamily="2" charset="2"/>
              <a:defRPr/>
            </a:pPr>
            <a:endParaRPr kumimoji="0" lang="en-US" sz="1800" b="0" i="0" u="none" strike="noStrike" kern="1200" cap="none" spc="0" normalizeH="0" baseline="0" noProof="0" dirty="0">
              <a:ln>
                <a:noFill/>
              </a:ln>
              <a:solidFill>
                <a:schemeClr val="tx1">
                  <a:tint val="75000"/>
                </a:schemeClr>
              </a:solidFill>
              <a:effectLst/>
              <a:uLnTx/>
              <a:uFillTx/>
              <a:latin typeface="Garamond" panose="02020404030301010803" pitchFamily="18" charset="0"/>
              <a:ea typeface="+mn-ea"/>
              <a:cs typeface="+mn-cs"/>
            </a:endParaRPr>
          </a:p>
        </p:txBody>
      </p:sp>
      <p:sp>
        <p:nvSpPr>
          <p:cNvPr id="21507" name="Title 2"/>
          <p:cNvSpPr>
            <a:spLocks noGrp="1"/>
          </p:cNvSpPr>
          <p:nvPr>
            <p:ph type="title"/>
          </p:nvPr>
        </p:nvSpPr>
        <p:spPr>
          <a:xfrm>
            <a:off x="1066800" y="304800"/>
            <a:ext cx="7918450" cy="990600"/>
          </a:xfrm>
        </p:spPr>
        <p:txBody>
          <a:bodyPr vert="horz" wrap="square" lIns="91440" tIns="45720" rIns="91440" bIns="45720" anchor="ctr" anchorCtr="0"/>
          <a:lstStyle/>
          <a:p>
            <a:pPr marL="457200" indent="-457200"/>
            <a:r>
              <a:rPr lang="en-US" sz="4000" b="1" dirty="0">
                <a:latin typeface="Times New Roman" panose="02020603050405020304" pitchFamily="18" charset="0"/>
                <a:ea typeface="Times New Roman" panose="02020603050405020304" pitchFamily="18" charset="0"/>
                <a:sym typeface="+mn-ea"/>
              </a:rPr>
              <a:t>Working Process Flowchart</a:t>
            </a:r>
            <a:endParaRPr sz="4000" b="1" kern="1200" dirty="0">
              <a:solidFill>
                <a:srgbClr val="FFFFFF"/>
              </a:solidFill>
              <a:latin typeface="Times New Roman" panose="02020603050405020304" pitchFamily="18" charset="0"/>
              <a:ea typeface="Times New Roman" panose="02020603050405020304" pitchFamily="18" charset="0"/>
              <a:cs typeface="+mj-cs"/>
            </a:endParaRPr>
          </a:p>
        </p:txBody>
      </p:sp>
      <p:sp>
        <p:nvSpPr>
          <p:cNvPr id="2150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sz="2400" b="1" dirty="0">
                <a:solidFill>
                  <a:srgbClr val="FFFFFF"/>
                </a:solidFill>
              </a:rPr>
              <a:t>7</a:t>
            </a:r>
          </a:p>
        </p:txBody>
      </p:sp>
      <p:sp>
        <p:nvSpPr>
          <p:cNvPr id="21509" name="Rectangle 8"/>
          <p:cNvSpPr/>
          <p:nvPr/>
        </p:nvSpPr>
        <p:spPr>
          <a:xfrm>
            <a:off x="0" y="0"/>
            <a:ext cx="9144000" cy="0"/>
          </a:xfrm>
          <a:prstGeom prst="rect">
            <a:avLst/>
          </a:prstGeom>
          <a:noFill/>
          <a:ln w="9525">
            <a:noFill/>
          </a:ln>
        </p:spPr>
        <p:txBody>
          <a:bodyPr wrap="none" anchor="ctr" anchorCtr="0">
            <a:spAutoFit/>
          </a:bodyPr>
          <a:lstStyle/>
          <a:p>
            <a:endParaRPr dirty="0">
              <a:latin typeface="Arial" panose="020B0604020202020204" pitchFamily="34" charset="0"/>
            </a:endParaRPr>
          </a:p>
        </p:txBody>
      </p:sp>
      <p:sp>
        <p:nvSpPr>
          <p:cNvPr id="63" name="Oval 62"/>
          <p:cNvSpPr/>
          <p:nvPr/>
        </p:nvSpPr>
        <p:spPr>
          <a:xfrm>
            <a:off x="3371850" y="1428750"/>
            <a:ext cx="962025" cy="485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Start</a:t>
            </a:r>
            <a:endParaRPr lang="en-US" sz="1400" dirty="0"/>
          </a:p>
        </p:txBody>
      </p:sp>
      <p:sp>
        <p:nvSpPr>
          <p:cNvPr id="64" name="Diamond 63"/>
          <p:cNvSpPr/>
          <p:nvPr/>
        </p:nvSpPr>
        <p:spPr>
          <a:xfrm>
            <a:off x="3190875" y="2200275"/>
            <a:ext cx="1323975" cy="8382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Already logged in?</a:t>
            </a:r>
            <a:endParaRPr lang="en-US" sz="1050" dirty="0"/>
          </a:p>
        </p:txBody>
      </p:sp>
      <p:cxnSp>
        <p:nvCxnSpPr>
          <p:cNvPr id="66" name="Straight Arrow Connector 65"/>
          <p:cNvCxnSpPr>
            <a:stCxn id="63" idx="4"/>
            <a:endCxn id="64" idx="0"/>
          </p:cNvCxnSpPr>
          <p:nvPr/>
        </p:nvCxnSpPr>
        <p:spPr>
          <a:xfrm rot="5400000">
            <a:off x="3709988" y="2057400"/>
            <a:ext cx="28575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8" name="Flowchart: Display 67"/>
          <p:cNvSpPr/>
          <p:nvPr/>
        </p:nvSpPr>
        <p:spPr>
          <a:xfrm>
            <a:off x="1114425" y="2314575"/>
            <a:ext cx="1371599" cy="609599"/>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Display home page</a:t>
            </a:r>
            <a:endParaRPr lang="en-US" sz="1200" dirty="0"/>
          </a:p>
        </p:txBody>
      </p:sp>
      <p:sp>
        <p:nvSpPr>
          <p:cNvPr id="69" name="Flowchart: Display 68"/>
          <p:cNvSpPr/>
          <p:nvPr/>
        </p:nvSpPr>
        <p:spPr>
          <a:xfrm>
            <a:off x="3543300" y="3629025"/>
            <a:ext cx="1371599" cy="609599"/>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Display Staff dashboard</a:t>
            </a:r>
          </a:p>
        </p:txBody>
      </p:sp>
      <p:sp>
        <p:nvSpPr>
          <p:cNvPr id="70" name="Flowchart: Display 69"/>
          <p:cNvSpPr/>
          <p:nvPr/>
        </p:nvSpPr>
        <p:spPr>
          <a:xfrm>
            <a:off x="7067550" y="2562225"/>
            <a:ext cx="1371599" cy="609599"/>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Display Student Info details</a:t>
            </a:r>
          </a:p>
        </p:txBody>
      </p:sp>
      <p:sp>
        <p:nvSpPr>
          <p:cNvPr id="71" name="Oval 70"/>
          <p:cNvSpPr/>
          <p:nvPr/>
        </p:nvSpPr>
        <p:spPr>
          <a:xfrm>
            <a:off x="3105150" y="6095999"/>
            <a:ext cx="1066800" cy="561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end</a:t>
            </a:r>
            <a:endParaRPr lang="en-US" dirty="0"/>
          </a:p>
        </p:txBody>
      </p:sp>
      <p:cxnSp>
        <p:nvCxnSpPr>
          <p:cNvPr id="74" name="Straight Arrow Connector 73"/>
          <p:cNvCxnSpPr>
            <a:stCxn id="64" idx="1"/>
            <a:endCxn id="68" idx="3"/>
          </p:cNvCxnSpPr>
          <p:nvPr/>
        </p:nvCxnSpPr>
        <p:spPr>
          <a:xfrm rot="10800000">
            <a:off x="2486025" y="2619375"/>
            <a:ext cx="70485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hape 75"/>
          <p:cNvCxnSpPr>
            <a:stCxn id="84" idx="2"/>
            <a:endCxn id="69" idx="0"/>
          </p:cNvCxnSpPr>
          <p:nvPr/>
        </p:nvCxnSpPr>
        <p:spPr>
          <a:xfrm rot="5400000">
            <a:off x="4726782" y="2626518"/>
            <a:ext cx="504825" cy="15001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Elbow Connector 79"/>
          <p:cNvCxnSpPr>
            <a:stCxn id="84" idx="2"/>
            <a:endCxn id="70" idx="0"/>
          </p:cNvCxnSpPr>
          <p:nvPr/>
        </p:nvCxnSpPr>
        <p:spPr>
          <a:xfrm rot="5400000" flipH="1" flipV="1">
            <a:off x="6460331" y="1831182"/>
            <a:ext cx="561975" cy="2024062"/>
          </a:xfrm>
          <a:prstGeom prst="bentConnector5">
            <a:avLst>
              <a:gd name="adj1" fmla="val -40678"/>
              <a:gd name="adj2" fmla="val 49412"/>
              <a:gd name="adj3" fmla="val 140678"/>
            </a:avLst>
          </a:prstGeom>
          <a:ln>
            <a:tailEnd type="arrow"/>
          </a:ln>
        </p:spPr>
        <p:style>
          <a:lnRef idx="1">
            <a:schemeClr val="accent1"/>
          </a:lnRef>
          <a:fillRef idx="0">
            <a:schemeClr val="accent1"/>
          </a:fillRef>
          <a:effectRef idx="0">
            <a:schemeClr val="accent1"/>
          </a:effectRef>
          <a:fontRef idx="minor">
            <a:schemeClr val="tx1"/>
          </a:fontRef>
        </p:style>
      </p:cxnSp>
      <p:sp>
        <p:nvSpPr>
          <p:cNvPr id="84" name="Diamond 83"/>
          <p:cNvSpPr/>
          <p:nvPr/>
        </p:nvSpPr>
        <p:spPr>
          <a:xfrm>
            <a:off x="5067300" y="2286000"/>
            <a:ext cx="1323975" cy="8382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Is Staff User?</a:t>
            </a:r>
            <a:endParaRPr lang="en-US" sz="1050" dirty="0"/>
          </a:p>
        </p:txBody>
      </p:sp>
      <p:cxnSp>
        <p:nvCxnSpPr>
          <p:cNvPr id="97" name="Shape 96"/>
          <p:cNvCxnSpPr>
            <a:stCxn id="64" idx="3"/>
            <a:endCxn id="84" idx="0"/>
          </p:cNvCxnSpPr>
          <p:nvPr/>
        </p:nvCxnSpPr>
        <p:spPr>
          <a:xfrm flipV="1">
            <a:off x="4514850" y="2286000"/>
            <a:ext cx="1214438" cy="333375"/>
          </a:xfrm>
          <a:prstGeom prst="bentConnector4">
            <a:avLst>
              <a:gd name="adj1" fmla="val 22745"/>
              <a:gd name="adj2" fmla="val 194286"/>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a:off x="438150" y="4391025"/>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Allocate/De-allocate seat</a:t>
            </a:r>
            <a:endParaRPr lang="en-US" sz="1600" dirty="0"/>
          </a:p>
        </p:txBody>
      </p:sp>
      <p:sp>
        <p:nvSpPr>
          <p:cNvPr id="104" name="Rectangle 103"/>
          <p:cNvSpPr/>
          <p:nvPr/>
        </p:nvSpPr>
        <p:spPr>
          <a:xfrm>
            <a:off x="3343275" y="5095875"/>
            <a:ext cx="133350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Configuration/Setting Master data</a:t>
            </a:r>
            <a:endParaRPr lang="en-US" sz="1600" dirty="0"/>
          </a:p>
        </p:txBody>
      </p:sp>
      <p:sp>
        <p:nvSpPr>
          <p:cNvPr id="105" name="Rectangle 104"/>
          <p:cNvSpPr/>
          <p:nvPr/>
        </p:nvSpPr>
        <p:spPr>
          <a:xfrm>
            <a:off x="1714500" y="5257800"/>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Add/Update Staff</a:t>
            </a:r>
            <a:endParaRPr lang="en-US" sz="1600" dirty="0"/>
          </a:p>
        </p:txBody>
      </p:sp>
      <p:sp>
        <p:nvSpPr>
          <p:cNvPr id="106" name="Rectangle 105"/>
          <p:cNvSpPr/>
          <p:nvPr/>
        </p:nvSpPr>
        <p:spPr>
          <a:xfrm>
            <a:off x="266700" y="3276600"/>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Add/Update Student</a:t>
            </a:r>
            <a:endParaRPr lang="en-US" sz="1600" dirty="0"/>
          </a:p>
        </p:txBody>
      </p:sp>
      <p:sp>
        <p:nvSpPr>
          <p:cNvPr id="107" name="Rectangle 106"/>
          <p:cNvSpPr/>
          <p:nvPr/>
        </p:nvSpPr>
        <p:spPr>
          <a:xfrm>
            <a:off x="4962525" y="4581525"/>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Process User Credentials</a:t>
            </a:r>
            <a:endParaRPr lang="en-US" sz="1400" dirty="0"/>
          </a:p>
        </p:txBody>
      </p:sp>
      <p:sp>
        <p:nvSpPr>
          <p:cNvPr id="108" name="Rectangle 107"/>
          <p:cNvSpPr/>
          <p:nvPr/>
        </p:nvSpPr>
        <p:spPr>
          <a:xfrm>
            <a:off x="6057900" y="3619500"/>
            <a:ext cx="1323975" cy="742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Process Establishment Charge</a:t>
            </a:r>
            <a:endParaRPr lang="en-US" sz="1400" dirty="0"/>
          </a:p>
        </p:txBody>
      </p:sp>
      <p:cxnSp>
        <p:nvCxnSpPr>
          <p:cNvPr id="110" name="Curved Connector 109"/>
          <p:cNvCxnSpPr>
            <a:stCxn id="69" idx="3"/>
            <a:endCxn id="108" idx="1"/>
          </p:cNvCxnSpPr>
          <p:nvPr/>
        </p:nvCxnSpPr>
        <p:spPr>
          <a:xfrm>
            <a:off x="4914899" y="3933825"/>
            <a:ext cx="1143001" cy="571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2" name="Curved Connector 111"/>
          <p:cNvCxnSpPr>
            <a:stCxn id="69" idx="1"/>
            <a:endCxn id="104" idx="0"/>
          </p:cNvCxnSpPr>
          <p:nvPr/>
        </p:nvCxnSpPr>
        <p:spPr>
          <a:xfrm rot="10800000" flipH="1" flipV="1">
            <a:off x="3543299" y="3933825"/>
            <a:ext cx="466725" cy="1162050"/>
          </a:xfrm>
          <a:prstGeom prst="curvedConnector4">
            <a:avLst>
              <a:gd name="adj1" fmla="val -48980"/>
              <a:gd name="adj2" fmla="val 6311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4" name="Curved Connector 113"/>
          <p:cNvCxnSpPr>
            <a:stCxn id="69" idx="1"/>
            <a:endCxn id="106" idx="3"/>
          </p:cNvCxnSpPr>
          <p:nvPr/>
        </p:nvCxnSpPr>
        <p:spPr>
          <a:xfrm rot="10800000">
            <a:off x="1543050" y="3609975"/>
            <a:ext cx="2000250" cy="3238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7" name="Curved Connector 116"/>
          <p:cNvCxnSpPr>
            <a:stCxn id="69" idx="1"/>
            <a:endCxn id="101" idx="3"/>
          </p:cNvCxnSpPr>
          <p:nvPr/>
        </p:nvCxnSpPr>
        <p:spPr>
          <a:xfrm rot="10800000" flipV="1">
            <a:off x="1714500" y="3933824"/>
            <a:ext cx="1828800" cy="79057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Curved Connector 118"/>
          <p:cNvCxnSpPr>
            <a:stCxn id="69" idx="1"/>
            <a:endCxn id="105" idx="3"/>
          </p:cNvCxnSpPr>
          <p:nvPr/>
        </p:nvCxnSpPr>
        <p:spPr>
          <a:xfrm rot="10800000" flipV="1">
            <a:off x="2990850" y="3933825"/>
            <a:ext cx="552450" cy="16573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1" name="Curved Connector 120"/>
          <p:cNvCxnSpPr>
            <a:stCxn id="69" idx="1"/>
            <a:endCxn id="107" idx="0"/>
          </p:cNvCxnSpPr>
          <p:nvPr/>
        </p:nvCxnSpPr>
        <p:spPr>
          <a:xfrm rot="10800000" flipH="1" flipV="1">
            <a:off x="3543300" y="3933825"/>
            <a:ext cx="2057400" cy="647700"/>
          </a:xfrm>
          <a:prstGeom prst="curvedConnector4">
            <a:avLst>
              <a:gd name="adj1" fmla="val -11111"/>
              <a:gd name="adj2" fmla="val 7352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7" name="Curved Connector 156"/>
          <p:cNvCxnSpPr>
            <a:stCxn id="104" idx="2"/>
            <a:endCxn id="71" idx="1"/>
          </p:cNvCxnSpPr>
          <p:nvPr/>
        </p:nvCxnSpPr>
        <p:spPr>
          <a:xfrm rot="5400000">
            <a:off x="3427866" y="5596138"/>
            <a:ext cx="415673" cy="748646"/>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7" name="Curved Connector 196"/>
          <p:cNvCxnSpPr>
            <a:stCxn id="105" idx="2"/>
            <a:endCxn id="71" idx="2"/>
          </p:cNvCxnSpPr>
          <p:nvPr/>
        </p:nvCxnSpPr>
        <p:spPr>
          <a:xfrm rot="16200000" flipH="1">
            <a:off x="2502694" y="5774530"/>
            <a:ext cx="452437" cy="7524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0" name="Shape 199"/>
          <p:cNvCxnSpPr>
            <a:stCxn id="101" idx="2"/>
            <a:endCxn id="71" idx="3"/>
          </p:cNvCxnSpPr>
          <p:nvPr/>
        </p:nvCxnSpPr>
        <p:spPr>
          <a:xfrm rot="16200000" flipH="1">
            <a:off x="1409902" y="4724198"/>
            <a:ext cx="1517900" cy="2185054"/>
          </a:xfrm>
          <a:prstGeom prst="curvedConnector3">
            <a:avLst>
              <a:gd name="adj1" fmla="val 10542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3" name="Shape 202"/>
          <p:cNvCxnSpPr>
            <a:stCxn id="106" idx="2"/>
            <a:endCxn id="71" idx="0"/>
          </p:cNvCxnSpPr>
          <p:nvPr/>
        </p:nvCxnSpPr>
        <p:spPr>
          <a:xfrm rot="16200000" flipH="1">
            <a:off x="1195388" y="3652836"/>
            <a:ext cx="2152649" cy="273367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0" name="Shape 209"/>
          <p:cNvCxnSpPr>
            <a:stCxn id="70" idx="2"/>
            <a:endCxn id="71" idx="6"/>
          </p:cNvCxnSpPr>
          <p:nvPr/>
        </p:nvCxnSpPr>
        <p:spPr>
          <a:xfrm rot="5400000">
            <a:off x="4360069" y="2983705"/>
            <a:ext cx="3205163" cy="35814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4" name="Curved Connector 213"/>
          <p:cNvCxnSpPr>
            <a:stCxn id="108" idx="2"/>
            <a:endCxn id="71" idx="6"/>
          </p:cNvCxnSpPr>
          <p:nvPr/>
        </p:nvCxnSpPr>
        <p:spPr>
          <a:xfrm rot="5400000">
            <a:off x="4438651" y="4095749"/>
            <a:ext cx="2014537" cy="2547938"/>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7" name="Shape 216"/>
          <p:cNvCxnSpPr>
            <a:stCxn id="107" idx="2"/>
            <a:endCxn id="71" idx="6"/>
          </p:cNvCxnSpPr>
          <p:nvPr/>
        </p:nvCxnSpPr>
        <p:spPr>
          <a:xfrm rot="5400000">
            <a:off x="4321969" y="5098256"/>
            <a:ext cx="1128712" cy="142875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Click="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dirty="0">
                <a:solidFill>
                  <a:schemeClr val="bg1"/>
                </a:solidFill>
                <a:sym typeface="+mn-ea"/>
              </a:rPr>
              <a:t>Use case Diagram</a:t>
            </a:r>
            <a:endParaRPr lang="en-US" b="1" dirty="0">
              <a:solidFill>
                <a:schemeClr val="bg1"/>
              </a:solidFill>
              <a:sym typeface="+mn-ea"/>
            </a:endParaRP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8</a:t>
            </a:r>
          </a:p>
        </p:txBody>
      </p:sp>
      <p:sp>
        <p:nvSpPr>
          <p:cNvPr id="5" name="Rounded Rectangle 4"/>
          <p:cNvSpPr/>
          <p:nvPr/>
        </p:nvSpPr>
        <p:spPr>
          <a:xfrm>
            <a:off x="2717800" y="1562100"/>
            <a:ext cx="4610100" cy="5295900"/>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987800" y="15875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Student Entry</a:t>
            </a:r>
            <a:endParaRPr lang="en-US" sz="1400" dirty="0">
              <a:solidFill>
                <a:schemeClr val="tx1"/>
              </a:solidFill>
            </a:endParaRPr>
          </a:p>
        </p:txBody>
      </p:sp>
      <p:sp>
        <p:nvSpPr>
          <p:cNvPr id="22" name="Oval 21"/>
          <p:cNvSpPr/>
          <p:nvPr/>
        </p:nvSpPr>
        <p:spPr>
          <a:xfrm>
            <a:off x="3962400" y="19812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Student Update</a:t>
            </a:r>
            <a:endParaRPr lang="en-US" sz="1400" dirty="0">
              <a:solidFill>
                <a:schemeClr val="tx1"/>
              </a:solidFill>
            </a:endParaRPr>
          </a:p>
        </p:txBody>
      </p:sp>
      <p:sp>
        <p:nvSpPr>
          <p:cNvPr id="23" name="Oval 22"/>
          <p:cNvSpPr/>
          <p:nvPr/>
        </p:nvSpPr>
        <p:spPr>
          <a:xfrm>
            <a:off x="3784600" y="2362200"/>
            <a:ext cx="2349500" cy="3175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Show Student Details</a:t>
            </a:r>
            <a:endParaRPr lang="en-US" sz="1400" dirty="0">
              <a:solidFill>
                <a:schemeClr val="tx1"/>
              </a:solidFill>
            </a:endParaRPr>
          </a:p>
        </p:txBody>
      </p:sp>
      <p:sp>
        <p:nvSpPr>
          <p:cNvPr id="24" name="Oval 23"/>
          <p:cNvSpPr/>
          <p:nvPr/>
        </p:nvSpPr>
        <p:spPr>
          <a:xfrm>
            <a:off x="4013200" y="27686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Staff Entry</a:t>
            </a:r>
          </a:p>
        </p:txBody>
      </p:sp>
      <p:sp>
        <p:nvSpPr>
          <p:cNvPr id="25" name="Oval 24"/>
          <p:cNvSpPr/>
          <p:nvPr/>
        </p:nvSpPr>
        <p:spPr>
          <a:xfrm>
            <a:off x="4191000" y="31750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Staff Update</a:t>
            </a:r>
            <a:endParaRPr lang="en-US" sz="1400" dirty="0">
              <a:solidFill>
                <a:schemeClr val="tx1"/>
              </a:solidFill>
            </a:endParaRPr>
          </a:p>
        </p:txBody>
      </p:sp>
      <p:sp>
        <p:nvSpPr>
          <p:cNvPr id="26" name="Oval 25"/>
          <p:cNvSpPr/>
          <p:nvPr/>
        </p:nvSpPr>
        <p:spPr>
          <a:xfrm>
            <a:off x="3860800" y="3546122"/>
            <a:ext cx="2041922" cy="40357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Establishment charge Entry</a:t>
            </a:r>
          </a:p>
        </p:txBody>
      </p:sp>
      <p:sp>
        <p:nvSpPr>
          <p:cNvPr id="27" name="Oval 26"/>
          <p:cNvSpPr/>
          <p:nvPr/>
        </p:nvSpPr>
        <p:spPr>
          <a:xfrm>
            <a:off x="4114799" y="4004734"/>
            <a:ext cx="1995249" cy="40216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Establishment Charge Update</a:t>
            </a:r>
            <a:endParaRPr lang="en-US" sz="1400" dirty="0">
              <a:solidFill>
                <a:schemeClr val="tx1"/>
              </a:solidFill>
            </a:endParaRPr>
          </a:p>
        </p:txBody>
      </p:sp>
      <p:sp>
        <p:nvSpPr>
          <p:cNvPr id="28" name="Oval 27"/>
          <p:cNvSpPr/>
          <p:nvPr/>
        </p:nvSpPr>
        <p:spPr>
          <a:xfrm>
            <a:off x="4076700" y="4493919"/>
            <a:ext cx="2679700" cy="30668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User Credential Entry</a:t>
            </a:r>
            <a:endParaRPr lang="en-US" sz="1400" dirty="0">
              <a:solidFill>
                <a:schemeClr val="tx1"/>
              </a:solidFill>
            </a:endParaRPr>
          </a:p>
        </p:txBody>
      </p:sp>
      <p:sp>
        <p:nvSpPr>
          <p:cNvPr id="31" name="Oval 30"/>
          <p:cNvSpPr/>
          <p:nvPr/>
        </p:nvSpPr>
        <p:spPr>
          <a:xfrm>
            <a:off x="3911600" y="4876331"/>
            <a:ext cx="2997200" cy="3306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User Credential </a:t>
            </a:r>
            <a:r>
              <a:rPr lang="en-US" sz="1400" dirty="0" smtClean="0">
                <a:solidFill>
                  <a:schemeClr val="tx1"/>
                </a:solidFill>
              </a:rPr>
              <a:t>deactivate</a:t>
            </a:r>
            <a:endParaRPr lang="en-US" sz="1400" dirty="0">
              <a:solidFill>
                <a:schemeClr val="tx1"/>
              </a:solidFill>
            </a:endParaRPr>
          </a:p>
        </p:txBody>
      </p:sp>
      <p:cxnSp>
        <p:nvCxnSpPr>
          <p:cNvPr id="34" name="Straight Arrow Connector 33"/>
          <p:cNvCxnSpPr>
            <a:endCxn id="21" idx="2"/>
          </p:cNvCxnSpPr>
          <p:nvPr/>
        </p:nvCxnSpPr>
        <p:spPr>
          <a:xfrm flipV="1">
            <a:off x="682625" y="1738312"/>
            <a:ext cx="3305175" cy="12207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077" idx="1"/>
            <a:endCxn id="23" idx="6"/>
          </p:cNvCxnSpPr>
          <p:nvPr/>
        </p:nvCxnSpPr>
        <p:spPr>
          <a:xfrm rot="10800000">
            <a:off x="6134101" y="2520950"/>
            <a:ext cx="2111375" cy="11620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23" idx="2"/>
          </p:cNvCxnSpPr>
          <p:nvPr/>
        </p:nvCxnSpPr>
        <p:spPr>
          <a:xfrm flipV="1">
            <a:off x="682625" y="2520950"/>
            <a:ext cx="3101975" cy="4381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24" idx="2"/>
          </p:cNvCxnSpPr>
          <p:nvPr/>
        </p:nvCxnSpPr>
        <p:spPr>
          <a:xfrm flipV="1">
            <a:off x="682625" y="2919412"/>
            <a:ext cx="3330575" cy="396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25" idx="2"/>
          </p:cNvCxnSpPr>
          <p:nvPr/>
        </p:nvCxnSpPr>
        <p:spPr>
          <a:xfrm>
            <a:off x="682625" y="2959100"/>
            <a:ext cx="3508375" cy="3667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endCxn id="26" idx="2"/>
          </p:cNvCxnSpPr>
          <p:nvPr/>
        </p:nvCxnSpPr>
        <p:spPr>
          <a:xfrm>
            <a:off x="682625" y="2959100"/>
            <a:ext cx="3178175" cy="78881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7" idx="2"/>
          </p:cNvCxnSpPr>
          <p:nvPr/>
        </p:nvCxnSpPr>
        <p:spPr>
          <a:xfrm>
            <a:off x="682625" y="2959100"/>
            <a:ext cx="3432174" cy="12467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28" idx="2"/>
          </p:cNvCxnSpPr>
          <p:nvPr/>
        </p:nvCxnSpPr>
        <p:spPr>
          <a:xfrm>
            <a:off x="682625" y="2959100"/>
            <a:ext cx="3394075" cy="16881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31" idx="2"/>
          </p:cNvCxnSpPr>
          <p:nvPr/>
        </p:nvCxnSpPr>
        <p:spPr>
          <a:xfrm>
            <a:off x="682625" y="2959100"/>
            <a:ext cx="3228975" cy="20825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077" name="Picture 5"/>
          <p:cNvPicPr>
            <a:picLocks noChangeAspect="1" noChangeArrowheads="1"/>
          </p:cNvPicPr>
          <p:nvPr/>
        </p:nvPicPr>
        <p:blipFill>
          <a:blip r:embed="rId3"/>
          <a:srcRect/>
          <a:stretch>
            <a:fillRect/>
          </a:stretch>
        </p:blipFill>
        <p:spPr bwMode="auto">
          <a:xfrm>
            <a:off x="8245475" y="3435350"/>
            <a:ext cx="247650" cy="495300"/>
          </a:xfrm>
          <a:prstGeom prst="rect">
            <a:avLst/>
          </a:prstGeom>
          <a:noFill/>
          <a:ln w="9525">
            <a:noFill/>
            <a:miter lim="800000"/>
            <a:headEnd/>
            <a:tailEnd/>
          </a:ln>
          <a:effectLst/>
        </p:spPr>
      </p:pic>
      <p:sp>
        <p:nvSpPr>
          <p:cNvPr id="55" name="TextBox 54"/>
          <p:cNvSpPr txBox="1"/>
          <p:nvPr/>
        </p:nvSpPr>
        <p:spPr>
          <a:xfrm>
            <a:off x="8064500" y="3898900"/>
            <a:ext cx="649537" cy="253916"/>
          </a:xfrm>
          <a:prstGeom prst="rect">
            <a:avLst/>
          </a:prstGeom>
          <a:noFill/>
        </p:spPr>
        <p:txBody>
          <a:bodyPr wrap="none" rtlCol="0">
            <a:spAutoFit/>
          </a:bodyPr>
          <a:lstStyle/>
          <a:p>
            <a:r>
              <a:rPr lang="en-US" sz="1050" dirty="0" smtClean="0"/>
              <a:t>S</a:t>
            </a:r>
            <a:r>
              <a:rPr lang="en-US" sz="1050" dirty="0" smtClean="0"/>
              <a:t>tudent</a:t>
            </a:r>
            <a:endParaRPr lang="en-US" sz="1050" dirty="0"/>
          </a:p>
        </p:txBody>
      </p:sp>
      <p:sp>
        <p:nvSpPr>
          <p:cNvPr id="76" name="Oval 75"/>
          <p:cNvSpPr/>
          <p:nvPr/>
        </p:nvSpPr>
        <p:spPr>
          <a:xfrm>
            <a:off x="4140200" y="5351874"/>
            <a:ext cx="1866900" cy="2234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User Login</a:t>
            </a:r>
          </a:p>
        </p:txBody>
      </p:sp>
      <p:sp>
        <p:nvSpPr>
          <p:cNvPr id="77" name="Oval 76"/>
          <p:cNvSpPr/>
          <p:nvPr/>
        </p:nvSpPr>
        <p:spPr>
          <a:xfrm>
            <a:off x="4216400" y="5677369"/>
            <a:ext cx="1866900" cy="21225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Password Reset</a:t>
            </a:r>
          </a:p>
        </p:txBody>
      </p:sp>
      <p:sp>
        <p:nvSpPr>
          <p:cNvPr id="78" name="Oval 77"/>
          <p:cNvSpPr/>
          <p:nvPr/>
        </p:nvSpPr>
        <p:spPr>
          <a:xfrm>
            <a:off x="4152900" y="6037674"/>
            <a:ext cx="1866900" cy="2234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Home page</a:t>
            </a:r>
          </a:p>
        </p:txBody>
      </p:sp>
      <p:sp>
        <p:nvSpPr>
          <p:cNvPr id="79" name="Oval 78"/>
          <p:cNvSpPr/>
          <p:nvPr/>
        </p:nvSpPr>
        <p:spPr>
          <a:xfrm>
            <a:off x="4343400" y="6367874"/>
            <a:ext cx="1866900" cy="2234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Dashboard</a:t>
            </a:r>
          </a:p>
        </p:txBody>
      </p:sp>
      <p:cxnSp>
        <p:nvCxnSpPr>
          <p:cNvPr id="130" name="Straight Arrow Connector 129"/>
          <p:cNvCxnSpPr>
            <a:endCxn id="76" idx="2"/>
          </p:cNvCxnSpPr>
          <p:nvPr/>
        </p:nvCxnSpPr>
        <p:spPr>
          <a:xfrm>
            <a:off x="682625" y="2959100"/>
            <a:ext cx="3457575" cy="25044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endCxn id="77" idx="2"/>
          </p:cNvCxnSpPr>
          <p:nvPr/>
        </p:nvCxnSpPr>
        <p:spPr>
          <a:xfrm>
            <a:off x="682625" y="2959100"/>
            <a:ext cx="3533775" cy="2824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endCxn id="78" idx="2"/>
          </p:cNvCxnSpPr>
          <p:nvPr/>
        </p:nvCxnSpPr>
        <p:spPr>
          <a:xfrm>
            <a:off x="682625" y="2959100"/>
            <a:ext cx="3470275" cy="31902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endCxn id="79" idx="2"/>
          </p:cNvCxnSpPr>
          <p:nvPr/>
        </p:nvCxnSpPr>
        <p:spPr>
          <a:xfrm>
            <a:off x="682625" y="2959100"/>
            <a:ext cx="3660775" cy="35204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a:stCxn id="3077" idx="1"/>
            <a:endCxn id="76" idx="6"/>
          </p:cNvCxnSpPr>
          <p:nvPr/>
        </p:nvCxnSpPr>
        <p:spPr>
          <a:xfrm rot="10800000" flipV="1">
            <a:off x="6007101" y="3682999"/>
            <a:ext cx="2238375" cy="1780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a:stCxn id="3077" idx="1"/>
            <a:endCxn id="77" idx="6"/>
          </p:cNvCxnSpPr>
          <p:nvPr/>
        </p:nvCxnSpPr>
        <p:spPr>
          <a:xfrm rot="10800000" flipV="1">
            <a:off x="6083301" y="3682999"/>
            <a:ext cx="2162175" cy="21004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3077" idx="1"/>
            <a:endCxn id="78" idx="6"/>
          </p:cNvCxnSpPr>
          <p:nvPr/>
        </p:nvCxnSpPr>
        <p:spPr>
          <a:xfrm rot="10800000" flipV="1">
            <a:off x="6019801" y="3682999"/>
            <a:ext cx="2225675" cy="24663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56" name="Picture 5"/>
          <p:cNvPicPr>
            <a:picLocks noChangeAspect="1" noChangeArrowheads="1"/>
          </p:cNvPicPr>
          <p:nvPr/>
        </p:nvPicPr>
        <p:blipFill>
          <a:blip r:embed="rId3"/>
          <a:srcRect/>
          <a:stretch>
            <a:fillRect/>
          </a:stretch>
        </p:blipFill>
        <p:spPr bwMode="auto">
          <a:xfrm>
            <a:off x="498475" y="2711450"/>
            <a:ext cx="247650" cy="495300"/>
          </a:xfrm>
          <a:prstGeom prst="rect">
            <a:avLst/>
          </a:prstGeom>
          <a:noFill/>
          <a:ln w="9525">
            <a:noFill/>
            <a:miter lim="800000"/>
            <a:headEnd/>
            <a:tailEnd/>
          </a:ln>
          <a:effectLst/>
        </p:spPr>
      </p:pic>
      <p:sp>
        <p:nvSpPr>
          <p:cNvPr id="158" name="TextBox 157"/>
          <p:cNvSpPr txBox="1"/>
          <p:nvPr/>
        </p:nvSpPr>
        <p:spPr>
          <a:xfrm>
            <a:off x="330200" y="3175000"/>
            <a:ext cx="567784" cy="253916"/>
          </a:xfrm>
          <a:prstGeom prst="rect">
            <a:avLst/>
          </a:prstGeom>
          <a:noFill/>
        </p:spPr>
        <p:txBody>
          <a:bodyPr wrap="none" rtlCol="0">
            <a:spAutoFit/>
          </a:bodyPr>
          <a:lstStyle/>
          <a:p>
            <a:r>
              <a:rPr lang="en-US" sz="1050" dirty="0" smtClean="0"/>
              <a:t>Admin</a:t>
            </a:r>
          </a:p>
        </p:txBody>
      </p:sp>
      <p:cxnSp>
        <p:nvCxnSpPr>
          <p:cNvPr id="161" name="Straight Arrow Connector 160"/>
          <p:cNvCxnSpPr>
            <a:stCxn id="156" idx="3"/>
            <a:endCxn id="22" idx="2"/>
          </p:cNvCxnSpPr>
          <p:nvPr/>
        </p:nvCxnSpPr>
        <p:spPr>
          <a:xfrm flipV="1">
            <a:off x="746125" y="2132012"/>
            <a:ext cx="3216275" cy="8270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chemeClr val="bg1"/>
                </a:solidFill>
                <a:sym typeface="+mn-ea"/>
              </a:rPr>
              <a:t>Level 2 DFD</a:t>
            </a:r>
          </a:p>
        </p:txBody>
      </p:sp>
      <p:pic>
        <p:nvPicPr>
          <p:cNvPr id="59" name="Picture 2" descr="IMG_256"/>
          <p:cNvPicPr>
            <a:picLocks noGrp="1" noChangeAspect="1"/>
          </p:cNvPicPr>
          <p:nvPr>
            <p:ph sz="quarter" idx="4294967295"/>
          </p:nvPr>
        </p:nvPicPr>
        <p:blipFill>
          <a:blip r:embed="rId3"/>
          <a:stretch>
            <a:fillRect/>
          </a:stretch>
        </p:blipFill>
        <p:spPr>
          <a:xfrm>
            <a:off x="1739265" y="1714500"/>
            <a:ext cx="5181600" cy="4923155"/>
          </a:xfrm>
          <a:prstGeom prst="rect">
            <a:avLst/>
          </a:prstGeom>
          <a:noFill/>
          <a:ln w="9525">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9</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anose="02020603050405020304" pitchFamily="18" charset="0"/>
                <a:sym typeface="+mn-ea"/>
              </a:rPr>
              <a:t>Entity Relationship </a:t>
            </a:r>
            <a:r>
              <a:rPr lang="en-US" sz="3600" b="1" dirty="0" smtClean="0">
                <a:latin typeface="Times New Roman" panose="02020603050405020304" pitchFamily="18" charset="0"/>
                <a:sym typeface="+mn-ea"/>
              </a:rPr>
              <a:t>Diagram</a:t>
            </a:r>
            <a:endParaRPr lang="en-US" sz="3600" dirty="0"/>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10</a:t>
            </a:r>
          </a:p>
        </p:txBody>
      </p:sp>
      <p:pic>
        <p:nvPicPr>
          <p:cNvPr id="1028" name="Picture 4" descr="C:\Users\Sharif\Desktop\er final.PNG"/>
          <p:cNvPicPr>
            <a:picLocks noChangeAspect="1" noChangeArrowheads="1"/>
          </p:cNvPicPr>
          <p:nvPr/>
        </p:nvPicPr>
        <p:blipFill>
          <a:blip r:embed="rId3"/>
          <a:srcRect/>
          <a:stretch>
            <a:fillRect/>
          </a:stretch>
        </p:blipFill>
        <p:spPr bwMode="auto">
          <a:xfrm>
            <a:off x="1" y="1546225"/>
            <a:ext cx="9144000" cy="5133975"/>
          </a:xfrm>
          <a:prstGeom prst="rect">
            <a:avLst/>
          </a:prstGeom>
          <a:noFill/>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anose="02020603050405020304" pitchFamily="18" charset="0"/>
                <a:sym typeface="+mn-ea"/>
              </a:rPr>
              <a:t>Entity Relationship </a:t>
            </a:r>
            <a:r>
              <a:rPr lang="en-US" sz="3600" b="1" dirty="0" smtClean="0">
                <a:latin typeface="Times New Roman" panose="02020603050405020304" pitchFamily="18" charset="0"/>
                <a:sym typeface="+mn-ea"/>
              </a:rPr>
              <a:t>Diagram(contd.)</a:t>
            </a:r>
            <a:endParaRPr lang="en-US" sz="3600" dirty="0"/>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smtClean="0">
                <a:solidFill>
                  <a:srgbClr val="FFFFFF"/>
                </a:solidFill>
                <a:latin typeface="Arial" panose="020B0604020202020204" pitchFamily="34" charset="0"/>
              </a:rPr>
              <a:t>11</a:t>
            </a:r>
            <a:endParaRPr lang="en-US" altLang="en-GB" sz="2400" b="1" dirty="0">
              <a:solidFill>
                <a:srgbClr val="FFFFFF"/>
              </a:solidFill>
              <a:latin typeface="Arial" panose="020B0604020202020204" pitchFamily="34" charset="0"/>
            </a:endParaRPr>
          </a:p>
        </p:txBody>
      </p:sp>
      <p:pic>
        <p:nvPicPr>
          <p:cNvPr id="2050" name="Picture 2" descr="C:\Users\Sharif\Desktop\er final2.PNG"/>
          <p:cNvPicPr>
            <a:picLocks noChangeAspect="1" noChangeArrowheads="1"/>
          </p:cNvPicPr>
          <p:nvPr/>
        </p:nvPicPr>
        <p:blipFill>
          <a:blip r:embed="rId3"/>
          <a:srcRect/>
          <a:stretch>
            <a:fillRect/>
          </a:stretch>
        </p:blipFill>
        <p:spPr bwMode="auto">
          <a:xfrm>
            <a:off x="160866" y="1589904"/>
            <a:ext cx="7755467" cy="4717763"/>
          </a:xfrm>
          <a:prstGeom prst="rect">
            <a:avLst/>
          </a:prstGeom>
          <a:noFill/>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Controller Files</a:t>
            </a:r>
          </a:p>
        </p:txBody>
      </p:sp>
      <p:pic>
        <p:nvPicPr>
          <p:cNvPr id="4" name="Content Placeholder 3"/>
          <p:cNvPicPr>
            <a:picLocks noGrp="1" noChangeAspect="1"/>
          </p:cNvPicPr>
          <p:nvPr>
            <p:ph sz="quarter" idx="4294967295"/>
          </p:nvPr>
        </p:nvPicPr>
        <p:blipFill>
          <a:blip r:embed="rId3"/>
          <a:stretch>
            <a:fillRect/>
          </a:stretch>
        </p:blipFill>
        <p:spPr>
          <a:xfrm>
            <a:off x="667385" y="1879600"/>
            <a:ext cx="8079105" cy="4495800"/>
          </a:xfrm>
          <a:prstGeom prst="rect">
            <a:avLst/>
          </a:prstGeom>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11</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 File</a:t>
            </a:r>
          </a:p>
        </p:txBody>
      </p:sp>
      <p:pic>
        <p:nvPicPr>
          <p:cNvPr id="4" name="Content Placeholder 3"/>
          <p:cNvPicPr>
            <a:picLocks noGrp="1" noChangeAspect="1"/>
          </p:cNvPicPr>
          <p:nvPr>
            <p:ph sz="quarter" idx="4294967295"/>
          </p:nvPr>
        </p:nvPicPr>
        <p:blipFill>
          <a:blip r:embed="rId3"/>
          <a:stretch>
            <a:fillRect/>
          </a:stretch>
        </p:blipFill>
        <p:spPr>
          <a:xfrm>
            <a:off x="1066800" y="1747520"/>
            <a:ext cx="6626860" cy="4495800"/>
          </a:xfrm>
          <a:prstGeom prst="rect">
            <a:avLst/>
          </a:prstGeom>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12</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View Files</a:t>
            </a:r>
          </a:p>
        </p:txBody>
      </p:sp>
      <p:pic>
        <p:nvPicPr>
          <p:cNvPr id="4" name="Content Placeholder 3"/>
          <p:cNvPicPr>
            <a:picLocks noGrp="1" noChangeAspect="1"/>
          </p:cNvPicPr>
          <p:nvPr>
            <p:ph sz="quarter" idx="4294967295"/>
          </p:nvPr>
        </p:nvPicPr>
        <p:blipFill>
          <a:blip r:embed="rId3"/>
          <a:stretch>
            <a:fillRect/>
          </a:stretch>
        </p:blipFill>
        <p:spPr>
          <a:xfrm>
            <a:off x="495300" y="1814830"/>
            <a:ext cx="8153400" cy="4391660"/>
          </a:xfrm>
          <a:prstGeom prst="rect">
            <a:avLst/>
          </a:prstGeom>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13</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Database Tables Structure</a:t>
            </a:r>
          </a:p>
        </p:txBody>
      </p:sp>
      <p:pic>
        <p:nvPicPr>
          <p:cNvPr id="27" name="Picture 8"/>
          <p:cNvPicPr>
            <a:picLocks noGrp="1" noChangeAspect="1"/>
          </p:cNvPicPr>
          <p:nvPr>
            <p:ph sz="quarter" idx="4294967295"/>
          </p:nvPr>
        </p:nvPicPr>
        <p:blipFill>
          <a:blip r:embed="rId3"/>
          <a:stretch>
            <a:fillRect/>
          </a:stretch>
        </p:blipFill>
        <p:spPr>
          <a:xfrm>
            <a:off x="763905" y="1661160"/>
            <a:ext cx="8117840" cy="449580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14</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7315" y="1905000"/>
            <a:ext cx="4636135" cy="4565015"/>
          </a:xfrm>
        </p:spPr>
        <p:txBody>
          <a:bodyPr>
            <a:normAutofit fontScale="90000"/>
          </a:bodyPr>
          <a:lstStyle/>
          <a:p>
            <a:pPr marL="342900" indent="-342900">
              <a:buSzPct val="100000"/>
              <a:buFont typeface="Arial" panose="020B0604020202020204" pitchFamily="34" charset="0"/>
              <a:buChar char="•"/>
            </a:pPr>
            <a:r>
              <a:rPr lang="en-US" sz="2665">
                <a:solidFill>
                  <a:schemeClr val="tx1"/>
                </a:solidFill>
                <a:latin typeface="Times New Roman" panose="02020603050405020304" pitchFamily="18" charset="0"/>
                <a:cs typeface="Times New Roman" panose="02020603050405020304" pitchFamily="18" charset="0"/>
              </a:rPr>
              <a:t>User Registration/Login Interface</a:t>
            </a:r>
          </a:p>
          <a:p>
            <a:pPr marL="342900" indent="-342900">
              <a:buSzPct val="100000"/>
              <a:buFont typeface="Arial" panose="020B0604020202020204" pitchFamily="34" charset="0"/>
              <a:buChar char="•"/>
            </a:pPr>
            <a:r>
              <a:rPr lang="en-US" sz="2665">
                <a:solidFill>
                  <a:schemeClr val="tx1"/>
                </a:solidFill>
                <a:latin typeface="Times New Roman" panose="02020603050405020304" pitchFamily="18" charset="0"/>
                <a:cs typeface="Times New Roman" panose="02020603050405020304" pitchFamily="18" charset="0"/>
              </a:rPr>
              <a:t>Forget Password Reset interface </a:t>
            </a:r>
          </a:p>
          <a:p>
            <a:pPr marL="342900" indent="-342900">
              <a:buSzPct val="100000"/>
              <a:buFont typeface="Arial" panose="020B0604020202020204" pitchFamily="34" charset="0"/>
              <a:buChar char="•"/>
            </a:pPr>
            <a:r>
              <a:rPr lang="en-US" sz="2665">
                <a:solidFill>
                  <a:schemeClr val="tx1"/>
                </a:solidFill>
                <a:latin typeface="Times New Roman" panose="02020603050405020304" pitchFamily="18" charset="0"/>
                <a:cs typeface="Times New Roman" panose="02020603050405020304" pitchFamily="18" charset="0"/>
              </a:rPr>
              <a:t>User Dashboard</a:t>
            </a:r>
          </a:p>
          <a:p>
            <a:pPr marL="342900" indent="-342900">
              <a:buSzPct val="100000"/>
              <a:buFont typeface="Arial" panose="020B0604020202020204" pitchFamily="34" charset="0"/>
              <a:buChar char="•"/>
            </a:pPr>
            <a:r>
              <a:rPr lang="en-US" sz="2665">
                <a:solidFill>
                  <a:schemeClr val="tx1"/>
                </a:solidFill>
                <a:latin typeface="Times New Roman" panose="02020603050405020304" pitchFamily="18" charset="0"/>
                <a:cs typeface="Times New Roman" panose="02020603050405020304" pitchFamily="18" charset="0"/>
              </a:rPr>
              <a:t>Supplier Interface</a:t>
            </a:r>
          </a:p>
          <a:p>
            <a:pPr marL="800100" lvl="1" indent="-342900">
              <a:buSzPct val="100000"/>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rPr>
              <a:t> add/remove/update Interface</a:t>
            </a:r>
          </a:p>
          <a:p>
            <a:pPr marL="342900" indent="-342900">
              <a:buSzPct val="100000"/>
              <a:buFont typeface="Arial" panose="020B0604020202020204" pitchFamily="34" charset="0"/>
              <a:buChar char="•"/>
            </a:pPr>
            <a:r>
              <a:rPr lang="en-US" sz="2665">
                <a:solidFill>
                  <a:schemeClr val="tx1"/>
                </a:solidFill>
                <a:latin typeface="Times New Roman" panose="02020603050405020304" pitchFamily="18" charset="0"/>
                <a:cs typeface="Times New Roman" panose="02020603050405020304" pitchFamily="18" charset="0"/>
                <a:sym typeface="+mn-ea"/>
              </a:rPr>
              <a:t>Product Details Interface</a:t>
            </a:r>
          </a:p>
          <a:p>
            <a:pPr marL="800100" lvl="1" indent="-342900">
              <a:buSzPct val="100000"/>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sym typeface="+mn-ea"/>
              </a:rPr>
              <a:t> add/remove/update Interface</a:t>
            </a:r>
            <a:endParaRPr lang="en-US" sz="2400">
              <a:solidFill>
                <a:schemeClr val="tx1"/>
              </a:solidFill>
              <a:latin typeface="Times New Roman" panose="02020603050405020304" pitchFamily="18" charset="0"/>
              <a:cs typeface="Times New Roman" panose="02020603050405020304" pitchFamily="18" charset="0"/>
            </a:endParaRPr>
          </a:p>
          <a:p>
            <a:pPr marL="342900" indent="-342900">
              <a:buSzPct val="100000"/>
              <a:buFont typeface="Arial" panose="020B0604020202020204" pitchFamily="34" charset="0"/>
              <a:buChar char="•"/>
            </a:pPr>
            <a:r>
              <a:rPr lang="en-US" sz="2665">
                <a:solidFill>
                  <a:schemeClr val="tx1"/>
                </a:solidFill>
                <a:latin typeface="Times New Roman" panose="02020603050405020304" pitchFamily="18" charset="0"/>
                <a:cs typeface="Times New Roman" panose="02020603050405020304" pitchFamily="18" charset="0"/>
              </a:rPr>
              <a:t>Category and Units Interface</a:t>
            </a:r>
          </a:p>
          <a:p>
            <a:pPr marL="800100" lvl="1" indent="-342900">
              <a:buSzPct val="100000"/>
              <a:buFont typeface="Arial" panose="020B0604020202020204" pitchFamily="34" charset="0"/>
              <a:buChar char="•"/>
            </a:pPr>
            <a:r>
              <a:rPr lang="en-US" sz="2400">
                <a:solidFill>
                  <a:schemeClr val="tx1"/>
                </a:solidFill>
                <a:latin typeface="Times New Roman" panose="02020603050405020304" pitchFamily="18" charset="0"/>
                <a:cs typeface="Times New Roman" panose="02020603050405020304" pitchFamily="18" charset="0"/>
                <a:sym typeface="+mn-ea"/>
              </a:rPr>
              <a:t>add/remove/update Interface</a:t>
            </a:r>
            <a:endParaRPr lang="en-US" sz="2400">
              <a:solidFill>
                <a:schemeClr val="tx1"/>
              </a:solidFill>
              <a:latin typeface="Times New Roman" panose="02020603050405020304" pitchFamily="18" charset="0"/>
              <a:cs typeface="Times New Roman" panose="02020603050405020304" pitchFamily="18" charset="0"/>
            </a:endParaRPr>
          </a:p>
          <a:p>
            <a:r>
              <a:rPr lang="en-US" sz="2400"/>
              <a:t></a:t>
            </a:r>
          </a:p>
        </p:txBody>
      </p:sp>
      <p:sp>
        <p:nvSpPr>
          <p:cNvPr id="5" name="Title 4"/>
          <p:cNvSpPr>
            <a:spLocks noGrp="1"/>
          </p:cNvSpPr>
          <p:nvPr>
            <p:ph type="title"/>
          </p:nvPr>
        </p:nvSpPr>
        <p:spPr/>
        <p:txBody>
          <a:bodyPr/>
          <a:lstStyle/>
          <a:p>
            <a:r>
              <a:rPr lang="en-US"/>
              <a:t>GUI - Graphical User Interface</a:t>
            </a:r>
          </a:p>
        </p:txBody>
      </p:sp>
      <p:sp>
        <p:nvSpPr>
          <p:cNvPr id="4" name="Content Placeholder 2"/>
          <p:cNvSpPr>
            <a:spLocks noGrp="1"/>
          </p:cNvSpPr>
          <p:nvPr/>
        </p:nvSpPr>
        <p:spPr>
          <a:xfrm>
            <a:off x="5097780" y="1905000"/>
            <a:ext cx="4046220" cy="4495800"/>
          </a:xfrm>
          <a:prstGeom prst="rect">
            <a:avLst/>
          </a:prstGeom>
          <a:noFill/>
          <a:ln w="9525">
            <a:noFill/>
          </a:ln>
        </p:spPr>
        <p:txBody>
          <a:bodyPr/>
          <a:lstStyle>
            <a:lvl1pPr marL="319405" indent="-319405" algn="l" rtl="0" eaLnBrk="0" fontAlgn="base" hangingPunct="0">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40080" indent="-273050" algn="l" rtl="0" eaLnBrk="0" fontAlgn="base" hangingPunct="0">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a:lstStyle>
          <a:p>
            <a:pPr>
              <a:buSzPct val="1000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Purchase Receipt</a:t>
            </a:r>
          </a:p>
          <a:p>
            <a:pPr>
              <a:buSzPct val="1000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Purchase Payment</a:t>
            </a:r>
          </a:p>
          <a:p>
            <a:pPr>
              <a:buSzPct val="1000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Sales Invoice </a:t>
            </a:r>
          </a:p>
          <a:p>
            <a:pPr>
              <a:buSzPct val="1000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Sales Payment </a:t>
            </a:r>
          </a:p>
          <a:p>
            <a:pPr>
              <a:buSzPct val="1000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Customer Due Check</a:t>
            </a:r>
          </a:p>
          <a:p>
            <a:pPr>
              <a:buSzPct val="1000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Product Stock </a:t>
            </a:r>
          </a:p>
          <a:p>
            <a:pPr>
              <a:buSzPct val="1000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Custom Report</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15</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t>
            </a:r>
            <a:r>
              <a:rPr lang="en-US" dirty="0" err="1"/>
              <a:t>Registraion</a:t>
            </a:r>
            <a:endParaRPr lang="en-US" dirty="0"/>
          </a:p>
        </p:txBody>
      </p:sp>
      <p:pic>
        <p:nvPicPr>
          <p:cNvPr id="15" name="Picture 15" descr="user-Register"/>
          <p:cNvPicPr>
            <a:picLocks noGrp="1" noChangeAspect="1"/>
          </p:cNvPicPr>
          <p:nvPr>
            <p:ph sz="quarter" idx="4294967295"/>
          </p:nvPr>
        </p:nvPicPr>
        <p:blipFill>
          <a:blip r:embed="rId3"/>
          <a:srcRect l="6396" t="5516" r="5452" b="6102"/>
          <a:stretch>
            <a:fillRect/>
          </a:stretch>
        </p:blipFill>
        <p:spPr>
          <a:xfrm>
            <a:off x="5410200" y="1685925"/>
            <a:ext cx="3451225" cy="4495800"/>
          </a:xfrm>
          <a:prstGeom prst="rect">
            <a:avLst/>
          </a:prstGeom>
          <a:effectLst>
            <a:outerShdw blurRad="50800" dist="38100" dir="2700000" algn="tl" rotWithShape="0">
              <a:prstClr val="black">
                <a:alpha val="40000"/>
              </a:prstClr>
            </a:outerShdw>
          </a:effectLst>
        </p:spPr>
      </p:pic>
      <p:sp>
        <p:nvSpPr>
          <p:cNvPr id="100" name="Text Box 99"/>
          <p:cNvSpPr txBox="1"/>
          <p:nvPr/>
        </p:nvSpPr>
        <p:spPr>
          <a:xfrm>
            <a:off x="151130" y="1821815"/>
            <a:ext cx="4787265" cy="3215005"/>
          </a:xfrm>
          <a:prstGeom prst="rect">
            <a:avLst/>
          </a:prstGeom>
          <a:noFill/>
          <a:ln w="9525">
            <a:noFill/>
          </a:ln>
        </p:spPr>
        <p:txBody>
          <a:bodyPr wrap="square">
            <a:spAutoFit/>
          </a:bodyPr>
          <a:lstStyle/>
          <a:p>
            <a:pPr marL="265430" indent="-265430"/>
            <a:r>
              <a:rPr lang="en-US" sz="1800" dirty="0">
                <a:latin typeface="Wingdings" panose="05000000000000000000" charset="0"/>
                <a:cs typeface="Times New Roman" panose="02020603050405020304" pitchFamily="18" charset="0"/>
              </a:rPr>
              <a:t>l </a:t>
            </a:r>
            <a:r>
              <a:rPr lang="en-US" sz="2900" dirty="0">
                <a:latin typeface="Times New Roman" panose="02020603050405020304" pitchFamily="18" charset="0"/>
              </a:rPr>
              <a:t>Create new user</a:t>
            </a:r>
          </a:p>
          <a:p>
            <a:pPr marL="265430" indent="-265430"/>
            <a:r>
              <a:rPr lang="en-US" sz="1800" dirty="0">
                <a:latin typeface="Wingdings" panose="05000000000000000000" charset="0"/>
                <a:cs typeface="Times New Roman" panose="02020603050405020304" pitchFamily="18" charset="0"/>
              </a:rPr>
              <a:t>l </a:t>
            </a:r>
            <a:r>
              <a:rPr lang="en-US" sz="2900" dirty="0">
                <a:latin typeface="Times New Roman" panose="02020603050405020304" pitchFamily="18" charset="0"/>
              </a:rPr>
              <a:t>Verified by Email </a:t>
            </a:r>
          </a:p>
          <a:p>
            <a:pPr marL="265430" indent="-265430"/>
            <a:r>
              <a:rPr lang="en-US" sz="1800" dirty="0">
                <a:latin typeface="Wingdings" panose="05000000000000000000" charset="0"/>
                <a:cs typeface="Times New Roman" panose="02020603050405020304" pitchFamily="18" charset="0"/>
              </a:rPr>
              <a:t>l </a:t>
            </a:r>
            <a:r>
              <a:rPr lang="en-US" sz="2900" dirty="0">
                <a:latin typeface="Times New Roman" panose="02020603050405020304" pitchFamily="18" charset="0"/>
              </a:rPr>
              <a:t>Unique Username and email check authentication</a:t>
            </a:r>
          </a:p>
          <a:p>
            <a:pPr marL="265430" indent="-265430"/>
            <a:r>
              <a:rPr lang="en-US" sz="1800" dirty="0">
                <a:latin typeface="Wingdings" panose="05000000000000000000" charset="0"/>
                <a:cs typeface="Times New Roman" panose="02020603050405020304" pitchFamily="18" charset="0"/>
              </a:rPr>
              <a:t>l </a:t>
            </a:r>
            <a:r>
              <a:rPr lang="en-US" sz="2900" dirty="0">
                <a:latin typeface="Times New Roman" panose="02020603050405020304" pitchFamily="18" charset="0"/>
              </a:rPr>
              <a:t>Password length minimum 6 digit</a:t>
            </a:r>
          </a:p>
          <a:p>
            <a:pPr marL="265430" indent="-265430"/>
            <a:r>
              <a:rPr lang="en-US" sz="1800" dirty="0">
                <a:latin typeface="Wingdings" panose="05000000000000000000" charset="0"/>
                <a:cs typeface="Times New Roman" panose="02020603050405020304" pitchFamily="18" charset="0"/>
              </a:rPr>
              <a:t>l </a:t>
            </a:r>
            <a:r>
              <a:rPr lang="en-US" sz="2900" dirty="0">
                <a:latin typeface="Times New Roman" panose="02020603050405020304" pitchFamily="18" charset="0"/>
              </a:rPr>
              <a:t>Retype the same password</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16</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Login Panel</a:t>
            </a:r>
          </a:p>
        </p:txBody>
      </p:sp>
      <p:pic>
        <p:nvPicPr>
          <p:cNvPr id="14" name="Picture 14" descr="login"/>
          <p:cNvPicPr>
            <a:picLocks noGrp="1" noChangeAspect="1"/>
          </p:cNvPicPr>
          <p:nvPr>
            <p:ph sz="quarter" idx="4294967295"/>
          </p:nvPr>
        </p:nvPicPr>
        <p:blipFill>
          <a:blip r:embed="rId3"/>
          <a:stretch>
            <a:fillRect/>
          </a:stretch>
        </p:blipFill>
        <p:spPr>
          <a:xfrm>
            <a:off x="2496185" y="1810385"/>
            <a:ext cx="4387850" cy="4298950"/>
          </a:xfrm>
          <a:prstGeom prst="rect">
            <a:avLst/>
          </a:prstGeom>
          <a:effectLst>
            <a:outerShdw blurRad="50800" dist="38100" dir="10800000" algn="r" rotWithShape="0">
              <a:prstClr val="black">
                <a:alpha val="40000"/>
              </a:prstClr>
            </a:outerShdw>
          </a:effectLst>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17</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Dashboard</a:t>
            </a:r>
          </a:p>
        </p:txBody>
      </p:sp>
      <p:pic>
        <p:nvPicPr>
          <p:cNvPr id="19" name="Picture 19" descr="Dashboard"/>
          <p:cNvPicPr>
            <a:picLocks noGrp="1" noChangeAspect="1"/>
          </p:cNvPicPr>
          <p:nvPr>
            <p:ph sz="quarter" idx="4294967295"/>
          </p:nvPr>
        </p:nvPicPr>
        <p:blipFill>
          <a:blip r:embed="rId3"/>
          <a:stretch>
            <a:fillRect/>
          </a:stretch>
        </p:blipFill>
        <p:spPr>
          <a:xfrm>
            <a:off x="2717165" y="1967230"/>
            <a:ext cx="6426835" cy="3591560"/>
          </a:xfrm>
          <a:prstGeom prst="rect">
            <a:avLst/>
          </a:prstGeom>
        </p:spPr>
      </p:pic>
      <p:sp>
        <p:nvSpPr>
          <p:cNvPr id="4" name="Text Box 3"/>
          <p:cNvSpPr txBox="1"/>
          <p:nvPr/>
        </p:nvSpPr>
        <p:spPr>
          <a:xfrm>
            <a:off x="124460" y="1707515"/>
            <a:ext cx="2841625" cy="4007485"/>
          </a:xfrm>
          <a:prstGeom prst="rect">
            <a:avLst/>
          </a:prstGeom>
          <a:noFill/>
        </p:spPr>
        <p:txBody>
          <a:bodyPr wrap="square" rtlCol="0">
            <a:noAutofit/>
          </a:bodyPr>
          <a:lstStyle/>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Menu Bar</a:t>
            </a:r>
          </a:p>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Company Logo</a:t>
            </a:r>
          </a:p>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User Name</a:t>
            </a:r>
          </a:p>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User Profile image</a:t>
            </a:r>
          </a:p>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Top Bar</a:t>
            </a:r>
          </a:p>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User update button</a:t>
            </a:r>
          </a:p>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Basic information  </a:t>
            </a:r>
          </a:p>
          <a:p>
            <a:pPr marL="342900" lvl="0" indent="-342900">
              <a:lnSpc>
                <a:spcPct val="120000"/>
              </a:lnSpc>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Footer </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18</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User Information update</a:t>
            </a:r>
          </a:p>
        </p:txBody>
      </p:sp>
      <p:pic>
        <p:nvPicPr>
          <p:cNvPr id="20" name="Picture 1"/>
          <p:cNvPicPr>
            <a:picLocks noGrp="1" noChangeAspect="1"/>
          </p:cNvPicPr>
          <p:nvPr>
            <p:ph sz="quarter" idx="4294967295"/>
          </p:nvPr>
        </p:nvPicPr>
        <p:blipFill>
          <a:blip r:embed="rId3"/>
          <a:stretch>
            <a:fillRect/>
          </a:stretch>
        </p:blipFill>
        <p:spPr>
          <a:xfrm>
            <a:off x="407670" y="2035810"/>
            <a:ext cx="8451215" cy="3974465"/>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19</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Forget Password</a:t>
            </a:r>
            <a:endParaRPr lang="en-US"/>
          </a:p>
        </p:txBody>
      </p:sp>
      <p:pic>
        <p:nvPicPr>
          <p:cNvPr id="22" name="Picture 3"/>
          <p:cNvPicPr>
            <a:picLocks noGrp="1" noChangeAspect="1"/>
          </p:cNvPicPr>
          <p:nvPr>
            <p:ph sz="quarter" idx="4294967295"/>
          </p:nvPr>
        </p:nvPicPr>
        <p:blipFill>
          <a:blip r:embed="rId3"/>
          <a:srcRect l="4864" t="9197" r="4902" b="8503"/>
          <a:stretch>
            <a:fillRect/>
          </a:stretch>
        </p:blipFill>
        <p:spPr>
          <a:xfrm>
            <a:off x="4866005" y="3171825"/>
            <a:ext cx="3811905" cy="3525520"/>
          </a:xfrm>
          <a:prstGeom prst="rect">
            <a:avLst/>
          </a:prstGeom>
          <a:noFill/>
          <a:ln>
            <a:noFill/>
          </a:ln>
        </p:spPr>
      </p:pic>
      <p:sp>
        <p:nvSpPr>
          <p:cNvPr id="100" name="Text Box 99"/>
          <p:cNvSpPr txBox="1"/>
          <p:nvPr/>
        </p:nvSpPr>
        <p:spPr>
          <a:xfrm>
            <a:off x="92710" y="1631950"/>
            <a:ext cx="5436870" cy="1443990"/>
          </a:xfrm>
          <a:prstGeom prst="rect">
            <a:avLst/>
          </a:prstGeom>
          <a:noFill/>
          <a:ln w="9525">
            <a:noFill/>
          </a:ln>
        </p:spPr>
        <p:txBody>
          <a:bodyPr>
            <a:noAutofit/>
          </a:bodyPr>
          <a:lstStyle/>
          <a:p>
            <a:pPr marL="285750" indent="-285750">
              <a:lnSpc>
                <a:spcPct val="110000"/>
              </a:lnSpc>
              <a:buFont typeface="Arial" panose="020B0604020202020204" pitchFamily="34" charset="0"/>
              <a:buChar char="•"/>
            </a:pPr>
            <a:r>
              <a:rPr lang="en-US" sz="1800" b="1">
                <a:latin typeface="Times New Roman" panose="02020603050405020304" pitchFamily="18" charset="0"/>
              </a:rPr>
              <a:t>Step 1: Provide your valid Email to authenticate.</a:t>
            </a:r>
          </a:p>
          <a:p>
            <a:pPr marL="285750" indent="-285750">
              <a:lnSpc>
                <a:spcPct val="110000"/>
              </a:lnSpc>
              <a:buFont typeface="Arial" panose="020B0604020202020204" pitchFamily="34" charset="0"/>
              <a:buChar char="•"/>
            </a:pPr>
            <a:r>
              <a:rPr lang="en-US" sz="1800" b="1">
                <a:latin typeface="Times New Roman" panose="02020603050405020304" pitchFamily="18" charset="0"/>
              </a:rPr>
              <a:t>Step 2: Sent a Verification link to the Email</a:t>
            </a:r>
          </a:p>
          <a:p>
            <a:pPr marL="285750" indent="-285750">
              <a:lnSpc>
                <a:spcPct val="110000"/>
              </a:lnSpc>
              <a:buFont typeface="Arial" panose="020B0604020202020204" pitchFamily="34" charset="0"/>
              <a:buChar char="•"/>
            </a:pPr>
            <a:r>
              <a:rPr lang="en-US" sz="1800" b="1">
                <a:latin typeface="Times New Roman" panose="02020603050405020304" pitchFamily="18" charset="0"/>
              </a:rPr>
              <a:t>Step 3: Go to Email and validate the link</a:t>
            </a:r>
          </a:p>
          <a:p>
            <a:pPr marL="285750" indent="-285750">
              <a:lnSpc>
                <a:spcPct val="110000"/>
              </a:lnSpc>
              <a:buFont typeface="Arial" panose="020B0604020202020204" pitchFamily="34" charset="0"/>
              <a:buChar char="•"/>
            </a:pPr>
            <a:r>
              <a:rPr lang="en-US" sz="1800" b="1">
                <a:latin typeface="Times New Roman" panose="02020603050405020304" pitchFamily="18" charset="0"/>
              </a:rPr>
              <a:t>Step 4: Set a new password</a:t>
            </a:r>
          </a:p>
        </p:txBody>
      </p:sp>
      <p:pic>
        <p:nvPicPr>
          <p:cNvPr id="14" name="Picture 14" descr="login"/>
          <p:cNvPicPr>
            <a:picLocks noGrp="1" noChangeAspect="1"/>
          </p:cNvPicPr>
          <p:nvPr>
            <p:ph sz="quarter" idx="4294967295"/>
          </p:nvPr>
        </p:nvPicPr>
        <p:blipFill>
          <a:blip r:embed="rId4"/>
          <a:stretch>
            <a:fillRect/>
          </a:stretch>
        </p:blipFill>
        <p:spPr>
          <a:xfrm>
            <a:off x="857885" y="3171825"/>
            <a:ext cx="3498850" cy="3429000"/>
          </a:xfrm>
          <a:prstGeom prst="rect">
            <a:avLst/>
          </a:prstGeom>
          <a:noFill/>
          <a:ln w="9525">
            <a:noFill/>
          </a:ln>
          <a:effectLst>
            <a:outerShdw blurRad="50800" dist="38100" dir="10800000" algn="r" rotWithShape="0">
              <a:prstClr val="black">
                <a:alpha val="40000"/>
              </a:prstClr>
            </a:outerShdw>
          </a:effectLst>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20</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Forget Password Verification link</a:t>
            </a:r>
          </a:p>
        </p:txBody>
      </p:sp>
      <p:pic>
        <p:nvPicPr>
          <p:cNvPr id="23" name="Picture 4"/>
          <p:cNvPicPr>
            <a:picLocks noGrp="1" noChangeAspect="1"/>
          </p:cNvPicPr>
          <p:nvPr>
            <p:ph sz="quarter" idx="4294967295"/>
          </p:nvPr>
        </p:nvPicPr>
        <p:blipFill>
          <a:blip r:embed="rId3"/>
          <a:srcRect b="3280"/>
          <a:stretch>
            <a:fillRect/>
          </a:stretch>
        </p:blipFill>
        <p:spPr>
          <a:xfrm>
            <a:off x="265430" y="2059305"/>
            <a:ext cx="4883785" cy="3538220"/>
          </a:xfrm>
          <a:prstGeom prst="rect">
            <a:avLst/>
          </a:prstGeom>
          <a:noFill/>
          <a:ln>
            <a:noFill/>
          </a:ln>
        </p:spPr>
      </p:pic>
      <p:pic>
        <p:nvPicPr>
          <p:cNvPr id="24" name="Picture 5"/>
          <p:cNvPicPr>
            <a:picLocks noGrp="1" noChangeAspect="1"/>
          </p:cNvPicPr>
          <p:nvPr>
            <p:ph sz="quarter" idx="4294967295"/>
          </p:nvPr>
        </p:nvPicPr>
        <p:blipFill>
          <a:blip r:embed="rId4" cstate="print">
            <a:extLst>
              <a:ext uri="{28A0092B-C50C-407E-A947-70E740481C1C}">
                <a14:useLocalDpi xmlns:a14="http://schemas.microsoft.com/office/drawing/2010/main" xmlns="" val="0"/>
              </a:ext>
            </a:extLst>
          </a:blip>
          <a:srcRect t="2392" b="2977"/>
          <a:stretch>
            <a:fillRect/>
          </a:stretch>
        </p:blipFill>
        <p:spPr>
          <a:xfrm>
            <a:off x="5257800" y="2161540"/>
            <a:ext cx="3479800" cy="3646805"/>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21</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Purchase Receipt Interface</a:t>
            </a:r>
          </a:p>
        </p:txBody>
      </p:sp>
      <p:pic>
        <p:nvPicPr>
          <p:cNvPr id="53" name="Picture 9"/>
          <p:cNvPicPr>
            <a:picLocks noGrp="1" noChangeAspect="1"/>
          </p:cNvPicPr>
          <p:nvPr>
            <p:ph sz="quarter" idx="4294967295"/>
          </p:nvPr>
        </p:nvPicPr>
        <p:blipFill>
          <a:blip r:embed="rId3"/>
          <a:stretch>
            <a:fillRect/>
          </a:stretch>
        </p:blipFill>
        <p:spPr>
          <a:xfrm>
            <a:off x="1408430" y="1650365"/>
            <a:ext cx="7092950" cy="457200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22</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Status-wise Purchase Data</a:t>
            </a:r>
          </a:p>
        </p:txBody>
      </p:sp>
      <p:pic>
        <p:nvPicPr>
          <p:cNvPr id="60" name="Picture 15"/>
          <p:cNvPicPr>
            <a:picLocks noGrp="1" noChangeAspect="1"/>
          </p:cNvPicPr>
          <p:nvPr>
            <p:ph sz="quarter" idx="4294967295"/>
          </p:nvPr>
        </p:nvPicPr>
        <p:blipFill>
          <a:blip r:embed="rId3"/>
          <a:stretch>
            <a:fillRect/>
          </a:stretch>
        </p:blipFill>
        <p:spPr>
          <a:xfrm>
            <a:off x="1299845" y="1966595"/>
            <a:ext cx="7089140" cy="415417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23</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Purchase Payment</a:t>
            </a:r>
          </a:p>
        </p:txBody>
      </p:sp>
      <p:pic>
        <p:nvPicPr>
          <p:cNvPr id="61" name="Picture 16"/>
          <p:cNvPicPr>
            <a:picLocks noGrp="1" noChangeAspect="1"/>
          </p:cNvPicPr>
          <p:nvPr>
            <p:ph sz="quarter" idx="4294967295"/>
          </p:nvPr>
        </p:nvPicPr>
        <p:blipFill>
          <a:blip r:embed="rId3"/>
          <a:srcRect l="1722" t="3080" r="1846" b="1703"/>
          <a:stretch>
            <a:fillRect/>
          </a:stretch>
        </p:blipFill>
        <p:spPr>
          <a:xfrm>
            <a:off x="1988185" y="2121535"/>
            <a:ext cx="4484370" cy="3409315"/>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24</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Purchase Payment</a:t>
            </a:r>
          </a:p>
        </p:txBody>
      </p:sp>
      <p:pic>
        <p:nvPicPr>
          <p:cNvPr id="40" name="Picture 2"/>
          <p:cNvPicPr>
            <a:picLocks noGrp="1" noChangeAspect="1"/>
          </p:cNvPicPr>
          <p:nvPr>
            <p:ph sz="quarter" idx="4294967295"/>
          </p:nvPr>
        </p:nvPicPr>
        <p:blipFill>
          <a:blip r:embed="rId3"/>
          <a:srcRect l="2305" t="2458" r="5841" b="6470"/>
          <a:stretch>
            <a:fillRect/>
          </a:stretch>
        </p:blipFill>
        <p:spPr>
          <a:xfrm>
            <a:off x="1706880" y="1967230"/>
            <a:ext cx="5729605" cy="400431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25</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Sales Invoice</a:t>
            </a:r>
          </a:p>
        </p:txBody>
      </p:sp>
      <p:pic>
        <p:nvPicPr>
          <p:cNvPr id="63" name="Picture 18"/>
          <p:cNvPicPr>
            <a:picLocks noGrp="1" noChangeAspect="1"/>
          </p:cNvPicPr>
          <p:nvPr>
            <p:ph sz="quarter" idx="4294967295"/>
          </p:nvPr>
        </p:nvPicPr>
        <p:blipFill>
          <a:blip r:embed="rId3"/>
          <a:stretch>
            <a:fillRect/>
          </a:stretch>
        </p:blipFill>
        <p:spPr>
          <a:xfrm>
            <a:off x="1000760" y="1961515"/>
            <a:ext cx="7520940" cy="414528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26</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Sales Invoice Dashboard </a:t>
            </a:r>
          </a:p>
        </p:txBody>
      </p:sp>
      <p:pic>
        <p:nvPicPr>
          <p:cNvPr id="65" name="Picture 20"/>
          <p:cNvPicPr>
            <a:picLocks noGrp="1" noChangeAspect="1"/>
          </p:cNvPicPr>
          <p:nvPr>
            <p:ph sz="quarter" idx="4294967295"/>
          </p:nvPr>
        </p:nvPicPr>
        <p:blipFill>
          <a:blip r:embed="rId3"/>
          <a:stretch>
            <a:fillRect/>
          </a:stretch>
        </p:blipFill>
        <p:spPr>
          <a:xfrm>
            <a:off x="682625" y="1859280"/>
            <a:ext cx="7913370" cy="398272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27</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Product Delivery</a:t>
            </a:r>
          </a:p>
        </p:txBody>
      </p:sp>
      <p:pic>
        <p:nvPicPr>
          <p:cNvPr id="4" name="Content Placeholder 3"/>
          <p:cNvPicPr>
            <a:picLocks noGrp="1" noChangeAspect="1"/>
          </p:cNvPicPr>
          <p:nvPr>
            <p:ph sz="quarter" idx="4294967295"/>
          </p:nvPr>
        </p:nvPicPr>
        <p:blipFill>
          <a:blip r:embed="rId2"/>
          <a:stretch>
            <a:fillRect/>
          </a:stretch>
        </p:blipFill>
        <p:spPr>
          <a:xfrm>
            <a:off x="495300" y="1939290"/>
            <a:ext cx="8153400" cy="4180840"/>
          </a:xfrm>
          <a:prstGeom prst="rect">
            <a:avLst/>
          </a:prstGeom>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28</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Custoerm Receipt</a:t>
            </a:r>
          </a:p>
        </p:txBody>
      </p:sp>
      <p:pic>
        <p:nvPicPr>
          <p:cNvPr id="67" name="Picture 22"/>
          <p:cNvPicPr>
            <a:picLocks noGrp="1" noChangeAspect="1"/>
          </p:cNvPicPr>
          <p:nvPr>
            <p:ph sz="quarter" idx="4294967295"/>
          </p:nvPr>
        </p:nvPicPr>
        <p:blipFill>
          <a:blip r:embed="rId3"/>
          <a:stretch>
            <a:fillRect/>
          </a:stretch>
        </p:blipFill>
        <p:spPr>
          <a:xfrm>
            <a:off x="1761490" y="1591945"/>
            <a:ext cx="5621020" cy="512318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29</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Sales Report</a:t>
            </a:r>
          </a:p>
        </p:txBody>
      </p:sp>
      <p:pic>
        <p:nvPicPr>
          <p:cNvPr id="16" name="Picture 1"/>
          <p:cNvPicPr>
            <a:picLocks noGrp="1" noChangeAspect="1"/>
          </p:cNvPicPr>
          <p:nvPr>
            <p:ph sz="quarter" idx="4294967295"/>
          </p:nvPr>
        </p:nvPicPr>
        <p:blipFill>
          <a:blip r:embed="rId3"/>
          <a:srcRect t="5179"/>
          <a:stretch>
            <a:fillRect/>
          </a:stretch>
        </p:blipFill>
        <p:spPr>
          <a:xfrm>
            <a:off x="1066800" y="1770380"/>
            <a:ext cx="7152005" cy="4464685"/>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30</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Customer Due Report</a:t>
            </a:r>
          </a:p>
        </p:txBody>
      </p:sp>
      <p:pic>
        <p:nvPicPr>
          <p:cNvPr id="58" name="Picture 5"/>
          <p:cNvPicPr>
            <a:picLocks noGrp="1" noChangeAspect="1"/>
          </p:cNvPicPr>
          <p:nvPr>
            <p:ph sz="quarter" idx="4294967295"/>
          </p:nvPr>
        </p:nvPicPr>
        <p:blipFill>
          <a:blip r:embed="rId3"/>
          <a:stretch>
            <a:fillRect/>
          </a:stretch>
        </p:blipFill>
        <p:spPr>
          <a:xfrm>
            <a:off x="1402080" y="1706245"/>
            <a:ext cx="6462395" cy="478663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31</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Product List Report</a:t>
            </a:r>
          </a:p>
        </p:txBody>
      </p:sp>
      <p:pic>
        <p:nvPicPr>
          <p:cNvPr id="66" name="Picture 6"/>
          <p:cNvPicPr>
            <a:picLocks noGrp="1" noChangeAspect="1"/>
          </p:cNvPicPr>
          <p:nvPr>
            <p:ph sz="quarter" idx="4294967295"/>
          </p:nvPr>
        </p:nvPicPr>
        <p:blipFill>
          <a:blip r:embed="rId3"/>
          <a:stretch>
            <a:fillRect/>
          </a:stretch>
        </p:blipFill>
        <p:spPr>
          <a:xfrm>
            <a:off x="2414270" y="1732915"/>
            <a:ext cx="4071620" cy="497332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32</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Product Stock Report</a:t>
            </a:r>
          </a:p>
        </p:txBody>
      </p:sp>
      <p:pic>
        <p:nvPicPr>
          <p:cNvPr id="68" name="Picture 7"/>
          <p:cNvPicPr>
            <a:picLocks noGrp="1" noChangeAspect="1"/>
          </p:cNvPicPr>
          <p:nvPr>
            <p:ph sz="quarter" idx="4294967295"/>
          </p:nvPr>
        </p:nvPicPr>
        <p:blipFill>
          <a:blip r:embed="rId3"/>
          <a:stretch>
            <a:fillRect/>
          </a:stretch>
        </p:blipFill>
        <p:spPr>
          <a:xfrm>
            <a:off x="2668270" y="1659890"/>
            <a:ext cx="4126865" cy="4933950"/>
          </a:xfrm>
          <a:prstGeom prst="rect">
            <a:avLst/>
          </a:prstGeom>
          <a:noFill/>
          <a:ln>
            <a:noFill/>
          </a:ln>
        </p:spPr>
      </p:pic>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33</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33095" y="4014470"/>
            <a:ext cx="7696200" cy="1336040"/>
          </a:xfrm>
        </p:spPr>
        <p:txBody>
          <a:bodyPr>
            <a:normAutofit fontScale="92500"/>
          </a:bodyPr>
          <a:lstStyle/>
          <a:p>
            <a:pPr marL="342900" indent="-342900">
              <a:buClr>
                <a:srgbClr val="000000"/>
              </a:buClr>
              <a:buSzPct val="160000"/>
              <a:buFont typeface="Arial" panose="020B0604020202020204" pitchFamily="34" charset="0"/>
              <a:buChar char="•"/>
            </a:pPr>
            <a:r>
              <a:rPr lang="en-US">
                <a:latin typeface="Times New Roman" panose="02020603050405020304" pitchFamily="18" charset="0"/>
                <a:cs typeface="Times New Roman" panose="02020603050405020304" pitchFamily="18" charset="0"/>
                <a:sym typeface="+mn-ea"/>
              </a:rPr>
              <a:t>I think EPMS Software makes the business more profitable, more easier, and more accurate. The business improving and progressing day by day by using EPMS Software.</a:t>
            </a:r>
            <a:endParaRPr lang="en-US">
              <a:latin typeface="Times New Roman" panose="02020603050405020304" pitchFamily="18" charset="0"/>
              <a:cs typeface="Times New Roman" panose="02020603050405020304" pitchFamily="18" charset="0"/>
            </a:endParaRPr>
          </a:p>
          <a:p>
            <a:endParaRPr lang="en-US"/>
          </a:p>
        </p:txBody>
      </p:sp>
      <p:sp>
        <p:nvSpPr>
          <p:cNvPr id="3" name="Title 2"/>
          <p:cNvSpPr>
            <a:spLocks noGrp="1"/>
          </p:cNvSpPr>
          <p:nvPr>
            <p:ph type="title"/>
          </p:nvPr>
        </p:nvSpPr>
        <p:spPr/>
        <p:txBody>
          <a:bodyPr/>
          <a:lstStyle/>
          <a:p>
            <a:r>
              <a:rPr lang="en-US">
                <a:sym typeface="+mn-ea"/>
              </a:rPr>
              <a:t>Conclusion</a:t>
            </a:r>
            <a:endParaRPr lang="en-US"/>
          </a:p>
        </p:txBody>
      </p:sp>
      <p:sp>
        <p:nvSpPr>
          <p:cNvPr id="4" name="Text Box 3"/>
          <p:cNvSpPr txBox="1"/>
          <p:nvPr/>
        </p:nvSpPr>
        <p:spPr>
          <a:xfrm>
            <a:off x="633095" y="2147570"/>
            <a:ext cx="7531735" cy="1568450"/>
          </a:xfrm>
          <a:prstGeom prst="rect">
            <a:avLst/>
          </a:prstGeom>
          <a:noFill/>
        </p:spPr>
        <p:txBody>
          <a:bodyPr wrap="square" rtlCol="0" anchor="t">
            <a:spAutoFit/>
          </a:bodyPr>
          <a:lstStyle/>
          <a:p>
            <a:pPr marL="342900" indent="-342900">
              <a:buClr>
                <a:srgbClr val="000000"/>
              </a:buClr>
              <a:buSzPct val="160000"/>
              <a:buFont typeface="Arial" panose="020B0604020202020204" pitchFamily="34" charset="0"/>
              <a:buChar char="•"/>
            </a:pPr>
            <a:r>
              <a:rPr lang="en-US" sz="2400">
                <a:latin typeface="Times New Roman" panose="02020603050405020304" pitchFamily="18" charset="0"/>
                <a:cs typeface="Times New Roman" panose="02020603050405020304" pitchFamily="18" charset="0"/>
                <a:sym typeface="+mn-ea"/>
              </a:rPr>
              <a:t>Enterprise Product Management System (EPMS) will be very useful and needful software for a medium level of business, especially a wholesales business or retailer business. </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34</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Future Work</a:t>
            </a:r>
          </a:p>
        </p:txBody>
      </p:sp>
      <p:sp>
        <p:nvSpPr>
          <p:cNvPr id="3" name="Text Placeholder 2"/>
          <p:cNvSpPr>
            <a:spLocks noGrp="1"/>
          </p:cNvSpPr>
          <p:nvPr>
            <p:ph type="body" idx="1"/>
          </p:nvPr>
        </p:nvSpPr>
        <p:spPr>
          <a:xfrm>
            <a:off x="231140" y="1743710"/>
            <a:ext cx="8836660" cy="5002530"/>
          </a:xfrm>
        </p:spPr>
        <p:txBody>
          <a:bodyPr>
            <a:normAutofit fontScale="92500"/>
          </a:bodyPr>
          <a:lstStyle/>
          <a:p>
            <a:pPr>
              <a:buFont typeface="Wingdings" panose="05000000000000000000" charset="0"/>
              <a:buChar char="Ø"/>
            </a:pPr>
            <a:r>
              <a:rPr lang="en-US" sz="2200" b="1"/>
              <a:t> </a:t>
            </a:r>
            <a:r>
              <a:rPr lang="en-US" b="1">
                <a:latin typeface="Times New Roman" panose="02020603050405020304" pitchFamily="18" charset="0"/>
                <a:cs typeface="Times New Roman" panose="02020603050405020304" pitchFamily="18" charset="0"/>
              </a:rPr>
              <a:t>Mobile Apps Integration:</a:t>
            </a:r>
            <a:r>
              <a:rPr lang="en-US">
                <a:latin typeface="Times New Roman" panose="02020603050405020304" pitchFamily="18" charset="0"/>
                <a:cs typeface="Times New Roman" panose="02020603050405020304" pitchFamily="18" charset="0"/>
              </a:rPr>
              <a:t> Android apps will be created by integrated with this EPMS. </a:t>
            </a:r>
          </a:p>
          <a:p>
            <a:pPr>
              <a:buFont typeface="Wingdings" panose="05000000000000000000" charset="0"/>
              <a:buChar char="Ø"/>
            </a:pPr>
            <a:r>
              <a:rPr lang="en-US" b="1">
                <a:latin typeface="Times New Roman" panose="02020603050405020304" pitchFamily="18" charset="0"/>
                <a:cs typeface="Times New Roman" panose="02020603050405020304" pitchFamily="18" charset="0"/>
              </a:rPr>
              <a:t> Bar-code Scan:</a:t>
            </a:r>
            <a:r>
              <a:rPr lang="en-US">
                <a:latin typeface="Times New Roman" panose="02020603050405020304" pitchFamily="18" charset="0"/>
                <a:cs typeface="Times New Roman" panose="02020603050405020304" pitchFamily="18" charset="0"/>
              </a:rPr>
              <a:t> For sales invoices and purchase receipts, the Bar-code will make it faster and smoother products add.</a:t>
            </a:r>
          </a:p>
          <a:p>
            <a:pPr>
              <a:buFont typeface="Wingdings" panose="05000000000000000000" charset="0"/>
              <a:buChar char="Ø"/>
            </a:pPr>
            <a:r>
              <a:rPr lang="en-US" b="1">
                <a:latin typeface="Times New Roman" panose="02020603050405020304" pitchFamily="18" charset="0"/>
                <a:cs typeface="Times New Roman" panose="02020603050405020304" pitchFamily="18" charset="0"/>
              </a:rPr>
              <a:t> SMS Integration:</a:t>
            </a:r>
            <a:r>
              <a:rPr lang="en-US">
                <a:latin typeface="Times New Roman" panose="02020603050405020304" pitchFamily="18" charset="0"/>
                <a:cs typeface="Times New Roman" panose="02020603050405020304" pitchFamily="18" charset="0"/>
              </a:rPr>
              <a:t> After sales, a customer can receive a digital receipt through SMS. Also, a customer will be notified by SMS about their total previous due.</a:t>
            </a:r>
          </a:p>
          <a:p>
            <a:pPr>
              <a:buFont typeface="Wingdings" panose="05000000000000000000" charset="0"/>
              <a:buChar char="Ø"/>
            </a:pPr>
            <a:r>
              <a:rPr lang="en-US" b="1">
                <a:latin typeface="Times New Roman" panose="02020603050405020304" pitchFamily="18" charset="0"/>
                <a:cs typeface="Times New Roman" panose="02020603050405020304" pitchFamily="18" charset="0"/>
              </a:rPr>
              <a:t> Email Integration:</a:t>
            </a:r>
            <a:r>
              <a:rPr lang="en-US">
                <a:latin typeface="Times New Roman" panose="02020603050405020304" pitchFamily="18" charset="0"/>
                <a:cs typeface="Times New Roman" panose="02020603050405020304" pitchFamily="18" charset="0"/>
              </a:rPr>
              <a:t> By Email, a customer can receive an invoice receipt. </a:t>
            </a:r>
          </a:p>
          <a:p>
            <a:pPr>
              <a:buFont typeface="Wingdings" panose="05000000000000000000" charset="0"/>
              <a:buChar char="Ø"/>
            </a:pPr>
            <a:r>
              <a:rPr lang="en-US" b="1">
                <a:latin typeface="Times New Roman" panose="02020603050405020304" pitchFamily="18" charset="0"/>
                <a:cs typeface="Times New Roman" panose="02020603050405020304" pitchFamily="18" charset="0"/>
              </a:rPr>
              <a:t> Payment Gateway:</a:t>
            </a:r>
            <a:r>
              <a:rPr lang="en-US">
                <a:latin typeface="Times New Roman" panose="02020603050405020304" pitchFamily="18" charset="0"/>
                <a:cs typeface="Times New Roman" panose="02020603050405020304" pitchFamily="18" charset="0"/>
              </a:rPr>
              <a:t> A digital payment gateway will be available for receipt of digital payment through eBanking payment, VISA/Master Card Payment, and Mobile banking like bKash, Rocket, and Nagad payment.</a:t>
            </a:r>
          </a:p>
          <a:p>
            <a:pPr>
              <a:buFont typeface="Wingdings" panose="05000000000000000000" charset="0"/>
              <a:buChar char="Ø"/>
            </a:pPr>
            <a:r>
              <a:rPr lang="en-US" b="1">
                <a:latin typeface="Times New Roman" panose="02020603050405020304" pitchFamily="18" charset="0"/>
                <a:cs typeface="Times New Roman" panose="02020603050405020304" pitchFamily="18" charset="0"/>
              </a:rPr>
              <a:t> User-wise Access:</a:t>
            </a:r>
            <a:r>
              <a:rPr lang="en-US">
                <a:latin typeface="Times New Roman" panose="02020603050405020304" pitchFamily="18" charset="0"/>
                <a:cs typeface="Times New Roman" panose="02020603050405020304" pitchFamily="18" charset="0"/>
              </a:rPr>
              <a:t> Add more restrictions and rule by user-wise access control.</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35</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 </a:t>
            </a:r>
          </a:p>
        </p:txBody>
      </p:sp>
      <p:graphicFrame>
        <p:nvGraphicFramePr>
          <p:cNvPr id="5" name="Content Placeholder 4"/>
          <p:cNvGraphicFramePr>
            <a:graphicFrameLocks noGrp="1"/>
          </p:cNvGraphicFramePr>
          <p:nvPr>
            <p:ph sz="quarter" idx="4294967295"/>
          </p:nvPr>
        </p:nvGraphicFramePr>
        <p:xfrm>
          <a:off x="269875" y="1602740"/>
          <a:ext cx="8153400" cy="5255260"/>
        </p:xfrm>
        <a:graphic>
          <a:graphicData uri="http://schemas.openxmlformats.org/drawingml/2006/table">
            <a:tbl>
              <a:tblPr/>
              <a:tblGrid>
                <a:gridCol w="341630"/>
                <a:gridCol w="7811770"/>
              </a:tblGrid>
              <a:tr h="357505">
                <a:tc>
                  <a:txBody>
                    <a:bodyPr/>
                    <a:lstStyle/>
                    <a:p>
                      <a:pPr indent="0">
                        <a:buNone/>
                      </a:pPr>
                      <a:r>
                        <a:rPr lang="en-US" sz="800" b="0">
                          <a:latin typeface="Times New Roman" panose="02020603050405020304" pitchFamily="18" charset="0"/>
                          <a:cs typeface="Times New Roman" panose="02020603050405020304" pitchFamily="18" charset="0"/>
                        </a:rPr>
                        <a:t>[1]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Shalom Adonai Huaraz Morales and Laberiano Andrade-Arenas, "Inventory Management Analysis under the System Dynamics Model," (IJACSA) International Journal of Advanced Computer Science and Applications,Vol. 12, No. 1, 2021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25120">
                <a:tc>
                  <a:txBody>
                    <a:bodyPr/>
                    <a:lstStyle/>
                    <a:p>
                      <a:pPr indent="0">
                        <a:buNone/>
                      </a:pPr>
                      <a:r>
                        <a:rPr lang="en-US" sz="800" b="0">
                          <a:latin typeface="Times New Roman" panose="02020603050405020304" pitchFamily="18" charset="0"/>
                          <a:cs typeface="Times New Roman" panose="02020603050405020304" pitchFamily="18" charset="0"/>
                        </a:rPr>
                        <a:t>[2]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Thomas Muyumba and Jackson Phiri, "A Web based Inventory Control System using Cloud Architecture and Barcode Technology for Zambia Air Force," (IJACSA) International Journal of Advanced Computer Science and Applications, Vol. 8, No. 11, 2017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47345">
                <a:tc>
                  <a:txBody>
                    <a:bodyPr/>
                    <a:lstStyle/>
                    <a:p>
                      <a:pPr indent="0">
                        <a:buNone/>
                      </a:pPr>
                      <a:r>
                        <a:rPr lang="en-US" sz="800" b="0">
                          <a:latin typeface="Times New Roman" panose="02020603050405020304" pitchFamily="18" charset="0"/>
                          <a:cs typeface="Times New Roman" panose="02020603050405020304" pitchFamily="18" charset="0"/>
                        </a:rPr>
                        <a:t>[3]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Hayder Sabah Salih, Mohanad Ghazi, Mohammad Aljanabi "Implementing an Automated Inventory Management System for Small and Medium-sized Enterprises", Journal IJCSM 'Iraqi Journal for Computer Science and Mathematics', (May, 2023), http://journal.esj.edu.iq/index.php/IJCM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66395">
                <a:tc>
                  <a:txBody>
                    <a:bodyPr/>
                    <a:lstStyle/>
                    <a:p>
                      <a:pPr indent="0">
                        <a:buNone/>
                      </a:pPr>
                      <a:r>
                        <a:rPr lang="en-US" sz="800" b="0">
                          <a:latin typeface="Times New Roman" panose="02020603050405020304" pitchFamily="18" charset="0"/>
                          <a:cs typeface="Times New Roman" panose="02020603050405020304" pitchFamily="18" charset="0"/>
                        </a:rPr>
                        <a:t>[4]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Chan Chin, Sathiapriya Ramiah and Nurul Farhaini Razali "Inventory Management Systems (IMS)" Journal of Applied Technology and Innovation (e -ISSN: 2600-7304) vol. 7, no. 3, (2023), https://www.researchgate.net/publication/372653862_Inventory_Management_Systems_IMS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185420">
                <a:tc>
                  <a:txBody>
                    <a:bodyPr/>
                    <a:lstStyle/>
                    <a:p>
                      <a:pPr indent="0">
                        <a:buNone/>
                      </a:pPr>
                      <a:r>
                        <a:rPr lang="en-US" sz="800" b="0">
                          <a:latin typeface="Times New Roman" panose="02020603050405020304" pitchFamily="18" charset="0"/>
                          <a:cs typeface="Times New Roman" panose="02020603050405020304" pitchFamily="18" charset="0"/>
                        </a:rPr>
                        <a:t>[5]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M.Mukherjee, "Object-Oriented Analysis and Design," International Journal of Advanced Engineering and Management”, Vol. 1, No. 1, pp. 18-24, 2016.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29565">
                <a:tc>
                  <a:txBody>
                    <a:bodyPr/>
                    <a:lstStyle/>
                    <a:p>
                      <a:pPr indent="0">
                        <a:buNone/>
                      </a:pPr>
                      <a:r>
                        <a:rPr lang="en-US" sz="800" b="0">
                          <a:latin typeface="Times New Roman" panose="02020603050405020304" pitchFamily="18" charset="0"/>
                          <a:cs typeface="Times New Roman" panose="02020603050405020304" pitchFamily="18" charset="0"/>
                        </a:rPr>
                        <a:t>[6]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Novia Fuji Lestari and Yuanita Handayati "Analysis of Inventory Management in Order to Reduce Overstock", International Journal of Current Science Research and Review, Volume 05 Issue 09 September 2022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40360">
                <a:tc>
                  <a:txBody>
                    <a:bodyPr/>
                    <a:lstStyle/>
                    <a:p>
                      <a:pPr indent="0">
                        <a:buNone/>
                      </a:pPr>
                      <a:r>
                        <a:rPr lang="en-US" sz="800" b="0">
                          <a:latin typeface="Times New Roman" panose="02020603050405020304" pitchFamily="18" charset="0"/>
                          <a:cs typeface="Times New Roman" panose="02020603050405020304" pitchFamily="18" charset="0"/>
                        </a:rPr>
                        <a:t>[7]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Sutini and Wisnu Yuwono "Implementing Inventory Management SystemAt Toko Sinar Pratama", Conference on Community Engagement Project, Vol. 2, No. 1, (2022), https://journal.uib.ac.id/index.php/concept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242570">
                <a:tc>
                  <a:txBody>
                    <a:bodyPr/>
                    <a:lstStyle/>
                    <a:p>
                      <a:pPr indent="0">
                        <a:buNone/>
                      </a:pPr>
                      <a:r>
                        <a:rPr lang="en-US" sz="800" b="0">
                          <a:latin typeface="Times New Roman" panose="02020603050405020304" pitchFamily="18" charset="0"/>
                          <a:cs typeface="Times New Roman" panose="02020603050405020304" pitchFamily="18" charset="0"/>
                        </a:rPr>
                        <a:t>[8]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M.Mukherjee "Object-Oriented Analysis and Design", International Journal of Advanced Engineering and Management, Vol. 1, No.1, PP. 1-11, 2016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53695">
                <a:tc>
                  <a:txBody>
                    <a:bodyPr/>
                    <a:lstStyle/>
                    <a:p>
                      <a:pPr indent="0">
                        <a:buNone/>
                      </a:pPr>
                      <a:r>
                        <a:rPr lang="en-US" sz="800" b="0">
                          <a:latin typeface="Times New Roman" panose="02020603050405020304" pitchFamily="18" charset="0"/>
                          <a:cs typeface="Times New Roman" panose="02020603050405020304" pitchFamily="18" charset="0"/>
                        </a:rPr>
                        <a:t>[9]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Tinuke O. Oladele, Roseline Oluwaseun Ogundokun, Adekanmi Adeyinka Adegun, Emmanuel Abidemi Adeniyi, Ayobami Tayo Ajanaku, "Development of an inventory management system using association rule", Indonesian Journal of Electrical Engineering and Computer Science, Vol. 21, No. 3, March 2021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68935">
                <a:tc>
                  <a:txBody>
                    <a:bodyPr/>
                    <a:lstStyle/>
                    <a:p>
                      <a:pPr indent="0">
                        <a:buNone/>
                      </a:pPr>
                      <a:r>
                        <a:rPr lang="en-US" sz="800" b="0">
                          <a:latin typeface="Times New Roman" panose="02020603050405020304" pitchFamily="18" charset="0"/>
                          <a:cs typeface="Times New Roman" panose="02020603050405020304" pitchFamily="18" charset="0"/>
                        </a:rPr>
                        <a:t>[10] </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latin typeface="Times New Roman" panose="02020603050405020304" pitchFamily="18" charset="0"/>
                          <a:cs typeface="Times New Roman" panose="02020603050405020304" pitchFamily="18" charset="0"/>
                        </a:rPr>
                        <a:t>Agboola, Malgwi, Mahmud, And Oguntoye, "Development Of A Web-Based Platform For Automating An Inventory Management Of A Small And Medium Enterprise", Fudma Journal Of Sciences (Fjs), Vol. 6 No. 5, October, 2022</a:t>
                      </a:r>
                      <a:endParaRPr lang="en-US" sz="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318770">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[11]</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Nwafor Chidinma Anulika, Idoko Nnmadi A, Agbo Jonathan Chukwuwike, Ogbene Nnaemeka Emeka, "Design and Optimization of An Inventory Management System for Central Stores", International Journal of Interdisciplinary Innovative Research &amp;Development (IJIIRD) ISSN: 2456-236X Vol. 05 Issue 01 | 2020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209550">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[12]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Qiuying Han, "Inventory System Based on ThinkPHP and Bootstrap Framework", American Journal of Theoretical and Applied Research (AJTP), AJTAR, 2019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167640">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[13]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Laravel Official Website,  https://laravel.com</a:t>
                      </a:r>
                    </a:p>
                  </a:txBody>
                  <a:tcPr marL="68580" marR="68580" marT="0" marB="0">
                    <a:lnL>
                      <a:noFill/>
                    </a:lnL>
                    <a:lnR cap="flat">
                      <a:noFill/>
                    </a:lnR>
                    <a:lnT cap="flat">
                      <a:noFill/>
                    </a:lnT>
                    <a:lnB cap="flat">
                      <a:noFill/>
                    </a:lnB>
                    <a:lnTlToBr>
                      <a:noFill/>
                    </a:lnTlToBr>
                    <a:lnBlToTr>
                      <a:noFill/>
                    </a:lnBlToTr>
                    <a:noFill/>
                  </a:tcPr>
                </a:tc>
              </a:tr>
              <a:tr h="178435">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[14]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Bootstrap Official Website, https://getbootstrap.com</a:t>
                      </a:r>
                    </a:p>
                  </a:txBody>
                  <a:tcPr marL="68580" marR="68580" marT="0" marB="0">
                    <a:lnL>
                      <a:noFill/>
                    </a:lnL>
                    <a:lnR cap="flat">
                      <a:noFill/>
                    </a:lnR>
                    <a:lnT cap="flat">
                      <a:noFill/>
                    </a:lnT>
                    <a:lnB cap="flat">
                      <a:noFill/>
                    </a:lnB>
                    <a:lnTlToBr>
                      <a:noFill/>
                    </a:lnTlToBr>
                    <a:lnBlToTr>
                      <a:noFill/>
                    </a:lnBlToTr>
                    <a:noFill/>
                  </a:tcPr>
                </a:tc>
              </a:tr>
              <a:tr h="168275">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[15]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Tutorial Point, </a:t>
                      </a:r>
                      <a:r>
                        <a:rPr lang="en-US" sz="800" b="0" u="sng">
                          <a:solidFill>
                            <a:schemeClr val="tx1"/>
                          </a:solidFill>
                          <a:latin typeface="Times New Roman" panose="02020603050405020304" pitchFamily="18" charset="0"/>
                          <a:cs typeface="Times New Roman" panose="02020603050405020304" pitchFamily="18" charset="0"/>
                        </a:rPr>
                        <a:t> </a:t>
                      </a:r>
                      <a:r>
                        <a:rPr lang="en-US" sz="800" b="0">
                          <a:solidFill>
                            <a:schemeClr val="tx1"/>
                          </a:solidFill>
                          <a:latin typeface="Times New Roman" panose="02020603050405020304" pitchFamily="18" charset="0"/>
                          <a:cs typeface="Times New Roman" panose="02020603050405020304" pitchFamily="18" charset="0"/>
                        </a:rPr>
                        <a:t>https://www.tutorialspoint.com/laravel/laravel_overview.htm</a:t>
                      </a:r>
                    </a:p>
                  </a:txBody>
                  <a:tcPr marL="68580" marR="68580" marT="0" marB="0">
                    <a:lnL>
                      <a:noFill/>
                    </a:lnL>
                    <a:lnR cap="flat">
                      <a:noFill/>
                    </a:lnR>
                    <a:lnT cap="flat">
                      <a:noFill/>
                    </a:lnT>
                    <a:lnB cap="flat">
                      <a:noFill/>
                    </a:lnB>
                    <a:lnTlToBr>
                      <a:noFill/>
                    </a:lnTlToBr>
                    <a:lnBlToTr>
                      <a:noFill/>
                    </a:lnBlToTr>
                    <a:noFill/>
                  </a:tcPr>
                </a:tc>
              </a:tr>
              <a:tr h="156845">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[16]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jQuery Official Website, </a:t>
                      </a:r>
                      <a:r>
                        <a:rPr lang="en-US" sz="800" b="0" u="sng">
                          <a:solidFill>
                            <a:schemeClr val="tx1"/>
                          </a:solidFill>
                          <a:latin typeface="Times New Roman" panose="02020603050405020304" pitchFamily="18" charset="0"/>
                          <a:cs typeface="Times New Roman" panose="02020603050405020304" pitchFamily="18" charset="0"/>
                        </a:rPr>
                        <a:t> https://jquery.com/</a:t>
                      </a:r>
                    </a:p>
                  </a:txBody>
                  <a:tcPr marL="68580" marR="68580" marT="0" marB="0">
                    <a:lnL>
                      <a:noFill/>
                    </a:lnL>
                    <a:lnR cap="flat">
                      <a:noFill/>
                    </a:lnR>
                    <a:lnT cap="flat">
                      <a:noFill/>
                    </a:lnT>
                    <a:lnB cap="flat">
                      <a:noFill/>
                    </a:lnB>
                    <a:lnTlToBr>
                      <a:noFill/>
                    </a:lnTlToBr>
                    <a:lnBlToTr>
                      <a:noFill/>
                    </a:lnBlToTr>
                    <a:noFill/>
                  </a:tcPr>
                </a:tc>
              </a:tr>
              <a:tr h="167640">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[17]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Commerce Mates Study, </a:t>
                      </a:r>
                      <a:r>
                        <a:rPr lang="en-US" sz="800" b="0" u="sng">
                          <a:solidFill>
                            <a:schemeClr val="tx1"/>
                          </a:solidFill>
                          <a:latin typeface="Times New Roman" panose="02020603050405020304" pitchFamily="18" charset="0"/>
                          <a:cs typeface="Times New Roman" panose="02020603050405020304" pitchFamily="18" charset="0"/>
                        </a:rPr>
                        <a:t>  https://www.shareyouressays.com/knowledge/7-main-scopes-of-product-control-and-management/116410</a:t>
                      </a:r>
                    </a:p>
                  </a:txBody>
                  <a:tcPr marL="68580" marR="68580" marT="0" marB="0">
                    <a:lnL>
                      <a:noFill/>
                    </a:lnL>
                    <a:lnR cap="flat">
                      <a:noFill/>
                    </a:lnR>
                    <a:lnT cap="flat">
                      <a:noFill/>
                    </a:lnT>
                    <a:lnB cap="flat">
                      <a:noFill/>
                    </a:lnB>
                    <a:lnTlToBr>
                      <a:noFill/>
                    </a:lnTlToBr>
                    <a:lnBlToTr>
                      <a:noFill/>
                    </a:lnBlToTr>
                    <a:noFill/>
                  </a:tcPr>
                </a:tc>
              </a:tr>
              <a:tr h="209550">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[18]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Share your Study, </a:t>
                      </a:r>
                      <a:r>
                        <a:rPr lang="en-US" sz="800" b="0" u="sng">
                          <a:solidFill>
                            <a:schemeClr val="tx1"/>
                          </a:solidFill>
                          <a:latin typeface="Times New Roman" panose="02020603050405020304" pitchFamily="18" charset="0"/>
                          <a:cs typeface="Times New Roman" panose="02020603050405020304" pitchFamily="18" charset="0"/>
                        </a:rPr>
                        <a:t> http://www.bondedservice.com/what-is-web-based-inventory-management</a:t>
                      </a:r>
                    </a:p>
                  </a:txBody>
                  <a:tcPr marL="68580" marR="68580" marT="0" marB="0">
                    <a:lnL>
                      <a:noFill/>
                    </a:lnL>
                    <a:lnR cap="flat">
                      <a:noFill/>
                    </a:lnR>
                    <a:lnT cap="flat">
                      <a:noFill/>
                    </a:lnT>
                    <a:lnB cap="flat">
                      <a:noFill/>
                    </a:lnB>
                    <a:lnTlToBr>
                      <a:noFill/>
                    </a:lnTlToBr>
                    <a:lnBlToTr>
                      <a:noFill/>
                    </a:lnBlToTr>
                    <a:noFill/>
                  </a:tcPr>
                </a:tc>
              </a:tr>
              <a:tr h="168275">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[19]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Bondedservice,http://www.bondedservice.com/what-is-web-based-inventory-management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r h="293370">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[20]</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cap="flat">
                      <a:noFill/>
                    </a:lnT>
                    <a:lnB cap="flat">
                      <a:noFill/>
                    </a:lnB>
                    <a:lnTlToBr>
                      <a:noFill/>
                    </a:lnTlToBr>
                    <a:lnBlToTr>
                      <a:noFill/>
                    </a:lnBlToTr>
                    <a:noFill/>
                  </a:tcPr>
                </a:tc>
                <a:tc>
                  <a:txBody>
                    <a:bodyPr/>
                    <a:lstStyle/>
                    <a:p>
                      <a:pPr indent="0">
                        <a:buNone/>
                      </a:pPr>
                      <a:r>
                        <a:rPr lang="en-US" sz="800" b="0">
                          <a:solidFill>
                            <a:schemeClr val="tx1"/>
                          </a:solidFill>
                          <a:latin typeface="Times New Roman" panose="02020603050405020304" pitchFamily="18" charset="0"/>
                          <a:cs typeface="Times New Roman" panose="02020603050405020304" pitchFamily="18" charset="0"/>
                        </a:rPr>
                        <a:t>Php Official, https://www.php.net </a:t>
                      </a:r>
                      <a:endParaRPr lang="en-US" sz="800" b="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a:noFill/>
                    </a:lnL>
                    <a:lnR cap="flat">
                      <a:noFill/>
                    </a:lnR>
                    <a:lnT cap="flat">
                      <a:noFill/>
                    </a:lnT>
                    <a:lnB cap="flat">
                      <a:noFill/>
                    </a:lnB>
                    <a:lnTlToBr>
                      <a:noFill/>
                    </a:lnTlToBr>
                    <a:lnBlToTr>
                      <a:noFill/>
                    </a:lnBlToTr>
                    <a:noFill/>
                  </a:tcPr>
                </a:tc>
              </a:tr>
            </a:tbl>
          </a:graphicData>
        </a:graphic>
      </p:graphicFrame>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36</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itle 2"/>
          <p:cNvSpPr>
            <a:spLocks noGrp="1"/>
          </p:cNvSpPr>
          <p:nvPr>
            <p:ph type="title"/>
          </p:nvPr>
        </p:nvSpPr>
        <p:spPr/>
        <p:txBody>
          <a:bodyPr vert="horz" wrap="square" lIns="91440" tIns="45720" rIns="91440" bIns="45720" anchor="ctr" anchorCtr="0"/>
          <a:lstStyle/>
          <a:p>
            <a:r>
              <a:rPr b="1" kern="1200" dirty="0">
                <a:solidFill>
                  <a:srgbClr val="FFFFFF"/>
                </a:solidFill>
                <a:latin typeface="+mj-lt"/>
                <a:ea typeface="+mj-ea"/>
                <a:cs typeface="+mj-cs"/>
              </a:rPr>
              <a:t/>
            </a:r>
            <a:br>
              <a:rPr b="1" kern="1200" dirty="0">
                <a:solidFill>
                  <a:srgbClr val="FFFFFF"/>
                </a:solidFill>
                <a:latin typeface="+mj-lt"/>
                <a:ea typeface="+mj-ea"/>
                <a:cs typeface="+mj-cs"/>
              </a:rPr>
            </a:br>
            <a:r>
              <a:rPr b="1" kern="1200" dirty="0">
                <a:solidFill>
                  <a:srgbClr val="FFFFFF"/>
                </a:solidFill>
                <a:latin typeface="+mj-lt"/>
                <a:ea typeface="+mj-ea"/>
                <a:cs typeface="+mj-cs"/>
              </a:rPr>
              <a:t/>
            </a:r>
            <a:br>
              <a:rPr b="1" kern="1200" dirty="0">
                <a:solidFill>
                  <a:srgbClr val="FFFFFF"/>
                </a:solidFill>
                <a:latin typeface="+mj-lt"/>
                <a:ea typeface="+mj-ea"/>
                <a:cs typeface="+mj-cs"/>
              </a:rPr>
            </a:br>
            <a:r>
              <a:rPr b="1" kern="1200" dirty="0">
                <a:solidFill>
                  <a:srgbClr val="FFFFFF"/>
                </a:solidFill>
                <a:latin typeface="+mj-lt"/>
                <a:ea typeface="+mj-ea"/>
                <a:cs typeface="+mj-cs"/>
              </a:rPr>
              <a:t>FAQ</a:t>
            </a:r>
            <a:r>
              <a:rPr kern="1200" dirty="0">
                <a:solidFill>
                  <a:srgbClr val="FFFFFF"/>
                </a:solidFill>
                <a:latin typeface="+mj-lt"/>
                <a:ea typeface="+mj-ea"/>
                <a:cs typeface="+mj-cs"/>
              </a:rPr>
              <a:t/>
            </a:r>
            <a:br>
              <a:rPr kern="1200" dirty="0">
                <a:solidFill>
                  <a:srgbClr val="FFFFFF"/>
                </a:solidFill>
                <a:latin typeface="+mj-lt"/>
                <a:ea typeface="+mj-ea"/>
                <a:cs typeface="+mj-cs"/>
              </a:rPr>
            </a:br>
            <a:r>
              <a:rPr kern="1200" dirty="0">
                <a:solidFill>
                  <a:srgbClr val="FFFFFF"/>
                </a:solidFill>
                <a:latin typeface="+mj-lt"/>
                <a:ea typeface="+mj-ea"/>
                <a:cs typeface="+mj-cs"/>
              </a:rPr>
              <a:t>		</a:t>
            </a:r>
            <a:br>
              <a:rPr kern="1200" dirty="0">
                <a:solidFill>
                  <a:srgbClr val="FFFFFF"/>
                </a:solidFill>
                <a:latin typeface="+mj-lt"/>
                <a:ea typeface="+mj-ea"/>
                <a:cs typeface="+mj-cs"/>
              </a:rPr>
            </a:br>
            <a:endParaRPr kern="1200" dirty="0">
              <a:solidFill>
                <a:srgbClr val="FFFFFF"/>
              </a:solidFill>
              <a:latin typeface="+mj-lt"/>
              <a:ea typeface="+mj-ea"/>
              <a:cs typeface="+mj-cs"/>
            </a:endParaRPr>
          </a:p>
        </p:txBody>
      </p:sp>
      <p:sp>
        <p:nvSpPr>
          <p:cNvPr id="4096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37</a:t>
            </a:r>
          </a:p>
        </p:txBody>
      </p:sp>
      <p:pic>
        <p:nvPicPr>
          <p:cNvPr id="3" name="Content Placeholder 2" descr="qustion"/>
          <p:cNvPicPr>
            <a:picLocks noGrp="1" noChangeAspect="1"/>
          </p:cNvPicPr>
          <p:nvPr>
            <p:ph sz="quarter" idx="4294967295"/>
          </p:nvPr>
        </p:nvPicPr>
        <p:blipFill>
          <a:blip r:embed="rId3"/>
          <a:stretch>
            <a:fillRect/>
          </a:stretch>
        </p:blipFill>
        <p:spPr>
          <a:xfrm>
            <a:off x="2801620" y="2784475"/>
            <a:ext cx="3213100" cy="3213100"/>
          </a:xfrm>
          <a:prstGeom prst="rect">
            <a:avLst/>
          </a:prstGeom>
        </p:spPr>
      </p:pic>
      <p:sp>
        <p:nvSpPr>
          <p:cNvPr id="4" name="Text Placeholder 3"/>
          <p:cNvSpPr>
            <a:spLocks noGrp="1"/>
          </p:cNvSpPr>
          <p:nvPr>
            <p:ph type="body" idx="1"/>
          </p:nvPr>
        </p:nvSpPr>
        <p:spPr>
          <a:xfrm>
            <a:off x="2515870" y="1661795"/>
            <a:ext cx="3784600" cy="889635"/>
          </a:xfrm>
        </p:spPr>
        <p:txBody>
          <a:bodyPr/>
          <a:lstStyle/>
          <a:p>
            <a:r>
              <a:rPr lang="en-US" sz="4800"/>
              <a:t>Any Question?</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802130" y="3028315"/>
            <a:ext cx="5539740" cy="1261745"/>
          </a:xfrm>
        </p:spPr>
        <p:txBody>
          <a:bodyPr>
            <a:normAutofit/>
          </a:bodyPr>
          <a:lstStyle/>
          <a:p>
            <a:r>
              <a:rPr lang="en-US" sz="7200"/>
              <a:t>Thank You All</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38</a:t>
            </a:r>
          </a:p>
        </p:txBody>
      </p:sp>
    </p:spTree>
  </p:cSld>
  <p:clrMapOvr>
    <a:masterClrMapping/>
  </p:clrMapOvr>
  <p:transition>
    <p:fade/>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TotalTime>
  <Words>1464</Words>
  <Application>WPS Presentation</Application>
  <PresentationFormat>On-screen Show (4:3)</PresentationFormat>
  <Paragraphs>274</Paragraphs>
  <Slides>38</Slides>
  <Notes>35</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Median</vt:lpstr>
      <vt:lpstr>Slide 1</vt:lpstr>
      <vt:lpstr>Outline </vt:lpstr>
      <vt:lpstr>Introduction</vt:lpstr>
      <vt:lpstr>Objective Of The Project</vt:lpstr>
      <vt:lpstr>  Tools And Technology  </vt:lpstr>
      <vt:lpstr>Working Process Flowchart</vt:lpstr>
      <vt:lpstr>Use case Diagram</vt:lpstr>
      <vt:lpstr>Level 2 DFD</vt:lpstr>
      <vt:lpstr>Entity Relationship Diagram</vt:lpstr>
      <vt:lpstr>Entity Relationship Diagram(contd.)</vt:lpstr>
      <vt:lpstr>Controller Files</vt:lpstr>
      <vt:lpstr>Model File</vt:lpstr>
      <vt:lpstr>View Files</vt:lpstr>
      <vt:lpstr>Database Tables Structure</vt:lpstr>
      <vt:lpstr>GUI - Graphical User Interface</vt:lpstr>
      <vt:lpstr>User Registraion</vt:lpstr>
      <vt:lpstr>Login Panel</vt:lpstr>
      <vt:lpstr>Dashboard</vt:lpstr>
      <vt:lpstr>User Information update</vt:lpstr>
      <vt:lpstr>Forget Password</vt:lpstr>
      <vt:lpstr>Forget Password Verification link</vt:lpstr>
      <vt:lpstr>Purchase Receipt Interface</vt:lpstr>
      <vt:lpstr>Status-wise Purchase Data</vt:lpstr>
      <vt:lpstr>Purchase Payment</vt:lpstr>
      <vt:lpstr>Purchase Payment</vt:lpstr>
      <vt:lpstr>Sales Invoice</vt:lpstr>
      <vt:lpstr>Sales Invoice Dashboard </vt:lpstr>
      <vt:lpstr>Product Delivery</vt:lpstr>
      <vt:lpstr>Custoerm Receipt</vt:lpstr>
      <vt:lpstr>Sales Report</vt:lpstr>
      <vt:lpstr>Customer Due Report</vt:lpstr>
      <vt:lpstr>Product List Report</vt:lpstr>
      <vt:lpstr>Product Stock Report</vt:lpstr>
      <vt:lpstr>Conclusion</vt:lpstr>
      <vt:lpstr>Future Work</vt:lpstr>
      <vt:lpstr>References </vt:lpstr>
      <vt:lpstr>  FAQ    </vt:lpstr>
      <vt:lpstr>Slide 38</vt:lpstr>
    </vt:vector>
  </TitlesOfParts>
  <Company>CSE 070216</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Dipto</dc:creator>
  <cp:lastModifiedBy>Sharif</cp:lastModifiedBy>
  <cp:revision>975</cp:revision>
  <dcterms:created xsi:type="dcterms:W3CDTF">2010-07-17T12:33:00Z</dcterms:created>
  <dcterms:modified xsi:type="dcterms:W3CDTF">2024-03-20T22:41:40Z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0D16AFC0C5CF43C29577069AEB774FB2_13</vt:lpwstr>
  </property>
  <property fmtid="{D5CDD505-2E9C-101B-9397-08002B2CF9AE}" pid="3" name="KSOProductBuildVer">
    <vt:lpwstr>1033-12.2.0.13306</vt:lpwstr>
  </property>
</Properties>
</file>