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tiff" ContentType="image/tiff"/>
  <Default Extension="vml" ContentType="application/vnd.openxmlformats-officedocument.vmlDrawin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handoutMasterIdLst>
    <p:handoutMasterId r:id="rId78"/>
  </p:handoutMasterIdLst>
  <p:sldIdLst>
    <p:sldId id="334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261" r:id="rId12"/>
    <p:sldId id="301" r:id="rId13"/>
    <p:sldId id="302" r:id="rId14"/>
    <p:sldId id="303" r:id="rId15"/>
    <p:sldId id="304" r:id="rId16"/>
    <p:sldId id="335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59" r:id="rId47"/>
    <p:sldId id="360" r:id="rId48"/>
    <p:sldId id="268" r:id="rId49"/>
    <p:sldId id="269" r:id="rId50"/>
    <p:sldId id="348" r:id="rId51"/>
    <p:sldId id="349" r:id="rId52"/>
    <p:sldId id="350" r:id="rId53"/>
    <p:sldId id="351" r:id="rId54"/>
    <p:sldId id="352" r:id="rId55"/>
    <p:sldId id="353" r:id="rId56"/>
    <p:sldId id="354" r:id="rId57"/>
    <p:sldId id="355" r:id="rId58"/>
    <p:sldId id="356" r:id="rId59"/>
    <p:sldId id="357" r:id="rId60"/>
    <p:sldId id="358" r:id="rId61"/>
    <p:sldId id="270" r:id="rId62"/>
    <p:sldId id="272" r:id="rId63"/>
    <p:sldId id="271" r:id="rId64"/>
    <p:sldId id="273" r:id="rId65"/>
    <p:sldId id="274" r:id="rId66"/>
    <p:sldId id="275" r:id="rId67"/>
    <p:sldId id="276" r:id="rId68"/>
    <p:sldId id="277" r:id="rId69"/>
    <p:sldId id="278" r:id="rId70"/>
    <p:sldId id="279" r:id="rId71"/>
    <p:sldId id="280" r:id="rId72"/>
    <p:sldId id="281" r:id="rId73"/>
    <p:sldId id="282" r:id="rId74"/>
    <p:sldId id="290" r:id="rId75"/>
    <p:sldId id="291" r:id="rId7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06" autoAdjust="0"/>
    <p:restoredTop sz="97312" autoAdjust="0"/>
  </p:normalViewPr>
  <p:slideViewPr>
    <p:cSldViewPr>
      <p:cViewPr varScale="1">
        <p:scale>
          <a:sx n="69" d="100"/>
          <a:sy n="69" d="100"/>
        </p:scale>
        <p:origin x="165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1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FADD6-F63F-4C67-B51C-2C3FFA38DCAA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2EE1E-D1B5-48D7-A42B-F49BA21D9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905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09D61-295C-4E7B-896D-258D8C62218F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5E933-03AE-4F32-8C5B-7DC0967ACB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033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9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66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635888A-48CE-4A93-8FF0-F43ADCD90FB1}" type="slidenum">
              <a:rPr lang="en-US" sz="1200" smtClean="0"/>
              <a:pPr/>
              <a:t>44</a:t>
            </a:fld>
            <a:endParaRPr lang="en-US" sz="1200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05246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66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77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87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91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E710C8-327E-4EED-B7E7-1833B2C4B1B0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2870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74A347-FF6A-4FAA-B252-607C4A43964F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9557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6B5962-15D9-4AA0-A89E-3FC9D1D12698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1237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0285B1-E254-4406-964D-21720B85156A}" type="slidenum">
              <a:rPr lang="en-US" altLang="en-US"/>
              <a:pPr/>
              <a:t>60</a:t>
            </a:fld>
            <a:endParaRPr lang="en-US" altLang="en-US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88847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84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124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9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090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793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006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02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221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271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668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011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635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457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126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5E933-03AE-4F32-8C5B-7DC0967ACB75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52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1CE56-1343-42B9-BA2B-9F146945607E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06345" y="100326"/>
            <a:ext cx="5189855" cy="642620"/>
          </a:xfrm>
          <a:prstGeom prst="rect">
            <a:avLst/>
          </a:prstGeom>
        </p:spPr>
        <p:txBody>
          <a:bodyPr lIns="0" tIns="0" rIns="0" bIns="0"/>
          <a:lstStyle>
            <a:lvl1pPr>
              <a:defRPr sz="4050" b="0" i="0">
                <a:solidFill>
                  <a:srgbClr val="04617A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5904" y="1352422"/>
            <a:ext cx="8507095" cy="443877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35C75"/>
                </a:solidFill>
                <a:latin typeface="Constantia"/>
                <a:cs typeface="Constantia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5499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06345" y="100326"/>
            <a:ext cx="4131309" cy="642620"/>
          </a:xfrm>
          <a:prstGeom prst="rect">
            <a:avLst/>
          </a:prstGeom>
        </p:spPr>
        <p:txBody>
          <a:bodyPr lIns="0" tIns="0" rIns="0" bIns="0"/>
          <a:lstStyle>
            <a:lvl1pPr>
              <a:defRPr sz="4050" b="0" i="0">
                <a:solidFill>
                  <a:srgbClr val="04617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D4F89-4DF7-4753-9BBD-5A359E8D34AB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35C75"/>
                </a:solidFill>
                <a:latin typeface="Constantia"/>
                <a:cs typeface="Constantia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5473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8685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4038600" cy="3886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D18C1D2-3655-4863-ADDE-165D856FFA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2739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844FB-A584-41B7-A613-84A03AB953D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281A4-4C9D-4645-98E5-DC94BB779C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8.tif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85800" y="1524000"/>
            <a:ext cx="7772400" cy="1470025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en-US" altLang="en-US" sz="6600" b="1" dirty="0" smtClean="0"/>
              <a:t>Data Structure and Algorithm</a:t>
            </a:r>
            <a:br>
              <a:rPr lang="en-US" altLang="en-US" sz="6600" b="1" dirty="0" smtClean="0"/>
            </a:br>
            <a:r>
              <a:rPr lang="en-US" altLang="en-US" sz="4800" b="1" dirty="0" smtClean="0">
                <a:solidFill>
                  <a:srgbClr val="00B050"/>
                </a:solidFill>
              </a:rPr>
              <a:t>(PMSCS 623P)</a:t>
            </a:r>
            <a:endParaRPr lang="en-US" altLang="en-US" sz="4800" b="1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38600"/>
            <a:ext cx="6400800" cy="1752600"/>
          </a:xfrm>
        </p:spPr>
        <p:txBody>
          <a:bodyPr rtlCol="0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z="80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8000" dirty="0" smtClean="0"/>
              <a:t>Lecture 4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692398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7428" y="600978"/>
            <a:ext cx="314477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Linea</a:t>
            </a:r>
            <a:r>
              <a:rPr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3600" b="1" spc="-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Arrays</a:t>
            </a:r>
            <a:endParaRPr sz="3600" b="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67811" y="6536394"/>
            <a:ext cx="15748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035C75"/>
                </a:solidFill>
                <a:latin typeface="Constantia"/>
                <a:cs typeface="Constantia"/>
              </a:rPr>
              <a:t>2</a:t>
            </a:fld>
            <a:endParaRPr sz="12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1922" y="1462938"/>
            <a:ext cx="8625205" cy="36779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02260" marR="5080" indent="-290195" algn="just">
              <a:lnSpc>
                <a:spcPts val="3020"/>
              </a:lnSpc>
              <a:spcBef>
                <a:spcPts val="1800"/>
              </a:spcBef>
              <a:buFont typeface="Arial MT"/>
              <a:buChar char="•"/>
              <a:tabLst>
                <a:tab pos="302895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linear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array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 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list</a:t>
            </a:r>
            <a:r>
              <a:rPr sz="2800" dirty="0">
                <a:latin typeface="Times New Roman"/>
                <a:cs typeface="Times New Roman"/>
              </a:rPr>
              <a:t> 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finite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n </a:t>
            </a:r>
            <a:r>
              <a:rPr sz="2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homogeneous data </a:t>
            </a:r>
            <a:r>
              <a:rPr sz="2800" spc="-5" dirty="0">
                <a:latin typeface="Times New Roman"/>
                <a:cs typeface="Times New Roman"/>
              </a:rPr>
              <a:t>elements </a:t>
            </a:r>
            <a:r>
              <a:rPr sz="2800" dirty="0">
                <a:latin typeface="Times New Roman"/>
                <a:cs typeface="Times New Roman"/>
              </a:rPr>
              <a:t>( </a:t>
            </a:r>
            <a:r>
              <a:rPr sz="2800" spc="-5" dirty="0">
                <a:latin typeface="Times New Roman"/>
                <a:cs typeface="Times New Roman"/>
              </a:rPr>
              <a:t>that is </a:t>
            </a:r>
            <a:r>
              <a:rPr sz="2800" dirty="0">
                <a:latin typeface="Times New Roman"/>
                <a:cs typeface="Times New Roman"/>
              </a:rPr>
              <a:t>data </a:t>
            </a:r>
            <a:r>
              <a:rPr sz="2800" spc="-5" dirty="0">
                <a:latin typeface="Times New Roman"/>
                <a:cs typeface="Times New Roman"/>
              </a:rPr>
              <a:t>elements </a:t>
            </a:r>
            <a:r>
              <a:rPr sz="2800" dirty="0">
                <a:latin typeface="Times New Roman"/>
                <a:cs typeface="Times New Roman"/>
              </a:rPr>
              <a:t>of </a:t>
            </a: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same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type) such that.</a:t>
            </a:r>
            <a:endParaRPr sz="2800" dirty="0">
              <a:latin typeface="Times New Roman"/>
              <a:cs typeface="Times New Roman"/>
            </a:endParaRPr>
          </a:p>
          <a:p>
            <a:pPr marL="702945" marR="1522730" lvl="1" indent="-306705" algn="just">
              <a:lnSpc>
                <a:spcPts val="3020"/>
              </a:lnSpc>
              <a:spcBef>
                <a:spcPts val="2400"/>
              </a:spcBef>
              <a:buFont typeface="Arial MT"/>
              <a:buChar char="–"/>
              <a:tabLst>
                <a:tab pos="70358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elements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arrays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referenced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respectively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index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set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consisting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n </a:t>
            </a:r>
            <a:r>
              <a:rPr sz="28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consecutive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numbers.</a:t>
            </a:r>
          </a:p>
          <a:p>
            <a:pPr marL="702945" marR="869950" lvl="1" indent="-306705" algn="just">
              <a:lnSpc>
                <a:spcPts val="3020"/>
              </a:lnSpc>
              <a:spcBef>
                <a:spcPts val="1800"/>
              </a:spcBef>
              <a:buFont typeface="Arial MT"/>
              <a:buChar char="–"/>
              <a:tabLst>
                <a:tab pos="703580" algn="l"/>
              </a:tabLst>
            </a:pP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elements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arrays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stored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respectively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successive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memory </a:t>
            </a:r>
            <a:r>
              <a:rPr sz="2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locations.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360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02930" y="381000"/>
            <a:ext cx="29454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Linea</a:t>
            </a:r>
            <a:r>
              <a:rPr sz="3600" b="1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3600" b="1" spc="-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Arrays</a:t>
            </a:r>
            <a:endParaRPr sz="3600" b="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67811" y="6536394"/>
            <a:ext cx="15748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035C75"/>
                </a:solidFill>
                <a:latin typeface="Constantia"/>
                <a:cs typeface="Constantia"/>
              </a:rPr>
              <a:t>3</a:t>
            </a:fld>
            <a:endParaRPr sz="12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5713" y="1219200"/>
            <a:ext cx="8378190" cy="51650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 algn="just">
              <a:lnSpc>
                <a:spcPct val="108000"/>
              </a:lnSpc>
              <a:spcBef>
                <a:spcPts val="1800"/>
              </a:spcBef>
              <a:buFont typeface="Arial MT"/>
              <a:buChar char="•"/>
              <a:tabLst>
                <a:tab pos="299085" algn="l"/>
              </a:tabLst>
            </a:pPr>
            <a:r>
              <a:rPr sz="3000" spc="-5" dirty="0">
                <a:latin typeface="Times New Roman"/>
                <a:cs typeface="Times New Roman"/>
              </a:rPr>
              <a:t>The </a:t>
            </a:r>
            <a:r>
              <a:rPr sz="3000" dirty="0">
                <a:latin typeface="Times New Roman"/>
                <a:cs typeface="Times New Roman"/>
              </a:rPr>
              <a:t>number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n </a:t>
            </a:r>
            <a:r>
              <a:rPr sz="3000" dirty="0">
                <a:latin typeface="Times New Roman"/>
                <a:cs typeface="Times New Roman"/>
              </a:rPr>
              <a:t>of </a:t>
            </a:r>
            <a:r>
              <a:rPr sz="3000" spc="-10" dirty="0">
                <a:latin typeface="Times New Roman"/>
                <a:cs typeface="Times New Roman"/>
              </a:rPr>
              <a:t>elements </a:t>
            </a:r>
            <a:r>
              <a:rPr sz="3000" spc="-5" dirty="0">
                <a:latin typeface="Times New Roman"/>
                <a:cs typeface="Times New Roman"/>
              </a:rPr>
              <a:t>is </a:t>
            </a:r>
            <a:r>
              <a:rPr sz="3000" spc="-10" dirty="0">
                <a:latin typeface="Times New Roman"/>
                <a:cs typeface="Times New Roman"/>
              </a:rPr>
              <a:t>called </a:t>
            </a:r>
            <a:r>
              <a:rPr sz="3000" spc="-5" dirty="0">
                <a:latin typeface="Times New Roman"/>
                <a:cs typeface="Times New Roman"/>
              </a:rPr>
              <a:t>the length </a:t>
            </a:r>
            <a:r>
              <a:rPr sz="3000" dirty="0">
                <a:latin typeface="Times New Roman"/>
                <a:cs typeface="Times New Roman"/>
              </a:rPr>
              <a:t>or </a:t>
            </a:r>
            <a:r>
              <a:rPr sz="3000" spc="-5" dirty="0">
                <a:latin typeface="Times New Roman"/>
                <a:cs typeface="Times New Roman"/>
              </a:rPr>
              <a:t>size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" dirty="0">
                <a:latin typeface="Times New Roman"/>
                <a:cs typeface="Times New Roman"/>
              </a:rPr>
              <a:t> the </a:t>
            </a:r>
            <a:r>
              <a:rPr sz="3000" spc="-40" dirty="0">
                <a:latin typeface="Times New Roman"/>
                <a:cs typeface="Times New Roman"/>
              </a:rPr>
              <a:t>array.</a:t>
            </a:r>
            <a:endParaRPr sz="3000" dirty="0">
              <a:latin typeface="Times New Roman"/>
              <a:cs typeface="Times New Roman"/>
            </a:endParaRPr>
          </a:p>
          <a:p>
            <a:pPr marL="298450" indent="-28638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299085" algn="l"/>
              </a:tabLst>
            </a:pPr>
            <a:r>
              <a:rPr sz="3000" spc="-5" dirty="0">
                <a:latin typeface="Times New Roman"/>
                <a:cs typeface="Times New Roman"/>
              </a:rPr>
              <a:t>The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index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set</a:t>
            </a:r>
            <a:r>
              <a:rPr sz="3000" spc="-10" dirty="0">
                <a:latin typeface="Times New Roman"/>
                <a:cs typeface="Times New Roman"/>
              </a:rPr>
              <a:t> consists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the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integer</a:t>
            </a:r>
            <a:r>
              <a:rPr sz="3000" spc="120" dirty="0"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r>
              <a:rPr sz="3000" dirty="0">
                <a:latin typeface="Times New Roman"/>
                <a:cs typeface="Times New Roman"/>
              </a:rPr>
              <a:t>,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1,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2,</a:t>
            </a:r>
            <a:r>
              <a:rPr sz="3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…n-1</a:t>
            </a:r>
            <a:endParaRPr sz="3000" dirty="0">
              <a:latin typeface="Times New Roman"/>
              <a:cs typeface="Times New Roman"/>
            </a:endParaRPr>
          </a:p>
          <a:p>
            <a:pPr marL="298450" marR="243840" indent="-286385">
              <a:lnSpc>
                <a:spcPct val="80000"/>
              </a:lnSpc>
              <a:spcBef>
                <a:spcPts val="1800"/>
              </a:spcBef>
              <a:buFont typeface="Arial"/>
              <a:buChar char="•"/>
              <a:tabLst>
                <a:tab pos="299085" algn="l"/>
              </a:tabLst>
            </a:pP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Length </a:t>
            </a:r>
            <a:r>
              <a:rPr sz="3000" dirty="0">
                <a:latin typeface="Times New Roman"/>
                <a:cs typeface="Times New Roman"/>
              </a:rPr>
              <a:t>or </a:t>
            </a:r>
            <a:r>
              <a:rPr sz="3000" spc="-5" dirty="0">
                <a:latin typeface="Times New Roman"/>
                <a:cs typeface="Times New Roman"/>
              </a:rPr>
              <a:t>the </a:t>
            </a:r>
            <a:r>
              <a:rPr sz="3000" dirty="0">
                <a:latin typeface="Times New Roman"/>
                <a:cs typeface="Times New Roman"/>
              </a:rPr>
              <a:t>number of data </a:t>
            </a:r>
            <a:r>
              <a:rPr sz="3000" spc="-10" dirty="0">
                <a:latin typeface="Times New Roman"/>
                <a:cs typeface="Times New Roman"/>
              </a:rPr>
              <a:t>elements </a:t>
            </a:r>
            <a:r>
              <a:rPr sz="3000" dirty="0">
                <a:latin typeface="Times New Roman"/>
                <a:cs typeface="Times New Roman"/>
              </a:rPr>
              <a:t>of </a:t>
            </a:r>
            <a:r>
              <a:rPr sz="3000" spc="-5" dirty="0">
                <a:latin typeface="Times New Roman"/>
                <a:cs typeface="Times New Roman"/>
              </a:rPr>
              <a:t>the </a:t>
            </a:r>
            <a:r>
              <a:rPr sz="3000" spc="-10" dirty="0">
                <a:latin typeface="Times New Roman"/>
                <a:cs typeface="Times New Roman"/>
              </a:rPr>
              <a:t>array </a:t>
            </a:r>
            <a:r>
              <a:rPr sz="3000" spc="-7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can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obtained from</a:t>
            </a:r>
            <a:r>
              <a:rPr sz="3000" spc="-5" dirty="0">
                <a:latin typeface="Times New Roman"/>
                <a:cs typeface="Times New Roman"/>
              </a:rPr>
              <a:t> the index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set </a:t>
            </a:r>
            <a:r>
              <a:rPr sz="3000" dirty="0">
                <a:latin typeface="Times New Roman"/>
                <a:cs typeface="Times New Roman"/>
              </a:rPr>
              <a:t>by</a:t>
            </a:r>
          </a:p>
          <a:p>
            <a:pPr marL="298450">
              <a:lnSpc>
                <a:spcPct val="100000"/>
              </a:lnSpc>
              <a:spcBef>
                <a:spcPts val="1800"/>
              </a:spcBef>
              <a:tabLst>
                <a:tab pos="1771014" algn="l"/>
                <a:tab pos="2228215" algn="l"/>
                <a:tab pos="3142615" algn="l"/>
                <a:tab pos="4514215" algn="l"/>
              </a:tabLst>
            </a:pPr>
            <a:r>
              <a:rPr sz="3000" b="1" spc="-5" dirty="0" smtClean="0">
                <a:solidFill>
                  <a:srgbClr val="FF0000"/>
                </a:solidFill>
                <a:latin typeface="Times New Roman"/>
                <a:cs typeface="Times New Roman"/>
              </a:rPr>
              <a:t>Length</a:t>
            </a:r>
            <a:r>
              <a:rPr sz="3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=	</a:t>
            </a:r>
            <a:r>
              <a:rPr sz="3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UB	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– </a:t>
            </a:r>
            <a:r>
              <a:rPr sz="3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LB</a:t>
            </a:r>
            <a:r>
              <a:rPr sz="3000" b="1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+	1</a:t>
            </a:r>
            <a:endParaRPr sz="3000" dirty="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1800"/>
              </a:spcBef>
            </a:pPr>
            <a:r>
              <a:rPr sz="2400" spc="-5" dirty="0">
                <a:latin typeface="Times New Roman"/>
                <a:cs typeface="Times New Roman"/>
              </a:rPr>
              <a:t>where</a:t>
            </a:r>
            <a:endParaRPr sz="2400" dirty="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180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UB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largest</a:t>
            </a:r>
            <a:r>
              <a:rPr sz="2400" spc="-5" dirty="0">
                <a:latin typeface="Times New Roman"/>
                <a:cs typeface="Times New Roman"/>
              </a:rPr>
              <a:t> index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called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upper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bound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endParaRPr sz="2400" dirty="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180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LB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smallest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index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called the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lower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bound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the arrays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0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51428" y="118829"/>
            <a:ext cx="2546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00000"/>
                </a:solidFill>
                <a:latin typeface="Times New Roman"/>
                <a:cs typeface="Times New Roman"/>
              </a:rPr>
              <a:t>Linea</a:t>
            </a:r>
            <a:r>
              <a:rPr sz="3600" dirty="0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sz="3600" spc="-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000000"/>
                </a:solidFill>
                <a:latin typeface="Times New Roman"/>
                <a:cs typeface="Times New Roman"/>
              </a:rPr>
              <a:t>Arrays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190" y="700258"/>
            <a:ext cx="8351520" cy="229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580" indent="-2978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21945" algn="l"/>
                <a:tab pos="323215" algn="l"/>
              </a:tabLst>
            </a:pPr>
            <a:r>
              <a:rPr sz="2400" spc="-5" dirty="0">
                <a:latin typeface="Times New Roman"/>
                <a:cs typeface="Times New Roman"/>
              </a:rPr>
              <a:t>Element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array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b="1" spc="-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denoted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endParaRPr sz="2400">
              <a:latin typeface="Times New Roman"/>
              <a:cs typeface="Times New Roman"/>
            </a:endParaRPr>
          </a:p>
          <a:p>
            <a:pPr marL="723265" lvl="1" indent="-301625">
              <a:lnSpc>
                <a:spcPct val="100000"/>
              </a:lnSpc>
              <a:spcBef>
                <a:spcPts val="1864"/>
              </a:spcBef>
              <a:buFont typeface="Arial MT"/>
              <a:buChar char="–"/>
              <a:tabLst>
                <a:tab pos="722630" algn="l"/>
                <a:tab pos="723900" algn="l"/>
              </a:tabLst>
            </a:pPr>
            <a:r>
              <a:rPr sz="2000" spc="-5" dirty="0">
                <a:latin typeface="Times New Roman"/>
                <a:cs typeface="Times New Roman"/>
              </a:rPr>
              <a:t>Subscript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notation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950" b="1" baseline="-3205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950" b="1" baseline="-3205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….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950" b="1" spc="7" baseline="-32051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1950" baseline="-32051">
              <a:latin typeface="Times New Roman"/>
              <a:cs typeface="Times New Roman"/>
            </a:endParaRPr>
          </a:p>
          <a:p>
            <a:pPr marL="723265" lvl="1" indent="-301625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722630" algn="l"/>
                <a:tab pos="723900" algn="l"/>
              </a:tabLst>
            </a:pPr>
            <a:r>
              <a:rPr sz="2000" spc="-5" dirty="0">
                <a:latin typeface="Times New Roman"/>
                <a:cs typeface="Times New Roman"/>
              </a:rPr>
              <a:t>Parenthesi</a:t>
            </a:r>
            <a:r>
              <a:rPr sz="2000" dirty="0">
                <a:latin typeface="Times New Roman"/>
                <a:cs typeface="Times New Roman"/>
              </a:rPr>
              <a:t>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notation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A(1)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A(2)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…. ,</a:t>
            </a:r>
            <a:r>
              <a:rPr sz="20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A(n)</a:t>
            </a:r>
            <a:endParaRPr sz="2000">
              <a:latin typeface="Times New Roman"/>
              <a:cs typeface="Times New Roman"/>
            </a:endParaRPr>
          </a:p>
          <a:p>
            <a:pPr marL="723265" lvl="1" indent="-301625">
              <a:lnSpc>
                <a:spcPts val="2275"/>
              </a:lnSpc>
              <a:spcBef>
                <a:spcPts val="335"/>
              </a:spcBef>
              <a:buFont typeface="Arial MT"/>
              <a:buChar char="–"/>
              <a:tabLst>
                <a:tab pos="722630" algn="l"/>
                <a:tab pos="723900" algn="l"/>
              </a:tabLst>
            </a:pPr>
            <a:r>
              <a:rPr sz="2000" spc="-5" dirty="0">
                <a:latin typeface="Times New Roman"/>
                <a:cs typeface="Times New Roman"/>
              </a:rPr>
              <a:t>Bracke</a:t>
            </a:r>
            <a:r>
              <a:rPr sz="2000" dirty="0">
                <a:latin typeface="Times New Roman"/>
                <a:cs typeface="Times New Roman"/>
              </a:rPr>
              <a:t>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notation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A[1]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A[2]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….. ,</a:t>
            </a:r>
            <a:r>
              <a:rPr sz="20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A[n]</a:t>
            </a:r>
            <a:endParaRPr sz="2000">
              <a:latin typeface="Times New Roman"/>
              <a:cs typeface="Times New Roman"/>
            </a:endParaRPr>
          </a:p>
          <a:p>
            <a:pPr marL="322580" marR="17780" indent="-297815">
              <a:lnSpc>
                <a:spcPts val="2590"/>
              </a:lnSpc>
              <a:spcBef>
                <a:spcPts val="204"/>
              </a:spcBef>
              <a:buFont typeface="Arial MT"/>
              <a:buChar char="•"/>
              <a:tabLst>
                <a:tab pos="321945" algn="l"/>
                <a:tab pos="323215" algn="l"/>
              </a:tabLst>
            </a:pP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A[K]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called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subscript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index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and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A[K] is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called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subscripted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variable.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615" y="3247510"/>
            <a:ext cx="7937499" cy="32892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567811" y="6536394"/>
            <a:ext cx="15748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035C75"/>
                </a:solidFill>
                <a:latin typeface="Constantia"/>
                <a:cs typeface="Constantia"/>
              </a:rPr>
              <a:t>4</a:t>
            </a:fld>
            <a:endParaRPr sz="1200">
              <a:latin typeface="Constantia"/>
              <a:cs typeface="Constanti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41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5387" y="0"/>
            <a:ext cx="9154160" cy="1033144"/>
            <a:chOff x="-5387" y="0"/>
            <a:chExt cx="9154160" cy="103314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3999" cy="102742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069705" cy="1015365"/>
            </a:xfrm>
            <a:custGeom>
              <a:avLst/>
              <a:gdLst/>
              <a:ahLst/>
              <a:cxnLst/>
              <a:rect l="l" t="t" r="r" b="b"/>
              <a:pathLst>
                <a:path w="9069705" h="1015365">
                  <a:moveTo>
                    <a:pt x="0" y="1015121"/>
                  </a:moveTo>
                  <a:lnTo>
                    <a:pt x="53491" y="995678"/>
                  </a:lnTo>
                  <a:lnTo>
                    <a:pt x="112891" y="974491"/>
                  </a:lnTo>
                  <a:lnTo>
                    <a:pt x="177134" y="952050"/>
                  </a:lnTo>
                  <a:lnTo>
                    <a:pt x="246046" y="928522"/>
                  </a:lnTo>
                  <a:lnTo>
                    <a:pt x="282199" y="916402"/>
                  </a:lnTo>
                  <a:lnTo>
                    <a:pt x="319454" y="904072"/>
                  </a:lnTo>
                  <a:lnTo>
                    <a:pt x="357790" y="891552"/>
                  </a:lnTo>
                  <a:lnTo>
                    <a:pt x="397184" y="878865"/>
                  </a:lnTo>
                  <a:lnTo>
                    <a:pt x="437617" y="866029"/>
                  </a:lnTo>
                  <a:lnTo>
                    <a:pt x="479065" y="853066"/>
                  </a:lnTo>
                  <a:lnTo>
                    <a:pt x="521506" y="839996"/>
                  </a:lnTo>
                  <a:lnTo>
                    <a:pt x="564921" y="826841"/>
                  </a:lnTo>
                  <a:lnTo>
                    <a:pt x="609286" y="813621"/>
                  </a:lnTo>
                  <a:lnTo>
                    <a:pt x="654580" y="800356"/>
                  </a:lnTo>
                  <a:lnTo>
                    <a:pt x="700782" y="787068"/>
                  </a:lnTo>
                  <a:lnTo>
                    <a:pt x="747869" y="773776"/>
                  </a:lnTo>
                  <a:lnTo>
                    <a:pt x="795821" y="760502"/>
                  </a:lnTo>
                  <a:lnTo>
                    <a:pt x="844615" y="747266"/>
                  </a:lnTo>
                  <a:lnTo>
                    <a:pt x="894230" y="734089"/>
                  </a:lnTo>
                  <a:lnTo>
                    <a:pt x="944644" y="720992"/>
                  </a:lnTo>
                  <a:lnTo>
                    <a:pt x="995836" y="707996"/>
                  </a:lnTo>
                  <a:lnTo>
                    <a:pt x="1047783" y="695120"/>
                  </a:lnTo>
                  <a:lnTo>
                    <a:pt x="1100465" y="682386"/>
                  </a:lnTo>
                  <a:lnTo>
                    <a:pt x="1153859" y="669814"/>
                  </a:lnTo>
                  <a:lnTo>
                    <a:pt x="1207944" y="657425"/>
                  </a:lnTo>
                  <a:lnTo>
                    <a:pt x="1262698" y="645240"/>
                  </a:lnTo>
                  <a:lnTo>
                    <a:pt x="1318100" y="633280"/>
                  </a:lnTo>
                  <a:lnTo>
                    <a:pt x="1374128" y="621565"/>
                  </a:lnTo>
                  <a:lnTo>
                    <a:pt x="1430760" y="610115"/>
                  </a:lnTo>
                  <a:lnTo>
                    <a:pt x="1487975" y="598952"/>
                  </a:lnTo>
                  <a:lnTo>
                    <a:pt x="1545751" y="588096"/>
                  </a:lnTo>
                  <a:lnTo>
                    <a:pt x="1604066" y="577568"/>
                  </a:lnTo>
                  <a:lnTo>
                    <a:pt x="1662898" y="567388"/>
                  </a:lnTo>
                  <a:lnTo>
                    <a:pt x="1722227" y="557578"/>
                  </a:lnTo>
                  <a:lnTo>
                    <a:pt x="1782030" y="548157"/>
                  </a:lnTo>
                  <a:lnTo>
                    <a:pt x="1842285" y="539147"/>
                  </a:lnTo>
                  <a:lnTo>
                    <a:pt x="1902972" y="530568"/>
                  </a:lnTo>
                  <a:lnTo>
                    <a:pt x="1964068" y="522441"/>
                  </a:lnTo>
                  <a:lnTo>
                    <a:pt x="2025552" y="514787"/>
                  </a:lnTo>
                  <a:lnTo>
                    <a:pt x="2087402" y="507626"/>
                  </a:lnTo>
                  <a:lnTo>
                    <a:pt x="2149596" y="500979"/>
                  </a:lnTo>
                  <a:lnTo>
                    <a:pt x="2212113" y="494867"/>
                  </a:lnTo>
                  <a:lnTo>
                    <a:pt x="2274931" y="489310"/>
                  </a:lnTo>
                  <a:lnTo>
                    <a:pt x="2338029" y="484328"/>
                  </a:lnTo>
                  <a:lnTo>
                    <a:pt x="2401384" y="479944"/>
                  </a:lnTo>
                  <a:lnTo>
                    <a:pt x="2464976" y="476177"/>
                  </a:lnTo>
                  <a:lnTo>
                    <a:pt x="2528781" y="473048"/>
                  </a:lnTo>
                  <a:lnTo>
                    <a:pt x="2570379" y="471445"/>
                  </a:lnTo>
                  <a:lnTo>
                    <a:pt x="2612648" y="470247"/>
                  </a:lnTo>
                  <a:lnTo>
                    <a:pt x="2655572" y="469445"/>
                  </a:lnTo>
                  <a:lnTo>
                    <a:pt x="2699133" y="469026"/>
                  </a:lnTo>
                  <a:lnTo>
                    <a:pt x="2743315" y="468979"/>
                  </a:lnTo>
                  <a:lnTo>
                    <a:pt x="2788098" y="469295"/>
                  </a:lnTo>
                  <a:lnTo>
                    <a:pt x="2833468" y="469961"/>
                  </a:lnTo>
                  <a:lnTo>
                    <a:pt x="2879405" y="470967"/>
                  </a:lnTo>
                  <a:lnTo>
                    <a:pt x="2925893" y="472302"/>
                  </a:lnTo>
                  <a:lnTo>
                    <a:pt x="2972915" y="473955"/>
                  </a:lnTo>
                  <a:lnTo>
                    <a:pt x="3020453" y="475915"/>
                  </a:lnTo>
                  <a:lnTo>
                    <a:pt x="3068490" y="478171"/>
                  </a:lnTo>
                  <a:lnTo>
                    <a:pt x="3117009" y="480712"/>
                  </a:lnTo>
                  <a:lnTo>
                    <a:pt x="3165992" y="483528"/>
                  </a:lnTo>
                  <a:lnTo>
                    <a:pt x="3215422" y="486606"/>
                  </a:lnTo>
                  <a:lnTo>
                    <a:pt x="3265281" y="489937"/>
                  </a:lnTo>
                  <a:lnTo>
                    <a:pt x="3315554" y="493509"/>
                  </a:lnTo>
                  <a:lnTo>
                    <a:pt x="3366221" y="497311"/>
                  </a:lnTo>
                  <a:lnTo>
                    <a:pt x="3417266" y="501332"/>
                  </a:lnTo>
                  <a:lnTo>
                    <a:pt x="3468672" y="505562"/>
                  </a:lnTo>
                  <a:lnTo>
                    <a:pt x="3520422" y="509990"/>
                  </a:lnTo>
                  <a:lnTo>
                    <a:pt x="3572497" y="514603"/>
                  </a:lnTo>
                  <a:lnTo>
                    <a:pt x="3624881" y="519392"/>
                  </a:lnTo>
                  <a:lnTo>
                    <a:pt x="3677556" y="524346"/>
                  </a:lnTo>
                  <a:lnTo>
                    <a:pt x="3730506" y="529454"/>
                  </a:lnTo>
                  <a:lnTo>
                    <a:pt x="3783712" y="534704"/>
                  </a:lnTo>
                  <a:lnTo>
                    <a:pt x="3837158" y="540085"/>
                  </a:lnTo>
                  <a:lnTo>
                    <a:pt x="3890826" y="545587"/>
                  </a:lnTo>
                  <a:lnTo>
                    <a:pt x="3944700" y="551200"/>
                  </a:lnTo>
                  <a:lnTo>
                    <a:pt x="3998760" y="556910"/>
                  </a:lnTo>
                  <a:lnTo>
                    <a:pt x="4052992" y="562709"/>
                  </a:lnTo>
                  <a:lnTo>
                    <a:pt x="4107376" y="568585"/>
                  </a:lnTo>
                  <a:lnTo>
                    <a:pt x="4161896" y="574526"/>
                  </a:lnTo>
                  <a:lnTo>
                    <a:pt x="4216535" y="580522"/>
                  </a:lnTo>
                  <a:lnTo>
                    <a:pt x="4271274" y="586563"/>
                  </a:lnTo>
                  <a:lnTo>
                    <a:pt x="4326098" y="592636"/>
                  </a:lnTo>
                  <a:lnTo>
                    <a:pt x="4380988" y="598732"/>
                  </a:lnTo>
                  <a:lnTo>
                    <a:pt x="4435928" y="604838"/>
                  </a:lnTo>
                  <a:lnTo>
                    <a:pt x="4490900" y="610945"/>
                  </a:lnTo>
                  <a:lnTo>
                    <a:pt x="4545886" y="617041"/>
                  </a:lnTo>
                  <a:lnTo>
                    <a:pt x="4600870" y="623115"/>
                  </a:lnTo>
                  <a:lnTo>
                    <a:pt x="4655834" y="629157"/>
                  </a:lnTo>
                  <a:lnTo>
                    <a:pt x="4710761" y="635154"/>
                  </a:lnTo>
                  <a:lnTo>
                    <a:pt x="4765634" y="641097"/>
                  </a:lnTo>
                  <a:lnTo>
                    <a:pt x="4820434" y="646975"/>
                  </a:lnTo>
                  <a:lnTo>
                    <a:pt x="4875146" y="652776"/>
                  </a:lnTo>
                  <a:lnTo>
                    <a:pt x="4929752" y="658489"/>
                  </a:lnTo>
                  <a:lnTo>
                    <a:pt x="4984234" y="664104"/>
                  </a:lnTo>
                  <a:lnTo>
                    <a:pt x="5038575" y="669610"/>
                  </a:lnTo>
                  <a:lnTo>
                    <a:pt x="5092757" y="674995"/>
                  </a:lnTo>
                  <a:lnTo>
                    <a:pt x="5146765" y="680249"/>
                  </a:lnTo>
                  <a:lnTo>
                    <a:pt x="5200579" y="685360"/>
                  </a:lnTo>
                  <a:lnTo>
                    <a:pt x="5254184" y="690319"/>
                  </a:lnTo>
                  <a:lnTo>
                    <a:pt x="5307561" y="695113"/>
                  </a:lnTo>
                  <a:lnTo>
                    <a:pt x="5360693" y="699732"/>
                  </a:lnTo>
                  <a:lnTo>
                    <a:pt x="5413564" y="704164"/>
                  </a:lnTo>
                  <a:lnTo>
                    <a:pt x="5466155" y="708400"/>
                  </a:lnTo>
                  <a:lnTo>
                    <a:pt x="5518450" y="712427"/>
                  </a:lnTo>
                  <a:lnTo>
                    <a:pt x="5570431" y="716236"/>
                  </a:lnTo>
                  <a:lnTo>
                    <a:pt x="5622080" y="719814"/>
                  </a:lnTo>
                  <a:lnTo>
                    <a:pt x="5673382" y="723152"/>
                  </a:lnTo>
                  <a:lnTo>
                    <a:pt x="5724318" y="726238"/>
                  </a:lnTo>
                  <a:lnTo>
                    <a:pt x="5774870" y="729061"/>
                  </a:lnTo>
                  <a:lnTo>
                    <a:pt x="5825023" y="731610"/>
                  </a:lnTo>
                  <a:lnTo>
                    <a:pt x="5874758" y="733874"/>
                  </a:lnTo>
                  <a:lnTo>
                    <a:pt x="5924058" y="735842"/>
                  </a:lnTo>
                  <a:lnTo>
                    <a:pt x="5972905" y="737504"/>
                  </a:lnTo>
                  <a:lnTo>
                    <a:pt x="6021284" y="738848"/>
                  </a:lnTo>
                  <a:lnTo>
                    <a:pt x="6069175" y="739864"/>
                  </a:lnTo>
                  <a:lnTo>
                    <a:pt x="6116563" y="740540"/>
                  </a:lnTo>
                  <a:lnTo>
                    <a:pt x="6163429" y="740865"/>
                  </a:lnTo>
                  <a:lnTo>
                    <a:pt x="6209757" y="740829"/>
                  </a:lnTo>
                  <a:lnTo>
                    <a:pt x="6255529" y="740421"/>
                  </a:lnTo>
                  <a:lnTo>
                    <a:pt x="6300727" y="739629"/>
                  </a:lnTo>
                  <a:lnTo>
                    <a:pt x="6345335" y="738443"/>
                  </a:lnTo>
                  <a:lnTo>
                    <a:pt x="6389335" y="736852"/>
                  </a:lnTo>
                  <a:lnTo>
                    <a:pt x="6432710" y="734844"/>
                  </a:lnTo>
                  <a:lnTo>
                    <a:pt x="6475443" y="732409"/>
                  </a:lnTo>
                  <a:lnTo>
                    <a:pt x="6517516" y="729536"/>
                  </a:lnTo>
                  <a:lnTo>
                    <a:pt x="6578436" y="724572"/>
                  </a:lnTo>
                  <a:lnTo>
                    <a:pt x="6639067" y="718758"/>
                  </a:lnTo>
                  <a:lnTo>
                    <a:pt x="6699399" y="712125"/>
                  </a:lnTo>
                  <a:lnTo>
                    <a:pt x="6759420" y="704702"/>
                  </a:lnTo>
                  <a:lnTo>
                    <a:pt x="6819121" y="696519"/>
                  </a:lnTo>
                  <a:lnTo>
                    <a:pt x="6878489" y="687606"/>
                  </a:lnTo>
                  <a:lnTo>
                    <a:pt x="6937514" y="677992"/>
                  </a:lnTo>
                  <a:lnTo>
                    <a:pt x="6996185" y="667707"/>
                  </a:lnTo>
                  <a:lnTo>
                    <a:pt x="7054491" y="656781"/>
                  </a:lnTo>
                  <a:lnTo>
                    <a:pt x="7112422" y="645243"/>
                  </a:lnTo>
                  <a:lnTo>
                    <a:pt x="7169965" y="633124"/>
                  </a:lnTo>
                  <a:lnTo>
                    <a:pt x="7227111" y="620453"/>
                  </a:lnTo>
                  <a:lnTo>
                    <a:pt x="7283848" y="607259"/>
                  </a:lnTo>
                  <a:lnTo>
                    <a:pt x="7340165" y="593574"/>
                  </a:lnTo>
                  <a:lnTo>
                    <a:pt x="7396052" y="579425"/>
                  </a:lnTo>
                  <a:lnTo>
                    <a:pt x="7451497" y="564844"/>
                  </a:lnTo>
                  <a:lnTo>
                    <a:pt x="7506490" y="549859"/>
                  </a:lnTo>
                  <a:lnTo>
                    <a:pt x="7561020" y="534501"/>
                  </a:lnTo>
                  <a:lnTo>
                    <a:pt x="7615075" y="518800"/>
                  </a:lnTo>
                  <a:lnTo>
                    <a:pt x="7668646" y="502784"/>
                  </a:lnTo>
                  <a:lnTo>
                    <a:pt x="7721720" y="486485"/>
                  </a:lnTo>
                  <a:lnTo>
                    <a:pt x="7774287" y="469931"/>
                  </a:lnTo>
                  <a:lnTo>
                    <a:pt x="7826336" y="453152"/>
                  </a:lnTo>
                  <a:lnTo>
                    <a:pt x="7877856" y="436178"/>
                  </a:lnTo>
                  <a:lnTo>
                    <a:pt x="7928836" y="419039"/>
                  </a:lnTo>
                  <a:lnTo>
                    <a:pt x="7979265" y="401765"/>
                  </a:lnTo>
                  <a:lnTo>
                    <a:pt x="8029133" y="384385"/>
                  </a:lnTo>
                  <a:lnTo>
                    <a:pt x="8078428" y="366929"/>
                  </a:lnTo>
                  <a:lnTo>
                    <a:pt x="8127140" y="349427"/>
                  </a:lnTo>
                  <a:lnTo>
                    <a:pt x="8175257" y="331909"/>
                  </a:lnTo>
                  <a:lnTo>
                    <a:pt x="8222768" y="314404"/>
                  </a:lnTo>
                  <a:lnTo>
                    <a:pt x="8269664" y="296941"/>
                  </a:lnTo>
                  <a:lnTo>
                    <a:pt x="8315931" y="279552"/>
                  </a:lnTo>
                  <a:lnTo>
                    <a:pt x="8361561" y="262266"/>
                  </a:lnTo>
                  <a:lnTo>
                    <a:pt x="8406542" y="245111"/>
                  </a:lnTo>
                  <a:lnTo>
                    <a:pt x="8450862" y="228119"/>
                  </a:lnTo>
                  <a:lnTo>
                    <a:pt x="8494511" y="211318"/>
                  </a:lnTo>
                  <a:lnTo>
                    <a:pt x="8537479" y="194740"/>
                  </a:lnTo>
                  <a:lnTo>
                    <a:pt x="8579753" y="178412"/>
                  </a:lnTo>
                  <a:lnTo>
                    <a:pt x="8621324" y="162366"/>
                  </a:lnTo>
                  <a:lnTo>
                    <a:pt x="8662180" y="146630"/>
                  </a:lnTo>
                  <a:lnTo>
                    <a:pt x="8702310" y="131235"/>
                  </a:lnTo>
                  <a:lnTo>
                    <a:pt x="8741704" y="116210"/>
                  </a:lnTo>
                  <a:lnTo>
                    <a:pt x="8780350" y="101585"/>
                  </a:lnTo>
                  <a:lnTo>
                    <a:pt x="8818238" y="87390"/>
                  </a:lnTo>
                  <a:lnTo>
                    <a:pt x="8855356" y="73655"/>
                  </a:lnTo>
                  <a:lnTo>
                    <a:pt x="8891694" y="60409"/>
                  </a:lnTo>
                  <a:lnTo>
                    <a:pt x="8961985" y="35504"/>
                  </a:lnTo>
                  <a:lnTo>
                    <a:pt x="9029024" y="12913"/>
                  </a:lnTo>
                  <a:lnTo>
                    <a:pt x="9061296" y="2560"/>
                  </a:lnTo>
                  <a:lnTo>
                    <a:pt x="9069603" y="0"/>
                  </a:lnTo>
                </a:path>
              </a:pathLst>
            </a:custGeom>
            <a:ln w="10774">
              <a:solidFill>
                <a:srgbClr val="09B6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" y="56967"/>
              <a:ext cx="9144000" cy="892810"/>
            </a:xfrm>
            <a:custGeom>
              <a:avLst/>
              <a:gdLst/>
              <a:ahLst/>
              <a:cxnLst/>
              <a:rect l="l" t="t" r="r" b="b"/>
              <a:pathLst>
                <a:path w="9144000" h="892810">
                  <a:moveTo>
                    <a:pt x="0" y="892461"/>
                  </a:moveTo>
                  <a:lnTo>
                    <a:pt x="52556" y="882918"/>
                  </a:lnTo>
                  <a:lnTo>
                    <a:pt x="110528" y="871363"/>
                  </a:lnTo>
                  <a:lnTo>
                    <a:pt x="173708" y="857977"/>
                  </a:lnTo>
                  <a:lnTo>
                    <a:pt x="241890" y="842937"/>
                  </a:lnTo>
                  <a:lnTo>
                    <a:pt x="314868" y="826422"/>
                  </a:lnTo>
                  <a:lnTo>
                    <a:pt x="353090" y="817668"/>
                  </a:lnTo>
                  <a:lnTo>
                    <a:pt x="392433" y="808612"/>
                  </a:lnTo>
                  <a:lnTo>
                    <a:pt x="432871" y="799276"/>
                  </a:lnTo>
                  <a:lnTo>
                    <a:pt x="474379" y="789683"/>
                  </a:lnTo>
                  <a:lnTo>
                    <a:pt x="516931" y="779856"/>
                  </a:lnTo>
                  <a:lnTo>
                    <a:pt x="560501" y="769816"/>
                  </a:lnTo>
                  <a:lnTo>
                    <a:pt x="605062" y="759586"/>
                  </a:lnTo>
                  <a:lnTo>
                    <a:pt x="650589" y="749189"/>
                  </a:lnTo>
                  <a:lnTo>
                    <a:pt x="697057" y="738645"/>
                  </a:lnTo>
                  <a:lnTo>
                    <a:pt x="744439" y="727979"/>
                  </a:lnTo>
                  <a:lnTo>
                    <a:pt x="792709" y="717212"/>
                  </a:lnTo>
                  <a:lnTo>
                    <a:pt x="841842" y="706367"/>
                  </a:lnTo>
                  <a:lnTo>
                    <a:pt x="891812" y="695466"/>
                  </a:lnTo>
                  <a:lnTo>
                    <a:pt x="942593" y="684530"/>
                  </a:lnTo>
                  <a:lnTo>
                    <a:pt x="994158" y="673584"/>
                  </a:lnTo>
                  <a:lnTo>
                    <a:pt x="1046483" y="662648"/>
                  </a:lnTo>
                  <a:lnTo>
                    <a:pt x="1099542" y="651746"/>
                  </a:lnTo>
                  <a:lnTo>
                    <a:pt x="1153308" y="640899"/>
                  </a:lnTo>
                  <a:lnTo>
                    <a:pt x="1207755" y="630129"/>
                  </a:lnTo>
                  <a:lnTo>
                    <a:pt x="1262859" y="619460"/>
                  </a:lnTo>
                  <a:lnTo>
                    <a:pt x="1318592" y="608914"/>
                  </a:lnTo>
                  <a:lnTo>
                    <a:pt x="1374930" y="598512"/>
                  </a:lnTo>
                  <a:lnTo>
                    <a:pt x="1431845" y="588278"/>
                  </a:lnTo>
                  <a:lnTo>
                    <a:pt x="1489313" y="578233"/>
                  </a:lnTo>
                  <a:lnTo>
                    <a:pt x="1547308" y="568400"/>
                  </a:lnTo>
                  <a:lnTo>
                    <a:pt x="1605803" y="558801"/>
                  </a:lnTo>
                  <a:lnTo>
                    <a:pt x="1664773" y="549459"/>
                  </a:lnTo>
                  <a:lnTo>
                    <a:pt x="1724193" y="540395"/>
                  </a:lnTo>
                  <a:lnTo>
                    <a:pt x="1784035" y="531633"/>
                  </a:lnTo>
                  <a:lnTo>
                    <a:pt x="1844274" y="523194"/>
                  </a:lnTo>
                  <a:lnTo>
                    <a:pt x="1904885" y="515101"/>
                  </a:lnTo>
                  <a:lnTo>
                    <a:pt x="1965842" y="507376"/>
                  </a:lnTo>
                  <a:lnTo>
                    <a:pt x="2027118" y="500041"/>
                  </a:lnTo>
                  <a:lnTo>
                    <a:pt x="2088688" y="493120"/>
                  </a:lnTo>
                  <a:lnTo>
                    <a:pt x="2150526" y="486633"/>
                  </a:lnTo>
                  <a:lnTo>
                    <a:pt x="2212606" y="480604"/>
                  </a:lnTo>
                  <a:lnTo>
                    <a:pt x="2274903" y="475054"/>
                  </a:lnTo>
                  <a:lnTo>
                    <a:pt x="2337390" y="470007"/>
                  </a:lnTo>
                  <a:lnTo>
                    <a:pt x="2400041" y="465484"/>
                  </a:lnTo>
                  <a:lnTo>
                    <a:pt x="2462832" y="461508"/>
                  </a:lnTo>
                  <a:lnTo>
                    <a:pt x="2525735" y="458101"/>
                  </a:lnTo>
                  <a:lnTo>
                    <a:pt x="2588725" y="455286"/>
                  </a:lnTo>
                  <a:lnTo>
                    <a:pt x="2630538" y="453793"/>
                  </a:lnTo>
                  <a:lnTo>
                    <a:pt x="2672996" y="452618"/>
                  </a:lnTo>
                  <a:lnTo>
                    <a:pt x="2716083" y="451751"/>
                  </a:lnTo>
                  <a:lnTo>
                    <a:pt x="2759781" y="451185"/>
                  </a:lnTo>
                  <a:lnTo>
                    <a:pt x="2804075" y="450909"/>
                  </a:lnTo>
                  <a:lnTo>
                    <a:pt x="2848946" y="450916"/>
                  </a:lnTo>
                  <a:lnTo>
                    <a:pt x="2894379" y="451197"/>
                  </a:lnTo>
                  <a:lnTo>
                    <a:pt x="2940356" y="451743"/>
                  </a:lnTo>
                  <a:lnTo>
                    <a:pt x="2986862" y="452546"/>
                  </a:lnTo>
                  <a:lnTo>
                    <a:pt x="3033878" y="453597"/>
                  </a:lnTo>
                  <a:lnTo>
                    <a:pt x="3081389" y="454887"/>
                  </a:lnTo>
                  <a:lnTo>
                    <a:pt x="3129377" y="456408"/>
                  </a:lnTo>
                  <a:lnTo>
                    <a:pt x="3177826" y="458151"/>
                  </a:lnTo>
                  <a:lnTo>
                    <a:pt x="3226720" y="460107"/>
                  </a:lnTo>
                  <a:lnTo>
                    <a:pt x="3276041" y="462269"/>
                  </a:lnTo>
                  <a:lnTo>
                    <a:pt x="3325772" y="464626"/>
                  </a:lnTo>
                  <a:lnTo>
                    <a:pt x="3375897" y="467171"/>
                  </a:lnTo>
                  <a:lnTo>
                    <a:pt x="3426399" y="469895"/>
                  </a:lnTo>
                  <a:lnTo>
                    <a:pt x="3477262" y="472789"/>
                  </a:lnTo>
                  <a:lnTo>
                    <a:pt x="3528468" y="475845"/>
                  </a:lnTo>
                  <a:lnTo>
                    <a:pt x="3580001" y="479053"/>
                  </a:lnTo>
                  <a:lnTo>
                    <a:pt x="3631843" y="482406"/>
                  </a:lnTo>
                  <a:lnTo>
                    <a:pt x="3683980" y="485895"/>
                  </a:lnTo>
                  <a:lnTo>
                    <a:pt x="3736392" y="489510"/>
                  </a:lnTo>
                  <a:lnTo>
                    <a:pt x="3789065" y="493244"/>
                  </a:lnTo>
                  <a:lnTo>
                    <a:pt x="3841980" y="497088"/>
                  </a:lnTo>
                  <a:lnTo>
                    <a:pt x="3895122" y="501033"/>
                  </a:lnTo>
                  <a:lnTo>
                    <a:pt x="3948473" y="505070"/>
                  </a:lnTo>
                  <a:lnTo>
                    <a:pt x="4002017" y="509192"/>
                  </a:lnTo>
                  <a:lnTo>
                    <a:pt x="4055737" y="513388"/>
                  </a:lnTo>
                  <a:lnTo>
                    <a:pt x="4109616" y="517651"/>
                  </a:lnTo>
                  <a:lnTo>
                    <a:pt x="4163638" y="521972"/>
                  </a:lnTo>
                  <a:lnTo>
                    <a:pt x="4217785" y="526342"/>
                  </a:lnTo>
                  <a:lnTo>
                    <a:pt x="4272041" y="530753"/>
                  </a:lnTo>
                  <a:lnTo>
                    <a:pt x="4326390" y="535195"/>
                  </a:lnTo>
                  <a:lnTo>
                    <a:pt x="4380813" y="539661"/>
                  </a:lnTo>
                  <a:lnTo>
                    <a:pt x="4435296" y="544142"/>
                  </a:lnTo>
                  <a:lnTo>
                    <a:pt x="4489820" y="548629"/>
                  </a:lnTo>
                  <a:lnTo>
                    <a:pt x="4544370" y="553113"/>
                  </a:lnTo>
                  <a:lnTo>
                    <a:pt x="4598928" y="557586"/>
                  </a:lnTo>
                  <a:lnTo>
                    <a:pt x="4653478" y="562039"/>
                  </a:lnTo>
                  <a:lnTo>
                    <a:pt x="4708002" y="566464"/>
                  </a:lnTo>
                  <a:lnTo>
                    <a:pt x="4762485" y="570852"/>
                  </a:lnTo>
                  <a:lnTo>
                    <a:pt x="4816909" y="575193"/>
                  </a:lnTo>
                  <a:lnTo>
                    <a:pt x="4871258" y="579481"/>
                  </a:lnTo>
                  <a:lnTo>
                    <a:pt x="4925514" y="583705"/>
                  </a:lnTo>
                  <a:lnTo>
                    <a:pt x="4979662" y="587857"/>
                  </a:lnTo>
                  <a:lnTo>
                    <a:pt x="5033684" y="591929"/>
                  </a:lnTo>
                  <a:lnTo>
                    <a:pt x="5087563" y="595913"/>
                  </a:lnTo>
                  <a:lnTo>
                    <a:pt x="5141284" y="599798"/>
                  </a:lnTo>
                  <a:lnTo>
                    <a:pt x="5194828" y="603577"/>
                  </a:lnTo>
                  <a:lnTo>
                    <a:pt x="5248180" y="607242"/>
                  </a:lnTo>
                  <a:lnTo>
                    <a:pt x="5301322" y="610783"/>
                  </a:lnTo>
                  <a:lnTo>
                    <a:pt x="5354238" y="614191"/>
                  </a:lnTo>
                  <a:lnTo>
                    <a:pt x="5406911" y="617459"/>
                  </a:lnTo>
                  <a:lnTo>
                    <a:pt x="5459325" y="620577"/>
                  </a:lnTo>
                  <a:lnTo>
                    <a:pt x="5511462" y="623538"/>
                  </a:lnTo>
                  <a:lnTo>
                    <a:pt x="5563305" y="626331"/>
                  </a:lnTo>
                  <a:lnTo>
                    <a:pt x="5614839" y="628949"/>
                  </a:lnTo>
                  <a:lnTo>
                    <a:pt x="5666046" y="631383"/>
                  </a:lnTo>
                  <a:lnTo>
                    <a:pt x="5716909" y="633624"/>
                  </a:lnTo>
                  <a:lnTo>
                    <a:pt x="5767412" y="635664"/>
                  </a:lnTo>
                  <a:lnTo>
                    <a:pt x="5817539" y="637494"/>
                  </a:lnTo>
                  <a:lnTo>
                    <a:pt x="5867271" y="639106"/>
                  </a:lnTo>
                  <a:lnTo>
                    <a:pt x="5916593" y="640490"/>
                  </a:lnTo>
                  <a:lnTo>
                    <a:pt x="5965487" y="641638"/>
                  </a:lnTo>
                  <a:lnTo>
                    <a:pt x="6013938" y="642542"/>
                  </a:lnTo>
                  <a:lnTo>
                    <a:pt x="6061928" y="643193"/>
                  </a:lnTo>
                  <a:lnTo>
                    <a:pt x="6109440" y="643581"/>
                  </a:lnTo>
                  <a:lnTo>
                    <a:pt x="6156458" y="643700"/>
                  </a:lnTo>
                  <a:lnTo>
                    <a:pt x="6202964" y="643539"/>
                  </a:lnTo>
                  <a:lnTo>
                    <a:pt x="6248943" y="643090"/>
                  </a:lnTo>
                  <a:lnTo>
                    <a:pt x="6294377" y="642345"/>
                  </a:lnTo>
                  <a:lnTo>
                    <a:pt x="6339250" y="641296"/>
                  </a:lnTo>
                  <a:lnTo>
                    <a:pt x="6383545" y="639932"/>
                  </a:lnTo>
                  <a:lnTo>
                    <a:pt x="6427245" y="638246"/>
                  </a:lnTo>
                  <a:lnTo>
                    <a:pt x="6470333" y="636229"/>
                  </a:lnTo>
                  <a:lnTo>
                    <a:pt x="6512793" y="633873"/>
                  </a:lnTo>
                  <a:lnTo>
                    <a:pt x="6554608" y="631169"/>
                  </a:lnTo>
                  <a:lnTo>
                    <a:pt x="6616301" y="626506"/>
                  </a:lnTo>
                  <a:lnTo>
                    <a:pt x="6677695" y="621126"/>
                  </a:lnTo>
                  <a:lnTo>
                    <a:pt x="6738779" y="615055"/>
                  </a:lnTo>
                  <a:lnTo>
                    <a:pt x="6799541" y="608317"/>
                  </a:lnTo>
                  <a:lnTo>
                    <a:pt x="6859970" y="600940"/>
                  </a:lnTo>
                  <a:lnTo>
                    <a:pt x="6920054" y="592949"/>
                  </a:lnTo>
                  <a:lnTo>
                    <a:pt x="6979781" y="584369"/>
                  </a:lnTo>
                  <a:lnTo>
                    <a:pt x="7039141" y="575226"/>
                  </a:lnTo>
                  <a:lnTo>
                    <a:pt x="7098122" y="565547"/>
                  </a:lnTo>
                  <a:lnTo>
                    <a:pt x="7156712" y="555357"/>
                  </a:lnTo>
                  <a:lnTo>
                    <a:pt x="7214900" y="544682"/>
                  </a:lnTo>
                  <a:lnTo>
                    <a:pt x="7272674" y="533547"/>
                  </a:lnTo>
                  <a:lnTo>
                    <a:pt x="7330024" y="521979"/>
                  </a:lnTo>
                  <a:lnTo>
                    <a:pt x="7386936" y="510003"/>
                  </a:lnTo>
                  <a:lnTo>
                    <a:pt x="7443401" y="497645"/>
                  </a:lnTo>
                  <a:lnTo>
                    <a:pt x="7499406" y="484931"/>
                  </a:lnTo>
                  <a:lnTo>
                    <a:pt x="7554939" y="471887"/>
                  </a:lnTo>
                  <a:lnTo>
                    <a:pt x="7609991" y="458538"/>
                  </a:lnTo>
                  <a:lnTo>
                    <a:pt x="7664548" y="444910"/>
                  </a:lnTo>
                  <a:lnTo>
                    <a:pt x="7718600" y="431030"/>
                  </a:lnTo>
                  <a:lnTo>
                    <a:pt x="7772135" y="416922"/>
                  </a:lnTo>
                  <a:lnTo>
                    <a:pt x="7825141" y="402613"/>
                  </a:lnTo>
                  <a:lnTo>
                    <a:pt x="7877608" y="388129"/>
                  </a:lnTo>
                  <a:lnTo>
                    <a:pt x="7929523" y="373495"/>
                  </a:lnTo>
                  <a:lnTo>
                    <a:pt x="7980876" y="358737"/>
                  </a:lnTo>
                  <a:lnTo>
                    <a:pt x="8031654" y="343881"/>
                  </a:lnTo>
                  <a:lnTo>
                    <a:pt x="8081846" y="328953"/>
                  </a:lnTo>
                  <a:lnTo>
                    <a:pt x="8131441" y="313978"/>
                  </a:lnTo>
                  <a:lnTo>
                    <a:pt x="8180427" y="298983"/>
                  </a:lnTo>
                  <a:lnTo>
                    <a:pt x="8228793" y="283993"/>
                  </a:lnTo>
                  <a:lnTo>
                    <a:pt x="8276527" y="269034"/>
                  </a:lnTo>
                  <a:lnTo>
                    <a:pt x="8323618" y="254131"/>
                  </a:lnTo>
                  <a:lnTo>
                    <a:pt x="8370054" y="239312"/>
                  </a:lnTo>
                  <a:lnTo>
                    <a:pt x="8415824" y="224600"/>
                  </a:lnTo>
                  <a:lnTo>
                    <a:pt x="8460916" y="210023"/>
                  </a:lnTo>
                  <a:lnTo>
                    <a:pt x="8505319" y="195606"/>
                  </a:lnTo>
                  <a:lnTo>
                    <a:pt x="8549022" y="181374"/>
                  </a:lnTo>
                  <a:lnTo>
                    <a:pt x="8592012" y="167355"/>
                  </a:lnTo>
                  <a:lnTo>
                    <a:pt x="8634279" y="153572"/>
                  </a:lnTo>
                  <a:lnTo>
                    <a:pt x="8675811" y="140053"/>
                  </a:lnTo>
                  <a:lnTo>
                    <a:pt x="8716597" y="126823"/>
                  </a:lnTo>
                  <a:lnTo>
                    <a:pt x="8756624" y="113908"/>
                  </a:lnTo>
                  <a:lnTo>
                    <a:pt x="8795882" y="101333"/>
                  </a:lnTo>
                  <a:lnTo>
                    <a:pt x="8834359" y="89125"/>
                  </a:lnTo>
                  <a:lnTo>
                    <a:pt x="8872043" y="77309"/>
                  </a:lnTo>
                  <a:lnTo>
                    <a:pt x="8908924" y="65911"/>
                  </a:lnTo>
                  <a:lnTo>
                    <a:pt x="8980227" y="44473"/>
                  </a:lnTo>
                  <a:lnTo>
                    <a:pt x="9048177" y="25016"/>
                  </a:lnTo>
                  <a:lnTo>
                    <a:pt x="9112682" y="7748"/>
                  </a:lnTo>
                  <a:lnTo>
                    <a:pt x="9143614" y="0"/>
                  </a:lnTo>
                </a:path>
              </a:pathLst>
            </a:custGeom>
            <a:ln w="9524">
              <a:solidFill>
                <a:srgbClr val="10CE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9156" y="311725"/>
            <a:ext cx="720470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Declarin</a:t>
            </a:r>
            <a:r>
              <a:rPr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g</a:t>
            </a:r>
            <a:r>
              <a:rPr sz="40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and </a:t>
            </a:r>
            <a:r>
              <a:rPr sz="40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Initializin</a:t>
            </a:r>
            <a:r>
              <a:rPr sz="4000" b="1" dirty="0">
                <a:solidFill>
                  <a:srgbClr val="000000"/>
                </a:solidFill>
                <a:latin typeface="Times New Roman"/>
                <a:cs typeface="Times New Roman"/>
              </a:rPr>
              <a:t>g</a:t>
            </a:r>
            <a:r>
              <a:rPr sz="4000" b="1" spc="-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Arrays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200" y="2133600"/>
            <a:ext cx="8439150" cy="38292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800" b="1" spc="-5" dirty="0">
                <a:latin typeface="Times New Roman"/>
                <a:cs typeface="Times New Roman"/>
              </a:rPr>
              <a:t>Initializin</a:t>
            </a:r>
            <a:r>
              <a:rPr sz="2800" b="1" dirty="0">
                <a:latin typeface="Times New Roman"/>
                <a:cs typeface="Times New Roman"/>
              </a:rPr>
              <a:t>g</a:t>
            </a:r>
            <a:r>
              <a:rPr sz="2800" b="1" spc="-15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Arrays</a:t>
            </a: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2400"/>
              </a:spcBef>
            </a:pPr>
            <a:r>
              <a:rPr sz="2800" dirty="0">
                <a:latin typeface="Times New Roman"/>
                <a:cs typeface="Times New Roman"/>
              </a:rPr>
              <a:t>Initialization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array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either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single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statement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as </a:t>
            </a:r>
            <a:r>
              <a:rPr sz="2800" dirty="0">
                <a:latin typeface="Times New Roman"/>
                <a:cs typeface="Times New Roman"/>
              </a:rPr>
              <a:t>follows −</a:t>
            </a: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800" spc="-5" dirty="0">
                <a:latin typeface="Times New Roman"/>
                <a:cs typeface="Times New Roman"/>
              </a:rPr>
              <a:t>int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ar[5];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800" spc="-5" dirty="0">
                <a:latin typeface="Times New Roman"/>
                <a:cs typeface="Times New Roman"/>
              </a:rPr>
              <a:t>ar[0]=10;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ar[1]=20;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800" dirty="0">
                <a:latin typeface="Times New Roman"/>
                <a:cs typeface="Times New Roman"/>
              </a:rPr>
              <a:t>double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balance[5]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{1000.0,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2.0,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3.4,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7.0,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50.0};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28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8593" y="227996"/>
            <a:ext cx="71780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0" dirty="0">
                <a:latin typeface="Calibri"/>
                <a:cs typeface="Calibri"/>
              </a:rPr>
              <a:t>Representation</a:t>
            </a:r>
            <a:r>
              <a:rPr sz="3200" b="1" spc="8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of</a:t>
            </a:r>
            <a:r>
              <a:rPr sz="3200" b="1" spc="7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Linear</a:t>
            </a:r>
            <a:r>
              <a:rPr sz="3200" b="1" spc="85" dirty="0">
                <a:latin typeface="Calibri"/>
                <a:cs typeface="Calibri"/>
              </a:rPr>
              <a:t> </a:t>
            </a:r>
            <a:r>
              <a:rPr sz="3200" b="1" spc="-30" dirty="0">
                <a:latin typeface="Calibri"/>
                <a:cs typeface="Calibri"/>
              </a:rPr>
              <a:t>Array</a:t>
            </a:r>
            <a:r>
              <a:rPr sz="3200" b="1" spc="7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in</a:t>
            </a:r>
            <a:r>
              <a:rPr sz="3200" b="1" spc="7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Memory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20868" y="6441413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omic Sans MS"/>
                <a:cs typeface="Comic Sans MS"/>
              </a:rPr>
              <a:t>10</a:t>
            </a:r>
            <a:endParaRPr sz="1200">
              <a:latin typeface="Comic Sans MS"/>
              <a:cs typeface="Comic Sans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137771"/>
            <a:ext cx="9143999" cy="523232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68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5387" y="0"/>
            <a:ext cx="9154160" cy="1033144"/>
            <a:chOff x="-5387" y="0"/>
            <a:chExt cx="9154160" cy="103314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3999" cy="102742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069705" cy="1015365"/>
            </a:xfrm>
            <a:custGeom>
              <a:avLst/>
              <a:gdLst/>
              <a:ahLst/>
              <a:cxnLst/>
              <a:rect l="l" t="t" r="r" b="b"/>
              <a:pathLst>
                <a:path w="9069705" h="1015365">
                  <a:moveTo>
                    <a:pt x="0" y="1015121"/>
                  </a:moveTo>
                  <a:lnTo>
                    <a:pt x="53491" y="995678"/>
                  </a:lnTo>
                  <a:lnTo>
                    <a:pt x="112891" y="974491"/>
                  </a:lnTo>
                  <a:lnTo>
                    <a:pt x="177134" y="952050"/>
                  </a:lnTo>
                  <a:lnTo>
                    <a:pt x="246046" y="928522"/>
                  </a:lnTo>
                  <a:lnTo>
                    <a:pt x="282199" y="916402"/>
                  </a:lnTo>
                  <a:lnTo>
                    <a:pt x="319454" y="904072"/>
                  </a:lnTo>
                  <a:lnTo>
                    <a:pt x="357790" y="891552"/>
                  </a:lnTo>
                  <a:lnTo>
                    <a:pt x="397184" y="878865"/>
                  </a:lnTo>
                  <a:lnTo>
                    <a:pt x="437617" y="866029"/>
                  </a:lnTo>
                  <a:lnTo>
                    <a:pt x="479065" y="853066"/>
                  </a:lnTo>
                  <a:lnTo>
                    <a:pt x="521506" y="839996"/>
                  </a:lnTo>
                  <a:lnTo>
                    <a:pt x="564921" y="826841"/>
                  </a:lnTo>
                  <a:lnTo>
                    <a:pt x="609286" y="813621"/>
                  </a:lnTo>
                  <a:lnTo>
                    <a:pt x="654580" y="800356"/>
                  </a:lnTo>
                  <a:lnTo>
                    <a:pt x="700782" y="787068"/>
                  </a:lnTo>
                  <a:lnTo>
                    <a:pt x="747869" y="773776"/>
                  </a:lnTo>
                  <a:lnTo>
                    <a:pt x="795821" y="760502"/>
                  </a:lnTo>
                  <a:lnTo>
                    <a:pt x="844615" y="747266"/>
                  </a:lnTo>
                  <a:lnTo>
                    <a:pt x="894230" y="734089"/>
                  </a:lnTo>
                  <a:lnTo>
                    <a:pt x="944644" y="720992"/>
                  </a:lnTo>
                  <a:lnTo>
                    <a:pt x="995836" y="707996"/>
                  </a:lnTo>
                  <a:lnTo>
                    <a:pt x="1047783" y="695120"/>
                  </a:lnTo>
                  <a:lnTo>
                    <a:pt x="1100465" y="682386"/>
                  </a:lnTo>
                  <a:lnTo>
                    <a:pt x="1153859" y="669814"/>
                  </a:lnTo>
                  <a:lnTo>
                    <a:pt x="1207944" y="657425"/>
                  </a:lnTo>
                  <a:lnTo>
                    <a:pt x="1262698" y="645240"/>
                  </a:lnTo>
                  <a:lnTo>
                    <a:pt x="1318100" y="633280"/>
                  </a:lnTo>
                  <a:lnTo>
                    <a:pt x="1374128" y="621565"/>
                  </a:lnTo>
                  <a:lnTo>
                    <a:pt x="1430760" y="610115"/>
                  </a:lnTo>
                  <a:lnTo>
                    <a:pt x="1487975" y="598952"/>
                  </a:lnTo>
                  <a:lnTo>
                    <a:pt x="1545751" y="588096"/>
                  </a:lnTo>
                  <a:lnTo>
                    <a:pt x="1604066" y="577568"/>
                  </a:lnTo>
                  <a:lnTo>
                    <a:pt x="1662898" y="567388"/>
                  </a:lnTo>
                  <a:lnTo>
                    <a:pt x="1722227" y="557578"/>
                  </a:lnTo>
                  <a:lnTo>
                    <a:pt x="1782030" y="548157"/>
                  </a:lnTo>
                  <a:lnTo>
                    <a:pt x="1842285" y="539147"/>
                  </a:lnTo>
                  <a:lnTo>
                    <a:pt x="1902972" y="530568"/>
                  </a:lnTo>
                  <a:lnTo>
                    <a:pt x="1964068" y="522441"/>
                  </a:lnTo>
                  <a:lnTo>
                    <a:pt x="2025552" y="514787"/>
                  </a:lnTo>
                  <a:lnTo>
                    <a:pt x="2087402" y="507626"/>
                  </a:lnTo>
                  <a:lnTo>
                    <a:pt x="2149596" y="500979"/>
                  </a:lnTo>
                  <a:lnTo>
                    <a:pt x="2212113" y="494867"/>
                  </a:lnTo>
                  <a:lnTo>
                    <a:pt x="2274931" y="489310"/>
                  </a:lnTo>
                  <a:lnTo>
                    <a:pt x="2338029" y="484328"/>
                  </a:lnTo>
                  <a:lnTo>
                    <a:pt x="2401384" y="479944"/>
                  </a:lnTo>
                  <a:lnTo>
                    <a:pt x="2464976" y="476177"/>
                  </a:lnTo>
                  <a:lnTo>
                    <a:pt x="2528781" y="473048"/>
                  </a:lnTo>
                  <a:lnTo>
                    <a:pt x="2570379" y="471445"/>
                  </a:lnTo>
                  <a:lnTo>
                    <a:pt x="2612648" y="470247"/>
                  </a:lnTo>
                  <a:lnTo>
                    <a:pt x="2655572" y="469445"/>
                  </a:lnTo>
                  <a:lnTo>
                    <a:pt x="2699133" y="469026"/>
                  </a:lnTo>
                  <a:lnTo>
                    <a:pt x="2743315" y="468979"/>
                  </a:lnTo>
                  <a:lnTo>
                    <a:pt x="2788098" y="469295"/>
                  </a:lnTo>
                  <a:lnTo>
                    <a:pt x="2833468" y="469961"/>
                  </a:lnTo>
                  <a:lnTo>
                    <a:pt x="2879405" y="470967"/>
                  </a:lnTo>
                  <a:lnTo>
                    <a:pt x="2925893" y="472302"/>
                  </a:lnTo>
                  <a:lnTo>
                    <a:pt x="2972915" y="473955"/>
                  </a:lnTo>
                  <a:lnTo>
                    <a:pt x="3020453" y="475915"/>
                  </a:lnTo>
                  <a:lnTo>
                    <a:pt x="3068490" y="478171"/>
                  </a:lnTo>
                  <a:lnTo>
                    <a:pt x="3117009" y="480712"/>
                  </a:lnTo>
                  <a:lnTo>
                    <a:pt x="3165992" y="483528"/>
                  </a:lnTo>
                  <a:lnTo>
                    <a:pt x="3215422" y="486606"/>
                  </a:lnTo>
                  <a:lnTo>
                    <a:pt x="3265281" y="489937"/>
                  </a:lnTo>
                  <a:lnTo>
                    <a:pt x="3315554" y="493509"/>
                  </a:lnTo>
                  <a:lnTo>
                    <a:pt x="3366221" y="497311"/>
                  </a:lnTo>
                  <a:lnTo>
                    <a:pt x="3417266" y="501332"/>
                  </a:lnTo>
                  <a:lnTo>
                    <a:pt x="3468672" y="505562"/>
                  </a:lnTo>
                  <a:lnTo>
                    <a:pt x="3520422" y="509990"/>
                  </a:lnTo>
                  <a:lnTo>
                    <a:pt x="3572497" y="514603"/>
                  </a:lnTo>
                  <a:lnTo>
                    <a:pt x="3624881" y="519392"/>
                  </a:lnTo>
                  <a:lnTo>
                    <a:pt x="3677556" y="524346"/>
                  </a:lnTo>
                  <a:lnTo>
                    <a:pt x="3730506" y="529454"/>
                  </a:lnTo>
                  <a:lnTo>
                    <a:pt x="3783712" y="534704"/>
                  </a:lnTo>
                  <a:lnTo>
                    <a:pt x="3837158" y="540085"/>
                  </a:lnTo>
                  <a:lnTo>
                    <a:pt x="3890826" y="545587"/>
                  </a:lnTo>
                  <a:lnTo>
                    <a:pt x="3944700" y="551200"/>
                  </a:lnTo>
                  <a:lnTo>
                    <a:pt x="3998760" y="556910"/>
                  </a:lnTo>
                  <a:lnTo>
                    <a:pt x="4052992" y="562709"/>
                  </a:lnTo>
                  <a:lnTo>
                    <a:pt x="4107376" y="568585"/>
                  </a:lnTo>
                  <a:lnTo>
                    <a:pt x="4161896" y="574526"/>
                  </a:lnTo>
                  <a:lnTo>
                    <a:pt x="4216535" y="580522"/>
                  </a:lnTo>
                  <a:lnTo>
                    <a:pt x="4271274" y="586563"/>
                  </a:lnTo>
                  <a:lnTo>
                    <a:pt x="4326098" y="592636"/>
                  </a:lnTo>
                  <a:lnTo>
                    <a:pt x="4380988" y="598732"/>
                  </a:lnTo>
                  <a:lnTo>
                    <a:pt x="4435928" y="604838"/>
                  </a:lnTo>
                  <a:lnTo>
                    <a:pt x="4490900" y="610945"/>
                  </a:lnTo>
                  <a:lnTo>
                    <a:pt x="4545886" y="617041"/>
                  </a:lnTo>
                  <a:lnTo>
                    <a:pt x="4600870" y="623115"/>
                  </a:lnTo>
                  <a:lnTo>
                    <a:pt x="4655834" y="629157"/>
                  </a:lnTo>
                  <a:lnTo>
                    <a:pt x="4710761" y="635154"/>
                  </a:lnTo>
                  <a:lnTo>
                    <a:pt x="4765634" y="641097"/>
                  </a:lnTo>
                  <a:lnTo>
                    <a:pt x="4820434" y="646975"/>
                  </a:lnTo>
                  <a:lnTo>
                    <a:pt x="4875146" y="652776"/>
                  </a:lnTo>
                  <a:lnTo>
                    <a:pt x="4929752" y="658489"/>
                  </a:lnTo>
                  <a:lnTo>
                    <a:pt x="4984234" y="664104"/>
                  </a:lnTo>
                  <a:lnTo>
                    <a:pt x="5038575" y="669610"/>
                  </a:lnTo>
                  <a:lnTo>
                    <a:pt x="5092757" y="674995"/>
                  </a:lnTo>
                  <a:lnTo>
                    <a:pt x="5146765" y="680249"/>
                  </a:lnTo>
                  <a:lnTo>
                    <a:pt x="5200579" y="685360"/>
                  </a:lnTo>
                  <a:lnTo>
                    <a:pt x="5254184" y="690319"/>
                  </a:lnTo>
                  <a:lnTo>
                    <a:pt x="5307561" y="695113"/>
                  </a:lnTo>
                  <a:lnTo>
                    <a:pt x="5360693" y="699732"/>
                  </a:lnTo>
                  <a:lnTo>
                    <a:pt x="5413564" y="704164"/>
                  </a:lnTo>
                  <a:lnTo>
                    <a:pt x="5466155" y="708400"/>
                  </a:lnTo>
                  <a:lnTo>
                    <a:pt x="5518450" y="712427"/>
                  </a:lnTo>
                  <a:lnTo>
                    <a:pt x="5570431" y="716236"/>
                  </a:lnTo>
                  <a:lnTo>
                    <a:pt x="5622080" y="719814"/>
                  </a:lnTo>
                  <a:lnTo>
                    <a:pt x="5673382" y="723152"/>
                  </a:lnTo>
                  <a:lnTo>
                    <a:pt x="5724318" y="726238"/>
                  </a:lnTo>
                  <a:lnTo>
                    <a:pt x="5774870" y="729061"/>
                  </a:lnTo>
                  <a:lnTo>
                    <a:pt x="5825023" y="731610"/>
                  </a:lnTo>
                  <a:lnTo>
                    <a:pt x="5874758" y="733874"/>
                  </a:lnTo>
                  <a:lnTo>
                    <a:pt x="5924058" y="735842"/>
                  </a:lnTo>
                  <a:lnTo>
                    <a:pt x="5972905" y="737504"/>
                  </a:lnTo>
                  <a:lnTo>
                    <a:pt x="6021284" y="738848"/>
                  </a:lnTo>
                  <a:lnTo>
                    <a:pt x="6069175" y="739864"/>
                  </a:lnTo>
                  <a:lnTo>
                    <a:pt x="6116563" y="740540"/>
                  </a:lnTo>
                  <a:lnTo>
                    <a:pt x="6163429" y="740865"/>
                  </a:lnTo>
                  <a:lnTo>
                    <a:pt x="6209757" y="740829"/>
                  </a:lnTo>
                  <a:lnTo>
                    <a:pt x="6255529" y="740421"/>
                  </a:lnTo>
                  <a:lnTo>
                    <a:pt x="6300727" y="739629"/>
                  </a:lnTo>
                  <a:lnTo>
                    <a:pt x="6345335" y="738443"/>
                  </a:lnTo>
                  <a:lnTo>
                    <a:pt x="6389335" y="736852"/>
                  </a:lnTo>
                  <a:lnTo>
                    <a:pt x="6432710" y="734844"/>
                  </a:lnTo>
                  <a:lnTo>
                    <a:pt x="6475443" y="732409"/>
                  </a:lnTo>
                  <a:lnTo>
                    <a:pt x="6517516" y="729536"/>
                  </a:lnTo>
                  <a:lnTo>
                    <a:pt x="6578436" y="724572"/>
                  </a:lnTo>
                  <a:lnTo>
                    <a:pt x="6639067" y="718758"/>
                  </a:lnTo>
                  <a:lnTo>
                    <a:pt x="6699399" y="712125"/>
                  </a:lnTo>
                  <a:lnTo>
                    <a:pt x="6759420" y="704702"/>
                  </a:lnTo>
                  <a:lnTo>
                    <a:pt x="6819121" y="696519"/>
                  </a:lnTo>
                  <a:lnTo>
                    <a:pt x="6878489" y="687606"/>
                  </a:lnTo>
                  <a:lnTo>
                    <a:pt x="6937514" y="677992"/>
                  </a:lnTo>
                  <a:lnTo>
                    <a:pt x="6996185" y="667707"/>
                  </a:lnTo>
                  <a:lnTo>
                    <a:pt x="7054491" y="656781"/>
                  </a:lnTo>
                  <a:lnTo>
                    <a:pt x="7112422" y="645243"/>
                  </a:lnTo>
                  <a:lnTo>
                    <a:pt x="7169965" y="633124"/>
                  </a:lnTo>
                  <a:lnTo>
                    <a:pt x="7227111" y="620453"/>
                  </a:lnTo>
                  <a:lnTo>
                    <a:pt x="7283848" y="607259"/>
                  </a:lnTo>
                  <a:lnTo>
                    <a:pt x="7340165" y="593574"/>
                  </a:lnTo>
                  <a:lnTo>
                    <a:pt x="7396052" y="579425"/>
                  </a:lnTo>
                  <a:lnTo>
                    <a:pt x="7451497" y="564844"/>
                  </a:lnTo>
                  <a:lnTo>
                    <a:pt x="7506490" y="549859"/>
                  </a:lnTo>
                  <a:lnTo>
                    <a:pt x="7561020" y="534501"/>
                  </a:lnTo>
                  <a:lnTo>
                    <a:pt x="7615075" y="518800"/>
                  </a:lnTo>
                  <a:lnTo>
                    <a:pt x="7668646" y="502784"/>
                  </a:lnTo>
                  <a:lnTo>
                    <a:pt x="7721720" y="486485"/>
                  </a:lnTo>
                  <a:lnTo>
                    <a:pt x="7774287" y="469931"/>
                  </a:lnTo>
                  <a:lnTo>
                    <a:pt x="7826336" y="453152"/>
                  </a:lnTo>
                  <a:lnTo>
                    <a:pt x="7877856" y="436178"/>
                  </a:lnTo>
                  <a:lnTo>
                    <a:pt x="7928836" y="419039"/>
                  </a:lnTo>
                  <a:lnTo>
                    <a:pt x="7979265" y="401765"/>
                  </a:lnTo>
                  <a:lnTo>
                    <a:pt x="8029133" y="384385"/>
                  </a:lnTo>
                  <a:lnTo>
                    <a:pt x="8078428" y="366929"/>
                  </a:lnTo>
                  <a:lnTo>
                    <a:pt x="8127140" y="349427"/>
                  </a:lnTo>
                  <a:lnTo>
                    <a:pt x="8175257" y="331909"/>
                  </a:lnTo>
                  <a:lnTo>
                    <a:pt x="8222768" y="314404"/>
                  </a:lnTo>
                  <a:lnTo>
                    <a:pt x="8269664" y="296941"/>
                  </a:lnTo>
                  <a:lnTo>
                    <a:pt x="8315931" y="279552"/>
                  </a:lnTo>
                  <a:lnTo>
                    <a:pt x="8361561" y="262266"/>
                  </a:lnTo>
                  <a:lnTo>
                    <a:pt x="8406542" y="245111"/>
                  </a:lnTo>
                  <a:lnTo>
                    <a:pt x="8450862" y="228119"/>
                  </a:lnTo>
                  <a:lnTo>
                    <a:pt x="8494511" y="211318"/>
                  </a:lnTo>
                  <a:lnTo>
                    <a:pt x="8537479" y="194740"/>
                  </a:lnTo>
                  <a:lnTo>
                    <a:pt x="8579753" y="178412"/>
                  </a:lnTo>
                  <a:lnTo>
                    <a:pt x="8621324" y="162366"/>
                  </a:lnTo>
                  <a:lnTo>
                    <a:pt x="8662180" y="146630"/>
                  </a:lnTo>
                  <a:lnTo>
                    <a:pt x="8702310" y="131235"/>
                  </a:lnTo>
                  <a:lnTo>
                    <a:pt x="8741704" y="116210"/>
                  </a:lnTo>
                  <a:lnTo>
                    <a:pt x="8780350" y="101585"/>
                  </a:lnTo>
                  <a:lnTo>
                    <a:pt x="8818238" y="87390"/>
                  </a:lnTo>
                  <a:lnTo>
                    <a:pt x="8855356" y="73655"/>
                  </a:lnTo>
                  <a:lnTo>
                    <a:pt x="8891694" y="60409"/>
                  </a:lnTo>
                  <a:lnTo>
                    <a:pt x="8961985" y="35504"/>
                  </a:lnTo>
                  <a:lnTo>
                    <a:pt x="9029024" y="12913"/>
                  </a:lnTo>
                  <a:lnTo>
                    <a:pt x="9061296" y="2560"/>
                  </a:lnTo>
                  <a:lnTo>
                    <a:pt x="9069603" y="0"/>
                  </a:lnTo>
                </a:path>
              </a:pathLst>
            </a:custGeom>
            <a:ln w="10774">
              <a:solidFill>
                <a:srgbClr val="09B6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" y="56967"/>
              <a:ext cx="9144000" cy="892810"/>
            </a:xfrm>
            <a:custGeom>
              <a:avLst/>
              <a:gdLst/>
              <a:ahLst/>
              <a:cxnLst/>
              <a:rect l="l" t="t" r="r" b="b"/>
              <a:pathLst>
                <a:path w="9144000" h="892810">
                  <a:moveTo>
                    <a:pt x="0" y="892461"/>
                  </a:moveTo>
                  <a:lnTo>
                    <a:pt x="52556" y="882918"/>
                  </a:lnTo>
                  <a:lnTo>
                    <a:pt x="110528" y="871363"/>
                  </a:lnTo>
                  <a:lnTo>
                    <a:pt x="173708" y="857977"/>
                  </a:lnTo>
                  <a:lnTo>
                    <a:pt x="241890" y="842937"/>
                  </a:lnTo>
                  <a:lnTo>
                    <a:pt x="314868" y="826422"/>
                  </a:lnTo>
                  <a:lnTo>
                    <a:pt x="353090" y="817668"/>
                  </a:lnTo>
                  <a:lnTo>
                    <a:pt x="392433" y="808612"/>
                  </a:lnTo>
                  <a:lnTo>
                    <a:pt x="432871" y="799276"/>
                  </a:lnTo>
                  <a:lnTo>
                    <a:pt x="474379" y="789683"/>
                  </a:lnTo>
                  <a:lnTo>
                    <a:pt x="516931" y="779856"/>
                  </a:lnTo>
                  <a:lnTo>
                    <a:pt x="560501" y="769816"/>
                  </a:lnTo>
                  <a:lnTo>
                    <a:pt x="605062" y="759586"/>
                  </a:lnTo>
                  <a:lnTo>
                    <a:pt x="650589" y="749189"/>
                  </a:lnTo>
                  <a:lnTo>
                    <a:pt x="697057" y="738645"/>
                  </a:lnTo>
                  <a:lnTo>
                    <a:pt x="744439" y="727979"/>
                  </a:lnTo>
                  <a:lnTo>
                    <a:pt x="792709" y="717212"/>
                  </a:lnTo>
                  <a:lnTo>
                    <a:pt x="841842" y="706367"/>
                  </a:lnTo>
                  <a:lnTo>
                    <a:pt x="891812" y="695466"/>
                  </a:lnTo>
                  <a:lnTo>
                    <a:pt x="942593" y="684530"/>
                  </a:lnTo>
                  <a:lnTo>
                    <a:pt x="994158" y="673584"/>
                  </a:lnTo>
                  <a:lnTo>
                    <a:pt x="1046483" y="662648"/>
                  </a:lnTo>
                  <a:lnTo>
                    <a:pt x="1099542" y="651746"/>
                  </a:lnTo>
                  <a:lnTo>
                    <a:pt x="1153308" y="640899"/>
                  </a:lnTo>
                  <a:lnTo>
                    <a:pt x="1207755" y="630129"/>
                  </a:lnTo>
                  <a:lnTo>
                    <a:pt x="1262859" y="619460"/>
                  </a:lnTo>
                  <a:lnTo>
                    <a:pt x="1318592" y="608914"/>
                  </a:lnTo>
                  <a:lnTo>
                    <a:pt x="1374930" y="598512"/>
                  </a:lnTo>
                  <a:lnTo>
                    <a:pt x="1431845" y="588278"/>
                  </a:lnTo>
                  <a:lnTo>
                    <a:pt x="1489313" y="578233"/>
                  </a:lnTo>
                  <a:lnTo>
                    <a:pt x="1547308" y="568400"/>
                  </a:lnTo>
                  <a:lnTo>
                    <a:pt x="1605803" y="558801"/>
                  </a:lnTo>
                  <a:lnTo>
                    <a:pt x="1664773" y="549459"/>
                  </a:lnTo>
                  <a:lnTo>
                    <a:pt x="1724193" y="540395"/>
                  </a:lnTo>
                  <a:lnTo>
                    <a:pt x="1784035" y="531633"/>
                  </a:lnTo>
                  <a:lnTo>
                    <a:pt x="1844274" y="523194"/>
                  </a:lnTo>
                  <a:lnTo>
                    <a:pt x="1904885" y="515101"/>
                  </a:lnTo>
                  <a:lnTo>
                    <a:pt x="1965842" y="507376"/>
                  </a:lnTo>
                  <a:lnTo>
                    <a:pt x="2027118" y="500041"/>
                  </a:lnTo>
                  <a:lnTo>
                    <a:pt x="2088688" y="493120"/>
                  </a:lnTo>
                  <a:lnTo>
                    <a:pt x="2150526" y="486633"/>
                  </a:lnTo>
                  <a:lnTo>
                    <a:pt x="2212606" y="480604"/>
                  </a:lnTo>
                  <a:lnTo>
                    <a:pt x="2274903" y="475054"/>
                  </a:lnTo>
                  <a:lnTo>
                    <a:pt x="2337390" y="470007"/>
                  </a:lnTo>
                  <a:lnTo>
                    <a:pt x="2400041" y="465484"/>
                  </a:lnTo>
                  <a:lnTo>
                    <a:pt x="2462832" y="461508"/>
                  </a:lnTo>
                  <a:lnTo>
                    <a:pt x="2525735" y="458101"/>
                  </a:lnTo>
                  <a:lnTo>
                    <a:pt x="2588725" y="455286"/>
                  </a:lnTo>
                  <a:lnTo>
                    <a:pt x="2630538" y="453793"/>
                  </a:lnTo>
                  <a:lnTo>
                    <a:pt x="2672996" y="452618"/>
                  </a:lnTo>
                  <a:lnTo>
                    <a:pt x="2716083" y="451751"/>
                  </a:lnTo>
                  <a:lnTo>
                    <a:pt x="2759781" y="451185"/>
                  </a:lnTo>
                  <a:lnTo>
                    <a:pt x="2804075" y="450909"/>
                  </a:lnTo>
                  <a:lnTo>
                    <a:pt x="2848946" y="450916"/>
                  </a:lnTo>
                  <a:lnTo>
                    <a:pt x="2894379" y="451197"/>
                  </a:lnTo>
                  <a:lnTo>
                    <a:pt x="2940356" y="451743"/>
                  </a:lnTo>
                  <a:lnTo>
                    <a:pt x="2986862" y="452546"/>
                  </a:lnTo>
                  <a:lnTo>
                    <a:pt x="3033878" y="453597"/>
                  </a:lnTo>
                  <a:lnTo>
                    <a:pt x="3081389" y="454887"/>
                  </a:lnTo>
                  <a:lnTo>
                    <a:pt x="3129377" y="456408"/>
                  </a:lnTo>
                  <a:lnTo>
                    <a:pt x="3177826" y="458151"/>
                  </a:lnTo>
                  <a:lnTo>
                    <a:pt x="3226720" y="460107"/>
                  </a:lnTo>
                  <a:lnTo>
                    <a:pt x="3276041" y="462269"/>
                  </a:lnTo>
                  <a:lnTo>
                    <a:pt x="3325772" y="464626"/>
                  </a:lnTo>
                  <a:lnTo>
                    <a:pt x="3375897" y="467171"/>
                  </a:lnTo>
                  <a:lnTo>
                    <a:pt x="3426399" y="469895"/>
                  </a:lnTo>
                  <a:lnTo>
                    <a:pt x="3477262" y="472789"/>
                  </a:lnTo>
                  <a:lnTo>
                    <a:pt x="3528468" y="475845"/>
                  </a:lnTo>
                  <a:lnTo>
                    <a:pt x="3580001" y="479053"/>
                  </a:lnTo>
                  <a:lnTo>
                    <a:pt x="3631843" y="482406"/>
                  </a:lnTo>
                  <a:lnTo>
                    <a:pt x="3683980" y="485895"/>
                  </a:lnTo>
                  <a:lnTo>
                    <a:pt x="3736392" y="489510"/>
                  </a:lnTo>
                  <a:lnTo>
                    <a:pt x="3789065" y="493244"/>
                  </a:lnTo>
                  <a:lnTo>
                    <a:pt x="3841980" y="497088"/>
                  </a:lnTo>
                  <a:lnTo>
                    <a:pt x="3895122" y="501033"/>
                  </a:lnTo>
                  <a:lnTo>
                    <a:pt x="3948473" y="505070"/>
                  </a:lnTo>
                  <a:lnTo>
                    <a:pt x="4002017" y="509192"/>
                  </a:lnTo>
                  <a:lnTo>
                    <a:pt x="4055737" y="513388"/>
                  </a:lnTo>
                  <a:lnTo>
                    <a:pt x="4109616" y="517651"/>
                  </a:lnTo>
                  <a:lnTo>
                    <a:pt x="4163638" y="521972"/>
                  </a:lnTo>
                  <a:lnTo>
                    <a:pt x="4217785" y="526342"/>
                  </a:lnTo>
                  <a:lnTo>
                    <a:pt x="4272041" y="530753"/>
                  </a:lnTo>
                  <a:lnTo>
                    <a:pt x="4326390" y="535195"/>
                  </a:lnTo>
                  <a:lnTo>
                    <a:pt x="4380813" y="539661"/>
                  </a:lnTo>
                  <a:lnTo>
                    <a:pt x="4435296" y="544142"/>
                  </a:lnTo>
                  <a:lnTo>
                    <a:pt x="4489820" y="548629"/>
                  </a:lnTo>
                  <a:lnTo>
                    <a:pt x="4544370" y="553113"/>
                  </a:lnTo>
                  <a:lnTo>
                    <a:pt x="4598928" y="557586"/>
                  </a:lnTo>
                  <a:lnTo>
                    <a:pt x="4653478" y="562039"/>
                  </a:lnTo>
                  <a:lnTo>
                    <a:pt x="4708002" y="566464"/>
                  </a:lnTo>
                  <a:lnTo>
                    <a:pt x="4762485" y="570852"/>
                  </a:lnTo>
                  <a:lnTo>
                    <a:pt x="4816909" y="575193"/>
                  </a:lnTo>
                  <a:lnTo>
                    <a:pt x="4871258" y="579481"/>
                  </a:lnTo>
                  <a:lnTo>
                    <a:pt x="4925514" y="583705"/>
                  </a:lnTo>
                  <a:lnTo>
                    <a:pt x="4979662" y="587857"/>
                  </a:lnTo>
                  <a:lnTo>
                    <a:pt x="5033684" y="591929"/>
                  </a:lnTo>
                  <a:lnTo>
                    <a:pt x="5087563" y="595913"/>
                  </a:lnTo>
                  <a:lnTo>
                    <a:pt x="5141284" y="599798"/>
                  </a:lnTo>
                  <a:lnTo>
                    <a:pt x="5194828" y="603577"/>
                  </a:lnTo>
                  <a:lnTo>
                    <a:pt x="5248180" y="607242"/>
                  </a:lnTo>
                  <a:lnTo>
                    <a:pt x="5301322" y="610783"/>
                  </a:lnTo>
                  <a:lnTo>
                    <a:pt x="5354238" y="614191"/>
                  </a:lnTo>
                  <a:lnTo>
                    <a:pt x="5406911" y="617459"/>
                  </a:lnTo>
                  <a:lnTo>
                    <a:pt x="5459325" y="620577"/>
                  </a:lnTo>
                  <a:lnTo>
                    <a:pt x="5511462" y="623538"/>
                  </a:lnTo>
                  <a:lnTo>
                    <a:pt x="5563305" y="626331"/>
                  </a:lnTo>
                  <a:lnTo>
                    <a:pt x="5614839" y="628949"/>
                  </a:lnTo>
                  <a:lnTo>
                    <a:pt x="5666046" y="631383"/>
                  </a:lnTo>
                  <a:lnTo>
                    <a:pt x="5716909" y="633624"/>
                  </a:lnTo>
                  <a:lnTo>
                    <a:pt x="5767412" y="635664"/>
                  </a:lnTo>
                  <a:lnTo>
                    <a:pt x="5817539" y="637494"/>
                  </a:lnTo>
                  <a:lnTo>
                    <a:pt x="5867271" y="639106"/>
                  </a:lnTo>
                  <a:lnTo>
                    <a:pt x="5916593" y="640490"/>
                  </a:lnTo>
                  <a:lnTo>
                    <a:pt x="5965487" y="641638"/>
                  </a:lnTo>
                  <a:lnTo>
                    <a:pt x="6013938" y="642542"/>
                  </a:lnTo>
                  <a:lnTo>
                    <a:pt x="6061928" y="643193"/>
                  </a:lnTo>
                  <a:lnTo>
                    <a:pt x="6109440" y="643581"/>
                  </a:lnTo>
                  <a:lnTo>
                    <a:pt x="6156458" y="643700"/>
                  </a:lnTo>
                  <a:lnTo>
                    <a:pt x="6202964" y="643539"/>
                  </a:lnTo>
                  <a:lnTo>
                    <a:pt x="6248943" y="643090"/>
                  </a:lnTo>
                  <a:lnTo>
                    <a:pt x="6294377" y="642345"/>
                  </a:lnTo>
                  <a:lnTo>
                    <a:pt x="6339250" y="641296"/>
                  </a:lnTo>
                  <a:lnTo>
                    <a:pt x="6383545" y="639932"/>
                  </a:lnTo>
                  <a:lnTo>
                    <a:pt x="6427245" y="638246"/>
                  </a:lnTo>
                  <a:lnTo>
                    <a:pt x="6470333" y="636229"/>
                  </a:lnTo>
                  <a:lnTo>
                    <a:pt x="6512793" y="633873"/>
                  </a:lnTo>
                  <a:lnTo>
                    <a:pt x="6554608" y="631169"/>
                  </a:lnTo>
                  <a:lnTo>
                    <a:pt x="6616301" y="626506"/>
                  </a:lnTo>
                  <a:lnTo>
                    <a:pt x="6677695" y="621126"/>
                  </a:lnTo>
                  <a:lnTo>
                    <a:pt x="6738779" y="615055"/>
                  </a:lnTo>
                  <a:lnTo>
                    <a:pt x="6799541" y="608317"/>
                  </a:lnTo>
                  <a:lnTo>
                    <a:pt x="6859970" y="600940"/>
                  </a:lnTo>
                  <a:lnTo>
                    <a:pt x="6920054" y="592949"/>
                  </a:lnTo>
                  <a:lnTo>
                    <a:pt x="6979781" y="584369"/>
                  </a:lnTo>
                  <a:lnTo>
                    <a:pt x="7039141" y="575226"/>
                  </a:lnTo>
                  <a:lnTo>
                    <a:pt x="7098122" y="565547"/>
                  </a:lnTo>
                  <a:lnTo>
                    <a:pt x="7156712" y="555357"/>
                  </a:lnTo>
                  <a:lnTo>
                    <a:pt x="7214900" y="544682"/>
                  </a:lnTo>
                  <a:lnTo>
                    <a:pt x="7272674" y="533547"/>
                  </a:lnTo>
                  <a:lnTo>
                    <a:pt x="7330024" y="521979"/>
                  </a:lnTo>
                  <a:lnTo>
                    <a:pt x="7386936" y="510003"/>
                  </a:lnTo>
                  <a:lnTo>
                    <a:pt x="7443401" y="497645"/>
                  </a:lnTo>
                  <a:lnTo>
                    <a:pt x="7499406" y="484931"/>
                  </a:lnTo>
                  <a:lnTo>
                    <a:pt x="7554939" y="471887"/>
                  </a:lnTo>
                  <a:lnTo>
                    <a:pt x="7609991" y="458538"/>
                  </a:lnTo>
                  <a:lnTo>
                    <a:pt x="7664548" y="444910"/>
                  </a:lnTo>
                  <a:lnTo>
                    <a:pt x="7718600" y="431030"/>
                  </a:lnTo>
                  <a:lnTo>
                    <a:pt x="7772135" y="416922"/>
                  </a:lnTo>
                  <a:lnTo>
                    <a:pt x="7825141" y="402613"/>
                  </a:lnTo>
                  <a:lnTo>
                    <a:pt x="7877608" y="388129"/>
                  </a:lnTo>
                  <a:lnTo>
                    <a:pt x="7929523" y="373495"/>
                  </a:lnTo>
                  <a:lnTo>
                    <a:pt x="7980876" y="358737"/>
                  </a:lnTo>
                  <a:lnTo>
                    <a:pt x="8031654" y="343881"/>
                  </a:lnTo>
                  <a:lnTo>
                    <a:pt x="8081846" y="328953"/>
                  </a:lnTo>
                  <a:lnTo>
                    <a:pt x="8131441" y="313978"/>
                  </a:lnTo>
                  <a:lnTo>
                    <a:pt x="8180427" y="298983"/>
                  </a:lnTo>
                  <a:lnTo>
                    <a:pt x="8228793" y="283993"/>
                  </a:lnTo>
                  <a:lnTo>
                    <a:pt x="8276527" y="269034"/>
                  </a:lnTo>
                  <a:lnTo>
                    <a:pt x="8323618" y="254131"/>
                  </a:lnTo>
                  <a:lnTo>
                    <a:pt x="8370054" y="239312"/>
                  </a:lnTo>
                  <a:lnTo>
                    <a:pt x="8415824" y="224600"/>
                  </a:lnTo>
                  <a:lnTo>
                    <a:pt x="8460916" y="210023"/>
                  </a:lnTo>
                  <a:lnTo>
                    <a:pt x="8505319" y="195606"/>
                  </a:lnTo>
                  <a:lnTo>
                    <a:pt x="8549022" y="181374"/>
                  </a:lnTo>
                  <a:lnTo>
                    <a:pt x="8592012" y="167355"/>
                  </a:lnTo>
                  <a:lnTo>
                    <a:pt x="8634279" y="153572"/>
                  </a:lnTo>
                  <a:lnTo>
                    <a:pt x="8675811" y="140053"/>
                  </a:lnTo>
                  <a:lnTo>
                    <a:pt x="8716597" y="126823"/>
                  </a:lnTo>
                  <a:lnTo>
                    <a:pt x="8756624" y="113908"/>
                  </a:lnTo>
                  <a:lnTo>
                    <a:pt x="8795882" y="101333"/>
                  </a:lnTo>
                  <a:lnTo>
                    <a:pt x="8834359" y="89125"/>
                  </a:lnTo>
                  <a:lnTo>
                    <a:pt x="8872043" y="77309"/>
                  </a:lnTo>
                  <a:lnTo>
                    <a:pt x="8908924" y="65911"/>
                  </a:lnTo>
                  <a:lnTo>
                    <a:pt x="8980227" y="44473"/>
                  </a:lnTo>
                  <a:lnTo>
                    <a:pt x="9048177" y="25016"/>
                  </a:lnTo>
                  <a:lnTo>
                    <a:pt x="9112682" y="7748"/>
                  </a:lnTo>
                  <a:lnTo>
                    <a:pt x="9143614" y="0"/>
                  </a:lnTo>
                </a:path>
              </a:pathLst>
            </a:custGeom>
            <a:ln w="9524">
              <a:solidFill>
                <a:srgbClr val="10CE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3400" y="589789"/>
            <a:ext cx="71780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0" dirty="0">
                <a:latin typeface="Calibri"/>
                <a:cs typeface="Calibri"/>
              </a:rPr>
              <a:t>Representation</a:t>
            </a:r>
            <a:r>
              <a:rPr sz="3200" b="1" spc="8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of</a:t>
            </a:r>
            <a:r>
              <a:rPr sz="3200" b="1" spc="70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Linear</a:t>
            </a:r>
            <a:r>
              <a:rPr sz="3200" b="1" spc="85" dirty="0">
                <a:latin typeface="Calibri"/>
                <a:cs typeface="Calibri"/>
              </a:rPr>
              <a:t> </a:t>
            </a:r>
            <a:r>
              <a:rPr sz="3200" b="1" spc="-30" dirty="0">
                <a:latin typeface="Calibri"/>
                <a:cs typeface="Calibri"/>
              </a:rPr>
              <a:t>Array</a:t>
            </a:r>
            <a:r>
              <a:rPr sz="3200" b="1" spc="7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in</a:t>
            </a:r>
            <a:r>
              <a:rPr sz="3200" b="1" spc="7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Memory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00" y="1600200"/>
            <a:ext cx="4952999" cy="41909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3998" y="2133600"/>
            <a:ext cx="3805355" cy="1600199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05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5387" y="0"/>
            <a:ext cx="9154160" cy="1033144"/>
            <a:chOff x="-5387" y="0"/>
            <a:chExt cx="9154160" cy="103314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3999" cy="102742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069705" cy="1015365"/>
            </a:xfrm>
            <a:custGeom>
              <a:avLst/>
              <a:gdLst/>
              <a:ahLst/>
              <a:cxnLst/>
              <a:rect l="l" t="t" r="r" b="b"/>
              <a:pathLst>
                <a:path w="9069705" h="1015365">
                  <a:moveTo>
                    <a:pt x="0" y="1015121"/>
                  </a:moveTo>
                  <a:lnTo>
                    <a:pt x="53491" y="995678"/>
                  </a:lnTo>
                  <a:lnTo>
                    <a:pt x="112891" y="974491"/>
                  </a:lnTo>
                  <a:lnTo>
                    <a:pt x="177134" y="952050"/>
                  </a:lnTo>
                  <a:lnTo>
                    <a:pt x="246046" y="928522"/>
                  </a:lnTo>
                  <a:lnTo>
                    <a:pt x="282199" y="916402"/>
                  </a:lnTo>
                  <a:lnTo>
                    <a:pt x="319454" y="904072"/>
                  </a:lnTo>
                  <a:lnTo>
                    <a:pt x="357790" y="891552"/>
                  </a:lnTo>
                  <a:lnTo>
                    <a:pt x="397184" y="878865"/>
                  </a:lnTo>
                  <a:lnTo>
                    <a:pt x="437617" y="866029"/>
                  </a:lnTo>
                  <a:lnTo>
                    <a:pt x="479065" y="853066"/>
                  </a:lnTo>
                  <a:lnTo>
                    <a:pt x="521506" y="839996"/>
                  </a:lnTo>
                  <a:lnTo>
                    <a:pt x="564921" y="826841"/>
                  </a:lnTo>
                  <a:lnTo>
                    <a:pt x="609286" y="813621"/>
                  </a:lnTo>
                  <a:lnTo>
                    <a:pt x="654580" y="800356"/>
                  </a:lnTo>
                  <a:lnTo>
                    <a:pt x="700782" y="787068"/>
                  </a:lnTo>
                  <a:lnTo>
                    <a:pt x="747869" y="773776"/>
                  </a:lnTo>
                  <a:lnTo>
                    <a:pt x="795821" y="760502"/>
                  </a:lnTo>
                  <a:lnTo>
                    <a:pt x="844615" y="747266"/>
                  </a:lnTo>
                  <a:lnTo>
                    <a:pt x="894230" y="734089"/>
                  </a:lnTo>
                  <a:lnTo>
                    <a:pt x="944644" y="720992"/>
                  </a:lnTo>
                  <a:lnTo>
                    <a:pt x="995836" y="707996"/>
                  </a:lnTo>
                  <a:lnTo>
                    <a:pt x="1047783" y="695120"/>
                  </a:lnTo>
                  <a:lnTo>
                    <a:pt x="1100465" y="682386"/>
                  </a:lnTo>
                  <a:lnTo>
                    <a:pt x="1153859" y="669814"/>
                  </a:lnTo>
                  <a:lnTo>
                    <a:pt x="1207944" y="657425"/>
                  </a:lnTo>
                  <a:lnTo>
                    <a:pt x="1262698" y="645240"/>
                  </a:lnTo>
                  <a:lnTo>
                    <a:pt x="1318100" y="633280"/>
                  </a:lnTo>
                  <a:lnTo>
                    <a:pt x="1374128" y="621565"/>
                  </a:lnTo>
                  <a:lnTo>
                    <a:pt x="1430760" y="610115"/>
                  </a:lnTo>
                  <a:lnTo>
                    <a:pt x="1487975" y="598952"/>
                  </a:lnTo>
                  <a:lnTo>
                    <a:pt x="1545751" y="588096"/>
                  </a:lnTo>
                  <a:lnTo>
                    <a:pt x="1604066" y="577568"/>
                  </a:lnTo>
                  <a:lnTo>
                    <a:pt x="1662898" y="567388"/>
                  </a:lnTo>
                  <a:lnTo>
                    <a:pt x="1722227" y="557578"/>
                  </a:lnTo>
                  <a:lnTo>
                    <a:pt x="1782030" y="548157"/>
                  </a:lnTo>
                  <a:lnTo>
                    <a:pt x="1842285" y="539147"/>
                  </a:lnTo>
                  <a:lnTo>
                    <a:pt x="1902972" y="530568"/>
                  </a:lnTo>
                  <a:lnTo>
                    <a:pt x="1964068" y="522441"/>
                  </a:lnTo>
                  <a:lnTo>
                    <a:pt x="2025552" y="514787"/>
                  </a:lnTo>
                  <a:lnTo>
                    <a:pt x="2087402" y="507626"/>
                  </a:lnTo>
                  <a:lnTo>
                    <a:pt x="2149596" y="500979"/>
                  </a:lnTo>
                  <a:lnTo>
                    <a:pt x="2212113" y="494867"/>
                  </a:lnTo>
                  <a:lnTo>
                    <a:pt x="2274931" y="489310"/>
                  </a:lnTo>
                  <a:lnTo>
                    <a:pt x="2338029" y="484328"/>
                  </a:lnTo>
                  <a:lnTo>
                    <a:pt x="2401384" y="479944"/>
                  </a:lnTo>
                  <a:lnTo>
                    <a:pt x="2464976" y="476177"/>
                  </a:lnTo>
                  <a:lnTo>
                    <a:pt x="2528781" y="473048"/>
                  </a:lnTo>
                  <a:lnTo>
                    <a:pt x="2570379" y="471445"/>
                  </a:lnTo>
                  <a:lnTo>
                    <a:pt x="2612648" y="470247"/>
                  </a:lnTo>
                  <a:lnTo>
                    <a:pt x="2655572" y="469445"/>
                  </a:lnTo>
                  <a:lnTo>
                    <a:pt x="2699133" y="469026"/>
                  </a:lnTo>
                  <a:lnTo>
                    <a:pt x="2743315" y="468979"/>
                  </a:lnTo>
                  <a:lnTo>
                    <a:pt x="2788098" y="469295"/>
                  </a:lnTo>
                  <a:lnTo>
                    <a:pt x="2833468" y="469961"/>
                  </a:lnTo>
                  <a:lnTo>
                    <a:pt x="2879405" y="470967"/>
                  </a:lnTo>
                  <a:lnTo>
                    <a:pt x="2925893" y="472302"/>
                  </a:lnTo>
                  <a:lnTo>
                    <a:pt x="2972915" y="473955"/>
                  </a:lnTo>
                  <a:lnTo>
                    <a:pt x="3020453" y="475915"/>
                  </a:lnTo>
                  <a:lnTo>
                    <a:pt x="3068490" y="478171"/>
                  </a:lnTo>
                  <a:lnTo>
                    <a:pt x="3117009" y="480712"/>
                  </a:lnTo>
                  <a:lnTo>
                    <a:pt x="3165992" y="483528"/>
                  </a:lnTo>
                  <a:lnTo>
                    <a:pt x="3215422" y="486606"/>
                  </a:lnTo>
                  <a:lnTo>
                    <a:pt x="3265281" y="489937"/>
                  </a:lnTo>
                  <a:lnTo>
                    <a:pt x="3315554" y="493509"/>
                  </a:lnTo>
                  <a:lnTo>
                    <a:pt x="3366221" y="497311"/>
                  </a:lnTo>
                  <a:lnTo>
                    <a:pt x="3417266" y="501332"/>
                  </a:lnTo>
                  <a:lnTo>
                    <a:pt x="3468672" y="505562"/>
                  </a:lnTo>
                  <a:lnTo>
                    <a:pt x="3520422" y="509990"/>
                  </a:lnTo>
                  <a:lnTo>
                    <a:pt x="3572497" y="514603"/>
                  </a:lnTo>
                  <a:lnTo>
                    <a:pt x="3624881" y="519392"/>
                  </a:lnTo>
                  <a:lnTo>
                    <a:pt x="3677556" y="524346"/>
                  </a:lnTo>
                  <a:lnTo>
                    <a:pt x="3730506" y="529454"/>
                  </a:lnTo>
                  <a:lnTo>
                    <a:pt x="3783712" y="534704"/>
                  </a:lnTo>
                  <a:lnTo>
                    <a:pt x="3837158" y="540085"/>
                  </a:lnTo>
                  <a:lnTo>
                    <a:pt x="3890826" y="545587"/>
                  </a:lnTo>
                  <a:lnTo>
                    <a:pt x="3944700" y="551200"/>
                  </a:lnTo>
                  <a:lnTo>
                    <a:pt x="3998760" y="556910"/>
                  </a:lnTo>
                  <a:lnTo>
                    <a:pt x="4052992" y="562709"/>
                  </a:lnTo>
                  <a:lnTo>
                    <a:pt x="4107376" y="568585"/>
                  </a:lnTo>
                  <a:lnTo>
                    <a:pt x="4161896" y="574526"/>
                  </a:lnTo>
                  <a:lnTo>
                    <a:pt x="4216535" y="580522"/>
                  </a:lnTo>
                  <a:lnTo>
                    <a:pt x="4271274" y="586563"/>
                  </a:lnTo>
                  <a:lnTo>
                    <a:pt x="4326098" y="592636"/>
                  </a:lnTo>
                  <a:lnTo>
                    <a:pt x="4380988" y="598732"/>
                  </a:lnTo>
                  <a:lnTo>
                    <a:pt x="4435928" y="604838"/>
                  </a:lnTo>
                  <a:lnTo>
                    <a:pt x="4490900" y="610945"/>
                  </a:lnTo>
                  <a:lnTo>
                    <a:pt x="4545886" y="617041"/>
                  </a:lnTo>
                  <a:lnTo>
                    <a:pt x="4600870" y="623115"/>
                  </a:lnTo>
                  <a:lnTo>
                    <a:pt x="4655834" y="629157"/>
                  </a:lnTo>
                  <a:lnTo>
                    <a:pt x="4710761" y="635154"/>
                  </a:lnTo>
                  <a:lnTo>
                    <a:pt x="4765634" y="641097"/>
                  </a:lnTo>
                  <a:lnTo>
                    <a:pt x="4820434" y="646975"/>
                  </a:lnTo>
                  <a:lnTo>
                    <a:pt x="4875146" y="652776"/>
                  </a:lnTo>
                  <a:lnTo>
                    <a:pt x="4929752" y="658489"/>
                  </a:lnTo>
                  <a:lnTo>
                    <a:pt x="4984234" y="664104"/>
                  </a:lnTo>
                  <a:lnTo>
                    <a:pt x="5038575" y="669610"/>
                  </a:lnTo>
                  <a:lnTo>
                    <a:pt x="5092757" y="674995"/>
                  </a:lnTo>
                  <a:lnTo>
                    <a:pt x="5146765" y="680249"/>
                  </a:lnTo>
                  <a:lnTo>
                    <a:pt x="5200579" y="685360"/>
                  </a:lnTo>
                  <a:lnTo>
                    <a:pt x="5254184" y="690319"/>
                  </a:lnTo>
                  <a:lnTo>
                    <a:pt x="5307561" y="695113"/>
                  </a:lnTo>
                  <a:lnTo>
                    <a:pt x="5360693" y="699732"/>
                  </a:lnTo>
                  <a:lnTo>
                    <a:pt x="5413564" y="704164"/>
                  </a:lnTo>
                  <a:lnTo>
                    <a:pt x="5466155" y="708400"/>
                  </a:lnTo>
                  <a:lnTo>
                    <a:pt x="5518450" y="712427"/>
                  </a:lnTo>
                  <a:lnTo>
                    <a:pt x="5570431" y="716236"/>
                  </a:lnTo>
                  <a:lnTo>
                    <a:pt x="5622080" y="719814"/>
                  </a:lnTo>
                  <a:lnTo>
                    <a:pt x="5673382" y="723152"/>
                  </a:lnTo>
                  <a:lnTo>
                    <a:pt x="5724318" y="726238"/>
                  </a:lnTo>
                  <a:lnTo>
                    <a:pt x="5774870" y="729061"/>
                  </a:lnTo>
                  <a:lnTo>
                    <a:pt x="5825023" y="731610"/>
                  </a:lnTo>
                  <a:lnTo>
                    <a:pt x="5874758" y="733874"/>
                  </a:lnTo>
                  <a:lnTo>
                    <a:pt x="5924058" y="735842"/>
                  </a:lnTo>
                  <a:lnTo>
                    <a:pt x="5972905" y="737504"/>
                  </a:lnTo>
                  <a:lnTo>
                    <a:pt x="6021284" y="738848"/>
                  </a:lnTo>
                  <a:lnTo>
                    <a:pt x="6069175" y="739864"/>
                  </a:lnTo>
                  <a:lnTo>
                    <a:pt x="6116563" y="740540"/>
                  </a:lnTo>
                  <a:lnTo>
                    <a:pt x="6163429" y="740865"/>
                  </a:lnTo>
                  <a:lnTo>
                    <a:pt x="6209757" y="740829"/>
                  </a:lnTo>
                  <a:lnTo>
                    <a:pt x="6255529" y="740421"/>
                  </a:lnTo>
                  <a:lnTo>
                    <a:pt x="6300727" y="739629"/>
                  </a:lnTo>
                  <a:lnTo>
                    <a:pt x="6345335" y="738443"/>
                  </a:lnTo>
                  <a:lnTo>
                    <a:pt x="6389335" y="736852"/>
                  </a:lnTo>
                  <a:lnTo>
                    <a:pt x="6432710" y="734844"/>
                  </a:lnTo>
                  <a:lnTo>
                    <a:pt x="6475443" y="732409"/>
                  </a:lnTo>
                  <a:lnTo>
                    <a:pt x="6517516" y="729536"/>
                  </a:lnTo>
                  <a:lnTo>
                    <a:pt x="6578436" y="724572"/>
                  </a:lnTo>
                  <a:lnTo>
                    <a:pt x="6639067" y="718758"/>
                  </a:lnTo>
                  <a:lnTo>
                    <a:pt x="6699399" y="712125"/>
                  </a:lnTo>
                  <a:lnTo>
                    <a:pt x="6759420" y="704702"/>
                  </a:lnTo>
                  <a:lnTo>
                    <a:pt x="6819121" y="696519"/>
                  </a:lnTo>
                  <a:lnTo>
                    <a:pt x="6878489" y="687606"/>
                  </a:lnTo>
                  <a:lnTo>
                    <a:pt x="6937514" y="677992"/>
                  </a:lnTo>
                  <a:lnTo>
                    <a:pt x="6996185" y="667707"/>
                  </a:lnTo>
                  <a:lnTo>
                    <a:pt x="7054491" y="656781"/>
                  </a:lnTo>
                  <a:lnTo>
                    <a:pt x="7112422" y="645243"/>
                  </a:lnTo>
                  <a:lnTo>
                    <a:pt x="7169965" y="633124"/>
                  </a:lnTo>
                  <a:lnTo>
                    <a:pt x="7227111" y="620453"/>
                  </a:lnTo>
                  <a:lnTo>
                    <a:pt x="7283848" y="607259"/>
                  </a:lnTo>
                  <a:lnTo>
                    <a:pt x="7340165" y="593574"/>
                  </a:lnTo>
                  <a:lnTo>
                    <a:pt x="7396052" y="579425"/>
                  </a:lnTo>
                  <a:lnTo>
                    <a:pt x="7451497" y="564844"/>
                  </a:lnTo>
                  <a:lnTo>
                    <a:pt x="7506490" y="549859"/>
                  </a:lnTo>
                  <a:lnTo>
                    <a:pt x="7561020" y="534501"/>
                  </a:lnTo>
                  <a:lnTo>
                    <a:pt x="7615075" y="518800"/>
                  </a:lnTo>
                  <a:lnTo>
                    <a:pt x="7668646" y="502784"/>
                  </a:lnTo>
                  <a:lnTo>
                    <a:pt x="7721720" y="486485"/>
                  </a:lnTo>
                  <a:lnTo>
                    <a:pt x="7774287" y="469931"/>
                  </a:lnTo>
                  <a:lnTo>
                    <a:pt x="7826336" y="453152"/>
                  </a:lnTo>
                  <a:lnTo>
                    <a:pt x="7877856" y="436178"/>
                  </a:lnTo>
                  <a:lnTo>
                    <a:pt x="7928836" y="419039"/>
                  </a:lnTo>
                  <a:lnTo>
                    <a:pt x="7979265" y="401765"/>
                  </a:lnTo>
                  <a:lnTo>
                    <a:pt x="8029133" y="384385"/>
                  </a:lnTo>
                  <a:lnTo>
                    <a:pt x="8078428" y="366929"/>
                  </a:lnTo>
                  <a:lnTo>
                    <a:pt x="8127140" y="349427"/>
                  </a:lnTo>
                  <a:lnTo>
                    <a:pt x="8175257" y="331909"/>
                  </a:lnTo>
                  <a:lnTo>
                    <a:pt x="8222768" y="314404"/>
                  </a:lnTo>
                  <a:lnTo>
                    <a:pt x="8269664" y="296941"/>
                  </a:lnTo>
                  <a:lnTo>
                    <a:pt x="8315931" y="279552"/>
                  </a:lnTo>
                  <a:lnTo>
                    <a:pt x="8361561" y="262266"/>
                  </a:lnTo>
                  <a:lnTo>
                    <a:pt x="8406542" y="245111"/>
                  </a:lnTo>
                  <a:lnTo>
                    <a:pt x="8450862" y="228119"/>
                  </a:lnTo>
                  <a:lnTo>
                    <a:pt x="8494511" y="211318"/>
                  </a:lnTo>
                  <a:lnTo>
                    <a:pt x="8537479" y="194740"/>
                  </a:lnTo>
                  <a:lnTo>
                    <a:pt x="8579753" y="178412"/>
                  </a:lnTo>
                  <a:lnTo>
                    <a:pt x="8621324" y="162366"/>
                  </a:lnTo>
                  <a:lnTo>
                    <a:pt x="8662180" y="146630"/>
                  </a:lnTo>
                  <a:lnTo>
                    <a:pt x="8702310" y="131235"/>
                  </a:lnTo>
                  <a:lnTo>
                    <a:pt x="8741704" y="116210"/>
                  </a:lnTo>
                  <a:lnTo>
                    <a:pt x="8780350" y="101585"/>
                  </a:lnTo>
                  <a:lnTo>
                    <a:pt x="8818238" y="87390"/>
                  </a:lnTo>
                  <a:lnTo>
                    <a:pt x="8855356" y="73655"/>
                  </a:lnTo>
                  <a:lnTo>
                    <a:pt x="8891694" y="60409"/>
                  </a:lnTo>
                  <a:lnTo>
                    <a:pt x="8961985" y="35504"/>
                  </a:lnTo>
                  <a:lnTo>
                    <a:pt x="9029024" y="12913"/>
                  </a:lnTo>
                  <a:lnTo>
                    <a:pt x="9061296" y="2560"/>
                  </a:lnTo>
                  <a:lnTo>
                    <a:pt x="9069603" y="0"/>
                  </a:lnTo>
                </a:path>
              </a:pathLst>
            </a:custGeom>
            <a:ln w="10774">
              <a:solidFill>
                <a:srgbClr val="09B6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" y="56967"/>
              <a:ext cx="9144000" cy="892810"/>
            </a:xfrm>
            <a:custGeom>
              <a:avLst/>
              <a:gdLst/>
              <a:ahLst/>
              <a:cxnLst/>
              <a:rect l="l" t="t" r="r" b="b"/>
              <a:pathLst>
                <a:path w="9144000" h="892810">
                  <a:moveTo>
                    <a:pt x="0" y="892461"/>
                  </a:moveTo>
                  <a:lnTo>
                    <a:pt x="52556" y="882918"/>
                  </a:lnTo>
                  <a:lnTo>
                    <a:pt x="110528" y="871363"/>
                  </a:lnTo>
                  <a:lnTo>
                    <a:pt x="173708" y="857977"/>
                  </a:lnTo>
                  <a:lnTo>
                    <a:pt x="241890" y="842937"/>
                  </a:lnTo>
                  <a:lnTo>
                    <a:pt x="314868" y="826422"/>
                  </a:lnTo>
                  <a:lnTo>
                    <a:pt x="353090" y="817668"/>
                  </a:lnTo>
                  <a:lnTo>
                    <a:pt x="392433" y="808612"/>
                  </a:lnTo>
                  <a:lnTo>
                    <a:pt x="432871" y="799276"/>
                  </a:lnTo>
                  <a:lnTo>
                    <a:pt x="474379" y="789683"/>
                  </a:lnTo>
                  <a:lnTo>
                    <a:pt x="516931" y="779856"/>
                  </a:lnTo>
                  <a:lnTo>
                    <a:pt x="560501" y="769816"/>
                  </a:lnTo>
                  <a:lnTo>
                    <a:pt x="605062" y="759586"/>
                  </a:lnTo>
                  <a:lnTo>
                    <a:pt x="650589" y="749189"/>
                  </a:lnTo>
                  <a:lnTo>
                    <a:pt x="697057" y="738645"/>
                  </a:lnTo>
                  <a:lnTo>
                    <a:pt x="744439" y="727979"/>
                  </a:lnTo>
                  <a:lnTo>
                    <a:pt x="792709" y="717212"/>
                  </a:lnTo>
                  <a:lnTo>
                    <a:pt x="841842" y="706367"/>
                  </a:lnTo>
                  <a:lnTo>
                    <a:pt x="891812" y="695466"/>
                  </a:lnTo>
                  <a:lnTo>
                    <a:pt x="942593" y="684530"/>
                  </a:lnTo>
                  <a:lnTo>
                    <a:pt x="994158" y="673584"/>
                  </a:lnTo>
                  <a:lnTo>
                    <a:pt x="1046483" y="662648"/>
                  </a:lnTo>
                  <a:lnTo>
                    <a:pt x="1099542" y="651746"/>
                  </a:lnTo>
                  <a:lnTo>
                    <a:pt x="1153308" y="640899"/>
                  </a:lnTo>
                  <a:lnTo>
                    <a:pt x="1207755" y="630129"/>
                  </a:lnTo>
                  <a:lnTo>
                    <a:pt x="1262859" y="619460"/>
                  </a:lnTo>
                  <a:lnTo>
                    <a:pt x="1318592" y="608914"/>
                  </a:lnTo>
                  <a:lnTo>
                    <a:pt x="1374930" y="598512"/>
                  </a:lnTo>
                  <a:lnTo>
                    <a:pt x="1431845" y="588278"/>
                  </a:lnTo>
                  <a:lnTo>
                    <a:pt x="1489313" y="578233"/>
                  </a:lnTo>
                  <a:lnTo>
                    <a:pt x="1547308" y="568400"/>
                  </a:lnTo>
                  <a:lnTo>
                    <a:pt x="1605803" y="558801"/>
                  </a:lnTo>
                  <a:lnTo>
                    <a:pt x="1664773" y="549459"/>
                  </a:lnTo>
                  <a:lnTo>
                    <a:pt x="1724193" y="540395"/>
                  </a:lnTo>
                  <a:lnTo>
                    <a:pt x="1784035" y="531633"/>
                  </a:lnTo>
                  <a:lnTo>
                    <a:pt x="1844274" y="523194"/>
                  </a:lnTo>
                  <a:lnTo>
                    <a:pt x="1904885" y="515101"/>
                  </a:lnTo>
                  <a:lnTo>
                    <a:pt x="1965842" y="507376"/>
                  </a:lnTo>
                  <a:lnTo>
                    <a:pt x="2027118" y="500041"/>
                  </a:lnTo>
                  <a:lnTo>
                    <a:pt x="2088688" y="493120"/>
                  </a:lnTo>
                  <a:lnTo>
                    <a:pt x="2150526" y="486633"/>
                  </a:lnTo>
                  <a:lnTo>
                    <a:pt x="2212606" y="480604"/>
                  </a:lnTo>
                  <a:lnTo>
                    <a:pt x="2274903" y="475054"/>
                  </a:lnTo>
                  <a:lnTo>
                    <a:pt x="2337390" y="470007"/>
                  </a:lnTo>
                  <a:lnTo>
                    <a:pt x="2400041" y="465484"/>
                  </a:lnTo>
                  <a:lnTo>
                    <a:pt x="2462832" y="461508"/>
                  </a:lnTo>
                  <a:lnTo>
                    <a:pt x="2525735" y="458101"/>
                  </a:lnTo>
                  <a:lnTo>
                    <a:pt x="2588725" y="455286"/>
                  </a:lnTo>
                  <a:lnTo>
                    <a:pt x="2630538" y="453793"/>
                  </a:lnTo>
                  <a:lnTo>
                    <a:pt x="2672996" y="452618"/>
                  </a:lnTo>
                  <a:lnTo>
                    <a:pt x="2716083" y="451751"/>
                  </a:lnTo>
                  <a:lnTo>
                    <a:pt x="2759781" y="451185"/>
                  </a:lnTo>
                  <a:lnTo>
                    <a:pt x="2804075" y="450909"/>
                  </a:lnTo>
                  <a:lnTo>
                    <a:pt x="2848946" y="450916"/>
                  </a:lnTo>
                  <a:lnTo>
                    <a:pt x="2894379" y="451197"/>
                  </a:lnTo>
                  <a:lnTo>
                    <a:pt x="2940356" y="451743"/>
                  </a:lnTo>
                  <a:lnTo>
                    <a:pt x="2986862" y="452546"/>
                  </a:lnTo>
                  <a:lnTo>
                    <a:pt x="3033878" y="453597"/>
                  </a:lnTo>
                  <a:lnTo>
                    <a:pt x="3081389" y="454887"/>
                  </a:lnTo>
                  <a:lnTo>
                    <a:pt x="3129377" y="456408"/>
                  </a:lnTo>
                  <a:lnTo>
                    <a:pt x="3177826" y="458151"/>
                  </a:lnTo>
                  <a:lnTo>
                    <a:pt x="3226720" y="460107"/>
                  </a:lnTo>
                  <a:lnTo>
                    <a:pt x="3276041" y="462269"/>
                  </a:lnTo>
                  <a:lnTo>
                    <a:pt x="3325772" y="464626"/>
                  </a:lnTo>
                  <a:lnTo>
                    <a:pt x="3375897" y="467171"/>
                  </a:lnTo>
                  <a:lnTo>
                    <a:pt x="3426399" y="469895"/>
                  </a:lnTo>
                  <a:lnTo>
                    <a:pt x="3477262" y="472789"/>
                  </a:lnTo>
                  <a:lnTo>
                    <a:pt x="3528468" y="475845"/>
                  </a:lnTo>
                  <a:lnTo>
                    <a:pt x="3580001" y="479053"/>
                  </a:lnTo>
                  <a:lnTo>
                    <a:pt x="3631843" y="482406"/>
                  </a:lnTo>
                  <a:lnTo>
                    <a:pt x="3683980" y="485895"/>
                  </a:lnTo>
                  <a:lnTo>
                    <a:pt x="3736392" y="489510"/>
                  </a:lnTo>
                  <a:lnTo>
                    <a:pt x="3789065" y="493244"/>
                  </a:lnTo>
                  <a:lnTo>
                    <a:pt x="3841980" y="497088"/>
                  </a:lnTo>
                  <a:lnTo>
                    <a:pt x="3895122" y="501033"/>
                  </a:lnTo>
                  <a:lnTo>
                    <a:pt x="3948473" y="505070"/>
                  </a:lnTo>
                  <a:lnTo>
                    <a:pt x="4002017" y="509192"/>
                  </a:lnTo>
                  <a:lnTo>
                    <a:pt x="4055737" y="513388"/>
                  </a:lnTo>
                  <a:lnTo>
                    <a:pt x="4109616" y="517651"/>
                  </a:lnTo>
                  <a:lnTo>
                    <a:pt x="4163638" y="521972"/>
                  </a:lnTo>
                  <a:lnTo>
                    <a:pt x="4217785" y="526342"/>
                  </a:lnTo>
                  <a:lnTo>
                    <a:pt x="4272041" y="530753"/>
                  </a:lnTo>
                  <a:lnTo>
                    <a:pt x="4326390" y="535195"/>
                  </a:lnTo>
                  <a:lnTo>
                    <a:pt x="4380813" y="539661"/>
                  </a:lnTo>
                  <a:lnTo>
                    <a:pt x="4435296" y="544142"/>
                  </a:lnTo>
                  <a:lnTo>
                    <a:pt x="4489820" y="548629"/>
                  </a:lnTo>
                  <a:lnTo>
                    <a:pt x="4544370" y="553113"/>
                  </a:lnTo>
                  <a:lnTo>
                    <a:pt x="4598928" y="557586"/>
                  </a:lnTo>
                  <a:lnTo>
                    <a:pt x="4653478" y="562039"/>
                  </a:lnTo>
                  <a:lnTo>
                    <a:pt x="4708002" y="566464"/>
                  </a:lnTo>
                  <a:lnTo>
                    <a:pt x="4762485" y="570852"/>
                  </a:lnTo>
                  <a:lnTo>
                    <a:pt x="4816909" y="575193"/>
                  </a:lnTo>
                  <a:lnTo>
                    <a:pt x="4871258" y="579481"/>
                  </a:lnTo>
                  <a:lnTo>
                    <a:pt x="4925514" y="583705"/>
                  </a:lnTo>
                  <a:lnTo>
                    <a:pt x="4979662" y="587857"/>
                  </a:lnTo>
                  <a:lnTo>
                    <a:pt x="5033684" y="591929"/>
                  </a:lnTo>
                  <a:lnTo>
                    <a:pt x="5087563" y="595913"/>
                  </a:lnTo>
                  <a:lnTo>
                    <a:pt x="5141284" y="599798"/>
                  </a:lnTo>
                  <a:lnTo>
                    <a:pt x="5194828" y="603577"/>
                  </a:lnTo>
                  <a:lnTo>
                    <a:pt x="5248180" y="607242"/>
                  </a:lnTo>
                  <a:lnTo>
                    <a:pt x="5301322" y="610783"/>
                  </a:lnTo>
                  <a:lnTo>
                    <a:pt x="5354238" y="614191"/>
                  </a:lnTo>
                  <a:lnTo>
                    <a:pt x="5406911" y="617459"/>
                  </a:lnTo>
                  <a:lnTo>
                    <a:pt x="5459325" y="620577"/>
                  </a:lnTo>
                  <a:lnTo>
                    <a:pt x="5511462" y="623538"/>
                  </a:lnTo>
                  <a:lnTo>
                    <a:pt x="5563305" y="626331"/>
                  </a:lnTo>
                  <a:lnTo>
                    <a:pt x="5614839" y="628949"/>
                  </a:lnTo>
                  <a:lnTo>
                    <a:pt x="5666046" y="631383"/>
                  </a:lnTo>
                  <a:lnTo>
                    <a:pt x="5716909" y="633624"/>
                  </a:lnTo>
                  <a:lnTo>
                    <a:pt x="5767412" y="635664"/>
                  </a:lnTo>
                  <a:lnTo>
                    <a:pt x="5817539" y="637494"/>
                  </a:lnTo>
                  <a:lnTo>
                    <a:pt x="5867271" y="639106"/>
                  </a:lnTo>
                  <a:lnTo>
                    <a:pt x="5916593" y="640490"/>
                  </a:lnTo>
                  <a:lnTo>
                    <a:pt x="5965487" y="641638"/>
                  </a:lnTo>
                  <a:lnTo>
                    <a:pt x="6013938" y="642542"/>
                  </a:lnTo>
                  <a:lnTo>
                    <a:pt x="6061928" y="643193"/>
                  </a:lnTo>
                  <a:lnTo>
                    <a:pt x="6109440" y="643581"/>
                  </a:lnTo>
                  <a:lnTo>
                    <a:pt x="6156458" y="643700"/>
                  </a:lnTo>
                  <a:lnTo>
                    <a:pt x="6202964" y="643539"/>
                  </a:lnTo>
                  <a:lnTo>
                    <a:pt x="6248943" y="643090"/>
                  </a:lnTo>
                  <a:lnTo>
                    <a:pt x="6294377" y="642345"/>
                  </a:lnTo>
                  <a:lnTo>
                    <a:pt x="6339250" y="641296"/>
                  </a:lnTo>
                  <a:lnTo>
                    <a:pt x="6383545" y="639932"/>
                  </a:lnTo>
                  <a:lnTo>
                    <a:pt x="6427245" y="638246"/>
                  </a:lnTo>
                  <a:lnTo>
                    <a:pt x="6470333" y="636229"/>
                  </a:lnTo>
                  <a:lnTo>
                    <a:pt x="6512793" y="633873"/>
                  </a:lnTo>
                  <a:lnTo>
                    <a:pt x="6554608" y="631169"/>
                  </a:lnTo>
                  <a:lnTo>
                    <a:pt x="6616301" y="626506"/>
                  </a:lnTo>
                  <a:lnTo>
                    <a:pt x="6677695" y="621126"/>
                  </a:lnTo>
                  <a:lnTo>
                    <a:pt x="6738779" y="615055"/>
                  </a:lnTo>
                  <a:lnTo>
                    <a:pt x="6799541" y="608317"/>
                  </a:lnTo>
                  <a:lnTo>
                    <a:pt x="6859970" y="600940"/>
                  </a:lnTo>
                  <a:lnTo>
                    <a:pt x="6920054" y="592949"/>
                  </a:lnTo>
                  <a:lnTo>
                    <a:pt x="6979781" y="584369"/>
                  </a:lnTo>
                  <a:lnTo>
                    <a:pt x="7039141" y="575226"/>
                  </a:lnTo>
                  <a:lnTo>
                    <a:pt x="7098122" y="565547"/>
                  </a:lnTo>
                  <a:lnTo>
                    <a:pt x="7156712" y="555357"/>
                  </a:lnTo>
                  <a:lnTo>
                    <a:pt x="7214900" y="544682"/>
                  </a:lnTo>
                  <a:lnTo>
                    <a:pt x="7272674" y="533547"/>
                  </a:lnTo>
                  <a:lnTo>
                    <a:pt x="7330024" y="521979"/>
                  </a:lnTo>
                  <a:lnTo>
                    <a:pt x="7386936" y="510003"/>
                  </a:lnTo>
                  <a:lnTo>
                    <a:pt x="7443401" y="497645"/>
                  </a:lnTo>
                  <a:lnTo>
                    <a:pt x="7499406" y="484931"/>
                  </a:lnTo>
                  <a:lnTo>
                    <a:pt x="7554939" y="471887"/>
                  </a:lnTo>
                  <a:lnTo>
                    <a:pt x="7609991" y="458538"/>
                  </a:lnTo>
                  <a:lnTo>
                    <a:pt x="7664548" y="444910"/>
                  </a:lnTo>
                  <a:lnTo>
                    <a:pt x="7718600" y="431030"/>
                  </a:lnTo>
                  <a:lnTo>
                    <a:pt x="7772135" y="416922"/>
                  </a:lnTo>
                  <a:lnTo>
                    <a:pt x="7825141" y="402613"/>
                  </a:lnTo>
                  <a:lnTo>
                    <a:pt x="7877608" y="388129"/>
                  </a:lnTo>
                  <a:lnTo>
                    <a:pt x="7929523" y="373495"/>
                  </a:lnTo>
                  <a:lnTo>
                    <a:pt x="7980876" y="358737"/>
                  </a:lnTo>
                  <a:lnTo>
                    <a:pt x="8031654" y="343881"/>
                  </a:lnTo>
                  <a:lnTo>
                    <a:pt x="8081846" y="328953"/>
                  </a:lnTo>
                  <a:lnTo>
                    <a:pt x="8131441" y="313978"/>
                  </a:lnTo>
                  <a:lnTo>
                    <a:pt x="8180427" y="298983"/>
                  </a:lnTo>
                  <a:lnTo>
                    <a:pt x="8228793" y="283993"/>
                  </a:lnTo>
                  <a:lnTo>
                    <a:pt x="8276527" y="269034"/>
                  </a:lnTo>
                  <a:lnTo>
                    <a:pt x="8323618" y="254131"/>
                  </a:lnTo>
                  <a:lnTo>
                    <a:pt x="8370054" y="239312"/>
                  </a:lnTo>
                  <a:lnTo>
                    <a:pt x="8415824" y="224600"/>
                  </a:lnTo>
                  <a:lnTo>
                    <a:pt x="8460916" y="210023"/>
                  </a:lnTo>
                  <a:lnTo>
                    <a:pt x="8505319" y="195606"/>
                  </a:lnTo>
                  <a:lnTo>
                    <a:pt x="8549022" y="181374"/>
                  </a:lnTo>
                  <a:lnTo>
                    <a:pt x="8592012" y="167355"/>
                  </a:lnTo>
                  <a:lnTo>
                    <a:pt x="8634279" y="153572"/>
                  </a:lnTo>
                  <a:lnTo>
                    <a:pt x="8675811" y="140053"/>
                  </a:lnTo>
                  <a:lnTo>
                    <a:pt x="8716597" y="126823"/>
                  </a:lnTo>
                  <a:lnTo>
                    <a:pt x="8756624" y="113908"/>
                  </a:lnTo>
                  <a:lnTo>
                    <a:pt x="8795882" y="101333"/>
                  </a:lnTo>
                  <a:lnTo>
                    <a:pt x="8834359" y="89125"/>
                  </a:lnTo>
                  <a:lnTo>
                    <a:pt x="8872043" y="77309"/>
                  </a:lnTo>
                  <a:lnTo>
                    <a:pt x="8908924" y="65911"/>
                  </a:lnTo>
                  <a:lnTo>
                    <a:pt x="8980227" y="44473"/>
                  </a:lnTo>
                  <a:lnTo>
                    <a:pt x="9048177" y="25016"/>
                  </a:lnTo>
                  <a:lnTo>
                    <a:pt x="9112682" y="7748"/>
                  </a:lnTo>
                  <a:lnTo>
                    <a:pt x="9143614" y="0"/>
                  </a:lnTo>
                </a:path>
              </a:pathLst>
            </a:custGeom>
            <a:ln w="9524">
              <a:solidFill>
                <a:srgbClr val="10CE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0294" y="563372"/>
            <a:ext cx="8074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0" dirty="0">
                <a:latin typeface="Calibri"/>
                <a:cs typeface="Calibri"/>
              </a:rPr>
              <a:t>Representation</a:t>
            </a:r>
            <a:r>
              <a:rPr sz="3600" b="1" spc="95" dirty="0">
                <a:latin typeface="Calibri"/>
                <a:cs typeface="Calibri"/>
              </a:rPr>
              <a:t> </a:t>
            </a:r>
            <a:r>
              <a:rPr sz="3600" b="1" spc="-5" dirty="0">
                <a:latin typeface="Calibri"/>
                <a:cs typeface="Calibri"/>
              </a:rPr>
              <a:t>of</a:t>
            </a:r>
            <a:r>
              <a:rPr sz="3600" b="1" spc="80" dirty="0">
                <a:latin typeface="Calibri"/>
                <a:cs typeface="Calibri"/>
              </a:rPr>
              <a:t> </a:t>
            </a:r>
            <a:r>
              <a:rPr sz="3600" b="1" spc="-5" dirty="0">
                <a:latin typeface="Calibri"/>
                <a:cs typeface="Calibri"/>
              </a:rPr>
              <a:t>Linear</a:t>
            </a:r>
            <a:r>
              <a:rPr sz="3600" b="1" spc="100" dirty="0">
                <a:latin typeface="Calibri"/>
                <a:cs typeface="Calibri"/>
              </a:rPr>
              <a:t> </a:t>
            </a:r>
            <a:r>
              <a:rPr sz="3600" b="1" spc="-35" dirty="0">
                <a:latin typeface="Calibri"/>
                <a:cs typeface="Calibri"/>
              </a:rPr>
              <a:t>Array</a:t>
            </a:r>
            <a:r>
              <a:rPr sz="3600" b="1" spc="90" dirty="0">
                <a:latin typeface="Calibri"/>
                <a:cs typeface="Calibri"/>
              </a:rPr>
              <a:t> </a:t>
            </a:r>
            <a:r>
              <a:rPr sz="3600" b="1" spc="-5" dirty="0">
                <a:latin typeface="Calibri"/>
                <a:cs typeface="Calibri"/>
              </a:rPr>
              <a:t>in</a:t>
            </a:r>
            <a:r>
              <a:rPr sz="3600" b="1" spc="85" dirty="0">
                <a:latin typeface="Calibri"/>
                <a:cs typeface="Calibri"/>
              </a:rPr>
              <a:t> </a:t>
            </a:r>
            <a:r>
              <a:rPr sz="3600" b="1" spc="-5" dirty="0">
                <a:latin typeface="Calibri"/>
                <a:cs typeface="Calibri"/>
              </a:rPr>
              <a:t>Memory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015" y="1828800"/>
            <a:ext cx="3937899" cy="44195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0" y="2819400"/>
            <a:ext cx="4086794" cy="1857633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70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47085" y="350341"/>
            <a:ext cx="268605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15" dirty="0"/>
              <a:t>Example</a:t>
            </a:r>
            <a:r>
              <a:rPr sz="5000" spc="25" dirty="0"/>
              <a:t> </a:t>
            </a:r>
            <a:r>
              <a:rPr sz="5000" dirty="0"/>
              <a:t>1</a:t>
            </a:r>
            <a:endParaRPr sz="5000"/>
          </a:p>
        </p:txBody>
      </p:sp>
      <p:sp>
        <p:nvSpPr>
          <p:cNvPr id="11" name="object 11"/>
          <p:cNvSpPr txBox="1"/>
          <p:nvPr/>
        </p:nvSpPr>
        <p:spPr>
          <a:xfrm>
            <a:off x="8496300" y="6536394"/>
            <a:ext cx="22860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035C75"/>
                </a:solidFill>
                <a:latin typeface="Times New Roman"/>
                <a:cs typeface="Times New Roman"/>
              </a:rPr>
              <a:t>9</a:t>
            </a:fld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80156" y="2065284"/>
          <a:ext cx="1000125" cy="2966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37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CE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E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CE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E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CE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E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CE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937633" y="2036253"/>
            <a:ext cx="629285" cy="302387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spc="-5" dirty="0">
                <a:latin typeface="Comic Sans MS"/>
                <a:cs typeface="Comic Sans MS"/>
              </a:rPr>
              <a:t>LA[1]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00" spc="-5" dirty="0">
                <a:latin typeface="Comic Sans MS"/>
                <a:cs typeface="Comic Sans MS"/>
              </a:rPr>
              <a:t>LA[2]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800" spc="-5" dirty="0">
                <a:latin typeface="Comic Sans MS"/>
                <a:cs typeface="Comic Sans MS"/>
              </a:rPr>
              <a:t>LA[3]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00" spc="-5" dirty="0">
                <a:latin typeface="Comic Sans MS"/>
                <a:cs typeface="Comic Sans MS"/>
              </a:rPr>
              <a:t>LA[4]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00" spc="-5" dirty="0">
                <a:latin typeface="Comic Sans MS"/>
                <a:cs typeface="Comic Sans MS"/>
              </a:rPr>
              <a:t>LA[5]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00" spc="-5" dirty="0">
                <a:latin typeface="Comic Sans MS"/>
                <a:cs typeface="Comic Sans MS"/>
              </a:rPr>
              <a:t>LA[6]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00" spc="-5" dirty="0">
                <a:latin typeface="Comic Sans MS"/>
                <a:cs typeface="Comic Sans MS"/>
              </a:rPr>
              <a:t>LA[7]</a:t>
            </a:r>
            <a:endParaRPr sz="18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800" spc="-5" dirty="0">
                <a:latin typeface="Comic Sans MS"/>
                <a:cs typeface="Comic Sans MS"/>
              </a:rPr>
              <a:t>LA[8]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401" y="2052539"/>
            <a:ext cx="40970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omic Sans MS"/>
                <a:cs typeface="Comic Sans MS"/>
              </a:rPr>
              <a:t>Find the address for LA[6] Each </a:t>
            </a:r>
            <a:r>
              <a:rPr sz="200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element</a:t>
            </a:r>
            <a:r>
              <a:rPr sz="2000" spc="-1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of</a:t>
            </a:r>
            <a:r>
              <a:rPr sz="2000" spc="-1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the</a:t>
            </a:r>
            <a:r>
              <a:rPr sz="2000" spc="-114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array</a:t>
            </a:r>
            <a:r>
              <a:rPr sz="2000" spc="-10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occupy</a:t>
            </a:r>
            <a:r>
              <a:rPr sz="2000" spc="-1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1</a:t>
            </a:r>
            <a:r>
              <a:rPr sz="2000" spc="-1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byte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461" y="5176585"/>
            <a:ext cx="4606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LOC(LA[K])</a:t>
            </a:r>
            <a:r>
              <a:rPr sz="1800" spc="-9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=</a:t>
            </a:r>
            <a:r>
              <a:rPr sz="1800" spc="-10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Base(LA)</a:t>
            </a:r>
            <a:r>
              <a:rPr sz="1800" spc="-9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+</a:t>
            </a:r>
            <a:r>
              <a:rPr sz="1800" spc="-10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w(K</a:t>
            </a:r>
            <a:r>
              <a:rPr sz="1800" spc="-10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–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lower</a:t>
            </a:r>
            <a:r>
              <a:rPr sz="1800" spc="-9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bound)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23961" y="5076573"/>
            <a:ext cx="2241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omic Sans MS"/>
                <a:cs typeface="Comic Sans MS"/>
              </a:rPr>
              <a:t>: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9088" y="5715000"/>
            <a:ext cx="4456207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3199765" algn="l"/>
              </a:tabLst>
            </a:pPr>
            <a:r>
              <a:rPr sz="1800" spc="-5" dirty="0">
                <a:latin typeface="Comic Sans MS"/>
                <a:cs typeface="Comic Sans MS"/>
              </a:rPr>
              <a:t>LOC(LA[6]</a:t>
            </a:r>
            <a:r>
              <a:rPr sz="1800" dirty="0">
                <a:latin typeface="Comic Sans MS"/>
                <a:cs typeface="Comic Sans MS"/>
              </a:rPr>
              <a:t>)</a:t>
            </a:r>
            <a:r>
              <a:rPr sz="1800" spc="-8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=</a:t>
            </a:r>
            <a:r>
              <a:rPr sz="1800" spc="-9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20</a:t>
            </a:r>
            <a:r>
              <a:rPr sz="1800" dirty="0">
                <a:latin typeface="Comic Sans MS"/>
                <a:cs typeface="Comic Sans MS"/>
              </a:rPr>
              <a:t>0</a:t>
            </a:r>
            <a:r>
              <a:rPr sz="1800" spc="-9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+</a:t>
            </a:r>
            <a:r>
              <a:rPr sz="1800" spc="-9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1(</a:t>
            </a:r>
            <a:r>
              <a:rPr sz="1800" dirty="0">
                <a:latin typeface="Comic Sans MS"/>
                <a:cs typeface="Comic Sans MS"/>
              </a:rPr>
              <a:t>6</a:t>
            </a:r>
            <a:r>
              <a:rPr sz="1800" spc="-9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–</a:t>
            </a:r>
            <a:r>
              <a:rPr sz="1800" spc="-5" dirty="0">
                <a:latin typeface="Comic Sans MS"/>
                <a:cs typeface="Comic Sans MS"/>
              </a:rPr>
              <a:t> 1</a:t>
            </a:r>
            <a:r>
              <a:rPr sz="1800" dirty="0">
                <a:latin typeface="Comic Sans MS"/>
                <a:cs typeface="Comic Sans MS"/>
              </a:rPr>
              <a:t>)	=</a:t>
            </a:r>
          </a:p>
          <a:p>
            <a:pPr marL="12700">
              <a:lnSpc>
                <a:spcPct val="150000"/>
              </a:lnSpc>
            </a:pPr>
            <a:r>
              <a:rPr sz="1800" spc="-5" dirty="0">
                <a:latin typeface="Comic Sans MS"/>
                <a:cs typeface="Comic Sans MS"/>
              </a:rPr>
              <a:t>205</a:t>
            </a:r>
            <a:endParaRPr sz="1800" dirty="0">
              <a:latin typeface="Comic Sans MS"/>
              <a:cs typeface="Comic Sans MS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559301" y="2058934"/>
          <a:ext cx="975994" cy="29667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5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24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200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5B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201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202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24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203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204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205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24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206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207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04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10254" y="350341"/>
            <a:ext cx="268605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15" dirty="0"/>
              <a:t>Example</a:t>
            </a:r>
            <a:r>
              <a:rPr sz="5000" spc="25" dirty="0"/>
              <a:t> </a:t>
            </a:r>
            <a:r>
              <a:rPr sz="5000" dirty="0"/>
              <a:t>2</a:t>
            </a:r>
            <a:endParaRPr sz="5000"/>
          </a:p>
        </p:txBody>
      </p:sp>
      <p:sp>
        <p:nvSpPr>
          <p:cNvPr id="11" name="object 11"/>
          <p:cNvSpPr txBox="1"/>
          <p:nvPr/>
        </p:nvSpPr>
        <p:spPr>
          <a:xfrm>
            <a:off x="8496300" y="6536394"/>
            <a:ext cx="22860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z="1200" dirty="0">
                <a:solidFill>
                  <a:srgbClr val="035C75"/>
                </a:solidFill>
                <a:latin typeface="Times New Roman"/>
                <a:cs typeface="Times New Roman"/>
              </a:rPr>
              <a:t>10</a:t>
            </a:fld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80156" y="2065284"/>
          <a:ext cx="1000125" cy="2966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2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2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A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A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009263" y="2333433"/>
            <a:ext cx="629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LA[0]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9362" y="3047809"/>
            <a:ext cx="6619240" cy="25904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2865" algn="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omic Sans MS"/>
                <a:cs typeface="Comic Sans MS"/>
              </a:rPr>
              <a:t>LA[1]</a:t>
            </a:r>
            <a:endParaRPr sz="18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850" dirty="0">
              <a:latin typeface="Comic Sans MS"/>
              <a:cs typeface="Comic Sans MS"/>
            </a:endParaRPr>
          </a:p>
          <a:p>
            <a:pPr marR="17780" algn="r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LA[2]</a:t>
            </a:r>
            <a:endParaRPr sz="18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2550" dirty="0">
              <a:latin typeface="Comic Sans MS"/>
              <a:cs typeface="Comic Sans MS"/>
            </a:endParaRPr>
          </a:p>
          <a:p>
            <a:pPr marR="17780" algn="r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LA[3]</a:t>
            </a:r>
            <a:endParaRPr sz="1800" dirty="0">
              <a:latin typeface="Comic Sans MS"/>
              <a:cs typeface="Comic Sans MS"/>
            </a:endParaRPr>
          </a:p>
          <a:p>
            <a:pPr marL="50800">
              <a:lnSpc>
                <a:spcPct val="100000"/>
              </a:lnSpc>
              <a:spcBef>
                <a:spcPts val="685"/>
              </a:spcBef>
            </a:pPr>
            <a:endParaRPr lang="en-US" sz="700" spc="-5" dirty="0" smtClean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85"/>
              </a:spcBef>
            </a:pPr>
            <a:r>
              <a:rPr sz="1800" spc="-5" dirty="0" smtClean="0">
                <a:latin typeface="Times New Roman"/>
                <a:cs typeface="Times New Roman"/>
              </a:rPr>
              <a:t>LOC(LA[K</a:t>
            </a:r>
            <a:r>
              <a:rPr sz="1800" spc="-5" dirty="0">
                <a:latin typeface="Times New Roman"/>
                <a:cs typeface="Times New Roman"/>
              </a:rPr>
              <a:t>])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Base(LA)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w(K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5" dirty="0">
                <a:latin typeface="Times New Roman"/>
                <a:cs typeface="Times New Roman"/>
              </a:rPr>
              <a:t> lower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bound)</a:t>
            </a:r>
            <a:r>
              <a:rPr sz="1800" spc="250" dirty="0">
                <a:latin typeface="Times New Roman"/>
                <a:cs typeface="Times New Roman"/>
              </a:rPr>
              <a:t> </a:t>
            </a:r>
            <a:r>
              <a:rPr sz="5400" b="1" baseline="-15432" dirty="0">
                <a:latin typeface="Times New Roman"/>
                <a:cs typeface="Times New Roman"/>
              </a:rPr>
              <a:t>:</a:t>
            </a:r>
            <a:endParaRPr sz="5400" baseline="-15432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8582" y="5943600"/>
            <a:ext cx="2983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LOC(LA[16])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200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2(16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95162" y="5943600"/>
            <a:ext cx="554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232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8812" y="2163138"/>
            <a:ext cx="354520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Find the address </a:t>
            </a:r>
            <a:r>
              <a:rPr sz="2000" dirty="0">
                <a:latin typeface="Times New Roman"/>
                <a:cs typeface="Times New Roman"/>
              </a:rPr>
              <a:t>for </a:t>
            </a:r>
            <a:r>
              <a:rPr sz="2000" spc="-5" dirty="0">
                <a:latin typeface="Times New Roman"/>
                <a:cs typeface="Times New Roman"/>
              </a:rPr>
              <a:t>LA[16] Each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element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array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occupy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byte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559301" y="2058934"/>
          <a:ext cx="975994" cy="29667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5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24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200</a:t>
                      </a:r>
                      <a:endParaRPr sz="18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5B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201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202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24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203</a:t>
                      </a:r>
                      <a:endParaRPr sz="1800" dirty="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204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205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24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206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9">
                <a:tc>
                  <a:txBody>
                    <a:bodyPr/>
                    <a:lstStyle/>
                    <a:p>
                      <a:pPr marL="85725">
                        <a:lnSpc>
                          <a:spcPts val="2090"/>
                        </a:lnSpc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207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BD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76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533400" y="1371600"/>
            <a:ext cx="7620000" cy="49530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Operations on Linear Array</a:t>
            </a:r>
            <a:endParaRPr lang="en-US" sz="2000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2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spcBef>
                <a:spcPts val="1200"/>
              </a:spcBef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Traversing: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means to visit all the elements of the array in an operation is called traversing.</a:t>
            </a:r>
          </a:p>
          <a:p>
            <a:pPr lvl="1" algn="just">
              <a:spcBef>
                <a:spcPts val="1200"/>
              </a:spcBef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Insertion: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means to put values into an array.</a:t>
            </a:r>
          </a:p>
          <a:p>
            <a:pPr lvl="1" algn="just">
              <a:spcBef>
                <a:spcPts val="1200"/>
              </a:spcBef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Deletion / Remove: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delete a value from an array. </a:t>
            </a:r>
          </a:p>
          <a:p>
            <a:pPr lvl="1" algn="just">
              <a:spcBef>
                <a:spcPts val="1200"/>
              </a:spcBef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Sorting: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Re-arrangement of values in an array in a specific order (Ascending / Descending) is called sorting. </a:t>
            </a:r>
          </a:p>
          <a:p>
            <a:pPr lvl="1" algn="just">
              <a:spcBef>
                <a:spcPts val="1200"/>
              </a:spcBef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Searching: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process of finding the location of a particular element in an array is called searching. </a:t>
            </a:r>
          </a:p>
          <a:p>
            <a:pPr lvl="1" algn="just">
              <a:spcBef>
                <a:spcPts val="1200"/>
              </a:spcBef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There are two popular searching techniques/mechanisms: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Linear search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binary search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11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271780"/>
            <a:ext cx="5189855" cy="642620"/>
          </a:xfrm>
        </p:spPr>
        <p:txBody>
          <a:bodyPr/>
          <a:lstStyle/>
          <a:p>
            <a:r>
              <a:rPr lang="en-US" altLang="en-US" b="1" dirty="0"/>
              <a:t>The Search Problem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04" y="1504823"/>
            <a:ext cx="8507095" cy="4438777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dirty="0"/>
              <a:t>Given an array A storing n numbers, and a target number v, locate the position in A (if it exists) where A[</a:t>
            </a:r>
            <a:r>
              <a:rPr lang="en-US" altLang="en-US" dirty="0" err="1"/>
              <a:t>i</a:t>
            </a:r>
            <a:r>
              <a:rPr lang="en-US" altLang="en-US" dirty="0"/>
              <a:t>] = v</a:t>
            </a:r>
          </a:p>
          <a:p>
            <a:pPr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dirty="0">
                <a:solidFill>
                  <a:srgbClr val="0070C0"/>
                </a:solidFill>
              </a:rPr>
              <a:t>Example</a:t>
            </a:r>
          </a:p>
          <a:p>
            <a:pPr lvl="1"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dirty="0"/>
              <a:t>Input:		A = {3,8,2,15,99,52}, v = 99</a:t>
            </a:r>
          </a:p>
          <a:p>
            <a:pPr lvl="1"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dirty="0"/>
              <a:t>Output:	position 4</a:t>
            </a:r>
          </a:p>
          <a:p>
            <a:pPr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dirty="0">
                <a:solidFill>
                  <a:srgbClr val="0070C0"/>
                </a:solidFill>
              </a:rPr>
              <a:t>Notes</a:t>
            </a:r>
          </a:p>
          <a:p>
            <a:pPr lvl="1"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dirty="0"/>
              <a:t>Array positions (indexes) go from 0..n-1</a:t>
            </a:r>
          </a:p>
          <a:p>
            <a:pPr lvl="1"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dirty="0"/>
              <a:t>When the target does not exist in the array, return an undefined position, such as -1</a:t>
            </a:r>
          </a:p>
          <a:p>
            <a:pPr algn="just">
              <a:spcBef>
                <a:spcPts val="1800"/>
              </a:spcBef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42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1780"/>
            <a:ext cx="5951855" cy="642620"/>
          </a:xfrm>
        </p:spPr>
        <p:txBody>
          <a:bodyPr/>
          <a:lstStyle/>
          <a:p>
            <a:r>
              <a:rPr lang="en-US" altLang="en-US" b="1" dirty="0"/>
              <a:t>Algorithm 1:  Linear Search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352422"/>
            <a:ext cx="7848600" cy="4895978"/>
          </a:xfrm>
        </p:spPr>
        <p:txBody>
          <a:bodyPr/>
          <a:lstStyle/>
          <a:p>
            <a:pPr algn="just">
              <a:lnSpc>
                <a:spcPct val="8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endParaRPr lang="en-US" altLang="en-US" dirty="0"/>
          </a:p>
          <a:p>
            <a:pPr algn="just">
              <a:lnSpc>
                <a:spcPct val="8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070C0"/>
                </a:solidFill>
              </a:rPr>
              <a:t>Algorithm</a:t>
            </a:r>
            <a:r>
              <a:rPr lang="en-US" altLang="en-US" dirty="0"/>
              <a:t> </a:t>
            </a:r>
            <a:r>
              <a:rPr lang="en-US" altLang="en-US" dirty="0" err="1"/>
              <a:t>LinearSearch</a:t>
            </a:r>
            <a:r>
              <a:rPr lang="en-US" altLang="en-US" dirty="0"/>
              <a:t>(</a:t>
            </a:r>
            <a:r>
              <a:rPr lang="en-US" altLang="en-US" dirty="0" err="1"/>
              <a:t>A,v</a:t>
            </a:r>
            <a:r>
              <a:rPr lang="en-US" altLang="en-US" dirty="0"/>
              <a:t>):</a:t>
            </a:r>
          </a:p>
          <a:p>
            <a:pPr algn="just">
              <a:lnSpc>
                <a:spcPct val="8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0B050"/>
                </a:solidFill>
              </a:rPr>
              <a:t>Input:</a:t>
            </a:r>
            <a:r>
              <a:rPr lang="en-US" altLang="en-US" dirty="0"/>
              <a:t> An array A of n numbers, </a:t>
            </a:r>
            <a:r>
              <a:rPr lang="en-US" altLang="en-US" dirty="0" smtClean="0"/>
              <a:t>search</a:t>
            </a:r>
          </a:p>
          <a:p>
            <a:pPr algn="just">
              <a:lnSpc>
                <a:spcPct val="8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dirty="0" smtClean="0"/>
              <a:t> </a:t>
            </a:r>
            <a:r>
              <a:rPr lang="en-US" altLang="en-US" dirty="0"/>
              <a:t>target v</a:t>
            </a:r>
          </a:p>
          <a:p>
            <a:pPr algn="just">
              <a:lnSpc>
                <a:spcPct val="8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0B050"/>
                </a:solidFill>
              </a:rPr>
              <a:t>Output:</a:t>
            </a:r>
            <a:r>
              <a:rPr lang="en-US" altLang="en-US" dirty="0"/>
              <a:t> position </a:t>
            </a:r>
            <a:r>
              <a:rPr lang="en-US" altLang="en-US" dirty="0" err="1"/>
              <a:t>i</a:t>
            </a:r>
            <a:r>
              <a:rPr lang="en-US" altLang="en-US" dirty="0"/>
              <a:t> where A[</a:t>
            </a:r>
            <a:r>
              <a:rPr lang="en-US" altLang="en-US" dirty="0" err="1"/>
              <a:t>i</a:t>
            </a:r>
            <a:r>
              <a:rPr lang="en-US" altLang="en-US" dirty="0"/>
              <a:t>]=v, -1 if </a:t>
            </a:r>
            <a:r>
              <a:rPr lang="en-US" altLang="en-US" dirty="0" smtClean="0"/>
              <a:t>not</a:t>
            </a:r>
          </a:p>
          <a:p>
            <a:pPr algn="just">
              <a:lnSpc>
                <a:spcPct val="8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dirty="0" smtClean="0"/>
              <a:t> </a:t>
            </a:r>
            <a:r>
              <a:rPr lang="en-US" altLang="en-US" dirty="0"/>
              <a:t>found</a:t>
            </a:r>
          </a:p>
          <a:p>
            <a:pPr algn="just">
              <a:lnSpc>
                <a:spcPct val="8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endParaRPr lang="en-US" altLang="en-US" dirty="0"/>
          </a:p>
          <a:p>
            <a:pPr algn="just">
              <a:lnSpc>
                <a:spcPct val="8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070C0"/>
                </a:solidFill>
              </a:rPr>
              <a:t>for </a:t>
            </a:r>
            <a:r>
              <a:rPr lang="en-US" altLang="en-US" dirty="0" err="1">
                <a:solidFill>
                  <a:srgbClr val="0070C0"/>
                </a:solidFill>
              </a:rPr>
              <a:t>i</a:t>
            </a:r>
            <a:r>
              <a:rPr lang="en-US" altLang="en-US" dirty="0">
                <a:solidFill>
                  <a:srgbClr val="0070C0"/>
                </a:solidFill>
              </a:rPr>
              <a:t> </a:t>
            </a:r>
            <a:r>
              <a:rPr lang="en-US" altLang="en-US" dirty="0">
                <a:solidFill>
                  <a:srgbClr val="0070C0"/>
                </a:solidFill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rgbClr val="0070C0"/>
                </a:solidFill>
              </a:rPr>
              <a:t> 0 to n - 1 do</a:t>
            </a:r>
          </a:p>
          <a:p>
            <a:pPr algn="just">
              <a:lnSpc>
                <a:spcPct val="8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070C0"/>
                </a:solidFill>
              </a:rPr>
              <a:t>   if A[</a:t>
            </a:r>
            <a:r>
              <a:rPr lang="en-US" altLang="en-US" dirty="0" err="1">
                <a:solidFill>
                  <a:srgbClr val="0070C0"/>
                </a:solidFill>
              </a:rPr>
              <a:t>i</a:t>
            </a:r>
            <a:r>
              <a:rPr lang="en-US" altLang="en-US" dirty="0">
                <a:solidFill>
                  <a:srgbClr val="0070C0"/>
                </a:solidFill>
              </a:rPr>
              <a:t>] = v then</a:t>
            </a:r>
          </a:p>
          <a:p>
            <a:pPr algn="just">
              <a:lnSpc>
                <a:spcPct val="8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070C0"/>
                </a:solidFill>
              </a:rPr>
              <a:t>       return </a:t>
            </a:r>
            <a:r>
              <a:rPr lang="en-US" altLang="en-US" dirty="0" err="1">
                <a:solidFill>
                  <a:srgbClr val="0070C0"/>
                </a:solidFill>
              </a:rPr>
              <a:t>i</a:t>
            </a:r>
            <a:endParaRPr lang="en-US" altLang="en-US" dirty="0">
              <a:solidFill>
                <a:srgbClr val="0070C0"/>
              </a:solidFill>
            </a:endParaRPr>
          </a:p>
          <a:p>
            <a:pPr algn="just">
              <a:lnSpc>
                <a:spcPct val="8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070C0"/>
                </a:solidFill>
              </a:rPr>
              <a:t>return -1</a:t>
            </a:r>
          </a:p>
          <a:p>
            <a:pPr algn="just">
              <a:spcBef>
                <a:spcPts val="12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72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19380"/>
            <a:ext cx="7086599" cy="642620"/>
          </a:xfrm>
        </p:spPr>
        <p:txBody>
          <a:bodyPr/>
          <a:lstStyle/>
          <a:p>
            <a:r>
              <a:rPr lang="en-US" altLang="en-US" sz="4400" dirty="0"/>
              <a:t>Linear Search time complexity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04" y="1657223"/>
            <a:ext cx="8507095" cy="4438777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dirty="0">
                <a:solidFill>
                  <a:srgbClr val="0070C0"/>
                </a:solidFill>
              </a:rPr>
              <a:t>Worst-case:</a:t>
            </a:r>
            <a:r>
              <a:rPr lang="en-US" altLang="en-US" dirty="0"/>
              <a:t>  O( n )</a:t>
            </a:r>
          </a:p>
          <a:p>
            <a:pPr lvl="1"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dirty="0"/>
              <a:t>If v does not exist or if v is the last element in the array</a:t>
            </a:r>
          </a:p>
          <a:p>
            <a:pPr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dirty="0">
                <a:solidFill>
                  <a:srgbClr val="0070C0"/>
                </a:solidFill>
              </a:rPr>
              <a:t>Best-case:</a:t>
            </a:r>
            <a:r>
              <a:rPr lang="en-US" altLang="en-US" dirty="0"/>
              <a:t>  O( 1 )</a:t>
            </a:r>
          </a:p>
          <a:p>
            <a:pPr lvl="1"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dirty="0"/>
              <a:t>When the target element v is the first element in the array</a:t>
            </a:r>
          </a:p>
          <a:p>
            <a:pPr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dirty="0">
                <a:solidFill>
                  <a:srgbClr val="0070C0"/>
                </a:solidFill>
              </a:rPr>
              <a:t>Average-case:</a:t>
            </a:r>
            <a:r>
              <a:rPr lang="en-US" altLang="en-US" dirty="0"/>
              <a:t>  O( n )</a:t>
            </a:r>
          </a:p>
          <a:p>
            <a:pPr lvl="1" algn="just">
              <a:lnSpc>
                <a:spcPct val="90000"/>
              </a:lnSpc>
              <a:spcBef>
                <a:spcPts val="1800"/>
              </a:spcBef>
            </a:pPr>
            <a:r>
              <a:rPr lang="en-US" altLang="en-US" dirty="0"/>
              <a:t>e.g., if the target element is somewhere in the middle of the array, the for-loop will iterate n/2 times.  Still O( n )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96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Binary Search (recursive)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6800"/>
            <a:ext cx="8505182" cy="527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lang="en-US" smtClean="0"/>
              <a:t>16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216602"/>
            <a:ext cx="4888357" cy="532231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19456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Binary Search (iteration)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65363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Retrieving an Item from Sorted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b="1" dirty="0" smtClean="0"/>
              <a:t>84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8170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/>
              <a:t>84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1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1082218" y="4084794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1342846" y="3821269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7494855" y="4087969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7761109" y="382444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8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/>
              <a:t>84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b="1" dirty="0"/>
              <a:t>Step 1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1082218" y="4084794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1342846" y="3821269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7494855" y="4087969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7761109" y="382444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Rectangle 79"/>
          <p:cNvSpPr>
            <a:spLocks noChangeArrowheads="1"/>
          </p:cNvSpPr>
          <p:nvPr/>
        </p:nvSpPr>
        <p:spPr bwMode="auto">
          <a:xfrm>
            <a:off x="3927540" y="4086382"/>
            <a:ext cx="1263167" cy="785472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/>
              <a:t>m</a:t>
            </a:r>
            <a:r>
              <a:rPr kumimoji="1" lang="en-US" b="1" dirty="0" smtClean="0"/>
              <a:t>id</a:t>
            </a:r>
          </a:p>
          <a:p>
            <a:pPr algn="ctr">
              <a:spcBef>
                <a:spcPct val="50000"/>
              </a:spcBef>
            </a:pPr>
            <a:r>
              <a:rPr kumimoji="1" lang="en-US" b="1" dirty="0" smtClean="0"/>
              <a:t>=(0+14)/2</a:t>
            </a:r>
            <a:endParaRPr kumimoji="1" lang="en-US" b="1" dirty="0"/>
          </a:p>
        </p:txBody>
      </p:sp>
      <p:sp>
        <p:nvSpPr>
          <p:cNvPr id="39" name="Line 80"/>
          <p:cNvSpPr>
            <a:spLocks noChangeShapeType="1"/>
          </p:cNvSpPr>
          <p:nvPr/>
        </p:nvSpPr>
        <p:spPr bwMode="auto">
          <a:xfrm flipV="1">
            <a:off x="4543246" y="382285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Oval 81"/>
          <p:cNvSpPr>
            <a:spLocks noChangeArrowheads="1"/>
          </p:cNvSpPr>
          <p:nvPr/>
        </p:nvSpPr>
        <p:spPr bwMode="auto">
          <a:xfrm>
            <a:off x="4380527" y="3110070"/>
            <a:ext cx="357187" cy="3571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92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Find </a:t>
            </a:r>
            <a:r>
              <a:rPr lang="en-US" b="1" dirty="0"/>
              <a:t>84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1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1082218" y="4084794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1342846" y="3821269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7494855" y="4087969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7761109" y="382444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Rectangle 79"/>
          <p:cNvSpPr>
            <a:spLocks noChangeArrowheads="1"/>
          </p:cNvSpPr>
          <p:nvPr/>
        </p:nvSpPr>
        <p:spPr bwMode="auto">
          <a:xfrm>
            <a:off x="3927540" y="4086382"/>
            <a:ext cx="1263167" cy="785472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/>
              <a:t>m</a:t>
            </a:r>
            <a:r>
              <a:rPr kumimoji="1" lang="en-US" b="1" dirty="0" smtClean="0"/>
              <a:t>id</a:t>
            </a:r>
          </a:p>
          <a:p>
            <a:pPr algn="ctr">
              <a:spcBef>
                <a:spcPct val="50000"/>
              </a:spcBef>
            </a:pPr>
            <a:r>
              <a:rPr kumimoji="1" lang="en-US" b="1" dirty="0" smtClean="0"/>
              <a:t>=(0+14)/2</a:t>
            </a:r>
            <a:endParaRPr kumimoji="1" lang="en-US" b="1" dirty="0"/>
          </a:p>
        </p:txBody>
      </p:sp>
      <p:sp>
        <p:nvSpPr>
          <p:cNvPr id="39" name="Line 80"/>
          <p:cNvSpPr>
            <a:spLocks noChangeShapeType="1"/>
          </p:cNvSpPr>
          <p:nvPr/>
        </p:nvSpPr>
        <p:spPr bwMode="auto">
          <a:xfrm flipV="1">
            <a:off x="4543246" y="382285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Oval 81"/>
          <p:cNvSpPr>
            <a:spLocks noChangeArrowheads="1"/>
          </p:cNvSpPr>
          <p:nvPr/>
        </p:nvSpPr>
        <p:spPr bwMode="auto">
          <a:xfrm>
            <a:off x="4380527" y="3110070"/>
            <a:ext cx="357187" cy="3571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30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/>
              <a:t>84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</a:t>
            </a:r>
            <a:r>
              <a:rPr lang="en-US" b="1" dirty="0" smtClean="0"/>
              <a:t>2</a:t>
            </a:r>
            <a:endParaRPr lang="en-US" b="1" dirty="0"/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4761963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022591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7494855" y="4087969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7761109" y="382444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3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/>
              <a:t>84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2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4761963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022591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7494855" y="4087969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7761109" y="382444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Rectangle 79"/>
          <p:cNvSpPr>
            <a:spLocks noChangeArrowheads="1"/>
          </p:cNvSpPr>
          <p:nvPr/>
        </p:nvSpPr>
        <p:spPr bwMode="auto">
          <a:xfrm>
            <a:off x="5756338" y="4108081"/>
            <a:ext cx="1263167" cy="785472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/>
              <a:t>m</a:t>
            </a:r>
            <a:r>
              <a:rPr kumimoji="1" lang="en-US" b="1" dirty="0" smtClean="0"/>
              <a:t>id</a:t>
            </a:r>
          </a:p>
          <a:p>
            <a:pPr algn="ctr">
              <a:spcBef>
                <a:spcPct val="50000"/>
              </a:spcBef>
            </a:pPr>
            <a:r>
              <a:rPr kumimoji="1" lang="en-US" b="1" dirty="0" smtClean="0"/>
              <a:t>=(8+14)/2</a:t>
            </a:r>
            <a:endParaRPr kumimoji="1" lang="en-US" b="1" dirty="0"/>
          </a:p>
        </p:txBody>
      </p:sp>
      <p:sp>
        <p:nvSpPr>
          <p:cNvPr id="41" name="Line 80"/>
          <p:cNvSpPr>
            <a:spLocks noChangeShapeType="1"/>
          </p:cNvSpPr>
          <p:nvPr/>
        </p:nvSpPr>
        <p:spPr bwMode="auto">
          <a:xfrm flipV="1">
            <a:off x="6372044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Oval 81"/>
          <p:cNvSpPr>
            <a:spLocks noChangeArrowheads="1"/>
          </p:cNvSpPr>
          <p:nvPr/>
        </p:nvSpPr>
        <p:spPr bwMode="auto">
          <a:xfrm>
            <a:off x="6209325" y="3131769"/>
            <a:ext cx="357187" cy="3571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16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/>
              <a:t>84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2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4761963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022591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7494855" y="4087969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7761109" y="382444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Rectangle 79"/>
          <p:cNvSpPr>
            <a:spLocks noChangeArrowheads="1"/>
          </p:cNvSpPr>
          <p:nvPr/>
        </p:nvSpPr>
        <p:spPr bwMode="auto">
          <a:xfrm>
            <a:off x="5756338" y="4108081"/>
            <a:ext cx="1263167" cy="785472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/>
              <a:t>m</a:t>
            </a:r>
            <a:r>
              <a:rPr kumimoji="1" lang="en-US" b="1" dirty="0" smtClean="0"/>
              <a:t>id</a:t>
            </a:r>
          </a:p>
          <a:p>
            <a:pPr algn="ctr">
              <a:spcBef>
                <a:spcPct val="50000"/>
              </a:spcBef>
            </a:pPr>
            <a:r>
              <a:rPr kumimoji="1" lang="en-US" b="1" dirty="0" smtClean="0"/>
              <a:t>=(8+14)/2</a:t>
            </a:r>
            <a:endParaRPr kumimoji="1" lang="en-US" b="1" dirty="0"/>
          </a:p>
        </p:txBody>
      </p:sp>
      <p:sp>
        <p:nvSpPr>
          <p:cNvPr id="41" name="Line 80"/>
          <p:cNvSpPr>
            <a:spLocks noChangeShapeType="1"/>
          </p:cNvSpPr>
          <p:nvPr/>
        </p:nvSpPr>
        <p:spPr bwMode="auto">
          <a:xfrm flipV="1">
            <a:off x="6372044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Oval 81"/>
          <p:cNvSpPr>
            <a:spLocks noChangeArrowheads="1"/>
          </p:cNvSpPr>
          <p:nvPr/>
        </p:nvSpPr>
        <p:spPr bwMode="auto">
          <a:xfrm>
            <a:off x="6209325" y="3131769"/>
            <a:ext cx="357187" cy="3571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7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/>
              <a:t>84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</a:t>
            </a:r>
            <a:r>
              <a:rPr lang="en-US" b="1" dirty="0" smtClean="0"/>
              <a:t>3</a:t>
            </a:r>
            <a:endParaRPr lang="en-US" b="1" dirty="0"/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4761963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022591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5676363" y="4108081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5942617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5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/>
              <a:t>84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3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4761963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022591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5676363" y="4108081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5942617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Rectangle 79"/>
          <p:cNvSpPr>
            <a:spLocks noChangeArrowheads="1"/>
          </p:cNvSpPr>
          <p:nvPr/>
        </p:nvSpPr>
        <p:spPr bwMode="auto">
          <a:xfrm>
            <a:off x="4883275" y="4928893"/>
            <a:ext cx="1263167" cy="785472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/>
              <a:t>m</a:t>
            </a:r>
            <a:r>
              <a:rPr kumimoji="1" lang="en-US" b="1" dirty="0" smtClean="0"/>
              <a:t>id</a:t>
            </a:r>
          </a:p>
          <a:p>
            <a:pPr algn="ctr">
              <a:spcBef>
                <a:spcPct val="50000"/>
              </a:spcBef>
            </a:pPr>
            <a:r>
              <a:rPr kumimoji="1" lang="en-US" b="1" dirty="0" smtClean="0"/>
              <a:t>=(8+10)/2</a:t>
            </a:r>
            <a:endParaRPr kumimoji="1" lang="en-US" b="1" dirty="0"/>
          </a:p>
        </p:txBody>
      </p:sp>
      <p:sp>
        <p:nvSpPr>
          <p:cNvPr id="40" name="Line 80"/>
          <p:cNvSpPr>
            <a:spLocks noChangeShapeType="1"/>
          </p:cNvSpPr>
          <p:nvPr/>
        </p:nvSpPr>
        <p:spPr bwMode="auto">
          <a:xfrm flipH="1" flipV="1">
            <a:off x="5486400" y="3844556"/>
            <a:ext cx="12581" cy="1049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Oval 81"/>
          <p:cNvSpPr>
            <a:spLocks noChangeArrowheads="1"/>
          </p:cNvSpPr>
          <p:nvPr/>
        </p:nvSpPr>
        <p:spPr bwMode="auto">
          <a:xfrm>
            <a:off x="5282049" y="3131769"/>
            <a:ext cx="357187" cy="3571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7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/>
              <a:t>84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3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4761963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022591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5676363" y="4108081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5942617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Rectangle 79"/>
          <p:cNvSpPr>
            <a:spLocks noChangeArrowheads="1"/>
          </p:cNvSpPr>
          <p:nvPr/>
        </p:nvSpPr>
        <p:spPr bwMode="auto">
          <a:xfrm>
            <a:off x="4883275" y="4928893"/>
            <a:ext cx="1263167" cy="785472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/>
              <a:t>m</a:t>
            </a:r>
            <a:r>
              <a:rPr kumimoji="1" lang="en-US" b="1" dirty="0" smtClean="0"/>
              <a:t>id</a:t>
            </a:r>
          </a:p>
          <a:p>
            <a:pPr algn="ctr">
              <a:spcBef>
                <a:spcPct val="50000"/>
              </a:spcBef>
            </a:pPr>
            <a:r>
              <a:rPr kumimoji="1" lang="en-US" b="1" dirty="0" smtClean="0"/>
              <a:t>=(8+10)/2</a:t>
            </a:r>
            <a:endParaRPr kumimoji="1" lang="en-US" b="1" dirty="0"/>
          </a:p>
        </p:txBody>
      </p:sp>
      <p:sp>
        <p:nvSpPr>
          <p:cNvPr id="40" name="Line 80"/>
          <p:cNvSpPr>
            <a:spLocks noChangeShapeType="1"/>
          </p:cNvSpPr>
          <p:nvPr/>
        </p:nvSpPr>
        <p:spPr bwMode="auto">
          <a:xfrm flipH="1" flipV="1">
            <a:off x="5486400" y="3844556"/>
            <a:ext cx="12581" cy="1049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Oval 81"/>
          <p:cNvSpPr>
            <a:spLocks noChangeArrowheads="1"/>
          </p:cNvSpPr>
          <p:nvPr/>
        </p:nvSpPr>
        <p:spPr bwMode="auto">
          <a:xfrm>
            <a:off x="5282049" y="3131769"/>
            <a:ext cx="357187" cy="3571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8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/>
              <a:t>84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</a:t>
            </a:r>
            <a:r>
              <a:rPr lang="en-US" b="1" dirty="0" smtClean="0"/>
              <a:t>4</a:t>
            </a:r>
            <a:endParaRPr lang="en-US" b="1" dirty="0"/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5225604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486231" y="3887418"/>
            <a:ext cx="286427" cy="185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6140004" y="4108081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H="1" flipV="1">
            <a:off x="6159321" y="3887418"/>
            <a:ext cx="246937" cy="185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2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244599"/>
            <a:ext cx="7680960" cy="5233473"/>
          </a:xfrm>
        </p:spPr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/>
              <a:t>84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 smtClean="0"/>
              <a:t>Step 4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84 found at the midpoint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5225604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486231" y="3887418"/>
            <a:ext cx="286427" cy="185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6140004" y="4108081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H="1" flipV="1">
            <a:off x="6159321" y="3887418"/>
            <a:ext cx="246937" cy="185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Rectangle 79"/>
          <p:cNvSpPr>
            <a:spLocks noChangeArrowheads="1"/>
          </p:cNvSpPr>
          <p:nvPr/>
        </p:nvSpPr>
        <p:spPr bwMode="auto">
          <a:xfrm>
            <a:off x="5281995" y="4928893"/>
            <a:ext cx="1393010" cy="785472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/>
              <a:t>m</a:t>
            </a:r>
            <a:r>
              <a:rPr kumimoji="1" lang="en-US" b="1" dirty="0" smtClean="0"/>
              <a:t>id</a:t>
            </a:r>
          </a:p>
          <a:p>
            <a:pPr algn="ctr">
              <a:spcBef>
                <a:spcPct val="50000"/>
              </a:spcBef>
            </a:pPr>
            <a:r>
              <a:rPr kumimoji="1" lang="en-US" b="1" dirty="0" smtClean="0"/>
              <a:t>=(10+10)/2</a:t>
            </a:r>
            <a:endParaRPr kumimoji="1" lang="en-US" b="1" dirty="0"/>
          </a:p>
        </p:txBody>
      </p:sp>
      <p:sp>
        <p:nvSpPr>
          <p:cNvPr id="40" name="Line 80"/>
          <p:cNvSpPr>
            <a:spLocks noChangeShapeType="1"/>
          </p:cNvSpPr>
          <p:nvPr/>
        </p:nvSpPr>
        <p:spPr bwMode="auto">
          <a:xfrm flipH="1" flipV="1">
            <a:off x="5950041" y="3844556"/>
            <a:ext cx="12581" cy="1049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Oval 81"/>
          <p:cNvSpPr>
            <a:spLocks noChangeArrowheads="1"/>
          </p:cNvSpPr>
          <p:nvPr/>
        </p:nvSpPr>
        <p:spPr bwMode="auto">
          <a:xfrm>
            <a:off x="5745693" y="3118890"/>
            <a:ext cx="357187" cy="3571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8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b="1" dirty="0" smtClean="0"/>
              <a:t>73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6557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 smtClean="0"/>
              <a:t>73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1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1082218" y="4084794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1342846" y="3821269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7494855" y="4087969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7761109" y="382444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5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 smtClean="0"/>
              <a:t>73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1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1082218" y="4084794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1342846" y="3821269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7494855" y="4087969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7761109" y="382444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Rectangle 79"/>
          <p:cNvSpPr>
            <a:spLocks noChangeArrowheads="1"/>
          </p:cNvSpPr>
          <p:nvPr/>
        </p:nvSpPr>
        <p:spPr bwMode="auto">
          <a:xfrm>
            <a:off x="3927540" y="4086382"/>
            <a:ext cx="1263167" cy="785472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/>
              <a:t>m</a:t>
            </a:r>
            <a:r>
              <a:rPr kumimoji="1" lang="en-US" b="1" dirty="0" smtClean="0"/>
              <a:t>id</a:t>
            </a:r>
          </a:p>
          <a:p>
            <a:pPr algn="ctr">
              <a:spcBef>
                <a:spcPct val="50000"/>
              </a:spcBef>
            </a:pPr>
            <a:r>
              <a:rPr kumimoji="1" lang="en-US" b="1" dirty="0" smtClean="0"/>
              <a:t>=(0+14)/2</a:t>
            </a:r>
            <a:endParaRPr kumimoji="1" lang="en-US" b="1" dirty="0"/>
          </a:p>
        </p:txBody>
      </p:sp>
      <p:sp>
        <p:nvSpPr>
          <p:cNvPr id="39" name="Line 80"/>
          <p:cNvSpPr>
            <a:spLocks noChangeShapeType="1"/>
          </p:cNvSpPr>
          <p:nvPr/>
        </p:nvSpPr>
        <p:spPr bwMode="auto">
          <a:xfrm flipV="1">
            <a:off x="4543246" y="382285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Oval 81"/>
          <p:cNvSpPr>
            <a:spLocks noChangeArrowheads="1"/>
          </p:cNvSpPr>
          <p:nvPr/>
        </p:nvSpPr>
        <p:spPr bwMode="auto">
          <a:xfrm>
            <a:off x="4380527" y="3110070"/>
            <a:ext cx="357187" cy="3571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1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Find </a:t>
            </a:r>
            <a:r>
              <a:rPr lang="en-US" b="1" dirty="0" smtClean="0"/>
              <a:t>73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 smtClean="0"/>
              <a:t>Step </a:t>
            </a:r>
            <a:r>
              <a:rPr lang="en-US" b="1" dirty="0"/>
              <a:t>1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1082218" y="4084794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1342846" y="3821269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7494855" y="4087969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7761109" y="382444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Rectangle 79"/>
          <p:cNvSpPr>
            <a:spLocks noChangeArrowheads="1"/>
          </p:cNvSpPr>
          <p:nvPr/>
        </p:nvSpPr>
        <p:spPr bwMode="auto">
          <a:xfrm>
            <a:off x="3927540" y="4086382"/>
            <a:ext cx="1263167" cy="785472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/>
              <a:t>m</a:t>
            </a:r>
            <a:r>
              <a:rPr kumimoji="1" lang="en-US" b="1" dirty="0" smtClean="0"/>
              <a:t>id</a:t>
            </a:r>
          </a:p>
          <a:p>
            <a:pPr algn="ctr">
              <a:spcBef>
                <a:spcPct val="50000"/>
              </a:spcBef>
            </a:pPr>
            <a:r>
              <a:rPr kumimoji="1" lang="en-US" b="1" dirty="0" smtClean="0"/>
              <a:t>=(0+14)/2</a:t>
            </a:r>
            <a:endParaRPr kumimoji="1" lang="en-US" b="1" dirty="0"/>
          </a:p>
        </p:txBody>
      </p:sp>
      <p:sp>
        <p:nvSpPr>
          <p:cNvPr id="39" name="Line 80"/>
          <p:cNvSpPr>
            <a:spLocks noChangeShapeType="1"/>
          </p:cNvSpPr>
          <p:nvPr/>
        </p:nvSpPr>
        <p:spPr bwMode="auto">
          <a:xfrm flipV="1">
            <a:off x="4543246" y="382285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Oval 81"/>
          <p:cNvSpPr>
            <a:spLocks noChangeArrowheads="1"/>
          </p:cNvSpPr>
          <p:nvPr/>
        </p:nvSpPr>
        <p:spPr bwMode="auto">
          <a:xfrm>
            <a:off x="4380527" y="3110070"/>
            <a:ext cx="357187" cy="3571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17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 smtClean="0"/>
              <a:t>73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</a:t>
            </a:r>
            <a:r>
              <a:rPr lang="en-US" b="1" dirty="0" smtClean="0"/>
              <a:t>2</a:t>
            </a:r>
            <a:endParaRPr lang="en-US" b="1" dirty="0"/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4761963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022591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7494855" y="4087969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7761109" y="382444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5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 smtClean="0"/>
              <a:t>73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2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4761963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022591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7494855" y="4087969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7761109" y="382444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Rectangle 79"/>
          <p:cNvSpPr>
            <a:spLocks noChangeArrowheads="1"/>
          </p:cNvSpPr>
          <p:nvPr/>
        </p:nvSpPr>
        <p:spPr bwMode="auto">
          <a:xfrm>
            <a:off x="5756338" y="4108081"/>
            <a:ext cx="1263167" cy="785472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/>
              <a:t>m</a:t>
            </a:r>
            <a:r>
              <a:rPr kumimoji="1" lang="en-US" b="1" dirty="0" smtClean="0"/>
              <a:t>id</a:t>
            </a:r>
          </a:p>
          <a:p>
            <a:pPr algn="ctr">
              <a:spcBef>
                <a:spcPct val="50000"/>
              </a:spcBef>
            </a:pPr>
            <a:r>
              <a:rPr kumimoji="1" lang="en-US" b="1" dirty="0" smtClean="0"/>
              <a:t>=(8+14)/2</a:t>
            </a:r>
            <a:endParaRPr kumimoji="1" lang="en-US" b="1" dirty="0"/>
          </a:p>
        </p:txBody>
      </p:sp>
      <p:sp>
        <p:nvSpPr>
          <p:cNvPr id="41" name="Line 80"/>
          <p:cNvSpPr>
            <a:spLocks noChangeShapeType="1"/>
          </p:cNvSpPr>
          <p:nvPr/>
        </p:nvSpPr>
        <p:spPr bwMode="auto">
          <a:xfrm flipV="1">
            <a:off x="6372044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Oval 81"/>
          <p:cNvSpPr>
            <a:spLocks noChangeArrowheads="1"/>
          </p:cNvSpPr>
          <p:nvPr/>
        </p:nvSpPr>
        <p:spPr bwMode="auto">
          <a:xfrm>
            <a:off x="6209325" y="3131769"/>
            <a:ext cx="357187" cy="3571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2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 smtClean="0"/>
              <a:t>73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2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4761963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022591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7494855" y="4087969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7761109" y="3824444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Rectangle 79"/>
          <p:cNvSpPr>
            <a:spLocks noChangeArrowheads="1"/>
          </p:cNvSpPr>
          <p:nvPr/>
        </p:nvSpPr>
        <p:spPr bwMode="auto">
          <a:xfrm>
            <a:off x="5756338" y="4108081"/>
            <a:ext cx="1263167" cy="785472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/>
              <a:t>m</a:t>
            </a:r>
            <a:r>
              <a:rPr kumimoji="1" lang="en-US" b="1" dirty="0" smtClean="0"/>
              <a:t>id</a:t>
            </a:r>
          </a:p>
          <a:p>
            <a:pPr algn="ctr">
              <a:spcBef>
                <a:spcPct val="50000"/>
              </a:spcBef>
            </a:pPr>
            <a:r>
              <a:rPr kumimoji="1" lang="en-US" b="1" dirty="0" smtClean="0"/>
              <a:t>=(8+14)/2</a:t>
            </a:r>
            <a:endParaRPr kumimoji="1" lang="en-US" b="1" dirty="0"/>
          </a:p>
        </p:txBody>
      </p:sp>
      <p:sp>
        <p:nvSpPr>
          <p:cNvPr id="41" name="Line 80"/>
          <p:cNvSpPr>
            <a:spLocks noChangeShapeType="1"/>
          </p:cNvSpPr>
          <p:nvPr/>
        </p:nvSpPr>
        <p:spPr bwMode="auto">
          <a:xfrm flipV="1">
            <a:off x="6372044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Oval 81"/>
          <p:cNvSpPr>
            <a:spLocks noChangeArrowheads="1"/>
          </p:cNvSpPr>
          <p:nvPr/>
        </p:nvSpPr>
        <p:spPr bwMode="auto">
          <a:xfrm>
            <a:off x="6209325" y="3131769"/>
            <a:ext cx="357187" cy="3571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91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 smtClean="0"/>
              <a:t>73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</a:t>
            </a:r>
            <a:r>
              <a:rPr lang="en-US" b="1" dirty="0" smtClean="0"/>
              <a:t>3</a:t>
            </a:r>
            <a:endParaRPr lang="en-US" b="1" dirty="0"/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4761963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022591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5676363" y="4108081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5942617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4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 smtClean="0"/>
              <a:t>73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3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4761963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022591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5676363" y="4108081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5942617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Rectangle 79"/>
          <p:cNvSpPr>
            <a:spLocks noChangeArrowheads="1"/>
          </p:cNvSpPr>
          <p:nvPr/>
        </p:nvSpPr>
        <p:spPr bwMode="auto">
          <a:xfrm>
            <a:off x="4883275" y="4928893"/>
            <a:ext cx="1263167" cy="785472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/>
              <a:t>m</a:t>
            </a:r>
            <a:r>
              <a:rPr kumimoji="1" lang="en-US" b="1" dirty="0" smtClean="0"/>
              <a:t>id</a:t>
            </a:r>
          </a:p>
          <a:p>
            <a:pPr algn="ctr">
              <a:spcBef>
                <a:spcPct val="50000"/>
              </a:spcBef>
            </a:pPr>
            <a:r>
              <a:rPr kumimoji="1" lang="en-US" b="1" dirty="0" smtClean="0"/>
              <a:t>=(8+10)/2</a:t>
            </a:r>
            <a:endParaRPr kumimoji="1" lang="en-US" b="1" dirty="0"/>
          </a:p>
        </p:txBody>
      </p:sp>
      <p:sp>
        <p:nvSpPr>
          <p:cNvPr id="40" name="Line 80"/>
          <p:cNvSpPr>
            <a:spLocks noChangeShapeType="1"/>
          </p:cNvSpPr>
          <p:nvPr/>
        </p:nvSpPr>
        <p:spPr bwMode="auto">
          <a:xfrm flipH="1" flipV="1">
            <a:off x="5486400" y="3844556"/>
            <a:ext cx="12581" cy="1049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Oval 81"/>
          <p:cNvSpPr>
            <a:spLocks noChangeArrowheads="1"/>
          </p:cNvSpPr>
          <p:nvPr/>
        </p:nvSpPr>
        <p:spPr bwMode="auto">
          <a:xfrm>
            <a:off x="5282049" y="3131769"/>
            <a:ext cx="357187" cy="3571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63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 smtClean="0"/>
              <a:t>73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3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4761963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022591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5676363" y="4108081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5942617" y="384455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Rectangle 79"/>
          <p:cNvSpPr>
            <a:spLocks noChangeArrowheads="1"/>
          </p:cNvSpPr>
          <p:nvPr/>
        </p:nvSpPr>
        <p:spPr bwMode="auto">
          <a:xfrm>
            <a:off x="4883275" y="4928893"/>
            <a:ext cx="1263167" cy="785472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/>
              <a:t>m</a:t>
            </a:r>
            <a:r>
              <a:rPr kumimoji="1" lang="en-US" b="1" dirty="0" smtClean="0"/>
              <a:t>id</a:t>
            </a:r>
          </a:p>
          <a:p>
            <a:pPr algn="ctr">
              <a:spcBef>
                <a:spcPct val="50000"/>
              </a:spcBef>
            </a:pPr>
            <a:r>
              <a:rPr kumimoji="1" lang="en-US" b="1" dirty="0" smtClean="0"/>
              <a:t>=(8+10)/2</a:t>
            </a:r>
            <a:endParaRPr kumimoji="1" lang="en-US" b="1" dirty="0"/>
          </a:p>
        </p:txBody>
      </p:sp>
      <p:sp>
        <p:nvSpPr>
          <p:cNvPr id="40" name="Line 80"/>
          <p:cNvSpPr>
            <a:spLocks noChangeShapeType="1"/>
          </p:cNvSpPr>
          <p:nvPr/>
        </p:nvSpPr>
        <p:spPr bwMode="auto">
          <a:xfrm flipH="1" flipV="1">
            <a:off x="5486400" y="3844556"/>
            <a:ext cx="12581" cy="1049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Oval 81"/>
          <p:cNvSpPr>
            <a:spLocks noChangeArrowheads="1"/>
          </p:cNvSpPr>
          <p:nvPr/>
        </p:nvSpPr>
        <p:spPr bwMode="auto">
          <a:xfrm>
            <a:off x="5282049" y="3131769"/>
            <a:ext cx="357187" cy="3571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15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</a:t>
            </a:r>
            <a:r>
              <a:rPr lang="en-US" b="1" dirty="0" smtClean="0"/>
              <a:t>73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Step </a:t>
            </a:r>
            <a:r>
              <a:rPr lang="en-US" b="1" dirty="0" smtClean="0"/>
              <a:t>4</a:t>
            </a:r>
            <a:endParaRPr lang="en-US" b="1" dirty="0"/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5225604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486231" y="3887418"/>
            <a:ext cx="286427" cy="185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6140004" y="4108081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H="1" flipV="1">
            <a:off x="6159321" y="3887418"/>
            <a:ext cx="246937" cy="185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42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Find </a:t>
            </a:r>
            <a:r>
              <a:rPr lang="en-US" b="1" dirty="0" smtClean="0"/>
              <a:t>73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 smtClean="0"/>
              <a:t>Step 4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5225604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486231" y="3887418"/>
            <a:ext cx="286427" cy="185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6140004" y="4108081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H="1" flipV="1">
            <a:off x="6159321" y="3887418"/>
            <a:ext cx="246937" cy="185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Rectangle 79"/>
          <p:cNvSpPr>
            <a:spLocks noChangeArrowheads="1"/>
          </p:cNvSpPr>
          <p:nvPr/>
        </p:nvSpPr>
        <p:spPr bwMode="auto">
          <a:xfrm>
            <a:off x="5281995" y="4928893"/>
            <a:ext cx="1393010" cy="785472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/>
              <a:t>m</a:t>
            </a:r>
            <a:r>
              <a:rPr kumimoji="1" lang="en-US" b="1" dirty="0" smtClean="0"/>
              <a:t>id</a:t>
            </a:r>
          </a:p>
          <a:p>
            <a:pPr algn="ctr">
              <a:spcBef>
                <a:spcPct val="50000"/>
              </a:spcBef>
            </a:pPr>
            <a:r>
              <a:rPr kumimoji="1" lang="en-US" b="1" dirty="0" smtClean="0"/>
              <a:t>=(10+10)/2</a:t>
            </a:r>
            <a:endParaRPr kumimoji="1" lang="en-US" b="1" dirty="0"/>
          </a:p>
        </p:txBody>
      </p:sp>
      <p:sp>
        <p:nvSpPr>
          <p:cNvPr id="40" name="Line 80"/>
          <p:cNvSpPr>
            <a:spLocks noChangeShapeType="1"/>
          </p:cNvSpPr>
          <p:nvPr/>
        </p:nvSpPr>
        <p:spPr bwMode="auto">
          <a:xfrm flipH="1" flipV="1">
            <a:off x="5950041" y="3844556"/>
            <a:ext cx="12581" cy="1049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Oval 81"/>
          <p:cNvSpPr>
            <a:spLocks noChangeArrowheads="1"/>
          </p:cNvSpPr>
          <p:nvPr/>
        </p:nvSpPr>
        <p:spPr bwMode="auto">
          <a:xfrm>
            <a:off x="5745693" y="3118890"/>
            <a:ext cx="357187" cy="3571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25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Retrieving an Item from Sorted List</a:t>
            </a:r>
          </a:p>
        </p:txBody>
      </p:sp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4787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8</a:t>
            </a:r>
          </a:p>
        </p:txBody>
      </p:sp>
      <p:sp>
        <p:nvSpPr>
          <p:cNvPr id="5" name="Rectangle 45"/>
          <p:cNvSpPr>
            <a:spLocks noChangeArrowheads="1"/>
          </p:cNvSpPr>
          <p:nvPr/>
        </p:nvSpPr>
        <p:spPr bwMode="auto">
          <a:xfrm>
            <a:off x="2044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2</a:t>
            </a:r>
          </a:p>
        </p:txBody>
      </p:sp>
      <p:sp>
        <p:nvSpPr>
          <p:cNvPr id="6" name="Rectangle 46"/>
          <p:cNvSpPr>
            <a:spLocks noChangeArrowheads="1"/>
          </p:cNvSpPr>
          <p:nvPr/>
        </p:nvSpPr>
        <p:spPr bwMode="auto">
          <a:xfrm>
            <a:off x="1587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</a:t>
            </a: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2501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3</a:t>
            </a:r>
          </a:p>
        </p:txBody>
      </p:sp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2958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4</a:t>
            </a:r>
          </a:p>
        </p:txBody>
      </p:sp>
      <p:sp>
        <p:nvSpPr>
          <p:cNvPr id="9" name="Rectangle 49"/>
          <p:cNvSpPr>
            <a:spLocks noChangeArrowheads="1"/>
          </p:cNvSpPr>
          <p:nvPr/>
        </p:nvSpPr>
        <p:spPr bwMode="auto">
          <a:xfrm>
            <a:off x="3873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6</a:t>
            </a:r>
          </a:p>
        </p:txBody>
      </p:sp>
      <p:sp>
        <p:nvSpPr>
          <p:cNvPr id="10" name="Rectangle 50"/>
          <p:cNvSpPr>
            <a:spLocks noChangeArrowheads="1"/>
          </p:cNvSpPr>
          <p:nvPr/>
        </p:nvSpPr>
        <p:spPr bwMode="auto">
          <a:xfrm>
            <a:off x="3416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5</a:t>
            </a:r>
          </a:p>
        </p:txBody>
      </p:sp>
      <p:sp>
        <p:nvSpPr>
          <p:cNvPr id="11" name="Rectangle 51"/>
          <p:cNvSpPr>
            <a:spLocks noChangeArrowheads="1"/>
          </p:cNvSpPr>
          <p:nvPr/>
        </p:nvSpPr>
        <p:spPr bwMode="auto">
          <a:xfrm>
            <a:off x="4330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7</a:t>
            </a:r>
          </a:p>
        </p:txBody>
      </p:sp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5702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10</a:t>
            </a:r>
          </a:p>
        </p:txBody>
      </p:sp>
      <p:sp>
        <p:nvSpPr>
          <p:cNvPr id="13" name="Rectangle 53"/>
          <p:cNvSpPr>
            <a:spLocks noChangeArrowheads="1"/>
          </p:cNvSpPr>
          <p:nvPr/>
        </p:nvSpPr>
        <p:spPr bwMode="auto">
          <a:xfrm>
            <a:off x="5244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9</a:t>
            </a:r>
          </a:p>
        </p:txBody>
      </p:sp>
      <p:sp>
        <p:nvSpPr>
          <p:cNvPr id="14" name="Rectangle 54"/>
          <p:cNvSpPr>
            <a:spLocks noChangeArrowheads="1"/>
          </p:cNvSpPr>
          <p:nvPr/>
        </p:nvSpPr>
        <p:spPr bwMode="auto">
          <a:xfrm>
            <a:off x="61593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11</a:t>
            </a:r>
          </a:p>
        </p:txBody>
      </p:sp>
      <p:sp>
        <p:nvSpPr>
          <p:cNvPr id="15" name="Rectangle 55"/>
          <p:cNvSpPr>
            <a:spLocks noChangeArrowheads="1"/>
          </p:cNvSpPr>
          <p:nvPr/>
        </p:nvSpPr>
        <p:spPr bwMode="auto">
          <a:xfrm>
            <a:off x="66165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12</a:t>
            </a:r>
          </a:p>
        </p:txBody>
      </p:sp>
      <p:sp>
        <p:nvSpPr>
          <p:cNvPr id="16" name="Rectangle 56"/>
          <p:cNvSpPr>
            <a:spLocks noChangeArrowheads="1"/>
          </p:cNvSpPr>
          <p:nvPr/>
        </p:nvSpPr>
        <p:spPr bwMode="auto">
          <a:xfrm>
            <a:off x="75309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 dirty="0"/>
              <a:t>14</a:t>
            </a:r>
          </a:p>
        </p:txBody>
      </p:sp>
      <p:sp>
        <p:nvSpPr>
          <p:cNvPr id="17" name="Rectangle 57"/>
          <p:cNvSpPr>
            <a:spLocks noChangeArrowheads="1"/>
          </p:cNvSpPr>
          <p:nvPr/>
        </p:nvSpPr>
        <p:spPr bwMode="auto">
          <a:xfrm>
            <a:off x="70737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13</a:t>
            </a:r>
          </a:p>
        </p:txBody>
      </p:sp>
      <p:sp>
        <p:nvSpPr>
          <p:cNvPr id="18" name="Rectangle 58"/>
          <p:cNvSpPr>
            <a:spLocks noChangeArrowheads="1"/>
          </p:cNvSpPr>
          <p:nvPr/>
        </p:nvSpPr>
        <p:spPr bwMode="auto">
          <a:xfrm>
            <a:off x="1130121" y="3540282"/>
            <a:ext cx="457200" cy="1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sz="900" b="1"/>
              <a:t>0</a:t>
            </a:r>
          </a:p>
        </p:txBody>
      </p:sp>
      <p:sp>
        <p:nvSpPr>
          <p:cNvPr id="19" name="Rectangle 59"/>
          <p:cNvSpPr>
            <a:spLocks noChangeArrowheads="1"/>
          </p:cNvSpPr>
          <p:nvPr/>
        </p:nvSpPr>
        <p:spPr bwMode="auto">
          <a:xfrm>
            <a:off x="4787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64</a:t>
            </a: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2044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14</a:t>
            </a:r>
          </a:p>
        </p:txBody>
      </p:sp>
      <p:sp>
        <p:nvSpPr>
          <p:cNvPr id="21" name="Rectangle 61"/>
          <p:cNvSpPr>
            <a:spLocks noChangeArrowheads="1"/>
          </p:cNvSpPr>
          <p:nvPr/>
        </p:nvSpPr>
        <p:spPr bwMode="auto">
          <a:xfrm>
            <a:off x="1587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13</a:t>
            </a:r>
          </a:p>
        </p:txBody>
      </p:sp>
      <p:sp>
        <p:nvSpPr>
          <p:cNvPr id="22" name="Rectangle 62"/>
          <p:cNvSpPr>
            <a:spLocks noChangeArrowheads="1"/>
          </p:cNvSpPr>
          <p:nvPr/>
        </p:nvSpPr>
        <p:spPr bwMode="auto">
          <a:xfrm>
            <a:off x="2501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25</a:t>
            </a:r>
          </a:p>
        </p:txBody>
      </p:sp>
      <p:sp>
        <p:nvSpPr>
          <p:cNvPr id="23" name="Rectangle 63"/>
          <p:cNvSpPr>
            <a:spLocks noChangeArrowheads="1"/>
          </p:cNvSpPr>
          <p:nvPr/>
        </p:nvSpPr>
        <p:spPr bwMode="auto">
          <a:xfrm>
            <a:off x="2958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33</a:t>
            </a:r>
          </a:p>
        </p:txBody>
      </p:sp>
      <p:sp>
        <p:nvSpPr>
          <p:cNvPr id="24" name="Rectangle 64"/>
          <p:cNvSpPr>
            <a:spLocks noChangeArrowheads="1"/>
          </p:cNvSpPr>
          <p:nvPr/>
        </p:nvSpPr>
        <p:spPr bwMode="auto">
          <a:xfrm>
            <a:off x="3873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51</a:t>
            </a:r>
          </a:p>
        </p:txBody>
      </p:sp>
      <p:sp>
        <p:nvSpPr>
          <p:cNvPr id="25" name="Rectangle 65"/>
          <p:cNvSpPr>
            <a:spLocks noChangeArrowheads="1"/>
          </p:cNvSpPr>
          <p:nvPr/>
        </p:nvSpPr>
        <p:spPr bwMode="auto">
          <a:xfrm>
            <a:off x="3416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43</a:t>
            </a:r>
          </a:p>
        </p:txBody>
      </p:sp>
      <p:sp>
        <p:nvSpPr>
          <p:cNvPr id="26" name="Rectangle 66"/>
          <p:cNvSpPr>
            <a:spLocks noChangeArrowheads="1"/>
          </p:cNvSpPr>
          <p:nvPr/>
        </p:nvSpPr>
        <p:spPr bwMode="auto">
          <a:xfrm>
            <a:off x="4330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 dirty="0"/>
              <a:t>53</a:t>
            </a:r>
          </a:p>
        </p:txBody>
      </p:sp>
      <p:sp>
        <p:nvSpPr>
          <p:cNvPr id="27" name="Rectangle 67"/>
          <p:cNvSpPr>
            <a:spLocks noChangeArrowheads="1"/>
          </p:cNvSpPr>
          <p:nvPr/>
        </p:nvSpPr>
        <p:spPr bwMode="auto">
          <a:xfrm>
            <a:off x="5702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84</a:t>
            </a:r>
          </a:p>
        </p:txBody>
      </p:sp>
      <p:sp>
        <p:nvSpPr>
          <p:cNvPr id="28" name="Rectangle 68"/>
          <p:cNvSpPr>
            <a:spLocks noChangeArrowheads="1"/>
          </p:cNvSpPr>
          <p:nvPr/>
        </p:nvSpPr>
        <p:spPr bwMode="auto">
          <a:xfrm>
            <a:off x="5244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72</a:t>
            </a:r>
          </a:p>
        </p:txBody>
      </p:sp>
      <p:sp>
        <p:nvSpPr>
          <p:cNvPr id="29" name="Rectangle 69"/>
          <p:cNvSpPr>
            <a:spLocks noChangeArrowheads="1"/>
          </p:cNvSpPr>
          <p:nvPr/>
        </p:nvSpPr>
        <p:spPr bwMode="auto">
          <a:xfrm>
            <a:off x="61593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93</a:t>
            </a:r>
          </a:p>
        </p:txBody>
      </p:sp>
      <p:sp>
        <p:nvSpPr>
          <p:cNvPr id="30" name="Rectangle 70"/>
          <p:cNvSpPr>
            <a:spLocks noChangeArrowheads="1"/>
          </p:cNvSpPr>
          <p:nvPr/>
        </p:nvSpPr>
        <p:spPr bwMode="auto">
          <a:xfrm>
            <a:off x="66165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95</a:t>
            </a:r>
          </a:p>
        </p:txBody>
      </p:sp>
      <p:sp>
        <p:nvSpPr>
          <p:cNvPr id="31" name="Rectangle 71"/>
          <p:cNvSpPr>
            <a:spLocks noChangeArrowheads="1"/>
          </p:cNvSpPr>
          <p:nvPr/>
        </p:nvSpPr>
        <p:spPr bwMode="auto">
          <a:xfrm>
            <a:off x="75309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97</a:t>
            </a:r>
          </a:p>
        </p:txBody>
      </p:sp>
      <p:sp>
        <p:nvSpPr>
          <p:cNvPr id="32" name="Rectangle 72"/>
          <p:cNvSpPr>
            <a:spLocks noChangeArrowheads="1"/>
          </p:cNvSpPr>
          <p:nvPr/>
        </p:nvSpPr>
        <p:spPr bwMode="auto">
          <a:xfrm>
            <a:off x="70737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96</a:t>
            </a:r>
          </a:p>
        </p:txBody>
      </p:sp>
      <p:sp>
        <p:nvSpPr>
          <p:cNvPr id="33" name="Rectangle 73"/>
          <p:cNvSpPr>
            <a:spLocks noChangeArrowheads="1"/>
          </p:cNvSpPr>
          <p:nvPr/>
        </p:nvSpPr>
        <p:spPr bwMode="auto">
          <a:xfrm>
            <a:off x="1130121" y="3091019"/>
            <a:ext cx="457200" cy="420688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b="1"/>
              <a:t>6</a:t>
            </a:r>
          </a:p>
        </p:txBody>
      </p:sp>
      <p:sp>
        <p:nvSpPr>
          <p:cNvPr id="34" name="Rectangle 74"/>
          <p:cNvSpPr>
            <a:spLocks noChangeArrowheads="1"/>
          </p:cNvSpPr>
          <p:nvPr/>
        </p:nvSpPr>
        <p:spPr bwMode="auto">
          <a:xfrm>
            <a:off x="5225604" y="4108081"/>
            <a:ext cx="549831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first</a:t>
            </a:r>
            <a:endParaRPr kumimoji="1" lang="en-US" b="1" dirty="0"/>
          </a:p>
        </p:txBody>
      </p:sp>
      <p:sp>
        <p:nvSpPr>
          <p:cNvPr id="35" name="Line 75"/>
          <p:cNvSpPr>
            <a:spLocks noChangeShapeType="1"/>
          </p:cNvSpPr>
          <p:nvPr/>
        </p:nvSpPr>
        <p:spPr bwMode="auto">
          <a:xfrm flipV="1">
            <a:off x="5486231" y="3887418"/>
            <a:ext cx="286427" cy="185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77"/>
          <p:cNvSpPr>
            <a:spLocks noChangeArrowheads="1"/>
          </p:cNvSpPr>
          <p:nvPr/>
        </p:nvSpPr>
        <p:spPr bwMode="auto">
          <a:xfrm>
            <a:off x="4512033" y="4108081"/>
            <a:ext cx="564257" cy="369974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b="1" dirty="0" smtClean="0"/>
              <a:t>last</a:t>
            </a:r>
            <a:endParaRPr kumimoji="1" lang="en-US" b="1" dirty="0"/>
          </a:p>
        </p:txBody>
      </p:sp>
      <p:sp>
        <p:nvSpPr>
          <p:cNvPr id="37" name="Line 78"/>
          <p:cNvSpPr>
            <a:spLocks noChangeShapeType="1"/>
          </p:cNvSpPr>
          <p:nvPr/>
        </p:nvSpPr>
        <p:spPr bwMode="auto">
          <a:xfrm flipV="1">
            <a:off x="4893972" y="3844555"/>
            <a:ext cx="350949" cy="22859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Oval 81"/>
          <p:cNvSpPr>
            <a:spLocks noChangeArrowheads="1"/>
          </p:cNvSpPr>
          <p:nvPr/>
        </p:nvSpPr>
        <p:spPr bwMode="auto">
          <a:xfrm>
            <a:off x="5745693" y="3118890"/>
            <a:ext cx="357187" cy="35718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Find </a:t>
            </a:r>
            <a:r>
              <a:rPr lang="en-US" b="1" dirty="0"/>
              <a:t>73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 smtClean="0"/>
              <a:t>Step 5</a:t>
            </a:r>
          </a:p>
          <a:p>
            <a:endParaRPr lang="en-US" sz="1800" b="1" dirty="0"/>
          </a:p>
          <a:p>
            <a:r>
              <a:rPr lang="en-US" b="1" dirty="0" smtClean="0">
                <a:solidFill>
                  <a:srgbClr val="FF0000"/>
                </a:solidFill>
              </a:rPr>
              <a:t>Item != info[mid] (indicates </a:t>
            </a:r>
            <a:r>
              <a:rPr lang="en-US" b="1" dirty="0">
                <a:solidFill>
                  <a:srgbClr val="FF0000"/>
                </a:solidFill>
              </a:rPr>
              <a:t>the absence of the item)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3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85800"/>
          </a:xfrm>
        </p:spPr>
        <p:txBody>
          <a:bodyPr>
            <a:normAutofit/>
          </a:bodyPr>
          <a:lstStyle/>
          <a:p>
            <a:r>
              <a:rPr lang="en-US" b="1" dirty="0" smtClean="0"/>
              <a:t>Binary Search (recursive)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6800"/>
            <a:ext cx="8505182" cy="527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0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1" y="347980"/>
            <a:ext cx="5791200" cy="642620"/>
          </a:xfrm>
        </p:spPr>
        <p:txBody>
          <a:bodyPr/>
          <a:lstStyle/>
          <a:p>
            <a:r>
              <a:rPr lang="en-US" b="1" dirty="0" smtClean="0"/>
              <a:t>Time complexity 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904" y="1581023"/>
            <a:ext cx="8507095" cy="4438777"/>
          </a:xfrm>
        </p:spPr>
        <p:txBody>
          <a:bodyPr/>
          <a:lstStyle/>
          <a:p>
            <a:pPr algn="just"/>
            <a:r>
              <a:rPr lang="en-US" dirty="0"/>
              <a:t>Examining the algorithm yields the following observations</a:t>
            </a:r>
            <a:r>
              <a:rPr lang="en-US" dirty="0" smtClean="0"/>
              <a:t>:</a:t>
            </a:r>
          </a:p>
          <a:p>
            <a:pPr lvl="1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dirty="0" smtClean="0"/>
              <a:t>The </a:t>
            </a:r>
            <a:r>
              <a:rPr lang="en-US" dirty="0"/>
              <a:t>non-recursive work takes constant time C</a:t>
            </a:r>
            <a:r>
              <a:rPr lang="en-US" dirty="0" smtClean="0"/>
              <a:t>.</a:t>
            </a:r>
          </a:p>
          <a:p>
            <a:pPr lvl="1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dirty="0" smtClean="0"/>
              <a:t>The </a:t>
            </a:r>
            <a:r>
              <a:rPr lang="en-US" dirty="0"/>
              <a:t>single recursive call has input half the size of the original</a:t>
            </a:r>
            <a:r>
              <a:rPr lang="en-US" dirty="0" smtClean="0"/>
              <a:t>.</a:t>
            </a:r>
          </a:p>
          <a:p>
            <a:pPr lvl="1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dirty="0" smtClean="0"/>
              <a:t>The </a:t>
            </a:r>
            <a:r>
              <a:rPr lang="en-US" dirty="0"/>
              <a:t>algorithm terminates when the array has size no larger than one.</a:t>
            </a:r>
          </a:p>
        </p:txBody>
      </p:sp>
    </p:spTree>
    <p:extLst>
      <p:ext uri="{BB962C8B-B14F-4D97-AF65-F5344CB8AC3E}">
        <p14:creationId xmlns:p14="http://schemas.microsoft.com/office/powerpoint/2010/main" val="102667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35013"/>
          </a:xfrm>
        </p:spPr>
        <p:txBody>
          <a:bodyPr>
            <a:normAutofit/>
          </a:bodyPr>
          <a:lstStyle/>
          <a:p>
            <a:r>
              <a:rPr lang="en-US" altLang="zh-CN" b="1" dirty="0" smtClean="0">
                <a:ea typeface="宋体" panose="02010600030101010101" pitchFamily="2" charset="-122"/>
              </a:rPr>
              <a:t>Analysis: solving recurrence</a:t>
            </a:r>
          </a:p>
        </p:txBody>
      </p:sp>
      <p:graphicFrame>
        <p:nvGraphicFramePr>
          <p:cNvPr id="29699" name="Object 3"/>
          <p:cNvGraphicFramePr>
            <a:graphicFrameLocks noChangeAspect="1"/>
          </p:cNvGraphicFramePr>
          <p:nvPr>
            <p:extLst/>
          </p:nvPr>
        </p:nvGraphicFramePr>
        <p:xfrm>
          <a:off x="1252538" y="1864056"/>
          <a:ext cx="2616200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" name="Equation" r:id="rId4" imgW="1371600" imgH="2438280" progId="Equation.3">
                  <p:embed/>
                </p:oleObj>
              </mc:Choice>
              <mc:Fallback>
                <p:oleObj name="Equation" r:id="rId4" imgW="1371600" imgH="243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1864056"/>
                        <a:ext cx="2616200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5165725" y="2041525"/>
            <a:ext cx="38290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/>
              <a:t>Since n=2</a:t>
            </a:r>
            <a:r>
              <a:rPr lang="en-US" baseline="30000"/>
              <a:t>k</a:t>
            </a:r>
            <a:r>
              <a:rPr lang="en-US"/>
              <a:t>, we have k=log</a:t>
            </a:r>
            <a:r>
              <a:rPr lang="en-US" baseline="-25000"/>
              <a:t>2</a:t>
            </a:r>
            <a:r>
              <a:rPr lang="en-US"/>
              <a:t> n</a:t>
            </a:r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>
            <p:extLst/>
          </p:nvPr>
        </p:nvGraphicFramePr>
        <p:xfrm>
          <a:off x="5522913" y="2743200"/>
          <a:ext cx="2541587" cy="162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name="Equation" r:id="rId6" imgW="1333440" imgH="850680" progId="Equation.3">
                  <p:embed/>
                </p:oleObj>
              </mc:Choice>
              <mc:Fallback>
                <p:oleObj name="Equation" r:id="rId6" imgW="1333440" imgH="850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2913" y="2743200"/>
                        <a:ext cx="2541587" cy="162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42328" y="1009651"/>
            <a:ext cx="8382000" cy="516254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q"/>
              <a:defRPr kumimoji="1" sz="24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•"/>
              <a:defRPr kumimoji="1" sz="20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–"/>
              <a:defRPr kumimoji="1"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–"/>
              <a:defRPr kumimoji="1"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>
              <a:defRPr/>
            </a:pPr>
            <a:endParaRPr lang="en-US" kern="0" dirty="0" smtClean="0">
              <a:cs typeface="Times New Roman" panose="02020603050405020304" pitchFamily="18" charset="0"/>
            </a:endParaRPr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457200" y="1219200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b="1" i="1" dirty="0">
                <a:solidFill>
                  <a:srgbClr val="FF0000"/>
                </a:solidFill>
              </a:rPr>
              <a:t>T(n) = </a:t>
            </a:r>
            <a:r>
              <a:rPr kumimoji="1" lang="en-US" b="1" i="1" dirty="0" smtClean="0">
                <a:solidFill>
                  <a:srgbClr val="FF0000"/>
                </a:solidFill>
              </a:rPr>
              <a:t>T(n/2</a:t>
            </a:r>
            <a:r>
              <a:rPr kumimoji="1" lang="en-US" b="1" i="1" dirty="0">
                <a:solidFill>
                  <a:srgbClr val="FF0000"/>
                </a:solidFill>
              </a:rPr>
              <a:t>) + </a:t>
            </a:r>
            <a:r>
              <a:rPr kumimoji="1" lang="en-US" b="1" i="1" dirty="0" smtClean="0">
                <a:solidFill>
                  <a:srgbClr val="FF0000"/>
                </a:solidFill>
              </a:rPr>
              <a:t>O(1), and O(1)=c</a:t>
            </a:r>
            <a:endParaRPr kumimoji="1"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984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Time complexity analysis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2400" y="930533"/>
            <a:ext cx="8763000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To analyze the binary search algorithm, we need to recall that from consideration. </a:t>
            </a:r>
            <a:r>
              <a:rPr lang="en-US" sz="2200" dirty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rPr>
              <a:t>each comparison eliminates about half of the remaining items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What is the maximum number of comparisons this algorithm will require to check the entire list?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If we start with </a:t>
            </a:r>
            <a:r>
              <a:rPr kumimoji="0" lang="en-US" sz="2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n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items, about </a:t>
            </a:r>
            <a:r>
              <a:rPr kumimoji="0" lang="en-US" sz="2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n/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2 items will be left after the first comparison. After the second comparison, there will be about </a:t>
            </a:r>
            <a:r>
              <a:rPr kumimoji="0" lang="en-US" sz="2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n/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4. Then </a:t>
            </a:r>
            <a:r>
              <a:rPr kumimoji="0" lang="en-US" sz="2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n/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8, </a:t>
            </a:r>
            <a:r>
              <a:rPr kumimoji="0" lang="en-US" sz="2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n/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16, and so 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latin typeface="+mj-lt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So </a:t>
            </a:r>
            <a:r>
              <a:rPr lang="en-US" sz="2200" dirty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rPr>
              <a:t>the worst case would be </a:t>
            </a:r>
            <a:endParaRPr lang="en-US" sz="2200" dirty="0" smtClean="0">
              <a:solidFill>
                <a:schemeClr val="tx2"/>
              </a:solidFill>
              <a:latin typeface="+mj-lt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dirty="0" smtClean="0">
                <a:latin typeface="+mj-lt"/>
                <a:cs typeface="Times New Roman" panose="02020603050405020304" pitchFamily="18" charset="0"/>
              </a:rPr>
              <a:t>That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shows the worst case is when you reach N/2</a:t>
            </a:r>
            <a:r>
              <a:rPr lang="en-US" sz="2200" baseline="30000" dirty="0">
                <a:latin typeface="+mj-lt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 where x is such that 2</a:t>
            </a:r>
            <a:r>
              <a:rPr lang="en-US" sz="2200" baseline="30000" dirty="0">
                <a:latin typeface="+mj-lt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 = </a:t>
            </a:r>
            <a:r>
              <a:rPr lang="en-US" sz="2200" dirty="0" smtClean="0">
                <a:latin typeface="+mj-lt"/>
                <a:cs typeface="Times New Roman" panose="02020603050405020304" pitchFamily="18" charset="0"/>
              </a:rPr>
              <a:t>N . Now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since mathematically worst case is when the value </a:t>
            </a:r>
            <a:r>
              <a:rPr lang="en-US" sz="2200" dirty="0" smtClean="0">
                <a:latin typeface="+mj-lt"/>
                <a:cs typeface="Times New Roman" panose="02020603050405020304" pitchFamily="18" charset="0"/>
              </a:rPr>
              <a:t>of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3581400"/>
            <a:ext cx="3334555" cy="990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508" y="5285096"/>
            <a:ext cx="2685184" cy="138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99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7848600" cy="54102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Complexity of the Binary Search Algorithm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Complexity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Binary Search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algorithm is measured by the maximum (worst case) number of Comparisons it performs for searching operations. The searched array is divided by 2 for each comparison/iteration. Therefore, we require at most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comparisons to locate ITEM:</a:t>
            </a:r>
          </a:p>
          <a:p>
            <a:pPr lvl="1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2</a:t>
            </a:r>
            <a:r>
              <a:rPr lang="en-US" sz="2000" i="1" baseline="30000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i="1" baseline="30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or equivalently,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=               + 1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Approximately, equal to log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Example: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a given sorted array contains 1024 elements, then the maximum number of comparisons required is:</a:t>
            </a:r>
          </a:p>
          <a:p>
            <a:pPr lvl="1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log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(1024) = 10 (only 10 comparisons are enough)</a:t>
            </a:r>
          </a:p>
          <a:p>
            <a:pPr lvl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46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073" name="Object 1"/>
          <p:cNvGraphicFramePr>
            <a:graphicFrameLocks noChangeAspect="1"/>
          </p:cNvGraphicFramePr>
          <p:nvPr/>
        </p:nvGraphicFramePr>
        <p:xfrm>
          <a:off x="5732929" y="3160059"/>
          <a:ext cx="914400" cy="40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5" imgW="405872" imgH="177569" progId="Equation.3">
                  <p:embed/>
                </p:oleObj>
              </mc:Choice>
              <mc:Fallback>
                <p:oleObj name="Equation" r:id="rId5" imgW="405872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929" y="3160059"/>
                        <a:ext cx="914400" cy="404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37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7848600" cy="54102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Limitations of the Binary Search Algorithm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The algorithm requires two conditions: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list must be sorted.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One must have direct access to the middle element in any sub list.</a:t>
            </a:r>
          </a:p>
          <a:p>
            <a:pPr lvl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47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8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8229600" cy="54864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Insertion into Arrays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Inserting an element somewhere in the middle of the array require that each subsequent element be moved downward to new locations to accommodate the new element and </a:t>
            </a:r>
            <a:r>
              <a:rPr lang="en-US" sz="1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keep the order of the other elements.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	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Algorithm 4.2: (Inserting into a linear array)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Here LA is linear array with N elements and K is a positive integer such that K&lt;=N. This algorithm inserts an element ITEM into the K-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position in LA.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buNone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Step 1.   Set J:=N</a:t>
            </a:r>
          </a:p>
          <a:p>
            <a:pPr lvl="2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Step 2.   Repeat Steps 3 and 4 while J&gt;=K</a:t>
            </a:r>
          </a:p>
          <a:p>
            <a:pPr lvl="2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Step 3.         Set LA [J+1]: =LA [J]</a:t>
            </a:r>
          </a:p>
          <a:p>
            <a:pPr lvl="2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Step 4.         Set J:=J-1</a:t>
            </a:r>
          </a:p>
          <a:p>
            <a:pPr lvl="2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	  [End of step 2 loop]</a:t>
            </a:r>
          </a:p>
          <a:p>
            <a:pPr lvl="2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Step 5.   Set LA [K]: =ITEM</a:t>
            </a:r>
          </a:p>
          <a:p>
            <a:pPr lvl="2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Step 6.   Set N:=N+1</a:t>
            </a:r>
          </a:p>
          <a:p>
            <a:pPr lvl="2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Step 7.   Exit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48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8229600" cy="54864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Deletion of elements from linear arrays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Deleting an element somewhere in the middle of the array requires that each subsequent element be moved one location upward in order to “fill up” the array.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Algorithm 4.3: (Deleting from a linear array)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Here LA is a linear array with N elements and K is a positive integer such that K≤N. This algorithm deletes the K-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element from LA.</a:t>
            </a:r>
          </a:p>
          <a:p>
            <a:pPr lvl="2">
              <a:buNone/>
            </a:pP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Step 1.    Set ITEM: = LA [K]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Step 2.    Repeat for J=K to N-1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Set LA [J]: =LA [J+1]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      [End of loop]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Step 3.    Set N:=N-1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Step 4.    Exit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49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560704" y="271780"/>
            <a:ext cx="7440296" cy="642620"/>
          </a:xfrm>
        </p:spPr>
        <p:txBody>
          <a:bodyPr/>
          <a:lstStyle/>
          <a:p>
            <a:r>
              <a:rPr lang="en-US" altLang="en-US" dirty="0"/>
              <a:t>"Bubbling Up" the Largest Element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Traverse a collection of elements</a:t>
            </a:r>
          </a:p>
          <a:p>
            <a:pPr lvl="1"/>
            <a:r>
              <a:rPr lang="en-US" altLang="en-US" b="1"/>
              <a:t>Move from the front to the end</a:t>
            </a:r>
          </a:p>
          <a:p>
            <a:pPr lvl="1"/>
            <a:r>
              <a:rPr lang="en-US" altLang="en-US" b="1"/>
              <a:t>“Bubble” the </a:t>
            </a:r>
            <a:r>
              <a:rPr lang="en-US" altLang="en-US" b="1">
                <a:solidFill>
                  <a:srgbClr val="3333FF"/>
                </a:solidFill>
              </a:rPr>
              <a:t>largest value</a:t>
            </a:r>
            <a:r>
              <a:rPr lang="en-US" altLang="en-US" b="1"/>
              <a:t> to the end using </a:t>
            </a:r>
            <a:r>
              <a:rPr lang="en-US" altLang="en-US" b="1">
                <a:solidFill>
                  <a:srgbClr val="3333FF"/>
                </a:solidFill>
              </a:rPr>
              <a:t>pair-wise comparisons and swapping</a:t>
            </a:r>
          </a:p>
        </p:txBody>
      </p:sp>
      <p:sp>
        <p:nvSpPr>
          <p:cNvPr id="210948" name="Rectangle 4"/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949" name="Line 5"/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950" name="Line 6"/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951" name="Line 7"/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952" name="Line 8"/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953" name="Line 9"/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0954" name="Rectangle 10"/>
          <p:cNvSpPr>
            <a:spLocks noChangeArrowheads="1"/>
          </p:cNvSpPr>
          <p:nvPr/>
        </p:nvSpPr>
        <p:spPr bwMode="auto">
          <a:xfrm>
            <a:off x="6958013" y="4767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10955" name="Rectangle 11"/>
          <p:cNvSpPr>
            <a:spLocks noChangeArrowheads="1"/>
          </p:cNvSpPr>
          <p:nvPr/>
        </p:nvSpPr>
        <p:spPr bwMode="auto">
          <a:xfrm>
            <a:off x="4516438" y="47545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12</a:t>
            </a:r>
            <a:endParaRPr lang="en-US" altLang="en-US" b="0"/>
          </a:p>
        </p:txBody>
      </p:sp>
      <p:sp>
        <p:nvSpPr>
          <p:cNvPr id="210956" name="Rectangle 12"/>
          <p:cNvSpPr>
            <a:spLocks noChangeArrowheads="1"/>
          </p:cNvSpPr>
          <p:nvPr/>
        </p:nvSpPr>
        <p:spPr bwMode="auto">
          <a:xfrm>
            <a:off x="343058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35</a:t>
            </a:r>
            <a:endParaRPr lang="en-US" altLang="en-US" b="0"/>
          </a:p>
        </p:txBody>
      </p:sp>
      <p:sp>
        <p:nvSpPr>
          <p:cNvPr id="210957" name="Rectangle 13"/>
          <p:cNvSpPr>
            <a:spLocks noChangeArrowheads="1"/>
          </p:cNvSpPr>
          <p:nvPr/>
        </p:nvSpPr>
        <p:spPr bwMode="auto">
          <a:xfrm>
            <a:off x="234473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42</a:t>
            </a:r>
            <a:endParaRPr lang="en-US" altLang="en-US" b="0"/>
          </a:p>
        </p:txBody>
      </p:sp>
      <p:sp>
        <p:nvSpPr>
          <p:cNvPr id="210958" name="Rectangle 14"/>
          <p:cNvSpPr>
            <a:spLocks noChangeArrowheads="1"/>
          </p:cNvSpPr>
          <p:nvPr/>
        </p:nvSpPr>
        <p:spPr bwMode="auto">
          <a:xfrm>
            <a:off x="1376363" y="47815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77</a:t>
            </a:r>
            <a:endParaRPr lang="en-US" altLang="en-US" b="0"/>
          </a:p>
        </p:txBody>
      </p:sp>
      <p:sp>
        <p:nvSpPr>
          <p:cNvPr id="210959" name="Rectangle 15"/>
          <p:cNvSpPr>
            <a:spLocks noChangeArrowheads="1"/>
          </p:cNvSpPr>
          <p:nvPr/>
        </p:nvSpPr>
        <p:spPr bwMode="auto">
          <a:xfrm>
            <a:off x="5559425" y="4752975"/>
            <a:ext cx="693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101</a:t>
            </a:r>
          </a:p>
        </p:txBody>
      </p:sp>
      <p:sp>
        <p:nvSpPr>
          <p:cNvPr id="210960" name="Rectangle 16"/>
          <p:cNvSpPr>
            <a:spLocks noChangeArrowheads="1"/>
          </p:cNvSpPr>
          <p:nvPr/>
        </p:nvSpPr>
        <p:spPr bwMode="auto">
          <a:xfrm>
            <a:off x="1524000" y="4132263"/>
            <a:ext cx="5754781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1          </a:t>
            </a:r>
            <a:r>
              <a:rPr lang="en-US" altLang="en-US" b="1" dirty="0" smtClean="0">
                <a:solidFill>
                  <a:srgbClr val="0070C0"/>
                </a:solidFill>
              </a:rPr>
              <a:t>       2                  </a:t>
            </a:r>
            <a:r>
              <a:rPr lang="en-US" altLang="en-US" b="1" dirty="0">
                <a:solidFill>
                  <a:srgbClr val="0070C0"/>
                </a:solidFill>
              </a:rPr>
              <a:t>3 </a:t>
            </a:r>
            <a:r>
              <a:rPr lang="en-US" altLang="en-US" b="1" dirty="0" smtClean="0">
                <a:solidFill>
                  <a:srgbClr val="0070C0"/>
                </a:solidFill>
              </a:rPr>
              <a:t>                </a:t>
            </a:r>
            <a:r>
              <a:rPr lang="en-US" altLang="en-US" b="1" dirty="0">
                <a:solidFill>
                  <a:srgbClr val="0070C0"/>
                </a:solidFill>
              </a:rPr>
              <a:t>4 </a:t>
            </a:r>
            <a:r>
              <a:rPr lang="en-US" altLang="en-US" b="1" dirty="0" smtClean="0">
                <a:solidFill>
                  <a:srgbClr val="0070C0"/>
                </a:solidFill>
              </a:rPr>
              <a:t>                  5                     </a:t>
            </a:r>
            <a:r>
              <a:rPr lang="en-US" altLang="en-US" b="1" dirty="0">
                <a:solidFill>
                  <a:srgbClr val="0070C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9667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1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Traverse a collection of elements</a:t>
            </a:r>
          </a:p>
          <a:p>
            <a:pPr lvl="1"/>
            <a:r>
              <a:rPr lang="en-US" altLang="en-US" b="1"/>
              <a:t>Move from the front to the end</a:t>
            </a:r>
          </a:p>
          <a:p>
            <a:pPr lvl="1"/>
            <a:r>
              <a:rPr lang="en-US" altLang="en-US" b="1"/>
              <a:t>“Bubble” the largest value to the end using pair-wise comparisons and swapping</a:t>
            </a:r>
          </a:p>
        </p:txBody>
      </p:sp>
      <p:sp>
        <p:nvSpPr>
          <p:cNvPr id="211972" name="Rectangle 2052"/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73" name="Line 2053"/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74" name="Line 2054"/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75" name="Line 2055"/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76" name="Line 2056"/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77" name="Line 2057"/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78" name="Rectangle 2058"/>
          <p:cNvSpPr>
            <a:spLocks noChangeArrowheads="1"/>
          </p:cNvSpPr>
          <p:nvPr/>
        </p:nvSpPr>
        <p:spPr bwMode="auto">
          <a:xfrm>
            <a:off x="6958013" y="4767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11979" name="Rectangle 2059"/>
          <p:cNvSpPr>
            <a:spLocks noChangeArrowheads="1"/>
          </p:cNvSpPr>
          <p:nvPr/>
        </p:nvSpPr>
        <p:spPr bwMode="auto">
          <a:xfrm>
            <a:off x="4516438" y="47545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12</a:t>
            </a:r>
            <a:endParaRPr lang="en-US" altLang="en-US" b="0"/>
          </a:p>
        </p:txBody>
      </p:sp>
      <p:sp>
        <p:nvSpPr>
          <p:cNvPr id="211980" name="Rectangle 2060"/>
          <p:cNvSpPr>
            <a:spLocks noChangeArrowheads="1"/>
          </p:cNvSpPr>
          <p:nvPr/>
        </p:nvSpPr>
        <p:spPr bwMode="auto">
          <a:xfrm>
            <a:off x="343058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35</a:t>
            </a:r>
            <a:endParaRPr lang="en-US" altLang="en-US" b="0"/>
          </a:p>
        </p:txBody>
      </p:sp>
      <p:sp>
        <p:nvSpPr>
          <p:cNvPr id="211981" name="Rectangle 2061"/>
          <p:cNvSpPr>
            <a:spLocks noChangeArrowheads="1"/>
          </p:cNvSpPr>
          <p:nvPr/>
        </p:nvSpPr>
        <p:spPr bwMode="auto">
          <a:xfrm>
            <a:off x="234473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42</a:t>
            </a:r>
            <a:endParaRPr lang="en-US" altLang="en-US" b="0">
              <a:solidFill>
                <a:srgbClr val="FF0033"/>
              </a:solidFill>
            </a:endParaRPr>
          </a:p>
        </p:txBody>
      </p:sp>
      <p:sp>
        <p:nvSpPr>
          <p:cNvPr id="211982" name="Rectangle 2062"/>
          <p:cNvSpPr>
            <a:spLocks noChangeArrowheads="1"/>
          </p:cNvSpPr>
          <p:nvPr/>
        </p:nvSpPr>
        <p:spPr bwMode="auto">
          <a:xfrm>
            <a:off x="1376363" y="47815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77</a:t>
            </a:r>
            <a:endParaRPr lang="en-US" altLang="en-US" b="0">
              <a:solidFill>
                <a:srgbClr val="FF0033"/>
              </a:solidFill>
            </a:endParaRPr>
          </a:p>
        </p:txBody>
      </p:sp>
      <p:sp>
        <p:nvSpPr>
          <p:cNvPr id="211983" name="Rectangle 2063"/>
          <p:cNvSpPr>
            <a:spLocks noChangeArrowheads="1"/>
          </p:cNvSpPr>
          <p:nvPr/>
        </p:nvSpPr>
        <p:spPr bwMode="auto">
          <a:xfrm>
            <a:off x="5559425" y="4752975"/>
            <a:ext cx="693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101</a:t>
            </a:r>
          </a:p>
        </p:txBody>
      </p:sp>
      <p:sp>
        <p:nvSpPr>
          <p:cNvPr id="211985" name="Rectangle 2065"/>
          <p:cNvSpPr>
            <a:spLocks noChangeArrowheads="1"/>
          </p:cNvSpPr>
          <p:nvPr/>
        </p:nvSpPr>
        <p:spPr bwMode="auto">
          <a:xfrm>
            <a:off x="1211263" y="46005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86" name="Rectangle 2066"/>
          <p:cNvSpPr>
            <a:spLocks noChangeArrowheads="1"/>
          </p:cNvSpPr>
          <p:nvPr/>
        </p:nvSpPr>
        <p:spPr bwMode="auto">
          <a:xfrm>
            <a:off x="2220913" y="46005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1987" name="AutoShape 2067"/>
          <p:cNvSpPr>
            <a:spLocks noChangeArrowheads="1"/>
          </p:cNvSpPr>
          <p:nvPr/>
        </p:nvSpPr>
        <p:spPr bwMode="auto">
          <a:xfrm>
            <a:off x="1011238" y="4132263"/>
            <a:ext cx="241935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Swap</a:t>
            </a:r>
          </a:p>
        </p:txBody>
      </p:sp>
      <p:grpSp>
        <p:nvGrpSpPr>
          <p:cNvPr id="211990" name="Group 2070"/>
          <p:cNvGrpSpPr>
            <a:grpSpLocks/>
          </p:cNvGrpSpPr>
          <p:nvPr/>
        </p:nvGrpSpPr>
        <p:grpSpPr bwMode="auto">
          <a:xfrm>
            <a:off x="1206500" y="4595813"/>
            <a:ext cx="2019300" cy="708025"/>
            <a:chOff x="760" y="2895"/>
            <a:chExt cx="1272" cy="446"/>
          </a:xfrm>
        </p:grpSpPr>
        <p:sp>
          <p:nvSpPr>
            <p:cNvPr id="211988" name="Rectangle 2068"/>
            <p:cNvSpPr>
              <a:spLocks noChangeArrowheads="1"/>
            </p:cNvSpPr>
            <p:nvPr/>
          </p:nvSpPr>
          <p:spPr bwMode="auto"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42</a:t>
              </a:r>
            </a:p>
          </p:txBody>
        </p:sp>
        <p:sp>
          <p:nvSpPr>
            <p:cNvPr id="211989" name="Rectangle 2069"/>
            <p:cNvSpPr>
              <a:spLocks noChangeArrowheads="1"/>
            </p:cNvSpPr>
            <p:nvPr/>
          </p:nvSpPr>
          <p:spPr bwMode="auto"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77</a:t>
              </a:r>
            </a:p>
          </p:txBody>
        </p:sp>
      </p:grpSp>
      <p:sp>
        <p:nvSpPr>
          <p:cNvPr id="24" name="Rectangle 2"/>
          <p:cNvSpPr txBox="1">
            <a:spLocks noChangeArrowheads="1"/>
          </p:cNvSpPr>
          <p:nvPr/>
        </p:nvSpPr>
        <p:spPr>
          <a:xfrm>
            <a:off x="560704" y="271780"/>
            <a:ext cx="7440296" cy="642620"/>
          </a:xfrm>
          <a:prstGeom prst="rect">
            <a:avLst/>
          </a:prstGeom>
        </p:spPr>
        <p:txBody>
          <a:bodyPr lIns="0" tIns="0" rIns="0" bIns="0"/>
          <a:lstStyle>
            <a:lvl1pPr algn="ctr" defTabSz="914400" rtl="0" eaLnBrk="1" latinLnBrk="0" hangingPunct="1">
              <a:spcBef>
                <a:spcPct val="0"/>
              </a:spcBef>
              <a:buNone/>
              <a:defRPr sz="4050" b="0" i="0" kern="1200">
                <a:solidFill>
                  <a:srgbClr val="04617A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altLang="en-US" smtClean="0"/>
              <a:t>"Bubbling Up" the Largest Element</a:t>
            </a:r>
            <a:endParaRPr lang="en-US" altLang="en-US" dirty="0"/>
          </a:p>
        </p:txBody>
      </p:sp>
      <p:sp>
        <p:nvSpPr>
          <p:cNvPr id="25" name="Rectangle 16"/>
          <p:cNvSpPr>
            <a:spLocks noChangeArrowheads="1"/>
          </p:cNvSpPr>
          <p:nvPr/>
        </p:nvSpPr>
        <p:spPr bwMode="auto">
          <a:xfrm>
            <a:off x="1524000" y="4132263"/>
            <a:ext cx="5754781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1          </a:t>
            </a:r>
            <a:r>
              <a:rPr lang="en-US" altLang="en-US" b="1" dirty="0" smtClean="0">
                <a:solidFill>
                  <a:srgbClr val="0070C0"/>
                </a:solidFill>
              </a:rPr>
              <a:t>       2                  </a:t>
            </a:r>
            <a:r>
              <a:rPr lang="en-US" altLang="en-US" b="1" dirty="0">
                <a:solidFill>
                  <a:srgbClr val="0070C0"/>
                </a:solidFill>
              </a:rPr>
              <a:t>3 </a:t>
            </a:r>
            <a:r>
              <a:rPr lang="en-US" altLang="en-US" b="1" dirty="0" smtClean="0">
                <a:solidFill>
                  <a:srgbClr val="0070C0"/>
                </a:solidFill>
              </a:rPr>
              <a:t>                </a:t>
            </a:r>
            <a:r>
              <a:rPr lang="en-US" altLang="en-US" b="1" dirty="0">
                <a:solidFill>
                  <a:srgbClr val="0070C0"/>
                </a:solidFill>
              </a:rPr>
              <a:t>4 </a:t>
            </a:r>
            <a:r>
              <a:rPr lang="en-US" altLang="en-US" b="1" dirty="0" smtClean="0">
                <a:solidFill>
                  <a:srgbClr val="0070C0"/>
                </a:solidFill>
              </a:rPr>
              <a:t>                  5                     </a:t>
            </a:r>
            <a:r>
              <a:rPr lang="en-US" altLang="en-US" b="1" dirty="0">
                <a:solidFill>
                  <a:srgbClr val="0070C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5650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1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1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1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87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Traverse a collection of elements</a:t>
            </a:r>
          </a:p>
          <a:p>
            <a:pPr lvl="1"/>
            <a:r>
              <a:rPr lang="en-US" altLang="en-US" b="1"/>
              <a:t>Move from the front to the end</a:t>
            </a:r>
          </a:p>
          <a:p>
            <a:pPr lvl="1"/>
            <a:r>
              <a:rPr lang="en-US" altLang="en-US" b="1"/>
              <a:t>“Bubble” the largest value to the end using pair-wise comparisons and swapping</a:t>
            </a:r>
          </a:p>
        </p:txBody>
      </p:sp>
      <p:sp>
        <p:nvSpPr>
          <p:cNvPr id="212996" name="Rectangle 4"/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2997" name="Line 5"/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2998" name="Line 6"/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2999" name="Line 7"/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000" name="Line 8"/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001" name="Line 9"/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002" name="Rectangle 10"/>
          <p:cNvSpPr>
            <a:spLocks noChangeArrowheads="1"/>
          </p:cNvSpPr>
          <p:nvPr/>
        </p:nvSpPr>
        <p:spPr bwMode="auto">
          <a:xfrm>
            <a:off x="6958013" y="4767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13003" name="Rectangle 11"/>
          <p:cNvSpPr>
            <a:spLocks noChangeArrowheads="1"/>
          </p:cNvSpPr>
          <p:nvPr/>
        </p:nvSpPr>
        <p:spPr bwMode="auto">
          <a:xfrm>
            <a:off x="4516438" y="47545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12</a:t>
            </a:r>
            <a:endParaRPr lang="en-US" altLang="en-US" b="0"/>
          </a:p>
        </p:txBody>
      </p:sp>
      <p:sp>
        <p:nvSpPr>
          <p:cNvPr id="213004" name="Rectangle 12"/>
          <p:cNvSpPr>
            <a:spLocks noChangeArrowheads="1"/>
          </p:cNvSpPr>
          <p:nvPr/>
        </p:nvSpPr>
        <p:spPr bwMode="auto">
          <a:xfrm>
            <a:off x="343058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35</a:t>
            </a:r>
            <a:endParaRPr lang="en-US" altLang="en-US" b="0">
              <a:solidFill>
                <a:srgbClr val="FF0033"/>
              </a:solidFill>
            </a:endParaRPr>
          </a:p>
        </p:txBody>
      </p:sp>
      <p:sp>
        <p:nvSpPr>
          <p:cNvPr id="213005" name="Rectangle 13"/>
          <p:cNvSpPr>
            <a:spLocks noChangeArrowheads="1"/>
          </p:cNvSpPr>
          <p:nvPr/>
        </p:nvSpPr>
        <p:spPr bwMode="auto">
          <a:xfrm>
            <a:off x="234473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77</a:t>
            </a:r>
            <a:endParaRPr lang="en-US" altLang="en-US" b="0">
              <a:solidFill>
                <a:srgbClr val="FF0033"/>
              </a:solidFill>
            </a:endParaRPr>
          </a:p>
        </p:txBody>
      </p:sp>
      <p:sp>
        <p:nvSpPr>
          <p:cNvPr id="213006" name="Rectangle 14"/>
          <p:cNvSpPr>
            <a:spLocks noChangeArrowheads="1"/>
          </p:cNvSpPr>
          <p:nvPr/>
        </p:nvSpPr>
        <p:spPr bwMode="auto">
          <a:xfrm>
            <a:off x="1376363" y="47815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42</a:t>
            </a:r>
            <a:endParaRPr lang="en-US" altLang="en-US" b="0"/>
          </a:p>
        </p:txBody>
      </p:sp>
      <p:sp>
        <p:nvSpPr>
          <p:cNvPr id="213007" name="Rectangle 15"/>
          <p:cNvSpPr>
            <a:spLocks noChangeArrowheads="1"/>
          </p:cNvSpPr>
          <p:nvPr/>
        </p:nvSpPr>
        <p:spPr bwMode="auto">
          <a:xfrm>
            <a:off x="5559425" y="4752975"/>
            <a:ext cx="693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101</a:t>
            </a:r>
          </a:p>
        </p:txBody>
      </p:sp>
      <p:sp>
        <p:nvSpPr>
          <p:cNvPr id="213009" name="Rectangle 17"/>
          <p:cNvSpPr>
            <a:spLocks noChangeArrowheads="1"/>
          </p:cNvSpPr>
          <p:nvPr/>
        </p:nvSpPr>
        <p:spPr bwMode="auto">
          <a:xfrm>
            <a:off x="2220913" y="45878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010" name="Rectangle 18"/>
          <p:cNvSpPr>
            <a:spLocks noChangeArrowheads="1"/>
          </p:cNvSpPr>
          <p:nvPr/>
        </p:nvSpPr>
        <p:spPr bwMode="auto">
          <a:xfrm>
            <a:off x="3259138" y="45878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3011" name="AutoShape 19"/>
          <p:cNvSpPr>
            <a:spLocks noChangeArrowheads="1"/>
          </p:cNvSpPr>
          <p:nvPr/>
        </p:nvSpPr>
        <p:spPr bwMode="auto">
          <a:xfrm>
            <a:off x="2062163" y="4141788"/>
            <a:ext cx="241935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Swap</a:t>
            </a:r>
          </a:p>
        </p:txBody>
      </p:sp>
      <p:grpSp>
        <p:nvGrpSpPr>
          <p:cNvPr id="213012" name="Group 20"/>
          <p:cNvGrpSpPr>
            <a:grpSpLocks/>
          </p:cNvGrpSpPr>
          <p:nvPr/>
        </p:nvGrpSpPr>
        <p:grpSpPr bwMode="auto">
          <a:xfrm>
            <a:off x="2257425" y="4605338"/>
            <a:ext cx="2019300" cy="708025"/>
            <a:chOff x="760" y="2895"/>
            <a:chExt cx="1272" cy="446"/>
          </a:xfrm>
        </p:grpSpPr>
        <p:sp>
          <p:nvSpPr>
            <p:cNvPr id="213013" name="Rectangle 21"/>
            <p:cNvSpPr>
              <a:spLocks noChangeArrowheads="1"/>
            </p:cNvSpPr>
            <p:nvPr/>
          </p:nvSpPr>
          <p:spPr bwMode="auto"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35</a:t>
              </a:r>
            </a:p>
          </p:txBody>
        </p:sp>
        <p:sp>
          <p:nvSpPr>
            <p:cNvPr id="213014" name="Rectangle 22"/>
            <p:cNvSpPr>
              <a:spLocks noChangeArrowheads="1"/>
            </p:cNvSpPr>
            <p:nvPr/>
          </p:nvSpPr>
          <p:spPr bwMode="auto"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77</a:t>
              </a:r>
            </a:p>
          </p:txBody>
        </p:sp>
      </p:grp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560704" y="271780"/>
            <a:ext cx="7440296" cy="642620"/>
          </a:xfrm>
        </p:spPr>
        <p:txBody>
          <a:bodyPr/>
          <a:lstStyle/>
          <a:p>
            <a:r>
              <a:rPr lang="en-US" altLang="en-US" dirty="0"/>
              <a:t>"Bubbling Up" the Largest Element</a:t>
            </a:r>
          </a:p>
        </p:txBody>
      </p:sp>
      <p:sp>
        <p:nvSpPr>
          <p:cNvPr id="25" name="Rectangle 16"/>
          <p:cNvSpPr>
            <a:spLocks noChangeArrowheads="1"/>
          </p:cNvSpPr>
          <p:nvPr/>
        </p:nvSpPr>
        <p:spPr bwMode="auto">
          <a:xfrm>
            <a:off x="1524000" y="4132263"/>
            <a:ext cx="5754781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1          </a:t>
            </a:r>
            <a:r>
              <a:rPr lang="en-US" altLang="en-US" b="1" dirty="0" smtClean="0">
                <a:solidFill>
                  <a:srgbClr val="0070C0"/>
                </a:solidFill>
              </a:rPr>
              <a:t>       2                  </a:t>
            </a:r>
            <a:r>
              <a:rPr lang="en-US" altLang="en-US" b="1" dirty="0">
                <a:solidFill>
                  <a:srgbClr val="0070C0"/>
                </a:solidFill>
              </a:rPr>
              <a:t>3 </a:t>
            </a:r>
            <a:r>
              <a:rPr lang="en-US" altLang="en-US" b="1" dirty="0" smtClean="0">
                <a:solidFill>
                  <a:srgbClr val="0070C0"/>
                </a:solidFill>
              </a:rPr>
              <a:t>                </a:t>
            </a:r>
            <a:r>
              <a:rPr lang="en-US" altLang="en-US" b="1" dirty="0">
                <a:solidFill>
                  <a:srgbClr val="0070C0"/>
                </a:solidFill>
              </a:rPr>
              <a:t>4 </a:t>
            </a:r>
            <a:r>
              <a:rPr lang="en-US" altLang="en-US" b="1" dirty="0" smtClean="0">
                <a:solidFill>
                  <a:srgbClr val="0070C0"/>
                </a:solidFill>
              </a:rPr>
              <a:t>                  5                     </a:t>
            </a:r>
            <a:r>
              <a:rPr lang="en-US" altLang="en-US" b="1" dirty="0">
                <a:solidFill>
                  <a:srgbClr val="0070C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8402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011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Traverse a collection of elements</a:t>
            </a:r>
          </a:p>
          <a:p>
            <a:pPr lvl="1"/>
            <a:r>
              <a:rPr lang="en-US" altLang="en-US" b="1"/>
              <a:t>Move from the front to the end</a:t>
            </a:r>
          </a:p>
          <a:p>
            <a:pPr lvl="1"/>
            <a:r>
              <a:rPr lang="en-US" altLang="en-US" b="1"/>
              <a:t>“Bubble” the largest value to the end using pair-wise comparisons and swapping</a:t>
            </a:r>
          </a:p>
        </p:txBody>
      </p:sp>
      <p:sp>
        <p:nvSpPr>
          <p:cNvPr id="214020" name="Rectangle 4"/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1" name="Line 5"/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2" name="Line 6"/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3" name="Line 7"/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4" name="Line 8"/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5" name="Line 9"/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26" name="Rectangle 10"/>
          <p:cNvSpPr>
            <a:spLocks noChangeArrowheads="1"/>
          </p:cNvSpPr>
          <p:nvPr/>
        </p:nvSpPr>
        <p:spPr bwMode="auto">
          <a:xfrm>
            <a:off x="6958013" y="4767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14027" name="Rectangle 11"/>
          <p:cNvSpPr>
            <a:spLocks noChangeArrowheads="1"/>
          </p:cNvSpPr>
          <p:nvPr/>
        </p:nvSpPr>
        <p:spPr bwMode="auto">
          <a:xfrm>
            <a:off x="4516438" y="47545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12</a:t>
            </a:r>
            <a:endParaRPr lang="en-US" altLang="en-US" b="0">
              <a:solidFill>
                <a:srgbClr val="FF0033"/>
              </a:solidFill>
            </a:endParaRPr>
          </a:p>
        </p:txBody>
      </p:sp>
      <p:sp>
        <p:nvSpPr>
          <p:cNvPr id="214028" name="Rectangle 12"/>
          <p:cNvSpPr>
            <a:spLocks noChangeArrowheads="1"/>
          </p:cNvSpPr>
          <p:nvPr/>
        </p:nvSpPr>
        <p:spPr bwMode="auto">
          <a:xfrm>
            <a:off x="343058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77</a:t>
            </a:r>
            <a:endParaRPr lang="en-US" altLang="en-US" b="0">
              <a:solidFill>
                <a:srgbClr val="FF0033"/>
              </a:solidFill>
            </a:endParaRPr>
          </a:p>
        </p:txBody>
      </p:sp>
      <p:sp>
        <p:nvSpPr>
          <p:cNvPr id="214029" name="Rectangle 13"/>
          <p:cNvSpPr>
            <a:spLocks noChangeArrowheads="1"/>
          </p:cNvSpPr>
          <p:nvPr/>
        </p:nvSpPr>
        <p:spPr bwMode="auto">
          <a:xfrm>
            <a:off x="234473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35</a:t>
            </a:r>
            <a:endParaRPr lang="en-US" altLang="en-US" b="0"/>
          </a:p>
        </p:txBody>
      </p:sp>
      <p:sp>
        <p:nvSpPr>
          <p:cNvPr id="214030" name="Rectangle 14"/>
          <p:cNvSpPr>
            <a:spLocks noChangeArrowheads="1"/>
          </p:cNvSpPr>
          <p:nvPr/>
        </p:nvSpPr>
        <p:spPr bwMode="auto">
          <a:xfrm>
            <a:off x="1376363" y="47815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42</a:t>
            </a:r>
            <a:endParaRPr lang="en-US" altLang="en-US" b="0"/>
          </a:p>
        </p:txBody>
      </p:sp>
      <p:sp>
        <p:nvSpPr>
          <p:cNvPr id="214031" name="Rectangle 15"/>
          <p:cNvSpPr>
            <a:spLocks noChangeArrowheads="1"/>
          </p:cNvSpPr>
          <p:nvPr/>
        </p:nvSpPr>
        <p:spPr bwMode="auto">
          <a:xfrm>
            <a:off x="5559425" y="4752975"/>
            <a:ext cx="693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101</a:t>
            </a:r>
          </a:p>
        </p:txBody>
      </p:sp>
      <p:sp>
        <p:nvSpPr>
          <p:cNvPr id="214033" name="Rectangle 17"/>
          <p:cNvSpPr>
            <a:spLocks noChangeArrowheads="1"/>
          </p:cNvSpPr>
          <p:nvPr/>
        </p:nvSpPr>
        <p:spPr bwMode="auto">
          <a:xfrm>
            <a:off x="3267075" y="4600575"/>
            <a:ext cx="1009650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34" name="Rectangle 18"/>
          <p:cNvSpPr>
            <a:spLocks noChangeArrowheads="1"/>
          </p:cNvSpPr>
          <p:nvPr/>
        </p:nvSpPr>
        <p:spPr bwMode="auto">
          <a:xfrm>
            <a:off x="4276725" y="4600575"/>
            <a:ext cx="1095375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4035" name="AutoShape 19"/>
          <p:cNvSpPr>
            <a:spLocks noChangeArrowheads="1"/>
          </p:cNvSpPr>
          <p:nvPr/>
        </p:nvSpPr>
        <p:spPr bwMode="auto">
          <a:xfrm>
            <a:off x="3057525" y="4132263"/>
            <a:ext cx="250190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Swap</a:t>
            </a:r>
          </a:p>
        </p:txBody>
      </p:sp>
      <p:grpSp>
        <p:nvGrpSpPr>
          <p:cNvPr id="214036" name="Group 20"/>
          <p:cNvGrpSpPr>
            <a:grpSpLocks/>
          </p:cNvGrpSpPr>
          <p:nvPr/>
        </p:nvGrpSpPr>
        <p:grpSpPr bwMode="auto">
          <a:xfrm>
            <a:off x="3267075" y="4595813"/>
            <a:ext cx="2087563" cy="708025"/>
            <a:chOff x="760" y="2895"/>
            <a:chExt cx="1272" cy="446"/>
          </a:xfrm>
        </p:grpSpPr>
        <p:sp>
          <p:nvSpPr>
            <p:cNvPr id="214037" name="Rectangle 21"/>
            <p:cNvSpPr>
              <a:spLocks noChangeArrowheads="1"/>
            </p:cNvSpPr>
            <p:nvPr/>
          </p:nvSpPr>
          <p:spPr bwMode="auto"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12</a:t>
              </a:r>
            </a:p>
          </p:txBody>
        </p:sp>
        <p:sp>
          <p:nvSpPr>
            <p:cNvPr id="214038" name="Rectangle 22"/>
            <p:cNvSpPr>
              <a:spLocks noChangeArrowheads="1"/>
            </p:cNvSpPr>
            <p:nvPr/>
          </p:nvSpPr>
          <p:spPr bwMode="auto"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77</a:t>
              </a:r>
            </a:p>
          </p:txBody>
        </p:sp>
      </p:grp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560704" y="271780"/>
            <a:ext cx="7440296" cy="642620"/>
          </a:xfrm>
        </p:spPr>
        <p:txBody>
          <a:bodyPr/>
          <a:lstStyle/>
          <a:p>
            <a:r>
              <a:rPr lang="en-US" altLang="en-US" dirty="0"/>
              <a:t>"Bubbling Up" the Largest Element</a:t>
            </a:r>
          </a:p>
        </p:txBody>
      </p:sp>
      <p:sp>
        <p:nvSpPr>
          <p:cNvPr id="25" name="Rectangle 16"/>
          <p:cNvSpPr>
            <a:spLocks noChangeArrowheads="1"/>
          </p:cNvSpPr>
          <p:nvPr/>
        </p:nvSpPr>
        <p:spPr bwMode="auto">
          <a:xfrm>
            <a:off x="1524000" y="4132263"/>
            <a:ext cx="5754781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1          </a:t>
            </a:r>
            <a:r>
              <a:rPr lang="en-US" altLang="en-US" b="1" dirty="0" smtClean="0">
                <a:solidFill>
                  <a:srgbClr val="0070C0"/>
                </a:solidFill>
              </a:rPr>
              <a:t>       2                  </a:t>
            </a:r>
            <a:r>
              <a:rPr lang="en-US" altLang="en-US" b="1" dirty="0">
                <a:solidFill>
                  <a:srgbClr val="0070C0"/>
                </a:solidFill>
              </a:rPr>
              <a:t>3 </a:t>
            </a:r>
            <a:r>
              <a:rPr lang="en-US" altLang="en-US" b="1" dirty="0" smtClean="0">
                <a:solidFill>
                  <a:srgbClr val="0070C0"/>
                </a:solidFill>
              </a:rPr>
              <a:t>                </a:t>
            </a:r>
            <a:r>
              <a:rPr lang="en-US" altLang="en-US" b="1" dirty="0">
                <a:solidFill>
                  <a:srgbClr val="0070C0"/>
                </a:solidFill>
              </a:rPr>
              <a:t>4 </a:t>
            </a:r>
            <a:r>
              <a:rPr lang="en-US" altLang="en-US" b="1" dirty="0" smtClean="0">
                <a:solidFill>
                  <a:srgbClr val="0070C0"/>
                </a:solidFill>
              </a:rPr>
              <a:t>                  5                     </a:t>
            </a:r>
            <a:r>
              <a:rPr lang="en-US" altLang="en-US" b="1" dirty="0">
                <a:solidFill>
                  <a:srgbClr val="0070C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4904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4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4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1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35" grpId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Traverse a collection of elements</a:t>
            </a:r>
          </a:p>
          <a:p>
            <a:pPr lvl="1"/>
            <a:r>
              <a:rPr lang="en-US" altLang="en-US" b="1"/>
              <a:t>Move from the front to the end</a:t>
            </a:r>
          </a:p>
          <a:p>
            <a:pPr lvl="1"/>
            <a:r>
              <a:rPr lang="en-US" altLang="en-US" b="1"/>
              <a:t>“Bubble” the largest value to the end using pair-wise comparisons and swapping</a:t>
            </a:r>
          </a:p>
        </p:txBody>
      </p:sp>
      <p:sp>
        <p:nvSpPr>
          <p:cNvPr id="215044" name="Rectangle 1028"/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45" name="Line 1029"/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46" name="Line 1030"/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47" name="Line 1031"/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48" name="Line 1032"/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49" name="Line 1033"/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50" name="Rectangle 1034"/>
          <p:cNvSpPr>
            <a:spLocks noChangeArrowheads="1"/>
          </p:cNvSpPr>
          <p:nvPr/>
        </p:nvSpPr>
        <p:spPr bwMode="auto">
          <a:xfrm>
            <a:off x="6958013" y="4767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15051" name="Rectangle 1035"/>
          <p:cNvSpPr>
            <a:spLocks noChangeArrowheads="1"/>
          </p:cNvSpPr>
          <p:nvPr/>
        </p:nvSpPr>
        <p:spPr bwMode="auto">
          <a:xfrm>
            <a:off x="4516438" y="47545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77</a:t>
            </a:r>
            <a:endParaRPr lang="en-US" altLang="en-US" b="0">
              <a:solidFill>
                <a:srgbClr val="FF0033"/>
              </a:solidFill>
            </a:endParaRPr>
          </a:p>
        </p:txBody>
      </p:sp>
      <p:sp>
        <p:nvSpPr>
          <p:cNvPr id="215052" name="Rectangle 1036"/>
          <p:cNvSpPr>
            <a:spLocks noChangeArrowheads="1"/>
          </p:cNvSpPr>
          <p:nvPr/>
        </p:nvSpPr>
        <p:spPr bwMode="auto">
          <a:xfrm>
            <a:off x="343058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12</a:t>
            </a:r>
            <a:endParaRPr lang="en-US" altLang="en-US" b="0"/>
          </a:p>
        </p:txBody>
      </p:sp>
      <p:sp>
        <p:nvSpPr>
          <p:cNvPr id="215053" name="Rectangle 1037"/>
          <p:cNvSpPr>
            <a:spLocks noChangeArrowheads="1"/>
          </p:cNvSpPr>
          <p:nvPr/>
        </p:nvSpPr>
        <p:spPr bwMode="auto">
          <a:xfrm>
            <a:off x="234473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35</a:t>
            </a:r>
            <a:endParaRPr lang="en-US" altLang="en-US" b="0"/>
          </a:p>
        </p:txBody>
      </p:sp>
      <p:sp>
        <p:nvSpPr>
          <p:cNvPr id="215054" name="Rectangle 1038"/>
          <p:cNvSpPr>
            <a:spLocks noChangeArrowheads="1"/>
          </p:cNvSpPr>
          <p:nvPr/>
        </p:nvSpPr>
        <p:spPr bwMode="auto">
          <a:xfrm>
            <a:off x="1376363" y="47815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42</a:t>
            </a:r>
            <a:endParaRPr lang="en-US" altLang="en-US" b="0"/>
          </a:p>
        </p:txBody>
      </p:sp>
      <p:sp>
        <p:nvSpPr>
          <p:cNvPr id="215055" name="Rectangle 1039"/>
          <p:cNvSpPr>
            <a:spLocks noChangeArrowheads="1"/>
          </p:cNvSpPr>
          <p:nvPr/>
        </p:nvSpPr>
        <p:spPr bwMode="auto">
          <a:xfrm>
            <a:off x="5559425" y="4752975"/>
            <a:ext cx="693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101</a:t>
            </a:r>
          </a:p>
        </p:txBody>
      </p:sp>
      <p:sp>
        <p:nvSpPr>
          <p:cNvPr id="215057" name="Rectangle 1041"/>
          <p:cNvSpPr>
            <a:spLocks noChangeArrowheads="1"/>
          </p:cNvSpPr>
          <p:nvPr/>
        </p:nvSpPr>
        <p:spPr bwMode="auto">
          <a:xfrm>
            <a:off x="4291013" y="4587875"/>
            <a:ext cx="1081087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58" name="Rectangle 1042"/>
          <p:cNvSpPr>
            <a:spLocks noChangeArrowheads="1"/>
          </p:cNvSpPr>
          <p:nvPr/>
        </p:nvSpPr>
        <p:spPr bwMode="auto">
          <a:xfrm>
            <a:off x="5386388" y="4587875"/>
            <a:ext cx="1152525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063" name="Text Box 1047"/>
          <p:cNvSpPr txBox="1">
            <a:spLocks noChangeArrowheads="1"/>
          </p:cNvSpPr>
          <p:nvPr/>
        </p:nvSpPr>
        <p:spPr bwMode="auto">
          <a:xfrm>
            <a:off x="4157663" y="5454650"/>
            <a:ext cx="2603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No need to swap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560704" y="271780"/>
            <a:ext cx="7440296" cy="642620"/>
          </a:xfrm>
        </p:spPr>
        <p:txBody>
          <a:bodyPr/>
          <a:lstStyle/>
          <a:p>
            <a:r>
              <a:rPr lang="en-US" altLang="en-US" dirty="0"/>
              <a:t>"Bubbling Up" the Largest Element</a:t>
            </a:r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1524000" y="4132263"/>
            <a:ext cx="5754781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1          </a:t>
            </a:r>
            <a:r>
              <a:rPr lang="en-US" altLang="en-US" b="1" dirty="0" smtClean="0">
                <a:solidFill>
                  <a:srgbClr val="0070C0"/>
                </a:solidFill>
              </a:rPr>
              <a:t>       2                  </a:t>
            </a:r>
            <a:r>
              <a:rPr lang="en-US" altLang="en-US" b="1" dirty="0">
                <a:solidFill>
                  <a:srgbClr val="0070C0"/>
                </a:solidFill>
              </a:rPr>
              <a:t>3 </a:t>
            </a:r>
            <a:r>
              <a:rPr lang="en-US" altLang="en-US" b="1" dirty="0" smtClean="0">
                <a:solidFill>
                  <a:srgbClr val="0070C0"/>
                </a:solidFill>
              </a:rPr>
              <a:t>                </a:t>
            </a:r>
            <a:r>
              <a:rPr lang="en-US" altLang="en-US" b="1" dirty="0">
                <a:solidFill>
                  <a:srgbClr val="0070C0"/>
                </a:solidFill>
              </a:rPr>
              <a:t>4 </a:t>
            </a:r>
            <a:r>
              <a:rPr lang="en-US" altLang="en-US" b="1" dirty="0" smtClean="0">
                <a:solidFill>
                  <a:srgbClr val="0070C0"/>
                </a:solidFill>
              </a:rPr>
              <a:t>                  5                     </a:t>
            </a:r>
            <a:r>
              <a:rPr lang="en-US" altLang="en-US" b="1" dirty="0">
                <a:solidFill>
                  <a:srgbClr val="0070C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781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Traverse a collection of elements</a:t>
            </a:r>
          </a:p>
          <a:p>
            <a:pPr lvl="1"/>
            <a:r>
              <a:rPr lang="en-US" altLang="en-US" b="1"/>
              <a:t>Move from the front to the end</a:t>
            </a:r>
          </a:p>
          <a:p>
            <a:pPr lvl="1"/>
            <a:r>
              <a:rPr lang="en-US" altLang="en-US" b="1"/>
              <a:t>“Bubble” the largest value to the end using pair-wise comparisons and swapping</a:t>
            </a:r>
          </a:p>
        </p:txBody>
      </p:sp>
      <p:sp>
        <p:nvSpPr>
          <p:cNvPr id="216068" name="Rectangle 4"/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69" name="Line 5"/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70" name="Line 6"/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71" name="Line 7"/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72" name="Line 8"/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73" name="Line 9"/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74" name="Rectangle 10"/>
          <p:cNvSpPr>
            <a:spLocks noChangeArrowheads="1"/>
          </p:cNvSpPr>
          <p:nvPr/>
        </p:nvSpPr>
        <p:spPr bwMode="auto">
          <a:xfrm>
            <a:off x="6958013" y="4767263"/>
            <a:ext cx="354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5</a:t>
            </a:r>
          </a:p>
        </p:txBody>
      </p:sp>
      <p:sp>
        <p:nvSpPr>
          <p:cNvPr id="216075" name="Rectangle 11"/>
          <p:cNvSpPr>
            <a:spLocks noChangeArrowheads="1"/>
          </p:cNvSpPr>
          <p:nvPr/>
        </p:nvSpPr>
        <p:spPr bwMode="auto">
          <a:xfrm>
            <a:off x="4516438" y="47545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77</a:t>
            </a:r>
            <a:endParaRPr lang="en-US" altLang="en-US" b="0"/>
          </a:p>
        </p:txBody>
      </p:sp>
      <p:sp>
        <p:nvSpPr>
          <p:cNvPr id="216076" name="Rectangle 12"/>
          <p:cNvSpPr>
            <a:spLocks noChangeArrowheads="1"/>
          </p:cNvSpPr>
          <p:nvPr/>
        </p:nvSpPr>
        <p:spPr bwMode="auto">
          <a:xfrm>
            <a:off x="343058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12</a:t>
            </a:r>
            <a:endParaRPr lang="en-US" altLang="en-US" b="0"/>
          </a:p>
        </p:txBody>
      </p:sp>
      <p:sp>
        <p:nvSpPr>
          <p:cNvPr id="216077" name="Rectangle 13"/>
          <p:cNvSpPr>
            <a:spLocks noChangeArrowheads="1"/>
          </p:cNvSpPr>
          <p:nvPr/>
        </p:nvSpPr>
        <p:spPr bwMode="auto">
          <a:xfrm>
            <a:off x="234473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35</a:t>
            </a:r>
            <a:endParaRPr lang="en-US" altLang="en-US" b="0"/>
          </a:p>
        </p:txBody>
      </p:sp>
      <p:sp>
        <p:nvSpPr>
          <p:cNvPr id="216078" name="Rectangle 14"/>
          <p:cNvSpPr>
            <a:spLocks noChangeArrowheads="1"/>
          </p:cNvSpPr>
          <p:nvPr/>
        </p:nvSpPr>
        <p:spPr bwMode="auto">
          <a:xfrm>
            <a:off x="1376363" y="47815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42</a:t>
            </a:r>
            <a:endParaRPr lang="en-US" altLang="en-US" b="0"/>
          </a:p>
        </p:txBody>
      </p:sp>
      <p:sp>
        <p:nvSpPr>
          <p:cNvPr id="216079" name="Rectangle 15"/>
          <p:cNvSpPr>
            <a:spLocks noChangeArrowheads="1"/>
          </p:cNvSpPr>
          <p:nvPr/>
        </p:nvSpPr>
        <p:spPr bwMode="auto">
          <a:xfrm>
            <a:off x="5559425" y="4752975"/>
            <a:ext cx="693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>
                <a:solidFill>
                  <a:srgbClr val="FF0033"/>
                </a:solidFill>
              </a:rPr>
              <a:t>101</a:t>
            </a:r>
          </a:p>
        </p:txBody>
      </p:sp>
      <p:sp>
        <p:nvSpPr>
          <p:cNvPr id="216081" name="Rectangle 17"/>
          <p:cNvSpPr>
            <a:spLocks noChangeArrowheads="1"/>
          </p:cNvSpPr>
          <p:nvPr/>
        </p:nvSpPr>
        <p:spPr bwMode="auto">
          <a:xfrm>
            <a:off x="5400675" y="4584700"/>
            <a:ext cx="1139825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82" name="Rectangle 18"/>
          <p:cNvSpPr>
            <a:spLocks noChangeArrowheads="1"/>
          </p:cNvSpPr>
          <p:nvPr/>
        </p:nvSpPr>
        <p:spPr bwMode="auto">
          <a:xfrm>
            <a:off x="6553200" y="4584700"/>
            <a:ext cx="1152525" cy="708025"/>
          </a:xfrm>
          <a:prstGeom prst="rect">
            <a:avLst/>
          </a:prstGeom>
          <a:noFill/>
          <a:ln w="76200">
            <a:solidFill>
              <a:srgbClr val="FF0033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083" name="AutoShape 19"/>
          <p:cNvSpPr>
            <a:spLocks noChangeArrowheads="1"/>
          </p:cNvSpPr>
          <p:nvPr/>
        </p:nvSpPr>
        <p:spPr bwMode="auto">
          <a:xfrm>
            <a:off x="5289550" y="4156075"/>
            <a:ext cx="2501900" cy="1536700"/>
          </a:xfrm>
          <a:prstGeom prst="irregularSeal1">
            <a:avLst/>
          </a:prstGeom>
          <a:solidFill>
            <a:srgbClr val="FFCC00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Swap</a:t>
            </a:r>
          </a:p>
        </p:txBody>
      </p:sp>
      <p:grpSp>
        <p:nvGrpSpPr>
          <p:cNvPr id="216084" name="Group 20"/>
          <p:cNvGrpSpPr>
            <a:grpSpLocks/>
          </p:cNvGrpSpPr>
          <p:nvPr/>
        </p:nvGrpSpPr>
        <p:grpSpPr bwMode="auto">
          <a:xfrm>
            <a:off x="5400675" y="4591050"/>
            <a:ext cx="2328863" cy="708025"/>
            <a:chOff x="760" y="2895"/>
            <a:chExt cx="1272" cy="446"/>
          </a:xfrm>
        </p:grpSpPr>
        <p:sp>
          <p:nvSpPr>
            <p:cNvPr id="216085" name="Rectangle 21"/>
            <p:cNvSpPr>
              <a:spLocks noChangeArrowheads="1"/>
            </p:cNvSpPr>
            <p:nvPr/>
          </p:nvSpPr>
          <p:spPr bwMode="auto">
            <a:xfrm>
              <a:off x="760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5</a:t>
              </a:r>
            </a:p>
          </p:txBody>
        </p:sp>
        <p:sp>
          <p:nvSpPr>
            <p:cNvPr id="216086" name="Rectangle 22"/>
            <p:cNvSpPr>
              <a:spLocks noChangeArrowheads="1"/>
            </p:cNvSpPr>
            <p:nvPr/>
          </p:nvSpPr>
          <p:spPr bwMode="auto">
            <a:xfrm>
              <a:off x="1396" y="2895"/>
              <a:ext cx="636" cy="44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FF00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101</a:t>
              </a:r>
            </a:p>
          </p:txBody>
        </p:sp>
      </p:grp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560704" y="271780"/>
            <a:ext cx="7440296" cy="642620"/>
          </a:xfrm>
        </p:spPr>
        <p:txBody>
          <a:bodyPr/>
          <a:lstStyle/>
          <a:p>
            <a:r>
              <a:rPr lang="en-US" altLang="en-US" dirty="0"/>
              <a:t>"Bubbling Up" the Largest Element</a:t>
            </a:r>
          </a:p>
        </p:txBody>
      </p:sp>
      <p:sp>
        <p:nvSpPr>
          <p:cNvPr id="25" name="Rectangle 16"/>
          <p:cNvSpPr>
            <a:spLocks noChangeArrowheads="1"/>
          </p:cNvSpPr>
          <p:nvPr/>
        </p:nvSpPr>
        <p:spPr bwMode="auto">
          <a:xfrm>
            <a:off x="1524000" y="4132263"/>
            <a:ext cx="5754781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1          </a:t>
            </a:r>
            <a:r>
              <a:rPr lang="en-US" altLang="en-US" b="1" dirty="0" smtClean="0">
                <a:solidFill>
                  <a:srgbClr val="0070C0"/>
                </a:solidFill>
              </a:rPr>
              <a:t>       2                  </a:t>
            </a:r>
            <a:r>
              <a:rPr lang="en-US" altLang="en-US" b="1" dirty="0">
                <a:solidFill>
                  <a:srgbClr val="0070C0"/>
                </a:solidFill>
              </a:rPr>
              <a:t>3 </a:t>
            </a:r>
            <a:r>
              <a:rPr lang="en-US" altLang="en-US" b="1" dirty="0" smtClean="0">
                <a:solidFill>
                  <a:srgbClr val="0070C0"/>
                </a:solidFill>
              </a:rPr>
              <a:t>                </a:t>
            </a:r>
            <a:r>
              <a:rPr lang="en-US" altLang="en-US" b="1" dirty="0">
                <a:solidFill>
                  <a:srgbClr val="0070C0"/>
                </a:solidFill>
              </a:rPr>
              <a:t>4 </a:t>
            </a:r>
            <a:r>
              <a:rPr lang="en-US" altLang="en-US" b="1" dirty="0" smtClean="0">
                <a:solidFill>
                  <a:srgbClr val="0070C0"/>
                </a:solidFill>
              </a:rPr>
              <a:t>                  5                     </a:t>
            </a:r>
            <a:r>
              <a:rPr lang="en-US" altLang="en-US" b="1" dirty="0">
                <a:solidFill>
                  <a:srgbClr val="0070C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12678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1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83" grpId="0" animBg="1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Traverse a collection of elements</a:t>
            </a:r>
          </a:p>
          <a:p>
            <a:pPr lvl="1"/>
            <a:r>
              <a:rPr lang="en-US" altLang="en-US" b="1"/>
              <a:t>Move from the front to the end</a:t>
            </a:r>
          </a:p>
          <a:p>
            <a:pPr lvl="1"/>
            <a:r>
              <a:rPr lang="en-US" altLang="en-US" b="1"/>
              <a:t>“Bubble” the largest value to the end using pair-wise comparisons and swapping</a:t>
            </a:r>
          </a:p>
        </p:txBody>
      </p:sp>
      <p:sp>
        <p:nvSpPr>
          <p:cNvPr id="217092" name="Rectangle 4"/>
          <p:cNvSpPr>
            <a:spLocks noChangeArrowheads="1"/>
          </p:cNvSpPr>
          <p:nvPr/>
        </p:nvSpPr>
        <p:spPr bwMode="auto">
          <a:xfrm>
            <a:off x="1211263" y="4592638"/>
            <a:ext cx="6518275" cy="7159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093" name="Line 5"/>
          <p:cNvSpPr>
            <a:spLocks noChangeShapeType="1"/>
          </p:cNvSpPr>
          <p:nvPr/>
        </p:nvSpPr>
        <p:spPr bwMode="auto">
          <a:xfrm>
            <a:off x="2220913" y="4587875"/>
            <a:ext cx="0" cy="712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094" name="Line 6"/>
          <p:cNvSpPr>
            <a:spLocks noChangeShapeType="1"/>
          </p:cNvSpPr>
          <p:nvPr/>
        </p:nvSpPr>
        <p:spPr bwMode="auto">
          <a:xfrm>
            <a:off x="3238500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095" name="Line 7"/>
          <p:cNvSpPr>
            <a:spLocks noChangeShapeType="1"/>
          </p:cNvSpPr>
          <p:nvPr/>
        </p:nvSpPr>
        <p:spPr bwMode="auto">
          <a:xfrm>
            <a:off x="4276725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096" name="Line 8"/>
          <p:cNvSpPr>
            <a:spLocks noChangeShapeType="1"/>
          </p:cNvSpPr>
          <p:nvPr/>
        </p:nvSpPr>
        <p:spPr bwMode="auto">
          <a:xfrm>
            <a:off x="5386388" y="4587875"/>
            <a:ext cx="0" cy="7254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097" name="Line 9"/>
          <p:cNvSpPr>
            <a:spLocks noChangeShapeType="1"/>
          </p:cNvSpPr>
          <p:nvPr/>
        </p:nvSpPr>
        <p:spPr bwMode="auto">
          <a:xfrm>
            <a:off x="6540500" y="4600575"/>
            <a:ext cx="0" cy="7000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7099" name="Rectangle 11"/>
          <p:cNvSpPr>
            <a:spLocks noChangeArrowheads="1"/>
          </p:cNvSpPr>
          <p:nvPr/>
        </p:nvSpPr>
        <p:spPr bwMode="auto">
          <a:xfrm>
            <a:off x="4516438" y="47545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77</a:t>
            </a:r>
            <a:endParaRPr lang="en-US" altLang="en-US" b="0"/>
          </a:p>
        </p:txBody>
      </p:sp>
      <p:sp>
        <p:nvSpPr>
          <p:cNvPr id="217100" name="Rectangle 12"/>
          <p:cNvSpPr>
            <a:spLocks noChangeArrowheads="1"/>
          </p:cNvSpPr>
          <p:nvPr/>
        </p:nvSpPr>
        <p:spPr bwMode="auto">
          <a:xfrm>
            <a:off x="343058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12</a:t>
            </a:r>
            <a:endParaRPr lang="en-US" altLang="en-US" b="0"/>
          </a:p>
        </p:txBody>
      </p:sp>
      <p:sp>
        <p:nvSpPr>
          <p:cNvPr id="217101" name="Rectangle 13"/>
          <p:cNvSpPr>
            <a:spLocks noChangeArrowheads="1"/>
          </p:cNvSpPr>
          <p:nvPr/>
        </p:nvSpPr>
        <p:spPr bwMode="auto">
          <a:xfrm>
            <a:off x="2344738" y="4767263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35</a:t>
            </a:r>
            <a:endParaRPr lang="en-US" altLang="en-US" b="0"/>
          </a:p>
        </p:txBody>
      </p:sp>
      <p:sp>
        <p:nvSpPr>
          <p:cNvPr id="217102" name="Rectangle 14"/>
          <p:cNvSpPr>
            <a:spLocks noChangeArrowheads="1"/>
          </p:cNvSpPr>
          <p:nvPr/>
        </p:nvSpPr>
        <p:spPr bwMode="auto">
          <a:xfrm>
            <a:off x="1376363" y="4781550"/>
            <a:ext cx="523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42</a:t>
            </a:r>
            <a:endParaRPr lang="en-US" altLang="en-US" b="0"/>
          </a:p>
        </p:txBody>
      </p:sp>
      <p:sp>
        <p:nvSpPr>
          <p:cNvPr id="217103" name="Rectangle 15"/>
          <p:cNvSpPr>
            <a:spLocks noChangeArrowheads="1"/>
          </p:cNvSpPr>
          <p:nvPr/>
        </p:nvSpPr>
        <p:spPr bwMode="auto">
          <a:xfrm>
            <a:off x="5559425" y="4752975"/>
            <a:ext cx="52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  5</a:t>
            </a:r>
          </a:p>
        </p:txBody>
      </p:sp>
      <p:sp>
        <p:nvSpPr>
          <p:cNvPr id="217106" name="Rectangle 18"/>
          <p:cNvSpPr>
            <a:spLocks noChangeArrowheads="1"/>
          </p:cNvSpPr>
          <p:nvPr/>
        </p:nvSpPr>
        <p:spPr bwMode="auto">
          <a:xfrm>
            <a:off x="6553200" y="4584700"/>
            <a:ext cx="1152525" cy="708025"/>
          </a:xfrm>
          <a:prstGeom prst="rect">
            <a:avLst/>
          </a:prstGeom>
          <a:noFill/>
          <a:ln w="76200">
            <a:solidFill>
              <a:srgbClr val="3333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solidFill>
                  <a:srgbClr val="3333FF"/>
                </a:solidFill>
              </a:rPr>
              <a:t>101</a:t>
            </a:r>
          </a:p>
        </p:txBody>
      </p:sp>
      <p:sp>
        <p:nvSpPr>
          <p:cNvPr id="217111" name="Text Box 23"/>
          <p:cNvSpPr txBox="1">
            <a:spLocks noChangeArrowheads="1"/>
          </p:cNvSpPr>
          <p:nvPr/>
        </p:nvSpPr>
        <p:spPr bwMode="auto">
          <a:xfrm>
            <a:off x="1990725" y="55245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3333FF"/>
                </a:solidFill>
              </a:rPr>
              <a:t>Largest value correctly placed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>
          <a:xfrm>
            <a:off x="560704" y="271780"/>
            <a:ext cx="7440296" cy="642620"/>
          </a:xfrm>
        </p:spPr>
        <p:txBody>
          <a:bodyPr/>
          <a:lstStyle/>
          <a:p>
            <a:r>
              <a:rPr lang="en-US" altLang="en-US" dirty="0"/>
              <a:t>"Bubbling Up" the Largest Element</a:t>
            </a: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1524000" y="4132263"/>
            <a:ext cx="5754781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1          </a:t>
            </a:r>
            <a:r>
              <a:rPr lang="en-US" altLang="en-US" b="1" dirty="0" smtClean="0">
                <a:solidFill>
                  <a:srgbClr val="0070C0"/>
                </a:solidFill>
              </a:rPr>
              <a:t>       2                  </a:t>
            </a:r>
            <a:r>
              <a:rPr lang="en-US" altLang="en-US" b="1" dirty="0">
                <a:solidFill>
                  <a:srgbClr val="0070C0"/>
                </a:solidFill>
              </a:rPr>
              <a:t>3 </a:t>
            </a:r>
            <a:r>
              <a:rPr lang="en-US" altLang="en-US" b="1" dirty="0" smtClean="0">
                <a:solidFill>
                  <a:srgbClr val="0070C0"/>
                </a:solidFill>
              </a:rPr>
              <a:t>                </a:t>
            </a:r>
            <a:r>
              <a:rPr lang="en-US" altLang="en-US" b="1" dirty="0">
                <a:solidFill>
                  <a:srgbClr val="0070C0"/>
                </a:solidFill>
              </a:rPr>
              <a:t>4 </a:t>
            </a:r>
            <a:r>
              <a:rPr lang="en-US" altLang="en-US" b="1" dirty="0" smtClean="0">
                <a:solidFill>
                  <a:srgbClr val="0070C0"/>
                </a:solidFill>
              </a:rPr>
              <a:t>                  5                     </a:t>
            </a:r>
            <a:r>
              <a:rPr lang="en-US" altLang="en-US" b="1" dirty="0">
                <a:solidFill>
                  <a:srgbClr val="0070C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1099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Rectangle 72"/>
          <p:cNvSpPr>
            <a:spLocks noChangeArrowheads="1"/>
          </p:cNvSpPr>
          <p:nvPr/>
        </p:nvSpPr>
        <p:spPr bwMode="auto">
          <a:xfrm>
            <a:off x="2601913" y="2760663"/>
            <a:ext cx="1066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14</a:t>
            </a:r>
          </a:p>
        </p:txBody>
      </p:sp>
      <p:sp>
        <p:nvSpPr>
          <p:cNvPr id="2117" name="Rectangle 69"/>
          <p:cNvSpPr>
            <a:spLocks noChangeArrowheads="1"/>
          </p:cNvSpPr>
          <p:nvPr/>
        </p:nvSpPr>
        <p:spPr bwMode="auto">
          <a:xfrm>
            <a:off x="2586038" y="2760663"/>
            <a:ext cx="1066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8</a:t>
            </a:r>
          </a:p>
        </p:txBody>
      </p:sp>
      <p:sp>
        <p:nvSpPr>
          <p:cNvPr id="2105" name="Rectangle 57"/>
          <p:cNvSpPr>
            <a:spLocks noChangeArrowheads="1"/>
          </p:cNvSpPr>
          <p:nvPr/>
        </p:nvSpPr>
        <p:spPr bwMode="auto">
          <a:xfrm>
            <a:off x="5686425" y="27686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22</a:t>
            </a:r>
          </a:p>
        </p:txBody>
      </p:sp>
      <p:sp>
        <p:nvSpPr>
          <p:cNvPr id="2109" name="Rectangle 61"/>
          <p:cNvSpPr>
            <a:spLocks noChangeArrowheads="1"/>
          </p:cNvSpPr>
          <p:nvPr/>
        </p:nvSpPr>
        <p:spPr bwMode="auto">
          <a:xfrm>
            <a:off x="5689600" y="2765425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22</a:t>
            </a:r>
          </a:p>
        </p:txBody>
      </p:sp>
      <p:sp>
        <p:nvSpPr>
          <p:cNvPr id="2138" name="Rectangle 90"/>
          <p:cNvSpPr>
            <a:spLocks noChangeArrowheads="1"/>
          </p:cNvSpPr>
          <p:nvPr/>
        </p:nvSpPr>
        <p:spPr bwMode="auto">
          <a:xfrm>
            <a:off x="4662488" y="2767013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17</a:t>
            </a:r>
          </a:p>
        </p:txBody>
      </p:sp>
      <p:sp>
        <p:nvSpPr>
          <p:cNvPr id="2139" name="Rectangle 91"/>
          <p:cNvSpPr>
            <a:spLocks noChangeArrowheads="1"/>
          </p:cNvSpPr>
          <p:nvPr/>
        </p:nvSpPr>
        <p:spPr bwMode="auto">
          <a:xfrm>
            <a:off x="4659313" y="27686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17</a:t>
            </a:r>
          </a:p>
        </p:txBody>
      </p:sp>
      <p:sp>
        <p:nvSpPr>
          <p:cNvPr id="2113" name="Rectangle 65"/>
          <p:cNvSpPr>
            <a:spLocks noChangeArrowheads="1"/>
          </p:cNvSpPr>
          <p:nvPr/>
        </p:nvSpPr>
        <p:spPr bwMode="auto">
          <a:xfrm>
            <a:off x="3657600" y="2760663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2114" name="Rectangle 66"/>
          <p:cNvSpPr>
            <a:spLocks noChangeArrowheads="1"/>
          </p:cNvSpPr>
          <p:nvPr/>
        </p:nvSpPr>
        <p:spPr bwMode="auto">
          <a:xfrm>
            <a:off x="3654425" y="27686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14</a:t>
            </a:r>
          </a:p>
        </p:txBody>
      </p:sp>
      <p:sp>
        <p:nvSpPr>
          <p:cNvPr id="2110" name="Rectangle 62"/>
          <p:cNvSpPr>
            <a:spLocks noChangeArrowheads="1"/>
          </p:cNvSpPr>
          <p:nvPr/>
        </p:nvSpPr>
        <p:spPr bwMode="auto">
          <a:xfrm>
            <a:off x="3652838" y="2760663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14</a:t>
            </a:r>
          </a:p>
        </p:txBody>
      </p:sp>
      <p:sp>
        <p:nvSpPr>
          <p:cNvPr id="2111" name="Rectangle 63"/>
          <p:cNvSpPr>
            <a:spLocks noChangeArrowheads="1"/>
          </p:cNvSpPr>
          <p:nvPr/>
        </p:nvSpPr>
        <p:spPr bwMode="auto">
          <a:xfrm>
            <a:off x="3649663" y="27686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8</a:t>
            </a:r>
          </a:p>
        </p:txBody>
      </p:sp>
      <p:sp>
        <p:nvSpPr>
          <p:cNvPr id="2104" name="Rectangle 56"/>
          <p:cNvSpPr>
            <a:spLocks noChangeArrowheads="1"/>
          </p:cNvSpPr>
          <p:nvPr/>
        </p:nvSpPr>
        <p:spPr bwMode="auto">
          <a:xfrm>
            <a:off x="4656138" y="1633538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17</a:t>
            </a:r>
          </a:p>
        </p:txBody>
      </p:sp>
      <p:sp>
        <p:nvSpPr>
          <p:cNvPr id="2118" name="Rectangle 70"/>
          <p:cNvSpPr>
            <a:spLocks noChangeArrowheads="1"/>
          </p:cNvSpPr>
          <p:nvPr/>
        </p:nvSpPr>
        <p:spPr bwMode="auto">
          <a:xfrm>
            <a:off x="2593975" y="2757488"/>
            <a:ext cx="1066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14</a:t>
            </a:r>
          </a:p>
        </p:txBody>
      </p:sp>
      <p:sp>
        <p:nvSpPr>
          <p:cNvPr id="2119" name="Rectangle 71"/>
          <p:cNvSpPr>
            <a:spLocks noChangeArrowheads="1"/>
          </p:cNvSpPr>
          <p:nvPr/>
        </p:nvSpPr>
        <p:spPr bwMode="auto">
          <a:xfrm>
            <a:off x="2593975" y="2768600"/>
            <a:ext cx="1066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2137" name="Rectangle 89"/>
          <p:cNvSpPr>
            <a:spLocks noChangeArrowheads="1"/>
          </p:cNvSpPr>
          <p:nvPr/>
        </p:nvSpPr>
        <p:spPr bwMode="auto">
          <a:xfrm>
            <a:off x="1617663" y="2760663"/>
            <a:ext cx="9652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12</a:t>
            </a:r>
          </a:p>
        </p:txBody>
      </p:sp>
      <p:sp>
        <p:nvSpPr>
          <p:cNvPr id="2122" name="Rectangle 74"/>
          <p:cNvSpPr>
            <a:spLocks noChangeArrowheads="1"/>
          </p:cNvSpPr>
          <p:nvPr/>
        </p:nvSpPr>
        <p:spPr bwMode="auto">
          <a:xfrm>
            <a:off x="604838" y="2760663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6</a:t>
            </a:r>
          </a:p>
        </p:txBody>
      </p:sp>
      <p:sp>
        <p:nvSpPr>
          <p:cNvPr id="2126" name="Rectangle 78"/>
          <p:cNvSpPr>
            <a:spLocks noChangeArrowheads="1"/>
          </p:cNvSpPr>
          <p:nvPr/>
        </p:nvSpPr>
        <p:spPr bwMode="auto">
          <a:xfrm>
            <a:off x="612775" y="2760663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6</a:t>
            </a:r>
          </a:p>
        </p:txBody>
      </p:sp>
      <p:sp>
        <p:nvSpPr>
          <p:cNvPr id="2096" name="Rectangle 48"/>
          <p:cNvSpPr>
            <a:spLocks noChangeArrowheads="1"/>
          </p:cNvSpPr>
          <p:nvPr/>
        </p:nvSpPr>
        <p:spPr bwMode="auto">
          <a:xfrm>
            <a:off x="2601913" y="1633538"/>
            <a:ext cx="1066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14</a:t>
            </a:r>
          </a:p>
        </p:txBody>
      </p:sp>
      <p:sp>
        <p:nvSpPr>
          <p:cNvPr id="2087" name="Rectangle 39"/>
          <p:cNvSpPr>
            <a:spLocks noChangeArrowheads="1"/>
          </p:cNvSpPr>
          <p:nvPr/>
        </p:nvSpPr>
        <p:spPr bwMode="auto">
          <a:xfrm>
            <a:off x="2590800" y="1633538"/>
            <a:ext cx="1066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22</a:t>
            </a:r>
          </a:p>
        </p:txBody>
      </p:sp>
      <p:sp>
        <p:nvSpPr>
          <p:cNvPr id="2093" name="Rectangle 45"/>
          <p:cNvSpPr>
            <a:spLocks noChangeArrowheads="1"/>
          </p:cNvSpPr>
          <p:nvPr/>
        </p:nvSpPr>
        <p:spPr bwMode="auto">
          <a:xfrm>
            <a:off x="2598738" y="1625600"/>
            <a:ext cx="1066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14</a:t>
            </a:r>
          </a:p>
        </p:txBody>
      </p:sp>
      <p:sp>
        <p:nvSpPr>
          <p:cNvPr id="2125" name="Rectangle 77"/>
          <p:cNvSpPr>
            <a:spLocks noChangeArrowheads="1"/>
          </p:cNvSpPr>
          <p:nvPr/>
        </p:nvSpPr>
        <p:spPr bwMode="auto">
          <a:xfrm>
            <a:off x="1617663" y="2760663"/>
            <a:ext cx="9652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12</a:t>
            </a:r>
          </a:p>
        </p:txBody>
      </p:sp>
      <p:sp>
        <p:nvSpPr>
          <p:cNvPr id="2103" name="Rectangle 55"/>
          <p:cNvSpPr>
            <a:spLocks noChangeArrowheads="1"/>
          </p:cNvSpPr>
          <p:nvPr/>
        </p:nvSpPr>
        <p:spPr bwMode="auto">
          <a:xfrm>
            <a:off x="5683250" y="1633538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22</a:t>
            </a:r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5681663" y="16256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17</a:t>
            </a:r>
          </a:p>
        </p:txBody>
      </p:sp>
      <p:sp>
        <p:nvSpPr>
          <p:cNvPr id="2100" name="Rectangle 52"/>
          <p:cNvSpPr>
            <a:spLocks noChangeArrowheads="1"/>
          </p:cNvSpPr>
          <p:nvPr/>
        </p:nvSpPr>
        <p:spPr bwMode="auto">
          <a:xfrm>
            <a:off x="5678488" y="1633538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17</a:t>
            </a:r>
          </a:p>
        </p:txBody>
      </p:sp>
      <p:sp>
        <p:nvSpPr>
          <p:cNvPr id="2095" name="Rectangle 47"/>
          <p:cNvSpPr>
            <a:spLocks noChangeArrowheads="1"/>
          </p:cNvSpPr>
          <p:nvPr/>
        </p:nvSpPr>
        <p:spPr bwMode="auto">
          <a:xfrm>
            <a:off x="4662488" y="16256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2101" name="Rectangle 53"/>
          <p:cNvSpPr>
            <a:spLocks noChangeArrowheads="1"/>
          </p:cNvSpPr>
          <p:nvPr/>
        </p:nvSpPr>
        <p:spPr bwMode="auto">
          <a:xfrm>
            <a:off x="5686425" y="1630363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22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3649663" y="16256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14</a:t>
            </a:r>
          </a:p>
        </p:txBody>
      </p:sp>
      <p:sp>
        <p:nvSpPr>
          <p:cNvPr id="2099" name="Rectangle 51"/>
          <p:cNvSpPr>
            <a:spLocks noChangeArrowheads="1"/>
          </p:cNvSpPr>
          <p:nvPr/>
        </p:nvSpPr>
        <p:spPr bwMode="auto">
          <a:xfrm>
            <a:off x="3646488" y="1633538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8</a:t>
            </a:r>
          </a:p>
        </p:txBody>
      </p:sp>
      <p:sp>
        <p:nvSpPr>
          <p:cNvPr id="2092" name="Rectangle 44"/>
          <p:cNvSpPr>
            <a:spLocks noChangeArrowheads="1"/>
          </p:cNvSpPr>
          <p:nvPr/>
        </p:nvSpPr>
        <p:spPr bwMode="auto">
          <a:xfrm>
            <a:off x="3646488" y="1633538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14</a:t>
            </a:r>
          </a:p>
        </p:txBody>
      </p:sp>
      <p:sp>
        <p:nvSpPr>
          <p:cNvPr id="2094" name="Rectangle 46"/>
          <p:cNvSpPr>
            <a:spLocks noChangeArrowheads="1"/>
          </p:cNvSpPr>
          <p:nvPr/>
        </p:nvSpPr>
        <p:spPr bwMode="auto">
          <a:xfrm>
            <a:off x="3654425" y="16256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22</a:t>
            </a:r>
          </a:p>
        </p:txBody>
      </p:sp>
      <p:sp>
        <p:nvSpPr>
          <p:cNvPr id="2098" name="Rectangle 50"/>
          <p:cNvSpPr>
            <a:spLocks noChangeArrowheads="1"/>
          </p:cNvSpPr>
          <p:nvPr/>
        </p:nvSpPr>
        <p:spPr bwMode="auto">
          <a:xfrm>
            <a:off x="3651250" y="1633538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4665663" y="16256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8</a:t>
            </a:r>
          </a:p>
        </p:txBody>
      </p:sp>
      <p:sp>
        <p:nvSpPr>
          <p:cNvPr id="2097" name="Rectangle 49"/>
          <p:cNvSpPr>
            <a:spLocks noChangeArrowheads="1"/>
          </p:cNvSpPr>
          <p:nvPr/>
        </p:nvSpPr>
        <p:spPr bwMode="auto">
          <a:xfrm>
            <a:off x="4662488" y="1633538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22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2582863" y="1625600"/>
            <a:ext cx="1066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22</a:t>
            </a:r>
          </a:p>
        </p:txBody>
      </p:sp>
      <p:sp>
        <p:nvSpPr>
          <p:cNvPr id="2086" name="Rectangle 38"/>
          <p:cNvSpPr>
            <a:spLocks noChangeArrowheads="1"/>
          </p:cNvSpPr>
          <p:nvPr/>
        </p:nvSpPr>
        <p:spPr bwMode="auto">
          <a:xfrm>
            <a:off x="1614488" y="1625600"/>
            <a:ext cx="9652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6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601663" y="16256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12</a:t>
            </a:r>
          </a:p>
        </p:txBody>
      </p:sp>
      <p:sp>
        <p:nvSpPr>
          <p:cNvPr id="2085" name="Rectangle 37"/>
          <p:cNvSpPr>
            <a:spLocks noChangeArrowheads="1"/>
          </p:cNvSpPr>
          <p:nvPr/>
        </p:nvSpPr>
        <p:spPr bwMode="auto">
          <a:xfrm>
            <a:off x="595313" y="16256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12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617663" y="1625600"/>
            <a:ext cx="9652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6</a:t>
            </a:r>
          </a:p>
        </p:txBody>
      </p:sp>
      <p:sp>
        <p:nvSpPr>
          <p:cNvPr id="2089" name="Rectangle 41"/>
          <p:cNvSpPr>
            <a:spLocks noChangeArrowheads="1"/>
          </p:cNvSpPr>
          <p:nvPr/>
        </p:nvSpPr>
        <p:spPr bwMode="auto">
          <a:xfrm>
            <a:off x="1614488" y="1625600"/>
            <a:ext cx="9652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12</a:t>
            </a:r>
          </a:p>
        </p:txBody>
      </p:sp>
      <p:sp>
        <p:nvSpPr>
          <p:cNvPr id="2088" name="Rectangle 40"/>
          <p:cNvSpPr>
            <a:spLocks noChangeArrowheads="1"/>
          </p:cNvSpPr>
          <p:nvPr/>
        </p:nvSpPr>
        <p:spPr bwMode="auto">
          <a:xfrm>
            <a:off x="609600" y="16256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6</a:t>
            </a: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Bubble Sort</a:t>
            </a:r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4089400"/>
            <a:ext cx="7162800" cy="2362200"/>
          </a:xfrm>
        </p:spPr>
        <p:txBody>
          <a:bodyPr/>
          <a:lstStyle/>
          <a:p>
            <a:r>
              <a:rPr lang="en-US" altLang="en-US" sz="2800"/>
              <a:t>Given n numbers to sort:</a:t>
            </a:r>
          </a:p>
          <a:p>
            <a:r>
              <a:rPr lang="en-US" altLang="en-US" sz="2800"/>
              <a:t>Repeat the following n-1 times:</a:t>
            </a:r>
          </a:p>
          <a:p>
            <a:pPr lvl="1"/>
            <a:r>
              <a:rPr lang="en-US" altLang="en-US" sz="2400"/>
              <a:t>For each </a:t>
            </a:r>
            <a:r>
              <a:rPr lang="en-US" altLang="en-US" sz="2400">
                <a:solidFill>
                  <a:srgbClr val="CC0000"/>
                </a:solidFill>
              </a:rPr>
              <a:t>pair</a:t>
            </a:r>
            <a:r>
              <a:rPr lang="en-US" altLang="en-US" sz="2400"/>
              <a:t> of adjacent numbers:</a:t>
            </a:r>
          </a:p>
          <a:p>
            <a:pPr lvl="2"/>
            <a:r>
              <a:rPr lang="en-US" altLang="en-US" sz="2000"/>
              <a:t>If the number on the left is greater than the number on the right, swap them.</a:t>
            </a:r>
          </a:p>
        </p:txBody>
      </p:sp>
      <p:sp>
        <p:nvSpPr>
          <p:cNvPr id="2073" name="Line 25"/>
          <p:cNvSpPr>
            <a:spLocks noChangeShapeType="1"/>
          </p:cNvSpPr>
          <p:nvPr/>
        </p:nvSpPr>
        <p:spPr bwMode="auto">
          <a:xfrm>
            <a:off x="601663" y="1625600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074" name="Line 26"/>
          <p:cNvSpPr>
            <a:spLocks noChangeShapeType="1"/>
          </p:cNvSpPr>
          <p:nvPr/>
        </p:nvSpPr>
        <p:spPr bwMode="auto">
          <a:xfrm>
            <a:off x="601663" y="2514600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>
            <a:off x="601663" y="1625600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076" name="Line 28"/>
          <p:cNvSpPr>
            <a:spLocks noChangeShapeType="1"/>
          </p:cNvSpPr>
          <p:nvPr/>
        </p:nvSpPr>
        <p:spPr bwMode="auto">
          <a:xfrm>
            <a:off x="1617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077" name="Line 29"/>
          <p:cNvSpPr>
            <a:spLocks noChangeShapeType="1"/>
          </p:cNvSpPr>
          <p:nvPr/>
        </p:nvSpPr>
        <p:spPr bwMode="auto">
          <a:xfrm>
            <a:off x="25828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078" name="Line 30"/>
          <p:cNvSpPr>
            <a:spLocks noChangeShapeType="1"/>
          </p:cNvSpPr>
          <p:nvPr/>
        </p:nvSpPr>
        <p:spPr bwMode="auto">
          <a:xfrm>
            <a:off x="3649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079" name="Line 31"/>
          <p:cNvSpPr>
            <a:spLocks noChangeShapeType="1"/>
          </p:cNvSpPr>
          <p:nvPr/>
        </p:nvSpPr>
        <p:spPr bwMode="auto">
          <a:xfrm>
            <a:off x="4665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080" name="Line 32"/>
          <p:cNvSpPr>
            <a:spLocks noChangeShapeType="1"/>
          </p:cNvSpPr>
          <p:nvPr/>
        </p:nvSpPr>
        <p:spPr bwMode="auto">
          <a:xfrm>
            <a:off x="5681663" y="1625600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081" name="Line 33"/>
          <p:cNvSpPr>
            <a:spLocks noChangeShapeType="1"/>
          </p:cNvSpPr>
          <p:nvPr/>
        </p:nvSpPr>
        <p:spPr bwMode="auto">
          <a:xfrm>
            <a:off x="6697663" y="1625600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090" name="Rectangle 42"/>
          <p:cNvSpPr>
            <a:spLocks noChangeArrowheads="1"/>
          </p:cNvSpPr>
          <p:nvPr/>
        </p:nvSpPr>
        <p:spPr bwMode="auto">
          <a:xfrm>
            <a:off x="609600" y="16256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6</a:t>
            </a:r>
          </a:p>
        </p:txBody>
      </p:sp>
      <p:sp>
        <p:nvSpPr>
          <p:cNvPr id="2091" name="Rectangle 43"/>
          <p:cNvSpPr>
            <a:spLocks noChangeArrowheads="1"/>
          </p:cNvSpPr>
          <p:nvPr/>
        </p:nvSpPr>
        <p:spPr bwMode="auto">
          <a:xfrm>
            <a:off x="1614488" y="1625600"/>
            <a:ext cx="9652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12</a:t>
            </a:r>
          </a:p>
        </p:txBody>
      </p:sp>
      <p:sp>
        <p:nvSpPr>
          <p:cNvPr id="2102" name="Rectangle 54"/>
          <p:cNvSpPr>
            <a:spLocks noChangeArrowheads="1"/>
          </p:cNvSpPr>
          <p:nvPr/>
        </p:nvSpPr>
        <p:spPr bwMode="auto">
          <a:xfrm>
            <a:off x="4659313" y="163195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17</a:t>
            </a:r>
          </a:p>
        </p:txBody>
      </p:sp>
      <p:sp>
        <p:nvSpPr>
          <p:cNvPr id="2127" name="Line 79"/>
          <p:cNvSpPr>
            <a:spLocks noChangeShapeType="1"/>
          </p:cNvSpPr>
          <p:nvPr/>
        </p:nvSpPr>
        <p:spPr bwMode="auto">
          <a:xfrm>
            <a:off x="604838" y="2760663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129" name="Line 81"/>
          <p:cNvSpPr>
            <a:spLocks noChangeShapeType="1"/>
          </p:cNvSpPr>
          <p:nvPr/>
        </p:nvSpPr>
        <p:spPr bwMode="auto">
          <a:xfrm>
            <a:off x="604838" y="2760663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130" name="Line 82"/>
          <p:cNvSpPr>
            <a:spLocks noChangeShapeType="1"/>
          </p:cNvSpPr>
          <p:nvPr/>
        </p:nvSpPr>
        <p:spPr bwMode="auto">
          <a:xfrm>
            <a:off x="1620838" y="27606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131" name="Line 83"/>
          <p:cNvSpPr>
            <a:spLocks noChangeShapeType="1"/>
          </p:cNvSpPr>
          <p:nvPr/>
        </p:nvSpPr>
        <p:spPr bwMode="auto">
          <a:xfrm>
            <a:off x="2586038" y="27606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132" name="Line 84"/>
          <p:cNvSpPr>
            <a:spLocks noChangeShapeType="1"/>
          </p:cNvSpPr>
          <p:nvPr/>
        </p:nvSpPr>
        <p:spPr bwMode="auto">
          <a:xfrm>
            <a:off x="3652838" y="27606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133" name="Line 85"/>
          <p:cNvSpPr>
            <a:spLocks noChangeShapeType="1"/>
          </p:cNvSpPr>
          <p:nvPr/>
        </p:nvSpPr>
        <p:spPr bwMode="auto">
          <a:xfrm>
            <a:off x="4668838" y="27606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134" name="Line 86"/>
          <p:cNvSpPr>
            <a:spLocks noChangeShapeType="1"/>
          </p:cNvSpPr>
          <p:nvPr/>
        </p:nvSpPr>
        <p:spPr bwMode="auto">
          <a:xfrm>
            <a:off x="5684838" y="27606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135" name="Line 87"/>
          <p:cNvSpPr>
            <a:spLocks noChangeShapeType="1"/>
          </p:cNvSpPr>
          <p:nvPr/>
        </p:nvSpPr>
        <p:spPr bwMode="auto">
          <a:xfrm>
            <a:off x="6700838" y="2760663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2128" name="Line 80"/>
          <p:cNvSpPr>
            <a:spLocks noChangeShapeType="1"/>
          </p:cNvSpPr>
          <p:nvPr/>
        </p:nvSpPr>
        <p:spPr bwMode="auto">
          <a:xfrm>
            <a:off x="604838" y="3649663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7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Right)">
                                      <p:cBhvr>
                                        <p:cTn id="33" dur="500"/>
                                        <p:tgtEl>
                                          <p:spTgt spid="20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Left)">
                                      <p:cBhvr>
                                        <p:cTn id="39" dur="500"/>
                                        <p:tgtEl>
                                          <p:spTgt spid="20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1" dur="500"/>
                                        <p:tgtEl>
                                          <p:spTgt spid="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Right)">
                                      <p:cBhvr>
                                        <p:cTn id="63" dur="500"/>
                                        <p:tgtEl>
                                          <p:spTgt spid="20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Left)">
                                      <p:cBhvr>
                                        <p:cTn id="66" dur="500"/>
                                        <p:tgtEl>
                                          <p:spTgt spid="20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0" dur="500"/>
                                        <p:tgtEl>
                                          <p:spTgt spid="2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5"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8" dur="500"/>
                                        <p:tgtEl>
                                          <p:spTgt spid="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Left)">
                                      <p:cBhvr>
                                        <p:cTn id="90" dur="500"/>
                                        <p:tgtEl>
                                          <p:spTgt spid="20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Right)">
                                      <p:cBhvr>
                                        <p:cTn id="93" dur="500"/>
                                        <p:tgtEl>
                                          <p:spTgt spid="20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9" dur="500"/>
                                        <p:tgtEl>
                                          <p:spTgt spid="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Left)">
                                      <p:cBhvr>
                                        <p:cTn id="111" dur="500"/>
                                        <p:tgtEl>
                                          <p:spTgt spid="2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Right)">
                                      <p:cBhvr>
                                        <p:cTn id="114"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8" dur="500"/>
                                        <p:tgtEl>
                                          <p:spTgt spid="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3" dur="500"/>
                                        <p:tgtEl>
                                          <p:spTgt spid="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6" dur="500"/>
                                        <p:tgtEl>
                                          <p:spTgt spid="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9" dur="500"/>
                                        <p:tgtEl>
                                          <p:spTgt spid="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2" dur="500"/>
                                        <p:tgtEl>
                                          <p:spTgt spid="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5" dur="500"/>
                                        <p:tgtEl>
                                          <p:spTgt spid="2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8" dur="500"/>
                                        <p:tgtEl>
                                          <p:spTgt spid="2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1" dur="500"/>
                                        <p:tgtEl>
                                          <p:spTgt spid="2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4" dur="500"/>
                                        <p:tgtEl>
                                          <p:spTgt spid="2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7" dur="500"/>
                                        <p:tgtEl>
                                          <p:spTgt spid="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0" dur="500"/>
                                        <p:tgtEl>
                                          <p:spTgt spid="2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3" dur="500"/>
                                        <p:tgtEl>
                                          <p:spTgt spid="2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6" dur="500"/>
                                        <p:tgtEl>
                                          <p:spTgt spid="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9" dur="500"/>
                                        <p:tgtEl>
                                          <p:spTgt spid="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2" dur="500"/>
                                        <p:tgtEl>
                                          <p:spTgt spid="2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5" dur="500"/>
                                        <p:tgtEl>
                                          <p:spTgt spid="2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0" dur="500"/>
                                        <p:tgtEl>
                                          <p:spTgt spid="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Left)">
                                      <p:cBhvr>
                                        <p:cTn id="212" dur="500"/>
                                        <p:tgtEl>
                                          <p:spTgt spid="2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Right)">
                                      <p:cBhvr>
                                        <p:cTn id="215" dur="500"/>
                                        <p:tgtEl>
                                          <p:spTgt spid="2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9" dur="500"/>
                                        <p:tgtEl>
                                          <p:spTgt spid="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0" grpId="0"/>
      <p:bldP spid="2120" grpId="1"/>
      <p:bldP spid="2117" grpId="0"/>
      <p:bldP spid="2105" grpId="0"/>
      <p:bldP spid="2105" grpId="1"/>
      <p:bldP spid="2105" grpId="2"/>
      <p:bldP spid="2109" grpId="0"/>
      <p:bldP spid="2109" grpId="1"/>
      <p:bldP spid="2138" grpId="0"/>
      <p:bldP spid="2138" grpId="1"/>
      <p:bldP spid="2139" grpId="0"/>
      <p:bldP spid="2139" grpId="1"/>
      <p:bldP spid="2139" grpId="2"/>
      <p:bldP spid="2113" grpId="0"/>
      <p:bldP spid="2113" grpId="1"/>
      <p:bldP spid="2114" grpId="0"/>
      <p:bldP spid="2114" grpId="1"/>
      <p:bldP spid="2110" grpId="0"/>
      <p:bldP spid="2111" grpId="0"/>
      <p:bldP spid="2111" grpId="1"/>
      <p:bldP spid="2104" grpId="0"/>
      <p:bldP spid="2118" grpId="0"/>
      <p:bldP spid="2118" grpId="1"/>
      <p:bldP spid="2119" grpId="0"/>
      <p:bldP spid="2119" grpId="1"/>
      <p:bldP spid="2137" grpId="0"/>
      <p:bldP spid="2137" grpId="1"/>
      <p:bldP spid="2137" grpId="2"/>
      <p:bldP spid="2122" grpId="0"/>
      <p:bldP spid="2122" grpId="1"/>
      <p:bldP spid="2122" grpId="2"/>
      <p:bldP spid="2126" grpId="0"/>
      <p:bldP spid="2126" grpId="1"/>
      <p:bldP spid="2096" grpId="0"/>
      <p:bldP spid="2087" grpId="0"/>
      <p:bldP spid="2087" grpId="1"/>
      <p:bldP spid="2093" grpId="0"/>
      <p:bldP spid="2093" grpId="1"/>
      <p:bldP spid="2125" grpId="0"/>
      <p:bldP spid="2125" grpId="1"/>
      <p:bldP spid="2103" grpId="0"/>
      <p:bldP spid="2072" grpId="0"/>
      <p:bldP spid="2100" grpId="0"/>
      <p:bldP spid="2100" grpId="1"/>
      <p:bldP spid="2095" grpId="0"/>
      <p:bldP spid="2095" grpId="1"/>
      <p:bldP spid="2101" grpId="0"/>
      <p:bldP spid="2101" grpId="1"/>
      <p:bldP spid="2070" grpId="0"/>
      <p:bldP spid="2099" grpId="0"/>
      <p:bldP spid="2092" grpId="0"/>
      <p:bldP spid="2092" grpId="1"/>
      <p:bldP spid="2094" grpId="0"/>
      <p:bldP spid="2094" grpId="1"/>
      <p:bldP spid="2098" grpId="0"/>
      <p:bldP spid="2098" grpId="1"/>
      <p:bldP spid="2071" grpId="0"/>
      <p:bldP spid="2097" grpId="0"/>
      <p:bldP spid="2097" grpId="1"/>
      <p:bldP spid="2069" grpId="0"/>
      <p:bldP spid="2086" grpId="0"/>
      <p:bldP spid="2086" grpId="1"/>
      <p:bldP spid="2067" grpId="0"/>
      <p:bldP spid="2085" grpId="0"/>
      <p:bldP spid="2085" grpId="1"/>
      <p:bldP spid="2068" grpId="0"/>
      <p:bldP spid="2089" grpId="0"/>
      <p:bldP spid="2088" grpId="0"/>
      <p:bldP spid="2064" grpId="0" build="p"/>
      <p:bldP spid="2090" grpId="0"/>
      <p:bldP spid="2091" grpId="0"/>
      <p:bldP spid="2102" grpId="0"/>
      <p:bldP spid="2102" grpId="1"/>
      <p:bldP spid="2127" grpId="0" animBg="1"/>
      <p:bldP spid="2129" grpId="0" animBg="1"/>
      <p:bldP spid="2130" grpId="0" animBg="1"/>
      <p:bldP spid="2131" grpId="0" animBg="1"/>
      <p:bldP spid="2132" grpId="0" animBg="1"/>
      <p:bldP spid="2133" grpId="0" animBg="1"/>
      <p:bldP spid="2134" grpId="0" animBg="1"/>
      <p:bldP spid="2135" grpId="0" animBg="1"/>
      <p:bldP spid="21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4" name="Rectangle 76"/>
          <p:cNvSpPr>
            <a:spLocks noChangeArrowheads="1"/>
          </p:cNvSpPr>
          <p:nvPr/>
        </p:nvSpPr>
        <p:spPr bwMode="auto">
          <a:xfrm>
            <a:off x="4656138" y="27559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17</a:t>
            </a:r>
          </a:p>
        </p:txBody>
      </p:sp>
      <p:sp>
        <p:nvSpPr>
          <p:cNvPr id="32836" name="Rectangle 68"/>
          <p:cNvSpPr>
            <a:spLocks noChangeArrowheads="1"/>
          </p:cNvSpPr>
          <p:nvPr/>
        </p:nvSpPr>
        <p:spPr bwMode="auto">
          <a:xfrm>
            <a:off x="1630363" y="2743200"/>
            <a:ext cx="9652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8</a:t>
            </a:r>
          </a:p>
        </p:txBody>
      </p:sp>
      <p:sp>
        <p:nvSpPr>
          <p:cNvPr id="32835" name="Rectangle 67"/>
          <p:cNvSpPr>
            <a:spLocks noChangeArrowheads="1"/>
          </p:cNvSpPr>
          <p:nvPr/>
        </p:nvSpPr>
        <p:spPr bwMode="auto">
          <a:xfrm>
            <a:off x="2598738" y="2747963"/>
            <a:ext cx="1066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12</a:t>
            </a:r>
          </a:p>
        </p:txBody>
      </p:sp>
      <p:sp>
        <p:nvSpPr>
          <p:cNvPr id="32838" name="Rectangle 70"/>
          <p:cNvSpPr>
            <a:spLocks noChangeArrowheads="1"/>
          </p:cNvSpPr>
          <p:nvPr/>
        </p:nvSpPr>
        <p:spPr bwMode="auto">
          <a:xfrm>
            <a:off x="2590800" y="2744788"/>
            <a:ext cx="1066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12</a:t>
            </a:r>
          </a:p>
        </p:txBody>
      </p:sp>
      <p:sp>
        <p:nvSpPr>
          <p:cNvPr id="32858" name="Rectangle 90"/>
          <p:cNvSpPr>
            <a:spLocks noChangeArrowheads="1"/>
          </p:cNvSpPr>
          <p:nvPr/>
        </p:nvSpPr>
        <p:spPr bwMode="auto">
          <a:xfrm>
            <a:off x="1622425" y="2743200"/>
            <a:ext cx="9652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32782" name="Rectangle 14"/>
          <p:cNvSpPr>
            <a:spLocks noChangeArrowheads="1"/>
          </p:cNvSpPr>
          <p:nvPr/>
        </p:nvSpPr>
        <p:spPr bwMode="auto">
          <a:xfrm>
            <a:off x="2593975" y="1635125"/>
            <a:ext cx="1066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2601913" y="1627188"/>
            <a:ext cx="1066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12</a:t>
            </a:r>
          </a:p>
        </p:txBody>
      </p:sp>
      <p:sp>
        <p:nvSpPr>
          <p:cNvPr id="32833" name="Rectangle 65"/>
          <p:cNvSpPr>
            <a:spLocks noChangeArrowheads="1"/>
          </p:cNvSpPr>
          <p:nvPr/>
        </p:nvSpPr>
        <p:spPr bwMode="auto">
          <a:xfrm>
            <a:off x="1633538" y="1622425"/>
            <a:ext cx="9652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8</a:t>
            </a: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2586038" y="1627188"/>
            <a:ext cx="1066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8</a:t>
            </a:r>
          </a:p>
        </p:txBody>
      </p:sp>
      <p:sp>
        <p:nvSpPr>
          <p:cNvPr id="32781" name="Rectangle 13"/>
          <p:cNvSpPr>
            <a:spLocks noChangeArrowheads="1"/>
          </p:cNvSpPr>
          <p:nvPr/>
        </p:nvSpPr>
        <p:spPr bwMode="auto">
          <a:xfrm>
            <a:off x="2593975" y="1624013"/>
            <a:ext cx="1066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12</a:t>
            </a: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3654425" y="1635125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14</a:t>
            </a:r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3652838" y="1627188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14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5686425" y="1635125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22</a:t>
            </a: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5689600" y="163195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22</a:t>
            </a: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4662488" y="1633538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17</a:t>
            </a: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4659313" y="1635125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17</a:t>
            </a:r>
          </a:p>
        </p:txBody>
      </p:sp>
      <p:sp>
        <p:nvSpPr>
          <p:cNvPr id="32783" name="Rectangle 15"/>
          <p:cNvSpPr>
            <a:spLocks noChangeArrowheads="1"/>
          </p:cNvSpPr>
          <p:nvPr/>
        </p:nvSpPr>
        <p:spPr bwMode="auto">
          <a:xfrm>
            <a:off x="1617663" y="1627188"/>
            <a:ext cx="9652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12</a:t>
            </a:r>
          </a:p>
        </p:txBody>
      </p:sp>
      <p:sp>
        <p:nvSpPr>
          <p:cNvPr id="32784" name="Rectangle 16"/>
          <p:cNvSpPr>
            <a:spLocks noChangeArrowheads="1"/>
          </p:cNvSpPr>
          <p:nvPr/>
        </p:nvSpPr>
        <p:spPr bwMode="auto">
          <a:xfrm>
            <a:off x="604838" y="1627188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6</a:t>
            </a:r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612775" y="1627188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6</a:t>
            </a:r>
          </a:p>
        </p:txBody>
      </p:sp>
      <p:sp>
        <p:nvSpPr>
          <p:cNvPr id="32789" name="Rectangle 21"/>
          <p:cNvSpPr>
            <a:spLocks noChangeArrowheads="1"/>
          </p:cNvSpPr>
          <p:nvPr/>
        </p:nvSpPr>
        <p:spPr bwMode="auto">
          <a:xfrm>
            <a:off x="1617663" y="1627188"/>
            <a:ext cx="9652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12</a:t>
            </a:r>
          </a:p>
        </p:txBody>
      </p:sp>
      <p:sp>
        <p:nvSpPr>
          <p:cNvPr id="32809" name="Rectangle 4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Bubble Sort</a:t>
            </a:r>
          </a:p>
        </p:txBody>
      </p:sp>
      <p:sp>
        <p:nvSpPr>
          <p:cNvPr id="32810" name="Rectangle 42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4089400"/>
            <a:ext cx="7162800" cy="2362200"/>
          </a:xfrm>
        </p:spPr>
        <p:txBody>
          <a:bodyPr/>
          <a:lstStyle/>
          <a:p>
            <a:r>
              <a:rPr lang="en-US" altLang="en-US" sz="2800"/>
              <a:t>Given n numbers to sort:</a:t>
            </a:r>
          </a:p>
          <a:p>
            <a:r>
              <a:rPr lang="en-US" altLang="en-US" sz="2800"/>
              <a:t>Repeat the following n-1 times:</a:t>
            </a:r>
          </a:p>
          <a:p>
            <a:pPr lvl="1"/>
            <a:r>
              <a:rPr lang="en-US" altLang="en-US" sz="2400"/>
              <a:t>For each </a:t>
            </a:r>
            <a:r>
              <a:rPr lang="en-US" altLang="en-US" sz="2400">
                <a:solidFill>
                  <a:srgbClr val="CC0000"/>
                </a:solidFill>
              </a:rPr>
              <a:t>pair</a:t>
            </a:r>
            <a:r>
              <a:rPr lang="en-US" altLang="en-US" sz="2400"/>
              <a:t> of adjacent numbers:</a:t>
            </a:r>
          </a:p>
          <a:p>
            <a:pPr lvl="2"/>
            <a:r>
              <a:rPr lang="en-US" altLang="en-US" sz="2000"/>
              <a:t>If the number on the left is greater than the number on the right, swap them.</a:t>
            </a:r>
          </a:p>
        </p:txBody>
      </p:sp>
      <p:sp>
        <p:nvSpPr>
          <p:cNvPr id="32823" name="Line 55"/>
          <p:cNvSpPr>
            <a:spLocks noChangeShapeType="1"/>
          </p:cNvSpPr>
          <p:nvPr/>
        </p:nvSpPr>
        <p:spPr bwMode="auto">
          <a:xfrm>
            <a:off x="604838" y="1627188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24" name="Line 56"/>
          <p:cNvSpPr>
            <a:spLocks noChangeShapeType="1"/>
          </p:cNvSpPr>
          <p:nvPr/>
        </p:nvSpPr>
        <p:spPr bwMode="auto">
          <a:xfrm>
            <a:off x="604838" y="1627188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25" name="Line 57"/>
          <p:cNvSpPr>
            <a:spLocks noChangeShapeType="1"/>
          </p:cNvSpPr>
          <p:nvPr/>
        </p:nvSpPr>
        <p:spPr bwMode="auto">
          <a:xfrm>
            <a:off x="1620838" y="1627188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26" name="Line 58"/>
          <p:cNvSpPr>
            <a:spLocks noChangeShapeType="1"/>
          </p:cNvSpPr>
          <p:nvPr/>
        </p:nvSpPr>
        <p:spPr bwMode="auto">
          <a:xfrm>
            <a:off x="2586038" y="1627188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27" name="Line 59"/>
          <p:cNvSpPr>
            <a:spLocks noChangeShapeType="1"/>
          </p:cNvSpPr>
          <p:nvPr/>
        </p:nvSpPr>
        <p:spPr bwMode="auto">
          <a:xfrm>
            <a:off x="3652838" y="1627188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28" name="Line 60"/>
          <p:cNvSpPr>
            <a:spLocks noChangeShapeType="1"/>
          </p:cNvSpPr>
          <p:nvPr/>
        </p:nvSpPr>
        <p:spPr bwMode="auto">
          <a:xfrm>
            <a:off x="4668838" y="1627188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29" name="Line 61"/>
          <p:cNvSpPr>
            <a:spLocks noChangeShapeType="1"/>
          </p:cNvSpPr>
          <p:nvPr/>
        </p:nvSpPr>
        <p:spPr bwMode="auto">
          <a:xfrm>
            <a:off x="5684838" y="1627188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30" name="Line 62"/>
          <p:cNvSpPr>
            <a:spLocks noChangeShapeType="1"/>
          </p:cNvSpPr>
          <p:nvPr/>
        </p:nvSpPr>
        <p:spPr bwMode="auto">
          <a:xfrm>
            <a:off x="6700838" y="1627188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31" name="Line 63"/>
          <p:cNvSpPr>
            <a:spLocks noChangeShapeType="1"/>
          </p:cNvSpPr>
          <p:nvPr/>
        </p:nvSpPr>
        <p:spPr bwMode="auto">
          <a:xfrm>
            <a:off x="604838" y="2516188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32" name="Rectangle 64"/>
          <p:cNvSpPr>
            <a:spLocks noChangeArrowheads="1"/>
          </p:cNvSpPr>
          <p:nvPr/>
        </p:nvSpPr>
        <p:spPr bwMode="auto">
          <a:xfrm>
            <a:off x="1625600" y="1622425"/>
            <a:ext cx="9652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8</a:t>
            </a:r>
          </a:p>
        </p:txBody>
      </p:sp>
      <p:sp>
        <p:nvSpPr>
          <p:cNvPr id="32839" name="Rectangle 71"/>
          <p:cNvSpPr>
            <a:spLocks noChangeArrowheads="1"/>
          </p:cNvSpPr>
          <p:nvPr/>
        </p:nvSpPr>
        <p:spPr bwMode="auto">
          <a:xfrm>
            <a:off x="3651250" y="27559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14</a:t>
            </a:r>
          </a:p>
        </p:txBody>
      </p:sp>
      <p:sp>
        <p:nvSpPr>
          <p:cNvPr id="32840" name="Rectangle 72"/>
          <p:cNvSpPr>
            <a:spLocks noChangeArrowheads="1"/>
          </p:cNvSpPr>
          <p:nvPr/>
        </p:nvSpPr>
        <p:spPr bwMode="auto">
          <a:xfrm>
            <a:off x="3649663" y="2747963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14</a:t>
            </a:r>
          </a:p>
        </p:txBody>
      </p:sp>
      <p:sp>
        <p:nvSpPr>
          <p:cNvPr id="32841" name="Rectangle 73"/>
          <p:cNvSpPr>
            <a:spLocks noChangeArrowheads="1"/>
          </p:cNvSpPr>
          <p:nvPr/>
        </p:nvSpPr>
        <p:spPr bwMode="auto">
          <a:xfrm>
            <a:off x="5683250" y="2755900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22</a:t>
            </a:r>
          </a:p>
        </p:txBody>
      </p:sp>
      <p:sp>
        <p:nvSpPr>
          <p:cNvPr id="32842" name="Rectangle 74"/>
          <p:cNvSpPr>
            <a:spLocks noChangeArrowheads="1"/>
          </p:cNvSpPr>
          <p:nvPr/>
        </p:nvSpPr>
        <p:spPr bwMode="auto">
          <a:xfrm>
            <a:off x="5686425" y="2752725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22</a:t>
            </a:r>
          </a:p>
        </p:txBody>
      </p:sp>
      <p:sp>
        <p:nvSpPr>
          <p:cNvPr id="32843" name="Rectangle 75"/>
          <p:cNvSpPr>
            <a:spLocks noChangeArrowheads="1"/>
          </p:cNvSpPr>
          <p:nvPr/>
        </p:nvSpPr>
        <p:spPr bwMode="auto">
          <a:xfrm>
            <a:off x="4659313" y="2754313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17</a:t>
            </a:r>
          </a:p>
        </p:txBody>
      </p:sp>
      <p:sp>
        <p:nvSpPr>
          <p:cNvPr id="32846" name="Rectangle 78"/>
          <p:cNvSpPr>
            <a:spLocks noChangeArrowheads="1"/>
          </p:cNvSpPr>
          <p:nvPr/>
        </p:nvSpPr>
        <p:spPr bwMode="auto">
          <a:xfrm>
            <a:off x="601663" y="2747963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6</a:t>
            </a:r>
          </a:p>
        </p:txBody>
      </p:sp>
      <p:sp>
        <p:nvSpPr>
          <p:cNvPr id="32847" name="Rectangle 79"/>
          <p:cNvSpPr>
            <a:spLocks noChangeArrowheads="1"/>
          </p:cNvSpPr>
          <p:nvPr/>
        </p:nvSpPr>
        <p:spPr bwMode="auto">
          <a:xfrm>
            <a:off x="609600" y="2747963"/>
            <a:ext cx="1016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</a:rPr>
              <a:t>6</a:t>
            </a:r>
          </a:p>
        </p:txBody>
      </p:sp>
      <p:sp>
        <p:nvSpPr>
          <p:cNvPr id="32849" name="Line 81"/>
          <p:cNvSpPr>
            <a:spLocks noChangeShapeType="1"/>
          </p:cNvSpPr>
          <p:nvPr/>
        </p:nvSpPr>
        <p:spPr bwMode="auto">
          <a:xfrm>
            <a:off x="601663" y="2747963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50" name="Line 82"/>
          <p:cNvSpPr>
            <a:spLocks noChangeShapeType="1"/>
          </p:cNvSpPr>
          <p:nvPr/>
        </p:nvSpPr>
        <p:spPr bwMode="auto">
          <a:xfrm>
            <a:off x="601663" y="2747963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51" name="Line 83"/>
          <p:cNvSpPr>
            <a:spLocks noChangeShapeType="1"/>
          </p:cNvSpPr>
          <p:nvPr/>
        </p:nvSpPr>
        <p:spPr bwMode="auto">
          <a:xfrm>
            <a:off x="1617663" y="27479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52" name="Line 84"/>
          <p:cNvSpPr>
            <a:spLocks noChangeShapeType="1"/>
          </p:cNvSpPr>
          <p:nvPr/>
        </p:nvSpPr>
        <p:spPr bwMode="auto">
          <a:xfrm>
            <a:off x="2582863" y="27479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53" name="Line 85"/>
          <p:cNvSpPr>
            <a:spLocks noChangeShapeType="1"/>
          </p:cNvSpPr>
          <p:nvPr/>
        </p:nvSpPr>
        <p:spPr bwMode="auto">
          <a:xfrm>
            <a:off x="3649663" y="27479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54" name="Line 86"/>
          <p:cNvSpPr>
            <a:spLocks noChangeShapeType="1"/>
          </p:cNvSpPr>
          <p:nvPr/>
        </p:nvSpPr>
        <p:spPr bwMode="auto">
          <a:xfrm>
            <a:off x="4665663" y="27479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55" name="Line 87"/>
          <p:cNvSpPr>
            <a:spLocks noChangeShapeType="1"/>
          </p:cNvSpPr>
          <p:nvPr/>
        </p:nvSpPr>
        <p:spPr bwMode="auto">
          <a:xfrm>
            <a:off x="5681663" y="2747963"/>
            <a:ext cx="0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56" name="Line 88"/>
          <p:cNvSpPr>
            <a:spLocks noChangeShapeType="1"/>
          </p:cNvSpPr>
          <p:nvPr/>
        </p:nvSpPr>
        <p:spPr bwMode="auto">
          <a:xfrm>
            <a:off x="6697663" y="2747963"/>
            <a:ext cx="0" cy="8890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  <p:sp>
        <p:nvSpPr>
          <p:cNvPr id="32857" name="Line 89"/>
          <p:cNvSpPr>
            <a:spLocks noChangeShapeType="1"/>
          </p:cNvSpPr>
          <p:nvPr/>
        </p:nvSpPr>
        <p:spPr bwMode="auto">
          <a:xfrm>
            <a:off x="601663" y="3636963"/>
            <a:ext cx="6096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7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Right)">
                                      <p:cBhvr>
                                        <p:cTn id="26" dur="5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Left)">
                                      <p:cBhvr>
                                        <p:cTn id="29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3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1" dur="500"/>
                                        <p:tgtEl>
                                          <p:spTgt spid="3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4" dur="500"/>
                                        <p:tgtEl>
                                          <p:spTgt spid="3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7" dur="500"/>
                                        <p:tgtEl>
                                          <p:spTgt spid="3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0" dur="500"/>
                                        <p:tgtEl>
                                          <p:spTgt spid="32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3" dur="500"/>
                                        <p:tgtEl>
                                          <p:spTgt spid="3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2" presetClass="entr" presetSubtype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6" dur="500"/>
                                        <p:tgtEl>
                                          <p:spTgt spid="32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9" dur="500"/>
                                        <p:tgtEl>
                                          <p:spTgt spid="32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2" dur="500"/>
                                        <p:tgtEl>
                                          <p:spTgt spid="3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5" dur="500"/>
                                        <p:tgtEl>
                                          <p:spTgt spid="3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8" dur="500"/>
                                        <p:tgtEl>
                                          <p:spTgt spid="3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1" dur="500"/>
                                        <p:tgtEl>
                                          <p:spTgt spid="3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4" dur="500"/>
                                        <p:tgtEl>
                                          <p:spTgt spid="3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7" dur="500"/>
                                        <p:tgtEl>
                                          <p:spTgt spid="3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0" dur="500"/>
                                        <p:tgtEl>
                                          <p:spTgt spid="3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3" dur="500"/>
                                        <p:tgtEl>
                                          <p:spTgt spid="3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44" grpId="0"/>
      <p:bldP spid="32844" grpId="1"/>
      <p:bldP spid="32844" grpId="2"/>
      <p:bldP spid="32836" grpId="0"/>
      <p:bldP spid="32836" grpId="1"/>
      <p:bldP spid="32836" grpId="2"/>
      <p:bldP spid="32835" grpId="0"/>
      <p:bldP spid="32835" grpId="1"/>
      <p:bldP spid="32838" grpId="0"/>
      <p:bldP spid="32838" grpId="1"/>
      <p:bldP spid="32838" grpId="2"/>
      <p:bldP spid="32858" grpId="0"/>
      <p:bldP spid="32858" grpId="1"/>
      <p:bldP spid="32782" grpId="0"/>
      <p:bldP spid="32782" grpId="1"/>
      <p:bldP spid="32770" grpId="0"/>
      <p:bldP spid="32770" grpId="1"/>
      <p:bldP spid="32833" grpId="0"/>
      <p:bldP spid="32771" grpId="0"/>
      <p:bldP spid="32781" grpId="0"/>
      <p:bldP spid="32777" grpId="0"/>
      <p:bldP spid="32777" grpId="1"/>
      <p:bldP spid="32778" grpId="0"/>
      <p:bldP spid="32778" grpId="1"/>
      <p:bldP spid="32772" grpId="0"/>
      <p:bldP spid="32772" grpId="1"/>
      <p:bldP spid="32773" grpId="0"/>
      <p:bldP spid="32773" grpId="1"/>
      <p:bldP spid="32774" grpId="0"/>
      <p:bldP spid="32774" grpId="1"/>
      <p:bldP spid="32775" grpId="0"/>
      <p:bldP spid="32775" grpId="1"/>
      <p:bldP spid="32783" grpId="0"/>
      <p:bldP spid="32784" grpId="0"/>
      <p:bldP spid="32784" grpId="1"/>
      <p:bldP spid="32785" grpId="0"/>
      <p:bldP spid="32785" grpId="1"/>
      <p:bldP spid="32789" grpId="0"/>
      <p:bldP spid="32789" grpId="1"/>
      <p:bldP spid="32832" grpId="0"/>
      <p:bldP spid="32832" grpId="1"/>
      <p:bldP spid="32839" grpId="0"/>
      <p:bldP spid="32839" grpId="1"/>
      <p:bldP spid="32840" grpId="0"/>
      <p:bldP spid="32840" grpId="1"/>
      <p:bldP spid="32840" grpId="2"/>
      <p:bldP spid="32841" grpId="0"/>
      <p:bldP spid="32841" grpId="1"/>
      <p:bldP spid="32841" grpId="2"/>
      <p:bldP spid="32842" grpId="0"/>
      <p:bldP spid="32842" grpId="1"/>
      <p:bldP spid="32843" grpId="0"/>
      <p:bldP spid="32843" grpId="1"/>
      <p:bldP spid="32846" grpId="0"/>
      <p:bldP spid="32846" grpId="1"/>
      <p:bldP spid="32846" grpId="2"/>
      <p:bldP spid="32847" grpId="0"/>
      <p:bldP spid="32847" grpId="1"/>
      <p:bldP spid="32849" grpId="0" animBg="1"/>
      <p:bldP spid="32850" grpId="0" animBg="1"/>
      <p:bldP spid="32851" grpId="0" animBg="1"/>
      <p:bldP spid="32852" grpId="0" animBg="1"/>
      <p:bldP spid="32853" grpId="0" animBg="1"/>
      <p:bldP spid="32854" grpId="0" animBg="1"/>
      <p:bldP spid="32855" grpId="0" animBg="1"/>
      <p:bldP spid="32856" grpId="0" animBg="1"/>
      <p:bldP spid="3285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26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Bubble Sort</a:t>
            </a:r>
          </a:p>
        </p:txBody>
      </p:sp>
      <p:sp>
        <p:nvSpPr>
          <p:cNvPr id="47127" name="Rectangle 2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0010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Given n numbers to sort: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Repeat the following n-1 times: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For each pair of adjacent numbers:</a:t>
            </a:r>
          </a:p>
          <a:p>
            <a:pPr lvl="2">
              <a:lnSpc>
                <a:spcPct val="90000"/>
              </a:lnSpc>
            </a:pPr>
            <a:r>
              <a:rPr lang="en-US" altLang="en-US" sz="1800"/>
              <a:t>If the number on the left is greater than the number on the right, swap them</a:t>
            </a:r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How efficient is bubble sort?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In general, given n numbers to sort, it performs n</a:t>
            </a:r>
            <a:r>
              <a:rPr lang="en-US" altLang="en-US" sz="2000" baseline="30000"/>
              <a:t>2</a:t>
            </a:r>
            <a:r>
              <a:rPr lang="en-US" altLang="en-US" sz="2000"/>
              <a:t> comparisons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The same as selection sort</a:t>
            </a:r>
            <a:br>
              <a:rPr lang="en-US" altLang="en-US" sz="2000"/>
            </a:b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400"/>
              <a:t>Is there a simple way to improve on the basic bubble sort?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Yes!  Stop after going through without making any swaps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This will only help some of the time</a:t>
            </a:r>
          </a:p>
        </p:txBody>
      </p:sp>
      <p:sp>
        <p:nvSpPr>
          <p:cNvPr id="47154" name="Line 50"/>
          <p:cNvSpPr>
            <a:spLocks noChangeShapeType="1"/>
          </p:cNvSpPr>
          <p:nvPr/>
        </p:nvSpPr>
        <p:spPr bwMode="auto">
          <a:xfrm>
            <a:off x="609600" y="3276600"/>
            <a:ext cx="7239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b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8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27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Bubble Sort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001000" cy="2209800"/>
          </a:xfrm>
        </p:spPr>
        <p:txBody>
          <a:bodyPr/>
          <a:lstStyle/>
          <a:p>
            <a:r>
              <a:rPr lang="en-US" altLang="en-US" sz="2800"/>
              <a:t>Given n numbers to sort:</a:t>
            </a:r>
          </a:p>
          <a:p>
            <a:r>
              <a:rPr lang="en-US" altLang="en-US" sz="2800"/>
              <a:t>Repeat the following n-1 times:</a:t>
            </a:r>
          </a:p>
          <a:p>
            <a:pPr lvl="1"/>
            <a:r>
              <a:rPr lang="en-US" altLang="en-US" sz="2400"/>
              <a:t>For each pair of adjacent numbers:</a:t>
            </a:r>
          </a:p>
          <a:p>
            <a:pPr lvl="2"/>
            <a:r>
              <a:rPr lang="en-US" altLang="en-US" sz="2000"/>
              <a:t>If the number on the left is greater than the number on the right, swap them</a:t>
            </a:r>
          </a:p>
        </p:txBody>
      </p:sp>
      <p:graphicFrame>
        <p:nvGraphicFramePr>
          <p:cNvPr id="49157" name="Group 5"/>
          <p:cNvGraphicFramePr>
            <a:graphicFrameLocks noGrp="1"/>
          </p:cNvGraphicFramePr>
          <p:nvPr/>
        </p:nvGraphicFramePr>
        <p:xfrm>
          <a:off x="990600" y="4786313"/>
          <a:ext cx="6096000" cy="965200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65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173" name="Text Box 21"/>
          <p:cNvSpPr txBox="1">
            <a:spLocks noChangeArrowheads="1"/>
          </p:cNvSpPr>
          <p:nvPr/>
        </p:nvSpPr>
        <p:spPr bwMode="auto">
          <a:xfrm>
            <a:off x="990600" y="4267200"/>
            <a:ext cx="6172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Try one!</a:t>
            </a:r>
          </a:p>
        </p:txBody>
      </p:sp>
    </p:spTree>
    <p:extLst>
      <p:ext uri="{BB962C8B-B14F-4D97-AF65-F5344CB8AC3E}">
        <p14:creationId xmlns:p14="http://schemas.microsoft.com/office/powerpoint/2010/main" val="350504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8229600" cy="49530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Bubble Sort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Suppose the following numbers are stored in an array A: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A:    32,  51,  27,  85,  66,  23,  13,  57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Apply the bubble sort to the array A. Show each pass separately.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Pass 1: (a) Compare A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A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Since 32&lt; 51, the list is not altered.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		A:  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32,  51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27,  85,  66,  23,  13,  57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       (b) Compare A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A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Since 51&gt;27, interchange 51 and 27.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 		A:    32,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27,  51,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85,  66,  23,  13,  57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       (c) Compare A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A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4.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Since 51&lt;85, the list is not altered.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 		A:    32,  27,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51,  85,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66,  23,  13,  57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       (d) Compare A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A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5.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Since 85&gt;66, interchange 85 and 66.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 		A:    32,  27,  51,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66,  85,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23,  13,  57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61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8229600" cy="44958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Bubble Sort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Suppose the following numbers are stored in an array A: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A:    32,  51,  27,  85,  66,  23,  13,  57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Apply the bubble sort to the array A. Show each pass separately.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Pass 1: (e) Compare A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A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6.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Since 85&gt;23, interchange 85 and 23.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 		A:    32,  27,  51,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66,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23,  85,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13,  57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       (f) Compare A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A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7.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Since 85&gt;13, interchange 85and 13.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 		A:    32,  27,  51,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66,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23,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13,  85,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57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       (g) Compare A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A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8.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Since 85&gt;57, interchange 85 and 57.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 		A:    32,  27,  51,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66,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23,  13,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57,  85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62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8229600" cy="51816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Bubble Sort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Suppose the following numbers are stored in an array A: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A:    32,  51,  27,  85,  66,  23,  13,  57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Apply the bubble sort to the array A. Show each pass separately.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1: 	A:    32,  27,  51,  66,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Pass 2: 	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27,  32,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51,  66,  23,  13,  57,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27,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32,  51,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66,  23,  13,  57,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27,  32,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51,  66,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27,  32,  51,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23,  66,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27,  32,  51,  23,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13,  66,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27,  32,  51,  23,  13,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57,  66,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63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8229600" cy="51816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Bubble Sort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Suppose the following numbers are stored in an array A: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A:    32,  51,  27,  85,  66,  23,  13,  57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Apply the bubble sort to the array A. Show each pass separately.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1: 	A:    32,  27,  51,  66,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2: 	A:    27,  32,  51,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Pass 3:	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27,  32,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51,  23,  13,  57,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27,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32,  51,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27,  32,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23,  51,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27,  32,  23,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13,  51,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27,  32,  23,  13,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51,  57,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64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8229600" cy="51816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Bubble Sort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Suppose the following numbers are stored in an array A: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A:    32,  51,  27,  85,  66,  23,  13,  57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Apply the bubble sort to the array A. Show each pass separately.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1: 	A:    32,  27,  51,  66,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2: 	A:    27,  32,  51,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3:   A:    27,  32,  23,  13,  51,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Pass 4:	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27,  32,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23,  13,  51,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27,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23,  32,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13,  51,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27,  23,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13,  32,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51,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27,  23,  13,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32,  51,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65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8229600" cy="51816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Bubble Sort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Suppose the following numbers are stored in an array A: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A:    32,  51,  27,  85,  66,  23,  13,  57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Apply the bubble sort to the array A. Show each pass separately.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1: 	A:    32,  27,  51,  66,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2: 	A:    27,  32,  51,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3:   A:    27,  32,  23,  13,  51,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4:   A:    27,  23,  13,  32,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Pass 5:	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23,  27,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13,  32,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23,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13,  27,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32,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23,  13,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27,  32,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66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8229600" cy="51816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Bubble Sort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Suppose the following numbers are stored in an array A: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A:    32,  51,  27,  85,  66,  23,  13,  57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Apply the bubble sort to the array A. Show each pass separately.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1: 	A:    32,  27,  51,  66,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2: 	A:    27,  32,  51,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3:   A:    27,  32,  23,  13,  51,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4:   A:    27,  23,  13,  32,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5:   A:    23,  13,  27,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32,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Pass 6:	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13,  23,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27,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32,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13, 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23,  27,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32,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67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8229600" cy="51816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Bubble Sort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Suppose the following numbers are stored in an array A: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A:    32,  51,  27,  85,  66,  23,  13,  57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Apply the bubble sort to the array A. Show each pass separately.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1: 	A:    32,  27,  51,  66,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2: 	A:    27,  32,  51,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3:   A:    27,  32,  23,  13,  51,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4:   A:    27,  23,  13,  32,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5:   A:    23,  13,  27,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32,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6:   A:    13,  23,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27,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32,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Pass 7:	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13,  23,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27,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32,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68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8229600" cy="51816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Bubble Sort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Suppose the following numbers are stored in an array A: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A:    32,  51,  27,  85,  66,  23,  13,  57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Apply the bubble sort to the array A. Show each pass separately.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1: 	A:    32,  27,  51,  66,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2: 	A:    27,  32,  51,  23,  13,  57,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3:   A:    27,  32,  23,  13,  51,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4:   A:    27,  23,  13,  32,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5:   A:    23,  13,  27,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32,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6:   A:    13,  23,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27,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32,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After Pass 7:   A:    13,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23,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27,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32,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51,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57,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66,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85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Sorted List:	 A:    13,  23,  27,  32,  51,  57,  66,  85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69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8229600" cy="51816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Algorithm 4.4: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(Bubble Sort) BUBBLE (DATA, N)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Here DATA is an Array with N elements. This algorithm sorts the elements in DATA.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257300" lvl="2" indent="-45720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1.    Repeat Steps 2 and 3 for K = 1 to N-1</a:t>
            </a:r>
          </a:p>
          <a:p>
            <a:pPr marL="1257300" lvl="2" indent="-45720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2.           Set PTR: =1   </a:t>
            </a:r>
          </a:p>
          <a:p>
            <a:pPr marL="1257300" lvl="2" indent="-45720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3.           Repeat while PTR&lt;=N-K  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  (a) If DATA[PTR]&gt;DATA[PTR+1], then: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Interchange DATA[PTR] and DATA[PTR+1]	        [End of if structure]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              (b) Set PTR: =PTR+1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[End of inner loop]</a:t>
            </a:r>
          </a:p>
          <a:p>
            <a:pPr lvl="2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[End of Step 1 Outer loop]</a:t>
            </a:r>
          </a:p>
          <a:p>
            <a:pPr marL="1257300" lvl="2" indent="-45720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4.    Exit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70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8229600" cy="51816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Complexity of the bubble sort algorithm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time for a sorting algorithm is measured in terms of the number of comparisons. The number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of comparisons in the bubble sort is easily computed. Specifically, there are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-1 comparisons during first pass, which places the largest element in the last position, there are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-2 comparisons in the second pass, which places the second largest element in the next to last position, and so on. Thus,</a:t>
            </a:r>
          </a:p>
          <a:p>
            <a:pPr lvl="1">
              <a:buNone/>
            </a:pP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lvl="1">
              <a:buNone/>
            </a:pP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	f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= (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-1) + (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-2) +. . . + 2 + 1 =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-1)/2=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/2+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other words, the time required to execute bubble sort algorithm is proportional to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where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is the number of input items.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71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8229600" cy="51816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Solved Problem 4.9: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Using the bubble sort algorithm, find the number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 comparisons and the number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 interchanges which alphabetize the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=6 letters in PEOPLE.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Pass 1:    P E O P L E,		E P O P L E,		E O P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L E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      E O P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L E,		E O P L P E,		E O P L E P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Pass 2:    E O P L E P,		E O P L E P,		E O P L E P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      E O L P E P,		E O L E P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Pass 3:    E O L E P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		E O L E P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		E L O E P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		      E L E O P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Pass 4:    E L E O P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		E L E O P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		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L O P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Pass 5:    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L O P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		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L O P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72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036669" y="2541494"/>
            <a:ext cx="428625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600575" y="2541494"/>
            <a:ext cx="428625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2680447" y="2922494"/>
            <a:ext cx="428625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7" name="Oval 3"/>
          <p:cNvSpPr>
            <a:spLocks noChangeArrowheads="1"/>
          </p:cNvSpPr>
          <p:nvPr/>
        </p:nvSpPr>
        <p:spPr bwMode="auto">
          <a:xfrm>
            <a:off x="7581900" y="2501153"/>
            <a:ext cx="419100" cy="395287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250516" y="2909047"/>
            <a:ext cx="428625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Oval 3"/>
          <p:cNvSpPr>
            <a:spLocks noChangeArrowheads="1"/>
          </p:cNvSpPr>
          <p:nvPr/>
        </p:nvSpPr>
        <p:spPr bwMode="auto">
          <a:xfrm>
            <a:off x="2066365" y="3535736"/>
            <a:ext cx="419100" cy="395287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Oval 3"/>
          <p:cNvSpPr>
            <a:spLocks noChangeArrowheads="1"/>
          </p:cNvSpPr>
          <p:nvPr/>
        </p:nvSpPr>
        <p:spPr bwMode="auto">
          <a:xfrm>
            <a:off x="4621306" y="3527612"/>
            <a:ext cx="419100" cy="395287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7570694" y="3594847"/>
            <a:ext cx="428625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2689412" y="3948953"/>
            <a:ext cx="428625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Oval 3"/>
          <p:cNvSpPr>
            <a:spLocks noChangeArrowheads="1"/>
          </p:cNvSpPr>
          <p:nvPr/>
        </p:nvSpPr>
        <p:spPr bwMode="auto">
          <a:xfrm>
            <a:off x="2055159" y="4571160"/>
            <a:ext cx="419100" cy="395287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Rectangle 2"/>
          <p:cNvSpPr>
            <a:spLocks noChangeArrowheads="1"/>
          </p:cNvSpPr>
          <p:nvPr/>
        </p:nvSpPr>
        <p:spPr bwMode="auto">
          <a:xfrm>
            <a:off x="4614022" y="4625788"/>
            <a:ext cx="428625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7584141" y="4621306"/>
            <a:ext cx="428625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Oval 3"/>
          <p:cNvSpPr>
            <a:spLocks noChangeArrowheads="1"/>
          </p:cNvSpPr>
          <p:nvPr/>
        </p:nvSpPr>
        <p:spPr bwMode="auto">
          <a:xfrm>
            <a:off x="2043953" y="5297301"/>
            <a:ext cx="419100" cy="395287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4600575" y="5360894"/>
            <a:ext cx="428625" cy="3048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Oval 3"/>
          <p:cNvSpPr>
            <a:spLocks noChangeArrowheads="1"/>
          </p:cNvSpPr>
          <p:nvPr/>
        </p:nvSpPr>
        <p:spPr bwMode="auto">
          <a:xfrm>
            <a:off x="2057400" y="5665694"/>
            <a:ext cx="419100" cy="395287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8229600" cy="51816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Solved Problem 4.9: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Using the bubble sort algorithm, find the number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 comparisons and the number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 interchanges which alphabetize the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=6 letters in PEOPLE.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Since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=6, the number of comparisons,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5+4+3+2+1=15 and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the number of interchanges,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9.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73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7848600" cy="54102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Solved Problem 4.11: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Suppose multidimensional arrays A and B are declared using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		A(-2:2,  2:22)    and     B(1:8,  -5:5,  -10;5)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(a) Find the length of each dimension and the number of elements in A and B.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(b) Consider the element B[3, 3, 3] in B . Find the effective indices 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2,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and the address of the element, assuming Base(B)=400 and  there  are  w=4 words per memory location.</a:t>
            </a: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	Solution: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(a) Length = UB – LB +1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     Hence, the lengths of the dimensions of A are: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     	L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= 2-(-2)+1=5 and L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= 22 -2+1=21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    Accordingly, A has 5.21=105 elements.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 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    The lengths of the dimensions of B are: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   L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= 8-1+1=8,     L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= 5-(-5)+1=11, and L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=5-(-10)+1=16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    Therefore, B  has  8.11.16 =1408 elements.</a:t>
            </a:r>
          </a:p>
          <a:p>
            <a:pPr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74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 idx="4294967295"/>
          </p:nvPr>
        </p:nvSpPr>
        <p:spPr>
          <a:xfrm>
            <a:off x="1219200" y="350838"/>
            <a:ext cx="6934200" cy="79216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Structures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4294967295"/>
          </p:nvPr>
        </p:nvSpPr>
        <p:spPr>
          <a:xfrm>
            <a:off x="685800" y="1219200"/>
            <a:ext cx="7848600" cy="5410200"/>
          </a:xfrm>
          <a:prstGeom prst="rect">
            <a:avLst/>
          </a:prstGeo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Solved Problem 4.11: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Suppose multidimensional arrays A and B are declared using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		A(-2:2,  2:22)    and     B(1:8,  -5:5,  -10;5)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(b) Consider the element B[3, 3, 3] in B . Find the effective indices 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2,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and the address of the element, assuming Base(B)=400 and  there  are  w=4 words per memory location.</a:t>
            </a: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	Solution: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(b) The effective index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1800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is obtained from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1800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1800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– LB, where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1800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is the given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index   and  LB is the  lower bound . Hence,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	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=3-1=2      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=3-(-5)=8       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=3-(-10)=13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The address depends on whether the programming language stores B in row-major order or column-major order. Assuming B is the stored in column–major order, we get: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            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L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=13.11=143                     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L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+ 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=143+8=151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             (E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L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+ 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)L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=151.8=1208          (E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L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+ 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)L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+E</a:t>
            </a:r>
            <a:r>
              <a:rPr lang="en-US" sz="18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=1208+2=1210</a:t>
            </a: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Therefore, LOC(B[3,3,3])=400+4(1210)=400+4840=5240</a:t>
            </a:r>
          </a:p>
          <a:p>
            <a:pPr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281A4-4C9D-4645-98E5-DC94BB779CF3}" type="slidenum">
              <a:rPr lang="en-US" smtClean="0">
                <a:solidFill>
                  <a:srgbClr val="00B050"/>
                </a:solidFill>
              </a:rPr>
              <a:pPr/>
              <a:t>75</a:t>
            </a:fld>
            <a:endParaRPr lang="en-US">
              <a:solidFill>
                <a:srgbClr val="00B050"/>
              </a:solidFill>
            </a:endParaRPr>
          </a:p>
        </p:txBody>
      </p:sp>
      <p:pic>
        <p:nvPicPr>
          <p:cNvPr id="7" name="Picture 6" descr="JU Mon eps.t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2880" y="137162"/>
            <a:ext cx="800213" cy="990598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143000" y="1143000"/>
            <a:ext cx="7010400" cy="0"/>
          </a:xfrm>
          <a:prstGeom prst="line">
            <a:avLst/>
          </a:prstGeom>
          <a:ln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2926</Words>
  <Application>Microsoft Office PowerPoint</Application>
  <PresentationFormat>On-screen Show (4:3)</PresentationFormat>
  <Paragraphs>1695</Paragraphs>
  <Slides>75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8" baseType="lpstr">
      <vt:lpstr>宋体</vt:lpstr>
      <vt:lpstr>Arial</vt:lpstr>
      <vt:lpstr>Arial MT</vt:lpstr>
      <vt:lpstr>Calibri</vt:lpstr>
      <vt:lpstr>Comic Sans MS</vt:lpstr>
      <vt:lpstr>Constantia</vt:lpstr>
      <vt:lpstr>Courier New</vt:lpstr>
      <vt:lpstr>Monotype Sorts</vt:lpstr>
      <vt:lpstr>Symbol</vt:lpstr>
      <vt:lpstr>Times New Roman</vt:lpstr>
      <vt:lpstr>Wingdings</vt:lpstr>
      <vt:lpstr>Office Theme</vt:lpstr>
      <vt:lpstr>Equation</vt:lpstr>
      <vt:lpstr>Data Structure and Algorithm (PMSCS 623P)</vt:lpstr>
      <vt:lpstr>Linear Arrays</vt:lpstr>
      <vt:lpstr>Linear Arrays</vt:lpstr>
      <vt:lpstr>Linear Arrays</vt:lpstr>
      <vt:lpstr>Declaring and Initializing Arrays</vt:lpstr>
      <vt:lpstr>Representation of Linear Array in Memory</vt:lpstr>
      <vt:lpstr>Representation of Linear Array in Memory</vt:lpstr>
      <vt:lpstr>Representation of Linear Array in Memory</vt:lpstr>
      <vt:lpstr>Example 1</vt:lpstr>
      <vt:lpstr>Example 2</vt:lpstr>
      <vt:lpstr>Data Structures</vt:lpstr>
      <vt:lpstr>The Search Problem</vt:lpstr>
      <vt:lpstr>Algorithm 1:  Linear Search</vt:lpstr>
      <vt:lpstr>Linear Search time complexity</vt:lpstr>
      <vt:lpstr>Binary Search (recursive)</vt:lpstr>
      <vt:lpstr>Binary Search (iteration)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Retrieving an Item from Sorted List</vt:lpstr>
      <vt:lpstr>Binary Search (recursive)</vt:lpstr>
      <vt:lpstr>Time complexity analysis</vt:lpstr>
      <vt:lpstr>Analysis: solving recurrence</vt:lpstr>
      <vt:lpstr>Time complexity analysis</vt:lpstr>
      <vt:lpstr>Data Structures</vt:lpstr>
      <vt:lpstr>Data Structures</vt:lpstr>
      <vt:lpstr>Data Structures</vt:lpstr>
      <vt:lpstr>Data Structures</vt:lpstr>
      <vt:lpstr>"Bubbling Up" the Largest Element</vt:lpstr>
      <vt:lpstr>PowerPoint Presentation</vt:lpstr>
      <vt:lpstr>"Bubbling Up" the Largest Element</vt:lpstr>
      <vt:lpstr>"Bubbling Up" the Largest Element</vt:lpstr>
      <vt:lpstr>"Bubbling Up" the Largest Element</vt:lpstr>
      <vt:lpstr>"Bubbling Up" the Largest Element</vt:lpstr>
      <vt:lpstr>"Bubbling Up" the Largest Element</vt:lpstr>
      <vt:lpstr>Bubble Sort</vt:lpstr>
      <vt:lpstr>Bubble Sort</vt:lpstr>
      <vt:lpstr>Bubble Sort</vt:lpstr>
      <vt:lpstr>Bubble Sort</vt:lpstr>
      <vt:lpstr>Data Structures</vt:lpstr>
      <vt:lpstr>Data Structures</vt:lpstr>
      <vt:lpstr>Data Structures</vt:lpstr>
      <vt:lpstr>Data Structures</vt:lpstr>
      <vt:lpstr>Data Structures</vt:lpstr>
      <vt:lpstr>Data Structures</vt:lpstr>
      <vt:lpstr>Data Structures</vt:lpstr>
      <vt:lpstr>Data Structures</vt:lpstr>
      <vt:lpstr>Data Structures</vt:lpstr>
      <vt:lpstr>Data Structures</vt:lpstr>
      <vt:lpstr>Data Structures</vt:lpstr>
      <vt:lpstr>Data Structures</vt:lpstr>
      <vt:lpstr>Data Structures</vt:lpstr>
      <vt:lpstr>Data Structures</vt:lpstr>
      <vt:lpstr>Data Structures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HP</cp:lastModifiedBy>
  <cp:revision>887</cp:revision>
  <dcterms:created xsi:type="dcterms:W3CDTF">2014-09-22T15:27:45Z</dcterms:created>
  <dcterms:modified xsi:type="dcterms:W3CDTF">2026-04-23T02:53:19Z</dcterms:modified>
</cp:coreProperties>
</file>