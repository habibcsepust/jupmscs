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5"/>
  </p:notesMasterIdLst>
  <p:sldIdLst>
    <p:sldId id="347" r:id="rId2"/>
    <p:sldId id="348" r:id="rId3"/>
    <p:sldId id="349" r:id="rId4"/>
    <p:sldId id="346" r:id="rId5"/>
    <p:sldId id="308" r:id="rId6"/>
    <p:sldId id="344" r:id="rId7"/>
    <p:sldId id="345" r:id="rId8"/>
    <p:sldId id="309" r:id="rId9"/>
    <p:sldId id="310" r:id="rId10"/>
    <p:sldId id="311" r:id="rId11"/>
    <p:sldId id="312" r:id="rId12"/>
    <p:sldId id="258" r:id="rId13"/>
    <p:sldId id="286" r:id="rId14"/>
    <p:sldId id="287" r:id="rId15"/>
    <p:sldId id="288" r:id="rId16"/>
    <p:sldId id="261" r:id="rId17"/>
    <p:sldId id="269" r:id="rId18"/>
    <p:sldId id="313" r:id="rId19"/>
    <p:sldId id="271" r:id="rId20"/>
    <p:sldId id="272" r:id="rId21"/>
    <p:sldId id="291" r:id="rId22"/>
    <p:sldId id="290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300" r:id="rId32"/>
    <p:sldId id="350" r:id="rId33"/>
    <p:sldId id="329" r:id="rId34"/>
    <p:sldId id="330" r:id="rId35"/>
    <p:sldId id="331" r:id="rId36"/>
    <p:sldId id="332" r:id="rId37"/>
    <p:sldId id="333" r:id="rId38"/>
    <p:sldId id="334" r:id="rId39"/>
    <p:sldId id="335" r:id="rId40"/>
    <p:sldId id="336" r:id="rId41"/>
    <p:sldId id="337" r:id="rId42"/>
    <p:sldId id="338" r:id="rId43"/>
    <p:sldId id="339" r:id="rId44"/>
    <p:sldId id="340" r:id="rId45"/>
    <p:sldId id="341" r:id="rId46"/>
    <p:sldId id="342" r:id="rId47"/>
    <p:sldId id="343" r:id="rId48"/>
    <p:sldId id="279" r:id="rId49"/>
    <p:sldId id="280" r:id="rId50"/>
    <p:sldId id="306" r:id="rId51"/>
    <p:sldId id="281" r:id="rId52"/>
    <p:sldId id="305" r:id="rId53"/>
    <p:sldId id="301" r:id="rId54"/>
    <p:sldId id="282" r:id="rId55"/>
    <p:sldId id="302" r:id="rId56"/>
    <p:sldId id="283" r:id="rId57"/>
    <p:sldId id="303" r:id="rId58"/>
    <p:sldId id="284" r:id="rId59"/>
    <p:sldId id="304" r:id="rId60"/>
    <p:sldId id="285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2C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707" autoAdjust="0"/>
  </p:normalViewPr>
  <p:slideViewPr>
    <p:cSldViewPr snapToGrid="0"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771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A3797-872C-47C4-85CC-A7A373325DBF}" type="datetimeFigureOut">
              <a:rPr lang="en-US" smtClean="0"/>
              <a:pPr/>
              <a:t>7/25/2025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36E7A3-2378-4B71-B4BC-0FE0947082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678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36E7A3-2378-4B71-B4BC-0FE0947082E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39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6FD14BA-9FD2-43BF-9680-18793B8448C5}" type="slidenum">
              <a:rPr lang="en-US"/>
              <a:pPr/>
              <a:t>18</a:t>
            </a:fld>
            <a:endParaRPr lang="en-US"/>
          </a:p>
        </p:txBody>
      </p:sp>
      <p:sp>
        <p:nvSpPr>
          <p:cNvPr id="917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7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256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36E7A3-2378-4B71-B4BC-0FE0947082EB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536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5575" y="2951163"/>
            <a:ext cx="7772400" cy="2387600"/>
          </a:xfrm>
        </p:spPr>
        <p:txBody>
          <a:bodyPr anchor="b">
            <a:noAutofit/>
          </a:bodyPr>
          <a:lstStyle>
            <a:lvl1pPr algn="l">
              <a:defRPr sz="6600" b="0">
                <a:solidFill>
                  <a:schemeClr val="tx1"/>
                </a:solidFill>
                <a:latin typeface="Impact" panose="020B0806030902050204" pitchFamily="34" charset="0"/>
                <a:ea typeface="Gungsuh" panose="02030600000101010101" pitchFamily="18" charset="-127"/>
              </a:defRPr>
            </a:lvl1pPr>
          </a:lstStyle>
          <a:p>
            <a:r>
              <a:rPr lang="en-US" dirty="0"/>
              <a:t>Lecture 01</a:t>
            </a:r>
            <a:br>
              <a:rPr lang="en-US" dirty="0"/>
            </a:b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574" y="5443538"/>
            <a:ext cx="4352925" cy="4111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Britannic Bold" panose="020B0903060703020204" pitchFamily="34" charset="0"/>
                <a:ea typeface="Verdana" panose="020B0604030504040204" pitchFamily="34" charset="0"/>
                <a:cs typeface="Aharoni" panose="02010803020104030203" pitchFamily="2" charset="-79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5136-177F-4136-B2C3-285507DF2570}" type="datetime1">
              <a:rPr lang="en-US" smtClean="0"/>
              <a:pPr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335" y="106136"/>
            <a:ext cx="4359729" cy="326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991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FAC08-B571-477C-BD20-FFD36682D9AB}" type="datetime1">
              <a:rPr lang="en-US" smtClean="0"/>
              <a:pPr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95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83C5D-064A-410E-8F77-253C1D6D6892}" type="datetime1">
              <a:rPr lang="en-US" smtClean="0"/>
              <a:pPr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39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0D1A6-A076-4CAF-9BCC-01C7387BA29C}" type="datetime1">
              <a:rPr lang="en-US" smtClean="0"/>
              <a:pPr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346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6A17A-A23D-4A8D-95EB-FAFDE24F4B48}" type="datetime1">
              <a:rPr lang="en-US" smtClean="0"/>
              <a:pPr/>
              <a:t>7/25/2025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98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C010A-2413-4423-B821-9D1756BC60B1}" type="datetime1">
              <a:rPr lang="en-US" smtClean="0"/>
              <a:pPr/>
              <a:t>7/25/2025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011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0A42B-EAC5-43E8-A6A1-BCE0C41F2E96}" type="datetime1">
              <a:rPr lang="en-US" smtClean="0"/>
              <a:pPr/>
              <a:t>7/25/2025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21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24EA7-2EAA-4B0E-BB9C-490F1FA977A4}" type="datetime1">
              <a:rPr lang="en-US" smtClean="0"/>
              <a:pPr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41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F80D-9B55-4C3E-B406-139613ECF2A8}" type="datetime1">
              <a:rPr lang="en-US" smtClean="0"/>
              <a:pPr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81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9B530-E61E-41D0-87DF-D14DEA162983}" type="datetime1">
              <a:rPr lang="en-US" smtClean="0"/>
              <a:pPr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132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34B5C-7A83-4E22-9C6B-322E88DC3E45}" type="datetime1">
              <a:rPr lang="en-US" smtClean="0"/>
              <a:pPr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207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50838" y="1214438"/>
            <a:ext cx="40386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41838" y="1214438"/>
            <a:ext cx="40386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33524AA8-D094-4577-922C-314BE18CA6F9}" type="datetime1">
              <a:rPr lang="en-US" smtClean="0"/>
              <a:pPr/>
              <a:t>7/25/2025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A48B2152-2B3E-44A1-8FD0-4FF9B0873A6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6122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50838" y="1214438"/>
            <a:ext cx="8229600" cy="50768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53D12D-74AA-40D0-BE9D-6911DB6EFC5D}" type="datetime1">
              <a:rPr lang="en-US" smtClean="0"/>
              <a:pPr>
                <a:defRPr/>
              </a:pPr>
              <a:t>7/25/2025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F016DD-A2D6-41A3-94D4-B9B173881C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1761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5575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92DF3-7997-4AEA-8D65-081168CC9ABD}" type="datetime1">
              <a:rPr lang="en-US" smtClean="0"/>
              <a:pPr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00300" y="6356351"/>
            <a:ext cx="4279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9610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198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689367" y="880058"/>
            <a:ext cx="7765269" cy="1441802"/>
          </a:xfrm>
          <a:prstGeom prst="rect">
            <a:avLst/>
          </a:prstGeom>
        </p:spPr>
        <p:txBody>
          <a:bodyPr vert="horz" lIns="91356" tIns="45679" rIns="91356" bIns="45679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1199"/>
              </a:spcAft>
            </a:pPr>
            <a:r>
              <a:rPr lang="en-US" altLang="en-US" sz="6595" b="1" dirty="0" smtClean="0"/>
              <a:t>Data Structure and Algorithm</a:t>
            </a:r>
            <a:r>
              <a:rPr lang="en-US" altLang="en-US" sz="6595" b="1" dirty="0"/>
              <a:t/>
            </a:r>
            <a:br>
              <a:rPr lang="en-US" altLang="en-US" sz="6595" b="1" dirty="0"/>
            </a:br>
            <a:r>
              <a:rPr lang="en-US" altLang="en-US" sz="4796" b="1" dirty="0"/>
              <a:t>(PMSCS </a:t>
            </a:r>
            <a:r>
              <a:rPr lang="en-US" altLang="en-US" sz="4796" b="1" dirty="0" smtClean="0"/>
              <a:t>623P)</a:t>
            </a:r>
            <a:endParaRPr lang="en-US" altLang="en-US" sz="4796" b="1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374536" y="4038042"/>
            <a:ext cx="6394928" cy="1750993"/>
          </a:xfrm>
          <a:prstGeom prst="rect">
            <a:avLst/>
          </a:prstGeom>
        </p:spPr>
        <p:txBody>
          <a:bodyPr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9983" dirty="0"/>
              <a:t>Lecture </a:t>
            </a:r>
            <a:r>
              <a:rPr lang="en-US" sz="19983" dirty="0" smtClean="0"/>
              <a:t>16</a:t>
            </a:r>
            <a:endParaRPr lang="en-US" sz="19185" dirty="0"/>
          </a:p>
          <a:p>
            <a:pPr marL="0" indent="0" algn="ctr">
              <a:buNone/>
              <a:defRPr/>
            </a:pPr>
            <a:r>
              <a:rPr lang="en-US" sz="12300" dirty="0">
                <a:solidFill>
                  <a:srgbClr val="003399"/>
                </a:solidFill>
              </a:rPr>
              <a:t>Graph-Based Algorithms</a:t>
            </a:r>
          </a:p>
          <a:p>
            <a:pPr marL="0" indent="0" algn="ctr">
              <a:buNone/>
              <a:defRPr/>
            </a:pPr>
            <a:r>
              <a:rPr lang="en-US" sz="12300" dirty="0">
                <a:solidFill>
                  <a:srgbClr val="003399"/>
                </a:solidFill>
                <a:latin typeface="Calibri (body)"/>
              </a:rPr>
              <a:t>(</a:t>
            </a:r>
            <a:r>
              <a:rPr lang="en-US" sz="12300" dirty="0">
                <a:solidFill>
                  <a:schemeClr val="tx2"/>
                </a:solidFill>
              </a:rPr>
              <a:t>MST</a:t>
            </a:r>
            <a:r>
              <a:rPr lang="en-US" sz="12300" dirty="0">
                <a:solidFill>
                  <a:srgbClr val="003399"/>
                </a:solidFill>
                <a:latin typeface="Calibri (body)"/>
              </a:rPr>
              <a:t>)</a:t>
            </a:r>
            <a:endParaRPr lang="en-US" sz="8000" dirty="0">
              <a:solidFill>
                <a:schemeClr val="accent1">
                  <a:lumMod val="50000"/>
                </a:schemeClr>
              </a:solidFill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1966931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ED5BC-7F2A-4F60-A9F0-DDC9C115836D}" type="slidenum">
              <a:rPr lang="en-US" altLang="zh-TW"/>
              <a:pPr/>
              <a:t>2</a:t>
            </a:fld>
            <a:endParaRPr lang="en-US" altLang="zh-TW"/>
          </a:p>
        </p:txBody>
      </p:sp>
      <p:sp>
        <p:nvSpPr>
          <p:cNvPr id="52226" name="Oval 1026"/>
          <p:cNvSpPr>
            <a:spLocks noChangeArrowheads="1"/>
          </p:cNvSpPr>
          <p:nvPr/>
        </p:nvSpPr>
        <p:spPr bwMode="auto">
          <a:xfrm>
            <a:off x="2732088" y="185896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新細明體" pitchFamily="18" charset="-120"/>
              </a:rPr>
              <a:t>0</a:t>
            </a:r>
          </a:p>
        </p:txBody>
      </p:sp>
      <p:sp>
        <p:nvSpPr>
          <p:cNvPr id="52227" name="Oval 1027"/>
          <p:cNvSpPr>
            <a:spLocks noChangeArrowheads="1"/>
          </p:cNvSpPr>
          <p:nvPr/>
        </p:nvSpPr>
        <p:spPr bwMode="auto">
          <a:xfrm>
            <a:off x="2046288" y="262096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新細明體" pitchFamily="18" charset="-120"/>
              </a:rPr>
              <a:t>1</a:t>
            </a:r>
          </a:p>
        </p:txBody>
      </p:sp>
      <p:sp>
        <p:nvSpPr>
          <p:cNvPr id="52228" name="Oval 1028"/>
          <p:cNvSpPr>
            <a:spLocks noChangeArrowheads="1"/>
          </p:cNvSpPr>
          <p:nvPr/>
        </p:nvSpPr>
        <p:spPr bwMode="auto">
          <a:xfrm>
            <a:off x="3417888" y="262096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新細明體" pitchFamily="18" charset="-120"/>
              </a:rPr>
              <a:t>2</a:t>
            </a:r>
          </a:p>
        </p:txBody>
      </p:sp>
      <p:sp>
        <p:nvSpPr>
          <p:cNvPr id="52229" name="Oval 1029"/>
          <p:cNvSpPr>
            <a:spLocks noChangeArrowheads="1"/>
          </p:cNvSpPr>
          <p:nvPr/>
        </p:nvSpPr>
        <p:spPr bwMode="auto">
          <a:xfrm>
            <a:off x="2732088" y="323056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新細明體" pitchFamily="18" charset="-120"/>
              </a:rPr>
              <a:t>3</a:t>
            </a:r>
          </a:p>
        </p:txBody>
      </p:sp>
      <p:sp>
        <p:nvSpPr>
          <p:cNvPr id="52230" name="Line 1030"/>
          <p:cNvSpPr>
            <a:spLocks noChangeShapeType="1"/>
          </p:cNvSpPr>
          <p:nvPr/>
        </p:nvSpPr>
        <p:spPr bwMode="auto">
          <a:xfrm>
            <a:off x="2954338" y="2309813"/>
            <a:ext cx="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1" name="Line 1031"/>
          <p:cNvSpPr>
            <a:spLocks noChangeShapeType="1"/>
          </p:cNvSpPr>
          <p:nvPr/>
        </p:nvSpPr>
        <p:spPr bwMode="auto">
          <a:xfrm>
            <a:off x="2497138" y="2843213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2" name="Line 1032"/>
          <p:cNvSpPr>
            <a:spLocks noChangeShapeType="1"/>
          </p:cNvSpPr>
          <p:nvPr/>
        </p:nvSpPr>
        <p:spPr bwMode="auto">
          <a:xfrm flipH="1">
            <a:off x="2386013" y="2233613"/>
            <a:ext cx="407987" cy="434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3" name="Line 1033"/>
          <p:cNvSpPr>
            <a:spLocks noChangeShapeType="1"/>
          </p:cNvSpPr>
          <p:nvPr/>
        </p:nvSpPr>
        <p:spPr bwMode="auto">
          <a:xfrm>
            <a:off x="3106738" y="2233613"/>
            <a:ext cx="422275" cy="434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4" name="Line 1034"/>
          <p:cNvSpPr>
            <a:spLocks noChangeShapeType="1"/>
          </p:cNvSpPr>
          <p:nvPr/>
        </p:nvSpPr>
        <p:spPr bwMode="auto">
          <a:xfrm>
            <a:off x="2371725" y="3049588"/>
            <a:ext cx="354013" cy="3127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5" name="Line 1035"/>
          <p:cNvSpPr>
            <a:spLocks noChangeShapeType="1"/>
          </p:cNvSpPr>
          <p:nvPr/>
        </p:nvSpPr>
        <p:spPr bwMode="auto">
          <a:xfrm flipH="1">
            <a:off x="3160713" y="3022600"/>
            <a:ext cx="327025" cy="339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6" name="Oval 1036"/>
          <p:cNvSpPr>
            <a:spLocks noChangeArrowheads="1"/>
          </p:cNvSpPr>
          <p:nvPr/>
        </p:nvSpPr>
        <p:spPr bwMode="auto">
          <a:xfrm>
            <a:off x="6178550" y="190341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新細明體" pitchFamily="18" charset="-120"/>
              </a:rPr>
              <a:t>0</a:t>
            </a:r>
          </a:p>
        </p:txBody>
      </p:sp>
      <p:sp>
        <p:nvSpPr>
          <p:cNvPr id="52237" name="Oval 1037"/>
          <p:cNvSpPr>
            <a:spLocks noChangeArrowheads="1"/>
          </p:cNvSpPr>
          <p:nvPr/>
        </p:nvSpPr>
        <p:spPr bwMode="auto">
          <a:xfrm>
            <a:off x="5492750" y="266541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新細明體" pitchFamily="18" charset="-120"/>
              </a:rPr>
              <a:t>1</a:t>
            </a:r>
          </a:p>
        </p:txBody>
      </p:sp>
      <p:sp>
        <p:nvSpPr>
          <p:cNvPr id="52238" name="Oval 1038"/>
          <p:cNvSpPr>
            <a:spLocks noChangeArrowheads="1"/>
          </p:cNvSpPr>
          <p:nvPr/>
        </p:nvSpPr>
        <p:spPr bwMode="auto">
          <a:xfrm>
            <a:off x="6864350" y="266541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新細明體" pitchFamily="18" charset="-120"/>
              </a:rPr>
              <a:t>2</a:t>
            </a:r>
          </a:p>
        </p:txBody>
      </p:sp>
      <p:sp>
        <p:nvSpPr>
          <p:cNvPr id="52239" name="Line 1039"/>
          <p:cNvSpPr>
            <a:spLocks noChangeShapeType="1"/>
          </p:cNvSpPr>
          <p:nvPr/>
        </p:nvSpPr>
        <p:spPr bwMode="auto">
          <a:xfrm flipH="1">
            <a:off x="5832475" y="2278063"/>
            <a:ext cx="407988" cy="434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40" name="Line 1040"/>
          <p:cNvSpPr>
            <a:spLocks noChangeShapeType="1"/>
          </p:cNvSpPr>
          <p:nvPr/>
        </p:nvSpPr>
        <p:spPr bwMode="auto">
          <a:xfrm>
            <a:off x="6553200" y="2278063"/>
            <a:ext cx="422275" cy="434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41" name="Oval 1041"/>
          <p:cNvSpPr>
            <a:spLocks noChangeArrowheads="1"/>
          </p:cNvSpPr>
          <p:nvPr/>
        </p:nvSpPr>
        <p:spPr bwMode="auto">
          <a:xfrm>
            <a:off x="5110163" y="356235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新細明體" pitchFamily="18" charset="-120"/>
              </a:rPr>
              <a:t>3</a:t>
            </a:r>
          </a:p>
        </p:txBody>
      </p:sp>
      <p:sp>
        <p:nvSpPr>
          <p:cNvPr id="52242" name="Oval 1042"/>
          <p:cNvSpPr>
            <a:spLocks noChangeArrowheads="1"/>
          </p:cNvSpPr>
          <p:nvPr/>
        </p:nvSpPr>
        <p:spPr bwMode="auto">
          <a:xfrm>
            <a:off x="5870575" y="357505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新細明體" pitchFamily="18" charset="-120"/>
              </a:rPr>
              <a:t>4</a:t>
            </a:r>
          </a:p>
        </p:txBody>
      </p:sp>
      <p:sp>
        <p:nvSpPr>
          <p:cNvPr id="52243" name="Line 1043"/>
          <p:cNvSpPr>
            <a:spLocks noChangeShapeType="1"/>
          </p:cNvSpPr>
          <p:nvPr/>
        </p:nvSpPr>
        <p:spPr bwMode="auto">
          <a:xfrm flipH="1">
            <a:off x="5337175" y="3106738"/>
            <a:ext cx="263525" cy="460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44" name="Line 1044"/>
          <p:cNvSpPr>
            <a:spLocks noChangeShapeType="1"/>
          </p:cNvSpPr>
          <p:nvPr/>
        </p:nvSpPr>
        <p:spPr bwMode="auto">
          <a:xfrm>
            <a:off x="5788025" y="3121025"/>
            <a:ext cx="298450" cy="4587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45" name="Oval 1045"/>
          <p:cNvSpPr>
            <a:spLocks noChangeArrowheads="1"/>
          </p:cNvSpPr>
          <p:nvPr/>
        </p:nvSpPr>
        <p:spPr bwMode="auto">
          <a:xfrm>
            <a:off x="6515100" y="356393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新細明體" pitchFamily="18" charset="-120"/>
              </a:rPr>
              <a:t>5</a:t>
            </a:r>
          </a:p>
        </p:txBody>
      </p:sp>
      <p:sp>
        <p:nvSpPr>
          <p:cNvPr id="52246" name="Oval 1046"/>
          <p:cNvSpPr>
            <a:spLocks noChangeArrowheads="1"/>
          </p:cNvSpPr>
          <p:nvPr/>
        </p:nvSpPr>
        <p:spPr bwMode="auto">
          <a:xfrm>
            <a:off x="7259638" y="356235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hangingPunct="0"/>
            <a:r>
              <a:rPr lang="en-US" altLang="zh-TW" sz="2800">
                <a:solidFill>
                  <a:schemeClr val="tx1"/>
                </a:solidFill>
                <a:ea typeface="新細明體" pitchFamily="18" charset="-120"/>
              </a:rPr>
              <a:t>6</a:t>
            </a:r>
          </a:p>
        </p:txBody>
      </p:sp>
      <p:sp>
        <p:nvSpPr>
          <p:cNvPr id="52247" name="Line 1047"/>
          <p:cNvSpPr>
            <a:spLocks noChangeShapeType="1"/>
          </p:cNvSpPr>
          <p:nvPr/>
        </p:nvSpPr>
        <p:spPr bwMode="auto">
          <a:xfrm flipH="1">
            <a:off x="6711950" y="3090863"/>
            <a:ext cx="273050" cy="461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48" name="Line 1048"/>
          <p:cNvSpPr>
            <a:spLocks noChangeShapeType="1"/>
          </p:cNvSpPr>
          <p:nvPr/>
        </p:nvSpPr>
        <p:spPr bwMode="auto">
          <a:xfrm>
            <a:off x="7188200" y="3103563"/>
            <a:ext cx="273050" cy="4492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49" name="Rectangle 1049"/>
          <p:cNvSpPr>
            <a:spLocks noChangeArrowheads="1"/>
          </p:cNvSpPr>
          <p:nvPr/>
        </p:nvSpPr>
        <p:spPr bwMode="auto">
          <a:xfrm>
            <a:off x="2659063" y="3875088"/>
            <a:ext cx="5556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新細明體" pitchFamily="18" charset="-120"/>
              </a:rPr>
              <a:t>G</a:t>
            </a:r>
            <a:r>
              <a:rPr lang="en-US" altLang="zh-TW" sz="1800">
                <a:solidFill>
                  <a:schemeClr val="tx1"/>
                </a:solidFill>
                <a:ea typeface="新細明體" pitchFamily="18" charset="-120"/>
              </a:rPr>
              <a:t>1</a:t>
            </a:r>
          </a:p>
        </p:txBody>
      </p:sp>
      <p:sp>
        <p:nvSpPr>
          <p:cNvPr id="52250" name="Rectangle 1050"/>
          <p:cNvSpPr>
            <a:spLocks noChangeArrowheads="1"/>
          </p:cNvSpPr>
          <p:nvPr/>
        </p:nvSpPr>
        <p:spPr bwMode="auto">
          <a:xfrm>
            <a:off x="6130925" y="4137025"/>
            <a:ext cx="5556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altLang="zh-TW" sz="2800">
                <a:solidFill>
                  <a:schemeClr val="tx1"/>
                </a:solidFill>
                <a:ea typeface="新細明體" pitchFamily="18" charset="-120"/>
              </a:rPr>
              <a:t>G</a:t>
            </a:r>
            <a:r>
              <a:rPr lang="en-US" altLang="zh-TW" sz="1800">
                <a:solidFill>
                  <a:schemeClr val="tx1"/>
                </a:solidFill>
                <a:ea typeface="新細明體" pitchFamily="18" charset="-120"/>
              </a:rPr>
              <a:t>2</a:t>
            </a:r>
          </a:p>
        </p:txBody>
      </p:sp>
      <p:sp>
        <p:nvSpPr>
          <p:cNvPr id="52251" name="Text Box 1051"/>
          <p:cNvSpPr txBox="1">
            <a:spLocks noChangeArrowheads="1"/>
          </p:cNvSpPr>
          <p:nvPr/>
        </p:nvSpPr>
        <p:spPr bwMode="auto">
          <a:xfrm>
            <a:off x="4094163" y="1093788"/>
            <a:ext cx="14176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2"/>
                </a:solidFill>
                <a:ea typeface="新細明體" pitchFamily="18" charset="-120"/>
              </a:rPr>
              <a:t>connected</a:t>
            </a:r>
          </a:p>
        </p:txBody>
      </p:sp>
      <p:sp>
        <p:nvSpPr>
          <p:cNvPr id="52252" name="Text Box 1052"/>
          <p:cNvSpPr txBox="1">
            <a:spLocks noChangeArrowheads="1"/>
          </p:cNvSpPr>
          <p:nvPr/>
        </p:nvSpPr>
        <p:spPr bwMode="auto">
          <a:xfrm>
            <a:off x="5172075" y="4762500"/>
            <a:ext cx="2549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TW" sz="2400">
                <a:solidFill>
                  <a:schemeClr val="tx2"/>
                </a:solidFill>
                <a:ea typeface="新細明體" pitchFamily="18" charset="-120"/>
              </a:rPr>
              <a:t>tree (acyclic graph)</a:t>
            </a:r>
          </a:p>
        </p:txBody>
      </p:sp>
    </p:spTree>
    <p:extLst>
      <p:ext uri="{BB962C8B-B14F-4D97-AF65-F5344CB8AC3E}">
        <p14:creationId xmlns:p14="http://schemas.microsoft.com/office/powerpoint/2010/main" val="3975004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10600" cy="838200"/>
          </a:xfrm>
          <a:noFill/>
        </p:spPr>
        <p:txBody>
          <a:bodyPr lIns="92075" tIns="46038" rIns="92075" bIns="46038" anchor="b"/>
          <a:lstStyle/>
          <a:p>
            <a:pPr eaLnBrk="1" hangingPunct="1"/>
            <a:r>
              <a:rPr lang="en-US" altLang="zh-CN">
                <a:latin typeface="Times New Roman" pitchFamily="18" charset="0"/>
                <a:ea typeface="宋体" charset="-122"/>
              </a:rPr>
              <a:t>Which graphs are trees?</a:t>
            </a:r>
          </a:p>
        </p:txBody>
      </p:sp>
      <p:grpSp>
        <p:nvGrpSpPr>
          <p:cNvPr id="558083" name="Group 3"/>
          <p:cNvGrpSpPr>
            <a:grpSpLocks/>
          </p:cNvGrpSpPr>
          <p:nvPr/>
        </p:nvGrpSpPr>
        <p:grpSpPr bwMode="auto">
          <a:xfrm>
            <a:off x="246063" y="2147888"/>
            <a:ext cx="1908175" cy="3597275"/>
            <a:chOff x="155" y="1353"/>
            <a:chExt cx="1202" cy="2266"/>
          </a:xfrm>
        </p:grpSpPr>
        <p:sp>
          <p:nvSpPr>
            <p:cNvPr id="4138" name="Line 4"/>
            <p:cNvSpPr>
              <a:spLocks noChangeAspect="1" noChangeShapeType="1"/>
            </p:cNvSpPr>
            <p:nvPr/>
          </p:nvSpPr>
          <p:spPr bwMode="auto">
            <a:xfrm>
              <a:off x="318" y="2521"/>
              <a:ext cx="864" cy="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9" name="Line 5"/>
            <p:cNvSpPr>
              <a:spLocks noChangeAspect="1" noChangeShapeType="1"/>
            </p:cNvSpPr>
            <p:nvPr/>
          </p:nvSpPr>
          <p:spPr bwMode="auto">
            <a:xfrm rot="-2824836">
              <a:off x="150" y="2088"/>
              <a:ext cx="1202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0" name="Line 6"/>
            <p:cNvSpPr>
              <a:spLocks noChangeAspect="1" noChangeShapeType="1"/>
            </p:cNvSpPr>
            <p:nvPr/>
          </p:nvSpPr>
          <p:spPr bwMode="auto">
            <a:xfrm rot="16200000" flipV="1">
              <a:off x="-112" y="2090"/>
              <a:ext cx="864" cy="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1" name="Line 7"/>
            <p:cNvSpPr>
              <a:spLocks noChangeAspect="1" noChangeShapeType="1"/>
            </p:cNvSpPr>
            <p:nvPr/>
          </p:nvSpPr>
          <p:spPr bwMode="auto">
            <a:xfrm rot="2575164">
              <a:off x="155" y="2939"/>
              <a:ext cx="1202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2" name="Line 8"/>
            <p:cNvSpPr>
              <a:spLocks noChangeAspect="1" noChangeShapeType="1"/>
            </p:cNvSpPr>
            <p:nvPr/>
          </p:nvSpPr>
          <p:spPr bwMode="auto">
            <a:xfrm rot="10800000">
              <a:off x="320" y="3349"/>
              <a:ext cx="864" cy="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3" name="Text Box 9"/>
            <p:cNvSpPr txBox="1">
              <a:spLocks noChangeArrowheads="1"/>
            </p:cNvSpPr>
            <p:nvPr/>
          </p:nvSpPr>
          <p:spPr bwMode="auto">
            <a:xfrm>
              <a:off x="248" y="1357"/>
              <a:ext cx="131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a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4144" name="Text Box 10"/>
            <p:cNvSpPr txBox="1">
              <a:spLocks noChangeArrowheads="1"/>
            </p:cNvSpPr>
            <p:nvPr/>
          </p:nvSpPr>
          <p:spPr bwMode="auto">
            <a:xfrm>
              <a:off x="1071" y="1353"/>
              <a:ext cx="19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b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4145" name="Text Box 11"/>
            <p:cNvSpPr txBox="1">
              <a:spLocks noChangeArrowheads="1"/>
            </p:cNvSpPr>
            <p:nvPr/>
          </p:nvSpPr>
          <p:spPr bwMode="auto">
            <a:xfrm>
              <a:off x="222" y="2567"/>
              <a:ext cx="19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c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4146" name="Text Box 12"/>
            <p:cNvSpPr txBox="1">
              <a:spLocks noChangeArrowheads="1"/>
            </p:cNvSpPr>
            <p:nvPr/>
          </p:nvSpPr>
          <p:spPr bwMode="auto">
            <a:xfrm>
              <a:off x="1086" y="2586"/>
              <a:ext cx="19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d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4147" name="Text Box 13"/>
            <p:cNvSpPr txBox="1">
              <a:spLocks noChangeArrowheads="1"/>
            </p:cNvSpPr>
            <p:nvPr/>
          </p:nvSpPr>
          <p:spPr bwMode="auto">
            <a:xfrm>
              <a:off x="235" y="3389"/>
              <a:ext cx="131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e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4148" name="Text Box 14"/>
            <p:cNvSpPr txBox="1">
              <a:spLocks noChangeArrowheads="1"/>
            </p:cNvSpPr>
            <p:nvPr/>
          </p:nvSpPr>
          <p:spPr bwMode="auto">
            <a:xfrm>
              <a:off x="1058" y="3385"/>
              <a:ext cx="19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f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</p:grpSp>
      <p:grpSp>
        <p:nvGrpSpPr>
          <p:cNvPr id="558095" name="Group 15"/>
          <p:cNvGrpSpPr>
            <a:grpSpLocks/>
          </p:cNvGrpSpPr>
          <p:nvPr/>
        </p:nvGrpSpPr>
        <p:grpSpPr bwMode="auto">
          <a:xfrm>
            <a:off x="2673350" y="2135188"/>
            <a:ext cx="1679575" cy="3597275"/>
            <a:chOff x="1684" y="1345"/>
            <a:chExt cx="1058" cy="2266"/>
          </a:xfrm>
        </p:grpSpPr>
        <p:sp>
          <p:nvSpPr>
            <p:cNvPr id="4127" name="Line 16"/>
            <p:cNvSpPr>
              <a:spLocks noChangeAspect="1" noChangeShapeType="1"/>
            </p:cNvSpPr>
            <p:nvPr/>
          </p:nvSpPr>
          <p:spPr bwMode="auto">
            <a:xfrm rot="-3749224">
              <a:off x="1269" y="2500"/>
              <a:ext cx="1863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8" name="Line 17"/>
            <p:cNvSpPr>
              <a:spLocks noChangeAspect="1" noChangeShapeType="1"/>
            </p:cNvSpPr>
            <p:nvPr/>
          </p:nvSpPr>
          <p:spPr bwMode="auto">
            <a:xfrm rot="16200000" flipV="1">
              <a:off x="1332" y="2095"/>
              <a:ext cx="864" cy="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9" name="Line 18"/>
            <p:cNvSpPr>
              <a:spLocks noChangeAspect="1" noChangeShapeType="1"/>
            </p:cNvSpPr>
            <p:nvPr/>
          </p:nvSpPr>
          <p:spPr bwMode="auto">
            <a:xfrm rot="10800000">
              <a:off x="1764" y="3354"/>
              <a:ext cx="864" cy="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0" name="Line 19"/>
            <p:cNvSpPr>
              <a:spLocks noChangeAspect="1" noChangeShapeType="1"/>
            </p:cNvSpPr>
            <p:nvPr/>
          </p:nvSpPr>
          <p:spPr bwMode="auto">
            <a:xfrm rot="16200000" flipV="1">
              <a:off x="2205" y="2922"/>
              <a:ext cx="864" cy="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1" name="Line 20"/>
            <p:cNvSpPr>
              <a:spLocks noChangeShapeType="1"/>
            </p:cNvSpPr>
            <p:nvPr/>
          </p:nvSpPr>
          <p:spPr bwMode="auto">
            <a:xfrm>
              <a:off x="1775" y="1671"/>
              <a:ext cx="854" cy="16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2" name="Text Box 21"/>
            <p:cNvSpPr txBox="1">
              <a:spLocks noChangeArrowheads="1"/>
            </p:cNvSpPr>
            <p:nvPr/>
          </p:nvSpPr>
          <p:spPr bwMode="auto">
            <a:xfrm>
              <a:off x="1710" y="1349"/>
              <a:ext cx="131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 dirty="0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a</a:t>
              </a:r>
              <a:endParaRPr lang="en-US" altLang="zh-CN" sz="2400" dirty="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4133" name="Text Box 22"/>
            <p:cNvSpPr txBox="1">
              <a:spLocks noChangeArrowheads="1"/>
            </p:cNvSpPr>
            <p:nvPr/>
          </p:nvSpPr>
          <p:spPr bwMode="auto">
            <a:xfrm>
              <a:off x="2533" y="1345"/>
              <a:ext cx="19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b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4134" name="Text Box 23"/>
            <p:cNvSpPr txBox="1">
              <a:spLocks noChangeArrowheads="1"/>
            </p:cNvSpPr>
            <p:nvPr/>
          </p:nvSpPr>
          <p:spPr bwMode="auto">
            <a:xfrm>
              <a:off x="1684" y="2559"/>
              <a:ext cx="19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c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4135" name="Text Box 24"/>
            <p:cNvSpPr txBox="1">
              <a:spLocks noChangeArrowheads="1"/>
            </p:cNvSpPr>
            <p:nvPr/>
          </p:nvSpPr>
          <p:spPr bwMode="auto">
            <a:xfrm>
              <a:off x="2548" y="2227"/>
              <a:ext cx="19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d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4136" name="Text Box 25"/>
            <p:cNvSpPr txBox="1">
              <a:spLocks noChangeArrowheads="1"/>
            </p:cNvSpPr>
            <p:nvPr/>
          </p:nvSpPr>
          <p:spPr bwMode="auto">
            <a:xfrm>
              <a:off x="1697" y="3381"/>
              <a:ext cx="131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e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4137" name="Text Box 26"/>
            <p:cNvSpPr txBox="1">
              <a:spLocks noChangeArrowheads="1"/>
            </p:cNvSpPr>
            <p:nvPr/>
          </p:nvSpPr>
          <p:spPr bwMode="auto">
            <a:xfrm>
              <a:off x="2520" y="3377"/>
              <a:ext cx="19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f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</p:grpSp>
      <p:grpSp>
        <p:nvGrpSpPr>
          <p:cNvPr id="558107" name="Group 27"/>
          <p:cNvGrpSpPr>
            <a:grpSpLocks/>
          </p:cNvGrpSpPr>
          <p:nvPr/>
        </p:nvGrpSpPr>
        <p:grpSpPr bwMode="auto">
          <a:xfrm>
            <a:off x="4687888" y="2105025"/>
            <a:ext cx="1909762" cy="3597275"/>
            <a:chOff x="2953" y="1326"/>
            <a:chExt cx="1203" cy="2266"/>
          </a:xfrm>
        </p:grpSpPr>
        <p:sp>
          <p:nvSpPr>
            <p:cNvPr id="4115" name="Line 28"/>
            <p:cNvSpPr>
              <a:spLocks noChangeAspect="1" noChangeShapeType="1"/>
            </p:cNvSpPr>
            <p:nvPr/>
          </p:nvSpPr>
          <p:spPr bwMode="auto">
            <a:xfrm rot="-3749224">
              <a:off x="2621" y="2459"/>
              <a:ext cx="1863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6" name="Line 29"/>
            <p:cNvSpPr>
              <a:spLocks noChangeAspect="1" noChangeShapeType="1"/>
            </p:cNvSpPr>
            <p:nvPr/>
          </p:nvSpPr>
          <p:spPr bwMode="auto">
            <a:xfrm rot="16200000" flipV="1">
              <a:off x="2665" y="2055"/>
              <a:ext cx="864" cy="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7" name="Line 30"/>
            <p:cNvSpPr>
              <a:spLocks noChangeAspect="1" noChangeShapeType="1"/>
            </p:cNvSpPr>
            <p:nvPr/>
          </p:nvSpPr>
          <p:spPr bwMode="auto">
            <a:xfrm rot="2575164">
              <a:off x="2954" y="2899"/>
              <a:ext cx="1202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8" name="Line 31"/>
            <p:cNvSpPr>
              <a:spLocks noChangeAspect="1" noChangeShapeType="1"/>
            </p:cNvSpPr>
            <p:nvPr/>
          </p:nvSpPr>
          <p:spPr bwMode="auto">
            <a:xfrm rot="2575164">
              <a:off x="2953" y="2044"/>
              <a:ext cx="1202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oval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9" name="Line 32"/>
            <p:cNvSpPr>
              <a:spLocks noChangeAspect="1" noChangeShapeType="1"/>
            </p:cNvSpPr>
            <p:nvPr/>
          </p:nvSpPr>
          <p:spPr bwMode="auto">
            <a:xfrm rot="-2824836">
              <a:off x="2949" y="2892"/>
              <a:ext cx="1202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lg" len="lg"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0" name="Line 33"/>
            <p:cNvSpPr>
              <a:spLocks noChangeAspect="1" noChangeShapeType="1"/>
            </p:cNvSpPr>
            <p:nvPr/>
          </p:nvSpPr>
          <p:spPr bwMode="auto">
            <a:xfrm>
              <a:off x="3098" y="1626"/>
              <a:ext cx="864" cy="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none" w="lg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1" name="Text Box 34"/>
            <p:cNvSpPr txBox="1">
              <a:spLocks noChangeArrowheads="1"/>
            </p:cNvSpPr>
            <p:nvPr/>
          </p:nvSpPr>
          <p:spPr bwMode="auto">
            <a:xfrm>
              <a:off x="3057" y="1330"/>
              <a:ext cx="131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a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4122" name="Text Box 35"/>
            <p:cNvSpPr txBox="1">
              <a:spLocks noChangeArrowheads="1"/>
            </p:cNvSpPr>
            <p:nvPr/>
          </p:nvSpPr>
          <p:spPr bwMode="auto">
            <a:xfrm>
              <a:off x="3880" y="1326"/>
              <a:ext cx="19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b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4123" name="Text Box 36"/>
            <p:cNvSpPr txBox="1">
              <a:spLocks noChangeArrowheads="1"/>
            </p:cNvSpPr>
            <p:nvPr/>
          </p:nvSpPr>
          <p:spPr bwMode="auto">
            <a:xfrm>
              <a:off x="3031" y="2540"/>
              <a:ext cx="19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c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4124" name="Text Box 37"/>
            <p:cNvSpPr txBox="1">
              <a:spLocks noChangeArrowheads="1"/>
            </p:cNvSpPr>
            <p:nvPr/>
          </p:nvSpPr>
          <p:spPr bwMode="auto">
            <a:xfrm>
              <a:off x="3895" y="2559"/>
              <a:ext cx="19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d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4125" name="Text Box 38"/>
            <p:cNvSpPr txBox="1">
              <a:spLocks noChangeArrowheads="1"/>
            </p:cNvSpPr>
            <p:nvPr/>
          </p:nvSpPr>
          <p:spPr bwMode="auto">
            <a:xfrm>
              <a:off x="3044" y="3362"/>
              <a:ext cx="131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e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4126" name="Text Box 39"/>
            <p:cNvSpPr txBox="1">
              <a:spLocks noChangeArrowheads="1"/>
            </p:cNvSpPr>
            <p:nvPr/>
          </p:nvSpPr>
          <p:spPr bwMode="auto">
            <a:xfrm>
              <a:off x="3867" y="3358"/>
              <a:ext cx="19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f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</p:grpSp>
      <p:grpSp>
        <p:nvGrpSpPr>
          <p:cNvPr id="558120" name="Group 40"/>
          <p:cNvGrpSpPr>
            <a:grpSpLocks/>
          </p:cNvGrpSpPr>
          <p:nvPr/>
        </p:nvGrpSpPr>
        <p:grpSpPr bwMode="auto">
          <a:xfrm>
            <a:off x="7091363" y="2133600"/>
            <a:ext cx="1679575" cy="3597275"/>
            <a:chOff x="4467" y="1344"/>
            <a:chExt cx="1058" cy="2266"/>
          </a:xfrm>
        </p:grpSpPr>
        <p:grpSp>
          <p:nvGrpSpPr>
            <p:cNvPr id="4104" name="Group 41"/>
            <p:cNvGrpSpPr>
              <a:grpSpLocks/>
            </p:cNvGrpSpPr>
            <p:nvPr/>
          </p:nvGrpSpPr>
          <p:grpSpPr bwMode="auto">
            <a:xfrm>
              <a:off x="4551" y="1559"/>
              <a:ext cx="871" cy="1863"/>
              <a:chOff x="4551" y="1334"/>
              <a:chExt cx="871" cy="1863"/>
            </a:xfrm>
          </p:grpSpPr>
          <p:sp>
            <p:nvSpPr>
              <p:cNvPr id="4111" name="Line 42"/>
              <p:cNvSpPr>
                <a:spLocks noChangeAspect="1" noChangeShapeType="1"/>
              </p:cNvSpPr>
              <p:nvPr/>
            </p:nvSpPr>
            <p:spPr bwMode="auto">
              <a:xfrm rot="-3749224">
                <a:off x="4053" y="2262"/>
                <a:ext cx="1863" cy="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lg" len="lg"/>
                <a:tailEnd type="oval" w="lg" len="lg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12" name="Line 43"/>
              <p:cNvSpPr>
                <a:spLocks noChangeAspect="1" noChangeShapeType="1"/>
              </p:cNvSpPr>
              <p:nvPr/>
            </p:nvSpPr>
            <p:spPr bwMode="auto">
              <a:xfrm rot="16200000" flipV="1">
                <a:off x="4989" y="1866"/>
                <a:ext cx="864" cy="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lg" len="lg"/>
                <a:tailEnd type="none" w="lg" len="lg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13" name="Line 44"/>
              <p:cNvSpPr>
                <a:spLocks noChangeShapeType="1"/>
              </p:cNvSpPr>
              <p:nvPr/>
            </p:nvSpPr>
            <p:spPr bwMode="auto">
              <a:xfrm>
                <a:off x="4559" y="1433"/>
                <a:ext cx="854" cy="16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lg" len="lg"/>
                <a:tailEnd type="oval" w="lg" len="lg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14" name="Line 45"/>
              <p:cNvSpPr>
                <a:spLocks noChangeAspect="1" noChangeShapeType="1"/>
              </p:cNvSpPr>
              <p:nvPr/>
            </p:nvSpPr>
            <p:spPr bwMode="auto">
              <a:xfrm rot="5400000">
                <a:off x="4121" y="2680"/>
                <a:ext cx="864" cy="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lg" len="lg"/>
                <a:tailEnd type="none" w="lg" len="lg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105" name="Text Box 46"/>
            <p:cNvSpPr txBox="1">
              <a:spLocks noChangeArrowheads="1"/>
            </p:cNvSpPr>
            <p:nvPr/>
          </p:nvSpPr>
          <p:spPr bwMode="auto">
            <a:xfrm>
              <a:off x="4493" y="1348"/>
              <a:ext cx="131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a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4106" name="Text Box 47"/>
            <p:cNvSpPr txBox="1">
              <a:spLocks noChangeArrowheads="1"/>
            </p:cNvSpPr>
            <p:nvPr/>
          </p:nvSpPr>
          <p:spPr bwMode="auto">
            <a:xfrm>
              <a:off x="5316" y="1344"/>
              <a:ext cx="19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b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4107" name="Text Box 48"/>
            <p:cNvSpPr txBox="1">
              <a:spLocks noChangeArrowheads="1"/>
            </p:cNvSpPr>
            <p:nvPr/>
          </p:nvSpPr>
          <p:spPr bwMode="auto">
            <a:xfrm>
              <a:off x="4467" y="2207"/>
              <a:ext cx="19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c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4108" name="Text Box 49"/>
            <p:cNvSpPr txBox="1">
              <a:spLocks noChangeArrowheads="1"/>
            </p:cNvSpPr>
            <p:nvPr/>
          </p:nvSpPr>
          <p:spPr bwMode="auto">
            <a:xfrm>
              <a:off x="5331" y="2577"/>
              <a:ext cx="19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d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4109" name="Text Box 50"/>
            <p:cNvSpPr txBox="1">
              <a:spLocks noChangeArrowheads="1"/>
            </p:cNvSpPr>
            <p:nvPr/>
          </p:nvSpPr>
          <p:spPr bwMode="auto">
            <a:xfrm>
              <a:off x="4480" y="3380"/>
              <a:ext cx="131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e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  <p:sp>
          <p:nvSpPr>
            <p:cNvPr id="4110" name="Text Box 51"/>
            <p:cNvSpPr txBox="1">
              <a:spLocks noChangeArrowheads="1"/>
            </p:cNvSpPr>
            <p:nvPr/>
          </p:nvSpPr>
          <p:spPr bwMode="auto">
            <a:xfrm>
              <a:off x="5303" y="3376"/>
              <a:ext cx="194" cy="2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 i="1">
                  <a:solidFill>
                    <a:schemeClr val="tx2"/>
                  </a:solidFill>
                  <a:latin typeface="Bookman Old Style" pitchFamily="18" charset="0"/>
                  <a:ea typeface="宋体" charset="-122"/>
                </a:rPr>
                <a:t>f</a:t>
              </a:r>
              <a:endParaRPr lang="en-US" altLang="zh-CN" sz="2400">
                <a:solidFill>
                  <a:schemeClr val="tx2"/>
                </a:solidFill>
                <a:latin typeface="Bookman Old Style" pitchFamily="18" charset="0"/>
                <a:ea typeface="宋体" charset="-122"/>
              </a:endParaRPr>
            </a:p>
          </p:txBody>
        </p:sp>
      </p:grpSp>
      <p:sp>
        <p:nvSpPr>
          <p:cNvPr id="558132" name="Text Box 52"/>
          <p:cNvSpPr txBox="1">
            <a:spLocks noChangeArrowheads="1"/>
          </p:cNvSpPr>
          <p:nvPr/>
        </p:nvSpPr>
        <p:spPr bwMode="auto">
          <a:xfrm>
            <a:off x="152400" y="6019800"/>
            <a:ext cx="8729663" cy="5191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800" dirty="0">
                <a:latin typeface="Times New Roman" pitchFamily="18" charset="0"/>
                <a:ea typeface="宋体" charset="-122"/>
              </a:rPr>
              <a:t>     YES 		</a:t>
            </a:r>
            <a:r>
              <a:rPr lang="en-US" altLang="zh-CN" sz="2800" dirty="0" err="1">
                <a:latin typeface="Times New Roman" pitchFamily="18" charset="0"/>
                <a:ea typeface="宋体" charset="-122"/>
              </a:rPr>
              <a:t>YES</a:t>
            </a:r>
            <a:r>
              <a:rPr lang="en-US" altLang="zh-CN" sz="2800" dirty="0">
                <a:latin typeface="Times New Roman" pitchFamily="18" charset="0"/>
                <a:ea typeface="宋体" charset="-122"/>
              </a:rPr>
              <a:t> 		    NO 		 </a:t>
            </a:r>
            <a:r>
              <a:rPr lang="en-US" altLang="zh-CN" sz="2800" dirty="0" err="1">
                <a:latin typeface="Times New Roman" pitchFamily="18" charset="0"/>
                <a:ea typeface="宋体" charset="-122"/>
              </a:rPr>
              <a:t>NO</a:t>
            </a:r>
            <a:endParaRPr lang="en-US" altLang="zh-CN" sz="2800" dirty="0">
              <a:latin typeface="Times New Roman" pitchFamily="18" charset="0"/>
              <a:ea typeface="宋体" charset="-122"/>
            </a:endParaRPr>
          </a:p>
        </p:txBody>
      </p:sp>
      <p:sp>
        <p:nvSpPr>
          <p:cNvPr id="53" name="Slide Number Placeholder 5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4BF74-4D1E-471C-8549-12F0AD34FC1A}" type="slidenum">
              <a:rPr lang="en-US" altLang="zh-CN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5710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58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8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58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58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5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81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Spanning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40" y="1043767"/>
            <a:ext cx="8090137" cy="523479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398292" y="4653887"/>
            <a:ext cx="5056341" cy="16246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00252" y="4312693"/>
            <a:ext cx="8306782" cy="21182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935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Spanning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40" y="1043767"/>
            <a:ext cx="8090137" cy="523479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398292" y="4653887"/>
            <a:ext cx="5056341" cy="16246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820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Spanning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440" y="1043767"/>
            <a:ext cx="8090137" cy="523479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59606" y="4653887"/>
            <a:ext cx="2395027" cy="16246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081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Spanning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40" y="1043767"/>
            <a:ext cx="8090137" cy="523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186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Spanning trees of weighted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75" y="1113526"/>
            <a:ext cx="8667790" cy="488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942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Minimum-cost Spanning Tree (MST)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66" y="1479937"/>
            <a:ext cx="8626864" cy="3958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549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68" y="1041505"/>
            <a:ext cx="8382537" cy="5033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170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>
                <a:ea typeface="PMingLiU" panose="02020500000000000000" pitchFamily="18" charset="-120"/>
              </a:rPr>
              <a:t>Definition of MST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1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ea typeface="PMingLiU" panose="02020500000000000000" pitchFamily="18" charset="-120"/>
                  </a:rPr>
                  <a:t>Let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𝐺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=(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𝑉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,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𝐸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)</m:t>
                    </m:r>
                  </m:oMath>
                </a14:m>
                <a:r>
                  <a:rPr lang="en-US" altLang="zh-TW" sz="2400" dirty="0">
                    <a:ea typeface="PMingLiU" panose="02020500000000000000" pitchFamily="18" charset="-120"/>
                  </a:rPr>
                  <a:t> be  a connected, undirected graph.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ea typeface="PMingLiU" panose="02020500000000000000" pitchFamily="18" charset="-120"/>
                  </a:rPr>
                  <a:t>For each edge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(</m:t>
                    </m:r>
                    <m:r>
                      <a:rPr lang="en-US" altLang="zh-TW" sz="2400" i="1" dirty="0" err="1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𝑢</m:t>
                    </m:r>
                    <m:r>
                      <a:rPr lang="en-US" altLang="zh-TW" sz="2400" i="1" dirty="0" err="1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,</m:t>
                    </m:r>
                    <m:r>
                      <a:rPr lang="en-US" altLang="zh-TW" sz="2400" i="1" dirty="0" err="1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𝑣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)</m:t>
                    </m:r>
                  </m:oMath>
                </a14:m>
                <a:r>
                  <a:rPr lang="en-US" altLang="zh-TW" sz="2400" dirty="0">
                    <a:ea typeface="PMingLiU" panose="02020500000000000000" pitchFamily="18" charset="-120"/>
                  </a:rPr>
                  <a:t> in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𝐸</m:t>
                    </m:r>
                  </m:oMath>
                </a14:m>
                <a:r>
                  <a:rPr lang="en-US" altLang="zh-TW" sz="2400" dirty="0">
                    <a:ea typeface="PMingLiU" panose="02020500000000000000" pitchFamily="18" charset="-120"/>
                  </a:rPr>
                  <a:t>, we have a weight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𝑤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(</m:t>
                    </m:r>
                    <m:r>
                      <a:rPr lang="en-US" altLang="zh-TW" sz="2400" i="1" dirty="0" err="1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𝑢</m:t>
                    </m:r>
                    <m:r>
                      <a:rPr lang="en-US" altLang="zh-TW" sz="2400" i="1" dirty="0" err="1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,</m:t>
                    </m:r>
                    <m:r>
                      <a:rPr lang="en-US" altLang="zh-TW" sz="2400" i="1" dirty="0" err="1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𝑣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)</m:t>
                    </m:r>
                  </m:oMath>
                </a14:m>
                <a:r>
                  <a:rPr lang="en-US" altLang="zh-TW" sz="2400" dirty="0">
                    <a:ea typeface="PMingLiU" panose="02020500000000000000" pitchFamily="18" charset="-120"/>
                  </a:rPr>
                  <a:t> specifying the cost (length of edge) to connect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𝑢</m:t>
                    </m:r>
                  </m:oMath>
                </a14:m>
                <a:r>
                  <a:rPr lang="en-US" altLang="zh-TW" sz="2400" dirty="0">
                    <a:ea typeface="PMingLiU" panose="02020500000000000000" pitchFamily="18" charset="-12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𝑣</m:t>
                    </m:r>
                  </m:oMath>
                </a14:m>
                <a:r>
                  <a:rPr lang="en-US" altLang="zh-TW" sz="2400" dirty="0">
                    <a:ea typeface="PMingLiU" panose="02020500000000000000" pitchFamily="18" charset="-120"/>
                  </a:rPr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ea typeface="PMingLiU" panose="02020500000000000000" pitchFamily="18" charset="-120"/>
                  </a:rPr>
                  <a:t>We wish to find a (acyclic) subset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𝑇</m:t>
                    </m:r>
                  </m:oMath>
                </a14:m>
                <a:r>
                  <a:rPr lang="en-US" altLang="zh-TW" sz="2400" i="1" dirty="0">
                    <a:ea typeface="PMingLiU" panose="02020500000000000000" pitchFamily="18" charset="-120"/>
                  </a:rPr>
                  <a:t> </a:t>
                </a:r>
                <a:r>
                  <a:rPr lang="en-US" altLang="zh-TW" sz="2400" dirty="0">
                    <a:ea typeface="PMingLiU" panose="02020500000000000000" pitchFamily="18" charset="-120"/>
                  </a:rPr>
                  <a:t>of 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𝐸</m:t>
                    </m:r>
                  </m:oMath>
                </a14:m>
                <a:r>
                  <a:rPr lang="en-US" altLang="zh-TW" sz="2400" dirty="0">
                    <a:ea typeface="PMingLiU" panose="02020500000000000000" pitchFamily="18" charset="-120"/>
                  </a:rPr>
                  <a:t> that connects all of the vertices in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𝑉</m:t>
                    </m:r>
                  </m:oMath>
                </a14:m>
                <a:r>
                  <a:rPr lang="en-US" altLang="zh-TW" sz="2400" dirty="0">
                    <a:ea typeface="PMingLiU" panose="02020500000000000000" pitchFamily="18" charset="-120"/>
                  </a:rPr>
                  <a:t> and whose total weight is minimized.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ea typeface="PMingLiU" panose="02020500000000000000" pitchFamily="18" charset="-120"/>
                  </a:rPr>
                  <a:t>Since the total weight is minimized, the subset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𝑇</m:t>
                    </m:r>
                  </m:oMath>
                </a14:m>
                <a:r>
                  <a:rPr lang="en-US" altLang="zh-TW" sz="2400" dirty="0">
                    <a:ea typeface="PMingLiU" panose="02020500000000000000" pitchFamily="18" charset="-120"/>
                  </a:rPr>
                  <a:t> must be  acyclic (no circuit).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ea typeface="PMingLiU" panose="02020500000000000000" pitchFamily="18" charset="-120"/>
                  </a:rPr>
                  <a:t>Thus,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𝑇</m:t>
                    </m:r>
                  </m:oMath>
                </a14:m>
                <a:r>
                  <a:rPr lang="en-US" altLang="zh-TW" sz="2400" dirty="0">
                    <a:ea typeface="PMingLiU" panose="02020500000000000000" pitchFamily="18" charset="-120"/>
                  </a:rPr>
                  <a:t> is a tree. We call it a </a:t>
                </a:r>
                <a:r>
                  <a:rPr lang="en-US" altLang="zh-TW" sz="2400" dirty="0">
                    <a:solidFill>
                      <a:schemeClr val="accent2"/>
                    </a:solidFill>
                    <a:ea typeface="PMingLiU" panose="02020500000000000000" pitchFamily="18" charset="-120"/>
                  </a:rPr>
                  <a:t>spanning tree</a:t>
                </a:r>
                <a:r>
                  <a:rPr lang="en-US" altLang="zh-TW" sz="2400" dirty="0">
                    <a:ea typeface="PMingLiU" panose="02020500000000000000" pitchFamily="18" charset="-120"/>
                  </a:rPr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ea typeface="PMingLiU" panose="02020500000000000000" pitchFamily="18" charset="-120"/>
                  </a:rPr>
                  <a:t>The problem of determining the tree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</a:rPr>
                      <m:t>𝑇</m:t>
                    </m:r>
                  </m:oMath>
                </a14:m>
                <a:r>
                  <a:rPr lang="en-US" altLang="zh-TW" sz="2400" dirty="0">
                    <a:ea typeface="PMingLiU" panose="02020500000000000000" pitchFamily="18" charset="-120"/>
                  </a:rPr>
                  <a:t> is called the </a:t>
                </a:r>
                <a:r>
                  <a:rPr lang="en-US" altLang="zh-TW" sz="2400" dirty="0">
                    <a:solidFill>
                      <a:schemeClr val="accent2"/>
                    </a:solidFill>
                    <a:ea typeface="PMingLiU" panose="02020500000000000000" pitchFamily="18" charset="-120"/>
                  </a:rPr>
                  <a:t>minimum-spanning-tree problem</a:t>
                </a:r>
                <a:r>
                  <a:rPr lang="en-US" altLang="zh-TW" sz="2400" dirty="0">
                    <a:ea typeface="PMingLiU" panose="02020500000000000000" pitchFamily="18" charset="-120"/>
                  </a:rPr>
                  <a:t>.</a:t>
                </a:r>
              </a:p>
            </p:txBody>
          </p:sp>
        </mc:Choice>
        <mc:Fallback xmlns="">
          <p:sp>
            <p:nvSpPr>
              <p:cNvPr id="71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70" t="-1630" r="-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1379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Application of MST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>
                <a:ea typeface="PMingLiU" panose="02020500000000000000" pitchFamily="18" charset="-120"/>
              </a:rPr>
              <a:t>In the design of electronic circuitry, it is often necessary to make a set of pins electrically equivalent by wiring them together.</a:t>
            </a:r>
          </a:p>
          <a:p>
            <a:r>
              <a:rPr lang="en-US" altLang="zh-TW" sz="2400" dirty="0">
                <a:ea typeface="PMingLiU" panose="02020500000000000000" pitchFamily="18" charset="-120"/>
              </a:rPr>
              <a:t>To interconnect n pins, we can use n-1 wires, each connecting two pins.</a:t>
            </a:r>
          </a:p>
          <a:p>
            <a:r>
              <a:rPr lang="en-US" altLang="zh-TW" sz="2400" dirty="0">
                <a:ea typeface="PMingLiU" panose="02020500000000000000" pitchFamily="18" charset="-120"/>
              </a:rPr>
              <a:t>We want to minimize the total length of the wires.</a:t>
            </a:r>
          </a:p>
          <a:p>
            <a:r>
              <a:rPr lang="en-US" altLang="zh-TW" sz="2400" dirty="0">
                <a:ea typeface="PMingLiU" panose="02020500000000000000" pitchFamily="18" charset="-120"/>
              </a:rPr>
              <a:t>Minimum Spanning Trees can be used to model this problem.</a:t>
            </a:r>
          </a:p>
          <a:p>
            <a:pPr>
              <a:buFontTx/>
              <a:buNone/>
            </a:pPr>
            <a:endParaRPr lang="en-US" altLang="zh-TW" sz="2400" dirty="0">
              <a:ea typeface="PMingLiU" panose="02020500000000000000" pitchFamily="18" charset="-120"/>
            </a:endParaRPr>
          </a:p>
        </p:txBody>
      </p:sp>
      <p:pic>
        <p:nvPicPr>
          <p:cNvPr id="1043" name="Picture 19" descr="Image result for circui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0465" y="3558381"/>
            <a:ext cx="2928144" cy="2928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5039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Application of MST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Problem: Laying Telephone Wire</a:t>
            </a:r>
            <a:endParaRPr lang="en-US" dirty="0"/>
          </a:p>
        </p:txBody>
      </p:sp>
      <p:grpSp>
        <p:nvGrpSpPr>
          <p:cNvPr id="4100" name="Group 3"/>
          <p:cNvGrpSpPr>
            <a:grpSpLocks/>
          </p:cNvGrpSpPr>
          <p:nvPr/>
        </p:nvGrpSpPr>
        <p:grpSpPr bwMode="auto">
          <a:xfrm>
            <a:off x="914400" y="3810000"/>
            <a:ext cx="533400" cy="533400"/>
            <a:chOff x="576" y="2400"/>
            <a:chExt cx="336" cy="336"/>
          </a:xfrm>
        </p:grpSpPr>
        <p:sp>
          <p:nvSpPr>
            <p:cNvPr id="4159" name="AutoShape 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60" name="Rectangle 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61" name="Rectangle 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62" name="Rectangle 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4101" name="Group 8"/>
          <p:cNvGrpSpPr>
            <a:grpSpLocks/>
          </p:cNvGrpSpPr>
          <p:nvPr/>
        </p:nvGrpSpPr>
        <p:grpSpPr bwMode="auto">
          <a:xfrm>
            <a:off x="4800600" y="4572000"/>
            <a:ext cx="533400" cy="533400"/>
            <a:chOff x="576" y="2400"/>
            <a:chExt cx="336" cy="336"/>
          </a:xfrm>
        </p:grpSpPr>
        <p:sp>
          <p:nvSpPr>
            <p:cNvPr id="4155" name="AutoShape 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56" name="Rectangle 1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57" name="Rectangle 1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58" name="Rectangle 1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4102" name="Group 13"/>
          <p:cNvGrpSpPr>
            <a:grpSpLocks/>
          </p:cNvGrpSpPr>
          <p:nvPr/>
        </p:nvGrpSpPr>
        <p:grpSpPr bwMode="auto">
          <a:xfrm>
            <a:off x="3352800" y="2133600"/>
            <a:ext cx="533400" cy="533400"/>
            <a:chOff x="576" y="2400"/>
            <a:chExt cx="336" cy="336"/>
          </a:xfrm>
        </p:grpSpPr>
        <p:sp>
          <p:nvSpPr>
            <p:cNvPr id="4151" name="AutoShape 1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52" name="Rectangle 1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53" name="Rectangle 1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54" name="Rectangle 1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4103" name="Group 18"/>
          <p:cNvGrpSpPr>
            <a:grpSpLocks/>
          </p:cNvGrpSpPr>
          <p:nvPr/>
        </p:nvGrpSpPr>
        <p:grpSpPr bwMode="auto">
          <a:xfrm>
            <a:off x="6019800" y="1905000"/>
            <a:ext cx="533400" cy="533400"/>
            <a:chOff x="576" y="2400"/>
            <a:chExt cx="336" cy="336"/>
          </a:xfrm>
        </p:grpSpPr>
        <p:sp>
          <p:nvSpPr>
            <p:cNvPr id="4147" name="AutoShape 1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48" name="Rectangle 2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49" name="Rectangle 2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50" name="Rectangle 2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4104" name="Group 23"/>
          <p:cNvGrpSpPr>
            <a:grpSpLocks/>
          </p:cNvGrpSpPr>
          <p:nvPr/>
        </p:nvGrpSpPr>
        <p:grpSpPr bwMode="auto">
          <a:xfrm>
            <a:off x="2362200" y="2971800"/>
            <a:ext cx="533400" cy="533400"/>
            <a:chOff x="576" y="2400"/>
            <a:chExt cx="336" cy="336"/>
          </a:xfrm>
        </p:grpSpPr>
        <p:sp>
          <p:nvSpPr>
            <p:cNvPr id="4143" name="AutoShape 2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44" name="Rectangle 2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45" name="Rectangle 2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46" name="Rectangle 2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4105" name="Group 28"/>
          <p:cNvGrpSpPr>
            <a:grpSpLocks/>
          </p:cNvGrpSpPr>
          <p:nvPr/>
        </p:nvGrpSpPr>
        <p:grpSpPr bwMode="auto">
          <a:xfrm>
            <a:off x="1143000" y="2209800"/>
            <a:ext cx="533400" cy="533400"/>
            <a:chOff x="576" y="2400"/>
            <a:chExt cx="336" cy="336"/>
          </a:xfrm>
        </p:grpSpPr>
        <p:sp>
          <p:nvSpPr>
            <p:cNvPr id="4139" name="AutoShape 2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40" name="Rectangle 3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41" name="Rectangle 3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42" name="Rectangle 3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4106" name="Group 33"/>
          <p:cNvGrpSpPr>
            <a:grpSpLocks/>
          </p:cNvGrpSpPr>
          <p:nvPr/>
        </p:nvGrpSpPr>
        <p:grpSpPr bwMode="auto">
          <a:xfrm>
            <a:off x="1828800" y="1524000"/>
            <a:ext cx="533400" cy="533400"/>
            <a:chOff x="576" y="2400"/>
            <a:chExt cx="336" cy="336"/>
          </a:xfrm>
        </p:grpSpPr>
        <p:sp>
          <p:nvSpPr>
            <p:cNvPr id="4135" name="AutoShape 3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36" name="Rectangle 3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37" name="Rectangle 3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38" name="Rectangle 3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4107" name="Group 38"/>
          <p:cNvGrpSpPr>
            <a:grpSpLocks/>
          </p:cNvGrpSpPr>
          <p:nvPr/>
        </p:nvGrpSpPr>
        <p:grpSpPr bwMode="auto">
          <a:xfrm>
            <a:off x="1981200" y="3962400"/>
            <a:ext cx="533400" cy="533400"/>
            <a:chOff x="576" y="2400"/>
            <a:chExt cx="336" cy="336"/>
          </a:xfrm>
        </p:grpSpPr>
        <p:sp>
          <p:nvSpPr>
            <p:cNvPr id="4131" name="AutoShape 3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32" name="Rectangle 4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33" name="Rectangle 4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34" name="Rectangle 4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4108" name="Group 43"/>
          <p:cNvGrpSpPr>
            <a:grpSpLocks/>
          </p:cNvGrpSpPr>
          <p:nvPr/>
        </p:nvGrpSpPr>
        <p:grpSpPr bwMode="auto">
          <a:xfrm>
            <a:off x="4267200" y="3048000"/>
            <a:ext cx="1371600" cy="762000"/>
            <a:chOff x="2688" y="2064"/>
            <a:chExt cx="864" cy="480"/>
          </a:xfrm>
        </p:grpSpPr>
        <p:sp>
          <p:nvSpPr>
            <p:cNvPr id="4120" name="Rectangle 44"/>
            <p:cNvSpPr>
              <a:spLocks noChangeArrowheads="1"/>
            </p:cNvSpPr>
            <p:nvPr/>
          </p:nvSpPr>
          <p:spPr bwMode="auto">
            <a:xfrm>
              <a:off x="2688" y="2064"/>
              <a:ext cx="864" cy="480"/>
            </a:xfrm>
            <a:prstGeom prst="rect">
              <a:avLst/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21" name="Rectangle 45" descr="Large grid"/>
            <p:cNvSpPr>
              <a:spLocks noChangeArrowheads="1"/>
            </p:cNvSpPr>
            <p:nvPr/>
          </p:nvSpPr>
          <p:spPr bwMode="auto">
            <a:xfrm>
              <a:off x="2784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22" name="Rectangle 46" descr="Large grid"/>
            <p:cNvSpPr>
              <a:spLocks noChangeArrowheads="1"/>
            </p:cNvSpPr>
            <p:nvPr/>
          </p:nvSpPr>
          <p:spPr bwMode="auto">
            <a:xfrm>
              <a:off x="2928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23" name="Rectangle 47" descr="Large grid"/>
            <p:cNvSpPr>
              <a:spLocks noChangeArrowheads="1"/>
            </p:cNvSpPr>
            <p:nvPr/>
          </p:nvSpPr>
          <p:spPr bwMode="auto">
            <a:xfrm>
              <a:off x="3072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24" name="Rectangle 48" descr="Large grid"/>
            <p:cNvSpPr>
              <a:spLocks noChangeArrowheads="1"/>
            </p:cNvSpPr>
            <p:nvPr/>
          </p:nvSpPr>
          <p:spPr bwMode="auto">
            <a:xfrm>
              <a:off x="3216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25" name="Rectangle 49" descr="Large grid"/>
            <p:cNvSpPr>
              <a:spLocks noChangeArrowheads="1"/>
            </p:cNvSpPr>
            <p:nvPr/>
          </p:nvSpPr>
          <p:spPr bwMode="auto">
            <a:xfrm>
              <a:off x="2784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26" name="Rectangle 50" descr="Large grid"/>
            <p:cNvSpPr>
              <a:spLocks noChangeArrowheads="1"/>
            </p:cNvSpPr>
            <p:nvPr/>
          </p:nvSpPr>
          <p:spPr bwMode="auto">
            <a:xfrm>
              <a:off x="2928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27" name="Rectangle 51" descr="Large grid"/>
            <p:cNvSpPr>
              <a:spLocks noChangeArrowheads="1"/>
            </p:cNvSpPr>
            <p:nvPr/>
          </p:nvSpPr>
          <p:spPr bwMode="auto">
            <a:xfrm>
              <a:off x="3072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28" name="Rectangle 52" descr="Large grid"/>
            <p:cNvSpPr>
              <a:spLocks noChangeArrowheads="1"/>
            </p:cNvSpPr>
            <p:nvPr/>
          </p:nvSpPr>
          <p:spPr bwMode="auto">
            <a:xfrm>
              <a:off x="3216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29" name="Rectangle 53" descr="Large grid"/>
            <p:cNvSpPr>
              <a:spLocks noChangeArrowheads="1"/>
            </p:cNvSpPr>
            <p:nvPr/>
          </p:nvSpPr>
          <p:spPr bwMode="auto">
            <a:xfrm>
              <a:off x="3360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30" name="Rectangle 54" descr="Large grid"/>
            <p:cNvSpPr>
              <a:spLocks noChangeArrowheads="1"/>
            </p:cNvSpPr>
            <p:nvPr/>
          </p:nvSpPr>
          <p:spPr bwMode="auto">
            <a:xfrm>
              <a:off x="3360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109" name="Text Box 55"/>
          <p:cNvSpPr txBox="1">
            <a:spLocks noChangeArrowheads="1"/>
          </p:cNvSpPr>
          <p:nvPr/>
        </p:nvSpPr>
        <p:spPr bwMode="auto">
          <a:xfrm>
            <a:off x="4191000" y="3810000"/>
            <a:ext cx="1530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Central office</a:t>
            </a:r>
          </a:p>
        </p:txBody>
      </p:sp>
      <p:grpSp>
        <p:nvGrpSpPr>
          <p:cNvPr id="4110" name="Group 56"/>
          <p:cNvGrpSpPr>
            <a:grpSpLocks/>
          </p:cNvGrpSpPr>
          <p:nvPr/>
        </p:nvGrpSpPr>
        <p:grpSpPr bwMode="auto">
          <a:xfrm>
            <a:off x="6934200" y="4495800"/>
            <a:ext cx="533400" cy="533400"/>
            <a:chOff x="576" y="2400"/>
            <a:chExt cx="336" cy="336"/>
          </a:xfrm>
        </p:grpSpPr>
        <p:sp>
          <p:nvSpPr>
            <p:cNvPr id="4116" name="AutoShape 57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17" name="Rectangle 58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18" name="Rectangle 59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19" name="Rectangle 60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4111" name="Group 61"/>
          <p:cNvGrpSpPr>
            <a:grpSpLocks/>
          </p:cNvGrpSpPr>
          <p:nvPr/>
        </p:nvGrpSpPr>
        <p:grpSpPr bwMode="auto">
          <a:xfrm>
            <a:off x="6172200" y="4495800"/>
            <a:ext cx="533400" cy="533400"/>
            <a:chOff x="576" y="2400"/>
            <a:chExt cx="336" cy="336"/>
          </a:xfrm>
        </p:grpSpPr>
        <p:sp>
          <p:nvSpPr>
            <p:cNvPr id="4112" name="AutoShape 62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13" name="Rectangle 63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14" name="Rectangle 64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115" name="Rectangle 65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0912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Application of MST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Wiring: Naïve Approach</a:t>
            </a:r>
            <a:endParaRPr lang="en-US" dirty="0"/>
          </a:p>
        </p:txBody>
      </p:sp>
      <p:grpSp>
        <p:nvGrpSpPr>
          <p:cNvPr id="5124" name="Group 3"/>
          <p:cNvGrpSpPr>
            <a:grpSpLocks/>
          </p:cNvGrpSpPr>
          <p:nvPr/>
        </p:nvGrpSpPr>
        <p:grpSpPr bwMode="auto">
          <a:xfrm>
            <a:off x="914400" y="3810000"/>
            <a:ext cx="533400" cy="533400"/>
            <a:chOff x="576" y="2400"/>
            <a:chExt cx="336" cy="336"/>
          </a:xfrm>
        </p:grpSpPr>
        <p:sp>
          <p:nvSpPr>
            <p:cNvPr id="5194" name="AutoShape 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95" name="Rectangle 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96" name="Rectangle 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97" name="Rectangle 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5125" name="Group 8"/>
          <p:cNvGrpSpPr>
            <a:grpSpLocks/>
          </p:cNvGrpSpPr>
          <p:nvPr/>
        </p:nvGrpSpPr>
        <p:grpSpPr bwMode="auto">
          <a:xfrm>
            <a:off x="4800600" y="4572000"/>
            <a:ext cx="533400" cy="533400"/>
            <a:chOff x="576" y="2400"/>
            <a:chExt cx="336" cy="336"/>
          </a:xfrm>
        </p:grpSpPr>
        <p:sp>
          <p:nvSpPr>
            <p:cNvPr id="5190" name="AutoShape 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91" name="Rectangle 1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92" name="Rectangle 1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93" name="Rectangle 1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5126" name="Group 13"/>
          <p:cNvGrpSpPr>
            <a:grpSpLocks/>
          </p:cNvGrpSpPr>
          <p:nvPr/>
        </p:nvGrpSpPr>
        <p:grpSpPr bwMode="auto">
          <a:xfrm>
            <a:off x="3352800" y="2133600"/>
            <a:ext cx="533400" cy="533400"/>
            <a:chOff x="576" y="2400"/>
            <a:chExt cx="336" cy="336"/>
          </a:xfrm>
        </p:grpSpPr>
        <p:sp>
          <p:nvSpPr>
            <p:cNvPr id="5186" name="AutoShape 1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87" name="Rectangle 1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88" name="Rectangle 1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89" name="Rectangle 1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5127" name="Group 18"/>
          <p:cNvGrpSpPr>
            <a:grpSpLocks/>
          </p:cNvGrpSpPr>
          <p:nvPr/>
        </p:nvGrpSpPr>
        <p:grpSpPr bwMode="auto">
          <a:xfrm>
            <a:off x="6019800" y="1905000"/>
            <a:ext cx="533400" cy="533400"/>
            <a:chOff x="576" y="2400"/>
            <a:chExt cx="336" cy="336"/>
          </a:xfrm>
        </p:grpSpPr>
        <p:sp>
          <p:nvSpPr>
            <p:cNvPr id="5182" name="AutoShape 1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83" name="Rectangle 2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84" name="Rectangle 2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85" name="Rectangle 2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5128" name="Group 23"/>
          <p:cNvGrpSpPr>
            <a:grpSpLocks/>
          </p:cNvGrpSpPr>
          <p:nvPr/>
        </p:nvGrpSpPr>
        <p:grpSpPr bwMode="auto">
          <a:xfrm>
            <a:off x="2362200" y="2971800"/>
            <a:ext cx="533400" cy="533400"/>
            <a:chOff x="576" y="2400"/>
            <a:chExt cx="336" cy="336"/>
          </a:xfrm>
        </p:grpSpPr>
        <p:sp>
          <p:nvSpPr>
            <p:cNvPr id="5178" name="AutoShape 2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79" name="Rectangle 2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80" name="Rectangle 2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81" name="Rectangle 2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5129" name="Group 28"/>
          <p:cNvGrpSpPr>
            <a:grpSpLocks/>
          </p:cNvGrpSpPr>
          <p:nvPr/>
        </p:nvGrpSpPr>
        <p:grpSpPr bwMode="auto">
          <a:xfrm>
            <a:off x="1143000" y="2209800"/>
            <a:ext cx="533400" cy="533400"/>
            <a:chOff x="576" y="2400"/>
            <a:chExt cx="336" cy="336"/>
          </a:xfrm>
        </p:grpSpPr>
        <p:sp>
          <p:nvSpPr>
            <p:cNvPr id="5174" name="AutoShape 2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75" name="Rectangle 3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76" name="Rectangle 3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77" name="Rectangle 3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5130" name="Group 33"/>
          <p:cNvGrpSpPr>
            <a:grpSpLocks/>
          </p:cNvGrpSpPr>
          <p:nvPr/>
        </p:nvGrpSpPr>
        <p:grpSpPr bwMode="auto">
          <a:xfrm>
            <a:off x="1828800" y="1524000"/>
            <a:ext cx="533400" cy="533400"/>
            <a:chOff x="576" y="2400"/>
            <a:chExt cx="336" cy="336"/>
          </a:xfrm>
        </p:grpSpPr>
        <p:sp>
          <p:nvSpPr>
            <p:cNvPr id="5170" name="AutoShape 3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71" name="Rectangle 3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72" name="Rectangle 3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73" name="Rectangle 3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5131" name="Group 38"/>
          <p:cNvGrpSpPr>
            <a:grpSpLocks/>
          </p:cNvGrpSpPr>
          <p:nvPr/>
        </p:nvGrpSpPr>
        <p:grpSpPr bwMode="auto">
          <a:xfrm>
            <a:off x="1981200" y="3962400"/>
            <a:ext cx="533400" cy="533400"/>
            <a:chOff x="576" y="2400"/>
            <a:chExt cx="336" cy="336"/>
          </a:xfrm>
        </p:grpSpPr>
        <p:sp>
          <p:nvSpPr>
            <p:cNvPr id="5166" name="AutoShape 3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67" name="Rectangle 4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68" name="Rectangle 4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69" name="Rectangle 4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sp>
        <p:nvSpPr>
          <p:cNvPr id="5132" name="Text Box 43"/>
          <p:cNvSpPr txBox="1">
            <a:spLocks noChangeArrowheads="1"/>
          </p:cNvSpPr>
          <p:nvPr/>
        </p:nvSpPr>
        <p:spPr bwMode="auto">
          <a:xfrm>
            <a:off x="4191000" y="3810000"/>
            <a:ext cx="1530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Central office</a:t>
            </a:r>
          </a:p>
        </p:txBody>
      </p:sp>
      <p:grpSp>
        <p:nvGrpSpPr>
          <p:cNvPr id="5133" name="Group 44"/>
          <p:cNvGrpSpPr>
            <a:grpSpLocks/>
          </p:cNvGrpSpPr>
          <p:nvPr/>
        </p:nvGrpSpPr>
        <p:grpSpPr bwMode="auto">
          <a:xfrm>
            <a:off x="6934200" y="4495800"/>
            <a:ext cx="533400" cy="533400"/>
            <a:chOff x="576" y="2400"/>
            <a:chExt cx="336" cy="336"/>
          </a:xfrm>
        </p:grpSpPr>
        <p:sp>
          <p:nvSpPr>
            <p:cNvPr id="5162" name="AutoShape 45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63" name="Rectangle 46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64" name="Rectangle 47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65" name="Rectangle 48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5134" name="Group 49"/>
          <p:cNvGrpSpPr>
            <a:grpSpLocks/>
          </p:cNvGrpSpPr>
          <p:nvPr/>
        </p:nvGrpSpPr>
        <p:grpSpPr bwMode="auto">
          <a:xfrm>
            <a:off x="6172200" y="4495800"/>
            <a:ext cx="533400" cy="533400"/>
            <a:chOff x="576" y="2400"/>
            <a:chExt cx="336" cy="336"/>
          </a:xfrm>
        </p:grpSpPr>
        <p:sp>
          <p:nvSpPr>
            <p:cNvPr id="5158" name="AutoShape 50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59" name="Rectangle 51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60" name="Rectangle 52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61" name="Rectangle 53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cxnSp>
        <p:nvCxnSpPr>
          <p:cNvPr id="5135" name="AutoShape 54"/>
          <p:cNvCxnSpPr>
            <a:cxnSpLocks noChangeShapeType="1"/>
            <a:stCxn id="5154" idx="0"/>
            <a:endCxn id="5187" idx="2"/>
          </p:cNvCxnSpPr>
          <p:nvPr/>
        </p:nvCxnSpPr>
        <p:spPr bwMode="auto">
          <a:xfrm flipH="1" flipV="1">
            <a:off x="3619500" y="2667000"/>
            <a:ext cx="1333500" cy="838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36" name="AutoShape 55"/>
          <p:cNvCxnSpPr>
            <a:cxnSpLocks noChangeShapeType="1"/>
            <a:stCxn id="5154" idx="0"/>
            <a:endCxn id="5179" idx="3"/>
          </p:cNvCxnSpPr>
          <p:nvPr/>
        </p:nvCxnSpPr>
        <p:spPr bwMode="auto">
          <a:xfrm flipH="1" flipV="1">
            <a:off x="2822575" y="3390900"/>
            <a:ext cx="2130425" cy="114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37" name="AutoShape 56"/>
          <p:cNvCxnSpPr>
            <a:cxnSpLocks noChangeShapeType="1"/>
            <a:stCxn id="5154" idx="0"/>
            <a:endCxn id="5167" idx="3"/>
          </p:cNvCxnSpPr>
          <p:nvPr/>
        </p:nvCxnSpPr>
        <p:spPr bwMode="auto">
          <a:xfrm flipH="1">
            <a:off x="2441575" y="3505200"/>
            <a:ext cx="2511425" cy="876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38" name="AutoShape 57"/>
          <p:cNvCxnSpPr>
            <a:cxnSpLocks noChangeShapeType="1"/>
            <a:stCxn id="5154" idx="0"/>
            <a:endCxn id="5194" idx="5"/>
          </p:cNvCxnSpPr>
          <p:nvPr/>
        </p:nvCxnSpPr>
        <p:spPr bwMode="auto">
          <a:xfrm flipH="1">
            <a:off x="1314450" y="3505200"/>
            <a:ext cx="363855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39" name="AutoShape 58"/>
          <p:cNvCxnSpPr>
            <a:cxnSpLocks noChangeShapeType="1"/>
            <a:stCxn id="5175" idx="3"/>
            <a:endCxn id="5154" idx="0"/>
          </p:cNvCxnSpPr>
          <p:nvPr/>
        </p:nvCxnSpPr>
        <p:spPr bwMode="auto">
          <a:xfrm>
            <a:off x="1603375" y="2628900"/>
            <a:ext cx="3349625" cy="876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40" name="AutoShape 59"/>
          <p:cNvCxnSpPr>
            <a:cxnSpLocks noChangeShapeType="1"/>
            <a:stCxn id="5154" idx="0"/>
            <a:endCxn id="5171" idx="2"/>
          </p:cNvCxnSpPr>
          <p:nvPr/>
        </p:nvCxnSpPr>
        <p:spPr bwMode="auto">
          <a:xfrm flipH="1" flipV="1">
            <a:off x="2095500" y="2057400"/>
            <a:ext cx="2857500" cy="1447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41" name="AutoShape 60"/>
          <p:cNvCxnSpPr>
            <a:cxnSpLocks noChangeShapeType="1"/>
            <a:stCxn id="5154" idx="0"/>
            <a:endCxn id="5190" idx="0"/>
          </p:cNvCxnSpPr>
          <p:nvPr/>
        </p:nvCxnSpPr>
        <p:spPr bwMode="auto">
          <a:xfrm>
            <a:off x="4953000" y="3505200"/>
            <a:ext cx="114300" cy="1066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42" name="AutoShape 61"/>
          <p:cNvCxnSpPr>
            <a:cxnSpLocks noChangeShapeType="1"/>
            <a:stCxn id="5154" idx="0"/>
            <a:endCxn id="5158" idx="1"/>
          </p:cNvCxnSpPr>
          <p:nvPr/>
        </p:nvCxnSpPr>
        <p:spPr bwMode="auto">
          <a:xfrm>
            <a:off x="4953000" y="3505200"/>
            <a:ext cx="1352550" cy="1143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43" name="AutoShape 62"/>
          <p:cNvCxnSpPr>
            <a:cxnSpLocks noChangeShapeType="1"/>
            <a:stCxn id="5154" idx="0"/>
            <a:endCxn id="5162" idx="1"/>
          </p:cNvCxnSpPr>
          <p:nvPr/>
        </p:nvCxnSpPr>
        <p:spPr bwMode="auto">
          <a:xfrm>
            <a:off x="4953000" y="3505200"/>
            <a:ext cx="2114550" cy="1143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44" name="AutoShape 63"/>
          <p:cNvCxnSpPr>
            <a:cxnSpLocks noChangeShapeType="1"/>
            <a:stCxn id="5154" idx="0"/>
            <a:endCxn id="5183" idx="1"/>
          </p:cNvCxnSpPr>
          <p:nvPr/>
        </p:nvCxnSpPr>
        <p:spPr bwMode="auto">
          <a:xfrm flipV="1">
            <a:off x="4953000" y="2324100"/>
            <a:ext cx="1139825" cy="1181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5145" name="Group 64"/>
          <p:cNvGrpSpPr>
            <a:grpSpLocks/>
          </p:cNvGrpSpPr>
          <p:nvPr/>
        </p:nvGrpSpPr>
        <p:grpSpPr bwMode="auto">
          <a:xfrm>
            <a:off x="4267200" y="3048000"/>
            <a:ext cx="1371600" cy="762000"/>
            <a:chOff x="2688" y="2064"/>
            <a:chExt cx="864" cy="480"/>
          </a:xfrm>
        </p:grpSpPr>
        <p:sp>
          <p:nvSpPr>
            <p:cNvPr id="5147" name="Rectangle 65"/>
            <p:cNvSpPr>
              <a:spLocks noChangeArrowheads="1"/>
            </p:cNvSpPr>
            <p:nvPr/>
          </p:nvSpPr>
          <p:spPr bwMode="auto">
            <a:xfrm>
              <a:off x="2688" y="2064"/>
              <a:ext cx="864" cy="480"/>
            </a:xfrm>
            <a:prstGeom prst="rect">
              <a:avLst/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48" name="Rectangle 66" descr="Large grid"/>
            <p:cNvSpPr>
              <a:spLocks noChangeArrowheads="1"/>
            </p:cNvSpPr>
            <p:nvPr/>
          </p:nvSpPr>
          <p:spPr bwMode="auto">
            <a:xfrm>
              <a:off x="2784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49" name="Rectangle 67" descr="Large grid"/>
            <p:cNvSpPr>
              <a:spLocks noChangeArrowheads="1"/>
            </p:cNvSpPr>
            <p:nvPr/>
          </p:nvSpPr>
          <p:spPr bwMode="auto">
            <a:xfrm>
              <a:off x="2928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50" name="Rectangle 68" descr="Large grid"/>
            <p:cNvSpPr>
              <a:spLocks noChangeArrowheads="1"/>
            </p:cNvSpPr>
            <p:nvPr/>
          </p:nvSpPr>
          <p:spPr bwMode="auto">
            <a:xfrm>
              <a:off x="3072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51" name="Rectangle 69" descr="Large grid"/>
            <p:cNvSpPr>
              <a:spLocks noChangeArrowheads="1"/>
            </p:cNvSpPr>
            <p:nvPr/>
          </p:nvSpPr>
          <p:spPr bwMode="auto">
            <a:xfrm>
              <a:off x="3216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52" name="Rectangle 70" descr="Large grid"/>
            <p:cNvSpPr>
              <a:spLocks noChangeArrowheads="1"/>
            </p:cNvSpPr>
            <p:nvPr/>
          </p:nvSpPr>
          <p:spPr bwMode="auto">
            <a:xfrm>
              <a:off x="2784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53" name="Rectangle 71" descr="Large grid"/>
            <p:cNvSpPr>
              <a:spLocks noChangeArrowheads="1"/>
            </p:cNvSpPr>
            <p:nvPr/>
          </p:nvSpPr>
          <p:spPr bwMode="auto">
            <a:xfrm>
              <a:off x="2928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54" name="Rectangle 72" descr="Large grid"/>
            <p:cNvSpPr>
              <a:spLocks noChangeArrowheads="1"/>
            </p:cNvSpPr>
            <p:nvPr/>
          </p:nvSpPr>
          <p:spPr bwMode="auto">
            <a:xfrm>
              <a:off x="3072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55" name="Rectangle 73" descr="Large grid"/>
            <p:cNvSpPr>
              <a:spLocks noChangeArrowheads="1"/>
            </p:cNvSpPr>
            <p:nvPr/>
          </p:nvSpPr>
          <p:spPr bwMode="auto">
            <a:xfrm>
              <a:off x="3216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56" name="Rectangle 74" descr="Large grid"/>
            <p:cNvSpPr>
              <a:spLocks noChangeArrowheads="1"/>
            </p:cNvSpPr>
            <p:nvPr/>
          </p:nvSpPr>
          <p:spPr bwMode="auto">
            <a:xfrm>
              <a:off x="3360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57" name="Rectangle 75" descr="Large grid"/>
            <p:cNvSpPr>
              <a:spLocks noChangeArrowheads="1"/>
            </p:cNvSpPr>
            <p:nvPr/>
          </p:nvSpPr>
          <p:spPr bwMode="auto">
            <a:xfrm>
              <a:off x="3360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146" name="Text Box 76"/>
          <p:cNvSpPr txBox="1">
            <a:spLocks noChangeArrowheads="1"/>
          </p:cNvSpPr>
          <p:nvPr/>
        </p:nvSpPr>
        <p:spPr bwMode="auto">
          <a:xfrm>
            <a:off x="3609975" y="54102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7013" indent="-227013"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tx1"/>
                </a:solidFill>
              </a:rPr>
              <a:t>Expensive!</a:t>
            </a:r>
            <a:endParaRPr lang="en-US" altLang="en-US" sz="2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027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Application of MST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Wiring: Better Approach</a:t>
            </a:r>
            <a:endParaRPr lang="en-US" dirty="0"/>
          </a:p>
        </p:txBody>
      </p:sp>
      <p:grpSp>
        <p:nvGrpSpPr>
          <p:cNvPr id="6148" name="Group 3"/>
          <p:cNvGrpSpPr>
            <a:grpSpLocks/>
          </p:cNvGrpSpPr>
          <p:nvPr/>
        </p:nvGrpSpPr>
        <p:grpSpPr bwMode="auto">
          <a:xfrm>
            <a:off x="914400" y="3810000"/>
            <a:ext cx="533400" cy="533400"/>
            <a:chOff x="576" y="2400"/>
            <a:chExt cx="336" cy="336"/>
          </a:xfrm>
        </p:grpSpPr>
        <p:sp>
          <p:nvSpPr>
            <p:cNvPr id="6218" name="AutoShape 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219" name="Rectangle 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220" name="Rectangle 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221" name="Rectangle 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6149" name="Group 8"/>
          <p:cNvGrpSpPr>
            <a:grpSpLocks/>
          </p:cNvGrpSpPr>
          <p:nvPr/>
        </p:nvGrpSpPr>
        <p:grpSpPr bwMode="auto">
          <a:xfrm>
            <a:off x="4800600" y="4572000"/>
            <a:ext cx="533400" cy="533400"/>
            <a:chOff x="576" y="2400"/>
            <a:chExt cx="336" cy="336"/>
          </a:xfrm>
        </p:grpSpPr>
        <p:sp>
          <p:nvSpPr>
            <p:cNvPr id="6214" name="AutoShape 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215" name="Rectangle 1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216" name="Rectangle 1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217" name="Rectangle 1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6150" name="Group 13"/>
          <p:cNvGrpSpPr>
            <a:grpSpLocks/>
          </p:cNvGrpSpPr>
          <p:nvPr/>
        </p:nvGrpSpPr>
        <p:grpSpPr bwMode="auto">
          <a:xfrm>
            <a:off x="3352800" y="2133600"/>
            <a:ext cx="533400" cy="533400"/>
            <a:chOff x="576" y="2400"/>
            <a:chExt cx="336" cy="336"/>
          </a:xfrm>
        </p:grpSpPr>
        <p:sp>
          <p:nvSpPr>
            <p:cNvPr id="6210" name="AutoShape 1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211" name="Rectangle 1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212" name="Rectangle 1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213" name="Rectangle 1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6151" name="Group 18"/>
          <p:cNvGrpSpPr>
            <a:grpSpLocks/>
          </p:cNvGrpSpPr>
          <p:nvPr/>
        </p:nvGrpSpPr>
        <p:grpSpPr bwMode="auto">
          <a:xfrm>
            <a:off x="6019800" y="1905000"/>
            <a:ext cx="533400" cy="533400"/>
            <a:chOff x="576" y="2400"/>
            <a:chExt cx="336" cy="336"/>
          </a:xfrm>
        </p:grpSpPr>
        <p:sp>
          <p:nvSpPr>
            <p:cNvPr id="6206" name="AutoShape 1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207" name="Rectangle 2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208" name="Rectangle 2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209" name="Rectangle 2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6152" name="Group 23"/>
          <p:cNvGrpSpPr>
            <a:grpSpLocks/>
          </p:cNvGrpSpPr>
          <p:nvPr/>
        </p:nvGrpSpPr>
        <p:grpSpPr bwMode="auto">
          <a:xfrm>
            <a:off x="2362200" y="2971800"/>
            <a:ext cx="533400" cy="533400"/>
            <a:chOff x="576" y="2400"/>
            <a:chExt cx="336" cy="336"/>
          </a:xfrm>
        </p:grpSpPr>
        <p:sp>
          <p:nvSpPr>
            <p:cNvPr id="6202" name="AutoShape 2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203" name="Rectangle 2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204" name="Rectangle 2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205" name="Rectangle 2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6153" name="Group 28"/>
          <p:cNvGrpSpPr>
            <a:grpSpLocks/>
          </p:cNvGrpSpPr>
          <p:nvPr/>
        </p:nvGrpSpPr>
        <p:grpSpPr bwMode="auto">
          <a:xfrm>
            <a:off x="1143000" y="2209800"/>
            <a:ext cx="533400" cy="533400"/>
            <a:chOff x="576" y="2400"/>
            <a:chExt cx="336" cy="336"/>
          </a:xfrm>
        </p:grpSpPr>
        <p:sp>
          <p:nvSpPr>
            <p:cNvPr id="6198" name="AutoShape 2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199" name="Rectangle 3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200" name="Rectangle 3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201" name="Rectangle 3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6154" name="Group 33"/>
          <p:cNvGrpSpPr>
            <a:grpSpLocks/>
          </p:cNvGrpSpPr>
          <p:nvPr/>
        </p:nvGrpSpPr>
        <p:grpSpPr bwMode="auto">
          <a:xfrm>
            <a:off x="1828800" y="1524000"/>
            <a:ext cx="533400" cy="533400"/>
            <a:chOff x="576" y="2400"/>
            <a:chExt cx="336" cy="336"/>
          </a:xfrm>
        </p:grpSpPr>
        <p:sp>
          <p:nvSpPr>
            <p:cNvPr id="6194" name="AutoShape 3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195" name="Rectangle 3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196" name="Rectangle 3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197" name="Rectangle 3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6155" name="Group 38"/>
          <p:cNvGrpSpPr>
            <a:grpSpLocks/>
          </p:cNvGrpSpPr>
          <p:nvPr/>
        </p:nvGrpSpPr>
        <p:grpSpPr bwMode="auto">
          <a:xfrm>
            <a:off x="1981200" y="3962400"/>
            <a:ext cx="533400" cy="533400"/>
            <a:chOff x="576" y="2400"/>
            <a:chExt cx="336" cy="336"/>
          </a:xfrm>
        </p:grpSpPr>
        <p:sp>
          <p:nvSpPr>
            <p:cNvPr id="6190" name="AutoShape 3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191" name="Rectangle 4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192" name="Rectangle 4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193" name="Rectangle 4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sp>
        <p:nvSpPr>
          <p:cNvPr id="6156" name="Text Box 43"/>
          <p:cNvSpPr txBox="1">
            <a:spLocks noChangeArrowheads="1"/>
          </p:cNvSpPr>
          <p:nvPr/>
        </p:nvSpPr>
        <p:spPr bwMode="auto">
          <a:xfrm>
            <a:off x="4191000" y="3810000"/>
            <a:ext cx="1530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Central office</a:t>
            </a:r>
          </a:p>
        </p:txBody>
      </p:sp>
      <p:grpSp>
        <p:nvGrpSpPr>
          <p:cNvPr id="6157" name="Group 44"/>
          <p:cNvGrpSpPr>
            <a:grpSpLocks/>
          </p:cNvGrpSpPr>
          <p:nvPr/>
        </p:nvGrpSpPr>
        <p:grpSpPr bwMode="auto">
          <a:xfrm>
            <a:off x="6934200" y="4495800"/>
            <a:ext cx="533400" cy="533400"/>
            <a:chOff x="576" y="2400"/>
            <a:chExt cx="336" cy="336"/>
          </a:xfrm>
        </p:grpSpPr>
        <p:sp>
          <p:nvSpPr>
            <p:cNvPr id="6186" name="AutoShape 45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187" name="Rectangle 46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188" name="Rectangle 47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189" name="Rectangle 48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6158" name="Group 49"/>
          <p:cNvGrpSpPr>
            <a:grpSpLocks/>
          </p:cNvGrpSpPr>
          <p:nvPr/>
        </p:nvGrpSpPr>
        <p:grpSpPr bwMode="auto">
          <a:xfrm>
            <a:off x="6172200" y="4495800"/>
            <a:ext cx="533400" cy="533400"/>
            <a:chOff x="576" y="2400"/>
            <a:chExt cx="336" cy="336"/>
          </a:xfrm>
        </p:grpSpPr>
        <p:sp>
          <p:nvSpPr>
            <p:cNvPr id="6182" name="AutoShape 50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183" name="Rectangle 51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184" name="Rectangle 52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185" name="Rectangle 53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</p:grpSp>
      <p:cxnSp>
        <p:nvCxnSpPr>
          <p:cNvPr id="6159" name="AutoShape 54"/>
          <p:cNvCxnSpPr>
            <a:cxnSpLocks noChangeShapeType="1"/>
            <a:stCxn id="6178" idx="0"/>
            <a:endCxn id="6207" idx="1"/>
          </p:cNvCxnSpPr>
          <p:nvPr/>
        </p:nvCxnSpPr>
        <p:spPr bwMode="auto">
          <a:xfrm flipV="1">
            <a:off x="4953000" y="2324100"/>
            <a:ext cx="1139825" cy="1181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60" name="AutoShape 55"/>
          <p:cNvCxnSpPr>
            <a:cxnSpLocks noChangeShapeType="1"/>
            <a:stCxn id="6178" idx="0"/>
            <a:endCxn id="6214" idx="0"/>
          </p:cNvCxnSpPr>
          <p:nvPr/>
        </p:nvCxnSpPr>
        <p:spPr bwMode="auto">
          <a:xfrm>
            <a:off x="4953000" y="3505200"/>
            <a:ext cx="114300" cy="1066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61" name="AutoShape 56"/>
          <p:cNvCxnSpPr>
            <a:cxnSpLocks noChangeShapeType="1"/>
            <a:stCxn id="6178" idx="0"/>
            <a:endCxn id="6211" idx="2"/>
          </p:cNvCxnSpPr>
          <p:nvPr/>
        </p:nvCxnSpPr>
        <p:spPr bwMode="auto">
          <a:xfrm flipH="1" flipV="1">
            <a:off x="3619500" y="2667000"/>
            <a:ext cx="1333500" cy="838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62" name="AutoShape 57"/>
          <p:cNvCxnSpPr>
            <a:cxnSpLocks noChangeShapeType="1"/>
            <a:stCxn id="6211" idx="2"/>
            <a:endCxn id="6202" idx="5"/>
          </p:cNvCxnSpPr>
          <p:nvPr/>
        </p:nvCxnSpPr>
        <p:spPr bwMode="auto">
          <a:xfrm flipH="1">
            <a:off x="2762250" y="2667000"/>
            <a:ext cx="85725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63" name="AutoShape 58"/>
          <p:cNvCxnSpPr>
            <a:cxnSpLocks noChangeShapeType="1"/>
            <a:stCxn id="6202" idx="1"/>
            <a:endCxn id="6199" idx="3"/>
          </p:cNvCxnSpPr>
          <p:nvPr/>
        </p:nvCxnSpPr>
        <p:spPr bwMode="auto">
          <a:xfrm flipH="1" flipV="1">
            <a:off x="1603375" y="2628900"/>
            <a:ext cx="892175" cy="495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64" name="AutoShape 59"/>
          <p:cNvCxnSpPr>
            <a:cxnSpLocks noChangeShapeType="1"/>
            <a:stCxn id="6199" idx="3"/>
            <a:endCxn id="6195" idx="2"/>
          </p:cNvCxnSpPr>
          <p:nvPr/>
        </p:nvCxnSpPr>
        <p:spPr bwMode="auto">
          <a:xfrm flipV="1">
            <a:off x="1603375" y="2057400"/>
            <a:ext cx="492125" cy="571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65" name="AutoShape 60"/>
          <p:cNvCxnSpPr>
            <a:cxnSpLocks noChangeShapeType="1"/>
            <a:stCxn id="6203" idx="2"/>
            <a:endCxn id="6190" idx="5"/>
          </p:cNvCxnSpPr>
          <p:nvPr/>
        </p:nvCxnSpPr>
        <p:spPr bwMode="auto">
          <a:xfrm flipH="1">
            <a:off x="2381250" y="3505200"/>
            <a:ext cx="24765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66" name="AutoShape 61"/>
          <p:cNvCxnSpPr>
            <a:cxnSpLocks noChangeShapeType="1"/>
            <a:stCxn id="6191" idx="1"/>
            <a:endCxn id="6219" idx="3"/>
          </p:cNvCxnSpPr>
          <p:nvPr/>
        </p:nvCxnSpPr>
        <p:spPr bwMode="auto">
          <a:xfrm flipH="1" flipV="1">
            <a:off x="1374775" y="4229100"/>
            <a:ext cx="67945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67" name="AutoShape 62"/>
          <p:cNvCxnSpPr>
            <a:cxnSpLocks noChangeShapeType="1"/>
            <a:stCxn id="6215" idx="3"/>
            <a:endCxn id="6183" idx="1"/>
          </p:cNvCxnSpPr>
          <p:nvPr/>
        </p:nvCxnSpPr>
        <p:spPr bwMode="auto">
          <a:xfrm flipV="1">
            <a:off x="5260975" y="4914900"/>
            <a:ext cx="984250" cy="76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68" name="AutoShape 63"/>
          <p:cNvCxnSpPr>
            <a:cxnSpLocks noChangeShapeType="1"/>
            <a:stCxn id="6183" idx="3"/>
            <a:endCxn id="6187" idx="1"/>
          </p:cNvCxnSpPr>
          <p:nvPr/>
        </p:nvCxnSpPr>
        <p:spPr bwMode="auto">
          <a:xfrm>
            <a:off x="6632575" y="4914900"/>
            <a:ext cx="37465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6169" name="Group 64"/>
          <p:cNvGrpSpPr>
            <a:grpSpLocks/>
          </p:cNvGrpSpPr>
          <p:nvPr/>
        </p:nvGrpSpPr>
        <p:grpSpPr bwMode="auto">
          <a:xfrm>
            <a:off x="4267200" y="3048000"/>
            <a:ext cx="1371600" cy="762000"/>
            <a:chOff x="2688" y="2064"/>
            <a:chExt cx="864" cy="480"/>
          </a:xfrm>
        </p:grpSpPr>
        <p:sp>
          <p:nvSpPr>
            <p:cNvPr id="6171" name="Rectangle 65"/>
            <p:cNvSpPr>
              <a:spLocks noChangeArrowheads="1"/>
            </p:cNvSpPr>
            <p:nvPr/>
          </p:nvSpPr>
          <p:spPr bwMode="auto">
            <a:xfrm>
              <a:off x="2688" y="2064"/>
              <a:ext cx="864" cy="480"/>
            </a:xfrm>
            <a:prstGeom prst="rect">
              <a:avLst/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172" name="Rectangle 66" descr="Large grid"/>
            <p:cNvSpPr>
              <a:spLocks noChangeArrowheads="1"/>
            </p:cNvSpPr>
            <p:nvPr/>
          </p:nvSpPr>
          <p:spPr bwMode="auto">
            <a:xfrm>
              <a:off x="2784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73" name="Rectangle 67" descr="Large grid"/>
            <p:cNvSpPr>
              <a:spLocks noChangeArrowheads="1"/>
            </p:cNvSpPr>
            <p:nvPr/>
          </p:nvSpPr>
          <p:spPr bwMode="auto">
            <a:xfrm>
              <a:off x="2928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74" name="Rectangle 68" descr="Large grid"/>
            <p:cNvSpPr>
              <a:spLocks noChangeArrowheads="1"/>
            </p:cNvSpPr>
            <p:nvPr/>
          </p:nvSpPr>
          <p:spPr bwMode="auto">
            <a:xfrm>
              <a:off x="3072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75" name="Rectangle 69" descr="Large grid"/>
            <p:cNvSpPr>
              <a:spLocks noChangeArrowheads="1"/>
            </p:cNvSpPr>
            <p:nvPr/>
          </p:nvSpPr>
          <p:spPr bwMode="auto">
            <a:xfrm>
              <a:off x="3216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76" name="Rectangle 70" descr="Large grid"/>
            <p:cNvSpPr>
              <a:spLocks noChangeArrowheads="1"/>
            </p:cNvSpPr>
            <p:nvPr/>
          </p:nvSpPr>
          <p:spPr bwMode="auto">
            <a:xfrm>
              <a:off x="2784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77" name="Rectangle 71" descr="Large grid"/>
            <p:cNvSpPr>
              <a:spLocks noChangeArrowheads="1"/>
            </p:cNvSpPr>
            <p:nvPr/>
          </p:nvSpPr>
          <p:spPr bwMode="auto">
            <a:xfrm>
              <a:off x="2928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78" name="Rectangle 72" descr="Large grid"/>
            <p:cNvSpPr>
              <a:spLocks noChangeArrowheads="1"/>
            </p:cNvSpPr>
            <p:nvPr/>
          </p:nvSpPr>
          <p:spPr bwMode="auto">
            <a:xfrm>
              <a:off x="3072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79" name="Rectangle 73" descr="Large grid"/>
            <p:cNvSpPr>
              <a:spLocks noChangeArrowheads="1"/>
            </p:cNvSpPr>
            <p:nvPr/>
          </p:nvSpPr>
          <p:spPr bwMode="auto">
            <a:xfrm>
              <a:off x="3216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80" name="Rectangle 74" descr="Large grid"/>
            <p:cNvSpPr>
              <a:spLocks noChangeArrowheads="1"/>
            </p:cNvSpPr>
            <p:nvPr/>
          </p:nvSpPr>
          <p:spPr bwMode="auto">
            <a:xfrm>
              <a:off x="3360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81" name="Rectangle 75" descr="Large grid"/>
            <p:cNvSpPr>
              <a:spLocks noChangeArrowheads="1"/>
            </p:cNvSpPr>
            <p:nvPr/>
          </p:nvSpPr>
          <p:spPr bwMode="auto">
            <a:xfrm>
              <a:off x="3360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6170" name="Text Box 76"/>
          <p:cNvSpPr txBox="1">
            <a:spLocks noChangeArrowheads="1"/>
          </p:cNvSpPr>
          <p:nvPr/>
        </p:nvSpPr>
        <p:spPr bwMode="auto">
          <a:xfrm>
            <a:off x="533400" y="5410200"/>
            <a:ext cx="8048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Minimize the total length of wire connecting the customers</a:t>
            </a:r>
          </a:p>
        </p:txBody>
      </p:sp>
    </p:spTree>
    <p:extLst>
      <p:ext uri="{BB962C8B-B14F-4D97-AF65-F5344CB8AC3E}">
        <p14:creationId xmlns:p14="http://schemas.microsoft.com/office/powerpoint/2010/main" val="3690589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ea typeface="PMingLiU" panose="02020500000000000000" pitchFamily="18" charset="-120"/>
              </a:rPr>
              <a:t>Here is an example of a connected graph and its minimum spanning tree:</a:t>
            </a:r>
          </a:p>
          <a:p>
            <a:endParaRPr lang="en-US" dirty="0"/>
          </a:p>
        </p:txBody>
      </p:sp>
      <p:grpSp>
        <p:nvGrpSpPr>
          <p:cNvPr id="8328" name="Group 136"/>
          <p:cNvGrpSpPr>
            <a:grpSpLocks/>
          </p:cNvGrpSpPr>
          <p:nvPr/>
        </p:nvGrpSpPr>
        <p:grpSpPr bwMode="auto">
          <a:xfrm>
            <a:off x="2124075" y="1747838"/>
            <a:ext cx="4608513" cy="2617787"/>
            <a:chOff x="657" y="965"/>
            <a:chExt cx="2903" cy="1649"/>
          </a:xfrm>
        </p:grpSpPr>
        <p:grpSp>
          <p:nvGrpSpPr>
            <p:cNvPr id="8209" name="Group 17"/>
            <p:cNvGrpSpPr>
              <a:grpSpLocks/>
            </p:cNvGrpSpPr>
            <p:nvPr/>
          </p:nvGrpSpPr>
          <p:grpSpPr bwMode="auto">
            <a:xfrm>
              <a:off x="657" y="1692"/>
              <a:ext cx="194" cy="250"/>
              <a:chOff x="2368" y="1750"/>
              <a:chExt cx="194" cy="250"/>
            </a:xfrm>
          </p:grpSpPr>
          <p:sp>
            <p:nvSpPr>
              <p:cNvPr id="8207" name="Text Box 1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8208" name="Oval 1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210" name="Group 18"/>
            <p:cNvGrpSpPr>
              <a:grpSpLocks/>
            </p:cNvGrpSpPr>
            <p:nvPr/>
          </p:nvGrpSpPr>
          <p:grpSpPr bwMode="auto">
            <a:xfrm>
              <a:off x="1156" y="1193"/>
              <a:ext cx="196" cy="250"/>
              <a:chOff x="2368" y="1750"/>
              <a:chExt cx="196" cy="250"/>
            </a:xfrm>
          </p:grpSpPr>
          <p:sp>
            <p:nvSpPr>
              <p:cNvPr id="8211" name="Text Box 19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8212" name="Oval 20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213" name="Group 21"/>
            <p:cNvGrpSpPr>
              <a:grpSpLocks/>
            </p:cNvGrpSpPr>
            <p:nvPr/>
          </p:nvGrpSpPr>
          <p:grpSpPr bwMode="auto">
            <a:xfrm>
              <a:off x="1156" y="2182"/>
              <a:ext cx="196" cy="250"/>
              <a:chOff x="2368" y="1750"/>
              <a:chExt cx="196" cy="250"/>
            </a:xfrm>
          </p:grpSpPr>
          <p:sp>
            <p:nvSpPr>
              <p:cNvPr id="8214" name="Text Box 2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8215" name="Oval 2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216" name="Group 24"/>
            <p:cNvGrpSpPr>
              <a:grpSpLocks/>
            </p:cNvGrpSpPr>
            <p:nvPr/>
          </p:nvGrpSpPr>
          <p:grpSpPr bwMode="auto">
            <a:xfrm>
              <a:off x="2006" y="1162"/>
              <a:ext cx="194" cy="250"/>
              <a:chOff x="2368" y="1750"/>
              <a:chExt cx="194" cy="250"/>
            </a:xfrm>
          </p:grpSpPr>
          <p:sp>
            <p:nvSpPr>
              <p:cNvPr id="8217" name="Text Box 2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8218" name="Oval 2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219" name="Group 27"/>
            <p:cNvGrpSpPr>
              <a:grpSpLocks/>
            </p:cNvGrpSpPr>
            <p:nvPr/>
          </p:nvGrpSpPr>
          <p:grpSpPr bwMode="auto">
            <a:xfrm>
              <a:off x="2820" y="1162"/>
              <a:ext cx="196" cy="250"/>
              <a:chOff x="2368" y="1750"/>
              <a:chExt cx="196" cy="250"/>
            </a:xfrm>
          </p:grpSpPr>
          <p:sp>
            <p:nvSpPr>
              <p:cNvPr id="8220" name="Text Box 2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8221" name="Oval 2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222" name="Group 30"/>
            <p:cNvGrpSpPr>
              <a:grpSpLocks/>
            </p:cNvGrpSpPr>
            <p:nvPr/>
          </p:nvGrpSpPr>
          <p:grpSpPr bwMode="auto">
            <a:xfrm>
              <a:off x="3366" y="1661"/>
              <a:ext cx="194" cy="250"/>
              <a:chOff x="2368" y="1750"/>
              <a:chExt cx="194" cy="250"/>
            </a:xfrm>
          </p:grpSpPr>
          <p:sp>
            <p:nvSpPr>
              <p:cNvPr id="8223" name="Text Box 3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8224" name="Oval 3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225" name="Group 33"/>
            <p:cNvGrpSpPr>
              <a:grpSpLocks/>
            </p:cNvGrpSpPr>
            <p:nvPr/>
          </p:nvGrpSpPr>
          <p:grpSpPr bwMode="auto">
            <a:xfrm>
              <a:off x="2822" y="2182"/>
              <a:ext cx="194" cy="250"/>
              <a:chOff x="2368" y="1750"/>
              <a:chExt cx="194" cy="250"/>
            </a:xfrm>
          </p:grpSpPr>
          <p:sp>
            <p:nvSpPr>
              <p:cNvPr id="8226" name="Text Box 3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8227" name="Oval 3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228" name="Group 36"/>
            <p:cNvGrpSpPr>
              <a:grpSpLocks/>
            </p:cNvGrpSpPr>
            <p:nvPr/>
          </p:nvGrpSpPr>
          <p:grpSpPr bwMode="auto">
            <a:xfrm>
              <a:off x="2004" y="2182"/>
              <a:ext cx="196" cy="250"/>
              <a:chOff x="2368" y="1750"/>
              <a:chExt cx="196" cy="250"/>
            </a:xfrm>
          </p:grpSpPr>
          <p:sp>
            <p:nvSpPr>
              <p:cNvPr id="8229" name="Text Box 3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8230" name="Oval 3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234" name="Group 42"/>
            <p:cNvGrpSpPr>
              <a:grpSpLocks/>
            </p:cNvGrpSpPr>
            <p:nvPr/>
          </p:nvGrpSpPr>
          <p:grpSpPr bwMode="auto">
            <a:xfrm>
              <a:off x="1565" y="1706"/>
              <a:ext cx="182" cy="250"/>
              <a:chOff x="1519" y="1706"/>
              <a:chExt cx="182" cy="250"/>
            </a:xfrm>
          </p:grpSpPr>
          <p:sp>
            <p:nvSpPr>
              <p:cNvPr id="8232" name="Text Box 40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8233" name="Oval 41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235" name="Line 43"/>
            <p:cNvSpPr>
              <a:spLocks noChangeShapeType="1"/>
            </p:cNvSpPr>
            <p:nvPr/>
          </p:nvSpPr>
          <p:spPr bwMode="auto">
            <a:xfrm flipV="1">
              <a:off x="793" y="1389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3" name="Line 51"/>
            <p:cNvSpPr>
              <a:spLocks noChangeShapeType="1"/>
            </p:cNvSpPr>
            <p:nvPr/>
          </p:nvSpPr>
          <p:spPr bwMode="auto">
            <a:xfrm>
              <a:off x="793" y="1933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4" name="Line 52"/>
            <p:cNvSpPr>
              <a:spLocks noChangeShapeType="1"/>
            </p:cNvSpPr>
            <p:nvPr/>
          </p:nvSpPr>
          <p:spPr bwMode="auto">
            <a:xfrm>
              <a:off x="1247" y="1434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5" name="Line 53"/>
            <p:cNvSpPr>
              <a:spLocks noChangeShapeType="1"/>
            </p:cNvSpPr>
            <p:nvPr/>
          </p:nvSpPr>
          <p:spPr bwMode="auto">
            <a:xfrm>
              <a:off x="1338" y="1298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6" name="Line 54"/>
            <p:cNvSpPr>
              <a:spLocks noChangeShapeType="1"/>
            </p:cNvSpPr>
            <p:nvPr/>
          </p:nvSpPr>
          <p:spPr bwMode="auto">
            <a:xfrm>
              <a:off x="1338" y="2341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7" name="Line 55"/>
            <p:cNvSpPr>
              <a:spLocks noChangeShapeType="1"/>
            </p:cNvSpPr>
            <p:nvPr/>
          </p:nvSpPr>
          <p:spPr bwMode="auto">
            <a:xfrm>
              <a:off x="2200" y="2341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9" name="Line 57"/>
            <p:cNvSpPr>
              <a:spLocks noChangeShapeType="1"/>
            </p:cNvSpPr>
            <p:nvPr/>
          </p:nvSpPr>
          <p:spPr bwMode="auto">
            <a:xfrm>
              <a:off x="2154" y="1389"/>
              <a:ext cx="681" cy="862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0" name="Line 58"/>
            <p:cNvSpPr>
              <a:spLocks noChangeShapeType="1"/>
            </p:cNvSpPr>
            <p:nvPr/>
          </p:nvSpPr>
          <p:spPr bwMode="auto">
            <a:xfrm>
              <a:off x="2200" y="1298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1" name="Line 59"/>
            <p:cNvSpPr>
              <a:spLocks noChangeShapeType="1"/>
            </p:cNvSpPr>
            <p:nvPr/>
          </p:nvSpPr>
          <p:spPr bwMode="auto">
            <a:xfrm>
              <a:off x="2925" y="1389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2" name="Line 60"/>
            <p:cNvSpPr>
              <a:spLocks noChangeShapeType="1"/>
            </p:cNvSpPr>
            <p:nvPr/>
          </p:nvSpPr>
          <p:spPr bwMode="auto">
            <a:xfrm>
              <a:off x="3016" y="1344"/>
              <a:ext cx="408" cy="362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3" name="Line 61"/>
            <p:cNvSpPr>
              <a:spLocks noChangeShapeType="1"/>
            </p:cNvSpPr>
            <p:nvPr/>
          </p:nvSpPr>
          <p:spPr bwMode="auto">
            <a:xfrm flipV="1">
              <a:off x="3016" y="1888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4" name="Line 62"/>
            <p:cNvSpPr>
              <a:spLocks noChangeShapeType="1"/>
            </p:cNvSpPr>
            <p:nvPr/>
          </p:nvSpPr>
          <p:spPr bwMode="auto">
            <a:xfrm>
              <a:off x="1746" y="1933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5" name="Line 63"/>
            <p:cNvSpPr>
              <a:spLocks noChangeShapeType="1"/>
            </p:cNvSpPr>
            <p:nvPr/>
          </p:nvSpPr>
          <p:spPr bwMode="auto">
            <a:xfrm flipV="1">
              <a:off x="1292" y="1933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6" name="Line 64"/>
            <p:cNvSpPr>
              <a:spLocks noChangeShapeType="1"/>
            </p:cNvSpPr>
            <p:nvPr/>
          </p:nvSpPr>
          <p:spPr bwMode="auto">
            <a:xfrm flipV="1">
              <a:off x="1701" y="1389"/>
              <a:ext cx="317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7" name="Text Box 65"/>
            <p:cNvSpPr txBox="1">
              <a:spLocks noChangeArrowheads="1"/>
            </p:cNvSpPr>
            <p:nvPr/>
          </p:nvSpPr>
          <p:spPr bwMode="auto">
            <a:xfrm>
              <a:off x="793" y="12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8258" name="Text Box 66"/>
            <p:cNvSpPr txBox="1">
              <a:spLocks noChangeArrowheads="1"/>
            </p:cNvSpPr>
            <p:nvPr/>
          </p:nvSpPr>
          <p:spPr bwMode="auto">
            <a:xfrm>
              <a:off x="1552" y="965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8259" name="Text Box 67"/>
            <p:cNvSpPr txBox="1">
              <a:spLocks noChangeArrowheads="1"/>
            </p:cNvSpPr>
            <p:nvPr/>
          </p:nvSpPr>
          <p:spPr bwMode="auto">
            <a:xfrm>
              <a:off x="2396" y="965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8260" name="Text Box 68"/>
            <p:cNvSpPr txBox="1">
              <a:spLocks noChangeArrowheads="1"/>
            </p:cNvSpPr>
            <p:nvPr/>
          </p:nvSpPr>
          <p:spPr bwMode="auto">
            <a:xfrm>
              <a:off x="3230" y="122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8261" name="Text Box 69"/>
            <p:cNvSpPr txBox="1">
              <a:spLocks noChangeArrowheads="1"/>
            </p:cNvSpPr>
            <p:nvPr/>
          </p:nvSpPr>
          <p:spPr bwMode="auto">
            <a:xfrm>
              <a:off x="3198" y="197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8262" name="Text Box 70"/>
            <p:cNvSpPr txBox="1">
              <a:spLocks noChangeArrowheads="1"/>
            </p:cNvSpPr>
            <p:nvPr/>
          </p:nvSpPr>
          <p:spPr bwMode="auto">
            <a:xfrm>
              <a:off x="2880" y="1661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8263" name="Text Box 71"/>
            <p:cNvSpPr txBox="1">
              <a:spLocks noChangeArrowheads="1"/>
            </p:cNvSpPr>
            <p:nvPr/>
          </p:nvSpPr>
          <p:spPr bwMode="auto">
            <a:xfrm>
              <a:off x="2245" y="1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8264" name="Text Box 72"/>
            <p:cNvSpPr txBox="1">
              <a:spLocks noChangeArrowheads="1"/>
            </p:cNvSpPr>
            <p:nvPr/>
          </p:nvSpPr>
          <p:spPr bwMode="auto">
            <a:xfrm>
              <a:off x="1852" y="150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8265" name="Text Box 73"/>
            <p:cNvSpPr txBox="1">
              <a:spLocks noChangeArrowheads="1"/>
            </p:cNvSpPr>
            <p:nvPr/>
          </p:nvSpPr>
          <p:spPr bwMode="auto">
            <a:xfrm>
              <a:off x="2426" y="232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8266" name="Text Box 74"/>
            <p:cNvSpPr txBox="1">
              <a:spLocks noChangeArrowheads="1"/>
            </p:cNvSpPr>
            <p:nvPr/>
          </p:nvSpPr>
          <p:spPr bwMode="auto">
            <a:xfrm>
              <a:off x="1869" y="1855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8267" name="Text Box 75"/>
            <p:cNvSpPr txBox="1">
              <a:spLocks noChangeArrowheads="1"/>
            </p:cNvSpPr>
            <p:nvPr/>
          </p:nvSpPr>
          <p:spPr bwMode="auto">
            <a:xfrm>
              <a:off x="1597" y="232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8268" name="Text Box 76"/>
            <p:cNvSpPr txBox="1">
              <a:spLocks noChangeArrowheads="1"/>
            </p:cNvSpPr>
            <p:nvPr/>
          </p:nvSpPr>
          <p:spPr bwMode="auto">
            <a:xfrm>
              <a:off x="1325" y="1855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8269" name="Text Box 77"/>
            <p:cNvSpPr txBox="1">
              <a:spLocks noChangeArrowheads="1"/>
            </p:cNvSpPr>
            <p:nvPr/>
          </p:nvSpPr>
          <p:spPr bwMode="auto">
            <a:xfrm>
              <a:off x="975" y="1645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8270" name="Text Box 78"/>
            <p:cNvSpPr txBox="1">
              <a:spLocks noChangeArrowheads="1"/>
            </p:cNvSpPr>
            <p:nvPr/>
          </p:nvSpPr>
          <p:spPr bwMode="auto">
            <a:xfrm>
              <a:off x="793" y="205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  <p:sp>
        <p:nvSpPr>
          <p:cNvPr id="8329" name="Text Box 137"/>
          <p:cNvSpPr txBox="1">
            <a:spLocks noChangeArrowheads="1"/>
          </p:cNvSpPr>
          <p:nvPr/>
        </p:nvSpPr>
        <p:spPr bwMode="auto">
          <a:xfrm>
            <a:off x="346869" y="4797425"/>
            <a:ext cx="829368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TW" dirty="0">
                <a:ea typeface="PMingLiU" panose="02020500000000000000" pitchFamily="18" charset="-120"/>
              </a:rPr>
              <a:t>Notice that the tree is not unique: </a:t>
            </a:r>
          </a:p>
          <a:p>
            <a:pPr algn="l"/>
            <a:r>
              <a:rPr lang="en-US" altLang="zh-TW" dirty="0">
                <a:ea typeface="PMingLiU" panose="02020500000000000000" pitchFamily="18" charset="-120"/>
              </a:rPr>
              <a:t>replacing (</a:t>
            </a:r>
            <a:r>
              <a:rPr lang="en-US" altLang="zh-TW" dirty="0" err="1">
                <a:ea typeface="PMingLiU" panose="02020500000000000000" pitchFamily="18" charset="-120"/>
              </a:rPr>
              <a:t>b,c</a:t>
            </a:r>
            <a:r>
              <a:rPr lang="en-US" altLang="zh-TW" dirty="0">
                <a:ea typeface="PMingLiU" panose="02020500000000000000" pitchFamily="18" charset="-120"/>
              </a:rPr>
              <a:t>) with (</a:t>
            </a:r>
            <a:r>
              <a:rPr lang="en-US" altLang="zh-TW" dirty="0" err="1">
                <a:ea typeface="PMingLiU" panose="02020500000000000000" pitchFamily="18" charset="-120"/>
              </a:rPr>
              <a:t>a,h</a:t>
            </a:r>
            <a:r>
              <a:rPr lang="en-US" altLang="zh-TW" dirty="0">
                <a:ea typeface="PMingLiU" panose="02020500000000000000" pitchFamily="18" charset="-120"/>
              </a:rPr>
              <a:t>) yields another spanning tree with the same minimum weight.</a:t>
            </a:r>
          </a:p>
        </p:txBody>
      </p:sp>
    </p:spTree>
    <p:extLst>
      <p:ext uri="{BB962C8B-B14F-4D97-AF65-F5344CB8AC3E}">
        <p14:creationId xmlns:p14="http://schemas.microsoft.com/office/powerpoint/2010/main" val="24278183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>
                <a:ea typeface="PMingLiU" panose="02020500000000000000" pitchFamily="18" charset="-120"/>
              </a:rPr>
              <a:t>Kruskal's</a:t>
            </a:r>
            <a:r>
              <a:rPr lang="en-US" altLang="zh-TW" dirty="0">
                <a:ea typeface="PMingLiU" panose="02020500000000000000" pitchFamily="18" charset="-120"/>
              </a:rPr>
              <a:t> Algorithm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07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MST_KRUSKAL(</a:t>
                </a:r>
                <a:r>
                  <a:rPr lang="en-US" altLang="zh-TW" sz="2000" dirty="0" err="1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G,w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)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1	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=∅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ea typeface="PMingLiU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2	</a:t>
                </a:r>
                <a:r>
                  <a:rPr lang="en-US" altLang="zh-TW" sz="2000" b="1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for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 each vertex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ea typeface="PMingLiU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3		MAKE_SET(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𝑣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)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4	sort the edges of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 into </a:t>
                </a:r>
                <a:r>
                  <a:rPr lang="en-US" altLang="zh-TW" sz="2000" dirty="0" err="1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nondecreasing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 order by weight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𝑤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ea typeface="PMingLiU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609600" indent="-609600">
                  <a:lnSpc>
                    <a:spcPct val="80000"/>
                  </a:lnSpc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5	</a:t>
                </a:r>
                <a:r>
                  <a:rPr lang="en-US" altLang="zh-TW" sz="2000" b="1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for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 each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 err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Times New Roman" panose="02020603050405020304" pitchFamily="18" charset="0"/>
                          </a:rPr>
                          <m:t>𝑢</m:t>
                        </m:r>
                        <m:r>
                          <a:rPr lang="en-US" altLang="zh-TW" sz="2000" i="1" dirty="0" err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000" i="1" dirty="0" err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, taken in </a:t>
                </a:r>
                <a:r>
                  <a:rPr lang="en-US" altLang="zh-TW" sz="2000" dirty="0" err="1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nondecreasing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 order by weight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6		if FIND_SET(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𝑢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zh-TW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 FIND_SET(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𝑣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)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7			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∪{(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)}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ea typeface="PMingLiU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8			UNION(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𝑣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)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AutoNum type="arabicPlain" startAt="9"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return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ea typeface="PMingLiU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50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762" t="-17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5708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Kruskal’s algorithm</a:t>
            </a:r>
          </a:p>
        </p:txBody>
      </p:sp>
      <p:sp>
        <p:nvSpPr>
          <p:cNvPr id="916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Basic idea:</a:t>
            </a:r>
          </a:p>
          <a:p>
            <a:pPr lvl="1"/>
            <a:r>
              <a:rPr lang="en-US" dirty="0"/>
              <a:t>Grow many small trees </a:t>
            </a:r>
          </a:p>
          <a:p>
            <a:pPr lvl="1"/>
            <a:r>
              <a:rPr lang="en-US" dirty="0"/>
              <a:t>Find two trees that are closest (i.e., connected with the lightest edge), join them with the lightest edge</a:t>
            </a:r>
          </a:p>
          <a:p>
            <a:pPr lvl="1"/>
            <a:r>
              <a:rPr lang="en-US" dirty="0"/>
              <a:t>Terminate when a single tree forms</a:t>
            </a:r>
          </a:p>
        </p:txBody>
      </p:sp>
    </p:spTree>
    <p:extLst>
      <p:ext uri="{BB962C8B-B14F-4D97-AF65-F5344CB8AC3E}">
        <p14:creationId xmlns:p14="http://schemas.microsoft.com/office/powerpoint/2010/main" val="38332475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Time Complexity of </a:t>
            </a:r>
            <a:r>
              <a:rPr lang="en-US" altLang="zh-TW" dirty="0" err="1">
                <a:ea typeface="PMingLiU" panose="02020500000000000000" pitchFamily="18" charset="-120"/>
              </a:rPr>
              <a:t>Kruskal's</a:t>
            </a:r>
            <a:r>
              <a:rPr lang="en-US" altLang="zh-TW" dirty="0">
                <a:ea typeface="PMingLiU" panose="02020500000000000000" pitchFamily="18" charset="-120"/>
              </a:rPr>
              <a:t> Algorithm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/>
              <a:t>Line 4 sorts E edges =&gt; it takes O(E </a:t>
            </a:r>
            <a:r>
              <a:rPr lang="en-US" sz="2400" dirty="0" err="1"/>
              <a:t>lgE</a:t>
            </a:r>
            <a:r>
              <a:rPr lang="en-US" sz="2400" dirty="0"/>
              <a:t>) time, if we use </a:t>
            </a:r>
            <a:r>
              <a:rPr lang="en-US" sz="2400" dirty="0" err="1"/>
              <a:t>MergeSort</a:t>
            </a:r>
            <a:endParaRPr lang="en-US" sz="2400" dirty="0"/>
          </a:p>
          <a:p>
            <a:pPr lvl="1">
              <a:buFont typeface="Arial" pitchFamily="34" charset="0"/>
              <a:buChar char="•"/>
            </a:pPr>
            <a:r>
              <a:rPr lang="en-US" dirty="0"/>
              <a:t> But </a:t>
            </a:r>
            <a:r>
              <a:rPr lang="en-US" dirty="0" err="1"/>
              <a:t>lg</a:t>
            </a:r>
            <a:r>
              <a:rPr lang="en-US" dirty="0"/>
              <a:t> E = O(</a:t>
            </a:r>
            <a:r>
              <a:rPr lang="en-US" dirty="0" err="1"/>
              <a:t>lg</a:t>
            </a:r>
            <a:r>
              <a:rPr lang="en-US" dirty="0"/>
              <a:t> V), since E &lt; V</a:t>
            </a:r>
            <a:r>
              <a:rPr lang="en-US" baseline="30000" dirty="0"/>
              <a:t>2</a:t>
            </a:r>
            <a:r>
              <a:rPr lang="en-US" dirty="0"/>
              <a:t> =&gt; </a:t>
            </a:r>
            <a:r>
              <a:rPr lang="en-US" dirty="0" err="1"/>
              <a:t>lg</a:t>
            </a:r>
            <a:r>
              <a:rPr lang="en-US" dirty="0"/>
              <a:t> E &lt; 2 </a:t>
            </a:r>
            <a:r>
              <a:rPr lang="en-US" dirty="0" err="1"/>
              <a:t>lg</a:t>
            </a:r>
            <a:r>
              <a:rPr lang="en-US" dirty="0"/>
              <a:t> V =&gt; </a:t>
            </a:r>
            <a:r>
              <a:rPr lang="en-US" dirty="0" err="1"/>
              <a:t>lg</a:t>
            </a:r>
            <a:r>
              <a:rPr lang="en-US"/>
              <a:t> E </a:t>
            </a:r>
            <a:r>
              <a:rPr lang="en-US" dirty="0"/>
              <a:t>is O(</a:t>
            </a:r>
            <a:r>
              <a:rPr lang="en-US" dirty="0" err="1"/>
              <a:t>lg</a:t>
            </a:r>
            <a:r>
              <a:rPr lang="en-US" dirty="0"/>
              <a:t> V)</a:t>
            </a:r>
          </a:p>
          <a:p>
            <a:pPr lvl="1">
              <a:buFont typeface="Arial" pitchFamily="34" charset="0"/>
              <a:buChar char="•"/>
            </a:pPr>
            <a:r>
              <a:rPr lang="en-US" dirty="0"/>
              <a:t>Hence O(E </a:t>
            </a:r>
            <a:r>
              <a:rPr lang="en-US" dirty="0" err="1"/>
              <a:t>lg</a:t>
            </a:r>
            <a:r>
              <a:rPr lang="en-US" dirty="0"/>
              <a:t> E) = O(E </a:t>
            </a:r>
            <a:r>
              <a:rPr lang="en-US" dirty="0" err="1"/>
              <a:t>lg</a:t>
            </a:r>
            <a:r>
              <a:rPr lang="en-US" dirty="0"/>
              <a:t> V)</a:t>
            </a:r>
            <a:endParaRPr lang="en-US" baseline="30000" dirty="0"/>
          </a:p>
          <a:p>
            <a:pPr marL="0" lvl="1">
              <a:spcBef>
                <a:spcPts val="1000"/>
              </a:spcBef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en-US" altLang="zh-TW" dirty="0">
                <a:ea typeface="PMingLiU" panose="02020500000000000000" pitchFamily="18" charset="-120"/>
              </a:rPr>
              <a:t>If we make total m calls of </a:t>
            </a:r>
            <a:r>
              <a:rPr lang="en-US" altLang="zh-TW" dirty="0" err="1">
                <a:ea typeface="PMingLiU" panose="02020500000000000000" pitchFamily="18" charset="-120"/>
              </a:rPr>
              <a:t>Make_set</a:t>
            </a:r>
            <a:r>
              <a:rPr lang="en-US" altLang="zh-TW" dirty="0">
                <a:ea typeface="PMingLiU" panose="02020500000000000000" pitchFamily="18" charset="-120"/>
              </a:rPr>
              <a:t>, Union, and </a:t>
            </a:r>
            <a:r>
              <a:rPr lang="en-US" altLang="zh-TW" dirty="0" err="1">
                <a:ea typeface="PMingLiU" panose="02020500000000000000" pitchFamily="18" charset="-120"/>
              </a:rPr>
              <a:t>Find_set</a:t>
            </a:r>
            <a:r>
              <a:rPr lang="en-US" altLang="zh-TW" dirty="0">
                <a:ea typeface="PMingLiU" panose="02020500000000000000" pitchFamily="18" charset="-120"/>
              </a:rPr>
              <a:t> in any algorithm, then these calls will take total O(m </a:t>
            </a:r>
            <a:r>
              <a:rPr lang="en-US" altLang="zh-TW" dirty="0" err="1">
                <a:ea typeface="PMingLiU" panose="02020500000000000000" pitchFamily="18" charset="-120"/>
              </a:rPr>
              <a:t>lg</a:t>
            </a:r>
            <a:r>
              <a:rPr lang="en-US" altLang="zh-TW" dirty="0">
                <a:ea typeface="PMingLiU" panose="02020500000000000000" pitchFamily="18" charset="-120"/>
              </a:rPr>
              <a:t> n) time, where n is the number of Make-Set calls. 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2400" dirty="0"/>
              <a:t> The 1</a:t>
            </a:r>
            <a:r>
              <a:rPr lang="en-US" sz="2400" baseline="30000" dirty="0"/>
              <a:t>st</a:t>
            </a:r>
            <a:r>
              <a:rPr lang="en-US" sz="2400" dirty="0"/>
              <a:t> for loop makes O(V) MAKE_SET() calls and the 2</a:t>
            </a:r>
            <a:r>
              <a:rPr lang="en-US" sz="2400" baseline="30000" dirty="0"/>
              <a:t>nd</a:t>
            </a:r>
            <a:r>
              <a:rPr lang="en-US" sz="2400" dirty="0"/>
              <a:t> for loop makes O(E) </a:t>
            </a:r>
            <a:r>
              <a:rPr lang="en-US" sz="2400" dirty="0" err="1"/>
              <a:t>Find_SET</a:t>
            </a:r>
            <a:r>
              <a:rPr lang="en-US" sz="2400" dirty="0"/>
              <a:t> and UNION calls</a:t>
            </a:r>
          </a:p>
          <a:p>
            <a:pPr lvl="1">
              <a:buFont typeface="Arial" pitchFamily="34" charset="0"/>
              <a:buChar char="•"/>
            </a:pPr>
            <a:r>
              <a:rPr lang="en-US" dirty="0"/>
              <a:t> Total O(V+E) calls of MAKE_SET, FIND_SET, and UNION, out of which O(V) calls were MAKE_SET calls =&gt; O((V+E) </a:t>
            </a:r>
            <a:r>
              <a:rPr lang="en-US" dirty="0" err="1"/>
              <a:t>lgV</a:t>
            </a:r>
            <a:r>
              <a:rPr lang="en-US" dirty="0"/>
              <a:t>) time</a:t>
            </a:r>
          </a:p>
          <a:p>
            <a:pPr lvl="1">
              <a:buFont typeface="Arial" pitchFamily="34" charset="0"/>
              <a:buChar char="•"/>
            </a:pPr>
            <a:r>
              <a:rPr lang="en-US" dirty="0"/>
              <a:t> E ≥ V-1, since the graph is connected</a:t>
            </a:r>
          </a:p>
          <a:p>
            <a:pPr lvl="1"/>
            <a:r>
              <a:rPr lang="en-US" dirty="0"/>
              <a:t>=&gt; V is O(E)=&gt; O((V+E) </a:t>
            </a:r>
            <a:r>
              <a:rPr lang="en-US" dirty="0" err="1"/>
              <a:t>lgV</a:t>
            </a:r>
            <a:r>
              <a:rPr lang="en-US" dirty="0"/>
              <a:t>) = O(E </a:t>
            </a:r>
            <a:r>
              <a:rPr lang="en-US" dirty="0" err="1"/>
              <a:t>lgV</a:t>
            </a:r>
            <a:r>
              <a:rPr lang="en-US" dirty="0"/>
              <a:t>)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/>
              <a:t> Hence total time = O(E </a:t>
            </a:r>
            <a:r>
              <a:rPr lang="en-US" sz="2400" dirty="0" err="1"/>
              <a:t>lg</a:t>
            </a:r>
            <a:r>
              <a:rPr lang="en-US" sz="2400" dirty="0"/>
              <a:t> V)</a:t>
            </a:r>
          </a:p>
          <a:p>
            <a:pPr>
              <a:buFont typeface="Arial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90056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>
                <a:ea typeface="PMingLiU" panose="02020500000000000000" pitchFamily="18" charset="-120"/>
              </a:rPr>
              <a:t>Kruskal's</a:t>
            </a:r>
            <a:r>
              <a:rPr lang="en-US" altLang="zh-TW" dirty="0">
                <a:ea typeface="PMingLiU" panose="02020500000000000000" pitchFamily="18" charset="-120"/>
              </a:rPr>
              <a:t> Algorithm: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edges considered by the algorithm are sorted by weight.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 under consideration at each step is shown with a red weight number.</a:t>
            </a:r>
          </a:p>
          <a:p>
            <a:endParaRPr lang="en-US" sz="2400" dirty="0"/>
          </a:p>
        </p:txBody>
      </p:sp>
      <p:grpSp>
        <p:nvGrpSpPr>
          <p:cNvPr id="23556" name="Group 4"/>
          <p:cNvGrpSpPr>
            <a:grpSpLocks/>
          </p:cNvGrpSpPr>
          <p:nvPr/>
        </p:nvGrpSpPr>
        <p:grpSpPr bwMode="auto">
          <a:xfrm>
            <a:off x="2250281" y="2249487"/>
            <a:ext cx="4608512" cy="2617788"/>
            <a:chOff x="1429" y="2643"/>
            <a:chExt cx="2903" cy="1649"/>
          </a:xfrm>
        </p:grpSpPr>
        <p:grpSp>
          <p:nvGrpSpPr>
            <p:cNvPr id="23557" name="Group 5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23558" name="Text Box 6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23559" name="Oval 7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3560" name="Group 8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23561" name="Text Box 9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23562" name="Oval 10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3563" name="Group 11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23564" name="Text Box 1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23565" name="Oval 1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3566" name="Group 14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23567" name="Text Box 1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23568" name="Oval 1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3569" name="Group 17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23570" name="Text Box 1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23571" name="Oval 1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3572" name="Group 20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23573" name="Text Box 2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23574" name="Oval 2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3575" name="Group 23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23576" name="Text Box 2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23577" name="Oval 2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3578" name="Group 26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23579" name="Text Box 2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23580" name="Oval 2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3581" name="Group 29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23582" name="Text Box 30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23583" name="Oval 31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3584" name="Line 32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5" name="Line 33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6" name="Line 34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7" name="Line 35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8" name="Line 36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9" name="Line 37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0" name="Line 38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1" name="Line 39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2" name="Line 40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3" name="Line 41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4" name="Line 42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5" name="Line 43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6" name="Line 44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7" name="Line 45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8" name="Text Box 46"/>
            <p:cNvSpPr txBox="1">
              <a:spLocks noChangeArrowheads="1"/>
            </p:cNvSpPr>
            <p:nvPr/>
          </p:nvSpPr>
          <p:spPr bwMode="auto">
            <a:xfrm>
              <a:off x="1565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23599" name="Text Box 47"/>
            <p:cNvSpPr txBox="1">
              <a:spLocks noChangeArrowheads="1"/>
            </p:cNvSpPr>
            <p:nvPr/>
          </p:nvSpPr>
          <p:spPr bwMode="auto">
            <a:xfrm>
              <a:off x="2324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23600" name="Text Box 48"/>
            <p:cNvSpPr txBox="1">
              <a:spLocks noChangeArrowheads="1"/>
            </p:cNvSpPr>
            <p:nvPr/>
          </p:nvSpPr>
          <p:spPr bwMode="auto">
            <a:xfrm>
              <a:off x="3168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23601" name="Text Box 49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23602" name="Text Box 50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23603" name="Text Box 51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23604" name="Text Box 52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23605" name="Text Box 53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23606" name="Text Box 54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23607" name="Text Box 55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23608" name="Text Box 56"/>
            <p:cNvSpPr txBox="1">
              <a:spLocks noChangeArrowheads="1"/>
            </p:cNvSpPr>
            <p:nvPr/>
          </p:nvSpPr>
          <p:spPr bwMode="auto">
            <a:xfrm>
              <a:off x="2369" y="4004"/>
              <a:ext cx="19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23609" name="Text Box 57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23610" name="Text Box 58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23611" name="Text Box 59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70817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>
                <a:ea typeface="PMingLiU" panose="02020500000000000000" pitchFamily="18" charset="-120"/>
              </a:rPr>
              <a:t>Kruskal's</a:t>
            </a:r>
            <a:r>
              <a:rPr lang="en-US" altLang="zh-TW" dirty="0">
                <a:ea typeface="PMingLiU" panose="02020500000000000000" pitchFamily="18" charset="-120"/>
              </a:rPr>
              <a:t> Algorithm: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edges are considered by the algorithm in sorted order by weight.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 under consideration at each step is shown with a red weight number.</a:t>
            </a:r>
          </a:p>
          <a:p>
            <a:endParaRPr lang="en-US" sz="2400" dirty="0"/>
          </a:p>
          <a:p>
            <a:endParaRPr lang="en-US" sz="2400" dirty="0"/>
          </a:p>
        </p:txBody>
      </p:sp>
      <p:grpSp>
        <p:nvGrpSpPr>
          <p:cNvPr id="23556" name="Group 4"/>
          <p:cNvGrpSpPr>
            <a:grpSpLocks/>
          </p:cNvGrpSpPr>
          <p:nvPr/>
        </p:nvGrpSpPr>
        <p:grpSpPr bwMode="auto">
          <a:xfrm>
            <a:off x="2250281" y="2249487"/>
            <a:ext cx="4608512" cy="2617788"/>
            <a:chOff x="1429" y="2643"/>
            <a:chExt cx="2903" cy="1649"/>
          </a:xfrm>
        </p:grpSpPr>
        <p:grpSp>
          <p:nvGrpSpPr>
            <p:cNvPr id="23557" name="Group 5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23558" name="Text Box 6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23559" name="Oval 7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3560" name="Group 8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23561" name="Text Box 9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23562" name="Oval 10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3563" name="Group 11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23564" name="Text Box 1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23565" name="Oval 1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3566" name="Group 14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23567" name="Text Box 1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23568" name="Oval 1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3569" name="Group 17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23570" name="Text Box 1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23571" name="Oval 1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3572" name="Group 20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23573" name="Text Box 2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23574" name="Oval 2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3575" name="Group 23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23576" name="Text Box 2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23577" name="Oval 2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3578" name="Group 26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23579" name="Text Box 2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23580" name="Oval 2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3581" name="Group 29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23582" name="Text Box 30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23583" name="Oval 31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3584" name="Line 32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5" name="Line 33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6" name="Line 34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7" name="Line 35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8" name="Line 36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9" name="Line 37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0" name="Line 38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1" name="Line 39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2" name="Line 40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3" name="Line 41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4" name="Line 42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5" name="Line 43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6" name="Line 44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7" name="Line 45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8" name="Text Box 46"/>
            <p:cNvSpPr txBox="1">
              <a:spLocks noChangeArrowheads="1"/>
            </p:cNvSpPr>
            <p:nvPr/>
          </p:nvSpPr>
          <p:spPr bwMode="auto">
            <a:xfrm>
              <a:off x="1565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23599" name="Text Box 47"/>
            <p:cNvSpPr txBox="1">
              <a:spLocks noChangeArrowheads="1"/>
            </p:cNvSpPr>
            <p:nvPr/>
          </p:nvSpPr>
          <p:spPr bwMode="auto">
            <a:xfrm>
              <a:off x="2324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23600" name="Text Box 48"/>
            <p:cNvSpPr txBox="1">
              <a:spLocks noChangeArrowheads="1"/>
            </p:cNvSpPr>
            <p:nvPr/>
          </p:nvSpPr>
          <p:spPr bwMode="auto">
            <a:xfrm>
              <a:off x="3168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23601" name="Text Box 49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23602" name="Text Box 50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23603" name="Text Box 51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23604" name="Text Box 52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23605" name="Text Box 53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23606" name="Text Box 54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23607" name="Text Box 55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23608" name="Text Box 56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solidFill>
                    <a:srgbClr val="FF3300"/>
                  </a:solidFill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23609" name="Text Box 57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23610" name="Text Box 58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23611" name="Text Box 59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38392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>
                <a:ea typeface="PMingLiU" panose="02020500000000000000" pitchFamily="18" charset="-120"/>
              </a:rPr>
              <a:t>Kruskal's</a:t>
            </a:r>
            <a:r>
              <a:rPr lang="en-US" altLang="zh-TW" dirty="0">
                <a:ea typeface="PMingLiU" panose="02020500000000000000" pitchFamily="18" charset="-120"/>
              </a:rPr>
              <a:t> Algorithm: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edges are considered by the algorithm in sorted order by weight.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 under consideration at each step is shown with a red weight number.</a:t>
            </a:r>
          </a:p>
          <a:p>
            <a:endParaRPr lang="en-US" sz="2400" dirty="0"/>
          </a:p>
        </p:txBody>
      </p:sp>
      <p:grpSp>
        <p:nvGrpSpPr>
          <p:cNvPr id="63" name="Group 4"/>
          <p:cNvGrpSpPr>
            <a:grpSpLocks/>
          </p:cNvGrpSpPr>
          <p:nvPr/>
        </p:nvGrpSpPr>
        <p:grpSpPr bwMode="auto">
          <a:xfrm>
            <a:off x="2250280" y="2249487"/>
            <a:ext cx="4608513" cy="2617788"/>
            <a:chOff x="1429" y="2643"/>
            <a:chExt cx="2903" cy="1649"/>
          </a:xfrm>
        </p:grpSpPr>
        <p:grpSp>
          <p:nvGrpSpPr>
            <p:cNvPr id="64" name="Group 5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117" name="Text Box 6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118" name="Oval 7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5" name="Group 8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115" name="Text Box 9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116" name="Oval 10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6" name="Group 11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113" name="Text Box 1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114" name="Oval 1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7" name="Group 14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111" name="Text Box 1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112" name="Oval 1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8" name="Group 17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109" name="Text Box 1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110" name="Oval 1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9" name="Group 20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107" name="Text Box 2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108" name="Oval 2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0" name="Group 23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105" name="Text Box 2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106" name="Oval 2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1" name="Group 26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103" name="Text Box 2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104" name="Oval 2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2" name="Group 29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101" name="Text Box 30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102" name="Oval 31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3" name="Line 32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Line 33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Line 34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Line 35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Line 36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Line 37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Line 38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Line 39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Line 40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Line 41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Line 42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Line 43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Line 44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Line 45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 Box 46"/>
            <p:cNvSpPr txBox="1">
              <a:spLocks noChangeArrowheads="1"/>
            </p:cNvSpPr>
            <p:nvPr/>
          </p:nvSpPr>
          <p:spPr bwMode="auto">
            <a:xfrm>
              <a:off x="1565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88" name="Text Box 47"/>
            <p:cNvSpPr txBox="1">
              <a:spLocks noChangeArrowheads="1"/>
            </p:cNvSpPr>
            <p:nvPr/>
          </p:nvSpPr>
          <p:spPr bwMode="auto">
            <a:xfrm>
              <a:off x="2324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89" name="Text Box 48"/>
            <p:cNvSpPr txBox="1">
              <a:spLocks noChangeArrowheads="1"/>
            </p:cNvSpPr>
            <p:nvPr/>
          </p:nvSpPr>
          <p:spPr bwMode="auto">
            <a:xfrm>
              <a:off x="3168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90" name="Text Box 49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91" name="Text Box 50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92" name="Text Box 51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93" name="Text Box 52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94" name="Text Box 53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solidFill>
                    <a:srgbClr val="FF3300"/>
                  </a:solidFill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95" name="Text Box 54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96" name="Text Box 55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97" name="Text Box 56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98" name="Text Box 57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99" name="Text Box 58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100" name="Text Box 59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597265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>
                <a:ea typeface="PMingLiU" panose="02020500000000000000" pitchFamily="18" charset="-120"/>
              </a:rPr>
              <a:t>Kruskal's</a:t>
            </a:r>
            <a:r>
              <a:rPr lang="en-US" altLang="zh-TW" dirty="0">
                <a:ea typeface="PMingLiU" panose="02020500000000000000" pitchFamily="18" charset="-120"/>
              </a:rPr>
              <a:t> Algorithm: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edges are considered by the algorithm in sorted order by weight.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 under consideration at each step is shown with a red weight number.</a:t>
            </a:r>
          </a:p>
          <a:p>
            <a:endParaRPr lang="en-US" sz="2400" dirty="0"/>
          </a:p>
        </p:txBody>
      </p:sp>
      <p:grpSp>
        <p:nvGrpSpPr>
          <p:cNvPr id="61" name="Group 60"/>
          <p:cNvGrpSpPr>
            <a:grpSpLocks/>
          </p:cNvGrpSpPr>
          <p:nvPr/>
        </p:nvGrpSpPr>
        <p:grpSpPr bwMode="auto">
          <a:xfrm>
            <a:off x="2250281" y="2249487"/>
            <a:ext cx="4608512" cy="2617788"/>
            <a:chOff x="1429" y="2643"/>
            <a:chExt cx="2903" cy="1649"/>
          </a:xfrm>
        </p:grpSpPr>
        <p:grpSp>
          <p:nvGrpSpPr>
            <p:cNvPr id="119" name="Group 61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172" name="Text Box 6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173" name="Oval 6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0" name="Group 64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170" name="Text Box 6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171" name="Oval 6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1" name="Group 67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168" name="Text Box 6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169" name="Oval 6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2" name="Group 70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166" name="Text Box 7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167" name="Oval 7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3" name="Group 73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164" name="Text Box 7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165" name="Oval 7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4" name="Group 76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162" name="Text Box 7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163" name="Oval 7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5" name="Group 79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160" name="Text Box 80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161" name="Oval 81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6" name="Group 82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158" name="Text Box 83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159" name="Oval 84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7" name="Group 85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156" name="Text Box 86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157" name="Oval 87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8" name="Line 88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Line 89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Line 90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Line 91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Line 92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Line 93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Line 94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Line 95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Line 96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Line 97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Line 98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Line 99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Line 100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Line 101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Text Box 102"/>
            <p:cNvSpPr txBox="1">
              <a:spLocks noChangeArrowheads="1"/>
            </p:cNvSpPr>
            <p:nvPr/>
          </p:nvSpPr>
          <p:spPr bwMode="auto">
            <a:xfrm>
              <a:off x="1565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143" name="Text Box 103"/>
            <p:cNvSpPr txBox="1">
              <a:spLocks noChangeArrowheads="1"/>
            </p:cNvSpPr>
            <p:nvPr/>
          </p:nvSpPr>
          <p:spPr bwMode="auto">
            <a:xfrm>
              <a:off x="2324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144" name="Text Box 104"/>
            <p:cNvSpPr txBox="1">
              <a:spLocks noChangeArrowheads="1"/>
            </p:cNvSpPr>
            <p:nvPr/>
          </p:nvSpPr>
          <p:spPr bwMode="auto">
            <a:xfrm>
              <a:off x="3168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145" name="Text Box 105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146" name="Text Box 106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147" name="Text Box 107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148" name="Text Box 108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149" name="Text Box 109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150" name="Text Box 110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solidFill>
                    <a:srgbClr val="FF3300"/>
                  </a:solidFill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151" name="Text Box 111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152" name="Text Box 112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153" name="Text Box 113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154" name="Text Box 114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155" name="Text Box 115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53601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>
                <a:ea typeface="PMingLiU" panose="02020500000000000000" pitchFamily="18" charset="-120"/>
              </a:rPr>
              <a:t>Kruskal's</a:t>
            </a:r>
            <a:r>
              <a:rPr lang="en-US" altLang="zh-TW" dirty="0">
                <a:ea typeface="PMingLiU" panose="02020500000000000000" pitchFamily="18" charset="-120"/>
              </a:rPr>
              <a:t> Algorithm: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edges are considered by the algorithm in sorted order by weight.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 under consideration at each step is shown with a red weight number.</a:t>
            </a:r>
          </a:p>
          <a:p>
            <a:endParaRPr lang="en-US" sz="2400" dirty="0"/>
          </a:p>
        </p:txBody>
      </p:sp>
      <p:grpSp>
        <p:nvGrpSpPr>
          <p:cNvPr id="63" name="Group 4"/>
          <p:cNvGrpSpPr>
            <a:grpSpLocks/>
          </p:cNvGrpSpPr>
          <p:nvPr/>
        </p:nvGrpSpPr>
        <p:grpSpPr bwMode="auto">
          <a:xfrm>
            <a:off x="2250281" y="2249487"/>
            <a:ext cx="4608512" cy="2617788"/>
            <a:chOff x="1429" y="2643"/>
            <a:chExt cx="2903" cy="1649"/>
          </a:xfrm>
        </p:grpSpPr>
        <p:grpSp>
          <p:nvGrpSpPr>
            <p:cNvPr id="64" name="Group 5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117" name="Text Box 6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118" name="Oval 7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5" name="Group 8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115" name="Text Box 9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116" name="Oval 10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6" name="Group 11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113" name="Text Box 1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114" name="Oval 1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7" name="Group 14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111" name="Text Box 1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112" name="Oval 1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8" name="Group 17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109" name="Text Box 1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110" name="Oval 1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9" name="Group 20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107" name="Text Box 2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108" name="Oval 2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0" name="Group 23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105" name="Text Box 2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106" name="Oval 2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1" name="Group 26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103" name="Text Box 2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104" name="Oval 2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2" name="Group 29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101" name="Text Box 30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102" name="Oval 31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3" name="Line 32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Line 33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Line 34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Line 35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Line 36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Line 37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Line 38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Line 39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Line 40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Line 41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Line 42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Line 43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Line 44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Line 45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 Box 46"/>
            <p:cNvSpPr txBox="1">
              <a:spLocks noChangeArrowheads="1"/>
            </p:cNvSpPr>
            <p:nvPr/>
          </p:nvSpPr>
          <p:spPr bwMode="auto">
            <a:xfrm>
              <a:off x="1565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solidFill>
                    <a:srgbClr val="FF3300"/>
                  </a:solidFill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88" name="Text Box 47"/>
            <p:cNvSpPr txBox="1">
              <a:spLocks noChangeArrowheads="1"/>
            </p:cNvSpPr>
            <p:nvPr/>
          </p:nvSpPr>
          <p:spPr bwMode="auto">
            <a:xfrm>
              <a:off x="2324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89" name="Text Box 48"/>
            <p:cNvSpPr txBox="1">
              <a:spLocks noChangeArrowheads="1"/>
            </p:cNvSpPr>
            <p:nvPr/>
          </p:nvSpPr>
          <p:spPr bwMode="auto">
            <a:xfrm>
              <a:off x="3168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90" name="Text Box 49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91" name="Text Box 50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92" name="Text Box 51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93" name="Text Box 52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94" name="Text Box 53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95" name="Text Box 54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96" name="Text Box 55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97" name="Text Box 56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98" name="Text Box 57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99" name="Text Box 58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100" name="Text Box 59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08308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>
                <a:ea typeface="PMingLiU" panose="02020500000000000000" pitchFamily="18" charset="-120"/>
              </a:rPr>
              <a:t>Kruskal's</a:t>
            </a:r>
            <a:r>
              <a:rPr lang="en-US" altLang="zh-TW" dirty="0">
                <a:ea typeface="PMingLiU" panose="02020500000000000000" pitchFamily="18" charset="-120"/>
              </a:rPr>
              <a:t> Algorithm: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edges are considered by the algorithm in sorted order by weight.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 under consideration at each step is shown with a red weight number.</a:t>
            </a:r>
          </a:p>
          <a:p>
            <a:endParaRPr lang="en-US" sz="2400" dirty="0"/>
          </a:p>
        </p:txBody>
      </p:sp>
      <p:grpSp>
        <p:nvGrpSpPr>
          <p:cNvPr id="61" name="Group 60"/>
          <p:cNvGrpSpPr>
            <a:grpSpLocks/>
          </p:cNvGrpSpPr>
          <p:nvPr/>
        </p:nvGrpSpPr>
        <p:grpSpPr bwMode="auto">
          <a:xfrm>
            <a:off x="2250281" y="2249487"/>
            <a:ext cx="4608512" cy="2617787"/>
            <a:chOff x="1429" y="2643"/>
            <a:chExt cx="2903" cy="1649"/>
          </a:xfrm>
        </p:grpSpPr>
        <p:grpSp>
          <p:nvGrpSpPr>
            <p:cNvPr id="119" name="Group 61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172" name="Text Box 6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173" name="Oval 6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0" name="Group 64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170" name="Text Box 6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171" name="Oval 6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1" name="Group 67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168" name="Text Box 6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169" name="Oval 6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2" name="Group 70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166" name="Text Box 7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167" name="Oval 7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3" name="Group 73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164" name="Text Box 7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165" name="Oval 7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4" name="Group 76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162" name="Text Box 7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163" name="Oval 7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5" name="Group 79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160" name="Text Box 80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161" name="Oval 81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6" name="Group 82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158" name="Text Box 83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159" name="Oval 84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7" name="Group 85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156" name="Text Box 86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157" name="Oval 87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8" name="Line 88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Line 89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Line 90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Line 91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Line 92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Line 93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Line 94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Line 95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Line 96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Line 97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Line 98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Line 99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Line 100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Line 101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Text Box 102"/>
            <p:cNvSpPr txBox="1">
              <a:spLocks noChangeArrowheads="1"/>
            </p:cNvSpPr>
            <p:nvPr/>
          </p:nvSpPr>
          <p:spPr bwMode="auto">
            <a:xfrm>
              <a:off x="1565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143" name="Text Box 103"/>
            <p:cNvSpPr txBox="1">
              <a:spLocks noChangeArrowheads="1"/>
            </p:cNvSpPr>
            <p:nvPr/>
          </p:nvSpPr>
          <p:spPr bwMode="auto">
            <a:xfrm>
              <a:off x="2324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144" name="Text Box 104"/>
            <p:cNvSpPr txBox="1">
              <a:spLocks noChangeArrowheads="1"/>
            </p:cNvSpPr>
            <p:nvPr/>
          </p:nvSpPr>
          <p:spPr bwMode="auto">
            <a:xfrm>
              <a:off x="3168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145" name="Text Box 105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146" name="Text Box 106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147" name="Text Box 107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148" name="Text Box 108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solidFill>
                    <a:srgbClr val="FF3300"/>
                  </a:solidFill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149" name="Text Box 109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150" name="Text Box 110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151" name="Text Box 111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152" name="Text Box 112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153" name="Text Box 113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154" name="Text Box 114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155" name="Text Box 115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19973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>
                <a:ea typeface="PMingLiU" panose="02020500000000000000" pitchFamily="18" charset="-120"/>
              </a:rPr>
              <a:t>Kruskal's</a:t>
            </a:r>
            <a:r>
              <a:rPr lang="en-US" altLang="zh-TW" dirty="0">
                <a:ea typeface="PMingLiU" panose="02020500000000000000" pitchFamily="18" charset="-120"/>
              </a:rPr>
              <a:t> Algorithm: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edges are considered by the algorithm in sorted order by weight.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 under consideration at each step is shown with a red weight number.</a:t>
            </a:r>
          </a:p>
          <a:p>
            <a:endParaRPr lang="en-US" sz="2400" dirty="0"/>
          </a:p>
        </p:txBody>
      </p:sp>
      <p:grpSp>
        <p:nvGrpSpPr>
          <p:cNvPr id="63" name="Group 60"/>
          <p:cNvGrpSpPr>
            <a:grpSpLocks/>
          </p:cNvGrpSpPr>
          <p:nvPr/>
        </p:nvGrpSpPr>
        <p:grpSpPr bwMode="auto">
          <a:xfrm>
            <a:off x="2250280" y="2249487"/>
            <a:ext cx="4608513" cy="2617788"/>
            <a:chOff x="1429" y="2643"/>
            <a:chExt cx="2903" cy="1649"/>
          </a:xfrm>
        </p:grpSpPr>
        <p:grpSp>
          <p:nvGrpSpPr>
            <p:cNvPr id="64" name="Group 61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117" name="Text Box 6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118" name="Oval 6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5" name="Group 64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115" name="Text Box 6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116" name="Oval 6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6" name="Group 67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113" name="Text Box 6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114" name="Oval 6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7" name="Group 70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111" name="Text Box 7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112" name="Oval 7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8" name="Group 73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109" name="Text Box 7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110" name="Oval 7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9" name="Group 76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107" name="Text Box 7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108" name="Oval 7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0" name="Group 79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105" name="Text Box 80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106" name="Oval 81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1" name="Group 82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103" name="Text Box 83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104" name="Oval 84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2" name="Group 85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101" name="Text Box 86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102" name="Oval 87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3" name="Line 88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Line 89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Line 90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Line 91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Line 92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Line 93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Line 94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Line 95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Line 96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Line 97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Line 98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Line 99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Line 100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Line 101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 Box 102"/>
            <p:cNvSpPr txBox="1">
              <a:spLocks noChangeArrowheads="1"/>
            </p:cNvSpPr>
            <p:nvPr/>
          </p:nvSpPr>
          <p:spPr bwMode="auto">
            <a:xfrm>
              <a:off x="1565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88" name="Text Box 103"/>
            <p:cNvSpPr txBox="1">
              <a:spLocks noChangeArrowheads="1"/>
            </p:cNvSpPr>
            <p:nvPr/>
          </p:nvSpPr>
          <p:spPr bwMode="auto">
            <a:xfrm>
              <a:off x="2324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89" name="Text Box 104"/>
            <p:cNvSpPr txBox="1">
              <a:spLocks noChangeArrowheads="1"/>
            </p:cNvSpPr>
            <p:nvPr/>
          </p:nvSpPr>
          <p:spPr bwMode="auto">
            <a:xfrm>
              <a:off x="3168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90" name="Text Box 105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91" name="Text Box 106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92" name="Text Box 107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93" name="Text Box 108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94" name="Text Box 109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95" name="Text Box 110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96" name="Text Box 111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solidFill>
                    <a:srgbClr val="FF3300"/>
                  </a:solidFill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97" name="Text Box 112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98" name="Text Box 113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99" name="Text Box 114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100" name="Text Box 115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550715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>
                <a:ea typeface="PMingLiU" panose="02020500000000000000" pitchFamily="18" charset="-120"/>
              </a:rPr>
              <a:t>Kruskal's</a:t>
            </a:r>
            <a:r>
              <a:rPr lang="en-US" altLang="zh-TW" dirty="0">
                <a:ea typeface="PMingLiU" panose="02020500000000000000" pitchFamily="18" charset="-120"/>
              </a:rPr>
              <a:t> Algorithm: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edges are considered by the algorithm in sorted order by weight.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 under consideration at each step is shown with a red weight number.</a:t>
            </a:r>
          </a:p>
          <a:p>
            <a:endParaRPr lang="en-US" sz="2400" dirty="0"/>
          </a:p>
        </p:txBody>
      </p:sp>
      <p:grpSp>
        <p:nvGrpSpPr>
          <p:cNvPr id="61" name="Group 4"/>
          <p:cNvGrpSpPr>
            <a:grpSpLocks/>
          </p:cNvGrpSpPr>
          <p:nvPr/>
        </p:nvGrpSpPr>
        <p:grpSpPr bwMode="auto">
          <a:xfrm>
            <a:off x="2250280" y="2249487"/>
            <a:ext cx="4608513" cy="2617787"/>
            <a:chOff x="1429" y="2643"/>
            <a:chExt cx="2903" cy="1649"/>
          </a:xfrm>
        </p:grpSpPr>
        <p:grpSp>
          <p:nvGrpSpPr>
            <p:cNvPr id="119" name="Group 5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172" name="Text Box 6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173" name="Oval 7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0" name="Group 8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170" name="Text Box 9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171" name="Oval 10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1" name="Group 11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168" name="Text Box 1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169" name="Oval 1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2" name="Group 14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166" name="Text Box 1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167" name="Oval 1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3" name="Group 17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164" name="Text Box 1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165" name="Oval 1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4" name="Group 20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162" name="Text Box 2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163" name="Oval 2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5" name="Group 23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160" name="Text Box 2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161" name="Oval 2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6" name="Group 26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158" name="Text Box 2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159" name="Oval 2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7" name="Group 29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156" name="Text Box 30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157" name="Oval 31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8" name="Line 32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Line 33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Line 34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Line 35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Line 36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Line 37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Line 38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Line 39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Line 40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Line 41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Line 42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Line 43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Line 44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Line 45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Text Box 46"/>
            <p:cNvSpPr txBox="1">
              <a:spLocks noChangeArrowheads="1"/>
            </p:cNvSpPr>
            <p:nvPr/>
          </p:nvSpPr>
          <p:spPr bwMode="auto">
            <a:xfrm>
              <a:off x="1565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143" name="Text Box 47"/>
            <p:cNvSpPr txBox="1">
              <a:spLocks noChangeArrowheads="1"/>
            </p:cNvSpPr>
            <p:nvPr/>
          </p:nvSpPr>
          <p:spPr bwMode="auto">
            <a:xfrm>
              <a:off x="2324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144" name="Text Box 48"/>
            <p:cNvSpPr txBox="1">
              <a:spLocks noChangeArrowheads="1"/>
            </p:cNvSpPr>
            <p:nvPr/>
          </p:nvSpPr>
          <p:spPr bwMode="auto">
            <a:xfrm>
              <a:off x="3168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solidFill>
                    <a:srgbClr val="FF3300"/>
                  </a:solidFill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145" name="Text Box 49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146" name="Text Box 50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147" name="Text Box 51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148" name="Text Box 52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149" name="Text Box 53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150" name="Text Box 54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151" name="Text Box 55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152" name="Text Box 56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153" name="Text Box 57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154" name="Text Box 58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155" name="Text Box 59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995627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>
                <a:ea typeface="PMingLiU" panose="02020500000000000000" pitchFamily="18" charset="-120"/>
              </a:rPr>
              <a:t>Kruskal's</a:t>
            </a:r>
            <a:r>
              <a:rPr lang="en-US" altLang="zh-TW" dirty="0">
                <a:ea typeface="PMingLiU" panose="02020500000000000000" pitchFamily="18" charset="-120"/>
              </a:rPr>
              <a:t> Algorithm: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edges are considered by the algorithm in sorted order by weight.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 under consideration at each step is shown with a red weight number.</a:t>
            </a:r>
          </a:p>
          <a:p>
            <a:endParaRPr lang="en-US" sz="2400" dirty="0"/>
          </a:p>
        </p:txBody>
      </p:sp>
      <p:grpSp>
        <p:nvGrpSpPr>
          <p:cNvPr id="63" name="Group 60"/>
          <p:cNvGrpSpPr>
            <a:grpSpLocks/>
          </p:cNvGrpSpPr>
          <p:nvPr/>
        </p:nvGrpSpPr>
        <p:grpSpPr bwMode="auto">
          <a:xfrm>
            <a:off x="2250281" y="2249487"/>
            <a:ext cx="4608512" cy="2617788"/>
            <a:chOff x="1429" y="2643"/>
            <a:chExt cx="2903" cy="1649"/>
          </a:xfrm>
        </p:grpSpPr>
        <p:grpSp>
          <p:nvGrpSpPr>
            <p:cNvPr id="64" name="Group 61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117" name="Text Box 6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118" name="Oval 6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5" name="Group 64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115" name="Text Box 6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116" name="Oval 6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6" name="Group 67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113" name="Text Box 6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114" name="Oval 6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7" name="Group 70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111" name="Text Box 7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112" name="Oval 7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8" name="Group 73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109" name="Text Box 7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110" name="Oval 7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9" name="Group 76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107" name="Text Box 7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108" name="Oval 7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0" name="Group 79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105" name="Text Box 80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106" name="Oval 81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1" name="Group 82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103" name="Text Box 83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104" name="Oval 84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2" name="Group 85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101" name="Text Box 86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102" name="Oval 87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3" name="Line 88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Line 89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Line 90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Line 91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Line 92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Line 93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Line 94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Line 95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Line 96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Line 97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Line 98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Line 99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Line 100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Line 101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 Box 102"/>
            <p:cNvSpPr txBox="1">
              <a:spLocks noChangeArrowheads="1"/>
            </p:cNvSpPr>
            <p:nvPr/>
          </p:nvSpPr>
          <p:spPr bwMode="auto">
            <a:xfrm>
              <a:off x="1565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88" name="Text Box 103"/>
            <p:cNvSpPr txBox="1">
              <a:spLocks noChangeArrowheads="1"/>
            </p:cNvSpPr>
            <p:nvPr/>
          </p:nvSpPr>
          <p:spPr bwMode="auto">
            <a:xfrm>
              <a:off x="2324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89" name="Text Box 104"/>
            <p:cNvSpPr txBox="1">
              <a:spLocks noChangeArrowheads="1"/>
            </p:cNvSpPr>
            <p:nvPr/>
          </p:nvSpPr>
          <p:spPr bwMode="auto">
            <a:xfrm>
              <a:off x="3168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90" name="Text Box 105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91" name="Text Box 106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92" name="Text Box 107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93" name="Text Box 108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94" name="Text Box 109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95" name="Text Box 110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96" name="Text Box 111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97" name="Text Box 112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98" name="Text Box 113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solidFill>
                    <a:srgbClr val="FF3300"/>
                  </a:solidFill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99" name="Text Box 114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100" name="Text Box 115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619402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>
                <a:ea typeface="PMingLiU" panose="02020500000000000000" pitchFamily="18" charset="-120"/>
              </a:rPr>
              <a:t>Kruskal's</a:t>
            </a:r>
            <a:r>
              <a:rPr lang="en-US" altLang="zh-TW" dirty="0">
                <a:ea typeface="PMingLiU" panose="02020500000000000000" pitchFamily="18" charset="-120"/>
              </a:rPr>
              <a:t> Algorithm: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edges are considered by the algorithm in sorted order by weight.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 under consideration at each step is shown with a red weight number.</a:t>
            </a:r>
          </a:p>
          <a:p>
            <a:endParaRPr lang="en-US" sz="2400" dirty="0"/>
          </a:p>
        </p:txBody>
      </p:sp>
      <p:grpSp>
        <p:nvGrpSpPr>
          <p:cNvPr id="61" name="Group 4"/>
          <p:cNvGrpSpPr>
            <a:grpSpLocks/>
          </p:cNvGrpSpPr>
          <p:nvPr/>
        </p:nvGrpSpPr>
        <p:grpSpPr bwMode="auto">
          <a:xfrm>
            <a:off x="2250281" y="2249487"/>
            <a:ext cx="4608512" cy="2617787"/>
            <a:chOff x="1429" y="2643"/>
            <a:chExt cx="2903" cy="1649"/>
          </a:xfrm>
        </p:grpSpPr>
        <p:grpSp>
          <p:nvGrpSpPr>
            <p:cNvPr id="119" name="Group 5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172" name="Text Box 6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173" name="Oval 7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0" name="Group 8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170" name="Text Box 9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171" name="Oval 10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1" name="Group 11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168" name="Text Box 1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169" name="Oval 1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2" name="Group 14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166" name="Text Box 1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167" name="Oval 1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3" name="Group 17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164" name="Text Box 1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165" name="Oval 1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4" name="Group 20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162" name="Text Box 2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163" name="Oval 2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5" name="Group 23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160" name="Text Box 2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161" name="Oval 2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6" name="Group 26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158" name="Text Box 2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159" name="Oval 2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7" name="Group 29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156" name="Text Box 30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157" name="Oval 31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8" name="Line 32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Line 33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Line 34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Line 35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Line 36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Line 37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Line 38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Line 39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Line 40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Line 41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Line 42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Line 43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Line 44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Line 45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Text Box 46"/>
            <p:cNvSpPr txBox="1">
              <a:spLocks noChangeArrowheads="1"/>
            </p:cNvSpPr>
            <p:nvPr/>
          </p:nvSpPr>
          <p:spPr bwMode="auto">
            <a:xfrm>
              <a:off x="1565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143" name="Text Box 47"/>
            <p:cNvSpPr txBox="1">
              <a:spLocks noChangeArrowheads="1"/>
            </p:cNvSpPr>
            <p:nvPr/>
          </p:nvSpPr>
          <p:spPr bwMode="auto">
            <a:xfrm>
              <a:off x="2324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144" name="Text Box 48"/>
            <p:cNvSpPr txBox="1">
              <a:spLocks noChangeArrowheads="1"/>
            </p:cNvSpPr>
            <p:nvPr/>
          </p:nvSpPr>
          <p:spPr bwMode="auto">
            <a:xfrm>
              <a:off x="3168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145" name="Text Box 49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146" name="Text Box 50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147" name="Text Box 51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148" name="Text Box 52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149" name="Text Box 53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150" name="Text Box 54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151" name="Text Box 55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152" name="Text Box 56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153" name="Text Box 57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154" name="Text Box 58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155" name="Text Box 59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solidFill>
                    <a:srgbClr val="FF3300"/>
                  </a:solidFill>
                  <a:ea typeface="PMingLiU" panose="02020500000000000000" pitchFamily="18" charset="-120"/>
                </a:rPr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66027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>
                <a:ea typeface="PMingLiU" panose="02020500000000000000" pitchFamily="18" charset="-120"/>
              </a:rPr>
              <a:t>Kruskal's</a:t>
            </a:r>
            <a:r>
              <a:rPr lang="en-US" altLang="zh-TW" dirty="0">
                <a:ea typeface="PMingLiU" panose="02020500000000000000" pitchFamily="18" charset="-120"/>
              </a:rPr>
              <a:t> Algorithm: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edges are considered by the algorithm in sorted order by weight.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 under consideration at each step is shown with a red weight number.</a:t>
            </a:r>
          </a:p>
          <a:p>
            <a:endParaRPr lang="en-US" sz="2400" dirty="0"/>
          </a:p>
        </p:txBody>
      </p:sp>
      <p:grpSp>
        <p:nvGrpSpPr>
          <p:cNvPr id="63" name="Group 60"/>
          <p:cNvGrpSpPr>
            <a:grpSpLocks/>
          </p:cNvGrpSpPr>
          <p:nvPr/>
        </p:nvGrpSpPr>
        <p:grpSpPr bwMode="auto">
          <a:xfrm>
            <a:off x="2250281" y="2249487"/>
            <a:ext cx="4608512" cy="2617788"/>
            <a:chOff x="1429" y="2643"/>
            <a:chExt cx="2903" cy="1649"/>
          </a:xfrm>
        </p:grpSpPr>
        <p:grpSp>
          <p:nvGrpSpPr>
            <p:cNvPr id="64" name="Group 61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117" name="Text Box 6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118" name="Oval 6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5" name="Group 64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115" name="Text Box 6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116" name="Oval 6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6" name="Group 67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113" name="Text Box 6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114" name="Oval 6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7" name="Group 70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111" name="Text Box 7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112" name="Oval 7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8" name="Group 73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109" name="Text Box 7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110" name="Oval 7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9" name="Group 76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107" name="Text Box 7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108" name="Oval 7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0" name="Group 79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105" name="Text Box 80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106" name="Oval 81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1" name="Group 82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103" name="Text Box 83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104" name="Oval 84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2" name="Group 85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101" name="Text Box 86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102" name="Oval 87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3" name="Line 88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Line 89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Line 90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Line 91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Line 92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Line 93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Line 94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Line 95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Line 96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Line 97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Line 98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Line 99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Line 100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Line 101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 Box 102"/>
            <p:cNvSpPr txBox="1">
              <a:spLocks noChangeArrowheads="1"/>
            </p:cNvSpPr>
            <p:nvPr/>
          </p:nvSpPr>
          <p:spPr bwMode="auto">
            <a:xfrm>
              <a:off x="1565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88" name="Text Box 103"/>
            <p:cNvSpPr txBox="1">
              <a:spLocks noChangeArrowheads="1"/>
            </p:cNvSpPr>
            <p:nvPr/>
          </p:nvSpPr>
          <p:spPr bwMode="auto">
            <a:xfrm>
              <a:off x="2324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solidFill>
                    <a:srgbClr val="FF3300"/>
                  </a:solidFill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89" name="Text Box 104"/>
            <p:cNvSpPr txBox="1">
              <a:spLocks noChangeArrowheads="1"/>
            </p:cNvSpPr>
            <p:nvPr/>
          </p:nvSpPr>
          <p:spPr bwMode="auto">
            <a:xfrm>
              <a:off x="3168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90" name="Text Box 105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91" name="Text Box 106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92" name="Text Box 107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93" name="Text Box 108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94" name="Text Box 109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95" name="Text Box 110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96" name="Text Box 111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97" name="Text Box 112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98" name="Text Box 113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99" name="Text Box 114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100" name="Text Box 115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89583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>
                <a:ea typeface="PMingLiU" panose="02020500000000000000" pitchFamily="18" charset="-120"/>
              </a:rPr>
              <a:t>Kruskal's</a:t>
            </a:r>
            <a:r>
              <a:rPr lang="en-US" altLang="zh-TW" dirty="0">
                <a:ea typeface="PMingLiU" panose="02020500000000000000" pitchFamily="18" charset="-120"/>
              </a:rPr>
              <a:t> Algorithm: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edges are considered by the algorithm in sorted order by weight.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TW" sz="2400" dirty="0">
                <a:ea typeface="PMingLiU" panose="02020500000000000000" pitchFamily="18" charset="-120"/>
              </a:rPr>
              <a:t>The edge under consideration at each step is shown with a red weight number.</a:t>
            </a:r>
          </a:p>
          <a:p>
            <a:endParaRPr lang="en-US" sz="2400" dirty="0"/>
          </a:p>
        </p:txBody>
      </p:sp>
      <p:grpSp>
        <p:nvGrpSpPr>
          <p:cNvPr id="61" name="Group 4"/>
          <p:cNvGrpSpPr>
            <a:grpSpLocks/>
          </p:cNvGrpSpPr>
          <p:nvPr/>
        </p:nvGrpSpPr>
        <p:grpSpPr bwMode="auto">
          <a:xfrm>
            <a:off x="2250281" y="2249487"/>
            <a:ext cx="4608512" cy="2617787"/>
            <a:chOff x="1429" y="2643"/>
            <a:chExt cx="2903" cy="1649"/>
          </a:xfrm>
        </p:grpSpPr>
        <p:grpSp>
          <p:nvGrpSpPr>
            <p:cNvPr id="119" name="Group 5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172" name="Text Box 6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173" name="Oval 7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0" name="Group 8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170" name="Text Box 9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171" name="Oval 10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1" name="Group 11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168" name="Text Box 1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169" name="Oval 1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2" name="Group 14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166" name="Text Box 1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167" name="Oval 1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3" name="Group 17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164" name="Text Box 1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165" name="Oval 1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4" name="Group 20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162" name="Text Box 2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163" name="Oval 2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5" name="Group 23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160" name="Text Box 2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161" name="Oval 2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6" name="Group 26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158" name="Text Box 2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159" name="Oval 2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7" name="Group 29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156" name="Text Box 30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157" name="Oval 31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8" name="Line 32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Line 33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Line 34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Line 35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Line 36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Line 37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Line 38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Line 39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Line 40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Line 41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Line 42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Line 43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Line 44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Line 45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Text Box 46"/>
            <p:cNvSpPr txBox="1">
              <a:spLocks noChangeArrowheads="1"/>
            </p:cNvSpPr>
            <p:nvPr/>
          </p:nvSpPr>
          <p:spPr bwMode="auto">
            <a:xfrm>
              <a:off x="1565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143" name="Text Box 47"/>
            <p:cNvSpPr txBox="1">
              <a:spLocks noChangeArrowheads="1"/>
            </p:cNvSpPr>
            <p:nvPr/>
          </p:nvSpPr>
          <p:spPr bwMode="auto">
            <a:xfrm>
              <a:off x="2324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144" name="Text Box 48"/>
            <p:cNvSpPr txBox="1">
              <a:spLocks noChangeArrowheads="1"/>
            </p:cNvSpPr>
            <p:nvPr/>
          </p:nvSpPr>
          <p:spPr bwMode="auto">
            <a:xfrm>
              <a:off x="3168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145" name="Text Box 49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solidFill>
                    <a:srgbClr val="FF3300"/>
                  </a:solidFill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146" name="Text Box 50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147" name="Text Box 51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148" name="Text Box 52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149" name="Text Box 53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150" name="Text Box 54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151" name="Text Box 55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152" name="Text Box 56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153" name="Text Box 57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154" name="Text Box 58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155" name="Text Box 59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82603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>
                <a:ea typeface="PMingLiU" panose="02020500000000000000" pitchFamily="18" charset="-120"/>
              </a:rPr>
              <a:t>Kruskal's</a:t>
            </a:r>
            <a:r>
              <a:rPr lang="en-US" altLang="zh-TW" dirty="0">
                <a:ea typeface="PMingLiU" panose="02020500000000000000" pitchFamily="18" charset="-120"/>
              </a:rPr>
              <a:t> Algorithm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07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MST_KRUSKAL(</a:t>
                </a:r>
                <a:r>
                  <a:rPr lang="en-US" altLang="zh-TW" sz="2000" dirty="0" err="1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G,w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)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1	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=∅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ea typeface="PMingLiU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2	</a:t>
                </a:r>
                <a:r>
                  <a:rPr lang="en-US" altLang="zh-TW" sz="2000" b="1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for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 each vertex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ea typeface="PMingLiU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3		MAKE_SET(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𝑣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)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4	sort the edges of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 into </a:t>
                </a:r>
                <a:r>
                  <a:rPr lang="en-US" altLang="zh-TW" sz="2000" dirty="0" err="1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nondecreasing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 order by weight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𝑤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ea typeface="PMingLiU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609600" indent="-609600">
                  <a:lnSpc>
                    <a:spcPct val="80000"/>
                  </a:lnSpc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5	</a:t>
                </a:r>
                <a:r>
                  <a:rPr lang="en-US" altLang="zh-TW" sz="2000" b="1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for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 each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 err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Times New Roman" panose="02020603050405020304" pitchFamily="18" charset="0"/>
                          </a:rPr>
                          <m:t>𝑢</m:t>
                        </m:r>
                        <m:r>
                          <a:rPr lang="en-US" altLang="zh-TW" sz="2000" i="1" dirty="0" err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000" i="1" dirty="0" err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, taken in </a:t>
                </a:r>
                <a:r>
                  <a:rPr lang="en-US" altLang="zh-TW" sz="2000" dirty="0" err="1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nondecreasing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 order by weight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6		if FIND_SET(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𝑢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zh-TW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 FIND_SET(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𝑣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)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7			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∪{(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)}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ea typeface="PMingLiU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8			UNION(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𝑣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)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AutoNum type="arabicPlain" startAt="9"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return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ea typeface="PMingLiU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50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762" t="-17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88433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Kruskal’s</a:t>
            </a:r>
            <a:r>
              <a:rPr lang="en-US" b="1" dirty="0"/>
              <a:t> algorithm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75" y="1381125"/>
            <a:ext cx="6496050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8910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Kruskal’s</a:t>
            </a:r>
            <a:r>
              <a:rPr lang="en-US" b="1" dirty="0"/>
              <a:t> algorithm in 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" y="1143000"/>
            <a:ext cx="64389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5959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Kruskal’s</a:t>
            </a:r>
            <a:r>
              <a:rPr lang="en-US" b="1" dirty="0"/>
              <a:t> algorithm in 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787" y="1081087"/>
            <a:ext cx="6448425" cy="46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1123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Kruskal’s</a:t>
            </a:r>
            <a:r>
              <a:rPr lang="en-US" b="1" dirty="0"/>
              <a:t> algorithm in 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075" y="1085850"/>
            <a:ext cx="6419850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9803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Kruskal’s</a:t>
            </a:r>
            <a:r>
              <a:rPr lang="en-US" b="1" dirty="0"/>
              <a:t> algorithm in 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" y="1090612"/>
            <a:ext cx="6438900" cy="467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1698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Kruskal’s</a:t>
            </a:r>
            <a:r>
              <a:rPr lang="en-US" b="1" dirty="0"/>
              <a:t> algorithm in 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12" y="1081087"/>
            <a:ext cx="6429375" cy="46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5103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Kruskal’s</a:t>
            </a:r>
            <a:r>
              <a:rPr lang="en-US" b="1" dirty="0"/>
              <a:t> algorithm in 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837" y="1085850"/>
            <a:ext cx="6410325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5137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Kruskal’s</a:t>
            </a:r>
            <a:r>
              <a:rPr lang="en-US" b="1" dirty="0"/>
              <a:t> algorithm in 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362" y="1090612"/>
            <a:ext cx="6391275" cy="467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1617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Kruskal’s</a:t>
            </a:r>
            <a:r>
              <a:rPr lang="en-US" b="1" dirty="0"/>
              <a:t> algorithm in 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23950"/>
            <a:ext cx="6400800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2606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Kruskal’s</a:t>
            </a:r>
            <a:r>
              <a:rPr lang="en-US" b="1" dirty="0"/>
              <a:t> algorithm in 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837" y="1114425"/>
            <a:ext cx="6410325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3205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Kruskal’s</a:t>
            </a:r>
            <a:r>
              <a:rPr lang="en-US" b="1" dirty="0"/>
              <a:t> algorithm in 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837" y="1114425"/>
            <a:ext cx="6410325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8652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Kruskal’s</a:t>
            </a:r>
            <a:r>
              <a:rPr lang="en-US" b="1" dirty="0"/>
              <a:t> algorithm in 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7" y="1090612"/>
            <a:ext cx="6372225" cy="467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2657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Kruskal’s</a:t>
            </a:r>
            <a:r>
              <a:rPr lang="en-US" b="1" dirty="0"/>
              <a:t> algorithm in 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25" y="1114425"/>
            <a:ext cx="6381750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6170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Kruskal’s</a:t>
            </a:r>
            <a:r>
              <a:rPr lang="en-US" b="1" dirty="0"/>
              <a:t> algorithm in 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025" y="1119187"/>
            <a:ext cx="6457950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5103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Kruskal’s</a:t>
            </a:r>
            <a:r>
              <a:rPr lang="en-US" b="1" dirty="0"/>
              <a:t> algorithm in 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29" y="1924335"/>
            <a:ext cx="8417891" cy="2838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4242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Prim's Algorithm</a:t>
            </a:r>
            <a:endParaRPr lang="en-US" altLang="zh-TW" sz="2000" dirty="0">
              <a:ea typeface="PMingLiU" panose="02020500000000000000" pitchFamily="18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23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MST_PRIM(</a:t>
                </a:r>
                <a:r>
                  <a:rPr lang="en-US" altLang="zh-TW" sz="2000" dirty="0" err="1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G,w,r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)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1	</a:t>
                </a:r>
                <a:r>
                  <a:rPr lang="en-US" altLang="zh-TW" sz="2000" b="1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for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 each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𝑢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 in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ea typeface="PMingLiU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609600" indent="-609600">
                  <a:lnSpc>
                    <a:spcPct val="80000"/>
                  </a:lnSpc>
                  <a:buFontTx/>
                  <a:buAutoNum type="arabicPlain" startAt="2"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𝑘𝑒𝑦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=∞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ea typeface="PMingLiU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609600" indent="-609600">
                  <a:lnSpc>
                    <a:spcPct val="80000"/>
                  </a:lnSpc>
                  <a:buFontTx/>
                  <a:buAutoNum type="arabicPlain" startAt="2"/>
                </a:pPr>
                <a:r>
                  <a:rPr lang="en-US" altLang="zh-TW" sz="2000" b="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  <a:sym typeface="Symbol" panose="05050102010706020507" pitchFamily="18" charset="2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𝑢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.</m:t>
                    </m:r>
                    <m:r>
                      <a:rPr lang="zh-TW" altLang="en-US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𝜋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=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  <a:sym typeface="Symbol" panose="05050102010706020507" pitchFamily="18" charset="2"/>
                  </a:rPr>
                  <a:t>NIL</a:t>
                </a:r>
                <a:endParaRPr lang="en-US" altLang="zh-TW" sz="2000" dirty="0">
                  <a:latin typeface="Times New Roman" panose="02020603050405020304" pitchFamily="18" charset="0"/>
                  <a:ea typeface="PMingLiU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609600" indent="-609600">
                  <a:lnSpc>
                    <a:spcPct val="80000"/>
                  </a:lnSpc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4  	 </a:t>
                </a: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𝑘𝑒𝑦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ea typeface="PMingLiU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5	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	//Q is a min-priority queue</a:t>
                </a: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6	while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∅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ea typeface="PMingLiU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7		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EXTRACT_MIN(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)</a:t>
                </a:r>
                <a:endParaRPr lang="en-US" altLang="zh-TW" sz="2000" dirty="0">
                  <a:solidFill>
                    <a:schemeClr val="accent2"/>
                  </a:solidFill>
                  <a:latin typeface="Times New Roman" panose="02020603050405020304" pitchFamily="18" charset="0"/>
                  <a:ea typeface="PMingLiU" panose="02020500000000000000" pitchFamily="18" charset="-12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8		for each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𝐴𝑑𝑗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ea typeface="PMingLiU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9			if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𝑤</m:t>
                    </m:r>
                    <m:d>
                      <m:d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 err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Times New Roman" panose="02020603050405020304" pitchFamily="18" charset="0"/>
                          </a:rPr>
                          <m:t>𝑢</m:t>
                        </m:r>
                        <m:r>
                          <a:rPr lang="en-US" altLang="zh-TW" sz="2000" i="1" dirty="0" err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000" i="1" dirty="0" err="1">
                            <a:latin typeface="Cambria Math" panose="02040503050406030204" pitchFamily="18" charset="0"/>
                            <a:ea typeface="PMingLiU" panose="02020500000000000000" pitchFamily="18" charset="-12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  <m:r>
                      <a:rPr lang="en-US" altLang="zh-TW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𝑘𝑒𝑦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ea typeface="PMingLiU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609600" indent="-609600">
                  <a:lnSpc>
                    <a:spcPct val="80000"/>
                  </a:lnSpc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10			</a:t>
                </a: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𝑣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.</m:t>
                    </m:r>
                    <m:r>
                      <a:rPr lang="zh-TW" altLang="en-US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𝜋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𝑢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ea typeface="PMingLiU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ea typeface="PMingLiU" panose="02020500000000000000" pitchFamily="18" charset="-120"/>
                    <a:cs typeface="Times New Roman" panose="02020603050405020304" pitchFamily="18" charset="0"/>
                  </a:rPr>
                  <a:t>11			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𝑘𝑒𝑦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000" i="1" dirty="0" err="1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zh-TW" sz="2000" i="1" dirty="0" err="1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2000" i="1" dirty="0" err="1" smtClean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ea typeface="PMingLiU" panose="02020500000000000000" pitchFamily="18" charset="-12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ea typeface="PMingLiU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609600" indent="-609600">
                  <a:lnSpc>
                    <a:spcPct val="80000"/>
                  </a:lnSpc>
                  <a:buFontTx/>
                  <a:buNone/>
                </a:pPr>
                <a:endParaRPr lang="en-US" altLang="zh-TW" sz="2000" dirty="0">
                  <a:latin typeface="Times New Roman" panose="02020603050405020304" pitchFamily="18" charset="0"/>
                  <a:ea typeface="PMingLiU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72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 cstate="print"/>
                <a:stretch>
                  <a:fillRect l="-762" t="-17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68988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Prim's Algorithm</a:t>
            </a:r>
            <a:endParaRPr lang="en-US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>
                <a:ea typeface="PMingLiU" panose="02020500000000000000" pitchFamily="18" charset="-120"/>
              </a:rPr>
              <a:t>Grow the minimum spanning tree from the root vertex r.</a:t>
            </a:r>
          </a:p>
          <a:p>
            <a:r>
              <a:rPr lang="en-US" altLang="zh-TW" sz="2800" dirty="0">
                <a:ea typeface="PMingLiU" panose="02020500000000000000" pitchFamily="18" charset="-120"/>
              </a:rPr>
              <a:t>Q is a priority queue, holding all vertices that are not in the tree now.</a:t>
            </a:r>
          </a:p>
          <a:p>
            <a:r>
              <a:rPr lang="en-US" altLang="zh-TW" sz="2800" dirty="0">
                <a:ea typeface="PMingLiU" panose="02020500000000000000" pitchFamily="18" charset="-120"/>
              </a:rPr>
              <a:t>key[v] is the minimum weight of any edge connecting v to a vertex in the tree.</a:t>
            </a:r>
          </a:p>
          <a:p>
            <a:r>
              <a:rPr lang="en-US" altLang="zh-TW" sz="2800" dirty="0">
                <a:ea typeface="PMingLiU" panose="02020500000000000000" pitchFamily="18" charset="-120"/>
              </a:rPr>
              <a:t>parent[v] names the parent of v in the tree.</a:t>
            </a:r>
          </a:p>
          <a:p>
            <a:r>
              <a:rPr lang="en-US" altLang="zh-TW" sz="2800" dirty="0">
                <a:ea typeface="PMingLiU" panose="02020500000000000000" pitchFamily="18" charset="-120"/>
              </a:rPr>
              <a:t>When the algorithm terminates, Q is empty; the minimum spanning tree A for G is thus A={(</a:t>
            </a:r>
            <a:r>
              <a:rPr lang="en-US" altLang="zh-TW" sz="2800" dirty="0" err="1">
                <a:ea typeface="PMingLiU" panose="02020500000000000000" pitchFamily="18" charset="-120"/>
              </a:rPr>
              <a:t>v,parent</a:t>
            </a:r>
            <a:r>
              <a:rPr lang="en-US" altLang="zh-TW" sz="2800" dirty="0">
                <a:ea typeface="PMingLiU" panose="02020500000000000000" pitchFamily="18" charset="-120"/>
              </a:rPr>
              <a:t>[v]):</a:t>
            </a:r>
            <a:r>
              <a:rPr lang="en-US" altLang="zh-TW" sz="2800" dirty="0" err="1">
                <a:ea typeface="PMingLiU" panose="02020500000000000000" pitchFamily="18" charset="-120"/>
              </a:rPr>
              <a:t>v</a:t>
            </a:r>
            <a:r>
              <a:rPr lang="en-US" altLang="zh-TW" sz="2800" dirty="0" err="1">
                <a:latin typeface="宋体" panose="02010600030101010101" pitchFamily="2" charset="-122"/>
                <a:ea typeface="宋体" panose="02010600030101010101" pitchFamily="2" charset="-122"/>
              </a:rPr>
              <a:t>∈</a:t>
            </a:r>
            <a:r>
              <a:rPr lang="en-US" altLang="zh-TW" sz="2800" dirty="0" err="1">
                <a:ea typeface="PMingLiU" panose="02020500000000000000" pitchFamily="18" charset="-120"/>
              </a:rPr>
              <a:t>V</a:t>
            </a:r>
            <a:r>
              <a:rPr lang="en-US" altLang="zh-TW" sz="2800" dirty="0">
                <a:ea typeface="PMingLiU" panose="02020500000000000000" pitchFamily="18" charset="-120"/>
              </a:rPr>
              <a:t>-{r}}.</a:t>
            </a:r>
          </a:p>
          <a:p>
            <a:r>
              <a:rPr lang="en-US" altLang="zh-TW" sz="2800" dirty="0">
                <a:ea typeface="PMingLiU" panose="02020500000000000000" pitchFamily="18" charset="-120"/>
                <a:cs typeface="Times New Roman" panose="02020603050405020304" pitchFamily="18" charset="0"/>
              </a:rPr>
              <a:t>Running time: O(</a:t>
            </a:r>
            <a:r>
              <a:rPr lang="en-US" altLang="zh-TW" sz="2800" dirty="0" err="1">
                <a:ea typeface="PMingLiU" panose="02020500000000000000" pitchFamily="18" charset="-120"/>
                <a:cs typeface="Times New Roman" panose="02020603050405020304" pitchFamily="18" charset="0"/>
              </a:rPr>
              <a:t>Elg</a:t>
            </a:r>
            <a:r>
              <a:rPr lang="en-US" altLang="zh-TW" sz="2800" dirty="0">
                <a:ea typeface="PMingLiU" panose="02020500000000000000" pitchFamily="18" charset="-120"/>
                <a:cs typeface="Times New Roman" panose="02020603050405020304" pitchFamily="18" charset="0"/>
              </a:rPr>
              <a:t> V). </a:t>
            </a:r>
            <a:endParaRPr lang="zh-TW" altLang="en-US" sz="2800" dirty="0">
              <a:ea typeface="PMingLiU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729349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07975" y="1092200"/>
            <a:ext cx="8797925" cy="5237163"/>
          </a:xfrm>
          <a:prstGeom prst="rect">
            <a:avLst/>
          </a:prstGeom>
          <a:blipFill rotWithShape="0">
            <a:blip r:embed="rId2" cstate="print"/>
            <a:stretch>
              <a:fillRect l="-762" t="-1746"/>
            </a:stretch>
          </a:blipFill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+mn-lt"/>
                <a:ea typeface="+mn-ea"/>
                <a:cs typeface="+mn-cs"/>
              </a:rPr>
              <a:t> 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Running time of Prim's Algorithm</a:t>
            </a:r>
            <a:endParaRPr lang="en-US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2352675" y="1171575"/>
            <a:ext cx="6600825" cy="5005388"/>
          </a:xfrm>
        </p:spPr>
        <p:txBody>
          <a:bodyPr>
            <a:normAutofit/>
          </a:bodyPr>
          <a:lstStyle/>
          <a:p>
            <a:endParaRPr lang="en-US" altLang="zh-TW" sz="1200" dirty="0"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TW" sz="2000" dirty="0">
                <a:ea typeface="PMingLiU" panose="02020500000000000000" pitchFamily="18" charset="-120"/>
                <a:cs typeface="Times New Roman" panose="02020603050405020304" pitchFamily="18" charset="0"/>
              </a:rPr>
              <a:t>        </a:t>
            </a:r>
            <a:r>
              <a:rPr lang="en-US" altLang="zh-TW" sz="2000" dirty="0">
                <a:solidFill>
                  <a:srgbClr val="0070C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// O(V)</a:t>
            </a:r>
          </a:p>
          <a:p>
            <a:endParaRPr lang="en-US" altLang="zh-TW" sz="2000" dirty="0">
              <a:solidFill>
                <a:srgbClr val="0070C0"/>
              </a:solidFill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endParaRPr lang="en-US" altLang="zh-TW" sz="2000" dirty="0">
              <a:solidFill>
                <a:srgbClr val="0070C0"/>
              </a:solidFill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endParaRPr lang="en-US" altLang="zh-TW" sz="1200" dirty="0">
              <a:solidFill>
                <a:srgbClr val="0070C0"/>
              </a:solidFill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TW" sz="2000" dirty="0">
                <a:solidFill>
                  <a:srgbClr val="0070C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                                              //</a:t>
            </a:r>
            <a:r>
              <a:rPr lang="en-US" sz="2000" dirty="0">
                <a:solidFill>
                  <a:srgbClr val="0070C0"/>
                </a:solidFill>
                <a:latin typeface="Symbol" pitchFamily="18" charset="2"/>
              </a:rPr>
              <a:t>Q(</a:t>
            </a:r>
            <a:r>
              <a:rPr lang="en-US" altLang="zh-TW" sz="2000" dirty="0">
                <a:solidFill>
                  <a:srgbClr val="0070C0"/>
                </a:solidFill>
                <a:ea typeface="PMingLiU" panose="02020500000000000000" pitchFamily="18" charset="-120"/>
                <a:cs typeface="Times New Roman" panose="02020603050405020304" pitchFamily="18" charset="0"/>
              </a:rPr>
              <a:t>V) time to build the heap</a:t>
            </a:r>
          </a:p>
          <a:p>
            <a:endParaRPr lang="en-US" altLang="zh-TW" sz="1400" dirty="0">
              <a:solidFill>
                <a:srgbClr val="0070C0"/>
              </a:solidFill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TW" sz="2000" dirty="0">
                <a:solidFill>
                  <a:srgbClr val="0070C0"/>
                </a:solidFill>
                <a:ea typeface="PMingLiU" panose="02020500000000000000" pitchFamily="18" charset="-120"/>
              </a:rPr>
              <a:t>                           //V Heap-Extract-Min operations: O(V </a:t>
            </a:r>
            <a:r>
              <a:rPr lang="en-US" altLang="zh-TW" sz="2000" dirty="0" err="1">
                <a:solidFill>
                  <a:srgbClr val="0070C0"/>
                </a:solidFill>
                <a:ea typeface="PMingLiU" panose="02020500000000000000" pitchFamily="18" charset="-120"/>
              </a:rPr>
              <a:t>lg</a:t>
            </a:r>
            <a:r>
              <a:rPr lang="en-US" altLang="zh-TW" sz="2000" dirty="0">
                <a:solidFill>
                  <a:srgbClr val="0070C0"/>
                </a:solidFill>
                <a:ea typeface="PMingLiU" panose="02020500000000000000" pitchFamily="18" charset="-120"/>
              </a:rPr>
              <a:t> V)</a:t>
            </a:r>
          </a:p>
          <a:p>
            <a:endParaRPr lang="en-US" altLang="zh-TW" sz="2000" dirty="0">
              <a:solidFill>
                <a:srgbClr val="0070C0"/>
              </a:solidFill>
              <a:ea typeface="PMingLiU" panose="02020500000000000000" pitchFamily="18" charset="-120"/>
            </a:endParaRPr>
          </a:p>
          <a:p>
            <a:r>
              <a:rPr lang="en-US" altLang="zh-TW" sz="2000" dirty="0">
                <a:solidFill>
                  <a:srgbClr val="0070C0"/>
                </a:solidFill>
                <a:ea typeface="PMingLiU" panose="02020500000000000000" pitchFamily="18" charset="-120"/>
              </a:rPr>
              <a:t>  </a:t>
            </a:r>
          </a:p>
          <a:p>
            <a:endParaRPr lang="en-US" altLang="zh-TW" sz="1050" dirty="0">
              <a:solidFill>
                <a:srgbClr val="0070C0"/>
              </a:solidFill>
              <a:ea typeface="PMingLiU" panose="02020500000000000000" pitchFamily="18" charset="-120"/>
            </a:endParaRPr>
          </a:p>
          <a:p>
            <a:r>
              <a:rPr lang="en-US" altLang="zh-TW" sz="2000" dirty="0">
                <a:solidFill>
                  <a:srgbClr val="0070C0"/>
                </a:solidFill>
                <a:ea typeface="PMingLiU" panose="02020500000000000000" pitchFamily="18" charset="-120"/>
              </a:rPr>
              <a:t>                               //E Heap-Decrease-Key operations: O(E </a:t>
            </a:r>
            <a:r>
              <a:rPr lang="en-US" altLang="zh-TW" sz="2000" dirty="0" err="1">
                <a:solidFill>
                  <a:srgbClr val="0070C0"/>
                </a:solidFill>
                <a:ea typeface="PMingLiU" panose="02020500000000000000" pitchFamily="18" charset="-120"/>
              </a:rPr>
              <a:t>lg</a:t>
            </a:r>
            <a:r>
              <a:rPr lang="en-US" altLang="zh-TW" sz="2000" dirty="0">
                <a:solidFill>
                  <a:srgbClr val="0070C0"/>
                </a:solidFill>
                <a:ea typeface="PMingLiU" panose="02020500000000000000" pitchFamily="18" charset="-120"/>
              </a:rPr>
              <a:t> V)</a:t>
            </a:r>
            <a:endParaRPr lang="zh-TW" altLang="en-US" sz="2000" dirty="0">
              <a:solidFill>
                <a:srgbClr val="0070C0"/>
              </a:solidFill>
              <a:ea typeface="PMingLiU" panose="02020500000000000000" pitchFamily="18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8625" y="5915025"/>
            <a:ext cx="837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time = O((V+E) </a:t>
            </a:r>
            <a:r>
              <a:rPr lang="en-US" dirty="0" err="1"/>
              <a:t>lg</a:t>
            </a:r>
            <a:r>
              <a:rPr lang="en-US" dirty="0"/>
              <a:t> V) = O(E </a:t>
            </a:r>
            <a:r>
              <a:rPr lang="en-US" dirty="0" err="1"/>
              <a:t>lg</a:t>
            </a:r>
            <a:r>
              <a:rPr lang="en-US" dirty="0"/>
              <a:t> V) since E ≥ V-1 =&gt; V is O(E)</a:t>
            </a:r>
          </a:p>
        </p:txBody>
      </p:sp>
    </p:spTree>
    <p:extLst>
      <p:ext uri="{BB962C8B-B14F-4D97-AF65-F5344CB8AC3E}">
        <p14:creationId xmlns:p14="http://schemas.microsoft.com/office/powerpoint/2010/main" val="4172934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Prim's Algorithm: Example</a:t>
            </a:r>
            <a:endParaRPr lang="en-US" dirty="0"/>
          </a:p>
        </p:txBody>
      </p:sp>
      <p:grpSp>
        <p:nvGrpSpPr>
          <p:cNvPr id="32772" name="Group 4"/>
          <p:cNvGrpSpPr>
            <a:grpSpLocks/>
          </p:cNvGrpSpPr>
          <p:nvPr/>
        </p:nvGrpSpPr>
        <p:grpSpPr bwMode="auto">
          <a:xfrm>
            <a:off x="2250281" y="2414587"/>
            <a:ext cx="4608512" cy="2452688"/>
            <a:chOff x="1429" y="2747"/>
            <a:chExt cx="2903" cy="1545"/>
          </a:xfrm>
        </p:grpSpPr>
        <p:grpSp>
          <p:nvGrpSpPr>
            <p:cNvPr id="32773" name="Group 5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32774" name="Text Box 6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32775" name="Oval 7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2776" name="Group 8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32777" name="Text Box 9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 dirty="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32778" name="Oval 10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2779" name="Group 11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32780" name="Text Box 1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32781" name="Oval 1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2782" name="Group 14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32783" name="Text Box 1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32784" name="Oval 1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2785" name="Group 17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32786" name="Text Box 1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32787" name="Oval 1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2788" name="Group 20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32789" name="Text Box 2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32790" name="Oval 2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2791" name="Group 23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32792" name="Text Box 2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32793" name="Oval 2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2794" name="Group 26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32795" name="Text Box 2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32796" name="Oval 2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2797" name="Group 29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32798" name="Text Box 30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32799" name="Oval 31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2800" name="Line 32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1" name="Line 33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2" name="Line 34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3" name="Line 35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4" name="Line 36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5" name="Line 37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6" name="Line 38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7" name="Line 39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8" name="Line 40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9" name="Line 41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0" name="Line 42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1" name="Line 43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2" name="Line 44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3" name="Line 45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4" name="Text Box 46"/>
            <p:cNvSpPr txBox="1">
              <a:spLocks noChangeArrowheads="1"/>
            </p:cNvSpPr>
            <p:nvPr/>
          </p:nvSpPr>
          <p:spPr bwMode="auto">
            <a:xfrm>
              <a:off x="1627" y="308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32815" name="Text Box 47"/>
            <p:cNvSpPr txBox="1">
              <a:spLocks noChangeArrowheads="1"/>
            </p:cNvSpPr>
            <p:nvPr/>
          </p:nvSpPr>
          <p:spPr bwMode="auto">
            <a:xfrm>
              <a:off x="2324" y="274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32816" name="Text Box 48"/>
            <p:cNvSpPr txBox="1">
              <a:spLocks noChangeArrowheads="1"/>
            </p:cNvSpPr>
            <p:nvPr/>
          </p:nvSpPr>
          <p:spPr bwMode="auto">
            <a:xfrm>
              <a:off x="3168" y="276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32817" name="Text Box 49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32818" name="Text Box 50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32819" name="Text Box 51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32820" name="Text Box 52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32821" name="Text Box 53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32822" name="Text Box 54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32823" name="Text Box 55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32824" name="Text Box 56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32825" name="Text Box 57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32826" name="Text Box 58"/>
            <p:cNvSpPr txBox="1">
              <a:spLocks noChangeArrowheads="1"/>
            </p:cNvSpPr>
            <p:nvPr/>
          </p:nvSpPr>
          <p:spPr bwMode="auto">
            <a:xfrm>
              <a:off x="1796" y="337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32827" name="Text Box 59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  <p:sp>
        <p:nvSpPr>
          <p:cNvPr id="32885" name="Text Box 117"/>
          <p:cNvSpPr txBox="1">
            <a:spLocks noChangeArrowheads="1"/>
          </p:cNvSpPr>
          <p:nvPr/>
        </p:nvSpPr>
        <p:spPr bwMode="auto">
          <a:xfrm>
            <a:off x="292893" y="2532062"/>
            <a:ext cx="1223962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TW">
                <a:ea typeface="PMingLiU" panose="02020500000000000000" pitchFamily="18" charset="-120"/>
              </a:rPr>
              <a:t>the root vertex</a:t>
            </a:r>
          </a:p>
        </p:txBody>
      </p:sp>
      <p:sp>
        <p:nvSpPr>
          <p:cNvPr id="32886" name="Line 118"/>
          <p:cNvSpPr>
            <a:spLocks noChangeShapeType="1"/>
          </p:cNvSpPr>
          <p:nvPr/>
        </p:nvSpPr>
        <p:spPr bwMode="auto">
          <a:xfrm>
            <a:off x="1445418" y="3035300"/>
            <a:ext cx="792162" cy="433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1621550" y="2300729"/>
            <a:ext cx="5947835" cy="2559852"/>
            <a:chOff x="1621550" y="2300729"/>
            <a:chExt cx="5947835" cy="2559852"/>
          </a:xfrm>
        </p:grpSpPr>
        <p:sp>
          <p:nvSpPr>
            <p:cNvPr id="63" name="Text Box 46"/>
            <p:cNvSpPr txBox="1">
              <a:spLocks noChangeArrowheads="1"/>
            </p:cNvSpPr>
            <p:nvPr/>
          </p:nvSpPr>
          <p:spPr bwMode="auto">
            <a:xfrm>
              <a:off x="2860948" y="2313582"/>
              <a:ext cx="74603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FF0000"/>
                  </a:solidFill>
                  <a:ea typeface="PMingLiU" panose="02020500000000000000" pitchFamily="18" charset="-120"/>
                </a:rPr>
                <a:t>NIL,∞</a:t>
              </a:r>
            </a:p>
          </p:txBody>
        </p:sp>
        <p:sp>
          <p:nvSpPr>
            <p:cNvPr id="65" name="Text Box 46"/>
            <p:cNvSpPr txBox="1">
              <a:spLocks noChangeArrowheads="1"/>
            </p:cNvSpPr>
            <p:nvPr/>
          </p:nvSpPr>
          <p:spPr bwMode="auto">
            <a:xfrm>
              <a:off x="2848095" y="4482069"/>
              <a:ext cx="74603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FF0000"/>
                  </a:solidFill>
                  <a:ea typeface="PMingLiU" panose="02020500000000000000" pitchFamily="18" charset="-120"/>
                </a:rPr>
                <a:t>NIL,∞</a:t>
              </a:r>
            </a:p>
          </p:txBody>
        </p:sp>
        <p:sp>
          <p:nvSpPr>
            <p:cNvPr id="66" name="Text Box 46"/>
            <p:cNvSpPr txBox="1">
              <a:spLocks noChangeArrowheads="1"/>
            </p:cNvSpPr>
            <p:nvPr/>
          </p:nvSpPr>
          <p:spPr bwMode="auto">
            <a:xfrm>
              <a:off x="4214187" y="2300729"/>
              <a:ext cx="74603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FF0000"/>
                  </a:solidFill>
                  <a:ea typeface="PMingLiU" panose="02020500000000000000" pitchFamily="18" charset="-120"/>
                </a:rPr>
                <a:t>NIL,∞</a:t>
              </a:r>
            </a:p>
          </p:txBody>
        </p:sp>
        <p:sp>
          <p:nvSpPr>
            <p:cNvPr id="67" name="Text Box 46"/>
            <p:cNvSpPr txBox="1">
              <a:spLocks noChangeArrowheads="1"/>
            </p:cNvSpPr>
            <p:nvPr/>
          </p:nvSpPr>
          <p:spPr bwMode="auto">
            <a:xfrm>
              <a:off x="5536211" y="2300729"/>
              <a:ext cx="74603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FF0000"/>
                  </a:solidFill>
                  <a:ea typeface="PMingLiU" panose="02020500000000000000" pitchFamily="18" charset="-120"/>
                </a:rPr>
                <a:t>NIL,∞</a:t>
              </a:r>
            </a:p>
          </p:txBody>
        </p:sp>
        <p:sp>
          <p:nvSpPr>
            <p:cNvPr id="68" name="Text Box 46"/>
            <p:cNvSpPr txBox="1">
              <a:spLocks noChangeArrowheads="1"/>
            </p:cNvSpPr>
            <p:nvPr/>
          </p:nvSpPr>
          <p:spPr bwMode="auto">
            <a:xfrm>
              <a:off x="4157266" y="4491249"/>
              <a:ext cx="74603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FF0000"/>
                  </a:solidFill>
                  <a:ea typeface="PMingLiU" panose="02020500000000000000" pitchFamily="18" charset="-120"/>
                </a:rPr>
                <a:t>NIL,∞</a:t>
              </a:r>
            </a:p>
          </p:txBody>
        </p:sp>
        <p:sp>
          <p:nvSpPr>
            <p:cNvPr id="69" name="Text Box 46"/>
            <p:cNvSpPr txBox="1">
              <a:spLocks noChangeArrowheads="1"/>
            </p:cNvSpPr>
            <p:nvPr/>
          </p:nvSpPr>
          <p:spPr bwMode="auto">
            <a:xfrm>
              <a:off x="5479290" y="4491249"/>
              <a:ext cx="74603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FF0000"/>
                  </a:solidFill>
                  <a:ea typeface="PMingLiU" panose="02020500000000000000" pitchFamily="18" charset="-120"/>
                </a:rPr>
                <a:t>NIL,∞</a:t>
              </a:r>
            </a:p>
          </p:txBody>
        </p:sp>
        <p:sp>
          <p:nvSpPr>
            <p:cNvPr id="70" name="Text Box 46"/>
            <p:cNvSpPr txBox="1">
              <a:spLocks noChangeArrowheads="1"/>
            </p:cNvSpPr>
            <p:nvPr/>
          </p:nvSpPr>
          <p:spPr bwMode="auto">
            <a:xfrm>
              <a:off x="6823347" y="3378547"/>
              <a:ext cx="74603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FF0000"/>
                  </a:solidFill>
                  <a:ea typeface="PMingLiU" panose="02020500000000000000" pitchFamily="18" charset="-120"/>
                </a:rPr>
                <a:t>NIL,∞</a:t>
              </a:r>
            </a:p>
          </p:txBody>
        </p:sp>
        <p:sp>
          <p:nvSpPr>
            <p:cNvPr id="71" name="Text Box 46"/>
            <p:cNvSpPr txBox="1">
              <a:spLocks noChangeArrowheads="1"/>
            </p:cNvSpPr>
            <p:nvPr/>
          </p:nvSpPr>
          <p:spPr bwMode="auto">
            <a:xfrm>
              <a:off x="1621550" y="3453829"/>
              <a:ext cx="66588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0070C0"/>
                  </a:solidFill>
                  <a:ea typeface="PMingLiU" panose="02020500000000000000" pitchFamily="18" charset="-120"/>
                </a:rPr>
                <a:t>NIL,0</a:t>
              </a:r>
            </a:p>
          </p:txBody>
        </p:sp>
      </p:grpSp>
      <p:sp>
        <p:nvSpPr>
          <p:cNvPr id="73" name="Text Box 46"/>
          <p:cNvSpPr txBox="1">
            <a:spLocks noChangeArrowheads="1"/>
          </p:cNvSpPr>
          <p:nvPr/>
        </p:nvSpPr>
        <p:spPr bwMode="auto">
          <a:xfrm>
            <a:off x="3357166" y="3167274"/>
            <a:ext cx="7460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TW" dirty="0">
                <a:solidFill>
                  <a:srgbClr val="FF0000"/>
                </a:solidFill>
                <a:ea typeface="PMingLiU" panose="02020500000000000000" pitchFamily="18" charset="-120"/>
              </a:rPr>
              <a:t>NIL,∞</a:t>
            </a:r>
          </a:p>
        </p:txBody>
      </p:sp>
    </p:spTree>
    <p:extLst>
      <p:ext uri="{BB962C8B-B14F-4D97-AF65-F5344CB8AC3E}">
        <p14:creationId xmlns:p14="http://schemas.microsoft.com/office/powerpoint/2010/main" val="239353242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Prim's Algorithm: Example</a:t>
            </a:r>
            <a:endParaRPr lang="en-US" dirty="0"/>
          </a:p>
        </p:txBody>
      </p:sp>
      <p:grpSp>
        <p:nvGrpSpPr>
          <p:cNvPr id="3" name="Group 4"/>
          <p:cNvGrpSpPr>
            <a:grpSpLocks/>
          </p:cNvGrpSpPr>
          <p:nvPr/>
        </p:nvGrpSpPr>
        <p:grpSpPr bwMode="auto">
          <a:xfrm>
            <a:off x="2250281" y="2414587"/>
            <a:ext cx="4608512" cy="2452688"/>
            <a:chOff x="1429" y="2747"/>
            <a:chExt cx="2903" cy="1545"/>
          </a:xfrm>
        </p:grpSpPr>
        <p:grpSp>
          <p:nvGrpSpPr>
            <p:cNvPr id="4" name="Group 5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32774" name="Text Box 6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32775" name="Oval 7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8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32777" name="Text Box 9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 dirty="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32778" name="Oval 10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" name="Group 11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32780" name="Text Box 1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32781" name="Oval 1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" name="Group 14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32783" name="Text Box 1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32784" name="Oval 1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" name="Group 17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32786" name="Text Box 1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32787" name="Oval 1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9" name="Group 20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32789" name="Text Box 2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32790" name="Oval 2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" name="Group 23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32792" name="Text Box 2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32793" name="Oval 2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" name="Group 26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32795" name="Text Box 2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32796" name="Oval 2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" name="Group 29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32798" name="Text Box 30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32799" name="Oval 31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2800" name="Line 32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1" name="Line 33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2" name="Line 34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3" name="Line 35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4" name="Line 36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5" name="Line 37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6" name="Line 38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7" name="Line 39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8" name="Line 40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9" name="Line 41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0" name="Line 42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1" name="Line 43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2" name="Line 44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3" name="Line 45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4" name="Text Box 46"/>
            <p:cNvSpPr txBox="1">
              <a:spLocks noChangeArrowheads="1"/>
            </p:cNvSpPr>
            <p:nvPr/>
          </p:nvSpPr>
          <p:spPr bwMode="auto">
            <a:xfrm>
              <a:off x="1627" y="308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32815" name="Text Box 47"/>
            <p:cNvSpPr txBox="1">
              <a:spLocks noChangeArrowheads="1"/>
            </p:cNvSpPr>
            <p:nvPr/>
          </p:nvSpPr>
          <p:spPr bwMode="auto">
            <a:xfrm>
              <a:off x="2324" y="274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32816" name="Text Box 48"/>
            <p:cNvSpPr txBox="1">
              <a:spLocks noChangeArrowheads="1"/>
            </p:cNvSpPr>
            <p:nvPr/>
          </p:nvSpPr>
          <p:spPr bwMode="auto">
            <a:xfrm>
              <a:off x="3168" y="276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32817" name="Text Box 49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32818" name="Text Box 50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32819" name="Text Box 51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32820" name="Text Box 52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32821" name="Text Box 53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32822" name="Text Box 54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32823" name="Text Box 55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32824" name="Text Box 56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32825" name="Text Box 57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32826" name="Text Box 58"/>
            <p:cNvSpPr txBox="1">
              <a:spLocks noChangeArrowheads="1"/>
            </p:cNvSpPr>
            <p:nvPr/>
          </p:nvSpPr>
          <p:spPr bwMode="auto">
            <a:xfrm>
              <a:off x="1796" y="337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32827" name="Text Box 59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  <p:grpSp>
        <p:nvGrpSpPr>
          <p:cNvPr id="13" name="Group 71"/>
          <p:cNvGrpSpPr/>
          <p:nvPr/>
        </p:nvGrpSpPr>
        <p:grpSpPr>
          <a:xfrm>
            <a:off x="1621550" y="2300729"/>
            <a:ext cx="5947835" cy="2559852"/>
            <a:chOff x="1621550" y="2300729"/>
            <a:chExt cx="5947835" cy="2559852"/>
          </a:xfrm>
        </p:grpSpPr>
        <p:sp>
          <p:nvSpPr>
            <p:cNvPr id="63" name="Text Box 46"/>
            <p:cNvSpPr txBox="1">
              <a:spLocks noChangeArrowheads="1"/>
            </p:cNvSpPr>
            <p:nvPr/>
          </p:nvSpPr>
          <p:spPr bwMode="auto">
            <a:xfrm>
              <a:off x="2993152" y="2313582"/>
              <a:ext cx="47000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0070C0"/>
                  </a:solidFill>
                  <a:ea typeface="PMingLiU" panose="02020500000000000000" pitchFamily="18" charset="-120"/>
                </a:rPr>
                <a:t>a,4</a:t>
              </a:r>
            </a:p>
          </p:txBody>
        </p:sp>
        <p:sp>
          <p:nvSpPr>
            <p:cNvPr id="65" name="Text Box 46"/>
            <p:cNvSpPr txBox="1">
              <a:spLocks noChangeArrowheads="1"/>
            </p:cNvSpPr>
            <p:nvPr/>
          </p:nvSpPr>
          <p:spPr bwMode="auto">
            <a:xfrm>
              <a:off x="3013350" y="4482069"/>
              <a:ext cx="47000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0070C0"/>
                  </a:solidFill>
                  <a:ea typeface="PMingLiU" panose="02020500000000000000" pitchFamily="18" charset="-120"/>
                </a:rPr>
                <a:t>a,8</a:t>
              </a:r>
            </a:p>
          </p:txBody>
        </p:sp>
        <p:sp>
          <p:nvSpPr>
            <p:cNvPr id="66" name="Text Box 46"/>
            <p:cNvSpPr txBox="1">
              <a:spLocks noChangeArrowheads="1"/>
            </p:cNvSpPr>
            <p:nvPr/>
          </p:nvSpPr>
          <p:spPr bwMode="auto">
            <a:xfrm>
              <a:off x="4214187" y="2300729"/>
              <a:ext cx="74603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FF0000"/>
                  </a:solidFill>
                  <a:ea typeface="PMingLiU" panose="02020500000000000000" pitchFamily="18" charset="-120"/>
                </a:rPr>
                <a:t>NIL,∞</a:t>
              </a:r>
            </a:p>
          </p:txBody>
        </p:sp>
        <p:sp>
          <p:nvSpPr>
            <p:cNvPr id="67" name="Text Box 46"/>
            <p:cNvSpPr txBox="1">
              <a:spLocks noChangeArrowheads="1"/>
            </p:cNvSpPr>
            <p:nvPr/>
          </p:nvSpPr>
          <p:spPr bwMode="auto">
            <a:xfrm>
              <a:off x="5536211" y="2300729"/>
              <a:ext cx="74603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FF0000"/>
                  </a:solidFill>
                  <a:ea typeface="PMingLiU" panose="02020500000000000000" pitchFamily="18" charset="-120"/>
                </a:rPr>
                <a:t>NIL,∞</a:t>
              </a:r>
            </a:p>
          </p:txBody>
        </p:sp>
        <p:sp>
          <p:nvSpPr>
            <p:cNvPr id="68" name="Text Box 46"/>
            <p:cNvSpPr txBox="1">
              <a:spLocks noChangeArrowheads="1"/>
            </p:cNvSpPr>
            <p:nvPr/>
          </p:nvSpPr>
          <p:spPr bwMode="auto">
            <a:xfrm>
              <a:off x="4157266" y="4491249"/>
              <a:ext cx="74603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FF0000"/>
                  </a:solidFill>
                  <a:ea typeface="PMingLiU" panose="02020500000000000000" pitchFamily="18" charset="-120"/>
                </a:rPr>
                <a:t>NIL,∞</a:t>
              </a:r>
            </a:p>
          </p:txBody>
        </p:sp>
        <p:sp>
          <p:nvSpPr>
            <p:cNvPr id="69" name="Text Box 46"/>
            <p:cNvSpPr txBox="1">
              <a:spLocks noChangeArrowheads="1"/>
            </p:cNvSpPr>
            <p:nvPr/>
          </p:nvSpPr>
          <p:spPr bwMode="auto">
            <a:xfrm>
              <a:off x="5479290" y="4491249"/>
              <a:ext cx="74603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FF0000"/>
                  </a:solidFill>
                  <a:ea typeface="PMingLiU" panose="02020500000000000000" pitchFamily="18" charset="-120"/>
                </a:rPr>
                <a:t>NIL,∞</a:t>
              </a:r>
            </a:p>
          </p:txBody>
        </p:sp>
        <p:sp>
          <p:nvSpPr>
            <p:cNvPr id="70" name="Text Box 46"/>
            <p:cNvSpPr txBox="1">
              <a:spLocks noChangeArrowheads="1"/>
            </p:cNvSpPr>
            <p:nvPr/>
          </p:nvSpPr>
          <p:spPr bwMode="auto">
            <a:xfrm>
              <a:off x="6823347" y="3378547"/>
              <a:ext cx="74603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FF0000"/>
                  </a:solidFill>
                  <a:ea typeface="PMingLiU" panose="02020500000000000000" pitchFamily="18" charset="-120"/>
                </a:rPr>
                <a:t>NIL,∞</a:t>
              </a:r>
            </a:p>
          </p:txBody>
        </p:sp>
        <p:sp>
          <p:nvSpPr>
            <p:cNvPr id="71" name="Text Box 46"/>
            <p:cNvSpPr txBox="1">
              <a:spLocks noChangeArrowheads="1"/>
            </p:cNvSpPr>
            <p:nvPr/>
          </p:nvSpPr>
          <p:spPr bwMode="auto">
            <a:xfrm>
              <a:off x="1621550" y="3453829"/>
              <a:ext cx="66588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0070C0"/>
                  </a:solidFill>
                  <a:ea typeface="PMingLiU" panose="02020500000000000000" pitchFamily="18" charset="-120"/>
                </a:rPr>
                <a:t>NIL,0</a:t>
              </a:r>
            </a:p>
          </p:txBody>
        </p:sp>
      </p:grpSp>
      <p:sp>
        <p:nvSpPr>
          <p:cNvPr id="72" name="Text Box 46"/>
          <p:cNvSpPr txBox="1">
            <a:spLocks noChangeArrowheads="1"/>
          </p:cNvSpPr>
          <p:nvPr/>
        </p:nvSpPr>
        <p:spPr bwMode="auto">
          <a:xfrm>
            <a:off x="3357166" y="3167274"/>
            <a:ext cx="7460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TW" dirty="0">
                <a:solidFill>
                  <a:srgbClr val="FF0000"/>
                </a:solidFill>
                <a:ea typeface="PMingLiU" panose="02020500000000000000" pitchFamily="18" charset="-120"/>
              </a:rPr>
              <a:t>NIL,∞</a:t>
            </a:r>
          </a:p>
        </p:txBody>
      </p:sp>
    </p:spTree>
    <p:extLst>
      <p:ext uri="{BB962C8B-B14F-4D97-AF65-F5344CB8AC3E}">
        <p14:creationId xmlns:p14="http://schemas.microsoft.com/office/powerpoint/2010/main" val="23935324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Prim's Algorithm: Example</a:t>
            </a:r>
            <a:endParaRPr lang="en-US" dirty="0"/>
          </a:p>
        </p:txBody>
      </p:sp>
      <p:grpSp>
        <p:nvGrpSpPr>
          <p:cNvPr id="32828" name="Group 60"/>
          <p:cNvGrpSpPr>
            <a:grpSpLocks/>
          </p:cNvGrpSpPr>
          <p:nvPr/>
        </p:nvGrpSpPr>
        <p:grpSpPr bwMode="auto">
          <a:xfrm>
            <a:off x="2250281" y="2403474"/>
            <a:ext cx="4608512" cy="2463800"/>
            <a:chOff x="1429" y="2740"/>
            <a:chExt cx="2903" cy="1552"/>
          </a:xfrm>
        </p:grpSpPr>
        <p:grpSp>
          <p:nvGrpSpPr>
            <p:cNvPr id="32829" name="Group 61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32830" name="Text Box 6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32831" name="Oval 6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2832" name="Group 64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32833" name="Text Box 6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32834" name="Oval 6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2835" name="Group 67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32836" name="Text Box 6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32837" name="Oval 6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2838" name="Group 70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32839" name="Text Box 7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32840" name="Oval 7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2841" name="Group 73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32842" name="Text Box 7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32843" name="Oval 7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2844" name="Group 76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32845" name="Text Box 7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32846" name="Oval 7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2847" name="Group 79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32848" name="Text Box 80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32849" name="Oval 81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2850" name="Group 82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32851" name="Text Box 83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32852" name="Oval 84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2853" name="Group 85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32854" name="Text Box 86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32855" name="Oval 87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2856" name="Line 88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7" name="Line 89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8" name="Line 90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9" name="Line 91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0" name="Line 92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1" name="Line 93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2" name="Line 94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3" name="Line 95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4" name="Line 96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5" name="Line 97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6" name="Line 98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7" name="Line 99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8" name="Line 100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9" name="Line 101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0" name="Text Box 102"/>
            <p:cNvSpPr txBox="1">
              <a:spLocks noChangeArrowheads="1"/>
            </p:cNvSpPr>
            <p:nvPr/>
          </p:nvSpPr>
          <p:spPr bwMode="auto">
            <a:xfrm>
              <a:off x="1607" y="303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32871" name="Text Box 103"/>
            <p:cNvSpPr txBox="1">
              <a:spLocks noChangeArrowheads="1"/>
            </p:cNvSpPr>
            <p:nvPr/>
          </p:nvSpPr>
          <p:spPr bwMode="auto">
            <a:xfrm>
              <a:off x="2324" y="275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32872" name="Text Box 104"/>
            <p:cNvSpPr txBox="1">
              <a:spLocks noChangeArrowheads="1"/>
            </p:cNvSpPr>
            <p:nvPr/>
          </p:nvSpPr>
          <p:spPr bwMode="auto">
            <a:xfrm>
              <a:off x="3168" y="274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32873" name="Text Box 105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32874" name="Text Box 106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32875" name="Text Box 107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32876" name="Text Box 108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32877" name="Text Box 109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32878" name="Text Box 110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32879" name="Text Box 111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32880" name="Text Box 112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32881" name="Text Box 113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32882" name="Text Box 114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32883" name="Text Box 115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1621550" y="2300729"/>
            <a:ext cx="5947835" cy="2559852"/>
            <a:chOff x="1621550" y="2300729"/>
            <a:chExt cx="5947835" cy="2559852"/>
          </a:xfrm>
        </p:grpSpPr>
        <p:sp>
          <p:nvSpPr>
            <p:cNvPr id="70" name="Text Box 46"/>
            <p:cNvSpPr txBox="1">
              <a:spLocks noChangeArrowheads="1"/>
            </p:cNvSpPr>
            <p:nvPr/>
          </p:nvSpPr>
          <p:spPr bwMode="auto">
            <a:xfrm>
              <a:off x="3015186" y="2313582"/>
              <a:ext cx="47000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0070C0"/>
                  </a:solidFill>
                  <a:ea typeface="PMingLiU" panose="02020500000000000000" pitchFamily="18" charset="-120"/>
                </a:rPr>
                <a:t>a,4</a:t>
              </a:r>
            </a:p>
          </p:txBody>
        </p:sp>
        <p:sp>
          <p:nvSpPr>
            <p:cNvPr id="71" name="Text Box 46"/>
            <p:cNvSpPr txBox="1">
              <a:spLocks noChangeArrowheads="1"/>
            </p:cNvSpPr>
            <p:nvPr/>
          </p:nvSpPr>
          <p:spPr bwMode="auto">
            <a:xfrm>
              <a:off x="3002333" y="4482069"/>
              <a:ext cx="47000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0070C0"/>
                  </a:solidFill>
                  <a:ea typeface="PMingLiU" panose="02020500000000000000" pitchFamily="18" charset="-120"/>
                </a:rPr>
                <a:t>a,8</a:t>
              </a:r>
            </a:p>
          </p:txBody>
        </p:sp>
        <p:sp>
          <p:nvSpPr>
            <p:cNvPr id="72" name="Text Box 46"/>
            <p:cNvSpPr txBox="1">
              <a:spLocks noChangeArrowheads="1"/>
            </p:cNvSpPr>
            <p:nvPr/>
          </p:nvSpPr>
          <p:spPr bwMode="auto">
            <a:xfrm>
              <a:off x="4338012" y="2300729"/>
              <a:ext cx="481222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0070C0"/>
                  </a:solidFill>
                  <a:ea typeface="PMingLiU" panose="02020500000000000000" pitchFamily="18" charset="-120"/>
                </a:rPr>
                <a:t>b,8</a:t>
              </a:r>
            </a:p>
          </p:txBody>
        </p:sp>
        <p:sp>
          <p:nvSpPr>
            <p:cNvPr id="73" name="Text Box 46"/>
            <p:cNvSpPr txBox="1">
              <a:spLocks noChangeArrowheads="1"/>
            </p:cNvSpPr>
            <p:nvPr/>
          </p:nvSpPr>
          <p:spPr bwMode="auto">
            <a:xfrm>
              <a:off x="5536211" y="2300729"/>
              <a:ext cx="74603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FF0000"/>
                  </a:solidFill>
                  <a:ea typeface="PMingLiU" panose="02020500000000000000" pitchFamily="18" charset="-120"/>
                </a:rPr>
                <a:t>NIL,∞</a:t>
              </a:r>
            </a:p>
          </p:txBody>
        </p:sp>
        <p:sp>
          <p:nvSpPr>
            <p:cNvPr id="74" name="Text Box 46"/>
            <p:cNvSpPr txBox="1">
              <a:spLocks noChangeArrowheads="1"/>
            </p:cNvSpPr>
            <p:nvPr/>
          </p:nvSpPr>
          <p:spPr bwMode="auto">
            <a:xfrm>
              <a:off x="4157266" y="4491249"/>
              <a:ext cx="74603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FF0000"/>
                  </a:solidFill>
                  <a:ea typeface="PMingLiU" panose="02020500000000000000" pitchFamily="18" charset="-120"/>
                </a:rPr>
                <a:t>NIL,∞</a:t>
              </a:r>
            </a:p>
          </p:txBody>
        </p:sp>
        <p:sp>
          <p:nvSpPr>
            <p:cNvPr id="75" name="Text Box 46"/>
            <p:cNvSpPr txBox="1">
              <a:spLocks noChangeArrowheads="1"/>
            </p:cNvSpPr>
            <p:nvPr/>
          </p:nvSpPr>
          <p:spPr bwMode="auto">
            <a:xfrm>
              <a:off x="5479290" y="4491249"/>
              <a:ext cx="74603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FF0000"/>
                  </a:solidFill>
                  <a:ea typeface="PMingLiU" panose="02020500000000000000" pitchFamily="18" charset="-120"/>
                </a:rPr>
                <a:t>NIL,∞</a:t>
              </a:r>
            </a:p>
          </p:txBody>
        </p:sp>
        <p:sp>
          <p:nvSpPr>
            <p:cNvPr id="76" name="Text Box 46"/>
            <p:cNvSpPr txBox="1">
              <a:spLocks noChangeArrowheads="1"/>
            </p:cNvSpPr>
            <p:nvPr/>
          </p:nvSpPr>
          <p:spPr bwMode="auto">
            <a:xfrm>
              <a:off x="6823347" y="3378547"/>
              <a:ext cx="74603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FF0000"/>
                  </a:solidFill>
                  <a:ea typeface="PMingLiU" panose="02020500000000000000" pitchFamily="18" charset="-120"/>
                </a:rPr>
                <a:t>NIL,∞</a:t>
              </a:r>
            </a:p>
          </p:txBody>
        </p:sp>
        <p:sp>
          <p:nvSpPr>
            <p:cNvPr id="77" name="Text Box 46"/>
            <p:cNvSpPr txBox="1">
              <a:spLocks noChangeArrowheads="1"/>
            </p:cNvSpPr>
            <p:nvPr/>
          </p:nvSpPr>
          <p:spPr bwMode="auto">
            <a:xfrm>
              <a:off x="1621550" y="3453829"/>
              <a:ext cx="66588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0070C0"/>
                  </a:solidFill>
                  <a:ea typeface="PMingLiU" panose="02020500000000000000" pitchFamily="18" charset="-120"/>
                </a:rPr>
                <a:t>NIL,0</a:t>
              </a:r>
            </a:p>
          </p:txBody>
        </p:sp>
      </p:grpSp>
      <p:sp>
        <p:nvSpPr>
          <p:cNvPr id="78" name="Text Box 46"/>
          <p:cNvSpPr txBox="1">
            <a:spLocks noChangeArrowheads="1"/>
          </p:cNvSpPr>
          <p:nvPr/>
        </p:nvSpPr>
        <p:spPr bwMode="auto">
          <a:xfrm>
            <a:off x="3357166" y="3167274"/>
            <a:ext cx="7460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TW" dirty="0">
                <a:solidFill>
                  <a:srgbClr val="FF0000"/>
                </a:solidFill>
                <a:ea typeface="PMingLiU" panose="02020500000000000000" pitchFamily="18" charset="-120"/>
              </a:rPr>
              <a:t>NIL,∞</a:t>
            </a:r>
          </a:p>
        </p:txBody>
      </p:sp>
    </p:spTree>
    <p:extLst>
      <p:ext uri="{BB962C8B-B14F-4D97-AF65-F5344CB8AC3E}">
        <p14:creationId xmlns:p14="http://schemas.microsoft.com/office/powerpoint/2010/main" val="20392080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Prim's Algorithm: Example</a:t>
            </a:r>
            <a:endParaRPr lang="en-US" dirty="0"/>
          </a:p>
        </p:txBody>
      </p:sp>
      <p:grpSp>
        <p:nvGrpSpPr>
          <p:cNvPr id="33796" name="Group 4"/>
          <p:cNvGrpSpPr>
            <a:grpSpLocks/>
          </p:cNvGrpSpPr>
          <p:nvPr/>
        </p:nvGrpSpPr>
        <p:grpSpPr bwMode="auto">
          <a:xfrm>
            <a:off x="2250280" y="2249487"/>
            <a:ext cx="4608513" cy="2617788"/>
            <a:chOff x="1429" y="2643"/>
            <a:chExt cx="2903" cy="1649"/>
          </a:xfrm>
        </p:grpSpPr>
        <p:grpSp>
          <p:nvGrpSpPr>
            <p:cNvPr id="33797" name="Group 5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33798" name="Text Box 6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33799" name="Oval 7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00" name="Group 8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33801" name="Text Box 9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33802" name="Oval 10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03" name="Group 11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33804" name="Text Box 1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33805" name="Oval 1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06" name="Group 14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33807" name="Text Box 1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33808" name="Oval 1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09" name="Group 17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33810" name="Text Box 1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33811" name="Oval 1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12" name="Group 20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33813" name="Text Box 2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33814" name="Oval 2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15" name="Group 23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33816" name="Text Box 2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33817" name="Oval 2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18" name="Group 26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33819" name="Text Box 2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33820" name="Oval 2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21" name="Group 29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33822" name="Text Box 30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33823" name="Oval 31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3824" name="Line 32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5" name="Line 33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6" name="Line 34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7" name="Line 35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8" name="Line 36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29" name="Line 37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0" name="Line 38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1" name="Line 39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2" name="Line 40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3" name="Line 41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4" name="Line 42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5" name="Line 43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6" name="Line 44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7" name="Line 45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38" name="Text Box 46"/>
            <p:cNvSpPr txBox="1">
              <a:spLocks noChangeArrowheads="1"/>
            </p:cNvSpPr>
            <p:nvPr/>
          </p:nvSpPr>
          <p:spPr bwMode="auto">
            <a:xfrm>
              <a:off x="1565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33839" name="Text Box 47"/>
            <p:cNvSpPr txBox="1">
              <a:spLocks noChangeArrowheads="1"/>
            </p:cNvSpPr>
            <p:nvPr/>
          </p:nvSpPr>
          <p:spPr bwMode="auto">
            <a:xfrm>
              <a:off x="2324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33840" name="Text Box 48"/>
            <p:cNvSpPr txBox="1">
              <a:spLocks noChangeArrowheads="1"/>
            </p:cNvSpPr>
            <p:nvPr/>
          </p:nvSpPr>
          <p:spPr bwMode="auto">
            <a:xfrm>
              <a:off x="3168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33841" name="Text Box 49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33842" name="Text Box 50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33843" name="Text Box 51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33844" name="Text Box 52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33845" name="Text Box 53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33846" name="Text Box 54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33847" name="Text Box 55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33848" name="Text Box 56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33849" name="Text Box 57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33850" name="Text Box 58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33851" name="Text Box 59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1621550" y="2300729"/>
            <a:ext cx="5947835" cy="2559852"/>
            <a:chOff x="1621550" y="2300729"/>
            <a:chExt cx="5947835" cy="2559852"/>
          </a:xfrm>
        </p:grpSpPr>
        <p:grpSp>
          <p:nvGrpSpPr>
            <p:cNvPr id="60" name="Group 59"/>
            <p:cNvGrpSpPr/>
            <p:nvPr/>
          </p:nvGrpSpPr>
          <p:grpSpPr>
            <a:xfrm>
              <a:off x="1621550" y="2300729"/>
              <a:ext cx="5947835" cy="2559852"/>
              <a:chOff x="1621550" y="2300729"/>
              <a:chExt cx="5947835" cy="2559852"/>
            </a:xfrm>
          </p:grpSpPr>
          <p:sp>
            <p:nvSpPr>
              <p:cNvPr id="61" name="Text Box 46"/>
              <p:cNvSpPr txBox="1">
                <a:spLocks noChangeArrowheads="1"/>
              </p:cNvSpPr>
              <p:nvPr/>
            </p:nvSpPr>
            <p:spPr bwMode="auto">
              <a:xfrm>
                <a:off x="3015186" y="2313582"/>
                <a:ext cx="470000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a,4</a:t>
                </a:r>
              </a:p>
            </p:txBody>
          </p:sp>
          <p:sp>
            <p:nvSpPr>
              <p:cNvPr id="62" name="Text Box 46"/>
              <p:cNvSpPr txBox="1">
                <a:spLocks noChangeArrowheads="1"/>
              </p:cNvSpPr>
              <p:nvPr/>
            </p:nvSpPr>
            <p:spPr bwMode="auto">
              <a:xfrm>
                <a:off x="3002333" y="4482069"/>
                <a:ext cx="470000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a,8</a:t>
                </a:r>
              </a:p>
            </p:txBody>
          </p:sp>
          <p:sp>
            <p:nvSpPr>
              <p:cNvPr id="63" name="Text Box 46"/>
              <p:cNvSpPr txBox="1">
                <a:spLocks noChangeArrowheads="1"/>
              </p:cNvSpPr>
              <p:nvPr/>
            </p:nvSpPr>
            <p:spPr bwMode="auto">
              <a:xfrm>
                <a:off x="4338012" y="2300729"/>
                <a:ext cx="48122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b,8</a:t>
                </a:r>
              </a:p>
            </p:txBody>
          </p:sp>
          <p:sp>
            <p:nvSpPr>
              <p:cNvPr id="64" name="Text Box 46"/>
              <p:cNvSpPr txBox="1">
                <a:spLocks noChangeArrowheads="1"/>
              </p:cNvSpPr>
              <p:nvPr/>
            </p:nvSpPr>
            <p:spPr bwMode="auto">
              <a:xfrm>
                <a:off x="5621936" y="2300729"/>
                <a:ext cx="457176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c,7</a:t>
                </a:r>
              </a:p>
            </p:txBody>
          </p:sp>
          <p:sp>
            <p:nvSpPr>
              <p:cNvPr id="65" name="Text Box 46"/>
              <p:cNvSpPr txBox="1">
                <a:spLocks noChangeArrowheads="1"/>
              </p:cNvSpPr>
              <p:nvPr/>
            </p:nvSpPr>
            <p:spPr bwMode="auto">
              <a:xfrm>
                <a:off x="4157266" y="4491249"/>
                <a:ext cx="74603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FF0000"/>
                    </a:solidFill>
                    <a:ea typeface="PMingLiU" panose="02020500000000000000" pitchFamily="18" charset="-120"/>
                  </a:rPr>
                  <a:t>NIL,∞</a:t>
                </a:r>
              </a:p>
            </p:txBody>
          </p:sp>
          <p:sp>
            <p:nvSpPr>
              <p:cNvPr id="66" name="Text Box 46"/>
              <p:cNvSpPr txBox="1">
                <a:spLocks noChangeArrowheads="1"/>
              </p:cNvSpPr>
              <p:nvPr/>
            </p:nvSpPr>
            <p:spPr bwMode="auto">
              <a:xfrm>
                <a:off x="5612640" y="4491249"/>
                <a:ext cx="457176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c,4</a:t>
                </a:r>
              </a:p>
            </p:txBody>
          </p:sp>
          <p:sp>
            <p:nvSpPr>
              <p:cNvPr id="67" name="Text Box 46"/>
              <p:cNvSpPr txBox="1">
                <a:spLocks noChangeArrowheads="1"/>
              </p:cNvSpPr>
              <p:nvPr/>
            </p:nvSpPr>
            <p:spPr bwMode="auto">
              <a:xfrm>
                <a:off x="6823347" y="3378547"/>
                <a:ext cx="74603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FF0000"/>
                    </a:solidFill>
                    <a:ea typeface="PMingLiU" panose="02020500000000000000" pitchFamily="18" charset="-120"/>
                  </a:rPr>
                  <a:t>NIL,∞</a:t>
                </a:r>
              </a:p>
            </p:txBody>
          </p:sp>
          <p:sp>
            <p:nvSpPr>
              <p:cNvPr id="68" name="Text Box 46"/>
              <p:cNvSpPr txBox="1">
                <a:spLocks noChangeArrowheads="1"/>
              </p:cNvSpPr>
              <p:nvPr/>
            </p:nvSpPr>
            <p:spPr bwMode="auto">
              <a:xfrm>
                <a:off x="1621550" y="3453829"/>
                <a:ext cx="66588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NIL,0</a:t>
                </a:r>
              </a:p>
            </p:txBody>
          </p:sp>
        </p:grpSp>
        <p:sp>
          <p:nvSpPr>
            <p:cNvPr id="69" name="Text Box 46"/>
            <p:cNvSpPr txBox="1">
              <a:spLocks noChangeArrowheads="1"/>
            </p:cNvSpPr>
            <p:nvPr/>
          </p:nvSpPr>
          <p:spPr bwMode="auto">
            <a:xfrm>
              <a:off x="3490516" y="3186324"/>
              <a:ext cx="45717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0070C0"/>
                  </a:solidFill>
                  <a:ea typeface="PMingLiU" panose="02020500000000000000" pitchFamily="18" charset="-120"/>
                </a:rPr>
                <a:t>c,2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4350020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Prim's Algorithm: Example</a:t>
            </a:r>
            <a:endParaRPr lang="en-US" dirty="0"/>
          </a:p>
        </p:txBody>
      </p:sp>
      <p:grpSp>
        <p:nvGrpSpPr>
          <p:cNvPr id="33852" name="Group 60"/>
          <p:cNvGrpSpPr>
            <a:grpSpLocks/>
          </p:cNvGrpSpPr>
          <p:nvPr/>
        </p:nvGrpSpPr>
        <p:grpSpPr bwMode="auto">
          <a:xfrm>
            <a:off x="2250280" y="2249487"/>
            <a:ext cx="4608513" cy="2617787"/>
            <a:chOff x="1429" y="2643"/>
            <a:chExt cx="2903" cy="1649"/>
          </a:xfrm>
        </p:grpSpPr>
        <p:grpSp>
          <p:nvGrpSpPr>
            <p:cNvPr id="33853" name="Group 61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33854" name="Text Box 6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33855" name="Oval 6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56" name="Group 64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33857" name="Text Box 6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33858" name="Oval 6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59" name="Group 67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33860" name="Text Box 6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33861" name="Oval 6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62" name="Group 70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33863" name="Text Box 7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33864" name="Oval 7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65" name="Group 73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33866" name="Text Box 7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33867" name="Oval 7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68" name="Group 76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33869" name="Text Box 7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33870" name="Oval 7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71" name="Group 79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33872" name="Text Box 80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33873" name="Oval 81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74" name="Group 82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33875" name="Text Box 83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33876" name="Oval 84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877" name="Group 85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33878" name="Text Box 86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33879" name="Oval 87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3880" name="Line 88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81" name="Line 89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82" name="Line 90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83" name="Line 91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84" name="Line 92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85" name="Line 93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86" name="Line 94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87" name="Line 95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88" name="Line 96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89" name="Line 97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90" name="Line 98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91" name="Line 99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92" name="Line 100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93" name="Line 101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94" name="Text Box 102"/>
            <p:cNvSpPr txBox="1">
              <a:spLocks noChangeArrowheads="1"/>
            </p:cNvSpPr>
            <p:nvPr/>
          </p:nvSpPr>
          <p:spPr bwMode="auto">
            <a:xfrm>
              <a:off x="1565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33895" name="Text Box 103"/>
            <p:cNvSpPr txBox="1">
              <a:spLocks noChangeArrowheads="1"/>
            </p:cNvSpPr>
            <p:nvPr/>
          </p:nvSpPr>
          <p:spPr bwMode="auto">
            <a:xfrm>
              <a:off x="2324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33896" name="Text Box 104"/>
            <p:cNvSpPr txBox="1">
              <a:spLocks noChangeArrowheads="1"/>
            </p:cNvSpPr>
            <p:nvPr/>
          </p:nvSpPr>
          <p:spPr bwMode="auto">
            <a:xfrm>
              <a:off x="3168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33897" name="Text Box 105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33898" name="Text Box 106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33899" name="Text Box 107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33900" name="Text Box 108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33901" name="Text Box 109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33902" name="Text Box 110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33903" name="Text Box 111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33904" name="Text Box 112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33905" name="Text Box 113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33906" name="Text Box 114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33907" name="Text Box 115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1621550" y="2300729"/>
            <a:ext cx="5947835" cy="2559852"/>
            <a:chOff x="1621550" y="2300729"/>
            <a:chExt cx="5947835" cy="2559852"/>
          </a:xfrm>
        </p:grpSpPr>
        <p:grpSp>
          <p:nvGrpSpPr>
            <p:cNvPr id="61" name="Group 59"/>
            <p:cNvGrpSpPr/>
            <p:nvPr/>
          </p:nvGrpSpPr>
          <p:grpSpPr>
            <a:xfrm>
              <a:off x="1621550" y="2300729"/>
              <a:ext cx="5947835" cy="2559852"/>
              <a:chOff x="1621550" y="2300729"/>
              <a:chExt cx="5947835" cy="2559852"/>
            </a:xfrm>
          </p:grpSpPr>
          <p:sp>
            <p:nvSpPr>
              <p:cNvPr id="63" name="Text Box 46"/>
              <p:cNvSpPr txBox="1">
                <a:spLocks noChangeArrowheads="1"/>
              </p:cNvSpPr>
              <p:nvPr/>
            </p:nvSpPr>
            <p:spPr bwMode="auto">
              <a:xfrm>
                <a:off x="3015186" y="2313582"/>
                <a:ext cx="470000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a,4</a:t>
                </a:r>
              </a:p>
            </p:txBody>
          </p:sp>
          <p:sp>
            <p:nvSpPr>
              <p:cNvPr id="64" name="Text Box 46"/>
              <p:cNvSpPr txBox="1">
                <a:spLocks noChangeArrowheads="1"/>
              </p:cNvSpPr>
              <p:nvPr/>
            </p:nvSpPr>
            <p:spPr bwMode="auto">
              <a:xfrm>
                <a:off x="3002333" y="4482069"/>
                <a:ext cx="41710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i,7</a:t>
                </a:r>
              </a:p>
            </p:txBody>
          </p:sp>
          <p:sp>
            <p:nvSpPr>
              <p:cNvPr id="65" name="Text Box 46"/>
              <p:cNvSpPr txBox="1">
                <a:spLocks noChangeArrowheads="1"/>
              </p:cNvSpPr>
              <p:nvPr/>
            </p:nvSpPr>
            <p:spPr bwMode="auto">
              <a:xfrm>
                <a:off x="4338012" y="2300729"/>
                <a:ext cx="48122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b,8</a:t>
                </a:r>
              </a:p>
            </p:txBody>
          </p:sp>
          <p:sp>
            <p:nvSpPr>
              <p:cNvPr id="66" name="Text Box 46"/>
              <p:cNvSpPr txBox="1">
                <a:spLocks noChangeArrowheads="1"/>
              </p:cNvSpPr>
              <p:nvPr/>
            </p:nvSpPr>
            <p:spPr bwMode="auto">
              <a:xfrm>
                <a:off x="5621936" y="2300729"/>
                <a:ext cx="457176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c,7</a:t>
                </a:r>
              </a:p>
            </p:txBody>
          </p:sp>
          <p:sp>
            <p:nvSpPr>
              <p:cNvPr id="67" name="Text Box 46"/>
              <p:cNvSpPr txBox="1">
                <a:spLocks noChangeArrowheads="1"/>
              </p:cNvSpPr>
              <p:nvPr/>
            </p:nvSpPr>
            <p:spPr bwMode="auto">
              <a:xfrm>
                <a:off x="4338241" y="4491249"/>
                <a:ext cx="41229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i,6</a:t>
                </a:r>
              </a:p>
            </p:txBody>
          </p:sp>
          <p:sp>
            <p:nvSpPr>
              <p:cNvPr id="68" name="Text Box 46"/>
              <p:cNvSpPr txBox="1">
                <a:spLocks noChangeArrowheads="1"/>
              </p:cNvSpPr>
              <p:nvPr/>
            </p:nvSpPr>
            <p:spPr bwMode="auto">
              <a:xfrm>
                <a:off x="5612640" y="4491249"/>
                <a:ext cx="457176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c,4</a:t>
                </a:r>
              </a:p>
            </p:txBody>
          </p:sp>
          <p:sp>
            <p:nvSpPr>
              <p:cNvPr id="69" name="Text Box 46"/>
              <p:cNvSpPr txBox="1">
                <a:spLocks noChangeArrowheads="1"/>
              </p:cNvSpPr>
              <p:nvPr/>
            </p:nvSpPr>
            <p:spPr bwMode="auto">
              <a:xfrm>
                <a:off x="6823347" y="3378547"/>
                <a:ext cx="74603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FF0000"/>
                    </a:solidFill>
                    <a:ea typeface="PMingLiU" panose="02020500000000000000" pitchFamily="18" charset="-120"/>
                  </a:rPr>
                  <a:t>NIL,∞</a:t>
                </a:r>
              </a:p>
            </p:txBody>
          </p:sp>
          <p:sp>
            <p:nvSpPr>
              <p:cNvPr id="70" name="Text Box 46"/>
              <p:cNvSpPr txBox="1">
                <a:spLocks noChangeArrowheads="1"/>
              </p:cNvSpPr>
              <p:nvPr/>
            </p:nvSpPr>
            <p:spPr bwMode="auto">
              <a:xfrm>
                <a:off x="1621550" y="3453829"/>
                <a:ext cx="66588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NIL,0</a:t>
                </a:r>
              </a:p>
            </p:txBody>
          </p:sp>
        </p:grpSp>
        <p:sp>
          <p:nvSpPr>
            <p:cNvPr id="62" name="Text Box 46"/>
            <p:cNvSpPr txBox="1">
              <a:spLocks noChangeArrowheads="1"/>
            </p:cNvSpPr>
            <p:nvPr/>
          </p:nvSpPr>
          <p:spPr bwMode="auto">
            <a:xfrm>
              <a:off x="3490516" y="3186324"/>
              <a:ext cx="45717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0070C0"/>
                  </a:solidFill>
                  <a:ea typeface="PMingLiU" panose="02020500000000000000" pitchFamily="18" charset="-120"/>
                </a:rPr>
                <a:t>c,2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269625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Prim's Algorithm: Example</a:t>
            </a:r>
            <a:endParaRPr lang="en-US" dirty="0"/>
          </a:p>
        </p:txBody>
      </p:sp>
      <p:grpSp>
        <p:nvGrpSpPr>
          <p:cNvPr id="34820" name="Group 4"/>
          <p:cNvGrpSpPr>
            <a:grpSpLocks/>
          </p:cNvGrpSpPr>
          <p:nvPr/>
        </p:nvGrpSpPr>
        <p:grpSpPr bwMode="auto">
          <a:xfrm>
            <a:off x="2250281" y="2249487"/>
            <a:ext cx="4608512" cy="2617787"/>
            <a:chOff x="1429" y="2643"/>
            <a:chExt cx="2903" cy="1649"/>
          </a:xfrm>
        </p:grpSpPr>
        <p:grpSp>
          <p:nvGrpSpPr>
            <p:cNvPr id="34821" name="Group 5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34822" name="Text Box 6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34823" name="Oval 7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824" name="Group 8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34825" name="Text Box 9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34826" name="Oval 10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827" name="Group 11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34828" name="Text Box 1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34829" name="Oval 1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830" name="Group 14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34831" name="Text Box 1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34832" name="Oval 1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833" name="Group 17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34834" name="Text Box 1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34835" name="Oval 1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836" name="Group 20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34837" name="Text Box 2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34838" name="Oval 2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839" name="Group 23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34840" name="Text Box 2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34841" name="Oval 2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842" name="Group 26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34843" name="Text Box 2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34844" name="Oval 2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845" name="Group 29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34846" name="Text Box 30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34847" name="Oval 31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4848" name="Line 32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9" name="Line 33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0" name="Line 34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1" name="Line 35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2" name="Line 36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3" name="Line 37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4" name="Line 38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5" name="Line 39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6" name="Line 40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7" name="Line 41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8" name="Line 42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9" name="Line 43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0" name="Line 44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1" name="Line 45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62" name="Text Box 46"/>
            <p:cNvSpPr txBox="1">
              <a:spLocks noChangeArrowheads="1"/>
            </p:cNvSpPr>
            <p:nvPr/>
          </p:nvSpPr>
          <p:spPr bwMode="auto">
            <a:xfrm>
              <a:off x="1565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34863" name="Text Box 47"/>
            <p:cNvSpPr txBox="1">
              <a:spLocks noChangeArrowheads="1"/>
            </p:cNvSpPr>
            <p:nvPr/>
          </p:nvSpPr>
          <p:spPr bwMode="auto">
            <a:xfrm>
              <a:off x="2324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34864" name="Text Box 48"/>
            <p:cNvSpPr txBox="1">
              <a:spLocks noChangeArrowheads="1"/>
            </p:cNvSpPr>
            <p:nvPr/>
          </p:nvSpPr>
          <p:spPr bwMode="auto">
            <a:xfrm>
              <a:off x="3168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34865" name="Text Box 49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34866" name="Text Box 50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34867" name="Text Box 51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34868" name="Text Box 52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34869" name="Text Box 53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34870" name="Text Box 54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34871" name="Text Box 55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34872" name="Text Box 56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34873" name="Text Box 57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34874" name="Text Box 58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34875" name="Text Box 59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1621550" y="2300729"/>
            <a:ext cx="5734572" cy="2559852"/>
            <a:chOff x="1621550" y="2300729"/>
            <a:chExt cx="5734572" cy="2559852"/>
          </a:xfrm>
        </p:grpSpPr>
        <p:grpSp>
          <p:nvGrpSpPr>
            <p:cNvPr id="61" name="Group 59"/>
            <p:cNvGrpSpPr/>
            <p:nvPr/>
          </p:nvGrpSpPr>
          <p:grpSpPr>
            <a:xfrm>
              <a:off x="1621550" y="2300729"/>
              <a:ext cx="5734572" cy="2559852"/>
              <a:chOff x="1621550" y="2300729"/>
              <a:chExt cx="5734572" cy="2559852"/>
            </a:xfrm>
          </p:grpSpPr>
          <p:sp>
            <p:nvSpPr>
              <p:cNvPr id="63" name="Text Box 46"/>
              <p:cNvSpPr txBox="1">
                <a:spLocks noChangeArrowheads="1"/>
              </p:cNvSpPr>
              <p:nvPr/>
            </p:nvSpPr>
            <p:spPr bwMode="auto">
              <a:xfrm>
                <a:off x="3015186" y="2313582"/>
                <a:ext cx="470000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a,4</a:t>
                </a:r>
              </a:p>
            </p:txBody>
          </p:sp>
          <p:sp>
            <p:nvSpPr>
              <p:cNvPr id="64" name="Text Box 46"/>
              <p:cNvSpPr txBox="1">
                <a:spLocks noChangeArrowheads="1"/>
              </p:cNvSpPr>
              <p:nvPr/>
            </p:nvSpPr>
            <p:spPr bwMode="auto">
              <a:xfrm>
                <a:off x="3002333" y="4482069"/>
                <a:ext cx="41710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i,7</a:t>
                </a:r>
              </a:p>
            </p:txBody>
          </p:sp>
          <p:sp>
            <p:nvSpPr>
              <p:cNvPr id="65" name="Text Box 46"/>
              <p:cNvSpPr txBox="1">
                <a:spLocks noChangeArrowheads="1"/>
              </p:cNvSpPr>
              <p:nvPr/>
            </p:nvSpPr>
            <p:spPr bwMode="auto">
              <a:xfrm>
                <a:off x="4338012" y="2300729"/>
                <a:ext cx="48122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b,8</a:t>
                </a:r>
              </a:p>
            </p:txBody>
          </p:sp>
          <p:sp>
            <p:nvSpPr>
              <p:cNvPr id="66" name="Text Box 46"/>
              <p:cNvSpPr txBox="1">
                <a:spLocks noChangeArrowheads="1"/>
              </p:cNvSpPr>
              <p:nvPr/>
            </p:nvSpPr>
            <p:spPr bwMode="auto">
              <a:xfrm>
                <a:off x="5621936" y="2300729"/>
                <a:ext cx="457176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c,7</a:t>
                </a:r>
              </a:p>
            </p:txBody>
          </p:sp>
          <p:sp>
            <p:nvSpPr>
              <p:cNvPr id="67" name="Text Box 46"/>
              <p:cNvSpPr txBox="1">
                <a:spLocks noChangeArrowheads="1"/>
              </p:cNvSpPr>
              <p:nvPr/>
            </p:nvSpPr>
            <p:spPr bwMode="auto">
              <a:xfrm>
                <a:off x="4338241" y="4491249"/>
                <a:ext cx="41229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f,2</a:t>
                </a:r>
              </a:p>
            </p:txBody>
          </p:sp>
          <p:sp>
            <p:nvSpPr>
              <p:cNvPr id="68" name="Text Box 46"/>
              <p:cNvSpPr txBox="1">
                <a:spLocks noChangeArrowheads="1"/>
              </p:cNvSpPr>
              <p:nvPr/>
            </p:nvSpPr>
            <p:spPr bwMode="auto">
              <a:xfrm>
                <a:off x="5612640" y="4491249"/>
                <a:ext cx="457176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c,4</a:t>
                </a:r>
              </a:p>
            </p:txBody>
          </p:sp>
          <p:sp>
            <p:nvSpPr>
              <p:cNvPr id="69" name="Text Box 46"/>
              <p:cNvSpPr txBox="1">
                <a:spLocks noChangeArrowheads="1"/>
              </p:cNvSpPr>
              <p:nvPr/>
            </p:nvSpPr>
            <p:spPr bwMode="auto">
              <a:xfrm>
                <a:off x="6823347" y="3378547"/>
                <a:ext cx="532775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f,10</a:t>
                </a:r>
              </a:p>
            </p:txBody>
          </p:sp>
          <p:sp>
            <p:nvSpPr>
              <p:cNvPr id="70" name="Text Box 46"/>
              <p:cNvSpPr txBox="1">
                <a:spLocks noChangeArrowheads="1"/>
              </p:cNvSpPr>
              <p:nvPr/>
            </p:nvSpPr>
            <p:spPr bwMode="auto">
              <a:xfrm>
                <a:off x="1621550" y="3453829"/>
                <a:ext cx="66588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NIL,0</a:t>
                </a:r>
              </a:p>
            </p:txBody>
          </p:sp>
        </p:grpSp>
        <p:sp>
          <p:nvSpPr>
            <p:cNvPr id="62" name="Text Box 46"/>
            <p:cNvSpPr txBox="1">
              <a:spLocks noChangeArrowheads="1"/>
            </p:cNvSpPr>
            <p:nvPr/>
          </p:nvSpPr>
          <p:spPr bwMode="auto">
            <a:xfrm>
              <a:off x="3490516" y="3186324"/>
              <a:ext cx="45717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0070C0"/>
                  </a:solidFill>
                  <a:ea typeface="PMingLiU" panose="02020500000000000000" pitchFamily="18" charset="-120"/>
                </a:rPr>
                <a:t>c,2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386869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Prim's Algorithm: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34876" name="Group 60"/>
          <p:cNvGrpSpPr>
            <a:grpSpLocks/>
          </p:cNvGrpSpPr>
          <p:nvPr/>
        </p:nvGrpSpPr>
        <p:grpSpPr bwMode="auto">
          <a:xfrm>
            <a:off x="2250281" y="2249487"/>
            <a:ext cx="4608512" cy="2617787"/>
            <a:chOff x="1429" y="2643"/>
            <a:chExt cx="2903" cy="1649"/>
          </a:xfrm>
        </p:grpSpPr>
        <p:grpSp>
          <p:nvGrpSpPr>
            <p:cNvPr id="34877" name="Group 61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34878" name="Text Box 6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34879" name="Oval 6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880" name="Group 64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34881" name="Text Box 6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34882" name="Oval 6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883" name="Group 67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34884" name="Text Box 6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34885" name="Oval 6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886" name="Group 70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34887" name="Text Box 7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34888" name="Oval 7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889" name="Group 73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34890" name="Text Box 7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34891" name="Oval 7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892" name="Group 76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34893" name="Text Box 7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34894" name="Oval 7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895" name="Group 79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34896" name="Text Box 80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34897" name="Oval 81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898" name="Group 82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34899" name="Text Box 83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34900" name="Oval 84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901" name="Group 85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34902" name="Text Box 86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34903" name="Oval 87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4904" name="Line 88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5" name="Line 89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6" name="Line 90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7" name="Line 91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8" name="Line 92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9" name="Line 93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0" name="Line 94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1" name="Line 95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2" name="Line 96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3" name="Line 97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4" name="Line 98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5" name="Line 99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6" name="Line 100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7" name="Line 101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8" name="Text Box 102"/>
            <p:cNvSpPr txBox="1">
              <a:spLocks noChangeArrowheads="1"/>
            </p:cNvSpPr>
            <p:nvPr/>
          </p:nvSpPr>
          <p:spPr bwMode="auto">
            <a:xfrm>
              <a:off x="1565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34919" name="Text Box 103"/>
            <p:cNvSpPr txBox="1">
              <a:spLocks noChangeArrowheads="1"/>
            </p:cNvSpPr>
            <p:nvPr/>
          </p:nvSpPr>
          <p:spPr bwMode="auto">
            <a:xfrm>
              <a:off x="2324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34920" name="Text Box 104"/>
            <p:cNvSpPr txBox="1">
              <a:spLocks noChangeArrowheads="1"/>
            </p:cNvSpPr>
            <p:nvPr/>
          </p:nvSpPr>
          <p:spPr bwMode="auto">
            <a:xfrm>
              <a:off x="3168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34921" name="Text Box 105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34922" name="Text Box 106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34923" name="Text Box 107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34924" name="Text Box 108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34925" name="Text Box 109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34926" name="Text Box 110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34927" name="Text Box 111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34928" name="Text Box 112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34929" name="Text Box 113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34930" name="Text Box 114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34931" name="Text Box 115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1621550" y="2300729"/>
            <a:ext cx="5734572" cy="2559852"/>
            <a:chOff x="1621550" y="2300729"/>
            <a:chExt cx="5734572" cy="2559852"/>
          </a:xfrm>
        </p:grpSpPr>
        <p:grpSp>
          <p:nvGrpSpPr>
            <p:cNvPr id="61" name="Group 59"/>
            <p:cNvGrpSpPr/>
            <p:nvPr/>
          </p:nvGrpSpPr>
          <p:grpSpPr>
            <a:xfrm>
              <a:off x="1621550" y="2300729"/>
              <a:ext cx="5734572" cy="2559852"/>
              <a:chOff x="1621550" y="2300729"/>
              <a:chExt cx="5734572" cy="2559852"/>
            </a:xfrm>
          </p:grpSpPr>
          <p:sp>
            <p:nvSpPr>
              <p:cNvPr id="63" name="Text Box 46"/>
              <p:cNvSpPr txBox="1">
                <a:spLocks noChangeArrowheads="1"/>
              </p:cNvSpPr>
              <p:nvPr/>
            </p:nvSpPr>
            <p:spPr bwMode="auto">
              <a:xfrm>
                <a:off x="3015186" y="2313582"/>
                <a:ext cx="470000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a,4</a:t>
                </a:r>
              </a:p>
            </p:txBody>
          </p:sp>
          <p:sp>
            <p:nvSpPr>
              <p:cNvPr id="64" name="Text Box 46"/>
              <p:cNvSpPr txBox="1">
                <a:spLocks noChangeArrowheads="1"/>
              </p:cNvSpPr>
              <p:nvPr/>
            </p:nvSpPr>
            <p:spPr bwMode="auto">
              <a:xfrm>
                <a:off x="3002333" y="4482069"/>
                <a:ext cx="470963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g,1</a:t>
                </a:r>
              </a:p>
            </p:txBody>
          </p:sp>
          <p:sp>
            <p:nvSpPr>
              <p:cNvPr id="65" name="Text Box 46"/>
              <p:cNvSpPr txBox="1">
                <a:spLocks noChangeArrowheads="1"/>
              </p:cNvSpPr>
              <p:nvPr/>
            </p:nvSpPr>
            <p:spPr bwMode="auto">
              <a:xfrm>
                <a:off x="4338012" y="2300729"/>
                <a:ext cx="48122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b,8</a:t>
                </a:r>
              </a:p>
            </p:txBody>
          </p:sp>
          <p:sp>
            <p:nvSpPr>
              <p:cNvPr id="66" name="Text Box 46"/>
              <p:cNvSpPr txBox="1">
                <a:spLocks noChangeArrowheads="1"/>
              </p:cNvSpPr>
              <p:nvPr/>
            </p:nvSpPr>
            <p:spPr bwMode="auto">
              <a:xfrm>
                <a:off x="5621936" y="2300729"/>
                <a:ext cx="457176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c,7</a:t>
                </a:r>
              </a:p>
            </p:txBody>
          </p:sp>
          <p:sp>
            <p:nvSpPr>
              <p:cNvPr id="67" name="Text Box 46"/>
              <p:cNvSpPr txBox="1">
                <a:spLocks noChangeArrowheads="1"/>
              </p:cNvSpPr>
              <p:nvPr/>
            </p:nvSpPr>
            <p:spPr bwMode="auto">
              <a:xfrm>
                <a:off x="4338241" y="4491249"/>
                <a:ext cx="41229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f,2</a:t>
                </a:r>
              </a:p>
            </p:txBody>
          </p:sp>
          <p:sp>
            <p:nvSpPr>
              <p:cNvPr id="68" name="Text Box 46"/>
              <p:cNvSpPr txBox="1">
                <a:spLocks noChangeArrowheads="1"/>
              </p:cNvSpPr>
              <p:nvPr/>
            </p:nvSpPr>
            <p:spPr bwMode="auto">
              <a:xfrm>
                <a:off x="5612640" y="4491249"/>
                <a:ext cx="457176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c,4</a:t>
                </a:r>
              </a:p>
            </p:txBody>
          </p:sp>
          <p:sp>
            <p:nvSpPr>
              <p:cNvPr id="69" name="Text Box 46"/>
              <p:cNvSpPr txBox="1">
                <a:spLocks noChangeArrowheads="1"/>
              </p:cNvSpPr>
              <p:nvPr/>
            </p:nvSpPr>
            <p:spPr bwMode="auto">
              <a:xfrm>
                <a:off x="6823347" y="3378547"/>
                <a:ext cx="532775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f,10</a:t>
                </a:r>
              </a:p>
            </p:txBody>
          </p:sp>
          <p:sp>
            <p:nvSpPr>
              <p:cNvPr id="70" name="Text Box 46"/>
              <p:cNvSpPr txBox="1">
                <a:spLocks noChangeArrowheads="1"/>
              </p:cNvSpPr>
              <p:nvPr/>
            </p:nvSpPr>
            <p:spPr bwMode="auto">
              <a:xfrm>
                <a:off x="1621550" y="3453829"/>
                <a:ext cx="66588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NIL,0</a:t>
                </a:r>
              </a:p>
            </p:txBody>
          </p:sp>
        </p:grpSp>
        <p:sp>
          <p:nvSpPr>
            <p:cNvPr id="62" name="Text Box 46"/>
            <p:cNvSpPr txBox="1">
              <a:spLocks noChangeArrowheads="1"/>
            </p:cNvSpPr>
            <p:nvPr/>
          </p:nvSpPr>
          <p:spPr bwMode="auto">
            <a:xfrm>
              <a:off x="3490516" y="3186324"/>
              <a:ext cx="45717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0070C0"/>
                  </a:solidFill>
                  <a:ea typeface="PMingLiU" panose="02020500000000000000" pitchFamily="18" charset="-120"/>
                </a:rPr>
                <a:t>c,2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05543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Prim's Algorithm: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35844" name="Group 4"/>
          <p:cNvGrpSpPr>
            <a:grpSpLocks/>
          </p:cNvGrpSpPr>
          <p:nvPr/>
        </p:nvGrpSpPr>
        <p:grpSpPr bwMode="auto">
          <a:xfrm>
            <a:off x="2250281" y="2249487"/>
            <a:ext cx="4608512" cy="2617788"/>
            <a:chOff x="1429" y="2643"/>
            <a:chExt cx="2903" cy="1649"/>
          </a:xfrm>
        </p:grpSpPr>
        <p:grpSp>
          <p:nvGrpSpPr>
            <p:cNvPr id="35845" name="Group 5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35846" name="Text Box 6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35847" name="Oval 7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848" name="Group 8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35849" name="Text Box 9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35850" name="Oval 10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851" name="Group 11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35852" name="Text Box 1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35853" name="Oval 1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854" name="Group 14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35855" name="Text Box 1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35856" name="Oval 1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857" name="Group 17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35858" name="Text Box 1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35859" name="Oval 1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860" name="Group 20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35861" name="Text Box 2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35862" name="Oval 2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863" name="Group 23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35864" name="Text Box 2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35865" name="Oval 2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866" name="Group 26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35867" name="Text Box 2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35868" name="Oval 2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869" name="Group 29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35870" name="Text Box 30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35871" name="Oval 31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5872" name="Line 32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73" name="Line 33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74" name="Line 34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75" name="Line 35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76" name="Line 36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77" name="Line 37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78" name="Line 38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79" name="Line 39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80" name="Line 40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81" name="Line 41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82" name="Line 42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83" name="Line 43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84" name="Line 44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85" name="Line 45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86" name="Text Box 46"/>
            <p:cNvSpPr txBox="1">
              <a:spLocks noChangeArrowheads="1"/>
            </p:cNvSpPr>
            <p:nvPr/>
          </p:nvSpPr>
          <p:spPr bwMode="auto">
            <a:xfrm>
              <a:off x="1565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35887" name="Text Box 47"/>
            <p:cNvSpPr txBox="1">
              <a:spLocks noChangeArrowheads="1"/>
            </p:cNvSpPr>
            <p:nvPr/>
          </p:nvSpPr>
          <p:spPr bwMode="auto">
            <a:xfrm>
              <a:off x="2324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35888" name="Text Box 48"/>
            <p:cNvSpPr txBox="1">
              <a:spLocks noChangeArrowheads="1"/>
            </p:cNvSpPr>
            <p:nvPr/>
          </p:nvSpPr>
          <p:spPr bwMode="auto">
            <a:xfrm>
              <a:off x="3168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35889" name="Text Box 49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35890" name="Text Box 50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35891" name="Text Box 51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35892" name="Text Box 52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35893" name="Text Box 53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35894" name="Text Box 54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35895" name="Text Box 55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35896" name="Text Box 56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35897" name="Text Box 57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35898" name="Text Box 58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35899" name="Text Box 59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1621550" y="2300729"/>
            <a:ext cx="5734572" cy="2559852"/>
            <a:chOff x="1621550" y="2300729"/>
            <a:chExt cx="5734572" cy="2559852"/>
          </a:xfrm>
        </p:grpSpPr>
        <p:grpSp>
          <p:nvGrpSpPr>
            <p:cNvPr id="61" name="Group 59"/>
            <p:cNvGrpSpPr/>
            <p:nvPr/>
          </p:nvGrpSpPr>
          <p:grpSpPr>
            <a:xfrm>
              <a:off x="1621550" y="2300729"/>
              <a:ext cx="5734572" cy="2559852"/>
              <a:chOff x="1621550" y="2300729"/>
              <a:chExt cx="5734572" cy="2559852"/>
            </a:xfrm>
          </p:grpSpPr>
          <p:sp>
            <p:nvSpPr>
              <p:cNvPr id="63" name="Text Box 46"/>
              <p:cNvSpPr txBox="1">
                <a:spLocks noChangeArrowheads="1"/>
              </p:cNvSpPr>
              <p:nvPr/>
            </p:nvSpPr>
            <p:spPr bwMode="auto">
              <a:xfrm>
                <a:off x="3015186" y="2313582"/>
                <a:ext cx="470000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a,4</a:t>
                </a:r>
              </a:p>
            </p:txBody>
          </p:sp>
          <p:sp>
            <p:nvSpPr>
              <p:cNvPr id="64" name="Text Box 46"/>
              <p:cNvSpPr txBox="1">
                <a:spLocks noChangeArrowheads="1"/>
              </p:cNvSpPr>
              <p:nvPr/>
            </p:nvSpPr>
            <p:spPr bwMode="auto">
              <a:xfrm>
                <a:off x="3002333" y="4482069"/>
                <a:ext cx="470963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g,1</a:t>
                </a:r>
              </a:p>
            </p:txBody>
          </p:sp>
          <p:sp>
            <p:nvSpPr>
              <p:cNvPr id="65" name="Text Box 46"/>
              <p:cNvSpPr txBox="1">
                <a:spLocks noChangeArrowheads="1"/>
              </p:cNvSpPr>
              <p:nvPr/>
            </p:nvSpPr>
            <p:spPr bwMode="auto">
              <a:xfrm>
                <a:off x="4338012" y="2300729"/>
                <a:ext cx="48122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b,8</a:t>
                </a:r>
              </a:p>
            </p:txBody>
          </p:sp>
          <p:sp>
            <p:nvSpPr>
              <p:cNvPr id="66" name="Text Box 46"/>
              <p:cNvSpPr txBox="1">
                <a:spLocks noChangeArrowheads="1"/>
              </p:cNvSpPr>
              <p:nvPr/>
            </p:nvSpPr>
            <p:spPr bwMode="auto">
              <a:xfrm>
                <a:off x="5621936" y="2300729"/>
                <a:ext cx="457176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c,7</a:t>
                </a:r>
              </a:p>
            </p:txBody>
          </p:sp>
          <p:sp>
            <p:nvSpPr>
              <p:cNvPr id="67" name="Text Box 46"/>
              <p:cNvSpPr txBox="1">
                <a:spLocks noChangeArrowheads="1"/>
              </p:cNvSpPr>
              <p:nvPr/>
            </p:nvSpPr>
            <p:spPr bwMode="auto">
              <a:xfrm>
                <a:off x="4338241" y="4491249"/>
                <a:ext cx="41229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f,2</a:t>
                </a:r>
              </a:p>
            </p:txBody>
          </p:sp>
          <p:sp>
            <p:nvSpPr>
              <p:cNvPr id="68" name="Text Box 46"/>
              <p:cNvSpPr txBox="1">
                <a:spLocks noChangeArrowheads="1"/>
              </p:cNvSpPr>
              <p:nvPr/>
            </p:nvSpPr>
            <p:spPr bwMode="auto">
              <a:xfrm>
                <a:off x="5612640" y="4491249"/>
                <a:ext cx="457176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c,4</a:t>
                </a:r>
              </a:p>
            </p:txBody>
          </p:sp>
          <p:sp>
            <p:nvSpPr>
              <p:cNvPr id="69" name="Text Box 46"/>
              <p:cNvSpPr txBox="1">
                <a:spLocks noChangeArrowheads="1"/>
              </p:cNvSpPr>
              <p:nvPr/>
            </p:nvSpPr>
            <p:spPr bwMode="auto">
              <a:xfrm>
                <a:off x="6823347" y="3378547"/>
                <a:ext cx="532775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f,10</a:t>
                </a:r>
              </a:p>
            </p:txBody>
          </p:sp>
          <p:sp>
            <p:nvSpPr>
              <p:cNvPr id="70" name="Text Box 46"/>
              <p:cNvSpPr txBox="1">
                <a:spLocks noChangeArrowheads="1"/>
              </p:cNvSpPr>
              <p:nvPr/>
            </p:nvSpPr>
            <p:spPr bwMode="auto">
              <a:xfrm>
                <a:off x="1621550" y="3453829"/>
                <a:ext cx="66588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NIL,0</a:t>
                </a:r>
              </a:p>
            </p:txBody>
          </p:sp>
        </p:grpSp>
        <p:sp>
          <p:nvSpPr>
            <p:cNvPr id="62" name="Text Box 46"/>
            <p:cNvSpPr txBox="1">
              <a:spLocks noChangeArrowheads="1"/>
            </p:cNvSpPr>
            <p:nvPr/>
          </p:nvSpPr>
          <p:spPr bwMode="auto">
            <a:xfrm>
              <a:off x="3490516" y="3186324"/>
              <a:ext cx="45717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0070C0"/>
                  </a:solidFill>
                  <a:ea typeface="PMingLiU" panose="02020500000000000000" pitchFamily="18" charset="-120"/>
                </a:rPr>
                <a:t>c,2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95479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Prim's Algorithm: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35900" name="Group 60"/>
          <p:cNvGrpSpPr>
            <a:grpSpLocks/>
          </p:cNvGrpSpPr>
          <p:nvPr/>
        </p:nvGrpSpPr>
        <p:grpSpPr bwMode="auto">
          <a:xfrm>
            <a:off x="2250281" y="2249487"/>
            <a:ext cx="4608512" cy="2617788"/>
            <a:chOff x="1429" y="2643"/>
            <a:chExt cx="2903" cy="1649"/>
          </a:xfrm>
        </p:grpSpPr>
        <p:grpSp>
          <p:nvGrpSpPr>
            <p:cNvPr id="35901" name="Group 61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35902" name="Text Box 6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35903" name="Oval 6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904" name="Group 64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35905" name="Text Box 6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35906" name="Oval 6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907" name="Group 67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35908" name="Text Box 6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35909" name="Oval 6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910" name="Group 70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35911" name="Text Box 7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35912" name="Oval 7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913" name="Group 73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35914" name="Text Box 7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35915" name="Oval 7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916" name="Group 76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35917" name="Text Box 7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35918" name="Oval 7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919" name="Group 79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35920" name="Text Box 80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35921" name="Oval 81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922" name="Group 82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35923" name="Text Box 83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35924" name="Oval 84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925" name="Group 85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35926" name="Text Box 86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35927" name="Oval 87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5928" name="Line 88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29" name="Line 89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30" name="Line 90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31" name="Line 91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32" name="Line 92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33" name="Line 93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34" name="Line 94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35" name="Line 95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36" name="Line 96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37" name="Line 97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38" name="Line 98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39" name="Line 99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40" name="Line 100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41" name="Line 101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42" name="Text Box 102"/>
            <p:cNvSpPr txBox="1">
              <a:spLocks noChangeArrowheads="1"/>
            </p:cNvSpPr>
            <p:nvPr/>
          </p:nvSpPr>
          <p:spPr bwMode="auto">
            <a:xfrm>
              <a:off x="1565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35943" name="Text Box 103"/>
            <p:cNvSpPr txBox="1">
              <a:spLocks noChangeArrowheads="1"/>
            </p:cNvSpPr>
            <p:nvPr/>
          </p:nvSpPr>
          <p:spPr bwMode="auto">
            <a:xfrm>
              <a:off x="2324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35944" name="Text Box 104"/>
            <p:cNvSpPr txBox="1">
              <a:spLocks noChangeArrowheads="1"/>
            </p:cNvSpPr>
            <p:nvPr/>
          </p:nvSpPr>
          <p:spPr bwMode="auto">
            <a:xfrm>
              <a:off x="3168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35945" name="Text Box 105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35946" name="Text Box 106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35947" name="Text Box 107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35948" name="Text Box 108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35949" name="Text Box 109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35950" name="Text Box 110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35951" name="Text Box 111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35952" name="Text Box 112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35953" name="Text Box 113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35954" name="Text Box 114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35955" name="Text Box 115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1621550" y="2300729"/>
            <a:ext cx="5683019" cy="2559852"/>
            <a:chOff x="1621550" y="2300729"/>
            <a:chExt cx="5683019" cy="2559852"/>
          </a:xfrm>
        </p:grpSpPr>
        <p:grpSp>
          <p:nvGrpSpPr>
            <p:cNvPr id="61" name="Group 59"/>
            <p:cNvGrpSpPr/>
            <p:nvPr/>
          </p:nvGrpSpPr>
          <p:grpSpPr>
            <a:xfrm>
              <a:off x="1621550" y="2300729"/>
              <a:ext cx="5683019" cy="2559852"/>
              <a:chOff x="1621550" y="2300729"/>
              <a:chExt cx="5683019" cy="2559852"/>
            </a:xfrm>
          </p:grpSpPr>
          <p:sp>
            <p:nvSpPr>
              <p:cNvPr id="63" name="Text Box 46"/>
              <p:cNvSpPr txBox="1">
                <a:spLocks noChangeArrowheads="1"/>
              </p:cNvSpPr>
              <p:nvPr/>
            </p:nvSpPr>
            <p:spPr bwMode="auto">
              <a:xfrm>
                <a:off x="3015186" y="2313582"/>
                <a:ext cx="470000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a,4</a:t>
                </a:r>
              </a:p>
            </p:txBody>
          </p:sp>
          <p:sp>
            <p:nvSpPr>
              <p:cNvPr id="64" name="Text Box 46"/>
              <p:cNvSpPr txBox="1">
                <a:spLocks noChangeArrowheads="1"/>
              </p:cNvSpPr>
              <p:nvPr/>
            </p:nvSpPr>
            <p:spPr bwMode="auto">
              <a:xfrm>
                <a:off x="3002333" y="4482069"/>
                <a:ext cx="470963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g,1</a:t>
                </a:r>
              </a:p>
            </p:txBody>
          </p:sp>
          <p:sp>
            <p:nvSpPr>
              <p:cNvPr id="65" name="Text Box 46"/>
              <p:cNvSpPr txBox="1">
                <a:spLocks noChangeArrowheads="1"/>
              </p:cNvSpPr>
              <p:nvPr/>
            </p:nvSpPr>
            <p:spPr bwMode="auto">
              <a:xfrm>
                <a:off x="4338012" y="2300729"/>
                <a:ext cx="48122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b,8</a:t>
                </a:r>
              </a:p>
            </p:txBody>
          </p:sp>
          <p:sp>
            <p:nvSpPr>
              <p:cNvPr id="66" name="Text Box 46"/>
              <p:cNvSpPr txBox="1">
                <a:spLocks noChangeArrowheads="1"/>
              </p:cNvSpPr>
              <p:nvPr/>
            </p:nvSpPr>
            <p:spPr bwMode="auto">
              <a:xfrm>
                <a:off x="5621936" y="2300729"/>
                <a:ext cx="457176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c,7</a:t>
                </a:r>
              </a:p>
            </p:txBody>
          </p:sp>
          <p:sp>
            <p:nvSpPr>
              <p:cNvPr id="67" name="Text Box 46"/>
              <p:cNvSpPr txBox="1">
                <a:spLocks noChangeArrowheads="1"/>
              </p:cNvSpPr>
              <p:nvPr/>
            </p:nvSpPr>
            <p:spPr bwMode="auto">
              <a:xfrm>
                <a:off x="4338241" y="4491249"/>
                <a:ext cx="41229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f,2</a:t>
                </a:r>
              </a:p>
            </p:txBody>
          </p:sp>
          <p:sp>
            <p:nvSpPr>
              <p:cNvPr id="68" name="Text Box 46"/>
              <p:cNvSpPr txBox="1">
                <a:spLocks noChangeArrowheads="1"/>
              </p:cNvSpPr>
              <p:nvPr/>
            </p:nvSpPr>
            <p:spPr bwMode="auto">
              <a:xfrm>
                <a:off x="5612640" y="4491249"/>
                <a:ext cx="457176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c,4</a:t>
                </a:r>
              </a:p>
            </p:txBody>
          </p:sp>
          <p:sp>
            <p:nvSpPr>
              <p:cNvPr id="69" name="Text Box 46"/>
              <p:cNvSpPr txBox="1">
                <a:spLocks noChangeArrowheads="1"/>
              </p:cNvSpPr>
              <p:nvPr/>
            </p:nvSpPr>
            <p:spPr bwMode="auto">
              <a:xfrm>
                <a:off x="6823347" y="3378547"/>
                <a:ext cx="48122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d,9</a:t>
                </a:r>
              </a:p>
            </p:txBody>
          </p:sp>
          <p:sp>
            <p:nvSpPr>
              <p:cNvPr id="70" name="Text Box 46"/>
              <p:cNvSpPr txBox="1">
                <a:spLocks noChangeArrowheads="1"/>
              </p:cNvSpPr>
              <p:nvPr/>
            </p:nvSpPr>
            <p:spPr bwMode="auto">
              <a:xfrm>
                <a:off x="1621550" y="3453829"/>
                <a:ext cx="66588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NIL,0</a:t>
                </a:r>
              </a:p>
            </p:txBody>
          </p:sp>
        </p:grpSp>
        <p:sp>
          <p:nvSpPr>
            <p:cNvPr id="62" name="Text Box 46"/>
            <p:cNvSpPr txBox="1">
              <a:spLocks noChangeArrowheads="1"/>
            </p:cNvSpPr>
            <p:nvPr/>
          </p:nvSpPr>
          <p:spPr bwMode="auto">
            <a:xfrm>
              <a:off x="3490516" y="3186324"/>
              <a:ext cx="45717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0070C0"/>
                  </a:solidFill>
                  <a:ea typeface="PMingLiU" panose="02020500000000000000" pitchFamily="18" charset="-120"/>
                </a:rPr>
                <a:t>c,2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844168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Prim's Algorithm: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36868" name="Group 4"/>
          <p:cNvGrpSpPr>
            <a:grpSpLocks/>
          </p:cNvGrpSpPr>
          <p:nvPr/>
        </p:nvGrpSpPr>
        <p:grpSpPr bwMode="auto">
          <a:xfrm>
            <a:off x="2250281" y="2249487"/>
            <a:ext cx="4608512" cy="2617788"/>
            <a:chOff x="1429" y="2643"/>
            <a:chExt cx="2903" cy="1649"/>
          </a:xfrm>
        </p:grpSpPr>
        <p:grpSp>
          <p:nvGrpSpPr>
            <p:cNvPr id="36869" name="Group 5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36870" name="Text Box 6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a</a:t>
                </a:r>
              </a:p>
            </p:txBody>
          </p:sp>
          <p:sp>
            <p:nvSpPr>
              <p:cNvPr id="36871" name="Oval 7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6872" name="Group 8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36873" name="Text Box 9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b</a:t>
                </a:r>
              </a:p>
            </p:txBody>
          </p:sp>
          <p:sp>
            <p:nvSpPr>
              <p:cNvPr id="36874" name="Oval 10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6875" name="Group 11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36876" name="Text Box 1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h</a:t>
                </a:r>
              </a:p>
            </p:txBody>
          </p:sp>
          <p:sp>
            <p:nvSpPr>
              <p:cNvPr id="36877" name="Oval 1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6878" name="Group 14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36879" name="Text Box 1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c</a:t>
                </a:r>
              </a:p>
            </p:txBody>
          </p:sp>
          <p:sp>
            <p:nvSpPr>
              <p:cNvPr id="36880" name="Oval 1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6881" name="Group 17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36882" name="Text Box 1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d</a:t>
                </a:r>
              </a:p>
            </p:txBody>
          </p:sp>
          <p:sp>
            <p:nvSpPr>
              <p:cNvPr id="36883" name="Oval 1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6884" name="Group 20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36885" name="Text Box 2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e</a:t>
                </a:r>
              </a:p>
            </p:txBody>
          </p:sp>
          <p:sp>
            <p:nvSpPr>
              <p:cNvPr id="36886" name="Oval 2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6887" name="Group 23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36888" name="Text Box 2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f</a:t>
                </a:r>
              </a:p>
            </p:txBody>
          </p:sp>
          <p:sp>
            <p:nvSpPr>
              <p:cNvPr id="36889" name="Oval 2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6890" name="Group 26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36891" name="Text Box 2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g</a:t>
                </a:r>
              </a:p>
            </p:txBody>
          </p:sp>
          <p:sp>
            <p:nvSpPr>
              <p:cNvPr id="36892" name="Oval 2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6893" name="Group 29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36894" name="Text Box 30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000">
                    <a:ea typeface="PMingLiU" panose="02020500000000000000" pitchFamily="18" charset="-120"/>
                  </a:rPr>
                  <a:t>i</a:t>
                </a:r>
              </a:p>
            </p:txBody>
          </p:sp>
          <p:sp>
            <p:nvSpPr>
              <p:cNvPr id="36895" name="Oval 31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6896" name="Line 32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7" name="Line 33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8" name="Line 34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9" name="Line 35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0" name="Line 36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1" name="Line 37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2" name="Line 38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3" name="Line 39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4" name="Line 40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5" name="Line 41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6" name="Line 42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7" name="Line 43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8" name="Line 44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9" name="Line 45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0" name="Text Box 46"/>
            <p:cNvSpPr txBox="1">
              <a:spLocks noChangeArrowheads="1"/>
            </p:cNvSpPr>
            <p:nvPr/>
          </p:nvSpPr>
          <p:spPr bwMode="auto">
            <a:xfrm>
              <a:off x="1565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36911" name="Text Box 47"/>
            <p:cNvSpPr txBox="1">
              <a:spLocks noChangeArrowheads="1"/>
            </p:cNvSpPr>
            <p:nvPr/>
          </p:nvSpPr>
          <p:spPr bwMode="auto">
            <a:xfrm>
              <a:off x="2324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  <p:sp>
          <p:nvSpPr>
            <p:cNvPr id="36912" name="Text Box 48"/>
            <p:cNvSpPr txBox="1">
              <a:spLocks noChangeArrowheads="1"/>
            </p:cNvSpPr>
            <p:nvPr/>
          </p:nvSpPr>
          <p:spPr bwMode="auto">
            <a:xfrm>
              <a:off x="3168" y="26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36913" name="Text Box 49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9</a:t>
              </a:r>
            </a:p>
          </p:txBody>
        </p:sp>
        <p:sp>
          <p:nvSpPr>
            <p:cNvPr id="36914" name="Text Box 50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10</a:t>
              </a:r>
            </a:p>
          </p:txBody>
        </p:sp>
        <p:sp>
          <p:nvSpPr>
            <p:cNvPr id="36915" name="Text Box 51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14</a:t>
              </a:r>
            </a:p>
          </p:txBody>
        </p:sp>
        <p:sp>
          <p:nvSpPr>
            <p:cNvPr id="36916" name="Text Box 52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36917" name="Text Box 53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36918" name="Text Box 54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2</a:t>
              </a:r>
            </a:p>
          </p:txBody>
        </p:sp>
        <p:sp>
          <p:nvSpPr>
            <p:cNvPr id="36919" name="Text Box 55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6</a:t>
              </a:r>
            </a:p>
          </p:txBody>
        </p:sp>
        <p:sp>
          <p:nvSpPr>
            <p:cNvPr id="36920" name="Text Box 56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</a:t>
              </a:r>
            </a:p>
          </p:txBody>
        </p:sp>
        <p:sp>
          <p:nvSpPr>
            <p:cNvPr id="36921" name="Text Box 57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7</a:t>
              </a:r>
            </a:p>
          </p:txBody>
        </p:sp>
        <p:sp>
          <p:nvSpPr>
            <p:cNvPr id="36922" name="Text Box 58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11</a:t>
              </a:r>
            </a:p>
          </p:txBody>
        </p:sp>
        <p:sp>
          <p:nvSpPr>
            <p:cNvPr id="36923" name="Text Box 59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>
                  <a:ea typeface="PMingLiU" panose="02020500000000000000" pitchFamily="18" charset="-120"/>
                </a:rPr>
                <a:t>8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1621550" y="2300729"/>
            <a:ext cx="5683019" cy="2559852"/>
            <a:chOff x="1621550" y="2300729"/>
            <a:chExt cx="5683019" cy="2559852"/>
          </a:xfrm>
        </p:grpSpPr>
        <p:grpSp>
          <p:nvGrpSpPr>
            <p:cNvPr id="61" name="Group 59"/>
            <p:cNvGrpSpPr/>
            <p:nvPr/>
          </p:nvGrpSpPr>
          <p:grpSpPr>
            <a:xfrm>
              <a:off x="1621550" y="2300729"/>
              <a:ext cx="5683019" cy="2559852"/>
              <a:chOff x="1621550" y="2300729"/>
              <a:chExt cx="5683019" cy="2559852"/>
            </a:xfrm>
          </p:grpSpPr>
          <p:sp>
            <p:nvSpPr>
              <p:cNvPr id="63" name="Text Box 46"/>
              <p:cNvSpPr txBox="1">
                <a:spLocks noChangeArrowheads="1"/>
              </p:cNvSpPr>
              <p:nvPr/>
            </p:nvSpPr>
            <p:spPr bwMode="auto">
              <a:xfrm>
                <a:off x="3015186" y="2313582"/>
                <a:ext cx="470000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a,4</a:t>
                </a:r>
              </a:p>
            </p:txBody>
          </p:sp>
          <p:sp>
            <p:nvSpPr>
              <p:cNvPr id="64" name="Text Box 46"/>
              <p:cNvSpPr txBox="1">
                <a:spLocks noChangeArrowheads="1"/>
              </p:cNvSpPr>
              <p:nvPr/>
            </p:nvSpPr>
            <p:spPr bwMode="auto">
              <a:xfrm>
                <a:off x="3002333" y="4482069"/>
                <a:ext cx="470963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g,1</a:t>
                </a:r>
              </a:p>
            </p:txBody>
          </p:sp>
          <p:sp>
            <p:nvSpPr>
              <p:cNvPr id="65" name="Text Box 46"/>
              <p:cNvSpPr txBox="1">
                <a:spLocks noChangeArrowheads="1"/>
              </p:cNvSpPr>
              <p:nvPr/>
            </p:nvSpPr>
            <p:spPr bwMode="auto">
              <a:xfrm>
                <a:off x="4338012" y="2300729"/>
                <a:ext cx="48122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b,8</a:t>
                </a:r>
              </a:p>
            </p:txBody>
          </p:sp>
          <p:sp>
            <p:nvSpPr>
              <p:cNvPr id="66" name="Text Box 46"/>
              <p:cNvSpPr txBox="1">
                <a:spLocks noChangeArrowheads="1"/>
              </p:cNvSpPr>
              <p:nvPr/>
            </p:nvSpPr>
            <p:spPr bwMode="auto">
              <a:xfrm>
                <a:off x="5621936" y="2300729"/>
                <a:ext cx="457176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c,7</a:t>
                </a:r>
              </a:p>
            </p:txBody>
          </p:sp>
          <p:sp>
            <p:nvSpPr>
              <p:cNvPr id="67" name="Text Box 46"/>
              <p:cNvSpPr txBox="1">
                <a:spLocks noChangeArrowheads="1"/>
              </p:cNvSpPr>
              <p:nvPr/>
            </p:nvSpPr>
            <p:spPr bwMode="auto">
              <a:xfrm>
                <a:off x="4338241" y="4491249"/>
                <a:ext cx="41229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f,2</a:t>
                </a:r>
              </a:p>
            </p:txBody>
          </p:sp>
          <p:sp>
            <p:nvSpPr>
              <p:cNvPr id="68" name="Text Box 46"/>
              <p:cNvSpPr txBox="1">
                <a:spLocks noChangeArrowheads="1"/>
              </p:cNvSpPr>
              <p:nvPr/>
            </p:nvSpPr>
            <p:spPr bwMode="auto">
              <a:xfrm>
                <a:off x="5612640" y="4491249"/>
                <a:ext cx="457176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c,4</a:t>
                </a:r>
              </a:p>
            </p:txBody>
          </p:sp>
          <p:sp>
            <p:nvSpPr>
              <p:cNvPr id="69" name="Text Box 46"/>
              <p:cNvSpPr txBox="1">
                <a:spLocks noChangeArrowheads="1"/>
              </p:cNvSpPr>
              <p:nvPr/>
            </p:nvSpPr>
            <p:spPr bwMode="auto">
              <a:xfrm>
                <a:off x="6823347" y="3378547"/>
                <a:ext cx="481222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d,9</a:t>
                </a:r>
              </a:p>
            </p:txBody>
          </p:sp>
          <p:sp>
            <p:nvSpPr>
              <p:cNvPr id="70" name="Text Box 46"/>
              <p:cNvSpPr txBox="1">
                <a:spLocks noChangeArrowheads="1"/>
              </p:cNvSpPr>
              <p:nvPr/>
            </p:nvSpPr>
            <p:spPr bwMode="auto">
              <a:xfrm>
                <a:off x="1621550" y="3453829"/>
                <a:ext cx="665888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dirty="0">
                    <a:solidFill>
                      <a:srgbClr val="0070C0"/>
                    </a:solidFill>
                    <a:ea typeface="PMingLiU" panose="02020500000000000000" pitchFamily="18" charset="-120"/>
                  </a:rPr>
                  <a:t>NIL,0</a:t>
                </a:r>
              </a:p>
            </p:txBody>
          </p:sp>
        </p:grpSp>
        <p:sp>
          <p:nvSpPr>
            <p:cNvPr id="62" name="Text Box 46"/>
            <p:cNvSpPr txBox="1">
              <a:spLocks noChangeArrowheads="1"/>
            </p:cNvSpPr>
            <p:nvPr/>
          </p:nvSpPr>
          <p:spPr bwMode="auto">
            <a:xfrm>
              <a:off x="3490516" y="3186324"/>
              <a:ext cx="45717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TW" dirty="0">
                  <a:solidFill>
                    <a:srgbClr val="0070C0"/>
                  </a:solidFill>
                  <a:ea typeface="PMingLiU" panose="02020500000000000000" pitchFamily="18" charset="-120"/>
                </a:rPr>
                <a:t>c,2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711960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6250" y="1481138"/>
            <a:ext cx="7772400" cy="4862512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altLang="zh-TW" sz="2400" dirty="0">
                <a:ea typeface="新細明體" pitchFamily="18" charset="-120"/>
              </a:rPr>
              <a:t>r:</a:t>
            </a:r>
            <a:r>
              <a:rPr lang="en-US" altLang="zh-TW" sz="2000" dirty="0">
                <a:ea typeface="新細明體" pitchFamily="18" charset="-120"/>
              </a:rPr>
              <a:t>Grow the minimum spanning tree from the </a:t>
            </a:r>
            <a:r>
              <a:rPr lang="en-US" altLang="zh-TW" sz="2000" b="1" dirty="0">
                <a:solidFill>
                  <a:srgbClr val="FF0000"/>
                </a:solidFill>
                <a:ea typeface="新細明體" pitchFamily="18" charset="-120"/>
              </a:rPr>
              <a:t>root vertex “r”</a:t>
            </a:r>
            <a:r>
              <a:rPr lang="en-US" altLang="zh-TW" sz="2000" dirty="0">
                <a:solidFill>
                  <a:srgbClr val="FF0000"/>
                </a:solidFill>
                <a:ea typeface="新細明體" pitchFamily="18" charset="-120"/>
              </a:rPr>
              <a:t>.</a:t>
            </a:r>
          </a:p>
          <a:p>
            <a:pPr>
              <a:lnSpc>
                <a:spcPct val="80000"/>
              </a:lnSpc>
            </a:pPr>
            <a:endParaRPr lang="en-US" altLang="zh-TW" sz="2000" dirty="0">
              <a:solidFill>
                <a:srgbClr val="FF0000"/>
              </a:solidFill>
              <a:ea typeface="新細明體" pitchFamily="18" charset="-120"/>
            </a:endParaRPr>
          </a:p>
          <a:p>
            <a:pPr>
              <a:lnSpc>
                <a:spcPct val="80000"/>
              </a:lnSpc>
            </a:pPr>
            <a:r>
              <a:rPr lang="en-US" altLang="zh-TW" sz="2400" dirty="0">
                <a:ea typeface="新細明體" pitchFamily="18" charset="-120"/>
              </a:rPr>
              <a:t>Q: </a:t>
            </a:r>
            <a:r>
              <a:rPr lang="en-US" altLang="zh-TW" sz="2000" dirty="0">
                <a:ea typeface="新細明體" pitchFamily="18" charset="-120"/>
              </a:rPr>
              <a:t>is a priority queue, holding all vertices that are </a:t>
            </a:r>
            <a:r>
              <a:rPr lang="en-US" altLang="zh-TW" sz="2000" dirty="0">
                <a:solidFill>
                  <a:srgbClr val="FF0000"/>
                </a:solidFill>
                <a:ea typeface="新細明體" pitchFamily="18" charset="-120"/>
              </a:rPr>
              <a:t>not in the tree</a:t>
            </a:r>
            <a:r>
              <a:rPr lang="en-US" altLang="zh-TW" sz="2000" dirty="0">
                <a:ea typeface="新細明體" pitchFamily="18" charset="-120"/>
              </a:rPr>
              <a:t> now.</a:t>
            </a:r>
          </a:p>
          <a:p>
            <a:pPr>
              <a:lnSpc>
                <a:spcPct val="80000"/>
              </a:lnSpc>
            </a:pPr>
            <a:endParaRPr lang="en-US" altLang="zh-TW" sz="2000" dirty="0">
              <a:ea typeface="新細明體" pitchFamily="18" charset="-120"/>
            </a:endParaRPr>
          </a:p>
          <a:p>
            <a:pPr>
              <a:lnSpc>
                <a:spcPct val="80000"/>
              </a:lnSpc>
            </a:pPr>
            <a:r>
              <a:rPr lang="en-US" altLang="zh-TW" sz="2400" dirty="0">
                <a:ea typeface="新細明體" pitchFamily="18" charset="-120"/>
              </a:rPr>
              <a:t>key[v]: </a:t>
            </a:r>
            <a:r>
              <a:rPr lang="en-US" altLang="zh-TW" sz="2000" dirty="0">
                <a:ea typeface="新細明體" pitchFamily="18" charset="-120"/>
              </a:rPr>
              <a:t>is the </a:t>
            </a:r>
            <a:r>
              <a:rPr lang="en-US" altLang="zh-TW" sz="2000" dirty="0">
                <a:solidFill>
                  <a:srgbClr val="FF0000"/>
                </a:solidFill>
                <a:ea typeface="新細明體" pitchFamily="18" charset="-120"/>
              </a:rPr>
              <a:t>minimum weight</a:t>
            </a:r>
            <a:r>
              <a:rPr lang="en-US" altLang="zh-TW" sz="2000" dirty="0">
                <a:ea typeface="新細明體" pitchFamily="18" charset="-120"/>
              </a:rPr>
              <a:t> of any edge connecting v to a vertex in the tree.</a:t>
            </a:r>
          </a:p>
          <a:p>
            <a:pPr>
              <a:lnSpc>
                <a:spcPct val="80000"/>
              </a:lnSpc>
            </a:pPr>
            <a:endParaRPr lang="en-US" altLang="zh-TW" sz="2000" dirty="0">
              <a:ea typeface="新細明體" pitchFamily="18" charset="-120"/>
            </a:endParaRPr>
          </a:p>
          <a:p>
            <a:pPr>
              <a:lnSpc>
                <a:spcPct val="80000"/>
              </a:lnSpc>
            </a:pPr>
            <a:r>
              <a:rPr lang="en-US" altLang="zh-TW" sz="2400" dirty="0">
                <a:ea typeface="新細明體" pitchFamily="18" charset="-120"/>
              </a:rPr>
              <a:t> </a:t>
            </a:r>
            <a:r>
              <a:rPr lang="en-US" sz="2400" dirty="0">
                <a:latin typeface="Symbol" pitchFamily="18" charset="2"/>
                <a:cs typeface="Times New Roman" pitchFamily="18" charset="0"/>
              </a:rPr>
              <a:t>p</a:t>
            </a:r>
            <a:r>
              <a:rPr lang="en-US" altLang="zh-TW" sz="2400" dirty="0">
                <a:ea typeface="新細明體" pitchFamily="18" charset="-120"/>
              </a:rPr>
              <a:t> [v]: </a:t>
            </a:r>
            <a:r>
              <a:rPr lang="en-US" altLang="zh-TW" sz="2000" dirty="0">
                <a:ea typeface="新細明體" pitchFamily="18" charset="-120"/>
              </a:rPr>
              <a:t>names the </a:t>
            </a:r>
            <a:r>
              <a:rPr lang="en-US" altLang="zh-TW" sz="2000" dirty="0">
                <a:solidFill>
                  <a:srgbClr val="FF0000"/>
                </a:solidFill>
                <a:ea typeface="新細明體" pitchFamily="18" charset="-120"/>
              </a:rPr>
              <a:t>parent of v</a:t>
            </a:r>
            <a:r>
              <a:rPr lang="en-US" altLang="zh-TW" sz="2000" dirty="0">
                <a:ea typeface="新細明體" pitchFamily="18" charset="-120"/>
              </a:rPr>
              <a:t> in the tree.</a:t>
            </a:r>
          </a:p>
          <a:p>
            <a:pPr>
              <a:lnSpc>
                <a:spcPct val="80000"/>
              </a:lnSpc>
            </a:pPr>
            <a:endParaRPr lang="en-US" altLang="zh-TW" sz="2000" dirty="0">
              <a:ea typeface="新細明體" pitchFamily="18" charset="-120"/>
            </a:endParaRPr>
          </a:p>
          <a:p>
            <a:pPr>
              <a:lnSpc>
                <a:spcPct val="80000"/>
              </a:lnSpc>
            </a:pPr>
            <a:r>
              <a:rPr lang="en-US" altLang="zh-TW" sz="2400" dirty="0">
                <a:ea typeface="新細明體" pitchFamily="18" charset="-120"/>
                <a:cs typeface="Times New Roman" pitchFamily="18" charset="0"/>
              </a:rPr>
              <a:t>T[v] – </a:t>
            </a:r>
            <a:r>
              <a:rPr lang="en-US" altLang="zh-TW" sz="2000" dirty="0">
                <a:ea typeface="新細明體" pitchFamily="18" charset="-120"/>
                <a:cs typeface="Times New Roman" pitchFamily="18" charset="0"/>
              </a:rPr>
              <a:t>Vertex v is </a:t>
            </a:r>
            <a:r>
              <a:rPr lang="en-US" altLang="zh-TW" sz="2000" dirty="0">
                <a:solidFill>
                  <a:srgbClr val="DD0111"/>
                </a:solidFill>
                <a:ea typeface="新細明體" pitchFamily="18" charset="-120"/>
                <a:cs typeface="Times New Roman" pitchFamily="18" charset="0"/>
              </a:rPr>
              <a:t>already included</a:t>
            </a:r>
            <a:r>
              <a:rPr lang="en-US" altLang="zh-TW" sz="2000" dirty="0">
                <a:ea typeface="新細明體" pitchFamily="18" charset="-120"/>
                <a:cs typeface="Times New Roman" pitchFamily="18" charset="0"/>
              </a:rPr>
              <a:t> in MST if T[v]==1, otherwise, it is not included yet.</a:t>
            </a:r>
          </a:p>
          <a:p>
            <a:pPr>
              <a:lnSpc>
                <a:spcPct val="80000"/>
              </a:lnSpc>
            </a:pPr>
            <a:endParaRPr lang="en-US" altLang="zh-TW" sz="2000" dirty="0">
              <a:ea typeface="新細明體" pitchFamily="18" charset="-12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>
                <a:cs typeface="Times New Roman" panose="02020603050405020304" pitchFamily="18" charset="0"/>
              </a:rPr>
              <a:t>Removing v </a:t>
            </a:r>
            <a:r>
              <a:rPr lang="en-US" sz="2000" dirty="0">
                <a:cs typeface="Times New Roman" panose="02020603050405020304" pitchFamily="18" charset="0"/>
              </a:rPr>
              <a:t>from set Q adds it to set Q-V of vertices in tree, thus </a:t>
            </a:r>
            <a:r>
              <a:rPr lang="en-US" sz="2000">
                <a:cs typeface="Times New Roman" panose="02020603050405020304" pitchFamily="18" charset="0"/>
              </a:rPr>
              <a:t>adding (v, </a:t>
            </a:r>
            <a:r>
              <a:rPr lang="en-US" sz="2000" dirty="0">
                <a:cs typeface="Times New Roman" panose="02020603050405020304" pitchFamily="18" charset="0"/>
              </a:rPr>
              <a:t>p</a:t>
            </a:r>
            <a:r>
              <a:rPr lang="en-US" sz="2000">
                <a:cs typeface="Times New Roman" panose="02020603050405020304" pitchFamily="18" charset="0"/>
              </a:rPr>
              <a:t>[ v]) </a:t>
            </a:r>
            <a:r>
              <a:rPr lang="en-US" sz="2000" dirty="0">
                <a:cs typeface="Times New Roman" panose="02020603050405020304" pitchFamily="18" charset="0"/>
              </a:rPr>
              <a:t>to A.</a:t>
            </a:r>
          </a:p>
          <a:p>
            <a:pPr>
              <a:lnSpc>
                <a:spcPct val="80000"/>
              </a:lnSpc>
            </a:pPr>
            <a:endParaRPr lang="en-US" altLang="zh-TW" sz="2000" dirty="0">
              <a:ea typeface="新細明體" pitchFamily="18" charset="-12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endParaRPr lang="zh-TW" altLang="en-US" sz="2400" dirty="0">
              <a:ea typeface="新細明體" pitchFamily="18" charset="-120"/>
            </a:endParaRP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da-DK" dirty="0"/>
              <a:t>Prim Algorithm:Variables</a:t>
            </a:r>
          </a:p>
        </p:txBody>
      </p:sp>
    </p:spTree>
    <p:extLst>
      <p:ext uri="{BB962C8B-B14F-4D97-AF65-F5344CB8AC3E}">
        <p14:creationId xmlns:p14="http://schemas.microsoft.com/office/powerpoint/2010/main" val="402394054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50838" y="1728788"/>
            <a:ext cx="8229600" cy="3514725"/>
          </a:xfrm>
          <a:noFill/>
        </p:spPr>
        <p:txBody>
          <a:bodyPr lIns="92075" tIns="46038" rIns="92075" bIns="46038">
            <a:normAutofit fontScale="85000" lnSpcReduction="20000"/>
          </a:bodyPr>
          <a:lstStyle/>
          <a:p>
            <a:pPr algn="just" eaLnBrk="1" hangingPunct="1">
              <a:lnSpc>
                <a:spcPct val="90000"/>
              </a:lnSpc>
              <a:buFontTx/>
              <a:buNone/>
              <a:tabLst>
                <a:tab pos="228600" algn="l"/>
                <a:tab pos="431800" algn="l"/>
                <a:tab pos="647700" algn="l"/>
                <a:tab pos="863600" algn="l"/>
                <a:tab pos="1079500" algn="l"/>
                <a:tab pos="1295400" algn="l"/>
                <a:tab pos="1511300" algn="l"/>
                <a:tab pos="1728788" algn="l"/>
                <a:tab pos="1944688" algn="l"/>
                <a:tab pos="2160588" algn="l"/>
                <a:tab pos="2376488" algn="l"/>
              </a:tabLst>
            </a:pPr>
            <a:r>
              <a:rPr lang="da-DK" sz="2000" b="1" dirty="0">
                <a:latin typeface="Courier New" pitchFamily="49" charset="0"/>
                <a:cs typeface="Times New Roman" pitchFamily="18" charset="0"/>
              </a:rPr>
              <a:t>MST-Prim</a:t>
            </a:r>
            <a:r>
              <a:rPr lang="en-US" sz="2000" dirty="0">
                <a:latin typeface="Courier New" pitchFamily="49" charset="0"/>
                <a:cs typeface="Times New Roman" pitchFamily="18" charset="0"/>
              </a:rPr>
              <a:t>(</a:t>
            </a:r>
            <a:r>
              <a:rPr lang="en-US" sz="2000" dirty="0" err="1">
                <a:latin typeface="Courier New" pitchFamily="49" charset="0"/>
                <a:cs typeface="Times New Roman" pitchFamily="18" charset="0"/>
              </a:rPr>
              <a:t>G,r</a:t>
            </a:r>
            <a:r>
              <a:rPr lang="en-US" sz="2000" dirty="0">
                <a:latin typeface="Courier New" pitchFamily="49" charset="0"/>
                <a:cs typeface="Times New Roman" pitchFamily="18" charset="0"/>
              </a:rPr>
              <a:t>)</a:t>
            </a:r>
          </a:p>
          <a:p>
            <a:pPr algn="just" eaLnBrk="1" hangingPunct="1">
              <a:lnSpc>
                <a:spcPct val="90000"/>
              </a:lnSpc>
              <a:buFontTx/>
              <a:buNone/>
              <a:tabLst>
                <a:tab pos="228600" algn="l"/>
                <a:tab pos="431800" algn="l"/>
                <a:tab pos="647700" algn="l"/>
                <a:tab pos="863600" algn="l"/>
                <a:tab pos="1079500" algn="l"/>
                <a:tab pos="1295400" algn="l"/>
                <a:tab pos="1511300" algn="l"/>
                <a:tab pos="1728788" algn="l"/>
                <a:tab pos="1944688" algn="l"/>
                <a:tab pos="2160588" algn="l"/>
                <a:tab pos="2376488" algn="l"/>
              </a:tabLst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01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 Q </a:t>
            </a:r>
            <a:r>
              <a:rPr lang="en-US" sz="1800" dirty="0">
                <a:latin typeface="Symbol" pitchFamily="18" charset="2"/>
                <a:cs typeface="Courier New" pitchFamily="49" charset="0"/>
              </a:rPr>
              <a:t>¬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 V[G]  // Q – vertices out of T</a:t>
            </a:r>
          </a:p>
          <a:p>
            <a:pPr algn="just" eaLnBrk="1" hangingPunct="1">
              <a:lnSpc>
                <a:spcPct val="90000"/>
              </a:lnSpc>
              <a:buFontTx/>
              <a:buNone/>
              <a:tabLst>
                <a:tab pos="228600" algn="l"/>
                <a:tab pos="431800" algn="l"/>
                <a:tab pos="647700" algn="l"/>
                <a:tab pos="863600" algn="l"/>
                <a:tab pos="1079500" algn="l"/>
                <a:tab pos="1295400" algn="l"/>
                <a:tab pos="1511300" algn="l"/>
                <a:tab pos="1728788" algn="l"/>
                <a:tab pos="1944688" algn="l"/>
                <a:tab pos="2160588" algn="l"/>
                <a:tab pos="2376488" algn="l"/>
              </a:tabLst>
            </a:pPr>
            <a:r>
              <a:rPr lang="en-US" sz="1800" dirty="0">
                <a:latin typeface="Courier New" pitchFamily="49" charset="0"/>
                <a:cs typeface="Times New Roman" pitchFamily="18" charset="0"/>
              </a:rPr>
              <a:t>02 </a:t>
            </a:r>
            <a:r>
              <a:rPr lang="en-US" sz="1800" b="1" dirty="0">
                <a:latin typeface="Courier New" pitchFamily="49" charset="0"/>
                <a:cs typeface="Times New Roman" pitchFamily="18" charset="0"/>
              </a:rPr>
              <a:t>for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 each u </a:t>
            </a:r>
            <a:r>
              <a:rPr lang="en-US" sz="1800" dirty="0">
                <a:latin typeface="Symbol" pitchFamily="18" charset="2"/>
                <a:cs typeface="Times New Roman" pitchFamily="18" charset="0"/>
              </a:rPr>
              <a:t>Î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 Q</a:t>
            </a:r>
          </a:p>
          <a:p>
            <a:pPr algn="just" eaLnBrk="1" hangingPunct="1">
              <a:lnSpc>
                <a:spcPct val="90000"/>
              </a:lnSpc>
              <a:buFontTx/>
              <a:buNone/>
              <a:tabLst>
                <a:tab pos="228600" algn="l"/>
                <a:tab pos="431800" algn="l"/>
                <a:tab pos="647700" algn="l"/>
                <a:tab pos="863600" algn="l"/>
                <a:tab pos="1079500" algn="l"/>
                <a:tab pos="1295400" algn="l"/>
                <a:tab pos="1511300" algn="l"/>
                <a:tab pos="1728788" algn="l"/>
                <a:tab pos="1944688" algn="l"/>
                <a:tab pos="2160588" algn="l"/>
                <a:tab pos="2376488" algn="l"/>
              </a:tabLst>
            </a:pPr>
            <a:r>
              <a:rPr lang="en-US" sz="1800" dirty="0">
                <a:latin typeface="Courier New" pitchFamily="49" charset="0"/>
                <a:cs typeface="Times New Roman" pitchFamily="18" charset="0"/>
              </a:rPr>
              <a:t>03    key[u] </a:t>
            </a:r>
            <a:r>
              <a:rPr lang="en-US" sz="1800" dirty="0">
                <a:latin typeface="Symbol" pitchFamily="18" charset="2"/>
                <a:cs typeface="Courier New" pitchFamily="49" charset="0"/>
              </a:rPr>
              <a:t>¬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1800" dirty="0">
                <a:latin typeface="Symbol" pitchFamily="18" charset="2"/>
                <a:cs typeface="Times New Roman" pitchFamily="18" charset="0"/>
              </a:rPr>
              <a:t>¥</a:t>
            </a:r>
          </a:p>
          <a:p>
            <a:pPr algn="just" eaLnBrk="1" hangingPunct="1">
              <a:lnSpc>
                <a:spcPct val="90000"/>
              </a:lnSpc>
              <a:buFontTx/>
              <a:buNone/>
              <a:tabLst>
                <a:tab pos="228600" algn="l"/>
                <a:tab pos="431800" algn="l"/>
                <a:tab pos="647700" algn="l"/>
                <a:tab pos="863600" algn="l"/>
                <a:tab pos="1079500" algn="l"/>
                <a:tab pos="1295400" algn="l"/>
                <a:tab pos="1511300" algn="l"/>
                <a:tab pos="1728788" algn="l"/>
                <a:tab pos="1944688" algn="l"/>
                <a:tab pos="2160588" algn="l"/>
                <a:tab pos="2376488" algn="l"/>
              </a:tabLst>
            </a:pPr>
            <a:r>
              <a:rPr lang="en-US" sz="1800" dirty="0">
                <a:latin typeface="Courier New" pitchFamily="49" charset="0"/>
                <a:cs typeface="Times New Roman" pitchFamily="18" charset="0"/>
              </a:rPr>
              <a:t>04 key[r] </a:t>
            </a:r>
            <a:r>
              <a:rPr lang="en-US" sz="1800" dirty="0">
                <a:latin typeface="Symbol" pitchFamily="18" charset="2"/>
                <a:cs typeface="Courier New" pitchFamily="49" charset="0"/>
              </a:rPr>
              <a:t>¬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 0				// r is the first tree node, let r=1</a:t>
            </a:r>
          </a:p>
          <a:p>
            <a:pPr algn="just" eaLnBrk="1" hangingPunct="1">
              <a:lnSpc>
                <a:spcPct val="90000"/>
              </a:lnSpc>
              <a:buFontTx/>
              <a:buNone/>
              <a:tabLst>
                <a:tab pos="228600" algn="l"/>
                <a:tab pos="431800" algn="l"/>
                <a:tab pos="647700" algn="l"/>
                <a:tab pos="863600" algn="l"/>
                <a:tab pos="1079500" algn="l"/>
                <a:tab pos="1295400" algn="l"/>
                <a:tab pos="1511300" algn="l"/>
                <a:tab pos="1728788" algn="l"/>
                <a:tab pos="1944688" algn="l"/>
                <a:tab pos="2160588" algn="l"/>
                <a:tab pos="2376488" algn="l"/>
              </a:tabLst>
            </a:pPr>
            <a:r>
              <a:rPr lang="en-US" sz="1800" dirty="0">
                <a:latin typeface="Courier New" pitchFamily="49" charset="0"/>
                <a:cs typeface="Times New Roman" pitchFamily="18" charset="0"/>
              </a:rPr>
              <a:t>05 </a:t>
            </a:r>
            <a:r>
              <a:rPr lang="en-US" sz="1800" dirty="0">
                <a:latin typeface="Symbol" pitchFamily="18" charset="2"/>
                <a:cs typeface="Times New Roman" pitchFamily="18" charset="0"/>
              </a:rPr>
              <a:t>p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[r] </a:t>
            </a:r>
            <a:r>
              <a:rPr lang="en-US" sz="1800" dirty="0">
                <a:latin typeface="Symbol" pitchFamily="18" charset="2"/>
                <a:cs typeface="Courier New" pitchFamily="49" charset="0"/>
              </a:rPr>
              <a:t>¬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 NIL</a:t>
            </a:r>
          </a:p>
          <a:p>
            <a:pPr algn="just" eaLnBrk="1" hangingPunct="1">
              <a:lnSpc>
                <a:spcPct val="90000"/>
              </a:lnSpc>
              <a:buFontTx/>
              <a:buNone/>
              <a:tabLst>
                <a:tab pos="228600" algn="l"/>
                <a:tab pos="431800" algn="l"/>
                <a:tab pos="647700" algn="l"/>
                <a:tab pos="863600" algn="l"/>
                <a:tab pos="1079500" algn="l"/>
                <a:tab pos="1295400" algn="l"/>
                <a:tab pos="1511300" algn="l"/>
                <a:tab pos="1728788" algn="l"/>
                <a:tab pos="1944688" algn="l"/>
                <a:tab pos="2160588" algn="l"/>
                <a:tab pos="2376488" algn="l"/>
              </a:tabLst>
            </a:pPr>
            <a:r>
              <a:rPr lang="en-US" sz="1800" dirty="0">
                <a:latin typeface="Courier New" pitchFamily="49" charset="0"/>
                <a:cs typeface="Times New Roman" pitchFamily="18" charset="0"/>
              </a:rPr>
              <a:t>06 </a:t>
            </a:r>
            <a:r>
              <a:rPr lang="en-US" sz="1800" b="1" dirty="0">
                <a:latin typeface="Courier New" pitchFamily="49" charset="0"/>
                <a:cs typeface="Times New Roman" pitchFamily="18" charset="0"/>
              </a:rPr>
              <a:t>while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 Q </a:t>
            </a:r>
            <a:r>
              <a:rPr lang="en-US" sz="1800" dirty="0">
                <a:latin typeface="Symbol" pitchFamily="18" charset="2"/>
                <a:cs typeface="Times New Roman" pitchFamily="18" charset="0"/>
              </a:rPr>
              <a:t>¹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1800" dirty="0">
                <a:latin typeface="Symbol" pitchFamily="18" charset="2"/>
                <a:cs typeface="Times New Roman" pitchFamily="18" charset="0"/>
              </a:rPr>
              <a:t>Æ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1800" b="1" dirty="0">
                <a:latin typeface="Courier New" pitchFamily="49" charset="0"/>
                <a:cs typeface="Times New Roman" pitchFamily="18" charset="0"/>
              </a:rPr>
              <a:t>do</a:t>
            </a:r>
            <a:endParaRPr lang="en-US" sz="1800" b="1" dirty="0">
              <a:latin typeface="Symbol" pitchFamily="18" charset="2"/>
              <a:cs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  <a:buFontTx/>
              <a:buNone/>
              <a:tabLst>
                <a:tab pos="228600" algn="l"/>
                <a:tab pos="431800" algn="l"/>
                <a:tab pos="647700" algn="l"/>
                <a:tab pos="863600" algn="l"/>
                <a:tab pos="1079500" algn="l"/>
                <a:tab pos="1295400" algn="l"/>
                <a:tab pos="1511300" algn="l"/>
                <a:tab pos="1728788" algn="l"/>
                <a:tab pos="1944688" algn="l"/>
                <a:tab pos="2160588" algn="l"/>
                <a:tab pos="2376488" algn="l"/>
              </a:tabLst>
            </a:pPr>
            <a:r>
              <a:rPr lang="en-US" sz="1800" dirty="0">
                <a:latin typeface="Courier New" pitchFamily="49" charset="0"/>
                <a:cs typeface="Times New Roman" pitchFamily="18" charset="0"/>
              </a:rPr>
              <a:t>07   u </a:t>
            </a:r>
            <a:r>
              <a:rPr lang="en-US" sz="1800" dirty="0">
                <a:latin typeface="Symbol" pitchFamily="18" charset="2"/>
                <a:cs typeface="Courier New" pitchFamily="49" charset="0"/>
              </a:rPr>
              <a:t>¬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1800" dirty="0" err="1">
                <a:latin typeface="Courier New" pitchFamily="49" charset="0"/>
                <a:cs typeface="Times New Roman" pitchFamily="18" charset="0"/>
              </a:rPr>
              <a:t>ExtractMin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(Q)  // making u part of T</a:t>
            </a:r>
          </a:p>
          <a:p>
            <a:pPr algn="just" eaLnBrk="1" hangingPunct="1">
              <a:lnSpc>
                <a:spcPct val="90000"/>
              </a:lnSpc>
              <a:buFontTx/>
              <a:buNone/>
              <a:tabLst>
                <a:tab pos="228600" algn="l"/>
                <a:tab pos="431800" algn="l"/>
                <a:tab pos="647700" algn="l"/>
                <a:tab pos="863600" algn="l"/>
                <a:tab pos="1079500" algn="l"/>
                <a:tab pos="1295400" algn="l"/>
                <a:tab pos="1511300" algn="l"/>
                <a:tab pos="1728788" algn="l"/>
                <a:tab pos="1944688" algn="l"/>
                <a:tab pos="2160588" algn="l"/>
                <a:tab pos="2376488" algn="l"/>
              </a:tabLst>
            </a:pPr>
            <a:r>
              <a:rPr lang="en-US" sz="1800" dirty="0">
                <a:latin typeface="Courier New" pitchFamily="49" charset="0"/>
                <a:cs typeface="Times New Roman" pitchFamily="18" charset="0"/>
              </a:rPr>
              <a:t>08      </a:t>
            </a:r>
            <a:r>
              <a:rPr lang="en-US" sz="1800" b="1" dirty="0">
                <a:latin typeface="Courier New" pitchFamily="49" charset="0"/>
                <a:cs typeface="Times New Roman" pitchFamily="18" charset="0"/>
              </a:rPr>
              <a:t>for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 each v </a:t>
            </a:r>
            <a:r>
              <a:rPr lang="en-US" sz="1800" dirty="0">
                <a:latin typeface="Symbol" pitchFamily="18" charset="2"/>
                <a:cs typeface="Times New Roman" pitchFamily="18" charset="0"/>
              </a:rPr>
              <a:t>Î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1800" dirty="0" err="1">
                <a:latin typeface="Courier New" pitchFamily="49" charset="0"/>
                <a:cs typeface="Times New Roman" pitchFamily="18" charset="0"/>
              </a:rPr>
              <a:t>Adj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[u] </a:t>
            </a:r>
            <a:r>
              <a:rPr lang="en-US" sz="1800" b="1" dirty="0">
                <a:latin typeface="Courier New" pitchFamily="49" charset="0"/>
                <a:cs typeface="Times New Roman" pitchFamily="18" charset="0"/>
              </a:rPr>
              <a:t>do</a:t>
            </a:r>
          </a:p>
          <a:p>
            <a:pPr algn="just" eaLnBrk="1" hangingPunct="1">
              <a:lnSpc>
                <a:spcPct val="90000"/>
              </a:lnSpc>
              <a:buFontTx/>
              <a:buNone/>
              <a:tabLst>
                <a:tab pos="228600" algn="l"/>
                <a:tab pos="431800" algn="l"/>
                <a:tab pos="647700" algn="l"/>
                <a:tab pos="863600" algn="l"/>
                <a:tab pos="1079500" algn="l"/>
                <a:tab pos="1295400" algn="l"/>
                <a:tab pos="1511300" algn="l"/>
                <a:tab pos="1728788" algn="l"/>
                <a:tab pos="1944688" algn="l"/>
                <a:tab pos="2160588" algn="l"/>
                <a:tab pos="2376488" algn="l"/>
              </a:tabLst>
            </a:pPr>
            <a:r>
              <a:rPr lang="en-US" sz="1800" dirty="0">
                <a:latin typeface="Courier New" pitchFamily="49" charset="0"/>
                <a:cs typeface="Times New Roman" pitchFamily="18" charset="0"/>
              </a:rPr>
              <a:t>09         </a:t>
            </a:r>
            <a:r>
              <a:rPr lang="en-US" sz="1800" b="1" dirty="0">
                <a:latin typeface="Courier New" pitchFamily="49" charset="0"/>
                <a:cs typeface="Times New Roman" pitchFamily="18" charset="0"/>
              </a:rPr>
              <a:t>if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 v </a:t>
            </a:r>
            <a:r>
              <a:rPr lang="en-US" sz="1800" dirty="0">
                <a:latin typeface="Symbol" pitchFamily="18" charset="2"/>
                <a:cs typeface="Times New Roman" pitchFamily="18" charset="0"/>
              </a:rPr>
              <a:t>Î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 Q and w(</a:t>
            </a:r>
            <a:r>
              <a:rPr lang="en-US" sz="1800" dirty="0" err="1">
                <a:latin typeface="Courier New" pitchFamily="49" charset="0"/>
                <a:cs typeface="Times New Roman" pitchFamily="18" charset="0"/>
              </a:rPr>
              <a:t>u,v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) &lt; key[v] </a:t>
            </a:r>
            <a:r>
              <a:rPr lang="en-US" sz="1800" b="1" dirty="0">
                <a:latin typeface="Courier New" pitchFamily="49" charset="0"/>
                <a:cs typeface="Times New Roman" pitchFamily="18" charset="0"/>
              </a:rPr>
              <a:t>then</a:t>
            </a:r>
          </a:p>
          <a:p>
            <a:pPr algn="just" eaLnBrk="1" hangingPunct="1">
              <a:lnSpc>
                <a:spcPct val="90000"/>
              </a:lnSpc>
              <a:buFontTx/>
              <a:buNone/>
              <a:tabLst>
                <a:tab pos="228600" algn="l"/>
                <a:tab pos="431800" algn="l"/>
                <a:tab pos="647700" algn="l"/>
                <a:tab pos="863600" algn="l"/>
                <a:tab pos="1079500" algn="l"/>
                <a:tab pos="1295400" algn="l"/>
                <a:tab pos="1511300" algn="l"/>
                <a:tab pos="1728788" algn="l"/>
                <a:tab pos="1944688" algn="l"/>
                <a:tab pos="2160588" algn="l"/>
                <a:tab pos="2376488" algn="l"/>
              </a:tabLst>
            </a:pPr>
            <a:r>
              <a:rPr lang="en-US" sz="1800" dirty="0">
                <a:latin typeface="Courier New" pitchFamily="49" charset="0"/>
                <a:cs typeface="Times New Roman" pitchFamily="18" charset="0"/>
              </a:rPr>
              <a:t>10            </a:t>
            </a:r>
            <a:r>
              <a:rPr lang="en-US" sz="1800" dirty="0">
                <a:latin typeface="Symbol" pitchFamily="18" charset="2"/>
                <a:cs typeface="Times New Roman" pitchFamily="18" charset="0"/>
              </a:rPr>
              <a:t>p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[v] </a:t>
            </a:r>
            <a:r>
              <a:rPr lang="en-US" sz="1800" dirty="0">
                <a:latin typeface="Symbol" pitchFamily="18" charset="2"/>
                <a:cs typeface="Courier New" pitchFamily="49" charset="0"/>
              </a:rPr>
              <a:t>¬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 u</a:t>
            </a:r>
          </a:p>
          <a:p>
            <a:pPr algn="just" eaLnBrk="1" hangingPunct="1">
              <a:lnSpc>
                <a:spcPct val="90000"/>
              </a:lnSpc>
              <a:buFontTx/>
              <a:buNone/>
              <a:tabLst>
                <a:tab pos="228600" algn="l"/>
                <a:tab pos="431800" algn="l"/>
                <a:tab pos="647700" algn="l"/>
                <a:tab pos="863600" algn="l"/>
                <a:tab pos="1079500" algn="l"/>
                <a:tab pos="1295400" algn="l"/>
                <a:tab pos="1511300" algn="l"/>
                <a:tab pos="1728788" algn="l"/>
                <a:tab pos="1944688" algn="l"/>
                <a:tab pos="2160588" algn="l"/>
                <a:tab pos="2376488" algn="l"/>
              </a:tabLst>
            </a:pPr>
            <a:r>
              <a:rPr lang="en-US" sz="1800" dirty="0">
                <a:latin typeface="Courier New" pitchFamily="49" charset="0"/>
                <a:cs typeface="Times New Roman" pitchFamily="18" charset="0"/>
              </a:rPr>
              <a:t>11            key[v] </a:t>
            </a:r>
            <a:r>
              <a:rPr lang="en-US" sz="1800" dirty="0">
                <a:latin typeface="Symbol" pitchFamily="18" charset="2"/>
                <a:cs typeface="Courier New" pitchFamily="49" charset="0"/>
              </a:rPr>
              <a:t>¬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 w(</a:t>
            </a:r>
            <a:r>
              <a:rPr lang="en-US" sz="1800" dirty="0" err="1">
                <a:latin typeface="Courier New" pitchFamily="49" charset="0"/>
                <a:cs typeface="Times New Roman" pitchFamily="18" charset="0"/>
              </a:rPr>
              <a:t>u,v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)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da-DK"/>
              <a:t>Prim Algorithm (2)</a:t>
            </a:r>
          </a:p>
        </p:txBody>
      </p:sp>
    </p:spTree>
    <p:extLst>
      <p:ext uri="{BB962C8B-B14F-4D97-AF65-F5344CB8AC3E}">
        <p14:creationId xmlns:p14="http://schemas.microsoft.com/office/powerpoint/2010/main" val="415622103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621613A-3DE3-465D-A4E1-B5D1B786C0E9}" type="slidenum">
              <a:rPr lang="zh-TW" altLang="en-US" smtClean="0">
                <a:ea typeface="新細明體" pitchFamily="18" charset="-120"/>
              </a:rPr>
              <a:pPr/>
              <a:t>63</a:t>
            </a:fld>
            <a:endParaRPr lang="en-US" altLang="zh-TW">
              <a:ea typeface="新細明體" pitchFamily="18" charset="-12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195513" y="1098550"/>
            <a:ext cx="4608512" cy="2617788"/>
            <a:chOff x="1429" y="2643"/>
            <a:chExt cx="2903" cy="1649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26741" name="Text Box 6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a</a:t>
                </a:r>
              </a:p>
            </p:txBody>
          </p:sp>
          <p:sp>
            <p:nvSpPr>
              <p:cNvPr id="26742" name="Oval 7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26739" name="Text Box 9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b</a:t>
                </a:r>
              </a:p>
            </p:txBody>
          </p:sp>
          <p:sp>
            <p:nvSpPr>
              <p:cNvPr id="26740" name="Oval 10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26737" name="Text Box 1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h</a:t>
                </a:r>
              </a:p>
            </p:txBody>
          </p:sp>
          <p:sp>
            <p:nvSpPr>
              <p:cNvPr id="26738" name="Oval 1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" name="Group 14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26735" name="Text Box 1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c</a:t>
                </a:r>
              </a:p>
            </p:txBody>
          </p:sp>
          <p:sp>
            <p:nvSpPr>
              <p:cNvPr id="26736" name="Oval 1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" name="Group 17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26733" name="Text Box 1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d</a:t>
                </a:r>
              </a:p>
            </p:txBody>
          </p:sp>
          <p:sp>
            <p:nvSpPr>
              <p:cNvPr id="26734" name="Oval 1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" name="Group 20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26731" name="Text Box 2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e</a:t>
                </a:r>
              </a:p>
            </p:txBody>
          </p:sp>
          <p:sp>
            <p:nvSpPr>
              <p:cNvPr id="26732" name="Oval 2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9" name="Group 23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26729" name="Text Box 2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f</a:t>
                </a:r>
              </a:p>
            </p:txBody>
          </p:sp>
          <p:sp>
            <p:nvSpPr>
              <p:cNvPr id="26730" name="Oval 2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" name="Group 26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26727" name="Text Box 2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g</a:t>
                </a:r>
              </a:p>
            </p:txBody>
          </p:sp>
          <p:sp>
            <p:nvSpPr>
              <p:cNvPr id="26728" name="Oval 2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" name="Group 29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26725" name="Text Box 30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i</a:t>
                </a:r>
              </a:p>
            </p:txBody>
          </p:sp>
          <p:sp>
            <p:nvSpPr>
              <p:cNvPr id="26726" name="Oval 31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6697" name="Line 32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98" name="Line 33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99" name="Line 34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00" name="Line 35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01" name="Line 36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02" name="Line 37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03" name="Line 38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04" name="Line 39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05" name="Line 40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06" name="Line 41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07" name="Line 42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08" name="Line 43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09" name="Line 44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10" name="Line 45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11" name="Text Box 46"/>
            <p:cNvSpPr txBox="1">
              <a:spLocks noChangeArrowheads="1"/>
            </p:cNvSpPr>
            <p:nvPr/>
          </p:nvSpPr>
          <p:spPr bwMode="auto">
            <a:xfrm>
              <a:off x="1565" y="2976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4</a:t>
              </a:r>
            </a:p>
          </p:txBody>
        </p:sp>
        <p:sp>
          <p:nvSpPr>
            <p:cNvPr id="26712" name="Text Box 47"/>
            <p:cNvSpPr txBox="1">
              <a:spLocks noChangeArrowheads="1"/>
            </p:cNvSpPr>
            <p:nvPr/>
          </p:nvSpPr>
          <p:spPr bwMode="auto">
            <a:xfrm>
              <a:off x="2324" y="2643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8</a:t>
              </a:r>
            </a:p>
          </p:txBody>
        </p:sp>
        <p:sp>
          <p:nvSpPr>
            <p:cNvPr id="26713" name="Text Box 48"/>
            <p:cNvSpPr txBox="1">
              <a:spLocks noChangeArrowheads="1"/>
            </p:cNvSpPr>
            <p:nvPr/>
          </p:nvSpPr>
          <p:spPr bwMode="auto">
            <a:xfrm>
              <a:off x="3168" y="2643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7</a:t>
              </a:r>
            </a:p>
          </p:txBody>
        </p:sp>
        <p:sp>
          <p:nvSpPr>
            <p:cNvPr id="26714" name="Text Box 49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9</a:t>
              </a:r>
            </a:p>
          </p:txBody>
        </p:sp>
        <p:sp>
          <p:nvSpPr>
            <p:cNvPr id="26715" name="Text Box 50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10</a:t>
              </a:r>
            </a:p>
          </p:txBody>
        </p:sp>
        <p:sp>
          <p:nvSpPr>
            <p:cNvPr id="26716" name="Text Box 51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14</a:t>
              </a:r>
            </a:p>
          </p:txBody>
        </p:sp>
        <p:sp>
          <p:nvSpPr>
            <p:cNvPr id="26717" name="Text Box 52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4</a:t>
              </a:r>
            </a:p>
          </p:txBody>
        </p:sp>
        <p:sp>
          <p:nvSpPr>
            <p:cNvPr id="26718" name="Text Box 53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2</a:t>
              </a:r>
            </a:p>
          </p:txBody>
        </p:sp>
        <p:sp>
          <p:nvSpPr>
            <p:cNvPr id="26719" name="Text Box 54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2</a:t>
              </a:r>
            </a:p>
          </p:txBody>
        </p:sp>
        <p:sp>
          <p:nvSpPr>
            <p:cNvPr id="26720" name="Text Box 55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6</a:t>
              </a:r>
            </a:p>
          </p:txBody>
        </p:sp>
        <p:sp>
          <p:nvSpPr>
            <p:cNvPr id="26721" name="Text Box 56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1</a:t>
              </a:r>
            </a:p>
          </p:txBody>
        </p:sp>
        <p:sp>
          <p:nvSpPr>
            <p:cNvPr id="26722" name="Text Box 57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7</a:t>
              </a:r>
            </a:p>
          </p:txBody>
        </p:sp>
        <p:sp>
          <p:nvSpPr>
            <p:cNvPr id="26723" name="Text Box 58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11</a:t>
              </a:r>
            </a:p>
          </p:txBody>
        </p:sp>
        <p:sp>
          <p:nvSpPr>
            <p:cNvPr id="26724" name="Text Box 59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8</a:t>
              </a:r>
            </a:p>
          </p:txBody>
        </p:sp>
      </p:grpSp>
      <p:sp>
        <p:nvSpPr>
          <p:cNvPr id="26628" name="Text Box 116"/>
          <p:cNvSpPr txBox="1">
            <a:spLocks noChangeArrowheads="1"/>
          </p:cNvSpPr>
          <p:nvPr/>
        </p:nvSpPr>
        <p:spPr bwMode="auto">
          <a:xfrm>
            <a:off x="609600" y="152400"/>
            <a:ext cx="78486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3200" dirty="0">
                <a:ea typeface="新細明體" pitchFamily="18" charset="-120"/>
              </a:rPr>
              <a:t>The execution of Prim's algorithm</a:t>
            </a:r>
            <a:endParaRPr lang="en-US" altLang="zh-TW" sz="2000" dirty="0">
              <a:ea typeface="新細明體" pitchFamily="18" charset="-120"/>
            </a:endParaRPr>
          </a:p>
        </p:txBody>
      </p:sp>
      <p:sp>
        <p:nvSpPr>
          <p:cNvPr id="26629" name="Text Box 117"/>
          <p:cNvSpPr txBox="1">
            <a:spLocks noChangeArrowheads="1"/>
          </p:cNvSpPr>
          <p:nvPr/>
        </p:nvSpPr>
        <p:spPr bwMode="auto">
          <a:xfrm>
            <a:off x="179388" y="1412875"/>
            <a:ext cx="1223962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>
                <a:ea typeface="新細明體" pitchFamily="18" charset="-120"/>
              </a:rPr>
              <a:t>the root vertex</a:t>
            </a:r>
          </a:p>
        </p:txBody>
      </p:sp>
      <p:sp>
        <p:nvSpPr>
          <p:cNvPr id="26630" name="Line 118"/>
          <p:cNvSpPr>
            <a:spLocks noChangeShapeType="1"/>
          </p:cNvSpPr>
          <p:nvPr/>
        </p:nvSpPr>
        <p:spPr bwMode="auto">
          <a:xfrm>
            <a:off x="1331913" y="1916113"/>
            <a:ext cx="792162" cy="433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5843" name="Group 243"/>
          <p:cNvGraphicFramePr>
            <a:graphicFrameLocks noGrp="1"/>
          </p:cNvGraphicFramePr>
          <p:nvPr/>
        </p:nvGraphicFramePr>
        <p:xfrm>
          <a:off x="869950" y="4184650"/>
          <a:ext cx="7031038" cy="1828800"/>
        </p:xfrm>
        <a:graphic>
          <a:graphicData uri="http://schemas.openxmlformats.org/drawingml/2006/table">
            <a:tbl>
              <a:tblPr/>
              <a:tblGrid>
                <a:gridCol w="709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3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8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32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32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Key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49032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3"/>
          <p:cNvSpPr txBox="1">
            <a:spLocks noGrp="1"/>
          </p:cNvSpPr>
          <p:nvPr/>
        </p:nvSpPr>
        <p:spPr bwMode="auto">
          <a:xfrm>
            <a:off x="6553200" y="6397625"/>
            <a:ext cx="213360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4A4B872A-EC36-4337-8D9B-6BE1D56CE2E3}" type="slidenum">
              <a:rPr lang="zh-TW" altLang="en-US" sz="1400">
                <a:ea typeface="新細明體" pitchFamily="18" charset="-120"/>
              </a:rPr>
              <a:pPr algn="r"/>
              <a:t>64</a:t>
            </a:fld>
            <a:endParaRPr lang="en-US" altLang="zh-TW" sz="1400">
              <a:ea typeface="新細明體" pitchFamily="18" charset="-12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195513" y="1098550"/>
            <a:ext cx="4608512" cy="2617788"/>
            <a:chOff x="1429" y="2643"/>
            <a:chExt cx="2903" cy="1649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1429" y="3370"/>
              <a:ext cx="194" cy="250"/>
              <a:chOff x="2368" y="1750"/>
              <a:chExt cx="194" cy="250"/>
            </a:xfrm>
          </p:grpSpPr>
          <p:sp>
            <p:nvSpPr>
              <p:cNvPr id="27766" name="Text Box 6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a</a:t>
                </a:r>
              </a:p>
            </p:txBody>
          </p:sp>
          <p:sp>
            <p:nvSpPr>
              <p:cNvPr id="27767" name="Oval 7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1928" y="2871"/>
              <a:ext cx="196" cy="250"/>
              <a:chOff x="2368" y="1750"/>
              <a:chExt cx="196" cy="250"/>
            </a:xfrm>
          </p:grpSpPr>
          <p:sp>
            <p:nvSpPr>
              <p:cNvPr id="27764" name="Text Box 9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b</a:t>
                </a:r>
              </a:p>
            </p:txBody>
          </p:sp>
          <p:sp>
            <p:nvSpPr>
              <p:cNvPr id="27765" name="Oval 10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1928" y="3860"/>
              <a:ext cx="196" cy="250"/>
              <a:chOff x="2368" y="1750"/>
              <a:chExt cx="196" cy="250"/>
            </a:xfrm>
          </p:grpSpPr>
          <p:sp>
            <p:nvSpPr>
              <p:cNvPr id="27762" name="Text Box 1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h</a:t>
                </a:r>
              </a:p>
            </p:txBody>
          </p:sp>
          <p:sp>
            <p:nvSpPr>
              <p:cNvPr id="27763" name="Oval 1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" name="Group 14"/>
            <p:cNvGrpSpPr>
              <a:grpSpLocks/>
            </p:cNvGrpSpPr>
            <p:nvPr/>
          </p:nvGrpSpPr>
          <p:grpSpPr bwMode="auto">
            <a:xfrm>
              <a:off x="2778" y="2840"/>
              <a:ext cx="194" cy="250"/>
              <a:chOff x="2368" y="1750"/>
              <a:chExt cx="194" cy="250"/>
            </a:xfrm>
          </p:grpSpPr>
          <p:sp>
            <p:nvSpPr>
              <p:cNvPr id="27760" name="Text Box 1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c</a:t>
                </a:r>
              </a:p>
            </p:txBody>
          </p:sp>
          <p:sp>
            <p:nvSpPr>
              <p:cNvPr id="27761" name="Oval 1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" name="Group 17"/>
            <p:cNvGrpSpPr>
              <a:grpSpLocks/>
            </p:cNvGrpSpPr>
            <p:nvPr/>
          </p:nvGrpSpPr>
          <p:grpSpPr bwMode="auto">
            <a:xfrm>
              <a:off x="3592" y="2840"/>
              <a:ext cx="196" cy="250"/>
              <a:chOff x="2368" y="1750"/>
              <a:chExt cx="196" cy="250"/>
            </a:xfrm>
          </p:grpSpPr>
          <p:sp>
            <p:nvSpPr>
              <p:cNvPr id="27758" name="Text Box 1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d</a:t>
                </a:r>
              </a:p>
            </p:txBody>
          </p:sp>
          <p:sp>
            <p:nvSpPr>
              <p:cNvPr id="27759" name="Oval 1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" name="Group 20"/>
            <p:cNvGrpSpPr>
              <a:grpSpLocks/>
            </p:cNvGrpSpPr>
            <p:nvPr/>
          </p:nvGrpSpPr>
          <p:grpSpPr bwMode="auto">
            <a:xfrm>
              <a:off x="4138" y="3339"/>
              <a:ext cx="194" cy="250"/>
              <a:chOff x="2368" y="1750"/>
              <a:chExt cx="194" cy="250"/>
            </a:xfrm>
          </p:grpSpPr>
          <p:sp>
            <p:nvSpPr>
              <p:cNvPr id="27756" name="Text Box 2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87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e</a:t>
                </a:r>
              </a:p>
            </p:txBody>
          </p:sp>
          <p:sp>
            <p:nvSpPr>
              <p:cNvPr id="27757" name="Oval 2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9" name="Group 23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27754" name="Text Box 2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9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f</a:t>
                </a:r>
              </a:p>
            </p:txBody>
          </p:sp>
          <p:sp>
            <p:nvSpPr>
              <p:cNvPr id="27755" name="Oval 2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" name="Group 26"/>
            <p:cNvGrpSpPr>
              <a:grpSpLocks/>
            </p:cNvGrpSpPr>
            <p:nvPr/>
          </p:nvGrpSpPr>
          <p:grpSpPr bwMode="auto">
            <a:xfrm>
              <a:off x="2776" y="3860"/>
              <a:ext cx="196" cy="250"/>
              <a:chOff x="2368" y="1750"/>
              <a:chExt cx="196" cy="250"/>
            </a:xfrm>
          </p:grpSpPr>
          <p:sp>
            <p:nvSpPr>
              <p:cNvPr id="27752" name="Text Box 2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g</a:t>
                </a:r>
              </a:p>
            </p:txBody>
          </p:sp>
          <p:sp>
            <p:nvSpPr>
              <p:cNvPr id="27753" name="Oval 2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" name="Group 29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27750" name="Text Box 30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i</a:t>
                </a:r>
              </a:p>
            </p:txBody>
          </p:sp>
          <p:sp>
            <p:nvSpPr>
              <p:cNvPr id="27751" name="Oval 31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7722" name="Line 32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23" name="Line 33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24" name="Line 34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25" name="Line 35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26" name="Line 36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27" name="Line 37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28" name="Line 38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29" name="Line 39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30" name="Line 40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31" name="Line 41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32" name="Line 42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33" name="Line 43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34" name="Line 44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35" name="Line 45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36" name="Text Box 46"/>
            <p:cNvSpPr txBox="1">
              <a:spLocks noChangeArrowheads="1"/>
            </p:cNvSpPr>
            <p:nvPr/>
          </p:nvSpPr>
          <p:spPr bwMode="auto">
            <a:xfrm>
              <a:off x="1565" y="2976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4</a:t>
              </a:r>
            </a:p>
          </p:txBody>
        </p:sp>
        <p:sp>
          <p:nvSpPr>
            <p:cNvPr id="27737" name="Text Box 47"/>
            <p:cNvSpPr txBox="1">
              <a:spLocks noChangeArrowheads="1"/>
            </p:cNvSpPr>
            <p:nvPr/>
          </p:nvSpPr>
          <p:spPr bwMode="auto">
            <a:xfrm>
              <a:off x="2324" y="2643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8</a:t>
              </a:r>
            </a:p>
          </p:txBody>
        </p:sp>
        <p:sp>
          <p:nvSpPr>
            <p:cNvPr id="27738" name="Text Box 48"/>
            <p:cNvSpPr txBox="1">
              <a:spLocks noChangeArrowheads="1"/>
            </p:cNvSpPr>
            <p:nvPr/>
          </p:nvSpPr>
          <p:spPr bwMode="auto">
            <a:xfrm>
              <a:off x="3168" y="2643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7</a:t>
              </a:r>
            </a:p>
          </p:txBody>
        </p:sp>
        <p:sp>
          <p:nvSpPr>
            <p:cNvPr id="27739" name="Text Box 49"/>
            <p:cNvSpPr txBox="1">
              <a:spLocks noChangeArrowheads="1"/>
            </p:cNvSpPr>
            <p:nvPr/>
          </p:nvSpPr>
          <p:spPr bwMode="auto">
            <a:xfrm>
              <a:off x="4002" y="2898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9</a:t>
              </a:r>
            </a:p>
          </p:txBody>
        </p:sp>
        <p:sp>
          <p:nvSpPr>
            <p:cNvPr id="27740" name="Text Box 50"/>
            <p:cNvSpPr txBox="1">
              <a:spLocks noChangeArrowheads="1"/>
            </p:cNvSpPr>
            <p:nvPr/>
          </p:nvSpPr>
          <p:spPr bwMode="auto">
            <a:xfrm>
              <a:off x="3970" y="3657"/>
              <a:ext cx="3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10</a:t>
              </a:r>
            </a:p>
          </p:txBody>
        </p:sp>
        <p:sp>
          <p:nvSpPr>
            <p:cNvPr id="27741" name="Text Box 51"/>
            <p:cNvSpPr txBox="1">
              <a:spLocks noChangeArrowheads="1"/>
            </p:cNvSpPr>
            <p:nvPr/>
          </p:nvSpPr>
          <p:spPr bwMode="auto">
            <a:xfrm>
              <a:off x="3652" y="3339"/>
              <a:ext cx="3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14</a:t>
              </a:r>
            </a:p>
          </p:txBody>
        </p:sp>
        <p:sp>
          <p:nvSpPr>
            <p:cNvPr id="27742" name="Text Box 52"/>
            <p:cNvSpPr txBox="1">
              <a:spLocks noChangeArrowheads="1"/>
            </p:cNvSpPr>
            <p:nvPr/>
          </p:nvSpPr>
          <p:spPr bwMode="auto">
            <a:xfrm>
              <a:off x="3017" y="3414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4</a:t>
              </a:r>
            </a:p>
          </p:txBody>
        </p:sp>
        <p:sp>
          <p:nvSpPr>
            <p:cNvPr id="27743" name="Text Box 53"/>
            <p:cNvSpPr txBox="1">
              <a:spLocks noChangeArrowheads="1"/>
            </p:cNvSpPr>
            <p:nvPr/>
          </p:nvSpPr>
          <p:spPr bwMode="auto">
            <a:xfrm>
              <a:off x="2624" y="3187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2</a:t>
              </a:r>
            </a:p>
          </p:txBody>
        </p:sp>
        <p:sp>
          <p:nvSpPr>
            <p:cNvPr id="27744" name="Text Box 54"/>
            <p:cNvSpPr txBox="1">
              <a:spLocks noChangeArrowheads="1"/>
            </p:cNvSpPr>
            <p:nvPr/>
          </p:nvSpPr>
          <p:spPr bwMode="auto">
            <a:xfrm>
              <a:off x="3198" y="4004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2</a:t>
              </a:r>
            </a:p>
          </p:txBody>
        </p:sp>
        <p:sp>
          <p:nvSpPr>
            <p:cNvPr id="27745" name="Text Box 55"/>
            <p:cNvSpPr txBox="1">
              <a:spLocks noChangeArrowheads="1"/>
            </p:cNvSpPr>
            <p:nvPr/>
          </p:nvSpPr>
          <p:spPr bwMode="auto">
            <a:xfrm>
              <a:off x="2641" y="3533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6</a:t>
              </a:r>
            </a:p>
          </p:txBody>
        </p:sp>
        <p:sp>
          <p:nvSpPr>
            <p:cNvPr id="27746" name="Text Box 56"/>
            <p:cNvSpPr txBox="1">
              <a:spLocks noChangeArrowheads="1"/>
            </p:cNvSpPr>
            <p:nvPr/>
          </p:nvSpPr>
          <p:spPr bwMode="auto">
            <a:xfrm>
              <a:off x="2369" y="4004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1</a:t>
              </a:r>
            </a:p>
          </p:txBody>
        </p:sp>
        <p:sp>
          <p:nvSpPr>
            <p:cNvPr id="27747" name="Text Box 57"/>
            <p:cNvSpPr txBox="1">
              <a:spLocks noChangeArrowheads="1"/>
            </p:cNvSpPr>
            <p:nvPr/>
          </p:nvSpPr>
          <p:spPr bwMode="auto">
            <a:xfrm>
              <a:off x="2097" y="3533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7</a:t>
              </a:r>
            </a:p>
          </p:txBody>
        </p:sp>
        <p:sp>
          <p:nvSpPr>
            <p:cNvPr id="27748" name="Text Box 58"/>
            <p:cNvSpPr txBox="1">
              <a:spLocks noChangeArrowheads="1"/>
            </p:cNvSpPr>
            <p:nvPr/>
          </p:nvSpPr>
          <p:spPr bwMode="auto">
            <a:xfrm>
              <a:off x="1747" y="3323"/>
              <a:ext cx="3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11</a:t>
              </a:r>
            </a:p>
          </p:txBody>
        </p:sp>
        <p:sp>
          <p:nvSpPr>
            <p:cNvPr id="27749" name="Text Box 59"/>
            <p:cNvSpPr txBox="1">
              <a:spLocks noChangeArrowheads="1"/>
            </p:cNvSpPr>
            <p:nvPr/>
          </p:nvSpPr>
          <p:spPr bwMode="auto">
            <a:xfrm>
              <a:off x="1565" y="3731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8</a:t>
              </a:r>
            </a:p>
          </p:txBody>
        </p:sp>
      </p:grpSp>
      <p:sp>
        <p:nvSpPr>
          <p:cNvPr id="27652" name="Text Box 116"/>
          <p:cNvSpPr txBox="1">
            <a:spLocks noChangeArrowheads="1"/>
          </p:cNvSpPr>
          <p:nvPr/>
        </p:nvSpPr>
        <p:spPr bwMode="auto">
          <a:xfrm>
            <a:off x="609600" y="152400"/>
            <a:ext cx="78486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3200" dirty="0">
                <a:ea typeface="新細明體" pitchFamily="18" charset="-120"/>
              </a:rPr>
              <a:t>The execution of Prim's algorithm</a:t>
            </a:r>
            <a:endParaRPr lang="en-US" altLang="zh-TW" sz="2000" dirty="0">
              <a:ea typeface="新細明體" pitchFamily="18" charset="-120"/>
            </a:endParaRPr>
          </a:p>
        </p:txBody>
      </p:sp>
      <p:sp>
        <p:nvSpPr>
          <p:cNvPr id="27653" name="Text Box 117"/>
          <p:cNvSpPr txBox="1">
            <a:spLocks noChangeArrowheads="1"/>
          </p:cNvSpPr>
          <p:nvPr/>
        </p:nvSpPr>
        <p:spPr bwMode="auto">
          <a:xfrm>
            <a:off x="179388" y="1412875"/>
            <a:ext cx="1223962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>
                <a:ea typeface="新細明體" pitchFamily="18" charset="-120"/>
              </a:rPr>
              <a:t>the root vertex</a:t>
            </a:r>
          </a:p>
        </p:txBody>
      </p:sp>
      <p:sp>
        <p:nvSpPr>
          <p:cNvPr id="27654" name="Line 118"/>
          <p:cNvSpPr>
            <a:spLocks noChangeShapeType="1"/>
          </p:cNvSpPr>
          <p:nvPr/>
        </p:nvSpPr>
        <p:spPr bwMode="auto">
          <a:xfrm>
            <a:off x="1331913" y="1916113"/>
            <a:ext cx="792162" cy="433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2526" name="Group 62"/>
          <p:cNvGraphicFramePr>
            <a:graphicFrameLocks noGrp="1"/>
          </p:cNvGraphicFramePr>
          <p:nvPr/>
        </p:nvGraphicFramePr>
        <p:xfrm>
          <a:off x="869950" y="4184650"/>
          <a:ext cx="7031038" cy="1828800"/>
        </p:xfrm>
        <a:graphic>
          <a:graphicData uri="http://schemas.openxmlformats.org/drawingml/2006/table">
            <a:tbl>
              <a:tblPr/>
              <a:tblGrid>
                <a:gridCol w="709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3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8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32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32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Key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712" name="Line 119"/>
          <p:cNvSpPr>
            <a:spLocks noChangeShapeType="1"/>
          </p:cNvSpPr>
          <p:nvPr/>
        </p:nvSpPr>
        <p:spPr bwMode="auto">
          <a:xfrm flipV="1">
            <a:off x="2638425" y="6056313"/>
            <a:ext cx="0" cy="4794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24816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3"/>
          <p:cNvSpPr txBox="1">
            <a:spLocks noGrp="1"/>
          </p:cNvSpPr>
          <p:nvPr/>
        </p:nvSpPr>
        <p:spPr bwMode="auto">
          <a:xfrm>
            <a:off x="6553200" y="6397625"/>
            <a:ext cx="213360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9A690C39-EA6D-4CD1-B4D7-D8DE821452F8}" type="slidenum">
              <a:rPr lang="zh-TW" altLang="en-US" sz="1400">
                <a:ea typeface="新細明體" pitchFamily="18" charset="-120"/>
              </a:rPr>
              <a:pPr algn="r"/>
              <a:t>65</a:t>
            </a:fld>
            <a:endParaRPr lang="en-US" altLang="zh-TW" sz="1400">
              <a:ea typeface="新細明體" pitchFamily="18" charset="-120"/>
            </a:endParaRPr>
          </a:p>
        </p:txBody>
      </p:sp>
      <p:sp>
        <p:nvSpPr>
          <p:cNvPr id="28675" name="Text Box 116"/>
          <p:cNvSpPr txBox="1">
            <a:spLocks noChangeArrowheads="1"/>
          </p:cNvSpPr>
          <p:nvPr/>
        </p:nvSpPr>
        <p:spPr bwMode="auto">
          <a:xfrm>
            <a:off x="609600" y="152400"/>
            <a:ext cx="7848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3200" dirty="0">
                <a:ea typeface="新細明體" pitchFamily="18" charset="-120"/>
              </a:rPr>
              <a:t>The execution of Prim's algorithm</a:t>
            </a:r>
            <a:endParaRPr lang="en-US" altLang="zh-TW" sz="2000" dirty="0">
              <a:ea typeface="新細明體" pitchFamily="18" charset="-120"/>
            </a:endParaRPr>
          </a:p>
        </p:txBody>
      </p:sp>
      <p:sp>
        <p:nvSpPr>
          <p:cNvPr id="28676" name="Text Box 117"/>
          <p:cNvSpPr txBox="1">
            <a:spLocks noChangeArrowheads="1"/>
          </p:cNvSpPr>
          <p:nvPr/>
        </p:nvSpPr>
        <p:spPr bwMode="auto">
          <a:xfrm>
            <a:off x="179388" y="1412875"/>
            <a:ext cx="1223962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>
                <a:ea typeface="新細明體" pitchFamily="18" charset="-120"/>
              </a:rPr>
              <a:t>the root vertex</a:t>
            </a:r>
          </a:p>
        </p:txBody>
      </p:sp>
      <p:sp>
        <p:nvSpPr>
          <p:cNvPr id="28677" name="Line 118"/>
          <p:cNvSpPr>
            <a:spLocks noChangeShapeType="1"/>
          </p:cNvSpPr>
          <p:nvPr/>
        </p:nvSpPr>
        <p:spPr bwMode="auto">
          <a:xfrm>
            <a:off x="1331913" y="1916113"/>
            <a:ext cx="792162" cy="433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3550" name="Group 62"/>
          <p:cNvGraphicFramePr>
            <a:graphicFrameLocks noGrp="1"/>
          </p:cNvGraphicFramePr>
          <p:nvPr/>
        </p:nvGraphicFramePr>
        <p:xfrm>
          <a:off x="869950" y="4184650"/>
          <a:ext cx="7031038" cy="1828800"/>
        </p:xfrm>
        <a:graphic>
          <a:graphicData uri="http://schemas.openxmlformats.org/drawingml/2006/table">
            <a:tbl>
              <a:tblPr/>
              <a:tblGrid>
                <a:gridCol w="709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3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8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32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32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Key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" name="Group 60"/>
          <p:cNvGrpSpPr>
            <a:grpSpLocks/>
          </p:cNvGrpSpPr>
          <p:nvPr/>
        </p:nvGrpSpPr>
        <p:grpSpPr bwMode="auto">
          <a:xfrm>
            <a:off x="2205038" y="1093788"/>
            <a:ext cx="4625975" cy="2527300"/>
            <a:chOff x="1429" y="2643"/>
            <a:chExt cx="2914" cy="1592"/>
          </a:xfrm>
        </p:grpSpPr>
        <p:grpSp>
          <p:nvGrpSpPr>
            <p:cNvPr id="3" name="Group 61"/>
            <p:cNvGrpSpPr>
              <a:grpSpLocks/>
            </p:cNvGrpSpPr>
            <p:nvPr/>
          </p:nvGrpSpPr>
          <p:grpSpPr bwMode="auto">
            <a:xfrm>
              <a:off x="1429" y="3370"/>
              <a:ext cx="205" cy="250"/>
              <a:chOff x="2368" y="1750"/>
              <a:chExt cx="205" cy="250"/>
            </a:xfrm>
          </p:grpSpPr>
          <p:sp>
            <p:nvSpPr>
              <p:cNvPr id="28791" name="Text Box 6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a</a:t>
                </a:r>
              </a:p>
            </p:txBody>
          </p:sp>
          <p:sp>
            <p:nvSpPr>
              <p:cNvPr id="28792" name="Oval 6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64"/>
            <p:cNvGrpSpPr>
              <a:grpSpLocks/>
            </p:cNvGrpSpPr>
            <p:nvPr/>
          </p:nvGrpSpPr>
          <p:grpSpPr bwMode="auto">
            <a:xfrm>
              <a:off x="1928" y="2871"/>
              <a:ext cx="205" cy="250"/>
              <a:chOff x="2368" y="1750"/>
              <a:chExt cx="205" cy="250"/>
            </a:xfrm>
          </p:grpSpPr>
          <p:sp>
            <p:nvSpPr>
              <p:cNvPr id="28789" name="Text Box 6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b</a:t>
                </a:r>
              </a:p>
            </p:txBody>
          </p:sp>
          <p:sp>
            <p:nvSpPr>
              <p:cNvPr id="28790" name="Oval 6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67"/>
            <p:cNvGrpSpPr>
              <a:grpSpLocks/>
            </p:cNvGrpSpPr>
            <p:nvPr/>
          </p:nvGrpSpPr>
          <p:grpSpPr bwMode="auto">
            <a:xfrm>
              <a:off x="1928" y="3860"/>
              <a:ext cx="205" cy="250"/>
              <a:chOff x="2368" y="1750"/>
              <a:chExt cx="205" cy="250"/>
            </a:xfrm>
          </p:grpSpPr>
          <p:sp>
            <p:nvSpPr>
              <p:cNvPr id="28787" name="Text Box 6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h</a:t>
                </a:r>
              </a:p>
            </p:txBody>
          </p:sp>
          <p:sp>
            <p:nvSpPr>
              <p:cNvPr id="28788" name="Oval 6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" name="Group 70"/>
            <p:cNvGrpSpPr>
              <a:grpSpLocks/>
            </p:cNvGrpSpPr>
            <p:nvPr/>
          </p:nvGrpSpPr>
          <p:grpSpPr bwMode="auto">
            <a:xfrm>
              <a:off x="2778" y="2840"/>
              <a:ext cx="196" cy="250"/>
              <a:chOff x="2368" y="1750"/>
              <a:chExt cx="196" cy="250"/>
            </a:xfrm>
          </p:grpSpPr>
          <p:sp>
            <p:nvSpPr>
              <p:cNvPr id="28785" name="Text Box 7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c</a:t>
                </a:r>
              </a:p>
            </p:txBody>
          </p:sp>
          <p:sp>
            <p:nvSpPr>
              <p:cNvPr id="28786" name="Oval 7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" name="Group 73"/>
            <p:cNvGrpSpPr>
              <a:grpSpLocks/>
            </p:cNvGrpSpPr>
            <p:nvPr/>
          </p:nvGrpSpPr>
          <p:grpSpPr bwMode="auto">
            <a:xfrm>
              <a:off x="3592" y="2840"/>
              <a:ext cx="205" cy="250"/>
              <a:chOff x="2368" y="1750"/>
              <a:chExt cx="205" cy="250"/>
            </a:xfrm>
          </p:grpSpPr>
          <p:sp>
            <p:nvSpPr>
              <p:cNvPr id="28783" name="Text Box 7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d</a:t>
                </a:r>
              </a:p>
            </p:txBody>
          </p:sp>
          <p:sp>
            <p:nvSpPr>
              <p:cNvPr id="28784" name="Oval 7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" name="Group 76"/>
            <p:cNvGrpSpPr>
              <a:grpSpLocks/>
            </p:cNvGrpSpPr>
            <p:nvPr/>
          </p:nvGrpSpPr>
          <p:grpSpPr bwMode="auto">
            <a:xfrm>
              <a:off x="4138" y="3339"/>
              <a:ext cx="205" cy="250"/>
              <a:chOff x="2368" y="1750"/>
              <a:chExt cx="205" cy="250"/>
            </a:xfrm>
          </p:grpSpPr>
          <p:sp>
            <p:nvSpPr>
              <p:cNvPr id="28781" name="Text Box 7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e</a:t>
                </a:r>
              </a:p>
            </p:txBody>
          </p:sp>
          <p:sp>
            <p:nvSpPr>
              <p:cNvPr id="28782" name="Oval 7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9" name="Group 79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28779" name="Text Box 80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f</a:t>
                </a:r>
              </a:p>
            </p:txBody>
          </p:sp>
          <p:sp>
            <p:nvSpPr>
              <p:cNvPr id="28780" name="Oval 81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" name="Group 82"/>
            <p:cNvGrpSpPr>
              <a:grpSpLocks/>
            </p:cNvGrpSpPr>
            <p:nvPr/>
          </p:nvGrpSpPr>
          <p:grpSpPr bwMode="auto">
            <a:xfrm>
              <a:off x="2776" y="3860"/>
              <a:ext cx="205" cy="250"/>
              <a:chOff x="2368" y="1750"/>
              <a:chExt cx="205" cy="250"/>
            </a:xfrm>
          </p:grpSpPr>
          <p:sp>
            <p:nvSpPr>
              <p:cNvPr id="28777" name="Text Box 83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g</a:t>
                </a:r>
              </a:p>
            </p:txBody>
          </p:sp>
          <p:sp>
            <p:nvSpPr>
              <p:cNvPr id="28778" name="Oval 84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" name="Group 85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28775" name="Text Box 86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i</a:t>
                </a:r>
              </a:p>
            </p:txBody>
          </p:sp>
          <p:sp>
            <p:nvSpPr>
              <p:cNvPr id="28776" name="Oval 87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8747" name="Line 88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48" name="Line 89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49" name="Line 90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50" name="Line 91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51" name="Line 92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52" name="Line 93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53" name="Line 94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54" name="Line 95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55" name="Line 96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56" name="Line 97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57" name="Line 98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58" name="Line 99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59" name="Line 100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60" name="Line 101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61" name="Text Box 102"/>
            <p:cNvSpPr txBox="1">
              <a:spLocks noChangeArrowheads="1"/>
            </p:cNvSpPr>
            <p:nvPr/>
          </p:nvSpPr>
          <p:spPr bwMode="auto">
            <a:xfrm>
              <a:off x="1565" y="2976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4</a:t>
              </a:r>
            </a:p>
          </p:txBody>
        </p:sp>
        <p:sp>
          <p:nvSpPr>
            <p:cNvPr id="28762" name="Text Box 103"/>
            <p:cNvSpPr txBox="1">
              <a:spLocks noChangeArrowheads="1"/>
            </p:cNvSpPr>
            <p:nvPr/>
          </p:nvSpPr>
          <p:spPr bwMode="auto">
            <a:xfrm>
              <a:off x="2324" y="2643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8</a:t>
              </a:r>
            </a:p>
          </p:txBody>
        </p:sp>
        <p:sp>
          <p:nvSpPr>
            <p:cNvPr id="28763" name="Text Box 104"/>
            <p:cNvSpPr txBox="1">
              <a:spLocks noChangeArrowheads="1"/>
            </p:cNvSpPr>
            <p:nvPr/>
          </p:nvSpPr>
          <p:spPr bwMode="auto">
            <a:xfrm>
              <a:off x="3168" y="2643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7</a:t>
              </a:r>
            </a:p>
          </p:txBody>
        </p:sp>
        <p:sp>
          <p:nvSpPr>
            <p:cNvPr id="28764" name="Text Box 105"/>
            <p:cNvSpPr txBox="1">
              <a:spLocks noChangeArrowheads="1"/>
            </p:cNvSpPr>
            <p:nvPr/>
          </p:nvSpPr>
          <p:spPr bwMode="auto">
            <a:xfrm>
              <a:off x="4002" y="2898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9</a:t>
              </a:r>
            </a:p>
          </p:txBody>
        </p:sp>
        <p:sp>
          <p:nvSpPr>
            <p:cNvPr id="28765" name="Text Box 106"/>
            <p:cNvSpPr txBox="1">
              <a:spLocks noChangeArrowheads="1"/>
            </p:cNvSpPr>
            <p:nvPr/>
          </p:nvSpPr>
          <p:spPr bwMode="auto">
            <a:xfrm>
              <a:off x="3970" y="3657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10</a:t>
              </a:r>
            </a:p>
          </p:txBody>
        </p:sp>
        <p:sp>
          <p:nvSpPr>
            <p:cNvPr id="28766" name="Text Box 107"/>
            <p:cNvSpPr txBox="1">
              <a:spLocks noChangeArrowheads="1"/>
            </p:cNvSpPr>
            <p:nvPr/>
          </p:nvSpPr>
          <p:spPr bwMode="auto">
            <a:xfrm>
              <a:off x="3652" y="3339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14</a:t>
              </a:r>
            </a:p>
          </p:txBody>
        </p:sp>
        <p:sp>
          <p:nvSpPr>
            <p:cNvPr id="28767" name="Text Box 108"/>
            <p:cNvSpPr txBox="1">
              <a:spLocks noChangeArrowheads="1"/>
            </p:cNvSpPr>
            <p:nvPr/>
          </p:nvSpPr>
          <p:spPr bwMode="auto">
            <a:xfrm>
              <a:off x="3017" y="3414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4</a:t>
              </a:r>
            </a:p>
          </p:txBody>
        </p:sp>
        <p:sp>
          <p:nvSpPr>
            <p:cNvPr id="28768" name="Text Box 109"/>
            <p:cNvSpPr txBox="1">
              <a:spLocks noChangeArrowheads="1"/>
            </p:cNvSpPr>
            <p:nvPr/>
          </p:nvSpPr>
          <p:spPr bwMode="auto">
            <a:xfrm>
              <a:off x="2624" y="3187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2</a:t>
              </a:r>
            </a:p>
          </p:txBody>
        </p:sp>
        <p:sp>
          <p:nvSpPr>
            <p:cNvPr id="28769" name="Text Box 110"/>
            <p:cNvSpPr txBox="1">
              <a:spLocks noChangeArrowheads="1"/>
            </p:cNvSpPr>
            <p:nvPr/>
          </p:nvSpPr>
          <p:spPr bwMode="auto">
            <a:xfrm>
              <a:off x="3198" y="4004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2</a:t>
              </a:r>
            </a:p>
          </p:txBody>
        </p:sp>
        <p:sp>
          <p:nvSpPr>
            <p:cNvPr id="28770" name="Text Box 111"/>
            <p:cNvSpPr txBox="1">
              <a:spLocks noChangeArrowheads="1"/>
            </p:cNvSpPr>
            <p:nvPr/>
          </p:nvSpPr>
          <p:spPr bwMode="auto">
            <a:xfrm>
              <a:off x="2641" y="3533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6</a:t>
              </a:r>
            </a:p>
          </p:txBody>
        </p:sp>
        <p:sp>
          <p:nvSpPr>
            <p:cNvPr id="28771" name="Text Box 112"/>
            <p:cNvSpPr txBox="1">
              <a:spLocks noChangeArrowheads="1"/>
            </p:cNvSpPr>
            <p:nvPr/>
          </p:nvSpPr>
          <p:spPr bwMode="auto">
            <a:xfrm>
              <a:off x="2369" y="4004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1</a:t>
              </a:r>
            </a:p>
          </p:txBody>
        </p:sp>
        <p:sp>
          <p:nvSpPr>
            <p:cNvPr id="28772" name="Text Box 113"/>
            <p:cNvSpPr txBox="1">
              <a:spLocks noChangeArrowheads="1"/>
            </p:cNvSpPr>
            <p:nvPr/>
          </p:nvSpPr>
          <p:spPr bwMode="auto">
            <a:xfrm>
              <a:off x="2097" y="3533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7</a:t>
              </a:r>
            </a:p>
          </p:txBody>
        </p:sp>
        <p:sp>
          <p:nvSpPr>
            <p:cNvPr id="28773" name="Text Box 114"/>
            <p:cNvSpPr txBox="1">
              <a:spLocks noChangeArrowheads="1"/>
            </p:cNvSpPr>
            <p:nvPr/>
          </p:nvSpPr>
          <p:spPr bwMode="auto">
            <a:xfrm>
              <a:off x="1747" y="3323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11</a:t>
              </a:r>
            </a:p>
          </p:txBody>
        </p:sp>
        <p:sp>
          <p:nvSpPr>
            <p:cNvPr id="28774" name="Text Box 115"/>
            <p:cNvSpPr txBox="1">
              <a:spLocks noChangeArrowheads="1"/>
            </p:cNvSpPr>
            <p:nvPr/>
          </p:nvSpPr>
          <p:spPr bwMode="auto">
            <a:xfrm>
              <a:off x="1565" y="3731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8</a:t>
              </a:r>
            </a:p>
          </p:txBody>
        </p:sp>
      </p:grpSp>
      <p:sp>
        <p:nvSpPr>
          <p:cNvPr id="28736" name="Line 175"/>
          <p:cNvSpPr>
            <a:spLocks noChangeShapeType="1"/>
          </p:cNvSpPr>
          <p:nvPr/>
        </p:nvSpPr>
        <p:spPr bwMode="auto">
          <a:xfrm flipV="1">
            <a:off x="3327400" y="6056313"/>
            <a:ext cx="0" cy="4794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8737" name="Text Box 117"/>
          <p:cNvSpPr txBox="1">
            <a:spLocks noChangeArrowheads="1"/>
          </p:cNvSpPr>
          <p:nvPr/>
        </p:nvSpPr>
        <p:spPr bwMode="auto">
          <a:xfrm>
            <a:off x="2717801" y="3662362"/>
            <a:ext cx="6426200" cy="37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b="1" dirty="0">
                <a:solidFill>
                  <a:srgbClr val="DD0111"/>
                </a:solidFill>
                <a:ea typeface="新細明體" pitchFamily="18" charset="-120"/>
              </a:rPr>
              <a:t>Important: </a:t>
            </a:r>
            <a:r>
              <a:rPr lang="en-US" altLang="zh-TW" dirty="0">
                <a:solidFill>
                  <a:srgbClr val="0000FF"/>
                </a:solidFill>
                <a:ea typeface="新細明體" pitchFamily="18" charset="-120"/>
              </a:rPr>
              <a:t>Update Key[v] only if T[v]==0</a:t>
            </a:r>
          </a:p>
        </p:txBody>
      </p:sp>
    </p:spTree>
    <p:extLst>
      <p:ext uri="{BB962C8B-B14F-4D97-AF65-F5344CB8AC3E}">
        <p14:creationId xmlns:p14="http://schemas.microsoft.com/office/powerpoint/2010/main" val="329843271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3"/>
          <p:cNvSpPr txBox="1">
            <a:spLocks noGrp="1"/>
          </p:cNvSpPr>
          <p:nvPr/>
        </p:nvSpPr>
        <p:spPr bwMode="auto">
          <a:xfrm>
            <a:off x="6553200" y="6397625"/>
            <a:ext cx="213360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06481BB6-174F-4DB3-8AF3-BD4A5E8D09BA}" type="slidenum">
              <a:rPr lang="zh-TW" altLang="en-US" sz="1400">
                <a:ea typeface="新細明體" pitchFamily="18" charset="-120"/>
              </a:rPr>
              <a:pPr algn="r"/>
              <a:t>66</a:t>
            </a:fld>
            <a:endParaRPr lang="en-US" altLang="zh-TW" sz="1400">
              <a:ea typeface="新細明體" pitchFamily="18" charset="-120"/>
            </a:endParaRPr>
          </a:p>
        </p:txBody>
      </p:sp>
      <p:sp>
        <p:nvSpPr>
          <p:cNvPr id="29699" name="Text Box 116"/>
          <p:cNvSpPr txBox="1">
            <a:spLocks noChangeArrowheads="1"/>
          </p:cNvSpPr>
          <p:nvPr/>
        </p:nvSpPr>
        <p:spPr bwMode="auto">
          <a:xfrm>
            <a:off x="609600" y="152400"/>
            <a:ext cx="7848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3200" dirty="0">
                <a:ea typeface="新細明體" pitchFamily="18" charset="-120"/>
              </a:rPr>
              <a:t>The execution of Prim's algorithm</a:t>
            </a:r>
            <a:endParaRPr lang="en-US" altLang="zh-TW" sz="2000" dirty="0">
              <a:ea typeface="新細明體" pitchFamily="18" charset="-120"/>
            </a:endParaRPr>
          </a:p>
        </p:txBody>
      </p:sp>
      <p:sp>
        <p:nvSpPr>
          <p:cNvPr id="29700" name="Text Box 117"/>
          <p:cNvSpPr txBox="1">
            <a:spLocks noChangeArrowheads="1"/>
          </p:cNvSpPr>
          <p:nvPr/>
        </p:nvSpPr>
        <p:spPr bwMode="auto">
          <a:xfrm>
            <a:off x="179388" y="1412875"/>
            <a:ext cx="1223962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>
                <a:ea typeface="新細明體" pitchFamily="18" charset="-120"/>
              </a:rPr>
              <a:t>the root vertex</a:t>
            </a:r>
          </a:p>
        </p:txBody>
      </p:sp>
      <p:sp>
        <p:nvSpPr>
          <p:cNvPr id="29701" name="Line 118"/>
          <p:cNvSpPr>
            <a:spLocks noChangeShapeType="1"/>
          </p:cNvSpPr>
          <p:nvPr/>
        </p:nvSpPr>
        <p:spPr bwMode="auto">
          <a:xfrm>
            <a:off x="1331913" y="1916113"/>
            <a:ext cx="792162" cy="433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4518" name="Group 6"/>
          <p:cNvGraphicFramePr>
            <a:graphicFrameLocks noGrp="1"/>
          </p:cNvGraphicFramePr>
          <p:nvPr/>
        </p:nvGraphicFramePr>
        <p:xfrm>
          <a:off x="869950" y="4184650"/>
          <a:ext cx="7031038" cy="1828800"/>
        </p:xfrm>
        <a:graphic>
          <a:graphicData uri="http://schemas.openxmlformats.org/drawingml/2006/table">
            <a:tbl>
              <a:tblPr/>
              <a:tblGrid>
                <a:gridCol w="709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3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8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32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32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Key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193925" y="1106488"/>
            <a:ext cx="4625975" cy="2527300"/>
            <a:chOff x="1429" y="2643"/>
            <a:chExt cx="2914" cy="1592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1429" y="3370"/>
              <a:ext cx="205" cy="250"/>
              <a:chOff x="2368" y="1750"/>
              <a:chExt cx="205" cy="250"/>
            </a:xfrm>
          </p:grpSpPr>
          <p:sp>
            <p:nvSpPr>
              <p:cNvPr id="29814" name="Text Box 6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a</a:t>
                </a:r>
              </a:p>
            </p:txBody>
          </p:sp>
          <p:sp>
            <p:nvSpPr>
              <p:cNvPr id="29815" name="Oval 7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1928" y="2871"/>
              <a:ext cx="205" cy="250"/>
              <a:chOff x="2368" y="1750"/>
              <a:chExt cx="205" cy="250"/>
            </a:xfrm>
          </p:grpSpPr>
          <p:sp>
            <p:nvSpPr>
              <p:cNvPr id="29812" name="Text Box 9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b</a:t>
                </a:r>
              </a:p>
            </p:txBody>
          </p:sp>
          <p:sp>
            <p:nvSpPr>
              <p:cNvPr id="29813" name="Oval 10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1928" y="3860"/>
              <a:ext cx="205" cy="250"/>
              <a:chOff x="2368" y="1750"/>
              <a:chExt cx="205" cy="250"/>
            </a:xfrm>
          </p:grpSpPr>
          <p:sp>
            <p:nvSpPr>
              <p:cNvPr id="29810" name="Text Box 1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h</a:t>
                </a:r>
              </a:p>
            </p:txBody>
          </p:sp>
          <p:sp>
            <p:nvSpPr>
              <p:cNvPr id="29811" name="Oval 1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" name="Group 14"/>
            <p:cNvGrpSpPr>
              <a:grpSpLocks/>
            </p:cNvGrpSpPr>
            <p:nvPr/>
          </p:nvGrpSpPr>
          <p:grpSpPr bwMode="auto">
            <a:xfrm>
              <a:off x="2778" y="2840"/>
              <a:ext cx="196" cy="250"/>
              <a:chOff x="2368" y="1750"/>
              <a:chExt cx="196" cy="250"/>
            </a:xfrm>
          </p:grpSpPr>
          <p:sp>
            <p:nvSpPr>
              <p:cNvPr id="29808" name="Text Box 1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c</a:t>
                </a:r>
              </a:p>
            </p:txBody>
          </p:sp>
          <p:sp>
            <p:nvSpPr>
              <p:cNvPr id="29809" name="Oval 1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" name="Group 17"/>
            <p:cNvGrpSpPr>
              <a:grpSpLocks/>
            </p:cNvGrpSpPr>
            <p:nvPr/>
          </p:nvGrpSpPr>
          <p:grpSpPr bwMode="auto">
            <a:xfrm>
              <a:off x="3592" y="2840"/>
              <a:ext cx="205" cy="250"/>
              <a:chOff x="2368" y="1750"/>
              <a:chExt cx="205" cy="250"/>
            </a:xfrm>
          </p:grpSpPr>
          <p:sp>
            <p:nvSpPr>
              <p:cNvPr id="29806" name="Text Box 1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d</a:t>
                </a:r>
              </a:p>
            </p:txBody>
          </p:sp>
          <p:sp>
            <p:nvSpPr>
              <p:cNvPr id="29807" name="Oval 1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" name="Group 20"/>
            <p:cNvGrpSpPr>
              <a:grpSpLocks/>
            </p:cNvGrpSpPr>
            <p:nvPr/>
          </p:nvGrpSpPr>
          <p:grpSpPr bwMode="auto">
            <a:xfrm>
              <a:off x="4138" y="3339"/>
              <a:ext cx="205" cy="250"/>
              <a:chOff x="2368" y="1750"/>
              <a:chExt cx="205" cy="250"/>
            </a:xfrm>
          </p:grpSpPr>
          <p:sp>
            <p:nvSpPr>
              <p:cNvPr id="29804" name="Text Box 2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e</a:t>
                </a:r>
              </a:p>
            </p:txBody>
          </p:sp>
          <p:sp>
            <p:nvSpPr>
              <p:cNvPr id="29805" name="Oval 2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9" name="Group 23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29802" name="Text Box 2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f</a:t>
                </a:r>
              </a:p>
            </p:txBody>
          </p:sp>
          <p:sp>
            <p:nvSpPr>
              <p:cNvPr id="29803" name="Oval 2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" name="Group 26"/>
            <p:cNvGrpSpPr>
              <a:grpSpLocks/>
            </p:cNvGrpSpPr>
            <p:nvPr/>
          </p:nvGrpSpPr>
          <p:grpSpPr bwMode="auto">
            <a:xfrm>
              <a:off x="2776" y="3860"/>
              <a:ext cx="205" cy="250"/>
              <a:chOff x="2368" y="1750"/>
              <a:chExt cx="205" cy="250"/>
            </a:xfrm>
          </p:grpSpPr>
          <p:sp>
            <p:nvSpPr>
              <p:cNvPr id="29800" name="Text Box 2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g</a:t>
                </a:r>
              </a:p>
            </p:txBody>
          </p:sp>
          <p:sp>
            <p:nvSpPr>
              <p:cNvPr id="29801" name="Oval 2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" name="Group 29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29798" name="Text Box 30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i</a:t>
                </a:r>
              </a:p>
            </p:txBody>
          </p:sp>
          <p:sp>
            <p:nvSpPr>
              <p:cNvPr id="29799" name="Oval 31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9770" name="Line 32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71" name="Line 33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72" name="Line 34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73" name="Line 35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74" name="Line 36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75" name="Line 37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76" name="Line 38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77" name="Line 39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78" name="Line 40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79" name="Line 41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80" name="Line 42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81" name="Line 43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82" name="Line 44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83" name="Line 45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84" name="Text Box 46"/>
            <p:cNvSpPr txBox="1">
              <a:spLocks noChangeArrowheads="1"/>
            </p:cNvSpPr>
            <p:nvPr/>
          </p:nvSpPr>
          <p:spPr bwMode="auto">
            <a:xfrm>
              <a:off x="1565" y="2976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4</a:t>
              </a:r>
            </a:p>
          </p:txBody>
        </p:sp>
        <p:sp>
          <p:nvSpPr>
            <p:cNvPr id="29785" name="Text Box 47"/>
            <p:cNvSpPr txBox="1">
              <a:spLocks noChangeArrowheads="1"/>
            </p:cNvSpPr>
            <p:nvPr/>
          </p:nvSpPr>
          <p:spPr bwMode="auto">
            <a:xfrm>
              <a:off x="2324" y="2643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8</a:t>
              </a:r>
            </a:p>
          </p:txBody>
        </p:sp>
        <p:sp>
          <p:nvSpPr>
            <p:cNvPr id="29786" name="Text Box 48"/>
            <p:cNvSpPr txBox="1">
              <a:spLocks noChangeArrowheads="1"/>
            </p:cNvSpPr>
            <p:nvPr/>
          </p:nvSpPr>
          <p:spPr bwMode="auto">
            <a:xfrm>
              <a:off x="3168" y="2643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7</a:t>
              </a:r>
            </a:p>
          </p:txBody>
        </p:sp>
        <p:sp>
          <p:nvSpPr>
            <p:cNvPr id="29787" name="Text Box 49"/>
            <p:cNvSpPr txBox="1">
              <a:spLocks noChangeArrowheads="1"/>
            </p:cNvSpPr>
            <p:nvPr/>
          </p:nvSpPr>
          <p:spPr bwMode="auto">
            <a:xfrm>
              <a:off x="4002" y="2898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9</a:t>
              </a:r>
            </a:p>
          </p:txBody>
        </p:sp>
        <p:sp>
          <p:nvSpPr>
            <p:cNvPr id="29788" name="Text Box 50"/>
            <p:cNvSpPr txBox="1">
              <a:spLocks noChangeArrowheads="1"/>
            </p:cNvSpPr>
            <p:nvPr/>
          </p:nvSpPr>
          <p:spPr bwMode="auto">
            <a:xfrm>
              <a:off x="3970" y="3657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10</a:t>
              </a:r>
            </a:p>
          </p:txBody>
        </p:sp>
        <p:sp>
          <p:nvSpPr>
            <p:cNvPr id="29789" name="Text Box 51"/>
            <p:cNvSpPr txBox="1">
              <a:spLocks noChangeArrowheads="1"/>
            </p:cNvSpPr>
            <p:nvPr/>
          </p:nvSpPr>
          <p:spPr bwMode="auto">
            <a:xfrm>
              <a:off x="3652" y="3339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14</a:t>
              </a:r>
            </a:p>
          </p:txBody>
        </p:sp>
        <p:sp>
          <p:nvSpPr>
            <p:cNvPr id="29790" name="Text Box 52"/>
            <p:cNvSpPr txBox="1">
              <a:spLocks noChangeArrowheads="1"/>
            </p:cNvSpPr>
            <p:nvPr/>
          </p:nvSpPr>
          <p:spPr bwMode="auto">
            <a:xfrm>
              <a:off x="3017" y="3414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4</a:t>
              </a:r>
            </a:p>
          </p:txBody>
        </p:sp>
        <p:sp>
          <p:nvSpPr>
            <p:cNvPr id="29791" name="Text Box 53"/>
            <p:cNvSpPr txBox="1">
              <a:spLocks noChangeArrowheads="1"/>
            </p:cNvSpPr>
            <p:nvPr/>
          </p:nvSpPr>
          <p:spPr bwMode="auto">
            <a:xfrm>
              <a:off x="2624" y="3187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2</a:t>
              </a:r>
            </a:p>
          </p:txBody>
        </p:sp>
        <p:sp>
          <p:nvSpPr>
            <p:cNvPr id="29792" name="Text Box 54"/>
            <p:cNvSpPr txBox="1">
              <a:spLocks noChangeArrowheads="1"/>
            </p:cNvSpPr>
            <p:nvPr/>
          </p:nvSpPr>
          <p:spPr bwMode="auto">
            <a:xfrm>
              <a:off x="3198" y="4004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2</a:t>
              </a:r>
            </a:p>
          </p:txBody>
        </p:sp>
        <p:sp>
          <p:nvSpPr>
            <p:cNvPr id="29793" name="Text Box 55"/>
            <p:cNvSpPr txBox="1">
              <a:spLocks noChangeArrowheads="1"/>
            </p:cNvSpPr>
            <p:nvPr/>
          </p:nvSpPr>
          <p:spPr bwMode="auto">
            <a:xfrm>
              <a:off x="2641" y="3533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6</a:t>
              </a:r>
            </a:p>
          </p:txBody>
        </p:sp>
        <p:sp>
          <p:nvSpPr>
            <p:cNvPr id="29794" name="Text Box 56"/>
            <p:cNvSpPr txBox="1">
              <a:spLocks noChangeArrowheads="1"/>
            </p:cNvSpPr>
            <p:nvPr/>
          </p:nvSpPr>
          <p:spPr bwMode="auto">
            <a:xfrm>
              <a:off x="2369" y="4004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1</a:t>
              </a:r>
            </a:p>
          </p:txBody>
        </p:sp>
        <p:sp>
          <p:nvSpPr>
            <p:cNvPr id="29795" name="Text Box 57"/>
            <p:cNvSpPr txBox="1">
              <a:spLocks noChangeArrowheads="1"/>
            </p:cNvSpPr>
            <p:nvPr/>
          </p:nvSpPr>
          <p:spPr bwMode="auto">
            <a:xfrm>
              <a:off x="2097" y="3533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7</a:t>
              </a:r>
            </a:p>
          </p:txBody>
        </p:sp>
        <p:sp>
          <p:nvSpPr>
            <p:cNvPr id="29796" name="Text Box 58"/>
            <p:cNvSpPr txBox="1">
              <a:spLocks noChangeArrowheads="1"/>
            </p:cNvSpPr>
            <p:nvPr/>
          </p:nvSpPr>
          <p:spPr bwMode="auto">
            <a:xfrm>
              <a:off x="1747" y="3323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11</a:t>
              </a:r>
            </a:p>
          </p:txBody>
        </p:sp>
        <p:sp>
          <p:nvSpPr>
            <p:cNvPr id="29797" name="Text Box 59"/>
            <p:cNvSpPr txBox="1">
              <a:spLocks noChangeArrowheads="1"/>
            </p:cNvSpPr>
            <p:nvPr/>
          </p:nvSpPr>
          <p:spPr bwMode="auto">
            <a:xfrm>
              <a:off x="1565" y="3731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8</a:t>
              </a:r>
            </a:p>
          </p:txBody>
        </p:sp>
      </p:grpSp>
      <p:sp>
        <p:nvSpPr>
          <p:cNvPr id="29760" name="Line 176"/>
          <p:cNvSpPr>
            <a:spLocks noChangeShapeType="1"/>
          </p:cNvSpPr>
          <p:nvPr/>
        </p:nvSpPr>
        <p:spPr bwMode="auto">
          <a:xfrm flipV="1">
            <a:off x="7554913" y="6056313"/>
            <a:ext cx="0" cy="4794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57216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3"/>
          <p:cNvSpPr txBox="1">
            <a:spLocks noGrp="1"/>
          </p:cNvSpPr>
          <p:nvPr/>
        </p:nvSpPr>
        <p:spPr bwMode="auto">
          <a:xfrm>
            <a:off x="6553200" y="6397625"/>
            <a:ext cx="213360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FF613643-A05B-4CC6-BF4F-F5F50AA077D6}" type="slidenum">
              <a:rPr lang="zh-TW" altLang="en-US" sz="1400">
                <a:ea typeface="新細明體" pitchFamily="18" charset="-120"/>
              </a:rPr>
              <a:pPr algn="r"/>
              <a:t>67</a:t>
            </a:fld>
            <a:endParaRPr lang="en-US" altLang="zh-TW" sz="1400">
              <a:ea typeface="新細明體" pitchFamily="18" charset="-120"/>
            </a:endParaRPr>
          </a:p>
        </p:txBody>
      </p:sp>
      <p:sp>
        <p:nvSpPr>
          <p:cNvPr id="30723" name="Text Box 116"/>
          <p:cNvSpPr txBox="1">
            <a:spLocks noChangeArrowheads="1"/>
          </p:cNvSpPr>
          <p:nvPr/>
        </p:nvSpPr>
        <p:spPr bwMode="auto">
          <a:xfrm>
            <a:off x="609600" y="152400"/>
            <a:ext cx="78486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3200" dirty="0">
                <a:ea typeface="新細明體" pitchFamily="18" charset="-120"/>
              </a:rPr>
              <a:t>The execution of Prim's algorithm</a:t>
            </a:r>
            <a:endParaRPr lang="en-US" altLang="zh-TW" sz="2000" dirty="0">
              <a:ea typeface="新細明體" pitchFamily="18" charset="-120"/>
            </a:endParaRPr>
          </a:p>
        </p:txBody>
      </p:sp>
      <p:sp>
        <p:nvSpPr>
          <p:cNvPr id="30724" name="Text Box 117"/>
          <p:cNvSpPr txBox="1">
            <a:spLocks noChangeArrowheads="1"/>
          </p:cNvSpPr>
          <p:nvPr/>
        </p:nvSpPr>
        <p:spPr bwMode="auto">
          <a:xfrm>
            <a:off x="179388" y="1412875"/>
            <a:ext cx="1223962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>
                <a:ea typeface="新細明體" pitchFamily="18" charset="-120"/>
              </a:rPr>
              <a:t>the root vertex</a:t>
            </a:r>
          </a:p>
        </p:txBody>
      </p:sp>
      <p:sp>
        <p:nvSpPr>
          <p:cNvPr id="30725" name="Line 118"/>
          <p:cNvSpPr>
            <a:spLocks noChangeShapeType="1"/>
          </p:cNvSpPr>
          <p:nvPr/>
        </p:nvSpPr>
        <p:spPr bwMode="auto">
          <a:xfrm>
            <a:off x="1331913" y="1916113"/>
            <a:ext cx="792162" cy="433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5542" name="Group 6"/>
          <p:cNvGraphicFramePr>
            <a:graphicFrameLocks noGrp="1"/>
          </p:cNvGraphicFramePr>
          <p:nvPr/>
        </p:nvGraphicFramePr>
        <p:xfrm>
          <a:off x="869950" y="4184650"/>
          <a:ext cx="7031038" cy="1828800"/>
        </p:xfrm>
        <a:graphic>
          <a:graphicData uri="http://schemas.openxmlformats.org/drawingml/2006/table">
            <a:tbl>
              <a:tblPr/>
              <a:tblGrid>
                <a:gridCol w="709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3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8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32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32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Key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" name="Group 60"/>
          <p:cNvGrpSpPr>
            <a:grpSpLocks/>
          </p:cNvGrpSpPr>
          <p:nvPr/>
        </p:nvGrpSpPr>
        <p:grpSpPr bwMode="auto">
          <a:xfrm>
            <a:off x="2193925" y="1119188"/>
            <a:ext cx="4625975" cy="2527300"/>
            <a:chOff x="1429" y="2643"/>
            <a:chExt cx="2914" cy="1592"/>
          </a:xfrm>
        </p:grpSpPr>
        <p:grpSp>
          <p:nvGrpSpPr>
            <p:cNvPr id="3" name="Group 61"/>
            <p:cNvGrpSpPr>
              <a:grpSpLocks/>
            </p:cNvGrpSpPr>
            <p:nvPr/>
          </p:nvGrpSpPr>
          <p:grpSpPr bwMode="auto">
            <a:xfrm>
              <a:off x="1429" y="3370"/>
              <a:ext cx="205" cy="250"/>
              <a:chOff x="2368" y="1750"/>
              <a:chExt cx="205" cy="250"/>
            </a:xfrm>
          </p:grpSpPr>
          <p:sp>
            <p:nvSpPr>
              <p:cNvPr id="30838" name="Text Box 6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a</a:t>
                </a:r>
              </a:p>
            </p:txBody>
          </p:sp>
          <p:sp>
            <p:nvSpPr>
              <p:cNvPr id="30839" name="Oval 6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64"/>
            <p:cNvGrpSpPr>
              <a:grpSpLocks/>
            </p:cNvGrpSpPr>
            <p:nvPr/>
          </p:nvGrpSpPr>
          <p:grpSpPr bwMode="auto">
            <a:xfrm>
              <a:off x="1928" y="2871"/>
              <a:ext cx="205" cy="250"/>
              <a:chOff x="2368" y="1750"/>
              <a:chExt cx="205" cy="250"/>
            </a:xfrm>
          </p:grpSpPr>
          <p:sp>
            <p:nvSpPr>
              <p:cNvPr id="30836" name="Text Box 6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b</a:t>
                </a:r>
              </a:p>
            </p:txBody>
          </p:sp>
          <p:sp>
            <p:nvSpPr>
              <p:cNvPr id="30837" name="Oval 6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67"/>
            <p:cNvGrpSpPr>
              <a:grpSpLocks/>
            </p:cNvGrpSpPr>
            <p:nvPr/>
          </p:nvGrpSpPr>
          <p:grpSpPr bwMode="auto">
            <a:xfrm>
              <a:off x="1928" y="3860"/>
              <a:ext cx="205" cy="250"/>
              <a:chOff x="2368" y="1750"/>
              <a:chExt cx="205" cy="250"/>
            </a:xfrm>
          </p:grpSpPr>
          <p:sp>
            <p:nvSpPr>
              <p:cNvPr id="30834" name="Text Box 6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h</a:t>
                </a:r>
              </a:p>
            </p:txBody>
          </p:sp>
          <p:sp>
            <p:nvSpPr>
              <p:cNvPr id="30835" name="Oval 6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" name="Group 70"/>
            <p:cNvGrpSpPr>
              <a:grpSpLocks/>
            </p:cNvGrpSpPr>
            <p:nvPr/>
          </p:nvGrpSpPr>
          <p:grpSpPr bwMode="auto">
            <a:xfrm>
              <a:off x="2778" y="2840"/>
              <a:ext cx="196" cy="250"/>
              <a:chOff x="2368" y="1750"/>
              <a:chExt cx="196" cy="250"/>
            </a:xfrm>
          </p:grpSpPr>
          <p:sp>
            <p:nvSpPr>
              <p:cNvPr id="30832" name="Text Box 7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c</a:t>
                </a:r>
              </a:p>
            </p:txBody>
          </p:sp>
          <p:sp>
            <p:nvSpPr>
              <p:cNvPr id="30833" name="Oval 7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" name="Group 73"/>
            <p:cNvGrpSpPr>
              <a:grpSpLocks/>
            </p:cNvGrpSpPr>
            <p:nvPr/>
          </p:nvGrpSpPr>
          <p:grpSpPr bwMode="auto">
            <a:xfrm>
              <a:off x="3592" y="2840"/>
              <a:ext cx="205" cy="250"/>
              <a:chOff x="2368" y="1750"/>
              <a:chExt cx="205" cy="250"/>
            </a:xfrm>
          </p:grpSpPr>
          <p:sp>
            <p:nvSpPr>
              <p:cNvPr id="30830" name="Text Box 7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d</a:t>
                </a:r>
              </a:p>
            </p:txBody>
          </p:sp>
          <p:sp>
            <p:nvSpPr>
              <p:cNvPr id="30831" name="Oval 7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" name="Group 76"/>
            <p:cNvGrpSpPr>
              <a:grpSpLocks/>
            </p:cNvGrpSpPr>
            <p:nvPr/>
          </p:nvGrpSpPr>
          <p:grpSpPr bwMode="auto">
            <a:xfrm>
              <a:off x="4138" y="3339"/>
              <a:ext cx="205" cy="250"/>
              <a:chOff x="2368" y="1750"/>
              <a:chExt cx="205" cy="250"/>
            </a:xfrm>
          </p:grpSpPr>
          <p:sp>
            <p:nvSpPr>
              <p:cNvPr id="30828" name="Text Box 7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e</a:t>
                </a:r>
              </a:p>
            </p:txBody>
          </p:sp>
          <p:sp>
            <p:nvSpPr>
              <p:cNvPr id="30829" name="Oval 7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9" name="Group 79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30826" name="Text Box 80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f</a:t>
                </a:r>
              </a:p>
            </p:txBody>
          </p:sp>
          <p:sp>
            <p:nvSpPr>
              <p:cNvPr id="30827" name="Oval 81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" name="Group 82"/>
            <p:cNvGrpSpPr>
              <a:grpSpLocks/>
            </p:cNvGrpSpPr>
            <p:nvPr/>
          </p:nvGrpSpPr>
          <p:grpSpPr bwMode="auto">
            <a:xfrm>
              <a:off x="2776" y="3860"/>
              <a:ext cx="205" cy="250"/>
              <a:chOff x="2368" y="1750"/>
              <a:chExt cx="205" cy="250"/>
            </a:xfrm>
          </p:grpSpPr>
          <p:sp>
            <p:nvSpPr>
              <p:cNvPr id="30824" name="Text Box 83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g</a:t>
                </a:r>
              </a:p>
            </p:txBody>
          </p:sp>
          <p:sp>
            <p:nvSpPr>
              <p:cNvPr id="30825" name="Oval 84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" name="Group 85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30822" name="Text Box 86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i</a:t>
                </a:r>
              </a:p>
            </p:txBody>
          </p:sp>
          <p:sp>
            <p:nvSpPr>
              <p:cNvPr id="30823" name="Oval 87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0794" name="Line 88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95" name="Line 89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96" name="Line 90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97" name="Line 91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98" name="Line 92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99" name="Line 93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00" name="Line 94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01" name="Line 95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02" name="Line 96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03" name="Line 97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04" name="Line 98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05" name="Line 99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06" name="Line 100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07" name="Line 101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08" name="Text Box 102"/>
            <p:cNvSpPr txBox="1">
              <a:spLocks noChangeArrowheads="1"/>
            </p:cNvSpPr>
            <p:nvPr/>
          </p:nvSpPr>
          <p:spPr bwMode="auto">
            <a:xfrm>
              <a:off x="1565" y="2976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4</a:t>
              </a:r>
            </a:p>
          </p:txBody>
        </p:sp>
        <p:sp>
          <p:nvSpPr>
            <p:cNvPr id="30809" name="Text Box 103"/>
            <p:cNvSpPr txBox="1">
              <a:spLocks noChangeArrowheads="1"/>
            </p:cNvSpPr>
            <p:nvPr/>
          </p:nvSpPr>
          <p:spPr bwMode="auto">
            <a:xfrm>
              <a:off x="2324" y="2643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8</a:t>
              </a:r>
            </a:p>
          </p:txBody>
        </p:sp>
        <p:sp>
          <p:nvSpPr>
            <p:cNvPr id="30810" name="Text Box 104"/>
            <p:cNvSpPr txBox="1">
              <a:spLocks noChangeArrowheads="1"/>
            </p:cNvSpPr>
            <p:nvPr/>
          </p:nvSpPr>
          <p:spPr bwMode="auto">
            <a:xfrm>
              <a:off x="3168" y="2643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7</a:t>
              </a:r>
            </a:p>
          </p:txBody>
        </p:sp>
        <p:sp>
          <p:nvSpPr>
            <p:cNvPr id="30811" name="Text Box 105"/>
            <p:cNvSpPr txBox="1">
              <a:spLocks noChangeArrowheads="1"/>
            </p:cNvSpPr>
            <p:nvPr/>
          </p:nvSpPr>
          <p:spPr bwMode="auto">
            <a:xfrm>
              <a:off x="4002" y="2898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9</a:t>
              </a:r>
            </a:p>
          </p:txBody>
        </p:sp>
        <p:sp>
          <p:nvSpPr>
            <p:cNvPr id="30812" name="Text Box 106"/>
            <p:cNvSpPr txBox="1">
              <a:spLocks noChangeArrowheads="1"/>
            </p:cNvSpPr>
            <p:nvPr/>
          </p:nvSpPr>
          <p:spPr bwMode="auto">
            <a:xfrm>
              <a:off x="3970" y="3657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10</a:t>
              </a:r>
            </a:p>
          </p:txBody>
        </p:sp>
        <p:sp>
          <p:nvSpPr>
            <p:cNvPr id="30813" name="Text Box 107"/>
            <p:cNvSpPr txBox="1">
              <a:spLocks noChangeArrowheads="1"/>
            </p:cNvSpPr>
            <p:nvPr/>
          </p:nvSpPr>
          <p:spPr bwMode="auto">
            <a:xfrm>
              <a:off x="3652" y="3339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14</a:t>
              </a:r>
            </a:p>
          </p:txBody>
        </p:sp>
        <p:sp>
          <p:nvSpPr>
            <p:cNvPr id="30814" name="Text Box 108"/>
            <p:cNvSpPr txBox="1">
              <a:spLocks noChangeArrowheads="1"/>
            </p:cNvSpPr>
            <p:nvPr/>
          </p:nvSpPr>
          <p:spPr bwMode="auto">
            <a:xfrm>
              <a:off x="3017" y="3414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4</a:t>
              </a:r>
            </a:p>
          </p:txBody>
        </p:sp>
        <p:sp>
          <p:nvSpPr>
            <p:cNvPr id="30815" name="Text Box 109"/>
            <p:cNvSpPr txBox="1">
              <a:spLocks noChangeArrowheads="1"/>
            </p:cNvSpPr>
            <p:nvPr/>
          </p:nvSpPr>
          <p:spPr bwMode="auto">
            <a:xfrm>
              <a:off x="2624" y="3187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2</a:t>
              </a:r>
            </a:p>
          </p:txBody>
        </p:sp>
        <p:sp>
          <p:nvSpPr>
            <p:cNvPr id="30816" name="Text Box 110"/>
            <p:cNvSpPr txBox="1">
              <a:spLocks noChangeArrowheads="1"/>
            </p:cNvSpPr>
            <p:nvPr/>
          </p:nvSpPr>
          <p:spPr bwMode="auto">
            <a:xfrm>
              <a:off x="3198" y="4004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2</a:t>
              </a:r>
            </a:p>
          </p:txBody>
        </p:sp>
        <p:sp>
          <p:nvSpPr>
            <p:cNvPr id="30817" name="Text Box 111"/>
            <p:cNvSpPr txBox="1">
              <a:spLocks noChangeArrowheads="1"/>
            </p:cNvSpPr>
            <p:nvPr/>
          </p:nvSpPr>
          <p:spPr bwMode="auto">
            <a:xfrm>
              <a:off x="2641" y="3533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6</a:t>
              </a:r>
            </a:p>
          </p:txBody>
        </p:sp>
        <p:sp>
          <p:nvSpPr>
            <p:cNvPr id="30818" name="Text Box 112"/>
            <p:cNvSpPr txBox="1">
              <a:spLocks noChangeArrowheads="1"/>
            </p:cNvSpPr>
            <p:nvPr/>
          </p:nvSpPr>
          <p:spPr bwMode="auto">
            <a:xfrm>
              <a:off x="2369" y="4004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1</a:t>
              </a:r>
            </a:p>
          </p:txBody>
        </p:sp>
        <p:sp>
          <p:nvSpPr>
            <p:cNvPr id="30819" name="Text Box 113"/>
            <p:cNvSpPr txBox="1">
              <a:spLocks noChangeArrowheads="1"/>
            </p:cNvSpPr>
            <p:nvPr/>
          </p:nvSpPr>
          <p:spPr bwMode="auto">
            <a:xfrm>
              <a:off x="2097" y="3533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7</a:t>
              </a:r>
            </a:p>
          </p:txBody>
        </p:sp>
        <p:sp>
          <p:nvSpPr>
            <p:cNvPr id="30820" name="Text Box 114"/>
            <p:cNvSpPr txBox="1">
              <a:spLocks noChangeArrowheads="1"/>
            </p:cNvSpPr>
            <p:nvPr/>
          </p:nvSpPr>
          <p:spPr bwMode="auto">
            <a:xfrm>
              <a:off x="1747" y="3323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11</a:t>
              </a:r>
            </a:p>
          </p:txBody>
        </p:sp>
        <p:sp>
          <p:nvSpPr>
            <p:cNvPr id="30821" name="Text Box 115"/>
            <p:cNvSpPr txBox="1">
              <a:spLocks noChangeArrowheads="1"/>
            </p:cNvSpPr>
            <p:nvPr/>
          </p:nvSpPr>
          <p:spPr bwMode="auto">
            <a:xfrm>
              <a:off x="1565" y="3731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8</a:t>
              </a:r>
            </a:p>
          </p:txBody>
        </p:sp>
      </p:grpSp>
      <p:sp>
        <p:nvSpPr>
          <p:cNvPr id="30784" name="Line 175"/>
          <p:cNvSpPr>
            <a:spLocks noChangeShapeType="1"/>
          </p:cNvSpPr>
          <p:nvPr/>
        </p:nvSpPr>
        <p:spPr bwMode="auto">
          <a:xfrm flipV="1">
            <a:off x="5500688" y="6027738"/>
            <a:ext cx="0" cy="4794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61826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3"/>
          <p:cNvSpPr txBox="1">
            <a:spLocks noGrp="1"/>
          </p:cNvSpPr>
          <p:nvPr/>
        </p:nvSpPr>
        <p:spPr bwMode="auto">
          <a:xfrm>
            <a:off x="6553200" y="6397625"/>
            <a:ext cx="213360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04238BA7-AD0E-4704-A7F7-18A615EC4842}" type="slidenum">
              <a:rPr lang="zh-TW" altLang="en-US" sz="1400">
                <a:ea typeface="新細明體" pitchFamily="18" charset="-120"/>
              </a:rPr>
              <a:pPr algn="r"/>
              <a:t>68</a:t>
            </a:fld>
            <a:endParaRPr lang="en-US" altLang="zh-TW" sz="1400">
              <a:ea typeface="新細明體" pitchFamily="18" charset="-120"/>
            </a:endParaRPr>
          </a:p>
        </p:txBody>
      </p:sp>
      <p:sp>
        <p:nvSpPr>
          <p:cNvPr id="31747" name="Text Box 116"/>
          <p:cNvSpPr txBox="1">
            <a:spLocks noChangeArrowheads="1"/>
          </p:cNvSpPr>
          <p:nvPr/>
        </p:nvSpPr>
        <p:spPr bwMode="auto">
          <a:xfrm>
            <a:off x="609600" y="152400"/>
            <a:ext cx="78486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3200" dirty="0">
                <a:ea typeface="新細明體" pitchFamily="18" charset="-120"/>
              </a:rPr>
              <a:t>The execution of Prim's algorithm</a:t>
            </a:r>
            <a:endParaRPr lang="en-US" altLang="zh-TW" sz="2000" dirty="0">
              <a:ea typeface="新細明體" pitchFamily="18" charset="-120"/>
            </a:endParaRPr>
          </a:p>
        </p:txBody>
      </p:sp>
      <p:sp>
        <p:nvSpPr>
          <p:cNvPr id="31748" name="Text Box 117"/>
          <p:cNvSpPr txBox="1">
            <a:spLocks noChangeArrowheads="1"/>
          </p:cNvSpPr>
          <p:nvPr/>
        </p:nvSpPr>
        <p:spPr bwMode="auto">
          <a:xfrm>
            <a:off x="179388" y="1412875"/>
            <a:ext cx="1223962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>
                <a:ea typeface="新細明體" pitchFamily="18" charset="-120"/>
              </a:rPr>
              <a:t>the root vertex</a:t>
            </a:r>
          </a:p>
        </p:txBody>
      </p:sp>
      <p:sp>
        <p:nvSpPr>
          <p:cNvPr id="31749" name="Line 118"/>
          <p:cNvSpPr>
            <a:spLocks noChangeShapeType="1"/>
          </p:cNvSpPr>
          <p:nvPr/>
        </p:nvSpPr>
        <p:spPr bwMode="auto">
          <a:xfrm>
            <a:off x="1331913" y="1916113"/>
            <a:ext cx="792162" cy="433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6566" name="Group 6"/>
          <p:cNvGraphicFramePr>
            <a:graphicFrameLocks noGrp="1"/>
          </p:cNvGraphicFramePr>
          <p:nvPr/>
        </p:nvGraphicFramePr>
        <p:xfrm>
          <a:off x="869950" y="4184650"/>
          <a:ext cx="7031038" cy="1828800"/>
        </p:xfrm>
        <a:graphic>
          <a:graphicData uri="http://schemas.openxmlformats.org/drawingml/2006/table">
            <a:tbl>
              <a:tblPr/>
              <a:tblGrid>
                <a:gridCol w="709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3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8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32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32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Key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193925" y="1119188"/>
            <a:ext cx="4625975" cy="2527300"/>
            <a:chOff x="1429" y="2643"/>
            <a:chExt cx="2914" cy="1592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1429" y="3370"/>
              <a:ext cx="205" cy="250"/>
              <a:chOff x="2368" y="1750"/>
              <a:chExt cx="205" cy="250"/>
            </a:xfrm>
          </p:grpSpPr>
          <p:sp>
            <p:nvSpPr>
              <p:cNvPr id="31862" name="Text Box 6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a</a:t>
                </a:r>
              </a:p>
            </p:txBody>
          </p:sp>
          <p:sp>
            <p:nvSpPr>
              <p:cNvPr id="31863" name="Oval 7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1928" y="2871"/>
              <a:ext cx="205" cy="250"/>
              <a:chOff x="2368" y="1750"/>
              <a:chExt cx="205" cy="250"/>
            </a:xfrm>
          </p:grpSpPr>
          <p:sp>
            <p:nvSpPr>
              <p:cNvPr id="31860" name="Text Box 9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b</a:t>
                </a:r>
              </a:p>
            </p:txBody>
          </p:sp>
          <p:sp>
            <p:nvSpPr>
              <p:cNvPr id="31861" name="Oval 10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1928" y="3860"/>
              <a:ext cx="205" cy="250"/>
              <a:chOff x="2368" y="1750"/>
              <a:chExt cx="205" cy="250"/>
            </a:xfrm>
          </p:grpSpPr>
          <p:sp>
            <p:nvSpPr>
              <p:cNvPr id="31858" name="Text Box 1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h</a:t>
                </a:r>
              </a:p>
            </p:txBody>
          </p:sp>
          <p:sp>
            <p:nvSpPr>
              <p:cNvPr id="31859" name="Oval 1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" name="Group 14"/>
            <p:cNvGrpSpPr>
              <a:grpSpLocks/>
            </p:cNvGrpSpPr>
            <p:nvPr/>
          </p:nvGrpSpPr>
          <p:grpSpPr bwMode="auto">
            <a:xfrm>
              <a:off x="2778" y="2840"/>
              <a:ext cx="196" cy="250"/>
              <a:chOff x="2368" y="1750"/>
              <a:chExt cx="196" cy="250"/>
            </a:xfrm>
          </p:grpSpPr>
          <p:sp>
            <p:nvSpPr>
              <p:cNvPr id="31856" name="Text Box 1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c</a:t>
                </a:r>
              </a:p>
            </p:txBody>
          </p:sp>
          <p:sp>
            <p:nvSpPr>
              <p:cNvPr id="31857" name="Oval 1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" name="Group 17"/>
            <p:cNvGrpSpPr>
              <a:grpSpLocks/>
            </p:cNvGrpSpPr>
            <p:nvPr/>
          </p:nvGrpSpPr>
          <p:grpSpPr bwMode="auto">
            <a:xfrm>
              <a:off x="3592" y="2840"/>
              <a:ext cx="205" cy="250"/>
              <a:chOff x="2368" y="1750"/>
              <a:chExt cx="205" cy="250"/>
            </a:xfrm>
          </p:grpSpPr>
          <p:sp>
            <p:nvSpPr>
              <p:cNvPr id="31854" name="Text Box 1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d</a:t>
                </a:r>
              </a:p>
            </p:txBody>
          </p:sp>
          <p:sp>
            <p:nvSpPr>
              <p:cNvPr id="31855" name="Oval 1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" name="Group 20"/>
            <p:cNvGrpSpPr>
              <a:grpSpLocks/>
            </p:cNvGrpSpPr>
            <p:nvPr/>
          </p:nvGrpSpPr>
          <p:grpSpPr bwMode="auto">
            <a:xfrm>
              <a:off x="4138" y="3339"/>
              <a:ext cx="205" cy="250"/>
              <a:chOff x="2368" y="1750"/>
              <a:chExt cx="205" cy="250"/>
            </a:xfrm>
          </p:grpSpPr>
          <p:sp>
            <p:nvSpPr>
              <p:cNvPr id="31852" name="Text Box 2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e</a:t>
                </a:r>
              </a:p>
            </p:txBody>
          </p:sp>
          <p:sp>
            <p:nvSpPr>
              <p:cNvPr id="31853" name="Oval 2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9" name="Group 23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31850" name="Text Box 2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f</a:t>
                </a:r>
              </a:p>
            </p:txBody>
          </p:sp>
          <p:sp>
            <p:nvSpPr>
              <p:cNvPr id="31851" name="Oval 2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" name="Group 26"/>
            <p:cNvGrpSpPr>
              <a:grpSpLocks/>
            </p:cNvGrpSpPr>
            <p:nvPr/>
          </p:nvGrpSpPr>
          <p:grpSpPr bwMode="auto">
            <a:xfrm>
              <a:off x="2776" y="3860"/>
              <a:ext cx="205" cy="250"/>
              <a:chOff x="2368" y="1750"/>
              <a:chExt cx="205" cy="250"/>
            </a:xfrm>
          </p:grpSpPr>
          <p:sp>
            <p:nvSpPr>
              <p:cNvPr id="31848" name="Text Box 2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g</a:t>
                </a:r>
              </a:p>
            </p:txBody>
          </p:sp>
          <p:sp>
            <p:nvSpPr>
              <p:cNvPr id="31849" name="Oval 2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" name="Group 29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31846" name="Text Box 30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i</a:t>
                </a:r>
              </a:p>
            </p:txBody>
          </p:sp>
          <p:sp>
            <p:nvSpPr>
              <p:cNvPr id="31847" name="Oval 31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1818" name="Line 32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19" name="Line 33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20" name="Line 34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21" name="Line 35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22" name="Line 36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23" name="Line 37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24" name="Line 38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25" name="Line 39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26" name="Line 40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27" name="Line 41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28" name="Line 42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29" name="Line 43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30" name="Line 44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31" name="Line 45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32" name="Text Box 46"/>
            <p:cNvSpPr txBox="1">
              <a:spLocks noChangeArrowheads="1"/>
            </p:cNvSpPr>
            <p:nvPr/>
          </p:nvSpPr>
          <p:spPr bwMode="auto">
            <a:xfrm>
              <a:off x="1565" y="2976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4</a:t>
              </a:r>
            </a:p>
          </p:txBody>
        </p:sp>
        <p:sp>
          <p:nvSpPr>
            <p:cNvPr id="31833" name="Text Box 47"/>
            <p:cNvSpPr txBox="1">
              <a:spLocks noChangeArrowheads="1"/>
            </p:cNvSpPr>
            <p:nvPr/>
          </p:nvSpPr>
          <p:spPr bwMode="auto">
            <a:xfrm>
              <a:off x="2324" y="2643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8</a:t>
              </a:r>
            </a:p>
          </p:txBody>
        </p:sp>
        <p:sp>
          <p:nvSpPr>
            <p:cNvPr id="31834" name="Text Box 48"/>
            <p:cNvSpPr txBox="1">
              <a:spLocks noChangeArrowheads="1"/>
            </p:cNvSpPr>
            <p:nvPr/>
          </p:nvSpPr>
          <p:spPr bwMode="auto">
            <a:xfrm>
              <a:off x="3168" y="2643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7</a:t>
              </a:r>
            </a:p>
          </p:txBody>
        </p:sp>
        <p:sp>
          <p:nvSpPr>
            <p:cNvPr id="31835" name="Text Box 49"/>
            <p:cNvSpPr txBox="1">
              <a:spLocks noChangeArrowheads="1"/>
            </p:cNvSpPr>
            <p:nvPr/>
          </p:nvSpPr>
          <p:spPr bwMode="auto">
            <a:xfrm>
              <a:off x="4002" y="2898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9</a:t>
              </a:r>
            </a:p>
          </p:txBody>
        </p:sp>
        <p:sp>
          <p:nvSpPr>
            <p:cNvPr id="31836" name="Text Box 50"/>
            <p:cNvSpPr txBox="1">
              <a:spLocks noChangeArrowheads="1"/>
            </p:cNvSpPr>
            <p:nvPr/>
          </p:nvSpPr>
          <p:spPr bwMode="auto">
            <a:xfrm>
              <a:off x="3970" y="3657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10</a:t>
              </a:r>
            </a:p>
          </p:txBody>
        </p:sp>
        <p:sp>
          <p:nvSpPr>
            <p:cNvPr id="31837" name="Text Box 51"/>
            <p:cNvSpPr txBox="1">
              <a:spLocks noChangeArrowheads="1"/>
            </p:cNvSpPr>
            <p:nvPr/>
          </p:nvSpPr>
          <p:spPr bwMode="auto">
            <a:xfrm>
              <a:off x="3652" y="3339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14</a:t>
              </a:r>
            </a:p>
          </p:txBody>
        </p:sp>
        <p:sp>
          <p:nvSpPr>
            <p:cNvPr id="31838" name="Text Box 52"/>
            <p:cNvSpPr txBox="1">
              <a:spLocks noChangeArrowheads="1"/>
            </p:cNvSpPr>
            <p:nvPr/>
          </p:nvSpPr>
          <p:spPr bwMode="auto">
            <a:xfrm>
              <a:off x="3017" y="3414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4</a:t>
              </a:r>
            </a:p>
          </p:txBody>
        </p:sp>
        <p:sp>
          <p:nvSpPr>
            <p:cNvPr id="31839" name="Text Box 53"/>
            <p:cNvSpPr txBox="1">
              <a:spLocks noChangeArrowheads="1"/>
            </p:cNvSpPr>
            <p:nvPr/>
          </p:nvSpPr>
          <p:spPr bwMode="auto">
            <a:xfrm>
              <a:off x="2624" y="3187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2</a:t>
              </a:r>
            </a:p>
          </p:txBody>
        </p:sp>
        <p:sp>
          <p:nvSpPr>
            <p:cNvPr id="31840" name="Text Box 54"/>
            <p:cNvSpPr txBox="1">
              <a:spLocks noChangeArrowheads="1"/>
            </p:cNvSpPr>
            <p:nvPr/>
          </p:nvSpPr>
          <p:spPr bwMode="auto">
            <a:xfrm>
              <a:off x="3198" y="4004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2</a:t>
              </a:r>
            </a:p>
          </p:txBody>
        </p:sp>
        <p:sp>
          <p:nvSpPr>
            <p:cNvPr id="31841" name="Text Box 55"/>
            <p:cNvSpPr txBox="1">
              <a:spLocks noChangeArrowheads="1"/>
            </p:cNvSpPr>
            <p:nvPr/>
          </p:nvSpPr>
          <p:spPr bwMode="auto">
            <a:xfrm>
              <a:off x="2641" y="3533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6</a:t>
              </a:r>
            </a:p>
          </p:txBody>
        </p:sp>
        <p:sp>
          <p:nvSpPr>
            <p:cNvPr id="31842" name="Text Box 56"/>
            <p:cNvSpPr txBox="1">
              <a:spLocks noChangeArrowheads="1"/>
            </p:cNvSpPr>
            <p:nvPr/>
          </p:nvSpPr>
          <p:spPr bwMode="auto">
            <a:xfrm>
              <a:off x="2369" y="4004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1</a:t>
              </a:r>
            </a:p>
          </p:txBody>
        </p:sp>
        <p:sp>
          <p:nvSpPr>
            <p:cNvPr id="31843" name="Text Box 57"/>
            <p:cNvSpPr txBox="1">
              <a:spLocks noChangeArrowheads="1"/>
            </p:cNvSpPr>
            <p:nvPr/>
          </p:nvSpPr>
          <p:spPr bwMode="auto">
            <a:xfrm>
              <a:off x="2097" y="3533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7</a:t>
              </a:r>
            </a:p>
          </p:txBody>
        </p:sp>
        <p:sp>
          <p:nvSpPr>
            <p:cNvPr id="31844" name="Text Box 58"/>
            <p:cNvSpPr txBox="1">
              <a:spLocks noChangeArrowheads="1"/>
            </p:cNvSpPr>
            <p:nvPr/>
          </p:nvSpPr>
          <p:spPr bwMode="auto">
            <a:xfrm>
              <a:off x="1747" y="3323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11</a:t>
              </a:r>
            </a:p>
          </p:txBody>
        </p:sp>
        <p:sp>
          <p:nvSpPr>
            <p:cNvPr id="31845" name="Text Box 59"/>
            <p:cNvSpPr txBox="1">
              <a:spLocks noChangeArrowheads="1"/>
            </p:cNvSpPr>
            <p:nvPr/>
          </p:nvSpPr>
          <p:spPr bwMode="auto">
            <a:xfrm>
              <a:off x="1565" y="3731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8</a:t>
              </a:r>
            </a:p>
          </p:txBody>
        </p:sp>
      </p:grpSp>
      <p:sp>
        <p:nvSpPr>
          <p:cNvPr id="31808" name="Line 175"/>
          <p:cNvSpPr>
            <a:spLocks noChangeShapeType="1"/>
          </p:cNvSpPr>
          <p:nvPr/>
        </p:nvSpPr>
        <p:spPr bwMode="auto">
          <a:xfrm flipV="1">
            <a:off x="6130925" y="6042025"/>
            <a:ext cx="0" cy="4794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72804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3"/>
          <p:cNvSpPr txBox="1">
            <a:spLocks noGrp="1"/>
          </p:cNvSpPr>
          <p:nvPr/>
        </p:nvSpPr>
        <p:spPr bwMode="auto">
          <a:xfrm>
            <a:off x="6553200" y="6397625"/>
            <a:ext cx="213360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8DC8AFD0-4DFC-4607-8A8E-805B29A5BF75}" type="slidenum">
              <a:rPr lang="zh-TW" altLang="en-US" sz="1400">
                <a:ea typeface="新細明體" pitchFamily="18" charset="-120"/>
              </a:rPr>
              <a:pPr algn="r"/>
              <a:t>69</a:t>
            </a:fld>
            <a:endParaRPr lang="en-US" altLang="zh-TW" sz="1400">
              <a:ea typeface="新細明體" pitchFamily="18" charset="-120"/>
            </a:endParaRPr>
          </a:p>
        </p:txBody>
      </p:sp>
      <p:sp>
        <p:nvSpPr>
          <p:cNvPr id="32771" name="Text Box 116"/>
          <p:cNvSpPr txBox="1">
            <a:spLocks noChangeArrowheads="1"/>
          </p:cNvSpPr>
          <p:nvPr/>
        </p:nvSpPr>
        <p:spPr bwMode="auto">
          <a:xfrm>
            <a:off x="609600" y="152400"/>
            <a:ext cx="78486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3200" dirty="0">
                <a:ea typeface="新細明體" pitchFamily="18" charset="-120"/>
              </a:rPr>
              <a:t>The execution of Prim's algorithm</a:t>
            </a:r>
            <a:endParaRPr lang="en-US" altLang="zh-TW" sz="2000" dirty="0">
              <a:ea typeface="新細明體" pitchFamily="18" charset="-120"/>
            </a:endParaRPr>
          </a:p>
        </p:txBody>
      </p:sp>
      <p:sp>
        <p:nvSpPr>
          <p:cNvPr id="32772" name="Text Box 117"/>
          <p:cNvSpPr txBox="1">
            <a:spLocks noChangeArrowheads="1"/>
          </p:cNvSpPr>
          <p:nvPr/>
        </p:nvSpPr>
        <p:spPr bwMode="auto">
          <a:xfrm>
            <a:off x="179388" y="1412875"/>
            <a:ext cx="1223962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>
                <a:ea typeface="新細明體" pitchFamily="18" charset="-120"/>
              </a:rPr>
              <a:t>the root vertex</a:t>
            </a:r>
          </a:p>
        </p:txBody>
      </p:sp>
      <p:sp>
        <p:nvSpPr>
          <p:cNvPr id="32773" name="Line 118"/>
          <p:cNvSpPr>
            <a:spLocks noChangeShapeType="1"/>
          </p:cNvSpPr>
          <p:nvPr/>
        </p:nvSpPr>
        <p:spPr bwMode="auto">
          <a:xfrm>
            <a:off x="1331913" y="1916113"/>
            <a:ext cx="792162" cy="433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7590" name="Group 6"/>
          <p:cNvGraphicFramePr>
            <a:graphicFrameLocks noGrp="1"/>
          </p:cNvGraphicFramePr>
          <p:nvPr/>
        </p:nvGraphicFramePr>
        <p:xfrm>
          <a:off x="869950" y="4184650"/>
          <a:ext cx="7031038" cy="1828800"/>
        </p:xfrm>
        <a:graphic>
          <a:graphicData uri="http://schemas.openxmlformats.org/drawingml/2006/table">
            <a:tbl>
              <a:tblPr/>
              <a:tblGrid>
                <a:gridCol w="709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3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8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32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32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Key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" name="Group 60"/>
          <p:cNvGrpSpPr>
            <a:grpSpLocks/>
          </p:cNvGrpSpPr>
          <p:nvPr/>
        </p:nvGrpSpPr>
        <p:grpSpPr bwMode="auto">
          <a:xfrm>
            <a:off x="2193925" y="1119188"/>
            <a:ext cx="4625975" cy="2527300"/>
            <a:chOff x="1429" y="2643"/>
            <a:chExt cx="2914" cy="1592"/>
          </a:xfrm>
        </p:grpSpPr>
        <p:grpSp>
          <p:nvGrpSpPr>
            <p:cNvPr id="3" name="Group 61"/>
            <p:cNvGrpSpPr>
              <a:grpSpLocks/>
            </p:cNvGrpSpPr>
            <p:nvPr/>
          </p:nvGrpSpPr>
          <p:grpSpPr bwMode="auto">
            <a:xfrm>
              <a:off x="1429" y="3370"/>
              <a:ext cx="205" cy="250"/>
              <a:chOff x="2368" y="1750"/>
              <a:chExt cx="205" cy="250"/>
            </a:xfrm>
          </p:grpSpPr>
          <p:sp>
            <p:nvSpPr>
              <p:cNvPr id="32886" name="Text Box 6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a</a:t>
                </a:r>
              </a:p>
            </p:txBody>
          </p:sp>
          <p:sp>
            <p:nvSpPr>
              <p:cNvPr id="32887" name="Oval 6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64"/>
            <p:cNvGrpSpPr>
              <a:grpSpLocks/>
            </p:cNvGrpSpPr>
            <p:nvPr/>
          </p:nvGrpSpPr>
          <p:grpSpPr bwMode="auto">
            <a:xfrm>
              <a:off x="1928" y="2871"/>
              <a:ext cx="205" cy="250"/>
              <a:chOff x="2368" y="1750"/>
              <a:chExt cx="205" cy="250"/>
            </a:xfrm>
          </p:grpSpPr>
          <p:sp>
            <p:nvSpPr>
              <p:cNvPr id="32884" name="Text Box 6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b</a:t>
                </a:r>
              </a:p>
            </p:txBody>
          </p:sp>
          <p:sp>
            <p:nvSpPr>
              <p:cNvPr id="32885" name="Oval 6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67"/>
            <p:cNvGrpSpPr>
              <a:grpSpLocks/>
            </p:cNvGrpSpPr>
            <p:nvPr/>
          </p:nvGrpSpPr>
          <p:grpSpPr bwMode="auto">
            <a:xfrm>
              <a:off x="1928" y="3860"/>
              <a:ext cx="205" cy="250"/>
              <a:chOff x="2368" y="1750"/>
              <a:chExt cx="205" cy="250"/>
            </a:xfrm>
          </p:grpSpPr>
          <p:sp>
            <p:nvSpPr>
              <p:cNvPr id="32882" name="Text Box 6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h</a:t>
                </a:r>
              </a:p>
            </p:txBody>
          </p:sp>
          <p:sp>
            <p:nvSpPr>
              <p:cNvPr id="32883" name="Oval 6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" name="Group 70"/>
            <p:cNvGrpSpPr>
              <a:grpSpLocks/>
            </p:cNvGrpSpPr>
            <p:nvPr/>
          </p:nvGrpSpPr>
          <p:grpSpPr bwMode="auto">
            <a:xfrm>
              <a:off x="2778" y="2840"/>
              <a:ext cx="196" cy="250"/>
              <a:chOff x="2368" y="1750"/>
              <a:chExt cx="196" cy="250"/>
            </a:xfrm>
          </p:grpSpPr>
          <p:sp>
            <p:nvSpPr>
              <p:cNvPr id="32880" name="Text Box 7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c</a:t>
                </a:r>
              </a:p>
            </p:txBody>
          </p:sp>
          <p:sp>
            <p:nvSpPr>
              <p:cNvPr id="32881" name="Oval 7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" name="Group 73"/>
            <p:cNvGrpSpPr>
              <a:grpSpLocks/>
            </p:cNvGrpSpPr>
            <p:nvPr/>
          </p:nvGrpSpPr>
          <p:grpSpPr bwMode="auto">
            <a:xfrm>
              <a:off x="3592" y="2840"/>
              <a:ext cx="205" cy="250"/>
              <a:chOff x="2368" y="1750"/>
              <a:chExt cx="205" cy="250"/>
            </a:xfrm>
          </p:grpSpPr>
          <p:sp>
            <p:nvSpPr>
              <p:cNvPr id="32878" name="Text Box 7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d</a:t>
                </a:r>
              </a:p>
            </p:txBody>
          </p:sp>
          <p:sp>
            <p:nvSpPr>
              <p:cNvPr id="32879" name="Oval 7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" name="Group 76"/>
            <p:cNvGrpSpPr>
              <a:grpSpLocks/>
            </p:cNvGrpSpPr>
            <p:nvPr/>
          </p:nvGrpSpPr>
          <p:grpSpPr bwMode="auto">
            <a:xfrm>
              <a:off x="4138" y="3339"/>
              <a:ext cx="205" cy="250"/>
              <a:chOff x="2368" y="1750"/>
              <a:chExt cx="205" cy="250"/>
            </a:xfrm>
          </p:grpSpPr>
          <p:sp>
            <p:nvSpPr>
              <p:cNvPr id="32876" name="Text Box 7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e</a:t>
                </a:r>
              </a:p>
            </p:txBody>
          </p:sp>
          <p:sp>
            <p:nvSpPr>
              <p:cNvPr id="32877" name="Oval 7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9" name="Group 79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32874" name="Text Box 80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f</a:t>
                </a:r>
              </a:p>
            </p:txBody>
          </p:sp>
          <p:sp>
            <p:nvSpPr>
              <p:cNvPr id="32875" name="Oval 81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" name="Group 82"/>
            <p:cNvGrpSpPr>
              <a:grpSpLocks/>
            </p:cNvGrpSpPr>
            <p:nvPr/>
          </p:nvGrpSpPr>
          <p:grpSpPr bwMode="auto">
            <a:xfrm>
              <a:off x="2776" y="3860"/>
              <a:ext cx="205" cy="250"/>
              <a:chOff x="2368" y="1750"/>
              <a:chExt cx="205" cy="250"/>
            </a:xfrm>
          </p:grpSpPr>
          <p:sp>
            <p:nvSpPr>
              <p:cNvPr id="32872" name="Text Box 83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g</a:t>
                </a:r>
              </a:p>
            </p:txBody>
          </p:sp>
          <p:sp>
            <p:nvSpPr>
              <p:cNvPr id="32873" name="Oval 84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" name="Group 85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32870" name="Text Box 86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i</a:t>
                </a:r>
              </a:p>
            </p:txBody>
          </p:sp>
          <p:sp>
            <p:nvSpPr>
              <p:cNvPr id="32871" name="Oval 87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2842" name="Line 88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43" name="Line 89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44" name="Line 90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45" name="Line 91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46" name="Line 92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47" name="Line 93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48" name="Line 94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49" name="Line 95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50" name="Line 96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51" name="Line 97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52" name="Line 98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53" name="Line 99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54" name="Line 100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55" name="Line 101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56" name="Text Box 102"/>
            <p:cNvSpPr txBox="1">
              <a:spLocks noChangeArrowheads="1"/>
            </p:cNvSpPr>
            <p:nvPr/>
          </p:nvSpPr>
          <p:spPr bwMode="auto">
            <a:xfrm>
              <a:off x="1565" y="2976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4</a:t>
              </a:r>
            </a:p>
          </p:txBody>
        </p:sp>
        <p:sp>
          <p:nvSpPr>
            <p:cNvPr id="32857" name="Text Box 103"/>
            <p:cNvSpPr txBox="1">
              <a:spLocks noChangeArrowheads="1"/>
            </p:cNvSpPr>
            <p:nvPr/>
          </p:nvSpPr>
          <p:spPr bwMode="auto">
            <a:xfrm>
              <a:off x="2324" y="2643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8</a:t>
              </a:r>
            </a:p>
          </p:txBody>
        </p:sp>
        <p:sp>
          <p:nvSpPr>
            <p:cNvPr id="32858" name="Text Box 104"/>
            <p:cNvSpPr txBox="1">
              <a:spLocks noChangeArrowheads="1"/>
            </p:cNvSpPr>
            <p:nvPr/>
          </p:nvSpPr>
          <p:spPr bwMode="auto">
            <a:xfrm>
              <a:off x="3168" y="2643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7</a:t>
              </a:r>
            </a:p>
          </p:txBody>
        </p:sp>
        <p:sp>
          <p:nvSpPr>
            <p:cNvPr id="32859" name="Text Box 105"/>
            <p:cNvSpPr txBox="1">
              <a:spLocks noChangeArrowheads="1"/>
            </p:cNvSpPr>
            <p:nvPr/>
          </p:nvSpPr>
          <p:spPr bwMode="auto">
            <a:xfrm>
              <a:off x="4002" y="2898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9</a:t>
              </a:r>
            </a:p>
          </p:txBody>
        </p:sp>
        <p:sp>
          <p:nvSpPr>
            <p:cNvPr id="32860" name="Text Box 106"/>
            <p:cNvSpPr txBox="1">
              <a:spLocks noChangeArrowheads="1"/>
            </p:cNvSpPr>
            <p:nvPr/>
          </p:nvSpPr>
          <p:spPr bwMode="auto">
            <a:xfrm>
              <a:off x="3970" y="3657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10</a:t>
              </a:r>
            </a:p>
          </p:txBody>
        </p:sp>
        <p:sp>
          <p:nvSpPr>
            <p:cNvPr id="32861" name="Text Box 107"/>
            <p:cNvSpPr txBox="1">
              <a:spLocks noChangeArrowheads="1"/>
            </p:cNvSpPr>
            <p:nvPr/>
          </p:nvSpPr>
          <p:spPr bwMode="auto">
            <a:xfrm>
              <a:off x="3652" y="3339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14</a:t>
              </a:r>
            </a:p>
          </p:txBody>
        </p:sp>
        <p:sp>
          <p:nvSpPr>
            <p:cNvPr id="32862" name="Text Box 108"/>
            <p:cNvSpPr txBox="1">
              <a:spLocks noChangeArrowheads="1"/>
            </p:cNvSpPr>
            <p:nvPr/>
          </p:nvSpPr>
          <p:spPr bwMode="auto">
            <a:xfrm>
              <a:off x="3017" y="3414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4</a:t>
              </a:r>
            </a:p>
          </p:txBody>
        </p:sp>
        <p:sp>
          <p:nvSpPr>
            <p:cNvPr id="32863" name="Text Box 109"/>
            <p:cNvSpPr txBox="1">
              <a:spLocks noChangeArrowheads="1"/>
            </p:cNvSpPr>
            <p:nvPr/>
          </p:nvSpPr>
          <p:spPr bwMode="auto">
            <a:xfrm>
              <a:off x="2624" y="3187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2</a:t>
              </a:r>
            </a:p>
          </p:txBody>
        </p:sp>
        <p:sp>
          <p:nvSpPr>
            <p:cNvPr id="32864" name="Text Box 110"/>
            <p:cNvSpPr txBox="1">
              <a:spLocks noChangeArrowheads="1"/>
            </p:cNvSpPr>
            <p:nvPr/>
          </p:nvSpPr>
          <p:spPr bwMode="auto">
            <a:xfrm>
              <a:off x="3198" y="4004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2</a:t>
              </a:r>
            </a:p>
          </p:txBody>
        </p:sp>
        <p:sp>
          <p:nvSpPr>
            <p:cNvPr id="32865" name="Text Box 111"/>
            <p:cNvSpPr txBox="1">
              <a:spLocks noChangeArrowheads="1"/>
            </p:cNvSpPr>
            <p:nvPr/>
          </p:nvSpPr>
          <p:spPr bwMode="auto">
            <a:xfrm>
              <a:off x="2641" y="3533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6</a:t>
              </a:r>
            </a:p>
          </p:txBody>
        </p:sp>
        <p:sp>
          <p:nvSpPr>
            <p:cNvPr id="32866" name="Text Box 112"/>
            <p:cNvSpPr txBox="1">
              <a:spLocks noChangeArrowheads="1"/>
            </p:cNvSpPr>
            <p:nvPr/>
          </p:nvSpPr>
          <p:spPr bwMode="auto">
            <a:xfrm>
              <a:off x="2369" y="4004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1</a:t>
              </a:r>
            </a:p>
          </p:txBody>
        </p:sp>
        <p:sp>
          <p:nvSpPr>
            <p:cNvPr id="32867" name="Text Box 113"/>
            <p:cNvSpPr txBox="1">
              <a:spLocks noChangeArrowheads="1"/>
            </p:cNvSpPr>
            <p:nvPr/>
          </p:nvSpPr>
          <p:spPr bwMode="auto">
            <a:xfrm>
              <a:off x="2097" y="3533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7</a:t>
              </a:r>
            </a:p>
          </p:txBody>
        </p:sp>
        <p:sp>
          <p:nvSpPr>
            <p:cNvPr id="32868" name="Text Box 114"/>
            <p:cNvSpPr txBox="1">
              <a:spLocks noChangeArrowheads="1"/>
            </p:cNvSpPr>
            <p:nvPr/>
          </p:nvSpPr>
          <p:spPr bwMode="auto">
            <a:xfrm>
              <a:off x="1747" y="3323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11</a:t>
              </a:r>
            </a:p>
          </p:txBody>
        </p:sp>
        <p:sp>
          <p:nvSpPr>
            <p:cNvPr id="32869" name="Text Box 115"/>
            <p:cNvSpPr txBox="1">
              <a:spLocks noChangeArrowheads="1"/>
            </p:cNvSpPr>
            <p:nvPr/>
          </p:nvSpPr>
          <p:spPr bwMode="auto">
            <a:xfrm>
              <a:off x="1565" y="3731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8</a:t>
              </a:r>
            </a:p>
          </p:txBody>
        </p:sp>
      </p:grpSp>
      <p:sp>
        <p:nvSpPr>
          <p:cNvPr id="32832" name="Line 175"/>
          <p:cNvSpPr>
            <a:spLocks noChangeShapeType="1"/>
          </p:cNvSpPr>
          <p:nvPr/>
        </p:nvSpPr>
        <p:spPr bwMode="auto">
          <a:xfrm flipV="1">
            <a:off x="6821488" y="6026150"/>
            <a:ext cx="0" cy="4794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8343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3"/>
          <p:cNvSpPr txBox="1">
            <a:spLocks noGrp="1"/>
          </p:cNvSpPr>
          <p:nvPr/>
        </p:nvSpPr>
        <p:spPr bwMode="auto">
          <a:xfrm>
            <a:off x="6553200" y="6397625"/>
            <a:ext cx="213360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97A2A58E-3219-42AF-983B-629B65A4B042}" type="slidenum">
              <a:rPr lang="zh-TW" altLang="en-US" sz="1400">
                <a:ea typeface="新細明體" pitchFamily="18" charset="-120"/>
              </a:rPr>
              <a:pPr algn="r"/>
              <a:t>70</a:t>
            </a:fld>
            <a:endParaRPr lang="en-US" altLang="zh-TW" sz="1400">
              <a:ea typeface="新細明體" pitchFamily="18" charset="-120"/>
            </a:endParaRPr>
          </a:p>
        </p:txBody>
      </p:sp>
      <p:sp>
        <p:nvSpPr>
          <p:cNvPr id="33795" name="Text Box 116"/>
          <p:cNvSpPr txBox="1">
            <a:spLocks noChangeArrowheads="1"/>
          </p:cNvSpPr>
          <p:nvPr/>
        </p:nvSpPr>
        <p:spPr bwMode="auto">
          <a:xfrm>
            <a:off x="609600" y="152400"/>
            <a:ext cx="78486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3200" dirty="0">
                <a:ea typeface="新細明體" pitchFamily="18" charset="-120"/>
              </a:rPr>
              <a:t>The execution of Prim's algorithm</a:t>
            </a:r>
            <a:endParaRPr lang="en-US" altLang="zh-TW" sz="2000" dirty="0">
              <a:ea typeface="新細明體" pitchFamily="18" charset="-120"/>
            </a:endParaRPr>
          </a:p>
        </p:txBody>
      </p:sp>
      <p:sp>
        <p:nvSpPr>
          <p:cNvPr id="33796" name="Text Box 117"/>
          <p:cNvSpPr txBox="1">
            <a:spLocks noChangeArrowheads="1"/>
          </p:cNvSpPr>
          <p:nvPr/>
        </p:nvSpPr>
        <p:spPr bwMode="auto">
          <a:xfrm>
            <a:off x="179388" y="1412875"/>
            <a:ext cx="1223962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>
                <a:ea typeface="新細明體" pitchFamily="18" charset="-120"/>
              </a:rPr>
              <a:t>the root vertex</a:t>
            </a:r>
          </a:p>
        </p:txBody>
      </p:sp>
      <p:sp>
        <p:nvSpPr>
          <p:cNvPr id="33797" name="Line 118"/>
          <p:cNvSpPr>
            <a:spLocks noChangeShapeType="1"/>
          </p:cNvSpPr>
          <p:nvPr/>
        </p:nvSpPr>
        <p:spPr bwMode="auto">
          <a:xfrm>
            <a:off x="1331913" y="1916113"/>
            <a:ext cx="792162" cy="433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8614" name="Group 6"/>
          <p:cNvGraphicFramePr>
            <a:graphicFrameLocks noGrp="1"/>
          </p:cNvGraphicFramePr>
          <p:nvPr/>
        </p:nvGraphicFramePr>
        <p:xfrm>
          <a:off x="869950" y="4184650"/>
          <a:ext cx="7031038" cy="1828800"/>
        </p:xfrm>
        <a:graphic>
          <a:graphicData uri="http://schemas.openxmlformats.org/drawingml/2006/table">
            <a:tbl>
              <a:tblPr/>
              <a:tblGrid>
                <a:gridCol w="709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3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8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32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32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Key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193925" y="1120775"/>
            <a:ext cx="4625975" cy="2527300"/>
            <a:chOff x="1429" y="2643"/>
            <a:chExt cx="2914" cy="1592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1429" y="3370"/>
              <a:ext cx="205" cy="250"/>
              <a:chOff x="2368" y="1750"/>
              <a:chExt cx="205" cy="250"/>
            </a:xfrm>
          </p:grpSpPr>
          <p:sp>
            <p:nvSpPr>
              <p:cNvPr id="33910" name="Text Box 6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a</a:t>
                </a:r>
              </a:p>
            </p:txBody>
          </p:sp>
          <p:sp>
            <p:nvSpPr>
              <p:cNvPr id="33911" name="Oval 7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1928" y="2871"/>
              <a:ext cx="205" cy="250"/>
              <a:chOff x="2368" y="1750"/>
              <a:chExt cx="205" cy="250"/>
            </a:xfrm>
          </p:grpSpPr>
          <p:sp>
            <p:nvSpPr>
              <p:cNvPr id="33908" name="Text Box 9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b</a:t>
                </a:r>
              </a:p>
            </p:txBody>
          </p:sp>
          <p:sp>
            <p:nvSpPr>
              <p:cNvPr id="33909" name="Oval 10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1928" y="3860"/>
              <a:ext cx="205" cy="250"/>
              <a:chOff x="2368" y="1750"/>
              <a:chExt cx="205" cy="250"/>
            </a:xfrm>
          </p:grpSpPr>
          <p:sp>
            <p:nvSpPr>
              <p:cNvPr id="33906" name="Text Box 1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h</a:t>
                </a:r>
              </a:p>
            </p:txBody>
          </p:sp>
          <p:sp>
            <p:nvSpPr>
              <p:cNvPr id="33907" name="Oval 1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" name="Group 14"/>
            <p:cNvGrpSpPr>
              <a:grpSpLocks/>
            </p:cNvGrpSpPr>
            <p:nvPr/>
          </p:nvGrpSpPr>
          <p:grpSpPr bwMode="auto">
            <a:xfrm>
              <a:off x="2778" y="2840"/>
              <a:ext cx="196" cy="250"/>
              <a:chOff x="2368" y="1750"/>
              <a:chExt cx="196" cy="250"/>
            </a:xfrm>
          </p:grpSpPr>
          <p:sp>
            <p:nvSpPr>
              <p:cNvPr id="33904" name="Text Box 1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c</a:t>
                </a:r>
              </a:p>
            </p:txBody>
          </p:sp>
          <p:sp>
            <p:nvSpPr>
              <p:cNvPr id="33905" name="Oval 1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" name="Group 17"/>
            <p:cNvGrpSpPr>
              <a:grpSpLocks/>
            </p:cNvGrpSpPr>
            <p:nvPr/>
          </p:nvGrpSpPr>
          <p:grpSpPr bwMode="auto">
            <a:xfrm>
              <a:off x="3592" y="2840"/>
              <a:ext cx="205" cy="250"/>
              <a:chOff x="2368" y="1750"/>
              <a:chExt cx="205" cy="250"/>
            </a:xfrm>
          </p:grpSpPr>
          <p:sp>
            <p:nvSpPr>
              <p:cNvPr id="33902" name="Text Box 1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d</a:t>
                </a:r>
              </a:p>
            </p:txBody>
          </p:sp>
          <p:sp>
            <p:nvSpPr>
              <p:cNvPr id="33903" name="Oval 1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" name="Group 20"/>
            <p:cNvGrpSpPr>
              <a:grpSpLocks/>
            </p:cNvGrpSpPr>
            <p:nvPr/>
          </p:nvGrpSpPr>
          <p:grpSpPr bwMode="auto">
            <a:xfrm>
              <a:off x="4138" y="3339"/>
              <a:ext cx="205" cy="250"/>
              <a:chOff x="2368" y="1750"/>
              <a:chExt cx="205" cy="250"/>
            </a:xfrm>
          </p:grpSpPr>
          <p:sp>
            <p:nvSpPr>
              <p:cNvPr id="33900" name="Text Box 2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e</a:t>
                </a:r>
              </a:p>
            </p:txBody>
          </p:sp>
          <p:sp>
            <p:nvSpPr>
              <p:cNvPr id="33901" name="Oval 2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9" name="Group 23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33898" name="Text Box 2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f</a:t>
                </a:r>
              </a:p>
            </p:txBody>
          </p:sp>
          <p:sp>
            <p:nvSpPr>
              <p:cNvPr id="33899" name="Oval 2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" name="Group 26"/>
            <p:cNvGrpSpPr>
              <a:grpSpLocks/>
            </p:cNvGrpSpPr>
            <p:nvPr/>
          </p:nvGrpSpPr>
          <p:grpSpPr bwMode="auto">
            <a:xfrm>
              <a:off x="2776" y="3860"/>
              <a:ext cx="205" cy="250"/>
              <a:chOff x="2368" y="1750"/>
              <a:chExt cx="205" cy="250"/>
            </a:xfrm>
          </p:grpSpPr>
          <p:sp>
            <p:nvSpPr>
              <p:cNvPr id="33896" name="Text Box 2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g</a:t>
                </a:r>
              </a:p>
            </p:txBody>
          </p:sp>
          <p:sp>
            <p:nvSpPr>
              <p:cNvPr id="33897" name="Oval 2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" name="Group 29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33894" name="Text Box 30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i</a:t>
                </a:r>
              </a:p>
            </p:txBody>
          </p:sp>
          <p:sp>
            <p:nvSpPr>
              <p:cNvPr id="33895" name="Oval 31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3866" name="Line 32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67" name="Line 33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68" name="Line 34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69" name="Line 35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70" name="Line 36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71" name="Line 37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72" name="Line 38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73" name="Line 39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74" name="Line 40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75" name="Line 41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76" name="Line 42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77" name="Line 43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78" name="Line 44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79" name="Line 45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80" name="Text Box 46"/>
            <p:cNvSpPr txBox="1">
              <a:spLocks noChangeArrowheads="1"/>
            </p:cNvSpPr>
            <p:nvPr/>
          </p:nvSpPr>
          <p:spPr bwMode="auto">
            <a:xfrm>
              <a:off x="1565" y="2976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4</a:t>
              </a:r>
            </a:p>
          </p:txBody>
        </p:sp>
        <p:sp>
          <p:nvSpPr>
            <p:cNvPr id="33881" name="Text Box 47"/>
            <p:cNvSpPr txBox="1">
              <a:spLocks noChangeArrowheads="1"/>
            </p:cNvSpPr>
            <p:nvPr/>
          </p:nvSpPr>
          <p:spPr bwMode="auto">
            <a:xfrm>
              <a:off x="2324" y="2643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8</a:t>
              </a:r>
            </a:p>
          </p:txBody>
        </p:sp>
        <p:sp>
          <p:nvSpPr>
            <p:cNvPr id="33882" name="Text Box 48"/>
            <p:cNvSpPr txBox="1">
              <a:spLocks noChangeArrowheads="1"/>
            </p:cNvSpPr>
            <p:nvPr/>
          </p:nvSpPr>
          <p:spPr bwMode="auto">
            <a:xfrm>
              <a:off x="3168" y="2643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7</a:t>
              </a:r>
            </a:p>
          </p:txBody>
        </p:sp>
        <p:sp>
          <p:nvSpPr>
            <p:cNvPr id="33883" name="Text Box 49"/>
            <p:cNvSpPr txBox="1">
              <a:spLocks noChangeArrowheads="1"/>
            </p:cNvSpPr>
            <p:nvPr/>
          </p:nvSpPr>
          <p:spPr bwMode="auto">
            <a:xfrm>
              <a:off x="4002" y="2898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9</a:t>
              </a:r>
            </a:p>
          </p:txBody>
        </p:sp>
        <p:sp>
          <p:nvSpPr>
            <p:cNvPr id="33884" name="Text Box 50"/>
            <p:cNvSpPr txBox="1">
              <a:spLocks noChangeArrowheads="1"/>
            </p:cNvSpPr>
            <p:nvPr/>
          </p:nvSpPr>
          <p:spPr bwMode="auto">
            <a:xfrm>
              <a:off x="3970" y="3657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10</a:t>
              </a:r>
            </a:p>
          </p:txBody>
        </p:sp>
        <p:sp>
          <p:nvSpPr>
            <p:cNvPr id="33885" name="Text Box 51"/>
            <p:cNvSpPr txBox="1">
              <a:spLocks noChangeArrowheads="1"/>
            </p:cNvSpPr>
            <p:nvPr/>
          </p:nvSpPr>
          <p:spPr bwMode="auto">
            <a:xfrm>
              <a:off x="3652" y="3339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14</a:t>
              </a:r>
            </a:p>
          </p:txBody>
        </p:sp>
        <p:sp>
          <p:nvSpPr>
            <p:cNvPr id="33886" name="Text Box 52"/>
            <p:cNvSpPr txBox="1">
              <a:spLocks noChangeArrowheads="1"/>
            </p:cNvSpPr>
            <p:nvPr/>
          </p:nvSpPr>
          <p:spPr bwMode="auto">
            <a:xfrm>
              <a:off x="3017" y="3414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4</a:t>
              </a:r>
            </a:p>
          </p:txBody>
        </p:sp>
        <p:sp>
          <p:nvSpPr>
            <p:cNvPr id="33887" name="Text Box 53"/>
            <p:cNvSpPr txBox="1">
              <a:spLocks noChangeArrowheads="1"/>
            </p:cNvSpPr>
            <p:nvPr/>
          </p:nvSpPr>
          <p:spPr bwMode="auto">
            <a:xfrm>
              <a:off x="2624" y="3187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2</a:t>
              </a:r>
            </a:p>
          </p:txBody>
        </p:sp>
        <p:sp>
          <p:nvSpPr>
            <p:cNvPr id="33888" name="Text Box 54"/>
            <p:cNvSpPr txBox="1">
              <a:spLocks noChangeArrowheads="1"/>
            </p:cNvSpPr>
            <p:nvPr/>
          </p:nvSpPr>
          <p:spPr bwMode="auto">
            <a:xfrm>
              <a:off x="3198" y="4004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2</a:t>
              </a:r>
            </a:p>
          </p:txBody>
        </p:sp>
        <p:sp>
          <p:nvSpPr>
            <p:cNvPr id="33889" name="Text Box 55"/>
            <p:cNvSpPr txBox="1">
              <a:spLocks noChangeArrowheads="1"/>
            </p:cNvSpPr>
            <p:nvPr/>
          </p:nvSpPr>
          <p:spPr bwMode="auto">
            <a:xfrm>
              <a:off x="2641" y="3533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6</a:t>
              </a:r>
            </a:p>
          </p:txBody>
        </p:sp>
        <p:sp>
          <p:nvSpPr>
            <p:cNvPr id="33890" name="Text Box 56"/>
            <p:cNvSpPr txBox="1">
              <a:spLocks noChangeArrowheads="1"/>
            </p:cNvSpPr>
            <p:nvPr/>
          </p:nvSpPr>
          <p:spPr bwMode="auto">
            <a:xfrm>
              <a:off x="2369" y="4004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1</a:t>
              </a:r>
            </a:p>
          </p:txBody>
        </p:sp>
        <p:sp>
          <p:nvSpPr>
            <p:cNvPr id="33891" name="Text Box 57"/>
            <p:cNvSpPr txBox="1">
              <a:spLocks noChangeArrowheads="1"/>
            </p:cNvSpPr>
            <p:nvPr/>
          </p:nvSpPr>
          <p:spPr bwMode="auto">
            <a:xfrm>
              <a:off x="2097" y="3533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7</a:t>
              </a:r>
            </a:p>
          </p:txBody>
        </p:sp>
        <p:sp>
          <p:nvSpPr>
            <p:cNvPr id="33892" name="Text Box 58"/>
            <p:cNvSpPr txBox="1">
              <a:spLocks noChangeArrowheads="1"/>
            </p:cNvSpPr>
            <p:nvPr/>
          </p:nvSpPr>
          <p:spPr bwMode="auto">
            <a:xfrm>
              <a:off x="1747" y="3323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11</a:t>
              </a:r>
            </a:p>
          </p:txBody>
        </p:sp>
        <p:sp>
          <p:nvSpPr>
            <p:cNvPr id="33893" name="Text Box 59"/>
            <p:cNvSpPr txBox="1">
              <a:spLocks noChangeArrowheads="1"/>
            </p:cNvSpPr>
            <p:nvPr/>
          </p:nvSpPr>
          <p:spPr bwMode="auto">
            <a:xfrm>
              <a:off x="1565" y="3731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8</a:t>
              </a:r>
            </a:p>
          </p:txBody>
        </p:sp>
      </p:grpSp>
      <p:sp>
        <p:nvSpPr>
          <p:cNvPr id="33856" name="Line 175"/>
          <p:cNvSpPr>
            <a:spLocks noChangeShapeType="1"/>
          </p:cNvSpPr>
          <p:nvPr/>
        </p:nvSpPr>
        <p:spPr bwMode="auto">
          <a:xfrm flipV="1">
            <a:off x="3987800" y="6040438"/>
            <a:ext cx="0" cy="4794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79101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3"/>
          <p:cNvSpPr txBox="1">
            <a:spLocks noGrp="1"/>
          </p:cNvSpPr>
          <p:nvPr/>
        </p:nvSpPr>
        <p:spPr bwMode="auto">
          <a:xfrm>
            <a:off x="6553200" y="6397625"/>
            <a:ext cx="213360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6D3FE373-8687-4A63-BF67-D10C0B00454B}" type="slidenum">
              <a:rPr lang="zh-TW" altLang="en-US" sz="1400">
                <a:ea typeface="新細明體" pitchFamily="18" charset="-120"/>
              </a:rPr>
              <a:pPr algn="r"/>
              <a:t>71</a:t>
            </a:fld>
            <a:endParaRPr lang="en-US" altLang="zh-TW" sz="1400">
              <a:ea typeface="新細明體" pitchFamily="18" charset="-120"/>
            </a:endParaRPr>
          </a:p>
        </p:txBody>
      </p:sp>
      <p:sp>
        <p:nvSpPr>
          <p:cNvPr id="34819" name="Text Box 116"/>
          <p:cNvSpPr txBox="1">
            <a:spLocks noChangeArrowheads="1"/>
          </p:cNvSpPr>
          <p:nvPr/>
        </p:nvSpPr>
        <p:spPr bwMode="auto">
          <a:xfrm>
            <a:off x="609600" y="152400"/>
            <a:ext cx="78486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3200" dirty="0">
                <a:ea typeface="新細明體" pitchFamily="18" charset="-120"/>
              </a:rPr>
              <a:t>The execution of Prim's algorithm</a:t>
            </a:r>
            <a:endParaRPr lang="en-US" altLang="zh-TW" sz="2000" dirty="0">
              <a:ea typeface="新細明體" pitchFamily="18" charset="-120"/>
            </a:endParaRPr>
          </a:p>
        </p:txBody>
      </p:sp>
      <p:sp>
        <p:nvSpPr>
          <p:cNvPr id="34820" name="Text Box 117"/>
          <p:cNvSpPr txBox="1">
            <a:spLocks noChangeArrowheads="1"/>
          </p:cNvSpPr>
          <p:nvPr/>
        </p:nvSpPr>
        <p:spPr bwMode="auto">
          <a:xfrm>
            <a:off x="179388" y="1412875"/>
            <a:ext cx="1223962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>
                <a:ea typeface="新細明體" pitchFamily="18" charset="-120"/>
              </a:rPr>
              <a:t>the root vertex</a:t>
            </a:r>
          </a:p>
        </p:txBody>
      </p:sp>
      <p:sp>
        <p:nvSpPr>
          <p:cNvPr id="34821" name="Line 118"/>
          <p:cNvSpPr>
            <a:spLocks noChangeShapeType="1"/>
          </p:cNvSpPr>
          <p:nvPr/>
        </p:nvSpPr>
        <p:spPr bwMode="auto">
          <a:xfrm>
            <a:off x="1331913" y="1916113"/>
            <a:ext cx="792162" cy="433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9638" name="Group 6"/>
          <p:cNvGraphicFramePr>
            <a:graphicFrameLocks noGrp="1"/>
          </p:cNvGraphicFramePr>
          <p:nvPr/>
        </p:nvGraphicFramePr>
        <p:xfrm>
          <a:off x="869950" y="4184650"/>
          <a:ext cx="7031038" cy="1828800"/>
        </p:xfrm>
        <a:graphic>
          <a:graphicData uri="http://schemas.openxmlformats.org/drawingml/2006/table">
            <a:tbl>
              <a:tblPr/>
              <a:tblGrid>
                <a:gridCol w="709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3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8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32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32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Key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" name="Group 60"/>
          <p:cNvGrpSpPr>
            <a:grpSpLocks/>
          </p:cNvGrpSpPr>
          <p:nvPr/>
        </p:nvGrpSpPr>
        <p:grpSpPr bwMode="auto">
          <a:xfrm>
            <a:off x="2193925" y="1119188"/>
            <a:ext cx="4625975" cy="2527300"/>
            <a:chOff x="1429" y="2643"/>
            <a:chExt cx="2914" cy="1592"/>
          </a:xfrm>
        </p:grpSpPr>
        <p:grpSp>
          <p:nvGrpSpPr>
            <p:cNvPr id="3" name="Group 61"/>
            <p:cNvGrpSpPr>
              <a:grpSpLocks/>
            </p:cNvGrpSpPr>
            <p:nvPr/>
          </p:nvGrpSpPr>
          <p:grpSpPr bwMode="auto">
            <a:xfrm>
              <a:off x="1429" y="3370"/>
              <a:ext cx="205" cy="250"/>
              <a:chOff x="2368" y="1750"/>
              <a:chExt cx="205" cy="250"/>
            </a:xfrm>
          </p:grpSpPr>
          <p:sp>
            <p:nvSpPr>
              <p:cNvPr id="34934" name="Text Box 6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a</a:t>
                </a:r>
              </a:p>
            </p:txBody>
          </p:sp>
          <p:sp>
            <p:nvSpPr>
              <p:cNvPr id="34935" name="Oval 6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64"/>
            <p:cNvGrpSpPr>
              <a:grpSpLocks/>
            </p:cNvGrpSpPr>
            <p:nvPr/>
          </p:nvGrpSpPr>
          <p:grpSpPr bwMode="auto">
            <a:xfrm>
              <a:off x="1928" y="2871"/>
              <a:ext cx="205" cy="250"/>
              <a:chOff x="2368" y="1750"/>
              <a:chExt cx="205" cy="250"/>
            </a:xfrm>
          </p:grpSpPr>
          <p:sp>
            <p:nvSpPr>
              <p:cNvPr id="34932" name="Text Box 6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b</a:t>
                </a:r>
              </a:p>
            </p:txBody>
          </p:sp>
          <p:sp>
            <p:nvSpPr>
              <p:cNvPr id="34933" name="Oval 6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67"/>
            <p:cNvGrpSpPr>
              <a:grpSpLocks/>
            </p:cNvGrpSpPr>
            <p:nvPr/>
          </p:nvGrpSpPr>
          <p:grpSpPr bwMode="auto">
            <a:xfrm>
              <a:off x="1928" y="3860"/>
              <a:ext cx="205" cy="250"/>
              <a:chOff x="2368" y="1750"/>
              <a:chExt cx="205" cy="250"/>
            </a:xfrm>
          </p:grpSpPr>
          <p:sp>
            <p:nvSpPr>
              <p:cNvPr id="34930" name="Text Box 6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h</a:t>
                </a:r>
              </a:p>
            </p:txBody>
          </p:sp>
          <p:sp>
            <p:nvSpPr>
              <p:cNvPr id="34931" name="Oval 6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" name="Group 70"/>
            <p:cNvGrpSpPr>
              <a:grpSpLocks/>
            </p:cNvGrpSpPr>
            <p:nvPr/>
          </p:nvGrpSpPr>
          <p:grpSpPr bwMode="auto">
            <a:xfrm>
              <a:off x="2778" y="2840"/>
              <a:ext cx="196" cy="250"/>
              <a:chOff x="2368" y="1750"/>
              <a:chExt cx="196" cy="250"/>
            </a:xfrm>
          </p:grpSpPr>
          <p:sp>
            <p:nvSpPr>
              <p:cNvPr id="34928" name="Text Box 7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c</a:t>
                </a:r>
              </a:p>
            </p:txBody>
          </p:sp>
          <p:sp>
            <p:nvSpPr>
              <p:cNvPr id="34929" name="Oval 7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" name="Group 73"/>
            <p:cNvGrpSpPr>
              <a:grpSpLocks/>
            </p:cNvGrpSpPr>
            <p:nvPr/>
          </p:nvGrpSpPr>
          <p:grpSpPr bwMode="auto">
            <a:xfrm>
              <a:off x="3592" y="2840"/>
              <a:ext cx="205" cy="250"/>
              <a:chOff x="2368" y="1750"/>
              <a:chExt cx="205" cy="250"/>
            </a:xfrm>
          </p:grpSpPr>
          <p:sp>
            <p:nvSpPr>
              <p:cNvPr id="34926" name="Text Box 7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d</a:t>
                </a:r>
              </a:p>
            </p:txBody>
          </p:sp>
          <p:sp>
            <p:nvSpPr>
              <p:cNvPr id="34927" name="Oval 7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" name="Group 76"/>
            <p:cNvGrpSpPr>
              <a:grpSpLocks/>
            </p:cNvGrpSpPr>
            <p:nvPr/>
          </p:nvGrpSpPr>
          <p:grpSpPr bwMode="auto">
            <a:xfrm>
              <a:off x="4138" y="3339"/>
              <a:ext cx="205" cy="250"/>
              <a:chOff x="2368" y="1750"/>
              <a:chExt cx="205" cy="250"/>
            </a:xfrm>
          </p:grpSpPr>
          <p:sp>
            <p:nvSpPr>
              <p:cNvPr id="34924" name="Text Box 7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e</a:t>
                </a:r>
              </a:p>
            </p:txBody>
          </p:sp>
          <p:sp>
            <p:nvSpPr>
              <p:cNvPr id="34925" name="Oval 7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9" name="Group 79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34922" name="Text Box 80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f</a:t>
                </a:r>
              </a:p>
            </p:txBody>
          </p:sp>
          <p:sp>
            <p:nvSpPr>
              <p:cNvPr id="34923" name="Oval 81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" name="Group 82"/>
            <p:cNvGrpSpPr>
              <a:grpSpLocks/>
            </p:cNvGrpSpPr>
            <p:nvPr/>
          </p:nvGrpSpPr>
          <p:grpSpPr bwMode="auto">
            <a:xfrm>
              <a:off x="2776" y="3860"/>
              <a:ext cx="205" cy="250"/>
              <a:chOff x="2368" y="1750"/>
              <a:chExt cx="205" cy="250"/>
            </a:xfrm>
          </p:grpSpPr>
          <p:sp>
            <p:nvSpPr>
              <p:cNvPr id="34920" name="Text Box 83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g</a:t>
                </a:r>
              </a:p>
            </p:txBody>
          </p:sp>
          <p:sp>
            <p:nvSpPr>
              <p:cNvPr id="34921" name="Oval 84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" name="Group 85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34918" name="Text Box 86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i</a:t>
                </a:r>
              </a:p>
            </p:txBody>
          </p:sp>
          <p:sp>
            <p:nvSpPr>
              <p:cNvPr id="34919" name="Oval 87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4890" name="Line 88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91" name="Line 89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92" name="Line 90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93" name="Line 91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94" name="Line 92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95" name="Line 93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96" name="Line 94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97" name="Line 95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98" name="Line 96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99" name="Line 97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00" name="Line 98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01" name="Line 99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02" name="Line 100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03" name="Line 101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04" name="Text Box 102"/>
            <p:cNvSpPr txBox="1">
              <a:spLocks noChangeArrowheads="1"/>
            </p:cNvSpPr>
            <p:nvPr/>
          </p:nvSpPr>
          <p:spPr bwMode="auto">
            <a:xfrm>
              <a:off x="1565" y="2976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4</a:t>
              </a:r>
            </a:p>
          </p:txBody>
        </p:sp>
        <p:sp>
          <p:nvSpPr>
            <p:cNvPr id="34905" name="Text Box 103"/>
            <p:cNvSpPr txBox="1">
              <a:spLocks noChangeArrowheads="1"/>
            </p:cNvSpPr>
            <p:nvPr/>
          </p:nvSpPr>
          <p:spPr bwMode="auto">
            <a:xfrm>
              <a:off x="2324" y="2643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8</a:t>
              </a:r>
            </a:p>
          </p:txBody>
        </p:sp>
        <p:sp>
          <p:nvSpPr>
            <p:cNvPr id="34906" name="Text Box 104"/>
            <p:cNvSpPr txBox="1">
              <a:spLocks noChangeArrowheads="1"/>
            </p:cNvSpPr>
            <p:nvPr/>
          </p:nvSpPr>
          <p:spPr bwMode="auto">
            <a:xfrm>
              <a:off x="3168" y="2643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7</a:t>
              </a:r>
            </a:p>
          </p:txBody>
        </p:sp>
        <p:sp>
          <p:nvSpPr>
            <p:cNvPr id="34907" name="Text Box 105"/>
            <p:cNvSpPr txBox="1">
              <a:spLocks noChangeArrowheads="1"/>
            </p:cNvSpPr>
            <p:nvPr/>
          </p:nvSpPr>
          <p:spPr bwMode="auto">
            <a:xfrm>
              <a:off x="4002" y="2898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9</a:t>
              </a:r>
            </a:p>
          </p:txBody>
        </p:sp>
        <p:sp>
          <p:nvSpPr>
            <p:cNvPr id="34908" name="Text Box 106"/>
            <p:cNvSpPr txBox="1">
              <a:spLocks noChangeArrowheads="1"/>
            </p:cNvSpPr>
            <p:nvPr/>
          </p:nvSpPr>
          <p:spPr bwMode="auto">
            <a:xfrm>
              <a:off x="3970" y="3657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10</a:t>
              </a:r>
            </a:p>
          </p:txBody>
        </p:sp>
        <p:sp>
          <p:nvSpPr>
            <p:cNvPr id="34909" name="Text Box 107"/>
            <p:cNvSpPr txBox="1">
              <a:spLocks noChangeArrowheads="1"/>
            </p:cNvSpPr>
            <p:nvPr/>
          </p:nvSpPr>
          <p:spPr bwMode="auto">
            <a:xfrm>
              <a:off x="3652" y="3339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14</a:t>
              </a:r>
            </a:p>
          </p:txBody>
        </p:sp>
        <p:sp>
          <p:nvSpPr>
            <p:cNvPr id="34910" name="Text Box 108"/>
            <p:cNvSpPr txBox="1">
              <a:spLocks noChangeArrowheads="1"/>
            </p:cNvSpPr>
            <p:nvPr/>
          </p:nvSpPr>
          <p:spPr bwMode="auto">
            <a:xfrm>
              <a:off x="3017" y="3414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4</a:t>
              </a:r>
            </a:p>
          </p:txBody>
        </p:sp>
        <p:sp>
          <p:nvSpPr>
            <p:cNvPr id="34911" name="Text Box 109"/>
            <p:cNvSpPr txBox="1">
              <a:spLocks noChangeArrowheads="1"/>
            </p:cNvSpPr>
            <p:nvPr/>
          </p:nvSpPr>
          <p:spPr bwMode="auto">
            <a:xfrm>
              <a:off x="2624" y="3187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2</a:t>
              </a:r>
            </a:p>
          </p:txBody>
        </p:sp>
        <p:sp>
          <p:nvSpPr>
            <p:cNvPr id="34912" name="Text Box 110"/>
            <p:cNvSpPr txBox="1">
              <a:spLocks noChangeArrowheads="1"/>
            </p:cNvSpPr>
            <p:nvPr/>
          </p:nvSpPr>
          <p:spPr bwMode="auto">
            <a:xfrm>
              <a:off x="3198" y="4004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2</a:t>
              </a:r>
            </a:p>
          </p:txBody>
        </p:sp>
        <p:sp>
          <p:nvSpPr>
            <p:cNvPr id="34913" name="Text Box 111"/>
            <p:cNvSpPr txBox="1">
              <a:spLocks noChangeArrowheads="1"/>
            </p:cNvSpPr>
            <p:nvPr/>
          </p:nvSpPr>
          <p:spPr bwMode="auto">
            <a:xfrm>
              <a:off x="2641" y="3533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6</a:t>
              </a:r>
            </a:p>
          </p:txBody>
        </p:sp>
        <p:sp>
          <p:nvSpPr>
            <p:cNvPr id="34914" name="Text Box 112"/>
            <p:cNvSpPr txBox="1">
              <a:spLocks noChangeArrowheads="1"/>
            </p:cNvSpPr>
            <p:nvPr/>
          </p:nvSpPr>
          <p:spPr bwMode="auto">
            <a:xfrm>
              <a:off x="2369" y="4004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1</a:t>
              </a:r>
            </a:p>
          </p:txBody>
        </p:sp>
        <p:sp>
          <p:nvSpPr>
            <p:cNvPr id="34915" name="Text Box 113"/>
            <p:cNvSpPr txBox="1">
              <a:spLocks noChangeArrowheads="1"/>
            </p:cNvSpPr>
            <p:nvPr/>
          </p:nvSpPr>
          <p:spPr bwMode="auto">
            <a:xfrm>
              <a:off x="2097" y="3533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7</a:t>
              </a:r>
            </a:p>
          </p:txBody>
        </p:sp>
        <p:sp>
          <p:nvSpPr>
            <p:cNvPr id="34916" name="Text Box 114"/>
            <p:cNvSpPr txBox="1">
              <a:spLocks noChangeArrowheads="1"/>
            </p:cNvSpPr>
            <p:nvPr/>
          </p:nvSpPr>
          <p:spPr bwMode="auto">
            <a:xfrm>
              <a:off x="1747" y="3323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11</a:t>
              </a:r>
            </a:p>
          </p:txBody>
        </p:sp>
        <p:sp>
          <p:nvSpPr>
            <p:cNvPr id="34917" name="Text Box 115"/>
            <p:cNvSpPr txBox="1">
              <a:spLocks noChangeArrowheads="1"/>
            </p:cNvSpPr>
            <p:nvPr/>
          </p:nvSpPr>
          <p:spPr bwMode="auto">
            <a:xfrm>
              <a:off x="1565" y="3731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8</a:t>
              </a:r>
            </a:p>
          </p:txBody>
        </p:sp>
      </p:grpSp>
      <p:sp>
        <p:nvSpPr>
          <p:cNvPr id="34880" name="Line 175"/>
          <p:cNvSpPr>
            <a:spLocks noChangeShapeType="1"/>
          </p:cNvSpPr>
          <p:nvPr/>
        </p:nvSpPr>
        <p:spPr bwMode="auto">
          <a:xfrm flipV="1">
            <a:off x="4692650" y="6011863"/>
            <a:ext cx="0" cy="4794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5725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3"/>
          <p:cNvSpPr txBox="1">
            <a:spLocks noGrp="1"/>
          </p:cNvSpPr>
          <p:nvPr/>
        </p:nvSpPr>
        <p:spPr bwMode="auto">
          <a:xfrm>
            <a:off x="6553200" y="6397625"/>
            <a:ext cx="213360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9B48539B-818D-4952-86A6-C6B352C40EFA}" type="slidenum">
              <a:rPr lang="zh-TW" altLang="en-US" sz="1400">
                <a:ea typeface="新細明體" pitchFamily="18" charset="-120"/>
              </a:rPr>
              <a:pPr algn="r"/>
              <a:t>72</a:t>
            </a:fld>
            <a:endParaRPr lang="en-US" altLang="zh-TW" sz="1400">
              <a:ea typeface="新細明體" pitchFamily="18" charset="-120"/>
            </a:endParaRPr>
          </a:p>
        </p:txBody>
      </p:sp>
      <p:sp>
        <p:nvSpPr>
          <p:cNvPr id="35843" name="Text Box 116"/>
          <p:cNvSpPr txBox="1">
            <a:spLocks noChangeArrowheads="1"/>
          </p:cNvSpPr>
          <p:nvPr/>
        </p:nvSpPr>
        <p:spPr bwMode="auto">
          <a:xfrm>
            <a:off x="609600" y="152400"/>
            <a:ext cx="78486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3200" dirty="0">
                <a:ea typeface="新細明體" pitchFamily="18" charset="-120"/>
              </a:rPr>
              <a:t>The execution of Prim's algorithm</a:t>
            </a:r>
            <a:endParaRPr lang="en-US" altLang="zh-TW" sz="2000" dirty="0">
              <a:ea typeface="新細明體" pitchFamily="18" charset="-120"/>
            </a:endParaRPr>
          </a:p>
        </p:txBody>
      </p:sp>
      <p:sp>
        <p:nvSpPr>
          <p:cNvPr id="35844" name="Text Box 117"/>
          <p:cNvSpPr txBox="1">
            <a:spLocks noChangeArrowheads="1"/>
          </p:cNvSpPr>
          <p:nvPr/>
        </p:nvSpPr>
        <p:spPr bwMode="auto">
          <a:xfrm>
            <a:off x="179388" y="1412875"/>
            <a:ext cx="1223962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>
                <a:ea typeface="新細明體" pitchFamily="18" charset="-120"/>
              </a:rPr>
              <a:t>the root vertex</a:t>
            </a:r>
          </a:p>
        </p:txBody>
      </p:sp>
      <p:sp>
        <p:nvSpPr>
          <p:cNvPr id="35845" name="Line 118"/>
          <p:cNvSpPr>
            <a:spLocks noChangeShapeType="1"/>
          </p:cNvSpPr>
          <p:nvPr/>
        </p:nvSpPr>
        <p:spPr bwMode="auto">
          <a:xfrm>
            <a:off x="1331913" y="1916113"/>
            <a:ext cx="792162" cy="433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71686" name="Group 6"/>
          <p:cNvGraphicFramePr>
            <a:graphicFrameLocks noGrp="1"/>
          </p:cNvGraphicFramePr>
          <p:nvPr/>
        </p:nvGraphicFramePr>
        <p:xfrm>
          <a:off x="869950" y="4184650"/>
          <a:ext cx="7031038" cy="1828800"/>
        </p:xfrm>
        <a:graphic>
          <a:graphicData uri="http://schemas.openxmlformats.org/drawingml/2006/table">
            <a:tbl>
              <a:tblPr/>
              <a:tblGrid>
                <a:gridCol w="709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3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8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32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32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</a:rPr>
                        <a:t>Key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DD011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193925" y="1122363"/>
            <a:ext cx="4625975" cy="2527300"/>
            <a:chOff x="1429" y="2643"/>
            <a:chExt cx="2914" cy="1592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1429" y="3370"/>
              <a:ext cx="205" cy="250"/>
              <a:chOff x="2368" y="1750"/>
              <a:chExt cx="205" cy="250"/>
            </a:xfrm>
          </p:grpSpPr>
          <p:sp>
            <p:nvSpPr>
              <p:cNvPr id="35957" name="Text Box 6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a</a:t>
                </a:r>
              </a:p>
            </p:txBody>
          </p:sp>
          <p:sp>
            <p:nvSpPr>
              <p:cNvPr id="35958" name="Oval 7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1928" y="2871"/>
              <a:ext cx="205" cy="250"/>
              <a:chOff x="2368" y="1750"/>
              <a:chExt cx="205" cy="250"/>
            </a:xfrm>
          </p:grpSpPr>
          <p:sp>
            <p:nvSpPr>
              <p:cNvPr id="35955" name="Text Box 9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b</a:t>
                </a:r>
              </a:p>
            </p:txBody>
          </p:sp>
          <p:sp>
            <p:nvSpPr>
              <p:cNvPr id="35956" name="Oval 10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1928" y="3860"/>
              <a:ext cx="205" cy="250"/>
              <a:chOff x="2368" y="1750"/>
              <a:chExt cx="205" cy="250"/>
            </a:xfrm>
          </p:grpSpPr>
          <p:sp>
            <p:nvSpPr>
              <p:cNvPr id="35953" name="Text Box 1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h</a:t>
                </a:r>
              </a:p>
            </p:txBody>
          </p:sp>
          <p:sp>
            <p:nvSpPr>
              <p:cNvPr id="35954" name="Oval 1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" name="Group 14"/>
            <p:cNvGrpSpPr>
              <a:grpSpLocks/>
            </p:cNvGrpSpPr>
            <p:nvPr/>
          </p:nvGrpSpPr>
          <p:grpSpPr bwMode="auto">
            <a:xfrm>
              <a:off x="2778" y="2840"/>
              <a:ext cx="196" cy="250"/>
              <a:chOff x="2368" y="1750"/>
              <a:chExt cx="196" cy="250"/>
            </a:xfrm>
          </p:grpSpPr>
          <p:sp>
            <p:nvSpPr>
              <p:cNvPr id="35951" name="Text Box 1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c</a:t>
                </a:r>
              </a:p>
            </p:txBody>
          </p:sp>
          <p:sp>
            <p:nvSpPr>
              <p:cNvPr id="35952" name="Oval 1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" name="Group 17"/>
            <p:cNvGrpSpPr>
              <a:grpSpLocks/>
            </p:cNvGrpSpPr>
            <p:nvPr/>
          </p:nvGrpSpPr>
          <p:grpSpPr bwMode="auto">
            <a:xfrm>
              <a:off x="3592" y="2840"/>
              <a:ext cx="205" cy="250"/>
              <a:chOff x="2368" y="1750"/>
              <a:chExt cx="205" cy="250"/>
            </a:xfrm>
          </p:grpSpPr>
          <p:sp>
            <p:nvSpPr>
              <p:cNvPr id="35949" name="Text Box 1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d</a:t>
                </a:r>
              </a:p>
            </p:txBody>
          </p:sp>
          <p:sp>
            <p:nvSpPr>
              <p:cNvPr id="35950" name="Oval 1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" name="Group 20"/>
            <p:cNvGrpSpPr>
              <a:grpSpLocks/>
            </p:cNvGrpSpPr>
            <p:nvPr/>
          </p:nvGrpSpPr>
          <p:grpSpPr bwMode="auto">
            <a:xfrm>
              <a:off x="4138" y="3339"/>
              <a:ext cx="205" cy="250"/>
              <a:chOff x="2368" y="1750"/>
              <a:chExt cx="205" cy="250"/>
            </a:xfrm>
          </p:grpSpPr>
          <p:sp>
            <p:nvSpPr>
              <p:cNvPr id="35947" name="Text Box 2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e</a:t>
                </a:r>
              </a:p>
            </p:txBody>
          </p:sp>
          <p:sp>
            <p:nvSpPr>
              <p:cNvPr id="35948" name="Oval 2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9" name="Group 23"/>
            <p:cNvGrpSpPr>
              <a:grpSpLocks/>
            </p:cNvGrpSpPr>
            <p:nvPr/>
          </p:nvGrpSpPr>
          <p:grpSpPr bwMode="auto">
            <a:xfrm>
              <a:off x="3594" y="3860"/>
              <a:ext cx="194" cy="250"/>
              <a:chOff x="2368" y="1750"/>
              <a:chExt cx="194" cy="250"/>
            </a:xfrm>
          </p:grpSpPr>
          <p:sp>
            <p:nvSpPr>
              <p:cNvPr id="35945" name="Text Box 2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6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f</a:t>
                </a:r>
              </a:p>
            </p:txBody>
          </p:sp>
          <p:sp>
            <p:nvSpPr>
              <p:cNvPr id="35946" name="Oval 2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" name="Group 26"/>
            <p:cNvGrpSpPr>
              <a:grpSpLocks/>
            </p:cNvGrpSpPr>
            <p:nvPr/>
          </p:nvGrpSpPr>
          <p:grpSpPr bwMode="auto">
            <a:xfrm>
              <a:off x="2776" y="3860"/>
              <a:ext cx="205" cy="250"/>
              <a:chOff x="2368" y="1750"/>
              <a:chExt cx="205" cy="250"/>
            </a:xfrm>
          </p:grpSpPr>
          <p:sp>
            <p:nvSpPr>
              <p:cNvPr id="35943" name="Text Box 2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g</a:t>
                </a:r>
              </a:p>
            </p:txBody>
          </p:sp>
          <p:sp>
            <p:nvSpPr>
              <p:cNvPr id="35944" name="Oval 2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" name="Group 29"/>
            <p:cNvGrpSpPr>
              <a:grpSpLocks/>
            </p:cNvGrpSpPr>
            <p:nvPr/>
          </p:nvGrpSpPr>
          <p:grpSpPr bwMode="auto">
            <a:xfrm>
              <a:off x="2337" y="3384"/>
              <a:ext cx="182" cy="250"/>
              <a:chOff x="1519" y="1706"/>
              <a:chExt cx="182" cy="250"/>
            </a:xfrm>
          </p:grpSpPr>
          <p:sp>
            <p:nvSpPr>
              <p:cNvPr id="35941" name="Text Box 30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TW" sz="2000">
                    <a:ea typeface="新細明體" pitchFamily="18" charset="-120"/>
                  </a:rPr>
                  <a:t>i</a:t>
                </a:r>
              </a:p>
            </p:txBody>
          </p:sp>
          <p:sp>
            <p:nvSpPr>
              <p:cNvPr id="35942" name="Oval 31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5913" name="Line 32"/>
            <p:cNvSpPr>
              <a:spLocks noChangeShapeType="1"/>
            </p:cNvSpPr>
            <p:nvPr/>
          </p:nvSpPr>
          <p:spPr bwMode="auto">
            <a:xfrm flipV="1">
              <a:off x="1565" y="3067"/>
              <a:ext cx="409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14" name="Line 33"/>
            <p:cNvSpPr>
              <a:spLocks noChangeShapeType="1"/>
            </p:cNvSpPr>
            <p:nvPr/>
          </p:nvSpPr>
          <p:spPr bwMode="auto">
            <a:xfrm>
              <a:off x="1565" y="3611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15" name="Line 34"/>
            <p:cNvSpPr>
              <a:spLocks noChangeShapeType="1"/>
            </p:cNvSpPr>
            <p:nvPr/>
          </p:nvSpPr>
          <p:spPr bwMode="auto">
            <a:xfrm>
              <a:off x="2019" y="3112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16" name="Line 35"/>
            <p:cNvSpPr>
              <a:spLocks noChangeShapeType="1"/>
            </p:cNvSpPr>
            <p:nvPr/>
          </p:nvSpPr>
          <p:spPr bwMode="auto">
            <a:xfrm>
              <a:off x="2110" y="2976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17" name="Line 36"/>
            <p:cNvSpPr>
              <a:spLocks noChangeShapeType="1"/>
            </p:cNvSpPr>
            <p:nvPr/>
          </p:nvSpPr>
          <p:spPr bwMode="auto">
            <a:xfrm>
              <a:off x="2110" y="4019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18" name="Line 37"/>
            <p:cNvSpPr>
              <a:spLocks noChangeShapeType="1"/>
            </p:cNvSpPr>
            <p:nvPr/>
          </p:nvSpPr>
          <p:spPr bwMode="auto">
            <a:xfrm>
              <a:off x="2972" y="4019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19" name="Line 38"/>
            <p:cNvSpPr>
              <a:spLocks noChangeShapeType="1"/>
            </p:cNvSpPr>
            <p:nvPr/>
          </p:nvSpPr>
          <p:spPr bwMode="auto">
            <a:xfrm>
              <a:off x="2926" y="3067"/>
              <a:ext cx="681" cy="862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20" name="Line 39"/>
            <p:cNvSpPr>
              <a:spLocks noChangeShapeType="1"/>
            </p:cNvSpPr>
            <p:nvPr/>
          </p:nvSpPr>
          <p:spPr bwMode="auto">
            <a:xfrm>
              <a:off x="2972" y="2976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21" name="Line 40"/>
            <p:cNvSpPr>
              <a:spLocks noChangeShapeType="1"/>
            </p:cNvSpPr>
            <p:nvPr/>
          </p:nvSpPr>
          <p:spPr bwMode="auto">
            <a:xfrm>
              <a:off x="3697" y="3067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22" name="Line 41"/>
            <p:cNvSpPr>
              <a:spLocks noChangeShapeType="1"/>
            </p:cNvSpPr>
            <p:nvPr/>
          </p:nvSpPr>
          <p:spPr bwMode="auto">
            <a:xfrm>
              <a:off x="3788" y="3022"/>
              <a:ext cx="408" cy="362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23" name="Line 42"/>
            <p:cNvSpPr>
              <a:spLocks noChangeShapeType="1"/>
            </p:cNvSpPr>
            <p:nvPr/>
          </p:nvSpPr>
          <p:spPr bwMode="auto">
            <a:xfrm flipV="1">
              <a:off x="3788" y="3566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24" name="Line 43"/>
            <p:cNvSpPr>
              <a:spLocks noChangeShapeType="1"/>
            </p:cNvSpPr>
            <p:nvPr/>
          </p:nvSpPr>
          <p:spPr bwMode="auto">
            <a:xfrm>
              <a:off x="2518" y="3611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25" name="Line 44"/>
            <p:cNvSpPr>
              <a:spLocks noChangeShapeType="1"/>
            </p:cNvSpPr>
            <p:nvPr/>
          </p:nvSpPr>
          <p:spPr bwMode="auto">
            <a:xfrm flipV="1">
              <a:off x="2064" y="3611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26" name="Line 45"/>
            <p:cNvSpPr>
              <a:spLocks noChangeShapeType="1"/>
            </p:cNvSpPr>
            <p:nvPr/>
          </p:nvSpPr>
          <p:spPr bwMode="auto">
            <a:xfrm flipV="1">
              <a:off x="2473" y="3067"/>
              <a:ext cx="317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27" name="Text Box 46"/>
            <p:cNvSpPr txBox="1">
              <a:spLocks noChangeArrowheads="1"/>
            </p:cNvSpPr>
            <p:nvPr/>
          </p:nvSpPr>
          <p:spPr bwMode="auto">
            <a:xfrm>
              <a:off x="1565" y="2976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4</a:t>
              </a:r>
            </a:p>
          </p:txBody>
        </p:sp>
        <p:sp>
          <p:nvSpPr>
            <p:cNvPr id="35928" name="Text Box 47"/>
            <p:cNvSpPr txBox="1">
              <a:spLocks noChangeArrowheads="1"/>
            </p:cNvSpPr>
            <p:nvPr/>
          </p:nvSpPr>
          <p:spPr bwMode="auto">
            <a:xfrm>
              <a:off x="2324" y="2643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8</a:t>
              </a:r>
            </a:p>
          </p:txBody>
        </p:sp>
        <p:sp>
          <p:nvSpPr>
            <p:cNvPr id="35929" name="Text Box 48"/>
            <p:cNvSpPr txBox="1">
              <a:spLocks noChangeArrowheads="1"/>
            </p:cNvSpPr>
            <p:nvPr/>
          </p:nvSpPr>
          <p:spPr bwMode="auto">
            <a:xfrm>
              <a:off x="3168" y="2643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7</a:t>
              </a:r>
            </a:p>
          </p:txBody>
        </p:sp>
        <p:sp>
          <p:nvSpPr>
            <p:cNvPr id="35930" name="Text Box 49"/>
            <p:cNvSpPr txBox="1">
              <a:spLocks noChangeArrowheads="1"/>
            </p:cNvSpPr>
            <p:nvPr/>
          </p:nvSpPr>
          <p:spPr bwMode="auto">
            <a:xfrm>
              <a:off x="4002" y="2898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9</a:t>
              </a:r>
            </a:p>
          </p:txBody>
        </p:sp>
        <p:sp>
          <p:nvSpPr>
            <p:cNvPr id="35931" name="Text Box 50"/>
            <p:cNvSpPr txBox="1">
              <a:spLocks noChangeArrowheads="1"/>
            </p:cNvSpPr>
            <p:nvPr/>
          </p:nvSpPr>
          <p:spPr bwMode="auto">
            <a:xfrm>
              <a:off x="3970" y="3657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10</a:t>
              </a:r>
            </a:p>
          </p:txBody>
        </p:sp>
        <p:sp>
          <p:nvSpPr>
            <p:cNvPr id="35932" name="Text Box 51"/>
            <p:cNvSpPr txBox="1">
              <a:spLocks noChangeArrowheads="1"/>
            </p:cNvSpPr>
            <p:nvPr/>
          </p:nvSpPr>
          <p:spPr bwMode="auto">
            <a:xfrm>
              <a:off x="3652" y="3339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14</a:t>
              </a:r>
            </a:p>
          </p:txBody>
        </p:sp>
        <p:sp>
          <p:nvSpPr>
            <p:cNvPr id="35933" name="Text Box 52"/>
            <p:cNvSpPr txBox="1">
              <a:spLocks noChangeArrowheads="1"/>
            </p:cNvSpPr>
            <p:nvPr/>
          </p:nvSpPr>
          <p:spPr bwMode="auto">
            <a:xfrm>
              <a:off x="3017" y="3414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4</a:t>
              </a:r>
            </a:p>
          </p:txBody>
        </p:sp>
        <p:sp>
          <p:nvSpPr>
            <p:cNvPr id="35934" name="Text Box 53"/>
            <p:cNvSpPr txBox="1">
              <a:spLocks noChangeArrowheads="1"/>
            </p:cNvSpPr>
            <p:nvPr/>
          </p:nvSpPr>
          <p:spPr bwMode="auto">
            <a:xfrm>
              <a:off x="2624" y="3187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2</a:t>
              </a:r>
            </a:p>
          </p:txBody>
        </p:sp>
        <p:sp>
          <p:nvSpPr>
            <p:cNvPr id="35935" name="Text Box 54"/>
            <p:cNvSpPr txBox="1">
              <a:spLocks noChangeArrowheads="1"/>
            </p:cNvSpPr>
            <p:nvPr/>
          </p:nvSpPr>
          <p:spPr bwMode="auto">
            <a:xfrm>
              <a:off x="3198" y="4004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2</a:t>
              </a:r>
            </a:p>
          </p:txBody>
        </p:sp>
        <p:sp>
          <p:nvSpPr>
            <p:cNvPr id="35936" name="Text Box 55"/>
            <p:cNvSpPr txBox="1">
              <a:spLocks noChangeArrowheads="1"/>
            </p:cNvSpPr>
            <p:nvPr/>
          </p:nvSpPr>
          <p:spPr bwMode="auto">
            <a:xfrm>
              <a:off x="2641" y="3533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6</a:t>
              </a:r>
            </a:p>
          </p:txBody>
        </p:sp>
        <p:sp>
          <p:nvSpPr>
            <p:cNvPr id="35937" name="Text Box 56"/>
            <p:cNvSpPr txBox="1">
              <a:spLocks noChangeArrowheads="1"/>
            </p:cNvSpPr>
            <p:nvPr/>
          </p:nvSpPr>
          <p:spPr bwMode="auto">
            <a:xfrm>
              <a:off x="2369" y="4004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1</a:t>
              </a:r>
            </a:p>
          </p:txBody>
        </p:sp>
        <p:sp>
          <p:nvSpPr>
            <p:cNvPr id="35938" name="Text Box 57"/>
            <p:cNvSpPr txBox="1">
              <a:spLocks noChangeArrowheads="1"/>
            </p:cNvSpPr>
            <p:nvPr/>
          </p:nvSpPr>
          <p:spPr bwMode="auto">
            <a:xfrm>
              <a:off x="2097" y="3533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7</a:t>
              </a:r>
            </a:p>
          </p:txBody>
        </p:sp>
        <p:sp>
          <p:nvSpPr>
            <p:cNvPr id="35939" name="Text Box 58"/>
            <p:cNvSpPr txBox="1">
              <a:spLocks noChangeArrowheads="1"/>
            </p:cNvSpPr>
            <p:nvPr/>
          </p:nvSpPr>
          <p:spPr bwMode="auto">
            <a:xfrm>
              <a:off x="1747" y="3323"/>
              <a:ext cx="2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11</a:t>
              </a:r>
            </a:p>
          </p:txBody>
        </p:sp>
        <p:sp>
          <p:nvSpPr>
            <p:cNvPr id="35940" name="Text Box 59"/>
            <p:cNvSpPr txBox="1">
              <a:spLocks noChangeArrowheads="1"/>
            </p:cNvSpPr>
            <p:nvPr/>
          </p:nvSpPr>
          <p:spPr bwMode="auto">
            <a:xfrm>
              <a:off x="1565" y="3731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ea typeface="新細明體" pitchFamily="18" charset="-120"/>
                </a:rPr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940511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504" name="Rectangle 8"/>
          <p:cNvSpPr>
            <a:spLocks noChangeArrowheads="1"/>
          </p:cNvSpPr>
          <p:nvPr/>
        </p:nvSpPr>
        <p:spPr bwMode="auto">
          <a:xfrm>
            <a:off x="817563" y="3732213"/>
            <a:ext cx="7358062" cy="2682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/>
            <a:r>
              <a:rPr lang="en-US"/>
              <a:t>Overall: O(E)</a:t>
            </a:r>
          </a:p>
        </p:txBody>
      </p:sp>
      <p:sp>
        <p:nvSpPr>
          <p:cNvPr id="234505" name="Rectangle 9"/>
          <p:cNvSpPr>
            <a:spLocks noChangeArrowheads="1"/>
          </p:cNvSpPr>
          <p:nvPr/>
        </p:nvSpPr>
        <p:spPr bwMode="auto">
          <a:xfrm>
            <a:off x="785813" y="4635500"/>
            <a:ext cx="7358062" cy="2682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/>
            <a:r>
              <a:rPr lang="en-US"/>
              <a:t>Decrease Key: O(lgV)</a:t>
            </a:r>
          </a:p>
        </p:txBody>
      </p:sp>
      <p:sp>
        <p:nvSpPr>
          <p:cNvPr id="234503" name="Rectangle 7"/>
          <p:cNvSpPr>
            <a:spLocks noChangeArrowheads="1"/>
          </p:cNvSpPr>
          <p:nvPr/>
        </p:nvSpPr>
        <p:spPr bwMode="auto">
          <a:xfrm>
            <a:off x="808038" y="3424238"/>
            <a:ext cx="7358062" cy="2682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/>
            <a:r>
              <a:rPr lang="en-US"/>
              <a:t>Heap: O(lgV)</a:t>
            </a:r>
          </a:p>
        </p:txBody>
      </p:sp>
      <p:sp>
        <p:nvSpPr>
          <p:cNvPr id="234502" name="Rectangle 6"/>
          <p:cNvSpPr>
            <a:spLocks noChangeArrowheads="1"/>
          </p:cNvSpPr>
          <p:nvPr/>
        </p:nvSpPr>
        <p:spPr bwMode="auto">
          <a:xfrm>
            <a:off x="798513" y="3094038"/>
            <a:ext cx="7358062" cy="2682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/>
            <a:r>
              <a:rPr lang="en-US"/>
              <a:t>O(V)</a:t>
            </a:r>
          </a:p>
        </p:txBody>
      </p:sp>
      <p:sp>
        <p:nvSpPr>
          <p:cNvPr id="234501" name="Rectangle 5"/>
          <p:cNvSpPr>
            <a:spLocks noChangeArrowheads="1"/>
          </p:cNvSpPr>
          <p:nvPr/>
        </p:nvSpPr>
        <p:spPr bwMode="auto">
          <a:xfrm>
            <a:off x="819150" y="1976438"/>
            <a:ext cx="7358063" cy="596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/>
            <a:r>
              <a:rPr lang="en-US"/>
              <a:t>O(V)</a:t>
            </a:r>
          </a:p>
        </p:txBody>
      </p:sp>
      <p:sp>
        <p:nvSpPr>
          <p:cNvPr id="3687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50838" y="1423988"/>
            <a:ext cx="8229600" cy="3514725"/>
          </a:xfrm>
          <a:noFill/>
        </p:spPr>
        <p:txBody>
          <a:bodyPr lIns="92075" tIns="46038" rIns="92075" bIns="46038">
            <a:normAutofit fontScale="85000" lnSpcReduction="20000"/>
          </a:bodyPr>
          <a:lstStyle/>
          <a:p>
            <a:pPr algn="just" eaLnBrk="1" hangingPunct="1">
              <a:lnSpc>
                <a:spcPct val="90000"/>
              </a:lnSpc>
              <a:buFontTx/>
              <a:buNone/>
              <a:tabLst>
                <a:tab pos="228600" algn="l"/>
                <a:tab pos="431800" algn="l"/>
                <a:tab pos="647700" algn="l"/>
                <a:tab pos="863600" algn="l"/>
                <a:tab pos="1079500" algn="l"/>
                <a:tab pos="1295400" algn="l"/>
                <a:tab pos="1511300" algn="l"/>
                <a:tab pos="1728788" algn="l"/>
                <a:tab pos="1944688" algn="l"/>
                <a:tab pos="2160588" algn="l"/>
                <a:tab pos="2376488" algn="l"/>
              </a:tabLst>
            </a:pPr>
            <a:r>
              <a:rPr lang="da-DK" sz="2000" b="1" dirty="0">
                <a:latin typeface="Courier New" pitchFamily="49" charset="0"/>
                <a:cs typeface="Times New Roman" pitchFamily="18" charset="0"/>
              </a:rPr>
              <a:t>MST-Prim</a:t>
            </a:r>
            <a:r>
              <a:rPr lang="en-US" sz="2000" dirty="0">
                <a:latin typeface="Courier New" pitchFamily="49" charset="0"/>
                <a:cs typeface="Times New Roman" pitchFamily="18" charset="0"/>
              </a:rPr>
              <a:t>(</a:t>
            </a:r>
            <a:r>
              <a:rPr lang="en-US" sz="2000" dirty="0" err="1">
                <a:latin typeface="Courier New" pitchFamily="49" charset="0"/>
                <a:cs typeface="Times New Roman" pitchFamily="18" charset="0"/>
              </a:rPr>
              <a:t>G,r</a:t>
            </a:r>
            <a:r>
              <a:rPr lang="en-US" sz="2000" dirty="0">
                <a:latin typeface="Courier New" pitchFamily="49" charset="0"/>
                <a:cs typeface="Times New Roman" pitchFamily="18" charset="0"/>
              </a:rPr>
              <a:t>)</a:t>
            </a:r>
          </a:p>
          <a:p>
            <a:pPr algn="just" eaLnBrk="1" hangingPunct="1">
              <a:lnSpc>
                <a:spcPct val="90000"/>
              </a:lnSpc>
              <a:buFontTx/>
              <a:buNone/>
              <a:tabLst>
                <a:tab pos="228600" algn="l"/>
                <a:tab pos="431800" algn="l"/>
                <a:tab pos="647700" algn="l"/>
                <a:tab pos="863600" algn="l"/>
                <a:tab pos="1079500" algn="l"/>
                <a:tab pos="1295400" algn="l"/>
                <a:tab pos="1511300" algn="l"/>
                <a:tab pos="1728788" algn="l"/>
                <a:tab pos="1944688" algn="l"/>
                <a:tab pos="2160588" algn="l"/>
                <a:tab pos="2376488" algn="l"/>
              </a:tabLst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01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 Q </a:t>
            </a:r>
            <a:r>
              <a:rPr lang="en-US" sz="1800" dirty="0">
                <a:latin typeface="Symbol" pitchFamily="18" charset="2"/>
                <a:cs typeface="Courier New" pitchFamily="49" charset="0"/>
              </a:rPr>
              <a:t>¬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 V[G]  // Q – vertices out of T</a:t>
            </a:r>
          </a:p>
          <a:p>
            <a:pPr algn="just" eaLnBrk="1" hangingPunct="1">
              <a:lnSpc>
                <a:spcPct val="90000"/>
              </a:lnSpc>
              <a:buFontTx/>
              <a:buNone/>
              <a:tabLst>
                <a:tab pos="228600" algn="l"/>
                <a:tab pos="431800" algn="l"/>
                <a:tab pos="647700" algn="l"/>
                <a:tab pos="863600" algn="l"/>
                <a:tab pos="1079500" algn="l"/>
                <a:tab pos="1295400" algn="l"/>
                <a:tab pos="1511300" algn="l"/>
                <a:tab pos="1728788" algn="l"/>
                <a:tab pos="1944688" algn="l"/>
                <a:tab pos="2160588" algn="l"/>
                <a:tab pos="2376488" algn="l"/>
              </a:tabLst>
            </a:pPr>
            <a:r>
              <a:rPr lang="en-US" sz="1800" dirty="0">
                <a:latin typeface="Courier New" pitchFamily="49" charset="0"/>
                <a:cs typeface="Times New Roman" pitchFamily="18" charset="0"/>
              </a:rPr>
              <a:t>02 </a:t>
            </a:r>
            <a:r>
              <a:rPr lang="en-US" sz="1800" b="1" dirty="0">
                <a:latin typeface="Courier New" pitchFamily="49" charset="0"/>
                <a:cs typeface="Times New Roman" pitchFamily="18" charset="0"/>
              </a:rPr>
              <a:t>for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 each u </a:t>
            </a:r>
            <a:r>
              <a:rPr lang="en-US" sz="1800" dirty="0">
                <a:latin typeface="Symbol" pitchFamily="18" charset="2"/>
                <a:cs typeface="Times New Roman" pitchFamily="18" charset="0"/>
              </a:rPr>
              <a:t>Î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 Q</a:t>
            </a:r>
          </a:p>
          <a:p>
            <a:pPr algn="just" eaLnBrk="1" hangingPunct="1">
              <a:lnSpc>
                <a:spcPct val="90000"/>
              </a:lnSpc>
              <a:buFontTx/>
              <a:buNone/>
              <a:tabLst>
                <a:tab pos="228600" algn="l"/>
                <a:tab pos="431800" algn="l"/>
                <a:tab pos="647700" algn="l"/>
                <a:tab pos="863600" algn="l"/>
                <a:tab pos="1079500" algn="l"/>
                <a:tab pos="1295400" algn="l"/>
                <a:tab pos="1511300" algn="l"/>
                <a:tab pos="1728788" algn="l"/>
                <a:tab pos="1944688" algn="l"/>
                <a:tab pos="2160588" algn="l"/>
                <a:tab pos="2376488" algn="l"/>
              </a:tabLst>
            </a:pPr>
            <a:r>
              <a:rPr lang="en-US" sz="1800" dirty="0">
                <a:latin typeface="Courier New" pitchFamily="49" charset="0"/>
                <a:cs typeface="Times New Roman" pitchFamily="18" charset="0"/>
              </a:rPr>
              <a:t>03    key[u] </a:t>
            </a:r>
            <a:r>
              <a:rPr lang="en-US" sz="1800" dirty="0">
                <a:latin typeface="Symbol" pitchFamily="18" charset="2"/>
                <a:cs typeface="Courier New" pitchFamily="49" charset="0"/>
              </a:rPr>
              <a:t>¬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1800" dirty="0">
                <a:latin typeface="Symbol" pitchFamily="18" charset="2"/>
                <a:cs typeface="Times New Roman" pitchFamily="18" charset="0"/>
              </a:rPr>
              <a:t>¥</a:t>
            </a:r>
          </a:p>
          <a:p>
            <a:pPr algn="just" eaLnBrk="1" hangingPunct="1">
              <a:lnSpc>
                <a:spcPct val="90000"/>
              </a:lnSpc>
              <a:buFontTx/>
              <a:buNone/>
              <a:tabLst>
                <a:tab pos="228600" algn="l"/>
                <a:tab pos="431800" algn="l"/>
                <a:tab pos="647700" algn="l"/>
                <a:tab pos="863600" algn="l"/>
                <a:tab pos="1079500" algn="l"/>
                <a:tab pos="1295400" algn="l"/>
                <a:tab pos="1511300" algn="l"/>
                <a:tab pos="1728788" algn="l"/>
                <a:tab pos="1944688" algn="l"/>
                <a:tab pos="2160588" algn="l"/>
                <a:tab pos="2376488" algn="l"/>
              </a:tabLst>
            </a:pPr>
            <a:r>
              <a:rPr lang="en-US" sz="1800" dirty="0">
                <a:latin typeface="Courier New" pitchFamily="49" charset="0"/>
                <a:cs typeface="Times New Roman" pitchFamily="18" charset="0"/>
              </a:rPr>
              <a:t>04 key[r] </a:t>
            </a:r>
            <a:r>
              <a:rPr lang="en-US" sz="1800" dirty="0">
                <a:latin typeface="Symbol" pitchFamily="18" charset="2"/>
                <a:cs typeface="Courier New" pitchFamily="49" charset="0"/>
              </a:rPr>
              <a:t>¬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 0</a:t>
            </a:r>
          </a:p>
          <a:p>
            <a:pPr algn="just" eaLnBrk="1" hangingPunct="1">
              <a:lnSpc>
                <a:spcPct val="90000"/>
              </a:lnSpc>
              <a:buFontTx/>
              <a:buNone/>
              <a:tabLst>
                <a:tab pos="228600" algn="l"/>
                <a:tab pos="431800" algn="l"/>
                <a:tab pos="647700" algn="l"/>
                <a:tab pos="863600" algn="l"/>
                <a:tab pos="1079500" algn="l"/>
                <a:tab pos="1295400" algn="l"/>
                <a:tab pos="1511300" algn="l"/>
                <a:tab pos="1728788" algn="l"/>
                <a:tab pos="1944688" algn="l"/>
                <a:tab pos="2160588" algn="l"/>
                <a:tab pos="2376488" algn="l"/>
              </a:tabLst>
            </a:pPr>
            <a:r>
              <a:rPr lang="en-US" sz="1800" dirty="0">
                <a:latin typeface="Courier New" pitchFamily="49" charset="0"/>
                <a:cs typeface="Times New Roman" pitchFamily="18" charset="0"/>
              </a:rPr>
              <a:t>05 </a:t>
            </a:r>
            <a:r>
              <a:rPr lang="en-US" sz="1800" dirty="0">
                <a:latin typeface="Symbol" pitchFamily="18" charset="2"/>
                <a:cs typeface="Times New Roman" pitchFamily="18" charset="0"/>
              </a:rPr>
              <a:t>p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[r] </a:t>
            </a:r>
            <a:r>
              <a:rPr lang="en-US" sz="1800" dirty="0">
                <a:latin typeface="Symbol" pitchFamily="18" charset="2"/>
                <a:cs typeface="Courier New" pitchFamily="49" charset="0"/>
              </a:rPr>
              <a:t>¬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 NIL</a:t>
            </a:r>
          </a:p>
          <a:p>
            <a:pPr algn="just" eaLnBrk="1" hangingPunct="1">
              <a:lnSpc>
                <a:spcPct val="90000"/>
              </a:lnSpc>
              <a:buFontTx/>
              <a:buNone/>
              <a:tabLst>
                <a:tab pos="228600" algn="l"/>
                <a:tab pos="431800" algn="l"/>
                <a:tab pos="647700" algn="l"/>
                <a:tab pos="863600" algn="l"/>
                <a:tab pos="1079500" algn="l"/>
                <a:tab pos="1295400" algn="l"/>
                <a:tab pos="1511300" algn="l"/>
                <a:tab pos="1728788" algn="l"/>
                <a:tab pos="1944688" algn="l"/>
                <a:tab pos="2160588" algn="l"/>
                <a:tab pos="2376488" algn="l"/>
              </a:tabLst>
            </a:pPr>
            <a:r>
              <a:rPr lang="en-US" sz="1800" dirty="0">
                <a:latin typeface="Courier New" pitchFamily="49" charset="0"/>
                <a:cs typeface="Times New Roman" pitchFamily="18" charset="0"/>
              </a:rPr>
              <a:t>06 </a:t>
            </a:r>
            <a:r>
              <a:rPr lang="en-US" sz="1800" b="1" dirty="0">
                <a:latin typeface="Courier New" pitchFamily="49" charset="0"/>
                <a:cs typeface="Times New Roman" pitchFamily="18" charset="0"/>
              </a:rPr>
              <a:t>while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 Q </a:t>
            </a:r>
            <a:r>
              <a:rPr lang="en-US" sz="1800" dirty="0">
                <a:latin typeface="Symbol" pitchFamily="18" charset="2"/>
                <a:cs typeface="Times New Roman" pitchFamily="18" charset="0"/>
              </a:rPr>
              <a:t>¹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1800" dirty="0">
                <a:latin typeface="Symbol" pitchFamily="18" charset="2"/>
                <a:cs typeface="Times New Roman" pitchFamily="18" charset="0"/>
              </a:rPr>
              <a:t>Æ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1800" b="1" dirty="0">
                <a:latin typeface="Courier New" pitchFamily="49" charset="0"/>
                <a:cs typeface="Times New Roman" pitchFamily="18" charset="0"/>
              </a:rPr>
              <a:t>do</a:t>
            </a:r>
            <a:endParaRPr lang="en-US" sz="1800" b="1" dirty="0">
              <a:latin typeface="Symbol" pitchFamily="18" charset="2"/>
              <a:cs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  <a:buFontTx/>
              <a:buNone/>
              <a:tabLst>
                <a:tab pos="228600" algn="l"/>
                <a:tab pos="431800" algn="l"/>
                <a:tab pos="647700" algn="l"/>
                <a:tab pos="863600" algn="l"/>
                <a:tab pos="1079500" algn="l"/>
                <a:tab pos="1295400" algn="l"/>
                <a:tab pos="1511300" algn="l"/>
                <a:tab pos="1728788" algn="l"/>
                <a:tab pos="1944688" algn="l"/>
                <a:tab pos="2160588" algn="l"/>
                <a:tab pos="2376488" algn="l"/>
              </a:tabLst>
            </a:pPr>
            <a:r>
              <a:rPr lang="en-US" sz="1800" dirty="0">
                <a:latin typeface="Courier New" pitchFamily="49" charset="0"/>
                <a:cs typeface="Times New Roman" pitchFamily="18" charset="0"/>
              </a:rPr>
              <a:t>07   u </a:t>
            </a:r>
            <a:r>
              <a:rPr lang="en-US" sz="1800" dirty="0">
                <a:latin typeface="Symbol" pitchFamily="18" charset="2"/>
                <a:cs typeface="Courier New" pitchFamily="49" charset="0"/>
              </a:rPr>
              <a:t>¬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1800" dirty="0" err="1">
                <a:latin typeface="Courier New" pitchFamily="49" charset="0"/>
                <a:cs typeface="Times New Roman" pitchFamily="18" charset="0"/>
              </a:rPr>
              <a:t>ExtractMin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(Q)  // making u part of T</a:t>
            </a:r>
          </a:p>
          <a:p>
            <a:pPr algn="just" eaLnBrk="1" hangingPunct="1">
              <a:lnSpc>
                <a:spcPct val="90000"/>
              </a:lnSpc>
              <a:buFontTx/>
              <a:buNone/>
              <a:tabLst>
                <a:tab pos="228600" algn="l"/>
                <a:tab pos="431800" algn="l"/>
                <a:tab pos="647700" algn="l"/>
                <a:tab pos="863600" algn="l"/>
                <a:tab pos="1079500" algn="l"/>
                <a:tab pos="1295400" algn="l"/>
                <a:tab pos="1511300" algn="l"/>
                <a:tab pos="1728788" algn="l"/>
                <a:tab pos="1944688" algn="l"/>
                <a:tab pos="2160588" algn="l"/>
                <a:tab pos="2376488" algn="l"/>
              </a:tabLst>
            </a:pPr>
            <a:r>
              <a:rPr lang="en-US" sz="1800" dirty="0">
                <a:latin typeface="Courier New" pitchFamily="49" charset="0"/>
                <a:cs typeface="Times New Roman" pitchFamily="18" charset="0"/>
              </a:rPr>
              <a:t>08      </a:t>
            </a:r>
            <a:r>
              <a:rPr lang="en-US" sz="1800" b="1" dirty="0">
                <a:latin typeface="Courier New" pitchFamily="49" charset="0"/>
                <a:cs typeface="Times New Roman" pitchFamily="18" charset="0"/>
              </a:rPr>
              <a:t>for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 each v </a:t>
            </a:r>
            <a:r>
              <a:rPr lang="en-US" sz="1800" dirty="0">
                <a:latin typeface="Symbol" pitchFamily="18" charset="2"/>
                <a:cs typeface="Times New Roman" pitchFamily="18" charset="0"/>
              </a:rPr>
              <a:t>Î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1800" dirty="0" err="1">
                <a:latin typeface="Courier New" pitchFamily="49" charset="0"/>
                <a:cs typeface="Times New Roman" pitchFamily="18" charset="0"/>
              </a:rPr>
              <a:t>Adj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[u] </a:t>
            </a:r>
            <a:r>
              <a:rPr lang="en-US" sz="1800" b="1" dirty="0">
                <a:latin typeface="Courier New" pitchFamily="49" charset="0"/>
                <a:cs typeface="Times New Roman" pitchFamily="18" charset="0"/>
              </a:rPr>
              <a:t>do</a:t>
            </a:r>
          </a:p>
          <a:p>
            <a:pPr algn="just" eaLnBrk="1" hangingPunct="1">
              <a:lnSpc>
                <a:spcPct val="90000"/>
              </a:lnSpc>
              <a:buFontTx/>
              <a:buNone/>
              <a:tabLst>
                <a:tab pos="228600" algn="l"/>
                <a:tab pos="431800" algn="l"/>
                <a:tab pos="647700" algn="l"/>
                <a:tab pos="863600" algn="l"/>
                <a:tab pos="1079500" algn="l"/>
                <a:tab pos="1295400" algn="l"/>
                <a:tab pos="1511300" algn="l"/>
                <a:tab pos="1728788" algn="l"/>
                <a:tab pos="1944688" algn="l"/>
                <a:tab pos="2160588" algn="l"/>
                <a:tab pos="2376488" algn="l"/>
              </a:tabLst>
            </a:pPr>
            <a:r>
              <a:rPr lang="en-US" sz="1800" dirty="0">
                <a:latin typeface="Courier New" pitchFamily="49" charset="0"/>
                <a:cs typeface="Times New Roman" pitchFamily="18" charset="0"/>
              </a:rPr>
              <a:t>09         </a:t>
            </a:r>
            <a:r>
              <a:rPr lang="en-US" sz="1800" b="1" dirty="0">
                <a:latin typeface="Courier New" pitchFamily="49" charset="0"/>
                <a:cs typeface="Times New Roman" pitchFamily="18" charset="0"/>
              </a:rPr>
              <a:t>if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 v </a:t>
            </a:r>
            <a:r>
              <a:rPr lang="en-US" sz="1800" dirty="0">
                <a:latin typeface="Symbol" pitchFamily="18" charset="2"/>
                <a:cs typeface="Times New Roman" pitchFamily="18" charset="0"/>
              </a:rPr>
              <a:t>Î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 Q and w(</a:t>
            </a:r>
            <a:r>
              <a:rPr lang="en-US" sz="1800" dirty="0" err="1">
                <a:latin typeface="Courier New" pitchFamily="49" charset="0"/>
                <a:cs typeface="Times New Roman" pitchFamily="18" charset="0"/>
              </a:rPr>
              <a:t>u,v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) &lt; key[v] </a:t>
            </a:r>
            <a:r>
              <a:rPr lang="en-US" sz="1800" b="1" dirty="0">
                <a:latin typeface="Courier New" pitchFamily="49" charset="0"/>
                <a:cs typeface="Times New Roman" pitchFamily="18" charset="0"/>
              </a:rPr>
              <a:t>then</a:t>
            </a:r>
          </a:p>
          <a:p>
            <a:pPr algn="just" eaLnBrk="1" hangingPunct="1">
              <a:lnSpc>
                <a:spcPct val="90000"/>
              </a:lnSpc>
              <a:buFontTx/>
              <a:buNone/>
              <a:tabLst>
                <a:tab pos="228600" algn="l"/>
                <a:tab pos="431800" algn="l"/>
                <a:tab pos="647700" algn="l"/>
                <a:tab pos="863600" algn="l"/>
                <a:tab pos="1079500" algn="l"/>
                <a:tab pos="1295400" algn="l"/>
                <a:tab pos="1511300" algn="l"/>
                <a:tab pos="1728788" algn="l"/>
                <a:tab pos="1944688" algn="l"/>
                <a:tab pos="2160588" algn="l"/>
                <a:tab pos="2376488" algn="l"/>
              </a:tabLst>
            </a:pPr>
            <a:r>
              <a:rPr lang="en-US" sz="1800" dirty="0">
                <a:latin typeface="Courier New" pitchFamily="49" charset="0"/>
                <a:cs typeface="Times New Roman" pitchFamily="18" charset="0"/>
              </a:rPr>
              <a:t>10            </a:t>
            </a:r>
            <a:r>
              <a:rPr lang="en-US" sz="1800" dirty="0">
                <a:latin typeface="Symbol" pitchFamily="18" charset="2"/>
                <a:cs typeface="Times New Roman" pitchFamily="18" charset="0"/>
              </a:rPr>
              <a:t>p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[v] </a:t>
            </a:r>
            <a:r>
              <a:rPr lang="en-US" sz="1800" dirty="0">
                <a:latin typeface="Symbol" pitchFamily="18" charset="2"/>
                <a:cs typeface="Courier New" pitchFamily="49" charset="0"/>
              </a:rPr>
              <a:t>¬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 u</a:t>
            </a:r>
          </a:p>
          <a:p>
            <a:pPr algn="just" eaLnBrk="1" hangingPunct="1">
              <a:lnSpc>
                <a:spcPct val="90000"/>
              </a:lnSpc>
              <a:buFontTx/>
              <a:buNone/>
              <a:tabLst>
                <a:tab pos="228600" algn="l"/>
                <a:tab pos="431800" algn="l"/>
                <a:tab pos="647700" algn="l"/>
                <a:tab pos="863600" algn="l"/>
                <a:tab pos="1079500" algn="l"/>
                <a:tab pos="1295400" algn="l"/>
                <a:tab pos="1511300" algn="l"/>
                <a:tab pos="1728788" algn="l"/>
                <a:tab pos="1944688" algn="l"/>
                <a:tab pos="2160588" algn="l"/>
                <a:tab pos="2376488" algn="l"/>
              </a:tabLst>
            </a:pPr>
            <a:r>
              <a:rPr lang="en-US" sz="1800" dirty="0">
                <a:latin typeface="Courier New" pitchFamily="49" charset="0"/>
                <a:cs typeface="Times New Roman" pitchFamily="18" charset="0"/>
              </a:rPr>
              <a:t>11            key[v] </a:t>
            </a:r>
            <a:r>
              <a:rPr lang="en-US" sz="1800" dirty="0">
                <a:latin typeface="Symbol" pitchFamily="18" charset="2"/>
                <a:cs typeface="Courier New" pitchFamily="49" charset="0"/>
              </a:rPr>
              <a:t>¬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 w(</a:t>
            </a:r>
            <a:r>
              <a:rPr lang="en-US" sz="1800" dirty="0" err="1">
                <a:latin typeface="Courier New" pitchFamily="49" charset="0"/>
                <a:cs typeface="Times New Roman" pitchFamily="18" charset="0"/>
              </a:rPr>
              <a:t>u,v</a:t>
            </a:r>
            <a:r>
              <a:rPr lang="en-US" sz="1800" dirty="0">
                <a:latin typeface="Courier New" pitchFamily="49" charset="0"/>
                <a:cs typeface="Times New Roman" pitchFamily="18" charset="0"/>
              </a:rPr>
              <a:t>)</a:t>
            </a:r>
          </a:p>
        </p:txBody>
      </p:sp>
      <p:sp>
        <p:nvSpPr>
          <p:cNvPr id="36873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da-DK" dirty="0"/>
              <a:t>Complexity: Prim Algorithm</a:t>
            </a:r>
          </a:p>
        </p:txBody>
      </p:sp>
      <p:sp>
        <p:nvSpPr>
          <p:cNvPr id="234506" name="Rectangle 10"/>
          <p:cNvSpPr>
            <a:spLocks noChangeArrowheads="1"/>
          </p:cNvSpPr>
          <p:nvPr/>
        </p:nvSpPr>
        <p:spPr bwMode="auto">
          <a:xfrm>
            <a:off x="776288" y="5676900"/>
            <a:ext cx="7348537" cy="787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/>
              <a:t>Overall complexity: O(</a:t>
            </a:r>
            <a:r>
              <a:rPr lang="en-US" b="1" i="1"/>
              <a:t>V</a:t>
            </a:r>
            <a:r>
              <a:rPr lang="en-US"/>
              <a:t>)+O(</a:t>
            </a:r>
            <a:r>
              <a:rPr lang="en-US" b="1" i="1"/>
              <a:t>V </a:t>
            </a:r>
            <a:r>
              <a:rPr lang="en-US"/>
              <a:t>lg </a:t>
            </a:r>
            <a:r>
              <a:rPr lang="en-US" b="1" i="1"/>
              <a:t>V</a:t>
            </a:r>
            <a:r>
              <a:rPr lang="en-US"/>
              <a:t>+</a:t>
            </a:r>
            <a:r>
              <a:rPr lang="en-US" b="1" i="1"/>
              <a:t>E </a:t>
            </a:r>
            <a:r>
              <a:rPr lang="en-US"/>
              <a:t>lg </a:t>
            </a:r>
            <a:r>
              <a:rPr lang="en-US" b="1" i="1"/>
              <a:t>V</a:t>
            </a:r>
            <a:r>
              <a:rPr lang="en-US"/>
              <a:t>) = O(</a:t>
            </a:r>
            <a:r>
              <a:rPr lang="en-US" b="1" i="1"/>
              <a:t>E</a:t>
            </a:r>
            <a:r>
              <a:rPr lang="en-US"/>
              <a:t> lg </a:t>
            </a:r>
            <a:r>
              <a:rPr lang="en-US" b="1" i="1"/>
              <a:t>V</a:t>
            </a:r>
            <a:r>
              <a:rPr lang="en-US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8841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504" grpId="0" animBg="1"/>
      <p:bldP spid="234505" grpId="0" animBg="1"/>
      <p:bldP spid="234503" grpId="0" animBg="1"/>
      <p:bldP spid="234502" grpId="0" animBg="1"/>
      <p:bldP spid="234501" grpId="0" animBg="1"/>
      <p:bldP spid="234506" grpId="0" animBg="1"/>
      <p:bldP spid="234506" grpId="1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4830</TotalTime>
  <Words>2795</Words>
  <Application>Microsoft Office PowerPoint</Application>
  <PresentationFormat>On-screen Show (4:3)</PresentationFormat>
  <Paragraphs>1540</Paragraphs>
  <Slides>73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91" baseType="lpstr">
      <vt:lpstr>宋体</vt:lpstr>
      <vt:lpstr>Aharoni</vt:lpstr>
      <vt:lpstr>Arial</vt:lpstr>
      <vt:lpstr>Bookman Old Style</vt:lpstr>
      <vt:lpstr>Britannic Bold</vt:lpstr>
      <vt:lpstr>Calibri</vt:lpstr>
      <vt:lpstr>Calibri (body)</vt:lpstr>
      <vt:lpstr>Calibri Light</vt:lpstr>
      <vt:lpstr>Cambria Math</vt:lpstr>
      <vt:lpstr>Courier New</vt:lpstr>
      <vt:lpstr>Gungsuh</vt:lpstr>
      <vt:lpstr>Impact</vt:lpstr>
      <vt:lpstr>PMingLiU</vt:lpstr>
      <vt:lpstr>PMingLiU</vt:lpstr>
      <vt:lpstr>Symbol</vt:lpstr>
      <vt:lpstr>Times New Roman</vt:lpstr>
      <vt:lpstr>Verdana</vt:lpstr>
      <vt:lpstr>Office Theme</vt:lpstr>
      <vt:lpstr>PowerPoint Presentation</vt:lpstr>
      <vt:lpstr>PowerPoint Presentation</vt:lpstr>
      <vt:lpstr>Which graphs are trees?</vt:lpstr>
      <vt:lpstr>Spanning trees</vt:lpstr>
      <vt:lpstr>Spanning trees</vt:lpstr>
      <vt:lpstr>Spanning trees</vt:lpstr>
      <vt:lpstr>Spanning trees</vt:lpstr>
      <vt:lpstr>Spanning trees of weighted graphs</vt:lpstr>
      <vt:lpstr>Minimum-cost Spanning Tree (MST)</vt:lpstr>
      <vt:lpstr>PowerPoint Presentation</vt:lpstr>
      <vt:lpstr>Definition of MST</vt:lpstr>
      <vt:lpstr>Application of MST</vt:lpstr>
      <vt:lpstr>Application of MST</vt:lpstr>
      <vt:lpstr>Application of MST</vt:lpstr>
      <vt:lpstr>Application of MST</vt:lpstr>
      <vt:lpstr>PowerPoint Presentation</vt:lpstr>
      <vt:lpstr>Kruskal's Algorithm</vt:lpstr>
      <vt:lpstr>Kruskal’s algorithm</vt:lpstr>
      <vt:lpstr>Time Complexity of Kruskal's Algorithm</vt:lpstr>
      <vt:lpstr>Kruskal's Algorithm: Example</vt:lpstr>
      <vt:lpstr>Kruskal's Algorithm: Example</vt:lpstr>
      <vt:lpstr>Kruskal's Algorithm: Example</vt:lpstr>
      <vt:lpstr>Kruskal's Algorithm: Example</vt:lpstr>
      <vt:lpstr>Kruskal's Algorithm: Example</vt:lpstr>
      <vt:lpstr>Kruskal's Algorithm: Example</vt:lpstr>
      <vt:lpstr>Kruskal's Algorithm: Example</vt:lpstr>
      <vt:lpstr>Kruskal's Algorithm: Example</vt:lpstr>
      <vt:lpstr>Kruskal's Algorithm: Example</vt:lpstr>
      <vt:lpstr>Kruskal's Algorithm: Example</vt:lpstr>
      <vt:lpstr>Kruskal's Algorithm: Example</vt:lpstr>
      <vt:lpstr>Kruskal's Algorithm: Example</vt:lpstr>
      <vt:lpstr>Kruskal's Algorithm</vt:lpstr>
      <vt:lpstr>Kruskal’s algorithm in action</vt:lpstr>
      <vt:lpstr>Kruskal’s algorithm in action</vt:lpstr>
      <vt:lpstr>Kruskal’s algorithm in action</vt:lpstr>
      <vt:lpstr>Kruskal’s algorithm in action</vt:lpstr>
      <vt:lpstr>Kruskal’s algorithm in action</vt:lpstr>
      <vt:lpstr>Kruskal’s algorithm in action</vt:lpstr>
      <vt:lpstr>Kruskal’s algorithm in action</vt:lpstr>
      <vt:lpstr>Kruskal’s algorithm in action</vt:lpstr>
      <vt:lpstr>Kruskal’s algorithm in action</vt:lpstr>
      <vt:lpstr>Kruskal’s algorithm in action</vt:lpstr>
      <vt:lpstr>Kruskal’s algorithm in action</vt:lpstr>
      <vt:lpstr>Kruskal’s algorithm in action</vt:lpstr>
      <vt:lpstr>Kruskal’s algorithm in action</vt:lpstr>
      <vt:lpstr>Kruskal’s algorithm in action</vt:lpstr>
      <vt:lpstr>Kruskal’s algorithm in action</vt:lpstr>
      <vt:lpstr>Prim's Algorithm</vt:lpstr>
      <vt:lpstr>Prim's Algorithm</vt:lpstr>
      <vt:lpstr>Running time of Prim's Algorithm</vt:lpstr>
      <vt:lpstr>Prim's Algorithm: Example</vt:lpstr>
      <vt:lpstr>Prim's Algorithm: Example</vt:lpstr>
      <vt:lpstr>Prim's Algorithm: Example</vt:lpstr>
      <vt:lpstr>Prim's Algorithm: Example</vt:lpstr>
      <vt:lpstr>Prim's Algorithm: Example</vt:lpstr>
      <vt:lpstr>Prim's Algorithm: Example</vt:lpstr>
      <vt:lpstr>Prim's Algorithm: Example</vt:lpstr>
      <vt:lpstr>Prim's Algorithm: Example</vt:lpstr>
      <vt:lpstr>Prim's Algorithm: Example</vt:lpstr>
      <vt:lpstr>Prim's Algorithm: Example</vt:lpstr>
      <vt:lpstr>Prim Algorithm:Variables</vt:lpstr>
      <vt:lpstr>Prim Algorithm (2)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Complexity: Prim Algorithm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tmriddle</dc:creator>
  <cp:lastModifiedBy>CSE</cp:lastModifiedBy>
  <cp:revision>261</cp:revision>
  <dcterms:created xsi:type="dcterms:W3CDTF">2014-09-11T18:03:18Z</dcterms:created>
  <dcterms:modified xsi:type="dcterms:W3CDTF">2025-07-25T06:50:15Z</dcterms:modified>
</cp:coreProperties>
</file>