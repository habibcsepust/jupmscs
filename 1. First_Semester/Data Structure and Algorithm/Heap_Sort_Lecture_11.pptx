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78"/>
  </p:notesMasterIdLst>
  <p:sldIdLst>
    <p:sldId id="423" r:id="rId3"/>
    <p:sldId id="414" r:id="rId4"/>
    <p:sldId id="415" r:id="rId5"/>
    <p:sldId id="416" r:id="rId6"/>
    <p:sldId id="262" r:id="rId7"/>
    <p:sldId id="263" r:id="rId8"/>
    <p:sldId id="264" r:id="rId9"/>
    <p:sldId id="265" r:id="rId10"/>
    <p:sldId id="291" r:id="rId11"/>
    <p:sldId id="292" r:id="rId12"/>
    <p:sldId id="333" r:id="rId13"/>
    <p:sldId id="417" r:id="rId14"/>
    <p:sldId id="418" r:id="rId15"/>
    <p:sldId id="419" r:id="rId16"/>
    <p:sldId id="335" r:id="rId17"/>
    <p:sldId id="266" r:id="rId18"/>
    <p:sldId id="267" r:id="rId19"/>
    <p:sldId id="269" r:id="rId20"/>
    <p:sldId id="270" r:id="rId21"/>
    <p:sldId id="273" r:id="rId22"/>
    <p:sldId id="274" r:id="rId23"/>
    <p:sldId id="277" r:id="rId24"/>
    <p:sldId id="278" r:id="rId25"/>
    <p:sldId id="336" r:id="rId26"/>
    <p:sldId id="340" r:id="rId27"/>
    <p:sldId id="338" r:id="rId28"/>
    <p:sldId id="339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50" r:id="rId39"/>
    <p:sldId id="351" r:id="rId40"/>
    <p:sldId id="352" r:id="rId41"/>
    <p:sldId id="353" r:id="rId42"/>
    <p:sldId id="354" r:id="rId43"/>
    <p:sldId id="355" r:id="rId44"/>
    <p:sldId id="356" r:id="rId45"/>
    <p:sldId id="357" r:id="rId46"/>
    <p:sldId id="424" r:id="rId47"/>
    <p:sldId id="425" r:id="rId48"/>
    <p:sldId id="426" r:id="rId49"/>
    <p:sldId id="420" r:id="rId50"/>
    <p:sldId id="421" r:id="rId51"/>
    <p:sldId id="422" r:id="rId52"/>
    <p:sldId id="358" r:id="rId53"/>
    <p:sldId id="359" r:id="rId54"/>
    <p:sldId id="360" r:id="rId55"/>
    <p:sldId id="361" r:id="rId56"/>
    <p:sldId id="362" r:id="rId57"/>
    <p:sldId id="363" r:id="rId58"/>
    <p:sldId id="381" r:id="rId59"/>
    <p:sldId id="364" r:id="rId60"/>
    <p:sldId id="382" r:id="rId61"/>
    <p:sldId id="365" r:id="rId62"/>
    <p:sldId id="367" r:id="rId63"/>
    <p:sldId id="369" r:id="rId64"/>
    <p:sldId id="370" r:id="rId65"/>
    <p:sldId id="371" r:id="rId66"/>
    <p:sldId id="372" r:id="rId67"/>
    <p:sldId id="373" r:id="rId68"/>
    <p:sldId id="374" r:id="rId69"/>
    <p:sldId id="375" r:id="rId70"/>
    <p:sldId id="376" r:id="rId71"/>
    <p:sldId id="377" r:id="rId72"/>
    <p:sldId id="378" r:id="rId73"/>
    <p:sldId id="379" r:id="rId74"/>
    <p:sldId id="380" r:id="rId75"/>
    <p:sldId id="408" r:id="rId76"/>
    <p:sldId id="413" r:id="rId7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9" autoAdjust="0"/>
    <p:restoredTop sz="94707" autoAdjust="0"/>
  </p:normalViewPr>
  <p:slideViewPr>
    <p:cSldViewPr snapToGrid="0">
      <p:cViewPr varScale="1">
        <p:scale>
          <a:sx n="108" d="100"/>
          <a:sy n="108" d="100"/>
        </p:scale>
        <p:origin x="187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8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3/29/2024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43BD25-475B-4AA4-960B-767DC2DCA6CA}" type="slidenum">
              <a:rPr lang="en-US"/>
              <a:pPr/>
              <a:t>2</a:t>
            </a:fld>
            <a:endParaRPr lang="en-US"/>
          </a:p>
        </p:txBody>
      </p:sp>
      <p:sp>
        <p:nvSpPr>
          <p:cNvPr id="498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51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5ED311-2125-4C6D-99F9-4B6C59D2BD99}" type="slidenum">
              <a:rPr lang="en-US"/>
              <a:pPr/>
              <a:t>3</a:t>
            </a:fld>
            <a:endParaRPr lang="en-US"/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12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45EC8D-D268-4A9A-B716-F61D3C613230}" type="slidenum">
              <a:rPr lang="en-US"/>
              <a:pPr/>
              <a:t>4</a:t>
            </a:fld>
            <a:endParaRPr lang="en-US"/>
          </a:p>
        </p:txBody>
      </p:sp>
      <p:sp>
        <p:nvSpPr>
          <p:cNvPr id="500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0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B3A6F9-0854-4805-B2EC-464F178C55D1}" type="slidenum">
              <a:rPr lang="en-US"/>
              <a:pPr/>
              <a:t>12</a:t>
            </a:fld>
            <a:endParaRPr lang="en-US"/>
          </a:p>
        </p:txBody>
      </p:sp>
      <p:sp>
        <p:nvSpPr>
          <p:cNvPr id="505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14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266928-646B-42EE-BDD7-721A3215639A}" type="slidenum">
              <a:rPr lang="en-US"/>
              <a:pPr/>
              <a:t>13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20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D9F03E-89C4-4C11-AC28-E83C260F302D}" type="slidenum">
              <a:rPr lang="en-US"/>
              <a:pPr/>
              <a:t>14</a:t>
            </a:fld>
            <a:endParaRPr lang="en-US"/>
          </a:p>
        </p:txBody>
      </p:sp>
      <p:sp>
        <p:nvSpPr>
          <p:cNvPr id="507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7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24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1692ED-E269-4E9C-907F-EBCB0E8FEAE8}" type="slidenum">
              <a:rPr lang="en-US"/>
              <a:pPr/>
              <a:t>48</a:t>
            </a:fld>
            <a:endParaRPr lang="en-US"/>
          </a:p>
        </p:txBody>
      </p:sp>
      <p:sp>
        <p:nvSpPr>
          <p:cNvPr id="514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82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9DBC03-E28E-43D3-A45A-B8A84A6C92D3}" type="slidenum">
              <a:rPr lang="en-US"/>
              <a:pPr/>
              <a:t>49</a:t>
            </a:fld>
            <a:endParaRPr lang="en-US"/>
          </a:p>
        </p:txBody>
      </p:sp>
      <p:sp>
        <p:nvSpPr>
          <p:cNvPr id="515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26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492D85-3BEF-42A0-81D0-64C12FE8F68D}" type="slidenum">
              <a:rPr lang="en-US"/>
              <a:pPr/>
              <a:t>50</a:t>
            </a:fld>
            <a:endParaRPr lang="en-US"/>
          </a:p>
        </p:txBody>
      </p:sp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53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BFC06F-E066-4990-8255-AC6D13D9CED4}" type="slidenum">
              <a:rPr lang="en-US">
                <a:solidFill>
                  <a:prstClr val="black"/>
                </a:solidFill>
              </a:rPr>
              <a:pPr/>
              <a:t>75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07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 smtClean="0"/>
              <a:t>Lecture 01</a:t>
            </a:r>
            <a:br>
              <a:rPr lang="en-US" dirty="0" smtClean="0"/>
            </a:br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DA37-6BF5-4F75-B438-59F7269D5592}" type="datetime1">
              <a:rPr lang="en-US" smtClean="0"/>
              <a:pPr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95B3-E764-439C-87AC-88F6C5F38BD2}" type="datetime1">
              <a:rPr lang="en-US" smtClean="0"/>
              <a:pPr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7E268-5929-4752-B652-0800A9810445}" type="datetime1">
              <a:rPr lang="en-US" smtClean="0"/>
              <a:pPr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BD601-0399-4B94-8B3F-DCE0EDFF85E4}" type="datetime1">
              <a:rPr lang="en-US" smtClean="0"/>
              <a:pPr/>
              <a:t>3/29/2024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DD6F-F691-4066-B042-102890CCA6CB}" type="datetime1">
              <a:rPr lang="en-US" smtClean="0"/>
              <a:pPr/>
              <a:t>3/29/2024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48A8-E02B-433E-B767-E513AE7D9989}" type="datetime1">
              <a:rPr lang="en-US" smtClean="0"/>
              <a:pPr/>
              <a:t>3/29/2024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427B-EB62-43FE-A75C-834859F59C56}" type="datetime1">
              <a:rPr lang="en-US" smtClean="0"/>
              <a:pPr/>
              <a:t>3/29/2024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ACD5-90AD-4155-9B7A-52AF80027E7C}" type="datetime1">
              <a:rPr lang="en-US" smtClean="0"/>
              <a:pPr/>
              <a:t>3/29/2024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46BA7-19C7-4830-9F7A-670C80FC9666}" type="datetime1">
              <a:rPr lang="en-US" smtClean="0"/>
              <a:pPr/>
              <a:t>3/29/2024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B16AE-679F-472D-81FA-247FEBCC9E2A}" type="datetime1">
              <a:rPr lang="en-US" smtClean="0"/>
              <a:pPr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0724-73AD-46B9-BFB8-8CFD10D4A854}" type="datetime1">
              <a:rPr lang="en-US" smtClean="0"/>
              <a:pPr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B658775A-FD75-4F19-AC7E-1089C7994EF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25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E9B9C82B-9EDC-431F-A44A-A0FF9AE8DE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66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0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50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088B3952-0DAD-4234-8D62-52771D65CD8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04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</a:rPr>
              <a:t>CS 477/677 - Lecture 8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F577A66-4726-4211-9122-7F7ED983006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175" name="AutoShape 7"/>
          <p:cNvSpPr>
            <a:spLocks noChangeArrowheads="1"/>
          </p:cNvSpPr>
          <p:nvPr userDrawn="1"/>
        </p:nvSpPr>
        <p:spPr bwMode="auto">
          <a:xfrm>
            <a:off x="327025" y="3671888"/>
            <a:ext cx="8237538" cy="1762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50000">
                <a:schemeClr val="tx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E6D1423-34A1-4FB9-A4CC-50C6AE13809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7463BC-9639-4C7B-A133-A7B21C83701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B894633-4405-4CEB-B34B-C65ECB0D203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EF2BAA-CA22-4EC0-B8E9-02A8D13E0FA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A07F39E-5A9E-459F-BFBF-59F47B0726B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CDFA03E-02B4-4E0E-8668-1420012E97C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DD605B-A079-4C81-9F79-F641D6ECA42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806E047-ABDE-489C-907C-883B35C19B8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3012D49-11C5-4CF4-8F1E-F2D30658BB3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100013"/>
            <a:ext cx="2058988" cy="6191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1313" y="100013"/>
            <a:ext cx="6027737" cy="6191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E5C581-2DFD-4E22-8CE4-0DA4957D39C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0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350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7470B7C8-6FDA-4077-A1C6-4AF29880AAA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D2D75FD2-9732-46B0-879E-9859DEFEF1E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F29DAF1-85AA-4D61-987F-BA16F0CFB5A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50AC5B14-F4B3-4DBF-9AAE-269D4948797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0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50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4CDA14D6-A4E1-470B-81DF-E52324DB47F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3790A-6BD6-40EC-A63A-C23EA9F5ADAE}" type="datetime1">
              <a:rPr lang="en-US" smtClean="0"/>
              <a:pPr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9" r:id="rId12"/>
    <p:sldLayoutId id="2147483690" r:id="rId13"/>
    <p:sldLayoutId id="2147483691" r:id="rId14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1313" y="100013"/>
            <a:ext cx="8229600" cy="90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0838" y="1214438"/>
            <a:ext cx="822960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92FBE87-8397-4850-B2BD-10EA27EEFB22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35" name="AutoShape 11"/>
          <p:cNvSpPr>
            <a:spLocks noChangeArrowheads="1"/>
          </p:cNvSpPr>
          <p:nvPr userDrawn="1"/>
        </p:nvSpPr>
        <p:spPr bwMode="auto">
          <a:xfrm>
            <a:off x="327025" y="989013"/>
            <a:ext cx="8237538" cy="1762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50000">
                <a:schemeClr val="tx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8" Type="http://schemas.openxmlformats.org/officeDocument/2006/relationships/image" Target="../media/image14.png"/><Relationship Id="rId3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8" Type="http://schemas.openxmlformats.org/officeDocument/2006/relationships/image" Target="../media/image14.png"/><Relationship Id="rId3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8" Type="http://schemas.openxmlformats.org/officeDocument/2006/relationships/image" Target="../media/image14.png"/><Relationship Id="rId3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47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51.wmf"/><Relationship Id="rId18" Type="http://schemas.openxmlformats.org/officeDocument/2006/relationships/image" Target="../media/image5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47.w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50.wmf"/><Relationship Id="rId5" Type="http://schemas.openxmlformats.org/officeDocument/2006/relationships/image" Target="../media/image48.wmf"/><Relationship Id="rId15" Type="http://schemas.openxmlformats.org/officeDocument/2006/relationships/image" Target="../media/image52.wmf"/><Relationship Id="rId10" Type="http://schemas.openxmlformats.org/officeDocument/2006/relationships/oleObject" Target="../embeddings/oleObject12.bin"/><Relationship Id="rId19" Type="http://schemas.microsoft.com/office/2007/relationships/hdphoto" Target="../media/hdphoto1.wdp"/><Relationship Id="rId4" Type="http://schemas.openxmlformats.org/officeDocument/2006/relationships/oleObject" Target="../embeddings/oleObject9.bin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14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54.png"/><Relationship Id="rId4" Type="http://schemas.openxmlformats.org/officeDocument/2006/relationships/oleObject" Target="../embeddings/oleObject16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5800" y="877716"/>
            <a:ext cx="7772400" cy="15515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altLang="en-US" sz="6600" b="1" dirty="0"/>
              <a:t>Data Structure and Algorithm</a:t>
            </a:r>
            <a:br>
              <a:rPr lang="en-US" altLang="en-US" sz="6600" b="1" dirty="0"/>
            </a:br>
            <a:r>
              <a:rPr lang="en-US" altLang="en-US" sz="4800" b="1" dirty="0">
                <a:solidFill>
                  <a:srgbClr val="00B050"/>
                </a:solidFill>
              </a:rPr>
              <a:t>(PMSCS 623P)</a:t>
            </a:r>
            <a:endParaRPr lang="en-US" altLang="en-US" sz="4800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1600" y="4038600"/>
            <a:ext cx="6400800" cy="1752600"/>
          </a:xfrm>
          <a:prstGeom prst="rect">
            <a:avLst/>
          </a:prstGeom>
        </p:spPr>
        <p:txBody>
          <a:bodyPr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20000" smtClean="0"/>
              <a:t>Lecture 11</a:t>
            </a:r>
            <a:endParaRPr lang="en-US" sz="19200" dirty="0" smtClean="0"/>
          </a:p>
          <a:p>
            <a:pPr marL="0" indent="0" algn="ctr">
              <a:buNone/>
              <a:defRPr/>
            </a:pPr>
            <a:r>
              <a:rPr lang="en-US" sz="10000" dirty="0">
                <a:solidFill>
                  <a:schemeClr val="accent1">
                    <a:lumMod val="50000"/>
                  </a:schemeClr>
                </a:solidFill>
              </a:rPr>
              <a:t>Divide and Conquer </a:t>
            </a:r>
            <a:r>
              <a:rPr lang="en-US" sz="10000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sz="10000" dirty="0" err="1" smtClean="0">
                <a:solidFill>
                  <a:schemeClr val="accent1">
                    <a:lumMod val="50000"/>
                  </a:schemeClr>
                </a:solidFill>
              </a:rPr>
              <a:t>Heapsort</a:t>
            </a:r>
            <a:r>
              <a:rPr lang="en-US" sz="100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sz="10000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04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Special Types of Trees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214438"/>
            <a:ext cx="5299075" cy="5145087"/>
          </a:xfrm>
        </p:spPr>
        <p:txBody>
          <a:bodyPr/>
          <a:lstStyle/>
          <a:p>
            <a:r>
              <a:rPr lang="en-US" dirty="0" err="1">
                <a:solidFill>
                  <a:srgbClr val="DD0111"/>
                </a:solidFill>
                <a:latin typeface="Monotype Corsiva" panose="03010101010201010101" pitchFamily="66" charset="0"/>
              </a:rPr>
              <a:t>Def</a:t>
            </a:r>
            <a:r>
              <a:rPr lang="en-US" dirty="0">
                <a:solidFill>
                  <a:srgbClr val="DD0111"/>
                </a:solidFill>
                <a:latin typeface="Monotype Corsiva" panose="03010101010201010101" pitchFamily="66" charset="0"/>
              </a:rPr>
              <a:t>:</a:t>
            </a:r>
            <a:r>
              <a:rPr lang="en-US" dirty="0">
                <a:latin typeface="Monotype Corsiva" panose="03010101010201010101" pitchFamily="66" charset="0"/>
              </a:rPr>
              <a:t> </a:t>
            </a:r>
            <a:r>
              <a:rPr lang="en-US" dirty="0">
                <a:latin typeface="Comic Sans MS" panose="030F0702030302020204" pitchFamily="66" charset="0"/>
              </a:rPr>
              <a:t>Full binary tree = </a:t>
            </a:r>
            <a:r>
              <a:rPr lang="en-US" dirty="0">
                <a:solidFill>
                  <a:schemeClr val="tx1"/>
                </a:solidFill>
              </a:rPr>
              <a:t>a binary tree in which each node is either a leaf or has degree exactly 2.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 err="1">
                <a:solidFill>
                  <a:srgbClr val="DD0111"/>
                </a:solidFill>
                <a:latin typeface="Monotype Corsiva" panose="03010101010201010101" pitchFamily="66" charset="0"/>
              </a:rPr>
              <a:t>Def</a:t>
            </a:r>
            <a:r>
              <a:rPr lang="en-US" dirty="0">
                <a:solidFill>
                  <a:srgbClr val="DD0111"/>
                </a:solidFill>
                <a:latin typeface="Monotype Corsiva" panose="03010101010201010101" pitchFamily="66" charset="0"/>
              </a:rPr>
              <a:t>:</a:t>
            </a:r>
            <a:r>
              <a:rPr lang="en-US" dirty="0">
                <a:latin typeface="Monotype Corsiva" panose="03010101010201010101" pitchFamily="66" charset="0"/>
              </a:rPr>
              <a:t> </a:t>
            </a:r>
            <a:r>
              <a:rPr lang="en-US" dirty="0">
                <a:latin typeface="Comic Sans MS" panose="030F0702030302020204" pitchFamily="66" charset="0"/>
              </a:rPr>
              <a:t>Complete binary tree = </a:t>
            </a:r>
            <a:r>
              <a:rPr lang="en-US" dirty="0"/>
              <a:t>A complete binary tree is a binary tree in which every level, except possibly the last, is completely filled, and all nodes are as far left as possible. 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15396" name="Group 4"/>
          <p:cNvGrpSpPr>
            <a:grpSpLocks/>
          </p:cNvGrpSpPr>
          <p:nvPr/>
        </p:nvGrpSpPr>
        <p:grpSpPr bwMode="auto">
          <a:xfrm>
            <a:off x="5856288" y="1271588"/>
            <a:ext cx="2943225" cy="2225675"/>
            <a:chOff x="528" y="2486"/>
            <a:chExt cx="1854" cy="1402"/>
          </a:xfrm>
        </p:grpSpPr>
        <p:sp>
          <p:nvSpPr>
            <p:cNvPr id="315397" name="Line 5"/>
            <p:cNvSpPr>
              <a:spLocks noChangeAspect="1" noChangeShapeType="1"/>
            </p:cNvSpPr>
            <p:nvPr/>
          </p:nvSpPr>
          <p:spPr bwMode="auto">
            <a:xfrm rot="16200000" flipV="1">
              <a:off x="1411" y="3272"/>
              <a:ext cx="351" cy="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398" name="Text Box 6"/>
            <p:cNvSpPr txBox="1">
              <a:spLocks noChangeArrowheads="1"/>
            </p:cNvSpPr>
            <p:nvPr/>
          </p:nvSpPr>
          <p:spPr bwMode="auto">
            <a:xfrm>
              <a:off x="853" y="3657"/>
              <a:ext cx="10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Full binary tree</a:t>
              </a:r>
            </a:p>
          </p:txBody>
        </p:sp>
        <p:sp>
          <p:nvSpPr>
            <p:cNvPr id="315399" name="Line 7"/>
            <p:cNvSpPr>
              <a:spLocks noChangeAspect="1" noChangeShapeType="1"/>
            </p:cNvSpPr>
            <p:nvPr/>
          </p:nvSpPr>
          <p:spPr bwMode="auto">
            <a:xfrm flipV="1">
              <a:off x="1242" y="3298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400" name="Line 8"/>
            <p:cNvSpPr>
              <a:spLocks noChangeAspect="1" noChangeShapeType="1"/>
            </p:cNvSpPr>
            <p:nvPr/>
          </p:nvSpPr>
          <p:spPr bwMode="auto">
            <a:xfrm flipV="1">
              <a:off x="1709" y="30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401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807" y="3257"/>
              <a:ext cx="351" cy="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402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49" y="300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403" name="Line 11"/>
            <p:cNvSpPr>
              <a:spLocks noChangeAspect="1" noChangeShapeType="1"/>
            </p:cNvSpPr>
            <p:nvPr/>
          </p:nvSpPr>
          <p:spPr bwMode="auto">
            <a:xfrm rot="16200000" flipV="1">
              <a:off x="1545" y="2554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404" name="Line 12"/>
            <p:cNvSpPr>
              <a:spLocks noChangeShapeType="1"/>
            </p:cNvSpPr>
            <p:nvPr/>
          </p:nvSpPr>
          <p:spPr bwMode="auto">
            <a:xfrm flipV="1">
              <a:off x="634" y="2582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405" name="Oval 13"/>
            <p:cNvSpPr>
              <a:spLocks noChangeArrowheads="1"/>
            </p:cNvSpPr>
            <p:nvPr/>
          </p:nvSpPr>
          <p:spPr bwMode="auto">
            <a:xfrm>
              <a:off x="778" y="31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315406" name="Oval 14"/>
            <p:cNvSpPr>
              <a:spLocks noChangeArrowheads="1"/>
            </p:cNvSpPr>
            <p:nvPr/>
          </p:nvSpPr>
          <p:spPr bwMode="auto">
            <a:xfrm>
              <a:off x="528" y="344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315407" name="Oval 15"/>
            <p:cNvSpPr>
              <a:spLocks noChangeArrowheads="1"/>
            </p:cNvSpPr>
            <p:nvPr/>
          </p:nvSpPr>
          <p:spPr bwMode="auto">
            <a:xfrm>
              <a:off x="970" y="344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315408" name="Oval 16"/>
            <p:cNvSpPr>
              <a:spLocks noChangeArrowheads="1"/>
            </p:cNvSpPr>
            <p:nvPr/>
          </p:nvSpPr>
          <p:spPr bwMode="auto">
            <a:xfrm>
              <a:off x="1066" y="2918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315409" name="Oval 17"/>
            <p:cNvSpPr>
              <a:spLocks noChangeArrowheads="1"/>
            </p:cNvSpPr>
            <p:nvPr/>
          </p:nvSpPr>
          <p:spPr bwMode="auto">
            <a:xfrm>
              <a:off x="1354" y="31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315410" name="Oval 18"/>
            <p:cNvSpPr>
              <a:spLocks noChangeArrowheads="1"/>
            </p:cNvSpPr>
            <p:nvPr/>
          </p:nvSpPr>
          <p:spPr bwMode="auto">
            <a:xfrm>
              <a:off x="1210" y="344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315411" name="Oval 19"/>
            <p:cNvSpPr>
              <a:spLocks noChangeArrowheads="1"/>
            </p:cNvSpPr>
            <p:nvPr/>
          </p:nvSpPr>
          <p:spPr bwMode="auto">
            <a:xfrm>
              <a:off x="1522" y="248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315412" name="Oval 20"/>
            <p:cNvSpPr>
              <a:spLocks noChangeArrowheads="1"/>
            </p:cNvSpPr>
            <p:nvPr/>
          </p:nvSpPr>
          <p:spPr bwMode="auto">
            <a:xfrm>
              <a:off x="1928" y="2918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315413" name="Oval 21"/>
            <p:cNvSpPr>
              <a:spLocks noChangeArrowheads="1"/>
            </p:cNvSpPr>
            <p:nvPr/>
          </p:nvSpPr>
          <p:spPr bwMode="auto">
            <a:xfrm>
              <a:off x="1604" y="31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315414" name="Oval 22"/>
            <p:cNvSpPr>
              <a:spLocks noChangeArrowheads="1"/>
            </p:cNvSpPr>
            <p:nvPr/>
          </p:nvSpPr>
          <p:spPr bwMode="auto">
            <a:xfrm>
              <a:off x="2180" y="319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315415" name="Oval 23"/>
            <p:cNvSpPr>
              <a:spLocks noChangeArrowheads="1"/>
            </p:cNvSpPr>
            <p:nvPr/>
          </p:nvSpPr>
          <p:spPr bwMode="auto">
            <a:xfrm>
              <a:off x="1574" y="346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739620" y="3873506"/>
            <a:ext cx="2885268" cy="2741617"/>
            <a:chOff x="5739620" y="3873506"/>
            <a:chExt cx="2885268" cy="2741617"/>
          </a:xfrm>
        </p:grpSpPr>
        <p:grpSp>
          <p:nvGrpSpPr>
            <p:cNvPr id="315416" name="Group 24"/>
            <p:cNvGrpSpPr>
              <a:grpSpLocks/>
            </p:cNvGrpSpPr>
            <p:nvPr/>
          </p:nvGrpSpPr>
          <p:grpSpPr bwMode="auto">
            <a:xfrm>
              <a:off x="6078538" y="3873506"/>
              <a:ext cx="2546350" cy="2741617"/>
              <a:chOff x="3120" y="2496"/>
              <a:chExt cx="1604" cy="1727"/>
            </a:xfrm>
          </p:grpSpPr>
          <p:sp>
            <p:nvSpPr>
              <p:cNvPr id="315417" name="Line 25"/>
              <p:cNvSpPr>
                <a:spLocks noChangeShapeType="1"/>
              </p:cNvSpPr>
              <p:nvPr/>
            </p:nvSpPr>
            <p:spPr bwMode="auto">
              <a:xfrm flipV="1">
                <a:off x="3188" y="2592"/>
                <a:ext cx="816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418" name="Text Box 26"/>
              <p:cNvSpPr txBox="1">
                <a:spLocks noChangeArrowheads="1"/>
              </p:cNvSpPr>
              <p:nvPr/>
            </p:nvSpPr>
            <p:spPr bwMode="auto">
              <a:xfrm>
                <a:off x="3176" y="3992"/>
                <a:ext cx="14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Complete binary tree</a:t>
                </a:r>
              </a:p>
            </p:txBody>
          </p:sp>
          <p:sp>
            <p:nvSpPr>
              <p:cNvPr id="315419" name="Line 27"/>
              <p:cNvSpPr>
                <a:spLocks noChangeAspect="1" noChangeShapeType="1"/>
              </p:cNvSpPr>
              <p:nvPr/>
            </p:nvSpPr>
            <p:spPr bwMode="auto">
              <a:xfrm flipV="1">
                <a:off x="4051" y="3021"/>
                <a:ext cx="322" cy="3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420" name="Line 28"/>
              <p:cNvSpPr>
                <a:spLocks noChangeAspect="1" noChangeShapeType="1"/>
              </p:cNvSpPr>
              <p:nvPr/>
            </p:nvSpPr>
            <p:spPr bwMode="auto">
              <a:xfrm rot="16200000" flipV="1">
                <a:off x="3491" y="3016"/>
                <a:ext cx="322" cy="3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421" name="Line 29"/>
              <p:cNvSpPr>
                <a:spLocks noChangeAspect="1" noChangeShapeType="1"/>
              </p:cNvSpPr>
              <p:nvPr/>
            </p:nvSpPr>
            <p:spPr bwMode="auto">
              <a:xfrm rot="16200000" flipV="1">
                <a:off x="3887" y="2564"/>
                <a:ext cx="806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422" name="Oval 30"/>
              <p:cNvSpPr>
                <a:spLocks noChangeArrowheads="1"/>
              </p:cNvSpPr>
              <p:nvPr/>
            </p:nvSpPr>
            <p:spPr bwMode="auto">
              <a:xfrm>
                <a:off x="3120" y="3206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315423" name="Oval 31"/>
              <p:cNvSpPr>
                <a:spLocks noChangeArrowheads="1"/>
              </p:cNvSpPr>
              <p:nvPr/>
            </p:nvSpPr>
            <p:spPr bwMode="auto">
              <a:xfrm>
                <a:off x="3408" y="292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1</a:t>
                </a:r>
              </a:p>
            </p:txBody>
          </p:sp>
          <p:sp>
            <p:nvSpPr>
              <p:cNvPr id="315424" name="Oval 32"/>
              <p:cNvSpPr>
                <a:spLocks noChangeArrowheads="1"/>
              </p:cNvSpPr>
              <p:nvPr/>
            </p:nvSpPr>
            <p:spPr bwMode="auto">
              <a:xfrm>
                <a:off x="3696" y="3206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16</a:t>
                </a:r>
              </a:p>
            </p:txBody>
          </p:sp>
          <p:sp>
            <p:nvSpPr>
              <p:cNvPr id="315425" name="Oval 33"/>
              <p:cNvSpPr>
                <a:spLocks noChangeArrowheads="1"/>
              </p:cNvSpPr>
              <p:nvPr/>
            </p:nvSpPr>
            <p:spPr bwMode="auto">
              <a:xfrm>
                <a:off x="3864" y="2496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4</a:t>
                </a:r>
              </a:p>
            </p:txBody>
          </p:sp>
          <p:sp>
            <p:nvSpPr>
              <p:cNvPr id="315426" name="Oval 34"/>
              <p:cNvSpPr>
                <a:spLocks noChangeArrowheads="1"/>
              </p:cNvSpPr>
              <p:nvPr/>
            </p:nvSpPr>
            <p:spPr bwMode="auto">
              <a:xfrm>
                <a:off x="4270" y="292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3</a:t>
                </a:r>
              </a:p>
            </p:txBody>
          </p:sp>
          <p:sp>
            <p:nvSpPr>
              <p:cNvPr id="315427" name="Oval 35"/>
              <p:cNvSpPr>
                <a:spLocks noChangeArrowheads="1"/>
              </p:cNvSpPr>
              <p:nvPr/>
            </p:nvSpPr>
            <p:spPr bwMode="auto">
              <a:xfrm>
                <a:off x="3946" y="3206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9</a:t>
                </a:r>
              </a:p>
            </p:txBody>
          </p:sp>
          <p:sp>
            <p:nvSpPr>
              <p:cNvPr id="315428" name="Oval 36"/>
              <p:cNvSpPr>
                <a:spLocks noChangeArrowheads="1"/>
              </p:cNvSpPr>
              <p:nvPr/>
            </p:nvSpPr>
            <p:spPr bwMode="auto">
              <a:xfrm>
                <a:off x="4522" y="3206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10</a:t>
                </a:r>
              </a:p>
            </p:txBody>
          </p:sp>
        </p:grpSp>
        <p:sp>
          <p:nvSpPr>
            <p:cNvPr id="40" name="Oval 30"/>
            <p:cNvSpPr>
              <a:spLocks noChangeArrowheads="1"/>
            </p:cNvSpPr>
            <p:nvPr/>
          </p:nvSpPr>
          <p:spPr bwMode="auto">
            <a:xfrm>
              <a:off x="5739620" y="5576111"/>
              <a:ext cx="320675" cy="32067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12</a:t>
              </a:r>
              <a:endParaRPr lang="en-US" dirty="0"/>
            </a:p>
          </p:txBody>
        </p:sp>
        <p:sp>
          <p:nvSpPr>
            <p:cNvPr id="41" name="Line 25"/>
            <p:cNvSpPr>
              <a:spLocks noChangeShapeType="1"/>
            </p:cNvSpPr>
            <p:nvPr/>
          </p:nvSpPr>
          <p:spPr bwMode="auto">
            <a:xfrm flipV="1">
              <a:off x="5963445" y="5321308"/>
              <a:ext cx="203994" cy="2548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37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Definitions</a:t>
            </a:r>
          </a:p>
        </p:txBody>
      </p:sp>
      <p:sp>
        <p:nvSpPr>
          <p:cNvPr id="49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/>
              <a:t>Height </a:t>
            </a:r>
            <a:r>
              <a:rPr lang="en-US" sz="2400"/>
              <a:t>of a node = </a:t>
            </a:r>
            <a:r>
              <a:rPr lang="en-US" sz="2400">
                <a:solidFill>
                  <a:schemeClr val="tx1"/>
                </a:solidFill>
              </a:rPr>
              <a:t>the number of edges on the longest simple path from the node down to a leaf</a:t>
            </a:r>
          </a:p>
          <a:p>
            <a:r>
              <a:rPr lang="en-US" sz="2400" b="1"/>
              <a:t>Level</a:t>
            </a:r>
            <a:r>
              <a:rPr lang="en-US" sz="2400"/>
              <a:t> of a node = </a:t>
            </a:r>
            <a:r>
              <a:rPr lang="en-US" sz="2400">
                <a:solidFill>
                  <a:schemeClr val="tx1"/>
                </a:solidFill>
              </a:rPr>
              <a:t>the length of a path from the root to the node</a:t>
            </a:r>
          </a:p>
          <a:p>
            <a:r>
              <a:rPr lang="en-US" sz="2400" b="1"/>
              <a:t>Height </a:t>
            </a:r>
            <a:r>
              <a:rPr lang="en-US" sz="2400"/>
              <a:t>of tree = </a:t>
            </a:r>
            <a:r>
              <a:rPr lang="en-US" sz="2400">
                <a:solidFill>
                  <a:schemeClr val="tx1"/>
                </a:solidFill>
              </a:rPr>
              <a:t>height of root node </a:t>
            </a:r>
          </a:p>
          <a:p>
            <a:pPr>
              <a:buFontTx/>
              <a:buNone/>
            </a:pPr>
            <a:r>
              <a:rPr lang="en-US" sz="2400">
                <a:solidFill>
                  <a:schemeClr val="tx1"/>
                </a:solidFill>
              </a:rPr>
              <a:t>			</a:t>
            </a:r>
          </a:p>
        </p:txBody>
      </p:sp>
      <p:sp>
        <p:nvSpPr>
          <p:cNvPr id="493572" name="Line 4"/>
          <p:cNvSpPr>
            <a:spLocks noChangeAspect="1" noChangeShapeType="1"/>
          </p:cNvSpPr>
          <p:nvPr/>
        </p:nvSpPr>
        <p:spPr bwMode="auto">
          <a:xfrm flipV="1">
            <a:off x="4722813" y="4791075"/>
            <a:ext cx="511175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73" name="Line 5"/>
          <p:cNvSpPr>
            <a:spLocks noChangeAspect="1" noChangeShapeType="1"/>
          </p:cNvSpPr>
          <p:nvPr/>
        </p:nvSpPr>
        <p:spPr bwMode="auto">
          <a:xfrm rot="16200000" flipV="1">
            <a:off x="3291681" y="5180807"/>
            <a:ext cx="511175" cy="487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74" name="Line 6"/>
          <p:cNvSpPr>
            <a:spLocks noChangeAspect="1" noChangeShapeType="1"/>
          </p:cNvSpPr>
          <p:nvPr/>
        </p:nvSpPr>
        <p:spPr bwMode="auto">
          <a:xfrm rot="16200000" flipV="1">
            <a:off x="3833019" y="4783931"/>
            <a:ext cx="511175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75" name="Line 7"/>
          <p:cNvSpPr>
            <a:spLocks noChangeAspect="1" noChangeShapeType="1"/>
          </p:cNvSpPr>
          <p:nvPr/>
        </p:nvSpPr>
        <p:spPr bwMode="auto">
          <a:xfrm rot="16200000" flipV="1">
            <a:off x="4462462" y="4065588"/>
            <a:ext cx="1279525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76" name="Line 8"/>
          <p:cNvSpPr>
            <a:spLocks noChangeShapeType="1"/>
          </p:cNvSpPr>
          <p:nvPr/>
        </p:nvSpPr>
        <p:spPr bwMode="auto">
          <a:xfrm flipV="1">
            <a:off x="3016250" y="4110038"/>
            <a:ext cx="1600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77" name="Oval 9"/>
          <p:cNvSpPr>
            <a:spLocks noChangeArrowheads="1"/>
          </p:cNvSpPr>
          <p:nvPr/>
        </p:nvSpPr>
        <p:spPr bwMode="auto">
          <a:xfrm>
            <a:off x="3244850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493578" name="Oval 10"/>
          <p:cNvSpPr>
            <a:spLocks noChangeArrowheads="1"/>
          </p:cNvSpPr>
          <p:nvPr/>
        </p:nvSpPr>
        <p:spPr bwMode="auto">
          <a:xfrm>
            <a:off x="2847975" y="5481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14</a:t>
            </a:r>
          </a:p>
        </p:txBody>
      </p:sp>
      <p:sp>
        <p:nvSpPr>
          <p:cNvPr id="493579" name="Oval 11"/>
          <p:cNvSpPr>
            <a:spLocks noChangeArrowheads="1"/>
          </p:cNvSpPr>
          <p:nvPr/>
        </p:nvSpPr>
        <p:spPr bwMode="auto">
          <a:xfrm>
            <a:off x="3549650" y="5481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493580" name="Oval 12"/>
          <p:cNvSpPr>
            <a:spLocks noChangeArrowheads="1"/>
          </p:cNvSpPr>
          <p:nvPr/>
        </p:nvSpPr>
        <p:spPr bwMode="auto">
          <a:xfrm>
            <a:off x="3702050" y="46434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93581" name="Oval 13"/>
          <p:cNvSpPr>
            <a:spLocks noChangeArrowheads="1"/>
          </p:cNvSpPr>
          <p:nvPr/>
        </p:nvSpPr>
        <p:spPr bwMode="auto">
          <a:xfrm>
            <a:off x="4159250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16</a:t>
            </a:r>
          </a:p>
        </p:txBody>
      </p:sp>
      <p:sp>
        <p:nvSpPr>
          <p:cNvPr id="493582" name="Oval 14"/>
          <p:cNvSpPr>
            <a:spLocks noChangeArrowheads="1"/>
          </p:cNvSpPr>
          <p:nvPr/>
        </p:nvSpPr>
        <p:spPr bwMode="auto">
          <a:xfrm>
            <a:off x="4425950" y="3957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493583" name="Oval 15"/>
          <p:cNvSpPr>
            <a:spLocks noChangeArrowheads="1"/>
          </p:cNvSpPr>
          <p:nvPr/>
        </p:nvSpPr>
        <p:spPr bwMode="auto">
          <a:xfrm>
            <a:off x="5070475" y="46434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493584" name="Oval 16"/>
          <p:cNvSpPr>
            <a:spLocks noChangeArrowheads="1"/>
          </p:cNvSpPr>
          <p:nvPr/>
        </p:nvSpPr>
        <p:spPr bwMode="auto">
          <a:xfrm>
            <a:off x="4556125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493585" name="Oval 17"/>
          <p:cNvSpPr>
            <a:spLocks noChangeArrowheads="1"/>
          </p:cNvSpPr>
          <p:nvPr/>
        </p:nvSpPr>
        <p:spPr bwMode="auto">
          <a:xfrm>
            <a:off x="5470525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493586" name="Text Box 18"/>
          <p:cNvSpPr txBox="1">
            <a:spLocks noChangeArrowheads="1"/>
          </p:cNvSpPr>
          <p:nvPr/>
        </p:nvSpPr>
        <p:spPr bwMode="auto">
          <a:xfrm>
            <a:off x="5486400" y="3897313"/>
            <a:ext cx="1943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Height of root = 3</a:t>
            </a:r>
          </a:p>
        </p:txBody>
      </p:sp>
      <p:sp>
        <p:nvSpPr>
          <p:cNvPr id="493587" name="Line 19"/>
          <p:cNvSpPr>
            <a:spLocks noChangeShapeType="1"/>
          </p:cNvSpPr>
          <p:nvPr/>
        </p:nvSpPr>
        <p:spPr bwMode="auto">
          <a:xfrm flipH="1">
            <a:off x="4876800" y="41259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88" name="Text Box 20"/>
          <p:cNvSpPr txBox="1">
            <a:spLocks noChangeArrowheads="1"/>
          </p:cNvSpPr>
          <p:nvPr/>
        </p:nvSpPr>
        <p:spPr bwMode="auto">
          <a:xfrm>
            <a:off x="533400" y="4978400"/>
            <a:ext cx="1765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Height of (2)= 1</a:t>
            </a:r>
          </a:p>
        </p:txBody>
      </p:sp>
      <p:sp>
        <p:nvSpPr>
          <p:cNvPr id="493589" name="Line 21"/>
          <p:cNvSpPr>
            <a:spLocks noChangeShapeType="1"/>
          </p:cNvSpPr>
          <p:nvPr/>
        </p:nvSpPr>
        <p:spPr bwMode="auto">
          <a:xfrm>
            <a:off x="2514600" y="5207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90" name="Text Box 22"/>
          <p:cNvSpPr txBox="1">
            <a:spLocks noChangeArrowheads="1"/>
          </p:cNvSpPr>
          <p:nvPr/>
        </p:nvSpPr>
        <p:spPr bwMode="auto">
          <a:xfrm>
            <a:off x="6542088" y="5056188"/>
            <a:ext cx="1778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Level of (10)= 2</a:t>
            </a:r>
          </a:p>
        </p:txBody>
      </p:sp>
      <p:sp>
        <p:nvSpPr>
          <p:cNvPr id="493591" name="Line 23"/>
          <p:cNvSpPr>
            <a:spLocks noChangeShapeType="1"/>
          </p:cNvSpPr>
          <p:nvPr/>
        </p:nvSpPr>
        <p:spPr bwMode="auto">
          <a:xfrm flipH="1">
            <a:off x="5859463" y="52451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1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Useful Properties</a:t>
            </a:r>
          </a:p>
        </p:txBody>
      </p:sp>
      <p:sp>
        <p:nvSpPr>
          <p:cNvPr id="494596" name="Line 4"/>
          <p:cNvSpPr>
            <a:spLocks noChangeAspect="1" noChangeShapeType="1"/>
          </p:cNvSpPr>
          <p:nvPr/>
        </p:nvSpPr>
        <p:spPr bwMode="auto">
          <a:xfrm flipV="1">
            <a:off x="4722813" y="4791075"/>
            <a:ext cx="511175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597" name="Line 5"/>
          <p:cNvSpPr>
            <a:spLocks noChangeAspect="1" noChangeShapeType="1"/>
          </p:cNvSpPr>
          <p:nvPr/>
        </p:nvSpPr>
        <p:spPr bwMode="auto">
          <a:xfrm rot="16200000" flipV="1">
            <a:off x="3291681" y="5180807"/>
            <a:ext cx="511175" cy="487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598" name="Line 6"/>
          <p:cNvSpPr>
            <a:spLocks noChangeAspect="1" noChangeShapeType="1"/>
          </p:cNvSpPr>
          <p:nvPr/>
        </p:nvSpPr>
        <p:spPr bwMode="auto">
          <a:xfrm rot="16200000" flipV="1">
            <a:off x="3833019" y="4783931"/>
            <a:ext cx="511175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599" name="Line 7"/>
          <p:cNvSpPr>
            <a:spLocks noChangeAspect="1" noChangeShapeType="1"/>
          </p:cNvSpPr>
          <p:nvPr/>
        </p:nvSpPr>
        <p:spPr bwMode="auto">
          <a:xfrm rot="16200000" flipV="1">
            <a:off x="4462462" y="4065588"/>
            <a:ext cx="1279525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600" name="Line 8"/>
          <p:cNvSpPr>
            <a:spLocks noChangeShapeType="1"/>
          </p:cNvSpPr>
          <p:nvPr/>
        </p:nvSpPr>
        <p:spPr bwMode="auto">
          <a:xfrm flipV="1">
            <a:off x="3016250" y="4110038"/>
            <a:ext cx="1600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601" name="Oval 9"/>
          <p:cNvSpPr>
            <a:spLocks noChangeArrowheads="1"/>
          </p:cNvSpPr>
          <p:nvPr/>
        </p:nvSpPr>
        <p:spPr bwMode="auto">
          <a:xfrm>
            <a:off x="3244850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494602" name="Oval 10"/>
          <p:cNvSpPr>
            <a:spLocks noChangeArrowheads="1"/>
          </p:cNvSpPr>
          <p:nvPr/>
        </p:nvSpPr>
        <p:spPr bwMode="auto">
          <a:xfrm>
            <a:off x="2847975" y="5481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14</a:t>
            </a:r>
          </a:p>
        </p:txBody>
      </p:sp>
      <p:sp>
        <p:nvSpPr>
          <p:cNvPr id="494603" name="Oval 11"/>
          <p:cNvSpPr>
            <a:spLocks noChangeArrowheads="1"/>
          </p:cNvSpPr>
          <p:nvPr/>
        </p:nvSpPr>
        <p:spPr bwMode="auto">
          <a:xfrm>
            <a:off x="3549650" y="5481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8</a:t>
            </a:r>
          </a:p>
        </p:txBody>
      </p:sp>
      <p:sp>
        <p:nvSpPr>
          <p:cNvPr id="494604" name="Oval 12"/>
          <p:cNvSpPr>
            <a:spLocks noChangeArrowheads="1"/>
          </p:cNvSpPr>
          <p:nvPr/>
        </p:nvSpPr>
        <p:spPr bwMode="auto">
          <a:xfrm>
            <a:off x="3702050" y="46434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94605" name="Oval 13"/>
          <p:cNvSpPr>
            <a:spLocks noChangeArrowheads="1"/>
          </p:cNvSpPr>
          <p:nvPr/>
        </p:nvSpPr>
        <p:spPr bwMode="auto">
          <a:xfrm>
            <a:off x="4159250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16</a:t>
            </a:r>
          </a:p>
        </p:txBody>
      </p:sp>
      <p:sp>
        <p:nvSpPr>
          <p:cNvPr id="494606" name="Oval 14"/>
          <p:cNvSpPr>
            <a:spLocks noChangeArrowheads="1"/>
          </p:cNvSpPr>
          <p:nvPr/>
        </p:nvSpPr>
        <p:spPr bwMode="auto">
          <a:xfrm>
            <a:off x="4425950" y="39576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494607" name="Oval 15"/>
          <p:cNvSpPr>
            <a:spLocks noChangeArrowheads="1"/>
          </p:cNvSpPr>
          <p:nvPr/>
        </p:nvSpPr>
        <p:spPr bwMode="auto">
          <a:xfrm>
            <a:off x="5070475" y="464343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494608" name="Oval 16"/>
          <p:cNvSpPr>
            <a:spLocks noChangeArrowheads="1"/>
          </p:cNvSpPr>
          <p:nvPr/>
        </p:nvSpPr>
        <p:spPr bwMode="auto">
          <a:xfrm>
            <a:off x="4556125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494609" name="Oval 17"/>
          <p:cNvSpPr>
            <a:spLocks noChangeArrowheads="1"/>
          </p:cNvSpPr>
          <p:nvPr/>
        </p:nvSpPr>
        <p:spPr bwMode="auto">
          <a:xfrm>
            <a:off x="5470525" y="508476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494610" name="Text Box 18"/>
          <p:cNvSpPr txBox="1">
            <a:spLocks noChangeArrowheads="1"/>
          </p:cNvSpPr>
          <p:nvPr/>
        </p:nvSpPr>
        <p:spPr bwMode="auto">
          <a:xfrm>
            <a:off x="5486400" y="3897313"/>
            <a:ext cx="19431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Height of root = 3</a:t>
            </a:r>
          </a:p>
        </p:txBody>
      </p:sp>
      <p:sp>
        <p:nvSpPr>
          <p:cNvPr id="494611" name="Line 19"/>
          <p:cNvSpPr>
            <a:spLocks noChangeShapeType="1"/>
          </p:cNvSpPr>
          <p:nvPr/>
        </p:nvSpPr>
        <p:spPr bwMode="auto">
          <a:xfrm flipH="1">
            <a:off x="4876800" y="41259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612" name="Text Box 20"/>
          <p:cNvSpPr txBox="1">
            <a:spLocks noChangeArrowheads="1"/>
          </p:cNvSpPr>
          <p:nvPr/>
        </p:nvSpPr>
        <p:spPr bwMode="auto">
          <a:xfrm>
            <a:off x="533400" y="4978400"/>
            <a:ext cx="1765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Height of (2)= 1</a:t>
            </a:r>
          </a:p>
        </p:txBody>
      </p:sp>
      <p:sp>
        <p:nvSpPr>
          <p:cNvPr id="494613" name="Line 21"/>
          <p:cNvSpPr>
            <a:spLocks noChangeShapeType="1"/>
          </p:cNvSpPr>
          <p:nvPr/>
        </p:nvSpPr>
        <p:spPr bwMode="auto">
          <a:xfrm>
            <a:off x="2514600" y="5207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614" name="Text Box 22"/>
          <p:cNvSpPr txBox="1">
            <a:spLocks noChangeArrowheads="1"/>
          </p:cNvSpPr>
          <p:nvPr/>
        </p:nvSpPr>
        <p:spPr bwMode="auto">
          <a:xfrm>
            <a:off x="6542088" y="5056188"/>
            <a:ext cx="1778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Level of (10)= 2</a:t>
            </a:r>
          </a:p>
        </p:txBody>
      </p:sp>
      <p:sp>
        <p:nvSpPr>
          <p:cNvPr id="494615" name="Line 23"/>
          <p:cNvSpPr>
            <a:spLocks noChangeShapeType="1"/>
          </p:cNvSpPr>
          <p:nvPr/>
        </p:nvSpPr>
        <p:spPr bwMode="auto">
          <a:xfrm flipH="1">
            <a:off x="5859463" y="52451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94616" name="Picture 2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94"/>
          <a:stretch>
            <a:fillRect/>
          </a:stretch>
        </p:blipFill>
        <p:spPr>
          <a:xfrm>
            <a:off x="439738" y="1663700"/>
            <a:ext cx="8513762" cy="1611313"/>
          </a:xfrm>
          <a:noFill/>
          <a:ln/>
        </p:spPr>
      </p:pic>
      <p:sp>
        <p:nvSpPr>
          <p:cNvPr id="494617" name="Text Box 25"/>
          <p:cNvSpPr txBox="1">
            <a:spLocks noChangeArrowheads="1"/>
          </p:cNvSpPr>
          <p:nvPr/>
        </p:nvSpPr>
        <p:spPr bwMode="auto">
          <a:xfrm>
            <a:off x="3410743" y="2565400"/>
            <a:ext cx="677863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400" dirty="0"/>
              <a:t>height</a:t>
            </a:r>
          </a:p>
        </p:txBody>
      </p:sp>
      <p:sp>
        <p:nvSpPr>
          <p:cNvPr id="494618" name="Text Box 26"/>
          <p:cNvSpPr txBox="1">
            <a:spLocks noChangeArrowheads="1"/>
          </p:cNvSpPr>
          <p:nvPr/>
        </p:nvSpPr>
        <p:spPr bwMode="auto">
          <a:xfrm>
            <a:off x="4755759" y="3078163"/>
            <a:ext cx="677862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400" dirty="0"/>
              <a:t>height</a:t>
            </a:r>
          </a:p>
        </p:txBody>
      </p:sp>
      <p:graphicFrame>
        <p:nvGraphicFramePr>
          <p:cNvPr id="494619" name="Object 27"/>
          <p:cNvGraphicFramePr>
            <a:graphicFrameLocks noChangeAspect="1"/>
          </p:cNvGraphicFramePr>
          <p:nvPr/>
        </p:nvGraphicFramePr>
        <p:xfrm>
          <a:off x="714375" y="3578225"/>
          <a:ext cx="343058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Equation" r:id="rId5" imgW="1752480" imgH="444240" progId="Equation.DSMT4">
                  <p:embed/>
                </p:oleObj>
              </mc:Choice>
              <mc:Fallback>
                <p:oleObj name="Equation" r:id="rId5" imgW="1752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3578225"/>
                        <a:ext cx="343058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20" name="AutoShape 28"/>
          <p:cNvSpPr>
            <a:spLocks noChangeArrowheads="1"/>
          </p:cNvSpPr>
          <p:nvPr/>
        </p:nvSpPr>
        <p:spPr bwMode="auto">
          <a:xfrm>
            <a:off x="314325" y="2336800"/>
            <a:ext cx="554038" cy="1246188"/>
          </a:xfrm>
          <a:prstGeom prst="curvedRightArrow">
            <a:avLst>
              <a:gd name="adj1" fmla="val 44986"/>
              <a:gd name="adj2" fmla="val 8997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1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1778445"/>
          </a:xfrm>
        </p:spPr>
        <p:txBody>
          <a:bodyPr>
            <a:normAutofit/>
          </a:bodyPr>
          <a:lstStyle/>
          <a:p>
            <a:r>
              <a:rPr lang="en-US" sz="2000" dirty="0"/>
              <a:t>A complete binary </a:t>
            </a:r>
            <a:r>
              <a:rPr lang="en-US" sz="2000" dirty="0" smtClean="0"/>
              <a:t>tree</a:t>
            </a:r>
          </a:p>
          <a:p>
            <a:pPr lvl="1"/>
            <a:r>
              <a:rPr lang="en-US" sz="2000" dirty="0" smtClean="0"/>
              <a:t>Each </a:t>
            </a:r>
            <a:r>
              <a:rPr lang="en-US" sz="2000" dirty="0"/>
              <a:t>of the elements contains a value that is </a:t>
            </a:r>
            <a:r>
              <a:rPr lang="en-US" sz="2000" dirty="0" smtClean="0"/>
              <a:t>less than </a:t>
            </a:r>
            <a:r>
              <a:rPr lang="en-US" sz="2000" dirty="0"/>
              <a:t>or equal to the value of each of its children (</a:t>
            </a:r>
            <a:r>
              <a:rPr lang="en-US" sz="2000" dirty="0" smtClean="0"/>
              <a:t>Min-heap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Each of the elements contains a value that is greater than or equal to the value of each of its children (Max-heap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Heaps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35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1778445"/>
          </a:xfrm>
        </p:spPr>
        <p:txBody>
          <a:bodyPr>
            <a:normAutofit/>
          </a:bodyPr>
          <a:lstStyle/>
          <a:p>
            <a:r>
              <a:rPr lang="en-US" sz="2000" dirty="0"/>
              <a:t>A complete binary </a:t>
            </a:r>
            <a:r>
              <a:rPr lang="en-US" sz="2000" dirty="0" smtClean="0"/>
              <a:t>tree</a:t>
            </a:r>
          </a:p>
          <a:p>
            <a:pPr lvl="1"/>
            <a:r>
              <a:rPr lang="en-US" sz="2000" dirty="0" smtClean="0"/>
              <a:t>Each </a:t>
            </a:r>
            <a:r>
              <a:rPr lang="en-US" sz="2000" dirty="0"/>
              <a:t>of the elements contains a value that is </a:t>
            </a:r>
            <a:r>
              <a:rPr lang="en-US" sz="2000" dirty="0" smtClean="0"/>
              <a:t>less than </a:t>
            </a:r>
            <a:r>
              <a:rPr lang="en-US" sz="2000" dirty="0"/>
              <a:t>or equal to the value of each of its children (</a:t>
            </a:r>
            <a:r>
              <a:rPr lang="en-US" sz="2000" dirty="0" smtClean="0"/>
              <a:t>Min-heap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Each of the elements contains a value that is greater than or equal to the value of each of its children (Max-heap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4899434" y="3019782"/>
            <a:ext cx="3925160" cy="2535059"/>
            <a:chOff x="353191" y="2900862"/>
            <a:chExt cx="3925160" cy="2535059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2939383" y="5066589"/>
              <a:ext cx="1338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Max-heap</a:t>
              </a:r>
              <a:endParaRPr lang="en-US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23590" y="3030368"/>
            <a:ext cx="3934683" cy="2535060"/>
            <a:chOff x="5010904" y="2900861"/>
            <a:chExt cx="3934683" cy="2535060"/>
          </a:xfrm>
        </p:grpSpPr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6834103" y="290086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>
              <a:off x="5891021" y="3550150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7" name="Straight Arrow Connector 56"/>
            <p:cNvCxnSpPr>
              <a:stCxn id="55" idx="3"/>
              <a:endCxn id="56" idx="7"/>
            </p:cNvCxnSpPr>
            <p:nvPr/>
          </p:nvCxnSpPr>
          <p:spPr>
            <a:xfrm flipH="1">
              <a:off x="6228421" y="3238261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5" idx="5"/>
              <a:endCxn id="61" idx="1"/>
            </p:cNvCxnSpPr>
            <p:nvPr/>
          </p:nvCxnSpPr>
          <p:spPr>
            <a:xfrm>
              <a:off x="7171503" y="3238261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6" idx="3"/>
            </p:cNvCxnSpPr>
            <p:nvPr/>
          </p:nvCxnSpPr>
          <p:spPr>
            <a:xfrm flipH="1">
              <a:off x="5628346" y="3887550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6" idx="5"/>
            </p:cNvCxnSpPr>
            <p:nvPr/>
          </p:nvCxnSpPr>
          <p:spPr>
            <a:xfrm>
              <a:off x="6228421" y="3887550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7786136" y="3551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2" name="Oval 61"/>
            <p:cNvSpPr>
              <a:spLocks noChangeAspect="1"/>
            </p:cNvSpPr>
            <p:nvPr/>
          </p:nvSpPr>
          <p:spPr>
            <a:xfrm>
              <a:off x="8370781" y="420208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7186061" y="419583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4" name="Straight Arrow Connector 63"/>
            <p:cNvCxnSpPr>
              <a:stCxn id="61" idx="3"/>
              <a:endCxn id="63" idx="7"/>
            </p:cNvCxnSpPr>
            <p:nvPr/>
          </p:nvCxnSpPr>
          <p:spPr>
            <a:xfrm flipH="1">
              <a:off x="7523461" y="3889347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61" idx="5"/>
              <a:endCxn id="62" idx="1"/>
            </p:cNvCxnSpPr>
            <p:nvPr/>
          </p:nvCxnSpPr>
          <p:spPr>
            <a:xfrm>
              <a:off x="8123536" y="3889347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/>
            <p:cNvSpPr>
              <a:spLocks noChangeAspect="1"/>
            </p:cNvSpPr>
            <p:nvPr/>
          </p:nvSpPr>
          <p:spPr>
            <a:xfrm>
              <a:off x="5338179" y="4220223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7" name="Oval 66"/>
            <p:cNvSpPr>
              <a:spLocks noChangeAspect="1"/>
            </p:cNvSpPr>
            <p:nvPr/>
          </p:nvSpPr>
          <p:spPr>
            <a:xfrm>
              <a:off x="5679462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5010904" y="486894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9" name="Straight Arrow Connector 68"/>
            <p:cNvCxnSpPr>
              <a:stCxn id="66" idx="3"/>
              <a:endCxn id="68" idx="0"/>
            </p:cNvCxnSpPr>
            <p:nvPr/>
          </p:nvCxnSpPr>
          <p:spPr>
            <a:xfrm flipH="1">
              <a:off x="5208549" y="4557623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66" idx="5"/>
              <a:endCxn id="67" idx="0"/>
            </p:cNvCxnSpPr>
            <p:nvPr/>
          </p:nvCxnSpPr>
          <p:spPr>
            <a:xfrm>
              <a:off x="5675579" y="4557623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/>
            <p:cNvSpPr>
              <a:spLocks noChangeAspect="1"/>
            </p:cNvSpPr>
            <p:nvPr/>
          </p:nvSpPr>
          <p:spPr>
            <a:xfrm>
              <a:off x="6461660" y="4220223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2" name="Oval 71"/>
            <p:cNvSpPr>
              <a:spLocks noChangeAspect="1"/>
            </p:cNvSpPr>
            <p:nvPr/>
          </p:nvSpPr>
          <p:spPr>
            <a:xfrm>
              <a:off x="6138266" y="487035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</a:p>
          </p:txBody>
        </p:sp>
        <p:cxnSp>
          <p:nvCxnSpPr>
            <p:cNvPr id="73" name="Straight Arrow Connector 72"/>
            <p:cNvCxnSpPr>
              <a:stCxn id="71" idx="3"/>
              <a:endCxn id="72" idx="0"/>
            </p:cNvCxnSpPr>
            <p:nvPr/>
          </p:nvCxnSpPr>
          <p:spPr>
            <a:xfrm flipH="1">
              <a:off x="6335911" y="4557623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7606619" y="5066589"/>
              <a:ext cx="1338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Min-heap</a:t>
              </a:r>
              <a:endParaRPr lang="en-US" dirty="0"/>
            </a:p>
          </p:txBody>
        </p:sp>
      </p:grpSp>
      <p:sp>
        <p:nvSpPr>
          <p:cNvPr id="46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Heaps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24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1778445"/>
          </a:xfrm>
        </p:spPr>
        <p:txBody>
          <a:bodyPr>
            <a:normAutofit/>
          </a:bodyPr>
          <a:lstStyle/>
          <a:p>
            <a:r>
              <a:rPr lang="en-US" sz="2000" dirty="0"/>
              <a:t>A complete binary </a:t>
            </a:r>
            <a:r>
              <a:rPr lang="en-US" sz="2000" dirty="0" smtClean="0"/>
              <a:t>tree</a:t>
            </a:r>
          </a:p>
          <a:p>
            <a:pPr lvl="1"/>
            <a:r>
              <a:rPr lang="en-US" sz="2000" dirty="0" smtClean="0"/>
              <a:t>Each </a:t>
            </a:r>
            <a:r>
              <a:rPr lang="en-US" sz="2000" dirty="0"/>
              <a:t>of the elements contains a value that is </a:t>
            </a:r>
            <a:r>
              <a:rPr lang="en-US" sz="2000" dirty="0" smtClean="0"/>
              <a:t>less than </a:t>
            </a:r>
            <a:r>
              <a:rPr lang="en-US" sz="2000" dirty="0"/>
              <a:t>or equal to the value of each of its children (</a:t>
            </a:r>
            <a:r>
              <a:rPr lang="en-US" sz="2000" dirty="0" smtClean="0"/>
              <a:t>Min-heap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Each of the elements contains a value that is greater than or equal to the value of each of its children (Max-heap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4899434" y="3019782"/>
            <a:ext cx="3925160" cy="2535059"/>
            <a:chOff x="353191" y="2900862"/>
            <a:chExt cx="3925160" cy="2535059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2939383" y="5066589"/>
              <a:ext cx="1338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Max-heap</a:t>
              </a:r>
              <a:endParaRPr lang="en-US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23590" y="3030368"/>
            <a:ext cx="3934683" cy="2535060"/>
            <a:chOff x="5010904" y="2900861"/>
            <a:chExt cx="3934683" cy="2535060"/>
          </a:xfrm>
        </p:grpSpPr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6834103" y="290086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>
              <a:off x="5891021" y="3550150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7" name="Straight Arrow Connector 56"/>
            <p:cNvCxnSpPr>
              <a:stCxn id="55" idx="3"/>
              <a:endCxn id="56" idx="7"/>
            </p:cNvCxnSpPr>
            <p:nvPr/>
          </p:nvCxnSpPr>
          <p:spPr>
            <a:xfrm flipH="1">
              <a:off x="6228421" y="3238261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5" idx="5"/>
              <a:endCxn id="61" idx="1"/>
            </p:cNvCxnSpPr>
            <p:nvPr/>
          </p:nvCxnSpPr>
          <p:spPr>
            <a:xfrm>
              <a:off x="7171503" y="3238261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6" idx="3"/>
            </p:cNvCxnSpPr>
            <p:nvPr/>
          </p:nvCxnSpPr>
          <p:spPr>
            <a:xfrm flipH="1">
              <a:off x="5628346" y="3887550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6" idx="5"/>
            </p:cNvCxnSpPr>
            <p:nvPr/>
          </p:nvCxnSpPr>
          <p:spPr>
            <a:xfrm>
              <a:off x="6228421" y="3887550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7786136" y="3551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2" name="Oval 61"/>
            <p:cNvSpPr>
              <a:spLocks noChangeAspect="1"/>
            </p:cNvSpPr>
            <p:nvPr/>
          </p:nvSpPr>
          <p:spPr>
            <a:xfrm>
              <a:off x="8370781" y="420208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7186061" y="419583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4" name="Straight Arrow Connector 63"/>
            <p:cNvCxnSpPr>
              <a:stCxn id="61" idx="3"/>
              <a:endCxn id="63" idx="7"/>
            </p:cNvCxnSpPr>
            <p:nvPr/>
          </p:nvCxnSpPr>
          <p:spPr>
            <a:xfrm flipH="1">
              <a:off x="7523461" y="3889347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61" idx="5"/>
              <a:endCxn id="62" idx="1"/>
            </p:cNvCxnSpPr>
            <p:nvPr/>
          </p:nvCxnSpPr>
          <p:spPr>
            <a:xfrm>
              <a:off x="8123536" y="3889347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/>
            <p:cNvSpPr>
              <a:spLocks noChangeAspect="1"/>
            </p:cNvSpPr>
            <p:nvPr/>
          </p:nvSpPr>
          <p:spPr>
            <a:xfrm>
              <a:off x="5338179" y="4220223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7" name="Oval 66"/>
            <p:cNvSpPr>
              <a:spLocks noChangeAspect="1"/>
            </p:cNvSpPr>
            <p:nvPr/>
          </p:nvSpPr>
          <p:spPr>
            <a:xfrm>
              <a:off x="5679462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5010904" y="486894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9" name="Straight Arrow Connector 68"/>
            <p:cNvCxnSpPr>
              <a:stCxn id="66" idx="3"/>
              <a:endCxn id="68" idx="0"/>
            </p:cNvCxnSpPr>
            <p:nvPr/>
          </p:nvCxnSpPr>
          <p:spPr>
            <a:xfrm flipH="1">
              <a:off x="5208549" y="4557623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66" idx="5"/>
              <a:endCxn id="67" idx="0"/>
            </p:cNvCxnSpPr>
            <p:nvPr/>
          </p:nvCxnSpPr>
          <p:spPr>
            <a:xfrm>
              <a:off x="5675579" y="4557623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/>
            <p:cNvSpPr>
              <a:spLocks noChangeAspect="1"/>
            </p:cNvSpPr>
            <p:nvPr/>
          </p:nvSpPr>
          <p:spPr>
            <a:xfrm>
              <a:off x="6461660" y="4220223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2" name="Oval 71"/>
            <p:cNvSpPr>
              <a:spLocks noChangeAspect="1"/>
            </p:cNvSpPr>
            <p:nvPr/>
          </p:nvSpPr>
          <p:spPr>
            <a:xfrm>
              <a:off x="6138266" y="487035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</a:p>
          </p:txBody>
        </p:sp>
        <p:cxnSp>
          <p:nvCxnSpPr>
            <p:cNvPr id="73" name="Straight Arrow Connector 72"/>
            <p:cNvCxnSpPr>
              <a:stCxn id="71" idx="3"/>
              <a:endCxn id="72" idx="0"/>
            </p:cNvCxnSpPr>
            <p:nvPr/>
          </p:nvCxnSpPr>
          <p:spPr>
            <a:xfrm flipH="1">
              <a:off x="6335911" y="4557623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7606619" y="5066589"/>
              <a:ext cx="1338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Min-heap</a:t>
              </a:r>
              <a:endParaRPr lang="en-US" dirty="0"/>
            </a:p>
          </p:txBody>
        </p:sp>
      </p:grpSp>
      <p:sp>
        <p:nvSpPr>
          <p:cNvPr id="3" name="Rectangle 2"/>
          <p:cNvSpPr/>
          <p:nvPr/>
        </p:nvSpPr>
        <p:spPr>
          <a:xfrm>
            <a:off x="609600" y="1030668"/>
            <a:ext cx="2647949" cy="264732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003964" y="1021630"/>
            <a:ext cx="1959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Shape property</a:t>
            </a:r>
            <a:endParaRPr lang="en-US" sz="1600" b="1" dirty="0">
              <a:solidFill>
                <a:schemeClr val="tx2"/>
              </a:solidFill>
            </a:endParaRPr>
          </a:p>
        </p:txBody>
      </p:sp>
      <p:cxnSp>
        <p:nvCxnSpPr>
          <p:cNvPr id="10" name="Straight Arrow Connector 9"/>
          <p:cNvCxnSpPr>
            <a:stCxn id="6" idx="1"/>
            <a:endCxn id="3" idx="3"/>
          </p:cNvCxnSpPr>
          <p:nvPr/>
        </p:nvCxnSpPr>
        <p:spPr>
          <a:xfrm flipH="1" flipV="1">
            <a:off x="3257549" y="1163034"/>
            <a:ext cx="3746415" cy="27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66368" y="5654985"/>
            <a:ext cx="819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shape of all heaps with a given number of elements is the </a:t>
            </a:r>
            <a:r>
              <a:rPr lang="en-US" dirty="0" smtClean="0"/>
              <a:t>same.</a:t>
            </a:r>
          </a:p>
        </p:txBody>
      </p:sp>
      <p:sp>
        <p:nvSpPr>
          <p:cNvPr id="51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Heaps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97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1778445"/>
          </a:xfrm>
        </p:spPr>
        <p:txBody>
          <a:bodyPr>
            <a:normAutofit/>
          </a:bodyPr>
          <a:lstStyle/>
          <a:p>
            <a:r>
              <a:rPr lang="en-US" sz="2000" dirty="0"/>
              <a:t>A complete binary </a:t>
            </a:r>
            <a:r>
              <a:rPr lang="en-US" sz="2000" dirty="0" smtClean="0"/>
              <a:t>tree</a:t>
            </a:r>
          </a:p>
          <a:p>
            <a:pPr lvl="1"/>
            <a:r>
              <a:rPr lang="en-US" sz="2000" dirty="0" smtClean="0"/>
              <a:t>Each </a:t>
            </a:r>
            <a:r>
              <a:rPr lang="en-US" sz="2000" dirty="0"/>
              <a:t>of the elements contains a value that is </a:t>
            </a:r>
            <a:r>
              <a:rPr lang="en-US" sz="2000" dirty="0" smtClean="0"/>
              <a:t>less than </a:t>
            </a:r>
            <a:r>
              <a:rPr lang="en-US" sz="2000" dirty="0"/>
              <a:t>or equal to the value of each of its children (</a:t>
            </a:r>
            <a:r>
              <a:rPr lang="en-US" sz="2000" dirty="0" smtClean="0"/>
              <a:t>Min-heap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Each of the elements contains a value that is greater than or equal to the value of each of its children (Max-heap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4899434" y="3019782"/>
            <a:ext cx="3925160" cy="2535059"/>
            <a:chOff x="353191" y="2900862"/>
            <a:chExt cx="3925160" cy="2535059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2939383" y="5066589"/>
              <a:ext cx="1338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Max-heap</a:t>
              </a:r>
              <a:endParaRPr lang="en-US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23590" y="3030368"/>
            <a:ext cx="3934683" cy="2535060"/>
            <a:chOff x="5010904" y="2900861"/>
            <a:chExt cx="3934683" cy="2535060"/>
          </a:xfrm>
        </p:grpSpPr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6834103" y="290086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>
              <a:off x="5891021" y="3550150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7" name="Straight Arrow Connector 56"/>
            <p:cNvCxnSpPr>
              <a:stCxn id="55" idx="3"/>
              <a:endCxn id="56" idx="7"/>
            </p:cNvCxnSpPr>
            <p:nvPr/>
          </p:nvCxnSpPr>
          <p:spPr>
            <a:xfrm flipH="1">
              <a:off x="6228421" y="3238261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5" idx="5"/>
              <a:endCxn id="61" idx="1"/>
            </p:cNvCxnSpPr>
            <p:nvPr/>
          </p:nvCxnSpPr>
          <p:spPr>
            <a:xfrm>
              <a:off x="7171503" y="3238261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6" idx="3"/>
            </p:cNvCxnSpPr>
            <p:nvPr/>
          </p:nvCxnSpPr>
          <p:spPr>
            <a:xfrm flipH="1">
              <a:off x="5628346" y="3887550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6" idx="5"/>
            </p:cNvCxnSpPr>
            <p:nvPr/>
          </p:nvCxnSpPr>
          <p:spPr>
            <a:xfrm>
              <a:off x="6228421" y="3887550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7786136" y="3551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2" name="Oval 61"/>
            <p:cNvSpPr>
              <a:spLocks noChangeAspect="1"/>
            </p:cNvSpPr>
            <p:nvPr/>
          </p:nvSpPr>
          <p:spPr>
            <a:xfrm>
              <a:off x="8370781" y="420208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7186061" y="419583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4" name="Straight Arrow Connector 63"/>
            <p:cNvCxnSpPr>
              <a:stCxn id="61" idx="3"/>
              <a:endCxn id="63" idx="7"/>
            </p:cNvCxnSpPr>
            <p:nvPr/>
          </p:nvCxnSpPr>
          <p:spPr>
            <a:xfrm flipH="1">
              <a:off x="7523461" y="3889347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61" idx="5"/>
              <a:endCxn id="62" idx="1"/>
            </p:cNvCxnSpPr>
            <p:nvPr/>
          </p:nvCxnSpPr>
          <p:spPr>
            <a:xfrm>
              <a:off x="8123536" y="3889347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/>
            <p:cNvSpPr>
              <a:spLocks noChangeAspect="1"/>
            </p:cNvSpPr>
            <p:nvPr/>
          </p:nvSpPr>
          <p:spPr>
            <a:xfrm>
              <a:off x="5338179" y="4220223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7" name="Oval 66"/>
            <p:cNvSpPr>
              <a:spLocks noChangeAspect="1"/>
            </p:cNvSpPr>
            <p:nvPr/>
          </p:nvSpPr>
          <p:spPr>
            <a:xfrm>
              <a:off x="5679462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5010904" y="486894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9" name="Straight Arrow Connector 68"/>
            <p:cNvCxnSpPr>
              <a:stCxn id="66" idx="3"/>
              <a:endCxn id="68" idx="0"/>
            </p:cNvCxnSpPr>
            <p:nvPr/>
          </p:nvCxnSpPr>
          <p:spPr>
            <a:xfrm flipH="1">
              <a:off x="5208549" y="4557623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66" idx="5"/>
              <a:endCxn id="67" idx="0"/>
            </p:cNvCxnSpPr>
            <p:nvPr/>
          </p:nvCxnSpPr>
          <p:spPr>
            <a:xfrm>
              <a:off x="5675579" y="4557623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/>
            <p:cNvSpPr>
              <a:spLocks noChangeAspect="1"/>
            </p:cNvSpPr>
            <p:nvPr/>
          </p:nvSpPr>
          <p:spPr>
            <a:xfrm>
              <a:off x="6461660" y="4220223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2" name="Oval 71"/>
            <p:cNvSpPr>
              <a:spLocks noChangeAspect="1"/>
            </p:cNvSpPr>
            <p:nvPr/>
          </p:nvSpPr>
          <p:spPr>
            <a:xfrm>
              <a:off x="6138266" y="487035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</a:p>
          </p:txBody>
        </p:sp>
        <p:cxnSp>
          <p:nvCxnSpPr>
            <p:cNvPr id="73" name="Straight Arrow Connector 72"/>
            <p:cNvCxnSpPr>
              <a:stCxn id="71" idx="3"/>
              <a:endCxn id="72" idx="0"/>
            </p:cNvCxnSpPr>
            <p:nvPr/>
          </p:nvCxnSpPr>
          <p:spPr>
            <a:xfrm flipH="1">
              <a:off x="6335911" y="4557623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7606619" y="5066589"/>
              <a:ext cx="1338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Min-heap</a:t>
              </a:r>
              <a:endParaRPr lang="en-US" dirty="0"/>
            </a:p>
          </p:txBody>
        </p:sp>
      </p:grpSp>
      <p:sp>
        <p:nvSpPr>
          <p:cNvPr id="3" name="Rectangle 2"/>
          <p:cNvSpPr/>
          <p:nvPr/>
        </p:nvSpPr>
        <p:spPr>
          <a:xfrm>
            <a:off x="609600" y="1030668"/>
            <a:ext cx="2647949" cy="264732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003964" y="1021630"/>
            <a:ext cx="1959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Shape property</a:t>
            </a:r>
            <a:endParaRPr lang="en-US" sz="1600" b="1" dirty="0">
              <a:solidFill>
                <a:schemeClr val="tx2"/>
              </a:solidFill>
            </a:endParaRPr>
          </a:p>
        </p:txBody>
      </p:sp>
      <p:cxnSp>
        <p:nvCxnSpPr>
          <p:cNvPr id="10" name="Straight Arrow Connector 9"/>
          <p:cNvCxnSpPr>
            <a:stCxn id="6" idx="1"/>
            <a:endCxn id="3" idx="3"/>
          </p:cNvCxnSpPr>
          <p:nvPr/>
        </p:nvCxnSpPr>
        <p:spPr>
          <a:xfrm flipH="1" flipV="1">
            <a:off x="3257549" y="1163034"/>
            <a:ext cx="3746415" cy="27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5516876" y="1974334"/>
            <a:ext cx="2898131" cy="287673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878393" y="2248415"/>
            <a:ext cx="4183344" cy="266185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3604422" y="2966677"/>
            <a:ext cx="16903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Heap property/Order property</a:t>
            </a:r>
          </a:p>
        </p:txBody>
      </p:sp>
      <p:cxnSp>
        <p:nvCxnSpPr>
          <p:cNvPr id="39" name="Straight Arrow Connector 38"/>
          <p:cNvCxnSpPr>
            <a:stCxn id="78" idx="0"/>
            <a:endCxn id="77" idx="2"/>
          </p:cNvCxnSpPr>
          <p:nvPr/>
        </p:nvCxnSpPr>
        <p:spPr>
          <a:xfrm flipH="1" flipV="1">
            <a:off x="2970065" y="2514600"/>
            <a:ext cx="1479508" cy="4520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66368" y="5654985"/>
            <a:ext cx="819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shape of all heaps with a given number of elements is the </a:t>
            </a:r>
            <a:r>
              <a:rPr lang="en-US" dirty="0" smtClean="0"/>
              <a:t>same.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root node always contains the largest value in the </a:t>
            </a:r>
            <a:r>
              <a:rPr lang="en-US" dirty="0" smtClean="0"/>
              <a:t>max-heap (</a:t>
            </a:r>
            <a:r>
              <a:rPr lang="en-US" dirty="0" smtClean="0">
                <a:solidFill>
                  <a:srgbClr val="002060"/>
                </a:solidFill>
              </a:rPr>
              <a:t>in addition, the </a:t>
            </a:r>
            <a:r>
              <a:rPr lang="en-US" dirty="0" err="1" smtClean="0">
                <a:solidFill>
                  <a:srgbClr val="002060"/>
                </a:solidFill>
              </a:rPr>
              <a:t>subtrees</a:t>
            </a:r>
            <a:r>
              <a:rPr lang="en-US" dirty="0" smtClean="0">
                <a:solidFill>
                  <a:srgbClr val="002060"/>
                </a:solidFill>
              </a:rPr>
              <a:t> are heaps as well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54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Heaps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579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353192" y="1744101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Heaps (Implementation Issue)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Heap elements can be stored as array elements (since the tree is complete)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0841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Heap elements can be stored as array elements (since the tree is complete, there are not any “holes” in the tree)</a:t>
            </a:r>
            <a:endParaRPr lang="en-US" sz="20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353192" y="1744101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174519" y="4324367"/>
            <a:ext cx="549823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CC0000"/>
                </a:solidFill>
              </a:rPr>
              <a:t>Map from array elements to tree nodes and vice versa</a:t>
            </a:r>
          </a:p>
          <a:p>
            <a:pPr lvl="1"/>
            <a:r>
              <a:rPr lang="en-US" altLang="en-US" sz="1600" dirty="0"/>
              <a:t>Root – </a:t>
            </a:r>
            <a:r>
              <a:rPr lang="en-US" altLang="en-US" sz="1600" i="1" dirty="0"/>
              <a:t>A</a:t>
            </a:r>
            <a:r>
              <a:rPr lang="en-US" altLang="en-US" sz="1600" dirty="0"/>
              <a:t>[1]</a:t>
            </a:r>
          </a:p>
          <a:p>
            <a:pPr lvl="1"/>
            <a:r>
              <a:rPr lang="en-US" altLang="en-US" sz="1600" dirty="0"/>
              <a:t>Left[</a:t>
            </a:r>
            <a:r>
              <a:rPr lang="en-US" altLang="en-US" sz="1600" i="1" dirty="0" err="1"/>
              <a:t>i</a:t>
            </a:r>
            <a:r>
              <a:rPr lang="en-US" altLang="en-US" sz="1600" dirty="0"/>
              <a:t>] – </a:t>
            </a:r>
            <a:r>
              <a:rPr lang="en-US" altLang="en-US" sz="1600" i="1" dirty="0"/>
              <a:t>A</a:t>
            </a:r>
            <a:r>
              <a:rPr lang="en-US" altLang="en-US" sz="1600" dirty="0"/>
              <a:t>[2</a:t>
            </a:r>
            <a:r>
              <a:rPr lang="en-US" altLang="en-US" sz="1600" i="1" dirty="0"/>
              <a:t>i</a:t>
            </a:r>
            <a:r>
              <a:rPr lang="en-US" altLang="en-US" sz="1600" dirty="0"/>
              <a:t>]</a:t>
            </a:r>
          </a:p>
          <a:p>
            <a:pPr lvl="1"/>
            <a:r>
              <a:rPr lang="en-US" altLang="en-US" sz="1600" dirty="0"/>
              <a:t>Right[</a:t>
            </a:r>
            <a:r>
              <a:rPr lang="en-US" altLang="en-US" sz="1600" i="1" dirty="0" err="1"/>
              <a:t>i</a:t>
            </a:r>
            <a:r>
              <a:rPr lang="en-US" altLang="en-US" sz="1600" dirty="0"/>
              <a:t>] – </a:t>
            </a:r>
            <a:r>
              <a:rPr lang="en-US" altLang="en-US" sz="1600" i="1" dirty="0"/>
              <a:t>A</a:t>
            </a:r>
            <a:r>
              <a:rPr lang="en-US" altLang="en-US" sz="1600" dirty="0"/>
              <a:t>[2</a:t>
            </a:r>
            <a:r>
              <a:rPr lang="en-US" altLang="en-US" sz="1600" i="1" dirty="0"/>
              <a:t>i</a:t>
            </a:r>
            <a:r>
              <a:rPr lang="en-US" altLang="en-US" sz="1600" dirty="0"/>
              <a:t>+1]</a:t>
            </a:r>
          </a:p>
          <a:p>
            <a:pPr lvl="1"/>
            <a:r>
              <a:rPr lang="en-US" altLang="en-US" sz="1600" dirty="0"/>
              <a:t>Parent[</a:t>
            </a:r>
            <a:r>
              <a:rPr lang="en-US" altLang="en-US" sz="1600" i="1" dirty="0" err="1"/>
              <a:t>i</a:t>
            </a:r>
            <a:r>
              <a:rPr lang="en-US" altLang="en-US" sz="1600" dirty="0"/>
              <a:t>] – </a:t>
            </a:r>
            <a:r>
              <a:rPr lang="en-US" altLang="en-US" sz="1600" i="1" dirty="0"/>
              <a:t>A</a:t>
            </a:r>
            <a:r>
              <a:rPr lang="en-US" altLang="en-US" sz="1600" dirty="0"/>
              <a:t>[</a:t>
            </a:r>
            <a:r>
              <a:rPr lang="en-US" altLang="en-US" sz="1600" dirty="0">
                <a:sym typeface="Symbol" panose="05050102010706020507" pitchFamily="18" charset="2"/>
              </a:rPr>
              <a:t></a:t>
            </a:r>
            <a:r>
              <a:rPr lang="en-US" altLang="en-US" sz="1600" i="1" dirty="0" err="1"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ym typeface="Symbol" panose="05050102010706020507" pitchFamily="18" charset="2"/>
              </a:rPr>
              <a:t>/2</a:t>
            </a:r>
            <a:r>
              <a:rPr lang="en-US" altLang="en-US" sz="1600" dirty="0" smtClean="0"/>
              <a:t>]</a:t>
            </a:r>
            <a:endParaRPr lang="en-US" altLang="en-US" sz="16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276701"/>
              </p:ext>
            </p:extLst>
          </p:nvPr>
        </p:nvGraphicFramePr>
        <p:xfrm>
          <a:off x="5916959" y="1932408"/>
          <a:ext cx="1687132" cy="407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3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Heaps (Implementation Issue)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240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Heap elements can be stored as array elements (since the tree is complete, there are not any “holes” in the tree)</a:t>
            </a:r>
            <a:endParaRPr lang="en-US" sz="2000" dirty="0"/>
          </a:p>
        </p:txBody>
      </p:sp>
      <p:grpSp>
        <p:nvGrpSpPr>
          <p:cNvPr id="36" name="Group 35"/>
          <p:cNvGrpSpPr/>
          <p:nvPr/>
        </p:nvGrpSpPr>
        <p:grpSpPr>
          <a:xfrm>
            <a:off x="353192" y="1744101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174519" y="4324367"/>
            <a:ext cx="54982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 smtClean="0">
                <a:solidFill>
                  <a:schemeClr val="hlink"/>
                </a:solidFill>
              </a:rPr>
              <a:t>length[</a:t>
            </a:r>
            <a:r>
              <a:rPr lang="en-US" altLang="en-US" sz="1600" i="1" dirty="0" smtClean="0">
                <a:solidFill>
                  <a:schemeClr val="hlink"/>
                </a:solidFill>
              </a:rPr>
              <a:t>A</a:t>
            </a:r>
            <a:r>
              <a:rPr lang="en-US" altLang="en-US" sz="1600" dirty="0">
                <a:solidFill>
                  <a:schemeClr val="hlink"/>
                </a:solidFill>
              </a:rPr>
              <a:t>]</a:t>
            </a:r>
            <a:r>
              <a:rPr lang="en-US" altLang="en-US" sz="1600" dirty="0"/>
              <a:t> – number of elements in array </a:t>
            </a:r>
            <a:r>
              <a:rPr lang="en-US" altLang="en-US" sz="1600" i="1" dirty="0"/>
              <a:t>A.</a:t>
            </a:r>
            <a:endParaRPr lang="en-US" altLang="en-US" sz="1600" dirty="0"/>
          </a:p>
          <a:p>
            <a:pPr>
              <a:spcBef>
                <a:spcPct val="50000"/>
              </a:spcBef>
            </a:pPr>
            <a:r>
              <a:rPr lang="en-US" altLang="en-US" sz="1600" i="1" dirty="0" smtClean="0">
                <a:solidFill>
                  <a:schemeClr val="accent5"/>
                </a:solidFill>
                <a:sym typeface="Symbol" panose="05050102010706020507" pitchFamily="18" charset="2"/>
              </a:rPr>
              <a:t>No</a:t>
            </a:r>
            <a:r>
              <a:rPr lang="en-US" altLang="en-US" sz="1600" i="1" dirty="0">
                <a:solidFill>
                  <a:schemeClr val="accent5"/>
                </a:solidFill>
                <a:sym typeface="Symbol" panose="05050102010706020507" pitchFamily="18" charset="2"/>
              </a:rPr>
              <a:t>. of leaves    </a:t>
            </a:r>
            <a:r>
              <a:rPr lang="en-US" altLang="en-US" sz="1600" dirty="0">
                <a:sym typeface="Symbol" panose="05050102010706020507" pitchFamily="18" charset="2"/>
              </a:rPr>
              <a:t>= </a:t>
            </a:r>
            <a:r>
              <a:rPr lang="en-US" altLang="en-US" sz="1600" dirty="0">
                <a:solidFill>
                  <a:srgbClr val="CC0000"/>
                </a:solidFill>
                <a:sym typeface="Symbol" panose="05050102010706020507" pitchFamily="18" charset="2"/>
              </a:rPr>
              <a:t></a:t>
            </a:r>
            <a:r>
              <a:rPr lang="en-US" altLang="en-US" sz="1600" i="1" dirty="0">
                <a:solidFill>
                  <a:srgbClr val="CC0000"/>
                </a:solidFill>
                <a:sym typeface="Symbol" panose="05050102010706020507" pitchFamily="18" charset="2"/>
              </a:rPr>
              <a:t>n</a:t>
            </a:r>
            <a:r>
              <a:rPr lang="en-US" altLang="en-US" sz="1600" dirty="0">
                <a:solidFill>
                  <a:srgbClr val="CC0000"/>
                </a:solidFill>
                <a:sym typeface="Symbol" panose="05050102010706020507" pitchFamily="18" charset="2"/>
              </a:rPr>
              <a:t>/2</a:t>
            </a:r>
          </a:p>
          <a:p>
            <a:pPr>
              <a:spcBef>
                <a:spcPct val="50000"/>
              </a:spcBef>
            </a:pPr>
            <a:r>
              <a:rPr lang="en-US" altLang="en-US" sz="1600" i="1" dirty="0">
                <a:solidFill>
                  <a:schemeClr val="accent5"/>
                </a:solidFill>
              </a:rPr>
              <a:t>Height of a heap</a:t>
            </a:r>
            <a:r>
              <a:rPr lang="en-US" altLang="en-US" sz="1600" dirty="0">
                <a:solidFill>
                  <a:schemeClr val="accent5"/>
                </a:solidFill>
              </a:rPr>
              <a:t> </a:t>
            </a:r>
            <a:r>
              <a:rPr lang="en-US" altLang="en-US" sz="1600" dirty="0"/>
              <a:t>=</a:t>
            </a:r>
            <a:r>
              <a:rPr lang="en-US" altLang="en-US" sz="1600" i="1" dirty="0">
                <a:solidFill>
                  <a:srgbClr val="CC0000"/>
                </a:solidFill>
              </a:rPr>
              <a:t>  </a:t>
            </a:r>
            <a:r>
              <a:rPr lang="en-US" altLang="en-US" sz="1600" dirty="0">
                <a:solidFill>
                  <a:srgbClr val="CC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sz="1600" i="1" dirty="0" err="1">
                <a:solidFill>
                  <a:srgbClr val="CC0000"/>
                </a:solidFill>
              </a:rPr>
              <a:t>lg</a:t>
            </a:r>
            <a:r>
              <a:rPr lang="en-US" altLang="en-US" sz="1600" i="1" dirty="0">
                <a:solidFill>
                  <a:srgbClr val="CC0000"/>
                </a:solidFill>
              </a:rPr>
              <a:t> n</a:t>
            </a:r>
            <a:r>
              <a:rPr lang="en-US" altLang="en-US" sz="1600" dirty="0">
                <a:solidFill>
                  <a:srgbClr val="CC0000"/>
                </a:solidFill>
              </a:rPr>
              <a:t> </a:t>
            </a:r>
            <a:r>
              <a:rPr lang="en-US" altLang="en-US" sz="1600" dirty="0" smtClean="0">
                <a:solidFill>
                  <a:srgbClr val="CC0000"/>
                </a:solidFill>
                <a:sym typeface="Symbol" panose="05050102010706020507" pitchFamily="18" charset="2"/>
              </a:rPr>
              <a:t>  </a:t>
            </a:r>
            <a:endParaRPr lang="en-US" altLang="en-US" sz="1600" dirty="0">
              <a:solidFill>
                <a:srgbClr val="CC0000"/>
              </a:solidFill>
            </a:endParaRPr>
          </a:p>
          <a:p>
            <a:pPr lvl="1"/>
            <a:endParaRPr lang="en-US" altLang="en-US" sz="1600" dirty="0">
              <a:solidFill>
                <a:srgbClr val="CC0000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276701"/>
              </p:ext>
            </p:extLst>
          </p:nvPr>
        </p:nvGraphicFramePr>
        <p:xfrm>
          <a:off x="5916959" y="1932408"/>
          <a:ext cx="1687132" cy="407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3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Heaps (Implementation Issue)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99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Operations on Heaps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252538"/>
            <a:ext cx="8229600" cy="530066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>
                <a:solidFill>
                  <a:schemeClr val="tx1"/>
                </a:solidFill>
              </a:rPr>
              <a:t>Maintain/Restore the max-heap property</a:t>
            </a:r>
          </a:p>
          <a:p>
            <a:pPr lvl="1">
              <a:lnSpc>
                <a:spcPct val="120000"/>
              </a:lnSpc>
            </a:pPr>
            <a:r>
              <a:rPr lang="en-US">
                <a:solidFill>
                  <a:srgbClr val="336699"/>
                </a:solidFill>
              </a:rPr>
              <a:t>MAX-HEAPIFY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chemeClr val="tx1"/>
                </a:solidFill>
              </a:rPr>
              <a:t>Create a max-heap from an unordered array</a:t>
            </a:r>
          </a:p>
          <a:p>
            <a:pPr lvl="1">
              <a:lnSpc>
                <a:spcPct val="120000"/>
              </a:lnSpc>
            </a:pPr>
            <a:r>
              <a:rPr lang="en-US">
                <a:solidFill>
                  <a:srgbClr val="336699"/>
                </a:solidFill>
              </a:rPr>
              <a:t>BUILD-MAX-HEAP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chemeClr val="tx1"/>
                </a:solidFill>
              </a:rPr>
              <a:t>Sort an array in place</a:t>
            </a:r>
          </a:p>
          <a:p>
            <a:pPr lvl="1">
              <a:lnSpc>
                <a:spcPct val="120000"/>
              </a:lnSpc>
            </a:pPr>
            <a:r>
              <a:rPr lang="en-US">
                <a:solidFill>
                  <a:srgbClr val="336699"/>
                </a:solidFill>
              </a:rPr>
              <a:t>HEAPSORT</a:t>
            </a:r>
          </a:p>
          <a:p>
            <a:pPr>
              <a:lnSpc>
                <a:spcPct val="120000"/>
              </a:lnSpc>
            </a:pPr>
            <a:r>
              <a:rPr lang="en-US">
                <a:solidFill>
                  <a:schemeClr val="tx1"/>
                </a:solidFill>
              </a:rPr>
              <a:t>Priority queues</a:t>
            </a:r>
          </a:p>
        </p:txBody>
      </p:sp>
    </p:spTree>
    <p:extLst>
      <p:ext uri="{BB962C8B-B14F-4D97-AF65-F5344CB8AC3E}">
        <p14:creationId xmlns:p14="http://schemas.microsoft.com/office/powerpoint/2010/main" val="242504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Maintaining the Heap Property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7175" y="1282700"/>
            <a:ext cx="6296025" cy="5334000"/>
          </a:xfrm>
        </p:spPr>
        <p:txBody>
          <a:bodyPr/>
          <a:lstStyle/>
          <a:p>
            <a:pPr marL="457200" indent="-457200"/>
            <a:r>
              <a:rPr lang="en-US" sz="2400" dirty="0"/>
              <a:t>Suppose a node is smaller than a child</a:t>
            </a:r>
          </a:p>
          <a:p>
            <a:pPr marL="838200" lvl="1" indent="-381000"/>
            <a:r>
              <a:rPr lang="en-US" sz="2000" dirty="0" smtClean="0"/>
              <a:t>Assume Left </a:t>
            </a:r>
            <a:r>
              <a:rPr lang="en-US" sz="2000" dirty="0"/>
              <a:t>and Right </a:t>
            </a:r>
            <a:r>
              <a:rPr lang="en-US" sz="2000" dirty="0" err="1"/>
              <a:t>subtrees</a:t>
            </a:r>
            <a:r>
              <a:rPr lang="en-US" sz="2000" dirty="0"/>
              <a:t> of </a:t>
            </a:r>
            <a:r>
              <a:rPr lang="en-US" sz="2000" dirty="0" err="1">
                <a:latin typeface="Comic Sans MS" panose="030F0702030302020204" pitchFamily="66" charset="0"/>
              </a:rPr>
              <a:t>i</a:t>
            </a:r>
            <a:r>
              <a:rPr lang="en-US" sz="2000" dirty="0"/>
              <a:t> are max-heaps</a:t>
            </a:r>
          </a:p>
          <a:p>
            <a:pPr marL="457200" indent="-457200"/>
            <a:r>
              <a:rPr lang="en-US" sz="2400" dirty="0"/>
              <a:t>To eliminate the violation:</a:t>
            </a:r>
          </a:p>
          <a:p>
            <a:pPr marL="838200" lvl="1" indent="-381000"/>
            <a:r>
              <a:rPr lang="en-US" sz="2000" dirty="0"/>
              <a:t>Exchange with larger child</a:t>
            </a:r>
          </a:p>
          <a:p>
            <a:pPr marL="838200" lvl="1" indent="-381000"/>
            <a:r>
              <a:rPr lang="en-US" sz="2000" dirty="0"/>
              <a:t>Move down the tree</a:t>
            </a:r>
          </a:p>
          <a:p>
            <a:pPr marL="838200" lvl="1" indent="-381000"/>
            <a:r>
              <a:rPr lang="en-US" sz="2000" dirty="0"/>
              <a:t>Continue until node is not smaller than children</a:t>
            </a:r>
          </a:p>
        </p:txBody>
      </p:sp>
      <p:graphicFrame>
        <p:nvGraphicFramePr>
          <p:cNvPr id="40858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351588" y="2141538"/>
          <a:ext cx="2514600" cy="215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Paint Shop Pro Image" r:id="rId4" imgW="2790244" imgH="2390244" progId="PaintShopPro">
                  <p:embed/>
                </p:oleObj>
              </mc:Choice>
              <mc:Fallback>
                <p:oleObj name="Paint Shop Pro Image" r:id="rId4" imgW="2790244" imgH="2390244" progId="PaintShopPro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588" y="2141538"/>
                        <a:ext cx="2514600" cy="215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855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72067" name="Text Box 3"/>
          <p:cNvSpPr txBox="1">
            <a:spLocks noChangeArrowheads="1"/>
          </p:cNvSpPr>
          <p:nvPr/>
        </p:nvSpPr>
        <p:spPr bwMode="auto">
          <a:xfrm>
            <a:off x="381000" y="1196975"/>
            <a:ext cx="2673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u="sng"/>
              <a:t>MAX-HEAPIFY(A, 2, 10)</a:t>
            </a:r>
          </a:p>
        </p:txBody>
      </p:sp>
      <p:grpSp>
        <p:nvGrpSpPr>
          <p:cNvPr id="472068" name="Group 4"/>
          <p:cNvGrpSpPr>
            <a:grpSpLocks/>
          </p:cNvGrpSpPr>
          <p:nvPr/>
        </p:nvGrpSpPr>
        <p:grpSpPr bwMode="auto">
          <a:xfrm>
            <a:off x="457200" y="1495425"/>
            <a:ext cx="3282950" cy="2390775"/>
            <a:chOff x="288" y="942"/>
            <a:chExt cx="2068" cy="1506"/>
          </a:xfrm>
        </p:grpSpPr>
        <p:graphicFrame>
          <p:nvGraphicFramePr>
            <p:cNvPr id="472069" name="Object 5"/>
            <p:cNvGraphicFramePr>
              <a:graphicFrameLocks noChangeAspect="1"/>
            </p:cNvGraphicFramePr>
            <p:nvPr/>
          </p:nvGraphicFramePr>
          <p:xfrm>
            <a:off x="288" y="942"/>
            <a:ext cx="1950" cy="1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Paint Shop Pro Image" r:id="rId4" imgW="5160976" imgH="3248780" progId="PaintShopPro">
                    <p:embed/>
                  </p:oleObj>
                </mc:Choice>
                <mc:Fallback>
                  <p:oleObj name="Paint Shop Pro Image" r:id="rId4" imgW="5160976" imgH="3248780" progId="PaintShopPro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942"/>
                          <a:ext cx="1950" cy="1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070" name="Text Box 6"/>
            <p:cNvSpPr txBox="1">
              <a:spLocks noChangeArrowheads="1"/>
            </p:cNvSpPr>
            <p:nvPr/>
          </p:nvSpPr>
          <p:spPr bwMode="auto">
            <a:xfrm>
              <a:off x="288" y="2217"/>
              <a:ext cx="20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A[2] violates the heap property</a:t>
              </a:r>
            </a:p>
          </p:txBody>
        </p:sp>
      </p:grpSp>
      <p:sp>
        <p:nvSpPr>
          <p:cNvPr id="472071" name="Text Box 7"/>
          <p:cNvSpPr txBox="1">
            <a:spLocks noChangeArrowheads="1"/>
          </p:cNvSpPr>
          <p:nvPr/>
        </p:nvSpPr>
        <p:spPr bwMode="auto">
          <a:xfrm>
            <a:off x="3886200" y="2286000"/>
            <a:ext cx="1362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DD0111"/>
                </a:solidFill>
              </a:rPr>
              <a:t>A[2] </a:t>
            </a:r>
            <a:r>
              <a:rPr lang="en-US">
                <a:solidFill>
                  <a:srgbClr val="DD0111"/>
                </a:solidFill>
                <a:sym typeface="Symbol" panose="05050102010706020507" pitchFamily="18" charset="2"/>
              </a:rPr>
              <a:t> A[4]</a:t>
            </a:r>
          </a:p>
        </p:txBody>
      </p:sp>
      <p:grpSp>
        <p:nvGrpSpPr>
          <p:cNvPr id="472072" name="Group 8"/>
          <p:cNvGrpSpPr>
            <a:grpSpLocks/>
          </p:cNvGrpSpPr>
          <p:nvPr/>
        </p:nvGrpSpPr>
        <p:grpSpPr bwMode="auto">
          <a:xfrm>
            <a:off x="5449888" y="1495425"/>
            <a:ext cx="3282950" cy="2390775"/>
            <a:chOff x="3433" y="942"/>
            <a:chExt cx="2068" cy="1506"/>
          </a:xfrm>
        </p:grpSpPr>
        <p:graphicFrame>
          <p:nvGraphicFramePr>
            <p:cNvPr id="472073" name="Object 9"/>
            <p:cNvGraphicFramePr>
              <a:graphicFrameLocks noChangeAspect="1"/>
            </p:cNvGraphicFramePr>
            <p:nvPr/>
          </p:nvGraphicFramePr>
          <p:xfrm>
            <a:off x="3433" y="942"/>
            <a:ext cx="1943" cy="1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Paint Shop Pro Image" r:id="rId6" imgW="5141463" imgH="3248780" progId="PaintShopPro">
                    <p:embed/>
                  </p:oleObj>
                </mc:Choice>
                <mc:Fallback>
                  <p:oleObj name="Paint Shop Pro Image" r:id="rId6" imgW="5141463" imgH="3248780" progId="PaintShopPro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3" y="942"/>
                          <a:ext cx="1943" cy="1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074" name="Text Box 10"/>
            <p:cNvSpPr txBox="1">
              <a:spLocks noChangeArrowheads="1"/>
            </p:cNvSpPr>
            <p:nvPr/>
          </p:nvSpPr>
          <p:spPr bwMode="auto">
            <a:xfrm>
              <a:off x="3433" y="2217"/>
              <a:ext cx="20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A[4] violates the heap property</a:t>
              </a:r>
            </a:p>
          </p:txBody>
        </p:sp>
      </p:grpSp>
      <p:sp>
        <p:nvSpPr>
          <p:cNvPr id="472075" name="Text Box 11"/>
          <p:cNvSpPr txBox="1">
            <a:spLocks noChangeArrowheads="1"/>
          </p:cNvSpPr>
          <p:nvPr/>
        </p:nvSpPr>
        <p:spPr bwMode="auto">
          <a:xfrm>
            <a:off x="1219200" y="4824413"/>
            <a:ext cx="1362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DD0111"/>
                </a:solidFill>
              </a:rPr>
              <a:t>A[4] </a:t>
            </a:r>
            <a:r>
              <a:rPr lang="en-US">
                <a:solidFill>
                  <a:srgbClr val="DD0111"/>
                </a:solidFill>
                <a:sym typeface="Symbol" panose="05050102010706020507" pitchFamily="18" charset="2"/>
              </a:rPr>
              <a:t> A[9]</a:t>
            </a:r>
          </a:p>
        </p:txBody>
      </p:sp>
      <p:grpSp>
        <p:nvGrpSpPr>
          <p:cNvPr id="472076" name="Group 12"/>
          <p:cNvGrpSpPr>
            <a:grpSpLocks/>
          </p:cNvGrpSpPr>
          <p:nvPr/>
        </p:nvGrpSpPr>
        <p:grpSpPr bwMode="auto">
          <a:xfrm>
            <a:off x="2754313" y="4038600"/>
            <a:ext cx="3025775" cy="2271713"/>
            <a:chOff x="1735" y="2544"/>
            <a:chExt cx="1906" cy="1431"/>
          </a:xfrm>
        </p:grpSpPr>
        <p:graphicFrame>
          <p:nvGraphicFramePr>
            <p:cNvPr id="472077" name="Object 13"/>
            <p:cNvGraphicFramePr>
              <a:graphicFrameLocks noChangeAspect="1"/>
            </p:cNvGraphicFramePr>
            <p:nvPr/>
          </p:nvGraphicFramePr>
          <p:xfrm>
            <a:off x="1735" y="2544"/>
            <a:ext cx="1906" cy="1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Paint Shop Pro Image" r:id="rId8" imgW="5043902" imgH="3229268" progId="PaintShopPro">
                    <p:embed/>
                  </p:oleObj>
                </mc:Choice>
                <mc:Fallback>
                  <p:oleObj name="Paint Shop Pro Image" r:id="rId8" imgW="5043902" imgH="3229268" progId="PaintShopPro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5" y="2544"/>
                          <a:ext cx="1906" cy="1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078" name="Text Box 14"/>
            <p:cNvSpPr txBox="1">
              <a:spLocks noChangeArrowheads="1"/>
            </p:cNvSpPr>
            <p:nvPr/>
          </p:nvSpPr>
          <p:spPr bwMode="auto">
            <a:xfrm>
              <a:off x="1890" y="3744"/>
              <a:ext cx="15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Heap property restored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89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71" grpId="0"/>
      <p:bldP spid="47207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Heap Operations: </a:t>
            </a:r>
            <a:r>
              <a:rPr lang="en-US" altLang="en-US" dirty="0" err="1" smtClean="0"/>
              <a:t>Heapify</a:t>
            </a:r>
            <a:r>
              <a:rPr lang="en-US" altLang="en-US" dirty="0" smtClean="0"/>
              <a:t>()</a:t>
            </a:r>
          </a:p>
        </p:txBody>
      </p:sp>
      <p:sp>
        <p:nvSpPr>
          <p:cNvPr id="79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err="1" smtClean="0">
                <a:solidFill>
                  <a:schemeClr val="tx2"/>
                </a:solidFill>
                <a:latin typeface="Courier New" panose="02070309020205020404" pitchFamily="49" charset="0"/>
              </a:rPr>
              <a:t>Heapify</a:t>
            </a:r>
            <a:r>
              <a:rPr lang="en-US" altLang="en-US" b="1" dirty="0" smtClean="0">
                <a:solidFill>
                  <a:schemeClr val="tx2"/>
                </a:solidFill>
                <a:latin typeface="Courier New" panose="02070309020205020404" pitchFamily="49" charset="0"/>
              </a:rPr>
              <a:t>()</a:t>
            </a:r>
            <a:r>
              <a:rPr lang="en-US" altLang="en-US" dirty="0" smtClean="0"/>
              <a:t>: maintain the heap property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Given:</a:t>
            </a:r>
            <a:r>
              <a:rPr lang="en-US" altLang="en-US" dirty="0" smtClean="0"/>
              <a:t> a node 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 in the heap with children </a:t>
            </a:r>
            <a:r>
              <a:rPr lang="en-US" altLang="en-US" i="1" dirty="0" smtClean="0"/>
              <a:t>l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r</a:t>
            </a:r>
            <a:endParaRPr lang="en-US" alt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Given:</a:t>
            </a:r>
            <a:r>
              <a:rPr lang="en-US" altLang="en-US" dirty="0" smtClean="0"/>
              <a:t> two </a:t>
            </a:r>
            <a:r>
              <a:rPr lang="en-US" altLang="en-US" dirty="0" err="1" smtClean="0"/>
              <a:t>subtrees</a:t>
            </a:r>
            <a:r>
              <a:rPr lang="en-US" altLang="en-US" dirty="0" smtClean="0"/>
              <a:t> rooted at </a:t>
            </a:r>
            <a:r>
              <a:rPr lang="en-US" altLang="en-US" i="1" dirty="0" smtClean="0"/>
              <a:t>l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r</a:t>
            </a:r>
            <a:r>
              <a:rPr lang="en-US" altLang="en-US" dirty="0" smtClean="0"/>
              <a:t>, assumed to be heaps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Problem:</a:t>
            </a:r>
            <a:r>
              <a:rPr lang="en-US" altLang="en-US" dirty="0" smtClean="0"/>
              <a:t> The </a:t>
            </a:r>
            <a:r>
              <a:rPr lang="en-US" altLang="en-US" dirty="0" err="1" smtClean="0"/>
              <a:t>subtree</a:t>
            </a:r>
            <a:r>
              <a:rPr lang="en-US" altLang="en-US" dirty="0" smtClean="0"/>
              <a:t> rooted at </a:t>
            </a:r>
            <a:r>
              <a:rPr lang="en-US" altLang="en-US" i="1" dirty="0" err="1" smtClean="0"/>
              <a:t>i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may violate the heap property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b="1" dirty="0" smtClean="0"/>
              <a:t>Action:</a:t>
            </a:r>
            <a:r>
              <a:rPr lang="en-US" altLang="en-US" dirty="0" smtClean="0"/>
              <a:t> let the value of the parent node “float down” so </a:t>
            </a:r>
            <a:r>
              <a:rPr lang="en-US" altLang="en-US" dirty="0" err="1" smtClean="0"/>
              <a:t>subtree</a:t>
            </a:r>
            <a:r>
              <a:rPr lang="en-US" altLang="en-US" dirty="0" smtClean="0"/>
              <a:t> at 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 satisfies the heap property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en-US" dirty="0" smtClean="0"/>
              <a:t>May </a:t>
            </a:r>
            <a:r>
              <a:rPr lang="en-US" altLang="en-US" dirty="0"/>
              <a:t>lead to the </a:t>
            </a:r>
            <a:r>
              <a:rPr lang="en-US" altLang="en-US" dirty="0" err="1"/>
              <a:t>subtree</a:t>
            </a:r>
            <a:r>
              <a:rPr lang="en-US" altLang="en-US" dirty="0"/>
              <a:t> at the child not being a heap.</a:t>
            </a:r>
            <a:endParaRPr lang="en-US" altLang="en-US" dirty="0">
              <a:solidFill>
                <a:srgbClr val="CC0000"/>
              </a:solidFill>
            </a:endParaRP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rgbClr val="CC0000"/>
                </a:solidFill>
              </a:rPr>
              <a:t>Recursively </a:t>
            </a:r>
            <a:r>
              <a:rPr lang="en-US" altLang="en-US" sz="2000" dirty="0">
                <a:solidFill>
                  <a:srgbClr val="CC0000"/>
                </a:solidFill>
              </a:rPr>
              <a:t>fix the children</a:t>
            </a:r>
            <a:r>
              <a:rPr lang="en-US" altLang="en-US" sz="2000" dirty="0"/>
              <a:t> until all of them satisfy the max-heap property.</a:t>
            </a: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610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23" grpId="0" build="p" bldLvl="2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Autofit/>
          </a:bodyPr>
          <a:lstStyle/>
          <a:p>
            <a:r>
              <a:rPr lang="en-US" sz="2400" dirty="0" smtClean="0"/>
              <a:t>Suppose that, the order property is violated by the </a:t>
            </a:r>
            <a:r>
              <a:rPr lang="en-US" sz="2400" b="1" dirty="0" smtClean="0"/>
              <a:t>root node</a:t>
            </a:r>
            <a:r>
              <a:rPr lang="en-US" sz="2400" dirty="0" smtClean="0"/>
              <a:t> </a:t>
            </a:r>
            <a:r>
              <a:rPr lang="en-US" sz="2400" u="sng" dirty="0" smtClean="0"/>
              <a:t>only</a:t>
            </a:r>
            <a:r>
              <a:rPr lang="en-US" sz="2400" dirty="0" smtClean="0"/>
              <a:t> (not any other node, they are in place)</a:t>
            </a:r>
          </a:p>
          <a:p>
            <a:r>
              <a:rPr lang="en-US" sz="2400" dirty="0" smtClean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 smtClean="0"/>
              <a:t>operation), that is, move </a:t>
            </a:r>
            <a:r>
              <a:rPr lang="en-US" sz="2400" dirty="0"/>
              <a:t>the element down from the root position until it ends up in a position where the </a:t>
            </a:r>
            <a:r>
              <a:rPr lang="en-US" sz="2400" dirty="0" smtClean="0"/>
              <a:t>heap property </a:t>
            </a:r>
            <a:r>
              <a:rPr lang="en-US" sz="2400" dirty="0"/>
              <a:t>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Illustration of </a:t>
            </a:r>
            <a:r>
              <a:rPr lang="en-US" altLang="en-US" dirty="0" err="1" smtClean="0"/>
              <a:t>Heapify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514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Oval 2"/>
          <p:cNvSpPr/>
          <p:nvPr/>
        </p:nvSpPr>
        <p:spPr>
          <a:xfrm>
            <a:off x="5061568" y="3594594"/>
            <a:ext cx="718457" cy="701778"/>
          </a:xfrm>
          <a:prstGeom prst="ellipse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3029623" y="4143816"/>
            <a:ext cx="2946308" cy="1985634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318374" y="4143129"/>
            <a:ext cx="2175179" cy="1304706"/>
          </a:xfrm>
          <a:prstGeom prst="triangle">
            <a:avLst/>
          </a:prstGeom>
          <a:solidFill>
            <a:srgbClr val="92D050">
              <a:alpha val="3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8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 rot="19548232">
            <a:off x="4096678" y="4059034"/>
            <a:ext cx="1779021" cy="3952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118143" y="3221664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swap</a:t>
            </a:r>
            <a:endParaRPr lang="en-US" b="1" dirty="0"/>
          </a:p>
        </p:txBody>
      </p:sp>
      <p:sp>
        <p:nvSpPr>
          <p:cNvPr id="3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061568" y="3594594"/>
            <a:ext cx="718457" cy="701778"/>
          </a:xfrm>
          <a:prstGeom prst="ellipse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3029623" y="4143816"/>
            <a:ext cx="2946308" cy="1985634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/>
          <p:cNvSpPr/>
          <p:nvPr/>
        </p:nvSpPr>
        <p:spPr>
          <a:xfrm>
            <a:off x="5318374" y="4143129"/>
            <a:ext cx="2175179" cy="1304706"/>
          </a:xfrm>
          <a:prstGeom prst="triangle">
            <a:avLst/>
          </a:prstGeom>
          <a:solidFill>
            <a:srgbClr val="92D050">
              <a:alpha val="3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4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115164" y="4231155"/>
            <a:ext cx="718457" cy="701778"/>
          </a:xfrm>
          <a:prstGeom prst="ellipse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3094942" y="4793973"/>
            <a:ext cx="1700869" cy="1337033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318374" y="4143129"/>
            <a:ext cx="2175179" cy="1304706"/>
          </a:xfrm>
          <a:prstGeom prst="triangle">
            <a:avLst/>
          </a:prstGeom>
          <a:solidFill>
            <a:srgbClr val="92D050">
              <a:alpha val="3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4193454" y="4781137"/>
            <a:ext cx="1700869" cy="1337033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/>
          <p:cNvSpPr/>
          <p:nvPr/>
        </p:nvSpPr>
        <p:spPr>
          <a:xfrm rot="2908750">
            <a:off x="3932793" y="4684042"/>
            <a:ext cx="1571054" cy="3952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609499" y="3815584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swap</a:t>
            </a:r>
            <a:endParaRPr lang="en-US" b="1" dirty="0"/>
          </a:p>
        </p:txBody>
      </p:sp>
      <p:sp>
        <p:nvSpPr>
          <p:cNvPr id="3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5164" y="4231155"/>
            <a:ext cx="718457" cy="701778"/>
          </a:xfrm>
          <a:prstGeom prst="ellipse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/>
          <p:cNvSpPr/>
          <p:nvPr/>
        </p:nvSpPr>
        <p:spPr>
          <a:xfrm>
            <a:off x="3094942" y="4793973"/>
            <a:ext cx="1700869" cy="1337033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>
            <a:off x="5318374" y="4143129"/>
            <a:ext cx="2175179" cy="1304706"/>
          </a:xfrm>
          <a:prstGeom prst="triangle">
            <a:avLst/>
          </a:prstGeom>
          <a:solidFill>
            <a:srgbClr val="92D050">
              <a:alpha val="3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>
            <a:off x="4193454" y="4781137"/>
            <a:ext cx="1700869" cy="1337033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8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688318" y="4916716"/>
            <a:ext cx="718457" cy="701778"/>
          </a:xfrm>
          <a:prstGeom prst="ellipse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3094942" y="4793973"/>
            <a:ext cx="1700869" cy="1337033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318374" y="4143129"/>
            <a:ext cx="2175179" cy="1304706"/>
          </a:xfrm>
          <a:prstGeom prst="triangle">
            <a:avLst/>
          </a:prstGeom>
          <a:solidFill>
            <a:srgbClr val="92D050">
              <a:alpha val="3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4193455" y="5560604"/>
            <a:ext cx="1124920" cy="557566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5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/>
          <p:cNvSpPr/>
          <p:nvPr/>
        </p:nvSpPr>
        <p:spPr>
          <a:xfrm rot="17796458">
            <a:off x="4288989" y="5394016"/>
            <a:ext cx="1224176" cy="3952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4782153" y="4575481"/>
            <a:ext cx="100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swap</a:t>
            </a:r>
            <a:endParaRPr lang="en-US" b="1" dirty="0"/>
          </a:p>
        </p:txBody>
      </p:sp>
      <p:sp>
        <p:nvSpPr>
          <p:cNvPr id="3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688318" y="4916716"/>
            <a:ext cx="718457" cy="701778"/>
          </a:xfrm>
          <a:prstGeom prst="ellipse">
            <a:avLst/>
          </a:prstGeom>
          <a:solidFill>
            <a:srgbClr val="FF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/>
          <p:cNvSpPr/>
          <p:nvPr/>
        </p:nvSpPr>
        <p:spPr>
          <a:xfrm>
            <a:off x="3094942" y="4793973"/>
            <a:ext cx="1700869" cy="1337033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>
            <a:off x="5318374" y="4143129"/>
            <a:ext cx="2175179" cy="1304706"/>
          </a:xfrm>
          <a:prstGeom prst="triangle">
            <a:avLst/>
          </a:prstGeom>
          <a:solidFill>
            <a:srgbClr val="92D050">
              <a:alpha val="3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>
            <a:off x="4193455" y="5560604"/>
            <a:ext cx="1124920" cy="557566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3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353192" y="990600"/>
            <a:ext cx="8592396" cy="2140220"/>
          </a:xfrm>
        </p:spPr>
        <p:txBody>
          <a:bodyPr>
            <a:normAutofit/>
          </a:bodyPr>
          <a:lstStyle/>
          <a:p>
            <a:r>
              <a:rPr lang="en-US" sz="2400" dirty="0"/>
              <a:t>Suppose that, the order property is violated by the </a:t>
            </a:r>
            <a:r>
              <a:rPr lang="en-US" sz="2400" b="1" dirty="0"/>
              <a:t>root node</a:t>
            </a:r>
            <a:r>
              <a:rPr lang="en-US" sz="2400" dirty="0"/>
              <a:t> only (not any other node, they are in place)</a:t>
            </a:r>
          </a:p>
          <a:p>
            <a:r>
              <a:rPr lang="en-US" sz="2400" dirty="0"/>
              <a:t>Repair the structure so that it becomes a heap again (called </a:t>
            </a:r>
            <a:r>
              <a:rPr lang="en-US" altLang="en-US" sz="2400" dirty="0" err="1"/>
              <a:t>Heapify</a:t>
            </a:r>
            <a:r>
              <a:rPr lang="en-US" altLang="en-US" sz="2400" dirty="0"/>
              <a:t> </a:t>
            </a:r>
            <a:r>
              <a:rPr lang="en-US" sz="2400" dirty="0"/>
              <a:t>operation), that is, move the element down from the root position until it ends up in a position where the heap property is satisfied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3405485" y="3747839"/>
            <a:ext cx="3755166" cy="2364786"/>
            <a:chOff x="353191" y="2900862"/>
            <a:chExt cx="3755166" cy="2364786"/>
          </a:xfrm>
        </p:grpSpPr>
        <p:sp>
          <p:nvSpPr>
            <p:cNvPr id="2" name="Oval 1"/>
            <p:cNvSpPr>
              <a:spLocks noChangeAspect="1"/>
            </p:cNvSpPr>
            <p:nvPr/>
          </p:nvSpPr>
          <p:spPr>
            <a:xfrm>
              <a:off x="2176390" y="2900862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1233308" y="3550151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9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" name="Straight Arrow Connector 3"/>
            <p:cNvCxnSpPr>
              <a:stCxn id="2" idx="3"/>
              <a:endCxn id="5" idx="7"/>
            </p:cNvCxnSpPr>
            <p:nvPr/>
          </p:nvCxnSpPr>
          <p:spPr>
            <a:xfrm flipH="1">
              <a:off x="1570708" y="3238262"/>
              <a:ext cx="663571" cy="369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2" idx="5"/>
              <a:endCxn id="20" idx="1"/>
            </p:cNvCxnSpPr>
            <p:nvPr/>
          </p:nvCxnSpPr>
          <p:spPr>
            <a:xfrm>
              <a:off x="2513790" y="3238262"/>
              <a:ext cx="672522" cy="371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H="1">
              <a:off x="970633" y="3887551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5"/>
            </p:cNvCxnSpPr>
            <p:nvPr/>
          </p:nvCxnSpPr>
          <p:spPr>
            <a:xfrm>
              <a:off x="1570708" y="3887551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128423" y="3551948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713068" y="4202085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2528348" y="419583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3" name="Straight Arrow Connector 22"/>
            <p:cNvCxnSpPr>
              <a:stCxn id="20" idx="3"/>
              <a:endCxn id="22" idx="7"/>
            </p:cNvCxnSpPr>
            <p:nvPr/>
          </p:nvCxnSpPr>
          <p:spPr>
            <a:xfrm flipH="1">
              <a:off x="2865748" y="3889348"/>
              <a:ext cx="320564" cy="364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5"/>
              <a:endCxn id="21" idx="1"/>
            </p:cNvCxnSpPr>
            <p:nvPr/>
          </p:nvCxnSpPr>
          <p:spPr>
            <a:xfrm>
              <a:off x="3465823" y="3889348"/>
              <a:ext cx="305134" cy="370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80466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1021749" y="4868947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353191" y="4868946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/>
            <p:cNvCxnSpPr>
              <a:stCxn id="29" idx="3"/>
              <a:endCxn id="31" idx="0"/>
            </p:cNvCxnSpPr>
            <p:nvPr/>
          </p:nvCxnSpPr>
          <p:spPr>
            <a:xfrm flipH="1">
              <a:off x="550836" y="4557624"/>
              <a:ext cx="187519" cy="3113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9" idx="5"/>
              <a:endCxn id="30" idx="0"/>
            </p:cNvCxnSpPr>
            <p:nvPr/>
          </p:nvCxnSpPr>
          <p:spPr>
            <a:xfrm>
              <a:off x="1017866" y="4557624"/>
              <a:ext cx="201528" cy="31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803947" y="4220224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8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480553" y="4870359"/>
              <a:ext cx="395289" cy="3952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Straight Arrow Connector 42"/>
            <p:cNvCxnSpPr>
              <a:stCxn id="40" idx="3"/>
              <a:endCxn id="42" idx="0"/>
            </p:cNvCxnSpPr>
            <p:nvPr/>
          </p:nvCxnSpPr>
          <p:spPr>
            <a:xfrm flipH="1">
              <a:off x="1678198" y="4557624"/>
              <a:ext cx="183638" cy="3127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itle 2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altLang="en-US" dirty="0" err="1"/>
              <a:t>Heapify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/>
              <a:t>operation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Isosceles Triangle 26"/>
          <p:cNvSpPr/>
          <p:nvPr/>
        </p:nvSpPr>
        <p:spPr>
          <a:xfrm>
            <a:off x="2605835" y="3310634"/>
            <a:ext cx="5640985" cy="2847787"/>
          </a:xfrm>
          <a:prstGeom prst="triangle">
            <a:avLst/>
          </a:prstGeom>
          <a:solidFill>
            <a:srgbClr val="92D050">
              <a:alpha val="25000"/>
            </a:srgbClr>
          </a:solidFill>
          <a:ln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Procedure MaxHeapify</a:t>
            </a:r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312738" y="1600200"/>
            <a:ext cx="5651500" cy="501332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u="sng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sz="2400" u="sng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sz="2400" u="sng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u="sng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1.  l  left(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2.  r  right(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3.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  heap-size[A] and A[l] &gt; A[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4.   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  l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5.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else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 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endParaRPr lang="en-US" altLang="en-US" sz="24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6.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r  heap-size[A]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and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A[r] &gt; A[largest]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7.   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  r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8.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largest 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endParaRPr lang="en-US" altLang="en-US" sz="24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9.   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exchange A[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]  A[largest]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10.            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(A, largest)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endParaRPr lang="en-US" altLang="en-US" sz="2400" dirty="0">
              <a:solidFill>
                <a:srgbClr val="010000"/>
              </a:solidFill>
              <a:sym typeface="Symbol" panose="05050102010706020507" pitchFamily="18" charset="2"/>
            </a:endParaRPr>
          </a:p>
        </p:txBody>
      </p:sp>
      <p:sp>
        <p:nvSpPr>
          <p:cNvPr id="21508" name="Text Box 6"/>
          <p:cNvSpPr txBox="1">
            <a:spLocks noChangeArrowheads="1"/>
          </p:cNvSpPr>
          <p:nvPr/>
        </p:nvSpPr>
        <p:spPr bwMode="auto">
          <a:xfrm>
            <a:off x="6308725" y="1560513"/>
            <a:ext cx="26098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u="sng">
                <a:solidFill>
                  <a:srgbClr val="CC0000"/>
                </a:solidFill>
                <a:latin typeface="Arial" panose="020B0604020202020204" pitchFamily="34" charset="0"/>
              </a:rPr>
              <a:t>Assumption: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hlink"/>
                </a:solidFill>
                <a:latin typeface="Arial" panose="020B0604020202020204" pitchFamily="34" charset="0"/>
              </a:rPr>
              <a:t>Left(i) and Right(i) are max-heaps.</a:t>
            </a:r>
          </a:p>
        </p:txBody>
      </p:sp>
    </p:spTree>
    <p:extLst>
      <p:ext uri="{BB962C8B-B14F-4D97-AF65-F5344CB8AC3E}">
        <p14:creationId xmlns:p14="http://schemas.microsoft.com/office/powerpoint/2010/main" val="32848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Procedure MaxHeapify</a:t>
            </a:r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312738" y="1600200"/>
            <a:ext cx="5651500" cy="501332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u="sng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sz="2400" u="sng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sz="2400" u="sng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u="sng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1.  l  left(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2.  r  right(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3.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  heap-size[A] and A[l] &gt; A[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4.   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  l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5.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else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 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endParaRPr lang="en-US" altLang="en-US" sz="24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6.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r  heap-size[A]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and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A[r] &gt; A[largest]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7.   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  r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8.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largest 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endParaRPr lang="en-US" altLang="en-US" sz="24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9.     </a:t>
            </a:r>
            <a:r>
              <a:rPr lang="en-US" altLang="en-US" sz="2400" b="1" dirty="0">
                <a:solidFill>
                  <a:srgbClr val="01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exchange A[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]  A[largest]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10.            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(A, largest)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endParaRPr lang="en-US" altLang="en-US" sz="2400" dirty="0">
              <a:solidFill>
                <a:srgbClr val="010000"/>
              </a:solidFill>
              <a:sym typeface="Symbol" panose="05050102010706020507" pitchFamily="18" charset="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372225" y="2624138"/>
            <a:ext cx="24780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hlink"/>
                </a:solidFill>
                <a:latin typeface="Arial" panose="020B0604020202020204" pitchFamily="34" charset="0"/>
              </a:rPr>
              <a:t>Time to fix node </a:t>
            </a:r>
            <a:r>
              <a:rPr lang="en-US" altLang="en-US" sz="2000" dirty="0" err="1">
                <a:solidFill>
                  <a:schemeClr val="hlink"/>
                </a:solidFill>
                <a:latin typeface="Arial" panose="020B0604020202020204" pitchFamily="34" charset="0"/>
              </a:rPr>
              <a:t>i</a:t>
            </a:r>
            <a:r>
              <a:rPr lang="en-US" altLang="en-US" sz="2000" dirty="0">
                <a:solidFill>
                  <a:schemeClr val="hlink"/>
                </a:solidFill>
                <a:latin typeface="Arial" panose="020B0604020202020204" pitchFamily="34" charset="0"/>
              </a:rPr>
              <a:t> and its children</a:t>
            </a:r>
            <a:r>
              <a:rPr lang="en-US" altLang="en-US" sz="2000" dirty="0">
                <a:latin typeface="Arial" panose="020B0604020202020204" pitchFamily="34" charset="0"/>
              </a:rPr>
              <a:t> = </a:t>
            </a:r>
            <a:r>
              <a:rPr kumimoji="1" lang="en-US" altLang="en-US" sz="2000" b="1" dirty="0">
                <a:solidFill>
                  <a:srgbClr val="CC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kumimoji="1" lang="en-US" altLang="en-US" sz="2000" b="1" dirty="0" smtClean="0">
                <a:solidFill>
                  <a:srgbClr val="CC0000"/>
                </a:solidFill>
                <a:latin typeface="Arial" panose="020B0604020202020204" pitchFamily="34" charset="0"/>
              </a:rPr>
              <a:t>(1)</a:t>
            </a:r>
            <a:endParaRPr kumimoji="1" lang="en-US" altLang="en-US" sz="2000" b="1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AutoShape 5"/>
          <p:cNvSpPr>
            <a:spLocks/>
          </p:cNvSpPr>
          <p:nvPr/>
        </p:nvSpPr>
        <p:spPr bwMode="auto">
          <a:xfrm>
            <a:off x="6126163" y="2055223"/>
            <a:ext cx="112713" cy="3892731"/>
          </a:xfrm>
          <a:prstGeom prst="rightBrace">
            <a:avLst>
              <a:gd name="adj1" fmla="val 324832"/>
              <a:gd name="adj2" fmla="val 50671"/>
            </a:avLst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342063" y="4913313"/>
            <a:ext cx="2478087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hlink"/>
                </a:solidFill>
                <a:latin typeface="Arial" panose="020B0604020202020204" pitchFamily="34" charset="0"/>
              </a:rPr>
              <a:t>Time to fix the </a:t>
            </a:r>
            <a:r>
              <a:rPr lang="en-US" altLang="en-US" sz="2000" dirty="0" err="1">
                <a:solidFill>
                  <a:schemeClr val="hlink"/>
                </a:solidFill>
                <a:latin typeface="Arial" panose="020B0604020202020204" pitchFamily="34" charset="0"/>
              </a:rPr>
              <a:t>subtree</a:t>
            </a:r>
            <a:r>
              <a:rPr lang="en-US" altLang="en-US" sz="2000" dirty="0">
                <a:solidFill>
                  <a:schemeClr val="hlink"/>
                </a:solidFill>
                <a:latin typeface="Arial" panose="020B0604020202020204" pitchFamily="34" charset="0"/>
              </a:rPr>
              <a:t> rooted at one of i’s children</a:t>
            </a:r>
            <a:r>
              <a:rPr lang="en-US" altLang="en-US" sz="2000" dirty="0">
                <a:latin typeface="Arial" panose="020B0604020202020204" pitchFamily="34" charset="0"/>
              </a:rPr>
              <a:t> = </a:t>
            </a:r>
            <a:r>
              <a:rPr kumimoji="1" lang="en-US" altLang="en-US" sz="2000" dirty="0">
                <a:solidFill>
                  <a:srgbClr val="CC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T(size of </a:t>
            </a:r>
            <a:r>
              <a:rPr kumimoji="1" lang="en-US" altLang="en-US" sz="2000" dirty="0" err="1">
                <a:solidFill>
                  <a:srgbClr val="CC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subree</a:t>
            </a:r>
            <a:r>
              <a:rPr kumimoji="1" lang="en-US" altLang="en-US" sz="2000" dirty="0">
                <a:solidFill>
                  <a:srgbClr val="CC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at largest)</a:t>
            </a:r>
            <a:endParaRPr kumimoji="1" lang="en-US" altLang="en-US" sz="2000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AutoShape 7"/>
          <p:cNvSpPr>
            <a:spLocks/>
          </p:cNvSpPr>
          <p:nvPr/>
        </p:nvSpPr>
        <p:spPr bwMode="auto">
          <a:xfrm>
            <a:off x="6134419" y="6148250"/>
            <a:ext cx="45719" cy="296093"/>
          </a:xfrm>
          <a:prstGeom prst="rightBrace">
            <a:avLst>
              <a:gd name="adj1" fmla="val 52530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7267575" y="3937000"/>
            <a:ext cx="930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PLUS</a:t>
            </a:r>
          </a:p>
        </p:txBody>
      </p:sp>
    </p:spTree>
    <p:extLst>
      <p:ext uri="{BB962C8B-B14F-4D97-AF65-F5344CB8AC3E}">
        <p14:creationId xmlns:p14="http://schemas.microsoft.com/office/powerpoint/2010/main" val="123382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Running Time for </a:t>
            </a:r>
            <a:r>
              <a:rPr lang="en-US" altLang="en-US" dirty="0" err="1" smtClean="0"/>
              <a:t>MaxHeapify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, </a:t>
            </a:r>
            <a:r>
              <a:rPr lang="en-US" altLang="en-US" dirty="0" err="1" smtClean="0"/>
              <a:t>i</a:t>
            </a:r>
            <a:r>
              <a:rPr lang="en-US" altLang="en-US" dirty="0" smtClean="0"/>
              <a:t>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563" y="1501775"/>
            <a:ext cx="8248650" cy="4975225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en-US" sz="2800" dirty="0" err="1" smtClean="0"/>
              <a:t>MaxHeapify</a:t>
            </a:r>
            <a:r>
              <a:rPr lang="en-US" altLang="en-US" sz="2800" dirty="0" smtClean="0"/>
              <a:t> takes</a:t>
            </a:r>
            <a:r>
              <a:rPr lang="en-US" altLang="en-US" sz="2800" i="1" dirty="0" smtClean="0"/>
              <a:t> O</a:t>
            </a:r>
            <a:r>
              <a:rPr lang="en-US" altLang="en-US" sz="2800" dirty="0" smtClean="0"/>
              <a:t>(</a:t>
            </a:r>
            <a:r>
              <a:rPr lang="en-US" altLang="en-US" sz="2800" i="1" dirty="0" smtClean="0"/>
              <a:t>h</a:t>
            </a:r>
            <a:r>
              <a:rPr lang="en-US" altLang="en-US" sz="2800" i="1" baseline="-25000" dirty="0" smtClean="0"/>
              <a:t>i</a:t>
            </a:r>
            <a:r>
              <a:rPr lang="en-US" altLang="en-US" sz="2800" dirty="0" smtClean="0"/>
              <a:t>)</a:t>
            </a:r>
            <a:r>
              <a:rPr lang="en-US" altLang="en-US" sz="2800" i="1" dirty="0" smtClean="0"/>
              <a:t> </a:t>
            </a:r>
            <a:r>
              <a:rPr lang="en-US" altLang="en-US" sz="2800" dirty="0" smtClean="0"/>
              <a:t>where</a:t>
            </a:r>
            <a:r>
              <a:rPr lang="en-US" altLang="en-US" sz="2800" i="1" dirty="0" smtClean="0"/>
              <a:t> h</a:t>
            </a:r>
            <a:r>
              <a:rPr lang="en-US" altLang="en-US" sz="2800" i="1" baseline="-25000" dirty="0" smtClean="0"/>
              <a:t>i</a:t>
            </a:r>
            <a:r>
              <a:rPr lang="en-US" altLang="en-US" sz="2800" i="1" dirty="0" smtClean="0"/>
              <a:t> </a:t>
            </a:r>
            <a:r>
              <a:rPr lang="en-US" altLang="en-US" sz="2800" dirty="0" smtClean="0"/>
              <a:t>is the height of the node </a:t>
            </a:r>
            <a:r>
              <a:rPr lang="en-US" altLang="en-US" sz="2800" dirty="0" err="1" smtClean="0"/>
              <a:t>i</a:t>
            </a:r>
            <a:r>
              <a:rPr lang="en-US" altLang="en-US" sz="2800" dirty="0" smtClean="0"/>
              <a:t> where </a:t>
            </a:r>
            <a:r>
              <a:rPr lang="en-US" altLang="en-US" sz="2800" dirty="0" err="1" smtClean="0"/>
              <a:t>MaxHeapify</a:t>
            </a:r>
            <a:r>
              <a:rPr lang="en-US" altLang="en-US" sz="2800" dirty="0" smtClean="0"/>
              <a:t> is applied</a:t>
            </a:r>
          </a:p>
          <a:p>
            <a:pPr>
              <a:spcBef>
                <a:spcPct val="60000"/>
              </a:spcBef>
            </a:pPr>
            <a:r>
              <a:rPr lang="en-US" altLang="en-US" dirty="0" smtClean="0"/>
              <a:t>If </a:t>
            </a:r>
            <a:r>
              <a:rPr lang="en-US" altLang="en-US" dirty="0" err="1" smtClean="0"/>
              <a:t>MaxHeapify</a:t>
            </a:r>
            <a:r>
              <a:rPr lang="en-US" altLang="en-US" dirty="0" smtClean="0"/>
              <a:t> is applied on the root node, then it will take O(h) time where h is the height of the whole tree which is O(</a:t>
            </a:r>
            <a:r>
              <a:rPr lang="en-US" altLang="en-US" dirty="0" err="1" smtClean="0"/>
              <a:t>lgn</a:t>
            </a:r>
            <a:r>
              <a:rPr lang="en-US" altLang="en-US" dirty="0" smtClean="0"/>
              <a:t>) </a:t>
            </a:r>
            <a:r>
              <a:rPr lang="en-US" altLang="en-US" sz="2400" baseline="30000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6443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Converting an array to a Max-Heap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088" y="1473200"/>
            <a:ext cx="8458200" cy="2162175"/>
          </a:xfrm>
        </p:spPr>
        <p:txBody>
          <a:bodyPr>
            <a:normAutofit lnSpcReduction="10000"/>
          </a:bodyPr>
          <a:lstStyle/>
          <a:p>
            <a:r>
              <a:rPr lang="en-US" altLang="en-US" sz="2800" dirty="0" smtClean="0"/>
              <a:t>Use </a:t>
            </a:r>
            <a:r>
              <a:rPr lang="en-US" altLang="en-US" sz="2800" i="1" dirty="0" err="1" smtClean="0">
                <a:solidFill>
                  <a:srgbClr val="CC0000"/>
                </a:solidFill>
              </a:rPr>
              <a:t>MaxHeapify</a:t>
            </a:r>
            <a:r>
              <a:rPr lang="en-US" altLang="en-US" sz="2800" dirty="0" smtClean="0"/>
              <a:t> to </a:t>
            </a:r>
            <a:r>
              <a:rPr lang="en-US" altLang="en-US" sz="2800" dirty="0" smtClean="0">
                <a:solidFill>
                  <a:schemeClr val="hlink"/>
                </a:solidFill>
              </a:rPr>
              <a:t>convert an array</a:t>
            </a:r>
            <a:r>
              <a:rPr lang="en-US" altLang="en-US" sz="2800" dirty="0" smtClean="0"/>
              <a:t> </a:t>
            </a:r>
            <a:r>
              <a:rPr lang="en-US" altLang="en-US" sz="2800" i="1" dirty="0" smtClean="0"/>
              <a:t>A</a:t>
            </a:r>
            <a:r>
              <a:rPr lang="en-US" altLang="en-US" sz="2800" dirty="0" smtClean="0"/>
              <a:t> </a:t>
            </a:r>
            <a:r>
              <a:rPr lang="en-US" altLang="en-US" sz="2800" dirty="0" smtClean="0">
                <a:solidFill>
                  <a:schemeClr val="hlink"/>
                </a:solidFill>
              </a:rPr>
              <a:t>into a max-heap</a:t>
            </a:r>
            <a:r>
              <a:rPr lang="en-US" altLang="en-US" sz="2800" dirty="0" smtClean="0"/>
              <a:t>.</a:t>
            </a:r>
          </a:p>
          <a:p>
            <a:r>
              <a:rPr lang="en-US" altLang="en-US" sz="2800" u="sng" dirty="0" smtClean="0">
                <a:solidFill>
                  <a:srgbClr val="CC0000"/>
                </a:solidFill>
              </a:rPr>
              <a:t>How?</a:t>
            </a:r>
          </a:p>
          <a:p>
            <a:r>
              <a:rPr lang="en-US" altLang="en-US" sz="2800" dirty="0" smtClean="0"/>
              <a:t>Call </a:t>
            </a:r>
            <a:r>
              <a:rPr lang="en-US" altLang="en-US" sz="2800" dirty="0" err="1" smtClean="0"/>
              <a:t>MaxHeapify</a:t>
            </a:r>
            <a:r>
              <a:rPr lang="en-US" altLang="en-US" sz="2800" dirty="0" smtClean="0"/>
              <a:t> on each element in a bottom-up manner starting from the lowest parent (which is at index </a:t>
            </a:r>
            <a:r>
              <a:rPr lang="en-US" altLang="en-US" dirty="0" smtClean="0">
                <a:sym typeface="Symbol" panose="05050102010706020507" pitchFamily="18" charset="2"/>
              </a:rPr>
              <a:t></a:t>
            </a:r>
            <a:r>
              <a:rPr lang="en-US" altLang="en-US" i="1" dirty="0" smtClean="0">
                <a:sym typeface="Symbol" panose="05050102010706020507" pitchFamily="18" charset="2"/>
              </a:rPr>
              <a:t>n/2</a:t>
            </a:r>
            <a:r>
              <a:rPr lang="en-US" altLang="en-US" dirty="0" smtClean="0">
                <a:sym typeface="Symbol" panose="05050102010706020507" pitchFamily="18" charset="2"/>
              </a:rPr>
              <a:t></a:t>
            </a:r>
            <a:r>
              <a:rPr lang="en-US" altLang="en-US" sz="2800" dirty="0" smtClean="0"/>
              <a:t>).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593725" y="3933825"/>
            <a:ext cx="6670675" cy="231457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800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sz="2800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010000"/>
                </a:solidFill>
              </a:rPr>
              <a:t>1.  heap-size[A] </a:t>
            </a:r>
            <a:r>
              <a:rPr lang="en-US" altLang="en-US" sz="2800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sz="2800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010000"/>
                </a:solidFill>
              </a:rPr>
              <a:t>2.  </a:t>
            </a:r>
            <a:r>
              <a:rPr lang="en-US" altLang="en-US" sz="2800" b="1" dirty="0">
                <a:solidFill>
                  <a:srgbClr val="010000"/>
                </a:solidFill>
              </a:rPr>
              <a:t>for</a:t>
            </a:r>
            <a:r>
              <a:rPr lang="en-US" altLang="en-US" sz="2800" dirty="0">
                <a:solidFill>
                  <a:srgbClr val="010000"/>
                </a:solidFill>
              </a:rPr>
              <a:t> </a:t>
            </a:r>
            <a:r>
              <a:rPr lang="en-US" altLang="en-US" sz="2800" dirty="0" err="1">
                <a:solidFill>
                  <a:srgbClr val="010000"/>
                </a:solidFill>
              </a:rPr>
              <a:t>i</a:t>
            </a:r>
            <a:r>
              <a:rPr lang="en-US" altLang="en-US" sz="2800" dirty="0">
                <a:solidFill>
                  <a:srgbClr val="010000"/>
                </a:solidFill>
              </a:rPr>
              <a:t> </a:t>
            </a:r>
            <a:r>
              <a:rPr lang="en-US" altLang="en-US" sz="2800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sz="2800" dirty="0">
                <a:solidFill>
                  <a:srgbClr val="010000"/>
                </a:solidFill>
              </a:rPr>
              <a:t> </a:t>
            </a:r>
            <a:r>
              <a:rPr lang="en-US" altLang="en-US" sz="2800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sz="2800" dirty="0">
                <a:solidFill>
                  <a:srgbClr val="010000"/>
                </a:solidFill>
              </a:rPr>
              <a:t>length[A]/2</a:t>
            </a:r>
            <a:r>
              <a:rPr lang="en-US" altLang="en-US" sz="2800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sz="2800" dirty="0">
                <a:solidFill>
                  <a:srgbClr val="010000"/>
                </a:solidFill>
              </a:rPr>
              <a:t> </a:t>
            </a:r>
            <a:r>
              <a:rPr lang="en-US" altLang="en-US" sz="2800" b="1" dirty="0" err="1">
                <a:solidFill>
                  <a:srgbClr val="010000"/>
                </a:solidFill>
              </a:rPr>
              <a:t>downto</a:t>
            </a:r>
            <a:r>
              <a:rPr lang="en-US" altLang="en-US" sz="2800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010000"/>
                </a:solidFill>
              </a:rPr>
              <a:t>3.       </a:t>
            </a:r>
            <a:r>
              <a:rPr lang="en-US" altLang="en-US" sz="2800" b="1" dirty="0">
                <a:solidFill>
                  <a:srgbClr val="010000"/>
                </a:solidFill>
              </a:rPr>
              <a:t>do</a:t>
            </a:r>
            <a:r>
              <a:rPr lang="en-US" altLang="en-US" sz="2800" dirty="0">
                <a:solidFill>
                  <a:srgbClr val="010000"/>
                </a:solidFill>
              </a:rPr>
              <a:t> </a:t>
            </a:r>
            <a:r>
              <a:rPr lang="en-US" altLang="en-US" sz="2800" dirty="0" err="1">
                <a:solidFill>
                  <a:srgbClr val="010000"/>
                </a:solidFill>
              </a:rPr>
              <a:t>Max</a:t>
            </a:r>
            <a:r>
              <a:rPr lang="en-US" altLang="en-US" sz="2800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sz="2800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sz="28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800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endParaRPr lang="en-US" altLang="en-US" sz="2400" dirty="0">
              <a:solidFill>
                <a:srgbClr val="01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89649" y="3106310"/>
            <a:ext cx="6490575" cy="800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b="1" spc="-10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Why </a:t>
            </a:r>
            <a:r>
              <a:rPr lang="en-US" sz="2000" b="1" spc="-5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start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at</a:t>
            </a:r>
            <a:r>
              <a:rPr lang="en-US" sz="2000" b="1" spc="-10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n/2?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US" sz="600" b="1" dirty="0">
              <a:solidFill>
                <a:schemeClr val="accent5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Because </a:t>
            </a:r>
            <a:r>
              <a:rPr lang="en-US" sz="2000" b="1" spc="-5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elements A[n/2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+ 1 … n] are all leaves of the</a:t>
            </a:r>
            <a:r>
              <a:rPr lang="en-US" sz="2000" b="1" spc="-265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/>
                <a:cs typeface="Times New Roman"/>
              </a:rPr>
              <a:t>tree</a:t>
            </a:r>
            <a:endParaRPr 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78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nimBg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412339"/>
              </p:ext>
            </p:extLst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18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5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1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1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1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1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2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2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2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2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2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2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2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678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 smtClean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  <a:endParaRPr lang="en-US" altLang="en-US" dirty="0">
              <a:solidFill>
                <a:srgbClr val="010000"/>
              </a:solidFill>
              <a:sym typeface="Symbol" panose="05050102010706020507" pitchFamily="18" charset="2"/>
            </a:endParaRPr>
          </a:p>
        </p:txBody>
      </p:sp>
      <p:grpSp>
        <p:nvGrpSpPr>
          <p:cNvPr id="4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4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51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52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53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54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55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56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7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58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9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60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61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62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63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64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65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66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67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8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9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2701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 smtClean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  <a:endParaRPr lang="en-US" altLang="en-US" dirty="0">
              <a:solidFill>
                <a:srgbClr val="010000"/>
              </a:solidFill>
              <a:sym typeface="Symbol" panose="05050102010706020507" pitchFamily="18" charset="2"/>
            </a:endParaRP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16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62001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3130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9104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4876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9615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5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16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3642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8105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1071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3402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5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8227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90811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88799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grpSp>
        <p:nvGrpSpPr>
          <p:cNvPr id="3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162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3"/>
          <p:cNvSpPr txBox="1">
            <a:spLocks noChangeArrowheads="1"/>
          </p:cNvSpPr>
          <p:nvPr/>
        </p:nvSpPr>
        <p:spPr>
          <a:xfrm>
            <a:off x="223168" y="2905035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BuildMaxHeap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heap-size[A]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>
                <a:solidFill>
                  <a:srgbClr val="010000"/>
                </a:solidFill>
              </a:rPr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</a:t>
            </a:r>
            <a:r>
              <a:rPr lang="en-US" altLang="en-US" dirty="0">
                <a:solidFill>
                  <a:srgbClr val="010000"/>
                </a:solidFill>
              </a:rPr>
              <a:t>length[A]/2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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>
                <a:solidFill>
                  <a:srgbClr val="010000"/>
                </a:solidFill>
              </a:rPr>
              <a:t>do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Max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Time complexity of Building a Heap</a:t>
            </a:r>
            <a:endParaRPr lang="en-CA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33014" y="5704436"/>
            <a:ext cx="8249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Time complexity</a:t>
            </a:r>
            <a:r>
              <a:rPr lang="en-US" dirty="0" smtClean="0"/>
              <a:t>: 	O(N </a:t>
            </a:r>
            <a:r>
              <a:rPr lang="en-US" dirty="0" err="1" smtClean="0"/>
              <a:t>logN</a:t>
            </a:r>
            <a:r>
              <a:rPr lang="en-US" dirty="0" smtClean="0"/>
              <a:t>) [Loose upper bound]</a:t>
            </a:r>
          </a:p>
          <a:p>
            <a:r>
              <a:rPr lang="en-US" dirty="0"/>
              <a:t>	</a:t>
            </a:r>
            <a:r>
              <a:rPr lang="en-US" dirty="0" smtClean="0"/>
              <a:t>	We can prove that it is O(N) [tighter upper bound]</a:t>
            </a:r>
            <a:endParaRPr lang="en-US" dirty="0"/>
          </a:p>
        </p:txBody>
      </p:sp>
      <p:sp>
        <p:nvSpPr>
          <p:cNvPr id="34" name="Text Box 6"/>
          <p:cNvSpPr txBox="1">
            <a:spLocks noChangeArrowheads="1"/>
          </p:cNvSpPr>
          <p:nvPr/>
        </p:nvSpPr>
        <p:spPr bwMode="auto">
          <a:xfrm>
            <a:off x="3499689" y="2838687"/>
            <a:ext cx="963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800" b="1" dirty="0" smtClean="0"/>
              <a:t>O(N)</a:t>
            </a:r>
            <a:endParaRPr lang="en-US" sz="2800" b="1" dirty="0"/>
          </a:p>
        </p:txBody>
      </p:sp>
      <p:sp>
        <p:nvSpPr>
          <p:cNvPr id="35" name="Text Box 6"/>
          <p:cNvSpPr txBox="1">
            <a:spLocks noChangeArrowheads="1"/>
          </p:cNvSpPr>
          <p:nvPr/>
        </p:nvSpPr>
        <p:spPr bwMode="auto">
          <a:xfrm>
            <a:off x="3138257" y="5019666"/>
            <a:ext cx="14221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800" b="1" dirty="0" smtClean="0"/>
              <a:t>O(</a:t>
            </a:r>
            <a:r>
              <a:rPr lang="en-US" sz="2800" b="1" dirty="0" err="1" smtClean="0"/>
              <a:t>logN</a:t>
            </a:r>
            <a:r>
              <a:rPr lang="en-US" sz="2800" b="1" dirty="0" smtClean="0"/>
              <a:t>)</a:t>
            </a:r>
            <a:endParaRPr lang="en-US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535115" y="3701740"/>
            <a:ext cx="2964574" cy="309783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3369514" y="3330485"/>
            <a:ext cx="236572" cy="3349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17081" y="4096695"/>
            <a:ext cx="2108006" cy="286083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>
            <a:endCxn id="38" idx="2"/>
          </p:cNvCxnSpPr>
          <p:nvPr/>
        </p:nvCxnSpPr>
        <p:spPr>
          <a:xfrm flipH="1" flipV="1">
            <a:off x="1771084" y="4382778"/>
            <a:ext cx="1060660" cy="4466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44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5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5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5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6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6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6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6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6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6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6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6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7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3441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8394" y="229362"/>
            <a:ext cx="50292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Build_Max_Heap(A)</a:t>
            </a:r>
          </a:p>
        </p:txBody>
      </p:sp>
      <p:sp>
        <p:nvSpPr>
          <p:cNvPr id="3" name="object 3"/>
          <p:cNvSpPr/>
          <p:nvPr/>
        </p:nvSpPr>
        <p:spPr>
          <a:xfrm>
            <a:off x="6717792" y="1607819"/>
            <a:ext cx="381000" cy="362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31000" y="15970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03391" y="2065020"/>
            <a:ext cx="381000" cy="362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16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84291" y="2572511"/>
            <a:ext cx="38100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975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98691" y="2572511"/>
            <a:ext cx="38100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119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07508" y="3064764"/>
            <a:ext cx="381000" cy="362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1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88508" y="3064764"/>
            <a:ext cx="381000" cy="362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00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96000" y="3064764"/>
            <a:ext cx="381000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08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77000" y="3064764"/>
            <a:ext cx="381000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8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81900" y="2046732"/>
            <a:ext cx="381000" cy="3642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94600" y="2036826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62800" y="2555748"/>
            <a:ext cx="381000" cy="364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55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77200" y="2555748"/>
            <a:ext cx="381000" cy="364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899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84492" y="3048000"/>
            <a:ext cx="381000" cy="362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9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65492" y="3048000"/>
            <a:ext cx="381000" cy="362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378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74507" y="3048000"/>
            <a:ext cx="381000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886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55507" y="3048000"/>
            <a:ext cx="381000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26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14288" y="1892807"/>
            <a:ext cx="675132" cy="2438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19876" y="1885950"/>
            <a:ext cx="663575" cy="217804"/>
          </a:xfrm>
          <a:custGeom>
            <a:avLst/>
            <a:gdLst/>
            <a:ahLst/>
            <a:cxnLst/>
            <a:rect l="l" t="t" r="r" b="b"/>
            <a:pathLst>
              <a:path w="663575" h="217805">
                <a:moveTo>
                  <a:pt x="663575" y="0"/>
                </a:moveTo>
                <a:lnTo>
                  <a:pt x="0" y="21742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28688" y="1892807"/>
            <a:ext cx="623316" cy="2270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34276" y="1885950"/>
            <a:ext cx="612775" cy="200025"/>
          </a:xfrm>
          <a:custGeom>
            <a:avLst/>
            <a:gdLst/>
            <a:ahLst/>
            <a:cxnLst/>
            <a:rect l="l" t="t" r="r" b="b"/>
            <a:pathLst>
              <a:path w="612775" h="200025">
                <a:moveTo>
                  <a:pt x="0" y="0"/>
                </a:moveTo>
                <a:lnTo>
                  <a:pt x="612775" y="2000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84291" y="2866644"/>
            <a:ext cx="79248" cy="2118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97500" y="2851150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52450" y="0"/>
                </a:moveTo>
                <a:lnTo>
                  <a:pt x="0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87567" y="2865120"/>
            <a:ext cx="103632" cy="21488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00776" y="2851150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0" y="0"/>
                </a:moveTo>
                <a:lnTo>
                  <a:pt x="777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72784" y="2865120"/>
            <a:ext cx="105155" cy="21488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86500" y="2851150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77850" y="0"/>
                </a:moveTo>
                <a:lnTo>
                  <a:pt x="0" y="20320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01968" y="2866644"/>
            <a:ext cx="79248" cy="2118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15176" y="2851150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0" y="0"/>
                </a:moveTo>
                <a:lnTo>
                  <a:pt x="523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61276" y="2848355"/>
            <a:ext cx="80772" cy="2133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75500" y="2833751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52450" y="0"/>
                </a:moveTo>
                <a:lnTo>
                  <a:pt x="0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66076" y="2848355"/>
            <a:ext cx="103631" cy="2148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78776" y="2833623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0" y="0"/>
                </a:moveTo>
                <a:lnTo>
                  <a:pt x="777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051292" y="2848355"/>
            <a:ext cx="103631" cy="2148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64500" y="2833751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77850" y="0"/>
                </a:moveTo>
                <a:lnTo>
                  <a:pt x="0" y="20320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378952" y="2848355"/>
            <a:ext cx="80772" cy="2133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393176" y="2833623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0" y="0"/>
                </a:moveTo>
                <a:lnTo>
                  <a:pt x="523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65647" y="2351532"/>
            <a:ext cx="312420" cy="24231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575300" y="2343150"/>
            <a:ext cx="294005" cy="219075"/>
          </a:xfrm>
          <a:custGeom>
            <a:avLst/>
            <a:gdLst/>
            <a:ahLst/>
            <a:cxnLst/>
            <a:rect l="l" t="t" r="r" b="b"/>
            <a:pathLst>
              <a:path w="294004" h="219075">
                <a:moveTo>
                  <a:pt x="293624" y="0"/>
                </a:moveTo>
                <a:lnTo>
                  <a:pt x="0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111240" y="2350007"/>
            <a:ext cx="387096" cy="24536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119876" y="2343150"/>
            <a:ext cx="370205" cy="219075"/>
          </a:xfrm>
          <a:custGeom>
            <a:avLst/>
            <a:gdLst/>
            <a:ahLst/>
            <a:cxnLst/>
            <a:rect l="l" t="t" r="r" b="b"/>
            <a:pathLst>
              <a:path w="370204" h="219075">
                <a:moveTo>
                  <a:pt x="0" y="0"/>
                </a:moveTo>
                <a:lnTo>
                  <a:pt x="369824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44156" y="2333244"/>
            <a:ext cx="312420" cy="2438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353300" y="2325751"/>
            <a:ext cx="294005" cy="219075"/>
          </a:xfrm>
          <a:custGeom>
            <a:avLst/>
            <a:gdLst/>
            <a:ahLst/>
            <a:cxnLst/>
            <a:rect l="l" t="t" r="r" b="b"/>
            <a:pathLst>
              <a:path w="294004" h="219075">
                <a:moveTo>
                  <a:pt x="293750" y="0"/>
                </a:moveTo>
                <a:lnTo>
                  <a:pt x="0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889747" y="2333244"/>
            <a:ext cx="385572" cy="243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897876" y="2325751"/>
            <a:ext cx="370205" cy="219075"/>
          </a:xfrm>
          <a:custGeom>
            <a:avLst/>
            <a:gdLst/>
            <a:ahLst/>
            <a:cxnLst/>
            <a:rect l="l" t="t" r="r" b="b"/>
            <a:pathLst>
              <a:path w="370204" h="219075">
                <a:moveTo>
                  <a:pt x="0" y="0"/>
                </a:moveTo>
                <a:lnTo>
                  <a:pt x="369824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210555" y="3067811"/>
            <a:ext cx="374903" cy="356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219700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22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3598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01107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21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591555" y="3067811"/>
            <a:ext cx="374903" cy="356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600700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703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81698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682107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600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109715" y="3067811"/>
            <a:ext cx="374903" cy="35661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119876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22211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2" y="0"/>
                </a:lnTo>
                <a:lnTo>
                  <a:pt x="25779" y="1400"/>
                </a:lnTo>
                <a:lnTo>
                  <a:pt x="31670" y="5206"/>
                </a:lnTo>
                <a:lnTo>
                  <a:pt x="35633" y="10822"/>
                </a:lnTo>
                <a:lnTo>
                  <a:pt x="37084" y="17652"/>
                </a:lnTo>
                <a:lnTo>
                  <a:pt x="35633" y="24536"/>
                </a:lnTo>
                <a:lnTo>
                  <a:pt x="31670" y="30146"/>
                </a:lnTo>
                <a:lnTo>
                  <a:pt x="25779" y="33922"/>
                </a:lnTo>
                <a:lnTo>
                  <a:pt x="18542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336029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79" y="1400"/>
                </a:lnTo>
                <a:lnTo>
                  <a:pt x="31670" y="5206"/>
                </a:lnTo>
                <a:lnTo>
                  <a:pt x="35633" y="10822"/>
                </a:lnTo>
                <a:lnTo>
                  <a:pt x="37083" y="17652"/>
                </a:lnTo>
                <a:lnTo>
                  <a:pt x="35633" y="24536"/>
                </a:lnTo>
                <a:lnTo>
                  <a:pt x="31670" y="30146"/>
                </a:lnTo>
                <a:lnTo>
                  <a:pt x="25779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201283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119876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44" y="124104"/>
                </a:lnTo>
                <a:lnTo>
                  <a:pt x="24252" y="83725"/>
                </a:lnTo>
                <a:lnTo>
                  <a:pt x="52038" y="49514"/>
                </a:lnTo>
                <a:lnTo>
                  <a:pt x="88015" y="23081"/>
                </a:lnTo>
                <a:lnTo>
                  <a:pt x="130498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498" y="332152"/>
                </a:lnTo>
                <a:lnTo>
                  <a:pt x="88015" y="315087"/>
                </a:lnTo>
                <a:lnTo>
                  <a:pt x="52038" y="288623"/>
                </a:lnTo>
                <a:lnTo>
                  <a:pt x="24252" y="254381"/>
                </a:lnTo>
                <a:lnTo>
                  <a:pt x="6344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480047" y="3067811"/>
            <a:ext cx="374903" cy="35661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489700" y="3054350"/>
            <a:ext cx="355600" cy="338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592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70598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571106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48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987540" y="3051048"/>
            <a:ext cx="374903" cy="35661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997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100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213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079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99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356347" y="3051048"/>
            <a:ext cx="374903" cy="35661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366000" y="3036823"/>
            <a:ext cx="355600" cy="338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4683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822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4474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3660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877556" y="3051048"/>
            <a:ext cx="374903" cy="3566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886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989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102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968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886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258556" y="3051048"/>
            <a:ext cx="374903" cy="3566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267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370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483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349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26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387340" y="2575560"/>
            <a:ext cx="374903" cy="35813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397500" y="2562225"/>
            <a:ext cx="355600" cy="33972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499861" y="266357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613780" y="266357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478907" y="280619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3975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301740" y="2558795"/>
            <a:ext cx="374904" cy="35813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311900" y="2544826"/>
            <a:ext cx="355600" cy="33972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414261" y="2646172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528181" y="2646172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2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7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2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393307" y="2788666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3119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7165847" y="2543555"/>
            <a:ext cx="374903" cy="359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175500" y="2530475"/>
            <a:ext cx="355600" cy="33972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27786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39178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256906" y="277444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175500" y="253047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080247" y="2543555"/>
            <a:ext cx="374903" cy="359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089900" y="2530475"/>
            <a:ext cx="355600" cy="33972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819226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830618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171306" y="277444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089900" y="253047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806440" y="2068067"/>
            <a:ext cx="374903" cy="3566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6600" y="2054225"/>
            <a:ext cx="355600" cy="3380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91896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032880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898007" y="22970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816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584947" y="2068067"/>
            <a:ext cx="374903" cy="35661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594600" y="2054225"/>
            <a:ext cx="355600" cy="33807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69696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81088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676006" y="22970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594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720840" y="1610867"/>
            <a:ext cx="374903" cy="3566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731000" y="1597025"/>
            <a:ext cx="355600" cy="3380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833361" y="16978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947281" y="16978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812406" y="18398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731000" y="15970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 txBox="1"/>
          <p:nvPr/>
        </p:nvSpPr>
        <p:spPr>
          <a:xfrm>
            <a:off x="517042" y="1407033"/>
            <a:ext cx="7128509" cy="5155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0"/>
              </a:spcBef>
              <a:tabLst>
                <a:tab pos="1330325" algn="l"/>
              </a:tabLst>
            </a:pPr>
            <a:r>
              <a:rPr sz="2400" dirty="0">
                <a:latin typeface="Times New Roman"/>
                <a:cs typeface="Times New Roman"/>
              </a:rPr>
              <a:t>Converts	</a:t>
            </a:r>
            <a:r>
              <a:rPr sz="2400" spc="-5" dirty="0">
                <a:latin typeface="Times New Roman"/>
                <a:cs typeface="Times New Roman"/>
              </a:rPr>
              <a:t>A[1…</a:t>
            </a:r>
            <a:r>
              <a:rPr sz="2400" i="1" spc="-5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] </a:t>
            </a:r>
            <a:r>
              <a:rPr sz="2400" dirty="0">
                <a:latin typeface="Times New Roman"/>
                <a:cs typeface="Times New Roman"/>
              </a:rPr>
              <a:t>to a </a:t>
            </a:r>
            <a:r>
              <a:rPr sz="2400" spc="-10" dirty="0">
                <a:latin typeface="Times New Roman"/>
                <a:cs typeface="Times New Roman"/>
              </a:rPr>
              <a:t>max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heap</a:t>
            </a: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 marL="552450" marR="4272915" indent="-457834">
              <a:lnSpc>
                <a:spcPct val="100000"/>
              </a:lnSpc>
              <a:spcBef>
                <a:spcPts val="1680"/>
              </a:spcBef>
            </a:pPr>
            <a:r>
              <a:rPr sz="2400" b="1" spc="-5" dirty="0">
                <a:latin typeface="Times New Roman"/>
                <a:cs typeface="Times New Roman"/>
              </a:rPr>
              <a:t>Build_Max_Heap(A):  for </a:t>
            </a:r>
            <a:r>
              <a:rPr sz="2400" b="1" dirty="0">
                <a:latin typeface="Times New Roman"/>
                <a:cs typeface="Times New Roman"/>
              </a:rPr>
              <a:t>i=n/2 </a:t>
            </a:r>
            <a:r>
              <a:rPr sz="2400" b="1" spc="-5" dirty="0">
                <a:latin typeface="Times New Roman"/>
                <a:cs typeface="Times New Roman"/>
              </a:rPr>
              <a:t>downto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</a:p>
          <a:p>
            <a:pPr marL="100965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do </a:t>
            </a:r>
            <a:r>
              <a:rPr sz="2400" b="1" spc="-5" dirty="0">
                <a:latin typeface="Times New Roman"/>
                <a:cs typeface="Times New Roman"/>
              </a:rPr>
              <a:t>Max_Heapify(A, </a:t>
            </a:r>
            <a:r>
              <a:rPr sz="2400" b="1" dirty="0">
                <a:latin typeface="Times New Roman"/>
                <a:cs typeface="Times New Roman"/>
              </a:rPr>
              <a:t>i)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Why </a:t>
            </a:r>
            <a:r>
              <a:rPr sz="2400" spc="-5" dirty="0">
                <a:latin typeface="Times New Roman"/>
                <a:cs typeface="Times New Roman"/>
              </a:rPr>
              <a:t>start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n/2?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Because </a:t>
            </a:r>
            <a:r>
              <a:rPr sz="2400" spc="-5" dirty="0">
                <a:latin typeface="Times New Roman"/>
                <a:cs typeface="Times New Roman"/>
              </a:rPr>
              <a:t>elements A[n/2 </a:t>
            </a:r>
            <a:r>
              <a:rPr sz="2400" dirty="0">
                <a:latin typeface="Times New Roman"/>
                <a:cs typeface="Times New Roman"/>
              </a:rPr>
              <a:t>+ 1 … n] are all leaves of the</a:t>
            </a:r>
            <a:r>
              <a:rPr sz="2400" spc="-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tree  2i &gt; n, for i &gt; n/2 +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</a:p>
          <a:p>
            <a:pPr>
              <a:lnSpc>
                <a:spcPct val="100000"/>
              </a:lnSpc>
            </a:pPr>
            <a:endParaRPr sz="2500" dirty="0">
              <a:latin typeface="Times New Roman"/>
              <a:cs typeface="Times New Roman"/>
            </a:endParaRPr>
          </a:p>
          <a:p>
            <a:pPr marL="81915">
              <a:lnSpc>
                <a:spcPct val="100000"/>
              </a:lnSpc>
              <a:tabLst>
                <a:tab pos="1596390" algn="l"/>
                <a:tab pos="3278504" algn="l"/>
              </a:tabLst>
            </a:pPr>
            <a:r>
              <a:rPr sz="2800" spc="-25" dirty="0">
                <a:latin typeface="Times New Roman"/>
                <a:cs typeface="Times New Roman"/>
              </a:rPr>
              <a:t>Time=?	</a:t>
            </a:r>
            <a:r>
              <a:rPr sz="2800" spc="-10" dirty="0">
                <a:latin typeface="Times New Roman"/>
                <a:cs typeface="Times New Roman"/>
              </a:rPr>
              <a:t>O(n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n)	via </a:t>
            </a:r>
            <a:r>
              <a:rPr sz="2800" spc="-10" dirty="0">
                <a:latin typeface="Times New Roman"/>
                <a:cs typeface="Times New Roman"/>
              </a:rPr>
              <a:t>simple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analysis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449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5266" y="229362"/>
            <a:ext cx="715390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Build_Max_Heap(A)</a:t>
            </a:r>
            <a:r>
              <a:rPr spc="-330" dirty="0"/>
              <a:t> </a:t>
            </a:r>
            <a:r>
              <a:rPr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6717792" y="1607819"/>
            <a:ext cx="381000" cy="362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31000" y="15970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03391" y="2065020"/>
            <a:ext cx="381000" cy="362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16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84291" y="2572511"/>
            <a:ext cx="38100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975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98691" y="2572511"/>
            <a:ext cx="38100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119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07508" y="3064764"/>
            <a:ext cx="381000" cy="362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1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88508" y="3064764"/>
            <a:ext cx="381000" cy="362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00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96000" y="3064764"/>
            <a:ext cx="381000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08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77000" y="3064764"/>
            <a:ext cx="381000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8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81900" y="2046732"/>
            <a:ext cx="381000" cy="3642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94600" y="2036826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62800" y="2555748"/>
            <a:ext cx="381000" cy="364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55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77200" y="2555748"/>
            <a:ext cx="381000" cy="364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899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84492" y="3048000"/>
            <a:ext cx="381000" cy="362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9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65492" y="3048000"/>
            <a:ext cx="381000" cy="362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378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74507" y="3048000"/>
            <a:ext cx="381000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886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55507" y="3048000"/>
            <a:ext cx="381000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26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14288" y="1892807"/>
            <a:ext cx="675132" cy="2438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19876" y="1885950"/>
            <a:ext cx="663575" cy="217804"/>
          </a:xfrm>
          <a:custGeom>
            <a:avLst/>
            <a:gdLst/>
            <a:ahLst/>
            <a:cxnLst/>
            <a:rect l="l" t="t" r="r" b="b"/>
            <a:pathLst>
              <a:path w="663575" h="217805">
                <a:moveTo>
                  <a:pt x="663575" y="0"/>
                </a:moveTo>
                <a:lnTo>
                  <a:pt x="0" y="21742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28688" y="1892807"/>
            <a:ext cx="623316" cy="2270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34276" y="1885950"/>
            <a:ext cx="612775" cy="200025"/>
          </a:xfrm>
          <a:custGeom>
            <a:avLst/>
            <a:gdLst/>
            <a:ahLst/>
            <a:cxnLst/>
            <a:rect l="l" t="t" r="r" b="b"/>
            <a:pathLst>
              <a:path w="612775" h="200025">
                <a:moveTo>
                  <a:pt x="0" y="0"/>
                </a:moveTo>
                <a:lnTo>
                  <a:pt x="612775" y="2000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84291" y="2866644"/>
            <a:ext cx="79248" cy="2118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97500" y="2851150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52450" y="0"/>
                </a:moveTo>
                <a:lnTo>
                  <a:pt x="0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87567" y="2865120"/>
            <a:ext cx="103632" cy="21488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00776" y="2851150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0" y="0"/>
                </a:moveTo>
                <a:lnTo>
                  <a:pt x="777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72784" y="2865120"/>
            <a:ext cx="105155" cy="21488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86500" y="2851150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77850" y="0"/>
                </a:moveTo>
                <a:lnTo>
                  <a:pt x="0" y="20320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01968" y="2866644"/>
            <a:ext cx="79248" cy="2118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15176" y="2851150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0" y="0"/>
                </a:moveTo>
                <a:lnTo>
                  <a:pt x="523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61276" y="2848355"/>
            <a:ext cx="80772" cy="2133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75500" y="2833751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52450" y="0"/>
                </a:moveTo>
                <a:lnTo>
                  <a:pt x="0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66076" y="2848355"/>
            <a:ext cx="103631" cy="2148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78776" y="2833623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0" y="0"/>
                </a:moveTo>
                <a:lnTo>
                  <a:pt x="777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051292" y="2848355"/>
            <a:ext cx="103631" cy="2148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64500" y="2833751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77850" y="0"/>
                </a:moveTo>
                <a:lnTo>
                  <a:pt x="0" y="20320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378952" y="2848355"/>
            <a:ext cx="80772" cy="2133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393176" y="2833623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0" y="0"/>
                </a:moveTo>
                <a:lnTo>
                  <a:pt x="523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65647" y="2351532"/>
            <a:ext cx="312420" cy="24231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575300" y="2343150"/>
            <a:ext cx="294005" cy="219075"/>
          </a:xfrm>
          <a:custGeom>
            <a:avLst/>
            <a:gdLst/>
            <a:ahLst/>
            <a:cxnLst/>
            <a:rect l="l" t="t" r="r" b="b"/>
            <a:pathLst>
              <a:path w="294004" h="219075">
                <a:moveTo>
                  <a:pt x="293624" y="0"/>
                </a:moveTo>
                <a:lnTo>
                  <a:pt x="0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111240" y="2350007"/>
            <a:ext cx="387096" cy="24536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119876" y="2343150"/>
            <a:ext cx="370205" cy="219075"/>
          </a:xfrm>
          <a:custGeom>
            <a:avLst/>
            <a:gdLst/>
            <a:ahLst/>
            <a:cxnLst/>
            <a:rect l="l" t="t" r="r" b="b"/>
            <a:pathLst>
              <a:path w="370204" h="219075">
                <a:moveTo>
                  <a:pt x="0" y="0"/>
                </a:moveTo>
                <a:lnTo>
                  <a:pt x="369824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44156" y="2333244"/>
            <a:ext cx="312420" cy="2438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353300" y="2325751"/>
            <a:ext cx="294005" cy="219075"/>
          </a:xfrm>
          <a:custGeom>
            <a:avLst/>
            <a:gdLst/>
            <a:ahLst/>
            <a:cxnLst/>
            <a:rect l="l" t="t" r="r" b="b"/>
            <a:pathLst>
              <a:path w="294004" h="219075">
                <a:moveTo>
                  <a:pt x="293750" y="0"/>
                </a:moveTo>
                <a:lnTo>
                  <a:pt x="0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889747" y="2333244"/>
            <a:ext cx="385572" cy="243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897876" y="2325751"/>
            <a:ext cx="370205" cy="219075"/>
          </a:xfrm>
          <a:custGeom>
            <a:avLst/>
            <a:gdLst/>
            <a:ahLst/>
            <a:cxnLst/>
            <a:rect l="l" t="t" r="r" b="b"/>
            <a:pathLst>
              <a:path w="370204" h="219075">
                <a:moveTo>
                  <a:pt x="0" y="0"/>
                </a:moveTo>
                <a:lnTo>
                  <a:pt x="369824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210555" y="3067811"/>
            <a:ext cx="374903" cy="356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219700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22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3598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01107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21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591555" y="3067811"/>
            <a:ext cx="374903" cy="356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600700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703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81698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682107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600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109715" y="3067811"/>
            <a:ext cx="374903" cy="35661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119876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22211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2" y="0"/>
                </a:lnTo>
                <a:lnTo>
                  <a:pt x="25779" y="1400"/>
                </a:lnTo>
                <a:lnTo>
                  <a:pt x="31670" y="5206"/>
                </a:lnTo>
                <a:lnTo>
                  <a:pt x="35633" y="10822"/>
                </a:lnTo>
                <a:lnTo>
                  <a:pt x="37084" y="17652"/>
                </a:lnTo>
                <a:lnTo>
                  <a:pt x="35633" y="24536"/>
                </a:lnTo>
                <a:lnTo>
                  <a:pt x="31670" y="30146"/>
                </a:lnTo>
                <a:lnTo>
                  <a:pt x="25779" y="33922"/>
                </a:lnTo>
                <a:lnTo>
                  <a:pt x="18542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336029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79" y="1400"/>
                </a:lnTo>
                <a:lnTo>
                  <a:pt x="31670" y="5206"/>
                </a:lnTo>
                <a:lnTo>
                  <a:pt x="35633" y="10822"/>
                </a:lnTo>
                <a:lnTo>
                  <a:pt x="37083" y="17652"/>
                </a:lnTo>
                <a:lnTo>
                  <a:pt x="35633" y="24536"/>
                </a:lnTo>
                <a:lnTo>
                  <a:pt x="31670" y="30146"/>
                </a:lnTo>
                <a:lnTo>
                  <a:pt x="25779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201283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119876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44" y="124104"/>
                </a:lnTo>
                <a:lnTo>
                  <a:pt x="24252" y="83725"/>
                </a:lnTo>
                <a:lnTo>
                  <a:pt x="52038" y="49514"/>
                </a:lnTo>
                <a:lnTo>
                  <a:pt x="88015" y="23081"/>
                </a:lnTo>
                <a:lnTo>
                  <a:pt x="130498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498" y="332152"/>
                </a:lnTo>
                <a:lnTo>
                  <a:pt x="88015" y="315087"/>
                </a:lnTo>
                <a:lnTo>
                  <a:pt x="52038" y="288623"/>
                </a:lnTo>
                <a:lnTo>
                  <a:pt x="24252" y="254381"/>
                </a:lnTo>
                <a:lnTo>
                  <a:pt x="6344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480047" y="3067811"/>
            <a:ext cx="374903" cy="35661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489700" y="3054350"/>
            <a:ext cx="355600" cy="338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592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70598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571106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48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987540" y="3051048"/>
            <a:ext cx="374903" cy="35661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997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100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213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079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99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356347" y="3051048"/>
            <a:ext cx="374903" cy="35661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366000" y="3036823"/>
            <a:ext cx="355600" cy="338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4683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822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4474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3660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877556" y="3051048"/>
            <a:ext cx="374903" cy="3566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886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989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102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968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886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258556" y="3051048"/>
            <a:ext cx="374903" cy="3566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267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370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483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349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26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387340" y="2575560"/>
            <a:ext cx="374903" cy="35813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397500" y="2562225"/>
            <a:ext cx="355600" cy="33972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499861" y="266357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613780" y="266357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478907" y="280619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3975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301740" y="2558795"/>
            <a:ext cx="374904" cy="35813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311900" y="2544826"/>
            <a:ext cx="355600" cy="33972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414261" y="2646172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528181" y="2646172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2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7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2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393307" y="2788666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3119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7165847" y="2543555"/>
            <a:ext cx="374903" cy="359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175500" y="2530475"/>
            <a:ext cx="355600" cy="33972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27786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39178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256906" y="277444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175500" y="253047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080247" y="2543555"/>
            <a:ext cx="374903" cy="359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089900" y="2530475"/>
            <a:ext cx="355600" cy="33972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819226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830618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171306" y="277444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089900" y="253047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806440" y="2068067"/>
            <a:ext cx="374903" cy="3566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6600" y="2054225"/>
            <a:ext cx="355600" cy="3380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91896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032880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898007" y="22970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816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584947" y="2068067"/>
            <a:ext cx="374903" cy="35661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594600" y="2054225"/>
            <a:ext cx="355600" cy="33807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69696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81088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676006" y="22970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594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720840" y="1610867"/>
            <a:ext cx="374903" cy="3566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731000" y="1597025"/>
            <a:ext cx="355600" cy="3380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833361" y="16978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947281" y="16978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812406" y="18398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731000" y="15970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 algn="just">
              <a:lnSpc>
                <a:spcPct val="100000"/>
              </a:lnSpc>
              <a:spcBef>
                <a:spcPts val="100"/>
              </a:spcBef>
              <a:tabLst>
                <a:tab pos="1403985" algn="l"/>
              </a:tabLst>
            </a:pPr>
            <a:r>
              <a:rPr dirty="0"/>
              <a:t>Converts	</a:t>
            </a:r>
            <a:r>
              <a:rPr spc="-5" dirty="0"/>
              <a:t>A[1…</a:t>
            </a:r>
            <a:r>
              <a:rPr i="1" spc="-5" dirty="0">
                <a:latin typeface="Times New Roman"/>
                <a:cs typeface="Times New Roman"/>
              </a:rPr>
              <a:t>n</a:t>
            </a:r>
            <a:r>
              <a:rPr spc="-5" dirty="0"/>
              <a:t>] </a:t>
            </a:r>
            <a:r>
              <a:rPr dirty="0"/>
              <a:t>to a </a:t>
            </a:r>
            <a:r>
              <a:rPr spc="-10" dirty="0"/>
              <a:t>max</a:t>
            </a:r>
            <a:r>
              <a:rPr spc="-5" dirty="0"/>
              <a:t> </a:t>
            </a:r>
            <a:r>
              <a:rPr dirty="0"/>
              <a:t>heap</a:t>
            </a:r>
          </a:p>
          <a:p>
            <a:pPr marL="152400" algn="just">
              <a:lnSpc>
                <a:spcPct val="100000"/>
              </a:lnSpc>
              <a:spcBef>
                <a:spcPts val="15"/>
              </a:spcBef>
            </a:pPr>
            <a:endParaRPr sz="3100" dirty="0"/>
          </a:p>
          <a:p>
            <a:pPr marL="625475" marR="5327015" indent="-457200" algn="just">
              <a:lnSpc>
                <a:spcPct val="100000"/>
              </a:lnSpc>
            </a:pPr>
            <a:r>
              <a:rPr b="1" spc="-5" dirty="0"/>
              <a:t>Build_Max_Heap(A):  </a:t>
            </a:r>
            <a:r>
              <a:rPr b="1" dirty="0"/>
              <a:t>for i=n/2 downto</a:t>
            </a:r>
            <a:r>
              <a:rPr b="1" spc="-120" dirty="0"/>
              <a:t> </a:t>
            </a:r>
            <a:r>
              <a:rPr b="1" dirty="0"/>
              <a:t>1</a:t>
            </a:r>
          </a:p>
          <a:p>
            <a:pPr marL="1082675" algn="just">
              <a:lnSpc>
                <a:spcPct val="100000"/>
              </a:lnSpc>
              <a:spcBef>
                <a:spcPts val="5"/>
              </a:spcBef>
            </a:pPr>
            <a:r>
              <a:rPr b="1" dirty="0"/>
              <a:t>do </a:t>
            </a:r>
            <a:r>
              <a:rPr b="1" spc="-5" dirty="0"/>
              <a:t>Max_Heapify(A,</a:t>
            </a:r>
            <a:r>
              <a:rPr b="1" spc="-15" dirty="0"/>
              <a:t> </a:t>
            </a:r>
            <a:r>
              <a:rPr b="1" dirty="0"/>
              <a:t>i)</a:t>
            </a:r>
          </a:p>
          <a:p>
            <a:pPr marL="152400" algn="just">
              <a:lnSpc>
                <a:spcPct val="100000"/>
              </a:lnSpc>
              <a:spcBef>
                <a:spcPts val="30"/>
              </a:spcBef>
            </a:pPr>
            <a:endParaRPr sz="2750" dirty="0"/>
          </a:p>
          <a:p>
            <a:pPr marL="165100" marR="249554" algn="just">
              <a:lnSpc>
                <a:spcPct val="100000"/>
              </a:lnSpc>
              <a:spcBef>
                <a:spcPts val="5"/>
              </a:spcBef>
            </a:pPr>
            <a:r>
              <a:rPr sz="2800" spc="-5" dirty="0"/>
              <a:t>Observe however </a:t>
            </a:r>
            <a:r>
              <a:rPr sz="2800" dirty="0"/>
              <a:t>that </a:t>
            </a:r>
            <a:r>
              <a:rPr sz="2800" spc="-5" dirty="0"/>
              <a:t>Max_Heapify takes O(1) </a:t>
            </a:r>
            <a:r>
              <a:rPr sz="2800" dirty="0"/>
              <a:t>for  </a:t>
            </a:r>
            <a:r>
              <a:rPr sz="2800" spc="-10" dirty="0"/>
              <a:t>time </a:t>
            </a:r>
            <a:r>
              <a:rPr sz="2800" dirty="0"/>
              <a:t>for </a:t>
            </a:r>
            <a:r>
              <a:rPr sz="2800" spc="-5" dirty="0"/>
              <a:t>nodes that </a:t>
            </a:r>
            <a:r>
              <a:rPr sz="2800" spc="-10" dirty="0"/>
              <a:t>are </a:t>
            </a:r>
            <a:r>
              <a:rPr sz="2800" spc="-5" dirty="0"/>
              <a:t>one level above </a:t>
            </a:r>
            <a:r>
              <a:rPr sz="2800" dirty="0"/>
              <a:t>the </a:t>
            </a:r>
            <a:r>
              <a:rPr sz="2800" spc="-5" dirty="0"/>
              <a:t>leaves, and  in general, O(</a:t>
            </a:r>
            <a:r>
              <a:rPr sz="2800" i="1" spc="-5" dirty="0">
                <a:latin typeface="Times New Roman"/>
                <a:cs typeface="Times New Roman"/>
              </a:rPr>
              <a:t>l</a:t>
            </a:r>
            <a:r>
              <a:rPr sz="2800" spc="-5" dirty="0"/>
              <a:t>) </a:t>
            </a:r>
            <a:r>
              <a:rPr sz="2800" dirty="0"/>
              <a:t>for the </a:t>
            </a:r>
            <a:r>
              <a:rPr sz="2800" spc="-5" dirty="0"/>
              <a:t>nodes that are </a:t>
            </a:r>
            <a:r>
              <a:rPr sz="2800" i="1" spc="-5" dirty="0">
                <a:latin typeface="Times New Roman"/>
                <a:cs typeface="Times New Roman"/>
              </a:rPr>
              <a:t>l </a:t>
            </a:r>
            <a:r>
              <a:rPr sz="2800" spc="-5" dirty="0"/>
              <a:t>levels above</a:t>
            </a:r>
            <a:r>
              <a:rPr sz="2800" spc="10" dirty="0"/>
              <a:t> </a:t>
            </a:r>
            <a:r>
              <a:rPr sz="2800" dirty="0"/>
              <a:t>the</a:t>
            </a:r>
            <a:endParaRPr sz="2800" dirty="0">
              <a:latin typeface="Times New Roman"/>
              <a:cs typeface="Times New Roman"/>
            </a:endParaRPr>
          </a:p>
          <a:p>
            <a:pPr marL="165100" marR="5080" algn="just">
              <a:lnSpc>
                <a:spcPct val="100000"/>
              </a:lnSpc>
              <a:tabLst>
                <a:tab pos="1310640" algn="l"/>
              </a:tabLst>
            </a:pPr>
            <a:r>
              <a:rPr sz="2800" spc="-5" dirty="0"/>
              <a:t>leaves.	</a:t>
            </a:r>
            <a:r>
              <a:rPr sz="2800" spc="-120" dirty="0"/>
              <a:t>We </a:t>
            </a:r>
            <a:r>
              <a:rPr sz="2800" spc="-5" dirty="0"/>
              <a:t>have n/4 </a:t>
            </a:r>
            <a:r>
              <a:rPr sz="2800" dirty="0"/>
              <a:t>nodes </a:t>
            </a:r>
            <a:r>
              <a:rPr sz="2800" spc="-5" dirty="0"/>
              <a:t>with level 1, n/8 with level 2,  and so on till </a:t>
            </a:r>
            <a:r>
              <a:rPr sz="2800" spc="-10" dirty="0"/>
              <a:t>we </a:t>
            </a:r>
            <a:r>
              <a:rPr sz="2800" spc="-5" dirty="0"/>
              <a:t>have one </a:t>
            </a:r>
            <a:r>
              <a:rPr sz="2800" dirty="0"/>
              <a:t>root </a:t>
            </a:r>
            <a:r>
              <a:rPr sz="2800" spc="-5" dirty="0"/>
              <a:t>node that is lg n</a:t>
            </a:r>
            <a:r>
              <a:rPr sz="2800" spc="-225" dirty="0"/>
              <a:t> </a:t>
            </a:r>
            <a:r>
              <a:rPr sz="2800" spc="-5" dirty="0"/>
              <a:t>levels</a:t>
            </a:r>
            <a:endParaRPr sz="2800" dirty="0"/>
          </a:p>
        </p:txBody>
      </p:sp>
      <p:sp>
        <p:nvSpPr>
          <p:cNvPr id="152" name="object 152"/>
          <p:cNvSpPr txBox="1"/>
          <p:nvPr/>
        </p:nvSpPr>
        <p:spPr>
          <a:xfrm>
            <a:off x="596290" y="5904337"/>
            <a:ext cx="245999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0"/>
              </a:lnSpc>
            </a:pPr>
            <a:r>
              <a:rPr sz="2800" spc="-5" dirty="0">
                <a:latin typeface="Times New Roman"/>
                <a:cs typeface="Times New Roman"/>
              </a:rPr>
              <a:t>above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leaves.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342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7666" y="229362"/>
            <a:ext cx="715390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Build_Max_Heap(A)</a:t>
            </a:r>
            <a:r>
              <a:rPr spc="-330" dirty="0"/>
              <a:t> </a:t>
            </a:r>
            <a:r>
              <a:rPr dirty="0"/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6717792" y="1607819"/>
            <a:ext cx="381000" cy="362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31000" y="15970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03391" y="2065020"/>
            <a:ext cx="381000" cy="362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16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84291" y="2572511"/>
            <a:ext cx="38100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975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98691" y="2572511"/>
            <a:ext cx="381000" cy="365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119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07508" y="3064764"/>
            <a:ext cx="381000" cy="362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1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88508" y="3064764"/>
            <a:ext cx="381000" cy="362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00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96000" y="3064764"/>
            <a:ext cx="381000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08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77000" y="3064764"/>
            <a:ext cx="381000" cy="362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8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81900" y="2046732"/>
            <a:ext cx="381000" cy="3642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94600" y="2036826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62800" y="2555748"/>
            <a:ext cx="381000" cy="364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755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77200" y="2555748"/>
            <a:ext cx="381000" cy="3642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899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84492" y="3048000"/>
            <a:ext cx="381000" cy="362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9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65492" y="3048000"/>
            <a:ext cx="381000" cy="3627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378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74507" y="3048000"/>
            <a:ext cx="381000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886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55507" y="3048000"/>
            <a:ext cx="381000" cy="3627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26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14288" y="1892807"/>
            <a:ext cx="675132" cy="2438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19876" y="1885950"/>
            <a:ext cx="663575" cy="217804"/>
          </a:xfrm>
          <a:custGeom>
            <a:avLst/>
            <a:gdLst/>
            <a:ahLst/>
            <a:cxnLst/>
            <a:rect l="l" t="t" r="r" b="b"/>
            <a:pathLst>
              <a:path w="663575" h="217805">
                <a:moveTo>
                  <a:pt x="663575" y="0"/>
                </a:moveTo>
                <a:lnTo>
                  <a:pt x="0" y="21742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28688" y="1892807"/>
            <a:ext cx="623316" cy="2270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34276" y="1885950"/>
            <a:ext cx="612775" cy="200025"/>
          </a:xfrm>
          <a:custGeom>
            <a:avLst/>
            <a:gdLst/>
            <a:ahLst/>
            <a:cxnLst/>
            <a:rect l="l" t="t" r="r" b="b"/>
            <a:pathLst>
              <a:path w="612775" h="200025">
                <a:moveTo>
                  <a:pt x="0" y="0"/>
                </a:moveTo>
                <a:lnTo>
                  <a:pt x="612775" y="2000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84291" y="2866644"/>
            <a:ext cx="79248" cy="2118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97500" y="2851150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52450" y="0"/>
                </a:moveTo>
                <a:lnTo>
                  <a:pt x="0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87567" y="2865120"/>
            <a:ext cx="103632" cy="21488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700776" y="2851150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0" y="0"/>
                </a:moveTo>
                <a:lnTo>
                  <a:pt x="777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72784" y="2865120"/>
            <a:ext cx="105155" cy="21488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86500" y="2851150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77850" y="0"/>
                </a:moveTo>
                <a:lnTo>
                  <a:pt x="0" y="20320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01968" y="2866644"/>
            <a:ext cx="79248" cy="2118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15176" y="2851150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0" y="0"/>
                </a:moveTo>
                <a:lnTo>
                  <a:pt x="523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61276" y="2848355"/>
            <a:ext cx="80772" cy="2133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75500" y="2833751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52450" y="0"/>
                </a:moveTo>
                <a:lnTo>
                  <a:pt x="0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66076" y="2848355"/>
            <a:ext cx="103631" cy="2148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78776" y="2833623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0" y="0"/>
                </a:moveTo>
                <a:lnTo>
                  <a:pt x="777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051292" y="2848355"/>
            <a:ext cx="103631" cy="21488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064500" y="2833751"/>
            <a:ext cx="78105" cy="203200"/>
          </a:xfrm>
          <a:custGeom>
            <a:avLst/>
            <a:gdLst/>
            <a:ahLst/>
            <a:cxnLst/>
            <a:rect l="l" t="t" r="r" b="b"/>
            <a:pathLst>
              <a:path w="78104" h="203200">
                <a:moveTo>
                  <a:pt x="77850" y="0"/>
                </a:moveTo>
                <a:lnTo>
                  <a:pt x="0" y="203200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378952" y="2848355"/>
            <a:ext cx="80772" cy="2133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393176" y="2833623"/>
            <a:ext cx="52705" cy="203200"/>
          </a:xfrm>
          <a:custGeom>
            <a:avLst/>
            <a:gdLst/>
            <a:ahLst/>
            <a:cxnLst/>
            <a:rect l="l" t="t" r="r" b="b"/>
            <a:pathLst>
              <a:path w="52704" h="203200">
                <a:moveTo>
                  <a:pt x="0" y="0"/>
                </a:moveTo>
                <a:lnTo>
                  <a:pt x="52324" y="2032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65647" y="2351532"/>
            <a:ext cx="312420" cy="24231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575300" y="2343150"/>
            <a:ext cx="294005" cy="219075"/>
          </a:xfrm>
          <a:custGeom>
            <a:avLst/>
            <a:gdLst/>
            <a:ahLst/>
            <a:cxnLst/>
            <a:rect l="l" t="t" r="r" b="b"/>
            <a:pathLst>
              <a:path w="294004" h="219075">
                <a:moveTo>
                  <a:pt x="293624" y="0"/>
                </a:moveTo>
                <a:lnTo>
                  <a:pt x="0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111240" y="2350007"/>
            <a:ext cx="387096" cy="24536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119876" y="2343150"/>
            <a:ext cx="370205" cy="219075"/>
          </a:xfrm>
          <a:custGeom>
            <a:avLst/>
            <a:gdLst/>
            <a:ahLst/>
            <a:cxnLst/>
            <a:rect l="l" t="t" r="r" b="b"/>
            <a:pathLst>
              <a:path w="370204" h="219075">
                <a:moveTo>
                  <a:pt x="0" y="0"/>
                </a:moveTo>
                <a:lnTo>
                  <a:pt x="369824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44156" y="2333244"/>
            <a:ext cx="312420" cy="2438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353300" y="2325751"/>
            <a:ext cx="294005" cy="219075"/>
          </a:xfrm>
          <a:custGeom>
            <a:avLst/>
            <a:gdLst/>
            <a:ahLst/>
            <a:cxnLst/>
            <a:rect l="l" t="t" r="r" b="b"/>
            <a:pathLst>
              <a:path w="294004" h="219075">
                <a:moveTo>
                  <a:pt x="293750" y="0"/>
                </a:moveTo>
                <a:lnTo>
                  <a:pt x="0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889747" y="2333244"/>
            <a:ext cx="385572" cy="243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897876" y="2325751"/>
            <a:ext cx="370205" cy="219075"/>
          </a:xfrm>
          <a:custGeom>
            <a:avLst/>
            <a:gdLst/>
            <a:ahLst/>
            <a:cxnLst/>
            <a:rect l="l" t="t" r="r" b="b"/>
            <a:pathLst>
              <a:path w="370204" h="219075">
                <a:moveTo>
                  <a:pt x="0" y="0"/>
                </a:moveTo>
                <a:lnTo>
                  <a:pt x="369824" y="21907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210555" y="3067811"/>
            <a:ext cx="374903" cy="356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219700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22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3598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01107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21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591555" y="3067811"/>
            <a:ext cx="374903" cy="3566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600700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703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81698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682107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600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109715" y="3067811"/>
            <a:ext cx="374903" cy="35661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119876" y="3054350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222110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2" y="0"/>
                </a:lnTo>
                <a:lnTo>
                  <a:pt x="25779" y="1400"/>
                </a:lnTo>
                <a:lnTo>
                  <a:pt x="31670" y="5206"/>
                </a:lnTo>
                <a:lnTo>
                  <a:pt x="35633" y="10822"/>
                </a:lnTo>
                <a:lnTo>
                  <a:pt x="37084" y="17652"/>
                </a:lnTo>
                <a:lnTo>
                  <a:pt x="35633" y="24536"/>
                </a:lnTo>
                <a:lnTo>
                  <a:pt x="31670" y="30146"/>
                </a:lnTo>
                <a:lnTo>
                  <a:pt x="25779" y="33922"/>
                </a:lnTo>
                <a:lnTo>
                  <a:pt x="18542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336029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79" y="1400"/>
                </a:lnTo>
                <a:lnTo>
                  <a:pt x="31670" y="5206"/>
                </a:lnTo>
                <a:lnTo>
                  <a:pt x="35633" y="10822"/>
                </a:lnTo>
                <a:lnTo>
                  <a:pt x="37083" y="17652"/>
                </a:lnTo>
                <a:lnTo>
                  <a:pt x="35633" y="24536"/>
                </a:lnTo>
                <a:lnTo>
                  <a:pt x="31670" y="30146"/>
                </a:lnTo>
                <a:lnTo>
                  <a:pt x="25779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201283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119876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44" y="124104"/>
                </a:lnTo>
                <a:lnTo>
                  <a:pt x="24252" y="83725"/>
                </a:lnTo>
                <a:lnTo>
                  <a:pt x="52038" y="49514"/>
                </a:lnTo>
                <a:lnTo>
                  <a:pt x="88015" y="23081"/>
                </a:lnTo>
                <a:lnTo>
                  <a:pt x="130498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498" y="332152"/>
                </a:lnTo>
                <a:lnTo>
                  <a:pt x="88015" y="315087"/>
                </a:lnTo>
                <a:lnTo>
                  <a:pt x="52038" y="288623"/>
                </a:lnTo>
                <a:lnTo>
                  <a:pt x="24252" y="254381"/>
                </a:lnTo>
                <a:lnTo>
                  <a:pt x="6344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480047" y="3067811"/>
            <a:ext cx="374903" cy="35661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489700" y="3054350"/>
            <a:ext cx="355600" cy="338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59206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705981" y="3155188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571106" y="3297173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489700" y="3054350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79"/>
                </a:lnTo>
                <a:lnTo>
                  <a:pt x="331319" y="254381"/>
                </a:lnTo>
                <a:lnTo>
                  <a:pt x="303514" y="288623"/>
                </a:lnTo>
                <a:lnTo>
                  <a:pt x="267527" y="315087"/>
                </a:lnTo>
                <a:lnTo>
                  <a:pt x="225057" y="332152"/>
                </a:lnTo>
                <a:lnTo>
                  <a:pt x="177800" y="338201"/>
                </a:lnTo>
                <a:lnTo>
                  <a:pt x="130542" y="332152"/>
                </a:lnTo>
                <a:lnTo>
                  <a:pt x="88072" y="315087"/>
                </a:lnTo>
                <a:lnTo>
                  <a:pt x="52085" y="288623"/>
                </a:lnTo>
                <a:lnTo>
                  <a:pt x="24280" y="254381"/>
                </a:lnTo>
                <a:lnTo>
                  <a:pt x="6352" y="21397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987540" y="3051048"/>
            <a:ext cx="374903" cy="35661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997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100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213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079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99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356347" y="3051048"/>
            <a:ext cx="374903" cy="35661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366000" y="3036823"/>
            <a:ext cx="355600" cy="338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4683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822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4474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3660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877556" y="3051048"/>
            <a:ext cx="374903" cy="3566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886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989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102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968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886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258556" y="3051048"/>
            <a:ext cx="374903" cy="35661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267700" y="3036823"/>
            <a:ext cx="355600" cy="338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37006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463"/>
                </a:lnTo>
                <a:lnTo>
                  <a:pt x="31543" y="30035"/>
                </a:lnTo>
                <a:lnTo>
                  <a:pt x="25652" y="33797"/>
                </a:lnTo>
                <a:lnTo>
                  <a:pt x="18415" y="35178"/>
                </a:lnTo>
                <a:lnTo>
                  <a:pt x="11251" y="33797"/>
                </a:lnTo>
                <a:lnTo>
                  <a:pt x="5397" y="30035"/>
                </a:lnTo>
                <a:lnTo>
                  <a:pt x="1448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483981" y="3137789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1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6" y="17652"/>
                </a:lnTo>
                <a:lnTo>
                  <a:pt x="35508" y="24463"/>
                </a:lnTo>
                <a:lnTo>
                  <a:pt x="31559" y="30035"/>
                </a:lnTo>
                <a:lnTo>
                  <a:pt x="25705" y="33797"/>
                </a:lnTo>
                <a:lnTo>
                  <a:pt x="18541" y="35178"/>
                </a:lnTo>
                <a:lnTo>
                  <a:pt x="11304" y="33797"/>
                </a:lnTo>
                <a:lnTo>
                  <a:pt x="5413" y="30035"/>
                </a:lnTo>
                <a:lnTo>
                  <a:pt x="1450" y="24463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349106" y="3279647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645"/>
                </a:lnTo>
                <a:lnTo>
                  <a:pt x="96313" y="31527"/>
                </a:lnTo>
                <a:lnTo>
                  <a:pt x="144428" y="23645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267700" y="3036823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4">
                <a:moveTo>
                  <a:pt x="0" y="169163"/>
                </a:moveTo>
                <a:lnTo>
                  <a:pt x="6352" y="124221"/>
                </a:lnTo>
                <a:lnTo>
                  <a:pt x="24280" y="83819"/>
                </a:lnTo>
                <a:lnTo>
                  <a:pt x="52085" y="49577"/>
                </a:lnTo>
                <a:lnTo>
                  <a:pt x="88072" y="23113"/>
                </a:lnTo>
                <a:lnTo>
                  <a:pt x="130542" y="6048"/>
                </a:lnTo>
                <a:lnTo>
                  <a:pt x="177800" y="0"/>
                </a:lnTo>
                <a:lnTo>
                  <a:pt x="225057" y="6048"/>
                </a:lnTo>
                <a:lnTo>
                  <a:pt x="267527" y="23113"/>
                </a:lnTo>
                <a:lnTo>
                  <a:pt x="303514" y="49577"/>
                </a:lnTo>
                <a:lnTo>
                  <a:pt x="331319" y="83819"/>
                </a:lnTo>
                <a:lnTo>
                  <a:pt x="349247" y="124221"/>
                </a:lnTo>
                <a:lnTo>
                  <a:pt x="355600" y="169163"/>
                </a:lnTo>
                <a:lnTo>
                  <a:pt x="349247" y="214096"/>
                </a:lnTo>
                <a:lnTo>
                  <a:pt x="331319" y="254475"/>
                </a:lnTo>
                <a:lnTo>
                  <a:pt x="303514" y="288686"/>
                </a:lnTo>
                <a:lnTo>
                  <a:pt x="267527" y="315119"/>
                </a:lnTo>
                <a:lnTo>
                  <a:pt x="225057" y="332162"/>
                </a:lnTo>
                <a:lnTo>
                  <a:pt x="177800" y="338200"/>
                </a:lnTo>
                <a:lnTo>
                  <a:pt x="130542" y="332162"/>
                </a:lnTo>
                <a:lnTo>
                  <a:pt x="88072" y="315119"/>
                </a:lnTo>
                <a:lnTo>
                  <a:pt x="52085" y="288686"/>
                </a:lnTo>
                <a:lnTo>
                  <a:pt x="24280" y="254475"/>
                </a:lnTo>
                <a:lnTo>
                  <a:pt x="6352" y="214096"/>
                </a:lnTo>
                <a:lnTo>
                  <a:pt x="0" y="169163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387340" y="2575560"/>
            <a:ext cx="374903" cy="35813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397500" y="2562225"/>
            <a:ext cx="355600" cy="33972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499861" y="266357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613780" y="266357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478907" y="280619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397500" y="256222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301740" y="2558795"/>
            <a:ext cx="374904" cy="35813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311900" y="2544826"/>
            <a:ext cx="355600" cy="33972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414261" y="2646172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769"/>
                </a:lnTo>
                <a:lnTo>
                  <a:pt x="5397" y="5159"/>
                </a:lnTo>
                <a:lnTo>
                  <a:pt x="11251" y="1383"/>
                </a:lnTo>
                <a:lnTo>
                  <a:pt x="18415" y="0"/>
                </a:lnTo>
                <a:lnTo>
                  <a:pt x="25652" y="1383"/>
                </a:lnTo>
                <a:lnTo>
                  <a:pt x="31543" y="5159"/>
                </a:lnTo>
                <a:lnTo>
                  <a:pt x="35506" y="10769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528181" y="2646172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769"/>
                </a:lnTo>
                <a:lnTo>
                  <a:pt x="5413" y="5159"/>
                </a:lnTo>
                <a:lnTo>
                  <a:pt x="11304" y="1383"/>
                </a:lnTo>
                <a:lnTo>
                  <a:pt x="18542" y="0"/>
                </a:lnTo>
                <a:lnTo>
                  <a:pt x="25705" y="1383"/>
                </a:lnTo>
                <a:lnTo>
                  <a:pt x="31559" y="5159"/>
                </a:lnTo>
                <a:lnTo>
                  <a:pt x="35508" y="10769"/>
                </a:lnTo>
                <a:lnTo>
                  <a:pt x="36957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2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393307" y="2788666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311900" y="2544826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799"/>
                </a:moveTo>
                <a:lnTo>
                  <a:pt x="6352" y="124633"/>
                </a:lnTo>
                <a:lnTo>
                  <a:pt x="24280" y="84064"/>
                </a:lnTo>
                <a:lnTo>
                  <a:pt x="52085" y="49704"/>
                </a:lnTo>
                <a:lnTo>
                  <a:pt x="88072" y="23165"/>
                </a:lnTo>
                <a:lnTo>
                  <a:pt x="130542" y="6060"/>
                </a:lnTo>
                <a:lnTo>
                  <a:pt x="177800" y="0"/>
                </a:lnTo>
                <a:lnTo>
                  <a:pt x="225057" y="6060"/>
                </a:lnTo>
                <a:lnTo>
                  <a:pt x="267527" y="23165"/>
                </a:lnTo>
                <a:lnTo>
                  <a:pt x="303514" y="49704"/>
                </a:lnTo>
                <a:lnTo>
                  <a:pt x="331319" y="84064"/>
                </a:lnTo>
                <a:lnTo>
                  <a:pt x="349247" y="124633"/>
                </a:lnTo>
                <a:lnTo>
                  <a:pt x="355600" y="169799"/>
                </a:lnTo>
                <a:lnTo>
                  <a:pt x="349247" y="214973"/>
                </a:lnTo>
                <a:lnTo>
                  <a:pt x="331319" y="255566"/>
                </a:lnTo>
                <a:lnTo>
                  <a:pt x="303514" y="289956"/>
                </a:lnTo>
                <a:lnTo>
                  <a:pt x="267527" y="316526"/>
                </a:lnTo>
                <a:lnTo>
                  <a:pt x="225057" y="333655"/>
                </a:lnTo>
                <a:lnTo>
                  <a:pt x="177800" y="339725"/>
                </a:lnTo>
                <a:lnTo>
                  <a:pt x="130542" y="333655"/>
                </a:lnTo>
                <a:lnTo>
                  <a:pt x="88072" y="316526"/>
                </a:lnTo>
                <a:lnTo>
                  <a:pt x="52085" y="289956"/>
                </a:lnTo>
                <a:lnTo>
                  <a:pt x="24280" y="255566"/>
                </a:lnTo>
                <a:lnTo>
                  <a:pt x="6352" y="214973"/>
                </a:lnTo>
                <a:lnTo>
                  <a:pt x="0" y="169799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7165847" y="2543555"/>
            <a:ext cx="374903" cy="359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175500" y="2530475"/>
            <a:ext cx="355600" cy="33972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27786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39178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256906" y="277444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175500" y="253047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080247" y="2543555"/>
            <a:ext cx="374903" cy="359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089900" y="2530475"/>
            <a:ext cx="355600" cy="33972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819226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56"/>
                </a:lnTo>
                <a:lnTo>
                  <a:pt x="31543" y="30210"/>
                </a:lnTo>
                <a:lnTo>
                  <a:pt x="25652" y="34030"/>
                </a:lnTo>
                <a:lnTo>
                  <a:pt x="18415" y="35432"/>
                </a:lnTo>
                <a:lnTo>
                  <a:pt x="11251" y="34030"/>
                </a:lnTo>
                <a:lnTo>
                  <a:pt x="5397" y="30210"/>
                </a:lnTo>
                <a:lnTo>
                  <a:pt x="1448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8306181" y="2631820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56"/>
                </a:lnTo>
                <a:lnTo>
                  <a:pt x="31559" y="30210"/>
                </a:lnTo>
                <a:lnTo>
                  <a:pt x="25705" y="34030"/>
                </a:lnTo>
                <a:lnTo>
                  <a:pt x="18541" y="35432"/>
                </a:lnTo>
                <a:lnTo>
                  <a:pt x="11304" y="34030"/>
                </a:lnTo>
                <a:lnTo>
                  <a:pt x="5413" y="30210"/>
                </a:lnTo>
                <a:lnTo>
                  <a:pt x="1450" y="24556"/>
                </a:lnTo>
                <a:lnTo>
                  <a:pt x="0" y="17652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171306" y="2774442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717"/>
                </a:lnTo>
                <a:lnTo>
                  <a:pt x="96313" y="31622"/>
                </a:lnTo>
                <a:lnTo>
                  <a:pt x="144428" y="23717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089900" y="2530475"/>
            <a:ext cx="355600" cy="339725"/>
          </a:xfrm>
          <a:custGeom>
            <a:avLst/>
            <a:gdLst/>
            <a:ahLst/>
            <a:cxnLst/>
            <a:rect l="l" t="t" r="r" b="b"/>
            <a:pathLst>
              <a:path w="355600" h="339725">
                <a:moveTo>
                  <a:pt x="0" y="169925"/>
                </a:moveTo>
                <a:lnTo>
                  <a:pt x="6352" y="124751"/>
                </a:lnTo>
                <a:lnTo>
                  <a:pt x="24280" y="84158"/>
                </a:lnTo>
                <a:lnTo>
                  <a:pt x="52085" y="49768"/>
                </a:lnTo>
                <a:lnTo>
                  <a:pt x="88072" y="23198"/>
                </a:lnTo>
                <a:lnTo>
                  <a:pt x="130542" y="6069"/>
                </a:lnTo>
                <a:lnTo>
                  <a:pt x="177800" y="0"/>
                </a:lnTo>
                <a:lnTo>
                  <a:pt x="225057" y="6069"/>
                </a:lnTo>
                <a:lnTo>
                  <a:pt x="267527" y="23198"/>
                </a:lnTo>
                <a:lnTo>
                  <a:pt x="303514" y="49768"/>
                </a:lnTo>
                <a:lnTo>
                  <a:pt x="331319" y="84158"/>
                </a:lnTo>
                <a:lnTo>
                  <a:pt x="349247" y="124751"/>
                </a:lnTo>
                <a:lnTo>
                  <a:pt x="355600" y="169925"/>
                </a:lnTo>
                <a:lnTo>
                  <a:pt x="349247" y="215047"/>
                </a:lnTo>
                <a:lnTo>
                  <a:pt x="331319" y="255603"/>
                </a:lnTo>
                <a:lnTo>
                  <a:pt x="303514" y="289972"/>
                </a:lnTo>
                <a:lnTo>
                  <a:pt x="267527" y="316531"/>
                </a:lnTo>
                <a:lnTo>
                  <a:pt x="225057" y="333656"/>
                </a:lnTo>
                <a:lnTo>
                  <a:pt x="177800" y="339724"/>
                </a:lnTo>
                <a:lnTo>
                  <a:pt x="130542" y="333656"/>
                </a:lnTo>
                <a:lnTo>
                  <a:pt x="88072" y="316531"/>
                </a:lnTo>
                <a:lnTo>
                  <a:pt x="52085" y="289972"/>
                </a:lnTo>
                <a:lnTo>
                  <a:pt x="24280" y="255603"/>
                </a:lnTo>
                <a:lnTo>
                  <a:pt x="6352" y="215047"/>
                </a:lnTo>
                <a:lnTo>
                  <a:pt x="0" y="169925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806440" y="2068067"/>
            <a:ext cx="374903" cy="3566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6600" y="2054225"/>
            <a:ext cx="355600" cy="3380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91896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032880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4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898007" y="22970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39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816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584947" y="2068067"/>
            <a:ext cx="374903" cy="35661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594600" y="2054225"/>
            <a:ext cx="355600" cy="33807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69696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810881" y="21550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676006" y="22970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594600" y="20542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720840" y="1610867"/>
            <a:ext cx="374903" cy="3566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731000" y="1597025"/>
            <a:ext cx="355600" cy="3380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833361" y="16978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48" y="10822"/>
                </a:lnTo>
                <a:lnTo>
                  <a:pt x="5397" y="5206"/>
                </a:lnTo>
                <a:lnTo>
                  <a:pt x="11251" y="1400"/>
                </a:lnTo>
                <a:lnTo>
                  <a:pt x="18415" y="0"/>
                </a:lnTo>
                <a:lnTo>
                  <a:pt x="25652" y="1400"/>
                </a:lnTo>
                <a:lnTo>
                  <a:pt x="31543" y="5206"/>
                </a:lnTo>
                <a:lnTo>
                  <a:pt x="35506" y="10822"/>
                </a:lnTo>
                <a:lnTo>
                  <a:pt x="36957" y="17652"/>
                </a:lnTo>
                <a:lnTo>
                  <a:pt x="35506" y="24536"/>
                </a:lnTo>
                <a:lnTo>
                  <a:pt x="31543" y="30146"/>
                </a:lnTo>
                <a:lnTo>
                  <a:pt x="25652" y="33922"/>
                </a:lnTo>
                <a:lnTo>
                  <a:pt x="18415" y="35305"/>
                </a:lnTo>
                <a:lnTo>
                  <a:pt x="11251" y="33922"/>
                </a:lnTo>
                <a:lnTo>
                  <a:pt x="5397" y="30146"/>
                </a:lnTo>
                <a:lnTo>
                  <a:pt x="1448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947281" y="1697863"/>
            <a:ext cx="37465" cy="35560"/>
          </a:xfrm>
          <a:custGeom>
            <a:avLst/>
            <a:gdLst/>
            <a:ahLst/>
            <a:cxnLst/>
            <a:rect l="l" t="t" r="r" b="b"/>
            <a:pathLst>
              <a:path w="37465" h="35560">
                <a:moveTo>
                  <a:pt x="0" y="17652"/>
                </a:moveTo>
                <a:lnTo>
                  <a:pt x="1450" y="10822"/>
                </a:lnTo>
                <a:lnTo>
                  <a:pt x="5413" y="5206"/>
                </a:lnTo>
                <a:lnTo>
                  <a:pt x="11304" y="1400"/>
                </a:lnTo>
                <a:lnTo>
                  <a:pt x="18541" y="0"/>
                </a:lnTo>
                <a:lnTo>
                  <a:pt x="25705" y="1400"/>
                </a:lnTo>
                <a:lnTo>
                  <a:pt x="31559" y="5206"/>
                </a:lnTo>
                <a:lnTo>
                  <a:pt x="35508" y="10822"/>
                </a:lnTo>
                <a:lnTo>
                  <a:pt x="36956" y="17652"/>
                </a:lnTo>
                <a:lnTo>
                  <a:pt x="35508" y="24536"/>
                </a:lnTo>
                <a:lnTo>
                  <a:pt x="31559" y="30146"/>
                </a:lnTo>
                <a:lnTo>
                  <a:pt x="25705" y="33922"/>
                </a:lnTo>
                <a:lnTo>
                  <a:pt x="18541" y="35305"/>
                </a:lnTo>
                <a:lnTo>
                  <a:pt x="11304" y="33922"/>
                </a:lnTo>
                <a:lnTo>
                  <a:pt x="5413" y="30146"/>
                </a:lnTo>
                <a:lnTo>
                  <a:pt x="1450" y="24536"/>
                </a:lnTo>
                <a:lnTo>
                  <a:pt x="0" y="17652"/>
                </a:lnTo>
                <a:close/>
              </a:path>
            </a:pathLst>
          </a:custGeom>
          <a:ln w="1587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812406" y="1839848"/>
            <a:ext cx="193040" cy="31750"/>
          </a:xfrm>
          <a:custGeom>
            <a:avLst/>
            <a:gdLst/>
            <a:ahLst/>
            <a:cxnLst/>
            <a:rect l="l" t="t" r="r" b="b"/>
            <a:pathLst>
              <a:path w="193040" h="31750">
                <a:moveTo>
                  <a:pt x="0" y="0"/>
                </a:moveTo>
                <a:lnTo>
                  <a:pt x="48174" y="23574"/>
                </a:lnTo>
                <a:lnTo>
                  <a:pt x="96313" y="31432"/>
                </a:lnTo>
                <a:lnTo>
                  <a:pt x="144428" y="23574"/>
                </a:lnTo>
                <a:lnTo>
                  <a:pt x="192532" y="0"/>
                </a:lnTo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731000" y="1597025"/>
            <a:ext cx="355600" cy="338455"/>
          </a:xfrm>
          <a:custGeom>
            <a:avLst/>
            <a:gdLst/>
            <a:ahLst/>
            <a:cxnLst/>
            <a:rect l="l" t="t" r="r" b="b"/>
            <a:pathLst>
              <a:path w="355600" h="338455">
                <a:moveTo>
                  <a:pt x="0" y="169037"/>
                </a:moveTo>
                <a:lnTo>
                  <a:pt x="6352" y="124104"/>
                </a:lnTo>
                <a:lnTo>
                  <a:pt x="24280" y="83725"/>
                </a:lnTo>
                <a:lnTo>
                  <a:pt x="52085" y="49514"/>
                </a:lnTo>
                <a:lnTo>
                  <a:pt x="88072" y="23081"/>
                </a:lnTo>
                <a:lnTo>
                  <a:pt x="130542" y="6038"/>
                </a:lnTo>
                <a:lnTo>
                  <a:pt x="177800" y="0"/>
                </a:lnTo>
                <a:lnTo>
                  <a:pt x="225057" y="6038"/>
                </a:lnTo>
                <a:lnTo>
                  <a:pt x="267527" y="23081"/>
                </a:lnTo>
                <a:lnTo>
                  <a:pt x="303514" y="49514"/>
                </a:lnTo>
                <a:lnTo>
                  <a:pt x="331319" y="83725"/>
                </a:lnTo>
                <a:lnTo>
                  <a:pt x="349247" y="124104"/>
                </a:lnTo>
                <a:lnTo>
                  <a:pt x="355600" y="169037"/>
                </a:lnTo>
                <a:lnTo>
                  <a:pt x="349247" y="213969"/>
                </a:lnTo>
                <a:lnTo>
                  <a:pt x="331319" y="254348"/>
                </a:lnTo>
                <a:lnTo>
                  <a:pt x="303514" y="288559"/>
                </a:lnTo>
                <a:lnTo>
                  <a:pt x="267527" y="314992"/>
                </a:lnTo>
                <a:lnTo>
                  <a:pt x="225057" y="332035"/>
                </a:lnTo>
                <a:lnTo>
                  <a:pt x="177800" y="338074"/>
                </a:lnTo>
                <a:lnTo>
                  <a:pt x="130542" y="332035"/>
                </a:lnTo>
                <a:lnTo>
                  <a:pt x="88072" y="314992"/>
                </a:lnTo>
                <a:lnTo>
                  <a:pt x="52085" y="288559"/>
                </a:lnTo>
                <a:lnTo>
                  <a:pt x="24280" y="254348"/>
                </a:lnTo>
                <a:lnTo>
                  <a:pt x="6352" y="213969"/>
                </a:lnTo>
                <a:lnTo>
                  <a:pt x="0" y="169037"/>
                </a:lnTo>
                <a:close/>
              </a:path>
            </a:pathLst>
          </a:custGeom>
          <a:ln w="15875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 txBox="1"/>
          <p:nvPr/>
        </p:nvSpPr>
        <p:spPr>
          <a:xfrm>
            <a:off x="596290" y="1407033"/>
            <a:ext cx="7999730" cy="544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1251585" algn="l"/>
              </a:tabLst>
            </a:pPr>
            <a:r>
              <a:rPr sz="2400" dirty="0">
                <a:latin typeface="Times New Roman"/>
                <a:cs typeface="Times New Roman"/>
              </a:rPr>
              <a:t>Converts	</a:t>
            </a:r>
            <a:r>
              <a:rPr sz="2400" spc="-5" dirty="0">
                <a:latin typeface="Times New Roman"/>
                <a:cs typeface="Times New Roman"/>
              </a:rPr>
              <a:t>A[1…</a:t>
            </a:r>
            <a:r>
              <a:rPr sz="2400" i="1" spc="-5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] </a:t>
            </a:r>
            <a:r>
              <a:rPr sz="2400" dirty="0">
                <a:latin typeface="Times New Roman"/>
                <a:cs typeface="Times New Roman"/>
              </a:rPr>
              <a:t>to a </a:t>
            </a:r>
            <a:r>
              <a:rPr sz="2400" spc="-10" dirty="0">
                <a:latin typeface="Times New Roman"/>
                <a:cs typeface="Times New Roman"/>
              </a:rPr>
              <a:t>max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heap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L="473075" marR="5223510" indent="-457200">
              <a:lnSpc>
                <a:spcPct val="100000"/>
              </a:lnSpc>
            </a:pPr>
            <a:r>
              <a:rPr sz="2400" b="1" spc="-5" dirty="0">
                <a:latin typeface="Times New Roman"/>
                <a:cs typeface="Times New Roman"/>
              </a:rPr>
              <a:t>Build_Max_Heap(A):  </a:t>
            </a:r>
            <a:r>
              <a:rPr sz="2400" b="1" dirty="0">
                <a:latin typeface="Times New Roman"/>
                <a:cs typeface="Times New Roman"/>
              </a:rPr>
              <a:t>for i=n/2 downto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</a:p>
          <a:p>
            <a:pPr marL="93027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do </a:t>
            </a:r>
            <a:r>
              <a:rPr sz="2400" b="1" spc="-5" dirty="0">
                <a:latin typeface="Times New Roman"/>
                <a:cs typeface="Times New Roman"/>
              </a:rPr>
              <a:t>Max_Heapify(A,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i)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546100" marR="5080" indent="-534035">
              <a:lnSpc>
                <a:spcPct val="100000"/>
              </a:lnSpc>
            </a:pPr>
            <a:r>
              <a:rPr sz="2800" spc="-45" dirty="0">
                <a:latin typeface="Times New Roman"/>
                <a:cs typeface="Times New Roman"/>
              </a:rPr>
              <a:t>Total </a:t>
            </a:r>
            <a:r>
              <a:rPr sz="2800" spc="-10" dirty="0">
                <a:latin typeface="Times New Roman"/>
                <a:cs typeface="Times New Roman"/>
              </a:rPr>
              <a:t>amount </a:t>
            </a:r>
            <a:r>
              <a:rPr sz="2800" spc="-5" dirty="0">
                <a:latin typeface="Times New Roman"/>
                <a:cs typeface="Times New Roman"/>
              </a:rPr>
              <a:t>of work in </a:t>
            </a:r>
            <a:r>
              <a:rPr sz="2800" dirty="0">
                <a:latin typeface="Times New Roman"/>
                <a:cs typeface="Times New Roman"/>
              </a:rPr>
              <a:t>the for </a:t>
            </a:r>
            <a:r>
              <a:rPr sz="2800" spc="-5" dirty="0">
                <a:latin typeface="Times New Roman"/>
                <a:cs typeface="Times New Roman"/>
              </a:rPr>
              <a:t>loop </a:t>
            </a:r>
            <a:r>
              <a:rPr sz="2800" spc="-10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 </a:t>
            </a:r>
            <a:r>
              <a:rPr sz="2800" spc="-10" dirty="0">
                <a:latin typeface="Times New Roman"/>
                <a:cs typeface="Times New Roman"/>
              </a:rPr>
              <a:t>summed </a:t>
            </a:r>
            <a:r>
              <a:rPr sz="2800" spc="-5" dirty="0">
                <a:latin typeface="Times New Roman"/>
                <a:cs typeface="Times New Roman"/>
              </a:rPr>
              <a:t>as: 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n/4 (1 </a:t>
            </a:r>
            <a:r>
              <a:rPr sz="2800" spc="-10" dirty="0">
                <a:solidFill>
                  <a:srgbClr val="00AF50"/>
                </a:solidFill>
                <a:latin typeface="Times New Roman"/>
                <a:cs typeface="Times New Roman"/>
              </a:rPr>
              <a:t>c)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+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n/8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(2 </a:t>
            </a:r>
            <a:r>
              <a:rPr sz="2800" spc="-10" dirty="0">
                <a:solidFill>
                  <a:srgbClr val="00AF50"/>
                </a:solidFill>
                <a:latin typeface="Times New Roman"/>
                <a:cs typeface="Times New Roman"/>
              </a:rPr>
              <a:t>c)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+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n/16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(3 </a:t>
            </a:r>
            <a:r>
              <a:rPr sz="2800" spc="-10" dirty="0">
                <a:solidFill>
                  <a:srgbClr val="00AF50"/>
                </a:solidFill>
                <a:latin typeface="Times New Roman"/>
                <a:cs typeface="Times New Roman"/>
              </a:rPr>
              <a:t>c)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+ … + 1 (lg n</a:t>
            </a:r>
            <a:r>
              <a:rPr sz="2800" spc="-114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c)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Setting </a:t>
            </a:r>
            <a:r>
              <a:rPr sz="2800" dirty="0">
                <a:latin typeface="Times New Roman"/>
                <a:cs typeface="Times New Roman"/>
              </a:rPr>
              <a:t>n/4 </a:t>
            </a:r>
            <a:r>
              <a:rPr sz="2800" spc="-5" dirty="0">
                <a:latin typeface="Times New Roman"/>
                <a:cs typeface="Times New Roman"/>
              </a:rPr>
              <a:t>= </a:t>
            </a:r>
            <a:r>
              <a:rPr sz="2800" spc="10" dirty="0">
                <a:latin typeface="Times New Roman"/>
                <a:cs typeface="Times New Roman"/>
              </a:rPr>
              <a:t>2</a:t>
            </a:r>
            <a:r>
              <a:rPr sz="2775" spc="15" baseline="25525" dirty="0">
                <a:latin typeface="Times New Roman"/>
                <a:cs typeface="Times New Roman"/>
              </a:rPr>
              <a:t>k </a:t>
            </a:r>
            <a:r>
              <a:rPr sz="2800" spc="-5" dirty="0">
                <a:latin typeface="Times New Roman"/>
                <a:cs typeface="Times New Roman"/>
              </a:rPr>
              <a:t>and simplifying we</a:t>
            </a:r>
            <a:r>
              <a:rPr sz="2800" spc="-2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get:</a:t>
            </a:r>
            <a:endParaRPr sz="2800" dirty="0">
              <a:latin typeface="Times New Roman"/>
              <a:cs typeface="Times New Roman"/>
            </a:endParaRPr>
          </a:p>
          <a:p>
            <a:pPr marL="12700" marR="1370330" indent="532765">
              <a:lnSpc>
                <a:spcPct val="100000"/>
              </a:lnSpc>
            </a:pP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c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2</a:t>
            </a:r>
            <a:r>
              <a:rPr sz="2775" baseline="25525" dirty="0">
                <a:solidFill>
                  <a:srgbClr val="00AF50"/>
                </a:solidFill>
                <a:latin typeface="Times New Roman"/>
                <a:cs typeface="Times New Roman"/>
              </a:rPr>
              <a:t>k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( </a:t>
            </a:r>
            <a:r>
              <a:rPr sz="2800" spc="5" dirty="0">
                <a:solidFill>
                  <a:srgbClr val="00AF50"/>
                </a:solidFill>
                <a:latin typeface="Times New Roman"/>
                <a:cs typeface="Times New Roman"/>
              </a:rPr>
              <a:t>1/2</a:t>
            </a:r>
            <a:r>
              <a:rPr sz="2775" spc="7" baseline="25525" dirty="0">
                <a:solidFill>
                  <a:srgbClr val="00AF50"/>
                </a:solidFill>
                <a:latin typeface="Times New Roman"/>
                <a:cs typeface="Times New Roman"/>
              </a:rPr>
              <a:t>0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+ </a:t>
            </a:r>
            <a:r>
              <a:rPr sz="2800" spc="5" dirty="0">
                <a:solidFill>
                  <a:srgbClr val="00AF50"/>
                </a:solidFill>
                <a:latin typeface="Times New Roman"/>
                <a:cs typeface="Times New Roman"/>
              </a:rPr>
              <a:t>2/2</a:t>
            </a:r>
            <a:r>
              <a:rPr sz="2775" spc="7" baseline="25525" dirty="0">
                <a:solidFill>
                  <a:srgbClr val="00AF50"/>
                </a:solidFill>
                <a:latin typeface="Times New Roman"/>
                <a:cs typeface="Times New Roman"/>
              </a:rPr>
              <a:t>1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+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3/2</a:t>
            </a:r>
            <a:r>
              <a:rPr sz="2775" baseline="25525" dirty="0">
                <a:solidFill>
                  <a:srgbClr val="00AF50"/>
                </a:solidFill>
                <a:latin typeface="Times New Roman"/>
                <a:cs typeface="Times New Roman"/>
              </a:rPr>
              <a:t>2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+ …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(k+1)/2</a:t>
            </a:r>
            <a:r>
              <a:rPr sz="2775" baseline="25525" dirty="0">
                <a:solidFill>
                  <a:srgbClr val="00AF50"/>
                </a:solidFill>
                <a:latin typeface="Times New Roman"/>
                <a:cs typeface="Times New Roman"/>
              </a:rPr>
              <a:t>k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)  </a:t>
            </a:r>
            <a:r>
              <a:rPr sz="2800" spc="-5" dirty="0">
                <a:latin typeface="Times New Roman"/>
                <a:cs typeface="Times New Roman"/>
              </a:rPr>
              <a:t>The term is brackets is </a:t>
            </a:r>
            <a:r>
              <a:rPr sz="2800" dirty="0">
                <a:latin typeface="Times New Roman"/>
                <a:cs typeface="Times New Roman"/>
              </a:rPr>
              <a:t>bounded </a:t>
            </a:r>
            <a:r>
              <a:rPr sz="2800" spc="-5" dirty="0">
                <a:latin typeface="Times New Roman"/>
                <a:cs typeface="Times New Roman"/>
              </a:rPr>
              <a:t>by 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constant!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 smtClean="0">
                <a:latin typeface="Times New Roman"/>
                <a:cs typeface="Times New Roman"/>
              </a:rPr>
              <a:t>This</a:t>
            </a:r>
            <a:r>
              <a:rPr sz="2800" spc="5" dirty="0" smtClean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spc="-2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ns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 smtClean="0">
                <a:latin typeface="Times New Roman"/>
                <a:cs typeface="Times New Roman"/>
              </a:rPr>
              <a:t>t</a:t>
            </a:r>
            <a:r>
              <a:rPr sz="2800" dirty="0" smtClean="0">
                <a:latin typeface="Times New Roman"/>
                <a:cs typeface="Times New Roman"/>
              </a:rPr>
              <a:t>h</a:t>
            </a:r>
            <a:r>
              <a:rPr sz="2800" spc="-5" dirty="0" smtClean="0">
                <a:latin typeface="Times New Roman"/>
                <a:cs typeface="Times New Roman"/>
              </a:rPr>
              <a:t>at</a:t>
            </a:r>
            <a:r>
              <a:rPr lang="en-US" sz="2800" spc="-5" dirty="0" smtClean="0">
                <a:latin typeface="Times New Roman"/>
                <a:cs typeface="Times New Roman"/>
              </a:rPr>
              <a:t> </a:t>
            </a:r>
            <a:r>
              <a:rPr lang="en-US" sz="2800" spc="-5" dirty="0" err="1" smtClean="0">
                <a:latin typeface="Times New Roman"/>
                <a:cs typeface="Times New Roman"/>
              </a:rPr>
              <a:t>Build_Max_Heap</a:t>
            </a:r>
            <a:r>
              <a:rPr sz="2800" spc="-20" dirty="0" smtClean="0">
                <a:latin typeface="Times New Roman"/>
                <a:cs typeface="Times New Roman"/>
              </a:rPr>
              <a:t> </a:t>
            </a:r>
            <a:r>
              <a:rPr sz="2800" spc="-5" dirty="0" smtClean="0">
                <a:latin typeface="Times New Roman"/>
                <a:cs typeface="Times New Roman"/>
              </a:rPr>
              <a:t>is</a:t>
            </a:r>
            <a:r>
              <a:rPr sz="2800" spc="25" dirty="0" smtClean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AF50"/>
                </a:solidFill>
                <a:latin typeface="Times New Roman"/>
                <a:cs typeface="Times New Roman"/>
              </a:rPr>
              <a:t>O(n)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069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41313" y="86365"/>
            <a:ext cx="8229600" cy="906462"/>
          </a:xfrm>
        </p:spPr>
        <p:txBody>
          <a:bodyPr/>
          <a:lstStyle/>
          <a:p>
            <a:r>
              <a:rPr lang="en-US" sz="3600"/>
              <a:t>Running Time of BUILD MAX HEAP</a:t>
            </a:r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9713" y="948114"/>
            <a:ext cx="8578850" cy="935037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HEAPIFY takes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</a:rPr>
              <a:t>O(h)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sym typeface="Symbol" panose="05050102010706020507" pitchFamily="18" charset="2"/>
              </a:rPr>
              <a:t> the cost of HEAPIFY on a node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sym typeface="Symbol" panose="05050102010706020507" pitchFamily="18" charset="2"/>
              </a:rPr>
              <a:t> is proportional to the height of the node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sym typeface="Symbol" panose="05050102010706020507" pitchFamily="18" charset="2"/>
              </a:rPr>
              <a:t> in the tree</a:t>
            </a:r>
          </a:p>
        </p:txBody>
      </p:sp>
      <p:grpSp>
        <p:nvGrpSpPr>
          <p:cNvPr id="433156" name="Group 4"/>
          <p:cNvGrpSpPr>
            <a:grpSpLocks/>
          </p:cNvGrpSpPr>
          <p:nvPr/>
        </p:nvGrpSpPr>
        <p:grpSpPr bwMode="auto">
          <a:xfrm>
            <a:off x="2049463" y="2867025"/>
            <a:ext cx="3565525" cy="2543175"/>
            <a:chOff x="682" y="1758"/>
            <a:chExt cx="2246" cy="1602"/>
          </a:xfrm>
        </p:grpSpPr>
        <p:sp>
          <p:nvSpPr>
            <p:cNvPr id="433157" name="Line 5"/>
            <p:cNvSpPr>
              <a:spLocks noChangeAspect="1" noChangeShapeType="1"/>
            </p:cNvSpPr>
            <p:nvPr/>
          </p:nvSpPr>
          <p:spPr bwMode="auto">
            <a:xfrm rot="16200000" flipV="1">
              <a:off x="1745" y="1818"/>
              <a:ext cx="449" cy="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58" name="Line 6"/>
            <p:cNvSpPr>
              <a:spLocks noChangeShapeType="1"/>
            </p:cNvSpPr>
            <p:nvPr/>
          </p:nvSpPr>
          <p:spPr bwMode="auto">
            <a:xfrm flipV="1">
              <a:off x="1440" y="1854"/>
              <a:ext cx="394" cy="3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59" name="Oval 7"/>
            <p:cNvSpPr>
              <a:spLocks noChangeArrowheads="1"/>
            </p:cNvSpPr>
            <p:nvPr/>
          </p:nvSpPr>
          <p:spPr bwMode="auto">
            <a:xfrm>
              <a:off x="1703" y="1758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grpSp>
          <p:nvGrpSpPr>
            <p:cNvPr id="433160" name="Group 8"/>
            <p:cNvGrpSpPr>
              <a:grpSpLocks/>
            </p:cNvGrpSpPr>
            <p:nvPr/>
          </p:nvGrpSpPr>
          <p:grpSpPr bwMode="auto">
            <a:xfrm>
              <a:off x="1353" y="2112"/>
              <a:ext cx="903" cy="202"/>
              <a:chOff x="1065" y="2112"/>
              <a:chExt cx="903" cy="202"/>
            </a:xfrm>
          </p:grpSpPr>
          <p:sp>
            <p:nvSpPr>
              <p:cNvPr id="433161" name="Oval 9"/>
              <p:cNvSpPr>
                <a:spLocks noChangeArrowheads="1"/>
              </p:cNvSpPr>
              <p:nvPr/>
            </p:nvSpPr>
            <p:spPr bwMode="auto">
              <a:xfrm>
                <a:off x="1065" y="2112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433162" name="Oval 10"/>
              <p:cNvSpPr>
                <a:spLocks noChangeArrowheads="1"/>
              </p:cNvSpPr>
              <p:nvPr/>
            </p:nvSpPr>
            <p:spPr bwMode="auto">
              <a:xfrm>
                <a:off x="1766" y="2112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3163" name="Oval 11"/>
            <p:cNvSpPr>
              <a:spLocks noChangeArrowheads="1"/>
            </p:cNvSpPr>
            <p:nvPr/>
          </p:nvSpPr>
          <p:spPr bwMode="auto">
            <a:xfrm>
              <a:off x="828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433164" name="Oval 12"/>
            <p:cNvSpPr>
              <a:spLocks noChangeArrowheads="1"/>
            </p:cNvSpPr>
            <p:nvPr/>
          </p:nvSpPr>
          <p:spPr bwMode="auto">
            <a:xfrm>
              <a:off x="1412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433165" name="Oval 13"/>
            <p:cNvSpPr>
              <a:spLocks noChangeArrowheads="1"/>
            </p:cNvSpPr>
            <p:nvPr/>
          </p:nvSpPr>
          <p:spPr bwMode="auto">
            <a:xfrm>
              <a:off x="1996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433166" name="Oval 14"/>
            <p:cNvSpPr>
              <a:spLocks noChangeArrowheads="1"/>
            </p:cNvSpPr>
            <p:nvPr/>
          </p:nvSpPr>
          <p:spPr bwMode="auto">
            <a:xfrm>
              <a:off x="2580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grpSp>
          <p:nvGrpSpPr>
            <p:cNvPr id="433167" name="Group 15"/>
            <p:cNvGrpSpPr>
              <a:grpSpLocks/>
            </p:cNvGrpSpPr>
            <p:nvPr/>
          </p:nvGrpSpPr>
          <p:grpSpPr bwMode="auto">
            <a:xfrm>
              <a:off x="682" y="3158"/>
              <a:ext cx="494" cy="202"/>
              <a:chOff x="394" y="3158"/>
              <a:chExt cx="494" cy="202"/>
            </a:xfrm>
          </p:grpSpPr>
          <p:sp>
            <p:nvSpPr>
              <p:cNvPr id="433168" name="Oval 16"/>
              <p:cNvSpPr>
                <a:spLocks noChangeArrowheads="1"/>
              </p:cNvSpPr>
              <p:nvPr/>
            </p:nvSpPr>
            <p:spPr bwMode="auto">
              <a:xfrm>
                <a:off x="394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433169" name="Oval 17"/>
              <p:cNvSpPr>
                <a:spLocks noChangeArrowheads="1"/>
              </p:cNvSpPr>
              <p:nvPr/>
            </p:nvSpPr>
            <p:spPr bwMode="auto">
              <a:xfrm>
                <a:off x="686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3170" name="Group 18"/>
            <p:cNvGrpSpPr>
              <a:grpSpLocks/>
            </p:cNvGrpSpPr>
            <p:nvPr/>
          </p:nvGrpSpPr>
          <p:grpSpPr bwMode="auto">
            <a:xfrm>
              <a:off x="1266" y="3158"/>
              <a:ext cx="494" cy="202"/>
              <a:chOff x="978" y="3158"/>
              <a:chExt cx="494" cy="202"/>
            </a:xfrm>
          </p:grpSpPr>
          <p:sp>
            <p:nvSpPr>
              <p:cNvPr id="433171" name="Oval 19"/>
              <p:cNvSpPr>
                <a:spLocks noChangeArrowheads="1"/>
              </p:cNvSpPr>
              <p:nvPr/>
            </p:nvSpPr>
            <p:spPr bwMode="auto">
              <a:xfrm>
                <a:off x="978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433172" name="Oval 20"/>
              <p:cNvSpPr>
                <a:spLocks noChangeArrowheads="1"/>
              </p:cNvSpPr>
              <p:nvPr/>
            </p:nvSpPr>
            <p:spPr bwMode="auto">
              <a:xfrm>
                <a:off x="1270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3173" name="Group 21"/>
            <p:cNvGrpSpPr>
              <a:grpSpLocks/>
            </p:cNvGrpSpPr>
            <p:nvPr/>
          </p:nvGrpSpPr>
          <p:grpSpPr bwMode="auto">
            <a:xfrm>
              <a:off x="1850" y="3158"/>
              <a:ext cx="494" cy="202"/>
              <a:chOff x="1562" y="3158"/>
              <a:chExt cx="494" cy="202"/>
            </a:xfrm>
          </p:grpSpPr>
          <p:sp>
            <p:nvSpPr>
              <p:cNvPr id="433174" name="Oval 22"/>
              <p:cNvSpPr>
                <a:spLocks noChangeArrowheads="1"/>
              </p:cNvSpPr>
              <p:nvPr/>
            </p:nvSpPr>
            <p:spPr bwMode="auto">
              <a:xfrm>
                <a:off x="1854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433175" name="Oval 23"/>
              <p:cNvSpPr>
                <a:spLocks noChangeArrowheads="1"/>
              </p:cNvSpPr>
              <p:nvPr/>
            </p:nvSpPr>
            <p:spPr bwMode="auto">
              <a:xfrm>
                <a:off x="1562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3176" name="Group 24"/>
            <p:cNvGrpSpPr>
              <a:grpSpLocks/>
            </p:cNvGrpSpPr>
            <p:nvPr/>
          </p:nvGrpSpPr>
          <p:grpSpPr bwMode="auto">
            <a:xfrm>
              <a:off x="2434" y="3158"/>
              <a:ext cx="494" cy="202"/>
              <a:chOff x="2146" y="3158"/>
              <a:chExt cx="494" cy="202"/>
            </a:xfrm>
          </p:grpSpPr>
          <p:sp>
            <p:nvSpPr>
              <p:cNvPr id="433177" name="Oval 25"/>
              <p:cNvSpPr>
                <a:spLocks noChangeArrowheads="1"/>
              </p:cNvSpPr>
              <p:nvPr/>
            </p:nvSpPr>
            <p:spPr bwMode="auto">
              <a:xfrm>
                <a:off x="2146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433178" name="Oval 26"/>
              <p:cNvSpPr>
                <a:spLocks noChangeArrowheads="1"/>
              </p:cNvSpPr>
              <p:nvPr/>
            </p:nvSpPr>
            <p:spPr bwMode="auto">
              <a:xfrm>
                <a:off x="2438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3179" name="Group 27"/>
            <p:cNvGrpSpPr>
              <a:grpSpLocks/>
            </p:cNvGrpSpPr>
            <p:nvPr/>
          </p:nvGrpSpPr>
          <p:grpSpPr bwMode="auto">
            <a:xfrm>
              <a:off x="1008" y="2304"/>
              <a:ext cx="480" cy="384"/>
              <a:chOff x="1008" y="2304"/>
              <a:chExt cx="480" cy="384"/>
            </a:xfrm>
          </p:grpSpPr>
          <p:sp>
            <p:nvSpPr>
              <p:cNvPr id="433180" name="Line 28"/>
              <p:cNvSpPr>
                <a:spLocks noChangeShapeType="1"/>
              </p:cNvSpPr>
              <p:nvPr/>
            </p:nvSpPr>
            <p:spPr bwMode="auto">
              <a:xfrm flipH="1">
                <a:off x="1008" y="2304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181" name="Line 29"/>
              <p:cNvSpPr>
                <a:spLocks noChangeShapeType="1"/>
              </p:cNvSpPr>
              <p:nvPr/>
            </p:nvSpPr>
            <p:spPr bwMode="auto">
              <a:xfrm>
                <a:off x="1392" y="230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33182" name="Group 30"/>
            <p:cNvGrpSpPr>
              <a:grpSpLocks/>
            </p:cNvGrpSpPr>
            <p:nvPr/>
          </p:nvGrpSpPr>
          <p:grpSpPr bwMode="auto">
            <a:xfrm flipH="1">
              <a:off x="2112" y="2304"/>
              <a:ext cx="480" cy="384"/>
              <a:chOff x="1008" y="2304"/>
              <a:chExt cx="480" cy="384"/>
            </a:xfrm>
          </p:grpSpPr>
          <p:sp>
            <p:nvSpPr>
              <p:cNvPr id="433183" name="Line 31"/>
              <p:cNvSpPr>
                <a:spLocks noChangeShapeType="1"/>
              </p:cNvSpPr>
              <p:nvPr/>
            </p:nvSpPr>
            <p:spPr bwMode="auto">
              <a:xfrm flipH="1">
                <a:off x="1008" y="2304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184" name="Line 32"/>
              <p:cNvSpPr>
                <a:spLocks noChangeShapeType="1"/>
              </p:cNvSpPr>
              <p:nvPr/>
            </p:nvSpPr>
            <p:spPr bwMode="auto">
              <a:xfrm>
                <a:off x="1392" y="230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3185" name="Line 33"/>
            <p:cNvSpPr>
              <a:spLocks noChangeShapeType="1"/>
            </p:cNvSpPr>
            <p:nvPr/>
          </p:nvSpPr>
          <p:spPr bwMode="auto">
            <a:xfrm flipH="1">
              <a:off x="816" y="2832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6" name="Line 34"/>
            <p:cNvSpPr>
              <a:spLocks noChangeShapeType="1"/>
            </p:cNvSpPr>
            <p:nvPr/>
          </p:nvSpPr>
          <p:spPr bwMode="auto">
            <a:xfrm>
              <a:off x="912" y="2839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7" name="Line 35"/>
            <p:cNvSpPr>
              <a:spLocks noChangeShapeType="1"/>
            </p:cNvSpPr>
            <p:nvPr/>
          </p:nvSpPr>
          <p:spPr bwMode="auto">
            <a:xfrm flipH="1">
              <a:off x="1413" y="2839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8" name="Line 36"/>
            <p:cNvSpPr>
              <a:spLocks noChangeShapeType="1"/>
            </p:cNvSpPr>
            <p:nvPr/>
          </p:nvSpPr>
          <p:spPr bwMode="auto">
            <a:xfrm>
              <a:off x="1509" y="2839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9" name="Line 37"/>
            <p:cNvSpPr>
              <a:spLocks noChangeShapeType="1"/>
            </p:cNvSpPr>
            <p:nvPr/>
          </p:nvSpPr>
          <p:spPr bwMode="auto">
            <a:xfrm flipH="1">
              <a:off x="1999" y="2837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0" name="Line 38"/>
            <p:cNvSpPr>
              <a:spLocks noChangeShapeType="1"/>
            </p:cNvSpPr>
            <p:nvPr/>
          </p:nvSpPr>
          <p:spPr bwMode="auto">
            <a:xfrm>
              <a:off x="2095" y="2837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1" name="Line 39"/>
            <p:cNvSpPr>
              <a:spLocks noChangeShapeType="1"/>
            </p:cNvSpPr>
            <p:nvPr/>
          </p:nvSpPr>
          <p:spPr bwMode="auto">
            <a:xfrm flipH="1">
              <a:off x="2578" y="2835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2" name="Line 40"/>
            <p:cNvSpPr>
              <a:spLocks noChangeShapeType="1"/>
            </p:cNvSpPr>
            <p:nvPr/>
          </p:nvSpPr>
          <p:spPr bwMode="auto">
            <a:xfrm>
              <a:off x="2674" y="2835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3193" name="Text Box 41"/>
          <p:cNvSpPr txBox="1">
            <a:spLocks noChangeArrowheads="1"/>
          </p:cNvSpPr>
          <p:nvPr/>
        </p:nvSpPr>
        <p:spPr bwMode="auto">
          <a:xfrm>
            <a:off x="774700" y="2378075"/>
            <a:ext cx="844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Height</a:t>
            </a:r>
          </a:p>
        </p:txBody>
      </p:sp>
      <p:sp>
        <p:nvSpPr>
          <p:cNvPr id="433194" name="Text Box 42"/>
          <p:cNvSpPr txBox="1">
            <a:spLocks noChangeArrowheads="1"/>
          </p:cNvSpPr>
          <p:nvPr/>
        </p:nvSpPr>
        <p:spPr bwMode="auto">
          <a:xfrm>
            <a:off x="6013450" y="2378075"/>
            <a:ext cx="73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Level</a:t>
            </a:r>
          </a:p>
        </p:txBody>
      </p:sp>
      <p:sp>
        <p:nvSpPr>
          <p:cNvPr id="433195" name="Text Box 43"/>
          <p:cNvSpPr txBox="1">
            <a:spLocks noChangeArrowheads="1"/>
          </p:cNvSpPr>
          <p:nvPr/>
        </p:nvSpPr>
        <p:spPr bwMode="auto">
          <a:xfrm>
            <a:off x="850900" y="2792413"/>
            <a:ext cx="1477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</a:t>
            </a:r>
            <a:r>
              <a:rPr lang="en-US" baseline="-25000"/>
              <a:t>0</a:t>
            </a:r>
            <a:r>
              <a:rPr lang="en-US"/>
              <a:t> = 3 (</a:t>
            </a:r>
            <a:r>
              <a:rPr lang="en-US">
                <a:sym typeface="Symbol" panose="05050102010706020507" pitchFamily="18" charset="2"/>
              </a:rPr>
              <a:t>lgn</a:t>
            </a:r>
            <a:r>
              <a:rPr lang="en-US"/>
              <a:t>)</a:t>
            </a:r>
          </a:p>
        </p:txBody>
      </p:sp>
      <p:sp>
        <p:nvSpPr>
          <p:cNvPr id="433196" name="Text Box 44"/>
          <p:cNvSpPr txBox="1">
            <a:spLocks noChangeArrowheads="1"/>
          </p:cNvSpPr>
          <p:nvPr/>
        </p:nvSpPr>
        <p:spPr bwMode="auto">
          <a:xfrm>
            <a:off x="850900" y="3394075"/>
            <a:ext cx="7826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</a:t>
            </a:r>
            <a:r>
              <a:rPr lang="en-US" baseline="-25000"/>
              <a:t>1</a:t>
            </a:r>
            <a:r>
              <a:rPr lang="en-US"/>
              <a:t> = 2</a:t>
            </a:r>
          </a:p>
        </p:txBody>
      </p:sp>
      <p:sp>
        <p:nvSpPr>
          <p:cNvPr id="433197" name="Text Box 45"/>
          <p:cNvSpPr txBox="1">
            <a:spLocks noChangeArrowheads="1"/>
          </p:cNvSpPr>
          <p:nvPr/>
        </p:nvSpPr>
        <p:spPr bwMode="auto">
          <a:xfrm>
            <a:off x="850900" y="4252913"/>
            <a:ext cx="7826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</a:t>
            </a:r>
            <a:r>
              <a:rPr lang="en-US" baseline="-25000"/>
              <a:t>2</a:t>
            </a:r>
            <a:r>
              <a:rPr lang="en-US"/>
              <a:t> = 1</a:t>
            </a:r>
          </a:p>
        </p:txBody>
      </p:sp>
      <p:sp>
        <p:nvSpPr>
          <p:cNvPr id="433198" name="Text Box 46"/>
          <p:cNvSpPr txBox="1">
            <a:spLocks noChangeArrowheads="1"/>
          </p:cNvSpPr>
          <p:nvPr/>
        </p:nvSpPr>
        <p:spPr bwMode="auto">
          <a:xfrm>
            <a:off x="850900" y="5062538"/>
            <a:ext cx="7826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</a:t>
            </a:r>
            <a:r>
              <a:rPr lang="en-US" baseline="-25000"/>
              <a:t>3</a:t>
            </a:r>
            <a:r>
              <a:rPr lang="en-US"/>
              <a:t> = 0</a:t>
            </a:r>
          </a:p>
        </p:txBody>
      </p:sp>
      <p:sp>
        <p:nvSpPr>
          <p:cNvPr id="433199" name="Text Box 47"/>
          <p:cNvSpPr txBox="1">
            <a:spLocks noChangeArrowheads="1"/>
          </p:cNvSpPr>
          <p:nvPr/>
        </p:nvSpPr>
        <p:spPr bwMode="auto">
          <a:xfrm>
            <a:off x="6070600" y="2792413"/>
            <a:ext cx="622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 = 0</a:t>
            </a:r>
          </a:p>
        </p:txBody>
      </p:sp>
      <p:sp>
        <p:nvSpPr>
          <p:cNvPr id="433200" name="Text Box 48"/>
          <p:cNvSpPr txBox="1">
            <a:spLocks noChangeArrowheads="1"/>
          </p:cNvSpPr>
          <p:nvPr/>
        </p:nvSpPr>
        <p:spPr bwMode="auto">
          <a:xfrm>
            <a:off x="6070600" y="3390900"/>
            <a:ext cx="622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 = 1</a:t>
            </a:r>
          </a:p>
        </p:txBody>
      </p:sp>
      <p:sp>
        <p:nvSpPr>
          <p:cNvPr id="433201" name="Text Box 49"/>
          <p:cNvSpPr txBox="1">
            <a:spLocks noChangeArrowheads="1"/>
          </p:cNvSpPr>
          <p:nvPr/>
        </p:nvSpPr>
        <p:spPr bwMode="auto">
          <a:xfrm>
            <a:off x="6070600" y="4249738"/>
            <a:ext cx="622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 = 2</a:t>
            </a:r>
          </a:p>
        </p:txBody>
      </p:sp>
      <p:sp>
        <p:nvSpPr>
          <p:cNvPr id="433202" name="Text Box 50"/>
          <p:cNvSpPr txBox="1">
            <a:spLocks noChangeArrowheads="1"/>
          </p:cNvSpPr>
          <p:nvPr/>
        </p:nvSpPr>
        <p:spPr bwMode="auto">
          <a:xfrm>
            <a:off x="6070600" y="5064125"/>
            <a:ext cx="1393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 = 3  </a:t>
            </a:r>
            <a:r>
              <a:rPr lang="en-US">
                <a:latin typeface="Comic Sans MS" panose="030F0702030302020204" pitchFamily="66" charset="0"/>
              </a:rPr>
              <a:t>(</a:t>
            </a:r>
            <a:r>
              <a:rPr lang="en-US">
                <a:latin typeface="Comic Sans MS" panose="030F0702030302020204" pitchFamily="66" charset="0"/>
                <a:sym typeface="Symbol" panose="05050102010706020507" pitchFamily="18" charset="2"/>
              </a:rPr>
              <a:t>lgn</a:t>
            </a:r>
            <a:r>
              <a:rPr lang="en-US">
                <a:latin typeface="Comic Sans MS" panose="030F0702030302020204" pitchFamily="66" charset="0"/>
              </a:rPr>
              <a:t>)</a:t>
            </a:r>
          </a:p>
        </p:txBody>
      </p:sp>
      <p:sp>
        <p:nvSpPr>
          <p:cNvPr id="433203" name="Line 51"/>
          <p:cNvSpPr>
            <a:spLocks noChangeShapeType="1"/>
          </p:cNvSpPr>
          <p:nvPr/>
        </p:nvSpPr>
        <p:spPr bwMode="auto">
          <a:xfrm>
            <a:off x="655638" y="2735263"/>
            <a:ext cx="1104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204" name="Line 52"/>
          <p:cNvSpPr>
            <a:spLocks noChangeShapeType="1"/>
          </p:cNvSpPr>
          <p:nvPr/>
        </p:nvSpPr>
        <p:spPr bwMode="auto">
          <a:xfrm>
            <a:off x="5853113" y="2732088"/>
            <a:ext cx="1104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205" name="Text Box 53"/>
          <p:cNvSpPr txBox="1">
            <a:spLocks noChangeArrowheads="1"/>
          </p:cNvSpPr>
          <p:nvPr/>
        </p:nvSpPr>
        <p:spPr bwMode="auto">
          <a:xfrm>
            <a:off x="7288213" y="2386013"/>
            <a:ext cx="1479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No. of nodes</a:t>
            </a:r>
          </a:p>
        </p:txBody>
      </p:sp>
      <p:sp>
        <p:nvSpPr>
          <p:cNvPr id="433206" name="Text Box 54"/>
          <p:cNvSpPr txBox="1">
            <a:spLocks noChangeArrowheads="1"/>
          </p:cNvSpPr>
          <p:nvPr/>
        </p:nvSpPr>
        <p:spPr bwMode="auto">
          <a:xfrm>
            <a:off x="7767638" y="2800350"/>
            <a:ext cx="395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r>
              <a:rPr lang="en-US" baseline="30000"/>
              <a:t>0</a:t>
            </a:r>
            <a:endParaRPr lang="en-US"/>
          </a:p>
        </p:txBody>
      </p:sp>
      <p:sp>
        <p:nvSpPr>
          <p:cNvPr id="433207" name="Text Box 55"/>
          <p:cNvSpPr txBox="1">
            <a:spLocks noChangeArrowheads="1"/>
          </p:cNvSpPr>
          <p:nvPr/>
        </p:nvSpPr>
        <p:spPr bwMode="auto">
          <a:xfrm>
            <a:off x="7767638" y="3398838"/>
            <a:ext cx="395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r>
              <a:rPr lang="en-US" baseline="30000"/>
              <a:t>1</a:t>
            </a:r>
            <a:endParaRPr lang="en-US"/>
          </a:p>
        </p:txBody>
      </p:sp>
      <p:sp>
        <p:nvSpPr>
          <p:cNvPr id="433208" name="Text Box 56"/>
          <p:cNvSpPr txBox="1">
            <a:spLocks noChangeArrowheads="1"/>
          </p:cNvSpPr>
          <p:nvPr/>
        </p:nvSpPr>
        <p:spPr bwMode="auto">
          <a:xfrm>
            <a:off x="7767638" y="4257675"/>
            <a:ext cx="395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r>
              <a:rPr lang="en-US" baseline="30000"/>
              <a:t>2</a:t>
            </a:r>
            <a:endParaRPr lang="en-US"/>
          </a:p>
        </p:txBody>
      </p:sp>
      <p:sp>
        <p:nvSpPr>
          <p:cNvPr id="433209" name="Text Box 57"/>
          <p:cNvSpPr txBox="1">
            <a:spLocks noChangeArrowheads="1"/>
          </p:cNvSpPr>
          <p:nvPr/>
        </p:nvSpPr>
        <p:spPr bwMode="auto">
          <a:xfrm>
            <a:off x="7767638" y="5067300"/>
            <a:ext cx="395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2</a:t>
            </a:r>
            <a:r>
              <a:rPr lang="en-US" baseline="30000"/>
              <a:t>3</a:t>
            </a:r>
            <a:endParaRPr lang="en-US"/>
          </a:p>
        </p:txBody>
      </p:sp>
      <p:sp>
        <p:nvSpPr>
          <p:cNvPr id="433210" name="Line 58"/>
          <p:cNvSpPr>
            <a:spLocks noChangeShapeType="1"/>
          </p:cNvSpPr>
          <p:nvPr/>
        </p:nvSpPr>
        <p:spPr bwMode="auto">
          <a:xfrm>
            <a:off x="7127875" y="2740025"/>
            <a:ext cx="1774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211" name="Text Box 59"/>
          <p:cNvSpPr txBox="1">
            <a:spLocks noChangeArrowheads="1"/>
          </p:cNvSpPr>
          <p:nvPr/>
        </p:nvSpPr>
        <p:spPr bwMode="auto">
          <a:xfrm>
            <a:off x="984250" y="5656263"/>
            <a:ext cx="63785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/>
              <a:t>h</a:t>
            </a:r>
            <a:r>
              <a:rPr lang="en-US" sz="2400" baseline="-25000"/>
              <a:t>i</a:t>
            </a:r>
            <a:r>
              <a:rPr lang="en-US" sz="2400"/>
              <a:t> = h – i   height of the heap rooted at level i</a:t>
            </a:r>
          </a:p>
          <a:p>
            <a:r>
              <a:rPr lang="en-US" sz="2400"/>
              <a:t>n</a:t>
            </a:r>
            <a:r>
              <a:rPr lang="en-US" sz="2400" baseline="-25000"/>
              <a:t>i</a:t>
            </a:r>
            <a:r>
              <a:rPr lang="en-US" sz="2400"/>
              <a:t> = 2</a:t>
            </a:r>
            <a:r>
              <a:rPr lang="en-US" sz="2400" baseline="30000"/>
              <a:t>i</a:t>
            </a:r>
            <a:r>
              <a:rPr lang="en-US" sz="2400"/>
              <a:t>	      number of nodes at level i</a:t>
            </a:r>
          </a:p>
        </p:txBody>
      </p:sp>
      <p:graphicFrame>
        <p:nvGraphicFramePr>
          <p:cNvPr id="433212" name="Object 60"/>
          <p:cNvGraphicFramePr>
            <a:graphicFrameLocks noGrp="1" noChangeAspect="1"/>
          </p:cNvGraphicFramePr>
          <p:nvPr>
            <p:ph sz="half" idx="2"/>
          </p:nvPr>
        </p:nvGraphicFramePr>
        <p:xfrm>
          <a:off x="2897188" y="1787525"/>
          <a:ext cx="216693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5" name="Equation" r:id="rId4" imgW="1054080" imgH="431640" progId="Equation.3">
                  <p:embed/>
                </p:oleObj>
              </mc:Choice>
              <mc:Fallback>
                <p:oleObj name="Equation" r:id="rId4" imgW="1054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8" y="1787525"/>
                        <a:ext cx="2166937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213" name="Object 6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108575" y="1849438"/>
          <a:ext cx="149701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6" name="Equation" r:id="rId6" imgW="825480" imgH="431640" progId="Equation.3">
                  <p:embed/>
                </p:oleObj>
              </mc:Choice>
              <mc:Fallback>
                <p:oleObj name="Equation" r:id="rId6" imgW="825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575" y="1849438"/>
                        <a:ext cx="149701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214" name="Object 62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634163" y="2016125"/>
          <a:ext cx="9715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7" name="Equation" r:id="rId8" imgW="457200" imgH="203040" progId="Equation.3">
                  <p:embed/>
                </p:oleObj>
              </mc:Choice>
              <mc:Fallback>
                <p:oleObj name="Equation" r:id="rId8" imgW="4572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163" y="2016125"/>
                        <a:ext cx="9715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3219" name="AutoShape 67"/>
          <p:cNvCxnSpPr>
            <a:cxnSpLocks noChangeShapeType="1"/>
            <a:stCxn id="433206" idx="2"/>
            <a:endCxn id="433195" idx="2"/>
          </p:cNvCxnSpPr>
          <p:nvPr/>
        </p:nvCxnSpPr>
        <p:spPr bwMode="auto">
          <a:xfrm rot="16200000" flipV="1">
            <a:off x="4774406" y="-24606"/>
            <a:ext cx="7938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220" name="AutoShape 68"/>
          <p:cNvCxnSpPr>
            <a:cxnSpLocks noChangeShapeType="1"/>
          </p:cNvCxnSpPr>
          <p:nvPr/>
        </p:nvCxnSpPr>
        <p:spPr bwMode="auto">
          <a:xfrm rot="16200000" flipV="1">
            <a:off x="4777581" y="592932"/>
            <a:ext cx="7937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221" name="AutoShape 69"/>
          <p:cNvCxnSpPr>
            <a:cxnSpLocks noChangeShapeType="1"/>
          </p:cNvCxnSpPr>
          <p:nvPr/>
        </p:nvCxnSpPr>
        <p:spPr bwMode="auto">
          <a:xfrm rot="16200000" flipV="1">
            <a:off x="4631531" y="1435894"/>
            <a:ext cx="7938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222" name="AutoShape 70"/>
          <p:cNvCxnSpPr>
            <a:cxnSpLocks noChangeShapeType="1"/>
          </p:cNvCxnSpPr>
          <p:nvPr/>
        </p:nvCxnSpPr>
        <p:spPr bwMode="auto">
          <a:xfrm rot="16200000" flipV="1">
            <a:off x="4634706" y="2242344"/>
            <a:ext cx="7938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6332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z="3600"/>
              <a:t>Running Time of BUILD MAX HEAP</a:t>
            </a:r>
          </a:p>
        </p:txBody>
      </p:sp>
      <p:grpSp>
        <p:nvGrpSpPr>
          <p:cNvPr id="434179" name="Group 3"/>
          <p:cNvGrpSpPr>
            <a:grpSpLocks/>
          </p:cNvGrpSpPr>
          <p:nvPr/>
        </p:nvGrpSpPr>
        <p:grpSpPr bwMode="auto">
          <a:xfrm>
            <a:off x="455945" y="651650"/>
            <a:ext cx="8326437" cy="806450"/>
            <a:chOff x="313" y="768"/>
            <a:chExt cx="5245" cy="508"/>
          </a:xfrm>
        </p:grpSpPr>
        <p:graphicFrame>
          <p:nvGraphicFramePr>
            <p:cNvPr id="434180" name="Object 4"/>
            <p:cNvGraphicFramePr>
              <a:graphicFrameLocks noChangeAspect="1"/>
            </p:cNvGraphicFramePr>
            <p:nvPr/>
          </p:nvGraphicFramePr>
          <p:xfrm>
            <a:off x="313" y="768"/>
            <a:ext cx="1031" cy="5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5" name="Equation" r:id="rId4" imgW="876240" imgH="431640" progId="Equation.3">
                    <p:embed/>
                  </p:oleObj>
                </mc:Choice>
                <mc:Fallback>
                  <p:oleObj name="Equation" r:id="rId4" imgW="87624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" y="768"/>
                          <a:ext cx="1031" cy="5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81" name="Text Box 5"/>
            <p:cNvSpPr txBox="1">
              <a:spLocks noChangeArrowheads="1"/>
            </p:cNvSpPr>
            <p:nvPr/>
          </p:nvSpPr>
          <p:spPr bwMode="auto">
            <a:xfrm>
              <a:off x="1754" y="894"/>
              <a:ext cx="38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Cost of HEAPIFY at level i </a:t>
              </a:r>
              <a:r>
                <a:rPr lang="en-US">
                  <a:sym typeface="Symbol" panose="05050102010706020507" pitchFamily="18" charset="2"/>
                </a:rPr>
                <a:t> number of nodes at that level</a:t>
              </a:r>
            </a:p>
          </p:txBody>
        </p:sp>
      </p:grpSp>
      <p:grpSp>
        <p:nvGrpSpPr>
          <p:cNvPr id="434182" name="Group 6"/>
          <p:cNvGrpSpPr>
            <a:grpSpLocks/>
          </p:cNvGrpSpPr>
          <p:nvPr/>
        </p:nvGrpSpPr>
        <p:grpSpPr bwMode="auto">
          <a:xfrm>
            <a:off x="1117600" y="1497787"/>
            <a:ext cx="6726238" cy="782638"/>
            <a:chOff x="704" y="1350"/>
            <a:chExt cx="4237" cy="493"/>
          </a:xfrm>
        </p:grpSpPr>
        <p:graphicFrame>
          <p:nvGraphicFramePr>
            <p:cNvPr id="434183" name="Object 7"/>
            <p:cNvGraphicFramePr>
              <a:graphicFrameLocks noChangeAspect="1"/>
            </p:cNvGraphicFramePr>
            <p:nvPr/>
          </p:nvGraphicFramePr>
          <p:xfrm>
            <a:off x="704" y="1350"/>
            <a:ext cx="943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6" name="Equation" r:id="rId6" imgW="825480" imgH="431640" progId="Equation.3">
                    <p:embed/>
                  </p:oleObj>
                </mc:Choice>
                <mc:Fallback>
                  <p:oleObj name="Equation" r:id="rId6" imgW="8254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1350"/>
                          <a:ext cx="943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84" name="Text Box 8"/>
            <p:cNvSpPr txBox="1">
              <a:spLocks noChangeArrowheads="1"/>
            </p:cNvSpPr>
            <p:nvPr/>
          </p:nvSpPr>
          <p:spPr bwMode="auto">
            <a:xfrm>
              <a:off x="1759" y="1468"/>
              <a:ext cx="31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Replace the values of n</a:t>
              </a:r>
              <a:r>
                <a:rPr lang="en-US" baseline="-25000"/>
                <a:t>i</a:t>
              </a:r>
              <a:r>
                <a:rPr lang="en-US"/>
                <a:t> and h</a:t>
              </a:r>
              <a:r>
                <a:rPr lang="en-US" baseline="-25000"/>
                <a:t>i</a:t>
              </a:r>
              <a:r>
                <a:rPr lang="en-US"/>
                <a:t> computed before</a:t>
              </a:r>
              <a:endParaRPr lang="en-US">
                <a:sym typeface="Symbol" panose="05050102010706020507" pitchFamily="18" charset="2"/>
              </a:endParaRPr>
            </a:p>
          </p:txBody>
        </p:sp>
      </p:grpSp>
      <p:grpSp>
        <p:nvGrpSpPr>
          <p:cNvPr id="434185" name="Group 9"/>
          <p:cNvGrpSpPr>
            <a:grpSpLocks/>
          </p:cNvGrpSpPr>
          <p:nvPr/>
        </p:nvGrpSpPr>
        <p:grpSpPr bwMode="auto">
          <a:xfrm>
            <a:off x="1117600" y="2313762"/>
            <a:ext cx="7666038" cy="968375"/>
            <a:chOff x="704" y="1892"/>
            <a:chExt cx="4829" cy="610"/>
          </a:xfrm>
        </p:grpSpPr>
        <p:graphicFrame>
          <p:nvGraphicFramePr>
            <p:cNvPr id="434186" name="Object 10"/>
            <p:cNvGraphicFramePr>
              <a:graphicFrameLocks noChangeAspect="1"/>
            </p:cNvGraphicFramePr>
            <p:nvPr/>
          </p:nvGraphicFramePr>
          <p:xfrm>
            <a:off x="704" y="1892"/>
            <a:ext cx="962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7" name="Equation" r:id="rId8" imgW="761760" imgH="431640" progId="Equation.3">
                    <p:embed/>
                  </p:oleObj>
                </mc:Choice>
                <mc:Fallback>
                  <p:oleObj name="Equation" r:id="rId8" imgW="76176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1892"/>
                          <a:ext cx="962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87" name="Text Box 11"/>
            <p:cNvSpPr txBox="1">
              <a:spLocks noChangeArrowheads="1"/>
            </p:cNvSpPr>
            <p:nvPr/>
          </p:nvSpPr>
          <p:spPr bwMode="auto">
            <a:xfrm>
              <a:off x="1764" y="1956"/>
              <a:ext cx="3769" cy="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/>
                <a:t>Multiply by 2</a:t>
              </a:r>
              <a:r>
                <a:rPr lang="en-US" baseline="30000"/>
                <a:t>h</a:t>
              </a:r>
              <a:r>
                <a:rPr lang="en-US"/>
                <a:t> both at the nominator and denominator and</a:t>
              </a:r>
            </a:p>
            <a:p>
              <a:pPr>
                <a:lnSpc>
                  <a:spcPct val="120000"/>
                </a:lnSpc>
              </a:pPr>
              <a:r>
                <a:rPr lang="en-US"/>
                <a:t>write 2</a:t>
              </a:r>
              <a:r>
                <a:rPr lang="en-US" baseline="30000"/>
                <a:t>i</a:t>
              </a:r>
              <a:r>
                <a:rPr lang="en-US"/>
                <a:t> as</a:t>
              </a:r>
              <a:endParaRPr lang="en-US">
                <a:sym typeface="Symbol" panose="05050102010706020507" pitchFamily="18" charset="2"/>
              </a:endParaRPr>
            </a:p>
          </p:txBody>
        </p:sp>
        <p:graphicFrame>
          <p:nvGraphicFramePr>
            <p:cNvPr id="434188" name="Object 12"/>
            <p:cNvGraphicFramePr>
              <a:graphicFrameLocks noChangeAspect="1"/>
            </p:cNvGraphicFramePr>
            <p:nvPr/>
          </p:nvGraphicFramePr>
          <p:xfrm>
            <a:off x="2504" y="2150"/>
            <a:ext cx="227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8" name="Equation" r:id="rId10" imgW="253800" imgH="393480" progId="Equation.3">
                    <p:embed/>
                  </p:oleObj>
                </mc:Choice>
                <mc:Fallback>
                  <p:oleObj name="Equation" r:id="rId10" imgW="25380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4" y="2150"/>
                          <a:ext cx="227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4189" name="Group 13"/>
          <p:cNvGrpSpPr>
            <a:grpSpLocks/>
          </p:cNvGrpSpPr>
          <p:nvPr/>
        </p:nvGrpSpPr>
        <p:grpSpPr bwMode="auto">
          <a:xfrm>
            <a:off x="1117600" y="3196412"/>
            <a:ext cx="4527550" cy="841375"/>
            <a:chOff x="704" y="2434"/>
            <a:chExt cx="2852" cy="530"/>
          </a:xfrm>
        </p:grpSpPr>
        <p:graphicFrame>
          <p:nvGraphicFramePr>
            <p:cNvPr id="434190" name="Object 14"/>
            <p:cNvGraphicFramePr>
              <a:graphicFrameLocks noChangeAspect="1"/>
            </p:cNvGraphicFramePr>
            <p:nvPr/>
          </p:nvGraphicFramePr>
          <p:xfrm>
            <a:off x="704" y="2434"/>
            <a:ext cx="826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9" name="Equation" r:id="rId12" imgW="672840" imgH="431640" progId="Equation.3">
                    <p:embed/>
                  </p:oleObj>
                </mc:Choice>
                <mc:Fallback>
                  <p:oleObj name="Equation" r:id="rId12" imgW="67284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2434"/>
                          <a:ext cx="826" cy="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91" name="Text Box 15"/>
            <p:cNvSpPr txBox="1">
              <a:spLocks noChangeArrowheads="1"/>
            </p:cNvSpPr>
            <p:nvPr/>
          </p:nvSpPr>
          <p:spPr bwMode="auto">
            <a:xfrm>
              <a:off x="1764" y="2619"/>
              <a:ext cx="17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Change variables: k = h - i</a:t>
              </a:r>
              <a:endParaRPr lang="en-US">
                <a:sym typeface="Symbol" panose="05050102010706020507" pitchFamily="18" charset="2"/>
              </a:endParaRPr>
            </a:p>
          </p:txBody>
        </p:sp>
      </p:grpSp>
      <p:grpSp>
        <p:nvGrpSpPr>
          <p:cNvPr id="434192" name="Group 16"/>
          <p:cNvGrpSpPr>
            <a:grpSpLocks/>
          </p:cNvGrpSpPr>
          <p:nvPr/>
        </p:nvGrpSpPr>
        <p:grpSpPr bwMode="auto">
          <a:xfrm>
            <a:off x="1117600" y="4101287"/>
            <a:ext cx="7872413" cy="854075"/>
            <a:chOff x="704" y="2976"/>
            <a:chExt cx="4959" cy="538"/>
          </a:xfrm>
        </p:grpSpPr>
        <p:graphicFrame>
          <p:nvGraphicFramePr>
            <p:cNvPr id="434193" name="Object 17"/>
            <p:cNvGraphicFramePr>
              <a:graphicFrameLocks noChangeAspect="1"/>
            </p:cNvGraphicFramePr>
            <p:nvPr/>
          </p:nvGraphicFramePr>
          <p:xfrm>
            <a:off x="704" y="2976"/>
            <a:ext cx="744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0" name="Equation" r:id="rId14" imgW="596880" imgH="431640" progId="Equation.3">
                    <p:embed/>
                  </p:oleObj>
                </mc:Choice>
                <mc:Fallback>
                  <p:oleObj name="Equation" r:id="rId14" imgW="5968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2976"/>
                          <a:ext cx="744" cy="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94" name="Text Box 18"/>
            <p:cNvSpPr txBox="1">
              <a:spLocks noChangeArrowheads="1"/>
            </p:cNvSpPr>
            <p:nvPr/>
          </p:nvSpPr>
          <p:spPr bwMode="auto">
            <a:xfrm>
              <a:off x="1764" y="3081"/>
              <a:ext cx="3899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The sum above is smaller than the sum of all elements to </a:t>
              </a:r>
              <a:r>
                <a:rPr lang="en-US">
                  <a:sym typeface="Symbol" panose="05050102010706020507" pitchFamily="18" charset="2"/>
                </a:rPr>
                <a:t></a:t>
              </a:r>
            </a:p>
            <a:p>
              <a:r>
                <a:rPr lang="en-US">
                  <a:sym typeface="Symbol" panose="05050102010706020507" pitchFamily="18" charset="2"/>
                </a:rPr>
                <a:t>and h = lgn</a:t>
              </a:r>
            </a:p>
          </p:txBody>
        </p:sp>
      </p:grpSp>
      <p:grpSp>
        <p:nvGrpSpPr>
          <p:cNvPr id="434195" name="Group 19"/>
          <p:cNvGrpSpPr>
            <a:grpSpLocks/>
          </p:cNvGrpSpPr>
          <p:nvPr/>
        </p:nvGrpSpPr>
        <p:grpSpPr bwMode="auto">
          <a:xfrm>
            <a:off x="1117600" y="5034737"/>
            <a:ext cx="5154613" cy="447675"/>
            <a:chOff x="704" y="3550"/>
            <a:chExt cx="3247" cy="282"/>
          </a:xfrm>
        </p:grpSpPr>
        <p:graphicFrame>
          <p:nvGraphicFramePr>
            <p:cNvPr id="434196" name="Object 20"/>
            <p:cNvGraphicFramePr>
              <a:graphicFrameLocks noChangeAspect="1"/>
            </p:cNvGraphicFramePr>
            <p:nvPr/>
          </p:nvGraphicFramePr>
          <p:xfrm>
            <a:off x="704" y="3560"/>
            <a:ext cx="61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" name="Equation" r:id="rId16" imgW="457200" imgH="203040" progId="Equation.3">
                    <p:embed/>
                  </p:oleObj>
                </mc:Choice>
                <mc:Fallback>
                  <p:oleObj name="Equation" r:id="rId16" imgW="45720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3560"/>
                          <a:ext cx="61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97" name="Text Box 21"/>
            <p:cNvSpPr txBox="1">
              <a:spLocks noChangeArrowheads="1"/>
            </p:cNvSpPr>
            <p:nvPr/>
          </p:nvSpPr>
          <p:spPr bwMode="auto">
            <a:xfrm>
              <a:off x="1755" y="3550"/>
              <a:ext cx="2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The sum above is smaller than 2</a:t>
              </a:r>
              <a:endParaRPr lang="en-US">
                <a:sym typeface="Symbol" panose="05050102010706020507" pitchFamily="18" charset="2"/>
              </a:endParaRPr>
            </a:p>
          </p:txBody>
        </p:sp>
      </p:grpSp>
      <p:sp>
        <p:nvSpPr>
          <p:cNvPr id="434198" name="Text Box 22"/>
          <p:cNvSpPr txBox="1">
            <a:spLocks noChangeArrowheads="1"/>
          </p:cNvSpPr>
          <p:nvPr/>
        </p:nvSpPr>
        <p:spPr bwMode="auto">
          <a:xfrm>
            <a:off x="1168400" y="6254991"/>
            <a:ext cx="671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Running time of BUILD-MAX-HEAP: </a:t>
            </a:r>
            <a:r>
              <a:rPr lang="en-US" sz="2400" dirty="0">
                <a:latin typeface="Comic Sans MS" panose="030F0702030302020204" pitchFamily="66" charset="0"/>
              </a:rPr>
              <a:t>T(n) = O(n)</a:t>
            </a:r>
          </a:p>
        </p:txBody>
      </p:sp>
      <p:pic>
        <p:nvPicPr>
          <p:cNvPr id="24" name="Picture 12"/>
          <p:cNvPicPr>
            <a:picLocks noChangeAspect="1" noChangeArrowheads="1"/>
          </p:cNvPicPr>
          <p:nvPr/>
        </p:nvPicPr>
        <p:blipFill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761013" y="5498170"/>
            <a:ext cx="5915025" cy="695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05330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5202" name="Object 2"/>
          <p:cNvGraphicFramePr>
            <a:graphicFrameLocks noChangeAspect="1"/>
          </p:cNvGraphicFramePr>
          <p:nvPr/>
        </p:nvGraphicFramePr>
        <p:xfrm>
          <a:off x="6518275" y="1693863"/>
          <a:ext cx="2457450" cy="14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Paint Shop Pro Image" r:id="rId4" imgW="3512195" imgH="2097561" progId="PaintShopPro">
                  <p:embed/>
                </p:oleObj>
              </mc:Choice>
              <mc:Fallback>
                <p:oleObj name="Paint Shop Pro Image" r:id="rId4" imgW="3512195" imgH="2097561" progId="PaintShopPro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8275" y="1693863"/>
                        <a:ext cx="2457450" cy="146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520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Heapsort</a:t>
            </a:r>
            <a:endParaRPr lang="en-US" b="1" dirty="0"/>
          </a:p>
        </p:txBody>
      </p:sp>
      <p:sp>
        <p:nvSpPr>
          <p:cNvPr id="4352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41313" y="1023938"/>
            <a:ext cx="8229600" cy="563245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/>
              <a:t>Goal:</a:t>
            </a:r>
          </a:p>
          <a:p>
            <a:pPr lvl="1">
              <a:lnSpc>
                <a:spcPct val="130000"/>
              </a:lnSpc>
            </a:pPr>
            <a:r>
              <a:rPr lang="en-US"/>
              <a:t>Sort an array using heap representations</a:t>
            </a:r>
          </a:p>
          <a:p>
            <a:pPr>
              <a:lnSpc>
                <a:spcPct val="130000"/>
              </a:lnSpc>
            </a:pPr>
            <a:r>
              <a:rPr lang="en-US"/>
              <a:t>Idea:</a:t>
            </a:r>
          </a:p>
          <a:p>
            <a:pPr lvl="1">
              <a:lnSpc>
                <a:spcPct val="130000"/>
              </a:lnSpc>
            </a:pPr>
            <a:r>
              <a:rPr lang="en-US"/>
              <a:t>Build a </a:t>
            </a:r>
            <a:r>
              <a:rPr lang="en-US" b="1"/>
              <a:t>max-heap</a:t>
            </a:r>
            <a:r>
              <a:rPr lang="en-US"/>
              <a:t> from the array</a:t>
            </a:r>
          </a:p>
          <a:p>
            <a:pPr lvl="1">
              <a:lnSpc>
                <a:spcPct val="130000"/>
              </a:lnSpc>
            </a:pPr>
            <a:r>
              <a:rPr lang="en-US"/>
              <a:t>Swap the root (the maximum element) with the last element in the array</a:t>
            </a:r>
          </a:p>
          <a:p>
            <a:pPr lvl="1">
              <a:lnSpc>
                <a:spcPct val="130000"/>
              </a:lnSpc>
            </a:pPr>
            <a:r>
              <a:rPr lang="en-US"/>
              <a:t>“Discard” this last node by decreasing the heap size</a:t>
            </a:r>
          </a:p>
          <a:p>
            <a:pPr lvl="1">
              <a:lnSpc>
                <a:spcPct val="130000"/>
              </a:lnSpc>
            </a:pPr>
            <a:r>
              <a:rPr lang="en-US"/>
              <a:t>Call MAX-HEAPIFY on the new root</a:t>
            </a:r>
          </a:p>
          <a:p>
            <a:pPr lvl="1">
              <a:lnSpc>
                <a:spcPct val="130000"/>
              </a:lnSpc>
            </a:pPr>
            <a:r>
              <a:rPr lang="en-US"/>
              <a:t>Repeat this process until only one node remains </a:t>
            </a:r>
          </a:p>
        </p:txBody>
      </p:sp>
    </p:spTree>
    <p:extLst>
      <p:ext uri="{BB962C8B-B14F-4D97-AF65-F5344CB8AC3E}">
        <p14:creationId xmlns:p14="http://schemas.microsoft.com/office/powerpoint/2010/main" val="146535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Heap Sort</a:t>
            </a:r>
            <a:endParaRPr lang="en-US" altLang="en-US" dirty="0" smtClean="0"/>
          </a:p>
        </p:txBody>
      </p:sp>
      <p:sp>
        <p:nvSpPr>
          <p:cNvPr id="30724" name="Rectangle 6"/>
          <p:cNvSpPr>
            <a:spLocks noChangeArrowheads="1"/>
          </p:cNvSpPr>
          <p:nvPr/>
        </p:nvSpPr>
        <p:spPr bwMode="auto">
          <a:xfrm>
            <a:off x="1459706" y="2121693"/>
            <a:ext cx="6189662" cy="2873375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8585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2875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7165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u="sng" dirty="0" err="1">
                <a:solidFill>
                  <a:srgbClr val="010000"/>
                </a:solidFill>
              </a:rPr>
              <a:t>HeapSort</a:t>
            </a:r>
            <a:r>
              <a:rPr lang="en-US" altLang="en-US" sz="2400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</a:rPr>
              <a:t>2.  </a:t>
            </a:r>
            <a:r>
              <a:rPr lang="en-US" altLang="en-US" sz="2400" b="1" dirty="0"/>
              <a:t>for</a:t>
            </a:r>
            <a:r>
              <a:rPr lang="en-US" altLang="en-US" sz="2400" dirty="0">
                <a:solidFill>
                  <a:srgbClr val="010000"/>
                </a:solidFill>
              </a:rPr>
              <a:t> </a:t>
            </a:r>
            <a:r>
              <a:rPr lang="en-US" altLang="en-US" sz="2400" dirty="0" err="1">
                <a:solidFill>
                  <a:srgbClr val="010000"/>
                </a:solidFill>
              </a:rPr>
              <a:t>i</a:t>
            </a:r>
            <a:r>
              <a:rPr lang="en-US" altLang="en-US" sz="2400" dirty="0">
                <a:solidFill>
                  <a:srgbClr val="010000"/>
                </a:solidFill>
              </a:rPr>
              <a:t> 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sz="2400" dirty="0">
                <a:solidFill>
                  <a:srgbClr val="010000"/>
                </a:solidFill>
              </a:rPr>
              <a:t> length[A] </a:t>
            </a:r>
            <a:r>
              <a:rPr lang="en-US" altLang="en-US" sz="2400" b="1" dirty="0" err="1">
                <a:solidFill>
                  <a:srgbClr val="010000"/>
                </a:solidFill>
              </a:rPr>
              <a:t>downto</a:t>
            </a:r>
            <a:r>
              <a:rPr lang="en-US" altLang="en-US" sz="2400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</a:rPr>
              <a:t>3.       </a:t>
            </a:r>
            <a:r>
              <a:rPr lang="en-US" altLang="en-US" sz="2400" b="1" dirty="0"/>
              <a:t>do</a:t>
            </a:r>
            <a:r>
              <a:rPr lang="en-US" altLang="en-US" sz="2400" dirty="0">
                <a:solidFill>
                  <a:srgbClr val="010000"/>
                </a:solidFill>
              </a:rPr>
              <a:t> exchange </a:t>
            </a:r>
            <a:r>
              <a:rPr lang="en-US" altLang="en-US" sz="20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20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sz="2400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sz="2400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20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sz="2400" baseline="30000" dirty="0">
              <a:solidFill>
                <a:srgbClr val="01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87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5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9157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1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62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69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70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71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2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73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74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5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76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77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78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79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80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81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82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83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84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85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86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87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0092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" name="Rectangle 60"/>
          <p:cNvSpPr/>
          <p:nvPr/>
        </p:nvSpPr>
        <p:spPr>
          <a:xfrm>
            <a:off x="709445" y="3465731"/>
            <a:ext cx="2163651" cy="320675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63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70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sp>
          <p:nvSpPr>
            <p:cNvPr id="71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  <p:sp>
          <p:nvSpPr>
            <p:cNvPr id="72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</a:t>
              </a:r>
            </a:p>
          </p:txBody>
        </p:sp>
        <p:sp>
          <p:nvSpPr>
            <p:cNvPr id="73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16</a:t>
              </a:r>
            </a:p>
          </p:txBody>
        </p:sp>
        <p:sp>
          <p:nvSpPr>
            <p:cNvPr id="74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</a:t>
              </a:r>
            </a:p>
          </p:txBody>
        </p:sp>
        <p:sp>
          <p:nvSpPr>
            <p:cNvPr id="75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6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sp>
          <p:nvSpPr>
            <p:cNvPr id="77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78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</a:t>
              </a:r>
            </a:p>
          </p:txBody>
        </p:sp>
        <p:sp>
          <p:nvSpPr>
            <p:cNvPr id="79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80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81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82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83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84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85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86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87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88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6728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graphicFrame>
        <p:nvGraphicFramePr>
          <p:cNvPr id="88" name="Table 87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709445" y="3465731"/>
            <a:ext cx="2163651" cy="320675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89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8762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6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7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8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9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50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1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2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3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4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5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6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7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8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60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1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2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163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6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7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8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9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50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1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2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3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4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5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6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7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8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60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1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2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74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6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7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8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9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0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1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</a:t>
              </a:r>
            </a:p>
          </p:txBody>
        </p:sp>
        <p:sp>
          <p:nvSpPr>
            <p:cNvPr id="52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3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4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5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6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7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8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60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1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2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61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8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6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7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8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9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0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1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2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3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4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5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6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7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8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9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60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1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2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1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51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2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36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54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=9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2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3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9</a:t>
              </a:r>
              <a:endParaRPr lang="en-US" dirty="0"/>
            </a:p>
          </p:txBody>
        </p:sp>
        <p:sp>
          <p:nvSpPr>
            <p:cNvPr id="49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50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2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3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4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6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8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8549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=8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 bwMode="auto">
            <a:xfrm flipV="1">
              <a:off x="450" y="937"/>
              <a:ext cx="801" cy="7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1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2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3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5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6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9</a:t>
              </a:r>
              <a:endParaRPr lang="en-US" dirty="0"/>
            </a:p>
          </p:txBody>
        </p:sp>
        <p:sp>
          <p:nvSpPr>
            <p:cNvPr id="47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50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2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3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4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5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6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7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8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9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3215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=7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60" y="903"/>
              <a:ext cx="533" cy="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 bwMode="auto">
            <a:xfrm flipV="1">
              <a:off x="450" y="937"/>
              <a:ext cx="801" cy="7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1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2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3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7</a:t>
              </a:r>
              <a:endParaRPr lang="en-US" dirty="0"/>
            </a:p>
          </p:txBody>
        </p:sp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5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6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8</a:t>
              </a:r>
              <a:endParaRPr lang="en-US" dirty="0"/>
            </a:p>
          </p:txBody>
        </p:sp>
        <p:sp>
          <p:nvSpPr>
            <p:cNvPr id="47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2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3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4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5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6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7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8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9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6140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=6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7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60" y="903"/>
              <a:ext cx="533" cy="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 bwMode="auto">
            <a:xfrm flipV="1">
              <a:off x="450" y="937"/>
              <a:ext cx="801" cy="7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1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2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3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5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6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0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2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3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4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5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6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7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8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9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3365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=5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60" y="903"/>
              <a:ext cx="533" cy="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1"/>
            <p:cNvSpPr>
              <a:spLocks noChangeShapeType="1"/>
            </p:cNvSpPr>
            <p:nvPr/>
          </p:nvSpPr>
          <p:spPr bwMode="auto">
            <a:xfrm flipV="1">
              <a:off x="450" y="937"/>
              <a:ext cx="801" cy="7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9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0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1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2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3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4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45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6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7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8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49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0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1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2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3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4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5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6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7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4244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5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60" y="903"/>
              <a:ext cx="533" cy="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11"/>
            <p:cNvSpPr>
              <a:spLocks noChangeShapeType="1"/>
            </p:cNvSpPr>
            <p:nvPr/>
          </p:nvSpPr>
          <p:spPr bwMode="auto">
            <a:xfrm flipV="1">
              <a:off x="761" y="937"/>
              <a:ext cx="490" cy="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8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39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0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1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2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3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4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5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6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48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49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0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1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2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3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4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5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6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9533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=3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Line 11"/>
            <p:cNvSpPr>
              <a:spLocks noChangeShapeType="1"/>
            </p:cNvSpPr>
            <p:nvPr/>
          </p:nvSpPr>
          <p:spPr bwMode="auto">
            <a:xfrm flipV="1">
              <a:off x="761" y="937"/>
              <a:ext cx="490" cy="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8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39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0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1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2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3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4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5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6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48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49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0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1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2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3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4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5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6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4386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954490" y="5660935"/>
            <a:ext cx="1764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=2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6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7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38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39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0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1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2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3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4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5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6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47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48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49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0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1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2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3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4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5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8134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35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6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37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38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39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0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1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2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43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5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46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47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48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49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0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1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2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53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54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88555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Heap Sort</a:t>
            </a:r>
            <a:endParaRPr lang="en-CA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1739648" y="1306848"/>
          <a:ext cx="525959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9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14338" y="3141663"/>
            <a:ext cx="5334000" cy="2212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u="sng" dirty="0" err="1">
                <a:solidFill>
                  <a:srgbClr val="010000"/>
                </a:solidFill>
              </a:rPr>
              <a:t>HeapSort</a:t>
            </a:r>
            <a:r>
              <a:rPr lang="en-US" altLang="en-US" u="sng" dirty="0">
                <a:solidFill>
                  <a:srgbClr val="010000"/>
                </a:solidFill>
              </a:rPr>
              <a:t>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1.  Build-Max-Heap(A)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2.  </a:t>
            </a:r>
            <a:r>
              <a:rPr lang="en-US" altLang="en-US" b="1" dirty="0"/>
              <a:t>for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 err="1">
                <a:solidFill>
                  <a:srgbClr val="010000"/>
                </a:solidFill>
              </a:rPr>
              <a:t>i</a:t>
            </a:r>
            <a:r>
              <a:rPr lang="en-US" altLang="en-US" dirty="0">
                <a:solidFill>
                  <a:srgbClr val="010000"/>
                </a:solidFill>
              </a:rPr>
              <a:t> 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10000"/>
                </a:solidFill>
              </a:rPr>
              <a:t> length[A] </a:t>
            </a:r>
            <a:r>
              <a:rPr lang="en-US" altLang="en-US" b="1" dirty="0" err="1">
                <a:solidFill>
                  <a:srgbClr val="010000"/>
                </a:solidFill>
              </a:rPr>
              <a:t>downto</a:t>
            </a:r>
            <a:r>
              <a:rPr lang="en-US" altLang="en-US" dirty="0">
                <a:solidFill>
                  <a:srgbClr val="010000"/>
                </a:solidFill>
              </a:rPr>
              <a:t> 2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</a:rPr>
              <a:t>3.       </a:t>
            </a:r>
            <a:r>
              <a:rPr lang="en-US" altLang="en-US" b="1" dirty="0"/>
              <a:t>do</a:t>
            </a:r>
            <a:r>
              <a:rPr lang="en-US" altLang="en-US" dirty="0">
                <a:solidFill>
                  <a:srgbClr val="010000"/>
                </a:solidFill>
              </a:rPr>
              <a:t> exchange 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A[1]  A[</a:t>
            </a:r>
            <a:r>
              <a:rPr lang="en-US" altLang="en-US" sz="1600" dirty="0" err="1">
                <a:solidFill>
                  <a:srgbClr val="01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1600" dirty="0">
                <a:solidFill>
                  <a:srgbClr val="010000"/>
                </a:solidFill>
                <a:sym typeface="Symbol" panose="05050102010706020507" pitchFamily="18" charset="2"/>
              </a:rPr>
              <a:t>]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4.              heap-size[A]  heap-size[A] – 1</a:t>
            </a:r>
          </a:p>
          <a:p>
            <a:pPr>
              <a:buClrTx/>
              <a:buSzTx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5.              </a:t>
            </a:r>
            <a:r>
              <a:rPr lang="en-US" altLang="en-US" dirty="0" err="1">
                <a:solidFill>
                  <a:srgbClr val="010000"/>
                </a:solidFill>
                <a:sym typeface="Symbol" panose="05050102010706020507" pitchFamily="18" charset="2"/>
              </a:rPr>
              <a:t>MaxHeapify</a:t>
            </a:r>
            <a:r>
              <a:rPr lang="en-US" altLang="en-US" dirty="0">
                <a:solidFill>
                  <a:srgbClr val="010000"/>
                </a:solidFill>
                <a:sym typeface="Symbol" panose="05050102010706020507" pitchFamily="18" charset="2"/>
              </a:rPr>
              <a:t>(A, 1)</a:t>
            </a:r>
            <a:endParaRPr lang="en-US" altLang="en-US" sz="1600" dirty="0">
              <a:solidFill>
                <a:srgbClr val="010000"/>
              </a:solidFill>
              <a:sym typeface="Symbol" panose="05050102010706020507" pitchFamily="18" charset="2"/>
            </a:endParaRPr>
          </a:p>
          <a:p>
            <a:pPr algn="ctr">
              <a:buClrTx/>
              <a:buSzTx/>
              <a:buFont typeface="Wingdings" panose="05000000000000000000" pitchFamily="2" charset="2"/>
              <a:buNone/>
            </a:pPr>
            <a:endParaRPr lang="en-US" altLang="en-US" baseline="30000" dirty="0">
              <a:solidFill>
                <a:srgbClr val="01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09445" y="3888004"/>
            <a:ext cx="3481556" cy="125720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09445" y="3465731"/>
            <a:ext cx="2163651" cy="320675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Box 6"/>
          <p:cNvSpPr txBox="1">
            <a:spLocks noChangeArrowheads="1"/>
          </p:cNvSpPr>
          <p:nvPr/>
        </p:nvSpPr>
        <p:spPr bwMode="auto">
          <a:xfrm>
            <a:off x="3499689" y="2838687"/>
            <a:ext cx="963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800" b="1" dirty="0" smtClean="0"/>
              <a:t>O(N)</a:t>
            </a:r>
            <a:endParaRPr lang="en-US" sz="2800" b="1" dirty="0"/>
          </a:p>
        </p:txBody>
      </p:sp>
      <p:sp>
        <p:nvSpPr>
          <p:cNvPr id="36" name="Text Box 6"/>
          <p:cNvSpPr txBox="1">
            <a:spLocks noChangeArrowheads="1"/>
          </p:cNvSpPr>
          <p:nvPr/>
        </p:nvSpPr>
        <p:spPr bwMode="auto">
          <a:xfrm>
            <a:off x="4927355" y="5766275"/>
            <a:ext cx="16818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800" b="1" dirty="0" smtClean="0"/>
              <a:t>O(</a:t>
            </a:r>
            <a:r>
              <a:rPr lang="en-US" sz="2800" b="1" dirty="0" err="1" smtClean="0"/>
              <a:t>NlogN</a:t>
            </a:r>
            <a:r>
              <a:rPr lang="en-US" sz="2800" b="1" dirty="0" smtClean="0"/>
              <a:t>)</a:t>
            </a:r>
            <a:endParaRPr lang="en-US" sz="2800" b="1" dirty="0"/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2873096" y="3330485"/>
            <a:ext cx="732991" cy="1682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4191001" y="5145205"/>
            <a:ext cx="882210" cy="6210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89713" y="6069982"/>
            <a:ext cx="3655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Time complexity: </a:t>
            </a:r>
            <a:endParaRPr lang="en-US" dirty="0"/>
          </a:p>
        </p:txBody>
      </p: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2709134" y="5993038"/>
            <a:ext cx="16818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2800" b="1" dirty="0" smtClean="0"/>
              <a:t>O(</a:t>
            </a:r>
            <a:r>
              <a:rPr lang="en-US" sz="2800" b="1" dirty="0" err="1" smtClean="0"/>
              <a:t>NlogN</a:t>
            </a:r>
            <a:r>
              <a:rPr lang="en-US" sz="2800" b="1" dirty="0" smtClean="0"/>
              <a:t>)</a:t>
            </a:r>
            <a:endParaRPr lang="en-US" sz="2800" b="1" dirty="0"/>
          </a:p>
        </p:txBody>
      </p:sp>
      <p:grpSp>
        <p:nvGrpSpPr>
          <p:cNvPr id="41" name="Group 5"/>
          <p:cNvGrpSpPr>
            <a:grpSpLocks/>
          </p:cNvGrpSpPr>
          <p:nvPr/>
        </p:nvGrpSpPr>
        <p:grpSpPr bwMode="auto">
          <a:xfrm>
            <a:off x="5068218" y="2978060"/>
            <a:ext cx="2943225" cy="2044700"/>
            <a:chOff x="137" y="715"/>
            <a:chExt cx="1854" cy="1288"/>
          </a:xfrm>
        </p:grpSpPr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2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  <p:sp>
          <p:nvSpPr>
            <p:cNvPr id="53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2</a:t>
              </a:r>
              <a:endParaRPr lang="en-US" sz="1000" dirty="0"/>
            </a:p>
          </p:txBody>
        </p:sp>
        <p:sp>
          <p:nvSpPr>
            <p:cNvPr id="54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3</a:t>
              </a:r>
              <a:endParaRPr lang="en-US" sz="1000" dirty="0"/>
            </a:p>
          </p:txBody>
        </p:sp>
        <p:sp>
          <p:nvSpPr>
            <p:cNvPr id="55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4</a:t>
              </a:r>
              <a:endParaRPr lang="en-US" sz="1000" dirty="0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5</a:t>
              </a:r>
              <a:endParaRPr lang="en-US" sz="1000" dirty="0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6</a:t>
              </a:r>
              <a:endParaRPr lang="en-US" sz="1000" dirty="0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7</a:t>
              </a:r>
              <a:endParaRPr lang="en-US" sz="1000" dirty="0"/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8</a:t>
              </a:r>
              <a:endParaRPr lang="en-US" sz="1000" dirty="0"/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5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9</a:t>
              </a:r>
              <a:endParaRPr lang="en-US" sz="1000" dirty="0"/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000" dirty="0" smtClean="0"/>
                <a:t>10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5944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Priority Queues (PQ)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816" y="1053296"/>
            <a:ext cx="8472668" cy="4814104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en-US" sz="3300" b="1" dirty="0" smtClean="0"/>
              <a:t>Properties: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altLang="en-US" dirty="0" smtClean="0"/>
              <a:t> Each element is associated with a priority (key)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altLang="en-US" dirty="0" smtClean="0"/>
              <a:t> The key with the highest (MAX-PQ)/lowest (MIN-PQ) key is extracted first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altLang="en-US" dirty="0" smtClean="0"/>
              <a:t> Can be implemented as a Max-Heap/Min-Heap</a:t>
            </a:r>
          </a:p>
          <a:p>
            <a:pPr>
              <a:defRPr/>
            </a:pPr>
            <a:endParaRPr lang="en-US" altLang="en-US" sz="2800" dirty="0" smtClean="0"/>
          </a:p>
          <a:p>
            <a:pPr>
              <a:defRPr/>
            </a:pPr>
            <a:r>
              <a:rPr lang="en-US" altLang="en-US" sz="2800" dirty="0" smtClean="0"/>
              <a:t>An application: Schedule jobs on a shared resource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altLang="en-US" sz="2400" dirty="0" smtClean="0"/>
              <a:t>PQ keeps track of jobs and their relative priorities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altLang="en-US" sz="2400" dirty="0" smtClean="0"/>
              <a:t>When a job is finished or interrupted, highest priority job is selected from those pending using EXTRACT-MAX function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altLang="en-US" sz="2400" dirty="0" smtClean="0"/>
              <a:t>A new job can be added at any time using INSERT function</a:t>
            </a:r>
          </a:p>
        </p:txBody>
      </p:sp>
    </p:spTree>
    <p:extLst>
      <p:ext uri="{BB962C8B-B14F-4D97-AF65-F5344CB8AC3E}">
        <p14:creationId xmlns:p14="http://schemas.microsoft.com/office/powerpoint/2010/main" val="21758813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Priority Queue</a:t>
            </a:r>
            <a:endParaRPr lang="en-US" dirty="0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  <a:buNone/>
            </a:pPr>
            <a:r>
              <a:rPr lang="en-US" b="1" dirty="0" smtClean="0"/>
              <a:t>Graph algorithms:</a:t>
            </a:r>
          </a:p>
          <a:p>
            <a:pPr>
              <a:lnSpc>
                <a:spcPct val="130000"/>
              </a:lnSpc>
            </a:pPr>
            <a:r>
              <a:rPr lang="en-US" dirty="0" err="1" smtClean="0"/>
              <a:t>Dijkstra’s</a:t>
            </a:r>
            <a:r>
              <a:rPr lang="en-US" dirty="0" smtClean="0"/>
              <a:t> and A*-search algorithms to compute shortest paths</a:t>
            </a:r>
          </a:p>
          <a:p>
            <a:pPr>
              <a:lnSpc>
                <a:spcPct val="130000"/>
              </a:lnSpc>
            </a:pPr>
            <a:r>
              <a:rPr lang="en-US" dirty="0" smtClean="0">
                <a:latin typeface="Comic Sans MS" pitchFamily="66" charset="0"/>
              </a:rPr>
              <a:t>Prim’s algorithm to compute minimum spanning tree (MST) of a graph</a:t>
            </a:r>
          </a:p>
          <a:p>
            <a:pPr>
              <a:lnSpc>
                <a:spcPct val="130000"/>
              </a:lnSpc>
              <a:buNone/>
            </a:pPr>
            <a:r>
              <a:rPr lang="en-US" b="1" dirty="0" smtClean="0">
                <a:latin typeface="Comic Sans MS" pitchFamily="66" charset="0"/>
              </a:rPr>
              <a:t>Others:</a:t>
            </a:r>
          </a:p>
          <a:p>
            <a:pPr>
              <a:lnSpc>
                <a:spcPct val="130000"/>
              </a:lnSpc>
            </a:pPr>
            <a:r>
              <a:rPr lang="en-US" dirty="0" smtClean="0">
                <a:latin typeface="Comic Sans MS" pitchFamily="66" charset="0"/>
              </a:rPr>
              <a:t>Huffman coding for compressing data</a:t>
            </a:r>
          </a:p>
          <a:p>
            <a:pPr>
              <a:lnSpc>
                <a:spcPct val="130000"/>
              </a:lnSpc>
            </a:pPr>
            <a:r>
              <a:rPr lang="en-US" dirty="0" smtClean="0">
                <a:latin typeface="Comic Sans MS" pitchFamily="66" charset="0"/>
              </a:rPr>
              <a:t>Resource scheduling in operating systems</a:t>
            </a:r>
            <a:endParaRPr lang="en-US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5156</TotalTime>
  <Words>5250</Words>
  <Application>Microsoft Office PowerPoint</Application>
  <PresentationFormat>On-screen Show (4:3)</PresentationFormat>
  <Paragraphs>2308</Paragraphs>
  <Slides>75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75</vt:i4>
      </vt:variant>
    </vt:vector>
  </HeadingPairs>
  <TitlesOfParts>
    <vt:vector size="93" baseType="lpstr">
      <vt:lpstr>Aharoni</vt:lpstr>
      <vt:lpstr>Arial</vt:lpstr>
      <vt:lpstr>Britannic Bold</vt:lpstr>
      <vt:lpstr>Calibri</vt:lpstr>
      <vt:lpstr>Calibri Light</vt:lpstr>
      <vt:lpstr>Comic Sans MS</vt:lpstr>
      <vt:lpstr>Courier New</vt:lpstr>
      <vt:lpstr>Gungsuh</vt:lpstr>
      <vt:lpstr>Impact</vt:lpstr>
      <vt:lpstr>Monotype Corsiva</vt:lpstr>
      <vt:lpstr>Symbol</vt:lpstr>
      <vt:lpstr>Times New Roman</vt:lpstr>
      <vt:lpstr>Verdana</vt:lpstr>
      <vt:lpstr>Wingdings</vt:lpstr>
      <vt:lpstr>Office Theme</vt:lpstr>
      <vt:lpstr>Default Design</vt:lpstr>
      <vt:lpstr>Equation</vt:lpstr>
      <vt:lpstr>Paint Shop Pro Image</vt:lpstr>
      <vt:lpstr>PowerPoint Presentation</vt:lpstr>
      <vt:lpstr>Special Types of Trees</vt:lpstr>
      <vt:lpstr>Definitions</vt:lpstr>
      <vt:lpstr>Useful Properties</vt:lpstr>
      <vt:lpstr>Heaps</vt:lpstr>
      <vt:lpstr>Heaps</vt:lpstr>
      <vt:lpstr>Heaps</vt:lpstr>
      <vt:lpstr>Heaps</vt:lpstr>
      <vt:lpstr>Heaps (Implementation Issue)</vt:lpstr>
      <vt:lpstr>Heaps (Implementation Issue)</vt:lpstr>
      <vt:lpstr>Heaps (Implementation Issue)</vt:lpstr>
      <vt:lpstr>Operations on Heaps</vt:lpstr>
      <vt:lpstr>Maintaining the Heap Property</vt:lpstr>
      <vt:lpstr>Example</vt:lpstr>
      <vt:lpstr>Heap Operations: Heapify()</vt:lpstr>
      <vt:lpstr>Illustration of Heapify operation</vt:lpstr>
      <vt:lpstr>The Heapify operation</vt:lpstr>
      <vt:lpstr>The Heapify operation</vt:lpstr>
      <vt:lpstr>The Heapify operation</vt:lpstr>
      <vt:lpstr>The Heapify operation</vt:lpstr>
      <vt:lpstr>The Heapify operation</vt:lpstr>
      <vt:lpstr>The Heapify operation</vt:lpstr>
      <vt:lpstr>The Heapify operation</vt:lpstr>
      <vt:lpstr>Procedure MaxHeapify</vt:lpstr>
      <vt:lpstr>Procedure MaxHeapify</vt:lpstr>
      <vt:lpstr>Running Time for MaxHeapify(A, i)</vt:lpstr>
      <vt:lpstr>Converting an array to a Max-Heap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Building a heap</vt:lpstr>
      <vt:lpstr>Time complexity of Building a Heap</vt:lpstr>
      <vt:lpstr>Build_Max_Heap(A)</vt:lpstr>
      <vt:lpstr>Build_Max_Heap(A) Analysis</vt:lpstr>
      <vt:lpstr>Build_Max_Heap(A) Analysis</vt:lpstr>
      <vt:lpstr>Running Time of BUILD MAX HEAP</vt:lpstr>
      <vt:lpstr>Running Time of BUILD MAX HEAP</vt:lpstr>
      <vt:lpstr>Heapsort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Priority Queues (PQ)</vt:lpstr>
      <vt:lpstr>Applications of Priority Queue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CSE</cp:lastModifiedBy>
  <cp:revision>153</cp:revision>
  <dcterms:created xsi:type="dcterms:W3CDTF">2014-09-11T18:03:18Z</dcterms:created>
  <dcterms:modified xsi:type="dcterms:W3CDTF">2024-03-29T04:36:21Z</dcterms:modified>
</cp:coreProperties>
</file>