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98" r:id="rId13"/>
    <p:sldId id="299" r:id="rId14"/>
    <p:sldId id="300" r:id="rId15"/>
    <p:sldId id="301" r:id="rId16"/>
    <p:sldId id="306" r:id="rId17"/>
    <p:sldId id="307" r:id="rId18"/>
    <p:sldId id="308" r:id="rId19"/>
    <p:sldId id="302" r:id="rId20"/>
    <p:sldId id="309" r:id="rId21"/>
    <p:sldId id="310" r:id="rId22"/>
    <p:sldId id="303" r:id="rId23"/>
    <p:sldId id="311" r:id="rId24"/>
    <p:sldId id="312" r:id="rId25"/>
    <p:sldId id="313" r:id="rId26"/>
    <p:sldId id="314" r:id="rId27"/>
    <p:sldId id="315" r:id="rId28"/>
    <p:sldId id="316" r:id="rId29"/>
    <p:sldId id="317" r:id="rId30"/>
    <p:sldId id="318" r:id="rId31"/>
    <p:sldId id="319" r:id="rId32"/>
    <p:sldId id="269" r:id="rId33"/>
    <p:sldId id="270" r:id="rId34"/>
    <p:sldId id="271" r:id="rId35"/>
    <p:sldId id="272" r:id="rId36"/>
    <p:sldId id="273" r:id="rId37"/>
    <p:sldId id="274" r:id="rId38"/>
    <p:sldId id="304" r:id="rId39"/>
    <p:sldId id="320" r:id="rId40"/>
    <p:sldId id="276" r:id="rId41"/>
    <p:sldId id="277" r:id="rId42"/>
    <p:sldId id="278" r:id="rId43"/>
    <p:sldId id="279" r:id="rId44"/>
    <p:sldId id="280" r:id="rId45"/>
    <p:sldId id="281" r:id="rId46"/>
    <p:sldId id="282" r:id="rId47"/>
    <p:sldId id="283" r:id="rId48"/>
    <p:sldId id="284" r:id="rId49"/>
    <p:sldId id="285" r:id="rId50"/>
    <p:sldId id="286" r:id="rId51"/>
    <p:sldId id="287" r:id="rId52"/>
    <p:sldId id="288" r:id="rId53"/>
    <p:sldId id="289" r:id="rId54"/>
    <p:sldId id="291" r:id="rId55"/>
    <p:sldId id="292" r:id="rId56"/>
    <p:sldId id="293" r:id="rId57"/>
    <p:sldId id="294" r:id="rId58"/>
    <p:sldId id="295" r:id="rId59"/>
    <p:sldId id="296" r:id="rId60"/>
    <p:sldId id="297"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85" d="100"/>
          <a:sy n="85" d="100"/>
        </p:scale>
        <p:origin x="48"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2C930DBB-8ED6-435F-99A9-F6CD80879BC1}"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2428656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930DBB-8ED6-435F-99A9-F6CD80879BC1}"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249743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930DBB-8ED6-435F-99A9-F6CD80879BC1}"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580346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C930DBB-8ED6-435F-99A9-F6CD80879BC1}"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14105617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C930DBB-8ED6-435F-99A9-F6CD80879BC1}"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2122076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2C930DBB-8ED6-435F-99A9-F6CD80879BC1}"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14506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930DBB-8ED6-435F-99A9-F6CD80879BC1}"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247140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930DBB-8ED6-435F-99A9-F6CD80879BC1}"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1756043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930DBB-8ED6-435F-99A9-F6CD80879BC1}"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2836138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930DBB-8ED6-435F-99A9-F6CD80879BC1}"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1123378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2C930DBB-8ED6-435F-99A9-F6CD80879BC1}"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5388E7-0EB1-4E17-B8D5-3C2A4D1AC9A0}" type="slidenum">
              <a:rPr lang="en-US" smtClean="0"/>
              <a:t>‹#›</a:t>
            </a:fld>
            <a:endParaRPr lang="en-US"/>
          </a:p>
        </p:txBody>
      </p:sp>
    </p:spTree>
    <p:extLst>
      <p:ext uri="{BB962C8B-B14F-4D97-AF65-F5344CB8AC3E}">
        <p14:creationId xmlns:p14="http://schemas.microsoft.com/office/powerpoint/2010/main" val="15522997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930DBB-8ED6-435F-99A9-F6CD80879BC1}" type="datetimeFigureOut">
              <a:rPr lang="en-US" smtClean="0"/>
              <a:t>9/18/2026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5388E7-0EB1-4E17-B8D5-3C2A4D1AC9A0}" type="slidenum">
              <a:rPr lang="en-US" smtClean="0"/>
              <a:t>‹#›</a:t>
            </a:fld>
            <a:endParaRPr lang="en-US"/>
          </a:p>
        </p:txBody>
      </p:sp>
    </p:spTree>
    <p:extLst>
      <p:ext uri="{BB962C8B-B14F-4D97-AF65-F5344CB8AC3E}">
        <p14:creationId xmlns:p14="http://schemas.microsoft.com/office/powerpoint/2010/main" val="3015123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704400" y="3668216"/>
            <a:ext cx="784013" cy="0"/>
          </a:xfrm>
          <a:custGeom>
            <a:avLst/>
            <a:gdLst/>
            <a:ahLst/>
            <a:cxnLst/>
            <a:rect l="l" t="t" r="r" b="b"/>
            <a:pathLst>
              <a:path w="588010">
                <a:moveTo>
                  <a:pt x="0" y="0"/>
                </a:moveTo>
                <a:lnTo>
                  <a:pt x="587399" y="0"/>
                </a:lnTo>
              </a:path>
            </a:pathLst>
          </a:custGeom>
          <a:ln w="76199">
            <a:solidFill>
              <a:srgbClr val="4285F4"/>
            </a:solidFill>
          </a:ln>
        </p:spPr>
        <p:txBody>
          <a:bodyPr wrap="square" lIns="0" tIns="0" rIns="0" bIns="0" rtlCol="0"/>
          <a:lstStyle/>
          <a:p>
            <a:endParaRPr sz="2400"/>
          </a:p>
        </p:txBody>
      </p:sp>
      <p:sp>
        <p:nvSpPr>
          <p:cNvPr id="3" name="object 3"/>
          <p:cNvSpPr txBox="1">
            <a:spLocks noGrp="1"/>
          </p:cNvSpPr>
          <p:nvPr>
            <p:ph type="title"/>
          </p:nvPr>
        </p:nvSpPr>
        <p:spPr>
          <a:xfrm>
            <a:off x="2746680" y="2227323"/>
            <a:ext cx="6699673" cy="1043085"/>
          </a:xfrm>
          <a:prstGeom prst="rect">
            <a:avLst/>
          </a:prstGeom>
        </p:spPr>
        <p:txBody>
          <a:bodyPr vert="horz" wrap="square" lIns="0" tIns="16933" rIns="0" bIns="0" rtlCol="0" anchor="ctr">
            <a:spAutoFit/>
          </a:bodyPr>
          <a:lstStyle/>
          <a:p>
            <a:pPr marL="16933">
              <a:lnSpc>
                <a:spcPct val="100000"/>
              </a:lnSpc>
              <a:spcBef>
                <a:spcPts val="133"/>
              </a:spcBef>
            </a:pPr>
            <a:r>
              <a:rPr sz="6667" spc="627" dirty="0">
                <a:solidFill>
                  <a:srgbClr val="FF5722"/>
                </a:solidFill>
              </a:rPr>
              <a:t>Bioinformatics</a:t>
            </a:r>
            <a:endParaRPr sz="6667"/>
          </a:p>
        </p:txBody>
      </p:sp>
    </p:spTree>
    <p:extLst>
      <p:ext uri="{BB962C8B-B14F-4D97-AF65-F5344CB8AC3E}">
        <p14:creationId xmlns:p14="http://schemas.microsoft.com/office/powerpoint/2010/main" val="344297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6003" y="984033"/>
            <a:ext cx="11532225" cy="632651"/>
          </a:xfrm>
          <a:prstGeom prst="rect">
            <a:avLst/>
          </a:prstGeom>
          <a:solidFill>
            <a:schemeClr val="accent3">
              <a:lumMod val="20000"/>
              <a:lumOff val="80000"/>
            </a:schemeClr>
          </a:solidFill>
        </p:spPr>
        <p:txBody>
          <a:bodyPr vert="horz" wrap="square" lIns="0" tIns="16933" rIns="0" bIns="0" rtlCol="0" anchor="ctr">
            <a:spAutoFit/>
          </a:bodyPr>
          <a:lstStyle/>
          <a:p>
            <a:pPr marL="2296949">
              <a:lnSpc>
                <a:spcPct val="100000"/>
              </a:lnSpc>
              <a:spcBef>
                <a:spcPts val="133"/>
              </a:spcBef>
            </a:pPr>
            <a:r>
              <a:rPr sz="4000" spc="553" dirty="0"/>
              <a:t>What</a:t>
            </a:r>
            <a:r>
              <a:rPr sz="4000" spc="200" dirty="0"/>
              <a:t> </a:t>
            </a:r>
            <a:r>
              <a:rPr sz="4000" spc="287" dirty="0"/>
              <a:t>is</a:t>
            </a:r>
            <a:r>
              <a:rPr sz="4000" spc="200" dirty="0"/>
              <a:t> </a:t>
            </a:r>
            <a:r>
              <a:rPr sz="4000" spc="387" dirty="0"/>
              <a:t>Bioinformatics?</a:t>
            </a:r>
            <a:endParaRPr sz="4000" dirty="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7" name="object 7"/>
          <p:cNvSpPr txBox="1"/>
          <p:nvPr/>
        </p:nvSpPr>
        <p:spPr>
          <a:xfrm>
            <a:off x="670022" y="1794133"/>
            <a:ext cx="2817707" cy="345330"/>
          </a:xfrm>
          <a:prstGeom prst="rect">
            <a:avLst/>
          </a:prstGeom>
        </p:spPr>
        <p:txBody>
          <a:bodyPr vert="horz" wrap="square" lIns="0" tIns="16933" rIns="0" bIns="0" rtlCol="0">
            <a:spAutoFit/>
          </a:bodyPr>
          <a:lstStyle/>
          <a:p>
            <a:pPr marL="485128" indent="-468195">
              <a:spcBef>
                <a:spcPts val="133"/>
              </a:spcBef>
              <a:buFont typeface="Arial"/>
              <a:buChar char="●"/>
              <a:tabLst>
                <a:tab pos="485128" algn="l"/>
                <a:tab pos="2589887" algn="l"/>
              </a:tabLst>
            </a:pPr>
            <a:r>
              <a:rPr sz="2133" spc="-13" dirty="0">
                <a:solidFill>
                  <a:srgbClr val="212529"/>
                </a:solidFill>
                <a:latin typeface="Century Schoolbook"/>
                <a:cs typeface="Century Schoolbook"/>
              </a:rPr>
              <a:t>Bioinformatics</a:t>
            </a:r>
            <a:r>
              <a:rPr sz="2133" dirty="0">
                <a:solidFill>
                  <a:srgbClr val="212529"/>
                </a:solidFill>
                <a:latin typeface="Century Schoolbook"/>
                <a:cs typeface="Century Schoolbook"/>
              </a:rPr>
              <a:t>	</a:t>
            </a:r>
            <a:r>
              <a:rPr sz="2133" spc="-33" dirty="0">
                <a:solidFill>
                  <a:srgbClr val="212529"/>
                </a:solidFill>
                <a:latin typeface="Century Schoolbook"/>
                <a:cs typeface="Century Schoolbook"/>
              </a:rPr>
              <a:t>is</a:t>
            </a:r>
            <a:endParaRPr sz="2133" dirty="0">
              <a:latin typeface="Century Schoolbook"/>
              <a:cs typeface="Century Schoolbook"/>
            </a:endParaRPr>
          </a:p>
        </p:txBody>
      </p:sp>
      <p:sp>
        <p:nvSpPr>
          <p:cNvPr id="8" name="object 8"/>
          <p:cNvSpPr txBox="1"/>
          <p:nvPr/>
        </p:nvSpPr>
        <p:spPr>
          <a:xfrm>
            <a:off x="3646633" y="1791500"/>
            <a:ext cx="8168640" cy="345330"/>
          </a:xfrm>
          <a:prstGeom prst="rect">
            <a:avLst/>
          </a:prstGeom>
        </p:spPr>
        <p:txBody>
          <a:bodyPr vert="horz" wrap="square" lIns="0" tIns="16933" rIns="0" bIns="0" rtlCol="0">
            <a:spAutoFit/>
          </a:bodyPr>
          <a:lstStyle/>
          <a:p>
            <a:pPr marL="16933">
              <a:spcBef>
                <a:spcPts val="133"/>
              </a:spcBef>
              <a:tabLst>
                <a:tab pos="599425" algn="l"/>
                <a:tab pos="2958179" algn="l"/>
                <a:tab pos="3776886" algn="l"/>
                <a:tab pos="4269633" algn="l"/>
                <a:tab pos="5691151" algn="l"/>
                <a:tab pos="6209298" algn="l"/>
                <a:tab pos="7221886" algn="l"/>
              </a:tabLst>
            </a:pPr>
            <a:r>
              <a:rPr sz="2133" spc="-33" dirty="0">
                <a:solidFill>
                  <a:srgbClr val="212529"/>
                </a:solidFill>
                <a:latin typeface="Century Schoolbook"/>
                <a:cs typeface="Century Schoolbook"/>
              </a:rPr>
              <a:t>an</a:t>
            </a:r>
            <a:r>
              <a:rPr sz="2133" dirty="0">
                <a:solidFill>
                  <a:srgbClr val="212529"/>
                </a:solidFill>
                <a:latin typeface="Century Schoolbook"/>
                <a:cs typeface="Century Schoolbook"/>
              </a:rPr>
              <a:t>	</a:t>
            </a:r>
            <a:r>
              <a:rPr sz="2133" spc="-13" dirty="0">
                <a:solidFill>
                  <a:srgbClr val="212529"/>
                </a:solidFill>
                <a:latin typeface="Century Schoolbook"/>
                <a:cs typeface="Century Schoolbook"/>
              </a:rPr>
              <a:t>interdisciplinary</a:t>
            </a:r>
            <a:r>
              <a:rPr sz="2133" dirty="0">
                <a:solidFill>
                  <a:srgbClr val="212529"/>
                </a:solidFill>
                <a:latin typeface="Century Schoolbook"/>
                <a:cs typeface="Century Schoolbook"/>
              </a:rPr>
              <a:t>	</a:t>
            </a:r>
            <a:r>
              <a:rPr sz="2133" spc="-13" dirty="0">
                <a:solidFill>
                  <a:srgbClr val="212529"/>
                </a:solidFill>
                <a:latin typeface="Century Schoolbook"/>
                <a:cs typeface="Century Schoolbook"/>
              </a:rPr>
              <a:t>field</a:t>
            </a:r>
            <a:r>
              <a:rPr sz="2133" dirty="0">
                <a:solidFill>
                  <a:srgbClr val="212529"/>
                </a:solidFill>
                <a:latin typeface="Century Schoolbook"/>
                <a:cs typeface="Century Schoolbook"/>
              </a:rPr>
              <a:t>	</a:t>
            </a:r>
            <a:r>
              <a:rPr sz="2133" spc="-33" dirty="0">
                <a:solidFill>
                  <a:srgbClr val="212529"/>
                </a:solidFill>
                <a:latin typeface="Century Schoolbook"/>
                <a:cs typeface="Century Schoolbook"/>
              </a:rPr>
              <a:t>of</a:t>
            </a:r>
            <a:r>
              <a:rPr sz="2133" dirty="0">
                <a:solidFill>
                  <a:srgbClr val="212529"/>
                </a:solidFill>
                <a:latin typeface="Century Schoolbook"/>
                <a:cs typeface="Century Schoolbook"/>
              </a:rPr>
              <a:t>	</a:t>
            </a:r>
            <a:r>
              <a:rPr sz="2133" spc="-13" dirty="0">
                <a:solidFill>
                  <a:srgbClr val="212529"/>
                </a:solidFill>
                <a:latin typeface="Century Schoolbook"/>
                <a:cs typeface="Century Schoolbook"/>
              </a:rPr>
              <a:t>science</a:t>
            </a:r>
            <a:r>
              <a:rPr sz="2133" dirty="0">
                <a:solidFill>
                  <a:srgbClr val="212529"/>
                </a:solidFill>
                <a:latin typeface="Century Schoolbook"/>
                <a:cs typeface="Century Schoolbook"/>
              </a:rPr>
              <a:t>	</a:t>
            </a:r>
            <a:r>
              <a:rPr sz="2133" spc="-33" dirty="0">
                <a:solidFill>
                  <a:srgbClr val="212529"/>
                </a:solidFill>
                <a:latin typeface="Century Schoolbook"/>
                <a:cs typeface="Century Schoolbook"/>
              </a:rPr>
              <a:t>in</a:t>
            </a:r>
            <a:r>
              <a:rPr sz="2133" dirty="0">
                <a:solidFill>
                  <a:srgbClr val="212529"/>
                </a:solidFill>
                <a:latin typeface="Century Schoolbook"/>
                <a:cs typeface="Century Schoolbook"/>
              </a:rPr>
              <a:t>	</a:t>
            </a:r>
            <a:r>
              <a:rPr sz="2133" spc="-13" dirty="0">
                <a:solidFill>
                  <a:srgbClr val="212529"/>
                </a:solidFill>
                <a:latin typeface="Century Schoolbook"/>
                <a:cs typeface="Century Schoolbook"/>
              </a:rPr>
              <a:t>which</a:t>
            </a:r>
            <a:r>
              <a:rPr sz="2133" dirty="0">
                <a:solidFill>
                  <a:srgbClr val="212529"/>
                </a:solidFill>
                <a:latin typeface="Century Schoolbook"/>
                <a:cs typeface="Century Schoolbook"/>
              </a:rPr>
              <a:t>	</a:t>
            </a:r>
            <a:r>
              <a:rPr sz="2133" spc="-33" dirty="0">
                <a:solidFill>
                  <a:srgbClr val="212529"/>
                </a:solidFill>
                <a:latin typeface="Century Schoolbook"/>
                <a:cs typeface="Century Schoolbook"/>
              </a:rPr>
              <a:t>biology,</a:t>
            </a:r>
            <a:endParaRPr sz="2133" dirty="0">
              <a:latin typeface="Century Schoolbook"/>
              <a:cs typeface="Century Schoolbook"/>
            </a:endParaRPr>
          </a:p>
        </p:txBody>
      </p:sp>
      <p:sp>
        <p:nvSpPr>
          <p:cNvPr id="9" name="object 9"/>
          <p:cNvSpPr txBox="1"/>
          <p:nvPr/>
        </p:nvSpPr>
        <p:spPr>
          <a:xfrm>
            <a:off x="708321" y="4066967"/>
            <a:ext cx="198120" cy="345330"/>
          </a:xfrm>
          <a:prstGeom prst="rect">
            <a:avLst/>
          </a:prstGeom>
        </p:spPr>
        <p:txBody>
          <a:bodyPr vert="horz" wrap="square" lIns="0" tIns="16933" rIns="0" bIns="0" rtlCol="0">
            <a:spAutoFit/>
          </a:bodyPr>
          <a:lstStyle/>
          <a:p>
            <a:pPr marL="16933">
              <a:spcBef>
                <a:spcPts val="133"/>
              </a:spcBef>
            </a:pPr>
            <a:r>
              <a:rPr sz="2133" spc="-67" dirty="0">
                <a:solidFill>
                  <a:srgbClr val="212529"/>
                </a:solidFill>
                <a:latin typeface="Arial"/>
                <a:cs typeface="Arial"/>
              </a:rPr>
              <a:t>●</a:t>
            </a:r>
            <a:endParaRPr sz="2133" dirty="0">
              <a:latin typeface="Arial"/>
              <a:cs typeface="Arial"/>
            </a:endParaRPr>
          </a:p>
        </p:txBody>
      </p:sp>
      <p:sp>
        <p:nvSpPr>
          <p:cNvPr id="10" name="object 10"/>
          <p:cNvSpPr txBox="1"/>
          <p:nvPr/>
        </p:nvSpPr>
        <p:spPr>
          <a:xfrm>
            <a:off x="670022" y="2164737"/>
            <a:ext cx="11246273" cy="1902230"/>
          </a:xfrm>
          <a:prstGeom prst="rect">
            <a:avLst/>
          </a:prstGeom>
        </p:spPr>
        <p:txBody>
          <a:bodyPr vert="horz" wrap="square" lIns="0" tIns="16933" rIns="0" bIns="0" rtlCol="0">
            <a:spAutoFit/>
          </a:bodyPr>
          <a:lstStyle/>
          <a:p>
            <a:pPr marL="485128" marR="6773" algn="just">
              <a:spcBef>
                <a:spcPts val="133"/>
              </a:spcBef>
            </a:pPr>
            <a:r>
              <a:rPr sz="2133" dirty="0">
                <a:solidFill>
                  <a:srgbClr val="212529"/>
                </a:solidFill>
                <a:latin typeface="Times New Roman" panose="02020603050405020304" pitchFamily="18" charset="0"/>
                <a:cs typeface="Times New Roman" panose="02020603050405020304" pitchFamily="18" charset="0"/>
              </a:rPr>
              <a:t>statistics/mathematics,</a:t>
            </a:r>
            <a:r>
              <a:rPr sz="2133" spc="5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computer</a:t>
            </a:r>
            <a:r>
              <a:rPr sz="2133" spc="5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science</a:t>
            </a:r>
            <a:r>
              <a:rPr sz="2133" spc="60"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and</a:t>
            </a:r>
            <a:r>
              <a:rPr sz="2133" spc="5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information</a:t>
            </a:r>
            <a:r>
              <a:rPr sz="2133" spc="60"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technology</a:t>
            </a:r>
            <a:r>
              <a:rPr sz="2133" spc="5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merge</a:t>
            </a:r>
            <a:r>
              <a:rPr sz="2133" spc="60" dirty="0">
                <a:solidFill>
                  <a:srgbClr val="212529"/>
                </a:solidFill>
                <a:latin typeface="Times New Roman" panose="02020603050405020304" pitchFamily="18" charset="0"/>
                <a:cs typeface="Times New Roman" panose="02020603050405020304" pitchFamily="18" charset="0"/>
              </a:rPr>
              <a:t> </a:t>
            </a:r>
            <a:r>
              <a:rPr sz="2133" spc="-13" dirty="0">
                <a:solidFill>
                  <a:srgbClr val="212529"/>
                </a:solidFill>
                <a:latin typeface="Times New Roman" panose="02020603050405020304" pitchFamily="18" charset="0"/>
                <a:cs typeface="Times New Roman" panose="02020603050405020304" pitchFamily="18" charset="0"/>
              </a:rPr>
              <a:t>together </a:t>
            </a:r>
            <a:r>
              <a:rPr sz="2133" dirty="0">
                <a:solidFill>
                  <a:srgbClr val="212529"/>
                </a:solidFill>
                <a:latin typeface="Times New Roman" panose="02020603050405020304" pitchFamily="18" charset="0"/>
                <a:cs typeface="Times New Roman" panose="02020603050405020304" pitchFamily="18" charset="0"/>
              </a:rPr>
              <a:t>to</a:t>
            </a:r>
            <a:r>
              <a:rPr sz="2133" spc="67"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form</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a</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single</a:t>
            </a:r>
            <a:r>
              <a:rPr sz="2133" spc="67"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discipline</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in</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order</a:t>
            </a:r>
            <a:r>
              <a:rPr sz="2133" spc="67"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to</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analyze</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biological</a:t>
            </a:r>
            <a:r>
              <a:rPr sz="2133" spc="73"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information</a:t>
            </a:r>
            <a:r>
              <a:rPr sz="2133" spc="67"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using</a:t>
            </a:r>
            <a:r>
              <a:rPr sz="2133" spc="73" dirty="0">
                <a:solidFill>
                  <a:srgbClr val="212529"/>
                </a:solidFill>
                <a:latin typeface="Times New Roman" panose="02020603050405020304" pitchFamily="18" charset="0"/>
                <a:cs typeface="Times New Roman" panose="02020603050405020304" pitchFamily="18" charset="0"/>
              </a:rPr>
              <a:t> </a:t>
            </a:r>
            <a:r>
              <a:rPr sz="2133" spc="-13" dirty="0">
                <a:solidFill>
                  <a:srgbClr val="212529"/>
                </a:solidFill>
                <a:latin typeface="Times New Roman" panose="02020603050405020304" pitchFamily="18" charset="0"/>
                <a:cs typeface="Times New Roman" panose="02020603050405020304" pitchFamily="18" charset="0"/>
              </a:rPr>
              <a:t>computers </a:t>
            </a:r>
            <a:r>
              <a:rPr sz="2133" dirty="0">
                <a:solidFill>
                  <a:srgbClr val="212529"/>
                </a:solidFill>
                <a:latin typeface="Times New Roman" panose="02020603050405020304" pitchFamily="18" charset="0"/>
                <a:cs typeface="Times New Roman" panose="02020603050405020304" pitchFamily="18" charset="0"/>
              </a:rPr>
              <a:t>and</a:t>
            </a:r>
            <a:r>
              <a:rPr sz="2133" spc="-67" dirty="0">
                <a:solidFill>
                  <a:srgbClr val="212529"/>
                </a:solidFill>
                <a:latin typeface="Times New Roman" panose="02020603050405020304" pitchFamily="18" charset="0"/>
                <a:cs typeface="Times New Roman" panose="02020603050405020304" pitchFamily="18" charset="0"/>
              </a:rPr>
              <a:t> </a:t>
            </a:r>
            <a:r>
              <a:rPr sz="2133" dirty="0">
                <a:solidFill>
                  <a:srgbClr val="212529"/>
                </a:solidFill>
                <a:latin typeface="Times New Roman" panose="02020603050405020304" pitchFamily="18" charset="0"/>
                <a:cs typeface="Times New Roman" panose="02020603050405020304" pitchFamily="18" charset="0"/>
              </a:rPr>
              <a:t>statistical</a:t>
            </a:r>
            <a:r>
              <a:rPr sz="2133" spc="-67" dirty="0">
                <a:solidFill>
                  <a:srgbClr val="212529"/>
                </a:solidFill>
                <a:latin typeface="Times New Roman" panose="02020603050405020304" pitchFamily="18" charset="0"/>
                <a:cs typeface="Times New Roman" panose="02020603050405020304" pitchFamily="18" charset="0"/>
              </a:rPr>
              <a:t> </a:t>
            </a:r>
            <a:r>
              <a:rPr sz="2133" spc="-13" dirty="0">
                <a:solidFill>
                  <a:srgbClr val="212529"/>
                </a:solidFill>
                <a:latin typeface="Times New Roman" panose="02020603050405020304" pitchFamily="18" charset="0"/>
                <a:cs typeface="Times New Roman" panose="02020603050405020304" pitchFamily="18" charset="0"/>
              </a:rPr>
              <a:t>techniques.</a:t>
            </a:r>
            <a:endParaRPr sz="2133" dirty="0">
              <a:latin typeface="Times New Roman" panose="02020603050405020304" pitchFamily="18" charset="0"/>
              <a:cs typeface="Times New Roman" panose="02020603050405020304" pitchFamily="18" charset="0"/>
            </a:endParaRPr>
          </a:p>
          <a:p>
            <a:pPr marL="550320" marR="3725240" indent="-534233" algn="just">
              <a:spcBef>
                <a:spcPts val="267"/>
              </a:spcBef>
              <a:buSzPct val="114285"/>
              <a:buFont typeface="Arial"/>
              <a:buChar char="●"/>
              <a:tabLst>
                <a:tab pos="550320" algn="l"/>
                <a:tab pos="554553" algn="l"/>
              </a:tabLst>
            </a:pPr>
            <a:r>
              <a:rPr sz="1867" dirty="0">
                <a:solidFill>
                  <a:srgbClr val="212529"/>
                </a:solidFill>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Biological</a:t>
            </a:r>
            <a:r>
              <a:rPr sz="1867" spc="4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experiments</a:t>
            </a:r>
            <a:r>
              <a:rPr sz="1867" spc="4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can</a:t>
            </a:r>
            <a:r>
              <a:rPr sz="1867" spc="4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generate</a:t>
            </a:r>
            <a:r>
              <a:rPr sz="1867" spc="4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large</a:t>
            </a:r>
            <a:r>
              <a:rPr sz="1867" spc="4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amounts</a:t>
            </a:r>
            <a:r>
              <a:rPr sz="1867" spc="4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of</a:t>
            </a:r>
            <a:r>
              <a:rPr sz="1867" spc="420"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data </a:t>
            </a:r>
            <a:r>
              <a:rPr sz="1867" dirty="0">
                <a:latin typeface="Times New Roman" panose="02020603050405020304" pitchFamily="18" charset="0"/>
                <a:cs typeface="Times New Roman" panose="02020603050405020304" pitchFamily="18" charset="0"/>
              </a:rPr>
              <a:t>(macromolecular</a:t>
            </a:r>
            <a:r>
              <a:rPr sz="1867" spc="3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sequences,</a:t>
            </a:r>
            <a:r>
              <a:rPr sz="1867" spc="32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structures,</a:t>
            </a:r>
            <a:r>
              <a:rPr sz="1867" spc="32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expression</a:t>
            </a:r>
            <a:r>
              <a:rPr sz="1867" spc="32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profiles, </a:t>
            </a:r>
            <a:r>
              <a:rPr sz="1867" dirty="0">
                <a:latin typeface="Times New Roman" panose="02020603050405020304" pitchFamily="18" charset="0"/>
                <a:cs typeface="Times New Roman" panose="02020603050405020304" pitchFamily="18" charset="0"/>
              </a:rPr>
              <a:t>pathways</a:t>
            </a:r>
            <a:r>
              <a:rPr sz="1867" spc="-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and</a:t>
            </a:r>
            <a:r>
              <a:rPr sz="1867" spc="-3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so</a:t>
            </a:r>
            <a:r>
              <a:rPr sz="1867" spc="-33" dirty="0">
                <a:latin typeface="Times New Roman" panose="02020603050405020304" pitchFamily="18" charset="0"/>
                <a:cs typeface="Times New Roman" panose="02020603050405020304" pitchFamily="18" charset="0"/>
              </a:rPr>
              <a:t> </a:t>
            </a:r>
            <a:r>
              <a:rPr sz="1867" spc="-27" dirty="0">
                <a:latin typeface="Times New Roman" panose="02020603050405020304" pitchFamily="18" charset="0"/>
                <a:cs typeface="Times New Roman" panose="02020603050405020304" pitchFamily="18" charset="0"/>
              </a:rPr>
              <a:t>on.)</a:t>
            </a:r>
            <a:endParaRPr sz="1867" dirty="0">
              <a:latin typeface="Times New Roman" panose="02020603050405020304" pitchFamily="18" charset="0"/>
              <a:cs typeface="Times New Roman" panose="02020603050405020304" pitchFamily="18" charset="0"/>
            </a:endParaRPr>
          </a:p>
        </p:txBody>
      </p:sp>
      <p:sp>
        <p:nvSpPr>
          <p:cNvPr id="11" name="object 11"/>
          <p:cNvSpPr/>
          <p:nvPr/>
        </p:nvSpPr>
        <p:spPr>
          <a:xfrm>
            <a:off x="1160292" y="4118357"/>
            <a:ext cx="6847840" cy="1422400"/>
          </a:xfrm>
          <a:custGeom>
            <a:avLst/>
            <a:gdLst/>
            <a:ahLst/>
            <a:cxnLst/>
            <a:rect l="l" t="t" r="r" b="b"/>
            <a:pathLst>
              <a:path w="5135880" h="1066800">
                <a:moveTo>
                  <a:pt x="5135550" y="640080"/>
                </a:moveTo>
                <a:lnTo>
                  <a:pt x="0" y="640080"/>
                </a:lnTo>
                <a:lnTo>
                  <a:pt x="0" y="853440"/>
                </a:lnTo>
                <a:lnTo>
                  <a:pt x="0" y="1066800"/>
                </a:lnTo>
                <a:lnTo>
                  <a:pt x="730402" y="1066800"/>
                </a:lnTo>
                <a:lnTo>
                  <a:pt x="730402" y="853440"/>
                </a:lnTo>
                <a:lnTo>
                  <a:pt x="5135550" y="853440"/>
                </a:lnTo>
                <a:lnTo>
                  <a:pt x="5135550" y="640080"/>
                </a:lnTo>
                <a:close/>
              </a:path>
              <a:path w="5135880" h="1066800">
                <a:moveTo>
                  <a:pt x="5135550" y="0"/>
                </a:moveTo>
                <a:lnTo>
                  <a:pt x="0" y="0"/>
                </a:lnTo>
                <a:lnTo>
                  <a:pt x="0" y="213360"/>
                </a:lnTo>
                <a:lnTo>
                  <a:pt x="0" y="426720"/>
                </a:lnTo>
                <a:lnTo>
                  <a:pt x="4792357" y="426720"/>
                </a:lnTo>
                <a:lnTo>
                  <a:pt x="4792357" y="213360"/>
                </a:lnTo>
                <a:lnTo>
                  <a:pt x="5135550" y="213360"/>
                </a:lnTo>
                <a:lnTo>
                  <a:pt x="5135550" y="0"/>
                </a:lnTo>
                <a:close/>
              </a:path>
            </a:pathLst>
          </a:custGeom>
          <a:solidFill>
            <a:srgbClr val="F1C131"/>
          </a:solidFill>
        </p:spPr>
        <p:txBody>
          <a:bodyPr wrap="square" lIns="0" tIns="0" rIns="0" bIns="0" rtlCol="0"/>
          <a:lstStyle/>
          <a:p>
            <a:endParaRPr sz="2400"/>
          </a:p>
        </p:txBody>
      </p:sp>
      <p:sp>
        <p:nvSpPr>
          <p:cNvPr id="12" name="object 12"/>
          <p:cNvSpPr txBox="1"/>
          <p:nvPr/>
        </p:nvSpPr>
        <p:spPr>
          <a:xfrm>
            <a:off x="1264181" y="4092241"/>
            <a:ext cx="6880013" cy="1448516"/>
          </a:xfrm>
          <a:prstGeom prst="rect">
            <a:avLst/>
          </a:prstGeom>
        </p:spPr>
        <p:txBody>
          <a:bodyPr vert="horz" wrap="square" lIns="0" tIns="16933" rIns="0" bIns="0" rtlCol="0">
            <a:spAutoFit/>
          </a:bodyPr>
          <a:lstStyle/>
          <a:p>
            <a:pPr marL="16933" marR="7620">
              <a:spcBef>
                <a:spcPts val="133"/>
              </a:spcBef>
              <a:tabLst>
                <a:tab pos="2245304" algn="l"/>
                <a:tab pos="2842189" algn="l"/>
                <a:tab pos="3937748" algn="l"/>
                <a:tab pos="5589554" algn="l"/>
              </a:tabLst>
            </a:pPr>
            <a:r>
              <a:rPr sz="1867" b="1" spc="-13" dirty="0">
                <a:latin typeface="Century Schoolbook Bold"/>
                <a:cs typeface="Century Schoolbook Bold"/>
              </a:rPr>
              <a:t>Bioinformatics</a:t>
            </a:r>
            <a:r>
              <a:rPr sz="1867" b="1" dirty="0">
                <a:latin typeface="Century Schoolbook Bold"/>
                <a:cs typeface="Century Schoolbook Bold"/>
              </a:rPr>
              <a:t>	</a:t>
            </a:r>
            <a:r>
              <a:rPr sz="1867" b="1" spc="-33" dirty="0">
                <a:latin typeface="Century Schoolbook Bold"/>
                <a:cs typeface="Century Schoolbook Bold"/>
              </a:rPr>
              <a:t>is</a:t>
            </a:r>
            <a:r>
              <a:rPr sz="1867" b="1" dirty="0">
                <a:latin typeface="Century Schoolbook Bold"/>
                <a:cs typeface="Century Schoolbook Bold"/>
              </a:rPr>
              <a:t>	</a:t>
            </a:r>
            <a:r>
              <a:rPr sz="1867" b="1" spc="-13" dirty="0">
                <a:latin typeface="Century Schoolbook Bold"/>
                <a:cs typeface="Century Schoolbook Bold"/>
              </a:rPr>
              <a:t>about</a:t>
            </a:r>
            <a:r>
              <a:rPr sz="1867" b="1" dirty="0">
                <a:latin typeface="Century Schoolbook Bold"/>
                <a:cs typeface="Century Schoolbook Bold"/>
              </a:rPr>
              <a:t>	</a:t>
            </a:r>
            <a:r>
              <a:rPr sz="1867" b="1" spc="-13" dirty="0">
                <a:latin typeface="Century Schoolbook Bold"/>
                <a:cs typeface="Century Schoolbook Bold"/>
              </a:rPr>
              <a:t>acquiring/</a:t>
            </a:r>
            <a:r>
              <a:rPr sz="1867" b="1" dirty="0">
                <a:latin typeface="Century Schoolbook Bold"/>
                <a:cs typeface="Century Schoolbook Bold"/>
              </a:rPr>
              <a:t>	</a:t>
            </a:r>
            <a:r>
              <a:rPr sz="1867" b="1" spc="-13" dirty="0">
                <a:latin typeface="Century Schoolbook Bold"/>
                <a:cs typeface="Century Schoolbook Bold"/>
              </a:rPr>
              <a:t>collecting, </a:t>
            </a:r>
            <a:r>
              <a:rPr sz="1867" b="1" dirty="0">
                <a:latin typeface="Century Schoolbook Bold"/>
                <a:cs typeface="Century Schoolbook Bold"/>
              </a:rPr>
              <a:t>managing,</a:t>
            </a:r>
            <a:r>
              <a:rPr sz="1867" b="1" spc="-53" dirty="0">
                <a:latin typeface="Century Schoolbook Bold"/>
                <a:cs typeface="Century Schoolbook Bold"/>
              </a:rPr>
              <a:t> </a:t>
            </a:r>
            <a:r>
              <a:rPr sz="1867" b="1" dirty="0">
                <a:latin typeface="Century Schoolbook Bold"/>
                <a:cs typeface="Century Schoolbook Bold"/>
              </a:rPr>
              <a:t>analyzing</a:t>
            </a:r>
            <a:r>
              <a:rPr sz="1867" b="1" spc="-60" dirty="0">
                <a:latin typeface="Century Schoolbook Bold"/>
                <a:cs typeface="Century Schoolbook Bold"/>
              </a:rPr>
              <a:t> </a:t>
            </a:r>
            <a:r>
              <a:rPr sz="1867" b="1" dirty="0">
                <a:latin typeface="Century Schoolbook Bold"/>
                <a:cs typeface="Century Schoolbook Bold"/>
              </a:rPr>
              <a:t>and</a:t>
            </a:r>
            <a:r>
              <a:rPr sz="1867" b="1" spc="-53" dirty="0">
                <a:latin typeface="Century Schoolbook Bold"/>
                <a:cs typeface="Century Schoolbook Bold"/>
              </a:rPr>
              <a:t> </a:t>
            </a:r>
            <a:r>
              <a:rPr sz="1867" b="1" spc="-13" dirty="0">
                <a:latin typeface="Century Schoolbook Bold"/>
                <a:cs typeface="Century Schoolbook Bold"/>
              </a:rPr>
              <a:t>understanding</a:t>
            </a:r>
            <a:r>
              <a:rPr sz="1867" b="1" spc="-53" dirty="0">
                <a:latin typeface="Century Schoolbook Bold"/>
                <a:cs typeface="Century Schoolbook Bold"/>
              </a:rPr>
              <a:t> </a:t>
            </a:r>
            <a:r>
              <a:rPr sz="1867" b="1" dirty="0">
                <a:latin typeface="Century Schoolbook Bold"/>
                <a:cs typeface="Century Schoolbook Bold"/>
              </a:rPr>
              <a:t>those</a:t>
            </a:r>
            <a:r>
              <a:rPr sz="1867" b="1" spc="-53" dirty="0">
                <a:latin typeface="Century Schoolbook Bold"/>
                <a:cs typeface="Century Schoolbook Bold"/>
              </a:rPr>
              <a:t> </a:t>
            </a:r>
            <a:r>
              <a:rPr sz="1867" b="1" spc="-13" dirty="0">
                <a:latin typeface="Century Schoolbook Bold"/>
                <a:cs typeface="Century Schoolbook Bold"/>
              </a:rPr>
              <a:t>data.</a:t>
            </a:r>
            <a:endParaRPr sz="1867" dirty="0">
              <a:latin typeface="Century Schoolbook Bold"/>
              <a:cs typeface="Century Schoolbook Bold"/>
            </a:endParaRPr>
          </a:p>
          <a:p>
            <a:pPr marL="16933" marR="6773">
              <a:spcBef>
                <a:spcPts val="2240"/>
              </a:spcBef>
              <a:tabLst>
                <a:tab pos="823786" algn="l"/>
                <a:tab pos="1986230" algn="l"/>
                <a:tab pos="2530622" algn="l"/>
                <a:tab pos="4517700" algn="l"/>
                <a:tab pos="5066327" algn="l"/>
              </a:tabLst>
            </a:pPr>
            <a:r>
              <a:rPr sz="1867" b="1" spc="-27" dirty="0">
                <a:latin typeface="Century Schoolbook Bold"/>
                <a:cs typeface="Century Schoolbook Bold"/>
              </a:rPr>
              <a:t>Also</a:t>
            </a:r>
            <a:r>
              <a:rPr sz="1867" b="1" dirty="0">
                <a:latin typeface="Century Schoolbook Bold"/>
                <a:cs typeface="Century Schoolbook Bold"/>
              </a:rPr>
              <a:t>	</a:t>
            </a:r>
            <a:r>
              <a:rPr sz="1867" b="1" spc="-13" dirty="0">
                <a:latin typeface="Century Schoolbook Bold"/>
                <a:cs typeface="Century Schoolbook Bold"/>
              </a:rPr>
              <a:t>termed</a:t>
            </a:r>
            <a:r>
              <a:rPr sz="1867" b="1" dirty="0">
                <a:latin typeface="Century Schoolbook Bold"/>
                <a:cs typeface="Century Schoolbook Bold"/>
              </a:rPr>
              <a:t>	</a:t>
            </a:r>
            <a:r>
              <a:rPr sz="1867" b="1" spc="-33" dirty="0">
                <a:latin typeface="Century Schoolbook Bold"/>
                <a:cs typeface="Century Schoolbook Bold"/>
              </a:rPr>
              <a:t>as</a:t>
            </a:r>
            <a:r>
              <a:rPr sz="1867" b="1" dirty="0">
                <a:latin typeface="Century Schoolbook Bold"/>
                <a:cs typeface="Century Schoolbook Bold"/>
              </a:rPr>
              <a:t>	</a:t>
            </a:r>
            <a:r>
              <a:rPr sz="1867" b="1" spc="-13" dirty="0">
                <a:latin typeface="Century Schoolbook Bold"/>
                <a:cs typeface="Century Schoolbook Bold"/>
              </a:rPr>
              <a:t>biocomputing</a:t>
            </a:r>
            <a:r>
              <a:rPr sz="1867" b="1" dirty="0">
                <a:latin typeface="Century Schoolbook Bold"/>
                <a:cs typeface="Century Schoolbook Bold"/>
              </a:rPr>
              <a:t>	</a:t>
            </a:r>
            <a:r>
              <a:rPr sz="1867" b="1" spc="-33" dirty="0">
                <a:latin typeface="Century Schoolbook Bold"/>
                <a:cs typeface="Century Schoolbook Bold"/>
              </a:rPr>
              <a:t>or</a:t>
            </a:r>
            <a:r>
              <a:rPr sz="1867" b="1" dirty="0">
                <a:latin typeface="Century Schoolbook Bold"/>
                <a:cs typeface="Century Schoolbook Bold"/>
              </a:rPr>
              <a:t>	</a:t>
            </a:r>
            <a:r>
              <a:rPr sz="1867" b="1" spc="-13" dirty="0">
                <a:latin typeface="Century Schoolbook Bold"/>
                <a:cs typeface="Century Schoolbook Bold"/>
              </a:rPr>
              <a:t>computational Biology.</a:t>
            </a:r>
            <a:endParaRPr sz="1867" dirty="0">
              <a:latin typeface="Century Schoolbook Bold"/>
              <a:cs typeface="Century Schoolbook Bold"/>
            </a:endParaRPr>
          </a:p>
        </p:txBody>
      </p:sp>
      <p:sp>
        <p:nvSpPr>
          <p:cNvPr id="13" name="object 13"/>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2</a:t>
            </a:fld>
            <a:endParaRPr spc="-33" dirty="0"/>
          </a:p>
        </p:txBody>
      </p:sp>
      <p:pic>
        <p:nvPicPr>
          <p:cNvPr id="14" name="Picture 13"/>
          <p:cNvPicPr>
            <a:picLocks noChangeAspect="1"/>
          </p:cNvPicPr>
          <p:nvPr/>
        </p:nvPicPr>
        <p:blipFill>
          <a:blip r:embed="rId2"/>
          <a:stretch>
            <a:fillRect/>
          </a:stretch>
        </p:blipFill>
        <p:spPr>
          <a:xfrm>
            <a:off x="8713383" y="3300198"/>
            <a:ext cx="2611756" cy="2357316"/>
          </a:xfrm>
          <a:prstGeom prst="rect">
            <a:avLst/>
          </a:prstGeom>
        </p:spPr>
      </p:pic>
    </p:spTree>
    <p:extLst>
      <p:ext uri="{BB962C8B-B14F-4D97-AF65-F5344CB8AC3E}">
        <p14:creationId xmlns:p14="http://schemas.microsoft.com/office/powerpoint/2010/main" val="2544857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9937" y="1064049"/>
            <a:ext cx="11686988" cy="632651"/>
          </a:xfrm>
          <a:prstGeom prst="rect">
            <a:avLst/>
          </a:prstGeom>
          <a:solidFill>
            <a:schemeClr val="accent3">
              <a:lumMod val="20000"/>
              <a:lumOff val="80000"/>
            </a:schemeClr>
          </a:solidFill>
        </p:spPr>
        <p:txBody>
          <a:bodyPr vert="horz" wrap="square" lIns="0" tIns="16933" rIns="0" bIns="0" rtlCol="0" anchor="ctr">
            <a:spAutoFit/>
          </a:bodyPr>
          <a:lstStyle/>
          <a:p>
            <a:pPr marL="2296949">
              <a:lnSpc>
                <a:spcPct val="100000"/>
              </a:lnSpc>
              <a:spcBef>
                <a:spcPts val="133"/>
              </a:spcBef>
            </a:pPr>
            <a:r>
              <a:rPr sz="4000" spc="553" dirty="0"/>
              <a:t>What</a:t>
            </a:r>
            <a:r>
              <a:rPr sz="4000" spc="200" dirty="0"/>
              <a:t> </a:t>
            </a:r>
            <a:r>
              <a:rPr sz="4000" spc="287" dirty="0"/>
              <a:t>is</a:t>
            </a:r>
            <a:r>
              <a:rPr sz="4000" spc="200" dirty="0"/>
              <a:t> </a:t>
            </a:r>
            <a:r>
              <a:rPr sz="4000" spc="387" dirty="0"/>
              <a:t>Bioinformatics?</a:t>
            </a:r>
            <a:endParaRPr sz="4000" dirty="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a:t>
            </a:fld>
            <a:endParaRPr spc="-33"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1486" y="1953041"/>
            <a:ext cx="11099768" cy="3895667"/>
          </a:xfrm>
          <a:prstGeom prst="rect">
            <a:avLst/>
          </a:prstGeom>
        </p:spPr>
      </p:pic>
    </p:spTree>
    <p:extLst>
      <p:ext uri="{BB962C8B-B14F-4D97-AF65-F5344CB8AC3E}">
        <p14:creationId xmlns:p14="http://schemas.microsoft.com/office/powerpoint/2010/main" val="3444082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74516"/>
          </a:xfrm>
          <a:solidFill>
            <a:schemeClr val="accent4">
              <a:lumMod val="40000"/>
              <a:lumOff val="60000"/>
            </a:schemeClr>
          </a:solidFill>
        </p:spPr>
        <p:txBody>
          <a:bodyPr>
            <a:normAutofit fontScale="90000"/>
          </a:bodyPr>
          <a:lstStyle/>
          <a:p>
            <a:pPr algn="ctr"/>
            <a:r>
              <a:rPr lang="en-US" sz="3733" spc="553" dirty="0"/>
              <a:t>What</a:t>
            </a:r>
            <a:r>
              <a:rPr lang="en-US" sz="3733" spc="200" dirty="0"/>
              <a:t> </a:t>
            </a:r>
            <a:r>
              <a:rPr lang="en-US" sz="3733" spc="287" dirty="0"/>
              <a:t>is</a:t>
            </a:r>
            <a:r>
              <a:rPr lang="en-US" sz="3733" spc="200" dirty="0"/>
              <a:t> </a:t>
            </a:r>
            <a:r>
              <a:rPr lang="en-US" sz="3733" spc="387" dirty="0"/>
              <a:t>Bioinformatics?</a:t>
            </a:r>
            <a:endParaRPr lang="en-US" dirty="0"/>
          </a:p>
        </p:txBody>
      </p:sp>
      <p:sp>
        <p:nvSpPr>
          <p:cNvPr id="3" name="Rectangle 2"/>
          <p:cNvSpPr/>
          <p:nvPr/>
        </p:nvSpPr>
        <p:spPr>
          <a:xfrm>
            <a:off x="1219200" y="1092201"/>
            <a:ext cx="9550400" cy="5344027"/>
          </a:xfrm>
          <a:prstGeom prst="rect">
            <a:avLst/>
          </a:prstGeom>
          <a:solidFill>
            <a:schemeClr val="accent6">
              <a:lumMod val="20000"/>
              <a:lumOff val="80000"/>
            </a:schemeClr>
          </a:solidFill>
        </p:spPr>
        <p:txBody>
          <a:bodyPr wrap="square">
            <a:spAutoFit/>
          </a:bodyPr>
          <a:lstStyle/>
          <a:p>
            <a:r>
              <a:rPr lang="en-US" sz="2133" b="1" dirty="0">
                <a:latin typeface="Times New Roman" panose="02020603050405020304" pitchFamily="18" charset="0"/>
                <a:cs typeface="Times New Roman" panose="02020603050405020304" pitchFamily="18" charset="0"/>
              </a:rPr>
              <a:t>Explanation of the Diagram</a:t>
            </a:r>
          </a:p>
          <a:p>
            <a:pPr>
              <a:buFont typeface="+mj-lt"/>
              <a:buAutoNum type="arabicPeriod"/>
            </a:pPr>
            <a:r>
              <a:rPr lang="en-US" sz="2133" b="1" dirty="0">
                <a:latin typeface="Times New Roman" panose="02020603050405020304" pitchFamily="18" charset="0"/>
                <a:cs typeface="Times New Roman" panose="02020603050405020304" pitchFamily="18" charset="0"/>
              </a:rPr>
              <a:t>Biologists</a:t>
            </a:r>
            <a:endParaRPr lang="en-US" sz="2133" dirty="0">
              <a:latin typeface="Times New Roman" panose="02020603050405020304" pitchFamily="18" charset="0"/>
              <a:cs typeface="Times New Roman" panose="02020603050405020304" pitchFamily="18" charset="0"/>
            </a:endParaRPr>
          </a:p>
          <a:p>
            <a:pPr marL="990575" lvl="1" indent="-380990">
              <a:buFont typeface="+mj-lt"/>
              <a:buAutoNum type="arabicPeriod"/>
            </a:pPr>
            <a:r>
              <a:rPr lang="en-US" sz="2133" dirty="0">
                <a:latin typeface="Times New Roman" panose="02020603050405020304" pitchFamily="18" charset="0"/>
                <a:cs typeface="Times New Roman" panose="02020603050405020304" pitchFamily="18" charset="0"/>
              </a:rPr>
              <a:t>Collect molecular data.</a:t>
            </a:r>
          </a:p>
          <a:p>
            <a:pPr marL="990575" lvl="1" indent="-380990">
              <a:buFont typeface="+mj-lt"/>
              <a:buAutoNum type="arabicPeriod"/>
            </a:pPr>
            <a:r>
              <a:rPr lang="en-US" sz="2133" dirty="0">
                <a:latin typeface="Times New Roman" panose="02020603050405020304" pitchFamily="18" charset="0"/>
                <a:cs typeface="Times New Roman" panose="02020603050405020304" pitchFamily="18" charset="0"/>
              </a:rPr>
              <a:t>Examples: DNA sequences, protein sequences, gene expression profiles, experimental results.</a:t>
            </a:r>
          </a:p>
          <a:p>
            <a:pPr marL="990575" lvl="1" indent="-380990">
              <a:buFont typeface="+mj-lt"/>
              <a:buAutoNum type="arabicPeriod"/>
            </a:pPr>
            <a:r>
              <a:rPr lang="en-US" sz="2133" dirty="0" smtClean="0">
                <a:latin typeface="Times New Roman" panose="02020603050405020304" pitchFamily="18" charset="0"/>
                <a:cs typeface="Times New Roman" panose="02020603050405020304" pitchFamily="18" charset="0"/>
              </a:rPr>
              <a:t>Provide </a:t>
            </a:r>
            <a:r>
              <a:rPr lang="en-US" sz="2133" dirty="0">
                <a:latin typeface="Times New Roman" panose="02020603050405020304" pitchFamily="18" charset="0"/>
                <a:cs typeface="Times New Roman" panose="02020603050405020304" pitchFamily="18" charset="0"/>
              </a:rPr>
              <a:t>the </a:t>
            </a:r>
            <a:r>
              <a:rPr lang="en-US" sz="2133" i="1" dirty="0">
                <a:latin typeface="Times New Roman" panose="02020603050405020304" pitchFamily="18" charset="0"/>
                <a:cs typeface="Times New Roman" panose="02020603050405020304" pitchFamily="18" charset="0"/>
              </a:rPr>
              <a:t>raw biological information</a:t>
            </a:r>
            <a:r>
              <a:rPr lang="en-US" sz="2133" dirty="0">
                <a:latin typeface="Times New Roman" panose="02020603050405020304" pitchFamily="18" charset="0"/>
                <a:cs typeface="Times New Roman" panose="02020603050405020304" pitchFamily="18" charset="0"/>
              </a:rPr>
              <a:t> that forms the basis for further analysis.</a:t>
            </a:r>
          </a:p>
          <a:p>
            <a:pPr>
              <a:buFont typeface="+mj-lt"/>
              <a:buAutoNum type="arabicPeriod"/>
            </a:pPr>
            <a:r>
              <a:rPr lang="en-US" sz="2133" b="1" dirty="0">
                <a:latin typeface="Times New Roman" panose="02020603050405020304" pitchFamily="18" charset="0"/>
                <a:cs typeface="Times New Roman" panose="02020603050405020304" pitchFamily="18" charset="0"/>
              </a:rPr>
              <a:t>Computer Scientists (with Mathematicians &amp; Statisticians)</a:t>
            </a:r>
            <a:endParaRPr lang="en-US" sz="2133" dirty="0">
              <a:latin typeface="Times New Roman" panose="02020603050405020304" pitchFamily="18" charset="0"/>
              <a:cs typeface="Times New Roman" panose="02020603050405020304" pitchFamily="18" charset="0"/>
            </a:endParaRPr>
          </a:p>
          <a:p>
            <a:pPr marL="990575" lvl="1" indent="-380990">
              <a:buFont typeface="+mj-lt"/>
              <a:buAutoNum type="arabicPeriod"/>
            </a:pPr>
            <a:r>
              <a:rPr lang="en-US" sz="2133" dirty="0">
                <a:latin typeface="Times New Roman" panose="02020603050405020304" pitchFamily="18" charset="0"/>
                <a:cs typeface="Times New Roman" panose="02020603050405020304" pitchFamily="18" charset="0"/>
              </a:rPr>
              <a:t>Develop computational tools, software, databases, and algorithms.</a:t>
            </a:r>
          </a:p>
          <a:p>
            <a:pPr marL="990575" lvl="1" indent="-380990">
              <a:buFont typeface="+mj-lt"/>
              <a:buAutoNum type="arabicPeriod"/>
            </a:pPr>
            <a:r>
              <a:rPr lang="en-US" sz="2133" dirty="0" smtClean="0">
                <a:latin typeface="Times New Roman" panose="02020603050405020304" pitchFamily="18" charset="0"/>
                <a:cs typeface="Times New Roman" panose="02020603050405020304" pitchFamily="18" charset="0"/>
              </a:rPr>
              <a:t>Enable </a:t>
            </a:r>
            <a:r>
              <a:rPr lang="en-US" sz="2133" dirty="0">
                <a:latin typeface="Times New Roman" panose="02020603050405020304" pitchFamily="18" charset="0"/>
                <a:cs typeface="Times New Roman" panose="02020603050405020304" pitchFamily="18" charset="0"/>
              </a:rPr>
              <a:t>the storage, processing, and large-scale analysis of massive biological datasets.</a:t>
            </a:r>
          </a:p>
          <a:p>
            <a:pPr>
              <a:buFont typeface="+mj-lt"/>
              <a:buAutoNum type="arabicPeriod"/>
            </a:pPr>
            <a:r>
              <a:rPr lang="en-US" sz="2133" b="1" dirty="0" err="1">
                <a:latin typeface="Times New Roman" panose="02020603050405020304" pitchFamily="18" charset="0"/>
                <a:cs typeface="Times New Roman" panose="02020603050405020304" pitchFamily="18" charset="0"/>
              </a:rPr>
              <a:t>Bioinformaticians</a:t>
            </a:r>
            <a:endParaRPr lang="en-US" sz="2133" dirty="0">
              <a:latin typeface="Times New Roman" panose="02020603050405020304" pitchFamily="18" charset="0"/>
              <a:cs typeface="Times New Roman" panose="02020603050405020304" pitchFamily="18" charset="0"/>
            </a:endParaRPr>
          </a:p>
          <a:p>
            <a:pPr marL="990575" lvl="1" indent="-380990">
              <a:buFont typeface="+mj-lt"/>
              <a:buAutoNum type="arabicPeriod"/>
            </a:pPr>
            <a:r>
              <a:rPr lang="en-US" sz="2133" dirty="0">
                <a:latin typeface="Times New Roman" panose="02020603050405020304" pitchFamily="18" charset="0"/>
                <a:cs typeface="Times New Roman" panose="02020603050405020304" pitchFamily="18" charset="0"/>
              </a:rPr>
              <a:t> Bridge the gap between biology and computer science.</a:t>
            </a:r>
          </a:p>
          <a:p>
            <a:pPr marL="990575" lvl="1" indent="-380990">
              <a:buFont typeface="+mj-lt"/>
              <a:buAutoNum type="arabicPeriod"/>
            </a:pPr>
            <a:r>
              <a:rPr lang="en-US" sz="2133" dirty="0" smtClean="0">
                <a:latin typeface="Times New Roman" panose="02020603050405020304" pitchFamily="18" charset="0"/>
                <a:cs typeface="Times New Roman" panose="02020603050405020304" pitchFamily="18" charset="0"/>
              </a:rPr>
              <a:t> Use </a:t>
            </a:r>
            <a:r>
              <a:rPr lang="en-US" sz="2133" dirty="0">
                <a:latin typeface="Times New Roman" panose="02020603050405020304" pitchFamily="18" charset="0"/>
                <a:cs typeface="Times New Roman" panose="02020603050405020304" pitchFamily="18" charset="0"/>
              </a:rPr>
              <a:t>computational methods to </a:t>
            </a:r>
            <a:r>
              <a:rPr lang="en-US" sz="2133" b="1" dirty="0">
                <a:latin typeface="Times New Roman" panose="02020603050405020304" pitchFamily="18" charset="0"/>
                <a:cs typeface="Times New Roman" panose="02020603050405020304" pitchFamily="18" charset="0"/>
              </a:rPr>
              <a:t>study biological questions</a:t>
            </a:r>
            <a:r>
              <a:rPr lang="en-US" sz="2133" dirty="0">
                <a:latin typeface="Times New Roman" panose="02020603050405020304" pitchFamily="18" charset="0"/>
                <a:cs typeface="Times New Roman" panose="02020603050405020304" pitchFamily="18" charset="0"/>
              </a:rPr>
              <a:t>—e.g., finding disease-causing genes, predicting protein structures, or analyzing evolutionary relationships.</a:t>
            </a:r>
          </a:p>
        </p:txBody>
      </p:sp>
    </p:spTree>
    <p:extLst>
      <p:ext uri="{BB962C8B-B14F-4D97-AF65-F5344CB8AC3E}">
        <p14:creationId xmlns:p14="http://schemas.microsoft.com/office/powerpoint/2010/main" val="4205167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53997"/>
          </a:xfrm>
        </p:spPr>
        <p:txBody>
          <a:bodyPr>
            <a:normAutofit fontScale="90000"/>
          </a:bodyPr>
          <a:lstStyle/>
          <a:p>
            <a:r>
              <a:rPr lang="en-US" dirty="0" smtClean="0"/>
              <a:t>Biological data</a:t>
            </a:r>
            <a:endParaRPr lang="en-US"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968" y="2317810"/>
            <a:ext cx="10518475" cy="4540190"/>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2967" y="770477"/>
            <a:ext cx="6905749" cy="1774315"/>
          </a:xfrm>
          <a:prstGeom prst="rect">
            <a:avLst/>
          </a:prstGeom>
        </p:spPr>
      </p:pic>
    </p:spTree>
    <p:extLst>
      <p:ext uri="{BB962C8B-B14F-4D97-AF65-F5344CB8AC3E}">
        <p14:creationId xmlns:p14="http://schemas.microsoft.com/office/powerpoint/2010/main" val="756206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5599" y="591776"/>
            <a:ext cx="11361420" cy="766877"/>
          </a:xfrm>
          <a:prstGeom prst="rect">
            <a:avLst/>
          </a:prstGeom>
          <a:solidFill>
            <a:schemeClr val="accent3">
              <a:lumMod val="20000"/>
              <a:lumOff val="80000"/>
            </a:schemeClr>
          </a:solidFill>
          <a:ln w="9524">
            <a:solidFill>
              <a:srgbClr val="A61B00"/>
            </a:solidFill>
          </a:ln>
        </p:spPr>
        <p:txBody>
          <a:bodyPr vert="horz" wrap="square" lIns="0" tIns="88900" rIns="0" bIns="0" rtlCol="0" anchor="ctr">
            <a:spAutoFit/>
          </a:bodyPr>
          <a:lstStyle/>
          <a:p>
            <a:pPr algn="ctr">
              <a:lnSpc>
                <a:spcPct val="100000"/>
              </a:lnSpc>
              <a:spcBef>
                <a:spcPts val="700"/>
              </a:spcBef>
            </a:pPr>
            <a:r>
              <a:rPr lang="en-US" spc="493" dirty="0" smtClean="0">
                <a:solidFill>
                  <a:srgbClr val="A61B00"/>
                </a:solidFill>
              </a:rPr>
              <a:t>Biological Data</a:t>
            </a:r>
            <a:endParaRPr spc="367" dirty="0">
              <a:solidFill>
                <a:srgbClr val="A61B00"/>
              </a:solidFill>
            </a:endParaRPr>
          </a:p>
        </p:txBody>
      </p:sp>
      <p:sp>
        <p:nvSpPr>
          <p:cNvPr id="4" name="object 4"/>
          <p:cNvSpPr txBox="1"/>
          <p:nvPr/>
        </p:nvSpPr>
        <p:spPr>
          <a:xfrm>
            <a:off x="461781" y="1498601"/>
            <a:ext cx="11469100" cy="3003044"/>
          </a:xfrm>
          <a:prstGeom prst="rect">
            <a:avLst/>
          </a:prstGeom>
          <a:solidFill>
            <a:schemeClr val="accent6">
              <a:lumMod val="20000"/>
              <a:lumOff val="80000"/>
            </a:schemeClr>
          </a:solidFill>
        </p:spPr>
        <p:txBody>
          <a:bodyPr vert="horz" wrap="square" lIns="0" tIns="16933" rIns="0" bIns="0" rtlCol="0">
            <a:spAutoFit/>
          </a:bodyPr>
          <a:lstStyle/>
          <a:p>
            <a:pPr marL="16933" marR="6773" algn="just">
              <a:lnSpc>
                <a:spcPct val="114999"/>
              </a:lnSpc>
              <a:spcBef>
                <a:spcPts val="133"/>
              </a:spcBef>
            </a:pPr>
            <a:r>
              <a:rPr lang="en-US" sz="2400" dirty="0">
                <a:latin typeface="Times New Roman" panose="02020603050405020304" pitchFamily="18" charset="0"/>
                <a:cs typeface="Times New Roman" panose="02020603050405020304" pitchFamily="18" charset="0"/>
              </a:rPr>
              <a:t>The </a:t>
            </a:r>
            <a:r>
              <a:rPr lang="en-US" sz="2400" b="1" dirty="0">
                <a:latin typeface="Times New Roman" panose="02020603050405020304" pitchFamily="18" charset="0"/>
                <a:cs typeface="Times New Roman" panose="02020603050405020304" pitchFamily="18" charset="0"/>
              </a:rPr>
              <a:t>genome or DNA</a:t>
            </a:r>
            <a:r>
              <a:rPr lang="en-US" sz="2400" dirty="0">
                <a:latin typeface="Times New Roman" panose="02020603050405020304" pitchFamily="18" charset="0"/>
                <a:cs typeface="Times New Roman" panose="02020603050405020304" pitchFamily="18" charset="0"/>
              </a:rPr>
              <a:t>, often called the “book of fate,” is a complete set of instructions written inside every cell of our body. Just as a book is made up of chapters, paragraphs, and sentences, our genome is composed of genes, sequences, and nucleotides. Within it lies the information that determines much of who we are—our gender, the height to which we may grow, the color of our eyes and skin, and even our resistance or susceptibility to certain diseases.</a:t>
            </a:r>
          </a:p>
          <a:p>
            <a:pPr marL="16933" marR="6773" algn="just">
              <a:lnSpc>
                <a:spcPct val="114999"/>
              </a:lnSpc>
              <a:spcBef>
                <a:spcPts val="133"/>
              </a:spcBef>
            </a:pPr>
            <a:endParaRPr sz="2400" dirty="0">
              <a:latin typeface="Century Schoolbook"/>
              <a:cs typeface="Century Schoolbook"/>
            </a:endParaRPr>
          </a:p>
        </p:txBody>
      </p:sp>
      <p:sp>
        <p:nvSpPr>
          <p:cNvPr id="5" name="object 5"/>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6</a:t>
            </a:fld>
            <a:endParaRPr spc="-33" dirty="0"/>
          </a:p>
        </p:txBody>
      </p:sp>
      <p:sp>
        <p:nvSpPr>
          <p:cNvPr id="6" name="Rectangle 5"/>
          <p:cNvSpPr/>
          <p:nvPr/>
        </p:nvSpPr>
        <p:spPr>
          <a:xfrm>
            <a:off x="443307" y="4038600"/>
            <a:ext cx="11538759" cy="2640723"/>
          </a:xfrm>
          <a:prstGeom prst="rect">
            <a:avLst/>
          </a:prstGeom>
          <a:solidFill>
            <a:schemeClr val="accent6">
              <a:lumMod val="40000"/>
              <a:lumOff val="60000"/>
            </a:schemeClr>
          </a:solidFill>
        </p:spPr>
        <p:txBody>
          <a:bodyPr wrap="square">
            <a:spAutoFit/>
          </a:bodyPr>
          <a:lstStyle/>
          <a:p>
            <a:pPr marL="16933" marR="6773" algn="just">
              <a:lnSpc>
                <a:spcPct val="114999"/>
              </a:lnSpc>
              <a:spcBef>
                <a:spcPts val="133"/>
              </a:spcBef>
            </a:pPr>
            <a:r>
              <a:rPr lang="en-US" sz="2400" dirty="0">
                <a:latin typeface="Times New Roman" panose="02020603050405020304" pitchFamily="18" charset="0"/>
                <a:cs typeface="Times New Roman" panose="02020603050405020304" pitchFamily="18" charset="0"/>
              </a:rPr>
              <a:t>For centuries, this book remained closed to us. The sheer vastness of the human genome, with its billions of DNA letters, made it appear impossible to read and understand. However, recent decades, particularly with the completion of the </a:t>
            </a:r>
            <a:r>
              <a:rPr lang="en-US" sz="2400" b="1" dirty="0">
                <a:latin typeface="Times New Roman" panose="02020603050405020304" pitchFamily="18" charset="0"/>
                <a:cs typeface="Times New Roman" panose="02020603050405020304" pitchFamily="18" charset="0"/>
              </a:rPr>
              <a:t>Human Genome Project</a:t>
            </a:r>
            <a:r>
              <a:rPr lang="en-US" sz="2400" dirty="0">
                <a:latin typeface="Times New Roman" panose="02020603050405020304" pitchFamily="18" charset="0"/>
                <a:cs typeface="Times New Roman" panose="02020603050405020304" pitchFamily="18" charset="0"/>
              </a:rPr>
              <a:t> and advances in sequencing technologies, have allowed scientists to gradually “read” this book. What once seemed like an undecipherable mystery is now becoming a map that guides medicine, genetics, and our understanding of life itself.</a:t>
            </a:r>
          </a:p>
        </p:txBody>
      </p:sp>
    </p:spTree>
    <p:extLst>
      <p:ext uri="{BB962C8B-B14F-4D97-AF65-F5344CB8AC3E}">
        <p14:creationId xmlns:p14="http://schemas.microsoft.com/office/powerpoint/2010/main" val="3873092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53997"/>
          </a:xfrm>
          <a:solidFill>
            <a:schemeClr val="accent4">
              <a:lumMod val="40000"/>
              <a:lumOff val="60000"/>
            </a:schemeClr>
          </a:solidFill>
        </p:spPr>
        <p:txBody>
          <a:bodyPr>
            <a:normAutofit fontScale="90000"/>
          </a:bodyPr>
          <a:lstStyle/>
          <a:p>
            <a:pPr algn="ctr"/>
            <a:r>
              <a:rPr lang="en-US" dirty="0" smtClean="0"/>
              <a:t>Human Genome Project</a:t>
            </a:r>
            <a:endParaRPr lang="en-US" dirty="0"/>
          </a:p>
        </p:txBody>
      </p:sp>
      <p:sp>
        <p:nvSpPr>
          <p:cNvPr id="3" name="Text Placeholder 2"/>
          <p:cNvSpPr>
            <a:spLocks noGrp="1"/>
          </p:cNvSpPr>
          <p:nvPr>
            <p:ph type="body" idx="1"/>
          </p:nvPr>
        </p:nvSpPr>
        <p:spPr>
          <a:xfrm>
            <a:off x="870073" y="1242204"/>
            <a:ext cx="10007838" cy="4710023"/>
          </a:xfrm>
          <a:solidFill>
            <a:schemeClr val="accent6">
              <a:lumMod val="40000"/>
              <a:lumOff val="60000"/>
            </a:schemeClr>
          </a:solidFill>
        </p:spPr>
        <p:txBody>
          <a:bodyPr>
            <a:normAutofit fontScale="70000" lnSpcReduction="20000"/>
          </a:bodyPr>
          <a:lstStyle/>
          <a:p>
            <a:pPr marL="380990" indent="-380990">
              <a:buFont typeface="Wingdings" panose="05000000000000000000" pitchFamily="2" charset="2"/>
              <a:buChar char="q"/>
            </a:pPr>
            <a:endParaRPr lang="en-US" sz="3400" b="1" dirty="0" smtClean="0">
              <a:solidFill>
                <a:srgbClr val="FF0000"/>
              </a:solidFill>
              <a:latin typeface="Times New Roman" panose="02020603050405020304" pitchFamily="18" charset="0"/>
              <a:cs typeface="Times New Roman" panose="02020603050405020304" pitchFamily="18" charset="0"/>
            </a:endParaRPr>
          </a:p>
          <a:p>
            <a:pPr marL="380990" indent="-380990">
              <a:buFont typeface="Wingdings" panose="05000000000000000000" pitchFamily="2" charset="2"/>
              <a:buChar char="q"/>
            </a:pPr>
            <a:r>
              <a:rPr lang="en-US" sz="3400" b="1" dirty="0" smtClean="0">
                <a:solidFill>
                  <a:srgbClr val="FF0000"/>
                </a:solidFill>
                <a:latin typeface="Times New Roman" panose="02020603050405020304" pitchFamily="18" charset="0"/>
                <a:cs typeface="Times New Roman" panose="02020603050405020304" pitchFamily="18" charset="0"/>
              </a:rPr>
              <a:t>Human </a:t>
            </a:r>
            <a:r>
              <a:rPr lang="en-US" sz="3400" b="1" dirty="0">
                <a:solidFill>
                  <a:srgbClr val="FF0000"/>
                </a:solidFill>
                <a:latin typeface="Times New Roman" panose="02020603050405020304" pitchFamily="18" charset="0"/>
                <a:cs typeface="Times New Roman" panose="02020603050405020304" pitchFamily="18" charset="0"/>
              </a:rPr>
              <a:t>Genome Project (HGP)</a:t>
            </a:r>
          </a:p>
          <a:p>
            <a:pPr>
              <a:lnSpc>
                <a:spcPct val="170000"/>
              </a:lnSpc>
            </a:pPr>
            <a:r>
              <a:rPr lang="en-US" dirty="0">
                <a:latin typeface="Times New Roman" panose="02020603050405020304" pitchFamily="18" charset="0"/>
                <a:cs typeface="Times New Roman" panose="02020603050405020304" pitchFamily="18" charset="0"/>
              </a:rPr>
              <a:t>The Human Genome Project was an international scientific research effort that aimed to </a:t>
            </a:r>
            <a:r>
              <a:rPr lang="en-US" b="1" dirty="0">
                <a:latin typeface="Times New Roman" panose="02020603050405020304" pitchFamily="18" charset="0"/>
                <a:cs typeface="Times New Roman" panose="02020603050405020304" pitchFamily="18" charset="0"/>
              </a:rPr>
              <a:t>map and understand all the genes of human beings</a:t>
            </a:r>
            <a:r>
              <a:rPr lang="en-US" dirty="0">
                <a:latin typeface="Times New Roman" panose="02020603050405020304" pitchFamily="18" charset="0"/>
                <a:cs typeface="Times New Roman" panose="02020603050405020304" pitchFamily="18" charset="0"/>
              </a:rPr>
              <a:t>—collectively known as the </a:t>
            </a:r>
            <a:r>
              <a:rPr lang="en-US" i="1" dirty="0">
                <a:latin typeface="Times New Roman" panose="02020603050405020304" pitchFamily="18" charset="0"/>
                <a:cs typeface="Times New Roman" panose="02020603050405020304" pitchFamily="18" charset="0"/>
              </a:rPr>
              <a:t>genome</a:t>
            </a:r>
            <a:r>
              <a:rPr lang="en-US" dirty="0">
                <a:latin typeface="Times New Roman" panose="02020603050405020304" pitchFamily="18" charset="0"/>
                <a:cs typeface="Times New Roman" panose="02020603050405020304" pitchFamily="18" charset="0"/>
              </a:rPr>
              <a:t>. It officially began in </a:t>
            </a:r>
            <a:r>
              <a:rPr lang="en-US" b="1" dirty="0">
                <a:latin typeface="Times New Roman" panose="02020603050405020304" pitchFamily="18" charset="0"/>
                <a:cs typeface="Times New Roman" panose="02020603050405020304" pitchFamily="18" charset="0"/>
              </a:rPr>
              <a:t>1990</a:t>
            </a:r>
            <a:r>
              <a:rPr lang="en-US" dirty="0">
                <a:latin typeface="Times New Roman" panose="02020603050405020304" pitchFamily="18" charset="0"/>
                <a:cs typeface="Times New Roman" panose="02020603050405020304" pitchFamily="18" charset="0"/>
              </a:rPr>
              <a:t> and was completed in </a:t>
            </a:r>
            <a:r>
              <a:rPr lang="en-US" b="1" dirty="0">
                <a:latin typeface="Times New Roman" panose="02020603050405020304" pitchFamily="18" charset="0"/>
                <a:cs typeface="Times New Roman" panose="02020603050405020304" pitchFamily="18" charset="0"/>
              </a:rPr>
              <a:t>2003</a:t>
            </a:r>
            <a:r>
              <a:rPr lang="en-US" dirty="0">
                <a:latin typeface="Times New Roman" panose="02020603050405020304" pitchFamily="18" charset="0"/>
                <a:cs typeface="Times New Roman" panose="02020603050405020304" pitchFamily="18" charset="0"/>
              </a:rPr>
              <a:t>, two years ahead of schedule</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pPr marL="380990" indent="-380990">
              <a:buFont typeface="Wingdings" panose="05000000000000000000" pitchFamily="2" charset="2"/>
              <a:buChar char="q"/>
            </a:pPr>
            <a:r>
              <a:rPr lang="en-US" b="1" dirty="0">
                <a:solidFill>
                  <a:srgbClr val="0070C0"/>
                </a:solidFill>
                <a:latin typeface="Times New Roman" panose="02020603050405020304" pitchFamily="18" charset="0"/>
                <a:cs typeface="Times New Roman" panose="02020603050405020304" pitchFamily="18" charset="0"/>
              </a:rPr>
              <a:t>The main goals of the HGP were to:</a:t>
            </a:r>
          </a:p>
          <a:p>
            <a:pPr marL="380990" indent="-380990"/>
            <a:r>
              <a:rPr lang="en-US" b="1" dirty="0">
                <a:latin typeface="Times New Roman" panose="02020603050405020304" pitchFamily="18" charset="0"/>
                <a:cs typeface="Times New Roman" panose="02020603050405020304" pitchFamily="18" charset="0"/>
              </a:rPr>
              <a:t>Identify all the genes</a:t>
            </a:r>
            <a:r>
              <a:rPr lang="en-US" dirty="0">
                <a:latin typeface="Times New Roman" panose="02020603050405020304" pitchFamily="18" charset="0"/>
                <a:cs typeface="Times New Roman" panose="02020603050405020304" pitchFamily="18" charset="0"/>
              </a:rPr>
              <a:t> in human DNA (estimated to be about 20,000–25,000).</a:t>
            </a:r>
          </a:p>
          <a:p>
            <a:pPr marL="380990" indent="-380990"/>
            <a:r>
              <a:rPr lang="en-US" b="1" dirty="0">
                <a:latin typeface="Times New Roman" panose="02020603050405020304" pitchFamily="18" charset="0"/>
                <a:cs typeface="Times New Roman" panose="02020603050405020304" pitchFamily="18" charset="0"/>
              </a:rPr>
              <a:t>Determine the sequence</a:t>
            </a:r>
            <a:r>
              <a:rPr lang="en-US" dirty="0">
                <a:latin typeface="Times New Roman" panose="02020603050405020304" pitchFamily="18" charset="0"/>
                <a:cs typeface="Times New Roman" panose="02020603050405020304" pitchFamily="18" charset="0"/>
              </a:rPr>
              <a:t> of the 3 billion DNA base pairs that make up the human genome.</a:t>
            </a:r>
          </a:p>
          <a:p>
            <a:pPr marL="380990" indent="-380990"/>
            <a:r>
              <a:rPr lang="en-US" b="1" dirty="0">
                <a:latin typeface="Times New Roman" panose="02020603050405020304" pitchFamily="18" charset="0"/>
                <a:cs typeface="Times New Roman" panose="02020603050405020304" pitchFamily="18" charset="0"/>
              </a:rPr>
              <a:t>Store this information</a:t>
            </a:r>
            <a:r>
              <a:rPr lang="en-US" dirty="0">
                <a:latin typeface="Times New Roman" panose="02020603050405020304" pitchFamily="18" charset="0"/>
                <a:cs typeface="Times New Roman" panose="02020603050405020304" pitchFamily="18" charset="0"/>
              </a:rPr>
              <a:t> in databases to be accessible for research.</a:t>
            </a:r>
          </a:p>
          <a:p>
            <a:pPr marL="380990" indent="-380990"/>
            <a:r>
              <a:rPr lang="en-US" b="1" dirty="0">
                <a:latin typeface="Times New Roman" panose="02020603050405020304" pitchFamily="18" charset="0"/>
                <a:cs typeface="Times New Roman" panose="02020603050405020304" pitchFamily="18" charset="0"/>
              </a:rPr>
              <a:t>Improve tools</a:t>
            </a:r>
            <a:r>
              <a:rPr lang="en-US" dirty="0">
                <a:latin typeface="Times New Roman" panose="02020603050405020304" pitchFamily="18" charset="0"/>
                <a:cs typeface="Times New Roman" panose="02020603050405020304" pitchFamily="18" charset="0"/>
              </a:rPr>
              <a:t> for data analysis.</a:t>
            </a:r>
          </a:p>
          <a:p>
            <a:pPr marL="380990" indent="-380990"/>
            <a:r>
              <a:rPr lang="en-US" b="1" dirty="0">
                <a:latin typeface="Times New Roman" panose="02020603050405020304" pitchFamily="18" charset="0"/>
                <a:cs typeface="Times New Roman" panose="02020603050405020304" pitchFamily="18" charset="0"/>
              </a:rPr>
              <a:t>Address ethical, legal, and social issues</a:t>
            </a:r>
            <a:r>
              <a:rPr lang="en-US" dirty="0">
                <a:latin typeface="Times New Roman" panose="02020603050405020304" pitchFamily="18" charset="0"/>
                <a:cs typeface="Times New Roman" panose="02020603050405020304" pitchFamily="18" charset="0"/>
              </a:rPr>
              <a:t> arising from genome research.</a:t>
            </a:r>
          </a:p>
        </p:txBody>
      </p:sp>
    </p:spTree>
    <p:extLst>
      <p:ext uri="{BB962C8B-B14F-4D97-AF65-F5344CB8AC3E}">
        <p14:creationId xmlns:p14="http://schemas.microsoft.com/office/powerpoint/2010/main" val="2766424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247397" y="278041"/>
            <a:ext cx="5697220" cy="1371315"/>
          </a:xfrm>
          <a:prstGeom prst="rect">
            <a:avLst/>
          </a:prstGeom>
        </p:spPr>
        <p:txBody>
          <a:bodyPr vert="horz" wrap="square" lIns="0" tIns="16933" rIns="0" bIns="0" rtlCol="0" anchor="ctr">
            <a:spAutoFit/>
          </a:bodyPr>
          <a:lstStyle/>
          <a:p>
            <a:pPr marL="16933">
              <a:lnSpc>
                <a:spcPct val="100000"/>
              </a:lnSpc>
              <a:spcBef>
                <a:spcPts val="133"/>
              </a:spcBef>
            </a:pPr>
            <a:r>
              <a:rPr spc="253" dirty="0">
                <a:solidFill>
                  <a:srgbClr val="CC0000"/>
                </a:solidFill>
              </a:rPr>
              <a:t>Goals</a:t>
            </a:r>
            <a:r>
              <a:rPr spc="187" dirty="0">
                <a:solidFill>
                  <a:srgbClr val="CC0000"/>
                </a:solidFill>
              </a:rPr>
              <a:t> </a:t>
            </a:r>
            <a:r>
              <a:rPr spc="233" dirty="0">
                <a:solidFill>
                  <a:srgbClr val="CC0000"/>
                </a:solidFill>
              </a:rPr>
              <a:t>of</a:t>
            </a:r>
            <a:r>
              <a:rPr spc="187" dirty="0">
                <a:solidFill>
                  <a:srgbClr val="CC0000"/>
                </a:solidFill>
              </a:rPr>
              <a:t> </a:t>
            </a:r>
            <a:r>
              <a:rPr spc="333" dirty="0">
                <a:solidFill>
                  <a:srgbClr val="CC0000"/>
                </a:solidFill>
              </a:rPr>
              <a:t>Bioinformatics</a:t>
            </a:r>
          </a:p>
        </p:txBody>
      </p:sp>
      <p:pic>
        <p:nvPicPr>
          <p:cNvPr id="3" name="object 3"/>
          <p:cNvPicPr/>
          <p:nvPr/>
        </p:nvPicPr>
        <p:blipFill>
          <a:blip r:embed="rId2" cstate="print"/>
          <a:stretch>
            <a:fillRect/>
          </a:stretch>
        </p:blipFill>
        <p:spPr>
          <a:xfrm>
            <a:off x="6171550" y="1779056"/>
            <a:ext cx="4984319" cy="4127101"/>
          </a:xfrm>
          <a:prstGeom prst="rect">
            <a:avLst/>
          </a:prstGeom>
        </p:spPr>
      </p:pic>
      <p:sp>
        <p:nvSpPr>
          <p:cNvPr id="4" name="object 4"/>
          <p:cNvSpPr txBox="1"/>
          <p:nvPr/>
        </p:nvSpPr>
        <p:spPr>
          <a:xfrm>
            <a:off x="230400" y="2098399"/>
            <a:ext cx="5664200" cy="760763"/>
          </a:xfrm>
          <a:prstGeom prst="rect">
            <a:avLst/>
          </a:prstGeom>
          <a:solidFill>
            <a:srgbClr val="EAD1DC"/>
          </a:solidFill>
        </p:spPr>
        <p:txBody>
          <a:bodyPr vert="horz" wrap="square" lIns="0" tIns="103293" rIns="0" bIns="0" rtlCol="0">
            <a:spAutoFit/>
          </a:bodyPr>
          <a:lstStyle/>
          <a:p>
            <a:pPr marL="114297" marR="132077">
              <a:spcBef>
                <a:spcPts val="813"/>
              </a:spcBef>
              <a:tabLst>
                <a:tab pos="734042" algn="l"/>
                <a:tab pos="2225830" algn="l"/>
                <a:tab pos="3026758" algn="l"/>
                <a:tab pos="4344138" algn="l"/>
              </a:tabLst>
            </a:pPr>
            <a:r>
              <a:rPr sz="2133" spc="-33" dirty="0">
                <a:latin typeface="Century Schoolbook"/>
                <a:cs typeface="Century Schoolbook"/>
              </a:rPr>
              <a:t>To</a:t>
            </a:r>
            <a:r>
              <a:rPr sz="2133" dirty="0">
                <a:latin typeface="Century Schoolbook"/>
                <a:cs typeface="Century Schoolbook"/>
              </a:rPr>
              <a:t>	</a:t>
            </a:r>
            <a:r>
              <a:rPr sz="2133" spc="-13" dirty="0">
                <a:latin typeface="Century Schoolbook"/>
                <a:cs typeface="Century Schoolbook"/>
              </a:rPr>
              <a:t>construct</a:t>
            </a:r>
            <a:r>
              <a:rPr sz="2133" dirty="0">
                <a:latin typeface="Century Schoolbook"/>
                <a:cs typeface="Century Schoolbook"/>
              </a:rPr>
              <a:t>	</a:t>
            </a:r>
            <a:r>
              <a:rPr sz="2133" spc="-33" dirty="0">
                <a:latin typeface="Century Schoolbook"/>
                <a:cs typeface="Century Schoolbook"/>
              </a:rPr>
              <a:t>and</a:t>
            </a:r>
            <a:r>
              <a:rPr sz="2133" dirty="0">
                <a:latin typeface="Century Schoolbook"/>
                <a:cs typeface="Century Schoolbook"/>
              </a:rPr>
              <a:t>	</a:t>
            </a:r>
            <a:r>
              <a:rPr sz="2133" spc="-13" dirty="0">
                <a:latin typeface="Century Schoolbook"/>
                <a:cs typeface="Century Schoolbook"/>
              </a:rPr>
              <a:t>manage</a:t>
            </a:r>
            <a:r>
              <a:rPr sz="2133" dirty="0">
                <a:latin typeface="Century Schoolbook"/>
                <a:cs typeface="Century Schoolbook"/>
              </a:rPr>
              <a:t>	</a:t>
            </a:r>
            <a:r>
              <a:rPr sz="2133" spc="-13" dirty="0">
                <a:latin typeface="Century Schoolbook"/>
                <a:cs typeface="Century Schoolbook"/>
              </a:rPr>
              <a:t>biological database.</a:t>
            </a:r>
            <a:endParaRPr sz="2133" dirty="0">
              <a:latin typeface="Century Schoolbook"/>
              <a:cs typeface="Century Schoolbook"/>
            </a:endParaRP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8</a:t>
            </a:fld>
            <a:endParaRPr spc="-33" dirty="0"/>
          </a:p>
        </p:txBody>
      </p:sp>
      <p:sp>
        <p:nvSpPr>
          <p:cNvPr id="5" name="object 5"/>
          <p:cNvSpPr txBox="1"/>
          <p:nvPr/>
        </p:nvSpPr>
        <p:spPr>
          <a:xfrm>
            <a:off x="230400" y="3453600"/>
            <a:ext cx="5664200" cy="760763"/>
          </a:xfrm>
          <a:prstGeom prst="rect">
            <a:avLst/>
          </a:prstGeom>
          <a:solidFill>
            <a:srgbClr val="FFE499"/>
          </a:solidFill>
        </p:spPr>
        <p:txBody>
          <a:bodyPr vert="horz" wrap="square" lIns="0" tIns="103293" rIns="0" bIns="0" rtlCol="0">
            <a:spAutoFit/>
          </a:bodyPr>
          <a:lstStyle/>
          <a:p>
            <a:pPr marL="114297" marR="132923">
              <a:spcBef>
                <a:spcPts val="813"/>
              </a:spcBef>
            </a:pPr>
            <a:r>
              <a:rPr sz="2133" dirty="0">
                <a:latin typeface="Century Schoolbook"/>
                <a:cs typeface="Century Schoolbook"/>
              </a:rPr>
              <a:t>To</a:t>
            </a:r>
            <a:r>
              <a:rPr sz="2133" spc="100" dirty="0">
                <a:latin typeface="Century Schoolbook"/>
                <a:cs typeface="Century Schoolbook"/>
              </a:rPr>
              <a:t> </a:t>
            </a:r>
            <a:r>
              <a:rPr sz="2133" dirty="0">
                <a:latin typeface="Century Schoolbook"/>
                <a:cs typeface="Century Schoolbook"/>
              </a:rPr>
              <a:t>develop</a:t>
            </a:r>
            <a:r>
              <a:rPr sz="2133" spc="100" dirty="0">
                <a:latin typeface="Century Schoolbook"/>
                <a:cs typeface="Century Schoolbook"/>
              </a:rPr>
              <a:t> </a:t>
            </a:r>
            <a:r>
              <a:rPr sz="2133" dirty="0">
                <a:latin typeface="Century Schoolbook"/>
                <a:cs typeface="Century Schoolbook"/>
              </a:rPr>
              <a:t>algorithm</a:t>
            </a:r>
            <a:r>
              <a:rPr sz="2133" spc="100" dirty="0">
                <a:latin typeface="Century Schoolbook"/>
                <a:cs typeface="Century Schoolbook"/>
              </a:rPr>
              <a:t> </a:t>
            </a:r>
            <a:r>
              <a:rPr sz="2133" dirty="0">
                <a:latin typeface="Century Schoolbook"/>
                <a:cs typeface="Century Schoolbook"/>
              </a:rPr>
              <a:t>for</a:t>
            </a:r>
            <a:r>
              <a:rPr sz="2133" spc="107" dirty="0">
                <a:latin typeface="Century Schoolbook"/>
                <a:cs typeface="Century Schoolbook"/>
              </a:rPr>
              <a:t> </a:t>
            </a:r>
            <a:r>
              <a:rPr sz="2133" dirty="0">
                <a:latin typeface="Century Schoolbook"/>
                <a:cs typeface="Century Schoolbook"/>
              </a:rPr>
              <a:t>different</a:t>
            </a:r>
            <a:r>
              <a:rPr sz="2133" spc="100" dirty="0">
                <a:latin typeface="Century Schoolbook"/>
                <a:cs typeface="Century Schoolbook"/>
              </a:rPr>
              <a:t> </a:t>
            </a:r>
            <a:r>
              <a:rPr sz="2133" dirty="0">
                <a:latin typeface="Century Schoolbook"/>
                <a:cs typeface="Century Schoolbook"/>
              </a:rPr>
              <a:t>types</a:t>
            </a:r>
            <a:r>
              <a:rPr sz="2133" spc="100" dirty="0">
                <a:latin typeface="Century Schoolbook"/>
                <a:cs typeface="Century Schoolbook"/>
              </a:rPr>
              <a:t> </a:t>
            </a:r>
            <a:r>
              <a:rPr sz="2133" spc="-33" dirty="0">
                <a:latin typeface="Century Schoolbook"/>
                <a:cs typeface="Century Schoolbook"/>
              </a:rPr>
              <a:t>of </a:t>
            </a:r>
            <a:r>
              <a:rPr sz="2133" dirty="0">
                <a:latin typeface="Century Schoolbook"/>
                <a:cs typeface="Century Schoolbook"/>
              </a:rPr>
              <a:t>sequence</a:t>
            </a:r>
            <a:r>
              <a:rPr sz="2133" spc="-7" dirty="0">
                <a:latin typeface="Century Schoolbook"/>
                <a:cs typeface="Century Schoolbook"/>
              </a:rPr>
              <a:t> </a:t>
            </a:r>
            <a:r>
              <a:rPr sz="2133" spc="-13" dirty="0">
                <a:latin typeface="Century Schoolbook"/>
                <a:cs typeface="Century Schoolbook"/>
              </a:rPr>
              <a:t>analysis.</a:t>
            </a:r>
            <a:endParaRPr sz="2133">
              <a:latin typeface="Century Schoolbook"/>
              <a:cs typeface="Century Schoolbook"/>
            </a:endParaRPr>
          </a:p>
        </p:txBody>
      </p:sp>
      <p:sp>
        <p:nvSpPr>
          <p:cNvPr id="6" name="object 6"/>
          <p:cNvSpPr txBox="1"/>
          <p:nvPr/>
        </p:nvSpPr>
        <p:spPr>
          <a:xfrm>
            <a:off x="230400" y="4555999"/>
            <a:ext cx="5664200" cy="432533"/>
          </a:xfrm>
          <a:prstGeom prst="rect">
            <a:avLst/>
          </a:prstGeom>
          <a:solidFill>
            <a:srgbClr val="FFE499"/>
          </a:solidFill>
        </p:spPr>
        <p:txBody>
          <a:bodyPr vert="horz" wrap="square" lIns="0" tIns="103293" rIns="0" bIns="0" rtlCol="0">
            <a:spAutoFit/>
          </a:bodyPr>
          <a:lstStyle/>
          <a:p>
            <a:pPr marL="114297">
              <a:spcBef>
                <a:spcPts val="813"/>
              </a:spcBef>
            </a:pPr>
            <a:r>
              <a:rPr sz="2133" spc="-67" dirty="0">
                <a:latin typeface="Century Schoolbook"/>
                <a:cs typeface="Century Schoolbook"/>
              </a:rPr>
              <a:t>To</a:t>
            </a:r>
            <a:r>
              <a:rPr sz="2133" spc="-87" dirty="0">
                <a:latin typeface="Century Schoolbook"/>
                <a:cs typeface="Century Schoolbook"/>
              </a:rPr>
              <a:t> </a:t>
            </a:r>
            <a:r>
              <a:rPr sz="2133" dirty="0">
                <a:latin typeface="Century Schoolbook"/>
                <a:cs typeface="Century Schoolbook"/>
              </a:rPr>
              <a:t>develop</a:t>
            </a:r>
            <a:r>
              <a:rPr sz="2133" spc="-113" dirty="0">
                <a:latin typeface="Century Schoolbook"/>
                <a:cs typeface="Century Schoolbook"/>
              </a:rPr>
              <a:t> </a:t>
            </a:r>
            <a:r>
              <a:rPr sz="2133" spc="-13" dirty="0">
                <a:latin typeface="Century Schoolbook"/>
                <a:cs typeface="Century Schoolbook"/>
              </a:rPr>
              <a:t>softwares.</a:t>
            </a:r>
            <a:endParaRPr sz="2133">
              <a:latin typeface="Century Schoolbook"/>
              <a:cs typeface="Century Schoolbook"/>
            </a:endParaRPr>
          </a:p>
        </p:txBody>
      </p:sp>
    </p:spTree>
    <p:extLst>
      <p:ext uri="{BB962C8B-B14F-4D97-AF65-F5344CB8AC3E}">
        <p14:creationId xmlns:p14="http://schemas.microsoft.com/office/powerpoint/2010/main" val="124480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54217"/>
            <a:ext cx="14020800" cy="632651"/>
          </a:xfrm>
          <a:prstGeom prst="rect">
            <a:avLst/>
          </a:prstGeom>
        </p:spPr>
        <p:txBody>
          <a:bodyPr vert="horz" wrap="square" lIns="0" tIns="16933" rIns="0" bIns="0" rtlCol="0" anchor="ctr">
            <a:spAutoFit/>
          </a:bodyPr>
          <a:lstStyle/>
          <a:p>
            <a:pPr marL="1485863">
              <a:lnSpc>
                <a:spcPct val="100000"/>
              </a:lnSpc>
              <a:spcBef>
                <a:spcPts val="133"/>
              </a:spcBef>
            </a:pPr>
            <a:r>
              <a:rPr sz="4000" spc="300" dirty="0"/>
              <a:t>Applications</a:t>
            </a:r>
            <a:r>
              <a:rPr sz="4000" spc="220" dirty="0"/>
              <a:t> </a:t>
            </a:r>
            <a:r>
              <a:rPr sz="4000" spc="260" dirty="0"/>
              <a:t>of</a:t>
            </a:r>
            <a:r>
              <a:rPr sz="4000" spc="220" dirty="0"/>
              <a:t> </a:t>
            </a:r>
            <a:r>
              <a:rPr sz="4000" spc="373" dirty="0"/>
              <a:t>Bioinformatics</a:t>
            </a:r>
            <a:endParaRPr sz="400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grpSp>
        <p:nvGrpSpPr>
          <p:cNvPr id="4" name="object 4"/>
          <p:cNvGrpSpPr/>
          <p:nvPr/>
        </p:nvGrpSpPr>
        <p:grpSpPr>
          <a:xfrm>
            <a:off x="364350" y="1098917"/>
            <a:ext cx="11605260" cy="5417820"/>
            <a:chOff x="273262" y="824187"/>
            <a:chExt cx="8703945" cy="4063365"/>
          </a:xfrm>
        </p:grpSpPr>
        <p:sp>
          <p:nvSpPr>
            <p:cNvPr id="5" name="object 5"/>
            <p:cNvSpPr/>
            <p:nvPr/>
          </p:nvSpPr>
          <p:spPr>
            <a:xfrm>
              <a:off x="273274" y="824199"/>
              <a:ext cx="8703945" cy="4062729"/>
            </a:xfrm>
            <a:custGeom>
              <a:avLst/>
              <a:gdLst/>
              <a:ahLst/>
              <a:cxnLst/>
              <a:rect l="l" t="t" r="r" b="b"/>
              <a:pathLst>
                <a:path w="8703945" h="4062729">
                  <a:moveTo>
                    <a:pt x="4749" y="0"/>
                  </a:moveTo>
                  <a:lnTo>
                    <a:pt x="4749" y="4062724"/>
                  </a:lnTo>
                </a:path>
                <a:path w="8703945" h="4062729">
                  <a:moveTo>
                    <a:pt x="8699124" y="0"/>
                  </a:moveTo>
                  <a:lnTo>
                    <a:pt x="8699124" y="4062724"/>
                  </a:lnTo>
                </a:path>
                <a:path w="8703945" h="4062729">
                  <a:moveTo>
                    <a:pt x="0" y="4749"/>
                  </a:moveTo>
                  <a:lnTo>
                    <a:pt x="8703874" y="4749"/>
                  </a:lnTo>
                </a:path>
                <a:path w="8703945" h="4062729">
                  <a:moveTo>
                    <a:pt x="0" y="4057974"/>
                  </a:moveTo>
                  <a:lnTo>
                    <a:pt x="8703874" y="4057974"/>
                  </a:lnTo>
                </a:path>
              </a:pathLst>
            </a:custGeom>
            <a:ln w="9524">
              <a:solidFill>
                <a:srgbClr val="9E9E9E"/>
              </a:solidFill>
            </a:ln>
          </p:spPr>
          <p:txBody>
            <a:bodyPr wrap="square" lIns="0" tIns="0" rIns="0" bIns="0" rtlCol="0"/>
            <a:lstStyle/>
            <a:p>
              <a:endParaRPr sz="2400"/>
            </a:p>
          </p:txBody>
        </p:sp>
        <p:pic>
          <p:nvPicPr>
            <p:cNvPr id="6" name="object 6"/>
            <p:cNvPicPr/>
            <p:nvPr/>
          </p:nvPicPr>
          <p:blipFill>
            <a:blip r:embed="rId2" cstate="print"/>
            <a:stretch>
              <a:fillRect/>
            </a:stretch>
          </p:blipFill>
          <p:spPr>
            <a:xfrm>
              <a:off x="5112000" y="872000"/>
              <a:ext cx="3737325" cy="3922874"/>
            </a:xfrm>
            <a:prstGeom prst="rect">
              <a:avLst/>
            </a:prstGeom>
          </p:spPr>
        </p:pic>
      </p:grpSp>
      <p:sp>
        <p:nvSpPr>
          <p:cNvPr id="7" name="object 7"/>
          <p:cNvSpPr txBox="1"/>
          <p:nvPr/>
        </p:nvSpPr>
        <p:spPr>
          <a:xfrm>
            <a:off x="563219" y="1190462"/>
            <a:ext cx="6082255" cy="4044676"/>
          </a:xfrm>
          <a:prstGeom prst="rect">
            <a:avLst/>
          </a:prstGeom>
          <a:solidFill>
            <a:srgbClr val="FFE499"/>
          </a:solidFill>
        </p:spPr>
        <p:txBody>
          <a:bodyPr vert="horz" wrap="square" lIns="0" tIns="103293" rIns="0" bIns="0" rtlCol="0">
            <a:spAutoFit/>
          </a:bodyPr>
          <a:lstStyle/>
          <a:p>
            <a:pPr marL="495288" marR="108371" indent="-380990" algn="just">
              <a:spcBef>
                <a:spcPts val="813"/>
              </a:spcBef>
              <a:buFont typeface="Wingdings" panose="05000000000000000000" pitchFamily="2" charset="2"/>
              <a:buChar char="§"/>
            </a:pPr>
            <a:r>
              <a:rPr lang="en-US" sz="1867" dirty="0">
                <a:latin typeface="Times New Roman" panose="02020603050405020304" pitchFamily="18" charset="0"/>
                <a:cs typeface="Times New Roman" panose="02020603050405020304" pitchFamily="18" charset="0"/>
              </a:rPr>
              <a:t>Bioinformatics is about </a:t>
            </a:r>
            <a:r>
              <a:rPr lang="en-US" sz="1867" b="1" dirty="0">
                <a:latin typeface="Times New Roman" panose="02020603050405020304" pitchFamily="18" charset="0"/>
                <a:cs typeface="Times New Roman" panose="02020603050405020304" pitchFamily="18" charset="0"/>
              </a:rPr>
              <a:t>analyzing huge biological datasets</a:t>
            </a:r>
            <a:r>
              <a:rPr lang="en-US" sz="1867" dirty="0">
                <a:latin typeface="Times New Roman" panose="02020603050405020304" pitchFamily="18" charset="0"/>
                <a:cs typeface="Times New Roman" panose="02020603050405020304" pitchFamily="18" charset="0"/>
              </a:rPr>
              <a:t> to </a:t>
            </a:r>
            <a:r>
              <a:rPr lang="en-US" sz="1867" b="1" dirty="0">
                <a:latin typeface="Times New Roman" panose="02020603050405020304" pitchFamily="18" charset="0"/>
                <a:cs typeface="Times New Roman" panose="02020603050405020304" pitchFamily="18" charset="0"/>
              </a:rPr>
              <a:t>find important facts</a:t>
            </a:r>
            <a:r>
              <a:rPr lang="en-US" sz="1867" dirty="0">
                <a:latin typeface="Times New Roman" panose="02020603050405020304" pitchFamily="18" charset="0"/>
                <a:cs typeface="Times New Roman" panose="02020603050405020304" pitchFamily="18" charset="0"/>
              </a:rPr>
              <a:t>, which are then </a:t>
            </a:r>
            <a:r>
              <a:rPr lang="en-US" sz="1867" b="1" dirty="0">
                <a:latin typeface="Times New Roman" panose="02020603050405020304" pitchFamily="18" charset="0"/>
                <a:cs typeface="Times New Roman" panose="02020603050405020304" pitchFamily="18" charset="0"/>
              </a:rPr>
              <a:t>processed and interpreted</a:t>
            </a:r>
            <a:r>
              <a:rPr lang="en-US" sz="1867" dirty="0">
                <a:latin typeface="Times New Roman" panose="02020603050405020304" pitchFamily="18" charset="0"/>
                <a:cs typeface="Times New Roman" panose="02020603050405020304" pitchFamily="18" charset="0"/>
              </a:rPr>
              <a:t> to help in science and medicine. It's like turning unorganized raw data into meaningful insights.</a:t>
            </a:r>
          </a:p>
          <a:p>
            <a:pPr marL="495288" marR="108371" indent="-380990" algn="just">
              <a:spcBef>
                <a:spcPts val="813"/>
              </a:spcBef>
              <a:buFont typeface="Wingdings" panose="05000000000000000000" pitchFamily="2" charset="2"/>
              <a:buChar char="§"/>
            </a:pPr>
            <a:r>
              <a:rPr lang="en-US" sz="1867" dirty="0">
                <a:latin typeface="Times New Roman" panose="02020603050405020304" pitchFamily="18" charset="0"/>
                <a:cs typeface="Times New Roman" panose="02020603050405020304" pitchFamily="18" charset="0"/>
              </a:rPr>
              <a:t>One major area is </a:t>
            </a:r>
            <a:r>
              <a:rPr lang="en-US" sz="1867" b="1" dirty="0">
                <a:latin typeface="Times New Roman" panose="02020603050405020304" pitchFamily="18" charset="0"/>
                <a:cs typeface="Times New Roman" panose="02020603050405020304" pitchFamily="18" charset="0"/>
              </a:rPr>
              <a:t>3D image processing</a:t>
            </a:r>
            <a:r>
              <a:rPr lang="en-US" sz="1867" dirty="0">
                <a:latin typeface="Times New Roman" panose="02020603050405020304" pitchFamily="18" charset="0"/>
                <a:cs typeface="Times New Roman" panose="02020603050405020304" pitchFamily="18" charset="0"/>
              </a:rPr>
              <a:t> and </a:t>
            </a:r>
            <a:r>
              <a:rPr lang="en-US" sz="1867" b="1" dirty="0">
                <a:latin typeface="Times New Roman" panose="02020603050405020304" pitchFamily="18" charset="0"/>
                <a:cs typeface="Times New Roman" panose="02020603050405020304" pitchFamily="18" charset="0"/>
              </a:rPr>
              <a:t>modeling of living cells</a:t>
            </a:r>
            <a:r>
              <a:rPr lang="en-US" sz="1867" dirty="0">
                <a:latin typeface="Times New Roman" panose="02020603050405020304" pitchFamily="18" charset="0"/>
                <a:cs typeface="Times New Roman" panose="02020603050405020304" pitchFamily="18" charset="0"/>
              </a:rPr>
              <a:t>, which enables scientists to visualize cellular structures in high resolution and simulate their behavior in virtual environments. </a:t>
            </a:r>
          </a:p>
          <a:p>
            <a:pPr marL="495288" marR="108371" indent="-380990" algn="just">
              <a:spcBef>
                <a:spcPts val="813"/>
              </a:spcBef>
              <a:buFont typeface="Wingdings" panose="05000000000000000000" pitchFamily="2" charset="2"/>
              <a:buChar char="§"/>
            </a:pPr>
            <a:r>
              <a:rPr sz="1867" dirty="0">
                <a:latin typeface="Times New Roman" panose="02020603050405020304" pitchFamily="18" charset="0"/>
                <a:cs typeface="Times New Roman" panose="02020603050405020304" pitchFamily="18" charset="0"/>
              </a:rPr>
              <a:t>The</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most</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important</a:t>
            </a:r>
            <a:r>
              <a:rPr sz="1867" spc="5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application</a:t>
            </a:r>
            <a:r>
              <a:rPr sz="1867" spc="53" dirty="0">
                <a:latin typeface="Times New Roman" panose="02020603050405020304" pitchFamily="18" charset="0"/>
                <a:cs typeface="Times New Roman" panose="02020603050405020304" pitchFamily="18" charset="0"/>
              </a:rPr>
              <a:t>  </a:t>
            </a:r>
            <a:r>
              <a:rPr sz="1867" spc="-33" dirty="0">
                <a:latin typeface="Times New Roman" panose="02020603050405020304" pitchFamily="18" charset="0"/>
                <a:cs typeface="Times New Roman" panose="02020603050405020304" pitchFamily="18" charset="0"/>
              </a:rPr>
              <a:t>of </a:t>
            </a:r>
            <a:r>
              <a:rPr sz="1867" dirty="0">
                <a:latin typeface="Times New Roman" panose="02020603050405020304" pitchFamily="18" charset="0"/>
                <a:cs typeface="Times New Roman" panose="02020603050405020304" pitchFamily="18" charset="0"/>
              </a:rPr>
              <a:t>bioinformatics</a:t>
            </a:r>
            <a:r>
              <a:rPr sz="1867" spc="5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can</a:t>
            </a:r>
            <a:r>
              <a:rPr sz="1867" spc="545"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be</a:t>
            </a:r>
            <a:r>
              <a:rPr sz="1867" spc="545"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seen</a:t>
            </a:r>
            <a:r>
              <a:rPr sz="1867" spc="545"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a:t>
            </a:r>
            <a:r>
              <a:rPr sz="1867" spc="540"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the</a:t>
            </a:r>
            <a:r>
              <a:rPr sz="1867" spc="545"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field</a:t>
            </a:r>
            <a:r>
              <a:rPr sz="1867" spc="545" dirty="0">
                <a:latin typeface="Times New Roman" panose="02020603050405020304" pitchFamily="18" charset="0"/>
                <a:cs typeface="Times New Roman" panose="02020603050405020304" pitchFamily="18" charset="0"/>
              </a:rPr>
              <a:t> </a:t>
            </a:r>
            <a:r>
              <a:rPr sz="1867" spc="-33" dirty="0">
                <a:latin typeface="Times New Roman" panose="02020603050405020304" pitchFamily="18" charset="0"/>
                <a:cs typeface="Times New Roman" panose="02020603050405020304" pitchFamily="18" charset="0"/>
              </a:rPr>
              <a:t>of </a:t>
            </a:r>
            <a:r>
              <a:rPr sz="1867" dirty="0">
                <a:latin typeface="Times New Roman" panose="02020603050405020304" pitchFamily="18" charset="0"/>
                <a:cs typeface="Times New Roman" panose="02020603050405020304" pitchFamily="18" charset="0"/>
              </a:rPr>
              <a:t>medicine,</a:t>
            </a:r>
            <a:r>
              <a:rPr sz="1867" spc="3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where</a:t>
            </a:r>
            <a:r>
              <a:rPr sz="1867" spc="3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its</a:t>
            </a:r>
            <a:r>
              <a:rPr sz="1867" spc="3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data</a:t>
            </a:r>
            <a:r>
              <a:rPr sz="1867" spc="3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is</a:t>
            </a:r>
            <a:r>
              <a:rPr sz="1867" spc="3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used</a:t>
            </a:r>
            <a:r>
              <a:rPr sz="1867" spc="373"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to</a:t>
            </a:r>
            <a:r>
              <a:rPr sz="1867" spc="373"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create </a:t>
            </a:r>
            <a:r>
              <a:rPr sz="1867" dirty="0">
                <a:latin typeface="Times New Roman" panose="02020603050405020304" pitchFamily="18" charset="0"/>
                <a:cs typeface="Times New Roman" panose="02020603050405020304" pitchFamily="18" charset="0"/>
              </a:rPr>
              <a:t>antidotes</a:t>
            </a:r>
            <a:r>
              <a:rPr sz="1867" spc="2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for</a:t>
            </a:r>
            <a:r>
              <a:rPr sz="1867" spc="2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infectious</a:t>
            </a:r>
            <a:r>
              <a:rPr sz="1867" spc="267" dirty="0">
                <a:latin typeface="Times New Roman" panose="02020603050405020304" pitchFamily="18" charset="0"/>
                <a:cs typeface="Times New Roman" panose="02020603050405020304" pitchFamily="18" charset="0"/>
              </a:rPr>
              <a:t>   </a:t>
            </a:r>
            <a:r>
              <a:rPr sz="1867" dirty="0">
                <a:latin typeface="Times New Roman" panose="02020603050405020304" pitchFamily="18" charset="0"/>
                <a:cs typeface="Times New Roman" panose="02020603050405020304" pitchFamily="18" charset="0"/>
              </a:rPr>
              <a:t>and</a:t>
            </a:r>
            <a:r>
              <a:rPr sz="1867" spc="267" dirty="0">
                <a:latin typeface="Times New Roman" panose="02020603050405020304" pitchFamily="18" charset="0"/>
                <a:cs typeface="Times New Roman" panose="02020603050405020304" pitchFamily="18" charset="0"/>
              </a:rPr>
              <a:t>   </a:t>
            </a:r>
            <a:r>
              <a:rPr sz="1867" spc="-13" dirty="0">
                <a:latin typeface="Times New Roman" panose="02020603050405020304" pitchFamily="18" charset="0"/>
                <a:cs typeface="Times New Roman" panose="02020603050405020304" pitchFamily="18" charset="0"/>
              </a:rPr>
              <a:t>harmful diseases.</a:t>
            </a:r>
            <a:endParaRPr sz="1867" dirty="0">
              <a:latin typeface="Times New Roman" panose="02020603050405020304" pitchFamily="18" charset="0"/>
              <a:cs typeface="Times New Roman" panose="02020603050405020304" pitchFamily="18" charset="0"/>
            </a:endParaRP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9</a:t>
            </a:fld>
            <a:endParaRPr spc="-33" dirty="0"/>
          </a:p>
        </p:txBody>
      </p:sp>
    </p:spTree>
    <p:extLst>
      <p:ext uri="{BB962C8B-B14F-4D97-AF65-F5344CB8AC3E}">
        <p14:creationId xmlns:p14="http://schemas.microsoft.com/office/powerpoint/2010/main" val="40552224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924924"/>
            <a:ext cx="14020800" cy="632651"/>
          </a:xfrm>
          <a:prstGeom prst="rect">
            <a:avLst/>
          </a:prstGeom>
        </p:spPr>
        <p:txBody>
          <a:bodyPr vert="horz" wrap="square" lIns="0" tIns="16933" rIns="0" bIns="0" rtlCol="0" anchor="ctr">
            <a:spAutoFit/>
          </a:bodyPr>
          <a:lstStyle/>
          <a:p>
            <a:pPr marL="2559409">
              <a:lnSpc>
                <a:spcPct val="100000"/>
              </a:lnSpc>
              <a:spcBef>
                <a:spcPts val="133"/>
              </a:spcBef>
            </a:pPr>
            <a:r>
              <a:rPr sz="4000" spc="293" dirty="0"/>
              <a:t>Uses</a:t>
            </a:r>
            <a:r>
              <a:rPr sz="4000" spc="207" dirty="0"/>
              <a:t> </a:t>
            </a:r>
            <a:r>
              <a:rPr sz="4000" spc="260" dirty="0"/>
              <a:t>of</a:t>
            </a:r>
            <a:r>
              <a:rPr sz="4000" spc="207" dirty="0"/>
              <a:t> </a:t>
            </a:r>
            <a:r>
              <a:rPr sz="4000" spc="373" dirty="0"/>
              <a:t>Bioinformatics</a:t>
            </a:r>
            <a:endParaRPr sz="4000" dirty="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4" name="object 4"/>
          <p:cNvSpPr/>
          <p:nvPr/>
        </p:nvSpPr>
        <p:spPr>
          <a:xfrm>
            <a:off x="376807" y="886932"/>
            <a:ext cx="11605260" cy="5881008"/>
          </a:xfrm>
          <a:custGeom>
            <a:avLst/>
            <a:gdLst/>
            <a:ahLst/>
            <a:cxnLst/>
            <a:rect l="l" t="t" r="r" b="b"/>
            <a:pathLst>
              <a:path w="8703945" h="4062729">
                <a:moveTo>
                  <a:pt x="4749" y="0"/>
                </a:moveTo>
                <a:lnTo>
                  <a:pt x="4749" y="4062724"/>
                </a:lnTo>
              </a:path>
              <a:path w="8703945" h="4062729">
                <a:moveTo>
                  <a:pt x="8699124" y="0"/>
                </a:moveTo>
                <a:lnTo>
                  <a:pt x="8699124" y="4062724"/>
                </a:lnTo>
              </a:path>
              <a:path w="8703945" h="4062729">
                <a:moveTo>
                  <a:pt x="0" y="4749"/>
                </a:moveTo>
                <a:lnTo>
                  <a:pt x="8703874" y="4749"/>
                </a:lnTo>
              </a:path>
              <a:path w="8703945" h="4062729">
                <a:moveTo>
                  <a:pt x="0" y="4057974"/>
                </a:moveTo>
                <a:lnTo>
                  <a:pt x="8703874" y="4057974"/>
                </a:lnTo>
              </a:path>
            </a:pathLst>
          </a:custGeom>
          <a:ln w="9524">
            <a:solidFill>
              <a:srgbClr val="9E9E9E"/>
            </a:solidFill>
          </a:ln>
        </p:spPr>
        <p:txBody>
          <a:bodyPr wrap="square" lIns="0" tIns="0" rIns="0" bIns="0" rtlCol="0"/>
          <a:lstStyle/>
          <a:p>
            <a:endParaRPr sz="2400"/>
          </a:p>
        </p:txBody>
      </p:sp>
      <p:sp>
        <p:nvSpPr>
          <p:cNvPr id="5" name="object 5"/>
          <p:cNvSpPr txBox="1"/>
          <p:nvPr/>
        </p:nvSpPr>
        <p:spPr>
          <a:xfrm>
            <a:off x="641598" y="1600339"/>
            <a:ext cx="11060007" cy="760763"/>
          </a:xfrm>
          <a:prstGeom prst="rect">
            <a:avLst/>
          </a:prstGeom>
          <a:solidFill>
            <a:srgbClr val="EAD1DC"/>
          </a:solidFill>
        </p:spPr>
        <p:txBody>
          <a:bodyPr vert="horz" wrap="square" lIns="0" tIns="103293" rIns="0" bIns="0" rtlCol="0">
            <a:spAutoFit/>
          </a:bodyPr>
          <a:lstStyle/>
          <a:p>
            <a:pPr marL="114297" marR="181182">
              <a:spcBef>
                <a:spcPts val="813"/>
              </a:spcBef>
            </a:pPr>
            <a:r>
              <a:rPr sz="2133" dirty="0">
                <a:latin typeface="Century Schoolbook"/>
                <a:cs typeface="Century Schoolbook"/>
              </a:rPr>
              <a:t>Bioinformatics</a:t>
            </a:r>
            <a:r>
              <a:rPr sz="2133" spc="-47" dirty="0">
                <a:latin typeface="Century Schoolbook"/>
                <a:cs typeface="Century Schoolbook"/>
              </a:rPr>
              <a:t> </a:t>
            </a:r>
            <a:r>
              <a:rPr sz="2133" dirty="0">
                <a:latin typeface="Century Schoolbook"/>
                <a:cs typeface="Century Schoolbook"/>
              </a:rPr>
              <a:t>is</a:t>
            </a:r>
            <a:r>
              <a:rPr sz="2133" spc="-47" dirty="0">
                <a:latin typeface="Century Schoolbook"/>
                <a:cs typeface="Century Schoolbook"/>
              </a:rPr>
              <a:t> </a:t>
            </a:r>
            <a:r>
              <a:rPr sz="2133" dirty="0">
                <a:latin typeface="Century Schoolbook"/>
                <a:cs typeface="Century Schoolbook"/>
              </a:rPr>
              <a:t>used</a:t>
            </a:r>
            <a:r>
              <a:rPr sz="2133" spc="-40" dirty="0">
                <a:latin typeface="Century Schoolbook"/>
                <a:cs typeface="Century Schoolbook"/>
              </a:rPr>
              <a:t> </a:t>
            </a:r>
            <a:r>
              <a:rPr sz="2133" dirty="0">
                <a:latin typeface="Century Schoolbook"/>
                <a:cs typeface="Century Schoolbook"/>
              </a:rPr>
              <a:t>in</a:t>
            </a:r>
            <a:r>
              <a:rPr sz="2133" spc="-47" dirty="0">
                <a:latin typeface="Century Schoolbook"/>
                <a:cs typeface="Century Schoolbook"/>
              </a:rPr>
              <a:t> </a:t>
            </a:r>
            <a:r>
              <a:rPr sz="2133" dirty="0">
                <a:latin typeface="Century Schoolbook"/>
                <a:cs typeface="Century Schoolbook"/>
              </a:rPr>
              <a:t>various</a:t>
            </a:r>
            <a:r>
              <a:rPr sz="2133" spc="-47" dirty="0">
                <a:latin typeface="Century Schoolbook"/>
                <a:cs typeface="Century Schoolbook"/>
              </a:rPr>
              <a:t> </a:t>
            </a:r>
            <a:r>
              <a:rPr sz="2133" dirty="0">
                <a:latin typeface="Century Schoolbook"/>
                <a:cs typeface="Century Schoolbook"/>
              </a:rPr>
              <a:t>fields,</a:t>
            </a:r>
            <a:r>
              <a:rPr sz="2133" spc="-40" dirty="0">
                <a:latin typeface="Century Schoolbook"/>
                <a:cs typeface="Century Schoolbook"/>
              </a:rPr>
              <a:t> </a:t>
            </a:r>
            <a:r>
              <a:rPr sz="2133" dirty="0">
                <a:latin typeface="Century Schoolbook"/>
                <a:cs typeface="Century Schoolbook"/>
              </a:rPr>
              <a:t>especially</a:t>
            </a:r>
            <a:r>
              <a:rPr sz="2133" spc="-47" dirty="0">
                <a:latin typeface="Century Schoolbook"/>
                <a:cs typeface="Century Schoolbook"/>
              </a:rPr>
              <a:t> </a:t>
            </a:r>
            <a:r>
              <a:rPr sz="2133" dirty="0">
                <a:latin typeface="Century Schoolbook"/>
                <a:cs typeface="Century Schoolbook"/>
              </a:rPr>
              <a:t>in</a:t>
            </a:r>
            <a:r>
              <a:rPr sz="2133" spc="-47" dirty="0">
                <a:latin typeface="Century Schoolbook"/>
                <a:cs typeface="Century Schoolbook"/>
              </a:rPr>
              <a:t> </a:t>
            </a:r>
            <a:r>
              <a:rPr sz="2133" dirty="0">
                <a:latin typeface="Century Schoolbook"/>
                <a:cs typeface="Century Schoolbook"/>
              </a:rPr>
              <a:t>biomedicine</a:t>
            </a:r>
            <a:r>
              <a:rPr sz="2133" spc="-40" dirty="0">
                <a:latin typeface="Century Schoolbook"/>
                <a:cs typeface="Century Schoolbook"/>
              </a:rPr>
              <a:t> </a:t>
            </a:r>
            <a:r>
              <a:rPr sz="2133" dirty="0">
                <a:latin typeface="Century Schoolbook"/>
                <a:cs typeface="Century Schoolbook"/>
              </a:rPr>
              <a:t>where</a:t>
            </a:r>
            <a:r>
              <a:rPr sz="2133" spc="-47" dirty="0">
                <a:latin typeface="Century Schoolbook"/>
                <a:cs typeface="Century Schoolbook"/>
              </a:rPr>
              <a:t> </a:t>
            </a:r>
            <a:r>
              <a:rPr sz="2133" dirty="0">
                <a:latin typeface="Century Schoolbook"/>
                <a:cs typeface="Century Schoolbook"/>
              </a:rPr>
              <a:t>it</a:t>
            </a:r>
            <a:r>
              <a:rPr sz="2133" spc="-47" dirty="0">
                <a:latin typeface="Century Schoolbook"/>
                <a:cs typeface="Century Schoolbook"/>
              </a:rPr>
              <a:t> </a:t>
            </a:r>
            <a:r>
              <a:rPr sz="2133" dirty="0">
                <a:latin typeface="Century Schoolbook"/>
                <a:cs typeface="Century Schoolbook"/>
              </a:rPr>
              <a:t>has</a:t>
            </a:r>
            <a:r>
              <a:rPr sz="2133" spc="-40" dirty="0">
                <a:latin typeface="Century Schoolbook"/>
                <a:cs typeface="Century Schoolbook"/>
              </a:rPr>
              <a:t> </a:t>
            </a:r>
            <a:r>
              <a:rPr sz="2133" spc="-13" dirty="0">
                <a:latin typeface="Century Schoolbook"/>
                <a:cs typeface="Century Schoolbook"/>
              </a:rPr>
              <a:t>various applications.</a:t>
            </a:r>
            <a:endParaRPr sz="2133" dirty="0">
              <a:latin typeface="Century Schoolbook"/>
              <a:cs typeface="Century Schoolbook"/>
            </a:endParaRPr>
          </a:p>
        </p:txBody>
      </p:sp>
      <p:sp>
        <p:nvSpPr>
          <p:cNvPr id="9" name="object 9"/>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10</a:t>
            </a:fld>
            <a:endParaRPr spc="-33" dirty="0"/>
          </a:p>
        </p:txBody>
      </p:sp>
      <p:sp>
        <p:nvSpPr>
          <p:cNvPr id="6" name="object 6"/>
          <p:cNvSpPr txBox="1"/>
          <p:nvPr/>
        </p:nvSpPr>
        <p:spPr>
          <a:xfrm>
            <a:off x="641599" y="2380799"/>
            <a:ext cx="11060007" cy="760763"/>
          </a:xfrm>
          <a:prstGeom prst="rect">
            <a:avLst/>
          </a:prstGeom>
          <a:solidFill>
            <a:srgbClr val="FFE499"/>
          </a:solidFill>
        </p:spPr>
        <p:txBody>
          <a:bodyPr vert="horz" wrap="square" lIns="0" tIns="103293" rIns="0" bIns="0" rtlCol="0">
            <a:spAutoFit/>
          </a:bodyPr>
          <a:lstStyle/>
          <a:p>
            <a:pPr marL="114297" marR="548626">
              <a:spcBef>
                <a:spcPts val="813"/>
              </a:spcBef>
            </a:pPr>
            <a:r>
              <a:rPr sz="2133" b="1" dirty="0">
                <a:latin typeface="Century Schoolbook"/>
                <a:cs typeface="Century Schoolbook"/>
              </a:rPr>
              <a:t>Drug</a:t>
            </a:r>
            <a:r>
              <a:rPr sz="2133" b="1" spc="-33" dirty="0">
                <a:latin typeface="Century Schoolbook"/>
                <a:cs typeface="Century Schoolbook"/>
              </a:rPr>
              <a:t> </a:t>
            </a:r>
            <a:r>
              <a:rPr sz="2133" b="1" spc="-13" dirty="0">
                <a:latin typeface="Century Schoolbook"/>
                <a:cs typeface="Century Schoolbook"/>
              </a:rPr>
              <a:t>discovery</a:t>
            </a:r>
            <a:r>
              <a:rPr sz="2133" spc="-13" dirty="0">
                <a:latin typeface="Century Schoolbook"/>
                <a:cs typeface="Century Schoolbook"/>
              </a:rPr>
              <a:t>:</a:t>
            </a:r>
            <a:r>
              <a:rPr sz="2133" spc="-33" dirty="0">
                <a:latin typeface="Century Schoolbook"/>
                <a:cs typeface="Century Schoolbook"/>
              </a:rPr>
              <a:t> </a:t>
            </a:r>
            <a:r>
              <a:rPr sz="2133" dirty="0">
                <a:latin typeface="Century Schoolbook"/>
                <a:cs typeface="Century Schoolbook"/>
              </a:rPr>
              <a:t>By</a:t>
            </a:r>
            <a:r>
              <a:rPr sz="2133" spc="-33" dirty="0">
                <a:latin typeface="Century Schoolbook"/>
                <a:cs typeface="Century Schoolbook"/>
              </a:rPr>
              <a:t> </a:t>
            </a:r>
            <a:r>
              <a:rPr sz="2133" dirty="0">
                <a:latin typeface="Century Schoolbook"/>
                <a:cs typeface="Century Schoolbook"/>
              </a:rPr>
              <a:t>the</a:t>
            </a:r>
            <a:r>
              <a:rPr sz="2133" spc="-33" dirty="0">
                <a:latin typeface="Century Schoolbook"/>
                <a:cs typeface="Century Schoolbook"/>
              </a:rPr>
              <a:t> </a:t>
            </a:r>
            <a:r>
              <a:rPr sz="2133" dirty="0">
                <a:latin typeface="Century Schoolbook"/>
                <a:cs typeface="Century Schoolbook"/>
              </a:rPr>
              <a:t>use</a:t>
            </a:r>
            <a:r>
              <a:rPr sz="2133" spc="-33" dirty="0">
                <a:latin typeface="Century Schoolbook"/>
                <a:cs typeface="Century Schoolbook"/>
              </a:rPr>
              <a:t> </a:t>
            </a:r>
            <a:r>
              <a:rPr sz="2133" dirty="0">
                <a:latin typeface="Century Schoolbook"/>
                <a:cs typeface="Century Schoolbook"/>
              </a:rPr>
              <a:t>of</a:t>
            </a:r>
            <a:r>
              <a:rPr sz="2133" spc="-33" dirty="0">
                <a:latin typeface="Century Schoolbook"/>
                <a:cs typeface="Century Schoolbook"/>
              </a:rPr>
              <a:t> </a:t>
            </a:r>
            <a:r>
              <a:rPr sz="2133" spc="-27" dirty="0">
                <a:latin typeface="Century Schoolbook"/>
                <a:cs typeface="Century Schoolbook"/>
              </a:rPr>
              <a:t>structure-</a:t>
            </a:r>
            <a:r>
              <a:rPr sz="2133" dirty="0">
                <a:latin typeface="Century Schoolbook"/>
                <a:cs typeface="Century Schoolbook"/>
              </a:rPr>
              <a:t>based</a:t>
            </a:r>
            <a:r>
              <a:rPr sz="2133" spc="-33" dirty="0">
                <a:latin typeface="Century Schoolbook"/>
                <a:cs typeface="Century Schoolbook"/>
              </a:rPr>
              <a:t> </a:t>
            </a:r>
            <a:r>
              <a:rPr sz="2133" dirty="0">
                <a:latin typeface="Century Schoolbook"/>
                <a:cs typeface="Century Schoolbook"/>
              </a:rPr>
              <a:t>drug</a:t>
            </a:r>
            <a:r>
              <a:rPr sz="2133" spc="-33" dirty="0">
                <a:latin typeface="Century Schoolbook"/>
                <a:cs typeface="Century Schoolbook"/>
              </a:rPr>
              <a:t> </a:t>
            </a:r>
            <a:r>
              <a:rPr sz="2133" dirty="0">
                <a:latin typeface="Century Schoolbook"/>
                <a:cs typeface="Century Schoolbook"/>
              </a:rPr>
              <a:t>design</a:t>
            </a:r>
            <a:r>
              <a:rPr sz="2133" spc="-33" dirty="0">
                <a:latin typeface="Century Schoolbook"/>
                <a:cs typeface="Century Schoolbook"/>
              </a:rPr>
              <a:t> </a:t>
            </a:r>
            <a:r>
              <a:rPr sz="2133" dirty="0">
                <a:latin typeface="Century Schoolbook"/>
                <a:cs typeface="Century Schoolbook"/>
              </a:rPr>
              <a:t>with</a:t>
            </a:r>
            <a:r>
              <a:rPr sz="2133" spc="-33" dirty="0">
                <a:latin typeface="Century Schoolbook"/>
                <a:cs typeface="Century Schoolbook"/>
              </a:rPr>
              <a:t> </a:t>
            </a:r>
            <a:r>
              <a:rPr sz="2133" spc="-13" dirty="0">
                <a:latin typeface="Century Schoolbook"/>
                <a:cs typeface="Century Schoolbook"/>
              </a:rPr>
              <a:t>Bioinformatics, </a:t>
            </a:r>
            <a:r>
              <a:rPr sz="2133" dirty="0">
                <a:latin typeface="Century Schoolbook"/>
                <a:cs typeface="Century Schoolbook"/>
              </a:rPr>
              <a:t>scientists</a:t>
            </a:r>
            <a:r>
              <a:rPr sz="2133" spc="-60" dirty="0">
                <a:latin typeface="Century Schoolbook"/>
                <a:cs typeface="Century Schoolbook"/>
              </a:rPr>
              <a:t> </a:t>
            </a:r>
            <a:r>
              <a:rPr sz="2133" dirty="0">
                <a:latin typeface="Century Schoolbook"/>
                <a:cs typeface="Century Schoolbook"/>
              </a:rPr>
              <a:t>can</a:t>
            </a:r>
            <a:r>
              <a:rPr sz="2133" spc="-53" dirty="0">
                <a:latin typeface="Century Schoolbook"/>
                <a:cs typeface="Century Schoolbook"/>
              </a:rPr>
              <a:t> </a:t>
            </a:r>
            <a:r>
              <a:rPr sz="2133" dirty="0">
                <a:latin typeface="Century Schoolbook"/>
                <a:cs typeface="Century Schoolbook"/>
              </a:rPr>
              <a:t>come</a:t>
            </a:r>
            <a:r>
              <a:rPr sz="2133" spc="-53" dirty="0">
                <a:latin typeface="Century Schoolbook"/>
                <a:cs typeface="Century Schoolbook"/>
              </a:rPr>
              <a:t> </a:t>
            </a:r>
            <a:r>
              <a:rPr sz="2133" dirty="0">
                <a:latin typeface="Century Schoolbook"/>
                <a:cs typeface="Century Schoolbook"/>
              </a:rPr>
              <a:t>up</a:t>
            </a:r>
            <a:r>
              <a:rPr sz="2133" spc="-53" dirty="0">
                <a:latin typeface="Century Schoolbook"/>
                <a:cs typeface="Century Schoolbook"/>
              </a:rPr>
              <a:t> </a:t>
            </a:r>
            <a:r>
              <a:rPr sz="2133" dirty="0">
                <a:latin typeface="Century Schoolbook"/>
                <a:cs typeface="Century Schoolbook"/>
              </a:rPr>
              <a:t>with</a:t>
            </a:r>
            <a:r>
              <a:rPr sz="2133" spc="-53" dirty="0">
                <a:latin typeface="Century Schoolbook"/>
                <a:cs typeface="Century Schoolbook"/>
              </a:rPr>
              <a:t> </a:t>
            </a:r>
            <a:r>
              <a:rPr sz="2133" dirty="0">
                <a:latin typeface="Century Schoolbook"/>
                <a:cs typeface="Century Schoolbook"/>
              </a:rPr>
              <a:t>effective</a:t>
            </a:r>
            <a:r>
              <a:rPr sz="2133" spc="-53" dirty="0">
                <a:latin typeface="Century Schoolbook"/>
                <a:cs typeface="Century Schoolbook"/>
              </a:rPr>
              <a:t> </a:t>
            </a:r>
            <a:r>
              <a:rPr sz="2133" dirty="0">
                <a:latin typeface="Century Schoolbook"/>
                <a:cs typeface="Century Schoolbook"/>
              </a:rPr>
              <a:t>drugs</a:t>
            </a:r>
            <a:r>
              <a:rPr sz="2133" spc="-53" dirty="0">
                <a:latin typeface="Century Schoolbook"/>
                <a:cs typeface="Century Schoolbook"/>
              </a:rPr>
              <a:t> </a:t>
            </a:r>
            <a:r>
              <a:rPr sz="2133" dirty="0">
                <a:latin typeface="Century Schoolbook"/>
                <a:cs typeface="Century Schoolbook"/>
              </a:rPr>
              <a:t>for</a:t>
            </a:r>
            <a:r>
              <a:rPr sz="2133" spc="-53" dirty="0">
                <a:latin typeface="Century Schoolbook"/>
                <a:cs typeface="Century Schoolbook"/>
              </a:rPr>
              <a:t> </a:t>
            </a:r>
            <a:r>
              <a:rPr sz="2133" dirty="0">
                <a:latin typeface="Century Schoolbook"/>
                <a:cs typeface="Century Schoolbook"/>
              </a:rPr>
              <a:t>various</a:t>
            </a:r>
            <a:r>
              <a:rPr sz="2133" spc="-60" dirty="0">
                <a:latin typeface="Century Schoolbook"/>
                <a:cs typeface="Century Schoolbook"/>
              </a:rPr>
              <a:t> </a:t>
            </a:r>
            <a:r>
              <a:rPr sz="2133" dirty="0">
                <a:latin typeface="Century Schoolbook"/>
                <a:cs typeface="Century Schoolbook"/>
              </a:rPr>
              <a:t>illnesses</a:t>
            </a:r>
            <a:r>
              <a:rPr sz="2133" spc="-53" dirty="0">
                <a:latin typeface="Century Schoolbook"/>
                <a:cs typeface="Century Schoolbook"/>
              </a:rPr>
              <a:t> </a:t>
            </a:r>
            <a:r>
              <a:rPr sz="2133" dirty="0">
                <a:latin typeface="Century Schoolbook"/>
                <a:cs typeface="Century Schoolbook"/>
              </a:rPr>
              <a:t>and</a:t>
            </a:r>
            <a:r>
              <a:rPr sz="2133" spc="-53" dirty="0">
                <a:latin typeface="Century Schoolbook"/>
                <a:cs typeface="Century Schoolbook"/>
              </a:rPr>
              <a:t> </a:t>
            </a:r>
            <a:r>
              <a:rPr sz="2133" dirty="0">
                <a:latin typeface="Century Schoolbook"/>
                <a:cs typeface="Century Schoolbook"/>
              </a:rPr>
              <a:t>acute</a:t>
            </a:r>
            <a:r>
              <a:rPr sz="2133" spc="-53" dirty="0">
                <a:latin typeface="Century Schoolbook"/>
                <a:cs typeface="Century Schoolbook"/>
              </a:rPr>
              <a:t> </a:t>
            </a:r>
            <a:r>
              <a:rPr sz="2133" spc="-13" dirty="0">
                <a:latin typeface="Century Schoolbook"/>
                <a:cs typeface="Century Schoolbook"/>
              </a:rPr>
              <a:t>diseases.</a:t>
            </a:r>
            <a:endParaRPr sz="2133" dirty="0">
              <a:latin typeface="Century Schoolbook"/>
              <a:cs typeface="Century Schoolbook"/>
            </a:endParaRPr>
          </a:p>
        </p:txBody>
      </p:sp>
      <p:sp>
        <p:nvSpPr>
          <p:cNvPr id="7" name="object 7"/>
          <p:cNvSpPr txBox="1"/>
          <p:nvPr/>
        </p:nvSpPr>
        <p:spPr>
          <a:xfrm>
            <a:off x="672111" y="3268176"/>
            <a:ext cx="11060007" cy="1088995"/>
          </a:xfrm>
          <a:prstGeom prst="rect">
            <a:avLst/>
          </a:prstGeom>
          <a:solidFill>
            <a:srgbClr val="FFE499"/>
          </a:solidFill>
        </p:spPr>
        <p:txBody>
          <a:bodyPr vert="horz" wrap="square" lIns="0" tIns="103293" rIns="0" bIns="0" rtlCol="0">
            <a:spAutoFit/>
          </a:bodyPr>
          <a:lstStyle/>
          <a:p>
            <a:pPr marL="114297" marR="112604" algn="just">
              <a:spcBef>
                <a:spcPts val="813"/>
              </a:spcBef>
            </a:pPr>
            <a:r>
              <a:rPr sz="2133" b="1" dirty="0">
                <a:latin typeface="Century Schoolbook"/>
                <a:cs typeface="Century Schoolbook"/>
              </a:rPr>
              <a:t>Personalized</a:t>
            </a:r>
            <a:r>
              <a:rPr sz="2133" b="1" spc="360" dirty="0">
                <a:latin typeface="Century Schoolbook"/>
                <a:cs typeface="Century Schoolbook"/>
              </a:rPr>
              <a:t> </a:t>
            </a:r>
            <a:r>
              <a:rPr sz="2133" b="1" dirty="0">
                <a:latin typeface="Century Schoolbook"/>
                <a:cs typeface="Century Schoolbook"/>
              </a:rPr>
              <a:t>medicine:</a:t>
            </a:r>
            <a:r>
              <a:rPr sz="2133" b="1" spc="360" dirty="0">
                <a:latin typeface="Century Schoolbook"/>
                <a:cs typeface="Century Schoolbook"/>
              </a:rPr>
              <a:t> </a:t>
            </a:r>
            <a:r>
              <a:rPr sz="2133" dirty="0">
                <a:latin typeface="Century Schoolbook"/>
                <a:cs typeface="Century Schoolbook"/>
              </a:rPr>
              <a:t>By</a:t>
            </a:r>
            <a:r>
              <a:rPr sz="2133" spc="367" dirty="0">
                <a:latin typeface="Century Schoolbook"/>
                <a:cs typeface="Century Schoolbook"/>
              </a:rPr>
              <a:t> </a:t>
            </a:r>
            <a:r>
              <a:rPr sz="2133" dirty="0">
                <a:latin typeface="Century Schoolbook"/>
                <a:cs typeface="Century Schoolbook"/>
              </a:rPr>
              <a:t>assessing</a:t>
            </a:r>
            <a:r>
              <a:rPr sz="2133" spc="367" dirty="0">
                <a:latin typeface="Century Schoolbook"/>
                <a:cs typeface="Century Schoolbook"/>
              </a:rPr>
              <a:t> </a:t>
            </a:r>
            <a:r>
              <a:rPr sz="2133" dirty="0">
                <a:latin typeface="Century Schoolbook"/>
                <a:cs typeface="Century Schoolbook"/>
              </a:rPr>
              <a:t>the</a:t>
            </a:r>
            <a:r>
              <a:rPr sz="2133" spc="367" dirty="0">
                <a:latin typeface="Century Schoolbook"/>
                <a:cs typeface="Century Schoolbook"/>
              </a:rPr>
              <a:t> </a:t>
            </a:r>
            <a:r>
              <a:rPr sz="2133" dirty="0">
                <a:latin typeface="Century Schoolbook"/>
                <a:cs typeface="Century Schoolbook"/>
              </a:rPr>
              <a:t>genetic</a:t>
            </a:r>
            <a:r>
              <a:rPr sz="2133" spc="360" dirty="0">
                <a:latin typeface="Century Schoolbook"/>
                <a:cs typeface="Century Schoolbook"/>
              </a:rPr>
              <a:t> </a:t>
            </a:r>
            <a:r>
              <a:rPr sz="2133" dirty="0">
                <a:latin typeface="Century Schoolbook"/>
                <a:cs typeface="Century Schoolbook"/>
              </a:rPr>
              <a:t>structure</a:t>
            </a:r>
            <a:r>
              <a:rPr sz="2133" spc="367" dirty="0">
                <a:latin typeface="Century Schoolbook"/>
                <a:cs typeface="Century Schoolbook"/>
              </a:rPr>
              <a:t> </a:t>
            </a:r>
            <a:r>
              <a:rPr sz="2133" dirty="0">
                <a:latin typeface="Century Schoolbook"/>
                <a:cs typeface="Century Schoolbook"/>
              </a:rPr>
              <a:t>of</a:t>
            </a:r>
            <a:r>
              <a:rPr sz="2133" spc="367" dirty="0">
                <a:latin typeface="Century Schoolbook"/>
                <a:cs typeface="Century Schoolbook"/>
              </a:rPr>
              <a:t> </a:t>
            </a:r>
            <a:r>
              <a:rPr sz="2133" dirty="0">
                <a:latin typeface="Century Schoolbook"/>
                <a:cs typeface="Century Schoolbook"/>
              </a:rPr>
              <a:t>the</a:t>
            </a:r>
            <a:r>
              <a:rPr sz="2133" spc="367" dirty="0">
                <a:latin typeface="Century Schoolbook"/>
                <a:cs typeface="Century Schoolbook"/>
              </a:rPr>
              <a:t> </a:t>
            </a:r>
            <a:r>
              <a:rPr sz="2133" dirty="0">
                <a:latin typeface="Century Schoolbook"/>
                <a:cs typeface="Century Schoolbook"/>
              </a:rPr>
              <a:t>patient</a:t>
            </a:r>
            <a:r>
              <a:rPr sz="2133" spc="367" dirty="0">
                <a:latin typeface="Century Schoolbook"/>
                <a:cs typeface="Century Schoolbook"/>
              </a:rPr>
              <a:t> </a:t>
            </a:r>
            <a:r>
              <a:rPr sz="2133" dirty="0">
                <a:latin typeface="Century Schoolbook"/>
                <a:cs typeface="Century Schoolbook"/>
              </a:rPr>
              <a:t>and</a:t>
            </a:r>
            <a:r>
              <a:rPr sz="2133" spc="367" dirty="0">
                <a:latin typeface="Century Schoolbook"/>
                <a:cs typeface="Century Schoolbook"/>
              </a:rPr>
              <a:t> </a:t>
            </a:r>
            <a:r>
              <a:rPr sz="2133" spc="-13" dirty="0">
                <a:latin typeface="Century Schoolbook"/>
                <a:cs typeface="Century Schoolbook"/>
              </a:rPr>
              <a:t>their </a:t>
            </a:r>
            <a:r>
              <a:rPr sz="2133" dirty="0">
                <a:latin typeface="Century Schoolbook"/>
                <a:cs typeface="Century Schoolbook"/>
              </a:rPr>
              <a:t>respective</a:t>
            </a:r>
            <a:r>
              <a:rPr sz="2133" spc="-73" dirty="0">
                <a:latin typeface="Century Schoolbook"/>
                <a:cs typeface="Century Schoolbook"/>
              </a:rPr>
              <a:t> </a:t>
            </a:r>
            <a:r>
              <a:rPr sz="2133" dirty="0">
                <a:latin typeface="Century Schoolbook"/>
                <a:cs typeface="Century Schoolbook"/>
              </a:rPr>
              <a:t>medical</a:t>
            </a:r>
            <a:r>
              <a:rPr sz="2133" spc="-67" dirty="0">
                <a:latin typeface="Century Schoolbook"/>
                <a:cs typeface="Century Schoolbook"/>
              </a:rPr>
              <a:t> </a:t>
            </a:r>
            <a:r>
              <a:rPr sz="2133" spc="-33" dirty="0">
                <a:latin typeface="Century Schoolbook"/>
                <a:cs typeface="Century Schoolbook"/>
              </a:rPr>
              <a:t>history,</a:t>
            </a:r>
            <a:r>
              <a:rPr sz="2133" spc="-67" dirty="0">
                <a:latin typeface="Century Schoolbook"/>
                <a:cs typeface="Century Schoolbook"/>
              </a:rPr>
              <a:t> </a:t>
            </a:r>
            <a:r>
              <a:rPr sz="2133" spc="-13" dirty="0">
                <a:latin typeface="Century Schoolbook"/>
                <a:cs typeface="Century Schoolbook"/>
              </a:rPr>
              <a:t>personalized</a:t>
            </a:r>
            <a:r>
              <a:rPr sz="2133" spc="-67" dirty="0">
                <a:latin typeface="Century Schoolbook"/>
                <a:cs typeface="Century Schoolbook"/>
              </a:rPr>
              <a:t> </a:t>
            </a:r>
            <a:r>
              <a:rPr sz="2133" dirty="0">
                <a:latin typeface="Century Schoolbook"/>
                <a:cs typeface="Century Schoolbook"/>
              </a:rPr>
              <a:t>medicine</a:t>
            </a:r>
            <a:r>
              <a:rPr sz="2133" spc="-67" dirty="0">
                <a:latin typeface="Century Schoolbook"/>
                <a:cs typeface="Century Schoolbook"/>
              </a:rPr>
              <a:t> </a:t>
            </a:r>
            <a:r>
              <a:rPr sz="2133" dirty="0">
                <a:latin typeface="Century Schoolbook"/>
                <a:cs typeface="Century Schoolbook"/>
              </a:rPr>
              <a:t>can</a:t>
            </a:r>
            <a:r>
              <a:rPr sz="2133" spc="-67" dirty="0">
                <a:latin typeface="Century Schoolbook"/>
                <a:cs typeface="Century Schoolbook"/>
              </a:rPr>
              <a:t> </a:t>
            </a:r>
            <a:r>
              <a:rPr sz="2133" dirty="0">
                <a:latin typeface="Century Schoolbook"/>
                <a:cs typeface="Century Schoolbook"/>
              </a:rPr>
              <a:t>be</a:t>
            </a:r>
            <a:r>
              <a:rPr sz="2133" spc="-73" dirty="0">
                <a:latin typeface="Century Schoolbook"/>
                <a:cs typeface="Century Schoolbook"/>
              </a:rPr>
              <a:t> </a:t>
            </a:r>
            <a:r>
              <a:rPr sz="2133" dirty="0">
                <a:latin typeface="Century Schoolbook"/>
                <a:cs typeface="Century Schoolbook"/>
              </a:rPr>
              <a:t>curated</a:t>
            </a:r>
            <a:r>
              <a:rPr sz="2133" spc="-67" dirty="0">
                <a:latin typeface="Century Schoolbook"/>
                <a:cs typeface="Century Schoolbook"/>
              </a:rPr>
              <a:t> </a:t>
            </a:r>
            <a:r>
              <a:rPr sz="2133" dirty="0">
                <a:latin typeface="Century Schoolbook"/>
                <a:cs typeface="Century Schoolbook"/>
              </a:rPr>
              <a:t>which</a:t>
            </a:r>
            <a:r>
              <a:rPr sz="2133" spc="-67" dirty="0">
                <a:latin typeface="Century Schoolbook"/>
                <a:cs typeface="Century Schoolbook"/>
              </a:rPr>
              <a:t> </a:t>
            </a:r>
            <a:r>
              <a:rPr sz="2133" dirty="0">
                <a:latin typeface="Century Schoolbook"/>
                <a:cs typeface="Century Schoolbook"/>
              </a:rPr>
              <a:t>would</a:t>
            </a:r>
            <a:r>
              <a:rPr sz="2133" spc="-67" dirty="0">
                <a:latin typeface="Century Schoolbook"/>
                <a:cs typeface="Century Schoolbook"/>
              </a:rPr>
              <a:t> </a:t>
            </a:r>
            <a:r>
              <a:rPr sz="2133" dirty="0">
                <a:latin typeface="Century Schoolbook"/>
                <a:cs typeface="Century Schoolbook"/>
              </a:rPr>
              <a:t>prove</a:t>
            </a:r>
            <a:r>
              <a:rPr sz="2133" spc="-33" dirty="0">
                <a:latin typeface="Century Schoolbook"/>
                <a:cs typeface="Century Schoolbook"/>
              </a:rPr>
              <a:t> to </a:t>
            </a:r>
            <a:r>
              <a:rPr sz="2133" dirty="0">
                <a:latin typeface="Century Schoolbook"/>
                <a:cs typeface="Century Schoolbook"/>
              </a:rPr>
              <a:t>be</a:t>
            </a:r>
            <a:r>
              <a:rPr sz="2133" spc="-33" dirty="0">
                <a:latin typeface="Century Schoolbook"/>
                <a:cs typeface="Century Schoolbook"/>
              </a:rPr>
              <a:t> </a:t>
            </a:r>
            <a:r>
              <a:rPr sz="2133" dirty="0">
                <a:latin typeface="Century Schoolbook"/>
                <a:cs typeface="Century Schoolbook"/>
              </a:rPr>
              <a:t>much</a:t>
            </a:r>
            <a:r>
              <a:rPr sz="2133" spc="-27" dirty="0">
                <a:latin typeface="Century Schoolbook"/>
                <a:cs typeface="Century Schoolbook"/>
              </a:rPr>
              <a:t> </a:t>
            </a:r>
            <a:r>
              <a:rPr sz="2133" dirty="0">
                <a:latin typeface="Century Schoolbook"/>
                <a:cs typeface="Century Schoolbook"/>
              </a:rPr>
              <a:t>more</a:t>
            </a:r>
            <a:r>
              <a:rPr sz="2133" spc="-33" dirty="0">
                <a:latin typeface="Century Schoolbook"/>
                <a:cs typeface="Century Schoolbook"/>
              </a:rPr>
              <a:t> </a:t>
            </a:r>
            <a:r>
              <a:rPr sz="2133" spc="-13" dirty="0">
                <a:latin typeface="Century Schoolbook"/>
                <a:cs typeface="Century Schoolbook"/>
              </a:rPr>
              <a:t>effective.</a:t>
            </a:r>
            <a:endParaRPr sz="2133" dirty="0">
              <a:latin typeface="Century Schoolbook"/>
              <a:cs typeface="Century Schoolbook"/>
            </a:endParaRPr>
          </a:p>
        </p:txBody>
      </p:sp>
      <p:sp>
        <p:nvSpPr>
          <p:cNvPr id="8" name="object 8"/>
          <p:cNvSpPr txBox="1"/>
          <p:nvPr/>
        </p:nvSpPr>
        <p:spPr>
          <a:xfrm>
            <a:off x="665721" y="4483849"/>
            <a:ext cx="11060007" cy="1540913"/>
          </a:xfrm>
          <a:prstGeom prst="rect">
            <a:avLst/>
          </a:prstGeom>
          <a:solidFill>
            <a:schemeClr val="accent6">
              <a:lumMod val="40000"/>
              <a:lumOff val="60000"/>
            </a:schemeClr>
          </a:solidFill>
        </p:spPr>
        <p:txBody>
          <a:bodyPr vert="horz" wrap="square" lIns="0" tIns="103293" rIns="0" bIns="0" rtlCol="0">
            <a:spAutoFit/>
          </a:bodyPr>
          <a:lstStyle/>
          <a:p>
            <a:pPr marL="114297" marR="108371" algn="just">
              <a:spcBef>
                <a:spcPts val="813"/>
              </a:spcBef>
            </a:pPr>
            <a:r>
              <a:rPr sz="1867" b="1" dirty="0">
                <a:latin typeface="Century" panose="02040604050505020304" pitchFamily="18" charset="0"/>
                <a:cs typeface="Century Schoolbook"/>
              </a:rPr>
              <a:t>Preventive</a:t>
            </a:r>
            <a:r>
              <a:rPr sz="1867" b="1" spc="-53" dirty="0">
                <a:latin typeface="Century" panose="02040604050505020304" pitchFamily="18" charset="0"/>
                <a:cs typeface="Century Schoolbook"/>
              </a:rPr>
              <a:t> </a:t>
            </a:r>
            <a:r>
              <a:rPr sz="1867" b="1" spc="-13" dirty="0">
                <a:latin typeface="Century" panose="02040604050505020304" pitchFamily="18" charset="0"/>
                <a:cs typeface="Century Schoolbook"/>
              </a:rPr>
              <a:t>medicines:</a:t>
            </a:r>
            <a:r>
              <a:rPr sz="1867" b="1" spc="-53" dirty="0">
                <a:latin typeface="Century" panose="02040604050505020304" pitchFamily="18" charset="0"/>
                <a:cs typeface="Century Schoolbook"/>
              </a:rPr>
              <a:t> </a:t>
            </a:r>
            <a:r>
              <a:rPr lang="en-US" sz="1867" dirty="0">
                <a:latin typeface="Century" panose="02040604050505020304" pitchFamily="18" charset="0"/>
              </a:rPr>
              <a:t>This is primarily achieved by integrating data from bioinformatics, </a:t>
            </a:r>
            <a:r>
              <a:rPr lang="en-US" sz="1867" dirty="0" err="1">
                <a:latin typeface="Century" panose="02040604050505020304" pitchFamily="18" charset="0"/>
              </a:rPr>
              <a:t>bioanalytics</a:t>
            </a:r>
            <a:r>
              <a:rPr lang="en-US" sz="1867" dirty="0">
                <a:latin typeface="Century" panose="02040604050505020304" pitchFamily="18" charset="0"/>
              </a:rPr>
              <a:t>, and epidemiology. As the name suggests, preventive medicine focuses on interrupting the chain of disease transmission or mitigating acute conditions before their onset. By leveraging computational analyses, biological measurements, and population-level health data, preventive approaches can predict risks, design early interventions, and reduce the overall burden of disease.</a:t>
            </a:r>
            <a:endParaRPr sz="1867" dirty="0">
              <a:latin typeface="Century" panose="02040604050505020304" pitchFamily="18" charset="0"/>
              <a:cs typeface="Century Schoolbook"/>
            </a:endParaRPr>
          </a:p>
        </p:txBody>
      </p:sp>
    </p:spTree>
    <p:extLst>
      <p:ext uri="{BB962C8B-B14F-4D97-AF65-F5344CB8AC3E}">
        <p14:creationId xmlns:p14="http://schemas.microsoft.com/office/powerpoint/2010/main" val="30984695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54217"/>
            <a:ext cx="14020800" cy="632651"/>
          </a:xfrm>
          <a:prstGeom prst="rect">
            <a:avLst/>
          </a:prstGeom>
        </p:spPr>
        <p:txBody>
          <a:bodyPr vert="horz" wrap="square" lIns="0" tIns="16933" rIns="0" bIns="0" rtlCol="0" anchor="ctr">
            <a:spAutoFit/>
          </a:bodyPr>
          <a:lstStyle/>
          <a:p>
            <a:pPr marL="2559409">
              <a:lnSpc>
                <a:spcPct val="100000"/>
              </a:lnSpc>
              <a:spcBef>
                <a:spcPts val="133"/>
              </a:spcBef>
            </a:pPr>
            <a:r>
              <a:rPr sz="4000" spc="293" dirty="0"/>
              <a:t>Uses</a:t>
            </a:r>
            <a:r>
              <a:rPr sz="4000" spc="207" dirty="0"/>
              <a:t> </a:t>
            </a:r>
            <a:r>
              <a:rPr sz="4000" spc="260" dirty="0"/>
              <a:t>of</a:t>
            </a:r>
            <a:r>
              <a:rPr sz="4000" spc="207" dirty="0"/>
              <a:t> </a:t>
            </a:r>
            <a:r>
              <a:rPr sz="4000" spc="373" dirty="0"/>
              <a:t>Bioinformatics</a:t>
            </a:r>
            <a:endParaRPr sz="400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4" name="object 4"/>
          <p:cNvSpPr/>
          <p:nvPr/>
        </p:nvSpPr>
        <p:spPr>
          <a:xfrm>
            <a:off x="364367" y="1098933"/>
            <a:ext cx="11605260" cy="5416972"/>
          </a:xfrm>
          <a:custGeom>
            <a:avLst/>
            <a:gdLst/>
            <a:ahLst/>
            <a:cxnLst/>
            <a:rect l="l" t="t" r="r" b="b"/>
            <a:pathLst>
              <a:path w="8703945" h="4062729">
                <a:moveTo>
                  <a:pt x="4749" y="0"/>
                </a:moveTo>
                <a:lnTo>
                  <a:pt x="4749" y="4062724"/>
                </a:lnTo>
              </a:path>
              <a:path w="8703945" h="4062729">
                <a:moveTo>
                  <a:pt x="8699124" y="0"/>
                </a:moveTo>
                <a:lnTo>
                  <a:pt x="8699124" y="4062724"/>
                </a:lnTo>
              </a:path>
              <a:path w="8703945" h="4062729">
                <a:moveTo>
                  <a:pt x="0" y="4749"/>
                </a:moveTo>
                <a:lnTo>
                  <a:pt x="8703874" y="4749"/>
                </a:lnTo>
              </a:path>
              <a:path w="8703945" h="4062729">
                <a:moveTo>
                  <a:pt x="0" y="4057974"/>
                </a:moveTo>
                <a:lnTo>
                  <a:pt x="8703874" y="4057974"/>
                </a:lnTo>
              </a:path>
            </a:pathLst>
          </a:custGeom>
          <a:ln w="9524">
            <a:solidFill>
              <a:srgbClr val="9E9E9E"/>
            </a:solidFill>
          </a:ln>
        </p:spPr>
        <p:txBody>
          <a:bodyPr wrap="square" lIns="0" tIns="0" rIns="0" bIns="0" rtlCol="0"/>
          <a:lstStyle/>
          <a:p>
            <a:endParaRPr sz="2400"/>
          </a:p>
        </p:txBody>
      </p:sp>
      <p:sp>
        <p:nvSpPr>
          <p:cNvPr id="5" name="object 5"/>
          <p:cNvSpPr txBox="1"/>
          <p:nvPr/>
        </p:nvSpPr>
        <p:spPr>
          <a:xfrm>
            <a:off x="588473" y="2103134"/>
            <a:ext cx="11060007" cy="760763"/>
          </a:xfrm>
          <a:prstGeom prst="rect">
            <a:avLst/>
          </a:prstGeom>
          <a:solidFill>
            <a:srgbClr val="EAD1DC"/>
          </a:solidFill>
        </p:spPr>
        <p:txBody>
          <a:bodyPr vert="horz" wrap="square" lIns="0" tIns="103293" rIns="0" bIns="0" rtlCol="0">
            <a:spAutoFit/>
          </a:bodyPr>
          <a:lstStyle/>
          <a:p>
            <a:pPr marL="114297" marR="181182">
              <a:spcBef>
                <a:spcPts val="813"/>
              </a:spcBef>
            </a:pPr>
            <a:r>
              <a:rPr sz="2133" dirty="0">
                <a:latin typeface="Century Schoolbook"/>
                <a:cs typeface="Century Schoolbook"/>
              </a:rPr>
              <a:t>Bioinformatics</a:t>
            </a:r>
            <a:r>
              <a:rPr sz="2133" spc="-47" dirty="0">
                <a:latin typeface="Century Schoolbook"/>
                <a:cs typeface="Century Schoolbook"/>
              </a:rPr>
              <a:t> </a:t>
            </a:r>
            <a:r>
              <a:rPr sz="2133" dirty="0">
                <a:latin typeface="Century Schoolbook"/>
                <a:cs typeface="Century Schoolbook"/>
              </a:rPr>
              <a:t>is</a:t>
            </a:r>
            <a:r>
              <a:rPr sz="2133" spc="-47" dirty="0">
                <a:latin typeface="Century Schoolbook"/>
                <a:cs typeface="Century Schoolbook"/>
              </a:rPr>
              <a:t> </a:t>
            </a:r>
            <a:r>
              <a:rPr sz="2133" dirty="0">
                <a:latin typeface="Century Schoolbook"/>
                <a:cs typeface="Century Schoolbook"/>
              </a:rPr>
              <a:t>used</a:t>
            </a:r>
            <a:r>
              <a:rPr sz="2133" spc="-40" dirty="0">
                <a:latin typeface="Century Schoolbook"/>
                <a:cs typeface="Century Schoolbook"/>
              </a:rPr>
              <a:t> </a:t>
            </a:r>
            <a:r>
              <a:rPr sz="2133" dirty="0">
                <a:latin typeface="Century Schoolbook"/>
                <a:cs typeface="Century Schoolbook"/>
              </a:rPr>
              <a:t>in</a:t>
            </a:r>
            <a:r>
              <a:rPr sz="2133" spc="-47" dirty="0">
                <a:latin typeface="Century Schoolbook"/>
                <a:cs typeface="Century Schoolbook"/>
              </a:rPr>
              <a:t> </a:t>
            </a:r>
            <a:r>
              <a:rPr sz="2133" dirty="0">
                <a:latin typeface="Century Schoolbook"/>
                <a:cs typeface="Century Schoolbook"/>
              </a:rPr>
              <a:t>various</a:t>
            </a:r>
            <a:r>
              <a:rPr sz="2133" spc="-47" dirty="0">
                <a:latin typeface="Century Schoolbook"/>
                <a:cs typeface="Century Schoolbook"/>
              </a:rPr>
              <a:t> </a:t>
            </a:r>
            <a:r>
              <a:rPr sz="2133" dirty="0">
                <a:latin typeface="Century Schoolbook"/>
                <a:cs typeface="Century Schoolbook"/>
              </a:rPr>
              <a:t>fields,</a:t>
            </a:r>
            <a:r>
              <a:rPr sz="2133" spc="-40" dirty="0">
                <a:latin typeface="Century Schoolbook"/>
                <a:cs typeface="Century Schoolbook"/>
              </a:rPr>
              <a:t> </a:t>
            </a:r>
            <a:r>
              <a:rPr sz="2133" dirty="0">
                <a:latin typeface="Century Schoolbook"/>
                <a:cs typeface="Century Schoolbook"/>
              </a:rPr>
              <a:t>especially</a:t>
            </a:r>
            <a:r>
              <a:rPr sz="2133" spc="-47" dirty="0">
                <a:latin typeface="Century Schoolbook"/>
                <a:cs typeface="Century Schoolbook"/>
              </a:rPr>
              <a:t> </a:t>
            </a:r>
            <a:r>
              <a:rPr sz="2133" dirty="0">
                <a:latin typeface="Century Schoolbook"/>
                <a:cs typeface="Century Schoolbook"/>
              </a:rPr>
              <a:t>in</a:t>
            </a:r>
            <a:r>
              <a:rPr sz="2133" spc="-47" dirty="0">
                <a:latin typeface="Century Schoolbook"/>
                <a:cs typeface="Century Schoolbook"/>
              </a:rPr>
              <a:t> </a:t>
            </a:r>
            <a:r>
              <a:rPr sz="2133" dirty="0">
                <a:latin typeface="Century Schoolbook"/>
                <a:cs typeface="Century Schoolbook"/>
              </a:rPr>
              <a:t>biomedicine</a:t>
            </a:r>
            <a:r>
              <a:rPr sz="2133" spc="-40" dirty="0">
                <a:latin typeface="Century Schoolbook"/>
                <a:cs typeface="Century Schoolbook"/>
              </a:rPr>
              <a:t> </a:t>
            </a:r>
            <a:r>
              <a:rPr sz="2133" dirty="0">
                <a:latin typeface="Century Schoolbook"/>
                <a:cs typeface="Century Schoolbook"/>
              </a:rPr>
              <a:t>where</a:t>
            </a:r>
            <a:r>
              <a:rPr sz="2133" spc="-47" dirty="0">
                <a:latin typeface="Century Schoolbook"/>
                <a:cs typeface="Century Schoolbook"/>
              </a:rPr>
              <a:t> </a:t>
            </a:r>
            <a:r>
              <a:rPr sz="2133" dirty="0">
                <a:latin typeface="Century Schoolbook"/>
                <a:cs typeface="Century Schoolbook"/>
              </a:rPr>
              <a:t>it</a:t>
            </a:r>
            <a:r>
              <a:rPr sz="2133" spc="-47" dirty="0">
                <a:latin typeface="Century Schoolbook"/>
                <a:cs typeface="Century Schoolbook"/>
              </a:rPr>
              <a:t> </a:t>
            </a:r>
            <a:r>
              <a:rPr sz="2133" dirty="0">
                <a:latin typeface="Century Schoolbook"/>
                <a:cs typeface="Century Schoolbook"/>
              </a:rPr>
              <a:t>has</a:t>
            </a:r>
            <a:r>
              <a:rPr sz="2133" spc="-40" dirty="0">
                <a:latin typeface="Century Schoolbook"/>
                <a:cs typeface="Century Schoolbook"/>
              </a:rPr>
              <a:t> </a:t>
            </a:r>
            <a:r>
              <a:rPr sz="2133" spc="-13" dirty="0">
                <a:latin typeface="Century Schoolbook"/>
                <a:cs typeface="Century Schoolbook"/>
              </a:rPr>
              <a:t>various applications.</a:t>
            </a:r>
            <a:endParaRPr sz="2133">
              <a:latin typeface="Century Schoolbook"/>
              <a:cs typeface="Century Schoolbook"/>
            </a:endParaRP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11</a:t>
            </a:fld>
            <a:endParaRPr spc="-33" dirty="0"/>
          </a:p>
        </p:txBody>
      </p:sp>
      <p:sp>
        <p:nvSpPr>
          <p:cNvPr id="6" name="object 6"/>
          <p:cNvSpPr txBox="1"/>
          <p:nvPr/>
        </p:nvSpPr>
        <p:spPr>
          <a:xfrm>
            <a:off x="588473" y="3318952"/>
            <a:ext cx="11060007" cy="1417225"/>
          </a:xfrm>
          <a:prstGeom prst="rect">
            <a:avLst/>
          </a:prstGeom>
          <a:solidFill>
            <a:srgbClr val="FFE499"/>
          </a:solidFill>
        </p:spPr>
        <p:txBody>
          <a:bodyPr vert="horz" wrap="square" lIns="0" tIns="103293" rIns="0" bIns="0" rtlCol="0">
            <a:spAutoFit/>
          </a:bodyPr>
          <a:lstStyle/>
          <a:p>
            <a:pPr marL="114297" marR="247220">
              <a:spcBef>
                <a:spcPts val="813"/>
              </a:spcBef>
            </a:pPr>
            <a:r>
              <a:rPr sz="2133" b="1" dirty="0">
                <a:latin typeface="Century Schoolbook"/>
                <a:cs typeface="Century Schoolbook"/>
              </a:rPr>
              <a:t>Gene</a:t>
            </a:r>
            <a:r>
              <a:rPr sz="2133" b="1" spc="-73" dirty="0">
                <a:latin typeface="Century Schoolbook"/>
                <a:cs typeface="Century Schoolbook"/>
              </a:rPr>
              <a:t> </a:t>
            </a:r>
            <a:r>
              <a:rPr sz="2133" b="1" dirty="0">
                <a:latin typeface="Century Schoolbook"/>
                <a:cs typeface="Century Schoolbook"/>
              </a:rPr>
              <a:t>therapy:</a:t>
            </a:r>
            <a:r>
              <a:rPr sz="2133" b="1" spc="-67" dirty="0">
                <a:latin typeface="Century Schoolbook"/>
                <a:cs typeface="Century Schoolbook"/>
              </a:rPr>
              <a:t> </a:t>
            </a:r>
            <a:r>
              <a:rPr sz="2133" dirty="0">
                <a:latin typeface="Century Schoolbook"/>
                <a:cs typeface="Century Schoolbook"/>
              </a:rPr>
              <a:t>Gene</a:t>
            </a:r>
            <a:r>
              <a:rPr sz="2133" spc="-67" dirty="0">
                <a:latin typeface="Century Schoolbook"/>
                <a:cs typeface="Century Schoolbook"/>
              </a:rPr>
              <a:t> </a:t>
            </a:r>
            <a:r>
              <a:rPr sz="2133" dirty="0">
                <a:latin typeface="Century Schoolbook"/>
                <a:cs typeface="Century Schoolbook"/>
              </a:rPr>
              <a:t>therapy</a:t>
            </a:r>
            <a:r>
              <a:rPr sz="2133" spc="-73" dirty="0">
                <a:latin typeface="Century Schoolbook"/>
                <a:cs typeface="Century Schoolbook"/>
              </a:rPr>
              <a:t> </a:t>
            </a:r>
            <a:r>
              <a:rPr sz="2133" dirty="0">
                <a:latin typeface="Century Schoolbook"/>
                <a:cs typeface="Century Schoolbook"/>
              </a:rPr>
              <a:t>is</a:t>
            </a:r>
            <a:r>
              <a:rPr sz="2133" spc="-67" dirty="0">
                <a:latin typeface="Century Schoolbook"/>
                <a:cs typeface="Century Schoolbook"/>
              </a:rPr>
              <a:t> </a:t>
            </a:r>
            <a:r>
              <a:rPr sz="2133" dirty="0">
                <a:latin typeface="Century Schoolbook"/>
                <a:cs typeface="Century Schoolbook"/>
              </a:rPr>
              <a:t>the</a:t>
            </a:r>
            <a:r>
              <a:rPr sz="2133" spc="-67" dirty="0">
                <a:latin typeface="Century Schoolbook"/>
                <a:cs typeface="Century Schoolbook"/>
              </a:rPr>
              <a:t> </a:t>
            </a:r>
            <a:r>
              <a:rPr sz="2133" dirty="0">
                <a:latin typeface="Century Schoolbook"/>
                <a:cs typeface="Century Schoolbook"/>
              </a:rPr>
              <a:t>process</a:t>
            </a:r>
            <a:r>
              <a:rPr sz="2133" spc="-67" dirty="0">
                <a:latin typeface="Century Schoolbook"/>
                <a:cs typeface="Century Schoolbook"/>
              </a:rPr>
              <a:t> </a:t>
            </a:r>
            <a:r>
              <a:rPr sz="2133" dirty="0">
                <a:latin typeface="Century Schoolbook"/>
                <a:cs typeface="Century Schoolbook"/>
              </a:rPr>
              <a:t>where</a:t>
            </a:r>
            <a:r>
              <a:rPr sz="2133" spc="-73" dirty="0">
                <a:latin typeface="Century Schoolbook"/>
                <a:cs typeface="Century Schoolbook"/>
              </a:rPr>
              <a:t> </a:t>
            </a:r>
            <a:r>
              <a:rPr sz="2133" dirty="0">
                <a:latin typeface="Century Schoolbook"/>
                <a:cs typeface="Century Schoolbook"/>
              </a:rPr>
              <a:t>defective</a:t>
            </a:r>
            <a:r>
              <a:rPr sz="2133" spc="-67" dirty="0">
                <a:latin typeface="Century Schoolbook"/>
                <a:cs typeface="Century Schoolbook"/>
              </a:rPr>
              <a:t> </a:t>
            </a:r>
            <a:r>
              <a:rPr sz="2133" dirty="0">
                <a:latin typeface="Century Schoolbook"/>
                <a:cs typeface="Century Schoolbook"/>
              </a:rPr>
              <a:t>genes</a:t>
            </a:r>
            <a:r>
              <a:rPr sz="2133" spc="-67" dirty="0">
                <a:latin typeface="Century Schoolbook"/>
                <a:cs typeface="Century Schoolbook"/>
              </a:rPr>
              <a:t> </a:t>
            </a:r>
            <a:r>
              <a:rPr sz="2133" dirty="0">
                <a:latin typeface="Century Schoolbook"/>
                <a:cs typeface="Century Schoolbook"/>
              </a:rPr>
              <a:t>are</a:t>
            </a:r>
            <a:r>
              <a:rPr sz="2133" spc="-67" dirty="0">
                <a:latin typeface="Century Schoolbook"/>
                <a:cs typeface="Century Schoolbook"/>
              </a:rPr>
              <a:t> </a:t>
            </a:r>
            <a:r>
              <a:rPr sz="2133" dirty="0">
                <a:latin typeface="Century Schoolbook"/>
                <a:cs typeface="Century Schoolbook"/>
              </a:rPr>
              <a:t>replaced</a:t>
            </a:r>
            <a:r>
              <a:rPr sz="2133" spc="-73" dirty="0">
                <a:latin typeface="Century Schoolbook"/>
                <a:cs typeface="Century Schoolbook"/>
              </a:rPr>
              <a:t> </a:t>
            </a:r>
            <a:r>
              <a:rPr sz="2133" dirty="0">
                <a:latin typeface="Century Schoolbook"/>
                <a:cs typeface="Century Schoolbook"/>
              </a:rPr>
              <a:t>by</a:t>
            </a:r>
            <a:r>
              <a:rPr sz="2133" spc="-67" dirty="0">
                <a:latin typeface="Century Schoolbook"/>
                <a:cs typeface="Century Schoolbook"/>
              </a:rPr>
              <a:t> </a:t>
            </a:r>
            <a:r>
              <a:rPr sz="2133" spc="-33" dirty="0">
                <a:latin typeface="Century Schoolbook"/>
                <a:cs typeface="Century Schoolbook"/>
              </a:rPr>
              <a:t>new </a:t>
            </a:r>
            <a:r>
              <a:rPr sz="2133" dirty="0">
                <a:latin typeface="Century Schoolbook"/>
                <a:cs typeface="Century Schoolbook"/>
              </a:rPr>
              <a:t>ones</a:t>
            </a:r>
            <a:r>
              <a:rPr sz="2133" spc="-40" dirty="0">
                <a:latin typeface="Century Schoolbook"/>
                <a:cs typeface="Century Schoolbook"/>
              </a:rPr>
              <a:t> </a:t>
            </a:r>
            <a:r>
              <a:rPr sz="2133" dirty="0">
                <a:latin typeface="Century Schoolbook"/>
                <a:cs typeface="Century Schoolbook"/>
              </a:rPr>
              <a:t>in</a:t>
            </a:r>
            <a:r>
              <a:rPr sz="2133" spc="-40" dirty="0">
                <a:latin typeface="Century Schoolbook"/>
                <a:cs typeface="Century Schoolbook"/>
              </a:rPr>
              <a:t> </a:t>
            </a:r>
            <a:r>
              <a:rPr sz="2133" dirty="0">
                <a:latin typeface="Century Schoolbook"/>
                <a:cs typeface="Century Schoolbook"/>
              </a:rPr>
              <a:t>the</a:t>
            </a:r>
            <a:r>
              <a:rPr sz="2133" spc="-40" dirty="0">
                <a:latin typeface="Century Schoolbook"/>
                <a:cs typeface="Century Schoolbook"/>
              </a:rPr>
              <a:t> </a:t>
            </a:r>
            <a:r>
              <a:rPr sz="2133" dirty="0">
                <a:latin typeface="Century Schoolbook"/>
                <a:cs typeface="Century Schoolbook"/>
              </a:rPr>
              <a:t>gene</a:t>
            </a:r>
            <a:r>
              <a:rPr sz="2133" spc="-40" dirty="0">
                <a:latin typeface="Century Schoolbook"/>
                <a:cs typeface="Century Schoolbook"/>
              </a:rPr>
              <a:t> </a:t>
            </a:r>
            <a:r>
              <a:rPr sz="2133" dirty="0">
                <a:latin typeface="Century Schoolbook"/>
                <a:cs typeface="Century Schoolbook"/>
              </a:rPr>
              <a:t>structure</a:t>
            </a:r>
            <a:r>
              <a:rPr sz="2133" spc="-40" dirty="0">
                <a:latin typeface="Century Schoolbook"/>
                <a:cs typeface="Century Schoolbook"/>
              </a:rPr>
              <a:t> </a:t>
            </a:r>
            <a:r>
              <a:rPr sz="2133" dirty="0">
                <a:latin typeface="Century Schoolbook"/>
                <a:cs typeface="Century Schoolbook"/>
              </a:rPr>
              <a:t>of</a:t>
            </a:r>
            <a:r>
              <a:rPr sz="2133" spc="-40" dirty="0">
                <a:latin typeface="Century Schoolbook"/>
                <a:cs typeface="Century Schoolbook"/>
              </a:rPr>
              <a:t> </a:t>
            </a:r>
            <a:r>
              <a:rPr sz="2133" dirty="0">
                <a:latin typeface="Century Schoolbook"/>
                <a:cs typeface="Century Schoolbook"/>
              </a:rPr>
              <a:t>a</a:t>
            </a:r>
            <a:r>
              <a:rPr sz="2133" spc="-33" dirty="0">
                <a:latin typeface="Century Schoolbook"/>
                <a:cs typeface="Century Schoolbook"/>
              </a:rPr>
              <a:t> </a:t>
            </a:r>
            <a:r>
              <a:rPr sz="2133" dirty="0">
                <a:latin typeface="Century Schoolbook"/>
                <a:cs typeface="Century Schoolbook"/>
              </a:rPr>
              <a:t>living</a:t>
            </a:r>
            <a:r>
              <a:rPr sz="2133" spc="-40" dirty="0">
                <a:latin typeface="Century Schoolbook"/>
                <a:cs typeface="Century Schoolbook"/>
              </a:rPr>
              <a:t> </a:t>
            </a:r>
            <a:r>
              <a:rPr sz="2133" spc="-13" dirty="0">
                <a:latin typeface="Century Schoolbook"/>
                <a:cs typeface="Century Schoolbook"/>
              </a:rPr>
              <a:t>organism.</a:t>
            </a:r>
            <a:r>
              <a:rPr sz="2133" spc="-40" dirty="0">
                <a:latin typeface="Century Schoolbook"/>
                <a:cs typeface="Century Schoolbook"/>
              </a:rPr>
              <a:t> </a:t>
            </a:r>
            <a:r>
              <a:rPr sz="2133" dirty="0">
                <a:latin typeface="Century Schoolbook"/>
                <a:cs typeface="Century Schoolbook"/>
              </a:rPr>
              <a:t>Since</a:t>
            </a:r>
            <a:r>
              <a:rPr sz="2133" spc="-40" dirty="0">
                <a:latin typeface="Century Schoolbook"/>
                <a:cs typeface="Century Schoolbook"/>
              </a:rPr>
              <a:t> </a:t>
            </a:r>
            <a:r>
              <a:rPr sz="2133" dirty="0">
                <a:latin typeface="Century Schoolbook"/>
                <a:cs typeface="Century Schoolbook"/>
              </a:rPr>
              <a:t>each</a:t>
            </a:r>
            <a:r>
              <a:rPr sz="2133" spc="-40" dirty="0">
                <a:latin typeface="Century Schoolbook"/>
                <a:cs typeface="Century Schoolbook"/>
              </a:rPr>
              <a:t> </a:t>
            </a:r>
            <a:r>
              <a:rPr sz="2133" dirty="0">
                <a:latin typeface="Century Schoolbook"/>
                <a:cs typeface="Century Schoolbook"/>
              </a:rPr>
              <a:t>organisms</a:t>
            </a:r>
            <a:r>
              <a:rPr sz="2133" spc="-40" dirty="0">
                <a:latin typeface="Century Schoolbook"/>
                <a:cs typeface="Century Schoolbook"/>
              </a:rPr>
              <a:t> </a:t>
            </a:r>
            <a:r>
              <a:rPr sz="2133" dirty="0">
                <a:latin typeface="Century Schoolbook"/>
                <a:cs typeface="Century Schoolbook"/>
              </a:rPr>
              <a:t>gene</a:t>
            </a:r>
            <a:r>
              <a:rPr sz="2133" spc="-33" dirty="0">
                <a:latin typeface="Century Schoolbook"/>
                <a:cs typeface="Century Schoolbook"/>
              </a:rPr>
              <a:t> </a:t>
            </a:r>
            <a:r>
              <a:rPr sz="2133" spc="-13" dirty="0">
                <a:latin typeface="Century Schoolbook"/>
                <a:cs typeface="Century Schoolbook"/>
              </a:rPr>
              <a:t>structure </a:t>
            </a:r>
            <a:r>
              <a:rPr sz="2133" dirty="0">
                <a:latin typeface="Century Schoolbook"/>
                <a:cs typeface="Century Schoolbook"/>
              </a:rPr>
              <a:t>is</a:t>
            </a:r>
            <a:r>
              <a:rPr sz="2133" spc="-53" dirty="0">
                <a:latin typeface="Century Schoolbook"/>
                <a:cs typeface="Century Schoolbook"/>
              </a:rPr>
              <a:t> </a:t>
            </a:r>
            <a:r>
              <a:rPr sz="2133" dirty="0">
                <a:latin typeface="Century Schoolbook"/>
                <a:cs typeface="Century Schoolbook"/>
              </a:rPr>
              <a:t>very</a:t>
            </a:r>
            <a:r>
              <a:rPr sz="2133" spc="-53" dirty="0">
                <a:latin typeface="Century Schoolbook"/>
                <a:cs typeface="Century Schoolbook"/>
              </a:rPr>
              <a:t> </a:t>
            </a:r>
            <a:r>
              <a:rPr sz="2133" spc="-13" dirty="0">
                <a:latin typeface="Century Schoolbook"/>
                <a:cs typeface="Century Schoolbook"/>
              </a:rPr>
              <a:t>different,</a:t>
            </a:r>
            <a:r>
              <a:rPr sz="2133" spc="-47" dirty="0">
                <a:latin typeface="Century Schoolbook"/>
                <a:cs typeface="Century Schoolbook"/>
              </a:rPr>
              <a:t> </a:t>
            </a:r>
            <a:r>
              <a:rPr sz="2133" dirty="0">
                <a:latin typeface="Century Schoolbook"/>
                <a:cs typeface="Century Schoolbook"/>
              </a:rPr>
              <a:t>huge</a:t>
            </a:r>
            <a:r>
              <a:rPr sz="2133" spc="-53" dirty="0">
                <a:latin typeface="Century Schoolbook"/>
                <a:cs typeface="Century Schoolbook"/>
              </a:rPr>
              <a:t> </a:t>
            </a:r>
            <a:r>
              <a:rPr sz="2133" dirty="0">
                <a:latin typeface="Century Schoolbook"/>
                <a:cs typeface="Century Schoolbook"/>
              </a:rPr>
              <a:t>data</a:t>
            </a:r>
            <a:r>
              <a:rPr sz="2133" spc="-47" dirty="0">
                <a:latin typeface="Century Schoolbook"/>
                <a:cs typeface="Century Schoolbook"/>
              </a:rPr>
              <a:t> </a:t>
            </a:r>
            <a:r>
              <a:rPr sz="2133" dirty="0">
                <a:latin typeface="Century Schoolbook"/>
                <a:cs typeface="Century Schoolbook"/>
              </a:rPr>
              <a:t>may</a:t>
            </a:r>
            <a:r>
              <a:rPr sz="2133" spc="-53" dirty="0">
                <a:latin typeface="Century Schoolbook"/>
                <a:cs typeface="Century Schoolbook"/>
              </a:rPr>
              <a:t> </a:t>
            </a:r>
            <a:r>
              <a:rPr sz="2133" dirty="0">
                <a:latin typeface="Century Schoolbook"/>
                <a:cs typeface="Century Schoolbook"/>
              </a:rPr>
              <a:t>be</a:t>
            </a:r>
            <a:r>
              <a:rPr sz="2133" spc="-47" dirty="0">
                <a:latin typeface="Century Schoolbook"/>
                <a:cs typeface="Century Schoolbook"/>
              </a:rPr>
              <a:t> </a:t>
            </a:r>
            <a:r>
              <a:rPr sz="2133" dirty="0">
                <a:latin typeface="Century Schoolbook"/>
                <a:cs typeface="Century Schoolbook"/>
              </a:rPr>
              <a:t>involved</a:t>
            </a:r>
            <a:r>
              <a:rPr sz="2133" spc="-53" dirty="0">
                <a:latin typeface="Century Schoolbook"/>
                <a:cs typeface="Century Schoolbook"/>
              </a:rPr>
              <a:t> </a:t>
            </a:r>
            <a:r>
              <a:rPr sz="2133" dirty="0">
                <a:latin typeface="Century Schoolbook"/>
                <a:cs typeface="Century Schoolbook"/>
              </a:rPr>
              <a:t>to</a:t>
            </a:r>
            <a:r>
              <a:rPr sz="2133" spc="-53" dirty="0">
                <a:latin typeface="Century Schoolbook"/>
                <a:cs typeface="Century Schoolbook"/>
              </a:rPr>
              <a:t> </a:t>
            </a:r>
            <a:r>
              <a:rPr sz="2133" dirty="0">
                <a:latin typeface="Century Schoolbook"/>
                <a:cs typeface="Century Schoolbook"/>
              </a:rPr>
              <a:t>produce</a:t>
            </a:r>
            <a:r>
              <a:rPr sz="2133" spc="-47" dirty="0">
                <a:latin typeface="Century Schoolbook"/>
                <a:cs typeface="Century Schoolbook"/>
              </a:rPr>
              <a:t> </a:t>
            </a:r>
            <a:r>
              <a:rPr sz="2133" dirty="0">
                <a:latin typeface="Century Schoolbook"/>
                <a:cs typeface="Century Schoolbook"/>
              </a:rPr>
              <a:t>an</a:t>
            </a:r>
            <a:r>
              <a:rPr sz="2133" spc="-53" dirty="0">
                <a:latin typeface="Century Schoolbook"/>
                <a:cs typeface="Century Schoolbook"/>
              </a:rPr>
              <a:t> </a:t>
            </a:r>
            <a:r>
              <a:rPr sz="2133" dirty="0">
                <a:latin typeface="Century Schoolbook"/>
                <a:cs typeface="Century Schoolbook"/>
              </a:rPr>
              <a:t>accurate</a:t>
            </a:r>
            <a:r>
              <a:rPr sz="2133" spc="-47" dirty="0">
                <a:latin typeface="Century Schoolbook"/>
                <a:cs typeface="Century Schoolbook"/>
              </a:rPr>
              <a:t> </a:t>
            </a:r>
            <a:r>
              <a:rPr sz="2133" spc="-13" dirty="0">
                <a:latin typeface="Century Schoolbook"/>
                <a:cs typeface="Century Schoolbook"/>
              </a:rPr>
              <a:t>replacement.</a:t>
            </a:r>
            <a:endParaRPr sz="2133" dirty="0">
              <a:latin typeface="Century Schoolbook"/>
              <a:cs typeface="Century Schoolbook"/>
            </a:endParaRPr>
          </a:p>
        </p:txBody>
      </p:sp>
    </p:spTree>
    <p:extLst>
      <p:ext uri="{BB962C8B-B14F-4D97-AF65-F5344CB8AC3E}">
        <p14:creationId xmlns:p14="http://schemas.microsoft.com/office/powerpoint/2010/main" val="15033327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85000" lnSpcReduction="20000"/>
          </a:bodyPr>
          <a:lstStyle/>
          <a:p>
            <a:r>
              <a:rPr lang="en-US" b="1" dirty="0">
                <a:solidFill>
                  <a:srgbClr val="FF0000"/>
                </a:solidFill>
              </a:rPr>
              <a:t>Why </a:t>
            </a:r>
            <a:r>
              <a:rPr lang="en-US" b="1" i="1" dirty="0">
                <a:solidFill>
                  <a:srgbClr val="FF0000"/>
                </a:solidFill>
              </a:rPr>
              <a:t>you</a:t>
            </a:r>
            <a:r>
              <a:rPr lang="en-US" b="1" dirty="0">
                <a:solidFill>
                  <a:srgbClr val="FF0000"/>
                </a:solidFill>
              </a:rPr>
              <a:t>, as a CSE student, should study </a:t>
            </a:r>
            <a:r>
              <a:rPr lang="en-US" b="1" dirty="0" smtClean="0">
                <a:solidFill>
                  <a:srgbClr val="FF0000"/>
                </a:solidFill>
              </a:rPr>
              <a:t>Bioinformatics?</a:t>
            </a:r>
            <a:endParaRPr lang="en-US" b="1" dirty="0">
              <a:solidFill>
                <a:srgbClr val="FF0000"/>
              </a:solidFill>
            </a:endParaRPr>
          </a:p>
          <a:p>
            <a:pPr marL="0" indent="0">
              <a:buNone/>
            </a:pPr>
            <a:r>
              <a:rPr lang="en-US" b="1" dirty="0">
                <a:latin typeface="Times New Roman" panose="02020603050405020304" pitchFamily="18" charset="0"/>
                <a:cs typeface="Times New Roman" panose="02020603050405020304" pitchFamily="18" charset="0"/>
              </a:rPr>
              <a:t>1. It’s CS applied to real, high-impact problems</a:t>
            </a:r>
          </a:p>
          <a:p>
            <a:pPr marL="0" indent="0">
              <a:buNone/>
            </a:pPr>
            <a:r>
              <a:rPr lang="en-US" dirty="0" smtClean="0">
                <a:latin typeface="Times New Roman" panose="02020603050405020304" pitchFamily="18" charset="0"/>
                <a:cs typeface="Times New Roman" panose="02020603050405020304" pitchFamily="18" charset="0"/>
              </a:rPr>
              <a:t>Bioinformatics </a:t>
            </a:r>
            <a:r>
              <a:rPr lang="en-US" dirty="0">
                <a:latin typeface="Times New Roman" panose="02020603050405020304" pitchFamily="18" charset="0"/>
                <a:cs typeface="Times New Roman" panose="02020603050405020304" pitchFamily="18" charset="0"/>
              </a:rPr>
              <a:t>uses:</a:t>
            </a:r>
          </a:p>
          <a:p>
            <a:r>
              <a:rPr lang="en-US" dirty="0">
                <a:solidFill>
                  <a:schemeClr val="accent6">
                    <a:lumMod val="75000"/>
                  </a:schemeClr>
                </a:solidFill>
                <a:latin typeface="Times New Roman" panose="02020603050405020304" pitchFamily="18" charset="0"/>
                <a:cs typeface="Times New Roman" panose="02020603050405020304" pitchFamily="18" charset="0"/>
              </a:rPr>
              <a:t>Algorithms &amp; data structures</a:t>
            </a:r>
          </a:p>
          <a:p>
            <a:r>
              <a:rPr lang="en-US" dirty="0">
                <a:solidFill>
                  <a:schemeClr val="accent6">
                    <a:lumMod val="75000"/>
                  </a:schemeClr>
                </a:solidFill>
                <a:latin typeface="Times New Roman" panose="02020603050405020304" pitchFamily="18" charset="0"/>
                <a:cs typeface="Times New Roman" panose="02020603050405020304" pitchFamily="18" charset="0"/>
              </a:rPr>
              <a:t>Databases</a:t>
            </a:r>
          </a:p>
          <a:p>
            <a:r>
              <a:rPr lang="en-US" dirty="0">
                <a:solidFill>
                  <a:schemeClr val="accent6">
                    <a:lumMod val="75000"/>
                  </a:schemeClr>
                </a:solidFill>
                <a:latin typeface="Times New Roman" panose="02020603050405020304" pitchFamily="18" charset="0"/>
                <a:cs typeface="Times New Roman" panose="02020603050405020304" pitchFamily="18" charset="0"/>
              </a:rPr>
              <a:t>Machine learning</a:t>
            </a:r>
          </a:p>
          <a:p>
            <a:r>
              <a:rPr lang="en-US" dirty="0">
                <a:solidFill>
                  <a:schemeClr val="accent6">
                    <a:lumMod val="75000"/>
                  </a:schemeClr>
                </a:solidFill>
                <a:latin typeface="Times New Roman" panose="02020603050405020304" pitchFamily="18" charset="0"/>
                <a:cs typeface="Times New Roman" panose="02020603050405020304" pitchFamily="18" charset="0"/>
              </a:rPr>
              <a:t>Big data &amp; cloud computing</a:t>
            </a:r>
          </a:p>
          <a:p>
            <a:pPr marL="0" indent="0">
              <a:buNone/>
            </a:pPr>
            <a:r>
              <a:rPr lang="en-US" dirty="0">
                <a:latin typeface="Times New Roman" panose="02020603050405020304" pitchFamily="18" charset="0"/>
                <a:cs typeface="Times New Roman" panose="02020603050405020304" pitchFamily="18" charset="0"/>
              </a:rPr>
              <a:t>…but instead of toy problems, you solve </a:t>
            </a:r>
            <a:r>
              <a:rPr lang="en-US" b="1" dirty="0">
                <a:latin typeface="Times New Roman" panose="02020603050405020304" pitchFamily="18" charset="0"/>
                <a:cs typeface="Times New Roman" panose="02020603050405020304" pitchFamily="18" charset="0"/>
              </a:rPr>
              <a:t>real problems</a:t>
            </a:r>
            <a:r>
              <a:rPr lang="en-US" dirty="0">
                <a:latin typeface="Times New Roman" panose="02020603050405020304" pitchFamily="18" charset="0"/>
                <a:cs typeface="Times New Roman" panose="02020603050405020304" pitchFamily="18" charset="0"/>
              </a:rPr>
              <a:t> like:</a:t>
            </a:r>
          </a:p>
          <a:p>
            <a:r>
              <a:rPr lang="en-US" dirty="0">
                <a:solidFill>
                  <a:schemeClr val="accent1">
                    <a:lumMod val="75000"/>
                  </a:schemeClr>
                </a:solidFill>
                <a:latin typeface="Times New Roman" panose="02020603050405020304" pitchFamily="18" charset="0"/>
                <a:cs typeface="Times New Roman" panose="02020603050405020304" pitchFamily="18" charset="0"/>
              </a:rPr>
              <a:t>Disease detection</a:t>
            </a:r>
          </a:p>
          <a:p>
            <a:r>
              <a:rPr lang="en-US" dirty="0">
                <a:solidFill>
                  <a:schemeClr val="accent1">
                    <a:lumMod val="75000"/>
                  </a:schemeClr>
                </a:solidFill>
                <a:latin typeface="Times New Roman" panose="02020603050405020304" pitchFamily="18" charset="0"/>
                <a:cs typeface="Times New Roman" panose="02020603050405020304" pitchFamily="18" charset="0"/>
              </a:rPr>
              <a:t>Drug discovery</a:t>
            </a:r>
          </a:p>
          <a:p>
            <a:r>
              <a:rPr lang="en-US" dirty="0">
                <a:solidFill>
                  <a:schemeClr val="accent1">
                    <a:lumMod val="75000"/>
                  </a:schemeClr>
                </a:solidFill>
                <a:latin typeface="Times New Roman" panose="02020603050405020304" pitchFamily="18" charset="0"/>
                <a:cs typeface="Times New Roman" panose="02020603050405020304" pitchFamily="18" charset="0"/>
              </a:rPr>
              <a:t>Genome analysis</a:t>
            </a:r>
          </a:p>
          <a:p>
            <a:endParaRPr lang="en-US" b="1" dirty="0">
              <a:solidFill>
                <a:srgbClr val="FF0000"/>
              </a:solidFill>
            </a:endParaRPr>
          </a:p>
        </p:txBody>
      </p:sp>
    </p:spTree>
    <p:extLst>
      <p:ext uri="{BB962C8B-B14F-4D97-AF65-F5344CB8AC3E}">
        <p14:creationId xmlns:p14="http://schemas.microsoft.com/office/powerpoint/2010/main" val="302184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45234" y="1566832"/>
            <a:ext cx="10515600" cy="4351338"/>
          </a:xfrm>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2. Biology today is a data science problem</a:t>
            </a:r>
          </a:p>
          <a:p>
            <a:r>
              <a:rPr lang="en-US" dirty="0" smtClean="0">
                <a:latin typeface="Times New Roman" panose="02020603050405020304" pitchFamily="18" charset="0"/>
                <a:cs typeface="Times New Roman" panose="02020603050405020304" pitchFamily="18" charset="0"/>
              </a:rPr>
              <a:t>Modern biology generates </a:t>
            </a:r>
            <a:r>
              <a:rPr lang="en-US" b="1" dirty="0" smtClean="0">
                <a:latin typeface="Times New Roman" panose="02020603050405020304" pitchFamily="18" charset="0"/>
                <a:cs typeface="Times New Roman" panose="02020603050405020304" pitchFamily="18" charset="0"/>
              </a:rPr>
              <a:t>terabytes of data</a:t>
            </a:r>
            <a:r>
              <a:rPr lang="en-US" dirty="0" smtClean="0">
                <a:latin typeface="Times New Roman" panose="02020603050405020304" pitchFamily="18" charset="0"/>
                <a:cs typeface="Times New Roman" panose="02020603050405020304" pitchFamily="18" charset="0"/>
              </a:rPr>
              <a:t> (DNA sequences, RNA-</a:t>
            </a:r>
            <a:r>
              <a:rPr lang="en-US" dirty="0" err="1" smtClean="0">
                <a:latin typeface="Times New Roman" panose="02020603050405020304" pitchFamily="18" charset="0"/>
                <a:cs typeface="Times New Roman" panose="02020603050405020304" pitchFamily="18" charset="0"/>
              </a:rPr>
              <a:t>seq</a:t>
            </a:r>
            <a:r>
              <a:rPr lang="en-US" dirty="0" smtClean="0">
                <a:latin typeface="Times New Roman" panose="02020603050405020304" pitchFamily="18" charset="0"/>
                <a:cs typeface="Times New Roman" panose="02020603050405020304" pitchFamily="18" charset="0"/>
              </a:rPr>
              <a:t>, protein data).</a:t>
            </a:r>
          </a:p>
          <a:p>
            <a:r>
              <a:rPr lang="en-US" dirty="0" smtClean="0">
                <a:latin typeface="Times New Roman" panose="02020603050405020304" pitchFamily="18" charset="0"/>
                <a:cs typeface="Times New Roman" panose="02020603050405020304" pitchFamily="18" charset="0"/>
              </a:rPr>
              <a:t>Biologists </a:t>
            </a:r>
            <a:r>
              <a:rPr lang="en-US" b="1" dirty="0">
                <a:latin typeface="Times New Roman" panose="02020603050405020304" pitchFamily="18" charset="0"/>
                <a:cs typeface="Times New Roman" panose="02020603050405020304" pitchFamily="18" charset="0"/>
              </a:rPr>
              <a:t>cannot analyze this alone</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They need CSE people to design:</a:t>
            </a:r>
          </a:p>
          <a:p>
            <a:pPr lvl="1"/>
            <a:r>
              <a:rPr lang="en-US" dirty="0">
                <a:solidFill>
                  <a:schemeClr val="accent6">
                    <a:lumMod val="75000"/>
                  </a:schemeClr>
                </a:solidFill>
                <a:latin typeface="Times New Roman" panose="02020603050405020304" pitchFamily="18" charset="0"/>
                <a:cs typeface="Times New Roman" panose="02020603050405020304" pitchFamily="18" charset="0"/>
              </a:rPr>
              <a:t>Efficient algorithms</a:t>
            </a:r>
          </a:p>
          <a:p>
            <a:pPr lvl="1"/>
            <a:r>
              <a:rPr lang="en-US" dirty="0">
                <a:solidFill>
                  <a:schemeClr val="accent6">
                    <a:lumMod val="75000"/>
                  </a:schemeClr>
                </a:solidFill>
                <a:latin typeface="Times New Roman" panose="02020603050405020304" pitchFamily="18" charset="0"/>
                <a:cs typeface="Times New Roman" panose="02020603050405020304" pitchFamily="18" charset="0"/>
              </a:rPr>
              <a:t>Fast search techniques</a:t>
            </a:r>
          </a:p>
          <a:p>
            <a:pPr lvl="1"/>
            <a:r>
              <a:rPr lang="en-US" dirty="0">
                <a:solidFill>
                  <a:schemeClr val="accent6">
                    <a:lumMod val="75000"/>
                  </a:schemeClr>
                </a:solidFill>
                <a:latin typeface="Times New Roman" panose="02020603050405020304" pitchFamily="18" charset="0"/>
                <a:cs typeface="Times New Roman" panose="02020603050405020304" pitchFamily="18" charset="0"/>
              </a:rPr>
              <a:t>Scalable systems</a:t>
            </a:r>
          </a:p>
          <a:p>
            <a:r>
              <a:rPr lang="en-US" dirty="0" smtClean="0">
                <a:solidFill>
                  <a:schemeClr val="accent2"/>
                </a:solidFill>
                <a:latin typeface="Times New Roman" panose="02020603050405020304" pitchFamily="18" charset="0"/>
                <a:cs typeface="Times New Roman" panose="02020603050405020304" pitchFamily="18" charset="0"/>
              </a:rPr>
              <a:t> </a:t>
            </a:r>
            <a:r>
              <a:rPr lang="en-US" dirty="0">
                <a:solidFill>
                  <a:schemeClr val="accent2"/>
                </a:solidFill>
                <a:latin typeface="Times New Roman" panose="02020603050405020304" pitchFamily="18" charset="0"/>
                <a:cs typeface="Times New Roman" panose="02020603050405020304" pitchFamily="18" charset="0"/>
              </a:rPr>
              <a:t>Think of DNA as a </a:t>
            </a:r>
            <a:r>
              <a:rPr lang="en-US" i="1" dirty="0">
                <a:solidFill>
                  <a:schemeClr val="accent2"/>
                </a:solidFill>
                <a:latin typeface="Times New Roman" panose="02020603050405020304" pitchFamily="18" charset="0"/>
                <a:cs typeface="Times New Roman" panose="02020603050405020304" pitchFamily="18" charset="0"/>
              </a:rPr>
              <a:t>very long string</a:t>
            </a:r>
            <a:r>
              <a:rPr lang="en-US" dirty="0">
                <a:solidFill>
                  <a:schemeClr val="accent2"/>
                </a:solidFill>
                <a:latin typeface="Times New Roman" panose="02020603050405020304" pitchFamily="18" charset="0"/>
                <a:cs typeface="Times New Roman" panose="02020603050405020304" pitchFamily="18" charset="0"/>
              </a:rPr>
              <a:t> → classic CS problem.</a:t>
            </a:r>
          </a:p>
          <a:p>
            <a:endParaRPr lang="en-US" b="1" dirty="0">
              <a:solidFill>
                <a:srgbClr val="FF0000"/>
              </a:solidFill>
            </a:endParaRPr>
          </a:p>
        </p:txBody>
      </p:sp>
    </p:spTree>
    <p:extLst>
      <p:ext uri="{BB962C8B-B14F-4D97-AF65-F5344CB8AC3E}">
        <p14:creationId xmlns:p14="http://schemas.microsoft.com/office/powerpoint/2010/main" val="3842375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latin typeface="Times New Roman" panose="02020603050405020304" pitchFamily="18" charset="0"/>
                <a:cs typeface="Times New Roman" panose="02020603050405020304" pitchFamily="18" charset="0"/>
              </a:rPr>
              <a:t>3</a:t>
            </a:r>
            <a:r>
              <a:rPr lang="en-US" b="1" dirty="0">
                <a:latin typeface="Times New Roman" panose="02020603050405020304" pitchFamily="18" charset="0"/>
                <a:cs typeface="Times New Roman" panose="02020603050405020304" pitchFamily="18" charset="0"/>
              </a:rPr>
              <a:t>. Strong career advantage (interdisciplinary edge)</a:t>
            </a:r>
          </a:p>
          <a:p>
            <a:pPr marL="0" indent="0">
              <a:buNone/>
            </a:pPr>
            <a:r>
              <a:rPr lang="en-US" dirty="0">
                <a:solidFill>
                  <a:schemeClr val="accent6">
                    <a:lumMod val="75000"/>
                  </a:schemeClr>
                </a:solidFill>
                <a:latin typeface="Times New Roman" panose="02020603050405020304" pitchFamily="18" charset="0"/>
                <a:cs typeface="Times New Roman" panose="02020603050405020304" pitchFamily="18" charset="0"/>
              </a:rPr>
              <a:t>With bioinformatics, a CSE student can work as:</a:t>
            </a:r>
          </a:p>
          <a:p>
            <a:r>
              <a:rPr lang="en-US" dirty="0">
                <a:solidFill>
                  <a:schemeClr val="accent6">
                    <a:lumMod val="75000"/>
                  </a:schemeClr>
                </a:solidFill>
                <a:latin typeface="Times New Roman" panose="02020603050405020304" pitchFamily="18" charset="0"/>
                <a:cs typeface="Times New Roman" panose="02020603050405020304" pitchFamily="18" charset="0"/>
              </a:rPr>
              <a:t>Bioinformatics Engineer</a:t>
            </a:r>
          </a:p>
          <a:p>
            <a:r>
              <a:rPr lang="en-US" dirty="0">
                <a:solidFill>
                  <a:schemeClr val="accent6">
                    <a:lumMod val="75000"/>
                  </a:schemeClr>
                </a:solidFill>
                <a:latin typeface="Times New Roman" panose="02020603050405020304" pitchFamily="18" charset="0"/>
                <a:cs typeface="Times New Roman" panose="02020603050405020304" pitchFamily="18" charset="0"/>
              </a:rPr>
              <a:t>Computational Biologist</a:t>
            </a:r>
          </a:p>
          <a:p>
            <a:r>
              <a:rPr lang="en-US" dirty="0">
                <a:solidFill>
                  <a:schemeClr val="accent6">
                    <a:lumMod val="75000"/>
                  </a:schemeClr>
                </a:solidFill>
                <a:latin typeface="Times New Roman" panose="02020603050405020304" pitchFamily="18" charset="0"/>
                <a:cs typeface="Times New Roman" panose="02020603050405020304" pitchFamily="18" charset="0"/>
              </a:rPr>
              <a:t>Healthcare Data Scientist</a:t>
            </a:r>
          </a:p>
          <a:p>
            <a:r>
              <a:rPr lang="en-US" dirty="0">
                <a:solidFill>
                  <a:schemeClr val="accent6">
                    <a:lumMod val="75000"/>
                  </a:schemeClr>
                </a:solidFill>
                <a:latin typeface="Times New Roman" panose="02020603050405020304" pitchFamily="18" charset="0"/>
                <a:cs typeface="Times New Roman" panose="02020603050405020304" pitchFamily="18" charset="0"/>
              </a:rPr>
              <a:t>AI Engineer in biotech / </a:t>
            </a:r>
            <a:r>
              <a:rPr lang="en-US" dirty="0" err="1">
                <a:solidFill>
                  <a:schemeClr val="accent6">
                    <a:lumMod val="75000"/>
                  </a:schemeClr>
                </a:solidFill>
                <a:latin typeface="Times New Roman" panose="02020603050405020304" pitchFamily="18" charset="0"/>
                <a:cs typeface="Times New Roman" panose="02020603050405020304" pitchFamily="18" charset="0"/>
              </a:rPr>
              <a:t>pharma</a:t>
            </a:r>
            <a:endParaRPr lang="en-US" dirty="0">
              <a:solidFill>
                <a:schemeClr val="accent6">
                  <a:lumMod val="75000"/>
                </a:schemeClr>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These roles are:</a:t>
            </a:r>
          </a:p>
          <a:p>
            <a:r>
              <a:rPr lang="en-US" dirty="0">
                <a:solidFill>
                  <a:schemeClr val="accent5">
                    <a:lumMod val="75000"/>
                  </a:schemeClr>
                </a:solidFill>
                <a:latin typeface="Times New Roman" panose="02020603050405020304" pitchFamily="18" charset="0"/>
                <a:cs typeface="Times New Roman" panose="02020603050405020304" pitchFamily="18" charset="0"/>
              </a:rPr>
              <a:t>High demand</a:t>
            </a:r>
          </a:p>
          <a:p>
            <a:r>
              <a:rPr lang="en-US" dirty="0">
                <a:solidFill>
                  <a:schemeClr val="accent5">
                    <a:lumMod val="75000"/>
                  </a:schemeClr>
                </a:solidFill>
                <a:latin typeface="Times New Roman" panose="02020603050405020304" pitchFamily="18" charset="0"/>
                <a:cs typeface="Times New Roman" panose="02020603050405020304" pitchFamily="18" charset="0"/>
              </a:rPr>
              <a:t>Research-oriented</a:t>
            </a:r>
          </a:p>
          <a:p>
            <a:r>
              <a:rPr lang="en-US" dirty="0">
                <a:solidFill>
                  <a:schemeClr val="accent5">
                    <a:lumMod val="75000"/>
                  </a:schemeClr>
                </a:solidFill>
                <a:latin typeface="Times New Roman" panose="02020603050405020304" pitchFamily="18" charset="0"/>
                <a:cs typeface="Times New Roman" panose="02020603050405020304" pitchFamily="18" charset="0"/>
              </a:rPr>
              <a:t>Well-paid globally</a:t>
            </a:r>
          </a:p>
          <a:p>
            <a:endParaRPr lang="en-US" b="1" dirty="0">
              <a:solidFill>
                <a:srgbClr val="FF0000"/>
              </a:solidFill>
            </a:endParaRPr>
          </a:p>
        </p:txBody>
      </p:sp>
    </p:spTree>
    <p:extLst>
      <p:ext uri="{BB962C8B-B14F-4D97-AF65-F5344CB8AC3E}">
        <p14:creationId xmlns:p14="http://schemas.microsoft.com/office/powerpoint/2010/main" val="21638564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b="1" dirty="0" smtClean="0">
                <a:latin typeface="Times New Roman" panose="02020603050405020304" pitchFamily="18" charset="0"/>
                <a:cs typeface="Times New Roman" panose="02020603050405020304" pitchFamily="18" charset="0"/>
              </a:rPr>
              <a:t>4</a:t>
            </a:r>
            <a:r>
              <a:rPr lang="en-US" b="1" dirty="0">
                <a:latin typeface="Times New Roman" panose="02020603050405020304" pitchFamily="18" charset="0"/>
                <a:cs typeface="Times New Roman" panose="02020603050405020304" pitchFamily="18" charset="0"/>
              </a:rPr>
              <a:t>. Perfect fit if you like ML, AI, and Data Science</a:t>
            </a:r>
          </a:p>
          <a:p>
            <a:pPr marL="0" indent="0">
              <a:buNone/>
            </a:pPr>
            <a:r>
              <a:rPr lang="en-US" dirty="0">
                <a:latin typeface="Times New Roman" panose="02020603050405020304" pitchFamily="18" charset="0"/>
                <a:cs typeface="Times New Roman" panose="02020603050405020304" pitchFamily="18" charset="0"/>
              </a:rPr>
              <a:t>Bioinformatics is one of the </a:t>
            </a:r>
            <a:r>
              <a:rPr lang="en-US" b="1" dirty="0">
                <a:latin typeface="Times New Roman" panose="02020603050405020304" pitchFamily="18" charset="0"/>
                <a:cs typeface="Times New Roman" panose="02020603050405020304" pitchFamily="18" charset="0"/>
              </a:rPr>
              <a:t>best application areas</a:t>
            </a:r>
            <a:r>
              <a:rPr lang="en-US" dirty="0">
                <a:latin typeface="Times New Roman" panose="02020603050405020304" pitchFamily="18" charset="0"/>
                <a:cs typeface="Times New Roman" panose="02020603050405020304" pitchFamily="18" charset="0"/>
              </a:rPr>
              <a:t> for:</a:t>
            </a:r>
          </a:p>
          <a:p>
            <a:r>
              <a:rPr lang="en-US" dirty="0">
                <a:solidFill>
                  <a:srgbClr val="FF0000"/>
                </a:solidFill>
                <a:latin typeface="Times New Roman" panose="02020603050405020304" pitchFamily="18" charset="0"/>
                <a:cs typeface="Times New Roman" panose="02020603050405020304" pitchFamily="18" charset="0"/>
              </a:rPr>
              <a:t>Machine Learning</a:t>
            </a:r>
          </a:p>
          <a:p>
            <a:r>
              <a:rPr lang="en-US" dirty="0">
                <a:solidFill>
                  <a:srgbClr val="FF0000"/>
                </a:solidFill>
                <a:latin typeface="Times New Roman" panose="02020603050405020304" pitchFamily="18" charset="0"/>
                <a:cs typeface="Times New Roman" panose="02020603050405020304" pitchFamily="18" charset="0"/>
              </a:rPr>
              <a:t>Deep Learning</a:t>
            </a:r>
          </a:p>
          <a:p>
            <a:r>
              <a:rPr lang="en-US" dirty="0">
                <a:solidFill>
                  <a:srgbClr val="FF0000"/>
                </a:solidFill>
                <a:latin typeface="Times New Roman" panose="02020603050405020304" pitchFamily="18" charset="0"/>
                <a:cs typeface="Times New Roman" panose="02020603050405020304" pitchFamily="18" charset="0"/>
              </a:rPr>
              <a:t>Pattern recognition</a:t>
            </a:r>
          </a:p>
          <a:p>
            <a:pPr marL="0" indent="0">
              <a:buNone/>
            </a:pPr>
            <a:r>
              <a:rPr lang="en-US" dirty="0">
                <a:latin typeface="Times New Roman" panose="02020603050405020304" pitchFamily="18" charset="0"/>
                <a:cs typeface="Times New Roman" panose="02020603050405020304" pitchFamily="18" charset="0"/>
              </a:rPr>
              <a:t>Examples:</a:t>
            </a:r>
          </a:p>
          <a:p>
            <a:r>
              <a:rPr lang="en-US" dirty="0">
                <a:solidFill>
                  <a:schemeClr val="accent2">
                    <a:lumMod val="75000"/>
                  </a:schemeClr>
                </a:solidFill>
                <a:latin typeface="Times New Roman" panose="02020603050405020304" pitchFamily="18" charset="0"/>
                <a:cs typeface="Times New Roman" panose="02020603050405020304" pitchFamily="18" charset="0"/>
              </a:rPr>
              <a:t>Predicting diseases from gene data</a:t>
            </a:r>
          </a:p>
          <a:p>
            <a:r>
              <a:rPr lang="en-US" dirty="0">
                <a:solidFill>
                  <a:schemeClr val="accent2">
                    <a:lumMod val="75000"/>
                  </a:schemeClr>
                </a:solidFill>
                <a:latin typeface="Times New Roman" panose="02020603050405020304" pitchFamily="18" charset="0"/>
                <a:cs typeface="Times New Roman" panose="02020603050405020304" pitchFamily="18" charset="0"/>
              </a:rPr>
              <a:t>Cancer classification using gene expression</a:t>
            </a:r>
          </a:p>
          <a:p>
            <a:r>
              <a:rPr lang="en-US" dirty="0">
                <a:solidFill>
                  <a:schemeClr val="accent2">
                    <a:lumMod val="75000"/>
                  </a:schemeClr>
                </a:solidFill>
                <a:latin typeface="Times New Roman" panose="02020603050405020304" pitchFamily="18" charset="0"/>
                <a:cs typeface="Times New Roman" panose="02020603050405020304" pitchFamily="18" charset="0"/>
              </a:rPr>
              <a:t>Protein structure prediction (AI + biology)</a:t>
            </a:r>
          </a:p>
        </p:txBody>
      </p:sp>
    </p:spTree>
    <p:extLst>
      <p:ext uri="{BB962C8B-B14F-4D97-AF65-F5344CB8AC3E}">
        <p14:creationId xmlns:p14="http://schemas.microsoft.com/office/powerpoint/2010/main" val="39967545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83410" y="228289"/>
            <a:ext cx="9920379" cy="6694098"/>
          </a:xfrm>
        </p:spPr>
      </p:pic>
    </p:spTree>
    <p:extLst>
      <p:ext uri="{BB962C8B-B14F-4D97-AF65-F5344CB8AC3E}">
        <p14:creationId xmlns:p14="http://schemas.microsoft.com/office/powerpoint/2010/main" val="39470921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2"/>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897207" y="93268"/>
            <a:ext cx="10308506" cy="6764732"/>
          </a:xfrm>
        </p:spPr>
      </p:pic>
    </p:spTree>
    <p:extLst>
      <p:ext uri="{BB962C8B-B14F-4D97-AF65-F5344CB8AC3E}">
        <p14:creationId xmlns:p14="http://schemas.microsoft.com/office/powerpoint/2010/main" val="787852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886" y="664234"/>
            <a:ext cx="11623416" cy="5443718"/>
          </a:xfrm>
        </p:spPr>
      </p:pic>
    </p:spTree>
    <p:extLst>
      <p:ext uri="{BB962C8B-B14F-4D97-AF65-F5344CB8AC3E}">
        <p14:creationId xmlns:p14="http://schemas.microsoft.com/office/powerpoint/2010/main" val="1913923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b="1" dirty="0" smtClean="0">
                <a:latin typeface="Times New Roman" panose="02020603050405020304" pitchFamily="18" charset="0"/>
                <a:cs typeface="Times New Roman" panose="02020603050405020304" pitchFamily="18" charset="0"/>
              </a:rPr>
              <a:t>5</a:t>
            </a:r>
            <a:r>
              <a:rPr lang="en-US" b="1" dirty="0">
                <a:latin typeface="Times New Roman" panose="02020603050405020304" pitchFamily="18" charset="0"/>
                <a:cs typeface="Times New Roman" panose="02020603050405020304" pitchFamily="18" charset="0"/>
              </a:rPr>
              <a:t>. Research &amp; higher studies advantage</a:t>
            </a:r>
          </a:p>
          <a:p>
            <a:pPr marL="0" indent="0">
              <a:buNone/>
            </a:pPr>
            <a:r>
              <a:rPr lang="en-US" dirty="0">
                <a:latin typeface="Times New Roman" panose="02020603050405020304" pitchFamily="18" charset="0"/>
                <a:cs typeface="Times New Roman" panose="02020603050405020304" pitchFamily="18" charset="0"/>
              </a:rPr>
              <a:t>If you plan:</a:t>
            </a:r>
          </a:p>
          <a:p>
            <a:r>
              <a:rPr lang="en-US" b="1" dirty="0">
                <a:solidFill>
                  <a:schemeClr val="accent2">
                    <a:lumMod val="75000"/>
                  </a:schemeClr>
                </a:solidFill>
                <a:latin typeface="Times New Roman" panose="02020603050405020304" pitchFamily="18" charset="0"/>
                <a:cs typeface="Times New Roman" panose="02020603050405020304" pitchFamily="18" charset="0"/>
              </a:rPr>
              <a:t>MS / PhD</a:t>
            </a:r>
            <a:endParaRPr lang="en-US" dirty="0">
              <a:solidFill>
                <a:schemeClr val="accent2">
                  <a:lumMod val="75000"/>
                </a:schemeClr>
              </a:solidFill>
              <a:latin typeface="Times New Roman" panose="02020603050405020304" pitchFamily="18" charset="0"/>
              <a:cs typeface="Times New Roman" panose="02020603050405020304" pitchFamily="18" charset="0"/>
            </a:endParaRPr>
          </a:p>
          <a:p>
            <a:r>
              <a:rPr lang="en-US" dirty="0">
                <a:solidFill>
                  <a:schemeClr val="accent2">
                    <a:lumMod val="75000"/>
                  </a:schemeClr>
                </a:solidFill>
                <a:latin typeface="Times New Roman" panose="02020603050405020304" pitchFamily="18" charset="0"/>
                <a:cs typeface="Times New Roman" panose="02020603050405020304" pitchFamily="18" charset="0"/>
              </a:rPr>
              <a:t>Research publications</a:t>
            </a:r>
          </a:p>
          <a:p>
            <a:r>
              <a:rPr lang="en-US" dirty="0">
                <a:solidFill>
                  <a:schemeClr val="accent2">
                    <a:lumMod val="75000"/>
                  </a:schemeClr>
                </a:solidFill>
                <a:latin typeface="Times New Roman" panose="02020603050405020304" pitchFamily="18" charset="0"/>
                <a:cs typeface="Times New Roman" panose="02020603050405020304" pitchFamily="18" charset="0"/>
              </a:rPr>
              <a:t>International scholarships</a:t>
            </a:r>
          </a:p>
          <a:p>
            <a:pPr marL="0" indent="0">
              <a:buNone/>
            </a:pPr>
            <a:r>
              <a:rPr lang="en-US" dirty="0">
                <a:latin typeface="Times New Roman" panose="02020603050405020304" pitchFamily="18" charset="0"/>
                <a:cs typeface="Times New Roman" panose="02020603050405020304" pitchFamily="18" charset="0"/>
              </a:rPr>
              <a:t>Bioinformatics makes your profile </a:t>
            </a:r>
            <a:r>
              <a:rPr lang="en-US" b="1" dirty="0">
                <a:latin typeface="Times New Roman" panose="02020603050405020304" pitchFamily="18" charset="0"/>
                <a:cs typeface="Times New Roman" panose="02020603050405020304" pitchFamily="18" charset="0"/>
              </a:rPr>
              <a:t>stand out</a:t>
            </a:r>
            <a:r>
              <a:rPr lang="en-US" dirty="0">
                <a:latin typeface="Times New Roman" panose="02020603050405020304" pitchFamily="18" charset="0"/>
                <a:cs typeface="Times New Roman" panose="02020603050405020304" pitchFamily="18" charset="0"/>
              </a:rPr>
              <a:t>, because:</a:t>
            </a:r>
          </a:p>
          <a:p>
            <a:r>
              <a:rPr lang="en-US" dirty="0">
                <a:solidFill>
                  <a:schemeClr val="accent6">
                    <a:lumMod val="75000"/>
                  </a:schemeClr>
                </a:solidFill>
                <a:latin typeface="Times New Roman" panose="02020603050405020304" pitchFamily="18" charset="0"/>
                <a:cs typeface="Times New Roman" panose="02020603050405020304" pitchFamily="18" charset="0"/>
              </a:rPr>
              <a:t>It shows interdisciplinary thinking</a:t>
            </a:r>
          </a:p>
          <a:p>
            <a:r>
              <a:rPr lang="en-US" dirty="0">
                <a:solidFill>
                  <a:schemeClr val="accent6">
                    <a:lumMod val="75000"/>
                  </a:schemeClr>
                </a:solidFill>
                <a:latin typeface="Times New Roman" panose="02020603050405020304" pitchFamily="18" charset="0"/>
                <a:cs typeface="Times New Roman" panose="02020603050405020304" pitchFamily="18" charset="0"/>
              </a:rPr>
              <a:t>Many funded projects are in bioinformatics + AI</a:t>
            </a:r>
          </a:p>
          <a:p>
            <a:endParaRPr lang="en-US" b="1" dirty="0">
              <a:solidFill>
                <a:srgbClr val="FF0000"/>
              </a:solidFill>
            </a:endParaRPr>
          </a:p>
        </p:txBody>
      </p:sp>
    </p:spTree>
    <p:extLst>
      <p:ext uri="{BB962C8B-B14F-4D97-AF65-F5344CB8AC3E}">
        <p14:creationId xmlns:p14="http://schemas.microsoft.com/office/powerpoint/2010/main" val="28520187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8408" y="0"/>
            <a:ext cx="11993592" cy="6858000"/>
          </a:xfrm>
          <a:prstGeom prst="rect">
            <a:avLst/>
          </a:prstGeom>
        </p:spPr>
      </p:pic>
    </p:spTree>
    <p:extLst>
      <p:ext uri="{BB962C8B-B14F-4D97-AF65-F5344CB8AC3E}">
        <p14:creationId xmlns:p14="http://schemas.microsoft.com/office/powerpoint/2010/main" val="11829948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128" y="195233"/>
            <a:ext cx="11946230" cy="6369469"/>
          </a:xfrm>
        </p:spPr>
      </p:pic>
    </p:spTree>
    <p:extLst>
      <p:ext uri="{BB962C8B-B14F-4D97-AF65-F5344CB8AC3E}">
        <p14:creationId xmlns:p14="http://schemas.microsoft.com/office/powerpoint/2010/main" val="15374231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solidFill>
                  <a:schemeClr val="accent6">
                    <a:lumMod val="75000"/>
                  </a:schemeClr>
                </a:solidFill>
                <a:latin typeface="Times New Roman" panose="02020603050405020304" pitchFamily="18" charset="0"/>
                <a:cs typeface="Times New Roman" panose="02020603050405020304" pitchFamily="18" charset="0"/>
              </a:rPr>
              <a:t>Why is Bioinformatics important for CSE students?</a:t>
            </a:r>
            <a:endParaRPr 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buNone/>
            </a:pPr>
            <a:r>
              <a:rPr lang="en-US" b="1" dirty="0" smtClean="0"/>
              <a:t>6</a:t>
            </a:r>
            <a:r>
              <a:rPr lang="en-US" b="1" dirty="0">
                <a:latin typeface="Times New Roman" panose="02020603050405020304" pitchFamily="18" charset="0"/>
                <a:cs typeface="Times New Roman" panose="02020603050405020304" pitchFamily="18" charset="0"/>
              </a:rPr>
              <a:t>. You don’t need to be a biology expert</a:t>
            </a:r>
          </a:p>
          <a:p>
            <a:r>
              <a:rPr lang="en-US" dirty="0">
                <a:latin typeface="Times New Roman" panose="02020603050405020304" pitchFamily="18" charset="0"/>
                <a:cs typeface="Times New Roman" panose="02020603050405020304" pitchFamily="18" charset="0"/>
              </a:rPr>
              <a:t>This is important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As a CSE student:</a:t>
            </a:r>
          </a:p>
          <a:p>
            <a:r>
              <a:rPr lang="en-US" dirty="0">
                <a:solidFill>
                  <a:schemeClr val="accent5">
                    <a:lumMod val="75000"/>
                  </a:schemeClr>
                </a:solidFill>
                <a:latin typeface="Times New Roman" panose="02020603050405020304" pitchFamily="18" charset="0"/>
                <a:cs typeface="Times New Roman" panose="02020603050405020304" pitchFamily="18" charset="0"/>
              </a:rPr>
              <a:t>You learn </a:t>
            </a:r>
            <a:r>
              <a:rPr lang="en-US" b="1" dirty="0">
                <a:solidFill>
                  <a:schemeClr val="accent5">
                    <a:lumMod val="75000"/>
                  </a:schemeClr>
                </a:solidFill>
                <a:latin typeface="Times New Roman" panose="02020603050405020304" pitchFamily="18" charset="0"/>
                <a:cs typeface="Times New Roman" panose="02020603050405020304" pitchFamily="18" charset="0"/>
              </a:rPr>
              <a:t>only the required biology</a:t>
            </a:r>
            <a:endParaRPr lang="en-US" dirty="0">
              <a:solidFill>
                <a:schemeClr val="accent5">
                  <a:lumMod val="75000"/>
                </a:schemeClr>
              </a:solidFill>
              <a:latin typeface="Times New Roman" panose="02020603050405020304" pitchFamily="18" charset="0"/>
              <a:cs typeface="Times New Roman" panose="02020603050405020304" pitchFamily="18" charset="0"/>
            </a:endParaRPr>
          </a:p>
          <a:p>
            <a:r>
              <a:rPr lang="en-US" dirty="0">
                <a:solidFill>
                  <a:schemeClr val="accent5">
                    <a:lumMod val="75000"/>
                  </a:schemeClr>
                </a:solidFill>
                <a:latin typeface="Times New Roman" panose="02020603050405020304" pitchFamily="18" charset="0"/>
                <a:cs typeface="Times New Roman" panose="02020603050405020304" pitchFamily="18" charset="0"/>
              </a:rPr>
              <a:t>Focus is on </a:t>
            </a:r>
            <a:r>
              <a:rPr lang="en-US" b="1" dirty="0">
                <a:solidFill>
                  <a:schemeClr val="accent5">
                    <a:lumMod val="75000"/>
                  </a:schemeClr>
                </a:solidFill>
                <a:latin typeface="Times New Roman" panose="02020603050405020304" pitchFamily="18" charset="0"/>
                <a:cs typeface="Times New Roman" panose="02020603050405020304" pitchFamily="18" charset="0"/>
              </a:rPr>
              <a:t>computation, algorithms, and analysis</a:t>
            </a:r>
            <a:endParaRPr lang="en-US" dirty="0">
              <a:solidFill>
                <a:schemeClr val="accent5">
                  <a:lumMod val="75000"/>
                </a:schemeClr>
              </a:solidFill>
              <a:latin typeface="Times New Roman" panose="02020603050405020304" pitchFamily="18" charset="0"/>
              <a:cs typeface="Times New Roman" panose="02020603050405020304" pitchFamily="18" charset="0"/>
            </a:endParaRPr>
          </a:p>
          <a:p>
            <a:r>
              <a:rPr lang="en-US" dirty="0">
                <a:solidFill>
                  <a:schemeClr val="accent5">
                    <a:lumMod val="75000"/>
                  </a:schemeClr>
                </a:solidFill>
                <a:latin typeface="Times New Roman" panose="02020603050405020304" pitchFamily="18" charset="0"/>
                <a:cs typeface="Times New Roman" panose="02020603050405020304" pitchFamily="18" charset="0"/>
              </a:rPr>
              <a:t>Biology is treated like </a:t>
            </a:r>
            <a:r>
              <a:rPr lang="en-US" i="1" dirty="0">
                <a:solidFill>
                  <a:schemeClr val="accent5">
                    <a:lumMod val="75000"/>
                  </a:schemeClr>
                </a:solidFill>
                <a:latin typeface="Times New Roman" panose="02020603050405020304" pitchFamily="18" charset="0"/>
                <a:cs typeface="Times New Roman" panose="02020603050405020304" pitchFamily="18" charset="0"/>
              </a:rPr>
              <a:t>domain knowledge</a:t>
            </a:r>
            <a:r>
              <a:rPr lang="en-US" dirty="0">
                <a:solidFill>
                  <a:schemeClr val="accent5">
                    <a:lumMod val="75000"/>
                  </a:schemeClr>
                </a:solidFill>
                <a:latin typeface="Times New Roman" panose="02020603050405020304" pitchFamily="18" charset="0"/>
                <a:cs typeface="Times New Roman" panose="02020603050405020304" pitchFamily="18" charset="0"/>
              </a:rPr>
              <a:t>, not memorization</a:t>
            </a:r>
          </a:p>
          <a:p>
            <a:endParaRPr lang="en-US" b="1" dirty="0">
              <a:solidFill>
                <a:srgbClr val="FF0000"/>
              </a:solidFill>
            </a:endParaRPr>
          </a:p>
        </p:txBody>
      </p:sp>
    </p:spTree>
    <p:extLst>
      <p:ext uri="{BB962C8B-B14F-4D97-AF65-F5344CB8AC3E}">
        <p14:creationId xmlns:p14="http://schemas.microsoft.com/office/powerpoint/2010/main" val="36667061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Bioinformatics in Machine Learning and AI</a:t>
            </a:r>
          </a:p>
        </p:txBody>
      </p:sp>
      <p:sp>
        <p:nvSpPr>
          <p:cNvPr id="3" name="Content Placeholder 2"/>
          <p:cNvSpPr>
            <a:spLocks noGrp="1"/>
          </p:cNvSpPr>
          <p:nvPr>
            <p:ph idx="1"/>
          </p:nvPr>
        </p:nvSpPr>
        <p:spPr>
          <a:xfrm>
            <a:off x="838200" y="1825625"/>
            <a:ext cx="10515600" cy="2746375"/>
          </a:xfrm>
          <a:solidFill>
            <a:schemeClr val="accent6">
              <a:lumMod val="40000"/>
              <a:lumOff val="60000"/>
            </a:schemeClr>
          </a:solidFill>
        </p:spPr>
        <p:txBody>
          <a:bodyPr/>
          <a:lstStyle/>
          <a:p>
            <a:pPr>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Bioinformatics is the field where </a:t>
            </a:r>
            <a:r>
              <a:rPr lang="en-US" b="1" dirty="0">
                <a:latin typeface="Times New Roman" panose="02020603050405020304" pitchFamily="18" charset="0"/>
                <a:cs typeface="Times New Roman" panose="02020603050405020304" pitchFamily="18" charset="0"/>
              </a:rPr>
              <a:t>biology + computer science + data analysis</a:t>
            </a:r>
            <a:r>
              <a:rPr lang="en-US" dirty="0">
                <a:latin typeface="Times New Roman" panose="02020603050405020304" pitchFamily="18" charset="0"/>
                <a:cs typeface="Times New Roman" panose="02020603050405020304" pitchFamily="18" charset="0"/>
              </a:rPr>
              <a:t> are combined to study biological data such as DNA sequences, proteins, genes, and diseases. </a:t>
            </a:r>
            <a:endParaRPr lang="en-US"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US" dirty="0" smtClean="0">
                <a:latin typeface="Times New Roman" panose="02020603050405020304" pitchFamily="18" charset="0"/>
                <a:cs typeface="Times New Roman" panose="02020603050405020304" pitchFamily="18" charset="0"/>
              </a:rPr>
              <a:t>With </a:t>
            </a:r>
            <a:r>
              <a:rPr lang="en-US" dirty="0">
                <a:latin typeface="Times New Roman" panose="02020603050405020304" pitchFamily="18" charset="0"/>
                <a:cs typeface="Times New Roman" panose="02020603050405020304" pitchFamily="18" charset="0"/>
              </a:rPr>
              <a:t>the growth of Machine Learning (ML) and Artificial Intelligence (AI), bioinformatics has become one of the most important AI application areas.</a:t>
            </a:r>
          </a:p>
        </p:txBody>
      </p:sp>
    </p:spTree>
    <p:extLst>
      <p:ext uri="{BB962C8B-B14F-4D97-AF65-F5344CB8AC3E}">
        <p14:creationId xmlns:p14="http://schemas.microsoft.com/office/powerpoint/2010/main" val="33635936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Role of Machine Learning in Bioinformatics</a:t>
            </a:r>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q"/>
            </a:pPr>
            <a:r>
              <a:rPr lang="en-US" dirty="0">
                <a:solidFill>
                  <a:schemeClr val="accent1">
                    <a:lumMod val="75000"/>
                  </a:schemeClr>
                </a:solidFill>
              </a:rPr>
              <a:t>Biological data are extremely large and complex. ML algorithms help computers identify patterns that humans cannot easily detect.</a:t>
            </a:r>
          </a:p>
          <a:p>
            <a:pPr marL="0" indent="0">
              <a:buNone/>
            </a:pPr>
            <a:r>
              <a:rPr lang="en-US" b="1" dirty="0"/>
              <a:t>Examples:</a:t>
            </a:r>
            <a:endParaRPr lang="en-US" dirty="0"/>
          </a:p>
          <a:p>
            <a:pPr marL="0" indent="0">
              <a:buNone/>
            </a:pPr>
            <a:r>
              <a:rPr lang="en-US" b="1" dirty="0">
                <a:solidFill>
                  <a:srgbClr val="FF0000"/>
                </a:solidFill>
              </a:rPr>
              <a:t>a) Genomic Analysis</a:t>
            </a:r>
          </a:p>
          <a:p>
            <a:r>
              <a:rPr lang="en-US" dirty="0"/>
              <a:t>DNA contains millions of genetic variations. </a:t>
            </a:r>
          </a:p>
          <a:p>
            <a:r>
              <a:rPr lang="en-US" dirty="0"/>
              <a:t>ML models analyze genome sequences to: </a:t>
            </a:r>
          </a:p>
          <a:p>
            <a:pPr lvl="1"/>
            <a:r>
              <a:rPr lang="en-US" dirty="0"/>
              <a:t>identify disease-related mutations </a:t>
            </a:r>
          </a:p>
          <a:p>
            <a:pPr lvl="1"/>
            <a:r>
              <a:rPr lang="en-US" dirty="0"/>
              <a:t>predict genetic disorders </a:t>
            </a:r>
          </a:p>
          <a:p>
            <a:pPr lvl="1"/>
            <a:r>
              <a:rPr lang="en-US" dirty="0"/>
              <a:t>classify cancer types </a:t>
            </a:r>
          </a:p>
          <a:p>
            <a:r>
              <a:rPr lang="en-US" dirty="0"/>
              <a:t>Example:</a:t>
            </a:r>
            <a:br>
              <a:rPr lang="en-US" dirty="0"/>
            </a:br>
            <a:r>
              <a:rPr lang="en-US" dirty="0">
                <a:solidFill>
                  <a:srgbClr val="FF0000"/>
                </a:solidFill>
              </a:rPr>
              <a:t>A deep learning model can analyze a patient's genome and predict the risk of diseases like cancer or diabetes</a:t>
            </a:r>
            <a:r>
              <a:rPr lang="en-US" dirty="0"/>
              <a:t>.</a:t>
            </a:r>
          </a:p>
        </p:txBody>
      </p:sp>
    </p:spTree>
    <p:extLst>
      <p:ext uri="{BB962C8B-B14F-4D97-AF65-F5344CB8AC3E}">
        <p14:creationId xmlns:p14="http://schemas.microsoft.com/office/powerpoint/2010/main" val="4830257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Role of Machine Learning in Bioinformatics</a:t>
            </a:r>
            <a:endParaRPr lang="en-US" dirty="0"/>
          </a:p>
        </p:txBody>
      </p:sp>
      <p:sp>
        <p:nvSpPr>
          <p:cNvPr id="3" name="Content Placeholder 2"/>
          <p:cNvSpPr>
            <a:spLocks noGrp="1"/>
          </p:cNvSpPr>
          <p:nvPr>
            <p:ph idx="1"/>
          </p:nvPr>
        </p:nvSpPr>
        <p:spPr/>
        <p:txBody>
          <a:bodyPr>
            <a:normAutofit/>
          </a:bodyPr>
          <a:lstStyle/>
          <a:p>
            <a:pPr marL="0" indent="0">
              <a:buNone/>
            </a:pPr>
            <a:r>
              <a:rPr lang="en-US" b="1" dirty="0"/>
              <a:t>b) Protein Structure Prediction</a:t>
            </a:r>
          </a:p>
          <a:p>
            <a:r>
              <a:rPr lang="en-US" dirty="0"/>
              <a:t>Proteins are essential molecules in the body, but understanding their 3D structure is difficult.</a:t>
            </a:r>
          </a:p>
          <a:p>
            <a:r>
              <a:rPr lang="en-US" dirty="0"/>
              <a:t>AI models can predict:</a:t>
            </a:r>
          </a:p>
          <a:p>
            <a:pPr lvl="1"/>
            <a:r>
              <a:rPr lang="en-US" dirty="0"/>
              <a:t>amino acid sequence → protein structure </a:t>
            </a:r>
          </a:p>
          <a:p>
            <a:pPr lvl="1"/>
            <a:r>
              <a:rPr lang="en-US" dirty="0"/>
              <a:t>protein function </a:t>
            </a:r>
          </a:p>
          <a:p>
            <a:pPr lvl="1"/>
            <a:r>
              <a:rPr lang="en-US" dirty="0"/>
              <a:t>protein interactions </a:t>
            </a:r>
          </a:p>
          <a:p>
            <a:r>
              <a:rPr lang="en-US" dirty="0"/>
              <a:t>Example:</a:t>
            </a:r>
            <a:br>
              <a:rPr lang="en-US" dirty="0"/>
            </a:br>
            <a:r>
              <a:rPr lang="en-US" dirty="0">
                <a:solidFill>
                  <a:srgbClr val="FF0000"/>
                </a:solidFill>
              </a:rPr>
              <a:t>Google </a:t>
            </a:r>
            <a:r>
              <a:rPr lang="en-US" dirty="0" err="1">
                <a:solidFill>
                  <a:srgbClr val="FF0000"/>
                </a:solidFill>
              </a:rPr>
              <a:t>DeepMind</a:t>
            </a:r>
            <a:r>
              <a:rPr lang="en-US" dirty="0">
                <a:solidFill>
                  <a:srgbClr val="FF0000"/>
                </a:solidFill>
              </a:rPr>
              <a:t> developed </a:t>
            </a:r>
            <a:r>
              <a:rPr lang="en-US" dirty="0" err="1">
                <a:solidFill>
                  <a:srgbClr val="FF0000"/>
                </a:solidFill>
              </a:rPr>
              <a:t>AlphaFold</a:t>
            </a:r>
            <a:r>
              <a:rPr lang="en-US" dirty="0">
                <a:solidFill>
                  <a:srgbClr val="FF0000"/>
                </a:solidFill>
              </a:rPr>
              <a:t>, which uses deep learning to predict protein structures with high accuracy.</a:t>
            </a:r>
          </a:p>
          <a:p>
            <a:endParaRPr lang="en-US" dirty="0"/>
          </a:p>
        </p:txBody>
      </p:sp>
    </p:spTree>
    <p:extLst>
      <p:ext uri="{BB962C8B-B14F-4D97-AF65-F5344CB8AC3E}">
        <p14:creationId xmlns:p14="http://schemas.microsoft.com/office/powerpoint/2010/main" val="1222401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Role of Machine Learning in Bioinformatics</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c) Drug Discovery Using AI</a:t>
            </a:r>
          </a:p>
          <a:p>
            <a:r>
              <a:rPr lang="en-US" dirty="0"/>
              <a:t>Traditional drug discovery can take </a:t>
            </a:r>
            <a:r>
              <a:rPr lang="en-US" b="1" dirty="0"/>
              <a:t>10–15 years</a:t>
            </a:r>
            <a:r>
              <a:rPr lang="en-US" dirty="0"/>
              <a:t> and billions of dollars.</a:t>
            </a:r>
          </a:p>
          <a:p>
            <a:r>
              <a:rPr lang="en-US" dirty="0"/>
              <a:t>AI helps by:</a:t>
            </a:r>
          </a:p>
          <a:p>
            <a:pPr lvl="1"/>
            <a:r>
              <a:rPr lang="en-US" dirty="0"/>
              <a:t>Finding disease-related targets </a:t>
            </a:r>
          </a:p>
          <a:p>
            <a:pPr lvl="1"/>
            <a:r>
              <a:rPr lang="en-US" dirty="0"/>
              <a:t>Designing new drug molecules </a:t>
            </a:r>
          </a:p>
          <a:p>
            <a:pPr lvl="1"/>
            <a:r>
              <a:rPr lang="en-US" dirty="0"/>
              <a:t>Predicting drug effectiveness </a:t>
            </a:r>
          </a:p>
          <a:p>
            <a:pPr lvl="1"/>
            <a:r>
              <a:rPr lang="en-US" dirty="0"/>
              <a:t>Predicting toxicity and side effects </a:t>
            </a:r>
          </a:p>
          <a:p>
            <a:r>
              <a:rPr lang="en-US" dirty="0"/>
              <a:t>Workflow:</a:t>
            </a:r>
          </a:p>
          <a:p>
            <a:r>
              <a:rPr lang="en-US" b="1" dirty="0">
                <a:solidFill>
                  <a:schemeClr val="accent1">
                    <a:lumMod val="75000"/>
                  </a:schemeClr>
                </a:solidFill>
              </a:rPr>
              <a:t>Disease data → AI model → Candidate drug → Laboratory testing → Clinical trial</a:t>
            </a:r>
            <a:endParaRPr lang="en-US" dirty="0">
              <a:solidFill>
                <a:schemeClr val="accent1">
                  <a:lumMod val="75000"/>
                </a:schemeClr>
              </a:solidFill>
            </a:endParaRPr>
          </a:p>
        </p:txBody>
      </p:sp>
    </p:spTree>
    <p:extLst>
      <p:ext uri="{BB962C8B-B14F-4D97-AF65-F5344CB8AC3E}">
        <p14:creationId xmlns:p14="http://schemas.microsoft.com/office/powerpoint/2010/main" val="994602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0000"/>
                </a:solidFill>
              </a:rPr>
              <a:t>Role of Machine Learning in Bioinformatics</a:t>
            </a:r>
            <a:endParaRPr lang="en-US" dirty="0"/>
          </a:p>
        </p:txBody>
      </p:sp>
      <p:sp>
        <p:nvSpPr>
          <p:cNvPr id="3" name="Content Placeholder 2"/>
          <p:cNvSpPr>
            <a:spLocks noGrp="1"/>
          </p:cNvSpPr>
          <p:nvPr>
            <p:ph idx="1"/>
          </p:nvPr>
        </p:nvSpPr>
        <p:spPr/>
        <p:txBody>
          <a:bodyPr/>
          <a:lstStyle/>
          <a:p>
            <a:pPr marL="0" lvl="0" indent="0" eaLnBrk="0" fontAlgn="base" hangingPunct="0">
              <a:lnSpc>
                <a:spcPct val="100000"/>
              </a:lnSpc>
              <a:spcBef>
                <a:spcPct val="0"/>
              </a:spcBef>
              <a:spcAft>
                <a:spcPct val="0"/>
              </a:spcAft>
              <a:buNone/>
            </a:pPr>
            <a:r>
              <a:rPr lang="en-US" sz="2400" b="1" dirty="0" smtClean="0">
                <a:latin typeface="Times New Roman" panose="02020603050405020304" pitchFamily="18" charset="0"/>
                <a:cs typeface="Times New Roman" panose="02020603050405020304" pitchFamily="18" charset="0"/>
              </a:rPr>
              <a:t>d) </a:t>
            </a:r>
            <a:r>
              <a:rPr lang="en-US" sz="2400" b="1" dirty="0">
                <a:latin typeface="Times New Roman" panose="02020603050405020304" pitchFamily="18" charset="0"/>
                <a:cs typeface="Times New Roman" panose="02020603050405020304" pitchFamily="18" charset="0"/>
              </a:rPr>
              <a:t>Disease Diagnosis</a:t>
            </a:r>
          </a:p>
          <a:p>
            <a:pPr marL="0" lv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AI analyzes:</a:t>
            </a:r>
          </a:p>
          <a:p>
            <a:pPr lvl="1" eaLnBrk="0" fontAlgn="base" hangingPunct="0">
              <a:lnSpc>
                <a:spcPct val="100000"/>
              </a:lnSpc>
              <a:spcBef>
                <a:spcPct val="0"/>
              </a:spcBef>
              <a:spcAft>
                <a:spcPct val="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medical images </a:t>
            </a:r>
          </a:p>
          <a:p>
            <a:pPr lvl="1" eaLnBrk="0" fontAlgn="base" hangingPunct="0">
              <a:lnSpc>
                <a:spcPct val="100000"/>
              </a:lnSpc>
              <a:spcBef>
                <a:spcPct val="0"/>
              </a:spcBef>
              <a:spcAft>
                <a:spcPct val="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genetic data </a:t>
            </a:r>
          </a:p>
          <a:p>
            <a:pPr lvl="1" eaLnBrk="0" fontAlgn="base" hangingPunct="0">
              <a:lnSpc>
                <a:spcPct val="100000"/>
              </a:lnSpc>
              <a:spcBef>
                <a:spcPct val="0"/>
              </a:spcBef>
              <a:spcAft>
                <a:spcPct val="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patient records </a:t>
            </a:r>
          </a:p>
          <a:p>
            <a:pPr lvl="1" eaLnBrk="0" fontAlgn="base" hangingPunct="0">
              <a:lnSpc>
                <a:spcPct val="100000"/>
              </a:lnSpc>
              <a:spcBef>
                <a:spcPct val="0"/>
              </a:spcBef>
              <a:spcAft>
                <a:spcPct val="0"/>
              </a:spcAft>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biomarkers </a:t>
            </a:r>
          </a:p>
          <a:p>
            <a:pPr marL="0" lvl="0" indent="0" eaLnBrk="0" fontAlgn="base" hangingPunct="0">
              <a:lnSpc>
                <a:spcPct val="10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Applications:</a:t>
            </a:r>
          </a:p>
          <a:p>
            <a:pPr lvl="1" eaLnBrk="0" fontAlgn="base" hangingPunct="0">
              <a:lnSpc>
                <a:spcPct val="100000"/>
              </a:lnSpc>
              <a:spcBef>
                <a:spcPct val="0"/>
              </a:spcBef>
              <a:spcAft>
                <a:spcPct val="0"/>
              </a:spcAft>
              <a:buFont typeface="Wingdings" panose="05000000000000000000" pitchFamily="2" charset="2"/>
              <a:buChar char="§"/>
            </a:pPr>
            <a:r>
              <a:rPr lang="en-US" sz="2000" dirty="0">
                <a:solidFill>
                  <a:schemeClr val="accent1">
                    <a:lumMod val="75000"/>
                  </a:schemeClr>
                </a:solidFill>
                <a:latin typeface="Times New Roman" panose="02020603050405020304" pitchFamily="18" charset="0"/>
                <a:cs typeface="Times New Roman" panose="02020603050405020304" pitchFamily="18" charset="0"/>
              </a:rPr>
              <a:t>cancer detection </a:t>
            </a:r>
          </a:p>
          <a:p>
            <a:pPr lvl="1" eaLnBrk="0" fontAlgn="base" hangingPunct="0">
              <a:lnSpc>
                <a:spcPct val="100000"/>
              </a:lnSpc>
              <a:spcBef>
                <a:spcPct val="0"/>
              </a:spcBef>
              <a:spcAft>
                <a:spcPct val="0"/>
              </a:spcAft>
              <a:buFont typeface="Wingdings" panose="05000000000000000000" pitchFamily="2" charset="2"/>
              <a:buChar char="§"/>
            </a:pPr>
            <a:r>
              <a:rPr lang="en-US" sz="2000" dirty="0">
                <a:solidFill>
                  <a:schemeClr val="accent1">
                    <a:lumMod val="75000"/>
                  </a:schemeClr>
                </a:solidFill>
                <a:latin typeface="Times New Roman" panose="02020603050405020304" pitchFamily="18" charset="0"/>
                <a:cs typeface="Times New Roman" panose="02020603050405020304" pitchFamily="18" charset="0"/>
              </a:rPr>
              <a:t>Alzheimer's disease prediction </a:t>
            </a:r>
          </a:p>
          <a:p>
            <a:pPr lvl="1" eaLnBrk="0" fontAlgn="base" hangingPunct="0">
              <a:lnSpc>
                <a:spcPct val="100000"/>
              </a:lnSpc>
              <a:spcBef>
                <a:spcPct val="0"/>
              </a:spcBef>
              <a:spcAft>
                <a:spcPct val="0"/>
              </a:spcAft>
              <a:buFont typeface="Wingdings" panose="05000000000000000000" pitchFamily="2" charset="2"/>
              <a:buChar char="§"/>
            </a:pPr>
            <a:r>
              <a:rPr lang="en-US" sz="2000" dirty="0">
                <a:solidFill>
                  <a:schemeClr val="accent1">
                    <a:lumMod val="75000"/>
                  </a:schemeClr>
                </a:solidFill>
                <a:latin typeface="Times New Roman" panose="02020603050405020304" pitchFamily="18" charset="0"/>
                <a:cs typeface="Times New Roman" panose="02020603050405020304" pitchFamily="18" charset="0"/>
              </a:rPr>
              <a:t>infectious disease identification</a:t>
            </a:r>
          </a:p>
          <a:p>
            <a:pPr marL="0" lvl="0" indent="0" eaLnBrk="0" fontAlgn="base" hangingPunct="0">
              <a:lnSpc>
                <a:spcPct val="100000"/>
              </a:lnSpc>
              <a:spcBef>
                <a:spcPct val="0"/>
              </a:spcBef>
              <a:spcAft>
                <a:spcPct val="0"/>
              </a:spcAft>
              <a:buNone/>
            </a:pPr>
            <a:endParaRPr lang="en-US" dirty="0">
              <a:latin typeface="Arial" panose="020B0604020202020204" pitchFamily="34" charset="0"/>
            </a:endParaRPr>
          </a:p>
        </p:txBody>
      </p:sp>
      <p:sp>
        <p:nvSpPr>
          <p:cNvPr id="6" name="Rectangle 3"/>
          <p:cNvSpPr>
            <a:spLocks noChangeArrowheads="1"/>
          </p:cNvSpPr>
          <p:nvPr/>
        </p:nvSpPr>
        <p:spPr bwMode="auto">
          <a:xfrm>
            <a:off x="0" y="0"/>
            <a:ext cx="12192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4"/>
          <p:cNvSpPr>
            <a:spLocks noChangeArrowheads="1"/>
          </p:cNvSpPr>
          <p:nvPr/>
        </p:nvSpPr>
        <p:spPr bwMode="auto">
          <a:xfrm>
            <a:off x="0" y="129059"/>
            <a:ext cx="255198" cy="2308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900" b="1" i="0" u="none" strike="noStrike" cap="none" normalizeH="0" baseline="0" dirty="0" smtClean="0">
                <a:ln>
                  <a:noFill/>
                </a:ln>
                <a:solidFill>
                  <a:schemeClr val="tx1"/>
                </a:solidFill>
                <a:effectLst/>
                <a:latin typeface="Arial" panose="020B0604020202020204" pitchFamily="34" charset="0"/>
              </a:rPr>
              <a:t>d</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293364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b="1" dirty="0">
                <a:solidFill>
                  <a:srgbClr val="FF0000"/>
                </a:solidFill>
              </a:rPr>
              <a:t>AI Techniques Used in Bioinformatics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b="1" dirty="0" smtClean="0"/>
              <a:t>Machine </a:t>
            </a:r>
            <a:r>
              <a:rPr lang="en-US" b="1" dirty="0"/>
              <a:t>Learning Methods</a:t>
            </a:r>
          </a:p>
          <a:p>
            <a:pPr marL="0" indent="0">
              <a:buNone/>
            </a:pPr>
            <a:r>
              <a:rPr lang="en-US" b="1" dirty="0"/>
              <a:t>1. Supervised Learning</a:t>
            </a:r>
            <a:endParaRPr lang="en-US" dirty="0"/>
          </a:p>
          <a:p>
            <a:r>
              <a:rPr lang="en-US" dirty="0"/>
              <a:t>Uses labeled biological data. </a:t>
            </a:r>
          </a:p>
          <a:p>
            <a:r>
              <a:rPr lang="en-US" dirty="0"/>
              <a:t>Example: </a:t>
            </a:r>
          </a:p>
          <a:p>
            <a:pPr lvl="1"/>
            <a:r>
              <a:rPr lang="en-US" dirty="0">
                <a:solidFill>
                  <a:schemeClr val="accent1">
                    <a:lumMod val="75000"/>
                  </a:schemeClr>
                </a:solidFill>
              </a:rPr>
              <a:t>Predicting whether a gene mutation causes disease</a:t>
            </a:r>
            <a:r>
              <a:rPr lang="en-US" dirty="0"/>
              <a:t>. </a:t>
            </a:r>
          </a:p>
          <a:p>
            <a:pPr>
              <a:buFont typeface="Wingdings" panose="05000000000000000000" pitchFamily="2" charset="2"/>
              <a:buChar char="§"/>
            </a:pPr>
            <a:r>
              <a:rPr lang="en-US" dirty="0"/>
              <a:t>Algorithms:</a:t>
            </a:r>
          </a:p>
          <a:p>
            <a:pPr lvl="1"/>
            <a:r>
              <a:rPr lang="en-US" dirty="0"/>
              <a:t>Support Vector Machine (SVM) </a:t>
            </a:r>
          </a:p>
          <a:p>
            <a:pPr lvl="1"/>
            <a:r>
              <a:rPr lang="en-US" dirty="0"/>
              <a:t>Random Forest </a:t>
            </a:r>
          </a:p>
          <a:p>
            <a:pPr lvl="1"/>
            <a:r>
              <a:rPr lang="en-US" dirty="0"/>
              <a:t>Logistic Regression</a:t>
            </a:r>
          </a:p>
        </p:txBody>
      </p:sp>
    </p:spTree>
    <p:extLst>
      <p:ext uri="{BB962C8B-B14F-4D97-AF65-F5344CB8AC3E}">
        <p14:creationId xmlns:p14="http://schemas.microsoft.com/office/powerpoint/2010/main" val="3623452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US" b="1" dirty="0"/>
              <a:t>2. Unsupervised Learning</a:t>
            </a:r>
            <a:endParaRPr lang="en-US" dirty="0"/>
          </a:p>
          <a:p>
            <a:r>
              <a:rPr lang="en-US" dirty="0"/>
              <a:t>Finds hidden patterns in biological data. </a:t>
            </a:r>
          </a:p>
          <a:p>
            <a:r>
              <a:rPr lang="en-US" dirty="0"/>
              <a:t>Example:</a:t>
            </a:r>
          </a:p>
          <a:p>
            <a:pPr lvl="1"/>
            <a:r>
              <a:rPr lang="en-US" dirty="0">
                <a:solidFill>
                  <a:schemeClr val="accent1">
                    <a:lumMod val="75000"/>
                  </a:schemeClr>
                </a:solidFill>
              </a:rPr>
              <a:t>Grouping patients into different cancer subtypes. </a:t>
            </a:r>
          </a:p>
          <a:p>
            <a:r>
              <a:rPr lang="en-US" dirty="0"/>
              <a:t>Algorithms:</a:t>
            </a:r>
          </a:p>
          <a:p>
            <a:pPr lvl="1"/>
            <a:r>
              <a:rPr lang="en-US" dirty="0">
                <a:solidFill>
                  <a:schemeClr val="accent1">
                    <a:lumMod val="75000"/>
                  </a:schemeClr>
                </a:solidFill>
              </a:rPr>
              <a:t>K-means clustering </a:t>
            </a:r>
          </a:p>
          <a:p>
            <a:pPr lvl="1"/>
            <a:r>
              <a:rPr lang="en-US" dirty="0">
                <a:solidFill>
                  <a:schemeClr val="accent1">
                    <a:lumMod val="75000"/>
                  </a:schemeClr>
                </a:solidFill>
              </a:rPr>
              <a:t>PCA</a:t>
            </a:r>
          </a:p>
        </p:txBody>
      </p:sp>
      <p:sp>
        <p:nvSpPr>
          <p:cNvPr id="4" name="Title 1"/>
          <p:cNvSpPr>
            <a:spLocks noGrp="1"/>
          </p:cNvSpPr>
          <p:nvPr>
            <p:ph type="title"/>
          </p:nvPr>
        </p:nvSpPr>
        <p:spPr/>
        <p:txBody>
          <a:bodyPr/>
          <a:lstStyle/>
          <a:p>
            <a:r>
              <a:rPr lang="en-US" b="1" dirty="0">
                <a:solidFill>
                  <a:srgbClr val="FF0000"/>
                </a:solidFill>
              </a:rPr>
              <a:t>AI Techniques Used in Bioinformatics</a:t>
            </a:r>
          </a:p>
        </p:txBody>
      </p:sp>
    </p:spTree>
    <p:extLst>
      <p:ext uri="{BB962C8B-B14F-4D97-AF65-F5344CB8AC3E}">
        <p14:creationId xmlns:p14="http://schemas.microsoft.com/office/powerpoint/2010/main" val="31120661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marL="0" indent="0">
              <a:buNone/>
            </a:pPr>
            <a:r>
              <a:rPr lang="en-US" b="1" dirty="0"/>
              <a:t>3. Deep Learning</a:t>
            </a:r>
            <a:endParaRPr lang="en-US" dirty="0"/>
          </a:p>
          <a:p>
            <a:pPr marL="0" indent="0">
              <a:buNone/>
            </a:pPr>
            <a:r>
              <a:rPr lang="en-US" dirty="0"/>
              <a:t>Uses neural networks to analyze complex biological data.</a:t>
            </a:r>
          </a:p>
          <a:p>
            <a:r>
              <a:rPr lang="en-US" dirty="0"/>
              <a:t>Applications:</a:t>
            </a:r>
          </a:p>
          <a:p>
            <a:pPr lvl="1"/>
            <a:r>
              <a:rPr lang="en-US" dirty="0">
                <a:solidFill>
                  <a:schemeClr val="accent1">
                    <a:lumMod val="75000"/>
                  </a:schemeClr>
                </a:solidFill>
              </a:rPr>
              <a:t>DNA sequence prediction </a:t>
            </a:r>
          </a:p>
          <a:p>
            <a:pPr lvl="1"/>
            <a:r>
              <a:rPr lang="en-US" dirty="0">
                <a:solidFill>
                  <a:schemeClr val="accent1">
                    <a:lumMod val="75000"/>
                  </a:schemeClr>
                </a:solidFill>
              </a:rPr>
              <a:t>Protein folding </a:t>
            </a:r>
          </a:p>
          <a:p>
            <a:pPr lvl="1"/>
            <a:r>
              <a:rPr lang="en-US" dirty="0">
                <a:solidFill>
                  <a:schemeClr val="accent1">
                    <a:lumMod val="75000"/>
                  </a:schemeClr>
                </a:solidFill>
              </a:rPr>
              <a:t>Medical image analysis </a:t>
            </a:r>
          </a:p>
          <a:p>
            <a:r>
              <a:rPr lang="en-US" dirty="0"/>
              <a:t>Models:</a:t>
            </a:r>
          </a:p>
          <a:p>
            <a:pPr lvl="1"/>
            <a:r>
              <a:rPr lang="en-US" dirty="0">
                <a:solidFill>
                  <a:schemeClr val="accent1">
                    <a:lumMod val="75000"/>
                  </a:schemeClr>
                </a:solidFill>
              </a:rPr>
              <a:t>CNN (Convolutional Neural Network) </a:t>
            </a:r>
          </a:p>
          <a:p>
            <a:pPr lvl="1"/>
            <a:r>
              <a:rPr lang="en-US" dirty="0">
                <a:solidFill>
                  <a:schemeClr val="accent1">
                    <a:lumMod val="75000"/>
                  </a:schemeClr>
                </a:solidFill>
              </a:rPr>
              <a:t>RNN (Recurrent Neural Network) </a:t>
            </a:r>
          </a:p>
          <a:p>
            <a:pPr lvl="1"/>
            <a:r>
              <a:rPr lang="en-US" dirty="0">
                <a:solidFill>
                  <a:schemeClr val="accent1">
                    <a:lumMod val="75000"/>
                  </a:schemeClr>
                </a:solidFill>
              </a:rPr>
              <a:t>Transformer models</a:t>
            </a:r>
          </a:p>
        </p:txBody>
      </p:sp>
      <p:sp>
        <p:nvSpPr>
          <p:cNvPr id="4" name="Title 1"/>
          <p:cNvSpPr>
            <a:spLocks noGrp="1"/>
          </p:cNvSpPr>
          <p:nvPr>
            <p:ph type="title"/>
          </p:nvPr>
        </p:nvSpPr>
        <p:spPr/>
        <p:txBody>
          <a:bodyPr/>
          <a:lstStyle/>
          <a:p>
            <a:r>
              <a:rPr lang="en-US" b="1" dirty="0">
                <a:solidFill>
                  <a:srgbClr val="FF0000"/>
                </a:solidFill>
              </a:rPr>
              <a:t>AI Techniques Used in Bioinformatics</a:t>
            </a:r>
          </a:p>
        </p:txBody>
      </p:sp>
    </p:spTree>
    <p:extLst>
      <p:ext uri="{BB962C8B-B14F-4D97-AF65-F5344CB8AC3E}">
        <p14:creationId xmlns:p14="http://schemas.microsoft.com/office/powerpoint/2010/main" val="41288513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b="1" dirty="0">
                <a:solidFill>
                  <a:srgbClr val="FF0000"/>
                </a:solidFill>
              </a:rPr>
              <a:t>Future of AI in Bioinformatics</a:t>
            </a:r>
          </a:p>
        </p:txBody>
      </p:sp>
      <p:sp>
        <p:nvSpPr>
          <p:cNvPr id="3" name="Content Placeholder 2"/>
          <p:cNvSpPr>
            <a:spLocks noGrp="1"/>
          </p:cNvSpPr>
          <p:nvPr>
            <p:ph idx="1"/>
          </p:nvPr>
        </p:nvSpPr>
        <p:spPr/>
        <p:txBody>
          <a:bodyPr/>
          <a:lstStyle/>
          <a:p>
            <a:pPr marL="0" indent="0">
              <a:buNone/>
            </a:pPr>
            <a:r>
              <a:rPr lang="en-US" dirty="0" smtClean="0"/>
              <a:t>Future </a:t>
            </a:r>
            <a:r>
              <a:rPr lang="en-US" dirty="0"/>
              <a:t>developments include:</a:t>
            </a:r>
          </a:p>
          <a:p>
            <a:r>
              <a:rPr lang="en-US" b="1" dirty="0"/>
              <a:t>AI-designed medicines</a:t>
            </a:r>
            <a:r>
              <a:rPr lang="en-US" dirty="0"/>
              <a:t> </a:t>
            </a:r>
          </a:p>
          <a:p>
            <a:r>
              <a:rPr lang="en-US" b="1" dirty="0"/>
              <a:t>Personalized healthcare</a:t>
            </a:r>
            <a:r>
              <a:rPr lang="en-US" dirty="0"/>
              <a:t> </a:t>
            </a:r>
          </a:p>
          <a:p>
            <a:r>
              <a:rPr lang="en-US" b="1" dirty="0"/>
              <a:t>Faster vaccine development</a:t>
            </a:r>
            <a:r>
              <a:rPr lang="en-US" dirty="0"/>
              <a:t> </a:t>
            </a:r>
          </a:p>
          <a:p>
            <a:r>
              <a:rPr lang="en-US" b="1" dirty="0"/>
              <a:t>Digital twins of patients</a:t>
            </a:r>
            <a:r>
              <a:rPr lang="en-US" dirty="0"/>
              <a:t> </a:t>
            </a:r>
          </a:p>
          <a:p>
            <a:r>
              <a:rPr lang="en-US" b="1" dirty="0"/>
              <a:t>AI-assisted genetic engineering</a:t>
            </a:r>
            <a:r>
              <a:rPr lang="en-US" dirty="0"/>
              <a:t> </a:t>
            </a:r>
          </a:p>
          <a:p>
            <a:r>
              <a:rPr lang="en-US" b="1" dirty="0"/>
              <a:t>Early disease prediction</a:t>
            </a:r>
            <a:endParaRPr lang="en-US" dirty="0"/>
          </a:p>
        </p:txBody>
      </p:sp>
    </p:spTree>
    <p:extLst>
      <p:ext uri="{BB962C8B-B14F-4D97-AF65-F5344CB8AC3E}">
        <p14:creationId xmlns:p14="http://schemas.microsoft.com/office/powerpoint/2010/main" val="39980994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54217"/>
            <a:ext cx="14020800" cy="632651"/>
          </a:xfrm>
          <a:prstGeom prst="rect">
            <a:avLst/>
          </a:prstGeom>
        </p:spPr>
        <p:txBody>
          <a:bodyPr vert="horz" wrap="square" lIns="0" tIns="16933" rIns="0" bIns="0" rtlCol="0" anchor="ctr">
            <a:spAutoFit/>
          </a:bodyPr>
          <a:lstStyle/>
          <a:p>
            <a:pPr marL="16933">
              <a:lnSpc>
                <a:spcPct val="100000"/>
              </a:lnSpc>
              <a:spcBef>
                <a:spcPts val="133"/>
              </a:spcBef>
            </a:pPr>
            <a:r>
              <a:rPr sz="4000" spc="367" dirty="0"/>
              <a:t>Areas</a:t>
            </a:r>
            <a:r>
              <a:rPr sz="4000" spc="207" dirty="0"/>
              <a:t> </a:t>
            </a:r>
            <a:r>
              <a:rPr sz="4000" spc="540" dirty="0"/>
              <a:t>Where</a:t>
            </a:r>
            <a:r>
              <a:rPr sz="4000" spc="213" dirty="0"/>
              <a:t> </a:t>
            </a:r>
            <a:r>
              <a:rPr sz="4000" spc="387" dirty="0"/>
              <a:t>Bioinformatics</a:t>
            </a:r>
            <a:r>
              <a:rPr sz="4000" spc="213" dirty="0"/>
              <a:t> </a:t>
            </a:r>
            <a:r>
              <a:rPr sz="4000" spc="287" dirty="0"/>
              <a:t>is</a:t>
            </a:r>
            <a:r>
              <a:rPr sz="4000" spc="213" dirty="0"/>
              <a:t> </a:t>
            </a:r>
            <a:r>
              <a:rPr sz="4000" spc="220" dirty="0"/>
              <a:t>Applied!</a:t>
            </a:r>
            <a:endParaRPr sz="400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4" name="object 4"/>
          <p:cNvSpPr/>
          <p:nvPr/>
        </p:nvSpPr>
        <p:spPr>
          <a:xfrm>
            <a:off x="364367" y="1098933"/>
            <a:ext cx="11605260" cy="5416972"/>
          </a:xfrm>
          <a:custGeom>
            <a:avLst/>
            <a:gdLst/>
            <a:ahLst/>
            <a:cxnLst/>
            <a:rect l="l" t="t" r="r" b="b"/>
            <a:pathLst>
              <a:path w="8703945" h="4062729">
                <a:moveTo>
                  <a:pt x="4749" y="0"/>
                </a:moveTo>
                <a:lnTo>
                  <a:pt x="4749" y="4062724"/>
                </a:lnTo>
              </a:path>
              <a:path w="8703945" h="4062729">
                <a:moveTo>
                  <a:pt x="8699124" y="0"/>
                </a:moveTo>
                <a:lnTo>
                  <a:pt x="8699124" y="4062724"/>
                </a:lnTo>
              </a:path>
              <a:path w="8703945" h="4062729">
                <a:moveTo>
                  <a:pt x="0" y="4749"/>
                </a:moveTo>
                <a:lnTo>
                  <a:pt x="8703874" y="4749"/>
                </a:lnTo>
              </a:path>
              <a:path w="8703945" h="4062729">
                <a:moveTo>
                  <a:pt x="0" y="4057974"/>
                </a:moveTo>
                <a:lnTo>
                  <a:pt x="8703874" y="4057974"/>
                </a:lnTo>
              </a:path>
            </a:pathLst>
          </a:custGeom>
          <a:ln w="9524">
            <a:solidFill>
              <a:srgbClr val="9E9E9E"/>
            </a:solidFill>
          </a:ln>
        </p:spPr>
        <p:txBody>
          <a:bodyPr wrap="square" lIns="0" tIns="0" rIns="0" bIns="0" rtlCol="0"/>
          <a:lstStyle/>
          <a:p>
            <a:endParaRPr sz="2400"/>
          </a:p>
        </p:txBody>
      </p:sp>
      <p:sp>
        <p:nvSpPr>
          <p:cNvPr id="5" name="object 5"/>
          <p:cNvSpPr txBox="1"/>
          <p:nvPr/>
        </p:nvSpPr>
        <p:spPr>
          <a:xfrm>
            <a:off x="659596" y="2123452"/>
            <a:ext cx="4939453" cy="3955869"/>
          </a:xfrm>
          <a:prstGeom prst="rect">
            <a:avLst/>
          </a:prstGeom>
        </p:spPr>
        <p:txBody>
          <a:bodyPr vert="horz" wrap="square" lIns="0" tIns="16933" rIns="0" bIns="0" rtlCol="0">
            <a:spAutoFit/>
          </a:bodyPr>
          <a:lstStyle/>
          <a:p>
            <a:pPr marL="485128" indent="-468195">
              <a:spcBef>
                <a:spcPts val="133"/>
              </a:spcBef>
              <a:buFont typeface="Arial"/>
              <a:buChar char="●"/>
              <a:tabLst>
                <a:tab pos="485128" algn="l"/>
              </a:tabLst>
            </a:pPr>
            <a:r>
              <a:rPr sz="2133" b="1" spc="-13" dirty="0">
                <a:solidFill>
                  <a:srgbClr val="212529"/>
                </a:solidFill>
                <a:latin typeface="Century Schoolbook Bold"/>
                <a:cs typeface="Century Schoolbook Bold"/>
              </a:rPr>
              <a:t>Genomics:</a:t>
            </a:r>
            <a:endParaRPr sz="2133" dirty="0">
              <a:latin typeface="Century Schoolbook Bold"/>
              <a:cs typeface="Century Schoolbook Bold"/>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Sequencing</a:t>
            </a:r>
            <a:r>
              <a:rPr sz="2133" spc="-73" dirty="0">
                <a:solidFill>
                  <a:srgbClr val="212529"/>
                </a:solidFill>
                <a:latin typeface="Century Schoolbook"/>
                <a:cs typeface="Century Schoolbook"/>
              </a:rPr>
              <a:t> </a:t>
            </a:r>
            <a:r>
              <a:rPr sz="2133" dirty="0">
                <a:solidFill>
                  <a:srgbClr val="212529"/>
                </a:solidFill>
                <a:latin typeface="Century Schoolbook"/>
                <a:cs typeface="Century Schoolbook"/>
              </a:rPr>
              <a:t>data</a:t>
            </a:r>
            <a:r>
              <a:rPr sz="2133" spc="-67" dirty="0">
                <a:solidFill>
                  <a:srgbClr val="212529"/>
                </a:solidFill>
                <a:latin typeface="Century Schoolbook"/>
                <a:cs typeface="Century Schoolbook"/>
              </a:rPr>
              <a:t> </a:t>
            </a:r>
            <a:r>
              <a:rPr sz="2133" spc="-13" dirty="0">
                <a:solidFill>
                  <a:srgbClr val="212529"/>
                </a:solidFill>
                <a:latin typeface="Century Schoolbook"/>
                <a:cs typeface="Century Schoolbook"/>
              </a:rPr>
              <a:t>analysis</a:t>
            </a:r>
            <a:endParaRPr sz="2133" dirty="0">
              <a:latin typeface="Century Schoolbook"/>
              <a:cs typeface="Century Schoolbook"/>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Genomic</a:t>
            </a:r>
            <a:r>
              <a:rPr sz="2133" spc="-107" dirty="0">
                <a:solidFill>
                  <a:srgbClr val="212529"/>
                </a:solidFill>
                <a:latin typeface="Century Schoolbook"/>
                <a:cs typeface="Century Schoolbook"/>
              </a:rPr>
              <a:t> </a:t>
            </a:r>
            <a:r>
              <a:rPr sz="2133" dirty="0">
                <a:solidFill>
                  <a:srgbClr val="212529"/>
                </a:solidFill>
                <a:latin typeface="Century Schoolbook"/>
                <a:cs typeface="Century Schoolbook"/>
              </a:rPr>
              <a:t>feature</a:t>
            </a:r>
            <a:r>
              <a:rPr sz="2133" spc="-107" dirty="0">
                <a:solidFill>
                  <a:srgbClr val="212529"/>
                </a:solidFill>
                <a:latin typeface="Century Schoolbook"/>
                <a:cs typeface="Century Schoolbook"/>
              </a:rPr>
              <a:t> </a:t>
            </a:r>
            <a:r>
              <a:rPr sz="2133" spc="-13" dirty="0">
                <a:solidFill>
                  <a:srgbClr val="212529"/>
                </a:solidFill>
                <a:latin typeface="Century Schoolbook"/>
                <a:cs typeface="Century Schoolbook"/>
              </a:rPr>
              <a:t>prediction</a:t>
            </a:r>
            <a:endParaRPr sz="2133" dirty="0">
              <a:latin typeface="Century Schoolbook"/>
              <a:cs typeface="Century Schoolbook"/>
            </a:endParaRPr>
          </a:p>
          <a:p>
            <a:pPr marL="485128" indent="-468195">
              <a:buFont typeface="Arial"/>
              <a:buChar char="●"/>
              <a:tabLst>
                <a:tab pos="485128" algn="l"/>
              </a:tabLst>
            </a:pPr>
            <a:r>
              <a:rPr sz="2133" b="1" spc="-13" dirty="0">
                <a:solidFill>
                  <a:srgbClr val="212529"/>
                </a:solidFill>
                <a:latin typeface="Century Schoolbook Bold"/>
                <a:cs typeface="Century Schoolbook Bold"/>
              </a:rPr>
              <a:t>Proteomics:</a:t>
            </a:r>
            <a:endParaRPr sz="2133" dirty="0">
              <a:latin typeface="Century Schoolbook Bold"/>
              <a:cs typeface="Century Schoolbook Bold"/>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Protein</a:t>
            </a:r>
            <a:r>
              <a:rPr sz="2133" spc="-67" dirty="0">
                <a:solidFill>
                  <a:srgbClr val="212529"/>
                </a:solidFill>
                <a:latin typeface="Century Schoolbook"/>
                <a:cs typeface="Century Schoolbook"/>
              </a:rPr>
              <a:t> </a:t>
            </a:r>
            <a:r>
              <a:rPr sz="2133" dirty="0">
                <a:solidFill>
                  <a:srgbClr val="212529"/>
                </a:solidFill>
                <a:latin typeface="Century Schoolbook"/>
                <a:cs typeface="Century Schoolbook"/>
              </a:rPr>
              <a:t>3D</a:t>
            </a:r>
            <a:r>
              <a:rPr sz="2133" spc="-40" dirty="0">
                <a:solidFill>
                  <a:srgbClr val="212529"/>
                </a:solidFill>
                <a:latin typeface="Century Schoolbook"/>
                <a:cs typeface="Century Schoolbook"/>
              </a:rPr>
              <a:t> </a:t>
            </a:r>
            <a:r>
              <a:rPr sz="2133" dirty="0">
                <a:solidFill>
                  <a:srgbClr val="212529"/>
                </a:solidFill>
                <a:latin typeface="Century Schoolbook"/>
                <a:cs typeface="Century Schoolbook"/>
              </a:rPr>
              <a:t>structure</a:t>
            </a:r>
            <a:r>
              <a:rPr sz="2133" spc="-67" dirty="0">
                <a:solidFill>
                  <a:srgbClr val="212529"/>
                </a:solidFill>
                <a:latin typeface="Century Schoolbook"/>
                <a:cs typeface="Century Schoolbook"/>
              </a:rPr>
              <a:t> </a:t>
            </a:r>
            <a:r>
              <a:rPr sz="2133" spc="-13" dirty="0">
                <a:solidFill>
                  <a:srgbClr val="212529"/>
                </a:solidFill>
                <a:latin typeface="Century Schoolbook"/>
                <a:cs typeface="Century Schoolbook"/>
              </a:rPr>
              <a:t>modeling</a:t>
            </a:r>
            <a:endParaRPr sz="2133" dirty="0">
              <a:latin typeface="Century Schoolbook"/>
              <a:cs typeface="Century Schoolbook"/>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Drug</a:t>
            </a:r>
            <a:r>
              <a:rPr sz="2133" spc="-80" dirty="0">
                <a:solidFill>
                  <a:srgbClr val="212529"/>
                </a:solidFill>
                <a:latin typeface="Century Schoolbook"/>
                <a:cs typeface="Century Schoolbook"/>
              </a:rPr>
              <a:t> </a:t>
            </a:r>
            <a:r>
              <a:rPr sz="2133" spc="-13" dirty="0">
                <a:solidFill>
                  <a:srgbClr val="212529"/>
                </a:solidFill>
                <a:latin typeface="Century Schoolbook"/>
                <a:cs typeface="Century Schoolbook"/>
              </a:rPr>
              <a:t>design</a:t>
            </a:r>
            <a:endParaRPr sz="2133" dirty="0">
              <a:latin typeface="Century Schoolbook"/>
              <a:cs typeface="Century Schoolbook"/>
            </a:endParaRPr>
          </a:p>
          <a:p>
            <a:pPr marL="485128" indent="-468195">
              <a:buFont typeface="Arial"/>
              <a:buChar char="●"/>
              <a:tabLst>
                <a:tab pos="485128" algn="l"/>
              </a:tabLst>
            </a:pPr>
            <a:r>
              <a:rPr sz="2133" b="1" dirty="0">
                <a:solidFill>
                  <a:srgbClr val="212529"/>
                </a:solidFill>
                <a:latin typeface="Century Schoolbook Bold"/>
                <a:cs typeface="Century Schoolbook Bold"/>
              </a:rPr>
              <a:t>System</a:t>
            </a:r>
            <a:r>
              <a:rPr sz="2133" b="1" spc="-120"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Biology:</a:t>
            </a:r>
            <a:endParaRPr sz="2133" dirty="0">
              <a:latin typeface="Century Schoolbook Bold"/>
              <a:cs typeface="Century Schoolbook Bold"/>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Genome</a:t>
            </a:r>
            <a:r>
              <a:rPr sz="2133" spc="-60" dirty="0">
                <a:solidFill>
                  <a:srgbClr val="212529"/>
                </a:solidFill>
                <a:latin typeface="Century Schoolbook"/>
                <a:cs typeface="Century Schoolbook"/>
              </a:rPr>
              <a:t> </a:t>
            </a:r>
            <a:r>
              <a:rPr sz="2133" dirty="0">
                <a:solidFill>
                  <a:srgbClr val="212529"/>
                </a:solidFill>
                <a:latin typeface="Century Schoolbook"/>
                <a:cs typeface="Century Schoolbook"/>
              </a:rPr>
              <a:t>set</a:t>
            </a:r>
            <a:r>
              <a:rPr sz="2133" spc="-53" dirty="0">
                <a:solidFill>
                  <a:srgbClr val="212529"/>
                </a:solidFill>
                <a:latin typeface="Century Schoolbook"/>
                <a:cs typeface="Century Schoolbook"/>
              </a:rPr>
              <a:t> </a:t>
            </a:r>
            <a:r>
              <a:rPr sz="2133" spc="-13" dirty="0">
                <a:solidFill>
                  <a:srgbClr val="212529"/>
                </a:solidFill>
                <a:latin typeface="Century Schoolbook"/>
                <a:cs typeface="Century Schoolbook"/>
              </a:rPr>
              <a:t>enrichment</a:t>
            </a:r>
            <a:endParaRPr sz="2133" dirty="0">
              <a:latin typeface="Century Schoolbook"/>
              <a:cs typeface="Century Schoolbook"/>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Pathway</a:t>
            </a:r>
            <a:r>
              <a:rPr sz="2133" spc="-47" dirty="0">
                <a:solidFill>
                  <a:srgbClr val="212529"/>
                </a:solidFill>
                <a:latin typeface="Century Schoolbook"/>
                <a:cs typeface="Century Schoolbook"/>
              </a:rPr>
              <a:t> </a:t>
            </a:r>
            <a:r>
              <a:rPr sz="2133" spc="-13" dirty="0">
                <a:solidFill>
                  <a:srgbClr val="212529"/>
                </a:solidFill>
                <a:latin typeface="Century Schoolbook"/>
                <a:cs typeface="Century Schoolbook"/>
              </a:rPr>
              <a:t>analysis</a:t>
            </a:r>
            <a:endParaRPr sz="2133" dirty="0">
              <a:latin typeface="Century Schoolbook"/>
              <a:cs typeface="Century Schoolbook"/>
            </a:endParaRPr>
          </a:p>
          <a:p>
            <a:pPr marL="485128" indent="-468195">
              <a:buFont typeface="Arial"/>
              <a:buChar char="●"/>
              <a:tabLst>
                <a:tab pos="485128" algn="l"/>
              </a:tabLst>
            </a:pPr>
            <a:r>
              <a:rPr sz="2133" b="1" spc="-13" dirty="0">
                <a:solidFill>
                  <a:srgbClr val="212529"/>
                </a:solidFill>
                <a:latin typeface="Century Schoolbook Bold"/>
                <a:cs typeface="Century Schoolbook Bold"/>
              </a:rPr>
              <a:t>Phenotype:</a:t>
            </a:r>
            <a:endParaRPr sz="2133" dirty="0">
              <a:latin typeface="Century Schoolbook Bold"/>
              <a:cs typeface="Century Schoolbook Bold"/>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dirty="0">
                <a:solidFill>
                  <a:srgbClr val="212529"/>
                </a:solidFill>
                <a:latin typeface="Century Schoolbook"/>
                <a:cs typeface="Century Schoolbook"/>
              </a:rPr>
              <a:t>Image</a:t>
            </a:r>
            <a:r>
              <a:rPr sz="2133" spc="-73" dirty="0">
                <a:solidFill>
                  <a:srgbClr val="212529"/>
                </a:solidFill>
                <a:latin typeface="Century Schoolbook"/>
                <a:cs typeface="Century Schoolbook"/>
              </a:rPr>
              <a:t> </a:t>
            </a:r>
            <a:r>
              <a:rPr sz="2133" spc="-13" dirty="0">
                <a:solidFill>
                  <a:srgbClr val="212529"/>
                </a:solidFill>
                <a:latin typeface="Century Schoolbook"/>
                <a:cs typeface="Century Schoolbook"/>
              </a:rPr>
              <a:t>analysis</a:t>
            </a:r>
            <a:endParaRPr sz="2133" dirty="0">
              <a:latin typeface="Century Schoolbook"/>
              <a:cs typeface="Century Schoolbook"/>
            </a:endParaRPr>
          </a:p>
          <a:p>
            <a:pPr marL="523227">
              <a:tabLst>
                <a:tab pos="1094713" algn="l"/>
              </a:tabLst>
            </a:pPr>
            <a:r>
              <a:rPr sz="2133" spc="-67" dirty="0">
                <a:solidFill>
                  <a:srgbClr val="212529"/>
                </a:solidFill>
                <a:latin typeface="MS PMincho"/>
                <a:cs typeface="MS PMincho"/>
              </a:rPr>
              <a:t>★</a:t>
            </a:r>
            <a:r>
              <a:rPr sz="2133" dirty="0">
                <a:solidFill>
                  <a:srgbClr val="212529"/>
                </a:solidFill>
                <a:latin typeface="MS PMincho"/>
                <a:cs typeface="MS PMincho"/>
              </a:rPr>
              <a:t>	</a:t>
            </a:r>
            <a:r>
              <a:rPr sz="2133" spc="-13" dirty="0">
                <a:solidFill>
                  <a:srgbClr val="212529"/>
                </a:solidFill>
                <a:latin typeface="Century Schoolbook"/>
                <a:cs typeface="Century Schoolbook"/>
              </a:rPr>
              <a:t>Integration</a:t>
            </a:r>
            <a:endParaRPr sz="2133" dirty="0">
              <a:latin typeface="Century Schoolbook"/>
              <a:cs typeface="Century Schoolbook"/>
            </a:endParaRPr>
          </a:p>
        </p:txBody>
      </p:sp>
      <p:sp>
        <p:nvSpPr>
          <p:cNvPr id="6" name="object 6"/>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32</a:t>
            </a:fld>
            <a:endParaRPr spc="-33" dirty="0"/>
          </a:p>
        </p:txBody>
      </p:sp>
    </p:spTree>
    <p:extLst>
      <p:ext uri="{BB962C8B-B14F-4D97-AF65-F5344CB8AC3E}">
        <p14:creationId xmlns:p14="http://schemas.microsoft.com/office/powerpoint/2010/main" val="26441070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54217"/>
            <a:ext cx="14020800" cy="632651"/>
          </a:xfrm>
          <a:prstGeom prst="rect">
            <a:avLst/>
          </a:prstGeom>
        </p:spPr>
        <p:txBody>
          <a:bodyPr vert="horz" wrap="square" lIns="0" tIns="16933" rIns="0" bIns="0" rtlCol="0" anchor="ctr">
            <a:spAutoFit/>
          </a:bodyPr>
          <a:lstStyle/>
          <a:p>
            <a:pPr marL="16933">
              <a:lnSpc>
                <a:spcPct val="100000"/>
              </a:lnSpc>
              <a:spcBef>
                <a:spcPts val="133"/>
              </a:spcBef>
            </a:pPr>
            <a:r>
              <a:rPr sz="4000" spc="553" dirty="0"/>
              <a:t>What</a:t>
            </a:r>
            <a:r>
              <a:rPr sz="4000" spc="200" dirty="0"/>
              <a:t> </a:t>
            </a:r>
            <a:r>
              <a:rPr sz="4000" spc="287" dirty="0"/>
              <a:t>is</a:t>
            </a:r>
            <a:r>
              <a:rPr sz="4000" spc="207" dirty="0"/>
              <a:t> </a:t>
            </a:r>
            <a:r>
              <a:rPr sz="4000" spc="460" dirty="0"/>
              <a:t>the</a:t>
            </a:r>
            <a:r>
              <a:rPr sz="4000" spc="207" dirty="0"/>
              <a:t> </a:t>
            </a:r>
            <a:r>
              <a:rPr sz="4000" spc="353" dirty="0"/>
              <a:t>purpose</a:t>
            </a:r>
            <a:r>
              <a:rPr sz="4000" spc="207" dirty="0"/>
              <a:t> </a:t>
            </a:r>
            <a:r>
              <a:rPr sz="4000" spc="260" dirty="0"/>
              <a:t>of</a:t>
            </a:r>
            <a:r>
              <a:rPr sz="4000" spc="200" dirty="0"/>
              <a:t> </a:t>
            </a:r>
            <a:r>
              <a:rPr sz="4000" spc="387" dirty="0"/>
              <a:t>Bioinformatics?</a:t>
            </a:r>
            <a:endParaRPr sz="4000"/>
          </a:p>
        </p:txBody>
      </p:sp>
      <p:sp>
        <p:nvSpPr>
          <p:cNvPr id="3" name="object 3"/>
          <p:cNvSpPr/>
          <p:nvPr/>
        </p:nvSpPr>
        <p:spPr>
          <a:xfrm>
            <a:off x="370700" y="886932"/>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4" name="object 4"/>
          <p:cNvSpPr/>
          <p:nvPr/>
        </p:nvSpPr>
        <p:spPr>
          <a:xfrm>
            <a:off x="364367" y="1098933"/>
            <a:ext cx="11605260" cy="5416972"/>
          </a:xfrm>
          <a:custGeom>
            <a:avLst/>
            <a:gdLst/>
            <a:ahLst/>
            <a:cxnLst/>
            <a:rect l="l" t="t" r="r" b="b"/>
            <a:pathLst>
              <a:path w="8703945" h="4062729">
                <a:moveTo>
                  <a:pt x="4749" y="0"/>
                </a:moveTo>
                <a:lnTo>
                  <a:pt x="4749" y="4062724"/>
                </a:lnTo>
              </a:path>
              <a:path w="8703945" h="4062729">
                <a:moveTo>
                  <a:pt x="8699124" y="0"/>
                </a:moveTo>
                <a:lnTo>
                  <a:pt x="8699124" y="4062724"/>
                </a:lnTo>
              </a:path>
              <a:path w="8703945" h="4062729">
                <a:moveTo>
                  <a:pt x="0" y="4749"/>
                </a:moveTo>
                <a:lnTo>
                  <a:pt x="8703874" y="4749"/>
                </a:lnTo>
              </a:path>
              <a:path w="8703945" h="4062729">
                <a:moveTo>
                  <a:pt x="0" y="4057974"/>
                </a:moveTo>
                <a:lnTo>
                  <a:pt x="8703874" y="4057974"/>
                </a:lnTo>
              </a:path>
            </a:pathLst>
          </a:custGeom>
          <a:ln w="9524">
            <a:solidFill>
              <a:srgbClr val="9E9E9E"/>
            </a:solidFill>
          </a:ln>
        </p:spPr>
        <p:txBody>
          <a:bodyPr wrap="square" lIns="0" tIns="0" rIns="0" bIns="0" rtlCol="0"/>
          <a:lstStyle/>
          <a:p>
            <a:endParaRPr sz="2400"/>
          </a:p>
        </p:txBody>
      </p:sp>
      <p:sp>
        <p:nvSpPr>
          <p:cNvPr id="5" name="object 5"/>
          <p:cNvSpPr txBox="1"/>
          <p:nvPr/>
        </p:nvSpPr>
        <p:spPr>
          <a:xfrm>
            <a:off x="574322" y="1787593"/>
            <a:ext cx="11255587" cy="1001792"/>
          </a:xfrm>
          <a:prstGeom prst="rect">
            <a:avLst/>
          </a:prstGeom>
          <a:solidFill>
            <a:schemeClr val="accent2">
              <a:lumMod val="20000"/>
              <a:lumOff val="80000"/>
            </a:schemeClr>
          </a:solidFill>
        </p:spPr>
        <p:txBody>
          <a:bodyPr vert="horz" wrap="square" lIns="0" tIns="16933" rIns="0" bIns="0" rtlCol="0">
            <a:spAutoFit/>
          </a:bodyPr>
          <a:lstStyle/>
          <a:p>
            <a:pPr marL="485128" indent="-468195">
              <a:spcBef>
                <a:spcPts val="133"/>
              </a:spcBef>
              <a:buFont typeface="Arial"/>
              <a:buChar char="●"/>
              <a:tabLst>
                <a:tab pos="485128" algn="l"/>
              </a:tabLst>
            </a:pPr>
            <a:r>
              <a:rPr sz="2133" b="1" dirty="0">
                <a:solidFill>
                  <a:srgbClr val="212529"/>
                </a:solidFill>
                <a:latin typeface="Century Schoolbook Bold"/>
                <a:cs typeface="Century Schoolbook Bold"/>
              </a:rPr>
              <a:t>The</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work</a:t>
            </a:r>
            <a:r>
              <a:rPr sz="2133" b="1" spc="-2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bioinformatics</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is</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in</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the</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processing</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large</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amount</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3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data.</a:t>
            </a:r>
            <a:endParaRPr sz="2133" dirty="0">
              <a:latin typeface="Century Schoolbook Bold"/>
              <a:cs typeface="Century Schoolbook Bold"/>
            </a:endParaRPr>
          </a:p>
          <a:p>
            <a:pPr marL="485128" marR="6773" indent="-469042">
              <a:buFont typeface="Arial"/>
              <a:buChar char="●"/>
              <a:tabLst>
                <a:tab pos="485128" algn="l"/>
              </a:tabLst>
            </a:pPr>
            <a:r>
              <a:rPr sz="2133" b="1" dirty="0">
                <a:solidFill>
                  <a:srgbClr val="212529"/>
                </a:solidFill>
                <a:latin typeface="Century Schoolbook Bold"/>
                <a:cs typeface="Century Schoolbook Bold"/>
              </a:rPr>
              <a:t>The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purpose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bioinformatics</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is</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to</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make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sense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processes</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taking</a:t>
            </a:r>
            <a:r>
              <a:rPr sz="2133" b="1" spc="360"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place </a:t>
            </a:r>
            <a:r>
              <a:rPr sz="2133" b="1" dirty="0">
                <a:solidFill>
                  <a:srgbClr val="212529"/>
                </a:solidFill>
                <a:latin typeface="Century Schoolbook Bold"/>
                <a:cs typeface="Century Schoolbook Bold"/>
              </a:rPr>
              <a:t>inside</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organism</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or</a:t>
            </a:r>
            <a:r>
              <a:rPr sz="2133" b="1" spc="-4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living</a:t>
            </a:r>
            <a:r>
              <a:rPr sz="2133" b="1" spc="-3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systems.</a:t>
            </a:r>
            <a:endParaRPr sz="2133" dirty="0">
              <a:latin typeface="Century Schoolbook Bold"/>
              <a:cs typeface="Century Schoolbook Bold"/>
            </a:endParaRPr>
          </a:p>
        </p:txBody>
      </p:sp>
      <p:sp>
        <p:nvSpPr>
          <p:cNvPr id="6" name="object 6"/>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33</a:t>
            </a:fld>
            <a:endParaRPr spc="-33" dirty="0"/>
          </a:p>
        </p:txBody>
      </p:sp>
    </p:spTree>
    <p:extLst>
      <p:ext uri="{BB962C8B-B14F-4D97-AF65-F5344CB8AC3E}">
        <p14:creationId xmlns:p14="http://schemas.microsoft.com/office/powerpoint/2010/main" val="10239267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53997"/>
          </a:xfrm>
        </p:spPr>
        <p:txBody>
          <a:bodyPr>
            <a:normAutofit fontScale="90000"/>
          </a:bodyPr>
          <a:lstStyle/>
          <a:p>
            <a:pPr algn="ctr"/>
            <a:r>
              <a:rPr lang="en-US" dirty="0"/>
              <a:t>Conventional Biology</a:t>
            </a:r>
          </a:p>
        </p:txBody>
      </p:sp>
      <p:sp>
        <p:nvSpPr>
          <p:cNvPr id="4" name="Rectangle 1"/>
          <p:cNvSpPr>
            <a:spLocks noGrp="1" noChangeArrowheads="1"/>
          </p:cNvSpPr>
          <p:nvPr>
            <p:ph type="body" idx="1"/>
          </p:nvPr>
        </p:nvSpPr>
        <p:spPr bwMode="auto">
          <a:xfrm>
            <a:off x="522204" y="1864860"/>
            <a:ext cx="10246395" cy="3077958"/>
          </a:xfrm>
          <a:prstGeom prst="rect">
            <a:avLst/>
          </a:prstGeom>
          <a:solidFill>
            <a:schemeClr val="accent6">
              <a:lumMod val="40000"/>
              <a:lumOff val="60000"/>
            </a:schemeClr>
          </a:solidFill>
          <a:ln>
            <a:noFill/>
          </a:ln>
          <a:effectLst/>
        </p:spPr>
        <p:txBody>
          <a:bodyPr vert="horz" wrap="none" lIns="121920" tIns="60960" rIns="121920" bIns="60960" numCol="1" rtlCol="0" anchor="ctr" anchorCtr="0" compatLnSpc="1">
            <a:prstTxWarp prst="textNoShape">
              <a:avLst/>
            </a:prstTxWarp>
            <a:spAutoFit/>
          </a:bodyPr>
          <a:lstStyle/>
          <a:p>
            <a:pPr marL="0" indent="0" defTabSz="1219170" eaLnBrk="0" fontAlgn="base" hangingPunct="0">
              <a:lnSpc>
                <a:spcPct val="10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Focuses on </a:t>
            </a:r>
            <a:r>
              <a:rPr lang="en-US" sz="2400" b="1" dirty="0">
                <a:latin typeface="Times New Roman" panose="02020603050405020304" pitchFamily="18" charset="0"/>
                <a:cs typeface="Times New Roman" panose="02020603050405020304" pitchFamily="18" charset="0"/>
              </a:rPr>
              <a:t>wet-lab experiments</a:t>
            </a:r>
            <a:r>
              <a:rPr lang="en-US" sz="2400" dirty="0">
                <a:latin typeface="Times New Roman" panose="02020603050405020304" pitchFamily="18" charset="0"/>
                <a:cs typeface="Times New Roman" panose="02020603050405020304" pitchFamily="18" charset="0"/>
              </a:rPr>
              <a:t> (microscope, petri dish, DNA extraction, etc.).</a:t>
            </a:r>
          </a:p>
          <a:p>
            <a:pPr marL="0" indent="0" defTabSz="1219170" eaLnBrk="0" fontAlgn="base" hangingPunct="0">
              <a:lnSpc>
                <a:spcPct val="100000"/>
              </a:lnSpc>
              <a:spcBef>
                <a:spcPct val="0"/>
              </a:spcBef>
              <a:spcAft>
                <a:spcPct val="0"/>
              </a:spcAft>
              <a:buFontTx/>
              <a:buChar char="•"/>
            </a:pPr>
            <a:r>
              <a:rPr lang="en-US" sz="2400" dirty="0">
                <a:latin typeface="Times New Roman" panose="02020603050405020304" pitchFamily="18" charset="0"/>
                <a:cs typeface="Times New Roman" panose="02020603050405020304" pitchFamily="18" charset="0"/>
              </a:rPr>
              <a:t>Studies living organisms directly (cells, tissues, plants, animals, microbes).</a:t>
            </a:r>
          </a:p>
          <a:p>
            <a:pPr marL="0" indent="0" defTabSz="1219170" eaLnBrk="0" fontAlgn="base" hangingPunct="0">
              <a:lnSpc>
                <a:spcPct val="100000"/>
              </a:lnSpc>
              <a:spcBef>
                <a:spcPct val="0"/>
              </a:spcBef>
              <a:spcAft>
                <a:spcPct val="0"/>
              </a:spcAft>
              <a:buFontTx/>
              <a:buChar char="•"/>
            </a:pPr>
            <a:endParaRPr lang="en-US" sz="2400" dirty="0">
              <a:latin typeface="Times New Roman" panose="02020603050405020304" pitchFamily="18" charset="0"/>
              <a:cs typeface="Times New Roman" panose="02020603050405020304" pitchFamily="18" charset="0"/>
            </a:endParaRPr>
          </a:p>
          <a:p>
            <a:pPr marL="0" indent="0" defTabSz="1219170" eaLnBrk="0" fontAlgn="base" hangingPunct="0">
              <a:lnSpc>
                <a:spcPct val="100000"/>
              </a:lnSpc>
              <a:spcBef>
                <a:spcPct val="0"/>
              </a:spcBef>
              <a:spcAft>
                <a:spcPct val="0"/>
              </a:spcAft>
            </a:pPr>
            <a:r>
              <a:rPr lang="en-US" sz="2400" b="1" dirty="0">
                <a:latin typeface="Times New Roman" panose="02020603050405020304" pitchFamily="18" charset="0"/>
                <a:cs typeface="Times New Roman" panose="02020603050405020304" pitchFamily="18" charset="0"/>
              </a:rPr>
              <a:t>Example activities:</a:t>
            </a:r>
          </a:p>
          <a:p>
            <a:pPr lvl="1" algn="l" rtl="0" eaLnBrk="0" fontAlgn="base" hangingPunct="0">
              <a:spcBef>
                <a:spcPct val="0"/>
              </a:spcBef>
              <a:spcAft>
                <a:spcPct val="0"/>
              </a:spcAft>
              <a:buFontTx/>
              <a:buChar char="•"/>
            </a:pPr>
            <a:r>
              <a:rPr lang="en-US" sz="2667" dirty="0">
                <a:latin typeface="Times New Roman" panose="02020603050405020304" pitchFamily="18" charset="0"/>
                <a:cs typeface="Times New Roman" panose="02020603050405020304" pitchFamily="18" charset="0"/>
              </a:rPr>
              <a:t>Observing bacteria under a microscope.</a:t>
            </a:r>
          </a:p>
          <a:p>
            <a:pPr lvl="1" algn="l" rtl="0" eaLnBrk="0" fontAlgn="base" hangingPunct="0">
              <a:spcBef>
                <a:spcPct val="0"/>
              </a:spcBef>
              <a:spcAft>
                <a:spcPct val="0"/>
              </a:spcAft>
              <a:buFontTx/>
              <a:buChar char="•"/>
            </a:pPr>
            <a:r>
              <a:rPr lang="en-US" sz="2667" dirty="0">
                <a:latin typeface="Times New Roman" panose="02020603050405020304" pitchFamily="18" charset="0"/>
                <a:cs typeface="Times New Roman" panose="02020603050405020304" pitchFamily="18" charset="0"/>
              </a:rPr>
              <a:t>Doing DNA sequencing in a lab.</a:t>
            </a:r>
          </a:p>
          <a:p>
            <a:pPr lvl="1" algn="l" rtl="0" eaLnBrk="0" fontAlgn="base" hangingPunct="0">
              <a:spcBef>
                <a:spcPct val="0"/>
              </a:spcBef>
              <a:spcAft>
                <a:spcPct val="0"/>
              </a:spcAft>
              <a:buFontTx/>
              <a:buChar char="•"/>
            </a:pPr>
            <a:r>
              <a:rPr lang="en-US" sz="2667" dirty="0">
                <a:latin typeface="Times New Roman" panose="02020603050405020304" pitchFamily="18" charset="0"/>
                <a:cs typeface="Times New Roman" panose="02020603050405020304" pitchFamily="18" charset="0"/>
              </a:rPr>
              <a:t>Conducting breeding experiments with plants.</a:t>
            </a:r>
          </a:p>
          <a:p>
            <a:pPr marL="0" indent="0" defTabSz="1219170" eaLnBrk="0" fontAlgn="base" hangingPunct="0">
              <a:lnSpc>
                <a:spcPct val="100000"/>
              </a:lnSpc>
              <a:spcBef>
                <a:spcPct val="0"/>
              </a:spcBef>
              <a:spcAft>
                <a:spcPct val="0"/>
              </a:spcAft>
              <a:buNone/>
            </a:pPr>
            <a:endParaRPr lang="en-US" sz="2400" dirty="0">
              <a:latin typeface="Arial" panose="020B0604020202020204" pitchFamily="34" charset="0"/>
            </a:endParaRPr>
          </a:p>
        </p:txBody>
      </p:sp>
    </p:spTree>
    <p:extLst>
      <p:ext uri="{BB962C8B-B14F-4D97-AF65-F5344CB8AC3E}">
        <p14:creationId xmlns:p14="http://schemas.microsoft.com/office/powerpoint/2010/main" val="992789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53997"/>
          </a:xfrm>
        </p:spPr>
        <p:txBody>
          <a:bodyPr>
            <a:normAutofit fontScale="90000"/>
          </a:bodyPr>
          <a:lstStyle/>
          <a:p>
            <a:pPr algn="ctr"/>
            <a:r>
              <a:rPr lang="en-US" b="1" dirty="0"/>
              <a:t>Bioinformatics</a:t>
            </a:r>
          </a:p>
        </p:txBody>
      </p:sp>
      <p:sp>
        <p:nvSpPr>
          <p:cNvPr id="3" name="Text Placeholder 2"/>
          <p:cNvSpPr>
            <a:spLocks noGrp="1"/>
          </p:cNvSpPr>
          <p:nvPr>
            <p:ph type="body" idx="1"/>
          </p:nvPr>
        </p:nvSpPr>
        <p:spPr>
          <a:xfrm>
            <a:off x="302411" y="1218230"/>
            <a:ext cx="11587176" cy="2954655"/>
          </a:xfrm>
          <a:solidFill>
            <a:schemeClr val="accent4">
              <a:lumMod val="40000"/>
              <a:lumOff val="60000"/>
            </a:schemeClr>
          </a:solidFill>
        </p:spPr>
        <p:txBody>
          <a:bodyPr>
            <a:normAutofit fontScale="92500" lnSpcReduction="10000"/>
          </a:bodyPr>
          <a:lstStyle/>
          <a:p>
            <a:pPr marL="380990" indent="-380990"/>
            <a:r>
              <a:rPr lang="en-US" sz="2400" dirty="0">
                <a:latin typeface="Times New Roman" panose="02020603050405020304" pitchFamily="18" charset="0"/>
                <a:cs typeface="Times New Roman" panose="02020603050405020304" pitchFamily="18" charset="0"/>
              </a:rPr>
              <a:t>Focuses on </a:t>
            </a:r>
            <a:r>
              <a:rPr lang="en-US" sz="2400" b="1" dirty="0">
                <a:latin typeface="Times New Roman" panose="02020603050405020304" pitchFamily="18" charset="0"/>
                <a:cs typeface="Times New Roman" panose="02020603050405020304" pitchFamily="18" charset="0"/>
              </a:rPr>
              <a:t>computer-based analysis</a:t>
            </a:r>
            <a:r>
              <a:rPr lang="en-US" sz="2400" dirty="0">
                <a:latin typeface="Times New Roman" panose="02020603050405020304" pitchFamily="18" charset="0"/>
                <a:cs typeface="Times New Roman" panose="02020603050405020304" pitchFamily="18" charset="0"/>
              </a:rPr>
              <a:t> of biological data.</a:t>
            </a:r>
          </a:p>
          <a:p>
            <a:pPr marL="380990" indent="-380990"/>
            <a:r>
              <a:rPr lang="en-US" sz="2400" dirty="0">
                <a:latin typeface="Times New Roman" panose="02020603050405020304" pitchFamily="18" charset="0"/>
                <a:cs typeface="Times New Roman" panose="02020603050405020304" pitchFamily="18" charset="0"/>
              </a:rPr>
              <a:t>Uses algorithms, databases, and statistical tools to study biology.</a:t>
            </a:r>
          </a:p>
          <a:p>
            <a:pPr marL="380990" indent="-380990"/>
            <a:r>
              <a:rPr lang="en-US" sz="2400" dirty="0">
                <a:latin typeface="Times New Roman" panose="02020603050405020304" pitchFamily="18" charset="0"/>
                <a:cs typeface="Times New Roman" panose="02020603050405020304" pitchFamily="18" charset="0"/>
              </a:rPr>
              <a:t>Handles </a:t>
            </a:r>
            <a:r>
              <a:rPr lang="en-US" sz="2400" b="1" dirty="0">
                <a:latin typeface="Times New Roman" panose="02020603050405020304" pitchFamily="18" charset="0"/>
                <a:cs typeface="Times New Roman" panose="02020603050405020304" pitchFamily="18" charset="0"/>
              </a:rPr>
              <a:t>large-scale data</a:t>
            </a:r>
            <a:r>
              <a:rPr lang="en-US" sz="2400" dirty="0">
                <a:latin typeface="Times New Roman" panose="02020603050405020304" pitchFamily="18" charset="0"/>
                <a:cs typeface="Times New Roman" panose="02020603050405020304" pitchFamily="18" charset="0"/>
              </a:rPr>
              <a:t> (like DNA sequences, protein structures, gene expression data).</a:t>
            </a: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Example activities:</a:t>
            </a:r>
          </a:p>
          <a:p>
            <a:pPr marL="990575" lvl="1" indent="-380990"/>
            <a:r>
              <a:rPr lang="en-US" dirty="0">
                <a:latin typeface="Times New Roman" panose="02020603050405020304" pitchFamily="18" charset="0"/>
                <a:cs typeface="Times New Roman" panose="02020603050405020304" pitchFamily="18" charset="0"/>
              </a:rPr>
              <a:t>Comparing DNA sequences across species using software.</a:t>
            </a:r>
          </a:p>
          <a:p>
            <a:pPr marL="990575" lvl="1" indent="-380990"/>
            <a:r>
              <a:rPr lang="en-US" dirty="0">
                <a:latin typeface="Times New Roman" panose="02020603050405020304" pitchFamily="18" charset="0"/>
                <a:cs typeface="Times New Roman" panose="02020603050405020304" pitchFamily="18" charset="0"/>
              </a:rPr>
              <a:t>Predicting protein structures with algorithms.</a:t>
            </a:r>
          </a:p>
          <a:p>
            <a:pPr marL="990575" lvl="1" indent="-380990"/>
            <a:r>
              <a:rPr lang="en-US" dirty="0">
                <a:latin typeface="Times New Roman" panose="02020603050405020304" pitchFamily="18" charset="0"/>
                <a:cs typeface="Times New Roman" panose="02020603050405020304" pitchFamily="18" charset="0"/>
              </a:rPr>
              <a:t>Analyzing gene expression patterns in cancer research.</a:t>
            </a:r>
          </a:p>
        </p:txBody>
      </p:sp>
    </p:spTree>
    <p:extLst>
      <p:ext uri="{BB962C8B-B14F-4D97-AF65-F5344CB8AC3E}">
        <p14:creationId xmlns:p14="http://schemas.microsoft.com/office/powerpoint/2010/main" val="6948294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8559" y="-145413"/>
            <a:ext cx="9055100" cy="1371315"/>
          </a:xfrm>
          <a:prstGeom prst="rect">
            <a:avLst/>
          </a:prstGeom>
        </p:spPr>
        <p:txBody>
          <a:bodyPr vert="horz" wrap="square" lIns="0" tIns="16933" rIns="0" bIns="0" rtlCol="0" anchor="ctr">
            <a:spAutoFit/>
          </a:bodyPr>
          <a:lstStyle/>
          <a:p>
            <a:pPr marL="1926965" marR="6773" indent="-1910879">
              <a:lnSpc>
                <a:spcPct val="100000"/>
              </a:lnSpc>
              <a:spcBef>
                <a:spcPts val="133"/>
              </a:spcBef>
            </a:pPr>
            <a:r>
              <a:rPr spc="233" dirty="0"/>
              <a:t>How</a:t>
            </a:r>
            <a:r>
              <a:rPr spc="200" dirty="0"/>
              <a:t> </a:t>
            </a:r>
            <a:r>
              <a:rPr spc="253" dirty="0"/>
              <a:t>is</a:t>
            </a:r>
            <a:r>
              <a:rPr spc="200" dirty="0"/>
              <a:t> </a:t>
            </a:r>
            <a:r>
              <a:rPr spc="347" dirty="0"/>
              <a:t>Bioinformatics</a:t>
            </a:r>
            <a:r>
              <a:rPr spc="207" dirty="0"/>
              <a:t> </a:t>
            </a:r>
            <a:r>
              <a:rPr spc="300" dirty="0"/>
              <a:t>Different</a:t>
            </a:r>
            <a:r>
              <a:rPr spc="200" dirty="0"/>
              <a:t> </a:t>
            </a:r>
            <a:r>
              <a:rPr spc="339" dirty="0"/>
              <a:t>from </a:t>
            </a:r>
            <a:r>
              <a:rPr spc="300" dirty="0"/>
              <a:t>Conventional</a:t>
            </a:r>
            <a:r>
              <a:rPr spc="187" dirty="0"/>
              <a:t> </a:t>
            </a:r>
            <a:r>
              <a:rPr spc="300" dirty="0"/>
              <a:t>Biology</a:t>
            </a:r>
          </a:p>
        </p:txBody>
      </p:sp>
      <p:grpSp>
        <p:nvGrpSpPr>
          <p:cNvPr id="3" name="object 3"/>
          <p:cNvGrpSpPr/>
          <p:nvPr/>
        </p:nvGrpSpPr>
        <p:grpSpPr>
          <a:xfrm>
            <a:off x="294849" y="1166333"/>
            <a:ext cx="11763587" cy="5350087"/>
            <a:chOff x="221137" y="874749"/>
            <a:chExt cx="8822690" cy="4012565"/>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221149" y="993099"/>
              <a:ext cx="8756015" cy="3893820"/>
            </a:xfrm>
            <a:custGeom>
              <a:avLst/>
              <a:gdLst/>
              <a:ahLst/>
              <a:cxnLst/>
              <a:rect l="l" t="t" r="r" b="b"/>
              <a:pathLst>
                <a:path w="8756015" h="3893820">
                  <a:moveTo>
                    <a:pt x="4749" y="0"/>
                  </a:moveTo>
                  <a:lnTo>
                    <a:pt x="4749" y="3893824"/>
                  </a:lnTo>
                </a:path>
                <a:path w="8756015" h="3893820">
                  <a:moveTo>
                    <a:pt x="8751249" y="0"/>
                  </a:moveTo>
                  <a:lnTo>
                    <a:pt x="8751249" y="3893824"/>
                  </a:lnTo>
                </a:path>
                <a:path w="8756015" h="3893820">
                  <a:moveTo>
                    <a:pt x="0" y="4749"/>
                  </a:moveTo>
                  <a:lnTo>
                    <a:pt x="8755999" y="4749"/>
                  </a:lnTo>
                </a:path>
                <a:path w="8756015" h="3893820">
                  <a:moveTo>
                    <a:pt x="0" y="3889074"/>
                  </a:moveTo>
                  <a:lnTo>
                    <a:pt x="8755999" y="38890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98567" y="1416997"/>
            <a:ext cx="11463867" cy="3304601"/>
          </a:xfrm>
          <a:prstGeom prst="rect">
            <a:avLst/>
          </a:prstGeom>
          <a:solidFill>
            <a:schemeClr val="accent6">
              <a:lumMod val="20000"/>
              <a:lumOff val="80000"/>
            </a:schemeClr>
          </a:solidFill>
          <a:ln>
            <a:solidFill>
              <a:schemeClr val="accent6">
                <a:lumMod val="40000"/>
                <a:lumOff val="60000"/>
              </a:schemeClr>
            </a:solidFill>
          </a:ln>
        </p:spPr>
        <p:txBody>
          <a:bodyPr vert="horz" wrap="square" lIns="0" tIns="16933" rIns="0" bIns="0" rtlCol="0">
            <a:spAutoFit/>
          </a:bodyPr>
          <a:lstStyle/>
          <a:p>
            <a:pPr marL="629058" indent="-471582" algn="just">
              <a:spcBef>
                <a:spcPts val="133"/>
              </a:spcBef>
              <a:buFont typeface="Arial"/>
              <a:buChar char="●"/>
              <a:tabLst>
                <a:tab pos="629058" algn="l"/>
              </a:tabLst>
            </a:pPr>
            <a:r>
              <a:rPr sz="2133" b="1" dirty="0">
                <a:solidFill>
                  <a:srgbClr val="212529"/>
                </a:solidFill>
                <a:latin typeface="Century Schoolbook Bold"/>
                <a:cs typeface="Century Schoolbook Bold"/>
              </a:rPr>
              <a:t>Drawbacks</a:t>
            </a:r>
            <a:r>
              <a:rPr sz="2133" b="1" spc="-3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27"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conventional</a:t>
            </a:r>
            <a:r>
              <a:rPr sz="2133" b="1" spc="-27"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biology</a:t>
            </a:r>
            <a:endParaRPr sz="2133" dirty="0">
              <a:latin typeface="Century Schoolbook Bold"/>
              <a:cs typeface="Century Schoolbook Bold"/>
            </a:endParaRPr>
          </a:p>
          <a:p>
            <a:pPr marL="1236102" marR="6773" indent="-571486" algn="just"/>
            <a:r>
              <a:rPr sz="2133" b="1" dirty="0">
                <a:solidFill>
                  <a:srgbClr val="212529"/>
                </a:solidFill>
                <a:latin typeface="MS PMincho"/>
                <a:cs typeface="MS PMincho"/>
              </a:rPr>
              <a:t>★</a:t>
            </a:r>
            <a:r>
              <a:rPr sz="2133" b="1" spc="387" dirty="0">
                <a:solidFill>
                  <a:srgbClr val="212529"/>
                </a:solidFill>
                <a:latin typeface="MS PMincho"/>
                <a:cs typeface="MS PMincho"/>
              </a:rPr>
              <a:t>  </a:t>
            </a:r>
            <a:r>
              <a:rPr sz="2133" b="1" dirty="0">
                <a:solidFill>
                  <a:srgbClr val="212529"/>
                </a:solidFill>
                <a:latin typeface="Century Schoolbook Bold"/>
                <a:cs typeface="Century Schoolbook Bold"/>
              </a:rPr>
              <a:t>High</a:t>
            </a:r>
            <a:r>
              <a:rPr sz="2133" b="1" spc="8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resource</a:t>
            </a:r>
            <a:r>
              <a:rPr sz="2133" b="1" spc="8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requirement:</a:t>
            </a:r>
            <a:r>
              <a:rPr sz="2133" b="1" spc="8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conventional</a:t>
            </a:r>
            <a:r>
              <a:rPr sz="2133" b="1" spc="8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research</a:t>
            </a:r>
            <a:r>
              <a:rPr sz="2133" b="1" spc="7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generally</a:t>
            </a:r>
            <a:r>
              <a:rPr sz="2133" b="1" spc="8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requires</a:t>
            </a:r>
            <a:r>
              <a:rPr sz="2133" b="1" spc="80" dirty="0">
                <a:solidFill>
                  <a:srgbClr val="212529"/>
                </a:solidFill>
                <a:latin typeface="Century Schoolbook Bold"/>
                <a:cs typeface="Century Schoolbook Bold"/>
              </a:rPr>
              <a:t> </a:t>
            </a:r>
            <a:r>
              <a:rPr sz="2133" b="1" spc="-67" dirty="0">
                <a:solidFill>
                  <a:srgbClr val="212529"/>
                </a:solidFill>
                <a:latin typeface="Century Schoolbook Bold"/>
                <a:cs typeface="Century Schoolbook Bold"/>
              </a:rPr>
              <a:t>a </a:t>
            </a:r>
            <a:r>
              <a:rPr sz="2133" b="1" dirty="0">
                <a:solidFill>
                  <a:srgbClr val="212529"/>
                </a:solidFill>
                <a:latin typeface="Century Schoolbook Bold"/>
                <a:cs typeface="Century Schoolbook Bold"/>
              </a:rPr>
              <a:t>sophisticated</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lab</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to</a:t>
            </a:r>
            <a:r>
              <a:rPr sz="2133" b="1" spc="20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work</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in</a:t>
            </a:r>
            <a:r>
              <a:rPr sz="2133" b="1" spc="20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and</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may</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also</a:t>
            </a:r>
            <a:r>
              <a:rPr sz="2133" b="1" spc="20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need</a:t>
            </a:r>
            <a:r>
              <a:rPr sz="2133" b="1" spc="19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expansive</a:t>
            </a:r>
            <a:r>
              <a:rPr sz="2133" b="1" spc="20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utilities</a:t>
            </a:r>
            <a:r>
              <a:rPr sz="2133" b="1" spc="193" dirty="0">
                <a:solidFill>
                  <a:srgbClr val="212529"/>
                </a:solidFill>
                <a:latin typeface="Century Schoolbook Bold"/>
                <a:cs typeface="Century Schoolbook Bold"/>
              </a:rPr>
              <a:t> </a:t>
            </a:r>
            <a:r>
              <a:rPr sz="2133" b="1" spc="-33" dirty="0">
                <a:solidFill>
                  <a:srgbClr val="212529"/>
                </a:solidFill>
                <a:latin typeface="Century Schoolbook Bold"/>
                <a:cs typeface="Century Schoolbook Bold"/>
              </a:rPr>
              <a:t>and </a:t>
            </a:r>
            <a:r>
              <a:rPr sz="2133" b="1" dirty="0">
                <a:solidFill>
                  <a:srgbClr val="212529"/>
                </a:solidFill>
                <a:latin typeface="Century Schoolbook Bold"/>
                <a:cs typeface="Century Schoolbook Bold"/>
              </a:rPr>
              <a:t>model</a:t>
            </a:r>
            <a:r>
              <a:rPr sz="2133" b="1" spc="-3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organisms.</a:t>
            </a:r>
            <a:endParaRPr sz="2133" dirty="0">
              <a:latin typeface="Century Schoolbook Bold"/>
              <a:cs typeface="Century Schoolbook Bold"/>
            </a:endParaRPr>
          </a:p>
          <a:p>
            <a:pPr marL="1236102" marR="8466" indent="-571486" algn="just"/>
            <a:r>
              <a:rPr sz="2133" b="1" dirty="0">
                <a:solidFill>
                  <a:srgbClr val="212529"/>
                </a:solidFill>
                <a:latin typeface="MS PMincho"/>
                <a:cs typeface="MS PMincho"/>
              </a:rPr>
              <a:t>★</a:t>
            </a:r>
            <a:r>
              <a:rPr sz="2133" b="1" spc="460" dirty="0">
                <a:solidFill>
                  <a:srgbClr val="212529"/>
                </a:solidFill>
                <a:latin typeface="MS PMincho"/>
                <a:cs typeface="MS PMincho"/>
              </a:rPr>
              <a:t>  </a:t>
            </a:r>
            <a:r>
              <a:rPr sz="2133" b="1" dirty="0">
                <a:solidFill>
                  <a:srgbClr val="212529"/>
                </a:solidFill>
                <a:latin typeface="Century Schoolbook Bold"/>
                <a:cs typeface="Century Schoolbook Bold"/>
              </a:rPr>
              <a:t>The</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experiments</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are</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normally</a:t>
            </a:r>
            <a:r>
              <a:rPr sz="2133" b="1" spc="5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long,</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delicate</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and</a:t>
            </a:r>
            <a:r>
              <a:rPr sz="2133" b="1" spc="5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sometimes</a:t>
            </a:r>
            <a:r>
              <a:rPr sz="2133" b="1" spc="4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risky</a:t>
            </a:r>
            <a:r>
              <a:rPr sz="2133" b="1" spc="5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to</a:t>
            </a:r>
            <a:r>
              <a:rPr sz="2133" b="1" spc="47" dirty="0">
                <a:solidFill>
                  <a:srgbClr val="212529"/>
                </a:solidFill>
                <a:latin typeface="Century Schoolbook Bold"/>
                <a:cs typeface="Century Schoolbook Bold"/>
              </a:rPr>
              <a:t> </a:t>
            </a:r>
            <a:r>
              <a:rPr sz="2133" b="1" spc="-33" dirty="0">
                <a:solidFill>
                  <a:srgbClr val="212529"/>
                </a:solidFill>
                <a:latin typeface="Century Schoolbook Bold"/>
                <a:cs typeface="Century Schoolbook Bold"/>
              </a:rPr>
              <a:t>the </a:t>
            </a:r>
            <a:r>
              <a:rPr sz="2133" b="1" spc="-13" dirty="0">
                <a:solidFill>
                  <a:srgbClr val="212529"/>
                </a:solidFill>
                <a:latin typeface="Century Schoolbook Bold"/>
                <a:cs typeface="Century Schoolbook Bold"/>
              </a:rPr>
              <a:t>researchers</a:t>
            </a:r>
            <a:endParaRPr sz="2133" dirty="0">
              <a:latin typeface="Century Schoolbook Bold"/>
              <a:cs typeface="Century Schoolbook Bold"/>
            </a:endParaRPr>
          </a:p>
          <a:p>
            <a:pPr>
              <a:spcBef>
                <a:spcPts val="2552"/>
              </a:spcBef>
            </a:pPr>
            <a:endParaRPr sz="2133" dirty="0">
              <a:latin typeface="Century Schoolbook Bold"/>
              <a:cs typeface="Century Schoolbook Bold"/>
            </a:endParaRPr>
          </a:p>
          <a:p>
            <a:pPr marL="16933" marR="18626"/>
            <a:r>
              <a:rPr sz="2133" b="1" dirty="0">
                <a:solidFill>
                  <a:srgbClr val="212529"/>
                </a:solidFill>
                <a:latin typeface="Century Schoolbook Bold"/>
                <a:cs typeface="Century Schoolbook Bold"/>
              </a:rPr>
              <a:t>Let’s</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take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an</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example</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drug</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discovery</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of</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disease</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and</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see</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it</a:t>
            </a:r>
            <a:r>
              <a:rPr sz="2133" b="1" spc="3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in</a:t>
            </a:r>
            <a:r>
              <a:rPr sz="2133" b="1" spc="367"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both</a:t>
            </a:r>
            <a:r>
              <a:rPr sz="2133" b="1" spc="360"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ways: conventional</a:t>
            </a:r>
            <a:r>
              <a:rPr sz="2133" b="1" spc="-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biological</a:t>
            </a:r>
            <a:r>
              <a:rPr sz="2133" b="1" spc="-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approach</a:t>
            </a:r>
            <a:r>
              <a:rPr sz="2133" b="1" spc="-60"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and</a:t>
            </a:r>
            <a:r>
              <a:rPr sz="2133" b="1" spc="-5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bioinformatic</a:t>
            </a:r>
            <a:r>
              <a:rPr sz="2133" b="1" spc="-60"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approach.</a:t>
            </a:r>
            <a:endParaRPr sz="2133" dirty="0">
              <a:latin typeface="Century Schoolbook Bold"/>
              <a:cs typeface="Century Schoolbook Bold"/>
            </a:endParaRP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36</a:t>
            </a:fld>
            <a:endParaRPr spc="-33" dirty="0"/>
          </a:p>
        </p:txBody>
      </p:sp>
    </p:spTree>
    <p:extLst>
      <p:ext uri="{BB962C8B-B14F-4D97-AF65-F5344CB8AC3E}">
        <p14:creationId xmlns:p14="http://schemas.microsoft.com/office/powerpoint/2010/main" val="28563729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8559" y="-145413"/>
            <a:ext cx="9055100" cy="1371315"/>
          </a:xfrm>
          <a:prstGeom prst="rect">
            <a:avLst/>
          </a:prstGeom>
        </p:spPr>
        <p:txBody>
          <a:bodyPr vert="horz" wrap="square" lIns="0" tIns="16933" rIns="0" bIns="0" rtlCol="0" anchor="ctr">
            <a:spAutoFit/>
          </a:bodyPr>
          <a:lstStyle/>
          <a:p>
            <a:pPr marL="1926965" marR="6773" indent="-1910879">
              <a:lnSpc>
                <a:spcPct val="100000"/>
              </a:lnSpc>
              <a:spcBef>
                <a:spcPts val="133"/>
              </a:spcBef>
            </a:pPr>
            <a:r>
              <a:rPr spc="233" dirty="0"/>
              <a:t>How</a:t>
            </a:r>
            <a:r>
              <a:rPr spc="200" dirty="0"/>
              <a:t> </a:t>
            </a:r>
            <a:r>
              <a:rPr spc="253" dirty="0"/>
              <a:t>is</a:t>
            </a:r>
            <a:r>
              <a:rPr spc="200" dirty="0"/>
              <a:t> </a:t>
            </a:r>
            <a:r>
              <a:rPr spc="347" dirty="0"/>
              <a:t>Bioinformatics</a:t>
            </a:r>
            <a:r>
              <a:rPr spc="207" dirty="0"/>
              <a:t> </a:t>
            </a:r>
            <a:r>
              <a:rPr spc="300" dirty="0"/>
              <a:t>Different</a:t>
            </a:r>
            <a:r>
              <a:rPr spc="200" dirty="0"/>
              <a:t> </a:t>
            </a:r>
            <a:r>
              <a:rPr spc="339" dirty="0"/>
              <a:t>from </a:t>
            </a:r>
            <a:r>
              <a:rPr spc="300" dirty="0"/>
              <a:t>Conventional</a:t>
            </a:r>
            <a:r>
              <a:rPr spc="187" dirty="0"/>
              <a:t> </a:t>
            </a:r>
            <a:r>
              <a:rPr spc="300" dirty="0"/>
              <a:t>Biology</a:t>
            </a:r>
          </a:p>
        </p:txBody>
      </p:sp>
      <p:sp>
        <p:nvSpPr>
          <p:cNvPr id="7" name="object 7"/>
          <p:cNvSpPr txBox="1"/>
          <p:nvPr/>
        </p:nvSpPr>
        <p:spPr>
          <a:xfrm>
            <a:off x="867433" y="6115118"/>
            <a:ext cx="9568179" cy="304421"/>
          </a:xfrm>
          <a:prstGeom prst="rect">
            <a:avLst/>
          </a:prstGeom>
        </p:spPr>
        <p:txBody>
          <a:bodyPr vert="horz" wrap="square" lIns="0" tIns="16933" rIns="0" bIns="0" rtlCol="0">
            <a:spAutoFit/>
          </a:bodyPr>
          <a:lstStyle/>
          <a:p>
            <a:pPr marL="16933">
              <a:spcBef>
                <a:spcPts val="133"/>
              </a:spcBef>
            </a:pPr>
            <a:r>
              <a:rPr sz="1867" b="1" dirty="0">
                <a:latin typeface="Century Schoolbook Bold"/>
                <a:cs typeface="Century Schoolbook Bold"/>
              </a:rPr>
              <a:t>Conventional</a:t>
            </a:r>
            <a:r>
              <a:rPr sz="1867" b="1" spc="-53" dirty="0">
                <a:latin typeface="Century Schoolbook Bold"/>
                <a:cs typeface="Century Schoolbook Bold"/>
              </a:rPr>
              <a:t> </a:t>
            </a:r>
            <a:r>
              <a:rPr sz="1867" b="1" dirty="0">
                <a:latin typeface="Century Schoolbook Bold"/>
                <a:cs typeface="Century Schoolbook Bold"/>
              </a:rPr>
              <a:t>approach</a:t>
            </a:r>
            <a:r>
              <a:rPr sz="1867" b="1" spc="-47" dirty="0">
                <a:latin typeface="Century Schoolbook Bold"/>
                <a:cs typeface="Century Schoolbook Bold"/>
              </a:rPr>
              <a:t> </a:t>
            </a:r>
            <a:r>
              <a:rPr sz="1867" b="1" dirty="0">
                <a:latin typeface="Century Schoolbook Bold"/>
                <a:cs typeface="Century Schoolbook Bold"/>
              </a:rPr>
              <a:t>is</a:t>
            </a:r>
            <a:r>
              <a:rPr sz="1867" b="1" spc="-47" dirty="0">
                <a:latin typeface="Century Schoolbook Bold"/>
                <a:cs typeface="Century Schoolbook Bold"/>
              </a:rPr>
              <a:t> </a:t>
            </a:r>
            <a:r>
              <a:rPr sz="1867" b="1" spc="-27" dirty="0">
                <a:latin typeface="Century Schoolbook Bold"/>
                <a:cs typeface="Century Schoolbook Bold"/>
              </a:rPr>
              <a:t>lengthy,</a:t>
            </a:r>
            <a:r>
              <a:rPr sz="1867" b="1" spc="-47" dirty="0">
                <a:latin typeface="Century Schoolbook Bold"/>
                <a:cs typeface="Century Schoolbook Bold"/>
              </a:rPr>
              <a:t> </a:t>
            </a:r>
            <a:r>
              <a:rPr sz="1867" b="1" dirty="0">
                <a:latin typeface="Century Schoolbook Bold"/>
                <a:cs typeface="Century Schoolbook Bold"/>
              </a:rPr>
              <a:t>expansive</a:t>
            </a:r>
            <a:r>
              <a:rPr sz="1867" b="1" spc="-53" dirty="0">
                <a:latin typeface="Century Schoolbook Bold"/>
                <a:cs typeface="Century Schoolbook Bold"/>
              </a:rPr>
              <a:t> </a:t>
            </a:r>
            <a:r>
              <a:rPr sz="1867" b="1" dirty="0">
                <a:latin typeface="Century Schoolbook Bold"/>
                <a:cs typeface="Century Schoolbook Bold"/>
              </a:rPr>
              <a:t>and</a:t>
            </a:r>
            <a:r>
              <a:rPr sz="1867" b="1" spc="-47" dirty="0">
                <a:latin typeface="Century Schoolbook Bold"/>
                <a:cs typeface="Century Schoolbook Bold"/>
              </a:rPr>
              <a:t> </a:t>
            </a:r>
            <a:r>
              <a:rPr sz="1867" b="1" dirty="0">
                <a:latin typeface="Century Schoolbook Bold"/>
                <a:cs typeface="Century Schoolbook Bold"/>
              </a:rPr>
              <a:t>risky</a:t>
            </a:r>
            <a:r>
              <a:rPr sz="1867" b="1" spc="-47" dirty="0">
                <a:latin typeface="Century Schoolbook Bold"/>
                <a:cs typeface="Century Schoolbook Bold"/>
              </a:rPr>
              <a:t> </a:t>
            </a:r>
            <a:r>
              <a:rPr sz="1867" b="1" dirty="0">
                <a:latin typeface="Century Schoolbook Bold"/>
                <a:cs typeface="Century Schoolbook Bold"/>
              </a:rPr>
              <a:t>with</a:t>
            </a:r>
            <a:r>
              <a:rPr sz="1867" b="1" spc="-47" dirty="0">
                <a:latin typeface="Century Schoolbook Bold"/>
                <a:cs typeface="Century Schoolbook Bold"/>
              </a:rPr>
              <a:t> </a:t>
            </a:r>
            <a:r>
              <a:rPr sz="1867" b="1" dirty="0">
                <a:latin typeface="Century Schoolbook Bold"/>
                <a:cs typeface="Century Schoolbook Bold"/>
              </a:rPr>
              <a:t>high</a:t>
            </a:r>
            <a:r>
              <a:rPr sz="1867" b="1" spc="-47" dirty="0">
                <a:latin typeface="Century Schoolbook Bold"/>
                <a:cs typeface="Century Schoolbook Bold"/>
              </a:rPr>
              <a:t> </a:t>
            </a:r>
            <a:r>
              <a:rPr sz="1867" b="1" dirty="0">
                <a:latin typeface="Century Schoolbook Bold"/>
                <a:cs typeface="Century Schoolbook Bold"/>
              </a:rPr>
              <a:t>failure</a:t>
            </a:r>
            <a:r>
              <a:rPr sz="1867" b="1" spc="-53" dirty="0">
                <a:latin typeface="Century Schoolbook Bold"/>
                <a:cs typeface="Century Schoolbook Bold"/>
              </a:rPr>
              <a:t> </a:t>
            </a:r>
            <a:r>
              <a:rPr sz="1867" b="1" spc="-13" dirty="0">
                <a:latin typeface="Century Schoolbook Bold"/>
                <a:cs typeface="Century Schoolbook Bold"/>
              </a:rPr>
              <a:t>rate.</a:t>
            </a:r>
            <a:endParaRPr sz="1867">
              <a:latin typeface="Century Schoolbook Bold"/>
              <a:cs typeface="Century Schoolbook Bold"/>
            </a:endParaRP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37</a:t>
            </a:fld>
            <a:endParaRPr spc="-33"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629" y="1184356"/>
            <a:ext cx="10829026" cy="4930762"/>
          </a:xfrm>
          <a:prstGeom prst="rect">
            <a:avLst/>
          </a:prstGeom>
        </p:spPr>
      </p:pic>
    </p:spTree>
    <p:extLst>
      <p:ext uri="{BB962C8B-B14F-4D97-AF65-F5344CB8AC3E}">
        <p14:creationId xmlns:p14="http://schemas.microsoft.com/office/powerpoint/2010/main" val="193437035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68559" y="-145413"/>
            <a:ext cx="9055100" cy="1371315"/>
          </a:xfrm>
          <a:prstGeom prst="rect">
            <a:avLst/>
          </a:prstGeom>
        </p:spPr>
        <p:txBody>
          <a:bodyPr vert="horz" wrap="square" lIns="0" tIns="16933" rIns="0" bIns="0" rtlCol="0" anchor="ctr">
            <a:spAutoFit/>
          </a:bodyPr>
          <a:lstStyle/>
          <a:p>
            <a:pPr marL="1926965" marR="6773" indent="-1910879">
              <a:lnSpc>
                <a:spcPct val="100000"/>
              </a:lnSpc>
              <a:spcBef>
                <a:spcPts val="133"/>
              </a:spcBef>
            </a:pPr>
            <a:r>
              <a:rPr spc="233" dirty="0"/>
              <a:t>How</a:t>
            </a:r>
            <a:r>
              <a:rPr spc="200" dirty="0"/>
              <a:t> </a:t>
            </a:r>
            <a:r>
              <a:rPr spc="253" dirty="0"/>
              <a:t>is</a:t>
            </a:r>
            <a:r>
              <a:rPr spc="200" dirty="0"/>
              <a:t> </a:t>
            </a:r>
            <a:r>
              <a:rPr spc="347" dirty="0"/>
              <a:t>Bioinformatics</a:t>
            </a:r>
            <a:r>
              <a:rPr spc="207" dirty="0"/>
              <a:t> </a:t>
            </a:r>
            <a:r>
              <a:rPr spc="300" dirty="0"/>
              <a:t>Different</a:t>
            </a:r>
            <a:r>
              <a:rPr spc="200" dirty="0"/>
              <a:t> </a:t>
            </a:r>
            <a:r>
              <a:rPr spc="339" dirty="0"/>
              <a:t>from </a:t>
            </a:r>
            <a:r>
              <a:rPr spc="300" dirty="0"/>
              <a:t>Conventional</a:t>
            </a:r>
            <a:r>
              <a:rPr spc="187" dirty="0"/>
              <a:t> </a:t>
            </a:r>
            <a:r>
              <a:rPr spc="300" dirty="0"/>
              <a:t>Biology</a:t>
            </a: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107524">
              <a:spcBef>
                <a:spcPts val="27"/>
              </a:spcBef>
            </a:pPr>
            <a:fld id="{81D60167-4931-47E6-BA6A-407CBD079E47}" type="slidenum">
              <a:rPr spc="-33" dirty="0"/>
              <a:pPr marL="107524">
                <a:spcBef>
                  <a:spcPts val="27"/>
                </a:spcBef>
              </a:pPr>
              <a:t>38</a:t>
            </a:fld>
            <a:endParaRPr spc="-33" dirty="0"/>
          </a:p>
        </p:txBody>
      </p:sp>
      <p:sp>
        <p:nvSpPr>
          <p:cNvPr id="12" name="AutoShape 2" descr="19c07839-1b68-4572-8069-397b417fb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AutoShape 2" descr="Bioinformatics Drug Discovery Pipeline"/>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909" y="1378302"/>
            <a:ext cx="10820400" cy="4926835"/>
          </a:xfrm>
          <a:prstGeom prst="rect">
            <a:avLst/>
          </a:prstGeom>
        </p:spPr>
      </p:pic>
      <p:sp>
        <p:nvSpPr>
          <p:cNvPr id="5" name="TextBox 4"/>
          <p:cNvSpPr txBox="1"/>
          <p:nvPr/>
        </p:nvSpPr>
        <p:spPr>
          <a:xfrm>
            <a:off x="2441276" y="5460521"/>
            <a:ext cx="6280030" cy="369332"/>
          </a:xfrm>
          <a:prstGeom prst="rect">
            <a:avLst/>
          </a:prstGeom>
          <a:solidFill>
            <a:schemeClr val="bg1"/>
          </a:solidFill>
        </p:spPr>
        <p:txBody>
          <a:bodyPr wrap="square" rtlCol="0">
            <a:spAutoFit/>
          </a:bodyPr>
          <a:lstStyle/>
          <a:p>
            <a:r>
              <a:rPr lang="en-US" dirty="0">
                <a:solidFill>
                  <a:srgbClr val="FF0000"/>
                </a:solidFill>
              </a:rPr>
              <a:t>5–8 years (sometimes faster)</a:t>
            </a:r>
          </a:p>
        </p:txBody>
      </p:sp>
    </p:spTree>
    <p:extLst>
      <p:ext uri="{BB962C8B-B14F-4D97-AF65-F5344CB8AC3E}">
        <p14:creationId xmlns:p14="http://schemas.microsoft.com/office/powerpoint/2010/main" val="2628702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rtificial Intelligence-Based Methods for Drug Repurposing and Development in Cancer | MDPI"/>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590216" y="414068"/>
            <a:ext cx="11425072" cy="62455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23114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3196933">
              <a:lnSpc>
                <a:spcPct val="100000"/>
              </a:lnSpc>
              <a:spcBef>
                <a:spcPts val="133"/>
              </a:spcBef>
            </a:pPr>
            <a:r>
              <a:rPr spc="313" dirty="0"/>
              <a:t>Biological</a:t>
            </a:r>
            <a:r>
              <a:rPr spc="193" dirty="0"/>
              <a:t> </a:t>
            </a:r>
            <a:r>
              <a:rPr spc="347" dirty="0"/>
              <a:t>Database</a:t>
            </a:r>
          </a:p>
        </p:txBody>
      </p:sp>
      <p:grpSp>
        <p:nvGrpSpPr>
          <p:cNvPr id="3" name="object 3"/>
          <p:cNvGrpSpPr/>
          <p:nvPr/>
        </p:nvGrpSpPr>
        <p:grpSpPr>
          <a:xfrm>
            <a:off x="166936" y="485015"/>
            <a:ext cx="11960013" cy="5594773"/>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415599" y="1753933"/>
            <a:ext cx="11463020" cy="760763"/>
          </a:xfrm>
          <a:prstGeom prst="rect">
            <a:avLst/>
          </a:prstGeom>
          <a:solidFill>
            <a:srgbClr val="EAD1DC"/>
          </a:solidFill>
        </p:spPr>
        <p:txBody>
          <a:bodyPr vert="horz" wrap="square" lIns="0" tIns="103293" rIns="0" bIns="0" rtlCol="0">
            <a:spAutoFit/>
          </a:bodyPr>
          <a:lstStyle/>
          <a:p>
            <a:pPr marL="114297" marR="115144">
              <a:spcBef>
                <a:spcPts val="813"/>
              </a:spcBef>
            </a:pPr>
            <a:r>
              <a:rPr sz="2133" dirty="0">
                <a:latin typeface="Century Schoolbook"/>
                <a:cs typeface="Century Schoolbook"/>
              </a:rPr>
              <a:t>These</a:t>
            </a:r>
            <a:r>
              <a:rPr sz="2133" spc="167" dirty="0">
                <a:latin typeface="Century Schoolbook"/>
                <a:cs typeface="Century Schoolbook"/>
              </a:rPr>
              <a:t> </a:t>
            </a:r>
            <a:r>
              <a:rPr sz="2133" dirty="0">
                <a:latin typeface="Century Schoolbook"/>
                <a:cs typeface="Century Schoolbook"/>
              </a:rPr>
              <a:t>are</a:t>
            </a:r>
            <a:r>
              <a:rPr sz="2133" spc="167" dirty="0">
                <a:latin typeface="Century Schoolbook"/>
                <a:cs typeface="Century Schoolbook"/>
              </a:rPr>
              <a:t> </a:t>
            </a:r>
            <a:r>
              <a:rPr sz="2133" dirty="0">
                <a:latin typeface="Century Schoolbook"/>
                <a:cs typeface="Century Schoolbook"/>
              </a:rPr>
              <a:t>the</a:t>
            </a:r>
            <a:r>
              <a:rPr sz="2133" spc="167" dirty="0">
                <a:latin typeface="Century Schoolbook"/>
                <a:cs typeface="Century Schoolbook"/>
              </a:rPr>
              <a:t> </a:t>
            </a:r>
            <a:r>
              <a:rPr sz="2133" dirty="0">
                <a:latin typeface="Century Schoolbook"/>
                <a:cs typeface="Century Schoolbook"/>
              </a:rPr>
              <a:t>databases</a:t>
            </a:r>
            <a:r>
              <a:rPr sz="2133" spc="167" dirty="0">
                <a:latin typeface="Century Schoolbook"/>
                <a:cs typeface="Century Schoolbook"/>
              </a:rPr>
              <a:t> </a:t>
            </a:r>
            <a:r>
              <a:rPr sz="2133" dirty="0">
                <a:latin typeface="Century Schoolbook"/>
                <a:cs typeface="Century Schoolbook"/>
              </a:rPr>
              <a:t>consisting</a:t>
            </a:r>
            <a:r>
              <a:rPr sz="2133" spc="167" dirty="0">
                <a:latin typeface="Century Schoolbook"/>
                <a:cs typeface="Century Schoolbook"/>
              </a:rPr>
              <a:t> </a:t>
            </a:r>
            <a:r>
              <a:rPr sz="2133" dirty="0">
                <a:latin typeface="Century Schoolbook"/>
                <a:cs typeface="Century Schoolbook"/>
              </a:rPr>
              <a:t>of</a:t>
            </a:r>
            <a:r>
              <a:rPr sz="2133" spc="167" dirty="0">
                <a:latin typeface="Century Schoolbook"/>
                <a:cs typeface="Century Schoolbook"/>
              </a:rPr>
              <a:t> </a:t>
            </a:r>
            <a:r>
              <a:rPr sz="2133" dirty="0">
                <a:latin typeface="Century Schoolbook"/>
                <a:cs typeface="Century Schoolbook"/>
              </a:rPr>
              <a:t>biological</a:t>
            </a:r>
            <a:r>
              <a:rPr sz="2133" spc="167" dirty="0">
                <a:latin typeface="Century Schoolbook"/>
                <a:cs typeface="Century Schoolbook"/>
              </a:rPr>
              <a:t> </a:t>
            </a:r>
            <a:r>
              <a:rPr sz="2133" dirty="0">
                <a:latin typeface="Century Schoolbook"/>
                <a:cs typeface="Century Schoolbook"/>
              </a:rPr>
              <a:t>data</a:t>
            </a:r>
            <a:r>
              <a:rPr sz="2133" spc="167" dirty="0">
                <a:latin typeface="Century Schoolbook"/>
                <a:cs typeface="Century Schoolbook"/>
              </a:rPr>
              <a:t> </a:t>
            </a:r>
            <a:r>
              <a:rPr sz="2133" dirty="0">
                <a:latin typeface="Century Schoolbook"/>
                <a:cs typeface="Century Schoolbook"/>
              </a:rPr>
              <a:t>like</a:t>
            </a:r>
            <a:r>
              <a:rPr sz="2133" spc="167" dirty="0">
                <a:latin typeface="Century Schoolbook"/>
                <a:cs typeface="Century Schoolbook"/>
              </a:rPr>
              <a:t> </a:t>
            </a:r>
            <a:r>
              <a:rPr sz="2133" dirty="0">
                <a:latin typeface="Century Schoolbook"/>
                <a:cs typeface="Century Schoolbook"/>
              </a:rPr>
              <a:t>protein</a:t>
            </a:r>
            <a:r>
              <a:rPr sz="2133" spc="167" dirty="0">
                <a:latin typeface="Century Schoolbook"/>
                <a:cs typeface="Century Schoolbook"/>
              </a:rPr>
              <a:t> </a:t>
            </a:r>
            <a:r>
              <a:rPr sz="2133" dirty="0">
                <a:latin typeface="Century Schoolbook"/>
                <a:cs typeface="Century Schoolbook"/>
              </a:rPr>
              <a:t>sequencing,</a:t>
            </a:r>
            <a:r>
              <a:rPr sz="2133" spc="173" dirty="0">
                <a:latin typeface="Century Schoolbook"/>
                <a:cs typeface="Century Schoolbook"/>
              </a:rPr>
              <a:t> </a:t>
            </a:r>
            <a:r>
              <a:rPr sz="2133" spc="-13" dirty="0">
                <a:latin typeface="Century Schoolbook"/>
                <a:cs typeface="Century Schoolbook"/>
              </a:rPr>
              <a:t>molecular structure,</a:t>
            </a:r>
            <a:r>
              <a:rPr sz="2133" spc="-40" dirty="0">
                <a:latin typeface="Century Schoolbook"/>
                <a:cs typeface="Century Schoolbook"/>
              </a:rPr>
              <a:t> </a:t>
            </a:r>
            <a:r>
              <a:rPr sz="2133" dirty="0">
                <a:latin typeface="Century Schoolbook"/>
                <a:cs typeface="Century Schoolbook"/>
              </a:rPr>
              <a:t>DNA</a:t>
            </a:r>
            <a:r>
              <a:rPr sz="2133" spc="-140" dirty="0">
                <a:latin typeface="Century Schoolbook"/>
                <a:cs typeface="Century Schoolbook"/>
              </a:rPr>
              <a:t> </a:t>
            </a:r>
            <a:r>
              <a:rPr sz="2133" dirty="0">
                <a:latin typeface="Century Schoolbook"/>
                <a:cs typeface="Century Schoolbook"/>
              </a:rPr>
              <a:t>sequences,</a:t>
            </a:r>
            <a:r>
              <a:rPr sz="2133" spc="-33" dirty="0">
                <a:latin typeface="Century Schoolbook"/>
                <a:cs typeface="Century Schoolbook"/>
              </a:rPr>
              <a:t> </a:t>
            </a:r>
            <a:r>
              <a:rPr sz="2133" dirty="0">
                <a:latin typeface="Century Schoolbook"/>
                <a:cs typeface="Century Schoolbook"/>
              </a:rPr>
              <a:t>etc</a:t>
            </a:r>
            <a:r>
              <a:rPr sz="2133" spc="-33" dirty="0">
                <a:latin typeface="Century Schoolbook"/>
                <a:cs typeface="Century Schoolbook"/>
              </a:rPr>
              <a:t> </a:t>
            </a:r>
            <a:r>
              <a:rPr sz="2133" dirty="0">
                <a:latin typeface="Century Schoolbook"/>
                <a:cs typeface="Century Schoolbook"/>
              </a:rPr>
              <a:t>in</a:t>
            </a:r>
            <a:r>
              <a:rPr sz="2133" spc="-33" dirty="0">
                <a:latin typeface="Century Schoolbook"/>
                <a:cs typeface="Century Schoolbook"/>
              </a:rPr>
              <a:t> </a:t>
            </a:r>
            <a:r>
              <a:rPr sz="2133" dirty="0">
                <a:latin typeface="Century Schoolbook"/>
                <a:cs typeface="Century Schoolbook"/>
              </a:rPr>
              <a:t>an</a:t>
            </a:r>
            <a:r>
              <a:rPr sz="2133" spc="-33" dirty="0">
                <a:latin typeface="Century Schoolbook"/>
                <a:cs typeface="Century Schoolbook"/>
              </a:rPr>
              <a:t> </a:t>
            </a:r>
            <a:r>
              <a:rPr sz="2133" spc="-13" dirty="0">
                <a:latin typeface="Century Schoolbook"/>
                <a:cs typeface="Century Schoolbook"/>
              </a:rPr>
              <a:t>organized</a:t>
            </a:r>
            <a:r>
              <a:rPr sz="2133" spc="-33" dirty="0">
                <a:latin typeface="Century Schoolbook"/>
                <a:cs typeface="Century Schoolbook"/>
              </a:rPr>
              <a:t> </a:t>
            </a:r>
            <a:r>
              <a:rPr sz="2133" spc="-13" dirty="0">
                <a:latin typeface="Century Schoolbook"/>
                <a:cs typeface="Century Schoolbook"/>
              </a:rPr>
              <a:t>form.</a:t>
            </a:r>
            <a:endParaRPr sz="2133">
              <a:latin typeface="Century Schoolbook"/>
              <a:cs typeface="Century Schoolbook"/>
            </a:endParaRPr>
          </a:p>
        </p:txBody>
      </p:sp>
      <p:sp>
        <p:nvSpPr>
          <p:cNvPr id="9" name="object 9"/>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40</a:t>
            </a:fld>
            <a:endParaRPr spc="60" dirty="0"/>
          </a:p>
        </p:txBody>
      </p:sp>
      <p:sp>
        <p:nvSpPr>
          <p:cNvPr id="7" name="object 7"/>
          <p:cNvSpPr txBox="1"/>
          <p:nvPr/>
        </p:nvSpPr>
        <p:spPr>
          <a:xfrm>
            <a:off x="415599" y="2837665"/>
            <a:ext cx="11463020" cy="1088995"/>
          </a:xfrm>
          <a:prstGeom prst="rect">
            <a:avLst/>
          </a:prstGeom>
          <a:solidFill>
            <a:srgbClr val="FFE499"/>
          </a:solidFill>
        </p:spPr>
        <p:txBody>
          <a:bodyPr vert="horz" wrap="square" lIns="0" tIns="103293" rIns="0" bIns="0" rtlCol="0">
            <a:spAutoFit/>
          </a:bodyPr>
          <a:lstStyle/>
          <a:p>
            <a:pPr marL="114297" marR="116837" algn="just">
              <a:spcBef>
                <a:spcPts val="813"/>
              </a:spcBef>
            </a:pPr>
            <a:r>
              <a:rPr sz="2133" dirty="0">
                <a:latin typeface="Century Schoolbook"/>
                <a:cs typeface="Century Schoolbook"/>
              </a:rPr>
              <a:t>Several</a:t>
            </a:r>
            <a:r>
              <a:rPr sz="2133" spc="7" dirty="0">
                <a:latin typeface="Century Schoolbook"/>
                <a:cs typeface="Century Schoolbook"/>
              </a:rPr>
              <a:t> </a:t>
            </a:r>
            <a:r>
              <a:rPr sz="2133" dirty="0">
                <a:latin typeface="Century Schoolbook"/>
                <a:cs typeface="Century Schoolbook"/>
              </a:rPr>
              <a:t>computer</a:t>
            </a:r>
            <a:r>
              <a:rPr sz="2133" spc="7" dirty="0">
                <a:latin typeface="Century Schoolbook"/>
                <a:cs typeface="Century Schoolbook"/>
              </a:rPr>
              <a:t> </a:t>
            </a:r>
            <a:r>
              <a:rPr sz="2133" dirty="0">
                <a:latin typeface="Century Schoolbook"/>
                <a:cs typeface="Century Schoolbook"/>
              </a:rPr>
              <a:t>tools</a:t>
            </a:r>
            <a:r>
              <a:rPr sz="2133" spc="7" dirty="0">
                <a:latin typeface="Century Schoolbook"/>
                <a:cs typeface="Century Schoolbook"/>
              </a:rPr>
              <a:t> </a:t>
            </a:r>
            <a:r>
              <a:rPr sz="2133" dirty="0">
                <a:latin typeface="Century Schoolbook"/>
                <a:cs typeface="Century Schoolbook"/>
              </a:rPr>
              <a:t>are</a:t>
            </a:r>
            <a:r>
              <a:rPr sz="2133" spc="7" dirty="0">
                <a:latin typeface="Century Schoolbook"/>
                <a:cs typeface="Century Schoolbook"/>
              </a:rPr>
              <a:t> </a:t>
            </a:r>
            <a:r>
              <a:rPr sz="2133" dirty="0">
                <a:latin typeface="Century Schoolbook"/>
                <a:cs typeface="Century Schoolbook"/>
              </a:rPr>
              <a:t>there</a:t>
            </a:r>
            <a:r>
              <a:rPr sz="2133" spc="7" dirty="0">
                <a:latin typeface="Century Schoolbook"/>
                <a:cs typeface="Century Schoolbook"/>
              </a:rPr>
              <a:t> </a:t>
            </a:r>
            <a:r>
              <a:rPr sz="2133" dirty="0">
                <a:latin typeface="Century Schoolbook"/>
                <a:cs typeface="Century Schoolbook"/>
              </a:rPr>
              <a:t>to</a:t>
            </a:r>
            <a:r>
              <a:rPr sz="2133" spc="7" dirty="0">
                <a:latin typeface="Century Schoolbook"/>
                <a:cs typeface="Century Schoolbook"/>
              </a:rPr>
              <a:t> </a:t>
            </a:r>
            <a:r>
              <a:rPr sz="2133" dirty="0">
                <a:latin typeface="Century Schoolbook"/>
                <a:cs typeface="Century Schoolbook"/>
              </a:rPr>
              <a:t>manipulate</a:t>
            </a:r>
            <a:r>
              <a:rPr sz="2133" spc="7" dirty="0">
                <a:latin typeface="Century Schoolbook"/>
                <a:cs typeface="Century Schoolbook"/>
              </a:rPr>
              <a:t> </a:t>
            </a:r>
            <a:r>
              <a:rPr sz="2133" dirty="0">
                <a:latin typeface="Century Schoolbook"/>
                <a:cs typeface="Century Schoolbook"/>
              </a:rPr>
              <a:t>the</a:t>
            </a:r>
            <a:r>
              <a:rPr sz="2133" spc="7" dirty="0">
                <a:latin typeface="Century Schoolbook"/>
                <a:cs typeface="Century Schoolbook"/>
              </a:rPr>
              <a:t> </a:t>
            </a:r>
            <a:r>
              <a:rPr sz="2133" dirty="0">
                <a:latin typeface="Century Schoolbook"/>
                <a:cs typeface="Century Schoolbook"/>
              </a:rPr>
              <a:t>biological</a:t>
            </a:r>
            <a:r>
              <a:rPr sz="2133" spc="7" dirty="0">
                <a:latin typeface="Century Schoolbook"/>
                <a:cs typeface="Century Schoolbook"/>
              </a:rPr>
              <a:t> </a:t>
            </a:r>
            <a:r>
              <a:rPr sz="2133" dirty="0">
                <a:latin typeface="Century Schoolbook"/>
                <a:cs typeface="Century Schoolbook"/>
              </a:rPr>
              <a:t>data</a:t>
            </a:r>
            <a:r>
              <a:rPr sz="2133" spc="13" dirty="0">
                <a:latin typeface="Century Schoolbook"/>
                <a:cs typeface="Century Schoolbook"/>
              </a:rPr>
              <a:t> </a:t>
            </a:r>
            <a:r>
              <a:rPr sz="2133" dirty="0">
                <a:latin typeface="Century Schoolbook"/>
                <a:cs typeface="Century Schoolbook"/>
              </a:rPr>
              <a:t>like</a:t>
            </a:r>
            <a:r>
              <a:rPr sz="2133" spc="7" dirty="0">
                <a:latin typeface="Century Schoolbook"/>
                <a:cs typeface="Century Schoolbook"/>
              </a:rPr>
              <a:t> </a:t>
            </a:r>
            <a:r>
              <a:rPr sz="2133" dirty="0">
                <a:latin typeface="Century Schoolbook"/>
                <a:cs typeface="Century Schoolbook"/>
              </a:rPr>
              <a:t>an</a:t>
            </a:r>
            <a:r>
              <a:rPr sz="2133" spc="7" dirty="0">
                <a:latin typeface="Century Schoolbook"/>
                <a:cs typeface="Century Schoolbook"/>
              </a:rPr>
              <a:t> </a:t>
            </a:r>
            <a:r>
              <a:rPr sz="2133" dirty="0">
                <a:latin typeface="Century Schoolbook"/>
                <a:cs typeface="Century Schoolbook"/>
              </a:rPr>
              <a:t>update,</a:t>
            </a:r>
            <a:r>
              <a:rPr sz="2133" spc="7" dirty="0">
                <a:latin typeface="Century Schoolbook"/>
                <a:cs typeface="Century Schoolbook"/>
              </a:rPr>
              <a:t> </a:t>
            </a:r>
            <a:r>
              <a:rPr sz="2133" spc="-13" dirty="0">
                <a:latin typeface="Century Schoolbook"/>
                <a:cs typeface="Century Schoolbook"/>
              </a:rPr>
              <a:t>delete, </a:t>
            </a:r>
            <a:r>
              <a:rPr sz="2133" dirty="0">
                <a:latin typeface="Century Schoolbook"/>
                <a:cs typeface="Century Schoolbook"/>
              </a:rPr>
              <a:t>insert,</a:t>
            </a:r>
            <a:r>
              <a:rPr sz="2133" spc="253" dirty="0">
                <a:latin typeface="Century Schoolbook"/>
                <a:cs typeface="Century Schoolbook"/>
              </a:rPr>
              <a:t> </a:t>
            </a:r>
            <a:r>
              <a:rPr sz="2133" dirty="0">
                <a:latin typeface="Century Schoolbook"/>
                <a:cs typeface="Century Schoolbook"/>
              </a:rPr>
              <a:t>etc.</a:t>
            </a:r>
            <a:r>
              <a:rPr sz="2133" spc="260" dirty="0">
                <a:latin typeface="Century Schoolbook"/>
                <a:cs typeface="Century Schoolbook"/>
              </a:rPr>
              <a:t> </a:t>
            </a:r>
            <a:r>
              <a:rPr sz="2133" dirty="0">
                <a:latin typeface="Century Schoolbook"/>
                <a:cs typeface="Century Schoolbook"/>
              </a:rPr>
              <a:t>Scientists,</a:t>
            </a:r>
            <a:r>
              <a:rPr sz="2133" spc="260" dirty="0">
                <a:latin typeface="Century Schoolbook"/>
                <a:cs typeface="Century Schoolbook"/>
              </a:rPr>
              <a:t> </a:t>
            </a:r>
            <a:r>
              <a:rPr sz="2133" dirty="0">
                <a:latin typeface="Century Schoolbook"/>
                <a:cs typeface="Century Schoolbook"/>
              </a:rPr>
              <a:t>researchers</a:t>
            </a:r>
            <a:r>
              <a:rPr sz="2133" spc="260" dirty="0">
                <a:latin typeface="Century Schoolbook"/>
                <a:cs typeface="Century Schoolbook"/>
              </a:rPr>
              <a:t> </a:t>
            </a:r>
            <a:r>
              <a:rPr sz="2133" dirty="0">
                <a:latin typeface="Century Schoolbook"/>
                <a:cs typeface="Century Schoolbook"/>
              </a:rPr>
              <a:t>from</a:t>
            </a:r>
            <a:r>
              <a:rPr sz="2133" spc="267" dirty="0">
                <a:latin typeface="Century Schoolbook"/>
                <a:cs typeface="Century Schoolbook"/>
              </a:rPr>
              <a:t> </a:t>
            </a:r>
            <a:r>
              <a:rPr sz="2133" dirty="0">
                <a:latin typeface="Century Schoolbook"/>
                <a:cs typeface="Century Schoolbook"/>
              </a:rPr>
              <a:t>all</a:t>
            </a:r>
            <a:r>
              <a:rPr sz="2133" spc="253" dirty="0">
                <a:latin typeface="Century Schoolbook"/>
                <a:cs typeface="Century Schoolbook"/>
              </a:rPr>
              <a:t> </a:t>
            </a:r>
            <a:r>
              <a:rPr sz="2133" dirty="0">
                <a:latin typeface="Century Schoolbook"/>
                <a:cs typeface="Century Schoolbook"/>
              </a:rPr>
              <a:t>over</a:t>
            </a:r>
            <a:r>
              <a:rPr sz="2133" spc="260" dirty="0">
                <a:latin typeface="Century Schoolbook"/>
                <a:cs typeface="Century Schoolbook"/>
              </a:rPr>
              <a:t> </a:t>
            </a:r>
            <a:r>
              <a:rPr sz="2133" dirty="0">
                <a:latin typeface="Century Schoolbook"/>
                <a:cs typeface="Century Schoolbook"/>
              </a:rPr>
              <a:t>the</a:t>
            </a:r>
            <a:r>
              <a:rPr sz="2133" spc="267" dirty="0">
                <a:latin typeface="Century Schoolbook"/>
                <a:cs typeface="Century Schoolbook"/>
              </a:rPr>
              <a:t> </a:t>
            </a:r>
            <a:r>
              <a:rPr sz="2133" dirty="0">
                <a:latin typeface="Century Schoolbook"/>
                <a:cs typeface="Century Schoolbook"/>
              </a:rPr>
              <a:t>world</a:t>
            </a:r>
            <a:r>
              <a:rPr sz="2133" spc="267" dirty="0">
                <a:latin typeface="Century Schoolbook"/>
                <a:cs typeface="Century Schoolbook"/>
              </a:rPr>
              <a:t> </a:t>
            </a:r>
            <a:r>
              <a:rPr sz="2133" dirty="0">
                <a:latin typeface="Century Schoolbook"/>
                <a:cs typeface="Century Schoolbook"/>
              </a:rPr>
              <a:t>enter</a:t>
            </a:r>
            <a:r>
              <a:rPr sz="2133" spc="253" dirty="0">
                <a:latin typeface="Century Schoolbook"/>
                <a:cs typeface="Century Schoolbook"/>
              </a:rPr>
              <a:t> </a:t>
            </a:r>
            <a:r>
              <a:rPr sz="2133" dirty="0">
                <a:latin typeface="Century Schoolbook"/>
                <a:cs typeface="Century Schoolbook"/>
              </a:rPr>
              <a:t>their</a:t>
            </a:r>
            <a:r>
              <a:rPr sz="2133" spc="260" dirty="0">
                <a:latin typeface="Century Schoolbook"/>
                <a:cs typeface="Century Schoolbook"/>
              </a:rPr>
              <a:t> </a:t>
            </a:r>
            <a:r>
              <a:rPr sz="2133" dirty="0">
                <a:latin typeface="Century Schoolbook"/>
                <a:cs typeface="Century Schoolbook"/>
              </a:rPr>
              <a:t>experiment</a:t>
            </a:r>
            <a:r>
              <a:rPr sz="2133" spc="267" dirty="0">
                <a:latin typeface="Century Schoolbook"/>
                <a:cs typeface="Century Schoolbook"/>
              </a:rPr>
              <a:t> </a:t>
            </a:r>
            <a:r>
              <a:rPr sz="2133" spc="-27" dirty="0">
                <a:latin typeface="Century Schoolbook"/>
                <a:cs typeface="Century Schoolbook"/>
              </a:rPr>
              <a:t>data </a:t>
            </a:r>
            <a:r>
              <a:rPr sz="2133" dirty="0">
                <a:latin typeface="Century Schoolbook"/>
                <a:cs typeface="Century Schoolbook"/>
              </a:rPr>
              <a:t>and</a:t>
            </a:r>
            <a:r>
              <a:rPr sz="2133" spc="-33" dirty="0">
                <a:latin typeface="Century Schoolbook"/>
                <a:cs typeface="Century Schoolbook"/>
              </a:rPr>
              <a:t> </a:t>
            </a:r>
            <a:r>
              <a:rPr sz="2133" dirty="0">
                <a:latin typeface="Century Schoolbook"/>
                <a:cs typeface="Century Schoolbook"/>
              </a:rPr>
              <a:t>results</a:t>
            </a:r>
            <a:r>
              <a:rPr sz="2133" spc="-27" dirty="0">
                <a:latin typeface="Century Schoolbook"/>
                <a:cs typeface="Century Schoolbook"/>
              </a:rPr>
              <a:t> </a:t>
            </a:r>
            <a:r>
              <a:rPr sz="2133" dirty="0">
                <a:latin typeface="Century Schoolbook"/>
                <a:cs typeface="Century Schoolbook"/>
              </a:rPr>
              <a:t>in</a:t>
            </a:r>
            <a:r>
              <a:rPr sz="2133" spc="-27" dirty="0">
                <a:latin typeface="Century Schoolbook"/>
                <a:cs typeface="Century Schoolbook"/>
              </a:rPr>
              <a:t> </a:t>
            </a:r>
            <a:r>
              <a:rPr sz="2133" dirty="0">
                <a:latin typeface="Century Schoolbook"/>
                <a:cs typeface="Century Schoolbook"/>
              </a:rPr>
              <a:t>a</a:t>
            </a:r>
            <a:r>
              <a:rPr sz="2133" spc="-27" dirty="0">
                <a:latin typeface="Century Schoolbook"/>
                <a:cs typeface="Century Schoolbook"/>
              </a:rPr>
              <a:t> </a:t>
            </a:r>
            <a:r>
              <a:rPr sz="2133" dirty="0">
                <a:latin typeface="Century Schoolbook"/>
                <a:cs typeface="Century Schoolbook"/>
              </a:rPr>
              <a:t>biological</a:t>
            </a:r>
            <a:r>
              <a:rPr sz="2133" spc="-27" dirty="0">
                <a:latin typeface="Century Schoolbook"/>
                <a:cs typeface="Century Schoolbook"/>
              </a:rPr>
              <a:t> </a:t>
            </a:r>
            <a:r>
              <a:rPr sz="2133" dirty="0">
                <a:latin typeface="Century Schoolbook"/>
                <a:cs typeface="Century Schoolbook"/>
              </a:rPr>
              <a:t>database</a:t>
            </a:r>
            <a:r>
              <a:rPr sz="2133" spc="-27" dirty="0">
                <a:latin typeface="Century Schoolbook"/>
                <a:cs typeface="Century Schoolbook"/>
              </a:rPr>
              <a:t> </a:t>
            </a:r>
            <a:r>
              <a:rPr sz="2133" dirty="0">
                <a:latin typeface="Century Schoolbook"/>
                <a:cs typeface="Century Schoolbook"/>
              </a:rPr>
              <a:t>so</a:t>
            </a:r>
            <a:r>
              <a:rPr sz="2133" spc="-27" dirty="0">
                <a:latin typeface="Century Schoolbook"/>
                <a:cs typeface="Century Schoolbook"/>
              </a:rPr>
              <a:t> </a:t>
            </a:r>
            <a:r>
              <a:rPr sz="2133" dirty="0">
                <a:latin typeface="Century Schoolbook"/>
                <a:cs typeface="Century Schoolbook"/>
              </a:rPr>
              <a:t>that</a:t>
            </a:r>
            <a:r>
              <a:rPr sz="2133" spc="-33" dirty="0">
                <a:latin typeface="Century Schoolbook"/>
                <a:cs typeface="Century Schoolbook"/>
              </a:rPr>
              <a:t> </a:t>
            </a:r>
            <a:r>
              <a:rPr sz="2133" dirty="0">
                <a:latin typeface="Century Schoolbook"/>
                <a:cs typeface="Century Schoolbook"/>
              </a:rPr>
              <a:t>it</a:t>
            </a:r>
            <a:r>
              <a:rPr sz="2133" spc="-27" dirty="0">
                <a:latin typeface="Century Schoolbook"/>
                <a:cs typeface="Century Schoolbook"/>
              </a:rPr>
              <a:t> </a:t>
            </a:r>
            <a:r>
              <a:rPr sz="2133" dirty="0">
                <a:latin typeface="Century Schoolbook"/>
                <a:cs typeface="Century Schoolbook"/>
              </a:rPr>
              <a:t>is</a:t>
            </a:r>
            <a:r>
              <a:rPr sz="2133" spc="-27" dirty="0">
                <a:latin typeface="Century Schoolbook"/>
                <a:cs typeface="Century Schoolbook"/>
              </a:rPr>
              <a:t> </a:t>
            </a:r>
            <a:r>
              <a:rPr sz="2133" dirty="0">
                <a:latin typeface="Century Schoolbook"/>
                <a:cs typeface="Century Schoolbook"/>
              </a:rPr>
              <a:t>available</a:t>
            </a:r>
            <a:r>
              <a:rPr sz="2133" spc="-27" dirty="0">
                <a:latin typeface="Century Schoolbook"/>
                <a:cs typeface="Century Schoolbook"/>
              </a:rPr>
              <a:t> </a:t>
            </a:r>
            <a:r>
              <a:rPr sz="2133" dirty="0">
                <a:latin typeface="Century Schoolbook"/>
                <a:cs typeface="Century Schoolbook"/>
              </a:rPr>
              <a:t>to</a:t>
            </a:r>
            <a:r>
              <a:rPr sz="2133" spc="-27" dirty="0">
                <a:latin typeface="Century Schoolbook"/>
                <a:cs typeface="Century Schoolbook"/>
              </a:rPr>
              <a:t> </a:t>
            </a:r>
            <a:r>
              <a:rPr sz="2133" dirty="0">
                <a:latin typeface="Century Schoolbook"/>
                <a:cs typeface="Century Schoolbook"/>
              </a:rPr>
              <a:t>a</a:t>
            </a:r>
            <a:r>
              <a:rPr sz="2133" spc="-27" dirty="0">
                <a:latin typeface="Century Schoolbook"/>
                <a:cs typeface="Century Schoolbook"/>
              </a:rPr>
              <a:t> </a:t>
            </a:r>
            <a:r>
              <a:rPr sz="2133" dirty="0">
                <a:latin typeface="Century Schoolbook"/>
                <a:cs typeface="Century Schoolbook"/>
              </a:rPr>
              <a:t>wider</a:t>
            </a:r>
            <a:r>
              <a:rPr sz="2133" spc="-27" dirty="0">
                <a:latin typeface="Century Schoolbook"/>
                <a:cs typeface="Century Schoolbook"/>
              </a:rPr>
              <a:t> </a:t>
            </a:r>
            <a:r>
              <a:rPr sz="2133" spc="-13" dirty="0">
                <a:latin typeface="Century Schoolbook"/>
                <a:cs typeface="Century Schoolbook"/>
              </a:rPr>
              <a:t>audience.</a:t>
            </a:r>
            <a:endParaRPr sz="2133">
              <a:latin typeface="Century Schoolbook"/>
              <a:cs typeface="Century Schoolbook"/>
            </a:endParaRPr>
          </a:p>
        </p:txBody>
      </p:sp>
      <p:sp>
        <p:nvSpPr>
          <p:cNvPr id="8" name="object 8"/>
          <p:cNvSpPr txBox="1"/>
          <p:nvPr/>
        </p:nvSpPr>
        <p:spPr>
          <a:xfrm>
            <a:off x="415433" y="4242232"/>
            <a:ext cx="11463020" cy="760763"/>
          </a:xfrm>
          <a:prstGeom prst="rect">
            <a:avLst/>
          </a:prstGeom>
          <a:solidFill>
            <a:srgbClr val="FFE499"/>
          </a:solidFill>
        </p:spPr>
        <p:txBody>
          <a:bodyPr vert="horz" wrap="square" lIns="0" tIns="103293" rIns="0" bIns="0" rtlCol="0">
            <a:spAutoFit/>
          </a:bodyPr>
          <a:lstStyle/>
          <a:p>
            <a:pPr marL="114297" marR="119377">
              <a:spcBef>
                <a:spcPts val="813"/>
              </a:spcBef>
            </a:pPr>
            <a:r>
              <a:rPr sz="2133" dirty="0">
                <a:latin typeface="Century Schoolbook"/>
                <a:cs typeface="Century Schoolbook"/>
              </a:rPr>
              <a:t>Biological</a:t>
            </a:r>
            <a:r>
              <a:rPr sz="2133" spc="-7" dirty="0">
                <a:latin typeface="Century Schoolbook"/>
                <a:cs typeface="Century Schoolbook"/>
              </a:rPr>
              <a:t> </a:t>
            </a:r>
            <a:r>
              <a:rPr sz="2133" dirty="0">
                <a:latin typeface="Century Schoolbook"/>
                <a:cs typeface="Century Schoolbook"/>
              </a:rPr>
              <a:t>databases</a:t>
            </a:r>
            <a:r>
              <a:rPr sz="2133" spc="-7" dirty="0">
                <a:latin typeface="Century Schoolbook"/>
                <a:cs typeface="Century Schoolbook"/>
              </a:rPr>
              <a:t> </a:t>
            </a:r>
            <a:r>
              <a:rPr sz="2133" dirty="0">
                <a:latin typeface="Century Schoolbook"/>
                <a:cs typeface="Century Schoolbook"/>
              </a:rPr>
              <a:t>are</a:t>
            </a:r>
            <a:r>
              <a:rPr sz="2133" spc="7" dirty="0">
                <a:latin typeface="Century Schoolbook"/>
                <a:cs typeface="Century Schoolbook"/>
              </a:rPr>
              <a:t> </a:t>
            </a:r>
            <a:r>
              <a:rPr sz="2133" dirty="0">
                <a:latin typeface="Century Schoolbook"/>
                <a:cs typeface="Century Schoolbook"/>
              </a:rPr>
              <a:t>free to use</a:t>
            </a:r>
            <a:r>
              <a:rPr sz="2133" spc="7" dirty="0">
                <a:latin typeface="Century Schoolbook"/>
                <a:cs typeface="Century Schoolbook"/>
              </a:rPr>
              <a:t> </a:t>
            </a:r>
            <a:r>
              <a:rPr sz="2133" dirty="0">
                <a:latin typeface="Century Schoolbook"/>
                <a:cs typeface="Century Schoolbook"/>
              </a:rPr>
              <a:t>and contain</a:t>
            </a:r>
            <a:r>
              <a:rPr sz="2133" spc="-7" dirty="0">
                <a:latin typeface="Century Schoolbook"/>
                <a:cs typeface="Century Schoolbook"/>
              </a:rPr>
              <a:t> </a:t>
            </a:r>
            <a:r>
              <a:rPr sz="2133" dirty="0">
                <a:latin typeface="Century Schoolbook"/>
                <a:cs typeface="Century Schoolbook"/>
              </a:rPr>
              <a:t>a</a:t>
            </a:r>
            <a:r>
              <a:rPr sz="2133" spc="7" dirty="0">
                <a:latin typeface="Century Schoolbook"/>
                <a:cs typeface="Century Schoolbook"/>
              </a:rPr>
              <a:t> </a:t>
            </a:r>
            <a:r>
              <a:rPr sz="2133" dirty="0">
                <a:latin typeface="Century Schoolbook"/>
                <a:cs typeface="Century Schoolbook"/>
              </a:rPr>
              <a:t>huge collection</a:t>
            </a:r>
            <a:r>
              <a:rPr sz="2133" spc="-7" dirty="0">
                <a:latin typeface="Century Schoolbook"/>
                <a:cs typeface="Century Schoolbook"/>
              </a:rPr>
              <a:t> </a:t>
            </a:r>
            <a:r>
              <a:rPr sz="2133" dirty="0">
                <a:latin typeface="Century Schoolbook"/>
                <a:cs typeface="Century Schoolbook"/>
              </a:rPr>
              <a:t>of</a:t>
            </a:r>
            <a:r>
              <a:rPr sz="2133" spc="7" dirty="0">
                <a:latin typeface="Century Schoolbook"/>
                <a:cs typeface="Century Schoolbook"/>
              </a:rPr>
              <a:t> </a:t>
            </a:r>
            <a:r>
              <a:rPr sz="2133" dirty="0">
                <a:latin typeface="Century Schoolbook"/>
                <a:cs typeface="Century Schoolbook"/>
              </a:rPr>
              <a:t>a variety of</a:t>
            </a:r>
            <a:r>
              <a:rPr sz="2133" spc="7" dirty="0">
                <a:latin typeface="Century Schoolbook"/>
                <a:cs typeface="Century Schoolbook"/>
              </a:rPr>
              <a:t> </a:t>
            </a:r>
            <a:r>
              <a:rPr sz="2133" spc="-13" dirty="0">
                <a:latin typeface="Century Schoolbook"/>
                <a:cs typeface="Century Schoolbook"/>
              </a:rPr>
              <a:t>biological data.</a:t>
            </a:r>
            <a:endParaRPr sz="2133">
              <a:latin typeface="Century Schoolbook"/>
              <a:cs typeface="Century Schoolbook"/>
            </a:endParaRPr>
          </a:p>
        </p:txBody>
      </p:sp>
    </p:spTree>
    <p:extLst>
      <p:ext uri="{BB962C8B-B14F-4D97-AF65-F5344CB8AC3E}">
        <p14:creationId xmlns:p14="http://schemas.microsoft.com/office/powerpoint/2010/main" val="8980248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2275783">
              <a:lnSpc>
                <a:spcPct val="100000"/>
              </a:lnSpc>
              <a:spcBef>
                <a:spcPts val="133"/>
              </a:spcBef>
            </a:pPr>
            <a:r>
              <a:rPr spc="260" dirty="0"/>
              <a:t>Uses</a:t>
            </a:r>
            <a:r>
              <a:rPr spc="193" dirty="0"/>
              <a:t> </a:t>
            </a:r>
            <a:r>
              <a:rPr spc="233" dirty="0"/>
              <a:t>of</a:t>
            </a:r>
            <a:r>
              <a:rPr spc="193" dirty="0"/>
              <a:t> </a:t>
            </a:r>
            <a:r>
              <a:rPr spc="313" dirty="0"/>
              <a:t>Biological</a:t>
            </a:r>
            <a:r>
              <a:rPr spc="193" dirty="0"/>
              <a:t> </a:t>
            </a:r>
            <a:r>
              <a:rPr spc="347" dirty="0"/>
              <a:t>Database</a:t>
            </a:r>
          </a:p>
        </p:txBody>
      </p:sp>
      <p:grpSp>
        <p:nvGrpSpPr>
          <p:cNvPr id="3" name="object 3"/>
          <p:cNvGrpSpPr/>
          <p:nvPr/>
        </p:nvGrpSpPr>
        <p:grpSpPr>
          <a:xfrm>
            <a:off x="166737" y="835245"/>
            <a:ext cx="11960013" cy="5594773"/>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415599" y="1753933"/>
            <a:ext cx="11463020" cy="760763"/>
          </a:xfrm>
          <a:prstGeom prst="rect">
            <a:avLst/>
          </a:prstGeom>
          <a:solidFill>
            <a:srgbClr val="EAD1DC"/>
          </a:solidFill>
        </p:spPr>
        <p:txBody>
          <a:bodyPr vert="horz" wrap="square" lIns="0" tIns="103293" rIns="0" bIns="0" rtlCol="0">
            <a:spAutoFit/>
          </a:bodyPr>
          <a:lstStyle/>
          <a:p>
            <a:pPr marL="114297" marR="114297">
              <a:spcBef>
                <a:spcPts val="813"/>
              </a:spcBef>
            </a:pPr>
            <a:r>
              <a:rPr sz="2133" dirty="0">
                <a:latin typeface="Century Schoolbook"/>
                <a:cs typeface="Century Schoolbook"/>
              </a:rPr>
              <a:t>It</a:t>
            </a:r>
            <a:r>
              <a:rPr sz="2133" spc="272" dirty="0">
                <a:latin typeface="Century Schoolbook"/>
                <a:cs typeface="Century Schoolbook"/>
              </a:rPr>
              <a:t> </a:t>
            </a:r>
            <a:r>
              <a:rPr sz="2133" dirty="0">
                <a:latin typeface="Century Schoolbook"/>
                <a:cs typeface="Century Schoolbook"/>
              </a:rPr>
              <a:t>helps</a:t>
            </a:r>
            <a:r>
              <a:rPr sz="2133" spc="267" dirty="0">
                <a:latin typeface="Century Schoolbook"/>
                <a:cs typeface="Century Schoolbook"/>
              </a:rPr>
              <a:t> </a:t>
            </a:r>
            <a:r>
              <a:rPr sz="2133" dirty="0">
                <a:latin typeface="Century Schoolbook"/>
                <a:cs typeface="Century Schoolbook"/>
              </a:rPr>
              <a:t>the</a:t>
            </a:r>
            <a:r>
              <a:rPr sz="2133" spc="272" dirty="0">
                <a:latin typeface="Century Schoolbook"/>
                <a:cs typeface="Century Schoolbook"/>
              </a:rPr>
              <a:t> </a:t>
            </a:r>
            <a:r>
              <a:rPr sz="2133" dirty="0">
                <a:latin typeface="Century Schoolbook"/>
                <a:cs typeface="Century Schoolbook"/>
              </a:rPr>
              <a:t>researchers</a:t>
            </a:r>
            <a:r>
              <a:rPr sz="2133" spc="267" dirty="0">
                <a:latin typeface="Century Schoolbook"/>
                <a:cs typeface="Century Schoolbook"/>
              </a:rPr>
              <a:t> </a:t>
            </a:r>
            <a:r>
              <a:rPr sz="2133" dirty="0">
                <a:latin typeface="Century Schoolbook"/>
                <a:cs typeface="Century Schoolbook"/>
              </a:rPr>
              <a:t>to</a:t>
            </a:r>
            <a:r>
              <a:rPr sz="2133" spc="272" dirty="0">
                <a:latin typeface="Century Schoolbook"/>
                <a:cs typeface="Century Schoolbook"/>
              </a:rPr>
              <a:t> </a:t>
            </a:r>
            <a:r>
              <a:rPr sz="2133" dirty="0">
                <a:latin typeface="Century Schoolbook"/>
                <a:cs typeface="Century Schoolbook"/>
              </a:rPr>
              <a:t>study</a:t>
            </a:r>
            <a:r>
              <a:rPr sz="2133" spc="272" dirty="0">
                <a:latin typeface="Century Schoolbook"/>
                <a:cs typeface="Century Schoolbook"/>
              </a:rPr>
              <a:t> </a:t>
            </a:r>
            <a:r>
              <a:rPr sz="2133" dirty="0">
                <a:latin typeface="Century Schoolbook"/>
                <a:cs typeface="Century Schoolbook"/>
              </a:rPr>
              <a:t>the</a:t>
            </a:r>
            <a:r>
              <a:rPr sz="2133" spc="272" dirty="0">
                <a:latin typeface="Century Schoolbook"/>
                <a:cs typeface="Century Schoolbook"/>
              </a:rPr>
              <a:t> </a:t>
            </a:r>
            <a:r>
              <a:rPr sz="2133" dirty="0">
                <a:latin typeface="Century Schoolbook"/>
                <a:cs typeface="Century Schoolbook"/>
              </a:rPr>
              <a:t>available</a:t>
            </a:r>
            <a:r>
              <a:rPr sz="2133" spc="272" dirty="0">
                <a:latin typeface="Century Schoolbook"/>
                <a:cs typeface="Century Schoolbook"/>
              </a:rPr>
              <a:t> </a:t>
            </a:r>
            <a:r>
              <a:rPr sz="2133" dirty="0">
                <a:latin typeface="Century Schoolbook"/>
                <a:cs typeface="Century Schoolbook"/>
              </a:rPr>
              <a:t>data</a:t>
            </a:r>
            <a:r>
              <a:rPr sz="2133" spc="272" dirty="0">
                <a:latin typeface="Century Schoolbook"/>
                <a:cs typeface="Century Schoolbook"/>
              </a:rPr>
              <a:t> </a:t>
            </a:r>
            <a:r>
              <a:rPr sz="2133" dirty="0">
                <a:latin typeface="Century Schoolbook"/>
                <a:cs typeface="Century Schoolbook"/>
              </a:rPr>
              <a:t>and</a:t>
            </a:r>
            <a:r>
              <a:rPr sz="2133" spc="272" dirty="0">
                <a:latin typeface="Century Schoolbook"/>
                <a:cs typeface="Century Schoolbook"/>
              </a:rPr>
              <a:t> </a:t>
            </a:r>
            <a:r>
              <a:rPr sz="2133" dirty="0">
                <a:latin typeface="Century Schoolbook"/>
                <a:cs typeface="Century Schoolbook"/>
              </a:rPr>
              <a:t>form</a:t>
            </a:r>
            <a:r>
              <a:rPr sz="2133" spc="272" dirty="0">
                <a:latin typeface="Century Schoolbook"/>
                <a:cs typeface="Century Schoolbook"/>
              </a:rPr>
              <a:t> </a:t>
            </a:r>
            <a:r>
              <a:rPr sz="2133" dirty="0">
                <a:latin typeface="Century Schoolbook"/>
                <a:cs typeface="Century Schoolbook"/>
              </a:rPr>
              <a:t>a</a:t>
            </a:r>
            <a:r>
              <a:rPr sz="2133" spc="272" dirty="0">
                <a:latin typeface="Century Schoolbook"/>
                <a:cs typeface="Century Schoolbook"/>
              </a:rPr>
              <a:t> </a:t>
            </a:r>
            <a:r>
              <a:rPr sz="2133" dirty="0">
                <a:latin typeface="Century Schoolbook"/>
                <a:cs typeface="Century Schoolbook"/>
              </a:rPr>
              <a:t>new</a:t>
            </a:r>
            <a:r>
              <a:rPr sz="2133" spc="280" dirty="0">
                <a:latin typeface="Century Schoolbook"/>
                <a:cs typeface="Century Schoolbook"/>
              </a:rPr>
              <a:t> </a:t>
            </a:r>
            <a:r>
              <a:rPr sz="2133" dirty="0">
                <a:latin typeface="Century Schoolbook"/>
                <a:cs typeface="Century Schoolbook"/>
              </a:rPr>
              <a:t>thesis,</a:t>
            </a:r>
            <a:r>
              <a:rPr sz="2133" spc="272" dirty="0">
                <a:latin typeface="Century Schoolbook"/>
                <a:cs typeface="Century Schoolbook"/>
              </a:rPr>
              <a:t> </a:t>
            </a:r>
            <a:r>
              <a:rPr sz="2133" spc="-13" dirty="0">
                <a:latin typeface="Century Schoolbook"/>
                <a:cs typeface="Century Schoolbook"/>
              </a:rPr>
              <a:t>anti-virus, </a:t>
            </a:r>
            <a:r>
              <a:rPr sz="2133" dirty="0">
                <a:latin typeface="Century Schoolbook"/>
                <a:cs typeface="Century Schoolbook"/>
              </a:rPr>
              <a:t>helpful</a:t>
            </a:r>
            <a:r>
              <a:rPr sz="2133" spc="-80" dirty="0">
                <a:latin typeface="Century Schoolbook"/>
                <a:cs typeface="Century Schoolbook"/>
              </a:rPr>
              <a:t> </a:t>
            </a:r>
            <a:r>
              <a:rPr sz="2133" dirty="0">
                <a:latin typeface="Century Schoolbook"/>
                <a:cs typeface="Century Schoolbook"/>
              </a:rPr>
              <a:t>bacteria,</a:t>
            </a:r>
            <a:r>
              <a:rPr sz="2133" spc="-80" dirty="0">
                <a:latin typeface="Century Schoolbook"/>
                <a:cs typeface="Century Schoolbook"/>
              </a:rPr>
              <a:t> </a:t>
            </a:r>
            <a:r>
              <a:rPr sz="2133" spc="-13" dirty="0">
                <a:latin typeface="Century Schoolbook"/>
                <a:cs typeface="Century Schoolbook"/>
              </a:rPr>
              <a:t>medicines,</a:t>
            </a:r>
            <a:r>
              <a:rPr sz="2133" spc="-73" dirty="0">
                <a:latin typeface="Century Schoolbook"/>
                <a:cs typeface="Century Schoolbook"/>
              </a:rPr>
              <a:t> </a:t>
            </a:r>
            <a:r>
              <a:rPr sz="2133" spc="-27" dirty="0">
                <a:latin typeface="Century Schoolbook"/>
                <a:cs typeface="Century Schoolbook"/>
              </a:rPr>
              <a:t>etc.</a:t>
            </a:r>
            <a:endParaRPr sz="2133" dirty="0">
              <a:latin typeface="Century Schoolbook"/>
              <a:cs typeface="Century Schoolbook"/>
            </a:endParaRPr>
          </a:p>
        </p:txBody>
      </p:sp>
      <p:sp>
        <p:nvSpPr>
          <p:cNvPr id="11" name="object 11"/>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41</a:t>
            </a:fld>
            <a:endParaRPr spc="60" dirty="0"/>
          </a:p>
        </p:txBody>
      </p:sp>
      <p:sp>
        <p:nvSpPr>
          <p:cNvPr id="7" name="object 7"/>
          <p:cNvSpPr txBox="1"/>
          <p:nvPr/>
        </p:nvSpPr>
        <p:spPr>
          <a:xfrm>
            <a:off x="415599" y="2837665"/>
            <a:ext cx="11463020" cy="432533"/>
          </a:xfrm>
          <a:prstGeom prst="rect">
            <a:avLst/>
          </a:prstGeom>
          <a:solidFill>
            <a:srgbClr val="FFE499"/>
          </a:solidFill>
        </p:spPr>
        <p:txBody>
          <a:bodyPr vert="horz" wrap="square" lIns="0" tIns="103293" rIns="0" bIns="0" rtlCol="0">
            <a:spAutoFit/>
          </a:bodyPr>
          <a:lstStyle/>
          <a:p>
            <a:pPr marL="114297">
              <a:spcBef>
                <a:spcPts val="813"/>
              </a:spcBef>
            </a:pPr>
            <a:r>
              <a:rPr sz="2133" dirty="0">
                <a:latin typeface="Century Schoolbook"/>
                <a:cs typeface="Century Schoolbook"/>
              </a:rPr>
              <a:t>It</a:t>
            </a:r>
            <a:r>
              <a:rPr sz="2133" spc="-53" dirty="0">
                <a:latin typeface="Century Schoolbook"/>
                <a:cs typeface="Century Schoolbook"/>
              </a:rPr>
              <a:t> </a:t>
            </a:r>
            <a:r>
              <a:rPr sz="2133" dirty="0">
                <a:latin typeface="Century Schoolbook"/>
                <a:cs typeface="Century Schoolbook"/>
              </a:rPr>
              <a:t>helps</a:t>
            </a:r>
            <a:r>
              <a:rPr sz="2133" spc="-47" dirty="0">
                <a:latin typeface="Century Schoolbook"/>
                <a:cs typeface="Century Schoolbook"/>
              </a:rPr>
              <a:t> </a:t>
            </a:r>
            <a:r>
              <a:rPr sz="2133" dirty="0">
                <a:latin typeface="Century Schoolbook"/>
                <a:cs typeface="Century Schoolbook"/>
              </a:rPr>
              <a:t>scientists</a:t>
            </a:r>
            <a:r>
              <a:rPr sz="2133" spc="-47" dirty="0">
                <a:latin typeface="Century Schoolbook"/>
                <a:cs typeface="Century Schoolbook"/>
              </a:rPr>
              <a:t> </a:t>
            </a:r>
            <a:r>
              <a:rPr sz="2133" dirty="0">
                <a:latin typeface="Century Schoolbook"/>
                <a:cs typeface="Century Schoolbook"/>
              </a:rPr>
              <a:t>to</a:t>
            </a:r>
            <a:r>
              <a:rPr sz="2133" spc="-53" dirty="0">
                <a:latin typeface="Century Schoolbook"/>
                <a:cs typeface="Century Schoolbook"/>
              </a:rPr>
              <a:t> </a:t>
            </a:r>
            <a:r>
              <a:rPr sz="2133" spc="-13" dirty="0">
                <a:latin typeface="Century Schoolbook"/>
                <a:cs typeface="Century Schoolbook"/>
              </a:rPr>
              <a:t>understand</a:t>
            </a:r>
            <a:r>
              <a:rPr sz="2133" spc="-47" dirty="0">
                <a:latin typeface="Century Schoolbook"/>
                <a:cs typeface="Century Schoolbook"/>
              </a:rPr>
              <a:t> </a:t>
            </a:r>
            <a:r>
              <a:rPr sz="2133" dirty="0">
                <a:latin typeface="Century Schoolbook"/>
                <a:cs typeface="Century Schoolbook"/>
              </a:rPr>
              <a:t>the</a:t>
            </a:r>
            <a:r>
              <a:rPr sz="2133" spc="-47" dirty="0">
                <a:latin typeface="Century Schoolbook"/>
                <a:cs typeface="Century Schoolbook"/>
              </a:rPr>
              <a:t> </a:t>
            </a:r>
            <a:r>
              <a:rPr sz="2133" dirty="0">
                <a:latin typeface="Century Schoolbook"/>
                <a:cs typeface="Century Schoolbook"/>
              </a:rPr>
              <a:t>concepts</a:t>
            </a:r>
            <a:r>
              <a:rPr sz="2133" spc="-53" dirty="0">
                <a:latin typeface="Century Schoolbook"/>
                <a:cs typeface="Century Schoolbook"/>
              </a:rPr>
              <a:t> </a:t>
            </a:r>
            <a:r>
              <a:rPr sz="2133" dirty="0">
                <a:latin typeface="Century Schoolbook"/>
                <a:cs typeface="Century Schoolbook"/>
              </a:rPr>
              <a:t>of</a:t>
            </a:r>
            <a:r>
              <a:rPr sz="2133" spc="-47" dirty="0">
                <a:latin typeface="Century Schoolbook"/>
                <a:cs typeface="Century Schoolbook"/>
              </a:rPr>
              <a:t> </a:t>
            </a:r>
            <a:r>
              <a:rPr sz="2133" dirty="0">
                <a:latin typeface="Century Schoolbook"/>
                <a:cs typeface="Century Schoolbook"/>
              </a:rPr>
              <a:t>biological</a:t>
            </a:r>
            <a:r>
              <a:rPr sz="2133" spc="-47" dirty="0">
                <a:latin typeface="Century Schoolbook"/>
                <a:cs typeface="Century Schoolbook"/>
              </a:rPr>
              <a:t> </a:t>
            </a:r>
            <a:r>
              <a:rPr sz="2133" spc="-13" dirty="0">
                <a:latin typeface="Century Schoolbook"/>
                <a:cs typeface="Century Schoolbook"/>
              </a:rPr>
              <a:t>phenomena.</a:t>
            </a:r>
            <a:endParaRPr sz="2133" dirty="0">
              <a:latin typeface="Century Schoolbook"/>
              <a:cs typeface="Century Schoolbook"/>
            </a:endParaRPr>
          </a:p>
        </p:txBody>
      </p:sp>
      <p:sp>
        <p:nvSpPr>
          <p:cNvPr id="8" name="object 8"/>
          <p:cNvSpPr txBox="1"/>
          <p:nvPr/>
        </p:nvSpPr>
        <p:spPr>
          <a:xfrm>
            <a:off x="415433" y="3632632"/>
            <a:ext cx="11463020" cy="1088995"/>
          </a:xfrm>
          <a:prstGeom prst="rect">
            <a:avLst/>
          </a:prstGeom>
          <a:solidFill>
            <a:srgbClr val="FFE499"/>
          </a:solidFill>
        </p:spPr>
        <p:txBody>
          <a:bodyPr vert="horz" wrap="square" lIns="0" tIns="103293" rIns="0" bIns="0" rtlCol="0">
            <a:spAutoFit/>
          </a:bodyPr>
          <a:lstStyle/>
          <a:p>
            <a:pPr marL="114297" marR="113450" algn="just">
              <a:spcBef>
                <a:spcPts val="813"/>
              </a:spcBef>
            </a:pPr>
            <a:r>
              <a:rPr sz="2133" dirty="0">
                <a:latin typeface="Century Schoolbook"/>
                <a:cs typeface="Century Schoolbook"/>
              </a:rPr>
              <a:t>Secondary</a:t>
            </a:r>
            <a:r>
              <a:rPr sz="2133" spc="380" dirty="0">
                <a:latin typeface="Century Schoolbook"/>
                <a:cs typeface="Century Schoolbook"/>
              </a:rPr>
              <a:t> </a:t>
            </a:r>
            <a:r>
              <a:rPr sz="2133" dirty="0">
                <a:latin typeface="Century Schoolbook"/>
                <a:cs typeface="Century Schoolbook"/>
              </a:rPr>
              <a:t>databases</a:t>
            </a:r>
            <a:r>
              <a:rPr sz="2133" spc="387" dirty="0">
                <a:latin typeface="Century Schoolbook"/>
                <a:cs typeface="Century Schoolbook"/>
              </a:rPr>
              <a:t> </a:t>
            </a:r>
            <a:r>
              <a:rPr sz="2133" dirty="0">
                <a:latin typeface="Century Schoolbook"/>
                <a:cs typeface="Century Schoolbook"/>
              </a:rPr>
              <a:t>have</a:t>
            </a:r>
            <a:r>
              <a:rPr sz="2133" spc="387" dirty="0">
                <a:latin typeface="Century Schoolbook"/>
                <a:cs typeface="Century Schoolbook"/>
              </a:rPr>
              <a:t> </a:t>
            </a:r>
            <a:r>
              <a:rPr sz="2133" dirty="0">
                <a:latin typeface="Century Schoolbook"/>
                <a:cs typeface="Century Schoolbook"/>
              </a:rPr>
              <a:t>become</a:t>
            </a:r>
            <a:r>
              <a:rPr sz="2133" spc="387" dirty="0">
                <a:latin typeface="Century Schoolbook"/>
                <a:cs typeface="Century Schoolbook"/>
              </a:rPr>
              <a:t> </a:t>
            </a:r>
            <a:r>
              <a:rPr sz="2133" dirty="0">
                <a:latin typeface="Century Schoolbook"/>
                <a:cs typeface="Century Schoolbook"/>
              </a:rPr>
              <a:t>the</a:t>
            </a:r>
            <a:r>
              <a:rPr sz="2133" spc="387" dirty="0">
                <a:latin typeface="Century Schoolbook"/>
                <a:cs typeface="Century Schoolbook"/>
              </a:rPr>
              <a:t> </a:t>
            </a:r>
            <a:r>
              <a:rPr sz="2133" dirty="0">
                <a:latin typeface="Century Schoolbook"/>
                <a:cs typeface="Century Schoolbook"/>
              </a:rPr>
              <a:t>molecular</a:t>
            </a:r>
            <a:r>
              <a:rPr sz="2133" spc="387" dirty="0">
                <a:latin typeface="Century Schoolbook"/>
                <a:cs typeface="Century Schoolbook"/>
              </a:rPr>
              <a:t> </a:t>
            </a:r>
            <a:r>
              <a:rPr sz="2133" dirty="0">
                <a:latin typeface="Century Schoolbook"/>
                <a:cs typeface="Century Schoolbook"/>
              </a:rPr>
              <a:t>biologist’s</a:t>
            </a:r>
            <a:r>
              <a:rPr sz="2133" spc="387" dirty="0">
                <a:latin typeface="Century Schoolbook"/>
                <a:cs typeface="Century Schoolbook"/>
              </a:rPr>
              <a:t> </a:t>
            </a:r>
            <a:r>
              <a:rPr sz="2133" dirty="0">
                <a:latin typeface="Century Schoolbook"/>
                <a:cs typeface="Century Schoolbook"/>
              </a:rPr>
              <a:t>reference</a:t>
            </a:r>
            <a:r>
              <a:rPr sz="2133" spc="387" dirty="0">
                <a:latin typeface="Century Schoolbook"/>
                <a:cs typeface="Century Schoolbook"/>
              </a:rPr>
              <a:t> </a:t>
            </a:r>
            <a:r>
              <a:rPr sz="2133" dirty="0">
                <a:latin typeface="Century Schoolbook"/>
                <a:cs typeface="Century Schoolbook"/>
              </a:rPr>
              <a:t>library</a:t>
            </a:r>
            <a:r>
              <a:rPr sz="2133" spc="387" dirty="0">
                <a:latin typeface="Century Schoolbook"/>
                <a:cs typeface="Century Schoolbook"/>
              </a:rPr>
              <a:t> </a:t>
            </a:r>
            <a:r>
              <a:rPr sz="2133" dirty="0">
                <a:latin typeface="Century Schoolbook"/>
                <a:cs typeface="Century Schoolbook"/>
              </a:rPr>
              <a:t>over</a:t>
            </a:r>
            <a:r>
              <a:rPr sz="2133" spc="387" dirty="0">
                <a:latin typeface="Century Schoolbook"/>
                <a:cs typeface="Century Schoolbook"/>
              </a:rPr>
              <a:t> </a:t>
            </a:r>
            <a:r>
              <a:rPr sz="2133" spc="-33" dirty="0">
                <a:latin typeface="Century Schoolbook"/>
                <a:cs typeface="Century Schoolbook"/>
              </a:rPr>
              <a:t>the </a:t>
            </a:r>
            <a:r>
              <a:rPr sz="2133" dirty="0">
                <a:latin typeface="Century Schoolbook"/>
                <a:cs typeface="Century Schoolbook"/>
              </a:rPr>
              <a:t>past</a:t>
            </a:r>
            <a:r>
              <a:rPr sz="2133" spc="407" dirty="0">
                <a:latin typeface="Century Schoolbook"/>
                <a:cs typeface="Century Schoolbook"/>
              </a:rPr>
              <a:t> </a:t>
            </a:r>
            <a:r>
              <a:rPr sz="2133" dirty="0">
                <a:latin typeface="Century Schoolbook"/>
                <a:cs typeface="Century Schoolbook"/>
              </a:rPr>
              <a:t>decade</a:t>
            </a:r>
            <a:r>
              <a:rPr sz="2133" spc="407" dirty="0">
                <a:latin typeface="Century Schoolbook"/>
                <a:cs typeface="Century Schoolbook"/>
              </a:rPr>
              <a:t> </a:t>
            </a:r>
            <a:r>
              <a:rPr sz="2133" dirty="0">
                <a:latin typeface="Century Schoolbook"/>
                <a:cs typeface="Century Schoolbook"/>
              </a:rPr>
              <a:t>or</a:t>
            </a:r>
            <a:r>
              <a:rPr sz="2133" spc="407" dirty="0">
                <a:latin typeface="Century Schoolbook"/>
                <a:cs typeface="Century Schoolbook"/>
              </a:rPr>
              <a:t> </a:t>
            </a:r>
            <a:r>
              <a:rPr sz="2133" dirty="0">
                <a:latin typeface="Century Schoolbook"/>
                <a:cs typeface="Century Schoolbook"/>
              </a:rPr>
              <a:t>so,</a:t>
            </a:r>
            <a:r>
              <a:rPr sz="2133" spc="407" dirty="0">
                <a:latin typeface="Century Schoolbook"/>
                <a:cs typeface="Century Schoolbook"/>
              </a:rPr>
              <a:t> </a:t>
            </a:r>
            <a:r>
              <a:rPr sz="2133" dirty="0">
                <a:latin typeface="Century Schoolbook"/>
                <a:cs typeface="Century Schoolbook"/>
              </a:rPr>
              <a:t>providing</a:t>
            </a:r>
            <a:r>
              <a:rPr sz="2133" spc="413" dirty="0">
                <a:latin typeface="Century Schoolbook"/>
                <a:cs typeface="Century Schoolbook"/>
              </a:rPr>
              <a:t> </a:t>
            </a:r>
            <a:r>
              <a:rPr sz="2133" dirty="0">
                <a:latin typeface="Century Schoolbook"/>
                <a:cs typeface="Century Schoolbook"/>
              </a:rPr>
              <a:t>a</a:t>
            </a:r>
            <a:r>
              <a:rPr sz="2133" spc="407" dirty="0">
                <a:latin typeface="Century Schoolbook"/>
                <a:cs typeface="Century Schoolbook"/>
              </a:rPr>
              <a:t> </a:t>
            </a:r>
            <a:r>
              <a:rPr sz="2133" dirty="0">
                <a:latin typeface="Century Schoolbook"/>
                <a:cs typeface="Century Schoolbook"/>
              </a:rPr>
              <a:t>wealth</a:t>
            </a:r>
            <a:r>
              <a:rPr sz="2133" spc="407" dirty="0">
                <a:latin typeface="Century Schoolbook"/>
                <a:cs typeface="Century Schoolbook"/>
              </a:rPr>
              <a:t> </a:t>
            </a:r>
            <a:r>
              <a:rPr sz="2133" dirty="0">
                <a:latin typeface="Century Schoolbook"/>
                <a:cs typeface="Century Schoolbook"/>
              </a:rPr>
              <a:t>of</a:t>
            </a:r>
            <a:r>
              <a:rPr sz="2133" spc="413" dirty="0">
                <a:latin typeface="Century Schoolbook"/>
                <a:cs typeface="Century Schoolbook"/>
              </a:rPr>
              <a:t> </a:t>
            </a:r>
            <a:r>
              <a:rPr sz="2133" dirty="0">
                <a:latin typeface="Century Schoolbook"/>
                <a:cs typeface="Century Schoolbook"/>
              </a:rPr>
              <a:t>information</a:t>
            </a:r>
            <a:r>
              <a:rPr sz="2133" spc="407" dirty="0">
                <a:latin typeface="Century Schoolbook"/>
                <a:cs typeface="Century Schoolbook"/>
              </a:rPr>
              <a:t> </a:t>
            </a:r>
            <a:r>
              <a:rPr sz="2133" dirty="0">
                <a:latin typeface="Century Schoolbook"/>
                <a:cs typeface="Century Schoolbook"/>
              </a:rPr>
              <a:t>on</a:t>
            </a:r>
            <a:r>
              <a:rPr sz="2133" spc="407" dirty="0">
                <a:latin typeface="Century Schoolbook"/>
                <a:cs typeface="Century Schoolbook"/>
              </a:rPr>
              <a:t> </a:t>
            </a:r>
            <a:r>
              <a:rPr sz="2133" dirty="0">
                <a:latin typeface="Century Schoolbook"/>
                <a:cs typeface="Century Schoolbook"/>
              </a:rPr>
              <a:t>just</a:t>
            </a:r>
            <a:r>
              <a:rPr sz="2133" spc="407" dirty="0">
                <a:latin typeface="Century Schoolbook"/>
                <a:cs typeface="Century Schoolbook"/>
              </a:rPr>
              <a:t> </a:t>
            </a:r>
            <a:r>
              <a:rPr sz="2133" dirty="0">
                <a:latin typeface="Century Schoolbook"/>
                <a:cs typeface="Century Schoolbook"/>
              </a:rPr>
              <a:t>about</a:t>
            </a:r>
            <a:r>
              <a:rPr sz="2133" spc="407" dirty="0">
                <a:latin typeface="Century Schoolbook"/>
                <a:cs typeface="Century Schoolbook"/>
              </a:rPr>
              <a:t> </a:t>
            </a:r>
            <a:r>
              <a:rPr sz="2133" dirty="0">
                <a:latin typeface="Century Schoolbook"/>
                <a:cs typeface="Century Schoolbook"/>
              </a:rPr>
              <a:t>any</a:t>
            </a:r>
            <a:r>
              <a:rPr sz="2133" spc="413" dirty="0">
                <a:latin typeface="Century Schoolbook"/>
                <a:cs typeface="Century Schoolbook"/>
              </a:rPr>
              <a:t> </a:t>
            </a:r>
            <a:r>
              <a:rPr sz="2133" dirty="0">
                <a:latin typeface="Century Schoolbook"/>
                <a:cs typeface="Century Schoolbook"/>
              </a:rPr>
              <a:t>gene</a:t>
            </a:r>
            <a:r>
              <a:rPr sz="2133" spc="413" dirty="0">
                <a:latin typeface="Century Schoolbook"/>
                <a:cs typeface="Century Schoolbook"/>
              </a:rPr>
              <a:t> </a:t>
            </a:r>
            <a:r>
              <a:rPr sz="2133" dirty="0">
                <a:latin typeface="Century Schoolbook"/>
                <a:cs typeface="Century Schoolbook"/>
              </a:rPr>
              <a:t>or</a:t>
            </a:r>
            <a:r>
              <a:rPr sz="2133" spc="407" dirty="0">
                <a:latin typeface="Century Schoolbook"/>
                <a:cs typeface="Century Schoolbook"/>
              </a:rPr>
              <a:t> </a:t>
            </a:r>
            <a:r>
              <a:rPr sz="2133" spc="-27" dirty="0">
                <a:latin typeface="Century Schoolbook"/>
                <a:cs typeface="Century Schoolbook"/>
              </a:rPr>
              <a:t>gene </a:t>
            </a:r>
            <a:r>
              <a:rPr sz="2133" dirty="0">
                <a:latin typeface="Century Schoolbook"/>
                <a:cs typeface="Century Schoolbook"/>
              </a:rPr>
              <a:t>product</a:t>
            </a:r>
            <a:r>
              <a:rPr sz="2133" spc="-47" dirty="0">
                <a:latin typeface="Century Schoolbook"/>
                <a:cs typeface="Century Schoolbook"/>
              </a:rPr>
              <a:t> </a:t>
            </a:r>
            <a:r>
              <a:rPr sz="2133" dirty="0">
                <a:latin typeface="Century Schoolbook"/>
                <a:cs typeface="Century Schoolbook"/>
              </a:rPr>
              <a:t>that</a:t>
            </a:r>
            <a:r>
              <a:rPr sz="2133" spc="-40" dirty="0">
                <a:latin typeface="Century Schoolbook"/>
                <a:cs typeface="Century Schoolbook"/>
              </a:rPr>
              <a:t> </a:t>
            </a:r>
            <a:r>
              <a:rPr sz="2133" dirty="0">
                <a:latin typeface="Century Schoolbook"/>
                <a:cs typeface="Century Schoolbook"/>
              </a:rPr>
              <a:t>has</a:t>
            </a:r>
            <a:r>
              <a:rPr sz="2133" spc="-40" dirty="0">
                <a:latin typeface="Century Schoolbook"/>
                <a:cs typeface="Century Schoolbook"/>
              </a:rPr>
              <a:t> </a:t>
            </a:r>
            <a:r>
              <a:rPr sz="2133" dirty="0">
                <a:latin typeface="Century Schoolbook"/>
                <a:cs typeface="Century Schoolbook"/>
              </a:rPr>
              <a:t>been</a:t>
            </a:r>
            <a:r>
              <a:rPr sz="2133" spc="-47" dirty="0">
                <a:latin typeface="Century Schoolbook"/>
                <a:cs typeface="Century Schoolbook"/>
              </a:rPr>
              <a:t> </a:t>
            </a:r>
            <a:r>
              <a:rPr sz="2133" spc="-13" dirty="0">
                <a:latin typeface="Century Schoolbook"/>
                <a:cs typeface="Century Schoolbook"/>
              </a:rPr>
              <a:t>investigated</a:t>
            </a:r>
            <a:r>
              <a:rPr sz="2133" spc="-40" dirty="0">
                <a:latin typeface="Century Schoolbook"/>
                <a:cs typeface="Century Schoolbook"/>
              </a:rPr>
              <a:t> </a:t>
            </a:r>
            <a:r>
              <a:rPr sz="2133" dirty="0">
                <a:latin typeface="Century Schoolbook"/>
                <a:cs typeface="Century Schoolbook"/>
              </a:rPr>
              <a:t>by</a:t>
            </a:r>
            <a:r>
              <a:rPr sz="2133" spc="-40" dirty="0">
                <a:latin typeface="Century Schoolbook"/>
                <a:cs typeface="Century Schoolbook"/>
              </a:rPr>
              <a:t> </a:t>
            </a:r>
            <a:r>
              <a:rPr sz="2133" dirty="0">
                <a:latin typeface="Century Schoolbook"/>
                <a:cs typeface="Century Schoolbook"/>
              </a:rPr>
              <a:t>the</a:t>
            </a:r>
            <a:r>
              <a:rPr sz="2133" spc="-40" dirty="0">
                <a:latin typeface="Century Schoolbook"/>
                <a:cs typeface="Century Schoolbook"/>
              </a:rPr>
              <a:t> </a:t>
            </a:r>
            <a:r>
              <a:rPr sz="2133" dirty="0">
                <a:latin typeface="Century Schoolbook"/>
                <a:cs typeface="Century Schoolbook"/>
              </a:rPr>
              <a:t>research</a:t>
            </a:r>
            <a:r>
              <a:rPr sz="2133" spc="-47" dirty="0">
                <a:latin typeface="Century Schoolbook"/>
                <a:cs typeface="Century Schoolbook"/>
              </a:rPr>
              <a:t> </a:t>
            </a:r>
            <a:r>
              <a:rPr sz="2133" spc="-13" dirty="0">
                <a:latin typeface="Century Schoolbook"/>
                <a:cs typeface="Century Schoolbook"/>
              </a:rPr>
              <a:t>community.</a:t>
            </a:r>
            <a:endParaRPr sz="2133" dirty="0">
              <a:latin typeface="Century Schoolbook"/>
              <a:cs typeface="Century Schoolbook"/>
            </a:endParaRPr>
          </a:p>
        </p:txBody>
      </p:sp>
      <p:sp>
        <p:nvSpPr>
          <p:cNvPr id="9" name="object 9"/>
          <p:cNvSpPr txBox="1"/>
          <p:nvPr/>
        </p:nvSpPr>
        <p:spPr>
          <a:xfrm>
            <a:off x="415599" y="5088000"/>
            <a:ext cx="11463020" cy="432533"/>
          </a:xfrm>
          <a:prstGeom prst="rect">
            <a:avLst/>
          </a:prstGeom>
          <a:solidFill>
            <a:srgbClr val="FFE499"/>
          </a:solidFill>
        </p:spPr>
        <p:txBody>
          <a:bodyPr vert="horz" wrap="square" lIns="0" tIns="103293" rIns="0" bIns="0" rtlCol="0">
            <a:spAutoFit/>
          </a:bodyPr>
          <a:lstStyle/>
          <a:p>
            <a:pPr marL="114297">
              <a:spcBef>
                <a:spcPts val="813"/>
              </a:spcBef>
            </a:pPr>
            <a:r>
              <a:rPr sz="2133" dirty="0">
                <a:latin typeface="Century Schoolbook"/>
                <a:cs typeface="Century Schoolbook"/>
              </a:rPr>
              <a:t>The</a:t>
            </a:r>
            <a:r>
              <a:rPr sz="2133" spc="-33" dirty="0">
                <a:latin typeface="Century Schoolbook"/>
                <a:cs typeface="Century Schoolbook"/>
              </a:rPr>
              <a:t> </a:t>
            </a:r>
            <a:r>
              <a:rPr sz="2133" dirty="0">
                <a:latin typeface="Century Schoolbook"/>
                <a:cs typeface="Century Schoolbook"/>
              </a:rPr>
              <a:t>database</a:t>
            </a:r>
            <a:r>
              <a:rPr sz="2133" spc="-27" dirty="0">
                <a:latin typeface="Century Schoolbook"/>
                <a:cs typeface="Century Schoolbook"/>
              </a:rPr>
              <a:t> </a:t>
            </a:r>
            <a:r>
              <a:rPr sz="2133" dirty="0">
                <a:latin typeface="Century Schoolbook"/>
                <a:cs typeface="Century Schoolbook"/>
              </a:rPr>
              <a:t>acts</a:t>
            </a:r>
            <a:r>
              <a:rPr sz="2133" spc="-27" dirty="0">
                <a:latin typeface="Century Schoolbook"/>
                <a:cs typeface="Century Schoolbook"/>
              </a:rPr>
              <a:t> </a:t>
            </a:r>
            <a:r>
              <a:rPr sz="2133" dirty="0">
                <a:latin typeface="Century Schoolbook"/>
                <a:cs typeface="Century Schoolbook"/>
              </a:rPr>
              <a:t>as</a:t>
            </a:r>
            <a:r>
              <a:rPr sz="2133" spc="-33" dirty="0">
                <a:latin typeface="Century Schoolbook"/>
                <a:cs typeface="Century Schoolbook"/>
              </a:rPr>
              <a:t> </a:t>
            </a:r>
            <a:r>
              <a:rPr sz="2133" dirty="0">
                <a:latin typeface="Century Schoolbook"/>
                <a:cs typeface="Century Schoolbook"/>
              </a:rPr>
              <a:t>a</a:t>
            </a:r>
            <a:r>
              <a:rPr sz="2133" spc="-27" dirty="0">
                <a:latin typeface="Century Schoolbook"/>
                <a:cs typeface="Century Schoolbook"/>
              </a:rPr>
              <a:t> </a:t>
            </a:r>
            <a:r>
              <a:rPr sz="2133" dirty="0">
                <a:latin typeface="Century Schoolbook"/>
                <a:cs typeface="Century Schoolbook"/>
              </a:rPr>
              <a:t>storage</a:t>
            </a:r>
            <a:r>
              <a:rPr sz="2133" spc="-27" dirty="0">
                <a:latin typeface="Century Schoolbook"/>
                <a:cs typeface="Century Schoolbook"/>
              </a:rPr>
              <a:t> </a:t>
            </a:r>
            <a:r>
              <a:rPr sz="2133" dirty="0">
                <a:latin typeface="Century Schoolbook"/>
                <a:cs typeface="Century Schoolbook"/>
              </a:rPr>
              <a:t>of</a:t>
            </a:r>
            <a:r>
              <a:rPr sz="2133" spc="-33" dirty="0">
                <a:latin typeface="Century Schoolbook"/>
                <a:cs typeface="Century Schoolbook"/>
              </a:rPr>
              <a:t> </a:t>
            </a:r>
            <a:r>
              <a:rPr sz="2133" dirty="0">
                <a:latin typeface="Century Schoolbook"/>
                <a:cs typeface="Century Schoolbook"/>
              </a:rPr>
              <a:t>biological</a:t>
            </a:r>
            <a:r>
              <a:rPr sz="2133" spc="-27" dirty="0">
                <a:latin typeface="Century Schoolbook"/>
                <a:cs typeface="Century Schoolbook"/>
              </a:rPr>
              <a:t> </a:t>
            </a:r>
            <a:r>
              <a:rPr sz="2133" spc="-13" dirty="0">
                <a:latin typeface="Century Schoolbook"/>
                <a:cs typeface="Century Schoolbook"/>
              </a:rPr>
              <a:t>information.</a:t>
            </a:r>
            <a:endParaRPr sz="2133" dirty="0">
              <a:latin typeface="Century Schoolbook"/>
              <a:cs typeface="Century Schoolbook"/>
            </a:endParaRPr>
          </a:p>
        </p:txBody>
      </p:sp>
      <p:sp>
        <p:nvSpPr>
          <p:cNvPr id="10" name="object 10"/>
          <p:cNvSpPr txBox="1"/>
          <p:nvPr/>
        </p:nvSpPr>
        <p:spPr>
          <a:xfrm>
            <a:off x="415234" y="5789432"/>
            <a:ext cx="11463020" cy="432533"/>
          </a:xfrm>
          <a:prstGeom prst="rect">
            <a:avLst/>
          </a:prstGeom>
          <a:solidFill>
            <a:srgbClr val="FFE499"/>
          </a:solidFill>
        </p:spPr>
        <p:txBody>
          <a:bodyPr vert="horz" wrap="square" lIns="0" tIns="103293" rIns="0" bIns="0" rtlCol="0">
            <a:spAutoFit/>
          </a:bodyPr>
          <a:lstStyle/>
          <a:p>
            <a:pPr marL="114297">
              <a:spcBef>
                <a:spcPts val="813"/>
              </a:spcBef>
            </a:pPr>
            <a:r>
              <a:rPr sz="2133" dirty="0">
                <a:latin typeface="Century Schoolbook"/>
                <a:cs typeface="Century Schoolbook"/>
              </a:rPr>
              <a:t>It</a:t>
            </a:r>
            <a:r>
              <a:rPr sz="2133" spc="-40" dirty="0">
                <a:latin typeface="Century Schoolbook"/>
                <a:cs typeface="Century Schoolbook"/>
              </a:rPr>
              <a:t> </a:t>
            </a:r>
            <a:r>
              <a:rPr sz="2133" dirty="0">
                <a:latin typeface="Century Schoolbook"/>
                <a:cs typeface="Century Schoolbook"/>
              </a:rPr>
              <a:t>helps</a:t>
            </a:r>
            <a:r>
              <a:rPr sz="2133" spc="-40" dirty="0">
                <a:latin typeface="Century Schoolbook"/>
                <a:cs typeface="Century Schoolbook"/>
              </a:rPr>
              <a:t> </a:t>
            </a:r>
            <a:r>
              <a:rPr sz="2133" dirty="0">
                <a:latin typeface="Century Schoolbook"/>
                <a:cs typeface="Century Schoolbook"/>
              </a:rPr>
              <a:t>remove</a:t>
            </a:r>
            <a:r>
              <a:rPr sz="2133" spc="-33" dirty="0">
                <a:latin typeface="Century Schoolbook"/>
                <a:cs typeface="Century Schoolbook"/>
              </a:rPr>
              <a:t> </a:t>
            </a:r>
            <a:r>
              <a:rPr sz="2133" dirty="0">
                <a:latin typeface="Century Schoolbook"/>
                <a:cs typeface="Century Schoolbook"/>
              </a:rPr>
              <a:t>the</a:t>
            </a:r>
            <a:r>
              <a:rPr sz="2133" spc="-40" dirty="0">
                <a:latin typeface="Century Schoolbook"/>
                <a:cs typeface="Century Schoolbook"/>
              </a:rPr>
              <a:t> </a:t>
            </a:r>
            <a:r>
              <a:rPr sz="2133" spc="-13" dirty="0">
                <a:latin typeface="Century Schoolbook"/>
                <a:cs typeface="Century Schoolbook"/>
              </a:rPr>
              <a:t>redundancy</a:t>
            </a:r>
            <a:r>
              <a:rPr sz="2133" spc="-33" dirty="0">
                <a:latin typeface="Century Schoolbook"/>
                <a:cs typeface="Century Schoolbook"/>
              </a:rPr>
              <a:t> </a:t>
            </a:r>
            <a:r>
              <a:rPr sz="2133" dirty="0">
                <a:latin typeface="Century Schoolbook"/>
                <a:cs typeface="Century Schoolbook"/>
              </a:rPr>
              <a:t>of</a:t>
            </a:r>
            <a:r>
              <a:rPr sz="2133" spc="-40" dirty="0">
                <a:latin typeface="Century Schoolbook"/>
                <a:cs typeface="Century Schoolbook"/>
              </a:rPr>
              <a:t> </a:t>
            </a:r>
            <a:r>
              <a:rPr sz="2133" spc="-13" dirty="0">
                <a:latin typeface="Century Schoolbook"/>
                <a:cs typeface="Century Schoolbook"/>
              </a:rPr>
              <a:t>data.</a:t>
            </a:r>
            <a:endParaRPr sz="2133" dirty="0">
              <a:latin typeface="Century Schoolbook"/>
              <a:cs typeface="Century Schoolbook"/>
            </a:endParaRPr>
          </a:p>
        </p:txBody>
      </p:sp>
    </p:spTree>
    <p:extLst>
      <p:ext uri="{BB962C8B-B14F-4D97-AF65-F5344CB8AC3E}">
        <p14:creationId xmlns:p14="http://schemas.microsoft.com/office/powerpoint/2010/main" val="3438385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2099681">
              <a:lnSpc>
                <a:spcPct val="100000"/>
              </a:lnSpc>
              <a:spcBef>
                <a:spcPts val="133"/>
              </a:spcBef>
            </a:pPr>
            <a:r>
              <a:rPr spc="360" dirty="0"/>
              <a:t>Types</a:t>
            </a:r>
            <a:r>
              <a:rPr spc="193" dirty="0"/>
              <a:t> </a:t>
            </a:r>
            <a:r>
              <a:rPr spc="233" dirty="0"/>
              <a:t>of</a:t>
            </a:r>
            <a:r>
              <a:rPr spc="193" dirty="0"/>
              <a:t> </a:t>
            </a:r>
            <a:r>
              <a:rPr spc="313" dirty="0"/>
              <a:t>Biological</a:t>
            </a:r>
            <a:r>
              <a:rPr spc="200" dirty="0"/>
              <a:t> </a:t>
            </a:r>
            <a:r>
              <a:rPr spc="347" dirty="0"/>
              <a:t>Database</a:t>
            </a:r>
          </a:p>
        </p:txBody>
      </p:sp>
      <p:sp>
        <p:nvSpPr>
          <p:cNvPr id="6" name="object 6"/>
          <p:cNvSpPr txBox="1"/>
          <p:nvPr/>
        </p:nvSpPr>
        <p:spPr>
          <a:xfrm>
            <a:off x="364489" y="1080025"/>
            <a:ext cx="11463020" cy="760763"/>
          </a:xfrm>
          <a:prstGeom prst="rect">
            <a:avLst/>
          </a:prstGeom>
          <a:solidFill>
            <a:srgbClr val="EAD1DC"/>
          </a:solidFill>
        </p:spPr>
        <p:txBody>
          <a:bodyPr vert="horz" wrap="square" lIns="0" tIns="103293" rIns="0" bIns="0" rtlCol="0">
            <a:spAutoFit/>
          </a:bodyPr>
          <a:lstStyle/>
          <a:p>
            <a:pPr marL="114297" marR="116837">
              <a:spcBef>
                <a:spcPts val="813"/>
              </a:spcBef>
            </a:pPr>
            <a:r>
              <a:rPr sz="2133" dirty="0">
                <a:latin typeface="Century Schoolbook"/>
                <a:cs typeface="Century Schoolbook"/>
              </a:rPr>
              <a:t>There</a:t>
            </a:r>
            <a:r>
              <a:rPr sz="2133" spc="407" dirty="0">
                <a:latin typeface="Century Schoolbook"/>
                <a:cs typeface="Century Schoolbook"/>
              </a:rPr>
              <a:t> </a:t>
            </a:r>
            <a:r>
              <a:rPr sz="2133" dirty="0">
                <a:latin typeface="Century Schoolbook"/>
                <a:cs typeface="Century Schoolbook"/>
              </a:rPr>
              <a:t>are</a:t>
            </a:r>
            <a:r>
              <a:rPr sz="2133" spc="413" dirty="0">
                <a:latin typeface="Century Schoolbook"/>
                <a:cs typeface="Century Schoolbook"/>
              </a:rPr>
              <a:t> </a:t>
            </a:r>
            <a:r>
              <a:rPr sz="2133" dirty="0">
                <a:latin typeface="Century Schoolbook"/>
                <a:cs typeface="Century Schoolbook"/>
              </a:rPr>
              <a:t>basically</a:t>
            </a:r>
            <a:r>
              <a:rPr sz="2133" spc="413" dirty="0">
                <a:latin typeface="Century Schoolbook"/>
                <a:cs typeface="Century Schoolbook"/>
              </a:rPr>
              <a:t> </a:t>
            </a:r>
            <a:r>
              <a:rPr sz="2133" dirty="0">
                <a:latin typeface="Century Schoolbook"/>
                <a:cs typeface="Century Schoolbook"/>
              </a:rPr>
              <a:t>three</a:t>
            </a:r>
            <a:r>
              <a:rPr sz="2133" spc="413" dirty="0">
                <a:latin typeface="Century Schoolbook"/>
                <a:cs typeface="Century Schoolbook"/>
              </a:rPr>
              <a:t> </a:t>
            </a:r>
            <a:r>
              <a:rPr sz="2133" dirty="0">
                <a:latin typeface="Century Schoolbook"/>
                <a:cs typeface="Century Schoolbook"/>
              </a:rPr>
              <a:t>types</a:t>
            </a:r>
            <a:r>
              <a:rPr sz="2133" spc="407" dirty="0">
                <a:latin typeface="Century Schoolbook"/>
                <a:cs typeface="Century Schoolbook"/>
              </a:rPr>
              <a:t> </a:t>
            </a:r>
            <a:r>
              <a:rPr sz="2133" dirty="0">
                <a:latin typeface="Century Schoolbook"/>
                <a:cs typeface="Century Schoolbook"/>
              </a:rPr>
              <a:t>of</a:t>
            </a:r>
            <a:r>
              <a:rPr sz="2133" spc="413" dirty="0">
                <a:latin typeface="Century Schoolbook"/>
                <a:cs typeface="Century Schoolbook"/>
              </a:rPr>
              <a:t> </a:t>
            </a:r>
            <a:r>
              <a:rPr sz="2133" dirty="0">
                <a:latin typeface="Century Schoolbook"/>
                <a:cs typeface="Century Schoolbook"/>
              </a:rPr>
              <a:t>biological</a:t>
            </a:r>
            <a:r>
              <a:rPr sz="2133" spc="407" dirty="0">
                <a:latin typeface="Century Schoolbook"/>
                <a:cs typeface="Century Schoolbook"/>
              </a:rPr>
              <a:t> </a:t>
            </a:r>
            <a:r>
              <a:rPr sz="2133" dirty="0">
                <a:latin typeface="Century Schoolbook"/>
                <a:cs typeface="Century Schoolbook"/>
              </a:rPr>
              <a:t>databases.</a:t>
            </a:r>
            <a:r>
              <a:rPr sz="2133" spc="407" dirty="0">
                <a:latin typeface="Century Schoolbook"/>
                <a:cs typeface="Century Schoolbook"/>
              </a:rPr>
              <a:t> </a:t>
            </a:r>
            <a:r>
              <a:rPr sz="2133" dirty="0">
                <a:latin typeface="Century Schoolbook"/>
                <a:cs typeface="Century Schoolbook"/>
              </a:rPr>
              <a:t>They</a:t>
            </a:r>
            <a:r>
              <a:rPr sz="2133" spc="413" dirty="0">
                <a:latin typeface="Century Schoolbook"/>
                <a:cs typeface="Century Schoolbook"/>
              </a:rPr>
              <a:t> </a:t>
            </a:r>
            <a:r>
              <a:rPr sz="2133" dirty="0">
                <a:latin typeface="Century Schoolbook"/>
                <a:cs typeface="Century Schoolbook"/>
              </a:rPr>
              <a:t>are:</a:t>
            </a:r>
            <a:r>
              <a:rPr sz="2133" spc="407" dirty="0">
                <a:latin typeface="Century Schoolbook"/>
                <a:cs typeface="Century Schoolbook"/>
              </a:rPr>
              <a:t> </a:t>
            </a:r>
            <a:r>
              <a:rPr sz="2133" dirty="0">
                <a:solidFill>
                  <a:srgbClr val="FF0000"/>
                </a:solidFill>
                <a:latin typeface="Century Schoolbook"/>
                <a:cs typeface="Century Schoolbook"/>
              </a:rPr>
              <a:t>Primary</a:t>
            </a:r>
            <a:r>
              <a:rPr sz="2133" spc="413" dirty="0">
                <a:solidFill>
                  <a:srgbClr val="FF0000"/>
                </a:solidFill>
                <a:latin typeface="Century Schoolbook"/>
                <a:cs typeface="Century Schoolbook"/>
              </a:rPr>
              <a:t> </a:t>
            </a:r>
            <a:r>
              <a:rPr sz="2133" spc="-13" dirty="0">
                <a:solidFill>
                  <a:srgbClr val="FF0000"/>
                </a:solidFill>
                <a:latin typeface="Century Schoolbook"/>
                <a:cs typeface="Century Schoolbook"/>
              </a:rPr>
              <a:t>databases, secondary</a:t>
            </a:r>
            <a:r>
              <a:rPr sz="2133" spc="-67" dirty="0">
                <a:solidFill>
                  <a:srgbClr val="FF0000"/>
                </a:solidFill>
                <a:latin typeface="Century Schoolbook"/>
                <a:cs typeface="Century Schoolbook"/>
              </a:rPr>
              <a:t> </a:t>
            </a:r>
            <a:r>
              <a:rPr sz="2133" dirty="0">
                <a:solidFill>
                  <a:srgbClr val="FF0000"/>
                </a:solidFill>
                <a:latin typeface="Century Schoolbook"/>
                <a:cs typeface="Century Schoolbook"/>
              </a:rPr>
              <a:t>databases</a:t>
            </a:r>
            <a:r>
              <a:rPr sz="2133" spc="-67" dirty="0">
                <a:solidFill>
                  <a:srgbClr val="FF0000"/>
                </a:solidFill>
                <a:latin typeface="Century Schoolbook"/>
                <a:cs typeface="Century Schoolbook"/>
              </a:rPr>
              <a:t> </a:t>
            </a:r>
            <a:r>
              <a:rPr sz="2133" dirty="0">
                <a:solidFill>
                  <a:srgbClr val="FF0000"/>
                </a:solidFill>
                <a:latin typeface="Century Schoolbook"/>
                <a:cs typeface="Century Schoolbook"/>
              </a:rPr>
              <a:t>and</a:t>
            </a:r>
            <a:r>
              <a:rPr sz="2133" spc="-67" dirty="0">
                <a:solidFill>
                  <a:srgbClr val="FF0000"/>
                </a:solidFill>
                <a:latin typeface="Century Schoolbook"/>
                <a:cs typeface="Century Schoolbook"/>
              </a:rPr>
              <a:t> </a:t>
            </a:r>
            <a:r>
              <a:rPr sz="2133" dirty="0">
                <a:solidFill>
                  <a:srgbClr val="FF0000"/>
                </a:solidFill>
                <a:latin typeface="Century Schoolbook"/>
                <a:cs typeface="Century Schoolbook"/>
              </a:rPr>
              <a:t>composite</a:t>
            </a:r>
            <a:r>
              <a:rPr sz="2133" spc="-67" dirty="0">
                <a:solidFill>
                  <a:srgbClr val="FF0000"/>
                </a:solidFill>
                <a:latin typeface="Century Schoolbook"/>
                <a:cs typeface="Century Schoolbook"/>
              </a:rPr>
              <a:t> </a:t>
            </a:r>
            <a:r>
              <a:rPr sz="2133" spc="-13" dirty="0">
                <a:solidFill>
                  <a:srgbClr val="FF0000"/>
                </a:solidFill>
                <a:latin typeface="Century Schoolbook"/>
                <a:cs typeface="Century Schoolbook"/>
              </a:rPr>
              <a:t>databases.</a:t>
            </a:r>
            <a:endParaRPr sz="2133" dirty="0">
              <a:solidFill>
                <a:srgbClr val="FF0000"/>
              </a:solidFill>
              <a:latin typeface="Century Schoolbook"/>
              <a:cs typeface="Century Schoolbook"/>
            </a:endParaRPr>
          </a:p>
        </p:txBody>
      </p:sp>
      <p:sp>
        <p:nvSpPr>
          <p:cNvPr id="7" name="object 7"/>
          <p:cNvSpPr txBox="1"/>
          <p:nvPr/>
        </p:nvSpPr>
        <p:spPr>
          <a:xfrm>
            <a:off x="364487" y="1983419"/>
            <a:ext cx="11463020" cy="432533"/>
          </a:xfrm>
          <a:prstGeom prst="rect">
            <a:avLst/>
          </a:prstGeom>
          <a:solidFill>
            <a:srgbClr val="FFE499"/>
          </a:solidFill>
        </p:spPr>
        <p:txBody>
          <a:bodyPr vert="horz" wrap="square" lIns="0" tIns="103293" rIns="0" bIns="0" rtlCol="0">
            <a:spAutoFit/>
          </a:bodyPr>
          <a:lstStyle/>
          <a:p>
            <a:pPr algn="ctr">
              <a:spcBef>
                <a:spcPts val="813"/>
              </a:spcBef>
            </a:pPr>
            <a:r>
              <a:rPr sz="2133" b="1" dirty="0">
                <a:latin typeface="Century Schoolbook Bold"/>
                <a:cs typeface="Century Schoolbook Bold"/>
              </a:rPr>
              <a:t>Primary</a:t>
            </a:r>
            <a:r>
              <a:rPr sz="2133" b="1" spc="-47" dirty="0">
                <a:latin typeface="Century Schoolbook Bold"/>
                <a:cs typeface="Century Schoolbook Bold"/>
              </a:rPr>
              <a:t> </a:t>
            </a:r>
            <a:r>
              <a:rPr sz="2133" b="1" spc="-13" dirty="0">
                <a:latin typeface="Century Schoolbook Bold"/>
                <a:cs typeface="Century Schoolbook Bold"/>
              </a:rPr>
              <a:t>Databases</a:t>
            </a:r>
            <a:endParaRPr sz="2133">
              <a:latin typeface="Century Schoolbook Bold"/>
              <a:cs typeface="Century Schoolbook Bold"/>
            </a:endParaRPr>
          </a:p>
        </p:txBody>
      </p:sp>
      <p:sp>
        <p:nvSpPr>
          <p:cNvPr id="8" name="object 8"/>
          <p:cNvSpPr txBox="1"/>
          <p:nvPr/>
        </p:nvSpPr>
        <p:spPr>
          <a:xfrm>
            <a:off x="364486" y="2606797"/>
            <a:ext cx="11463020" cy="3386611"/>
          </a:xfrm>
          <a:prstGeom prst="rect">
            <a:avLst/>
          </a:prstGeom>
          <a:solidFill>
            <a:schemeClr val="accent6">
              <a:lumMod val="40000"/>
              <a:lumOff val="60000"/>
            </a:schemeClr>
          </a:solidFill>
        </p:spPr>
        <p:txBody>
          <a:bodyPr vert="horz" wrap="square" lIns="0" tIns="103293" rIns="0" bIns="0" rtlCol="0">
            <a:spAutoFit/>
          </a:bodyPr>
          <a:lstStyle/>
          <a:p>
            <a:pPr marL="342900" indent="-342900">
              <a:buFont typeface="Wingdings" panose="05000000000000000000" pitchFamily="2" charset="2"/>
              <a:buChar char="§"/>
            </a:pPr>
            <a:r>
              <a:rPr lang="en-US" sz="2133" dirty="0">
                <a:latin typeface="Times New Roman" panose="02020603050405020304" pitchFamily="18" charset="0"/>
                <a:cs typeface="Times New Roman" panose="02020603050405020304" pitchFamily="18" charset="0"/>
              </a:rPr>
              <a:t>Stores </a:t>
            </a:r>
            <a:r>
              <a:rPr lang="en-US" sz="2133" b="1" dirty="0">
                <a:latin typeface="Times New Roman" panose="02020603050405020304" pitchFamily="18" charset="0"/>
                <a:cs typeface="Times New Roman" panose="02020603050405020304" pitchFamily="18" charset="0"/>
              </a:rPr>
              <a:t>raw, experimental data</a:t>
            </a:r>
            <a:r>
              <a:rPr lang="en-US" sz="2133" dirty="0">
                <a:latin typeface="Times New Roman" panose="02020603050405020304" pitchFamily="18" charset="0"/>
                <a:cs typeface="Times New Roman" panose="02020603050405020304" pitchFamily="18" charset="0"/>
              </a:rPr>
              <a:t> that comes directly from laboratory experiments without much </a:t>
            </a:r>
            <a:r>
              <a:rPr lang="en-US" sz="2133" dirty="0" smtClean="0">
                <a:latin typeface="Times New Roman" panose="02020603050405020304" pitchFamily="18" charset="0"/>
                <a:cs typeface="Times New Roman" panose="02020603050405020304" pitchFamily="18" charset="0"/>
              </a:rPr>
              <a:t>interpretation.</a:t>
            </a:r>
          </a:p>
          <a:p>
            <a:pPr marL="342900" indent="-342900">
              <a:buFont typeface="Wingdings" panose="05000000000000000000" pitchFamily="2" charset="2"/>
              <a:buChar char="§"/>
            </a:pPr>
            <a:r>
              <a:rPr lang="en-US" sz="2133" b="1" dirty="0" smtClean="0">
                <a:latin typeface="Times New Roman" panose="02020603050405020304" pitchFamily="18" charset="0"/>
                <a:cs typeface="Times New Roman" panose="02020603050405020304" pitchFamily="18" charset="0"/>
              </a:rPr>
              <a:t>Nature</a:t>
            </a:r>
            <a:r>
              <a:rPr lang="en-US" sz="2133" b="1" dirty="0">
                <a:latin typeface="Times New Roman" panose="02020603050405020304" pitchFamily="18" charset="0"/>
                <a:cs typeface="Times New Roman" panose="02020603050405020304" pitchFamily="18" charset="0"/>
              </a:rPr>
              <a:t>:</a:t>
            </a:r>
            <a:r>
              <a:rPr lang="en-US" sz="2133" dirty="0">
                <a:latin typeface="Times New Roman" panose="02020603050405020304" pitchFamily="18" charset="0"/>
                <a:cs typeface="Times New Roman" panose="02020603050405020304" pitchFamily="18" charset="0"/>
              </a:rPr>
              <a:t> Original, unprocessed, factual </a:t>
            </a:r>
            <a:r>
              <a:rPr lang="en-US" sz="2133" dirty="0" smtClean="0">
                <a:latin typeface="Times New Roman" panose="02020603050405020304" pitchFamily="18" charset="0"/>
                <a:cs typeface="Times New Roman" panose="02020603050405020304" pitchFamily="18" charset="0"/>
              </a:rPr>
              <a:t>data.</a:t>
            </a:r>
          </a:p>
          <a:p>
            <a:pPr marL="342900" indent="-342900">
              <a:buFont typeface="Wingdings" panose="05000000000000000000" pitchFamily="2" charset="2"/>
              <a:buChar char="§"/>
            </a:pPr>
            <a:r>
              <a:rPr lang="en-US" sz="2133" b="1" dirty="0" smtClean="0">
                <a:latin typeface="Times New Roman" panose="02020603050405020304" pitchFamily="18" charset="0"/>
                <a:cs typeface="Times New Roman" panose="02020603050405020304" pitchFamily="18" charset="0"/>
              </a:rPr>
              <a:t>Examples</a:t>
            </a:r>
            <a:r>
              <a:rPr lang="en-US" sz="2133" b="1" dirty="0">
                <a:latin typeface="Times New Roman" panose="02020603050405020304" pitchFamily="18" charset="0"/>
                <a:cs typeface="Times New Roman" panose="02020603050405020304" pitchFamily="18" charset="0"/>
              </a:rPr>
              <a:t>:</a:t>
            </a:r>
            <a:endParaRPr lang="en-US" sz="2133" dirty="0">
              <a:latin typeface="Times New Roman" panose="02020603050405020304" pitchFamily="18" charset="0"/>
              <a:cs typeface="Times New Roman" panose="02020603050405020304" pitchFamily="18" charset="0"/>
            </a:endParaRPr>
          </a:p>
          <a:p>
            <a:pPr marL="990575" lvl="1" indent="-380990">
              <a:buFont typeface="Arial" panose="020B0604020202020204" pitchFamily="34" charset="0"/>
              <a:buChar char="•"/>
            </a:pPr>
            <a:r>
              <a:rPr lang="en-US" sz="2133" b="1" dirty="0" err="1">
                <a:latin typeface="Times New Roman" panose="02020603050405020304" pitchFamily="18" charset="0"/>
                <a:cs typeface="Times New Roman" panose="02020603050405020304" pitchFamily="18" charset="0"/>
              </a:rPr>
              <a:t>GenBank</a:t>
            </a:r>
            <a:r>
              <a:rPr lang="en-US" sz="2133" dirty="0">
                <a:latin typeface="Times New Roman" panose="02020603050405020304" pitchFamily="18" charset="0"/>
                <a:cs typeface="Times New Roman" panose="02020603050405020304" pitchFamily="18" charset="0"/>
              </a:rPr>
              <a:t> (DNA sequences – maintained by NCBI)</a:t>
            </a:r>
          </a:p>
          <a:p>
            <a:pPr marL="990575" lvl="1" indent="-380990">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EMBL-EBI</a:t>
            </a:r>
            <a:r>
              <a:rPr lang="en-US" sz="2133" dirty="0">
                <a:latin typeface="Times New Roman" panose="02020603050405020304" pitchFamily="18" charset="0"/>
                <a:cs typeface="Times New Roman" panose="02020603050405020304" pitchFamily="18" charset="0"/>
              </a:rPr>
              <a:t> (European Molecular Biology Laboratory database)</a:t>
            </a:r>
          </a:p>
          <a:p>
            <a:pPr marL="990575" lvl="1" indent="-380990">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DDBJ</a:t>
            </a:r>
            <a:r>
              <a:rPr lang="en-US" sz="2133" dirty="0">
                <a:latin typeface="Times New Roman" panose="02020603050405020304" pitchFamily="18" charset="0"/>
                <a:cs typeface="Times New Roman" panose="02020603050405020304" pitchFamily="18" charset="0"/>
              </a:rPr>
              <a:t> (DNA Data Bank of Japan)</a:t>
            </a:r>
          </a:p>
          <a:p>
            <a:pPr marL="990575" lvl="1" indent="-380990">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PDB</a:t>
            </a:r>
            <a:r>
              <a:rPr lang="en-US" sz="2133" dirty="0">
                <a:latin typeface="Times New Roman" panose="02020603050405020304" pitchFamily="18" charset="0"/>
                <a:cs typeface="Times New Roman" panose="02020603050405020304" pitchFamily="18" charset="0"/>
              </a:rPr>
              <a:t> (Protein Data Bank – protein 3D structures)</a:t>
            </a:r>
          </a:p>
          <a:p>
            <a:r>
              <a:rPr lang="en-US" sz="2133" dirty="0">
                <a:latin typeface="Times New Roman" panose="02020603050405020304" pitchFamily="18" charset="0"/>
                <a:cs typeface="Times New Roman" panose="02020603050405020304" pitchFamily="18" charset="0"/>
              </a:rPr>
              <a:t>✅ Example use: Uploading a newly sequenced gene into </a:t>
            </a:r>
            <a:r>
              <a:rPr lang="en-US" sz="2133" b="1" dirty="0" err="1">
                <a:latin typeface="Times New Roman" panose="02020603050405020304" pitchFamily="18" charset="0"/>
                <a:cs typeface="Times New Roman" panose="02020603050405020304" pitchFamily="18" charset="0"/>
              </a:rPr>
              <a:t>GenBank</a:t>
            </a:r>
            <a:r>
              <a:rPr lang="en-US" sz="2133" dirty="0">
                <a:latin typeface="Times New Roman" panose="02020603050405020304" pitchFamily="18" charset="0"/>
                <a:cs typeface="Times New Roman" panose="02020603050405020304" pitchFamily="18" charset="0"/>
              </a:rPr>
              <a:t> so others can access the raw sequence.</a:t>
            </a:r>
          </a:p>
        </p:txBody>
      </p:sp>
    </p:spTree>
    <p:extLst>
      <p:ext uri="{BB962C8B-B14F-4D97-AF65-F5344CB8AC3E}">
        <p14:creationId xmlns:p14="http://schemas.microsoft.com/office/powerpoint/2010/main" val="7154875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1765" y="734206"/>
            <a:ext cx="14020800" cy="694207"/>
          </a:xfrm>
          <a:prstGeom prst="rect">
            <a:avLst/>
          </a:prstGeom>
        </p:spPr>
        <p:txBody>
          <a:bodyPr vert="horz" wrap="square" lIns="0" tIns="16933" rIns="0" bIns="0" rtlCol="0" anchor="ctr">
            <a:spAutoFit/>
          </a:bodyPr>
          <a:lstStyle/>
          <a:p>
            <a:pPr marL="2099681">
              <a:lnSpc>
                <a:spcPct val="100000"/>
              </a:lnSpc>
              <a:spcBef>
                <a:spcPts val="133"/>
              </a:spcBef>
            </a:pPr>
            <a:r>
              <a:rPr spc="360" dirty="0"/>
              <a:t>Types</a:t>
            </a:r>
            <a:r>
              <a:rPr spc="193" dirty="0"/>
              <a:t> </a:t>
            </a:r>
            <a:r>
              <a:rPr spc="233" dirty="0"/>
              <a:t>of</a:t>
            </a:r>
            <a:r>
              <a:rPr spc="193" dirty="0"/>
              <a:t> </a:t>
            </a:r>
            <a:r>
              <a:rPr spc="313" dirty="0"/>
              <a:t>Biological</a:t>
            </a:r>
            <a:r>
              <a:rPr spc="200" dirty="0"/>
              <a:t> </a:t>
            </a:r>
            <a:r>
              <a:rPr spc="347" dirty="0"/>
              <a:t>Database</a:t>
            </a:r>
          </a:p>
        </p:txBody>
      </p:sp>
      <p:grpSp>
        <p:nvGrpSpPr>
          <p:cNvPr id="3" name="object 3"/>
          <p:cNvGrpSpPr/>
          <p:nvPr/>
        </p:nvGrpSpPr>
        <p:grpSpPr>
          <a:xfrm>
            <a:off x="231987" y="575090"/>
            <a:ext cx="11960013" cy="6022934"/>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52253" y="1444218"/>
            <a:ext cx="11463020" cy="432533"/>
          </a:xfrm>
          <a:prstGeom prst="rect">
            <a:avLst/>
          </a:prstGeom>
          <a:solidFill>
            <a:srgbClr val="EAD1DC"/>
          </a:solidFill>
        </p:spPr>
        <p:txBody>
          <a:bodyPr vert="horz" wrap="square" lIns="0" tIns="103293" rIns="0" bIns="0" rtlCol="0">
            <a:spAutoFit/>
          </a:bodyPr>
          <a:lstStyle/>
          <a:p>
            <a:pPr algn="ctr">
              <a:spcBef>
                <a:spcPts val="813"/>
              </a:spcBef>
            </a:pPr>
            <a:r>
              <a:rPr sz="2133" b="1" dirty="0">
                <a:latin typeface="Century Schoolbook Bold"/>
                <a:cs typeface="Century Schoolbook Bold"/>
              </a:rPr>
              <a:t>Primary</a:t>
            </a:r>
            <a:r>
              <a:rPr sz="2133" b="1" spc="-47" dirty="0">
                <a:latin typeface="Century Schoolbook Bold"/>
                <a:cs typeface="Century Schoolbook Bold"/>
              </a:rPr>
              <a:t> </a:t>
            </a:r>
            <a:r>
              <a:rPr sz="2133" b="1" spc="-13" dirty="0">
                <a:latin typeface="Century Schoolbook Bold"/>
                <a:cs typeface="Century Schoolbook Bold"/>
              </a:rPr>
              <a:t>Databases</a:t>
            </a:r>
            <a:endParaRPr sz="2133" dirty="0">
              <a:latin typeface="Century Schoolbook Bold"/>
              <a:cs typeface="Century Schoolbook Bold"/>
            </a:endParaRPr>
          </a:p>
        </p:txBody>
      </p:sp>
      <p:sp>
        <p:nvSpPr>
          <p:cNvPr id="9" name="object 9"/>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43</a:t>
            </a:fld>
            <a:endParaRPr spc="60" dirty="0"/>
          </a:p>
        </p:txBody>
      </p:sp>
      <p:sp>
        <p:nvSpPr>
          <p:cNvPr id="7" name="object 7"/>
          <p:cNvSpPr txBox="1"/>
          <p:nvPr/>
        </p:nvSpPr>
        <p:spPr>
          <a:xfrm>
            <a:off x="415599" y="1954153"/>
            <a:ext cx="11463020" cy="2073687"/>
          </a:xfrm>
          <a:prstGeom prst="rect">
            <a:avLst/>
          </a:prstGeom>
          <a:solidFill>
            <a:srgbClr val="FFE499"/>
          </a:solidFill>
        </p:spPr>
        <p:txBody>
          <a:bodyPr vert="horz" wrap="square" lIns="0" tIns="103293" rIns="0" bIns="0" rtlCol="0">
            <a:spAutoFit/>
          </a:bodyPr>
          <a:lstStyle/>
          <a:p>
            <a:r>
              <a:rPr lang="en-US" sz="2133" b="1" dirty="0">
                <a:latin typeface="Times New Roman" panose="02020603050405020304" pitchFamily="18" charset="0"/>
                <a:cs typeface="Times New Roman" panose="02020603050405020304" pitchFamily="18" charset="0"/>
              </a:rPr>
              <a:t>Accession Number in Bioinformatics</a:t>
            </a:r>
          </a:p>
          <a:p>
            <a:pPr marL="380990" indent="-380990">
              <a:buFont typeface="Wingdings" panose="05000000000000000000" pitchFamily="2" charset="2"/>
              <a:buChar char="§"/>
            </a:pPr>
            <a:r>
              <a:rPr lang="en-US" sz="2133" dirty="0">
                <a:latin typeface="Times New Roman" panose="02020603050405020304" pitchFamily="18" charset="0"/>
                <a:cs typeface="Times New Roman" panose="02020603050405020304" pitchFamily="18" charset="0"/>
              </a:rPr>
              <a:t>A unique identifier assigned to each entry (sequence, structure, or dataset) when it is submitted to a </a:t>
            </a:r>
            <a:r>
              <a:rPr lang="en-US" sz="2133" b="1" dirty="0">
                <a:latin typeface="Times New Roman" panose="02020603050405020304" pitchFamily="18" charset="0"/>
                <a:cs typeface="Times New Roman" panose="02020603050405020304" pitchFamily="18" charset="0"/>
              </a:rPr>
              <a:t>primary or secondary database</a:t>
            </a:r>
            <a:r>
              <a:rPr lang="en-US" sz="2133" dirty="0">
                <a:latin typeface="Times New Roman" panose="02020603050405020304" pitchFamily="18" charset="0"/>
                <a:cs typeface="Times New Roman" panose="02020603050405020304" pitchFamily="18" charset="0"/>
              </a:rPr>
              <a:t>.</a:t>
            </a:r>
          </a:p>
          <a:p>
            <a:pPr marL="380990" indent="-380990">
              <a:buFont typeface="Wingdings" panose="05000000000000000000" pitchFamily="2" charset="2"/>
              <a:buChar char="§"/>
            </a:pPr>
            <a:r>
              <a:rPr lang="en-US" sz="2133" dirty="0">
                <a:latin typeface="Times New Roman" panose="02020603050405020304" pitchFamily="18" charset="0"/>
                <a:cs typeface="Times New Roman" panose="02020603050405020304" pitchFamily="18" charset="0"/>
              </a:rPr>
              <a:t>No two records share the same accession number.</a:t>
            </a:r>
          </a:p>
          <a:p>
            <a:pPr marL="380990" indent="-380990">
              <a:buFont typeface="Wingdings" panose="05000000000000000000" pitchFamily="2" charset="2"/>
              <a:buChar char="§"/>
            </a:pPr>
            <a:r>
              <a:rPr lang="en-US" sz="2133" dirty="0">
                <a:latin typeface="Times New Roman" panose="02020603050405020304" pitchFamily="18" charset="0"/>
                <a:cs typeface="Times New Roman" panose="02020603050405020304" pitchFamily="18" charset="0"/>
              </a:rPr>
              <a:t>Once assigned, it </a:t>
            </a:r>
            <a:r>
              <a:rPr lang="en-US" sz="2133" b="1" dirty="0">
                <a:latin typeface="Times New Roman" panose="02020603050405020304" pitchFamily="18" charset="0"/>
                <a:cs typeface="Times New Roman" panose="02020603050405020304" pitchFamily="18" charset="0"/>
              </a:rPr>
              <a:t>never changes</a:t>
            </a:r>
            <a:r>
              <a:rPr lang="en-US" sz="2133" dirty="0">
                <a:latin typeface="Times New Roman" panose="02020603050405020304" pitchFamily="18" charset="0"/>
                <a:cs typeface="Times New Roman" panose="02020603050405020304" pitchFamily="18" charset="0"/>
              </a:rPr>
              <a:t>, even if the entry is updated or corrected.</a:t>
            </a:r>
          </a:p>
          <a:p>
            <a:r>
              <a:rPr lang="en-US" sz="2133" b="1" dirty="0">
                <a:latin typeface="Times New Roman" panose="02020603050405020304" pitchFamily="18" charset="0"/>
                <a:cs typeface="Times New Roman" panose="02020603050405020304" pitchFamily="18" charset="0"/>
              </a:rPr>
              <a:t>Purpose:</a:t>
            </a:r>
            <a:r>
              <a:rPr lang="en-US" sz="2133" dirty="0">
                <a:latin typeface="Times New Roman" panose="02020603050405020304" pitchFamily="18" charset="0"/>
                <a:cs typeface="Times New Roman" panose="02020603050405020304" pitchFamily="18" charset="0"/>
              </a:rPr>
              <a:t> Ensures reliable referencing, retrieval, and citation of biological data.</a:t>
            </a:r>
          </a:p>
        </p:txBody>
      </p:sp>
      <p:sp>
        <p:nvSpPr>
          <p:cNvPr id="8" name="object 8"/>
          <p:cNvSpPr txBox="1"/>
          <p:nvPr/>
        </p:nvSpPr>
        <p:spPr>
          <a:xfrm>
            <a:off x="415599" y="4058808"/>
            <a:ext cx="11463020" cy="2340876"/>
          </a:xfrm>
          <a:prstGeom prst="rect">
            <a:avLst/>
          </a:prstGeom>
          <a:solidFill>
            <a:srgbClr val="FFE499"/>
          </a:solidFill>
        </p:spPr>
        <p:txBody>
          <a:bodyPr vert="horz" wrap="square" lIns="0" tIns="103293" rIns="0" bIns="0" rtlCol="0">
            <a:spAutoFit/>
          </a:bodyPr>
          <a:lstStyle/>
          <a:p>
            <a:pPr marL="114297">
              <a:spcBef>
                <a:spcPts val="813"/>
              </a:spcBef>
            </a:pPr>
            <a:r>
              <a:rPr sz="2133" b="1" u="heavy" spc="-13" dirty="0">
                <a:uFill>
                  <a:solidFill>
                    <a:srgbClr val="000000"/>
                  </a:solidFill>
                </a:uFill>
                <a:latin typeface="Century Schoolbook Bold"/>
                <a:cs typeface="Century Schoolbook Bold"/>
              </a:rPr>
              <a:t>Examples:</a:t>
            </a:r>
            <a:endParaRPr lang="en-US" sz="2133" b="1" u="heavy" spc="-13" dirty="0">
              <a:uFill>
                <a:solidFill>
                  <a:srgbClr val="000000"/>
                </a:solidFill>
              </a:uFill>
              <a:latin typeface="Century Schoolbook Bold"/>
              <a:cs typeface="Century Schoolbook Bold"/>
            </a:endParaRPr>
          </a:p>
          <a:p>
            <a:pPr marL="342900" indent="-342900" defTabSz="1219170" eaLnBrk="0" fontAlgn="base" hangingPunct="0">
              <a:spcBef>
                <a:spcPct val="0"/>
              </a:spcBef>
              <a:spcAft>
                <a:spcPct val="0"/>
              </a:spcAft>
              <a:buFont typeface="Wingdings" panose="05000000000000000000" pitchFamily="2" charset="2"/>
              <a:buChar char="§"/>
            </a:pPr>
            <a:r>
              <a:rPr lang="en-US" sz="1867" b="1" dirty="0" err="1">
                <a:latin typeface="Times New Roman" panose="02020603050405020304" pitchFamily="18" charset="0"/>
                <a:cs typeface="Times New Roman" panose="02020603050405020304" pitchFamily="18" charset="0"/>
              </a:rPr>
              <a:t>GenBank</a:t>
            </a:r>
            <a:r>
              <a:rPr lang="en-US" sz="1867" b="1" dirty="0">
                <a:latin typeface="Times New Roman" panose="02020603050405020304" pitchFamily="18" charset="0"/>
                <a:cs typeface="Times New Roman" panose="02020603050405020304" pitchFamily="18" charset="0"/>
              </a:rPr>
              <a:t> (</a:t>
            </a:r>
            <a:r>
              <a:rPr lang="en-US" sz="1867" b="1" dirty="0" smtClean="0">
                <a:latin typeface="Times New Roman" panose="02020603050405020304" pitchFamily="18" charset="0"/>
                <a:cs typeface="Times New Roman" panose="02020603050405020304" pitchFamily="18" charset="0"/>
              </a:rPr>
              <a:t>NCBI)</a:t>
            </a:r>
            <a:endParaRPr lang="en-US" sz="1867" dirty="0">
              <a:latin typeface="Times New Roman" panose="02020603050405020304" pitchFamily="18" charset="0"/>
              <a:cs typeface="Times New Roman" panose="02020603050405020304" pitchFamily="18" charset="0"/>
            </a:endParaRPr>
          </a:p>
          <a:p>
            <a:pPr marL="800100" lvl="1" indent="-342900" defTabSz="1219170" eaLnBrk="0" fontAlgn="base" hangingPunct="0">
              <a:spcBef>
                <a:spcPct val="0"/>
              </a:spcBef>
              <a:spcAft>
                <a:spcPct val="0"/>
              </a:spcAft>
              <a:buFont typeface="Arial" panose="020B0604020202020204" pitchFamily="34" charset="0"/>
              <a:buChar char="•"/>
            </a:pPr>
            <a:r>
              <a:rPr lang="en-US" sz="1867" dirty="0" smtClean="0">
                <a:latin typeface="Times New Roman" panose="02020603050405020304" pitchFamily="18" charset="0"/>
                <a:cs typeface="Times New Roman" panose="02020603050405020304" pitchFamily="18" charset="0"/>
              </a:rPr>
              <a:t>Example </a:t>
            </a:r>
            <a:r>
              <a:rPr lang="en-US" sz="1867" dirty="0">
                <a:latin typeface="Times New Roman" panose="02020603050405020304" pitchFamily="18" charset="0"/>
                <a:cs typeface="Times New Roman" panose="02020603050405020304" pitchFamily="18" charset="0"/>
              </a:rPr>
              <a:t>accession: NM_000546 (human TP53 mRNA sequence).</a:t>
            </a:r>
          </a:p>
          <a:p>
            <a:pPr marL="342900" indent="-342900" defTabSz="1219170" eaLnBrk="0" fontAlgn="base" hangingPunct="0">
              <a:spcBef>
                <a:spcPct val="0"/>
              </a:spcBef>
              <a:spcAft>
                <a:spcPct val="0"/>
              </a:spcAft>
              <a:buFont typeface="Wingdings" panose="05000000000000000000" pitchFamily="2" charset="2"/>
              <a:buChar char="§"/>
            </a:pPr>
            <a:r>
              <a:rPr lang="en-US" sz="1867" b="1" dirty="0">
                <a:latin typeface="Times New Roman" panose="02020603050405020304" pitchFamily="18" charset="0"/>
                <a:cs typeface="Times New Roman" panose="02020603050405020304" pitchFamily="18" charset="0"/>
              </a:rPr>
              <a:t>PDB (Protein Data Bank)</a:t>
            </a:r>
            <a:endParaRPr lang="en-US" sz="1867" dirty="0">
              <a:latin typeface="Times New Roman" panose="02020603050405020304" pitchFamily="18" charset="0"/>
              <a:cs typeface="Times New Roman" panose="02020603050405020304" pitchFamily="18" charset="0"/>
            </a:endParaRPr>
          </a:p>
          <a:p>
            <a:pPr lvl="1" defTabSz="1219170" eaLnBrk="0" fontAlgn="base" hangingPunct="0">
              <a:spcBef>
                <a:spcPct val="0"/>
              </a:spcBef>
              <a:spcAft>
                <a:spcPct val="0"/>
              </a:spcAft>
              <a:buFontTx/>
              <a:buChar char="•"/>
            </a:pPr>
            <a:r>
              <a:rPr lang="en-US" sz="1867" dirty="0">
                <a:latin typeface="Times New Roman" panose="02020603050405020304" pitchFamily="18" charset="0"/>
                <a:cs typeface="Times New Roman" panose="02020603050405020304" pitchFamily="18" charset="0"/>
              </a:rPr>
              <a:t>Example accession: 1A3N (a protein 3D structure).</a:t>
            </a:r>
          </a:p>
          <a:p>
            <a:pPr defTabSz="1219170" eaLnBrk="0" fontAlgn="base" hangingPunct="0">
              <a:spcBef>
                <a:spcPct val="0"/>
              </a:spcBef>
              <a:spcAft>
                <a:spcPct val="0"/>
              </a:spcAft>
            </a:pPr>
            <a:endParaRPr lang="en-US" sz="2133" dirty="0">
              <a:latin typeface="Arial" panose="020B0604020202020204" pitchFamily="34" charset="0"/>
            </a:endParaRPr>
          </a:p>
          <a:p>
            <a:pPr marL="114297">
              <a:spcBef>
                <a:spcPts val="813"/>
              </a:spcBef>
            </a:pPr>
            <a:endParaRPr sz="2133" dirty="0">
              <a:latin typeface="Century Schoolbook"/>
              <a:cs typeface="Century Schoolbook"/>
            </a:endParaRPr>
          </a:p>
        </p:txBody>
      </p:sp>
    </p:spTree>
    <p:extLst>
      <p:ext uri="{BB962C8B-B14F-4D97-AF65-F5344CB8AC3E}">
        <p14:creationId xmlns:p14="http://schemas.microsoft.com/office/powerpoint/2010/main" val="30711144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1981" y="837810"/>
            <a:ext cx="14020800" cy="694207"/>
          </a:xfrm>
          <a:prstGeom prst="rect">
            <a:avLst/>
          </a:prstGeom>
        </p:spPr>
        <p:txBody>
          <a:bodyPr vert="horz" wrap="square" lIns="0" tIns="16933" rIns="0" bIns="0" rtlCol="0" anchor="ctr">
            <a:spAutoFit/>
          </a:bodyPr>
          <a:lstStyle/>
          <a:p>
            <a:pPr marL="2099681">
              <a:lnSpc>
                <a:spcPct val="100000"/>
              </a:lnSpc>
              <a:spcBef>
                <a:spcPts val="133"/>
              </a:spcBef>
            </a:pPr>
            <a:r>
              <a:rPr spc="360" dirty="0"/>
              <a:t>Types</a:t>
            </a:r>
            <a:r>
              <a:rPr spc="193" dirty="0"/>
              <a:t> </a:t>
            </a:r>
            <a:r>
              <a:rPr spc="233" dirty="0"/>
              <a:t>of</a:t>
            </a:r>
            <a:r>
              <a:rPr spc="193" dirty="0"/>
              <a:t> </a:t>
            </a:r>
            <a:r>
              <a:rPr spc="313" dirty="0"/>
              <a:t>Biological</a:t>
            </a:r>
            <a:r>
              <a:rPr spc="200" dirty="0"/>
              <a:t> </a:t>
            </a:r>
            <a:r>
              <a:rPr spc="347" dirty="0"/>
              <a:t>Database</a:t>
            </a:r>
          </a:p>
        </p:txBody>
      </p:sp>
      <p:grpSp>
        <p:nvGrpSpPr>
          <p:cNvPr id="3" name="object 3"/>
          <p:cNvGrpSpPr/>
          <p:nvPr/>
        </p:nvGrpSpPr>
        <p:grpSpPr>
          <a:xfrm>
            <a:off x="90294" y="773488"/>
            <a:ext cx="11960013" cy="5594773"/>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216013" y="1615895"/>
            <a:ext cx="11463020" cy="432533"/>
          </a:xfrm>
          <a:prstGeom prst="rect">
            <a:avLst/>
          </a:prstGeom>
          <a:solidFill>
            <a:srgbClr val="EAD1DC"/>
          </a:solidFill>
        </p:spPr>
        <p:txBody>
          <a:bodyPr vert="horz" wrap="square" lIns="0" tIns="103293" rIns="0" bIns="0" rtlCol="0">
            <a:spAutoFit/>
          </a:bodyPr>
          <a:lstStyle/>
          <a:p>
            <a:pPr algn="ctr">
              <a:spcBef>
                <a:spcPts val="813"/>
              </a:spcBef>
            </a:pPr>
            <a:r>
              <a:rPr sz="2133" b="1" dirty="0">
                <a:latin typeface="Century Schoolbook Bold"/>
                <a:cs typeface="Century Schoolbook Bold"/>
              </a:rPr>
              <a:t>Secondary</a:t>
            </a:r>
            <a:r>
              <a:rPr sz="2133" b="1" spc="-60" dirty="0">
                <a:latin typeface="Century Schoolbook Bold"/>
                <a:cs typeface="Century Schoolbook Bold"/>
              </a:rPr>
              <a:t> </a:t>
            </a:r>
            <a:r>
              <a:rPr sz="2133" b="1" spc="-13" dirty="0">
                <a:latin typeface="Century Schoolbook Bold"/>
                <a:cs typeface="Century Schoolbook Bold"/>
              </a:rPr>
              <a:t>Databases</a:t>
            </a:r>
            <a:endParaRPr sz="2133" dirty="0">
              <a:latin typeface="Century Schoolbook Bold"/>
              <a:cs typeface="Century Schoolbook Bold"/>
            </a:endParaRPr>
          </a:p>
        </p:txBody>
      </p:sp>
      <p:sp>
        <p:nvSpPr>
          <p:cNvPr id="10" name="object 10"/>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44</a:t>
            </a:fld>
            <a:endParaRPr spc="60" dirty="0"/>
          </a:p>
        </p:txBody>
      </p:sp>
      <p:sp>
        <p:nvSpPr>
          <p:cNvPr id="7" name="object 7"/>
          <p:cNvSpPr txBox="1"/>
          <p:nvPr/>
        </p:nvSpPr>
        <p:spPr>
          <a:xfrm>
            <a:off x="216013" y="2031082"/>
            <a:ext cx="11463020" cy="2730149"/>
          </a:xfrm>
          <a:prstGeom prst="rect">
            <a:avLst/>
          </a:prstGeom>
          <a:solidFill>
            <a:srgbClr val="FFE499"/>
          </a:solidFill>
        </p:spPr>
        <p:txBody>
          <a:bodyPr vert="horz" wrap="square" lIns="0" tIns="103293" rIns="0" bIns="0" rtlCol="0">
            <a:spAutoFit/>
          </a:bodyPr>
          <a:lstStyle/>
          <a:p>
            <a:r>
              <a:rPr lang="en-US" sz="2133" dirty="0">
                <a:latin typeface="Times New Roman" panose="02020603050405020304" pitchFamily="18" charset="0"/>
                <a:cs typeface="Times New Roman" panose="02020603050405020304" pitchFamily="18" charset="0"/>
              </a:rPr>
              <a:t>Stores </a:t>
            </a:r>
            <a:r>
              <a:rPr lang="en-US" sz="2133" b="1" dirty="0">
                <a:latin typeface="Times New Roman" panose="02020603050405020304" pitchFamily="18" charset="0"/>
                <a:cs typeface="Times New Roman" panose="02020603050405020304" pitchFamily="18" charset="0"/>
              </a:rPr>
              <a:t>interpreted, curated, or derived data</a:t>
            </a:r>
            <a:r>
              <a:rPr lang="en-US" sz="2133" dirty="0">
                <a:latin typeface="Times New Roman" panose="02020603050405020304" pitchFamily="18" charset="0"/>
                <a:cs typeface="Times New Roman" panose="02020603050405020304" pitchFamily="18" charset="0"/>
              </a:rPr>
              <a:t> that is analyzed and annotated from primary databases.</a:t>
            </a:r>
          </a:p>
          <a:p>
            <a:pPr>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Nature:</a:t>
            </a:r>
            <a:r>
              <a:rPr lang="en-US" sz="2133" dirty="0">
                <a:latin typeface="Times New Roman" panose="02020603050405020304" pitchFamily="18" charset="0"/>
                <a:cs typeface="Times New Roman" panose="02020603050405020304" pitchFamily="18" charset="0"/>
              </a:rPr>
              <a:t> Processed, predicted, or categorized information.</a:t>
            </a:r>
          </a:p>
          <a:p>
            <a:pPr>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Examples:</a:t>
            </a:r>
            <a:endParaRPr lang="en-US" sz="2133" dirty="0">
              <a:latin typeface="Times New Roman" panose="02020603050405020304" pitchFamily="18" charset="0"/>
              <a:cs typeface="Times New Roman" panose="02020603050405020304" pitchFamily="18" charset="0"/>
            </a:endParaRPr>
          </a:p>
          <a:p>
            <a:pPr marL="990575" lvl="1" indent="-380990">
              <a:buFont typeface="Arial" panose="020B0604020202020204" pitchFamily="34" charset="0"/>
              <a:buChar char="•"/>
            </a:pPr>
            <a:r>
              <a:rPr lang="en-US" sz="2133" b="1" dirty="0" err="1">
                <a:latin typeface="Times New Roman" panose="02020603050405020304" pitchFamily="18" charset="0"/>
                <a:cs typeface="Times New Roman" panose="02020603050405020304" pitchFamily="18" charset="0"/>
              </a:rPr>
              <a:t>Pfam</a:t>
            </a:r>
            <a:r>
              <a:rPr lang="en-US" sz="2133" dirty="0">
                <a:latin typeface="Times New Roman" panose="02020603050405020304" pitchFamily="18" charset="0"/>
                <a:cs typeface="Times New Roman" panose="02020603050405020304" pitchFamily="18" charset="0"/>
              </a:rPr>
              <a:t> (protein families and domains)</a:t>
            </a:r>
          </a:p>
          <a:p>
            <a:pPr marL="990575" lvl="1" indent="-380990">
              <a:buFont typeface="Arial" panose="020B0604020202020204" pitchFamily="34" charset="0"/>
              <a:buChar char="•"/>
            </a:pPr>
            <a:r>
              <a:rPr lang="en-US" sz="2133" b="1" dirty="0" err="1">
                <a:latin typeface="Times New Roman" panose="02020603050405020304" pitchFamily="18" charset="0"/>
                <a:cs typeface="Times New Roman" panose="02020603050405020304" pitchFamily="18" charset="0"/>
              </a:rPr>
              <a:t>Prosite</a:t>
            </a:r>
            <a:r>
              <a:rPr lang="en-US" sz="2133" dirty="0">
                <a:latin typeface="Times New Roman" panose="02020603050405020304" pitchFamily="18" charset="0"/>
                <a:cs typeface="Times New Roman" panose="02020603050405020304" pitchFamily="18" charset="0"/>
              </a:rPr>
              <a:t> (protein motifs and patterns)</a:t>
            </a:r>
          </a:p>
          <a:p>
            <a:pPr marL="990575" lvl="1" indent="-380990">
              <a:buFont typeface="Arial" panose="020B0604020202020204" pitchFamily="34" charset="0"/>
              <a:buChar char="•"/>
            </a:pPr>
            <a:r>
              <a:rPr lang="en-US" sz="2133" b="1" dirty="0" err="1">
                <a:latin typeface="Times New Roman" panose="02020603050405020304" pitchFamily="18" charset="0"/>
                <a:cs typeface="Times New Roman" panose="02020603050405020304" pitchFamily="18" charset="0"/>
              </a:rPr>
              <a:t>InterPro</a:t>
            </a:r>
            <a:r>
              <a:rPr lang="en-US" sz="2133" dirty="0">
                <a:latin typeface="Times New Roman" panose="02020603050405020304" pitchFamily="18" charset="0"/>
                <a:cs typeface="Times New Roman" panose="02020603050405020304" pitchFamily="18" charset="0"/>
              </a:rPr>
              <a:t> (integrated protein classification)</a:t>
            </a:r>
          </a:p>
          <a:p>
            <a:pPr marL="990575" lvl="1" indent="-380990">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SCOP</a:t>
            </a:r>
            <a:r>
              <a:rPr lang="en-US" sz="2133" dirty="0">
                <a:latin typeface="Times New Roman" panose="02020603050405020304" pitchFamily="18" charset="0"/>
                <a:cs typeface="Times New Roman" panose="02020603050405020304" pitchFamily="18" charset="0"/>
              </a:rPr>
              <a:t> (Structural Classification of Proteins)</a:t>
            </a:r>
          </a:p>
          <a:p>
            <a:pPr marL="990575" lvl="1" indent="-380990">
              <a:buFont typeface="Arial" panose="020B0604020202020204" pitchFamily="34" charset="0"/>
              <a:buChar char="•"/>
            </a:pPr>
            <a:r>
              <a:rPr lang="en-US" sz="2133" b="1" dirty="0">
                <a:latin typeface="Times New Roman" panose="02020603050405020304" pitchFamily="18" charset="0"/>
                <a:cs typeface="Times New Roman" panose="02020603050405020304" pitchFamily="18" charset="0"/>
              </a:rPr>
              <a:t>Swiss-</a:t>
            </a:r>
            <a:r>
              <a:rPr lang="en-US" sz="2133" b="1" dirty="0" err="1">
                <a:latin typeface="Times New Roman" panose="02020603050405020304" pitchFamily="18" charset="0"/>
                <a:cs typeface="Times New Roman" panose="02020603050405020304" pitchFamily="18" charset="0"/>
              </a:rPr>
              <a:t>Prot</a:t>
            </a:r>
            <a:r>
              <a:rPr lang="en-US" sz="2133" b="1" dirty="0">
                <a:latin typeface="Times New Roman" panose="02020603050405020304" pitchFamily="18" charset="0"/>
                <a:cs typeface="Times New Roman" panose="02020603050405020304" pitchFamily="18" charset="0"/>
              </a:rPr>
              <a:t> (</a:t>
            </a:r>
            <a:r>
              <a:rPr lang="en-US" sz="2133" b="1" dirty="0" err="1">
                <a:latin typeface="Times New Roman" panose="02020603050405020304" pitchFamily="18" charset="0"/>
                <a:cs typeface="Times New Roman" panose="02020603050405020304" pitchFamily="18" charset="0"/>
              </a:rPr>
              <a:t>UniProtKB</a:t>
            </a:r>
            <a:r>
              <a:rPr lang="en-US" sz="2133" b="1" dirty="0">
                <a:latin typeface="Times New Roman" panose="02020603050405020304" pitchFamily="18" charset="0"/>
                <a:cs typeface="Times New Roman" panose="02020603050405020304" pitchFamily="18" charset="0"/>
              </a:rPr>
              <a:t>/Swiss-</a:t>
            </a:r>
            <a:r>
              <a:rPr lang="en-US" sz="2133" b="1" dirty="0" err="1">
                <a:latin typeface="Times New Roman" panose="02020603050405020304" pitchFamily="18" charset="0"/>
                <a:cs typeface="Times New Roman" panose="02020603050405020304" pitchFamily="18" charset="0"/>
              </a:rPr>
              <a:t>Prot</a:t>
            </a:r>
            <a:r>
              <a:rPr lang="en-US" sz="2133" b="1" dirty="0">
                <a:latin typeface="Times New Roman" panose="02020603050405020304" pitchFamily="18" charset="0"/>
                <a:cs typeface="Times New Roman" panose="02020603050405020304" pitchFamily="18" charset="0"/>
              </a:rPr>
              <a:t>)</a:t>
            </a:r>
            <a:r>
              <a:rPr lang="en-US" sz="2133" dirty="0">
                <a:latin typeface="Times New Roman" panose="02020603050405020304" pitchFamily="18" charset="0"/>
                <a:cs typeface="Times New Roman" panose="02020603050405020304" pitchFamily="18" charset="0"/>
              </a:rPr>
              <a:t> (manually annotated protein sequences)</a:t>
            </a:r>
          </a:p>
        </p:txBody>
      </p:sp>
      <p:sp>
        <p:nvSpPr>
          <p:cNvPr id="8" name="object 8"/>
          <p:cNvSpPr txBox="1"/>
          <p:nvPr/>
        </p:nvSpPr>
        <p:spPr>
          <a:xfrm>
            <a:off x="185461" y="4845109"/>
            <a:ext cx="11463020" cy="760763"/>
          </a:xfrm>
          <a:prstGeom prst="rect">
            <a:avLst/>
          </a:prstGeom>
          <a:solidFill>
            <a:srgbClr val="FFE499"/>
          </a:solidFill>
        </p:spPr>
        <p:txBody>
          <a:bodyPr vert="horz" wrap="square" lIns="0" tIns="103293" rIns="0" bIns="0" rtlCol="0">
            <a:spAutoFit/>
          </a:bodyPr>
          <a:lstStyle/>
          <a:p>
            <a:r>
              <a:rPr lang="en-US" sz="2133" dirty="0">
                <a:latin typeface="Times New Roman" panose="02020603050405020304" pitchFamily="18" charset="0"/>
                <a:cs typeface="Times New Roman" panose="02020603050405020304" pitchFamily="18" charset="0"/>
              </a:rPr>
              <a:t>✅ Example use: Using </a:t>
            </a:r>
            <a:r>
              <a:rPr lang="en-US" sz="2133" b="1" dirty="0" err="1">
                <a:latin typeface="Times New Roman" panose="02020603050405020304" pitchFamily="18" charset="0"/>
                <a:cs typeface="Times New Roman" panose="02020603050405020304" pitchFamily="18" charset="0"/>
              </a:rPr>
              <a:t>Pfam</a:t>
            </a:r>
            <a:r>
              <a:rPr lang="en-US" sz="2133" dirty="0">
                <a:latin typeface="Times New Roman" panose="02020603050405020304" pitchFamily="18" charset="0"/>
                <a:cs typeface="Times New Roman" panose="02020603050405020304" pitchFamily="18" charset="0"/>
              </a:rPr>
              <a:t> to find which family a protein belongs to, based on sequences from primary databases.</a:t>
            </a:r>
          </a:p>
        </p:txBody>
      </p:sp>
    </p:spTree>
    <p:extLst>
      <p:ext uri="{BB962C8B-B14F-4D97-AF65-F5344CB8AC3E}">
        <p14:creationId xmlns:p14="http://schemas.microsoft.com/office/powerpoint/2010/main" val="4219264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872" y="965442"/>
            <a:ext cx="14020800" cy="694207"/>
          </a:xfrm>
          <a:prstGeom prst="rect">
            <a:avLst/>
          </a:prstGeom>
        </p:spPr>
        <p:txBody>
          <a:bodyPr vert="horz" wrap="square" lIns="0" tIns="16933" rIns="0" bIns="0" rtlCol="0" anchor="ctr">
            <a:spAutoFit/>
          </a:bodyPr>
          <a:lstStyle/>
          <a:p>
            <a:pPr marL="2099681">
              <a:lnSpc>
                <a:spcPct val="100000"/>
              </a:lnSpc>
              <a:spcBef>
                <a:spcPts val="133"/>
              </a:spcBef>
            </a:pPr>
            <a:r>
              <a:rPr spc="360" dirty="0"/>
              <a:t>Types</a:t>
            </a:r>
            <a:r>
              <a:rPr spc="193" dirty="0"/>
              <a:t> </a:t>
            </a:r>
            <a:r>
              <a:rPr spc="233" dirty="0"/>
              <a:t>of</a:t>
            </a:r>
            <a:r>
              <a:rPr spc="193" dirty="0"/>
              <a:t> </a:t>
            </a:r>
            <a:r>
              <a:rPr spc="313" dirty="0"/>
              <a:t>Biological</a:t>
            </a:r>
            <a:r>
              <a:rPr spc="200" dirty="0"/>
              <a:t> </a:t>
            </a:r>
            <a:r>
              <a:rPr spc="347" dirty="0"/>
              <a:t>Database</a:t>
            </a:r>
          </a:p>
        </p:txBody>
      </p:sp>
      <p:grpSp>
        <p:nvGrpSpPr>
          <p:cNvPr id="3" name="object 3"/>
          <p:cNvGrpSpPr/>
          <p:nvPr/>
        </p:nvGrpSpPr>
        <p:grpSpPr>
          <a:xfrm>
            <a:off x="22054" y="797221"/>
            <a:ext cx="12062370" cy="5836661"/>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415599" y="1753933"/>
            <a:ext cx="11463020" cy="432533"/>
          </a:xfrm>
          <a:prstGeom prst="rect">
            <a:avLst/>
          </a:prstGeom>
          <a:solidFill>
            <a:srgbClr val="EAD1DC"/>
          </a:solidFill>
        </p:spPr>
        <p:txBody>
          <a:bodyPr vert="horz" wrap="square" lIns="0" tIns="103293" rIns="0" bIns="0" rtlCol="0">
            <a:spAutoFit/>
          </a:bodyPr>
          <a:lstStyle/>
          <a:p>
            <a:pPr algn="ctr">
              <a:spcBef>
                <a:spcPts val="813"/>
              </a:spcBef>
            </a:pPr>
            <a:r>
              <a:rPr sz="2133" b="1" spc="-13" dirty="0">
                <a:latin typeface="Century Schoolbook Bold"/>
                <a:cs typeface="Century Schoolbook Bold"/>
              </a:rPr>
              <a:t>Composite</a:t>
            </a:r>
            <a:r>
              <a:rPr sz="2133" b="1" spc="-67" dirty="0">
                <a:latin typeface="Century Schoolbook Bold"/>
                <a:cs typeface="Century Schoolbook Bold"/>
              </a:rPr>
              <a:t> </a:t>
            </a:r>
            <a:r>
              <a:rPr sz="2133" b="1" spc="-13" dirty="0">
                <a:latin typeface="Century Schoolbook Bold"/>
                <a:cs typeface="Century Schoolbook Bold"/>
              </a:rPr>
              <a:t>Databases</a:t>
            </a:r>
            <a:endParaRPr sz="2133">
              <a:latin typeface="Century Schoolbook Bold"/>
              <a:cs typeface="Century Schoolbook Bold"/>
            </a:endParaRPr>
          </a:p>
        </p:txBody>
      </p:sp>
      <p:sp>
        <p:nvSpPr>
          <p:cNvPr id="10" name="object 10"/>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45</a:t>
            </a:fld>
            <a:endParaRPr spc="60" dirty="0"/>
          </a:p>
        </p:txBody>
      </p:sp>
      <p:sp>
        <p:nvSpPr>
          <p:cNvPr id="7" name="object 7"/>
          <p:cNvSpPr txBox="1"/>
          <p:nvPr/>
        </p:nvSpPr>
        <p:spPr>
          <a:xfrm>
            <a:off x="378654" y="2398567"/>
            <a:ext cx="11463020" cy="1745457"/>
          </a:xfrm>
          <a:prstGeom prst="rect">
            <a:avLst/>
          </a:prstGeom>
          <a:solidFill>
            <a:srgbClr val="FFE499"/>
          </a:solidFill>
        </p:spPr>
        <p:txBody>
          <a:bodyPr vert="horz" wrap="square" lIns="0" tIns="103293" rIns="0" bIns="0" rtlCol="0">
            <a:spAutoFit/>
          </a:bodyPr>
          <a:lstStyle/>
          <a:p>
            <a:r>
              <a:rPr lang="en-US" sz="2133" dirty="0">
                <a:latin typeface="Times New Roman" panose="02020603050405020304" pitchFamily="18" charset="0"/>
                <a:cs typeface="Times New Roman" panose="02020603050405020304" pitchFamily="18" charset="0"/>
              </a:rPr>
              <a:t>A </a:t>
            </a:r>
            <a:r>
              <a:rPr lang="en-US" sz="2133" b="1" dirty="0">
                <a:latin typeface="Times New Roman" panose="02020603050405020304" pitchFamily="18" charset="0"/>
                <a:cs typeface="Times New Roman" panose="02020603050405020304" pitchFamily="18" charset="0"/>
              </a:rPr>
              <a:t>composite database</a:t>
            </a:r>
            <a:r>
              <a:rPr lang="en-US" sz="2133" dirty="0">
                <a:latin typeface="Times New Roman" panose="02020603050405020304" pitchFamily="18" charset="0"/>
                <a:cs typeface="Times New Roman" panose="02020603050405020304" pitchFamily="18" charset="0"/>
              </a:rPr>
              <a:t> is created by </a:t>
            </a:r>
            <a:r>
              <a:rPr lang="en-US" sz="2133" b="1" dirty="0">
                <a:latin typeface="Times New Roman" panose="02020603050405020304" pitchFamily="18" charset="0"/>
                <a:cs typeface="Times New Roman" panose="02020603050405020304" pitchFamily="18" charset="0"/>
              </a:rPr>
              <a:t>integrating data from multiple primary databases</a:t>
            </a:r>
            <a:r>
              <a:rPr lang="en-US" sz="2133" dirty="0">
                <a:latin typeface="Times New Roman" panose="02020603050405020304" pitchFamily="18" charset="0"/>
                <a:cs typeface="Times New Roman" panose="02020603050405020304" pitchFamily="18" charset="0"/>
              </a:rPr>
              <a:t> into a single, non-redundant, and more user-friendly resource.</a:t>
            </a: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It collects raw sequence data (from primary sources).</a:t>
            </a: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Removes duplicates and inconsistencies.</a:t>
            </a: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Provides a consolidated dataset for easier searching and analysis.</a:t>
            </a:r>
          </a:p>
        </p:txBody>
      </p:sp>
      <p:sp>
        <p:nvSpPr>
          <p:cNvPr id="8" name="object 8"/>
          <p:cNvSpPr txBox="1"/>
          <p:nvPr/>
        </p:nvSpPr>
        <p:spPr>
          <a:xfrm>
            <a:off x="364489" y="5655913"/>
            <a:ext cx="11463020" cy="760763"/>
          </a:xfrm>
          <a:prstGeom prst="rect">
            <a:avLst/>
          </a:prstGeom>
          <a:solidFill>
            <a:srgbClr val="FFE499"/>
          </a:solidFill>
        </p:spPr>
        <p:txBody>
          <a:bodyPr vert="horz" wrap="square" lIns="0" tIns="103293" rIns="0" bIns="0" rtlCol="0">
            <a:spAutoFit/>
          </a:bodyPr>
          <a:lstStyle/>
          <a:p>
            <a:pPr marL="114297">
              <a:spcBef>
                <a:spcPts val="813"/>
              </a:spcBef>
            </a:pPr>
            <a:r>
              <a:rPr sz="2133" b="1" u="heavy" spc="-13" dirty="0">
                <a:uFill>
                  <a:solidFill>
                    <a:srgbClr val="000000"/>
                  </a:solidFill>
                </a:uFill>
                <a:latin typeface="Century Schoolbook Bold"/>
                <a:cs typeface="Century Schoolbook Bold"/>
              </a:rPr>
              <a:t>Examples:</a:t>
            </a:r>
            <a:endParaRPr sz="2133" dirty="0">
              <a:latin typeface="Century Schoolbook Bold"/>
              <a:cs typeface="Century Schoolbook Bold"/>
            </a:endParaRPr>
          </a:p>
          <a:p>
            <a:pPr marL="114297"/>
            <a:r>
              <a:rPr sz="2133" dirty="0">
                <a:latin typeface="Century Schoolbook"/>
                <a:cs typeface="Century Schoolbook"/>
              </a:rPr>
              <a:t>Composite</a:t>
            </a:r>
            <a:r>
              <a:rPr sz="2133" spc="-47" dirty="0">
                <a:latin typeface="Century Schoolbook"/>
                <a:cs typeface="Century Schoolbook"/>
              </a:rPr>
              <a:t> </a:t>
            </a:r>
            <a:r>
              <a:rPr sz="2133" dirty="0">
                <a:latin typeface="Century Schoolbook"/>
                <a:cs typeface="Century Schoolbook"/>
              </a:rPr>
              <a:t>Databases</a:t>
            </a:r>
            <a:r>
              <a:rPr sz="2133" spc="-40" dirty="0">
                <a:latin typeface="Century Schoolbook"/>
                <a:cs typeface="Century Schoolbook"/>
              </a:rPr>
              <a:t> </a:t>
            </a:r>
            <a:r>
              <a:rPr sz="2133" spc="-27" dirty="0">
                <a:latin typeface="Century Schoolbook"/>
                <a:cs typeface="Century Schoolbook"/>
              </a:rPr>
              <a:t>-</a:t>
            </a:r>
            <a:r>
              <a:rPr sz="2133" spc="-13" dirty="0">
                <a:latin typeface="Century Schoolbook"/>
                <a:cs typeface="Century Schoolbook"/>
              </a:rPr>
              <a:t>OWL,NRD</a:t>
            </a:r>
            <a:r>
              <a:rPr sz="2133" spc="-40" dirty="0">
                <a:latin typeface="Century Schoolbook"/>
                <a:cs typeface="Century Schoolbook"/>
              </a:rPr>
              <a:t> </a:t>
            </a:r>
            <a:r>
              <a:rPr sz="2133" dirty="0">
                <a:latin typeface="Century Schoolbook"/>
                <a:cs typeface="Century Schoolbook"/>
              </a:rPr>
              <a:t>and</a:t>
            </a:r>
            <a:r>
              <a:rPr sz="2133" spc="-47" dirty="0">
                <a:latin typeface="Century Schoolbook"/>
                <a:cs typeface="Century Schoolbook"/>
              </a:rPr>
              <a:t> </a:t>
            </a:r>
            <a:r>
              <a:rPr sz="2133" spc="-13" dirty="0">
                <a:latin typeface="Century Schoolbook"/>
                <a:cs typeface="Century Schoolbook"/>
              </a:rPr>
              <a:t>Swissport</a:t>
            </a:r>
            <a:r>
              <a:rPr sz="2133" spc="-40" dirty="0">
                <a:latin typeface="Century Schoolbook"/>
                <a:cs typeface="Century Schoolbook"/>
              </a:rPr>
              <a:t> </a:t>
            </a:r>
            <a:r>
              <a:rPr sz="2133" spc="-13" dirty="0">
                <a:latin typeface="Century Schoolbook"/>
                <a:cs typeface="Century Schoolbook"/>
              </a:rPr>
              <a:t>+TREMBL</a:t>
            </a:r>
            <a:endParaRPr sz="2133" dirty="0">
              <a:latin typeface="Century Schoolbook"/>
              <a:cs typeface="Century Schoolbook"/>
            </a:endParaRPr>
          </a:p>
        </p:txBody>
      </p:sp>
      <p:sp>
        <p:nvSpPr>
          <p:cNvPr id="11" name="Rectangle 10"/>
          <p:cNvSpPr/>
          <p:nvPr/>
        </p:nvSpPr>
        <p:spPr>
          <a:xfrm>
            <a:off x="370699" y="4144344"/>
            <a:ext cx="11470975" cy="1405256"/>
          </a:xfrm>
          <a:prstGeom prst="rect">
            <a:avLst/>
          </a:prstGeom>
          <a:solidFill>
            <a:schemeClr val="accent6">
              <a:lumMod val="20000"/>
              <a:lumOff val="80000"/>
            </a:schemeClr>
          </a:solidFill>
        </p:spPr>
        <p:txBody>
          <a:bodyPr wrap="square">
            <a:spAutoFit/>
          </a:bodyPr>
          <a:lstStyle/>
          <a:p>
            <a:r>
              <a:rPr lang="en-US" sz="2133" b="1" dirty="0">
                <a:latin typeface="Times New Roman" panose="02020603050405020304" pitchFamily="18" charset="0"/>
                <a:cs typeface="Times New Roman" panose="02020603050405020304" pitchFamily="18" charset="0"/>
              </a:rPr>
              <a:t>Why needed?</a:t>
            </a:r>
            <a:r>
              <a:rPr lang="en-US" sz="2133" dirty="0">
                <a:latin typeface="Times New Roman" panose="02020603050405020304" pitchFamily="18" charset="0"/>
                <a:cs typeface="Times New Roman" panose="02020603050405020304" pitchFamily="18" charset="0"/>
              </a:rPr>
              <a:t/>
            </a:r>
            <a:br>
              <a:rPr lang="en-US" sz="2133" dirty="0">
                <a:latin typeface="Times New Roman" panose="02020603050405020304" pitchFamily="18" charset="0"/>
                <a:cs typeface="Times New Roman" panose="02020603050405020304" pitchFamily="18" charset="0"/>
              </a:rPr>
            </a:br>
            <a:r>
              <a:rPr lang="en-US" sz="2133" dirty="0">
                <a:latin typeface="Times New Roman" panose="02020603050405020304" pitchFamily="18" charset="0"/>
                <a:cs typeface="Times New Roman" panose="02020603050405020304" pitchFamily="18" charset="0"/>
              </a:rPr>
              <a:t>Primary databases (like </a:t>
            </a:r>
            <a:r>
              <a:rPr lang="en-US" sz="2133" dirty="0" err="1">
                <a:latin typeface="Times New Roman" panose="02020603050405020304" pitchFamily="18" charset="0"/>
                <a:cs typeface="Times New Roman" panose="02020603050405020304" pitchFamily="18" charset="0"/>
              </a:rPr>
              <a:t>GenBank</a:t>
            </a:r>
            <a:r>
              <a:rPr lang="en-US" sz="2133" dirty="0">
                <a:latin typeface="Times New Roman" panose="02020603050405020304" pitchFamily="18" charset="0"/>
                <a:cs typeface="Times New Roman" panose="02020603050405020304" pitchFamily="18" charset="0"/>
              </a:rPr>
              <a:t>, EMBL, DDBJ) often contain duplicate entries because the same sequence might be submitted to more than one database. A composite database solves this by merging, cleaning, and unifying the data.</a:t>
            </a:r>
          </a:p>
        </p:txBody>
      </p:sp>
    </p:spTree>
    <p:extLst>
      <p:ext uri="{BB962C8B-B14F-4D97-AF65-F5344CB8AC3E}">
        <p14:creationId xmlns:p14="http://schemas.microsoft.com/office/powerpoint/2010/main" val="38209753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049" y="428736"/>
            <a:ext cx="11470519" cy="694207"/>
          </a:xfrm>
          <a:prstGeom prst="rect">
            <a:avLst/>
          </a:prstGeom>
        </p:spPr>
        <p:txBody>
          <a:bodyPr vert="horz" wrap="square" lIns="0" tIns="16933" rIns="0" bIns="0" rtlCol="0" anchor="ctr">
            <a:spAutoFit/>
          </a:bodyPr>
          <a:lstStyle/>
          <a:p>
            <a:pPr marL="1148051">
              <a:lnSpc>
                <a:spcPct val="100000"/>
              </a:lnSpc>
              <a:spcBef>
                <a:spcPts val="133"/>
              </a:spcBef>
            </a:pPr>
            <a:r>
              <a:rPr spc="333" dirty="0">
                <a:solidFill>
                  <a:srgbClr val="FF0000"/>
                </a:solidFill>
              </a:rPr>
              <a:t>Central</a:t>
            </a:r>
            <a:r>
              <a:rPr spc="193" dirty="0">
                <a:solidFill>
                  <a:srgbClr val="FF0000"/>
                </a:solidFill>
              </a:rPr>
              <a:t> </a:t>
            </a:r>
            <a:r>
              <a:rPr spc="327" dirty="0">
                <a:solidFill>
                  <a:srgbClr val="FF0000"/>
                </a:solidFill>
              </a:rPr>
              <a:t>Dogma</a:t>
            </a:r>
            <a:r>
              <a:rPr spc="200" dirty="0">
                <a:solidFill>
                  <a:srgbClr val="FF0000"/>
                </a:solidFill>
              </a:rPr>
              <a:t> </a:t>
            </a:r>
            <a:r>
              <a:rPr spc="233" dirty="0">
                <a:solidFill>
                  <a:srgbClr val="FF0000"/>
                </a:solidFill>
              </a:rPr>
              <a:t>of</a:t>
            </a:r>
            <a:r>
              <a:rPr spc="200" dirty="0">
                <a:solidFill>
                  <a:srgbClr val="FF0000"/>
                </a:solidFill>
              </a:rPr>
              <a:t> </a:t>
            </a:r>
            <a:r>
              <a:rPr spc="373" dirty="0">
                <a:solidFill>
                  <a:srgbClr val="FF0000"/>
                </a:solidFill>
              </a:rPr>
              <a:t>Molecular</a:t>
            </a:r>
            <a:r>
              <a:rPr spc="200" dirty="0">
                <a:solidFill>
                  <a:srgbClr val="FF0000"/>
                </a:solidFill>
              </a:rPr>
              <a:t> </a:t>
            </a:r>
            <a:r>
              <a:rPr spc="300" dirty="0">
                <a:solidFill>
                  <a:srgbClr val="FF0000"/>
                </a:solidFill>
              </a:rPr>
              <a:t>Biology</a:t>
            </a:r>
          </a:p>
        </p:txBody>
      </p:sp>
      <p:sp>
        <p:nvSpPr>
          <p:cNvPr id="7" name="object 7"/>
          <p:cNvSpPr txBox="1"/>
          <p:nvPr/>
        </p:nvSpPr>
        <p:spPr>
          <a:xfrm>
            <a:off x="258230" y="1357629"/>
            <a:ext cx="11662833" cy="1417225"/>
          </a:xfrm>
          <a:prstGeom prst="rect">
            <a:avLst/>
          </a:prstGeom>
          <a:solidFill>
            <a:srgbClr val="EAD1DC"/>
          </a:solidFill>
        </p:spPr>
        <p:txBody>
          <a:bodyPr vert="horz" wrap="square" lIns="0" tIns="103293" rIns="0" bIns="0" rtlCol="0">
            <a:spAutoFit/>
          </a:bodyPr>
          <a:lstStyle/>
          <a:p>
            <a:pPr marL="114297" marR="104984" algn="just">
              <a:spcBef>
                <a:spcPts val="813"/>
              </a:spcBef>
            </a:pPr>
            <a:r>
              <a:rPr sz="2133" dirty="0">
                <a:latin typeface="Century Schoolbook"/>
                <a:cs typeface="Century Schoolbook"/>
              </a:rPr>
              <a:t>The</a:t>
            </a:r>
            <a:r>
              <a:rPr sz="2133" spc="433" dirty="0">
                <a:latin typeface="Century Schoolbook"/>
                <a:cs typeface="Century Schoolbook"/>
              </a:rPr>
              <a:t> </a:t>
            </a:r>
            <a:r>
              <a:rPr sz="2133" dirty="0">
                <a:latin typeface="Century Schoolbook"/>
                <a:cs typeface="Century Schoolbook"/>
              </a:rPr>
              <a:t>bone,</a:t>
            </a:r>
            <a:r>
              <a:rPr sz="2133" spc="440" dirty="0">
                <a:latin typeface="Century Schoolbook"/>
                <a:cs typeface="Century Schoolbook"/>
              </a:rPr>
              <a:t> </a:t>
            </a:r>
            <a:r>
              <a:rPr sz="2133" dirty="0">
                <a:latin typeface="Century Schoolbook"/>
                <a:cs typeface="Century Schoolbook"/>
              </a:rPr>
              <a:t>skin,</a:t>
            </a:r>
            <a:r>
              <a:rPr sz="2133" spc="433" dirty="0">
                <a:latin typeface="Century Schoolbook"/>
                <a:cs typeface="Century Schoolbook"/>
              </a:rPr>
              <a:t> </a:t>
            </a:r>
            <a:r>
              <a:rPr sz="2133" dirty="0">
                <a:latin typeface="Century Schoolbook"/>
                <a:cs typeface="Century Schoolbook"/>
              </a:rPr>
              <a:t>and</a:t>
            </a:r>
            <a:r>
              <a:rPr sz="2133" spc="440" dirty="0">
                <a:latin typeface="Century Schoolbook"/>
                <a:cs typeface="Century Schoolbook"/>
              </a:rPr>
              <a:t> </a:t>
            </a:r>
            <a:r>
              <a:rPr sz="2133" dirty="0">
                <a:latin typeface="Century Schoolbook"/>
                <a:cs typeface="Century Schoolbook"/>
              </a:rPr>
              <a:t>muscle</a:t>
            </a:r>
            <a:r>
              <a:rPr sz="2133" spc="433" dirty="0">
                <a:latin typeface="Century Schoolbook"/>
                <a:cs typeface="Century Schoolbook"/>
              </a:rPr>
              <a:t> </a:t>
            </a:r>
            <a:r>
              <a:rPr sz="2133" dirty="0">
                <a:latin typeface="Century Schoolbook"/>
                <a:cs typeface="Century Schoolbook"/>
              </a:rPr>
              <a:t>that</a:t>
            </a:r>
            <a:r>
              <a:rPr sz="2133" spc="440" dirty="0">
                <a:latin typeface="Century Schoolbook"/>
                <a:cs typeface="Century Schoolbook"/>
              </a:rPr>
              <a:t> </a:t>
            </a:r>
            <a:r>
              <a:rPr sz="2133" dirty="0">
                <a:latin typeface="Century Schoolbook"/>
                <a:cs typeface="Century Schoolbook"/>
              </a:rPr>
              <a:t>we</a:t>
            </a:r>
            <a:r>
              <a:rPr sz="2133" spc="433" dirty="0">
                <a:latin typeface="Century Schoolbook"/>
                <a:cs typeface="Century Schoolbook"/>
              </a:rPr>
              <a:t> </a:t>
            </a:r>
            <a:r>
              <a:rPr sz="2133" dirty="0">
                <a:latin typeface="Century Schoolbook"/>
                <a:cs typeface="Century Schoolbook"/>
              </a:rPr>
              <a:t>see</a:t>
            </a:r>
            <a:r>
              <a:rPr sz="2133" spc="440" dirty="0">
                <a:latin typeface="Century Schoolbook"/>
                <a:cs typeface="Century Schoolbook"/>
              </a:rPr>
              <a:t> </a:t>
            </a:r>
            <a:r>
              <a:rPr sz="2133" dirty="0">
                <a:latin typeface="Century Schoolbook"/>
                <a:cs typeface="Century Schoolbook"/>
              </a:rPr>
              <a:t>are</a:t>
            </a:r>
            <a:r>
              <a:rPr sz="2133" spc="433" dirty="0">
                <a:latin typeface="Century Schoolbook"/>
                <a:cs typeface="Century Schoolbook"/>
              </a:rPr>
              <a:t> </a:t>
            </a:r>
            <a:r>
              <a:rPr sz="2133" dirty="0">
                <a:latin typeface="Century Schoolbook"/>
                <a:cs typeface="Century Schoolbook"/>
              </a:rPr>
              <a:t>made</a:t>
            </a:r>
            <a:r>
              <a:rPr sz="2133" spc="440" dirty="0">
                <a:latin typeface="Century Schoolbook"/>
                <a:cs typeface="Century Schoolbook"/>
              </a:rPr>
              <a:t> </a:t>
            </a:r>
            <a:r>
              <a:rPr sz="2133" dirty="0">
                <a:latin typeface="Century Schoolbook"/>
                <a:cs typeface="Century Schoolbook"/>
              </a:rPr>
              <a:t>up</a:t>
            </a:r>
            <a:r>
              <a:rPr sz="2133" spc="433" dirty="0">
                <a:latin typeface="Century Schoolbook"/>
                <a:cs typeface="Century Schoolbook"/>
              </a:rPr>
              <a:t> </a:t>
            </a:r>
            <a:r>
              <a:rPr sz="2133" dirty="0">
                <a:latin typeface="Century Schoolbook"/>
                <a:cs typeface="Century Schoolbook"/>
              </a:rPr>
              <a:t>of</a:t>
            </a:r>
            <a:r>
              <a:rPr sz="2133" spc="440" dirty="0">
                <a:latin typeface="Century Schoolbook"/>
                <a:cs typeface="Century Schoolbook"/>
              </a:rPr>
              <a:t> </a:t>
            </a:r>
            <a:r>
              <a:rPr sz="2133" dirty="0">
                <a:latin typeface="Century Schoolbook"/>
                <a:cs typeface="Century Schoolbook"/>
              </a:rPr>
              <a:t>cells.</a:t>
            </a:r>
            <a:r>
              <a:rPr sz="2133" spc="320" dirty="0">
                <a:latin typeface="Century Schoolbook"/>
                <a:cs typeface="Century Schoolbook"/>
              </a:rPr>
              <a:t> </a:t>
            </a:r>
            <a:r>
              <a:rPr sz="2133" dirty="0">
                <a:latin typeface="Century Schoolbook"/>
                <a:cs typeface="Century Schoolbook"/>
              </a:rPr>
              <a:t>And</a:t>
            </a:r>
            <a:r>
              <a:rPr sz="2133" spc="433" dirty="0">
                <a:latin typeface="Century Schoolbook"/>
                <a:cs typeface="Century Schoolbook"/>
              </a:rPr>
              <a:t> </a:t>
            </a:r>
            <a:r>
              <a:rPr sz="2133" dirty="0">
                <a:latin typeface="Century Schoolbook"/>
                <a:cs typeface="Century Schoolbook"/>
              </a:rPr>
              <a:t>each</a:t>
            </a:r>
            <a:r>
              <a:rPr sz="2133" spc="440" dirty="0">
                <a:latin typeface="Century Schoolbook"/>
                <a:cs typeface="Century Schoolbook"/>
              </a:rPr>
              <a:t> </a:t>
            </a:r>
            <a:r>
              <a:rPr sz="2133" dirty="0">
                <a:latin typeface="Century Schoolbook"/>
                <a:cs typeface="Century Schoolbook"/>
              </a:rPr>
              <a:t>of</a:t>
            </a:r>
            <a:r>
              <a:rPr sz="2133" spc="433" dirty="0">
                <a:latin typeface="Century Schoolbook"/>
                <a:cs typeface="Century Schoolbook"/>
              </a:rPr>
              <a:t> </a:t>
            </a:r>
            <a:r>
              <a:rPr sz="2133" dirty="0">
                <a:latin typeface="Century Schoolbook"/>
                <a:cs typeface="Century Schoolbook"/>
              </a:rPr>
              <a:t>these</a:t>
            </a:r>
            <a:r>
              <a:rPr sz="2133" spc="440" dirty="0">
                <a:latin typeface="Century Schoolbook"/>
                <a:cs typeface="Century Schoolbook"/>
              </a:rPr>
              <a:t> </a:t>
            </a:r>
            <a:r>
              <a:rPr sz="2133" spc="-13" dirty="0">
                <a:latin typeface="Century Schoolbook"/>
                <a:cs typeface="Century Schoolbook"/>
              </a:rPr>
              <a:t>cells </a:t>
            </a:r>
            <a:r>
              <a:rPr sz="2133" dirty="0">
                <a:latin typeface="Century Schoolbook"/>
                <a:cs typeface="Century Schoolbook"/>
              </a:rPr>
              <a:t>contains</a:t>
            </a:r>
            <a:r>
              <a:rPr sz="2133" spc="320" dirty="0">
                <a:latin typeface="Century Schoolbook"/>
                <a:cs typeface="Century Schoolbook"/>
              </a:rPr>
              <a:t> </a:t>
            </a:r>
            <a:r>
              <a:rPr sz="2133" dirty="0">
                <a:latin typeface="Century Schoolbook"/>
                <a:cs typeface="Century Schoolbook"/>
              </a:rPr>
              <a:t>many</a:t>
            </a:r>
            <a:r>
              <a:rPr sz="2133" spc="327" dirty="0">
                <a:latin typeface="Century Schoolbook"/>
                <a:cs typeface="Century Schoolbook"/>
              </a:rPr>
              <a:t> </a:t>
            </a:r>
            <a:r>
              <a:rPr sz="2133" dirty="0">
                <a:latin typeface="Century Schoolbook"/>
                <a:cs typeface="Century Schoolbook"/>
              </a:rPr>
              <a:t>millions</a:t>
            </a:r>
            <a:r>
              <a:rPr sz="2133" spc="327" dirty="0">
                <a:latin typeface="Century Schoolbook"/>
                <a:cs typeface="Century Schoolbook"/>
              </a:rPr>
              <a:t> </a:t>
            </a:r>
            <a:r>
              <a:rPr sz="2133" dirty="0">
                <a:latin typeface="Century Schoolbook"/>
                <a:cs typeface="Century Schoolbook"/>
              </a:rPr>
              <a:t>of</a:t>
            </a:r>
            <a:r>
              <a:rPr sz="2133" spc="327" dirty="0">
                <a:latin typeface="Century Schoolbook"/>
                <a:cs typeface="Century Schoolbook"/>
              </a:rPr>
              <a:t> </a:t>
            </a:r>
            <a:r>
              <a:rPr sz="2133" dirty="0">
                <a:latin typeface="Century Schoolbook"/>
                <a:cs typeface="Century Schoolbook"/>
              </a:rPr>
              <a:t>proteins.</a:t>
            </a:r>
            <a:r>
              <a:rPr sz="2133" spc="213" dirty="0">
                <a:latin typeface="Century Schoolbook"/>
                <a:cs typeface="Century Schoolbook"/>
              </a:rPr>
              <a:t> </a:t>
            </a:r>
            <a:r>
              <a:rPr sz="2133" dirty="0">
                <a:latin typeface="Century Schoolbook"/>
                <a:cs typeface="Century Schoolbook"/>
              </a:rPr>
              <a:t>As</a:t>
            </a:r>
            <a:r>
              <a:rPr sz="2133" spc="320" dirty="0">
                <a:latin typeface="Century Schoolbook"/>
                <a:cs typeface="Century Schoolbook"/>
              </a:rPr>
              <a:t> </a:t>
            </a:r>
            <a:r>
              <a:rPr sz="2133" dirty="0">
                <a:latin typeface="Century Schoolbook"/>
                <a:cs typeface="Century Schoolbook"/>
              </a:rPr>
              <a:t>a</a:t>
            </a:r>
            <a:r>
              <a:rPr sz="2133" spc="333" dirty="0">
                <a:latin typeface="Century Schoolbook"/>
                <a:cs typeface="Century Schoolbook"/>
              </a:rPr>
              <a:t> </a:t>
            </a:r>
            <a:r>
              <a:rPr sz="2133" dirty="0">
                <a:latin typeface="Century Schoolbook"/>
                <a:cs typeface="Century Schoolbook"/>
              </a:rPr>
              <a:t>matter</a:t>
            </a:r>
            <a:r>
              <a:rPr sz="2133" spc="320" dirty="0">
                <a:latin typeface="Century Schoolbook"/>
                <a:cs typeface="Century Schoolbook"/>
              </a:rPr>
              <a:t> </a:t>
            </a:r>
            <a:r>
              <a:rPr sz="2133" dirty="0">
                <a:latin typeface="Century Schoolbook"/>
                <a:cs typeface="Century Schoolbook"/>
              </a:rPr>
              <a:t>of</a:t>
            </a:r>
            <a:r>
              <a:rPr sz="2133" spc="333" dirty="0">
                <a:latin typeface="Century Schoolbook"/>
                <a:cs typeface="Century Schoolbook"/>
              </a:rPr>
              <a:t> </a:t>
            </a:r>
            <a:r>
              <a:rPr sz="2133" dirty="0">
                <a:latin typeface="Century Schoolbook"/>
                <a:cs typeface="Century Schoolbook"/>
              </a:rPr>
              <a:t>fact,</a:t>
            </a:r>
            <a:r>
              <a:rPr sz="2133" spc="320" dirty="0">
                <a:latin typeface="Century Schoolbook"/>
                <a:cs typeface="Century Schoolbook"/>
              </a:rPr>
              <a:t> </a:t>
            </a:r>
            <a:r>
              <a:rPr sz="2133" dirty="0">
                <a:solidFill>
                  <a:srgbClr val="FF0000"/>
                </a:solidFill>
                <a:latin typeface="Century Schoolbook"/>
                <a:cs typeface="Century Schoolbook"/>
              </a:rPr>
              <a:t>proteins</a:t>
            </a:r>
            <a:r>
              <a:rPr sz="2133" spc="327" dirty="0">
                <a:solidFill>
                  <a:srgbClr val="FF0000"/>
                </a:solidFill>
                <a:latin typeface="Century Schoolbook"/>
                <a:cs typeface="Century Schoolbook"/>
              </a:rPr>
              <a:t> </a:t>
            </a:r>
            <a:r>
              <a:rPr sz="2133" dirty="0">
                <a:solidFill>
                  <a:srgbClr val="FF0000"/>
                </a:solidFill>
                <a:latin typeface="Century Schoolbook"/>
                <a:cs typeface="Century Schoolbook"/>
              </a:rPr>
              <a:t>are</a:t>
            </a:r>
            <a:r>
              <a:rPr sz="2133" spc="327" dirty="0">
                <a:solidFill>
                  <a:srgbClr val="FF0000"/>
                </a:solidFill>
                <a:latin typeface="Century Schoolbook"/>
                <a:cs typeface="Century Schoolbook"/>
              </a:rPr>
              <a:t> </a:t>
            </a:r>
            <a:r>
              <a:rPr sz="2133" dirty="0">
                <a:solidFill>
                  <a:srgbClr val="FF0000"/>
                </a:solidFill>
                <a:latin typeface="Century Schoolbook"/>
                <a:cs typeface="Century Schoolbook"/>
              </a:rPr>
              <a:t>the</a:t>
            </a:r>
            <a:r>
              <a:rPr sz="2133" spc="327" dirty="0">
                <a:solidFill>
                  <a:srgbClr val="FF0000"/>
                </a:solidFill>
                <a:latin typeface="Century Schoolbook"/>
                <a:cs typeface="Century Schoolbook"/>
              </a:rPr>
              <a:t> </a:t>
            </a:r>
            <a:r>
              <a:rPr sz="2133" dirty="0">
                <a:solidFill>
                  <a:srgbClr val="FF0000"/>
                </a:solidFill>
                <a:latin typeface="Century Schoolbook"/>
                <a:cs typeface="Century Schoolbook"/>
              </a:rPr>
              <a:t>key</a:t>
            </a:r>
            <a:r>
              <a:rPr sz="2133" spc="333" dirty="0">
                <a:solidFill>
                  <a:srgbClr val="FF0000"/>
                </a:solidFill>
                <a:latin typeface="Century Schoolbook"/>
                <a:cs typeface="Century Schoolbook"/>
              </a:rPr>
              <a:t> </a:t>
            </a:r>
            <a:r>
              <a:rPr sz="2133" spc="-13" dirty="0">
                <a:solidFill>
                  <a:srgbClr val="FF0000"/>
                </a:solidFill>
                <a:latin typeface="Century Schoolbook"/>
                <a:cs typeface="Century Schoolbook"/>
              </a:rPr>
              <a:t>molecular </a:t>
            </a:r>
            <a:r>
              <a:rPr sz="2133" dirty="0">
                <a:solidFill>
                  <a:srgbClr val="FF0000"/>
                </a:solidFill>
                <a:latin typeface="Century Schoolbook"/>
                <a:cs typeface="Century Schoolbook"/>
              </a:rPr>
              <a:t>building</a:t>
            </a:r>
            <a:r>
              <a:rPr sz="2133" spc="287" dirty="0">
                <a:solidFill>
                  <a:srgbClr val="FF0000"/>
                </a:solidFill>
                <a:latin typeface="Century Schoolbook"/>
                <a:cs typeface="Century Schoolbook"/>
              </a:rPr>
              <a:t> </a:t>
            </a:r>
            <a:r>
              <a:rPr sz="2133" dirty="0">
                <a:solidFill>
                  <a:srgbClr val="FF0000"/>
                </a:solidFill>
                <a:latin typeface="Century Schoolbook"/>
                <a:cs typeface="Century Schoolbook"/>
              </a:rPr>
              <a:t>blocks</a:t>
            </a:r>
            <a:r>
              <a:rPr sz="2133" spc="287" dirty="0">
                <a:solidFill>
                  <a:srgbClr val="FF0000"/>
                </a:solidFill>
                <a:latin typeface="Century Schoolbook"/>
                <a:cs typeface="Century Schoolbook"/>
              </a:rPr>
              <a:t> </a:t>
            </a:r>
            <a:r>
              <a:rPr sz="2133" dirty="0">
                <a:solidFill>
                  <a:srgbClr val="FF0000"/>
                </a:solidFill>
                <a:latin typeface="Century Schoolbook"/>
                <a:cs typeface="Century Schoolbook"/>
              </a:rPr>
              <a:t>for</a:t>
            </a:r>
            <a:r>
              <a:rPr sz="2133" spc="293" dirty="0">
                <a:solidFill>
                  <a:srgbClr val="FF0000"/>
                </a:solidFill>
                <a:latin typeface="Century Schoolbook"/>
                <a:cs typeface="Century Schoolbook"/>
              </a:rPr>
              <a:t> </a:t>
            </a:r>
            <a:r>
              <a:rPr sz="2133" dirty="0">
                <a:solidFill>
                  <a:srgbClr val="FF0000"/>
                </a:solidFill>
                <a:latin typeface="Century Schoolbook"/>
                <a:cs typeface="Century Schoolbook"/>
              </a:rPr>
              <a:t>every</a:t>
            </a:r>
            <a:r>
              <a:rPr sz="2133" spc="287" dirty="0">
                <a:solidFill>
                  <a:srgbClr val="FF0000"/>
                </a:solidFill>
                <a:latin typeface="Century Schoolbook"/>
                <a:cs typeface="Century Schoolbook"/>
              </a:rPr>
              <a:t> </a:t>
            </a:r>
            <a:r>
              <a:rPr sz="2133" dirty="0">
                <a:solidFill>
                  <a:srgbClr val="FF0000"/>
                </a:solidFill>
                <a:latin typeface="Century Schoolbook"/>
                <a:cs typeface="Century Schoolbook"/>
              </a:rPr>
              <a:t>organism</a:t>
            </a:r>
            <a:r>
              <a:rPr sz="2133" spc="287" dirty="0">
                <a:solidFill>
                  <a:srgbClr val="FF0000"/>
                </a:solidFill>
                <a:latin typeface="Century Schoolbook"/>
                <a:cs typeface="Century Schoolbook"/>
              </a:rPr>
              <a:t> </a:t>
            </a:r>
            <a:r>
              <a:rPr sz="2133" dirty="0">
                <a:solidFill>
                  <a:srgbClr val="FF0000"/>
                </a:solidFill>
                <a:latin typeface="Century Schoolbook"/>
                <a:cs typeface="Century Schoolbook"/>
              </a:rPr>
              <a:t>on</a:t>
            </a:r>
            <a:r>
              <a:rPr sz="2133" spc="293" dirty="0">
                <a:solidFill>
                  <a:srgbClr val="FF0000"/>
                </a:solidFill>
                <a:latin typeface="Century Schoolbook"/>
                <a:cs typeface="Century Schoolbook"/>
              </a:rPr>
              <a:t> </a:t>
            </a:r>
            <a:r>
              <a:rPr sz="2133" dirty="0">
                <a:solidFill>
                  <a:srgbClr val="FF0000"/>
                </a:solidFill>
                <a:latin typeface="Century Schoolbook"/>
                <a:cs typeface="Century Schoolbook"/>
              </a:rPr>
              <a:t>earth</a:t>
            </a:r>
            <a:r>
              <a:rPr sz="2133" dirty="0">
                <a:latin typeface="Century Schoolbook"/>
                <a:cs typeface="Century Schoolbook"/>
              </a:rPr>
              <a:t>.</a:t>
            </a:r>
            <a:r>
              <a:rPr sz="2133" spc="333" dirty="0">
                <a:latin typeface="Century Schoolbook"/>
                <a:cs typeface="Century Schoolbook"/>
              </a:rPr>
              <a:t> </a:t>
            </a:r>
            <a:r>
              <a:rPr sz="2133" b="1" u="heavy" dirty="0">
                <a:uFill>
                  <a:solidFill>
                    <a:srgbClr val="000000"/>
                  </a:solidFill>
                </a:uFill>
                <a:latin typeface="Century Schoolbook Bold"/>
                <a:cs typeface="Century Schoolbook Bold"/>
              </a:rPr>
              <a:t>But</a:t>
            </a:r>
            <a:r>
              <a:rPr sz="2133" b="1" u="heavy" spc="287"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how</a:t>
            </a:r>
            <a:r>
              <a:rPr sz="2133" b="1" u="heavy" spc="280"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are</a:t>
            </a:r>
            <a:r>
              <a:rPr sz="2133" b="1" u="heavy" spc="280"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these</a:t>
            </a:r>
            <a:r>
              <a:rPr sz="2133" b="1" u="heavy" spc="287"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proteins</a:t>
            </a:r>
            <a:r>
              <a:rPr sz="2133" b="1" u="heavy" spc="280"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made</a:t>
            </a:r>
            <a:r>
              <a:rPr sz="2133" b="1" u="heavy" spc="280"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in</a:t>
            </a:r>
            <a:r>
              <a:rPr sz="2133" b="1" u="heavy" spc="287" dirty="0">
                <a:uFill>
                  <a:solidFill>
                    <a:srgbClr val="000000"/>
                  </a:solidFill>
                </a:uFill>
                <a:latin typeface="Century Schoolbook Bold"/>
                <a:cs typeface="Century Schoolbook Bold"/>
              </a:rPr>
              <a:t> </a:t>
            </a:r>
            <a:r>
              <a:rPr sz="2133" b="1" u="heavy" spc="-67" dirty="0">
                <a:uFill>
                  <a:solidFill>
                    <a:srgbClr val="000000"/>
                  </a:solidFill>
                </a:uFill>
                <a:latin typeface="Century Schoolbook Bold"/>
                <a:cs typeface="Century Schoolbook Bold"/>
              </a:rPr>
              <a:t>a</a:t>
            </a:r>
            <a:r>
              <a:rPr sz="2133" b="1" spc="-67" dirty="0">
                <a:latin typeface="Century Schoolbook Bold"/>
                <a:cs typeface="Century Schoolbook Bold"/>
              </a:rPr>
              <a:t> </a:t>
            </a:r>
            <a:r>
              <a:rPr sz="2133" b="1" u="heavy" spc="-13" dirty="0">
                <a:uFill>
                  <a:solidFill>
                    <a:srgbClr val="000000"/>
                  </a:solidFill>
                </a:uFill>
                <a:latin typeface="Century Schoolbook Bold"/>
                <a:cs typeface="Century Schoolbook Bold"/>
              </a:rPr>
              <a:t>cell!!!</a:t>
            </a:r>
            <a:endParaRPr sz="2133" dirty="0">
              <a:latin typeface="Century Schoolbook Bold"/>
              <a:cs typeface="Century Schoolbook Bold"/>
            </a:endParaRPr>
          </a:p>
        </p:txBody>
      </p:sp>
      <p:sp>
        <p:nvSpPr>
          <p:cNvPr id="8" name="object 8"/>
          <p:cNvSpPr txBox="1"/>
          <p:nvPr/>
        </p:nvSpPr>
        <p:spPr>
          <a:xfrm>
            <a:off x="191386" y="3009540"/>
            <a:ext cx="11687847" cy="2012132"/>
          </a:xfrm>
          <a:prstGeom prst="rect">
            <a:avLst/>
          </a:prstGeom>
          <a:solidFill>
            <a:schemeClr val="accent6">
              <a:lumMod val="20000"/>
              <a:lumOff val="80000"/>
            </a:schemeClr>
          </a:solidFill>
        </p:spPr>
        <p:txBody>
          <a:bodyPr vert="horz" wrap="square" lIns="0" tIns="16933" rIns="0" bIns="0" rtlCol="0">
            <a:spAutoFit/>
          </a:bodyPr>
          <a:lstStyle/>
          <a:p>
            <a:pPr marL="397923" marR="6773" indent="-380990" algn="just">
              <a:spcBef>
                <a:spcPts val="133"/>
              </a:spcBef>
              <a:buFont typeface="Arial" panose="020B0604020202020204" pitchFamily="34" charset="0"/>
              <a:buChar char="•"/>
            </a:pPr>
            <a:r>
              <a:rPr sz="2133" dirty="0">
                <a:solidFill>
                  <a:srgbClr val="FF0000"/>
                </a:solidFill>
                <a:latin typeface="Century Schoolbook"/>
                <a:cs typeface="Century Schoolbook"/>
              </a:rPr>
              <a:t>The</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instructions</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for</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making</a:t>
            </a:r>
            <a:r>
              <a:rPr sz="2133" spc="53" dirty="0">
                <a:solidFill>
                  <a:srgbClr val="FF0000"/>
                </a:solidFill>
                <a:latin typeface="Century Schoolbook"/>
                <a:cs typeface="Century Schoolbook"/>
              </a:rPr>
              <a:t> </a:t>
            </a:r>
            <a:r>
              <a:rPr sz="2133" dirty="0">
                <a:solidFill>
                  <a:srgbClr val="FF0000"/>
                </a:solidFill>
                <a:latin typeface="Century Schoolbook"/>
                <a:cs typeface="Century Schoolbook"/>
              </a:rPr>
              <a:t>proteins</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are</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written</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in</a:t>
            </a:r>
            <a:r>
              <a:rPr sz="2133" spc="53" dirty="0">
                <a:solidFill>
                  <a:srgbClr val="FF0000"/>
                </a:solidFill>
                <a:latin typeface="Century Schoolbook"/>
                <a:cs typeface="Century Schoolbook"/>
              </a:rPr>
              <a:t> </a:t>
            </a:r>
            <a:r>
              <a:rPr sz="2133" dirty="0">
                <a:solidFill>
                  <a:srgbClr val="FF0000"/>
                </a:solidFill>
                <a:latin typeface="Century Schoolbook"/>
                <a:cs typeface="Century Schoolbook"/>
              </a:rPr>
              <a:t>a</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cell’s</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DNA.</a:t>
            </a:r>
            <a:r>
              <a:rPr sz="2133" spc="-67" dirty="0">
                <a:solidFill>
                  <a:srgbClr val="FF0000"/>
                </a:solidFill>
                <a:latin typeface="Century Schoolbook"/>
                <a:cs typeface="Century Schoolbook"/>
              </a:rPr>
              <a:t> </a:t>
            </a:r>
            <a:r>
              <a:rPr sz="2133" dirty="0">
                <a:solidFill>
                  <a:srgbClr val="FF0000"/>
                </a:solidFill>
                <a:latin typeface="Century Schoolbook"/>
                <a:cs typeface="Century Schoolbook"/>
              </a:rPr>
              <a:t>A</a:t>
            </a:r>
            <a:r>
              <a:rPr sz="2133" spc="-60" dirty="0">
                <a:solidFill>
                  <a:srgbClr val="FF0000"/>
                </a:solidFill>
                <a:latin typeface="Century Schoolbook"/>
                <a:cs typeface="Century Schoolbook"/>
              </a:rPr>
              <a:t> </a:t>
            </a:r>
            <a:r>
              <a:rPr sz="2133" dirty="0">
                <a:solidFill>
                  <a:srgbClr val="FF0000"/>
                </a:solidFill>
                <a:latin typeface="Century Schoolbook"/>
                <a:cs typeface="Century Schoolbook"/>
              </a:rPr>
              <a:t>DNA</a:t>
            </a:r>
            <a:r>
              <a:rPr sz="2133" spc="-67" dirty="0">
                <a:solidFill>
                  <a:srgbClr val="FF0000"/>
                </a:solidFill>
                <a:latin typeface="Century Schoolbook"/>
                <a:cs typeface="Century Schoolbook"/>
              </a:rPr>
              <a:t> </a:t>
            </a:r>
            <a:r>
              <a:rPr sz="2133" dirty="0">
                <a:solidFill>
                  <a:srgbClr val="FF0000"/>
                </a:solidFill>
                <a:latin typeface="Century Schoolbook"/>
                <a:cs typeface="Century Schoolbook"/>
              </a:rPr>
              <a:t>is</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not</a:t>
            </a:r>
            <a:r>
              <a:rPr sz="2133" spc="47" dirty="0">
                <a:solidFill>
                  <a:srgbClr val="FF0000"/>
                </a:solidFill>
                <a:latin typeface="Century Schoolbook"/>
                <a:cs typeface="Century Schoolbook"/>
              </a:rPr>
              <a:t> </a:t>
            </a:r>
            <a:r>
              <a:rPr sz="2133" dirty="0">
                <a:solidFill>
                  <a:srgbClr val="FF0000"/>
                </a:solidFill>
                <a:latin typeface="Century Schoolbook"/>
                <a:cs typeface="Century Schoolbook"/>
              </a:rPr>
              <a:t>just</a:t>
            </a:r>
            <a:r>
              <a:rPr sz="2133" spc="53" dirty="0">
                <a:solidFill>
                  <a:srgbClr val="FF0000"/>
                </a:solidFill>
                <a:latin typeface="Century Schoolbook"/>
                <a:cs typeface="Century Schoolbook"/>
              </a:rPr>
              <a:t> </a:t>
            </a:r>
            <a:r>
              <a:rPr sz="2133" dirty="0">
                <a:solidFill>
                  <a:srgbClr val="FF0000"/>
                </a:solidFill>
                <a:latin typeface="Century Schoolbook"/>
                <a:cs typeface="Century Schoolbook"/>
              </a:rPr>
              <a:t>a</a:t>
            </a:r>
            <a:r>
              <a:rPr sz="2133" spc="47" dirty="0">
                <a:solidFill>
                  <a:srgbClr val="FF0000"/>
                </a:solidFill>
                <a:latin typeface="Century Schoolbook"/>
                <a:cs typeface="Century Schoolbook"/>
              </a:rPr>
              <a:t> </a:t>
            </a:r>
            <a:r>
              <a:rPr sz="2133" spc="-27" dirty="0">
                <a:solidFill>
                  <a:srgbClr val="FF0000"/>
                </a:solidFill>
                <a:latin typeface="Century Schoolbook"/>
                <a:cs typeface="Century Schoolbook"/>
              </a:rPr>
              <a:t>long </a:t>
            </a:r>
            <a:r>
              <a:rPr sz="2133" dirty="0">
                <a:solidFill>
                  <a:srgbClr val="FF0000"/>
                </a:solidFill>
                <a:latin typeface="Century Schoolbook"/>
                <a:cs typeface="Century Schoolbook"/>
              </a:rPr>
              <a:t>string</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of</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nucleotides</a:t>
            </a:r>
            <a:r>
              <a:rPr sz="2133" spc="600" dirty="0">
                <a:solidFill>
                  <a:srgbClr val="FF0000"/>
                </a:solidFill>
                <a:latin typeface="Century Schoolbook"/>
                <a:cs typeface="Century Schoolbook"/>
              </a:rPr>
              <a:t> </a:t>
            </a:r>
            <a:r>
              <a:rPr sz="2133" dirty="0">
                <a:solidFill>
                  <a:srgbClr val="FF0000"/>
                </a:solidFill>
                <a:latin typeface="Century Schoolbook"/>
                <a:cs typeface="Century Schoolbook"/>
              </a:rPr>
              <a:t>but</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is</a:t>
            </a:r>
            <a:r>
              <a:rPr sz="2133" spc="600" dirty="0">
                <a:solidFill>
                  <a:srgbClr val="FF0000"/>
                </a:solidFill>
                <a:latin typeface="Century Schoolbook"/>
                <a:cs typeface="Century Schoolbook"/>
              </a:rPr>
              <a:t> </a:t>
            </a:r>
            <a:r>
              <a:rPr sz="2133" dirty="0">
                <a:solidFill>
                  <a:srgbClr val="FF0000"/>
                </a:solidFill>
                <a:latin typeface="Century Schoolbook"/>
                <a:cs typeface="Century Schoolbook"/>
              </a:rPr>
              <a:t>divided</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up</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into</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functional</a:t>
            </a:r>
            <a:r>
              <a:rPr sz="2133" spc="600" dirty="0">
                <a:solidFill>
                  <a:srgbClr val="FF0000"/>
                </a:solidFill>
                <a:latin typeface="Century Schoolbook"/>
                <a:cs typeface="Century Schoolbook"/>
              </a:rPr>
              <a:t> </a:t>
            </a:r>
            <a:r>
              <a:rPr sz="2133" dirty="0">
                <a:solidFill>
                  <a:srgbClr val="FF0000"/>
                </a:solidFill>
                <a:latin typeface="Century Schoolbook"/>
                <a:cs typeface="Century Schoolbook"/>
              </a:rPr>
              <a:t>units</a:t>
            </a:r>
            <a:r>
              <a:rPr sz="2133" spc="600" dirty="0">
                <a:solidFill>
                  <a:srgbClr val="FF0000"/>
                </a:solidFill>
                <a:latin typeface="Century Schoolbook"/>
                <a:cs typeface="Century Schoolbook"/>
              </a:rPr>
              <a:t> </a:t>
            </a:r>
            <a:r>
              <a:rPr sz="2133" dirty="0">
                <a:solidFill>
                  <a:srgbClr val="FF0000"/>
                </a:solidFill>
                <a:latin typeface="Century Schoolbook"/>
                <a:cs typeface="Century Schoolbook"/>
              </a:rPr>
              <a:t>called</a:t>
            </a:r>
            <a:r>
              <a:rPr sz="2133" spc="607" dirty="0">
                <a:solidFill>
                  <a:srgbClr val="FF0000"/>
                </a:solidFill>
                <a:latin typeface="Century Schoolbook"/>
                <a:cs typeface="Century Schoolbook"/>
              </a:rPr>
              <a:t> </a:t>
            </a:r>
            <a:r>
              <a:rPr sz="2133" dirty="0">
                <a:solidFill>
                  <a:srgbClr val="FF0000"/>
                </a:solidFill>
                <a:latin typeface="Century Schoolbook"/>
                <a:cs typeface="Century Schoolbook"/>
              </a:rPr>
              <a:t>genes.</a:t>
            </a:r>
            <a:r>
              <a:rPr sz="2133" spc="600" dirty="0">
                <a:solidFill>
                  <a:srgbClr val="FF0000"/>
                </a:solidFill>
                <a:latin typeface="Century Schoolbook"/>
                <a:cs typeface="Century Schoolbook"/>
              </a:rPr>
              <a:t> </a:t>
            </a:r>
            <a:endParaRPr lang="en-US" sz="2133" spc="600" dirty="0">
              <a:solidFill>
                <a:srgbClr val="FF0000"/>
              </a:solidFill>
              <a:latin typeface="Century Schoolbook"/>
              <a:cs typeface="Century Schoolbook"/>
            </a:endParaRPr>
          </a:p>
          <a:p>
            <a:pPr marL="397923" marR="6773" indent="-380990" algn="just">
              <a:spcBef>
                <a:spcPts val="133"/>
              </a:spcBef>
              <a:buFont typeface="Arial" panose="020B0604020202020204" pitchFamily="34" charset="0"/>
              <a:buChar char="•"/>
            </a:pPr>
            <a:r>
              <a:rPr sz="2133" dirty="0">
                <a:latin typeface="Century Schoolbook"/>
                <a:cs typeface="Century Schoolbook"/>
              </a:rPr>
              <a:t>Each</a:t>
            </a:r>
            <a:r>
              <a:rPr sz="2133" spc="600" dirty="0">
                <a:latin typeface="Century Schoolbook"/>
                <a:cs typeface="Century Schoolbook"/>
              </a:rPr>
              <a:t> </a:t>
            </a:r>
            <a:r>
              <a:rPr sz="2133" spc="-27" dirty="0">
                <a:latin typeface="Century Schoolbook"/>
                <a:cs typeface="Century Schoolbook"/>
              </a:rPr>
              <a:t>gene </a:t>
            </a:r>
            <a:r>
              <a:rPr sz="2133" dirty="0">
                <a:latin typeface="Century Schoolbook"/>
                <a:cs typeface="Century Schoolbook"/>
              </a:rPr>
              <a:t>provides</a:t>
            </a:r>
            <a:r>
              <a:rPr sz="2133" spc="100" dirty="0">
                <a:latin typeface="Century Schoolbook"/>
                <a:cs typeface="Century Schoolbook"/>
              </a:rPr>
              <a:t> </a:t>
            </a:r>
            <a:r>
              <a:rPr sz="2133" dirty="0">
                <a:latin typeface="Century Schoolbook"/>
                <a:cs typeface="Century Schoolbook"/>
              </a:rPr>
              <a:t>instructions</a:t>
            </a:r>
            <a:r>
              <a:rPr sz="2133" spc="113" dirty="0">
                <a:latin typeface="Century Schoolbook"/>
                <a:cs typeface="Century Schoolbook"/>
              </a:rPr>
              <a:t> </a:t>
            </a:r>
            <a:r>
              <a:rPr sz="2133" dirty="0">
                <a:latin typeface="Century Schoolbook"/>
                <a:cs typeface="Century Schoolbook"/>
              </a:rPr>
              <a:t>for</a:t>
            </a:r>
            <a:r>
              <a:rPr sz="2133" spc="120" dirty="0">
                <a:latin typeface="Century Schoolbook"/>
                <a:cs typeface="Century Schoolbook"/>
              </a:rPr>
              <a:t> </a:t>
            </a:r>
            <a:r>
              <a:rPr sz="2133" dirty="0">
                <a:latin typeface="Century Schoolbook"/>
                <a:cs typeface="Century Schoolbook"/>
              </a:rPr>
              <a:t>a</a:t>
            </a:r>
            <a:r>
              <a:rPr sz="2133" spc="113" dirty="0">
                <a:latin typeface="Century Schoolbook"/>
                <a:cs typeface="Century Schoolbook"/>
              </a:rPr>
              <a:t> </a:t>
            </a:r>
            <a:r>
              <a:rPr sz="2133" dirty="0">
                <a:latin typeface="Century Schoolbook"/>
                <a:cs typeface="Century Schoolbook"/>
              </a:rPr>
              <a:t>functional</a:t>
            </a:r>
            <a:r>
              <a:rPr sz="2133" spc="120" dirty="0">
                <a:latin typeface="Century Schoolbook"/>
                <a:cs typeface="Century Schoolbook"/>
              </a:rPr>
              <a:t> </a:t>
            </a:r>
            <a:r>
              <a:rPr sz="2133" dirty="0">
                <a:latin typeface="Century Schoolbook"/>
                <a:cs typeface="Century Schoolbook"/>
              </a:rPr>
              <a:t>product,</a:t>
            </a:r>
            <a:r>
              <a:rPr sz="2133" spc="113" dirty="0">
                <a:latin typeface="Century Schoolbook"/>
                <a:cs typeface="Century Schoolbook"/>
              </a:rPr>
              <a:t> </a:t>
            </a:r>
            <a:r>
              <a:rPr sz="2133" dirty="0">
                <a:latin typeface="Century Schoolbook"/>
                <a:cs typeface="Century Schoolbook"/>
              </a:rPr>
              <a:t>that</a:t>
            </a:r>
            <a:r>
              <a:rPr sz="2133" spc="120" dirty="0">
                <a:latin typeface="Century Schoolbook"/>
                <a:cs typeface="Century Schoolbook"/>
              </a:rPr>
              <a:t> </a:t>
            </a:r>
            <a:r>
              <a:rPr sz="2133" dirty="0">
                <a:latin typeface="Century Schoolbook"/>
                <a:cs typeface="Century Schoolbook"/>
              </a:rPr>
              <a:t>is,</a:t>
            </a:r>
            <a:r>
              <a:rPr sz="2133" spc="113" dirty="0">
                <a:latin typeface="Century Schoolbook"/>
                <a:cs typeface="Century Schoolbook"/>
              </a:rPr>
              <a:t> </a:t>
            </a:r>
            <a:r>
              <a:rPr sz="2133" dirty="0">
                <a:latin typeface="Century Schoolbook"/>
                <a:cs typeface="Century Schoolbook"/>
              </a:rPr>
              <a:t>a</a:t>
            </a:r>
            <a:r>
              <a:rPr sz="2133" spc="113" dirty="0">
                <a:latin typeface="Century Schoolbook"/>
                <a:cs typeface="Century Schoolbook"/>
              </a:rPr>
              <a:t> </a:t>
            </a:r>
            <a:r>
              <a:rPr sz="2133" dirty="0">
                <a:latin typeface="Century Schoolbook"/>
                <a:cs typeface="Century Schoolbook"/>
              </a:rPr>
              <a:t>molecule</a:t>
            </a:r>
            <a:r>
              <a:rPr sz="2133" spc="120" dirty="0">
                <a:latin typeface="Century Schoolbook"/>
                <a:cs typeface="Century Schoolbook"/>
              </a:rPr>
              <a:t> </a:t>
            </a:r>
            <a:r>
              <a:rPr sz="2133" dirty="0">
                <a:latin typeface="Century Schoolbook"/>
                <a:cs typeface="Century Schoolbook"/>
              </a:rPr>
              <a:t>needed</a:t>
            </a:r>
            <a:r>
              <a:rPr sz="2133" spc="113" dirty="0">
                <a:latin typeface="Century Schoolbook"/>
                <a:cs typeface="Century Schoolbook"/>
              </a:rPr>
              <a:t> </a:t>
            </a:r>
            <a:r>
              <a:rPr sz="2133" dirty="0">
                <a:latin typeface="Century Schoolbook"/>
                <a:cs typeface="Century Schoolbook"/>
              </a:rPr>
              <a:t>to</a:t>
            </a:r>
            <a:r>
              <a:rPr sz="2133" spc="120" dirty="0">
                <a:latin typeface="Century Schoolbook"/>
                <a:cs typeface="Century Schoolbook"/>
              </a:rPr>
              <a:t> </a:t>
            </a:r>
            <a:r>
              <a:rPr sz="2133" dirty="0">
                <a:latin typeface="Century Schoolbook"/>
                <a:cs typeface="Century Schoolbook"/>
              </a:rPr>
              <a:t>perform</a:t>
            </a:r>
            <a:r>
              <a:rPr sz="2133" spc="113" dirty="0">
                <a:latin typeface="Century Schoolbook"/>
                <a:cs typeface="Century Schoolbook"/>
              </a:rPr>
              <a:t> </a:t>
            </a:r>
            <a:r>
              <a:rPr sz="2133" dirty="0">
                <a:latin typeface="Century Schoolbook"/>
                <a:cs typeface="Century Schoolbook"/>
              </a:rPr>
              <a:t>a</a:t>
            </a:r>
            <a:r>
              <a:rPr sz="2133" spc="120" dirty="0">
                <a:latin typeface="Century Schoolbook"/>
                <a:cs typeface="Century Schoolbook"/>
              </a:rPr>
              <a:t> </a:t>
            </a:r>
            <a:r>
              <a:rPr sz="2133" spc="-33" dirty="0">
                <a:latin typeface="Century Schoolbook"/>
                <a:cs typeface="Century Schoolbook"/>
              </a:rPr>
              <a:t>job </a:t>
            </a:r>
            <a:r>
              <a:rPr sz="2133" dirty="0">
                <a:latin typeface="Century Schoolbook"/>
                <a:cs typeface="Century Schoolbook"/>
              </a:rPr>
              <a:t>in</a:t>
            </a:r>
            <a:r>
              <a:rPr sz="2133" spc="520" dirty="0">
                <a:latin typeface="Century Schoolbook"/>
                <a:cs typeface="Century Schoolbook"/>
              </a:rPr>
              <a:t> </a:t>
            </a:r>
            <a:r>
              <a:rPr sz="2133" dirty="0">
                <a:latin typeface="Century Schoolbook"/>
                <a:cs typeface="Century Schoolbook"/>
              </a:rPr>
              <a:t>a</a:t>
            </a:r>
            <a:r>
              <a:rPr sz="2133" spc="520" dirty="0">
                <a:latin typeface="Century Schoolbook"/>
                <a:cs typeface="Century Schoolbook"/>
              </a:rPr>
              <a:t> </a:t>
            </a:r>
            <a:r>
              <a:rPr sz="2133" dirty="0">
                <a:latin typeface="Century Schoolbook"/>
                <a:cs typeface="Century Schoolbook"/>
              </a:rPr>
              <a:t>cell.</a:t>
            </a:r>
            <a:r>
              <a:rPr sz="2133" spc="520" dirty="0">
                <a:latin typeface="Century Schoolbook"/>
                <a:cs typeface="Century Schoolbook"/>
              </a:rPr>
              <a:t> </a:t>
            </a:r>
            <a:r>
              <a:rPr sz="2133" dirty="0">
                <a:latin typeface="Century Schoolbook"/>
                <a:cs typeface="Century Schoolbook"/>
              </a:rPr>
              <a:t>In</a:t>
            </a:r>
            <a:r>
              <a:rPr sz="2133" spc="520" dirty="0">
                <a:latin typeface="Century Schoolbook"/>
                <a:cs typeface="Century Schoolbook"/>
              </a:rPr>
              <a:t> </a:t>
            </a:r>
            <a:r>
              <a:rPr sz="2133" dirty="0">
                <a:latin typeface="Century Schoolbook"/>
                <a:cs typeface="Century Schoolbook"/>
              </a:rPr>
              <a:t>many</a:t>
            </a:r>
            <a:r>
              <a:rPr sz="2133" spc="520" dirty="0">
                <a:latin typeface="Century Schoolbook"/>
                <a:cs typeface="Century Schoolbook"/>
              </a:rPr>
              <a:t> </a:t>
            </a:r>
            <a:r>
              <a:rPr sz="2133" dirty="0">
                <a:latin typeface="Century Schoolbook"/>
                <a:cs typeface="Century Schoolbook"/>
              </a:rPr>
              <a:t>cases,</a:t>
            </a:r>
            <a:r>
              <a:rPr sz="2133" spc="520" dirty="0">
                <a:latin typeface="Century Schoolbook"/>
                <a:cs typeface="Century Schoolbook"/>
              </a:rPr>
              <a:t> </a:t>
            </a:r>
            <a:r>
              <a:rPr sz="2133" dirty="0">
                <a:latin typeface="Century Schoolbook"/>
                <a:cs typeface="Century Schoolbook"/>
              </a:rPr>
              <a:t>the</a:t>
            </a:r>
            <a:r>
              <a:rPr sz="2133" spc="520" dirty="0">
                <a:latin typeface="Century Schoolbook"/>
                <a:cs typeface="Century Schoolbook"/>
              </a:rPr>
              <a:t> </a:t>
            </a:r>
            <a:r>
              <a:rPr sz="2133" dirty="0">
                <a:latin typeface="Century Schoolbook"/>
                <a:cs typeface="Century Schoolbook"/>
              </a:rPr>
              <a:t>functional</a:t>
            </a:r>
            <a:r>
              <a:rPr sz="2133" spc="520" dirty="0">
                <a:latin typeface="Century Schoolbook"/>
                <a:cs typeface="Century Schoolbook"/>
              </a:rPr>
              <a:t> </a:t>
            </a:r>
            <a:r>
              <a:rPr sz="2133" dirty="0">
                <a:latin typeface="Century Schoolbook"/>
                <a:cs typeface="Century Schoolbook"/>
              </a:rPr>
              <a:t>product</a:t>
            </a:r>
            <a:r>
              <a:rPr sz="2133" spc="520" dirty="0">
                <a:latin typeface="Century Schoolbook"/>
                <a:cs typeface="Century Schoolbook"/>
              </a:rPr>
              <a:t> </a:t>
            </a:r>
            <a:r>
              <a:rPr sz="2133" dirty="0">
                <a:latin typeface="Century Schoolbook"/>
                <a:cs typeface="Century Schoolbook"/>
              </a:rPr>
              <a:t>of</a:t>
            </a:r>
            <a:r>
              <a:rPr sz="2133" spc="520" dirty="0">
                <a:latin typeface="Century Schoolbook"/>
                <a:cs typeface="Century Schoolbook"/>
              </a:rPr>
              <a:t> </a:t>
            </a:r>
            <a:r>
              <a:rPr sz="2133" dirty="0">
                <a:latin typeface="Century Schoolbook"/>
                <a:cs typeface="Century Schoolbook"/>
              </a:rPr>
              <a:t>a</a:t>
            </a:r>
            <a:r>
              <a:rPr sz="2133" spc="520" dirty="0">
                <a:latin typeface="Century Schoolbook"/>
                <a:cs typeface="Century Schoolbook"/>
              </a:rPr>
              <a:t> </a:t>
            </a:r>
            <a:r>
              <a:rPr sz="2133" dirty="0">
                <a:latin typeface="Century Schoolbook"/>
                <a:cs typeface="Century Schoolbook"/>
              </a:rPr>
              <a:t>gene</a:t>
            </a:r>
            <a:r>
              <a:rPr sz="2133" spc="520" dirty="0">
                <a:latin typeface="Century Schoolbook"/>
                <a:cs typeface="Century Schoolbook"/>
              </a:rPr>
              <a:t> </a:t>
            </a:r>
            <a:r>
              <a:rPr sz="2133" dirty="0">
                <a:latin typeface="Century Schoolbook"/>
                <a:cs typeface="Century Schoolbook"/>
              </a:rPr>
              <a:t>is</a:t>
            </a:r>
            <a:r>
              <a:rPr sz="2133" spc="520" dirty="0">
                <a:latin typeface="Century Schoolbook"/>
                <a:cs typeface="Century Schoolbook"/>
              </a:rPr>
              <a:t> </a:t>
            </a:r>
            <a:r>
              <a:rPr sz="2133" dirty="0">
                <a:latin typeface="Century Schoolbook"/>
                <a:cs typeface="Century Schoolbook"/>
              </a:rPr>
              <a:t>a</a:t>
            </a:r>
            <a:r>
              <a:rPr sz="2133" spc="520" dirty="0">
                <a:latin typeface="Century Schoolbook"/>
                <a:cs typeface="Century Schoolbook"/>
              </a:rPr>
              <a:t> </a:t>
            </a:r>
            <a:r>
              <a:rPr sz="2133" dirty="0">
                <a:latin typeface="Century Schoolbook"/>
                <a:cs typeface="Century Schoolbook"/>
              </a:rPr>
              <a:t>protein.</a:t>
            </a:r>
            <a:r>
              <a:rPr sz="2133" spc="520" dirty="0">
                <a:latin typeface="Century Schoolbook"/>
                <a:cs typeface="Century Schoolbook"/>
              </a:rPr>
              <a:t> </a:t>
            </a:r>
            <a:endParaRPr lang="en-US" sz="2133" spc="520" dirty="0">
              <a:latin typeface="Century Schoolbook"/>
              <a:cs typeface="Century Schoolbook"/>
            </a:endParaRPr>
          </a:p>
          <a:p>
            <a:pPr marL="397923" marR="6773" indent="-380990" algn="just">
              <a:spcBef>
                <a:spcPts val="133"/>
              </a:spcBef>
              <a:buFont typeface="Arial" panose="020B0604020202020204" pitchFamily="34" charset="0"/>
              <a:buChar char="•"/>
            </a:pPr>
            <a:r>
              <a:rPr sz="2133" dirty="0">
                <a:latin typeface="Century Schoolbook"/>
                <a:cs typeface="Century Schoolbook"/>
              </a:rPr>
              <a:t>For</a:t>
            </a:r>
            <a:r>
              <a:rPr sz="2133" spc="520" dirty="0">
                <a:latin typeface="Century Schoolbook"/>
                <a:cs typeface="Century Schoolbook"/>
              </a:rPr>
              <a:t> </a:t>
            </a:r>
            <a:r>
              <a:rPr sz="2133" spc="-13" dirty="0">
                <a:latin typeface="Century Schoolbook"/>
                <a:cs typeface="Century Schoolbook"/>
              </a:rPr>
              <a:t>example, </a:t>
            </a:r>
            <a:r>
              <a:rPr sz="2133" dirty="0">
                <a:latin typeface="Century Schoolbook"/>
                <a:cs typeface="Century Schoolbook"/>
              </a:rPr>
              <a:t>Mendel's</a:t>
            </a:r>
            <a:r>
              <a:rPr sz="2133" spc="420" dirty="0">
                <a:latin typeface="Century Schoolbook"/>
                <a:cs typeface="Century Schoolbook"/>
              </a:rPr>
              <a:t> </a:t>
            </a:r>
            <a:r>
              <a:rPr sz="2133" dirty="0">
                <a:latin typeface="Century Schoolbook"/>
                <a:cs typeface="Century Schoolbook"/>
              </a:rPr>
              <a:t>flower</a:t>
            </a:r>
            <a:r>
              <a:rPr sz="2133" spc="420" dirty="0">
                <a:latin typeface="Century Schoolbook"/>
                <a:cs typeface="Century Schoolbook"/>
              </a:rPr>
              <a:t> </a:t>
            </a:r>
            <a:r>
              <a:rPr sz="2133" dirty="0">
                <a:latin typeface="Century Schoolbook"/>
                <a:cs typeface="Century Schoolbook"/>
              </a:rPr>
              <a:t>color</a:t>
            </a:r>
            <a:r>
              <a:rPr sz="2133" spc="420" dirty="0">
                <a:latin typeface="Century Schoolbook"/>
                <a:cs typeface="Century Schoolbook"/>
              </a:rPr>
              <a:t> </a:t>
            </a:r>
            <a:r>
              <a:rPr sz="2133" dirty="0">
                <a:latin typeface="Century Schoolbook"/>
                <a:cs typeface="Century Schoolbook"/>
              </a:rPr>
              <a:t>gene</a:t>
            </a:r>
            <a:r>
              <a:rPr sz="2133" spc="420" dirty="0">
                <a:latin typeface="Century Schoolbook"/>
                <a:cs typeface="Century Schoolbook"/>
              </a:rPr>
              <a:t> </a:t>
            </a:r>
            <a:r>
              <a:rPr sz="2133" dirty="0">
                <a:latin typeface="Century Schoolbook"/>
                <a:cs typeface="Century Schoolbook"/>
              </a:rPr>
              <a:t>provides</a:t>
            </a:r>
            <a:r>
              <a:rPr sz="2133" spc="420" dirty="0">
                <a:latin typeface="Century Schoolbook"/>
                <a:cs typeface="Century Schoolbook"/>
              </a:rPr>
              <a:t> </a:t>
            </a:r>
            <a:r>
              <a:rPr sz="2133" dirty="0">
                <a:latin typeface="Century Schoolbook"/>
                <a:cs typeface="Century Schoolbook"/>
              </a:rPr>
              <a:t>instructions</a:t>
            </a:r>
            <a:r>
              <a:rPr sz="2133" spc="420" dirty="0">
                <a:latin typeface="Century Schoolbook"/>
                <a:cs typeface="Century Schoolbook"/>
              </a:rPr>
              <a:t> </a:t>
            </a:r>
            <a:r>
              <a:rPr sz="2133" dirty="0">
                <a:latin typeface="Century Schoolbook"/>
                <a:cs typeface="Century Schoolbook"/>
              </a:rPr>
              <a:t>for</a:t>
            </a:r>
            <a:r>
              <a:rPr sz="2133" spc="420" dirty="0">
                <a:latin typeface="Century Schoolbook"/>
                <a:cs typeface="Century Schoolbook"/>
              </a:rPr>
              <a:t> </a:t>
            </a:r>
            <a:r>
              <a:rPr sz="2133" dirty="0">
                <a:latin typeface="Century Schoolbook"/>
                <a:cs typeface="Century Schoolbook"/>
              </a:rPr>
              <a:t>a</a:t>
            </a:r>
            <a:r>
              <a:rPr sz="2133" spc="420" dirty="0">
                <a:latin typeface="Century Schoolbook"/>
                <a:cs typeface="Century Schoolbook"/>
              </a:rPr>
              <a:t> </a:t>
            </a:r>
            <a:r>
              <a:rPr sz="2133" dirty="0">
                <a:latin typeface="Century Schoolbook"/>
                <a:cs typeface="Century Schoolbook"/>
              </a:rPr>
              <a:t>protein</a:t>
            </a:r>
            <a:r>
              <a:rPr sz="2133" spc="420" dirty="0">
                <a:latin typeface="Century Schoolbook"/>
                <a:cs typeface="Century Schoolbook"/>
              </a:rPr>
              <a:t> </a:t>
            </a:r>
            <a:r>
              <a:rPr sz="2133" dirty="0">
                <a:latin typeface="Century Schoolbook"/>
                <a:cs typeface="Century Schoolbook"/>
              </a:rPr>
              <a:t>that</a:t>
            </a:r>
            <a:r>
              <a:rPr sz="2133" spc="420" dirty="0">
                <a:latin typeface="Century Schoolbook"/>
                <a:cs typeface="Century Schoolbook"/>
              </a:rPr>
              <a:t> </a:t>
            </a:r>
            <a:r>
              <a:rPr sz="2133" dirty="0">
                <a:latin typeface="Century Schoolbook"/>
                <a:cs typeface="Century Schoolbook"/>
              </a:rPr>
              <a:t>helps</a:t>
            </a:r>
            <a:r>
              <a:rPr sz="2133" spc="420" dirty="0">
                <a:latin typeface="Century Schoolbook"/>
                <a:cs typeface="Century Schoolbook"/>
              </a:rPr>
              <a:t> </a:t>
            </a:r>
            <a:r>
              <a:rPr sz="2133" dirty="0">
                <a:latin typeface="Century Schoolbook"/>
                <a:cs typeface="Century Schoolbook"/>
              </a:rPr>
              <a:t>make</a:t>
            </a:r>
            <a:r>
              <a:rPr sz="2133" spc="420" dirty="0">
                <a:latin typeface="Century Schoolbook"/>
                <a:cs typeface="Century Schoolbook"/>
              </a:rPr>
              <a:t> </a:t>
            </a:r>
            <a:r>
              <a:rPr sz="2133" spc="-13" dirty="0">
                <a:latin typeface="Century Schoolbook"/>
                <a:cs typeface="Century Schoolbook"/>
              </a:rPr>
              <a:t>colored </a:t>
            </a:r>
            <a:r>
              <a:rPr sz="2133" dirty="0">
                <a:latin typeface="Century Schoolbook"/>
                <a:cs typeface="Century Schoolbook"/>
              </a:rPr>
              <a:t>molecules</a:t>
            </a:r>
            <a:r>
              <a:rPr sz="2133" spc="-73" dirty="0">
                <a:latin typeface="Century Schoolbook"/>
                <a:cs typeface="Century Schoolbook"/>
              </a:rPr>
              <a:t> </a:t>
            </a:r>
            <a:r>
              <a:rPr sz="2133" dirty="0">
                <a:latin typeface="Century Schoolbook"/>
                <a:cs typeface="Century Schoolbook"/>
              </a:rPr>
              <a:t>(pigments)</a:t>
            </a:r>
            <a:r>
              <a:rPr sz="2133" spc="-73" dirty="0">
                <a:latin typeface="Century Schoolbook"/>
                <a:cs typeface="Century Schoolbook"/>
              </a:rPr>
              <a:t> </a:t>
            </a:r>
            <a:r>
              <a:rPr sz="2133" dirty="0">
                <a:latin typeface="Century Schoolbook"/>
                <a:cs typeface="Century Schoolbook"/>
              </a:rPr>
              <a:t>in</a:t>
            </a:r>
            <a:r>
              <a:rPr sz="2133" spc="-73" dirty="0">
                <a:latin typeface="Century Schoolbook"/>
                <a:cs typeface="Century Schoolbook"/>
              </a:rPr>
              <a:t> </a:t>
            </a:r>
            <a:r>
              <a:rPr sz="2133" dirty="0">
                <a:latin typeface="Century Schoolbook"/>
                <a:cs typeface="Century Schoolbook"/>
              </a:rPr>
              <a:t>flower</a:t>
            </a:r>
            <a:r>
              <a:rPr sz="2133" spc="-73" dirty="0">
                <a:latin typeface="Century Schoolbook"/>
                <a:cs typeface="Century Schoolbook"/>
              </a:rPr>
              <a:t> </a:t>
            </a:r>
            <a:r>
              <a:rPr sz="2133" spc="-13" dirty="0">
                <a:latin typeface="Century Schoolbook"/>
                <a:cs typeface="Century Schoolbook"/>
              </a:rPr>
              <a:t>petals.</a:t>
            </a:r>
            <a:endParaRPr sz="2133" dirty="0">
              <a:latin typeface="Century Schoolbook"/>
              <a:cs typeface="Century Schoolbook"/>
            </a:endParaRPr>
          </a:p>
        </p:txBody>
      </p:sp>
      <p:pic>
        <p:nvPicPr>
          <p:cNvPr id="9" name="object 9"/>
          <p:cNvPicPr/>
          <p:nvPr/>
        </p:nvPicPr>
        <p:blipFill>
          <a:blip r:embed="rId2" cstate="print"/>
          <a:stretch>
            <a:fillRect/>
          </a:stretch>
        </p:blipFill>
        <p:spPr>
          <a:xfrm>
            <a:off x="1747989" y="5614427"/>
            <a:ext cx="8683316" cy="990755"/>
          </a:xfrm>
          <a:prstGeom prst="rect">
            <a:avLst/>
          </a:prstGeom>
        </p:spPr>
      </p:pic>
      <p:sp>
        <p:nvSpPr>
          <p:cNvPr id="10" name="object 10"/>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46</a:t>
            </a:fld>
            <a:endParaRPr spc="60" dirty="0"/>
          </a:p>
        </p:txBody>
      </p:sp>
    </p:spTree>
    <p:extLst>
      <p:ext uri="{BB962C8B-B14F-4D97-AF65-F5344CB8AC3E}">
        <p14:creationId xmlns:p14="http://schemas.microsoft.com/office/powerpoint/2010/main" val="39769669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2411" y="1218229"/>
            <a:ext cx="11587176" cy="1969771"/>
          </a:xfrm>
          <a:solidFill>
            <a:schemeClr val="accent6">
              <a:lumMod val="20000"/>
              <a:lumOff val="80000"/>
            </a:schemeClr>
          </a:solidFill>
        </p:spPr>
        <p:txBody>
          <a:bodyPr>
            <a:normAutofit fontScale="62500" lnSpcReduction="20000"/>
          </a:bodyPr>
          <a:lstStyle/>
          <a:p>
            <a:r>
              <a:rPr lang="en-US" b="1" dirty="0"/>
              <a:t>Quick Example: Mendel’s Flower Color </a:t>
            </a:r>
            <a:r>
              <a:rPr lang="en-US" b="1" dirty="0" smtClean="0"/>
              <a:t>Gene</a:t>
            </a:r>
          </a:p>
          <a:p>
            <a:endParaRPr lang="en-US" b="1" dirty="0"/>
          </a:p>
          <a:p>
            <a:r>
              <a:rPr lang="en-US" dirty="0"/>
              <a:t>DNA in the flower contains a gene for a pigment-making enzyme.</a:t>
            </a:r>
          </a:p>
          <a:p>
            <a:r>
              <a:rPr lang="en-US" dirty="0"/>
              <a:t>Transcription → mRNA copy of that gene.</a:t>
            </a:r>
          </a:p>
          <a:p>
            <a:r>
              <a:rPr lang="en-US" dirty="0"/>
              <a:t>Translation → protein (enzyme) that helps produce pigment molecules.</a:t>
            </a:r>
          </a:p>
          <a:p>
            <a:r>
              <a:rPr lang="en-US" dirty="0"/>
              <a:t>Result → colored flower petals.</a:t>
            </a:r>
          </a:p>
        </p:txBody>
      </p:sp>
      <p:pic>
        <p:nvPicPr>
          <p:cNvPr id="4" name="object 9"/>
          <p:cNvPicPr/>
          <p:nvPr/>
        </p:nvPicPr>
        <p:blipFill>
          <a:blip r:embed="rId2" cstate="print"/>
          <a:stretch>
            <a:fillRect/>
          </a:stretch>
        </p:blipFill>
        <p:spPr>
          <a:xfrm>
            <a:off x="914401" y="3733800"/>
            <a:ext cx="8683316" cy="990755"/>
          </a:xfrm>
          <a:prstGeom prst="rect">
            <a:avLst/>
          </a:prstGeom>
        </p:spPr>
      </p:pic>
    </p:spTree>
    <p:extLst>
      <p:ext uri="{BB962C8B-B14F-4D97-AF65-F5344CB8AC3E}">
        <p14:creationId xmlns:p14="http://schemas.microsoft.com/office/powerpoint/2010/main" val="29394930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05872" y="727329"/>
            <a:ext cx="14020800" cy="694207"/>
          </a:xfrm>
          <a:prstGeom prst="rect">
            <a:avLst/>
          </a:prstGeom>
        </p:spPr>
        <p:txBody>
          <a:bodyPr vert="horz" wrap="square" lIns="0" tIns="16933" rIns="0" bIns="0" rtlCol="0" anchor="ctr">
            <a:spAutoFit/>
          </a:bodyPr>
          <a:lstStyle/>
          <a:p>
            <a:pPr marL="1148051">
              <a:lnSpc>
                <a:spcPct val="100000"/>
              </a:lnSpc>
              <a:spcBef>
                <a:spcPts val="133"/>
              </a:spcBef>
            </a:pPr>
            <a:r>
              <a:rPr spc="333" dirty="0"/>
              <a:t>Central</a:t>
            </a:r>
            <a:r>
              <a:rPr spc="193" dirty="0"/>
              <a:t> </a:t>
            </a:r>
            <a:r>
              <a:rPr spc="327" dirty="0"/>
              <a:t>Dogma</a:t>
            </a:r>
            <a:r>
              <a:rPr spc="200" dirty="0"/>
              <a:t> </a:t>
            </a:r>
            <a:r>
              <a:rPr spc="233" dirty="0"/>
              <a:t>of</a:t>
            </a:r>
            <a:r>
              <a:rPr spc="200" dirty="0"/>
              <a:t> </a:t>
            </a:r>
            <a:r>
              <a:rPr spc="373" dirty="0"/>
              <a:t>Molecular</a:t>
            </a:r>
            <a:r>
              <a:rPr spc="200" dirty="0"/>
              <a:t> </a:t>
            </a:r>
            <a:r>
              <a:rPr spc="300" dirty="0"/>
              <a:t>Biology</a:t>
            </a:r>
          </a:p>
        </p:txBody>
      </p:sp>
      <p:grpSp>
        <p:nvGrpSpPr>
          <p:cNvPr id="3" name="object 3"/>
          <p:cNvGrpSpPr/>
          <p:nvPr/>
        </p:nvGrpSpPr>
        <p:grpSpPr>
          <a:xfrm>
            <a:off x="0" y="745570"/>
            <a:ext cx="11960013" cy="5594773"/>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216401" y="1449134"/>
            <a:ext cx="11662833" cy="1745457"/>
          </a:xfrm>
          <a:prstGeom prst="rect">
            <a:avLst/>
          </a:prstGeom>
          <a:solidFill>
            <a:srgbClr val="EAD1DC"/>
          </a:solidFill>
        </p:spPr>
        <p:txBody>
          <a:bodyPr vert="horz" wrap="square" lIns="0" tIns="103293" rIns="0" bIns="0" rtlCol="0">
            <a:spAutoFit/>
          </a:bodyPr>
          <a:lstStyle/>
          <a:p>
            <a:pPr marL="114297" marR="116837">
              <a:spcBef>
                <a:spcPts val="813"/>
              </a:spcBef>
            </a:pPr>
            <a:r>
              <a:rPr sz="2133" dirty="0">
                <a:latin typeface="Century Schoolbook"/>
                <a:cs typeface="Century Schoolbook"/>
              </a:rPr>
              <a:t>The</a:t>
            </a:r>
            <a:r>
              <a:rPr sz="2133" spc="213" dirty="0">
                <a:latin typeface="Century Schoolbook"/>
                <a:cs typeface="Century Schoolbook"/>
              </a:rPr>
              <a:t> </a:t>
            </a:r>
            <a:r>
              <a:rPr sz="2133" dirty="0">
                <a:latin typeface="Century Schoolbook"/>
                <a:cs typeface="Century Schoolbook"/>
              </a:rPr>
              <a:t>central</a:t>
            </a:r>
            <a:r>
              <a:rPr sz="2133" spc="220" dirty="0">
                <a:latin typeface="Century Schoolbook"/>
                <a:cs typeface="Century Schoolbook"/>
              </a:rPr>
              <a:t> </a:t>
            </a:r>
            <a:r>
              <a:rPr sz="2133" dirty="0">
                <a:latin typeface="Century Schoolbook"/>
                <a:cs typeface="Century Schoolbook"/>
              </a:rPr>
              <a:t>dogma</a:t>
            </a:r>
            <a:r>
              <a:rPr sz="2133" spc="213" dirty="0">
                <a:latin typeface="Century Schoolbook"/>
                <a:cs typeface="Century Schoolbook"/>
              </a:rPr>
              <a:t> </a:t>
            </a:r>
            <a:r>
              <a:rPr sz="2133" dirty="0">
                <a:latin typeface="Century Schoolbook"/>
                <a:cs typeface="Century Schoolbook"/>
              </a:rPr>
              <a:t>states</a:t>
            </a:r>
            <a:r>
              <a:rPr sz="2133" spc="220" dirty="0">
                <a:latin typeface="Century Schoolbook"/>
                <a:cs typeface="Century Schoolbook"/>
              </a:rPr>
              <a:t> </a:t>
            </a:r>
            <a:r>
              <a:rPr sz="2133" dirty="0">
                <a:latin typeface="Century Schoolbook"/>
                <a:cs typeface="Century Schoolbook"/>
              </a:rPr>
              <a:t>that</a:t>
            </a:r>
            <a:r>
              <a:rPr sz="2133" spc="213" dirty="0">
                <a:latin typeface="Century Schoolbook"/>
                <a:cs typeface="Century Schoolbook"/>
              </a:rPr>
              <a:t> </a:t>
            </a:r>
            <a:r>
              <a:rPr sz="2133" dirty="0">
                <a:latin typeface="Century Schoolbook"/>
                <a:cs typeface="Century Schoolbook"/>
              </a:rPr>
              <a:t>the</a:t>
            </a:r>
            <a:r>
              <a:rPr sz="2133" spc="220" dirty="0">
                <a:latin typeface="Century Schoolbook"/>
                <a:cs typeface="Century Schoolbook"/>
              </a:rPr>
              <a:t> </a:t>
            </a:r>
            <a:r>
              <a:rPr sz="2133" dirty="0">
                <a:latin typeface="Century Schoolbook"/>
                <a:cs typeface="Century Schoolbook"/>
              </a:rPr>
              <a:t>pattern</a:t>
            </a:r>
            <a:r>
              <a:rPr sz="2133" spc="220" dirty="0">
                <a:latin typeface="Century Schoolbook"/>
                <a:cs typeface="Century Schoolbook"/>
              </a:rPr>
              <a:t> </a:t>
            </a:r>
            <a:r>
              <a:rPr sz="2133" dirty="0">
                <a:latin typeface="Century Schoolbook"/>
                <a:cs typeface="Century Schoolbook"/>
              </a:rPr>
              <a:t>of</a:t>
            </a:r>
            <a:r>
              <a:rPr sz="2133" spc="213" dirty="0">
                <a:latin typeface="Century Schoolbook"/>
                <a:cs typeface="Century Schoolbook"/>
              </a:rPr>
              <a:t> </a:t>
            </a:r>
            <a:r>
              <a:rPr sz="2133" dirty="0">
                <a:latin typeface="Century Schoolbook"/>
                <a:cs typeface="Century Schoolbook"/>
              </a:rPr>
              <a:t>information</a:t>
            </a:r>
            <a:r>
              <a:rPr sz="2133" spc="220" dirty="0">
                <a:latin typeface="Century Schoolbook"/>
                <a:cs typeface="Century Schoolbook"/>
              </a:rPr>
              <a:t> </a:t>
            </a:r>
            <a:r>
              <a:rPr sz="2133" dirty="0">
                <a:latin typeface="Century Schoolbook"/>
                <a:cs typeface="Century Schoolbook"/>
              </a:rPr>
              <a:t>that</a:t>
            </a:r>
            <a:r>
              <a:rPr sz="2133" spc="213" dirty="0">
                <a:latin typeface="Century Schoolbook"/>
                <a:cs typeface="Century Schoolbook"/>
              </a:rPr>
              <a:t> </a:t>
            </a:r>
            <a:r>
              <a:rPr sz="2133" dirty="0">
                <a:latin typeface="Century Schoolbook"/>
                <a:cs typeface="Century Schoolbook"/>
              </a:rPr>
              <a:t>occurs</a:t>
            </a:r>
            <a:r>
              <a:rPr sz="2133" spc="220" dirty="0">
                <a:latin typeface="Century Schoolbook"/>
                <a:cs typeface="Century Schoolbook"/>
              </a:rPr>
              <a:t> </a:t>
            </a:r>
            <a:r>
              <a:rPr sz="2133" dirty="0">
                <a:latin typeface="Century Schoolbook"/>
                <a:cs typeface="Century Schoolbook"/>
              </a:rPr>
              <a:t>most</a:t>
            </a:r>
            <a:r>
              <a:rPr sz="2133" spc="220" dirty="0">
                <a:latin typeface="Century Schoolbook"/>
                <a:cs typeface="Century Schoolbook"/>
              </a:rPr>
              <a:t> </a:t>
            </a:r>
            <a:r>
              <a:rPr sz="2133" dirty="0">
                <a:latin typeface="Century Schoolbook"/>
                <a:cs typeface="Century Schoolbook"/>
              </a:rPr>
              <a:t>frequently</a:t>
            </a:r>
            <a:r>
              <a:rPr sz="2133" spc="213" dirty="0">
                <a:latin typeface="Century Schoolbook"/>
                <a:cs typeface="Century Schoolbook"/>
              </a:rPr>
              <a:t> </a:t>
            </a:r>
            <a:r>
              <a:rPr sz="2133" spc="-33" dirty="0">
                <a:latin typeface="Century Schoolbook"/>
                <a:cs typeface="Century Schoolbook"/>
              </a:rPr>
              <a:t>in </a:t>
            </a:r>
            <a:r>
              <a:rPr sz="2133" dirty="0">
                <a:latin typeface="Century Schoolbook"/>
                <a:cs typeface="Century Schoolbook"/>
              </a:rPr>
              <a:t>our</a:t>
            </a:r>
            <a:r>
              <a:rPr sz="2133" spc="-27" dirty="0">
                <a:latin typeface="Century Schoolbook"/>
                <a:cs typeface="Century Schoolbook"/>
              </a:rPr>
              <a:t> </a:t>
            </a:r>
            <a:r>
              <a:rPr sz="2133" dirty="0">
                <a:latin typeface="Century Schoolbook"/>
                <a:cs typeface="Century Schoolbook"/>
              </a:rPr>
              <a:t>cells</a:t>
            </a:r>
            <a:r>
              <a:rPr sz="2133" spc="-27" dirty="0">
                <a:latin typeface="Century Schoolbook"/>
                <a:cs typeface="Century Schoolbook"/>
              </a:rPr>
              <a:t> </a:t>
            </a:r>
            <a:r>
              <a:rPr sz="2133" spc="-33" dirty="0">
                <a:latin typeface="Century Schoolbook"/>
                <a:cs typeface="Century Schoolbook"/>
              </a:rPr>
              <a:t>is:</a:t>
            </a:r>
            <a:endParaRPr sz="2133" dirty="0">
              <a:latin typeface="Century Schoolbook"/>
              <a:cs typeface="Century Schoolbook"/>
            </a:endParaRPr>
          </a:p>
          <a:p>
            <a:pPr marL="1942205" indent="-468195">
              <a:buFont typeface="Arial"/>
              <a:buChar char="●"/>
              <a:tabLst>
                <a:tab pos="1942205" algn="l"/>
              </a:tabLst>
            </a:pPr>
            <a:r>
              <a:rPr sz="2133" dirty="0">
                <a:solidFill>
                  <a:srgbClr val="FF0000"/>
                </a:solidFill>
                <a:latin typeface="Century Schoolbook"/>
                <a:cs typeface="Century Schoolbook"/>
              </a:rPr>
              <a:t>From</a:t>
            </a:r>
            <a:r>
              <a:rPr sz="2133" spc="-53" dirty="0">
                <a:solidFill>
                  <a:srgbClr val="FF0000"/>
                </a:solidFill>
                <a:latin typeface="Century Schoolbook"/>
                <a:cs typeface="Century Schoolbook"/>
              </a:rPr>
              <a:t> </a:t>
            </a:r>
            <a:r>
              <a:rPr sz="2133" dirty="0">
                <a:solidFill>
                  <a:srgbClr val="FF0000"/>
                </a:solidFill>
                <a:latin typeface="Century Schoolbook"/>
                <a:cs typeface="Century Schoolbook"/>
              </a:rPr>
              <a:t>existing</a:t>
            </a:r>
            <a:r>
              <a:rPr sz="2133" spc="-33" dirty="0">
                <a:solidFill>
                  <a:srgbClr val="FF0000"/>
                </a:solidFill>
                <a:latin typeface="Century Schoolbook"/>
                <a:cs typeface="Century Schoolbook"/>
              </a:rPr>
              <a:t> </a:t>
            </a:r>
            <a:r>
              <a:rPr sz="2133" dirty="0">
                <a:solidFill>
                  <a:srgbClr val="FF0000"/>
                </a:solidFill>
                <a:latin typeface="Century Schoolbook"/>
                <a:cs typeface="Century Schoolbook"/>
              </a:rPr>
              <a:t>DNA</a:t>
            </a:r>
            <a:r>
              <a:rPr sz="2133" spc="-140" dirty="0">
                <a:solidFill>
                  <a:srgbClr val="FF0000"/>
                </a:solidFill>
                <a:latin typeface="Century Schoolbook"/>
                <a:cs typeface="Century Schoolbook"/>
              </a:rPr>
              <a:t> </a:t>
            </a:r>
            <a:r>
              <a:rPr sz="2133" dirty="0">
                <a:solidFill>
                  <a:srgbClr val="FF0000"/>
                </a:solidFill>
                <a:latin typeface="Century Schoolbook"/>
                <a:cs typeface="Century Schoolbook"/>
              </a:rPr>
              <a:t>to</a:t>
            </a:r>
            <a:r>
              <a:rPr sz="2133" spc="-33" dirty="0">
                <a:solidFill>
                  <a:srgbClr val="FF0000"/>
                </a:solidFill>
                <a:latin typeface="Century Schoolbook"/>
                <a:cs typeface="Century Schoolbook"/>
              </a:rPr>
              <a:t> </a:t>
            </a:r>
            <a:r>
              <a:rPr sz="2133" dirty="0">
                <a:solidFill>
                  <a:srgbClr val="FF0000"/>
                </a:solidFill>
                <a:latin typeface="Century Schoolbook"/>
                <a:cs typeface="Century Schoolbook"/>
              </a:rPr>
              <a:t>make</a:t>
            </a:r>
            <a:r>
              <a:rPr sz="2133" spc="-33" dirty="0">
                <a:solidFill>
                  <a:srgbClr val="FF0000"/>
                </a:solidFill>
                <a:latin typeface="Century Schoolbook"/>
                <a:cs typeface="Century Schoolbook"/>
              </a:rPr>
              <a:t> </a:t>
            </a:r>
            <a:r>
              <a:rPr sz="2133" dirty="0">
                <a:solidFill>
                  <a:srgbClr val="FF0000"/>
                </a:solidFill>
                <a:latin typeface="Century Schoolbook"/>
                <a:cs typeface="Century Schoolbook"/>
              </a:rPr>
              <a:t>new</a:t>
            </a:r>
            <a:r>
              <a:rPr sz="2133" spc="-27" dirty="0">
                <a:solidFill>
                  <a:srgbClr val="FF0000"/>
                </a:solidFill>
                <a:latin typeface="Century Schoolbook"/>
                <a:cs typeface="Century Schoolbook"/>
              </a:rPr>
              <a:t> </a:t>
            </a:r>
            <a:r>
              <a:rPr sz="2133" dirty="0">
                <a:solidFill>
                  <a:srgbClr val="FF0000"/>
                </a:solidFill>
                <a:latin typeface="Century Schoolbook"/>
                <a:cs typeface="Century Schoolbook"/>
              </a:rPr>
              <a:t>DNA</a:t>
            </a:r>
            <a:r>
              <a:rPr sz="2133" spc="-140" dirty="0">
                <a:solidFill>
                  <a:srgbClr val="FF0000"/>
                </a:solidFill>
                <a:latin typeface="Century Schoolbook"/>
                <a:cs typeface="Century Schoolbook"/>
              </a:rPr>
              <a:t> </a:t>
            </a:r>
            <a:r>
              <a:rPr sz="2133" spc="-27" dirty="0">
                <a:solidFill>
                  <a:srgbClr val="FF0000"/>
                </a:solidFill>
                <a:latin typeface="Century Schoolbook"/>
                <a:cs typeface="Century Schoolbook"/>
              </a:rPr>
              <a:t>(DNA</a:t>
            </a:r>
            <a:r>
              <a:rPr sz="2133" spc="-127" dirty="0">
                <a:solidFill>
                  <a:srgbClr val="FF0000"/>
                </a:solidFill>
                <a:latin typeface="Century Schoolbook"/>
                <a:cs typeface="Century Schoolbook"/>
              </a:rPr>
              <a:t> </a:t>
            </a:r>
            <a:r>
              <a:rPr sz="2133" spc="-13" dirty="0">
                <a:solidFill>
                  <a:srgbClr val="FF0000"/>
                </a:solidFill>
                <a:latin typeface="Century Schoolbook"/>
                <a:cs typeface="Century Schoolbook"/>
              </a:rPr>
              <a:t>replication)</a:t>
            </a:r>
            <a:endParaRPr sz="2133" dirty="0">
              <a:solidFill>
                <a:srgbClr val="FF0000"/>
              </a:solidFill>
              <a:latin typeface="Century Schoolbook"/>
              <a:cs typeface="Century Schoolbook"/>
            </a:endParaRPr>
          </a:p>
          <a:p>
            <a:pPr marL="1942205" indent="-468195">
              <a:buFont typeface="Arial"/>
              <a:buChar char="●"/>
              <a:tabLst>
                <a:tab pos="1942205" algn="l"/>
              </a:tabLst>
            </a:pPr>
            <a:r>
              <a:rPr sz="2133" dirty="0">
                <a:solidFill>
                  <a:srgbClr val="FF0000"/>
                </a:solidFill>
                <a:latin typeface="Century Schoolbook"/>
                <a:cs typeface="Century Schoolbook"/>
              </a:rPr>
              <a:t>From</a:t>
            </a:r>
            <a:r>
              <a:rPr sz="2133" spc="-40" dirty="0">
                <a:solidFill>
                  <a:srgbClr val="FF0000"/>
                </a:solidFill>
                <a:latin typeface="Century Schoolbook"/>
                <a:cs typeface="Century Schoolbook"/>
              </a:rPr>
              <a:t> </a:t>
            </a:r>
            <a:r>
              <a:rPr sz="2133" dirty="0">
                <a:solidFill>
                  <a:srgbClr val="FF0000"/>
                </a:solidFill>
                <a:latin typeface="Century Schoolbook"/>
                <a:cs typeface="Century Schoolbook"/>
              </a:rPr>
              <a:t>DNA</a:t>
            </a:r>
            <a:r>
              <a:rPr sz="2133" spc="-147" dirty="0">
                <a:solidFill>
                  <a:srgbClr val="FF0000"/>
                </a:solidFill>
                <a:latin typeface="Century Schoolbook"/>
                <a:cs typeface="Century Schoolbook"/>
              </a:rPr>
              <a:t> </a:t>
            </a:r>
            <a:r>
              <a:rPr sz="2133" dirty="0">
                <a:solidFill>
                  <a:srgbClr val="FF0000"/>
                </a:solidFill>
                <a:latin typeface="Century Schoolbook"/>
                <a:cs typeface="Century Schoolbook"/>
              </a:rPr>
              <a:t>to</a:t>
            </a:r>
            <a:r>
              <a:rPr sz="2133" spc="-33" dirty="0">
                <a:solidFill>
                  <a:srgbClr val="FF0000"/>
                </a:solidFill>
                <a:latin typeface="Century Schoolbook"/>
                <a:cs typeface="Century Schoolbook"/>
              </a:rPr>
              <a:t> </a:t>
            </a:r>
            <a:r>
              <a:rPr sz="2133" dirty="0">
                <a:solidFill>
                  <a:srgbClr val="FF0000"/>
                </a:solidFill>
                <a:latin typeface="Century Schoolbook"/>
                <a:cs typeface="Century Schoolbook"/>
              </a:rPr>
              <a:t>make</a:t>
            </a:r>
            <a:r>
              <a:rPr sz="2133" spc="-40" dirty="0">
                <a:solidFill>
                  <a:srgbClr val="FF0000"/>
                </a:solidFill>
                <a:latin typeface="Century Schoolbook"/>
                <a:cs typeface="Century Schoolbook"/>
              </a:rPr>
              <a:t> </a:t>
            </a:r>
            <a:r>
              <a:rPr sz="2133" dirty="0">
                <a:solidFill>
                  <a:srgbClr val="FF0000"/>
                </a:solidFill>
                <a:latin typeface="Century Schoolbook"/>
                <a:cs typeface="Century Schoolbook"/>
              </a:rPr>
              <a:t>messenger</a:t>
            </a:r>
            <a:r>
              <a:rPr sz="2133" spc="-40" dirty="0">
                <a:solidFill>
                  <a:srgbClr val="FF0000"/>
                </a:solidFill>
                <a:latin typeface="Century Schoolbook"/>
                <a:cs typeface="Century Schoolbook"/>
              </a:rPr>
              <a:t> </a:t>
            </a:r>
            <a:r>
              <a:rPr sz="2133" dirty="0">
                <a:solidFill>
                  <a:srgbClr val="FF0000"/>
                </a:solidFill>
                <a:latin typeface="Century Schoolbook"/>
                <a:cs typeface="Century Schoolbook"/>
              </a:rPr>
              <a:t>RNA</a:t>
            </a:r>
            <a:r>
              <a:rPr sz="2133" spc="-140" dirty="0">
                <a:solidFill>
                  <a:srgbClr val="FF0000"/>
                </a:solidFill>
                <a:latin typeface="Century Schoolbook"/>
                <a:cs typeface="Century Schoolbook"/>
              </a:rPr>
              <a:t> </a:t>
            </a:r>
            <a:r>
              <a:rPr sz="2133" spc="-13" dirty="0">
                <a:solidFill>
                  <a:srgbClr val="FF0000"/>
                </a:solidFill>
                <a:latin typeface="Century Schoolbook"/>
                <a:cs typeface="Century Schoolbook"/>
              </a:rPr>
              <a:t>(Transcription)</a:t>
            </a:r>
            <a:endParaRPr sz="2133" dirty="0">
              <a:solidFill>
                <a:srgbClr val="FF0000"/>
              </a:solidFill>
              <a:latin typeface="Century Schoolbook"/>
              <a:cs typeface="Century Schoolbook"/>
            </a:endParaRPr>
          </a:p>
          <a:p>
            <a:pPr marL="1942205" indent="-468195">
              <a:buFont typeface="Arial"/>
              <a:buChar char="●"/>
              <a:tabLst>
                <a:tab pos="1942205" algn="l"/>
              </a:tabLst>
            </a:pPr>
            <a:r>
              <a:rPr sz="2133" dirty="0">
                <a:solidFill>
                  <a:srgbClr val="FF0000"/>
                </a:solidFill>
                <a:latin typeface="Century Schoolbook"/>
                <a:cs typeface="Century Schoolbook"/>
              </a:rPr>
              <a:t>From</a:t>
            </a:r>
            <a:r>
              <a:rPr sz="2133" spc="-73" dirty="0">
                <a:solidFill>
                  <a:srgbClr val="FF0000"/>
                </a:solidFill>
                <a:latin typeface="Century Schoolbook"/>
                <a:cs typeface="Century Schoolbook"/>
              </a:rPr>
              <a:t> </a:t>
            </a:r>
            <a:r>
              <a:rPr sz="2133" dirty="0">
                <a:solidFill>
                  <a:srgbClr val="FF0000"/>
                </a:solidFill>
                <a:latin typeface="Century Schoolbook"/>
                <a:cs typeface="Century Schoolbook"/>
              </a:rPr>
              <a:t>mRNA</a:t>
            </a:r>
            <a:r>
              <a:rPr sz="2133" spc="-147" dirty="0">
                <a:solidFill>
                  <a:srgbClr val="FF0000"/>
                </a:solidFill>
                <a:latin typeface="Century Schoolbook"/>
                <a:cs typeface="Century Schoolbook"/>
              </a:rPr>
              <a:t> </a:t>
            </a:r>
            <a:r>
              <a:rPr sz="2133" dirty="0">
                <a:solidFill>
                  <a:srgbClr val="FF0000"/>
                </a:solidFill>
                <a:latin typeface="Century Schoolbook"/>
                <a:cs typeface="Century Schoolbook"/>
              </a:rPr>
              <a:t>to</a:t>
            </a:r>
            <a:r>
              <a:rPr sz="2133" spc="-60" dirty="0">
                <a:solidFill>
                  <a:srgbClr val="FF0000"/>
                </a:solidFill>
                <a:latin typeface="Century Schoolbook"/>
                <a:cs typeface="Century Schoolbook"/>
              </a:rPr>
              <a:t> </a:t>
            </a:r>
            <a:r>
              <a:rPr sz="2133" dirty="0">
                <a:solidFill>
                  <a:srgbClr val="FF0000"/>
                </a:solidFill>
                <a:latin typeface="Century Schoolbook"/>
                <a:cs typeface="Century Schoolbook"/>
              </a:rPr>
              <a:t>make</a:t>
            </a:r>
            <a:r>
              <a:rPr sz="2133" spc="-53" dirty="0">
                <a:solidFill>
                  <a:srgbClr val="FF0000"/>
                </a:solidFill>
                <a:latin typeface="Century Schoolbook"/>
                <a:cs typeface="Century Schoolbook"/>
              </a:rPr>
              <a:t> </a:t>
            </a:r>
            <a:r>
              <a:rPr sz="2133" dirty="0">
                <a:solidFill>
                  <a:srgbClr val="FF0000"/>
                </a:solidFill>
                <a:latin typeface="Century Schoolbook"/>
                <a:cs typeface="Century Schoolbook"/>
              </a:rPr>
              <a:t>new</a:t>
            </a:r>
            <a:r>
              <a:rPr sz="2133" spc="-60" dirty="0">
                <a:solidFill>
                  <a:srgbClr val="FF0000"/>
                </a:solidFill>
                <a:latin typeface="Century Schoolbook"/>
                <a:cs typeface="Century Schoolbook"/>
              </a:rPr>
              <a:t> </a:t>
            </a:r>
            <a:r>
              <a:rPr sz="2133" dirty="0">
                <a:solidFill>
                  <a:srgbClr val="FF0000"/>
                </a:solidFill>
                <a:latin typeface="Century Schoolbook"/>
                <a:cs typeface="Century Schoolbook"/>
              </a:rPr>
              <a:t>proteins</a:t>
            </a:r>
            <a:r>
              <a:rPr sz="2133" spc="-60" dirty="0">
                <a:solidFill>
                  <a:srgbClr val="FF0000"/>
                </a:solidFill>
                <a:latin typeface="Century Schoolbook"/>
                <a:cs typeface="Century Schoolbook"/>
              </a:rPr>
              <a:t> </a:t>
            </a:r>
            <a:r>
              <a:rPr sz="2133" spc="-13" dirty="0">
                <a:solidFill>
                  <a:srgbClr val="FF0000"/>
                </a:solidFill>
                <a:latin typeface="Century Schoolbook"/>
                <a:cs typeface="Century Schoolbook"/>
              </a:rPr>
              <a:t>(Translation)</a:t>
            </a:r>
            <a:endParaRPr sz="2133" dirty="0">
              <a:solidFill>
                <a:srgbClr val="FF0000"/>
              </a:solidFill>
              <a:latin typeface="Century Schoolbook"/>
              <a:cs typeface="Century Schoolbook"/>
            </a:endParaRP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66038">
              <a:spcBef>
                <a:spcPts val="27"/>
              </a:spcBef>
            </a:pPr>
            <a:fld id="{81D60167-4931-47E6-BA6A-407CBD079E47}" type="slidenum">
              <a:rPr spc="60" dirty="0"/>
              <a:pPr marL="66038">
                <a:spcBef>
                  <a:spcPts val="27"/>
                </a:spcBef>
              </a:pPr>
              <a:t>48</a:t>
            </a:fld>
            <a:endParaRPr spc="60" dirty="0"/>
          </a:p>
        </p:txBody>
      </p:sp>
      <p:sp>
        <p:nvSpPr>
          <p:cNvPr id="7" name="object 7"/>
          <p:cNvSpPr txBox="1"/>
          <p:nvPr/>
        </p:nvSpPr>
        <p:spPr>
          <a:xfrm>
            <a:off x="216233" y="3835832"/>
            <a:ext cx="11662833" cy="2504511"/>
          </a:xfrm>
          <a:prstGeom prst="rect">
            <a:avLst/>
          </a:prstGeom>
          <a:solidFill>
            <a:srgbClr val="FFE499"/>
          </a:solidFill>
        </p:spPr>
        <p:txBody>
          <a:bodyPr vert="horz" wrap="square" lIns="0" tIns="103293" rIns="0" bIns="0" rtlCol="0">
            <a:spAutoFit/>
          </a:bodyPr>
          <a:lstStyle/>
          <a:p>
            <a:pPr marL="114297" marR="115990" algn="just">
              <a:spcBef>
                <a:spcPts val="813"/>
              </a:spcBef>
            </a:pPr>
            <a:r>
              <a:rPr sz="2133" dirty="0">
                <a:latin typeface="Century Schoolbook"/>
                <a:cs typeface="Century Schoolbook"/>
              </a:rPr>
              <a:t>In</a:t>
            </a:r>
            <a:r>
              <a:rPr sz="2133" spc="147" dirty="0">
                <a:latin typeface="Century Schoolbook"/>
                <a:cs typeface="Century Schoolbook"/>
              </a:rPr>
              <a:t> </a:t>
            </a:r>
            <a:r>
              <a:rPr sz="2133" b="1" dirty="0">
                <a:latin typeface="Century Schoolbook Bold"/>
                <a:cs typeface="Century Schoolbook Bold"/>
              </a:rPr>
              <a:t>transcription</a:t>
            </a:r>
            <a:r>
              <a:rPr sz="2133" dirty="0">
                <a:latin typeface="Century Schoolbook"/>
                <a:cs typeface="Century Schoolbook"/>
              </a:rPr>
              <a:t>,</a:t>
            </a:r>
            <a:r>
              <a:rPr sz="2133" spc="147" dirty="0">
                <a:latin typeface="Century Schoolbook"/>
                <a:cs typeface="Century Schoolbook"/>
              </a:rPr>
              <a:t> </a:t>
            </a:r>
            <a:r>
              <a:rPr sz="2133" dirty="0">
                <a:latin typeface="Century Schoolbook"/>
                <a:cs typeface="Century Schoolbook"/>
              </a:rPr>
              <a:t>the</a:t>
            </a:r>
            <a:r>
              <a:rPr sz="2133" spc="140" dirty="0">
                <a:latin typeface="Century Schoolbook"/>
                <a:cs typeface="Century Schoolbook"/>
              </a:rPr>
              <a:t> </a:t>
            </a:r>
            <a:r>
              <a:rPr sz="2133" dirty="0">
                <a:latin typeface="Century Schoolbook"/>
                <a:cs typeface="Century Schoolbook"/>
              </a:rPr>
              <a:t>DNA</a:t>
            </a:r>
            <a:r>
              <a:rPr sz="2133" spc="40" dirty="0">
                <a:latin typeface="Century Schoolbook"/>
                <a:cs typeface="Century Schoolbook"/>
              </a:rPr>
              <a:t> </a:t>
            </a:r>
            <a:r>
              <a:rPr sz="2133" dirty="0">
                <a:latin typeface="Century Schoolbook"/>
                <a:cs typeface="Century Schoolbook"/>
              </a:rPr>
              <a:t>sequence</a:t>
            </a:r>
            <a:r>
              <a:rPr sz="2133" spc="140" dirty="0">
                <a:latin typeface="Century Schoolbook"/>
                <a:cs typeface="Century Schoolbook"/>
              </a:rPr>
              <a:t> </a:t>
            </a:r>
            <a:r>
              <a:rPr sz="2133" dirty="0">
                <a:latin typeface="Century Schoolbook"/>
                <a:cs typeface="Century Schoolbook"/>
              </a:rPr>
              <a:t>of</a:t>
            </a:r>
            <a:r>
              <a:rPr sz="2133" spc="147" dirty="0">
                <a:latin typeface="Century Schoolbook"/>
                <a:cs typeface="Century Schoolbook"/>
              </a:rPr>
              <a:t> </a:t>
            </a:r>
            <a:r>
              <a:rPr sz="2133" dirty="0">
                <a:latin typeface="Century Schoolbook"/>
                <a:cs typeface="Century Schoolbook"/>
              </a:rPr>
              <a:t>a</a:t>
            </a:r>
            <a:r>
              <a:rPr sz="2133" spc="140" dirty="0">
                <a:latin typeface="Century Schoolbook"/>
                <a:cs typeface="Century Schoolbook"/>
              </a:rPr>
              <a:t> </a:t>
            </a:r>
            <a:r>
              <a:rPr sz="2133" dirty="0">
                <a:latin typeface="Century Schoolbook"/>
                <a:cs typeface="Century Schoolbook"/>
              </a:rPr>
              <a:t>gene</a:t>
            </a:r>
            <a:r>
              <a:rPr sz="2133" spc="147" dirty="0">
                <a:latin typeface="Century Schoolbook"/>
                <a:cs typeface="Century Schoolbook"/>
              </a:rPr>
              <a:t> </a:t>
            </a:r>
            <a:r>
              <a:rPr sz="2133" dirty="0">
                <a:latin typeface="Century Schoolbook"/>
                <a:cs typeface="Century Schoolbook"/>
              </a:rPr>
              <a:t>is</a:t>
            </a:r>
            <a:r>
              <a:rPr sz="2133" spc="147" dirty="0">
                <a:latin typeface="Century Schoolbook"/>
                <a:cs typeface="Century Schoolbook"/>
              </a:rPr>
              <a:t> </a:t>
            </a:r>
            <a:r>
              <a:rPr sz="2133" dirty="0">
                <a:latin typeface="Century Schoolbook"/>
                <a:cs typeface="Century Schoolbook"/>
              </a:rPr>
              <a:t>copied</a:t>
            </a:r>
            <a:r>
              <a:rPr sz="2133" spc="140" dirty="0">
                <a:latin typeface="Century Schoolbook"/>
                <a:cs typeface="Century Schoolbook"/>
              </a:rPr>
              <a:t> </a:t>
            </a:r>
            <a:r>
              <a:rPr sz="2133" dirty="0">
                <a:latin typeface="Century Schoolbook"/>
                <a:cs typeface="Century Schoolbook"/>
              </a:rPr>
              <a:t>to</a:t>
            </a:r>
            <a:r>
              <a:rPr sz="2133" spc="147" dirty="0">
                <a:latin typeface="Century Schoolbook"/>
                <a:cs typeface="Century Schoolbook"/>
              </a:rPr>
              <a:t> </a:t>
            </a:r>
            <a:r>
              <a:rPr sz="2133" dirty="0">
                <a:latin typeface="Century Schoolbook"/>
                <a:cs typeface="Century Schoolbook"/>
              </a:rPr>
              <a:t>make</a:t>
            </a:r>
            <a:r>
              <a:rPr sz="2133" spc="140" dirty="0">
                <a:latin typeface="Century Schoolbook"/>
                <a:cs typeface="Century Schoolbook"/>
              </a:rPr>
              <a:t> </a:t>
            </a:r>
            <a:r>
              <a:rPr sz="2133" dirty="0">
                <a:latin typeface="Century Schoolbook"/>
                <a:cs typeface="Century Schoolbook"/>
              </a:rPr>
              <a:t>an</a:t>
            </a:r>
            <a:r>
              <a:rPr sz="2133" spc="147" dirty="0">
                <a:latin typeface="Century Schoolbook"/>
                <a:cs typeface="Century Schoolbook"/>
              </a:rPr>
              <a:t> </a:t>
            </a:r>
            <a:r>
              <a:rPr sz="2133" dirty="0">
                <a:latin typeface="Century Schoolbook"/>
                <a:cs typeface="Century Schoolbook"/>
              </a:rPr>
              <a:t>RNA</a:t>
            </a:r>
            <a:r>
              <a:rPr sz="2133" spc="33" dirty="0">
                <a:latin typeface="Century Schoolbook"/>
                <a:cs typeface="Century Schoolbook"/>
              </a:rPr>
              <a:t> </a:t>
            </a:r>
            <a:r>
              <a:rPr sz="2133" dirty="0">
                <a:latin typeface="Century Schoolbook"/>
                <a:cs typeface="Century Schoolbook"/>
              </a:rPr>
              <a:t>molecule.</a:t>
            </a:r>
            <a:r>
              <a:rPr sz="2133" spc="147" dirty="0">
                <a:latin typeface="Century Schoolbook"/>
                <a:cs typeface="Century Schoolbook"/>
              </a:rPr>
              <a:t> </a:t>
            </a:r>
            <a:r>
              <a:rPr sz="2133" spc="-27" dirty="0">
                <a:latin typeface="Century Schoolbook"/>
                <a:cs typeface="Century Schoolbook"/>
              </a:rPr>
              <a:t>This </a:t>
            </a:r>
            <a:r>
              <a:rPr sz="2133" dirty="0">
                <a:latin typeface="Century Schoolbook"/>
                <a:cs typeface="Century Schoolbook"/>
              </a:rPr>
              <a:t>step</a:t>
            </a:r>
            <a:r>
              <a:rPr sz="2133" spc="87" dirty="0">
                <a:latin typeface="Century Schoolbook"/>
                <a:cs typeface="Century Schoolbook"/>
              </a:rPr>
              <a:t>  </a:t>
            </a:r>
            <a:r>
              <a:rPr sz="2133" dirty="0">
                <a:latin typeface="Century Schoolbook"/>
                <a:cs typeface="Century Schoolbook"/>
              </a:rPr>
              <a:t>is</a:t>
            </a:r>
            <a:r>
              <a:rPr sz="2133" spc="93" dirty="0">
                <a:latin typeface="Century Schoolbook"/>
                <a:cs typeface="Century Schoolbook"/>
              </a:rPr>
              <a:t>  </a:t>
            </a:r>
            <a:r>
              <a:rPr sz="2133" dirty="0">
                <a:latin typeface="Century Schoolbook"/>
                <a:cs typeface="Century Schoolbook"/>
              </a:rPr>
              <a:t>called</a:t>
            </a:r>
            <a:r>
              <a:rPr sz="2133" spc="87" dirty="0">
                <a:latin typeface="Century Schoolbook"/>
                <a:cs typeface="Century Schoolbook"/>
              </a:rPr>
              <a:t>  </a:t>
            </a:r>
            <a:r>
              <a:rPr sz="2133" dirty="0">
                <a:latin typeface="Century Schoolbook"/>
                <a:cs typeface="Century Schoolbook"/>
              </a:rPr>
              <a:t>transcription</a:t>
            </a:r>
            <a:r>
              <a:rPr sz="2133" spc="93" dirty="0">
                <a:latin typeface="Century Schoolbook"/>
                <a:cs typeface="Century Schoolbook"/>
              </a:rPr>
              <a:t>  </a:t>
            </a:r>
            <a:r>
              <a:rPr sz="2133" dirty="0">
                <a:latin typeface="Century Schoolbook"/>
                <a:cs typeface="Century Schoolbook"/>
              </a:rPr>
              <a:t>because</a:t>
            </a:r>
            <a:r>
              <a:rPr sz="2133" spc="87" dirty="0">
                <a:latin typeface="Century Schoolbook"/>
                <a:cs typeface="Century Schoolbook"/>
              </a:rPr>
              <a:t>  </a:t>
            </a:r>
            <a:r>
              <a:rPr sz="2133" dirty="0">
                <a:latin typeface="Century Schoolbook"/>
                <a:cs typeface="Century Schoolbook"/>
              </a:rPr>
              <a:t>it</a:t>
            </a:r>
            <a:r>
              <a:rPr sz="2133" spc="93" dirty="0">
                <a:latin typeface="Century Schoolbook"/>
                <a:cs typeface="Century Schoolbook"/>
              </a:rPr>
              <a:t>  </a:t>
            </a:r>
            <a:r>
              <a:rPr sz="2133" dirty="0">
                <a:latin typeface="Century Schoolbook"/>
                <a:cs typeface="Century Schoolbook"/>
              </a:rPr>
              <a:t>involves</a:t>
            </a:r>
            <a:r>
              <a:rPr sz="2133" spc="93" dirty="0">
                <a:latin typeface="Century Schoolbook"/>
                <a:cs typeface="Century Schoolbook"/>
              </a:rPr>
              <a:t>  </a:t>
            </a:r>
            <a:r>
              <a:rPr sz="2133" dirty="0">
                <a:latin typeface="Century Schoolbook"/>
                <a:cs typeface="Century Schoolbook"/>
              </a:rPr>
              <a:t>rewriting,</a:t>
            </a:r>
            <a:r>
              <a:rPr sz="2133" spc="87" dirty="0">
                <a:latin typeface="Century Schoolbook"/>
                <a:cs typeface="Century Schoolbook"/>
              </a:rPr>
              <a:t>  </a:t>
            </a:r>
            <a:r>
              <a:rPr sz="2133" dirty="0">
                <a:latin typeface="Century Schoolbook"/>
                <a:cs typeface="Century Schoolbook"/>
              </a:rPr>
              <a:t>or</a:t>
            </a:r>
            <a:r>
              <a:rPr sz="2133" spc="93" dirty="0">
                <a:latin typeface="Century Schoolbook"/>
                <a:cs typeface="Century Schoolbook"/>
              </a:rPr>
              <a:t>  </a:t>
            </a:r>
            <a:r>
              <a:rPr sz="2133" dirty="0">
                <a:latin typeface="Century Schoolbook"/>
                <a:cs typeface="Century Schoolbook"/>
              </a:rPr>
              <a:t>transcribing,</a:t>
            </a:r>
            <a:r>
              <a:rPr sz="2133" spc="87" dirty="0">
                <a:latin typeface="Century Schoolbook"/>
                <a:cs typeface="Century Schoolbook"/>
              </a:rPr>
              <a:t>  </a:t>
            </a:r>
            <a:r>
              <a:rPr sz="2133" dirty="0">
                <a:latin typeface="Century Schoolbook"/>
                <a:cs typeface="Century Schoolbook"/>
              </a:rPr>
              <a:t>the</a:t>
            </a:r>
            <a:r>
              <a:rPr sz="2133" spc="93" dirty="0">
                <a:latin typeface="Century Schoolbook"/>
                <a:cs typeface="Century Schoolbook"/>
              </a:rPr>
              <a:t>  </a:t>
            </a:r>
            <a:r>
              <a:rPr sz="2133" spc="-33" dirty="0">
                <a:latin typeface="Century Schoolbook"/>
                <a:cs typeface="Century Schoolbook"/>
              </a:rPr>
              <a:t>DNA </a:t>
            </a:r>
            <a:r>
              <a:rPr sz="2133" dirty="0">
                <a:latin typeface="Century Schoolbook"/>
                <a:cs typeface="Century Schoolbook"/>
              </a:rPr>
              <a:t>sequence</a:t>
            </a:r>
            <a:r>
              <a:rPr sz="2133" spc="353" dirty="0">
                <a:latin typeface="Century Schoolbook"/>
                <a:cs typeface="Century Schoolbook"/>
              </a:rPr>
              <a:t> </a:t>
            </a:r>
            <a:r>
              <a:rPr sz="2133" dirty="0">
                <a:latin typeface="Century Schoolbook"/>
                <a:cs typeface="Century Schoolbook"/>
              </a:rPr>
              <a:t>in</a:t>
            </a:r>
            <a:r>
              <a:rPr sz="2133" spc="347" dirty="0">
                <a:latin typeface="Century Schoolbook"/>
                <a:cs typeface="Century Schoolbook"/>
              </a:rPr>
              <a:t> </a:t>
            </a:r>
            <a:r>
              <a:rPr sz="2133" dirty="0">
                <a:latin typeface="Century Schoolbook"/>
                <a:cs typeface="Century Schoolbook"/>
              </a:rPr>
              <a:t>a</a:t>
            </a:r>
            <a:r>
              <a:rPr sz="2133" spc="353" dirty="0">
                <a:latin typeface="Century Schoolbook"/>
                <a:cs typeface="Century Schoolbook"/>
              </a:rPr>
              <a:t> </a:t>
            </a:r>
            <a:r>
              <a:rPr sz="2133" dirty="0">
                <a:latin typeface="Century Schoolbook"/>
                <a:cs typeface="Century Schoolbook"/>
              </a:rPr>
              <a:t>similar</a:t>
            </a:r>
            <a:r>
              <a:rPr sz="2133" spc="347" dirty="0">
                <a:latin typeface="Century Schoolbook"/>
                <a:cs typeface="Century Schoolbook"/>
              </a:rPr>
              <a:t> </a:t>
            </a:r>
            <a:r>
              <a:rPr sz="2133" dirty="0">
                <a:latin typeface="Century Schoolbook"/>
                <a:cs typeface="Century Schoolbook"/>
              </a:rPr>
              <a:t>RNA</a:t>
            </a:r>
            <a:r>
              <a:rPr sz="2133" spc="233" dirty="0">
                <a:latin typeface="Century Schoolbook"/>
                <a:cs typeface="Century Schoolbook"/>
              </a:rPr>
              <a:t> </a:t>
            </a:r>
            <a:r>
              <a:rPr sz="2133" dirty="0">
                <a:latin typeface="Century Schoolbook"/>
                <a:cs typeface="Century Schoolbook"/>
              </a:rPr>
              <a:t>"alphabet."</a:t>
            </a:r>
            <a:r>
              <a:rPr sz="2133" spc="353" dirty="0">
                <a:latin typeface="Century Schoolbook"/>
                <a:cs typeface="Century Schoolbook"/>
              </a:rPr>
              <a:t> </a:t>
            </a:r>
            <a:r>
              <a:rPr sz="2133" dirty="0">
                <a:latin typeface="Century Schoolbook"/>
                <a:cs typeface="Century Schoolbook"/>
              </a:rPr>
              <a:t>In</a:t>
            </a:r>
            <a:r>
              <a:rPr sz="2133" spc="347" dirty="0">
                <a:latin typeface="Century Schoolbook"/>
                <a:cs typeface="Century Schoolbook"/>
              </a:rPr>
              <a:t> </a:t>
            </a:r>
            <a:r>
              <a:rPr sz="2133" dirty="0">
                <a:latin typeface="Century Schoolbook"/>
                <a:cs typeface="Century Schoolbook"/>
              </a:rPr>
              <a:t>eukaryotes,</a:t>
            </a:r>
            <a:r>
              <a:rPr sz="2133" spc="353" dirty="0">
                <a:latin typeface="Century Schoolbook"/>
                <a:cs typeface="Century Schoolbook"/>
              </a:rPr>
              <a:t> </a:t>
            </a:r>
            <a:r>
              <a:rPr sz="2133" dirty="0">
                <a:latin typeface="Century Schoolbook"/>
                <a:cs typeface="Century Schoolbook"/>
              </a:rPr>
              <a:t>the</a:t>
            </a:r>
            <a:r>
              <a:rPr sz="2133" spc="353" dirty="0">
                <a:latin typeface="Century Schoolbook"/>
                <a:cs typeface="Century Schoolbook"/>
              </a:rPr>
              <a:t> </a:t>
            </a:r>
            <a:r>
              <a:rPr sz="2133" dirty="0">
                <a:latin typeface="Century Schoolbook"/>
                <a:cs typeface="Century Schoolbook"/>
              </a:rPr>
              <a:t>RNA</a:t>
            </a:r>
            <a:r>
              <a:rPr sz="2133" spc="233" dirty="0">
                <a:latin typeface="Century Schoolbook"/>
                <a:cs typeface="Century Schoolbook"/>
              </a:rPr>
              <a:t> </a:t>
            </a:r>
            <a:r>
              <a:rPr sz="2133" dirty="0">
                <a:latin typeface="Century Schoolbook"/>
                <a:cs typeface="Century Schoolbook"/>
              </a:rPr>
              <a:t>molecule</a:t>
            </a:r>
            <a:r>
              <a:rPr sz="2133" spc="353" dirty="0">
                <a:latin typeface="Century Schoolbook"/>
                <a:cs typeface="Century Schoolbook"/>
              </a:rPr>
              <a:t> </a:t>
            </a:r>
            <a:r>
              <a:rPr sz="2133" dirty="0">
                <a:latin typeface="Century Schoolbook"/>
                <a:cs typeface="Century Schoolbook"/>
              </a:rPr>
              <a:t>must</a:t>
            </a:r>
            <a:r>
              <a:rPr sz="2133" spc="353" dirty="0">
                <a:latin typeface="Century Schoolbook"/>
                <a:cs typeface="Century Schoolbook"/>
              </a:rPr>
              <a:t> </a:t>
            </a:r>
            <a:r>
              <a:rPr sz="2133" spc="-13" dirty="0">
                <a:latin typeface="Century Schoolbook"/>
                <a:cs typeface="Century Schoolbook"/>
              </a:rPr>
              <a:t>undergo processing</a:t>
            </a:r>
            <a:r>
              <a:rPr sz="2133" spc="-47" dirty="0">
                <a:latin typeface="Century Schoolbook"/>
                <a:cs typeface="Century Schoolbook"/>
              </a:rPr>
              <a:t> </a:t>
            </a:r>
            <a:r>
              <a:rPr sz="2133" dirty="0">
                <a:latin typeface="Century Schoolbook"/>
                <a:cs typeface="Century Schoolbook"/>
              </a:rPr>
              <a:t>to</a:t>
            </a:r>
            <a:r>
              <a:rPr sz="2133" spc="-47" dirty="0">
                <a:latin typeface="Century Schoolbook"/>
                <a:cs typeface="Century Schoolbook"/>
              </a:rPr>
              <a:t> </a:t>
            </a:r>
            <a:r>
              <a:rPr sz="2133" dirty="0">
                <a:latin typeface="Century Schoolbook"/>
                <a:cs typeface="Century Schoolbook"/>
              </a:rPr>
              <a:t>become</a:t>
            </a:r>
            <a:r>
              <a:rPr sz="2133" spc="-47" dirty="0">
                <a:latin typeface="Century Schoolbook"/>
                <a:cs typeface="Century Schoolbook"/>
              </a:rPr>
              <a:t> </a:t>
            </a:r>
            <a:r>
              <a:rPr sz="2133" dirty="0">
                <a:latin typeface="Century Schoolbook"/>
                <a:cs typeface="Century Schoolbook"/>
              </a:rPr>
              <a:t>a</a:t>
            </a:r>
            <a:r>
              <a:rPr sz="2133" spc="-47" dirty="0">
                <a:latin typeface="Century Schoolbook"/>
                <a:cs typeface="Century Schoolbook"/>
              </a:rPr>
              <a:t> </a:t>
            </a:r>
            <a:r>
              <a:rPr sz="2133" dirty="0">
                <a:latin typeface="Century Schoolbook"/>
                <a:cs typeface="Century Schoolbook"/>
              </a:rPr>
              <a:t>mature</a:t>
            </a:r>
            <a:r>
              <a:rPr sz="2133" spc="-40" dirty="0">
                <a:latin typeface="Century Schoolbook"/>
                <a:cs typeface="Century Schoolbook"/>
              </a:rPr>
              <a:t> </a:t>
            </a:r>
            <a:r>
              <a:rPr sz="2133" dirty="0">
                <a:latin typeface="Century Schoolbook"/>
                <a:cs typeface="Century Schoolbook"/>
              </a:rPr>
              <a:t>messenger</a:t>
            </a:r>
            <a:r>
              <a:rPr sz="2133" spc="-47" dirty="0">
                <a:latin typeface="Century Schoolbook"/>
                <a:cs typeface="Century Schoolbook"/>
              </a:rPr>
              <a:t> </a:t>
            </a:r>
            <a:r>
              <a:rPr sz="2133" dirty="0">
                <a:latin typeface="Century Schoolbook"/>
                <a:cs typeface="Century Schoolbook"/>
              </a:rPr>
              <a:t>RNA</a:t>
            </a:r>
            <a:r>
              <a:rPr sz="2133" spc="-152" dirty="0">
                <a:latin typeface="Century Schoolbook"/>
                <a:cs typeface="Century Schoolbook"/>
              </a:rPr>
              <a:t> </a:t>
            </a:r>
            <a:r>
              <a:rPr sz="2133" spc="-13" dirty="0">
                <a:latin typeface="Century Schoolbook"/>
                <a:cs typeface="Century Schoolbook"/>
              </a:rPr>
              <a:t>(mRNA).</a:t>
            </a:r>
            <a:endParaRPr lang="en-US" sz="2133" spc="-13" dirty="0">
              <a:latin typeface="Century Schoolbook"/>
              <a:cs typeface="Century Schoolbook"/>
            </a:endParaRPr>
          </a:p>
          <a:p>
            <a:pPr defTabSz="1219170" eaLnBrk="0" fontAlgn="base" hangingPunct="0">
              <a:spcBef>
                <a:spcPct val="0"/>
              </a:spcBef>
              <a:spcAft>
                <a:spcPct val="0"/>
              </a:spcAft>
              <a:buFontTx/>
              <a:buChar char="•"/>
            </a:pPr>
            <a:r>
              <a:rPr lang="en-US" sz="2133" b="1" dirty="0">
                <a:latin typeface="Arial" panose="020B0604020202020204" pitchFamily="34" charset="0"/>
              </a:rPr>
              <a:t>DNA alphabet = A, T, C, G</a:t>
            </a:r>
            <a:endParaRPr lang="en-US" sz="2133" dirty="0">
              <a:latin typeface="Arial" panose="020B0604020202020204" pitchFamily="34" charset="0"/>
            </a:endParaRPr>
          </a:p>
          <a:p>
            <a:pPr defTabSz="1219170" eaLnBrk="0" fontAlgn="base" hangingPunct="0">
              <a:spcBef>
                <a:spcPct val="0"/>
              </a:spcBef>
              <a:spcAft>
                <a:spcPct val="0"/>
              </a:spcAft>
              <a:buFontTx/>
              <a:buChar char="•"/>
            </a:pPr>
            <a:r>
              <a:rPr lang="en-US" sz="2133" b="1" dirty="0">
                <a:latin typeface="Arial" panose="020B0604020202020204" pitchFamily="34" charset="0"/>
              </a:rPr>
              <a:t>RNA alphabet = A, U, C, G</a:t>
            </a:r>
            <a:endParaRPr lang="en-US" sz="2133" dirty="0">
              <a:latin typeface="Arial" panose="020B0604020202020204" pitchFamily="34" charset="0"/>
            </a:endParaRPr>
          </a:p>
          <a:p>
            <a:pPr marL="114297" marR="115990" algn="just">
              <a:spcBef>
                <a:spcPts val="813"/>
              </a:spcBef>
            </a:pPr>
            <a:endParaRPr sz="2133" dirty="0">
              <a:latin typeface="Century Schoolbook"/>
              <a:cs typeface="Century Schoolbook"/>
            </a:endParaRPr>
          </a:p>
        </p:txBody>
      </p:sp>
    </p:spTree>
    <p:extLst>
      <p:ext uri="{BB962C8B-B14F-4D97-AF65-F5344CB8AC3E}">
        <p14:creationId xmlns:p14="http://schemas.microsoft.com/office/powerpoint/2010/main" val="31861150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438400" y="584201"/>
            <a:ext cx="5892800" cy="5210391"/>
          </a:xfrm>
          <a:prstGeom prst="rect">
            <a:avLst/>
          </a:prstGeom>
        </p:spPr>
      </p:pic>
    </p:spTree>
    <p:extLst>
      <p:ext uri="{BB962C8B-B14F-4D97-AF65-F5344CB8AC3E}">
        <p14:creationId xmlns:p14="http://schemas.microsoft.com/office/powerpoint/2010/main" val="23359573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2315" y="726085"/>
            <a:ext cx="14020800" cy="694207"/>
          </a:xfrm>
          <a:prstGeom prst="rect">
            <a:avLst/>
          </a:prstGeom>
        </p:spPr>
        <p:txBody>
          <a:bodyPr vert="horz" wrap="square" lIns="0" tIns="16933" rIns="0" bIns="0" rtlCol="0" anchor="ctr">
            <a:spAutoFit/>
          </a:bodyPr>
          <a:lstStyle/>
          <a:p>
            <a:pPr marL="1148051">
              <a:lnSpc>
                <a:spcPct val="100000"/>
              </a:lnSpc>
              <a:spcBef>
                <a:spcPts val="133"/>
              </a:spcBef>
            </a:pPr>
            <a:r>
              <a:rPr spc="333" dirty="0"/>
              <a:t>Central</a:t>
            </a:r>
            <a:r>
              <a:rPr spc="193" dirty="0"/>
              <a:t> </a:t>
            </a:r>
            <a:r>
              <a:rPr spc="327" dirty="0"/>
              <a:t>Dogma</a:t>
            </a:r>
            <a:r>
              <a:rPr spc="200" dirty="0"/>
              <a:t> </a:t>
            </a:r>
            <a:r>
              <a:rPr spc="233" dirty="0"/>
              <a:t>of</a:t>
            </a:r>
            <a:r>
              <a:rPr spc="200" dirty="0"/>
              <a:t> </a:t>
            </a:r>
            <a:r>
              <a:rPr spc="373" dirty="0"/>
              <a:t>Molecular</a:t>
            </a:r>
            <a:r>
              <a:rPr spc="200" dirty="0"/>
              <a:t> </a:t>
            </a:r>
            <a:r>
              <a:rPr spc="300" dirty="0"/>
              <a:t>Biology</a:t>
            </a:r>
          </a:p>
        </p:txBody>
      </p:sp>
      <p:sp>
        <p:nvSpPr>
          <p:cNvPr id="3" name="object 3"/>
          <p:cNvSpPr/>
          <p:nvPr/>
        </p:nvSpPr>
        <p:spPr>
          <a:xfrm>
            <a:off x="376407" y="694758"/>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grpSp>
        <p:nvGrpSpPr>
          <p:cNvPr id="4" name="object 4"/>
          <p:cNvGrpSpPr/>
          <p:nvPr/>
        </p:nvGrpSpPr>
        <p:grpSpPr>
          <a:xfrm>
            <a:off x="98683" y="1321648"/>
            <a:ext cx="12093787" cy="5561753"/>
            <a:chOff x="74012" y="899487"/>
            <a:chExt cx="9070340" cy="4171315"/>
          </a:xfrm>
        </p:grpSpPr>
        <p:sp>
          <p:nvSpPr>
            <p:cNvPr id="5" name="object 5"/>
            <p:cNvSpPr/>
            <p:nvPr/>
          </p:nvSpPr>
          <p:spPr>
            <a:xfrm>
              <a:off x="74025" y="899500"/>
              <a:ext cx="8955405" cy="4171315"/>
            </a:xfrm>
            <a:custGeom>
              <a:avLst/>
              <a:gdLst/>
              <a:ahLst/>
              <a:cxnLst/>
              <a:rect l="l" t="t" r="r" b="b"/>
              <a:pathLst>
                <a:path w="8955405" h="4171315">
                  <a:moveTo>
                    <a:pt x="4749" y="0"/>
                  </a:moveTo>
                  <a:lnTo>
                    <a:pt x="4749" y="4171024"/>
                  </a:lnTo>
                </a:path>
                <a:path w="8955405" h="4171315">
                  <a:moveTo>
                    <a:pt x="8950499" y="0"/>
                  </a:moveTo>
                  <a:lnTo>
                    <a:pt x="8950499" y="4171024"/>
                  </a:lnTo>
                </a:path>
                <a:path w="8955405" h="4171315">
                  <a:moveTo>
                    <a:pt x="0" y="4749"/>
                  </a:moveTo>
                  <a:lnTo>
                    <a:pt x="8955249" y="4749"/>
                  </a:lnTo>
                </a:path>
                <a:path w="8955405" h="4171315">
                  <a:moveTo>
                    <a:pt x="0" y="4166274"/>
                  </a:moveTo>
                  <a:lnTo>
                    <a:pt x="8955249" y="4166274"/>
                  </a:lnTo>
                </a:path>
              </a:pathLst>
            </a:custGeom>
            <a:ln w="9524">
              <a:solidFill>
                <a:srgbClr val="9E9E9E"/>
              </a:solidFill>
            </a:ln>
          </p:spPr>
          <p:txBody>
            <a:bodyPr wrap="square" lIns="0" tIns="0" rIns="0" bIns="0" rtlCol="0"/>
            <a:lstStyle/>
            <a:p>
              <a:endParaRPr sz="2400"/>
            </a:p>
          </p:txBody>
        </p:sp>
        <p:pic>
          <p:nvPicPr>
            <p:cNvPr id="6" name="object 6"/>
            <p:cNvPicPr/>
            <p:nvPr/>
          </p:nvPicPr>
          <p:blipFill>
            <a:blip r:embed="rId2" cstate="print"/>
            <a:stretch>
              <a:fillRect/>
            </a:stretch>
          </p:blipFill>
          <p:spPr>
            <a:xfrm>
              <a:off x="4285877" y="934650"/>
              <a:ext cx="4858122" cy="2356162"/>
            </a:xfrm>
            <a:prstGeom prst="rect">
              <a:avLst/>
            </a:prstGeom>
          </p:spPr>
        </p:pic>
        <p:sp>
          <p:nvSpPr>
            <p:cNvPr id="7" name="object 7"/>
            <p:cNvSpPr/>
            <p:nvPr/>
          </p:nvSpPr>
          <p:spPr>
            <a:xfrm>
              <a:off x="162175" y="3334074"/>
              <a:ext cx="8747125" cy="1662430"/>
            </a:xfrm>
            <a:custGeom>
              <a:avLst/>
              <a:gdLst/>
              <a:ahLst/>
              <a:cxnLst/>
              <a:rect l="l" t="t" r="r" b="b"/>
              <a:pathLst>
                <a:path w="8747125" h="1662429">
                  <a:moveTo>
                    <a:pt x="8746499" y="1662299"/>
                  </a:moveTo>
                  <a:lnTo>
                    <a:pt x="0" y="1662299"/>
                  </a:lnTo>
                  <a:lnTo>
                    <a:pt x="0" y="0"/>
                  </a:lnTo>
                  <a:lnTo>
                    <a:pt x="8746499" y="0"/>
                  </a:lnTo>
                  <a:lnTo>
                    <a:pt x="8746499" y="1662299"/>
                  </a:lnTo>
                  <a:close/>
                </a:path>
              </a:pathLst>
            </a:custGeom>
            <a:solidFill>
              <a:srgbClr val="FFE499"/>
            </a:solidFill>
          </p:spPr>
          <p:txBody>
            <a:bodyPr wrap="square" lIns="0" tIns="0" rIns="0" bIns="0" rtlCol="0"/>
            <a:lstStyle/>
            <a:p>
              <a:endParaRPr sz="2400"/>
            </a:p>
          </p:txBody>
        </p:sp>
      </p:grpSp>
      <p:sp>
        <p:nvSpPr>
          <p:cNvPr id="8" name="object 8"/>
          <p:cNvSpPr txBox="1"/>
          <p:nvPr/>
        </p:nvSpPr>
        <p:spPr>
          <a:xfrm>
            <a:off x="216401" y="1449134"/>
            <a:ext cx="5256105" cy="2730149"/>
          </a:xfrm>
          <a:prstGeom prst="rect">
            <a:avLst/>
          </a:prstGeom>
          <a:solidFill>
            <a:srgbClr val="EAD1DC"/>
          </a:solidFill>
        </p:spPr>
        <p:txBody>
          <a:bodyPr vert="horz" wrap="square" lIns="0" tIns="103293" rIns="0" bIns="0" rtlCol="0">
            <a:spAutoFit/>
          </a:bodyPr>
          <a:lstStyle/>
          <a:p>
            <a:pPr marL="114297" marR="104137" algn="just">
              <a:spcBef>
                <a:spcPts val="813"/>
              </a:spcBef>
            </a:pPr>
            <a:r>
              <a:rPr sz="2133" dirty="0">
                <a:latin typeface="Century Schoolbook"/>
                <a:cs typeface="Century Schoolbook"/>
              </a:rPr>
              <a:t>In</a:t>
            </a:r>
            <a:r>
              <a:rPr sz="2133" spc="73" dirty="0">
                <a:latin typeface="Century Schoolbook"/>
                <a:cs typeface="Century Schoolbook"/>
              </a:rPr>
              <a:t>  </a:t>
            </a:r>
            <a:r>
              <a:rPr sz="2133" b="1" dirty="0">
                <a:latin typeface="Century Schoolbook Bold"/>
                <a:cs typeface="Century Schoolbook Bold"/>
              </a:rPr>
              <a:t>translation</a:t>
            </a:r>
            <a:r>
              <a:rPr sz="2133" dirty="0">
                <a:latin typeface="Century Schoolbook"/>
                <a:cs typeface="Century Schoolbook"/>
              </a:rPr>
              <a:t>,</a:t>
            </a:r>
            <a:r>
              <a:rPr sz="2133" spc="80" dirty="0">
                <a:latin typeface="Century Schoolbook"/>
                <a:cs typeface="Century Schoolbook"/>
              </a:rPr>
              <a:t>  </a:t>
            </a:r>
            <a:r>
              <a:rPr sz="2133" dirty="0">
                <a:latin typeface="Century Schoolbook"/>
                <a:cs typeface="Century Schoolbook"/>
              </a:rPr>
              <a:t>the</a:t>
            </a:r>
            <a:r>
              <a:rPr sz="2133" spc="73" dirty="0">
                <a:latin typeface="Century Schoolbook"/>
                <a:cs typeface="Century Schoolbook"/>
              </a:rPr>
              <a:t>  </a:t>
            </a:r>
            <a:r>
              <a:rPr sz="2133" dirty="0">
                <a:latin typeface="Century Schoolbook"/>
                <a:cs typeface="Century Schoolbook"/>
              </a:rPr>
              <a:t>sequence</a:t>
            </a:r>
            <a:r>
              <a:rPr sz="2133" spc="80" dirty="0">
                <a:latin typeface="Century Schoolbook"/>
                <a:cs typeface="Century Schoolbook"/>
              </a:rPr>
              <a:t>  </a:t>
            </a:r>
            <a:r>
              <a:rPr sz="2133" dirty="0">
                <a:latin typeface="Century Schoolbook"/>
                <a:cs typeface="Century Schoolbook"/>
              </a:rPr>
              <a:t>of</a:t>
            </a:r>
            <a:r>
              <a:rPr sz="2133" spc="73" dirty="0">
                <a:latin typeface="Century Schoolbook"/>
                <a:cs typeface="Century Schoolbook"/>
              </a:rPr>
              <a:t>  </a:t>
            </a:r>
            <a:r>
              <a:rPr sz="2133" spc="-33" dirty="0">
                <a:latin typeface="Century Schoolbook"/>
                <a:cs typeface="Century Schoolbook"/>
              </a:rPr>
              <a:t>the </a:t>
            </a:r>
            <a:r>
              <a:rPr sz="2133" dirty="0">
                <a:latin typeface="Century Schoolbook"/>
                <a:cs typeface="Century Schoolbook"/>
              </a:rPr>
              <a:t>mRNA</a:t>
            </a:r>
            <a:r>
              <a:rPr sz="2133" spc="147" dirty="0">
                <a:latin typeface="Century Schoolbook"/>
                <a:cs typeface="Century Schoolbook"/>
              </a:rPr>
              <a:t> </a:t>
            </a:r>
            <a:r>
              <a:rPr sz="2133" dirty="0">
                <a:latin typeface="Century Schoolbook"/>
                <a:cs typeface="Century Schoolbook"/>
              </a:rPr>
              <a:t>is</a:t>
            </a:r>
            <a:r>
              <a:rPr sz="2133" spc="260" dirty="0">
                <a:latin typeface="Century Schoolbook"/>
                <a:cs typeface="Century Schoolbook"/>
              </a:rPr>
              <a:t> </a:t>
            </a:r>
            <a:r>
              <a:rPr sz="2133" dirty="0">
                <a:latin typeface="Century Schoolbook"/>
                <a:cs typeface="Century Schoolbook"/>
              </a:rPr>
              <a:t>decoded</a:t>
            </a:r>
            <a:r>
              <a:rPr sz="2133" spc="267" dirty="0">
                <a:latin typeface="Century Schoolbook"/>
                <a:cs typeface="Century Schoolbook"/>
              </a:rPr>
              <a:t> </a:t>
            </a:r>
            <a:r>
              <a:rPr sz="2133" dirty="0">
                <a:latin typeface="Century Schoolbook"/>
                <a:cs typeface="Century Schoolbook"/>
              </a:rPr>
              <a:t>to</a:t>
            </a:r>
            <a:r>
              <a:rPr sz="2133" spc="267" dirty="0">
                <a:latin typeface="Century Schoolbook"/>
                <a:cs typeface="Century Schoolbook"/>
              </a:rPr>
              <a:t> </a:t>
            </a:r>
            <a:r>
              <a:rPr sz="2133" dirty="0">
                <a:latin typeface="Century Schoolbook"/>
                <a:cs typeface="Century Schoolbook"/>
              </a:rPr>
              <a:t>specify</a:t>
            </a:r>
            <a:r>
              <a:rPr sz="2133" spc="267" dirty="0">
                <a:latin typeface="Century Schoolbook"/>
                <a:cs typeface="Century Schoolbook"/>
              </a:rPr>
              <a:t> </a:t>
            </a:r>
            <a:r>
              <a:rPr sz="2133" dirty="0">
                <a:latin typeface="Century Schoolbook"/>
                <a:cs typeface="Century Schoolbook"/>
              </a:rPr>
              <a:t>the</a:t>
            </a:r>
            <a:r>
              <a:rPr sz="2133" spc="267" dirty="0">
                <a:latin typeface="Century Schoolbook"/>
                <a:cs typeface="Century Schoolbook"/>
              </a:rPr>
              <a:t> </a:t>
            </a:r>
            <a:r>
              <a:rPr sz="2133" spc="-13" dirty="0">
                <a:latin typeface="Century Schoolbook"/>
                <a:cs typeface="Century Schoolbook"/>
              </a:rPr>
              <a:t>amino </a:t>
            </a:r>
            <a:r>
              <a:rPr sz="2133" dirty="0">
                <a:latin typeface="Century Schoolbook"/>
                <a:cs typeface="Century Schoolbook"/>
              </a:rPr>
              <a:t>acid</a:t>
            </a:r>
            <a:r>
              <a:rPr sz="2133" spc="160" dirty="0">
                <a:latin typeface="Century Schoolbook"/>
                <a:cs typeface="Century Schoolbook"/>
              </a:rPr>
              <a:t>  </a:t>
            </a:r>
            <a:r>
              <a:rPr sz="2133" dirty="0">
                <a:latin typeface="Century Schoolbook"/>
                <a:cs typeface="Century Schoolbook"/>
              </a:rPr>
              <a:t>sequence</a:t>
            </a:r>
            <a:r>
              <a:rPr sz="2133" spc="167" dirty="0">
                <a:latin typeface="Century Schoolbook"/>
                <a:cs typeface="Century Schoolbook"/>
              </a:rPr>
              <a:t>  </a:t>
            </a:r>
            <a:r>
              <a:rPr sz="2133" dirty="0">
                <a:latin typeface="Century Schoolbook"/>
                <a:cs typeface="Century Schoolbook"/>
              </a:rPr>
              <a:t>of</a:t>
            </a:r>
            <a:r>
              <a:rPr sz="2133" spc="167" dirty="0">
                <a:latin typeface="Century Schoolbook"/>
                <a:cs typeface="Century Schoolbook"/>
              </a:rPr>
              <a:t>  </a:t>
            </a:r>
            <a:r>
              <a:rPr sz="2133" dirty="0">
                <a:latin typeface="Century Schoolbook"/>
                <a:cs typeface="Century Schoolbook"/>
              </a:rPr>
              <a:t>a</a:t>
            </a:r>
            <a:r>
              <a:rPr sz="2133" spc="167" dirty="0">
                <a:latin typeface="Century Schoolbook"/>
                <a:cs typeface="Century Schoolbook"/>
              </a:rPr>
              <a:t>  </a:t>
            </a:r>
            <a:r>
              <a:rPr sz="2133" dirty="0">
                <a:latin typeface="Century Schoolbook"/>
                <a:cs typeface="Century Schoolbook"/>
              </a:rPr>
              <a:t>polypeptide.</a:t>
            </a:r>
            <a:r>
              <a:rPr sz="2133" spc="167" dirty="0">
                <a:latin typeface="Century Schoolbook"/>
                <a:cs typeface="Century Schoolbook"/>
              </a:rPr>
              <a:t>  </a:t>
            </a:r>
            <a:r>
              <a:rPr sz="2133" spc="-33" dirty="0">
                <a:latin typeface="Century Schoolbook"/>
                <a:cs typeface="Century Schoolbook"/>
              </a:rPr>
              <a:t>The </a:t>
            </a:r>
            <a:r>
              <a:rPr sz="2133" dirty="0">
                <a:latin typeface="Century Schoolbook"/>
                <a:cs typeface="Century Schoolbook"/>
              </a:rPr>
              <a:t>name</a:t>
            </a:r>
            <a:r>
              <a:rPr sz="2133" spc="453" dirty="0">
                <a:latin typeface="Century Schoolbook"/>
                <a:cs typeface="Century Schoolbook"/>
              </a:rPr>
              <a:t>  </a:t>
            </a:r>
            <a:r>
              <a:rPr sz="2133" dirty="0">
                <a:latin typeface="Century Schoolbook"/>
                <a:cs typeface="Century Schoolbook"/>
              </a:rPr>
              <a:t>translation</a:t>
            </a:r>
            <a:r>
              <a:rPr sz="2133" spc="460" dirty="0">
                <a:latin typeface="Century Schoolbook"/>
                <a:cs typeface="Century Schoolbook"/>
              </a:rPr>
              <a:t>  </a:t>
            </a:r>
            <a:r>
              <a:rPr sz="2133" dirty="0">
                <a:latin typeface="Century Schoolbook"/>
                <a:cs typeface="Century Schoolbook"/>
              </a:rPr>
              <a:t>reflects</a:t>
            </a:r>
            <a:r>
              <a:rPr sz="2133" spc="453" dirty="0">
                <a:latin typeface="Century Schoolbook"/>
                <a:cs typeface="Century Schoolbook"/>
              </a:rPr>
              <a:t>  </a:t>
            </a:r>
            <a:r>
              <a:rPr sz="2133" dirty="0">
                <a:latin typeface="Century Schoolbook"/>
                <a:cs typeface="Century Schoolbook"/>
              </a:rPr>
              <a:t>that</a:t>
            </a:r>
            <a:r>
              <a:rPr sz="2133" spc="460" dirty="0">
                <a:latin typeface="Century Schoolbook"/>
                <a:cs typeface="Century Schoolbook"/>
              </a:rPr>
              <a:t>  </a:t>
            </a:r>
            <a:r>
              <a:rPr sz="2133" spc="-33" dirty="0">
                <a:latin typeface="Century Schoolbook"/>
                <a:cs typeface="Century Schoolbook"/>
              </a:rPr>
              <a:t>the </a:t>
            </a:r>
            <a:r>
              <a:rPr sz="2133" dirty="0">
                <a:latin typeface="Century Schoolbook"/>
                <a:cs typeface="Century Schoolbook"/>
              </a:rPr>
              <a:t>nucleotide</a:t>
            </a:r>
            <a:r>
              <a:rPr sz="2133" spc="507" dirty="0">
                <a:latin typeface="Century Schoolbook"/>
                <a:cs typeface="Century Schoolbook"/>
              </a:rPr>
              <a:t>  </a:t>
            </a:r>
            <a:r>
              <a:rPr sz="2133" dirty="0">
                <a:latin typeface="Century Schoolbook"/>
                <a:cs typeface="Century Schoolbook"/>
              </a:rPr>
              <a:t>sequence</a:t>
            </a:r>
            <a:r>
              <a:rPr sz="2133" spc="513" dirty="0">
                <a:latin typeface="Century Schoolbook"/>
                <a:cs typeface="Century Schoolbook"/>
              </a:rPr>
              <a:t>  </a:t>
            </a:r>
            <a:r>
              <a:rPr sz="2133" dirty="0">
                <a:latin typeface="Century Schoolbook"/>
                <a:cs typeface="Century Schoolbook"/>
              </a:rPr>
              <a:t>of</a:t>
            </a:r>
            <a:r>
              <a:rPr sz="2133" spc="513" dirty="0">
                <a:latin typeface="Century Schoolbook"/>
                <a:cs typeface="Century Schoolbook"/>
              </a:rPr>
              <a:t>  </a:t>
            </a:r>
            <a:r>
              <a:rPr sz="2133" dirty="0">
                <a:latin typeface="Century Schoolbook"/>
                <a:cs typeface="Century Schoolbook"/>
              </a:rPr>
              <a:t>the</a:t>
            </a:r>
            <a:r>
              <a:rPr sz="2133" spc="507" dirty="0">
                <a:latin typeface="Century Schoolbook"/>
                <a:cs typeface="Century Schoolbook"/>
              </a:rPr>
              <a:t>  </a:t>
            </a:r>
            <a:r>
              <a:rPr sz="2133" spc="-33" dirty="0">
                <a:latin typeface="Century Schoolbook"/>
                <a:cs typeface="Century Schoolbook"/>
              </a:rPr>
              <a:t>mRNA </a:t>
            </a:r>
            <a:r>
              <a:rPr sz="2133" dirty="0">
                <a:latin typeface="Century Schoolbook"/>
                <a:cs typeface="Century Schoolbook"/>
              </a:rPr>
              <a:t>sequence</a:t>
            </a:r>
            <a:r>
              <a:rPr sz="2133" spc="607" dirty="0">
                <a:latin typeface="Century Schoolbook"/>
                <a:cs typeface="Century Schoolbook"/>
              </a:rPr>
              <a:t> </a:t>
            </a:r>
            <a:r>
              <a:rPr sz="2133" dirty="0">
                <a:latin typeface="Century Schoolbook"/>
                <a:cs typeface="Century Schoolbook"/>
              </a:rPr>
              <a:t>must</a:t>
            </a:r>
            <a:r>
              <a:rPr sz="2133" spc="612" dirty="0">
                <a:latin typeface="Century Schoolbook"/>
                <a:cs typeface="Century Schoolbook"/>
              </a:rPr>
              <a:t> </a:t>
            </a:r>
            <a:r>
              <a:rPr sz="2133" dirty="0">
                <a:latin typeface="Century Schoolbook"/>
                <a:cs typeface="Century Schoolbook"/>
              </a:rPr>
              <a:t>be</a:t>
            </a:r>
            <a:r>
              <a:rPr sz="2133" spc="607" dirty="0">
                <a:latin typeface="Century Schoolbook"/>
                <a:cs typeface="Century Schoolbook"/>
              </a:rPr>
              <a:t> </a:t>
            </a:r>
            <a:r>
              <a:rPr sz="2133" dirty="0">
                <a:latin typeface="Century Schoolbook"/>
                <a:cs typeface="Century Schoolbook"/>
              </a:rPr>
              <a:t>translated</a:t>
            </a:r>
            <a:r>
              <a:rPr sz="2133" spc="612" dirty="0">
                <a:latin typeface="Century Schoolbook"/>
                <a:cs typeface="Century Schoolbook"/>
              </a:rPr>
              <a:t> </a:t>
            </a:r>
            <a:r>
              <a:rPr sz="2133" dirty="0">
                <a:latin typeface="Century Schoolbook"/>
                <a:cs typeface="Century Schoolbook"/>
              </a:rPr>
              <a:t>into</a:t>
            </a:r>
            <a:r>
              <a:rPr sz="2133" spc="612" dirty="0">
                <a:latin typeface="Century Schoolbook"/>
                <a:cs typeface="Century Schoolbook"/>
              </a:rPr>
              <a:t> </a:t>
            </a:r>
            <a:r>
              <a:rPr sz="2133" spc="-33" dirty="0">
                <a:latin typeface="Century Schoolbook"/>
                <a:cs typeface="Century Schoolbook"/>
              </a:rPr>
              <a:t>the </a:t>
            </a:r>
            <a:r>
              <a:rPr sz="2133" dirty="0">
                <a:latin typeface="Century Schoolbook"/>
                <a:cs typeface="Century Schoolbook"/>
              </a:rPr>
              <a:t>completely</a:t>
            </a:r>
            <a:r>
              <a:rPr sz="2133" spc="260" dirty="0">
                <a:latin typeface="Century Schoolbook"/>
                <a:cs typeface="Century Schoolbook"/>
              </a:rPr>
              <a:t>   </a:t>
            </a:r>
            <a:r>
              <a:rPr sz="2133" dirty="0">
                <a:latin typeface="Century Schoolbook"/>
                <a:cs typeface="Century Schoolbook"/>
              </a:rPr>
              <a:t>different</a:t>
            </a:r>
            <a:r>
              <a:rPr sz="2133" spc="260" dirty="0">
                <a:latin typeface="Century Schoolbook"/>
                <a:cs typeface="Century Schoolbook"/>
              </a:rPr>
              <a:t>   </a:t>
            </a:r>
            <a:r>
              <a:rPr sz="2133" dirty="0">
                <a:latin typeface="Century Schoolbook"/>
                <a:cs typeface="Century Schoolbook"/>
              </a:rPr>
              <a:t>"language"</a:t>
            </a:r>
            <a:r>
              <a:rPr sz="2133" spc="260" dirty="0">
                <a:latin typeface="Century Schoolbook"/>
                <a:cs typeface="Century Schoolbook"/>
              </a:rPr>
              <a:t>   </a:t>
            </a:r>
            <a:r>
              <a:rPr sz="2133" spc="-33" dirty="0">
                <a:latin typeface="Century Schoolbook"/>
                <a:cs typeface="Century Schoolbook"/>
              </a:rPr>
              <a:t>of </a:t>
            </a:r>
            <a:r>
              <a:rPr sz="2133" dirty="0">
                <a:latin typeface="Century Schoolbook"/>
                <a:cs typeface="Century Schoolbook"/>
              </a:rPr>
              <a:t>amino</a:t>
            </a:r>
            <a:r>
              <a:rPr sz="2133" spc="-7" dirty="0">
                <a:latin typeface="Century Schoolbook"/>
                <a:cs typeface="Century Schoolbook"/>
              </a:rPr>
              <a:t> </a:t>
            </a:r>
            <a:r>
              <a:rPr sz="2133" spc="-13" dirty="0">
                <a:latin typeface="Century Schoolbook"/>
                <a:cs typeface="Century Schoolbook"/>
              </a:rPr>
              <a:t>acids.</a:t>
            </a:r>
            <a:endParaRPr sz="2133">
              <a:latin typeface="Century Schoolbook"/>
              <a:cs typeface="Century Schoolbook"/>
            </a:endParaRPr>
          </a:p>
        </p:txBody>
      </p:sp>
      <p:sp>
        <p:nvSpPr>
          <p:cNvPr id="9" name="object 9"/>
          <p:cNvSpPr txBox="1"/>
          <p:nvPr/>
        </p:nvSpPr>
        <p:spPr>
          <a:xfrm>
            <a:off x="313601" y="4531962"/>
            <a:ext cx="11456247" cy="1658253"/>
          </a:xfrm>
          <a:prstGeom prst="rect">
            <a:avLst/>
          </a:prstGeom>
        </p:spPr>
        <p:txBody>
          <a:bodyPr vert="horz" wrap="square" lIns="0" tIns="16933" rIns="0" bIns="0" rtlCol="0">
            <a:spAutoFit/>
          </a:bodyPr>
          <a:lstStyle/>
          <a:p>
            <a:pPr marL="16933" algn="just">
              <a:spcBef>
                <a:spcPts val="133"/>
              </a:spcBef>
            </a:pPr>
            <a:r>
              <a:rPr sz="2133" dirty="0">
                <a:latin typeface="Century Schoolbook"/>
                <a:cs typeface="Century Schoolbook"/>
              </a:rPr>
              <a:t>Thus,</a:t>
            </a:r>
            <a:r>
              <a:rPr sz="2133" spc="313" dirty="0">
                <a:latin typeface="Century Schoolbook"/>
                <a:cs typeface="Century Schoolbook"/>
              </a:rPr>
              <a:t>  </a:t>
            </a:r>
            <a:r>
              <a:rPr sz="2133" dirty="0">
                <a:latin typeface="Century Schoolbook"/>
                <a:cs typeface="Century Schoolbook"/>
              </a:rPr>
              <a:t>during</a:t>
            </a:r>
            <a:r>
              <a:rPr sz="2133" spc="320" dirty="0">
                <a:latin typeface="Century Schoolbook"/>
                <a:cs typeface="Century Schoolbook"/>
              </a:rPr>
              <a:t>  </a:t>
            </a:r>
            <a:r>
              <a:rPr sz="2133" dirty="0">
                <a:latin typeface="Century Schoolbook"/>
                <a:cs typeface="Century Schoolbook"/>
              </a:rPr>
              <a:t>expression</a:t>
            </a:r>
            <a:r>
              <a:rPr sz="2133" spc="320" dirty="0">
                <a:latin typeface="Century Schoolbook"/>
                <a:cs typeface="Century Schoolbook"/>
              </a:rPr>
              <a:t>  </a:t>
            </a:r>
            <a:r>
              <a:rPr sz="2133" dirty="0">
                <a:latin typeface="Century Schoolbook"/>
                <a:cs typeface="Century Schoolbook"/>
              </a:rPr>
              <a:t>of</a:t>
            </a:r>
            <a:r>
              <a:rPr sz="2133" spc="313" dirty="0">
                <a:latin typeface="Century Schoolbook"/>
                <a:cs typeface="Century Schoolbook"/>
              </a:rPr>
              <a:t>  </a:t>
            </a:r>
            <a:r>
              <a:rPr sz="2133" dirty="0">
                <a:latin typeface="Century Schoolbook"/>
                <a:cs typeface="Century Schoolbook"/>
              </a:rPr>
              <a:t>a</a:t>
            </a:r>
            <a:r>
              <a:rPr sz="2133" spc="320" dirty="0">
                <a:latin typeface="Century Schoolbook"/>
                <a:cs typeface="Century Schoolbook"/>
              </a:rPr>
              <a:t>  </a:t>
            </a:r>
            <a:r>
              <a:rPr sz="2133" spc="-27" dirty="0">
                <a:latin typeface="Century Schoolbook"/>
                <a:cs typeface="Century Schoolbook"/>
              </a:rPr>
              <a:t>protein-</a:t>
            </a:r>
            <a:r>
              <a:rPr sz="2133" dirty="0">
                <a:latin typeface="Century Schoolbook"/>
                <a:cs typeface="Century Schoolbook"/>
              </a:rPr>
              <a:t>coding</a:t>
            </a:r>
            <a:r>
              <a:rPr sz="2133" spc="320" dirty="0">
                <a:latin typeface="Century Schoolbook"/>
                <a:cs typeface="Century Schoolbook"/>
              </a:rPr>
              <a:t>  </a:t>
            </a:r>
            <a:r>
              <a:rPr sz="2133" dirty="0">
                <a:latin typeface="Century Schoolbook"/>
                <a:cs typeface="Century Schoolbook"/>
              </a:rPr>
              <a:t>gene,</a:t>
            </a:r>
            <a:r>
              <a:rPr sz="2133" spc="313" dirty="0">
                <a:latin typeface="Century Schoolbook"/>
                <a:cs typeface="Century Schoolbook"/>
              </a:rPr>
              <a:t>  </a:t>
            </a:r>
            <a:r>
              <a:rPr sz="2133" dirty="0">
                <a:latin typeface="Century Schoolbook"/>
                <a:cs typeface="Century Schoolbook"/>
              </a:rPr>
              <a:t>information</a:t>
            </a:r>
            <a:r>
              <a:rPr sz="2133" spc="320" dirty="0">
                <a:latin typeface="Century Schoolbook"/>
                <a:cs typeface="Century Schoolbook"/>
              </a:rPr>
              <a:t>  </a:t>
            </a:r>
            <a:r>
              <a:rPr sz="2133" dirty="0">
                <a:latin typeface="Century Schoolbook"/>
                <a:cs typeface="Century Schoolbook"/>
              </a:rPr>
              <a:t>flows</a:t>
            </a:r>
            <a:r>
              <a:rPr sz="2133" spc="320" dirty="0">
                <a:latin typeface="Century Schoolbook"/>
                <a:cs typeface="Century Schoolbook"/>
              </a:rPr>
              <a:t>  </a:t>
            </a:r>
            <a:r>
              <a:rPr sz="2133" dirty="0">
                <a:latin typeface="Century Schoolbook"/>
                <a:cs typeface="Century Schoolbook"/>
              </a:rPr>
              <a:t>from</a:t>
            </a:r>
            <a:r>
              <a:rPr sz="2133" spc="313" dirty="0">
                <a:latin typeface="Century Schoolbook"/>
                <a:cs typeface="Century Schoolbook"/>
              </a:rPr>
              <a:t>  </a:t>
            </a:r>
            <a:r>
              <a:rPr sz="2133" spc="-33" dirty="0">
                <a:latin typeface="Century Schoolbook"/>
                <a:cs typeface="Century Schoolbook"/>
              </a:rPr>
              <a:t>DNA</a:t>
            </a:r>
            <a:endParaRPr sz="2133" dirty="0">
              <a:latin typeface="Century Schoolbook"/>
              <a:cs typeface="Century Schoolbook"/>
            </a:endParaRPr>
          </a:p>
          <a:p>
            <a:pPr marL="16933" marR="21166" algn="just"/>
            <a:r>
              <a:rPr sz="2133" dirty="0">
                <a:latin typeface="Times New Roman"/>
                <a:cs typeface="Times New Roman"/>
              </a:rPr>
              <a:t>→</a:t>
            </a:r>
            <a:r>
              <a:rPr sz="2133" dirty="0">
                <a:latin typeface="Century Schoolbook"/>
                <a:cs typeface="Century Schoolbook"/>
              </a:rPr>
              <a:t>RNA</a:t>
            </a:r>
            <a:r>
              <a:rPr sz="2133" dirty="0">
                <a:latin typeface="Times New Roman"/>
                <a:cs typeface="Times New Roman"/>
              </a:rPr>
              <a:t>→</a:t>
            </a:r>
            <a:r>
              <a:rPr sz="2133" dirty="0">
                <a:latin typeface="Century Schoolbook"/>
                <a:cs typeface="Century Schoolbook"/>
              </a:rPr>
              <a:t>protein.</a:t>
            </a:r>
            <a:r>
              <a:rPr sz="2133" spc="327" dirty="0">
                <a:latin typeface="Century Schoolbook"/>
                <a:cs typeface="Century Schoolbook"/>
              </a:rPr>
              <a:t> </a:t>
            </a:r>
            <a:r>
              <a:rPr sz="2133" dirty="0">
                <a:latin typeface="Century Schoolbook"/>
                <a:cs typeface="Century Schoolbook"/>
              </a:rPr>
              <a:t>This</a:t>
            </a:r>
            <a:r>
              <a:rPr sz="2133" spc="327" dirty="0">
                <a:latin typeface="Century Schoolbook"/>
                <a:cs typeface="Century Schoolbook"/>
              </a:rPr>
              <a:t> </a:t>
            </a:r>
            <a:r>
              <a:rPr sz="2133" dirty="0">
                <a:latin typeface="Century Schoolbook"/>
                <a:cs typeface="Century Schoolbook"/>
              </a:rPr>
              <a:t>directional</a:t>
            </a:r>
            <a:r>
              <a:rPr sz="2133" spc="327" dirty="0">
                <a:latin typeface="Century Schoolbook"/>
                <a:cs typeface="Century Schoolbook"/>
              </a:rPr>
              <a:t> </a:t>
            </a:r>
            <a:r>
              <a:rPr sz="2133" dirty="0">
                <a:latin typeface="Century Schoolbook"/>
                <a:cs typeface="Century Schoolbook"/>
              </a:rPr>
              <a:t>flow</a:t>
            </a:r>
            <a:r>
              <a:rPr sz="2133" spc="327" dirty="0">
                <a:latin typeface="Century Schoolbook"/>
                <a:cs typeface="Century Schoolbook"/>
              </a:rPr>
              <a:t> </a:t>
            </a:r>
            <a:r>
              <a:rPr sz="2133" dirty="0">
                <a:latin typeface="Century Schoolbook"/>
                <a:cs typeface="Century Schoolbook"/>
              </a:rPr>
              <a:t>of</a:t>
            </a:r>
            <a:r>
              <a:rPr sz="2133" spc="327" dirty="0">
                <a:latin typeface="Century Schoolbook"/>
                <a:cs typeface="Century Schoolbook"/>
              </a:rPr>
              <a:t> </a:t>
            </a:r>
            <a:r>
              <a:rPr sz="2133" dirty="0">
                <a:latin typeface="Century Schoolbook"/>
                <a:cs typeface="Century Schoolbook"/>
              </a:rPr>
              <a:t>information</a:t>
            </a:r>
            <a:r>
              <a:rPr sz="2133" spc="327" dirty="0">
                <a:latin typeface="Century Schoolbook"/>
                <a:cs typeface="Century Schoolbook"/>
              </a:rPr>
              <a:t> </a:t>
            </a:r>
            <a:r>
              <a:rPr sz="2133" dirty="0">
                <a:latin typeface="Century Schoolbook"/>
                <a:cs typeface="Century Schoolbook"/>
              </a:rPr>
              <a:t>is</a:t>
            </a:r>
            <a:r>
              <a:rPr sz="2133" spc="333" dirty="0">
                <a:latin typeface="Century Schoolbook"/>
                <a:cs typeface="Century Schoolbook"/>
              </a:rPr>
              <a:t> </a:t>
            </a:r>
            <a:r>
              <a:rPr sz="2133" dirty="0">
                <a:latin typeface="Century Schoolbook"/>
                <a:cs typeface="Century Schoolbook"/>
              </a:rPr>
              <a:t>known</a:t>
            </a:r>
            <a:r>
              <a:rPr sz="2133" spc="327" dirty="0">
                <a:latin typeface="Century Schoolbook"/>
                <a:cs typeface="Century Schoolbook"/>
              </a:rPr>
              <a:t> </a:t>
            </a:r>
            <a:r>
              <a:rPr sz="2133" dirty="0">
                <a:latin typeface="Century Schoolbook"/>
                <a:cs typeface="Century Schoolbook"/>
              </a:rPr>
              <a:t>as</a:t>
            </a:r>
            <a:r>
              <a:rPr sz="2133" spc="327" dirty="0">
                <a:latin typeface="Century Schoolbook"/>
                <a:cs typeface="Century Schoolbook"/>
              </a:rPr>
              <a:t> </a:t>
            </a:r>
            <a:r>
              <a:rPr sz="2133" dirty="0">
                <a:latin typeface="Century Schoolbook"/>
                <a:cs typeface="Century Schoolbook"/>
              </a:rPr>
              <a:t>the</a:t>
            </a:r>
            <a:r>
              <a:rPr sz="2133" spc="327" dirty="0">
                <a:latin typeface="Century Schoolbook"/>
                <a:cs typeface="Century Schoolbook"/>
              </a:rPr>
              <a:t> </a:t>
            </a:r>
            <a:r>
              <a:rPr sz="2133" dirty="0">
                <a:latin typeface="Century Schoolbook"/>
                <a:cs typeface="Century Schoolbook"/>
              </a:rPr>
              <a:t>central</a:t>
            </a:r>
            <a:r>
              <a:rPr sz="2133" spc="327" dirty="0">
                <a:latin typeface="Century Schoolbook"/>
                <a:cs typeface="Century Schoolbook"/>
              </a:rPr>
              <a:t> </a:t>
            </a:r>
            <a:r>
              <a:rPr sz="2133" dirty="0">
                <a:latin typeface="Century Schoolbook"/>
                <a:cs typeface="Century Schoolbook"/>
              </a:rPr>
              <a:t>dogma</a:t>
            </a:r>
            <a:r>
              <a:rPr sz="2133" spc="327" dirty="0">
                <a:latin typeface="Century Schoolbook"/>
                <a:cs typeface="Century Schoolbook"/>
              </a:rPr>
              <a:t> </a:t>
            </a:r>
            <a:r>
              <a:rPr sz="2133" spc="-33" dirty="0">
                <a:latin typeface="Century Schoolbook"/>
                <a:cs typeface="Century Schoolbook"/>
              </a:rPr>
              <a:t>of </a:t>
            </a:r>
            <a:r>
              <a:rPr sz="2133" dirty="0">
                <a:latin typeface="Century Schoolbook"/>
                <a:cs typeface="Century Schoolbook"/>
              </a:rPr>
              <a:t>molecular</a:t>
            </a:r>
            <a:r>
              <a:rPr sz="2133" spc="87" dirty="0">
                <a:latin typeface="Century Schoolbook"/>
                <a:cs typeface="Century Schoolbook"/>
              </a:rPr>
              <a:t> </a:t>
            </a:r>
            <a:r>
              <a:rPr sz="2133" spc="-13" dirty="0">
                <a:latin typeface="Century Schoolbook"/>
                <a:cs typeface="Century Schoolbook"/>
              </a:rPr>
              <a:t>biology.</a:t>
            </a:r>
            <a:r>
              <a:rPr sz="2133" spc="93" dirty="0">
                <a:latin typeface="Century Schoolbook"/>
                <a:cs typeface="Century Schoolbook"/>
              </a:rPr>
              <a:t> </a:t>
            </a:r>
            <a:r>
              <a:rPr sz="2133" spc="-27" dirty="0">
                <a:latin typeface="Century Schoolbook"/>
                <a:cs typeface="Century Schoolbook"/>
              </a:rPr>
              <a:t>Non-protein-</a:t>
            </a:r>
            <a:r>
              <a:rPr sz="2133" dirty="0">
                <a:latin typeface="Century Schoolbook"/>
                <a:cs typeface="Century Schoolbook"/>
              </a:rPr>
              <a:t>coding</a:t>
            </a:r>
            <a:r>
              <a:rPr sz="2133" spc="93" dirty="0">
                <a:latin typeface="Century Schoolbook"/>
                <a:cs typeface="Century Schoolbook"/>
              </a:rPr>
              <a:t> </a:t>
            </a:r>
            <a:r>
              <a:rPr sz="2133" dirty="0">
                <a:latin typeface="Century Schoolbook"/>
                <a:cs typeface="Century Schoolbook"/>
              </a:rPr>
              <a:t>genes</a:t>
            </a:r>
            <a:r>
              <a:rPr sz="2133" spc="93" dirty="0">
                <a:latin typeface="Century Schoolbook"/>
                <a:cs typeface="Century Schoolbook"/>
              </a:rPr>
              <a:t> </a:t>
            </a:r>
            <a:r>
              <a:rPr sz="2133" dirty="0">
                <a:latin typeface="Century Schoolbook"/>
                <a:cs typeface="Century Schoolbook"/>
              </a:rPr>
              <a:t>(genes</a:t>
            </a:r>
            <a:r>
              <a:rPr sz="2133" spc="93" dirty="0">
                <a:latin typeface="Century Schoolbook"/>
                <a:cs typeface="Century Schoolbook"/>
              </a:rPr>
              <a:t> </a:t>
            </a:r>
            <a:r>
              <a:rPr sz="2133" dirty="0">
                <a:latin typeface="Century Schoolbook"/>
                <a:cs typeface="Century Schoolbook"/>
              </a:rPr>
              <a:t>that</a:t>
            </a:r>
            <a:r>
              <a:rPr sz="2133" spc="93" dirty="0">
                <a:latin typeface="Century Schoolbook"/>
                <a:cs typeface="Century Schoolbook"/>
              </a:rPr>
              <a:t> </a:t>
            </a:r>
            <a:r>
              <a:rPr sz="2133" dirty="0">
                <a:latin typeface="Century Schoolbook"/>
                <a:cs typeface="Century Schoolbook"/>
              </a:rPr>
              <a:t>specify</a:t>
            </a:r>
            <a:r>
              <a:rPr sz="2133" spc="87" dirty="0">
                <a:latin typeface="Century Schoolbook"/>
                <a:cs typeface="Century Schoolbook"/>
              </a:rPr>
              <a:t> </a:t>
            </a:r>
            <a:r>
              <a:rPr sz="2133" dirty="0">
                <a:latin typeface="Century Schoolbook"/>
                <a:cs typeface="Century Schoolbook"/>
              </a:rPr>
              <a:t>functional</a:t>
            </a:r>
            <a:r>
              <a:rPr sz="2133" spc="93" dirty="0">
                <a:latin typeface="Century Schoolbook"/>
                <a:cs typeface="Century Schoolbook"/>
              </a:rPr>
              <a:t> </a:t>
            </a:r>
            <a:r>
              <a:rPr sz="2133" dirty="0">
                <a:latin typeface="Century Schoolbook"/>
                <a:cs typeface="Century Schoolbook"/>
              </a:rPr>
              <a:t>RNAs)</a:t>
            </a:r>
            <a:r>
              <a:rPr sz="2133" spc="93" dirty="0">
                <a:latin typeface="Century Schoolbook"/>
                <a:cs typeface="Century Schoolbook"/>
              </a:rPr>
              <a:t> </a:t>
            </a:r>
            <a:r>
              <a:rPr sz="2133" dirty="0">
                <a:latin typeface="Century Schoolbook"/>
                <a:cs typeface="Century Schoolbook"/>
              </a:rPr>
              <a:t>are</a:t>
            </a:r>
            <a:r>
              <a:rPr sz="2133" spc="93" dirty="0">
                <a:latin typeface="Century Schoolbook"/>
                <a:cs typeface="Century Schoolbook"/>
              </a:rPr>
              <a:t> </a:t>
            </a:r>
            <a:r>
              <a:rPr sz="2133" spc="-13" dirty="0">
                <a:latin typeface="Century Schoolbook"/>
                <a:cs typeface="Century Schoolbook"/>
              </a:rPr>
              <a:t>still </a:t>
            </a:r>
            <a:r>
              <a:rPr sz="2133" dirty="0">
                <a:latin typeface="Century Schoolbook"/>
                <a:cs typeface="Century Schoolbook"/>
              </a:rPr>
              <a:t>transcribed</a:t>
            </a:r>
            <a:r>
              <a:rPr sz="2133" spc="333" dirty="0">
                <a:latin typeface="Century Schoolbook"/>
                <a:cs typeface="Century Schoolbook"/>
              </a:rPr>
              <a:t> </a:t>
            </a:r>
            <a:r>
              <a:rPr sz="2133" dirty="0">
                <a:latin typeface="Century Schoolbook"/>
                <a:cs typeface="Century Schoolbook"/>
              </a:rPr>
              <a:t>to</a:t>
            </a:r>
            <a:r>
              <a:rPr sz="2133" spc="333" dirty="0">
                <a:latin typeface="Century Schoolbook"/>
                <a:cs typeface="Century Schoolbook"/>
              </a:rPr>
              <a:t> </a:t>
            </a:r>
            <a:r>
              <a:rPr sz="2133" dirty="0">
                <a:latin typeface="Century Schoolbook"/>
                <a:cs typeface="Century Schoolbook"/>
              </a:rPr>
              <a:t>produce</a:t>
            </a:r>
            <a:r>
              <a:rPr sz="2133" spc="333" dirty="0">
                <a:latin typeface="Century Schoolbook"/>
                <a:cs typeface="Century Schoolbook"/>
              </a:rPr>
              <a:t> </a:t>
            </a:r>
            <a:r>
              <a:rPr sz="2133" dirty="0">
                <a:latin typeface="Century Schoolbook"/>
                <a:cs typeface="Century Schoolbook"/>
              </a:rPr>
              <a:t>an</a:t>
            </a:r>
            <a:r>
              <a:rPr sz="2133" spc="339" dirty="0">
                <a:latin typeface="Century Schoolbook"/>
                <a:cs typeface="Century Schoolbook"/>
              </a:rPr>
              <a:t> </a:t>
            </a:r>
            <a:r>
              <a:rPr sz="2133" dirty="0">
                <a:latin typeface="Century Schoolbook"/>
                <a:cs typeface="Century Schoolbook"/>
              </a:rPr>
              <a:t>RNA,</a:t>
            </a:r>
            <a:r>
              <a:rPr sz="2133" spc="333" dirty="0">
                <a:latin typeface="Century Schoolbook"/>
                <a:cs typeface="Century Schoolbook"/>
              </a:rPr>
              <a:t> </a:t>
            </a:r>
            <a:r>
              <a:rPr sz="2133" dirty="0">
                <a:latin typeface="Century Schoolbook"/>
                <a:cs typeface="Century Schoolbook"/>
              </a:rPr>
              <a:t>but</a:t>
            </a:r>
            <a:r>
              <a:rPr sz="2133" spc="333" dirty="0">
                <a:latin typeface="Century Schoolbook"/>
                <a:cs typeface="Century Schoolbook"/>
              </a:rPr>
              <a:t> </a:t>
            </a:r>
            <a:r>
              <a:rPr sz="2133" dirty="0">
                <a:latin typeface="Century Schoolbook"/>
                <a:cs typeface="Century Schoolbook"/>
              </a:rPr>
              <a:t>this</a:t>
            </a:r>
            <a:r>
              <a:rPr sz="2133" spc="333" dirty="0">
                <a:latin typeface="Century Schoolbook"/>
                <a:cs typeface="Century Schoolbook"/>
              </a:rPr>
              <a:t> </a:t>
            </a:r>
            <a:r>
              <a:rPr sz="2133" dirty="0">
                <a:latin typeface="Century Schoolbook"/>
                <a:cs typeface="Century Schoolbook"/>
              </a:rPr>
              <a:t>RNA</a:t>
            </a:r>
            <a:r>
              <a:rPr sz="2133" spc="220" dirty="0">
                <a:latin typeface="Century Schoolbook"/>
                <a:cs typeface="Century Schoolbook"/>
              </a:rPr>
              <a:t> </a:t>
            </a:r>
            <a:r>
              <a:rPr sz="2133" dirty="0">
                <a:latin typeface="Century Schoolbook"/>
                <a:cs typeface="Century Schoolbook"/>
              </a:rPr>
              <a:t>is</a:t>
            </a:r>
            <a:r>
              <a:rPr sz="2133" spc="339" dirty="0">
                <a:latin typeface="Century Schoolbook"/>
                <a:cs typeface="Century Schoolbook"/>
              </a:rPr>
              <a:t> </a:t>
            </a:r>
            <a:r>
              <a:rPr sz="2133" dirty="0">
                <a:latin typeface="Century Schoolbook"/>
                <a:cs typeface="Century Schoolbook"/>
              </a:rPr>
              <a:t>not</a:t>
            </a:r>
            <a:r>
              <a:rPr sz="2133" spc="333" dirty="0">
                <a:latin typeface="Century Schoolbook"/>
                <a:cs typeface="Century Schoolbook"/>
              </a:rPr>
              <a:t> </a:t>
            </a:r>
            <a:r>
              <a:rPr sz="2133" dirty="0">
                <a:latin typeface="Century Schoolbook"/>
                <a:cs typeface="Century Schoolbook"/>
              </a:rPr>
              <a:t>translated</a:t>
            </a:r>
            <a:r>
              <a:rPr sz="2133" spc="333" dirty="0">
                <a:latin typeface="Century Schoolbook"/>
                <a:cs typeface="Century Schoolbook"/>
              </a:rPr>
              <a:t> </a:t>
            </a:r>
            <a:r>
              <a:rPr sz="2133" dirty="0">
                <a:latin typeface="Century Schoolbook"/>
                <a:cs typeface="Century Schoolbook"/>
              </a:rPr>
              <a:t>into</a:t>
            </a:r>
            <a:r>
              <a:rPr sz="2133" spc="333" dirty="0">
                <a:latin typeface="Century Schoolbook"/>
                <a:cs typeface="Century Schoolbook"/>
              </a:rPr>
              <a:t> </a:t>
            </a:r>
            <a:r>
              <a:rPr sz="2133" dirty="0">
                <a:latin typeface="Century Schoolbook"/>
                <a:cs typeface="Century Schoolbook"/>
              </a:rPr>
              <a:t>a</a:t>
            </a:r>
            <a:r>
              <a:rPr sz="2133" spc="339" dirty="0">
                <a:latin typeface="Century Schoolbook"/>
                <a:cs typeface="Century Schoolbook"/>
              </a:rPr>
              <a:t> </a:t>
            </a:r>
            <a:r>
              <a:rPr sz="2133" dirty="0">
                <a:latin typeface="Century Schoolbook"/>
                <a:cs typeface="Century Schoolbook"/>
              </a:rPr>
              <a:t>polypeptide.</a:t>
            </a:r>
            <a:r>
              <a:rPr sz="2133" spc="333" dirty="0">
                <a:latin typeface="Century Schoolbook"/>
                <a:cs typeface="Century Schoolbook"/>
              </a:rPr>
              <a:t> </a:t>
            </a:r>
            <a:r>
              <a:rPr sz="2133" spc="-33" dirty="0">
                <a:latin typeface="Century Schoolbook"/>
                <a:cs typeface="Century Schoolbook"/>
              </a:rPr>
              <a:t>For </a:t>
            </a:r>
            <a:r>
              <a:rPr sz="2133" dirty="0">
                <a:latin typeface="Century Schoolbook"/>
                <a:cs typeface="Century Schoolbook"/>
              </a:rPr>
              <a:t>either</a:t>
            </a:r>
            <a:r>
              <a:rPr sz="2133" spc="-47" dirty="0">
                <a:latin typeface="Century Schoolbook"/>
                <a:cs typeface="Century Schoolbook"/>
              </a:rPr>
              <a:t> </a:t>
            </a:r>
            <a:r>
              <a:rPr sz="2133" dirty="0">
                <a:latin typeface="Century Schoolbook"/>
                <a:cs typeface="Century Schoolbook"/>
              </a:rPr>
              <a:t>type</a:t>
            </a:r>
            <a:r>
              <a:rPr sz="2133" spc="-40" dirty="0">
                <a:latin typeface="Century Schoolbook"/>
                <a:cs typeface="Century Schoolbook"/>
              </a:rPr>
              <a:t> </a:t>
            </a:r>
            <a:r>
              <a:rPr sz="2133" dirty="0">
                <a:latin typeface="Century Schoolbook"/>
                <a:cs typeface="Century Schoolbook"/>
              </a:rPr>
              <a:t>of</a:t>
            </a:r>
            <a:r>
              <a:rPr sz="2133" spc="-40" dirty="0">
                <a:latin typeface="Century Schoolbook"/>
                <a:cs typeface="Century Schoolbook"/>
              </a:rPr>
              <a:t> </a:t>
            </a:r>
            <a:r>
              <a:rPr sz="2133" dirty="0">
                <a:latin typeface="Century Schoolbook"/>
                <a:cs typeface="Century Schoolbook"/>
              </a:rPr>
              <a:t>gene,</a:t>
            </a:r>
            <a:r>
              <a:rPr sz="2133" spc="-47" dirty="0">
                <a:latin typeface="Century Schoolbook"/>
                <a:cs typeface="Century Schoolbook"/>
              </a:rPr>
              <a:t> </a:t>
            </a:r>
            <a:r>
              <a:rPr sz="2133" dirty="0">
                <a:latin typeface="Century Schoolbook"/>
                <a:cs typeface="Century Schoolbook"/>
              </a:rPr>
              <a:t>the</a:t>
            </a:r>
            <a:r>
              <a:rPr sz="2133" spc="-40" dirty="0">
                <a:latin typeface="Century Schoolbook"/>
                <a:cs typeface="Century Schoolbook"/>
              </a:rPr>
              <a:t> </a:t>
            </a:r>
            <a:r>
              <a:rPr sz="2133" dirty="0">
                <a:latin typeface="Century Schoolbook"/>
                <a:cs typeface="Century Schoolbook"/>
              </a:rPr>
              <a:t>process</a:t>
            </a:r>
            <a:r>
              <a:rPr sz="2133" spc="-40" dirty="0">
                <a:latin typeface="Century Schoolbook"/>
                <a:cs typeface="Century Schoolbook"/>
              </a:rPr>
              <a:t> </a:t>
            </a:r>
            <a:r>
              <a:rPr sz="2133" dirty="0">
                <a:latin typeface="Century Schoolbook"/>
                <a:cs typeface="Century Schoolbook"/>
              </a:rPr>
              <a:t>of</a:t>
            </a:r>
            <a:r>
              <a:rPr sz="2133" spc="-47" dirty="0">
                <a:latin typeface="Century Schoolbook"/>
                <a:cs typeface="Century Schoolbook"/>
              </a:rPr>
              <a:t> </a:t>
            </a:r>
            <a:r>
              <a:rPr sz="2133" dirty="0">
                <a:latin typeface="Century Schoolbook"/>
                <a:cs typeface="Century Schoolbook"/>
              </a:rPr>
              <a:t>going</a:t>
            </a:r>
            <a:r>
              <a:rPr sz="2133" spc="-40" dirty="0">
                <a:latin typeface="Century Schoolbook"/>
                <a:cs typeface="Century Schoolbook"/>
              </a:rPr>
              <a:t> </a:t>
            </a:r>
            <a:r>
              <a:rPr sz="2133" dirty="0">
                <a:latin typeface="Century Schoolbook"/>
                <a:cs typeface="Century Schoolbook"/>
              </a:rPr>
              <a:t>from</a:t>
            </a:r>
            <a:r>
              <a:rPr sz="2133" spc="-40" dirty="0">
                <a:latin typeface="Century Schoolbook"/>
                <a:cs typeface="Century Schoolbook"/>
              </a:rPr>
              <a:t> </a:t>
            </a:r>
            <a:r>
              <a:rPr sz="2133" dirty="0">
                <a:latin typeface="Century Schoolbook"/>
                <a:cs typeface="Century Schoolbook"/>
              </a:rPr>
              <a:t>DNA</a:t>
            </a:r>
            <a:r>
              <a:rPr sz="2133" spc="-152" dirty="0">
                <a:latin typeface="Century Schoolbook"/>
                <a:cs typeface="Century Schoolbook"/>
              </a:rPr>
              <a:t> </a:t>
            </a:r>
            <a:r>
              <a:rPr sz="2133" dirty="0">
                <a:latin typeface="Century Schoolbook"/>
                <a:cs typeface="Century Schoolbook"/>
              </a:rPr>
              <a:t>to</a:t>
            </a:r>
            <a:r>
              <a:rPr sz="2133" spc="-40" dirty="0">
                <a:latin typeface="Century Schoolbook"/>
                <a:cs typeface="Century Schoolbook"/>
              </a:rPr>
              <a:t> </a:t>
            </a:r>
            <a:r>
              <a:rPr sz="2133" dirty="0">
                <a:latin typeface="Century Schoolbook"/>
                <a:cs typeface="Century Schoolbook"/>
              </a:rPr>
              <a:t>a</a:t>
            </a:r>
            <a:r>
              <a:rPr sz="2133" spc="-40" dirty="0">
                <a:latin typeface="Century Schoolbook"/>
                <a:cs typeface="Century Schoolbook"/>
              </a:rPr>
              <a:t> </a:t>
            </a:r>
            <a:r>
              <a:rPr sz="2133" dirty="0">
                <a:latin typeface="Century Schoolbook"/>
                <a:cs typeface="Century Schoolbook"/>
              </a:rPr>
              <a:t>functional</a:t>
            </a:r>
            <a:r>
              <a:rPr sz="2133" spc="-47" dirty="0">
                <a:latin typeface="Century Schoolbook"/>
                <a:cs typeface="Century Schoolbook"/>
              </a:rPr>
              <a:t> </a:t>
            </a:r>
            <a:r>
              <a:rPr sz="2133" dirty="0">
                <a:latin typeface="Century Schoolbook"/>
                <a:cs typeface="Century Schoolbook"/>
              </a:rPr>
              <a:t>product</a:t>
            </a:r>
            <a:r>
              <a:rPr sz="2133" spc="-40" dirty="0">
                <a:latin typeface="Century Schoolbook"/>
                <a:cs typeface="Century Schoolbook"/>
              </a:rPr>
              <a:t> </a:t>
            </a:r>
            <a:r>
              <a:rPr sz="2133" dirty="0">
                <a:latin typeface="Century Schoolbook"/>
                <a:cs typeface="Century Schoolbook"/>
              </a:rPr>
              <a:t>is</a:t>
            </a:r>
            <a:r>
              <a:rPr sz="2133" spc="-40" dirty="0">
                <a:latin typeface="Century Schoolbook"/>
                <a:cs typeface="Century Schoolbook"/>
              </a:rPr>
              <a:t> </a:t>
            </a:r>
            <a:r>
              <a:rPr sz="2133" dirty="0">
                <a:latin typeface="Century Schoolbook"/>
                <a:cs typeface="Century Schoolbook"/>
              </a:rPr>
              <a:t>known</a:t>
            </a:r>
            <a:r>
              <a:rPr sz="2133" spc="-47" dirty="0">
                <a:latin typeface="Century Schoolbook"/>
                <a:cs typeface="Century Schoolbook"/>
              </a:rPr>
              <a:t> </a:t>
            </a:r>
            <a:r>
              <a:rPr sz="2133" dirty="0">
                <a:latin typeface="Century Schoolbook"/>
                <a:cs typeface="Century Schoolbook"/>
              </a:rPr>
              <a:t>as</a:t>
            </a:r>
            <a:r>
              <a:rPr sz="2133" spc="-40" dirty="0">
                <a:latin typeface="Century Schoolbook"/>
                <a:cs typeface="Century Schoolbook"/>
              </a:rPr>
              <a:t> </a:t>
            </a:r>
            <a:r>
              <a:rPr sz="2133" spc="-27" dirty="0">
                <a:latin typeface="Century Schoolbook"/>
                <a:cs typeface="Century Schoolbook"/>
              </a:rPr>
              <a:t>gene</a:t>
            </a:r>
            <a:endParaRPr sz="2133" dirty="0">
              <a:latin typeface="Century Schoolbook"/>
              <a:cs typeface="Century Schoolbook"/>
            </a:endParaRPr>
          </a:p>
        </p:txBody>
      </p:sp>
      <p:sp>
        <p:nvSpPr>
          <p:cNvPr id="10" name="object 10"/>
          <p:cNvSpPr txBox="1"/>
          <p:nvPr/>
        </p:nvSpPr>
        <p:spPr>
          <a:xfrm>
            <a:off x="313601" y="6157562"/>
            <a:ext cx="1436793" cy="345330"/>
          </a:xfrm>
          <a:prstGeom prst="rect">
            <a:avLst/>
          </a:prstGeom>
        </p:spPr>
        <p:txBody>
          <a:bodyPr vert="horz" wrap="square" lIns="0" tIns="16933" rIns="0" bIns="0" rtlCol="0">
            <a:spAutoFit/>
          </a:bodyPr>
          <a:lstStyle/>
          <a:p>
            <a:pPr marL="16933">
              <a:spcBef>
                <a:spcPts val="133"/>
              </a:spcBef>
            </a:pPr>
            <a:r>
              <a:rPr sz="2133" spc="-13" dirty="0">
                <a:latin typeface="Century Schoolbook"/>
                <a:cs typeface="Century Schoolbook"/>
              </a:rPr>
              <a:t>expression.</a:t>
            </a:r>
            <a:endParaRPr sz="2133" dirty="0">
              <a:latin typeface="Century Schoolbook"/>
              <a:cs typeface="Century Schoolbook"/>
            </a:endParaRPr>
          </a:p>
        </p:txBody>
      </p:sp>
      <p:sp>
        <p:nvSpPr>
          <p:cNvPr id="11" name="object 11"/>
          <p:cNvSpPr txBox="1"/>
          <p:nvPr/>
        </p:nvSpPr>
        <p:spPr>
          <a:xfrm>
            <a:off x="11697412" y="6354715"/>
            <a:ext cx="233680" cy="222219"/>
          </a:xfrm>
          <a:prstGeom prst="rect">
            <a:avLst/>
          </a:prstGeom>
        </p:spPr>
        <p:txBody>
          <a:bodyPr vert="horz" wrap="square" lIns="0" tIns="16933" rIns="0" bIns="0" rtlCol="0">
            <a:spAutoFit/>
          </a:bodyPr>
          <a:lstStyle/>
          <a:p>
            <a:pPr marL="16933">
              <a:spcBef>
                <a:spcPts val="133"/>
              </a:spcBef>
            </a:pPr>
            <a:r>
              <a:rPr sz="1333" spc="67" dirty="0">
                <a:solidFill>
                  <a:srgbClr val="666666"/>
                </a:solidFill>
                <a:latin typeface="Calibri"/>
                <a:cs typeface="Calibri"/>
              </a:rPr>
              <a:t>26</a:t>
            </a:r>
            <a:endParaRPr sz="1333">
              <a:latin typeface="Calibri"/>
              <a:cs typeface="Calibri"/>
            </a:endParaRPr>
          </a:p>
        </p:txBody>
      </p:sp>
    </p:spTree>
    <p:extLst>
      <p:ext uri="{BB962C8B-B14F-4D97-AF65-F5344CB8AC3E}">
        <p14:creationId xmlns:p14="http://schemas.microsoft.com/office/powerpoint/2010/main" val="259901248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2968" y="216479"/>
            <a:ext cx="11166065" cy="553997"/>
          </a:xfrm>
        </p:spPr>
        <p:txBody>
          <a:bodyPr>
            <a:normAutofit fontScale="90000"/>
          </a:bodyPr>
          <a:lstStyle/>
          <a:p>
            <a:r>
              <a:rPr lang="en-US" b="1" dirty="0"/>
              <a:t>The Genetic Code</a:t>
            </a:r>
          </a:p>
        </p:txBody>
      </p:sp>
      <p:sp>
        <p:nvSpPr>
          <p:cNvPr id="3" name="Rectangle 2"/>
          <p:cNvSpPr/>
          <p:nvPr/>
        </p:nvSpPr>
        <p:spPr>
          <a:xfrm>
            <a:off x="406400" y="1092201"/>
            <a:ext cx="11379200" cy="830997"/>
          </a:xfrm>
          <a:prstGeom prst="rect">
            <a:avLst/>
          </a:prstGeom>
          <a:solidFill>
            <a:schemeClr val="accent6">
              <a:lumMod val="20000"/>
              <a:lumOff val="80000"/>
            </a:schemeClr>
          </a:solidFill>
        </p:spPr>
        <p:txBody>
          <a:bodyPr wrap="square">
            <a:spAutoFit/>
          </a:bodyPr>
          <a:lstStyle/>
          <a:p>
            <a:r>
              <a:rPr lang="en-US" sz="2400" dirty="0">
                <a:solidFill>
                  <a:srgbClr val="FF0000"/>
                </a:solidFill>
                <a:latin typeface="Times New Roman" panose="02020603050405020304" pitchFamily="18" charset="0"/>
                <a:cs typeface="Times New Roman" panose="02020603050405020304" pitchFamily="18" charset="0"/>
              </a:rPr>
              <a:t>The genetic code is the </a:t>
            </a:r>
            <a:r>
              <a:rPr lang="en-US" sz="2400" b="1" dirty="0">
                <a:solidFill>
                  <a:srgbClr val="FF0000"/>
                </a:solidFill>
                <a:latin typeface="Times New Roman" panose="02020603050405020304" pitchFamily="18" charset="0"/>
                <a:cs typeface="Times New Roman" panose="02020603050405020304" pitchFamily="18" charset="0"/>
              </a:rPr>
              <a:t>set of rules </a:t>
            </a:r>
            <a:r>
              <a:rPr lang="en-US" sz="2400" dirty="0">
                <a:solidFill>
                  <a:srgbClr val="FF0000"/>
                </a:solidFill>
                <a:latin typeface="Times New Roman" panose="02020603050405020304" pitchFamily="18" charset="0"/>
                <a:cs typeface="Times New Roman" panose="02020603050405020304" pitchFamily="18" charset="0"/>
              </a:rPr>
              <a:t>that defines how the sequence of nucleotides in mRNA is translated into a sequence of amino acids in a protein.</a:t>
            </a:r>
          </a:p>
        </p:txBody>
      </p:sp>
      <p:sp>
        <p:nvSpPr>
          <p:cNvPr id="4" name="Rectangle 3"/>
          <p:cNvSpPr/>
          <p:nvPr/>
        </p:nvSpPr>
        <p:spPr>
          <a:xfrm>
            <a:off x="406400" y="2006600"/>
            <a:ext cx="11379200" cy="1938992"/>
          </a:xfrm>
          <a:prstGeom prst="rect">
            <a:avLst/>
          </a:prstGeom>
          <a:solidFill>
            <a:schemeClr val="accent6">
              <a:lumMod val="20000"/>
              <a:lumOff val="80000"/>
            </a:schemeClr>
          </a:solidFill>
        </p:spPr>
        <p:txBody>
          <a:bodyPr wrap="square">
            <a:spAutoFit/>
          </a:bodyPr>
          <a:lstStyle/>
          <a:p>
            <a:r>
              <a:rPr lang="en-US" sz="2400" b="1" dirty="0">
                <a:latin typeface="Times New Roman" panose="02020603050405020304" pitchFamily="18" charset="0"/>
                <a:cs typeface="Times New Roman" panose="02020603050405020304" pitchFamily="18" charset="0"/>
              </a:rPr>
              <a:t>Codons</a:t>
            </a:r>
          </a:p>
          <a:p>
            <a:pPr>
              <a:buFont typeface="Arial" panose="020B0604020202020204" pitchFamily="34" charset="0"/>
              <a:buChar char="•"/>
            </a:pPr>
            <a:r>
              <a:rPr lang="en-US" sz="2400" dirty="0">
                <a:solidFill>
                  <a:srgbClr val="0070C0"/>
                </a:solidFill>
                <a:latin typeface="Times New Roman" panose="02020603050405020304" pitchFamily="18" charset="0"/>
                <a:cs typeface="Times New Roman" panose="02020603050405020304" pitchFamily="18" charset="0"/>
              </a:rPr>
              <a:t>A codon is a sequence of three nucleotides in mRNA.</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Each codon specifies one amino acid (or a stop signal).</a:t>
            </a:r>
          </a:p>
          <a:p>
            <a:pPr>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Since there are 4 nucleotides (A, U, C, G), there are 4³ = 64 possible codons</a:t>
            </a:r>
            <a:r>
              <a:rPr lang="en-US" sz="2400" dirty="0"/>
              <a:t>.</a:t>
            </a:r>
          </a:p>
          <a:p>
            <a:pPr>
              <a:buFont typeface="Arial" panose="020B0604020202020204" pitchFamily="34" charset="0"/>
              <a:buChar char="•"/>
            </a:pPr>
            <a:r>
              <a:rPr lang="en-US" sz="2400" dirty="0">
                <a:latin typeface="Century Schoolbook"/>
                <a:cs typeface="Century Schoolbook"/>
              </a:rPr>
              <a:t>20</a:t>
            </a:r>
            <a:r>
              <a:rPr lang="en-US" sz="2400" spc="133" dirty="0">
                <a:latin typeface="Century Schoolbook"/>
                <a:cs typeface="Century Schoolbook"/>
              </a:rPr>
              <a:t> </a:t>
            </a:r>
            <a:r>
              <a:rPr lang="en-US" sz="2400" dirty="0">
                <a:latin typeface="Century Schoolbook"/>
                <a:cs typeface="Century Schoolbook"/>
              </a:rPr>
              <a:t>commonly</a:t>
            </a:r>
            <a:r>
              <a:rPr lang="en-US" sz="2400" spc="140" dirty="0">
                <a:latin typeface="Century Schoolbook"/>
                <a:cs typeface="Century Schoolbook"/>
              </a:rPr>
              <a:t> </a:t>
            </a:r>
            <a:r>
              <a:rPr lang="en-US" sz="2400" dirty="0">
                <a:latin typeface="Century Schoolbook"/>
                <a:cs typeface="Century Schoolbook"/>
              </a:rPr>
              <a:t>found</a:t>
            </a:r>
            <a:r>
              <a:rPr lang="en-US" sz="2400" spc="133" dirty="0">
                <a:latin typeface="Century Schoolbook"/>
                <a:cs typeface="Century Schoolbook"/>
              </a:rPr>
              <a:t> </a:t>
            </a:r>
            <a:r>
              <a:rPr lang="en-US" sz="2400" dirty="0">
                <a:latin typeface="Century Schoolbook"/>
                <a:cs typeface="Century Schoolbook"/>
              </a:rPr>
              <a:t>in</a:t>
            </a:r>
            <a:r>
              <a:rPr lang="en-US" sz="2400" spc="133" dirty="0">
                <a:latin typeface="Century Schoolbook"/>
                <a:cs typeface="Century Schoolbook"/>
              </a:rPr>
              <a:t> </a:t>
            </a:r>
            <a:r>
              <a:rPr lang="en-US" sz="2400" dirty="0">
                <a:latin typeface="Century Schoolbook"/>
                <a:cs typeface="Century Schoolbook"/>
              </a:rPr>
              <a:t>proteins</a:t>
            </a:r>
            <a:endParaRPr lang="en-US" sz="2400" dirty="0"/>
          </a:p>
        </p:txBody>
      </p:sp>
      <p:sp>
        <p:nvSpPr>
          <p:cNvPr id="6" name="Rectangle 5"/>
          <p:cNvSpPr/>
          <p:nvPr/>
        </p:nvSpPr>
        <p:spPr>
          <a:xfrm>
            <a:off x="406400" y="3937000"/>
            <a:ext cx="11379200" cy="2389950"/>
          </a:xfrm>
          <a:prstGeom prst="rect">
            <a:avLst/>
          </a:prstGeom>
          <a:solidFill>
            <a:schemeClr val="accent6">
              <a:lumMod val="40000"/>
              <a:lumOff val="60000"/>
            </a:schemeClr>
          </a:solidFill>
        </p:spPr>
        <p:txBody>
          <a:bodyPr wrap="square">
            <a:spAutoFit/>
          </a:bodyPr>
          <a:lstStyle/>
          <a:p>
            <a:pPr defTabSz="1219170" eaLnBrk="0" fontAlgn="base" hangingPunct="0">
              <a:spcBef>
                <a:spcPct val="0"/>
              </a:spcBef>
              <a:spcAft>
                <a:spcPct val="0"/>
              </a:spcAft>
            </a:pPr>
            <a:r>
              <a:rPr lang="en-US" sz="2133" b="1" dirty="0">
                <a:latin typeface="Times New Roman" panose="02020603050405020304" pitchFamily="18" charset="0"/>
                <a:cs typeface="Times New Roman" panose="02020603050405020304" pitchFamily="18" charset="0"/>
              </a:rPr>
              <a:t>Start and Stop Codons</a:t>
            </a:r>
          </a:p>
          <a:p>
            <a:pPr defTabSz="1219170" eaLnBrk="0" fontAlgn="base" hangingPunct="0">
              <a:spcBef>
                <a:spcPct val="0"/>
              </a:spcBef>
              <a:spcAft>
                <a:spcPct val="0"/>
              </a:spcAft>
              <a:buFontTx/>
              <a:buAutoNum type="arabicPeriod"/>
            </a:pPr>
            <a:r>
              <a:rPr lang="en-US" sz="2133" b="1" dirty="0">
                <a:latin typeface="Times New Roman" panose="02020603050405020304" pitchFamily="18" charset="0"/>
                <a:cs typeface="Times New Roman" panose="02020603050405020304" pitchFamily="18" charset="0"/>
              </a:rPr>
              <a:t>Start codon</a:t>
            </a:r>
            <a:endParaRPr lang="en-US" sz="2133" dirty="0">
              <a:latin typeface="Times New Roman" panose="02020603050405020304" pitchFamily="18" charset="0"/>
              <a:cs typeface="Times New Roman" panose="02020603050405020304" pitchFamily="18" charset="0"/>
            </a:endParaRPr>
          </a:p>
          <a:p>
            <a:pPr marL="609585" lvl="1" defTabSz="1219170" eaLnBrk="0" fontAlgn="base" hangingPunct="0">
              <a:spcBef>
                <a:spcPct val="0"/>
              </a:spcBef>
              <a:spcAft>
                <a:spcPct val="0"/>
              </a:spcAft>
              <a:buFontTx/>
              <a:buChar char="•"/>
            </a:pPr>
            <a:r>
              <a:rPr lang="en-US" sz="2133" dirty="0">
                <a:latin typeface="Times New Roman" panose="02020603050405020304" pitchFamily="18" charset="0"/>
                <a:cs typeface="Times New Roman" panose="02020603050405020304" pitchFamily="18" charset="0"/>
              </a:rPr>
              <a:t>AUG → signals </a:t>
            </a:r>
            <a:r>
              <a:rPr lang="en-US" sz="2133" b="1" dirty="0">
                <a:latin typeface="Times New Roman" panose="02020603050405020304" pitchFamily="18" charset="0"/>
                <a:cs typeface="Times New Roman" panose="02020603050405020304" pitchFamily="18" charset="0"/>
              </a:rPr>
              <a:t>start of translation</a:t>
            </a:r>
            <a:endParaRPr lang="en-US" sz="2133" dirty="0">
              <a:latin typeface="Times New Roman" panose="02020603050405020304" pitchFamily="18" charset="0"/>
              <a:cs typeface="Times New Roman" panose="02020603050405020304" pitchFamily="18" charset="0"/>
            </a:endParaRPr>
          </a:p>
          <a:p>
            <a:pPr marL="609585" lvl="1" defTabSz="1219170" eaLnBrk="0" fontAlgn="base" hangingPunct="0">
              <a:spcBef>
                <a:spcPct val="0"/>
              </a:spcBef>
              <a:spcAft>
                <a:spcPct val="0"/>
              </a:spcAft>
              <a:buFontTx/>
              <a:buChar char="•"/>
            </a:pPr>
            <a:r>
              <a:rPr lang="en-US" sz="2133" dirty="0">
                <a:latin typeface="Times New Roman" panose="02020603050405020304" pitchFamily="18" charset="0"/>
                <a:cs typeface="Times New Roman" panose="02020603050405020304" pitchFamily="18" charset="0"/>
              </a:rPr>
              <a:t>Also codes for </a:t>
            </a:r>
            <a:r>
              <a:rPr lang="en-US" sz="2133" b="1" dirty="0">
                <a:latin typeface="Times New Roman" panose="02020603050405020304" pitchFamily="18" charset="0"/>
                <a:cs typeface="Times New Roman" panose="02020603050405020304" pitchFamily="18" charset="0"/>
              </a:rPr>
              <a:t>methionine</a:t>
            </a:r>
            <a:r>
              <a:rPr lang="en-US" sz="2133" dirty="0">
                <a:latin typeface="Times New Roman" panose="02020603050405020304" pitchFamily="18" charset="0"/>
                <a:cs typeface="Times New Roman" panose="02020603050405020304" pitchFamily="18" charset="0"/>
              </a:rPr>
              <a:t> (first amino acid in most proteins)</a:t>
            </a:r>
          </a:p>
          <a:p>
            <a:pPr defTabSz="1219170" eaLnBrk="0" fontAlgn="base" hangingPunct="0">
              <a:spcBef>
                <a:spcPct val="0"/>
              </a:spcBef>
              <a:spcAft>
                <a:spcPct val="0"/>
              </a:spcAft>
              <a:buFontTx/>
              <a:buAutoNum type="arabicPeriod" startAt="2"/>
            </a:pPr>
            <a:r>
              <a:rPr lang="en-US" sz="2133" b="1" dirty="0">
                <a:latin typeface="Times New Roman" panose="02020603050405020304" pitchFamily="18" charset="0"/>
                <a:cs typeface="Times New Roman" panose="02020603050405020304" pitchFamily="18" charset="0"/>
              </a:rPr>
              <a:t>Stop codons</a:t>
            </a:r>
            <a:endParaRPr lang="en-US" sz="2133" dirty="0">
              <a:latin typeface="Times New Roman" panose="02020603050405020304" pitchFamily="18" charset="0"/>
              <a:cs typeface="Times New Roman" panose="02020603050405020304" pitchFamily="18" charset="0"/>
            </a:endParaRPr>
          </a:p>
          <a:p>
            <a:pPr marL="609585" lvl="1" defTabSz="1219170" eaLnBrk="0" fontAlgn="base" hangingPunct="0">
              <a:spcBef>
                <a:spcPct val="0"/>
              </a:spcBef>
              <a:spcAft>
                <a:spcPct val="0"/>
              </a:spcAft>
              <a:buFontTx/>
              <a:buChar char="•"/>
            </a:pPr>
            <a:r>
              <a:rPr lang="en-US" sz="2133" dirty="0">
                <a:latin typeface="Times New Roman" panose="02020603050405020304" pitchFamily="18" charset="0"/>
                <a:cs typeface="Times New Roman" panose="02020603050405020304" pitchFamily="18" charset="0"/>
              </a:rPr>
              <a:t>UAA, UAG, UGA → </a:t>
            </a:r>
            <a:r>
              <a:rPr lang="en-US" sz="2133" b="1" dirty="0">
                <a:latin typeface="Times New Roman" panose="02020603050405020304" pitchFamily="18" charset="0"/>
                <a:cs typeface="Times New Roman" panose="02020603050405020304" pitchFamily="18" charset="0"/>
              </a:rPr>
              <a:t>do not code for any amino acid</a:t>
            </a:r>
            <a:endParaRPr lang="en-US" sz="2133" dirty="0">
              <a:latin typeface="Times New Roman" panose="02020603050405020304" pitchFamily="18" charset="0"/>
              <a:cs typeface="Times New Roman" panose="02020603050405020304" pitchFamily="18" charset="0"/>
            </a:endParaRPr>
          </a:p>
          <a:p>
            <a:pPr marL="609585" lvl="1" defTabSz="1219170" eaLnBrk="0" fontAlgn="base" hangingPunct="0">
              <a:spcBef>
                <a:spcPct val="0"/>
              </a:spcBef>
              <a:spcAft>
                <a:spcPct val="0"/>
              </a:spcAft>
              <a:buFontTx/>
              <a:buChar char="•"/>
            </a:pPr>
            <a:r>
              <a:rPr lang="en-US" sz="2133" dirty="0">
                <a:latin typeface="Times New Roman" panose="02020603050405020304" pitchFamily="18" charset="0"/>
                <a:cs typeface="Times New Roman" panose="02020603050405020304" pitchFamily="18" charset="0"/>
              </a:rPr>
              <a:t>Signal the </a:t>
            </a:r>
            <a:r>
              <a:rPr lang="en-US" sz="2133" b="1" dirty="0">
                <a:latin typeface="Times New Roman" panose="02020603050405020304" pitchFamily="18" charset="0"/>
                <a:cs typeface="Times New Roman" panose="02020603050405020304" pitchFamily="18" charset="0"/>
              </a:rPr>
              <a:t>end of the polypeptide</a:t>
            </a:r>
            <a:r>
              <a:rPr lang="en-US" sz="2133" dirty="0">
                <a:latin typeface="Times New Roman" panose="02020603050405020304" pitchFamily="18" charset="0"/>
                <a:cs typeface="Times New Roman" panose="02020603050405020304" pitchFamily="18" charset="0"/>
              </a:rPr>
              <a:t> chain</a:t>
            </a:r>
          </a:p>
        </p:txBody>
      </p:sp>
    </p:spTree>
    <p:extLst>
      <p:ext uri="{BB962C8B-B14F-4D97-AF65-F5344CB8AC3E}">
        <p14:creationId xmlns:p14="http://schemas.microsoft.com/office/powerpoint/2010/main" val="12893890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13592" y="613058"/>
            <a:ext cx="14020800" cy="694207"/>
          </a:xfrm>
          <a:prstGeom prst="rect">
            <a:avLst/>
          </a:prstGeom>
        </p:spPr>
        <p:txBody>
          <a:bodyPr vert="horz" wrap="square" lIns="0" tIns="16933" rIns="0" bIns="0" rtlCol="0" anchor="ctr">
            <a:spAutoFit/>
          </a:bodyPr>
          <a:lstStyle/>
          <a:p>
            <a:pPr marL="3456007">
              <a:lnSpc>
                <a:spcPct val="100000"/>
              </a:lnSpc>
              <a:spcBef>
                <a:spcPts val="133"/>
              </a:spcBef>
            </a:pPr>
            <a:r>
              <a:rPr spc="460" dirty="0"/>
              <a:t>The</a:t>
            </a:r>
            <a:r>
              <a:rPr spc="187" dirty="0"/>
              <a:t> </a:t>
            </a:r>
            <a:r>
              <a:rPr spc="327" dirty="0"/>
              <a:t>Genetic</a:t>
            </a:r>
            <a:r>
              <a:rPr spc="187" dirty="0"/>
              <a:t> </a:t>
            </a:r>
            <a:r>
              <a:rPr spc="200" dirty="0"/>
              <a:t>Code</a:t>
            </a:r>
          </a:p>
        </p:txBody>
      </p:sp>
      <p:sp>
        <p:nvSpPr>
          <p:cNvPr id="3" name="object 3"/>
          <p:cNvSpPr/>
          <p:nvPr/>
        </p:nvSpPr>
        <p:spPr>
          <a:xfrm>
            <a:off x="319234" y="496439"/>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grpSp>
        <p:nvGrpSpPr>
          <p:cNvPr id="4" name="object 4"/>
          <p:cNvGrpSpPr/>
          <p:nvPr/>
        </p:nvGrpSpPr>
        <p:grpSpPr>
          <a:xfrm>
            <a:off x="98683" y="1199317"/>
            <a:ext cx="11940540" cy="5561753"/>
            <a:chOff x="74012" y="899487"/>
            <a:chExt cx="8955405" cy="4171315"/>
          </a:xfrm>
        </p:grpSpPr>
        <p:sp>
          <p:nvSpPr>
            <p:cNvPr id="5" name="object 5"/>
            <p:cNvSpPr/>
            <p:nvPr/>
          </p:nvSpPr>
          <p:spPr>
            <a:xfrm>
              <a:off x="74025" y="899500"/>
              <a:ext cx="8955405" cy="4171315"/>
            </a:xfrm>
            <a:custGeom>
              <a:avLst/>
              <a:gdLst/>
              <a:ahLst/>
              <a:cxnLst/>
              <a:rect l="l" t="t" r="r" b="b"/>
              <a:pathLst>
                <a:path w="8955405" h="4171315">
                  <a:moveTo>
                    <a:pt x="4749" y="0"/>
                  </a:moveTo>
                  <a:lnTo>
                    <a:pt x="4749" y="4171024"/>
                  </a:lnTo>
                </a:path>
                <a:path w="8955405" h="4171315">
                  <a:moveTo>
                    <a:pt x="8950499" y="0"/>
                  </a:moveTo>
                  <a:lnTo>
                    <a:pt x="8950499" y="4171024"/>
                  </a:lnTo>
                </a:path>
                <a:path w="8955405" h="4171315">
                  <a:moveTo>
                    <a:pt x="0" y="4749"/>
                  </a:moveTo>
                  <a:lnTo>
                    <a:pt x="8955249" y="4749"/>
                  </a:lnTo>
                </a:path>
                <a:path w="8955405" h="4171315">
                  <a:moveTo>
                    <a:pt x="0" y="4166274"/>
                  </a:moveTo>
                  <a:lnTo>
                    <a:pt x="8955249" y="4166274"/>
                  </a:lnTo>
                </a:path>
              </a:pathLst>
            </a:custGeom>
            <a:ln w="9524">
              <a:solidFill>
                <a:srgbClr val="9E9E9E"/>
              </a:solidFill>
            </a:ln>
          </p:spPr>
          <p:txBody>
            <a:bodyPr wrap="square" lIns="0" tIns="0" rIns="0" bIns="0" rtlCol="0"/>
            <a:lstStyle/>
            <a:p>
              <a:endParaRPr sz="2400"/>
            </a:p>
          </p:txBody>
        </p:sp>
        <p:pic>
          <p:nvPicPr>
            <p:cNvPr id="6" name="object 6"/>
            <p:cNvPicPr/>
            <p:nvPr/>
          </p:nvPicPr>
          <p:blipFill>
            <a:blip r:embed="rId2" cstate="print"/>
            <a:stretch>
              <a:fillRect/>
            </a:stretch>
          </p:blipFill>
          <p:spPr>
            <a:xfrm>
              <a:off x="2168781" y="980448"/>
              <a:ext cx="4574919" cy="3920175"/>
            </a:xfrm>
            <a:prstGeom prst="rect">
              <a:avLst/>
            </a:prstGeom>
          </p:spPr>
        </p:pic>
      </p:gr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52</a:t>
            </a:fld>
            <a:endParaRPr spc="40" dirty="0"/>
          </a:p>
        </p:txBody>
      </p:sp>
    </p:spTree>
    <p:extLst>
      <p:ext uri="{BB962C8B-B14F-4D97-AF65-F5344CB8AC3E}">
        <p14:creationId xmlns:p14="http://schemas.microsoft.com/office/powerpoint/2010/main" val="254223491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17600" y="1023438"/>
            <a:ext cx="14020800" cy="694207"/>
          </a:xfrm>
          <a:prstGeom prst="rect">
            <a:avLst/>
          </a:prstGeom>
        </p:spPr>
        <p:txBody>
          <a:bodyPr vert="horz" wrap="square" lIns="0" tIns="16933" rIns="0" bIns="0" rtlCol="0" anchor="ctr">
            <a:spAutoFit/>
          </a:bodyPr>
          <a:lstStyle/>
          <a:p>
            <a:pPr marL="3456007">
              <a:lnSpc>
                <a:spcPct val="100000"/>
              </a:lnSpc>
              <a:spcBef>
                <a:spcPts val="133"/>
              </a:spcBef>
            </a:pPr>
            <a:r>
              <a:rPr spc="460" dirty="0"/>
              <a:t>The</a:t>
            </a:r>
            <a:r>
              <a:rPr spc="187" dirty="0"/>
              <a:t> </a:t>
            </a:r>
            <a:r>
              <a:rPr spc="327" dirty="0"/>
              <a:t>Genetic</a:t>
            </a:r>
            <a:r>
              <a:rPr spc="187" dirty="0"/>
              <a:t> </a:t>
            </a:r>
            <a:r>
              <a:rPr spc="200" dirty="0"/>
              <a:t>Code</a:t>
            </a:r>
          </a:p>
        </p:txBody>
      </p:sp>
      <p:sp>
        <p:nvSpPr>
          <p:cNvPr id="3" name="object 3"/>
          <p:cNvSpPr/>
          <p:nvPr/>
        </p:nvSpPr>
        <p:spPr>
          <a:xfrm>
            <a:off x="264166" y="676808"/>
            <a:ext cx="11662833" cy="62653"/>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grpSp>
        <p:nvGrpSpPr>
          <p:cNvPr id="4" name="object 4"/>
          <p:cNvGrpSpPr/>
          <p:nvPr/>
        </p:nvGrpSpPr>
        <p:grpSpPr>
          <a:xfrm>
            <a:off x="98683" y="1208554"/>
            <a:ext cx="11940540" cy="5561753"/>
            <a:chOff x="74012" y="899487"/>
            <a:chExt cx="8955405" cy="4171315"/>
          </a:xfrm>
        </p:grpSpPr>
        <p:sp>
          <p:nvSpPr>
            <p:cNvPr id="5" name="object 5"/>
            <p:cNvSpPr/>
            <p:nvPr/>
          </p:nvSpPr>
          <p:spPr>
            <a:xfrm>
              <a:off x="74025" y="899500"/>
              <a:ext cx="8955405" cy="4171315"/>
            </a:xfrm>
            <a:custGeom>
              <a:avLst/>
              <a:gdLst/>
              <a:ahLst/>
              <a:cxnLst/>
              <a:rect l="l" t="t" r="r" b="b"/>
              <a:pathLst>
                <a:path w="8955405" h="4171315">
                  <a:moveTo>
                    <a:pt x="4749" y="0"/>
                  </a:moveTo>
                  <a:lnTo>
                    <a:pt x="4749" y="4171024"/>
                  </a:lnTo>
                </a:path>
                <a:path w="8955405" h="4171315">
                  <a:moveTo>
                    <a:pt x="8950499" y="0"/>
                  </a:moveTo>
                  <a:lnTo>
                    <a:pt x="8950499" y="4171024"/>
                  </a:lnTo>
                </a:path>
                <a:path w="8955405" h="4171315">
                  <a:moveTo>
                    <a:pt x="0" y="4749"/>
                  </a:moveTo>
                  <a:lnTo>
                    <a:pt x="8955249" y="4749"/>
                  </a:lnTo>
                </a:path>
                <a:path w="8955405" h="4171315">
                  <a:moveTo>
                    <a:pt x="0" y="4166274"/>
                  </a:moveTo>
                  <a:lnTo>
                    <a:pt x="8955249" y="4166274"/>
                  </a:lnTo>
                </a:path>
              </a:pathLst>
            </a:custGeom>
            <a:ln w="9524">
              <a:solidFill>
                <a:srgbClr val="9E9E9E"/>
              </a:solidFill>
            </a:ln>
          </p:spPr>
          <p:txBody>
            <a:bodyPr wrap="square" lIns="0" tIns="0" rIns="0" bIns="0" rtlCol="0"/>
            <a:lstStyle/>
            <a:p>
              <a:endParaRPr sz="2400"/>
            </a:p>
          </p:txBody>
        </p:sp>
        <p:pic>
          <p:nvPicPr>
            <p:cNvPr id="6" name="object 6"/>
            <p:cNvPicPr/>
            <p:nvPr/>
          </p:nvPicPr>
          <p:blipFill>
            <a:blip r:embed="rId2" cstate="print"/>
            <a:stretch>
              <a:fillRect/>
            </a:stretch>
          </p:blipFill>
          <p:spPr>
            <a:xfrm>
              <a:off x="626050" y="2835431"/>
              <a:ext cx="8319199" cy="1527768"/>
            </a:xfrm>
            <a:prstGeom prst="rect">
              <a:avLst/>
            </a:prstGeom>
          </p:spPr>
        </p:pic>
      </p:grpSp>
      <p:sp>
        <p:nvSpPr>
          <p:cNvPr id="7" name="object 7"/>
          <p:cNvSpPr txBox="1"/>
          <p:nvPr/>
        </p:nvSpPr>
        <p:spPr>
          <a:xfrm>
            <a:off x="265001" y="1804634"/>
            <a:ext cx="11383480" cy="1417225"/>
          </a:xfrm>
          <a:prstGeom prst="rect">
            <a:avLst/>
          </a:prstGeom>
          <a:solidFill>
            <a:srgbClr val="FFE499"/>
          </a:solidFill>
        </p:spPr>
        <p:txBody>
          <a:bodyPr vert="horz" wrap="square" lIns="0" tIns="103293" rIns="0" bIns="0" rtlCol="0">
            <a:spAutoFit/>
          </a:bodyPr>
          <a:lstStyle/>
          <a:p>
            <a:pPr marL="114297" marR="111757" algn="just">
              <a:spcBef>
                <a:spcPts val="813"/>
              </a:spcBef>
            </a:pPr>
            <a:r>
              <a:rPr sz="2133" dirty="0">
                <a:latin typeface="Century Schoolbook"/>
                <a:cs typeface="Century Schoolbook"/>
              </a:rPr>
              <a:t>There</a:t>
            </a:r>
            <a:r>
              <a:rPr sz="2133" spc="333" dirty="0">
                <a:latin typeface="Century Schoolbook"/>
                <a:cs typeface="Century Schoolbook"/>
              </a:rPr>
              <a:t> </a:t>
            </a:r>
            <a:r>
              <a:rPr sz="2133" dirty="0">
                <a:latin typeface="Century Schoolbook"/>
                <a:cs typeface="Century Schoolbook"/>
              </a:rPr>
              <a:t>are</a:t>
            </a:r>
            <a:r>
              <a:rPr sz="2133" spc="333" dirty="0">
                <a:latin typeface="Century Schoolbook"/>
                <a:cs typeface="Century Schoolbook"/>
              </a:rPr>
              <a:t> </a:t>
            </a:r>
            <a:r>
              <a:rPr sz="2133" dirty="0">
                <a:latin typeface="Century Schoolbook"/>
                <a:cs typeface="Century Schoolbook"/>
              </a:rPr>
              <a:t>three</a:t>
            </a:r>
            <a:r>
              <a:rPr sz="2133" spc="333" dirty="0">
                <a:latin typeface="Century Schoolbook"/>
                <a:cs typeface="Century Schoolbook"/>
              </a:rPr>
              <a:t> </a:t>
            </a:r>
            <a:r>
              <a:rPr sz="2133" dirty="0">
                <a:latin typeface="Century Schoolbook"/>
                <a:cs typeface="Century Schoolbook"/>
              </a:rPr>
              <a:t>more</a:t>
            </a:r>
            <a:r>
              <a:rPr sz="2133" spc="339" dirty="0">
                <a:latin typeface="Century Schoolbook"/>
                <a:cs typeface="Century Schoolbook"/>
              </a:rPr>
              <a:t> </a:t>
            </a:r>
            <a:r>
              <a:rPr sz="2133" dirty="0">
                <a:latin typeface="Century Schoolbook"/>
                <a:cs typeface="Century Schoolbook"/>
              </a:rPr>
              <a:t>codons</a:t>
            </a:r>
            <a:r>
              <a:rPr sz="2133" spc="327" dirty="0">
                <a:latin typeface="Century Schoolbook"/>
                <a:cs typeface="Century Schoolbook"/>
              </a:rPr>
              <a:t> </a:t>
            </a:r>
            <a:r>
              <a:rPr sz="2133" dirty="0">
                <a:latin typeface="Century Schoolbook"/>
                <a:cs typeface="Century Schoolbook"/>
              </a:rPr>
              <a:t>that</a:t>
            </a:r>
            <a:r>
              <a:rPr sz="2133" spc="333" dirty="0">
                <a:latin typeface="Century Schoolbook"/>
                <a:cs typeface="Century Schoolbook"/>
              </a:rPr>
              <a:t> </a:t>
            </a:r>
            <a:r>
              <a:rPr sz="2133" dirty="0">
                <a:latin typeface="Century Schoolbook"/>
                <a:cs typeface="Century Schoolbook"/>
              </a:rPr>
              <a:t>do</a:t>
            </a:r>
            <a:r>
              <a:rPr sz="2133" spc="333" dirty="0">
                <a:latin typeface="Century Schoolbook"/>
                <a:cs typeface="Century Schoolbook"/>
              </a:rPr>
              <a:t> </a:t>
            </a:r>
            <a:r>
              <a:rPr sz="2133" dirty="0">
                <a:latin typeface="Century Schoolbook"/>
                <a:cs typeface="Century Schoolbook"/>
              </a:rPr>
              <a:t>not</a:t>
            </a:r>
            <a:r>
              <a:rPr sz="2133" spc="339" dirty="0">
                <a:latin typeface="Century Schoolbook"/>
                <a:cs typeface="Century Schoolbook"/>
              </a:rPr>
              <a:t> </a:t>
            </a:r>
            <a:r>
              <a:rPr sz="2133" dirty="0">
                <a:latin typeface="Century Schoolbook"/>
                <a:cs typeface="Century Schoolbook"/>
              </a:rPr>
              <a:t>specify</a:t>
            </a:r>
            <a:r>
              <a:rPr sz="2133" spc="333" dirty="0">
                <a:latin typeface="Century Schoolbook"/>
                <a:cs typeface="Century Schoolbook"/>
              </a:rPr>
              <a:t> </a:t>
            </a:r>
            <a:r>
              <a:rPr sz="2133" dirty="0">
                <a:latin typeface="Century Schoolbook"/>
                <a:cs typeface="Century Schoolbook"/>
              </a:rPr>
              <a:t>amino</a:t>
            </a:r>
            <a:r>
              <a:rPr sz="2133" spc="333" dirty="0">
                <a:latin typeface="Century Schoolbook"/>
                <a:cs typeface="Century Schoolbook"/>
              </a:rPr>
              <a:t> </a:t>
            </a:r>
            <a:r>
              <a:rPr sz="2133" dirty="0">
                <a:latin typeface="Century Schoolbook"/>
                <a:cs typeface="Century Schoolbook"/>
              </a:rPr>
              <a:t>acids.</a:t>
            </a:r>
            <a:r>
              <a:rPr sz="2133" spc="327" dirty="0">
                <a:latin typeface="Century Schoolbook"/>
                <a:cs typeface="Century Schoolbook"/>
              </a:rPr>
              <a:t> </a:t>
            </a:r>
            <a:r>
              <a:rPr sz="2133" dirty="0">
                <a:latin typeface="Century Schoolbook"/>
                <a:cs typeface="Century Schoolbook"/>
              </a:rPr>
              <a:t>These</a:t>
            </a:r>
            <a:r>
              <a:rPr sz="2133" spc="339" dirty="0">
                <a:latin typeface="Century Schoolbook"/>
                <a:cs typeface="Century Schoolbook"/>
              </a:rPr>
              <a:t> </a:t>
            </a:r>
            <a:r>
              <a:rPr sz="2133" dirty="0">
                <a:latin typeface="Century Schoolbook"/>
                <a:cs typeface="Century Schoolbook"/>
              </a:rPr>
              <a:t>stop</a:t>
            </a:r>
            <a:r>
              <a:rPr sz="2133" spc="333" dirty="0">
                <a:latin typeface="Century Schoolbook"/>
                <a:cs typeface="Century Schoolbook"/>
              </a:rPr>
              <a:t> </a:t>
            </a:r>
            <a:r>
              <a:rPr sz="2133" dirty="0">
                <a:latin typeface="Century Schoolbook"/>
                <a:cs typeface="Century Schoolbook"/>
              </a:rPr>
              <a:t>codons,</a:t>
            </a:r>
            <a:r>
              <a:rPr sz="2133" spc="327" dirty="0">
                <a:latin typeface="Century Schoolbook"/>
                <a:cs typeface="Century Schoolbook"/>
              </a:rPr>
              <a:t> </a:t>
            </a:r>
            <a:r>
              <a:rPr sz="2133" spc="-27" dirty="0">
                <a:latin typeface="Century Schoolbook"/>
                <a:cs typeface="Century Schoolbook"/>
              </a:rPr>
              <a:t>UAA, </a:t>
            </a:r>
            <a:r>
              <a:rPr sz="2133" dirty="0">
                <a:latin typeface="Century Schoolbook"/>
                <a:cs typeface="Century Schoolbook"/>
              </a:rPr>
              <a:t>UAG,</a:t>
            </a:r>
            <a:r>
              <a:rPr sz="2133" spc="13" dirty="0">
                <a:latin typeface="Century Schoolbook"/>
                <a:cs typeface="Century Schoolbook"/>
              </a:rPr>
              <a:t> </a:t>
            </a:r>
            <a:r>
              <a:rPr sz="2133" dirty="0">
                <a:latin typeface="Century Schoolbook"/>
                <a:cs typeface="Century Schoolbook"/>
              </a:rPr>
              <a:t>and</a:t>
            </a:r>
            <a:r>
              <a:rPr sz="2133" spc="20" dirty="0">
                <a:latin typeface="Century Schoolbook"/>
                <a:cs typeface="Century Schoolbook"/>
              </a:rPr>
              <a:t> </a:t>
            </a:r>
            <a:r>
              <a:rPr sz="2133" dirty="0">
                <a:latin typeface="Century Schoolbook"/>
                <a:cs typeface="Century Schoolbook"/>
              </a:rPr>
              <a:t>UGA,</a:t>
            </a:r>
            <a:r>
              <a:rPr sz="2133" spc="13" dirty="0">
                <a:latin typeface="Century Schoolbook"/>
                <a:cs typeface="Century Schoolbook"/>
              </a:rPr>
              <a:t> </a:t>
            </a:r>
            <a:r>
              <a:rPr sz="2133" dirty="0">
                <a:latin typeface="Century Schoolbook"/>
                <a:cs typeface="Century Schoolbook"/>
              </a:rPr>
              <a:t>tell</a:t>
            </a:r>
            <a:r>
              <a:rPr sz="2133" spc="20" dirty="0">
                <a:latin typeface="Century Schoolbook"/>
                <a:cs typeface="Century Schoolbook"/>
              </a:rPr>
              <a:t> </a:t>
            </a:r>
            <a:r>
              <a:rPr sz="2133" dirty="0">
                <a:latin typeface="Century Schoolbook"/>
                <a:cs typeface="Century Schoolbook"/>
              </a:rPr>
              <a:t>the</a:t>
            </a:r>
            <a:r>
              <a:rPr sz="2133" spc="13" dirty="0">
                <a:latin typeface="Century Schoolbook"/>
                <a:cs typeface="Century Schoolbook"/>
              </a:rPr>
              <a:t> </a:t>
            </a:r>
            <a:r>
              <a:rPr sz="2133" dirty="0">
                <a:latin typeface="Century Schoolbook"/>
                <a:cs typeface="Century Schoolbook"/>
              </a:rPr>
              <a:t>cell</a:t>
            </a:r>
            <a:r>
              <a:rPr sz="2133" spc="20" dirty="0">
                <a:latin typeface="Century Schoolbook"/>
                <a:cs typeface="Century Schoolbook"/>
              </a:rPr>
              <a:t> </a:t>
            </a:r>
            <a:r>
              <a:rPr sz="2133" dirty="0">
                <a:latin typeface="Century Schoolbook"/>
                <a:cs typeface="Century Schoolbook"/>
              </a:rPr>
              <a:t>when</a:t>
            </a:r>
            <a:r>
              <a:rPr sz="2133" spc="13" dirty="0">
                <a:latin typeface="Century Schoolbook"/>
                <a:cs typeface="Century Schoolbook"/>
              </a:rPr>
              <a:t> </a:t>
            </a:r>
            <a:r>
              <a:rPr sz="2133" dirty="0">
                <a:latin typeface="Century Schoolbook"/>
                <a:cs typeface="Century Schoolbook"/>
              </a:rPr>
              <a:t>a</a:t>
            </a:r>
            <a:r>
              <a:rPr sz="2133" spc="20" dirty="0">
                <a:latin typeface="Century Schoolbook"/>
                <a:cs typeface="Century Schoolbook"/>
              </a:rPr>
              <a:t> </a:t>
            </a:r>
            <a:r>
              <a:rPr sz="2133" dirty="0">
                <a:latin typeface="Century Schoolbook"/>
                <a:cs typeface="Century Schoolbook"/>
              </a:rPr>
              <a:t>polypeptide</a:t>
            </a:r>
            <a:r>
              <a:rPr sz="2133" spc="13" dirty="0">
                <a:latin typeface="Century Schoolbook"/>
                <a:cs typeface="Century Schoolbook"/>
              </a:rPr>
              <a:t> </a:t>
            </a:r>
            <a:r>
              <a:rPr sz="2133" dirty="0">
                <a:latin typeface="Century Schoolbook"/>
                <a:cs typeface="Century Schoolbook"/>
              </a:rPr>
              <a:t>is</a:t>
            </a:r>
            <a:r>
              <a:rPr sz="2133" spc="20" dirty="0">
                <a:latin typeface="Century Schoolbook"/>
                <a:cs typeface="Century Schoolbook"/>
              </a:rPr>
              <a:t> </a:t>
            </a:r>
            <a:r>
              <a:rPr sz="2133" spc="-13" dirty="0">
                <a:latin typeface="Century Schoolbook"/>
                <a:cs typeface="Century Schoolbook"/>
              </a:rPr>
              <a:t>complete.</a:t>
            </a:r>
            <a:r>
              <a:rPr sz="2133" spc="-93" dirty="0">
                <a:latin typeface="Century Schoolbook"/>
                <a:cs typeface="Century Schoolbook"/>
              </a:rPr>
              <a:t> </a:t>
            </a:r>
            <a:r>
              <a:rPr sz="2133" dirty="0">
                <a:latin typeface="Century Schoolbook"/>
                <a:cs typeface="Century Schoolbook"/>
              </a:rPr>
              <a:t>All</a:t>
            </a:r>
            <a:r>
              <a:rPr sz="2133" spc="13" dirty="0">
                <a:latin typeface="Century Schoolbook"/>
                <a:cs typeface="Century Schoolbook"/>
              </a:rPr>
              <a:t> </a:t>
            </a:r>
            <a:r>
              <a:rPr sz="2133" spc="-13" dirty="0">
                <a:latin typeface="Century Schoolbook"/>
                <a:cs typeface="Century Schoolbook"/>
              </a:rPr>
              <a:t>together,</a:t>
            </a:r>
            <a:r>
              <a:rPr sz="2133" spc="20" dirty="0">
                <a:latin typeface="Century Schoolbook"/>
                <a:cs typeface="Century Schoolbook"/>
              </a:rPr>
              <a:t> </a:t>
            </a:r>
            <a:r>
              <a:rPr sz="2133" dirty="0">
                <a:latin typeface="Century Schoolbook"/>
                <a:cs typeface="Century Schoolbook"/>
              </a:rPr>
              <a:t>this</a:t>
            </a:r>
            <a:r>
              <a:rPr sz="2133" spc="13" dirty="0">
                <a:latin typeface="Century Schoolbook"/>
                <a:cs typeface="Century Schoolbook"/>
              </a:rPr>
              <a:t> </a:t>
            </a:r>
            <a:r>
              <a:rPr sz="2133" dirty="0">
                <a:latin typeface="Century Schoolbook"/>
                <a:cs typeface="Century Schoolbook"/>
              </a:rPr>
              <a:t>collection</a:t>
            </a:r>
            <a:r>
              <a:rPr sz="2133" spc="20" dirty="0">
                <a:latin typeface="Century Schoolbook"/>
                <a:cs typeface="Century Schoolbook"/>
              </a:rPr>
              <a:t> </a:t>
            </a:r>
            <a:r>
              <a:rPr sz="2133" spc="-33" dirty="0">
                <a:latin typeface="Century Schoolbook"/>
                <a:cs typeface="Century Schoolbook"/>
              </a:rPr>
              <a:t>of </a:t>
            </a:r>
            <a:r>
              <a:rPr sz="2133" spc="-13" dirty="0">
                <a:latin typeface="Century Schoolbook"/>
                <a:cs typeface="Century Schoolbook"/>
              </a:rPr>
              <a:t>codon-</a:t>
            </a:r>
            <a:r>
              <a:rPr sz="2133" dirty="0">
                <a:latin typeface="Century Schoolbook"/>
                <a:cs typeface="Century Schoolbook"/>
              </a:rPr>
              <a:t>amino</a:t>
            </a:r>
            <a:r>
              <a:rPr sz="2133" spc="140" dirty="0">
                <a:latin typeface="Century Schoolbook"/>
                <a:cs typeface="Century Schoolbook"/>
              </a:rPr>
              <a:t> </a:t>
            </a:r>
            <a:r>
              <a:rPr sz="2133" dirty="0">
                <a:latin typeface="Century Schoolbook"/>
                <a:cs typeface="Century Schoolbook"/>
              </a:rPr>
              <a:t>acid</a:t>
            </a:r>
            <a:r>
              <a:rPr sz="2133" spc="140" dirty="0">
                <a:latin typeface="Century Schoolbook"/>
                <a:cs typeface="Century Schoolbook"/>
              </a:rPr>
              <a:t> </a:t>
            </a:r>
            <a:r>
              <a:rPr sz="2133" dirty="0">
                <a:latin typeface="Century Schoolbook"/>
                <a:cs typeface="Century Schoolbook"/>
              </a:rPr>
              <a:t>relationships</a:t>
            </a:r>
            <a:r>
              <a:rPr sz="2133" spc="140" dirty="0">
                <a:latin typeface="Century Schoolbook"/>
                <a:cs typeface="Century Schoolbook"/>
              </a:rPr>
              <a:t> </a:t>
            </a:r>
            <a:r>
              <a:rPr sz="2133" dirty="0">
                <a:latin typeface="Century Schoolbook"/>
                <a:cs typeface="Century Schoolbook"/>
              </a:rPr>
              <a:t>is</a:t>
            </a:r>
            <a:r>
              <a:rPr sz="2133" spc="140" dirty="0">
                <a:latin typeface="Century Schoolbook"/>
                <a:cs typeface="Century Schoolbook"/>
              </a:rPr>
              <a:t> </a:t>
            </a:r>
            <a:r>
              <a:rPr sz="2133" dirty="0">
                <a:latin typeface="Century Schoolbook"/>
                <a:cs typeface="Century Schoolbook"/>
              </a:rPr>
              <a:t>called</a:t>
            </a:r>
            <a:r>
              <a:rPr sz="2133" spc="140" dirty="0">
                <a:latin typeface="Century Schoolbook"/>
                <a:cs typeface="Century Schoolbook"/>
              </a:rPr>
              <a:t> </a:t>
            </a:r>
            <a:r>
              <a:rPr sz="2133" dirty="0">
                <a:latin typeface="Century Schoolbook"/>
                <a:cs typeface="Century Schoolbook"/>
              </a:rPr>
              <a:t>the</a:t>
            </a:r>
            <a:r>
              <a:rPr sz="2133" spc="140" dirty="0">
                <a:latin typeface="Century Schoolbook"/>
                <a:cs typeface="Century Schoolbook"/>
              </a:rPr>
              <a:t> </a:t>
            </a:r>
            <a:r>
              <a:rPr sz="2133" dirty="0">
                <a:latin typeface="Century Schoolbook"/>
                <a:cs typeface="Century Schoolbook"/>
              </a:rPr>
              <a:t>genetic</a:t>
            </a:r>
            <a:r>
              <a:rPr sz="2133" spc="147" dirty="0">
                <a:latin typeface="Century Schoolbook"/>
                <a:cs typeface="Century Schoolbook"/>
              </a:rPr>
              <a:t> </a:t>
            </a:r>
            <a:r>
              <a:rPr sz="2133" dirty="0">
                <a:latin typeface="Century Schoolbook"/>
                <a:cs typeface="Century Schoolbook"/>
              </a:rPr>
              <a:t>code,</a:t>
            </a:r>
            <a:r>
              <a:rPr sz="2133" spc="140" dirty="0">
                <a:latin typeface="Century Schoolbook"/>
                <a:cs typeface="Century Schoolbook"/>
              </a:rPr>
              <a:t> </a:t>
            </a:r>
            <a:r>
              <a:rPr sz="2133" dirty="0">
                <a:latin typeface="Century Schoolbook"/>
                <a:cs typeface="Century Schoolbook"/>
              </a:rPr>
              <a:t>because</a:t>
            </a:r>
            <a:r>
              <a:rPr sz="2133" spc="140" dirty="0">
                <a:latin typeface="Century Schoolbook"/>
                <a:cs typeface="Century Schoolbook"/>
              </a:rPr>
              <a:t> </a:t>
            </a:r>
            <a:r>
              <a:rPr sz="2133" dirty="0">
                <a:latin typeface="Century Schoolbook"/>
                <a:cs typeface="Century Schoolbook"/>
              </a:rPr>
              <a:t>it</a:t>
            </a:r>
            <a:r>
              <a:rPr sz="2133" spc="140" dirty="0">
                <a:latin typeface="Century Schoolbook"/>
                <a:cs typeface="Century Schoolbook"/>
              </a:rPr>
              <a:t> </a:t>
            </a:r>
            <a:r>
              <a:rPr lang="en-US" sz="2133" dirty="0" smtClean="0">
                <a:latin typeface="Century Schoolbook"/>
                <a:cs typeface="Century Schoolbook"/>
              </a:rPr>
              <a:t>tells</a:t>
            </a:r>
            <a:r>
              <a:rPr sz="2133" spc="140" dirty="0" smtClean="0">
                <a:latin typeface="Century Schoolbook"/>
                <a:cs typeface="Century Schoolbook"/>
              </a:rPr>
              <a:t> </a:t>
            </a:r>
            <a:r>
              <a:rPr sz="2133" dirty="0">
                <a:latin typeface="Century Schoolbook"/>
                <a:cs typeface="Century Schoolbook"/>
              </a:rPr>
              <a:t>cells</a:t>
            </a:r>
            <a:r>
              <a:rPr sz="2133" spc="140" dirty="0">
                <a:latin typeface="Century Schoolbook"/>
                <a:cs typeface="Century Schoolbook"/>
              </a:rPr>
              <a:t> </a:t>
            </a:r>
            <a:r>
              <a:rPr sz="2133" dirty="0">
                <a:latin typeface="Century Schoolbook"/>
                <a:cs typeface="Century Schoolbook"/>
              </a:rPr>
              <a:t>“decode”</a:t>
            </a:r>
            <a:r>
              <a:rPr sz="2133" spc="140" dirty="0">
                <a:latin typeface="Century Schoolbook"/>
                <a:cs typeface="Century Schoolbook"/>
              </a:rPr>
              <a:t> </a:t>
            </a:r>
            <a:r>
              <a:rPr sz="2133" spc="-33" dirty="0">
                <a:latin typeface="Century Schoolbook"/>
                <a:cs typeface="Century Schoolbook"/>
              </a:rPr>
              <a:t>an </a:t>
            </a:r>
            <a:r>
              <a:rPr sz="2133" dirty="0">
                <a:latin typeface="Century Schoolbook"/>
                <a:cs typeface="Century Schoolbook"/>
              </a:rPr>
              <a:t>mRNA</a:t>
            </a:r>
            <a:r>
              <a:rPr sz="2133" spc="-133" dirty="0">
                <a:latin typeface="Century Schoolbook"/>
                <a:cs typeface="Century Schoolbook"/>
              </a:rPr>
              <a:t> </a:t>
            </a:r>
            <a:r>
              <a:rPr sz="2133" dirty="0">
                <a:latin typeface="Century Schoolbook"/>
                <a:cs typeface="Century Schoolbook"/>
              </a:rPr>
              <a:t>into</a:t>
            </a:r>
            <a:r>
              <a:rPr sz="2133" spc="-20" dirty="0">
                <a:latin typeface="Century Schoolbook"/>
                <a:cs typeface="Century Schoolbook"/>
              </a:rPr>
              <a:t> </a:t>
            </a:r>
            <a:r>
              <a:rPr sz="2133" dirty="0">
                <a:latin typeface="Century Schoolbook"/>
                <a:cs typeface="Century Schoolbook"/>
              </a:rPr>
              <a:t>a</a:t>
            </a:r>
            <a:r>
              <a:rPr sz="2133" spc="-13" dirty="0">
                <a:latin typeface="Century Schoolbook"/>
                <a:cs typeface="Century Schoolbook"/>
              </a:rPr>
              <a:t> </a:t>
            </a:r>
            <a:r>
              <a:rPr sz="2133" dirty="0">
                <a:latin typeface="Century Schoolbook"/>
                <a:cs typeface="Century Schoolbook"/>
              </a:rPr>
              <a:t>chain</a:t>
            </a:r>
            <a:r>
              <a:rPr sz="2133" spc="-20" dirty="0">
                <a:latin typeface="Century Schoolbook"/>
                <a:cs typeface="Century Schoolbook"/>
              </a:rPr>
              <a:t> </a:t>
            </a:r>
            <a:r>
              <a:rPr sz="2133" dirty="0">
                <a:latin typeface="Century Schoolbook"/>
                <a:cs typeface="Century Schoolbook"/>
              </a:rPr>
              <a:t>of</a:t>
            </a:r>
            <a:r>
              <a:rPr sz="2133" spc="-13" dirty="0">
                <a:latin typeface="Century Schoolbook"/>
                <a:cs typeface="Century Schoolbook"/>
              </a:rPr>
              <a:t> </a:t>
            </a:r>
            <a:r>
              <a:rPr sz="2133" dirty="0">
                <a:latin typeface="Century Schoolbook"/>
                <a:cs typeface="Century Schoolbook"/>
              </a:rPr>
              <a:t>amino</a:t>
            </a:r>
            <a:r>
              <a:rPr sz="2133" spc="-20" dirty="0">
                <a:latin typeface="Century Schoolbook"/>
                <a:cs typeface="Century Schoolbook"/>
              </a:rPr>
              <a:t> </a:t>
            </a:r>
            <a:r>
              <a:rPr sz="2133" spc="-13" dirty="0">
                <a:latin typeface="Century Schoolbook"/>
                <a:cs typeface="Century Schoolbook"/>
              </a:rPr>
              <a:t>acids.</a:t>
            </a:r>
            <a:endParaRPr sz="2133" dirty="0">
              <a:latin typeface="Century Schoolbook"/>
              <a:cs typeface="Century Schoolbook"/>
            </a:endParaRP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53</a:t>
            </a:fld>
            <a:endParaRPr spc="40" dirty="0"/>
          </a:p>
        </p:txBody>
      </p:sp>
    </p:spTree>
    <p:extLst>
      <p:ext uri="{BB962C8B-B14F-4D97-AF65-F5344CB8AC3E}">
        <p14:creationId xmlns:p14="http://schemas.microsoft.com/office/powerpoint/2010/main" val="21973920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3200" y="653043"/>
            <a:ext cx="14020800" cy="694207"/>
          </a:xfrm>
          <a:prstGeom prst="rect">
            <a:avLst/>
          </a:prstGeom>
        </p:spPr>
        <p:txBody>
          <a:bodyPr vert="horz" wrap="square" lIns="0" tIns="16933" rIns="0" bIns="0" rtlCol="0" anchor="ctr">
            <a:spAutoFit/>
          </a:bodyPr>
          <a:lstStyle/>
          <a:p>
            <a:pPr marL="2933627">
              <a:lnSpc>
                <a:spcPct val="100000"/>
              </a:lnSpc>
              <a:spcBef>
                <a:spcPts val="133"/>
              </a:spcBef>
            </a:pPr>
            <a:r>
              <a:rPr spc="327" dirty="0"/>
              <a:t>Evidence</a:t>
            </a:r>
            <a:r>
              <a:rPr spc="187" dirty="0"/>
              <a:t> </a:t>
            </a:r>
            <a:r>
              <a:rPr spc="233" dirty="0"/>
              <a:t>of</a:t>
            </a:r>
            <a:r>
              <a:rPr spc="193" dirty="0"/>
              <a:t> </a:t>
            </a:r>
            <a:r>
              <a:rPr spc="300" dirty="0"/>
              <a:t>Evolution</a:t>
            </a:r>
          </a:p>
        </p:txBody>
      </p:sp>
      <p:grpSp>
        <p:nvGrpSpPr>
          <p:cNvPr id="3" name="object 3"/>
          <p:cNvGrpSpPr/>
          <p:nvPr/>
        </p:nvGrpSpPr>
        <p:grpSpPr>
          <a:xfrm>
            <a:off x="0" y="570713"/>
            <a:ext cx="11960013" cy="5594773"/>
            <a:chOff x="74012" y="874749"/>
            <a:chExt cx="8970010" cy="4196080"/>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993099"/>
              <a:ext cx="8955405" cy="4077970"/>
            </a:xfrm>
            <a:custGeom>
              <a:avLst/>
              <a:gdLst/>
              <a:ahLst/>
              <a:cxnLst/>
              <a:rect l="l" t="t" r="r" b="b"/>
              <a:pathLst>
                <a:path w="8955405" h="4077970">
                  <a:moveTo>
                    <a:pt x="4749" y="0"/>
                  </a:moveTo>
                  <a:lnTo>
                    <a:pt x="4749" y="4077424"/>
                  </a:lnTo>
                </a:path>
                <a:path w="8955405" h="4077970">
                  <a:moveTo>
                    <a:pt x="8950499" y="0"/>
                  </a:moveTo>
                  <a:lnTo>
                    <a:pt x="8950499" y="4077424"/>
                  </a:lnTo>
                </a:path>
                <a:path w="8955405" h="4077970">
                  <a:moveTo>
                    <a:pt x="0" y="4749"/>
                  </a:moveTo>
                  <a:lnTo>
                    <a:pt x="8955249" y="4749"/>
                  </a:lnTo>
                </a:path>
                <a:path w="8955405" h="4077970">
                  <a:moveTo>
                    <a:pt x="0" y="4072674"/>
                  </a:moveTo>
                  <a:lnTo>
                    <a:pt x="8955249" y="4072674"/>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43595" y="1416997"/>
            <a:ext cx="11585787" cy="2327539"/>
          </a:xfrm>
          <a:prstGeom prst="rect">
            <a:avLst/>
          </a:prstGeom>
        </p:spPr>
        <p:txBody>
          <a:bodyPr vert="horz" wrap="square" lIns="0" tIns="16933" rIns="0" bIns="0" rtlCol="0">
            <a:spAutoFit/>
          </a:bodyPr>
          <a:lstStyle/>
          <a:p>
            <a:pPr marL="485128" marR="6773" indent="-469042">
              <a:spcBef>
                <a:spcPts val="133"/>
              </a:spcBef>
              <a:buFont typeface="Arial"/>
              <a:buChar char="●"/>
              <a:tabLst>
                <a:tab pos="485128" algn="l"/>
              </a:tabLst>
            </a:pPr>
            <a:r>
              <a:rPr lang="en-US" sz="2133" dirty="0">
                <a:latin typeface="Calibri" panose="020F0502020204030204" pitchFamily="34" charset="0"/>
                <a:ea typeface="Calibri" panose="020F0502020204030204" pitchFamily="34" charset="0"/>
                <a:cs typeface="Calibri" panose="020F0502020204030204" pitchFamily="34" charset="0"/>
              </a:rPr>
              <a:t>Evolution is the process by which species </a:t>
            </a:r>
            <a:r>
              <a:rPr lang="en-US" sz="2133" b="1" dirty="0">
                <a:latin typeface="Calibri" panose="020F0502020204030204" pitchFamily="34" charset="0"/>
                <a:ea typeface="Calibri" panose="020F0502020204030204" pitchFamily="34" charset="0"/>
                <a:cs typeface="Calibri" panose="020F0502020204030204" pitchFamily="34" charset="0"/>
              </a:rPr>
              <a:t>change over time</a:t>
            </a:r>
            <a:r>
              <a:rPr lang="en-US" sz="2133" dirty="0">
                <a:latin typeface="Calibri" panose="020F0502020204030204" pitchFamily="34" charset="0"/>
                <a:ea typeface="Calibri" panose="020F0502020204030204" pitchFamily="34" charset="0"/>
                <a:cs typeface="Calibri" panose="020F0502020204030204" pitchFamily="34" charset="0"/>
              </a:rPr>
              <a:t>, giving rise to new forms while sharing common ancestry with earlier organisms.</a:t>
            </a:r>
          </a:p>
          <a:p>
            <a:pPr marL="485128" marR="6773" indent="-469042">
              <a:spcBef>
                <a:spcPts val="133"/>
              </a:spcBef>
              <a:buFont typeface="Arial"/>
              <a:buChar char="●"/>
              <a:tabLst>
                <a:tab pos="485128" algn="l"/>
              </a:tabLst>
            </a:pP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Four</a:t>
            </a:r>
            <a:r>
              <a:rPr sz="2133" b="1" spc="-3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sources</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of</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 evidences:</a:t>
            </a:r>
            <a:endParaRPr sz="2133" dirty="0">
              <a:latin typeface="Calibri" panose="020F0502020204030204" pitchFamily="34" charset="0"/>
              <a:ea typeface="Calibri" panose="020F0502020204030204" pitchFamily="34" charset="0"/>
              <a:cs typeface="Calibri" panose="020F0502020204030204" pitchFamily="34" charset="0"/>
            </a:endParaRPr>
          </a:p>
          <a:p>
            <a:pPr marL="1704297" lvl="1" indent="-500367">
              <a:buAutoNum type="romanUcPeriod"/>
              <a:tabLst>
                <a:tab pos="1704297" algn="l"/>
              </a:tabLst>
            </a:pP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Fossil</a:t>
            </a:r>
            <a:r>
              <a:rPr sz="2133" b="1" spc="-40"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Record</a:t>
            </a:r>
            <a:endParaRPr sz="2133" dirty="0">
              <a:latin typeface="Calibri" panose="020F0502020204030204" pitchFamily="34" charset="0"/>
              <a:ea typeface="Calibri" panose="020F0502020204030204" pitchFamily="34" charset="0"/>
              <a:cs typeface="Calibri" panose="020F0502020204030204" pitchFamily="34" charset="0"/>
            </a:endParaRPr>
          </a:p>
          <a:p>
            <a:pPr marL="1704297" lvl="1" indent="-620591">
              <a:buAutoNum type="romanUcPeriod"/>
              <a:tabLst>
                <a:tab pos="1704297" algn="l"/>
              </a:tabLst>
            </a:pP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Geographical</a:t>
            </a:r>
            <a:r>
              <a:rPr sz="2133" b="1" spc="-7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Distribution</a:t>
            </a:r>
            <a:r>
              <a:rPr sz="2133" b="1" spc="-7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of</a:t>
            </a:r>
            <a:r>
              <a:rPr sz="2133" b="1" spc="-67"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Related</a:t>
            </a:r>
            <a:r>
              <a:rPr sz="2133" b="1" spc="-7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Species</a:t>
            </a:r>
            <a:endParaRPr sz="2133" dirty="0">
              <a:latin typeface="Calibri" panose="020F0502020204030204" pitchFamily="34" charset="0"/>
              <a:ea typeface="Calibri" panose="020F0502020204030204" pitchFamily="34" charset="0"/>
              <a:cs typeface="Calibri" panose="020F0502020204030204" pitchFamily="34" charset="0"/>
            </a:endParaRPr>
          </a:p>
          <a:p>
            <a:pPr marL="1704297" lvl="1" indent="-740815">
              <a:buAutoNum type="romanUcPeriod"/>
              <a:tabLst>
                <a:tab pos="1704297" algn="l"/>
              </a:tabLst>
            </a:pP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Homologous</a:t>
            </a:r>
            <a:r>
              <a:rPr sz="2133" b="1" spc="-20"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body</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 structures</a:t>
            </a:r>
            <a:endParaRPr sz="2133" dirty="0">
              <a:latin typeface="Calibri" panose="020F0502020204030204" pitchFamily="34" charset="0"/>
              <a:ea typeface="Calibri" panose="020F0502020204030204" pitchFamily="34" charset="0"/>
              <a:cs typeface="Calibri" panose="020F0502020204030204" pitchFamily="34" charset="0"/>
            </a:endParaRPr>
          </a:p>
          <a:p>
            <a:pPr marL="1704297" lvl="1" indent="-671390">
              <a:buAutoNum type="romanUcPeriod"/>
              <a:tabLst>
                <a:tab pos="1704297" algn="l"/>
              </a:tabLst>
            </a:pP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Similarities</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dirty="0">
                <a:solidFill>
                  <a:srgbClr val="212529"/>
                </a:solidFill>
                <a:latin typeface="Calibri" panose="020F0502020204030204" pitchFamily="34" charset="0"/>
                <a:ea typeface="Calibri" panose="020F0502020204030204" pitchFamily="34" charset="0"/>
                <a:cs typeface="Calibri" panose="020F0502020204030204" pitchFamily="34" charset="0"/>
              </a:rPr>
              <a:t>in</a:t>
            </a:r>
            <a:r>
              <a:rPr sz="2133" b="1" spc="-7" dirty="0">
                <a:solidFill>
                  <a:srgbClr val="212529"/>
                </a:solidFill>
                <a:latin typeface="Calibri" panose="020F0502020204030204" pitchFamily="34" charset="0"/>
                <a:ea typeface="Calibri" panose="020F0502020204030204" pitchFamily="34" charset="0"/>
                <a:cs typeface="Calibri" panose="020F0502020204030204" pitchFamily="34" charset="0"/>
              </a:rPr>
              <a:t> </a:t>
            </a:r>
            <a:r>
              <a:rPr sz="2133" b="1" spc="-13" dirty="0">
                <a:solidFill>
                  <a:srgbClr val="212529"/>
                </a:solidFill>
                <a:latin typeface="Calibri" panose="020F0502020204030204" pitchFamily="34" charset="0"/>
                <a:ea typeface="Calibri" panose="020F0502020204030204" pitchFamily="34" charset="0"/>
                <a:cs typeface="Calibri" panose="020F0502020204030204" pitchFamily="34" charset="0"/>
              </a:rPr>
              <a:t>embryology</a:t>
            </a:r>
            <a:endParaRPr sz="2133" dirty="0">
              <a:latin typeface="Calibri" panose="020F0502020204030204" pitchFamily="34" charset="0"/>
              <a:ea typeface="Calibri" panose="020F0502020204030204" pitchFamily="34" charset="0"/>
              <a:cs typeface="Calibri" panose="020F0502020204030204" pitchFamily="34" charset="0"/>
            </a:endParaRP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54</a:t>
            </a:fld>
            <a:endParaRPr spc="40" dirty="0"/>
          </a:p>
        </p:txBody>
      </p:sp>
    </p:spTree>
    <p:extLst>
      <p:ext uri="{BB962C8B-B14F-4D97-AF65-F5344CB8AC3E}">
        <p14:creationId xmlns:p14="http://schemas.microsoft.com/office/powerpoint/2010/main" val="32193172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1750" y="660074"/>
            <a:ext cx="14020800" cy="694207"/>
          </a:xfrm>
          <a:prstGeom prst="rect">
            <a:avLst/>
          </a:prstGeom>
        </p:spPr>
        <p:txBody>
          <a:bodyPr vert="horz" wrap="square" lIns="0" tIns="16933" rIns="0" bIns="0" rtlCol="0" anchor="ctr">
            <a:spAutoFit/>
          </a:bodyPr>
          <a:lstStyle/>
          <a:p>
            <a:pPr marL="2933627">
              <a:lnSpc>
                <a:spcPct val="100000"/>
              </a:lnSpc>
              <a:spcBef>
                <a:spcPts val="133"/>
              </a:spcBef>
            </a:pPr>
            <a:r>
              <a:rPr spc="327" dirty="0"/>
              <a:t>Evidence</a:t>
            </a:r>
            <a:r>
              <a:rPr spc="187" dirty="0"/>
              <a:t> </a:t>
            </a:r>
            <a:r>
              <a:rPr spc="233" dirty="0"/>
              <a:t>of</a:t>
            </a:r>
            <a:r>
              <a:rPr spc="193" dirty="0"/>
              <a:t> </a:t>
            </a:r>
            <a:r>
              <a:rPr spc="300" dirty="0"/>
              <a:t>Evolution</a:t>
            </a:r>
          </a:p>
        </p:txBody>
      </p:sp>
      <p:grpSp>
        <p:nvGrpSpPr>
          <p:cNvPr id="3" name="object 3"/>
          <p:cNvGrpSpPr/>
          <p:nvPr/>
        </p:nvGrpSpPr>
        <p:grpSpPr>
          <a:xfrm>
            <a:off x="-83819" y="461657"/>
            <a:ext cx="11965940" cy="5692140"/>
            <a:chOff x="69262" y="874749"/>
            <a:chExt cx="8974455" cy="4269105"/>
          </a:xfrm>
        </p:grpSpPr>
        <p:sp>
          <p:nvSpPr>
            <p:cNvPr id="4" name="object 4"/>
            <p:cNvSpPr/>
            <p:nvPr/>
          </p:nvSpPr>
          <p:spPr>
            <a:xfrm>
              <a:off x="278024" y="8937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02" y="993101"/>
              <a:ext cx="8955405" cy="4150995"/>
            </a:xfrm>
            <a:custGeom>
              <a:avLst/>
              <a:gdLst/>
              <a:ahLst/>
              <a:cxnLst/>
              <a:rect l="l" t="t" r="r" b="b"/>
              <a:pathLst>
                <a:path w="8955405" h="4150995">
                  <a:moveTo>
                    <a:pt x="9525" y="0"/>
                  </a:moveTo>
                  <a:lnTo>
                    <a:pt x="0" y="0"/>
                  </a:lnTo>
                  <a:lnTo>
                    <a:pt x="0" y="4150398"/>
                  </a:lnTo>
                  <a:lnTo>
                    <a:pt x="9525" y="4150398"/>
                  </a:lnTo>
                  <a:lnTo>
                    <a:pt x="9525" y="0"/>
                  </a:lnTo>
                  <a:close/>
                </a:path>
                <a:path w="8955405" h="4150995">
                  <a:moveTo>
                    <a:pt x="8955278" y="0"/>
                  </a:moveTo>
                  <a:lnTo>
                    <a:pt x="8945753" y="0"/>
                  </a:lnTo>
                  <a:lnTo>
                    <a:pt x="8945753" y="4150398"/>
                  </a:lnTo>
                  <a:lnTo>
                    <a:pt x="8955278" y="4150398"/>
                  </a:lnTo>
                  <a:lnTo>
                    <a:pt x="8955278" y="0"/>
                  </a:lnTo>
                  <a:close/>
                </a:path>
              </a:pathLst>
            </a:custGeom>
            <a:solidFill>
              <a:srgbClr val="9E9E9E"/>
            </a:solidFill>
          </p:spPr>
          <p:txBody>
            <a:bodyPr wrap="square" lIns="0" tIns="0" rIns="0" bIns="0" rtlCol="0"/>
            <a:lstStyle/>
            <a:p>
              <a:endParaRPr sz="2400"/>
            </a:p>
          </p:txBody>
        </p:sp>
        <p:sp>
          <p:nvSpPr>
            <p:cNvPr id="6" name="object 6"/>
            <p:cNvSpPr/>
            <p:nvPr/>
          </p:nvSpPr>
          <p:spPr>
            <a:xfrm>
              <a:off x="74024" y="997849"/>
              <a:ext cx="8955405" cy="0"/>
            </a:xfrm>
            <a:custGeom>
              <a:avLst/>
              <a:gdLst/>
              <a:ahLst/>
              <a:cxnLst/>
              <a:rect l="l" t="t" r="r" b="b"/>
              <a:pathLst>
                <a:path w="8955405">
                  <a:moveTo>
                    <a:pt x="0" y="0"/>
                  </a:moveTo>
                  <a:lnTo>
                    <a:pt x="8955249" y="0"/>
                  </a:lnTo>
                </a:path>
              </a:pathLst>
            </a:custGeom>
            <a:ln w="9524">
              <a:solidFill>
                <a:srgbClr val="9E9E9E"/>
              </a:solidFill>
            </a:ln>
          </p:spPr>
          <p:txBody>
            <a:bodyPr wrap="square" lIns="0" tIns="0" rIns="0" bIns="0" rtlCol="0"/>
            <a:lstStyle/>
            <a:p>
              <a:endParaRPr sz="2400"/>
            </a:p>
          </p:txBody>
        </p:sp>
      </p:grpSp>
      <p:sp>
        <p:nvSpPr>
          <p:cNvPr id="7" name="object 7"/>
          <p:cNvSpPr txBox="1"/>
          <p:nvPr/>
        </p:nvSpPr>
        <p:spPr>
          <a:xfrm>
            <a:off x="343595" y="1416997"/>
            <a:ext cx="8365067" cy="1986484"/>
          </a:xfrm>
          <a:prstGeom prst="rect">
            <a:avLst/>
          </a:prstGeom>
        </p:spPr>
        <p:txBody>
          <a:bodyPr vert="horz" wrap="square" lIns="0" tIns="16933" rIns="0" bIns="0" rtlCol="0">
            <a:spAutoFit/>
          </a:bodyPr>
          <a:lstStyle/>
          <a:p>
            <a:pPr marL="485128" indent="-468195">
              <a:spcBef>
                <a:spcPts val="133"/>
              </a:spcBef>
              <a:buFont typeface="Arial"/>
              <a:buChar char="●"/>
              <a:tabLst>
                <a:tab pos="485128" algn="l"/>
              </a:tabLst>
            </a:pPr>
            <a:r>
              <a:rPr sz="2133" b="1" dirty="0">
                <a:solidFill>
                  <a:srgbClr val="212529"/>
                </a:solidFill>
                <a:latin typeface="Century Schoolbook Bold"/>
                <a:cs typeface="Century Schoolbook Bold"/>
              </a:rPr>
              <a:t>The</a:t>
            </a:r>
            <a:r>
              <a:rPr sz="2133" b="1" spc="-7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mechanism</a:t>
            </a:r>
            <a:r>
              <a:rPr sz="2133" b="1" spc="-7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through</a:t>
            </a:r>
            <a:r>
              <a:rPr sz="2133" b="1" spc="-7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which</a:t>
            </a:r>
            <a:r>
              <a:rPr sz="2133" b="1" spc="-7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evolution</a:t>
            </a:r>
            <a:r>
              <a:rPr sz="2133" b="1" spc="-73" dirty="0">
                <a:solidFill>
                  <a:srgbClr val="212529"/>
                </a:solidFill>
                <a:latin typeface="Century Schoolbook Bold"/>
                <a:cs typeface="Century Schoolbook Bold"/>
              </a:rPr>
              <a:t> </a:t>
            </a:r>
            <a:r>
              <a:rPr sz="2133" b="1" dirty="0">
                <a:solidFill>
                  <a:srgbClr val="212529"/>
                </a:solidFill>
                <a:latin typeface="Century Schoolbook Bold"/>
                <a:cs typeface="Century Schoolbook Bold"/>
              </a:rPr>
              <a:t>occur</a:t>
            </a:r>
            <a:r>
              <a:rPr sz="2133" b="1" spc="-7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include:</a:t>
            </a:r>
            <a:endParaRPr sz="2133">
              <a:latin typeface="Century Schoolbook Bold"/>
              <a:cs typeface="Century Schoolbook Bold"/>
            </a:endParaRPr>
          </a:p>
          <a:p>
            <a:pPr marL="1094713" lvl="1" indent="-585879">
              <a:buAutoNum type="alphaUcPeriod"/>
              <a:tabLst>
                <a:tab pos="1094713" algn="l"/>
              </a:tabLst>
            </a:pPr>
            <a:r>
              <a:rPr sz="2133" b="1" dirty="0">
                <a:solidFill>
                  <a:srgbClr val="212529"/>
                </a:solidFill>
                <a:latin typeface="Century Schoolbook Bold"/>
                <a:cs typeface="Century Schoolbook Bold"/>
              </a:rPr>
              <a:t>Natural</a:t>
            </a:r>
            <a:r>
              <a:rPr sz="2133" b="1" spc="-133"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Selection</a:t>
            </a:r>
            <a:endParaRPr sz="2133">
              <a:latin typeface="Century Schoolbook Bold"/>
              <a:cs typeface="Century Schoolbook Bold"/>
            </a:endParaRPr>
          </a:p>
          <a:p>
            <a:pPr marL="1094713" lvl="1" indent="-590959">
              <a:buAutoNum type="alphaUcPeriod"/>
              <a:tabLst>
                <a:tab pos="1094713" algn="l"/>
              </a:tabLst>
            </a:pPr>
            <a:r>
              <a:rPr sz="2133" b="1" spc="-13" dirty="0">
                <a:solidFill>
                  <a:srgbClr val="212529"/>
                </a:solidFill>
                <a:latin typeface="Century Schoolbook Bold"/>
                <a:cs typeface="Century Schoolbook Bold"/>
              </a:rPr>
              <a:t>Mutation</a:t>
            </a:r>
            <a:endParaRPr sz="2133">
              <a:latin typeface="Century Schoolbook Bold"/>
              <a:cs typeface="Century Schoolbook Bold"/>
            </a:endParaRPr>
          </a:p>
          <a:p>
            <a:pPr marL="1094713" lvl="1" indent="-590959">
              <a:buAutoNum type="alphaUcPeriod"/>
              <a:tabLst>
                <a:tab pos="1094713" algn="l"/>
              </a:tabLst>
            </a:pPr>
            <a:r>
              <a:rPr sz="2133" b="1" dirty="0">
                <a:solidFill>
                  <a:srgbClr val="212529"/>
                </a:solidFill>
                <a:latin typeface="Century Schoolbook Bold"/>
                <a:cs typeface="Century Schoolbook Bold"/>
              </a:rPr>
              <a:t>Sexual</a:t>
            </a:r>
            <a:r>
              <a:rPr sz="2133" b="1" spc="-40" dirty="0">
                <a:solidFill>
                  <a:srgbClr val="212529"/>
                </a:solidFill>
                <a:latin typeface="Century Schoolbook Bold"/>
                <a:cs typeface="Century Schoolbook Bold"/>
              </a:rPr>
              <a:t> </a:t>
            </a:r>
            <a:r>
              <a:rPr sz="2133" b="1" spc="-13" dirty="0">
                <a:solidFill>
                  <a:srgbClr val="212529"/>
                </a:solidFill>
                <a:latin typeface="Century Schoolbook Bold"/>
                <a:cs typeface="Century Schoolbook Bold"/>
              </a:rPr>
              <a:t>Recombination</a:t>
            </a:r>
            <a:endParaRPr sz="2133">
              <a:latin typeface="Century Schoolbook Bold"/>
              <a:cs typeface="Century Schoolbook Bold"/>
            </a:endParaRPr>
          </a:p>
          <a:p>
            <a:pPr marL="1094713" lvl="1" indent="-606197">
              <a:buAutoNum type="alphaUcPeriod"/>
              <a:tabLst>
                <a:tab pos="1094713" algn="l"/>
              </a:tabLst>
            </a:pPr>
            <a:r>
              <a:rPr sz="2133" b="1" spc="-13" dirty="0">
                <a:solidFill>
                  <a:srgbClr val="212529"/>
                </a:solidFill>
                <a:latin typeface="Century Schoolbook Bold"/>
                <a:cs typeface="Century Schoolbook Bold"/>
              </a:rPr>
              <a:t>Divergence</a:t>
            </a:r>
            <a:endParaRPr sz="2133">
              <a:latin typeface="Century Schoolbook Bold"/>
              <a:cs typeface="Century Schoolbook Bold"/>
            </a:endParaRPr>
          </a:p>
          <a:p>
            <a:pPr marL="1094713" lvl="1" indent="-585879">
              <a:buAutoNum type="alphaUcPeriod"/>
              <a:tabLst>
                <a:tab pos="1094713" algn="l"/>
              </a:tabLst>
            </a:pPr>
            <a:r>
              <a:rPr sz="2133" b="1" spc="-13" dirty="0">
                <a:solidFill>
                  <a:srgbClr val="212529"/>
                </a:solidFill>
                <a:latin typeface="Century Schoolbook Bold"/>
                <a:cs typeface="Century Schoolbook Bold"/>
              </a:rPr>
              <a:t>Convergence</a:t>
            </a:r>
            <a:endParaRPr sz="2133">
              <a:latin typeface="Century Schoolbook Bold"/>
              <a:cs typeface="Century Schoolbook Bold"/>
            </a:endParaRPr>
          </a:p>
        </p:txBody>
      </p:sp>
      <p:sp>
        <p:nvSpPr>
          <p:cNvPr id="9" name="object 9"/>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55</a:t>
            </a:fld>
            <a:endParaRPr spc="40" dirty="0"/>
          </a:p>
        </p:txBody>
      </p:sp>
      <p:pic>
        <p:nvPicPr>
          <p:cNvPr id="10" name="Picture 9"/>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69223" y="1809974"/>
            <a:ext cx="6662346" cy="4985273"/>
          </a:xfrm>
          <a:prstGeom prst="rect">
            <a:avLst/>
          </a:prstGeom>
        </p:spPr>
      </p:pic>
    </p:spTree>
    <p:extLst>
      <p:ext uri="{BB962C8B-B14F-4D97-AF65-F5344CB8AC3E}">
        <p14:creationId xmlns:p14="http://schemas.microsoft.com/office/powerpoint/2010/main" val="1289441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1589" y="471734"/>
            <a:ext cx="14020800" cy="694207"/>
          </a:xfrm>
          <a:prstGeom prst="rect">
            <a:avLst/>
          </a:prstGeom>
        </p:spPr>
        <p:txBody>
          <a:bodyPr vert="horz" wrap="square" lIns="0" tIns="16933" rIns="0" bIns="0" rtlCol="0" anchor="ctr">
            <a:spAutoFit/>
          </a:bodyPr>
          <a:lstStyle/>
          <a:p>
            <a:pPr marL="2933627">
              <a:lnSpc>
                <a:spcPct val="100000"/>
              </a:lnSpc>
              <a:spcBef>
                <a:spcPts val="133"/>
              </a:spcBef>
            </a:pPr>
            <a:r>
              <a:rPr spc="327" dirty="0"/>
              <a:t>Evidence</a:t>
            </a:r>
            <a:r>
              <a:rPr spc="187" dirty="0"/>
              <a:t> </a:t>
            </a:r>
            <a:r>
              <a:rPr spc="233" dirty="0"/>
              <a:t>of</a:t>
            </a:r>
            <a:r>
              <a:rPr spc="193" dirty="0"/>
              <a:t> </a:t>
            </a:r>
            <a:r>
              <a:rPr spc="300" dirty="0"/>
              <a:t>Evolution</a:t>
            </a: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56</a:t>
            </a:fld>
            <a:endParaRPr spc="4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44705" y="1229028"/>
            <a:ext cx="9499349" cy="5346224"/>
          </a:xfrm>
          <a:prstGeom prst="rect">
            <a:avLst/>
          </a:prstGeom>
        </p:spPr>
      </p:pic>
    </p:spTree>
    <p:extLst>
      <p:ext uri="{BB962C8B-B14F-4D97-AF65-F5344CB8AC3E}">
        <p14:creationId xmlns:p14="http://schemas.microsoft.com/office/powerpoint/2010/main" val="186624145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7193" y="655478"/>
            <a:ext cx="14020800" cy="694207"/>
          </a:xfrm>
          <a:prstGeom prst="rect">
            <a:avLst/>
          </a:prstGeom>
        </p:spPr>
        <p:txBody>
          <a:bodyPr vert="horz" wrap="square" lIns="0" tIns="16933" rIns="0" bIns="0" rtlCol="0" anchor="ctr">
            <a:spAutoFit/>
          </a:bodyPr>
          <a:lstStyle/>
          <a:p>
            <a:pPr marL="3306997">
              <a:lnSpc>
                <a:spcPct val="100000"/>
              </a:lnSpc>
              <a:spcBef>
                <a:spcPts val="133"/>
              </a:spcBef>
            </a:pPr>
            <a:r>
              <a:rPr spc="360" dirty="0"/>
              <a:t>Types</a:t>
            </a:r>
            <a:r>
              <a:rPr spc="193" dirty="0"/>
              <a:t> </a:t>
            </a:r>
            <a:r>
              <a:rPr spc="233" dirty="0"/>
              <a:t>of</a:t>
            </a:r>
            <a:r>
              <a:rPr spc="200" dirty="0"/>
              <a:t> </a:t>
            </a:r>
            <a:r>
              <a:rPr spc="300" dirty="0"/>
              <a:t>Evolution</a:t>
            </a:r>
          </a:p>
        </p:txBody>
      </p:sp>
      <p:grpSp>
        <p:nvGrpSpPr>
          <p:cNvPr id="3" name="object 3"/>
          <p:cNvGrpSpPr/>
          <p:nvPr/>
        </p:nvGrpSpPr>
        <p:grpSpPr>
          <a:xfrm>
            <a:off x="22054" y="451403"/>
            <a:ext cx="11960013" cy="5797973"/>
            <a:chOff x="74012" y="722349"/>
            <a:chExt cx="8970010" cy="4348480"/>
          </a:xfrm>
        </p:grpSpPr>
        <p:sp>
          <p:nvSpPr>
            <p:cNvPr id="4" name="object 4"/>
            <p:cNvSpPr/>
            <p:nvPr/>
          </p:nvSpPr>
          <p:spPr>
            <a:xfrm>
              <a:off x="278024" y="7413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5" y="844024"/>
              <a:ext cx="8955405" cy="4226560"/>
            </a:xfrm>
            <a:custGeom>
              <a:avLst/>
              <a:gdLst/>
              <a:ahLst/>
              <a:cxnLst/>
              <a:rect l="l" t="t" r="r" b="b"/>
              <a:pathLst>
                <a:path w="8955405" h="4226560">
                  <a:moveTo>
                    <a:pt x="4749" y="0"/>
                  </a:moveTo>
                  <a:lnTo>
                    <a:pt x="4749" y="4226499"/>
                  </a:lnTo>
                </a:path>
                <a:path w="8955405" h="4226560">
                  <a:moveTo>
                    <a:pt x="8950499" y="0"/>
                  </a:moveTo>
                  <a:lnTo>
                    <a:pt x="8950499" y="4226499"/>
                  </a:lnTo>
                </a:path>
                <a:path w="8955405" h="4226560">
                  <a:moveTo>
                    <a:pt x="0" y="4749"/>
                  </a:moveTo>
                  <a:lnTo>
                    <a:pt x="8955249" y="4749"/>
                  </a:lnTo>
                </a:path>
                <a:path w="8955405" h="4226560">
                  <a:moveTo>
                    <a:pt x="0" y="4221749"/>
                  </a:moveTo>
                  <a:lnTo>
                    <a:pt x="8955249" y="4221749"/>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71963" y="1443754"/>
            <a:ext cx="11584940" cy="2438402"/>
          </a:xfrm>
          <a:prstGeom prst="rect">
            <a:avLst/>
          </a:prstGeom>
          <a:solidFill>
            <a:schemeClr val="accent6">
              <a:lumMod val="20000"/>
              <a:lumOff val="80000"/>
            </a:schemeClr>
          </a:solidFill>
        </p:spPr>
        <p:txBody>
          <a:bodyPr vert="horz" wrap="square" lIns="0" tIns="16933" rIns="0" bIns="0" rtlCol="0">
            <a:spAutoFit/>
          </a:bodyPr>
          <a:lstStyle/>
          <a:p>
            <a:pPr marL="485128" indent="-468195">
              <a:spcBef>
                <a:spcPts val="133"/>
              </a:spcBef>
              <a:buFont typeface="Arial"/>
              <a:buChar char="●"/>
              <a:tabLst>
                <a:tab pos="485128" algn="l"/>
              </a:tabLst>
            </a:pPr>
            <a:r>
              <a:rPr sz="2133" b="1" dirty="0">
                <a:solidFill>
                  <a:srgbClr val="212529"/>
                </a:solidFill>
                <a:latin typeface="Times New Roman" panose="02020603050405020304" pitchFamily="18" charset="0"/>
                <a:cs typeface="Times New Roman" panose="02020603050405020304" pitchFamily="18" charset="0"/>
              </a:rPr>
              <a:t>Evolution</a:t>
            </a:r>
            <a:r>
              <a:rPr sz="2133" b="1" spc="-53" dirty="0">
                <a:solidFill>
                  <a:srgbClr val="212529"/>
                </a:solidFill>
                <a:latin typeface="Times New Roman" panose="02020603050405020304" pitchFamily="18" charset="0"/>
                <a:cs typeface="Times New Roman" panose="02020603050405020304" pitchFamily="18" charset="0"/>
              </a:rPr>
              <a:t> </a:t>
            </a:r>
            <a:r>
              <a:rPr sz="2133" b="1" dirty="0">
                <a:solidFill>
                  <a:srgbClr val="212529"/>
                </a:solidFill>
                <a:latin typeface="Times New Roman" panose="02020603050405020304" pitchFamily="18" charset="0"/>
                <a:cs typeface="Times New Roman" panose="02020603050405020304" pitchFamily="18" charset="0"/>
              </a:rPr>
              <a:t>can</a:t>
            </a:r>
            <a:r>
              <a:rPr sz="2133" b="1" spc="-53" dirty="0">
                <a:solidFill>
                  <a:srgbClr val="212529"/>
                </a:solidFill>
                <a:latin typeface="Times New Roman" panose="02020603050405020304" pitchFamily="18" charset="0"/>
                <a:cs typeface="Times New Roman" panose="02020603050405020304" pitchFamily="18" charset="0"/>
              </a:rPr>
              <a:t> </a:t>
            </a:r>
            <a:r>
              <a:rPr sz="2133" b="1" dirty="0">
                <a:solidFill>
                  <a:srgbClr val="212529"/>
                </a:solidFill>
                <a:latin typeface="Times New Roman" panose="02020603050405020304" pitchFamily="18" charset="0"/>
                <a:cs typeface="Times New Roman" panose="02020603050405020304" pitchFamily="18" charset="0"/>
              </a:rPr>
              <a:t>be</a:t>
            </a:r>
            <a:r>
              <a:rPr sz="2133" b="1" spc="-53" dirty="0">
                <a:solidFill>
                  <a:srgbClr val="212529"/>
                </a:solidFill>
                <a:latin typeface="Times New Roman" panose="02020603050405020304" pitchFamily="18" charset="0"/>
                <a:cs typeface="Times New Roman" panose="02020603050405020304" pitchFamily="18" charset="0"/>
              </a:rPr>
              <a:t> </a:t>
            </a:r>
            <a:r>
              <a:rPr sz="2133" b="1" dirty="0">
                <a:solidFill>
                  <a:srgbClr val="212529"/>
                </a:solidFill>
                <a:latin typeface="Times New Roman" panose="02020603050405020304" pitchFamily="18" charset="0"/>
                <a:cs typeface="Times New Roman" panose="02020603050405020304" pitchFamily="18" charset="0"/>
              </a:rPr>
              <a:t>of</a:t>
            </a:r>
            <a:r>
              <a:rPr sz="2133" b="1" spc="-53" dirty="0">
                <a:solidFill>
                  <a:srgbClr val="212529"/>
                </a:solidFill>
                <a:latin typeface="Times New Roman" panose="02020603050405020304" pitchFamily="18" charset="0"/>
                <a:cs typeface="Times New Roman" panose="02020603050405020304" pitchFamily="18" charset="0"/>
              </a:rPr>
              <a:t> </a:t>
            </a:r>
            <a:r>
              <a:rPr sz="2133" b="1" dirty="0">
                <a:solidFill>
                  <a:srgbClr val="212529"/>
                </a:solidFill>
                <a:latin typeface="Times New Roman" panose="02020603050405020304" pitchFamily="18" charset="0"/>
                <a:cs typeface="Times New Roman" panose="02020603050405020304" pitchFamily="18" charset="0"/>
              </a:rPr>
              <a:t>several</a:t>
            </a:r>
            <a:r>
              <a:rPr sz="2133" b="1" spc="-47" dirty="0">
                <a:solidFill>
                  <a:srgbClr val="212529"/>
                </a:solidFill>
                <a:latin typeface="Times New Roman" panose="02020603050405020304" pitchFamily="18" charset="0"/>
                <a:cs typeface="Times New Roman" panose="02020603050405020304" pitchFamily="18" charset="0"/>
              </a:rPr>
              <a:t> </a:t>
            </a:r>
            <a:r>
              <a:rPr sz="2133" b="1" spc="-13" dirty="0">
                <a:solidFill>
                  <a:srgbClr val="212529"/>
                </a:solidFill>
                <a:latin typeface="Times New Roman" panose="02020603050405020304" pitchFamily="18" charset="0"/>
                <a:cs typeface="Times New Roman" panose="02020603050405020304" pitchFamily="18" charset="0"/>
              </a:rPr>
              <a:t>types:</a:t>
            </a:r>
            <a:endParaRPr sz="2133" dirty="0">
              <a:latin typeface="Times New Roman" panose="02020603050405020304" pitchFamily="18" charset="0"/>
              <a:cs typeface="Times New Roman" panose="02020603050405020304" pitchFamily="18" charset="0"/>
            </a:endParaRPr>
          </a:p>
          <a:p>
            <a:pPr marL="4142636" lvl="1" indent="-535927">
              <a:buAutoNum type="arabicPeriod"/>
              <a:tabLst>
                <a:tab pos="4142636" algn="l"/>
              </a:tabLst>
            </a:pPr>
            <a:r>
              <a:rPr sz="2133" b="1" spc="-13" dirty="0">
                <a:solidFill>
                  <a:srgbClr val="212529"/>
                </a:solidFill>
                <a:latin typeface="Times New Roman" panose="02020603050405020304" pitchFamily="18" charset="0"/>
                <a:cs typeface="Times New Roman" panose="02020603050405020304" pitchFamily="18" charset="0"/>
              </a:rPr>
              <a:t>Divergent</a:t>
            </a:r>
            <a:r>
              <a:rPr sz="2133" b="1" spc="-53" dirty="0">
                <a:solidFill>
                  <a:srgbClr val="212529"/>
                </a:solidFill>
                <a:latin typeface="Times New Roman" panose="02020603050405020304" pitchFamily="18" charset="0"/>
                <a:cs typeface="Times New Roman" panose="02020603050405020304" pitchFamily="18" charset="0"/>
              </a:rPr>
              <a:t> </a:t>
            </a:r>
            <a:r>
              <a:rPr sz="2133" b="1" spc="-13" dirty="0">
                <a:solidFill>
                  <a:srgbClr val="212529"/>
                </a:solidFill>
                <a:latin typeface="Times New Roman" panose="02020603050405020304" pitchFamily="18" charset="0"/>
                <a:cs typeface="Times New Roman" panose="02020603050405020304" pitchFamily="18" charset="0"/>
              </a:rPr>
              <a:t>evolution</a:t>
            </a:r>
            <a:endParaRPr sz="2133" dirty="0">
              <a:latin typeface="Times New Roman" panose="02020603050405020304" pitchFamily="18" charset="0"/>
              <a:cs typeface="Times New Roman" panose="02020603050405020304" pitchFamily="18" charset="0"/>
            </a:endParaRPr>
          </a:p>
          <a:p>
            <a:pPr marL="4142636" lvl="1" indent="-535927">
              <a:buAutoNum type="arabicPeriod"/>
              <a:tabLst>
                <a:tab pos="4142636" algn="l"/>
              </a:tabLst>
            </a:pPr>
            <a:r>
              <a:rPr sz="2133" b="1" spc="-13" dirty="0">
                <a:solidFill>
                  <a:srgbClr val="212529"/>
                </a:solidFill>
                <a:latin typeface="Times New Roman" panose="02020603050405020304" pitchFamily="18" charset="0"/>
                <a:cs typeface="Times New Roman" panose="02020603050405020304" pitchFamily="18" charset="0"/>
              </a:rPr>
              <a:t>Convergent</a:t>
            </a:r>
            <a:r>
              <a:rPr sz="2133" b="1" spc="-67" dirty="0">
                <a:solidFill>
                  <a:srgbClr val="212529"/>
                </a:solidFill>
                <a:latin typeface="Times New Roman" panose="02020603050405020304" pitchFamily="18" charset="0"/>
                <a:cs typeface="Times New Roman" panose="02020603050405020304" pitchFamily="18" charset="0"/>
              </a:rPr>
              <a:t> </a:t>
            </a:r>
            <a:r>
              <a:rPr sz="2133" b="1" spc="-13" dirty="0">
                <a:solidFill>
                  <a:srgbClr val="212529"/>
                </a:solidFill>
                <a:latin typeface="Times New Roman" panose="02020603050405020304" pitchFamily="18" charset="0"/>
                <a:cs typeface="Times New Roman" panose="02020603050405020304" pitchFamily="18" charset="0"/>
              </a:rPr>
              <a:t>evolution</a:t>
            </a:r>
            <a:endParaRPr lang="en-US" sz="2133" b="1" spc="-13" dirty="0">
              <a:solidFill>
                <a:srgbClr val="212529"/>
              </a:solidFill>
              <a:latin typeface="Times New Roman" panose="02020603050405020304" pitchFamily="18" charset="0"/>
              <a:cs typeface="Times New Roman" panose="02020603050405020304" pitchFamily="18" charset="0"/>
            </a:endParaRPr>
          </a:p>
          <a:p>
            <a:pPr marL="4142636" lvl="1" indent="-535927">
              <a:buAutoNum type="arabicPeriod"/>
              <a:tabLst>
                <a:tab pos="4142636" algn="l"/>
              </a:tabLst>
            </a:pPr>
            <a:endParaRPr sz="1867" dirty="0">
              <a:latin typeface="Times New Roman" panose="02020603050405020304" pitchFamily="18" charset="0"/>
              <a:cs typeface="Times New Roman" panose="02020603050405020304" pitchFamily="18" charset="0"/>
            </a:endParaRPr>
          </a:p>
          <a:p>
            <a:pPr marL="485128" marR="6773" indent="-469042">
              <a:buFont typeface="Arial"/>
              <a:buChar char="●"/>
              <a:tabLst>
                <a:tab pos="485128" algn="l"/>
                <a:tab pos="2328275" algn="l"/>
                <a:tab pos="4007173" algn="l"/>
                <a:tab pos="5611566" algn="l"/>
                <a:tab pos="6473451" algn="l"/>
                <a:tab pos="7340416" algn="l"/>
                <a:tab pos="7891583" algn="l"/>
                <a:tab pos="9700017" algn="l"/>
                <a:tab pos="10552590" algn="l"/>
              </a:tabLst>
            </a:pPr>
            <a:r>
              <a:rPr sz="1867" b="1" spc="-13" dirty="0">
                <a:solidFill>
                  <a:srgbClr val="212529"/>
                </a:solidFill>
                <a:latin typeface="Times New Roman" panose="02020603050405020304" pitchFamily="18" charset="0"/>
                <a:cs typeface="Times New Roman" panose="02020603050405020304" pitchFamily="18" charset="0"/>
              </a:rPr>
              <a:t>Speciation:</a:t>
            </a:r>
            <a:r>
              <a:rPr lang="en-US" sz="1867" b="1" spc="-13" dirty="0">
                <a:solidFill>
                  <a:srgbClr val="212529"/>
                </a:solidFill>
                <a:latin typeface="Times New Roman" panose="02020603050405020304" pitchFamily="18" charset="0"/>
                <a:cs typeface="Times New Roman" panose="02020603050405020304" pitchFamily="18" charset="0"/>
              </a:rPr>
              <a:t> </a:t>
            </a:r>
            <a:r>
              <a:rPr sz="1867" b="1" spc="-13" dirty="0">
                <a:solidFill>
                  <a:srgbClr val="212529"/>
                </a:solidFill>
                <a:latin typeface="Times New Roman" panose="02020603050405020304" pitchFamily="18" charset="0"/>
                <a:cs typeface="Times New Roman" panose="02020603050405020304" pitchFamily="18" charset="0"/>
              </a:rPr>
              <a:t>Divergent</a:t>
            </a:r>
            <a:r>
              <a:rPr lang="en-US" sz="1867" b="1" dirty="0">
                <a:solidFill>
                  <a:srgbClr val="212529"/>
                </a:solidFill>
                <a:latin typeface="Times New Roman" panose="02020603050405020304" pitchFamily="18" charset="0"/>
                <a:cs typeface="Times New Roman" panose="02020603050405020304" pitchFamily="18" charset="0"/>
              </a:rPr>
              <a:t> </a:t>
            </a:r>
            <a:r>
              <a:rPr sz="1867" b="1" spc="-13" dirty="0">
                <a:solidFill>
                  <a:srgbClr val="212529"/>
                </a:solidFill>
                <a:latin typeface="Times New Roman" panose="02020603050405020304" pitchFamily="18" charset="0"/>
                <a:cs typeface="Times New Roman" panose="02020603050405020304" pitchFamily="18" charset="0"/>
              </a:rPr>
              <a:t>evolution</a:t>
            </a:r>
            <a:r>
              <a:rPr lang="en-US" sz="1867" b="1" dirty="0">
                <a:solidFill>
                  <a:srgbClr val="212529"/>
                </a:solidFill>
                <a:latin typeface="Times New Roman" panose="02020603050405020304" pitchFamily="18" charset="0"/>
                <a:cs typeface="Times New Roman" panose="02020603050405020304" pitchFamily="18" charset="0"/>
              </a:rPr>
              <a:t> </a:t>
            </a:r>
            <a:r>
              <a:rPr sz="1867" b="1" spc="-33" dirty="0">
                <a:solidFill>
                  <a:srgbClr val="212529"/>
                </a:solidFill>
                <a:latin typeface="Times New Roman" panose="02020603050405020304" pitchFamily="18" charset="0"/>
                <a:cs typeface="Times New Roman" panose="02020603050405020304" pitchFamily="18" charset="0"/>
              </a:rPr>
              <a:t>may</a:t>
            </a:r>
            <a:r>
              <a:rPr lang="en-US" sz="1867" b="1" dirty="0">
                <a:solidFill>
                  <a:srgbClr val="212529"/>
                </a:solidFill>
                <a:latin typeface="Times New Roman" panose="02020603050405020304" pitchFamily="18" charset="0"/>
                <a:cs typeface="Times New Roman" panose="02020603050405020304" pitchFamily="18" charset="0"/>
              </a:rPr>
              <a:t> </a:t>
            </a:r>
            <a:r>
              <a:rPr sz="1867" b="1" spc="-27" dirty="0">
                <a:solidFill>
                  <a:srgbClr val="212529"/>
                </a:solidFill>
                <a:latin typeface="Times New Roman" panose="02020603050405020304" pitchFamily="18" charset="0"/>
                <a:cs typeface="Times New Roman" panose="02020603050405020304" pitchFamily="18" charset="0"/>
              </a:rPr>
              <a:t>lead</a:t>
            </a:r>
            <a:r>
              <a:rPr lang="en-US" sz="1867" b="1" dirty="0">
                <a:solidFill>
                  <a:srgbClr val="212529"/>
                </a:solidFill>
                <a:latin typeface="Times New Roman" panose="02020603050405020304" pitchFamily="18" charset="0"/>
                <a:cs typeface="Times New Roman" panose="02020603050405020304" pitchFamily="18" charset="0"/>
              </a:rPr>
              <a:t> </a:t>
            </a:r>
            <a:r>
              <a:rPr sz="1867" b="1" spc="-33" dirty="0">
                <a:solidFill>
                  <a:srgbClr val="212529"/>
                </a:solidFill>
                <a:latin typeface="Times New Roman" panose="02020603050405020304" pitchFamily="18" charset="0"/>
                <a:cs typeface="Times New Roman" panose="02020603050405020304" pitchFamily="18" charset="0"/>
              </a:rPr>
              <a:t>to</a:t>
            </a:r>
            <a:r>
              <a:rPr lang="en-US" sz="1867" b="1" dirty="0">
                <a:solidFill>
                  <a:srgbClr val="212529"/>
                </a:solidFill>
                <a:latin typeface="Times New Roman" panose="02020603050405020304" pitchFamily="18" charset="0"/>
                <a:cs typeface="Times New Roman" panose="02020603050405020304" pitchFamily="18" charset="0"/>
              </a:rPr>
              <a:t> </a:t>
            </a:r>
            <a:r>
              <a:rPr sz="1867" b="1" spc="-13" dirty="0">
                <a:solidFill>
                  <a:srgbClr val="212529"/>
                </a:solidFill>
                <a:latin typeface="Times New Roman" panose="02020603050405020304" pitchFamily="18" charset="0"/>
                <a:cs typeface="Times New Roman" panose="02020603050405020304" pitchFamily="18" charset="0"/>
              </a:rPr>
              <a:t>completely</a:t>
            </a:r>
            <a:r>
              <a:rPr lang="en-US" sz="1867" b="1" dirty="0">
                <a:solidFill>
                  <a:srgbClr val="212529"/>
                </a:solidFill>
                <a:latin typeface="Times New Roman" panose="02020603050405020304" pitchFamily="18" charset="0"/>
                <a:cs typeface="Times New Roman" panose="02020603050405020304" pitchFamily="18" charset="0"/>
              </a:rPr>
              <a:t> </a:t>
            </a:r>
            <a:r>
              <a:rPr sz="1867" b="1" spc="-33" dirty="0">
                <a:solidFill>
                  <a:srgbClr val="212529"/>
                </a:solidFill>
                <a:latin typeface="Times New Roman" panose="02020603050405020304" pitchFamily="18" charset="0"/>
                <a:cs typeface="Times New Roman" panose="02020603050405020304" pitchFamily="18" charset="0"/>
              </a:rPr>
              <a:t>new</a:t>
            </a:r>
            <a:r>
              <a:rPr sz="1867" b="1" dirty="0">
                <a:solidFill>
                  <a:srgbClr val="212529"/>
                </a:solidFill>
                <a:latin typeface="Times New Roman" panose="02020603050405020304" pitchFamily="18" charset="0"/>
                <a:cs typeface="Times New Roman" panose="02020603050405020304" pitchFamily="18" charset="0"/>
              </a:rPr>
              <a:t>	</a:t>
            </a:r>
            <a:r>
              <a:rPr sz="1867" b="1" spc="-13" dirty="0">
                <a:solidFill>
                  <a:srgbClr val="212529"/>
                </a:solidFill>
                <a:latin typeface="Times New Roman" panose="02020603050405020304" pitchFamily="18" charset="0"/>
                <a:cs typeface="Times New Roman" panose="02020603050405020304" pitchFamily="18" charset="0"/>
              </a:rPr>
              <a:t>species sometimes.</a:t>
            </a:r>
            <a:r>
              <a:rPr sz="1867" b="1" spc="-40" dirty="0">
                <a:solidFill>
                  <a:srgbClr val="212529"/>
                </a:solidFill>
                <a:latin typeface="Times New Roman" panose="02020603050405020304" pitchFamily="18" charset="0"/>
                <a:cs typeface="Times New Roman" panose="02020603050405020304" pitchFamily="18" charset="0"/>
              </a:rPr>
              <a:t> </a:t>
            </a:r>
            <a:r>
              <a:rPr sz="1867" b="1" dirty="0">
                <a:solidFill>
                  <a:srgbClr val="212529"/>
                </a:solidFill>
                <a:latin typeface="Times New Roman" panose="02020603050405020304" pitchFamily="18" charset="0"/>
                <a:cs typeface="Times New Roman" panose="02020603050405020304" pitchFamily="18" charset="0"/>
              </a:rPr>
              <a:t>This</a:t>
            </a:r>
            <a:r>
              <a:rPr sz="1867" b="1" spc="-40" dirty="0">
                <a:solidFill>
                  <a:srgbClr val="212529"/>
                </a:solidFill>
                <a:latin typeface="Times New Roman" panose="02020603050405020304" pitchFamily="18" charset="0"/>
                <a:cs typeface="Times New Roman" panose="02020603050405020304" pitchFamily="18" charset="0"/>
              </a:rPr>
              <a:t> </a:t>
            </a:r>
            <a:r>
              <a:rPr sz="1867" b="1" dirty="0">
                <a:solidFill>
                  <a:srgbClr val="212529"/>
                </a:solidFill>
                <a:latin typeface="Times New Roman" panose="02020603050405020304" pitchFamily="18" charset="0"/>
                <a:cs typeface="Times New Roman" panose="02020603050405020304" pitchFamily="18" charset="0"/>
              </a:rPr>
              <a:t>is</a:t>
            </a:r>
            <a:r>
              <a:rPr sz="1867" b="1" spc="-33" dirty="0">
                <a:solidFill>
                  <a:srgbClr val="212529"/>
                </a:solidFill>
                <a:latin typeface="Times New Roman" panose="02020603050405020304" pitchFamily="18" charset="0"/>
                <a:cs typeface="Times New Roman" panose="02020603050405020304" pitchFamily="18" charset="0"/>
              </a:rPr>
              <a:t> </a:t>
            </a:r>
            <a:r>
              <a:rPr sz="1867" b="1" dirty="0">
                <a:solidFill>
                  <a:srgbClr val="212529"/>
                </a:solidFill>
                <a:latin typeface="Times New Roman" panose="02020603050405020304" pitchFamily="18" charset="0"/>
                <a:cs typeface="Times New Roman" panose="02020603050405020304" pitchFamily="18" charset="0"/>
              </a:rPr>
              <a:t>known</a:t>
            </a:r>
            <a:r>
              <a:rPr sz="1867" b="1" spc="-40" dirty="0">
                <a:solidFill>
                  <a:srgbClr val="212529"/>
                </a:solidFill>
                <a:latin typeface="Times New Roman" panose="02020603050405020304" pitchFamily="18" charset="0"/>
                <a:cs typeface="Times New Roman" panose="02020603050405020304" pitchFamily="18" charset="0"/>
              </a:rPr>
              <a:t> </a:t>
            </a:r>
            <a:r>
              <a:rPr sz="1867" b="1" dirty="0">
                <a:solidFill>
                  <a:srgbClr val="212529"/>
                </a:solidFill>
                <a:latin typeface="Times New Roman" panose="02020603050405020304" pitchFamily="18" charset="0"/>
                <a:cs typeface="Times New Roman" panose="02020603050405020304" pitchFamily="18" charset="0"/>
              </a:rPr>
              <a:t>as</a:t>
            </a:r>
            <a:r>
              <a:rPr sz="1867" b="1" spc="-20" dirty="0">
                <a:solidFill>
                  <a:srgbClr val="212529"/>
                </a:solidFill>
                <a:latin typeface="Times New Roman" panose="02020603050405020304" pitchFamily="18" charset="0"/>
                <a:cs typeface="Times New Roman" panose="02020603050405020304" pitchFamily="18" charset="0"/>
              </a:rPr>
              <a:t> </a:t>
            </a:r>
            <a:r>
              <a:rPr sz="1867" b="1" spc="-13" dirty="0">
                <a:solidFill>
                  <a:srgbClr val="212529"/>
                </a:solidFill>
                <a:latin typeface="Times New Roman" panose="02020603050405020304" pitchFamily="18" charset="0"/>
                <a:cs typeface="Times New Roman" panose="02020603050405020304" pitchFamily="18" charset="0"/>
              </a:rPr>
              <a:t>speciation.</a:t>
            </a:r>
            <a:r>
              <a:rPr lang="en-US" sz="1867" dirty="0">
                <a:latin typeface="Times New Roman" panose="02020603050405020304" pitchFamily="18" charset="0"/>
                <a:cs typeface="Times New Roman" panose="02020603050405020304" pitchFamily="18" charset="0"/>
              </a:rPr>
              <a:t> Speciation is the evolutionary process by which new species arise from existing ones. It often occurs when populations of the same species become </a:t>
            </a:r>
            <a:r>
              <a:rPr lang="en-US" sz="1867" b="1" dirty="0">
                <a:latin typeface="Times New Roman" panose="02020603050405020304" pitchFamily="18" charset="0"/>
                <a:cs typeface="Times New Roman" panose="02020603050405020304" pitchFamily="18" charset="0"/>
              </a:rPr>
              <a:t>isolated</a:t>
            </a:r>
            <a:r>
              <a:rPr lang="en-US" sz="1867" dirty="0">
                <a:latin typeface="Times New Roman" panose="02020603050405020304" pitchFamily="18" charset="0"/>
                <a:cs typeface="Times New Roman" panose="02020603050405020304" pitchFamily="18" charset="0"/>
              </a:rPr>
              <a:t> from one another and undergo different evolutionary pressures over time. </a:t>
            </a:r>
            <a:endParaRPr sz="1867" dirty="0">
              <a:latin typeface="Times New Roman" panose="02020603050405020304" pitchFamily="18" charset="0"/>
              <a:cs typeface="Times New Roman" panose="02020603050405020304" pitchFamily="18" charset="0"/>
            </a:endParaRP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57</a:t>
            </a:fld>
            <a:endParaRPr spc="40" dirty="0"/>
          </a:p>
        </p:txBody>
      </p:sp>
      <p:sp>
        <p:nvSpPr>
          <p:cNvPr id="9" name="Rectangle 8"/>
          <p:cNvSpPr/>
          <p:nvPr/>
        </p:nvSpPr>
        <p:spPr>
          <a:xfrm>
            <a:off x="416342" y="4001368"/>
            <a:ext cx="11565725" cy="1405256"/>
          </a:xfrm>
          <a:prstGeom prst="rect">
            <a:avLst/>
          </a:prstGeom>
          <a:solidFill>
            <a:schemeClr val="accent6">
              <a:lumMod val="20000"/>
              <a:lumOff val="80000"/>
            </a:schemeClr>
          </a:solidFill>
        </p:spPr>
        <p:txBody>
          <a:bodyPr wrap="square">
            <a:spAutoFit/>
          </a:bodyPr>
          <a:lstStyle/>
          <a:p>
            <a:pPr defTabSz="1219170" eaLnBrk="0" fontAlgn="base" hangingPunct="0">
              <a:spcBef>
                <a:spcPct val="0"/>
              </a:spcBef>
              <a:spcAft>
                <a:spcPct val="0"/>
              </a:spcAft>
            </a:pPr>
            <a:r>
              <a:rPr lang="en-US" sz="2133" b="1" dirty="0">
                <a:solidFill>
                  <a:srgbClr val="FF0000"/>
                </a:solidFill>
                <a:latin typeface="Times New Roman" panose="02020603050405020304" pitchFamily="18" charset="0"/>
                <a:cs typeface="Times New Roman" panose="02020603050405020304" pitchFamily="18" charset="0"/>
              </a:rPr>
              <a:t>Divergent Evolution</a:t>
            </a:r>
          </a:p>
          <a:p>
            <a:pPr defTabSz="1219170" eaLnBrk="0" fontAlgn="base" hangingPunct="0">
              <a:spcBef>
                <a:spcPct val="0"/>
              </a:spcBef>
              <a:spcAft>
                <a:spcPct val="0"/>
              </a:spcAft>
            </a:pPr>
            <a:r>
              <a:rPr lang="en-US" sz="2133" dirty="0">
                <a:latin typeface="Times New Roman" panose="02020603050405020304" pitchFamily="18" charset="0"/>
                <a:cs typeface="Times New Roman" panose="02020603050405020304" pitchFamily="18" charset="0"/>
              </a:rPr>
              <a:t>When two or more species evolve from a </a:t>
            </a:r>
            <a:r>
              <a:rPr lang="en-US" sz="2133" b="1" dirty="0">
                <a:latin typeface="Times New Roman" panose="02020603050405020304" pitchFamily="18" charset="0"/>
                <a:cs typeface="Times New Roman" panose="02020603050405020304" pitchFamily="18" charset="0"/>
              </a:rPr>
              <a:t>common ancestor</a:t>
            </a:r>
            <a:r>
              <a:rPr lang="en-US" sz="2133" dirty="0">
                <a:latin typeface="Times New Roman" panose="02020603050405020304" pitchFamily="18" charset="0"/>
                <a:cs typeface="Times New Roman" panose="02020603050405020304" pitchFamily="18" charset="0"/>
              </a:rPr>
              <a:t> but adapt to </a:t>
            </a:r>
            <a:r>
              <a:rPr lang="en-US" sz="2133" b="1" dirty="0">
                <a:latin typeface="Times New Roman" panose="02020603050405020304" pitchFamily="18" charset="0"/>
                <a:cs typeface="Times New Roman" panose="02020603050405020304" pitchFamily="18" charset="0"/>
              </a:rPr>
              <a:t>different environments</a:t>
            </a:r>
            <a:r>
              <a:rPr lang="en-US" sz="2133" dirty="0">
                <a:latin typeface="Times New Roman" panose="02020603050405020304" pitchFamily="18" charset="0"/>
                <a:cs typeface="Times New Roman" panose="02020603050405020304" pitchFamily="18" charset="0"/>
              </a:rPr>
              <a:t>.</a:t>
            </a:r>
          </a:p>
          <a:p>
            <a:pPr defTabSz="1219170" eaLnBrk="0" fontAlgn="base" hangingPunct="0">
              <a:spcBef>
                <a:spcPct val="0"/>
              </a:spcBef>
              <a:spcAft>
                <a:spcPct val="0"/>
              </a:spcAft>
              <a:buFontTx/>
              <a:buChar char="•"/>
            </a:pPr>
            <a:r>
              <a:rPr lang="en-US" sz="2133" b="1" dirty="0">
                <a:latin typeface="Times New Roman" panose="02020603050405020304" pitchFamily="18" charset="0"/>
                <a:cs typeface="Times New Roman" panose="02020603050405020304" pitchFamily="18" charset="0"/>
              </a:rPr>
              <a:t>Result:</a:t>
            </a:r>
            <a:r>
              <a:rPr lang="en-US" sz="2133" dirty="0">
                <a:latin typeface="Times New Roman" panose="02020603050405020304" pitchFamily="18" charset="0"/>
                <a:cs typeface="Times New Roman" panose="02020603050405020304" pitchFamily="18" charset="0"/>
              </a:rPr>
              <a:t> Structures remain </a:t>
            </a:r>
            <a:r>
              <a:rPr lang="en-US" sz="2133" b="1" dirty="0">
                <a:latin typeface="Times New Roman" panose="02020603050405020304" pitchFamily="18" charset="0"/>
                <a:cs typeface="Times New Roman" panose="02020603050405020304" pitchFamily="18" charset="0"/>
              </a:rPr>
              <a:t>homologous</a:t>
            </a:r>
            <a:r>
              <a:rPr lang="en-US" sz="2133" dirty="0">
                <a:latin typeface="Times New Roman" panose="02020603050405020304" pitchFamily="18" charset="0"/>
                <a:cs typeface="Times New Roman" panose="02020603050405020304" pitchFamily="18" charset="0"/>
              </a:rPr>
              <a:t> (same origin, different functions).</a:t>
            </a:r>
          </a:p>
          <a:p>
            <a:pPr defTabSz="1219170" eaLnBrk="0" fontAlgn="base" hangingPunct="0">
              <a:spcBef>
                <a:spcPct val="0"/>
              </a:spcBef>
              <a:spcAft>
                <a:spcPct val="0"/>
              </a:spcAft>
              <a:buFontTx/>
              <a:buChar char="•"/>
            </a:pPr>
            <a:r>
              <a:rPr lang="en-US" sz="2133" b="1" dirty="0">
                <a:latin typeface="Times New Roman" panose="02020603050405020304" pitchFamily="18" charset="0"/>
                <a:cs typeface="Times New Roman" panose="02020603050405020304" pitchFamily="18" charset="0"/>
              </a:rPr>
              <a:t>Example:</a:t>
            </a:r>
            <a:r>
              <a:rPr lang="en-US" sz="2133" dirty="0">
                <a:latin typeface="Times New Roman" panose="02020603050405020304" pitchFamily="18" charset="0"/>
                <a:cs typeface="Times New Roman" panose="02020603050405020304" pitchFamily="18" charset="0"/>
              </a:rPr>
              <a:t> Human arm, bat wing, whale flipper.</a:t>
            </a:r>
          </a:p>
        </p:txBody>
      </p:sp>
    </p:spTree>
    <p:extLst>
      <p:ext uri="{BB962C8B-B14F-4D97-AF65-F5344CB8AC3E}">
        <p14:creationId xmlns:p14="http://schemas.microsoft.com/office/powerpoint/2010/main" val="363918639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91098" y="716090"/>
            <a:ext cx="14020800" cy="694207"/>
          </a:xfrm>
          <a:prstGeom prst="rect">
            <a:avLst/>
          </a:prstGeom>
        </p:spPr>
        <p:txBody>
          <a:bodyPr vert="horz" wrap="square" lIns="0" tIns="16933" rIns="0" bIns="0" rtlCol="0" anchor="ctr">
            <a:spAutoFit/>
          </a:bodyPr>
          <a:lstStyle/>
          <a:p>
            <a:pPr marL="604505">
              <a:lnSpc>
                <a:spcPct val="100000"/>
              </a:lnSpc>
              <a:spcBef>
                <a:spcPts val="133"/>
              </a:spcBef>
            </a:pPr>
            <a:r>
              <a:rPr spc="360" dirty="0"/>
              <a:t>Types</a:t>
            </a:r>
            <a:r>
              <a:rPr spc="200" dirty="0"/>
              <a:t> </a:t>
            </a:r>
            <a:r>
              <a:rPr spc="233" dirty="0"/>
              <a:t>of</a:t>
            </a:r>
            <a:r>
              <a:rPr spc="207" dirty="0"/>
              <a:t> </a:t>
            </a:r>
            <a:r>
              <a:rPr spc="313" dirty="0"/>
              <a:t>Evolution</a:t>
            </a:r>
            <a:r>
              <a:rPr spc="207" dirty="0"/>
              <a:t> </a:t>
            </a:r>
            <a:r>
              <a:rPr spc="320" dirty="0"/>
              <a:t>(Divergent</a:t>
            </a:r>
            <a:r>
              <a:rPr spc="207" dirty="0"/>
              <a:t> </a:t>
            </a:r>
            <a:r>
              <a:rPr spc="272" dirty="0"/>
              <a:t>Evolution)</a:t>
            </a:r>
          </a:p>
        </p:txBody>
      </p:sp>
      <p:grpSp>
        <p:nvGrpSpPr>
          <p:cNvPr id="3" name="object 3"/>
          <p:cNvGrpSpPr/>
          <p:nvPr/>
        </p:nvGrpSpPr>
        <p:grpSpPr>
          <a:xfrm>
            <a:off x="83961" y="716090"/>
            <a:ext cx="11965940" cy="5804747"/>
            <a:chOff x="69262" y="722349"/>
            <a:chExt cx="8974455" cy="4353560"/>
          </a:xfrm>
        </p:grpSpPr>
        <p:sp>
          <p:nvSpPr>
            <p:cNvPr id="4" name="object 4"/>
            <p:cNvSpPr/>
            <p:nvPr/>
          </p:nvSpPr>
          <p:spPr>
            <a:xfrm>
              <a:off x="278024" y="7413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4" y="844024"/>
              <a:ext cx="8955405" cy="4226560"/>
            </a:xfrm>
            <a:custGeom>
              <a:avLst/>
              <a:gdLst/>
              <a:ahLst/>
              <a:cxnLst/>
              <a:rect l="l" t="t" r="r" b="b"/>
              <a:pathLst>
                <a:path w="8955405" h="4226560">
                  <a:moveTo>
                    <a:pt x="4749" y="0"/>
                  </a:moveTo>
                  <a:lnTo>
                    <a:pt x="4749" y="4226499"/>
                  </a:lnTo>
                </a:path>
                <a:path w="8955405" h="4226560">
                  <a:moveTo>
                    <a:pt x="8950499" y="0"/>
                  </a:moveTo>
                  <a:lnTo>
                    <a:pt x="8950499" y="4226499"/>
                  </a:lnTo>
                </a:path>
                <a:path w="8955405" h="4226560">
                  <a:moveTo>
                    <a:pt x="0" y="4749"/>
                  </a:moveTo>
                  <a:lnTo>
                    <a:pt x="8955249" y="4749"/>
                  </a:lnTo>
                </a:path>
                <a:path w="8955405" h="4226560">
                  <a:moveTo>
                    <a:pt x="0" y="4221749"/>
                  </a:moveTo>
                  <a:lnTo>
                    <a:pt x="8955249" y="4221749"/>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21567" y="1695229"/>
            <a:ext cx="6197600" cy="2903145"/>
          </a:xfrm>
          <a:prstGeom prst="rect">
            <a:avLst/>
          </a:prstGeom>
          <a:solidFill>
            <a:schemeClr val="accent6">
              <a:lumMod val="20000"/>
              <a:lumOff val="80000"/>
            </a:schemeClr>
          </a:solidFill>
        </p:spPr>
        <p:txBody>
          <a:bodyPr vert="horz" wrap="square" lIns="0" tIns="16933" rIns="0" bIns="0" rtlCol="0">
            <a:spAutoFit/>
          </a:bodyPr>
          <a:lstStyle/>
          <a:p>
            <a:pPr marL="16086" marR="6773" algn="just" defTabSz="1219170">
              <a:tabLst>
                <a:tab pos="485128" algn="l"/>
                <a:tab pos="487668" algn="l"/>
              </a:tabLst>
              <a:defRPr/>
            </a:pPr>
            <a:endParaRPr lang="en-US" sz="1867" kern="0" spc="520" dirty="0" smtClean="0">
              <a:solidFill>
                <a:sysClr val="windowText" lastClr="000000"/>
              </a:solidFill>
              <a:latin typeface="Century Schoolbook"/>
              <a:cs typeface="Century Schoolbook"/>
            </a:endParaRPr>
          </a:p>
          <a:p>
            <a:pPr marL="485128" marR="6773" indent="-469042" algn="just" defTabSz="1219170">
              <a:buFont typeface="Arial"/>
              <a:buChar char="●"/>
              <a:tabLst>
                <a:tab pos="485128" algn="l"/>
                <a:tab pos="487668" algn="l"/>
              </a:tabLst>
              <a:defRPr/>
            </a:pPr>
            <a:r>
              <a:rPr lang="en-US" sz="1867" kern="0" dirty="0" smtClean="0">
                <a:solidFill>
                  <a:sysClr val="windowText" lastClr="000000"/>
                </a:solidFill>
                <a:latin typeface="Century Schoolbook"/>
                <a:cs typeface="Century Schoolbook"/>
              </a:rPr>
              <a:t>Here</a:t>
            </a:r>
            <a:r>
              <a:rPr lang="en-US" sz="1867" kern="0" dirty="0">
                <a:solidFill>
                  <a:sysClr val="windowText" lastClr="000000"/>
                </a:solidFill>
                <a:latin typeface="Century Schoolbook"/>
                <a:cs typeface="Century Schoolbook"/>
              </a:rPr>
              <a:t>,</a:t>
            </a:r>
            <a:r>
              <a:rPr lang="en-US" sz="1867" kern="0" spc="-47" dirty="0">
                <a:solidFill>
                  <a:sysClr val="windowText" lastClr="000000"/>
                </a:solidFill>
                <a:latin typeface="Century Schoolbook"/>
                <a:cs typeface="Century Schoolbook"/>
              </a:rPr>
              <a:t> </a:t>
            </a:r>
            <a:r>
              <a:rPr lang="en-US" sz="1867" kern="0" dirty="0">
                <a:solidFill>
                  <a:sysClr val="windowText" lastClr="000000"/>
                </a:solidFill>
                <a:latin typeface="Century Schoolbook"/>
                <a:cs typeface="Century Schoolbook"/>
              </a:rPr>
              <a:t>human,</a:t>
            </a:r>
            <a:r>
              <a:rPr lang="en-US" sz="1867" kern="0" spc="-40" dirty="0">
                <a:solidFill>
                  <a:sysClr val="windowText" lastClr="000000"/>
                </a:solidFill>
                <a:latin typeface="Century Schoolbook"/>
                <a:cs typeface="Century Schoolbook"/>
              </a:rPr>
              <a:t> </a:t>
            </a:r>
            <a:r>
              <a:rPr lang="en-US" sz="1867" kern="0" dirty="0">
                <a:solidFill>
                  <a:sysClr val="windowText" lastClr="000000"/>
                </a:solidFill>
                <a:latin typeface="Century Schoolbook"/>
                <a:cs typeface="Century Schoolbook"/>
              </a:rPr>
              <a:t>bat</a:t>
            </a:r>
            <a:r>
              <a:rPr lang="en-US" sz="1867" kern="0" spc="-40" dirty="0">
                <a:solidFill>
                  <a:sysClr val="windowText" lastClr="000000"/>
                </a:solidFill>
                <a:latin typeface="Century Schoolbook"/>
                <a:cs typeface="Century Schoolbook"/>
              </a:rPr>
              <a:t> </a:t>
            </a:r>
            <a:r>
              <a:rPr lang="en-US" sz="1867" kern="0" dirty="0">
                <a:solidFill>
                  <a:sysClr val="windowText" lastClr="000000"/>
                </a:solidFill>
                <a:latin typeface="Century Schoolbook"/>
                <a:cs typeface="Century Schoolbook"/>
              </a:rPr>
              <a:t>and</a:t>
            </a:r>
            <a:r>
              <a:rPr lang="en-US" sz="1867" kern="0" spc="-47" dirty="0">
                <a:solidFill>
                  <a:sysClr val="windowText" lastClr="000000"/>
                </a:solidFill>
                <a:latin typeface="Century Schoolbook"/>
                <a:cs typeface="Century Schoolbook"/>
              </a:rPr>
              <a:t> </a:t>
            </a:r>
            <a:r>
              <a:rPr lang="en-US" sz="1867" kern="0" dirty="0">
                <a:solidFill>
                  <a:sysClr val="windowText" lastClr="000000"/>
                </a:solidFill>
                <a:latin typeface="Century Schoolbook"/>
                <a:cs typeface="Century Schoolbook"/>
              </a:rPr>
              <a:t>whales</a:t>
            </a:r>
            <a:r>
              <a:rPr lang="en-US" sz="1867" kern="0" spc="-40" dirty="0">
                <a:solidFill>
                  <a:sysClr val="windowText" lastClr="000000"/>
                </a:solidFill>
                <a:latin typeface="Century Schoolbook"/>
                <a:cs typeface="Century Schoolbook"/>
              </a:rPr>
              <a:t> </a:t>
            </a:r>
            <a:r>
              <a:rPr lang="en-US" sz="1867" kern="0" dirty="0">
                <a:solidFill>
                  <a:sysClr val="windowText" lastClr="000000"/>
                </a:solidFill>
                <a:latin typeface="Century Schoolbook"/>
                <a:cs typeface="Century Schoolbook"/>
              </a:rPr>
              <a:t>are</a:t>
            </a:r>
            <a:r>
              <a:rPr lang="en-US" sz="1867" kern="0" spc="-40" dirty="0">
                <a:solidFill>
                  <a:sysClr val="windowText" lastClr="000000"/>
                </a:solidFill>
                <a:latin typeface="Century Schoolbook"/>
                <a:cs typeface="Century Schoolbook"/>
              </a:rPr>
              <a:t> </a:t>
            </a:r>
            <a:r>
              <a:rPr lang="en-US" sz="1867" kern="0" spc="-13" dirty="0">
                <a:solidFill>
                  <a:sysClr val="windowText" lastClr="000000"/>
                </a:solidFill>
                <a:latin typeface="Century Schoolbook"/>
                <a:cs typeface="Century Schoolbook"/>
              </a:rPr>
              <a:t>mammals.</a:t>
            </a:r>
            <a:endParaRPr lang="en-US" sz="1867" u="heavy" dirty="0">
              <a:uFill>
                <a:solidFill>
                  <a:srgbClr val="000000"/>
                </a:solidFill>
              </a:uFill>
              <a:latin typeface="Century Schoolbook Bold"/>
              <a:cs typeface="Century Schoolbook Bold"/>
            </a:endParaRPr>
          </a:p>
          <a:p>
            <a:pPr marL="485128" marR="6773" indent="-469042" algn="just">
              <a:spcBef>
                <a:spcPts val="133"/>
              </a:spcBef>
              <a:buFont typeface="Arial"/>
              <a:buChar char="●"/>
              <a:tabLst>
                <a:tab pos="485128" algn="l"/>
                <a:tab pos="487668" algn="l"/>
              </a:tabLst>
            </a:pPr>
            <a:r>
              <a:rPr sz="1867" u="heavy" dirty="0">
                <a:uFill>
                  <a:solidFill>
                    <a:srgbClr val="000000"/>
                  </a:solidFill>
                </a:uFill>
                <a:latin typeface="Century Schoolbook Bold"/>
                <a:cs typeface="Century Schoolbook Bold"/>
              </a:rPr>
              <a:t>	</a:t>
            </a:r>
            <a:r>
              <a:rPr sz="1867" b="1" u="heavy" dirty="0">
                <a:uFill>
                  <a:solidFill>
                    <a:srgbClr val="000000"/>
                  </a:solidFill>
                </a:uFill>
                <a:latin typeface="Century Schoolbook Bold"/>
                <a:cs typeface="Century Schoolbook Bold"/>
              </a:rPr>
              <a:t>Homologous</a:t>
            </a:r>
            <a:r>
              <a:rPr sz="1867" b="1" u="heavy" spc="467" dirty="0">
                <a:uFill>
                  <a:solidFill>
                    <a:srgbClr val="000000"/>
                  </a:solidFill>
                </a:uFill>
                <a:latin typeface="Century Schoolbook Bold"/>
                <a:cs typeface="Century Schoolbook Bold"/>
              </a:rPr>
              <a:t> </a:t>
            </a:r>
            <a:r>
              <a:rPr sz="1867" b="1" u="heavy" dirty="0">
                <a:uFill>
                  <a:solidFill>
                    <a:srgbClr val="000000"/>
                  </a:solidFill>
                </a:uFill>
                <a:latin typeface="Century Schoolbook Bold"/>
                <a:cs typeface="Century Schoolbook Bold"/>
              </a:rPr>
              <a:t>organs:</a:t>
            </a:r>
            <a:r>
              <a:rPr sz="1867" b="1" spc="460" dirty="0">
                <a:latin typeface="Century Schoolbook Bold"/>
                <a:cs typeface="Century Schoolbook Bold"/>
              </a:rPr>
              <a:t> </a:t>
            </a:r>
            <a:r>
              <a:rPr sz="1867" dirty="0">
                <a:latin typeface="Century Schoolbook"/>
                <a:cs typeface="Century Schoolbook"/>
              </a:rPr>
              <a:t>organs</a:t>
            </a:r>
            <a:r>
              <a:rPr sz="1867" spc="480" dirty="0">
                <a:latin typeface="Century Schoolbook"/>
                <a:cs typeface="Century Schoolbook"/>
              </a:rPr>
              <a:t> </a:t>
            </a:r>
            <a:r>
              <a:rPr sz="1867" dirty="0">
                <a:latin typeface="Century Schoolbook"/>
                <a:cs typeface="Century Schoolbook"/>
              </a:rPr>
              <a:t>with</a:t>
            </a:r>
            <a:r>
              <a:rPr sz="1867" spc="480" dirty="0">
                <a:latin typeface="Century Schoolbook"/>
                <a:cs typeface="Century Schoolbook"/>
              </a:rPr>
              <a:t> </a:t>
            </a:r>
            <a:r>
              <a:rPr sz="1867" spc="-13" dirty="0">
                <a:latin typeface="Century Schoolbook"/>
                <a:cs typeface="Century Schoolbook"/>
              </a:rPr>
              <a:t>similar </a:t>
            </a:r>
            <a:r>
              <a:rPr sz="1867" dirty="0">
                <a:latin typeface="Century Schoolbook"/>
                <a:cs typeface="Century Schoolbook"/>
              </a:rPr>
              <a:t>structure</a:t>
            </a:r>
            <a:r>
              <a:rPr sz="1867" spc="193" dirty="0">
                <a:latin typeface="Century Schoolbook"/>
                <a:cs typeface="Century Schoolbook"/>
              </a:rPr>
              <a:t>  </a:t>
            </a:r>
            <a:r>
              <a:rPr sz="1867" dirty="0">
                <a:latin typeface="Century Schoolbook"/>
                <a:cs typeface="Century Schoolbook"/>
              </a:rPr>
              <a:t>(skeletal</a:t>
            </a:r>
            <a:r>
              <a:rPr sz="1867" spc="193" dirty="0">
                <a:latin typeface="Century Schoolbook"/>
                <a:cs typeface="Century Schoolbook"/>
              </a:rPr>
              <a:t>  </a:t>
            </a:r>
            <a:r>
              <a:rPr sz="1867" dirty="0">
                <a:latin typeface="Century Schoolbook"/>
                <a:cs typeface="Century Schoolbook"/>
              </a:rPr>
              <a:t>structure</a:t>
            </a:r>
            <a:r>
              <a:rPr sz="1867" spc="193" dirty="0">
                <a:latin typeface="Century Schoolbook"/>
                <a:cs typeface="Century Schoolbook"/>
              </a:rPr>
              <a:t>  </a:t>
            </a:r>
            <a:r>
              <a:rPr sz="1867" dirty="0">
                <a:latin typeface="Century Schoolbook"/>
                <a:cs typeface="Century Schoolbook"/>
              </a:rPr>
              <a:t>or</a:t>
            </a:r>
            <a:r>
              <a:rPr sz="1867" spc="193" dirty="0">
                <a:latin typeface="Century Schoolbook"/>
                <a:cs typeface="Century Schoolbook"/>
              </a:rPr>
              <a:t>  </a:t>
            </a:r>
            <a:r>
              <a:rPr sz="1867" spc="-13" dirty="0">
                <a:latin typeface="Century Schoolbook"/>
                <a:cs typeface="Century Schoolbook"/>
              </a:rPr>
              <a:t>anatomy) </a:t>
            </a:r>
            <a:r>
              <a:rPr sz="1867" dirty="0">
                <a:latin typeface="Century Schoolbook"/>
                <a:cs typeface="Century Schoolbook"/>
              </a:rPr>
              <a:t>and</a:t>
            </a:r>
            <a:r>
              <a:rPr sz="1867" spc="47" dirty="0">
                <a:latin typeface="Century Schoolbook"/>
                <a:cs typeface="Century Schoolbook"/>
              </a:rPr>
              <a:t>  </a:t>
            </a:r>
            <a:r>
              <a:rPr sz="1867" dirty="0">
                <a:latin typeface="Century Schoolbook"/>
                <a:cs typeface="Century Schoolbook"/>
              </a:rPr>
              <a:t>origin,</a:t>
            </a:r>
            <a:r>
              <a:rPr sz="1867" spc="47" dirty="0">
                <a:latin typeface="Century Schoolbook"/>
                <a:cs typeface="Century Schoolbook"/>
              </a:rPr>
              <a:t>  </a:t>
            </a:r>
            <a:r>
              <a:rPr sz="1867" dirty="0">
                <a:latin typeface="Century Schoolbook"/>
                <a:cs typeface="Century Schoolbook"/>
              </a:rPr>
              <a:t>but</a:t>
            </a:r>
            <a:r>
              <a:rPr sz="1867" spc="47" dirty="0">
                <a:latin typeface="Century Schoolbook"/>
                <a:cs typeface="Century Schoolbook"/>
              </a:rPr>
              <a:t>  </a:t>
            </a:r>
            <a:r>
              <a:rPr sz="1867" dirty="0">
                <a:latin typeface="Century Schoolbook"/>
                <a:cs typeface="Century Schoolbook"/>
              </a:rPr>
              <a:t>with</a:t>
            </a:r>
            <a:r>
              <a:rPr sz="1867" spc="47" dirty="0">
                <a:latin typeface="Century Schoolbook"/>
                <a:cs typeface="Century Schoolbook"/>
              </a:rPr>
              <a:t>  </a:t>
            </a:r>
            <a:r>
              <a:rPr sz="1867" dirty="0">
                <a:latin typeface="Century Schoolbook"/>
                <a:cs typeface="Century Schoolbook"/>
              </a:rPr>
              <a:t>different</a:t>
            </a:r>
            <a:r>
              <a:rPr sz="1867" spc="47" dirty="0">
                <a:latin typeface="Century Schoolbook"/>
                <a:cs typeface="Century Schoolbook"/>
              </a:rPr>
              <a:t>  </a:t>
            </a:r>
            <a:r>
              <a:rPr sz="1867" dirty="0">
                <a:latin typeface="Century Schoolbook"/>
                <a:cs typeface="Century Schoolbook"/>
              </a:rPr>
              <a:t>function</a:t>
            </a:r>
            <a:r>
              <a:rPr sz="1867" spc="47" dirty="0">
                <a:latin typeface="Century Schoolbook"/>
                <a:cs typeface="Century Schoolbook"/>
              </a:rPr>
              <a:t>  </a:t>
            </a:r>
            <a:r>
              <a:rPr sz="1867" spc="-33" dirty="0">
                <a:latin typeface="Century Schoolbook"/>
                <a:cs typeface="Century Schoolbook"/>
              </a:rPr>
              <a:t>in </a:t>
            </a:r>
            <a:r>
              <a:rPr sz="1867" dirty="0">
                <a:latin typeface="Century Schoolbook"/>
                <a:cs typeface="Century Schoolbook"/>
              </a:rPr>
              <a:t>different</a:t>
            </a:r>
            <a:r>
              <a:rPr sz="1867" spc="-147" dirty="0">
                <a:latin typeface="Century Schoolbook"/>
                <a:cs typeface="Century Schoolbook"/>
              </a:rPr>
              <a:t> </a:t>
            </a:r>
            <a:r>
              <a:rPr sz="1867" spc="-13" dirty="0">
                <a:latin typeface="Century Schoolbook"/>
                <a:cs typeface="Century Schoolbook"/>
              </a:rPr>
              <a:t>organisms.</a:t>
            </a:r>
            <a:endParaRPr sz="1867" dirty="0">
              <a:latin typeface="Century Schoolbook"/>
              <a:cs typeface="Century Schoolbook"/>
            </a:endParaRPr>
          </a:p>
          <a:p>
            <a:pPr marL="485128" marR="9313" indent="-469042" algn="just">
              <a:buFont typeface="Arial"/>
              <a:buChar char="●"/>
              <a:tabLst>
                <a:tab pos="485128" algn="l"/>
                <a:tab pos="487668" algn="l"/>
              </a:tabLst>
            </a:pPr>
            <a:r>
              <a:rPr sz="1867" dirty="0">
                <a:latin typeface="Century Schoolbook"/>
                <a:cs typeface="Century Schoolbook"/>
              </a:rPr>
              <a:t>	Homologous</a:t>
            </a:r>
            <a:r>
              <a:rPr sz="1867" spc="160" dirty="0">
                <a:latin typeface="Century Schoolbook"/>
                <a:cs typeface="Century Schoolbook"/>
              </a:rPr>
              <a:t> </a:t>
            </a:r>
            <a:r>
              <a:rPr sz="1867" dirty="0">
                <a:latin typeface="Century Schoolbook"/>
                <a:cs typeface="Century Schoolbook"/>
              </a:rPr>
              <a:t>organs</a:t>
            </a:r>
            <a:r>
              <a:rPr sz="1867" spc="160" dirty="0">
                <a:latin typeface="Century Schoolbook"/>
                <a:cs typeface="Century Schoolbook"/>
              </a:rPr>
              <a:t> </a:t>
            </a:r>
            <a:r>
              <a:rPr sz="1867" dirty="0">
                <a:latin typeface="Century Schoolbook"/>
                <a:cs typeface="Century Schoolbook"/>
              </a:rPr>
              <a:t>are</a:t>
            </a:r>
            <a:r>
              <a:rPr sz="1867" spc="167" dirty="0">
                <a:latin typeface="Century Schoolbook"/>
                <a:cs typeface="Century Schoolbook"/>
              </a:rPr>
              <a:t> </a:t>
            </a:r>
            <a:r>
              <a:rPr sz="1867" dirty="0">
                <a:latin typeface="Century Schoolbook"/>
                <a:cs typeface="Century Schoolbook"/>
              </a:rPr>
              <a:t>developed</a:t>
            </a:r>
            <a:r>
              <a:rPr sz="1867" spc="160" dirty="0">
                <a:latin typeface="Century Schoolbook"/>
                <a:cs typeface="Century Schoolbook"/>
              </a:rPr>
              <a:t> </a:t>
            </a:r>
            <a:r>
              <a:rPr sz="1867" dirty="0">
                <a:latin typeface="Century Schoolbook"/>
                <a:cs typeface="Century Schoolbook"/>
              </a:rPr>
              <a:t>in</a:t>
            </a:r>
            <a:r>
              <a:rPr sz="1867" spc="167" dirty="0">
                <a:latin typeface="Century Schoolbook"/>
                <a:cs typeface="Century Schoolbook"/>
              </a:rPr>
              <a:t> </a:t>
            </a:r>
            <a:r>
              <a:rPr sz="1867" spc="-13" dirty="0">
                <a:latin typeface="Century Schoolbook"/>
                <a:cs typeface="Century Schoolbook"/>
              </a:rPr>
              <a:t>related animals.</a:t>
            </a:r>
            <a:endParaRPr sz="1867" dirty="0">
              <a:latin typeface="Century Schoolbook"/>
              <a:cs typeface="Century Schoolbook"/>
            </a:endParaRPr>
          </a:p>
          <a:p>
            <a:pPr marL="485128" marR="9313" indent="-469042" algn="just">
              <a:buFont typeface="Arial"/>
              <a:buChar char="●"/>
              <a:tabLst>
                <a:tab pos="485128" algn="l"/>
                <a:tab pos="487668" algn="l"/>
              </a:tabLst>
            </a:pPr>
            <a:r>
              <a:rPr sz="1867" dirty="0">
                <a:latin typeface="Century Schoolbook"/>
                <a:cs typeface="Century Schoolbook"/>
              </a:rPr>
              <a:t>	Homologous</a:t>
            </a:r>
            <a:r>
              <a:rPr sz="1867" spc="173" dirty="0">
                <a:latin typeface="Century Schoolbook"/>
                <a:cs typeface="Century Schoolbook"/>
              </a:rPr>
              <a:t>  </a:t>
            </a:r>
            <a:r>
              <a:rPr sz="1867" dirty="0">
                <a:latin typeface="Century Schoolbook"/>
                <a:cs typeface="Century Schoolbook"/>
              </a:rPr>
              <a:t>organs</a:t>
            </a:r>
            <a:r>
              <a:rPr sz="1867" spc="173" dirty="0">
                <a:latin typeface="Century Schoolbook"/>
                <a:cs typeface="Century Schoolbook"/>
              </a:rPr>
              <a:t>  </a:t>
            </a:r>
            <a:r>
              <a:rPr sz="1867" dirty="0">
                <a:latin typeface="Century Schoolbook"/>
                <a:cs typeface="Century Schoolbook"/>
              </a:rPr>
              <a:t>are</a:t>
            </a:r>
            <a:r>
              <a:rPr sz="1867" spc="173" dirty="0">
                <a:latin typeface="Century Schoolbook"/>
                <a:cs typeface="Century Schoolbook"/>
              </a:rPr>
              <a:t>  </a:t>
            </a:r>
            <a:r>
              <a:rPr sz="1867" dirty="0">
                <a:latin typeface="Century Schoolbook"/>
                <a:cs typeface="Century Schoolbook"/>
              </a:rPr>
              <a:t>inherited</a:t>
            </a:r>
            <a:r>
              <a:rPr sz="1867" spc="180" dirty="0">
                <a:latin typeface="Century Schoolbook"/>
                <a:cs typeface="Century Schoolbook"/>
              </a:rPr>
              <a:t>  </a:t>
            </a:r>
            <a:r>
              <a:rPr sz="1867" dirty="0">
                <a:latin typeface="Century Schoolbook"/>
                <a:cs typeface="Century Schoolbook"/>
              </a:rPr>
              <a:t>from</a:t>
            </a:r>
            <a:r>
              <a:rPr sz="1867" spc="173" dirty="0">
                <a:latin typeface="Century Schoolbook"/>
                <a:cs typeface="Century Schoolbook"/>
              </a:rPr>
              <a:t>  </a:t>
            </a:r>
            <a:r>
              <a:rPr sz="1867" spc="-67" dirty="0">
                <a:latin typeface="Century Schoolbook"/>
                <a:cs typeface="Century Schoolbook"/>
              </a:rPr>
              <a:t>a </a:t>
            </a:r>
            <a:r>
              <a:rPr sz="1867" dirty="0">
                <a:latin typeface="Century Schoolbook"/>
                <a:cs typeface="Century Schoolbook"/>
              </a:rPr>
              <a:t>common</a:t>
            </a:r>
            <a:r>
              <a:rPr sz="1867" spc="-127" dirty="0">
                <a:latin typeface="Century Schoolbook"/>
                <a:cs typeface="Century Schoolbook"/>
              </a:rPr>
              <a:t> </a:t>
            </a:r>
            <a:r>
              <a:rPr sz="1867" spc="-13" dirty="0">
                <a:latin typeface="Century Schoolbook"/>
                <a:cs typeface="Century Schoolbook"/>
              </a:rPr>
              <a:t>ancestor</a:t>
            </a:r>
            <a:r>
              <a:rPr sz="1867" spc="-13" dirty="0" smtClean="0">
                <a:latin typeface="Century Schoolbook"/>
                <a:cs typeface="Century Schoolbook"/>
              </a:rPr>
              <a:t>.</a:t>
            </a:r>
            <a:endParaRPr sz="1867" dirty="0">
              <a:latin typeface="Century Schoolbook"/>
              <a:cs typeface="Century Schoolbook"/>
            </a:endParaRP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58</a:t>
            </a:fld>
            <a:endParaRPr spc="40" dirty="0"/>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69787" y="1633596"/>
            <a:ext cx="5172330" cy="4791252"/>
          </a:xfrm>
          <a:prstGeom prst="rect">
            <a:avLst/>
          </a:prstGeom>
        </p:spPr>
      </p:pic>
    </p:spTree>
    <p:extLst>
      <p:ext uri="{BB962C8B-B14F-4D97-AF65-F5344CB8AC3E}">
        <p14:creationId xmlns:p14="http://schemas.microsoft.com/office/powerpoint/2010/main" val="4282753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3240" y="566363"/>
            <a:ext cx="14020800" cy="694207"/>
          </a:xfrm>
          <a:prstGeom prst="rect">
            <a:avLst/>
          </a:prstGeom>
        </p:spPr>
        <p:txBody>
          <a:bodyPr vert="horz" wrap="square" lIns="0" tIns="16933" rIns="0" bIns="0" rtlCol="0" anchor="ctr">
            <a:spAutoFit/>
          </a:bodyPr>
          <a:lstStyle/>
          <a:p>
            <a:pPr marL="405543">
              <a:lnSpc>
                <a:spcPct val="100000"/>
              </a:lnSpc>
              <a:spcBef>
                <a:spcPts val="133"/>
              </a:spcBef>
            </a:pPr>
            <a:r>
              <a:rPr spc="360" dirty="0"/>
              <a:t>Types</a:t>
            </a:r>
            <a:r>
              <a:rPr spc="193" dirty="0"/>
              <a:t> </a:t>
            </a:r>
            <a:r>
              <a:rPr spc="233" dirty="0"/>
              <a:t>of</a:t>
            </a:r>
            <a:r>
              <a:rPr spc="193" dirty="0"/>
              <a:t> </a:t>
            </a:r>
            <a:r>
              <a:rPr spc="313" dirty="0"/>
              <a:t>Evolution</a:t>
            </a:r>
            <a:r>
              <a:rPr spc="200" dirty="0"/>
              <a:t> </a:t>
            </a:r>
            <a:r>
              <a:rPr spc="320" dirty="0"/>
              <a:t>(Convergent</a:t>
            </a:r>
            <a:r>
              <a:rPr spc="193" dirty="0"/>
              <a:t> </a:t>
            </a:r>
            <a:r>
              <a:rPr spc="272" dirty="0"/>
              <a:t>Evolution)</a:t>
            </a:r>
          </a:p>
        </p:txBody>
      </p:sp>
      <p:grpSp>
        <p:nvGrpSpPr>
          <p:cNvPr id="3" name="object 3"/>
          <p:cNvGrpSpPr/>
          <p:nvPr/>
        </p:nvGrpSpPr>
        <p:grpSpPr>
          <a:xfrm>
            <a:off x="71718" y="286871"/>
            <a:ext cx="12012705" cy="6481482"/>
            <a:chOff x="69262" y="722349"/>
            <a:chExt cx="8974455" cy="4353560"/>
          </a:xfrm>
        </p:grpSpPr>
        <p:sp>
          <p:nvSpPr>
            <p:cNvPr id="4" name="object 4"/>
            <p:cNvSpPr/>
            <p:nvPr/>
          </p:nvSpPr>
          <p:spPr>
            <a:xfrm>
              <a:off x="278024" y="741399"/>
              <a:ext cx="8747125" cy="46990"/>
            </a:xfrm>
            <a:custGeom>
              <a:avLst/>
              <a:gdLst/>
              <a:ahLst/>
              <a:cxnLst/>
              <a:rect l="l" t="t" r="r" b="b"/>
              <a:pathLst>
                <a:path w="8747125" h="46990">
                  <a:moveTo>
                    <a:pt x="0" y="0"/>
                  </a:moveTo>
                  <a:lnTo>
                    <a:pt x="8746499" y="46499"/>
                  </a:lnTo>
                </a:path>
              </a:pathLst>
            </a:custGeom>
            <a:ln w="38099">
              <a:solidFill>
                <a:srgbClr val="999999"/>
              </a:solidFill>
            </a:ln>
          </p:spPr>
          <p:txBody>
            <a:bodyPr wrap="square" lIns="0" tIns="0" rIns="0" bIns="0" rtlCol="0"/>
            <a:lstStyle/>
            <a:p>
              <a:endParaRPr sz="2400"/>
            </a:p>
          </p:txBody>
        </p:sp>
        <p:sp>
          <p:nvSpPr>
            <p:cNvPr id="5" name="object 5"/>
            <p:cNvSpPr/>
            <p:nvPr/>
          </p:nvSpPr>
          <p:spPr>
            <a:xfrm>
              <a:off x="74024" y="844024"/>
              <a:ext cx="8955405" cy="4226560"/>
            </a:xfrm>
            <a:custGeom>
              <a:avLst/>
              <a:gdLst/>
              <a:ahLst/>
              <a:cxnLst/>
              <a:rect l="l" t="t" r="r" b="b"/>
              <a:pathLst>
                <a:path w="8955405" h="4226560">
                  <a:moveTo>
                    <a:pt x="4749" y="0"/>
                  </a:moveTo>
                  <a:lnTo>
                    <a:pt x="4749" y="4226499"/>
                  </a:lnTo>
                </a:path>
                <a:path w="8955405" h="4226560">
                  <a:moveTo>
                    <a:pt x="8950499" y="0"/>
                  </a:moveTo>
                  <a:lnTo>
                    <a:pt x="8950499" y="4226499"/>
                  </a:lnTo>
                </a:path>
                <a:path w="8955405" h="4226560">
                  <a:moveTo>
                    <a:pt x="0" y="4749"/>
                  </a:moveTo>
                  <a:lnTo>
                    <a:pt x="8955249" y="4749"/>
                  </a:lnTo>
                </a:path>
                <a:path w="8955405" h="4226560">
                  <a:moveTo>
                    <a:pt x="0" y="4221749"/>
                  </a:moveTo>
                  <a:lnTo>
                    <a:pt x="8955249" y="4221749"/>
                  </a:lnTo>
                </a:path>
              </a:pathLst>
            </a:custGeom>
            <a:ln w="9524">
              <a:solidFill>
                <a:srgbClr val="9E9E9E"/>
              </a:solidFill>
            </a:ln>
          </p:spPr>
          <p:txBody>
            <a:bodyPr wrap="square" lIns="0" tIns="0" rIns="0" bIns="0" rtlCol="0"/>
            <a:lstStyle/>
            <a:p>
              <a:endParaRPr sz="2400"/>
            </a:p>
          </p:txBody>
        </p:sp>
      </p:grpSp>
      <p:sp>
        <p:nvSpPr>
          <p:cNvPr id="6" name="object 6"/>
          <p:cNvSpPr txBox="1"/>
          <p:nvPr/>
        </p:nvSpPr>
        <p:spPr>
          <a:xfrm>
            <a:off x="312978" y="1388387"/>
            <a:ext cx="6171353" cy="5281616"/>
          </a:xfrm>
          <a:prstGeom prst="rect">
            <a:avLst/>
          </a:prstGeom>
          <a:solidFill>
            <a:schemeClr val="accent6">
              <a:lumMod val="20000"/>
              <a:lumOff val="80000"/>
            </a:schemeClr>
          </a:solidFill>
        </p:spPr>
        <p:txBody>
          <a:bodyPr vert="horz" wrap="square" lIns="0" tIns="16933" rIns="0" bIns="0" rtlCol="0">
            <a:spAutoFit/>
          </a:bodyPr>
          <a:lstStyle/>
          <a:p>
            <a:pPr marL="485128" marR="6773" indent="-469042" algn="just">
              <a:spcBef>
                <a:spcPts val="133"/>
              </a:spcBef>
              <a:buFont typeface="Arial"/>
              <a:buChar char="●"/>
              <a:tabLst>
                <a:tab pos="485128" algn="l"/>
                <a:tab pos="487668" algn="l"/>
              </a:tabLst>
            </a:pPr>
            <a:r>
              <a:rPr lang="en-US" sz="2133" b="1" u="heavy" dirty="0">
                <a:uFill>
                  <a:solidFill>
                    <a:srgbClr val="000000"/>
                  </a:solidFill>
                </a:uFill>
                <a:latin typeface="Century Schoolbook Bold"/>
                <a:cs typeface="Century Schoolbook Bold"/>
              </a:rPr>
              <a:t>Convergent</a:t>
            </a:r>
            <a:r>
              <a:rPr lang="en-US" sz="2133" b="1" u="heavy" spc="60" dirty="0">
                <a:uFill>
                  <a:solidFill>
                    <a:srgbClr val="000000"/>
                  </a:solidFill>
                </a:uFill>
                <a:latin typeface="Century Schoolbook Bold"/>
                <a:cs typeface="Century Schoolbook Bold"/>
              </a:rPr>
              <a:t> </a:t>
            </a:r>
            <a:r>
              <a:rPr lang="en-US" sz="2133" b="1" u="heavy" dirty="0">
                <a:uFill>
                  <a:solidFill>
                    <a:srgbClr val="000000"/>
                  </a:solidFill>
                </a:uFill>
                <a:latin typeface="Century Schoolbook Bold"/>
                <a:cs typeface="Century Schoolbook Bold"/>
              </a:rPr>
              <a:t>evolution:</a:t>
            </a:r>
            <a:r>
              <a:rPr lang="en-US" sz="2133" b="1" spc="47" dirty="0">
                <a:latin typeface="Century Schoolbook Bold"/>
                <a:cs typeface="Century Schoolbook Bold"/>
              </a:rPr>
              <a:t> </a:t>
            </a:r>
            <a:r>
              <a:rPr lang="en-US" sz="2133" dirty="0">
                <a:latin typeface="Century Schoolbook"/>
                <a:cs typeface="Century Schoolbook"/>
              </a:rPr>
              <a:t>It</a:t>
            </a:r>
            <a:r>
              <a:rPr lang="en-US" sz="2133" spc="47" dirty="0">
                <a:latin typeface="Century Schoolbook"/>
                <a:cs typeface="Century Schoolbook"/>
              </a:rPr>
              <a:t> </a:t>
            </a:r>
            <a:r>
              <a:rPr lang="en-US" sz="2133" dirty="0">
                <a:latin typeface="Century Schoolbook"/>
                <a:cs typeface="Century Schoolbook"/>
              </a:rPr>
              <a:t>is</a:t>
            </a:r>
            <a:r>
              <a:rPr lang="en-US" sz="2133" spc="53" dirty="0">
                <a:latin typeface="Century Schoolbook"/>
                <a:cs typeface="Century Schoolbook"/>
              </a:rPr>
              <a:t> </a:t>
            </a:r>
            <a:r>
              <a:rPr lang="en-US" sz="2133" dirty="0">
                <a:latin typeface="Century Schoolbook"/>
                <a:cs typeface="Century Schoolbook"/>
              </a:rPr>
              <a:t>the</a:t>
            </a:r>
            <a:r>
              <a:rPr lang="en-US" sz="2133" spc="47" dirty="0">
                <a:latin typeface="Century Schoolbook"/>
                <a:cs typeface="Century Schoolbook"/>
              </a:rPr>
              <a:t> </a:t>
            </a:r>
            <a:r>
              <a:rPr lang="en-US" sz="2133" dirty="0">
                <a:latin typeface="Century Schoolbook"/>
                <a:cs typeface="Century Schoolbook"/>
              </a:rPr>
              <a:t>process</a:t>
            </a:r>
            <a:r>
              <a:rPr lang="en-US" sz="2133" spc="53" dirty="0">
                <a:latin typeface="Century Schoolbook"/>
                <a:cs typeface="Century Schoolbook"/>
              </a:rPr>
              <a:t> </a:t>
            </a:r>
            <a:r>
              <a:rPr lang="en-US" sz="2133" spc="-33" dirty="0">
                <a:latin typeface="Century Schoolbook"/>
                <a:cs typeface="Century Schoolbook"/>
              </a:rPr>
              <a:t>by </a:t>
            </a:r>
            <a:r>
              <a:rPr lang="en-US" sz="2133" dirty="0">
                <a:latin typeface="Century Schoolbook"/>
                <a:cs typeface="Century Schoolbook"/>
              </a:rPr>
              <a:t>which</a:t>
            </a:r>
            <a:r>
              <a:rPr lang="en-US" sz="2133" spc="305" dirty="0">
                <a:latin typeface="Century Schoolbook"/>
                <a:cs typeface="Century Schoolbook"/>
              </a:rPr>
              <a:t>   </a:t>
            </a:r>
            <a:r>
              <a:rPr lang="en-US" sz="2133" dirty="0">
                <a:latin typeface="Century Schoolbook"/>
                <a:cs typeface="Century Schoolbook"/>
              </a:rPr>
              <a:t>unrelated</a:t>
            </a:r>
            <a:r>
              <a:rPr lang="en-US" sz="2133" spc="327" dirty="0">
                <a:latin typeface="Century Schoolbook"/>
                <a:cs typeface="Century Schoolbook"/>
              </a:rPr>
              <a:t>   </a:t>
            </a:r>
            <a:r>
              <a:rPr lang="en-US" sz="2133" dirty="0">
                <a:latin typeface="Century Schoolbook"/>
                <a:cs typeface="Century Schoolbook"/>
              </a:rPr>
              <a:t>groups</a:t>
            </a:r>
            <a:r>
              <a:rPr lang="en-US" sz="2133" spc="327" dirty="0">
                <a:latin typeface="Century Schoolbook"/>
                <a:cs typeface="Century Schoolbook"/>
              </a:rPr>
              <a:t>   </a:t>
            </a:r>
            <a:r>
              <a:rPr lang="en-US" sz="2133" spc="-13" dirty="0">
                <a:latin typeface="Century Schoolbook"/>
                <a:cs typeface="Century Schoolbook"/>
              </a:rPr>
              <a:t>independently </a:t>
            </a:r>
            <a:r>
              <a:rPr lang="en-US" sz="2133" dirty="0">
                <a:latin typeface="Century Schoolbook"/>
                <a:cs typeface="Century Schoolbook"/>
              </a:rPr>
              <a:t>evolve</a:t>
            </a:r>
            <a:r>
              <a:rPr lang="en-US" sz="2133" spc="180" dirty="0">
                <a:latin typeface="Century Schoolbook"/>
                <a:cs typeface="Century Schoolbook"/>
              </a:rPr>
              <a:t>  </a:t>
            </a:r>
            <a:r>
              <a:rPr lang="en-US" sz="2133" dirty="0">
                <a:latin typeface="Century Schoolbook"/>
                <a:cs typeface="Century Schoolbook"/>
              </a:rPr>
              <a:t>similar</a:t>
            </a:r>
            <a:r>
              <a:rPr lang="en-US" sz="2133" spc="180" dirty="0">
                <a:latin typeface="Century Schoolbook"/>
                <a:cs typeface="Century Schoolbook"/>
              </a:rPr>
              <a:t>  </a:t>
            </a:r>
            <a:r>
              <a:rPr lang="en-US" sz="2133" dirty="0">
                <a:latin typeface="Century Schoolbook"/>
                <a:cs typeface="Century Schoolbook"/>
              </a:rPr>
              <a:t>traits</a:t>
            </a:r>
            <a:r>
              <a:rPr lang="en-US" sz="2133" spc="180" dirty="0">
                <a:latin typeface="Century Schoolbook"/>
                <a:cs typeface="Century Schoolbook"/>
              </a:rPr>
              <a:t>  </a:t>
            </a:r>
            <a:r>
              <a:rPr lang="en-US" sz="2133" dirty="0">
                <a:latin typeface="Century Schoolbook"/>
                <a:cs typeface="Century Schoolbook"/>
              </a:rPr>
              <a:t>to</a:t>
            </a:r>
            <a:r>
              <a:rPr lang="en-US" sz="2133" spc="187" dirty="0">
                <a:latin typeface="Century Schoolbook"/>
                <a:cs typeface="Century Schoolbook"/>
              </a:rPr>
              <a:t>  </a:t>
            </a:r>
            <a:r>
              <a:rPr lang="en-US" sz="2133" dirty="0">
                <a:latin typeface="Century Schoolbook"/>
                <a:cs typeface="Century Schoolbook"/>
              </a:rPr>
              <a:t>adapt</a:t>
            </a:r>
            <a:r>
              <a:rPr lang="en-US" sz="2133" spc="180" dirty="0">
                <a:latin typeface="Century Schoolbook"/>
                <a:cs typeface="Century Schoolbook"/>
              </a:rPr>
              <a:t>  </a:t>
            </a:r>
            <a:r>
              <a:rPr lang="en-US" sz="2133" dirty="0">
                <a:latin typeface="Century Schoolbook"/>
                <a:cs typeface="Century Schoolbook"/>
              </a:rPr>
              <a:t>to</a:t>
            </a:r>
            <a:r>
              <a:rPr lang="en-US" sz="2133" spc="180" dirty="0">
                <a:latin typeface="Century Schoolbook"/>
                <a:cs typeface="Century Schoolbook"/>
              </a:rPr>
              <a:t>  </a:t>
            </a:r>
            <a:r>
              <a:rPr lang="en-US" sz="2133" spc="-13" dirty="0">
                <a:latin typeface="Century Schoolbook"/>
                <a:cs typeface="Century Schoolbook"/>
              </a:rPr>
              <a:t>similar environment.</a:t>
            </a:r>
            <a:endParaRPr lang="en-US" sz="2133" u="heavy" dirty="0">
              <a:uFill>
                <a:solidFill>
                  <a:srgbClr val="000000"/>
                </a:solidFill>
              </a:uFill>
              <a:latin typeface="Century Schoolbook Bold"/>
              <a:cs typeface="Century Schoolbook Bold"/>
            </a:endParaRPr>
          </a:p>
          <a:p>
            <a:pPr marL="485128" marR="6773" indent="-469042" algn="just">
              <a:spcBef>
                <a:spcPts val="133"/>
              </a:spcBef>
              <a:buFont typeface="Arial"/>
              <a:buChar char="●"/>
              <a:tabLst>
                <a:tab pos="485128" algn="l"/>
                <a:tab pos="487668" algn="l"/>
              </a:tabLst>
            </a:pPr>
            <a:r>
              <a:rPr sz="2133" u="heavy"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Analogous</a:t>
            </a:r>
            <a:r>
              <a:rPr sz="2133" b="1" u="heavy" spc="607" dirty="0">
                <a:uFill>
                  <a:solidFill>
                    <a:srgbClr val="000000"/>
                  </a:solidFill>
                </a:uFill>
                <a:latin typeface="Century Schoolbook Bold"/>
                <a:cs typeface="Century Schoolbook Bold"/>
              </a:rPr>
              <a:t> </a:t>
            </a:r>
            <a:r>
              <a:rPr sz="2133" b="1" u="heavy" dirty="0">
                <a:uFill>
                  <a:solidFill>
                    <a:srgbClr val="000000"/>
                  </a:solidFill>
                </a:uFill>
                <a:latin typeface="Century Schoolbook Bold"/>
                <a:cs typeface="Century Schoolbook Bold"/>
              </a:rPr>
              <a:t>organs:</a:t>
            </a:r>
            <a:r>
              <a:rPr sz="2133" b="1" spc="607" dirty="0">
                <a:latin typeface="Century Schoolbook Bold"/>
                <a:cs typeface="Century Schoolbook Bold"/>
              </a:rPr>
              <a:t> </a:t>
            </a:r>
            <a:r>
              <a:rPr sz="2133" dirty="0">
                <a:latin typeface="Century Schoolbook"/>
                <a:cs typeface="Century Schoolbook"/>
              </a:rPr>
              <a:t>organs</a:t>
            </a:r>
            <a:r>
              <a:rPr sz="2133" spc="620" dirty="0">
                <a:latin typeface="Century Schoolbook"/>
                <a:cs typeface="Century Schoolbook"/>
              </a:rPr>
              <a:t> </a:t>
            </a:r>
            <a:r>
              <a:rPr sz="2133" dirty="0">
                <a:latin typeface="Century Schoolbook"/>
                <a:cs typeface="Century Schoolbook"/>
              </a:rPr>
              <a:t>with</a:t>
            </a:r>
            <a:r>
              <a:rPr sz="2133" spc="620" dirty="0">
                <a:latin typeface="Century Schoolbook"/>
                <a:cs typeface="Century Schoolbook"/>
              </a:rPr>
              <a:t> </a:t>
            </a:r>
            <a:r>
              <a:rPr sz="2133" spc="-13" dirty="0">
                <a:latin typeface="Century Schoolbook"/>
                <a:cs typeface="Century Schoolbook"/>
              </a:rPr>
              <a:t>different </a:t>
            </a:r>
            <a:r>
              <a:rPr sz="2133" dirty="0">
                <a:latin typeface="Century Schoolbook"/>
                <a:cs typeface="Century Schoolbook"/>
              </a:rPr>
              <a:t>structure</a:t>
            </a:r>
            <a:r>
              <a:rPr sz="2133" spc="193" dirty="0">
                <a:latin typeface="Century Schoolbook"/>
                <a:cs typeface="Century Schoolbook"/>
              </a:rPr>
              <a:t>  </a:t>
            </a:r>
            <a:r>
              <a:rPr sz="2133" dirty="0">
                <a:latin typeface="Century Schoolbook"/>
                <a:cs typeface="Century Schoolbook"/>
              </a:rPr>
              <a:t>(skeletal</a:t>
            </a:r>
            <a:r>
              <a:rPr sz="2133" spc="193" dirty="0">
                <a:latin typeface="Century Schoolbook"/>
                <a:cs typeface="Century Schoolbook"/>
              </a:rPr>
              <a:t>  </a:t>
            </a:r>
            <a:r>
              <a:rPr sz="2133" dirty="0">
                <a:latin typeface="Century Schoolbook"/>
                <a:cs typeface="Century Schoolbook"/>
              </a:rPr>
              <a:t>structure</a:t>
            </a:r>
            <a:r>
              <a:rPr sz="2133" spc="193" dirty="0">
                <a:latin typeface="Century Schoolbook"/>
                <a:cs typeface="Century Schoolbook"/>
              </a:rPr>
              <a:t>  </a:t>
            </a:r>
            <a:r>
              <a:rPr sz="2133" dirty="0">
                <a:latin typeface="Century Schoolbook"/>
                <a:cs typeface="Century Schoolbook"/>
              </a:rPr>
              <a:t>or</a:t>
            </a:r>
            <a:r>
              <a:rPr sz="2133" spc="193" dirty="0">
                <a:latin typeface="Century Schoolbook"/>
                <a:cs typeface="Century Schoolbook"/>
              </a:rPr>
              <a:t>  </a:t>
            </a:r>
            <a:r>
              <a:rPr sz="2133" spc="-13" dirty="0">
                <a:latin typeface="Century Schoolbook"/>
                <a:cs typeface="Century Schoolbook"/>
              </a:rPr>
              <a:t>anatomy) </a:t>
            </a:r>
            <a:r>
              <a:rPr sz="2133" dirty="0">
                <a:latin typeface="Century Schoolbook"/>
                <a:cs typeface="Century Schoolbook"/>
              </a:rPr>
              <a:t>and</a:t>
            </a:r>
            <a:r>
              <a:rPr sz="2133" spc="180" dirty="0">
                <a:latin typeface="Century Schoolbook"/>
                <a:cs typeface="Century Schoolbook"/>
              </a:rPr>
              <a:t>  </a:t>
            </a:r>
            <a:r>
              <a:rPr sz="2133" dirty="0">
                <a:latin typeface="Century Schoolbook"/>
                <a:cs typeface="Century Schoolbook"/>
              </a:rPr>
              <a:t>origin,</a:t>
            </a:r>
            <a:r>
              <a:rPr sz="2133" spc="187" dirty="0">
                <a:latin typeface="Century Schoolbook"/>
                <a:cs typeface="Century Schoolbook"/>
              </a:rPr>
              <a:t>  </a:t>
            </a:r>
            <a:r>
              <a:rPr sz="2133" dirty="0">
                <a:latin typeface="Century Schoolbook"/>
                <a:cs typeface="Century Schoolbook"/>
              </a:rPr>
              <a:t>but</a:t>
            </a:r>
            <a:r>
              <a:rPr sz="2133" spc="180" dirty="0">
                <a:latin typeface="Century Schoolbook"/>
                <a:cs typeface="Century Schoolbook"/>
              </a:rPr>
              <a:t>  </a:t>
            </a:r>
            <a:r>
              <a:rPr sz="2133" dirty="0">
                <a:latin typeface="Century Schoolbook"/>
                <a:cs typeface="Century Schoolbook"/>
              </a:rPr>
              <a:t>with</a:t>
            </a:r>
            <a:r>
              <a:rPr sz="2133" spc="187" dirty="0">
                <a:latin typeface="Century Schoolbook"/>
                <a:cs typeface="Century Schoolbook"/>
              </a:rPr>
              <a:t>  </a:t>
            </a:r>
            <a:r>
              <a:rPr sz="2133" dirty="0">
                <a:latin typeface="Century Schoolbook"/>
                <a:cs typeface="Century Schoolbook"/>
              </a:rPr>
              <a:t>similar</a:t>
            </a:r>
            <a:r>
              <a:rPr sz="2133" spc="180" dirty="0">
                <a:latin typeface="Century Schoolbook"/>
                <a:cs typeface="Century Schoolbook"/>
              </a:rPr>
              <a:t>  </a:t>
            </a:r>
            <a:r>
              <a:rPr sz="2133" dirty="0">
                <a:latin typeface="Century Schoolbook"/>
                <a:cs typeface="Century Schoolbook"/>
              </a:rPr>
              <a:t>function</a:t>
            </a:r>
            <a:r>
              <a:rPr sz="2133" spc="187" dirty="0">
                <a:latin typeface="Century Schoolbook"/>
                <a:cs typeface="Century Schoolbook"/>
              </a:rPr>
              <a:t>  </a:t>
            </a:r>
            <a:r>
              <a:rPr sz="2133" spc="-33" dirty="0">
                <a:latin typeface="Century Schoolbook"/>
                <a:cs typeface="Century Schoolbook"/>
              </a:rPr>
              <a:t>in </a:t>
            </a:r>
            <a:r>
              <a:rPr sz="2133" dirty="0">
                <a:latin typeface="Century Schoolbook"/>
                <a:cs typeface="Century Schoolbook"/>
              </a:rPr>
              <a:t>different</a:t>
            </a:r>
            <a:r>
              <a:rPr sz="2133" spc="-147" dirty="0">
                <a:latin typeface="Century Schoolbook"/>
                <a:cs typeface="Century Schoolbook"/>
              </a:rPr>
              <a:t> </a:t>
            </a:r>
            <a:r>
              <a:rPr sz="2133" spc="-13" dirty="0">
                <a:latin typeface="Century Schoolbook"/>
                <a:cs typeface="Century Schoolbook"/>
              </a:rPr>
              <a:t>organisms.</a:t>
            </a:r>
            <a:endParaRPr sz="2133" dirty="0">
              <a:latin typeface="Century Schoolbook"/>
              <a:cs typeface="Century Schoolbook"/>
            </a:endParaRPr>
          </a:p>
          <a:p>
            <a:r>
              <a:rPr lang="en-US" sz="2133" b="1" dirty="0">
                <a:latin typeface="Times New Roman" panose="02020603050405020304" pitchFamily="18" charset="0"/>
                <a:cs typeface="Times New Roman" panose="02020603050405020304" pitchFamily="18" charset="0"/>
              </a:rPr>
              <a:t>Key Features:</a:t>
            </a:r>
            <a:endParaRPr lang="en-US" sz="2133" dirty="0">
              <a:latin typeface="Times New Roman" panose="02020603050405020304" pitchFamily="18" charset="0"/>
              <a:cs typeface="Times New Roman" panose="02020603050405020304" pitchFamily="18" charset="0"/>
            </a:endParaRP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Different anatomy, </a:t>
            </a:r>
            <a:r>
              <a:rPr lang="en-US" sz="2133" b="1" dirty="0">
                <a:latin typeface="Times New Roman" panose="02020603050405020304" pitchFamily="18" charset="0"/>
                <a:cs typeface="Times New Roman" panose="02020603050405020304" pitchFamily="18" charset="0"/>
              </a:rPr>
              <a:t>same function</a:t>
            </a:r>
            <a:endParaRPr lang="en-US" sz="2133" dirty="0">
              <a:latin typeface="Times New Roman" panose="02020603050405020304" pitchFamily="18" charset="0"/>
              <a:cs typeface="Times New Roman" panose="02020603050405020304" pitchFamily="18" charset="0"/>
            </a:endParaRP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Found in </a:t>
            </a:r>
            <a:r>
              <a:rPr lang="en-US" sz="2133" b="1" dirty="0">
                <a:latin typeface="Times New Roman" panose="02020603050405020304" pitchFamily="18" charset="0"/>
                <a:cs typeface="Times New Roman" panose="02020603050405020304" pitchFamily="18" charset="0"/>
              </a:rPr>
              <a:t>unrelated animals</a:t>
            </a:r>
            <a:endParaRPr lang="en-US" sz="2133" dirty="0">
              <a:latin typeface="Times New Roman" panose="02020603050405020304" pitchFamily="18" charset="0"/>
              <a:cs typeface="Times New Roman" panose="02020603050405020304" pitchFamily="18" charset="0"/>
            </a:endParaRP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Evolved due to </a:t>
            </a:r>
            <a:r>
              <a:rPr lang="en-US" sz="2133" b="1" dirty="0">
                <a:latin typeface="Times New Roman" panose="02020603050405020304" pitchFamily="18" charset="0"/>
                <a:cs typeface="Times New Roman" panose="02020603050405020304" pitchFamily="18" charset="0"/>
              </a:rPr>
              <a:t>similar environments or lifestyles</a:t>
            </a:r>
            <a:endParaRPr lang="en-US" sz="2133" dirty="0">
              <a:latin typeface="Times New Roman" panose="02020603050405020304" pitchFamily="18" charset="0"/>
              <a:cs typeface="Times New Roman" panose="02020603050405020304" pitchFamily="18" charset="0"/>
            </a:endParaRP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Evidence of </a:t>
            </a:r>
            <a:r>
              <a:rPr lang="en-US" sz="2133" b="1" dirty="0">
                <a:latin typeface="Times New Roman" panose="02020603050405020304" pitchFamily="18" charset="0"/>
                <a:cs typeface="Times New Roman" panose="02020603050405020304" pitchFamily="18" charset="0"/>
              </a:rPr>
              <a:t>convergent evolution</a:t>
            </a:r>
            <a:endParaRPr lang="en-US" sz="2133" dirty="0">
              <a:latin typeface="Times New Roman" panose="02020603050405020304" pitchFamily="18" charset="0"/>
              <a:cs typeface="Times New Roman" panose="02020603050405020304" pitchFamily="18" charset="0"/>
            </a:endParaRPr>
          </a:p>
          <a:p>
            <a:r>
              <a:rPr lang="en-US" sz="2133" b="1" dirty="0">
                <a:latin typeface="Times New Roman" panose="02020603050405020304" pitchFamily="18" charset="0"/>
                <a:cs typeface="Times New Roman" panose="02020603050405020304" pitchFamily="18" charset="0"/>
              </a:rPr>
              <a:t>Example:</a:t>
            </a:r>
            <a:endParaRPr lang="en-US" sz="2133" dirty="0">
              <a:latin typeface="Times New Roman" panose="02020603050405020304" pitchFamily="18" charset="0"/>
              <a:cs typeface="Times New Roman" panose="02020603050405020304" pitchFamily="18" charset="0"/>
            </a:endParaRP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Wings of bats (mammals) and insects (arthropods).</a:t>
            </a:r>
          </a:p>
          <a:p>
            <a:pPr marL="380990" indent="-380990">
              <a:buFont typeface="Arial" panose="020B0604020202020204" pitchFamily="34" charset="0"/>
              <a:buChar char="•"/>
            </a:pPr>
            <a:r>
              <a:rPr lang="en-US" sz="2133" dirty="0">
                <a:latin typeface="Times New Roman" panose="02020603050405020304" pitchFamily="18" charset="0"/>
                <a:cs typeface="Times New Roman" panose="02020603050405020304" pitchFamily="18" charset="0"/>
              </a:rPr>
              <a:t>Flippers of dolphins (mammals) and sharks (fish).</a:t>
            </a:r>
          </a:p>
        </p:txBody>
      </p:sp>
      <p:sp>
        <p:nvSpPr>
          <p:cNvPr id="8" name="object 8"/>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59</a:t>
            </a:fld>
            <a:endParaRPr spc="40" dirty="0"/>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03745" y="1418585"/>
            <a:ext cx="5382574" cy="5074285"/>
          </a:xfrm>
          <a:prstGeom prst="rect">
            <a:avLst/>
          </a:prstGeom>
        </p:spPr>
      </p:pic>
    </p:spTree>
    <p:extLst>
      <p:ext uri="{BB962C8B-B14F-4D97-AF65-F5344CB8AC3E}">
        <p14:creationId xmlns:p14="http://schemas.microsoft.com/office/powerpoint/2010/main" val="7488680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1255" y="385090"/>
            <a:ext cx="14020800" cy="694207"/>
          </a:xfrm>
          <a:prstGeom prst="rect">
            <a:avLst/>
          </a:prstGeom>
        </p:spPr>
        <p:txBody>
          <a:bodyPr vert="horz" wrap="square" lIns="0" tIns="16933" rIns="0" bIns="0" rtlCol="0" anchor="ctr">
            <a:spAutoFit/>
          </a:bodyPr>
          <a:lstStyle/>
          <a:p>
            <a:pPr marL="405543">
              <a:lnSpc>
                <a:spcPct val="100000"/>
              </a:lnSpc>
              <a:spcBef>
                <a:spcPts val="133"/>
              </a:spcBef>
            </a:pPr>
            <a:r>
              <a:rPr spc="360" dirty="0"/>
              <a:t>Types</a:t>
            </a:r>
            <a:r>
              <a:rPr spc="193" dirty="0"/>
              <a:t> </a:t>
            </a:r>
            <a:r>
              <a:rPr spc="233" dirty="0"/>
              <a:t>of</a:t>
            </a:r>
            <a:r>
              <a:rPr spc="193" dirty="0"/>
              <a:t> </a:t>
            </a:r>
            <a:r>
              <a:rPr spc="313" dirty="0"/>
              <a:t>Evolution</a:t>
            </a:r>
            <a:r>
              <a:rPr spc="200" dirty="0"/>
              <a:t> </a:t>
            </a:r>
            <a:r>
              <a:rPr spc="320" dirty="0"/>
              <a:t>(Convergent</a:t>
            </a:r>
            <a:r>
              <a:rPr spc="193" dirty="0"/>
              <a:t> </a:t>
            </a:r>
            <a:r>
              <a:rPr spc="272" dirty="0"/>
              <a:t>Evolution)</a:t>
            </a:r>
          </a:p>
        </p:txBody>
      </p:sp>
      <p:sp>
        <p:nvSpPr>
          <p:cNvPr id="7" name="object 7"/>
          <p:cNvSpPr txBox="1">
            <a:spLocks noGrp="1"/>
          </p:cNvSpPr>
          <p:nvPr>
            <p:ph type="sldNum" sz="quarter" idx="4294967295"/>
          </p:nvPr>
        </p:nvSpPr>
        <p:spPr>
          <a:xfrm>
            <a:off x="11648480" y="6368261"/>
            <a:ext cx="333587" cy="557418"/>
          </a:xfrm>
          <a:prstGeom prst="rect">
            <a:avLst/>
          </a:prstGeom>
        </p:spPr>
        <p:txBody>
          <a:bodyPr vert="horz" wrap="square" lIns="0" tIns="3387" rIns="0" bIns="0" rtlCol="0">
            <a:spAutoFit/>
          </a:bodyPr>
          <a:lstStyle/>
          <a:p>
            <a:pPr marL="70272">
              <a:spcBef>
                <a:spcPts val="27"/>
              </a:spcBef>
            </a:pPr>
            <a:fld id="{81D60167-4931-47E6-BA6A-407CBD079E47}" type="slidenum">
              <a:rPr spc="40" dirty="0"/>
              <a:pPr marL="70272">
                <a:spcBef>
                  <a:spcPts val="27"/>
                </a:spcBef>
              </a:pPr>
              <a:t>60</a:t>
            </a:fld>
            <a:endParaRPr spc="40"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3318" y="1295454"/>
            <a:ext cx="9660712" cy="5437039"/>
          </a:xfrm>
          <a:prstGeom prst="rect">
            <a:avLst/>
          </a:prstGeom>
        </p:spPr>
      </p:pic>
    </p:spTree>
    <p:extLst>
      <p:ext uri="{BB962C8B-B14F-4D97-AF65-F5344CB8AC3E}">
        <p14:creationId xmlns:p14="http://schemas.microsoft.com/office/powerpoint/2010/main" val="1304341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291</TotalTime>
  <Words>3187</Words>
  <Application>Microsoft Office PowerPoint</Application>
  <PresentationFormat>Widescreen</PresentationFormat>
  <Paragraphs>399</Paragraphs>
  <Slides>60</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60</vt:i4>
      </vt:variant>
    </vt:vector>
  </HeadingPairs>
  <TitlesOfParts>
    <vt:vector size="70" baseType="lpstr">
      <vt:lpstr>Arial</vt:lpstr>
      <vt:lpstr>Calibri</vt:lpstr>
      <vt:lpstr>Calibri Light</vt:lpstr>
      <vt:lpstr>Century</vt:lpstr>
      <vt:lpstr>Century Schoolbook</vt:lpstr>
      <vt:lpstr>Century Schoolbook Bold</vt:lpstr>
      <vt:lpstr>MS PMincho</vt:lpstr>
      <vt:lpstr>Times New Roman</vt:lpstr>
      <vt:lpstr>Wingdings</vt:lpstr>
      <vt:lpstr>Office Theme</vt:lpstr>
      <vt:lpstr>Bioinformatics</vt:lpstr>
      <vt:lpstr>What is Bioinformatics?</vt:lpstr>
      <vt:lpstr>What is Bioinformatics?</vt:lpstr>
      <vt:lpstr>What is Bioinformatics?</vt:lpstr>
      <vt:lpstr>Biological data</vt:lpstr>
      <vt:lpstr>Biological Data</vt:lpstr>
      <vt:lpstr>Human Genome Project</vt:lpstr>
      <vt:lpstr>Goals of Bioinformatics</vt:lpstr>
      <vt:lpstr>Applications of Bioinformatics</vt:lpstr>
      <vt:lpstr>Uses of Bioinformatics</vt:lpstr>
      <vt:lpstr>Uses of Bioinformatics</vt:lpstr>
      <vt:lpstr>Why is Bioinformatics important for CSE students?</vt:lpstr>
      <vt:lpstr>Why is Bioinformatics important for CSE students?</vt:lpstr>
      <vt:lpstr>Why is Bioinformatics important for CSE students?</vt:lpstr>
      <vt:lpstr>Why is Bioinformatics important for CSE students?</vt:lpstr>
      <vt:lpstr>PowerPoint Presentation</vt:lpstr>
      <vt:lpstr>PowerPoint Presentation</vt:lpstr>
      <vt:lpstr>PowerPoint Presentation</vt:lpstr>
      <vt:lpstr>Why is Bioinformatics important for CSE students?</vt:lpstr>
      <vt:lpstr>PowerPoint Presentation</vt:lpstr>
      <vt:lpstr>PowerPoint Presentation</vt:lpstr>
      <vt:lpstr>Why is Bioinformatics important for CSE students?</vt:lpstr>
      <vt:lpstr>Bioinformatics in Machine Learning and AI</vt:lpstr>
      <vt:lpstr>Role of Machine Learning in Bioinformatics</vt:lpstr>
      <vt:lpstr>Role of Machine Learning in Bioinformatics</vt:lpstr>
      <vt:lpstr>Role of Machine Learning in Bioinformatics</vt:lpstr>
      <vt:lpstr>Role of Machine Learning in Bioinformatics</vt:lpstr>
      <vt:lpstr>AI Techniques Used in Bioinformatics</vt:lpstr>
      <vt:lpstr>AI Techniques Used in Bioinformatics</vt:lpstr>
      <vt:lpstr>AI Techniques Used in Bioinformatics</vt:lpstr>
      <vt:lpstr>Future of AI in Bioinformatics</vt:lpstr>
      <vt:lpstr>Areas Where Bioinformatics is Applied!</vt:lpstr>
      <vt:lpstr>What is the purpose of Bioinformatics?</vt:lpstr>
      <vt:lpstr>Conventional Biology</vt:lpstr>
      <vt:lpstr>Bioinformatics</vt:lpstr>
      <vt:lpstr>How is Bioinformatics Different from Conventional Biology</vt:lpstr>
      <vt:lpstr>How is Bioinformatics Different from Conventional Biology</vt:lpstr>
      <vt:lpstr>How is Bioinformatics Different from Conventional Biology</vt:lpstr>
      <vt:lpstr>PowerPoint Presentation</vt:lpstr>
      <vt:lpstr>Biological Database</vt:lpstr>
      <vt:lpstr>Uses of Biological Database</vt:lpstr>
      <vt:lpstr>Types of Biological Database</vt:lpstr>
      <vt:lpstr>Types of Biological Database</vt:lpstr>
      <vt:lpstr>Types of Biological Database</vt:lpstr>
      <vt:lpstr>Types of Biological Database</vt:lpstr>
      <vt:lpstr>Central Dogma of Molecular Biology</vt:lpstr>
      <vt:lpstr>PowerPoint Presentation</vt:lpstr>
      <vt:lpstr>Central Dogma of Molecular Biology</vt:lpstr>
      <vt:lpstr>PowerPoint Presentation</vt:lpstr>
      <vt:lpstr>Central Dogma of Molecular Biology</vt:lpstr>
      <vt:lpstr>The Genetic Code</vt:lpstr>
      <vt:lpstr>The Genetic Code</vt:lpstr>
      <vt:lpstr>The Genetic Code</vt:lpstr>
      <vt:lpstr>Evidence of Evolution</vt:lpstr>
      <vt:lpstr>Evidence of Evolution</vt:lpstr>
      <vt:lpstr>Evidence of Evolution</vt:lpstr>
      <vt:lpstr>Types of Evolution</vt:lpstr>
      <vt:lpstr>Types of Evolution (Divergent Evolution)</vt:lpstr>
      <vt:lpstr>Types of Evolution (Convergent Evolution)</vt:lpstr>
      <vt:lpstr>Types of Evolution (Convergent Evolution)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CSEJU</dc:creator>
  <cp:lastModifiedBy>Microsoft account</cp:lastModifiedBy>
  <cp:revision>27</cp:revision>
  <dcterms:created xsi:type="dcterms:W3CDTF">2025-10-09T10:33:03Z</dcterms:created>
  <dcterms:modified xsi:type="dcterms:W3CDTF">2026-09-18T04:11:10Z</dcterms:modified>
</cp:coreProperties>
</file>