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9"/>
  </p:notesMasterIdLst>
  <p:handoutMasterIdLst>
    <p:handoutMasterId r:id="rId30"/>
  </p:handoutMasterIdLst>
  <p:sldIdLst>
    <p:sldId id="1058" r:id="rId2"/>
    <p:sldId id="1012" r:id="rId3"/>
    <p:sldId id="1030" r:id="rId4"/>
    <p:sldId id="1013" r:id="rId5"/>
    <p:sldId id="1014" r:id="rId6"/>
    <p:sldId id="1015" r:id="rId7"/>
    <p:sldId id="1016" r:id="rId8"/>
    <p:sldId id="1017" r:id="rId9"/>
    <p:sldId id="1018" r:id="rId10"/>
    <p:sldId id="1019" r:id="rId11"/>
    <p:sldId id="1057" r:id="rId12"/>
    <p:sldId id="975" r:id="rId13"/>
    <p:sldId id="906" r:id="rId14"/>
    <p:sldId id="907" r:id="rId15"/>
    <p:sldId id="995" r:id="rId16"/>
    <p:sldId id="909" r:id="rId17"/>
    <p:sldId id="910" r:id="rId18"/>
    <p:sldId id="996" r:id="rId19"/>
    <p:sldId id="275" r:id="rId20"/>
    <p:sldId id="971" r:id="rId21"/>
    <p:sldId id="973" r:id="rId22"/>
    <p:sldId id="1000" r:id="rId23"/>
    <p:sldId id="1001" r:id="rId24"/>
    <p:sldId id="972" r:id="rId25"/>
    <p:sldId id="997" r:id="rId26"/>
    <p:sldId id="1031" r:id="rId27"/>
    <p:sldId id="1032" r:id="rId28"/>
  </p:sldIdLst>
  <p:sldSz cx="9144000" cy="6858000" type="screen4x3"/>
  <p:notesSz cx="6992938" cy="9278938"/>
  <p:custDataLst>
    <p:tags r:id="rId31"/>
  </p:custDataLst>
  <p:defaultTextStyle>
    <a:defPPr>
      <a:defRPr lang="en-US"/>
    </a:defPPr>
    <a:lvl1pPr algn="l" rtl="0" eaLnBrk="0" fontAlgn="base" hangingPunct="0">
      <a:spcBef>
        <a:spcPct val="0"/>
      </a:spcBef>
      <a:spcAft>
        <a:spcPct val="0"/>
      </a:spcAft>
      <a:defRPr sz="2400" kern="1200">
        <a:solidFill>
          <a:schemeClr val="tx1"/>
        </a:solidFill>
        <a:latin typeface="Times New Roman"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2">
          <p15:clr>
            <a:srgbClr val="A4A3A4"/>
          </p15:clr>
        </p15:guide>
        <p15:guide id="2" pos="220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0000"/>
    <a:srgbClr val="FFFF99"/>
    <a:srgbClr val="006600"/>
    <a:srgbClr val="00FF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59" autoAdjust="0"/>
    <p:restoredTop sz="87010" autoAdjust="0"/>
  </p:normalViewPr>
  <p:slideViewPr>
    <p:cSldViewPr>
      <p:cViewPr varScale="1">
        <p:scale>
          <a:sx n="64" d="100"/>
          <a:sy n="64" d="100"/>
        </p:scale>
        <p:origin x="140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4514"/>
    </p:cViewPr>
  </p:sorterViewPr>
  <p:notesViewPr>
    <p:cSldViewPr>
      <p:cViewPr varScale="1">
        <p:scale>
          <a:sx n="92" d="100"/>
          <a:sy n="92" d="100"/>
        </p:scale>
        <p:origin x="-2022" y="-108"/>
      </p:cViewPr>
      <p:guideLst>
        <p:guide orient="horz" pos="2922"/>
        <p:guide pos="220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defTabSz="942975">
              <a:defRPr sz="1200">
                <a:latin typeface="Times New Roman" pitchFamily="18" charset="0"/>
              </a:defRPr>
            </a:lvl1pPr>
          </a:lstStyle>
          <a:p>
            <a:pPr>
              <a:defRPr/>
            </a:pPr>
            <a:r>
              <a:rPr lang="en-US"/>
              <a:t>Discrete Mathematics and its Applications</a:t>
            </a:r>
          </a:p>
        </p:txBody>
      </p:sp>
      <p:sp>
        <p:nvSpPr>
          <p:cNvPr id="23555" name="Rectangle 3"/>
          <p:cNvSpPr>
            <a:spLocks noGrp="1" noChangeArrowheads="1"/>
          </p:cNvSpPr>
          <p:nvPr>
            <p:ph type="dt" sz="quarter" idx="1"/>
          </p:nvPr>
        </p:nvSpPr>
        <p:spPr bwMode="auto">
          <a:xfrm>
            <a:off x="396240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algn="r" defTabSz="942975">
              <a:defRPr sz="1200">
                <a:latin typeface="Times New Roman" pitchFamily="18" charset="0"/>
              </a:defRPr>
            </a:lvl1pPr>
          </a:lstStyle>
          <a:p>
            <a:pPr>
              <a:defRPr/>
            </a:pPr>
            <a:fld id="{57243F50-08DE-4FFB-801F-CA25FDBF0643}" type="datetime1">
              <a:rPr lang="en-US"/>
              <a:pPr>
                <a:defRPr/>
              </a:pPr>
              <a:t>5/20/2026</a:t>
            </a:fld>
            <a:endParaRPr lang="en-US" dirty="0"/>
          </a:p>
        </p:txBody>
      </p:sp>
      <p:sp>
        <p:nvSpPr>
          <p:cNvPr id="23556" name="Rectangle 4"/>
          <p:cNvSpPr>
            <a:spLocks noGrp="1" noChangeArrowheads="1"/>
          </p:cNvSpPr>
          <p:nvPr>
            <p:ph type="ftr" sz="quarter" idx="2"/>
          </p:nvPr>
        </p:nvSpPr>
        <p:spPr bwMode="auto">
          <a:xfrm>
            <a:off x="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defTabSz="942975">
              <a:defRPr sz="1200">
                <a:latin typeface="Times New Roman" pitchFamily="18" charset="0"/>
              </a:defRPr>
            </a:lvl1pPr>
          </a:lstStyle>
          <a:p>
            <a:pPr>
              <a:defRPr/>
            </a:pPr>
            <a:r>
              <a:rPr lang="en-US"/>
              <a:t>(c)2001-2002, Michael P. Frank</a:t>
            </a:r>
          </a:p>
        </p:txBody>
      </p:sp>
      <p:sp>
        <p:nvSpPr>
          <p:cNvPr id="23557" name="Rectangle 5"/>
          <p:cNvSpPr>
            <a:spLocks noGrp="1" noChangeArrowheads="1"/>
          </p:cNvSpPr>
          <p:nvPr>
            <p:ph type="sldNum" sz="quarter" idx="3"/>
          </p:nvPr>
        </p:nvSpPr>
        <p:spPr bwMode="auto">
          <a:xfrm>
            <a:off x="396240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algn="r" defTabSz="942975">
              <a:defRPr sz="1200">
                <a:latin typeface="Times New Roman" pitchFamily="18" charset="0"/>
                <a:cs typeface="Times New Roman" pitchFamily="18" charset="0"/>
              </a:defRPr>
            </a:lvl1pPr>
          </a:lstStyle>
          <a:p>
            <a:pPr>
              <a:defRPr/>
            </a:pPr>
            <a:fld id="{2F0A882D-05F0-42B1-B14F-B0D2CC960CAE}" type="slidenum">
              <a:rPr lang="ar-JO"/>
              <a:pPr>
                <a:defRPr/>
              </a:pPr>
              <a:t>‹#›</a:t>
            </a:fld>
            <a:endParaRPr lang="en-US" dirty="0"/>
          </a:p>
        </p:txBody>
      </p:sp>
    </p:spTree>
    <p:extLst>
      <p:ext uri="{BB962C8B-B14F-4D97-AF65-F5344CB8AC3E}">
        <p14:creationId xmlns:p14="http://schemas.microsoft.com/office/powerpoint/2010/main" val="73175890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defTabSz="942975">
              <a:defRPr sz="1200">
                <a:latin typeface="Times New Roman" pitchFamily="18" charset="0"/>
              </a:defRPr>
            </a:lvl1pPr>
          </a:lstStyle>
          <a:p>
            <a:pPr>
              <a:defRPr/>
            </a:pPr>
            <a:r>
              <a:rPr lang="en-US"/>
              <a:t>Discrete Mathematics and its Applications</a:t>
            </a:r>
          </a:p>
        </p:txBody>
      </p:sp>
      <p:sp>
        <p:nvSpPr>
          <p:cNvPr id="19459" name="Rectangle 3"/>
          <p:cNvSpPr>
            <a:spLocks noGrp="1" noChangeArrowheads="1"/>
          </p:cNvSpPr>
          <p:nvPr>
            <p:ph type="dt" idx="1"/>
          </p:nvPr>
        </p:nvSpPr>
        <p:spPr bwMode="auto">
          <a:xfrm>
            <a:off x="3962400" y="0"/>
            <a:ext cx="3030538" cy="474663"/>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lvl1pPr algn="r" defTabSz="942975">
              <a:defRPr sz="1200">
                <a:latin typeface="Times New Roman" pitchFamily="18" charset="0"/>
              </a:defRPr>
            </a:lvl1pPr>
          </a:lstStyle>
          <a:p>
            <a:pPr>
              <a:defRPr/>
            </a:pPr>
            <a:fld id="{50E62979-9E3F-43B3-B46F-D3599431C257}" type="datetime1">
              <a:rPr lang="en-US"/>
              <a:pPr>
                <a:defRPr/>
              </a:pPr>
              <a:t>5/20/2026</a:t>
            </a:fld>
            <a:endParaRPr lang="en-US" dirty="0"/>
          </a:p>
        </p:txBody>
      </p:sp>
      <p:sp>
        <p:nvSpPr>
          <p:cNvPr id="56324" name="Rectangle 4"/>
          <p:cNvSpPr>
            <a:spLocks noGrp="1" noRot="1" noChangeAspect="1" noChangeArrowheads="1" noTextEdit="1"/>
          </p:cNvSpPr>
          <p:nvPr>
            <p:ph type="sldImg" idx="2"/>
          </p:nvPr>
        </p:nvSpPr>
        <p:spPr bwMode="auto">
          <a:xfrm>
            <a:off x="1173163" y="712788"/>
            <a:ext cx="4648200" cy="348615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31863" y="4437063"/>
            <a:ext cx="5129212" cy="4119562"/>
          </a:xfrm>
          <a:prstGeom prst="rect">
            <a:avLst/>
          </a:prstGeom>
          <a:noFill/>
          <a:ln w="9525">
            <a:noFill/>
            <a:miter lim="800000"/>
            <a:headEnd/>
            <a:tailEnd/>
          </a:ln>
          <a:effectLst/>
        </p:spPr>
        <p:txBody>
          <a:bodyPr vert="horz" wrap="square" lIns="94265" tIns="47133" rIns="94265" bIns="4713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9462" name="Rectangle 6"/>
          <p:cNvSpPr>
            <a:spLocks noGrp="1" noChangeArrowheads="1"/>
          </p:cNvSpPr>
          <p:nvPr>
            <p:ph type="ftr" sz="quarter" idx="4"/>
          </p:nvPr>
        </p:nvSpPr>
        <p:spPr bwMode="auto">
          <a:xfrm>
            <a:off x="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defTabSz="942975">
              <a:defRPr sz="1200">
                <a:latin typeface="Times New Roman" pitchFamily="18" charset="0"/>
              </a:defRPr>
            </a:lvl1pPr>
          </a:lstStyle>
          <a:p>
            <a:pPr>
              <a:defRPr/>
            </a:pPr>
            <a:r>
              <a:rPr lang="en-US"/>
              <a:t>(c)2001-2002, Michael P. Frank</a:t>
            </a:r>
          </a:p>
        </p:txBody>
      </p:sp>
      <p:sp>
        <p:nvSpPr>
          <p:cNvPr id="19463" name="Rectangle 7"/>
          <p:cNvSpPr>
            <a:spLocks noGrp="1" noChangeArrowheads="1"/>
          </p:cNvSpPr>
          <p:nvPr>
            <p:ph type="sldNum" sz="quarter" idx="5"/>
          </p:nvPr>
        </p:nvSpPr>
        <p:spPr bwMode="auto">
          <a:xfrm>
            <a:off x="3962400" y="8793163"/>
            <a:ext cx="3030538" cy="476250"/>
          </a:xfrm>
          <a:prstGeom prst="rect">
            <a:avLst/>
          </a:prstGeom>
          <a:noFill/>
          <a:ln w="9525">
            <a:noFill/>
            <a:miter lim="800000"/>
            <a:headEnd/>
            <a:tailEnd/>
          </a:ln>
          <a:effectLst/>
        </p:spPr>
        <p:txBody>
          <a:bodyPr vert="horz" wrap="square" lIns="94265" tIns="47133" rIns="94265" bIns="47133" numCol="1" anchor="b" anchorCtr="0" compatLnSpc="1">
            <a:prstTxWarp prst="textNoShape">
              <a:avLst/>
            </a:prstTxWarp>
          </a:bodyPr>
          <a:lstStyle>
            <a:lvl1pPr algn="r" defTabSz="942975">
              <a:defRPr sz="1200">
                <a:latin typeface="Times New Roman" pitchFamily="18" charset="0"/>
                <a:cs typeface="Times New Roman" pitchFamily="18" charset="0"/>
              </a:defRPr>
            </a:lvl1pPr>
          </a:lstStyle>
          <a:p>
            <a:pPr>
              <a:defRPr/>
            </a:pPr>
            <a:fld id="{105C25D8-1BFB-4566-B95A-F6DD15C29523}" type="slidenum">
              <a:rPr lang="ar-JO"/>
              <a:pPr>
                <a:defRPr/>
              </a:pPr>
              <a:t>‹#›</a:t>
            </a:fld>
            <a:endParaRPr lang="en-US" dirty="0"/>
          </a:p>
        </p:txBody>
      </p:sp>
    </p:spTree>
    <p:extLst>
      <p:ext uri="{BB962C8B-B14F-4D97-AF65-F5344CB8AC3E}">
        <p14:creationId xmlns:p14="http://schemas.microsoft.com/office/powerpoint/2010/main" val="1207765388"/>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smtClean="0">
              <a:latin typeface="Times New Roman" charset="0"/>
            </a:endParaRPr>
          </a:p>
        </p:txBody>
      </p:sp>
      <p:sp>
        <p:nvSpPr>
          <p:cNvPr id="57348" name="Slide Number Placeholder 6"/>
          <p:cNvSpPr>
            <a:spLocks noGrp="1"/>
          </p:cNvSpPr>
          <p:nvPr>
            <p:ph type="sldNum" sz="quarter" idx="5"/>
          </p:nvPr>
        </p:nvSpPr>
        <p:spPr>
          <a:noFill/>
        </p:spPr>
        <p:txBody>
          <a:bodyPr/>
          <a:lstStyle/>
          <a:p>
            <a:fld id="{D85E6638-0514-4491-9C57-3DD8FA5082A9}" type="slidenum">
              <a:rPr lang="ar-JO" smtClean="0">
                <a:latin typeface="Times New Roman" charset="0"/>
                <a:cs typeface="Times New Roman" charset="0"/>
              </a:rPr>
              <a:pPr/>
              <a:t>2</a:t>
            </a:fld>
            <a:endParaRPr lang="en-US" smtClean="0">
              <a:latin typeface="Times New Roman" charset="0"/>
              <a:cs typeface="Times New Roman" charset="0"/>
            </a:endParaRPr>
          </a:p>
        </p:txBody>
      </p:sp>
      <p:sp>
        <p:nvSpPr>
          <p:cNvPr id="57349" name="Footer Placeholder 4"/>
          <p:cNvSpPr>
            <a:spLocks noGrp="1"/>
          </p:cNvSpPr>
          <p:nvPr>
            <p:ph type="ftr" sz="quarter" idx="4"/>
          </p:nvPr>
        </p:nvSpPr>
        <p:spPr>
          <a:noFill/>
        </p:spPr>
        <p:txBody>
          <a:bodyPr/>
          <a:lstStyle/>
          <a:p>
            <a:r>
              <a:rPr lang="en-US" smtClean="0">
                <a:latin typeface="Times New Roman" charset="0"/>
              </a:rPr>
              <a:t>(c)2001-2002, Michael P. Frank</a:t>
            </a:r>
          </a:p>
        </p:txBody>
      </p:sp>
    </p:spTree>
    <p:extLst>
      <p:ext uri="{BB962C8B-B14F-4D97-AF65-F5344CB8AC3E}">
        <p14:creationId xmlns:p14="http://schemas.microsoft.com/office/powerpoint/2010/main" val="2862175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0106C3D-545F-421B-905E-AD1DCBE98C49}" type="datetime1">
              <a:rPr lang="en-US" smtClean="0"/>
              <a:t>5/20/2026</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618F33A2-4C0A-4303-B486-1C647C60EF6E}" type="slidenum">
              <a:rPr lang="ar-JO"/>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9670C6A-5D8E-4441-A508-5C22D651CBC9}" type="datetime1">
              <a:rPr lang="en-US" smtClean="0"/>
              <a:t>5/20/2026</a:t>
            </a:fld>
            <a:endParaRPr lang="en-US" dirty="0"/>
          </a:p>
        </p:txBody>
      </p:sp>
      <p:sp>
        <p:nvSpPr>
          <p:cNvPr id="5" name="Rectangle 6"/>
          <p:cNvSpPr>
            <a:spLocks noGrp="1" noChangeArrowheads="1"/>
          </p:cNvSpPr>
          <p:nvPr>
            <p:ph type="sldNum" sz="quarter" idx="11"/>
          </p:nvPr>
        </p:nvSpPr>
        <p:spPr>
          <a:ln/>
        </p:spPr>
        <p:txBody>
          <a:bodyPr/>
          <a:lstStyle>
            <a:lvl1pPr>
              <a:defRPr>
                <a:solidFill>
                  <a:schemeClr val="tx1"/>
                </a:solidFill>
              </a:defRPr>
            </a:lvl1pPr>
          </a:lstStyle>
          <a:p>
            <a:pPr>
              <a:defRPr/>
            </a:pPr>
            <a:fld id="{1CCF598D-505B-4680-97F0-0ED15106C8F0}" type="slidenum">
              <a:rPr lang="ar-JO" smtClean="0"/>
              <a:pPr>
                <a:defRPr/>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04BE9E39-D3E2-4411-BFEF-CD5AFD04D85D}" type="datetime1">
              <a:rPr lang="en-US" smtClean="0"/>
              <a:t>5/20/2026</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86DBEF4E-EAAF-4AA0-91D2-5110314CCEFA}" type="slidenum">
              <a:rPr lang="ar-JO"/>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B43148B2-67FE-4779-A023-46B2F45F7780}" type="datetime1">
              <a:rPr lang="en-US" smtClean="0"/>
              <a:t>5/20/2026</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0150A378-8B7A-47A1-87A0-6125A8B2A9AF}" type="slidenum">
              <a:rPr lang="ar-JO"/>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B1AA7A04-417F-4EBA-BA78-AFE5F5B0E252}" type="datetime1">
              <a:rPr lang="en-US" smtClean="0"/>
              <a:t>5/20/2026</a:t>
            </a:fld>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7B7F3B68-76C7-4622-AB88-8AFC215FDE49}" type="slidenum">
              <a:rPr lang="ar-JO"/>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5ED92B3A-CE5F-4E20-BE84-88D161079FD7}" type="datetime1">
              <a:rPr lang="en-US" smtClean="0"/>
              <a:t>5/20/2026</a:t>
            </a:fld>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7D233A7B-D7D1-4512-A37B-DF32BC6D91F2}" type="slidenum">
              <a:rPr lang="ar-JO"/>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A551BDD-BFA0-436D-9881-052F84059F22}" type="datetime1">
              <a:rPr lang="en-US" smtClean="0"/>
              <a:t>5/20/2026</a:t>
            </a:fld>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6E1820F8-2A6B-438B-8A48-CD00E36C93D5}" type="slidenum">
              <a:rPr lang="ar-JO"/>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5D0695CE-A621-47F9-8FE0-162CC4B7FFA6}" type="datetime1">
              <a:rPr lang="en-US" smtClean="0"/>
              <a:t>5/20/2026</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441C1CE5-DBB1-423F-8843-2A8A77C45240}" type="slidenum">
              <a:rPr lang="ar-JO"/>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0411134-B46A-49A8-8916-C8B63871D1AF}" type="datetime1">
              <a:rPr lang="en-US" smtClean="0"/>
              <a:t>5/20/2026</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729062A0-0427-48F7-AFD2-18CA6A564AC8}" type="slidenum">
              <a:rPr lang="ar-JO"/>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70D4A443-3B3E-4EEE-A401-587C07EC7292}" type="datetime1">
              <a:rPr lang="en-US" smtClean="0"/>
              <a:t>5/20/2026</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E4175289-0278-4F9C-B409-D268316B4821}" type="slidenum">
              <a:rPr lang="ar-JO"/>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8C29FEC1-0386-4F4D-BA89-7968DA924092}" type="datetime1">
              <a:rPr lang="en-US" smtClean="0"/>
              <a:t>5/20/2026</a:t>
            </a:fld>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19F5F7BA-6A0D-4AED-8337-D192A6554360}" type="slidenum">
              <a:rPr lang="ar-JO"/>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CA594460-5068-4006-9B33-342C54397CF4}" type="datetime1">
              <a:rPr lang="en-US" smtClean="0"/>
              <a:t>5/20/2026</a:t>
            </a:fld>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D7B720B4-2B8F-4707-B2BD-BC9F44B73AF4}" type="slidenum">
              <a:rPr lang="ar-JO"/>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685800" y="609600"/>
            <a:ext cx="7772400" cy="1143000"/>
          </a:xfrm>
          <a:prstGeom prst="rect">
            <a:avLst/>
          </a:prstGeom>
          <a:solidFill>
            <a:srgbClr val="99CC00"/>
          </a:solidFill>
          <a:ln w="57150">
            <a:solidFill>
              <a:srgbClr val="FFFF00"/>
            </a:solid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solidFill>
            <a:schemeClr val="bg1"/>
          </a:solidFill>
          <a:ln w="57150">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76200"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Times New Roman" pitchFamily="18" charset="0"/>
              </a:defRPr>
            </a:lvl1pPr>
          </a:lstStyle>
          <a:p>
            <a:pPr>
              <a:defRPr/>
            </a:pPr>
            <a:fld id="{F10B24E9-5F91-4748-93A4-C3D6E27D0E79}" type="datetime1">
              <a:rPr lang="en-US" smtClean="0"/>
              <a:t>5/20/2026</a:t>
            </a:fld>
            <a:endParaRPr lang="en-US" dirty="0"/>
          </a:p>
        </p:txBody>
      </p:sp>
      <p:sp>
        <p:nvSpPr>
          <p:cNvPr id="1030" name="Rectangle 6"/>
          <p:cNvSpPr>
            <a:spLocks noGrp="1" noChangeArrowheads="1"/>
          </p:cNvSpPr>
          <p:nvPr>
            <p:ph type="sldNum" sz="quarter" idx="4"/>
          </p:nvPr>
        </p:nvSpPr>
        <p:spPr bwMode="auto">
          <a:xfrm>
            <a:off x="7162800" y="6477000"/>
            <a:ext cx="1905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Times New Roman" pitchFamily="18" charset="0"/>
                <a:cs typeface="Times New Roman" pitchFamily="18" charset="0"/>
              </a:defRPr>
            </a:lvl1pPr>
          </a:lstStyle>
          <a:p>
            <a:pPr>
              <a:defRPr/>
            </a:pPr>
            <a:fld id="{9D6CA894-8E01-4677-A2E5-D43AE9129011}" type="slidenum">
              <a:rPr lang="ar-JO"/>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Times New Roman" pitchFamily="18" charset="0"/>
        </a:defRPr>
      </a:lvl2pPr>
      <a:lvl3pPr algn="ctr" rtl="0" eaLnBrk="0" fontAlgn="base" hangingPunct="0">
        <a:spcBef>
          <a:spcPct val="0"/>
        </a:spcBef>
        <a:spcAft>
          <a:spcPct val="0"/>
        </a:spcAft>
        <a:defRPr sz="4400">
          <a:solidFill>
            <a:schemeClr val="tx1"/>
          </a:solidFill>
          <a:latin typeface="Times New Roman" pitchFamily="18" charset="0"/>
        </a:defRPr>
      </a:lvl3pPr>
      <a:lvl4pPr algn="ctr" rtl="0" eaLnBrk="0" fontAlgn="base" hangingPunct="0">
        <a:spcBef>
          <a:spcPct val="0"/>
        </a:spcBef>
        <a:spcAft>
          <a:spcPct val="0"/>
        </a:spcAft>
        <a:defRPr sz="4400">
          <a:solidFill>
            <a:schemeClr val="tx1"/>
          </a:solidFill>
          <a:latin typeface="Times New Roman" pitchFamily="18" charset="0"/>
        </a:defRPr>
      </a:lvl4pPr>
      <a:lvl5pPr algn="ctr" rtl="0" eaLnBrk="0" fontAlgn="base" hangingPunct="0">
        <a:spcBef>
          <a:spcPct val="0"/>
        </a:spcBef>
        <a:spcAft>
          <a:spcPct val="0"/>
        </a:spcAft>
        <a:defRPr sz="4400">
          <a:solidFill>
            <a:schemeClr val="tx1"/>
          </a:solidFill>
          <a:latin typeface="Times New Roman" pitchFamily="18" charset="0"/>
        </a:defRPr>
      </a:lvl5pPr>
      <a:lvl6pPr marL="457200" algn="ctr" rtl="0" eaLnBrk="0" fontAlgn="base" hangingPunct="0">
        <a:spcBef>
          <a:spcPct val="0"/>
        </a:spcBef>
        <a:spcAft>
          <a:spcPct val="0"/>
        </a:spcAft>
        <a:defRPr sz="4400">
          <a:solidFill>
            <a:schemeClr val="tx1"/>
          </a:solidFill>
          <a:latin typeface="Times New Roman" pitchFamily="18" charset="0"/>
        </a:defRPr>
      </a:lvl6pPr>
      <a:lvl7pPr marL="914400" algn="ctr" rtl="0" eaLnBrk="0" fontAlgn="base" hangingPunct="0">
        <a:spcBef>
          <a:spcPct val="0"/>
        </a:spcBef>
        <a:spcAft>
          <a:spcPct val="0"/>
        </a:spcAft>
        <a:defRPr sz="4400">
          <a:solidFill>
            <a:schemeClr val="tx1"/>
          </a:solidFill>
          <a:latin typeface="Times New Roman" pitchFamily="18" charset="0"/>
        </a:defRPr>
      </a:lvl7pPr>
      <a:lvl8pPr marL="1371600" algn="ctr" rtl="0" eaLnBrk="0" fontAlgn="base" hangingPunct="0">
        <a:spcBef>
          <a:spcPct val="0"/>
        </a:spcBef>
        <a:spcAft>
          <a:spcPct val="0"/>
        </a:spcAft>
        <a:defRPr sz="4400">
          <a:solidFill>
            <a:schemeClr val="tx1"/>
          </a:solidFill>
          <a:latin typeface="Times New Roman" pitchFamily="18" charset="0"/>
        </a:defRPr>
      </a:lvl8pPr>
      <a:lvl9pPr marL="1828800" algn="ctr" rtl="0" eaLnBrk="0" fontAlgn="base" hangingPunct="0">
        <a:spcBef>
          <a:spcPct val="0"/>
        </a:spcBef>
        <a:spcAft>
          <a:spcPct val="0"/>
        </a:spcAft>
        <a:defRPr sz="4400">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har char="•"/>
        <a:defRPr sz="24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5pPr>
      <a:lvl6pPr marL="25146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6pPr>
      <a:lvl7pPr marL="29718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7pPr>
      <a:lvl8pPr marL="34290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8pPr>
      <a:lvl9pPr marL="3886200" indent="-228600" algn="l" rtl="0" eaLnBrk="0" fontAlgn="base" hangingPunct="0">
        <a:spcBef>
          <a:spcPct val="20000"/>
        </a:spcBef>
        <a:spcAft>
          <a:spcPct val="0"/>
        </a:spcAft>
        <a:buChar char="»"/>
        <a:defRPr sz="2000">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1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685800" y="877716"/>
            <a:ext cx="7772400" cy="155158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1200"/>
              </a:spcAft>
            </a:pPr>
            <a:r>
              <a:rPr lang="en-US" altLang="en-US" sz="6600" b="1" dirty="0">
                <a:latin typeface="Calibri" panose="020F0502020204030204" pitchFamily="34" charset="0"/>
                <a:ea typeface="Calibri" panose="020F0502020204030204" pitchFamily="34" charset="0"/>
                <a:cs typeface="Calibri" panose="020F0502020204030204" pitchFamily="34" charset="0"/>
              </a:rPr>
              <a:t>Data Structure and Algorithm</a:t>
            </a:r>
            <a:br>
              <a:rPr lang="en-US" altLang="en-US" sz="6600" b="1" dirty="0">
                <a:latin typeface="Calibri" panose="020F0502020204030204" pitchFamily="34" charset="0"/>
                <a:ea typeface="Calibri" panose="020F0502020204030204" pitchFamily="34" charset="0"/>
                <a:cs typeface="Calibri" panose="020F0502020204030204" pitchFamily="34" charset="0"/>
              </a:rPr>
            </a:br>
            <a:r>
              <a:rPr lang="en-US" altLang="en-US" sz="4800" b="1" dirty="0">
                <a:solidFill>
                  <a:srgbClr val="00B050"/>
                </a:solidFill>
                <a:latin typeface="Calibri" panose="020F0502020204030204" pitchFamily="34" charset="0"/>
                <a:ea typeface="Calibri" panose="020F0502020204030204" pitchFamily="34" charset="0"/>
                <a:cs typeface="Calibri" panose="020F0502020204030204" pitchFamily="34" charset="0"/>
              </a:rPr>
              <a:t>(PMSCS 623P)</a:t>
            </a:r>
          </a:p>
        </p:txBody>
      </p:sp>
      <p:sp>
        <p:nvSpPr>
          <p:cNvPr id="4" name="Subtitle 2"/>
          <p:cNvSpPr txBox="1">
            <a:spLocks/>
          </p:cNvSpPr>
          <p:nvPr/>
        </p:nvSpPr>
        <p:spPr>
          <a:xfrm>
            <a:off x="1371600" y="4038600"/>
            <a:ext cx="6400800" cy="1752600"/>
          </a:xfrm>
          <a:prstGeom prst="rect">
            <a:avLst/>
          </a:prstGeom>
        </p:spPr>
        <p:txBody>
          <a:bodyPr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sz="20000" dirty="0">
                <a:latin typeface="Calibri" panose="020F0502020204030204" pitchFamily="34" charset="0"/>
                <a:ea typeface="Calibri" panose="020F0502020204030204" pitchFamily="34" charset="0"/>
                <a:cs typeface="Calibri" panose="020F0502020204030204" pitchFamily="34" charset="0"/>
              </a:rPr>
              <a:t>Lecture 9</a:t>
            </a:r>
            <a:endParaRPr lang="en-US" sz="19200" dirty="0">
              <a:latin typeface="Calibri" panose="020F0502020204030204" pitchFamily="34" charset="0"/>
              <a:ea typeface="Calibri" panose="020F0502020204030204" pitchFamily="34" charset="0"/>
              <a:cs typeface="Calibri" panose="020F0502020204030204" pitchFamily="34" charset="0"/>
            </a:endParaRPr>
          </a:p>
          <a:p>
            <a:pPr marL="0" indent="0" algn="ctr">
              <a:buNone/>
              <a:defRPr/>
            </a:pPr>
            <a:r>
              <a:rPr lang="en-US" sz="10000" b="1" dirty="0" smtClean="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Graph</a:t>
            </a:r>
            <a:endParaRPr lang="en-US" sz="10000"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208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5800" y="381000"/>
            <a:ext cx="7772400" cy="990600"/>
          </a:xfrm>
          <a:solidFill>
            <a:srgbClr val="00FF00"/>
          </a:solidFill>
          <a:ln w="63500">
            <a:solidFill>
              <a:srgbClr val="006600"/>
            </a:solidFill>
          </a:ln>
        </p:spPr>
        <p:txBody>
          <a:bodyPr/>
          <a:lstStyle/>
          <a:p>
            <a:r>
              <a:rPr lang="en-US" b="1" dirty="0" smtClean="0"/>
              <a:t>Graphs and Graph Models</a:t>
            </a:r>
          </a:p>
        </p:txBody>
      </p:sp>
      <p:sp>
        <p:nvSpPr>
          <p:cNvPr id="14339" name="Content Placeholder 2"/>
          <p:cNvSpPr>
            <a:spLocks noGrp="1"/>
          </p:cNvSpPr>
          <p:nvPr>
            <p:ph idx="1"/>
          </p:nvPr>
        </p:nvSpPr>
        <p:spPr>
          <a:xfrm>
            <a:off x="685800" y="1600200"/>
            <a:ext cx="7772400" cy="4648200"/>
          </a:xfrm>
          <a:solidFill>
            <a:srgbClr val="FFFF99"/>
          </a:solidFill>
          <a:ln w="63500">
            <a:solidFill>
              <a:srgbClr val="006600"/>
            </a:solidFill>
          </a:ln>
        </p:spPr>
        <p:txBody>
          <a:bodyPr/>
          <a:lstStyle/>
          <a:p>
            <a:pPr algn="just">
              <a:buFontTx/>
              <a:buNone/>
            </a:pPr>
            <a:r>
              <a:rPr lang="en-US" sz="2800" b="1" u="sng" dirty="0" smtClean="0">
                <a:effectLst/>
              </a:rPr>
              <a:t>Definition 1:</a:t>
            </a:r>
            <a:r>
              <a:rPr lang="en-US" sz="2800" dirty="0" smtClean="0">
                <a:effectLst/>
              </a:rPr>
              <a:t> A </a:t>
            </a:r>
            <a:r>
              <a:rPr lang="en-US" sz="2800" b="1" dirty="0" smtClean="0">
                <a:solidFill>
                  <a:srgbClr val="FF0000"/>
                </a:solidFill>
                <a:effectLst/>
              </a:rPr>
              <a:t>graph</a:t>
            </a:r>
            <a:r>
              <a:rPr lang="en-US" sz="2800" dirty="0" smtClean="0">
                <a:effectLst/>
              </a:rPr>
              <a:t> </a:t>
            </a:r>
            <a:r>
              <a:rPr lang="en-US" sz="2800" i="1" dirty="0" smtClean="0">
                <a:effectLst/>
              </a:rPr>
              <a:t>G</a:t>
            </a:r>
            <a:r>
              <a:rPr lang="en-US" sz="2800" dirty="0" smtClean="0">
                <a:effectLst/>
              </a:rPr>
              <a:t> = (</a:t>
            </a:r>
            <a:r>
              <a:rPr lang="en-US" sz="2800" i="1" dirty="0" smtClean="0">
                <a:effectLst/>
              </a:rPr>
              <a:t>V</a:t>
            </a:r>
            <a:r>
              <a:rPr lang="en-US" sz="2800" dirty="0" smtClean="0">
                <a:effectLst/>
              </a:rPr>
              <a:t> , </a:t>
            </a:r>
            <a:r>
              <a:rPr lang="en-US" sz="2800" i="1" dirty="0" smtClean="0">
                <a:effectLst/>
              </a:rPr>
              <a:t>E </a:t>
            </a:r>
            <a:r>
              <a:rPr lang="en-US" sz="2800" dirty="0" smtClean="0">
                <a:effectLst/>
              </a:rPr>
              <a:t>) consists of </a:t>
            </a:r>
            <a:r>
              <a:rPr lang="en-US" sz="2800" i="1" dirty="0" smtClean="0">
                <a:effectLst/>
              </a:rPr>
              <a:t>V</a:t>
            </a:r>
            <a:r>
              <a:rPr lang="en-US" sz="2800" dirty="0" smtClean="0">
                <a:effectLst/>
              </a:rPr>
              <a:t>, a nonempty set of vertices (or nodes) and </a:t>
            </a:r>
            <a:r>
              <a:rPr lang="en-US" sz="2800" i="1" dirty="0" smtClean="0">
                <a:effectLst/>
              </a:rPr>
              <a:t>E</a:t>
            </a:r>
            <a:r>
              <a:rPr lang="en-US" sz="2800" dirty="0" smtClean="0">
                <a:effectLst/>
              </a:rPr>
              <a:t>, a set of edges. Each edge has either one or two vertices associated with it, called its endpoints. An edge is said to connect its endpoints.</a:t>
            </a:r>
          </a:p>
          <a:p>
            <a:pPr algn="just">
              <a:buFontTx/>
              <a:buNone/>
            </a:pPr>
            <a:endParaRPr lang="en-US" sz="2800" dirty="0" smtClean="0">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81000"/>
            <a:ext cx="7772400" cy="1143000"/>
          </a:xfrm>
          <a:solidFill>
            <a:srgbClr val="00FF00"/>
          </a:solidFill>
          <a:ln>
            <a:solidFill>
              <a:srgbClr val="006600"/>
            </a:solidFill>
          </a:ln>
        </p:spPr>
        <p:txBody>
          <a:bodyPr/>
          <a:lstStyle/>
          <a:p>
            <a:r>
              <a:rPr lang="en-US" smtClean="0">
                <a:latin typeface="Arial" charset="0"/>
              </a:rPr>
              <a:t>Summary</a:t>
            </a:r>
          </a:p>
        </p:txBody>
      </p:sp>
      <p:sp>
        <p:nvSpPr>
          <p:cNvPr id="15363" name="Rectangle 3"/>
          <p:cNvSpPr>
            <a:spLocks noGrp="1" noChangeArrowheads="1"/>
          </p:cNvSpPr>
          <p:nvPr>
            <p:ph type="body" sz="half" idx="1"/>
          </p:nvPr>
        </p:nvSpPr>
        <p:spPr>
          <a:xfrm>
            <a:off x="685800" y="1946275"/>
            <a:ext cx="7772400" cy="4530725"/>
          </a:xfrm>
          <a:solidFill>
            <a:srgbClr val="FFFF99"/>
          </a:solidFill>
          <a:ln>
            <a:solidFill>
              <a:srgbClr val="006600"/>
            </a:solidFill>
          </a:ln>
        </p:spPr>
        <p:txBody>
          <a:bodyPr/>
          <a:lstStyle/>
          <a:p>
            <a:r>
              <a:rPr lang="en-US" dirty="0" smtClean="0">
                <a:effectLst/>
              </a:rPr>
              <a:t>It is a pair </a:t>
            </a:r>
            <a:r>
              <a:rPr lang="en-US" i="1" dirty="0" smtClean="0">
                <a:effectLst/>
              </a:rPr>
              <a:t>G</a:t>
            </a:r>
            <a:r>
              <a:rPr lang="en-US" dirty="0" smtClean="0">
                <a:effectLst/>
              </a:rPr>
              <a:t> = (</a:t>
            </a:r>
            <a:r>
              <a:rPr lang="en-US" i="1" dirty="0" smtClean="0">
                <a:effectLst/>
              </a:rPr>
              <a:t>V</a:t>
            </a:r>
            <a:r>
              <a:rPr lang="en-US" dirty="0" smtClean="0">
                <a:effectLst/>
              </a:rPr>
              <a:t>, </a:t>
            </a:r>
            <a:r>
              <a:rPr lang="en-US" i="1" dirty="0" smtClean="0">
                <a:effectLst/>
              </a:rPr>
              <a:t>E </a:t>
            </a:r>
            <a:r>
              <a:rPr lang="en-US" dirty="0" smtClean="0">
                <a:effectLst/>
              </a:rPr>
              <a:t>), where</a:t>
            </a:r>
          </a:p>
          <a:p>
            <a:pPr lvl="1">
              <a:buFont typeface="Courier New" pitchFamily="49" charset="0"/>
              <a:buChar char="o"/>
            </a:pPr>
            <a:r>
              <a:rPr lang="en-US" i="1" dirty="0" smtClean="0">
                <a:effectLst/>
              </a:rPr>
              <a:t>V</a:t>
            </a:r>
            <a:r>
              <a:rPr lang="en-US" dirty="0" smtClean="0">
                <a:effectLst/>
              </a:rPr>
              <a:t>  = </a:t>
            </a:r>
            <a:r>
              <a:rPr lang="en-US" i="1" dirty="0" smtClean="0">
                <a:effectLst/>
              </a:rPr>
              <a:t>V </a:t>
            </a:r>
            <a:r>
              <a:rPr lang="en-US" dirty="0" smtClean="0">
                <a:effectLst/>
              </a:rPr>
              <a:t>(</a:t>
            </a:r>
            <a:r>
              <a:rPr lang="en-US" i="1" dirty="0" smtClean="0">
                <a:effectLst/>
              </a:rPr>
              <a:t>G </a:t>
            </a:r>
            <a:r>
              <a:rPr lang="en-US" dirty="0" smtClean="0">
                <a:effectLst/>
              </a:rPr>
              <a:t>) = Set of vertices</a:t>
            </a:r>
          </a:p>
          <a:p>
            <a:pPr lvl="1">
              <a:buFont typeface="Courier New" pitchFamily="49" charset="0"/>
              <a:buChar char="o"/>
            </a:pPr>
            <a:r>
              <a:rPr lang="en-US" i="1" dirty="0" smtClean="0">
                <a:effectLst/>
              </a:rPr>
              <a:t>E</a:t>
            </a:r>
            <a:r>
              <a:rPr lang="en-US" dirty="0" smtClean="0">
                <a:effectLst/>
              </a:rPr>
              <a:t>  = </a:t>
            </a:r>
            <a:r>
              <a:rPr lang="en-US" i="1" dirty="0" smtClean="0">
                <a:effectLst/>
              </a:rPr>
              <a:t>E </a:t>
            </a:r>
            <a:r>
              <a:rPr lang="en-US" dirty="0" smtClean="0">
                <a:effectLst/>
              </a:rPr>
              <a:t>(</a:t>
            </a:r>
            <a:r>
              <a:rPr lang="en-US" i="1" dirty="0" smtClean="0">
                <a:effectLst/>
              </a:rPr>
              <a:t>G </a:t>
            </a:r>
            <a:r>
              <a:rPr lang="en-US" dirty="0" smtClean="0">
                <a:effectLst/>
              </a:rPr>
              <a:t>) = Set of edges</a:t>
            </a:r>
          </a:p>
          <a:p>
            <a:pPr lvl="1"/>
            <a:endParaRPr lang="en-US" dirty="0" smtClean="0">
              <a:effectLst/>
            </a:endParaRPr>
          </a:p>
          <a:p>
            <a:pPr lvl="1"/>
            <a:endParaRPr lang="en-US" dirty="0" smtClean="0">
              <a:effectLst/>
            </a:endParaRPr>
          </a:p>
          <a:p>
            <a:r>
              <a:rPr lang="en-US" dirty="0" smtClean="0">
                <a:effectLst/>
              </a:rPr>
              <a:t>Example:</a:t>
            </a:r>
          </a:p>
          <a:p>
            <a:pPr lvl="1">
              <a:buFont typeface="Courier New" pitchFamily="49" charset="0"/>
              <a:buChar char="o"/>
            </a:pPr>
            <a:r>
              <a:rPr lang="en-US" i="1" dirty="0" smtClean="0">
                <a:effectLst/>
              </a:rPr>
              <a:t>V</a:t>
            </a:r>
            <a:r>
              <a:rPr lang="en-US" dirty="0" smtClean="0">
                <a:effectLst/>
              </a:rPr>
              <a:t> = {</a:t>
            </a:r>
            <a:r>
              <a:rPr lang="en-US" i="1" dirty="0" smtClean="0">
                <a:effectLst/>
              </a:rPr>
              <a:t>s, u, v, w, x, y, z</a:t>
            </a:r>
            <a:r>
              <a:rPr lang="en-US" dirty="0" smtClean="0">
                <a:effectLst/>
              </a:rPr>
              <a:t>}</a:t>
            </a:r>
          </a:p>
          <a:p>
            <a:pPr lvl="1">
              <a:buFont typeface="Courier New" pitchFamily="49" charset="0"/>
              <a:buChar char="o"/>
            </a:pPr>
            <a:r>
              <a:rPr lang="en-US" i="1" dirty="0" smtClean="0">
                <a:effectLst/>
              </a:rPr>
              <a:t>E</a:t>
            </a:r>
            <a:r>
              <a:rPr lang="en-US" dirty="0" smtClean="0">
                <a:effectLst/>
              </a:rPr>
              <a:t> = {(</a:t>
            </a:r>
            <a:r>
              <a:rPr lang="en-US" i="1" dirty="0" smtClean="0">
                <a:effectLst/>
              </a:rPr>
              <a:t>x, s</a:t>
            </a:r>
            <a:r>
              <a:rPr lang="en-US" dirty="0" smtClean="0">
                <a:effectLst/>
              </a:rPr>
              <a:t>), (</a:t>
            </a:r>
            <a:r>
              <a:rPr lang="en-US" i="1" dirty="0" smtClean="0">
                <a:effectLst/>
              </a:rPr>
              <a:t>x, v</a:t>
            </a:r>
            <a:r>
              <a:rPr lang="en-US" dirty="0" smtClean="0">
                <a:effectLst/>
              </a:rPr>
              <a:t>), (</a:t>
            </a:r>
            <a:r>
              <a:rPr lang="en-US" i="1" dirty="0" smtClean="0">
                <a:effectLst/>
              </a:rPr>
              <a:t>x, u</a:t>
            </a:r>
            <a:r>
              <a:rPr lang="en-US" dirty="0" smtClean="0">
                <a:effectLst/>
              </a:rPr>
              <a:t>), (</a:t>
            </a:r>
            <a:r>
              <a:rPr lang="en-US" i="1" dirty="0" smtClean="0">
                <a:effectLst/>
              </a:rPr>
              <a:t>v, w</a:t>
            </a:r>
            <a:r>
              <a:rPr lang="en-US" dirty="0" smtClean="0">
                <a:effectLst/>
              </a:rPr>
              <a:t>), (</a:t>
            </a:r>
            <a:r>
              <a:rPr lang="en-US" i="1" dirty="0" smtClean="0">
                <a:effectLst/>
              </a:rPr>
              <a:t>s, v</a:t>
            </a:r>
            <a:r>
              <a:rPr lang="en-US" dirty="0" smtClean="0">
                <a:effectLst/>
              </a:rPr>
              <a:t>), (</a:t>
            </a:r>
            <a:r>
              <a:rPr lang="en-US" i="1" dirty="0" smtClean="0">
                <a:effectLst/>
              </a:rPr>
              <a:t>s, u</a:t>
            </a:r>
            <a:r>
              <a:rPr lang="en-US" dirty="0" smtClean="0">
                <a:effectLst/>
              </a:rPr>
              <a:t>),</a:t>
            </a:r>
          </a:p>
          <a:p>
            <a:pPr lvl="1">
              <a:buFontTx/>
              <a:buNone/>
            </a:pPr>
            <a:r>
              <a:rPr lang="en-US" dirty="0" smtClean="0">
                <a:effectLst/>
              </a:rPr>
              <a:t>             (</a:t>
            </a:r>
            <a:r>
              <a:rPr lang="en-US" i="1" dirty="0" smtClean="0">
                <a:effectLst/>
              </a:rPr>
              <a:t>s, w</a:t>
            </a:r>
            <a:r>
              <a:rPr lang="en-US" dirty="0" smtClean="0">
                <a:effectLst/>
              </a:rPr>
              <a:t>), (</a:t>
            </a:r>
            <a:r>
              <a:rPr lang="en-US" i="1" dirty="0" smtClean="0">
                <a:effectLst/>
              </a:rPr>
              <a:t>s, y</a:t>
            </a:r>
            <a:r>
              <a:rPr lang="en-US" dirty="0" smtClean="0">
                <a:effectLst/>
              </a:rPr>
              <a:t>), (</a:t>
            </a:r>
            <a:r>
              <a:rPr lang="en-US" i="1" dirty="0" smtClean="0">
                <a:effectLst/>
              </a:rPr>
              <a:t>w, y</a:t>
            </a:r>
            <a:r>
              <a:rPr lang="en-US" dirty="0" smtClean="0">
                <a:effectLst/>
              </a:rPr>
              <a:t>), (</a:t>
            </a:r>
            <a:r>
              <a:rPr lang="en-US" i="1" dirty="0" smtClean="0">
                <a:effectLst/>
              </a:rPr>
              <a:t>u, y</a:t>
            </a:r>
            <a:r>
              <a:rPr lang="en-US" dirty="0" smtClean="0">
                <a:effectLst/>
              </a:rPr>
              <a:t>), (</a:t>
            </a:r>
            <a:r>
              <a:rPr lang="en-US" i="1" dirty="0" smtClean="0">
                <a:effectLst/>
              </a:rPr>
              <a:t>u, z</a:t>
            </a:r>
            <a:r>
              <a:rPr lang="en-US" dirty="0" smtClean="0">
                <a:effectLst/>
              </a:rPr>
              <a:t>), (</a:t>
            </a:r>
            <a:r>
              <a:rPr lang="en-US" i="1" dirty="0" smtClean="0">
                <a:effectLst/>
              </a:rPr>
              <a:t>y, z</a:t>
            </a:r>
            <a:r>
              <a:rPr lang="en-US" dirty="0" smtClean="0">
                <a:effectLst/>
              </a:rPr>
              <a:t>)}</a:t>
            </a:r>
          </a:p>
        </p:txBody>
      </p:sp>
      <p:pic>
        <p:nvPicPr>
          <p:cNvPr id="15364" name="Picture 9" descr="graph"/>
          <p:cNvPicPr>
            <a:picLocks noChangeAspect="1" noChangeArrowheads="1"/>
          </p:cNvPicPr>
          <p:nvPr/>
        </p:nvPicPr>
        <p:blipFill>
          <a:blip r:embed="rId2"/>
          <a:srcRect/>
          <a:stretch>
            <a:fillRect/>
          </a:stretch>
        </p:blipFill>
        <p:spPr bwMode="auto">
          <a:xfrm>
            <a:off x="5727700" y="2463800"/>
            <a:ext cx="2501900" cy="2565400"/>
          </a:xfrm>
          <a:prstGeom prst="rect">
            <a:avLst/>
          </a:prstGeom>
          <a:noFill/>
          <a:ln w="12700">
            <a:solidFill>
              <a:srgbClr val="006600"/>
            </a:solidFill>
            <a:miter lim="800000"/>
            <a:headEnd/>
            <a:tailEnd/>
          </a:ln>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85800" y="533400"/>
            <a:ext cx="7696200" cy="990600"/>
          </a:xfrm>
          <a:solidFill>
            <a:srgbClr val="00FF00"/>
          </a:solidFill>
          <a:ln w="63500">
            <a:solidFill>
              <a:srgbClr val="006600"/>
            </a:solidFill>
          </a:ln>
        </p:spPr>
        <p:txBody>
          <a:bodyPr/>
          <a:lstStyle/>
          <a:p>
            <a:r>
              <a:rPr lang="en-US" smtClean="0"/>
              <a:t>Example</a:t>
            </a:r>
          </a:p>
        </p:txBody>
      </p:sp>
      <p:pic>
        <p:nvPicPr>
          <p:cNvPr id="16388" name="Picture 2"/>
          <p:cNvPicPr>
            <a:picLocks noGrp="1" noChangeAspect="1" noChangeArrowheads="1"/>
          </p:cNvPicPr>
          <p:nvPr>
            <p:ph idx="1"/>
          </p:nvPr>
        </p:nvPicPr>
        <p:blipFill>
          <a:blip r:embed="rId2"/>
          <a:srcRect t="7356"/>
          <a:stretch>
            <a:fillRect/>
          </a:stretch>
        </p:blipFill>
        <p:spPr>
          <a:xfrm>
            <a:off x="685800" y="3276600"/>
            <a:ext cx="7658100" cy="3106738"/>
          </a:xfrm>
          <a:solidFill>
            <a:srgbClr val="FFFF99"/>
          </a:solidFill>
          <a:ln w="63500">
            <a:solidFill>
              <a:srgbClr val="006600"/>
            </a:solidFill>
          </a:ln>
        </p:spPr>
      </p:pic>
      <p:sp>
        <p:nvSpPr>
          <p:cNvPr id="16389" name="Rectangle 6"/>
          <p:cNvSpPr>
            <a:spLocks noChangeArrowheads="1"/>
          </p:cNvSpPr>
          <p:nvPr/>
        </p:nvSpPr>
        <p:spPr bwMode="auto">
          <a:xfrm>
            <a:off x="685800" y="1847850"/>
            <a:ext cx="7696200" cy="1200150"/>
          </a:xfrm>
          <a:prstGeom prst="rect">
            <a:avLst/>
          </a:prstGeom>
          <a:solidFill>
            <a:srgbClr val="FFFF99"/>
          </a:solidFill>
          <a:ln w="63500">
            <a:solidFill>
              <a:srgbClr val="006600"/>
            </a:solidFill>
            <a:miter lim="800000"/>
            <a:headEnd/>
            <a:tailEnd/>
          </a:ln>
        </p:spPr>
        <p:txBody>
          <a:bodyPr>
            <a:spAutoFit/>
          </a:bodyPr>
          <a:lstStyle/>
          <a:p>
            <a:pPr algn="just"/>
            <a:r>
              <a:rPr lang="en-US" dirty="0"/>
              <a:t>This computer network can be modeled using a graph in which the vertices of the graph represent the data centers and the edges represent communication links.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85800" y="457200"/>
            <a:ext cx="7772400" cy="1066800"/>
          </a:xfrm>
          <a:solidFill>
            <a:srgbClr val="00FF00"/>
          </a:solidFill>
          <a:ln w="63500">
            <a:solidFill>
              <a:srgbClr val="006600"/>
            </a:solidFill>
          </a:ln>
        </p:spPr>
        <p:txBody>
          <a:bodyPr/>
          <a:lstStyle/>
          <a:p>
            <a:r>
              <a:rPr lang="en-US" smtClean="0"/>
              <a:t>Simple Graphs</a:t>
            </a:r>
          </a:p>
        </p:txBody>
      </p:sp>
      <p:sp>
        <p:nvSpPr>
          <p:cNvPr id="14339" name="Content Placeholder 2"/>
          <p:cNvSpPr>
            <a:spLocks noGrp="1"/>
          </p:cNvSpPr>
          <p:nvPr>
            <p:ph idx="1"/>
          </p:nvPr>
        </p:nvSpPr>
        <p:spPr>
          <a:xfrm>
            <a:off x="685800" y="2362200"/>
            <a:ext cx="7772400" cy="2667000"/>
          </a:xfrm>
          <a:solidFill>
            <a:srgbClr val="FFFF99"/>
          </a:solidFill>
          <a:ln w="63500">
            <a:solidFill>
              <a:srgbClr val="006600"/>
            </a:solidFill>
          </a:ln>
        </p:spPr>
        <p:txBody>
          <a:bodyPr/>
          <a:lstStyle/>
          <a:p>
            <a:pPr marL="0" algn="just">
              <a:buFontTx/>
              <a:buNone/>
              <a:defRPr/>
            </a:pPr>
            <a:r>
              <a:rPr lang="en-US" sz="2800" dirty="0" smtClean="0">
                <a:effectLst/>
              </a:rPr>
              <a:t>A graph in which each edge connects two different vertices and where no more than one edge connect the same pair of vertices is called a </a:t>
            </a:r>
            <a:r>
              <a:rPr lang="en-US" sz="2800" b="1" dirty="0" smtClean="0">
                <a:solidFill>
                  <a:srgbClr val="FF0000"/>
                </a:solidFill>
                <a:effectLst/>
              </a:rPr>
              <a:t>simple graph</a:t>
            </a:r>
            <a:r>
              <a:rPr lang="en-US" sz="2800" dirty="0" smtClean="0">
                <a:effectLst/>
              </a:rPr>
              <a:t>.</a:t>
            </a:r>
          </a:p>
          <a:p>
            <a:pPr algn="just">
              <a:buFontTx/>
              <a:buNone/>
              <a:defRPr/>
            </a:pPr>
            <a:endParaRPr lang="en-US" sz="2800" dirty="0" smtClean="0">
              <a:solidFill>
                <a:srgbClr val="006600"/>
              </a:solidFill>
              <a:effectLst/>
            </a:endParaRPr>
          </a:p>
          <a:p>
            <a:pPr algn="just">
              <a:buFontTx/>
              <a:buNone/>
              <a:defRPr/>
            </a:pPr>
            <a:r>
              <a:rPr lang="en-US" sz="2400" b="1" dirty="0" smtClean="0">
                <a:solidFill>
                  <a:srgbClr val="006600"/>
                </a:solidFill>
                <a:effectLst/>
              </a:rPr>
              <a:t>e.g. The graph in figure 1 is an example of a simple graph.</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685800" y="1524000"/>
            <a:ext cx="7772400" cy="5105400"/>
          </a:xfrm>
          <a:solidFill>
            <a:srgbClr val="FFFF99"/>
          </a:solidFill>
          <a:ln w="63500">
            <a:solidFill>
              <a:srgbClr val="006600"/>
            </a:solidFill>
          </a:ln>
        </p:spPr>
        <p:txBody>
          <a:bodyPr/>
          <a:lstStyle/>
          <a:p>
            <a:pPr marL="0" algn="just">
              <a:spcBef>
                <a:spcPct val="0"/>
              </a:spcBef>
              <a:buFontTx/>
              <a:buNone/>
            </a:pPr>
            <a:r>
              <a:rPr lang="en-US" sz="2400" smtClean="0">
                <a:effectLst/>
              </a:rPr>
              <a:t>A computer network may contain multiple links between data centers, as shown in Figure 2. To model such networks we need graphs that have more than one edge connecting the same pair of vertices. Graphs that may have multiple edges connecting the same vertices are called </a:t>
            </a:r>
            <a:r>
              <a:rPr lang="en-US" sz="2400" b="1" smtClean="0">
                <a:solidFill>
                  <a:srgbClr val="FF0000"/>
                </a:solidFill>
                <a:effectLst/>
              </a:rPr>
              <a:t>multigraphs</a:t>
            </a:r>
            <a:r>
              <a:rPr lang="en-US" sz="2400" smtClean="0">
                <a:effectLst/>
              </a:rPr>
              <a:t>.</a:t>
            </a:r>
          </a:p>
        </p:txBody>
      </p:sp>
      <p:pic>
        <p:nvPicPr>
          <p:cNvPr id="18436" name="Picture 2"/>
          <p:cNvPicPr>
            <a:picLocks noChangeAspect="1" noChangeArrowheads="1"/>
          </p:cNvPicPr>
          <p:nvPr/>
        </p:nvPicPr>
        <p:blipFill>
          <a:blip r:embed="rId2"/>
          <a:srcRect t="3650" b="3650"/>
          <a:stretch>
            <a:fillRect/>
          </a:stretch>
        </p:blipFill>
        <p:spPr bwMode="auto">
          <a:xfrm>
            <a:off x="1143000" y="3581400"/>
            <a:ext cx="6934200" cy="2895600"/>
          </a:xfrm>
          <a:prstGeom prst="rect">
            <a:avLst/>
          </a:prstGeom>
          <a:noFill/>
          <a:ln w="12700">
            <a:solidFill>
              <a:srgbClr val="006600"/>
            </a:solidFill>
            <a:miter lim="800000"/>
            <a:headEnd/>
            <a:tailEnd/>
          </a:ln>
        </p:spPr>
      </p:pic>
      <p:sp>
        <p:nvSpPr>
          <p:cNvPr id="18437" name="Title 1"/>
          <p:cNvSpPr>
            <a:spLocks noGrp="1"/>
          </p:cNvSpPr>
          <p:nvPr>
            <p:ph type="title"/>
          </p:nvPr>
        </p:nvSpPr>
        <p:spPr>
          <a:xfrm>
            <a:off x="685800" y="228600"/>
            <a:ext cx="7772400" cy="1066800"/>
          </a:xfrm>
          <a:solidFill>
            <a:srgbClr val="00FF00"/>
          </a:solidFill>
          <a:ln w="63500">
            <a:solidFill>
              <a:srgbClr val="006600"/>
            </a:solidFill>
          </a:ln>
        </p:spPr>
        <p:txBody>
          <a:bodyPr/>
          <a:lstStyle/>
          <a:p>
            <a:r>
              <a:rPr lang="en-US" smtClean="0"/>
              <a:t>Multigraphs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685800" y="1447800"/>
            <a:ext cx="7772400" cy="5181600"/>
          </a:xfrm>
          <a:solidFill>
            <a:srgbClr val="FFFF99"/>
          </a:solidFill>
          <a:ln w="63500">
            <a:solidFill>
              <a:srgbClr val="006600"/>
            </a:solidFill>
          </a:ln>
        </p:spPr>
        <p:txBody>
          <a:bodyPr/>
          <a:lstStyle/>
          <a:p>
            <a:pPr marL="0" algn="just">
              <a:spcBef>
                <a:spcPct val="0"/>
              </a:spcBef>
              <a:buFontTx/>
              <a:buNone/>
            </a:pPr>
            <a:r>
              <a:rPr lang="en-US" sz="2400" smtClean="0">
                <a:effectLst/>
              </a:rPr>
              <a:t>Sometimes a communication link connects a data center with itself. To model this network we need to include edges that connect a vertex to itself. Such edges are called </a:t>
            </a:r>
            <a:r>
              <a:rPr lang="en-US" sz="2400" b="1" smtClean="0">
                <a:solidFill>
                  <a:srgbClr val="FF0000"/>
                </a:solidFill>
                <a:effectLst/>
              </a:rPr>
              <a:t>loops</a:t>
            </a:r>
            <a:r>
              <a:rPr lang="en-US" sz="2400" smtClean="0">
                <a:effectLst/>
              </a:rPr>
              <a:t>. Graphs that may include loops, and possibly multiple edges are sometimes called </a:t>
            </a:r>
            <a:r>
              <a:rPr lang="en-US" sz="2400" b="1" smtClean="0">
                <a:solidFill>
                  <a:srgbClr val="FF0000"/>
                </a:solidFill>
                <a:effectLst/>
              </a:rPr>
              <a:t>pseudographs</a:t>
            </a:r>
            <a:r>
              <a:rPr lang="en-US" sz="2400" smtClean="0">
                <a:solidFill>
                  <a:srgbClr val="FF0000"/>
                </a:solidFill>
                <a:effectLst/>
              </a:rPr>
              <a:t>.</a:t>
            </a:r>
          </a:p>
        </p:txBody>
      </p:sp>
      <p:pic>
        <p:nvPicPr>
          <p:cNvPr id="19460" name="Picture 2"/>
          <p:cNvPicPr>
            <a:picLocks noChangeAspect="1" noChangeArrowheads="1"/>
          </p:cNvPicPr>
          <p:nvPr/>
        </p:nvPicPr>
        <p:blipFill>
          <a:blip r:embed="rId2"/>
          <a:srcRect/>
          <a:stretch>
            <a:fillRect/>
          </a:stretch>
        </p:blipFill>
        <p:spPr bwMode="auto">
          <a:xfrm>
            <a:off x="1219200" y="3581400"/>
            <a:ext cx="6732588" cy="2936875"/>
          </a:xfrm>
          <a:prstGeom prst="rect">
            <a:avLst/>
          </a:prstGeom>
          <a:noFill/>
          <a:ln w="12700">
            <a:solidFill>
              <a:srgbClr val="006600"/>
            </a:solidFill>
            <a:miter lim="800000"/>
            <a:headEnd/>
            <a:tailEnd/>
          </a:ln>
        </p:spPr>
      </p:pic>
      <p:sp>
        <p:nvSpPr>
          <p:cNvPr id="19461" name="Title 1"/>
          <p:cNvSpPr>
            <a:spLocks noGrp="1"/>
          </p:cNvSpPr>
          <p:nvPr>
            <p:ph type="title"/>
          </p:nvPr>
        </p:nvSpPr>
        <p:spPr>
          <a:xfrm>
            <a:off x="685800" y="228600"/>
            <a:ext cx="7772400" cy="990600"/>
          </a:xfrm>
          <a:solidFill>
            <a:srgbClr val="00FF00"/>
          </a:solidFill>
          <a:ln w="63500">
            <a:solidFill>
              <a:srgbClr val="006600"/>
            </a:solidFill>
          </a:ln>
        </p:spPr>
        <p:txBody>
          <a:bodyPr/>
          <a:lstStyle/>
          <a:p>
            <a:r>
              <a:rPr lang="en-US" smtClean="0"/>
              <a:t>Pseudographs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85800" y="381000"/>
            <a:ext cx="7772400" cy="1066800"/>
          </a:xfrm>
          <a:solidFill>
            <a:srgbClr val="00FF00"/>
          </a:solidFill>
          <a:ln w="63500">
            <a:solidFill>
              <a:srgbClr val="006600"/>
            </a:solidFill>
          </a:ln>
        </p:spPr>
        <p:txBody>
          <a:bodyPr/>
          <a:lstStyle/>
          <a:p>
            <a:r>
              <a:rPr lang="en-US" smtClean="0"/>
              <a:t>Directed Graphs</a:t>
            </a:r>
          </a:p>
        </p:txBody>
      </p:sp>
      <p:sp>
        <p:nvSpPr>
          <p:cNvPr id="20483" name="Content Placeholder 2"/>
          <p:cNvSpPr>
            <a:spLocks noGrp="1"/>
          </p:cNvSpPr>
          <p:nvPr>
            <p:ph idx="1"/>
          </p:nvPr>
        </p:nvSpPr>
        <p:spPr>
          <a:xfrm>
            <a:off x="685800" y="1752600"/>
            <a:ext cx="7772400" cy="4343400"/>
          </a:xfrm>
          <a:solidFill>
            <a:srgbClr val="FFFF99"/>
          </a:solidFill>
          <a:ln w="63500">
            <a:solidFill>
              <a:srgbClr val="006600"/>
            </a:solidFill>
          </a:ln>
        </p:spPr>
        <p:txBody>
          <a:bodyPr/>
          <a:lstStyle/>
          <a:p>
            <a:pPr algn="just">
              <a:buFontTx/>
              <a:buNone/>
            </a:pPr>
            <a:r>
              <a:rPr lang="en-US" sz="2800" u="sng" dirty="0" smtClean="0">
                <a:effectLst/>
              </a:rPr>
              <a:t>Definition 2:</a:t>
            </a:r>
            <a:r>
              <a:rPr lang="en-US" sz="2800" dirty="0" smtClean="0">
                <a:effectLst/>
              </a:rPr>
              <a:t> A </a:t>
            </a:r>
            <a:r>
              <a:rPr lang="en-US" sz="2800" b="1" dirty="0" smtClean="0">
                <a:solidFill>
                  <a:srgbClr val="FF0000"/>
                </a:solidFill>
                <a:effectLst/>
              </a:rPr>
              <a:t>directed graph </a:t>
            </a:r>
            <a:r>
              <a:rPr lang="en-US" sz="2800" dirty="0" smtClean="0">
                <a:effectLst/>
              </a:rPr>
              <a:t>(or digraph) (</a:t>
            </a:r>
            <a:r>
              <a:rPr lang="en-US" sz="2800" i="1" dirty="0" smtClean="0">
                <a:effectLst/>
              </a:rPr>
              <a:t>V</a:t>
            </a:r>
            <a:r>
              <a:rPr lang="en-US" sz="2800" dirty="0" smtClean="0">
                <a:effectLst/>
              </a:rPr>
              <a:t> , </a:t>
            </a:r>
            <a:r>
              <a:rPr lang="en-US" sz="2800" i="1" dirty="0" smtClean="0">
                <a:effectLst/>
              </a:rPr>
              <a:t>E </a:t>
            </a:r>
            <a:r>
              <a:rPr lang="en-US" sz="2800" dirty="0" smtClean="0">
                <a:effectLst/>
              </a:rPr>
              <a:t>) consists of a nonempty set of vertices </a:t>
            </a:r>
            <a:r>
              <a:rPr lang="en-US" sz="2800" i="1" dirty="0" smtClean="0">
                <a:effectLst/>
              </a:rPr>
              <a:t>V</a:t>
            </a:r>
            <a:r>
              <a:rPr lang="en-US" sz="2800" dirty="0" smtClean="0">
                <a:effectLst/>
              </a:rPr>
              <a:t> and a set of directed  edges (or arcs) </a:t>
            </a:r>
            <a:r>
              <a:rPr lang="en-US" sz="2800" i="1" dirty="0" smtClean="0">
                <a:effectLst/>
              </a:rPr>
              <a:t>E</a:t>
            </a:r>
            <a:r>
              <a:rPr lang="en-US" sz="2800" dirty="0" smtClean="0">
                <a:effectLst/>
              </a:rPr>
              <a:t>. </a:t>
            </a:r>
            <a:r>
              <a:rPr lang="en-US" sz="2800" dirty="0" smtClean="0">
                <a:solidFill>
                  <a:schemeClr val="accent2"/>
                </a:solidFill>
                <a:effectLst/>
              </a:rPr>
              <a:t>Each directed edge is associated  with an </a:t>
            </a:r>
            <a:r>
              <a:rPr lang="en-US" sz="2800" dirty="0" smtClean="0">
                <a:solidFill>
                  <a:srgbClr val="FF0000"/>
                </a:solidFill>
                <a:effectLst/>
              </a:rPr>
              <a:t>ordered pair of vertices</a:t>
            </a:r>
            <a:r>
              <a:rPr lang="en-US" sz="2800" dirty="0" smtClean="0">
                <a:effectLst/>
              </a:rPr>
              <a:t>.</a:t>
            </a:r>
          </a:p>
          <a:p>
            <a:pPr algn="just">
              <a:buFontTx/>
              <a:buNone/>
            </a:pPr>
            <a:r>
              <a:rPr lang="en-US" sz="2800" dirty="0" smtClean="0">
                <a:effectLst/>
              </a:rPr>
              <a:t>    The directed edge associated with the ordered pair (</a:t>
            </a:r>
            <a:r>
              <a:rPr lang="en-US" sz="2800" i="1" dirty="0" smtClean="0">
                <a:effectLst/>
              </a:rPr>
              <a:t>u</a:t>
            </a:r>
            <a:r>
              <a:rPr lang="en-US" sz="2800" dirty="0" smtClean="0">
                <a:effectLst/>
              </a:rPr>
              <a:t>, </a:t>
            </a:r>
            <a:r>
              <a:rPr lang="en-US" sz="2800" i="1" dirty="0" smtClean="0">
                <a:effectLst/>
              </a:rPr>
              <a:t>v</a:t>
            </a:r>
            <a:r>
              <a:rPr lang="en-US" sz="2800" dirty="0" smtClean="0">
                <a:effectLst/>
              </a:rPr>
              <a:t>) is said to start at </a:t>
            </a:r>
            <a:r>
              <a:rPr lang="en-US" sz="2800" i="1" dirty="0" smtClean="0">
                <a:effectLst/>
              </a:rPr>
              <a:t>u</a:t>
            </a:r>
            <a:r>
              <a:rPr lang="en-US" sz="2800" dirty="0" smtClean="0">
                <a:effectLst/>
              </a:rPr>
              <a:t> and end at </a:t>
            </a:r>
            <a:r>
              <a:rPr lang="en-US" sz="2800" i="1" dirty="0" smtClean="0">
                <a:effectLst/>
              </a:rPr>
              <a:t>v</a:t>
            </a:r>
            <a:r>
              <a:rPr lang="en-US" sz="2800" dirty="0" smtClean="0">
                <a:effectLst/>
              </a:rPr>
              <a:t>.  When a directed graph has no loops and has no multiple  directed edges, it is called a </a:t>
            </a:r>
            <a:r>
              <a:rPr lang="en-US" sz="2800" b="1" dirty="0" smtClean="0">
                <a:solidFill>
                  <a:srgbClr val="FF0000"/>
                </a:solidFill>
                <a:effectLst/>
              </a:rPr>
              <a:t>simple directed graph</a:t>
            </a:r>
            <a:r>
              <a:rPr lang="en-US" sz="2800" dirty="0" smtClean="0">
                <a:effectLst/>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685800" y="457200"/>
            <a:ext cx="7772400" cy="1066800"/>
          </a:xfrm>
          <a:solidFill>
            <a:srgbClr val="00FF00"/>
          </a:solidFill>
          <a:ln w="63500">
            <a:solidFill>
              <a:srgbClr val="006600"/>
            </a:solidFill>
          </a:ln>
        </p:spPr>
        <p:txBody>
          <a:bodyPr/>
          <a:lstStyle/>
          <a:p>
            <a:r>
              <a:rPr lang="en-US" smtClean="0"/>
              <a:t>Simple Directed Graph</a:t>
            </a:r>
          </a:p>
        </p:txBody>
      </p:sp>
      <p:sp>
        <p:nvSpPr>
          <p:cNvPr id="3" name="Content Placeholder 2"/>
          <p:cNvSpPr>
            <a:spLocks noGrp="1"/>
          </p:cNvSpPr>
          <p:nvPr>
            <p:ph idx="1"/>
          </p:nvPr>
        </p:nvSpPr>
        <p:spPr>
          <a:xfrm>
            <a:off x="685800" y="1905000"/>
            <a:ext cx="7772400" cy="4343400"/>
          </a:xfrm>
          <a:solidFill>
            <a:srgbClr val="FFFF99"/>
          </a:solidFill>
          <a:ln w="63500">
            <a:solidFill>
              <a:srgbClr val="006600"/>
            </a:solidFill>
          </a:ln>
        </p:spPr>
        <p:txBody>
          <a:bodyPr/>
          <a:lstStyle/>
          <a:p>
            <a:pPr>
              <a:buFontTx/>
              <a:buNone/>
              <a:defRPr/>
            </a:pPr>
            <a:r>
              <a:rPr lang="en-US" dirty="0" smtClean="0"/>
              <a:t> </a:t>
            </a:r>
            <a:endParaRPr lang="en-US" dirty="0"/>
          </a:p>
        </p:txBody>
      </p:sp>
      <p:pic>
        <p:nvPicPr>
          <p:cNvPr id="21509" name="Picture 3"/>
          <p:cNvPicPr>
            <a:picLocks noChangeAspect="1" noChangeArrowheads="1"/>
          </p:cNvPicPr>
          <p:nvPr/>
        </p:nvPicPr>
        <p:blipFill>
          <a:blip r:embed="rId2"/>
          <a:srcRect/>
          <a:stretch>
            <a:fillRect/>
          </a:stretch>
        </p:blipFill>
        <p:spPr bwMode="auto">
          <a:xfrm>
            <a:off x="990600" y="2435225"/>
            <a:ext cx="7280275" cy="3355975"/>
          </a:xfrm>
          <a:prstGeom prst="rect">
            <a:avLst/>
          </a:prstGeom>
          <a:solidFill>
            <a:srgbClr val="FFFF99"/>
          </a:solidFill>
          <a:ln w="12700">
            <a:solidFill>
              <a:srgbClr val="006600"/>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685800" y="1600200"/>
            <a:ext cx="7772400" cy="5029200"/>
          </a:xfrm>
          <a:solidFill>
            <a:srgbClr val="FFFF99"/>
          </a:solidFill>
          <a:ln w="63500">
            <a:solidFill>
              <a:srgbClr val="006600"/>
            </a:solidFill>
          </a:ln>
        </p:spPr>
        <p:txBody>
          <a:bodyPr/>
          <a:lstStyle/>
          <a:p>
            <a:pPr marL="0" algn="just">
              <a:buFontTx/>
              <a:buNone/>
            </a:pPr>
            <a:r>
              <a:rPr lang="en-US" sz="2400" smtClean="0">
                <a:effectLst/>
              </a:rPr>
              <a:t>Directed graphs that may have multiple directed edges from a  vertex to a second (possibly the same) vertex are to used  model such networks. We call such graphs </a:t>
            </a:r>
            <a:r>
              <a:rPr lang="en-US" sz="2400" b="1" smtClean="0">
                <a:solidFill>
                  <a:srgbClr val="FF0000"/>
                </a:solidFill>
                <a:effectLst/>
              </a:rPr>
              <a:t>directed</a:t>
            </a:r>
            <a:r>
              <a:rPr lang="en-US" sz="2400" smtClean="0">
                <a:effectLst/>
              </a:rPr>
              <a:t> </a:t>
            </a:r>
            <a:r>
              <a:rPr lang="en-US" sz="2400" b="1" smtClean="0">
                <a:solidFill>
                  <a:srgbClr val="FF0000"/>
                </a:solidFill>
                <a:effectLst/>
              </a:rPr>
              <a:t>multigraphs</a:t>
            </a:r>
            <a:r>
              <a:rPr lang="en-US" sz="2400" smtClean="0">
                <a:effectLst/>
              </a:rPr>
              <a:t>.</a:t>
            </a:r>
          </a:p>
        </p:txBody>
      </p:sp>
      <p:pic>
        <p:nvPicPr>
          <p:cNvPr id="22531" name="Picture 2"/>
          <p:cNvPicPr>
            <a:picLocks noChangeAspect="1" noChangeArrowheads="1"/>
          </p:cNvPicPr>
          <p:nvPr/>
        </p:nvPicPr>
        <p:blipFill>
          <a:blip r:embed="rId2"/>
          <a:srcRect l="1408" t="10474"/>
          <a:stretch>
            <a:fillRect/>
          </a:stretch>
        </p:blipFill>
        <p:spPr bwMode="auto">
          <a:xfrm>
            <a:off x="946150" y="3657600"/>
            <a:ext cx="7283450" cy="2667000"/>
          </a:xfrm>
          <a:prstGeom prst="rect">
            <a:avLst/>
          </a:prstGeom>
          <a:noFill/>
          <a:ln w="12700">
            <a:solidFill>
              <a:srgbClr val="006600"/>
            </a:solidFill>
            <a:miter lim="800000"/>
            <a:headEnd/>
            <a:tailEnd/>
          </a:ln>
        </p:spPr>
      </p:pic>
      <p:sp>
        <p:nvSpPr>
          <p:cNvPr id="22532" name="Title 1"/>
          <p:cNvSpPr>
            <a:spLocks noGrp="1"/>
          </p:cNvSpPr>
          <p:nvPr>
            <p:ph type="title"/>
          </p:nvPr>
        </p:nvSpPr>
        <p:spPr>
          <a:xfrm>
            <a:off x="685800" y="304800"/>
            <a:ext cx="7772400" cy="1066800"/>
          </a:xfrm>
          <a:solidFill>
            <a:srgbClr val="00FF00"/>
          </a:solidFill>
          <a:ln w="63500">
            <a:solidFill>
              <a:srgbClr val="006600"/>
            </a:solidFill>
          </a:ln>
        </p:spPr>
        <p:txBody>
          <a:bodyPr/>
          <a:lstStyle/>
          <a:p>
            <a:r>
              <a:rPr lang="en-US" smtClean="0"/>
              <a:t>Directed Multigraph</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81200"/>
            <a:ext cx="8593138"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2944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solidFill>
            <a:srgbClr val="00FF00"/>
          </a:solidFill>
          <a:ln w="63500">
            <a:solidFill>
              <a:srgbClr val="006600"/>
            </a:solidFill>
          </a:ln>
        </p:spPr>
        <p:txBody>
          <a:bodyPr/>
          <a:lstStyle/>
          <a:p>
            <a:r>
              <a:rPr lang="en-US" dirty="0" smtClean="0"/>
              <a:t> Graph Terminology</a:t>
            </a:r>
          </a:p>
        </p:txBody>
      </p:sp>
      <p:sp>
        <p:nvSpPr>
          <p:cNvPr id="24580" name="Rectangle 3"/>
          <p:cNvSpPr>
            <a:spLocks noGrp="1" noChangeArrowheads="1"/>
          </p:cNvSpPr>
          <p:nvPr>
            <p:ph type="body" idx="1"/>
          </p:nvPr>
        </p:nvSpPr>
        <p:spPr>
          <a:xfrm>
            <a:off x="685800" y="2819400"/>
            <a:ext cx="7772400" cy="1676400"/>
          </a:xfrm>
          <a:solidFill>
            <a:srgbClr val="FFFF99"/>
          </a:solidFill>
          <a:ln w="63500">
            <a:solidFill>
              <a:srgbClr val="006600"/>
            </a:solidFill>
          </a:ln>
        </p:spPr>
        <p:txBody>
          <a:bodyPr/>
          <a:lstStyle/>
          <a:p>
            <a:pPr algn="just"/>
            <a:r>
              <a:rPr lang="en-US" sz="2800" b="1" smtClean="0">
                <a:solidFill>
                  <a:srgbClr val="FF0000"/>
                </a:solidFill>
                <a:effectLst/>
              </a:rPr>
              <a:t>Adjacent</a:t>
            </a:r>
            <a:r>
              <a:rPr lang="en-US" sz="2800" smtClean="0">
                <a:effectLst/>
              </a:rPr>
              <a:t>, </a:t>
            </a:r>
            <a:r>
              <a:rPr lang="en-US" sz="2800" b="1" smtClean="0">
                <a:solidFill>
                  <a:srgbClr val="FF0000"/>
                </a:solidFill>
                <a:effectLst/>
              </a:rPr>
              <a:t>connects</a:t>
            </a:r>
            <a:r>
              <a:rPr lang="en-US" sz="2800" smtClean="0">
                <a:effectLst/>
              </a:rPr>
              <a:t>, </a:t>
            </a:r>
            <a:r>
              <a:rPr lang="en-US" sz="2800" b="1" smtClean="0">
                <a:solidFill>
                  <a:srgbClr val="FF0000"/>
                </a:solidFill>
                <a:effectLst/>
              </a:rPr>
              <a:t>endpoints</a:t>
            </a:r>
            <a:r>
              <a:rPr lang="en-US" sz="2800" smtClean="0">
                <a:effectLst/>
              </a:rPr>
              <a:t>, </a:t>
            </a:r>
            <a:r>
              <a:rPr lang="en-US" sz="2800" b="1" smtClean="0">
                <a:solidFill>
                  <a:srgbClr val="FF0000"/>
                </a:solidFill>
                <a:effectLst/>
              </a:rPr>
              <a:t>degree</a:t>
            </a:r>
            <a:r>
              <a:rPr lang="en-US" sz="2800" smtClean="0">
                <a:effectLst/>
              </a:rPr>
              <a:t>, </a:t>
            </a:r>
            <a:r>
              <a:rPr lang="en-US" sz="2800" b="1" smtClean="0">
                <a:solidFill>
                  <a:srgbClr val="FF0000"/>
                </a:solidFill>
                <a:effectLst/>
              </a:rPr>
              <a:t>initial</a:t>
            </a:r>
            <a:r>
              <a:rPr lang="en-US" sz="2800" smtClean="0">
                <a:effectLst/>
              </a:rPr>
              <a:t>,</a:t>
            </a:r>
          </a:p>
          <a:p>
            <a:pPr algn="just">
              <a:buFontTx/>
              <a:buNone/>
            </a:pPr>
            <a:r>
              <a:rPr lang="en-US" sz="2800" smtClean="0">
                <a:effectLst/>
              </a:rPr>
              <a:t>    </a:t>
            </a:r>
            <a:r>
              <a:rPr lang="en-US" sz="2800" b="1" smtClean="0">
                <a:solidFill>
                  <a:srgbClr val="FF0000"/>
                </a:solidFill>
                <a:effectLst/>
              </a:rPr>
              <a:t>terminal</a:t>
            </a:r>
            <a:r>
              <a:rPr lang="en-US" sz="2800" smtClean="0">
                <a:effectLst/>
              </a:rPr>
              <a:t>, </a:t>
            </a:r>
            <a:r>
              <a:rPr lang="en-US" sz="2800" b="1" smtClean="0">
                <a:solidFill>
                  <a:srgbClr val="FF0000"/>
                </a:solidFill>
                <a:effectLst/>
              </a:rPr>
              <a:t>in-degree</a:t>
            </a:r>
            <a:r>
              <a:rPr lang="en-US" sz="2800" smtClean="0">
                <a:effectLst/>
              </a:rPr>
              <a:t>, </a:t>
            </a:r>
            <a:r>
              <a:rPr lang="en-US" sz="2800" b="1" smtClean="0">
                <a:solidFill>
                  <a:srgbClr val="FF0000"/>
                </a:solidFill>
                <a:effectLst/>
              </a:rPr>
              <a:t>out-degree</a:t>
            </a:r>
            <a:r>
              <a:rPr lang="en-US" sz="2800" smtClean="0">
                <a:effectLst/>
              </a:rPr>
              <a:t>, </a:t>
            </a:r>
            <a:r>
              <a:rPr lang="en-US" sz="2800" b="1" smtClean="0">
                <a:solidFill>
                  <a:srgbClr val="FF0000"/>
                </a:solidFill>
                <a:effectLst/>
              </a:rPr>
              <a:t>complete</a:t>
            </a:r>
            <a:r>
              <a:rPr lang="en-US" sz="2800" smtClean="0">
                <a:effectLst/>
              </a:rPr>
              <a:t>,</a:t>
            </a:r>
          </a:p>
          <a:p>
            <a:pPr algn="just">
              <a:buFontTx/>
              <a:buNone/>
            </a:pPr>
            <a:r>
              <a:rPr lang="en-US" sz="2800" smtClean="0">
                <a:effectLst/>
              </a:rPr>
              <a:t>    </a:t>
            </a:r>
            <a:r>
              <a:rPr lang="en-US" sz="2800" b="1" smtClean="0">
                <a:solidFill>
                  <a:srgbClr val="FF0000"/>
                </a:solidFill>
                <a:effectLst/>
              </a:rPr>
              <a:t>complete bipartite</a:t>
            </a:r>
            <a:r>
              <a:rPr lang="en-US" sz="2800" smtClean="0">
                <a:effectLst/>
              </a:rPr>
              <a:t>, </a:t>
            </a:r>
            <a:r>
              <a:rPr lang="en-US" sz="2800" b="1" smtClean="0">
                <a:solidFill>
                  <a:srgbClr val="FF0000"/>
                </a:solidFill>
                <a:effectLst/>
              </a:rPr>
              <a:t>cycles</a:t>
            </a:r>
            <a:r>
              <a:rPr lang="en-US" sz="2800" smtClean="0">
                <a:effectLst/>
              </a:rPr>
              <a:t>, </a:t>
            </a:r>
            <a:r>
              <a:rPr lang="en-US" sz="2800" b="1" smtClean="0">
                <a:solidFill>
                  <a:srgbClr val="FF0000"/>
                </a:solidFill>
                <a:effectLst/>
              </a:rPr>
              <a:t>wheels</a:t>
            </a:r>
            <a:r>
              <a:rPr lang="en-US" sz="2800" smtClean="0">
                <a:effectLst/>
              </a:rPr>
              <a:t>, </a:t>
            </a:r>
            <a:r>
              <a:rPr lang="en-US" sz="2800" b="1" i="1" smtClean="0">
                <a:solidFill>
                  <a:srgbClr val="FF0000"/>
                </a:solidFill>
                <a:effectLst/>
              </a:rPr>
              <a:t>n</a:t>
            </a:r>
            <a:r>
              <a:rPr lang="en-US" sz="2800" b="1" smtClean="0">
                <a:solidFill>
                  <a:srgbClr val="FF0000"/>
                </a:solidFill>
                <a:effectLst/>
              </a:rPr>
              <a:t>-cubes</a:t>
            </a:r>
            <a:r>
              <a:rPr lang="en-US" sz="2800" smtClean="0">
                <a:effectLst/>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solidFill>
            <a:srgbClr val="00FF00"/>
          </a:solidFill>
          <a:ln w="63500">
            <a:solidFill>
              <a:srgbClr val="006600"/>
            </a:solidFill>
          </a:ln>
        </p:spPr>
        <p:txBody>
          <a:bodyPr/>
          <a:lstStyle/>
          <a:p>
            <a:r>
              <a:rPr lang="en-US" smtClean="0"/>
              <a:t>Undirected Graph: Adjacency</a:t>
            </a:r>
          </a:p>
        </p:txBody>
      </p:sp>
      <p:sp>
        <p:nvSpPr>
          <p:cNvPr id="25604" name="Rectangle 3"/>
          <p:cNvSpPr>
            <a:spLocks noGrp="1" noChangeArrowheads="1"/>
          </p:cNvSpPr>
          <p:nvPr>
            <p:ph type="body" idx="1"/>
          </p:nvPr>
        </p:nvSpPr>
        <p:spPr>
          <a:xfrm>
            <a:off x="685800" y="2209800"/>
            <a:ext cx="7772400" cy="3810000"/>
          </a:xfrm>
          <a:solidFill>
            <a:srgbClr val="FFFF99"/>
          </a:solidFill>
          <a:ln w="63500">
            <a:solidFill>
              <a:srgbClr val="006600"/>
            </a:solidFill>
          </a:ln>
        </p:spPr>
        <p:txBody>
          <a:bodyPr/>
          <a:lstStyle/>
          <a:p>
            <a:pPr marL="231775" indent="-231775" algn="just">
              <a:buFontTx/>
              <a:buNone/>
            </a:pPr>
            <a:r>
              <a:rPr lang="en-US" sz="2800" dirty="0" smtClean="0">
                <a:effectLst/>
              </a:rPr>
              <a:t>Let </a:t>
            </a:r>
            <a:r>
              <a:rPr lang="en-US" sz="2800" i="1" dirty="0" smtClean="0">
                <a:effectLst/>
              </a:rPr>
              <a:t>G</a:t>
            </a:r>
            <a:r>
              <a:rPr lang="en-US" sz="2800" dirty="0" smtClean="0">
                <a:effectLst/>
              </a:rPr>
              <a:t>  be an undirected graph with edge set </a:t>
            </a:r>
            <a:r>
              <a:rPr lang="en-US" sz="2800" i="1" dirty="0" smtClean="0">
                <a:effectLst/>
              </a:rPr>
              <a:t>E</a:t>
            </a:r>
            <a:r>
              <a:rPr lang="en-US" sz="2800" dirty="0" smtClean="0">
                <a:effectLst/>
              </a:rPr>
              <a:t>.  Let </a:t>
            </a:r>
            <a:r>
              <a:rPr lang="en-US" sz="2800" i="1" dirty="0" smtClean="0">
                <a:effectLst/>
              </a:rPr>
              <a:t>e </a:t>
            </a:r>
            <a:r>
              <a:rPr lang="en-US" sz="2800" dirty="0" smtClean="0">
                <a:effectLst/>
                <a:sym typeface="Symbol" pitchFamily="18" charset="2"/>
              </a:rPr>
              <a:t> </a:t>
            </a:r>
            <a:r>
              <a:rPr lang="en-US" sz="2800" i="1" dirty="0" smtClean="0">
                <a:effectLst/>
                <a:sym typeface="Symbol" pitchFamily="18" charset="2"/>
              </a:rPr>
              <a:t>E</a:t>
            </a:r>
            <a:r>
              <a:rPr lang="en-US" sz="2800" dirty="0" smtClean="0">
                <a:effectLst/>
                <a:sym typeface="Symbol" pitchFamily="18" charset="2"/>
              </a:rPr>
              <a:t>  where </a:t>
            </a:r>
            <a:r>
              <a:rPr lang="en-US" sz="2800" i="1" dirty="0" smtClean="0">
                <a:effectLst/>
                <a:sym typeface="Symbol" pitchFamily="18" charset="2"/>
              </a:rPr>
              <a:t>e</a:t>
            </a:r>
            <a:r>
              <a:rPr lang="en-US" sz="2800" dirty="0" smtClean="0">
                <a:effectLst/>
                <a:sym typeface="Symbol" pitchFamily="18" charset="2"/>
              </a:rPr>
              <a:t> = {</a:t>
            </a:r>
            <a:r>
              <a:rPr lang="en-US" sz="2800" i="1" dirty="0" smtClean="0">
                <a:effectLst/>
                <a:sym typeface="Symbol" pitchFamily="18" charset="2"/>
              </a:rPr>
              <a:t>u </a:t>
            </a:r>
            <a:r>
              <a:rPr lang="en-US" sz="2800" dirty="0" smtClean="0">
                <a:effectLst/>
                <a:sym typeface="Symbol" pitchFamily="18" charset="2"/>
              </a:rPr>
              <a:t>,</a:t>
            </a:r>
            <a:r>
              <a:rPr lang="en-US" sz="2800" i="1" dirty="0" smtClean="0">
                <a:effectLst/>
                <a:sym typeface="Symbol" pitchFamily="18" charset="2"/>
              </a:rPr>
              <a:t>v</a:t>
            </a:r>
            <a:r>
              <a:rPr lang="en-US" sz="2800" dirty="0" smtClean="0">
                <a:effectLst/>
                <a:sym typeface="Symbol" pitchFamily="18" charset="2"/>
              </a:rPr>
              <a:t>}.  We say that:</a:t>
            </a:r>
            <a:endParaRPr lang="en-US" sz="2800" dirty="0" smtClean="0">
              <a:effectLst/>
            </a:endParaRPr>
          </a:p>
          <a:p>
            <a:pPr marL="231775" indent="-231775" algn="just"/>
            <a:r>
              <a:rPr lang="en-US" sz="2800" dirty="0" smtClean="0">
                <a:effectLst/>
              </a:rPr>
              <a:t>The vertices</a:t>
            </a:r>
            <a:r>
              <a:rPr lang="en-US" sz="2800" i="1" dirty="0" smtClean="0">
                <a:effectLst/>
              </a:rPr>
              <a:t> u </a:t>
            </a:r>
            <a:r>
              <a:rPr lang="en-US" sz="2800" dirty="0" smtClean="0">
                <a:effectLst/>
              </a:rPr>
              <a:t>and </a:t>
            </a:r>
            <a:r>
              <a:rPr lang="en-US" sz="2800" i="1" dirty="0" smtClean="0">
                <a:effectLst/>
              </a:rPr>
              <a:t>v</a:t>
            </a:r>
            <a:r>
              <a:rPr lang="en-US" sz="2800" dirty="0" smtClean="0">
                <a:effectLst/>
              </a:rPr>
              <a:t> are </a:t>
            </a:r>
            <a:r>
              <a:rPr lang="en-US" sz="2800" b="1" dirty="0" smtClean="0">
                <a:solidFill>
                  <a:srgbClr val="FF0000"/>
                </a:solidFill>
                <a:effectLst/>
              </a:rPr>
              <a:t>adjacent</a:t>
            </a:r>
            <a:r>
              <a:rPr lang="en-US" sz="2800" dirty="0" smtClean="0">
                <a:effectLst/>
              </a:rPr>
              <a:t> / neighbors / connected.</a:t>
            </a:r>
          </a:p>
          <a:p>
            <a:pPr marL="231775" indent="-231775"/>
            <a:r>
              <a:rPr lang="en-US" sz="2800" dirty="0" smtClean="0">
                <a:effectLst/>
              </a:rPr>
              <a:t>The edge </a:t>
            </a:r>
            <a:r>
              <a:rPr lang="en-US" sz="2800" i="1" dirty="0" smtClean="0">
                <a:effectLst/>
              </a:rPr>
              <a:t>e</a:t>
            </a:r>
            <a:r>
              <a:rPr lang="en-US" sz="2800" dirty="0" smtClean="0">
                <a:effectLst/>
              </a:rPr>
              <a:t>  is </a:t>
            </a:r>
            <a:r>
              <a:rPr lang="en-US" sz="2800" b="1" dirty="0" smtClean="0">
                <a:solidFill>
                  <a:srgbClr val="FF0000"/>
                </a:solidFill>
                <a:effectLst/>
              </a:rPr>
              <a:t>incident with</a:t>
            </a:r>
            <a:r>
              <a:rPr lang="en-US" sz="2800" dirty="0" smtClean="0">
                <a:effectLst/>
              </a:rPr>
              <a:t> vertices </a:t>
            </a:r>
            <a:r>
              <a:rPr lang="en-US" sz="2800" i="1" dirty="0" smtClean="0">
                <a:effectLst/>
              </a:rPr>
              <a:t>u</a:t>
            </a:r>
            <a:r>
              <a:rPr lang="en-US" sz="2800" dirty="0" smtClean="0">
                <a:effectLst/>
              </a:rPr>
              <a:t> and </a:t>
            </a:r>
            <a:r>
              <a:rPr lang="en-US" sz="2800" i="1" dirty="0" smtClean="0">
                <a:effectLst/>
              </a:rPr>
              <a:t>v</a:t>
            </a:r>
            <a:r>
              <a:rPr lang="en-US" sz="2800" dirty="0" smtClean="0">
                <a:effectLst/>
              </a:rPr>
              <a:t>.</a:t>
            </a:r>
          </a:p>
          <a:p>
            <a:pPr marL="231775" indent="-231775"/>
            <a:r>
              <a:rPr lang="en-US" sz="2800" dirty="0" smtClean="0">
                <a:effectLst/>
              </a:rPr>
              <a:t>The edge </a:t>
            </a:r>
            <a:r>
              <a:rPr lang="en-US" sz="2800" i="1" dirty="0" smtClean="0">
                <a:effectLst/>
              </a:rPr>
              <a:t>e</a:t>
            </a:r>
            <a:r>
              <a:rPr lang="en-US" sz="2800" dirty="0" smtClean="0">
                <a:effectLst/>
              </a:rPr>
              <a:t> </a:t>
            </a:r>
            <a:r>
              <a:rPr lang="en-US" sz="2800" b="1" dirty="0" smtClean="0">
                <a:solidFill>
                  <a:srgbClr val="FF0000"/>
                </a:solidFill>
                <a:effectLst/>
              </a:rPr>
              <a:t>connects</a:t>
            </a:r>
            <a:r>
              <a:rPr lang="en-US" sz="2800" dirty="0" smtClean="0">
                <a:effectLst/>
              </a:rPr>
              <a:t> </a:t>
            </a:r>
            <a:r>
              <a:rPr lang="en-US" sz="2800" i="1" dirty="0" smtClean="0">
                <a:effectLst/>
              </a:rPr>
              <a:t>u</a:t>
            </a:r>
            <a:r>
              <a:rPr lang="en-US" sz="2800" dirty="0" smtClean="0">
                <a:effectLst/>
              </a:rPr>
              <a:t> and </a:t>
            </a:r>
            <a:r>
              <a:rPr lang="en-US" sz="2800" i="1" dirty="0" smtClean="0">
                <a:effectLst/>
              </a:rPr>
              <a:t>v</a:t>
            </a:r>
            <a:r>
              <a:rPr lang="en-US" sz="2800" dirty="0" smtClean="0">
                <a:effectLst/>
              </a:rPr>
              <a:t>.</a:t>
            </a:r>
          </a:p>
          <a:p>
            <a:pPr marL="231775" indent="-231775"/>
            <a:r>
              <a:rPr lang="en-US" sz="2800" dirty="0" smtClean="0">
                <a:effectLst/>
              </a:rPr>
              <a:t>The vertices </a:t>
            </a:r>
            <a:r>
              <a:rPr lang="en-US" sz="2800" i="1" dirty="0" smtClean="0">
                <a:effectLst/>
              </a:rPr>
              <a:t>u</a:t>
            </a:r>
            <a:r>
              <a:rPr lang="en-US" sz="2800" dirty="0" smtClean="0">
                <a:effectLst/>
              </a:rPr>
              <a:t> and </a:t>
            </a:r>
            <a:r>
              <a:rPr lang="en-US" sz="2800" i="1" dirty="0" smtClean="0">
                <a:effectLst/>
              </a:rPr>
              <a:t>v</a:t>
            </a:r>
            <a:r>
              <a:rPr lang="en-US" sz="2800" dirty="0" smtClean="0">
                <a:effectLst/>
              </a:rPr>
              <a:t> are </a:t>
            </a:r>
            <a:r>
              <a:rPr lang="en-US" sz="2800" b="1" dirty="0" smtClean="0">
                <a:solidFill>
                  <a:srgbClr val="FF0000"/>
                </a:solidFill>
                <a:effectLst/>
              </a:rPr>
              <a:t>endpoints</a:t>
            </a:r>
            <a:r>
              <a:rPr lang="en-US" sz="2800" dirty="0" smtClean="0">
                <a:effectLst/>
              </a:rPr>
              <a:t> of the edge </a:t>
            </a:r>
            <a:r>
              <a:rPr lang="en-US" sz="2800" i="1" dirty="0" smtClean="0">
                <a:effectLst/>
              </a:rPr>
              <a:t>e</a:t>
            </a:r>
            <a:r>
              <a:rPr lang="en-US" sz="2800" dirty="0" smtClean="0">
                <a:effectLst/>
              </a:rPr>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z="3600" smtClean="0"/>
              <a:t>Undirected Graph: Degree of a Vertex</a:t>
            </a:r>
          </a:p>
        </p:txBody>
      </p:sp>
      <p:sp>
        <p:nvSpPr>
          <p:cNvPr id="26628" name="Rectangle 3"/>
          <p:cNvSpPr>
            <a:spLocks noGrp="1" noChangeArrowheads="1"/>
          </p:cNvSpPr>
          <p:nvPr>
            <p:ph type="body" idx="1"/>
          </p:nvPr>
        </p:nvSpPr>
        <p:spPr>
          <a:xfrm>
            <a:off x="685800" y="2209800"/>
            <a:ext cx="7772400" cy="3124200"/>
          </a:xfrm>
          <a:solidFill>
            <a:srgbClr val="FFFF99"/>
          </a:solidFill>
          <a:ln w="63500">
            <a:solidFill>
              <a:srgbClr val="006600"/>
            </a:solidFill>
          </a:ln>
        </p:spPr>
        <p:txBody>
          <a:bodyPr/>
          <a:lstStyle/>
          <a:p>
            <a:pPr algn="just"/>
            <a:r>
              <a:rPr lang="en-US" sz="2800" dirty="0" smtClean="0">
                <a:effectLst/>
              </a:rPr>
              <a:t>Let </a:t>
            </a:r>
            <a:r>
              <a:rPr lang="en-US" sz="2800" i="1" dirty="0" smtClean="0">
                <a:effectLst/>
              </a:rPr>
              <a:t>G </a:t>
            </a:r>
            <a:r>
              <a:rPr lang="en-US" sz="2800" dirty="0" smtClean="0">
                <a:effectLst/>
              </a:rPr>
              <a:t> be an undirected graph, </a:t>
            </a:r>
            <a:r>
              <a:rPr lang="en-US" sz="2800" i="1" dirty="0" smtClean="0">
                <a:effectLst/>
              </a:rPr>
              <a:t>v </a:t>
            </a:r>
            <a:r>
              <a:rPr lang="en-US" sz="2800" dirty="0" smtClean="0">
                <a:effectLst/>
                <a:sym typeface="Symbol" pitchFamily="18" charset="2"/>
              </a:rPr>
              <a:t></a:t>
            </a:r>
            <a:r>
              <a:rPr lang="en-US" sz="2800" i="1" dirty="0" smtClean="0">
                <a:effectLst/>
                <a:sym typeface="Symbol" pitchFamily="18" charset="2"/>
              </a:rPr>
              <a:t>V</a:t>
            </a:r>
            <a:r>
              <a:rPr lang="en-US" sz="2800" dirty="0" smtClean="0">
                <a:effectLst/>
              </a:rPr>
              <a:t> a vertex.</a:t>
            </a:r>
          </a:p>
          <a:p>
            <a:pPr algn="just"/>
            <a:r>
              <a:rPr lang="en-US" sz="2800" dirty="0" smtClean="0">
                <a:effectLst/>
              </a:rPr>
              <a:t>The </a:t>
            </a:r>
            <a:r>
              <a:rPr lang="en-US" sz="2800" b="1" dirty="0" smtClean="0">
                <a:solidFill>
                  <a:srgbClr val="FF0000"/>
                </a:solidFill>
                <a:effectLst/>
              </a:rPr>
              <a:t>degree </a:t>
            </a:r>
            <a:r>
              <a:rPr lang="en-US" sz="2800" dirty="0" smtClean="0">
                <a:effectLst/>
              </a:rPr>
              <a:t>of </a:t>
            </a:r>
            <a:r>
              <a:rPr lang="en-US" sz="2800" i="1" dirty="0" smtClean="0">
                <a:effectLst/>
              </a:rPr>
              <a:t>v</a:t>
            </a:r>
            <a:r>
              <a:rPr lang="en-US" sz="2800" dirty="0" smtClean="0">
                <a:effectLst/>
              </a:rPr>
              <a:t>,  </a:t>
            </a:r>
            <a:r>
              <a:rPr lang="en-US" sz="2800" dirty="0" err="1" smtClean="0">
                <a:effectLst/>
              </a:rPr>
              <a:t>deg</a:t>
            </a:r>
            <a:r>
              <a:rPr lang="en-US" sz="2800" dirty="0" smtClean="0">
                <a:effectLst/>
              </a:rPr>
              <a:t>(</a:t>
            </a:r>
            <a:r>
              <a:rPr lang="en-US" sz="2800" i="1" dirty="0" smtClean="0">
                <a:effectLst/>
              </a:rPr>
              <a:t>v</a:t>
            </a:r>
            <a:r>
              <a:rPr lang="en-US" sz="2800" dirty="0" smtClean="0">
                <a:effectLst/>
              </a:rPr>
              <a:t>), is its </a:t>
            </a:r>
            <a:r>
              <a:rPr lang="en-US" sz="2800" u="sng" dirty="0" smtClean="0">
                <a:solidFill>
                  <a:srgbClr val="FF0000"/>
                </a:solidFill>
                <a:effectLst/>
              </a:rPr>
              <a:t>number of incident edges</a:t>
            </a:r>
            <a:r>
              <a:rPr lang="en-US" sz="2800" u="sng" dirty="0" smtClean="0">
                <a:effectLst/>
              </a:rPr>
              <a:t>.</a:t>
            </a:r>
            <a:r>
              <a:rPr lang="en-US" sz="2800" dirty="0" smtClean="0">
                <a:effectLst/>
              </a:rPr>
              <a:t> (</a:t>
            </a:r>
            <a:r>
              <a:rPr lang="en-US" sz="2800" u="sng" dirty="0" smtClean="0">
                <a:effectLst/>
              </a:rPr>
              <a:t>Except that any </a:t>
            </a:r>
            <a:r>
              <a:rPr lang="en-US" sz="2800" u="sng" dirty="0" smtClean="0">
                <a:solidFill>
                  <a:schemeClr val="accent2"/>
                </a:solidFill>
                <a:effectLst/>
              </a:rPr>
              <a:t>self-loops are counted twice</a:t>
            </a:r>
            <a:r>
              <a:rPr lang="en-US" sz="2800" u="sng" dirty="0" smtClean="0">
                <a:effectLst/>
              </a:rPr>
              <a:t>.</a:t>
            </a:r>
            <a:r>
              <a:rPr lang="en-US" sz="2800" dirty="0" smtClean="0">
                <a:effectLst/>
              </a:rPr>
              <a:t>)</a:t>
            </a:r>
          </a:p>
          <a:p>
            <a:pPr algn="just"/>
            <a:r>
              <a:rPr lang="en-US" sz="2800" dirty="0" smtClean="0">
                <a:effectLst/>
              </a:rPr>
              <a:t>A vertex with degree 0 is </a:t>
            </a:r>
            <a:r>
              <a:rPr lang="en-US" sz="2800" b="1" dirty="0" smtClean="0">
                <a:solidFill>
                  <a:srgbClr val="FF0000"/>
                </a:solidFill>
                <a:effectLst/>
              </a:rPr>
              <a:t>isolated.</a:t>
            </a:r>
          </a:p>
          <a:p>
            <a:pPr algn="just"/>
            <a:r>
              <a:rPr lang="en-US" sz="2800" dirty="0" smtClean="0">
                <a:effectLst/>
              </a:rPr>
              <a:t>A vertex of degree 1 is </a:t>
            </a:r>
            <a:r>
              <a:rPr lang="en-US" sz="2800" b="1" dirty="0" smtClean="0">
                <a:solidFill>
                  <a:srgbClr val="FF0000"/>
                </a:solidFill>
                <a:effectLst/>
              </a:rPr>
              <a:t>pendant.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5" name="Rectangle 3"/>
          <p:cNvSpPr>
            <a:spLocks noGrp="1" noChangeArrowheads="1"/>
          </p:cNvSpPr>
          <p:nvPr>
            <p:ph type="body" idx="1"/>
          </p:nvPr>
        </p:nvSpPr>
        <p:spPr>
          <a:xfrm>
            <a:off x="685800" y="2743200"/>
            <a:ext cx="7772400" cy="3886200"/>
          </a:xfrm>
          <a:solidFill>
            <a:srgbClr val="FFFF99"/>
          </a:solidFill>
          <a:ln w="63500">
            <a:solidFill>
              <a:srgbClr val="006600"/>
            </a:solidFill>
          </a:ln>
        </p:spPr>
        <p:txBody>
          <a:bodyPr/>
          <a:lstStyle/>
          <a:p>
            <a:pPr>
              <a:lnSpc>
                <a:spcPct val="90000"/>
              </a:lnSpc>
              <a:buFontTx/>
              <a:buNone/>
              <a:defRPr/>
            </a:pPr>
            <a:r>
              <a:rPr lang="en-US" sz="2800" b="1" dirty="0" smtClean="0"/>
              <a:t>  </a:t>
            </a:r>
            <a:r>
              <a:rPr lang="en-US" sz="2800" dirty="0" smtClean="0">
                <a:effectLst/>
              </a:rPr>
              <a:t>deg(</a:t>
            </a:r>
            <a:r>
              <a:rPr lang="en-US" sz="2800" i="1" dirty="0" smtClean="0">
                <a:effectLst/>
              </a:rPr>
              <a:t>a </a:t>
            </a:r>
            <a:r>
              <a:rPr lang="en-US" sz="2800" dirty="0" smtClean="0">
                <a:effectLst/>
              </a:rPr>
              <a:t>) = 6</a:t>
            </a:r>
          </a:p>
          <a:p>
            <a:pPr>
              <a:lnSpc>
                <a:spcPct val="90000"/>
              </a:lnSpc>
              <a:buFontTx/>
              <a:buNone/>
              <a:defRPr/>
            </a:pPr>
            <a:r>
              <a:rPr lang="en-US" sz="2800" dirty="0" smtClean="0">
                <a:effectLst/>
              </a:rPr>
              <a:t>  deg(</a:t>
            </a:r>
            <a:r>
              <a:rPr lang="en-US" sz="2800" i="1" dirty="0" smtClean="0">
                <a:effectLst/>
              </a:rPr>
              <a:t>b </a:t>
            </a:r>
            <a:r>
              <a:rPr lang="en-US" sz="2800" dirty="0" smtClean="0">
                <a:effectLst/>
              </a:rPr>
              <a:t>) = 4</a:t>
            </a:r>
          </a:p>
          <a:p>
            <a:pPr>
              <a:lnSpc>
                <a:spcPct val="90000"/>
              </a:lnSpc>
              <a:buFontTx/>
              <a:buNone/>
              <a:defRPr/>
            </a:pPr>
            <a:r>
              <a:rPr lang="en-US" sz="2800" dirty="0" smtClean="0">
                <a:effectLst/>
              </a:rPr>
              <a:t>  deg(</a:t>
            </a:r>
            <a:r>
              <a:rPr lang="en-US" sz="2800" i="1" dirty="0" smtClean="0">
                <a:effectLst/>
              </a:rPr>
              <a:t>c </a:t>
            </a:r>
            <a:r>
              <a:rPr lang="en-US" sz="2800" dirty="0" smtClean="0">
                <a:effectLst/>
              </a:rPr>
              <a:t>) = 1      pendant</a:t>
            </a:r>
          </a:p>
          <a:p>
            <a:pPr>
              <a:lnSpc>
                <a:spcPct val="90000"/>
              </a:lnSpc>
              <a:buFontTx/>
              <a:buNone/>
              <a:defRPr/>
            </a:pPr>
            <a:r>
              <a:rPr lang="en-US" sz="2800" dirty="0" smtClean="0">
                <a:effectLst/>
              </a:rPr>
              <a:t>  deg(</a:t>
            </a:r>
            <a:r>
              <a:rPr lang="en-US" sz="2800" i="1" dirty="0" smtClean="0">
                <a:effectLst/>
              </a:rPr>
              <a:t>d </a:t>
            </a:r>
            <a:r>
              <a:rPr lang="en-US" sz="2800" dirty="0" smtClean="0">
                <a:effectLst/>
              </a:rPr>
              <a:t>) = 0      isolated</a:t>
            </a:r>
          </a:p>
          <a:p>
            <a:pPr>
              <a:lnSpc>
                <a:spcPct val="90000"/>
              </a:lnSpc>
              <a:buFontTx/>
              <a:buNone/>
              <a:defRPr/>
            </a:pPr>
            <a:r>
              <a:rPr lang="en-US" sz="2800" dirty="0" smtClean="0">
                <a:effectLst/>
              </a:rPr>
              <a:t>  deg(</a:t>
            </a:r>
            <a:r>
              <a:rPr lang="en-US" sz="2800" i="1" dirty="0" smtClean="0">
                <a:effectLst/>
              </a:rPr>
              <a:t>e </a:t>
            </a:r>
            <a:r>
              <a:rPr lang="en-US" sz="2800" dirty="0" smtClean="0">
                <a:effectLst/>
              </a:rPr>
              <a:t>) = 3</a:t>
            </a:r>
          </a:p>
          <a:p>
            <a:pPr>
              <a:lnSpc>
                <a:spcPct val="90000"/>
              </a:lnSpc>
              <a:buFontTx/>
              <a:buNone/>
              <a:defRPr/>
            </a:pPr>
            <a:r>
              <a:rPr lang="en-US" sz="2800" dirty="0" smtClean="0">
                <a:effectLst/>
              </a:rPr>
              <a:t>  deg(</a:t>
            </a:r>
            <a:r>
              <a:rPr lang="en-US" sz="2800" i="1" dirty="0" smtClean="0">
                <a:effectLst/>
              </a:rPr>
              <a:t>f  </a:t>
            </a:r>
            <a:r>
              <a:rPr lang="en-US" sz="2800" dirty="0" smtClean="0">
                <a:effectLst/>
              </a:rPr>
              <a:t>) = 4</a:t>
            </a:r>
          </a:p>
          <a:p>
            <a:pPr>
              <a:lnSpc>
                <a:spcPct val="90000"/>
              </a:lnSpc>
              <a:buFontTx/>
              <a:buNone/>
              <a:defRPr/>
            </a:pPr>
            <a:r>
              <a:rPr lang="en-US" sz="2800" dirty="0" smtClean="0">
                <a:effectLst/>
              </a:rPr>
              <a:t>  deg(</a:t>
            </a:r>
            <a:r>
              <a:rPr lang="en-US" sz="2800" i="1" dirty="0" smtClean="0">
                <a:effectLst/>
              </a:rPr>
              <a:t>g </a:t>
            </a:r>
            <a:r>
              <a:rPr lang="en-US" sz="2800" dirty="0" smtClean="0">
                <a:effectLst/>
              </a:rPr>
              <a:t>) = 2</a:t>
            </a:r>
          </a:p>
        </p:txBody>
      </p:sp>
      <p:pic>
        <p:nvPicPr>
          <p:cNvPr id="28676" name="Picture 4"/>
          <p:cNvPicPr>
            <a:picLocks noChangeAspect="1" noChangeArrowheads="1"/>
          </p:cNvPicPr>
          <p:nvPr/>
        </p:nvPicPr>
        <p:blipFill>
          <a:blip r:embed="rId2"/>
          <a:srcRect/>
          <a:stretch>
            <a:fillRect/>
          </a:stretch>
        </p:blipFill>
        <p:spPr bwMode="auto">
          <a:xfrm>
            <a:off x="1828800" y="357188"/>
            <a:ext cx="5257800" cy="2233612"/>
          </a:xfrm>
          <a:prstGeom prst="rect">
            <a:avLst/>
          </a:prstGeom>
          <a:solidFill>
            <a:srgbClr val="FFFF99"/>
          </a:solidFill>
          <a:ln w="57150">
            <a:solidFill>
              <a:srgbClr val="0066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299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299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29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529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529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529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29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29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5"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mtClean="0"/>
              <a:t>Directed Graph: Adjacency</a:t>
            </a:r>
          </a:p>
        </p:txBody>
      </p:sp>
      <p:sp>
        <p:nvSpPr>
          <p:cNvPr id="29700"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dirty="0" smtClean="0">
                <a:effectLst/>
              </a:rPr>
              <a:t>Let </a:t>
            </a:r>
            <a:r>
              <a:rPr lang="en-US" sz="2800" i="1" dirty="0" smtClean="0">
                <a:effectLst/>
              </a:rPr>
              <a:t>G</a:t>
            </a:r>
            <a:r>
              <a:rPr lang="en-US" sz="2800" dirty="0" smtClean="0">
                <a:effectLst/>
              </a:rPr>
              <a:t>  be a directed (possibly multi-) graph, and let </a:t>
            </a:r>
            <a:r>
              <a:rPr lang="en-US" sz="2800" i="1" dirty="0" smtClean="0">
                <a:effectLst/>
              </a:rPr>
              <a:t>e</a:t>
            </a:r>
            <a:r>
              <a:rPr lang="en-US" sz="2800" dirty="0" smtClean="0">
                <a:effectLst/>
              </a:rPr>
              <a:t> be an edge of </a:t>
            </a:r>
            <a:r>
              <a:rPr lang="en-US" sz="2800" i="1" dirty="0" smtClean="0">
                <a:effectLst/>
              </a:rPr>
              <a:t>G</a:t>
            </a:r>
            <a:r>
              <a:rPr lang="en-US" sz="2800" dirty="0" smtClean="0">
                <a:effectLst/>
              </a:rPr>
              <a:t> that is (</a:t>
            </a:r>
            <a:r>
              <a:rPr lang="en-US" sz="2800" i="1" dirty="0" smtClean="0">
                <a:effectLst/>
              </a:rPr>
              <a:t>u </a:t>
            </a:r>
            <a:r>
              <a:rPr lang="en-US" sz="2800" dirty="0" smtClean="0">
                <a:effectLst/>
              </a:rPr>
              <a:t>,</a:t>
            </a:r>
            <a:r>
              <a:rPr lang="en-US" sz="2800" i="1" dirty="0" smtClean="0">
                <a:effectLst/>
              </a:rPr>
              <a:t>v</a:t>
            </a:r>
            <a:r>
              <a:rPr lang="en-US" sz="2800" dirty="0" smtClean="0">
                <a:effectLst/>
              </a:rPr>
              <a:t>). Then we say:</a:t>
            </a:r>
          </a:p>
          <a:p>
            <a:pPr algn="ctr">
              <a:buFontTx/>
              <a:buNone/>
            </a:pPr>
            <a:r>
              <a:rPr lang="en-US" sz="2800" dirty="0" smtClean="0">
                <a:effectLst/>
              </a:rPr>
              <a:t>    </a:t>
            </a:r>
            <a:r>
              <a:rPr lang="en-US" sz="2800" i="1" dirty="0" smtClean="0">
                <a:effectLst/>
              </a:rPr>
              <a:t>u</a:t>
            </a:r>
            <a:r>
              <a:rPr lang="en-US" sz="2800" dirty="0" smtClean="0">
                <a:effectLst/>
              </a:rPr>
              <a:t>           </a:t>
            </a:r>
            <a:r>
              <a:rPr lang="en-US" sz="2800" i="1" dirty="0" smtClean="0">
                <a:effectLst/>
              </a:rPr>
              <a:t>v</a:t>
            </a:r>
            <a:r>
              <a:rPr lang="en-US" sz="2800" dirty="0" smtClean="0">
                <a:effectLst/>
              </a:rPr>
              <a:t> </a:t>
            </a:r>
          </a:p>
          <a:p>
            <a:pPr lvl="1"/>
            <a:r>
              <a:rPr lang="en-US" i="1" dirty="0" smtClean="0">
                <a:effectLst/>
              </a:rPr>
              <a:t>u</a:t>
            </a:r>
            <a:r>
              <a:rPr lang="en-US" dirty="0" smtClean="0">
                <a:effectLst/>
              </a:rPr>
              <a:t> is </a:t>
            </a:r>
            <a:r>
              <a:rPr lang="en-US" b="1" dirty="0" smtClean="0">
                <a:solidFill>
                  <a:srgbClr val="FF0000"/>
                </a:solidFill>
                <a:effectLst/>
              </a:rPr>
              <a:t>adjacent to </a:t>
            </a:r>
            <a:r>
              <a:rPr lang="en-US" i="1" dirty="0" smtClean="0">
                <a:effectLst/>
              </a:rPr>
              <a:t>v</a:t>
            </a:r>
            <a:r>
              <a:rPr lang="en-US" dirty="0" smtClean="0">
                <a:effectLst/>
              </a:rPr>
              <a:t>, </a:t>
            </a:r>
            <a:r>
              <a:rPr lang="en-US" i="1" dirty="0" smtClean="0">
                <a:effectLst/>
              </a:rPr>
              <a:t>v</a:t>
            </a:r>
            <a:r>
              <a:rPr lang="en-US" dirty="0" smtClean="0">
                <a:effectLst/>
              </a:rPr>
              <a:t> is </a:t>
            </a:r>
            <a:r>
              <a:rPr lang="en-US" b="1" dirty="0" smtClean="0">
                <a:solidFill>
                  <a:srgbClr val="FF0000"/>
                </a:solidFill>
                <a:effectLst/>
              </a:rPr>
              <a:t>adjacent from</a:t>
            </a:r>
            <a:r>
              <a:rPr lang="en-US" b="1" dirty="0" smtClean="0">
                <a:effectLst/>
              </a:rPr>
              <a:t> </a:t>
            </a:r>
            <a:r>
              <a:rPr lang="en-US" i="1" dirty="0" smtClean="0">
                <a:effectLst/>
              </a:rPr>
              <a:t>u</a:t>
            </a:r>
          </a:p>
          <a:p>
            <a:pPr lvl="1"/>
            <a:r>
              <a:rPr lang="en-US" i="1" dirty="0" smtClean="0">
                <a:effectLst/>
              </a:rPr>
              <a:t>e</a:t>
            </a:r>
            <a:r>
              <a:rPr lang="en-US" dirty="0" smtClean="0">
                <a:effectLst/>
              </a:rPr>
              <a:t> </a:t>
            </a:r>
            <a:r>
              <a:rPr lang="en-US" b="1" dirty="0" smtClean="0">
                <a:solidFill>
                  <a:srgbClr val="FF0000"/>
                </a:solidFill>
                <a:effectLst/>
              </a:rPr>
              <a:t>comes from </a:t>
            </a:r>
            <a:r>
              <a:rPr lang="en-US" i="1" dirty="0" smtClean="0">
                <a:effectLst/>
              </a:rPr>
              <a:t>u</a:t>
            </a:r>
            <a:r>
              <a:rPr lang="en-US" dirty="0" smtClean="0">
                <a:effectLst/>
              </a:rPr>
              <a:t>, </a:t>
            </a:r>
            <a:r>
              <a:rPr lang="en-US" i="1" dirty="0" smtClean="0">
                <a:effectLst/>
              </a:rPr>
              <a:t>e</a:t>
            </a:r>
            <a:r>
              <a:rPr lang="en-US" dirty="0" smtClean="0">
                <a:effectLst/>
              </a:rPr>
              <a:t> </a:t>
            </a:r>
            <a:r>
              <a:rPr lang="en-US" b="1" dirty="0" smtClean="0">
                <a:solidFill>
                  <a:srgbClr val="FF0000"/>
                </a:solidFill>
                <a:effectLst/>
              </a:rPr>
              <a:t>goes to </a:t>
            </a:r>
            <a:r>
              <a:rPr lang="en-US" i="1" dirty="0" smtClean="0">
                <a:effectLst/>
              </a:rPr>
              <a:t>v</a:t>
            </a:r>
            <a:r>
              <a:rPr lang="en-US" dirty="0" smtClean="0">
                <a:effectLst/>
              </a:rPr>
              <a:t>.</a:t>
            </a:r>
          </a:p>
          <a:p>
            <a:pPr lvl="1"/>
            <a:r>
              <a:rPr lang="en-US" i="1" dirty="0" smtClean="0">
                <a:effectLst/>
              </a:rPr>
              <a:t>e </a:t>
            </a:r>
            <a:r>
              <a:rPr lang="en-US" b="1" dirty="0" smtClean="0">
                <a:solidFill>
                  <a:srgbClr val="FF0000"/>
                </a:solidFill>
                <a:effectLst/>
              </a:rPr>
              <a:t>connects</a:t>
            </a:r>
            <a:r>
              <a:rPr lang="en-US" i="1" dirty="0" smtClean="0">
                <a:effectLst/>
              </a:rPr>
              <a:t> u </a:t>
            </a:r>
            <a:r>
              <a:rPr lang="en-US" b="1" dirty="0" smtClean="0">
                <a:solidFill>
                  <a:srgbClr val="FF0000"/>
                </a:solidFill>
                <a:effectLst/>
              </a:rPr>
              <a:t>to</a:t>
            </a:r>
            <a:r>
              <a:rPr lang="en-US" i="1" dirty="0" smtClean="0">
                <a:effectLst/>
              </a:rPr>
              <a:t> v</a:t>
            </a:r>
            <a:r>
              <a:rPr lang="en-US" dirty="0" smtClean="0">
                <a:effectLst/>
              </a:rPr>
              <a:t>, </a:t>
            </a:r>
            <a:r>
              <a:rPr lang="en-US" i="1" dirty="0" smtClean="0">
                <a:effectLst/>
              </a:rPr>
              <a:t>e </a:t>
            </a:r>
            <a:r>
              <a:rPr lang="en-US" b="1" dirty="0" smtClean="0">
                <a:solidFill>
                  <a:srgbClr val="FF0000"/>
                </a:solidFill>
                <a:effectLst/>
              </a:rPr>
              <a:t>goes from </a:t>
            </a:r>
            <a:r>
              <a:rPr lang="en-US" i="1" dirty="0" smtClean="0">
                <a:effectLst/>
              </a:rPr>
              <a:t>u </a:t>
            </a:r>
            <a:r>
              <a:rPr lang="en-US" b="1" dirty="0" smtClean="0">
                <a:solidFill>
                  <a:srgbClr val="FF0000"/>
                </a:solidFill>
                <a:effectLst/>
              </a:rPr>
              <a:t>to</a:t>
            </a:r>
            <a:r>
              <a:rPr lang="en-US" i="1" dirty="0" smtClean="0">
                <a:effectLst/>
              </a:rPr>
              <a:t> v</a:t>
            </a:r>
            <a:endParaRPr lang="en-US" dirty="0" smtClean="0">
              <a:effectLst/>
            </a:endParaRPr>
          </a:p>
          <a:p>
            <a:pPr lvl="1"/>
            <a:r>
              <a:rPr lang="en-US" dirty="0" smtClean="0">
                <a:effectLst/>
              </a:rPr>
              <a:t>The </a:t>
            </a:r>
            <a:r>
              <a:rPr lang="en-US" b="1" dirty="0" smtClean="0">
                <a:solidFill>
                  <a:srgbClr val="FF0000"/>
                </a:solidFill>
                <a:effectLst/>
              </a:rPr>
              <a:t>initial vertex </a:t>
            </a:r>
            <a:r>
              <a:rPr lang="en-US" dirty="0" smtClean="0">
                <a:effectLst/>
              </a:rPr>
              <a:t>of </a:t>
            </a:r>
            <a:r>
              <a:rPr lang="en-US" i="1" dirty="0" smtClean="0">
                <a:effectLst/>
              </a:rPr>
              <a:t>e</a:t>
            </a:r>
            <a:r>
              <a:rPr lang="en-US" dirty="0" smtClean="0">
                <a:effectLst/>
              </a:rPr>
              <a:t> is </a:t>
            </a:r>
            <a:r>
              <a:rPr lang="en-US" i="1" dirty="0" smtClean="0">
                <a:effectLst/>
              </a:rPr>
              <a:t>u</a:t>
            </a:r>
            <a:endParaRPr lang="en-US" dirty="0" smtClean="0">
              <a:effectLst/>
            </a:endParaRPr>
          </a:p>
          <a:p>
            <a:pPr lvl="1"/>
            <a:r>
              <a:rPr lang="en-US" dirty="0" smtClean="0">
                <a:effectLst/>
              </a:rPr>
              <a:t>The </a:t>
            </a:r>
            <a:r>
              <a:rPr lang="en-US" b="1" dirty="0" smtClean="0">
                <a:solidFill>
                  <a:srgbClr val="FF0000"/>
                </a:solidFill>
                <a:effectLst/>
              </a:rPr>
              <a:t>terminal vertex </a:t>
            </a:r>
            <a:r>
              <a:rPr lang="en-US" dirty="0" smtClean="0">
                <a:effectLst/>
              </a:rPr>
              <a:t>of </a:t>
            </a:r>
            <a:r>
              <a:rPr lang="en-US" i="1" dirty="0" smtClean="0">
                <a:effectLst/>
              </a:rPr>
              <a:t>e</a:t>
            </a:r>
            <a:r>
              <a:rPr lang="en-US" dirty="0" smtClean="0">
                <a:effectLst/>
              </a:rPr>
              <a:t> is </a:t>
            </a:r>
            <a:r>
              <a:rPr lang="en-US" i="1" dirty="0" smtClean="0">
                <a:effectLst/>
              </a:rPr>
              <a:t>v</a:t>
            </a:r>
            <a:endParaRPr lang="en-US" dirty="0" smtClean="0">
              <a:effectLst/>
            </a:endParaRPr>
          </a:p>
        </p:txBody>
      </p:sp>
      <p:sp>
        <p:nvSpPr>
          <p:cNvPr id="29701" name="Line 4"/>
          <p:cNvSpPr>
            <a:spLocks noChangeShapeType="1"/>
          </p:cNvSpPr>
          <p:nvPr/>
        </p:nvSpPr>
        <p:spPr bwMode="auto">
          <a:xfrm>
            <a:off x="4419600" y="3276600"/>
            <a:ext cx="7620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85800" y="304800"/>
            <a:ext cx="7772400" cy="1066800"/>
          </a:xfrm>
          <a:solidFill>
            <a:srgbClr val="00FF00"/>
          </a:solidFill>
          <a:ln w="63500">
            <a:solidFill>
              <a:srgbClr val="006600"/>
            </a:solidFill>
          </a:ln>
        </p:spPr>
        <p:txBody>
          <a:bodyPr/>
          <a:lstStyle/>
          <a:p>
            <a:r>
              <a:rPr lang="en-US" sz="4000" smtClean="0"/>
              <a:t>Directed Graph: Degree of a vertex</a:t>
            </a:r>
          </a:p>
        </p:txBody>
      </p:sp>
      <p:sp>
        <p:nvSpPr>
          <p:cNvPr id="30724" name="Rectangle 3"/>
          <p:cNvSpPr>
            <a:spLocks noGrp="1" noChangeArrowheads="1"/>
          </p:cNvSpPr>
          <p:nvPr>
            <p:ph type="body" idx="1"/>
          </p:nvPr>
        </p:nvSpPr>
        <p:spPr>
          <a:xfrm>
            <a:off x="685800" y="1905000"/>
            <a:ext cx="7772400" cy="4267200"/>
          </a:xfrm>
          <a:solidFill>
            <a:srgbClr val="FFFF99"/>
          </a:solidFill>
          <a:ln w="63500">
            <a:solidFill>
              <a:srgbClr val="006600"/>
            </a:solidFill>
          </a:ln>
        </p:spPr>
        <p:txBody>
          <a:bodyPr/>
          <a:lstStyle/>
          <a:p>
            <a:pPr algn="just">
              <a:lnSpc>
                <a:spcPct val="90000"/>
              </a:lnSpc>
            </a:pPr>
            <a:r>
              <a:rPr lang="en-US" sz="2800" smtClean="0">
                <a:effectLst/>
              </a:rPr>
              <a:t>Let </a:t>
            </a:r>
            <a:r>
              <a:rPr lang="en-US" sz="2800" i="1" smtClean="0">
                <a:effectLst/>
              </a:rPr>
              <a:t>G</a:t>
            </a:r>
            <a:r>
              <a:rPr lang="en-US" sz="2800" smtClean="0">
                <a:effectLst/>
              </a:rPr>
              <a:t>  be a directed graph and </a:t>
            </a:r>
            <a:r>
              <a:rPr lang="en-US" sz="2800" i="1" smtClean="0">
                <a:effectLst/>
              </a:rPr>
              <a:t>v</a:t>
            </a:r>
            <a:r>
              <a:rPr lang="en-US" sz="2800" smtClean="0">
                <a:effectLst/>
              </a:rPr>
              <a:t> a vertex of </a:t>
            </a:r>
            <a:r>
              <a:rPr lang="en-US" sz="2800" i="1" smtClean="0">
                <a:effectLst/>
              </a:rPr>
              <a:t>G</a:t>
            </a:r>
            <a:r>
              <a:rPr lang="en-US" sz="2800" smtClean="0">
                <a:effectLst/>
              </a:rPr>
              <a:t>.</a:t>
            </a:r>
          </a:p>
          <a:p>
            <a:pPr algn="just">
              <a:lnSpc>
                <a:spcPct val="90000"/>
              </a:lnSpc>
            </a:pPr>
            <a:r>
              <a:rPr lang="en-US" sz="2800" smtClean="0">
                <a:effectLst/>
              </a:rPr>
              <a:t>The </a:t>
            </a:r>
            <a:r>
              <a:rPr lang="en-US" sz="2800" b="1" smtClean="0">
                <a:solidFill>
                  <a:srgbClr val="FF0000"/>
                </a:solidFill>
                <a:effectLst/>
              </a:rPr>
              <a:t>in-degree</a:t>
            </a:r>
            <a:r>
              <a:rPr lang="en-US" sz="2800" smtClean="0">
                <a:solidFill>
                  <a:srgbClr val="FF0000"/>
                </a:solidFill>
                <a:effectLst/>
              </a:rPr>
              <a:t> </a:t>
            </a:r>
            <a:r>
              <a:rPr lang="en-US" sz="2800" smtClean="0">
                <a:effectLst/>
              </a:rPr>
              <a:t>of </a:t>
            </a:r>
            <a:r>
              <a:rPr lang="en-US" sz="2800" i="1" smtClean="0">
                <a:effectLst/>
              </a:rPr>
              <a:t>v</a:t>
            </a:r>
            <a:r>
              <a:rPr lang="en-US" sz="2800" smtClean="0">
                <a:effectLst/>
              </a:rPr>
              <a:t>, 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number of edges going to </a:t>
            </a:r>
            <a:r>
              <a:rPr lang="en-US" sz="2800" i="1" smtClean="0">
                <a:effectLst/>
                <a:sym typeface="Symbol" pitchFamily="18" charset="2"/>
              </a:rPr>
              <a:t>v </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terminal).</a:t>
            </a:r>
          </a:p>
          <a:p>
            <a:pPr algn="just">
              <a:lnSpc>
                <a:spcPct val="90000"/>
              </a:lnSpc>
            </a:pPr>
            <a:r>
              <a:rPr lang="en-US" sz="2800" smtClean="0">
                <a:effectLst/>
              </a:rPr>
              <a:t>The </a:t>
            </a:r>
            <a:r>
              <a:rPr lang="en-US" sz="2800" b="1" smtClean="0">
                <a:solidFill>
                  <a:srgbClr val="FF0000"/>
                </a:solidFill>
                <a:effectLst/>
              </a:rPr>
              <a:t>out-degree</a:t>
            </a:r>
            <a:r>
              <a:rPr lang="en-US" sz="2800" smtClean="0">
                <a:solidFill>
                  <a:srgbClr val="FF0000"/>
                </a:solidFill>
                <a:effectLst/>
              </a:rPr>
              <a:t> </a:t>
            </a:r>
            <a:r>
              <a:rPr lang="en-US" sz="2800" smtClean="0">
                <a:effectLst/>
              </a:rPr>
              <a:t>of </a:t>
            </a:r>
            <a:r>
              <a:rPr lang="en-US" sz="2800" i="1" smtClean="0">
                <a:effectLst/>
              </a:rPr>
              <a:t>v</a:t>
            </a:r>
            <a:r>
              <a:rPr lang="en-US" sz="2800" smtClean="0">
                <a:effectLst/>
              </a:rPr>
              <a:t>, 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number of edges coming from </a:t>
            </a:r>
            <a:r>
              <a:rPr lang="en-US" sz="2800" i="1" smtClean="0">
                <a:effectLst/>
                <a:sym typeface="Symbol" pitchFamily="18" charset="2"/>
              </a:rPr>
              <a:t>v </a:t>
            </a:r>
            <a:r>
              <a:rPr lang="en-US" sz="2800" smtClean="0">
                <a:effectLst/>
                <a:sym typeface="Symbol" pitchFamily="18" charset="2"/>
              </a:rPr>
              <a:t> (</a:t>
            </a:r>
            <a:r>
              <a:rPr lang="en-US" sz="2800" i="1" smtClean="0">
                <a:effectLst/>
                <a:sym typeface="Symbol" pitchFamily="18" charset="2"/>
              </a:rPr>
              <a:t>v</a:t>
            </a:r>
            <a:r>
              <a:rPr lang="en-US" sz="2800" smtClean="0">
                <a:effectLst/>
                <a:sym typeface="Symbol" pitchFamily="18" charset="2"/>
              </a:rPr>
              <a:t> is initial).</a:t>
            </a:r>
          </a:p>
          <a:p>
            <a:pPr algn="just">
              <a:lnSpc>
                <a:spcPct val="90000"/>
              </a:lnSpc>
            </a:pPr>
            <a:r>
              <a:rPr lang="en-US" sz="2800" smtClean="0">
                <a:effectLst/>
                <a:sym typeface="Symbol" pitchFamily="18" charset="2"/>
              </a:rPr>
              <a:t>The </a:t>
            </a:r>
            <a:r>
              <a:rPr lang="en-US" sz="2800" b="1" smtClean="0">
                <a:solidFill>
                  <a:srgbClr val="FF0000"/>
                </a:solidFill>
                <a:effectLst/>
                <a:sym typeface="Symbol" pitchFamily="18" charset="2"/>
              </a:rPr>
              <a:t>degree</a:t>
            </a:r>
            <a:r>
              <a:rPr lang="en-US" sz="2800" smtClean="0">
                <a:solidFill>
                  <a:srgbClr val="FF0000"/>
                </a:solidFill>
                <a:effectLst/>
                <a:sym typeface="Symbol" pitchFamily="18" charset="2"/>
              </a:rPr>
              <a:t> </a:t>
            </a:r>
            <a:r>
              <a:rPr lang="en-US" sz="2800" smtClean="0">
                <a:effectLst/>
                <a:sym typeface="Symbol" pitchFamily="18" charset="2"/>
              </a:rPr>
              <a:t>of </a:t>
            </a:r>
            <a:r>
              <a:rPr lang="en-US" sz="2800" i="1" smtClean="0">
                <a:effectLst/>
                <a:sym typeface="Symbol" pitchFamily="18" charset="2"/>
              </a:rPr>
              <a:t>v</a:t>
            </a:r>
            <a:r>
              <a:rPr lang="en-US" sz="2800" smtClean="0">
                <a:effectLst/>
                <a:sym typeface="Symbol" pitchFamily="18" charset="2"/>
              </a:rPr>
              <a:t>, deg(</a:t>
            </a:r>
            <a:r>
              <a:rPr lang="en-US" sz="2800" i="1" smtClean="0">
                <a:effectLst/>
                <a:sym typeface="Symbol" pitchFamily="18" charset="2"/>
              </a:rPr>
              <a:t>v</a:t>
            </a:r>
            <a:r>
              <a:rPr lang="en-US" sz="2800" smtClean="0">
                <a:effectLst/>
                <a:sym typeface="Symbol" pitchFamily="18" charset="2"/>
              </a:rPr>
              <a:t>) = </a:t>
            </a:r>
            <a:r>
              <a:rPr lang="en-US" sz="2800" smtClean="0">
                <a:effectLst/>
              </a:rPr>
              <a:t>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 </a:t>
            </a:r>
            <a:r>
              <a:rPr lang="en-US" sz="2800" smtClean="0">
                <a:effectLst/>
              </a:rPr>
              <a:t>deg</a:t>
            </a:r>
            <a:r>
              <a:rPr lang="en-US" sz="2800" baseline="30000" smtClean="0">
                <a:effectLst/>
                <a:sym typeface="Symbol" pitchFamily="18" charset="2"/>
              </a:rPr>
              <a:t></a:t>
            </a:r>
            <a:r>
              <a:rPr lang="en-US" sz="2800" smtClean="0">
                <a:effectLst/>
                <a:sym typeface="Symbol" pitchFamily="18" charset="2"/>
              </a:rPr>
              <a:t>(</a:t>
            </a:r>
            <a:r>
              <a:rPr lang="en-US" sz="2800" i="1" smtClean="0">
                <a:effectLst/>
                <a:sym typeface="Symbol" pitchFamily="18" charset="2"/>
              </a:rPr>
              <a:t>v</a:t>
            </a:r>
            <a:r>
              <a:rPr lang="en-US" sz="2800" smtClean="0">
                <a:effectLst/>
                <a:sym typeface="Symbol" pitchFamily="18" charset="2"/>
              </a:rPr>
              <a:t>), is the sum of </a:t>
            </a:r>
            <a:r>
              <a:rPr lang="en-US" sz="2800" i="1" smtClean="0">
                <a:effectLst/>
                <a:sym typeface="Symbol" pitchFamily="18" charset="2"/>
              </a:rPr>
              <a:t>v’</a:t>
            </a:r>
            <a:r>
              <a:rPr lang="en-US" sz="2800" smtClean="0">
                <a:effectLst/>
                <a:sym typeface="Symbol" pitchFamily="18" charset="2"/>
              </a:rPr>
              <a:t>s in-degree and out-degree.</a:t>
            </a:r>
          </a:p>
          <a:p>
            <a:pPr algn="just">
              <a:lnSpc>
                <a:spcPct val="90000"/>
              </a:lnSpc>
            </a:pPr>
            <a:r>
              <a:rPr lang="en-US" sz="2800" smtClean="0">
                <a:solidFill>
                  <a:srgbClr val="0070C0"/>
                </a:solidFill>
                <a:effectLst/>
                <a:sym typeface="Symbol" pitchFamily="18" charset="2"/>
              </a:rPr>
              <a:t>A loop at a vertex contributes 1 to  both in-degree and out-degree of this vertex.</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body" idx="1"/>
          </p:nvPr>
        </p:nvSpPr>
        <p:spPr>
          <a:xfrm>
            <a:off x="457200" y="2819400"/>
            <a:ext cx="8305800" cy="3810000"/>
          </a:xfrm>
          <a:solidFill>
            <a:srgbClr val="FFFF99"/>
          </a:solidFill>
          <a:ln w="63500">
            <a:solidFill>
              <a:srgbClr val="006600"/>
            </a:solidFill>
          </a:ln>
        </p:spPr>
        <p:txBody>
          <a:bodyPr/>
          <a:lstStyle/>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a </a:t>
            </a:r>
            <a:r>
              <a:rPr lang="en-US" sz="2800" dirty="0" smtClean="0">
                <a:effectLst/>
              </a:rPr>
              <a:t>) = 3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a </a:t>
            </a:r>
            <a:r>
              <a:rPr lang="en-US" sz="2800" dirty="0" smtClean="0">
                <a:effectLst/>
              </a:rPr>
              <a:t>) = 3</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b </a:t>
            </a:r>
            <a:r>
              <a:rPr lang="en-US" sz="2800" dirty="0" smtClean="0">
                <a:effectLst/>
              </a:rPr>
              <a:t>) = 3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b </a:t>
            </a:r>
            <a:r>
              <a:rPr lang="en-US" sz="2800" dirty="0" smtClean="0">
                <a:effectLst/>
              </a:rPr>
              <a:t>) = 1</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c </a:t>
            </a:r>
            <a:r>
              <a:rPr lang="en-US" sz="2800" dirty="0" smtClean="0">
                <a:effectLst/>
              </a:rPr>
              <a:t>) = 0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c </a:t>
            </a:r>
            <a:r>
              <a:rPr lang="en-US" sz="2800" dirty="0" smtClean="0">
                <a:effectLst/>
              </a:rPr>
              <a:t>) = 1</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d </a:t>
            </a:r>
            <a:r>
              <a:rPr lang="en-US" sz="2800" dirty="0" smtClean="0">
                <a:effectLst/>
              </a:rPr>
              <a:t>) = 0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d </a:t>
            </a:r>
            <a:r>
              <a:rPr lang="en-US" sz="2800" dirty="0" smtClean="0">
                <a:effectLst/>
              </a:rPr>
              <a:t>) = 0</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e </a:t>
            </a:r>
            <a:r>
              <a:rPr lang="en-US" sz="2800" dirty="0" smtClean="0">
                <a:effectLst/>
              </a:rPr>
              <a:t>) = 1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e </a:t>
            </a:r>
            <a:r>
              <a:rPr lang="en-US" sz="2800" dirty="0" smtClean="0">
                <a:effectLst/>
              </a:rPr>
              <a:t>) = 2</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f  </a:t>
            </a:r>
            <a:r>
              <a:rPr lang="en-US" sz="2800" dirty="0" smtClean="0">
                <a:effectLst/>
              </a:rPr>
              <a:t>) = 2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f  </a:t>
            </a:r>
            <a:r>
              <a:rPr lang="en-US" sz="2800" dirty="0" smtClean="0">
                <a:effectLst/>
              </a:rPr>
              <a:t>) = 2</a:t>
            </a:r>
          </a:p>
          <a:p>
            <a:pPr>
              <a:lnSpc>
                <a:spcPct val="80000"/>
              </a:lnSpc>
              <a:spcBef>
                <a:spcPts val="1200"/>
              </a:spcBef>
            </a:pP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g </a:t>
            </a:r>
            <a:r>
              <a:rPr lang="en-US" sz="2800" dirty="0" smtClean="0">
                <a:effectLst/>
              </a:rPr>
              <a:t>) = 1		</a:t>
            </a:r>
            <a:r>
              <a:rPr lang="en-US" sz="2800" dirty="0" err="1" smtClean="0">
                <a:effectLst/>
              </a:rPr>
              <a:t>deg</a:t>
            </a:r>
            <a:r>
              <a:rPr lang="en-US" sz="2800" baseline="30000" dirty="0" smtClean="0">
                <a:effectLst/>
              </a:rPr>
              <a:t>−</a:t>
            </a:r>
            <a:r>
              <a:rPr lang="en-US" sz="2800" dirty="0" smtClean="0">
                <a:effectLst/>
              </a:rPr>
              <a:t>(</a:t>
            </a:r>
            <a:r>
              <a:rPr lang="en-US" sz="2800" i="1" dirty="0" smtClean="0">
                <a:effectLst/>
              </a:rPr>
              <a:t>g </a:t>
            </a:r>
            <a:r>
              <a:rPr lang="en-US" sz="2800" dirty="0" smtClean="0">
                <a:effectLst/>
              </a:rPr>
              <a:t>) = 1</a:t>
            </a:r>
          </a:p>
        </p:txBody>
      </p:sp>
      <p:pic>
        <p:nvPicPr>
          <p:cNvPr id="31748" name="Picture 4"/>
          <p:cNvPicPr>
            <a:picLocks noChangeAspect="1" noChangeArrowheads="1"/>
          </p:cNvPicPr>
          <p:nvPr/>
        </p:nvPicPr>
        <p:blipFill>
          <a:blip r:embed="rId2"/>
          <a:srcRect/>
          <a:stretch>
            <a:fillRect/>
          </a:stretch>
        </p:blipFill>
        <p:spPr bwMode="auto">
          <a:xfrm>
            <a:off x="1447800" y="146050"/>
            <a:ext cx="5932488" cy="2520950"/>
          </a:xfrm>
          <a:prstGeom prst="rect">
            <a:avLst/>
          </a:prstGeom>
          <a:noFill/>
          <a:ln w="57150">
            <a:solidFill>
              <a:srgbClr val="0066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4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 Graph Representations</a:t>
            </a:r>
            <a:endParaRPr lang="en-US" sz="4800" smtClean="0"/>
          </a:p>
        </p:txBody>
      </p:sp>
      <p:sp>
        <p:nvSpPr>
          <p:cNvPr id="37892" name="Rectangle 3"/>
          <p:cNvSpPr>
            <a:spLocks noGrp="1" noChangeArrowheads="1"/>
          </p:cNvSpPr>
          <p:nvPr>
            <p:ph type="body" idx="1"/>
          </p:nvPr>
        </p:nvSpPr>
        <p:spPr>
          <a:xfrm>
            <a:off x="685800" y="2438400"/>
            <a:ext cx="7772400" cy="2438400"/>
          </a:xfrm>
          <a:solidFill>
            <a:srgbClr val="FFFF99"/>
          </a:solidFill>
          <a:ln w="63500">
            <a:solidFill>
              <a:srgbClr val="006600"/>
            </a:solidFill>
          </a:ln>
        </p:spPr>
        <p:txBody>
          <a:bodyPr/>
          <a:lstStyle/>
          <a:p>
            <a:r>
              <a:rPr lang="en-US" sz="2800" smtClean="0">
                <a:effectLst/>
              </a:rPr>
              <a:t>Graph representations:</a:t>
            </a:r>
          </a:p>
          <a:p>
            <a:pPr lvl="1"/>
            <a:r>
              <a:rPr lang="en-US" smtClean="0">
                <a:effectLst/>
              </a:rPr>
              <a:t>Adjacency Lists.</a:t>
            </a:r>
          </a:p>
          <a:p>
            <a:pPr lvl="1"/>
            <a:r>
              <a:rPr lang="en-US" smtClean="0">
                <a:effectLst/>
              </a:rPr>
              <a:t>Adjacency Matrices.</a:t>
            </a:r>
          </a:p>
          <a:p>
            <a:pPr lvl="1"/>
            <a:r>
              <a:rPr lang="en-US" smtClean="0">
                <a:effectLst/>
              </a:rPr>
              <a:t>Incidence Matrices.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Undirected: Adjacency Lists</a:t>
            </a:r>
          </a:p>
        </p:txBody>
      </p:sp>
      <p:sp>
        <p:nvSpPr>
          <p:cNvPr id="4101"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A table with 1 row per vertex, listing its adjacent vertices.</a:t>
            </a:r>
          </a:p>
        </p:txBody>
      </p:sp>
      <p:sp>
        <p:nvSpPr>
          <p:cNvPr id="4102" name="Oval 4"/>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3" name="Oval 5"/>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4" name="Oval 6"/>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5" name="Oval 7"/>
          <p:cNvSpPr>
            <a:spLocks noChangeArrowheads="1"/>
          </p:cNvSpPr>
          <p:nvPr/>
        </p:nvSpPr>
        <p:spPr bwMode="auto">
          <a:xfrm>
            <a:off x="18288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6" name="Oval 8"/>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07" name="Line 9"/>
          <p:cNvSpPr>
            <a:spLocks noChangeShapeType="1"/>
          </p:cNvSpPr>
          <p:nvPr/>
        </p:nvSpPr>
        <p:spPr bwMode="auto">
          <a:xfrm>
            <a:off x="1404938" y="4052888"/>
            <a:ext cx="796925" cy="412750"/>
          </a:xfrm>
          <a:prstGeom prst="line">
            <a:avLst/>
          </a:prstGeom>
          <a:noFill/>
          <a:ln w="28575">
            <a:solidFill>
              <a:schemeClr val="tx1"/>
            </a:solidFill>
            <a:round/>
            <a:headEnd/>
            <a:tailEnd/>
          </a:ln>
        </p:spPr>
        <p:txBody>
          <a:bodyPr wrap="none" anchor="ctr">
            <a:spAutoFit/>
          </a:bodyPr>
          <a:lstStyle/>
          <a:p>
            <a:endParaRPr lang="en-US"/>
          </a:p>
        </p:txBody>
      </p:sp>
      <p:sp>
        <p:nvSpPr>
          <p:cNvPr id="4108" name="Line 10"/>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4109" name="Line 11"/>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4110" name="Line 12"/>
          <p:cNvSpPr>
            <a:spLocks noChangeShapeType="1"/>
          </p:cNvSpPr>
          <p:nvPr/>
        </p:nvSpPr>
        <p:spPr bwMode="auto">
          <a:xfrm>
            <a:off x="2085975" y="3629025"/>
            <a:ext cx="155575" cy="784225"/>
          </a:xfrm>
          <a:prstGeom prst="line">
            <a:avLst/>
          </a:prstGeom>
          <a:noFill/>
          <a:ln w="28575">
            <a:solidFill>
              <a:schemeClr val="tx1"/>
            </a:solidFill>
            <a:round/>
            <a:headEnd/>
            <a:tailEnd/>
          </a:ln>
        </p:spPr>
        <p:txBody>
          <a:bodyPr wrap="none" anchor="ctr">
            <a:spAutoFit/>
          </a:bodyPr>
          <a:lstStyle/>
          <a:p>
            <a:endParaRPr lang="en-US"/>
          </a:p>
        </p:txBody>
      </p:sp>
      <p:sp>
        <p:nvSpPr>
          <p:cNvPr id="4111" name="Line 13"/>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4112" name="Line 14"/>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4113" name="Oval 15"/>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4114" name="Text Box 16"/>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4115" name="Text Box 17"/>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4116" name="Text Box 18"/>
          <p:cNvSpPr txBox="1">
            <a:spLocks noChangeArrowheads="1"/>
          </p:cNvSpPr>
          <p:nvPr/>
        </p:nvSpPr>
        <p:spPr bwMode="auto">
          <a:xfrm>
            <a:off x="1527175" y="3744913"/>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4117" name="Text Box 19"/>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4118" name="Text Box 20"/>
          <p:cNvSpPr txBox="1">
            <a:spLocks noChangeArrowheads="1"/>
          </p:cNvSpPr>
          <p:nvPr/>
        </p:nvSpPr>
        <p:spPr bwMode="auto">
          <a:xfrm>
            <a:off x="2354263" y="4241800"/>
            <a:ext cx="268287" cy="457200"/>
          </a:xfrm>
          <a:prstGeom prst="rect">
            <a:avLst/>
          </a:prstGeom>
          <a:noFill/>
          <a:ln w="28575">
            <a:noFill/>
            <a:miter lim="800000"/>
            <a:headEnd/>
            <a:tailEnd/>
          </a:ln>
        </p:spPr>
        <p:txBody>
          <a:bodyPr wrap="none" anchor="ctr">
            <a:spAutoFit/>
          </a:bodyPr>
          <a:lstStyle/>
          <a:p>
            <a:pPr algn="ctr"/>
            <a:r>
              <a:rPr lang="en-US" i="1"/>
              <a:t>f</a:t>
            </a:r>
          </a:p>
        </p:txBody>
      </p:sp>
      <p:sp>
        <p:nvSpPr>
          <p:cNvPr id="4119" name="Text Box 21"/>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4098" name="Object 22"/>
          <p:cNvGraphicFramePr>
            <a:graphicFrameLocks noChangeAspect="1"/>
          </p:cNvGraphicFramePr>
          <p:nvPr/>
        </p:nvGraphicFramePr>
        <p:xfrm>
          <a:off x="4114800" y="2690813"/>
          <a:ext cx="3651250" cy="3136900"/>
        </p:xfrm>
        <a:graphic>
          <a:graphicData uri="http://schemas.openxmlformats.org/presentationml/2006/ole">
            <mc:AlternateContent xmlns:mc="http://schemas.openxmlformats.org/markup-compatibility/2006">
              <mc:Choice xmlns:v="urn:schemas-microsoft-com:vml" Requires="v">
                <p:oleObj spid="_x0000_s4175" name="Document" r:id="rId3" imgW="5236498" imgH="4384441" progId="Word.Document.8">
                  <p:embed/>
                </p:oleObj>
              </mc:Choice>
              <mc:Fallback>
                <p:oleObj name="Document" r:id="rId3" imgW="5236498" imgH="4384441" progId="Word.Document.8">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690813"/>
                        <a:ext cx="3651250" cy="313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smtClean="0"/>
              <a:t>Undirected: Adjacency Matrices</a:t>
            </a:r>
          </a:p>
        </p:txBody>
      </p:sp>
      <p:sp>
        <p:nvSpPr>
          <p:cNvPr id="5125"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Matrix </a:t>
            </a:r>
            <a:r>
              <a:rPr lang="en-US" sz="2800" i="1" smtClean="0">
                <a:effectLst/>
              </a:rPr>
              <a:t>A </a:t>
            </a:r>
            <a:r>
              <a:rPr lang="en-US" sz="2800" smtClean="0">
                <a:effectLst/>
              </a:rPr>
              <a:t>= [</a:t>
            </a:r>
            <a:r>
              <a:rPr lang="en-US" sz="2800" i="1" smtClean="0">
                <a:effectLst/>
              </a:rPr>
              <a:t>a</a:t>
            </a:r>
            <a:r>
              <a:rPr lang="en-US" sz="2800" i="1" baseline="-25000" smtClean="0">
                <a:effectLst/>
              </a:rPr>
              <a:t>ij</a:t>
            </a:r>
            <a:r>
              <a:rPr lang="en-US" sz="2800" smtClean="0">
                <a:effectLst/>
              </a:rPr>
              <a:t>], where </a:t>
            </a:r>
            <a:r>
              <a:rPr lang="en-US" sz="2800" i="1" smtClean="0">
                <a:effectLst/>
              </a:rPr>
              <a:t>a</a:t>
            </a:r>
            <a:r>
              <a:rPr lang="en-US" sz="2800" i="1" baseline="-25000" smtClean="0">
                <a:effectLst/>
              </a:rPr>
              <a:t>ij</a:t>
            </a:r>
            <a:r>
              <a:rPr lang="en-US" sz="2800" smtClean="0">
                <a:effectLst/>
              </a:rPr>
              <a:t> is 1 if {</a:t>
            </a:r>
            <a:r>
              <a:rPr lang="en-US" sz="2800" i="1" smtClean="0">
                <a:effectLst/>
              </a:rPr>
              <a:t>v</a:t>
            </a:r>
            <a:r>
              <a:rPr lang="en-US" sz="2800" i="1" baseline="-25000" smtClean="0">
                <a:effectLst/>
              </a:rPr>
              <a:t>i  </a:t>
            </a:r>
            <a:r>
              <a:rPr lang="en-US" sz="2800" smtClean="0">
                <a:effectLst/>
              </a:rPr>
              <a:t>,</a:t>
            </a:r>
            <a:r>
              <a:rPr lang="en-US" sz="2800" i="1" smtClean="0">
                <a:effectLst/>
              </a:rPr>
              <a:t>v</a:t>
            </a:r>
            <a:r>
              <a:rPr lang="en-US" sz="2800" i="1" baseline="-25000" smtClean="0">
                <a:effectLst/>
              </a:rPr>
              <a:t>j </a:t>
            </a:r>
            <a:r>
              <a:rPr lang="en-US" sz="2800" smtClean="0">
                <a:effectLst/>
              </a:rPr>
              <a:t>} is an edge of </a:t>
            </a:r>
            <a:r>
              <a:rPr lang="en-US" sz="2800" i="1" smtClean="0">
                <a:effectLst/>
              </a:rPr>
              <a:t>G</a:t>
            </a:r>
            <a:r>
              <a:rPr lang="en-US" sz="2800" smtClean="0">
                <a:effectLst/>
              </a:rPr>
              <a:t>, 0 otherwise.</a:t>
            </a:r>
          </a:p>
        </p:txBody>
      </p:sp>
      <p:sp>
        <p:nvSpPr>
          <p:cNvPr id="5126" name="Oval 6"/>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7" name="Oval 7"/>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8" name="Oval 8"/>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29" name="Oval 10"/>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30" name="Line 12"/>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5131" name="Line 13"/>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5132" name="Line 15"/>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5133" name="Line 16"/>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5134" name="Oval 17"/>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5135" name="Text Box 18"/>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5136" name="Text Box 19"/>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5137" name="Text Box 20"/>
          <p:cNvSpPr txBox="1">
            <a:spLocks noChangeArrowheads="1"/>
          </p:cNvSpPr>
          <p:nvPr/>
        </p:nvSpPr>
        <p:spPr bwMode="auto">
          <a:xfrm>
            <a:off x="1873250" y="4191000"/>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5138" name="Text Box 21"/>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5139" name="Text Box 23"/>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5122" name="Object 25"/>
          <p:cNvGraphicFramePr>
            <a:graphicFrameLocks noChangeAspect="1"/>
          </p:cNvGraphicFramePr>
          <p:nvPr/>
        </p:nvGraphicFramePr>
        <p:xfrm>
          <a:off x="3592513" y="3600450"/>
          <a:ext cx="4232275" cy="2266950"/>
        </p:xfrm>
        <a:graphic>
          <a:graphicData uri="http://schemas.openxmlformats.org/presentationml/2006/ole">
            <mc:AlternateContent xmlns:mc="http://schemas.openxmlformats.org/markup-compatibility/2006">
              <mc:Choice xmlns:v="urn:schemas-microsoft-com:vml" Requires="v">
                <p:oleObj spid="_x0000_s5199" name="Equation" r:id="rId3" imgW="1231560" imgH="1143000" progId="Equation.3">
                  <p:embed/>
                </p:oleObj>
              </mc:Choice>
              <mc:Fallback>
                <p:oleObj name="Equation" r:id="rId3" imgW="1231560" imgH="114300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2513" y="3600450"/>
                        <a:ext cx="4232275"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 name="Text Box 28"/>
          <p:cNvSpPr txBox="1">
            <a:spLocks noChangeArrowheads="1"/>
          </p:cNvSpPr>
          <p:nvPr/>
        </p:nvSpPr>
        <p:spPr bwMode="auto">
          <a:xfrm>
            <a:off x="4114800" y="3124200"/>
            <a:ext cx="4114800" cy="523875"/>
          </a:xfrm>
          <a:prstGeom prst="rect">
            <a:avLst/>
          </a:prstGeom>
          <a:noFill/>
          <a:ln w="9525">
            <a:noFill/>
            <a:miter lim="800000"/>
            <a:headEnd/>
            <a:tailEnd/>
          </a:ln>
        </p:spPr>
        <p:txBody>
          <a:bodyPr>
            <a:spAutoFit/>
          </a:bodyPr>
          <a:lstStyle/>
          <a:p>
            <a:pPr>
              <a:spcBef>
                <a:spcPct val="50000"/>
              </a:spcBef>
            </a:pPr>
            <a:r>
              <a:rPr lang="en-US" sz="2800" i="1"/>
              <a:t>a      b       c       d       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609600" y="457200"/>
            <a:ext cx="7924800" cy="1143000"/>
          </a:xfrm>
          <a:solidFill>
            <a:srgbClr val="00FF00"/>
          </a:solidFill>
          <a:ln w="63500">
            <a:solidFill>
              <a:srgbClr val="006600"/>
            </a:solidFill>
          </a:ln>
        </p:spPr>
        <p:txBody>
          <a:bodyPr/>
          <a:lstStyle/>
          <a:p>
            <a:r>
              <a:rPr lang="en-US" smtClean="0"/>
              <a:t>Example 1</a:t>
            </a:r>
          </a:p>
        </p:txBody>
      </p:sp>
      <p:sp>
        <p:nvSpPr>
          <p:cNvPr id="862211" name="Rectangle 3"/>
          <p:cNvSpPr>
            <a:spLocks noGrp="1" noChangeArrowheads="1"/>
          </p:cNvSpPr>
          <p:nvPr>
            <p:ph type="body" sz="half" idx="1"/>
          </p:nvPr>
        </p:nvSpPr>
        <p:spPr>
          <a:xfrm>
            <a:off x="685800" y="1981200"/>
            <a:ext cx="7848600" cy="4114800"/>
          </a:xfrm>
          <a:solidFill>
            <a:srgbClr val="FFFF99"/>
          </a:solidFill>
          <a:ln w="50800">
            <a:solidFill>
              <a:srgbClr val="006600"/>
            </a:solidFill>
          </a:ln>
        </p:spPr>
        <p:txBody>
          <a:bodyPr/>
          <a:lstStyle/>
          <a:p>
            <a:pPr marL="0" algn="just">
              <a:buFontTx/>
              <a:buNone/>
              <a:defRPr/>
            </a:pPr>
            <a:r>
              <a:rPr lang="en-US" sz="2800" dirty="0" smtClean="0">
                <a:effectLst/>
              </a:rPr>
              <a:t>Draw a graph using the following adjacency matrix </a:t>
            </a:r>
            <a:r>
              <a:rPr lang="en-US" sz="2800" i="1" dirty="0" smtClean="0">
                <a:effectLst/>
              </a:rPr>
              <a:t>A</a:t>
            </a:r>
            <a:r>
              <a:rPr lang="en-US" sz="2800" dirty="0" smtClean="0">
                <a:effectLst/>
              </a:rPr>
              <a:t> with respect to the vertices: </a:t>
            </a:r>
            <a:r>
              <a:rPr lang="en-US" sz="2800" i="1" dirty="0" smtClean="0">
                <a:effectLst/>
              </a:rPr>
              <a:t>a, b, c, d </a:t>
            </a:r>
            <a:r>
              <a:rPr lang="en-US" sz="2800" dirty="0" smtClean="0">
                <a:effectLst/>
              </a:rPr>
              <a:t>:</a:t>
            </a:r>
            <a:endParaRPr lang="en-US" sz="2800" i="1" dirty="0" smtClean="0">
              <a:effectLst/>
            </a:endParaRPr>
          </a:p>
          <a:p>
            <a:pPr>
              <a:buFontTx/>
              <a:buNone/>
              <a:defRPr/>
            </a:pPr>
            <a:r>
              <a:rPr lang="en-US" sz="2800" dirty="0" smtClean="0"/>
              <a:t>                          </a:t>
            </a:r>
          </a:p>
          <a:p>
            <a:pPr>
              <a:buFontTx/>
              <a:buNone/>
              <a:defRPr/>
            </a:pPr>
            <a:r>
              <a:rPr lang="en-US" sz="2800" dirty="0" smtClean="0"/>
              <a:t>                                              </a:t>
            </a:r>
            <a:endParaRPr lang="en-US" sz="2800" i="1" dirty="0" smtClean="0">
              <a:effectLst/>
              <a:cs typeface="Times New Roman" pitchFamily="18" charset="0"/>
            </a:endParaRPr>
          </a:p>
          <a:p>
            <a:pPr>
              <a:buFontTx/>
              <a:buNone/>
              <a:defRPr/>
            </a:pPr>
            <a:endParaRPr lang="en-US" sz="2800" i="1" dirty="0" smtClean="0">
              <a:cs typeface="Times New Roman" pitchFamily="18" charset="0"/>
            </a:endParaRPr>
          </a:p>
          <a:p>
            <a:pPr>
              <a:buFontTx/>
              <a:buNone/>
              <a:defRPr/>
            </a:pPr>
            <a:endParaRPr lang="en-US" sz="2800" i="1" dirty="0" smtClean="0">
              <a:cs typeface="Times New Roman" pitchFamily="18" charset="0"/>
            </a:endParaRPr>
          </a:p>
          <a:p>
            <a:pPr>
              <a:buFontTx/>
              <a:buNone/>
              <a:defRPr/>
            </a:pPr>
            <a:r>
              <a:rPr lang="en-US" sz="2800" i="1" dirty="0" smtClean="0">
                <a:cs typeface="Times New Roman" pitchFamily="18" charset="0"/>
              </a:rPr>
              <a:t>                                               </a:t>
            </a:r>
            <a:endParaRPr lang="en-US" sz="2800" i="1" dirty="0" smtClean="0">
              <a:effectLst/>
              <a:cs typeface="Times New Roman" pitchFamily="18" charset="0"/>
            </a:endParaRPr>
          </a:p>
        </p:txBody>
      </p:sp>
      <p:graphicFrame>
        <p:nvGraphicFramePr>
          <p:cNvPr id="6146" name="Object 4"/>
          <p:cNvGraphicFramePr>
            <a:graphicFrameLocks noGrp="1" noChangeAspect="1"/>
          </p:cNvGraphicFramePr>
          <p:nvPr>
            <p:ph sz="half" idx="2"/>
          </p:nvPr>
        </p:nvGraphicFramePr>
        <p:xfrm>
          <a:off x="1073150" y="3282950"/>
          <a:ext cx="2578100" cy="2119313"/>
        </p:xfrm>
        <a:graphic>
          <a:graphicData uri="http://schemas.openxmlformats.org/presentationml/2006/ole">
            <mc:AlternateContent xmlns:mc="http://schemas.openxmlformats.org/markup-compatibility/2006">
              <mc:Choice xmlns:v="urn:schemas-microsoft-com:vml" Requires="v">
                <p:oleObj spid="_x0000_s6223" name="Equation" r:id="rId3" imgW="1282680" imgH="1054080" progId="Equation.3">
                  <p:embed/>
                </p:oleObj>
              </mc:Choice>
              <mc:Fallback>
                <p:oleObj name="Equation" r:id="rId3" imgW="1282680" imgH="10540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 y="3282950"/>
                        <a:ext cx="2578100" cy="2119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150" name="Straight Connector 10"/>
          <p:cNvCxnSpPr>
            <a:cxnSpLocks noChangeShapeType="1"/>
          </p:cNvCxnSpPr>
          <p:nvPr/>
        </p:nvCxnSpPr>
        <p:spPr bwMode="auto">
          <a:xfrm rot="10800000">
            <a:off x="5334000" y="3657600"/>
            <a:ext cx="1066800" cy="1588"/>
          </a:xfrm>
          <a:prstGeom prst="line">
            <a:avLst/>
          </a:prstGeom>
          <a:noFill/>
          <a:ln w="25400" algn="ctr">
            <a:solidFill>
              <a:schemeClr val="tx1"/>
            </a:solidFill>
            <a:round/>
            <a:headEnd/>
            <a:tailEnd/>
          </a:ln>
        </p:spPr>
      </p:cxnSp>
      <p:cxnSp>
        <p:nvCxnSpPr>
          <p:cNvPr id="6151" name="Straight Connector 12"/>
          <p:cNvCxnSpPr>
            <a:cxnSpLocks noChangeShapeType="1"/>
          </p:cNvCxnSpPr>
          <p:nvPr/>
        </p:nvCxnSpPr>
        <p:spPr bwMode="auto">
          <a:xfrm rot="5400000">
            <a:off x="5105400" y="3962400"/>
            <a:ext cx="1524000" cy="1066800"/>
          </a:xfrm>
          <a:prstGeom prst="line">
            <a:avLst/>
          </a:prstGeom>
          <a:noFill/>
          <a:ln w="25400" algn="ctr">
            <a:solidFill>
              <a:schemeClr val="tx1"/>
            </a:solidFill>
            <a:round/>
            <a:headEnd/>
            <a:tailEnd/>
          </a:ln>
        </p:spPr>
      </p:cxnSp>
      <p:cxnSp>
        <p:nvCxnSpPr>
          <p:cNvPr id="6152" name="Straight Connector 14"/>
          <p:cNvCxnSpPr>
            <a:cxnSpLocks noChangeShapeType="1"/>
          </p:cNvCxnSpPr>
          <p:nvPr/>
        </p:nvCxnSpPr>
        <p:spPr bwMode="auto">
          <a:xfrm rot="16200000" flipH="1">
            <a:off x="5143500" y="3924300"/>
            <a:ext cx="1524000" cy="1143000"/>
          </a:xfrm>
          <a:prstGeom prst="line">
            <a:avLst/>
          </a:prstGeom>
          <a:noFill/>
          <a:ln w="25400" algn="ctr">
            <a:solidFill>
              <a:schemeClr val="tx1"/>
            </a:solidFill>
            <a:round/>
            <a:headEnd/>
            <a:tailEnd/>
          </a:ln>
        </p:spPr>
      </p:cxnSp>
      <p:cxnSp>
        <p:nvCxnSpPr>
          <p:cNvPr id="6153" name="Straight Connector 16"/>
          <p:cNvCxnSpPr>
            <a:cxnSpLocks noChangeShapeType="1"/>
          </p:cNvCxnSpPr>
          <p:nvPr/>
        </p:nvCxnSpPr>
        <p:spPr bwMode="auto">
          <a:xfrm rot="10800000">
            <a:off x="5334000" y="5257800"/>
            <a:ext cx="1143000" cy="1588"/>
          </a:xfrm>
          <a:prstGeom prst="line">
            <a:avLst/>
          </a:prstGeom>
          <a:noFill/>
          <a:ln w="25400" algn="ctr">
            <a:solidFill>
              <a:schemeClr val="tx1"/>
            </a:solidFill>
            <a:round/>
            <a:headEnd/>
            <a:tailEnd/>
          </a:ln>
        </p:spPr>
      </p:cxnSp>
      <p:sp>
        <p:nvSpPr>
          <p:cNvPr id="6154" name="Oval 10"/>
          <p:cNvSpPr>
            <a:spLocks noChangeArrowheads="1"/>
          </p:cNvSpPr>
          <p:nvPr/>
        </p:nvSpPr>
        <p:spPr bwMode="auto">
          <a:xfrm>
            <a:off x="6324600" y="3581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5" name="Oval 10"/>
          <p:cNvSpPr>
            <a:spLocks noChangeArrowheads="1"/>
          </p:cNvSpPr>
          <p:nvPr/>
        </p:nvSpPr>
        <p:spPr bwMode="auto">
          <a:xfrm>
            <a:off x="5257800" y="3581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6" name="Oval 10"/>
          <p:cNvSpPr>
            <a:spLocks noChangeArrowheads="1"/>
          </p:cNvSpPr>
          <p:nvPr/>
        </p:nvSpPr>
        <p:spPr bwMode="auto">
          <a:xfrm>
            <a:off x="6400800" y="5181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7" name="Oval 10"/>
          <p:cNvSpPr>
            <a:spLocks noChangeArrowheads="1"/>
          </p:cNvSpPr>
          <p:nvPr/>
        </p:nvSpPr>
        <p:spPr bwMode="auto">
          <a:xfrm>
            <a:off x="5257800" y="5181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6158" name="TextBox 13"/>
          <p:cNvSpPr txBox="1">
            <a:spLocks noChangeArrowheads="1"/>
          </p:cNvSpPr>
          <p:nvPr/>
        </p:nvSpPr>
        <p:spPr bwMode="auto">
          <a:xfrm>
            <a:off x="4894263" y="3276600"/>
            <a:ext cx="363537" cy="523875"/>
          </a:xfrm>
          <a:prstGeom prst="rect">
            <a:avLst/>
          </a:prstGeom>
          <a:noFill/>
          <a:ln w="9525">
            <a:noFill/>
            <a:miter lim="800000"/>
            <a:headEnd/>
            <a:tailEnd/>
          </a:ln>
        </p:spPr>
        <p:txBody>
          <a:bodyPr wrap="none">
            <a:spAutoFit/>
          </a:bodyPr>
          <a:lstStyle/>
          <a:p>
            <a:r>
              <a:rPr lang="en-US" sz="2800" i="1"/>
              <a:t>a</a:t>
            </a:r>
          </a:p>
        </p:txBody>
      </p:sp>
      <p:sp>
        <p:nvSpPr>
          <p:cNvPr id="6159" name="TextBox 14"/>
          <p:cNvSpPr txBox="1">
            <a:spLocks noChangeArrowheads="1"/>
          </p:cNvSpPr>
          <p:nvPr/>
        </p:nvSpPr>
        <p:spPr bwMode="auto">
          <a:xfrm>
            <a:off x="6553200" y="3276600"/>
            <a:ext cx="363538" cy="523875"/>
          </a:xfrm>
          <a:prstGeom prst="rect">
            <a:avLst/>
          </a:prstGeom>
          <a:noFill/>
          <a:ln w="9525">
            <a:noFill/>
            <a:miter lim="800000"/>
            <a:headEnd/>
            <a:tailEnd/>
          </a:ln>
        </p:spPr>
        <p:txBody>
          <a:bodyPr wrap="none">
            <a:spAutoFit/>
          </a:bodyPr>
          <a:lstStyle/>
          <a:p>
            <a:r>
              <a:rPr lang="en-US" sz="2800" i="1"/>
              <a:t>b</a:t>
            </a:r>
          </a:p>
        </p:txBody>
      </p:sp>
      <p:sp>
        <p:nvSpPr>
          <p:cNvPr id="6160" name="TextBox 15"/>
          <p:cNvSpPr txBox="1">
            <a:spLocks noChangeArrowheads="1"/>
          </p:cNvSpPr>
          <p:nvPr/>
        </p:nvSpPr>
        <p:spPr bwMode="auto">
          <a:xfrm>
            <a:off x="6570663" y="5038725"/>
            <a:ext cx="342900" cy="523875"/>
          </a:xfrm>
          <a:prstGeom prst="rect">
            <a:avLst/>
          </a:prstGeom>
          <a:noFill/>
          <a:ln w="9525">
            <a:noFill/>
            <a:miter lim="800000"/>
            <a:headEnd/>
            <a:tailEnd/>
          </a:ln>
        </p:spPr>
        <p:txBody>
          <a:bodyPr wrap="none">
            <a:spAutoFit/>
          </a:bodyPr>
          <a:lstStyle/>
          <a:p>
            <a:r>
              <a:rPr lang="en-US" sz="2800" i="1"/>
              <a:t>c</a:t>
            </a:r>
          </a:p>
        </p:txBody>
      </p:sp>
      <p:sp>
        <p:nvSpPr>
          <p:cNvPr id="6161" name="TextBox 16"/>
          <p:cNvSpPr txBox="1">
            <a:spLocks noChangeArrowheads="1"/>
          </p:cNvSpPr>
          <p:nvPr/>
        </p:nvSpPr>
        <p:spPr bwMode="auto">
          <a:xfrm>
            <a:off x="4876800" y="5029200"/>
            <a:ext cx="363538" cy="523875"/>
          </a:xfrm>
          <a:prstGeom prst="rect">
            <a:avLst/>
          </a:prstGeom>
          <a:noFill/>
          <a:ln w="9525">
            <a:noFill/>
            <a:miter lim="800000"/>
            <a:headEnd/>
            <a:tailEnd/>
          </a:ln>
        </p:spPr>
        <p:txBody>
          <a:bodyPr wrap="none">
            <a:spAutoFit/>
          </a:bodyPr>
          <a:lstStyle/>
          <a:p>
            <a:r>
              <a:rPr lang="en-US" sz="2800" i="1"/>
              <a:t>d</a:t>
            </a:r>
          </a:p>
        </p:txBody>
      </p:sp>
      <p:sp>
        <p:nvSpPr>
          <p:cNvPr id="6162" name="Oval 17"/>
          <p:cNvSpPr>
            <a:spLocks noChangeArrowheads="1"/>
          </p:cNvSpPr>
          <p:nvPr/>
        </p:nvSpPr>
        <p:spPr bwMode="auto">
          <a:xfrm>
            <a:off x="4724400" y="3352800"/>
            <a:ext cx="533400" cy="533400"/>
          </a:xfrm>
          <a:prstGeom prst="ellipse">
            <a:avLst/>
          </a:prstGeom>
          <a:noFill/>
          <a:ln w="25400" algn="ctr">
            <a:solidFill>
              <a:schemeClr val="tx2"/>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6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 grpId="0" animBg="1"/>
      <p:bldP spid="6155" grpId="0" animBg="1"/>
      <p:bldP spid="6156" grpId="0" animBg="1"/>
      <p:bldP spid="6157" grpId="0" animBg="1"/>
      <p:bldP spid="6158" grpId="0"/>
      <p:bldP spid="6159" grpId="0"/>
      <p:bldP spid="6160" grpId="0"/>
      <p:bldP spid="6161" grpId="0"/>
      <p:bldP spid="616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685800" y="457200"/>
            <a:ext cx="7696200" cy="1143000"/>
          </a:xfrm>
          <a:solidFill>
            <a:srgbClr val="00FF00"/>
          </a:solidFill>
          <a:ln w="63500">
            <a:solidFill>
              <a:srgbClr val="006600"/>
            </a:solidFill>
          </a:ln>
        </p:spPr>
        <p:txBody>
          <a:bodyPr/>
          <a:lstStyle/>
          <a:p>
            <a:r>
              <a:rPr lang="en-US" smtClean="0"/>
              <a:t>Example 2</a:t>
            </a:r>
          </a:p>
        </p:txBody>
      </p:sp>
      <p:sp>
        <p:nvSpPr>
          <p:cNvPr id="7173" name="Rectangle 3"/>
          <p:cNvSpPr>
            <a:spLocks noGrp="1" noChangeArrowheads="1"/>
          </p:cNvSpPr>
          <p:nvPr>
            <p:ph type="body" sz="half" idx="1"/>
          </p:nvPr>
        </p:nvSpPr>
        <p:spPr>
          <a:xfrm>
            <a:off x="685800" y="1981200"/>
            <a:ext cx="7696200" cy="4114800"/>
          </a:xfrm>
          <a:solidFill>
            <a:srgbClr val="FFFF99"/>
          </a:solidFill>
          <a:ln w="63500">
            <a:solidFill>
              <a:srgbClr val="006600"/>
            </a:solidFill>
          </a:ln>
        </p:spPr>
        <p:txBody>
          <a:bodyPr/>
          <a:lstStyle/>
          <a:p>
            <a:pPr algn="just">
              <a:buFontTx/>
              <a:buNone/>
            </a:pPr>
            <a:r>
              <a:rPr lang="en-US" sz="2800" smtClean="0">
                <a:effectLst/>
              </a:rPr>
              <a:t>Find an adjacency matrix that represents the graph:</a:t>
            </a:r>
          </a:p>
          <a:p>
            <a:pPr>
              <a:buFontTx/>
              <a:buNone/>
            </a:pPr>
            <a:endParaRPr lang="en-US" sz="2800" smtClean="0">
              <a:effectLst/>
            </a:endParaRPr>
          </a:p>
        </p:txBody>
      </p:sp>
      <p:sp>
        <p:nvSpPr>
          <p:cNvPr id="7174" name="Line 11"/>
          <p:cNvSpPr>
            <a:spLocks noChangeShapeType="1"/>
          </p:cNvSpPr>
          <p:nvPr/>
        </p:nvSpPr>
        <p:spPr bwMode="auto">
          <a:xfrm flipV="1">
            <a:off x="3505200" y="3276600"/>
            <a:ext cx="0" cy="1524000"/>
          </a:xfrm>
          <a:prstGeom prst="line">
            <a:avLst/>
          </a:prstGeom>
          <a:noFill/>
          <a:ln w="25400">
            <a:solidFill>
              <a:schemeClr val="tx1"/>
            </a:solidFill>
            <a:round/>
            <a:headEnd/>
            <a:tailEnd/>
          </a:ln>
        </p:spPr>
        <p:txBody>
          <a:bodyPr/>
          <a:lstStyle/>
          <a:p>
            <a:endParaRPr lang="en-US"/>
          </a:p>
        </p:txBody>
      </p:sp>
      <p:graphicFrame>
        <p:nvGraphicFramePr>
          <p:cNvPr id="7170" name="Object 17"/>
          <p:cNvGraphicFramePr>
            <a:graphicFrameLocks noGrp="1" noChangeAspect="1"/>
          </p:cNvGraphicFramePr>
          <p:nvPr>
            <p:ph sz="half" idx="2"/>
          </p:nvPr>
        </p:nvGraphicFramePr>
        <p:xfrm>
          <a:off x="4940300" y="3048000"/>
          <a:ext cx="1971675" cy="2057400"/>
        </p:xfrm>
        <a:graphic>
          <a:graphicData uri="http://schemas.openxmlformats.org/presentationml/2006/ole">
            <mc:AlternateContent xmlns:mc="http://schemas.openxmlformats.org/markup-compatibility/2006">
              <mc:Choice xmlns:v="urn:schemas-microsoft-com:vml" Requires="v">
                <p:oleObj spid="_x0000_s7247" name="Equation" r:id="rId3" imgW="876240" imgH="914400" progId="Equation.3">
                  <p:embed/>
                </p:oleObj>
              </mc:Choice>
              <mc:Fallback>
                <p:oleObj name="Equation" r:id="rId3" imgW="876240" imgH="9144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00" y="3048000"/>
                        <a:ext cx="1971675"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5" name="Text Box 23"/>
          <p:cNvSpPr txBox="1">
            <a:spLocks noChangeArrowheads="1"/>
          </p:cNvSpPr>
          <p:nvPr/>
        </p:nvSpPr>
        <p:spPr bwMode="auto">
          <a:xfrm>
            <a:off x="4953000" y="2590800"/>
            <a:ext cx="2514600" cy="523875"/>
          </a:xfrm>
          <a:prstGeom prst="rect">
            <a:avLst/>
          </a:prstGeom>
          <a:noFill/>
          <a:ln w="9525">
            <a:noFill/>
            <a:miter lim="800000"/>
            <a:headEnd/>
            <a:tailEnd/>
          </a:ln>
        </p:spPr>
        <p:txBody>
          <a:bodyPr>
            <a:spAutoFit/>
          </a:bodyPr>
          <a:lstStyle/>
          <a:p>
            <a:pPr>
              <a:spcBef>
                <a:spcPct val="50000"/>
              </a:spcBef>
            </a:pPr>
            <a:r>
              <a:rPr lang="en-US" sz="2800" i="1"/>
              <a:t>a    b    c   d</a:t>
            </a:r>
          </a:p>
        </p:txBody>
      </p:sp>
      <p:sp>
        <p:nvSpPr>
          <p:cNvPr id="7176" name="Oval 19"/>
          <p:cNvSpPr>
            <a:spLocks noChangeArrowheads="1"/>
          </p:cNvSpPr>
          <p:nvPr/>
        </p:nvSpPr>
        <p:spPr bwMode="auto">
          <a:xfrm>
            <a:off x="3581400" y="4648200"/>
            <a:ext cx="381000" cy="457200"/>
          </a:xfrm>
          <a:prstGeom prst="ellipse">
            <a:avLst/>
          </a:prstGeom>
          <a:noFill/>
          <a:ln w="25400" algn="ctr">
            <a:solidFill>
              <a:schemeClr val="tx1"/>
            </a:solidFill>
            <a:round/>
            <a:headEnd/>
            <a:tailEnd/>
          </a:ln>
        </p:spPr>
        <p:txBody>
          <a:bodyPr/>
          <a:lstStyle/>
          <a:p>
            <a:endParaRPr lang="en-US"/>
          </a:p>
        </p:txBody>
      </p:sp>
      <p:sp>
        <p:nvSpPr>
          <p:cNvPr id="7177" name="Oval 20"/>
          <p:cNvSpPr>
            <a:spLocks noChangeArrowheads="1"/>
          </p:cNvSpPr>
          <p:nvPr/>
        </p:nvSpPr>
        <p:spPr bwMode="auto">
          <a:xfrm>
            <a:off x="2362200" y="4800600"/>
            <a:ext cx="1143000" cy="152400"/>
          </a:xfrm>
          <a:prstGeom prst="ellipse">
            <a:avLst/>
          </a:prstGeom>
          <a:noFill/>
          <a:ln w="25400" algn="ctr">
            <a:solidFill>
              <a:schemeClr val="tx1"/>
            </a:solidFill>
            <a:round/>
            <a:headEnd/>
            <a:tailEnd/>
          </a:ln>
        </p:spPr>
        <p:txBody>
          <a:bodyPr/>
          <a:lstStyle/>
          <a:p>
            <a:endParaRPr lang="en-US"/>
          </a:p>
        </p:txBody>
      </p:sp>
      <p:sp>
        <p:nvSpPr>
          <p:cNvPr id="7178" name="Oval 24"/>
          <p:cNvSpPr>
            <a:spLocks noChangeArrowheads="1"/>
          </p:cNvSpPr>
          <p:nvPr/>
        </p:nvSpPr>
        <p:spPr bwMode="auto">
          <a:xfrm>
            <a:off x="2209800" y="3352800"/>
            <a:ext cx="152400" cy="1447800"/>
          </a:xfrm>
          <a:prstGeom prst="ellipse">
            <a:avLst/>
          </a:prstGeom>
          <a:noFill/>
          <a:ln w="25400" algn="ctr">
            <a:solidFill>
              <a:schemeClr val="tx1"/>
            </a:solidFill>
            <a:round/>
            <a:headEnd/>
            <a:tailEnd/>
          </a:ln>
        </p:spPr>
        <p:txBody>
          <a:bodyPr/>
          <a:lstStyle/>
          <a:p>
            <a:endParaRPr lang="en-US"/>
          </a:p>
        </p:txBody>
      </p:sp>
      <p:sp>
        <p:nvSpPr>
          <p:cNvPr id="7179" name="Oval 25"/>
          <p:cNvSpPr>
            <a:spLocks noChangeArrowheads="1"/>
          </p:cNvSpPr>
          <p:nvPr/>
        </p:nvSpPr>
        <p:spPr bwMode="auto">
          <a:xfrm>
            <a:off x="2362200" y="3124200"/>
            <a:ext cx="1143000" cy="228600"/>
          </a:xfrm>
          <a:prstGeom prst="ellipse">
            <a:avLst/>
          </a:prstGeom>
          <a:noFill/>
          <a:ln w="25400" algn="ctr">
            <a:solidFill>
              <a:schemeClr val="tx1"/>
            </a:solidFill>
            <a:round/>
            <a:headEnd/>
            <a:tailEnd/>
          </a:ln>
        </p:spPr>
        <p:txBody>
          <a:bodyPr/>
          <a:lstStyle/>
          <a:p>
            <a:endParaRPr lang="en-US"/>
          </a:p>
        </p:txBody>
      </p:sp>
      <p:cxnSp>
        <p:nvCxnSpPr>
          <p:cNvPr id="7180" name="Straight Connector 29"/>
          <p:cNvCxnSpPr>
            <a:cxnSpLocks noChangeShapeType="1"/>
            <a:endCxn id="7179" idx="6"/>
          </p:cNvCxnSpPr>
          <p:nvPr/>
        </p:nvCxnSpPr>
        <p:spPr bwMode="auto">
          <a:xfrm flipV="1">
            <a:off x="2286000" y="3238500"/>
            <a:ext cx="1219200" cy="38100"/>
          </a:xfrm>
          <a:prstGeom prst="line">
            <a:avLst/>
          </a:prstGeom>
          <a:noFill/>
          <a:ln w="25400" algn="ctr">
            <a:solidFill>
              <a:schemeClr val="tx1"/>
            </a:solidFill>
            <a:round/>
            <a:headEnd/>
            <a:tailEnd/>
          </a:ln>
        </p:spPr>
      </p:cxnSp>
      <p:cxnSp>
        <p:nvCxnSpPr>
          <p:cNvPr id="7181" name="Straight Connector 31"/>
          <p:cNvCxnSpPr>
            <a:cxnSpLocks noChangeShapeType="1"/>
          </p:cNvCxnSpPr>
          <p:nvPr/>
        </p:nvCxnSpPr>
        <p:spPr bwMode="auto">
          <a:xfrm rot="5400000" flipH="1" flipV="1">
            <a:off x="2209800" y="3505200"/>
            <a:ext cx="1447800" cy="1143000"/>
          </a:xfrm>
          <a:prstGeom prst="line">
            <a:avLst/>
          </a:prstGeom>
          <a:noFill/>
          <a:ln w="25400" algn="ctr">
            <a:solidFill>
              <a:schemeClr val="tx1"/>
            </a:solidFill>
            <a:round/>
            <a:headEnd/>
            <a:tailEnd/>
          </a:ln>
        </p:spPr>
      </p:cxnSp>
      <p:sp>
        <p:nvSpPr>
          <p:cNvPr id="7182" name="TextBox 17"/>
          <p:cNvSpPr txBox="1">
            <a:spLocks noChangeArrowheads="1"/>
          </p:cNvSpPr>
          <p:nvPr/>
        </p:nvSpPr>
        <p:spPr bwMode="auto">
          <a:xfrm>
            <a:off x="1905000" y="2967038"/>
            <a:ext cx="338138" cy="461962"/>
          </a:xfrm>
          <a:prstGeom prst="rect">
            <a:avLst/>
          </a:prstGeom>
          <a:noFill/>
          <a:ln w="9525">
            <a:noFill/>
            <a:miter lim="800000"/>
            <a:headEnd/>
            <a:tailEnd/>
          </a:ln>
        </p:spPr>
        <p:txBody>
          <a:bodyPr wrap="none">
            <a:spAutoFit/>
          </a:bodyPr>
          <a:lstStyle/>
          <a:p>
            <a:r>
              <a:rPr lang="en-US" i="1"/>
              <a:t>a</a:t>
            </a:r>
          </a:p>
        </p:txBody>
      </p:sp>
      <p:sp>
        <p:nvSpPr>
          <p:cNvPr id="7183" name="TextBox 18"/>
          <p:cNvSpPr txBox="1">
            <a:spLocks noChangeArrowheads="1"/>
          </p:cNvSpPr>
          <p:nvPr/>
        </p:nvSpPr>
        <p:spPr bwMode="auto">
          <a:xfrm>
            <a:off x="3581400" y="2971800"/>
            <a:ext cx="338138" cy="461963"/>
          </a:xfrm>
          <a:prstGeom prst="rect">
            <a:avLst/>
          </a:prstGeom>
          <a:noFill/>
          <a:ln w="9525">
            <a:noFill/>
            <a:miter lim="800000"/>
            <a:headEnd/>
            <a:tailEnd/>
          </a:ln>
        </p:spPr>
        <p:txBody>
          <a:bodyPr wrap="none">
            <a:spAutoFit/>
          </a:bodyPr>
          <a:lstStyle/>
          <a:p>
            <a:r>
              <a:rPr lang="en-US" i="1"/>
              <a:t>b</a:t>
            </a:r>
          </a:p>
        </p:txBody>
      </p:sp>
      <p:sp>
        <p:nvSpPr>
          <p:cNvPr id="7184" name="TextBox 19"/>
          <p:cNvSpPr txBox="1">
            <a:spLocks noChangeArrowheads="1"/>
          </p:cNvSpPr>
          <p:nvPr/>
        </p:nvSpPr>
        <p:spPr bwMode="auto">
          <a:xfrm>
            <a:off x="3548063" y="4572000"/>
            <a:ext cx="320675" cy="461963"/>
          </a:xfrm>
          <a:prstGeom prst="rect">
            <a:avLst/>
          </a:prstGeom>
          <a:noFill/>
          <a:ln w="9525">
            <a:noFill/>
            <a:miter lim="800000"/>
            <a:headEnd/>
            <a:tailEnd/>
          </a:ln>
        </p:spPr>
        <p:txBody>
          <a:bodyPr wrap="none">
            <a:spAutoFit/>
          </a:bodyPr>
          <a:lstStyle/>
          <a:p>
            <a:r>
              <a:rPr lang="en-US" i="1"/>
              <a:t>c</a:t>
            </a:r>
          </a:p>
        </p:txBody>
      </p:sp>
      <p:sp>
        <p:nvSpPr>
          <p:cNvPr id="7185" name="TextBox 20"/>
          <p:cNvSpPr txBox="1">
            <a:spLocks noChangeArrowheads="1"/>
          </p:cNvSpPr>
          <p:nvPr/>
        </p:nvSpPr>
        <p:spPr bwMode="auto">
          <a:xfrm>
            <a:off x="1905000" y="4648200"/>
            <a:ext cx="338138" cy="461963"/>
          </a:xfrm>
          <a:prstGeom prst="rect">
            <a:avLst/>
          </a:prstGeom>
          <a:noFill/>
          <a:ln w="9525">
            <a:noFill/>
            <a:miter lim="800000"/>
            <a:headEnd/>
            <a:tailEnd/>
          </a:ln>
        </p:spPr>
        <p:txBody>
          <a:bodyPr wrap="none">
            <a:spAutoFit/>
          </a:bodyPr>
          <a:lstStyle/>
          <a:p>
            <a:r>
              <a:rPr lang="en-US" i="1"/>
              <a:t>d</a:t>
            </a:r>
          </a:p>
        </p:txBody>
      </p:sp>
      <p:sp>
        <p:nvSpPr>
          <p:cNvPr id="7186" name="Oval 10"/>
          <p:cNvSpPr>
            <a:spLocks noChangeArrowheads="1"/>
          </p:cNvSpPr>
          <p:nvPr/>
        </p:nvSpPr>
        <p:spPr bwMode="auto">
          <a:xfrm>
            <a:off x="3429000" y="3200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7" name="Oval 10"/>
          <p:cNvSpPr>
            <a:spLocks noChangeArrowheads="1"/>
          </p:cNvSpPr>
          <p:nvPr/>
        </p:nvSpPr>
        <p:spPr bwMode="auto">
          <a:xfrm>
            <a:off x="2209800" y="32004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8" name="Oval 10"/>
          <p:cNvSpPr>
            <a:spLocks noChangeArrowheads="1"/>
          </p:cNvSpPr>
          <p:nvPr/>
        </p:nvSpPr>
        <p:spPr bwMode="auto">
          <a:xfrm>
            <a:off x="3429000" y="4800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89" name="Oval 10"/>
          <p:cNvSpPr>
            <a:spLocks noChangeArrowheads="1"/>
          </p:cNvSpPr>
          <p:nvPr/>
        </p:nvSpPr>
        <p:spPr bwMode="auto">
          <a:xfrm>
            <a:off x="2209800" y="4800600"/>
            <a:ext cx="152400" cy="152400"/>
          </a:xfrm>
          <a:prstGeom prst="ellipse">
            <a:avLst/>
          </a:prstGeom>
          <a:solidFill>
            <a:schemeClr val="bg2"/>
          </a:solidFill>
          <a:ln w="25400">
            <a:solidFill>
              <a:schemeClr val="tx1"/>
            </a:solidFill>
            <a:round/>
            <a:headEnd/>
            <a:tailEnd/>
          </a:ln>
        </p:spPr>
        <p:txBody>
          <a:bodyPr anchor="ctr">
            <a:spAutoFit/>
          </a:bodyPr>
          <a:lstStyle/>
          <a:p>
            <a:endParaRPr lang="en-US"/>
          </a:p>
        </p:txBody>
      </p:sp>
      <p:sp>
        <p:nvSpPr>
          <p:cNvPr id="7190" name="TextBox 17"/>
          <p:cNvSpPr txBox="1">
            <a:spLocks noChangeArrowheads="1"/>
          </p:cNvSpPr>
          <p:nvPr/>
        </p:nvSpPr>
        <p:spPr bwMode="auto">
          <a:xfrm>
            <a:off x="4572000" y="3043238"/>
            <a:ext cx="338138" cy="461962"/>
          </a:xfrm>
          <a:prstGeom prst="rect">
            <a:avLst/>
          </a:prstGeom>
          <a:noFill/>
          <a:ln w="9525">
            <a:noFill/>
            <a:miter lim="800000"/>
            <a:headEnd/>
            <a:tailEnd/>
          </a:ln>
        </p:spPr>
        <p:txBody>
          <a:bodyPr wrap="none">
            <a:spAutoFit/>
          </a:bodyPr>
          <a:lstStyle/>
          <a:p>
            <a:r>
              <a:rPr lang="en-US" i="1"/>
              <a:t>a</a:t>
            </a:r>
          </a:p>
        </p:txBody>
      </p:sp>
      <p:sp>
        <p:nvSpPr>
          <p:cNvPr id="7191" name="TextBox 18"/>
          <p:cNvSpPr txBox="1">
            <a:spLocks noChangeArrowheads="1"/>
          </p:cNvSpPr>
          <p:nvPr/>
        </p:nvSpPr>
        <p:spPr bwMode="auto">
          <a:xfrm>
            <a:off x="4572000" y="3576638"/>
            <a:ext cx="338138" cy="461962"/>
          </a:xfrm>
          <a:prstGeom prst="rect">
            <a:avLst/>
          </a:prstGeom>
          <a:noFill/>
          <a:ln w="9525">
            <a:noFill/>
            <a:miter lim="800000"/>
            <a:headEnd/>
            <a:tailEnd/>
          </a:ln>
        </p:spPr>
        <p:txBody>
          <a:bodyPr wrap="none">
            <a:spAutoFit/>
          </a:bodyPr>
          <a:lstStyle/>
          <a:p>
            <a:r>
              <a:rPr lang="en-US" i="1"/>
              <a:t>b</a:t>
            </a:r>
          </a:p>
        </p:txBody>
      </p:sp>
      <p:sp>
        <p:nvSpPr>
          <p:cNvPr id="7192" name="TextBox 19"/>
          <p:cNvSpPr txBox="1">
            <a:spLocks noChangeArrowheads="1"/>
          </p:cNvSpPr>
          <p:nvPr/>
        </p:nvSpPr>
        <p:spPr bwMode="auto">
          <a:xfrm>
            <a:off x="4572000" y="4038600"/>
            <a:ext cx="320675" cy="461963"/>
          </a:xfrm>
          <a:prstGeom prst="rect">
            <a:avLst/>
          </a:prstGeom>
          <a:noFill/>
          <a:ln w="9525">
            <a:noFill/>
            <a:miter lim="800000"/>
            <a:headEnd/>
            <a:tailEnd/>
          </a:ln>
        </p:spPr>
        <p:txBody>
          <a:bodyPr wrap="none">
            <a:spAutoFit/>
          </a:bodyPr>
          <a:lstStyle/>
          <a:p>
            <a:r>
              <a:rPr lang="en-US" i="1"/>
              <a:t>c</a:t>
            </a:r>
          </a:p>
        </p:txBody>
      </p:sp>
      <p:sp>
        <p:nvSpPr>
          <p:cNvPr id="7193" name="TextBox 20"/>
          <p:cNvSpPr txBox="1">
            <a:spLocks noChangeArrowheads="1"/>
          </p:cNvSpPr>
          <p:nvPr/>
        </p:nvSpPr>
        <p:spPr bwMode="auto">
          <a:xfrm>
            <a:off x="4572000" y="4572000"/>
            <a:ext cx="338138" cy="461963"/>
          </a:xfrm>
          <a:prstGeom prst="rect">
            <a:avLst/>
          </a:prstGeom>
          <a:noFill/>
          <a:ln w="9525">
            <a:noFill/>
            <a:miter lim="800000"/>
            <a:headEnd/>
            <a:tailEnd/>
          </a:ln>
        </p:spPr>
        <p:txBody>
          <a:bodyPr wrap="none">
            <a:spAutoFit/>
          </a:bodyPr>
          <a:lstStyle/>
          <a:p>
            <a:r>
              <a:rPr lang="en-US" i="1"/>
              <a:t>d</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685800" y="457200"/>
            <a:ext cx="7696200" cy="1143000"/>
          </a:xfrm>
          <a:solidFill>
            <a:srgbClr val="00FF00"/>
          </a:solidFill>
          <a:ln w="63500">
            <a:solidFill>
              <a:srgbClr val="006600"/>
            </a:solidFill>
          </a:ln>
        </p:spPr>
        <p:txBody>
          <a:bodyPr/>
          <a:lstStyle/>
          <a:p>
            <a:r>
              <a:rPr lang="en-US" smtClean="0"/>
              <a:t>Directed Adjacency Lists</a:t>
            </a:r>
          </a:p>
        </p:txBody>
      </p:sp>
      <p:sp>
        <p:nvSpPr>
          <p:cNvPr id="824323" name="Rectangle 3"/>
          <p:cNvSpPr>
            <a:spLocks noGrp="1" noChangeArrowheads="1"/>
          </p:cNvSpPr>
          <p:nvPr>
            <p:ph type="body" sz="half" idx="1"/>
          </p:nvPr>
        </p:nvSpPr>
        <p:spPr>
          <a:xfrm>
            <a:off x="685800" y="1981200"/>
            <a:ext cx="7696200" cy="4114800"/>
          </a:xfrm>
          <a:solidFill>
            <a:srgbClr val="FFFF99"/>
          </a:solidFill>
          <a:ln w="63500">
            <a:solidFill>
              <a:srgbClr val="006600"/>
            </a:solidFill>
          </a:ln>
        </p:spPr>
        <p:txBody>
          <a:bodyPr/>
          <a:lstStyle/>
          <a:p>
            <a:pPr>
              <a:defRPr/>
            </a:pPr>
            <a:r>
              <a:rPr lang="en-US" sz="2800" dirty="0" smtClean="0">
                <a:effectLst/>
              </a:rPr>
              <a:t>1 row per node, listing the terminal nodes of each edge incident from that node.</a:t>
            </a:r>
          </a:p>
          <a:p>
            <a:pPr>
              <a:buFontTx/>
              <a:buNone/>
              <a:defRPr/>
            </a:pPr>
            <a:r>
              <a:rPr lang="en-US" sz="2800" dirty="0" smtClean="0"/>
              <a:t>                             </a:t>
            </a:r>
          </a:p>
        </p:txBody>
      </p:sp>
      <p:pic>
        <p:nvPicPr>
          <p:cNvPr id="38917" name="Picture 4" descr="directed"/>
          <p:cNvPicPr>
            <a:picLocks noChangeAspect="1" noChangeArrowheads="1"/>
          </p:cNvPicPr>
          <p:nvPr/>
        </p:nvPicPr>
        <p:blipFill>
          <a:blip r:embed="rId2"/>
          <a:srcRect/>
          <a:stretch>
            <a:fillRect/>
          </a:stretch>
        </p:blipFill>
        <p:spPr bwMode="auto">
          <a:xfrm>
            <a:off x="1371600" y="3381375"/>
            <a:ext cx="2057400" cy="1495425"/>
          </a:xfrm>
          <a:prstGeom prst="rect">
            <a:avLst/>
          </a:prstGeom>
          <a:noFill/>
          <a:ln w="12700">
            <a:solidFill>
              <a:srgbClr val="006600"/>
            </a:solidFill>
            <a:miter lim="800000"/>
            <a:headEnd/>
            <a:tailEnd/>
          </a:ln>
        </p:spPr>
      </p:pic>
      <p:graphicFrame>
        <p:nvGraphicFramePr>
          <p:cNvPr id="824372" name="Group 52"/>
          <p:cNvGraphicFramePr>
            <a:graphicFrameLocks noGrp="1"/>
          </p:cNvGraphicFramePr>
          <p:nvPr>
            <p:ph sz="half" idx="2"/>
          </p:nvPr>
        </p:nvGraphicFramePr>
        <p:xfrm>
          <a:off x="4724400" y="2971800"/>
          <a:ext cx="3429000" cy="2773424"/>
        </p:xfrm>
        <a:graphic>
          <a:graphicData uri="http://schemas.openxmlformats.org/drawingml/2006/table">
            <a:tbl>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8382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Initial vertex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rPr>
                        <a:t>Terminal vertices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453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 V4, V5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26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578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81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81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rPr>
                        <a:t>V5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rPr>
                        <a:t>V2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685800" y="457200"/>
            <a:ext cx="7772400" cy="1143000"/>
          </a:xfrm>
          <a:solidFill>
            <a:srgbClr val="00FF00"/>
          </a:solidFill>
          <a:ln w="63500">
            <a:solidFill>
              <a:srgbClr val="006600"/>
            </a:solidFill>
          </a:ln>
        </p:spPr>
        <p:txBody>
          <a:bodyPr/>
          <a:lstStyle/>
          <a:p>
            <a:r>
              <a:rPr lang="en-US" smtClean="0"/>
              <a:t>Directed Adjacency Matrices</a:t>
            </a:r>
          </a:p>
        </p:txBody>
      </p:sp>
      <p:sp>
        <p:nvSpPr>
          <p:cNvPr id="9221"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smtClean="0">
                <a:effectLst/>
              </a:rPr>
              <a:t>Matrix </a:t>
            </a:r>
            <a:r>
              <a:rPr lang="en-US" sz="2800" i="1" smtClean="0">
                <a:effectLst/>
              </a:rPr>
              <a:t>A</a:t>
            </a:r>
            <a:r>
              <a:rPr lang="en-US" sz="2800" b="1" smtClean="0">
                <a:effectLst/>
              </a:rPr>
              <a:t> </a:t>
            </a:r>
            <a:r>
              <a:rPr lang="en-US" sz="2800" smtClean="0">
                <a:effectLst/>
              </a:rPr>
              <a:t>= [</a:t>
            </a:r>
            <a:r>
              <a:rPr lang="en-US" sz="2800" i="1" smtClean="0">
                <a:effectLst/>
              </a:rPr>
              <a:t>a</a:t>
            </a:r>
            <a:r>
              <a:rPr lang="en-US" sz="2800" i="1" baseline="-25000" smtClean="0">
                <a:effectLst/>
              </a:rPr>
              <a:t>ij</a:t>
            </a:r>
            <a:r>
              <a:rPr lang="en-US" sz="2800" smtClean="0">
                <a:effectLst/>
              </a:rPr>
              <a:t>], where </a:t>
            </a:r>
            <a:r>
              <a:rPr lang="en-US" sz="2800" i="1" smtClean="0">
                <a:effectLst/>
              </a:rPr>
              <a:t>a</a:t>
            </a:r>
            <a:r>
              <a:rPr lang="en-US" sz="2800" i="1" baseline="-25000" smtClean="0">
                <a:effectLst/>
              </a:rPr>
              <a:t>ij</a:t>
            </a:r>
            <a:r>
              <a:rPr lang="en-US" sz="2800" smtClean="0">
                <a:effectLst/>
              </a:rPr>
              <a:t> is 1 if {</a:t>
            </a:r>
            <a:r>
              <a:rPr lang="en-US" sz="2800" i="1" smtClean="0">
                <a:effectLst/>
              </a:rPr>
              <a:t>v</a:t>
            </a:r>
            <a:r>
              <a:rPr lang="en-US" sz="2800" i="1" baseline="-25000" smtClean="0">
                <a:effectLst/>
              </a:rPr>
              <a:t>i </a:t>
            </a:r>
            <a:r>
              <a:rPr lang="en-US" sz="2800" smtClean="0">
                <a:effectLst/>
              </a:rPr>
              <a:t>,</a:t>
            </a:r>
            <a:r>
              <a:rPr lang="en-US" sz="2800" i="1" smtClean="0">
                <a:effectLst/>
              </a:rPr>
              <a:t>v</a:t>
            </a:r>
            <a:r>
              <a:rPr lang="en-US" sz="2800" i="1" baseline="-25000" smtClean="0">
                <a:effectLst/>
              </a:rPr>
              <a:t>j </a:t>
            </a:r>
            <a:r>
              <a:rPr lang="en-US" sz="2800" smtClean="0">
                <a:effectLst/>
              </a:rPr>
              <a:t>} is an edge of </a:t>
            </a:r>
            <a:r>
              <a:rPr lang="en-US" sz="2800" i="1" smtClean="0">
                <a:effectLst/>
              </a:rPr>
              <a:t>G</a:t>
            </a:r>
            <a:r>
              <a:rPr lang="en-US" sz="2800" smtClean="0">
                <a:effectLst/>
              </a:rPr>
              <a:t>, 0 otherwise.</a:t>
            </a:r>
          </a:p>
        </p:txBody>
      </p:sp>
      <p:sp>
        <p:nvSpPr>
          <p:cNvPr id="9222" name="Oval 4"/>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3" name="Oval 5"/>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4" name="Oval 6"/>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5" name="Oval 7"/>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26" name="Line 8"/>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9227" name="Line 9"/>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9228" name="Line 10"/>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9229" name="Line 11"/>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9230" name="Oval 12"/>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9231" name="Text Box 13"/>
          <p:cNvSpPr txBox="1">
            <a:spLocks noChangeArrowheads="1"/>
          </p:cNvSpPr>
          <p:nvPr/>
        </p:nvSpPr>
        <p:spPr bwMode="auto">
          <a:xfrm>
            <a:off x="1119188" y="3221038"/>
            <a:ext cx="336550" cy="457200"/>
          </a:xfrm>
          <a:prstGeom prst="rect">
            <a:avLst/>
          </a:prstGeom>
          <a:noFill/>
          <a:ln w="28575">
            <a:noFill/>
            <a:miter lim="800000"/>
            <a:headEnd/>
            <a:tailEnd/>
          </a:ln>
        </p:spPr>
        <p:txBody>
          <a:bodyPr wrap="none" anchor="ctr">
            <a:spAutoFit/>
          </a:bodyPr>
          <a:lstStyle/>
          <a:p>
            <a:pPr algn="ctr"/>
            <a:r>
              <a:rPr lang="en-US" i="1"/>
              <a:t>a</a:t>
            </a:r>
          </a:p>
        </p:txBody>
      </p:sp>
      <p:sp>
        <p:nvSpPr>
          <p:cNvPr id="9232" name="Text Box 14"/>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i="1"/>
              <a:t>b</a:t>
            </a:r>
          </a:p>
        </p:txBody>
      </p:sp>
      <p:sp>
        <p:nvSpPr>
          <p:cNvPr id="9233" name="Text Box 15"/>
          <p:cNvSpPr txBox="1">
            <a:spLocks noChangeArrowheads="1"/>
          </p:cNvSpPr>
          <p:nvPr/>
        </p:nvSpPr>
        <p:spPr bwMode="auto">
          <a:xfrm>
            <a:off x="1752600" y="4114800"/>
            <a:ext cx="336550" cy="457200"/>
          </a:xfrm>
          <a:prstGeom prst="rect">
            <a:avLst/>
          </a:prstGeom>
          <a:noFill/>
          <a:ln w="28575">
            <a:noFill/>
            <a:miter lim="800000"/>
            <a:headEnd/>
            <a:tailEnd/>
          </a:ln>
        </p:spPr>
        <p:txBody>
          <a:bodyPr wrap="none" anchor="ctr">
            <a:spAutoFit/>
          </a:bodyPr>
          <a:lstStyle/>
          <a:p>
            <a:pPr algn="ctr"/>
            <a:r>
              <a:rPr lang="en-US" i="1"/>
              <a:t>d</a:t>
            </a:r>
          </a:p>
        </p:txBody>
      </p:sp>
      <p:sp>
        <p:nvSpPr>
          <p:cNvPr id="9234" name="Text Box 16"/>
          <p:cNvSpPr txBox="1">
            <a:spLocks noChangeArrowheads="1"/>
          </p:cNvSpPr>
          <p:nvPr/>
        </p:nvSpPr>
        <p:spPr bwMode="auto">
          <a:xfrm>
            <a:off x="1019175" y="3806825"/>
            <a:ext cx="319088" cy="457200"/>
          </a:xfrm>
          <a:prstGeom prst="rect">
            <a:avLst/>
          </a:prstGeom>
          <a:noFill/>
          <a:ln w="28575">
            <a:noFill/>
            <a:miter lim="800000"/>
            <a:headEnd/>
            <a:tailEnd/>
          </a:ln>
        </p:spPr>
        <p:txBody>
          <a:bodyPr wrap="none" anchor="ctr">
            <a:spAutoFit/>
          </a:bodyPr>
          <a:lstStyle/>
          <a:p>
            <a:pPr algn="ctr"/>
            <a:r>
              <a:rPr lang="en-US" i="1"/>
              <a:t>c</a:t>
            </a:r>
          </a:p>
        </p:txBody>
      </p:sp>
      <p:sp>
        <p:nvSpPr>
          <p:cNvPr id="9235" name="Text Box 17"/>
          <p:cNvSpPr txBox="1">
            <a:spLocks noChangeArrowheads="1"/>
          </p:cNvSpPr>
          <p:nvPr/>
        </p:nvSpPr>
        <p:spPr bwMode="auto">
          <a:xfrm>
            <a:off x="2816225" y="3905250"/>
            <a:ext cx="319088" cy="457200"/>
          </a:xfrm>
          <a:prstGeom prst="rect">
            <a:avLst/>
          </a:prstGeom>
          <a:noFill/>
          <a:ln w="28575">
            <a:noFill/>
            <a:miter lim="800000"/>
            <a:headEnd/>
            <a:tailEnd/>
          </a:ln>
        </p:spPr>
        <p:txBody>
          <a:bodyPr wrap="none" anchor="ctr">
            <a:spAutoFit/>
          </a:bodyPr>
          <a:lstStyle/>
          <a:p>
            <a:pPr algn="ctr"/>
            <a:r>
              <a:rPr lang="en-US" i="1"/>
              <a:t>e</a:t>
            </a:r>
          </a:p>
        </p:txBody>
      </p:sp>
      <p:graphicFrame>
        <p:nvGraphicFramePr>
          <p:cNvPr id="9218" name="Object 18"/>
          <p:cNvGraphicFramePr>
            <a:graphicFrameLocks noChangeAspect="1"/>
          </p:cNvGraphicFramePr>
          <p:nvPr/>
        </p:nvGraphicFramePr>
        <p:xfrm>
          <a:off x="3265488" y="3652838"/>
          <a:ext cx="5356225" cy="1909762"/>
        </p:xfrm>
        <a:graphic>
          <a:graphicData uri="http://schemas.openxmlformats.org/presentationml/2006/ole">
            <mc:AlternateContent xmlns:mc="http://schemas.openxmlformats.org/markup-compatibility/2006">
              <mc:Choice xmlns:v="urn:schemas-microsoft-com:vml" Requires="v">
                <p:oleObj spid="_x0000_s9295" name="Equation" r:id="rId3" imgW="1422360" imgH="977760" progId="Equation.3">
                  <p:embed/>
                </p:oleObj>
              </mc:Choice>
              <mc:Fallback>
                <p:oleObj name="Equation" r:id="rId3" imgW="1422360" imgH="977760"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5488" y="3652838"/>
                        <a:ext cx="5356225" cy="190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6" name="Text Box 19"/>
          <p:cNvSpPr txBox="1">
            <a:spLocks noChangeArrowheads="1"/>
          </p:cNvSpPr>
          <p:nvPr/>
        </p:nvSpPr>
        <p:spPr bwMode="auto">
          <a:xfrm>
            <a:off x="3962400" y="3124200"/>
            <a:ext cx="4343400" cy="519113"/>
          </a:xfrm>
          <a:prstGeom prst="rect">
            <a:avLst/>
          </a:prstGeom>
          <a:noFill/>
          <a:ln w="9525">
            <a:noFill/>
            <a:miter lim="800000"/>
            <a:headEnd/>
            <a:tailEnd/>
          </a:ln>
        </p:spPr>
        <p:txBody>
          <a:bodyPr>
            <a:spAutoFit/>
          </a:bodyPr>
          <a:lstStyle/>
          <a:p>
            <a:pPr>
              <a:spcBef>
                <a:spcPct val="50000"/>
              </a:spcBef>
            </a:pPr>
            <a:r>
              <a:rPr lang="en-US" sz="2800" i="1"/>
              <a:t>a	b	c	 d	  e</a:t>
            </a:r>
          </a:p>
        </p:txBody>
      </p:sp>
      <p:sp>
        <p:nvSpPr>
          <p:cNvPr id="9237" name="Line 20"/>
          <p:cNvSpPr>
            <a:spLocks noChangeShapeType="1"/>
          </p:cNvSpPr>
          <p:nvPr/>
        </p:nvSpPr>
        <p:spPr bwMode="auto">
          <a:xfrm>
            <a:off x="1524000" y="3505200"/>
            <a:ext cx="381000" cy="0"/>
          </a:xfrm>
          <a:prstGeom prst="line">
            <a:avLst/>
          </a:prstGeom>
          <a:noFill/>
          <a:ln w="9525">
            <a:solidFill>
              <a:srgbClr val="FF0000"/>
            </a:solidFill>
            <a:round/>
            <a:headEnd/>
            <a:tailEnd type="triangle" w="med" len="med"/>
          </a:ln>
        </p:spPr>
        <p:txBody>
          <a:bodyPr/>
          <a:lstStyle/>
          <a:p>
            <a:endParaRPr lang="en-US"/>
          </a:p>
        </p:txBody>
      </p:sp>
      <p:sp>
        <p:nvSpPr>
          <p:cNvPr id="9238" name="Line 21"/>
          <p:cNvSpPr>
            <a:spLocks noChangeShapeType="1"/>
          </p:cNvSpPr>
          <p:nvPr/>
        </p:nvSpPr>
        <p:spPr bwMode="auto">
          <a:xfrm flipV="1">
            <a:off x="1447800" y="3581400"/>
            <a:ext cx="533400" cy="381000"/>
          </a:xfrm>
          <a:prstGeom prst="line">
            <a:avLst/>
          </a:prstGeom>
          <a:noFill/>
          <a:ln w="12700">
            <a:solidFill>
              <a:srgbClr val="FF0000"/>
            </a:solidFill>
            <a:round/>
            <a:headEnd/>
            <a:tailEnd type="stealth" w="med" len="med"/>
          </a:ln>
        </p:spPr>
        <p:txBody>
          <a:bodyPr/>
          <a:lstStyle/>
          <a:p>
            <a:endParaRPr lang="en-US"/>
          </a:p>
        </p:txBody>
      </p:sp>
      <p:sp>
        <p:nvSpPr>
          <p:cNvPr id="9239" name="Line 22"/>
          <p:cNvSpPr>
            <a:spLocks noChangeShapeType="1"/>
          </p:cNvSpPr>
          <p:nvPr/>
        </p:nvSpPr>
        <p:spPr bwMode="auto">
          <a:xfrm flipH="1">
            <a:off x="1295400" y="3505200"/>
            <a:ext cx="228600" cy="457200"/>
          </a:xfrm>
          <a:prstGeom prst="line">
            <a:avLst/>
          </a:prstGeom>
          <a:noFill/>
          <a:ln w="9525">
            <a:solidFill>
              <a:srgbClr val="FF0000"/>
            </a:solidFill>
            <a:round/>
            <a:headEnd/>
            <a:tailEnd type="triangle" w="med" len="med"/>
          </a:ln>
        </p:spPr>
        <p:txBody>
          <a:bodyPr/>
          <a:lstStyle/>
          <a:p>
            <a:endParaRPr lang="en-US"/>
          </a:p>
        </p:txBody>
      </p:sp>
      <p:sp>
        <p:nvSpPr>
          <p:cNvPr id="9240" name="Line 23"/>
          <p:cNvSpPr>
            <a:spLocks noChangeShapeType="1"/>
          </p:cNvSpPr>
          <p:nvPr/>
        </p:nvSpPr>
        <p:spPr bwMode="auto">
          <a:xfrm flipH="1" flipV="1">
            <a:off x="2133600" y="3581400"/>
            <a:ext cx="685800" cy="457200"/>
          </a:xfrm>
          <a:prstGeom prst="line">
            <a:avLst/>
          </a:prstGeom>
          <a:noFill/>
          <a:ln w="9525">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a:xfrm>
            <a:off x="685800" y="533400"/>
            <a:ext cx="7772400" cy="1143000"/>
          </a:xfrm>
          <a:solidFill>
            <a:srgbClr val="00FF00"/>
          </a:solidFill>
          <a:ln w="63500">
            <a:solidFill>
              <a:srgbClr val="006600"/>
            </a:solidFill>
          </a:ln>
        </p:spPr>
        <p:txBody>
          <a:bodyPr/>
          <a:lstStyle/>
          <a:p>
            <a:r>
              <a:rPr lang="en-US" dirty="0" smtClean="0"/>
              <a:t>Incidence Matrices</a:t>
            </a:r>
          </a:p>
        </p:txBody>
      </p:sp>
      <p:sp>
        <p:nvSpPr>
          <p:cNvPr id="10245" name="Rectangle 3"/>
          <p:cNvSpPr>
            <a:spLocks noGrp="1" noChangeArrowheads="1"/>
          </p:cNvSpPr>
          <p:nvPr>
            <p:ph type="body" idx="1"/>
          </p:nvPr>
        </p:nvSpPr>
        <p:spPr>
          <a:solidFill>
            <a:srgbClr val="FFFF99"/>
          </a:solidFill>
          <a:ln w="63500">
            <a:solidFill>
              <a:srgbClr val="006600"/>
            </a:solidFill>
          </a:ln>
        </p:spPr>
        <p:txBody>
          <a:bodyPr/>
          <a:lstStyle/>
          <a:p>
            <a:pPr algn="just"/>
            <a:r>
              <a:rPr lang="en-US" sz="2800" dirty="0" smtClean="0">
                <a:effectLst/>
              </a:rPr>
              <a:t>It is a matrix </a:t>
            </a:r>
            <a:r>
              <a:rPr lang="en-US" sz="2800" i="1" dirty="0" smtClean="0">
                <a:effectLst/>
              </a:rPr>
              <a:t>A </a:t>
            </a:r>
            <a:r>
              <a:rPr lang="en-US" sz="2800" dirty="0" smtClean="0">
                <a:effectLst/>
              </a:rPr>
              <a:t>= [</a:t>
            </a:r>
            <a:r>
              <a:rPr lang="en-US" sz="2800" i="1" dirty="0" err="1" smtClean="0">
                <a:effectLst/>
              </a:rPr>
              <a:t>a</a:t>
            </a:r>
            <a:r>
              <a:rPr lang="en-US" sz="2800" i="1" baseline="-25000" dirty="0" err="1" smtClean="0">
                <a:effectLst/>
              </a:rPr>
              <a:t>ij</a:t>
            </a:r>
            <a:r>
              <a:rPr lang="en-US" sz="2800" dirty="0" smtClean="0">
                <a:effectLst/>
              </a:rPr>
              <a:t>], where </a:t>
            </a:r>
            <a:r>
              <a:rPr lang="en-US" sz="2800" i="1" dirty="0" err="1" smtClean="0">
                <a:effectLst/>
              </a:rPr>
              <a:t>a</a:t>
            </a:r>
            <a:r>
              <a:rPr lang="en-US" sz="2800" i="1" baseline="-25000" dirty="0" err="1" smtClean="0">
                <a:effectLst/>
              </a:rPr>
              <a:t>ij</a:t>
            </a:r>
            <a:r>
              <a:rPr lang="en-US" sz="2800" dirty="0" smtClean="0">
                <a:effectLst/>
              </a:rPr>
              <a:t> is 1 if the edge </a:t>
            </a:r>
            <a:r>
              <a:rPr lang="en-US" sz="2800" i="1" dirty="0" err="1" smtClean="0">
                <a:effectLst/>
              </a:rPr>
              <a:t>e</a:t>
            </a:r>
            <a:r>
              <a:rPr lang="en-US" sz="2800" i="1" baseline="-25000" dirty="0" err="1" smtClean="0">
                <a:effectLst/>
              </a:rPr>
              <a:t>j</a:t>
            </a:r>
            <a:r>
              <a:rPr lang="en-US" sz="2800" dirty="0" smtClean="0">
                <a:effectLst/>
              </a:rPr>
              <a:t> is incident with the vertex </a:t>
            </a:r>
            <a:r>
              <a:rPr lang="en-US" sz="2800" i="1" dirty="0" smtClean="0">
                <a:effectLst/>
              </a:rPr>
              <a:t>v</a:t>
            </a:r>
            <a:r>
              <a:rPr lang="en-US" sz="2800" i="1" baseline="-25000" dirty="0" smtClean="0">
                <a:effectLst/>
              </a:rPr>
              <a:t>i</a:t>
            </a:r>
            <a:r>
              <a:rPr lang="en-US" sz="2800" dirty="0" smtClean="0">
                <a:effectLst/>
              </a:rPr>
              <a:t> , 0 otherwise</a:t>
            </a:r>
            <a:r>
              <a:rPr lang="en-US" sz="2800" dirty="0" smtClean="0">
                <a:effectLst/>
              </a:rPr>
              <a:t>.</a:t>
            </a:r>
            <a:endParaRPr lang="en-US" sz="2800" dirty="0" smtClean="0">
              <a:effectLst/>
            </a:endParaRPr>
          </a:p>
        </p:txBody>
      </p:sp>
      <p:sp>
        <p:nvSpPr>
          <p:cNvPr id="10246" name="Oval 6"/>
          <p:cNvSpPr>
            <a:spLocks noChangeArrowheads="1"/>
          </p:cNvSpPr>
          <p:nvPr/>
        </p:nvSpPr>
        <p:spPr bwMode="auto">
          <a:xfrm>
            <a:off x="1447800" y="34083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7" name="Oval 7"/>
          <p:cNvSpPr>
            <a:spLocks noChangeArrowheads="1"/>
          </p:cNvSpPr>
          <p:nvPr/>
        </p:nvSpPr>
        <p:spPr bwMode="auto">
          <a:xfrm>
            <a:off x="1981200" y="34845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8" name="Oval 8"/>
          <p:cNvSpPr>
            <a:spLocks noChangeArrowheads="1"/>
          </p:cNvSpPr>
          <p:nvPr/>
        </p:nvSpPr>
        <p:spPr bwMode="auto">
          <a:xfrm>
            <a:off x="1295400" y="39417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49" name="Oval 10"/>
          <p:cNvSpPr>
            <a:spLocks noChangeArrowheads="1"/>
          </p:cNvSpPr>
          <p:nvPr/>
        </p:nvSpPr>
        <p:spPr bwMode="auto">
          <a:xfrm>
            <a:off x="2209800" y="4398963"/>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50" name="Line 12"/>
          <p:cNvSpPr>
            <a:spLocks noChangeShapeType="1"/>
          </p:cNvSpPr>
          <p:nvPr/>
        </p:nvSpPr>
        <p:spPr bwMode="auto">
          <a:xfrm flipV="1">
            <a:off x="1390650" y="3525838"/>
            <a:ext cx="103188" cy="398462"/>
          </a:xfrm>
          <a:prstGeom prst="line">
            <a:avLst/>
          </a:prstGeom>
          <a:noFill/>
          <a:ln w="28575">
            <a:solidFill>
              <a:schemeClr val="tx1"/>
            </a:solidFill>
            <a:round/>
            <a:headEnd/>
            <a:tailEnd/>
          </a:ln>
        </p:spPr>
        <p:txBody>
          <a:bodyPr wrap="none" anchor="ctr">
            <a:spAutoFit/>
          </a:bodyPr>
          <a:lstStyle/>
          <a:p>
            <a:endParaRPr lang="en-US"/>
          </a:p>
        </p:txBody>
      </p:sp>
      <p:sp>
        <p:nvSpPr>
          <p:cNvPr id="10251" name="Line 13"/>
          <p:cNvSpPr>
            <a:spLocks noChangeShapeType="1"/>
          </p:cNvSpPr>
          <p:nvPr/>
        </p:nvSpPr>
        <p:spPr bwMode="auto">
          <a:xfrm>
            <a:off x="1597025" y="3473450"/>
            <a:ext cx="385763" cy="65088"/>
          </a:xfrm>
          <a:prstGeom prst="line">
            <a:avLst/>
          </a:prstGeom>
          <a:noFill/>
          <a:ln w="28575">
            <a:solidFill>
              <a:schemeClr val="tx1"/>
            </a:solidFill>
            <a:round/>
            <a:headEnd/>
            <a:tailEnd/>
          </a:ln>
        </p:spPr>
        <p:txBody>
          <a:bodyPr wrap="none" anchor="ctr">
            <a:spAutoFit/>
          </a:bodyPr>
          <a:lstStyle/>
          <a:p>
            <a:endParaRPr lang="en-US"/>
          </a:p>
        </p:txBody>
      </p:sp>
      <p:sp>
        <p:nvSpPr>
          <p:cNvPr id="10252" name="Line 15"/>
          <p:cNvSpPr>
            <a:spLocks noChangeShapeType="1"/>
          </p:cNvSpPr>
          <p:nvPr/>
        </p:nvSpPr>
        <p:spPr bwMode="auto">
          <a:xfrm flipV="1">
            <a:off x="1417638" y="3629025"/>
            <a:ext cx="579437" cy="347663"/>
          </a:xfrm>
          <a:prstGeom prst="line">
            <a:avLst/>
          </a:prstGeom>
          <a:noFill/>
          <a:ln w="28575">
            <a:solidFill>
              <a:schemeClr val="tx1"/>
            </a:solidFill>
            <a:round/>
            <a:headEnd/>
            <a:tailEnd/>
          </a:ln>
        </p:spPr>
        <p:txBody>
          <a:bodyPr wrap="none" anchor="ctr">
            <a:spAutoFit/>
          </a:bodyPr>
          <a:lstStyle/>
          <a:p>
            <a:endParaRPr lang="en-US"/>
          </a:p>
        </p:txBody>
      </p:sp>
      <p:sp>
        <p:nvSpPr>
          <p:cNvPr id="10253" name="Line 16"/>
          <p:cNvSpPr>
            <a:spLocks noChangeShapeType="1"/>
          </p:cNvSpPr>
          <p:nvPr/>
        </p:nvSpPr>
        <p:spPr bwMode="auto">
          <a:xfrm>
            <a:off x="2125663" y="3576638"/>
            <a:ext cx="668337" cy="450850"/>
          </a:xfrm>
          <a:prstGeom prst="line">
            <a:avLst/>
          </a:prstGeom>
          <a:noFill/>
          <a:ln w="28575">
            <a:solidFill>
              <a:schemeClr val="tx1"/>
            </a:solidFill>
            <a:round/>
            <a:headEnd/>
            <a:tailEnd/>
          </a:ln>
        </p:spPr>
        <p:txBody>
          <a:bodyPr wrap="none" anchor="ctr">
            <a:spAutoFit/>
          </a:bodyPr>
          <a:lstStyle/>
          <a:p>
            <a:endParaRPr lang="en-US"/>
          </a:p>
        </p:txBody>
      </p:sp>
      <p:sp>
        <p:nvSpPr>
          <p:cNvPr id="10254" name="Oval 17"/>
          <p:cNvSpPr>
            <a:spLocks noChangeArrowheads="1"/>
          </p:cNvSpPr>
          <p:nvPr/>
        </p:nvSpPr>
        <p:spPr bwMode="auto">
          <a:xfrm>
            <a:off x="2727325" y="3990975"/>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0255" name="Text Box 18"/>
          <p:cNvSpPr txBox="1">
            <a:spLocks noChangeArrowheads="1"/>
          </p:cNvSpPr>
          <p:nvPr/>
        </p:nvSpPr>
        <p:spPr bwMode="auto">
          <a:xfrm>
            <a:off x="1185863" y="3119438"/>
            <a:ext cx="338137" cy="461962"/>
          </a:xfrm>
          <a:prstGeom prst="rect">
            <a:avLst/>
          </a:prstGeom>
          <a:noFill/>
          <a:ln w="28575">
            <a:noFill/>
            <a:miter lim="800000"/>
            <a:headEnd/>
            <a:tailEnd/>
          </a:ln>
        </p:spPr>
        <p:txBody>
          <a:bodyPr wrap="none" anchor="ctr">
            <a:spAutoFit/>
          </a:bodyPr>
          <a:lstStyle/>
          <a:p>
            <a:pPr algn="ctr"/>
            <a:r>
              <a:rPr lang="en-US"/>
              <a:t>1</a:t>
            </a:r>
          </a:p>
        </p:txBody>
      </p:sp>
      <p:sp>
        <p:nvSpPr>
          <p:cNvPr id="10256" name="Text Box 19"/>
          <p:cNvSpPr txBox="1">
            <a:spLocks noChangeArrowheads="1"/>
          </p:cNvSpPr>
          <p:nvPr/>
        </p:nvSpPr>
        <p:spPr bwMode="auto">
          <a:xfrm>
            <a:off x="2093913" y="3167063"/>
            <a:ext cx="336550" cy="457200"/>
          </a:xfrm>
          <a:prstGeom prst="rect">
            <a:avLst/>
          </a:prstGeom>
          <a:noFill/>
          <a:ln w="28575">
            <a:noFill/>
            <a:miter lim="800000"/>
            <a:headEnd/>
            <a:tailEnd/>
          </a:ln>
        </p:spPr>
        <p:txBody>
          <a:bodyPr wrap="none" anchor="ctr">
            <a:spAutoFit/>
          </a:bodyPr>
          <a:lstStyle/>
          <a:p>
            <a:pPr algn="ctr"/>
            <a:r>
              <a:rPr lang="en-US"/>
              <a:t>2</a:t>
            </a:r>
          </a:p>
        </p:txBody>
      </p:sp>
      <p:sp>
        <p:nvSpPr>
          <p:cNvPr id="10257" name="Text Box 20"/>
          <p:cNvSpPr txBox="1">
            <a:spLocks noChangeArrowheads="1"/>
          </p:cNvSpPr>
          <p:nvPr/>
        </p:nvSpPr>
        <p:spPr bwMode="auto">
          <a:xfrm>
            <a:off x="1873250" y="4343400"/>
            <a:ext cx="336550" cy="457200"/>
          </a:xfrm>
          <a:prstGeom prst="rect">
            <a:avLst/>
          </a:prstGeom>
          <a:noFill/>
          <a:ln w="28575">
            <a:noFill/>
            <a:miter lim="800000"/>
            <a:headEnd/>
            <a:tailEnd/>
          </a:ln>
        </p:spPr>
        <p:txBody>
          <a:bodyPr wrap="none" anchor="ctr">
            <a:spAutoFit/>
          </a:bodyPr>
          <a:lstStyle/>
          <a:p>
            <a:pPr algn="ctr"/>
            <a:r>
              <a:rPr lang="en-US"/>
              <a:t>5</a:t>
            </a:r>
          </a:p>
        </p:txBody>
      </p:sp>
      <p:sp>
        <p:nvSpPr>
          <p:cNvPr id="10258" name="Text Box 21"/>
          <p:cNvSpPr txBox="1">
            <a:spLocks noChangeArrowheads="1"/>
          </p:cNvSpPr>
          <p:nvPr/>
        </p:nvSpPr>
        <p:spPr bwMode="auto">
          <a:xfrm>
            <a:off x="1033463" y="3881438"/>
            <a:ext cx="338137" cy="461962"/>
          </a:xfrm>
          <a:prstGeom prst="rect">
            <a:avLst/>
          </a:prstGeom>
          <a:noFill/>
          <a:ln w="28575">
            <a:noFill/>
            <a:miter lim="800000"/>
            <a:headEnd/>
            <a:tailEnd/>
          </a:ln>
        </p:spPr>
        <p:txBody>
          <a:bodyPr wrap="none" anchor="ctr">
            <a:spAutoFit/>
          </a:bodyPr>
          <a:lstStyle/>
          <a:p>
            <a:pPr algn="ctr"/>
            <a:r>
              <a:rPr lang="en-US"/>
              <a:t>3</a:t>
            </a:r>
          </a:p>
        </p:txBody>
      </p:sp>
      <p:sp>
        <p:nvSpPr>
          <p:cNvPr id="10259" name="Text Box 23"/>
          <p:cNvSpPr txBox="1">
            <a:spLocks noChangeArrowheads="1"/>
          </p:cNvSpPr>
          <p:nvPr/>
        </p:nvSpPr>
        <p:spPr bwMode="auto">
          <a:xfrm>
            <a:off x="2816225" y="3905250"/>
            <a:ext cx="338138" cy="461963"/>
          </a:xfrm>
          <a:prstGeom prst="rect">
            <a:avLst/>
          </a:prstGeom>
          <a:noFill/>
          <a:ln w="28575">
            <a:noFill/>
            <a:miter lim="800000"/>
            <a:headEnd/>
            <a:tailEnd/>
          </a:ln>
        </p:spPr>
        <p:txBody>
          <a:bodyPr wrap="none" anchor="ctr">
            <a:spAutoFit/>
          </a:bodyPr>
          <a:lstStyle/>
          <a:p>
            <a:pPr algn="ctr"/>
            <a:r>
              <a:rPr lang="en-US"/>
              <a:t>4</a:t>
            </a:r>
          </a:p>
        </p:txBody>
      </p:sp>
      <p:graphicFrame>
        <p:nvGraphicFramePr>
          <p:cNvPr id="10242" name="Object 25"/>
          <p:cNvGraphicFramePr>
            <a:graphicFrameLocks noChangeAspect="1"/>
          </p:cNvGraphicFramePr>
          <p:nvPr/>
        </p:nvGraphicFramePr>
        <p:xfrm>
          <a:off x="3943350" y="3487738"/>
          <a:ext cx="3970338" cy="2378075"/>
        </p:xfrm>
        <a:graphic>
          <a:graphicData uri="http://schemas.openxmlformats.org/presentationml/2006/ole">
            <mc:AlternateContent xmlns:mc="http://schemas.openxmlformats.org/markup-compatibility/2006">
              <mc:Choice xmlns:v="urn:schemas-microsoft-com:vml" Requires="v">
                <p:oleObj spid="_x0000_s10320" name="Equation" r:id="rId3" imgW="1155600" imgH="1333440" progId="Equation.3">
                  <p:embed/>
                </p:oleObj>
              </mc:Choice>
              <mc:Fallback>
                <p:oleObj name="Equation" r:id="rId3" imgW="1155600" imgH="133344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3487738"/>
                        <a:ext cx="3970338" cy="237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0" name="Text Box 28"/>
          <p:cNvSpPr txBox="1">
            <a:spLocks noChangeArrowheads="1"/>
          </p:cNvSpPr>
          <p:nvPr/>
        </p:nvSpPr>
        <p:spPr bwMode="auto">
          <a:xfrm>
            <a:off x="4495800" y="2971800"/>
            <a:ext cx="3124200" cy="523875"/>
          </a:xfrm>
          <a:prstGeom prst="rect">
            <a:avLst/>
          </a:prstGeom>
          <a:noFill/>
          <a:ln w="9525">
            <a:noFill/>
            <a:miter lim="800000"/>
            <a:headEnd/>
            <a:tailEnd/>
          </a:ln>
        </p:spPr>
        <p:txBody>
          <a:bodyPr>
            <a:spAutoFit/>
          </a:bodyPr>
          <a:lstStyle/>
          <a:p>
            <a:pPr>
              <a:spcBef>
                <a:spcPct val="50000"/>
              </a:spcBef>
            </a:pPr>
            <a:r>
              <a:rPr lang="en-US" sz="2800" i="1"/>
              <a:t>e</a:t>
            </a:r>
            <a:r>
              <a:rPr lang="en-US" sz="2800" baseline="-25000"/>
              <a:t>1</a:t>
            </a:r>
            <a:r>
              <a:rPr lang="en-US" sz="2800" i="1"/>
              <a:t>      e</a:t>
            </a:r>
            <a:r>
              <a:rPr lang="en-US" sz="2800" baseline="-25000"/>
              <a:t>2</a:t>
            </a:r>
            <a:r>
              <a:rPr lang="en-US" sz="2800" i="1"/>
              <a:t>       e</a:t>
            </a:r>
            <a:r>
              <a:rPr lang="en-US" sz="2800" baseline="-25000"/>
              <a:t>3</a:t>
            </a:r>
            <a:r>
              <a:rPr lang="en-US" sz="2800" i="1"/>
              <a:t>      e</a:t>
            </a:r>
            <a:r>
              <a:rPr lang="en-US" sz="2800" baseline="-25000"/>
              <a:t>4</a:t>
            </a:r>
            <a:r>
              <a:rPr lang="en-US" sz="2800" i="1"/>
              <a:t> </a:t>
            </a:r>
          </a:p>
        </p:txBody>
      </p:sp>
      <p:sp>
        <p:nvSpPr>
          <p:cNvPr id="10261" name="TextBox 21"/>
          <p:cNvSpPr txBox="1">
            <a:spLocks noChangeArrowheads="1"/>
          </p:cNvSpPr>
          <p:nvPr/>
        </p:nvSpPr>
        <p:spPr bwMode="auto">
          <a:xfrm>
            <a:off x="1633538" y="3048000"/>
            <a:ext cx="423862" cy="461963"/>
          </a:xfrm>
          <a:prstGeom prst="rect">
            <a:avLst/>
          </a:prstGeom>
          <a:noFill/>
          <a:ln w="9525">
            <a:noFill/>
            <a:miter lim="800000"/>
            <a:headEnd/>
            <a:tailEnd/>
          </a:ln>
        </p:spPr>
        <p:txBody>
          <a:bodyPr wrap="none">
            <a:spAutoFit/>
          </a:bodyPr>
          <a:lstStyle/>
          <a:p>
            <a:r>
              <a:rPr lang="en-US" i="1"/>
              <a:t>e</a:t>
            </a:r>
            <a:r>
              <a:rPr lang="en-US" baseline="-25000"/>
              <a:t>1</a:t>
            </a:r>
            <a:endParaRPr lang="en-US"/>
          </a:p>
        </p:txBody>
      </p:sp>
      <p:sp>
        <p:nvSpPr>
          <p:cNvPr id="10262" name="TextBox 22"/>
          <p:cNvSpPr txBox="1">
            <a:spLocks noChangeArrowheads="1"/>
          </p:cNvSpPr>
          <p:nvPr/>
        </p:nvSpPr>
        <p:spPr bwMode="auto">
          <a:xfrm>
            <a:off x="990600" y="3424238"/>
            <a:ext cx="423863" cy="461962"/>
          </a:xfrm>
          <a:prstGeom prst="rect">
            <a:avLst/>
          </a:prstGeom>
          <a:noFill/>
          <a:ln w="9525">
            <a:noFill/>
            <a:miter lim="800000"/>
            <a:headEnd/>
            <a:tailEnd/>
          </a:ln>
        </p:spPr>
        <p:txBody>
          <a:bodyPr wrap="none">
            <a:spAutoFit/>
          </a:bodyPr>
          <a:lstStyle/>
          <a:p>
            <a:r>
              <a:rPr lang="en-US" i="1"/>
              <a:t>e</a:t>
            </a:r>
            <a:r>
              <a:rPr lang="en-US" baseline="-25000"/>
              <a:t>2</a:t>
            </a:r>
            <a:endParaRPr lang="en-US"/>
          </a:p>
        </p:txBody>
      </p:sp>
      <p:sp>
        <p:nvSpPr>
          <p:cNvPr id="10263" name="TextBox 23"/>
          <p:cNvSpPr txBox="1">
            <a:spLocks noChangeArrowheads="1"/>
          </p:cNvSpPr>
          <p:nvPr/>
        </p:nvSpPr>
        <p:spPr bwMode="auto">
          <a:xfrm>
            <a:off x="1676400" y="3581400"/>
            <a:ext cx="423863" cy="461963"/>
          </a:xfrm>
          <a:prstGeom prst="rect">
            <a:avLst/>
          </a:prstGeom>
          <a:noFill/>
          <a:ln w="9525">
            <a:noFill/>
            <a:miter lim="800000"/>
            <a:headEnd/>
            <a:tailEnd/>
          </a:ln>
        </p:spPr>
        <p:txBody>
          <a:bodyPr wrap="none">
            <a:spAutoFit/>
          </a:bodyPr>
          <a:lstStyle/>
          <a:p>
            <a:r>
              <a:rPr lang="en-US" i="1"/>
              <a:t>e</a:t>
            </a:r>
            <a:r>
              <a:rPr lang="en-US" baseline="-25000"/>
              <a:t>3</a:t>
            </a:r>
            <a:endParaRPr lang="en-US"/>
          </a:p>
        </p:txBody>
      </p:sp>
      <p:sp>
        <p:nvSpPr>
          <p:cNvPr id="10264" name="TextBox 24"/>
          <p:cNvSpPr txBox="1">
            <a:spLocks noChangeArrowheads="1"/>
          </p:cNvSpPr>
          <p:nvPr/>
        </p:nvSpPr>
        <p:spPr bwMode="auto">
          <a:xfrm>
            <a:off x="2395538" y="3424238"/>
            <a:ext cx="423862" cy="461962"/>
          </a:xfrm>
          <a:prstGeom prst="rect">
            <a:avLst/>
          </a:prstGeom>
          <a:noFill/>
          <a:ln w="9525">
            <a:noFill/>
            <a:miter lim="800000"/>
            <a:headEnd/>
            <a:tailEnd/>
          </a:ln>
        </p:spPr>
        <p:txBody>
          <a:bodyPr wrap="none">
            <a:spAutoFit/>
          </a:bodyPr>
          <a:lstStyle/>
          <a:p>
            <a:r>
              <a:rPr lang="en-US" i="1"/>
              <a:t>e</a:t>
            </a:r>
            <a:r>
              <a:rPr lang="en-US" baseline="-25000"/>
              <a:t>4</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xfrm>
            <a:off x="609600" y="381000"/>
            <a:ext cx="7924800" cy="1143000"/>
          </a:xfrm>
          <a:solidFill>
            <a:srgbClr val="00FF00"/>
          </a:solidFill>
          <a:ln w="63500">
            <a:solidFill>
              <a:srgbClr val="006600"/>
            </a:solidFill>
          </a:ln>
        </p:spPr>
        <p:txBody>
          <a:bodyPr/>
          <a:lstStyle/>
          <a:p>
            <a:r>
              <a:rPr lang="en-US" smtClean="0"/>
              <a:t>Example</a:t>
            </a:r>
          </a:p>
        </p:txBody>
      </p:sp>
      <p:sp>
        <p:nvSpPr>
          <p:cNvPr id="11269" name="Rectangle 3"/>
          <p:cNvSpPr>
            <a:spLocks noGrp="1" noChangeArrowheads="1"/>
          </p:cNvSpPr>
          <p:nvPr>
            <p:ph type="body" sz="half" idx="1"/>
          </p:nvPr>
        </p:nvSpPr>
        <p:spPr>
          <a:xfrm>
            <a:off x="685800" y="1752600"/>
            <a:ext cx="7848600" cy="4876800"/>
          </a:xfrm>
          <a:solidFill>
            <a:srgbClr val="FFFF99"/>
          </a:solidFill>
          <a:ln w="63500">
            <a:solidFill>
              <a:srgbClr val="006600"/>
            </a:solidFill>
          </a:ln>
        </p:spPr>
        <p:txBody>
          <a:bodyPr/>
          <a:lstStyle/>
          <a:p>
            <a:pPr algn="just">
              <a:buFontTx/>
              <a:buNone/>
            </a:pPr>
            <a:r>
              <a:rPr lang="en-US" sz="2800" smtClean="0">
                <a:effectLst/>
              </a:rPr>
              <a:t>Let </a:t>
            </a:r>
            <a:r>
              <a:rPr lang="en-US" sz="2800" i="1" smtClean="0">
                <a:effectLst/>
              </a:rPr>
              <a:t>A</a:t>
            </a:r>
            <a:r>
              <a:rPr lang="en-US" sz="2800" smtClean="0">
                <a:effectLst/>
              </a:rPr>
              <a:t> be the incident matrix of a graph </a:t>
            </a:r>
            <a:r>
              <a:rPr lang="en-US" sz="2800" i="1" smtClean="0">
                <a:effectLst/>
              </a:rPr>
              <a:t>G</a:t>
            </a:r>
            <a:r>
              <a:rPr lang="en-US" sz="2800" smtClean="0">
                <a:effectLst/>
              </a:rPr>
              <a:t>. Draw G.  </a:t>
            </a: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endParaRPr lang="en-US" sz="2800" smtClean="0">
              <a:effectLst/>
            </a:endParaRPr>
          </a:p>
          <a:p>
            <a:pPr algn="just">
              <a:buFontTx/>
              <a:buNone/>
            </a:pPr>
            <a:r>
              <a:rPr lang="en-US" sz="2800" smtClean="0">
                <a:effectLst/>
              </a:rPr>
              <a:t>Let </a:t>
            </a:r>
            <a:r>
              <a:rPr lang="en-US" sz="2800" i="1" smtClean="0">
                <a:effectLst/>
              </a:rPr>
              <a:t>G</a:t>
            </a:r>
            <a:r>
              <a:rPr lang="en-US" sz="2800" smtClean="0">
                <a:effectLst/>
              </a:rPr>
              <a:t> = {</a:t>
            </a:r>
            <a:r>
              <a:rPr lang="en-US" sz="2800" i="1" smtClean="0">
                <a:effectLst/>
              </a:rPr>
              <a:t>V</a:t>
            </a:r>
            <a:r>
              <a:rPr lang="en-US" sz="2800" smtClean="0">
                <a:effectLst/>
              </a:rPr>
              <a:t>, </a:t>
            </a:r>
            <a:r>
              <a:rPr lang="en-US" sz="2800" i="1" smtClean="0">
                <a:effectLst/>
              </a:rPr>
              <a:t>E</a:t>
            </a:r>
            <a:r>
              <a:rPr lang="en-US" sz="2800" smtClean="0">
                <a:effectLst/>
              </a:rPr>
              <a:t>},</a:t>
            </a:r>
          </a:p>
          <a:p>
            <a:pPr algn="just">
              <a:buFontTx/>
              <a:buNone/>
            </a:pPr>
            <a:r>
              <a:rPr lang="en-US" sz="2800" smtClean="0">
                <a:effectLst/>
              </a:rPr>
              <a:t>where V= {</a:t>
            </a:r>
            <a:r>
              <a:rPr lang="en-US" sz="2800" i="1" smtClean="0">
                <a:effectLst/>
              </a:rPr>
              <a:t>a, b, c, d</a:t>
            </a:r>
            <a:r>
              <a:rPr lang="en-US" sz="2800" smtClean="0">
                <a:effectLst/>
              </a:rPr>
              <a:t>} and</a:t>
            </a:r>
          </a:p>
          <a:p>
            <a:pPr algn="just">
              <a:buFontTx/>
              <a:buNone/>
            </a:pPr>
            <a:r>
              <a:rPr lang="en-US" sz="2800" i="1" smtClean="0">
                <a:effectLst/>
              </a:rPr>
              <a:t>E</a:t>
            </a:r>
            <a:r>
              <a:rPr lang="en-US" sz="2800" smtClean="0">
                <a:effectLst/>
              </a:rPr>
              <a:t>  = {</a:t>
            </a:r>
            <a:r>
              <a:rPr lang="en-US" sz="2800" i="1" smtClean="0">
                <a:effectLst/>
              </a:rPr>
              <a:t>e</a:t>
            </a:r>
            <a:r>
              <a:rPr lang="en-US" sz="2800" baseline="-25000" smtClean="0">
                <a:effectLst/>
              </a:rPr>
              <a:t>1</a:t>
            </a:r>
            <a:r>
              <a:rPr lang="en-US" sz="2800" smtClean="0">
                <a:effectLst/>
              </a:rPr>
              <a:t>, </a:t>
            </a:r>
            <a:r>
              <a:rPr lang="en-US" sz="2800" i="1" smtClean="0">
                <a:effectLst/>
              </a:rPr>
              <a:t>e</a:t>
            </a:r>
            <a:r>
              <a:rPr lang="en-US" sz="2800" baseline="-25000" smtClean="0">
                <a:effectLst/>
              </a:rPr>
              <a:t>2</a:t>
            </a:r>
            <a:r>
              <a:rPr lang="en-US" sz="2800" smtClean="0">
                <a:effectLst/>
              </a:rPr>
              <a:t>, </a:t>
            </a:r>
            <a:r>
              <a:rPr lang="en-US" sz="2800" i="1" smtClean="0">
                <a:effectLst/>
              </a:rPr>
              <a:t>e</a:t>
            </a:r>
            <a:r>
              <a:rPr lang="en-US" sz="2800" baseline="-25000" smtClean="0">
                <a:effectLst/>
              </a:rPr>
              <a:t>3</a:t>
            </a:r>
            <a:r>
              <a:rPr lang="en-US" sz="2800" smtClean="0">
                <a:effectLst/>
              </a:rPr>
              <a:t>, </a:t>
            </a:r>
            <a:r>
              <a:rPr lang="en-US" sz="2800" i="1" smtClean="0">
                <a:effectLst/>
              </a:rPr>
              <a:t>e</a:t>
            </a:r>
            <a:r>
              <a:rPr lang="en-US" sz="2800" baseline="-25000" smtClean="0">
                <a:effectLst/>
              </a:rPr>
              <a:t>4</a:t>
            </a:r>
            <a:r>
              <a:rPr lang="en-US" sz="2800" smtClean="0">
                <a:effectLst/>
              </a:rPr>
              <a:t>, </a:t>
            </a:r>
            <a:r>
              <a:rPr lang="en-US" sz="2800" i="1" smtClean="0">
                <a:effectLst/>
              </a:rPr>
              <a:t>e</a:t>
            </a:r>
            <a:r>
              <a:rPr lang="en-US" sz="2800" baseline="-25000" smtClean="0">
                <a:effectLst/>
              </a:rPr>
              <a:t>5</a:t>
            </a:r>
            <a:r>
              <a:rPr lang="en-US" sz="2800" smtClean="0">
                <a:effectLst/>
              </a:rPr>
              <a:t>}.</a:t>
            </a:r>
            <a:endParaRPr lang="en-US" sz="2800" i="1" smtClean="0">
              <a:effectLst/>
            </a:endParaRPr>
          </a:p>
        </p:txBody>
      </p:sp>
      <p:graphicFrame>
        <p:nvGraphicFramePr>
          <p:cNvPr id="11266" name="Object 4"/>
          <p:cNvGraphicFramePr>
            <a:graphicFrameLocks noGrp="1" noChangeAspect="1"/>
          </p:cNvGraphicFramePr>
          <p:nvPr>
            <p:ph sz="half" idx="2"/>
          </p:nvPr>
        </p:nvGraphicFramePr>
        <p:xfrm>
          <a:off x="2679700" y="2408238"/>
          <a:ext cx="2578100" cy="1735137"/>
        </p:xfrm>
        <a:graphic>
          <a:graphicData uri="http://schemas.openxmlformats.org/presentationml/2006/ole">
            <mc:AlternateContent xmlns:mc="http://schemas.openxmlformats.org/markup-compatibility/2006">
              <mc:Choice xmlns:v="urn:schemas-microsoft-com:vml" Requires="v">
                <p:oleObj spid="_x0000_s11343" name="Equation" r:id="rId3" imgW="1358640" imgH="914400" progId="Equation.3">
                  <p:embed/>
                </p:oleObj>
              </mc:Choice>
              <mc:Fallback>
                <p:oleObj name="Equation" r:id="rId3" imgW="1358640" imgH="914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700" y="2408238"/>
                        <a:ext cx="2578100" cy="173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0" name="TextBox 9"/>
          <p:cNvSpPr txBox="1">
            <a:spLocks noChangeArrowheads="1"/>
          </p:cNvSpPr>
          <p:nvPr/>
        </p:nvSpPr>
        <p:spPr bwMode="auto">
          <a:xfrm>
            <a:off x="5961063" y="4262438"/>
            <a:ext cx="423862" cy="461962"/>
          </a:xfrm>
          <a:prstGeom prst="rect">
            <a:avLst/>
          </a:prstGeom>
          <a:noFill/>
          <a:ln w="9525">
            <a:noFill/>
            <a:miter lim="800000"/>
            <a:headEnd/>
            <a:tailEnd/>
          </a:ln>
        </p:spPr>
        <p:txBody>
          <a:bodyPr wrap="none">
            <a:spAutoFit/>
          </a:bodyPr>
          <a:lstStyle/>
          <a:p>
            <a:r>
              <a:rPr lang="en-US" i="1"/>
              <a:t>e</a:t>
            </a:r>
            <a:r>
              <a:rPr lang="en-US" baseline="-25000"/>
              <a:t>2</a:t>
            </a:r>
            <a:endParaRPr lang="en-US"/>
          </a:p>
        </p:txBody>
      </p:sp>
      <p:sp>
        <p:nvSpPr>
          <p:cNvPr id="11271" name="TextBox 10"/>
          <p:cNvSpPr txBox="1">
            <a:spLocks noChangeArrowheads="1"/>
          </p:cNvSpPr>
          <p:nvPr/>
        </p:nvSpPr>
        <p:spPr bwMode="auto">
          <a:xfrm>
            <a:off x="5622925" y="4948238"/>
            <a:ext cx="423863" cy="461962"/>
          </a:xfrm>
          <a:prstGeom prst="rect">
            <a:avLst/>
          </a:prstGeom>
          <a:noFill/>
          <a:ln w="9525">
            <a:noFill/>
            <a:miter lim="800000"/>
            <a:headEnd/>
            <a:tailEnd/>
          </a:ln>
        </p:spPr>
        <p:txBody>
          <a:bodyPr wrap="none">
            <a:spAutoFit/>
          </a:bodyPr>
          <a:lstStyle/>
          <a:p>
            <a:r>
              <a:rPr lang="en-US" i="1"/>
              <a:t>e</a:t>
            </a:r>
            <a:r>
              <a:rPr lang="en-US" baseline="-25000"/>
              <a:t>3</a:t>
            </a:r>
            <a:endParaRPr lang="en-US"/>
          </a:p>
        </p:txBody>
      </p:sp>
      <p:sp>
        <p:nvSpPr>
          <p:cNvPr id="11272" name="TextBox 11"/>
          <p:cNvSpPr txBox="1">
            <a:spLocks noChangeArrowheads="1"/>
          </p:cNvSpPr>
          <p:nvPr/>
        </p:nvSpPr>
        <p:spPr bwMode="auto">
          <a:xfrm>
            <a:off x="6342063" y="4876800"/>
            <a:ext cx="423862" cy="461963"/>
          </a:xfrm>
          <a:prstGeom prst="rect">
            <a:avLst/>
          </a:prstGeom>
          <a:noFill/>
          <a:ln w="9525">
            <a:noFill/>
            <a:miter lim="800000"/>
            <a:headEnd/>
            <a:tailEnd/>
          </a:ln>
        </p:spPr>
        <p:txBody>
          <a:bodyPr wrap="none">
            <a:spAutoFit/>
          </a:bodyPr>
          <a:lstStyle/>
          <a:p>
            <a:r>
              <a:rPr lang="en-US" i="1"/>
              <a:t>e</a:t>
            </a:r>
            <a:r>
              <a:rPr lang="en-US" baseline="-25000"/>
              <a:t>4</a:t>
            </a:r>
            <a:endParaRPr lang="en-US"/>
          </a:p>
        </p:txBody>
      </p:sp>
      <p:sp>
        <p:nvSpPr>
          <p:cNvPr id="11273" name="TextBox 12"/>
          <p:cNvSpPr txBox="1">
            <a:spLocks noChangeArrowheads="1"/>
          </p:cNvSpPr>
          <p:nvPr/>
        </p:nvSpPr>
        <p:spPr bwMode="auto">
          <a:xfrm>
            <a:off x="5927725" y="6091238"/>
            <a:ext cx="423863" cy="461962"/>
          </a:xfrm>
          <a:prstGeom prst="rect">
            <a:avLst/>
          </a:prstGeom>
          <a:noFill/>
          <a:ln w="9525">
            <a:noFill/>
            <a:miter lim="800000"/>
            <a:headEnd/>
            <a:tailEnd/>
          </a:ln>
        </p:spPr>
        <p:txBody>
          <a:bodyPr wrap="none">
            <a:spAutoFit/>
          </a:bodyPr>
          <a:lstStyle/>
          <a:p>
            <a:r>
              <a:rPr lang="en-US" i="1"/>
              <a:t>e</a:t>
            </a:r>
            <a:r>
              <a:rPr lang="en-US" baseline="-25000"/>
              <a:t>1</a:t>
            </a:r>
            <a:endParaRPr lang="en-US"/>
          </a:p>
        </p:txBody>
      </p:sp>
      <p:sp>
        <p:nvSpPr>
          <p:cNvPr id="11274" name="TextBox 13"/>
          <p:cNvSpPr txBox="1">
            <a:spLocks noChangeArrowheads="1"/>
          </p:cNvSpPr>
          <p:nvPr/>
        </p:nvSpPr>
        <p:spPr bwMode="auto">
          <a:xfrm>
            <a:off x="5165725" y="4414838"/>
            <a:ext cx="338138" cy="461962"/>
          </a:xfrm>
          <a:prstGeom prst="rect">
            <a:avLst/>
          </a:prstGeom>
          <a:noFill/>
          <a:ln w="9525">
            <a:noFill/>
            <a:miter lim="800000"/>
            <a:headEnd/>
            <a:tailEnd/>
          </a:ln>
        </p:spPr>
        <p:txBody>
          <a:bodyPr wrap="none">
            <a:spAutoFit/>
          </a:bodyPr>
          <a:lstStyle/>
          <a:p>
            <a:r>
              <a:rPr lang="en-US" i="1"/>
              <a:t>a</a:t>
            </a:r>
            <a:endParaRPr lang="en-US"/>
          </a:p>
        </p:txBody>
      </p:sp>
      <p:sp>
        <p:nvSpPr>
          <p:cNvPr id="11275" name="TextBox 14"/>
          <p:cNvSpPr txBox="1">
            <a:spLocks noChangeArrowheads="1"/>
          </p:cNvSpPr>
          <p:nvPr/>
        </p:nvSpPr>
        <p:spPr bwMode="auto">
          <a:xfrm>
            <a:off x="6672263" y="4414838"/>
            <a:ext cx="338137" cy="461962"/>
          </a:xfrm>
          <a:prstGeom prst="rect">
            <a:avLst/>
          </a:prstGeom>
          <a:noFill/>
          <a:ln w="9525">
            <a:noFill/>
            <a:miter lim="800000"/>
            <a:headEnd/>
            <a:tailEnd/>
          </a:ln>
        </p:spPr>
        <p:txBody>
          <a:bodyPr wrap="none">
            <a:spAutoFit/>
          </a:bodyPr>
          <a:lstStyle/>
          <a:p>
            <a:r>
              <a:rPr lang="en-US" i="1">
                <a:cs typeface="Times New Roman" charset="0"/>
              </a:rPr>
              <a:t>b</a:t>
            </a:r>
            <a:endParaRPr lang="en-US"/>
          </a:p>
        </p:txBody>
      </p:sp>
      <p:sp>
        <p:nvSpPr>
          <p:cNvPr id="11276" name="TextBox 15"/>
          <p:cNvSpPr txBox="1">
            <a:spLocks noChangeArrowheads="1"/>
          </p:cNvSpPr>
          <p:nvPr/>
        </p:nvSpPr>
        <p:spPr bwMode="auto">
          <a:xfrm>
            <a:off x="5089525" y="5938838"/>
            <a:ext cx="338138" cy="461962"/>
          </a:xfrm>
          <a:prstGeom prst="rect">
            <a:avLst/>
          </a:prstGeom>
          <a:noFill/>
          <a:ln w="9525">
            <a:noFill/>
            <a:miter lim="800000"/>
            <a:headEnd/>
            <a:tailEnd/>
          </a:ln>
        </p:spPr>
        <p:txBody>
          <a:bodyPr wrap="none">
            <a:spAutoFit/>
          </a:bodyPr>
          <a:lstStyle/>
          <a:p>
            <a:r>
              <a:rPr lang="en-US" i="1">
                <a:cs typeface="Times New Roman" charset="0"/>
              </a:rPr>
              <a:t>d</a:t>
            </a:r>
            <a:endParaRPr lang="en-US"/>
          </a:p>
        </p:txBody>
      </p:sp>
      <p:sp>
        <p:nvSpPr>
          <p:cNvPr id="11277" name="TextBox 16"/>
          <p:cNvSpPr txBox="1">
            <a:spLocks noChangeArrowheads="1"/>
          </p:cNvSpPr>
          <p:nvPr/>
        </p:nvSpPr>
        <p:spPr bwMode="auto">
          <a:xfrm>
            <a:off x="6842125" y="6015038"/>
            <a:ext cx="320675" cy="461962"/>
          </a:xfrm>
          <a:prstGeom prst="rect">
            <a:avLst/>
          </a:prstGeom>
          <a:noFill/>
          <a:ln w="9525">
            <a:noFill/>
            <a:miter lim="800000"/>
            <a:headEnd/>
            <a:tailEnd/>
          </a:ln>
        </p:spPr>
        <p:txBody>
          <a:bodyPr wrap="none">
            <a:spAutoFit/>
          </a:bodyPr>
          <a:lstStyle/>
          <a:p>
            <a:r>
              <a:rPr lang="en-US" i="1">
                <a:cs typeface="Times New Roman" charset="0"/>
              </a:rPr>
              <a:t>c</a:t>
            </a:r>
            <a:endParaRPr lang="en-US"/>
          </a:p>
        </p:txBody>
      </p:sp>
      <p:sp>
        <p:nvSpPr>
          <p:cNvPr id="11278" name="TextBox 24"/>
          <p:cNvSpPr txBox="1">
            <a:spLocks noChangeArrowheads="1"/>
          </p:cNvSpPr>
          <p:nvPr/>
        </p:nvSpPr>
        <p:spPr bwMode="auto">
          <a:xfrm>
            <a:off x="5165725" y="5100638"/>
            <a:ext cx="423863" cy="461962"/>
          </a:xfrm>
          <a:prstGeom prst="rect">
            <a:avLst/>
          </a:prstGeom>
          <a:noFill/>
          <a:ln w="9525">
            <a:noFill/>
            <a:miter lim="800000"/>
            <a:headEnd/>
            <a:tailEnd/>
          </a:ln>
        </p:spPr>
        <p:txBody>
          <a:bodyPr wrap="none">
            <a:spAutoFit/>
          </a:bodyPr>
          <a:lstStyle/>
          <a:p>
            <a:r>
              <a:rPr lang="en-US" i="1"/>
              <a:t>e</a:t>
            </a:r>
            <a:r>
              <a:rPr lang="en-US" baseline="-25000"/>
              <a:t>5</a:t>
            </a:r>
            <a:endParaRPr lang="en-US"/>
          </a:p>
        </p:txBody>
      </p:sp>
      <p:cxnSp>
        <p:nvCxnSpPr>
          <p:cNvPr id="11279" name="Straight Connector 20"/>
          <p:cNvCxnSpPr>
            <a:cxnSpLocks noChangeShapeType="1"/>
          </p:cNvCxnSpPr>
          <p:nvPr/>
        </p:nvCxnSpPr>
        <p:spPr bwMode="auto">
          <a:xfrm rot="5400000">
            <a:off x="4784726" y="5410200"/>
            <a:ext cx="1524000" cy="3175"/>
          </a:xfrm>
          <a:prstGeom prst="line">
            <a:avLst/>
          </a:prstGeom>
          <a:noFill/>
          <a:ln w="9525" algn="ctr">
            <a:solidFill>
              <a:schemeClr val="tx1"/>
            </a:solidFill>
            <a:round/>
            <a:headEnd/>
            <a:tailEnd/>
          </a:ln>
        </p:spPr>
      </p:cxnSp>
      <p:cxnSp>
        <p:nvCxnSpPr>
          <p:cNvPr id="11280" name="Straight Connector 22"/>
          <p:cNvCxnSpPr>
            <a:cxnSpLocks noChangeShapeType="1"/>
          </p:cNvCxnSpPr>
          <p:nvPr/>
        </p:nvCxnSpPr>
        <p:spPr bwMode="auto">
          <a:xfrm rot="16200000" flipH="1">
            <a:off x="5356225" y="4838700"/>
            <a:ext cx="1524000" cy="1143000"/>
          </a:xfrm>
          <a:prstGeom prst="line">
            <a:avLst/>
          </a:prstGeom>
          <a:noFill/>
          <a:ln w="9525" algn="ctr">
            <a:solidFill>
              <a:schemeClr val="tx1"/>
            </a:solidFill>
            <a:round/>
            <a:headEnd/>
            <a:tailEnd/>
          </a:ln>
        </p:spPr>
      </p:cxnSp>
      <p:cxnSp>
        <p:nvCxnSpPr>
          <p:cNvPr id="11281" name="Straight Connector 24"/>
          <p:cNvCxnSpPr>
            <a:cxnSpLocks noChangeShapeType="1"/>
          </p:cNvCxnSpPr>
          <p:nvPr/>
        </p:nvCxnSpPr>
        <p:spPr bwMode="auto">
          <a:xfrm rot="5400000">
            <a:off x="5356225" y="4914900"/>
            <a:ext cx="1447800" cy="1066800"/>
          </a:xfrm>
          <a:prstGeom prst="line">
            <a:avLst/>
          </a:prstGeom>
          <a:noFill/>
          <a:ln w="9525" algn="ctr">
            <a:solidFill>
              <a:schemeClr val="tx1"/>
            </a:solidFill>
            <a:round/>
            <a:headEnd/>
            <a:tailEnd/>
          </a:ln>
        </p:spPr>
      </p:cxnSp>
      <p:cxnSp>
        <p:nvCxnSpPr>
          <p:cNvPr id="11282" name="Straight Connector 26"/>
          <p:cNvCxnSpPr>
            <a:cxnSpLocks noChangeShapeType="1"/>
          </p:cNvCxnSpPr>
          <p:nvPr/>
        </p:nvCxnSpPr>
        <p:spPr bwMode="auto">
          <a:xfrm>
            <a:off x="5546725" y="4722813"/>
            <a:ext cx="1066800" cy="1587"/>
          </a:xfrm>
          <a:prstGeom prst="line">
            <a:avLst/>
          </a:prstGeom>
          <a:noFill/>
          <a:ln w="9525" algn="ctr">
            <a:solidFill>
              <a:schemeClr val="tx1"/>
            </a:solidFill>
            <a:round/>
            <a:headEnd/>
            <a:tailEnd/>
          </a:ln>
        </p:spPr>
      </p:cxnSp>
      <p:cxnSp>
        <p:nvCxnSpPr>
          <p:cNvPr id="11283" name="Straight Connector 24"/>
          <p:cNvCxnSpPr>
            <a:cxnSpLocks noChangeShapeType="1"/>
          </p:cNvCxnSpPr>
          <p:nvPr/>
        </p:nvCxnSpPr>
        <p:spPr bwMode="auto">
          <a:xfrm>
            <a:off x="5470525" y="6246813"/>
            <a:ext cx="1295400" cy="1587"/>
          </a:xfrm>
          <a:prstGeom prst="line">
            <a:avLst/>
          </a:prstGeom>
          <a:noFill/>
          <a:ln w="9525" algn="ctr">
            <a:solidFill>
              <a:schemeClr val="tx1"/>
            </a:solidFill>
            <a:round/>
            <a:headEnd/>
            <a:tailEnd/>
          </a:ln>
        </p:spPr>
      </p:cxnSp>
      <p:sp>
        <p:nvSpPr>
          <p:cNvPr id="11284" name="Oval 10"/>
          <p:cNvSpPr>
            <a:spLocks noChangeArrowheads="1"/>
          </p:cNvSpPr>
          <p:nvPr/>
        </p:nvSpPr>
        <p:spPr bwMode="auto">
          <a:xfrm>
            <a:off x="5470525" y="4648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5" name="Oval 10"/>
          <p:cNvSpPr>
            <a:spLocks noChangeArrowheads="1"/>
          </p:cNvSpPr>
          <p:nvPr/>
        </p:nvSpPr>
        <p:spPr bwMode="auto">
          <a:xfrm>
            <a:off x="5470525" y="6172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6" name="Oval 10"/>
          <p:cNvSpPr>
            <a:spLocks noChangeArrowheads="1"/>
          </p:cNvSpPr>
          <p:nvPr/>
        </p:nvSpPr>
        <p:spPr bwMode="auto">
          <a:xfrm>
            <a:off x="6537325" y="4648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
        <p:nvSpPr>
          <p:cNvPr id="11287" name="Oval 10"/>
          <p:cNvSpPr>
            <a:spLocks noChangeArrowheads="1"/>
          </p:cNvSpPr>
          <p:nvPr/>
        </p:nvSpPr>
        <p:spPr bwMode="auto">
          <a:xfrm>
            <a:off x="6689725" y="6172200"/>
            <a:ext cx="152400" cy="152400"/>
          </a:xfrm>
          <a:prstGeom prst="ellipse">
            <a:avLst/>
          </a:prstGeom>
          <a:solidFill>
            <a:schemeClr val="bg2"/>
          </a:solidFill>
          <a:ln w="28575">
            <a:solidFill>
              <a:schemeClr val="tx1"/>
            </a:solidFill>
            <a:round/>
            <a:headEnd/>
            <a:tailEnd/>
          </a:ln>
        </p:spPr>
        <p:txBody>
          <a:bodyPr anchor="ctr">
            <a:spAutoFit/>
          </a:bodyPr>
          <a:lstStyle/>
          <a:p>
            <a:endParaRPr 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Chapter 9: Graphs&amp;quot;&quot;/&gt;&lt;property id=&quot;20307&quot; value=&quot;969&quot;/&gt;&lt;/object&gt;&lt;object type=&quot;3&quot; unique_id=&quot;10011&quot;&gt;&lt;property id=&quot;20148&quot; value=&quot;5&quot;/&gt;&lt;property id=&quot;20300&quot; value=&quot;Slide 11 - &amp;quot;8.2: Graph Terminology&amp;quot;&quot;/&gt;&lt;property id=&quot;20307&quot; value=&quot;975&quot;/&gt;&lt;/object&gt;&lt;object type=&quot;3&quot; unique_id=&quot;10012&quot;&gt;&lt;property id=&quot;20148&quot; value=&quot;5&quot;/&gt;&lt;property id=&quot;20300&quot; value=&quot;Slide 12 - &amp;quot;Undirected Graph: Adjacency&amp;quot;&quot;/&gt;&lt;property id=&quot;20307&quot; value=&quot;906&quot;/&gt;&lt;/object&gt;&lt;object type=&quot;3&quot; unique_id=&quot;10013&quot;&gt;&lt;property id=&quot;20148&quot; value=&quot;5&quot;/&gt;&lt;property id=&quot;20300&quot; value=&quot;Slide 13 - &amp;quot;Undirected Graph: Degree of a Vertex&amp;quot;&quot;/&gt;&lt;property id=&quot;20307&quot; value=&quot;907&quot;/&gt;&lt;/object&gt;&lt;object type=&quot;3&quot; unique_id=&quot;10014&quot;&gt;&lt;property id=&quot;20148&quot; value=&quot;5&quot;/&gt;&lt;property id=&quot;20300&quot; value=&quot;Slide 14 - &amp;quot;Handshaking Theorem&amp;quot;&quot;/&gt;&lt;property id=&quot;20307&quot; value=&quot;908&quot;/&gt;&lt;/object&gt;&lt;object type=&quot;3&quot; unique_id=&quot;10015&quot;&gt;&lt;property id=&quot;20148&quot; value=&quot;5&quot;/&gt;&lt;property id=&quot;20300&quot; value=&quot;Slide 15 - &amp;quot;Example&amp;quot;&quot;/&gt;&lt;property id=&quot;20307&quot; value=&quot;999&quot;/&gt;&lt;/object&gt;&lt;object type=&quot;3&quot; unique_id=&quot;10016&quot;&gt;&lt;property id=&quot;20148&quot; value=&quot;5&quot;/&gt;&lt;property id=&quot;20300&quot; value=&quot;Slide 16&quot;/&gt;&lt;property id=&quot;20307&quot; value=&quot;995&quot;/&gt;&lt;/object&gt;&lt;object type=&quot;3&quot; unique_id=&quot;10017&quot;&gt;&lt;property id=&quot;20148&quot; value=&quot;5&quot;/&gt;&lt;property id=&quot;20300&quot; value=&quot;Slide 17 - &amp;quot;Directed Graph: Adjacency&amp;quot;&quot;/&gt;&lt;property id=&quot;20307&quot; value=&quot;909&quot;/&gt;&lt;/object&gt;&lt;object type=&quot;3&quot; unique_id=&quot;10018&quot;&gt;&lt;property id=&quot;20148&quot; value=&quot;5&quot;/&gt;&lt;property id=&quot;20300&quot; value=&quot;Slide 18 - &amp;quot;Directed Graph: Degree of a vertex&amp;quot;&quot;/&gt;&lt;property id=&quot;20307&quot; value=&quot;910&quot;/&gt;&lt;/object&gt;&lt;object type=&quot;3&quot; unique_id=&quot;10019&quot;&gt;&lt;property id=&quot;20148&quot; value=&quot;5&quot;/&gt;&lt;property id=&quot;20300&quot; value=&quot;Slide 19 - &amp;quot;Directed Handshaking Theorem&amp;quot;&quot;/&gt;&lt;property id=&quot;20307&quot; value=&quot;970&quot;/&gt;&lt;/object&gt;&lt;object type=&quot;3&quot; unique_id=&quot;10020&quot;&gt;&lt;property id=&quot;20148&quot; value=&quot;5&quot;/&gt;&lt;property id=&quot;20300&quot; value=&quot;Slide 20&quot;/&gt;&lt;property id=&quot;20307&quot; value=&quot;996&quot;/&gt;&lt;/object&gt;&lt;object type=&quot;3&quot; unique_id=&quot;10021&quot;&gt;&lt;property id=&quot;20148&quot; value=&quot;5&quot;/&gt;&lt;property id=&quot;20300&quot; value=&quot;Slide 21 - &amp;quot;Special Graph Structures&amp;quot;&quot;/&gt;&lt;property id=&quot;20307&quot; value=&quot;926&quot;/&gt;&lt;/object&gt;&lt;object type=&quot;3&quot; unique_id=&quot;10022&quot;&gt;&lt;property id=&quot;20148&quot; value=&quot;5&quot;/&gt;&lt;property id=&quot;20300&quot; value=&quot;Slide 22 - &amp;quot;Complete Graphs&amp;quot;&quot;/&gt;&lt;property id=&quot;20307&quot; value=&quot;927&quot;/&gt;&lt;/object&gt;&lt;object type=&quot;3&quot; unique_id=&quot;10023&quot;&gt;&lt;property id=&quot;20148&quot; value=&quot;5&quot;/&gt;&lt;property id=&quot;20300&quot; value=&quot;Slide 23 - &amp;quot;Cycles&amp;quot;&quot;/&gt;&lt;property id=&quot;20307&quot; value=&quot;928&quot;/&gt;&lt;/object&gt;&lt;object type=&quot;3&quot; unique_id=&quot;10024&quot;&gt;&lt;property id=&quot;20148&quot; value=&quot;5&quot;/&gt;&lt;property id=&quot;20300&quot; value=&quot;Slide 24 - &amp;quot;Wheels&amp;quot;&quot;/&gt;&lt;property id=&quot;20307&quot; value=&quot;929&quot;/&gt;&lt;/object&gt;&lt;object type=&quot;3&quot; unique_id=&quot;10025&quot;&gt;&lt;property id=&quot;20148&quot; value=&quot;5&quot;/&gt;&lt;property id=&quot;20300&quot; value=&quot;Slide 25 - &amp;quot;n-cubes (hypercubes)&amp;quot;&quot;/&gt;&lt;property id=&quot;20307&quot; value=&quot;930&quot;/&gt;&lt;/object&gt;&lt;object type=&quot;3&quot; unique_id=&quot;10026&quot;&gt;&lt;property id=&quot;20148&quot; value=&quot;5&quot;/&gt;&lt;property id=&quot;20300&quot; value=&quot;Slide 26 - &amp;quot;9.3 Graph Representations&amp;quot;&quot;/&gt;&lt;property id=&quot;20307&quot; value=&quot;275&quot;/&gt;&lt;/object&gt;&lt;object type=&quot;3&quot; unique_id=&quot;10027&quot;&gt;&lt;property id=&quot;20148&quot; value=&quot;5&quot;/&gt;&lt;property id=&quot;20300&quot; value=&quot;Slide 27 - &amp;quot;Undirected: Adjacency Lists&amp;quot;&quot;/&gt;&lt;property id=&quot;20307&quot; value=&quot;971&quot;/&gt;&lt;/object&gt;&lt;object type=&quot;3&quot; unique_id=&quot;10028&quot;&gt;&lt;property id=&quot;20148&quot; value=&quot;5&quot;/&gt;&lt;property id=&quot;20300&quot; value=&quot;Slide 28 - &amp;quot;Undirected: Adjacency Matrices&amp;quot;&quot;/&gt;&lt;property id=&quot;20307&quot; value=&quot;973&quot;/&gt;&lt;/object&gt;&lt;object type=&quot;3&quot; unique_id=&quot;10029&quot;&gt;&lt;property id=&quot;20148&quot; value=&quot;5&quot;/&gt;&lt;property id=&quot;20300&quot; value=&quot;Slide 29 - &amp;quot;Example1&amp;#x0D;&amp;#x0A;&amp;quot;&quot;/&gt;&lt;property id=&quot;20307&quot; value=&quot;1000&quot;/&gt;&lt;/object&gt;&lt;object type=&quot;3&quot; unique_id=&quot;10030&quot;&gt;&lt;property id=&quot;20148&quot; value=&quot;5&quot;/&gt;&lt;property id=&quot;20300&quot; value=&quot;Slide 30 - &amp;quot;Example2&amp;quot;&quot;/&gt;&lt;property id=&quot;20307&quot; value=&quot;1001&quot;/&gt;&lt;/object&gt;&lt;object type=&quot;3&quot; unique_id=&quot;10031&quot;&gt;&lt;property id=&quot;20148&quot; value=&quot;5&quot;/&gt;&lt;property id=&quot;20300&quot; value=&quot;Slide 31 - &amp;quot;Directed Adjacency Lists&amp;quot;&quot;/&gt;&lt;property id=&quot;20307&quot; value=&quot;972&quot;/&gt;&lt;/object&gt;&lt;object type=&quot;3&quot; unique_id=&quot;10032&quot;&gt;&lt;property id=&quot;20148&quot; value=&quot;5&quot;/&gt;&lt;property id=&quot;20300&quot; value=&quot;Slide 32 - &amp;quot;Directed: Adjacency Matrices&amp;quot;&quot;/&gt;&lt;property id=&quot;20307&quot; value=&quot;997&quot;/&gt;&lt;/object&gt;&lt;object type=&quot;3&quot; unique_id=&quot;10033&quot;&gt;&lt;property id=&quot;20148&quot; value=&quot;5&quot;/&gt;&lt;property id=&quot;20300&quot; value=&quot;Slide 33 - &amp;quot;9.4 Connectivity&amp;quot;&quot;/&gt;&lt;property id=&quot;20307&quot; value=&quot;280&quot;/&gt;&lt;/object&gt;&lt;object type=&quot;3&quot; unique_id=&quot;10034&quot;&gt;&lt;property id=&quot;20148&quot; value=&quot;5&quot;/&gt;&lt;property id=&quot;20300&quot; value=&quot;Slide 34&quot;/&gt;&lt;property id=&quot;20307&quot; value=&quot;1007&quot;/&gt;&lt;/object&gt;&lt;object type=&quot;3&quot; unique_id=&quot;10035&quot;&gt;&lt;property id=&quot;20148&quot; value=&quot;5&quot;/&gt;&lt;property id=&quot;20300&quot; value=&quot;Slide 35 - &amp;quot;Paths in Directed Graphs&amp;quot;&quot;/&gt;&lt;property id=&quot;20307&quot; value=&quot;281&quot;/&gt;&lt;/object&gt;&lt;object type=&quot;3&quot; unique_id=&quot;10036&quot;&gt;&lt;property id=&quot;20148&quot; value=&quot;5&quot;/&gt;&lt;property id=&quot;20300&quot; value=&quot;Slide 36 - &amp;quot;Undirected graphs: Connectedness &amp;quot;&quot;/&gt;&lt;property id=&quot;20307&quot; value=&quot;1008&quot;/&gt;&lt;/object&gt;&lt;object type=&quot;3&quot; unique_id=&quot;10037&quot;&gt;&lt;property id=&quot;20148&quot; value=&quot;5&quot;/&gt;&lt;property id=&quot;20300&quot; value=&quot;Slide 37 - &amp;quot;Connected Components &amp;quot;&quot;/&gt;&lt;property id=&quot;20307&quot; value=&quot;1009&quot;/&gt;&lt;/object&gt;&lt;object type=&quot;3&quot; unique_id=&quot;10038&quot;&gt;&lt;property id=&quot;20148&quot; value=&quot;5&quot;/&gt;&lt;property id=&quot;20300&quot; value=&quot;Slide 38 - &amp;quot;Directed graphs: Connectedness&amp;quot;&quot;/&gt;&lt;property id=&quot;20307&quot; value=&quot;1010&quot;/&gt;&lt;/object&gt;&lt;object type=&quot;3&quot; unique_id=&quot;10039&quot;&gt;&lt;property id=&quot;20148&quot; value=&quot;5&quot;/&gt;&lt;property id=&quot;20300&quot; value=&quot;Slide 39 - &amp;quot;Example&amp;quot;&quot;/&gt;&lt;property id=&quot;20307&quot; value=&quot;1011&quot;/&gt;&lt;/object&gt;&lt;object type=&quot;3&quot; unique_id=&quot;10420&quot;&gt;&lt;property id=&quot;20148&quot; value=&quot;5&quot;/&gt;&lt;property id=&quot;20300&quot; value=&quot;Slide 2 - &amp;quot;Definition 1&amp;quot;&quot;/&gt;&lt;property id=&quot;20307&quot; value=&quot;1012&quot;/&gt;&lt;/object&gt;&lt;object type=&quot;3&quot; unique_id=&quot;10421&quot;&gt;&lt;property id=&quot;20148&quot; value=&quot;5&quot;/&gt;&lt;property id=&quot;20300&quot; value=&quot;Slide 3 - &amp;quot;Example&amp;quot;&quot;/&gt;&lt;property id=&quot;20307&quot; value=&quot;1013&quot;/&gt;&lt;/object&gt;&lt;object type=&quot;3&quot; unique_id=&quot;10422&quot;&gt;&lt;property id=&quot;20148&quot; value=&quot;5&quot;/&gt;&lt;property id=&quot;20300&quot; value=&quot;Slide 4 - &amp;quot;Simple graphs&amp;quot;&quot;/&gt;&lt;property id=&quot;20307&quot; value=&quot;1014&quot;/&gt;&lt;/object&gt;&lt;object type=&quot;3&quot; unique_id=&quot;10423&quot;&gt;&lt;property id=&quot;20148&quot; value=&quot;5&quot;/&gt;&lt;property id=&quot;20300&quot; value=&quot;Slide 5&quot;/&gt;&lt;property id=&quot;20307&quot; value=&quot;1015&quot;/&gt;&lt;/object&gt;&lt;object type=&quot;3&quot; unique_id=&quot;10424&quot;&gt;&lt;property id=&quot;20148&quot; value=&quot;5&quot;/&gt;&lt;property id=&quot;20300&quot; value=&quot;Slide 6&quot;/&gt;&lt;property id=&quot;20307&quot; value=&quot;1016&quot;/&gt;&lt;/object&gt;&lt;object type=&quot;3&quot; unique_id=&quot;10425&quot;&gt;&lt;property id=&quot;20148&quot; value=&quot;5&quot;/&gt;&lt;property id=&quot;20300&quot; value=&quot;Slide 7 - &amp;quot;Definition 2&amp;quot;&quot;/&gt;&lt;property id=&quot;20307&quot; value=&quot;1017&quot;/&gt;&lt;/object&gt;&lt;object type=&quot;3&quot; unique_id=&quot;10426&quot;&gt;&lt;property id=&quot;20148&quot; value=&quot;5&quot;/&gt;&lt;property id=&quot;20300&quot; value=&quot;Slide 8 - &amp;quot;Example&amp;quot;&quot;/&gt;&lt;property id=&quot;20307&quot; value=&quot;1018&quot;/&gt;&lt;/object&gt;&lt;object type=&quot;3&quot; unique_id=&quot;10427&quot;&gt;&lt;property id=&quot;20148&quot; value=&quot;5&quot;/&gt;&lt;property id=&quot;20300&quot; value=&quot;Slide 9&quot;/&gt;&lt;property id=&quot;20307&quot; value=&quot;1019&quot;/&gt;&lt;/object&gt;&lt;object type=&quot;3&quot; unique_id=&quot;10428&quot;&gt;&lt;property id=&quot;20148&quot; value=&quot;5&quot;/&gt;&lt;property id=&quot;20300&quot; value=&quot;Slide 10&quot;/&gt;&lt;property id=&quot;20307&quot; value=&quot;1020&quot;/&gt;&lt;/object&gt;&lt;object type=&quot;3&quot; unique_id=&quot;10839&quot;&gt;&lt;property id=&quot;20148&quot; value=&quot;5&quot;/&gt;&lt;property id=&quot;20300&quot; value=&quot;Slide 40 - &amp;quot;9.6 Shortest-Path Problems&amp;quot;&quot;/&gt;&lt;property id=&quot;20307&quot; value=&quot;1021&quot;/&gt;&lt;/object&gt;&lt;object type=&quot;3&quot; unique_id=&quot;10840&quot;&gt;&lt;property id=&quot;20148&quot; value=&quot;5&quot;/&gt;&lt;property id=&quot;20300&quot; value=&quot;Slide 41 - &amp;quot;Examples&amp;quot;&quot;/&gt;&lt;property id=&quot;20307&quot; value=&quot;1022&quot;/&gt;&lt;/object&gt;&lt;object type=&quot;3&quot; unique_id=&quot;10841&quot;&gt;&lt;property id=&quot;20148&quot; value=&quot;5&quot;/&gt;&lt;property id=&quot;20300&quot; value=&quot;Slide 42&quot;/&gt;&lt;property id=&quot;20307&quot; value=&quot;1023&quot;/&gt;&lt;/object&gt;&lt;object type=&quot;3&quot; unique_id=&quot;10842&quot;&gt;&lt;property id=&quot;20148&quot; value=&quot;5&quot;/&gt;&lt;property id=&quot;20300&quot; value=&quot;Slide 43&quot;/&gt;&lt;property id=&quot;20307&quot; value=&quot;1024&quot;/&gt;&lt;/object&gt;&lt;object type=&quot;3&quot; unique_id=&quot;10843&quot;&gt;&lt;property id=&quot;20148&quot; value=&quot;5&quot;/&gt;&lt;property id=&quot;20300&quot; value=&quot;Slide 44 - &amp;quot;The question is:&amp;quot;&quot;/&gt;&lt;property id=&quot;20307&quot; value=&quot;1025&quot;/&gt;&lt;/object&gt;&lt;object type=&quot;3&quot; unique_id=&quot;10844&quot;&gt;&lt;property id=&quot;20148&quot; value=&quot;5&quot;/&gt;&lt;property id=&quot;20300&quot; value=&quot;Slide 45&quot;/&gt;&lt;property id=&quot;20307&quot; value=&quot;1026&quot;/&gt;&lt;/object&gt;&lt;object type=&quot;3&quot; unique_id=&quot;10845&quot;&gt;&lt;property id=&quot;20148&quot; value=&quot;5&quot;/&gt;&lt;property id=&quot;20300&quot; value=&quot;Slide 46 - &amp;quot;The Traveling Salesman Problem&amp;quot;&quot;/&gt;&lt;property id=&quot;20307&quot; value=&quot;1028&quot;/&gt;&lt;/object&gt;&lt;object type=&quot;3&quot; unique_id=&quot;10846&quot;&gt;&lt;property id=&quot;20148&quot; value=&quot;5&quot;/&gt;&lt;property id=&quot;20300&quot; value=&quot;Slide 47&quot;/&gt;&lt;property id=&quot;20307&quot; value=&quot;1027&quot;/&gt;&lt;/object&gt;&lt;object type=&quot;3&quot; unique_id=&quot;10847&quot;&gt;&lt;property id=&quot;20148&quot; value=&quot;5&quot;/&gt;&lt;property id=&quot;20300&quot; value=&quot;Slide 48&quot;/&gt;&lt;property id=&quot;20307&quot; value=&quot;1029&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D:\Microsoft Office\Templates\Blank Presentation.pot</Template>
  <TotalTime>3701</TotalTime>
  <Words>1209</Words>
  <Application>Microsoft Office PowerPoint</Application>
  <PresentationFormat>On-screen Show (4:3)</PresentationFormat>
  <Paragraphs>173</Paragraphs>
  <Slides>27</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27</vt:i4>
      </vt:variant>
    </vt:vector>
  </HeadingPairs>
  <TitlesOfParts>
    <vt:vector size="35" baseType="lpstr">
      <vt:lpstr>Arial</vt:lpstr>
      <vt:lpstr>Calibri</vt:lpstr>
      <vt:lpstr>Courier New</vt:lpstr>
      <vt:lpstr>Symbol</vt:lpstr>
      <vt:lpstr>Times New Roman</vt:lpstr>
      <vt:lpstr>Blank Presentation</vt:lpstr>
      <vt:lpstr>Equation</vt:lpstr>
      <vt:lpstr>Document</vt:lpstr>
      <vt:lpstr>PowerPoint Presentation</vt:lpstr>
      <vt:lpstr>Graphs and Graph Models</vt:lpstr>
      <vt:lpstr>Summary</vt:lpstr>
      <vt:lpstr>Example</vt:lpstr>
      <vt:lpstr>Simple Graphs</vt:lpstr>
      <vt:lpstr>Multigraphs</vt:lpstr>
      <vt:lpstr>Pseudographs</vt:lpstr>
      <vt:lpstr>Directed Graphs</vt:lpstr>
      <vt:lpstr>Simple Directed Graph</vt:lpstr>
      <vt:lpstr>Directed Multigraph</vt:lpstr>
      <vt:lpstr>PowerPoint Presentation</vt:lpstr>
      <vt:lpstr> Graph Terminology</vt:lpstr>
      <vt:lpstr>Undirected Graph: Adjacency</vt:lpstr>
      <vt:lpstr>Undirected Graph: Degree of a Vertex</vt:lpstr>
      <vt:lpstr>PowerPoint Presentation</vt:lpstr>
      <vt:lpstr>Directed Graph: Adjacency</vt:lpstr>
      <vt:lpstr>Directed Graph: Degree of a vertex</vt:lpstr>
      <vt:lpstr>PowerPoint Presentation</vt:lpstr>
      <vt:lpstr> Graph Representations</vt:lpstr>
      <vt:lpstr>Undirected: Adjacency Lists</vt:lpstr>
      <vt:lpstr>Undirected: Adjacency Matrices</vt:lpstr>
      <vt:lpstr>Example 1</vt:lpstr>
      <vt:lpstr>Example 2</vt:lpstr>
      <vt:lpstr>Directed Adjacency Lists</vt:lpstr>
      <vt:lpstr>Directed Adjacency Matrices</vt:lpstr>
      <vt:lpstr>Incidence Matrices</vt:lpstr>
      <vt:lpstr>Example</vt:lpstr>
    </vt:vector>
  </TitlesOfParts>
  <Manager>CISE Department</Manager>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for Rosen, 5th edition</dc:title>
  <dc:subject>Discrete Mathematics</dc:subject>
  <dc:creator>Michael P. Frank</dc:creator>
  <dc:description>Slides developed at the University of Florida_x000d_
for course COT3100, Applications of_x000d_
Discrete Structures, Spring 2001 &amp; 2003.</dc:description>
  <cp:lastModifiedBy>HP</cp:lastModifiedBy>
  <cp:revision>336</cp:revision>
  <dcterms:created xsi:type="dcterms:W3CDTF">2001-01-08T01:48:20Z</dcterms:created>
  <dcterms:modified xsi:type="dcterms:W3CDTF">2026-05-19T19:29:08Z</dcterms:modified>
</cp:coreProperties>
</file>