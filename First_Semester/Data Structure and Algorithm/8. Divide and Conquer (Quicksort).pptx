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92" r:id="rId2"/>
    <p:sldId id="293" r:id="rId3"/>
    <p:sldId id="294" r:id="rId4"/>
    <p:sldId id="295" r:id="rId5"/>
    <p:sldId id="296" r:id="rId6"/>
    <p:sldId id="297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6" r:id="rId44"/>
    <p:sldId id="307" r:id="rId45"/>
    <p:sldId id="308" r:id="rId46"/>
    <p:sldId id="309" r:id="rId47"/>
    <p:sldId id="310" r:id="rId48"/>
    <p:sldId id="311" r:id="rId4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1236" y="-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DE4667-506E-4CC0-B705-F0E1609A96F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9B826D-B62F-4433-86CB-30C6454BE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52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BA50F17-8167-4B7B-8E62-57AB1707FF04}" type="slidenum">
              <a:rPr lang="en-US" sz="1200"/>
              <a:pPr eaLnBrk="1" hangingPunct="1"/>
              <a:t>45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36459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650C68C-A19E-4A98-B6F4-311FB243A639}" type="slidenum">
              <a:rPr lang="en-US" sz="1200"/>
              <a:pPr eaLnBrk="1" hangingPunct="1"/>
              <a:t>46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478707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2DF15EE-3B58-4146-8FA8-3EC3712BAEEB}" type="slidenum">
              <a:rPr lang="en-US" sz="1200"/>
              <a:pPr eaLnBrk="1" hangingPunct="1"/>
              <a:t>47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206034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87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187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A8060AE-317F-4C14-A6D2-C2D0A512799B}" type="slidenum">
              <a:rPr lang="en-US" sz="1200"/>
              <a:pPr eaLnBrk="1" hangingPunct="1"/>
              <a:t>48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041655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33980" y="2232101"/>
            <a:ext cx="4876038" cy="1245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heavy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heavy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heavy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427988" y="3752088"/>
            <a:ext cx="6306312" cy="127101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2420" y="381"/>
            <a:ext cx="5979159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heavy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70991" y="6570384"/>
            <a:ext cx="6217284" cy="28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685800" y="877716"/>
            <a:ext cx="7772400" cy="15515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1200"/>
              </a:spcAft>
            </a:pPr>
            <a:r>
              <a:rPr lang="en-US" altLang="en-US" sz="6600" b="1" dirty="0"/>
              <a:t>Data Structure and Algorithm</a:t>
            </a:r>
            <a:br>
              <a:rPr lang="en-US" altLang="en-US" sz="6600" b="1" dirty="0"/>
            </a:br>
            <a:r>
              <a:rPr lang="en-US" altLang="en-US" sz="4800" b="1" dirty="0">
                <a:solidFill>
                  <a:srgbClr val="00B050"/>
                </a:solidFill>
              </a:rPr>
              <a:t>(PMSCS 623P)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371600" y="4038600"/>
            <a:ext cx="6400800" cy="1752600"/>
          </a:xfrm>
          <a:prstGeom prst="rect">
            <a:avLst/>
          </a:prstGeom>
        </p:spPr>
        <p:txBody>
          <a:bodyPr rtlCol="0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20000"/>
              <a:t>Lecture </a:t>
            </a:r>
            <a:r>
              <a:rPr lang="en-US" sz="20000" smtClean="0"/>
              <a:t>8</a:t>
            </a:r>
            <a:endParaRPr lang="en-US" sz="19200" dirty="0"/>
          </a:p>
          <a:p>
            <a:pPr marL="0" indent="0" algn="ctr">
              <a:buNone/>
              <a:defRPr/>
            </a:pPr>
            <a:r>
              <a:rPr lang="en-US" sz="10000" dirty="0">
                <a:solidFill>
                  <a:schemeClr val="accent1">
                    <a:lumMod val="50000"/>
                  </a:schemeClr>
                </a:solidFill>
              </a:rPr>
              <a:t>Divide and Conquer (Quicksort)</a:t>
            </a:r>
          </a:p>
        </p:txBody>
      </p:sp>
    </p:spTree>
    <p:extLst>
      <p:ext uri="{BB962C8B-B14F-4D97-AF65-F5344CB8AC3E}">
        <p14:creationId xmlns:p14="http://schemas.microsoft.com/office/powerpoint/2010/main" val="2496534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792162"/>
          </a:xfrm>
        </p:spPr>
        <p:txBody>
          <a:bodyPr>
            <a:normAutofit/>
          </a:bodyPr>
          <a:lstStyle/>
          <a:p>
            <a:pPr algn="ctr"/>
            <a:r>
              <a:rPr lang="en-US" altLang="en-US" b="1" u="sng" dirty="0"/>
              <a:t>Quicksort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533400" y="1295400"/>
            <a:ext cx="8229600" cy="5181600"/>
          </a:xfrm>
        </p:spPr>
        <p:txBody>
          <a:bodyPr>
            <a:normAutofit/>
          </a:bodyPr>
          <a:lstStyle/>
          <a:p>
            <a:pPr algn="just">
              <a:spcBef>
                <a:spcPts val="1800"/>
              </a:spcBef>
            </a:pPr>
            <a:r>
              <a:rPr lang="en-US" altLang="en-US" sz="2400" dirty="0"/>
              <a:t>Follows the </a:t>
            </a:r>
            <a:r>
              <a:rPr lang="en-US" altLang="en-US" sz="2400" b="1" dirty="0">
                <a:solidFill>
                  <a:srgbClr val="CC3300"/>
                </a:solidFill>
              </a:rPr>
              <a:t>divide-and-conquer</a:t>
            </a:r>
            <a:r>
              <a:rPr lang="en-US" altLang="en-US" sz="2400" dirty="0"/>
              <a:t> paradigm.</a:t>
            </a:r>
          </a:p>
          <a:p>
            <a:pPr algn="just">
              <a:spcBef>
                <a:spcPts val="1800"/>
              </a:spcBef>
            </a:pPr>
            <a:r>
              <a:rPr lang="en-US" altLang="en-US" sz="2400" b="1" i="1" dirty="0">
                <a:solidFill>
                  <a:srgbClr val="CC3300"/>
                </a:solidFill>
              </a:rPr>
              <a:t>Divide</a:t>
            </a:r>
            <a:r>
              <a:rPr lang="en-US" altLang="en-US" sz="2400" b="1" dirty="0">
                <a:solidFill>
                  <a:srgbClr val="CC3300"/>
                </a:solidFill>
              </a:rPr>
              <a:t>:</a:t>
            </a:r>
            <a:r>
              <a:rPr lang="en-US" altLang="en-US" sz="2400" dirty="0">
                <a:solidFill>
                  <a:srgbClr val="CC3300"/>
                </a:solidFill>
              </a:rPr>
              <a:t> </a:t>
            </a:r>
            <a:r>
              <a:rPr lang="en-US" altLang="en-US" sz="2400" dirty="0">
                <a:solidFill>
                  <a:schemeClr val="hlink"/>
                </a:solidFill>
              </a:rPr>
              <a:t>Partition</a:t>
            </a:r>
            <a:r>
              <a:rPr lang="en-US" altLang="en-US" sz="2400" dirty="0"/>
              <a:t> (separate) the array </a:t>
            </a:r>
            <a:r>
              <a:rPr lang="en-US" altLang="en-US" sz="2400" i="1" dirty="0"/>
              <a:t>A</a:t>
            </a:r>
            <a:r>
              <a:rPr lang="en-US" altLang="en-US" sz="2400" dirty="0"/>
              <a:t>[</a:t>
            </a:r>
            <a:r>
              <a:rPr lang="en-US" altLang="en-US" sz="2400" i="1" dirty="0" err="1"/>
              <a:t>p</a:t>
            </a:r>
            <a:r>
              <a:rPr lang="en-US" altLang="en-US" sz="2400" dirty="0" err="1"/>
              <a:t>..</a:t>
            </a:r>
            <a:r>
              <a:rPr lang="en-US" altLang="en-US" sz="2400" i="1" dirty="0" err="1"/>
              <a:t>r</a:t>
            </a:r>
            <a:r>
              <a:rPr lang="en-US" altLang="en-US" sz="2400" dirty="0"/>
              <a:t>] into two (possibly empty) </a:t>
            </a:r>
            <a:r>
              <a:rPr lang="en-US" altLang="en-US" sz="2400" dirty="0" err="1"/>
              <a:t>subarrays</a:t>
            </a:r>
            <a:r>
              <a:rPr lang="en-US" altLang="en-US" sz="2400" dirty="0"/>
              <a:t> </a:t>
            </a:r>
            <a:r>
              <a:rPr lang="en-US" altLang="en-US" sz="2400" i="1" dirty="0"/>
              <a:t>A</a:t>
            </a:r>
            <a:r>
              <a:rPr lang="en-US" altLang="en-US" sz="2400" dirty="0"/>
              <a:t>[</a:t>
            </a:r>
            <a:r>
              <a:rPr lang="en-US" altLang="en-US" sz="2400" i="1" dirty="0" err="1"/>
              <a:t>p</a:t>
            </a:r>
            <a:r>
              <a:rPr lang="en-US" altLang="en-US" sz="2400" dirty="0" err="1"/>
              <a:t>..</a:t>
            </a:r>
            <a:r>
              <a:rPr lang="en-US" altLang="en-US" sz="2400" i="1" dirty="0" err="1"/>
              <a:t>q</a:t>
            </a:r>
            <a:r>
              <a:rPr lang="en-US" altLang="en-US" sz="2400" i="1" dirty="0"/>
              <a:t>–</a:t>
            </a:r>
            <a:r>
              <a:rPr lang="en-US" altLang="en-US" sz="2400" dirty="0"/>
              <a:t>1] and </a:t>
            </a:r>
            <a:r>
              <a:rPr lang="en-US" altLang="en-US" sz="2400" i="1" dirty="0"/>
              <a:t>A</a:t>
            </a:r>
            <a:r>
              <a:rPr lang="en-US" altLang="en-US" sz="2400" dirty="0"/>
              <a:t>[</a:t>
            </a:r>
            <a:r>
              <a:rPr lang="en-US" altLang="en-US" sz="2400" i="1" dirty="0"/>
              <a:t>q+</a:t>
            </a:r>
            <a:r>
              <a:rPr lang="en-US" altLang="en-US" sz="2400" dirty="0"/>
              <a:t>1</a:t>
            </a:r>
            <a:r>
              <a:rPr lang="en-US" altLang="en-US" sz="2400" i="1" dirty="0"/>
              <a:t>..r</a:t>
            </a:r>
            <a:r>
              <a:rPr lang="en-US" altLang="en-US" sz="2400" dirty="0"/>
              <a:t>].</a:t>
            </a:r>
          </a:p>
          <a:p>
            <a:pPr lvl="1" algn="just">
              <a:spcBef>
                <a:spcPts val="1800"/>
              </a:spcBef>
            </a:pPr>
            <a:r>
              <a:rPr lang="en-US" altLang="en-US" sz="2400" dirty="0"/>
              <a:t>Each element in </a:t>
            </a:r>
            <a:r>
              <a:rPr lang="en-US" altLang="en-US" sz="2400" i="1" dirty="0">
                <a:solidFill>
                  <a:schemeClr val="hlink"/>
                </a:solidFill>
              </a:rPr>
              <a:t>A</a:t>
            </a:r>
            <a:r>
              <a:rPr lang="en-US" altLang="en-US" sz="2400" dirty="0">
                <a:solidFill>
                  <a:schemeClr val="hlink"/>
                </a:solidFill>
              </a:rPr>
              <a:t>[</a:t>
            </a:r>
            <a:r>
              <a:rPr lang="en-US" altLang="en-US" sz="2400" i="1" dirty="0" err="1">
                <a:solidFill>
                  <a:schemeClr val="hlink"/>
                </a:solidFill>
              </a:rPr>
              <a:t>p</a:t>
            </a:r>
            <a:r>
              <a:rPr lang="en-US" altLang="en-US" sz="2400" dirty="0" err="1">
                <a:solidFill>
                  <a:schemeClr val="hlink"/>
                </a:solidFill>
              </a:rPr>
              <a:t>..</a:t>
            </a:r>
            <a:r>
              <a:rPr lang="en-US" altLang="en-US" sz="2400" i="1" dirty="0" err="1">
                <a:solidFill>
                  <a:schemeClr val="hlink"/>
                </a:solidFill>
              </a:rPr>
              <a:t>q</a:t>
            </a:r>
            <a:r>
              <a:rPr lang="en-US" altLang="en-US" sz="2400" i="1" dirty="0">
                <a:solidFill>
                  <a:schemeClr val="hlink"/>
                </a:solidFill>
              </a:rPr>
              <a:t>–</a:t>
            </a:r>
            <a:r>
              <a:rPr lang="en-US" altLang="en-US" sz="2400" dirty="0">
                <a:solidFill>
                  <a:schemeClr val="hlink"/>
                </a:solidFill>
              </a:rPr>
              <a:t>1] </a:t>
            </a:r>
            <a:r>
              <a:rPr lang="en-US" altLang="en-US" sz="2400" dirty="0">
                <a:solidFill>
                  <a:schemeClr val="hlink"/>
                </a:solidFill>
                <a:sym typeface="Symbol" panose="05050102010706020507" pitchFamily="18" charset="2"/>
              </a:rPr>
              <a:t> </a:t>
            </a:r>
            <a:r>
              <a:rPr lang="en-US" altLang="en-US" sz="2400" i="1" dirty="0">
                <a:solidFill>
                  <a:schemeClr val="hlink"/>
                </a:solidFill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olidFill>
                  <a:schemeClr val="hlink"/>
                </a:solidFill>
                <a:sym typeface="Symbol" panose="05050102010706020507" pitchFamily="18" charset="2"/>
              </a:rPr>
              <a:t>[</a:t>
            </a:r>
            <a:r>
              <a:rPr lang="en-US" altLang="en-US" sz="2400" i="1" dirty="0">
                <a:solidFill>
                  <a:schemeClr val="hlink"/>
                </a:solidFill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solidFill>
                  <a:schemeClr val="hlink"/>
                </a:solidFill>
                <a:sym typeface="Symbol" panose="05050102010706020507" pitchFamily="18" charset="2"/>
              </a:rPr>
              <a:t>]</a:t>
            </a:r>
            <a:r>
              <a:rPr lang="en-US" altLang="en-US" sz="2400" dirty="0">
                <a:sym typeface="Symbol" panose="05050102010706020507" pitchFamily="18" charset="2"/>
              </a:rPr>
              <a:t>.</a:t>
            </a:r>
          </a:p>
          <a:p>
            <a:pPr lvl="1" algn="just">
              <a:spcBef>
                <a:spcPts val="1800"/>
              </a:spcBef>
            </a:pPr>
            <a:r>
              <a:rPr lang="en-US" altLang="en-US" sz="2400" i="1" dirty="0">
                <a:solidFill>
                  <a:schemeClr val="hlink"/>
                </a:solidFill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olidFill>
                  <a:schemeClr val="hlink"/>
                </a:solidFill>
                <a:sym typeface="Symbol" panose="05050102010706020507" pitchFamily="18" charset="2"/>
              </a:rPr>
              <a:t>[</a:t>
            </a:r>
            <a:r>
              <a:rPr lang="en-US" altLang="en-US" sz="2400" i="1" dirty="0">
                <a:solidFill>
                  <a:schemeClr val="hlink"/>
                </a:solidFill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solidFill>
                  <a:schemeClr val="hlink"/>
                </a:solidFill>
                <a:sym typeface="Symbol" panose="05050102010706020507" pitchFamily="18" charset="2"/>
              </a:rPr>
              <a:t>] &lt;</a:t>
            </a:r>
            <a:r>
              <a:rPr lang="en-US" altLang="en-US" sz="2400" dirty="0">
                <a:sym typeface="Symbol" panose="05050102010706020507" pitchFamily="18" charset="2"/>
              </a:rPr>
              <a:t> each element in </a:t>
            </a:r>
            <a:r>
              <a:rPr lang="en-US" altLang="en-US" sz="2400" i="1" dirty="0">
                <a:solidFill>
                  <a:schemeClr val="hlink"/>
                </a:solidFill>
              </a:rPr>
              <a:t>A</a:t>
            </a:r>
            <a:r>
              <a:rPr lang="en-US" altLang="en-US" sz="2400" dirty="0">
                <a:solidFill>
                  <a:schemeClr val="hlink"/>
                </a:solidFill>
              </a:rPr>
              <a:t>[</a:t>
            </a:r>
            <a:r>
              <a:rPr lang="en-US" altLang="en-US" sz="2400" i="1" dirty="0">
                <a:solidFill>
                  <a:schemeClr val="hlink"/>
                </a:solidFill>
              </a:rPr>
              <a:t>q+</a:t>
            </a:r>
            <a:r>
              <a:rPr lang="en-US" altLang="en-US" sz="2400" dirty="0">
                <a:solidFill>
                  <a:schemeClr val="hlink"/>
                </a:solidFill>
              </a:rPr>
              <a:t>1</a:t>
            </a:r>
            <a:r>
              <a:rPr lang="en-US" altLang="en-US" sz="2400" i="1" dirty="0">
                <a:solidFill>
                  <a:schemeClr val="hlink"/>
                </a:solidFill>
              </a:rPr>
              <a:t>..r</a:t>
            </a:r>
            <a:r>
              <a:rPr lang="en-US" altLang="en-US" sz="2400" dirty="0">
                <a:solidFill>
                  <a:schemeClr val="hlink"/>
                </a:solidFill>
              </a:rPr>
              <a:t>]</a:t>
            </a:r>
            <a:r>
              <a:rPr lang="en-US" altLang="en-US" sz="2400" dirty="0"/>
              <a:t>.</a:t>
            </a:r>
          </a:p>
          <a:p>
            <a:pPr lvl="1" algn="just">
              <a:spcBef>
                <a:spcPts val="1800"/>
              </a:spcBef>
            </a:pPr>
            <a:r>
              <a:rPr lang="en-US" altLang="en-US" sz="2400" dirty="0">
                <a:sym typeface="Symbol" panose="05050102010706020507" pitchFamily="18" charset="2"/>
              </a:rPr>
              <a:t>Index </a:t>
            </a:r>
            <a:r>
              <a:rPr lang="en-US" altLang="en-US" sz="2400" i="1" dirty="0"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sym typeface="Symbol" panose="05050102010706020507" pitchFamily="18" charset="2"/>
              </a:rPr>
              <a:t> is computed as part of the partitioning procedure.</a:t>
            </a:r>
            <a:endParaRPr lang="en-US" altLang="en-US" sz="1050" dirty="0"/>
          </a:p>
          <a:p>
            <a:pPr algn="just">
              <a:spcBef>
                <a:spcPts val="1800"/>
              </a:spcBef>
            </a:pPr>
            <a:r>
              <a:rPr lang="en-US" altLang="en-US" sz="2400" b="1" i="1" dirty="0">
                <a:solidFill>
                  <a:srgbClr val="CC3300"/>
                </a:solidFill>
              </a:rPr>
              <a:t>Conquer</a:t>
            </a:r>
            <a:r>
              <a:rPr lang="en-US" altLang="en-US" sz="2400" b="1" dirty="0">
                <a:solidFill>
                  <a:srgbClr val="CC3300"/>
                </a:solidFill>
              </a:rPr>
              <a:t>:</a:t>
            </a:r>
            <a:r>
              <a:rPr lang="en-US" altLang="en-US" sz="2400" dirty="0"/>
              <a:t>  Sort the two </a:t>
            </a:r>
            <a:r>
              <a:rPr lang="en-US" altLang="en-US" sz="2400" dirty="0" err="1"/>
              <a:t>subarrays</a:t>
            </a:r>
            <a:r>
              <a:rPr lang="en-US" altLang="en-US" sz="2400" dirty="0"/>
              <a:t> by recursive calls to quicksort. </a:t>
            </a:r>
          </a:p>
          <a:p>
            <a:pPr algn="just">
              <a:spcBef>
                <a:spcPts val="1800"/>
              </a:spcBef>
            </a:pPr>
            <a:r>
              <a:rPr lang="en-US" altLang="en-US" sz="2400" b="1" i="1" dirty="0">
                <a:solidFill>
                  <a:srgbClr val="CC3300"/>
                </a:solidFill>
              </a:rPr>
              <a:t>Combine</a:t>
            </a:r>
            <a:r>
              <a:rPr lang="en-US" altLang="en-US" sz="2400" b="1" dirty="0">
                <a:solidFill>
                  <a:srgbClr val="CC3300"/>
                </a:solidFill>
              </a:rPr>
              <a:t>:</a:t>
            </a:r>
            <a:r>
              <a:rPr lang="en-US" altLang="en-US" sz="2400" dirty="0"/>
              <a:t> The </a:t>
            </a:r>
            <a:r>
              <a:rPr lang="en-US" altLang="en-US" sz="2400" dirty="0" err="1"/>
              <a:t>subarrays</a:t>
            </a:r>
            <a:r>
              <a:rPr lang="en-US" altLang="en-US" sz="2400" dirty="0"/>
              <a:t> are sorted in place –  no work is needed to combine them.</a:t>
            </a:r>
          </a:p>
          <a:p>
            <a:pPr algn="just">
              <a:spcBef>
                <a:spcPts val="1800"/>
              </a:spcBef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34057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08075" y="171450"/>
            <a:ext cx="5978525" cy="514350"/>
          </a:xfrm>
        </p:spPr>
        <p:txBody>
          <a:bodyPr>
            <a:normAutofit/>
          </a:bodyPr>
          <a:lstStyle/>
          <a:p>
            <a:r>
              <a:rPr lang="en-US" altLang="en-US" u="sng" dirty="0" err="1"/>
              <a:t>Pseudocode</a:t>
            </a:r>
            <a:endParaRPr lang="en-US" altLang="en-US" u="sng" dirty="0"/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4887911" y="3363913"/>
            <a:ext cx="3886200" cy="163195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tabLst>
                <a:tab pos="461963" algn="l"/>
                <a:tab pos="909638" algn="l"/>
                <a:tab pos="13716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tabLst>
                <a:tab pos="461963" algn="l"/>
                <a:tab pos="909638" algn="l"/>
                <a:tab pos="13716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tabLst>
                <a:tab pos="461963" algn="l"/>
                <a:tab pos="909638" algn="l"/>
                <a:tab pos="1371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tabLst>
                <a:tab pos="461963" algn="l"/>
                <a:tab pos="909638" algn="l"/>
                <a:tab pos="137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tabLst>
                <a:tab pos="461963" algn="l"/>
                <a:tab pos="909638" algn="l"/>
                <a:tab pos="137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tabLst>
                <a:tab pos="461963" algn="l"/>
                <a:tab pos="909638" algn="l"/>
                <a:tab pos="137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tabLst>
                <a:tab pos="461963" algn="l"/>
                <a:tab pos="909638" algn="l"/>
                <a:tab pos="137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tabLst>
                <a:tab pos="461963" algn="l"/>
                <a:tab pos="909638" algn="l"/>
                <a:tab pos="137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tabLst>
                <a:tab pos="461963" algn="l"/>
                <a:tab pos="909638" algn="l"/>
                <a:tab pos="137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QUICKSORT(A, p, r)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1.	</a:t>
            </a:r>
            <a:r>
              <a:rPr lang="en-US" altLang="en-US" sz="2000" b="1"/>
              <a:t>if</a:t>
            </a:r>
            <a:r>
              <a:rPr lang="en-US" altLang="en-US" sz="2000"/>
              <a:t> p &lt; r </a:t>
            </a:r>
            <a:r>
              <a:rPr lang="en-US" altLang="en-US" sz="2000" b="1"/>
              <a:t>then</a:t>
            </a:r>
            <a:endParaRPr lang="en-US" altLang="en-US" sz="20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2.		q = PARTITION(A, p, r);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3.		QUICKSORT (A, p, q – 1);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4.		QUICKSORT (A, q + 1, r)</a:t>
            </a:r>
          </a:p>
        </p:txBody>
      </p:sp>
      <p:sp>
        <p:nvSpPr>
          <p:cNvPr id="443396" name="Text Box 4"/>
          <p:cNvSpPr txBox="1">
            <a:spLocks noChangeArrowheads="1"/>
          </p:cNvSpPr>
          <p:nvPr/>
        </p:nvSpPr>
        <p:spPr bwMode="auto">
          <a:xfrm>
            <a:off x="155575" y="1133475"/>
            <a:ext cx="4014787" cy="2862263"/>
          </a:xfrm>
          <a:prstGeom prst="rect">
            <a:avLst/>
          </a:prstGeom>
          <a:solidFill>
            <a:srgbClr val="CCECFF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>
            <a:lvl1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kumimoji="0" lang="en-US" altLang="en-US" sz="2000" dirty="0"/>
              <a:t>PARTITION(A, p, r)</a:t>
            </a:r>
          </a:p>
          <a:p>
            <a:pPr marL="457200" indent="-457200">
              <a:buFontTx/>
              <a:buAutoNum type="arabicPeriod"/>
              <a:defRPr/>
            </a:pPr>
            <a:r>
              <a:rPr kumimoji="0" lang="en-US" altLang="en-US" sz="2000" dirty="0"/>
              <a:t>x = A[r]</a:t>
            </a:r>
          </a:p>
          <a:p>
            <a:pPr>
              <a:defRPr/>
            </a:pPr>
            <a:r>
              <a:rPr kumimoji="0" lang="en-US" altLang="en-US" sz="2000" dirty="0"/>
              <a:t>2.    </a:t>
            </a:r>
            <a:r>
              <a:rPr kumimoji="0" lang="en-US" altLang="en-US" sz="2000" dirty="0" err="1"/>
              <a:t>i</a:t>
            </a:r>
            <a:r>
              <a:rPr kumimoji="0" lang="en-US" altLang="en-US" sz="2000" dirty="0"/>
              <a:t> = p-1</a:t>
            </a:r>
          </a:p>
          <a:p>
            <a:pPr>
              <a:defRPr/>
            </a:pPr>
            <a:r>
              <a:rPr kumimoji="0" lang="en-US" altLang="en-US" sz="2000" dirty="0"/>
              <a:t>3.	</a:t>
            </a:r>
            <a:r>
              <a:rPr kumimoji="0" lang="en-US" altLang="en-US" sz="2000" b="1" dirty="0"/>
              <a:t>for</a:t>
            </a:r>
            <a:r>
              <a:rPr kumimoji="0" lang="en-US" altLang="en-US" sz="2000" dirty="0"/>
              <a:t> j = p </a:t>
            </a:r>
            <a:r>
              <a:rPr kumimoji="0" lang="en-US" altLang="en-US" sz="2000" b="1" dirty="0"/>
              <a:t>to </a:t>
            </a:r>
            <a:r>
              <a:rPr kumimoji="0" lang="en-US" altLang="en-US" sz="2000" dirty="0"/>
              <a:t>r – 1 </a:t>
            </a:r>
          </a:p>
          <a:p>
            <a:pPr>
              <a:defRPr/>
            </a:pPr>
            <a:r>
              <a:rPr kumimoji="0" lang="en-US" altLang="en-US" sz="2000" dirty="0"/>
              <a:t>4.		</a:t>
            </a:r>
            <a:r>
              <a:rPr kumimoji="0" lang="en-US" altLang="en-US" sz="2000" b="1" dirty="0">
                <a:sym typeface="Symbol" pitchFamily="18" charset="2"/>
              </a:rPr>
              <a:t>if</a:t>
            </a:r>
            <a:r>
              <a:rPr kumimoji="0" lang="en-US" altLang="en-US" sz="2000" dirty="0">
                <a:sym typeface="Symbol" pitchFamily="18" charset="2"/>
              </a:rPr>
              <a:t> A[j]    x </a:t>
            </a:r>
          </a:p>
          <a:p>
            <a:pPr>
              <a:defRPr/>
            </a:pPr>
            <a:r>
              <a:rPr kumimoji="0" lang="en-US" altLang="en-US" sz="2000" dirty="0">
                <a:sym typeface="Symbol" pitchFamily="18" charset="2"/>
              </a:rPr>
              <a:t>5.			</a:t>
            </a:r>
            <a:r>
              <a:rPr kumimoji="0" lang="en-US" altLang="en-US" sz="2000" dirty="0" err="1">
                <a:sym typeface="Symbol" pitchFamily="18" charset="2"/>
              </a:rPr>
              <a:t>i</a:t>
            </a:r>
            <a:r>
              <a:rPr kumimoji="0" lang="en-US" altLang="en-US" sz="2000" dirty="0">
                <a:sym typeface="Symbol" pitchFamily="18" charset="2"/>
              </a:rPr>
              <a:t> = </a:t>
            </a:r>
            <a:r>
              <a:rPr kumimoji="0" lang="en-US" altLang="en-US" sz="2000" dirty="0" err="1">
                <a:sym typeface="Symbol" pitchFamily="18" charset="2"/>
              </a:rPr>
              <a:t>i</a:t>
            </a:r>
            <a:r>
              <a:rPr kumimoji="0" lang="en-US" altLang="en-US" sz="2000" dirty="0">
                <a:sym typeface="Symbol" pitchFamily="18" charset="2"/>
              </a:rPr>
              <a:t> + 1</a:t>
            </a:r>
          </a:p>
          <a:p>
            <a:pPr>
              <a:defRPr/>
            </a:pPr>
            <a:r>
              <a:rPr kumimoji="0" lang="en-US" altLang="en-US" sz="2000" dirty="0">
                <a:sym typeface="Symbol" pitchFamily="18" charset="2"/>
              </a:rPr>
              <a:t>6.               	exchange A[</a:t>
            </a:r>
            <a:r>
              <a:rPr kumimoji="0" lang="en-US" altLang="en-US" sz="2000" dirty="0" err="1">
                <a:sym typeface="Symbol" pitchFamily="18" charset="2"/>
              </a:rPr>
              <a:t>i</a:t>
            </a:r>
            <a:r>
              <a:rPr kumimoji="0" lang="en-US" altLang="en-US" sz="2000" dirty="0">
                <a:sym typeface="Symbol" pitchFamily="18" charset="2"/>
              </a:rPr>
              <a:t>] with A[j]</a:t>
            </a:r>
          </a:p>
          <a:p>
            <a:pPr>
              <a:defRPr/>
            </a:pPr>
            <a:r>
              <a:rPr kumimoji="0" lang="en-US" altLang="en-US" sz="2000" dirty="0">
                <a:sym typeface="Symbol" pitchFamily="18" charset="2"/>
              </a:rPr>
              <a:t>7.    exchange  A[</a:t>
            </a:r>
            <a:r>
              <a:rPr kumimoji="0" lang="en-US" altLang="en-US" sz="2000" dirty="0" err="1">
                <a:sym typeface="Symbol" pitchFamily="18" charset="2"/>
              </a:rPr>
              <a:t>i</a:t>
            </a:r>
            <a:r>
              <a:rPr kumimoji="0" lang="en-US" altLang="en-US" sz="2000" dirty="0">
                <a:sym typeface="Symbol" pitchFamily="18" charset="2"/>
              </a:rPr>
              <a:t> + 1] with A[r]</a:t>
            </a:r>
          </a:p>
          <a:p>
            <a:pPr>
              <a:defRPr/>
            </a:pPr>
            <a:r>
              <a:rPr kumimoji="0" lang="en-US" altLang="en-US" sz="2000" dirty="0">
                <a:sym typeface="Symbol" pitchFamily="18" charset="2"/>
              </a:rPr>
              <a:t>8.	</a:t>
            </a:r>
            <a:r>
              <a:rPr kumimoji="0" lang="en-US" altLang="en-US" sz="2000" b="1" dirty="0">
                <a:sym typeface="Symbol" pitchFamily="18" charset="2"/>
              </a:rPr>
              <a:t>return</a:t>
            </a:r>
            <a:r>
              <a:rPr kumimoji="0" lang="en-US" altLang="en-US" sz="2000" dirty="0">
                <a:sym typeface="Symbol" pitchFamily="18" charset="2"/>
              </a:rPr>
              <a:t> </a:t>
            </a:r>
            <a:r>
              <a:rPr kumimoji="0" lang="en-US" altLang="en-US" sz="2000" dirty="0" err="1">
                <a:sym typeface="Symbol" pitchFamily="18" charset="2"/>
              </a:rPr>
              <a:t>i</a:t>
            </a:r>
            <a:r>
              <a:rPr kumimoji="0" lang="en-US" altLang="en-US" sz="2000" dirty="0">
                <a:sym typeface="Symbol" pitchFamily="18" charset="2"/>
              </a:rPr>
              <a:t> + 1</a:t>
            </a:r>
          </a:p>
        </p:txBody>
      </p:sp>
      <p:sp>
        <p:nvSpPr>
          <p:cNvPr id="17413" name="Line 5"/>
          <p:cNvSpPr>
            <a:spLocks noChangeShapeType="1"/>
          </p:cNvSpPr>
          <p:nvPr/>
        </p:nvSpPr>
        <p:spPr bwMode="auto">
          <a:xfrm>
            <a:off x="287338" y="4645025"/>
            <a:ext cx="17605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4" name="Line 6"/>
          <p:cNvSpPr>
            <a:spLocks noChangeShapeType="1"/>
          </p:cNvSpPr>
          <p:nvPr/>
        </p:nvSpPr>
        <p:spPr bwMode="auto">
          <a:xfrm>
            <a:off x="287338" y="4645025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5" name="Line 7"/>
          <p:cNvSpPr>
            <a:spLocks noChangeShapeType="1"/>
          </p:cNvSpPr>
          <p:nvPr/>
        </p:nvSpPr>
        <p:spPr bwMode="auto">
          <a:xfrm>
            <a:off x="639763" y="4640263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6" name="Line 8"/>
          <p:cNvSpPr>
            <a:spLocks noChangeShapeType="1"/>
          </p:cNvSpPr>
          <p:nvPr/>
        </p:nvSpPr>
        <p:spPr bwMode="auto">
          <a:xfrm>
            <a:off x="992188" y="4664075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7" name="Line 9"/>
          <p:cNvSpPr>
            <a:spLocks noChangeShapeType="1"/>
          </p:cNvSpPr>
          <p:nvPr/>
        </p:nvSpPr>
        <p:spPr bwMode="auto">
          <a:xfrm>
            <a:off x="1344613" y="4645025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8" name="Line 10"/>
          <p:cNvSpPr>
            <a:spLocks noChangeShapeType="1"/>
          </p:cNvSpPr>
          <p:nvPr/>
        </p:nvSpPr>
        <p:spPr bwMode="auto">
          <a:xfrm>
            <a:off x="1697038" y="4654550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9" name="Line 11"/>
          <p:cNvSpPr>
            <a:spLocks noChangeShapeType="1"/>
          </p:cNvSpPr>
          <p:nvPr/>
        </p:nvSpPr>
        <p:spPr bwMode="auto">
          <a:xfrm>
            <a:off x="2049463" y="4649788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0" name="Line 12"/>
          <p:cNvSpPr>
            <a:spLocks noChangeShapeType="1"/>
          </p:cNvSpPr>
          <p:nvPr/>
        </p:nvSpPr>
        <p:spPr bwMode="auto">
          <a:xfrm flipV="1">
            <a:off x="282575" y="4940300"/>
            <a:ext cx="1760538" cy="14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1" name="Text Box 13"/>
          <p:cNvSpPr txBox="1">
            <a:spLocks noChangeArrowheads="1"/>
          </p:cNvSpPr>
          <p:nvPr/>
        </p:nvSpPr>
        <p:spPr bwMode="auto">
          <a:xfrm>
            <a:off x="1709738" y="45989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7422" name="AutoShape 14"/>
          <p:cNvSpPr>
            <a:spLocks/>
          </p:cNvSpPr>
          <p:nvPr/>
        </p:nvSpPr>
        <p:spPr bwMode="auto">
          <a:xfrm rot="5400000">
            <a:off x="1065213" y="3621088"/>
            <a:ext cx="201612" cy="1789112"/>
          </a:xfrm>
          <a:prstGeom prst="leftBrace">
            <a:avLst>
              <a:gd name="adj1" fmla="val 7395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7423" name="Text Box 15"/>
          <p:cNvSpPr txBox="1">
            <a:spLocks noChangeArrowheads="1"/>
          </p:cNvSpPr>
          <p:nvPr/>
        </p:nvSpPr>
        <p:spPr bwMode="auto">
          <a:xfrm>
            <a:off x="685800" y="4022725"/>
            <a:ext cx="8747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A[p..r]</a:t>
            </a:r>
          </a:p>
        </p:txBody>
      </p:sp>
      <p:sp>
        <p:nvSpPr>
          <p:cNvPr id="17424" name="Line 16"/>
          <p:cNvSpPr>
            <a:spLocks noChangeShapeType="1"/>
          </p:cNvSpPr>
          <p:nvPr/>
        </p:nvSpPr>
        <p:spPr bwMode="auto">
          <a:xfrm>
            <a:off x="2665413" y="5775325"/>
            <a:ext cx="17605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5" name="Line 17"/>
          <p:cNvSpPr>
            <a:spLocks noChangeShapeType="1"/>
          </p:cNvSpPr>
          <p:nvPr/>
        </p:nvSpPr>
        <p:spPr bwMode="auto">
          <a:xfrm>
            <a:off x="2665413" y="5789613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6" name="Line 18"/>
          <p:cNvSpPr>
            <a:spLocks noChangeShapeType="1"/>
          </p:cNvSpPr>
          <p:nvPr/>
        </p:nvSpPr>
        <p:spPr bwMode="auto">
          <a:xfrm>
            <a:off x="3017838" y="5784850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7" name="Line 19"/>
          <p:cNvSpPr>
            <a:spLocks noChangeShapeType="1"/>
          </p:cNvSpPr>
          <p:nvPr/>
        </p:nvSpPr>
        <p:spPr bwMode="auto">
          <a:xfrm>
            <a:off x="3370263" y="5780088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8" name="Line 20"/>
          <p:cNvSpPr>
            <a:spLocks noChangeShapeType="1"/>
          </p:cNvSpPr>
          <p:nvPr/>
        </p:nvSpPr>
        <p:spPr bwMode="auto">
          <a:xfrm>
            <a:off x="3722688" y="5775325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9" name="Line 21"/>
          <p:cNvSpPr>
            <a:spLocks noChangeShapeType="1"/>
          </p:cNvSpPr>
          <p:nvPr/>
        </p:nvSpPr>
        <p:spPr bwMode="auto">
          <a:xfrm>
            <a:off x="4075113" y="5784850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0" name="Line 22"/>
          <p:cNvSpPr>
            <a:spLocks noChangeShapeType="1"/>
          </p:cNvSpPr>
          <p:nvPr/>
        </p:nvSpPr>
        <p:spPr bwMode="auto">
          <a:xfrm>
            <a:off x="4427538" y="5780088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1" name="Line 23"/>
          <p:cNvSpPr>
            <a:spLocks noChangeShapeType="1"/>
          </p:cNvSpPr>
          <p:nvPr/>
        </p:nvSpPr>
        <p:spPr bwMode="auto">
          <a:xfrm>
            <a:off x="2674938" y="6084888"/>
            <a:ext cx="17605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2" name="AutoShape 24"/>
          <p:cNvSpPr>
            <a:spLocks/>
          </p:cNvSpPr>
          <p:nvPr/>
        </p:nvSpPr>
        <p:spPr bwMode="auto">
          <a:xfrm rot="5400000">
            <a:off x="2894807" y="5299869"/>
            <a:ext cx="215900" cy="706437"/>
          </a:xfrm>
          <a:prstGeom prst="leftBrace">
            <a:avLst>
              <a:gd name="adj1" fmla="val 272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7433" name="Text Box 25"/>
          <p:cNvSpPr txBox="1">
            <a:spLocks noChangeArrowheads="1"/>
          </p:cNvSpPr>
          <p:nvPr/>
        </p:nvSpPr>
        <p:spPr bwMode="auto">
          <a:xfrm>
            <a:off x="2263775" y="5153025"/>
            <a:ext cx="1298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A[p..q – 1]</a:t>
            </a:r>
          </a:p>
        </p:txBody>
      </p:sp>
      <p:sp>
        <p:nvSpPr>
          <p:cNvPr id="17434" name="AutoShape 26"/>
          <p:cNvSpPr>
            <a:spLocks/>
          </p:cNvSpPr>
          <p:nvPr/>
        </p:nvSpPr>
        <p:spPr bwMode="auto">
          <a:xfrm rot="5400000">
            <a:off x="3936206" y="5295107"/>
            <a:ext cx="244475" cy="706438"/>
          </a:xfrm>
          <a:prstGeom prst="leftBrace">
            <a:avLst>
              <a:gd name="adj1" fmla="val 2408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7435" name="Text Box 27"/>
          <p:cNvSpPr txBox="1">
            <a:spLocks noChangeArrowheads="1"/>
          </p:cNvSpPr>
          <p:nvPr/>
        </p:nvSpPr>
        <p:spPr bwMode="auto">
          <a:xfrm>
            <a:off x="3602038" y="5162550"/>
            <a:ext cx="11445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A[q+1..r]</a:t>
            </a:r>
          </a:p>
        </p:txBody>
      </p:sp>
      <p:sp>
        <p:nvSpPr>
          <p:cNvPr id="17436" name="AutoShape 28"/>
          <p:cNvSpPr>
            <a:spLocks/>
          </p:cNvSpPr>
          <p:nvPr/>
        </p:nvSpPr>
        <p:spPr bwMode="auto">
          <a:xfrm rot="16200000" flipV="1">
            <a:off x="2918619" y="5880894"/>
            <a:ext cx="215900" cy="706438"/>
          </a:xfrm>
          <a:prstGeom prst="leftBrace">
            <a:avLst>
              <a:gd name="adj1" fmla="val 272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7437" name="AutoShape 29"/>
          <p:cNvSpPr>
            <a:spLocks/>
          </p:cNvSpPr>
          <p:nvPr/>
        </p:nvSpPr>
        <p:spPr bwMode="auto">
          <a:xfrm rot="16200000" flipV="1">
            <a:off x="3981450" y="5854700"/>
            <a:ext cx="187325" cy="720725"/>
          </a:xfrm>
          <a:prstGeom prst="leftBrace">
            <a:avLst>
              <a:gd name="adj1" fmla="val 3206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7438" name="Text Box 30"/>
          <p:cNvSpPr txBox="1">
            <a:spLocks noChangeArrowheads="1"/>
          </p:cNvSpPr>
          <p:nvPr/>
        </p:nvSpPr>
        <p:spPr bwMode="auto">
          <a:xfrm>
            <a:off x="2765425" y="6308725"/>
            <a:ext cx="5143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  <a:t> 5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7439" name="Text Box 31"/>
          <p:cNvSpPr txBox="1">
            <a:spLocks noChangeArrowheads="1"/>
          </p:cNvSpPr>
          <p:nvPr/>
        </p:nvSpPr>
        <p:spPr bwMode="auto">
          <a:xfrm>
            <a:off x="3816350" y="6310313"/>
            <a:ext cx="54694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&gt; 5</a:t>
            </a:r>
          </a:p>
        </p:txBody>
      </p:sp>
      <p:sp>
        <p:nvSpPr>
          <p:cNvPr id="17440" name="Text Box 32"/>
          <p:cNvSpPr txBox="1">
            <a:spLocks noChangeArrowheads="1"/>
          </p:cNvSpPr>
          <p:nvPr/>
        </p:nvSpPr>
        <p:spPr bwMode="auto">
          <a:xfrm>
            <a:off x="544513" y="5619750"/>
            <a:ext cx="1260475" cy="485775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Partition</a:t>
            </a:r>
          </a:p>
        </p:txBody>
      </p:sp>
      <p:sp>
        <p:nvSpPr>
          <p:cNvPr id="17441" name="AutoShape 33"/>
          <p:cNvSpPr>
            <a:spLocks noChangeArrowheads="1"/>
          </p:cNvSpPr>
          <p:nvPr/>
        </p:nvSpPr>
        <p:spPr bwMode="auto">
          <a:xfrm rot="41457">
            <a:off x="1919288" y="5653088"/>
            <a:ext cx="514350" cy="485775"/>
          </a:xfrm>
          <a:prstGeom prst="notchedRightArrow">
            <a:avLst>
              <a:gd name="adj1" fmla="val 50000"/>
              <a:gd name="adj2" fmla="val 26471"/>
            </a:avLst>
          </a:prstGeom>
          <a:solidFill>
            <a:srgbClr val="CC0000"/>
          </a:solidFill>
          <a:ln w="9525">
            <a:solidFill>
              <a:srgbClr val="CC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7442" name="AutoShape 34"/>
          <p:cNvSpPr>
            <a:spLocks noChangeArrowheads="1"/>
          </p:cNvSpPr>
          <p:nvPr/>
        </p:nvSpPr>
        <p:spPr bwMode="auto">
          <a:xfrm rot="5415885">
            <a:off x="901701" y="5011737"/>
            <a:ext cx="514350" cy="485775"/>
          </a:xfrm>
          <a:prstGeom prst="notchedRightArrow">
            <a:avLst>
              <a:gd name="adj1" fmla="val 50000"/>
              <a:gd name="adj2" fmla="val 26471"/>
            </a:avLst>
          </a:prstGeom>
          <a:solidFill>
            <a:srgbClr val="CC0000"/>
          </a:solidFill>
          <a:ln w="9525">
            <a:solidFill>
              <a:srgbClr val="CC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7443" name="Text Box 35"/>
          <p:cNvSpPr txBox="1">
            <a:spLocks noChangeArrowheads="1"/>
          </p:cNvSpPr>
          <p:nvPr/>
        </p:nvSpPr>
        <p:spPr bwMode="auto">
          <a:xfrm>
            <a:off x="3405188" y="57324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90048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98475" y="247650"/>
            <a:ext cx="5978525" cy="514350"/>
          </a:xfrm>
        </p:spPr>
        <p:txBody>
          <a:bodyPr>
            <a:normAutofit/>
          </a:bodyPr>
          <a:lstStyle/>
          <a:p>
            <a:pPr algn="ctr"/>
            <a:r>
              <a:rPr lang="en-US" altLang="en-US" u="sng" dirty="0"/>
              <a:t>Example</a:t>
            </a:r>
          </a:p>
        </p:txBody>
      </p:sp>
      <p:sp>
        <p:nvSpPr>
          <p:cNvPr id="488451" name="Text Box 3"/>
          <p:cNvSpPr txBox="1">
            <a:spLocks noChangeArrowheads="1"/>
          </p:cNvSpPr>
          <p:nvPr/>
        </p:nvSpPr>
        <p:spPr bwMode="auto">
          <a:xfrm>
            <a:off x="547688" y="1520825"/>
            <a:ext cx="7527925" cy="533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tabLst>
                <a:tab pos="227965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tabLst>
                <a:tab pos="227965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tabLst>
                <a:tab pos="22796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tabLst>
                <a:tab pos="22796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tabLst>
                <a:tab pos="22796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tabLst>
                <a:tab pos="22796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tabLst>
                <a:tab pos="22796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tabLst>
                <a:tab pos="22796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tabLst>
                <a:tab pos="22796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                                 	p                                    r</a:t>
            </a:r>
            <a:endParaRPr lang="en-US" altLang="en-US" sz="2000" b="1" u="sng" dirty="0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u="sng" dirty="0">
                <a:solidFill>
                  <a:srgbClr val="CC0000"/>
                </a:solidFill>
              </a:rPr>
              <a:t>initially:</a:t>
            </a:r>
            <a:r>
              <a:rPr lang="en-US" altLang="en-US" sz="2000" dirty="0"/>
              <a:t>                  	2  5  8  3  9  4  1  7  10  </a:t>
            </a:r>
            <a:r>
              <a:rPr lang="en-US" altLang="en-US" sz="2000" b="1" dirty="0"/>
              <a:t>6</a:t>
            </a:r>
            <a:r>
              <a:rPr lang="en-US" altLang="en-US" sz="2000" dirty="0"/>
              <a:t>          </a:t>
            </a:r>
            <a:r>
              <a:rPr lang="en-US" altLang="en-US" sz="2000" b="1" u="sng" dirty="0">
                <a:solidFill>
                  <a:schemeClr val="tx2"/>
                </a:solidFill>
              </a:rPr>
              <a:t>note:</a:t>
            </a:r>
            <a:r>
              <a:rPr lang="en-US" altLang="en-US" sz="2000" dirty="0">
                <a:solidFill>
                  <a:schemeClr val="tx2"/>
                </a:solidFill>
              </a:rPr>
              <a:t> pivot (x) = 6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                                 </a:t>
            </a:r>
            <a:r>
              <a:rPr lang="en-US" altLang="en-US" sz="2000" dirty="0" err="1"/>
              <a:t>i</a:t>
            </a:r>
            <a:r>
              <a:rPr lang="en-US" altLang="en-US" sz="2000" dirty="0"/>
              <a:t>  j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u="sng" dirty="0">
                <a:solidFill>
                  <a:srgbClr val="CC0000"/>
                </a:solidFill>
              </a:rPr>
              <a:t>next iteration:</a:t>
            </a:r>
            <a:r>
              <a:rPr lang="en-US" altLang="en-US" sz="2000" dirty="0"/>
              <a:t>        	</a:t>
            </a:r>
            <a:r>
              <a:rPr lang="en-US" altLang="en-US" sz="2000" dirty="0">
                <a:solidFill>
                  <a:srgbClr val="CC0000"/>
                </a:solidFill>
              </a:rPr>
              <a:t>2</a:t>
            </a:r>
            <a:r>
              <a:rPr lang="en-US" altLang="en-US" sz="2000" dirty="0"/>
              <a:t>  5  8  3  9  4  1  7  10  </a:t>
            </a:r>
            <a:r>
              <a:rPr lang="en-US" altLang="en-US" sz="2000" b="1" dirty="0"/>
              <a:t>6</a:t>
            </a:r>
            <a:endParaRPr lang="en-US" altLang="en-US" sz="20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                                  	</a:t>
            </a:r>
            <a:r>
              <a:rPr lang="en-US" altLang="en-US" sz="2000" dirty="0" err="1"/>
              <a:t>i</a:t>
            </a:r>
            <a:r>
              <a:rPr lang="en-US" altLang="en-US" sz="2000" dirty="0"/>
              <a:t>   j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u="sng" dirty="0">
                <a:solidFill>
                  <a:srgbClr val="CC0000"/>
                </a:solidFill>
              </a:rPr>
              <a:t>next iteration:</a:t>
            </a:r>
            <a:r>
              <a:rPr lang="en-US" altLang="en-US" sz="2000" dirty="0"/>
              <a:t>        	</a:t>
            </a:r>
            <a:r>
              <a:rPr lang="en-US" altLang="en-US" sz="2000" dirty="0">
                <a:solidFill>
                  <a:srgbClr val="CC0000"/>
                </a:solidFill>
              </a:rPr>
              <a:t>2</a:t>
            </a:r>
            <a:r>
              <a:rPr lang="en-US" altLang="en-US" sz="2000" dirty="0"/>
              <a:t>  </a:t>
            </a:r>
            <a:r>
              <a:rPr lang="en-US" altLang="en-US" sz="2000" dirty="0">
                <a:solidFill>
                  <a:srgbClr val="CC0000"/>
                </a:solidFill>
              </a:rPr>
              <a:t>5</a:t>
            </a:r>
            <a:r>
              <a:rPr lang="en-US" altLang="en-US" sz="2000" dirty="0"/>
              <a:t>  8  3  9  4  1  7  10  </a:t>
            </a:r>
            <a:r>
              <a:rPr lang="en-US" altLang="en-US" sz="2000" b="1" dirty="0"/>
              <a:t>6</a:t>
            </a:r>
            <a:endParaRPr lang="en-US" altLang="en-US" sz="20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                                        </a:t>
            </a:r>
            <a:r>
              <a:rPr lang="en-US" altLang="en-US" sz="2000" dirty="0" err="1"/>
              <a:t>i</a:t>
            </a:r>
            <a:r>
              <a:rPr lang="en-US" altLang="en-US" sz="2000" dirty="0"/>
              <a:t>   j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u="sng" dirty="0">
                <a:solidFill>
                  <a:srgbClr val="CC0000"/>
                </a:solidFill>
              </a:rPr>
              <a:t>next iteration:</a:t>
            </a:r>
            <a:r>
              <a:rPr lang="en-US" altLang="en-US" sz="2000" dirty="0"/>
              <a:t>        	</a:t>
            </a:r>
            <a:r>
              <a:rPr lang="en-US" altLang="en-US" sz="2000" dirty="0">
                <a:solidFill>
                  <a:srgbClr val="CC0000"/>
                </a:solidFill>
              </a:rPr>
              <a:t>2  5</a:t>
            </a:r>
            <a:r>
              <a:rPr lang="en-US" altLang="en-US" sz="2000" dirty="0"/>
              <a:t>  </a:t>
            </a:r>
            <a:r>
              <a:rPr lang="en-US" altLang="en-US" sz="2000" dirty="0">
                <a:solidFill>
                  <a:schemeClr val="tx2"/>
                </a:solidFill>
              </a:rPr>
              <a:t>8</a:t>
            </a:r>
            <a:r>
              <a:rPr lang="en-US" altLang="en-US" sz="2000" dirty="0"/>
              <a:t>  3  9  4  1  7  10  </a:t>
            </a:r>
            <a:r>
              <a:rPr lang="en-US" altLang="en-US" sz="2000" b="1" dirty="0"/>
              <a:t>6</a:t>
            </a:r>
            <a:endParaRPr lang="en-US" altLang="en-US" sz="20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                                        </a:t>
            </a:r>
            <a:r>
              <a:rPr lang="en-US" altLang="en-US" sz="2000" dirty="0" err="1"/>
              <a:t>i</a:t>
            </a:r>
            <a:r>
              <a:rPr lang="en-US" altLang="en-US" sz="2000" dirty="0"/>
              <a:t>       j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u="sng" dirty="0">
                <a:solidFill>
                  <a:srgbClr val="CC0000"/>
                </a:solidFill>
              </a:rPr>
              <a:t>next iteration:</a:t>
            </a:r>
            <a:r>
              <a:rPr lang="en-US" altLang="en-US" sz="2000" dirty="0"/>
              <a:t>        	</a:t>
            </a:r>
            <a:r>
              <a:rPr lang="en-US" altLang="en-US" sz="2000" dirty="0">
                <a:solidFill>
                  <a:srgbClr val="CC0000"/>
                </a:solidFill>
              </a:rPr>
              <a:t>2  5</a:t>
            </a:r>
            <a:r>
              <a:rPr lang="en-US" altLang="en-US" sz="2000" dirty="0"/>
              <a:t>  </a:t>
            </a:r>
            <a:r>
              <a:rPr lang="en-US" altLang="en-US" sz="2000" dirty="0">
                <a:solidFill>
                  <a:srgbClr val="CC0000"/>
                </a:solidFill>
              </a:rPr>
              <a:t>3</a:t>
            </a:r>
            <a:r>
              <a:rPr lang="en-US" altLang="en-US" sz="2000" dirty="0"/>
              <a:t>  </a:t>
            </a:r>
            <a:r>
              <a:rPr lang="en-US" altLang="en-US" sz="2000" dirty="0">
                <a:solidFill>
                  <a:schemeClr val="tx2"/>
                </a:solidFill>
              </a:rPr>
              <a:t>8</a:t>
            </a:r>
            <a:r>
              <a:rPr lang="en-US" altLang="en-US" sz="2000" dirty="0"/>
              <a:t>  9  4  1  7  10  </a:t>
            </a:r>
            <a:r>
              <a:rPr lang="en-US" altLang="en-US" sz="2000" b="1" dirty="0"/>
              <a:t>6</a:t>
            </a:r>
            <a:endParaRPr lang="en-US" altLang="en-US" sz="20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                                            </a:t>
            </a:r>
            <a:r>
              <a:rPr lang="en-US" altLang="en-US" sz="2000" dirty="0" err="1"/>
              <a:t>i</a:t>
            </a:r>
            <a:r>
              <a:rPr lang="en-US" altLang="en-US" sz="2000" dirty="0"/>
              <a:t>       j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562600" y="2895600"/>
            <a:ext cx="3532188" cy="2308225"/>
          </a:xfrm>
          <a:prstGeom prst="rect">
            <a:avLst/>
          </a:prstGeom>
          <a:solidFill>
            <a:srgbClr val="CCECFF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>
            <a:lvl1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kumimoji="0" lang="en-US" altLang="en-US" sz="1600" dirty="0"/>
              <a:t>PARTITION(A, p, r)</a:t>
            </a:r>
          </a:p>
          <a:p>
            <a:pPr marL="457200" indent="-457200">
              <a:buFontTx/>
              <a:buAutoNum type="arabicPeriod"/>
              <a:defRPr/>
            </a:pPr>
            <a:r>
              <a:rPr kumimoji="0" lang="en-US" altLang="en-US" sz="1600" dirty="0"/>
              <a:t>x = A[r]</a:t>
            </a:r>
          </a:p>
          <a:p>
            <a:pPr>
              <a:defRPr/>
            </a:pPr>
            <a:r>
              <a:rPr kumimoji="0" lang="en-US" altLang="en-US" sz="1600" dirty="0"/>
              <a:t>2.	</a:t>
            </a:r>
            <a:r>
              <a:rPr kumimoji="0" lang="en-US" altLang="en-US" sz="1600" dirty="0" err="1"/>
              <a:t>i</a:t>
            </a:r>
            <a:r>
              <a:rPr kumimoji="0" lang="en-US" altLang="en-US" sz="1600" dirty="0"/>
              <a:t> = p-1</a:t>
            </a:r>
          </a:p>
          <a:p>
            <a:pPr>
              <a:defRPr/>
            </a:pPr>
            <a:r>
              <a:rPr kumimoji="0" lang="en-US" altLang="en-US" sz="1600" dirty="0"/>
              <a:t>3.	</a:t>
            </a:r>
            <a:r>
              <a:rPr kumimoji="0" lang="en-US" altLang="en-US" sz="1600" b="1" dirty="0"/>
              <a:t>for</a:t>
            </a:r>
            <a:r>
              <a:rPr kumimoji="0" lang="en-US" altLang="en-US" sz="1600" dirty="0"/>
              <a:t> j = p </a:t>
            </a:r>
            <a:r>
              <a:rPr kumimoji="0" lang="en-US" altLang="en-US" sz="1600" b="1" dirty="0"/>
              <a:t>to </a:t>
            </a:r>
            <a:r>
              <a:rPr kumimoji="0" lang="en-US" altLang="en-US" sz="1600" dirty="0"/>
              <a:t>r – 1 </a:t>
            </a:r>
          </a:p>
          <a:p>
            <a:pPr>
              <a:defRPr/>
            </a:pPr>
            <a:r>
              <a:rPr kumimoji="0" lang="en-US" altLang="en-US" sz="1600" dirty="0"/>
              <a:t>4.		</a:t>
            </a:r>
            <a:r>
              <a:rPr kumimoji="0" lang="en-US" altLang="en-US" sz="1600" b="1" dirty="0">
                <a:sym typeface="Symbol" pitchFamily="18" charset="2"/>
              </a:rPr>
              <a:t>if</a:t>
            </a:r>
            <a:r>
              <a:rPr kumimoji="0" lang="en-US" altLang="en-US" sz="1600" dirty="0">
                <a:sym typeface="Symbol" pitchFamily="18" charset="2"/>
              </a:rPr>
              <a:t> A[j]    x </a:t>
            </a:r>
          </a:p>
          <a:p>
            <a:pPr>
              <a:defRPr/>
            </a:pPr>
            <a:r>
              <a:rPr kumimoji="0" lang="en-US" altLang="en-US" sz="1600" dirty="0">
                <a:sym typeface="Symbol" pitchFamily="18" charset="2"/>
              </a:rPr>
              <a:t>5.			</a:t>
            </a:r>
            <a:r>
              <a:rPr kumimoji="0" lang="en-US" altLang="en-US" sz="1600" dirty="0" err="1">
                <a:sym typeface="Symbol" pitchFamily="18" charset="2"/>
              </a:rPr>
              <a:t>i</a:t>
            </a:r>
            <a:r>
              <a:rPr kumimoji="0" lang="en-US" altLang="en-US" sz="1600" dirty="0">
                <a:sym typeface="Symbol" pitchFamily="18" charset="2"/>
              </a:rPr>
              <a:t> = </a:t>
            </a:r>
            <a:r>
              <a:rPr kumimoji="0" lang="en-US" altLang="en-US" sz="1600" dirty="0" err="1">
                <a:sym typeface="Symbol" pitchFamily="18" charset="2"/>
              </a:rPr>
              <a:t>i</a:t>
            </a:r>
            <a:r>
              <a:rPr kumimoji="0" lang="en-US" altLang="en-US" sz="1600" dirty="0">
                <a:sym typeface="Symbol" pitchFamily="18" charset="2"/>
              </a:rPr>
              <a:t> + 1</a:t>
            </a:r>
          </a:p>
          <a:p>
            <a:pPr>
              <a:defRPr/>
            </a:pPr>
            <a:r>
              <a:rPr kumimoji="0" lang="en-US" altLang="en-US" sz="1600" dirty="0">
                <a:sym typeface="Symbol" pitchFamily="18" charset="2"/>
              </a:rPr>
              <a:t>6.               	exchange A[</a:t>
            </a:r>
            <a:r>
              <a:rPr kumimoji="0" lang="en-US" altLang="en-US" sz="1600" dirty="0" err="1">
                <a:sym typeface="Symbol" pitchFamily="18" charset="2"/>
              </a:rPr>
              <a:t>i</a:t>
            </a:r>
            <a:r>
              <a:rPr kumimoji="0" lang="en-US" altLang="en-US" sz="1600" dirty="0">
                <a:sym typeface="Symbol" pitchFamily="18" charset="2"/>
              </a:rPr>
              <a:t>] with A[j]</a:t>
            </a:r>
          </a:p>
          <a:p>
            <a:pPr>
              <a:defRPr/>
            </a:pPr>
            <a:r>
              <a:rPr kumimoji="0" lang="en-US" altLang="en-US" sz="1600" dirty="0">
                <a:sym typeface="Symbol" pitchFamily="18" charset="2"/>
              </a:rPr>
              <a:t>7.    exchange  A[</a:t>
            </a:r>
            <a:r>
              <a:rPr kumimoji="0" lang="en-US" altLang="en-US" sz="1600" dirty="0" err="1">
                <a:sym typeface="Symbol" pitchFamily="18" charset="2"/>
              </a:rPr>
              <a:t>i</a:t>
            </a:r>
            <a:r>
              <a:rPr kumimoji="0" lang="en-US" altLang="en-US" sz="1600" dirty="0">
                <a:sym typeface="Symbol" pitchFamily="18" charset="2"/>
              </a:rPr>
              <a:t> + 1] with A[r]</a:t>
            </a:r>
          </a:p>
          <a:p>
            <a:pPr>
              <a:defRPr/>
            </a:pPr>
            <a:r>
              <a:rPr kumimoji="0" lang="en-US" altLang="en-US" sz="1600" dirty="0">
                <a:sym typeface="Symbol" pitchFamily="18" charset="2"/>
              </a:rPr>
              <a:t>8.	</a:t>
            </a:r>
            <a:r>
              <a:rPr kumimoji="0" lang="en-US" altLang="en-US" sz="1600" b="1" dirty="0">
                <a:sym typeface="Symbol" pitchFamily="18" charset="2"/>
              </a:rPr>
              <a:t>return</a:t>
            </a:r>
            <a:r>
              <a:rPr kumimoji="0" lang="en-US" altLang="en-US" sz="1600" dirty="0">
                <a:sym typeface="Symbol" pitchFamily="18" charset="2"/>
              </a:rPr>
              <a:t> </a:t>
            </a:r>
            <a:r>
              <a:rPr kumimoji="0" lang="en-US" altLang="en-US" sz="1600" dirty="0" err="1">
                <a:sym typeface="Symbol" pitchFamily="18" charset="2"/>
              </a:rPr>
              <a:t>i</a:t>
            </a:r>
            <a:r>
              <a:rPr kumimoji="0" lang="en-US" altLang="en-US" sz="1600" dirty="0">
                <a:sym typeface="Symbol" pitchFamily="18" charset="2"/>
              </a:rPr>
              <a:t> + 1</a:t>
            </a:r>
          </a:p>
        </p:txBody>
      </p:sp>
    </p:spTree>
    <p:extLst>
      <p:ext uri="{BB962C8B-B14F-4D97-AF65-F5344CB8AC3E}">
        <p14:creationId xmlns:p14="http://schemas.microsoft.com/office/powerpoint/2010/main" val="2163491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27075" y="171450"/>
            <a:ext cx="5978525" cy="514350"/>
          </a:xfrm>
        </p:spPr>
        <p:txBody>
          <a:bodyPr>
            <a:normAutofit/>
          </a:bodyPr>
          <a:lstStyle/>
          <a:p>
            <a:pPr algn="ctr"/>
            <a:r>
              <a:rPr lang="en-US" altLang="en-US" u="sng" dirty="0"/>
              <a:t>Example (Continued)</a:t>
            </a:r>
          </a:p>
        </p:txBody>
      </p:sp>
      <p:sp>
        <p:nvSpPr>
          <p:cNvPr id="489475" name="Text Box 3"/>
          <p:cNvSpPr txBox="1">
            <a:spLocks noChangeArrowheads="1"/>
          </p:cNvSpPr>
          <p:nvPr/>
        </p:nvSpPr>
        <p:spPr bwMode="auto">
          <a:xfrm>
            <a:off x="261938" y="1374775"/>
            <a:ext cx="5051425" cy="540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tabLst>
                <a:tab pos="227965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tabLst>
                <a:tab pos="227965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tabLst>
                <a:tab pos="227965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tabLst>
                <a:tab pos="227965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tabLst>
                <a:tab pos="227965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27965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27965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27965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27965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kumimoji="0" lang="en-US" altLang="en-US" sz="2000" b="1" u="sng" dirty="0">
                <a:solidFill>
                  <a:srgbClr val="CC0000"/>
                </a:solidFill>
              </a:rPr>
              <a:t>next iteration:</a:t>
            </a:r>
            <a:r>
              <a:rPr kumimoji="0" lang="en-US" altLang="en-US" sz="2000" dirty="0"/>
              <a:t>        	</a:t>
            </a:r>
            <a:r>
              <a:rPr kumimoji="0" lang="en-US" altLang="en-US" sz="2000" dirty="0">
                <a:solidFill>
                  <a:srgbClr val="CC0000"/>
                </a:solidFill>
              </a:rPr>
              <a:t>2  5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rgbClr val="CC0000"/>
                </a:solidFill>
              </a:rPr>
              <a:t>3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8</a:t>
            </a:r>
            <a:r>
              <a:rPr kumimoji="0" lang="en-US" altLang="en-US" sz="2000" dirty="0"/>
              <a:t>  9  4  1  7  10  </a:t>
            </a:r>
            <a:r>
              <a:rPr kumimoji="0" lang="en-US" altLang="en-US" sz="2000" b="1" dirty="0"/>
              <a:t>6</a:t>
            </a:r>
            <a:endParaRPr kumimoji="0" lang="en-US" altLang="en-US" sz="2000" dirty="0"/>
          </a:p>
          <a:p>
            <a:pPr>
              <a:defRPr/>
            </a:pPr>
            <a:r>
              <a:rPr kumimoji="0" lang="en-US" altLang="en-US" sz="2000" dirty="0"/>
              <a:t>                                            </a:t>
            </a:r>
            <a:r>
              <a:rPr kumimoji="0" lang="en-US" altLang="en-US" sz="2000" dirty="0" err="1"/>
              <a:t>i</a:t>
            </a:r>
            <a:r>
              <a:rPr kumimoji="0" lang="en-US" altLang="en-US" sz="2000" dirty="0"/>
              <a:t>       j</a:t>
            </a:r>
          </a:p>
          <a:p>
            <a:pPr>
              <a:defRPr/>
            </a:pPr>
            <a:endParaRPr kumimoji="0" lang="en-US" altLang="en-US" sz="1100" dirty="0"/>
          </a:p>
          <a:p>
            <a:pPr>
              <a:defRPr/>
            </a:pPr>
            <a:r>
              <a:rPr kumimoji="0" lang="en-US" altLang="en-US" sz="2000" b="1" u="sng" dirty="0">
                <a:solidFill>
                  <a:srgbClr val="CC0000"/>
                </a:solidFill>
              </a:rPr>
              <a:t>next iteration:</a:t>
            </a:r>
            <a:r>
              <a:rPr kumimoji="0" lang="en-US" altLang="en-US" sz="2000" dirty="0"/>
              <a:t>        	</a:t>
            </a:r>
            <a:r>
              <a:rPr kumimoji="0" lang="en-US" altLang="en-US" sz="2000" dirty="0">
                <a:solidFill>
                  <a:srgbClr val="CC0000"/>
                </a:solidFill>
              </a:rPr>
              <a:t>2  5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rgbClr val="CC0000"/>
                </a:solidFill>
              </a:rPr>
              <a:t>3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8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9</a:t>
            </a:r>
            <a:r>
              <a:rPr kumimoji="0" lang="en-US" altLang="en-US" sz="2000" dirty="0"/>
              <a:t>  4  1  7  10  </a:t>
            </a:r>
            <a:r>
              <a:rPr kumimoji="0" lang="en-US" altLang="en-US" sz="2000" b="1" dirty="0"/>
              <a:t>6</a:t>
            </a:r>
            <a:endParaRPr kumimoji="0" lang="en-US" altLang="en-US" sz="2000" dirty="0"/>
          </a:p>
          <a:p>
            <a:pPr>
              <a:defRPr/>
            </a:pPr>
            <a:r>
              <a:rPr kumimoji="0" lang="en-US" altLang="en-US" sz="2000" dirty="0"/>
              <a:t>                                            </a:t>
            </a:r>
            <a:r>
              <a:rPr kumimoji="0" lang="en-US" altLang="en-US" sz="2000" dirty="0" err="1"/>
              <a:t>i</a:t>
            </a:r>
            <a:r>
              <a:rPr kumimoji="0" lang="en-US" altLang="en-US" sz="2000" dirty="0"/>
              <a:t>           j</a:t>
            </a:r>
          </a:p>
          <a:p>
            <a:pPr>
              <a:defRPr/>
            </a:pPr>
            <a:endParaRPr kumimoji="0" lang="en-US" altLang="en-US" sz="1100" dirty="0"/>
          </a:p>
          <a:p>
            <a:pPr>
              <a:defRPr/>
            </a:pPr>
            <a:r>
              <a:rPr kumimoji="0" lang="en-US" altLang="en-US" sz="2000" b="1" u="sng" dirty="0">
                <a:solidFill>
                  <a:srgbClr val="CC0000"/>
                </a:solidFill>
              </a:rPr>
              <a:t>next iteration:</a:t>
            </a:r>
            <a:r>
              <a:rPr kumimoji="0" lang="en-US" altLang="en-US" sz="2000" dirty="0"/>
              <a:t>        	</a:t>
            </a:r>
            <a:r>
              <a:rPr kumimoji="0" lang="en-US" altLang="en-US" sz="2000" dirty="0">
                <a:solidFill>
                  <a:srgbClr val="CC0000"/>
                </a:solidFill>
              </a:rPr>
              <a:t>2  5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rgbClr val="CC0000"/>
                </a:solidFill>
              </a:rPr>
              <a:t>3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rgbClr val="CC0000"/>
                </a:solidFill>
              </a:rPr>
              <a:t>4</a:t>
            </a:r>
            <a:r>
              <a:rPr kumimoji="0" lang="en-US" altLang="en-US" sz="2000" dirty="0"/>
              <a:t> </a:t>
            </a:r>
            <a:r>
              <a:rPr kumimoji="0" lang="en-US" altLang="en-US" sz="2000" dirty="0">
                <a:solidFill>
                  <a:schemeClr val="tx2"/>
                </a:solidFill>
              </a:rPr>
              <a:t> 9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8</a:t>
            </a:r>
            <a:r>
              <a:rPr kumimoji="0" lang="en-US" altLang="en-US" sz="2000" dirty="0"/>
              <a:t>  1  7  10  </a:t>
            </a:r>
            <a:r>
              <a:rPr kumimoji="0" lang="en-US" altLang="en-US" sz="2000" b="1" dirty="0"/>
              <a:t>6</a:t>
            </a:r>
            <a:endParaRPr kumimoji="0" lang="en-US" altLang="en-US" sz="2000" dirty="0"/>
          </a:p>
          <a:p>
            <a:pPr>
              <a:defRPr/>
            </a:pPr>
            <a:r>
              <a:rPr kumimoji="0" lang="en-US" altLang="en-US" sz="2000" dirty="0"/>
              <a:t>                                                </a:t>
            </a:r>
            <a:r>
              <a:rPr kumimoji="0" lang="en-US" altLang="en-US" sz="2000" dirty="0" err="1"/>
              <a:t>i</a:t>
            </a:r>
            <a:r>
              <a:rPr kumimoji="0" lang="en-US" altLang="en-US" sz="2000" dirty="0"/>
              <a:t>           j</a:t>
            </a:r>
          </a:p>
          <a:p>
            <a:pPr>
              <a:defRPr/>
            </a:pPr>
            <a:endParaRPr kumimoji="0" lang="en-US" altLang="en-US" sz="1050" dirty="0"/>
          </a:p>
          <a:p>
            <a:pPr>
              <a:defRPr/>
            </a:pPr>
            <a:r>
              <a:rPr kumimoji="0" lang="en-US" altLang="en-US" sz="2000" b="1" u="sng" dirty="0">
                <a:solidFill>
                  <a:srgbClr val="CC0000"/>
                </a:solidFill>
              </a:rPr>
              <a:t>next iteration:</a:t>
            </a:r>
            <a:r>
              <a:rPr kumimoji="0" lang="en-US" altLang="en-US" sz="2000" dirty="0"/>
              <a:t>        	</a:t>
            </a:r>
            <a:r>
              <a:rPr kumimoji="0" lang="en-US" altLang="en-US" sz="2000" dirty="0">
                <a:solidFill>
                  <a:srgbClr val="CC0000"/>
                </a:solidFill>
              </a:rPr>
              <a:t>2  5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rgbClr val="CC0000"/>
                </a:solidFill>
              </a:rPr>
              <a:t>3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rgbClr val="CC0000"/>
                </a:solidFill>
              </a:rPr>
              <a:t>4</a:t>
            </a:r>
            <a:r>
              <a:rPr kumimoji="0" lang="en-US" altLang="en-US" sz="2000" dirty="0"/>
              <a:t> </a:t>
            </a:r>
            <a:r>
              <a:rPr kumimoji="0" lang="en-US" altLang="en-US" sz="2000" dirty="0">
                <a:solidFill>
                  <a:schemeClr val="tx2"/>
                </a:solidFill>
              </a:rPr>
              <a:t> </a:t>
            </a:r>
            <a:r>
              <a:rPr kumimoji="0" lang="en-US" altLang="en-US" sz="2000" dirty="0">
                <a:solidFill>
                  <a:srgbClr val="CC0000"/>
                </a:solidFill>
              </a:rPr>
              <a:t>1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8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9</a:t>
            </a:r>
            <a:r>
              <a:rPr kumimoji="0" lang="en-US" altLang="en-US" sz="2000" dirty="0"/>
              <a:t>  7  10  </a:t>
            </a:r>
            <a:r>
              <a:rPr kumimoji="0" lang="en-US" altLang="en-US" sz="2000" b="1" dirty="0"/>
              <a:t>6</a:t>
            </a:r>
            <a:endParaRPr kumimoji="0" lang="en-US" altLang="en-US" sz="2000" dirty="0"/>
          </a:p>
          <a:p>
            <a:pPr>
              <a:defRPr/>
            </a:pPr>
            <a:r>
              <a:rPr kumimoji="0" lang="en-US" altLang="en-US" sz="2000" dirty="0"/>
              <a:t>                                                    </a:t>
            </a:r>
            <a:r>
              <a:rPr kumimoji="0" lang="en-US" altLang="en-US" sz="2000" dirty="0" err="1"/>
              <a:t>i</a:t>
            </a:r>
            <a:r>
              <a:rPr kumimoji="0" lang="en-US" altLang="en-US" sz="2000" dirty="0"/>
              <a:t>           j</a:t>
            </a:r>
          </a:p>
          <a:p>
            <a:pPr>
              <a:defRPr/>
            </a:pPr>
            <a:endParaRPr kumimoji="0" lang="en-US" altLang="en-US" sz="1100" dirty="0"/>
          </a:p>
          <a:p>
            <a:pPr>
              <a:defRPr/>
            </a:pPr>
            <a:r>
              <a:rPr kumimoji="0" lang="en-US" altLang="en-US" sz="2000" b="1" u="sng" dirty="0">
                <a:solidFill>
                  <a:srgbClr val="CC0000"/>
                </a:solidFill>
              </a:rPr>
              <a:t>next iteration:</a:t>
            </a:r>
            <a:r>
              <a:rPr kumimoji="0" lang="en-US" altLang="en-US" sz="2000" dirty="0"/>
              <a:t>        	</a:t>
            </a:r>
            <a:r>
              <a:rPr kumimoji="0" lang="en-US" altLang="en-US" sz="2000" dirty="0">
                <a:solidFill>
                  <a:srgbClr val="CC0000"/>
                </a:solidFill>
              </a:rPr>
              <a:t>2  5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rgbClr val="CC0000"/>
                </a:solidFill>
              </a:rPr>
              <a:t>3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rgbClr val="CC0000"/>
                </a:solidFill>
              </a:rPr>
              <a:t>4</a:t>
            </a:r>
            <a:r>
              <a:rPr kumimoji="0" lang="en-US" altLang="en-US" sz="2000" dirty="0"/>
              <a:t> </a:t>
            </a:r>
            <a:r>
              <a:rPr kumimoji="0" lang="en-US" altLang="en-US" sz="2000" dirty="0">
                <a:solidFill>
                  <a:schemeClr val="tx2"/>
                </a:solidFill>
              </a:rPr>
              <a:t> </a:t>
            </a:r>
            <a:r>
              <a:rPr kumimoji="0" lang="en-US" altLang="en-US" sz="2000" dirty="0">
                <a:solidFill>
                  <a:srgbClr val="CC0000"/>
                </a:solidFill>
              </a:rPr>
              <a:t>1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8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9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7</a:t>
            </a:r>
            <a:r>
              <a:rPr kumimoji="0" lang="en-US" altLang="en-US" sz="2000" dirty="0"/>
              <a:t>  10  </a:t>
            </a:r>
            <a:r>
              <a:rPr kumimoji="0" lang="en-US" altLang="en-US" sz="2000" b="1" dirty="0"/>
              <a:t>6</a:t>
            </a:r>
            <a:endParaRPr kumimoji="0" lang="en-US" altLang="en-US" sz="2000" dirty="0"/>
          </a:p>
          <a:p>
            <a:pPr>
              <a:defRPr/>
            </a:pPr>
            <a:r>
              <a:rPr kumimoji="0" lang="en-US" altLang="en-US" sz="2000" dirty="0"/>
              <a:t>                                                    </a:t>
            </a:r>
            <a:r>
              <a:rPr kumimoji="0" lang="en-US" altLang="en-US" sz="2000" dirty="0" err="1"/>
              <a:t>i</a:t>
            </a:r>
            <a:r>
              <a:rPr kumimoji="0" lang="en-US" altLang="en-US" sz="2000" dirty="0"/>
              <a:t>                j</a:t>
            </a:r>
          </a:p>
          <a:p>
            <a:pPr>
              <a:defRPr/>
            </a:pPr>
            <a:endParaRPr kumimoji="0" lang="en-US" altLang="en-US" sz="1100" dirty="0"/>
          </a:p>
          <a:p>
            <a:pPr>
              <a:defRPr/>
            </a:pPr>
            <a:r>
              <a:rPr kumimoji="0" lang="en-US" altLang="en-US" sz="2000" b="1" u="sng" dirty="0">
                <a:solidFill>
                  <a:srgbClr val="CC0000"/>
                </a:solidFill>
              </a:rPr>
              <a:t>next iteration:</a:t>
            </a:r>
            <a:r>
              <a:rPr kumimoji="0" lang="en-US" altLang="en-US" sz="2000" dirty="0"/>
              <a:t>        	</a:t>
            </a:r>
            <a:r>
              <a:rPr kumimoji="0" lang="en-US" altLang="en-US" sz="2000" dirty="0">
                <a:solidFill>
                  <a:srgbClr val="CC0000"/>
                </a:solidFill>
              </a:rPr>
              <a:t>2  5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rgbClr val="CC0000"/>
                </a:solidFill>
              </a:rPr>
              <a:t>3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rgbClr val="CC0000"/>
                </a:solidFill>
              </a:rPr>
              <a:t>4</a:t>
            </a:r>
            <a:r>
              <a:rPr kumimoji="0" lang="en-US" altLang="en-US" sz="2000" dirty="0"/>
              <a:t> </a:t>
            </a:r>
            <a:r>
              <a:rPr kumimoji="0" lang="en-US" altLang="en-US" sz="2000" dirty="0">
                <a:solidFill>
                  <a:schemeClr val="tx2"/>
                </a:solidFill>
              </a:rPr>
              <a:t> </a:t>
            </a:r>
            <a:r>
              <a:rPr kumimoji="0" lang="en-US" altLang="en-US" sz="2000" dirty="0">
                <a:solidFill>
                  <a:srgbClr val="CC0000"/>
                </a:solidFill>
              </a:rPr>
              <a:t>1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8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9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7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10</a:t>
            </a:r>
            <a:r>
              <a:rPr kumimoji="0" lang="en-US" altLang="en-US" sz="2000" dirty="0"/>
              <a:t>  </a:t>
            </a:r>
            <a:r>
              <a:rPr kumimoji="0" lang="en-US" altLang="en-US" sz="2000" b="1" dirty="0"/>
              <a:t>6</a:t>
            </a:r>
            <a:endParaRPr kumimoji="0" lang="en-US" altLang="en-US" sz="2000" dirty="0"/>
          </a:p>
          <a:p>
            <a:pPr>
              <a:defRPr/>
            </a:pPr>
            <a:r>
              <a:rPr kumimoji="0" lang="en-US" altLang="en-US" sz="2000" dirty="0"/>
              <a:t>                                                    </a:t>
            </a:r>
            <a:r>
              <a:rPr kumimoji="0" lang="en-US" altLang="en-US" sz="2000" dirty="0" err="1"/>
              <a:t>i</a:t>
            </a:r>
            <a:r>
              <a:rPr kumimoji="0" lang="en-US" altLang="en-US" sz="2000" dirty="0"/>
              <a:t>                     j</a:t>
            </a:r>
          </a:p>
          <a:p>
            <a:pPr>
              <a:defRPr/>
            </a:pPr>
            <a:endParaRPr kumimoji="0" lang="en-US" altLang="en-US" sz="1100" dirty="0"/>
          </a:p>
          <a:p>
            <a:pPr>
              <a:defRPr/>
            </a:pPr>
            <a:r>
              <a:rPr kumimoji="0" lang="en-US" altLang="en-US" sz="2000" b="1" u="sng" dirty="0">
                <a:solidFill>
                  <a:srgbClr val="CC0000"/>
                </a:solidFill>
              </a:rPr>
              <a:t>after final swap:</a:t>
            </a:r>
            <a:r>
              <a:rPr kumimoji="0" lang="en-US" altLang="en-US" sz="2000" dirty="0"/>
              <a:t>       	</a:t>
            </a:r>
            <a:r>
              <a:rPr kumimoji="0" lang="en-US" altLang="en-US" sz="2000" dirty="0">
                <a:solidFill>
                  <a:srgbClr val="CC0000"/>
                </a:solidFill>
              </a:rPr>
              <a:t>2  5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rgbClr val="CC0000"/>
                </a:solidFill>
              </a:rPr>
              <a:t>3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rgbClr val="CC0000"/>
                </a:solidFill>
              </a:rPr>
              <a:t>4</a:t>
            </a:r>
            <a:r>
              <a:rPr kumimoji="0" lang="en-US" altLang="en-US" sz="2000" dirty="0"/>
              <a:t> </a:t>
            </a:r>
            <a:r>
              <a:rPr kumimoji="0" lang="en-US" altLang="en-US" sz="2000" dirty="0">
                <a:solidFill>
                  <a:schemeClr val="tx2"/>
                </a:solidFill>
              </a:rPr>
              <a:t> </a:t>
            </a:r>
            <a:r>
              <a:rPr kumimoji="0" lang="en-US" altLang="en-US" sz="2000" dirty="0">
                <a:solidFill>
                  <a:srgbClr val="CC0000"/>
                </a:solidFill>
              </a:rPr>
              <a:t>1</a:t>
            </a:r>
            <a:r>
              <a:rPr kumimoji="0" lang="en-US" altLang="en-US" sz="2000" dirty="0"/>
              <a:t>  </a:t>
            </a:r>
            <a:r>
              <a:rPr kumimoji="0" lang="en-US" altLang="en-US" sz="2000" b="1" dirty="0"/>
              <a:t>6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9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7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10</a:t>
            </a:r>
            <a:r>
              <a:rPr kumimoji="0" lang="en-US" altLang="en-US" sz="2000" dirty="0"/>
              <a:t>  </a:t>
            </a:r>
            <a:r>
              <a:rPr kumimoji="0" lang="en-US" altLang="en-US" sz="2000" dirty="0">
                <a:solidFill>
                  <a:schemeClr val="tx2"/>
                </a:solidFill>
              </a:rPr>
              <a:t>8</a:t>
            </a:r>
            <a:endParaRPr kumimoji="0" lang="en-US" altLang="en-US" sz="2000" dirty="0"/>
          </a:p>
          <a:p>
            <a:pPr>
              <a:defRPr/>
            </a:pPr>
            <a:r>
              <a:rPr kumimoji="0" lang="en-US" altLang="en-US" sz="2000" dirty="0"/>
              <a:t>                                                    </a:t>
            </a:r>
            <a:r>
              <a:rPr kumimoji="0" lang="en-US" altLang="en-US" sz="2000" dirty="0" err="1"/>
              <a:t>i</a:t>
            </a:r>
            <a:r>
              <a:rPr kumimoji="0" lang="en-US" altLang="en-US" sz="2000" dirty="0"/>
              <a:t>                     j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562600" y="2895600"/>
            <a:ext cx="3532188" cy="2308225"/>
          </a:xfrm>
          <a:prstGeom prst="rect">
            <a:avLst/>
          </a:prstGeom>
          <a:solidFill>
            <a:srgbClr val="CCECFF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>
            <a:lvl1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kumimoji="0" lang="en-US" altLang="en-US" sz="1600" dirty="0"/>
              <a:t>PARTITION(A, p, r)</a:t>
            </a:r>
          </a:p>
          <a:p>
            <a:pPr marL="457200" indent="-457200">
              <a:buFontTx/>
              <a:buAutoNum type="arabicPeriod"/>
              <a:defRPr/>
            </a:pPr>
            <a:r>
              <a:rPr kumimoji="0" lang="en-US" altLang="en-US" sz="1600" dirty="0"/>
              <a:t>x = A[r]</a:t>
            </a:r>
          </a:p>
          <a:p>
            <a:pPr>
              <a:defRPr/>
            </a:pPr>
            <a:r>
              <a:rPr kumimoji="0" lang="en-US" altLang="en-US" sz="1600" dirty="0"/>
              <a:t>2.	</a:t>
            </a:r>
            <a:r>
              <a:rPr kumimoji="0" lang="en-US" altLang="en-US" sz="1600" dirty="0" err="1"/>
              <a:t>i</a:t>
            </a:r>
            <a:r>
              <a:rPr kumimoji="0" lang="en-US" altLang="en-US" sz="1600" dirty="0"/>
              <a:t> = p-1</a:t>
            </a:r>
          </a:p>
          <a:p>
            <a:pPr>
              <a:defRPr/>
            </a:pPr>
            <a:r>
              <a:rPr kumimoji="0" lang="en-US" altLang="en-US" sz="1600" dirty="0"/>
              <a:t>3.	</a:t>
            </a:r>
            <a:r>
              <a:rPr kumimoji="0" lang="en-US" altLang="en-US" sz="1600" b="1" dirty="0"/>
              <a:t>for</a:t>
            </a:r>
            <a:r>
              <a:rPr kumimoji="0" lang="en-US" altLang="en-US" sz="1600" dirty="0"/>
              <a:t> j = p </a:t>
            </a:r>
            <a:r>
              <a:rPr kumimoji="0" lang="en-US" altLang="en-US" sz="1600" b="1" dirty="0"/>
              <a:t>to </a:t>
            </a:r>
            <a:r>
              <a:rPr kumimoji="0" lang="en-US" altLang="en-US" sz="1600" dirty="0"/>
              <a:t>r – 1 </a:t>
            </a:r>
          </a:p>
          <a:p>
            <a:pPr>
              <a:defRPr/>
            </a:pPr>
            <a:r>
              <a:rPr kumimoji="0" lang="en-US" altLang="en-US" sz="1600" dirty="0"/>
              <a:t>4.		</a:t>
            </a:r>
            <a:r>
              <a:rPr kumimoji="0" lang="en-US" altLang="en-US" sz="1600" b="1" dirty="0">
                <a:sym typeface="Symbol" pitchFamily="18" charset="2"/>
              </a:rPr>
              <a:t>if</a:t>
            </a:r>
            <a:r>
              <a:rPr kumimoji="0" lang="en-US" altLang="en-US" sz="1600" dirty="0">
                <a:sym typeface="Symbol" pitchFamily="18" charset="2"/>
              </a:rPr>
              <a:t> A[j]    x </a:t>
            </a:r>
          </a:p>
          <a:p>
            <a:pPr>
              <a:defRPr/>
            </a:pPr>
            <a:r>
              <a:rPr kumimoji="0" lang="en-US" altLang="en-US" sz="1600" dirty="0">
                <a:sym typeface="Symbol" pitchFamily="18" charset="2"/>
              </a:rPr>
              <a:t>5.			</a:t>
            </a:r>
            <a:r>
              <a:rPr kumimoji="0" lang="en-US" altLang="en-US" sz="1600" dirty="0" err="1">
                <a:sym typeface="Symbol" pitchFamily="18" charset="2"/>
              </a:rPr>
              <a:t>i</a:t>
            </a:r>
            <a:r>
              <a:rPr kumimoji="0" lang="en-US" altLang="en-US" sz="1600" dirty="0">
                <a:sym typeface="Symbol" pitchFamily="18" charset="2"/>
              </a:rPr>
              <a:t> = </a:t>
            </a:r>
            <a:r>
              <a:rPr kumimoji="0" lang="en-US" altLang="en-US" sz="1600" dirty="0" err="1">
                <a:sym typeface="Symbol" pitchFamily="18" charset="2"/>
              </a:rPr>
              <a:t>i</a:t>
            </a:r>
            <a:r>
              <a:rPr kumimoji="0" lang="en-US" altLang="en-US" sz="1600" dirty="0">
                <a:sym typeface="Symbol" pitchFamily="18" charset="2"/>
              </a:rPr>
              <a:t> + 1</a:t>
            </a:r>
          </a:p>
          <a:p>
            <a:pPr>
              <a:defRPr/>
            </a:pPr>
            <a:r>
              <a:rPr kumimoji="0" lang="en-US" altLang="en-US" sz="1600" dirty="0">
                <a:sym typeface="Symbol" pitchFamily="18" charset="2"/>
              </a:rPr>
              <a:t>6.               	exchange A[</a:t>
            </a:r>
            <a:r>
              <a:rPr kumimoji="0" lang="en-US" altLang="en-US" sz="1600" dirty="0" err="1">
                <a:sym typeface="Symbol" pitchFamily="18" charset="2"/>
              </a:rPr>
              <a:t>i</a:t>
            </a:r>
            <a:r>
              <a:rPr kumimoji="0" lang="en-US" altLang="en-US" sz="1600" dirty="0">
                <a:sym typeface="Symbol" pitchFamily="18" charset="2"/>
              </a:rPr>
              <a:t>] with A[j]</a:t>
            </a:r>
          </a:p>
          <a:p>
            <a:pPr>
              <a:defRPr/>
            </a:pPr>
            <a:r>
              <a:rPr kumimoji="0" lang="en-US" altLang="en-US" sz="1600" dirty="0">
                <a:sym typeface="Symbol" pitchFamily="18" charset="2"/>
              </a:rPr>
              <a:t>7.    exchange  A[</a:t>
            </a:r>
            <a:r>
              <a:rPr kumimoji="0" lang="en-US" altLang="en-US" sz="1600" dirty="0" err="1">
                <a:sym typeface="Symbol" pitchFamily="18" charset="2"/>
              </a:rPr>
              <a:t>i</a:t>
            </a:r>
            <a:r>
              <a:rPr kumimoji="0" lang="en-US" altLang="en-US" sz="1600" dirty="0">
                <a:sym typeface="Symbol" pitchFamily="18" charset="2"/>
              </a:rPr>
              <a:t> + 1] with A[r]</a:t>
            </a:r>
          </a:p>
          <a:p>
            <a:pPr>
              <a:defRPr/>
            </a:pPr>
            <a:r>
              <a:rPr kumimoji="0" lang="en-US" altLang="en-US" sz="1600" dirty="0">
                <a:sym typeface="Symbol" pitchFamily="18" charset="2"/>
              </a:rPr>
              <a:t>8.	</a:t>
            </a:r>
            <a:r>
              <a:rPr kumimoji="0" lang="en-US" altLang="en-US" sz="1600" b="1" dirty="0">
                <a:sym typeface="Symbol" pitchFamily="18" charset="2"/>
              </a:rPr>
              <a:t>return</a:t>
            </a:r>
            <a:r>
              <a:rPr kumimoji="0" lang="en-US" altLang="en-US" sz="1600" dirty="0">
                <a:sym typeface="Symbol" pitchFamily="18" charset="2"/>
              </a:rPr>
              <a:t> </a:t>
            </a:r>
            <a:r>
              <a:rPr kumimoji="0" lang="en-US" altLang="en-US" sz="1600" dirty="0" err="1">
                <a:sym typeface="Symbol" pitchFamily="18" charset="2"/>
              </a:rPr>
              <a:t>i</a:t>
            </a:r>
            <a:r>
              <a:rPr kumimoji="0" lang="en-US" altLang="en-US" sz="1600" dirty="0">
                <a:sym typeface="Symbol" pitchFamily="18" charset="2"/>
              </a:rPr>
              <a:t> + 1</a:t>
            </a:r>
          </a:p>
        </p:txBody>
      </p:sp>
    </p:spTree>
    <p:extLst>
      <p:ext uri="{BB962C8B-B14F-4D97-AF65-F5344CB8AC3E}">
        <p14:creationId xmlns:p14="http://schemas.microsoft.com/office/powerpoint/2010/main" val="3819643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79475" y="171450"/>
            <a:ext cx="5978525" cy="514350"/>
          </a:xfrm>
        </p:spPr>
        <p:txBody>
          <a:bodyPr>
            <a:normAutofit/>
          </a:bodyPr>
          <a:lstStyle/>
          <a:p>
            <a:pPr algn="ctr"/>
            <a:r>
              <a:rPr lang="en-US" altLang="en-US" u="sng" dirty="0"/>
              <a:t>Partitioning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981383"/>
            <a:ext cx="8458200" cy="4247317"/>
          </a:xfrm>
        </p:spPr>
        <p:txBody>
          <a:bodyPr/>
          <a:lstStyle/>
          <a:p>
            <a:pPr marL="609600" indent="-609600" algn="just"/>
            <a:endParaRPr lang="en-US" altLang="en-US" sz="2800" dirty="0"/>
          </a:p>
          <a:p>
            <a:pPr marL="609600" indent="-609600" algn="just"/>
            <a:r>
              <a:rPr lang="en-US" altLang="en-US" sz="2800" dirty="0"/>
              <a:t>Select the </a:t>
            </a:r>
            <a:r>
              <a:rPr lang="en-US" altLang="en-US" sz="2800" dirty="0">
                <a:solidFill>
                  <a:srgbClr val="CC3300"/>
                </a:solidFill>
              </a:rPr>
              <a:t>last element</a:t>
            </a:r>
            <a:r>
              <a:rPr lang="en-US" altLang="en-US" sz="2800" dirty="0"/>
              <a:t> A[</a:t>
            </a:r>
            <a:r>
              <a:rPr lang="en-US" altLang="en-US" sz="2800" i="1" dirty="0"/>
              <a:t>r</a:t>
            </a:r>
            <a:r>
              <a:rPr lang="en-US" altLang="en-US" sz="2800" dirty="0"/>
              <a:t>] in the </a:t>
            </a:r>
            <a:r>
              <a:rPr lang="en-US" altLang="en-US" sz="2800" dirty="0" err="1"/>
              <a:t>subarray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[</a:t>
            </a:r>
            <a:r>
              <a:rPr lang="en-US" altLang="en-US" sz="2800" i="1" dirty="0" err="1"/>
              <a:t>p</a:t>
            </a:r>
            <a:r>
              <a:rPr lang="en-US" altLang="en-US" sz="2800" dirty="0" err="1"/>
              <a:t>..</a:t>
            </a:r>
            <a:r>
              <a:rPr lang="en-US" altLang="en-US" sz="2800" i="1" dirty="0" err="1"/>
              <a:t>r</a:t>
            </a:r>
            <a:r>
              <a:rPr lang="en-US" altLang="en-US" sz="2800" dirty="0"/>
              <a:t>] as the </a:t>
            </a:r>
            <a:r>
              <a:rPr lang="en-US" altLang="en-US" sz="2800" i="1" dirty="0">
                <a:solidFill>
                  <a:schemeClr val="hlink"/>
                </a:solidFill>
              </a:rPr>
              <a:t>pivot</a:t>
            </a:r>
            <a:r>
              <a:rPr lang="en-US" altLang="en-US" sz="2800" dirty="0">
                <a:solidFill>
                  <a:schemeClr val="hlink"/>
                </a:solidFill>
              </a:rPr>
              <a:t> </a:t>
            </a:r>
            <a:r>
              <a:rPr lang="en-US" altLang="en-US" sz="2800" dirty="0"/>
              <a:t>– the element around which to partition.</a:t>
            </a:r>
          </a:p>
          <a:p>
            <a:pPr marL="609600" indent="-609600" algn="just"/>
            <a:r>
              <a:rPr lang="en-US" altLang="en-US" sz="2800" dirty="0"/>
              <a:t>As the procedure executes, the array is partitioned into four (possibly empty) regions.</a:t>
            </a:r>
          </a:p>
          <a:p>
            <a:pPr marL="990600" lvl="1" indent="-533400" algn="just">
              <a:spcBef>
                <a:spcPts val="1200"/>
              </a:spcBef>
              <a:buFontTx/>
              <a:buAutoNum type="arabicPeriod"/>
            </a:pPr>
            <a:r>
              <a:rPr lang="en-US" altLang="en-US" sz="2400" i="1" dirty="0">
                <a:solidFill>
                  <a:srgbClr val="CC3300"/>
                </a:solidFill>
              </a:rPr>
              <a:t>A</a:t>
            </a:r>
            <a:r>
              <a:rPr lang="en-US" altLang="en-US" sz="2400" dirty="0">
                <a:solidFill>
                  <a:srgbClr val="CC3300"/>
                </a:solidFill>
              </a:rPr>
              <a:t>[</a:t>
            </a:r>
            <a:r>
              <a:rPr lang="en-US" altLang="en-US" sz="2400" i="1" dirty="0">
                <a:solidFill>
                  <a:srgbClr val="CC3300"/>
                </a:solidFill>
              </a:rPr>
              <a:t>p</a:t>
            </a:r>
            <a:r>
              <a:rPr lang="en-US" altLang="en-US" sz="2400" dirty="0">
                <a:solidFill>
                  <a:srgbClr val="CC3300"/>
                </a:solidFill>
              </a:rPr>
              <a:t>..</a:t>
            </a:r>
            <a:r>
              <a:rPr lang="en-US" altLang="en-US" sz="2400" i="1" dirty="0" err="1">
                <a:solidFill>
                  <a:srgbClr val="CC3300"/>
                </a:solidFill>
              </a:rPr>
              <a:t>i</a:t>
            </a:r>
            <a:r>
              <a:rPr lang="en-US" altLang="en-US" sz="2400" dirty="0">
                <a:solidFill>
                  <a:srgbClr val="CC3300"/>
                </a:solidFill>
              </a:rPr>
              <a:t>]</a:t>
            </a:r>
            <a:r>
              <a:rPr lang="en-US" altLang="en-US" sz="2400" dirty="0"/>
              <a:t> — All entries in this region are </a:t>
            </a:r>
            <a:r>
              <a:rPr lang="en-US" altLang="en-US" sz="2000" b="1" dirty="0">
                <a:solidFill>
                  <a:srgbClr val="CC3300"/>
                </a:solidFill>
                <a:sym typeface="Symbol" panose="05050102010706020507" pitchFamily="18" charset="2"/>
              </a:rPr>
              <a:t> </a:t>
            </a:r>
            <a:r>
              <a:rPr lang="en-US" altLang="en-US" sz="2000" b="1" i="1" dirty="0">
                <a:solidFill>
                  <a:srgbClr val="CC3300"/>
                </a:solidFill>
                <a:sym typeface="Symbol" panose="05050102010706020507" pitchFamily="18" charset="2"/>
              </a:rPr>
              <a:t>pivot</a:t>
            </a:r>
            <a:r>
              <a:rPr lang="en-US" altLang="en-US" sz="2000" dirty="0">
                <a:sym typeface="Symbol" panose="05050102010706020507" pitchFamily="18" charset="2"/>
              </a:rPr>
              <a:t>.</a:t>
            </a:r>
            <a:r>
              <a:rPr lang="en-US" altLang="en-US" sz="2400" dirty="0"/>
              <a:t> </a:t>
            </a:r>
          </a:p>
          <a:p>
            <a:pPr marL="990600" lvl="1" indent="-533400" algn="just">
              <a:spcBef>
                <a:spcPts val="1200"/>
              </a:spcBef>
              <a:buFontTx/>
              <a:buAutoNum type="arabicPeriod"/>
            </a:pPr>
            <a:r>
              <a:rPr lang="en-US" altLang="en-US" sz="2400" i="1" dirty="0">
                <a:solidFill>
                  <a:srgbClr val="CC3300"/>
                </a:solidFill>
              </a:rPr>
              <a:t>A</a:t>
            </a:r>
            <a:r>
              <a:rPr lang="en-US" altLang="en-US" sz="2400" dirty="0">
                <a:solidFill>
                  <a:srgbClr val="CC3300"/>
                </a:solidFill>
              </a:rPr>
              <a:t>[</a:t>
            </a:r>
            <a:r>
              <a:rPr lang="en-US" altLang="en-US" sz="2400" i="1" dirty="0">
                <a:solidFill>
                  <a:srgbClr val="CC3300"/>
                </a:solidFill>
              </a:rPr>
              <a:t>i</a:t>
            </a:r>
            <a:r>
              <a:rPr lang="en-US" altLang="en-US" sz="2400" dirty="0">
                <a:solidFill>
                  <a:srgbClr val="CC3300"/>
                </a:solidFill>
              </a:rPr>
              <a:t>+1..</a:t>
            </a:r>
            <a:r>
              <a:rPr lang="en-US" altLang="en-US" sz="2400" i="1" dirty="0">
                <a:solidFill>
                  <a:srgbClr val="CC3300"/>
                </a:solidFill>
              </a:rPr>
              <a:t>j – </a:t>
            </a:r>
            <a:r>
              <a:rPr lang="en-US" altLang="en-US" sz="2400" dirty="0">
                <a:solidFill>
                  <a:srgbClr val="CC3300"/>
                </a:solidFill>
              </a:rPr>
              <a:t>1]</a:t>
            </a:r>
            <a:r>
              <a:rPr lang="en-US" altLang="en-US" sz="2400" dirty="0"/>
              <a:t> — All entries in this region are </a:t>
            </a:r>
            <a:r>
              <a:rPr lang="en-US" altLang="en-US" sz="2000" b="1" dirty="0">
                <a:solidFill>
                  <a:srgbClr val="CC3300"/>
                </a:solidFill>
                <a:sym typeface="Symbol" panose="05050102010706020507" pitchFamily="18" charset="2"/>
              </a:rPr>
              <a:t>&gt;  </a:t>
            </a:r>
            <a:r>
              <a:rPr lang="en-US" altLang="en-US" sz="2000" b="1" i="1" dirty="0">
                <a:solidFill>
                  <a:srgbClr val="CC3300"/>
                </a:solidFill>
                <a:sym typeface="Symbol" panose="05050102010706020507" pitchFamily="18" charset="2"/>
              </a:rPr>
              <a:t>pivot</a:t>
            </a:r>
            <a:r>
              <a:rPr lang="en-US" altLang="en-US" sz="2000" dirty="0">
                <a:sym typeface="Symbol" panose="05050102010706020507" pitchFamily="18" charset="2"/>
              </a:rPr>
              <a:t>.</a:t>
            </a:r>
            <a:endParaRPr lang="en-US" altLang="en-US" sz="2400" dirty="0"/>
          </a:p>
          <a:p>
            <a:pPr marL="990600" lvl="1" indent="-533400" algn="just">
              <a:spcBef>
                <a:spcPts val="1200"/>
              </a:spcBef>
              <a:buFontTx/>
              <a:buAutoNum type="arabicPeriod"/>
            </a:pPr>
            <a:r>
              <a:rPr lang="en-US" altLang="en-US" sz="2400" i="1" dirty="0">
                <a:solidFill>
                  <a:srgbClr val="CC3300"/>
                </a:solidFill>
              </a:rPr>
              <a:t>A</a:t>
            </a:r>
            <a:r>
              <a:rPr lang="en-US" altLang="en-US" sz="2400" dirty="0">
                <a:solidFill>
                  <a:srgbClr val="CC3300"/>
                </a:solidFill>
              </a:rPr>
              <a:t>[</a:t>
            </a:r>
            <a:r>
              <a:rPr lang="en-US" altLang="en-US" sz="2400" i="1" dirty="0">
                <a:solidFill>
                  <a:srgbClr val="CC3300"/>
                </a:solidFill>
              </a:rPr>
              <a:t>r</a:t>
            </a:r>
            <a:r>
              <a:rPr lang="en-US" altLang="en-US" sz="2400" dirty="0">
                <a:solidFill>
                  <a:srgbClr val="CC3300"/>
                </a:solidFill>
              </a:rPr>
              <a:t>] = </a:t>
            </a:r>
            <a:r>
              <a:rPr lang="en-US" altLang="en-US" sz="2400" i="1" dirty="0">
                <a:solidFill>
                  <a:srgbClr val="CC3300"/>
                </a:solidFill>
              </a:rPr>
              <a:t>pivot</a:t>
            </a:r>
            <a:r>
              <a:rPr lang="en-US" altLang="en-US" sz="2400" dirty="0"/>
              <a:t>.</a:t>
            </a:r>
          </a:p>
          <a:p>
            <a:pPr marL="990600" lvl="1" indent="-533400" algn="just">
              <a:spcBef>
                <a:spcPts val="1200"/>
              </a:spcBef>
              <a:buFontTx/>
              <a:buAutoNum type="arabicPeriod"/>
            </a:pPr>
            <a:r>
              <a:rPr lang="en-US" altLang="en-US" sz="2400" i="1" dirty="0"/>
              <a:t>A</a:t>
            </a:r>
            <a:r>
              <a:rPr lang="en-US" altLang="en-US" sz="2400" dirty="0"/>
              <a:t>[</a:t>
            </a:r>
            <a:r>
              <a:rPr lang="en-US" altLang="en-US" sz="2400" i="1" dirty="0" err="1"/>
              <a:t>j</a:t>
            </a:r>
            <a:r>
              <a:rPr lang="en-US" altLang="en-US" sz="2400" dirty="0" err="1"/>
              <a:t>..</a:t>
            </a:r>
            <a:r>
              <a:rPr lang="en-US" altLang="en-US" sz="2400" i="1" dirty="0" err="1"/>
              <a:t>r</a:t>
            </a:r>
            <a:r>
              <a:rPr lang="en-US" altLang="en-US" sz="2400" i="1" dirty="0"/>
              <a:t> – </a:t>
            </a:r>
            <a:r>
              <a:rPr lang="en-US" altLang="en-US" sz="2400" dirty="0"/>
              <a:t>1] — Not known how they compare to </a:t>
            </a:r>
            <a:r>
              <a:rPr lang="en-US" altLang="en-US" sz="2400" i="1" dirty="0"/>
              <a:t>pivot</a:t>
            </a:r>
            <a:r>
              <a:rPr lang="en-US" alt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06873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1308" y="4277867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0763" y="4306823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32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60"/>
              </a:spcBef>
            </a:pPr>
            <a:r>
              <a:rPr sz="3200" b="1" spc="-10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47544" y="432054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27576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u="sng" spc="-800" dirty="0">
                <a:latin typeface="Times New Roman"/>
                <a:cs typeface="Times New Roman"/>
              </a:rPr>
              <a:t> </a:t>
            </a:r>
            <a:r>
              <a:rPr u="sng" spc="-25" dirty="0"/>
              <a:t>Hoare’s </a:t>
            </a:r>
            <a:r>
              <a:rPr u="sng" dirty="0"/>
              <a:t>Quicksort</a:t>
            </a:r>
            <a:r>
              <a:rPr u="sng" spc="-65" dirty="0"/>
              <a:t> </a:t>
            </a:r>
            <a:r>
              <a:rPr u="sng"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1064768"/>
            <a:ext cx="9779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779270" y="5013197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1" y="142494"/>
                </a:moveTo>
                <a:lnTo>
                  <a:pt x="71247" y="142494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4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4"/>
                </a:lnTo>
                <a:lnTo>
                  <a:pt x="284988" y="142494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79270" y="5013197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4"/>
                </a:moveTo>
                <a:lnTo>
                  <a:pt x="213741" y="142494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4"/>
                </a:lnTo>
                <a:lnTo>
                  <a:pt x="0" y="142494"/>
                </a:lnTo>
                <a:lnTo>
                  <a:pt x="142494" y="0"/>
                </a:lnTo>
                <a:lnTo>
                  <a:pt x="284988" y="1424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6106" y="2212085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3"/>
                </a:moveTo>
                <a:lnTo>
                  <a:pt x="10200" y="79295"/>
                </a:lnTo>
                <a:lnTo>
                  <a:pt x="38017" y="38036"/>
                </a:lnTo>
                <a:lnTo>
                  <a:pt x="79274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3"/>
                </a:lnTo>
                <a:lnTo>
                  <a:pt x="2971800" y="648969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74" y="768556"/>
                </a:lnTo>
                <a:lnTo>
                  <a:pt x="38017" y="740727"/>
                </a:lnTo>
                <a:lnTo>
                  <a:pt x="10200" y="699468"/>
                </a:lnTo>
                <a:lnTo>
                  <a:pt x="0" y="648969"/>
                </a:lnTo>
                <a:lnTo>
                  <a:pt x="0" y="1297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427225" y="2228850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40" h="1524000">
                <a:moveTo>
                  <a:pt x="129540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40" y="1459230"/>
                </a:lnTo>
                <a:close/>
              </a:path>
              <a:path w="129540" h="1524000">
                <a:moveTo>
                  <a:pt x="97155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5" y="1459230"/>
                </a:lnTo>
                <a:lnTo>
                  <a:pt x="97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427225" y="2228850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40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5" y="0"/>
                </a:lnTo>
                <a:lnTo>
                  <a:pt x="97155" y="1459230"/>
                </a:lnTo>
                <a:lnTo>
                  <a:pt x="129540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85672" y="2304288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37236" y="2117808"/>
            <a:ext cx="1065530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6034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16151" y="2110485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796794" y="482854"/>
            <a:ext cx="6099810" cy="1724660"/>
          </a:xfrm>
          <a:custGeom>
            <a:avLst/>
            <a:gdLst/>
            <a:ahLst/>
            <a:cxnLst/>
            <a:rect l="l" t="t" r="r" b="b"/>
            <a:pathLst>
              <a:path w="6099809" h="1724660">
                <a:moveTo>
                  <a:pt x="5858256" y="276860"/>
                </a:moveTo>
                <a:lnTo>
                  <a:pt x="685292" y="276860"/>
                </a:lnTo>
                <a:lnTo>
                  <a:pt x="636674" y="281764"/>
                </a:lnTo>
                <a:lnTo>
                  <a:pt x="591385" y="295828"/>
                </a:lnTo>
                <a:lnTo>
                  <a:pt x="550397" y="318081"/>
                </a:lnTo>
                <a:lnTo>
                  <a:pt x="514683" y="347551"/>
                </a:lnTo>
                <a:lnTo>
                  <a:pt x="485213" y="383265"/>
                </a:lnTo>
                <a:lnTo>
                  <a:pt x="462960" y="424253"/>
                </a:lnTo>
                <a:lnTo>
                  <a:pt x="448896" y="469542"/>
                </a:lnTo>
                <a:lnTo>
                  <a:pt x="443992" y="518160"/>
                </a:lnTo>
                <a:lnTo>
                  <a:pt x="443992" y="1483360"/>
                </a:lnTo>
                <a:lnTo>
                  <a:pt x="448896" y="1531977"/>
                </a:lnTo>
                <a:lnTo>
                  <a:pt x="462960" y="1577266"/>
                </a:lnTo>
                <a:lnTo>
                  <a:pt x="485213" y="1618254"/>
                </a:lnTo>
                <a:lnTo>
                  <a:pt x="514683" y="1653968"/>
                </a:lnTo>
                <a:lnTo>
                  <a:pt x="550397" y="1683438"/>
                </a:lnTo>
                <a:lnTo>
                  <a:pt x="591385" y="1705691"/>
                </a:lnTo>
                <a:lnTo>
                  <a:pt x="636674" y="1719755"/>
                </a:lnTo>
                <a:lnTo>
                  <a:pt x="685292" y="1724660"/>
                </a:lnTo>
                <a:lnTo>
                  <a:pt x="5858256" y="1724660"/>
                </a:lnTo>
                <a:lnTo>
                  <a:pt x="5906873" y="1719755"/>
                </a:lnTo>
                <a:lnTo>
                  <a:pt x="5952162" y="1705691"/>
                </a:lnTo>
                <a:lnTo>
                  <a:pt x="5993150" y="1683438"/>
                </a:lnTo>
                <a:lnTo>
                  <a:pt x="6028864" y="1653968"/>
                </a:lnTo>
                <a:lnTo>
                  <a:pt x="6058334" y="1618254"/>
                </a:lnTo>
                <a:lnTo>
                  <a:pt x="6080587" y="1577266"/>
                </a:lnTo>
                <a:lnTo>
                  <a:pt x="6094651" y="1531977"/>
                </a:lnTo>
                <a:lnTo>
                  <a:pt x="6099556" y="1483360"/>
                </a:lnTo>
                <a:lnTo>
                  <a:pt x="6099556" y="518160"/>
                </a:lnTo>
                <a:lnTo>
                  <a:pt x="6094651" y="469542"/>
                </a:lnTo>
                <a:lnTo>
                  <a:pt x="6080587" y="424253"/>
                </a:lnTo>
                <a:lnTo>
                  <a:pt x="6058334" y="383265"/>
                </a:lnTo>
                <a:lnTo>
                  <a:pt x="6028864" y="347551"/>
                </a:lnTo>
                <a:lnTo>
                  <a:pt x="5993150" y="318081"/>
                </a:lnTo>
                <a:lnTo>
                  <a:pt x="5952162" y="295828"/>
                </a:lnTo>
                <a:lnTo>
                  <a:pt x="5906873" y="281764"/>
                </a:lnTo>
                <a:lnTo>
                  <a:pt x="5858256" y="276860"/>
                </a:lnTo>
                <a:close/>
              </a:path>
              <a:path w="6099809" h="1724660">
                <a:moveTo>
                  <a:pt x="0" y="0"/>
                </a:moveTo>
                <a:lnTo>
                  <a:pt x="1386585" y="276860"/>
                </a:lnTo>
                <a:lnTo>
                  <a:pt x="2800477" y="27686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796794" y="482854"/>
            <a:ext cx="6099810" cy="1724660"/>
          </a:xfrm>
          <a:custGeom>
            <a:avLst/>
            <a:gdLst/>
            <a:ahLst/>
            <a:cxnLst/>
            <a:rect l="l" t="t" r="r" b="b"/>
            <a:pathLst>
              <a:path w="6099809" h="1724660">
                <a:moveTo>
                  <a:pt x="443992" y="518160"/>
                </a:moveTo>
                <a:lnTo>
                  <a:pt x="448896" y="469542"/>
                </a:lnTo>
                <a:lnTo>
                  <a:pt x="462960" y="424253"/>
                </a:lnTo>
                <a:lnTo>
                  <a:pt x="485213" y="383265"/>
                </a:lnTo>
                <a:lnTo>
                  <a:pt x="514683" y="347551"/>
                </a:lnTo>
                <a:lnTo>
                  <a:pt x="550397" y="318081"/>
                </a:lnTo>
                <a:lnTo>
                  <a:pt x="591385" y="295828"/>
                </a:lnTo>
                <a:lnTo>
                  <a:pt x="636674" y="281764"/>
                </a:lnTo>
                <a:lnTo>
                  <a:pt x="685292" y="276860"/>
                </a:lnTo>
                <a:lnTo>
                  <a:pt x="1386585" y="276860"/>
                </a:lnTo>
                <a:lnTo>
                  <a:pt x="0" y="0"/>
                </a:lnTo>
                <a:lnTo>
                  <a:pt x="2800477" y="276860"/>
                </a:lnTo>
                <a:lnTo>
                  <a:pt x="5858256" y="276860"/>
                </a:lnTo>
                <a:lnTo>
                  <a:pt x="5906873" y="281764"/>
                </a:lnTo>
                <a:lnTo>
                  <a:pt x="5952162" y="295828"/>
                </a:lnTo>
                <a:lnTo>
                  <a:pt x="5993150" y="318081"/>
                </a:lnTo>
                <a:lnTo>
                  <a:pt x="6028864" y="347551"/>
                </a:lnTo>
                <a:lnTo>
                  <a:pt x="6058334" y="383265"/>
                </a:lnTo>
                <a:lnTo>
                  <a:pt x="6080587" y="424253"/>
                </a:lnTo>
                <a:lnTo>
                  <a:pt x="6094651" y="469542"/>
                </a:lnTo>
                <a:lnTo>
                  <a:pt x="6099556" y="518160"/>
                </a:lnTo>
                <a:lnTo>
                  <a:pt x="6099556" y="880110"/>
                </a:lnTo>
                <a:lnTo>
                  <a:pt x="6099556" y="1483360"/>
                </a:lnTo>
                <a:lnTo>
                  <a:pt x="6094651" y="1531977"/>
                </a:lnTo>
                <a:lnTo>
                  <a:pt x="6080587" y="1577266"/>
                </a:lnTo>
                <a:lnTo>
                  <a:pt x="6058334" y="1618254"/>
                </a:lnTo>
                <a:lnTo>
                  <a:pt x="6028864" y="1653968"/>
                </a:lnTo>
                <a:lnTo>
                  <a:pt x="5993150" y="1683438"/>
                </a:lnTo>
                <a:lnTo>
                  <a:pt x="5952162" y="1705691"/>
                </a:lnTo>
                <a:lnTo>
                  <a:pt x="5906873" y="1719755"/>
                </a:lnTo>
                <a:lnTo>
                  <a:pt x="5858256" y="1724660"/>
                </a:lnTo>
                <a:lnTo>
                  <a:pt x="2800477" y="1724660"/>
                </a:lnTo>
                <a:lnTo>
                  <a:pt x="1386585" y="1724660"/>
                </a:lnTo>
                <a:lnTo>
                  <a:pt x="685292" y="1724660"/>
                </a:lnTo>
                <a:lnTo>
                  <a:pt x="636674" y="1719755"/>
                </a:lnTo>
                <a:lnTo>
                  <a:pt x="591385" y="1705691"/>
                </a:lnTo>
                <a:lnTo>
                  <a:pt x="550397" y="1683438"/>
                </a:lnTo>
                <a:lnTo>
                  <a:pt x="514683" y="1653968"/>
                </a:lnTo>
                <a:lnTo>
                  <a:pt x="485213" y="1618254"/>
                </a:lnTo>
                <a:lnTo>
                  <a:pt x="462960" y="1577266"/>
                </a:lnTo>
                <a:lnTo>
                  <a:pt x="448896" y="1531977"/>
                </a:lnTo>
                <a:lnTo>
                  <a:pt x="443992" y="1483360"/>
                </a:lnTo>
                <a:lnTo>
                  <a:pt x="443992" y="880110"/>
                </a:lnTo>
                <a:lnTo>
                  <a:pt x="443992" y="518160"/>
                </a:lnTo>
                <a:close/>
              </a:path>
            </a:pathLst>
          </a:custGeom>
          <a:ln w="25907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456813" y="770001"/>
            <a:ext cx="521843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When </a:t>
            </a:r>
            <a:r>
              <a:rPr sz="1800" spc="-10" dirty="0">
                <a:latin typeface="Calibri"/>
                <a:cs typeface="Calibri"/>
              </a:rPr>
              <a:t>researching </a:t>
            </a:r>
            <a:r>
              <a:rPr sz="1800" spc="-5" dirty="0">
                <a:latin typeface="Calibri"/>
                <a:cs typeface="Calibri"/>
              </a:rPr>
              <a:t>Quicksort </a:t>
            </a:r>
            <a:r>
              <a:rPr sz="1800" spc="-10" dirty="0">
                <a:latin typeface="Calibri"/>
                <a:cs typeface="Calibri"/>
              </a:rPr>
              <a:t>you’ll </a:t>
            </a:r>
            <a:r>
              <a:rPr sz="1800" spc="-5" dirty="0">
                <a:latin typeface="Calibri"/>
                <a:cs typeface="Calibri"/>
              </a:rPr>
              <a:t>find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20" dirty="0">
                <a:latin typeface="Calibri"/>
                <a:cs typeface="Calibri"/>
              </a:rPr>
              <a:t>few </a:t>
            </a:r>
            <a:r>
              <a:rPr sz="1800" spc="-15" dirty="0">
                <a:latin typeface="Calibri"/>
                <a:cs typeface="Calibri"/>
              </a:rPr>
              <a:t>different  </a:t>
            </a:r>
            <a:r>
              <a:rPr sz="1800" spc="-5" dirty="0">
                <a:latin typeface="Calibri"/>
                <a:cs typeface="Calibri"/>
              </a:rPr>
              <a:t>popular methods used but they’re </a:t>
            </a:r>
            <a:r>
              <a:rPr sz="1800" dirty="0">
                <a:latin typeface="Calibri"/>
                <a:cs typeface="Calibri"/>
              </a:rPr>
              <a:t>all </a:t>
            </a:r>
            <a:r>
              <a:rPr sz="1800" spc="-5" dirty="0">
                <a:latin typeface="Calibri"/>
                <a:cs typeface="Calibri"/>
              </a:rPr>
              <a:t>basically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same  idea. </a:t>
            </a:r>
            <a:r>
              <a:rPr sz="1800" spc="-10" dirty="0">
                <a:latin typeface="Calibri"/>
                <a:cs typeface="Calibri"/>
              </a:rPr>
              <a:t>Here </a:t>
            </a:r>
            <a:r>
              <a:rPr sz="1800" spc="-20" dirty="0">
                <a:latin typeface="Calibri"/>
                <a:cs typeface="Calibri"/>
              </a:rPr>
              <a:t>we’re </a:t>
            </a:r>
            <a:r>
              <a:rPr sz="1800" spc="-5" dirty="0">
                <a:latin typeface="Calibri"/>
                <a:cs typeface="Calibri"/>
              </a:rPr>
              <a:t>going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5" dirty="0">
                <a:latin typeface="Calibri"/>
                <a:cs typeface="Calibri"/>
              </a:rPr>
              <a:t>look </a:t>
            </a:r>
            <a:r>
              <a:rPr sz="1800" spc="-10" dirty="0">
                <a:latin typeface="Calibri"/>
                <a:cs typeface="Calibri"/>
              </a:rPr>
              <a:t>at </a:t>
            </a:r>
            <a:r>
              <a:rPr sz="1800" spc="-5" dirty="0">
                <a:latin typeface="Calibri"/>
                <a:cs typeface="Calibri"/>
              </a:rPr>
              <a:t>one of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most  </a:t>
            </a:r>
            <a:r>
              <a:rPr sz="1800" spc="-25" dirty="0">
                <a:latin typeface="Calibri"/>
                <a:cs typeface="Calibri"/>
              </a:rPr>
              <a:t>popular, Hoare’s </a:t>
            </a:r>
            <a:r>
              <a:rPr sz="1800" spc="-5" dirty="0">
                <a:latin typeface="Calibri"/>
                <a:cs typeface="Calibri"/>
              </a:rPr>
              <a:t>Quicksort, which puts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Pivot on one  </a:t>
            </a:r>
            <a:r>
              <a:rPr sz="1800" dirty="0">
                <a:latin typeface="Calibri"/>
                <a:cs typeface="Calibri"/>
              </a:rPr>
              <a:t>end and </a:t>
            </a:r>
            <a:r>
              <a:rPr sz="1800" spc="-10" dirty="0">
                <a:latin typeface="Calibri"/>
                <a:cs typeface="Calibri"/>
              </a:rPr>
              <a:t>works </a:t>
            </a:r>
            <a:r>
              <a:rPr sz="1800" spc="-5" dirty="0">
                <a:latin typeface="Calibri"/>
                <a:cs typeface="Calibri"/>
              </a:rPr>
              <a:t>down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list </a:t>
            </a: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array.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1308" y="4277867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0763" y="4306823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32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60"/>
              </a:spcBef>
            </a:pPr>
            <a:r>
              <a:rPr sz="3200" b="1" spc="-10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47544" y="432054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27576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1064768"/>
            <a:ext cx="9779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779270" y="5013197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1" y="142494"/>
                </a:moveTo>
                <a:lnTo>
                  <a:pt x="71247" y="142494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4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4"/>
                </a:lnTo>
                <a:lnTo>
                  <a:pt x="284988" y="142494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79270" y="5013197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4"/>
                </a:moveTo>
                <a:lnTo>
                  <a:pt x="213741" y="142494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4"/>
                </a:lnTo>
                <a:lnTo>
                  <a:pt x="0" y="142494"/>
                </a:lnTo>
                <a:lnTo>
                  <a:pt x="142494" y="0"/>
                </a:lnTo>
                <a:lnTo>
                  <a:pt x="284988" y="1424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542539" y="697230"/>
            <a:ext cx="6450330" cy="1447800"/>
          </a:xfrm>
          <a:custGeom>
            <a:avLst/>
            <a:gdLst/>
            <a:ahLst/>
            <a:cxnLst/>
            <a:rect l="l" t="t" r="r" b="b"/>
            <a:pathLst>
              <a:path w="6450330" h="1447800">
                <a:moveTo>
                  <a:pt x="6208521" y="0"/>
                </a:moveTo>
                <a:lnTo>
                  <a:pt x="1035558" y="0"/>
                </a:lnTo>
                <a:lnTo>
                  <a:pt x="986940" y="4904"/>
                </a:lnTo>
                <a:lnTo>
                  <a:pt x="941651" y="18968"/>
                </a:lnTo>
                <a:lnTo>
                  <a:pt x="900663" y="41221"/>
                </a:lnTo>
                <a:lnTo>
                  <a:pt x="864949" y="70691"/>
                </a:lnTo>
                <a:lnTo>
                  <a:pt x="835479" y="106405"/>
                </a:lnTo>
                <a:lnTo>
                  <a:pt x="813226" y="147393"/>
                </a:lnTo>
                <a:lnTo>
                  <a:pt x="799162" y="192682"/>
                </a:lnTo>
                <a:lnTo>
                  <a:pt x="794258" y="241300"/>
                </a:lnTo>
                <a:lnTo>
                  <a:pt x="0" y="389636"/>
                </a:lnTo>
                <a:lnTo>
                  <a:pt x="794258" y="603250"/>
                </a:lnTo>
                <a:lnTo>
                  <a:pt x="794258" y="1206500"/>
                </a:lnTo>
                <a:lnTo>
                  <a:pt x="799162" y="1255117"/>
                </a:lnTo>
                <a:lnTo>
                  <a:pt x="813226" y="1300406"/>
                </a:lnTo>
                <a:lnTo>
                  <a:pt x="835479" y="1341394"/>
                </a:lnTo>
                <a:lnTo>
                  <a:pt x="864949" y="1377108"/>
                </a:lnTo>
                <a:lnTo>
                  <a:pt x="900663" y="1406578"/>
                </a:lnTo>
                <a:lnTo>
                  <a:pt x="941651" y="1428831"/>
                </a:lnTo>
                <a:lnTo>
                  <a:pt x="986940" y="1442895"/>
                </a:lnTo>
                <a:lnTo>
                  <a:pt x="1035558" y="1447800"/>
                </a:lnTo>
                <a:lnTo>
                  <a:pt x="6208521" y="1447800"/>
                </a:lnTo>
                <a:lnTo>
                  <a:pt x="6257139" y="1442895"/>
                </a:lnTo>
                <a:lnTo>
                  <a:pt x="6302428" y="1428831"/>
                </a:lnTo>
                <a:lnTo>
                  <a:pt x="6343416" y="1406578"/>
                </a:lnTo>
                <a:lnTo>
                  <a:pt x="6379130" y="1377108"/>
                </a:lnTo>
                <a:lnTo>
                  <a:pt x="6408600" y="1341394"/>
                </a:lnTo>
                <a:lnTo>
                  <a:pt x="6430853" y="1300406"/>
                </a:lnTo>
                <a:lnTo>
                  <a:pt x="6444917" y="1255117"/>
                </a:lnTo>
                <a:lnTo>
                  <a:pt x="6449821" y="1206500"/>
                </a:lnTo>
                <a:lnTo>
                  <a:pt x="6449821" y="241300"/>
                </a:lnTo>
                <a:lnTo>
                  <a:pt x="6444917" y="192682"/>
                </a:lnTo>
                <a:lnTo>
                  <a:pt x="6430853" y="147393"/>
                </a:lnTo>
                <a:lnTo>
                  <a:pt x="6408600" y="106405"/>
                </a:lnTo>
                <a:lnTo>
                  <a:pt x="6379130" y="70691"/>
                </a:lnTo>
                <a:lnTo>
                  <a:pt x="6343416" y="41221"/>
                </a:lnTo>
                <a:lnTo>
                  <a:pt x="6302428" y="18968"/>
                </a:lnTo>
                <a:lnTo>
                  <a:pt x="6257139" y="4904"/>
                </a:lnTo>
                <a:lnTo>
                  <a:pt x="620852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542539" y="697230"/>
            <a:ext cx="6450330" cy="1447800"/>
          </a:xfrm>
          <a:custGeom>
            <a:avLst/>
            <a:gdLst/>
            <a:ahLst/>
            <a:cxnLst/>
            <a:rect l="l" t="t" r="r" b="b"/>
            <a:pathLst>
              <a:path w="6450330" h="1447800">
                <a:moveTo>
                  <a:pt x="794258" y="241300"/>
                </a:moveTo>
                <a:lnTo>
                  <a:pt x="799162" y="192682"/>
                </a:lnTo>
                <a:lnTo>
                  <a:pt x="813226" y="147393"/>
                </a:lnTo>
                <a:lnTo>
                  <a:pt x="835479" y="106405"/>
                </a:lnTo>
                <a:lnTo>
                  <a:pt x="864949" y="70691"/>
                </a:lnTo>
                <a:lnTo>
                  <a:pt x="900663" y="41221"/>
                </a:lnTo>
                <a:lnTo>
                  <a:pt x="941651" y="18968"/>
                </a:lnTo>
                <a:lnTo>
                  <a:pt x="986940" y="4904"/>
                </a:lnTo>
                <a:lnTo>
                  <a:pt x="1035558" y="0"/>
                </a:lnTo>
                <a:lnTo>
                  <a:pt x="1736852" y="0"/>
                </a:lnTo>
                <a:lnTo>
                  <a:pt x="3150743" y="0"/>
                </a:lnTo>
                <a:lnTo>
                  <a:pt x="6208521" y="0"/>
                </a:lnTo>
                <a:lnTo>
                  <a:pt x="6257139" y="4904"/>
                </a:lnTo>
                <a:lnTo>
                  <a:pt x="6302428" y="18968"/>
                </a:lnTo>
                <a:lnTo>
                  <a:pt x="6343416" y="41221"/>
                </a:lnTo>
                <a:lnTo>
                  <a:pt x="6379130" y="70691"/>
                </a:lnTo>
                <a:lnTo>
                  <a:pt x="6408600" y="106405"/>
                </a:lnTo>
                <a:lnTo>
                  <a:pt x="6430853" y="147393"/>
                </a:lnTo>
                <a:lnTo>
                  <a:pt x="6444917" y="192682"/>
                </a:lnTo>
                <a:lnTo>
                  <a:pt x="6449821" y="241300"/>
                </a:lnTo>
                <a:lnTo>
                  <a:pt x="6449821" y="603250"/>
                </a:lnTo>
                <a:lnTo>
                  <a:pt x="6449821" y="1206500"/>
                </a:lnTo>
                <a:lnTo>
                  <a:pt x="6444917" y="1255117"/>
                </a:lnTo>
                <a:lnTo>
                  <a:pt x="6430853" y="1300406"/>
                </a:lnTo>
                <a:lnTo>
                  <a:pt x="6408600" y="1341394"/>
                </a:lnTo>
                <a:lnTo>
                  <a:pt x="6379130" y="1377108"/>
                </a:lnTo>
                <a:lnTo>
                  <a:pt x="6343416" y="1406578"/>
                </a:lnTo>
                <a:lnTo>
                  <a:pt x="6302428" y="1428831"/>
                </a:lnTo>
                <a:lnTo>
                  <a:pt x="6257139" y="1442895"/>
                </a:lnTo>
                <a:lnTo>
                  <a:pt x="6208521" y="1447800"/>
                </a:lnTo>
                <a:lnTo>
                  <a:pt x="3150743" y="1447800"/>
                </a:lnTo>
                <a:lnTo>
                  <a:pt x="1736852" y="1447800"/>
                </a:lnTo>
                <a:lnTo>
                  <a:pt x="1035558" y="1447800"/>
                </a:lnTo>
                <a:lnTo>
                  <a:pt x="986940" y="1442895"/>
                </a:lnTo>
                <a:lnTo>
                  <a:pt x="941651" y="1428831"/>
                </a:lnTo>
                <a:lnTo>
                  <a:pt x="900663" y="1406578"/>
                </a:lnTo>
                <a:lnTo>
                  <a:pt x="864949" y="1377108"/>
                </a:lnTo>
                <a:lnTo>
                  <a:pt x="835479" y="1341394"/>
                </a:lnTo>
                <a:lnTo>
                  <a:pt x="813226" y="1300406"/>
                </a:lnTo>
                <a:lnTo>
                  <a:pt x="799162" y="1255117"/>
                </a:lnTo>
                <a:lnTo>
                  <a:pt x="794258" y="1206500"/>
                </a:lnTo>
                <a:lnTo>
                  <a:pt x="794258" y="603250"/>
                </a:lnTo>
                <a:lnTo>
                  <a:pt x="0" y="389636"/>
                </a:lnTo>
                <a:lnTo>
                  <a:pt x="794258" y="241300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597402" y="981583"/>
            <a:ext cx="51308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All 4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these </a:t>
            </a:r>
            <a:r>
              <a:rPr sz="1800" spc="-5" dirty="0">
                <a:latin typeface="Calibri"/>
                <a:cs typeface="Calibri"/>
              </a:rPr>
              <a:t>bullet points that </a:t>
            </a:r>
            <a:r>
              <a:rPr sz="1800" spc="-10" dirty="0">
                <a:latin typeface="Calibri"/>
                <a:cs typeface="Calibri"/>
              </a:rPr>
              <a:t>you </a:t>
            </a:r>
            <a:r>
              <a:rPr sz="1800" dirty="0">
                <a:latin typeface="Calibri"/>
                <a:cs typeface="Calibri"/>
              </a:rPr>
              <a:t>see </a:t>
            </a:r>
            <a:r>
              <a:rPr sz="1800" spc="-10" dirty="0">
                <a:latin typeface="Calibri"/>
                <a:cs typeface="Calibri"/>
              </a:rPr>
              <a:t>here are </a:t>
            </a:r>
            <a:r>
              <a:rPr sz="1800" dirty="0">
                <a:latin typeface="Calibri"/>
                <a:cs typeface="Calibri"/>
              </a:rPr>
              <a:t>the  </a:t>
            </a:r>
            <a:r>
              <a:rPr sz="1800" spc="-5" dirty="0">
                <a:latin typeface="Calibri"/>
                <a:cs typeface="Calibri"/>
              </a:rPr>
              <a:t>basic rules, or </a:t>
            </a:r>
            <a:r>
              <a:rPr sz="1800" spc="-10" dirty="0">
                <a:latin typeface="Calibri"/>
                <a:cs typeface="Calibri"/>
              </a:rPr>
              <a:t>checks, </a:t>
            </a:r>
            <a:r>
              <a:rPr sz="1800" spc="-5" dirty="0">
                <a:latin typeface="Calibri"/>
                <a:cs typeface="Calibri"/>
              </a:rPr>
              <a:t>that </a:t>
            </a:r>
            <a:r>
              <a:rPr sz="1800" spc="-10" dirty="0">
                <a:latin typeface="Calibri"/>
                <a:cs typeface="Calibri"/>
              </a:rPr>
              <a:t>we’ll </a:t>
            </a:r>
            <a:r>
              <a:rPr sz="1800" spc="-5" dirty="0">
                <a:latin typeface="Calibri"/>
                <a:cs typeface="Calibri"/>
              </a:rPr>
              <a:t>be using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5" dirty="0">
                <a:latin typeface="Calibri"/>
                <a:cs typeface="Calibri"/>
              </a:rPr>
              <a:t>sort. This </a:t>
            </a:r>
            <a:r>
              <a:rPr sz="1800" dirty="0">
                <a:latin typeface="Calibri"/>
                <a:cs typeface="Calibri"/>
              </a:rPr>
              <a:t>is  the </a:t>
            </a:r>
            <a:r>
              <a:rPr sz="1800" spc="-5" dirty="0">
                <a:latin typeface="Calibri"/>
                <a:cs typeface="Calibri"/>
              </a:rPr>
              <a:t>basic logic defined </a:t>
            </a:r>
            <a:r>
              <a:rPr sz="1800" spc="-10" dirty="0">
                <a:latin typeface="Calibri"/>
                <a:cs typeface="Calibri"/>
              </a:rPr>
              <a:t>by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underlying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code.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62496" y="1323594"/>
            <a:ext cx="401955" cy="4129404"/>
          </a:xfrm>
          <a:custGeom>
            <a:avLst/>
            <a:gdLst/>
            <a:ahLst/>
            <a:cxnLst/>
            <a:rect l="l" t="t" r="r" b="b"/>
            <a:pathLst>
              <a:path w="401955" h="4129404">
                <a:moveTo>
                  <a:pt x="325967" y="4016459"/>
                </a:moveTo>
                <a:lnTo>
                  <a:pt x="287972" y="4019295"/>
                </a:lnTo>
                <a:lnTo>
                  <a:pt x="353377" y="4129024"/>
                </a:lnTo>
                <a:lnTo>
                  <a:pt x="391832" y="4035425"/>
                </a:lnTo>
                <a:lnTo>
                  <a:pt x="327367" y="4035425"/>
                </a:lnTo>
                <a:lnTo>
                  <a:pt x="325967" y="4016459"/>
                </a:lnTo>
                <a:close/>
              </a:path>
              <a:path w="401955" h="4129404">
                <a:moveTo>
                  <a:pt x="363963" y="4013623"/>
                </a:moveTo>
                <a:lnTo>
                  <a:pt x="325967" y="4016459"/>
                </a:lnTo>
                <a:lnTo>
                  <a:pt x="327367" y="4035425"/>
                </a:lnTo>
                <a:lnTo>
                  <a:pt x="365366" y="4032630"/>
                </a:lnTo>
                <a:lnTo>
                  <a:pt x="363963" y="4013623"/>
                </a:lnTo>
                <a:close/>
              </a:path>
              <a:path w="401955" h="4129404">
                <a:moveTo>
                  <a:pt x="401955" y="4010786"/>
                </a:moveTo>
                <a:lnTo>
                  <a:pt x="363963" y="4013623"/>
                </a:lnTo>
                <a:lnTo>
                  <a:pt x="365366" y="4032630"/>
                </a:lnTo>
                <a:lnTo>
                  <a:pt x="327367" y="4035425"/>
                </a:lnTo>
                <a:lnTo>
                  <a:pt x="391832" y="4035425"/>
                </a:lnTo>
                <a:lnTo>
                  <a:pt x="401955" y="4010786"/>
                </a:lnTo>
                <a:close/>
              </a:path>
              <a:path w="401955" h="4129404">
                <a:moveTo>
                  <a:pt x="75987" y="112564"/>
                </a:moveTo>
                <a:lnTo>
                  <a:pt x="37991" y="115400"/>
                </a:lnTo>
                <a:lnTo>
                  <a:pt x="325967" y="4016459"/>
                </a:lnTo>
                <a:lnTo>
                  <a:pt x="363963" y="4013623"/>
                </a:lnTo>
                <a:lnTo>
                  <a:pt x="75987" y="112564"/>
                </a:lnTo>
                <a:close/>
              </a:path>
              <a:path w="401955" h="4129404">
                <a:moveTo>
                  <a:pt x="48577" y="0"/>
                </a:moveTo>
                <a:lnTo>
                  <a:pt x="0" y="118236"/>
                </a:lnTo>
                <a:lnTo>
                  <a:pt x="37991" y="115400"/>
                </a:lnTo>
                <a:lnTo>
                  <a:pt x="36588" y="96392"/>
                </a:lnTo>
                <a:lnTo>
                  <a:pt x="74587" y="93598"/>
                </a:lnTo>
                <a:lnTo>
                  <a:pt x="104368" y="93598"/>
                </a:lnTo>
                <a:lnTo>
                  <a:pt x="48577" y="0"/>
                </a:lnTo>
                <a:close/>
              </a:path>
              <a:path w="401955" h="4129404">
                <a:moveTo>
                  <a:pt x="74587" y="93598"/>
                </a:moveTo>
                <a:lnTo>
                  <a:pt x="36588" y="96392"/>
                </a:lnTo>
                <a:lnTo>
                  <a:pt x="37991" y="115400"/>
                </a:lnTo>
                <a:lnTo>
                  <a:pt x="75987" y="112564"/>
                </a:lnTo>
                <a:lnTo>
                  <a:pt x="74587" y="93598"/>
                </a:lnTo>
                <a:close/>
              </a:path>
              <a:path w="401955" h="4129404">
                <a:moveTo>
                  <a:pt x="104368" y="93598"/>
                </a:moveTo>
                <a:lnTo>
                  <a:pt x="74587" y="93598"/>
                </a:lnTo>
                <a:lnTo>
                  <a:pt x="75987" y="112564"/>
                </a:lnTo>
                <a:lnTo>
                  <a:pt x="113982" y="109727"/>
                </a:lnTo>
                <a:lnTo>
                  <a:pt x="104368" y="93598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77012" y="5634990"/>
            <a:ext cx="114300" cy="381000"/>
          </a:xfrm>
          <a:custGeom>
            <a:avLst/>
            <a:gdLst/>
            <a:ahLst/>
            <a:cxnLst/>
            <a:rect l="l" t="t" r="r" b="b"/>
            <a:pathLst>
              <a:path w="114300" h="381000">
                <a:moveTo>
                  <a:pt x="38100" y="266700"/>
                </a:moveTo>
                <a:lnTo>
                  <a:pt x="0" y="266700"/>
                </a:lnTo>
                <a:lnTo>
                  <a:pt x="57150" y="381000"/>
                </a:lnTo>
                <a:lnTo>
                  <a:pt x="104775" y="285750"/>
                </a:lnTo>
                <a:lnTo>
                  <a:pt x="38100" y="285750"/>
                </a:lnTo>
                <a:lnTo>
                  <a:pt x="38100" y="266700"/>
                </a:lnTo>
                <a:close/>
              </a:path>
              <a:path w="114300" h="381000">
                <a:moveTo>
                  <a:pt x="76200" y="95250"/>
                </a:moveTo>
                <a:lnTo>
                  <a:pt x="38100" y="95250"/>
                </a:lnTo>
                <a:lnTo>
                  <a:pt x="38100" y="285750"/>
                </a:lnTo>
                <a:lnTo>
                  <a:pt x="76200" y="285750"/>
                </a:lnTo>
                <a:lnTo>
                  <a:pt x="76200" y="95250"/>
                </a:lnTo>
                <a:close/>
              </a:path>
              <a:path w="114300" h="381000">
                <a:moveTo>
                  <a:pt x="114300" y="266700"/>
                </a:moveTo>
                <a:lnTo>
                  <a:pt x="76200" y="266700"/>
                </a:lnTo>
                <a:lnTo>
                  <a:pt x="76200" y="285750"/>
                </a:lnTo>
                <a:lnTo>
                  <a:pt x="104775" y="285750"/>
                </a:lnTo>
                <a:lnTo>
                  <a:pt x="114300" y="266700"/>
                </a:lnTo>
                <a:close/>
              </a:path>
              <a:path w="114300" h="3810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810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77012" y="6168390"/>
            <a:ext cx="114300" cy="457200"/>
          </a:xfrm>
          <a:custGeom>
            <a:avLst/>
            <a:gdLst/>
            <a:ahLst/>
            <a:cxnLst/>
            <a:rect l="l" t="t" r="r" b="b"/>
            <a:pathLst>
              <a:path w="114300" h="457200">
                <a:moveTo>
                  <a:pt x="38100" y="342900"/>
                </a:moveTo>
                <a:lnTo>
                  <a:pt x="0" y="342900"/>
                </a:lnTo>
                <a:lnTo>
                  <a:pt x="57150" y="457200"/>
                </a:lnTo>
                <a:lnTo>
                  <a:pt x="104775" y="361950"/>
                </a:lnTo>
                <a:lnTo>
                  <a:pt x="38100" y="361950"/>
                </a:lnTo>
                <a:lnTo>
                  <a:pt x="38100" y="342900"/>
                </a:lnTo>
                <a:close/>
              </a:path>
              <a:path w="114300" h="457200">
                <a:moveTo>
                  <a:pt x="76200" y="95250"/>
                </a:moveTo>
                <a:lnTo>
                  <a:pt x="38100" y="95250"/>
                </a:lnTo>
                <a:lnTo>
                  <a:pt x="38100" y="361950"/>
                </a:lnTo>
                <a:lnTo>
                  <a:pt x="76200" y="361950"/>
                </a:lnTo>
                <a:lnTo>
                  <a:pt x="76200" y="95250"/>
                </a:lnTo>
                <a:close/>
              </a:path>
              <a:path w="114300" h="457200">
                <a:moveTo>
                  <a:pt x="114300" y="342900"/>
                </a:moveTo>
                <a:lnTo>
                  <a:pt x="76200" y="342900"/>
                </a:lnTo>
                <a:lnTo>
                  <a:pt x="76200" y="361950"/>
                </a:lnTo>
                <a:lnTo>
                  <a:pt x="104775" y="361950"/>
                </a:lnTo>
                <a:lnTo>
                  <a:pt x="114300" y="342900"/>
                </a:lnTo>
                <a:close/>
              </a:path>
              <a:path w="114300" h="4572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4572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505961" y="950213"/>
            <a:ext cx="0" cy="928369"/>
          </a:xfrm>
          <a:custGeom>
            <a:avLst/>
            <a:gdLst/>
            <a:ahLst/>
            <a:cxnLst/>
            <a:rect l="l" t="t" r="r" b="b"/>
            <a:pathLst>
              <a:path h="928369">
                <a:moveTo>
                  <a:pt x="0" y="0"/>
                </a:moveTo>
                <a:lnTo>
                  <a:pt x="0" y="928243"/>
                </a:lnTo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2964" y="1101852"/>
            <a:ext cx="217932" cy="2164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02919" y="5388864"/>
            <a:ext cx="216408" cy="2164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93776" y="6003035"/>
            <a:ext cx="217932" cy="21793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02919" y="6612635"/>
            <a:ext cx="216408" cy="21793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6106" y="2212085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2842006" y="0"/>
                </a:moveTo>
                <a:lnTo>
                  <a:pt x="129793" y="0"/>
                </a:lnTo>
                <a:lnTo>
                  <a:pt x="79274" y="10207"/>
                </a:lnTo>
                <a:lnTo>
                  <a:pt x="38017" y="38036"/>
                </a:lnTo>
                <a:lnTo>
                  <a:pt x="10200" y="79295"/>
                </a:lnTo>
                <a:lnTo>
                  <a:pt x="0" y="129793"/>
                </a:lnTo>
                <a:lnTo>
                  <a:pt x="0" y="648969"/>
                </a:lnTo>
                <a:lnTo>
                  <a:pt x="10200" y="699468"/>
                </a:lnTo>
                <a:lnTo>
                  <a:pt x="38017" y="740727"/>
                </a:lnTo>
                <a:lnTo>
                  <a:pt x="79274" y="768556"/>
                </a:lnTo>
                <a:lnTo>
                  <a:pt x="129793" y="778763"/>
                </a:lnTo>
                <a:lnTo>
                  <a:pt x="2842006" y="778763"/>
                </a:lnTo>
                <a:lnTo>
                  <a:pt x="2892504" y="768556"/>
                </a:lnTo>
                <a:lnTo>
                  <a:pt x="2933763" y="740727"/>
                </a:lnTo>
                <a:lnTo>
                  <a:pt x="2961592" y="699468"/>
                </a:lnTo>
                <a:lnTo>
                  <a:pt x="2971800" y="648969"/>
                </a:lnTo>
                <a:lnTo>
                  <a:pt x="2971800" y="129793"/>
                </a:lnTo>
                <a:lnTo>
                  <a:pt x="2961592" y="79295"/>
                </a:lnTo>
                <a:lnTo>
                  <a:pt x="2933763" y="38036"/>
                </a:lnTo>
                <a:lnTo>
                  <a:pt x="2892504" y="10207"/>
                </a:lnTo>
                <a:lnTo>
                  <a:pt x="2842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6106" y="2212085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3"/>
                </a:moveTo>
                <a:lnTo>
                  <a:pt x="10200" y="79295"/>
                </a:lnTo>
                <a:lnTo>
                  <a:pt x="38017" y="38036"/>
                </a:lnTo>
                <a:lnTo>
                  <a:pt x="79274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3"/>
                </a:lnTo>
                <a:lnTo>
                  <a:pt x="2971800" y="648969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74" y="768556"/>
                </a:lnTo>
                <a:lnTo>
                  <a:pt x="38017" y="740727"/>
                </a:lnTo>
                <a:lnTo>
                  <a:pt x="10200" y="699468"/>
                </a:lnTo>
                <a:lnTo>
                  <a:pt x="0" y="648969"/>
                </a:lnTo>
                <a:lnTo>
                  <a:pt x="0" y="1297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427225" y="2228850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40" h="1524000">
                <a:moveTo>
                  <a:pt x="129540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40" y="1459230"/>
                </a:lnTo>
                <a:close/>
              </a:path>
              <a:path w="129540" h="1524000">
                <a:moveTo>
                  <a:pt x="97155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5" y="1459230"/>
                </a:lnTo>
                <a:lnTo>
                  <a:pt x="97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427225" y="2228850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40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5" y="0"/>
                </a:lnTo>
                <a:lnTo>
                  <a:pt x="97155" y="1459230"/>
                </a:lnTo>
                <a:lnTo>
                  <a:pt x="129540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185672" y="2304288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37236" y="2117808"/>
            <a:ext cx="1065530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6034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35" name="object 35"/>
          <p:cNvSpPr txBox="1"/>
          <p:nvPr/>
        </p:nvSpPr>
        <p:spPr>
          <a:xfrm>
            <a:off x="1716151" y="2110485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1308" y="4277867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0763" y="4306823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32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60"/>
              </a:spcBef>
            </a:pPr>
            <a:r>
              <a:rPr sz="3200" b="1" spc="-10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47544" y="432054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27576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6106" y="2212085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3"/>
                </a:moveTo>
                <a:lnTo>
                  <a:pt x="10200" y="79295"/>
                </a:lnTo>
                <a:lnTo>
                  <a:pt x="38017" y="38036"/>
                </a:lnTo>
                <a:lnTo>
                  <a:pt x="79274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3"/>
                </a:lnTo>
                <a:lnTo>
                  <a:pt x="2971800" y="648969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74" y="768556"/>
                </a:lnTo>
                <a:lnTo>
                  <a:pt x="38017" y="740727"/>
                </a:lnTo>
                <a:lnTo>
                  <a:pt x="10200" y="699468"/>
                </a:lnTo>
                <a:lnTo>
                  <a:pt x="0" y="648969"/>
                </a:lnTo>
                <a:lnTo>
                  <a:pt x="0" y="1297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27225" y="2228850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40" h="1524000">
                <a:moveTo>
                  <a:pt x="129540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40" y="1459230"/>
                </a:lnTo>
                <a:close/>
              </a:path>
              <a:path w="129540" h="1524000">
                <a:moveTo>
                  <a:pt x="97155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5" y="1459230"/>
                </a:lnTo>
                <a:lnTo>
                  <a:pt x="97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27225" y="2228850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40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5" y="0"/>
                </a:lnTo>
                <a:lnTo>
                  <a:pt x="97155" y="1459230"/>
                </a:lnTo>
                <a:lnTo>
                  <a:pt x="129540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85672" y="2304288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7236" y="2117808"/>
            <a:ext cx="1065530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6034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16151" y="2110485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779270" y="5013197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1" y="142494"/>
                </a:moveTo>
                <a:lnTo>
                  <a:pt x="71247" y="142494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4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4"/>
                </a:lnTo>
                <a:lnTo>
                  <a:pt x="284988" y="142494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79270" y="5013197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4"/>
                </a:moveTo>
                <a:lnTo>
                  <a:pt x="213741" y="142494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4"/>
                </a:lnTo>
                <a:lnTo>
                  <a:pt x="0" y="142494"/>
                </a:lnTo>
                <a:lnTo>
                  <a:pt x="142494" y="0"/>
                </a:lnTo>
                <a:lnTo>
                  <a:pt x="284988" y="1424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36797" y="689609"/>
            <a:ext cx="5655945" cy="2483485"/>
          </a:xfrm>
          <a:custGeom>
            <a:avLst/>
            <a:gdLst/>
            <a:ahLst/>
            <a:cxnLst/>
            <a:rect l="l" t="t" r="r" b="b"/>
            <a:pathLst>
              <a:path w="5655945" h="2483485">
                <a:moveTo>
                  <a:pt x="4712970" y="1447800"/>
                </a:moveTo>
                <a:lnTo>
                  <a:pt x="3299079" y="1447800"/>
                </a:lnTo>
                <a:lnTo>
                  <a:pt x="3896995" y="2483357"/>
                </a:lnTo>
                <a:lnTo>
                  <a:pt x="4712970" y="1447800"/>
                </a:lnTo>
                <a:close/>
              </a:path>
              <a:path w="5655945" h="2483485">
                <a:moveTo>
                  <a:pt x="5414263" y="0"/>
                </a:moveTo>
                <a:lnTo>
                  <a:pt x="241300" y="0"/>
                </a:lnTo>
                <a:lnTo>
                  <a:pt x="192682" y="4904"/>
                </a:lnTo>
                <a:lnTo>
                  <a:pt x="147393" y="18968"/>
                </a:lnTo>
                <a:lnTo>
                  <a:pt x="106405" y="41221"/>
                </a:lnTo>
                <a:lnTo>
                  <a:pt x="70691" y="70691"/>
                </a:lnTo>
                <a:lnTo>
                  <a:pt x="41221" y="106405"/>
                </a:lnTo>
                <a:lnTo>
                  <a:pt x="18968" y="147393"/>
                </a:lnTo>
                <a:lnTo>
                  <a:pt x="4904" y="192682"/>
                </a:lnTo>
                <a:lnTo>
                  <a:pt x="0" y="241300"/>
                </a:lnTo>
                <a:lnTo>
                  <a:pt x="0" y="1206500"/>
                </a:lnTo>
                <a:lnTo>
                  <a:pt x="4904" y="1255117"/>
                </a:lnTo>
                <a:lnTo>
                  <a:pt x="18968" y="1300406"/>
                </a:lnTo>
                <a:lnTo>
                  <a:pt x="41221" y="1341394"/>
                </a:lnTo>
                <a:lnTo>
                  <a:pt x="70691" y="1377108"/>
                </a:lnTo>
                <a:lnTo>
                  <a:pt x="106405" y="1406578"/>
                </a:lnTo>
                <a:lnTo>
                  <a:pt x="147393" y="1428831"/>
                </a:lnTo>
                <a:lnTo>
                  <a:pt x="192682" y="1442895"/>
                </a:lnTo>
                <a:lnTo>
                  <a:pt x="241300" y="1447800"/>
                </a:lnTo>
                <a:lnTo>
                  <a:pt x="5414263" y="1447800"/>
                </a:lnTo>
                <a:lnTo>
                  <a:pt x="5462881" y="1442895"/>
                </a:lnTo>
                <a:lnTo>
                  <a:pt x="5508170" y="1428831"/>
                </a:lnTo>
                <a:lnTo>
                  <a:pt x="5549158" y="1406578"/>
                </a:lnTo>
                <a:lnTo>
                  <a:pt x="5584872" y="1377108"/>
                </a:lnTo>
                <a:lnTo>
                  <a:pt x="5614342" y="1341394"/>
                </a:lnTo>
                <a:lnTo>
                  <a:pt x="5636595" y="1300406"/>
                </a:lnTo>
                <a:lnTo>
                  <a:pt x="5650659" y="1255117"/>
                </a:lnTo>
                <a:lnTo>
                  <a:pt x="5655563" y="1206500"/>
                </a:lnTo>
                <a:lnTo>
                  <a:pt x="5655563" y="241300"/>
                </a:lnTo>
                <a:lnTo>
                  <a:pt x="5650659" y="192682"/>
                </a:lnTo>
                <a:lnTo>
                  <a:pt x="5636595" y="147393"/>
                </a:lnTo>
                <a:lnTo>
                  <a:pt x="5614342" y="106405"/>
                </a:lnTo>
                <a:lnTo>
                  <a:pt x="5584872" y="70691"/>
                </a:lnTo>
                <a:lnTo>
                  <a:pt x="5549158" y="41221"/>
                </a:lnTo>
                <a:lnTo>
                  <a:pt x="5508170" y="18968"/>
                </a:lnTo>
                <a:lnTo>
                  <a:pt x="5462881" y="4904"/>
                </a:lnTo>
                <a:lnTo>
                  <a:pt x="541426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336797" y="689609"/>
            <a:ext cx="5655945" cy="2483485"/>
          </a:xfrm>
          <a:custGeom>
            <a:avLst/>
            <a:gdLst/>
            <a:ahLst/>
            <a:cxnLst/>
            <a:rect l="l" t="t" r="r" b="b"/>
            <a:pathLst>
              <a:path w="5655945" h="2483485">
                <a:moveTo>
                  <a:pt x="0" y="241300"/>
                </a:moveTo>
                <a:lnTo>
                  <a:pt x="4904" y="192682"/>
                </a:lnTo>
                <a:lnTo>
                  <a:pt x="18968" y="147393"/>
                </a:lnTo>
                <a:lnTo>
                  <a:pt x="41221" y="106405"/>
                </a:lnTo>
                <a:lnTo>
                  <a:pt x="70691" y="70691"/>
                </a:lnTo>
                <a:lnTo>
                  <a:pt x="106405" y="41221"/>
                </a:lnTo>
                <a:lnTo>
                  <a:pt x="147393" y="18968"/>
                </a:lnTo>
                <a:lnTo>
                  <a:pt x="192682" y="4904"/>
                </a:lnTo>
                <a:lnTo>
                  <a:pt x="241300" y="0"/>
                </a:lnTo>
                <a:lnTo>
                  <a:pt x="3299079" y="0"/>
                </a:lnTo>
                <a:lnTo>
                  <a:pt x="4712970" y="0"/>
                </a:lnTo>
                <a:lnTo>
                  <a:pt x="5414263" y="0"/>
                </a:lnTo>
                <a:lnTo>
                  <a:pt x="5462881" y="4904"/>
                </a:lnTo>
                <a:lnTo>
                  <a:pt x="5508170" y="18968"/>
                </a:lnTo>
                <a:lnTo>
                  <a:pt x="5549158" y="41221"/>
                </a:lnTo>
                <a:lnTo>
                  <a:pt x="5584872" y="70691"/>
                </a:lnTo>
                <a:lnTo>
                  <a:pt x="5614342" y="106405"/>
                </a:lnTo>
                <a:lnTo>
                  <a:pt x="5636595" y="147393"/>
                </a:lnTo>
                <a:lnTo>
                  <a:pt x="5650659" y="192682"/>
                </a:lnTo>
                <a:lnTo>
                  <a:pt x="5655563" y="241300"/>
                </a:lnTo>
                <a:lnTo>
                  <a:pt x="5655563" y="844550"/>
                </a:lnTo>
                <a:lnTo>
                  <a:pt x="5655563" y="1206500"/>
                </a:lnTo>
                <a:lnTo>
                  <a:pt x="5650659" y="1255117"/>
                </a:lnTo>
                <a:lnTo>
                  <a:pt x="5636595" y="1300406"/>
                </a:lnTo>
                <a:lnTo>
                  <a:pt x="5614342" y="1341394"/>
                </a:lnTo>
                <a:lnTo>
                  <a:pt x="5584872" y="1377108"/>
                </a:lnTo>
                <a:lnTo>
                  <a:pt x="5549158" y="1406578"/>
                </a:lnTo>
                <a:lnTo>
                  <a:pt x="5508170" y="1428831"/>
                </a:lnTo>
                <a:lnTo>
                  <a:pt x="5462881" y="1442895"/>
                </a:lnTo>
                <a:lnTo>
                  <a:pt x="5414263" y="1447800"/>
                </a:lnTo>
                <a:lnTo>
                  <a:pt x="4712970" y="1447800"/>
                </a:lnTo>
                <a:lnTo>
                  <a:pt x="3896995" y="2483357"/>
                </a:lnTo>
                <a:lnTo>
                  <a:pt x="3299079" y="1447800"/>
                </a:lnTo>
                <a:lnTo>
                  <a:pt x="241300" y="1447800"/>
                </a:lnTo>
                <a:lnTo>
                  <a:pt x="192682" y="1442895"/>
                </a:lnTo>
                <a:lnTo>
                  <a:pt x="147393" y="1428831"/>
                </a:lnTo>
                <a:lnTo>
                  <a:pt x="106405" y="1406578"/>
                </a:lnTo>
                <a:lnTo>
                  <a:pt x="70691" y="1377108"/>
                </a:lnTo>
                <a:lnTo>
                  <a:pt x="41221" y="1341394"/>
                </a:lnTo>
                <a:lnTo>
                  <a:pt x="18968" y="1300406"/>
                </a:lnTo>
                <a:lnTo>
                  <a:pt x="4904" y="1255117"/>
                </a:lnTo>
                <a:lnTo>
                  <a:pt x="0" y="1206500"/>
                </a:lnTo>
                <a:lnTo>
                  <a:pt x="0" y="844550"/>
                </a:lnTo>
                <a:lnTo>
                  <a:pt x="0" y="241300"/>
                </a:lnTo>
                <a:close/>
              </a:path>
            </a:pathLst>
          </a:custGeom>
          <a:ln w="25907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557778" y="835914"/>
            <a:ext cx="52095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So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10" dirty="0">
                <a:latin typeface="Calibri"/>
                <a:cs typeface="Calibri"/>
              </a:rPr>
              <a:t>we </a:t>
            </a:r>
            <a:r>
              <a:rPr sz="1800" spc="-5" dirty="0">
                <a:latin typeface="Calibri"/>
                <a:cs typeface="Calibri"/>
              </a:rPr>
              <a:t>pick our </a:t>
            </a:r>
            <a:r>
              <a:rPr sz="1800" spc="-10" dirty="0">
                <a:latin typeface="Calibri"/>
                <a:cs typeface="Calibri"/>
              </a:rPr>
              <a:t>Pivot (P), </a:t>
            </a:r>
            <a:r>
              <a:rPr sz="1800" spc="-5" dirty="0">
                <a:latin typeface="Calibri"/>
                <a:cs typeface="Calibri"/>
              </a:rPr>
              <a:t>in this </a:t>
            </a:r>
            <a:r>
              <a:rPr sz="1800" spc="-10" dirty="0">
                <a:latin typeface="Calibri"/>
                <a:cs typeface="Calibri"/>
              </a:rPr>
              <a:t>example at</a:t>
            </a:r>
            <a:r>
              <a:rPr sz="1800" spc="1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random.</a:t>
            </a:r>
            <a:endParaRPr sz="1800">
              <a:latin typeface="Calibri"/>
              <a:cs typeface="Calibri"/>
            </a:endParaRPr>
          </a:p>
          <a:p>
            <a:pPr marL="12700" marR="5080" indent="8255" algn="ctr">
              <a:lnSpc>
                <a:spcPct val="100000"/>
              </a:lnSpc>
            </a:pPr>
            <a:r>
              <a:rPr sz="1800" spc="-25" dirty="0">
                <a:latin typeface="Calibri"/>
                <a:cs typeface="Calibri"/>
              </a:rPr>
              <a:t>We’ve </a:t>
            </a:r>
            <a:r>
              <a:rPr sz="1800" spc="-5" dirty="0">
                <a:latin typeface="Calibri"/>
                <a:cs typeface="Calibri"/>
              </a:rPr>
              <a:t>decided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go </a:t>
            </a:r>
            <a:r>
              <a:rPr sz="1800" spc="-5" dirty="0">
                <a:latin typeface="Calibri"/>
                <a:cs typeface="Calibri"/>
              </a:rPr>
              <a:t>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last element in </a:t>
            </a:r>
            <a:r>
              <a:rPr sz="1800" dirty="0">
                <a:latin typeface="Calibri"/>
                <a:cs typeface="Calibri"/>
              </a:rPr>
              <a:t>the  </a:t>
            </a:r>
            <a:r>
              <a:rPr sz="1800" spc="-5" dirty="0">
                <a:latin typeface="Calibri"/>
                <a:cs typeface="Calibri"/>
              </a:rPr>
              <a:t>sequence, </a:t>
            </a:r>
            <a:r>
              <a:rPr sz="1800" dirty="0">
                <a:latin typeface="Calibri"/>
                <a:cs typeface="Calibri"/>
              </a:rPr>
              <a:t>7, and </a:t>
            </a:r>
            <a:r>
              <a:rPr sz="1800" spc="-10" dirty="0">
                <a:latin typeface="Calibri"/>
                <a:cs typeface="Calibri"/>
              </a:rPr>
              <a:t>we’ll </a:t>
            </a:r>
            <a:r>
              <a:rPr sz="1800" spc="-5" dirty="0">
                <a:latin typeface="Calibri"/>
                <a:cs typeface="Calibri"/>
              </a:rPr>
              <a:t>do this with </a:t>
            </a:r>
            <a:r>
              <a:rPr sz="1800" dirty="0">
                <a:latin typeface="Calibri"/>
                <a:cs typeface="Calibri"/>
              </a:rPr>
              <a:t>each </a:t>
            </a:r>
            <a:r>
              <a:rPr sz="1800" spc="-10" dirty="0">
                <a:latin typeface="Calibri"/>
                <a:cs typeface="Calibri"/>
              </a:rPr>
              <a:t>recursion going  </a:t>
            </a:r>
            <a:r>
              <a:rPr sz="1800" spc="-5" dirty="0">
                <a:latin typeface="Calibri"/>
                <a:cs typeface="Calibri"/>
              </a:rPr>
              <a:t>down </a:t>
            </a:r>
            <a:r>
              <a:rPr sz="1800" dirty="0">
                <a:latin typeface="Calibri"/>
                <a:cs typeface="Calibri"/>
              </a:rPr>
              <a:t>as needed </a:t>
            </a:r>
            <a:r>
              <a:rPr sz="1800" spc="-5" dirty="0">
                <a:latin typeface="Calibri"/>
                <a:cs typeface="Calibri"/>
              </a:rPr>
              <a:t>until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sorting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complete.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1308" y="4277867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0763" y="4306823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32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60"/>
              </a:spcBef>
            </a:pPr>
            <a:r>
              <a:rPr sz="3200" b="1" spc="-10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47544" y="432054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27576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6106" y="2212085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3"/>
                </a:moveTo>
                <a:lnTo>
                  <a:pt x="10200" y="79295"/>
                </a:lnTo>
                <a:lnTo>
                  <a:pt x="38017" y="38036"/>
                </a:lnTo>
                <a:lnTo>
                  <a:pt x="79274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3"/>
                </a:lnTo>
                <a:lnTo>
                  <a:pt x="2971800" y="648969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74" y="768556"/>
                </a:lnTo>
                <a:lnTo>
                  <a:pt x="38017" y="740727"/>
                </a:lnTo>
                <a:lnTo>
                  <a:pt x="10200" y="699468"/>
                </a:lnTo>
                <a:lnTo>
                  <a:pt x="0" y="648969"/>
                </a:lnTo>
                <a:lnTo>
                  <a:pt x="0" y="1297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27225" y="2228850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40" h="1524000">
                <a:moveTo>
                  <a:pt x="129540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40" y="1459230"/>
                </a:lnTo>
                <a:close/>
              </a:path>
              <a:path w="129540" h="1524000">
                <a:moveTo>
                  <a:pt x="97155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5" y="1459230"/>
                </a:lnTo>
                <a:lnTo>
                  <a:pt x="97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27225" y="2228850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40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5" y="0"/>
                </a:lnTo>
                <a:lnTo>
                  <a:pt x="97155" y="1459230"/>
                </a:lnTo>
                <a:lnTo>
                  <a:pt x="129540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85672" y="2304288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7236" y="2117808"/>
            <a:ext cx="1065530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6034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16151" y="2110485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779270" y="5013197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1" y="142494"/>
                </a:moveTo>
                <a:lnTo>
                  <a:pt x="71247" y="142494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4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4"/>
                </a:lnTo>
                <a:lnTo>
                  <a:pt x="284988" y="142494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79270" y="5013197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4"/>
                </a:moveTo>
                <a:lnTo>
                  <a:pt x="213741" y="142494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4"/>
                </a:lnTo>
                <a:lnTo>
                  <a:pt x="0" y="142494"/>
                </a:lnTo>
                <a:lnTo>
                  <a:pt x="142494" y="0"/>
                </a:lnTo>
                <a:lnTo>
                  <a:pt x="284988" y="1424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063748" y="599694"/>
            <a:ext cx="5928995" cy="1988185"/>
          </a:xfrm>
          <a:custGeom>
            <a:avLst/>
            <a:gdLst/>
            <a:ahLst/>
            <a:cxnLst/>
            <a:rect l="l" t="t" r="r" b="b"/>
            <a:pathLst>
              <a:path w="5928995" h="1988185">
                <a:moveTo>
                  <a:pt x="2629535" y="1447800"/>
                </a:moveTo>
                <a:lnTo>
                  <a:pt x="1215643" y="1447800"/>
                </a:lnTo>
                <a:lnTo>
                  <a:pt x="0" y="1987677"/>
                </a:lnTo>
                <a:lnTo>
                  <a:pt x="2629535" y="1447800"/>
                </a:lnTo>
                <a:close/>
              </a:path>
              <a:path w="5928995" h="1988185">
                <a:moveTo>
                  <a:pt x="5687313" y="0"/>
                </a:moveTo>
                <a:lnTo>
                  <a:pt x="514350" y="0"/>
                </a:lnTo>
                <a:lnTo>
                  <a:pt x="465732" y="4904"/>
                </a:lnTo>
                <a:lnTo>
                  <a:pt x="420443" y="18968"/>
                </a:lnTo>
                <a:lnTo>
                  <a:pt x="379455" y="41221"/>
                </a:lnTo>
                <a:lnTo>
                  <a:pt x="343741" y="70691"/>
                </a:lnTo>
                <a:lnTo>
                  <a:pt x="314271" y="106405"/>
                </a:lnTo>
                <a:lnTo>
                  <a:pt x="292018" y="147393"/>
                </a:lnTo>
                <a:lnTo>
                  <a:pt x="277954" y="192682"/>
                </a:lnTo>
                <a:lnTo>
                  <a:pt x="273050" y="241300"/>
                </a:lnTo>
                <a:lnTo>
                  <a:pt x="273050" y="1206500"/>
                </a:lnTo>
                <a:lnTo>
                  <a:pt x="277954" y="1255117"/>
                </a:lnTo>
                <a:lnTo>
                  <a:pt x="292018" y="1300406"/>
                </a:lnTo>
                <a:lnTo>
                  <a:pt x="314271" y="1341394"/>
                </a:lnTo>
                <a:lnTo>
                  <a:pt x="343741" y="1377108"/>
                </a:lnTo>
                <a:lnTo>
                  <a:pt x="379455" y="1406578"/>
                </a:lnTo>
                <a:lnTo>
                  <a:pt x="420443" y="1428831"/>
                </a:lnTo>
                <a:lnTo>
                  <a:pt x="465732" y="1442895"/>
                </a:lnTo>
                <a:lnTo>
                  <a:pt x="514350" y="1447800"/>
                </a:lnTo>
                <a:lnTo>
                  <a:pt x="5687313" y="1447800"/>
                </a:lnTo>
                <a:lnTo>
                  <a:pt x="5735931" y="1442895"/>
                </a:lnTo>
                <a:lnTo>
                  <a:pt x="5781220" y="1428831"/>
                </a:lnTo>
                <a:lnTo>
                  <a:pt x="5822208" y="1406578"/>
                </a:lnTo>
                <a:lnTo>
                  <a:pt x="5857922" y="1377108"/>
                </a:lnTo>
                <a:lnTo>
                  <a:pt x="5887392" y="1341394"/>
                </a:lnTo>
                <a:lnTo>
                  <a:pt x="5909645" y="1300406"/>
                </a:lnTo>
                <a:lnTo>
                  <a:pt x="5923709" y="1255117"/>
                </a:lnTo>
                <a:lnTo>
                  <a:pt x="5928613" y="1206500"/>
                </a:lnTo>
                <a:lnTo>
                  <a:pt x="5928613" y="241300"/>
                </a:lnTo>
                <a:lnTo>
                  <a:pt x="5923709" y="192682"/>
                </a:lnTo>
                <a:lnTo>
                  <a:pt x="5909645" y="147393"/>
                </a:lnTo>
                <a:lnTo>
                  <a:pt x="5887392" y="106405"/>
                </a:lnTo>
                <a:lnTo>
                  <a:pt x="5857922" y="70691"/>
                </a:lnTo>
                <a:lnTo>
                  <a:pt x="5822208" y="41221"/>
                </a:lnTo>
                <a:lnTo>
                  <a:pt x="5781220" y="18968"/>
                </a:lnTo>
                <a:lnTo>
                  <a:pt x="5735931" y="4904"/>
                </a:lnTo>
                <a:lnTo>
                  <a:pt x="568731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063748" y="599694"/>
            <a:ext cx="5928995" cy="1988185"/>
          </a:xfrm>
          <a:custGeom>
            <a:avLst/>
            <a:gdLst/>
            <a:ahLst/>
            <a:cxnLst/>
            <a:rect l="l" t="t" r="r" b="b"/>
            <a:pathLst>
              <a:path w="5928995" h="1988185">
                <a:moveTo>
                  <a:pt x="273050" y="241300"/>
                </a:moveTo>
                <a:lnTo>
                  <a:pt x="277954" y="192682"/>
                </a:lnTo>
                <a:lnTo>
                  <a:pt x="292018" y="147393"/>
                </a:lnTo>
                <a:lnTo>
                  <a:pt x="314271" y="106405"/>
                </a:lnTo>
                <a:lnTo>
                  <a:pt x="343741" y="70691"/>
                </a:lnTo>
                <a:lnTo>
                  <a:pt x="379455" y="41221"/>
                </a:lnTo>
                <a:lnTo>
                  <a:pt x="420443" y="18968"/>
                </a:lnTo>
                <a:lnTo>
                  <a:pt x="465732" y="4904"/>
                </a:lnTo>
                <a:lnTo>
                  <a:pt x="514350" y="0"/>
                </a:lnTo>
                <a:lnTo>
                  <a:pt x="1215643" y="0"/>
                </a:lnTo>
                <a:lnTo>
                  <a:pt x="2629535" y="0"/>
                </a:lnTo>
                <a:lnTo>
                  <a:pt x="5687313" y="0"/>
                </a:lnTo>
                <a:lnTo>
                  <a:pt x="5735931" y="4904"/>
                </a:lnTo>
                <a:lnTo>
                  <a:pt x="5781220" y="18968"/>
                </a:lnTo>
                <a:lnTo>
                  <a:pt x="5822208" y="41221"/>
                </a:lnTo>
                <a:lnTo>
                  <a:pt x="5857922" y="70691"/>
                </a:lnTo>
                <a:lnTo>
                  <a:pt x="5887392" y="106405"/>
                </a:lnTo>
                <a:lnTo>
                  <a:pt x="5909645" y="147393"/>
                </a:lnTo>
                <a:lnTo>
                  <a:pt x="5923709" y="192682"/>
                </a:lnTo>
                <a:lnTo>
                  <a:pt x="5928613" y="241300"/>
                </a:lnTo>
                <a:lnTo>
                  <a:pt x="5928613" y="844550"/>
                </a:lnTo>
                <a:lnTo>
                  <a:pt x="5928613" y="1206500"/>
                </a:lnTo>
                <a:lnTo>
                  <a:pt x="5923709" y="1255117"/>
                </a:lnTo>
                <a:lnTo>
                  <a:pt x="5909645" y="1300406"/>
                </a:lnTo>
                <a:lnTo>
                  <a:pt x="5887392" y="1341394"/>
                </a:lnTo>
                <a:lnTo>
                  <a:pt x="5857922" y="1377108"/>
                </a:lnTo>
                <a:lnTo>
                  <a:pt x="5822208" y="1406578"/>
                </a:lnTo>
                <a:lnTo>
                  <a:pt x="5781220" y="1428831"/>
                </a:lnTo>
                <a:lnTo>
                  <a:pt x="5735931" y="1442895"/>
                </a:lnTo>
                <a:lnTo>
                  <a:pt x="5687313" y="1447800"/>
                </a:lnTo>
                <a:lnTo>
                  <a:pt x="2629535" y="1447800"/>
                </a:lnTo>
                <a:lnTo>
                  <a:pt x="0" y="1987677"/>
                </a:lnTo>
                <a:lnTo>
                  <a:pt x="1215643" y="1447800"/>
                </a:lnTo>
                <a:lnTo>
                  <a:pt x="514350" y="1447800"/>
                </a:lnTo>
                <a:lnTo>
                  <a:pt x="465732" y="1442895"/>
                </a:lnTo>
                <a:lnTo>
                  <a:pt x="420443" y="1428831"/>
                </a:lnTo>
                <a:lnTo>
                  <a:pt x="379455" y="1406578"/>
                </a:lnTo>
                <a:lnTo>
                  <a:pt x="343741" y="1377108"/>
                </a:lnTo>
                <a:lnTo>
                  <a:pt x="314271" y="1341394"/>
                </a:lnTo>
                <a:lnTo>
                  <a:pt x="292018" y="1300406"/>
                </a:lnTo>
                <a:lnTo>
                  <a:pt x="277954" y="1255117"/>
                </a:lnTo>
                <a:lnTo>
                  <a:pt x="273050" y="1206500"/>
                </a:lnTo>
                <a:lnTo>
                  <a:pt x="273050" y="844550"/>
                </a:lnTo>
                <a:lnTo>
                  <a:pt x="273050" y="241300"/>
                </a:lnTo>
                <a:close/>
              </a:path>
            </a:pathLst>
          </a:custGeom>
          <a:ln w="25907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498341" y="884046"/>
            <a:ext cx="532828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This </a:t>
            </a:r>
            <a:r>
              <a:rPr sz="1800" dirty="0">
                <a:latin typeface="Calibri"/>
                <a:cs typeface="Calibri"/>
              </a:rPr>
              <a:t>is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Partition </a:t>
            </a:r>
            <a:r>
              <a:rPr sz="1800" spc="-25" dirty="0">
                <a:latin typeface="Calibri"/>
                <a:cs typeface="Calibri"/>
              </a:rPr>
              <a:t>divider, </a:t>
            </a:r>
            <a:r>
              <a:rPr sz="1800" spc="-5" dirty="0">
                <a:latin typeface="Calibri"/>
                <a:cs typeface="Calibri"/>
              </a:rPr>
              <a:t>every element on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left will  be </a:t>
            </a:r>
            <a:r>
              <a:rPr sz="1800" dirty="0">
                <a:latin typeface="Calibri"/>
                <a:cs typeface="Calibri"/>
              </a:rPr>
              <a:t>less 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everything on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right will be 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( </a:t>
            </a:r>
            <a:r>
              <a:rPr sz="1800" spc="-5" dirty="0">
                <a:latin typeface="Calibri"/>
                <a:cs typeface="Calibri"/>
              </a:rPr>
              <a:t>or </a:t>
            </a:r>
            <a:r>
              <a:rPr sz="1800" dirty="0">
                <a:latin typeface="Calibri"/>
                <a:cs typeface="Calibri"/>
              </a:rPr>
              <a:t>equal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) </a:t>
            </a:r>
            <a:r>
              <a:rPr sz="1800" spc="-5" dirty="0">
                <a:latin typeface="Calibri"/>
                <a:cs typeface="Calibri"/>
              </a:rPr>
              <a:t>our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pivot.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1308" y="4277867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0763" y="4306823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32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60"/>
              </a:spcBef>
            </a:pPr>
            <a:r>
              <a:rPr sz="3200" b="1" spc="-10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47544" y="432054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27576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6106" y="2212085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3"/>
                </a:moveTo>
                <a:lnTo>
                  <a:pt x="10200" y="79295"/>
                </a:lnTo>
                <a:lnTo>
                  <a:pt x="38017" y="38036"/>
                </a:lnTo>
                <a:lnTo>
                  <a:pt x="79274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3"/>
                </a:lnTo>
                <a:lnTo>
                  <a:pt x="2971800" y="648969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74" y="768556"/>
                </a:lnTo>
                <a:lnTo>
                  <a:pt x="38017" y="740727"/>
                </a:lnTo>
                <a:lnTo>
                  <a:pt x="10200" y="699468"/>
                </a:lnTo>
                <a:lnTo>
                  <a:pt x="0" y="648969"/>
                </a:lnTo>
                <a:lnTo>
                  <a:pt x="0" y="1297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27225" y="2228850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40" h="1524000">
                <a:moveTo>
                  <a:pt x="129540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40" y="1459230"/>
                </a:lnTo>
                <a:close/>
              </a:path>
              <a:path w="129540" h="1524000">
                <a:moveTo>
                  <a:pt x="97155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5" y="1459230"/>
                </a:lnTo>
                <a:lnTo>
                  <a:pt x="97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27225" y="2228850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40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5" y="0"/>
                </a:lnTo>
                <a:lnTo>
                  <a:pt x="97155" y="1459230"/>
                </a:lnTo>
                <a:lnTo>
                  <a:pt x="129540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85672" y="2304288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7236" y="2117808"/>
            <a:ext cx="1065530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6034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16151" y="2110485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50341" y="861822"/>
            <a:ext cx="2083435" cy="462280"/>
          </a:xfrm>
          <a:custGeom>
            <a:avLst/>
            <a:gdLst/>
            <a:ahLst/>
            <a:cxnLst/>
            <a:rect l="l" t="t" r="r" b="b"/>
            <a:pathLst>
              <a:path w="2083435" h="462280">
                <a:moveTo>
                  <a:pt x="0" y="461772"/>
                </a:moveTo>
                <a:lnTo>
                  <a:pt x="2083308" y="461772"/>
                </a:lnTo>
                <a:lnTo>
                  <a:pt x="2083308" y="0"/>
                </a:lnTo>
                <a:lnTo>
                  <a:pt x="0" y="0"/>
                </a:lnTo>
                <a:lnTo>
                  <a:pt x="0" y="4617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0341" y="861822"/>
            <a:ext cx="2083435" cy="462280"/>
          </a:xfrm>
          <a:custGeom>
            <a:avLst/>
            <a:gdLst/>
            <a:ahLst/>
            <a:cxnLst/>
            <a:rect l="l" t="t" r="r" b="b"/>
            <a:pathLst>
              <a:path w="2083435" h="462280">
                <a:moveTo>
                  <a:pt x="0" y="461772"/>
                </a:moveTo>
                <a:lnTo>
                  <a:pt x="2083308" y="461772"/>
                </a:lnTo>
                <a:lnTo>
                  <a:pt x="2083308" y="0"/>
                </a:lnTo>
                <a:lnTo>
                  <a:pt x="0" y="0"/>
                </a:lnTo>
                <a:lnTo>
                  <a:pt x="0" y="461772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07237" y="875538"/>
            <a:ext cx="1555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901570" y="639318"/>
            <a:ext cx="7091045" cy="3154045"/>
          </a:xfrm>
          <a:custGeom>
            <a:avLst/>
            <a:gdLst/>
            <a:ahLst/>
            <a:cxnLst/>
            <a:rect l="l" t="t" r="r" b="b"/>
            <a:pathLst>
              <a:path w="7091045" h="3154045">
                <a:moveTo>
                  <a:pt x="3791712" y="1761744"/>
                </a:moveTo>
                <a:lnTo>
                  <a:pt x="2377821" y="1761744"/>
                </a:lnTo>
                <a:lnTo>
                  <a:pt x="0" y="3153791"/>
                </a:lnTo>
                <a:lnTo>
                  <a:pt x="3791712" y="1761744"/>
                </a:lnTo>
                <a:close/>
              </a:path>
              <a:path w="7091045" h="3154045">
                <a:moveTo>
                  <a:pt x="6797167" y="0"/>
                </a:moveTo>
                <a:lnTo>
                  <a:pt x="1728851" y="0"/>
                </a:lnTo>
                <a:lnTo>
                  <a:pt x="1681220" y="3842"/>
                </a:lnTo>
                <a:lnTo>
                  <a:pt x="1636037" y="14967"/>
                </a:lnTo>
                <a:lnTo>
                  <a:pt x="1593907" y="32770"/>
                </a:lnTo>
                <a:lnTo>
                  <a:pt x="1555434" y="56648"/>
                </a:lnTo>
                <a:lnTo>
                  <a:pt x="1521221" y="85994"/>
                </a:lnTo>
                <a:lnTo>
                  <a:pt x="1491875" y="120207"/>
                </a:lnTo>
                <a:lnTo>
                  <a:pt x="1467997" y="158680"/>
                </a:lnTo>
                <a:lnTo>
                  <a:pt x="1450194" y="200810"/>
                </a:lnTo>
                <a:lnTo>
                  <a:pt x="1439069" y="245993"/>
                </a:lnTo>
                <a:lnTo>
                  <a:pt x="1435227" y="293624"/>
                </a:lnTo>
                <a:lnTo>
                  <a:pt x="1435227" y="1468120"/>
                </a:lnTo>
                <a:lnTo>
                  <a:pt x="1439069" y="1515750"/>
                </a:lnTo>
                <a:lnTo>
                  <a:pt x="1450194" y="1560933"/>
                </a:lnTo>
                <a:lnTo>
                  <a:pt x="1467997" y="1603063"/>
                </a:lnTo>
                <a:lnTo>
                  <a:pt x="1491875" y="1641536"/>
                </a:lnTo>
                <a:lnTo>
                  <a:pt x="1521221" y="1675749"/>
                </a:lnTo>
                <a:lnTo>
                  <a:pt x="1555434" y="1705095"/>
                </a:lnTo>
                <a:lnTo>
                  <a:pt x="1593907" y="1728973"/>
                </a:lnTo>
                <a:lnTo>
                  <a:pt x="1636037" y="1746776"/>
                </a:lnTo>
                <a:lnTo>
                  <a:pt x="1681220" y="1757901"/>
                </a:lnTo>
                <a:lnTo>
                  <a:pt x="1728851" y="1761744"/>
                </a:lnTo>
                <a:lnTo>
                  <a:pt x="6797167" y="1761744"/>
                </a:lnTo>
                <a:lnTo>
                  <a:pt x="6844797" y="1757901"/>
                </a:lnTo>
                <a:lnTo>
                  <a:pt x="6889980" y="1746776"/>
                </a:lnTo>
                <a:lnTo>
                  <a:pt x="6932110" y="1728973"/>
                </a:lnTo>
                <a:lnTo>
                  <a:pt x="6970583" y="1705095"/>
                </a:lnTo>
                <a:lnTo>
                  <a:pt x="7004796" y="1675749"/>
                </a:lnTo>
                <a:lnTo>
                  <a:pt x="7034142" y="1641536"/>
                </a:lnTo>
                <a:lnTo>
                  <a:pt x="7058020" y="1603063"/>
                </a:lnTo>
                <a:lnTo>
                  <a:pt x="7075823" y="1560933"/>
                </a:lnTo>
                <a:lnTo>
                  <a:pt x="7086948" y="1515750"/>
                </a:lnTo>
                <a:lnTo>
                  <a:pt x="7090790" y="1468120"/>
                </a:lnTo>
                <a:lnTo>
                  <a:pt x="7090790" y="293624"/>
                </a:lnTo>
                <a:lnTo>
                  <a:pt x="7086948" y="245993"/>
                </a:lnTo>
                <a:lnTo>
                  <a:pt x="7075823" y="200810"/>
                </a:lnTo>
                <a:lnTo>
                  <a:pt x="7058020" y="158680"/>
                </a:lnTo>
                <a:lnTo>
                  <a:pt x="7034142" y="120207"/>
                </a:lnTo>
                <a:lnTo>
                  <a:pt x="7004796" y="85994"/>
                </a:lnTo>
                <a:lnTo>
                  <a:pt x="6970583" y="56648"/>
                </a:lnTo>
                <a:lnTo>
                  <a:pt x="6932110" y="32770"/>
                </a:lnTo>
                <a:lnTo>
                  <a:pt x="6889980" y="14967"/>
                </a:lnTo>
                <a:lnTo>
                  <a:pt x="6844797" y="3842"/>
                </a:lnTo>
                <a:lnTo>
                  <a:pt x="6797167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01570" y="639318"/>
            <a:ext cx="7091045" cy="3154045"/>
          </a:xfrm>
          <a:custGeom>
            <a:avLst/>
            <a:gdLst/>
            <a:ahLst/>
            <a:cxnLst/>
            <a:rect l="l" t="t" r="r" b="b"/>
            <a:pathLst>
              <a:path w="7091045" h="3154045">
                <a:moveTo>
                  <a:pt x="1435227" y="293624"/>
                </a:moveTo>
                <a:lnTo>
                  <a:pt x="1439069" y="245993"/>
                </a:lnTo>
                <a:lnTo>
                  <a:pt x="1450194" y="200810"/>
                </a:lnTo>
                <a:lnTo>
                  <a:pt x="1467997" y="158680"/>
                </a:lnTo>
                <a:lnTo>
                  <a:pt x="1491875" y="120207"/>
                </a:lnTo>
                <a:lnTo>
                  <a:pt x="1521221" y="85994"/>
                </a:lnTo>
                <a:lnTo>
                  <a:pt x="1555434" y="56648"/>
                </a:lnTo>
                <a:lnTo>
                  <a:pt x="1593907" y="32770"/>
                </a:lnTo>
                <a:lnTo>
                  <a:pt x="1636037" y="14967"/>
                </a:lnTo>
                <a:lnTo>
                  <a:pt x="1681220" y="3842"/>
                </a:lnTo>
                <a:lnTo>
                  <a:pt x="1728851" y="0"/>
                </a:lnTo>
                <a:lnTo>
                  <a:pt x="2377821" y="0"/>
                </a:lnTo>
                <a:lnTo>
                  <a:pt x="3791712" y="0"/>
                </a:lnTo>
                <a:lnTo>
                  <a:pt x="6797167" y="0"/>
                </a:lnTo>
                <a:lnTo>
                  <a:pt x="6844797" y="3842"/>
                </a:lnTo>
                <a:lnTo>
                  <a:pt x="6889980" y="14967"/>
                </a:lnTo>
                <a:lnTo>
                  <a:pt x="6932110" y="32770"/>
                </a:lnTo>
                <a:lnTo>
                  <a:pt x="6970583" y="56648"/>
                </a:lnTo>
                <a:lnTo>
                  <a:pt x="7004796" y="85994"/>
                </a:lnTo>
                <a:lnTo>
                  <a:pt x="7034142" y="120207"/>
                </a:lnTo>
                <a:lnTo>
                  <a:pt x="7058020" y="158680"/>
                </a:lnTo>
                <a:lnTo>
                  <a:pt x="7075823" y="200810"/>
                </a:lnTo>
                <a:lnTo>
                  <a:pt x="7086948" y="245993"/>
                </a:lnTo>
                <a:lnTo>
                  <a:pt x="7090790" y="293624"/>
                </a:lnTo>
                <a:lnTo>
                  <a:pt x="7090790" y="1027684"/>
                </a:lnTo>
                <a:lnTo>
                  <a:pt x="7090790" y="1468120"/>
                </a:lnTo>
                <a:lnTo>
                  <a:pt x="7086948" y="1515750"/>
                </a:lnTo>
                <a:lnTo>
                  <a:pt x="7075823" y="1560933"/>
                </a:lnTo>
                <a:lnTo>
                  <a:pt x="7058020" y="1603063"/>
                </a:lnTo>
                <a:lnTo>
                  <a:pt x="7034142" y="1641536"/>
                </a:lnTo>
                <a:lnTo>
                  <a:pt x="7004796" y="1675749"/>
                </a:lnTo>
                <a:lnTo>
                  <a:pt x="6970583" y="1705095"/>
                </a:lnTo>
                <a:lnTo>
                  <a:pt x="6932110" y="1728973"/>
                </a:lnTo>
                <a:lnTo>
                  <a:pt x="6889980" y="1746776"/>
                </a:lnTo>
                <a:lnTo>
                  <a:pt x="6844797" y="1757901"/>
                </a:lnTo>
                <a:lnTo>
                  <a:pt x="6797167" y="1761744"/>
                </a:lnTo>
                <a:lnTo>
                  <a:pt x="3791712" y="1761744"/>
                </a:lnTo>
                <a:lnTo>
                  <a:pt x="0" y="3153791"/>
                </a:lnTo>
                <a:lnTo>
                  <a:pt x="2377821" y="1761744"/>
                </a:lnTo>
                <a:lnTo>
                  <a:pt x="1728851" y="1761744"/>
                </a:lnTo>
                <a:lnTo>
                  <a:pt x="1681220" y="1757901"/>
                </a:lnTo>
                <a:lnTo>
                  <a:pt x="1636037" y="1746776"/>
                </a:lnTo>
                <a:lnTo>
                  <a:pt x="1593907" y="1728973"/>
                </a:lnTo>
                <a:lnTo>
                  <a:pt x="1555434" y="1705095"/>
                </a:lnTo>
                <a:lnTo>
                  <a:pt x="1521221" y="1675749"/>
                </a:lnTo>
                <a:lnTo>
                  <a:pt x="1491875" y="1641536"/>
                </a:lnTo>
                <a:lnTo>
                  <a:pt x="1467997" y="1603063"/>
                </a:lnTo>
                <a:lnTo>
                  <a:pt x="1450194" y="1560933"/>
                </a:lnTo>
                <a:lnTo>
                  <a:pt x="1439069" y="1515750"/>
                </a:lnTo>
                <a:lnTo>
                  <a:pt x="1435227" y="1468120"/>
                </a:lnTo>
                <a:lnTo>
                  <a:pt x="1435227" y="1027684"/>
                </a:lnTo>
                <a:lnTo>
                  <a:pt x="1435227" y="29362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547109" y="806322"/>
            <a:ext cx="522986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So </a:t>
            </a:r>
            <a:r>
              <a:rPr sz="1800" spc="-10" dirty="0">
                <a:latin typeface="Calibri"/>
                <a:cs typeface="Calibri"/>
              </a:rPr>
              <a:t>we start from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left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10" dirty="0">
                <a:latin typeface="Calibri"/>
                <a:cs typeface="Calibri"/>
              </a:rPr>
              <a:t>compare </a:t>
            </a:r>
            <a:r>
              <a:rPr sz="1800" dirty="0">
                <a:latin typeface="Calibri"/>
                <a:cs typeface="Calibri"/>
              </a:rPr>
              <a:t>each </a:t>
            </a:r>
            <a:r>
              <a:rPr sz="1800" spc="-5" dirty="0">
                <a:latin typeface="Calibri"/>
                <a:cs typeface="Calibri"/>
              </a:rPr>
              <a:t>element </a:t>
            </a:r>
            <a:r>
              <a:rPr sz="1800" spc="-10" dirty="0">
                <a:latin typeface="Calibri"/>
                <a:cs typeface="Calibri"/>
              </a:rPr>
              <a:t>to 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pivot. Again we just </a:t>
            </a:r>
            <a:r>
              <a:rPr sz="1800" spc="-5" dirty="0">
                <a:latin typeface="Calibri"/>
                <a:cs typeface="Calibri"/>
              </a:rPr>
              <a:t>check if its less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or </a:t>
            </a:r>
            <a:r>
              <a:rPr sz="1800" spc="-10" dirty="0">
                <a:latin typeface="Calibri"/>
                <a:cs typeface="Calibri"/>
              </a:rPr>
              <a:t>greater 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10" dirty="0">
                <a:latin typeface="Calibri"/>
                <a:cs typeface="Calibri"/>
              </a:rPr>
              <a:t>we </a:t>
            </a:r>
            <a:r>
              <a:rPr sz="1800" spc="-5" dirty="0">
                <a:latin typeface="Calibri"/>
                <a:cs typeface="Calibri"/>
              </a:rPr>
              <a:t>move our partition divider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10" dirty="0">
                <a:latin typeface="Calibri"/>
                <a:cs typeface="Calibri"/>
              </a:rPr>
              <a:t>swap </a:t>
            </a:r>
            <a:r>
              <a:rPr sz="1800" spc="-5" dirty="0">
                <a:latin typeface="Calibri"/>
                <a:cs typeface="Calibri"/>
              </a:rPr>
              <a:t>elements  </a:t>
            </a:r>
            <a:r>
              <a:rPr sz="1800" spc="-20" dirty="0">
                <a:latin typeface="Calibri"/>
                <a:cs typeface="Calibri"/>
              </a:rPr>
              <a:t>accordingly. </a:t>
            </a:r>
            <a:r>
              <a:rPr sz="1800" spc="-10" dirty="0">
                <a:latin typeface="Calibri"/>
                <a:cs typeface="Calibri"/>
              </a:rPr>
              <a:t>Here </a:t>
            </a:r>
            <a:r>
              <a:rPr sz="1800" dirty="0">
                <a:latin typeface="Calibri"/>
                <a:cs typeface="Calibri"/>
              </a:rPr>
              <a:t>13 </a:t>
            </a:r>
            <a:r>
              <a:rPr sz="1800" spc="-5" dirty="0">
                <a:latin typeface="Calibri"/>
                <a:cs typeface="Calibri"/>
              </a:rPr>
              <a:t>is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 </a:t>
            </a:r>
            <a:r>
              <a:rPr sz="1800" dirty="0">
                <a:latin typeface="Calibri"/>
                <a:cs typeface="Calibri"/>
              </a:rPr>
              <a:t>7 </a:t>
            </a:r>
            <a:r>
              <a:rPr sz="1800" spc="-5" dirty="0">
                <a:latin typeface="Calibri"/>
                <a:cs typeface="Calibri"/>
              </a:rPr>
              <a:t>so </a:t>
            </a:r>
            <a:r>
              <a:rPr sz="1800" dirty="0">
                <a:latin typeface="Calibri"/>
                <a:cs typeface="Calibri"/>
              </a:rPr>
              <a:t>it </a:t>
            </a:r>
            <a:r>
              <a:rPr sz="1800" spc="-5" dirty="0">
                <a:latin typeface="Calibri"/>
                <a:cs typeface="Calibri"/>
              </a:rPr>
              <a:t>is in 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correct </a:t>
            </a:r>
            <a:r>
              <a:rPr sz="1800" spc="-5" dirty="0">
                <a:latin typeface="Calibri"/>
                <a:cs typeface="Calibri"/>
              </a:rPr>
              <a:t>position,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right of our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divider.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779270" y="5013197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1" y="142494"/>
                </a:moveTo>
                <a:lnTo>
                  <a:pt x="71247" y="142494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4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4"/>
                </a:lnTo>
                <a:lnTo>
                  <a:pt x="284988" y="142494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779270" y="5013197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4"/>
                </a:moveTo>
                <a:lnTo>
                  <a:pt x="213741" y="142494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4"/>
                </a:lnTo>
                <a:lnTo>
                  <a:pt x="0" y="142494"/>
                </a:lnTo>
                <a:lnTo>
                  <a:pt x="142494" y="0"/>
                </a:lnTo>
                <a:lnTo>
                  <a:pt x="284988" y="1424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1308" y="4277867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0763" y="4306823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32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60"/>
              </a:spcBef>
            </a:pPr>
            <a:r>
              <a:rPr sz="3200" b="1" spc="-10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47544" y="432054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27576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6106" y="2212085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3"/>
                </a:moveTo>
                <a:lnTo>
                  <a:pt x="10200" y="79295"/>
                </a:lnTo>
                <a:lnTo>
                  <a:pt x="38017" y="38036"/>
                </a:lnTo>
                <a:lnTo>
                  <a:pt x="79274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3"/>
                </a:lnTo>
                <a:lnTo>
                  <a:pt x="2971800" y="648969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74" y="768556"/>
                </a:lnTo>
                <a:lnTo>
                  <a:pt x="38017" y="740727"/>
                </a:lnTo>
                <a:lnTo>
                  <a:pt x="10200" y="699468"/>
                </a:lnTo>
                <a:lnTo>
                  <a:pt x="0" y="648969"/>
                </a:lnTo>
                <a:lnTo>
                  <a:pt x="0" y="1297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27225" y="2228850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40" h="1524000">
                <a:moveTo>
                  <a:pt x="129540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40" y="1459230"/>
                </a:lnTo>
                <a:close/>
              </a:path>
              <a:path w="129540" h="1524000">
                <a:moveTo>
                  <a:pt x="97155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5" y="1459230"/>
                </a:lnTo>
                <a:lnTo>
                  <a:pt x="97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27225" y="2228850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40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5" y="0"/>
                </a:lnTo>
                <a:lnTo>
                  <a:pt x="97155" y="1459230"/>
                </a:lnTo>
                <a:lnTo>
                  <a:pt x="129540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85672" y="2304288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7236" y="2117808"/>
            <a:ext cx="1065530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6034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16151" y="2110485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686050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1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3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686050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3"/>
                </a:moveTo>
                <a:lnTo>
                  <a:pt x="213741" y="142493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07335" y="639318"/>
            <a:ext cx="6185535" cy="3171190"/>
          </a:xfrm>
          <a:custGeom>
            <a:avLst/>
            <a:gdLst/>
            <a:ahLst/>
            <a:cxnLst/>
            <a:rect l="l" t="t" r="r" b="b"/>
            <a:pathLst>
              <a:path w="6185534" h="3171190">
                <a:moveTo>
                  <a:pt x="2885948" y="1495044"/>
                </a:moveTo>
                <a:lnTo>
                  <a:pt x="1472056" y="1495044"/>
                </a:lnTo>
                <a:lnTo>
                  <a:pt x="0" y="3170682"/>
                </a:lnTo>
                <a:lnTo>
                  <a:pt x="2885948" y="1495044"/>
                </a:lnTo>
                <a:close/>
              </a:path>
              <a:path w="6185534" h="3171190">
                <a:moveTo>
                  <a:pt x="5935853" y="0"/>
                </a:moveTo>
                <a:lnTo>
                  <a:pt x="778637" y="0"/>
                </a:lnTo>
                <a:lnTo>
                  <a:pt x="733833" y="4012"/>
                </a:lnTo>
                <a:lnTo>
                  <a:pt x="691670" y="15582"/>
                </a:lnTo>
                <a:lnTo>
                  <a:pt x="652850" y="34007"/>
                </a:lnTo>
                <a:lnTo>
                  <a:pt x="618075" y="58585"/>
                </a:lnTo>
                <a:lnTo>
                  <a:pt x="588048" y="88612"/>
                </a:lnTo>
                <a:lnTo>
                  <a:pt x="563470" y="123387"/>
                </a:lnTo>
                <a:lnTo>
                  <a:pt x="545045" y="162207"/>
                </a:lnTo>
                <a:lnTo>
                  <a:pt x="533475" y="204370"/>
                </a:lnTo>
                <a:lnTo>
                  <a:pt x="529463" y="249174"/>
                </a:lnTo>
                <a:lnTo>
                  <a:pt x="529463" y="1245870"/>
                </a:lnTo>
                <a:lnTo>
                  <a:pt x="533475" y="1290673"/>
                </a:lnTo>
                <a:lnTo>
                  <a:pt x="545045" y="1332836"/>
                </a:lnTo>
                <a:lnTo>
                  <a:pt x="563470" y="1371656"/>
                </a:lnTo>
                <a:lnTo>
                  <a:pt x="588048" y="1406431"/>
                </a:lnTo>
                <a:lnTo>
                  <a:pt x="618075" y="1436458"/>
                </a:lnTo>
                <a:lnTo>
                  <a:pt x="652850" y="1461036"/>
                </a:lnTo>
                <a:lnTo>
                  <a:pt x="691670" y="1479461"/>
                </a:lnTo>
                <a:lnTo>
                  <a:pt x="733833" y="1491031"/>
                </a:lnTo>
                <a:lnTo>
                  <a:pt x="778637" y="1495044"/>
                </a:lnTo>
                <a:lnTo>
                  <a:pt x="5935853" y="1495044"/>
                </a:lnTo>
                <a:lnTo>
                  <a:pt x="5980656" y="1491031"/>
                </a:lnTo>
                <a:lnTo>
                  <a:pt x="6022819" y="1479461"/>
                </a:lnTo>
                <a:lnTo>
                  <a:pt x="6061639" y="1461036"/>
                </a:lnTo>
                <a:lnTo>
                  <a:pt x="6096414" y="1436458"/>
                </a:lnTo>
                <a:lnTo>
                  <a:pt x="6126441" y="1406431"/>
                </a:lnTo>
                <a:lnTo>
                  <a:pt x="6151019" y="1371656"/>
                </a:lnTo>
                <a:lnTo>
                  <a:pt x="6169444" y="1332836"/>
                </a:lnTo>
                <a:lnTo>
                  <a:pt x="6181014" y="1290673"/>
                </a:lnTo>
                <a:lnTo>
                  <a:pt x="6185026" y="1245870"/>
                </a:lnTo>
                <a:lnTo>
                  <a:pt x="6185026" y="249174"/>
                </a:lnTo>
                <a:lnTo>
                  <a:pt x="6181014" y="204370"/>
                </a:lnTo>
                <a:lnTo>
                  <a:pt x="6169444" y="162207"/>
                </a:lnTo>
                <a:lnTo>
                  <a:pt x="6151019" y="123387"/>
                </a:lnTo>
                <a:lnTo>
                  <a:pt x="6126441" y="88612"/>
                </a:lnTo>
                <a:lnTo>
                  <a:pt x="6096414" y="58585"/>
                </a:lnTo>
                <a:lnTo>
                  <a:pt x="6061639" y="34007"/>
                </a:lnTo>
                <a:lnTo>
                  <a:pt x="6022819" y="15582"/>
                </a:lnTo>
                <a:lnTo>
                  <a:pt x="5980656" y="4012"/>
                </a:lnTo>
                <a:lnTo>
                  <a:pt x="593585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807335" y="639318"/>
            <a:ext cx="6185535" cy="3171190"/>
          </a:xfrm>
          <a:custGeom>
            <a:avLst/>
            <a:gdLst/>
            <a:ahLst/>
            <a:cxnLst/>
            <a:rect l="l" t="t" r="r" b="b"/>
            <a:pathLst>
              <a:path w="6185534" h="3171190">
                <a:moveTo>
                  <a:pt x="529463" y="249174"/>
                </a:moveTo>
                <a:lnTo>
                  <a:pt x="533475" y="204370"/>
                </a:lnTo>
                <a:lnTo>
                  <a:pt x="545045" y="162207"/>
                </a:lnTo>
                <a:lnTo>
                  <a:pt x="563470" y="123387"/>
                </a:lnTo>
                <a:lnTo>
                  <a:pt x="588048" y="88612"/>
                </a:lnTo>
                <a:lnTo>
                  <a:pt x="618075" y="58585"/>
                </a:lnTo>
                <a:lnTo>
                  <a:pt x="652850" y="34007"/>
                </a:lnTo>
                <a:lnTo>
                  <a:pt x="691670" y="15582"/>
                </a:lnTo>
                <a:lnTo>
                  <a:pt x="733833" y="4012"/>
                </a:lnTo>
                <a:lnTo>
                  <a:pt x="778637" y="0"/>
                </a:lnTo>
                <a:lnTo>
                  <a:pt x="1472056" y="0"/>
                </a:lnTo>
                <a:lnTo>
                  <a:pt x="2885948" y="0"/>
                </a:lnTo>
                <a:lnTo>
                  <a:pt x="5935853" y="0"/>
                </a:lnTo>
                <a:lnTo>
                  <a:pt x="5980656" y="4012"/>
                </a:lnTo>
                <a:lnTo>
                  <a:pt x="6022819" y="15582"/>
                </a:lnTo>
                <a:lnTo>
                  <a:pt x="6061639" y="34007"/>
                </a:lnTo>
                <a:lnTo>
                  <a:pt x="6096414" y="58585"/>
                </a:lnTo>
                <a:lnTo>
                  <a:pt x="6126441" y="88612"/>
                </a:lnTo>
                <a:lnTo>
                  <a:pt x="6151019" y="123387"/>
                </a:lnTo>
                <a:lnTo>
                  <a:pt x="6169444" y="162207"/>
                </a:lnTo>
                <a:lnTo>
                  <a:pt x="6181014" y="204370"/>
                </a:lnTo>
                <a:lnTo>
                  <a:pt x="6185026" y="249174"/>
                </a:lnTo>
                <a:lnTo>
                  <a:pt x="6185026" y="872109"/>
                </a:lnTo>
                <a:lnTo>
                  <a:pt x="6185026" y="1245870"/>
                </a:lnTo>
                <a:lnTo>
                  <a:pt x="6181014" y="1290673"/>
                </a:lnTo>
                <a:lnTo>
                  <a:pt x="6169444" y="1332836"/>
                </a:lnTo>
                <a:lnTo>
                  <a:pt x="6151019" y="1371656"/>
                </a:lnTo>
                <a:lnTo>
                  <a:pt x="6126441" y="1406431"/>
                </a:lnTo>
                <a:lnTo>
                  <a:pt x="6096414" y="1436458"/>
                </a:lnTo>
                <a:lnTo>
                  <a:pt x="6061639" y="1461036"/>
                </a:lnTo>
                <a:lnTo>
                  <a:pt x="6022819" y="1479461"/>
                </a:lnTo>
                <a:lnTo>
                  <a:pt x="5980656" y="1491031"/>
                </a:lnTo>
                <a:lnTo>
                  <a:pt x="5935853" y="1495044"/>
                </a:lnTo>
                <a:lnTo>
                  <a:pt x="2885948" y="1495044"/>
                </a:lnTo>
                <a:lnTo>
                  <a:pt x="0" y="3170682"/>
                </a:lnTo>
                <a:lnTo>
                  <a:pt x="1472056" y="1495044"/>
                </a:lnTo>
                <a:lnTo>
                  <a:pt x="778637" y="1495044"/>
                </a:lnTo>
                <a:lnTo>
                  <a:pt x="733833" y="1491031"/>
                </a:lnTo>
                <a:lnTo>
                  <a:pt x="691670" y="1479461"/>
                </a:lnTo>
                <a:lnTo>
                  <a:pt x="652850" y="1461036"/>
                </a:lnTo>
                <a:lnTo>
                  <a:pt x="618075" y="1436458"/>
                </a:lnTo>
                <a:lnTo>
                  <a:pt x="588048" y="1406431"/>
                </a:lnTo>
                <a:lnTo>
                  <a:pt x="563470" y="1371656"/>
                </a:lnTo>
                <a:lnTo>
                  <a:pt x="545045" y="1332836"/>
                </a:lnTo>
                <a:lnTo>
                  <a:pt x="533475" y="1290673"/>
                </a:lnTo>
                <a:lnTo>
                  <a:pt x="529463" y="1245870"/>
                </a:lnTo>
                <a:lnTo>
                  <a:pt x="529463" y="872109"/>
                </a:lnTo>
                <a:lnTo>
                  <a:pt x="529463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525139" y="809320"/>
            <a:ext cx="527304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3 </a:t>
            </a:r>
            <a:r>
              <a:rPr sz="1800" spc="-5" dirty="0">
                <a:latin typeface="Calibri"/>
                <a:cs typeface="Calibri"/>
              </a:rPr>
              <a:t>is </a:t>
            </a:r>
            <a:r>
              <a:rPr sz="1800" dirty="0">
                <a:latin typeface="Calibri"/>
                <a:cs typeface="Calibri"/>
              </a:rPr>
              <a:t>less than </a:t>
            </a:r>
            <a:r>
              <a:rPr sz="1800" spc="-5" dirty="0">
                <a:latin typeface="Calibri"/>
                <a:cs typeface="Calibri"/>
              </a:rPr>
              <a:t>or </a:t>
            </a:r>
            <a:r>
              <a:rPr sz="1800" spc="-10" dirty="0">
                <a:latin typeface="Calibri"/>
                <a:cs typeface="Calibri"/>
              </a:rPr>
              <a:t>pivot </a:t>
            </a:r>
            <a:r>
              <a:rPr sz="1800" spc="-5" dirty="0">
                <a:latin typeface="Calibri"/>
                <a:cs typeface="Calibri"/>
              </a:rPr>
              <a:t>so </a:t>
            </a:r>
            <a:r>
              <a:rPr sz="1800" spc="-10" dirty="0">
                <a:latin typeface="Calibri"/>
                <a:cs typeface="Calibri"/>
              </a:rPr>
              <a:t>we swap </a:t>
            </a:r>
            <a:r>
              <a:rPr sz="1800" dirty="0">
                <a:latin typeface="Calibri"/>
                <a:cs typeface="Calibri"/>
              </a:rPr>
              <a:t>it </a:t>
            </a:r>
            <a:r>
              <a:rPr sz="1800" spc="-5" dirty="0">
                <a:latin typeface="Calibri"/>
                <a:cs typeface="Calibri"/>
              </a:rPr>
              <a:t>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20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known  element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pivot, here </a:t>
            </a:r>
            <a:r>
              <a:rPr sz="1800" dirty="0">
                <a:latin typeface="Calibri"/>
                <a:cs typeface="Calibri"/>
              </a:rPr>
              <a:t>the 13. And </a:t>
            </a:r>
            <a:r>
              <a:rPr sz="1800" spc="-10" dirty="0">
                <a:latin typeface="Calibri"/>
                <a:cs typeface="Calibri"/>
              </a:rPr>
              <a:t>move  </a:t>
            </a:r>
            <a:r>
              <a:rPr sz="1800" spc="-5" dirty="0">
                <a:latin typeface="Calibri"/>
                <a:cs typeface="Calibri"/>
              </a:rPr>
              <a:t>our partition divider </a:t>
            </a:r>
            <a:r>
              <a:rPr sz="1800" spc="-10" dirty="0">
                <a:latin typeface="Calibri"/>
                <a:cs typeface="Calibri"/>
              </a:rPr>
              <a:t>over </a:t>
            </a:r>
            <a:r>
              <a:rPr sz="1800" spc="-5" dirty="0">
                <a:latin typeface="Calibri"/>
                <a:cs typeface="Calibri"/>
              </a:rPr>
              <a:t>one </a:t>
            </a:r>
            <a:r>
              <a:rPr sz="1800" dirty="0">
                <a:latin typeface="Calibri"/>
                <a:cs typeface="Calibri"/>
              </a:rPr>
              <a:t>as </a:t>
            </a:r>
            <a:r>
              <a:rPr sz="1800" spc="-5" dirty="0">
                <a:latin typeface="Calibri"/>
                <a:cs typeface="Calibri"/>
              </a:rPr>
              <a:t>well so that </a:t>
            </a:r>
            <a:r>
              <a:rPr sz="1800" dirty="0">
                <a:latin typeface="Calibri"/>
                <a:cs typeface="Calibri"/>
              </a:rPr>
              <a:t>the lesser 3  </a:t>
            </a:r>
            <a:r>
              <a:rPr sz="1800" spc="-5" dirty="0">
                <a:latin typeface="Calibri"/>
                <a:cs typeface="Calibri"/>
              </a:rPr>
              <a:t>is in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correct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position.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1308" y="4277867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0763" y="4306823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32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60"/>
              </a:spcBef>
            </a:pPr>
            <a:r>
              <a:rPr sz="3200" b="1" spc="-10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8995" y="3401567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32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60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27576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6106" y="2212085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3"/>
                </a:moveTo>
                <a:lnTo>
                  <a:pt x="10200" y="79295"/>
                </a:lnTo>
                <a:lnTo>
                  <a:pt x="38017" y="38036"/>
                </a:lnTo>
                <a:lnTo>
                  <a:pt x="79274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3"/>
                </a:lnTo>
                <a:lnTo>
                  <a:pt x="2971800" y="648969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74" y="768556"/>
                </a:lnTo>
                <a:lnTo>
                  <a:pt x="38017" y="740727"/>
                </a:lnTo>
                <a:lnTo>
                  <a:pt x="10200" y="699468"/>
                </a:lnTo>
                <a:lnTo>
                  <a:pt x="0" y="648969"/>
                </a:lnTo>
                <a:lnTo>
                  <a:pt x="0" y="1297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27225" y="2228850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40" h="1524000">
                <a:moveTo>
                  <a:pt x="129540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40" y="1459230"/>
                </a:lnTo>
                <a:close/>
              </a:path>
              <a:path w="129540" h="1524000">
                <a:moveTo>
                  <a:pt x="97155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5" y="1459230"/>
                </a:lnTo>
                <a:lnTo>
                  <a:pt x="97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27225" y="2228850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40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5" y="0"/>
                </a:lnTo>
                <a:lnTo>
                  <a:pt x="97155" y="1459230"/>
                </a:lnTo>
                <a:lnTo>
                  <a:pt x="129540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85672" y="2304288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7236" y="2117808"/>
            <a:ext cx="1065530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6034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16151" y="2110485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686050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1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3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686050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3"/>
                </a:moveTo>
                <a:lnTo>
                  <a:pt x="213741" y="142493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07335" y="639318"/>
            <a:ext cx="6185535" cy="3171190"/>
          </a:xfrm>
          <a:custGeom>
            <a:avLst/>
            <a:gdLst/>
            <a:ahLst/>
            <a:cxnLst/>
            <a:rect l="l" t="t" r="r" b="b"/>
            <a:pathLst>
              <a:path w="6185534" h="3171190">
                <a:moveTo>
                  <a:pt x="2885948" y="1495044"/>
                </a:moveTo>
                <a:lnTo>
                  <a:pt x="1472056" y="1495044"/>
                </a:lnTo>
                <a:lnTo>
                  <a:pt x="0" y="3170682"/>
                </a:lnTo>
                <a:lnTo>
                  <a:pt x="2885948" y="1495044"/>
                </a:lnTo>
                <a:close/>
              </a:path>
              <a:path w="6185534" h="3171190">
                <a:moveTo>
                  <a:pt x="5935853" y="0"/>
                </a:moveTo>
                <a:lnTo>
                  <a:pt x="778637" y="0"/>
                </a:lnTo>
                <a:lnTo>
                  <a:pt x="733833" y="4012"/>
                </a:lnTo>
                <a:lnTo>
                  <a:pt x="691670" y="15582"/>
                </a:lnTo>
                <a:lnTo>
                  <a:pt x="652850" y="34007"/>
                </a:lnTo>
                <a:lnTo>
                  <a:pt x="618075" y="58585"/>
                </a:lnTo>
                <a:lnTo>
                  <a:pt x="588048" y="88612"/>
                </a:lnTo>
                <a:lnTo>
                  <a:pt x="563470" y="123387"/>
                </a:lnTo>
                <a:lnTo>
                  <a:pt x="545045" y="162207"/>
                </a:lnTo>
                <a:lnTo>
                  <a:pt x="533475" y="204370"/>
                </a:lnTo>
                <a:lnTo>
                  <a:pt x="529463" y="249174"/>
                </a:lnTo>
                <a:lnTo>
                  <a:pt x="529463" y="1245870"/>
                </a:lnTo>
                <a:lnTo>
                  <a:pt x="533475" y="1290673"/>
                </a:lnTo>
                <a:lnTo>
                  <a:pt x="545045" y="1332836"/>
                </a:lnTo>
                <a:lnTo>
                  <a:pt x="563470" y="1371656"/>
                </a:lnTo>
                <a:lnTo>
                  <a:pt x="588048" y="1406431"/>
                </a:lnTo>
                <a:lnTo>
                  <a:pt x="618075" y="1436458"/>
                </a:lnTo>
                <a:lnTo>
                  <a:pt x="652850" y="1461036"/>
                </a:lnTo>
                <a:lnTo>
                  <a:pt x="691670" y="1479461"/>
                </a:lnTo>
                <a:lnTo>
                  <a:pt x="733833" y="1491031"/>
                </a:lnTo>
                <a:lnTo>
                  <a:pt x="778637" y="1495044"/>
                </a:lnTo>
                <a:lnTo>
                  <a:pt x="5935853" y="1495044"/>
                </a:lnTo>
                <a:lnTo>
                  <a:pt x="5980656" y="1491031"/>
                </a:lnTo>
                <a:lnTo>
                  <a:pt x="6022819" y="1479461"/>
                </a:lnTo>
                <a:lnTo>
                  <a:pt x="6061639" y="1461036"/>
                </a:lnTo>
                <a:lnTo>
                  <a:pt x="6096414" y="1436458"/>
                </a:lnTo>
                <a:lnTo>
                  <a:pt x="6126441" y="1406431"/>
                </a:lnTo>
                <a:lnTo>
                  <a:pt x="6151019" y="1371656"/>
                </a:lnTo>
                <a:lnTo>
                  <a:pt x="6169444" y="1332836"/>
                </a:lnTo>
                <a:lnTo>
                  <a:pt x="6181014" y="1290673"/>
                </a:lnTo>
                <a:lnTo>
                  <a:pt x="6185026" y="1245870"/>
                </a:lnTo>
                <a:lnTo>
                  <a:pt x="6185026" y="249174"/>
                </a:lnTo>
                <a:lnTo>
                  <a:pt x="6181014" y="204370"/>
                </a:lnTo>
                <a:lnTo>
                  <a:pt x="6169444" y="162207"/>
                </a:lnTo>
                <a:lnTo>
                  <a:pt x="6151019" y="123387"/>
                </a:lnTo>
                <a:lnTo>
                  <a:pt x="6126441" y="88612"/>
                </a:lnTo>
                <a:lnTo>
                  <a:pt x="6096414" y="58585"/>
                </a:lnTo>
                <a:lnTo>
                  <a:pt x="6061639" y="34007"/>
                </a:lnTo>
                <a:lnTo>
                  <a:pt x="6022819" y="15582"/>
                </a:lnTo>
                <a:lnTo>
                  <a:pt x="5980656" y="4012"/>
                </a:lnTo>
                <a:lnTo>
                  <a:pt x="593585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807335" y="639318"/>
            <a:ext cx="6185535" cy="3171190"/>
          </a:xfrm>
          <a:custGeom>
            <a:avLst/>
            <a:gdLst/>
            <a:ahLst/>
            <a:cxnLst/>
            <a:rect l="l" t="t" r="r" b="b"/>
            <a:pathLst>
              <a:path w="6185534" h="3171190">
                <a:moveTo>
                  <a:pt x="529463" y="249174"/>
                </a:moveTo>
                <a:lnTo>
                  <a:pt x="533475" y="204370"/>
                </a:lnTo>
                <a:lnTo>
                  <a:pt x="545045" y="162207"/>
                </a:lnTo>
                <a:lnTo>
                  <a:pt x="563470" y="123387"/>
                </a:lnTo>
                <a:lnTo>
                  <a:pt x="588048" y="88612"/>
                </a:lnTo>
                <a:lnTo>
                  <a:pt x="618075" y="58585"/>
                </a:lnTo>
                <a:lnTo>
                  <a:pt x="652850" y="34007"/>
                </a:lnTo>
                <a:lnTo>
                  <a:pt x="691670" y="15582"/>
                </a:lnTo>
                <a:lnTo>
                  <a:pt x="733833" y="4012"/>
                </a:lnTo>
                <a:lnTo>
                  <a:pt x="778637" y="0"/>
                </a:lnTo>
                <a:lnTo>
                  <a:pt x="1472056" y="0"/>
                </a:lnTo>
                <a:lnTo>
                  <a:pt x="2885948" y="0"/>
                </a:lnTo>
                <a:lnTo>
                  <a:pt x="5935853" y="0"/>
                </a:lnTo>
                <a:lnTo>
                  <a:pt x="5980656" y="4012"/>
                </a:lnTo>
                <a:lnTo>
                  <a:pt x="6022819" y="15582"/>
                </a:lnTo>
                <a:lnTo>
                  <a:pt x="6061639" y="34007"/>
                </a:lnTo>
                <a:lnTo>
                  <a:pt x="6096414" y="58585"/>
                </a:lnTo>
                <a:lnTo>
                  <a:pt x="6126441" y="88612"/>
                </a:lnTo>
                <a:lnTo>
                  <a:pt x="6151019" y="123387"/>
                </a:lnTo>
                <a:lnTo>
                  <a:pt x="6169444" y="162207"/>
                </a:lnTo>
                <a:lnTo>
                  <a:pt x="6181014" y="204370"/>
                </a:lnTo>
                <a:lnTo>
                  <a:pt x="6185026" y="249174"/>
                </a:lnTo>
                <a:lnTo>
                  <a:pt x="6185026" y="872109"/>
                </a:lnTo>
                <a:lnTo>
                  <a:pt x="6185026" y="1245870"/>
                </a:lnTo>
                <a:lnTo>
                  <a:pt x="6181014" y="1290673"/>
                </a:lnTo>
                <a:lnTo>
                  <a:pt x="6169444" y="1332836"/>
                </a:lnTo>
                <a:lnTo>
                  <a:pt x="6151019" y="1371656"/>
                </a:lnTo>
                <a:lnTo>
                  <a:pt x="6126441" y="1406431"/>
                </a:lnTo>
                <a:lnTo>
                  <a:pt x="6096414" y="1436458"/>
                </a:lnTo>
                <a:lnTo>
                  <a:pt x="6061639" y="1461036"/>
                </a:lnTo>
                <a:lnTo>
                  <a:pt x="6022819" y="1479461"/>
                </a:lnTo>
                <a:lnTo>
                  <a:pt x="5980656" y="1491031"/>
                </a:lnTo>
                <a:lnTo>
                  <a:pt x="5935853" y="1495044"/>
                </a:lnTo>
                <a:lnTo>
                  <a:pt x="2885948" y="1495044"/>
                </a:lnTo>
                <a:lnTo>
                  <a:pt x="0" y="3170682"/>
                </a:lnTo>
                <a:lnTo>
                  <a:pt x="1472056" y="1495044"/>
                </a:lnTo>
                <a:lnTo>
                  <a:pt x="778637" y="1495044"/>
                </a:lnTo>
                <a:lnTo>
                  <a:pt x="733833" y="1491031"/>
                </a:lnTo>
                <a:lnTo>
                  <a:pt x="691670" y="1479461"/>
                </a:lnTo>
                <a:lnTo>
                  <a:pt x="652850" y="1461036"/>
                </a:lnTo>
                <a:lnTo>
                  <a:pt x="618075" y="1436458"/>
                </a:lnTo>
                <a:lnTo>
                  <a:pt x="588048" y="1406431"/>
                </a:lnTo>
                <a:lnTo>
                  <a:pt x="563470" y="1371656"/>
                </a:lnTo>
                <a:lnTo>
                  <a:pt x="545045" y="1332836"/>
                </a:lnTo>
                <a:lnTo>
                  <a:pt x="533475" y="1290673"/>
                </a:lnTo>
                <a:lnTo>
                  <a:pt x="529463" y="1245870"/>
                </a:lnTo>
                <a:lnTo>
                  <a:pt x="529463" y="872109"/>
                </a:lnTo>
                <a:lnTo>
                  <a:pt x="529463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525139" y="809320"/>
            <a:ext cx="527304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3 </a:t>
            </a:r>
            <a:r>
              <a:rPr sz="1800" spc="-5" dirty="0">
                <a:latin typeface="Calibri"/>
                <a:cs typeface="Calibri"/>
              </a:rPr>
              <a:t>is </a:t>
            </a:r>
            <a:r>
              <a:rPr sz="1800" dirty="0">
                <a:latin typeface="Calibri"/>
                <a:cs typeface="Calibri"/>
              </a:rPr>
              <a:t>less than </a:t>
            </a:r>
            <a:r>
              <a:rPr sz="1800" spc="-5" dirty="0">
                <a:latin typeface="Calibri"/>
                <a:cs typeface="Calibri"/>
              </a:rPr>
              <a:t>or </a:t>
            </a:r>
            <a:r>
              <a:rPr sz="1800" spc="-10" dirty="0">
                <a:latin typeface="Calibri"/>
                <a:cs typeface="Calibri"/>
              </a:rPr>
              <a:t>pivot </a:t>
            </a:r>
            <a:r>
              <a:rPr sz="1800" spc="-5" dirty="0">
                <a:latin typeface="Calibri"/>
                <a:cs typeface="Calibri"/>
              </a:rPr>
              <a:t>so </a:t>
            </a:r>
            <a:r>
              <a:rPr sz="1800" spc="-10" dirty="0">
                <a:latin typeface="Calibri"/>
                <a:cs typeface="Calibri"/>
              </a:rPr>
              <a:t>we swap </a:t>
            </a:r>
            <a:r>
              <a:rPr sz="1800" dirty="0">
                <a:latin typeface="Calibri"/>
                <a:cs typeface="Calibri"/>
              </a:rPr>
              <a:t>it </a:t>
            </a:r>
            <a:r>
              <a:rPr sz="1800" spc="-5" dirty="0">
                <a:latin typeface="Calibri"/>
                <a:cs typeface="Calibri"/>
              </a:rPr>
              <a:t>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20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known  element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pivot, here </a:t>
            </a:r>
            <a:r>
              <a:rPr sz="1800" dirty="0">
                <a:latin typeface="Calibri"/>
                <a:cs typeface="Calibri"/>
              </a:rPr>
              <a:t>the 13. And </a:t>
            </a:r>
            <a:r>
              <a:rPr sz="1800" spc="-10" dirty="0">
                <a:latin typeface="Calibri"/>
                <a:cs typeface="Calibri"/>
              </a:rPr>
              <a:t>move  </a:t>
            </a:r>
            <a:r>
              <a:rPr sz="1800" spc="-5" dirty="0">
                <a:latin typeface="Calibri"/>
                <a:cs typeface="Calibri"/>
              </a:rPr>
              <a:t>our partition divider </a:t>
            </a:r>
            <a:r>
              <a:rPr sz="1800" spc="-10" dirty="0">
                <a:latin typeface="Calibri"/>
                <a:cs typeface="Calibri"/>
              </a:rPr>
              <a:t>over </a:t>
            </a:r>
            <a:r>
              <a:rPr sz="1800" spc="-5" dirty="0">
                <a:latin typeface="Calibri"/>
                <a:cs typeface="Calibri"/>
              </a:rPr>
              <a:t>one </a:t>
            </a:r>
            <a:r>
              <a:rPr sz="1800" dirty="0">
                <a:latin typeface="Calibri"/>
                <a:cs typeface="Calibri"/>
              </a:rPr>
              <a:t>as </a:t>
            </a:r>
            <a:r>
              <a:rPr sz="1800" spc="-5" dirty="0">
                <a:latin typeface="Calibri"/>
                <a:cs typeface="Calibri"/>
              </a:rPr>
              <a:t>well so that </a:t>
            </a:r>
            <a:r>
              <a:rPr sz="1800" dirty="0">
                <a:latin typeface="Calibri"/>
                <a:cs typeface="Calibri"/>
              </a:rPr>
              <a:t>the lesser 3  </a:t>
            </a:r>
            <a:r>
              <a:rPr sz="1800" spc="-5" dirty="0">
                <a:latin typeface="Calibri"/>
                <a:cs typeface="Calibri"/>
              </a:rPr>
              <a:t>is in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correct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position.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1308" y="4277867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47544" y="4314444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65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8995" y="3401567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32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60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27576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6106" y="2212085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3"/>
                </a:moveTo>
                <a:lnTo>
                  <a:pt x="10200" y="79295"/>
                </a:lnTo>
                <a:lnTo>
                  <a:pt x="38017" y="38036"/>
                </a:lnTo>
                <a:lnTo>
                  <a:pt x="79274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3"/>
                </a:lnTo>
                <a:lnTo>
                  <a:pt x="2971800" y="648969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74" y="768556"/>
                </a:lnTo>
                <a:lnTo>
                  <a:pt x="38017" y="740727"/>
                </a:lnTo>
                <a:lnTo>
                  <a:pt x="10200" y="699468"/>
                </a:lnTo>
                <a:lnTo>
                  <a:pt x="0" y="648969"/>
                </a:lnTo>
                <a:lnTo>
                  <a:pt x="0" y="1297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27225" y="2228850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40" h="1524000">
                <a:moveTo>
                  <a:pt x="129540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40" y="1459230"/>
                </a:lnTo>
                <a:close/>
              </a:path>
              <a:path w="129540" h="1524000">
                <a:moveTo>
                  <a:pt x="97155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5" y="1459230"/>
                </a:lnTo>
                <a:lnTo>
                  <a:pt x="97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27225" y="2228850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40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5" y="0"/>
                </a:lnTo>
                <a:lnTo>
                  <a:pt x="97155" y="1459230"/>
                </a:lnTo>
                <a:lnTo>
                  <a:pt x="129540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85672" y="2304288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7236" y="2117808"/>
            <a:ext cx="1065530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6034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16151" y="2110485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686050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1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3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686050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3"/>
                </a:moveTo>
                <a:lnTo>
                  <a:pt x="213741" y="142493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07335" y="639318"/>
            <a:ext cx="6185535" cy="3171190"/>
          </a:xfrm>
          <a:custGeom>
            <a:avLst/>
            <a:gdLst/>
            <a:ahLst/>
            <a:cxnLst/>
            <a:rect l="l" t="t" r="r" b="b"/>
            <a:pathLst>
              <a:path w="6185534" h="3171190">
                <a:moveTo>
                  <a:pt x="2885948" y="1495044"/>
                </a:moveTo>
                <a:lnTo>
                  <a:pt x="1472056" y="1495044"/>
                </a:lnTo>
                <a:lnTo>
                  <a:pt x="0" y="3170682"/>
                </a:lnTo>
                <a:lnTo>
                  <a:pt x="2885948" y="1495044"/>
                </a:lnTo>
                <a:close/>
              </a:path>
              <a:path w="6185534" h="3171190">
                <a:moveTo>
                  <a:pt x="5935853" y="0"/>
                </a:moveTo>
                <a:lnTo>
                  <a:pt x="778637" y="0"/>
                </a:lnTo>
                <a:lnTo>
                  <a:pt x="733833" y="4012"/>
                </a:lnTo>
                <a:lnTo>
                  <a:pt x="691670" y="15582"/>
                </a:lnTo>
                <a:lnTo>
                  <a:pt x="652850" y="34007"/>
                </a:lnTo>
                <a:lnTo>
                  <a:pt x="618075" y="58585"/>
                </a:lnTo>
                <a:lnTo>
                  <a:pt x="588048" y="88612"/>
                </a:lnTo>
                <a:lnTo>
                  <a:pt x="563470" y="123387"/>
                </a:lnTo>
                <a:lnTo>
                  <a:pt x="545045" y="162207"/>
                </a:lnTo>
                <a:lnTo>
                  <a:pt x="533475" y="204370"/>
                </a:lnTo>
                <a:lnTo>
                  <a:pt x="529463" y="249174"/>
                </a:lnTo>
                <a:lnTo>
                  <a:pt x="529463" y="1245870"/>
                </a:lnTo>
                <a:lnTo>
                  <a:pt x="533475" y="1290673"/>
                </a:lnTo>
                <a:lnTo>
                  <a:pt x="545045" y="1332836"/>
                </a:lnTo>
                <a:lnTo>
                  <a:pt x="563470" y="1371656"/>
                </a:lnTo>
                <a:lnTo>
                  <a:pt x="588048" y="1406431"/>
                </a:lnTo>
                <a:lnTo>
                  <a:pt x="618075" y="1436458"/>
                </a:lnTo>
                <a:lnTo>
                  <a:pt x="652850" y="1461036"/>
                </a:lnTo>
                <a:lnTo>
                  <a:pt x="691670" y="1479461"/>
                </a:lnTo>
                <a:lnTo>
                  <a:pt x="733833" y="1491031"/>
                </a:lnTo>
                <a:lnTo>
                  <a:pt x="778637" y="1495044"/>
                </a:lnTo>
                <a:lnTo>
                  <a:pt x="5935853" y="1495044"/>
                </a:lnTo>
                <a:lnTo>
                  <a:pt x="5980656" y="1491031"/>
                </a:lnTo>
                <a:lnTo>
                  <a:pt x="6022819" y="1479461"/>
                </a:lnTo>
                <a:lnTo>
                  <a:pt x="6061639" y="1461036"/>
                </a:lnTo>
                <a:lnTo>
                  <a:pt x="6096414" y="1436458"/>
                </a:lnTo>
                <a:lnTo>
                  <a:pt x="6126441" y="1406431"/>
                </a:lnTo>
                <a:lnTo>
                  <a:pt x="6151019" y="1371656"/>
                </a:lnTo>
                <a:lnTo>
                  <a:pt x="6169444" y="1332836"/>
                </a:lnTo>
                <a:lnTo>
                  <a:pt x="6181014" y="1290673"/>
                </a:lnTo>
                <a:lnTo>
                  <a:pt x="6185026" y="1245870"/>
                </a:lnTo>
                <a:lnTo>
                  <a:pt x="6185026" y="249174"/>
                </a:lnTo>
                <a:lnTo>
                  <a:pt x="6181014" y="204370"/>
                </a:lnTo>
                <a:lnTo>
                  <a:pt x="6169444" y="162207"/>
                </a:lnTo>
                <a:lnTo>
                  <a:pt x="6151019" y="123387"/>
                </a:lnTo>
                <a:lnTo>
                  <a:pt x="6126441" y="88612"/>
                </a:lnTo>
                <a:lnTo>
                  <a:pt x="6096414" y="58585"/>
                </a:lnTo>
                <a:lnTo>
                  <a:pt x="6061639" y="34007"/>
                </a:lnTo>
                <a:lnTo>
                  <a:pt x="6022819" y="15582"/>
                </a:lnTo>
                <a:lnTo>
                  <a:pt x="5980656" y="4012"/>
                </a:lnTo>
                <a:lnTo>
                  <a:pt x="593585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807335" y="639318"/>
            <a:ext cx="6185535" cy="3171190"/>
          </a:xfrm>
          <a:custGeom>
            <a:avLst/>
            <a:gdLst/>
            <a:ahLst/>
            <a:cxnLst/>
            <a:rect l="l" t="t" r="r" b="b"/>
            <a:pathLst>
              <a:path w="6185534" h="3171190">
                <a:moveTo>
                  <a:pt x="529463" y="249174"/>
                </a:moveTo>
                <a:lnTo>
                  <a:pt x="533475" y="204370"/>
                </a:lnTo>
                <a:lnTo>
                  <a:pt x="545045" y="162207"/>
                </a:lnTo>
                <a:lnTo>
                  <a:pt x="563470" y="123387"/>
                </a:lnTo>
                <a:lnTo>
                  <a:pt x="588048" y="88612"/>
                </a:lnTo>
                <a:lnTo>
                  <a:pt x="618075" y="58585"/>
                </a:lnTo>
                <a:lnTo>
                  <a:pt x="652850" y="34007"/>
                </a:lnTo>
                <a:lnTo>
                  <a:pt x="691670" y="15582"/>
                </a:lnTo>
                <a:lnTo>
                  <a:pt x="733833" y="4012"/>
                </a:lnTo>
                <a:lnTo>
                  <a:pt x="778637" y="0"/>
                </a:lnTo>
                <a:lnTo>
                  <a:pt x="1472056" y="0"/>
                </a:lnTo>
                <a:lnTo>
                  <a:pt x="2885948" y="0"/>
                </a:lnTo>
                <a:lnTo>
                  <a:pt x="5935853" y="0"/>
                </a:lnTo>
                <a:lnTo>
                  <a:pt x="5980656" y="4012"/>
                </a:lnTo>
                <a:lnTo>
                  <a:pt x="6022819" y="15582"/>
                </a:lnTo>
                <a:lnTo>
                  <a:pt x="6061639" y="34007"/>
                </a:lnTo>
                <a:lnTo>
                  <a:pt x="6096414" y="58585"/>
                </a:lnTo>
                <a:lnTo>
                  <a:pt x="6126441" y="88612"/>
                </a:lnTo>
                <a:lnTo>
                  <a:pt x="6151019" y="123387"/>
                </a:lnTo>
                <a:lnTo>
                  <a:pt x="6169444" y="162207"/>
                </a:lnTo>
                <a:lnTo>
                  <a:pt x="6181014" y="204370"/>
                </a:lnTo>
                <a:lnTo>
                  <a:pt x="6185026" y="249174"/>
                </a:lnTo>
                <a:lnTo>
                  <a:pt x="6185026" y="872109"/>
                </a:lnTo>
                <a:lnTo>
                  <a:pt x="6185026" y="1245870"/>
                </a:lnTo>
                <a:lnTo>
                  <a:pt x="6181014" y="1290673"/>
                </a:lnTo>
                <a:lnTo>
                  <a:pt x="6169444" y="1332836"/>
                </a:lnTo>
                <a:lnTo>
                  <a:pt x="6151019" y="1371656"/>
                </a:lnTo>
                <a:lnTo>
                  <a:pt x="6126441" y="1406431"/>
                </a:lnTo>
                <a:lnTo>
                  <a:pt x="6096414" y="1436458"/>
                </a:lnTo>
                <a:lnTo>
                  <a:pt x="6061639" y="1461036"/>
                </a:lnTo>
                <a:lnTo>
                  <a:pt x="6022819" y="1479461"/>
                </a:lnTo>
                <a:lnTo>
                  <a:pt x="5980656" y="1491031"/>
                </a:lnTo>
                <a:lnTo>
                  <a:pt x="5935853" y="1495044"/>
                </a:lnTo>
                <a:lnTo>
                  <a:pt x="2885948" y="1495044"/>
                </a:lnTo>
                <a:lnTo>
                  <a:pt x="0" y="3170682"/>
                </a:lnTo>
                <a:lnTo>
                  <a:pt x="1472056" y="1495044"/>
                </a:lnTo>
                <a:lnTo>
                  <a:pt x="778637" y="1495044"/>
                </a:lnTo>
                <a:lnTo>
                  <a:pt x="733833" y="1491031"/>
                </a:lnTo>
                <a:lnTo>
                  <a:pt x="691670" y="1479461"/>
                </a:lnTo>
                <a:lnTo>
                  <a:pt x="652850" y="1461036"/>
                </a:lnTo>
                <a:lnTo>
                  <a:pt x="618075" y="1436458"/>
                </a:lnTo>
                <a:lnTo>
                  <a:pt x="588048" y="1406431"/>
                </a:lnTo>
                <a:lnTo>
                  <a:pt x="563470" y="1371656"/>
                </a:lnTo>
                <a:lnTo>
                  <a:pt x="545045" y="1332836"/>
                </a:lnTo>
                <a:lnTo>
                  <a:pt x="533475" y="1290673"/>
                </a:lnTo>
                <a:lnTo>
                  <a:pt x="529463" y="1245870"/>
                </a:lnTo>
                <a:lnTo>
                  <a:pt x="529463" y="872109"/>
                </a:lnTo>
                <a:lnTo>
                  <a:pt x="529463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525139" y="809320"/>
            <a:ext cx="527304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3 </a:t>
            </a:r>
            <a:r>
              <a:rPr sz="1800" spc="-5" dirty="0">
                <a:latin typeface="Calibri"/>
                <a:cs typeface="Calibri"/>
              </a:rPr>
              <a:t>is </a:t>
            </a:r>
            <a:r>
              <a:rPr sz="1800" dirty="0">
                <a:latin typeface="Calibri"/>
                <a:cs typeface="Calibri"/>
              </a:rPr>
              <a:t>less than </a:t>
            </a:r>
            <a:r>
              <a:rPr sz="1800" spc="-5" dirty="0">
                <a:latin typeface="Calibri"/>
                <a:cs typeface="Calibri"/>
              </a:rPr>
              <a:t>or </a:t>
            </a:r>
            <a:r>
              <a:rPr sz="1800" spc="-10" dirty="0">
                <a:latin typeface="Calibri"/>
                <a:cs typeface="Calibri"/>
              </a:rPr>
              <a:t>pivot </a:t>
            </a:r>
            <a:r>
              <a:rPr sz="1800" spc="-5" dirty="0">
                <a:latin typeface="Calibri"/>
                <a:cs typeface="Calibri"/>
              </a:rPr>
              <a:t>so </a:t>
            </a:r>
            <a:r>
              <a:rPr sz="1800" spc="-10" dirty="0">
                <a:latin typeface="Calibri"/>
                <a:cs typeface="Calibri"/>
              </a:rPr>
              <a:t>we swap </a:t>
            </a:r>
            <a:r>
              <a:rPr sz="1800" dirty="0">
                <a:latin typeface="Calibri"/>
                <a:cs typeface="Calibri"/>
              </a:rPr>
              <a:t>it </a:t>
            </a:r>
            <a:r>
              <a:rPr sz="1800" spc="-5" dirty="0">
                <a:latin typeface="Calibri"/>
                <a:cs typeface="Calibri"/>
              </a:rPr>
              <a:t>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20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known  element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pivot, here </a:t>
            </a:r>
            <a:r>
              <a:rPr sz="1800" dirty="0">
                <a:latin typeface="Calibri"/>
                <a:cs typeface="Calibri"/>
              </a:rPr>
              <a:t>the 13. And </a:t>
            </a:r>
            <a:r>
              <a:rPr sz="1800" spc="-10" dirty="0">
                <a:latin typeface="Calibri"/>
                <a:cs typeface="Calibri"/>
              </a:rPr>
              <a:t>move  </a:t>
            </a:r>
            <a:r>
              <a:rPr sz="1800" spc="-5" dirty="0">
                <a:latin typeface="Calibri"/>
                <a:cs typeface="Calibri"/>
              </a:rPr>
              <a:t>our partition divider </a:t>
            </a:r>
            <a:r>
              <a:rPr sz="1800" spc="-10" dirty="0">
                <a:latin typeface="Calibri"/>
                <a:cs typeface="Calibri"/>
              </a:rPr>
              <a:t>over </a:t>
            </a:r>
            <a:r>
              <a:rPr sz="1800" spc="-5" dirty="0">
                <a:latin typeface="Calibri"/>
                <a:cs typeface="Calibri"/>
              </a:rPr>
              <a:t>one </a:t>
            </a:r>
            <a:r>
              <a:rPr sz="1800" dirty="0">
                <a:latin typeface="Calibri"/>
                <a:cs typeface="Calibri"/>
              </a:rPr>
              <a:t>as </a:t>
            </a:r>
            <a:r>
              <a:rPr sz="1800" spc="-5" dirty="0">
                <a:latin typeface="Calibri"/>
                <a:cs typeface="Calibri"/>
              </a:rPr>
              <a:t>well so that </a:t>
            </a:r>
            <a:r>
              <a:rPr sz="1800" dirty="0">
                <a:latin typeface="Calibri"/>
                <a:cs typeface="Calibri"/>
              </a:rPr>
              <a:t>the lesser 3  </a:t>
            </a:r>
            <a:r>
              <a:rPr sz="1800" spc="-5" dirty="0">
                <a:latin typeface="Calibri"/>
                <a:cs typeface="Calibri"/>
              </a:rPr>
              <a:t>is in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correct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position.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1308" y="4277867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47544" y="4314444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65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27576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807335" y="639318"/>
            <a:ext cx="6185535" cy="3171190"/>
          </a:xfrm>
          <a:custGeom>
            <a:avLst/>
            <a:gdLst/>
            <a:ahLst/>
            <a:cxnLst/>
            <a:rect l="l" t="t" r="r" b="b"/>
            <a:pathLst>
              <a:path w="6185534" h="3171190">
                <a:moveTo>
                  <a:pt x="2885948" y="1495044"/>
                </a:moveTo>
                <a:lnTo>
                  <a:pt x="1472056" y="1495044"/>
                </a:lnTo>
                <a:lnTo>
                  <a:pt x="0" y="3170682"/>
                </a:lnTo>
                <a:lnTo>
                  <a:pt x="2885948" y="1495044"/>
                </a:lnTo>
                <a:close/>
              </a:path>
              <a:path w="6185534" h="3171190">
                <a:moveTo>
                  <a:pt x="5935853" y="0"/>
                </a:moveTo>
                <a:lnTo>
                  <a:pt x="778637" y="0"/>
                </a:lnTo>
                <a:lnTo>
                  <a:pt x="733833" y="4012"/>
                </a:lnTo>
                <a:lnTo>
                  <a:pt x="691670" y="15582"/>
                </a:lnTo>
                <a:lnTo>
                  <a:pt x="652850" y="34007"/>
                </a:lnTo>
                <a:lnTo>
                  <a:pt x="618075" y="58585"/>
                </a:lnTo>
                <a:lnTo>
                  <a:pt x="588048" y="88612"/>
                </a:lnTo>
                <a:lnTo>
                  <a:pt x="563470" y="123387"/>
                </a:lnTo>
                <a:lnTo>
                  <a:pt x="545045" y="162207"/>
                </a:lnTo>
                <a:lnTo>
                  <a:pt x="533475" y="204370"/>
                </a:lnTo>
                <a:lnTo>
                  <a:pt x="529463" y="249174"/>
                </a:lnTo>
                <a:lnTo>
                  <a:pt x="529463" y="1245870"/>
                </a:lnTo>
                <a:lnTo>
                  <a:pt x="533475" y="1290673"/>
                </a:lnTo>
                <a:lnTo>
                  <a:pt x="545045" y="1332836"/>
                </a:lnTo>
                <a:lnTo>
                  <a:pt x="563470" y="1371656"/>
                </a:lnTo>
                <a:lnTo>
                  <a:pt x="588048" y="1406431"/>
                </a:lnTo>
                <a:lnTo>
                  <a:pt x="618075" y="1436458"/>
                </a:lnTo>
                <a:lnTo>
                  <a:pt x="652850" y="1461036"/>
                </a:lnTo>
                <a:lnTo>
                  <a:pt x="691670" y="1479461"/>
                </a:lnTo>
                <a:lnTo>
                  <a:pt x="733833" y="1491031"/>
                </a:lnTo>
                <a:lnTo>
                  <a:pt x="778637" y="1495044"/>
                </a:lnTo>
                <a:lnTo>
                  <a:pt x="5935853" y="1495044"/>
                </a:lnTo>
                <a:lnTo>
                  <a:pt x="5980656" y="1491031"/>
                </a:lnTo>
                <a:lnTo>
                  <a:pt x="6022819" y="1479461"/>
                </a:lnTo>
                <a:lnTo>
                  <a:pt x="6061639" y="1461036"/>
                </a:lnTo>
                <a:lnTo>
                  <a:pt x="6096414" y="1436458"/>
                </a:lnTo>
                <a:lnTo>
                  <a:pt x="6126441" y="1406431"/>
                </a:lnTo>
                <a:lnTo>
                  <a:pt x="6151019" y="1371656"/>
                </a:lnTo>
                <a:lnTo>
                  <a:pt x="6169444" y="1332836"/>
                </a:lnTo>
                <a:lnTo>
                  <a:pt x="6181014" y="1290673"/>
                </a:lnTo>
                <a:lnTo>
                  <a:pt x="6185026" y="1245870"/>
                </a:lnTo>
                <a:lnTo>
                  <a:pt x="6185026" y="249174"/>
                </a:lnTo>
                <a:lnTo>
                  <a:pt x="6181014" y="204370"/>
                </a:lnTo>
                <a:lnTo>
                  <a:pt x="6169444" y="162207"/>
                </a:lnTo>
                <a:lnTo>
                  <a:pt x="6151019" y="123387"/>
                </a:lnTo>
                <a:lnTo>
                  <a:pt x="6126441" y="88612"/>
                </a:lnTo>
                <a:lnTo>
                  <a:pt x="6096414" y="58585"/>
                </a:lnTo>
                <a:lnTo>
                  <a:pt x="6061639" y="34007"/>
                </a:lnTo>
                <a:lnTo>
                  <a:pt x="6022819" y="15582"/>
                </a:lnTo>
                <a:lnTo>
                  <a:pt x="5980656" y="4012"/>
                </a:lnTo>
                <a:lnTo>
                  <a:pt x="593585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807335" y="639318"/>
            <a:ext cx="6185535" cy="3171190"/>
          </a:xfrm>
          <a:custGeom>
            <a:avLst/>
            <a:gdLst/>
            <a:ahLst/>
            <a:cxnLst/>
            <a:rect l="l" t="t" r="r" b="b"/>
            <a:pathLst>
              <a:path w="6185534" h="3171190">
                <a:moveTo>
                  <a:pt x="529463" y="249174"/>
                </a:moveTo>
                <a:lnTo>
                  <a:pt x="533475" y="204370"/>
                </a:lnTo>
                <a:lnTo>
                  <a:pt x="545045" y="162207"/>
                </a:lnTo>
                <a:lnTo>
                  <a:pt x="563470" y="123387"/>
                </a:lnTo>
                <a:lnTo>
                  <a:pt x="588048" y="88612"/>
                </a:lnTo>
                <a:lnTo>
                  <a:pt x="618075" y="58585"/>
                </a:lnTo>
                <a:lnTo>
                  <a:pt x="652850" y="34007"/>
                </a:lnTo>
                <a:lnTo>
                  <a:pt x="691670" y="15582"/>
                </a:lnTo>
                <a:lnTo>
                  <a:pt x="733833" y="4012"/>
                </a:lnTo>
                <a:lnTo>
                  <a:pt x="778637" y="0"/>
                </a:lnTo>
                <a:lnTo>
                  <a:pt x="1472056" y="0"/>
                </a:lnTo>
                <a:lnTo>
                  <a:pt x="2885948" y="0"/>
                </a:lnTo>
                <a:lnTo>
                  <a:pt x="5935853" y="0"/>
                </a:lnTo>
                <a:lnTo>
                  <a:pt x="5980656" y="4012"/>
                </a:lnTo>
                <a:lnTo>
                  <a:pt x="6022819" y="15582"/>
                </a:lnTo>
                <a:lnTo>
                  <a:pt x="6061639" y="34007"/>
                </a:lnTo>
                <a:lnTo>
                  <a:pt x="6096414" y="58585"/>
                </a:lnTo>
                <a:lnTo>
                  <a:pt x="6126441" y="88612"/>
                </a:lnTo>
                <a:lnTo>
                  <a:pt x="6151019" y="123387"/>
                </a:lnTo>
                <a:lnTo>
                  <a:pt x="6169444" y="162207"/>
                </a:lnTo>
                <a:lnTo>
                  <a:pt x="6181014" y="204370"/>
                </a:lnTo>
                <a:lnTo>
                  <a:pt x="6185026" y="249174"/>
                </a:lnTo>
                <a:lnTo>
                  <a:pt x="6185026" y="872109"/>
                </a:lnTo>
                <a:lnTo>
                  <a:pt x="6185026" y="1245870"/>
                </a:lnTo>
                <a:lnTo>
                  <a:pt x="6181014" y="1290673"/>
                </a:lnTo>
                <a:lnTo>
                  <a:pt x="6169444" y="1332836"/>
                </a:lnTo>
                <a:lnTo>
                  <a:pt x="6151019" y="1371656"/>
                </a:lnTo>
                <a:lnTo>
                  <a:pt x="6126441" y="1406431"/>
                </a:lnTo>
                <a:lnTo>
                  <a:pt x="6096414" y="1436458"/>
                </a:lnTo>
                <a:lnTo>
                  <a:pt x="6061639" y="1461036"/>
                </a:lnTo>
                <a:lnTo>
                  <a:pt x="6022819" y="1479461"/>
                </a:lnTo>
                <a:lnTo>
                  <a:pt x="5980656" y="1491031"/>
                </a:lnTo>
                <a:lnTo>
                  <a:pt x="5935853" y="1495044"/>
                </a:lnTo>
                <a:lnTo>
                  <a:pt x="2885948" y="1495044"/>
                </a:lnTo>
                <a:lnTo>
                  <a:pt x="0" y="3170682"/>
                </a:lnTo>
                <a:lnTo>
                  <a:pt x="1472056" y="1495044"/>
                </a:lnTo>
                <a:lnTo>
                  <a:pt x="778637" y="1495044"/>
                </a:lnTo>
                <a:lnTo>
                  <a:pt x="733833" y="1491031"/>
                </a:lnTo>
                <a:lnTo>
                  <a:pt x="691670" y="1479461"/>
                </a:lnTo>
                <a:lnTo>
                  <a:pt x="652850" y="1461036"/>
                </a:lnTo>
                <a:lnTo>
                  <a:pt x="618075" y="1436458"/>
                </a:lnTo>
                <a:lnTo>
                  <a:pt x="588048" y="1406431"/>
                </a:lnTo>
                <a:lnTo>
                  <a:pt x="563470" y="1371656"/>
                </a:lnTo>
                <a:lnTo>
                  <a:pt x="545045" y="1332836"/>
                </a:lnTo>
                <a:lnTo>
                  <a:pt x="533475" y="1290673"/>
                </a:lnTo>
                <a:lnTo>
                  <a:pt x="529463" y="1245870"/>
                </a:lnTo>
                <a:lnTo>
                  <a:pt x="529463" y="872109"/>
                </a:lnTo>
                <a:lnTo>
                  <a:pt x="529463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525139" y="809320"/>
            <a:ext cx="527304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3 </a:t>
            </a:r>
            <a:r>
              <a:rPr sz="1800" spc="-5" dirty="0">
                <a:latin typeface="Calibri"/>
                <a:cs typeface="Calibri"/>
              </a:rPr>
              <a:t>is </a:t>
            </a:r>
            <a:r>
              <a:rPr sz="1800" dirty="0">
                <a:latin typeface="Calibri"/>
                <a:cs typeface="Calibri"/>
              </a:rPr>
              <a:t>less than </a:t>
            </a:r>
            <a:r>
              <a:rPr sz="1800" spc="-5" dirty="0">
                <a:latin typeface="Calibri"/>
                <a:cs typeface="Calibri"/>
              </a:rPr>
              <a:t>or </a:t>
            </a:r>
            <a:r>
              <a:rPr sz="1800" spc="-10" dirty="0">
                <a:latin typeface="Calibri"/>
                <a:cs typeface="Calibri"/>
              </a:rPr>
              <a:t>pivot </a:t>
            </a:r>
            <a:r>
              <a:rPr sz="1800" spc="-5" dirty="0">
                <a:latin typeface="Calibri"/>
                <a:cs typeface="Calibri"/>
              </a:rPr>
              <a:t>so </a:t>
            </a:r>
            <a:r>
              <a:rPr sz="1800" spc="-10" dirty="0">
                <a:latin typeface="Calibri"/>
                <a:cs typeface="Calibri"/>
              </a:rPr>
              <a:t>we swap </a:t>
            </a:r>
            <a:r>
              <a:rPr sz="1800" dirty="0">
                <a:latin typeface="Calibri"/>
                <a:cs typeface="Calibri"/>
              </a:rPr>
              <a:t>it </a:t>
            </a:r>
            <a:r>
              <a:rPr sz="1800" spc="-5" dirty="0">
                <a:latin typeface="Calibri"/>
                <a:cs typeface="Calibri"/>
              </a:rPr>
              <a:t>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20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known  element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pivot, here </a:t>
            </a:r>
            <a:r>
              <a:rPr sz="1800" dirty="0">
                <a:latin typeface="Calibri"/>
                <a:cs typeface="Calibri"/>
              </a:rPr>
              <a:t>the 13. And </a:t>
            </a:r>
            <a:r>
              <a:rPr sz="1800" spc="-10" dirty="0">
                <a:latin typeface="Calibri"/>
                <a:cs typeface="Calibri"/>
              </a:rPr>
              <a:t>move  </a:t>
            </a:r>
            <a:r>
              <a:rPr sz="1800" spc="-5" dirty="0">
                <a:latin typeface="Calibri"/>
                <a:cs typeface="Calibri"/>
              </a:rPr>
              <a:t>our partition divider </a:t>
            </a:r>
            <a:r>
              <a:rPr sz="1800" spc="-10" dirty="0">
                <a:latin typeface="Calibri"/>
                <a:cs typeface="Calibri"/>
              </a:rPr>
              <a:t>over </a:t>
            </a:r>
            <a:r>
              <a:rPr sz="1800" spc="-5" dirty="0">
                <a:latin typeface="Calibri"/>
                <a:cs typeface="Calibri"/>
              </a:rPr>
              <a:t>one </a:t>
            </a:r>
            <a:r>
              <a:rPr sz="1800" dirty="0">
                <a:latin typeface="Calibri"/>
                <a:cs typeface="Calibri"/>
              </a:rPr>
              <a:t>as </a:t>
            </a:r>
            <a:r>
              <a:rPr sz="1800" spc="-5" dirty="0">
                <a:latin typeface="Calibri"/>
                <a:cs typeface="Calibri"/>
              </a:rPr>
              <a:t>well so that </a:t>
            </a:r>
            <a:r>
              <a:rPr sz="1800" dirty="0">
                <a:latin typeface="Calibri"/>
                <a:cs typeface="Calibri"/>
              </a:rPr>
              <a:t>the lesser 3  </a:t>
            </a:r>
            <a:r>
              <a:rPr sz="1800" spc="-5" dirty="0">
                <a:latin typeface="Calibri"/>
                <a:cs typeface="Calibri"/>
              </a:rPr>
              <a:t>is in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correct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position.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686050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1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3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686050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3"/>
                </a:moveTo>
                <a:lnTo>
                  <a:pt x="213741" y="142493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47166" y="223647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2842006" y="0"/>
                </a:moveTo>
                <a:lnTo>
                  <a:pt x="129793" y="0"/>
                </a:lnTo>
                <a:lnTo>
                  <a:pt x="79274" y="10207"/>
                </a:lnTo>
                <a:lnTo>
                  <a:pt x="38017" y="38036"/>
                </a:lnTo>
                <a:lnTo>
                  <a:pt x="10200" y="79295"/>
                </a:lnTo>
                <a:lnTo>
                  <a:pt x="0" y="129793"/>
                </a:lnTo>
                <a:lnTo>
                  <a:pt x="0" y="648969"/>
                </a:lnTo>
                <a:lnTo>
                  <a:pt x="10200" y="699468"/>
                </a:lnTo>
                <a:lnTo>
                  <a:pt x="38017" y="740727"/>
                </a:lnTo>
                <a:lnTo>
                  <a:pt x="79274" y="768556"/>
                </a:lnTo>
                <a:lnTo>
                  <a:pt x="129793" y="778763"/>
                </a:lnTo>
                <a:lnTo>
                  <a:pt x="2842006" y="778763"/>
                </a:lnTo>
                <a:lnTo>
                  <a:pt x="2892504" y="768556"/>
                </a:lnTo>
                <a:lnTo>
                  <a:pt x="2933763" y="740727"/>
                </a:lnTo>
                <a:lnTo>
                  <a:pt x="2961592" y="699468"/>
                </a:lnTo>
                <a:lnTo>
                  <a:pt x="2971800" y="648969"/>
                </a:lnTo>
                <a:lnTo>
                  <a:pt x="2971800" y="129793"/>
                </a:lnTo>
                <a:lnTo>
                  <a:pt x="2961592" y="79295"/>
                </a:lnTo>
                <a:lnTo>
                  <a:pt x="2933763" y="38036"/>
                </a:lnTo>
                <a:lnTo>
                  <a:pt x="2892504" y="10207"/>
                </a:lnTo>
                <a:lnTo>
                  <a:pt x="2842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47166" y="223647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3"/>
                </a:moveTo>
                <a:lnTo>
                  <a:pt x="10200" y="79295"/>
                </a:lnTo>
                <a:lnTo>
                  <a:pt x="38017" y="38036"/>
                </a:lnTo>
                <a:lnTo>
                  <a:pt x="79274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3"/>
                </a:lnTo>
                <a:lnTo>
                  <a:pt x="2971800" y="648969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74" y="768556"/>
                </a:lnTo>
                <a:lnTo>
                  <a:pt x="38017" y="740727"/>
                </a:lnTo>
                <a:lnTo>
                  <a:pt x="10200" y="699468"/>
                </a:lnTo>
                <a:lnTo>
                  <a:pt x="0" y="648969"/>
                </a:lnTo>
                <a:lnTo>
                  <a:pt x="0" y="1297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89810" y="2253233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29"/>
                </a:moveTo>
                <a:lnTo>
                  <a:pt x="0" y="1459229"/>
                </a:lnTo>
                <a:lnTo>
                  <a:pt x="64769" y="1523999"/>
                </a:lnTo>
                <a:lnTo>
                  <a:pt x="129539" y="1459229"/>
                </a:lnTo>
                <a:close/>
              </a:path>
              <a:path w="129539" h="1524000">
                <a:moveTo>
                  <a:pt x="97154" y="0"/>
                </a:moveTo>
                <a:lnTo>
                  <a:pt x="32384" y="0"/>
                </a:lnTo>
                <a:lnTo>
                  <a:pt x="32384" y="1459229"/>
                </a:lnTo>
                <a:lnTo>
                  <a:pt x="97154" y="1459229"/>
                </a:lnTo>
                <a:lnTo>
                  <a:pt x="97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289810" y="2253233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29"/>
                </a:moveTo>
                <a:lnTo>
                  <a:pt x="32384" y="1459229"/>
                </a:lnTo>
                <a:lnTo>
                  <a:pt x="32384" y="0"/>
                </a:lnTo>
                <a:lnTo>
                  <a:pt x="97154" y="0"/>
                </a:lnTo>
                <a:lnTo>
                  <a:pt x="97154" y="1459229"/>
                </a:lnTo>
                <a:lnTo>
                  <a:pt x="129539" y="1459229"/>
                </a:lnTo>
                <a:lnTo>
                  <a:pt x="64769" y="1523999"/>
                </a:lnTo>
                <a:lnTo>
                  <a:pt x="0" y="1459229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048255" y="2328672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099515" y="2140457"/>
            <a:ext cx="1064895" cy="81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2900">
              <a:lnSpc>
                <a:spcPct val="1439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Left  </a:t>
            </a: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27" name="object 27"/>
          <p:cNvSpPr txBox="1"/>
          <p:nvPr/>
        </p:nvSpPr>
        <p:spPr>
          <a:xfrm>
            <a:off x="2578354" y="2133980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1308" y="4277867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47544" y="4314444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65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27576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36797" y="639318"/>
            <a:ext cx="5655945" cy="3128010"/>
          </a:xfrm>
          <a:custGeom>
            <a:avLst/>
            <a:gdLst/>
            <a:ahLst/>
            <a:cxnLst/>
            <a:rect l="l" t="t" r="r" b="b"/>
            <a:pathLst>
              <a:path w="5655945" h="3128010">
                <a:moveTo>
                  <a:pt x="2356485" y="1495044"/>
                </a:moveTo>
                <a:lnTo>
                  <a:pt x="942593" y="1495044"/>
                </a:lnTo>
                <a:lnTo>
                  <a:pt x="350647" y="3128010"/>
                </a:lnTo>
                <a:lnTo>
                  <a:pt x="2356485" y="1495044"/>
                </a:lnTo>
                <a:close/>
              </a:path>
              <a:path w="5655945" h="3128010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36797" y="639318"/>
            <a:ext cx="5655945" cy="3128010"/>
          </a:xfrm>
          <a:custGeom>
            <a:avLst/>
            <a:gdLst/>
            <a:ahLst/>
            <a:cxnLst/>
            <a:rect l="l" t="t" r="r" b="b"/>
            <a:pathLst>
              <a:path w="5655945" h="3128010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942593" y="0"/>
                </a:lnTo>
                <a:lnTo>
                  <a:pt x="2356485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2356485" y="1495044"/>
                </a:lnTo>
                <a:lnTo>
                  <a:pt x="350647" y="3128010"/>
                </a:lnTo>
                <a:lnTo>
                  <a:pt x="942593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840607" y="1221485"/>
            <a:ext cx="4643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8 </a:t>
            </a:r>
            <a:r>
              <a:rPr sz="1800" spc="-5" dirty="0">
                <a:latin typeface="Calibri"/>
                <a:cs typeface="Calibri"/>
              </a:rPr>
              <a:t>is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 </a:t>
            </a:r>
            <a:r>
              <a:rPr sz="1800" spc="-5" dirty="0">
                <a:latin typeface="Calibri"/>
                <a:cs typeface="Calibri"/>
              </a:rPr>
              <a:t>so its in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right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place.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574541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1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3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74541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3"/>
                </a:moveTo>
                <a:lnTo>
                  <a:pt x="213741" y="142493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47166" y="223647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2842006" y="0"/>
                </a:moveTo>
                <a:lnTo>
                  <a:pt x="129793" y="0"/>
                </a:lnTo>
                <a:lnTo>
                  <a:pt x="79274" y="10207"/>
                </a:lnTo>
                <a:lnTo>
                  <a:pt x="38017" y="38036"/>
                </a:lnTo>
                <a:lnTo>
                  <a:pt x="10200" y="79295"/>
                </a:lnTo>
                <a:lnTo>
                  <a:pt x="0" y="129793"/>
                </a:lnTo>
                <a:lnTo>
                  <a:pt x="0" y="648969"/>
                </a:lnTo>
                <a:lnTo>
                  <a:pt x="10200" y="699468"/>
                </a:lnTo>
                <a:lnTo>
                  <a:pt x="38017" y="740727"/>
                </a:lnTo>
                <a:lnTo>
                  <a:pt x="79274" y="768556"/>
                </a:lnTo>
                <a:lnTo>
                  <a:pt x="129793" y="778763"/>
                </a:lnTo>
                <a:lnTo>
                  <a:pt x="2842006" y="778763"/>
                </a:lnTo>
                <a:lnTo>
                  <a:pt x="2892504" y="768556"/>
                </a:lnTo>
                <a:lnTo>
                  <a:pt x="2933763" y="740727"/>
                </a:lnTo>
                <a:lnTo>
                  <a:pt x="2961592" y="699468"/>
                </a:lnTo>
                <a:lnTo>
                  <a:pt x="2971800" y="648969"/>
                </a:lnTo>
                <a:lnTo>
                  <a:pt x="2971800" y="129793"/>
                </a:lnTo>
                <a:lnTo>
                  <a:pt x="2961592" y="79295"/>
                </a:lnTo>
                <a:lnTo>
                  <a:pt x="2933763" y="38036"/>
                </a:lnTo>
                <a:lnTo>
                  <a:pt x="2892504" y="10207"/>
                </a:lnTo>
                <a:lnTo>
                  <a:pt x="2842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47166" y="223647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3"/>
                </a:moveTo>
                <a:lnTo>
                  <a:pt x="10200" y="79295"/>
                </a:lnTo>
                <a:lnTo>
                  <a:pt x="38017" y="38036"/>
                </a:lnTo>
                <a:lnTo>
                  <a:pt x="79274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3"/>
                </a:lnTo>
                <a:lnTo>
                  <a:pt x="2971800" y="648969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74" y="768556"/>
                </a:lnTo>
                <a:lnTo>
                  <a:pt x="38017" y="740727"/>
                </a:lnTo>
                <a:lnTo>
                  <a:pt x="10200" y="699468"/>
                </a:lnTo>
                <a:lnTo>
                  <a:pt x="0" y="648969"/>
                </a:lnTo>
                <a:lnTo>
                  <a:pt x="0" y="1297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89810" y="2253233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29"/>
                </a:moveTo>
                <a:lnTo>
                  <a:pt x="0" y="1459229"/>
                </a:lnTo>
                <a:lnTo>
                  <a:pt x="64769" y="1523999"/>
                </a:lnTo>
                <a:lnTo>
                  <a:pt x="129539" y="1459229"/>
                </a:lnTo>
                <a:close/>
              </a:path>
              <a:path w="129539" h="1524000">
                <a:moveTo>
                  <a:pt x="97154" y="0"/>
                </a:moveTo>
                <a:lnTo>
                  <a:pt x="32384" y="0"/>
                </a:lnTo>
                <a:lnTo>
                  <a:pt x="32384" y="1459229"/>
                </a:lnTo>
                <a:lnTo>
                  <a:pt x="97154" y="1459229"/>
                </a:lnTo>
                <a:lnTo>
                  <a:pt x="97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289810" y="2253233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29"/>
                </a:moveTo>
                <a:lnTo>
                  <a:pt x="32384" y="1459229"/>
                </a:lnTo>
                <a:lnTo>
                  <a:pt x="32384" y="0"/>
                </a:lnTo>
                <a:lnTo>
                  <a:pt x="97154" y="0"/>
                </a:lnTo>
                <a:lnTo>
                  <a:pt x="97154" y="1459229"/>
                </a:lnTo>
                <a:lnTo>
                  <a:pt x="129539" y="1459229"/>
                </a:lnTo>
                <a:lnTo>
                  <a:pt x="64769" y="1523999"/>
                </a:lnTo>
                <a:lnTo>
                  <a:pt x="0" y="1459229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048255" y="2328672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099515" y="2140457"/>
            <a:ext cx="1064895" cy="81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2900">
              <a:lnSpc>
                <a:spcPct val="1439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Left  </a:t>
            </a: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27" name="object 27"/>
          <p:cNvSpPr txBox="1"/>
          <p:nvPr/>
        </p:nvSpPr>
        <p:spPr>
          <a:xfrm>
            <a:off x="2578354" y="2133980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1308" y="4277867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47544" y="4314444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65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27576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46760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1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3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6760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3"/>
                </a:moveTo>
                <a:lnTo>
                  <a:pt x="213741" y="142493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47166" y="223647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3"/>
                </a:moveTo>
                <a:lnTo>
                  <a:pt x="10200" y="79295"/>
                </a:lnTo>
                <a:lnTo>
                  <a:pt x="38017" y="38036"/>
                </a:lnTo>
                <a:lnTo>
                  <a:pt x="79274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3"/>
                </a:lnTo>
                <a:lnTo>
                  <a:pt x="2971800" y="648969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74" y="768556"/>
                </a:lnTo>
                <a:lnTo>
                  <a:pt x="38017" y="740727"/>
                </a:lnTo>
                <a:lnTo>
                  <a:pt x="10200" y="699468"/>
                </a:lnTo>
                <a:lnTo>
                  <a:pt x="0" y="648969"/>
                </a:lnTo>
                <a:lnTo>
                  <a:pt x="0" y="1297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289810" y="2253233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29"/>
                </a:moveTo>
                <a:lnTo>
                  <a:pt x="0" y="1459229"/>
                </a:lnTo>
                <a:lnTo>
                  <a:pt x="64769" y="1523999"/>
                </a:lnTo>
                <a:lnTo>
                  <a:pt x="129539" y="1459229"/>
                </a:lnTo>
                <a:close/>
              </a:path>
              <a:path w="129539" h="1524000">
                <a:moveTo>
                  <a:pt x="97154" y="0"/>
                </a:moveTo>
                <a:lnTo>
                  <a:pt x="32384" y="0"/>
                </a:lnTo>
                <a:lnTo>
                  <a:pt x="32384" y="1459229"/>
                </a:lnTo>
                <a:lnTo>
                  <a:pt x="97154" y="1459229"/>
                </a:lnTo>
                <a:lnTo>
                  <a:pt x="97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289810" y="2253233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29"/>
                </a:moveTo>
                <a:lnTo>
                  <a:pt x="32384" y="1459229"/>
                </a:lnTo>
                <a:lnTo>
                  <a:pt x="32384" y="0"/>
                </a:lnTo>
                <a:lnTo>
                  <a:pt x="97154" y="0"/>
                </a:lnTo>
                <a:lnTo>
                  <a:pt x="97154" y="1459229"/>
                </a:lnTo>
                <a:lnTo>
                  <a:pt x="129539" y="1459229"/>
                </a:lnTo>
                <a:lnTo>
                  <a:pt x="64769" y="1523999"/>
                </a:lnTo>
                <a:lnTo>
                  <a:pt x="0" y="1459229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48255" y="2328672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099515" y="2140457"/>
            <a:ext cx="1064895" cy="81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2900">
              <a:lnSpc>
                <a:spcPct val="1439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Left  </a:t>
            </a: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78354" y="2133980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336797" y="639318"/>
            <a:ext cx="5655945" cy="3145155"/>
          </a:xfrm>
          <a:custGeom>
            <a:avLst/>
            <a:gdLst/>
            <a:ahLst/>
            <a:cxnLst/>
            <a:rect l="l" t="t" r="r" b="b"/>
            <a:pathLst>
              <a:path w="5655945" h="3145154">
                <a:moveTo>
                  <a:pt x="2356485" y="1495044"/>
                </a:moveTo>
                <a:lnTo>
                  <a:pt x="942593" y="1495044"/>
                </a:lnTo>
                <a:lnTo>
                  <a:pt x="1239392" y="3145155"/>
                </a:lnTo>
                <a:lnTo>
                  <a:pt x="2356485" y="1495044"/>
                </a:lnTo>
                <a:close/>
              </a:path>
              <a:path w="5655945" h="3145154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336797" y="639318"/>
            <a:ext cx="5655945" cy="3145155"/>
          </a:xfrm>
          <a:custGeom>
            <a:avLst/>
            <a:gdLst/>
            <a:ahLst/>
            <a:cxnLst/>
            <a:rect l="l" t="t" r="r" b="b"/>
            <a:pathLst>
              <a:path w="5655945" h="3145154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942593" y="0"/>
                </a:lnTo>
                <a:lnTo>
                  <a:pt x="2356485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2356485" y="1495044"/>
                </a:lnTo>
                <a:lnTo>
                  <a:pt x="1239392" y="3145155"/>
                </a:lnTo>
                <a:lnTo>
                  <a:pt x="942593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639439" y="947165"/>
            <a:ext cx="50482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4 </a:t>
            </a:r>
            <a:r>
              <a:rPr sz="1800" spc="-5" dirty="0">
                <a:latin typeface="Calibri"/>
                <a:cs typeface="Calibri"/>
              </a:rPr>
              <a:t>will obviously </a:t>
            </a:r>
            <a:r>
              <a:rPr sz="1800" spc="-10" dirty="0">
                <a:latin typeface="Calibri"/>
                <a:cs typeface="Calibri"/>
              </a:rPr>
              <a:t>require </a:t>
            </a:r>
            <a:r>
              <a:rPr sz="1800" dirty="0">
                <a:latin typeface="Calibri"/>
                <a:cs typeface="Calibri"/>
              </a:rPr>
              <a:t>another </a:t>
            </a:r>
            <a:r>
              <a:rPr sz="1800" spc="-10" dirty="0">
                <a:latin typeface="Calibri"/>
                <a:cs typeface="Calibri"/>
              </a:rPr>
              <a:t>swap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shift. Again,  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known element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pivot,  here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13.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1308" y="4277867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47544" y="4314444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65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1940" y="3209544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3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36797" y="639318"/>
            <a:ext cx="5655945" cy="3145155"/>
          </a:xfrm>
          <a:custGeom>
            <a:avLst/>
            <a:gdLst/>
            <a:ahLst/>
            <a:cxnLst/>
            <a:rect l="l" t="t" r="r" b="b"/>
            <a:pathLst>
              <a:path w="5655945" h="3145154">
                <a:moveTo>
                  <a:pt x="2356485" y="1495044"/>
                </a:moveTo>
                <a:lnTo>
                  <a:pt x="942593" y="1495044"/>
                </a:lnTo>
                <a:lnTo>
                  <a:pt x="1239392" y="3145155"/>
                </a:lnTo>
                <a:lnTo>
                  <a:pt x="2356485" y="1495044"/>
                </a:lnTo>
                <a:close/>
              </a:path>
              <a:path w="5655945" h="3145154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36797" y="639318"/>
            <a:ext cx="5655945" cy="3145155"/>
          </a:xfrm>
          <a:custGeom>
            <a:avLst/>
            <a:gdLst/>
            <a:ahLst/>
            <a:cxnLst/>
            <a:rect l="l" t="t" r="r" b="b"/>
            <a:pathLst>
              <a:path w="5655945" h="3145154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942593" y="0"/>
                </a:lnTo>
                <a:lnTo>
                  <a:pt x="2356485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2356485" y="1495044"/>
                </a:lnTo>
                <a:lnTo>
                  <a:pt x="1239392" y="3145155"/>
                </a:lnTo>
                <a:lnTo>
                  <a:pt x="942593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639439" y="947165"/>
            <a:ext cx="50482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4 </a:t>
            </a:r>
            <a:r>
              <a:rPr sz="1800" spc="-5" dirty="0">
                <a:latin typeface="Calibri"/>
                <a:cs typeface="Calibri"/>
              </a:rPr>
              <a:t>will obviously </a:t>
            </a:r>
            <a:r>
              <a:rPr sz="1800" spc="-10" dirty="0">
                <a:latin typeface="Calibri"/>
                <a:cs typeface="Calibri"/>
              </a:rPr>
              <a:t>require </a:t>
            </a:r>
            <a:r>
              <a:rPr sz="1800" dirty="0">
                <a:latin typeface="Calibri"/>
                <a:cs typeface="Calibri"/>
              </a:rPr>
              <a:t>another </a:t>
            </a:r>
            <a:r>
              <a:rPr sz="1800" spc="-10" dirty="0">
                <a:latin typeface="Calibri"/>
                <a:cs typeface="Calibri"/>
              </a:rPr>
              <a:t>swap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shift. Again,  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known element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pivot,  here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13.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46760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1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3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6760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3"/>
                </a:moveTo>
                <a:lnTo>
                  <a:pt x="213741" y="142493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47166" y="223647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2842006" y="0"/>
                </a:moveTo>
                <a:lnTo>
                  <a:pt x="129793" y="0"/>
                </a:lnTo>
                <a:lnTo>
                  <a:pt x="79274" y="10207"/>
                </a:lnTo>
                <a:lnTo>
                  <a:pt x="38017" y="38036"/>
                </a:lnTo>
                <a:lnTo>
                  <a:pt x="10200" y="79295"/>
                </a:lnTo>
                <a:lnTo>
                  <a:pt x="0" y="129793"/>
                </a:lnTo>
                <a:lnTo>
                  <a:pt x="0" y="648969"/>
                </a:lnTo>
                <a:lnTo>
                  <a:pt x="10200" y="699468"/>
                </a:lnTo>
                <a:lnTo>
                  <a:pt x="38017" y="740727"/>
                </a:lnTo>
                <a:lnTo>
                  <a:pt x="79274" y="768556"/>
                </a:lnTo>
                <a:lnTo>
                  <a:pt x="129793" y="778763"/>
                </a:lnTo>
                <a:lnTo>
                  <a:pt x="2842006" y="778763"/>
                </a:lnTo>
                <a:lnTo>
                  <a:pt x="2892504" y="768556"/>
                </a:lnTo>
                <a:lnTo>
                  <a:pt x="2933763" y="740727"/>
                </a:lnTo>
                <a:lnTo>
                  <a:pt x="2961592" y="699468"/>
                </a:lnTo>
                <a:lnTo>
                  <a:pt x="2971800" y="648969"/>
                </a:lnTo>
                <a:lnTo>
                  <a:pt x="2971800" y="129793"/>
                </a:lnTo>
                <a:lnTo>
                  <a:pt x="2961592" y="79295"/>
                </a:lnTo>
                <a:lnTo>
                  <a:pt x="2933763" y="38036"/>
                </a:lnTo>
                <a:lnTo>
                  <a:pt x="2892504" y="10207"/>
                </a:lnTo>
                <a:lnTo>
                  <a:pt x="2842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47166" y="223647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3"/>
                </a:moveTo>
                <a:lnTo>
                  <a:pt x="10200" y="79295"/>
                </a:lnTo>
                <a:lnTo>
                  <a:pt x="38017" y="38036"/>
                </a:lnTo>
                <a:lnTo>
                  <a:pt x="79274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3"/>
                </a:lnTo>
                <a:lnTo>
                  <a:pt x="2971800" y="648969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74" y="768556"/>
                </a:lnTo>
                <a:lnTo>
                  <a:pt x="38017" y="740727"/>
                </a:lnTo>
                <a:lnTo>
                  <a:pt x="10200" y="699468"/>
                </a:lnTo>
                <a:lnTo>
                  <a:pt x="0" y="648969"/>
                </a:lnTo>
                <a:lnTo>
                  <a:pt x="0" y="1297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89810" y="2253233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29"/>
                </a:moveTo>
                <a:lnTo>
                  <a:pt x="0" y="1459229"/>
                </a:lnTo>
                <a:lnTo>
                  <a:pt x="64769" y="1523999"/>
                </a:lnTo>
                <a:lnTo>
                  <a:pt x="129539" y="1459229"/>
                </a:lnTo>
                <a:close/>
              </a:path>
              <a:path w="129539" h="1524000">
                <a:moveTo>
                  <a:pt x="97154" y="0"/>
                </a:moveTo>
                <a:lnTo>
                  <a:pt x="32384" y="0"/>
                </a:lnTo>
                <a:lnTo>
                  <a:pt x="32384" y="1459229"/>
                </a:lnTo>
                <a:lnTo>
                  <a:pt x="97154" y="1459229"/>
                </a:lnTo>
                <a:lnTo>
                  <a:pt x="97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289810" y="2253233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29"/>
                </a:moveTo>
                <a:lnTo>
                  <a:pt x="32384" y="1459229"/>
                </a:lnTo>
                <a:lnTo>
                  <a:pt x="32384" y="0"/>
                </a:lnTo>
                <a:lnTo>
                  <a:pt x="97154" y="0"/>
                </a:lnTo>
                <a:lnTo>
                  <a:pt x="97154" y="1459229"/>
                </a:lnTo>
                <a:lnTo>
                  <a:pt x="129539" y="1459229"/>
                </a:lnTo>
                <a:lnTo>
                  <a:pt x="64769" y="1523999"/>
                </a:lnTo>
                <a:lnTo>
                  <a:pt x="0" y="1459229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048255" y="2328672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099515" y="2140457"/>
            <a:ext cx="1064895" cy="81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2900">
              <a:lnSpc>
                <a:spcPct val="1439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Left  </a:t>
            </a: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27" name="object 27"/>
          <p:cNvSpPr txBox="1"/>
          <p:nvPr/>
        </p:nvSpPr>
        <p:spPr>
          <a:xfrm>
            <a:off x="2578354" y="2133980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1308" y="4277867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7576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1940" y="3209544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3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36797" y="639318"/>
            <a:ext cx="5655945" cy="3145155"/>
          </a:xfrm>
          <a:custGeom>
            <a:avLst/>
            <a:gdLst/>
            <a:ahLst/>
            <a:cxnLst/>
            <a:rect l="l" t="t" r="r" b="b"/>
            <a:pathLst>
              <a:path w="5655945" h="3145154">
                <a:moveTo>
                  <a:pt x="2356485" y="1495044"/>
                </a:moveTo>
                <a:lnTo>
                  <a:pt x="942593" y="1495044"/>
                </a:lnTo>
                <a:lnTo>
                  <a:pt x="1239392" y="3145155"/>
                </a:lnTo>
                <a:lnTo>
                  <a:pt x="2356485" y="1495044"/>
                </a:lnTo>
                <a:close/>
              </a:path>
              <a:path w="5655945" h="3145154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36797" y="639318"/>
            <a:ext cx="5655945" cy="3145155"/>
          </a:xfrm>
          <a:custGeom>
            <a:avLst/>
            <a:gdLst/>
            <a:ahLst/>
            <a:cxnLst/>
            <a:rect l="l" t="t" r="r" b="b"/>
            <a:pathLst>
              <a:path w="5655945" h="3145154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942593" y="0"/>
                </a:lnTo>
                <a:lnTo>
                  <a:pt x="2356485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2356485" y="1495044"/>
                </a:lnTo>
                <a:lnTo>
                  <a:pt x="1239392" y="3145155"/>
                </a:lnTo>
                <a:lnTo>
                  <a:pt x="942593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639439" y="947165"/>
            <a:ext cx="50482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4 </a:t>
            </a:r>
            <a:r>
              <a:rPr sz="1800" spc="-5" dirty="0">
                <a:latin typeface="Calibri"/>
                <a:cs typeface="Calibri"/>
              </a:rPr>
              <a:t>will obviously </a:t>
            </a:r>
            <a:r>
              <a:rPr sz="1800" spc="-10" dirty="0">
                <a:latin typeface="Calibri"/>
                <a:cs typeface="Calibri"/>
              </a:rPr>
              <a:t>require </a:t>
            </a:r>
            <a:r>
              <a:rPr sz="1800" dirty="0">
                <a:latin typeface="Calibri"/>
                <a:cs typeface="Calibri"/>
              </a:rPr>
              <a:t>another </a:t>
            </a:r>
            <a:r>
              <a:rPr sz="1800" spc="-10" dirty="0">
                <a:latin typeface="Calibri"/>
                <a:cs typeface="Calibri"/>
              </a:rPr>
              <a:t>swap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shift. Again,  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known element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pivot,  here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13.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46760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1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3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6760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3"/>
                </a:moveTo>
                <a:lnTo>
                  <a:pt x="213741" y="142493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47166" y="223647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2842006" y="0"/>
                </a:moveTo>
                <a:lnTo>
                  <a:pt x="129793" y="0"/>
                </a:lnTo>
                <a:lnTo>
                  <a:pt x="79274" y="10207"/>
                </a:lnTo>
                <a:lnTo>
                  <a:pt x="38017" y="38036"/>
                </a:lnTo>
                <a:lnTo>
                  <a:pt x="10200" y="79295"/>
                </a:lnTo>
                <a:lnTo>
                  <a:pt x="0" y="129793"/>
                </a:lnTo>
                <a:lnTo>
                  <a:pt x="0" y="648969"/>
                </a:lnTo>
                <a:lnTo>
                  <a:pt x="10200" y="699468"/>
                </a:lnTo>
                <a:lnTo>
                  <a:pt x="38017" y="740727"/>
                </a:lnTo>
                <a:lnTo>
                  <a:pt x="79274" y="768556"/>
                </a:lnTo>
                <a:lnTo>
                  <a:pt x="129793" y="778763"/>
                </a:lnTo>
                <a:lnTo>
                  <a:pt x="2842006" y="778763"/>
                </a:lnTo>
                <a:lnTo>
                  <a:pt x="2892504" y="768556"/>
                </a:lnTo>
                <a:lnTo>
                  <a:pt x="2933763" y="740727"/>
                </a:lnTo>
                <a:lnTo>
                  <a:pt x="2961592" y="699468"/>
                </a:lnTo>
                <a:lnTo>
                  <a:pt x="2971800" y="648969"/>
                </a:lnTo>
                <a:lnTo>
                  <a:pt x="2971800" y="129793"/>
                </a:lnTo>
                <a:lnTo>
                  <a:pt x="2961592" y="79295"/>
                </a:lnTo>
                <a:lnTo>
                  <a:pt x="2933763" y="38036"/>
                </a:lnTo>
                <a:lnTo>
                  <a:pt x="2892504" y="10207"/>
                </a:lnTo>
                <a:lnTo>
                  <a:pt x="2842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47166" y="223647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3"/>
                </a:moveTo>
                <a:lnTo>
                  <a:pt x="10200" y="79295"/>
                </a:lnTo>
                <a:lnTo>
                  <a:pt x="38017" y="38036"/>
                </a:lnTo>
                <a:lnTo>
                  <a:pt x="79274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3"/>
                </a:lnTo>
                <a:lnTo>
                  <a:pt x="2971800" y="648969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74" y="768556"/>
                </a:lnTo>
                <a:lnTo>
                  <a:pt x="38017" y="740727"/>
                </a:lnTo>
                <a:lnTo>
                  <a:pt x="10200" y="699468"/>
                </a:lnTo>
                <a:lnTo>
                  <a:pt x="0" y="648969"/>
                </a:lnTo>
                <a:lnTo>
                  <a:pt x="0" y="1297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89810" y="2253233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29"/>
                </a:moveTo>
                <a:lnTo>
                  <a:pt x="0" y="1459229"/>
                </a:lnTo>
                <a:lnTo>
                  <a:pt x="64769" y="1523999"/>
                </a:lnTo>
                <a:lnTo>
                  <a:pt x="129539" y="1459229"/>
                </a:lnTo>
                <a:close/>
              </a:path>
              <a:path w="129539" h="1524000">
                <a:moveTo>
                  <a:pt x="97154" y="0"/>
                </a:moveTo>
                <a:lnTo>
                  <a:pt x="32384" y="0"/>
                </a:lnTo>
                <a:lnTo>
                  <a:pt x="32384" y="1459229"/>
                </a:lnTo>
                <a:lnTo>
                  <a:pt x="97154" y="1459229"/>
                </a:lnTo>
                <a:lnTo>
                  <a:pt x="97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289810" y="2253233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29"/>
                </a:moveTo>
                <a:lnTo>
                  <a:pt x="32384" y="1459229"/>
                </a:lnTo>
                <a:lnTo>
                  <a:pt x="32384" y="0"/>
                </a:lnTo>
                <a:lnTo>
                  <a:pt x="97154" y="0"/>
                </a:lnTo>
                <a:lnTo>
                  <a:pt x="97154" y="1459229"/>
                </a:lnTo>
                <a:lnTo>
                  <a:pt x="129539" y="1459229"/>
                </a:lnTo>
                <a:lnTo>
                  <a:pt x="64769" y="1523999"/>
                </a:lnTo>
                <a:lnTo>
                  <a:pt x="0" y="1459229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048255" y="2328672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099515" y="2140457"/>
            <a:ext cx="1064895" cy="81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2900">
              <a:lnSpc>
                <a:spcPct val="1439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Left  </a:t>
            </a: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27" name="object 27"/>
          <p:cNvSpPr txBox="1"/>
          <p:nvPr/>
        </p:nvSpPr>
        <p:spPr>
          <a:xfrm>
            <a:off x="2578354" y="2133980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1308" y="4277867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7576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32304" y="4294632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36797" y="639318"/>
            <a:ext cx="5655945" cy="3145155"/>
          </a:xfrm>
          <a:custGeom>
            <a:avLst/>
            <a:gdLst/>
            <a:ahLst/>
            <a:cxnLst/>
            <a:rect l="l" t="t" r="r" b="b"/>
            <a:pathLst>
              <a:path w="5655945" h="3145154">
                <a:moveTo>
                  <a:pt x="2356485" y="1495044"/>
                </a:moveTo>
                <a:lnTo>
                  <a:pt x="942593" y="1495044"/>
                </a:lnTo>
                <a:lnTo>
                  <a:pt x="1239392" y="3145155"/>
                </a:lnTo>
                <a:lnTo>
                  <a:pt x="2356485" y="1495044"/>
                </a:lnTo>
                <a:close/>
              </a:path>
              <a:path w="5655945" h="3145154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36797" y="639318"/>
            <a:ext cx="5655945" cy="3145155"/>
          </a:xfrm>
          <a:custGeom>
            <a:avLst/>
            <a:gdLst/>
            <a:ahLst/>
            <a:cxnLst/>
            <a:rect l="l" t="t" r="r" b="b"/>
            <a:pathLst>
              <a:path w="5655945" h="3145154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942593" y="0"/>
                </a:lnTo>
                <a:lnTo>
                  <a:pt x="2356485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2356485" y="1495044"/>
                </a:lnTo>
                <a:lnTo>
                  <a:pt x="1239392" y="3145155"/>
                </a:lnTo>
                <a:lnTo>
                  <a:pt x="942593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639439" y="947165"/>
            <a:ext cx="50482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4 </a:t>
            </a:r>
            <a:r>
              <a:rPr sz="1800" spc="-5" dirty="0">
                <a:latin typeface="Calibri"/>
                <a:cs typeface="Calibri"/>
              </a:rPr>
              <a:t>will obviously </a:t>
            </a:r>
            <a:r>
              <a:rPr sz="1800" spc="-10" dirty="0">
                <a:latin typeface="Calibri"/>
                <a:cs typeface="Calibri"/>
              </a:rPr>
              <a:t>require </a:t>
            </a:r>
            <a:r>
              <a:rPr sz="1800" dirty="0">
                <a:latin typeface="Calibri"/>
                <a:cs typeface="Calibri"/>
              </a:rPr>
              <a:t>another </a:t>
            </a:r>
            <a:r>
              <a:rPr sz="1800" spc="-10" dirty="0">
                <a:latin typeface="Calibri"/>
                <a:cs typeface="Calibri"/>
              </a:rPr>
              <a:t>swap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shift. Again,  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known element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pivot,  here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13.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46760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1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3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6760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3"/>
                </a:moveTo>
                <a:lnTo>
                  <a:pt x="213741" y="142493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47166" y="223647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2842006" y="0"/>
                </a:moveTo>
                <a:lnTo>
                  <a:pt x="129793" y="0"/>
                </a:lnTo>
                <a:lnTo>
                  <a:pt x="79274" y="10207"/>
                </a:lnTo>
                <a:lnTo>
                  <a:pt x="38017" y="38036"/>
                </a:lnTo>
                <a:lnTo>
                  <a:pt x="10200" y="79295"/>
                </a:lnTo>
                <a:lnTo>
                  <a:pt x="0" y="129793"/>
                </a:lnTo>
                <a:lnTo>
                  <a:pt x="0" y="648969"/>
                </a:lnTo>
                <a:lnTo>
                  <a:pt x="10200" y="699468"/>
                </a:lnTo>
                <a:lnTo>
                  <a:pt x="38017" y="740727"/>
                </a:lnTo>
                <a:lnTo>
                  <a:pt x="79274" y="768556"/>
                </a:lnTo>
                <a:lnTo>
                  <a:pt x="129793" y="778763"/>
                </a:lnTo>
                <a:lnTo>
                  <a:pt x="2842006" y="778763"/>
                </a:lnTo>
                <a:lnTo>
                  <a:pt x="2892504" y="768556"/>
                </a:lnTo>
                <a:lnTo>
                  <a:pt x="2933763" y="740727"/>
                </a:lnTo>
                <a:lnTo>
                  <a:pt x="2961592" y="699468"/>
                </a:lnTo>
                <a:lnTo>
                  <a:pt x="2971800" y="648969"/>
                </a:lnTo>
                <a:lnTo>
                  <a:pt x="2971800" y="129793"/>
                </a:lnTo>
                <a:lnTo>
                  <a:pt x="2961592" y="79295"/>
                </a:lnTo>
                <a:lnTo>
                  <a:pt x="2933763" y="38036"/>
                </a:lnTo>
                <a:lnTo>
                  <a:pt x="2892504" y="10207"/>
                </a:lnTo>
                <a:lnTo>
                  <a:pt x="2842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47166" y="223647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3"/>
                </a:moveTo>
                <a:lnTo>
                  <a:pt x="10200" y="79295"/>
                </a:lnTo>
                <a:lnTo>
                  <a:pt x="38017" y="38036"/>
                </a:lnTo>
                <a:lnTo>
                  <a:pt x="79274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3"/>
                </a:lnTo>
                <a:lnTo>
                  <a:pt x="2971800" y="648969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74" y="768556"/>
                </a:lnTo>
                <a:lnTo>
                  <a:pt x="38017" y="740727"/>
                </a:lnTo>
                <a:lnTo>
                  <a:pt x="10200" y="699468"/>
                </a:lnTo>
                <a:lnTo>
                  <a:pt x="0" y="648969"/>
                </a:lnTo>
                <a:lnTo>
                  <a:pt x="0" y="1297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89810" y="2253233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29"/>
                </a:moveTo>
                <a:lnTo>
                  <a:pt x="0" y="1459229"/>
                </a:lnTo>
                <a:lnTo>
                  <a:pt x="64769" y="1523999"/>
                </a:lnTo>
                <a:lnTo>
                  <a:pt x="129539" y="1459229"/>
                </a:lnTo>
                <a:close/>
              </a:path>
              <a:path w="129539" h="1524000">
                <a:moveTo>
                  <a:pt x="97154" y="0"/>
                </a:moveTo>
                <a:lnTo>
                  <a:pt x="32384" y="0"/>
                </a:lnTo>
                <a:lnTo>
                  <a:pt x="32384" y="1459229"/>
                </a:lnTo>
                <a:lnTo>
                  <a:pt x="97154" y="1459229"/>
                </a:lnTo>
                <a:lnTo>
                  <a:pt x="97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289810" y="2253233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29"/>
                </a:moveTo>
                <a:lnTo>
                  <a:pt x="32384" y="1459229"/>
                </a:lnTo>
                <a:lnTo>
                  <a:pt x="32384" y="0"/>
                </a:lnTo>
                <a:lnTo>
                  <a:pt x="97154" y="0"/>
                </a:lnTo>
                <a:lnTo>
                  <a:pt x="97154" y="1459229"/>
                </a:lnTo>
                <a:lnTo>
                  <a:pt x="129539" y="1459229"/>
                </a:lnTo>
                <a:lnTo>
                  <a:pt x="64769" y="1523999"/>
                </a:lnTo>
                <a:lnTo>
                  <a:pt x="0" y="1459229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048255" y="2328672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099515" y="2140457"/>
            <a:ext cx="1064895" cy="81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2900">
              <a:lnSpc>
                <a:spcPct val="1439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Left  </a:t>
            </a: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27" name="object 27"/>
          <p:cNvSpPr txBox="1"/>
          <p:nvPr/>
        </p:nvSpPr>
        <p:spPr>
          <a:xfrm>
            <a:off x="2578354" y="2133980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1308" y="4277867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7576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32304" y="4294632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36797" y="639318"/>
            <a:ext cx="5655945" cy="3145155"/>
          </a:xfrm>
          <a:custGeom>
            <a:avLst/>
            <a:gdLst/>
            <a:ahLst/>
            <a:cxnLst/>
            <a:rect l="l" t="t" r="r" b="b"/>
            <a:pathLst>
              <a:path w="5655945" h="3145154">
                <a:moveTo>
                  <a:pt x="2356485" y="1495044"/>
                </a:moveTo>
                <a:lnTo>
                  <a:pt x="942593" y="1495044"/>
                </a:lnTo>
                <a:lnTo>
                  <a:pt x="1239392" y="3145155"/>
                </a:lnTo>
                <a:lnTo>
                  <a:pt x="2356485" y="1495044"/>
                </a:lnTo>
                <a:close/>
              </a:path>
              <a:path w="5655945" h="3145154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36797" y="639318"/>
            <a:ext cx="5655945" cy="3145155"/>
          </a:xfrm>
          <a:custGeom>
            <a:avLst/>
            <a:gdLst/>
            <a:ahLst/>
            <a:cxnLst/>
            <a:rect l="l" t="t" r="r" b="b"/>
            <a:pathLst>
              <a:path w="5655945" h="3145154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942593" y="0"/>
                </a:lnTo>
                <a:lnTo>
                  <a:pt x="2356485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2356485" y="1495044"/>
                </a:lnTo>
                <a:lnTo>
                  <a:pt x="1239392" y="3145155"/>
                </a:lnTo>
                <a:lnTo>
                  <a:pt x="942593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639439" y="947165"/>
            <a:ext cx="50482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4 </a:t>
            </a:r>
            <a:r>
              <a:rPr sz="1800" spc="-5" dirty="0">
                <a:latin typeface="Calibri"/>
                <a:cs typeface="Calibri"/>
              </a:rPr>
              <a:t>will obviously </a:t>
            </a:r>
            <a:r>
              <a:rPr sz="1800" spc="-10" dirty="0">
                <a:latin typeface="Calibri"/>
                <a:cs typeface="Calibri"/>
              </a:rPr>
              <a:t>require </a:t>
            </a:r>
            <a:r>
              <a:rPr sz="1800" dirty="0">
                <a:latin typeface="Calibri"/>
                <a:cs typeface="Calibri"/>
              </a:rPr>
              <a:t>another </a:t>
            </a:r>
            <a:r>
              <a:rPr sz="1800" spc="-10" dirty="0">
                <a:latin typeface="Calibri"/>
                <a:cs typeface="Calibri"/>
              </a:rPr>
              <a:t>swap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shift. Again,  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known element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pivot,  here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13.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46760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1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3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6760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3"/>
                </a:moveTo>
                <a:lnTo>
                  <a:pt x="213741" y="142493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53945" y="2245614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2842006" y="0"/>
                </a:moveTo>
                <a:lnTo>
                  <a:pt x="129793" y="0"/>
                </a:lnTo>
                <a:lnTo>
                  <a:pt x="79295" y="10207"/>
                </a:lnTo>
                <a:lnTo>
                  <a:pt x="38036" y="38036"/>
                </a:lnTo>
                <a:lnTo>
                  <a:pt x="10207" y="79295"/>
                </a:lnTo>
                <a:lnTo>
                  <a:pt x="0" y="129794"/>
                </a:lnTo>
                <a:lnTo>
                  <a:pt x="0" y="648970"/>
                </a:lnTo>
                <a:lnTo>
                  <a:pt x="10207" y="699468"/>
                </a:lnTo>
                <a:lnTo>
                  <a:pt x="38036" y="740727"/>
                </a:lnTo>
                <a:lnTo>
                  <a:pt x="79295" y="768556"/>
                </a:lnTo>
                <a:lnTo>
                  <a:pt x="129793" y="778763"/>
                </a:lnTo>
                <a:lnTo>
                  <a:pt x="2842006" y="778763"/>
                </a:lnTo>
                <a:lnTo>
                  <a:pt x="2892504" y="768556"/>
                </a:lnTo>
                <a:lnTo>
                  <a:pt x="2933763" y="740727"/>
                </a:lnTo>
                <a:lnTo>
                  <a:pt x="2961592" y="699468"/>
                </a:lnTo>
                <a:lnTo>
                  <a:pt x="2971800" y="648970"/>
                </a:lnTo>
                <a:lnTo>
                  <a:pt x="2971800" y="129794"/>
                </a:lnTo>
                <a:lnTo>
                  <a:pt x="2961592" y="79295"/>
                </a:lnTo>
                <a:lnTo>
                  <a:pt x="2933763" y="38036"/>
                </a:lnTo>
                <a:lnTo>
                  <a:pt x="2892504" y="10207"/>
                </a:lnTo>
                <a:lnTo>
                  <a:pt x="2842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53945" y="2245614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4"/>
                </a:moveTo>
                <a:lnTo>
                  <a:pt x="10207" y="79295"/>
                </a:lnTo>
                <a:lnTo>
                  <a:pt x="38036" y="38036"/>
                </a:lnTo>
                <a:lnTo>
                  <a:pt x="79295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4"/>
                </a:lnTo>
                <a:lnTo>
                  <a:pt x="2971800" y="648970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95" y="768556"/>
                </a:lnTo>
                <a:lnTo>
                  <a:pt x="38036" y="740727"/>
                </a:lnTo>
                <a:lnTo>
                  <a:pt x="10207" y="699468"/>
                </a:lnTo>
                <a:lnTo>
                  <a:pt x="0" y="648970"/>
                </a:lnTo>
                <a:lnTo>
                  <a:pt x="0" y="1297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195066" y="2262377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30"/>
                </a:moveTo>
                <a:lnTo>
                  <a:pt x="0" y="1459230"/>
                </a:lnTo>
                <a:lnTo>
                  <a:pt x="64769" y="1524000"/>
                </a:lnTo>
                <a:lnTo>
                  <a:pt x="129539" y="1459230"/>
                </a:lnTo>
                <a:close/>
              </a:path>
              <a:path w="129539" h="1524000">
                <a:moveTo>
                  <a:pt x="97155" y="0"/>
                </a:moveTo>
                <a:lnTo>
                  <a:pt x="32384" y="0"/>
                </a:lnTo>
                <a:lnTo>
                  <a:pt x="32384" y="1459230"/>
                </a:lnTo>
                <a:lnTo>
                  <a:pt x="97155" y="1459230"/>
                </a:lnTo>
                <a:lnTo>
                  <a:pt x="97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195066" y="2262377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30"/>
                </a:moveTo>
                <a:lnTo>
                  <a:pt x="32384" y="1459230"/>
                </a:lnTo>
                <a:lnTo>
                  <a:pt x="32384" y="0"/>
                </a:lnTo>
                <a:lnTo>
                  <a:pt x="97155" y="0"/>
                </a:lnTo>
                <a:lnTo>
                  <a:pt x="97155" y="1459230"/>
                </a:lnTo>
                <a:lnTo>
                  <a:pt x="129539" y="1459230"/>
                </a:lnTo>
                <a:lnTo>
                  <a:pt x="64769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55035" y="2337816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005329" y="2149601"/>
            <a:ext cx="1064895" cy="81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2900">
              <a:lnSpc>
                <a:spcPct val="1439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Left  </a:t>
            </a: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27" name="object 27"/>
          <p:cNvSpPr txBox="1"/>
          <p:nvPr/>
        </p:nvSpPr>
        <p:spPr>
          <a:xfrm>
            <a:off x="3484245" y="2143125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1308" y="4277867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7576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32304" y="4294632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36797" y="639318"/>
            <a:ext cx="5655945" cy="3162300"/>
          </a:xfrm>
          <a:custGeom>
            <a:avLst/>
            <a:gdLst/>
            <a:ahLst/>
            <a:cxnLst/>
            <a:rect l="l" t="t" r="r" b="b"/>
            <a:pathLst>
              <a:path w="5655945" h="3162300">
                <a:moveTo>
                  <a:pt x="2356485" y="1495044"/>
                </a:moveTo>
                <a:lnTo>
                  <a:pt x="942593" y="1495044"/>
                </a:lnTo>
                <a:lnTo>
                  <a:pt x="2145156" y="3162173"/>
                </a:lnTo>
                <a:lnTo>
                  <a:pt x="2356485" y="1495044"/>
                </a:lnTo>
                <a:close/>
              </a:path>
              <a:path w="5655945" h="3162300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36797" y="639318"/>
            <a:ext cx="5655945" cy="3162300"/>
          </a:xfrm>
          <a:custGeom>
            <a:avLst/>
            <a:gdLst/>
            <a:ahLst/>
            <a:cxnLst/>
            <a:rect l="l" t="t" r="r" b="b"/>
            <a:pathLst>
              <a:path w="5655945" h="3162300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942593" y="0"/>
                </a:lnTo>
                <a:lnTo>
                  <a:pt x="2356485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2356485" y="1495044"/>
                </a:lnTo>
                <a:lnTo>
                  <a:pt x="2145156" y="3162173"/>
                </a:lnTo>
                <a:lnTo>
                  <a:pt x="942593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639439" y="947165"/>
            <a:ext cx="50482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6 </a:t>
            </a:r>
            <a:r>
              <a:rPr sz="1800" spc="-5" dirty="0">
                <a:latin typeface="Calibri"/>
                <a:cs typeface="Calibri"/>
              </a:rPr>
              <a:t>will obviously </a:t>
            </a:r>
            <a:r>
              <a:rPr sz="1800" spc="-10" dirty="0">
                <a:latin typeface="Calibri"/>
                <a:cs typeface="Calibri"/>
              </a:rPr>
              <a:t>require </a:t>
            </a:r>
            <a:r>
              <a:rPr sz="1800" dirty="0">
                <a:latin typeface="Calibri"/>
                <a:cs typeface="Calibri"/>
              </a:rPr>
              <a:t>another </a:t>
            </a:r>
            <a:r>
              <a:rPr sz="1800" spc="-10" dirty="0">
                <a:latin typeface="Calibri"/>
                <a:cs typeface="Calibri"/>
              </a:rPr>
              <a:t>swap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shift. Again,  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known element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pivot,  here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8.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371338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0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0" y="327659"/>
                </a:lnTo>
                <a:lnTo>
                  <a:pt x="213740" y="142493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371338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3"/>
                </a:moveTo>
                <a:lnTo>
                  <a:pt x="213740" y="142493"/>
                </a:lnTo>
                <a:lnTo>
                  <a:pt x="213740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53945" y="2245614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2842006" y="0"/>
                </a:moveTo>
                <a:lnTo>
                  <a:pt x="129793" y="0"/>
                </a:lnTo>
                <a:lnTo>
                  <a:pt x="79295" y="10207"/>
                </a:lnTo>
                <a:lnTo>
                  <a:pt x="38036" y="38036"/>
                </a:lnTo>
                <a:lnTo>
                  <a:pt x="10207" y="79295"/>
                </a:lnTo>
                <a:lnTo>
                  <a:pt x="0" y="129794"/>
                </a:lnTo>
                <a:lnTo>
                  <a:pt x="0" y="648970"/>
                </a:lnTo>
                <a:lnTo>
                  <a:pt x="10207" y="699468"/>
                </a:lnTo>
                <a:lnTo>
                  <a:pt x="38036" y="740727"/>
                </a:lnTo>
                <a:lnTo>
                  <a:pt x="79295" y="768556"/>
                </a:lnTo>
                <a:lnTo>
                  <a:pt x="129793" y="778763"/>
                </a:lnTo>
                <a:lnTo>
                  <a:pt x="2842006" y="778763"/>
                </a:lnTo>
                <a:lnTo>
                  <a:pt x="2892504" y="768556"/>
                </a:lnTo>
                <a:lnTo>
                  <a:pt x="2933763" y="740727"/>
                </a:lnTo>
                <a:lnTo>
                  <a:pt x="2961592" y="699468"/>
                </a:lnTo>
                <a:lnTo>
                  <a:pt x="2971800" y="648970"/>
                </a:lnTo>
                <a:lnTo>
                  <a:pt x="2971800" y="129794"/>
                </a:lnTo>
                <a:lnTo>
                  <a:pt x="2961592" y="79295"/>
                </a:lnTo>
                <a:lnTo>
                  <a:pt x="2933763" y="38036"/>
                </a:lnTo>
                <a:lnTo>
                  <a:pt x="2892504" y="10207"/>
                </a:lnTo>
                <a:lnTo>
                  <a:pt x="2842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53945" y="2245614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4"/>
                </a:moveTo>
                <a:lnTo>
                  <a:pt x="10207" y="79295"/>
                </a:lnTo>
                <a:lnTo>
                  <a:pt x="38036" y="38036"/>
                </a:lnTo>
                <a:lnTo>
                  <a:pt x="79295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4"/>
                </a:lnTo>
                <a:lnTo>
                  <a:pt x="2971800" y="648970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95" y="768556"/>
                </a:lnTo>
                <a:lnTo>
                  <a:pt x="38036" y="740727"/>
                </a:lnTo>
                <a:lnTo>
                  <a:pt x="10207" y="699468"/>
                </a:lnTo>
                <a:lnTo>
                  <a:pt x="0" y="648970"/>
                </a:lnTo>
                <a:lnTo>
                  <a:pt x="0" y="1297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195066" y="2262377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30"/>
                </a:moveTo>
                <a:lnTo>
                  <a:pt x="0" y="1459230"/>
                </a:lnTo>
                <a:lnTo>
                  <a:pt x="64769" y="1524000"/>
                </a:lnTo>
                <a:lnTo>
                  <a:pt x="129539" y="1459230"/>
                </a:lnTo>
                <a:close/>
              </a:path>
              <a:path w="129539" h="1524000">
                <a:moveTo>
                  <a:pt x="97155" y="0"/>
                </a:moveTo>
                <a:lnTo>
                  <a:pt x="32384" y="0"/>
                </a:lnTo>
                <a:lnTo>
                  <a:pt x="32384" y="1459230"/>
                </a:lnTo>
                <a:lnTo>
                  <a:pt x="97155" y="1459230"/>
                </a:lnTo>
                <a:lnTo>
                  <a:pt x="97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195066" y="2262377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30"/>
                </a:moveTo>
                <a:lnTo>
                  <a:pt x="32384" y="1459230"/>
                </a:lnTo>
                <a:lnTo>
                  <a:pt x="32384" y="0"/>
                </a:lnTo>
                <a:lnTo>
                  <a:pt x="97155" y="0"/>
                </a:lnTo>
                <a:lnTo>
                  <a:pt x="97155" y="1459230"/>
                </a:lnTo>
                <a:lnTo>
                  <a:pt x="129539" y="1459230"/>
                </a:lnTo>
                <a:lnTo>
                  <a:pt x="64769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55035" y="2337816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005329" y="2149601"/>
            <a:ext cx="1064895" cy="81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2900">
              <a:lnSpc>
                <a:spcPct val="1439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Left  </a:t>
            </a: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27" name="object 27"/>
          <p:cNvSpPr txBox="1"/>
          <p:nvPr/>
        </p:nvSpPr>
        <p:spPr>
          <a:xfrm>
            <a:off x="3484245" y="2143125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035" y="4297679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3004" y="33528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7576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32304" y="4294632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36797" y="639318"/>
            <a:ext cx="5655945" cy="3162300"/>
          </a:xfrm>
          <a:custGeom>
            <a:avLst/>
            <a:gdLst/>
            <a:ahLst/>
            <a:cxnLst/>
            <a:rect l="l" t="t" r="r" b="b"/>
            <a:pathLst>
              <a:path w="5655945" h="3162300">
                <a:moveTo>
                  <a:pt x="2356485" y="1495044"/>
                </a:moveTo>
                <a:lnTo>
                  <a:pt x="942593" y="1495044"/>
                </a:lnTo>
                <a:lnTo>
                  <a:pt x="2145156" y="3162173"/>
                </a:lnTo>
                <a:lnTo>
                  <a:pt x="2356485" y="1495044"/>
                </a:lnTo>
                <a:close/>
              </a:path>
              <a:path w="5655945" h="3162300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36797" y="639318"/>
            <a:ext cx="5655945" cy="3162300"/>
          </a:xfrm>
          <a:custGeom>
            <a:avLst/>
            <a:gdLst/>
            <a:ahLst/>
            <a:cxnLst/>
            <a:rect l="l" t="t" r="r" b="b"/>
            <a:pathLst>
              <a:path w="5655945" h="3162300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942593" y="0"/>
                </a:lnTo>
                <a:lnTo>
                  <a:pt x="2356485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2356485" y="1495044"/>
                </a:lnTo>
                <a:lnTo>
                  <a:pt x="2145156" y="3162173"/>
                </a:lnTo>
                <a:lnTo>
                  <a:pt x="942593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639439" y="947165"/>
            <a:ext cx="50482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6 </a:t>
            </a:r>
            <a:r>
              <a:rPr sz="1800" spc="-5" dirty="0">
                <a:latin typeface="Calibri"/>
                <a:cs typeface="Calibri"/>
              </a:rPr>
              <a:t>will obviously </a:t>
            </a:r>
            <a:r>
              <a:rPr sz="1800" spc="-10" dirty="0">
                <a:latin typeface="Calibri"/>
                <a:cs typeface="Calibri"/>
              </a:rPr>
              <a:t>require </a:t>
            </a:r>
            <a:r>
              <a:rPr sz="1800" dirty="0">
                <a:latin typeface="Calibri"/>
                <a:cs typeface="Calibri"/>
              </a:rPr>
              <a:t>another </a:t>
            </a:r>
            <a:r>
              <a:rPr sz="1800" spc="-10" dirty="0">
                <a:latin typeface="Calibri"/>
                <a:cs typeface="Calibri"/>
              </a:rPr>
              <a:t>swap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shift. Again,  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known element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pivot,  here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8.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371338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0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0" y="327659"/>
                </a:lnTo>
                <a:lnTo>
                  <a:pt x="213740" y="142493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371338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3"/>
                </a:moveTo>
                <a:lnTo>
                  <a:pt x="213740" y="142493"/>
                </a:lnTo>
                <a:lnTo>
                  <a:pt x="213740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53945" y="2245614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2842006" y="0"/>
                </a:moveTo>
                <a:lnTo>
                  <a:pt x="129793" y="0"/>
                </a:lnTo>
                <a:lnTo>
                  <a:pt x="79295" y="10207"/>
                </a:lnTo>
                <a:lnTo>
                  <a:pt x="38036" y="38036"/>
                </a:lnTo>
                <a:lnTo>
                  <a:pt x="10207" y="79295"/>
                </a:lnTo>
                <a:lnTo>
                  <a:pt x="0" y="129794"/>
                </a:lnTo>
                <a:lnTo>
                  <a:pt x="0" y="648970"/>
                </a:lnTo>
                <a:lnTo>
                  <a:pt x="10207" y="699468"/>
                </a:lnTo>
                <a:lnTo>
                  <a:pt x="38036" y="740727"/>
                </a:lnTo>
                <a:lnTo>
                  <a:pt x="79295" y="768556"/>
                </a:lnTo>
                <a:lnTo>
                  <a:pt x="129793" y="778763"/>
                </a:lnTo>
                <a:lnTo>
                  <a:pt x="2842006" y="778763"/>
                </a:lnTo>
                <a:lnTo>
                  <a:pt x="2892504" y="768556"/>
                </a:lnTo>
                <a:lnTo>
                  <a:pt x="2933763" y="740727"/>
                </a:lnTo>
                <a:lnTo>
                  <a:pt x="2961592" y="699468"/>
                </a:lnTo>
                <a:lnTo>
                  <a:pt x="2971800" y="648970"/>
                </a:lnTo>
                <a:lnTo>
                  <a:pt x="2971800" y="129794"/>
                </a:lnTo>
                <a:lnTo>
                  <a:pt x="2961592" y="79295"/>
                </a:lnTo>
                <a:lnTo>
                  <a:pt x="2933763" y="38036"/>
                </a:lnTo>
                <a:lnTo>
                  <a:pt x="2892504" y="10207"/>
                </a:lnTo>
                <a:lnTo>
                  <a:pt x="2842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53945" y="2245614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4"/>
                </a:moveTo>
                <a:lnTo>
                  <a:pt x="10207" y="79295"/>
                </a:lnTo>
                <a:lnTo>
                  <a:pt x="38036" y="38036"/>
                </a:lnTo>
                <a:lnTo>
                  <a:pt x="79295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4"/>
                </a:lnTo>
                <a:lnTo>
                  <a:pt x="2971800" y="648970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95" y="768556"/>
                </a:lnTo>
                <a:lnTo>
                  <a:pt x="38036" y="740727"/>
                </a:lnTo>
                <a:lnTo>
                  <a:pt x="10207" y="699468"/>
                </a:lnTo>
                <a:lnTo>
                  <a:pt x="0" y="648970"/>
                </a:lnTo>
                <a:lnTo>
                  <a:pt x="0" y="1297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195066" y="2262377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30"/>
                </a:moveTo>
                <a:lnTo>
                  <a:pt x="0" y="1459230"/>
                </a:lnTo>
                <a:lnTo>
                  <a:pt x="64769" y="1524000"/>
                </a:lnTo>
                <a:lnTo>
                  <a:pt x="129539" y="1459230"/>
                </a:lnTo>
                <a:close/>
              </a:path>
              <a:path w="129539" h="1524000">
                <a:moveTo>
                  <a:pt x="97155" y="0"/>
                </a:moveTo>
                <a:lnTo>
                  <a:pt x="32384" y="0"/>
                </a:lnTo>
                <a:lnTo>
                  <a:pt x="32384" y="1459230"/>
                </a:lnTo>
                <a:lnTo>
                  <a:pt x="97155" y="1459230"/>
                </a:lnTo>
                <a:lnTo>
                  <a:pt x="97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195066" y="2262377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30"/>
                </a:moveTo>
                <a:lnTo>
                  <a:pt x="32384" y="1459230"/>
                </a:lnTo>
                <a:lnTo>
                  <a:pt x="32384" y="0"/>
                </a:lnTo>
                <a:lnTo>
                  <a:pt x="97155" y="0"/>
                </a:lnTo>
                <a:lnTo>
                  <a:pt x="97155" y="1459230"/>
                </a:lnTo>
                <a:lnTo>
                  <a:pt x="129539" y="1459230"/>
                </a:lnTo>
                <a:lnTo>
                  <a:pt x="64769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55035" y="2337816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005329" y="2149601"/>
            <a:ext cx="1064895" cy="81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2900">
              <a:lnSpc>
                <a:spcPct val="1439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Left  </a:t>
            </a: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27" name="object 27"/>
          <p:cNvSpPr txBox="1"/>
          <p:nvPr/>
        </p:nvSpPr>
        <p:spPr>
          <a:xfrm>
            <a:off x="3484245" y="2143125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3130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3004" y="33528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7576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32304" y="4294632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36797" y="639318"/>
            <a:ext cx="5655945" cy="3162300"/>
          </a:xfrm>
          <a:custGeom>
            <a:avLst/>
            <a:gdLst/>
            <a:ahLst/>
            <a:cxnLst/>
            <a:rect l="l" t="t" r="r" b="b"/>
            <a:pathLst>
              <a:path w="5655945" h="3162300">
                <a:moveTo>
                  <a:pt x="2356485" y="1495044"/>
                </a:moveTo>
                <a:lnTo>
                  <a:pt x="942593" y="1495044"/>
                </a:lnTo>
                <a:lnTo>
                  <a:pt x="2145156" y="3162173"/>
                </a:lnTo>
                <a:lnTo>
                  <a:pt x="2356485" y="1495044"/>
                </a:lnTo>
                <a:close/>
              </a:path>
              <a:path w="5655945" h="3162300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36797" y="639318"/>
            <a:ext cx="5655945" cy="3162300"/>
          </a:xfrm>
          <a:custGeom>
            <a:avLst/>
            <a:gdLst/>
            <a:ahLst/>
            <a:cxnLst/>
            <a:rect l="l" t="t" r="r" b="b"/>
            <a:pathLst>
              <a:path w="5655945" h="3162300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942593" y="0"/>
                </a:lnTo>
                <a:lnTo>
                  <a:pt x="2356485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2356485" y="1495044"/>
                </a:lnTo>
                <a:lnTo>
                  <a:pt x="2145156" y="3162173"/>
                </a:lnTo>
                <a:lnTo>
                  <a:pt x="942593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639439" y="947165"/>
            <a:ext cx="50482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6 </a:t>
            </a:r>
            <a:r>
              <a:rPr sz="1800" spc="-5" dirty="0">
                <a:latin typeface="Calibri"/>
                <a:cs typeface="Calibri"/>
              </a:rPr>
              <a:t>will obviously </a:t>
            </a:r>
            <a:r>
              <a:rPr sz="1800" spc="-10" dirty="0">
                <a:latin typeface="Calibri"/>
                <a:cs typeface="Calibri"/>
              </a:rPr>
              <a:t>require </a:t>
            </a:r>
            <a:r>
              <a:rPr sz="1800" dirty="0">
                <a:latin typeface="Calibri"/>
                <a:cs typeface="Calibri"/>
              </a:rPr>
              <a:t>another </a:t>
            </a:r>
            <a:r>
              <a:rPr sz="1800" spc="-10" dirty="0">
                <a:latin typeface="Calibri"/>
                <a:cs typeface="Calibri"/>
              </a:rPr>
              <a:t>swap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shift. Again,  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known element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pivot,  here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8.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371338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0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0" y="327659"/>
                </a:lnTo>
                <a:lnTo>
                  <a:pt x="213740" y="142493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371338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3"/>
                </a:moveTo>
                <a:lnTo>
                  <a:pt x="213740" y="142493"/>
                </a:lnTo>
                <a:lnTo>
                  <a:pt x="213740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53945" y="2245614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2842006" y="0"/>
                </a:moveTo>
                <a:lnTo>
                  <a:pt x="129793" y="0"/>
                </a:lnTo>
                <a:lnTo>
                  <a:pt x="79295" y="10207"/>
                </a:lnTo>
                <a:lnTo>
                  <a:pt x="38036" y="38036"/>
                </a:lnTo>
                <a:lnTo>
                  <a:pt x="10207" y="79295"/>
                </a:lnTo>
                <a:lnTo>
                  <a:pt x="0" y="129794"/>
                </a:lnTo>
                <a:lnTo>
                  <a:pt x="0" y="648970"/>
                </a:lnTo>
                <a:lnTo>
                  <a:pt x="10207" y="699468"/>
                </a:lnTo>
                <a:lnTo>
                  <a:pt x="38036" y="740727"/>
                </a:lnTo>
                <a:lnTo>
                  <a:pt x="79295" y="768556"/>
                </a:lnTo>
                <a:lnTo>
                  <a:pt x="129793" y="778763"/>
                </a:lnTo>
                <a:lnTo>
                  <a:pt x="2842006" y="778763"/>
                </a:lnTo>
                <a:lnTo>
                  <a:pt x="2892504" y="768556"/>
                </a:lnTo>
                <a:lnTo>
                  <a:pt x="2933763" y="740727"/>
                </a:lnTo>
                <a:lnTo>
                  <a:pt x="2961592" y="699468"/>
                </a:lnTo>
                <a:lnTo>
                  <a:pt x="2971800" y="648970"/>
                </a:lnTo>
                <a:lnTo>
                  <a:pt x="2971800" y="129794"/>
                </a:lnTo>
                <a:lnTo>
                  <a:pt x="2961592" y="79295"/>
                </a:lnTo>
                <a:lnTo>
                  <a:pt x="2933763" y="38036"/>
                </a:lnTo>
                <a:lnTo>
                  <a:pt x="2892504" y="10207"/>
                </a:lnTo>
                <a:lnTo>
                  <a:pt x="2842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53945" y="2245614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4"/>
                </a:moveTo>
                <a:lnTo>
                  <a:pt x="10207" y="79295"/>
                </a:lnTo>
                <a:lnTo>
                  <a:pt x="38036" y="38036"/>
                </a:lnTo>
                <a:lnTo>
                  <a:pt x="79295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4"/>
                </a:lnTo>
                <a:lnTo>
                  <a:pt x="2971800" y="648970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95" y="768556"/>
                </a:lnTo>
                <a:lnTo>
                  <a:pt x="38036" y="740727"/>
                </a:lnTo>
                <a:lnTo>
                  <a:pt x="10207" y="699468"/>
                </a:lnTo>
                <a:lnTo>
                  <a:pt x="0" y="648970"/>
                </a:lnTo>
                <a:lnTo>
                  <a:pt x="0" y="1297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195066" y="2262377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30"/>
                </a:moveTo>
                <a:lnTo>
                  <a:pt x="0" y="1459230"/>
                </a:lnTo>
                <a:lnTo>
                  <a:pt x="64769" y="1524000"/>
                </a:lnTo>
                <a:lnTo>
                  <a:pt x="129539" y="1459230"/>
                </a:lnTo>
                <a:close/>
              </a:path>
              <a:path w="129539" h="1524000">
                <a:moveTo>
                  <a:pt x="97155" y="0"/>
                </a:moveTo>
                <a:lnTo>
                  <a:pt x="32384" y="0"/>
                </a:lnTo>
                <a:lnTo>
                  <a:pt x="32384" y="1459230"/>
                </a:lnTo>
                <a:lnTo>
                  <a:pt x="97155" y="1459230"/>
                </a:lnTo>
                <a:lnTo>
                  <a:pt x="97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195066" y="2262377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30"/>
                </a:moveTo>
                <a:lnTo>
                  <a:pt x="32384" y="1459230"/>
                </a:lnTo>
                <a:lnTo>
                  <a:pt x="32384" y="0"/>
                </a:lnTo>
                <a:lnTo>
                  <a:pt x="97155" y="0"/>
                </a:lnTo>
                <a:lnTo>
                  <a:pt x="97155" y="1459230"/>
                </a:lnTo>
                <a:lnTo>
                  <a:pt x="129539" y="1459230"/>
                </a:lnTo>
                <a:lnTo>
                  <a:pt x="64769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55035" y="2337816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005329" y="2149601"/>
            <a:ext cx="1064895" cy="81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2900">
              <a:lnSpc>
                <a:spcPct val="1439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Left  </a:t>
            </a: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27" name="object 27"/>
          <p:cNvSpPr txBox="1"/>
          <p:nvPr/>
        </p:nvSpPr>
        <p:spPr>
          <a:xfrm>
            <a:off x="3484245" y="2143125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3130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36035" y="4288535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7576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32304" y="4294632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36797" y="639318"/>
            <a:ext cx="5655945" cy="3162300"/>
          </a:xfrm>
          <a:custGeom>
            <a:avLst/>
            <a:gdLst/>
            <a:ahLst/>
            <a:cxnLst/>
            <a:rect l="l" t="t" r="r" b="b"/>
            <a:pathLst>
              <a:path w="5655945" h="3162300">
                <a:moveTo>
                  <a:pt x="2356485" y="1495044"/>
                </a:moveTo>
                <a:lnTo>
                  <a:pt x="942593" y="1495044"/>
                </a:lnTo>
                <a:lnTo>
                  <a:pt x="2145156" y="3162173"/>
                </a:lnTo>
                <a:lnTo>
                  <a:pt x="2356485" y="1495044"/>
                </a:lnTo>
                <a:close/>
              </a:path>
              <a:path w="5655945" h="3162300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36797" y="639318"/>
            <a:ext cx="5655945" cy="3162300"/>
          </a:xfrm>
          <a:custGeom>
            <a:avLst/>
            <a:gdLst/>
            <a:ahLst/>
            <a:cxnLst/>
            <a:rect l="l" t="t" r="r" b="b"/>
            <a:pathLst>
              <a:path w="5655945" h="3162300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942593" y="0"/>
                </a:lnTo>
                <a:lnTo>
                  <a:pt x="2356485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2356485" y="1495044"/>
                </a:lnTo>
                <a:lnTo>
                  <a:pt x="2145156" y="3162173"/>
                </a:lnTo>
                <a:lnTo>
                  <a:pt x="942593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639439" y="947165"/>
            <a:ext cx="50482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6 </a:t>
            </a:r>
            <a:r>
              <a:rPr sz="1800" spc="-5" dirty="0">
                <a:latin typeface="Calibri"/>
                <a:cs typeface="Calibri"/>
              </a:rPr>
              <a:t>will obviously </a:t>
            </a:r>
            <a:r>
              <a:rPr sz="1800" spc="-10" dirty="0">
                <a:latin typeface="Calibri"/>
                <a:cs typeface="Calibri"/>
              </a:rPr>
              <a:t>require </a:t>
            </a:r>
            <a:r>
              <a:rPr sz="1800" dirty="0">
                <a:latin typeface="Calibri"/>
                <a:cs typeface="Calibri"/>
              </a:rPr>
              <a:t>another </a:t>
            </a:r>
            <a:r>
              <a:rPr sz="1800" spc="-10" dirty="0">
                <a:latin typeface="Calibri"/>
                <a:cs typeface="Calibri"/>
              </a:rPr>
              <a:t>swap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shift. Again,  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known element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pivot,  here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8.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371338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0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0" y="327659"/>
                </a:lnTo>
                <a:lnTo>
                  <a:pt x="213740" y="142493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371338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3"/>
                </a:moveTo>
                <a:lnTo>
                  <a:pt x="213740" y="142493"/>
                </a:lnTo>
                <a:lnTo>
                  <a:pt x="213740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53945" y="2245614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2842006" y="0"/>
                </a:moveTo>
                <a:lnTo>
                  <a:pt x="129793" y="0"/>
                </a:lnTo>
                <a:lnTo>
                  <a:pt x="79295" y="10207"/>
                </a:lnTo>
                <a:lnTo>
                  <a:pt x="38036" y="38036"/>
                </a:lnTo>
                <a:lnTo>
                  <a:pt x="10207" y="79295"/>
                </a:lnTo>
                <a:lnTo>
                  <a:pt x="0" y="129794"/>
                </a:lnTo>
                <a:lnTo>
                  <a:pt x="0" y="648970"/>
                </a:lnTo>
                <a:lnTo>
                  <a:pt x="10207" y="699468"/>
                </a:lnTo>
                <a:lnTo>
                  <a:pt x="38036" y="740727"/>
                </a:lnTo>
                <a:lnTo>
                  <a:pt x="79295" y="768556"/>
                </a:lnTo>
                <a:lnTo>
                  <a:pt x="129793" y="778763"/>
                </a:lnTo>
                <a:lnTo>
                  <a:pt x="2842006" y="778763"/>
                </a:lnTo>
                <a:lnTo>
                  <a:pt x="2892504" y="768556"/>
                </a:lnTo>
                <a:lnTo>
                  <a:pt x="2933763" y="740727"/>
                </a:lnTo>
                <a:lnTo>
                  <a:pt x="2961592" y="699468"/>
                </a:lnTo>
                <a:lnTo>
                  <a:pt x="2971800" y="648970"/>
                </a:lnTo>
                <a:lnTo>
                  <a:pt x="2971800" y="129794"/>
                </a:lnTo>
                <a:lnTo>
                  <a:pt x="2961592" y="79295"/>
                </a:lnTo>
                <a:lnTo>
                  <a:pt x="2933763" y="38036"/>
                </a:lnTo>
                <a:lnTo>
                  <a:pt x="2892504" y="10207"/>
                </a:lnTo>
                <a:lnTo>
                  <a:pt x="2842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53945" y="2245614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4"/>
                </a:moveTo>
                <a:lnTo>
                  <a:pt x="10207" y="79295"/>
                </a:lnTo>
                <a:lnTo>
                  <a:pt x="38036" y="38036"/>
                </a:lnTo>
                <a:lnTo>
                  <a:pt x="79295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800" y="129794"/>
                </a:lnTo>
                <a:lnTo>
                  <a:pt x="2971800" y="648970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95" y="768556"/>
                </a:lnTo>
                <a:lnTo>
                  <a:pt x="38036" y="740727"/>
                </a:lnTo>
                <a:lnTo>
                  <a:pt x="10207" y="699468"/>
                </a:lnTo>
                <a:lnTo>
                  <a:pt x="0" y="648970"/>
                </a:lnTo>
                <a:lnTo>
                  <a:pt x="0" y="1297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195066" y="2262377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30"/>
                </a:moveTo>
                <a:lnTo>
                  <a:pt x="0" y="1459230"/>
                </a:lnTo>
                <a:lnTo>
                  <a:pt x="64769" y="1524000"/>
                </a:lnTo>
                <a:lnTo>
                  <a:pt x="129539" y="1459230"/>
                </a:lnTo>
                <a:close/>
              </a:path>
              <a:path w="129539" h="1524000">
                <a:moveTo>
                  <a:pt x="97155" y="0"/>
                </a:moveTo>
                <a:lnTo>
                  <a:pt x="32384" y="0"/>
                </a:lnTo>
                <a:lnTo>
                  <a:pt x="32384" y="1459230"/>
                </a:lnTo>
                <a:lnTo>
                  <a:pt x="97155" y="1459230"/>
                </a:lnTo>
                <a:lnTo>
                  <a:pt x="97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195066" y="2262377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30"/>
                </a:moveTo>
                <a:lnTo>
                  <a:pt x="32384" y="1459230"/>
                </a:lnTo>
                <a:lnTo>
                  <a:pt x="32384" y="0"/>
                </a:lnTo>
                <a:lnTo>
                  <a:pt x="97155" y="0"/>
                </a:lnTo>
                <a:lnTo>
                  <a:pt x="97155" y="1459230"/>
                </a:lnTo>
                <a:lnTo>
                  <a:pt x="129539" y="1459230"/>
                </a:lnTo>
                <a:lnTo>
                  <a:pt x="64769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55035" y="2337816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005329" y="2149601"/>
            <a:ext cx="1064895" cy="81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2900">
              <a:lnSpc>
                <a:spcPct val="1439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Left  </a:t>
            </a: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27" name="object 27"/>
          <p:cNvSpPr txBox="1"/>
          <p:nvPr/>
        </p:nvSpPr>
        <p:spPr>
          <a:xfrm>
            <a:off x="3484245" y="2143125"/>
            <a:ext cx="1261110" cy="8318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10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3130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36035" y="4288535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7576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32304" y="4294632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36797" y="639318"/>
            <a:ext cx="5655945" cy="3162300"/>
          </a:xfrm>
          <a:custGeom>
            <a:avLst/>
            <a:gdLst/>
            <a:ahLst/>
            <a:cxnLst/>
            <a:rect l="l" t="t" r="r" b="b"/>
            <a:pathLst>
              <a:path w="5655945" h="3162300">
                <a:moveTo>
                  <a:pt x="2356485" y="1495044"/>
                </a:moveTo>
                <a:lnTo>
                  <a:pt x="942593" y="1495044"/>
                </a:lnTo>
                <a:lnTo>
                  <a:pt x="2145156" y="3162173"/>
                </a:lnTo>
                <a:lnTo>
                  <a:pt x="2356485" y="1495044"/>
                </a:lnTo>
                <a:close/>
              </a:path>
              <a:path w="5655945" h="3162300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36797" y="639318"/>
            <a:ext cx="5655945" cy="3162300"/>
          </a:xfrm>
          <a:custGeom>
            <a:avLst/>
            <a:gdLst/>
            <a:ahLst/>
            <a:cxnLst/>
            <a:rect l="l" t="t" r="r" b="b"/>
            <a:pathLst>
              <a:path w="5655945" h="3162300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942593" y="0"/>
                </a:lnTo>
                <a:lnTo>
                  <a:pt x="2356485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2356485" y="1495044"/>
                </a:lnTo>
                <a:lnTo>
                  <a:pt x="2145156" y="3162173"/>
                </a:lnTo>
                <a:lnTo>
                  <a:pt x="942593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639439" y="947165"/>
            <a:ext cx="50482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6 </a:t>
            </a:r>
            <a:r>
              <a:rPr sz="1800" spc="-5" dirty="0">
                <a:latin typeface="Calibri"/>
                <a:cs typeface="Calibri"/>
              </a:rPr>
              <a:t>will obviously </a:t>
            </a:r>
            <a:r>
              <a:rPr sz="1800" spc="-10" dirty="0">
                <a:latin typeface="Calibri"/>
                <a:cs typeface="Calibri"/>
              </a:rPr>
              <a:t>require </a:t>
            </a:r>
            <a:r>
              <a:rPr sz="1800" dirty="0">
                <a:latin typeface="Calibri"/>
                <a:cs typeface="Calibri"/>
              </a:rPr>
              <a:t>another </a:t>
            </a:r>
            <a:r>
              <a:rPr sz="1800" spc="-10" dirty="0">
                <a:latin typeface="Calibri"/>
                <a:cs typeface="Calibri"/>
              </a:rPr>
              <a:t>swap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shift. Again,  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known element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pivot,  here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8.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371338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13740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0" y="327659"/>
                </a:lnTo>
                <a:lnTo>
                  <a:pt x="213740" y="142493"/>
                </a:lnTo>
                <a:close/>
              </a:path>
              <a:path w="285114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371338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4" h="327660">
                <a:moveTo>
                  <a:pt x="284988" y="142493"/>
                </a:moveTo>
                <a:lnTo>
                  <a:pt x="213740" y="142493"/>
                </a:lnTo>
                <a:lnTo>
                  <a:pt x="213740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754629" y="226695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2842006" y="0"/>
                </a:moveTo>
                <a:lnTo>
                  <a:pt x="129793" y="0"/>
                </a:lnTo>
                <a:lnTo>
                  <a:pt x="79295" y="10207"/>
                </a:lnTo>
                <a:lnTo>
                  <a:pt x="38036" y="38036"/>
                </a:lnTo>
                <a:lnTo>
                  <a:pt x="10207" y="79295"/>
                </a:lnTo>
                <a:lnTo>
                  <a:pt x="0" y="129794"/>
                </a:lnTo>
                <a:lnTo>
                  <a:pt x="0" y="648970"/>
                </a:lnTo>
                <a:lnTo>
                  <a:pt x="10207" y="699468"/>
                </a:lnTo>
                <a:lnTo>
                  <a:pt x="38036" y="740727"/>
                </a:lnTo>
                <a:lnTo>
                  <a:pt x="79295" y="768556"/>
                </a:lnTo>
                <a:lnTo>
                  <a:pt x="129793" y="778763"/>
                </a:lnTo>
                <a:lnTo>
                  <a:pt x="2842006" y="778763"/>
                </a:lnTo>
                <a:lnTo>
                  <a:pt x="2892504" y="768556"/>
                </a:lnTo>
                <a:lnTo>
                  <a:pt x="2933763" y="740727"/>
                </a:lnTo>
                <a:lnTo>
                  <a:pt x="2961592" y="699468"/>
                </a:lnTo>
                <a:lnTo>
                  <a:pt x="2971799" y="648970"/>
                </a:lnTo>
                <a:lnTo>
                  <a:pt x="2971799" y="129794"/>
                </a:lnTo>
                <a:lnTo>
                  <a:pt x="2961592" y="79295"/>
                </a:lnTo>
                <a:lnTo>
                  <a:pt x="2933763" y="38036"/>
                </a:lnTo>
                <a:lnTo>
                  <a:pt x="2892504" y="10207"/>
                </a:lnTo>
                <a:lnTo>
                  <a:pt x="2842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754629" y="226695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4"/>
                </a:moveTo>
                <a:lnTo>
                  <a:pt x="10207" y="79295"/>
                </a:lnTo>
                <a:lnTo>
                  <a:pt x="38036" y="38036"/>
                </a:lnTo>
                <a:lnTo>
                  <a:pt x="79295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799" y="129794"/>
                </a:lnTo>
                <a:lnTo>
                  <a:pt x="2971799" y="648970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95" y="768556"/>
                </a:lnTo>
                <a:lnTo>
                  <a:pt x="38036" y="740727"/>
                </a:lnTo>
                <a:lnTo>
                  <a:pt x="10207" y="699468"/>
                </a:lnTo>
                <a:lnTo>
                  <a:pt x="0" y="648970"/>
                </a:lnTo>
                <a:lnTo>
                  <a:pt x="0" y="1297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39" y="1459230"/>
                </a:lnTo>
                <a:close/>
              </a:path>
              <a:path w="129539" h="1524000">
                <a:moveTo>
                  <a:pt x="97154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4" y="1459230"/>
                </a:lnTo>
                <a:lnTo>
                  <a:pt x="97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4" y="0"/>
                </a:lnTo>
                <a:lnTo>
                  <a:pt x="97154" y="1459230"/>
                </a:lnTo>
                <a:lnTo>
                  <a:pt x="129539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854196" y="2359151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906014" y="2172671"/>
            <a:ext cx="1067435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5400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27" name="object 27"/>
          <p:cNvSpPr txBox="1"/>
          <p:nvPr/>
        </p:nvSpPr>
        <p:spPr>
          <a:xfrm>
            <a:off x="4384928" y="2166079"/>
            <a:ext cx="1261745" cy="8305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05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3130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36035" y="4288535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7576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32304" y="4294632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255258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5" h="327660">
                <a:moveTo>
                  <a:pt x="213740" y="142493"/>
                </a:moveTo>
                <a:lnTo>
                  <a:pt x="71246" y="142493"/>
                </a:lnTo>
                <a:lnTo>
                  <a:pt x="71246" y="327659"/>
                </a:lnTo>
                <a:lnTo>
                  <a:pt x="213740" y="327659"/>
                </a:lnTo>
                <a:lnTo>
                  <a:pt x="213740" y="142493"/>
                </a:lnTo>
                <a:close/>
              </a:path>
              <a:path w="285115" h="327660">
                <a:moveTo>
                  <a:pt x="142493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255258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5" h="327660">
                <a:moveTo>
                  <a:pt x="284988" y="142493"/>
                </a:moveTo>
                <a:lnTo>
                  <a:pt x="213740" y="142493"/>
                </a:lnTo>
                <a:lnTo>
                  <a:pt x="213740" y="327659"/>
                </a:lnTo>
                <a:lnTo>
                  <a:pt x="71246" y="327659"/>
                </a:lnTo>
                <a:lnTo>
                  <a:pt x="71246" y="142493"/>
                </a:lnTo>
                <a:lnTo>
                  <a:pt x="0" y="142493"/>
                </a:lnTo>
                <a:lnTo>
                  <a:pt x="142493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754629" y="226695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4"/>
                </a:moveTo>
                <a:lnTo>
                  <a:pt x="10207" y="79295"/>
                </a:lnTo>
                <a:lnTo>
                  <a:pt x="38036" y="38036"/>
                </a:lnTo>
                <a:lnTo>
                  <a:pt x="79295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799" y="129794"/>
                </a:lnTo>
                <a:lnTo>
                  <a:pt x="2971799" y="648970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95" y="768556"/>
                </a:lnTo>
                <a:lnTo>
                  <a:pt x="38036" y="740727"/>
                </a:lnTo>
                <a:lnTo>
                  <a:pt x="10207" y="699468"/>
                </a:lnTo>
                <a:lnTo>
                  <a:pt x="0" y="648970"/>
                </a:lnTo>
                <a:lnTo>
                  <a:pt x="0" y="1297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39" y="1459230"/>
                </a:lnTo>
                <a:close/>
              </a:path>
              <a:path w="129539" h="1524000">
                <a:moveTo>
                  <a:pt x="97154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4" y="1459230"/>
                </a:lnTo>
                <a:lnTo>
                  <a:pt x="97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4" y="0"/>
                </a:lnTo>
                <a:lnTo>
                  <a:pt x="97154" y="1459230"/>
                </a:lnTo>
                <a:lnTo>
                  <a:pt x="129539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854196" y="2359151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906014" y="2172671"/>
            <a:ext cx="1067435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5400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84928" y="2166079"/>
            <a:ext cx="1261745" cy="8305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05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336797" y="639318"/>
            <a:ext cx="5655945" cy="3154045"/>
          </a:xfrm>
          <a:custGeom>
            <a:avLst/>
            <a:gdLst/>
            <a:ahLst/>
            <a:cxnLst/>
            <a:rect l="l" t="t" r="r" b="b"/>
            <a:pathLst>
              <a:path w="5655945" h="3154045">
                <a:moveTo>
                  <a:pt x="4712970" y="1495044"/>
                </a:moveTo>
                <a:lnTo>
                  <a:pt x="3299079" y="1495044"/>
                </a:lnTo>
                <a:lnTo>
                  <a:pt x="3042412" y="3153664"/>
                </a:lnTo>
                <a:lnTo>
                  <a:pt x="4712970" y="1495044"/>
                </a:lnTo>
                <a:close/>
              </a:path>
              <a:path w="5655945" h="3154045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336797" y="639318"/>
            <a:ext cx="5655945" cy="3154045"/>
          </a:xfrm>
          <a:custGeom>
            <a:avLst/>
            <a:gdLst/>
            <a:ahLst/>
            <a:cxnLst/>
            <a:rect l="l" t="t" r="r" b="b"/>
            <a:pathLst>
              <a:path w="5655945" h="3154045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3299079" y="0"/>
                </a:lnTo>
                <a:lnTo>
                  <a:pt x="4712970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4712970" y="1495044"/>
                </a:lnTo>
                <a:lnTo>
                  <a:pt x="3042412" y="3153664"/>
                </a:lnTo>
                <a:lnTo>
                  <a:pt x="3299079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189603" y="1221485"/>
            <a:ext cx="394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9 </a:t>
            </a:r>
            <a:r>
              <a:rPr sz="1800" spc="-5" dirty="0">
                <a:latin typeface="Calibri"/>
                <a:cs typeface="Calibri"/>
              </a:rPr>
              <a:t>is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 </a:t>
            </a:r>
            <a:r>
              <a:rPr sz="1800" spc="-5" dirty="0">
                <a:latin typeface="Calibri"/>
                <a:cs typeface="Calibri"/>
              </a:rPr>
              <a:t>so </a:t>
            </a:r>
            <a:r>
              <a:rPr sz="1800" spc="-10" dirty="0">
                <a:latin typeface="Calibri"/>
                <a:cs typeface="Calibri"/>
              </a:rPr>
              <a:t>we move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36797" y="639318"/>
            <a:ext cx="5655945" cy="3179445"/>
          </a:xfrm>
          <a:custGeom>
            <a:avLst/>
            <a:gdLst/>
            <a:ahLst/>
            <a:cxnLst/>
            <a:rect l="l" t="t" r="r" b="b"/>
            <a:pathLst>
              <a:path w="5655945" h="3179445">
                <a:moveTo>
                  <a:pt x="4712970" y="1495044"/>
                </a:moveTo>
                <a:lnTo>
                  <a:pt x="3299079" y="1495044"/>
                </a:lnTo>
                <a:lnTo>
                  <a:pt x="3922649" y="3179318"/>
                </a:lnTo>
                <a:lnTo>
                  <a:pt x="4712970" y="1495044"/>
                </a:lnTo>
                <a:close/>
              </a:path>
              <a:path w="5655945" h="3179445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336797" y="639318"/>
            <a:ext cx="5655945" cy="3179445"/>
          </a:xfrm>
          <a:custGeom>
            <a:avLst/>
            <a:gdLst/>
            <a:ahLst/>
            <a:cxnLst/>
            <a:rect l="l" t="t" r="r" b="b"/>
            <a:pathLst>
              <a:path w="5655945" h="3179445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3299079" y="0"/>
                </a:lnTo>
                <a:lnTo>
                  <a:pt x="4712970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4712970" y="1495044"/>
                </a:lnTo>
                <a:lnTo>
                  <a:pt x="3922649" y="3179318"/>
                </a:lnTo>
                <a:lnTo>
                  <a:pt x="3299079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11422" y="947165"/>
            <a:ext cx="53041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Now </a:t>
            </a:r>
            <a:r>
              <a:rPr sz="1800" spc="-10" dirty="0">
                <a:latin typeface="Calibri"/>
                <a:cs typeface="Calibri"/>
              </a:rPr>
              <a:t>at </a:t>
            </a:r>
            <a:r>
              <a:rPr sz="1800" dirty="0">
                <a:latin typeface="Calibri"/>
                <a:cs typeface="Calibri"/>
              </a:rPr>
              <a:t>the end </a:t>
            </a:r>
            <a:r>
              <a:rPr sz="1800" spc="-10" dirty="0">
                <a:latin typeface="Calibri"/>
                <a:cs typeface="Calibri"/>
              </a:rPr>
              <a:t>we swap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 </a:t>
            </a:r>
            <a:r>
              <a:rPr sz="1800" spc="-5" dirty="0">
                <a:latin typeface="Calibri"/>
                <a:cs typeface="Calibri"/>
              </a:rPr>
              <a:t>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element 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it, if </a:t>
            </a:r>
            <a:r>
              <a:rPr sz="1800" spc="-10" dirty="0">
                <a:latin typeface="Calibri"/>
                <a:cs typeface="Calibri"/>
              </a:rPr>
              <a:t>there </a:t>
            </a:r>
            <a:r>
              <a:rPr sz="1800" dirty="0">
                <a:latin typeface="Calibri"/>
                <a:cs typeface="Calibri"/>
              </a:rPr>
              <a:t>is </a:t>
            </a:r>
            <a:r>
              <a:rPr sz="1800" spc="-5" dirty="0">
                <a:latin typeface="Calibri"/>
                <a:cs typeface="Calibri"/>
              </a:rPr>
              <a:t>one. </a:t>
            </a:r>
            <a:r>
              <a:rPr sz="1800" dirty="0">
                <a:latin typeface="Calibri"/>
                <a:cs typeface="Calibri"/>
              </a:rPr>
              <a:t>In this </a:t>
            </a:r>
            <a:r>
              <a:rPr sz="1800" spc="-5" dirty="0">
                <a:latin typeface="Calibri"/>
                <a:cs typeface="Calibri"/>
              </a:rPr>
              <a:t>case there is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its  </a:t>
            </a:r>
            <a:r>
              <a:rPr sz="1800" dirty="0">
                <a:latin typeface="Calibri"/>
                <a:cs typeface="Calibri"/>
              </a:rPr>
              <a:t>13 </a:t>
            </a:r>
            <a:r>
              <a:rPr sz="1800" spc="-5" dirty="0">
                <a:latin typeface="Calibri"/>
                <a:cs typeface="Calibri"/>
              </a:rPr>
              <a:t>so </a:t>
            </a:r>
            <a:r>
              <a:rPr sz="1800" spc="-10" dirty="0">
                <a:latin typeface="Calibri"/>
                <a:cs typeface="Calibri"/>
              </a:rPr>
              <a:t>we swap to </a:t>
            </a:r>
            <a:r>
              <a:rPr sz="1800" spc="-15" dirty="0">
                <a:latin typeface="Calibri"/>
                <a:cs typeface="Calibri"/>
              </a:rPr>
              <a:t>complete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pass</a:t>
            </a:r>
            <a:r>
              <a:rPr sz="1800" spc="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through.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27988" y="3752088"/>
            <a:ext cx="6306312" cy="12710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3130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88480" y="4320540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36035" y="4288535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27576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32304" y="4294632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12698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5" h="327660">
                <a:moveTo>
                  <a:pt x="213741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3"/>
                </a:lnTo>
                <a:close/>
              </a:path>
              <a:path w="285115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2698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5" h="327660">
                <a:moveTo>
                  <a:pt x="284988" y="142493"/>
                </a:moveTo>
                <a:lnTo>
                  <a:pt x="213741" y="142493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754629" y="226695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2842006" y="0"/>
                </a:moveTo>
                <a:lnTo>
                  <a:pt x="129793" y="0"/>
                </a:lnTo>
                <a:lnTo>
                  <a:pt x="79295" y="10207"/>
                </a:lnTo>
                <a:lnTo>
                  <a:pt x="38036" y="38036"/>
                </a:lnTo>
                <a:lnTo>
                  <a:pt x="10207" y="79295"/>
                </a:lnTo>
                <a:lnTo>
                  <a:pt x="0" y="129794"/>
                </a:lnTo>
                <a:lnTo>
                  <a:pt x="0" y="648970"/>
                </a:lnTo>
                <a:lnTo>
                  <a:pt x="10207" y="699468"/>
                </a:lnTo>
                <a:lnTo>
                  <a:pt x="38036" y="740727"/>
                </a:lnTo>
                <a:lnTo>
                  <a:pt x="79295" y="768556"/>
                </a:lnTo>
                <a:lnTo>
                  <a:pt x="129793" y="778763"/>
                </a:lnTo>
                <a:lnTo>
                  <a:pt x="2842006" y="778763"/>
                </a:lnTo>
                <a:lnTo>
                  <a:pt x="2892504" y="768556"/>
                </a:lnTo>
                <a:lnTo>
                  <a:pt x="2933763" y="740727"/>
                </a:lnTo>
                <a:lnTo>
                  <a:pt x="2961592" y="699468"/>
                </a:lnTo>
                <a:lnTo>
                  <a:pt x="2971799" y="648970"/>
                </a:lnTo>
                <a:lnTo>
                  <a:pt x="2971799" y="129794"/>
                </a:lnTo>
                <a:lnTo>
                  <a:pt x="2961592" y="79295"/>
                </a:lnTo>
                <a:lnTo>
                  <a:pt x="2933763" y="38036"/>
                </a:lnTo>
                <a:lnTo>
                  <a:pt x="2892504" y="10207"/>
                </a:lnTo>
                <a:lnTo>
                  <a:pt x="2842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754629" y="226695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4"/>
                </a:moveTo>
                <a:lnTo>
                  <a:pt x="10207" y="79295"/>
                </a:lnTo>
                <a:lnTo>
                  <a:pt x="38036" y="38036"/>
                </a:lnTo>
                <a:lnTo>
                  <a:pt x="79295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799" y="129794"/>
                </a:lnTo>
                <a:lnTo>
                  <a:pt x="2971799" y="648970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95" y="768556"/>
                </a:lnTo>
                <a:lnTo>
                  <a:pt x="38036" y="740727"/>
                </a:lnTo>
                <a:lnTo>
                  <a:pt x="10207" y="699468"/>
                </a:lnTo>
                <a:lnTo>
                  <a:pt x="0" y="648970"/>
                </a:lnTo>
                <a:lnTo>
                  <a:pt x="0" y="1297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39" y="1459230"/>
                </a:lnTo>
                <a:close/>
              </a:path>
              <a:path w="129539" h="1524000">
                <a:moveTo>
                  <a:pt x="97154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4" y="1459230"/>
                </a:lnTo>
                <a:lnTo>
                  <a:pt x="97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4" y="0"/>
                </a:lnTo>
                <a:lnTo>
                  <a:pt x="97154" y="1459230"/>
                </a:lnTo>
                <a:lnTo>
                  <a:pt x="129539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854196" y="2359151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906014" y="2172671"/>
            <a:ext cx="1067435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5400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28" name="object 28"/>
          <p:cNvSpPr txBox="1"/>
          <p:nvPr/>
        </p:nvSpPr>
        <p:spPr>
          <a:xfrm>
            <a:off x="4384928" y="2166079"/>
            <a:ext cx="1261745" cy="8305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05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36797" y="639318"/>
            <a:ext cx="5655945" cy="3179445"/>
          </a:xfrm>
          <a:custGeom>
            <a:avLst/>
            <a:gdLst/>
            <a:ahLst/>
            <a:cxnLst/>
            <a:rect l="l" t="t" r="r" b="b"/>
            <a:pathLst>
              <a:path w="5655945" h="3179445">
                <a:moveTo>
                  <a:pt x="4712970" y="1495044"/>
                </a:moveTo>
                <a:lnTo>
                  <a:pt x="3299079" y="1495044"/>
                </a:lnTo>
                <a:lnTo>
                  <a:pt x="3922649" y="3179318"/>
                </a:lnTo>
                <a:lnTo>
                  <a:pt x="4712970" y="1495044"/>
                </a:lnTo>
                <a:close/>
              </a:path>
              <a:path w="5655945" h="3179445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336797" y="639318"/>
            <a:ext cx="5655945" cy="3179445"/>
          </a:xfrm>
          <a:custGeom>
            <a:avLst/>
            <a:gdLst/>
            <a:ahLst/>
            <a:cxnLst/>
            <a:rect l="l" t="t" r="r" b="b"/>
            <a:pathLst>
              <a:path w="5655945" h="3179445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3299079" y="0"/>
                </a:lnTo>
                <a:lnTo>
                  <a:pt x="4712970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4712970" y="1495044"/>
                </a:lnTo>
                <a:lnTo>
                  <a:pt x="3922649" y="3179318"/>
                </a:lnTo>
                <a:lnTo>
                  <a:pt x="3299079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11422" y="947165"/>
            <a:ext cx="53041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Now </a:t>
            </a:r>
            <a:r>
              <a:rPr sz="1800" spc="-10" dirty="0">
                <a:latin typeface="Calibri"/>
                <a:cs typeface="Calibri"/>
              </a:rPr>
              <a:t>at </a:t>
            </a:r>
            <a:r>
              <a:rPr sz="1800" dirty="0">
                <a:latin typeface="Calibri"/>
                <a:cs typeface="Calibri"/>
              </a:rPr>
              <a:t>the end </a:t>
            </a:r>
            <a:r>
              <a:rPr sz="1800" spc="-10" dirty="0">
                <a:latin typeface="Calibri"/>
                <a:cs typeface="Calibri"/>
              </a:rPr>
              <a:t>we swap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 </a:t>
            </a:r>
            <a:r>
              <a:rPr sz="1800" spc="-5" dirty="0">
                <a:latin typeface="Calibri"/>
                <a:cs typeface="Calibri"/>
              </a:rPr>
              <a:t>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element 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it, if </a:t>
            </a:r>
            <a:r>
              <a:rPr sz="1800" spc="-10" dirty="0">
                <a:latin typeface="Calibri"/>
                <a:cs typeface="Calibri"/>
              </a:rPr>
              <a:t>there </a:t>
            </a:r>
            <a:r>
              <a:rPr sz="1800" dirty="0">
                <a:latin typeface="Calibri"/>
                <a:cs typeface="Calibri"/>
              </a:rPr>
              <a:t>is </a:t>
            </a:r>
            <a:r>
              <a:rPr sz="1800" spc="-5" dirty="0">
                <a:latin typeface="Calibri"/>
                <a:cs typeface="Calibri"/>
              </a:rPr>
              <a:t>one. </a:t>
            </a:r>
            <a:r>
              <a:rPr sz="1800" dirty="0">
                <a:latin typeface="Calibri"/>
                <a:cs typeface="Calibri"/>
              </a:rPr>
              <a:t>In this </a:t>
            </a:r>
            <a:r>
              <a:rPr sz="1800" spc="-5" dirty="0">
                <a:latin typeface="Calibri"/>
                <a:cs typeface="Calibri"/>
              </a:rPr>
              <a:t>case there is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its  </a:t>
            </a:r>
            <a:r>
              <a:rPr sz="1800" dirty="0">
                <a:latin typeface="Calibri"/>
                <a:cs typeface="Calibri"/>
              </a:rPr>
              <a:t>13 </a:t>
            </a:r>
            <a:r>
              <a:rPr sz="1800" spc="-5" dirty="0">
                <a:latin typeface="Calibri"/>
                <a:cs typeface="Calibri"/>
              </a:rPr>
              <a:t>so </a:t>
            </a:r>
            <a:r>
              <a:rPr sz="1800" spc="-10" dirty="0">
                <a:latin typeface="Calibri"/>
                <a:cs typeface="Calibri"/>
              </a:rPr>
              <a:t>we swap to </a:t>
            </a:r>
            <a:r>
              <a:rPr sz="1800" spc="-15" dirty="0">
                <a:latin typeface="Calibri"/>
                <a:cs typeface="Calibri"/>
              </a:rPr>
              <a:t>complete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pass</a:t>
            </a:r>
            <a:r>
              <a:rPr sz="1800" spc="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through.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27988" y="3752088"/>
            <a:ext cx="6306312" cy="12710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3130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80888" y="3113532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36035" y="4288535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27576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32304" y="4294632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754629" y="226695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2842006" y="0"/>
                </a:moveTo>
                <a:lnTo>
                  <a:pt x="129793" y="0"/>
                </a:lnTo>
                <a:lnTo>
                  <a:pt x="79295" y="10207"/>
                </a:lnTo>
                <a:lnTo>
                  <a:pt x="38036" y="38036"/>
                </a:lnTo>
                <a:lnTo>
                  <a:pt x="10207" y="79295"/>
                </a:lnTo>
                <a:lnTo>
                  <a:pt x="0" y="129794"/>
                </a:lnTo>
                <a:lnTo>
                  <a:pt x="0" y="648970"/>
                </a:lnTo>
                <a:lnTo>
                  <a:pt x="10207" y="699468"/>
                </a:lnTo>
                <a:lnTo>
                  <a:pt x="38036" y="740727"/>
                </a:lnTo>
                <a:lnTo>
                  <a:pt x="79295" y="768556"/>
                </a:lnTo>
                <a:lnTo>
                  <a:pt x="129793" y="778763"/>
                </a:lnTo>
                <a:lnTo>
                  <a:pt x="2842006" y="778763"/>
                </a:lnTo>
                <a:lnTo>
                  <a:pt x="2892504" y="768556"/>
                </a:lnTo>
                <a:lnTo>
                  <a:pt x="2933763" y="740727"/>
                </a:lnTo>
                <a:lnTo>
                  <a:pt x="2961592" y="699468"/>
                </a:lnTo>
                <a:lnTo>
                  <a:pt x="2971799" y="648970"/>
                </a:lnTo>
                <a:lnTo>
                  <a:pt x="2971799" y="129794"/>
                </a:lnTo>
                <a:lnTo>
                  <a:pt x="2961592" y="79295"/>
                </a:lnTo>
                <a:lnTo>
                  <a:pt x="2933763" y="38036"/>
                </a:lnTo>
                <a:lnTo>
                  <a:pt x="2892504" y="10207"/>
                </a:lnTo>
                <a:lnTo>
                  <a:pt x="2842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754629" y="226695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4"/>
                </a:moveTo>
                <a:lnTo>
                  <a:pt x="10207" y="79295"/>
                </a:lnTo>
                <a:lnTo>
                  <a:pt x="38036" y="38036"/>
                </a:lnTo>
                <a:lnTo>
                  <a:pt x="79295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799" y="129794"/>
                </a:lnTo>
                <a:lnTo>
                  <a:pt x="2971799" y="648970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95" y="768556"/>
                </a:lnTo>
                <a:lnTo>
                  <a:pt x="38036" y="740727"/>
                </a:lnTo>
                <a:lnTo>
                  <a:pt x="10207" y="699468"/>
                </a:lnTo>
                <a:lnTo>
                  <a:pt x="0" y="648970"/>
                </a:lnTo>
                <a:lnTo>
                  <a:pt x="0" y="1297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39" y="1459230"/>
                </a:lnTo>
                <a:close/>
              </a:path>
              <a:path w="129539" h="1524000">
                <a:moveTo>
                  <a:pt x="97154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4" y="1459230"/>
                </a:lnTo>
                <a:lnTo>
                  <a:pt x="97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4" y="0"/>
                </a:lnTo>
                <a:lnTo>
                  <a:pt x="97154" y="1459230"/>
                </a:lnTo>
                <a:lnTo>
                  <a:pt x="129539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854196" y="2359151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906014" y="2172671"/>
            <a:ext cx="1067435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5400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84928" y="2166079"/>
            <a:ext cx="1261745" cy="8305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05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12698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5" h="327660">
                <a:moveTo>
                  <a:pt x="213741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3"/>
                </a:lnTo>
                <a:close/>
              </a:path>
              <a:path w="285115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12698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5" h="327660">
                <a:moveTo>
                  <a:pt x="284988" y="142493"/>
                </a:moveTo>
                <a:lnTo>
                  <a:pt x="213741" y="142493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36797" y="639318"/>
            <a:ext cx="5655945" cy="3179445"/>
          </a:xfrm>
          <a:custGeom>
            <a:avLst/>
            <a:gdLst/>
            <a:ahLst/>
            <a:cxnLst/>
            <a:rect l="l" t="t" r="r" b="b"/>
            <a:pathLst>
              <a:path w="5655945" h="3179445">
                <a:moveTo>
                  <a:pt x="4712970" y="1495044"/>
                </a:moveTo>
                <a:lnTo>
                  <a:pt x="3299079" y="1495044"/>
                </a:lnTo>
                <a:lnTo>
                  <a:pt x="3922649" y="3179318"/>
                </a:lnTo>
                <a:lnTo>
                  <a:pt x="4712970" y="1495044"/>
                </a:lnTo>
                <a:close/>
              </a:path>
              <a:path w="5655945" h="3179445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336797" y="639318"/>
            <a:ext cx="5655945" cy="3179445"/>
          </a:xfrm>
          <a:custGeom>
            <a:avLst/>
            <a:gdLst/>
            <a:ahLst/>
            <a:cxnLst/>
            <a:rect l="l" t="t" r="r" b="b"/>
            <a:pathLst>
              <a:path w="5655945" h="3179445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3299079" y="0"/>
                </a:lnTo>
                <a:lnTo>
                  <a:pt x="4712970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4712970" y="1495044"/>
                </a:lnTo>
                <a:lnTo>
                  <a:pt x="3922649" y="3179318"/>
                </a:lnTo>
                <a:lnTo>
                  <a:pt x="3299079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11422" y="947165"/>
            <a:ext cx="53041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Now </a:t>
            </a:r>
            <a:r>
              <a:rPr sz="1800" spc="-10" dirty="0">
                <a:latin typeface="Calibri"/>
                <a:cs typeface="Calibri"/>
              </a:rPr>
              <a:t>at </a:t>
            </a:r>
            <a:r>
              <a:rPr sz="1800" dirty="0">
                <a:latin typeface="Calibri"/>
                <a:cs typeface="Calibri"/>
              </a:rPr>
              <a:t>the end </a:t>
            </a:r>
            <a:r>
              <a:rPr sz="1800" spc="-10" dirty="0">
                <a:latin typeface="Calibri"/>
                <a:cs typeface="Calibri"/>
              </a:rPr>
              <a:t>we swap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 </a:t>
            </a:r>
            <a:r>
              <a:rPr sz="1800" spc="-5" dirty="0">
                <a:latin typeface="Calibri"/>
                <a:cs typeface="Calibri"/>
              </a:rPr>
              <a:t>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element 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it, if </a:t>
            </a:r>
            <a:r>
              <a:rPr sz="1800" spc="-10" dirty="0">
                <a:latin typeface="Calibri"/>
                <a:cs typeface="Calibri"/>
              </a:rPr>
              <a:t>there </a:t>
            </a:r>
            <a:r>
              <a:rPr sz="1800" dirty="0">
                <a:latin typeface="Calibri"/>
                <a:cs typeface="Calibri"/>
              </a:rPr>
              <a:t>is </a:t>
            </a:r>
            <a:r>
              <a:rPr sz="1800" spc="-5" dirty="0">
                <a:latin typeface="Calibri"/>
                <a:cs typeface="Calibri"/>
              </a:rPr>
              <a:t>one. </a:t>
            </a:r>
            <a:r>
              <a:rPr sz="1800" dirty="0">
                <a:latin typeface="Calibri"/>
                <a:cs typeface="Calibri"/>
              </a:rPr>
              <a:t>In this </a:t>
            </a:r>
            <a:r>
              <a:rPr sz="1800" spc="-5" dirty="0">
                <a:latin typeface="Calibri"/>
                <a:cs typeface="Calibri"/>
              </a:rPr>
              <a:t>case there is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its  </a:t>
            </a:r>
            <a:r>
              <a:rPr sz="1800" dirty="0">
                <a:latin typeface="Calibri"/>
                <a:cs typeface="Calibri"/>
              </a:rPr>
              <a:t>13 </a:t>
            </a:r>
            <a:r>
              <a:rPr sz="1800" spc="-5" dirty="0">
                <a:latin typeface="Calibri"/>
                <a:cs typeface="Calibri"/>
              </a:rPr>
              <a:t>so </a:t>
            </a:r>
            <a:r>
              <a:rPr sz="1800" spc="-10" dirty="0">
                <a:latin typeface="Calibri"/>
                <a:cs typeface="Calibri"/>
              </a:rPr>
              <a:t>we swap to </a:t>
            </a:r>
            <a:r>
              <a:rPr sz="1800" spc="-15" dirty="0">
                <a:latin typeface="Calibri"/>
                <a:cs typeface="Calibri"/>
              </a:rPr>
              <a:t>complete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pass</a:t>
            </a:r>
            <a:r>
              <a:rPr sz="1800" spc="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through.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27988" y="3752088"/>
            <a:ext cx="6306312" cy="12710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3130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80888" y="3113532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36035" y="4288535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02195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32304" y="4294632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754629" y="226695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2842006" y="0"/>
                </a:moveTo>
                <a:lnTo>
                  <a:pt x="129793" y="0"/>
                </a:lnTo>
                <a:lnTo>
                  <a:pt x="79295" y="10207"/>
                </a:lnTo>
                <a:lnTo>
                  <a:pt x="38036" y="38036"/>
                </a:lnTo>
                <a:lnTo>
                  <a:pt x="10207" y="79295"/>
                </a:lnTo>
                <a:lnTo>
                  <a:pt x="0" y="129794"/>
                </a:lnTo>
                <a:lnTo>
                  <a:pt x="0" y="648970"/>
                </a:lnTo>
                <a:lnTo>
                  <a:pt x="10207" y="699468"/>
                </a:lnTo>
                <a:lnTo>
                  <a:pt x="38036" y="740727"/>
                </a:lnTo>
                <a:lnTo>
                  <a:pt x="79295" y="768556"/>
                </a:lnTo>
                <a:lnTo>
                  <a:pt x="129793" y="778763"/>
                </a:lnTo>
                <a:lnTo>
                  <a:pt x="2842006" y="778763"/>
                </a:lnTo>
                <a:lnTo>
                  <a:pt x="2892504" y="768556"/>
                </a:lnTo>
                <a:lnTo>
                  <a:pt x="2933763" y="740727"/>
                </a:lnTo>
                <a:lnTo>
                  <a:pt x="2961592" y="699468"/>
                </a:lnTo>
                <a:lnTo>
                  <a:pt x="2971799" y="648970"/>
                </a:lnTo>
                <a:lnTo>
                  <a:pt x="2971799" y="129794"/>
                </a:lnTo>
                <a:lnTo>
                  <a:pt x="2961592" y="79295"/>
                </a:lnTo>
                <a:lnTo>
                  <a:pt x="2933763" y="38036"/>
                </a:lnTo>
                <a:lnTo>
                  <a:pt x="2892504" y="10207"/>
                </a:lnTo>
                <a:lnTo>
                  <a:pt x="2842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754629" y="226695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4"/>
                </a:moveTo>
                <a:lnTo>
                  <a:pt x="10207" y="79295"/>
                </a:lnTo>
                <a:lnTo>
                  <a:pt x="38036" y="38036"/>
                </a:lnTo>
                <a:lnTo>
                  <a:pt x="79295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799" y="129794"/>
                </a:lnTo>
                <a:lnTo>
                  <a:pt x="2971799" y="648970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95" y="768556"/>
                </a:lnTo>
                <a:lnTo>
                  <a:pt x="38036" y="740727"/>
                </a:lnTo>
                <a:lnTo>
                  <a:pt x="10207" y="699468"/>
                </a:lnTo>
                <a:lnTo>
                  <a:pt x="0" y="648970"/>
                </a:lnTo>
                <a:lnTo>
                  <a:pt x="0" y="1297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39" y="1459230"/>
                </a:lnTo>
                <a:close/>
              </a:path>
              <a:path w="129539" h="1524000">
                <a:moveTo>
                  <a:pt x="97154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4" y="1459230"/>
                </a:lnTo>
                <a:lnTo>
                  <a:pt x="97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4" y="0"/>
                </a:lnTo>
                <a:lnTo>
                  <a:pt x="97154" y="1459230"/>
                </a:lnTo>
                <a:lnTo>
                  <a:pt x="129539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854196" y="2359151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906014" y="2172671"/>
            <a:ext cx="1067435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5400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84928" y="2166079"/>
            <a:ext cx="1261745" cy="8305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05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12698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5" h="327660">
                <a:moveTo>
                  <a:pt x="213741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3"/>
                </a:lnTo>
                <a:close/>
              </a:path>
              <a:path w="285115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12698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5" h="327660">
                <a:moveTo>
                  <a:pt x="284988" y="142493"/>
                </a:moveTo>
                <a:lnTo>
                  <a:pt x="213741" y="142493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36797" y="639318"/>
            <a:ext cx="5655945" cy="3179445"/>
          </a:xfrm>
          <a:custGeom>
            <a:avLst/>
            <a:gdLst/>
            <a:ahLst/>
            <a:cxnLst/>
            <a:rect l="l" t="t" r="r" b="b"/>
            <a:pathLst>
              <a:path w="5655945" h="3179445">
                <a:moveTo>
                  <a:pt x="4712970" y="1495044"/>
                </a:moveTo>
                <a:lnTo>
                  <a:pt x="3299079" y="1495044"/>
                </a:lnTo>
                <a:lnTo>
                  <a:pt x="3922649" y="3179318"/>
                </a:lnTo>
                <a:lnTo>
                  <a:pt x="4712970" y="1495044"/>
                </a:lnTo>
                <a:close/>
              </a:path>
              <a:path w="5655945" h="3179445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336797" y="639318"/>
            <a:ext cx="5655945" cy="3179445"/>
          </a:xfrm>
          <a:custGeom>
            <a:avLst/>
            <a:gdLst/>
            <a:ahLst/>
            <a:cxnLst/>
            <a:rect l="l" t="t" r="r" b="b"/>
            <a:pathLst>
              <a:path w="5655945" h="3179445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3299079" y="0"/>
                </a:lnTo>
                <a:lnTo>
                  <a:pt x="4712970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4712970" y="1495044"/>
                </a:lnTo>
                <a:lnTo>
                  <a:pt x="3922649" y="3179318"/>
                </a:lnTo>
                <a:lnTo>
                  <a:pt x="3299079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11422" y="947165"/>
            <a:ext cx="53041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Now </a:t>
            </a:r>
            <a:r>
              <a:rPr sz="1800" spc="-10" dirty="0">
                <a:latin typeface="Calibri"/>
                <a:cs typeface="Calibri"/>
              </a:rPr>
              <a:t>at </a:t>
            </a:r>
            <a:r>
              <a:rPr sz="1800" dirty="0">
                <a:latin typeface="Calibri"/>
                <a:cs typeface="Calibri"/>
              </a:rPr>
              <a:t>the end </a:t>
            </a:r>
            <a:r>
              <a:rPr sz="1800" spc="-10" dirty="0">
                <a:latin typeface="Calibri"/>
                <a:cs typeface="Calibri"/>
              </a:rPr>
              <a:t>we swap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 </a:t>
            </a:r>
            <a:r>
              <a:rPr sz="1800" spc="-5" dirty="0">
                <a:latin typeface="Calibri"/>
                <a:cs typeface="Calibri"/>
              </a:rPr>
              <a:t>with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element  </a:t>
            </a:r>
            <a:r>
              <a:rPr sz="1800" spc="-10" dirty="0">
                <a:latin typeface="Calibri"/>
                <a:cs typeface="Calibri"/>
              </a:rPr>
              <a:t>greater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5" dirty="0">
                <a:latin typeface="Calibri"/>
                <a:cs typeface="Calibri"/>
              </a:rPr>
              <a:t>it, if </a:t>
            </a:r>
            <a:r>
              <a:rPr sz="1800" spc="-10" dirty="0">
                <a:latin typeface="Calibri"/>
                <a:cs typeface="Calibri"/>
              </a:rPr>
              <a:t>there </a:t>
            </a:r>
            <a:r>
              <a:rPr sz="1800" dirty="0">
                <a:latin typeface="Calibri"/>
                <a:cs typeface="Calibri"/>
              </a:rPr>
              <a:t>is </a:t>
            </a:r>
            <a:r>
              <a:rPr sz="1800" spc="-5" dirty="0">
                <a:latin typeface="Calibri"/>
                <a:cs typeface="Calibri"/>
              </a:rPr>
              <a:t>one. </a:t>
            </a:r>
            <a:r>
              <a:rPr sz="1800" dirty="0">
                <a:latin typeface="Calibri"/>
                <a:cs typeface="Calibri"/>
              </a:rPr>
              <a:t>In this </a:t>
            </a:r>
            <a:r>
              <a:rPr sz="1800" spc="-5" dirty="0">
                <a:latin typeface="Calibri"/>
                <a:cs typeface="Calibri"/>
              </a:rPr>
              <a:t>case there is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its  </a:t>
            </a:r>
            <a:r>
              <a:rPr sz="1800" dirty="0">
                <a:latin typeface="Calibri"/>
                <a:cs typeface="Calibri"/>
              </a:rPr>
              <a:t>13 </a:t>
            </a:r>
            <a:r>
              <a:rPr sz="1800" spc="-5" dirty="0">
                <a:latin typeface="Calibri"/>
                <a:cs typeface="Calibri"/>
              </a:rPr>
              <a:t>so </a:t>
            </a:r>
            <a:r>
              <a:rPr sz="1800" spc="-10" dirty="0">
                <a:latin typeface="Calibri"/>
                <a:cs typeface="Calibri"/>
              </a:rPr>
              <a:t>we swap to </a:t>
            </a:r>
            <a:r>
              <a:rPr sz="1800" spc="-15" dirty="0">
                <a:latin typeface="Calibri"/>
                <a:cs typeface="Calibri"/>
              </a:rPr>
              <a:t>complete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5" dirty="0">
                <a:latin typeface="Calibri"/>
                <a:cs typeface="Calibri"/>
              </a:rPr>
              <a:t>pass</a:t>
            </a:r>
            <a:r>
              <a:rPr sz="1800" spc="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through.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27988" y="3752088"/>
            <a:ext cx="6306312" cy="12710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3130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09288" y="4294632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36035" y="4288535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02195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4686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32304" y="4294632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81290" y="4382465"/>
            <a:ext cx="1285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 </a:t>
            </a:r>
            <a:r>
              <a:rPr sz="1800" spc="-5" dirty="0">
                <a:latin typeface="Arial"/>
                <a:cs typeface="Arial"/>
              </a:rPr>
              <a:t>(Pivot)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754629" y="226695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2842006" y="0"/>
                </a:moveTo>
                <a:lnTo>
                  <a:pt x="129793" y="0"/>
                </a:lnTo>
                <a:lnTo>
                  <a:pt x="79295" y="10207"/>
                </a:lnTo>
                <a:lnTo>
                  <a:pt x="38036" y="38036"/>
                </a:lnTo>
                <a:lnTo>
                  <a:pt x="10207" y="79295"/>
                </a:lnTo>
                <a:lnTo>
                  <a:pt x="0" y="129794"/>
                </a:lnTo>
                <a:lnTo>
                  <a:pt x="0" y="648970"/>
                </a:lnTo>
                <a:lnTo>
                  <a:pt x="10207" y="699468"/>
                </a:lnTo>
                <a:lnTo>
                  <a:pt x="38036" y="740727"/>
                </a:lnTo>
                <a:lnTo>
                  <a:pt x="79295" y="768556"/>
                </a:lnTo>
                <a:lnTo>
                  <a:pt x="129793" y="778763"/>
                </a:lnTo>
                <a:lnTo>
                  <a:pt x="2842006" y="778763"/>
                </a:lnTo>
                <a:lnTo>
                  <a:pt x="2892504" y="768556"/>
                </a:lnTo>
                <a:lnTo>
                  <a:pt x="2933763" y="740727"/>
                </a:lnTo>
                <a:lnTo>
                  <a:pt x="2961592" y="699468"/>
                </a:lnTo>
                <a:lnTo>
                  <a:pt x="2971799" y="648970"/>
                </a:lnTo>
                <a:lnTo>
                  <a:pt x="2971799" y="129794"/>
                </a:lnTo>
                <a:lnTo>
                  <a:pt x="2961592" y="79295"/>
                </a:lnTo>
                <a:lnTo>
                  <a:pt x="2933763" y="38036"/>
                </a:lnTo>
                <a:lnTo>
                  <a:pt x="2892504" y="10207"/>
                </a:lnTo>
                <a:lnTo>
                  <a:pt x="2842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754629" y="226695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4"/>
                </a:moveTo>
                <a:lnTo>
                  <a:pt x="10207" y="79295"/>
                </a:lnTo>
                <a:lnTo>
                  <a:pt x="38036" y="38036"/>
                </a:lnTo>
                <a:lnTo>
                  <a:pt x="79295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799" y="129794"/>
                </a:lnTo>
                <a:lnTo>
                  <a:pt x="2971799" y="648970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95" y="768556"/>
                </a:lnTo>
                <a:lnTo>
                  <a:pt x="38036" y="740727"/>
                </a:lnTo>
                <a:lnTo>
                  <a:pt x="10207" y="699468"/>
                </a:lnTo>
                <a:lnTo>
                  <a:pt x="0" y="648970"/>
                </a:lnTo>
                <a:lnTo>
                  <a:pt x="0" y="1297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39" y="1459230"/>
                </a:lnTo>
                <a:close/>
              </a:path>
              <a:path w="129539" h="1524000">
                <a:moveTo>
                  <a:pt x="97154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4" y="1459230"/>
                </a:lnTo>
                <a:lnTo>
                  <a:pt x="97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4" y="0"/>
                </a:lnTo>
                <a:lnTo>
                  <a:pt x="97154" y="1459230"/>
                </a:lnTo>
                <a:lnTo>
                  <a:pt x="129539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854196" y="2359151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906014" y="2172671"/>
            <a:ext cx="1067435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5400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84928" y="2166079"/>
            <a:ext cx="1261745" cy="8305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05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12698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5" h="327660">
                <a:moveTo>
                  <a:pt x="213741" y="142493"/>
                </a:moveTo>
                <a:lnTo>
                  <a:pt x="71247" y="142493"/>
                </a:lnTo>
                <a:lnTo>
                  <a:pt x="71247" y="327659"/>
                </a:lnTo>
                <a:lnTo>
                  <a:pt x="213741" y="327659"/>
                </a:lnTo>
                <a:lnTo>
                  <a:pt x="213741" y="142493"/>
                </a:lnTo>
                <a:close/>
              </a:path>
              <a:path w="285115" h="327660">
                <a:moveTo>
                  <a:pt x="142494" y="0"/>
                </a:moveTo>
                <a:lnTo>
                  <a:pt x="0" y="142493"/>
                </a:lnTo>
                <a:lnTo>
                  <a:pt x="284988" y="142493"/>
                </a:lnTo>
                <a:lnTo>
                  <a:pt x="14249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126985" y="5023865"/>
            <a:ext cx="285115" cy="327660"/>
          </a:xfrm>
          <a:custGeom>
            <a:avLst/>
            <a:gdLst/>
            <a:ahLst/>
            <a:cxnLst/>
            <a:rect l="l" t="t" r="r" b="b"/>
            <a:pathLst>
              <a:path w="285115" h="327660">
                <a:moveTo>
                  <a:pt x="284988" y="142493"/>
                </a:moveTo>
                <a:lnTo>
                  <a:pt x="213741" y="142493"/>
                </a:lnTo>
                <a:lnTo>
                  <a:pt x="213741" y="327659"/>
                </a:lnTo>
                <a:lnTo>
                  <a:pt x="71247" y="327659"/>
                </a:lnTo>
                <a:lnTo>
                  <a:pt x="71247" y="142493"/>
                </a:lnTo>
                <a:lnTo>
                  <a:pt x="0" y="142493"/>
                </a:lnTo>
                <a:lnTo>
                  <a:pt x="142494" y="0"/>
                </a:lnTo>
                <a:lnTo>
                  <a:pt x="284988" y="14249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7280" y="3741420"/>
            <a:ext cx="2726436" cy="12710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58996" y="3752088"/>
            <a:ext cx="3575304" cy="12710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13130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4528" y="4288535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06851" y="4288535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06768" y="4288535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920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04644" y="4294632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36797" y="639318"/>
            <a:ext cx="5655945" cy="1496060"/>
          </a:xfrm>
          <a:custGeom>
            <a:avLst/>
            <a:gdLst/>
            <a:ahLst/>
            <a:cxnLst/>
            <a:rect l="l" t="t" r="r" b="b"/>
            <a:pathLst>
              <a:path w="5655945" h="1496060">
                <a:moveTo>
                  <a:pt x="4712970" y="1495044"/>
                </a:moveTo>
                <a:lnTo>
                  <a:pt x="3299079" y="1495044"/>
                </a:lnTo>
                <a:lnTo>
                  <a:pt x="3956811" y="1495552"/>
                </a:lnTo>
                <a:lnTo>
                  <a:pt x="4712970" y="1495044"/>
                </a:lnTo>
                <a:close/>
              </a:path>
              <a:path w="5655945" h="1496060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36797" y="639318"/>
            <a:ext cx="5655945" cy="1496060"/>
          </a:xfrm>
          <a:custGeom>
            <a:avLst/>
            <a:gdLst/>
            <a:ahLst/>
            <a:cxnLst/>
            <a:rect l="l" t="t" r="r" b="b"/>
            <a:pathLst>
              <a:path w="5655945" h="1496060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3299079" y="0"/>
                </a:lnTo>
                <a:lnTo>
                  <a:pt x="4712970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4712970" y="1495044"/>
                </a:lnTo>
                <a:lnTo>
                  <a:pt x="3956811" y="1495552"/>
                </a:lnTo>
                <a:lnTo>
                  <a:pt x="3299079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663822" y="947165"/>
            <a:ext cx="499808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Calibri"/>
                <a:cs typeface="Calibri"/>
              </a:rPr>
              <a:t>We </a:t>
            </a:r>
            <a:r>
              <a:rPr sz="1800" spc="-5" dirty="0">
                <a:latin typeface="Calibri"/>
                <a:cs typeface="Calibri"/>
              </a:rPr>
              <a:t>now </a:t>
            </a:r>
            <a:r>
              <a:rPr sz="1800" spc="-10" dirty="0">
                <a:latin typeface="Calibri"/>
                <a:cs typeface="Calibri"/>
              </a:rPr>
              <a:t>have two </a:t>
            </a:r>
            <a:r>
              <a:rPr sz="1800" spc="-5" dirty="0">
                <a:latin typeface="Calibri"/>
                <a:cs typeface="Calibri"/>
              </a:rPr>
              <a:t>partitions with one with </a:t>
            </a:r>
            <a:r>
              <a:rPr sz="1800" dirty="0">
                <a:latin typeface="Calibri"/>
                <a:cs typeface="Calibri"/>
              </a:rPr>
              <a:t>all the  </a:t>
            </a:r>
            <a:r>
              <a:rPr sz="1800" spc="-5" dirty="0">
                <a:latin typeface="Calibri"/>
                <a:cs typeface="Calibri"/>
              </a:rPr>
              <a:t>elements </a:t>
            </a:r>
            <a:r>
              <a:rPr sz="1800" dirty="0">
                <a:latin typeface="Calibri"/>
                <a:cs typeface="Calibri"/>
              </a:rPr>
              <a:t>less than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10" dirty="0">
                <a:latin typeface="Calibri"/>
                <a:cs typeface="Calibri"/>
              </a:rPr>
              <a:t>pivot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another with </a:t>
            </a:r>
            <a:r>
              <a:rPr sz="1800" dirty="0">
                <a:latin typeface="Calibri"/>
                <a:cs typeface="Calibri"/>
              </a:rPr>
              <a:t>all  those </a:t>
            </a:r>
            <a:r>
              <a:rPr sz="1800" spc="-35" dirty="0">
                <a:latin typeface="Calibri"/>
                <a:cs typeface="Calibri"/>
              </a:rPr>
              <a:t>greater.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754629" y="226695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4"/>
                </a:moveTo>
                <a:lnTo>
                  <a:pt x="10207" y="79295"/>
                </a:lnTo>
                <a:lnTo>
                  <a:pt x="38036" y="38036"/>
                </a:lnTo>
                <a:lnTo>
                  <a:pt x="79295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799" y="129794"/>
                </a:lnTo>
                <a:lnTo>
                  <a:pt x="2971799" y="648970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95" y="768556"/>
                </a:lnTo>
                <a:lnTo>
                  <a:pt x="38036" y="740727"/>
                </a:lnTo>
                <a:lnTo>
                  <a:pt x="10207" y="699468"/>
                </a:lnTo>
                <a:lnTo>
                  <a:pt x="0" y="648970"/>
                </a:lnTo>
                <a:lnTo>
                  <a:pt x="0" y="1297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39" y="1459230"/>
                </a:lnTo>
                <a:close/>
              </a:path>
              <a:path w="129539" h="1524000">
                <a:moveTo>
                  <a:pt x="97154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4" y="1459230"/>
                </a:lnTo>
                <a:lnTo>
                  <a:pt x="97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4" y="0"/>
                </a:lnTo>
                <a:lnTo>
                  <a:pt x="97154" y="1459230"/>
                </a:lnTo>
                <a:lnTo>
                  <a:pt x="129539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854196" y="2359151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906014" y="2172671"/>
            <a:ext cx="1067435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5400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24" name="object 24"/>
          <p:cNvSpPr txBox="1"/>
          <p:nvPr/>
        </p:nvSpPr>
        <p:spPr>
          <a:xfrm>
            <a:off x="4384928" y="2166079"/>
            <a:ext cx="1261745" cy="8305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05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7280" y="3741420"/>
            <a:ext cx="2726436" cy="12710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58996" y="3752088"/>
            <a:ext cx="3575304" cy="12710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13130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4528" y="4288535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06851" y="4288535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06768" y="4288535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920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04644" y="4294632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36797" y="639318"/>
            <a:ext cx="5655945" cy="1496060"/>
          </a:xfrm>
          <a:custGeom>
            <a:avLst/>
            <a:gdLst/>
            <a:ahLst/>
            <a:cxnLst/>
            <a:rect l="l" t="t" r="r" b="b"/>
            <a:pathLst>
              <a:path w="5655945" h="1496060">
                <a:moveTo>
                  <a:pt x="4712970" y="1495044"/>
                </a:moveTo>
                <a:lnTo>
                  <a:pt x="3299079" y="1495044"/>
                </a:lnTo>
                <a:lnTo>
                  <a:pt x="3956811" y="1495552"/>
                </a:lnTo>
                <a:lnTo>
                  <a:pt x="4712970" y="1495044"/>
                </a:lnTo>
                <a:close/>
              </a:path>
              <a:path w="5655945" h="1496060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36797" y="639318"/>
            <a:ext cx="5655945" cy="1496060"/>
          </a:xfrm>
          <a:custGeom>
            <a:avLst/>
            <a:gdLst/>
            <a:ahLst/>
            <a:cxnLst/>
            <a:rect l="l" t="t" r="r" b="b"/>
            <a:pathLst>
              <a:path w="5655945" h="1496060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3299079" y="0"/>
                </a:lnTo>
                <a:lnTo>
                  <a:pt x="4712970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4712970" y="1495044"/>
                </a:lnTo>
                <a:lnTo>
                  <a:pt x="3956811" y="1495552"/>
                </a:lnTo>
                <a:lnTo>
                  <a:pt x="3299079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805554" y="947165"/>
            <a:ext cx="47136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Now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same </a:t>
            </a:r>
            <a:r>
              <a:rPr sz="1800" spc="-10" dirty="0">
                <a:latin typeface="Calibri"/>
                <a:cs typeface="Calibri"/>
              </a:rPr>
              <a:t>operation </a:t>
            </a:r>
            <a:r>
              <a:rPr sz="1800" spc="-5" dirty="0">
                <a:latin typeface="Calibri"/>
                <a:cs typeface="Calibri"/>
              </a:rPr>
              <a:t>will happen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5" dirty="0">
                <a:latin typeface="Calibri"/>
                <a:cs typeface="Calibri"/>
              </a:rPr>
              <a:t>each new  segement. This happens until </a:t>
            </a:r>
            <a:r>
              <a:rPr sz="1800" spc="-10" dirty="0">
                <a:latin typeface="Calibri"/>
                <a:cs typeface="Calibri"/>
              </a:rPr>
              <a:t>you get </a:t>
            </a:r>
            <a:r>
              <a:rPr sz="1800" spc="-5" dirty="0">
                <a:latin typeface="Calibri"/>
                <a:cs typeface="Calibri"/>
              </a:rPr>
              <a:t>down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5" dirty="0">
                <a:latin typeface="Calibri"/>
                <a:cs typeface="Calibri"/>
              </a:rPr>
              <a:t>one  element.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754629" y="226695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4"/>
                </a:moveTo>
                <a:lnTo>
                  <a:pt x="10207" y="79295"/>
                </a:lnTo>
                <a:lnTo>
                  <a:pt x="38036" y="38036"/>
                </a:lnTo>
                <a:lnTo>
                  <a:pt x="79295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799" y="129794"/>
                </a:lnTo>
                <a:lnTo>
                  <a:pt x="2971799" y="648970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95" y="768556"/>
                </a:lnTo>
                <a:lnTo>
                  <a:pt x="38036" y="740727"/>
                </a:lnTo>
                <a:lnTo>
                  <a:pt x="10207" y="699468"/>
                </a:lnTo>
                <a:lnTo>
                  <a:pt x="0" y="648970"/>
                </a:lnTo>
                <a:lnTo>
                  <a:pt x="0" y="1297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39" y="1459230"/>
                </a:lnTo>
                <a:close/>
              </a:path>
              <a:path w="129539" h="1524000">
                <a:moveTo>
                  <a:pt x="97154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4" y="1459230"/>
                </a:lnTo>
                <a:lnTo>
                  <a:pt x="97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4" y="0"/>
                </a:lnTo>
                <a:lnTo>
                  <a:pt x="97154" y="1459230"/>
                </a:lnTo>
                <a:lnTo>
                  <a:pt x="129539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854196" y="2359151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906014" y="2172671"/>
            <a:ext cx="1067435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5400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  <p:sp>
        <p:nvSpPr>
          <p:cNvPr id="24" name="object 24"/>
          <p:cNvSpPr txBox="1"/>
          <p:nvPr/>
        </p:nvSpPr>
        <p:spPr>
          <a:xfrm>
            <a:off x="4384928" y="2166079"/>
            <a:ext cx="1261745" cy="8305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105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(7)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7280" y="3741420"/>
            <a:ext cx="2726436" cy="12710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58996" y="3752088"/>
            <a:ext cx="3575304" cy="12710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13130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4528" y="4288535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06851" y="4288535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06768" y="4288535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920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04644" y="4294632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336797" y="639318"/>
            <a:ext cx="5655945" cy="1496060"/>
          </a:xfrm>
          <a:custGeom>
            <a:avLst/>
            <a:gdLst/>
            <a:ahLst/>
            <a:cxnLst/>
            <a:rect l="l" t="t" r="r" b="b"/>
            <a:pathLst>
              <a:path w="5655945" h="1496060">
                <a:moveTo>
                  <a:pt x="4712970" y="1495044"/>
                </a:moveTo>
                <a:lnTo>
                  <a:pt x="3299079" y="1495044"/>
                </a:lnTo>
                <a:lnTo>
                  <a:pt x="3956811" y="1495552"/>
                </a:lnTo>
                <a:lnTo>
                  <a:pt x="4712970" y="1495044"/>
                </a:lnTo>
                <a:close/>
              </a:path>
              <a:path w="5655945" h="1496060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36797" y="639318"/>
            <a:ext cx="5655945" cy="1496060"/>
          </a:xfrm>
          <a:custGeom>
            <a:avLst/>
            <a:gdLst/>
            <a:ahLst/>
            <a:cxnLst/>
            <a:rect l="l" t="t" r="r" b="b"/>
            <a:pathLst>
              <a:path w="5655945" h="1496060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3299079" y="0"/>
                </a:lnTo>
                <a:lnTo>
                  <a:pt x="4712970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4712970" y="1495044"/>
                </a:lnTo>
                <a:lnTo>
                  <a:pt x="3956811" y="1495552"/>
                </a:lnTo>
                <a:lnTo>
                  <a:pt x="3299079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797934" y="1084326"/>
            <a:ext cx="4726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31314" marR="5080" indent="-161925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pivots get </a:t>
            </a:r>
            <a:r>
              <a:rPr sz="1800" spc="-15" dirty="0">
                <a:latin typeface="Calibri"/>
                <a:cs typeface="Calibri"/>
              </a:rPr>
              <a:t>picked </a:t>
            </a:r>
            <a:r>
              <a:rPr sz="1800" spc="-10" dirty="0">
                <a:latin typeface="Calibri"/>
                <a:cs typeface="Calibri"/>
              </a:rPr>
              <a:t>accordingly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our </a:t>
            </a:r>
            <a:r>
              <a:rPr sz="1800" spc="-10" dirty="0">
                <a:latin typeface="Calibri"/>
                <a:cs typeface="Calibri"/>
              </a:rPr>
              <a:t>partition  dividers are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set.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754629" y="226695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4"/>
                </a:moveTo>
                <a:lnTo>
                  <a:pt x="10207" y="79295"/>
                </a:lnTo>
                <a:lnTo>
                  <a:pt x="38036" y="38036"/>
                </a:lnTo>
                <a:lnTo>
                  <a:pt x="79295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799" y="129794"/>
                </a:lnTo>
                <a:lnTo>
                  <a:pt x="2971799" y="648970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95" y="768556"/>
                </a:lnTo>
                <a:lnTo>
                  <a:pt x="38036" y="740727"/>
                </a:lnTo>
                <a:lnTo>
                  <a:pt x="10207" y="699468"/>
                </a:lnTo>
                <a:lnTo>
                  <a:pt x="0" y="648970"/>
                </a:lnTo>
                <a:lnTo>
                  <a:pt x="0" y="1297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39" y="1459230"/>
                </a:lnTo>
                <a:close/>
              </a:path>
              <a:path w="129539" h="1524000">
                <a:moveTo>
                  <a:pt x="97154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4" y="1459230"/>
                </a:lnTo>
                <a:lnTo>
                  <a:pt x="97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4" y="0"/>
                </a:lnTo>
                <a:lnTo>
                  <a:pt x="97154" y="1459230"/>
                </a:lnTo>
                <a:lnTo>
                  <a:pt x="129539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854196" y="2359151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906014" y="2172671"/>
            <a:ext cx="1193800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R="92710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(13)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39259" y="2166079"/>
            <a:ext cx="1388110" cy="8305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9845" algn="ctr">
              <a:lnSpc>
                <a:spcPct val="100000"/>
              </a:lnSpc>
              <a:spcBef>
                <a:spcPts val="1105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10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(13)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0" y="2237994"/>
            <a:ext cx="2726055" cy="779145"/>
          </a:xfrm>
          <a:custGeom>
            <a:avLst/>
            <a:gdLst/>
            <a:ahLst/>
            <a:cxnLst/>
            <a:rect l="l" t="t" r="r" b="b"/>
            <a:pathLst>
              <a:path w="2726055" h="779144">
                <a:moveTo>
                  <a:pt x="0" y="0"/>
                </a:moveTo>
                <a:lnTo>
                  <a:pt x="2595880" y="0"/>
                </a:lnTo>
                <a:lnTo>
                  <a:pt x="2646378" y="10207"/>
                </a:lnTo>
                <a:lnTo>
                  <a:pt x="2687637" y="38036"/>
                </a:lnTo>
                <a:lnTo>
                  <a:pt x="2715466" y="79295"/>
                </a:lnTo>
                <a:lnTo>
                  <a:pt x="2725674" y="129793"/>
                </a:lnTo>
                <a:lnTo>
                  <a:pt x="2725674" y="648969"/>
                </a:lnTo>
                <a:lnTo>
                  <a:pt x="2715466" y="699468"/>
                </a:lnTo>
                <a:lnTo>
                  <a:pt x="2687637" y="740727"/>
                </a:lnTo>
                <a:lnTo>
                  <a:pt x="2646378" y="768556"/>
                </a:lnTo>
                <a:lnTo>
                  <a:pt x="2595880" y="778763"/>
                </a:lnTo>
                <a:lnTo>
                  <a:pt x="0" y="778763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094994" y="2254757"/>
            <a:ext cx="131445" cy="1524000"/>
          </a:xfrm>
          <a:custGeom>
            <a:avLst/>
            <a:gdLst/>
            <a:ahLst/>
            <a:cxnLst/>
            <a:rect l="l" t="t" r="r" b="b"/>
            <a:pathLst>
              <a:path w="131444" h="1524000">
                <a:moveTo>
                  <a:pt x="131064" y="1458467"/>
                </a:moveTo>
                <a:lnTo>
                  <a:pt x="0" y="1458467"/>
                </a:lnTo>
                <a:lnTo>
                  <a:pt x="65531" y="1523999"/>
                </a:lnTo>
                <a:lnTo>
                  <a:pt x="131064" y="1458467"/>
                </a:lnTo>
                <a:close/>
              </a:path>
              <a:path w="131444" h="1524000">
                <a:moveTo>
                  <a:pt x="98297" y="0"/>
                </a:moveTo>
                <a:lnTo>
                  <a:pt x="32765" y="0"/>
                </a:lnTo>
                <a:lnTo>
                  <a:pt x="32765" y="1458467"/>
                </a:lnTo>
                <a:lnTo>
                  <a:pt x="98297" y="1458467"/>
                </a:lnTo>
                <a:lnTo>
                  <a:pt x="982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094994" y="2254757"/>
            <a:ext cx="131445" cy="1524000"/>
          </a:xfrm>
          <a:custGeom>
            <a:avLst/>
            <a:gdLst/>
            <a:ahLst/>
            <a:cxnLst/>
            <a:rect l="l" t="t" r="r" b="b"/>
            <a:pathLst>
              <a:path w="131444" h="1524000">
                <a:moveTo>
                  <a:pt x="0" y="1458467"/>
                </a:moveTo>
                <a:lnTo>
                  <a:pt x="32765" y="1458467"/>
                </a:lnTo>
                <a:lnTo>
                  <a:pt x="32765" y="0"/>
                </a:lnTo>
                <a:lnTo>
                  <a:pt x="98297" y="0"/>
                </a:lnTo>
                <a:lnTo>
                  <a:pt x="98297" y="1458467"/>
                </a:lnTo>
                <a:lnTo>
                  <a:pt x="131064" y="1458467"/>
                </a:lnTo>
                <a:lnTo>
                  <a:pt x="65531" y="1523999"/>
                </a:lnTo>
                <a:lnTo>
                  <a:pt x="0" y="1458467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54963" y="2330195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2197" y="2142954"/>
            <a:ext cx="939165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R="92075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(6)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38808" y="2136488"/>
            <a:ext cx="1261745" cy="8305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442595">
              <a:lnSpc>
                <a:spcPct val="100000"/>
              </a:lnSpc>
              <a:spcBef>
                <a:spcPts val="1105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(6)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035807" y="3113532"/>
            <a:ext cx="672083" cy="6797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7280" y="3741420"/>
            <a:ext cx="2726436" cy="12710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58996" y="3752088"/>
            <a:ext cx="3575304" cy="12710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13130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4528" y="4288535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7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06851" y="4288535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06768" y="4288535"/>
            <a:ext cx="762000" cy="58547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70"/>
              </a:spcBef>
            </a:pPr>
            <a:r>
              <a:rPr sz="3200" b="1" spc="-5" dirty="0"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9200" y="4290059"/>
            <a:ext cx="762000" cy="58420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095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65"/>
              </a:spcBef>
            </a:pPr>
            <a:r>
              <a:rPr sz="3200" b="1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04644" y="4294632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15228" y="4305300"/>
            <a:ext cx="762000" cy="585470"/>
          </a:xfrm>
          <a:prstGeom prst="rect">
            <a:avLst/>
          </a:prstGeom>
          <a:solidFill>
            <a:srgbClr val="88E1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Calibri"/>
                <a:cs typeface="Calibri"/>
              </a:rPr>
              <a:t>9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7387" y="848867"/>
            <a:ext cx="210947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937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&lt; P &lt;/=</a:t>
            </a:r>
            <a:r>
              <a:rPr sz="2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0991" y="5341061"/>
            <a:ext cx="748792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If the </a:t>
            </a:r>
            <a:r>
              <a:rPr sz="1800" spc="-5" dirty="0">
                <a:latin typeface="Arial"/>
                <a:cs typeface="Arial"/>
              </a:rPr>
              <a:t>Number (#)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Greater Than/ Equal </a:t>
            </a:r>
            <a:r>
              <a:rPr sz="1800" dirty="0">
                <a:latin typeface="Arial"/>
                <a:cs typeface="Arial"/>
              </a:rPr>
              <a:t>to (&gt;/=)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88888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Else, </a:t>
            </a:r>
            <a:r>
              <a:rPr sz="1800" dirty="0">
                <a:latin typeface="Arial"/>
                <a:cs typeface="Arial"/>
              </a:rPr>
              <a:t>if its </a:t>
            </a:r>
            <a:r>
              <a:rPr sz="1800" spc="-5" dirty="0">
                <a:latin typeface="Arial"/>
                <a:cs typeface="Arial"/>
              </a:rPr>
              <a:t>Less Than </a:t>
            </a:r>
            <a:r>
              <a:rPr sz="1800" dirty="0">
                <a:latin typeface="Arial"/>
                <a:cs typeface="Arial"/>
              </a:rPr>
              <a:t>(&lt;) the </a:t>
            </a:r>
            <a:r>
              <a:rPr sz="1800" spc="-5" dirty="0">
                <a:latin typeface="Arial"/>
                <a:cs typeface="Arial"/>
              </a:rPr>
              <a:t>Pivot, </a:t>
            </a:r>
            <a:r>
              <a:rPr sz="1800" spc="-15" dirty="0">
                <a:latin typeface="Arial"/>
                <a:cs typeface="Arial"/>
              </a:rPr>
              <a:t>Swap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baseline="25462" dirty="0">
                <a:latin typeface="Arial"/>
                <a:cs typeface="Arial"/>
              </a:rPr>
              <a:t>st </a:t>
            </a:r>
            <a:r>
              <a:rPr sz="1800" spc="-5" dirty="0">
                <a:latin typeface="Arial"/>
                <a:cs typeface="Arial"/>
              </a:rPr>
              <a:t>Element </a:t>
            </a:r>
            <a:r>
              <a:rPr sz="1800" dirty="0">
                <a:latin typeface="Arial"/>
                <a:cs typeface="Arial"/>
              </a:rPr>
              <a:t>&gt;/= </a:t>
            </a:r>
            <a:r>
              <a:rPr sz="1800" spc="-5" dirty="0">
                <a:latin typeface="Arial"/>
                <a:cs typeface="Arial"/>
              </a:rPr>
              <a:t>than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1574" y="1347342"/>
            <a:ext cx="2618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Calibri"/>
                <a:cs typeface="Calibri"/>
              </a:rPr>
              <a:t>(put the </a:t>
            </a:r>
            <a:r>
              <a:rPr sz="1200" i="1" dirty="0">
                <a:latin typeface="Calibri"/>
                <a:cs typeface="Calibri"/>
              </a:rPr>
              <a:t>= </a:t>
            </a:r>
            <a:r>
              <a:rPr sz="1200" i="1" spc="-5" dirty="0">
                <a:latin typeface="Calibri"/>
                <a:cs typeface="Calibri"/>
              </a:rPr>
              <a:t>sign on same side as your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pivot)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906768" y="3113532"/>
            <a:ext cx="672083" cy="6797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0" spc="-800" dirty="0">
                <a:latin typeface="Times New Roman"/>
                <a:cs typeface="Times New Roman"/>
              </a:rPr>
              <a:t> </a:t>
            </a:r>
            <a:r>
              <a:rPr spc="-25" dirty="0"/>
              <a:t>Hoare’s </a:t>
            </a:r>
            <a:r>
              <a:rPr dirty="0"/>
              <a:t>Quicksort</a:t>
            </a:r>
            <a:r>
              <a:rPr spc="-65" dirty="0"/>
              <a:t> </a:t>
            </a:r>
            <a:r>
              <a:rPr spc="-5" dirty="0"/>
              <a:t>Example: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54939" y="944702"/>
            <a:ext cx="97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5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336797" y="639318"/>
            <a:ext cx="5655945" cy="1496060"/>
          </a:xfrm>
          <a:custGeom>
            <a:avLst/>
            <a:gdLst/>
            <a:ahLst/>
            <a:cxnLst/>
            <a:rect l="l" t="t" r="r" b="b"/>
            <a:pathLst>
              <a:path w="5655945" h="1496060">
                <a:moveTo>
                  <a:pt x="4712970" y="1495044"/>
                </a:moveTo>
                <a:lnTo>
                  <a:pt x="3299079" y="1495044"/>
                </a:lnTo>
                <a:lnTo>
                  <a:pt x="3956811" y="1495552"/>
                </a:lnTo>
                <a:lnTo>
                  <a:pt x="4712970" y="1495044"/>
                </a:lnTo>
                <a:close/>
              </a:path>
              <a:path w="5655945" h="1496060">
                <a:moveTo>
                  <a:pt x="5406390" y="0"/>
                </a:moveTo>
                <a:lnTo>
                  <a:pt x="249174" y="0"/>
                </a:lnTo>
                <a:lnTo>
                  <a:pt x="204370" y="4012"/>
                </a:lnTo>
                <a:lnTo>
                  <a:pt x="162207" y="15582"/>
                </a:lnTo>
                <a:lnTo>
                  <a:pt x="123387" y="34007"/>
                </a:lnTo>
                <a:lnTo>
                  <a:pt x="88612" y="58585"/>
                </a:lnTo>
                <a:lnTo>
                  <a:pt x="58585" y="88612"/>
                </a:lnTo>
                <a:lnTo>
                  <a:pt x="34007" y="123387"/>
                </a:lnTo>
                <a:lnTo>
                  <a:pt x="15582" y="162207"/>
                </a:lnTo>
                <a:lnTo>
                  <a:pt x="4012" y="204370"/>
                </a:lnTo>
                <a:lnTo>
                  <a:pt x="0" y="249174"/>
                </a:lnTo>
                <a:lnTo>
                  <a:pt x="0" y="1245870"/>
                </a:lnTo>
                <a:lnTo>
                  <a:pt x="4012" y="1290673"/>
                </a:lnTo>
                <a:lnTo>
                  <a:pt x="15582" y="1332836"/>
                </a:lnTo>
                <a:lnTo>
                  <a:pt x="34007" y="1371656"/>
                </a:lnTo>
                <a:lnTo>
                  <a:pt x="58585" y="1406431"/>
                </a:lnTo>
                <a:lnTo>
                  <a:pt x="88612" y="1436458"/>
                </a:lnTo>
                <a:lnTo>
                  <a:pt x="123387" y="1461036"/>
                </a:lnTo>
                <a:lnTo>
                  <a:pt x="162207" y="1479461"/>
                </a:lnTo>
                <a:lnTo>
                  <a:pt x="204370" y="1491031"/>
                </a:lnTo>
                <a:lnTo>
                  <a:pt x="249174" y="1495044"/>
                </a:lnTo>
                <a:lnTo>
                  <a:pt x="5406390" y="1495044"/>
                </a:lnTo>
                <a:lnTo>
                  <a:pt x="5451193" y="1491031"/>
                </a:lnTo>
                <a:lnTo>
                  <a:pt x="5493356" y="1479461"/>
                </a:lnTo>
                <a:lnTo>
                  <a:pt x="5532176" y="1461036"/>
                </a:lnTo>
                <a:lnTo>
                  <a:pt x="5566951" y="1436458"/>
                </a:lnTo>
                <a:lnTo>
                  <a:pt x="5596978" y="1406431"/>
                </a:lnTo>
                <a:lnTo>
                  <a:pt x="5621556" y="1371656"/>
                </a:lnTo>
                <a:lnTo>
                  <a:pt x="5639981" y="1332836"/>
                </a:lnTo>
                <a:lnTo>
                  <a:pt x="5651551" y="1290673"/>
                </a:lnTo>
                <a:lnTo>
                  <a:pt x="5655563" y="1245870"/>
                </a:lnTo>
                <a:lnTo>
                  <a:pt x="5655563" y="249174"/>
                </a:lnTo>
                <a:lnTo>
                  <a:pt x="5651551" y="204370"/>
                </a:lnTo>
                <a:lnTo>
                  <a:pt x="5639981" y="162207"/>
                </a:lnTo>
                <a:lnTo>
                  <a:pt x="5621556" y="123387"/>
                </a:lnTo>
                <a:lnTo>
                  <a:pt x="5596978" y="88612"/>
                </a:lnTo>
                <a:lnTo>
                  <a:pt x="5566951" y="58585"/>
                </a:lnTo>
                <a:lnTo>
                  <a:pt x="5532176" y="34007"/>
                </a:lnTo>
                <a:lnTo>
                  <a:pt x="5493356" y="15582"/>
                </a:lnTo>
                <a:lnTo>
                  <a:pt x="5451193" y="4012"/>
                </a:lnTo>
                <a:lnTo>
                  <a:pt x="54063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36797" y="639318"/>
            <a:ext cx="5655945" cy="1496060"/>
          </a:xfrm>
          <a:custGeom>
            <a:avLst/>
            <a:gdLst/>
            <a:ahLst/>
            <a:cxnLst/>
            <a:rect l="l" t="t" r="r" b="b"/>
            <a:pathLst>
              <a:path w="5655945" h="1496060">
                <a:moveTo>
                  <a:pt x="0" y="249174"/>
                </a:moveTo>
                <a:lnTo>
                  <a:pt x="4012" y="204370"/>
                </a:lnTo>
                <a:lnTo>
                  <a:pt x="15582" y="162207"/>
                </a:lnTo>
                <a:lnTo>
                  <a:pt x="34007" y="123387"/>
                </a:lnTo>
                <a:lnTo>
                  <a:pt x="58585" y="88612"/>
                </a:lnTo>
                <a:lnTo>
                  <a:pt x="88612" y="58585"/>
                </a:lnTo>
                <a:lnTo>
                  <a:pt x="123387" y="34007"/>
                </a:lnTo>
                <a:lnTo>
                  <a:pt x="162207" y="15582"/>
                </a:lnTo>
                <a:lnTo>
                  <a:pt x="204370" y="4012"/>
                </a:lnTo>
                <a:lnTo>
                  <a:pt x="249174" y="0"/>
                </a:lnTo>
                <a:lnTo>
                  <a:pt x="3299079" y="0"/>
                </a:lnTo>
                <a:lnTo>
                  <a:pt x="4712970" y="0"/>
                </a:lnTo>
                <a:lnTo>
                  <a:pt x="5406390" y="0"/>
                </a:lnTo>
                <a:lnTo>
                  <a:pt x="5451193" y="4012"/>
                </a:lnTo>
                <a:lnTo>
                  <a:pt x="5493356" y="15582"/>
                </a:lnTo>
                <a:lnTo>
                  <a:pt x="5532176" y="34007"/>
                </a:lnTo>
                <a:lnTo>
                  <a:pt x="5566951" y="58585"/>
                </a:lnTo>
                <a:lnTo>
                  <a:pt x="5596978" y="88612"/>
                </a:lnTo>
                <a:lnTo>
                  <a:pt x="5621556" y="123387"/>
                </a:lnTo>
                <a:lnTo>
                  <a:pt x="5639981" y="162207"/>
                </a:lnTo>
                <a:lnTo>
                  <a:pt x="5651551" y="204370"/>
                </a:lnTo>
                <a:lnTo>
                  <a:pt x="5655563" y="249174"/>
                </a:lnTo>
                <a:lnTo>
                  <a:pt x="5655563" y="872109"/>
                </a:lnTo>
                <a:lnTo>
                  <a:pt x="5655563" y="1245870"/>
                </a:lnTo>
                <a:lnTo>
                  <a:pt x="5651551" y="1290673"/>
                </a:lnTo>
                <a:lnTo>
                  <a:pt x="5639981" y="1332836"/>
                </a:lnTo>
                <a:lnTo>
                  <a:pt x="5621556" y="1371656"/>
                </a:lnTo>
                <a:lnTo>
                  <a:pt x="5596978" y="1406431"/>
                </a:lnTo>
                <a:lnTo>
                  <a:pt x="5566951" y="1436458"/>
                </a:lnTo>
                <a:lnTo>
                  <a:pt x="5532176" y="1461036"/>
                </a:lnTo>
                <a:lnTo>
                  <a:pt x="5493356" y="1479461"/>
                </a:lnTo>
                <a:lnTo>
                  <a:pt x="5451193" y="1491031"/>
                </a:lnTo>
                <a:lnTo>
                  <a:pt x="5406390" y="1495044"/>
                </a:lnTo>
                <a:lnTo>
                  <a:pt x="4712970" y="1495044"/>
                </a:lnTo>
                <a:lnTo>
                  <a:pt x="3956811" y="1495552"/>
                </a:lnTo>
                <a:lnTo>
                  <a:pt x="3299079" y="1495044"/>
                </a:lnTo>
                <a:lnTo>
                  <a:pt x="249174" y="1495044"/>
                </a:lnTo>
                <a:lnTo>
                  <a:pt x="204370" y="1491031"/>
                </a:lnTo>
                <a:lnTo>
                  <a:pt x="162207" y="1479461"/>
                </a:lnTo>
                <a:lnTo>
                  <a:pt x="123387" y="1461036"/>
                </a:lnTo>
                <a:lnTo>
                  <a:pt x="88612" y="1436458"/>
                </a:lnTo>
                <a:lnTo>
                  <a:pt x="58585" y="1406431"/>
                </a:lnTo>
                <a:lnTo>
                  <a:pt x="34007" y="1371656"/>
                </a:lnTo>
                <a:lnTo>
                  <a:pt x="15582" y="1332836"/>
                </a:lnTo>
                <a:lnTo>
                  <a:pt x="4012" y="1290673"/>
                </a:lnTo>
                <a:lnTo>
                  <a:pt x="0" y="1245870"/>
                </a:lnTo>
                <a:lnTo>
                  <a:pt x="0" y="872109"/>
                </a:lnTo>
                <a:lnTo>
                  <a:pt x="0" y="249174"/>
                </a:lnTo>
                <a:close/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526663" y="672160"/>
            <a:ext cx="5271135" cy="139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However you’ll notice </a:t>
            </a:r>
            <a:r>
              <a:rPr sz="1800" spc="-5" dirty="0">
                <a:latin typeface="Calibri"/>
                <a:cs typeface="Calibri"/>
              </a:rPr>
              <a:t>that both our remaining  segements </a:t>
            </a:r>
            <a:r>
              <a:rPr sz="1800" spc="-10" dirty="0">
                <a:latin typeface="Calibri"/>
                <a:cs typeface="Calibri"/>
              </a:rPr>
              <a:t>just </a:t>
            </a:r>
            <a:r>
              <a:rPr sz="1800" spc="-5" dirty="0">
                <a:latin typeface="Calibri"/>
                <a:cs typeface="Calibri"/>
              </a:rPr>
              <a:t>happened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5" dirty="0">
                <a:latin typeface="Calibri"/>
                <a:cs typeface="Calibri"/>
              </a:rPr>
              <a:t>already be </a:t>
            </a:r>
            <a:r>
              <a:rPr sz="1800" spc="-10" dirty="0">
                <a:latin typeface="Calibri"/>
                <a:cs typeface="Calibri"/>
              </a:rPr>
              <a:t>sorted. </a:t>
            </a:r>
            <a:r>
              <a:rPr sz="1800" spc="-5" dirty="0">
                <a:latin typeface="Calibri"/>
                <a:cs typeface="Calibri"/>
              </a:rPr>
              <a:t>So  </a:t>
            </a:r>
            <a:r>
              <a:rPr sz="1800" dirty="0">
                <a:latin typeface="Calibri"/>
                <a:cs typeface="Calibri"/>
              </a:rPr>
              <a:t>though the </a:t>
            </a:r>
            <a:r>
              <a:rPr sz="1800" spc="-10" dirty="0">
                <a:latin typeface="Calibri"/>
                <a:cs typeface="Calibri"/>
              </a:rPr>
              <a:t>code </a:t>
            </a:r>
            <a:r>
              <a:rPr sz="1800" spc="-5" dirty="0">
                <a:latin typeface="Calibri"/>
                <a:cs typeface="Calibri"/>
              </a:rPr>
              <a:t>will </a:t>
            </a:r>
            <a:r>
              <a:rPr sz="1800" spc="-10" dirty="0">
                <a:latin typeface="Calibri"/>
                <a:cs typeface="Calibri"/>
              </a:rPr>
              <a:t>work </a:t>
            </a:r>
            <a:r>
              <a:rPr sz="1800" dirty="0">
                <a:latin typeface="Calibri"/>
                <a:cs typeface="Calibri"/>
              </a:rPr>
              <a:t>all the </a:t>
            </a:r>
            <a:r>
              <a:rPr sz="1800" spc="-25" dirty="0">
                <a:latin typeface="Calibri"/>
                <a:cs typeface="Calibri"/>
              </a:rPr>
              <a:t>way </a:t>
            </a:r>
            <a:r>
              <a:rPr sz="1800" spc="-10" dirty="0">
                <a:latin typeface="Calibri"/>
                <a:cs typeface="Calibri"/>
              </a:rPr>
              <a:t>through </a:t>
            </a:r>
            <a:r>
              <a:rPr sz="1800" spc="-5" dirty="0">
                <a:latin typeface="Calibri"/>
                <a:cs typeface="Calibri"/>
              </a:rPr>
              <a:t>and down  until </a:t>
            </a:r>
            <a:r>
              <a:rPr sz="1800" spc="-10" dirty="0">
                <a:latin typeface="Calibri"/>
                <a:cs typeface="Calibri"/>
              </a:rPr>
              <a:t>there </a:t>
            </a:r>
            <a:r>
              <a:rPr sz="1800" spc="-5" dirty="0">
                <a:latin typeface="Calibri"/>
                <a:cs typeface="Calibri"/>
              </a:rPr>
              <a:t>is only one element left, no </a:t>
            </a:r>
            <a:r>
              <a:rPr sz="1800" spc="-10" dirty="0">
                <a:latin typeface="Calibri"/>
                <a:cs typeface="Calibri"/>
              </a:rPr>
              <a:t>numbers </a:t>
            </a:r>
            <a:r>
              <a:rPr sz="1800" spc="-5" dirty="0">
                <a:latin typeface="Calibri"/>
                <a:cs typeface="Calibri"/>
              </a:rPr>
              <a:t>will  change </a:t>
            </a:r>
            <a:r>
              <a:rPr sz="1800" spc="-10" dirty="0">
                <a:latin typeface="Calibri"/>
                <a:cs typeface="Calibri"/>
              </a:rPr>
              <a:t>order from here </a:t>
            </a:r>
            <a:r>
              <a:rPr sz="1800" spc="-5" dirty="0">
                <a:latin typeface="Calibri"/>
                <a:cs typeface="Calibri"/>
              </a:rPr>
              <a:t>on so </a:t>
            </a:r>
            <a:r>
              <a:rPr sz="1800" dirty="0">
                <a:latin typeface="Calibri"/>
                <a:cs typeface="Calibri"/>
              </a:rPr>
              <a:t>this ends </a:t>
            </a:r>
            <a:r>
              <a:rPr sz="1800" spc="-5" dirty="0">
                <a:latin typeface="Calibri"/>
                <a:cs typeface="Calibri"/>
              </a:rPr>
              <a:t>this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example.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754629" y="2266950"/>
            <a:ext cx="2971800" cy="779145"/>
          </a:xfrm>
          <a:custGeom>
            <a:avLst/>
            <a:gdLst/>
            <a:ahLst/>
            <a:cxnLst/>
            <a:rect l="l" t="t" r="r" b="b"/>
            <a:pathLst>
              <a:path w="2971800" h="779144">
                <a:moveTo>
                  <a:pt x="0" y="129794"/>
                </a:moveTo>
                <a:lnTo>
                  <a:pt x="10207" y="79295"/>
                </a:lnTo>
                <a:lnTo>
                  <a:pt x="38036" y="38036"/>
                </a:lnTo>
                <a:lnTo>
                  <a:pt x="79295" y="10207"/>
                </a:lnTo>
                <a:lnTo>
                  <a:pt x="129793" y="0"/>
                </a:lnTo>
                <a:lnTo>
                  <a:pt x="2842006" y="0"/>
                </a:lnTo>
                <a:lnTo>
                  <a:pt x="2892504" y="10207"/>
                </a:lnTo>
                <a:lnTo>
                  <a:pt x="2933763" y="38036"/>
                </a:lnTo>
                <a:lnTo>
                  <a:pt x="2961592" y="79295"/>
                </a:lnTo>
                <a:lnTo>
                  <a:pt x="2971799" y="129794"/>
                </a:lnTo>
                <a:lnTo>
                  <a:pt x="2971799" y="648970"/>
                </a:lnTo>
                <a:lnTo>
                  <a:pt x="2961592" y="699468"/>
                </a:lnTo>
                <a:lnTo>
                  <a:pt x="2933763" y="740727"/>
                </a:lnTo>
                <a:lnTo>
                  <a:pt x="2892504" y="768556"/>
                </a:lnTo>
                <a:lnTo>
                  <a:pt x="2842006" y="778763"/>
                </a:lnTo>
                <a:lnTo>
                  <a:pt x="129793" y="778763"/>
                </a:lnTo>
                <a:lnTo>
                  <a:pt x="79295" y="768556"/>
                </a:lnTo>
                <a:lnTo>
                  <a:pt x="38036" y="740727"/>
                </a:lnTo>
                <a:lnTo>
                  <a:pt x="10207" y="699468"/>
                </a:lnTo>
                <a:lnTo>
                  <a:pt x="0" y="648970"/>
                </a:lnTo>
                <a:lnTo>
                  <a:pt x="0" y="12979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129539" y="1459230"/>
                </a:moveTo>
                <a:lnTo>
                  <a:pt x="0" y="1459230"/>
                </a:lnTo>
                <a:lnTo>
                  <a:pt x="64770" y="1524000"/>
                </a:lnTo>
                <a:lnTo>
                  <a:pt x="129539" y="1459230"/>
                </a:lnTo>
                <a:close/>
              </a:path>
              <a:path w="129539" h="1524000">
                <a:moveTo>
                  <a:pt x="97154" y="0"/>
                </a:moveTo>
                <a:lnTo>
                  <a:pt x="32385" y="0"/>
                </a:lnTo>
                <a:lnTo>
                  <a:pt x="32385" y="1459230"/>
                </a:lnTo>
                <a:lnTo>
                  <a:pt x="97154" y="1459230"/>
                </a:lnTo>
                <a:lnTo>
                  <a:pt x="97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095750" y="2283714"/>
            <a:ext cx="129539" cy="1524000"/>
          </a:xfrm>
          <a:custGeom>
            <a:avLst/>
            <a:gdLst/>
            <a:ahLst/>
            <a:cxnLst/>
            <a:rect l="l" t="t" r="r" b="b"/>
            <a:pathLst>
              <a:path w="129539" h="1524000">
                <a:moveTo>
                  <a:pt x="0" y="1459230"/>
                </a:moveTo>
                <a:lnTo>
                  <a:pt x="32385" y="1459230"/>
                </a:lnTo>
                <a:lnTo>
                  <a:pt x="32385" y="0"/>
                </a:lnTo>
                <a:lnTo>
                  <a:pt x="97154" y="0"/>
                </a:lnTo>
                <a:lnTo>
                  <a:pt x="97154" y="1459230"/>
                </a:lnTo>
                <a:lnTo>
                  <a:pt x="129539" y="1459230"/>
                </a:lnTo>
                <a:lnTo>
                  <a:pt x="64770" y="1524000"/>
                </a:lnTo>
                <a:lnTo>
                  <a:pt x="0" y="145923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854196" y="2359151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906014" y="2172671"/>
            <a:ext cx="1193800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R="92710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(13)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39259" y="2166079"/>
            <a:ext cx="1388110" cy="8305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9845" algn="ctr">
              <a:lnSpc>
                <a:spcPct val="100000"/>
              </a:lnSpc>
              <a:spcBef>
                <a:spcPts val="1105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10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(13)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0" y="2237994"/>
            <a:ext cx="2726055" cy="779145"/>
          </a:xfrm>
          <a:custGeom>
            <a:avLst/>
            <a:gdLst/>
            <a:ahLst/>
            <a:cxnLst/>
            <a:rect l="l" t="t" r="r" b="b"/>
            <a:pathLst>
              <a:path w="2726055" h="779144">
                <a:moveTo>
                  <a:pt x="0" y="0"/>
                </a:moveTo>
                <a:lnTo>
                  <a:pt x="2595880" y="0"/>
                </a:lnTo>
                <a:lnTo>
                  <a:pt x="2646378" y="10207"/>
                </a:lnTo>
                <a:lnTo>
                  <a:pt x="2687637" y="38036"/>
                </a:lnTo>
                <a:lnTo>
                  <a:pt x="2715466" y="79295"/>
                </a:lnTo>
                <a:lnTo>
                  <a:pt x="2725674" y="129793"/>
                </a:lnTo>
                <a:lnTo>
                  <a:pt x="2725674" y="648969"/>
                </a:lnTo>
                <a:lnTo>
                  <a:pt x="2715466" y="699468"/>
                </a:lnTo>
                <a:lnTo>
                  <a:pt x="2687637" y="740727"/>
                </a:lnTo>
                <a:lnTo>
                  <a:pt x="2646378" y="768556"/>
                </a:lnTo>
                <a:lnTo>
                  <a:pt x="2595880" y="778763"/>
                </a:lnTo>
                <a:lnTo>
                  <a:pt x="0" y="778763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094994" y="2254757"/>
            <a:ext cx="131445" cy="1524000"/>
          </a:xfrm>
          <a:custGeom>
            <a:avLst/>
            <a:gdLst/>
            <a:ahLst/>
            <a:cxnLst/>
            <a:rect l="l" t="t" r="r" b="b"/>
            <a:pathLst>
              <a:path w="131444" h="1524000">
                <a:moveTo>
                  <a:pt x="131064" y="1458467"/>
                </a:moveTo>
                <a:lnTo>
                  <a:pt x="0" y="1458467"/>
                </a:lnTo>
                <a:lnTo>
                  <a:pt x="65531" y="1523999"/>
                </a:lnTo>
                <a:lnTo>
                  <a:pt x="131064" y="1458467"/>
                </a:lnTo>
                <a:close/>
              </a:path>
              <a:path w="131444" h="1524000">
                <a:moveTo>
                  <a:pt x="98297" y="0"/>
                </a:moveTo>
                <a:lnTo>
                  <a:pt x="32765" y="0"/>
                </a:lnTo>
                <a:lnTo>
                  <a:pt x="32765" y="1458467"/>
                </a:lnTo>
                <a:lnTo>
                  <a:pt x="98297" y="1458467"/>
                </a:lnTo>
                <a:lnTo>
                  <a:pt x="982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094994" y="2254757"/>
            <a:ext cx="131445" cy="1524000"/>
          </a:xfrm>
          <a:custGeom>
            <a:avLst/>
            <a:gdLst/>
            <a:ahLst/>
            <a:cxnLst/>
            <a:rect l="l" t="t" r="r" b="b"/>
            <a:pathLst>
              <a:path w="131444" h="1524000">
                <a:moveTo>
                  <a:pt x="0" y="1458467"/>
                </a:moveTo>
                <a:lnTo>
                  <a:pt x="32765" y="1458467"/>
                </a:lnTo>
                <a:lnTo>
                  <a:pt x="32765" y="0"/>
                </a:lnTo>
                <a:lnTo>
                  <a:pt x="98297" y="0"/>
                </a:lnTo>
                <a:lnTo>
                  <a:pt x="98297" y="1458467"/>
                </a:lnTo>
                <a:lnTo>
                  <a:pt x="131064" y="1458467"/>
                </a:lnTo>
                <a:lnTo>
                  <a:pt x="65531" y="1523999"/>
                </a:lnTo>
                <a:lnTo>
                  <a:pt x="0" y="1458467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54963" y="2330195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552450" y="171450"/>
                </a:lnTo>
                <a:lnTo>
                  <a:pt x="609600" y="114300"/>
                </a:lnTo>
                <a:lnTo>
                  <a:pt x="552450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  <a:path w="609600" h="228600">
                <a:moveTo>
                  <a:pt x="552450" y="171450"/>
                </a:moveTo>
                <a:lnTo>
                  <a:pt x="495300" y="171450"/>
                </a:lnTo>
                <a:lnTo>
                  <a:pt x="495300" y="228600"/>
                </a:lnTo>
                <a:lnTo>
                  <a:pt x="552450" y="171450"/>
                </a:lnTo>
                <a:close/>
              </a:path>
              <a:path w="609600" h="228600">
                <a:moveTo>
                  <a:pt x="495300" y="0"/>
                </a:moveTo>
                <a:lnTo>
                  <a:pt x="495300" y="57150"/>
                </a:lnTo>
                <a:lnTo>
                  <a:pt x="552450" y="5715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2197" y="2142954"/>
            <a:ext cx="939165" cy="81406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R="92075" algn="ctr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800" spc="-20" dirty="0">
                <a:latin typeface="Arial"/>
                <a:cs typeface="Arial"/>
              </a:rPr>
              <a:t>’s </a:t>
            </a:r>
            <a:r>
              <a:rPr sz="1800" dirty="0">
                <a:latin typeface="Arial"/>
                <a:cs typeface="Arial"/>
              </a:rPr>
              <a:t>&lt; P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(6)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38808" y="2136488"/>
            <a:ext cx="1261745" cy="8305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442595">
              <a:lnSpc>
                <a:spcPct val="100000"/>
              </a:lnSpc>
              <a:spcBef>
                <a:spcPts val="1105"/>
              </a:spcBef>
            </a:pPr>
            <a:r>
              <a:rPr sz="1800" spc="-5" dirty="0"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spc="-20" dirty="0">
                <a:latin typeface="Arial"/>
                <a:cs typeface="Arial"/>
              </a:rPr>
              <a:t>#’s </a:t>
            </a:r>
            <a:r>
              <a:rPr sz="1800" dirty="0">
                <a:latin typeface="Arial"/>
                <a:cs typeface="Arial"/>
              </a:rPr>
              <a:t>&gt;/= P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(6)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035807" y="3113532"/>
            <a:ext cx="672083" cy="6797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  <a:tabLst>
                <a:tab pos="354965" algn="l"/>
              </a:tabLst>
            </a:pPr>
            <a:r>
              <a:rPr sz="1600" spc="5" dirty="0"/>
              <a:t>•	</a:t>
            </a:r>
            <a:r>
              <a:rPr spc="-5" dirty="0"/>
              <a:t>Finish by also </a:t>
            </a:r>
            <a:r>
              <a:rPr spc="-10" dirty="0"/>
              <a:t>Swapping </a:t>
            </a:r>
            <a:r>
              <a:rPr dirty="0"/>
              <a:t>the </a:t>
            </a:r>
            <a:r>
              <a:rPr spc="-5" dirty="0"/>
              <a:t>Pivot </a:t>
            </a:r>
            <a:r>
              <a:rPr spc="-15" dirty="0"/>
              <a:t>with </a:t>
            </a:r>
            <a:r>
              <a:rPr dirty="0"/>
              <a:t>the </a:t>
            </a:r>
            <a:r>
              <a:rPr spc="5" dirty="0"/>
              <a:t>1</a:t>
            </a:r>
            <a:r>
              <a:rPr sz="1800" spc="7" baseline="25462" dirty="0"/>
              <a:t>st </a:t>
            </a:r>
            <a:r>
              <a:rPr sz="1800" spc="-5" dirty="0"/>
              <a:t>Number</a:t>
            </a:r>
            <a:r>
              <a:rPr sz="1800" spc="-45" dirty="0"/>
              <a:t> </a:t>
            </a:r>
            <a:r>
              <a:rPr sz="1800" dirty="0"/>
              <a:t>&gt;/=</a:t>
            </a:r>
            <a:endParaRPr sz="1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31875" y="171450"/>
            <a:ext cx="5978525" cy="514350"/>
          </a:xfrm>
        </p:spPr>
        <p:txBody>
          <a:bodyPr>
            <a:normAutofit/>
          </a:bodyPr>
          <a:lstStyle/>
          <a:p>
            <a:pPr algn="ctr"/>
            <a:r>
              <a:rPr lang="en-US" altLang="en-US" u="sng" dirty="0"/>
              <a:t>Complexity of Partition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200" y="1577975"/>
            <a:ext cx="8229600" cy="1661993"/>
          </a:xfrm>
        </p:spPr>
        <p:txBody>
          <a:bodyPr/>
          <a:lstStyle/>
          <a:p>
            <a:r>
              <a:rPr lang="en-US" altLang="en-US" sz="3600" dirty="0" err="1">
                <a:solidFill>
                  <a:schemeClr val="tx2"/>
                </a:solidFill>
                <a:sym typeface="Symbol" panose="05050102010706020507" pitchFamily="18" charset="2"/>
              </a:rPr>
              <a:t>PartitionTime</a:t>
            </a:r>
            <a:r>
              <a:rPr lang="en-US" altLang="en-US" sz="3600" dirty="0">
                <a:solidFill>
                  <a:schemeClr val="tx2"/>
                </a:solidFill>
                <a:sym typeface="Symbol" panose="05050102010706020507" pitchFamily="18" charset="2"/>
              </a:rPr>
              <a:t>(</a:t>
            </a:r>
            <a:r>
              <a:rPr lang="en-US" altLang="en-US" sz="3600" i="1" dirty="0">
                <a:solidFill>
                  <a:schemeClr val="tx2"/>
                </a:solidFill>
                <a:sym typeface="Symbol" panose="05050102010706020507" pitchFamily="18" charset="2"/>
              </a:rPr>
              <a:t>n</a:t>
            </a:r>
            <a:r>
              <a:rPr lang="en-US" altLang="en-US" sz="3600" dirty="0">
                <a:solidFill>
                  <a:schemeClr val="tx2"/>
                </a:solidFill>
                <a:sym typeface="Symbol" panose="05050102010706020507" pitchFamily="18" charset="2"/>
              </a:rPr>
              <a:t>)</a:t>
            </a:r>
            <a:r>
              <a:rPr lang="en-US" altLang="en-US" sz="3600" dirty="0">
                <a:sym typeface="Symbol" panose="05050102010706020507" pitchFamily="18" charset="2"/>
              </a:rPr>
              <a:t> is given by the number of iterations in the </a:t>
            </a:r>
            <a:r>
              <a:rPr lang="en-US" altLang="en-US" sz="3600" i="1" dirty="0">
                <a:sym typeface="Symbol" panose="05050102010706020507" pitchFamily="18" charset="2"/>
              </a:rPr>
              <a:t>for</a:t>
            </a:r>
            <a:r>
              <a:rPr lang="en-US" altLang="en-US" sz="3600" dirty="0">
                <a:sym typeface="Symbol" panose="05050102010706020507" pitchFamily="18" charset="2"/>
              </a:rPr>
              <a:t> loop.</a:t>
            </a:r>
          </a:p>
          <a:p>
            <a:r>
              <a:rPr lang="en-US" altLang="en-US" sz="3600" dirty="0">
                <a:solidFill>
                  <a:srgbClr val="CC3300"/>
                </a:solidFill>
                <a:sym typeface="Symbol" panose="05050102010706020507" pitchFamily="18" charset="2"/>
              </a:rPr>
              <a:t>(</a:t>
            </a:r>
            <a:r>
              <a:rPr lang="en-US" altLang="en-US" sz="3600" i="1" dirty="0">
                <a:solidFill>
                  <a:srgbClr val="CC3300"/>
                </a:solidFill>
                <a:sym typeface="Symbol" panose="05050102010706020507" pitchFamily="18" charset="2"/>
              </a:rPr>
              <a:t>n</a:t>
            </a:r>
            <a:r>
              <a:rPr lang="en-US" altLang="en-US" sz="3600" dirty="0">
                <a:solidFill>
                  <a:srgbClr val="CC3300"/>
                </a:solidFill>
                <a:sym typeface="Symbol" panose="05050102010706020507" pitchFamily="18" charset="2"/>
              </a:rPr>
              <a:t>) </a:t>
            </a:r>
            <a:r>
              <a:rPr lang="en-US" altLang="en-US" sz="3600" dirty="0">
                <a:sym typeface="Symbol" panose="05050102010706020507" pitchFamily="18" charset="2"/>
              </a:rPr>
              <a:t>:  </a:t>
            </a:r>
            <a:r>
              <a:rPr lang="en-US" altLang="en-US" sz="3600" i="1" dirty="0">
                <a:sym typeface="Symbol" panose="05050102010706020507" pitchFamily="18" charset="2"/>
              </a:rPr>
              <a:t>n </a:t>
            </a:r>
            <a:r>
              <a:rPr lang="en-US" altLang="en-US" sz="3600" dirty="0">
                <a:sym typeface="Symbol" panose="05050102010706020507" pitchFamily="18" charset="2"/>
              </a:rPr>
              <a:t>= </a:t>
            </a:r>
            <a:r>
              <a:rPr lang="en-US" altLang="en-US" sz="3600" i="1" dirty="0">
                <a:sym typeface="Symbol" panose="05050102010706020507" pitchFamily="18" charset="2"/>
              </a:rPr>
              <a:t>r</a:t>
            </a:r>
            <a:r>
              <a:rPr lang="en-US" altLang="en-US" sz="3600" dirty="0">
                <a:sym typeface="Symbol" panose="05050102010706020507" pitchFamily="18" charset="2"/>
              </a:rPr>
              <a:t> – </a:t>
            </a:r>
            <a:r>
              <a:rPr lang="en-US" altLang="en-US" sz="3600" i="1" dirty="0">
                <a:sym typeface="Symbol" panose="05050102010706020507" pitchFamily="18" charset="2"/>
              </a:rPr>
              <a:t>p</a:t>
            </a:r>
            <a:r>
              <a:rPr lang="en-US" altLang="en-US" sz="3600" dirty="0">
                <a:sym typeface="Symbol" panose="05050102010706020507" pitchFamily="18" charset="2"/>
              </a:rPr>
              <a:t> + 1.</a:t>
            </a:r>
            <a:endParaRPr lang="en-US" altLang="en-US" sz="3600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495800" y="3352800"/>
            <a:ext cx="4014788" cy="2862263"/>
          </a:xfrm>
          <a:prstGeom prst="rect">
            <a:avLst/>
          </a:prstGeom>
          <a:solidFill>
            <a:srgbClr val="CCECFF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>
            <a:lvl1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71600" algn="l"/>
                <a:tab pos="17748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kumimoji="0" lang="en-US" altLang="en-US" sz="2000" dirty="0"/>
              <a:t>PARTITION(A, p, r)</a:t>
            </a:r>
          </a:p>
          <a:p>
            <a:pPr marL="457200" indent="-457200">
              <a:buFontTx/>
              <a:buAutoNum type="arabicPeriod"/>
              <a:defRPr/>
            </a:pPr>
            <a:r>
              <a:rPr kumimoji="0" lang="en-US" altLang="en-US" sz="2000" dirty="0"/>
              <a:t>x = A[r]</a:t>
            </a:r>
          </a:p>
          <a:p>
            <a:pPr>
              <a:defRPr/>
            </a:pPr>
            <a:r>
              <a:rPr kumimoji="0" lang="en-US" altLang="en-US" sz="2000" dirty="0"/>
              <a:t>2.    </a:t>
            </a:r>
            <a:r>
              <a:rPr kumimoji="0" lang="en-US" altLang="en-US" sz="2000" dirty="0" err="1"/>
              <a:t>i</a:t>
            </a:r>
            <a:r>
              <a:rPr kumimoji="0" lang="en-US" altLang="en-US" sz="2000" dirty="0"/>
              <a:t> = p-1</a:t>
            </a:r>
          </a:p>
          <a:p>
            <a:pPr>
              <a:defRPr/>
            </a:pPr>
            <a:r>
              <a:rPr kumimoji="0" lang="en-US" altLang="en-US" sz="2000" dirty="0"/>
              <a:t>3.	</a:t>
            </a:r>
            <a:r>
              <a:rPr kumimoji="0" lang="en-US" altLang="en-US" sz="2000" b="1" dirty="0"/>
              <a:t>for</a:t>
            </a:r>
            <a:r>
              <a:rPr kumimoji="0" lang="en-US" altLang="en-US" sz="2000" dirty="0"/>
              <a:t> j = p </a:t>
            </a:r>
            <a:r>
              <a:rPr kumimoji="0" lang="en-US" altLang="en-US" sz="2000" b="1" dirty="0"/>
              <a:t>to </a:t>
            </a:r>
            <a:r>
              <a:rPr kumimoji="0" lang="en-US" altLang="en-US" sz="2000" dirty="0"/>
              <a:t>r – 1 </a:t>
            </a:r>
          </a:p>
          <a:p>
            <a:pPr>
              <a:defRPr/>
            </a:pPr>
            <a:r>
              <a:rPr kumimoji="0" lang="en-US" altLang="en-US" sz="2000" dirty="0"/>
              <a:t>4.		</a:t>
            </a:r>
            <a:r>
              <a:rPr kumimoji="0" lang="en-US" altLang="en-US" sz="2000" b="1" dirty="0">
                <a:sym typeface="Symbol" pitchFamily="18" charset="2"/>
              </a:rPr>
              <a:t>if</a:t>
            </a:r>
            <a:r>
              <a:rPr kumimoji="0" lang="en-US" altLang="en-US" sz="2000" dirty="0">
                <a:sym typeface="Symbol" pitchFamily="18" charset="2"/>
              </a:rPr>
              <a:t> A[j]    x </a:t>
            </a:r>
          </a:p>
          <a:p>
            <a:pPr>
              <a:defRPr/>
            </a:pPr>
            <a:r>
              <a:rPr kumimoji="0" lang="en-US" altLang="en-US" sz="2000" dirty="0">
                <a:sym typeface="Symbol" pitchFamily="18" charset="2"/>
              </a:rPr>
              <a:t>5.			</a:t>
            </a:r>
            <a:r>
              <a:rPr kumimoji="0" lang="en-US" altLang="en-US" sz="2000" dirty="0" err="1">
                <a:sym typeface="Symbol" pitchFamily="18" charset="2"/>
              </a:rPr>
              <a:t>i</a:t>
            </a:r>
            <a:r>
              <a:rPr kumimoji="0" lang="en-US" altLang="en-US" sz="2000" dirty="0">
                <a:sym typeface="Symbol" pitchFamily="18" charset="2"/>
              </a:rPr>
              <a:t> = </a:t>
            </a:r>
            <a:r>
              <a:rPr kumimoji="0" lang="en-US" altLang="en-US" sz="2000" dirty="0" err="1">
                <a:sym typeface="Symbol" pitchFamily="18" charset="2"/>
              </a:rPr>
              <a:t>i</a:t>
            </a:r>
            <a:r>
              <a:rPr kumimoji="0" lang="en-US" altLang="en-US" sz="2000" dirty="0">
                <a:sym typeface="Symbol" pitchFamily="18" charset="2"/>
              </a:rPr>
              <a:t> + 1</a:t>
            </a:r>
          </a:p>
          <a:p>
            <a:pPr>
              <a:defRPr/>
            </a:pPr>
            <a:r>
              <a:rPr kumimoji="0" lang="en-US" altLang="en-US" sz="2000" dirty="0">
                <a:sym typeface="Symbol" pitchFamily="18" charset="2"/>
              </a:rPr>
              <a:t>6.               	exchange A[</a:t>
            </a:r>
            <a:r>
              <a:rPr kumimoji="0" lang="en-US" altLang="en-US" sz="2000" dirty="0" err="1">
                <a:sym typeface="Symbol" pitchFamily="18" charset="2"/>
              </a:rPr>
              <a:t>i</a:t>
            </a:r>
            <a:r>
              <a:rPr kumimoji="0" lang="en-US" altLang="en-US" sz="2000" dirty="0">
                <a:sym typeface="Symbol" pitchFamily="18" charset="2"/>
              </a:rPr>
              <a:t>] with A[j]</a:t>
            </a:r>
          </a:p>
          <a:p>
            <a:pPr>
              <a:defRPr/>
            </a:pPr>
            <a:r>
              <a:rPr kumimoji="0" lang="en-US" altLang="en-US" sz="2000" dirty="0">
                <a:sym typeface="Symbol" pitchFamily="18" charset="2"/>
              </a:rPr>
              <a:t>7.    exchange  A[</a:t>
            </a:r>
            <a:r>
              <a:rPr kumimoji="0" lang="en-US" altLang="en-US" sz="2000" dirty="0" err="1">
                <a:sym typeface="Symbol" pitchFamily="18" charset="2"/>
              </a:rPr>
              <a:t>i</a:t>
            </a:r>
            <a:r>
              <a:rPr kumimoji="0" lang="en-US" altLang="en-US" sz="2000" dirty="0">
                <a:sym typeface="Symbol" pitchFamily="18" charset="2"/>
              </a:rPr>
              <a:t> + 1] with A[r]</a:t>
            </a:r>
          </a:p>
          <a:p>
            <a:pPr>
              <a:defRPr/>
            </a:pPr>
            <a:r>
              <a:rPr kumimoji="0" lang="en-US" altLang="en-US" sz="2000" dirty="0">
                <a:sym typeface="Symbol" pitchFamily="18" charset="2"/>
              </a:rPr>
              <a:t>8.	</a:t>
            </a:r>
            <a:r>
              <a:rPr kumimoji="0" lang="en-US" altLang="en-US" sz="2000" b="1" dirty="0">
                <a:sym typeface="Symbol" pitchFamily="18" charset="2"/>
              </a:rPr>
              <a:t>return</a:t>
            </a:r>
            <a:r>
              <a:rPr kumimoji="0" lang="en-US" altLang="en-US" sz="2000" dirty="0">
                <a:sym typeface="Symbol" pitchFamily="18" charset="2"/>
              </a:rPr>
              <a:t> </a:t>
            </a:r>
            <a:r>
              <a:rPr kumimoji="0" lang="en-US" altLang="en-US" sz="2000" dirty="0" err="1">
                <a:sym typeface="Symbol" pitchFamily="18" charset="2"/>
              </a:rPr>
              <a:t>i</a:t>
            </a:r>
            <a:r>
              <a:rPr kumimoji="0" lang="en-US" altLang="en-US" sz="2000" dirty="0">
                <a:sym typeface="Symbol" pitchFamily="18" charset="2"/>
              </a:rPr>
              <a:t> + 1</a:t>
            </a:r>
          </a:p>
        </p:txBody>
      </p:sp>
    </p:spTree>
    <p:extLst>
      <p:ext uri="{BB962C8B-B14F-4D97-AF65-F5344CB8AC3E}">
        <p14:creationId xmlns:p14="http://schemas.microsoft.com/office/powerpoint/2010/main" val="20627042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955675" y="323850"/>
            <a:ext cx="5978525" cy="514350"/>
          </a:xfrm>
        </p:spPr>
        <p:txBody>
          <a:bodyPr>
            <a:normAutofit/>
          </a:bodyPr>
          <a:lstStyle/>
          <a:p>
            <a:r>
              <a:rPr lang="en-US" altLang="en-US" u="sng" dirty="0"/>
              <a:t>Algorithm Performance</a:t>
            </a:r>
          </a:p>
        </p:txBody>
      </p:sp>
      <p:sp>
        <p:nvSpPr>
          <p:cNvPr id="410627" name="Rectangle 1027"/>
          <p:cNvSpPr>
            <a:spLocks noGrp="1" noChangeArrowheads="1"/>
          </p:cNvSpPr>
          <p:nvPr>
            <p:ph idx="4294967295"/>
          </p:nvPr>
        </p:nvSpPr>
        <p:spPr>
          <a:xfrm>
            <a:off x="304800" y="1577975"/>
            <a:ext cx="8229600" cy="4525963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  <a:spcAft>
                <a:spcPct val="20000"/>
              </a:spcAft>
              <a:buFont typeface="Wingdings" pitchFamily="2" charset="2"/>
              <a:buNone/>
              <a:defRPr/>
            </a:pPr>
            <a:r>
              <a:rPr lang="en-US" altLang="en-US" sz="3200" dirty="0"/>
              <a:t>Running time of quicksort depends on whether the partitioning is balanced or not.</a:t>
            </a:r>
          </a:p>
          <a:p>
            <a:pPr algn="just">
              <a:lnSpc>
                <a:spcPct val="90000"/>
              </a:lnSpc>
              <a:spcAft>
                <a:spcPct val="20000"/>
              </a:spcAft>
              <a:buFont typeface="Wingdings" pitchFamily="2" charset="2"/>
              <a:buNone/>
              <a:defRPr/>
            </a:pPr>
            <a:endParaRPr lang="en-US" altLang="en-US" dirty="0"/>
          </a:p>
          <a:p>
            <a:pPr marL="914400" lvl="1" indent="-457200" algn="just">
              <a:lnSpc>
                <a:spcPct val="90000"/>
              </a:lnSpc>
              <a:spcAft>
                <a:spcPct val="20000"/>
              </a:spcAft>
              <a:buFont typeface="Wingdings" panose="05000000000000000000" pitchFamily="2" charset="2"/>
              <a:buChar char="q"/>
              <a:defRPr/>
            </a:pP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chemeClr val="tx2"/>
                </a:solidFill>
              </a:rPr>
              <a:t>Best case:</a:t>
            </a:r>
            <a:r>
              <a:rPr lang="en-US" altLang="en-US" sz="2800" dirty="0"/>
              <a:t> occurs when the recursion tree is always balanced</a:t>
            </a:r>
          </a:p>
          <a:p>
            <a:pPr marL="914400" lvl="1" indent="-457200" algn="just">
              <a:lnSpc>
                <a:spcPct val="90000"/>
              </a:lnSpc>
              <a:spcAft>
                <a:spcPct val="20000"/>
              </a:spcAft>
              <a:buFont typeface="Wingdings" panose="05000000000000000000" pitchFamily="2" charset="2"/>
              <a:buChar char="q"/>
              <a:defRPr/>
            </a:pP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chemeClr val="tx2"/>
                </a:solidFill>
              </a:rPr>
              <a:t>Worst case:</a:t>
            </a:r>
            <a:r>
              <a:rPr lang="en-US" altLang="en-US" sz="2800" dirty="0"/>
              <a:t> occurs when the recursion tree is always unbalanced</a:t>
            </a:r>
          </a:p>
          <a:p>
            <a:pPr marL="914400" lvl="1" indent="-457200" algn="just">
              <a:lnSpc>
                <a:spcPct val="90000"/>
              </a:lnSpc>
              <a:spcAft>
                <a:spcPct val="20000"/>
              </a:spcAft>
              <a:buFont typeface="Wingdings" panose="05000000000000000000" pitchFamily="2" charset="2"/>
              <a:buChar char="q"/>
              <a:defRPr/>
            </a:pP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chemeClr val="tx2"/>
                </a:solidFill>
              </a:rPr>
              <a:t>Average case: </a:t>
            </a:r>
            <a:r>
              <a:rPr lang="en-US" altLang="en-US" sz="2800" dirty="0"/>
              <a:t>computed by using expected value of running time assuming that the pivot elements are randomly distributed</a:t>
            </a:r>
          </a:p>
        </p:txBody>
      </p:sp>
    </p:spTree>
    <p:extLst>
      <p:ext uri="{BB962C8B-B14F-4D97-AF65-F5344CB8AC3E}">
        <p14:creationId xmlns:p14="http://schemas.microsoft.com/office/powerpoint/2010/main" val="7133234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84275" y="533400"/>
            <a:ext cx="5978525" cy="514350"/>
          </a:xfrm>
        </p:spPr>
        <p:txBody>
          <a:bodyPr>
            <a:normAutofit/>
          </a:bodyPr>
          <a:lstStyle/>
          <a:p>
            <a:r>
              <a:rPr lang="en-US" altLang="en-US" u="sng" dirty="0"/>
              <a:t>Best-case Partitioning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85800" y="1577975"/>
            <a:ext cx="8229600" cy="5047536"/>
          </a:xfrm>
        </p:spPr>
        <p:txBody>
          <a:bodyPr/>
          <a:lstStyle/>
          <a:p>
            <a:pPr algn="just">
              <a:spcBef>
                <a:spcPts val="600"/>
              </a:spcBef>
            </a:pPr>
            <a:r>
              <a:rPr lang="en-US" altLang="en-US" sz="2800" dirty="0"/>
              <a:t>Size of each subproblem </a:t>
            </a:r>
            <a:r>
              <a:rPr lang="en-US" altLang="en-US" sz="2800" dirty="0">
                <a:sym typeface="Symbol" panose="05050102010706020507" pitchFamily="18" charset="2"/>
              </a:rPr>
              <a:t> </a:t>
            </a:r>
            <a:r>
              <a:rPr lang="en-US" altLang="en-US" sz="2800" i="1" dirty="0"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ym typeface="Symbol" panose="05050102010706020507" pitchFamily="18" charset="2"/>
              </a:rPr>
              <a:t>/2.</a:t>
            </a:r>
          </a:p>
          <a:p>
            <a:pPr lvl="1" algn="just">
              <a:spcBef>
                <a:spcPts val="600"/>
              </a:spcBef>
            </a:pPr>
            <a:r>
              <a:rPr lang="en-US" altLang="en-US" sz="2800" dirty="0"/>
              <a:t>One of the subproblems is of size </a:t>
            </a:r>
            <a:r>
              <a:rPr lang="en-US" altLang="en-US" sz="2800" dirty="0">
                <a:sym typeface="Symbol" panose="05050102010706020507" pitchFamily="18" charset="2"/>
              </a:rPr>
              <a:t></a:t>
            </a:r>
            <a:r>
              <a:rPr lang="en-US" altLang="en-US" sz="2800" i="1" dirty="0"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ym typeface="Symbol" panose="05050102010706020507" pitchFamily="18" charset="2"/>
              </a:rPr>
              <a:t>/2</a:t>
            </a:r>
          </a:p>
          <a:p>
            <a:pPr lvl="1" algn="just">
              <a:spcBef>
                <a:spcPts val="600"/>
              </a:spcBef>
            </a:pPr>
            <a:r>
              <a:rPr lang="en-US" altLang="en-US" sz="2800" dirty="0">
                <a:sym typeface="Symbol" panose="05050102010706020507" pitchFamily="18" charset="2"/>
              </a:rPr>
              <a:t>The other is of size </a:t>
            </a:r>
            <a:r>
              <a:rPr lang="en-US" altLang="en-US" sz="2800" i="1" dirty="0"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ym typeface="Symbol" panose="05050102010706020507" pitchFamily="18" charset="2"/>
              </a:rPr>
              <a:t>/2 1. </a:t>
            </a:r>
          </a:p>
          <a:p>
            <a:pPr lvl="1" algn="just">
              <a:spcBef>
                <a:spcPts val="600"/>
              </a:spcBef>
            </a:pPr>
            <a:r>
              <a:rPr lang="en-US" altLang="en-US" sz="2800" dirty="0">
                <a:sym typeface="Symbol" panose="05050102010706020507" pitchFamily="18" charset="2"/>
              </a:rPr>
              <a:t>Called a 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rgbClr val="C0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sz="2800" i="1" dirty="0">
                <a:solidFill>
                  <a:srgbClr val="C00000"/>
                </a:solidFill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olidFill>
                  <a:srgbClr val="C00000"/>
                </a:solidFill>
                <a:sym typeface="Symbol" panose="05050102010706020507" pitchFamily="18" charset="2"/>
              </a:rPr>
              <a:t>/2: (</a:t>
            </a:r>
            <a:r>
              <a:rPr lang="en-US" altLang="en-US" sz="2800" i="1" dirty="0">
                <a:solidFill>
                  <a:srgbClr val="C00000"/>
                </a:solidFill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olidFill>
                  <a:srgbClr val="C00000"/>
                </a:solidFill>
                <a:sym typeface="Symbol" panose="05050102010706020507" pitchFamily="18" charset="2"/>
              </a:rPr>
              <a:t>/2 1) split</a:t>
            </a:r>
          </a:p>
          <a:p>
            <a:pPr algn="just">
              <a:spcBef>
                <a:spcPts val="600"/>
              </a:spcBef>
            </a:pPr>
            <a:r>
              <a:rPr lang="en-US" altLang="en-US" sz="2800" dirty="0"/>
              <a:t>Recurrence for running time</a:t>
            </a:r>
          </a:p>
          <a:p>
            <a:pPr lvl="1" algn="just">
              <a:spcBef>
                <a:spcPts val="600"/>
              </a:spcBef>
            </a:pPr>
            <a:r>
              <a:rPr lang="en-US" altLang="en-US" sz="3600" i="1" dirty="0">
                <a:solidFill>
                  <a:schemeClr val="tx2"/>
                </a:solidFill>
              </a:rPr>
              <a:t>T</a:t>
            </a:r>
            <a:r>
              <a:rPr lang="en-US" altLang="en-US" sz="3600" dirty="0">
                <a:solidFill>
                  <a:schemeClr val="tx2"/>
                </a:solidFill>
              </a:rPr>
              <a:t>(</a:t>
            </a:r>
            <a:r>
              <a:rPr lang="en-US" altLang="en-US" sz="3600" i="1" dirty="0">
                <a:solidFill>
                  <a:schemeClr val="tx2"/>
                </a:solidFill>
              </a:rPr>
              <a:t>n</a:t>
            </a:r>
            <a:r>
              <a:rPr lang="en-US" altLang="en-US" sz="3600" dirty="0">
                <a:solidFill>
                  <a:schemeClr val="tx2"/>
                </a:solidFill>
              </a:rPr>
              <a:t>) </a:t>
            </a:r>
            <a:r>
              <a:rPr lang="en-US" altLang="en-US" sz="3600" dirty="0">
                <a:solidFill>
                  <a:schemeClr val="tx2"/>
                </a:solidFill>
                <a:sym typeface="Symbol" panose="05050102010706020507" pitchFamily="18" charset="2"/>
              </a:rPr>
              <a:t></a:t>
            </a:r>
            <a:r>
              <a:rPr lang="en-US" altLang="en-US" sz="3600" dirty="0">
                <a:solidFill>
                  <a:schemeClr val="tx2"/>
                </a:solidFill>
              </a:rPr>
              <a:t> 2</a:t>
            </a:r>
            <a:r>
              <a:rPr lang="en-US" altLang="en-US" sz="3600" i="1" dirty="0">
                <a:solidFill>
                  <a:schemeClr val="tx2"/>
                </a:solidFill>
              </a:rPr>
              <a:t>T</a:t>
            </a:r>
            <a:r>
              <a:rPr lang="en-US" altLang="en-US" sz="3600" dirty="0">
                <a:solidFill>
                  <a:schemeClr val="tx2"/>
                </a:solidFill>
              </a:rPr>
              <a:t>(</a:t>
            </a:r>
            <a:r>
              <a:rPr lang="en-US" altLang="en-US" sz="3600" i="1" dirty="0">
                <a:solidFill>
                  <a:schemeClr val="tx2"/>
                </a:solidFill>
              </a:rPr>
              <a:t>n</a:t>
            </a:r>
            <a:r>
              <a:rPr lang="en-US" altLang="en-US" sz="3600" dirty="0">
                <a:solidFill>
                  <a:schemeClr val="tx2"/>
                </a:solidFill>
              </a:rPr>
              <a:t>/2) + </a:t>
            </a:r>
            <a:r>
              <a:rPr lang="en-US" altLang="en-US" sz="3600" dirty="0" err="1">
                <a:solidFill>
                  <a:schemeClr val="tx2"/>
                </a:solidFill>
              </a:rPr>
              <a:t>PartitionTime</a:t>
            </a:r>
            <a:r>
              <a:rPr lang="en-US" altLang="en-US" sz="3600" dirty="0">
                <a:solidFill>
                  <a:schemeClr val="tx2"/>
                </a:solidFill>
              </a:rPr>
              <a:t>(</a:t>
            </a:r>
            <a:r>
              <a:rPr lang="en-US" altLang="en-US" sz="3600" i="1" dirty="0">
                <a:solidFill>
                  <a:schemeClr val="tx2"/>
                </a:solidFill>
              </a:rPr>
              <a:t>n</a:t>
            </a:r>
            <a:r>
              <a:rPr lang="en-US" altLang="en-US" sz="3600" dirty="0">
                <a:solidFill>
                  <a:schemeClr val="tx2"/>
                </a:solidFill>
              </a:rPr>
              <a:t>)</a:t>
            </a:r>
            <a:endParaRPr lang="en-US" altLang="en-US" sz="3200" dirty="0">
              <a:solidFill>
                <a:schemeClr val="tx2"/>
              </a:solidFill>
            </a:endParaRPr>
          </a:p>
          <a:p>
            <a:pPr lvl="1" algn="just">
              <a:spcBef>
                <a:spcPts val="600"/>
              </a:spcBef>
              <a:buFontTx/>
              <a:buNone/>
            </a:pPr>
            <a:r>
              <a:rPr lang="en-US" altLang="en-US" sz="3600" dirty="0">
                <a:solidFill>
                  <a:schemeClr val="tx2"/>
                </a:solidFill>
              </a:rPr>
              <a:t>            = 2</a:t>
            </a:r>
            <a:r>
              <a:rPr lang="en-US" altLang="en-US" sz="3600" i="1" dirty="0">
                <a:solidFill>
                  <a:schemeClr val="tx2"/>
                </a:solidFill>
              </a:rPr>
              <a:t>T</a:t>
            </a:r>
            <a:r>
              <a:rPr lang="en-US" altLang="en-US" sz="3600" dirty="0">
                <a:solidFill>
                  <a:schemeClr val="tx2"/>
                </a:solidFill>
              </a:rPr>
              <a:t>(</a:t>
            </a:r>
            <a:r>
              <a:rPr lang="en-US" altLang="en-US" sz="3600" i="1" dirty="0">
                <a:solidFill>
                  <a:schemeClr val="tx2"/>
                </a:solidFill>
              </a:rPr>
              <a:t>n</a:t>
            </a:r>
            <a:r>
              <a:rPr lang="en-US" altLang="en-US" sz="3600" dirty="0">
                <a:solidFill>
                  <a:schemeClr val="tx2"/>
                </a:solidFill>
              </a:rPr>
              <a:t>/2) + </a:t>
            </a:r>
            <a:r>
              <a:rPr lang="en-US" altLang="en-US" sz="3600" dirty="0">
                <a:solidFill>
                  <a:schemeClr val="tx2"/>
                </a:solidFill>
                <a:sym typeface="Symbol" panose="05050102010706020507" pitchFamily="18" charset="2"/>
              </a:rPr>
              <a:t>(</a:t>
            </a:r>
            <a:r>
              <a:rPr lang="en-US" altLang="en-US" sz="3600" i="1" dirty="0">
                <a:solidFill>
                  <a:schemeClr val="tx2"/>
                </a:solidFill>
                <a:sym typeface="Symbol" panose="05050102010706020507" pitchFamily="18" charset="2"/>
              </a:rPr>
              <a:t>n</a:t>
            </a:r>
            <a:r>
              <a:rPr lang="en-US" altLang="en-US" sz="3600" dirty="0">
                <a:solidFill>
                  <a:schemeClr val="tx2"/>
                </a:solidFill>
                <a:sym typeface="Symbol" panose="05050102010706020507" pitchFamily="18" charset="2"/>
              </a:rPr>
              <a:t>)</a:t>
            </a:r>
          </a:p>
          <a:p>
            <a:pPr algn="just">
              <a:spcBef>
                <a:spcPts val="600"/>
              </a:spcBef>
            </a:pPr>
            <a:r>
              <a:rPr lang="en-US" altLang="en-US" sz="4000" dirty="0">
                <a:sym typeface="Symbol" panose="05050102010706020507" pitchFamily="18" charset="2"/>
              </a:rPr>
              <a:t> </a:t>
            </a:r>
            <a:r>
              <a:rPr lang="en-US" altLang="en-US" sz="4000" b="1" i="1" dirty="0">
                <a:solidFill>
                  <a:srgbClr val="CC3300"/>
                </a:solidFill>
                <a:sym typeface="Symbol" panose="05050102010706020507" pitchFamily="18" charset="2"/>
              </a:rPr>
              <a:t>T</a:t>
            </a:r>
            <a:r>
              <a:rPr lang="en-US" altLang="en-US" sz="4000" b="1" dirty="0">
                <a:solidFill>
                  <a:srgbClr val="CC3300"/>
                </a:solidFill>
                <a:sym typeface="Symbol" panose="05050102010706020507" pitchFamily="18" charset="2"/>
              </a:rPr>
              <a:t>(</a:t>
            </a:r>
            <a:r>
              <a:rPr lang="en-US" altLang="en-US" sz="4000" b="1" i="1" dirty="0">
                <a:solidFill>
                  <a:srgbClr val="CC3300"/>
                </a:solidFill>
                <a:sym typeface="Symbol" panose="05050102010706020507" pitchFamily="18" charset="2"/>
              </a:rPr>
              <a:t>n</a:t>
            </a:r>
            <a:r>
              <a:rPr lang="en-US" altLang="en-US" sz="4000" b="1" dirty="0">
                <a:solidFill>
                  <a:srgbClr val="CC3300"/>
                </a:solidFill>
                <a:sym typeface="Symbol" panose="05050102010706020507" pitchFamily="18" charset="2"/>
              </a:rPr>
              <a:t>) = (</a:t>
            </a:r>
            <a:r>
              <a:rPr lang="en-US" altLang="en-US" sz="4000" b="1" i="1" dirty="0">
                <a:solidFill>
                  <a:srgbClr val="CC3300"/>
                </a:solidFill>
                <a:sym typeface="Symbol" panose="05050102010706020507" pitchFamily="18" charset="2"/>
              </a:rPr>
              <a:t>n </a:t>
            </a:r>
            <a:r>
              <a:rPr lang="en-US" altLang="en-US" sz="4000" b="1" dirty="0" err="1">
                <a:solidFill>
                  <a:srgbClr val="CC3300"/>
                </a:solidFill>
                <a:sym typeface="Symbol" panose="05050102010706020507" pitchFamily="18" charset="2"/>
              </a:rPr>
              <a:t>lg</a:t>
            </a:r>
            <a:r>
              <a:rPr lang="en-US" altLang="en-US" sz="4000" b="1" dirty="0">
                <a:solidFill>
                  <a:srgbClr val="CC33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4000" b="1" i="1" dirty="0">
                <a:solidFill>
                  <a:srgbClr val="CC3300"/>
                </a:solidFill>
                <a:sym typeface="Symbol" panose="05050102010706020507" pitchFamily="18" charset="2"/>
              </a:rPr>
              <a:t>n</a:t>
            </a:r>
            <a:r>
              <a:rPr lang="en-US" altLang="en-US" sz="4000" b="1" dirty="0">
                <a:solidFill>
                  <a:srgbClr val="CC3300"/>
                </a:solidFill>
                <a:sym typeface="Symbol" panose="05050102010706020507" pitchFamily="18" charset="2"/>
              </a:rPr>
              <a:t>)</a:t>
            </a:r>
          </a:p>
          <a:p>
            <a:pPr lvl="1" algn="just">
              <a:spcBef>
                <a:spcPts val="600"/>
              </a:spcBef>
            </a:pPr>
            <a:endParaRPr lang="en-US" altLang="en-US" sz="3600" b="1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017924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87375" y="400050"/>
            <a:ext cx="7337425" cy="514350"/>
          </a:xfrm>
        </p:spPr>
        <p:txBody>
          <a:bodyPr>
            <a:normAutofit fontScale="90000"/>
          </a:bodyPr>
          <a:lstStyle/>
          <a:p>
            <a:r>
              <a:rPr lang="en-US" altLang="en-US" u="sng" dirty="0"/>
              <a:t>Recursion Tree for Best-case Partition</a:t>
            </a:r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1001713" y="1546225"/>
            <a:ext cx="3432175" cy="4830763"/>
            <a:chOff x="659" y="978"/>
            <a:chExt cx="2162" cy="3043"/>
          </a:xfrm>
        </p:grpSpPr>
        <p:sp>
          <p:nvSpPr>
            <p:cNvPr id="13329" name="Text Box 16"/>
            <p:cNvSpPr txBox="1">
              <a:spLocks noChangeArrowheads="1"/>
            </p:cNvSpPr>
            <p:nvPr/>
          </p:nvSpPr>
          <p:spPr bwMode="auto">
            <a:xfrm>
              <a:off x="1596" y="97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hlink"/>
                  </a:solidFill>
                  <a:latin typeface="Arial" panose="020B0604020202020204" pitchFamily="34" charset="0"/>
                </a:rPr>
                <a:t>cn</a:t>
              </a:r>
            </a:p>
          </p:txBody>
        </p:sp>
        <p:sp>
          <p:nvSpPr>
            <p:cNvPr id="13330" name="Line 17"/>
            <p:cNvSpPr>
              <a:spLocks noChangeShapeType="1"/>
            </p:cNvSpPr>
            <p:nvPr/>
          </p:nvSpPr>
          <p:spPr bwMode="auto">
            <a:xfrm flipH="1">
              <a:off x="1448" y="1258"/>
              <a:ext cx="263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1" name="Line 18"/>
            <p:cNvSpPr>
              <a:spLocks noChangeShapeType="1"/>
            </p:cNvSpPr>
            <p:nvPr/>
          </p:nvSpPr>
          <p:spPr bwMode="auto">
            <a:xfrm>
              <a:off x="1786" y="1248"/>
              <a:ext cx="293" cy="5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2" name="Text Box 19"/>
            <p:cNvSpPr txBox="1">
              <a:spLocks noChangeArrowheads="1"/>
            </p:cNvSpPr>
            <p:nvPr/>
          </p:nvSpPr>
          <p:spPr bwMode="auto">
            <a:xfrm>
              <a:off x="1182" y="1913"/>
              <a:ext cx="4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hlink"/>
                  </a:solidFill>
                  <a:latin typeface="Arial" panose="020B0604020202020204" pitchFamily="34" charset="0"/>
                </a:rPr>
                <a:t>cn/2</a:t>
              </a:r>
            </a:p>
          </p:txBody>
        </p:sp>
        <p:sp>
          <p:nvSpPr>
            <p:cNvPr id="13333" name="Text Box 20"/>
            <p:cNvSpPr txBox="1">
              <a:spLocks noChangeArrowheads="1"/>
            </p:cNvSpPr>
            <p:nvPr/>
          </p:nvSpPr>
          <p:spPr bwMode="auto">
            <a:xfrm>
              <a:off x="1947" y="1894"/>
              <a:ext cx="4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hlink"/>
                  </a:solidFill>
                  <a:latin typeface="Arial" panose="020B0604020202020204" pitchFamily="34" charset="0"/>
                </a:rPr>
                <a:t>cn/2</a:t>
              </a:r>
            </a:p>
          </p:txBody>
        </p:sp>
        <p:sp>
          <p:nvSpPr>
            <p:cNvPr id="13334" name="Line 21"/>
            <p:cNvSpPr>
              <a:spLocks noChangeShapeType="1"/>
            </p:cNvSpPr>
            <p:nvPr/>
          </p:nvSpPr>
          <p:spPr bwMode="auto">
            <a:xfrm flipH="1">
              <a:off x="1076" y="2191"/>
              <a:ext cx="274" cy="4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5" name="Line 22"/>
            <p:cNvSpPr>
              <a:spLocks noChangeShapeType="1"/>
            </p:cNvSpPr>
            <p:nvPr/>
          </p:nvSpPr>
          <p:spPr bwMode="auto">
            <a:xfrm>
              <a:off x="1397" y="2191"/>
              <a:ext cx="265" cy="4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6" name="Line 23"/>
            <p:cNvSpPr>
              <a:spLocks noChangeShapeType="1"/>
            </p:cNvSpPr>
            <p:nvPr/>
          </p:nvSpPr>
          <p:spPr bwMode="auto">
            <a:xfrm flipH="1">
              <a:off x="1918" y="2202"/>
              <a:ext cx="274" cy="4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7" name="Line 24"/>
            <p:cNvSpPr>
              <a:spLocks noChangeShapeType="1"/>
            </p:cNvSpPr>
            <p:nvPr/>
          </p:nvSpPr>
          <p:spPr bwMode="auto">
            <a:xfrm>
              <a:off x="2239" y="2202"/>
              <a:ext cx="265" cy="4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8" name="Text Box 25"/>
            <p:cNvSpPr txBox="1">
              <a:spLocks noChangeArrowheads="1"/>
            </p:cNvSpPr>
            <p:nvPr/>
          </p:nvSpPr>
          <p:spPr bwMode="auto">
            <a:xfrm>
              <a:off x="746" y="2700"/>
              <a:ext cx="4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hlink"/>
                  </a:solidFill>
                  <a:latin typeface="Arial" panose="020B0604020202020204" pitchFamily="34" charset="0"/>
                </a:rPr>
                <a:t>cn/4</a:t>
              </a:r>
            </a:p>
          </p:txBody>
        </p:sp>
        <p:sp>
          <p:nvSpPr>
            <p:cNvPr id="13339" name="Text Box 26"/>
            <p:cNvSpPr txBox="1">
              <a:spLocks noChangeArrowheads="1"/>
            </p:cNvSpPr>
            <p:nvPr/>
          </p:nvSpPr>
          <p:spPr bwMode="auto">
            <a:xfrm>
              <a:off x="1399" y="2711"/>
              <a:ext cx="4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hlink"/>
                  </a:solidFill>
                  <a:latin typeface="Arial" panose="020B0604020202020204" pitchFamily="34" charset="0"/>
                </a:rPr>
                <a:t>cn/4</a:t>
              </a:r>
            </a:p>
          </p:txBody>
        </p:sp>
        <p:sp>
          <p:nvSpPr>
            <p:cNvPr id="13340" name="Text Box 27"/>
            <p:cNvSpPr txBox="1">
              <a:spLocks noChangeArrowheads="1"/>
            </p:cNvSpPr>
            <p:nvPr/>
          </p:nvSpPr>
          <p:spPr bwMode="auto">
            <a:xfrm>
              <a:off x="1786" y="2711"/>
              <a:ext cx="4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hlink"/>
                  </a:solidFill>
                  <a:latin typeface="Arial" panose="020B0604020202020204" pitchFamily="34" charset="0"/>
                </a:rPr>
                <a:t>cn/4</a:t>
              </a:r>
            </a:p>
          </p:txBody>
        </p:sp>
        <p:sp>
          <p:nvSpPr>
            <p:cNvPr id="13341" name="Text Box 28"/>
            <p:cNvSpPr txBox="1">
              <a:spLocks noChangeArrowheads="1"/>
            </p:cNvSpPr>
            <p:nvPr/>
          </p:nvSpPr>
          <p:spPr bwMode="auto">
            <a:xfrm>
              <a:off x="2325" y="2711"/>
              <a:ext cx="4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hlink"/>
                  </a:solidFill>
                  <a:latin typeface="Arial" panose="020B0604020202020204" pitchFamily="34" charset="0"/>
                </a:rPr>
                <a:t>cn/4</a:t>
              </a:r>
            </a:p>
          </p:txBody>
        </p:sp>
        <p:sp>
          <p:nvSpPr>
            <p:cNvPr id="13342" name="Line 29"/>
            <p:cNvSpPr>
              <a:spLocks noChangeShapeType="1"/>
            </p:cNvSpPr>
            <p:nvPr/>
          </p:nvSpPr>
          <p:spPr bwMode="auto">
            <a:xfrm flipH="1">
              <a:off x="746" y="2927"/>
              <a:ext cx="170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3" name="Line 30"/>
            <p:cNvSpPr>
              <a:spLocks noChangeShapeType="1"/>
            </p:cNvSpPr>
            <p:nvPr/>
          </p:nvSpPr>
          <p:spPr bwMode="auto">
            <a:xfrm>
              <a:off x="973" y="2928"/>
              <a:ext cx="141" cy="4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4" name="Line 31"/>
            <p:cNvSpPr>
              <a:spLocks noChangeShapeType="1"/>
            </p:cNvSpPr>
            <p:nvPr/>
          </p:nvSpPr>
          <p:spPr bwMode="auto">
            <a:xfrm flipH="1">
              <a:off x="1408" y="2939"/>
              <a:ext cx="170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5" name="Line 32"/>
            <p:cNvSpPr>
              <a:spLocks noChangeShapeType="1"/>
            </p:cNvSpPr>
            <p:nvPr/>
          </p:nvSpPr>
          <p:spPr bwMode="auto">
            <a:xfrm>
              <a:off x="1635" y="2940"/>
              <a:ext cx="141" cy="4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6" name="Line 33"/>
            <p:cNvSpPr>
              <a:spLocks noChangeShapeType="1"/>
            </p:cNvSpPr>
            <p:nvPr/>
          </p:nvSpPr>
          <p:spPr bwMode="auto">
            <a:xfrm flipH="1">
              <a:off x="1853" y="2948"/>
              <a:ext cx="170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7" name="Line 34"/>
            <p:cNvSpPr>
              <a:spLocks noChangeShapeType="1"/>
            </p:cNvSpPr>
            <p:nvPr/>
          </p:nvSpPr>
          <p:spPr bwMode="auto">
            <a:xfrm>
              <a:off x="2080" y="2949"/>
              <a:ext cx="141" cy="4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8" name="Line 35"/>
            <p:cNvSpPr>
              <a:spLocks noChangeShapeType="1"/>
            </p:cNvSpPr>
            <p:nvPr/>
          </p:nvSpPr>
          <p:spPr bwMode="auto">
            <a:xfrm flipH="1">
              <a:off x="2371" y="2938"/>
              <a:ext cx="170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9" name="Line 36"/>
            <p:cNvSpPr>
              <a:spLocks noChangeShapeType="1"/>
            </p:cNvSpPr>
            <p:nvPr/>
          </p:nvSpPr>
          <p:spPr bwMode="auto">
            <a:xfrm>
              <a:off x="2598" y="2939"/>
              <a:ext cx="141" cy="4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0" name="Line 37"/>
            <p:cNvSpPr>
              <a:spLocks noChangeShapeType="1"/>
            </p:cNvSpPr>
            <p:nvPr/>
          </p:nvSpPr>
          <p:spPr bwMode="auto">
            <a:xfrm>
              <a:off x="765" y="3523"/>
              <a:ext cx="0" cy="2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1" name="Line 38"/>
            <p:cNvSpPr>
              <a:spLocks noChangeShapeType="1"/>
            </p:cNvSpPr>
            <p:nvPr/>
          </p:nvSpPr>
          <p:spPr bwMode="auto">
            <a:xfrm>
              <a:off x="1106" y="3523"/>
              <a:ext cx="0" cy="2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2" name="Line 39"/>
            <p:cNvSpPr>
              <a:spLocks noChangeShapeType="1"/>
            </p:cNvSpPr>
            <p:nvPr/>
          </p:nvSpPr>
          <p:spPr bwMode="auto">
            <a:xfrm>
              <a:off x="1410" y="3523"/>
              <a:ext cx="0" cy="2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3" name="Line 40"/>
            <p:cNvSpPr>
              <a:spLocks noChangeShapeType="1"/>
            </p:cNvSpPr>
            <p:nvPr/>
          </p:nvSpPr>
          <p:spPr bwMode="auto">
            <a:xfrm>
              <a:off x="2236" y="3523"/>
              <a:ext cx="0" cy="2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4" name="Line 41"/>
            <p:cNvSpPr>
              <a:spLocks noChangeShapeType="1"/>
            </p:cNvSpPr>
            <p:nvPr/>
          </p:nvSpPr>
          <p:spPr bwMode="auto">
            <a:xfrm>
              <a:off x="2446" y="3523"/>
              <a:ext cx="0" cy="2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5" name="Line 42"/>
            <p:cNvSpPr>
              <a:spLocks noChangeShapeType="1"/>
            </p:cNvSpPr>
            <p:nvPr/>
          </p:nvSpPr>
          <p:spPr bwMode="auto">
            <a:xfrm>
              <a:off x="2738" y="3523"/>
              <a:ext cx="0" cy="2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6" name="Line 43"/>
            <p:cNvSpPr>
              <a:spLocks noChangeShapeType="1"/>
            </p:cNvSpPr>
            <p:nvPr/>
          </p:nvSpPr>
          <p:spPr bwMode="auto">
            <a:xfrm>
              <a:off x="1700" y="3654"/>
              <a:ext cx="396" cy="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7" name="Text Box 44"/>
            <p:cNvSpPr txBox="1">
              <a:spLocks noChangeArrowheads="1"/>
            </p:cNvSpPr>
            <p:nvPr/>
          </p:nvSpPr>
          <p:spPr bwMode="auto">
            <a:xfrm>
              <a:off x="659" y="373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hlink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13358" name="Text Box 45"/>
            <p:cNvSpPr txBox="1">
              <a:spLocks noChangeArrowheads="1"/>
            </p:cNvSpPr>
            <p:nvPr/>
          </p:nvSpPr>
          <p:spPr bwMode="auto">
            <a:xfrm>
              <a:off x="982" y="373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hlink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13359" name="Text Box 46"/>
            <p:cNvSpPr txBox="1">
              <a:spLocks noChangeArrowheads="1"/>
            </p:cNvSpPr>
            <p:nvPr/>
          </p:nvSpPr>
          <p:spPr bwMode="auto">
            <a:xfrm>
              <a:off x="1305" y="373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hlink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13360" name="Text Box 47"/>
            <p:cNvSpPr txBox="1">
              <a:spLocks noChangeArrowheads="1"/>
            </p:cNvSpPr>
            <p:nvPr/>
          </p:nvSpPr>
          <p:spPr bwMode="auto">
            <a:xfrm>
              <a:off x="2345" y="373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hlink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13361" name="Text Box 48"/>
            <p:cNvSpPr txBox="1">
              <a:spLocks noChangeArrowheads="1"/>
            </p:cNvSpPr>
            <p:nvPr/>
          </p:nvSpPr>
          <p:spPr bwMode="auto">
            <a:xfrm>
              <a:off x="2138" y="373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hlink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13362" name="Text Box 49"/>
            <p:cNvSpPr txBox="1">
              <a:spLocks noChangeArrowheads="1"/>
            </p:cNvSpPr>
            <p:nvPr/>
          </p:nvSpPr>
          <p:spPr bwMode="auto">
            <a:xfrm>
              <a:off x="2620" y="373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hlink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</p:grpSp>
      <p:sp>
        <p:nvSpPr>
          <p:cNvPr id="13316" name="Text Box 50"/>
          <p:cNvSpPr txBox="1">
            <a:spLocks noChangeArrowheads="1"/>
          </p:cNvSpPr>
          <p:nvPr/>
        </p:nvSpPr>
        <p:spPr bwMode="auto">
          <a:xfrm>
            <a:off x="4075113" y="1857375"/>
            <a:ext cx="47259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3317" name="Line 51"/>
          <p:cNvSpPr>
            <a:spLocks noChangeShapeType="1"/>
          </p:cNvSpPr>
          <p:nvPr/>
        </p:nvSpPr>
        <p:spPr bwMode="auto">
          <a:xfrm>
            <a:off x="3222625" y="1854200"/>
            <a:ext cx="40767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8" name="Line 52"/>
          <p:cNvSpPr>
            <a:spLocks noChangeShapeType="1"/>
          </p:cNvSpPr>
          <p:nvPr/>
        </p:nvSpPr>
        <p:spPr bwMode="auto">
          <a:xfrm>
            <a:off x="3989388" y="3236913"/>
            <a:ext cx="331311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9" name="Line 53"/>
          <p:cNvSpPr>
            <a:spLocks noChangeShapeType="1"/>
          </p:cNvSpPr>
          <p:nvPr/>
        </p:nvSpPr>
        <p:spPr bwMode="auto">
          <a:xfrm>
            <a:off x="4395788" y="4470400"/>
            <a:ext cx="2908300" cy="14288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0" name="Line 54"/>
          <p:cNvSpPr>
            <a:spLocks noChangeShapeType="1"/>
          </p:cNvSpPr>
          <p:nvPr/>
        </p:nvSpPr>
        <p:spPr bwMode="auto">
          <a:xfrm flipV="1">
            <a:off x="4699000" y="6134100"/>
            <a:ext cx="2638425" cy="1588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1" name="Text Box 55"/>
          <p:cNvSpPr txBox="1">
            <a:spLocks noChangeArrowheads="1"/>
          </p:cNvSpPr>
          <p:nvPr/>
        </p:nvSpPr>
        <p:spPr bwMode="auto">
          <a:xfrm>
            <a:off x="192088" y="3760788"/>
            <a:ext cx="666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CC3300"/>
                </a:solidFill>
                <a:latin typeface="Arial" panose="020B0604020202020204" pitchFamily="34" charset="0"/>
              </a:rPr>
              <a:t>lg n</a:t>
            </a:r>
          </a:p>
        </p:txBody>
      </p:sp>
      <p:sp>
        <p:nvSpPr>
          <p:cNvPr id="13322" name="Line 56"/>
          <p:cNvSpPr>
            <a:spLocks noChangeShapeType="1"/>
          </p:cNvSpPr>
          <p:nvPr/>
        </p:nvSpPr>
        <p:spPr bwMode="auto">
          <a:xfrm flipV="1">
            <a:off x="508000" y="1716088"/>
            <a:ext cx="0" cy="18589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3" name="Line 57"/>
          <p:cNvSpPr>
            <a:spLocks noChangeShapeType="1"/>
          </p:cNvSpPr>
          <p:nvPr/>
        </p:nvSpPr>
        <p:spPr bwMode="auto">
          <a:xfrm flipH="1">
            <a:off x="523875" y="4414838"/>
            <a:ext cx="0" cy="1844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4" name="Text Box 58"/>
          <p:cNvSpPr txBox="1">
            <a:spLocks noChangeArrowheads="1"/>
          </p:cNvSpPr>
          <p:nvPr/>
        </p:nvSpPr>
        <p:spPr bwMode="auto">
          <a:xfrm>
            <a:off x="7567613" y="301307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CC3300"/>
                </a:solidFill>
                <a:latin typeface="Arial" panose="020B0604020202020204" pitchFamily="34" charset="0"/>
              </a:rPr>
              <a:t>cn</a:t>
            </a:r>
          </a:p>
        </p:txBody>
      </p:sp>
      <p:sp>
        <p:nvSpPr>
          <p:cNvPr id="13325" name="Text Box 59"/>
          <p:cNvSpPr txBox="1">
            <a:spLocks noChangeArrowheads="1"/>
          </p:cNvSpPr>
          <p:nvPr/>
        </p:nvSpPr>
        <p:spPr bwMode="auto">
          <a:xfrm>
            <a:off x="7567613" y="42735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CC3300"/>
                </a:solidFill>
                <a:latin typeface="Arial" panose="020B0604020202020204" pitchFamily="34" charset="0"/>
              </a:rPr>
              <a:t>cn</a:t>
            </a:r>
          </a:p>
        </p:txBody>
      </p:sp>
      <p:sp>
        <p:nvSpPr>
          <p:cNvPr id="13326" name="Text Box 60"/>
          <p:cNvSpPr txBox="1">
            <a:spLocks noChangeArrowheads="1"/>
          </p:cNvSpPr>
          <p:nvPr/>
        </p:nvSpPr>
        <p:spPr bwMode="auto">
          <a:xfrm>
            <a:off x="7567613" y="589438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CC3300"/>
                </a:solidFill>
                <a:latin typeface="Arial" panose="020B0604020202020204" pitchFamily="34" charset="0"/>
              </a:rPr>
              <a:t>cn</a:t>
            </a:r>
          </a:p>
        </p:txBody>
      </p:sp>
      <p:sp>
        <p:nvSpPr>
          <p:cNvPr id="13327" name="Text Box 61"/>
          <p:cNvSpPr txBox="1">
            <a:spLocks noChangeArrowheads="1"/>
          </p:cNvSpPr>
          <p:nvPr/>
        </p:nvSpPr>
        <p:spPr bwMode="auto">
          <a:xfrm>
            <a:off x="5634038" y="6324600"/>
            <a:ext cx="27608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Arial" panose="020B0604020202020204" pitchFamily="34" charset="0"/>
              </a:rPr>
              <a:t>Total           : O(n </a:t>
            </a:r>
            <a:r>
              <a:rPr lang="en-US" altLang="en-US" sz="2000" b="1" dirty="0" err="1">
                <a:solidFill>
                  <a:srgbClr val="FF0000"/>
                </a:solidFill>
                <a:latin typeface="Arial" panose="020B0604020202020204" pitchFamily="34" charset="0"/>
              </a:rPr>
              <a:t>lg</a:t>
            </a:r>
            <a:r>
              <a:rPr lang="en-US" altLang="en-US" sz="2000" b="1" dirty="0">
                <a:solidFill>
                  <a:srgbClr val="FF0000"/>
                </a:solidFill>
                <a:latin typeface="Arial" panose="020B0604020202020204" pitchFamily="34" charset="0"/>
              </a:rPr>
              <a:t> n)</a:t>
            </a:r>
          </a:p>
        </p:txBody>
      </p:sp>
      <p:sp>
        <p:nvSpPr>
          <p:cNvPr id="13328" name="Text Box 62"/>
          <p:cNvSpPr txBox="1">
            <a:spLocks noChangeArrowheads="1"/>
          </p:cNvSpPr>
          <p:nvPr/>
        </p:nvSpPr>
        <p:spPr bwMode="auto">
          <a:xfrm>
            <a:off x="7567613" y="15875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CC3300"/>
                </a:solidFill>
                <a:latin typeface="Arial" panose="020B0604020202020204" pitchFamily="34" charset="0"/>
              </a:rPr>
              <a:t>cn</a:t>
            </a:r>
          </a:p>
        </p:txBody>
      </p:sp>
    </p:spTree>
    <p:extLst>
      <p:ext uri="{BB962C8B-B14F-4D97-AF65-F5344CB8AC3E}">
        <p14:creationId xmlns:p14="http://schemas.microsoft.com/office/powerpoint/2010/main" val="7033112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89075" y="457200"/>
            <a:ext cx="5978525" cy="514350"/>
          </a:xfrm>
        </p:spPr>
        <p:txBody>
          <a:bodyPr>
            <a:normAutofit/>
          </a:bodyPr>
          <a:lstStyle/>
          <a:p>
            <a:r>
              <a:rPr lang="en-US" altLang="en-US" u="sng" dirty="0"/>
              <a:t>Best-case analysis</a:t>
            </a: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913" y="1600200"/>
            <a:ext cx="7913687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3084723" y="1663547"/>
            <a:ext cx="440675" cy="4296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4940" y="3272010"/>
            <a:ext cx="6887378" cy="2203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6763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0" y="304800"/>
            <a:ext cx="8229600" cy="533400"/>
          </a:xfrm>
        </p:spPr>
        <p:txBody>
          <a:bodyPr>
            <a:normAutofit/>
          </a:bodyPr>
          <a:lstStyle/>
          <a:p>
            <a:pPr algn="ctr"/>
            <a:r>
              <a:rPr lang="en-US" altLang="en-US" u="sng" dirty="0"/>
              <a:t>Worst-case of </a:t>
            </a:r>
            <a:r>
              <a:rPr lang="en-US" altLang="en-US" u="sng" dirty="0" err="1"/>
              <a:t>quicksort</a:t>
            </a:r>
            <a:endParaRPr lang="en-US" altLang="en-US" u="sng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28600" y="1143000"/>
            <a:ext cx="8686800" cy="4983163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  <a:spcAft>
                <a:spcPct val="20000"/>
              </a:spcAft>
              <a:defRPr/>
            </a:pPr>
            <a:r>
              <a:rPr lang="en-US" altLang="en-US" sz="2800" dirty="0">
                <a:solidFill>
                  <a:srgbClr val="CC3300"/>
                </a:solidFill>
              </a:rPr>
              <a:t>Worst-Case Partitioning (Unbalanced Partitions):</a:t>
            </a:r>
          </a:p>
          <a:p>
            <a:pPr lvl="1" algn="just">
              <a:lnSpc>
                <a:spcPct val="90000"/>
              </a:lnSpc>
              <a:spcAft>
                <a:spcPct val="20000"/>
              </a:spcAft>
              <a:defRPr/>
            </a:pPr>
            <a:r>
              <a:rPr lang="en-US" altLang="en-US" sz="2400" dirty="0"/>
              <a:t>Occurs when every call to partition results in the most unbalanced partition.</a:t>
            </a:r>
          </a:p>
          <a:p>
            <a:pPr lvl="1" algn="just">
              <a:lnSpc>
                <a:spcPct val="90000"/>
              </a:lnSpc>
              <a:spcAft>
                <a:spcPct val="20000"/>
              </a:spcAft>
              <a:defRPr/>
            </a:pPr>
            <a:r>
              <a:rPr lang="en-US" altLang="en-US" sz="2400" dirty="0">
                <a:solidFill>
                  <a:schemeClr val="hlink"/>
                </a:solidFill>
              </a:rPr>
              <a:t>Partition is most unbalanced when</a:t>
            </a:r>
          </a:p>
          <a:p>
            <a:pPr lvl="2" algn="just">
              <a:lnSpc>
                <a:spcPct val="90000"/>
              </a:lnSpc>
              <a:spcAft>
                <a:spcPct val="20000"/>
              </a:spcAft>
              <a:defRPr/>
            </a:pPr>
            <a:r>
              <a:rPr lang="en-US" altLang="en-US" sz="2000" dirty="0"/>
              <a:t>Subproblem 1 is of size </a:t>
            </a:r>
            <a:r>
              <a:rPr lang="en-US" altLang="en-US" sz="2000" i="1" dirty="0"/>
              <a:t>n</a:t>
            </a:r>
            <a:r>
              <a:rPr lang="en-US" altLang="en-US" sz="2000" dirty="0"/>
              <a:t> – 1, and subproblem 2 is of size 0 or vice versa.</a:t>
            </a:r>
          </a:p>
          <a:p>
            <a:pPr lvl="2" algn="just">
              <a:lnSpc>
                <a:spcPct val="90000"/>
              </a:lnSpc>
              <a:spcAft>
                <a:spcPct val="20000"/>
              </a:spcAft>
              <a:defRPr/>
            </a:pPr>
            <a:r>
              <a:rPr lang="en-US" altLang="en-US" sz="2000" i="1" dirty="0"/>
              <a:t>pivot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itchFamily="18" charset="2"/>
              </a:rPr>
              <a:t> every element in </a:t>
            </a:r>
            <a:r>
              <a:rPr lang="en-US" altLang="en-US" sz="2000" i="1" dirty="0">
                <a:sym typeface="Symbol" pitchFamily="18" charset="2"/>
              </a:rPr>
              <a:t>A</a:t>
            </a:r>
            <a:r>
              <a:rPr lang="en-US" altLang="en-US" sz="2000" dirty="0">
                <a:sym typeface="Symbol" pitchFamily="18" charset="2"/>
              </a:rPr>
              <a:t>[</a:t>
            </a:r>
            <a:r>
              <a:rPr lang="en-US" altLang="en-US" sz="2000" i="1" dirty="0">
                <a:sym typeface="Symbol" pitchFamily="18" charset="2"/>
              </a:rPr>
              <a:t>p</a:t>
            </a:r>
            <a:r>
              <a:rPr lang="en-US" altLang="en-US" sz="2000" dirty="0">
                <a:sym typeface="Symbol" pitchFamily="18" charset="2"/>
              </a:rPr>
              <a:t>..</a:t>
            </a:r>
            <a:r>
              <a:rPr lang="en-US" altLang="en-US" sz="2000" i="1" dirty="0">
                <a:sym typeface="Symbol" pitchFamily="18" charset="2"/>
              </a:rPr>
              <a:t>r – </a:t>
            </a:r>
            <a:r>
              <a:rPr lang="en-US" altLang="en-US" sz="2000" dirty="0">
                <a:sym typeface="Symbol" pitchFamily="18" charset="2"/>
              </a:rPr>
              <a:t>1] or </a:t>
            </a:r>
            <a:r>
              <a:rPr lang="en-US" altLang="en-US" sz="2000" i="1" dirty="0"/>
              <a:t>pivot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itchFamily="18" charset="2"/>
              </a:rPr>
              <a:t>&lt; every element in </a:t>
            </a:r>
            <a:r>
              <a:rPr lang="en-US" altLang="en-US" sz="2000" i="1" dirty="0">
                <a:sym typeface="Symbol" pitchFamily="18" charset="2"/>
              </a:rPr>
              <a:t>A</a:t>
            </a:r>
            <a:r>
              <a:rPr lang="en-US" altLang="en-US" sz="2000" dirty="0">
                <a:sym typeface="Symbol" pitchFamily="18" charset="2"/>
              </a:rPr>
              <a:t>[</a:t>
            </a:r>
            <a:r>
              <a:rPr lang="en-US" altLang="en-US" sz="2000" i="1" dirty="0">
                <a:sym typeface="Symbol" pitchFamily="18" charset="2"/>
              </a:rPr>
              <a:t>p</a:t>
            </a:r>
            <a:r>
              <a:rPr lang="en-US" altLang="en-US" sz="2000" dirty="0">
                <a:sym typeface="Symbol" pitchFamily="18" charset="2"/>
              </a:rPr>
              <a:t>..</a:t>
            </a:r>
            <a:r>
              <a:rPr lang="en-US" altLang="en-US" sz="2000" i="1" dirty="0">
                <a:sym typeface="Symbol" pitchFamily="18" charset="2"/>
              </a:rPr>
              <a:t>r – </a:t>
            </a:r>
            <a:r>
              <a:rPr lang="en-US" altLang="en-US" sz="2000" dirty="0">
                <a:sym typeface="Symbol" pitchFamily="18" charset="2"/>
              </a:rPr>
              <a:t>1].</a:t>
            </a:r>
          </a:p>
          <a:p>
            <a:pPr lvl="1" algn="just">
              <a:lnSpc>
                <a:spcPct val="90000"/>
              </a:lnSpc>
              <a:spcAft>
                <a:spcPct val="20000"/>
              </a:spcAft>
              <a:defRPr/>
            </a:pPr>
            <a:r>
              <a:rPr lang="en-US" altLang="en-US" sz="2400" dirty="0">
                <a:solidFill>
                  <a:schemeClr val="hlink"/>
                </a:solidFill>
                <a:sym typeface="Symbol" pitchFamily="18" charset="2"/>
              </a:rPr>
              <a:t>Every call to partition is most unbalanced when</a:t>
            </a:r>
          </a:p>
          <a:p>
            <a:pPr lvl="2" algn="just">
              <a:lnSpc>
                <a:spcPct val="90000"/>
              </a:lnSpc>
              <a:spcAft>
                <a:spcPct val="20000"/>
              </a:spcAft>
              <a:defRPr/>
            </a:pPr>
            <a:r>
              <a:rPr lang="en-US" altLang="en-US" sz="2000" b="1" dirty="0">
                <a:sym typeface="Symbol" pitchFamily="18" charset="2"/>
              </a:rPr>
              <a:t>Array </a:t>
            </a:r>
            <a:r>
              <a:rPr lang="en-US" altLang="en-US" sz="2000" b="1" i="1" dirty="0">
                <a:sym typeface="Symbol" pitchFamily="18" charset="2"/>
              </a:rPr>
              <a:t>A</a:t>
            </a:r>
            <a:r>
              <a:rPr lang="en-US" altLang="en-US" sz="2000" b="1" dirty="0">
                <a:sym typeface="Symbol" pitchFamily="18" charset="2"/>
              </a:rPr>
              <a:t>[1..</a:t>
            </a:r>
            <a:r>
              <a:rPr lang="en-US" altLang="en-US" sz="2000" b="1" i="1" dirty="0">
                <a:sym typeface="Symbol" pitchFamily="18" charset="2"/>
              </a:rPr>
              <a:t>n</a:t>
            </a:r>
            <a:r>
              <a:rPr lang="en-US" altLang="en-US" sz="2000" b="1" dirty="0">
                <a:sym typeface="Symbol" pitchFamily="18" charset="2"/>
              </a:rPr>
              <a:t>] is sorted or reverse sorted!</a:t>
            </a:r>
          </a:p>
          <a:p>
            <a:pPr lvl="2" algn="just">
              <a:lnSpc>
                <a:spcPct val="90000"/>
              </a:lnSpc>
              <a:spcAft>
                <a:spcPct val="20000"/>
              </a:spcAft>
              <a:defRPr/>
            </a:pPr>
            <a:r>
              <a:rPr lang="en-US" altLang="en-US" sz="2000" dirty="0"/>
              <a:t>One side of partition always has one element.</a:t>
            </a:r>
            <a:endParaRPr lang="en-US" altLang="en-US" sz="2000" b="1" dirty="0">
              <a:sym typeface="Symbol" pitchFamily="18" charset="2"/>
            </a:endParaRPr>
          </a:p>
          <a:p>
            <a:pPr marL="609600" indent="-609600" algn="just">
              <a:defRPr/>
            </a:pPr>
            <a:endParaRPr lang="en-US" altLang="en-US" sz="2800" dirty="0"/>
          </a:p>
          <a:p>
            <a:pPr marL="0" indent="0" algn="just">
              <a:buFont typeface="Monotype Sorts" pitchFamily="2" charset="2"/>
              <a:buNone/>
              <a:defRPr/>
            </a:pPr>
            <a:r>
              <a:rPr lang="en-US" altLang="en-US" sz="2800" dirty="0"/>
              <a:t>	</a:t>
            </a:r>
          </a:p>
          <a:p>
            <a:pPr marL="0" indent="0" algn="just">
              <a:buFont typeface="Monotype Sorts" pitchFamily="2" charset="2"/>
              <a:buNone/>
              <a:defRPr/>
            </a:pPr>
            <a:r>
              <a:rPr lang="en-US" altLang="en-US" sz="2800" dirty="0"/>
              <a:t>	</a:t>
            </a:r>
          </a:p>
          <a:p>
            <a:pPr marL="0" indent="0" algn="just">
              <a:buFont typeface="Monotype Sorts" pitchFamily="2" charset="2"/>
              <a:buNone/>
              <a:defRPr/>
            </a:pPr>
            <a:endParaRPr lang="en-US" altLang="en-US" sz="2800" dirty="0"/>
          </a:p>
        </p:txBody>
      </p:sp>
      <p:pic>
        <p:nvPicPr>
          <p:cNvPr id="819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075" y="4511675"/>
            <a:ext cx="5394325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66975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89075" y="171450"/>
            <a:ext cx="5978525" cy="514350"/>
          </a:xfrm>
        </p:spPr>
        <p:txBody>
          <a:bodyPr>
            <a:normAutofit/>
          </a:bodyPr>
          <a:lstStyle/>
          <a:p>
            <a:r>
              <a:rPr lang="en-US" altLang="en-US" u="sng" dirty="0"/>
              <a:t>Worst-case recursion tree</a:t>
            </a:r>
          </a:p>
        </p:txBody>
      </p:sp>
      <p:pic>
        <p:nvPicPr>
          <p:cNvPr id="1126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28800"/>
            <a:ext cx="7335838" cy="420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1007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459472"/>
            <a:ext cx="6172200" cy="59517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64192"/>
            <a:ext cx="1806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 to sort /</a:t>
            </a:r>
          </a:p>
        </p:txBody>
      </p:sp>
      <p:sp>
        <p:nvSpPr>
          <p:cNvPr id="7" name="Rectangle 6"/>
          <p:cNvSpPr/>
          <p:nvPr/>
        </p:nvSpPr>
        <p:spPr>
          <a:xfrm>
            <a:off x="668740" y="1752600"/>
            <a:ext cx="7601803" cy="9760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21140" y="2667000"/>
            <a:ext cx="7601803" cy="9760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21140" y="3595929"/>
            <a:ext cx="7601803" cy="9760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21140" y="4662729"/>
            <a:ext cx="7601803" cy="17485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51765" y="4151293"/>
            <a:ext cx="7696199" cy="95410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pt-B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−1)+</a:t>
            </a:r>
            <a:r>
              <a:rPr lang="pt-B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−2)+⋯+2</a:t>
            </a:r>
            <a:r>
              <a:rPr lang="pt-B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​=</a:t>
            </a:r>
            <a:r>
              <a:rPr lang="pt-B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+(</a:t>
            </a:r>
            <a:r>
              <a:rPr lang="pt-B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−1)+(</a:t>
            </a:r>
            <a:r>
              <a:rPr lang="pt-B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−2)+⋯+2)</a:t>
            </a:r>
          </a:p>
          <a:p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pt-B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+1)(</a:t>
            </a:r>
            <a:r>
              <a:rPr lang="pt-B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/2)−1) .​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95400" y="5257800"/>
            <a:ext cx="6408761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So, in the worst case, it runs in </a:t>
            </a:r>
            <a:r>
              <a:rPr lang="en-US" sz="2400" i="1" dirty="0">
                <a:solidFill>
                  <a:srgbClr val="FF0000"/>
                </a:solidFill>
              </a:rPr>
              <a:t>O(n</a:t>
            </a:r>
            <a:r>
              <a:rPr lang="en-US" sz="2400" i="1" baseline="30000" dirty="0">
                <a:solidFill>
                  <a:srgbClr val="FF0000"/>
                </a:solidFill>
              </a:rPr>
              <a:t>2</a:t>
            </a:r>
            <a:r>
              <a:rPr lang="en-US" sz="2400" i="1" dirty="0">
                <a:solidFill>
                  <a:srgbClr val="FF0000"/>
                </a:solidFill>
              </a:rPr>
              <a:t>)</a:t>
            </a:r>
            <a:r>
              <a:rPr lang="en-US" sz="2400" dirty="0"/>
              <a:t> time.</a:t>
            </a:r>
          </a:p>
        </p:txBody>
      </p:sp>
    </p:spTree>
    <p:extLst>
      <p:ext uri="{BB962C8B-B14F-4D97-AF65-F5344CB8AC3E}">
        <p14:creationId xmlns:p14="http://schemas.microsoft.com/office/powerpoint/2010/main" val="1189476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228600"/>
            <a:ext cx="8229600" cy="685800"/>
          </a:xfrm>
        </p:spPr>
        <p:txBody>
          <a:bodyPr>
            <a:normAutofit/>
          </a:bodyPr>
          <a:lstStyle/>
          <a:p>
            <a:r>
              <a:rPr lang="en-US" altLang="en-US" u="sng" dirty="0"/>
              <a:t>Expected Running time of </a:t>
            </a:r>
            <a:r>
              <a:rPr lang="en-US" altLang="en-US" u="sng" dirty="0" err="1"/>
              <a:t>QuickSort</a:t>
            </a:r>
            <a:endParaRPr lang="en-US" altLang="en-US" u="sng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200" y="1143000"/>
            <a:ext cx="8305800" cy="5334000"/>
          </a:xfrm>
        </p:spPr>
        <p:txBody>
          <a:bodyPr>
            <a:normAutofit/>
          </a:bodyPr>
          <a:lstStyle/>
          <a:p>
            <a:pPr marL="231775" indent="-231775" algn="just">
              <a:spcBef>
                <a:spcPts val="1200"/>
              </a:spcBef>
              <a:buFont typeface="Wingdings" pitchFamily="2" charset="2"/>
              <a:buChar char="§"/>
              <a:defRPr/>
            </a:pPr>
            <a:r>
              <a:rPr lang="en-US" altLang="en-US" sz="3200" dirty="0"/>
              <a:t>We can show that the expected running time of </a:t>
            </a:r>
            <a:r>
              <a:rPr lang="en-US" altLang="en-US" sz="3200" dirty="0" err="1"/>
              <a:t>QuickSort</a:t>
            </a:r>
            <a:r>
              <a:rPr lang="en-US" altLang="en-US" sz="3200" dirty="0"/>
              <a:t> is O(</a:t>
            </a:r>
            <a:r>
              <a:rPr lang="en-US" altLang="en-US" sz="3200" dirty="0" err="1"/>
              <a:t>nlg</a:t>
            </a:r>
            <a:r>
              <a:rPr lang="en-US" altLang="en-US" sz="3200" dirty="0"/>
              <a:t> n), same as that of </a:t>
            </a:r>
            <a:r>
              <a:rPr lang="en-US" altLang="en-US" sz="3200" dirty="0" err="1"/>
              <a:t>MergeSort</a:t>
            </a:r>
            <a:r>
              <a:rPr lang="en-US" altLang="en-US" sz="3200" dirty="0"/>
              <a:t>. </a:t>
            </a:r>
          </a:p>
          <a:p>
            <a:pPr marL="231775" indent="-231775" algn="just">
              <a:spcBef>
                <a:spcPts val="1200"/>
              </a:spcBef>
              <a:buFont typeface="Wingdings" pitchFamily="2" charset="2"/>
              <a:buChar char="§"/>
              <a:defRPr/>
            </a:pPr>
            <a:r>
              <a:rPr lang="en-US" altLang="en-US" sz="3200" dirty="0"/>
              <a:t>So, even though, the worst case running time of </a:t>
            </a:r>
            <a:r>
              <a:rPr lang="en-US" altLang="en-US" sz="3200" dirty="0" err="1"/>
              <a:t>QuickSort</a:t>
            </a:r>
            <a:r>
              <a:rPr lang="en-US" altLang="en-US" sz="3200" dirty="0"/>
              <a:t> is worse than that of </a:t>
            </a:r>
            <a:r>
              <a:rPr lang="en-US" altLang="en-US" sz="3200" dirty="0" err="1"/>
              <a:t>MergeSort</a:t>
            </a:r>
            <a:r>
              <a:rPr lang="en-US" altLang="en-US" sz="3200" dirty="0"/>
              <a:t>, its Average running time is comparable to that of </a:t>
            </a:r>
            <a:r>
              <a:rPr lang="en-US" altLang="en-US" sz="3200" dirty="0" err="1" smtClean="0"/>
              <a:t>MergeSort</a:t>
            </a:r>
            <a:r>
              <a:rPr lang="en-US" altLang="en-US" sz="3200" dirty="0"/>
              <a:t>.</a:t>
            </a:r>
          </a:p>
          <a:p>
            <a:pPr marL="231775" indent="-231775" algn="just">
              <a:spcBef>
                <a:spcPts val="1200"/>
              </a:spcBef>
              <a:buFont typeface="Wingdings" pitchFamily="2" charset="2"/>
              <a:buChar char="§"/>
              <a:defRPr/>
            </a:pPr>
            <a:r>
              <a:rPr lang="en-US" altLang="en-US" sz="3200" dirty="0"/>
              <a:t>For the sake of simplicity, we omit the mathematical details of the calculation of expected running time of </a:t>
            </a:r>
            <a:r>
              <a:rPr lang="en-US" altLang="en-US" sz="3200" dirty="0" err="1"/>
              <a:t>QuickSort</a:t>
            </a:r>
            <a:r>
              <a:rPr lang="en-US" alt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0042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00" y="76200"/>
            <a:ext cx="8229600" cy="492443"/>
          </a:xfrm>
        </p:spPr>
        <p:txBody>
          <a:bodyPr/>
          <a:lstStyle/>
          <a:p>
            <a:pPr eaLnBrk="1" hangingPunct="1"/>
            <a:r>
              <a:rPr lang="tr-TR" b="1" u="sng" dirty="0">
                <a:solidFill>
                  <a:srgbClr val="CC3300"/>
                </a:solidFill>
              </a:rPr>
              <a:t>Randomized quicksort</a:t>
            </a:r>
            <a:endParaRPr lang="en-US" b="1" u="sng" dirty="0">
              <a:solidFill>
                <a:srgbClr val="CC3300"/>
              </a:solidFill>
            </a:endParaRPr>
          </a:p>
        </p:txBody>
      </p:sp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624012"/>
            <a:ext cx="7796213" cy="500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85800" y="798493"/>
            <a:ext cx="7391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How can we </a:t>
            </a:r>
            <a:r>
              <a:rPr lang="en-US" sz="2800" b="1" dirty="0"/>
              <a:t>ENSURE</a:t>
            </a:r>
            <a:r>
              <a:rPr lang="en-US" sz="2800" dirty="0"/>
              <a:t> that each element of A are equally likely to be the pivot?</a:t>
            </a:r>
          </a:p>
        </p:txBody>
      </p:sp>
    </p:spTree>
    <p:extLst>
      <p:ext uri="{BB962C8B-B14F-4D97-AF65-F5344CB8AC3E}">
        <p14:creationId xmlns:p14="http://schemas.microsoft.com/office/powerpoint/2010/main" val="30008711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79475" y="146447"/>
            <a:ext cx="5978525" cy="615553"/>
          </a:xfrm>
        </p:spPr>
        <p:txBody>
          <a:bodyPr/>
          <a:lstStyle/>
          <a:p>
            <a:pPr eaLnBrk="1" hangingPunct="1"/>
            <a:r>
              <a:rPr lang="tr-TR" sz="4000" b="1" u="sng" dirty="0">
                <a:solidFill>
                  <a:srgbClr val="CC3300"/>
                </a:solidFill>
              </a:rPr>
              <a:t>Randomized quicksort</a:t>
            </a:r>
            <a:endParaRPr lang="en-US" sz="4000" b="1" u="sng" dirty="0">
              <a:solidFill>
                <a:srgbClr val="CC3300"/>
              </a:solidFill>
            </a:endParaRPr>
          </a:p>
        </p:txBody>
      </p:sp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2060575"/>
            <a:ext cx="6958012" cy="461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0" name="TextBox 3"/>
          <p:cNvSpPr txBox="1">
            <a:spLocks noChangeArrowheads="1"/>
          </p:cNvSpPr>
          <p:nvPr/>
        </p:nvSpPr>
        <p:spPr bwMode="auto">
          <a:xfrm>
            <a:off x="611188" y="1412875"/>
            <a:ext cx="75295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tr-TR" sz="3600"/>
              <a:t>Standard Problematic Algorithm :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13407830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31875" y="171450"/>
            <a:ext cx="5978525" cy="615553"/>
          </a:xfrm>
        </p:spPr>
        <p:txBody>
          <a:bodyPr/>
          <a:lstStyle/>
          <a:p>
            <a:pPr eaLnBrk="1" hangingPunct="1"/>
            <a:r>
              <a:rPr lang="tr-TR" sz="4000" b="1" u="sng" dirty="0">
                <a:solidFill>
                  <a:srgbClr val="CC3300"/>
                </a:solidFill>
              </a:rPr>
              <a:t>Randomized quicksort</a:t>
            </a:r>
            <a:endParaRPr lang="en-US" sz="4000" b="1" u="sng" dirty="0">
              <a:solidFill>
                <a:srgbClr val="CC33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1219200"/>
            <a:ext cx="7143750" cy="200054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tr-TR" sz="2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ANDOMIZED-PARTITION (</a:t>
            </a:r>
            <a:r>
              <a:rPr lang="tr-TR" sz="24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A, p, r</a:t>
            </a: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457200" indent="-457200">
              <a:buFontTx/>
              <a:buAutoNum type="arabicPlain"/>
              <a:defRPr/>
            </a:pPr>
            <a:r>
              <a:rPr lang="tr-TR" sz="24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←RANDOM(</a:t>
            </a:r>
            <a:r>
              <a:rPr lang="tr-TR" sz="24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p, r</a:t>
            </a: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457200" indent="-457200">
              <a:buFontTx/>
              <a:buAutoNum type="arabicPlain"/>
              <a:defRPr/>
            </a:pPr>
            <a:r>
              <a:rPr lang="tr-TR" sz="2400" b="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exchange</a:t>
            </a: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A[</a:t>
            </a:r>
            <a:r>
              <a:rPr lang="tr-TR" sz="24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]↔A[</a:t>
            </a:r>
            <a:r>
              <a:rPr lang="tr-TR" sz="24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]</a:t>
            </a:r>
          </a:p>
          <a:p>
            <a:pPr marL="457200" indent="-457200">
              <a:buFontTx/>
              <a:buAutoNum type="arabicPlain"/>
              <a:defRPr/>
            </a:pPr>
            <a:r>
              <a:rPr lang="tr-TR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tr-T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PARTITION(</a:t>
            </a:r>
            <a:r>
              <a:rPr lang="tr-TR" sz="24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A, p, r</a:t>
            </a: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457200" indent="-457200">
              <a:buFontTx/>
              <a:buAutoNum type="arabicPlain"/>
              <a:defRPr/>
            </a:pPr>
            <a:endParaRPr lang="tr-TR" sz="2400" b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6800" y="3276600"/>
            <a:ext cx="714375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RANDOMIZED-QUICKSORT (</a:t>
            </a:r>
            <a:r>
              <a:rPr lang="tr-TR" sz="24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A,p,r</a:t>
            </a: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457200" indent="-457200">
              <a:buFontTx/>
              <a:buAutoNum type="arabicPlain"/>
              <a:defRPr/>
            </a:pPr>
            <a:r>
              <a:rPr lang="tr-TR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4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tr-TR" sz="24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</a:t>
            </a:r>
          </a:p>
          <a:p>
            <a:pPr marL="457200" indent="-457200">
              <a:buFontTx/>
              <a:buAutoNum type="arabicPlain"/>
              <a:defRPr/>
            </a:pPr>
            <a:r>
              <a:rPr lang="tr-TR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then</a:t>
            </a: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4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←</a:t>
            </a:r>
            <a:r>
              <a:rPr lang="tr-TR" sz="2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ANDOMIZED-PARTITION (</a:t>
            </a:r>
            <a:r>
              <a:rPr lang="tr-TR" sz="24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A, p, r</a:t>
            </a: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defRPr/>
            </a:pP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	 </a:t>
            </a:r>
            <a:r>
              <a:rPr lang="tr-TR" sz="2400" b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RANDOMIZED-QUICKSORT (</a:t>
            </a:r>
            <a:r>
              <a:rPr lang="tr-TR" sz="2400" b="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A, p, q</a:t>
            </a:r>
            <a:r>
              <a:rPr lang="tr-TR" sz="2400" b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-1)</a:t>
            </a:r>
          </a:p>
          <a:p>
            <a:pPr marL="914400" lvl="1" indent="-457200">
              <a:defRPr/>
            </a:pPr>
            <a:r>
              <a:rPr lang="tr-T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tr-TR" sz="2400" b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RANDOMIZED-QUICKSORT (</a:t>
            </a:r>
            <a:r>
              <a:rPr lang="tr-TR" sz="2400" b="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A, q+</a:t>
            </a:r>
            <a:r>
              <a:rPr lang="tr-TR" sz="2400" b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1, </a:t>
            </a:r>
            <a:r>
              <a:rPr lang="tr-TR" sz="2400" b="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tr-TR" sz="2400" b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638800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Average and worst case running time of Randomized-</a:t>
            </a:r>
            <a:r>
              <a:rPr lang="en-US" dirty="0" err="1">
                <a:solidFill>
                  <a:srgbClr val="C00000"/>
                </a:solidFill>
              </a:rPr>
              <a:t>QuickSort</a:t>
            </a:r>
            <a:r>
              <a:rPr lang="en-US" dirty="0">
                <a:solidFill>
                  <a:srgbClr val="C00000"/>
                </a:solidFill>
              </a:rPr>
              <a:t> is the same as that of </a:t>
            </a:r>
            <a:r>
              <a:rPr lang="en-US" dirty="0" err="1">
                <a:solidFill>
                  <a:srgbClr val="C00000"/>
                </a:solidFill>
              </a:rPr>
              <a:t>QuickSort</a:t>
            </a:r>
            <a:r>
              <a:rPr lang="en-US" dirty="0">
                <a:solidFill>
                  <a:srgbClr val="C00000"/>
                </a:solidFill>
              </a:rPr>
              <a:t>; but in practice Randomized-</a:t>
            </a:r>
            <a:r>
              <a:rPr lang="en-US" dirty="0" err="1">
                <a:solidFill>
                  <a:srgbClr val="C00000"/>
                </a:solidFill>
              </a:rPr>
              <a:t>QuickSort</a:t>
            </a:r>
            <a:r>
              <a:rPr lang="en-US" dirty="0">
                <a:solidFill>
                  <a:srgbClr val="C00000"/>
                </a:solidFill>
              </a:rPr>
              <a:t> is typically much faster</a:t>
            </a:r>
          </a:p>
        </p:txBody>
      </p:sp>
    </p:spTree>
    <p:extLst>
      <p:ext uri="{BB962C8B-B14F-4D97-AF65-F5344CB8AC3E}">
        <p14:creationId xmlns:p14="http://schemas.microsoft.com/office/powerpoint/2010/main" val="7894388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79475" y="298847"/>
            <a:ext cx="5978525" cy="615553"/>
          </a:xfrm>
        </p:spPr>
        <p:txBody>
          <a:bodyPr/>
          <a:lstStyle/>
          <a:p>
            <a:pPr eaLnBrk="1" hangingPunct="1"/>
            <a:r>
              <a:rPr lang="tr-TR" sz="4000" b="1" u="sng" dirty="0">
                <a:solidFill>
                  <a:srgbClr val="CC3300"/>
                </a:solidFill>
              </a:rPr>
              <a:t>Quicksort in practice</a:t>
            </a:r>
            <a:endParaRPr lang="en-US" sz="4000" b="1" u="sng" dirty="0">
              <a:solidFill>
                <a:srgbClr val="CC3300"/>
              </a:solidFill>
            </a:endParaRPr>
          </a:p>
        </p:txBody>
      </p:sp>
      <p:pic>
        <p:nvPicPr>
          <p:cNvPr id="59395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850" y="1997075"/>
            <a:ext cx="6972300" cy="409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219200" y="4114800"/>
            <a:ext cx="7010400" cy="1981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908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342</TotalTime>
  <Words>4318</Words>
  <Application>Microsoft Office PowerPoint</Application>
  <PresentationFormat>On-screen Show (4:3)</PresentationFormat>
  <Paragraphs>790</Paragraphs>
  <Slides>48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Arial</vt:lpstr>
      <vt:lpstr>Calibri</vt:lpstr>
      <vt:lpstr>Monotype Sorts</vt:lpstr>
      <vt:lpstr>Symbol</vt:lpstr>
      <vt:lpstr>Times New Roman</vt:lpstr>
      <vt:lpstr>Wingdings</vt:lpstr>
      <vt:lpstr>Office Theme</vt:lpstr>
      <vt:lpstr>PowerPoint Presentation</vt:lpstr>
      <vt:lpstr>Quicksort</vt:lpstr>
      <vt:lpstr>Pseudocode</vt:lpstr>
      <vt:lpstr>Example</vt:lpstr>
      <vt:lpstr>Example (Continued)</vt:lpstr>
      <vt:lpstr>Partitioning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 Hoare’s Quicksort Example:</vt:lpstr>
      <vt:lpstr>Complexity of Partition</vt:lpstr>
      <vt:lpstr>Algorithm Performance</vt:lpstr>
      <vt:lpstr>Best-case Partitioning</vt:lpstr>
      <vt:lpstr>Recursion Tree for Best-case Partition</vt:lpstr>
      <vt:lpstr>Best-case analysis</vt:lpstr>
      <vt:lpstr>Worst-case of quicksort</vt:lpstr>
      <vt:lpstr>Worst-case recursion tree</vt:lpstr>
      <vt:lpstr>PowerPoint Presentation</vt:lpstr>
      <vt:lpstr>Expected Running time of QuickSort</vt:lpstr>
      <vt:lpstr>Randomized quicksort</vt:lpstr>
      <vt:lpstr>Randomized quicksort</vt:lpstr>
      <vt:lpstr>Randomized quicksort</vt:lpstr>
      <vt:lpstr>Quicksort in 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is it the best?</dc:title>
  <cp:lastModifiedBy>HP</cp:lastModifiedBy>
  <cp:revision>45</cp:revision>
  <dcterms:created xsi:type="dcterms:W3CDTF">2019-02-09T14:40:35Z</dcterms:created>
  <dcterms:modified xsi:type="dcterms:W3CDTF">2026-04-23T16:14:23Z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2015-05-06T00:00:00Z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2019-02-09T00:00:00Z</vt:filetime>
  </property>
</Properties>
</file>