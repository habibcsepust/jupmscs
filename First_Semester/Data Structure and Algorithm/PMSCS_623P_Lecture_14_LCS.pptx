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9" r:id="rId13"/>
    <p:sldId id="300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4707" autoAdjust="0"/>
  </p:normalViewPr>
  <p:slideViewPr>
    <p:cSldViewPr snapToGrid="0">
      <p:cViewPr varScale="1">
        <p:scale>
          <a:sx n="108" d="100"/>
          <a:sy n="108" d="100"/>
        </p:scale>
        <p:origin x="196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7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5C3-1C8D-4823-B958-BA8803C0A81E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2F914-BB01-4482-A918-FC46208E99BF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7151-5416-439F-8EE2-F0B781452D25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C09AB-6389-4D07-99DC-4682479B1022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75E5-8BF7-4071-B04F-86EF4E9149E3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FE10-D918-4CF1-B18C-B44892690C84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1CE6-EC2C-42D2-96E4-D8E16E7E7178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E575-FED0-4667-A0DE-ED69234AAC61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9D8E7-BFF8-4CCB-B2A2-90FB3821BC33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6DE7-7B07-4830-AB95-ADAFE51FBC61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DCF2-F3FD-4872-972A-CA27ACB62ED0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3E44009E-71A8-4FDA-B129-0A090A1C26DF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00BB5-86BC-469E-B7A5-90330477910C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7"/>
            <a:ext cx="7765269" cy="1550163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199"/>
              </a:spcAft>
            </a:pPr>
            <a:r>
              <a:rPr lang="en-US" altLang="en-US" sz="6595" b="1" dirty="0"/>
              <a:t>Data Structure and Algorithm</a:t>
            </a:r>
            <a:br>
              <a:rPr lang="en-US" altLang="en-US" sz="6595" b="1" dirty="0"/>
            </a:br>
            <a:r>
              <a:rPr lang="en-US" altLang="en-US" sz="4796" b="1" dirty="0"/>
              <a:t>(PMSCS 623P)</a:t>
            </a:r>
            <a:endParaRPr lang="en-US" altLang="en-US" sz="4796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5400"/>
              <a:t>Lecture </a:t>
            </a:r>
            <a:r>
              <a:rPr lang="en-US" sz="5400" smtClean="0"/>
              <a:t>14</a:t>
            </a:r>
            <a:endParaRPr lang="en-US" sz="5400" dirty="0"/>
          </a:p>
          <a:p>
            <a:pPr marL="0" indent="0" algn="ctr">
              <a:buNone/>
              <a:defRPr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Dynamic Programming</a:t>
            </a:r>
          </a:p>
          <a:p>
            <a:pPr marL="0" indent="0" algn="ctr">
              <a:buNone/>
              <a:defRPr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libri (body)"/>
              </a:rPr>
              <a:t>(</a:t>
            </a:r>
            <a:r>
              <a:rPr lang="en-US" altLang="en-US" sz="2400" b="1" dirty="0"/>
              <a:t>LCS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libri (body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979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Longest Common Subsequence (LCS)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Given two sequences</a:t>
            </a:r>
          </a:p>
          <a:p>
            <a:pPr eaLnBrk="1" hangingPunct="1">
              <a:buFontTx/>
              <a:buNone/>
            </a:pPr>
            <a:r>
              <a:rPr lang="en-US" dirty="0"/>
              <a:t>		X = </a:t>
            </a:r>
            <a:r>
              <a:rPr lang="en-US" dirty="0">
                <a:sym typeface="Symbol" panose="05050102010706020507" pitchFamily="18" charset="2"/>
              </a:rPr>
              <a:t>x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x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…, </a:t>
            </a:r>
            <a:r>
              <a:rPr lang="en-US" dirty="0" err="1">
                <a:sym typeface="Symbol" panose="05050102010706020507" pitchFamily="18" charset="2"/>
              </a:rPr>
              <a:t>x</a:t>
            </a:r>
            <a:r>
              <a:rPr lang="en-US" baseline="-25000" dirty="0" err="1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</a:t>
            </a:r>
          </a:p>
          <a:p>
            <a:pPr eaLnBrk="1" hangingPunct="1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</a:t>
            </a:r>
            <a:r>
              <a:rPr lang="en-US" dirty="0"/>
              <a:t>Y = </a:t>
            </a:r>
            <a:r>
              <a:rPr lang="en-US" dirty="0">
                <a:sym typeface="Symbol" panose="05050102010706020507" pitchFamily="18" charset="2"/>
              </a:rPr>
              <a:t>y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y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…, </a:t>
            </a:r>
            <a:r>
              <a:rPr lang="en-US" dirty="0" err="1">
                <a:sym typeface="Symbol" panose="05050102010706020507" pitchFamily="18" charset="2"/>
              </a:rPr>
              <a:t>y</a:t>
            </a:r>
            <a:r>
              <a:rPr lang="en-US" baseline="-25000" dirty="0" err="1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</a:t>
            </a:r>
          </a:p>
          <a:p>
            <a:pPr eaLnBrk="1" hangingPunct="1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find a maximum length common subsequence (LCS) of X and Y</a:t>
            </a:r>
          </a:p>
          <a:p>
            <a:endParaRPr lang="en-US" dirty="0"/>
          </a:p>
          <a:p>
            <a:r>
              <a:rPr lang="en-US" dirty="0"/>
              <a:t>Application: comparison of two DNA strings</a:t>
            </a:r>
          </a:p>
        </p:txBody>
      </p:sp>
    </p:spTree>
    <p:extLst>
      <p:ext uri="{BB962C8B-B14F-4D97-AF65-F5344CB8AC3E}">
        <p14:creationId xmlns:p14="http://schemas.microsoft.com/office/powerpoint/2010/main" val="221044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X = A, B, C, B, D, A, B       X = A, B, C, B, D, A, B</a:t>
            </a:r>
          </a:p>
          <a:p>
            <a:pPr eaLnBrk="1" hangingPunct="1"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Y = B, D, C, A, B, A	Y = B, D, C, A, B, A</a:t>
            </a:r>
          </a:p>
          <a:p>
            <a:pPr eaLnBrk="1" hangingPunct="1"/>
            <a:endParaRPr 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en-US" dirty="0">
                <a:sym typeface="Symbol" panose="05050102010706020507" pitchFamily="18" charset="2"/>
              </a:rPr>
              <a:t>Both B, C, B, A and B, D, A, B are longest common subsequences of X and Y (length = 4) </a:t>
            </a:r>
          </a:p>
          <a:p>
            <a:pPr eaLnBrk="1" hangingPunct="1"/>
            <a:endParaRPr 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en-US" dirty="0">
                <a:sym typeface="Symbol" panose="05050102010706020507" pitchFamily="18" charset="2"/>
              </a:rPr>
              <a:t>B, C, A is a common subsequence of X and Y, however it is not a LCS of X and Y</a:t>
            </a:r>
          </a:p>
        </p:txBody>
      </p:sp>
      <p:sp>
        <p:nvSpPr>
          <p:cNvPr id="648196" name="Line 4"/>
          <p:cNvSpPr>
            <a:spLocks noChangeShapeType="1"/>
          </p:cNvSpPr>
          <p:nvPr/>
        </p:nvSpPr>
        <p:spPr bwMode="auto">
          <a:xfrm flipH="1">
            <a:off x="958851" y="1856581"/>
            <a:ext cx="377825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197" name="Line 5"/>
          <p:cNvSpPr>
            <a:spLocks noChangeShapeType="1"/>
          </p:cNvSpPr>
          <p:nvPr/>
        </p:nvSpPr>
        <p:spPr bwMode="auto">
          <a:xfrm>
            <a:off x="1721303" y="1878013"/>
            <a:ext cx="0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198" name="Line 6"/>
          <p:cNvSpPr>
            <a:spLocks noChangeShapeType="1"/>
          </p:cNvSpPr>
          <p:nvPr/>
        </p:nvSpPr>
        <p:spPr bwMode="auto">
          <a:xfrm>
            <a:off x="2054226" y="1858168"/>
            <a:ext cx="400050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199" name="Line 7"/>
          <p:cNvSpPr>
            <a:spLocks noChangeShapeType="1"/>
          </p:cNvSpPr>
          <p:nvPr/>
        </p:nvSpPr>
        <p:spPr bwMode="auto">
          <a:xfrm flipH="1">
            <a:off x="2787198" y="1856581"/>
            <a:ext cx="22225" cy="665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200" name="Line 8"/>
          <p:cNvSpPr>
            <a:spLocks noChangeShapeType="1"/>
          </p:cNvSpPr>
          <p:nvPr/>
        </p:nvSpPr>
        <p:spPr bwMode="auto">
          <a:xfrm flipH="1">
            <a:off x="4639492" y="1878013"/>
            <a:ext cx="422275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201" name="Line 9"/>
          <p:cNvSpPr>
            <a:spLocks noChangeShapeType="1"/>
          </p:cNvSpPr>
          <p:nvPr/>
        </p:nvSpPr>
        <p:spPr bwMode="auto">
          <a:xfrm flipH="1">
            <a:off x="4941095" y="1813717"/>
            <a:ext cx="1271587" cy="722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202" name="Line 10"/>
          <p:cNvSpPr>
            <a:spLocks noChangeShapeType="1"/>
          </p:cNvSpPr>
          <p:nvPr/>
        </p:nvSpPr>
        <p:spPr bwMode="auto">
          <a:xfrm flipH="1">
            <a:off x="5773738" y="1856581"/>
            <a:ext cx="733086" cy="706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8203" name="Line 11"/>
          <p:cNvSpPr>
            <a:spLocks noChangeShapeType="1"/>
          </p:cNvSpPr>
          <p:nvPr/>
        </p:nvSpPr>
        <p:spPr bwMode="auto">
          <a:xfrm flipH="1">
            <a:off x="6105141" y="1878013"/>
            <a:ext cx="678836" cy="6643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7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Brute-Force Solution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/>
              <a:t>For every subsequence of X, check whether it’s a subsequence of Y</a:t>
            </a:r>
          </a:p>
          <a:p>
            <a:pPr eaLnBrk="1" hangingPunct="1">
              <a:lnSpc>
                <a:spcPct val="150000"/>
              </a:lnSpc>
            </a:pPr>
            <a:r>
              <a:rPr lang="en-US"/>
              <a:t>There are </a:t>
            </a:r>
            <a:r>
              <a:rPr lang="en-US">
                <a:latin typeface="Comic Sans MS" panose="030F0702030302020204" pitchFamily="66" charset="0"/>
              </a:rPr>
              <a:t>2</a:t>
            </a:r>
            <a:r>
              <a:rPr lang="en-US" baseline="30000">
                <a:latin typeface="Comic Sans MS" panose="030F0702030302020204" pitchFamily="66" charset="0"/>
              </a:rPr>
              <a:t>m</a:t>
            </a:r>
            <a:r>
              <a:rPr lang="en-US"/>
              <a:t> subsequences of X to check</a:t>
            </a:r>
          </a:p>
          <a:p>
            <a:pPr eaLnBrk="1" hangingPunct="1">
              <a:lnSpc>
                <a:spcPct val="150000"/>
              </a:lnSpc>
            </a:pPr>
            <a:r>
              <a:rPr lang="en-US"/>
              <a:t>Each subsequence takes </a:t>
            </a:r>
            <a:r>
              <a:rPr lang="en-US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>
                <a:latin typeface="Comic Sans MS" panose="030F0702030302020204" pitchFamily="66" charset="0"/>
              </a:rPr>
              <a:t>(n)</a:t>
            </a:r>
            <a:r>
              <a:rPr lang="en-US"/>
              <a:t> time to check</a:t>
            </a:r>
          </a:p>
          <a:p>
            <a:pPr lvl="1" eaLnBrk="1" hangingPunct="1">
              <a:lnSpc>
                <a:spcPct val="150000"/>
              </a:lnSpc>
            </a:pPr>
            <a:r>
              <a:rPr lang="en-US"/>
              <a:t>scan Y for first letter, from there scan for second, and so on</a:t>
            </a:r>
          </a:p>
          <a:p>
            <a:pPr eaLnBrk="1" hangingPunct="1">
              <a:lnSpc>
                <a:spcPct val="150000"/>
              </a:lnSpc>
            </a:pPr>
            <a:r>
              <a:rPr lang="en-US"/>
              <a:t>Running time: </a:t>
            </a:r>
            <a:r>
              <a:rPr lang="en-US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>
                <a:latin typeface="Comic Sans MS" panose="030F0702030302020204" pitchFamily="66" charset="0"/>
              </a:rPr>
              <a:t>(n2</a:t>
            </a:r>
            <a:r>
              <a:rPr lang="en-US" baseline="30000">
                <a:latin typeface="Comic Sans MS" panose="030F0702030302020204" pitchFamily="66" charset="0"/>
              </a:rPr>
              <a:t>m</a:t>
            </a:r>
            <a:r>
              <a:rPr lang="en-US">
                <a:latin typeface="Comic Sans MS" panose="030F0702030302020204" pitchFamily="66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509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LCS Recursive Solution</a:t>
            </a:r>
          </a:p>
        </p:txBody>
      </p:sp>
      <p:sp>
        <p:nvSpPr>
          <p:cNvPr id="2078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First we’ll find the length of LCS. Later we’ll modify the algorithm to find LCS itself.</a:t>
            </a:r>
          </a:p>
          <a:p>
            <a:pPr eaLnBrk="1" hangingPunct="1"/>
            <a:r>
              <a:rPr lang="en-US" dirty="0"/>
              <a:t>Define </a:t>
            </a:r>
            <a:r>
              <a:rPr lang="en-US" i="1" dirty="0">
                <a:solidFill>
                  <a:srgbClr val="990033"/>
                </a:solidFill>
              </a:rPr>
              <a:t>X</a:t>
            </a:r>
            <a:r>
              <a:rPr lang="en-US" i="1" baseline="-25000" dirty="0">
                <a:solidFill>
                  <a:srgbClr val="990033"/>
                </a:solidFill>
              </a:rPr>
              <a:t>i</a:t>
            </a:r>
            <a:r>
              <a:rPr lang="en-US" i="1" dirty="0">
                <a:solidFill>
                  <a:srgbClr val="990033"/>
                </a:solidFill>
              </a:rPr>
              <a:t>, </a:t>
            </a:r>
            <a:r>
              <a:rPr lang="en-US" i="1" dirty="0" err="1">
                <a:solidFill>
                  <a:srgbClr val="990033"/>
                </a:solidFill>
              </a:rPr>
              <a:t>Y</a:t>
            </a:r>
            <a:r>
              <a:rPr lang="en-US" i="1" baseline="-25000" dirty="0" err="1">
                <a:solidFill>
                  <a:srgbClr val="990033"/>
                </a:solidFill>
              </a:rPr>
              <a:t>j</a:t>
            </a:r>
            <a:r>
              <a:rPr lang="en-US" dirty="0"/>
              <a:t> to be the prefixes of X and Y of length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respectively</a:t>
            </a:r>
          </a:p>
          <a:p>
            <a:pPr eaLnBrk="1" hangingPunct="1"/>
            <a:r>
              <a:rPr lang="en-US" dirty="0"/>
              <a:t>Define </a:t>
            </a:r>
            <a:r>
              <a:rPr lang="en-US" i="1" dirty="0">
                <a:solidFill>
                  <a:srgbClr val="990033"/>
                </a:solidFill>
              </a:rPr>
              <a:t>c[</a:t>
            </a:r>
            <a:r>
              <a:rPr lang="en-US" i="1" dirty="0" err="1">
                <a:solidFill>
                  <a:srgbClr val="990033"/>
                </a:solidFill>
              </a:rPr>
              <a:t>i,j</a:t>
            </a:r>
            <a:r>
              <a:rPr lang="en-US" i="1" dirty="0">
                <a:solidFill>
                  <a:srgbClr val="990033"/>
                </a:solidFill>
              </a:rPr>
              <a:t>]</a:t>
            </a:r>
            <a:r>
              <a:rPr lang="en-US" dirty="0"/>
              <a:t> to be the length of LCS of </a:t>
            </a:r>
            <a:r>
              <a:rPr lang="en-US" i="1" dirty="0">
                <a:solidFill>
                  <a:srgbClr val="990033"/>
                </a:solidFill>
              </a:rPr>
              <a:t>X</a:t>
            </a:r>
            <a:r>
              <a:rPr lang="en-US" i="1" baseline="-25000" dirty="0">
                <a:solidFill>
                  <a:srgbClr val="990033"/>
                </a:solidFill>
              </a:rPr>
              <a:t>i</a:t>
            </a:r>
            <a:r>
              <a:rPr lang="en-US" dirty="0"/>
              <a:t> and </a:t>
            </a:r>
            <a:r>
              <a:rPr lang="en-US" i="1" dirty="0" err="1">
                <a:solidFill>
                  <a:srgbClr val="990033"/>
                </a:solidFill>
              </a:rPr>
              <a:t>Y</a:t>
            </a:r>
            <a:r>
              <a:rPr lang="en-US" i="1" baseline="-25000" dirty="0" err="1">
                <a:solidFill>
                  <a:srgbClr val="990033"/>
                </a:solidFill>
              </a:rPr>
              <a:t>j</a:t>
            </a:r>
            <a:endParaRPr lang="en-US" dirty="0">
              <a:solidFill>
                <a:srgbClr val="990033"/>
              </a:solidFill>
            </a:endParaRPr>
          </a:p>
          <a:p>
            <a:pPr eaLnBrk="1" hangingPunct="1"/>
            <a:r>
              <a:rPr lang="en-US" dirty="0"/>
              <a:t>Then the length of LCS of X and Y will be </a:t>
            </a:r>
            <a:r>
              <a:rPr lang="en-US" i="1" dirty="0">
                <a:solidFill>
                  <a:srgbClr val="990033"/>
                </a:solidFill>
              </a:rPr>
              <a:t>c[</a:t>
            </a:r>
            <a:r>
              <a:rPr lang="en-US" i="1" dirty="0" err="1">
                <a:solidFill>
                  <a:srgbClr val="990033"/>
                </a:solidFill>
              </a:rPr>
              <a:t>m,n</a:t>
            </a:r>
            <a:r>
              <a:rPr lang="en-US" i="1" dirty="0">
                <a:solidFill>
                  <a:srgbClr val="990033"/>
                </a:solidFill>
              </a:rPr>
              <a:t>]</a:t>
            </a:r>
            <a:endParaRPr lang="en-US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95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LCS Recursive Solution</a:t>
            </a:r>
          </a:p>
        </p:txBody>
      </p:sp>
      <p:sp>
        <p:nvSpPr>
          <p:cNvPr id="2089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dirty="0"/>
              <a:t>We start with </a:t>
            </a:r>
            <a:r>
              <a:rPr lang="en-US" i="1" dirty="0" err="1"/>
              <a:t>i</a:t>
            </a:r>
            <a:r>
              <a:rPr lang="en-US" i="1" dirty="0"/>
              <a:t> = j = 0</a:t>
            </a:r>
            <a:r>
              <a:rPr lang="en-US" dirty="0"/>
              <a:t> (empty substrings of x and y)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/>
              <a:t>Since X</a:t>
            </a:r>
            <a:r>
              <a:rPr lang="en-US" i="1" baseline="-25000" dirty="0"/>
              <a:t>0</a:t>
            </a:r>
            <a:r>
              <a:rPr lang="en-US" dirty="0"/>
              <a:t> and Y</a:t>
            </a:r>
            <a:r>
              <a:rPr lang="en-US" i="1" baseline="-25000" dirty="0"/>
              <a:t>0</a:t>
            </a:r>
            <a:r>
              <a:rPr lang="en-US" dirty="0"/>
              <a:t> are empty strings, their LCS is always empty (i.e. </a:t>
            </a:r>
            <a:r>
              <a:rPr lang="en-US" i="1" dirty="0"/>
              <a:t>c[0,0] = 0</a:t>
            </a:r>
            <a:r>
              <a:rPr lang="en-US" dirty="0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/>
              <a:t>LCS of empty string and any other string is empty, so for every </a:t>
            </a:r>
            <a:r>
              <a:rPr lang="en-US" dirty="0" err="1"/>
              <a:t>i</a:t>
            </a:r>
            <a:r>
              <a:rPr lang="en-US" dirty="0"/>
              <a:t> and j: </a:t>
            </a:r>
            <a:r>
              <a:rPr lang="en-US" i="1" dirty="0"/>
              <a:t>c[0, j] = c[i,0] = 0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29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LCS Recursive Solution</a:t>
            </a:r>
          </a:p>
        </p:txBody>
      </p:sp>
      <p:sp>
        <p:nvSpPr>
          <p:cNvPr id="2099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dirty="0"/>
              <a:t>When we calculate </a:t>
            </a:r>
            <a:r>
              <a:rPr lang="en-US" i="1" dirty="0"/>
              <a:t>c[</a:t>
            </a:r>
            <a:r>
              <a:rPr lang="en-US" i="1" dirty="0" err="1"/>
              <a:t>i,j</a:t>
            </a:r>
            <a:r>
              <a:rPr lang="en-US" i="1" dirty="0"/>
              <a:t>],</a:t>
            </a:r>
            <a:r>
              <a:rPr lang="en-US" dirty="0"/>
              <a:t> we consider two cases:</a:t>
            </a:r>
          </a:p>
          <a:p>
            <a:pPr eaLnBrk="1" hangingPunct="1">
              <a:lnSpc>
                <a:spcPct val="130000"/>
              </a:lnSpc>
            </a:pPr>
            <a:r>
              <a:rPr lang="en-US" b="1" dirty="0"/>
              <a:t>First case:</a:t>
            </a:r>
            <a:r>
              <a:rPr lang="en-US" dirty="0"/>
              <a:t> </a:t>
            </a:r>
            <a:r>
              <a:rPr lang="en-US" i="1" dirty="0"/>
              <a:t>x[</a:t>
            </a:r>
            <a:r>
              <a:rPr lang="en-US" i="1" dirty="0" err="1"/>
              <a:t>i</a:t>
            </a:r>
            <a:r>
              <a:rPr lang="en-US" i="1" dirty="0"/>
              <a:t>]=y[j]</a:t>
            </a:r>
            <a:r>
              <a:rPr lang="en-US" dirty="0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dirty="0"/>
              <a:t>one more symbol in strings X and Y matches, so the length of LCS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and </a:t>
            </a:r>
            <a:r>
              <a:rPr lang="en-US" dirty="0" err="1"/>
              <a:t>Y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equals to the length of LCS of smaller strings X</a:t>
            </a:r>
            <a:r>
              <a:rPr lang="en-US" i="1" baseline="-25000" dirty="0"/>
              <a:t>i-1</a:t>
            </a:r>
            <a:r>
              <a:rPr lang="en-US" dirty="0"/>
              <a:t> and Y</a:t>
            </a:r>
            <a:r>
              <a:rPr lang="en-US" i="1" baseline="-25000" dirty="0"/>
              <a:t>i-1</a:t>
            </a:r>
            <a:r>
              <a:rPr lang="en-US" dirty="0"/>
              <a:t> , plus 1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41364"/>
              </p:ext>
            </p:extLst>
          </p:nvPr>
        </p:nvGraphicFramePr>
        <p:xfrm>
          <a:off x="668337" y="4124438"/>
          <a:ext cx="7772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3047760" imgH="457200" progId="">
                  <p:embed/>
                </p:oleObj>
              </mc:Choice>
              <mc:Fallback>
                <p:oleObj name="Equation" r:id="rId3" imgW="3047760" imgH="4572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" y="4124438"/>
                        <a:ext cx="77724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66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LCS Recursive Solution</a:t>
            </a:r>
          </a:p>
        </p:txBody>
      </p:sp>
      <p:sp>
        <p:nvSpPr>
          <p:cNvPr id="210948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23716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b="1" dirty="0"/>
              <a:t>Second case:</a:t>
            </a:r>
            <a:r>
              <a:rPr lang="en-US" dirty="0"/>
              <a:t> </a:t>
            </a:r>
            <a:r>
              <a:rPr lang="en-US" i="1" dirty="0"/>
              <a:t>x[</a:t>
            </a:r>
            <a:r>
              <a:rPr lang="en-US" i="1" dirty="0" err="1"/>
              <a:t>i</a:t>
            </a:r>
            <a:r>
              <a:rPr lang="en-US" i="1" dirty="0"/>
              <a:t>] ≠ y[j]</a:t>
            </a:r>
          </a:p>
          <a:p>
            <a:pPr marL="268288" lvl="1" eaLnBrk="1" hangingPunct="1">
              <a:lnSpc>
                <a:spcPct val="130000"/>
              </a:lnSpc>
            </a:pPr>
            <a:r>
              <a:rPr lang="en-US" dirty="0"/>
              <a:t>As symbols don’t match, our solution is not improved, and the length of LCS(X</a:t>
            </a:r>
            <a:r>
              <a:rPr lang="en-US" baseline="-25000" dirty="0"/>
              <a:t>i</a:t>
            </a:r>
            <a:r>
              <a:rPr lang="en-US" dirty="0"/>
              <a:t> ,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) is the same as before, </a:t>
            </a:r>
            <a:r>
              <a:rPr lang="en-US" i="1" dirty="0"/>
              <a:t>i.e.,</a:t>
            </a:r>
            <a:r>
              <a:rPr lang="en-US" dirty="0"/>
              <a:t> maximum of LCS(X</a:t>
            </a:r>
            <a:r>
              <a:rPr lang="en-US" baseline="-25000" dirty="0"/>
              <a:t>i</a:t>
            </a:r>
            <a:r>
              <a:rPr lang="en-US" dirty="0"/>
              <a:t>, Y</a:t>
            </a:r>
            <a:r>
              <a:rPr lang="en-US" baseline="-25000" dirty="0"/>
              <a:t>j-1</a:t>
            </a:r>
            <a:r>
              <a:rPr lang="en-US" dirty="0"/>
              <a:t>) and LCS(X</a:t>
            </a:r>
            <a:r>
              <a:rPr lang="en-US" baseline="-25000" dirty="0"/>
              <a:t>i-1</a:t>
            </a:r>
            <a:r>
              <a:rPr lang="en-US" dirty="0"/>
              <a:t>,Y</a:t>
            </a:r>
            <a:r>
              <a:rPr lang="en-US" baseline="-25000" dirty="0"/>
              <a:t>j</a:t>
            </a:r>
            <a:r>
              <a:rPr lang="en-US" dirty="0"/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1094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142687"/>
              </p:ext>
            </p:extLst>
          </p:nvPr>
        </p:nvGraphicFramePr>
        <p:xfrm>
          <a:off x="668337" y="4124438"/>
          <a:ext cx="7772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3048000" imgH="457200" progId="">
                  <p:embed/>
                </p:oleObj>
              </mc:Choice>
              <mc:Fallback>
                <p:oleObj name="Equation" r:id="rId3" imgW="3048000" imgH="4572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" y="4124438"/>
                        <a:ext cx="77724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5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Computing the Length of the LCS</a:t>
            </a:r>
          </a:p>
        </p:txBody>
      </p:sp>
      <p:sp>
        <p:nvSpPr>
          <p:cNvPr id="1986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			0				if </a:t>
            </a:r>
            <a:r>
              <a:rPr lang="en-US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 = 0 or j = 0</a:t>
            </a:r>
          </a:p>
          <a:p>
            <a:pPr lvl="1" eaLnBrk="1" hangingPunct="1">
              <a:buFontTx/>
              <a:buNone/>
            </a:pP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c[</a:t>
            </a:r>
            <a:r>
              <a:rPr lang="en-US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, j] = 		c[i-1, j-1] + 1			if x</a:t>
            </a:r>
            <a:r>
              <a:rPr lang="en-US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baseline="-250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lvl="1" eaLnBrk="1" hangingPunct="1">
              <a:buFontTx/>
              <a:buNone/>
            </a:pP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			max(c[</a:t>
            </a:r>
            <a:r>
              <a:rPr lang="en-US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, j-1], c[i-1, j])	if x</a:t>
            </a:r>
            <a:r>
              <a:rPr lang="en-US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Comic Sans MS" panose="030F0702030302020204" pitchFamily="66" charset="0"/>
                <a:sym typeface="Symbol" panose="05050102010706020507" pitchFamily="18" charset="2"/>
              </a:rPr>
              <a:t>  </a:t>
            </a:r>
            <a:r>
              <a:rPr lang="en-US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dirty="0"/>
          </a:p>
        </p:txBody>
      </p:sp>
      <p:sp>
        <p:nvSpPr>
          <p:cNvPr id="198662" name="AutoShape 4"/>
          <p:cNvSpPr>
            <a:spLocks/>
          </p:cNvSpPr>
          <p:nvPr/>
        </p:nvSpPr>
        <p:spPr bwMode="auto">
          <a:xfrm>
            <a:off x="2602639" y="914401"/>
            <a:ext cx="142875" cy="1271587"/>
          </a:xfrm>
          <a:prstGeom prst="leftBrace">
            <a:avLst>
              <a:gd name="adj1" fmla="val 741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655365" name="Group 5"/>
          <p:cNvGraphicFramePr>
            <a:graphicFrameLocks noGrp="1"/>
          </p:cNvGraphicFramePr>
          <p:nvPr/>
        </p:nvGraphicFramePr>
        <p:xfrm>
          <a:off x="3203575" y="3252788"/>
          <a:ext cx="3338513" cy="274320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8714" name="Text Box 56"/>
          <p:cNvSpPr txBox="1">
            <a:spLocks noChangeArrowheads="1"/>
          </p:cNvSpPr>
          <p:nvPr/>
        </p:nvSpPr>
        <p:spPr bwMode="auto">
          <a:xfrm>
            <a:off x="3338513" y="2884488"/>
            <a:ext cx="411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j: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98715" name="Text Box 57"/>
          <p:cNvSpPr txBox="1">
            <a:spLocks noChangeArrowheads="1"/>
          </p:cNvSpPr>
          <p:nvPr/>
        </p:nvSpPr>
        <p:spPr bwMode="auto">
          <a:xfrm>
            <a:off x="2727325" y="55848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198716" name="Text Box 58"/>
          <p:cNvSpPr txBox="1">
            <a:spLocks noChangeArrowheads="1"/>
          </p:cNvSpPr>
          <p:nvPr/>
        </p:nvSpPr>
        <p:spPr bwMode="auto">
          <a:xfrm>
            <a:off x="3876675" y="2884488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8717" name="Text Box 59"/>
          <p:cNvSpPr txBox="1">
            <a:spLocks noChangeArrowheads="1"/>
          </p:cNvSpPr>
          <p:nvPr/>
        </p:nvSpPr>
        <p:spPr bwMode="auto">
          <a:xfrm>
            <a:off x="4438650" y="2884488"/>
            <a:ext cx="396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8718" name="Text Box 60"/>
          <p:cNvSpPr txBox="1">
            <a:spLocks noChangeArrowheads="1"/>
          </p:cNvSpPr>
          <p:nvPr/>
        </p:nvSpPr>
        <p:spPr bwMode="auto">
          <a:xfrm>
            <a:off x="6097588" y="2884488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198719" name="Text Box 61"/>
          <p:cNvSpPr txBox="1">
            <a:spLocks noChangeArrowheads="1"/>
          </p:cNvSpPr>
          <p:nvPr/>
        </p:nvSpPr>
        <p:spPr bwMode="auto">
          <a:xfrm>
            <a:off x="2801938" y="3697288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8720" name="Text Box 62"/>
          <p:cNvSpPr txBox="1">
            <a:spLocks noChangeArrowheads="1"/>
          </p:cNvSpPr>
          <p:nvPr/>
        </p:nvSpPr>
        <p:spPr bwMode="auto">
          <a:xfrm>
            <a:off x="2765425" y="4140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8721" name="Text Box 63"/>
          <p:cNvSpPr txBox="1">
            <a:spLocks noChangeArrowheads="1"/>
          </p:cNvSpPr>
          <p:nvPr/>
        </p:nvSpPr>
        <p:spPr bwMode="auto">
          <a:xfrm>
            <a:off x="2765425" y="3333750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98722" name="Text Box 64"/>
          <p:cNvSpPr txBox="1">
            <a:spLocks noChangeArrowheads="1"/>
          </p:cNvSpPr>
          <p:nvPr/>
        </p:nvSpPr>
        <p:spPr bwMode="auto">
          <a:xfrm>
            <a:off x="4787900" y="6034088"/>
            <a:ext cx="27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198723" name="Text Box 65"/>
          <p:cNvSpPr txBox="1">
            <a:spLocks noChangeArrowheads="1"/>
          </p:cNvSpPr>
          <p:nvPr/>
        </p:nvSpPr>
        <p:spPr bwMode="auto">
          <a:xfrm>
            <a:off x="6653213" y="4456113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98724" name="Text Box 66"/>
          <p:cNvSpPr txBox="1">
            <a:spLocks noChangeArrowheads="1"/>
          </p:cNvSpPr>
          <p:nvPr/>
        </p:nvSpPr>
        <p:spPr bwMode="auto">
          <a:xfrm>
            <a:off x="3340100" y="260826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198725" name="Text Box 67"/>
          <p:cNvSpPr txBox="1">
            <a:spLocks noChangeArrowheads="1"/>
          </p:cNvSpPr>
          <p:nvPr/>
        </p:nvSpPr>
        <p:spPr bwMode="auto">
          <a:xfrm>
            <a:off x="3878263" y="2608263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8726" name="Text Box 68"/>
          <p:cNvSpPr txBox="1">
            <a:spLocks noChangeArrowheads="1"/>
          </p:cNvSpPr>
          <p:nvPr/>
        </p:nvSpPr>
        <p:spPr bwMode="auto">
          <a:xfrm>
            <a:off x="4440238" y="260826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8727" name="Text Box 69"/>
          <p:cNvSpPr txBox="1">
            <a:spLocks noChangeArrowheads="1"/>
          </p:cNvSpPr>
          <p:nvPr/>
        </p:nvSpPr>
        <p:spPr bwMode="auto">
          <a:xfrm>
            <a:off x="6099175" y="2608263"/>
            <a:ext cx="303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198728" name="Text Box 70"/>
          <p:cNvSpPr txBox="1">
            <a:spLocks noChangeArrowheads="1"/>
          </p:cNvSpPr>
          <p:nvPr/>
        </p:nvSpPr>
        <p:spPr bwMode="auto">
          <a:xfrm>
            <a:off x="2347913" y="558641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198729" name="Text Box 71"/>
          <p:cNvSpPr txBox="1">
            <a:spLocks noChangeArrowheads="1"/>
          </p:cNvSpPr>
          <p:nvPr/>
        </p:nvSpPr>
        <p:spPr bwMode="auto">
          <a:xfrm>
            <a:off x="2422525" y="3698875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8730" name="Text Box 72"/>
          <p:cNvSpPr txBox="1">
            <a:spLocks noChangeArrowheads="1"/>
          </p:cNvSpPr>
          <p:nvPr/>
        </p:nvSpPr>
        <p:spPr bwMode="auto">
          <a:xfrm>
            <a:off x="2386013" y="41417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8731" name="Text Box 73"/>
          <p:cNvSpPr txBox="1">
            <a:spLocks noChangeArrowheads="1"/>
          </p:cNvSpPr>
          <p:nvPr/>
        </p:nvSpPr>
        <p:spPr bwMode="auto">
          <a:xfrm>
            <a:off x="2386013" y="33353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3889375" y="4756150"/>
            <a:ext cx="2463800" cy="979488"/>
            <a:chOff x="2219" y="2979"/>
            <a:chExt cx="1552" cy="617"/>
          </a:xfrm>
        </p:grpSpPr>
        <p:sp>
          <p:nvSpPr>
            <p:cNvPr id="198733" name="Line 75"/>
            <p:cNvSpPr>
              <a:spLocks noChangeShapeType="1"/>
            </p:cNvSpPr>
            <p:nvPr/>
          </p:nvSpPr>
          <p:spPr bwMode="auto">
            <a:xfrm>
              <a:off x="2993" y="2979"/>
              <a:ext cx="0" cy="378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34" name="Line 76"/>
            <p:cNvSpPr>
              <a:spLocks noChangeShapeType="1"/>
            </p:cNvSpPr>
            <p:nvPr/>
          </p:nvSpPr>
          <p:spPr bwMode="auto">
            <a:xfrm>
              <a:off x="2219" y="3595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77"/>
          <p:cNvGrpSpPr>
            <a:grpSpLocks/>
          </p:cNvGrpSpPr>
          <p:nvPr/>
        </p:nvGrpSpPr>
        <p:grpSpPr bwMode="auto">
          <a:xfrm>
            <a:off x="3889375" y="3714750"/>
            <a:ext cx="3389313" cy="366713"/>
            <a:chOff x="2219" y="2323"/>
            <a:chExt cx="2135" cy="231"/>
          </a:xfrm>
        </p:grpSpPr>
        <p:sp>
          <p:nvSpPr>
            <p:cNvPr id="198736" name="Line 78"/>
            <p:cNvSpPr>
              <a:spLocks noChangeShapeType="1"/>
            </p:cNvSpPr>
            <p:nvPr/>
          </p:nvSpPr>
          <p:spPr bwMode="auto">
            <a:xfrm>
              <a:off x="2219" y="2452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37" name="Text Box 79"/>
            <p:cNvSpPr txBox="1">
              <a:spLocks noChangeArrowheads="1"/>
            </p:cNvSpPr>
            <p:nvPr/>
          </p:nvSpPr>
          <p:spPr bwMode="auto">
            <a:xfrm>
              <a:off x="4006" y="2323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first</a:t>
              </a:r>
            </a:p>
          </p:txBody>
        </p:sp>
      </p:grpSp>
      <p:grpSp>
        <p:nvGrpSpPr>
          <p:cNvPr id="4" name="Group 80"/>
          <p:cNvGrpSpPr>
            <a:grpSpLocks/>
          </p:cNvGrpSpPr>
          <p:nvPr/>
        </p:nvGrpSpPr>
        <p:grpSpPr bwMode="auto">
          <a:xfrm>
            <a:off x="3889375" y="4179888"/>
            <a:ext cx="3757613" cy="366712"/>
            <a:chOff x="2219" y="2616"/>
            <a:chExt cx="2367" cy="231"/>
          </a:xfrm>
        </p:grpSpPr>
        <p:sp>
          <p:nvSpPr>
            <p:cNvPr id="198739" name="Line 81"/>
            <p:cNvSpPr>
              <a:spLocks noChangeShapeType="1"/>
            </p:cNvSpPr>
            <p:nvPr/>
          </p:nvSpPr>
          <p:spPr bwMode="auto">
            <a:xfrm>
              <a:off x="2219" y="2725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40" name="Text Box 82"/>
            <p:cNvSpPr txBox="1">
              <a:spLocks noChangeArrowheads="1"/>
            </p:cNvSpPr>
            <p:nvPr/>
          </p:nvSpPr>
          <p:spPr bwMode="auto">
            <a:xfrm>
              <a:off x="4006" y="2616"/>
              <a:ext cx="5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second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01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Additional Information</a:t>
            </a:r>
          </a:p>
        </p:txBody>
      </p:sp>
      <p:sp>
        <p:nvSpPr>
          <p:cNvPr id="1996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		 0			if </a:t>
            </a:r>
            <a:r>
              <a:rPr 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i,j</a:t>
            </a: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= 0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c[</a:t>
            </a:r>
            <a:r>
              <a:rPr 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, j] =  	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c[i-1, j-1] + 1		if x</a:t>
            </a:r>
            <a:r>
              <a:rPr lang="en-US" sz="2000" baseline="-25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sz="2000" baseline="-25000" dirty="0" err="1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sz="2000" baseline="-25000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lvl="1" eaLnBrk="1" hangingPunct="1">
              <a:buFontTx/>
              <a:buNone/>
            </a:pP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		 max(c[</a:t>
            </a:r>
            <a:r>
              <a:rPr 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, j-1], c[i-1, j])	if x</a:t>
            </a:r>
            <a:r>
              <a:rPr lang="en-US" sz="20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 </a:t>
            </a:r>
            <a:r>
              <a:rPr 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sz="20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sz="2000" dirty="0"/>
          </a:p>
        </p:txBody>
      </p:sp>
      <p:sp>
        <p:nvSpPr>
          <p:cNvPr id="199686" name="AutoShape 4"/>
          <p:cNvSpPr>
            <a:spLocks/>
          </p:cNvSpPr>
          <p:nvPr/>
        </p:nvSpPr>
        <p:spPr bwMode="auto">
          <a:xfrm>
            <a:off x="1092563" y="939800"/>
            <a:ext cx="142875" cy="1271588"/>
          </a:xfrm>
          <a:prstGeom prst="leftBrace">
            <a:avLst>
              <a:gd name="adj1" fmla="val 741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656389" name="Group 5"/>
          <p:cNvGraphicFramePr>
            <a:graphicFrameLocks noGrp="1"/>
          </p:cNvGraphicFramePr>
          <p:nvPr/>
        </p:nvGraphicFramePr>
        <p:xfrm>
          <a:off x="1177925" y="3225800"/>
          <a:ext cx="3338513" cy="274320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738" name="Text Box 56"/>
          <p:cNvSpPr txBox="1">
            <a:spLocks noChangeArrowheads="1"/>
          </p:cNvSpPr>
          <p:nvPr/>
        </p:nvSpPr>
        <p:spPr bwMode="auto">
          <a:xfrm>
            <a:off x="1312863" y="2857500"/>
            <a:ext cx="411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j: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99739" name="Text Box 57"/>
          <p:cNvSpPr txBox="1">
            <a:spLocks noChangeArrowheads="1"/>
          </p:cNvSpPr>
          <p:nvPr/>
        </p:nvSpPr>
        <p:spPr bwMode="auto">
          <a:xfrm>
            <a:off x="701675" y="555783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0" name="Text Box 58"/>
          <p:cNvSpPr txBox="1">
            <a:spLocks noChangeArrowheads="1"/>
          </p:cNvSpPr>
          <p:nvPr/>
        </p:nvSpPr>
        <p:spPr bwMode="auto">
          <a:xfrm>
            <a:off x="1851025" y="2857500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1" name="Text Box 59"/>
          <p:cNvSpPr txBox="1">
            <a:spLocks noChangeArrowheads="1"/>
          </p:cNvSpPr>
          <p:nvPr/>
        </p:nvSpPr>
        <p:spPr bwMode="auto">
          <a:xfrm>
            <a:off x="2413000" y="28575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2" name="Text Box 60"/>
          <p:cNvSpPr txBox="1">
            <a:spLocks noChangeArrowheads="1"/>
          </p:cNvSpPr>
          <p:nvPr/>
        </p:nvSpPr>
        <p:spPr bwMode="auto">
          <a:xfrm>
            <a:off x="4071938" y="2857500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F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3" name="Text Box 61"/>
          <p:cNvSpPr txBox="1">
            <a:spLocks noChangeArrowheads="1"/>
          </p:cNvSpPr>
          <p:nvPr/>
        </p:nvSpPr>
        <p:spPr bwMode="auto">
          <a:xfrm>
            <a:off x="758825" y="3670300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4" name="Text Box 62"/>
          <p:cNvSpPr txBox="1">
            <a:spLocks noChangeArrowheads="1"/>
          </p:cNvSpPr>
          <p:nvPr/>
        </p:nvSpPr>
        <p:spPr bwMode="auto">
          <a:xfrm>
            <a:off x="768350" y="4113213"/>
            <a:ext cx="328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45" name="Text Box 63"/>
          <p:cNvSpPr txBox="1">
            <a:spLocks noChangeArrowheads="1"/>
          </p:cNvSpPr>
          <p:nvPr/>
        </p:nvSpPr>
        <p:spPr bwMode="auto">
          <a:xfrm>
            <a:off x="739775" y="330676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99746" name="Text Box 64"/>
          <p:cNvSpPr txBox="1">
            <a:spLocks noChangeArrowheads="1"/>
          </p:cNvSpPr>
          <p:nvPr/>
        </p:nvSpPr>
        <p:spPr bwMode="auto">
          <a:xfrm>
            <a:off x="2762250" y="6007100"/>
            <a:ext cx="276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199747" name="Text Box 65"/>
          <p:cNvSpPr txBox="1">
            <a:spLocks noChangeArrowheads="1"/>
          </p:cNvSpPr>
          <p:nvPr/>
        </p:nvSpPr>
        <p:spPr bwMode="auto">
          <a:xfrm>
            <a:off x="4627563" y="4429125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99748" name="Text Box 66"/>
          <p:cNvSpPr txBox="1">
            <a:spLocks noChangeArrowheads="1"/>
          </p:cNvSpPr>
          <p:nvPr/>
        </p:nvSpPr>
        <p:spPr bwMode="auto">
          <a:xfrm>
            <a:off x="1314450" y="25812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199749" name="Text Box 67"/>
          <p:cNvSpPr txBox="1">
            <a:spLocks noChangeArrowheads="1"/>
          </p:cNvSpPr>
          <p:nvPr/>
        </p:nvSpPr>
        <p:spPr bwMode="auto">
          <a:xfrm>
            <a:off x="1852613" y="2581275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9750" name="Text Box 68"/>
          <p:cNvSpPr txBox="1">
            <a:spLocks noChangeArrowheads="1"/>
          </p:cNvSpPr>
          <p:nvPr/>
        </p:nvSpPr>
        <p:spPr bwMode="auto">
          <a:xfrm>
            <a:off x="2414588" y="25812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9751" name="Text Box 69"/>
          <p:cNvSpPr txBox="1">
            <a:spLocks noChangeArrowheads="1"/>
          </p:cNvSpPr>
          <p:nvPr/>
        </p:nvSpPr>
        <p:spPr bwMode="auto">
          <a:xfrm>
            <a:off x="4073525" y="2581275"/>
            <a:ext cx="303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199752" name="Text Box 70"/>
          <p:cNvSpPr txBox="1">
            <a:spLocks noChangeArrowheads="1"/>
          </p:cNvSpPr>
          <p:nvPr/>
        </p:nvSpPr>
        <p:spPr bwMode="auto">
          <a:xfrm>
            <a:off x="322263" y="5559425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199753" name="Text Box 71"/>
          <p:cNvSpPr txBox="1">
            <a:spLocks noChangeArrowheads="1"/>
          </p:cNvSpPr>
          <p:nvPr/>
        </p:nvSpPr>
        <p:spPr bwMode="auto">
          <a:xfrm>
            <a:off x="396875" y="3671888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99754" name="Text Box 72"/>
          <p:cNvSpPr txBox="1">
            <a:spLocks noChangeArrowheads="1"/>
          </p:cNvSpPr>
          <p:nvPr/>
        </p:nvSpPr>
        <p:spPr bwMode="auto">
          <a:xfrm>
            <a:off x="360363" y="41148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9755" name="Text Box 73"/>
          <p:cNvSpPr txBox="1">
            <a:spLocks noChangeArrowheads="1"/>
          </p:cNvSpPr>
          <p:nvPr/>
        </p:nvSpPr>
        <p:spPr bwMode="auto">
          <a:xfrm>
            <a:off x="360363" y="3308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656458" name="Rectangle 74"/>
          <p:cNvSpPr>
            <a:spLocks noChangeArrowheads="1"/>
          </p:cNvSpPr>
          <p:nvPr/>
        </p:nvSpPr>
        <p:spPr bwMode="auto">
          <a:xfrm>
            <a:off x="5292725" y="2508069"/>
            <a:ext cx="4019550" cy="3972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</a:rPr>
              <a:t>A matrix 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b[</a:t>
            </a:r>
            <a:r>
              <a:rPr lang="en-US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, j]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chemeClr val="accent2"/>
                </a:solidFill>
              </a:rPr>
              <a:t>For a </a:t>
            </a:r>
            <a:r>
              <a:rPr lang="en-US" dirty="0" err="1">
                <a:solidFill>
                  <a:schemeClr val="accent2"/>
                </a:solidFill>
              </a:rPr>
              <a:t>subproblem</a:t>
            </a:r>
            <a:r>
              <a:rPr lang="en-US" dirty="0">
                <a:solidFill>
                  <a:schemeClr val="accent2"/>
                </a:solidFill>
              </a:rPr>
              <a:t> [</a:t>
            </a:r>
            <a:r>
              <a:rPr lang="en-US" dirty="0" err="1">
                <a:solidFill>
                  <a:schemeClr val="accent2"/>
                </a:solidFill>
              </a:rPr>
              <a:t>i</a:t>
            </a:r>
            <a:r>
              <a:rPr lang="en-US" dirty="0">
                <a:solidFill>
                  <a:schemeClr val="accent2"/>
                </a:solidFill>
              </a:rPr>
              <a:t>, j] it tells us what choice was made to obtain the optimal value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chemeClr val="accent2"/>
                </a:solidFill>
              </a:rPr>
              <a:t>If 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</a:t>
            </a:r>
            <a:r>
              <a:rPr lang="en-US" baseline="-25000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dirty="0" err="1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baseline="-25000" dirty="0" err="1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dirty="0">
              <a:solidFill>
                <a:schemeClr val="accent2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baseline="-25000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		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  ”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chemeClr val="accent2"/>
                </a:solidFill>
                <a:sym typeface="Symbol" panose="05050102010706020507" pitchFamily="18" charset="2"/>
              </a:rPr>
              <a:t>Else, if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c[</a:t>
            </a:r>
            <a:r>
              <a:rPr lang="en-US" dirty="0" err="1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- 1, j] ≥ c[</a:t>
            </a:r>
            <a:r>
              <a:rPr lang="en-US" dirty="0" err="1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j-1]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</a:rPr>
              <a:t>		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 ”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	</a:t>
            </a:r>
            <a:r>
              <a:rPr lang="en-US" dirty="0">
                <a:solidFill>
                  <a:schemeClr val="accent2"/>
                </a:solidFill>
                <a:sym typeface="Symbol" panose="05050102010706020507" pitchFamily="18" charset="2"/>
              </a:rPr>
              <a:t>else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		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 ”</a:t>
            </a:r>
            <a:endParaRPr lang="en-US" dirty="0">
              <a:solidFill>
                <a:srgbClr val="336699"/>
              </a:solidFill>
            </a:endParaRPr>
          </a:p>
        </p:txBody>
      </p:sp>
      <p:sp>
        <p:nvSpPr>
          <p:cNvPr id="656459" name="Line 75"/>
          <p:cNvSpPr>
            <a:spLocks noChangeShapeType="1"/>
          </p:cNvSpPr>
          <p:nvPr/>
        </p:nvSpPr>
        <p:spPr bwMode="auto">
          <a:xfrm flipH="1" flipV="1">
            <a:off x="7253376" y="4147277"/>
            <a:ext cx="201159" cy="224426"/>
          </a:xfrm>
          <a:prstGeom prst="line">
            <a:avLst/>
          </a:prstGeom>
          <a:noFill/>
          <a:ln w="12700">
            <a:solidFill>
              <a:srgbClr val="336699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58" name="Text Box 76"/>
          <p:cNvSpPr txBox="1">
            <a:spLocks noChangeArrowheads="1"/>
          </p:cNvSpPr>
          <p:nvPr/>
        </p:nvSpPr>
        <p:spPr bwMode="auto">
          <a:xfrm>
            <a:off x="2997200" y="25812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99759" name="Text Box 77"/>
          <p:cNvSpPr txBox="1">
            <a:spLocks noChangeArrowheads="1"/>
          </p:cNvSpPr>
          <p:nvPr/>
        </p:nvSpPr>
        <p:spPr bwMode="auto">
          <a:xfrm>
            <a:off x="360363" y="46593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99760" name="Text Box 78"/>
          <p:cNvSpPr txBox="1">
            <a:spLocks noChangeArrowheads="1"/>
          </p:cNvSpPr>
          <p:nvPr/>
        </p:nvSpPr>
        <p:spPr bwMode="auto">
          <a:xfrm>
            <a:off x="773113" y="4659313"/>
            <a:ext cx="322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199761" name="Text Box 79"/>
          <p:cNvSpPr txBox="1">
            <a:spLocks noChangeArrowheads="1"/>
          </p:cNvSpPr>
          <p:nvPr/>
        </p:nvSpPr>
        <p:spPr bwMode="auto">
          <a:xfrm>
            <a:off x="2978150" y="28575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  <a:endParaRPr lang="en-US" baseline="-25000">
              <a:latin typeface="Comic Sans MS" panose="030F0702030302020204" pitchFamily="66" charset="0"/>
            </a:endParaRPr>
          </a:p>
        </p:txBody>
      </p:sp>
      <p:sp>
        <p:nvSpPr>
          <p:cNvPr id="656464" name="Line 80"/>
          <p:cNvSpPr>
            <a:spLocks noChangeShapeType="1"/>
          </p:cNvSpPr>
          <p:nvPr/>
        </p:nvSpPr>
        <p:spPr bwMode="auto">
          <a:xfrm flipH="1" flipV="1">
            <a:off x="2338388" y="4640263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63" name="Text Box 81"/>
          <p:cNvSpPr txBox="1">
            <a:spLocks noChangeArrowheads="1"/>
          </p:cNvSpPr>
          <p:nvPr/>
        </p:nvSpPr>
        <p:spPr bwMode="auto">
          <a:xfrm>
            <a:off x="196850" y="2651125"/>
            <a:ext cx="99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latin typeface="Comic Sans MS" panose="030F0702030302020204" pitchFamily="66" charset="0"/>
              </a:rPr>
              <a:t>b &amp; c: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2203450" y="4275138"/>
            <a:ext cx="1282700" cy="811212"/>
            <a:chOff x="1388" y="2693"/>
            <a:chExt cx="808" cy="511"/>
          </a:xfrm>
        </p:grpSpPr>
        <p:sp>
          <p:nvSpPr>
            <p:cNvPr id="199765" name="Text Box 83"/>
            <p:cNvSpPr txBox="1">
              <a:spLocks noChangeArrowheads="1"/>
            </p:cNvSpPr>
            <p:nvPr/>
          </p:nvSpPr>
          <p:spPr bwMode="auto">
            <a:xfrm>
              <a:off x="1388" y="2992"/>
              <a:ext cx="4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600"/>
                <a:t>c[i,j-1]</a:t>
              </a:r>
            </a:p>
          </p:txBody>
        </p:sp>
        <p:sp>
          <p:nvSpPr>
            <p:cNvPr id="199766" name="Rectangle 84"/>
            <p:cNvSpPr>
              <a:spLocks noChangeArrowheads="1"/>
            </p:cNvSpPr>
            <p:nvPr/>
          </p:nvSpPr>
          <p:spPr bwMode="auto">
            <a:xfrm>
              <a:off x="1738" y="2693"/>
              <a:ext cx="4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1600"/>
                <a:t>c[i-1,j]</a:t>
              </a:r>
            </a:p>
          </p:txBody>
        </p:sp>
      </p:grpSp>
      <p:sp>
        <p:nvSpPr>
          <p:cNvPr id="656469" name="Line 85"/>
          <p:cNvSpPr>
            <a:spLocks noChangeShapeType="1"/>
          </p:cNvSpPr>
          <p:nvPr/>
        </p:nvSpPr>
        <p:spPr bwMode="auto">
          <a:xfrm flipH="1" flipV="1">
            <a:off x="2941505" y="4847420"/>
            <a:ext cx="3525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6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459" grpId="0" animBg="1"/>
      <p:bldP spid="656464" grpId="0" animBg="1"/>
      <p:bldP spid="65646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LCS-LENGTH(X, Y, m, n)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for </a:t>
            </a:r>
            <a:r>
              <a:rPr lang="en-US" sz="2000">
                <a:latin typeface="Comic Sans MS" panose="030F0702030302020204" pitchFamily="66" charset="0"/>
              </a:rPr>
              <a:t>i ← 1</a:t>
            </a:r>
            <a:r>
              <a:rPr lang="en-US" sz="2000"/>
              <a:t> </a:t>
            </a:r>
            <a:r>
              <a:rPr lang="en-US" sz="2000" b="1"/>
              <a:t>to </a:t>
            </a:r>
            <a:r>
              <a:rPr lang="en-US" sz="2000">
                <a:latin typeface="Comic Sans MS" panose="030F0702030302020204" pitchFamily="66" charset="0"/>
              </a:rPr>
              <a:t>m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     do </a:t>
            </a:r>
            <a:r>
              <a:rPr lang="en-US" sz="2000">
                <a:latin typeface="Comic Sans MS" panose="030F0702030302020204" pitchFamily="66" charset="0"/>
              </a:rPr>
              <a:t>c[i, 0] ← 0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for </a:t>
            </a:r>
            <a:r>
              <a:rPr lang="en-US" sz="2000">
                <a:latin typeface="Comic Sans MS" panose="030F0702030302020204" pitchFamily="66" charset="0"/>
              </a:rPr>
              <a:t>j ← 0 </a:t>
            </a:r>
            <a:r>
              <a:rPr lang="en-US" sz="2000" b="1"/>
              <a:t>to </a:t>
            </a:r>
            <a:r>
              <a:rPr lang="en-US" sz="2000">
                <a:latin typeface="Comic Sans MS" panose="030F0702030302020204" pitchFamily="66" charset="0"/>
              </a:rPr>
              <a:t>n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    do </a:t>
            </a:r>
            <a:r>
              <a:rPr lang="en-US" sz="2000">
                <a:latin typeface="Comic Sans MS" panose="030F0702030302020204" pitchFamily="66" charset="0"/>
              </a:rPr>
              <a:t>c[0, j] ← 0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for </a:t>
            </a:r>
            <a:r>
              <a:rPr lang="en-US" sz="2000">
                <a:latin typeface="Comic Sans MS" panose="030F0702030302020204" pitchFamily="66" charset="0"/>
              </a:rPr>
              <a:t>i ← 1</a:t>
            </a:r>
            <a:r>
              <a:rPr lang="en-US" sz="2000"/>
              <a:t> </a:t>
            </a:r>
            <a:r>
              <a:rPr lang="en-US" sz="2000" b="1"/>
              <a:t>to </a:t>
            </a:r>
            <a:r>
              <a:rPr lang="en-US" sz="2000">
                <a:latin typeface="Comic Sans MS" panose="030F0702030302020204" pitchFamily="66" charset="0"/>
              </a:rPr>
              <a:t>m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      do for </a:t>
            </a:r>
            <a:r>
              <a:rPr lang="en-US" sz="2000">
                <a:latin typeface="Comic Sans MS" panose="030F0702030302020204" pitchFamily="66" charset="0"/>
              </a:rPr>
              <a:t>j ← 1</a:t>
            </a:r>
            <a:r>
              <a:rPr lang="en-US" sz="2000"/>
              <a:t> </a:t>
            </a:r>
            <a:r>
              <a:rPr lang="en-US" sz="2000" b="1"/>
              <a:t>to </a:t>
            </a:r>
            <a:r>
              <a:rPr lang="en-US" sz="2000">
                <a:latin typeface="Comic Sans MS" panose="030F0702030302020204" pitchFamily="66" charset="0"/>
              </a:rPr>
              <a:t>n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	          do if </a:t>
            </a:r>
            <a:r>
              <a:rPr lang="en-US" sz="2000">
                <a:latin typeface="Comic Sans MS" panose="030F0702030302020204" pitchFamily="66" charset="0"/>
              </a:rPr>
              <a:t>x</a:t>
            </a:r>
            <a:r>
              <a:rPr lang="en-US" sz="2000" baseline="-25000">
                <a:latin typeface="Comic Sans MS" panose="030F0702030302020204" pitchFamily="66" charset="0"/>
              </a:rPr>
              <a:t>i </a:t>
            </a:r>
            <a:r>
              <a:rPr lang="en-US" sz="2000">
                <a:latin typeface="Comic Sans MS" panose="030F0702030302020204" pitchFamily="66" charset="0"/>
              </a:rPr>
              <a:t>= y</a:t>
            </a:r>
            <a:r>
              <a:rPr lang="en-US" sz="2000" baseline="-25000">
                <a:latin typeface="Comic Sans MS" panose="030F0702030302020204" pitchFamily="66" charset="0"/>
              </a:rPr>
              <a:t>j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		     then </a:t>
            </a:r>
            <a:r>
              <a:rPr lang="en-US" sz="2000">
                <a:latin typeface="Comic Sans MS" panose="030F0702030302020204" pitchFamily="66" charset="0"/>
              </a:rPr>
              <a:t>c[i, j] ← c[i - 1, j - 1] + 1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/>
              <a:t> 			 </a:t>
            </a:r>
            <a:r>
              <a:rPr lang="en-US" sz="2000">
                <a:latin typeface="Comic Sans MS" panose="030F0702030302020204" pitchFamily="66" charset="0"/>
              </a:rPr>
              <a:t>b[i, j ] ← “    ”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		     else if </a:t>
            </a:r>
            <a:r>
              <a:rPr lang="en-US" sz="2000">
                <a:latin typeface="Comic Sans MS" panose="030F0702030302020204" pitchFamily="66" charset="0"/>
              </a:rPr>
              <a:t>c[i - 1, j] ≥ c[i, j - 1]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			   then </a:t>
            </a:r>
            <a:r>
              <a:rPr lang="en-US" sz="2000">
                <a:latin typeface="Comic Sans MS" panose="030F0702030302020204" pitchFamily="66" charset="0"/>
              </a:rPr>
              <a:t>c[i, j] ← c[i - 1, j]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/>
              <a:t> 			            </a:t>
            </a:r>
            <a:r>
              <a:rPr lang="en-US" sz="2000">
                <a:latin typeface="Comic Sans MS" panose="030F0702030302020204" pitchFamily="66" charset="0"/>
              </a:rPr>
              <a:t>b[i, j] ← “↑”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 			   else </a:t>
            </a:r>
            <a:r>
              <a:rPr lang="en-US" sz="2000">
                <a:latin typeface="Comic Sans MS" panose="030F0702030302020204" pitchFamily="66" charset="0"/>
              </a:rPr>
              <a:t>c[i, j] ← c[i, j - 1]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/>
              <a:t> 			           </a:t>
            </a:r>
            <a:r>
              <a:rPr lang="en-US" sz="2000">
                <a:latin typeface="Comic Sans MS" panose="030F0702030302020204" pitchFamily="66" charset="0"/>
              </a:rPr>
              <a:t>b[i, j] ← “←”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b="1"/>
              <a:t>return </a:t>
            </a:r>
            <a:r>
              <a:rPr lang="en-US" sz="2000">
                <a:latin typeface="Comic Sans MS" panose="030F0702030302020204" pitchFamily="66" charset="0"/>
              </a:rPr>
              <a:t>c</a:t>
            </a:r>
            <a:r>
              <a:rPr lang="en-US" sz="2000"/>
              <a:t> and </a:t>
            </a:r>
            <a:r>
              <a:rPr lang="en-US" sz="2000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657412" name="Line 4"/>
          <p:cNvSpPr>
            <a:spLocks noChangeShapeType="1"/>
          </p:cNvSpPr>
          <p:nvPr/>
        </p:nvSpPr>
        <p:spPr bwMode="auto">
          <a:xfrm flipH="1" flipV="1">
            <a:off x="4252232" y="3579812"/>
            <a:ext cx="185738" cy="236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7413" name="AutoShape 5"/>
          <p:cNvSpPr>
            <a:spLocks/>
          </p:cNvSpPr>
          <p:nvPr/>
        </p:nvSpPr>
        <p:spPr bwMode="auto">
          <a:xfrm>
            <a:off x="2924176" y="940593"/>
            <a:ext cx="171450" cy="1357313"/>
          </a:xfrm>
          <a:prstGeom prst="rightBrace">
            <a:avLst>
              <a:gd name="adj1" fmla="val 6597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7414" name="Text Box 6"/>
          <p:cNvSpPr txBox="1">
            <a:spLocks noChangeArrowheads="1"/>
          </p:cNvSpPr>
          <p:nvPr/>
        </p:nvSpPr>
        <p:spPr bwMode="auto">
          <a:xfrm>
            <a:off x="3173186" y="1300276"/>
            <a:ext cx="483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The length of the LCS if one of the sequences</a:t>
            </a:r>
          </a:p>
          <a:p>
            <a:pPr eaLnBrk="1" hangingPunct="1"/>
            <a:r>
              <a:rPr lang="en-US" dirty="0"/>
              <a:t>is empty is zero</a:t>
            </a:r>
          </a:p>
        </p:txBody>
      </p:sp>
      <p:sp>
        <p:nvSpPr>
          <p:cNvPr id="657415" name="AutoShape 7"/>
          <p:cNvSpPr>
            <a:spLocks/>
          </p:cNvSpPr>
          <p:nvPr/>
        </p:nvSpPr>
        <p:spPr bwMode="auto">
          <a:xfrm>
            <a:off x="5631543" y="3128963"/>
            <a:ext cx="232228" cy="687387"/>
          </a:xfrm>
          <a:prstGeom prst="rightBrace">
            <a:avLst>
              <a:gd name="adj1" fmla="val 892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7416" name="Text Box 8"/>
          <p:cNvSpPr txBox="1">
            <a:spLocks noChangeArrowheads="1"/>
          </p:cNvSpPr>
          <p:nvPr/>
        </p:nvSpPr>
        <p:spPr bwMode="auto">
          <a:xfrm>
            <a:off x="5950743" y="3278075"/>
            <a:ext cx="1654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Case 1: x</a:t>
            </a:r>
            <a:r>
              <a:rPr lang="en-US" baseline="-25000"/>
              <a:t>i</a:t>
            </a:r>
            <a:r>
              <a:rPr lang="en-US"/>
              <a:t> = y</a:t>
            </a:r>
            <a:r>
              <a:rPr lang="en-US" baseline="-25000"/>
              <a:t>j</a:t>
            </a:r>
            <a:r>
              <a:rPr lang="en-US"/>
              <a:t> </a:t>
            </a:r>
          </a:p>
        </p:txBody>
      </p:sp>
      <p:sp>
        <p:nvSpPr>
          <p:cNvPr id="657417" name="AutoShape 9"/>
          <p:cNvSpPr>
            <a:spLocks/>
          </p:cNvSpPr>
          <p:nvPr/>
        </p:nvSpPr>
        <p:spPr bwMode="auto">
          <a:xfrm>
            <a:off x="5863771" y="3884612"/>
            <a:ext cx="125865" cy="1616302"/>
          </a:xfrm>
          <a:prstGeom prst="rightBrace">
            <a:avLst>
              <a:gd name="adj1" fmla="val 1722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7418" name="Text Box 10"/>
          <p:cNvSpPr txBox="1">
            <a:spLocks noChangeArrowheads="1"/>
          </p:cNvSpPr>
          <p:nvPr/>
        </p:nvSpPr>
        <p:spPr bwMode="auto">
          <a:xfrm>
            <a:off x="5989636" y="4521199"/>
            <a:ext cx="1646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Case 2: x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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</a:p>
        </p:txBody>
      </p:sp>
      <p:sp>
        <p:nvSpPr>
          <p:cNvPr id="657419" name="Text Box 11"/>
          <p:cNvSpPr txBox="1">
            <a:spLocks noChangeArrowheads="1"/>
          </p:cNvSpPr>
          <p:nvPr/>
        </p:nvSpPr>
        <p:spPr bwMode="auto">
          <a:xfrm>
            <a:off x="5280025" y="5959475"/>
            <a:ext cx="299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ym typeface="Symbol" panose="05050102010706020507" pitchFamily="18" charset="2"/>
              </a:rPr>
              <a:t>Running time: </a:t>
            </a:r>
            <a:r>
              <a:rPr 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(mn)</a:t>
            </a:r>
          </a:p>
        </p:txBody>
      </p:sp>
    </p:spTree>
    <p:extLst>
      <p:ext uri="{BB962C8B-B14F-4D97-AF65-F5344CB8AC3E}">
        <p14:creationId xmlns:p14="http://schemas.microsoft.com/office/powerpoint/2010/main" val="190410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2017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ym typeface="Symbol" panose="05050102010706020507" pitchFamily="18" charset="2"/>
              </a:rPr>
              <a:t>X = A, B, C, B, D, A, B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Y = </a:t>
            </a:r>
            <a:r>
              <a:rPr lang="en-US" sz="2400" dirty="0">
                <a:sym typeface="Symbol" panose="05050102010706020507" pitchFamily="18" charset="2"/>
              </a:rPr>
              <a:t>B, D, C, A, B, A</a:t>
            </a:r>
          </a:p>
        </p:txBody>
      </p:sp>
      <p:sp>
        <p:nvSpPr>
          <p:cNvPr id="201734" name="AutoShape 4"/>
          <p:cNvSpPr>
            <a:spLocks/>
          </p:cNvSpPr>
          <p:nvPr/>
        </p:nvSpPr>
        <p:spPr bwMode="auto">
          <a:xfrm>
            <a:off x="4133850" y="1144588"/>
            <a:ext cx="92075" cy="1092200"/>
          </a:xfrm>
          <a:prstGeom prst="leftBrace">
            <a:avLst>
              <a:gd name="adj1" fmla="val 9885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658437" name="Group 5"/>
          <p:cNvGraphicFramePr>
            <a:graphicFrameLocks noGrp="1"/>
          </p:cNvGraphicFramePr>
          <p:nvPr/>
        </p:nvGraphicFramePr>
        <p:xfrm>
          <a:off x="4221163" y="2819400"/>
          <a:ext cx="4102100" cy="3556003"/>
        </p:xfrm>
        <a:graphic>
          <a:graphicData uri="http://schemas.openxmlformats.org/drawingml/2006/table">
            <a:tbl>
              <a:tblPr/>
              <a:tblGrid>
                <a:gridCol w="585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1809" name="Rectangle 79"/>
          <p:cNvSpPr>
            <a:spLocks noChangeArrowheads="1"/>
          </p:cNvSpPr>
          <p:nvPr/>
        </p:nvSpPr>
        <p:spPr bwMode="auto">
          <a:xfrm>
            <a:off x="2647950" y="1111250"/>
            <a:ext cx="63515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0			       if i = 0 or j = 0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c[i, j] =   c[i-1, j-1] + 1	       if x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= y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max(c[i, j-1], c[i-1, j])  if x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 y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sz="2000">
              <a:sym typeface="Symbol" panose="05050102010706020507" pitchFamily="18" charset="2"/>
            </a:endParaRPr>
          </a:p>
        </p:txBody>
      </p:sp>
      <p:sp>
        <p:nvSpPr>
          <p:cNvPr id="201810" name="Text Box 80"/>
          <p:cNvSpPr txBox="1">
            <a:spLocks noChangeArrowheads="1"/>
          </p:cNvSpPr>
          <p:nvPr/>
        </p:nvSpPr>
        <p:spPr bwMode="auto">
          <a:xfrm>
            <a:off x="4335463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1811" name="Text Box 81"/>
          <p:cNvSpPr txBox="1">
            <a:spLocks noChangeArrowheads="1"/>
          </p:cNvSpPr>
          <p:nvPr/>
        </p:nvSpPr>
        <p:spPr bwMode="auto">
          <a:xfrm>
            <a:off x="4945063" y="2166938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12" name="Text Box 82"/>
          <p:cNvSpPr txBox="1">
            <a:spLocks noChangeArrowheads="1"/>
          </p:cNvSpPr>
          <p:nvPr/>
        </p:nvSpPr>
        <p:spPr bwMode="auto">
          <a:xfrm>
            <a:off x="5499100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13" name="Text Box 83"/>
          <p:cNvSpPr txBox="1">
            <a:spLocks noChangeArrowheads="1"/>
          </p:cNvSpPr>
          <p:nvPr/>
        </p:nvSpPr>
        <p:spPr bwMode="auto">
          <a:xfrm>
            <a:off x="78946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1814" name="Text Box 84"/>
          <p:cNvSpPr txBox="1">
            <a:spLocks noChangeArrowheads="1"/>
          </p:cNvSpPr>
          <p:nvPr/>
        </p:nvSpPr>
        <p:spPr bwMode="auto">
          <a:xfrm>
            <a:off x="61293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815" name="Text Box 85"/>
          <p:cNvSpPr txBox="1">
            <a:spLocks noChangeArrowheads="1"/>
          </p:cNvSpPr>
          <p:nvPr/>
        </p:nvSpPr>
        <p:spPr bwMode="auto">
          <a:xfrm>
            <a:off x="67008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1816" name="Text Box 86"/>
          <p:cNvSpPr txBox="1">
            <a:spLocks noChangeArrowheads="1"/>
          </p:cNvSpPr>
          <p:nvPr/>
        </p:nvSpPr>
        <p:spPr bwMode="auto">
          <a:xfrm>
            <a:off x="7280275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1817" name="Text Box 87"/>
          <p:cNvSpPr txBox="1">
            <a:spLocks noChangeArrowheads="1"/>
          </p:cNvSpPr>
          <p:nvPr/>
        </p:nvSpPr>
        <p:spPr bwMode="auto">
          <a:xfrm>
            <a:off x="4329113" y="2411413"/>
            <a:ext cx="365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j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1818" name="Text Box 88"/>
          <p:cNvSpPr txBox="1">
            <a:spLocks noChangeArrowheads="1"/>
          </p:cNvSpPr>
          <p:nvPr/>
        </p:nvSpPr>
        <p:spPr bwMode="auto">
          <a:xfrm>
            <a:off x="4938713" y="2478088"/>
            <a:ext cx="328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19" name="Text Box 89"/>
          <p:cNvSpPr txBox="1">
            <a:spLocks noChangeArrowheads="1"/>
          </p:cNvSpPr>
          <p:nvPr/>
        </p:nvSpPr>
        <p:spPr bwMode="auto">
          <a:xfrm>
            <a:off x="5492750" y="24780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1820" name="Text Box 90"/>
          <p:cNvSpPr txBox="1">
            <a:spLocks noChangeArrowheads="1"/>
          </p:cNvSpPr>
          <p:nvPr/>
        </p:nvSpPr>
        <p:spPr bwMode="auto">
          <a:xfrm>
            <a:off x="7888288" y="2478088"/>
            <a:ext cx="350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21" name="Text Box 91"/>
          <p:cNvSpPr txBox="1">
            <a:spLocks noChangeArrowheads="1"/>
          </p:cNvSpPr>
          <p:nvPr/>
        </p:nvSpPr>
        <p:spPr bwMode="auto">
          <a:xfrm>
            <a:off x="6122988" y="2478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1822" name="Text Box 92"/>
          <p:cNvSpPr txBox="1">
            <a:spLocks noChangeArrowheads="1"/>
          </p:cNvSpPr>
          <p:nvPr/>
        </p:nvSpPr>
        <p:spPr bwMode="auto">
          <a:xfrm>
            <a:off x="6694488" y="2478088"/>
            <a:ext cx="350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23" name="Text Box 93"/>
          <p:cNvSpPr txBox="1">
            <a:spLocks noChangeArrowheads="1"/>
          </p:cNvSpPr>
          <p:nvPr/>
        </p:nvSpPr>
        <p:spPr bwMode="auto">
          <a:xfrm>
            <a:off x="7273925" y="2478088"/>
            <a:ext cx="328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24" name="Text Box 94"/>
          <p:cNvSpPr txBox="1">
            <a:spLocks noChangeArrowheads="1"/>
          </p:cNvSpPr>
          <p:nvPr/>
        </p:nvSpPr>
        <p:spPr bwMode="auto">
          <a:xfrm>
            <a:off x="3379788" y="51069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1825" name="Text Box 95"/>
          <p:cNvSpPr txBox="1">
            <a:spLocks noChangeArrowheads="1"/>
          </p:cNvSpPr>
          <p:nvPr/>
        </p:nvSpPr>
        <p:spPr bwMode="auto">
          <a:xfrm>
            <a:off x="3398838" y="3287713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26" name="Text Box 96"/>
          <p:cNvSpPr txBox="1">
            <a:spLocks noChangeArrowheads="1"/>
          </p:cNvSpPr>
          <p:nvPr/>
        </p:nvSpPr>
        <p:spPr bwMode="auto">
          <a:xfrm>
            <a:off x="3379788" y="37433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27" name="Text Box 97"/>
          <p:cNvSpPr txBox="1">
            <a:spLocks noChangeArrowheads="1"/>
          </p:cNvSpPr>
          <p:nvPr/>
        </p:nvSpPr>
        <p:spPr bwMode="auto">
          <a:xfrm>
            <a:off x="3379788" y="28336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1828" name="Text Box 98"/>
          <p:cNvSpPr txBox="1">
            <a:spLocks noChangeArrowheads="1"/>
          </p:cNvSpPr>
          <p:nvPr/>
        </p:nvSpPr>
        <p:spPr bwMode="auto">
          <a:xfrm>
            <a:off x="3379788" y="4197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829" name="Text Box 99"/>
          <p:cNvSpPr txBox="1">
            <a:spLocks noChangeArrowheads="1"/>
          </p:cNvSpPr>
          <p:nvPr/>
        </p:nvSpPr>
        <p:spPr bwMode="auto">
          <a:xfrm>
            <a:off x="3379788" y="465296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1830" name="Text Box 100"/>
          <p:cNvSpPr txBox="1">
            <a:spLocks noChangeArrowheads="1"/>
          </p:cNvSpPr>
          <p:nvPr/>
        </p:nvSpPr>
        <p:spPr bwMode="auto">
          <a:xfrm>
            <a:off x="3379788" y="55626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1831" name="Text Box 101"/>
          <p:cNvSpPr txBox="1">
            <a:spLocks noChangeArrowheads="1"/>
          </p:cNvSpPr>
          <p:nvPr/>
        </p:nvSpPr>
        <p:spPr bwMode="auto">
          <a:xfrm>
            <a:off x="3379788" y="60182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201832" name="Text Box 102"/>
          <p:cNvSpPr txBox="1">
            <a:spLocks noChangeArrowheads="1"/>
          </p:cNvSpPr>
          <p:nvPr/>
        </p:nvSpPr>
        <p:spPr bwMode="auto">
          <a:xfrm>
            <a:off x="3794125" y="510857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1833" name="Text Box 103"/>
          <p:cNvSpPr txBox="1">
            <a:spLocks noChangeArrowheads="1"/>
          </p:cNvSpPr>
          <p:nvPr/>
        </p:nvSpPr>
        <p:spPr bwMode="auto">
          <a:xfrm>
            <a:off x="3813175" y="3289300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34" name="Text Box 104"/>
          <p:cNvSpPr txBox="1">
            <a:spLocks noChangeArrowheads="1"/>
          </p:cNvSpPr>
          <p:nvPr/>
        </p:nvSpPr>
        <p:spPr bwMode="auto">
          <a:xfrm>
            <a:off x="3794125" y="3744913"/>
            <a:ext cx="328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35" name="Text Box 105"/>
          <p:cNvSpPr txBox="1">
            <a:spLocks noChangeArrowheads="1"/>
          </p:cNvSpPr>
          <p:nvPr/>
        </p:nvSpPr>
        <p:spPr bwMode="auto">
          <a:xfrm>
            <a:off x="3794125" y="2835275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1836" name="Text Box 106"/>
          <p:cNvSpPr txBox="1">
            <a:spLocks noChangeArrowheads="1"/>
          </p:cNvSpPr>
          <p:nvPr/>
        </p:nvSpPr>
        <p:spPr bwMode="auto">
          <a:xfrm>
            <a:off x="3794125" y="4198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1837" name="Text Box 107"/>
          <p:cNvSpPr txBox="1">
            <a:spLocks noChangeArrowheads="1"/>
          </p:cNvSpPr>
          <p:nvPr/>
        </p:nvSpPr>
        <p:spPr bwMode="auto">
          <a:xfrm>
            <a:off x="3794125" y="465455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38" name="Text Box 108"/>
          <p:cNvSpPr txBox="1">
            <a:spLocks noChangeArrowheads="1"/>
          </p:cNvSpPr>
          <p:nvPr/>
        </p:nvSpPr>
        <p:spPr bwMode="auto">
          <a:xfrm>
            <a:off x="3794125" y="5564188"/>
            <a:ext cx="3508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39" name="Text Box 109"/>
          <p:cNvSpPr txBox="1">
            <a:spLocks noChangeArrowheads="1"/>
          </p:cNvSpPr>
          <p:nvPr/>
        </p:nvSpPr>
        <p:spPr bwMode="auto">
          <a:xfrm>
            <a:off x="3794125" y="601980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4946650" y="2925763"/>
            <a:ext cx="3273425" cy="366712"/>
            <a:chOff x="2133" y="1816"/>
            <a:chExt cx="2062" cy="231"/>
          </a:xfrm>
        </p:grpSpPr>
        <p:sp>
          <p:nvSpPr>
            <p:cNvPr id="201841" name="Text Box 111"/>
            <p:cNvSpPr txBox="1">
              <a:spLocks noChangeArrowheads="1"/>
            </p:cNvSpPr>
            <p:nvPr/>
          </p:nvSpPr>
          <p:spPr bwMode="auto">
            <a:xfrm>
              <a:off x="2133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2" name="Text Box 112"/>
            <p:cNvSpPr txBox="1">
              <a:spLocks noChangeArrowheads="1"/>
            </p:cNvSpPr>
            <p:nvPr/>
          </p:nvSpPr>
          <p:spPr bwMode="auto">
            <a:xfrm>
              <a:off x="2482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3" name="Text Box 113"/>
            <p:cNvSpPr txBox="1">
              <a:spLocks noChangeArrowheads="1"/>
            </p:cNvSpPr>
            <p:nvPr/>
          </p:nvSpPr>
          <p:spPr bwMode="auto">
            <a:xfrm>
              <a:off x="3991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4" name="Text Box 114"/>
            <p:cNvSpPr txBox="1">
              <a:spLocks noChangeArrowheads="1"/>
            </p:cNvSpPr>
            <p:nvPr/>
          </p:nvSpPr>
          <p:spPr bwMode="auto">
            <a:xfrm>
              <a:off x="287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5" name="Text Box 115"/>
            <p:cNvSpPr txBox="1">
              <a:spLocks noChangeArrowheads="1"/>
            </p:cNvSpPr>
            <p:nvPr/>
          </p:nvSpPr>
          <p:spPr bwMode="auto">
            <a:xfrm>
              <a:off x="323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6" name="Text Box 116"/>
            <p:cNvSpPr txBox="1">
              <a:spLocks noChangeArrowheads="1"/>
            </p:cNvSpPr>
            <p:nvPr/>
          </p:nvSpPr>
          <p:spPr bwMode="auto">
            <a:xfrm>
              <a:off x="3604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grpSp>
        <p:nvGrpSpPr>
          <p:cNvPr id="3" name="Group 117"/>
          <p:cNvGrpSpPr>
            <a:grpSpLocks/>
          </p:cNvGrpSpPr>
          <p:nvPr/>
        </p:nvGrpSpPr>
        <p:grpSpPr bwMode="auto">
          <a:xfrm>
            <a:off x="4348163" y="2925763"/>
            <a:ext cx="325437" cy="3524250"/>
            <a:chOff x="1756" y="1816"/>
            <a:chExt cx="205" cy="2220"/>
          </a:xfrm>
        </p:grpSpPr>
        <p:sp>
          <p:nvSpPr>
            <p:cNvPr id="201848" name="Text Box 118"/>
            <p:cNvSpPr txBox="1">
              <a:spLocks noChangeArrowheads="1"/>
            </p:cNvSpPr>
            <p:nvPr/>
          </p:nvSpPr>
          <p:spPr bwMode="auto">
            <a:xfrm>
              <a:off x="1757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9" name="Text Box 119"/>
            <p:cNvSpPr txBox="1">
              <a:spLocks noChangeArrowheads="1"/>
            </p:cNvSpPr>
            <p:nvPr/>
          </p:nvSpPr>
          <p:spPr bwMode="auto">
            <a:xfrm>
              <a:off x="1756" y="323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0" name="Text Box 120"/>
            <p:cNvSpPr txBox="1">
              <a:spLocks noChangeArrowheads="1"/>
            </p:cNvSpPr>
            <p:nvPr/>
          </p:nvSpPr>
          <p:spPr bwMode="auto">
            <a:xfrm>
              <a:off x="1757" y="208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1" name="Text Box 121"/>
            <p:cNvSpPr txBox="1">
              <a:spLocks noChangeArrowheads="1"/>
            </p:cNvSpPr>
            <p:nvPr/>
          </p:nvSpPr>
          <p:spPr bwMode="auto">
            <a:xfrm>
              <a:off x="1756" y="237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2" name="Text Box 122"/>
            <p:cNvSpPr txBox="1">
              <a:spLocks noChangeArrowheads="1"/>
            </p:cNvSpPr>
            <p:nvPr/>
          </p:nvSpPr>
          <p:spPr bwMode="auto">
            <a:xfrm>
              <a:off x="1756" y="265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3" name="Text Box 123"/>
            <p:cNvSpPr txBox="1">
              <a:spLocks noChangeArrowheads="1"/>
            </p:cNvSpPr>
            <p:nvPr/>
          </p:nvSpPr>
          <p:spPr bwMode="auto">
            <a:xfrm>
              <a:off x="1756" y="294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4" name="Text Box 124"/>
            <p:cNvSpPr txBox="1">
              <a:spLocks noChangeArrowheads="1"/>
            </p:cNvSpPr>
            <p:nvPr/>
          </p:nvSpPr>
          <p:spPr bwMode="auto">
            <a:xfrm>
              <a:off x="1756" y="351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5" name="Text Box 125"/>
            <p:cNvSpPr txBox="1">
              <a:spLocks noChangeArrowheads="1"/>
            </p:cNvSpPr>
            <p:nvPr/>
          </p:nvSpPr>
          <p:spPr bwMode="auto">
            <a:xfrm>
              <a:off x="1756" y="380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sp>
        <p:nvSpPr>
          <p:cNvPr id="658558" name="Text Box 126"/>
          <p:cNvSpPr txBox="1">
            <a:spLocks noChangeArrowheads="1"/>
          </p:cNvSpPr>
          <p:nvPr/>
        </p:nvSpPr>
        <p:spPr bwMode="auto">
          <a:xfrm>
            <a:off x="4948238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658559" name="Text Box 127"/>
          <p:cNvSpPr txBox="1">
            <a:spLocks noChangeArrowheads="1"/>
          </p:cNvSpPr>
          <p:nvPr/>
        </p:nvSpPr>
        <p:spPr bwMode="auto">
          <a:xfrm>
            <a:off x="5494338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658560" name="Text Box 128"/>
          <p:cNvSpPr txBox="1">
            <a:spLocks noChangeArrowheads="1"/>
          </p:cNvSpPr>
          <p:nvPr/>
        </p:nvSpPr>
        <p:spPr bwMode="auto">
          <a:xfrm>
            <a:off x="6126163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4" name="Group 129"/>
          <p:cNvGrpSpPr>
            <a:grpSpLocks/>
          </p:cNvGrpSpPr>
          <p:nvPr/>
        </p:nvGrpSpPr>
        <p:grpSpPr bwMode="auto">
          <a:xfrm>
            <a:off x="6692900" y="3313113"/>
            <a:ext cx="352425" cy="436562"/>
            <a:chOff x="3233" y="2100"/>
            <a:chExt cx="222" cy="275"/>
          </a:xfrm>
        </p:grpSpPr>
        <p:sp>
          <p:nvSpPr>
            <p:cNvPr id="201860" name="Text Box 130"/>
            <p:cNvSpPr txBox="1">
              <a:spLocks noChangeArrowheads="1"/>
            </p:cNvSpPr>
            <p:nvPr/>
          </p:nvSpPr>
          <p:spPr bwMode="auto">
            <a:xfrm>
              <a:off x="3251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1" name="Line 131"/>
            <p:cNvSpPr>
              <a:spLocks noChangeShapeType="1"/>
            </p:cNvSpPr>
            <p:nvPr/>
          </p:nvSpPr>
          <p:spPr bwMode="auto">
            <a:xfrm flipH="1" flipV="1">
              <a:off x="3233" y="2100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64" name="Text Box 132"/>
          <p:cNvSpPr txBox="1">
            <a:spLocks noChangeArrowheads="1"/>
          </p:cNvSpPr>
          <p:nvPr/>
        </p:nvSpPr>
        <p:spPr bwMode="auto">
          <a:xfrm>
            <a:off x="7135813" y="34718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7816850" y="3314700"/>
            <a:ext cx="423863" cy="434975"/>
            <a:chOff x="3941" y="2101"/>
            <a:chExt cx="267" cy="274"/>
          </a:xfrm>
        </p:grpSpPr>
        <p:sp>
          <p:nvSpPr>
            <p:cNvPr id="201864" name="Text Box 134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5" name="Line 135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36"/>
          <p:cNvGrpSpPr>
            <a:grpSpLocks/>
          </p:cNvGrpSpPr>
          <p:nvPr/>
        </p:nvGrpSpPr>
        <p:grpSpPr bwMode="auto">
          <a:xfrm>
            <a:off x="4876800" y="3744913"/>
            <a:ext cx="423863" cy="434975"/>
            <a:chOff x="3941" y="2101"/>
            <a:chExt cx="267" cy="274"/>
          </a:xfrm>
        </p:grpSpPr>
        <p:sp>
          <p:nvSpPr>
            <p:cNvPr id="201867" name="Text Box 137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8" name="Line 138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71" name="Text Box 139"/>
          <p:cNvSpPr txBox="1">
            <a:spLocks noChangeArrowheads="1"/>
          </p:cNvSpPr>
          <p:nvPr/>
        </p:nvSpPr>
        <p:spPr bwMode="auto">
          <a:xfrm>
            <a:off x="5387975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58572" name="Text Box 140"/>
          <p:cNvSpPr txBox="1">
            <a:spLocks noChangeArrowheads="1"/>
          </p:cNvSpPr>
          <p:nvPr/>
        </p:nvSpPr>
        <p:spPr bwMode="auto">
          <a:xfrm>
            <a:off x="5975350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58573" name="Text Box 141"/>
          <p:cNvSpPr txBox="1">
            <a:spLocks noChangeArrowheads="1"/>
          </p:cNvSpPr>
          <p:nvPr/>
        </p:nvSpPr>
        <p:spPr bwMode="auto">
          <a:xfrm>
            <a:off x="6711950" y="37449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" name="Group 142"/>
          <p:cNvGrpSpPr>
            <a:grpSpLocks/>
          </p:cNvGrpSpPr>
          <p:nvPr/>
        </p:nvGrpSpPr>
        <p:grpSpPr bwMode="auto">
          <a:xfrm>
            <a:off x="7278688" y="3744913"/>
            <a:ext cx="423862" cy="434975"/>
            <a:chOff x="3941" y="2101"/>
            <a:chExt cx="267" cy="274"/>
          </a:xfrm>
        </p:grpSpPr>
        <p:sp>
          <p:nvSpPr>
            <p:cNvPr id="201873" name="Text Box 143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74" name="Line 144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77" name="Text Box 145"/>
          <p:cNvSpPr txBox="1">
            <a:spLocks noChangeArrowheads="1"/>
          </p:cNvSpPr>
          <p:nvPr/>
        </p:nvSpPr>
        <p:spPr bwMode="auto">
          <a:xfrm>
            <a:off x="7712075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77" name="Text Box 147"/>
          <p:cNvSpPr txBox="1">
            <a:spLocks noChangeArrowheads="1"/>
          </p:cNvSpPr>
          <p:nvPr/>
        </p:nvSpPr>
        <p:spPr bwMode="auto">
          <a:xfrm>
            <a:off x="4964113" y="420846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78" name="Text Box 148"/>
          <p:cNvSpPr txBox="1">
            <a:spLocks noChangeArrowheads="1"/>
          </p:cNvSpPr>
          <p:nvPr/>
        </p:nvSpPr>
        <p:spPr bwMode="auto">
          <a:xfrm>
            <a:off x="5521326" y="420846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201879" name="Group 149"/>
          <p:cNvGrpSpPr>
            <a:grpSpLocks/>
          </p:cNvGrpSpPr>
          <p:nvPr/>
        </p:nvGrpSpPr>
        <p:grpSpPr bwMode="auto">
          <a:xfrm>
            <a:off x="6073776" y="4208463"/>
            <a:ext cx="423863" cy="434975"/>
            <a:chOff x="3941" y="2101"/>
            <a:chExt cx="267" cy="274"/>
          </a:xfrm>
        </p:grpSpPr>
        <p:sp>
          <p:nvSpPr>
            <p:cNvPr id="201880" name="Text Box 150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81" name="Line 151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882" name="Text Box 152"/>
          <p:cNvSpPr txBox="1">
            <a:spLocks noChangeArrowheads="1"/>
          </p:cNvSpPr>
          <p:nvPr/>
        </p:nvSpPr>
        <p:spPr bwMode="auto">
          <a:xfrm>
            <a:off x="6592888" y="437991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83" name="Text Box 153"/>
          <p:cNvSpPr txBox="1">
            <a:spLocks noChangeArrowheads="1"/>
          </p:cNvSpPr>
          <p:nvPr/>
        </p:nvSpPr>
        <p:spPr bwMode="auto">
          <a:xfrm>
            <a:off x="7335838" y="420846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84" name="Text Box 154"/>
          <p:cNvSpPr txBox="1">
            <a:spLocks noChangeArrowheads="1"/>
          </p:cNvSpPr>
          <p:nvPr/>
        </p:nvSpPr>
        <p:spPr bwMode="auto">
          <a:xfrm>
            <a:off x="7850188" y="420846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201886" name="Group 156"/>
          <p:cNvGrpSpPr>
            <a:grpSpLocks/>
          </p:cNvGrpSpPr>
          <p:nvPr/>
        </p:nvGrpSpPr>
        <p:grpSpPr bwMode="auto">
          <a:xfrm>
            <a:off x="4957763" y="4643438"/>
            <a:ext cx="423863" cy="434975"/>
            <a:chOff x="3941" y="2101"/>
            <a:chExt cx="267" cy="274"/>
          </a:xfrm>
        </p:grpSpPr>
        <p:sp>
          <p:nvSpPr>
            <p:cNvPr id="201887" name="Text Box 157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88" name="Line 158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889" name="Text Box 159"/>
          <p:cNvSpPr txBox="1">
            <a:spLocks noChangeArrowheads="1"/>
          </p:cNvSpPr>
          <p:nvPr/>
        </p:nvSpPr>
        <p:spPr bwMode="auto">
          <a:xfrm>
            <a:off x="5545138" y="46434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90" name="Text Box 160"/>
          <p:cNvSpPr txBox="1">
            <a:spLocks noChangeArrowheads="1"/>
          </p:cNvSpPr>
          <p:nvPr/>
        </p:nvSpPr>
        <p:spPr bwMode="auto">
          <a:xfrm>
            <a:off x="6145213" y="46434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91" name="Text Box 161"/>
          <p:cNvSpPr txBox="1">
            <a:spLocks noChangeArrowheads="1"/>
          </p:cNvSpPr>
          <p:nvPr/>
        </p:nvSpPr>
        <p:spPr bwMode="auto">
          <a:xfrm>
            <a:off x="6659563" y="46434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201892" name="Group 162"/>
          <p:cNvGrpSpPr>
            <a:grpSpLocks/>
          </p:cNvGrpSpPr>
          <p:nvPr/>
        </p:nvGrpSpPr>
        <p:grpSpPr bwMode="auto">
          <a:xfrm>
            <a:off x="7243763" y="4643438"/>
            <a:ext cx="423863" cy="434975"/>
            <a:chOff x="3941" y="2101"/>
            <a:chExt cx="267" cy="274"/>
          </a:xfrm>
        </p:grpSpPr>
        <p:sp>
          <p:nvSpPr>
            <p:cNvPr id="201893" name="Text Box 163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1894" name="Line 164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895" name="Text Box 165"/>
          <p:cNvSpPr txBox="1">
            <a:spLocks noChangeArrowheads="1"/>
          </p:cNvSpPr>
          <p:nvPr/>
        </p:nvSpPr>
        <p:spPr bwMode="auto">
          <a:xfrm>
            <a:off x="7729538" y="4814888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897" name="Text Box 167"/>
          <p:cNvSpPr txBox="1">
            <a:spLocks noChangeArrowheads="1"/>
          </p:cNvSpPr>
          <p:nvPr/>
        </p:nvSpPr>
        <p:spPr bwMode="auto">
          <a:xfrm>
            <a:off x="4976813" y="51022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201898" name="Group 168"/>
          <p:cNvGrpSpPr>
            <a:grpSpLocks/>
          </p:cNvGrpSpPr>
          <p:nvPr/>
        </p:nvGrpSpPr>
        <p:grpSpPr bwMode="auto">
          <a:xfrm>
            <a:off x="5503863" y="5102225"/>
            <a:ext cx="423862" cy="434975"/>
            <a:chOff x="3941" y="2101"/>
            <a:chExt cx="267" cy="274"/>
          </a:xfrm>
        </p:grpSpPr>
        <p:sp>
          <p:nvSpPr>
            <p:cNvPr id="201899" name="Text Box 169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00" name="Line 170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901" name="Text Box 171"/>
          <p:cNvSpPr txBox="1">
            <a:spLocks noChangeArrowheads="1"/>
          </p:cNvSpPr>
          <p:nvPr/>
        </p:nvSpPr>
        <p:spPr bwMode="auto">
          <a:xfrm>
            <a:off x="6145213" y="51022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902" name="Text Box 172"/>
          <p:cNvSpPr txBox="1">
            <a:spLocks noChangeArrowheads="1"/>
          </p:cNvSpPr>
          <p:nvPr/>
        </p:nvSpPr>
        <p:spPr bwMode="auto">
          <a:xfrm>
            <a:off x="6659563" y="51022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903" name="Text Box 173"/>
          <p:cNvSpPr txBox="1">
            <a:spLocks noChangeArrowheads="1"/>
          </p:cNvSpPr>
          <p:nvPr/>
        </p:nvSpPr>
        <p:spPr bwMode="auto">
          <a:xfrm>
            <a:off x="7297738" y="51022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904" name="Text Box 174"/>
          <p:cNvSpPr txBox="1">
            <a:spLocks noChangeArrowheads="1"/>
          </p:cNvSpPr>
          <p:nvPr/>
        </p:nvSpPr>
        <p:spPr bwMode="auto">
          <a:xfrm>
            <a:off x="7870825" y="51022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906" name="Text Box 176"/>
          <p:cNvSpPr txBox="1">
            <a:spLocks noChangeArrowheads="1"/>
          </p:cNvSpPr>
          <p:nvPr/>
        </p:nvSpPr>
        <p:spPr bwMode="auto">
          <a:xfrm>
            <a:off x="4970463" y="55483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907" name="Text Box 177"/>
          <p:cNvSpPr txBox="1">
            <a:spLocks noChangeArrowheads="1"/>
          </p:cNvSpPr>
          <p:nvPr/>
        </p:nvSpPr>
        <p:spPr bwMode="auto">
          <a:xfrm>
            <a:off x="6138863" y="55483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908" name="Text Box 178"/>
          <p:cNvSpPr txBox="1">
            <a:spLocks noChangeArrowheads="1"/>
          </p:cNvSpPr>
          <p:nvPr/>
        </p:nvSpPr>
        <p:spPr bwMode="auto">
          <a:xfrm>
            <a:off x="7291388" y="55483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909" name="Text Box 179"/>
          <p:cNvSpPr txBox="1">
            <a:spLocks noChangeArrowheads="1"/>
          </p:cNvSpPr>
          <p:nvPr/>
        </p:nvSpPr>
        <p:spPr bwMode="auto">
          <a:xfrm>
            <a:off x="5576888" y="55483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201910" name="Group 180"/>
          <p:cNvGrpSpPr>
            <a:grpSpLocks/>
          </p:cNvGrpSpPr>
          <p:nvPr/>
        </p:nvGrpSpPr>
        <p:grpSpPr bwMode="auto">
          <a:xfrm>
            <a:off x="6681788" y="5548313"/>
            <a:ext cx="423862" cy="434975"/>
            <a:chOff x="3941" y="2101"/>
            <a:chExt cx="267" cy="274"/>
          </a:xfrm>
        </p:grpSpPr>
        <p:sp>
          <p:nvSpPr>
            <p:cNvPr id="201911" name="Text Box 181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1912" name="Line 182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1913" name="Group 183"/>
          <p:cNvGrpSpPr>
            <a:grpSpLocks/>
          </p:cNvGrpSpPr>
          <p:nvPr/>
        </p:nvGrpSpPr>
        <p:grpSpPr bwMode="auto">
          <a:xfrm>
            <a:off x="7796213" y="5548313"/>
            <a:ext cx="423862" cy="434975"/>
            <a:chOff x="3941" y="2101"/>
            <a:chExt cx="267" cy="274"/>
          </a:xfrm>
        </p:grpSpPr>
        <p:sp>
          <p:nvSpPr>
            <p:cNvPr id="201914" name="Text Box 184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4</a:t>
              </a:r>
            </a:p>
          </p:txBody>
        </p:sp>
        <p:sp>
          <p:nvSpPr>
            <p:cNvPr id="201915" name="Line 185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1917" name="Group 187"/>
          <p:cNvGrpSpPr>
            <a:grpSpLocks/>
          </p:cNvGrpSpPr>
          <p:nvPr/>
        </p:nvGrpSpPr>
        <p:grpSpPr bwMode="auto">
          <a:xfrm>
            <a:off x="4892675" y="5978525"/>
            <a:ext cx="423863" cy="434975"/>
            <a:chOff x="3941" y="2101"/>
            <a:chExt cx="267" cy="274"/>
          </a:xfrm>
        </p:grpSpPr>
        <p:sp>
          <p:nvSpPr>
            <p:cNvPr id="201918" name="Text Box 188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919" name="Line 189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920" name="Text Box 190"/>
          <p:cNvSpPr txBox="1">
            <a:spLocks noChangeArrowheads="1"/>
          </p:cNvSpPr>
          <p:nvPr/>
        </p:nvSpPr>
        <p:spPr bwMode="auto">
          <a:xfrm>
            <a:off x="6137275" y="59785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921" name="Text Box 191"/>
          <p:cNvSpPr txBox="1">
            <a:spLocks noChangeArrowheads="1"/>
          </p:cNvSpPr>
          <p:nvPr/>
        </p:nvSpPr>
        <p:spPr bwMode="auto">
          <a:xfrm>
            <a:off x="5575300" y="59785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922" name="Text Box 192"/>
          <p:cNvSpPr txBox="1">
            <a:spLocks noChangeArrowheads="1"/>
          </p:cNvSpPr>
          <p:nvPr/>
        </p:nvSpPr>
        <p:spPr bwMode="auto">
          <a:xfrm>
            <a:off x="6757988" y="59785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3</a:t>
            </a:r>
          </a:p>
        </p:txBody>
      </p:sp>
      <p:grpSp>
        <p:nvGrpSpPr>
          <p:cNvPr id="201923" name="Group 193"/>
          <p:cNvGrpSpPr>
            <a:grpSpLocks/>
          </p:cNvGrpSpPr>
          <p:nvPr/>
        </p:nvGrpSpPr>
        <p:grpSpPr bwMode="auto">
          <a:xfrm>
            <a:off x="7321550" y="5978525"/>
            <a:ext cx="423863" cy="434975"/>
            <a:chOff x="3941" y="2101"/>
            <a:chExt cx="267" cy="274"/>
          </a:xfrm>
        </p:grpSpPr>
        <p:sp>
          <p:nvSpPr>
            <p:cNvPr id="201924" name="Text Box 194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4</a:t>
              </a:r>
            </a:p>
          </p:txBody>
        </p:sp>
        <p:sp>
          <p:nvSpPr>
            <p:cNvPr id="201925" name="Line 195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926" name="Text Box 196"/>
          <p:cNvSpPr txBox="1">
            <a:spLocks noChangeArrowheads="1"/>
          </p:cNvSpPr>
          <p:nvPr/>
        </p:nvSpPr>
        <p:spPr bwMode="auto">
          <a:xfrm>
            <a:off x="7908925" y="5978525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grpSp>
        <p:nvGrpSpPr>
          <p:cNvPr id="201927" name="Group 197"/>
          <p:cNvGrpSpPr>
            <a:grpSpLocks/>
          </p:cNvGrpSpPr>
          <p:nvPr/>
        </p:nvGrpSpPr>
        <p:grpSpPr bwMode="auto">
          <a:xfrm>
            <a:off x="336550" y="2422525"/>
            <a:ext cx="4019550" cy="3860800"/>
            <a:chOff x="212" y="1526"/>
            <a:chExt cx="2532" cy="2432"/>
          </a:xfrm>
        </p:grpSpPr>
        <p:sp>
          <p:nvSpPr>
            <p:cNvPr id="201928" name="Rectangle 198"/>
            <p:cNvSpPr>
              <a:spLocks noChangeArrowheads="1"/>
            </p:cNvSpPr>
            <p:nvPr/>
          </p:nvSpPr>
          <p:spPr bwMode="auto">
            <a:xfrm>
              <a:off x="212" y="1526"/>
              <a:ext cx="2532" cy="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If 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x</a:t>
              </a: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 = y</a:t>
              </a: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j</a:t>
              </a:r>
              <a:endParaRPr lang="en-US" sz="24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  ”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anose="05050102010706020507" pitchFamily="18" charset="2"/>
                </a:rPr>
                <a:t>Else if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 		         c[i - 1, j] ≥ c[i, j-1]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	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 ”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anose="05050102010706020507" pitchFamily="18" charset="2"/>
                </a:rPr>
                <a:t>else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	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 ”</a:t>
              </a:r>
              <a:endParaRPr lang="en-US" sz="2400">
                <a:solidFill>
                  <a:srgbClr val="336699"/>
                </a:solidFill>
              </a:endParaRPr>
            </a:p>
          </p:txBody>
        </p:sp>
        <p:sp>
          <p:nvSpPr>
            <p:cNvPr id="201929" name="Line 199"/>
            <p:cNvSpPr>
              <a:spLocks noChangeShapeType="1"/>
            </p:cNvSpPr>
            <p:nvPr/>
          </p:nvSpPr>
          <p:spPr bwMode="auto">
            <a:xfrm flipH="1" flipV="1">
              <a:off x="1311" y="1885"/>
              <a:ext cx="174" cy="174"/>
            </a:xfrm>
            <a:prstGeom prst="line">
              <a:avLst/>
            </a:prstGeom>
            <a:noFill/>
            <a:ln w="12700">
              <a:solidFill>
                <a:srgbClr val="3366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065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558" grpId="0"/>
      <p:bldP spid="658559" grpId="0"/>
      <p:bldP spid="658560" grpId="0"/>
      <p:bldP spid="658564" grpId="0"/>
      <p:bldP spid="658571" grpId="0"/>
      <p:bldP spid="658572" grpId="0"/>
      <p:bldP spid="658573" grpId="0"/>
      <p:bldP spid="658577" grpId="0"/>
      <p:bldP spid="201877" grpId="0"/>
      <p:bldP spid="201878" grpId="0"/>
      <p:bldP spid="201882" grpId="0"/>
      <p:bldP spid="201883" grpId="0"/>
      <p:bldP spid="201884" grpId="0"/>
      <p:bldP spid="201889" grpId="0"/>
      <p:bldP spid="201890" grpId="0"/>
      <p:bldP spid="201891" grpId="0"/>
      <p:bldP spid="201895" grpId="0"/>
      <p:bldP spid="201897" grpId="0"/>
      <p:bldP spid="201901" grpId="0"/>
      <p:bldP spid="201902" grpId="0"/>
      <p:bldP spid="201903" grpId="0"/>
      <p:bldP spid="201904" grpId="0"/>
      <p:bldP spid="201906" grpId="0"/>
      <p:bldP spid="201907" grpId="0"/>
      <p:bldP spid="201908" grpId="0"/>
      <p:bldP spid="201909" grpId="0"/>
      <p:bldP spid="201920" grpId="0"/>
      <p:bldP spid="201921" grpId="0"/>
      <p:bldP spid="201922" grpId="0"/>
      <p:bldP spid="2019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2017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ym typeface="Symbol" panose="05050102010706020507" pitchFamily="18" charset="2"/>
              </a:rPr>
              <a:t>X = A, B, C, B, D, A, B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Y = </a:t>
            </a:r>
            <a:r>
              <a:rPr lang="en-US" sz="2400" dirty="0">
                <a:sym typeface="Symbol" panose="05050102010706020507" pitchFamily="18" charset="2"/>
              </a:rPr>
              <a:t>B, D, C, A, B, A</a:t>
            </a:r>
          </a:p>
        </p:txBody>
      </p:sp>
      <p:sp>
        <p:nvSpPr>
          <p:cNvPr id="201734" name="AutoShape 4"/>
          <p:cNvSpPr>
            <a:spLocks/>
          </p:cNvSpPr>
          <p:nvPr/>
        </p:nvSpPr>
        <p:spPr bwMode="auto">
          <a:xfrm>
            <a:off x="4133850" y="1144588"/>
            <a:ext cx="92075" cy="1092200"/>
          </a:xfrm>
          <a:prstGeom prst="leftBrace">
            <a:avLst>
              <a:gd name="adj1" fmla="val 9885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658437" name="Group 5"/>
          <p:cNvGraphicFramePr>
            <a:graphicFrameLocks noGrp="1"/>
          </p:cNvGraphicFramePr>
          <p:nvPr/>
        </p:nvGraphicFramePr>
        <p:xfrm>
          <a:off x="4221163" y="2819400"/>
          <a:ext cx="4102100" cy="3556003"/>
        </p:xfrm>
        <a:graphic>
          <a:graphicData uri="http://schemas.openxmlformats.org/drawingml/2006/table">
            <a:tbl>
              <a:tblPr/>
              <a:tblGrid>
                <a:gridCol w="585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1809" name="Rectangle 79"/>
          <p:cNvSpPr>
            <a:spLocks noChangeArrowheads="1"/>
          </p:cNvSpPr>
          <p:nvPr/>
        </p:nvSpPr>
        <p:spPr bwMode="auto">
          <a:xfrm>
            <a:off x="2647950" y="1111250"/>
            <a:ext cx="63515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0			       if i = 0 or j = 0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c[i, j] =   c[i-1, j-1] + 1	       if x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= y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max(c[i, j-1], c[i-1, j])  if x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 y</a:t>
            </a:r>
            <a:r>
              <a:rPr 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sz="2000">
              <a:sym typeface="Symbol" panose="05050102010706020507" pitchFamily="18" charset="2"/>
            </a:endParaRPr>
          </a:p>
        </p:txBody>
      </p:sp>
      <p:sp>
        <p:nvSpPr>
          <p:cNvPr id="201810" name="Text Box 80"/>
          <p:cNvSpPr txBox="1">
            <a:spLocks noChangeArrowheads="1"/>
          </p:cNvSpPr>
          <p:nvPr/>
        </p:nvSpPr>
        <p:spPr bwMode="auto">
          <a:xfrm>
            <a:off x="4335463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1811" name="Text Box 81"/>
          <p:cNvSpPr txBox="1">
            <a:spLocks noChangeArrowheads="1"/>
          </p:cNvSpPr>
          <p:nvPr/>
        </p:nvSpPr>
        <p:spPr bwMode="auto">
          <a:xfrm>
            <a:off x="4945063" y="2166938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12" name="Text Box 82"/>
          <p:cNvSpPr txBox="1">
            <a:spLocks noChangeArrowheads="1"/>
          </p:cNvSpPr>
          <p:nvPr/>
        </p:nvSpPr>
        <p:spPr bwMode="auto">
          <a:xfrm>
            <a:off x="5499100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13" name="Text Box 83"/>
          <p:cNvSpPr txBox="1">
            <a:spLocks noChangeArrowheads="1"/>
          </p:cNvSpPr>
          <p:nvPr/>
        </p:nvSpPr>
        <p:spPr bwMode="auto">
          <a:xfrm>
            <a:off x="78946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1814" name="Text Box 84"/>
          <p:cNvSpPr txBox="1">
            <a:spLocks noChangeArrowheads="1"/>
          </p:cNvSpPr>
          <p:nvPr/>
        </p:nvSpPr>
        <p:spPr bwMode="auto">
          <a:xfrm>
            <a:off x="61293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815" name="Text Box 85"/>
          <p:cNvSpPr txBox="1">
            <a:spLocks noChangeArrowheads="1"/>
          </p:cNvSpPr>
          <p:nvPr/>
        </p:nvSpPr>
        <p:spPr bwMode="auto">
          <a:xfrm>
            <a:off x="6700838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1816" name="Text Box 86"/>
          <p:cNvSpPr txBox="1">
            <a:spLocks noChangeArrowheads="1"/>
          </p:cNvSpPr>
          <p:nvPr/>
        </p:nvSpPr>
        <p:spPr bwMode="auto">
          <a:xfrm>
            <a:off x="7280275" y="2166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1817" name="Text Box 87"/>
          <p:cNvSpPr txBox="1">
            <a:spLocks noChangeArrowheads="1"/>
          </p:cNvSpPr>
          <p:nvPr/>
        </p:nvSpPr>
        <p:spPr bwMode="auto">
          <a:xfrm>
            <a:off x="4329113" y="2411413"/>
            <a:ext cx="365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j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1818" name="Text Box 88"/>
          <p:cNvSpPr txBox="1">
            <a:spLocks noChangeArrowheads="1"/>
          </p:cNvSpPr>
          <p:nvPr/>
        </p:nvSpPr>
        <p:spPr bwMode="auto">
          <a:xfrm>
            <a:off x="4938713" y="2478088"/>
            <a:ext cx="328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19" name="Text Box 89"/>
          <p:cNvSpPr txBox="1">
            <a:spLocks noChangeArrowheads="1"/>
          </p:cNvSpPr>
          <p:nvPr/>
        </p:nvSpPr>
        <p:spPr bwMode="auto">
          <a:xfrm>
            <a:off x="5492750" y="24780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1820" name="Text Box 90"/>
          <p:cNvSpPr txBox="1">
            <a:spLocks noChangeArrowheads="1"/>
          </p:cNvSpPr>
          <p:nvPr/>
        </p:nvSpPr>
        <p:spPr bwMode="auto">
          <a:xfrm>
            <a:off x="7888288" y="2478088"/>
            <a:ext cx="350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21" name="Text Box 91"/>
          <p:cNvSpPr txBox="1">
            <a:spLocks noChangeArrowheads="1"/>
          </p:cNvSpPr>
          <p:nvPr/>
        </p:nvSpPr>
        <p:spPr bwMode="auto">
          <a:xfrm>
            <a:off x="6122988" y="2478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1822" name="Text Box 92"/>
          <p:cNvSpPr txBox="1">
            <a:spLocks noChangeArrowheads="1"/>
          </p:cNvSpPr>
          <p:nvPr/>
        </p:nvSpPr>
        <p:spPr bwMode="auto">
          <a:xfrm>
            <a:off x="6694488" y="2478088"/>
            <a:ext cx="350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23" name="Text Box 93"/>
          <p:cNvSpPr txBox="1">
            <a:spLocks noChangeArrowheads="1"/>
          </p:cNvSpPr>
          <p:nvPr/>
        </p:nvSpPr>
        <p:spPr bwMode="auto">
          <a:xfrm>
            <a:off x="7273925" y="2478088"/>
            <a:ext cx="328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24" name="Text Box 94"/>
          <p:cNvSpPr txBox="1">
            <a:spLocks noChangeArrowheads="1"/>
          </p:cNvSpPr>
          <p:nvPr/>
        </p:nvSpPr>
        <p:spPr bwMode="auto">
          <a:xfrm>
            <a:off x="3379788" y="51069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1825" name="Text Box 95"/>
          <p:cNvSpPr txBox="1">
            <a:spLocks noChangeArrowheads="1"/>
          </p:cNvSpPr>
          <p:nvPr/>
        </p:nvSpPr>
        <p:spPr bwMode="auto">
          <a:xfrm>
            <a:off x="3398838" y="3287713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1826" name="Text Box 96"/>
          <p:cNvSpPr txBox="1">
            <a:spLocks noChangeArrowheads="1"/>
          </p:cNvSpPr>
          <p:nvPr/>
        </p:nvSpPr>
        <p:spPr bwMode="auto">
          <a:xfrm>
            <a:off x="3379788" y="37433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1827" name="Text Box 97"/>
          <p:cNvSpPr txBox="1">
            <a:spLocks noChangeArrowheads="1"/>
          </p:cNvSpPr>
          <p:nvPr/>
        </p:nvSpPr>
        <p:spPr bwMode="auto">
          <a:xfrm>
            <a:off x="3379788" y="28336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1828" name="Text Box 98"/>
          <p:cNvSpPr txBox="1">
            <a:spLocks noChangeArrowheads="1"/>
          </p:cNvSpPr>
          <p:nvPr/>
        </p:nvSpPr>
        <p:spPr bwMode="auto">
          <a:xfrm>
            <a:off x="3379788" y="4197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1829" name="Text Box 99"/>
          <p:cNvSpPr txBox="1">
            <a:spLocks noChangeArrowheads="1"/>
          </p:cNvSpPr>
          <p:nvPr/>
        </p:nvSpPr>
        <p:spPr bwMode="auto">
          <a:xfrm>
            <a:off x="3379788" y="465296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1830" name="Text Box 100"/>
          <p:cNvSpPr txBox="1">
            <a:spLocks noChangeArrowheads="1"/>
          </p:cNvSpPr>
          <p:nvPr/>
        </p:nvSpPr>
        <p:spPr bwMode="auto">
          <a:xfrm>
            <a:off x="3379788" y="55626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1831" name="Text Box 101"/>
          <p:cNvSpPr txBox="1">
            <a:spLocks noChangeArrowheads="1"/>
          </p:cNvSpPr>
          <p:nvPr/>
        </p:nvSpPr>
        <p:spPr bwMode="auto">
          <a:xfrm>
            <a:off x="3379788" y="60182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201832" name="Text Box 102"/>
          <p:cNvSpPr txBox="1">
            <a:spLocks noChangeArrowheads="1"/>
          </p:cNvSpPr>
          <p:nvPr/>
        </p:nvSpPr>
        <p:spPr bwMode="auto">
          <a:xfrm>
            <a:off x="3794125" y="510857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1833" name="Text Box 103"/>
          <p:cNvSpPr txBox="1">
            <a:spLocks noChangeArrowheads="1"/>
          </p:cNvSpPr>
          <p:nvPr/>
        </p:nvSpPr>
        <p:spPr bwMode="auto">
          <a:xfrm>
            <a:off x="3813175" y="3289300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34" name="Text Box 104"/>
          <p:cNvSpPr txBox="1">
            <a:spLocks noChangeArrowheads="1"/>
          </p:cNvSpPr>
          <p:nvPr/>
        </p:nvSpPr>
        <p:spPr bwMode="auto">
          <a:xfrm>
            <a:off x="3794125" y="3744913"/>
            <a:ext cx="328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35" name="Text Box 105"/>
          <p:cNvSpPr txBox="1">
            <a:spLocks noChangeArrowheads="1"/>
          </p:cNvSpPr>
          <p:nvPr/>
        </p:nvSpPr>
        <p:spPr bwMode="auto">
          <a:xfrm>
            <a:off x="3794125" y="2835275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1836" name="Text Box 106"/>
          <p:cNvSpPr txBox="1">
            <a:spLocks noChangeArrowheads="1"/>
          </p:cNvSpPr>
          <p:nvPr/>
        </p:nvSpPr>
        <p:spPr bwMode="auto">
          <a:xfrm>
            <a:off x="3794125" y="41989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1837" name="Text Box 107"/>
          <p:cNvSpPr txBox="1">
            <a:spLocks noChangeArrowheads="1"/>
          </p:cNvSpPr>
          <p:nvPr/>
        </p:nvSpPr>
        <p:spPr bwMode="auto">
          <a:xfrm>
            <a:off x="3794125" y="465455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1838" name="Text Box 108"/>
          <p:cNvSpPr txBox="1">
            <a:spLocks noChangeArrowheads="1"/>
          </p:cNvSpPr>
          <p:nvPr/>
        </p:nvSpPr>
        <p:spPr bwMode="auto">
          <a:xfrm>
            <a:off x="3794125" y="5564188"/>
            <a:ext cx="3508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1839" name="Text Box 109"/>
          <p:cNvSpPr txBox="1">
            <a:spLocks noChangeArrowheads="1"/>
          </p:cNvSpPr>
          <p:nvPr/>
        </p:nvSpPr>
        <p:spPr bwMode="auto">
          <a:xfrm>
            <a:off x="3794125" y="601980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4946650" y="2925763"/>
            <a:ext cx="3273425" cy="366712"/>
            <a:chOff x="2133" y="1816"/>
            <a:chExt cx="2062" cy="231"/>
          </a:xfrm>
        </p:grpSpPr>
        <p:sp>
          <p:nvSpPr>
            <p:cNvPr id="201841" name="Text Box 111"/>
            <p:cNvSpPr txBox="1">
              <a:spLocks noChangeArrowheads="1"/>
            </p:cNvSpPr>
            <p:nvPr/>
          </p:nvSpPr>
          <p:spPr bwMode="auto">
            <a:xfrm>
              <a:off x="2133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2" name="Text Box 112"/>
            <p:cNvSpPr txBox="1">
              <a:spLocks noChangeArrowheads="1"/>
            </p:cNvSpPr>
            <p:nvPr/>
          </p:nvSpPr>
          <p:spPr bwMode="auto">
            <a:xfrm>
              <a:off x="2482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3" name="Text Box 113"/>
            <p:cNvSpPr txBox="1">
              <a:spLocks noChangeArrowheads="1"/>
            </p:cNvSpPr>
            <p:nvPr/>
          </p:nvSpPr>
          <p:spPr bwMode="auto">
            <a:xfrm>
              <a:off x="3991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4" name="Text Box 114"/>
            <p:cNvSpPr txBox="1">
              <a:spLocks noChangeArrowheads="1"/>
            </p:cNvSpPr>
            <p:nvPr/>
          </p:nvSpPr>
          <p:spPr bwMode="auto">
            <a:xfrm>
              <a:off x="287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5" name="Text Box 115"/>
            <p:cNvSpPr txBox="1">
              <a:spLocks noChangeArrowheads="1"/>
            </p:cNvSpPr>
            <p:nvPr/>
          </p:nvSpPr>
          <p:spPr bwMode="auto">
            <a:xfrm>
              <a:off x="323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6" name="Text Box 116"/>
            <p:cNvSpPr txBox="1">
              <a:spLocks noChangeArrowheads="1"/>
            </p:cNvSpPr>
            <p:nvPr/>
          </p:nvSpPr>
          <p:spPr bwMode="auto">
            <a:xfrm>
              <a:off x="3604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grpSp>
        <p:nvGrpSpPr>
          <p:cNvPr id="3" name="Group 117"/>
          <p:cNvGrpSpPr>
            <a:grpSpLocks/>
          </p:cNvGrpSpPr>
          <p:nvPr/>
        </p:nvGrpSpPr>
        <p:grpSpPr bwMode="auto">
          <a:xfrm>
            <a:off x="4348163" y="2925763"/>
            <a:ext cx="325437" cy="3524250"/>
            <a:chOff x="1756" y="1816"/>
            <a:chExt cx="205" cy="2220"/>
          </a:xfrm>
        </p:grpSpPr>
        <p:sp>
          <p:nvSpPr>
            <p:cNvPr id="201848" name="Text Box 118"/>
            <p:cNvSpPr txBox="1">
              <a:spLocks noChangeArrowheads="1"/>
            </p:cNvSpPr>
            <p:nvPr/>
          </p:nvSpPr>
          <p:spPr bwMode="auto">
            <a:xfrm>
              <a:off x="1757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49" name="Text Box 119"/>
            <p:cNvSpPr txBox="1">
              <a:spLocks noChangeArrowheads="1"/>
            </p:cNvSpPr>
            <p:nvPr/>
          </p:nvSpPr>
          <p:spPr bwMode="auto">
            <a:xfrm>
              <a:off x="1756" y="323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0" name="Text Box 120"/>
            <p:cNvSpPr txBox="1">
              <a:spLocks noChangeArrowheads="1"/>
            </p:cNvSpPr>
            <p:nvPr/>
          </p:nvSpPr>
          <p:spPr bwMode="auto">
            <a:xfrm>
              <a:off x="1757" y="208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1" name="Text Box 121"/>
            <p:cNvSpPr txBox="1">
              <a:spLocks noChangeArrowheads="1"/>
            </p:cNvSpPr>
            <p:nvPr/>
          </p:nvSpPr>
          <p:spPr bwMode="auto">
            <a:xfrm>
              <a:off x="1756" y="237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2" name="Text Box 122"/>
            <p:cNvSpPr txBox="1">
              <a:spLocks noChangeArrowheads="1"/>
            </p:cNvSpPr>
            <p:nvPr/>
          </p:nvSpPr>
          <p:spPr bwMode="auto">
            <a:xfrm>
              <a:off x="1756" y="265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3" name="Text Box 123"/>
            <p:cNvSpPr txBox="1">
              <a:spLocks noChangeArrowheads="1"/>
            </p:cNvSpPr>
            <p:nvPr/>
          </p:nvSpPr>
          <p:spPr bwMode="auto">
            <a:xfrm>
              <a:off x="1756" y="294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4" name="Text Box 124"/>
            <p:cNvSpPr txBox="1">
              <a:spLocks noChangeArrowheads="1"/>
            </p:cNvSpPr>
            <p:nvPr/>
          </p:nvSpPr>
          <p:spPr bwMode="auto">
            <a:xfrm>
              <a:off x="1756" y="351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1855" name="Text Box 125"/>
            <p:cNvSpPr txBox="1">
              <a:spLocks noChangeArrowheads="1"/>
            </p:cNvSpPr>
            <p:nvPr/>
          </p:nvSpPr>
          <p:spPr bwMode="auto">
            <a:xfrm>
              <a:off x="1756" y="380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sp>
        <p:nvSpPr>
          <p:cNvPr id="658558" name="Text Box 126"/>
          <p:cNvSpPr txBox="1">
            <a:spLocks noChangeArrowheads="1"/>
          </p:cNvSpPr>
          <p:nvPr/>
        </p:nvSpPr>
        <p:spPr bwMode="auto">
          <a:xfrm>
            <a:off x="4948238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658559" name="Text Box 127"/>
          <p:cNvSpPr txBox="1">
            <a:spLocks noChangeArrowheads="1"/>
          </p:cNvSpPr>
          <p:nvPr/>
        </p:nvSpPr>
        <p:spPr bwMode="auto">
          <a:xfrm>
            <a:off x="5494338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658560" name="Text Box 128"/>
          <p:cNvSpPr txBox="1">
            <a:spLocks noChangeArrowheads="1"/>
          </p:cNvSpPr>
          <p:nvPr/>
        </p:nvSpPr>
        <p:spPr bwMode="auto">
          <a:xfrm>
            <a:off x="6126163" y="331470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4" name="Group 129"/>
          <p:cNvGrpSpPr>
            <a:grpSpLocks/>
          </p:cNvGrpSpPr>
          <p:nvPr/>
        </p:nvGrpSpPr>
        <p:grpSpPr bwMode="auto">
          <a:xfrm>
            <a:off x="6692900" y="3313113"/>
            <a:ext cx="352425" cy="436562"/>
            <a:chOff x="3233" y="2100"/>
            <a:chExt cx="222" cy="275"/>
          </a:xfrm>
        </p:grpSpPr>
        <p:sp>
          <p:nvSpPr>
            <p:cNvPr id="201860" name="Text Box 130"/>
            <p:cNvSpPr txBox="1">
              <a:spLocks noChangeArrowheads="1"/>
            </p:cNvSpPr>
            <p:nvPr/>
          </p:nvSpPr>
          <p:spPr bwMode="auto">
            <a:xfrm>
              <a:off x="3251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1" name="Line 131"/>
            <p:cNvSpPr>
              <a:spLocks noChangeShapeType="1"/>
            </p:cNvSpPr>
            <p:nvPr/>
          </p:nvSpPr>
          <p:spPr bwMode="auto">
            <a:xfrm flipH="1" flipV="1">
              <a:off x="3233" y="2100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64" name="Text Box 132"/>
          <p:cNvSpPr txBox="1">
            <a:spLocks noChangeArrowheads="1"/>
          </p:cNvSpPr>
          <p:nvPr/>
        </p:nvSpPr>
        <p:spPr bwMode="auto">
          <a:xfrm>
            <a:off x="7135813" y="34718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7816850" y="3314700"/>
            <a:ext cx="423863" cy="434975"/>
            <a:chOff x="3941" y="2101"/>
            <a:chExt cx="267" cy="274"/>
          </a:xfrm>
        </p:grpSpPr>
        <p:sp>
          <p:nvSpPr>
            <p:cNvPr id="201864" name="Text Box 134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5" name="Line 135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36"/>
          <p:cNvGrpSpPr>
            <a:grpSpLocks/>
          </p:cNvGrpSpPr>
          <p:nvPr/>
        </p:nvGrpSpPr>
        <p:grpSpPr bwMode="auto">
          <a:xfrm>
            <a:off x="4876800" y="3744913"/>
            <a:ext cx="423863" cy="434975"/>
            <a:chOff x="3941" y="2101"/>
            <a:chExt cx="267" cy="274"/>
          </a:xfrm>
        </p:grpSpPr>
        <p:sp>
          <p:nvSpPr>
            <p:cNvPr id="201867" name="Text Box 137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68" name="Line 138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71" name="Text Box 139"/>
          <p:cNvSpPr txBox="1">
            <a:spLocks noChangeArrowheads="1"/>
          </p:cNvSpPr>
          <p:nvPr/>
        </p:nvSpPr>
        <p:spPr bwMode="auto">
          <a:xfrm>
            <a:off x="5387975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58572" name="Text Box 140"/>
          <p:cNvSpPr txBox="1">
            <a:spLocks noChangeArrowheads="1"/>
          </p:cNvSpPr>
          <p:nvPr/>
        </p:nvSpPr>
        <p:spPr bwMode="auto">
          <a:xfrm>
            <a:off x="5975350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58573" name="Text Box 141"/>
          <p:cNvSpPr txBox="1">
            <a:spLocks noChangeArrowheads="1"/>
          </p:cNvSpPr>
          <p:nvPr/>
        </p:nvSpPr>
        <p:spPr bwMode="auto">
          <a:xfrm>
            <a:off x="6711950" y="3744913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" name="Group 142"/>
          <p:cNvGrpSpPr>
            <a:grpSpLocks/>
          </p:cNvGrpSpPr>
          <p:nvPr/>
        </p:nvGrpSpPr>
        <p:grpSpPr bwMode="auto">
          <a:xfrm>
            <a:off x="7278688" y="3744913"/>
            <a:ext cx="423862" cy="434975"/>
            <a:chOff x="3941" y="2101"/>
            <a:chExt cx="267" cy="274"/>
          </a:xfrm>
        </p:grpSpPr>
        <p:sp>
          <p:nvSpPr>
            <p:cNvPr id="201873" name="Text Box 143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74" name="Line 144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8577" name="Text Box 145"/>
          <p:cNvSpPr txBox="1">
            <a:spLocks noChangeArrowheads="1"/>
          </p:cNvSpPr>
          <p:nvPr/>
        </p:nvSpPr>
        <p:spPr bwMode="auto">
          <a:xfrm>
            <a:off x="7712075" y="3916363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8" name="Group 146"/>
          <p:cNvGrpSpPr>
            <a:grpSpLocks/>
          </p:cNvGrpSpPr>
          <p:nvPr/>
        </p:nvGrpSpPr>
        <p:grpSpPr bwMode="auto">
          <a:xfrm>
            <a:off x="4964113" y="4208463"/>
            <a:ext cx="3209925" cy="434975"/>
            <a:chOff x="2144" y="2664"/>
            <a:chExt cx="2022" cy="274"/>
          </a:xfrm>
        </p:grpSpPr>
        <p:sp>
          <p:nvSpPr>
            <p:cNvPr id="201877" name="Text Box 147"/>
            <p:cNvSpPr txBox="1">
              <a:spLocks noChangeArrowheads="1"/>
            </p:cNvSpPr>
            <p:nvPr/>
          </p:nvSpPr>
          <p:spPr bwMode="auto">
            <a:xfrm>
              <a:off x="2144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78" name="Text Box 148"/>
            <p:cNvSpPr txBox="1">
              <a:spLocks noChangeArrowheads="1"/>
            </p:cNvSpPr>
            <p:nvPr/>
          </p:nvSpPr>
          <p:spPr bwMode="auto">
            <a:xfrm>
              <a:off x="2495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201879" name="Group 149"/>
            <p:cNvGrpSpPr>
              <a:grpSpLocks/>
            </p:cNvGrpSpPr>
            <p:nvPr/>
          </p:nvGrpSpPr>
          <p:grpSpPr bwMode="auto">
            <a:xfrm>
              <a:off x="2843" y="2664"/>
              <a:ext cx="267" cy="274"/>
              <a:chOff x="3941" y="2101"/>
              <a:chExt cx="267" cy="274"/>
            </a:xfrm>
          </p:grpSpPr>
          <p:sp>
            <p:nvSpPr>
              <p:cNvPr id="201880" name="Text Box 150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201881" name="Line 151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882" name="Text Box 152"/>
            <p:cNvSpPr txBox="1">
              <a:spLocks noChangeArrowheads="1"/>
            </p:cNvSpPr>
            <p:nvPr/>
          </p:nvSpPr>
          <p:spPr bwMode="auto">
            <a:xfrm>
              <a:off x="3170" y="2772"/>
              <a:ext cx="38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83" name="Text Box 153"/>
            <p:cNvSpPr txBox="1">
              <a:spLocks noChangeArrowheads="1"/>
            </p:cNvSpPr>
            <p:nvPr/>
          </p:nvSpPr>
          <p:spPr bwMode="auto">
            <a:xfrm>
              <a:off x="3638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84" name="Text Box 154"/>
            <p:cNvSpPr txBox="1">
              <a:spLocks noChangeArrowheads="1"/>
            </p:cNvSpPr>
            <p:nvPr/>
          </p:nvSpPr>
          <p:spPr bwMode="auto">
            <a:xfrm>
              <a:off x="3962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</p:grpSp>
      <p:grpSp>
        <p:nvGrpSpPr>
          <p:cNvPr id="10" name="Group 155"/>
          <p:cNvGrpSpPr>
            <a:grpSpLocks/>
          </p:cNvGrpSpPr>
          <p:nvPr/>
        </p:nvGrpSpPr>
        <p:grpSpPr bwMode="auto">
          <a:xfrm>
            <a:off x="4957763" y="4643438"/>
            <a:ext cx="3381375" cy="434975"/>
            <a:chOff x="2140" y="2938"/>
            <a:chExt cx="2130" cy="274"/>
          </a:xfrm>
        </p:grpSpPr>
        <p:grpSp>
          <p:nvGrpSpPr>
            <p:cNvPr id="201886" name="Group 156"/>
            <p:cNvGrpSpPr>
              <a:grpSpLocks/>
            </p:cNvGrpSpPr>
            <p:nvPr/>
          </p:nvGrpSpPr>
          <p:grpSpPr bwMode="auto">
            <a:xfrm>
              <a:off x="2140" y="2938"/>
              <a:ext cx="267" cy="274"/>
              <a:chOff x="3941" y="2101"/>
              <a:chExt cx="267" cy="274"/>
            </a:xfrm>
          </p:grpSpPr>
          <p:sp>
            <p:nvSpPr>
              <p:cNvPr id="201887" name="Text Box 157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201888" name="Line 158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889" name="Text Box 159"/>
            <p:cNvSpPr txBox="1">
              <a:spLocks noChangeArrowheads="1"/>
            </p:cNvSpPr>
            <p:nvPr/>
          </p:nvSpPr>
          <p:spPr bwMode="auto">
            <a:xfrm>
              <a:off x="2510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890" name="Text Box 160"/>
            <p:cNvSpPr txBox="1">
              <a:spLocks noChangeArrowheads="1"/>
            </p:cNvSpPr>
            <p:nvPr/>
          </p:nvSpPr>
          <p:spPr bwMode="auto">
            <a:xfrm>
              <a:off x="2888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891" name="Text Box 161"/>
            <p:cNvSpPr txBox="1">
              <a:spLocks noChangeArrowheads="1"/>
            </p:cNvSpPr>
            <p:nvPr/>
          </p:nvSpPr>
          <p:spPr bwMode="auto">
            <a:xfrm>
              <a:off x="3212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201892" name="Group 162"/>
            <p:cNvGrpSpPr>
              <a:grpSpLocks/>
            </p:cNvGrpSpPr>
            <p:nvPr/>
          </p:nvGrpSpPr>
          <p:grpSpPr bwMode="auto">
            <a:xfrm>
              <a:off x="3580" y="2938"/>
              <a:ext cx="267" cy="274"/>
              <a:chOff x="3941" y="2101"/>
              <a:chExt cx="267" cy="274"/>
            </a:xfrm>
          </p:grpSpPr>
          <p:sp>
            <p:nvSpPr>
              <p:cNvPr id="201893" name="Text Box 163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201894" name="Line 164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895" name="Text Box 165"/>
            <p:cNvSpPr txBox="1">
              <a:spLocks noChangeArrowheads="1"/>
            </p:cNvSpPr>
            <p:nvPr/>
          </p:nvSpPr>
          <p:spPr bwMode="auto">
            <a:xfrm>
              <a:off x="3886" y="3046"/>
              <a:ext cx="38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13" name="Group 166"/>
          <p:cNvGrpSpPr>
            <a:grpSpLocks/>
          </p:cNvGrpSpPr>
          <p:nvPr/>
        </p:nvGrpSpPr>
        <p:grpSpPr bwMode="auto">
          <a:xfrm>
            <a:off x="4976813" y="5102225"/>
            <a:ext cx="3217862" cy="434975"/>
            <a:chOff x="2152" y="3227"/>
            <a:chExt cx="2027" cy="274"/>
          </a:xfrm>
        </p:grpSpPr>
        <p:sp>
          <p:nvSpPr>
            <p:cNvPr id="201897" name="Text Box 167"/>
            <p:cNvSpPr txBox="1">
              <a:spLocks noChangeArrowheads="1"/>
            </p:cNvSpPr>
            <p:nvPr/>
          </p:nvSpPr>
          <p:spPr bwMode="auto">
            <a:xfrm>
              <a:off x="2152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201898" name="Group 168"/>
            <p:cNvGrpSpPr>
              <a:grpSpLocks/>
            </p:cNvGrpSpPr>
            <p:nvPr/>
          </p:nvGrpSpPr>
          <p:grpSpPr bwMode="auto">
            <a:xfrm>
              <a:off x="2484" y="3227"/>
              <a:ext cx="267" cy="274"/>
              <a:chOff x="3941" y="2101"/>
              <a:chExt cx="267" cy="274"/>
            </a:xfrm>
          </p:grpSpPr>
          <p:sp>
            <p:nvSpPr>
              <p:cNvPr id="201899" name="Text Box 169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201900" name="Line 170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901" name="Text Box 171"/>
            <p:cNvSpPr txBox="1">
              <a:spLocks noChangeArrowheads="1"/>
            </p:cNvSpPr>
            <p:nvPr/>
          </p:nvSpPr>
          <p:spPr bwMode="auto">
            <a:xfrm>
              <a:off x="2888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02" name="Text Box 172"/>
            <p:cNvSpPr txBox="1">
              <a:spLocks noChangeArrowheads="1"/>
            </p:cNvSpPr>
            <p:nvPr/>
          </p:nvSpPr>
          <p:spPr bwMode="auto">
            <a:xfrm>
              <a:off x="3212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03" name="Text Box 173"/>
            <p:cNvSpPr txBox="1">
              <a:spLocks noChangeArrowheads="1"/>
            </p:cNvSpPr>
            <p:nvPr/>
          </p:nvSpPr>
          <p:spPr bwMode="auto">
            <a:xfrm>
              <a:off x="3614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1904" name="Text Box 174"/>
            <p:cNvSpPr txBox="1">
              <a:spLocks noChangeArrowheads="1"/>
            </p:cNvSpPr>
            <p:nvPr/>
          </p:nvSpPr>
          <p:spPr bwMode="auto">
            <a:xfrm>
              <a:off x="3975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15" name="Group 175"/>
          <p:cNvGrpSpPr>
            <a:grpSpLocks/>
          </p:cNvGrpSpPr>
          <p:nvPr/>
        </p:nvGrpSpPr>
        <p:grpSpPr bwMode="auto">
          <a:xfrm>
            <a:off x="4970463" y="5548313"/>
            <a:ext cx="3249612" cy="434975"/>
            <a:chOff x="2148" y="3508"/>
            <a:chExt cx="2047" cy="274"/>
          </a:xfrm>
        </p:grpSpPr>
        <p:sp>
          <p:nvSpPr>
            <p:cNvPr id="201906" name="Text Box 176"/>
            <p:cNvSpPr txBox="1">
              <a:spLocks noChangeArrowheads="1"/>
            </p:cNvSpPr>
            <p:nvPr/>
          </p:nvSpPr>
          <p:spPr bwMode="auto">
            <a:xfrm>
              <a:off x="2148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1907" name="Text Box 177"/>
            <p:cNvSpPr txBox="1">
              <a:spLocks noChangeArrowheads="1"/>
            </p:cNvSpPr>
            <p:nvPr/>
          </p:nvSpPr>
          <p:spPr bwMode="auto">
            <a:xfrm>
              <a:off x="2884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08" name="Text Box 178"/>
            <p:cNvSpPr txBox="1">
              <a:spLocks noChangeArrowheads="1"/>
            </p:cNvSpPr>
            <p:nvPr/>
          </p:nvSpPr>
          <p:spPr bwMode="auto">
            <a:xfrm>
              <a:off x="3610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1909" name="Text Box 179"/>
            <p:cNvSpPr txBox="1">
              <a:spLocks noChangeArrowheads="1"/>
            </p:cNvSpPr>
            <p:nvPr/>
          </p:nvSpPr>
          <p:spPr bwMode="auto">
            <a:xfrm>
              <a:off x="2530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201910" name="Group 180"/>
            <p:cNvGrpSpPr>
              <a:grpSpLocks/>
            </p:cNvGrpSpPr>
            <p:nvPr/>
          </p:nvGrpSpPr>
          <p:grpSpPr bwMode="auto">
            <a:xfrm>
              <a:off x="3226" y="3508"/>
              <a:ext cx="267" cy="274"/>
              <a:chOff x="3941" y="2101"/>
              <a:chExt cx="267" cy="274"/>
            </a:xfrm>
          </p:grpSpPr>
          <p:sp>
            <p:nvSpPr>
              <p:cNvPr id="201911" name="Text Box 181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201912" name="Line 182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1913" name="Group 183"/>
            <p:cNvGrpSpPr>
              <a:grpSpLocks/>
            </p:cNvGrpSpPr>
            <p:nvPr/>
          </p:nvGrpSpPr>
          <p:grpSpPr bwMode="auto">
            <a:xfrm>
              <a:off x="3928" y="3508"/>
              <a:ext cx="267" cy="274"/>
              <a:chOff x="3941" y="2101"/>
              <a:chExt cx="267" cy="274"/>
            </a:xfrm>
          </p:grpSpPr>
          <p:sp>
            <p:nvSpPr>
              <p:cNvPr id="201914" name="Text Box 184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201915" name="Line 185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6" name="Group 125"/>
          <p:cNvGrpSpPr/>
          <p:nvPr/>
        </p:nvGrpSpPr>
        <p:grpSpPr>
          <a:xfrm>
            <a:off x="4892675" y="5978525"/>
            <a:ext cx="3340100" cy="434975"/>
            <a:chOff x="4892675" y="5978525"/>
            <a:chExt cx="3340100" cy="434975"/>
          </a:xfrm>
        </p:grpSpPr>
        <p:grpSp>
          <p:nvGrpSpPr>
            <p:cNvPr id="201917" name="Group 187"/>
            <p:cNvGrpSpPr>
              <a:grpSpLocks/>
            </p:cNvGrpSpPr>
            <p:nvPr/>
          </p:nvGrpSpPr>
          <p:grpSpPr bwMode="auto">
            <a:xfrm>
              <a:off x="4892675" y="5978525"/>
              <a:ext cx="423863" cy="434975"/>
              <a:chOff x="3941" y="2101"/>
              <a:chExt cx="267" cy="274"/>
            </a:xfrm>
          </p:grpSpPr>
          <p:sp>
            <p:nvSpPr>
              <p:cNvPr id="201918" name="Text Box 188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201919" name="Line 189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920" name="Text Box 190"/>
            <p:cNvSpPr txBox="1">
              <a:spLocks noChangeArrowheads="1"/>
            </p:cNvSpPr>
            <p:nvPr/>
          </p:nvSpPr>
          <p:spPr bwMode="auto">
            <a:xfrm>
              <a:off x="6137275" y="5978525"/>
              <a:ext cx="323850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21" name="Text Box 191"/>
            <p:cNvSpPr txBox="1">
              <a:spLocks noChangeArrowheads="1"/>
            </p:cNvSpPr>
            <p:nvPr/>
          </p:nvSpPr>
          <p:spPr bwMode="auto">
            <a:xfrm>
              <a:off x="5575300" y="5978525"/>
              <a:ext cx="323850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1922" name="Text Box 192"/>
            <p:cNvSpPr txBox="1">
              <a:spLocks noChangeArrowheads="1"/>
            </p:cNvSpPr>
            <p:nvPr/>
          </p:nvSpPr>
          <p:spPr bwMode="auto">
            <a:xfrm>
              <a:off x="6757988" y="5978525"/>
              <a:ext cx="323850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grpSp>
          <p:nvGrpSpPr>
            <p:cNvPr id="201923" name="Group 193"/>
            <p:cNvGrpSpPr>
              <a:grpSpLocks/>
            </p:cNvGrpSpPr>
            <p:nvPr/>
          </p:nvGrpSpPr>
          <p:grpSpPr bwMode="auto">
            <a:xfrm>
              <a:off x="7321550" y="5978525"/>
              <a:ext cx="423863" cy="434975"/>
              <a:chOff x="3941" y="2101"/>
              <a:chExt cx="267" cy="274"/>
            </a:xfrm>
          </p:grpSpPr>
          <p:sp>
            <p:nvSpPr>
              <p:cNvPr id="201924" name="Text Box 194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201925" name="Line 195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1926" name="Text Box 196"/>
            <p:cNvSpPr txBox="1">
              <a:spLocks noChangeArrowheads="1"/>
            </p:cNvSpPr>
            <p:nvPr/>
          </p:nvSpPr>
          <p:spPr bwMode="auto">
            <a:xfrm>
              <a:off x="7908925" y="5978525"/>
              <a:ext cx="323850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4</a:t>
              </a:r>
            </a:p>
          </p:txBody>
        </p:sp>
      </p:grpSp>
      <p:grpSp>
        <p:nvGrpSpPr>
          <p:cNvPr id="201927" name="Group 197"/>
          <p:cNvGrpSpPr>
            <a:grpSpLocks/>
          </p:cNvGrpSpPr>
          <p:nvPr/>
        </p:nvGrpSpPr>
        <p:grpSpPr bwMode="auto">
          <a:xfrm>
            <a:off x="336550" y="2422525"/>
            <a:ext cx="4019550" cy="3860800"/>
            <a:chOff x="212" y="1526"/>
            <a:chExt cx="2532" cy="2432"/>
          </a:xfrm>
        </p:grpSpPr>
        <p:sp>
          <p:nvSpPr>
            <p:cNvPr id="201928" name="Rectangle 198"/>
            <p:cNvSpPr>
              <a:spLocks noChangeArrowheads="1"/>
            </p:cNvSpPr>
            <p:nvPr/>
          </p:nvSpPr>
          <p:spPr bwMode="auto">
            <a:xfrm>
              <a:off x="212" y="1526"/>
              <a:ext cx="2532" cy="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If 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x</a:t>
              </a: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 = y</a:t>
              </a: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j</a:t>
              </a:r>
              <a:endParaRPr lang="en-US" sz="24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sz="2400" baseline="-250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  ”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anose="05050102010706020507" pitchFamily="18" charset="2"/>
                </a:rPr>
                <a:t>Else if</a:t>
              </a: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 		         c[i - 1, j] ≥ c[i, j-1]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	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 ”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anose="05050102010706020507" pitchFamily="18" charset="2"/>
                </a:rPr>
                <a:t>else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		</a:t>
              </a:r>
              <a:r>
                <a:rPr 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 ”</a:t>
              </a:r>
              <a:endParaRPr lang="en-US" sz="2400">
                <a:solidFill>
                  <a:srgbClr val="336699"/>
                </a:solidFill>
              </a:endParaRPr>
            </a:p>
          </p:txBody>
        </p:sp>
        <p:sp>
          <p:nvSpPr>
            <p:cNvPr id="201929" name="Line 199"/>
            <p:cNvSpPr>
              <a:spLocks noChangeShapeType="1"/>
            </p:cNvSpPr>
            <p:nvPr/>
          </p:nvSpPr>
          <p:spPr bwMode="auto">
            <a:xfrm flipH="1" flipV="1">
              <a:off x="1311" y="1885"/>
              <a:ext cx="174" cy="174"/>
            </a:xfrm>
            <a:prstGeom prst="line">
              <a:avLst/>
            </a:prstGeom>
            <a:noFill/>
            <a:ln w="12700">
              <a:solidFill>
                <a:srgbClr val="3366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065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4. Constructing a LCS</a:t>
            </a:r>
          </a:p>
        </p:txBody>
      </p:sp>
      <p:sp>
        <p:nvSpPr>
          <p:cNvPr id="65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Start at </a:t>
            </a:r>
            <a:r>
              <a:rPr lang="en-US" sz="2400" dirty="0">
                <a:latin typeface="Comic Sans MS" panose="030F0702030302020204" pitchFamily="66" charset="0"/>
              </a:rPr>
              <a:t>b[m, n]</a:t>
            </a:r>
            <a:r>
              <a:rPr lang="en-US" sz="2400" dirty="0"/>
              <a:t> and follow the arrows</a:t>
            </a:r>
          </a:p>
          <a:p>
            <a:pPr eaLnBrk="1" hangingPunct="1"/>
            <a:r>
              <a:rPr lang="en-US" sz="2400" dirty="0"/>
              <a:t>When we encounter a “    “ in </a:t>
            </a:r>
            <a:r>
              <a:rPr lang="en-US" sz="2400" dirty="0">
                <a:latin typeface="Comic Sans MS" panose="030F0702030302020204" pitchFamily="66" charset="0"/>
              </a:rPr>
              <a:t>b[</a:t>
            </a:r>
            <a:r>
              <a:rPr lang="en-US" sz="2400" dirty="0" err="1">
                <a:latin typeface="Comic Sans MS" panose="030F0702030302020204" pitchFamily="66" charset="0"/>
              </a:rPr>
              <a:t>i</a:t>
            </a:r>
            <a:r>
              <a:rPr lang="en-US" sz="2400" dirty="0">
                <a:latin typeface="Comic Sans MS" panose="030F0702030302020204" pitchFamily="66" charset="0"/>
              </a:rPr>
              <a:t>, j] 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 x</a:t>
            </a:r>
            <a:r>
              <a:rPr 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 is an element of the LCS </a:t>
            </a:r>
          </a:p>
        </p:txBody>
      </p:sp>
      <p:graphicFrame>
        <p:nvGraphicFramePr>
          <p:cNvPr id="659460" name="Group 4"/>
          <p:cNvGraphicFramePr>
            <a:graphicFrameLocks noGrp="1"/>
          </p:cNvGraphicFramePr>
          <p:nvPr/>
        </p:nvGraphicFramePr>
        <p:xfrm>
          <a:off x="2660650" y="2840038"/>
          <a:ext cx="4102100" cy="3556003"/>
        </p:xfrm>
        <a:graphic>
          <a:graphicData uri="http://schemas.openxmlformats.org/drawingml/2006/table">
            <a:tbl>
              <a:tblPr/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2832" name="Text Box 78"/>
          <p:cNvSpPr txBox="1">
            <a:spLocks noChangeArrowheads="1"/>
          </p:cNvSpPr>
          <p:nvPr/>
        </p:nvSpPr>
        <p:spPr bwMode="auto">
          <a:xfrm>
            <a:off x="2774950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2833" name="Text Box 79"/>
          <p:cNvSpPr txBox="1">
            <a:spLocks noChangeArrowheads="1"/>
          </p:cNvSpPr>
          <p:nvPr/>
        </p:nvSpPr>
        <p:spPr bwMode="auto">
          <a:xfrm>
            <a:off x="3384550" y="2187575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2834" name="Text Box 80"/>
          <p:cNvSpPr txBox="1">
            <a:spLocks noChangeArrowheads="1"/>
          </p:cNvSpPr>
          <p:nvPr/>
        </p:nvSpPr>
        <p:spPr bwMode="auto">
          <a:xfrm>
            <a:off x="3938588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2835" name="Text Box 81"/>
          <p:cNvSpPr txBox="1">
            <a:spLocks noChangeArrowheads="1"/>
          </p:cNvSpPr>
          <p:nvPr/>
        </p:nvSpPr>
        <p:spPr bwMode="auto">
          <a:xfrm>
            <a:off x="6334125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2836" name="Text Box 82"/>
          <p:cNvSpPr txBox="1">
            <a:spLocks noChangeArrowheads="1"/>
          </p:cNvSpPr>
          <p:nvPr/>
        </p:nvSpPr>
        <p:spPr bwMode="auto">
          <a:xfrm>
            <a:off x="4568825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2837" name="Text Box 83"/>
          <p:cNvSpPr txBox="1">
            <a:spLocks noChangeArrowheads="1"/>
          </p:cNvSpPr>
          <p:nvPr/>
        </p:nvSpPr>
        <p:spPr bwMode="auto">
          <a:xfrm>
            <a:off x="5140325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2838" name="Text Box 84"/>
          <p:cNvSpPr txBox="1">
            <a:spLocks noChangeArrowheads="1"/>
          </p:cNvSpPr>
          <p:nvPr/>
        </p:nvSpPr>
        <p:spPr bwMode="auto">
          <a:xfrm>
            <a:off x="5719763" y="2187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2839" name="Text Box 85"/>
          <p:cNvSpPr txBox="1">
            <a:spLocks noChangeArrowheads="1"/>
          </p:cNvSpPr>
          <p:nvPr/>
        </p:nvSpPr>
        <p:spPr bwMode="auto">
          <a:xfrm>
            <a:off x="2768600" y="2498725"/>
            <a:ext cx="365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y</a:t>
            </a:r>
            <a:r>
              <a:rPr lang="en-US" baseline="-25000">
                <a:latin typeface="Comic Sans MS" panose="030F0702030302020204" pitchFamily="66" charset="0"/>
              </a:rPr>
              <a:t>j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2840" name="Text Box 86"/>
          <p:cNvSpPr txBox="1">
            <a:spLocks noChangeArrowheads="1"/>
          </p:cNvSpPr>
          <p:nvPr/>
        </p:nvSpPr>
        <p:spPr bwMode="auto">
          <a:xfrm>
            <a:off x="3378200" y="2498725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2841" name="Text Box 87"/>
          <p:cNvSpPr txBox="1">
            <a:spLocks noChangeArrowheads="1"/>
          </p:cNvSpPr>
          <p:nvPr/>
        </p:nvSpPr>
        <p:spPr bwMode="auto">
          <a:xfrm>
            <a:off x="3932238" y="24987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2842" name="Text Box 88"/>
          <p:cNvSpPr txBox="1">
            <a:spLocks noChangeArrowheads="1"/>
          </p:cNvSpPr>
          <p:nvPr/>
        </p:nvSpPr>
        <p:spPr bwMode="auto">
          <a:xfrm>
            <a:off x="6327775" y="2498725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2843" name="Text Box 89"/>
          <p:cNvSpPr txBox="1">
            <a:spLocks noChangeArrowheads="1"/>
          </p:cNvSpPr>
          <p:nvPr/>
        </p:nvSpPr>
        <p:spPr bwMode="auto">
          <a:xfrm>
            <a:off x="4562475" y="24987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2844" name="Text Box 90"/>
          <p:cNvSpPr txBox="1">
            <a:spLocks noChangeArrowheads="1"/>
          </p:cNvSpPr>
          <p:nvPr/>
        </p:nvSpPr>
        <p:spPr bwMode="auto">
          <a:xfrm>
            <a:off x="5133975" y="2498725"/>
            <a:ext cx="350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2845" name="Text Box 91"/>
          <p:cNvSpPr txBox="1">
            <a:spLocks noChangeArrowheads="1"/>
          </p:cNvSpPr>
          <p:nvPr/>
        </p:nvSpPr>
        <p:spPr bwMode="auto">
          <a:xfrm>
            <a:off x="5713413" y="2498725"/>
            <a:ext cx="3286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2846" name="Text Box 92"/>
          <p:cNvSpPr txBox="1">
            <a:spLocks noChangeArrowheads="1"/>
          </p:cNvSpPr>
          <p:nvPr/>
        </p:nvSpPr>
        <p:spPr bwMode="auto">
          <a:xfrm>
            <a:off x="1819275" y="51276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2847" name="Text Box 93"/>
          <p:cNvSpPr txBox="1">
            <a:spLocks noChangeArrowheads="1"/>
          </p:cNvSpPr>
          <p:nvPr/>
        </p:nvSpPr>
        <p:spPr bwMode="auto">
          <a:xfrm>
            <a:off x="1838325" y="330835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2848" name="Text Box 94"/>
          <p:cNvSpPr txBox="1">
            <a:spLocks noChangeArrowheads="1"/>
          </p:cNvSpPr>
          <p:nvPr/>
        </p:nvSpPr>
        <p:spPr bwMode="auto">
          <a:xfrm>
            <a:off x="1819275" y="376396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202849" name="Text Box 95"/>
          <p:cNvSpPr txBox="1">
            <a:spLocks noChangeArrowheads="1"/>
          </p:cNvSpPr>
          <p:nvPr/>
        </p:nvSpPr>
        <p:spPr bwMode="auto">
          <a:xfrm>
            <a:off x="1819275" y="28543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2850" name="Text Box 96"/>
          <p:cNvSpPr txBox="1">
            <a:spLocks noChangeArrowheads="1"/>
          </p:cNvSpPr>
          <p:nvPr/>
        </p:nvSpPr>
        <p:spPr bwMode="auto">
          <a:xfrm>
            <a:off x="1819275" y="42179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2851" name="Text Box 97"/>
          <p:cNvSpPr txBox="1">
            <a:spLocks noChangeArrowheads="1"/>
          </p:cNvSpPr>
          <p:nvPr/>
        </p:nvSpPr>
        <p:spPr bwMode="auto">
          <a:xfrm>
            <a:off x="1819275" y="46736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02852" name="Text Box 98"/>
          <p:cNvSpPr txBox="1">
            <a:spLocks noChangeArrowheads="1"/>
          </p:cNvSpPr>
          <p:nvPr/>
        </p:nvSpPr>
        <p:spPr bwMode="auto">
          <a:xfrm>
            <a:off x="1819275" y="55832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202853" name="Text Box 99"/>
          <p:cNvSpPr txBox="1">
            <a:spLocks noChangeArrowheads="1"/>
          </p:cNvSpPr>
          <p:nvPr/>
        </p:nvSpPr>
        <p:spPr bwMode="auto">
          <a:xfrm>
            <a:off x="1819275" y="60388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202854" name="Text Box 100"/>
          <p:cNvSpPr txBox="1">
            <a:spLocks noChangeArrowheads="1"/>
          </p:cNvSpPr>
          <p:nvPr/>
        </p:nvSpPr>
        <p:spPr bwMode="auto">
          <a:xfrm>
            <a:off x="2233613" y="512921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202855" name="Text Box 101"/>
          <p:cNvSpPr txBox="1">
            <a:spLocks noChangeArrowheads="1"/>
          </p:cNvSpPr>
          <p:nvPr/>
        </p:nvSpPr>
        <p:spPr bwMode="auto">
          <a:xfrm>
            <a:off x="2252663" y="3309938"/>
            <a:ext cx="350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2856" name="Text Box 102"/>
          <p:cNvSpPr txBox="1">
            <a:spLocks noChangeArrowheads="1"/>
          </p:cNvSpPr>
          <p:nvPr/>
        </p:nvSpPr>
        <p:spPr bwMode="auto">
          <a:xfrm>
            <a:off x="2233613" y="3765550"/>
            <a:ext cx="3286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2857" name="Text Box 103"/>
          <p:cNvSpPr txBox="1">
            <a:spLocks noChangeArrowheads="1"/>
          </p:cNvSpPr>
          <p:nvPr/>
        </p:nvSpPr>
        <p:spPr bwMode="auto">
          <a:xfrm>
            <a:off x="2233613" y="285591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202858" name="Text Box 104"/>
          <p:cNvSpPr txBox="1">
            <a:spLocks noChangeArrowheads="1"/>
          </p:cNvSpPr>
          <p:nvPr/>
        </p:nvSpPr>
        <p:spPr bwMode="auto">
          <a:xfrm>
            <a:off x="2233613" y="42195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02859" name="Text Box 105"/>
          <p:cNvSpPr txBox="1">
            <a:spLocks noChangeArrowheads="1"/>
          </p:cNvSpPr>
          <p:nvPr/>
        </p:nvSpPr>
        <p:spPr bwMode="auto">
          <a:xfrm>
            <a:off x="2233613" y="4675188"/>
            <a:ext cx="328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202860" name="Text Box 106"/>
          <p:cNvSpPr txBox="1">
            <a:spLocks noChangeArrowheads="1"/>
          </p:cNvSpPr>
          <p:nvPr/>
        </p:nvSpPr>
        <p:spPr bwMode="auto">
          <a:xfrm>
            <a:off x="2233613" y="5584825"/>
            <a:ext cx="3508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202861" name="Text Box 107"/>
          <p:cNvSpPr txBox="1">
            <a:spLocks noChangeArrowheads="1"/>
          </p:cNvSpPr>
          <p:nvPr/>
        </p:nvSpPr>
        <p:spPr bwMode="auto">
          <a:xfrm>
            <a:off x="2233613" y="6040438"/>
            <a:ext cx="328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latin typeface="Comic Sans MS" panose="030F0702030302020204" pitchFamily="66" charset="0"/>
              </a:rPr>
              <a:t>B</a:t>
            </a:r>
          </a:p>
        </p:txBody>
      </p:sp>
      <p:grpSp>
        <p:nvGrpSpPr>
          <p:cNvPr id="202862" name="Group 108"/>
          <p:cNvGrpSpPr>
            <a:grpSpLocks/>
          </p:cNvGrpSpPr>
          <p:nvPr/>
        </p:nvGrpSpPr>
        <p:grpSpPr bwMode="auto">
          <a:xfrm>
            <a:off x="3386138" y="2946400"/>
            <a:ext cx="3273425" cy="366713"/>
            <a:chOff x="2133" y="1816"/>
            <a:chExt cx="2062" cy="231"/>
          </a:xfrm>
        </p:grpSpPr>
        <p:sp>
          <p:nvSpPr>
            <p:cNvPr id="202863" name="Text Box 109"/>
            <p:cNvSpPr txBox="1">
              <a:spLocks noChangeArrowheads="1"/>
            </p:cNvSpPr>
            <p:nvPr/>
          </p:nvSpPr>
          <p:spPr bwMode="auto">
            <a:xfrm>
              <a:off x="2133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64" name="Text Box 110"/>
            <p:cNvSpPr txBox="1">
              <a:spLocks noChangeArrowheads="1"/>
            </p:cNvSpPr>
            <p:nvPr/>
          </p:nvSpPr>
          <p:spPr bwMode="auto">
            <a:xfrm>
              <a:off x="2482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65" name="Text Box 111"/>
            <p:cNvSpPr txBox="1">
              <a:spLocks noChangeArrowheads="1"/>
            </p:cNvSpPr>
            <p:nvPr/>
          </p:nvSpPr>
          <p:spPr bwMode="auto">
            <a:xfrm>
              <a:off x="3991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66" name="Text Box 112"/>
            <p:cNvSpPr txBox="1">
              <a:spLocks noChangeArrowheads="1"/>
            </p:cNvSpPr>
            <p:nvPr/>
          </p:nvSpPr>
          <p:spPr bwMode="auto">
            <a:xfrm>
              <a:off x="287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67" name="Text Box 113"/>
            <p:cNvSpPr txBox="1">
              <a:spLocks noChangeArrowheads="1"/>
            </p:cNvSpPr>
            <p:nvPr/>
          </p:nvSpPr>
          <p:spPr bwMode="auto">
            <a:xfrm>
              <a:off x="3239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68" name="Text Box 114"/>
            <p:cNvSpPr txBox="1">
              <a:spLocks noChangeArrowheads="1"/>
            </p:cNvSpPr>
            <p:nvPr/>
          </p:nvSpPr>
          <p:spPr bwMode="auto">
            <a:xfrm>
              <a:off x="3604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grpSp>
        <p:nvGrpSpPr>
          <p:cNvPr id="202869" name="Group 115"/>
          <p:cNvGrpSpPr>
            <a:grpSpLocks/>
          </p:cNvGrpSpPr>
          <p:nvPr/>
        </p:nvGrpSpPr>
        <p:grpSpPr bwMode="auto">
          <a:xfrm>
            <a:off x="2787650" y="2946400"/>
            <a:ext cx="325438" cy="3524250"/>
            <a:chOff x="1756" y="1816"/>
            <a:chExt cx="205" cy="2220"/>
          </a:xfrm>
        </p:grpSpPr>
        <p:sp>
          <p:nvSpPr>
            <p:cNvPr id="202870" name="Text Box 116"/>
            <p:cNvSpPr txBox="1">
              <a:spLocks noChangeArrowheads="1"/>
            </p:cNvSpPr>
            <p:nvPr/>
          </p:nvSpPr>
          <p:spPr bwMode="auto">
            <a:xfrm>
              <a:off x="1757" y="181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1" name="Text Box 117"/>
            <p:cNvSpPr txBox="1">
              <a:spLocks noChangeArrowheads="1"/>
            </p:cNvSpPr>
            <p:nvPr/>
          </p:nvSpPr>
          <p:spPr bwMode="auto">
            <a:xfrm>
              <a:off x="1756" y="323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2" name="Text Box 118"/>
            <p:cNvSpPr txBox="1">
              <a:spLocks noChangeArrowheads="1"/>
            </p:cNvSpPr>
            <p:nvPr/>
          </p:nvSpPr>
          <p:spPr bwMode="auto">
            <a:xfrm>
              <a:off x="1757" y="208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3" name="Text Box 119"/>
            <p:cNvSpPr txBox="1">
              <a:spLocks noChangeArrowheads="1"/>
            </p:cNvSpPr>
            <p:nvPr/>
          </p:nvSpPr>
          <p:spPr bwMode="auto">
            <a:xfrm>
              <a:off x="1756" y="237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4" name="Text Box 120"/>
            <p:cNvSpPr txBox="1">
              <a:spLocks noChangeArrowheads="1"/>
            </p:cNvSpPr>
            <p:nvPr/>
          </p:nvSpPr>
          <p:spPr bwMode="auto">
            <a:xfrm>
              <a:off x="1756" y="265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5" name="Text Box 121"/>
            <p:cNvSpPr txBox="1">
              <a:spLocks noChangeArrowheads="1"/>
            </p:cNvSpPr>
            <p:nvPr/>
          </p:nvSpPr>
          <p:spPr bwMode="auto">
            <a:xfrm>
              <a:off x="1756" y="294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6" name="Text Box 122"/>
            <p:cNvSpPr txBox="1">
              <a:spLocks noChangeArrowheads="1"/>
            </p:cNvSpPr>
            <p:nvPr/>
          </p:nvSpPr>
          <p:spPr bwMode="auto">
            <a:xfrm>
              <a:off x="1756" y="351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202877" name="Text Box 123"/>
            <p:cNvSpPr txBox="1">
              <a:spLocks noChangeArrowheads="1"/>
            </p:cNvSpPr>
            <p:nvPr/>
          </p:nvSpPr>
          <p:spPr bwMode="auto">
            <a:xfrm>
              <a:off x="1756" y="380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sp>
        <p:nvSpPr>
          <p:cNvPr id="202878" name="Text Box 124"/>
          <p:cNvSpPr txBox="1">
            <a:spLocks noChangeArrowheads="1"/>
          </p:cNvSpPr>
          <p:nvPr/>
        </p:nvSpPr>
        <p:spPr bwMode="auto">
          <a:xfrm>
            <a:off x="3387725" y="33353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2879" name="Text Box 125"/>
          <p:cNvSpPr txBox="1">
            <a:spLocks noChangeArrowheads="1"/>
          </p:cNvSpPr>
          <p:nvPr/>
        </p:nvSpPr>
        <p:spPr bwMode="auto">
          <a:xfrm>
            <a:off x="3933825" y="33353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202880" name="Text Box 126"/>
          <p:cNvSpPr txBox="1">
            <a:spLocks noChangeArrowheads="1"/>
          </p:cNvSpPr>
          <p:nvPr/>
        </p:nvSpPr>
        <p:spPr bwMode="auto">
          <a:xfrm>
            <a:off x="4565650" y="3335338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202881" name="Group 127"/>
          <p:cNvGrpSpPr>
            <a:grpSpLocks/>
          </p:cNvGrpSpPr>
          <p:nvPr/>
        </p:nvGrpSpPr>
        <p:grpSpPr bwMode="auto">
          <a:xfrm>
            <a:off x="5132388" y="3333750"/>
            <a:ext cx="352425" cy="436563"/>
            <a:chOff x="3233" y="2100"/>
            <a:chExt cx="222" cy="275"/>
          </a:xfrm>
        </p:grpSpPr>
        <p:sp>
          <p:nvSpPr>
            <p:cNvPr id="202882" name="Text Box 128"/>
            <p:cNvSpPr txBox="1">
              <a:spLocks noChangeArrowheads="1"/>
            </p:cNvSpPr>
            <p:nvPr/>
          </p:nvSpPr>
          <p:spPr bwMode="auto">
            <a:xfrm>
              <a:off x="3251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883" name="Line 129"/>
            <p:cNvSpPr>
              <a:spLocks noChangeShapeType="1"/>
            </p:cNvSpPr>
            <p:nvPr/>
          </p:nvSpPr>
          <p:spPr bwMode="auto">
            <a:xfrm flipH="1" flipV="1">
              <a:off x="3233" y="2100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884" name="Text Box 130"/>
          <p:cNvSpPr txBox="1">
            <a:spLocks noChangeArrowheads="1"/>
          </p:cNvSpPr>
          <p:nvPr/>
        </p:nvSpPr>
        <p:spPr bwMode="auto">
          <a:xfrm>
            <a:off x="5575300" y="3492500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202885" name="Group 131"/>
          <p:cNvGrpSpPr>
            <a:grpSpLocks/>
          </p:cNvGrpSpPr>
          <p:nvPr/>
        </p:nvGrpSpPr>
        <p:grpSpPr bwMode="auto">
          <a:xfrm>
            <a:off x="6256338" y="3335338"/>
            <a:ext cx="423862" cy="434975"/>
            <a:chOff x="3941" y="2101"/>
            <a:chExt cx="267" cy="274"/>
          </a:xfrm>
        </p:grpSpPr>
        <p:sp>
          <p:nvSpPr>
            <p:cNvPr id="202886" name="Text Box 132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887" name="Line 133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2888" name="Group 134"/>
          <p:cNvGrpSpPr>
            <a:grpSpLocks/>
          </p:cNvGrpSpPr>
          <p:nvPr/>
        </p:nvGrpSpPr>
        <p:grpSpPr bwMode="auto">
          <a:xfrm>
            <a:off x="3316288" y="3765550"/>
            <a:ext cx="423862" cy="434975"/>
            <a:chOff x="3941" y="2101"/>
            <a:chExt cx="267" cy="274"/>
          </a:xfrm>
        </p:grpSpPr>
        <p:sp>
          <p:nvSpPr>
            <p:cNvPr id="202889" name="Text Box 135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890" name="Line 136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891" name="Text Box 137"/>
          <p:cNvSpPr txBox="1">
            <a:spLocks noChangeArrowheads="1"/>
          </p:cNvSpPr>
          <p:nvPr/>
        </p:nvSpPr>
        <p:spPr bwMode="auto">
          <a:xfrm>
            <a:off x="3827463" y="3937000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2892" name="Text Box 138"/>
          <p:cNvSpPr txBox="1">
            <a:spLocks noChangeArrowheads="1"/>
          </p:cNvSpPr>
          <p:nvPr/>
        </p:nvSpPr>
        <p:spPr bwMode="auto">
          <a:xfrm>
            <a:off x="4414838" y="3937000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02893" name="Text Box 139"/>
          <p:cNvSpPr txBox="1">
            <a:spLocks noChangeArrowheads="1"/>
          </p:cNvSpPr>
          <p:nvPr/>
        </p:nvSpPr>
        <p:spPr bwMode="auto">
          <a:xfrm>
            <a:off x="5151438" y="3765550"/>
            <a:ext cx="3238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202894" name="Group 140"/>
          <p:cNvGrpSpPr>
            <a:grpSpLocks/>
          </p:cNvGrpSpPr>
          <p:nvPr/>
        </p:nvGrpSpPr>
        <p:grpSpPr bwMode="auto">
          <a:xfrm>
            <a:off x="5718175" y="3765550"/>
            <a:ext cx="423863" cy="434975"/>
            <a:chOff x="3941" y="2101"/>
            <a:chExt cx="267" cy="274"/>
          </a:xfrm>
        </p:grpSpPr>
        <p:sp>
          <p:nvSpPr>
            <p:cNvPr id="202895" name="Text Box 141"/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896" name="Line 142"/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897" name="Text Box 143"/>
          <p:cNvSpPr txBox="1">
            <a:spLocks noChangeArrowheads="1"/>
          </p:cNvSpPr>
          <p:nvPr/>
        </p:nvSpPr>
        <p:spPr bwMode="auto">
          <a:xfrm>
            <a:off x="6151563" y="3937000"/>
            <a:ext cx="6096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sz="160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202898" name="Group 144"/>
          <p:cNvGrpSpPr>
            <a:grpSpLocks/>
          </p:cNvGrpSpPr>
          <p:nvPr/>
        </p:nvGrpSpPr>
        <p:grpSpPr bwMode="auto">
          <a:xfrm>
            <a:off x="3403600" y="4229100"/>
            <a:ext cx="3209925" cy="434975"/>
            <a:chOff x="2144" y="2664"/>
            <a:chExt cx="2022" cy="274"/>
          </a:xfrm>
        </p:grpSpPr>
        <p:sp>
          <p:nvSpPr>
            <p:cNvPr id="202899" name="Text Box 145"/>
            <p:cNvSpPr txBox="1">
              <a:spLocks noChangeArrowheads="1"/>
            </p:cNvSpPr>
            <p:nvPr/>
          </p:nvSpPr>
          <p:spPr bwMode="auto">
            <a:xfrm>
              <a:off x="2144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900" name="Text Box 146"/>
            <p:cNvSpPr txBox="1">
              <a:spLocks noChangeArrowheads="1"/>
            </p:cNvSpPr>
            <p:nvPr/>
          </p:nvSpPr>
          <p:spPr bwMode="auto">
            <a:xfrm>
              <a:off x="2495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202901" name="Group 147"/>
            <p:cNvGrpSpPr>
              <a:grpSpLocks/>
            </p:cNvGrpSpPr>
            <p:nvPr/>
          </p:nvGrpSpPr>
          <p:grpSpPr bwMode="auto">
            <a:xfrm>
              <a:off x="2843" y="2664"/>
              <a:ext cx="267" cy="274"/>
              <a:chOff x="3941" y="2101"/>
              <a:chExt cx="267" cy="274"/>
            </a:xfrm>
          </p:grpSpPr>
          <p:sp>
            <p:nvSpPr>
              <p:cNvPr id="202902" name="Text Box 148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202903" name="Line 149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04" name="Text Box 150"/>
            <p:cNvSpPr txBox="1">
              <a:spLocks noChangeArrowheads="1"/>
            </p:cNvSpPr>
            <p:nvPr/>
          </p:nvSpPr>
          <p:spPr bwMode="auto">
            <a:xfrm>
              <a:off x="3170" y="2772"/>
              <a:ext cx="38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05" name="Text Box 151"/>
            <p:cNvSpPr txBox="1">
              <a:spLocks noChangeArrowheads="1"/>
            </p:cNvSpPr>
            <p:nvPr/>
          </p:nvSpPr>
          <p:spPr bwMode="auto">
            <a:xfrm>
              <a:off x="3638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06" name="Text Box 152"/>
            <p:cNvSpPr txBox="1">
              <a:spLocks noChangeArrowheads="1"/>
            </p:cNvSpPr>
            <p:nvPr/>
          </p:nvSpPr>
          <p:spPr bwMode="auto">
            <a:xfrm>
              <a:off x="3962" y="2664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</p:grpSp>
      <p:grpSp>
        <p:nvGrpSpPr>
          <p:cNvPr id="202907" name="Group 153"/>
          <p:cNvGrpSpPr>
            <a:grpSpLocks/>
          </p:cNvGrpSpPr>
          <p:nvPr/>
        </p:nvGrpSpPr>
        <p:grpSpPr bwMode="auto">
          <a:xfrm>
            <a:off x="3397250" y="4664075"/>
            <a:ext cx="3381375" cy="434975"/>
            <a:chOff x="2140" y="2938"/>
            <a:chExt cx="2130" cy="274"/>
          </a:xfrm>
        </p:grpSpPr>
        <p:grpSp>
          <p:nvGrpSpPr>
            <p:cNvPr id="202908" name="Group 154"/>
            <p:cNvGrpSpPr>
              <a:grpSpLocks/>
            </p:cNvGrpSpPr>
            <p:nvPr/>
          </p:nvGrpSpPr>
          <p:grpSpPr bwMode="auto">
            <a:xfrm>
              <a:off x="2140" y="2938"/>
              <a:ext cx="267" cy="274"/>
              <a:chOff x="3941" y="2101"/>
              <a:chExt cx="267" cy="274"/>
            </a:xfrm>
          </p:grpSpPr>
          <p:sp>
            <p:nvSpPr>
              <p:cNvPr id="202909" name="Text Box 155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202910" name="Line 156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11" name="Text Box 157"/>
            <p:cNvSpPr txBox="1">
              <a:spLocks noChangeArrowheads="1"/>
            </p:cNvSpPr>
            <p:nvPr/>
          </p:nvSpPr>
          <p:spPr bwMode="auto">
            <a:xfrm>
              <a:off x="2510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912" name="Text Box 158"/>
            <p:cNvSpPr txBox="1">
              <a:spLocks noChangeArrowheads="1"/>
            </p:cNvSpPr>
            <p:nvPr/>
          </p:nvSpPr>
          <p:spPr bwMode="auto">
            <a:xfrm>
              <a:off x="2888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13" name="Text Box 159"/>
            <p:cNvSpPr txBox="1">
              <a:spLocks noChangeArrowheads="1"/>
            </p:cNvSpPr>
            <p:nvPr/>
          </p:nvSpPr>
          <p:spPr bwMode="auto">
            <a:xfrm>
              <a:off x="3212" y="293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202914" name="Group 160"/>
            <p:cNvGrpSpPr>
              <a:grpSpLocks/>
            </p:cNvGrpSpPr>
            <p:nvPr/>
          </p:nvGrpSpPr>
          <p:grpSpPr bwMode="auto">
            <a:xfrm>
              <a:off x="3580" y="2938"/>
              <a:ext cx="267" cy="274"/>
              <a:chOff x="3941" y="2101"/>
              <a:chExt cx="267" cy="274"/>
            </a:xfrm>
          </p:grpSpPr>
          <p:sp>
            <p:nvSpPr>
              <p:cNvPr id="202915" name="Text Box 161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202916" name="Line 162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17" name="Text Box 163"/>
            <p:cNvSpPr txBox="1">
              <a:spLocks noChangeArrowheads="1"/>
            </p:cNvSpPr>
            <p:nvPr/>
          </p:nvSpPr>
          <p:spPr bwMode="auto">
            <a:xfrm>
              <a:off x="3886" y="3046"/>
              <a:ext cx="38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202918" name="Group 164"/>
          <p:cNvGrpSpPr>
            <a:grpSpLocks/>
          </p:cNvGrpSpPr>
          <p:nvPr/>
        </p:nvGrpSpPr>
        <p:grpSpPr bwMode="auto">
          <a:xfrm>
            <a:off x="3416300" y="5122863"/>
            <a:ext cx="3217863" cy="434975"/>
            <a:chOff x="2152" y="3227"/>
            <a:chExt cx="2027" cy="274"/>
          </a:xfrm>
        </p:grpSpPr>
        <p:sp>
          <p:nvSpPr>
            <p:cNvPr id="202919" name="Text Box 165"/>
            <p:cNvSpPr txBox="1">
              <a:spLocks noChangeArrowheads="1"/>
            </p:cNvSpPr>
            <p:nvPr/>
          </p:nvSpPr>
          <p:spPr bwMode="auto">
            <a:xfrm>
              <a:off x="2152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202920" name="Group 166"/>
            <p:cNvGrpSpPr>
              <a:grpSpLocks/>
            </p:cNvGrpSpPr>
            <p:nvPr/>
          </p:nvGrpSpPr>
          <p:grpSpPr bwMode="auto">
            <a:xfrm>
              <a:off x="2484" y="3227"/>
              <a:ext cx="267" cy="274"/>
              <a:chOff x="3941" y="2101"/>
              <a:chExt cx="267" cy="274"/>
            </a:xfrm>
          </p:grpSpPr>
          <p:sp>
            <p:nvSpPr>
              <p:cNvPr id="202921" name="Text Box 167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202922" name="Line 168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23" name="Text Box 169"/>
            <p:cNvSpPr txBox="1">
              <a:spLocks noChangeArrowheads="1"/>
            </p:cNvSpPr>
            <p:nvPr/>
          </p:nvSpPr>
          <p:spPr bwMode="auto">
            <a:xfrm>
              <a:off x="2888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24" name="Text Box 170"/>
            <p:cNvSpPr txBox="1">
              <a:spLocks noChangeArrowheads="1"/>
            </p:cNvSpPr>
            <p:nvPr/>
          </p:nvSpPr>
          <p:spPr bwMode="auto">
            <a:xfrm>
              <a:off x="3212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25" name="Text Box 171"/>
            <p:cNvSpPr txBox="1">
              <a:spLocks noChangeArrowheads="1"/>
            </p:cNvSpPr>
            <p:nvPr/>
          </p:nvSpPr>
          <p:spPr bwMode="auto">
            <a:xfrm>
              <a:off x="3614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2926" name="Text Box 172"/>
            <p:cNvSpPr txBox="1">
              <a:spLocks noChangeArrowheads="1"/>
            </p:cNvSpPr>
            <p:nvPr/>
          </p:nvSpPr>
          <p:spPr bwMode="auto">
            <a:xfrm>
              <a:off x="3975" y="3227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202927" name="Group 173"/>
          <p:cNvGrpSpPr>
            <a:grpSpLocks/>
          </p:cNvGrpSpPr>
          <p:nvPr/>
        </p:nvGrpSpPr>
        <p:grpSpPr bwMode="auto">
          <a:xfrm>
            <a:off x="3409950" y="5568950"/>
            <a:ext cx="3249613" cy="434975"/>
            <a:chOff x="2148" y="3508"/>
            <a:chExt cx="2047" cy="274"/>
          </a:xfrm>
        </p:grpSpPr>
        <p:sp>
          <p:nvSpPr>
            <p:cNvPr id="202928" name="Text Box 174"/>
            <p:cNvSpPr txBox="1">
              <a:spLocks noChangeArrowheads="1"/>
            </p:cNvSpPr>
            <p:nvPr/>
          </p:nvSpPr>
          <p:spPr bwMode="auto">
            <a:xfrm>
              <a:off x="2148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202929" name="Text Box 175"/>
            <p:cNvSpPr txBox="1">
              <a:spLocks noChangeArrowheads="1"/>
            </p:cNvSpPr>
            <p:nvPr/>
          </p:nvSpPr>
          <p:spPr bwMode="auto">
            <a:xfrm>
              <a:off x="2884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30" name="Text Box 176"/>
            <p:cNvSpPr txBox="1">
              <a:spLocks noChangeArrowheads="1"/>
            </p:cNvSpPr>
            <p:nvPr/>
          </p:nvSpPr>
          <p:spPr bwMode="auto">
            <a:xfrm>
              <a:off x="3610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202931" name="Text Box 177"/>
            <p:cNvSpPr txBox="1">
              <a:spLocks noChangeArrowheads="1"/>
            </p:cNvSpPr>
            <p:nvPr/>
          </p:nvSpPr>
          <p:spPr bwMode="auto">
            <a:xfrm>
              <a:off x="2530" y="3508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202932" name="Group 178"/>
            <p:cNvGrpSpPr>
              <a:grpSpLocks/>
            </p:cNvGrpSpPr>
            <p:nvPr/>
          </p:nvGrpSpPr>
          <p:grpSpPr bwMode="auto">
            <a:xfrm>
              <a:off x="3226" y="3508"/>
              <a:ext cx="267" cy="274"/>
              <a:chOff x="3941" y="2101"/>
              <a:chExt cx="267" cy="274"/>
            </a:xfrm>
          </p:grpSpPr>
          <p:sp>
            <p:nvSpPr>
              <p:cNvPr id="202933" name="Text Box 179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202934" name="Line 180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2935" name="Group 181"/>
            <p:cNvGrpSpPr>
              <a:grpSpLocks/>
            </p:cNvGrpSpPr>
            <p:nvPr/>
          </p:nvGrpSpPr>
          <p:grpSpPr bwMode="auto">
            <a:xfrm>
              <a:off x="3928" y="3508"/>
              <a:ext cx="267" cy="274"/>
              <a:chOff x="3941" y="2101"/>
              <a:chExt cx="267" cy="274"/>
            </a:xfrm>
          </p:grpSpPr>
          <p:sp>
            <p:nvSpPr>
              <p:cNvPr id="202936" name="Text Box 182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 dirty="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202937" name="Line 183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2938" name="Group 184"/>
          <p:cNvGrpSpPr>
            <a:grpSpLocks/>
          </p:cNvGrpSpPr>
          <p:nvPr/>
        </p:nvGrpSpPr>
        <p:grpSpPr bwMode="auto">
          <a:xfrm>
            <a:off x="3332163" y="5999163"/>
            <a:ext cx="3340100" cy="434975"/>
            <a:chOff x="2099" y="3779"/>
            <a:chExt cx="2104" cy="274"/>
          </a:xfrm>
        </p:grpSpPr>
        <p:grpSp>
          <p:nvGrpSpPr>
            <p:cNvPr id="202939" name="Group 185"/>
            <p:cNvGrpSpPr>
              <a:grpSpLocks/>
            </p:cNvGrpSpPr>
            <p:nvPr/>
          </p:nvGrpSpPr>
          <p:grpSpPr bwMode="auto">
            <a:xfrm>
              <a:off x="2099" y="3779"/>
              <a:ext cx="267" cy="274"/>
              <a:chOff x="3941" y="2101"/>
              <a:chExt cx="267" cy="274"/>
            </a:xfrm>
          </p:grpSpPr>
          <p:sp>
            <p:nvSpPr>
              <p:cNvPr id="202940" name="Text Box 186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202941" name="Line 187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42" name="Text Box 188"/>
            <p:cNvSpPr txBox="1">
              <a:spLocks noChangeArrowheads="1"/>
            </p:cNvSpPr>
            <p:nvPr/>
          </p:nvSpPr>
          <p:spPr bwMode="auto">
            <a:xfrm>
              <a:off x="2883" y="3779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43" name="Text Box 189"/>
            <p:cNvSpPr txBox="1">
              <a:spLocks noChangeArrowheads="1"/>
            </p:cNvSpPr>
            <p:nvPr/>
          </p:nvSpPr>
          <p:spPr bwMode="auto">
            <a:xfrm>
              <a:off x="2529" y="3779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202944" name="Text Box 190"/>
            <p:cNvSpPr txBox="1">
              <a:spLocks noChangeArrowheads="1"/>
            </p:cNvSpPr>
            <p:nvPr/>
          </p:nvSpPr>
          <p:spPr bwMode="auto">
            <a:xfrm>
              <a:off x="3274" y="3779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grpSp>
          <p:nvGrpSpPr>
            <p:cNvPr id="202945" name="Group 191"/>
            <p:cNvGrpSpPr>
              <a:grpSpLocks/>
            </p:cNvGrpSpPr>
            <p:nvPr/>
          </p:nvGrpSpPr>
          <p:grpSpPr bwMode="auto">
            <a:xfrm>
              <a:off x="3629" y="3779"/>
              <a:ext cx="267" cy="274"/>
              <a:chOff x="3941" y="2101"/>
              <a:chExt cx="267" cy="274"/>
            </a:xfrm>
          </p:grpSpPr>
          <p:sp>
            <p:nvSpPr>
              <p:cNvPr id="202946" name="Text Box 192"/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202947" name="Line 193"/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2948" name="Text Box 194"/>
            <p:cNvSpPr txBox="1">
              <a:spLocks noChangeArrowheads="1"/>
            </p:cNvSpPr>
            <p:nvPr/>
          </p:nvSpPr>
          <p:spPr bwMode="auto">
            <a:xfrm>
              <a:off x="3999" y="3779"/>
              <a:ext cx="204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sz="1600">
                  <a:latin typeface="Comic Sans MS" panose="030F0702030302020204" pitchFamily="66" charset="0"/>
                </a:rPr>
                <a:t>4</a:t>
              </a:r>
            </a:p>
          </p:txBody>
        </p:sp>
      </p:grpSp>
      <p:sp>
        <p:nvSpPr>
          <p:cNvPr id="659651" name="Line 195"/>
          <p:cNvSpPr>
            <a:spLocks noChangeShapeType="1"/>
          </p:cNvSpPr>
          <p:nvPr/>
        </p:nvSpPr>
        <p:spPr bwMode="auto">
          <a:xfrm flipH="1" flipV="1">
            <a:off x="3230337" y="1466851"/>
            <a:ext cx="271462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9652" name="Oval 196"/>
          <p:cNvSpPr>
            <a:spLocks noChangeArrowheads="1"/>
          </p:cNvSpPr>
          <p:nvPr/>
        </p:nvSpPr>
        <p:spPr bwMode="auto">
          <a:xfrm>
            <a:off x="6343650" y="5680075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3" name="Oval 197"/>
          <p:cNvSpPr>
            <a:spLocks noChangeArrowheads="1"/>
          </p:cNvSpPr>
          <p:nvPr/>
        </p:nvSpPr>
        <p:spPr bwMode="auto">
          <a:xfrm>
            <a:off x="5781675" y="4768850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4" name="Oval 198"/>
          <p:cNvSpPr>
            <a:spLocks noChangeArrowheads="1"/>
          </p:cNvSpPr>
          <p:nvPr/>
        </p:nvSpPr>
        <p:spPr bwMode="auto">
          <a:xfrm>
            <a:off x="4619625" y="4349750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5" name="Oval 199"/>
          <p:cNvSpPr>
            <a:spLocks noChangeArrowheads="1"/>
          </p:cNvSpPr>
          <p:nvPr/>
        </p:nvSpPr>
        <p:spPr bwMode="auto">
          <a:xfrm>
            <a:off x="3413125" y="3884613"/>
            <a:ext cx="300038" cy="300037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6" name="Oval 200"/>
          <p:cNvSpPr>
            <a:spLocks noChangeArrowheads="1"/>
          </p:cNvSpPr>
          <p:nvPr/>
        </p:nvSpPr>
        <p:spPr bwMode="auto">
          <a:xfrm>
            <a:off x="6337300" y="6115050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7" name="Oval 201"/>
          <p:cNvSpPr>
            <a:spLocks noChangeArrowheads="1"/>
          </p:cNvSpPr>
          <p:nvPr/>
        </p:nvSpPr>
        <p:spPr bwMode="auto">
          <a:xfrm>
            <a:off x="5738813" y="5246688"/>
            <a:ext cx="300037" cy="300037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8" name="Oval 202"/>
          <p:cNvSpPr>
            <a:spLocks noChangeArrowheads="1"/>
          </p:cNvSpPr>
          <p:nvPr/>
        </p:nvSpPr>
        <p:spPr bwMode="auto">
          <a:xfrm>
            <a:off x="5253038" y="4359275"/>
            <a:ext cx="300037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59" name="Oval 203"/>
          <p:cNvSpPr>
            <a:spLocks noChangeArrowheads="1"/>
          </p:cNvSpPr>
          <p:nvPr/>
        </p:nvSpPr>
        <p:spPr bwMode="auto">
          <a:xfrm>
            <a:off x="4038600" y="3895725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59660" name="Oval 204"/>
          <p:cNvSpPr>
            <a:spLocks noChangeArrowheads="1"/>
          </p:cNvSpPr>
          <p:nvPr/>
        </p:nvSpPr>
        <p:spPr bwMode="auto">
          <a:xfrm>
            <a:off x="2811463" y="3395663"/>
            <a:ext cx="300037" cy="300037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5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651" grpId="0" animBg="1"/>
      <p:bldP spid="659652" grpId="0" animBg="1"/>
      <p:bldP spid="659653" grpId="0" animBg="1"/>
      <p:bldP spid="659654" grpId="0" animBg="1"/>
      <p:bldP spid="659655" grpId="0" animBg="1"/>
      <p:bldP spid="659656" grpId="0" animBg="1"/>
      <p:bldP spid="659657" grpId="0" animBg="1"/>
      <p:bldP spid="659658" grpId="0" animBg="1"/>
      <p:bldP spid="659659" grpId="0" animBg="1"/>
      <p:bldP spid="65966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PRINT-LCS(b, X, i, j)</a:t>
            </a:r>
          </a:p>
        </p:txBody>
      </p:sp>
      <p:sp>
        <p:nvSpPr>
          <p:cNvPr id="66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b="1"/>
              <a:t> if </a:t>
            </a:r>
            <a:r>
              <a:rPr lang="en-US">
                <a:latin typeface="Comic Sans MS" panose="030F0702030302020204" pitchFamily="66" charset="0"/>
              </a:rPr>
              <a:t>i = 0 or j = 0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  then return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if </a:t>
            </a:r>
            <a:r>
              <a:rPr lang="en-US">
                <a:latin typeface="Comic Sans MS" panose="030F0702030302020204" pitchFamily="66" charset="0"/>
              </a:rPr>
              <a:t>b[i, j] = “   ”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	then </a:t>
            </a:r>
            <a:r>
              <a:rPr lang="en-US"/>
              <a:t>PRINT-LCS(</a:t>
            </a:r>
            <a:r>
              <a:rPr lang="en-US">
                <a:latin typeface="Comic Sans MS" panose="030F0702030302020204" pitchFamily="66" charset="0"/>
              </a:rPr>
              <a:t>b, X, i - 1, j - 1</a:t>
            </a:r>
            <a:r>
              <a:rPr lang="en-US"/>
              <a:t>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/>
              <a:t> 	        print </a:t>
            </a:r>
            <a:r>
              <a:rPr lang="en-US">
                <a:latin typeface="Comic Sans MS" panose="030F0702030302020204" pitchFamily="66" charset="0"/>
              </a:rPr>
              <a:t>x</a:t>
            </a:r>
            <a:r>
              <a:rPr lang="en-US" baseline="-25000">
                <a:latin typeface="Comic Sans MS" panose="030F0702030302020204" pitchFamily="66" charset="0"/>
              </a:rPr>
              <a:t>i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elseif </a:t>
            </a:r>
            <a:r>
              <a:rPr lang="en-US">
                <a:latin typeface="Comic Sans MS" panose="030F0702030302020204" pitchFamily="66" charset="0"/>
              </a:rPr>
              <a:t>b[i, j] = “↑”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	        then </a:t>
            </a:r>
            <a:r>
              <a:rPr lang="en-US"/>
              <a:t>PRINT-LCS(</a:t>
            </a:r>
            <a:r>
              <a:rPr lang="en-US">
                <a:latin typeface="Comic Sans MS" panose="030F0702030302020204" pitchFamily="66" charset="0"/>
              </a:rPr>
              <a:t>b, X, i - 1, j</a:t>
            </a:r>
            <a:r>
              <a:rPr lang="en-US"/>
              <a:t>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/>
              <a:t> 	        else </a:t>
            </a:r>
            <a:r>
              <a:rPr lang="en-US"/>
              <a:t>PRINT-LCS(</a:t>
            </a:r>
            <a:r>
              <a:rPr lang="en-US">
                <a:latin typeface="Comic Sans MS" panose="030F0702030302020204" pitchFamily="66" charset="0"/>
              </a:rPr>
              <a:t>b, X, i, j - 1</a:t>
            </a:r>
            <a:r>
              <a:rPr lang="en-US"/>
              <a:t>)</a:t>
            </a:r>
          </a:p>
          <a:p>
            <a:pPr marL="533400" indent="-533400" eaLnBrk="1" hangingPunct="1">
              <a:buFontTx/>
              <a:buNone/>
            </a:pPr>
            <a:endParaRPr lang="en-US"/>
          </a:p>
          <a:p>
            <a:pPr marL="533400" indent="-533400" eaLnBrk="1" hangingPunct="1">
              <a:buFontTx/>
              <a:buNone/>
            </a:pPr>
            <a:r>
              <a:rPr lang="en-US"/>
              <a:t>Initial call: PRINT-LCS(</a:t>
            </a:r>
            <a:r>
              <a:rPr lang="en-US">
                <a:latin typeface="Comic Sans MS" panose="030F0702030302020204" pitchFamily="66" charset="0"/>
              </a:rPr>
              <a:t>b, X, length[X], length[Y]</a:t>
            </a:r>
            <a:r>
              <a:rPr lang="en-US"/>
              <a:t>)</a:t>
            </a:r>
          </a:p>
        </p:txBody>
      </p:sp>
      <p:sp>
        <p:nvSpPr>
          <p:cNvPr id="660484" name="Line 4"/>
          <p:cNvSpPr>
            <a:spLocks noChangeShapeType="1"/>
          </p:cNvSpPr>
          <p:nvPr/>
        </p:nvSpPr>
        <p:spPr bwMode="auto">
          <a:xfrm flipH="1" flipV="1">
            <a:off x="2665277" y="2073411"/>
            <a:ext cx="228600" cy="24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0485" name="Text Box 5"/>
          <p:cNvSpPr txBox="1">
            <a:spLocks noChangeArrowheads="1"/>
          </p:cNvSpPr>
          <p:nvPr/>
        </p:nvSpPr>
        <p:spPr bwMode="auto">
          <a:xfrm>
            <a:off x="4908550" y="1309688"/>
            <a:ext cx="332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ym typeface="Symbol" panose="05050102010706020507" pitchFamily="18" charset="2"/>
              </a:rPr>
              <a:t>Running time: </a:t>
            </a:r>
            <a:r>
              <a:rPr 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(m + n)</a:t>
            </a:r>
          </a:p>
        </p:txBody>
      </p:sp>
    </p:spTree>
    <p:extLst>
      <p:ext uri="{BB962C8B-B14F-4D97-AF65-F5344CB8AC3E}">
        <p14:creationId xmlns:p14="http://schemas.microsoft.com/office/powerpoint/2010/main" val="403093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4173</TotalTime>
  <Words>1090</Words>
  <Application>Microsoft Office PowerPoint</Application>
  <PresentationFormat>On-screen Show (4:3)</PresentationFormat>
  <Paragraphs>552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Aharoni</vt:lpstr>
      <vt:lpstr>Arial</vt:lpstr>
      <vt:lpstr>Britannic Bold</vt:lpstr>
      <vt:lpstr>Calibri</vt:lpstr>
      <vt:lpstr>Calibri (body)</vt:lpstr>
      <vt:lpstr>Calibri Light</vt:lpstr>
      <vt:lpstr>Comic Sans MS</vt:lpstr>
      <vt:lpstr>Gungsuh</vt:lpstr>
      <vt:lpstr>Impact</vt:lpstr>
      <vt:lpstr>Symbol</vt:lpstr>
      <vt:lpstr>Verdana</vt:lpstr>
      <vt:lpstr>Office Theme</vt:lpstr>
      <vt:lpstr>Equation</vt:lpstr>
      <vt:lpstr>PowerPoint Presentation</vt:lpstr>
      <vt:lpstr>Longest Common Subsequence (LCS)</vt:lpstr>
      <vt:lpstr>Example</vt:lpstr>
      <vt:lpstr>Brute-Force Solution</vt:lpstr>
      <vt:lpstr>LCS Recursive Solution</vt:lpstr>
      <vt:lpstr>LCS Recursive Solution</vt:lpstr>
      <vt:lpstr>LCS Recursive Solution</vt:lpstr>
      <vt:lpstr>LCS Recursive Solution</vt:lpstr>
      <vt:lpstr>Computing the Length of the LCS</vt:lpstr>
      <vt:lpstr>Additional Information</vt:lpstr>
      <vt:lpstr>LCS-LENGTH(X, Y, m, n)</vt:lpstr>
      <vt:lpstr>Example</vt:lpstr>
      <vt:lpstr>Example</vt:lpstr>
      <vt:lpstr>4. Constructing a LCS</vt:lpstr>
      <vt:lpstr>PRINT-LCS(b, X, i, j)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CSE</cp:lastModifiedBy>
  <cp:revision>228</cp:revision>
  <dcterms:created xsi:type="dcterms:W3CDTF">2014-09-11T18:03:18Z</dcterms:created>
  <dcterms:modified xsi:type="dcterms:W3CDTF">2025-07-25T06:50:36Z</dcterms:modified>
</cp:coreProperties>
</file>