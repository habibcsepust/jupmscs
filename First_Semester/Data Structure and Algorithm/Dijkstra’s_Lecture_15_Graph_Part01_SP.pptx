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590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70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07" autoAdjust="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C6C83BE-92F7-4088-A074-0DA73AC579A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6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D60591-1836-43F8-83A0-9CE7379629F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10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4B7625-3D2A-4D80-8941-79C98DADEE1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38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971ED4-83C9-49AD-B414-359A23E1996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2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FF24110-2751-46F0-9B79-5702D13947E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07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3F10DA-2E2E-4172-AE33-AD6AA852E09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65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C45882D-2929-4939-8E7D-22F53406F94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43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B93269-4C36-46B8-9273-9F36346D95D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06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8424D2-2F90-471F-8CA0-84C5962A4C9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19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66C0E6E-FEF3-4464-80BD-A20F7A3E2E5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99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108AA6-DB20-45FC-A786-32CA0BD53EB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16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00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5CB7A5-40AD-4813-A25A-401D9543BE53}" type="slidenum">
              <a:rPr lang="en-US"/>
              <a:pPr/>
              <a:t>27</a:t>
            </a:fld>
            <a:endParaRPr lang="en-US"/>
          </a:p>
        </p:txBody>
      </p:sp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66" tIns="46034" rIns="92066" bIns="4603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9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636B-5FA2-4D1A-A17B-6F315CF42ADC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4394E-1094-4F91-AC53-F74C0DAF1943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A234-80E8-4692-A5CE-329C23053784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CCFA-16E2-48A1-B864-B698E8D304AC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C429-44A3-409E-8E73-8BD25ADC4124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9D77-B442-40F5-8BE1-5CB582ADCD1A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94F8-4AFD-453F-9D54-4468A81A9311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23D32-C816-4A43-A804-ADF2BB9780A5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7CCB-D5AF-44B1-81C8-AC5B4171ED8C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A361-DDEC-4399-9D8B-5B5A5C55F5FB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37053-B15B-4E4A-B9B4-152045037275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EC150310-FB7C-4E50-A190-AC132925E56F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EFFA5-47F4-4993-AB6B-79358A03FBBB}" type="datetime1">
              <a:rPr lang="en-US" smtClean="0"/>
              <a:pPr>
                <a:defRPr/>
              </a:pPr>
              <a:t>7/25/2025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6DD-A2D6-41A3-94D4-B9B173881C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76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F23AE-5448-48C1-A236-C844FB6196F5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9367" y="880058"/>
            <a:ext cx="7765269" cy="1441802"/>
          </a:xfrm>
          <a:prstGeom prst="rect">
            <a:avLst/>
          </a:prstGeom>
        </p:spPr>
        <p:txBody>
          <a:bodyPr vert="horz" lIns="91356" tIns="45679" rIns="91356" bIns="45679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199"/>
              </a:spcAft>
            </a:pPr>
            <a:r>
              <a:rPr lang="en-US" altLang="en-US" sz="7200" b="1" dirty="0"/>
              <a:t>Data Structure and Algorithm</a:t>
            </a:r>
            <a:br>
              <a:rPr lang="en-US" altLang="en-US" sz="7200" b="1" dirty="0"/>
            </a:br>
            <a:r>
              <a:rPr lang="en-US" altLang="en-US" sz="5400" b="1" dirty="0"/>
              <a:t>(PMSCS 623P)</a:t>
            </a:r>
            <a:endParaRPr lang="en-US" altLang="en-US" sz="54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4536" y="4038042"/>
            <a:ext cx="6394928" cy="1750993"/>
          </a:xfrm>
          <a:prstGeom prst="rect">
            <a:avLst/>
          </a:prstGeom>
        </p:spPr>
        <p:txBody>
          <a:bodyPr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26400"/>
              <a:t>Lecture </a:t>
            </a:r>
            <a:r>
              <a:rPr lang="en-US" sz="26400" smtClean="0"/>
              <a:t>15</a:t>
            </a:r>
            <a:endParaRPr lang="en-US" sz="35800" dirty="0"/>
          </a:p>
          <a:p>
            <a:pPr marL="0" indent="0" algn="ctr">
              <a:buNone/>
              <a:defRPr/>
            </a:pPr>
            <a:r>
              <a:rPr lang="en-US" sz="17600" dirty="0">
                <a:solidFill>
                  <a:schemeClr val="accent5"/>
                </a:solidFill>
              </a:rPr>
              <a:t>Shortest Path Problem</a:t>
            </a:r>
            <a:endParaRPr lang="en-US" sz="16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99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 Path Problems</a:t>
            </a:r>
          </a:p>
        </p:txBody>
      </p:sp>
      <p:sp>
        <p:nvSpPr>
          <p:cNvPr id="766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dirty="0"/>
              <a:t>Modeling problems as graph problems: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Road map is a weighted graph: </a:t>
            </a:r>
          </a:p>
          <a:p>
            <a:pPr lvl="1" eaLnBrk="1" hangingPunct="1">
              <a:lnSpc>
                <a:spcPct val="120000"/>
              </a:lnSpc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CC0000"/>
                </a:solidFill>
                <a:latin typeface="Comic Sans MS" panose="030F0702030302020204" pitchFamily="66" charset="0"/>
              </a:rPr>
              <a:t>vertices</a:t>
            </a:r>
            <a:r>
              <a:rPr lang="en-US" altLang="en-US" dirty="0"/>
              <a:t> = cities</a:t>
            </a:r>
          </a:p>
          <a:p>
            <a:pPr lvl="1" eaLnBrk="1" hangingPunct="1">
              <a:lnSpc>
                <a:spcPct val="120000"/>
              </a:lnSpc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8080"/>
                </a:solidFill>
                <a:latin typeface="Comic Sans MS" panose="030F0702030302020204" pitchFamily="66" charset="0"/>
              </a:rPr>
              <a:t>edges</a:t>
            </a:r>
            <a:r>
              <a:rPr lang="en-US" altLang="en-US" dirty="0"/>
              <a:t> = road segments between cities</a:t>
            </a:r>
          </a:p>
          <a:p>
            <a:pPr lvl="1" eaLnBrk="1" hangingPunct="1">
              <a:lnSpc>
                <a:spcPct val="120000"/>
              </a:lnSpc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6699"/>
                </a:solidFill>
                <a:latin typeface="Comic Sans MS" panose="030F0702030302020204" pitchFamily="66" charset="0"/>
              </a:rPr>
              <a:t>edge weights</a:t>
            </a:r>
            <a:r>
              <a:rPr lang="en-US" altLang="en-US" dirty="0"/>
              <a:t> = road distances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Goal: find a shortest path between two vertices (cities)</a:t>
            </a:r>
          </a:p>
        </p:txBody>
      </p:sp>
    </p:spTree>
    <p:extLst>
      <p:ext uri="{BB962C8B-B14F-4D97-AF65-F5344CB8AC3E}">
        <p14:creationId xmlns:p14="http://schemas.microsoft.com/office/powerpoint/2010/main" val="7711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 Path Problems</a:t>
            </a:r>
          </a:p>
        </p:txBody>
      </p:sp>
      <p:sp>
        <p:nvSpPr>
          <p:cNvPr id="4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en-US" b="1" dirty="0">
                <a:solidFill>
                  <a:schemeClr val="tx2"/>
                </a:solidFill>
              </a:rPr>
              <a:t> </a:t>
            </a:r>
            <a:r>
              <a:rPr lang="tr-TR" altLang="en-US" b="1" dirty="0">
                <a:solidFill>
                  <a:srgbClr val="FF3300"/>
                </a:solidFill>
              </a:rPr>
              <a:t>What is s</a:t>
            </a:r>
            <a:r>
              <a:rPr lang="en-US" altLang="en-US" b="1" dirty="0" err="1">
                <a:solidFill>
                  <a:srgbClr val="FF3300"/>
                </a:solidFill>
              </a:rPr>
              <a:t>hortest</a:t>
            </a:r>
            <a:r>
              <a:rPr lang="en-US" altLang="en-US" b="1" dirty="0">
                <a:solidFill>
                  <a:srgbClr val="FF3300"/>
                </a:solidFill>
              </a:rPr>
              <a:t> path </a:t>
            </a:r>
            <a:r>
              <a:rPr lang="tr-TR" altLang="en-US" b="1" dirty="0">
                <a:solidFill>
                  <a:srgbClr val="FF3300"/>
                </a:solidFill>
              </a:rPr>
              <a:t>?</a:t>
            </a:r>
            <a:endParaRPr lang="en-US" altLang="en-US" b="1" dirty="0">
              <a:solidFill>
                <a:srgbClr val="FF3300"/>
              </a:solidFill>
            </a:endParaRPr>
          </a:p>
          <a:p>
            <a:pPr lvl="1" eaLnBrk="1" hangingPunct="1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u="sng" dirty="0">
                <a:solidFill>
                  <a:schemeClr val="tx2"/>
                </a:solidFill>
              </a:rPr>
              <a:t>shortest </a:t>
            </a:r>
            <a:r>
              <a:rPr lang="en-US" altLang="en-US" u="sng" dirty="0">
                <a:solidFill>
                  <a:schemeClr val="tx2"/>
                </a:solidFill>
                <a:latin typeface="TimesNewRomanPSMT;TimesNewRoman"/>
              </a:rPr>
              <a:t>length </a:t>
            </a:r>
            <a:r>
              <a:rPr lang="en-US" altLang="en-US" u="sng" dirty="0">
                <a:solidFill>
                  <a:schemeClr val="tx2"/>
                </a:solidFill>
              </a:rPr>
              <a:t>between two vertices</a:t>
            </a:r>
            <a:r>
              <a:rPr lang="tr-TR" altLang="en-US" b="1" dirty="0">
                <a:solidFill>
                  <a:schemeClr val="tx2"/>
                </a:solidFill>
              </a:rPr>
              <a:t> </a:t>
            </a:r>
            <a:r>
              <a:rPr lang="tr-TR" altLang="en-US" dirty="0">
                <a:solidFill>
                  <a:schemeClr val="tx2"/>
                </a:solidFill>
              </a:rPr>
              <a:t>for </a:t>
            </a:r>
            <a:r>
              <a:rPr lang="en-US" altLang="en-US" dirty="0">
                <a:solidFill>
                  <a:schemeClr val="tx2"/>
                </a:solidFill>
              </a:rPr>
              <a:t>an </a:t>
            </a:r>
            <a:r>
              <a:rPr lang="en-US" altLang="en-US" dirty="0" err="1">
                <a:solidFill>
                  <a:schemeClr val="tx2"/>
                </a:solidFill>
              </a:rPr>
              <a:t>unweighted</a:t>
            </a:r>
            <a:r>
              <a:rPr lang="en-US" altLang="en-US" dirty="0">
                <a:solidFill>
                  <a:schemeClr val="tx2"/>
                </a:solidFill>
              </a:rPr>
              <a:t> graph: </a:t>
            </a:r>
          </a:p>
          <a:p>
            <a:pPr lvl="1" eaLnBrk="1" hangingPunct="1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u="sng" dirty="0">
                <a:solidFill>
                  <a:schemeClr val="tx2"/>
                </a:solidFill>
              </a:rPr>
              <a:t>smallest </a:t>
            </a:r>
            <a:r>
              <a:rPr lang="en-US" altLang="en-US" b="1" u="sng" dirty="0">
                <a:solidFill>
                  <a:schemeClr val="tx2"/>
                </a:solidFill>
              </a:rPr>
              <a:t>cost</a:t>
            </a:r>
            <a:r>
              <a:rPr lang="en-US" altLang="en-US" u="sng" dirty="0">
                <a:solidFill>
                  <a:schemeClr val="tx2"/>
                </a:solidFill>
              </a:rPr>
              <a:t> between two vertices</a:t>
            </a:r>
            <a:r>
              <a:rPr lang="tr-TR" altLang="en-US" i="1" dirty="0">
                <a:solidFill>
                  <a:schemeClr val="tx2"/>
                </a:solidFill>
              </a:rPr>
              <a:t> for</a:t>
            </a:r>
            <a:r>
              <a:rPr lang="en-US" altLang="en-US" dirty="0">
                <a:solidFill>
                  <a:schemeClr val="tx2"/>
                </a:solidFill>
              </a:rPr>
              <a:t> a weighted graph: </a:t>
            </a:r>
            <a:endParaRPr lang="en-US" altLang="en-US" b="1" dirty="0">
              <a:solidFill>
                <a:schemeClr val="tx2"/>
              </a:solidFill>
            </a:endParaRPr>
          </a:p>
          <a:p>
            <a:pPr eaLnBrk="1" hangingPunct="1"/>
            <a:endParaRPr lang="tr-TR" altLang="en-US" b="1" dirty="0">
              <a:solidFill>
                <a:schemeClr val="tx2"/>
              </a:solidFill>
            </a:endParaRPr>
          </a:p>
        </p:txBody>
      </p:sp>
      <p:sp>
        <p:nvSpPr>
          <p:cNvPr id="4099" name="Oval 4"/>
          <p:cNvSpPr>
            <a:spLocks noChangeArrowheads="1"/>
          </p:cNvSpPr>
          <p:nvPr/>
        </p:nvSpPr>
        <p:spPr bwMode="auto">
          <a:xfrm>
            <a:off x="2877776" y="2511289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B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0" name="Oval 5"/>
          <p:cNvSpPr>
            <a:spLocks noChangeArrowheads="1"/>
          </p:cNvSpPr>
          <p:nvPr/>
        </p:nvSpPr>
        <p:spPr bwMode="auto">
          <a:xfrm>
            <a:off x="2792051" y="5213214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D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1" name="Oval 6"/>
          <p:cNvSpPr>
            <a:spLocks noChangeArrowheads="1"/>
          </p:cNvSpPr>
          <p:nvPr/>
        </p:nvSpPr>
        <p:spPr bwMode="auto">
          <a:xfrm>
            <a:off x="1725251" y="4527414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C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2" name="Oval 7"/>
          <p:cNvSpPr>
            <a:spLocks noChangeArrowheads="1"/>
          </p:cNvSpPr>
          <p:nvPr/>
        </p:nvSpPr>
        <p:spPr bwMode="auto">
          <a:xfrm>
            <a:off x="1725251" y="3232014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A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3" name="Oval 8"/>
          <p:cNvSpPr>
            <a:spLocks noChangeArrowheads="1"/>
          </p:cNvSpPr>
          <p:nvPr/>
        </p:nvSpPr>
        <p:spPr bwMode="auto">
          <a:xfrm>
            <a:off x="788626" y="5464039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E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4" name="Line 9"/>
          <p:cNvSpPr>
            <a:spLocks noChangeShapeType="1"/>
          </p:cNvSpPr>
          <p:nvPr/>
        </p:nvSpPr>
        <p:spPr bwMode="auto">
          <a:xfrm flipV="1">
            <a:off x="3058751" y="3016114"/>
            <a:ext cx="106362" cy="2193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Line 10"/>
          <p:cNvSpPr>
            <a:spLocks noChangeShapeType="1"/>
          </p:cNvSpPr>
          <p:nvPr/>
        </p:nvSpPr>
        <p:spPr bwMode="auto">
          <a:xfrm flipV="1">
            <a:off x="2158638" y="2727189"/>
            <a:ext cx="719138" cy="560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Line 11"/>
          <p:cNvSpPr>
            <a:spLocks noChangeShapeType="1"/>
          </p:cNvSpPr>
          <p:nvPr/>
        </p:nvSpPr>
        <p:spPr bwMode="auto">
          <a:xfrm>
            <a:off x="2177688" y="3676514"/>
            <a:ext cx="881063" cy="1533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 flipV="1">
            <a:off x="1982426" y="3755889"/>
            <a:ext cx="0" cy="781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 flipV="1">
            <a:off x="1222013" y="4994139"/>
            <a:ext cx="588963" cy="541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2230076" y="4927464"/>
            <a:ext cx="600075" cy="390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Oval 32"/>
          <p:cNvSpPr>
            <a:spLocks noChangeArrowheads="1"/>
          </p:cNvSpPr>
          <p:nvPr/>
        </p:nvSpPr>
        <p:spPr bwMode="auto">
          <a:xfrm>
            <a:off x="6478226" y="2511289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B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11" name="Oval 33"/>
          <p:cNvSpPr>
            <a:spLocks noChangeArrowheads="1"/>
          </p:cNvSpPr>
          <p:nvPr/>
        </p:nvSpPr>
        <p:spPr bwMode="auto">
          <a:xfrm>
            <a:off x="6365513" y="5232264"/>
            <a:ext cx="528638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D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12" name="Oval 34"/>
          <p:cNvSpPr>
            <a:spLocks noChangeArrowheads="1"/>
          </p:cNvSpPr>
          <p:nvPr/>
        </p:nvSpPr>
        <p:spPr bwMode="auto">
          <a:xfrm>
            <a:off x="5298713" y="4546464"/>
            <a:ext cx="528638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C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13" name="Oval 35"/>
          <p:cNvSpPr>
            <a:spLocks noChangeArrowheads="1"/>
          </p:cNvSpPr>
          <p:nvPr/>
        </p:nvSpPr>
        <p:spPr bwMode="auto">
          <a:xfrm>
            <a:off x="5298713" y="3251064"/>
            <a:ext cx="528638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A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14" name="Oval 36"/>
          <p:cNvSpPr>
            <a:spLocks noChangeArrowheads="1"/>
          </p:cNvSpPr>
          <p:nvPr/>
        </p:nvSpPr>
        <p:spPr bwMode="auto">
          <a:xfrm>
            <a:off x="4317638" y="5464039"/>
            <a:ext cx="528638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E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15" name="Line 37"/>
          <p:cNvSpPr>
            <a:spLocks noChangeShapeType="1"/>
          </p:cNvSpPr>
          <p:nvPr/>
        </p:nvSpPr>
        <p:spPr bwMode="auto">
          <a:xfrm flipV="1">
            <a:off x="6632213" y="3016114"/>
            <a:ext cx="133350" cy="2212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6" name="Line 38"/>
          <p:cNvSpPr>
            <a:spLocks noChangeShapeType="1"/>
          </p:cNvSpPr>
          <p:nvPr/>
        </p:nvSpPr>
        <p:spPr bwMode="auto">
          <a:xfrm flipV="1">
            <a:off x="5732101" y="2800214"/>
            <a:ext cx="746125" cy="506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39"/>
          <p:cNvSpPr>
            <a:spLocks noChangeShapeType="1"/>
          </p:cNvSpPr>
          <p:nvPr/>
        </p:nvSpPr>
        <p:spPr bwMode="auto">
          <a:xfrm>
            <a:off x="5751151" y="3695564"/>
            <a:ext cx="881062" cy="1533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Line 40"/>
          <p:cNvSpPr>
            <a:spLocks noChangeShapeType="1"/>
          </p:cNvSpPr>
          <p:nvPr/>
        </p:nvSpPr>
        <p:spPr bwMode="auto">
          <a:xfrm flipV="1">
            <a:off x="5555888" y="3774939"/>
            <a:ext cx="0" cy="781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41"/>
          <p:cNvSpPr>
            <a:spLocks noChangeShapeType="1"/>
          </p:cNvSpPr>
          <p:nvPr/>
        </p:nvSpPr>
        <p:spPr bwMode="auto">
          <a:xfrm flipV="1">
            <a:off x="4749438" y="5013189"/>
            <a:ext cx="635000" cy="522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Line 42"/>
          <p:cNvSpPr>
            <a:spLocks noChangeShapeType="1"/>
          </p:cNvSpPr>
          <p:nvPr/>
        </p:nvSpPr>
        <p:spPr bwMode="auto">
          <a:xfrm>
            <a:off x="5803538" y="4946514"/>
            <a:ext cx="600075" cy="390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1" name="Text Box 43"/>
          <p:cNvSpPr txBox="1">
            <a:spLocks noChangeArrowheads="1"/>
          </p:cNvSpPr>
          <p:nvPr/>
        </p:nvSpPr>
        <p:spPr bwMode="auto">
          <a:xfrm>
            <a:off x="4606563" y="5032239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200</a:t>
            </a:r>
          </a:p>
        </p:txBody>
      </p:sp>
      <p:sp>
        <p:nvSpPr>
          <p:cNvPr id="4122" name="Text Box 44"/>
          <p:cNvSpPr txBox="1">
            <a:spLocks noChangeArrowheads="1"/>
          </p:cNvSpPr>
          <p:nvPr/>
        </p:nvSpPr>
        <p:spPr bwMode="auto">
          <a:xfrm>
            <a:off x="5147901" y="4016239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4123" name="Text Box 45"/>
          <p:cNvSpPr txBox="1">
            <a:spLocks noChangeArrowheads="1"/>
          </p:cNvSpPr>
          <p:nvPr/>
        </p:nvSpPr>
        <p:spPr bwMode="auto">
          <a:xfrm>
            <a:off x="5665426" y="5102089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4124" name="Text Box 46"/>
          <p:cNvSpPr txBox="1">
            <a:spLocks noChangeArrowheads="1"/>
          </p:cNvSpPr>
          <p:nvPr/>
        </p:nvSpPr>
        <p:spPr bwMode="auto">
          <a:xfrm>
            <a:off x="5982926" y="3920989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190</a:t>
            </a:r>
          </a:p>
        </p:txBody>
      </p:sp>
      <p:sp>
        <p:nvSpPr>
          <p:cNvPr id="4125" name="Text Box 47"/>
          <p:cNvSpPr txBox="1">
            <a:spLocks noChangeArrowheads="1"/>
          </p:cNvSpPr>
          <p:nvPr/>
        </p:nvSpPr>
        <p:spPr bwMode="auto">
          <a:xfrm>
            <a:off x="6706826" y="3638414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450</a:t>
            </a:r>
          </a:p>
        </p:txBody>
      </p:sp>
      <p:sp>
        <p:nvSpPr>
          <p:cNvPr id="4126" name="Text Box 48"/>
          <p:cNvSpPr txBox="1">
            <a:spLocks noChangeArrowheads="1"/>
          </p:cNvSpPr>
          <p:nvPr/>
        </p:nvSpPr>
        <p:spPr bwMode="auto">
          <a:xfrm>
            <a:off x="5771788" y="2650989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210</a:t>
            </a:r>
          </a:p>
        </p:txBody>
      </p:sp>
      <p:sp>
        <p:nvSpPr>
          <p:cNvPr id="4127" name="Text Box 49"/>
          <p:cNvSpPr txBox="1">
            <a:spLocks noChangeArrowheads="1"/>
          </p:cNvSpPr>
          <p:nvPr/>
        </p:nvSpPr>
        <p:spPr bwMode="auto">
          <a:xfrm>
            <a:off x="6910026" y="4600439"/>
            <a:ext cx="1439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</a:rPr>
              <a:t>weighted </a:t>
            </a:r>
            <a:r>
              <a:rPr lang="tr-TR" altLang="en-US" sz="1800" b="1">
                <a:solidFill>
                  <a:schemeClr val="tx1"/>
                </a:solidFill>
              </a:rPr>
              <a:t>graph</a:t>
            </a:r>
          </a:p>
        </p:txBody>
      </p:sp>
      <p:sp>
        <p:nvSpPr>
          <p:cNvPr id="4128" name="Text Box 50"/>
          <p:cNvSpPr txBox="1">
            <a:spLocks noChangeArrowheads="1"/>
          </p:cNvSpPr>
          <p:nvPr/>
        </p:nvSpPr>
        <p:spPr bwMode="auto">
          <a:xfrm>
            <a:off x="3238138" y="4600439"/>
            <a:ext cx="15113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en-US" sz="1800" b="1">
                <a:solidFill>
                  <a:schemeClr val="tx1"/>
                </a:solidFill>
              </a:rPr>
              <a:t>un</a:t>
            </a:r>
            <a:r>
              <a:rPr lang="en-US" altLang="en-US" sz="1800" b="1">
                <a:solidFill>
                  <a:schemeClr val="tx1"/>
                </a:solidFill>
              </a:rPr>
              <a:t>weighte</a:t>
            </a:r>
            <a:r>
              <a:rPr lang="tr-TR" altLang="en-US" sz="1800" b="1">
                <a:solidFill>
                  <a:schemeClr val="tx1"/>
                </a:solidFill>
              </a:rPr>
              <a:t>d graph</a:t>
            </a:r>
          </a:p>
        </p:txBody>
      </p:sp>
    </p:spTree>
    <p:extLst>
      <p:ext uri="{BB962C8B-B14F-4D97-AF65-F5344CB8AC3E}">
        <p14:creationId xmlns:p14="http://schemas.microsoft.com/office/powerpoint/2010/main" val="345542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69913" y="1122363"/>
            <a:ext cx="8574087" cy="55054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b="1" dirty="0"/>
              <a:t>Input: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/>
              <a:t>Directed graph G = (V, E)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/>
              <a:t>Weight function w : E → </a:t>
            </a:r>
            <a:r>
              <a:rPr lang="en-US" altLang="en-US" sz="2000" b="1" dirty="0"/>
              <a:t>R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b="1" dirty="0"/>
              <a:t>Weight of path </a:t>
            </a:r>
            <a:r>
              <a:rPr lang="en-US" altLang="en-US" sz="2400" dirty="0"/>
              <a:t>p = </a:t>
            </a:r>
            <a:r>
              <a:rPr lang="en-US" altLang="en-US" sz="2400" dirty="0">
                <a:sym typeface="Symbol" panose="05050102010706020507" pitchFamily="18" charset="2"/>
              </a:rPr>
              <a:t></a:t>
            </a:r>
            <a:r>
              <a:rPr lang="en-US" altLang="en-US" sz="2400" dirty="0"/>
              <a:t>v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, v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. . . , </a:t>
            </a:r>
            <a:r>
              <a:rPr lang="en-US" altLang="en-US" sz="2400" dirty="0" err="1"/>
              <a:t>v</a:t>
            </a:r>
            <a:r>
              <a:rPr lang="en-US" altLang="en-US" sz="2400" baseline="-25000" dirty="0" err="1"/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</a:t>
            </a:r>
          </a:p>
          <a:p>
            <a:pPr eaLnBrk="1" hangingPunct="1">
              <a:lnSpc>
                <a:spcPct val="150000"/>
              </a:lnSpc>
            </a:pPr>
            <a:endParaRPr lang="en-US" altLang="en-US" sz="2400" dirty="0"/>
          </a:p>
          <a:p>
            <a:pPr eaLnBrk="1" hangingPunct="1">
              <a:lnSpc>
                <a:spcPct val="150000"/>
              </a:lnSpc>
            </a:pPr>
            <a:r>
              <a:rPr lang="en-US" altLang="en-US" sz="2400" b="1" dirty="0"/>
              <a:t>Shortest-path weight </a:t>
            </a:r>
            <a:r>
              <a:rPr lang="en-US" altLang="en-US" sz="2400" dirty="0"/>
              <a:t>from </a:t>
            </a:r>
            <a:r>
              <a:rPr lang="en-US" altLang="en-US" sz="2400" dirty="0">
                <a:latin typeface="Comic Sans MS" panose="030F0702030302020204" pitchFamily="66" charset="0"/>
              </a:rPr>
              <a:t>u</a:t>
            </a:r>
            <a:r>
              <a:rPr lang="en-US" altLang="en-US" sz="2400" dirty="0"/>
              <a:t> to </a:t>
            </a:r>
            <a:r>
              <a:rPr lang="en-US" altLang="en-US" sz="2400" dirty="0">
                <a:latin typeface="Comic Sans MS" panose="030F0702030302020204" pitchFamily="66" charset="0"/>
              </a:rPr>
              <a:t>v</a:t>
            </a:r>
            <a:r>
              <a:rPr lang="en-US" altLang="en-US" sz="2400" dirty="0"/>
              <a:t>: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400" dirty="0">
                <a:latin typeface="Comic Sans MS" panose="030F0702030302020204" pitchFamily="66" charset="0"/>
              </a:rPr>
              <a:t>δ(u, v)</a:t>
            </a:r>
            <a:r>
              <a:rPr lang="en-US" altLang="en-US" sz="2400" dirty="0"/>
              <a:t> = min  w(p) : </a:t>
            </a:r>
            <a:r>
              <a:rPr lang="en-US" altLang="en-US" sz="2400" dirty="0">
                <a:latin typeface="Comic Sans MS" panose="030F0702030302020204" pitchFamily="66" charset="0"/>
              </a:rPr>
              <a:t>u      v</a:t>
            </a:r>
            <a:r>
              <a:rPr lang="en-US" altLang="en-US" sz="2400" dirty="0"/>
              <a:t>  if there exists a path from </a:t>
            </a:r>
            <a:r>
              <a:rPr lang="en-US" altLang="en-US" sz="2400" dirty="0">
                <a:latin typeface="Comic Sans MS" panose="030F0702030302020204" pitchFamily="66" charset="0"/>
              </a:rPr>
              <a:t>u</a:t>
            </a:r>
            <a:r>
              <a:rPr lang="en-US" altLang="en-US" sz="2400" dirty="0"/>
              <a:t> to </a:t>
            </a:r>
            <a:r>
              <a:rPr lang="en-US" altLang="en-US" sz="2400" dirty="0">
                <a:latin typeface="Comic Sans MS" panose="030F0702030302020204" pitchFamily="66" charset="0"/>
              </a:rPr>
              <a:t>v</a:t>
            </a:r>
            <a:r>
              <a:rPr lang="en-US" altLang="en-US" sz="2400" dirty="0"/>
              <a:t>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2400" dirty="0"/>
              <a:t>			     ∞                   otherwise 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 Path Problems</a:t>
            </a:r>
          </a:p>
        </p:txBody>
      </p:sp>
      <p:graphicFrame>
        <p:nvGraphicFramePr>
          <p:cNvPr id="76800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745352"/>
              </p:ext>
            </p:extLst>
          </p:nvPr>
        </p:nvGraphicFramePr>
        <p:xfrm>
          <a:off x="3071020" y="3284538"/>
          <a:ext cx="2324100" cy="790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1269449" imgH="431613" progId="Equation.3">
                  <p:embed/>
                </p:oleObj>
              </mc:Choice>
              <mc:Fallback>
                <p:oleObj name="Equation" r:id="rId3" imgW="1269449" imgH="431613" progId="Equation.3">
                  <p:embed/>
                  <p:pic>
                    <p:nvPicPr>
                      <p:cNvPr id="0" name="Picture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020" y="3284538"/>
                        <a:ext cx="2324100" cy="7901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532108" y="4923064"/>
            <a:ext cx="1577975" cy="1081088"/>
            <a:chOff x="1606" y="2964"/>
            <a:chExt cx="994" cy="681"/>
          </a:xfrm>
        </p:grpSpPr>
        <p:sp>
          <p:nvSpPr>
            <p:cNvPr id="6187" name="Freeform 6"/>
            <p:cNvSpPr>
              <a:spLocks/>
            </p:cNvSpPr>
            <p:nvPr/>
          </p:nvSpPr>
          <p:spPr bwMode="auto">
            <a:xfrm>
              <a:off x="2371" y="3152"/>
              <a:ext cx="229" cy="57"/>
            </a:xfrm>
            <a:custGeom>
              <a:avLst/>
              <a:gdLst>
                <a:gd name="T0" fmla="*/ 0 w 229"/>
                <a:gd name="T1" fmla="*/ 26 h 57"/>
                <a:gd name="T2" fmla="*/ 54 w 229"/>
                <a:gd name="T3" fmla="*/ 4 h 57"/>
                <a:gd name="T4" fmla="*/ 108 w 229"/>
                <a:gd name="T5" fmla="*/ 53 h 57"/>
                <a:gd name="T6" fmla="*/ 175 w 229"/>
                <a:gd name="T7" fmla="*/ 26 h 57"/>
                <a:gd name="T8" fmla="*/ 229 w 229"/>
                <a:gd name="T9" fmla="*/ 26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9"/>
                <a:gd name="T16" fmla="*/ 0 h 57"/>
                <a:gd name="T17" fmla="*/ 229 w 229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8" name="Text Box 7"/>
            <p:cNvSpPr txBox="1">
              <a:spLocks noChangeArrowheads="1"/>
            </p:cNvSpPr>
            <p:nvPr/>
          </p:nvSpPr>
          <p:spPr bwMode="auto">
            <a:xfrm>
              <a:off x="2386" y="2964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p</a:t>
              </a:r>
            </a:p>
          </p:txBody>
        </p:sp>
        <p:sp>
          <p:nvSpPr>
            <p:cNvPr id="6189" name="AutoShape 8"/>
            <p:cNvSpPr>
              <a:spLocks/>
            </p:cNvSpPr>
            <p:nvPr/>
          </p:nvSpPr>
          <p:spPr bwMode="auto">
            <a:xfrm>
              <a:off x="1606" y="3055"/>
              <a:ext cx="56" cy="590"/>
            </a:xfrm>
            <a:prstGeom prst="leftBrace">
              <a:avLst>
                <a:gd name="adj1" fmla="val 87798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396706" y="1697129"/>
            <a:ext cx="2998788" cy="2528888"/>
            <a:chOff x="5540375" y="1122363"/>
            <a:chExt cx="2998788" cy="2528888"/>
          </a:xfrm>
        </p:grpSpPr>
        <p:sp>
          <p:nvSpPr>
            <p:cNvPr id="6157" name="Oval 15"/>
            <p:cNvSpPr>
              <a:spLocks noChangeArrowheads="1"/>
            </p:cNvSpPr>
            <p:nvPr/>
          </p:nvSpPr>
          <p:spPr bwMode="auto">
            <a:xfrm>
              <a:off x="5821363" y="2187576"/>
              <a:ext cx="422275" cy="4206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58" name="Oval 16"/>
            <p:cNvSpPr>
              <a:spLocks noChangeArrowheads="1"/>
            </p:cNvSpPr>
            <p:nvPr/>
          </p:nvSpPr>
          <p:spPr bwMode="auto">
            <a:xfrm>
              <a:off x="6502400" y="1449388"/>
              <a:ext cx="422275" cy="4206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59" name="Oval 17"/>
            <p:cNvSpPr>
              <a:spLocks noChangeArrowheads="1"/>
            </p:cNvSpPr>
            <p:nvPr/>
          </p:nvSpPr>
          <p:spPr bwMode="auto">
            <a:xfrm>
              <a:off x="7823200" y="1449388"/>
              <a:ext cx="422275" cy="4206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160" name="Oval 18"/>
            <p:cNvSpPr>
              <a:spLocks noChangeArrowheads="1"/>
            </p:cNvSpPr>
            <p:nvPr/>
          </p:nvSpPr>
          <p:spPr bwMode="auto">
            <a:xfrm>
              <a:off x="6502400" y="2927351"/>
              <a:ext cx="422275" cy="4206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61" name="Oval 19"/>
            <p:cNvSpPr>
              <a:spLocks noChangeArrowheads="1"/>
            </p:cNvSpPr>
            <p:nvPr/>
          </p:nvSpPr>
          <p:spPr bwMode="auto">
            <a:xfrm>
              <a:off x="7823200" y="2927351"/>
              <a:ext cx="422275" cy="4206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6162" name="Line 20"/>
            <p:cNvSpPr>
              <a:spLocks noChangeShapeType="1"/>
            </p:cNvSpPr>
            <p:nvPr/>
          </p:nvSpPr>
          <p:spPr bwMode="auto">
            <a:xfrm>
              <a:off x="6921500" y="1647826"/>
              <a:ext cx="9223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3" name="Line 21"/>
            <p:cNvSpPr>
              <a:spLocks noChangeShapeType="1"/>
            </p:cNvSpPr>
            <p:nvPr/>
          </p:nvSpPr>
          <p:spPr bwMode="auto">
            <a:xfrm flipV="1">
              <a:off x="6149975" y="1809751"/>
              <a:ext cx="414338" cy="414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Line 22"/>
            <p:cNvSpPr>
              <a:spLocks noChangeShapeType="1"/>
            </p:cNvSpPr>
            <p:nvPr/>
          </p:nvSpPr>
          <p:spPr bwMode="auto">
            <a:xfrm>
              <a:off x="6151563" y="2552701"/>
              <a:ext cx="406400" cy="428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Text Box 23"/>
            <p:cNvSpPr txBox="1">
              <a:spLocks noChangeArrowheads="1"/>
            </p:cNvSpPr>
            <p:nvPr/>
          </p:nvSpPr>
          <p:spPr bwMode="auto">
            <a:xfrm>
              <a:off x="6116638" y="1757363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66" name="Text Box 24"/>
            <p:cNvSpPr txBox="1">
              <a:spLocks noChangeArrowheads="1"/>
            </p:cNvSpPr>
            <p:nvPr/>
          </p:nvSpPr>
          <p:spPr bwMode="auto">
            <a:xfrm>
              <a:off x="7227888" y="1331913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67" name="Text Box 25"/>
            <p:cNvSpPr txBox="1">
              <a:spLocks noChangeArrowheads="1"/>
            </p:cNvSpPr>
            <p:nvPr/>
          </p:nvSpPr>
          <p:spPr bwMode="auto">
            <a:xfrm>
              <a:off x="6134100" y="2659063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68" name="Text Box 26"/>
            <p:cNvSpPr txBox="1">
              <a:spLocks noChangeArrowheads="1"/>
            </p:cNvSpPr>
            <p:nvPr/>
          </p:nvSpPr>
          <p:spPr bwMode="auto">
            <a:xfrm>
              <a:off x="8242300" y="239395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169" name="Text Box 27"/>
            <p:cNvSpPr txBox="1">
              <a:spLocks noChangeArrowheads="1"/>
            </p:cNvSpPr>
            <p:nvPr/>
          </p:nvSpPr>
          <p:spPr bwMode="auto">
            <a:xfrm>
              <a:off x="7237413" y="3103563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70" name="Text Box 28"/>
            <p:cNvSpPr txBox="1">
              <a:spLocks noChangeArrowheads="1"/>
            </p:cNvSpPr>
            <p:nvPr/>
          </p:nvSpPr>
          <p:spPr bwMode="auto">
            <a:xfrm>
              <a:off x="5540375" y="2206626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6171" name="Text Box 29"/>
            <p:cNvSpPr txBox="1">
              <a:spLocks noChangeArrowheads="1"/>
            </p:cNvSpPr>
            <p:nvPr/>
          </p:nvSpPr>
          <p:spPr bwMode="auto">
            <a:xfrm>
              <a:off x="6589713" y="1122363"/>
              <a:ext cx="2476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6172" name="Text Box 30"/>
            <p:cNvSpPr txBox="1">
              <a:spLocks noChangeArrowheads="1"/>
            </p:cNvSpPr>
            <p:nvPr/>
          </p:nvSpPr>
          <p:spPr bwMode="auto">
            <a:xfrm>
              <a:off x="7894638" y="1122363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6173" name="Text Box 31"/>
            <p:cNvSpPr txBox="1">
              <a:spLocks noChangeArrowheads="1"/>
            </p:cNvSpPr>
            <p:nvPr/>
          </p:nvSpPr>
          <p:spPr bwMode="auto">
            <a:xfrm>
              <a:off x="6564313" y="3284538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6174" name="Text Box 32"/>
            <p:cNvSpPr txBox="1">
              <a:spLocks noChangeArrowheads="1"/>
            </p:cNvSpPr>
            <p:nvPr/>
          </p:nvSpPr>
          <p:spPr bwMode="auto">
            <a:xfrm>
              <a:off x="7920038" y="3284538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6175" name="Line 33"/>
            <p:cNvSpPr>
              <a:spLocks noChangeShapeType="1"/>
            </p:cNvSpPr>
            <p:nvPr/>
          </p:nvSpPr>
          <p:spPr bwMode="auto">
            <a:xfrm flipV="1">
              <a:off x="6931025" y="3151188"/>
              <a:ext cx="9080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6" name="Line 34"/>
            <p:cNvSpPr>
              <a:spLocks noChangeShapeType="1"/>
            </p:cNvSpPr>
            <p:nvPr/>
          </p:nvSpPr>
          <p:spPr bwMode="auto">
            <a:xfrm flipV="1">
              <a:off x="6821488" y="1795463"/>
              <a:ext cx="1063625" cy="11509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7" name="Freeform 35"/>
            <p:cNvSpPr>
              <a:spLocks/>
            </p:cNvSpPr>
            <p:nvPr/>
          </p:nvSpPr>
          <p:spPr bwMode="auto">
            <a:xfrm>
              <a:off x="6513513" y="1846263"/>
              <a:ext cx="136525" cy="1092200"/>
            </a:xfrm>
            <a:custGeom>
              <a:avLst/>
              <a:gdLst>
                <a:gd name="T0" fmla="*/ 82 w 86"/>
                <a:gd name="T1" fmla="*/ 0 h 688"/>
                <a:gd name="T2" fmla="*/ 1 w 86"/>
                <a:gd name="T3" fmla="*/ 297 h 688"/>
                <a:gd name="T4" fmla="*/ 86 w 86"/>
                <a:gd name="T5" fmla="*/ 688 h 688"/>
                <a:gd name="T6" fmla="*/ 0 60000 65536"/>
                <a:gd name="T7" fmla="*/ 0 60000 65536"/>
                <a:gd name="T8" fmla="*/ 0 60000 65536"/>
                <a:gd name="T9" fmla="*/ 0 w 86"/>
                <a:gd name="T10" fmla="*/ 0 h 688"/>
                <a:gd name="T11" fmla="*/ 86 w 86"/>
                <a:gd name="T12" fmla="*/ 688 h 6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88">
                  <a:moveTo>
                    <a:pt x="82" y="0"/>
                  </a:moveTo>
                  <a:cubicBezTo>
                    <a:pt x="41" y="91"/>
                    <a:pt x="0" y="182"/>
                    <a:pt x="1" y="297"/>
                  </a:cubicBezTo>
                  <a:cubicBezTo>
                    <a:pt x="2" y="412"/>
                    <a:pt x="72" y="624"/>
                    <a:pt x="86" y="68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8" name="Freeform 36"/>
            <p:cNvSpPr>
              <a:spLocks/>
            </p:cNvSpPr>
            <p:nvPr/>
          </p:nvSpPr>
          <p:spPr bwMode="auto">
            <a:xfrm>
              <a:off x="7808913" y="1863726"/>
              <a:ext cx="136525" cy="1092200"/>
            </a:xfrm>
            <a:custGeom>
              <a:avLst/>
              <a:gdLst>
                <a:gd name="T0" fmla="*/ 82 w 86"/>
                <a:gd name="T1" fmla="*/ 0 h 688"/>
                <a:gd name="T2" fmla="*/ 1 w 86"/>
                <a:gd name="T3" fmla="*/ 297 h 688"/>
                <a:gd name="T4" fmla="*/ 86 w 86"/>
                <a:gd name="T5" fmla="*/ 688 h 688"/>
                <a:gd name="T6" fmla="*/ 0 60000 65536"/>
                <a:gd name="T7" fmla="*/ 0 60000 65536"/>
                <a:gd name="T8" fmla="*/ 0 60000 65536"/>
                <a:gd name="T9" fmla="*/ 0 w 86"/>
                <a:gd name="T10" fmla="*/ 0 h 688"/>
                <a:gd name="T11" fmla="*/ 86 w 86"/>
                <a:gd name="T12" fmla="*/ 688 h 6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88">
                  <a:moveTo>
                    <a:pt x="82" y="0"/>
                  </a:moveTo>
                  <a:cubicBezTo>
                    <a:pt x="41" y="91"/>
                    <a:pt x="0" y="182"/>
                    <a:pt x="1" y="297"/>
                  </a:cubicBezTo>
                  <a:cubicBezTo>
                    <a:pt x="2" y="412"/>
                    <a:pt x="72" y="624"/>
                    <a:pt x="86" y="68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9" name="Freeform 37"/>
            <p:cNvSpPr>
              <a:spLocks/>
            </p:cNvSpPr>
            <p:nvPr/>
          </p:nvSpPr>
          <p:spPr bwMode="auto">
            <a:xfrm rot="10800000">
              <a:off x="8118475" y="1844676"/>
              <a:ext cx="136525" cy="1092200"/>
            </a:xfrm>
            <a:custGeom>
              <a:avLst/>
              <a:gdLst>
                <a:gd name="T0" fmla="*/ 82 w 86"/>
                <a:gd name="T1" fmla="*/ 0 h 688"/>
                <a:gd name="T2" fmla="*/ 1 w 86"/>
                <a:gd name="T3" fmla="*/ 297 h 688"/>
                <a:gd name="T4" fmla="*/ 86 w 86"/>
                <a:gd name="T5" fmla="*/ 688 h 688"/>
                <a:gd name="T6" fmla="*/ 0 60000 65536"/>
                <a:gd name="T7" fmla="*/ 0 60000 65536"/>
                <a:gd name="T8" fmla="*/ 0 60000 65536"/>
                <a:gd name="T9" fmla="*/ 0 w 86"/>
                <a:gd name="T10" fmla="*/ 0 h 688"/>
                <a:gd name="T11" fmla="*/ 86 w 86"/>
                <a:gd name="T12" fmla="*/ 688 h 6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88">
                  <a:moveTo>
                    <a:pt x="82" y="0"/>
                  </a:moveTo>
                  <a:cubicBezTo>
                    <a:pt x="41" y="91"/>
                    <a:pt x="0" y="182"/>
                    <a:pt x="1" y="297"/>
                  </a:cubicBezTo>
                  <a:cubicBezTo>
                    <a:pt x="2" y="412"/>
                    <a:pt x="72" y="624"/>
                    <a:pt x="86" y="68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0" name="Freeform 38"/>
            <p:cNvSpPr>
              <a:spLocks/>
            </p:cNvSpPr>
            <p:nvPr/>
          </p:nvSpPr>
          <p:spPr bwMode="auto">
            <a:xfrm rot="10800000">
              <a:off x="6778625" y="1839913"/>
              <a:ext cx="136525" cy="1092200"/>
            </a:xfrm>
            <a:custGeom>
              <a:avLst/>
              <a:gdLst>
                <a:gd name="T0" fmla="*/ 82 w 86"/>
                <a:gd name="T1" fmla="*/ 0 h 688"/>
                <a:gd name="T2" fmla="*/ 1 w 86"/>
                <a:gd name="T3" fmla="*/ 297 h 688"/>
                <a:gd name="T4" fmla="*/ 86 w 86"/>
                <a:gd name="T5" fmla="*/ 688 h 688"/>
                <a:gd name="T6" fmla="*/ 0 60000 65536"/>
                <a:gd name="T7" fmla="*/ 0 60000 65536"/>
                <a:gd name="T8" fmla="*/ 0 60000 65536"/>
                <a:gd name="T9" fmla="*/ 0 w 86"/>
                <a:gd name="T10" fmla="*/ 0 h 688"/>
                <a:gd name="T11" fmla="*/ 86 w 86"/>
                <a:gd name="T12" fmla="*/ 688 h 6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88">
                  <a:moveTo>
                    <a:pt x="82" y="0"/>
                  </a:moveTo>
                  <a:cubicBezTo>
                    <a:pt x="41" y="91"/>
                    <a:pt x="0" y="182"/>
                    <a:pt x="1" y="297"/>
                  </a:cubicBezTo>
                  <a:cubicBezTo>
                    <a:pt x="2" y="412"/>
                    <a:pt x="72" y="624"/>
                    <a:pt x="86" y="68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1" name="Line 39"/>
            <p:cNvSpPr>
              <a:spLocks noChangeShapeType="1"/>
            </p:cNvSpPr>
            <p:nvPr/>
          </p:nvSpPr>
          <p:spPr bwMode="auto">
            <a:xfrm flipH="1" flipV="1">
              <a:off x="6221413" y="2474913"/>
              <a:ext cx="1636713" cy="577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2" name="Text Box 40"/>
            <p:cNvSpPr txBox="1">
              <a:spLocks noChangeArrowheads="1"/>
            </p:cNvSpPr>
            <p:nvPr/>
          </p:nvSpPr>
          <p:spPr bwMode="auto">
            <a:xfrm>
              <a:off x="7575550" y="2390776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183" name="Text Box 41"/>
            <p:cNvSpPr txBox="1">
              <a:spLocks noChangeArrowheads="1"/>
            </p:cNvSpPr>
            <p:nvPr/>
          </p:nvSpPr>
          <p:spPr bwMode="auto">
            <a:xfrm>
              <a:off x="6281738" y="211455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184" name="Text Box 42"/>
            <p:cNvSpPr txBox="1">
              <a:spLocks noChangeArrowheads="1"/>
            </p:cNvSpPr>
            <p:nvPr/>
          </p:nvSpPr>
          <p:spPr bwMode="auto">
            <a:xfrm>
              <a:off x="6831013" y="2103438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85" name="Text Box 43"/>
            <p:cNvSpPr txBox="1">
              <a:spLocks noChangeArrowheads="1"/>
            </p:cNvSpPr>
            <p:nvPr/>
          </p:nvSpPr>
          <p:spPr bwMode="auto">
            <a:xfrm>
              <a:off x="7278688" y="196215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86" name="Text Box 44"/>
            <p:cNvSpPr txBox="1">
              <a:spLocks noChangeArrowheads="1"/>
            </p:cNvSpPr>
            <p:nvPr/>
          </p:nvSpPr>
          <p:spPr bwMode="auto">
            <a:xfrm>
              <a:off x="7299325" y="262255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056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Variants of Shortest Paths</a:t>
            </a:r>
          </a:p>
        </p:txBody>
      </p:sp>
      <p:sp>
        <p:nvSpPr>
          <p:cNvPr id="7690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b="1" dirty="0"/>
              <a:t>Single-source shortest path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/>
              <a:t>Given G = (V, E), </a:t>
            </a:r>
            <a:r>
              <a:rPr lang="en-US" altLang="en-US" sz="2000" dirty="0">
                <a:sym typeface="Symbol" panose="05050102010706020507" pitchFamily="18" charset="2"/>
              </a:rPr>
              <a:t>find a shortest path from a given source vertex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sym typeface="Symbol" panose="05050102010706020507" pitchFamily="18" charset="2"/>
              </a:rPr>
              <a:t> to each vertex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  V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 dirty="0">
                <a:sym typeface="Symbol" panose="05050102010706020507" pitchFamily="18" charset="2"/>
              </a:rPr>
              <a:t>Single-destination shortest path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Find a shortest path to a given destination vertex </a:t>
            </a:r>
            <a:r>
              <a:rPr lang="en-US" altLang="en-US" sz="2000" b="1" dirty="0"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from each vertex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Reverse the direction of each edge  single-source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 dirty="0">
                <a:sym typeface="Symbol" panose="05050102010706020507" pitchFamily="18" charset="2"/>
              </a:rPr>
              <a:t>Single-pair shortest path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Find a shortest path from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u</a:t>
            </a:r>
            <a:r>
              <a:rPr lang="en-US" altLang="en-US" sz="2000" dirty="0">
                <a:sym typeface="Symbol" panose="05050102010706020507" pitchFamily="18" charset="2"/>
              </a:rPr>
              <a:t> to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000" dirty="0">
                <a:sym typeface="Symbol" panose="05050102010706020507" pitchFamily="18" charset="2"/>
              </a:rPr>
              <a:t> for given vertices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u</a:t>
            </a:r>
            <a:r>
              <a:rPr lang="en-US" altLang="en-US" sz="2000" dirty="0">
                <a:sym typeface="Symbol" panose="05050102010706020507" pitchFamily="18" charset="2"/>
              </a:rPr>
              <a:t> and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Solve the single-source problem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 dirty="0">
                <a:sym typeface="Symbol" panose="05050102010706020507" pitchFamily="18" charset="2"/>
              </a:rPr>
              <a:t>All-pairs shortest-paths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Find a shortest path from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u</a:t>
            </a:r>
            <a:r>
              <a:rPr lang="en-US" altLang="en-US" sz="2000" dirty="0">
                <a:sym typeface="Symbol" panose="05050102010706020507" pitchFamily="18" charset="2"/>
              </a:rPr>
              <a:t> to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000" dirty="0">
                <a:sym typeface="Symbol" panose="05050102010706020507" pitchFamily="18" charset="2"/>
              </a:rPr>
              <a:t> for every pair of vertices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u</a:t>
            </a:r>
            <a:r>
              <a:rPr lang="en-US" altLang="en-US" sz="2000" dirty="0">
                <a:sym typeface="Symbol" panose="05050102010706020507" pitchFamily="18" charset="2"/>
              </a:rPr>
              <a:t> and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87501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Optimal Substructure of Shortest Paths</a:t>
            </a:r>
          </a:p>
        </p:txBody>
      </p:sp>
      <p:sp>
        <p:nvSpPr>
          <p:cNvPr id="770051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8988425" cy="5918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en-US" sz="2400" dirty="0"/>
              <a:t>Given: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A weighted, directed graph G = (V, E)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A weight function w: E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>
                <a:latin typeface="Arial Black" panose="020B0A0402010202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ym typeface="Symbol" panose="05050102010706020507" pitchFamily="18" charset="2"/>
              </a:rPr>
              <a:t>,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A shortest path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p = </a:t>
            </a:r>
            <a:r>
              <a:rPr lang="en-US" altLang="en-US" sz="2000" dirty="0">
                <a:latin typeface="Comic Sans MS" panose="030F0702030302020204" pitchFamily="66" charset="0"/>
              </a:rPr>
              <a:t>v</a:t>
            </a:r>
            <a:r>
              <a:rPr lang="en-US" altLang="en-US" sz="2000" baseline="-25000" dirty="0">
                <a:latin typeface="Comic Sans MS" panose="030F0702030302020204" pitchFamily="66" charset="0"/>
              </a:rPr>
              <a:t>1</a:t>
            </a:r>
            <a:r>
              <a:rPr lang="en-US" altLang="en-US" sz="2000" dirty="0">
                <a:latin typeface="Comic Sans MS" panose="030F0702030302020204" pitchFamily="66" charset="0"/>
              </a:rPr>
              <a:t>, v</a:t>
            </a:r>
            <a:r>
              <a:rPr lang="en-US" altLang="en-US" sz="2000" baseline="-25000" dirty="0">
                <a:latin typeface="Comic Sans MS" panose="030F0702030302020204" pitchFamily="66" charset="0"/>
              </a:rPr>
              <a:t>2</a:t>
            </a:r>
            <a:r>
              <a:rPr lang="en-US" altLang="en-US" sz="2000" dirty="0">
                <a:latin typeface="Comic Sans MS" panose="030F0702030302020204" pitchFamily="66" charset="0"/>
              </a:rPr>
              <a:t>, . . . , </a:t>
            </a:r>
            <a:r>
              <a:rPr lang="en-US" altLang="en-US" sz="2000" dirty="0" err="1">
                <a:latin typeface="Comic Sans MS" panose="030F0702030302020204" pitchFamily="66" charset="0"/>
              </a:rPr>
              <a:t>v</a:t>
            </a:r>
            <a:r>
              <a:rPr lang="en-US" altLang="en-US" sz="2000" baseline="-25000" dirty="0" err="1">
                <a:latin typeface="Comic Sans MS" panose="030F0702030302020204" pitchFamily="66" charset="0"/>
              </a:rPr>
              <a:t>k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</a:t>
            </a:r>
            <a:r>
              <a:rPr lang="en-US" altLang="en-US" sz="2000" dirty="0">
                <a:sym typeface="Symbol" panose="05050102010706020507" pitchFamily="18" charset="2"/>
              </a:rPr>
              <a:t> from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0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 to </a:t>
            </a:r>
            <a:r>
              <a:rPr lang="en-US" altLang="en-US" sz="2000" dirty="0" err="1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0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k</a:t>
            </a:r>
            <a:endParaRPr lang="en-US" altLang="en-US" sz="2000" baseline="-25000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A </a:t>
            </a:r>
            <a:r>
              <a:rPr lang="en-US" altLang="en-US" sz="2000" dirty="0" err="1">
                <a:sym typeface="Symbol" panose="05050102010706020507" pitchFamily="18" charset="2"/>
              </a:rPr>
              <a:t>subpath</a:t>
            </a:r>
            <a:r>
              <a:rPr lang="en-US" altLang="en-US" sz="2000" dirty="0">
                <a:sym typeface="Symbol" panose="05050102010706020507" pitchFamily="18" charset="2"/>
              </a:rPr>
              <a:t> of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: </a:t>
            </a:r>
            <a:r>
              <a:rPr lang="en-US" altLang="en-US" sz="20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0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 = </a:t>
            </a:r>
            <a:r>
              <a:rPr lang="en-US" altLang="en-US" sz="2000" dirty="0">
                <a:latin typeface="Comic Sans MS" panose="030F0702030302020204" pitchFamily="66" charset="0"/>
              </a:rPr>
              <a:t>v</a:t>
            </a:r>
            <a:r>
              <a:rPr lang="en-US" altLang="en-US" sz="2000" baseline="-25000" dirty="0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v</a:t>
            </a:r>
            <a:r>
              <a:rPr lang="en-US" altLang="en-US" sz="2000" baseline="-25000" dirty="0">
                <a:latin typeface="Comic Sans MS" panose="030F0702030302020204" pitchFamily="66" charset="0"/>
              </a:rPr>
              <a:t>i+1</a:t>
            </a:r>
            <a:r>
              <a:rPr lang="en-US" altLang="en-US" sz="2000" dirty="0">
                <a:latin typeface="Comic Sans MS" panose="030F0702030302020204" pitchFamily="66" charset="0"/>
              </a:rPr>
              <a:t>, . . . , </a:t>
            </a:r>
            <a:r>
              <a:rPr lang="en-US" altLang="en-US" sz="2000" dirty="0" err="1">
                <a:latin typeface="Comic Sans MS" panose="030F0702030302020204" pitchFamily="66" charset="0"/>
              </a:rPr>
              <a:t>v</a:t>
            </a:r>
            <a:r>
              <a:rPr lang="en-US" altLang="en-US" sz="2000" baseline="-25000" dirty="0" err="1">
                <a:latin typeface="Comic Sans MS" panose="030F0702030302020204" pitchFamily="66" charset="0"/>
              </a:rPr>
              <a:t>j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</a:t>
            </a:r>
            <a:r>
              <a:rPr lang="en-US" altLang="en-US" sz="2000" dirty="0">
                <a:sym typeface="Symbol" panose="05050102010706020507" pitchFamily="18" charset="2"/>
              </a:rPr>
              <a:t>, with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1  </a:t>
            </a:r>
            <a:r>
              <a:rPr lang="en-US" altLang="en-US" sz="2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  j  k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Then: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is a shortest path from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to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altLang="en-US" sz="2400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en-US" sz="2400" b="1" dirty="0">
                <a:sym typeface="Symbol" panose="05050102010706020507" pitchFamily="18" charset="2"/>
              </a:rPr>
              <a:t>Proof</a:t>
            </a:r>
            <a:r>
              <a:rPr lang="en-US" altLang="en-US" sz="2400" dirty="0">
                <a:sym typeface="Symbol" panose="05050102010706020507" pitchFamily="18" charset="2"/>
              </a:rPr>
              <a:t>: Let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p = v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      v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       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     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k</a:t>
            </a:r>
            <a:endParaRPr lang="en-US" altLang="en-US" sz="2400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lnSpc>
                <a:spcPct val="13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  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w(p) = w(p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jk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Assume 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’</a:t>
            </a:r>
            <a:r>
              <a:rPr lang="en-US" altLang="en-US" sz="2400" dirty="0">
                <a:sym typeface="Symbol" panose="05050102010706020507" pitchFamily="18" charset="2"/>
              </a:rPr>
              <a:t> from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to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sym typeface="Symbol" panose="05050102010706020507" pitchFamily="18" charset="2"/>
              </a:rPr>
              <a:t> with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’) &lt;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Adding w(p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jk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in both sides of this inequality:</a:t>
            </a:r>
          </a:p>
          <a:p>
            <a:pPr>
              <a:lnSpc>
                <a:spcPct val="13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  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w(p’) = w(p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’)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jk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&lt; w(p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jk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= w(p)</a:t>
            </a:r>
            <a:r>
              <a:rPr lang="en-US" altLang="en-US" sz="2400" dirty="0">
                <a:sym typeface="Symbol" panose="05050102010706020507" pitchFamily="18" charset="2"/>
              </a:rPr>
              <a:t> 	</a:t>
            </a:r>
          </a:p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So there is a path 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p’</a:t>
            </a: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 from 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i="1" baseline="-25000" dirty="0">
                <a:solidFill>
                  <a:srgbClr val="DD011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to </a:t>
            </a:r>
            <a:r>
              <a:rPr lang="en-US" altLang="en-US" sz="2000" i="1" dirty="0" err="1">
                <a:solidFill>
                  <a:srgbClr val="DD0111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i="1" baseline="-25000" dirty="0" err="1">
                <a:solidFill>
                  <a:srgbClr val="DD0111"/>
                </a:solidFill>
                <a:sym typeface="Symbol" panose="05050102010706020507" pitchFamily="18" charset="2"/>
              </a:rPr>
              <a:t>k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which is shorter than the shortest path 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p </a:t>
            </a: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between them; but this contradicts our initial assumption that 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p </a:t>
            </a: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is the shortest path.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51706" y="3283379"/>
            <a:ext cx="2263775" cy="495299"/>
            <a:chOff x="1377" y="2574"/>
            <a:chExt cx="1426" cy="312"/>
          </a:xfrm>
        </p:grpSpPr>
        <p:sp>
          <p:nvSpPr>
            <p:cNvPr id="8214" name="Freeform 5"/>
            <p:cNvSpPr>
              <a:spLocks/>
            </p:cNvSpPr>
            <p:nvPr/>
          </p:nvSpPr>
          <p:spPr bwMode="auto">
            <a:xfrm>
              <a:off x="1397" y="2814"/>
              <a:ext cx="229" cy="57"/>
            </a:xfrm>
            <a:custGeom>
              <a:avLst/>
              <a:gdLst>
                <a:gd name="T0" fmla="*/ 0 w 229"/>
                <a:gd name="T1" fmla="*/ 26 h 57"/>
                <a:gd name="T2" fmla="*/ 54 w 229"/>
                <a:gd name="T3" fmla="*/ 4 h 57"/>
                <a:gd name="T4" fmla="*/ 108 w 229"/>
                <a:gd name="T5" fmla="*/ 53 h 57"/>
                <a:gd name="T6" fmla="*/ 175 w 229"/>
                <a:gd name="T7" fmla="*/ 26 h 57"/>
                <a:gd name="T8" fmla="*/ 229 w 229"/>
                <a:gd name="T9" fmla="*/ 26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9"/>
                <a:gd name="T16" fmla="*/ 0 h 57"/>
                <a:gd name="T17" fmla="*/ 229 w 229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5" name="Text Box 6"/>
            <p:cNvSpPr txBox="1">
              <a:spLocks noChangeArrowheads="1"/>
            </p:cNvSpPr>
            <p:nvPr/>
          </p:nvSpPr>
          <p:spPr bwMode="auto">
            <a:xfrm>
              <a:off x="1377" y="2574"/>
              <a:ext cx="2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p</a:t>
              </a:r>
              <a:r>
                <a:rPr lang="en-US" altLang="en-US" sz="1800" baseline="-250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1i</a:t>
              </a:r>
              <a:endParaRPr lang="en-US" altLang="en-US" sz="1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216" name="Freeform 7"/>
            <p:cNvSpPr>
              <a:spLocks/>
            </p:cNvSpPr>
            <p:nvPr/>
          </p:nvSpPr>
          <p:spPr bwMode="auto">
            <a:xfrm>
              <a:off x="1988" y="2822"/>
              <a:ext cx="229" cy="57"/>
            </a:xfrm>
            <a:custGeom>
              <a:avLst/>
              <a:gdLst>
                <a:gd name="T0" fmla="*/ 0 w 229"/>
                <a:gd name="T1" fmla="*/ 26 h 57"/>
                <a:gd name="T2" fmla="*/ 54 w 229"/>
                <a:gd name="T3" fmla="*/ 4 h 57"/>
                <a:gd name="T4" fmla="*/ 108 w 229"/>
                <a:gd name="T5" fmla="*/ 53 h 57"/>
                <a:gd name="T6" fmla="*/ 175 w 229"/>
                <a:gd name="T7" fmla="*/ 26 h 57"/>
                <a:gd name="T8" fmla="*/ 229 w 229"/>
                <a:gd name="T9" fmla="*/ 26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9"/>
                <a:gd name="T16" fmla="*/ 0 h 57"/>
                <a:gd name="T17" fmla="*/ 229 w 229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7" name="Text Box 8"/>
            <p:cNvSpPr txBox="1">
              <a:spLocks noChangeArrowheads="1"/>
            </p:cNvSpPr>
            <p:nvPr/>
          </p:nvSpPr>
          <p:spPr bwMode="auto">
            <a:xfrm>
              <a:off x="1968" y="2589"/>
              <a:ext cx="2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p</a:t>
              </a:r>
              <a:r>
                <a:rPr lang="en-US" altLang="en-US" sz="1800" baseline="-25000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ij</a:t>
              </a:r>
              <a:endParaRPr lang="en-US" altLang="en-US" sz="1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218" name="Freeform 9"/>
            <p:cNvSpPr>
              <a:spLocks/>
            </p:cNvSpPr>
            <p:nvPr/>
          </p:nvSpPr>
          <p:spPr bwMode="auto">
            <a:xfrm>
              <a:off x="2539" y="2829"/>
              <a:ext cx="229" cy="57"/>
            </a:xfrm>
            <a:custGeom>
              <a:avLst/>
              <a:gdLst>
                <a:gd name="T0" fmla="*/ 0 w 229"/>
                <a:gd name="T1" fmla="*/ 26 h 57"/>
                <a:gd name="T2" fmla="*/ 54 w 229"/>
                <a:gd name="T3" fmla="*/ 4 h 57"/>
                <a:gd name="T4" fmla="*/ 108 w 229"/>
                <a:gd name="T5" fmla="*/ 53 h 57"/>
                <a:gd name="T6" fmla="*/ 175 w 229"/>
                <a:gd name="T7" fmla="*/ 26 h 57"/>
                <a:gd name="T8" fmla="*/ 229 w 229"/>
                <a:gd name="T9" fmla="*/ 26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9"/>
                <a:gd name="T16" fmla="*/ 0 h 57"/>
                <a:gd name="T17" fmla="*/ 229 w 229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9" name="Text Box 10"/>
            <p:cNvSpPr txBox="1">
              <a:spLocks noChangeArrowheads="1"/>
            </p:cNvSpPr>
            <p:nvPr/>
          </p:nvSpPr>
          <p:spPr bwMode="auto">
            <a:xfrm>
              <a:off x="2519" y="2596"/>
              <a:ext cx="2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p</a:t>
              </a:r>
              <a:r>
                <a:rPr lang="en-US" altLang="en-US" sz="1800" baseline="-25000">
                  <a:solidFill>
                    <a:schemeClr val="tx1"/>
                  </a:solidFill>
                  <a:latin typeface="Comic Sans MS" panose="030F0702030302020204" pitchFamily="66" charset="0"/>
                </a:rPr>
                <a:t>jk</a:t>
              </a:r>
              <a:endParaRPr lang="en-US" altLang="en-US" sz="180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8198" name="Oval 11"/>
          <p:cNvSpPr>
            <a:spLocks noChangeArrowheads="1"/>
          </p:cNvSpPr>
          <p:nvPr/>
        </p:nvSpPr>
        <p:spPr bwMode="auto">
          <a:xfrm>
            <a:off x="5929313" y="2179638"/>
            <a:ext cx="285750" cy="2857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8199" name="Oval 12"/>
          <p:cNvSpPr>
            <a:spLocks noChangeArrowheads="1"/>
          </p:cNvSpPr>
          <p:nvPr/>
        </p:nvSpPr>
        <p:spPr bwMode="auto">
          <a:xfrm>
            <a:off x="6824663" y="2444750"/>
            <a:ext cx="285750" cy="2857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8200" name="Oval 13"/>
          <p:cNvSpPr>
            <a:spLocks noChangeArrowheads="1"/>
          </p:cNvSpPr>
          <p:nvPr/>
        </p:nvSpPr>
        <p:spPr bwMode="auto">
          <a:xfrm>
            <a:off x="7518400" y="1717675"/>
            <a:ext cx="285750" cy="2857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8201" name="Oval 14"/>
          <p:cNvSpPr>
            <a:spLocks noChangeArrowheads="1"/>
          </p:cNvSpPr>
          <p:nvPr/>
        </p:nvSpPr>
        <p:spPr bwMode="auto">
          <a:xfrm>
            <a:off x="8439150" y="2054225"/>
            <a:ext cx="285750" cy="2857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8202" name="Freeform 15"/>
          <p:cNvSpPr>
            <a:spLocks/>
          </p:cNvSpPr>
          <p:nvPr/>
        </p:nvSpPr>
        <p:spPr bwMode="auto">
          <a:xfrm>
            <a:off x="6208713" y="2344738"/>
            <a:ext cx="649287" cy="163512"/>
          </a:xfrm>
          <a:custGeom>
            <a:avLst/>
            <a:gdLst>
              <a:gd name="T0" fmla="*/ 0 w 409"/>
              <a:gd name="T1" fmla="*/ 20161188 h 103"/>
              <a:gd name="T2" fmla="*/ 259575100 w 409"/>
              <a:gd name="T3" fmla="*/ 10080594 h 103"/>
              <a:gd name="T4" fmla="*/ 350300655 w 409"/>
              <a:gd name="T5" fmla="*/ 32761137 h 103"/>
              <a:gd name="T6" fmla="*/ 418345615 w 409"/>
              <a:gd name="T7" fmla="*/ 78123811 h 103"/>
              <a:gd name="T8" fmla="*/ 476308371 w 409"/>
              <a:gd name="T9" fmla="*/ 123486485 h 103"/>
              <a:gd name="T10" fmla="*/ 486388988 w 409"/>
              <a:gd name="T11" fmla="*/ 156249210 h 103"/>
              <a:gd name="T12" fmla="*/ 894653986 w 409"/>
              <a:gd name="T13" fmla="*/ 236893963 h 103"/>
              <a:gd name="T14" fmla="*/ 1030742319 w 409"/>
              <a:gd name="T15" fmla="*/ 259574506 h 10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09"/>
              <a:gd name="T25" fmla="*/ 0 h 103"/>
              <a:gd name="T26" fmla="*/ 409 w 409"/>
              <a:gd name="T27" fmla="*/ 103 h 10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09" h="103">
                <a:moveTo>
                  <a:pt x="0" y="8"/>
                </a:moveTo>
                <a:cubicBezTo>
                  <a:pt x="38" y="1"/>
                  <a:pt x="63" y="0"/>
                  <a:pt x="103" y="4"/>
                </a:cubicBezTo>
                <a:cubicBezTo>
                  <a:pt x="115" y="7"/>
                  <a:pt x="128" y="8"/>
                  <a:pt x="139" y="13"/>
                </a:cubicBezTo>
                <a:cubicBezTo>
                  <a:pt x="149" y="18"/>
                  <a:pt x="166" y="31"/>
                  <a:pt x="166" y="31"/>
                </a:cubicBezTo>
                <a:cubicBezTo>
                  <a:pt x="207" y="90"/>
                  <a:pt x="143" y="3"/>
                  <a:pt x="189" y="49"/>
                </a:cubicBezTo>
                <a:cubicBezTo>
                  <a:pt x="192" y="52"/>
                  <a:pt x="190" y="59"/>
                  <a:pt x="193" y="62"/>
                </a:cubicBezTo>
                <a:cubicBezTo>
                  <a:pt x="233" y="102"/>
                  <a:pt x="309" y="92"/>
                  <a:pt x="355" y="94"/>
                </a:cubicBezTo>
                <a:cubicBezTo>
                  <a:pt x="368" y="96"/>
                  <a:pt x="395" y="103"/>
                  <a:pt x="409" y="103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Freeform 16"/>
          <p:cNvSpPr>
            <a:spLocks/>
          </p:cNvSpPr>
          <p:nvPr/>
        </p:nvSpPr>
        <p:spPr bwMode="auto">
          <a:xfrm>
            <a:off x="6951663" y="1871663"/>
            <a:ext cx="557212" cy="565150"/>
          </a:xfrm>
          <a:custGeom>
            <a:avLst/>
            <a:gdLst>
              <a:gd name="T0" fmla="*/ 55443388 w 351"/>
              <a:gd name="T1" fmla="*/ 897175625 h 356"/>
              <a:gd name="T2" fmla="*/ 0 w 351"/>
              <a:gd name="T3" fmla="*/ 725805000 h 356"/>
              <a:gd name="T4" fmla="*/ 10080616 w 351"/>
              <a:gd name="T5" fmla="*/ 556953738 h 356"/>
              <a:gd name="T6" fmla="*/ 340219995 w 351"/>
              <a:gd name="T7" fmla="*/ 398184688 h 356"/>
              <a:gd name="T8" fmla="*/ 441026154 w 351"/>
              <a:gd name="T9" fmla="*/ 352821875 h 356"/>
              <a:gd name="T10" fmla="*/ 531751698 w 351"/>
              <a:gd name="T11" fmla="*/ 262096250 h 356"/>
              <a:gd name="T12" fmla="*/ 703122169 w 351"/>
              <a:gd name="T13" fmla="*/ 90725625 h 356"/>
              <a:gd name="T14" fmla="*/ 884573256 w 351"/>
              <a:gd name="T15" fmla="*/ 0 h 3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51"/>
              <a:gd name="T25" fmla="*/ 0 h 356"/>
              <a:gd name="T26" fmla="*/ 351 w 351"/>
              <a:gd name="T27" fmla="*/ 356 h 35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51" h="356">
                <a:moveTo>
                  <a:pt x="22" y="356"/>
                </a:moveTo>
                <a:cubicBezTo>
                  <a:pt x="15" y="333"/>
                  <a:pt x="7" y="311"/>
                  <a:pt x="0" y="288"/>
                </a:cubicBezTo>
                <a:cubicBezTo>
                  <a:pt x="1" y="266"/>
                  <a:pt x="2" y="243"/>
                  <a:pt x="4" y="221"/>
                </a:cubicBezTo>
                <a:cubicBezTo>
                  <a:pt x="10" y="170"/>
                  <a:pt x="99" y="162"/>
                  <a:pt x="135" y="158"/>
                </a:cubicBezTo>
                <a:cubicBezTo>
                  <a:pt x="149" y="153"/>
                  <a:pt x="160" y="144"/>
                  <a:pt x="175" y="140"/>
                </a:cubicBezTo>
                <a:cubicBezTo>
                  <a:pt x="191" y="130"/>
                  <a:pt x="198" y="117"/>
                  <a:pt x="211" y="104"/>
                </a:cubicBezTo>
                <a:cubicBezTo>
                  <a:pt x="218" y="85"/>
                  <a:pt x="260" y="43"/>
                  <a:pt x="279" y="36"/>
                </a:cubicBezTo>
                <a:cubicBezTo>
                  <a:pt x="300" y="15"/>
                  <a:pt x="332" y="19"/>
                  <a:pt x="351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0065" name="Freeform 17"/>
          <p:cNvSpPr>
            <a:spLocks/>
          </p:cNvSpPr>
          <p:nvPr/>
        </p:nvSpPr>
        <p:spPr bwMode="auto">
          <a:xfrm>
            <a:off x="7108825" y="2022475"/>
            <a:ext cx="506413" cy="506413"/>
          </a:xfrm>
          <a:custGeom>
            <a:avLst/>
            <a:gdLst>
              <a:gd name="T0" fmla="*/ 0 w 319"/>
              <a:gd name="T1" fmla="*/ 803931431 h 319"/>
              <a:gd name="T2" fmla="*/ 249496509 w 319"/>
              <a:gd name="T3" fmla="*/ 748487939 h 319"/>
              <a:gd name="T4" fmla="*/ 317540001 w 319"/>
              <a:gd name="T5" fmla="*/ 680442859 h 319"/>
              <a:gd name="T6" fmla="*/ 362902858 w 319"/>
              <a:gd name="T7" fmla="*/ 612399367 h 319"/>
              <a:gd name="T8" fmla="*/ 463709208 w 319"/>
              <a:gd name="T9" fmla="*/ 418346351 h 319"/>
              <a:gd name="T10" fmla="*/ 567036510 w 319"/>
              <a:gd name="T11" fmla="*/ 362902858 h 319"/>
              <a:gd name="T12" fmla="*/ 667842859 w 319"/>
              <a:gd name="T13" fmla="*/ 304940001 h 319"/>
              <a:gd name="T14" fmla="*/ 713205717 w 319"/>
              <a:gd name="T15" fmla="*/ 249496509 h 319"/>
              <a:gd name="T16" fmla="*/ 771168574 w 319"/>
              <a:gd name="T17" fmla="*/ 113407937 h 319"/>
              <a:gd name="T18" fmla="*/ 803931431 w 319"/>
              <a:gd name="T19" fmla="*/ 0 h 3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19"/>
              <a:gd name="T31" fmla="*/ 0 h 319"/>
              <a:gd name="T32" fmla="*/ 319 w 319"/>
              <a:gd name="T33" fmla="*/ 319 h 31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19" h="319">
                <a:moveTo>
                  <a:pt x="0" y="319"/>
                </a:moveTo>
                <a:cubicBezTo>
                  <a:pt x="38" y="316"/>
                  <a:pt x="64" y="307"/>
                  <a:pt x="99" y="297"/>
                </a:cubicBezTo>
                <a:cubicBezTo>
                  <a:pt x="108" y="288"/>
                  <a:pt x="118" y="280"/>
                  <a:pt x="126" y="270"/>
                </a:cubicBezTo>
                <a:cubicBezTo>
                  <a:pt x="133" y="262"/>
                  <a:pt x="144" y="243"/>
                  <a:pt x="144" y="243"/>
                </a:cubicBezTo>
                <a:cubicBezTo>
                  <a:pt x="150" y="222"/>
                  <a:pt x="167" y="178"/>
                  <a:pt x="184" y="166"/>
                </a:cubicBezTo>
                <a:cubicBezTo>
                  <a:pt x="192" y="145"/>
                  <a:pt x="203" y="148"/>
                  <a:pt x="225" y="144"/>
                </a:cubicBezTo>
                <a:cubicBezTo>
                  <a:pt x="256" y="123"/>
                  <a:pt x="242" y="130"/>
                  <a:pt x="265" y="121"/>
                </a:cubicBezTo>
                <a:cubicBezTo>
                  <a:pt x="278" y="86"/>
                  <a:pt x="259" y="130"/>
                  <a:pt x="283" y="99"/>
                </a:cubicBezTo>
                <a:cubicBezTo>
                  <a:pt x="289" y="91"/>
                  <a:pt x="302" y="56"/>
                  <a:pt x="306" y="45"/>
                </a:cubicBezTo>
                <a:cubicBezTo>
                  <a:pt x="308" y="32"/>
                  <a:pt x="309" y="10"/>
                  <a:pt x="319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Freeform 18"/>
          <p:cNvSpPr>
            <a:spLocks/>
          </p:cNvSpPr>
          <p:nvPr/>
        </p:nvSpPr>
        <p:spPr bwMode="auto">
          <a:xfrm>
            <a:off x="7808913" y="1865313"/>
            <a:ext cx="652462" cy="252412"/>
          </a:xfrm>
          <a:custGeom>
            <a:avLst/>
            <a:gdLst>
              <a:gd name="T0" fmla="*/ 0 w 411"/>
              <a:gd name="T1" fmla="*/ 0 h 159"/>
              <a:gd name="T2" fmla="*/ 226813889 w 411"/>
              <a:gd name="T3" fmla="*/ 32761173 h 159"/>
              <a:gd name="T4" fmla="*/ 317539444 w 411"/>
              <a:gd name="T5" fmla="*/ 100806050 h 159"/>
              <a:gd name="T6" fmla="*/ 567033928 w 411"/>
              <a:gd name="T7" fmla="*/ 259574786 h 159"/>
              <a:gd name="T8" fmla="*/ 940016767 w 411"/>
              <a:gd name="T9" fmla="*/ 317539058 h 159"/>
              <a:gd name="T10" fmla="*/ 962698950 w 411"/>
              <a:gd name="T11" fmla="*/ 350300231 h 159"/>
              <a:gd name="T12" fmla="*/ 997981110 w 411"/>
              <a:gd name="T13" fmla="*/ 362901781 h 159"/>
              <a:gd name="T14" fmla="*/ 1020661705 w 411"/>
              <a:gd name="T15" fmla="*/ 395662954 h 15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11"/>
              <a:gd name="T25" fmla="*/ 0 h 159"/>
              <a:gd name="T26" fmla="*/ 411 w 411"/>
              <a:gd name="T27" fmla="*/ 159 h 15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11" h="159">
                <a:moveTo>
                  <a:pt x="0" y="0"/>
                </a:moveTo>
                <a:cubicBezTo>
                  <a:pt x="33" y="3"/>
                  <a:pt x="58" y="7"/>
                  <a:pt x="90" y="13"/>
                </a:cubicBezTo>
                <a:cubicBezTo>
                  <a:pt x="106" y="19"/>
                  <a:pt x="111" y="30"/>
                  <a:pt x="126" y="40"/>
                </a:cubicBezTo>
                <a:cubicBezTo>
                  <a:pt x="147" y="72"/>
                  <a:pt x="188" y="97"/>
                  <a:pt x="225" y="103"/>
                </a:cubicBezTo>
                <a:cubicBezTo>
                  <a:pt x="274" y="100"/>
                  <a:pt x="330" y="96"/>
                  <a:pt x="373" y="126"/>
                </a:cubicBezTo>
                <a:cubicBezTo>
                  <a:pt x="376" y="130"/>
                  <a:pt x="378" y="136"/>
                  <a:pt x="382" y="139"/>
                </a:cubicBezTo>
                <a:cubicBezTo>
                  <a:pt x="386" y="142"/>
                  <a:pt x="392" y="140"/>
                  <a:pt x="396" y="144"/>
                </a:cubicBezTo>
                <a:cubicBezTo>
                  <a:pt x="411" y="159"/>
                  <a:pt x="392" y="157"/>
                  <a:pt x="405" y="157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Text Box 19"/>
          <p:cNvSpPr txBox="1">
            <a:spLocks noChangeArrowheads="1"/>
          </p:cNvSpPr>
          <p:nvPr/>
        </p:nvSpPr>
        <p:spPr bwMode="auto">
          <a:xfrm>
            <a:off x="5880100" y="1819275"/>
            <a:ext cx="382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v</a:t>
            </a:r>
            <a:r>
              <a:rPr lang="en-US" altLang="en-US" sz="1800" baseline="-25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207" name="Text Box 20"/>
          <p:cNvSpPr txBox="1">
            <a:spLocks noChangeArrowheads="1"/>
          </p:cNvSpPr>
          <p:nvPr/>
        </p:nvSpPr>
        <p:spPr bwMode="auto">
          <a:xfrm>
            <a:off x="6789738" y="2714625"/>
            <a:ext cx="3317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v</a:t>
            </a:r>
            <a:r>
              <a:rPr lang="en-US" altLang="en-US" sz="1800" baseline="-2500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8208" name="Text Box 21"/>
          <p:cNvSpPr txBox="1">
            <a:spLocks noChangeArrowheads="1"/>
          </p:cNvSpPr>
          <p:nvPr/>
        </p:nvSpPr>
        <p:spPr bwMode="auto">
          <a:xfrm>
            <a:off x="7556500" y="1347788"/>
            <a:ext cx="3317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v</a:t>
            </a:r>
            <a:r>
              <a:rPr lang="en-US" altLang="en-US" sz="1800" baseline="-2500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8209" name="Text Box 22"/>
          <p:cNvSpPr txBox="1">
            <a:spLocks noChangeArrowheads="1"/>
          </p:cNvSpPr>
          <p:nvPr/>
        </p:nvSpPr>
        <p:spPr bwMode="auto">
          <a:xfrm>
            <a:off x="8455025" y="2322513"/>
            <a:ext cx="374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v</a:t>
            </a:r>
            <a:r>
              <a:rPr lang="en-US" altLang="en-US" sz="1800" baseline="-2500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8210" name="Text Box 23"/>
          <p:cNvSpPr txBox="1">
            <a:spLocks noChangeArrowheads="1"/>
          </p:cNvSpPr>
          <p:nvPr/>
        </p:nvSpPr>
        <p:spPr bwMode="auto">
          <a:xfrm>
            <a:off x="6300788" y="2028825"/>
            <a:ext cx="428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</a:t>
            </a:r>
            <a:r>
              <a:rPr lang="en-US" altLang="en-US" sz="1800" baseline="-25000">
                <a:solidFill>
                  <a:schemeClr val="tx1"/>
                </a:solidFill>
              </a:rPr>
              <a:t>1i</a:t>
            </a:r>
          </a:p>
        </p:txBody>
      </p:sp>
      <p:sp>
        <p:nvSpPr>
          <p:cNvPr id="8211" name="Text Box 24"/>
          <p:cNvSpPr txBox="1">
            <a:spLocks noChangeArrowheads="1"/>
          </p:cNvSpPr>
          <p:nvPr/>
        </p:nvSpPr>
        <p:spPr bwMode="auto">
          <a:xfrm>
            <a:off x="6805613" y="1760538"/>
            <a:ext cx="377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</a:t>
            </a:r>
            <a:r>
              <a:rPr lang="en-US" altLang="en-US" sz="1800" baseline="-25000">
                <a:solidFill>
                  <a:schemeClr val="tx1"/>
                </a:solidFill>
              </a:rPr>
              <a:t>ij</a:t>
            </a:r>
          </a:p>
        </p:txBody>
      </p:sp>
      <p:sp>
        <p:nvSpPr>
          <p:cNvPr id="770073" name="Text Box 25"/>
          <p:cNvSpPr txBox="1">
            <a:spLocks noChangeArrowheads="1"/>
          </p:cNvSpPr>
          <p:nvPr/>
        </p:nvSpPr>
        <p:spPr bwMode="auto">
          <a:xfrm>
            <a:off x="7294563" y="2255838"/>
            <a:ext cx="428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</a:t>
            </a:r>
            <a:r>
              <a:rPr lang="en-US" altLang="en-US" sz="1800" baseline="-25000">
                <a:solidFill>
                  <a:schemeClr val="tx1"/>
                </a:solidFill>
              </a:rPr>
              <a:t>ij</a:t>
            </a:r>
            <a:r>
              <a:rPr lang="en-US" altLang="en-US" sz="1800">
                <a:solidFill>
                  <a:schemeClr val="tx1"/>
                </a:solidFill>
              </a:rPr>
              <a:t>’</a:t>
            </a:r>
            <a:endParaRPr lang="en-US" altLang="en-US" sz="1800" baseline="-25000">
              <a:solidFill>
                <a:schemeClr val="tx1"/>
              </a:solidFill>
            </a:endParaRPr>
          </a:p>
        </p:txBody>
      </p:sp>
      <p:sp>
        <p:nvSpPr>
          <p:cNvPr id="8213" name="Text Box 26"/>
          <p:cNvSpPr txBox="1">
            <a:spLocks noChangeArrowheads="1"/>
          </p:cNvSpPr>
          <p:nvPr/>
        </p:nvSpPr>
        <p:spPr bwMode="auto">
          <a:xfrm>
            <a:off x="8001000" y="1647825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</a:t>
            </a:r>
            <a:r>
              <a:rPr lang="en-US" altLang="en-US" sz="1800" baseline="-25000">
                <a:solidFill>
                  <a:schemeClr val="tx1"/>
                </a:solidFill>
              </a:rPr>
              <a:t>jk</a:t>
            </a:r>
          </a:p>
        </p:txBody>
      </p:sp>
    </p:spTree>
    <p:extLst>
      <p:ext uri="{BB962C8B-B14F-4D97-AF65-F5344CB8AC3E}">
        <p14:creationId xmlns:p14="http://schemas.microsoft.com/office/powerpoint/2010/main" val="15023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Shortest-Path Idea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5494" y="1030941"/>
            <a:ext cx="8655423" cy="47244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lvl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</a:pPr>
            <a:r>
              <a:rPr lang="en-US" sz="2400" dirty="0"/>
              <a:t> Recall: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u,v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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total weight/cost of the shortest path from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All SSSP algorithms maintain a field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for every vertex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will be an estimate of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s,u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 As the algorithm progresses, we will refine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until, at termination, </a:t>
            </a:r>
          </a:p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s,u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Whenever we discover a new shortest path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we update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].</a:t>
            </a:r>
          </a:p>
          <a:p>
            <a:pPr marL="0" marR="0" lvl="0" indent="0" algn="l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fact,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will always be an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overestimate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s,u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³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s,u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We’ll use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to point to the parent (or predecessor) of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on the shortest path from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 We update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when we update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].</a:t>
            </a:r>
          </a:p>
          <a:p>
            <a:pPr lvl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</a:pPr>
            <a:r>
              <a:rPr lang="en-US" sz="2400" dirty="0"/>
              <a:t> At the end, </a:t>
            </a:r>
            <a:r>
              <a:rPr lang="en-US" sz="2400" dirty="0">
                <a:latin typeface="Symbol" pitchFamily="18" charset="2"/>
              </a:rPr>
              <a:t>p </a:t>
            </a:r>
            <a:r>
              <a:rPr lang="en-US" sz="2400" dirty="0"/>
              <a:t>will induce a tree, called </a:t>
            </a:r>
            <a:r>
              <a:rPr lang="en-US" sz="2400" b="1" dirty="0"/>
              <a:t>shortest path tree</a:t>
            </a:r>
            <a:r>
              <a:rPr lang="en-US" sz="2400" dirty="0"/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97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Initialization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120000"/>
              </a:lnSpc>
              <a:buFontTx/>
              <a:buNone/>
            </a:pPr>
            <a:r>
              <a:rPr lang="en-US" altLang="en-US">
                <a:solidFill>
                  <a:srgbClr val="DD0111"/>
                </a:solidFill>
                <a:latin typeface="Monotype Corsiva" panose="03010101010201010101" pitchFamily="66" charset="0"/>
              </a:rPr>
              <a:t>Alg.: </a:t>
            </a:r>
            <a:r>
              <a:rPr lang="en-US" altLang="en-US"/>
              <a:t>INITIALIZE-SINGLE-SOURCE(V, s)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b="1"/>
              <a:t> for </a:t>
            </a:r>
            <a:r>
              <a:rPr lang="en-US" altLang="en-US"/>
              <a:t>each v </a:t>
            </a:r>
            <a:r>
              <a:rPr lang="en-US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 V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b="1"/>
              <a:t>       do </a:t>
            </a:r>
            <a:r>
              <a:rPr lang="en-US" altLang="en-US"/>
              <a:t>d[v] ← </a:t>
            </a:r>
            <a:r>
              <a:rPr lang="en-US" altLang="en-US">
                <a:sym typeface="Symbol" panose="05050102010706020507" pitchFamily="18" charset="2"/>
              </a:rPr>
              <a:t>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             </a:t>
            </a:r>
            <a:r>
              <a:rPr lang="en-US" altLang="en-US"/>
              <a:t>[v] ← NIL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/>
              <a:t>d[s] ← 0</a:t>
            </a:r>
          </a:p>
          <a:p>
            <a:pPr marL="533400" indent="-533400" eaLnBrk="1" hangingPunct="1">
              <a:lnSpc>
                <a:spcPct val="120000"/>
              </a:lnSpc>
              <a:buFontTx/>
              <a:buNone/>
            </a:pPr>
            <a:endParaRPr lang="en-US" altLang="en-US"/>
          </a:p>
          <a:p>
            <a:pPr marL="533400" indent="-533400" eaLnBrk="1" hangingPunct="1">
              <a:lnSpc>
                <a:spcPct val="120000"/>
              </a:lnSpc>
            </a:pPr>
            <a:r>
              <a:rPr lang="en-US" altLang="en-US"/>
              <a:t>All the shortest-paths algorithms start with INITIALIZE-SINGLE-SOURCE</a:t>
            </a:r>
          </a:p>
        </p:txBody>
      </p:sp>
    </p:spTree>
    <p:extLst>
      <p:ext uri="{BB962C8B-B14F-4D97-AF65-F5344CB8AC3E}">
        <p14:creationId xmlns:p14="http://schemas.microsoft.com/office/powerpoint/2010/main" val="3773401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Relaxation</a:t>
            </a:r>
          </a:p>
        </p:txBody>
      </p:sp>
      <p:sp>
        <p:nvSpPr>
          <p:cNvPr id="786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Relaxing </a:t>
            </a:r>
            <a:r>
              <a:rPr lang="en-US" altLang="en-US"/>
              <a:t>an edge (u, v) = testing whether we can improve the shortest path to v found so far by going through u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	If </a:t>
            </a:r>
            <a:r>
              <a:rPr lang="en-US" altLang="en-US">
                <a:latin typeface="Comic Sans MS" panose="030F0702030302020204" pitchFamily="66" charset="0"/>
              </a:rPr>
              <a:t>d[v] &gt; d[u] + w(u, v)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		 we can improve the shortest path to v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		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/>
              <a:t> update d[v] and </a:t>
            </a:r>
            <a:r>
              <a:rPr lang="en-US" altLang="en-US">
                <a:sym typeface="Symbol" panose="05050102010706020507" pitchFamily="18" charset="2"/>
              </a:rPr>
              <a:t></a:t>
            </a:r>
            <a:r>
              <a:rPr lang="en-US" altLang="en-US"/>
              <a:t>[v]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32627" y="3458913"/>
            <a:ext cx="1743075" cy="747712"/>
            <a:chOff x="717" y="2115"/>
            <a:chExt cx="1098" cy="471"/>
          </a:xfrm>
        </p:grpSpPr>
        <p:sp>
          <p:nvSpPr>
            <p:cNvPr id="11304" name="Oval 5"/>
            <p:cNvSpPr>
              <a:spLocks noChangeArrowheads="1"/>
            </p:cNvSpPr>
            <p:nvPr/>
          </p:nvSpPr>
          <p:spPr bwMode="auto">
            <a:xfrm>
              <a:off x="717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305" name="Oval 6"/>
            <p:cNvSpPr>
              <a:spLocks noChangeArrowheads="1"/>
            </p:cNvSpPr>
            <p:nvPr/>
          </p:nvSpPr>
          <p:spPr bwMode="auto">
            <a:xfrm>
              <a:off x="1549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306" name="Line 7"/>
            <p:cNvSpPr>
              <a:spLocks noChangeShapeType="1"/>
            </p:cNvSpPr>
            <p:nvPr/>
          </p:nvSpPr>
          <p:spPr bwMode="auto">
            <a:xfrm>
              <a:off x="981" y="2446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Text Box 8"/>
            <p:cNvSpPr txBox="1">
              <a:spLocks noChangeArrowheads="1"/>
            </p:cNvSpPr>
            <p:nvPr/>
          </p:nvSpPr>
          <p:spPr bwMode="auto">
            <a:xfrm>
              <a:off x="1174" y="224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308" name="Text Box 9"/>
            <p:cNvSpPr txBox="1">
              <a:spLocks noChangeArrowheads="1"/>
            </p:cNvSpPr>
            <p:nvPr/>
          </p:nvSpPr>
          <p:spPr bwMode="auto">
            <a:xfrm>
              <a:off x="772" y="2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1309" name="Text Box 10"/>
            <p:cNvSpPr txBox="1">
              <a:spLocks noChangeArrowheads="1"/>
            </p:cNvSpPr>
            <p:nvPr/>
          </p:nvSpPr>
          <p:spPr bwMode="auto">
            <a:xfrm>
              <a:off x="1594" y="211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v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332627" y="4974975"/>
            <a:ext cx="1743075" cy="747713"/>
            <a:chOff x="717" y="2115"/>
            <a:chExt cx="1098" cy="471"/>
          </a:xfrm>
        </p:grpSpPr>
        <p:sp>
          <p:nvSpPr>
            <p:cNvPr id="11298" name="Oval 12"/>
            <p:cNvSpPr>
              <a:spLocks noChangeArrowheads="1"/>
            </p:cNvSpPr>
            <p:nvPr/>
          </p:nvSpPr>
          <p:spPr bwMode="auto">
            <a:xfrm>
              <a:off x="717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299" name="Oval 13"/>
            <p:cNvSpPr>
              <a:spLocks noChangeArrowheads="1"/>
            </p:cNvSpPr>
            <p:nvPr/>
          </p:nvSpPr>
          <p:spPr bwMode="auto">
            <a:xfrm>
              <a:off x="1549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1300" name="Line 14"/>
            <p:cNvSpPr>
              <a:spLocks noChangeShapeType="1"/>
            </p:cNvSpPr>
            <p:nvPr/>
          </p:nvSpPr>
          <p:spPr bwMode="auto">
            <a:xfrm>
              <a:off x="981" y="2446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Text Box 15"/>
            <p:cNvSpPr txBox="1">
              <a:spLocks noChangeArrowheads="1"/>
            </p:cNvSpPr>
            <p:nvPr/>
          </p:nvSpPr>
          <p:spPr bwMode="auto">
            <a:xfrm>
              <a:off x="1174" y="224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302" name="Text Box 16"/>
            <p:cNvSpPr txBox="1">
              <a:spLocks noChangeArrowheads="1"/>
            </p:cNvSpPr>
            <p:nvPr/>
          </p:nvSpPr>
          <p:spPr bwMode="auto">
            <a:xfrm>
              <a:off x="772" y="2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1303" name="Text Box 17"/>
            <p:cNvSpPr txBox="1">
              <a:spLocks noChangeArrowheads="1"/>
            </p:cNvSpPr>
            <p:nvPr/>
          </p:nvSpPr>
          <p:spPr bwMode="auto">
            <a:xfrm>
              <a:off x="1594" y="211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v</a:t>
              </a:r>
            </a:p>
          </p:txBody>
        </p:sp>
      </p:grpSp>
      <p:sp>
        <p:nvSpPr>
          <p:cNvPr id="786450" name="AutoShape 18"/>
          <p:cNvSpPr>
            <a:spLocks noChangeArrowheads="1"/>
          </p:cNvSpPr>
          <p:nvPr/>
        </p:nvSpPr>
        <p:spPr bwMode="auto">
          <a:xfrm rot="5400000">
            <a:off x="2700134" y="4516981"/>
            <a:ext cx="979488" cy="263525"/>
          </a:xfrm>
          <a:custGeom>
            <a:avLst/>
            <a:gdLst>
              <a:gd name="T0" fmla="*/ 1510605664 w 21600"/>
              <a:gd name="T1" fmla="*/ 0 h 21600"/>
              <a:gd name="T2" fmla="*/ 0 w 21600"/>
              <a:gd name="T3" fmla="*/ 19612348 h 21600"/>
              <a:gd name="T4" fmla="*/ 1510605664 w 21600"/>
              <a:gd name="T5" fmla="*/ 39224549 h 21600"/>
              <a:gd name="T6" fmla="*/ 2014140719 w 21600"/>
              <a:gd name="T7" fmla="*/ 19612348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6451" name="Text Box 19"/>
          <p:cNvSpPr txBox="1">
            <a:spLocks noChangeArrowheads="1"/>
          </p:cNvSpPr>
          <p:nvPr/>
        </p:nvSpPr>
        <p:spPr bwMode="auto">
          <a:xfrm>
            <a:off x="3378790" y="4462213"/>
            <a:ext cx="174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RELAX(u, v, w)</a:t>
            </a:r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5436190" y="3468438"/>
            <a:ext cx="1743075" cy="747712"/>
            <a:chOff x="717" y="2115"/>
            <a:chExt cx="1098" cy="471"/>
          </a:xfrm>
        </p:grpSpPr>
        <p:sp>
          <p:nvSpPr>
            <p:cNvPr id="11292" name="Oval 21"/>
            <p:cNvSpPr>
              <a:spLocks noChangeArrowheads="1"/>
            </p:cNvSpPr>
            <p:nvPr/>
          </p:nvSpPr>
          <p:spPr bwMode="auto">
            <a:xfrm>
              <a:off x="717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293" name="Oval 22"/>
            <p:cNvSpPr>
              <a:spLocks noChangeArrowheads="1"/>
            </p:cNvSpPr>
            <p:nvPr/>
          </p:nvSpPr>
          <p:spPr bwMode="auto">
            <a:xfrm>
              <a:off x="1549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294" name="Line 23"/>
            <p:cNvSpPr>
              <a:spLocks noChangeShapeType="1"/>
            </p:cNvSpPr>
            <p:nvPr/>
          </p:nvSpPr>
          <p:spPr bwMode="auto">
            <a:xfrm>
              <a:off x="981" y="2446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Text Box 24"/>
            <p:cNvSpPr txBox="1">
              <a:spLocks noChangeArrowheads="1"/>
            </p:cNvSpPr>
            <p:nvPr/>
          </p:nvSpPr>
          <p:spPr bwMode="auto">
            <a:xfrm>
              <a:off x="1174" y="224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296" name="Text Box 25"/>
            <p:cNvSpPr txBox="1">
              <a:spLocks noChangeArrowheads="1"/>
            </p:cNvSpPr>
            <p:nvPr/>
          </p:nvSpPr>
          <p:spPr bwMode="auto">
            <a:xfrm>
              <a:off x="772" y="2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1297" name="Text Box 26"/>
            <p:cNvSpPr txBox="1">
              <a:spLocks noChangeArrowheads="1"/>
            </p:cNvSpPr>
            <p:nvPr/>
          </p:nvSpPr>
          <p:spPr bwMode="auto">
            <a:xfrm>
              <a:off x="1594" y="211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v</a:t>
              </a:r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5436190" y="4984500"/>
            <a:ext cx="1743075" cy="747713"/>
            <a:chOff x="717" y="2115"/>
            <a:chExt cx="1098" cy="471"/>
          </a:xfrm>
        </p:grpSpPr>
        <p:sp>
          <p:nvSpPr>
            <p:cNvPr id="11286" name="Oval 28"/>
            <p:cNvSpPr>
              <a:spLocks noChangeArrowheads="1"/>
            </p:cNvSpPr>
            <p:nvPr/>
          </p:nvSpPr>
          <p:spPr bwMode="auto">
            <a:xfrm>
              <a:off x="717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287" name="Oval 29"/>
            <p:cNvSpPr>
              <a:spLocks noChangeArrowheads="1"/>
            </p:cNvSpPr>
            <p:nvPr/>
          </p:nvSpPr>
          <p:spPr bwMode="auto">
            <a:xfrm>
              <a:off x="1549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288" name="Line 30"/>
            <p:cNvSpPr>
              <a:spLocks noChangeShapeType="1"/>
            </p:cNvSpPr>
            <p:nvPr/>
          </p:nvSpPr>
          <p:spPr bwMode="auto">
            <a:xfrm>
              <a:off x="981" y="2446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Text Box 31"/>
            <p:cNvSpPr txBox="1">
              <a:spLocks noChangeArrowheads="1"/>
            </p:cNvSpPr>
            <p:nvPr/>
          </p:nvSpPr>
          <p:spPr bwMode="auto">
            <a:xfrm>
              <a:off x="1174" y="224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290" name="Text Box 32"/>
            <p:cNvSpPr txBox="1">
              <a:spLocks noChangeArrowheads="1"/>
            </p:cNvSpPr>
            <p:nvPr/>
          </p:nvSpPr>
          <p:spPr bwMode="auto">
            <a:xfrm>
              <a:off x="772" y="2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1291" name="Text Box 33"/>
            <p:cNvSpPr txBox="1">
              <a:spLocks noChangeArrowheads="1"/>
            </p:cNvSpPr>
            <p:nvPr/>
          </p:nvSpPr>
          <p:spPr bwMode="auto">
            <a:xfrm>
              <a:off x="1594" y="211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v</a:t>
              </a:r>
            </a:p>
          </p:txBody>
        </p:sp>
      </p:grpSp>
      <p:sp>
        <p:nvSpPr>
          <p:cNvPr id="786466" name="AutoShape 34"/>
          <p:cNvSpPr>
            <a:spLocks noChangeArrowheads="1"/>
          </p:cNvSpPr>
          <p:nvPr/>
        </p:nvSpPr>
        <p:spPr bwMode="auto">
          <a:xfrm rot="5400000">
            <a:off x="5803696" y="4526506"/>
            <a:ext cx="979488" cy="263525"/>
          </a:xfrm>
          <a:custGeom>
            <a:avLst/>
            <a:gdLst>
              <a:gd name="T0" fmla="*/ 1510605664 w 21600"/>
              <a:gd name="T1" fmla="*/ 0 h 21600"/>
              <a:gd name="T2" fmla="*/ 0 w 21600"/>
              <a:gd name="T3" fmla="*/ 19612348 h 21600"/>
              <a:gd name="T4" fmla="*/ 1510605664 w 21600"/>
              <a:gd name="T5" fmla="*/ 39224549 h 21600"/>
              <a:gd name="T6" fmla="*/ 2014140719 w 21600"/>
              <a:gd name="T7" fmla="*/ 19612348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6467" name="Text Box 35"/>
          <p:cNvSpPr txBox="1">
            <a:spLocks noChangeArrowheads="1"/>
          </p:cNvSpPr>
          <p:nvPr/>
        </p:nvSpPr>
        <p:spPr bwMode="auto">
          <a:xfrm>
            <a:off x="6482352" y="4471738"/>
            <a:ext cx="174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RELAX(u, v, w)</a:t>
            </a:r>
          </a:p>
        </p:txBody>
      </p:sp>
      <p:sp>
        <p:nvSpPr>
          <p:cNvPr id="786468" name="Rectangle 36"/>
          <p:cNvSpPr>
            <a:spLocks noChangeArrowheads="1"/>
          </p:cNvSpPr>
          <p:nvPr/>
        </p:nvSpPr>
        <p:spPr bwMode="auto">
          <a:xfrm>
            <a:off x="1762714" y="6007505"/>
            <a:ext cx="58816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After relaxation: </a:t>
            </a:r>
            <a:r>
              <a:rPr lang="en-US" altLang="en-US" dirty="0">
                <a:latin typeface="Comic Sans MS" panose="030F0702030302020204" pitchFamily="66" charset="0"/>
              </a:rPr>
              <a:t>d[v]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</a:t>
            </a:r>
            <a:r>
              <a:rPr lang="en-US" altLang="en-US" dirty="0">
                <a:latin typeface="Comic Sans MS" panose="030F0702030302020204" pitchFamily="66" charset="0"/>
              </a:rPr>
              <a:t> d[u] + w(u, v)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1861140" y="3136650"/>
            <a:ext cx="1908175" cy="684213"/>
            <a:chOff x="163" y="2242"/>
            <a:chExt cx="1202" cy="431"/>
          </a:xfrm>
        </p:grpSpPr>
        <p:sp>
          <p:nvSpPr>
            <p:cNvPr id="11283" name="Oval 38"/>
            <p:cNvSpPr>
              <a:spLocks noChangeArrowheads="1"/>
            </p:cNvSpPr>
            <p:nvPr/>
          </p:nvSpPr>
          <p:spPr bwMode="auto">
            <a:xfrm>
              <a:off x="163" y="2242"/>
              <a:ext cx="238" cy="22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1284" name="Freeform 39"/>
            <p:cNvSpPr>
              <a:spLocks/>
            </p:cNvSpPr>
            <p:nvPr/>
          </p:nvSpPr>
          <p:spPr bwMode="auto">
            <a:xfrm>
              <a:off x="369" y="2442"/>
              <a:ext cx="163" cy="231"/>
            </a:xfrm>
            <a:custGeom>
              <a:avLst/>
              <a:gdLst>
                <a:gd name="T0" fmla="*/ 0 w 163"/>
                <a:gd name="T1" fmla="*/ 0 h 231"/>
                <a:gd name="T2" fmla="*/ 57 w 163"/>
                <a:gd name="T3" fmla="*/ 25 h 231"/>
                <a:gd name="T4" fmla="*/ 69 w 163"/>
                <a:gd name="T5" fmla="*/ 81 h 231"/>
                <a:gd name="T6" fmla="*/ 113 w 163"/>
                <a:gd name="T7" fmla="*/ 131 h 231"/>
                <a:gd name="T8" fmla="*/ 151 w 163"/>
                <a:gd name="T9" fmla="*/ 200 h 231"/>
                <a:gd name="T10" fmla="*/ 163 w 163"/>
                <a:gd name="T11" fmla="*/ 231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3"/>
                <a:gd name="T19" fmla="*/ 0 h 231"/>
                <a:gd name="T20" fmla="*/ 163 w 163"/>
                <a:gd name="T21" fmla="*/ 231 h 2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3" h="231">
                  <a:moveTo>
                    <a:pt x="0" y="0"/>
                  </a:moveTo>
                  <a:cubicBezTo>
                    <a:pt x="19" y="12"/>
                    <a:pt x="36" y="18"/>
                    <a:pt x="57" y="25"/>
                  </a:cubicBezTo>
                  <a:cubicBezTo>
                    <a:pt x="72" y="48"/>
                    <a:pt x="79" y="55"/>
                    <a:pt x="69" y="81"/>
                  </a:cubicBezTo>
                  <a:cubicBezTo>
                    <a:pt x="77" y="116"/>
                    <a:pt x="80" y="121"/>
                    <a:pt x="113" y="131"/>
                  </a:cubicBezTo>
                  <a:cubicBezTo>
                    <a:pt x="145" y="153"/>
                    <a:pt x="130" y="169"/>
                    <a:pt x="151" y="200"/>
                  </a:cubicBezTo>
                  <a:cubicBezTo>
                    <a:pt x="158" y="223"/>
                    <a:pt x="154" y="213"/>
                    <a:pt x="163" y="23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40"/>
            <p:cNvSpPr>
              <a:spLocks/>
            </p:cNvSpPr>
            <p:nvPr/>
          </p:nvSpPr>
          <p:spPr bwMode="auto">
            <a:xfrm>
              <a:off x="354" y="2413"/>
              <a:ext cx="1011" cy="242"/>
            </a:xfrm>
            <a:custGeom>
              <a:avLst/>
              <a:gdLst>
                <a:gd name="T0" fmla="*/ 28 w 1011"/>
                <a:gd name="T1" fmla="*/ 10 h 242"/>
                <a:gd name="T2" fmla="*/ 72 w 1011"/>
                <a:gd name="T3" fmla="*/ 29 h 242"/>
                <a:gd name="T4" fmla="*/ 109 w 1011"/>
                <a:gd name="T5" fmla="*/ 41 h 242"/>
                <a:gd name="T6" fmla="*/ 166 w 1011"/>
                <a:gd name="T7" fmla="*/ 22 h 242"/>
                <a:gd name="T8" fmla="*/ 291 w 1011"/>
                <a:gd name="T9" fmla="*/ 41 h 242"/>
                <a:gd name="T10" fmla="*/ 441 w 1011"/>
                <a:gd name="T11" fmla="*/ 85 h 242"/>
                <a:gd name="T12" fmla="*/ 610 w 1011"/>
                <a:gd name="T13" fmla="*/ 98 h 242"/>
                <a:gd name="T14" fmla="*/ 673 w 1011"/>
                <a:gd name="T15" fmla="*/ 116 h 242"/>
                <a:gd name="T16" fmla="*/ 823 w 1011"/>
                <a:gd name="T17" fmla="*/ 166 h 242"/>
                <a:gd name="T18" fmla="*/ 955 w 1011"/>
                <a:gd name="T19" fmla="*/ 210 h 242"/>
                <a:gd name="T20" fmla="*/ 992 w 1011"/>
                <a:gd name="T21" fmla="*/ 235 h 242"/>
                <a:gd name="T22" fmla="*/ 1011 w 1011"/>
                <a:gd name="T23" fmla="*/ 242 h 2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11"/>
                <a:gd name="T37" fmla="*/ 0 h 242"/>
                <a:gd name="T38" fmla="*/ 1011 w 1011"/>
                <a:gd name="T39" fmla="*/ 242 h 24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11" h="242">
                  <a:moveTo>
                    <a:pt x="28" y="10"/>
                  </a:moveTo>
                  <a:cubicBezTo>
                    <a:pt x="85" y="28"/>
                    <a:pt x="0" y="0"/>
                    <a:pt x="72" y="29"/>
                  </a:cubicBezTo>
                  <a:cubicBezTo>
                    <a:pt x="84" y="34"/>
                    <a:pt x="109" y="41"/>
                    <a:pt x="109" y="41"/>
                  </a:cubicBezTo>
                  <a:cubicBezTo>
                    <a:pt x="153" y="27"/>
                    <a:pt x="135" y="34"/>
                    <a:pt x="166" y="22"/>
                  </a:cubicBezTo>
                  <a:cubicBezTo>
                    <a:pt x="215" y="26"/>
                    <a:pt x="247" y="27"/>
                    <a:pt x="291" y="41"/>
                  </a:cubicBezTo>
                  <a:cubicBezTo>
                    <a:pt x="343" y="76"/>
                    <a:pt x="375" y="79"/>
                    <a:pt x="441" y="85"/>
                  </a:cubicBezTo>
                  <a:cubicBezTo>
                    <a:pt x="501" y="77"/>
                    <a:pt x="552" y="84"/>
                    <a:pt x="610" y="98"/>
                  </a:cubicBezTo>
                  <a:cubicBezTo>
                    <a:pt x="631" y="103"/>
                    <a:pt x="673" y="116"/>
                    <a:pt x="673" y="116"/>
                  </a:cubicBezTo>
                  <a:cubicBezTo>
                    <a:pt x="714" y="157"/>
                    <a:pt x="768" y="162"/>
                    <a:pt x="823" y="166"/>
                  </a:cubicBezTo>
                  <a:cubicBezTo>
                    <a:pt x="873" y="175"/>
                    <a:pt x="909" y="195"/>
                    <a:pt x="955" y="210"/>
                  </a:cubicBezTo>
                  <a:cubicBezTo>
                    <a:pt x="964" y="217"/>
                    <a:pt x="982" y="230"/>
                    <a:pt x="992" y="235"/>
                  </a:cubicBezTo>
                  <a:cubicBezTo>
                    <a:pt x="998" y="238"/>
                    <a:pt x="1011" y="242"/>
                    <a:pt x="1011" y="24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4953590" y="3136650"/>
            <a:ext cx="1908175" cy="684213"/>
            <a:chOff x="163" y="2242"/>
            <a:chExt cx="1202" cy="431"/>
          </a:xfrm>
        </p:grpSpPr>
        <p:sp>
          <p:nvSpPr>
            <p:cNvPr id="11280" name="Oval 42"/>
            <p:cNvSpPr>
              <a:spLocks noChangeArrowheads="1"/>
            </p:cNvSpPr>
            <p:nvPr/>
          </p:nvSpPr>
          <p:spPr bwMode="auto">
            <a:xfrm>
              <a:off x="163" y="2242"/>
              <a:ext cx="238" cy="22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1281" name="Freeform 43"/>
            <p:cNvSpPr>
              <a:spLocks/>
            </p:cNvSpPr>
            <p:nvPr/>
          </p:nvSpPr>
          <p:spPr bwMode="auto">
            <a:xfrm>
              <a:off x="369" y="2442"/>
              <a:ext cx="163" cy="231"/>
            </a:xfrm>
            <a:custGeom>
              <a:avLst/>
              <a:gdLst>
                <a:gd name="T0" fmla="*/ 0 w 163"/>
                <a:gd name="T1" fmla="*/ 0 h 231"/>
                <a:gd name="T2" fmla="*/ 57 w 163"/>
                <a:gd name="T3" fmla="*/ 25 h 231"/>
                <a:gd name="T4" fmla="*/ 69 w 163"/>
                <a:gd name="T5" fmla="*/ 81 h 231"/>
                <a:gd name="T6" fmla="*/ 113 w 163"/>
                <a:gd name="T7" fmla="*/ 131 h 231"/>
                <a:gd name="T8" fmla="*/ 151 w 163"/>
                <a:gd name="T9" fmla="*/ 200 h 231"/>
                <a:gd name="T10" fmla="*/ 163 w 163"/>
                <a:gd name="T11" fmla="*/ 231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3"/>
                <a:gd name="T19" fmla="*/ 0 h 231"/>
                <a:gd name="T20" fmla="*/ 163 w 163"/>
                <a:gd name="T21" fmla="*/ 231 h 2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3" h="231">
                  <a:moveTo>
                    <a:pt x="0" y="0"/>
                  </a:moveTo>
                  <a:cubicBezTo>
                    <a:pt x="19" y="12"/>
                    <a:pt x="36" y="18"/>
                    <a:pt x="57" y="25"/>
                  </a:cubicBezTo>
                  <a:cubicBezTo>
                    <a:pt x="72" y="48"/>
                    <a:pt x="79" y="55"/>
                    <a:pt x="69" y="81"/>
                  </a:cubicBezTo>
                  <a:cubicBezTo>
                    <a:pt x="77" y="116"/>
                    <a:pt x="80" y="121"/>
                    <a:pt x="113" y="131"/>
                  </a:cubicBezTo>
                  <a:cubicBezTo>
                    <a:pt x="145" y="153"/>
                    <a:pt x="130" y="169"/>
                    <a:pt x="151" y="200"/>
                  </a:cubicBezTo>
                  <a:cubicBezTo>
                    <a:pt x="158" y="223"/>
                    <a:pt x="154" y="213"/>
                    <a:pt x="163" y="23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Freeform 44"/>
            <p:cNvSpPr>
              <a:spLocks/>
            </p:cNvSpPr>
            <p:nvPr/>
          </p:nvSpPr>
          <p:spPr bwMode="auto">
            <a:xfrm>
              <a:off x="354" y="2413"/>
              <a:ext cx="1011" cy="242"/>
            </a:xfrm>
            <a:custGeom>
              <a:avLst/>
              <a:gdLst>
                <a:gd name="T0" fmla="*/ 28 w 1011"/>
                <a:gd name="T1" fmla="*/ 10 h 242"/>
                <a:gd name="T2" fmla="*/ 72 w 1011"/>
                <a:gd name="T3" fmla="*/ 29 h 242"/>
                <a:gd name="T4" fmla="*/ 109 w 1011"/>
                <a:gd name="T5" fmla="*/ 41 h 242"/>
                <a:gd name="T6" fmla="*/ 166 w 1011"/>
                <a:gd name="T7" fmla="*/ 22 h 242"/>
                <a:gd name="T8" fmla="*/ 291 w 1011"/>
                <a:gd name="T9" fmla="*/ 41 h 242"/>
                <a:gd name="T10" fmla="*/ 441 w 1011"/>
                <a:gd name="T11" fmla="*/ 85 h 242"/>
                <a:gd name="T12" fmla="*/ 610 w 1011"/>
                <a:gd name="T13" fmla="*/ 98 h 242"/>
                <a:gd name="T14" fmla="*/ 673 w 1011"/>
                <a:gd name="T15" fmla="*/ 116 h 242"/>
                <a:gd name="T16" fmla="*/ 823 w 1011"/>
                <a:gd name="T17" fmla="*/ 166 h 242"/>
                <a:gd name="T18" fmla="*/ 955 w 1011"/>
                <a:gd name="T19" fmla="*/ 210 h 242"/>
                <a:gd name="T20" fmla="*/ 992 w 1011"/>
                <a:gd name="T21" fmla="*/ 235 h 242"/>
                <a:gd name="T22" fmla="*/ 1011 w 1011"/>
                <a:gd name="T23" fmla="*/ 242 h 2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11"/>
                <a:gd name="T37" fmla="*/ 0 h 242"/>
                <a:gd name="T38" fmla="*/ 1011 w 1011"/>
                <a:gd name="T39" fmla="*/ 242 h 24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11" h="242">
                  <a:moveTo>
                    <a:pt x="28" y="10"/>
                  </a:moveTo>
                  <a:cubicBezTo>
                    <a:pt x="85" y="28"/>
                    <a:pt x="0" y="0"/>
                    <a:pt x="72" y="29"/>
                  </a:cubicBezTo>
                  <a:cubicBezTo>
                    <a:pt x="84" y="34"/>
                    <a:pt x="109" y="41"/>
                    <a:pt x="109" y="41"/>
                  </a:cubicBezTo>
                  <a:cubicBezTo>
                    <a:pt x="153" y="27"/>
                    <a:pt x="135" y="34"/>
                    <a:pt x="166" y="22"/>
                  </a:cubicBezTo>
                  <a:cubicBezTo>
                    <a:pt x="215" y="26"/>
                    <a:pt x="247" y="27"/>
                    <a:pt x="291" y="41"/>
                  </a:cubicBezTo>
                  <a:cubicBezTo>
                    <a:pt x="343" y="76"/>
                    <a:pt x="375" y="79"/>
                    <a:pt x="441" y="85"/>
                  </a:cubicBezTo>
                  <a:cubicBezTo>
                    <a:pt x="501" y="77"/>
                    <a:pt x="552" y="84"/>
                    <a:pt x="610" y="98"/>
                  </a:cubicBezTo>
                  <a:cubicBezTo>
                    <a:pt x="631" y="103"/>
                    <a:pt x="673" y="116"/>
                    <a:pt x="673" y="116"/>
                  </a:cubicBezTo>
                  <a:cubicBezTo>
                    <a:pt x="714" y="157"/>
                    <a:pt x="768" y="162"/>
                    <a:pt x="823" y="166"/>
                  </a:cubicBezTo>
                  <a:cubicBezTo>
                    <a:pt x="873" y="175"/>
                    <a:pt x="909" y="195"/>
                    <a:pt x="955" y="210"/>
                  </a:cubicBezTo>
                  <a:cubicBezTo>
                    <a:pt x="964" y="217"/>
                    <a:pt x="982" y="230"/>
                    <a:pt x="992" y="235"/>
                  </a:cubicBezTo>
                  <a:cubicBezTo>
                    <a:pt x="998" y="238"/>
                    <a:pt x="1011" y="242"/>
                    <a:pt x="1011" y="24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715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50" grpId="0" animBg="1"/>
      <p:bldP spid="786451" grpId="0"/>
      <p:bldP spid="786466" grpId="0" animBg="1"/>
      <p:bldP spid="786467" grpId="0"/>
      <p:bldP spid="7864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RELAX(u, v, w)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en-US" altLang="en-US" b="1"/>
              <a:t>if </a:t>
            </a:r>
            <a:r>
              <a:rPr lang="en-US" altLang="en-US">
                <a:latin typeface="Comic Sans MS" panose="030F0702030302020204" pitchFamily="66" charset="0"/>
              </a:rPr>
              <a:t>d[v] &gt; d[u] + w(u, 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b="1"/>
              <a:t>   then </a:t>
            </a:r>
            <a:r>
              <a:rPr lang="en-US" altLang="en-US">
                <a:latin typeface="Comic Sans MS" panose="030F0702030302020204" pitchFamily="66" charset="0"/>
              </a:rPr>
              <a:t>d[v] ← d[u] + w(u, 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/>
              <a:t>           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</a:t>
            </a:r>
            <a:r>
              <a:rPr lang="en-US" altLang="en-US">
                <a:latin typeface="Comic Sans MS" panose="030F0702030302020204" pitchFamily="66" charset="0"/>
              </a:rPr>
              <a:t>[v] ← u</a:t>
            </a:r>
          </a:p>
          <a:p>
            <a:pPr marL="533400" indent="-533400" eaLnBrk="1" hangingPunct="1"/>
            <a:endParaRPr lang="en-US" altLang="en-US"/>
          </a:p>
          <a:p>
            <a:pPr marL="533400" indent="-533400" eaLnBrk="1" hangingPunct="1"/>
            <a:r>
              <a:rPr lang="en-US" altLang="en-US"/>
              <a:t>All the single-source shortest-paths algorithms </a:t>
            </a:r>
          </a:p>
          <a:p>
            <a:pPr marL="914400" lvl="1" indent="-457200" eaLnBrk="1" hangingPunct="1"/>
            <a:r>
              <a:rPr lang="en-US" altLang="en-US"/>
              <a:t>start by calling INIT-SINGLE-SOURCE</a:t>
            </a:r>
          </a:p>
          <a:p>
            <a:pPr marL="914400" lvl="1" indent="-457200" eaLnBrk="1" hangingPunct="1"/>
            <a:r>
              <a:rPr lang="en-US" altLang="en-US"/>
              <a:t>then relax edges</a:t>
            </a:r>
          </a:p>
          <a:p>
            <a:pPr marL="533400" indent="-533400" eaLnBrk="1" hangingPunct="1"/>
            <a:r>
              <a:rPr lang="en-US" altLang="en-US"/>
              <a:t>The algorithms differ in the order and how many times they relax each edge</a:t>
            </a:r>
          </a:p>
        </p:txBody>
      </p:sp>
    </p:spTree>
    <p:extLst>
      <p:ext uri="{BB962C8B-B14F-4D97-AF65-F5344CB8AC3E}">
        <p14:creationId xmlns:p14="http://schemas.microsoft.com/office/powerpoint/2010/main" val="2571539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Dijkstra’s Algorithm</a:t>
            </a:r>
          </a:p>
        </p:txBody>
      </p:sp>
      <p:sp>
        <p:nvSpPr>
          <p:cNvPr id="803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/>
              <a:t>Solves Single-source Shortest Path (SSSP) problem: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When there is no negative-weight edges</a:t>
            </a:r>
            <a:r>
              <a:rPr lang="en-US" altLang="en-US" dirty="0"/>
              <a:t>: w(u, v) &gt; 0 </a:t>
            </a:r>
            <a:r>
              <a:rPr lang="en-US" altLang="en-US" dirty="0">
                <a:sym typeface="Symbol" panose="05050102010706020507" pitchFamily="18" charset="2"/>
              </a:rPr>
              <a:t>(u, v)  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dirty="0"/>
              <a:t>Maintains two sets of vertices: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dirty="0"/>
              <a:t>K = vertices whose final shortest-path weights have already been determined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dirty="0"/>
              <a:t>Q = vertices in V – K (Q is a min-priority queue)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en-US" dirty="0"/>
              <a:t>Keys in Q are estimates of shortest-path weights (d[v])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dirty="0"/>
              <a:t>Repeatedly select a vertex u </a:t>
            </a:r>
            <a:r>
              <a:rPr lang="en-US" altLang="en-US" dirty="0">
                <a:sym typeface="Symbol" panose="05050102010706020507" pitchFamily="18" charset="2"/>
              </a:rPr>
              <a:t> V – K, with the minimum shortest-path estimate </a:t>
            </a:r>
            <a:r>
              <a:rPr lang="en-US" altLang="en-US" dirty="0"/>
              <a:t>d[v] and RELAXs its incident edges.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67" y="644566"/>
            <a:ext cx="2040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en-US" dirty="0">
                <a:latin typeface="Agency FB" pitchFamily="34" charset="0"/>
                <a:cs typeface="Times New Roman" pitchFamily="18" charset="0"/>
              </a:rPr>
              <a:t>(pronounced “DIKE-</a:t>
            </a:r>
            <a:r>
              <a:rPr lang="en-US" dirty="0" err="1">
                <a:latin typeface="Agency FB" pitchFamily="34" charset="0"/>
                <a:cs typeface="Times New Roman" pitchFamily="18" charset="0"/>
              </a:rPr>
              <a:t>stra</a:t>
            </a:r>
            <a:r>
              <a:rPr lang="en-US" dirty="0">
                <a:latin typeface="Agency FB" pitchFamily="34" charset="0"/>
                <a:cs typeface="Times New Roman" pitchFamily="18" charset="0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66335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Dijkstra (G, w, s)</a:t>
            </a:r>
          </a:p>
        </p:txBody>
      </p:sp>
      <p:sp>
        <p:nvSpPr>
          <p:cNvPr id="804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INITIALIZE-SINGLE-SOURCE(</a:t>
            </a:r>
            <a:r>
              <a:rPr lang="en-US" altLang="en-US" dirty="0">
                <a:latin typeface="Comic Sans MS" panose="030F0702030302020204" pitchFamily="66" charset="0"/>
              </a:rPr>
              <a:t>V, s</a:t>
            </a:r>
            <a:r>
              <a:rPr lang="en-US" altLang="en-US" dirty="0"/>
              <a:t>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K ←  </a:t>
            </a:r>
            <a:r>
              <a:rPr lang="en-US" altLang="en-US" dirty="0">
                <a:sym typeface="Symbol" panose="05050102010706020507" pitchFamily="18" charset="2"/>
              </a:rPr>
              <a:t> 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Q ← V[G]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</a:t>
            </a:r>
            <a:r>
              <a:rPr lang="en-US" altLang="en-US" b="1" dirty="0"/>
              <a:t>while </a:t>
            </a:r>
            <a:r>
              <a:rPr lang="en-US" altLang="en-US" dirty="0"/>
              <a:t>Q </a:t>
            </a:r>
            <a:r>
              <a:rPr lang="en-US" altLang="en-US" dirty="0">
                <a:sym typeface="Symbol" panose="05050102010706020507" pitchFamily="18" charset="2"/>
              </a:rPr>
              <a:t>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</a:t>
            </a:r>
            <a:endParaRPr lang="en-US" altLang="en-US" b="1" dirty="0"/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</a:t>
            </a:r>
            <a:r>
              <a:rPr lang="en-US" altLang="en-US" b="1" dirty="0"/>
              <a:t>do</a:t>
            </a:r>
            <a:r>
              <a:rPr lang="en-US" altLang="en-US" dirty="0"/>
              <a:t> </a:t>
            </a:r>
            <a:r>
              <a:rPr lang="en-US" altLang="en-US" dirty="0">
                <a:latin typeface="Comic Sans MS" panose="030F0702030302020204" pitchFamily="66" charset="0"/>
              </a:rPr>
              <a:t>u</a:t>
            </a:r>
            <a:r>
              <a:rPr lang="en-US" altLang="en-US" dirty="0"/>
              <a:t> ← EXTRACT-MIN(Q)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K ← K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{</a:t>
            </a:r>
            <a:r>
              <a:rPr lang="en-US" altLang="en-US" dirty="0">
                <a:latin typeface="Comic Sans MS" panose="030F0702030302020204" pitchFamily="66" charset="0"/>
              </a:rPr>
              <a:t>u</a:t>
            </a:r>
            <a:r>
              <a:rPr lang="en-US" altLang="en-US" dirty="0"/>
              <a:t>} 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</a:t>
            </a:r>
            <a:r>
              <a:rPr lang="en-US" altLang="en-US" b="1" dirty="0"/>
              <a:t>for </a:t>
            </a:r>
            <a:r>
              <a:rPr lang="en-US" altLang="en-US" dirty="0"/>
              <a:t>each vertex </a:t>
            </a:r>
            <a:r>
              <a:rPr lang="en-US" altLang="en-US" dirty="0">
                <a:latin typeface="Comic Sans MS" panose="030F0702030302020204" pitchFamily="66" charset="0"/>
              </a:rPr>
              <a:t>v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</a:t>
            </a:r>
            <a:r>
              <a:rPr lang="en-US" altLang="en-US" dirty="0">
                <a:latin typeface="Comic Sans MS" panose="030F0702030302020204" pitchFamily="66" charset="0"/>
              </a:rPr>
              <a:t> </a:t>
            </a:r>
            <a:r>
              <a:rPr lang="en-US" altLang="en-US" dirty="0" err="1">
                <a:latin typeface="Comic Sans MS" panose="030F0702030302020204" pitchFamily="66" charset="0"/>
              </a:rPr>
              <a:t>Adj</a:t>
            </a:r>
            <a:r>
              <a:rPr lang="en-US" altLang="en-US" dirty="0">
                <a:latin typeface="Comic Sans MS" panose="030F0702030302020204" pitchFamily="66" charset="0"/>
              </a:rPr>
              <a:t>[u]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      </a:t>
            </a:r>
            <a:r>
              <a:rPr lang="en-US" altLang="en-US" b="1" dirty="0"/>
              <a:t>do </a:t>
            </a:r>
            <a:r>
              <a:rPr lang="en-US" altLang="en-US" dirty="0"/>
              <a:t>RELAX(</a:t>
            </a:r>
            <a:r>
              <a:rPr lang="en-US" altLang="en-US" dirty="0">
                <a:latin typeface="Comic Sans MS" panose="030F0702030302020204" pitchFamily="66" charset="0"/>
              </a:rPr>
              <a:t>u, v, w</a:t>
            </a:r>
            <a:r>
              <a:rPr lang="en-US" altLang="en-US" dirty="0"/>
              <a:t>)</a:t>
            </a:r>
          </a:p>
        </p:txBody>
      </p:sp>
      <p:grpSp>
        <p:nvGrpSpPr>
          <p:cNvPr id="14341" name="Group 4"/>
          <p:cNvGrpSpPr>
            <a:grpSpLocks/>
          </p:cNvGrpSpPr>
          <p:nvPr/>
        </p:nvGrpSpPr>
        <p:grpSpPr bwMode="auto">
          <a:xfrm>
            <a:off x="6099175" y="1090613"/>
            <a:ext cx="2882900" cy="2528887"/>
            <a:chOff x="1370" y="1413"/>
            <a:chExt cx="1816" cy="1593"/>
          </a:xfrm>
        </p:grpSpPr>
        <p:sp>
          <p:nvSpPr>
            <p:cNvPr id="14379" name="Oval 5"/>
            <p:cNvSpPr>
              <a:spLocks noChangeArrowheads="1"/>
            </p:cNvSpPr>
            <p:nvPr/>
          </p:nvSpPr>
          <p:spPr bwMode="auto">
            <a:xfrm>
              <a:off x="1547" y="2084"/>
              <a:ext cx="266" cy="265"/>
            </a:xfrm>
            <a:prstGeom prst="ellipse">
              <a:avLst/>
            </a:prstGeom>
            <a:solidFill>
              <a:srgbClr val="EAEAEA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380" name="Oval 6"/>
            <p:cNvSpPr>
              <a:spLocks noChangeArrowheads="1"/>
            </p:cNvSpPr>
            <p:nvPr/>
          </p:nvSpPr>
          <p:spPr bwMode="auto">
            <a:xfrm>
              <a:off x="1976" y="161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381" name="Oval 7"/>
            <p:cNvSpPr>
              <a:spLocks noChangeArrowheads="1"/>
            </p:cNvSpPr>
            <p:nvPr/>
          </p:nvSpPr>
          <p:spPr bwMode="auto">
            <a:xfrm>
              <a:off x="2808" y="161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382" name="Oval 8"/>
            <p:cNvSpPr>
              <a:spLocks noChangeArrowheads="1"/>
            </p:cNvSpPr>
            <p:nvPr/>
          </p:nvSpPr>
          <p:spPr bwMode="auto">
            <a:xfrm>
              <a:off x="1976" y="255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4383" name="Oval 9"/>
            <p:cNvSpPr>
              <a:spLocks noChangeArrowheads="1"/>
            </p:cNvSpPr>
            <p:nvPr/>
          </p:nvSpPr>
          <p:spPr bwMode="auto">
            <a:xfrm>
              <a:off x="2808" y="255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4384" name="Line 10"/>
            <p:cNvSpPr>
              <a:spLocks noChangeShapeType="1"/>
            </p:cNvSpPr>
            <p:nvPr/>
          </p:nvSpPr>
          <p:spPr bwMode="auto">
            <a:xfrm flipV="1">
              <a:off x="1754" y="1846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Line 11"/>
            <p:cNvSpPr>
              <a:spLocks noChangeShapeType="1"/>
            </p:cNvSpPr>
            <p:nvPr/>
          </p:nvSpPr>
          <p:spPr bwMode="auto">
            <a:xfrm>
              <a:off x="1755" y="2314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Text Box 12"/>
            <p:cNvSpPr txBox="1">
              <a:spLocks noChangeArrowheads="1"/>
            </p:cNvSpPr>
            <p:nvPr/>
          </p:nvSpPr>
          <p:spPr bwMode="auto">
            <a:xfrm>
              <a:off x="1667" y="1819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4387" name="Text Box 13"/>
            <p:cNvSpPr txBox="1">
              <a:spLocks noChangeArrowheads="1"/>
            </p:cNvSpPr>
            <p:nvPr/>
          </p:nvSpPr>
          <p:spPr bwMode="auto">
            <a:xfrm>
              <a:off x="2419" y="148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388" name="Text Box 14"/>
            <p:cNvSpPr txBox="1">
              <a:spLocks noChangeArrowheads="1"/>
            </p:cNvSpPr>
            <p:nvPr/>
          </p:nvSpPr>
          <p:spPr bwMode="auto">
            <a:xfrm>
              <a:off x="1744" y="2381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4389" name="Text Box 15"/>
            <p:cNvSpPr txBox="1">
              <a:spLocks noChangeArrowheads="1"/>
            </p:cNvSpPr>
            <p:nvPr/>
          </p:nvSpPr>
          <p:spPr bwMode="auto">
            <a:xfrm>
              <a:off x="2439" y="2661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390" name="Text Box 16"/>
            <p:cNvSpPr txBox="1">
              <a:spLocks noChangeArrowheads="1"/>
            </p:cNvSpPr>
            <p:nvPr/>
          </p:nvSpPr>
          <p:spPr bwMode="auto">
            <a:xfrm>
              <a:off x="1370" y="2096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4391" name="Text Box 17"/>
            <p:cNvSpPr txBox="1">
              <a:spLocks noChangeArrowheads="1"/>
            </p:cNvSpPr>
            <p:nvPr/>
          </p:nvSpPr>
          <p:spPr bwMode="auto">
            <a:xfrm>
              <a:off x="2031" y="1413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4392" name="Text Box 18"/>
            <p:cNvSpPr txBox="1">
              <a:spLocks noChangeArrowheads="1"/>
            </p:cNvSpPr>
            <p:nvPr/>
          </p:nvSpPr>
          <p:spPr bwMode="auto">
            <a:xfrm>
              <a:off x="2853" y="141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4393" name="Text Box 19"/>
            <p:cNvSpPr txBox="1">
              <a:spLocks noChangeArrowheads="1"/>
            </p:cNvSpPr>
            <p:nvPr/>
          </p:nvSpPr>
          <p:spPr bwMode="auto">
            <a:xfrm>
              <a:off x="2015" y="277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4394" name="Text Box 20"/>
            <p:cNvSpPr txBox="1">
              <a:spLocks noChangeArrowheads="1"/>
            </p:cNvSpPr>
            <p:nvPr/>
          </p:nvSpPr>
          <p:spPr bwMode="auto">
            <a:xfrm>
              <a:off x="2869" y="277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4395" name="Line 21"/>
            <p:cNvSpPr>
              <a:spLocks noChangeShapeType="1"/>
            </p:cNvSpPr>
            <p:nvPr/>
          </p:nvSpPr>
          <p:spPr bwMode="auto">
            <a:xfrm flipV="1">
              <a:off x="2246" y="2691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Line 22"/>
            <p:cNvSpPr>
              <a:spLocks noChangeShapeType="1"/>
            </p:cNvSpPr>
            <p:nvPr/>
          </p:nvSpPr>
          <p:spPr bwMode="auto">
            <a:xfrm flipV="1">
              <a:off x="2177" y="1837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Line 23"/>
            <p:cNvSpPr>
              <a:spLocks noChangeShapeType="1"/>
            </p:cNvSpPr>
            <p:nvPr/>
          </p:nvSpPr>
          <p:spPr bwMode="auto">
            <a:xfrm flipH="1" flipV="1">
              <a:off x="1799" y="2265"/>
              <a:ext cx="1031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Text Box 24"/>
            <p:cNvSpPr txBox="1">
              <a:spLocks noChangeArrowheads="1"/>
            </p:cNvSpPr>
            <p:nvPr/>
          </p:nvSpPr>
          <p:spPr bwMode="auto">
            <a:xfrm>
              <a:off x="1864" y="202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399" name="Text Box 25"/>
            <p:cNvSpPr txBox="1">
              <a:spLocks noChangeArrowheads="1"/>
            </p:cNvSpPr>
            <p:nvPr/>
          </p:nvSpPr>
          <p:spPr bwMode="auto">
            <a:xfrm>
              <a:off x="2165" y="204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4400" name="Text Box 26"/>
            <p:cNvSpPr txBox="1">
              <a:spLocks noChangeArrowheads="1"/>
            </p:cNvSpPr>
            <p:nvPr/>
          </p:nvSpPr>
          <p:spPr bwMode="auto">
            <a:xfrm>
              <a:off x="2578" y="1813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4401" name="Text Box 27"/>
            <p:cNvSpPr txBox="1">
              <a:spLocks noChangeArrowheads="1"/>
            </p:cNvSpPr>
            <p:nvPr/>
          </p:nvSpPr>
          <p:spPr bwMode="auto">
            <a:xfrm>
              <a:off x="2478" y="235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4402" name="Freeform 28"/>
            <p:cNvSpPr>
              <a:spLocks/>
            </p:cNvSpPr>
            <p:nvPr/>
          </p:nvSpPr>
          <p:spPr bwMode="auto">
            <a:xfrm rot="5400000">
              <a:off x="1820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29"/>
            <p:cNvSpPr>
              <a:spLocks/>
            </p:cNvSpPr>
            <p:nvPr/>
          </p:nvSpPr>
          <p:spPr bwMode="auto">
            <a:xfrm rot="5400000" flipH="1" flipV="1">
              <a:off x="1692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Line 30"/>
            <p:cNvSpPr>
              <a:spLocks noChangeShapeType="1"/>
            </p:cNvSpPr>
            <p:nvPr/>
          </p:nvSpPr>
          <p:spPr bwMode="auto">
            <a:xfrm flipV="1">
              <a:off x="2264" y="1749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Text Box 31"/>
            <p:cNvSpPr txBox="1">
              <a:spLocks noChangeArrowheads="1"/>
            </p:cNvSpPr>
            <p:nvPr/>
          </p:nvSpPr>
          <p:spPr bwMode="auto">
            <a:xfrm>
              <a:off x="2698" y="202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406" name="Text Box 32"/>
            <p:cNvSpPr txBox="1">
              <a:spLocks noChangeArrowheads="1"/>
            </p:cNvSpPr>
            <p:nvPr/>
          </p:nvSpPr>
          <p:spPr bwMode="auto">
            <a:xfrm>
              <a:off x="2999" y="204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407" name="Freeform 33"/>
            <p:cNvSpPr>
              <a:spLocks/>
            </p:cNvSpPr>
            <p:nvPr/>
          </p:nvSpPr>
          <p:spPr bwMode="auto">
            <a:xfrm rot="5400000">
              <a:off x="2654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34"/>
            <p:cNvSpPr>
              <a:spLocks/>
            </p:cNvSpPr>
            <p:nvPr/>
          </p:nvSpPr>
          <p:spPr bwMode="auto">
            <a:xfrm rot="5400000" flipH="1" flipV="1">
              <a:off x="2526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6099175" y="3576638"/>
            <a:ext cx="2882900" cy="2528887"/>
            <a:chOff x="1370" y="1413"/>
            <a:chExt cx="1816" cy="1593"/>
          </a:xfrm>
        </p:grpSpPr>
        <p:sp>
          <p:nvSpPr>
            <p:cNvPr id="14349" name="Oval 36"/>
            <p:cNvSpPr>
              <a:spLocks noChangeArrowheads="1"/>
            </p:cNvSpPr>
            <p:nvPr/>
          </p:nvSpPr>
          <p:spPr bwMode="auto">
            <a:xfrm>
              <a:off x="1547" y="2084"/>
              <a:ext cx="266" cy="265"/>
            </a:xfrm>
            <a:prstGeom prst="ellipse">
              <a:avLst/>
            </a:prstGeom>
            <a:solidFill>
              <a:schemeClr val="tx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4350" name="Oval 37"/>
            <p:cNvSpPr>
              <a:spLocks noChangeArrowheads="1"/>
            </p:cNvSpPr>
            <p:nvPr/>
          </p:nvSpPr>
          <p:spPr bwMode="auto">
            <a:xfrm>
              <a:off x="1976" y="161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351" name="Oval 38"/>
            <p:cNvSpPr>
              <a:spLocks noChangeArrowheads="1"/>
            </p:cNvSpPr>
            <p:nvPr/>
          </p:nvSpPr>
          <p:spPr bwMode="auto">
            <a:xfrm>
              <a:off x="2808" y="161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352" name="Oval 39"/>
            <p:cNvSpPr>
              <a:spLocks noChangeArrowheads="1"/>
            </p:cNvSpPr>
            <p:nvPr/>
          </p:nvSpPr>
          <p:spPr bwMode="auto">
            <a:xfrm>
              <a:off x="1976" y="255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4353" name="Oval 40"/>
            <p:cNvSpPr>
              <a:spLocks noChangeArrowheads="1"/>
            </p:cNvSpPr>
            <p:nvPr/>
          </p:nvSpPr>
          <p:spPr bwMode="auto">
            <a:xfrm>
              <a:off x="2808" y="255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4354" name="Line 41"/>
            <p:cNvSpPr>
              <a:spLocks noChangeShapeType="1"/>
            </p:cNvSpPr>
            <p:nvPr/>
          </p:nvSpPr>
          <p:spPr bwMode="auto">
            <a:xfrm flipV="1">
              <a:off x="1754" y="1846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Line 42"/>
            <p:cNvSpPr>
              <a:spLocks noChangeShapeType="1"/>
            </p:cNvSpPr>
            <p:nvPr/>
          </p:nvSpPr>
          <p:spPr bwMode="auto">
            <a:xfrm>
              <a:off x="1755" y="2314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Text Box 43"/>
            <p:cNvSpPr txBox="1">
              <a:spLocks noChangeArrowheads="1"/>
            </p:cNvSpPr>
            <p:nvPr/>
          </p:nvSpPr>
          <p:spPr bwMode="auto">
            <a:xfrm>
              <a:off x="1667" y="1819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4357" name="Text Box 44"/>
            <p:cNvSpPr txBox="1">
              <a:spLocks noChangeArrowheads="1"/>
            </p:cNvSpPr>
            <p:nvPr/>
          </p:nvSpPr>
          <p:spPr bwMode="auto">
            <a:xfrm>
              <a:off x="2419" y="148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358" name="Text Box 45"/>
            <p:cNvSpPr txBox="1">
              <a:spLocks noChangeArrowheads="1"/>
            </p:cNvSpPr>
            <p:nvPr/>
          </p:nvSpPr>
          <p:spPr bwMode="auto">
            <a:xfrm>
              <a:off x="1744" y="2381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4359" name="Text Box 46"/>
            <p:cNvSpPr txBox="1">
              <a:spLocks noChangeArrowheads="1"/>
            </p:cNvSpPr>
            <p:nvPr/>
          </p:nvSpPr>
          <p:spPr bwMode="auto">
            <a:xfrm>
              <a:off x="2439" y="2661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360" name="Text Box 47"/>
            <p:cNvSpPr txBox="1">
              <a:spLocks noChangeArrowheads="1"/>
            </p:cNvSpPr>
            <p:nvPr/>
          </p:nvSpPr>
          <p:spPr bwMode="auto">
            <a:xfrm>
              <a:off x="1370" y="2096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4361" name="Text Box 48"/>
            <p:cNvSpPr txBox="1">
              <a:spLocks noChangeArrowheads="1"/>
            </p:cNvSpPr>
            <p:nvPr/>
          </p:nvSpPr>
          <p:spPr bwMode="auto">
            <a:xfrm>
              <a:off x="2031" y="1413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4362" name="Text Box 49"/>
            <p:cNvSpPr txBox="1">
              <a:spLocks noChangeArrowheads="1"/>
            </p:cNvSpPr>
            <p:nvPr/>
          </p:nvSpPr>
          <p:spPr bwMode="auto">
            <a:xfrm>
              <a:off x="2853" y="141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4363" name="Text Box 50"/>
            <p:cNvSpPr txBox="1">
              <a:spLocks noChangeArrowheads="1"/>
            </p:cNvSpPr>
            <p:nvPr/>
          </p:nvSpPr>
          <p:spPr bwMode="auto">
            <a:xfrm>
              <a:off x="2015" y="277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4364" name="Text Box 51"/>
            <p:cNvSpPr txBox="1">
              <a:spLocks noChangeArrowheads="1"/>
            </p:cNvSpPr>
            <p:nvPr/>
          </p:nvSpPr>
          <p:spPr bwMode="auto">
            <a:xfrm>
              <a:off x="2869" y="277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4365" name="Line 52"/>
            <p:cNvSpPr>
              <a:spLocks noChangeShapeType="1"/>
            </p:cNvSpPr>
            <p:nvPr/>
          </p:nvSpPr>
          <p:spPr bwMode="auto">
            <a:xfrm flipV="1">
              <a:off x="2246" y="2691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Line 53"/>
            <p:cNvSpPr>
              <a:spLocks noChangeShapeType="1"/>
            </p:cNvSpPr>
            <p:nvPr/>
          </p:nvSpPr>
          <p:spPr bwMode="auto">
            <a:xfrm flipV="1">
              <a:off x="2177" y="1837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Line 54"/>
            <p:cNvSpPr>
              <a:spLocks noChangeShapeType="1"/>
            </p:cNvSpPr>
            <p:nvPr/>
          </p:nvSpPr>
          <p:spPr bwMode="auto">
            <a:xfrm flipH="1" flipV="1">
              <a:off x="1799" y="2265"/>
              <a:ext cx="1031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Text Box 55"/>
            <p:cNvSpPr txBox="1">
              <a:spLocks noChangeArrowheads="1"/>
            </p:cNvSpPr>
            <p:nvPr/>
          </p:nvSpPr>
          <p:spPr bwMode="auto">
            <a:xfrm>
              <a:off x="1864" y="202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369" name="Text Box 56"/>
            <p:cNvSpPr txBox="1">
              <a:spLocks noChangeArrowheads="1"/>
            </p:cNvSpPr>
            <p:nvPr/>
          </p:nvSpPr>
          <p:spPr bwMode="auto">
            <a:xfrm>
              <a:off x="2165" y="204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4370" name="Text Box 57"/>
            <p:cNvSpPr txBox="1">
              <a:spLocks noChangeArrowheads="1"/>
            </p:cNvSpPr>
            <p:nvPr/>
          </p:nvSpPr>
          <p:spPr bwMode="auto">
            <a:xfrm>
              <a:off x="2578" y="1813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4371" name="Text Box 58"/>
            <p:cNvSpPr txBox="1">
              <a:spLocks noChangeArrowheads="1"/>
            </p:cNvSpPr>
            <p:nvPr/>
          </p:nvSpPr>
          <p:spPr bwMode="auto">
            <a:xfrm>
              <a:off x="2478" y="235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4372" name="Freeform 59"/>
            <p:cNvSpPr>
              <a:spLocks/>
            </p:cNvSpPr>
            <p:nvPr/>
          </p:nvSpPr>
          <p:spPr bwMode="auto">
            <a:xfrm rot="5400000">
              <a:off x="1820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60"/>
            <p:cNvSpPr>
              <a:spLocks/>
            </p:cNvSpPr>
            <p:nvPr/>
          </p:nvSpPr>
          <p:spPr bwMode="auto">
            <a:xfrm rot="5400000" flipH="1" flipV="1">
              <a:off x="1692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Line 61"/>
            <p:cNvSpPr>
              <a:spLocks noChangeShapeType="1"/>
            </p:cNvSpPr>
            <p:nvPr/>
          </p:nvSpPr>
          <p:spPr bwMode="auto">
            <a:xfrm flipV="1">
              <a:off x="2264" y="1749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Text Box 62"/>
            <p:cNvSpPr txBox="1">
              <a:spLocks noChangeArrowheads="1"/>
            </p:cNvSpPr>
            <p:nvPr/>
          </p:nvSpPr>
          <p:spPr bwMode="auto">
            <a:xfrm>
              <a:off x="2698" y="202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376" name="Text Box 63"/>
            <p:cNvSpPr txBox="1">
              <a:spLocks noChangeArrowheads="1"/>
            </p:cNvSpPr>
            <p:nvPr/>
          </p:nvSpPr>
          <p:spPr bwMode="auto">
            <a:xfrm>
              <a:off x="2999" y="204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377" name="Freeform 64"/>
            <p:cNvSpPr>
              <a:spLocks/>
            </p:cNvSpPr>
            <p:nvPr/>
          </p:nvSpPr>
          <p:spPr bwMode="auto">
            <a:xfrm rot="5400000">
              <a:off x="2654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65"/>
            <p:cNvSpPr>
              <a:spLocks/>
            </p:cNvSpPr>
            <p:nvPr/>
          </p:nvSpPr>
          <p:spPr bwMode="auto">
            <a:xfrm rot="5400000" flipH="1" flipV="1">
              <a:off x="2526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6699250" y="3962400"/>
            <a:ext cx="738188" cy="695325"/>
            <a:chOff x="4220" y="2496"/>
            <a:chExt cx="465" cy="438"/>
          </a:xfrm>
        </p:grpSpPr>
        <p:sp>
          <p:nvSpPr>
            <p:cNvPr id="14347" name="Line 67"/>
            <p:cNvSpPr>
              <a:spLocks noChangeShapeType="1"/>
            </p:cNvSpPr>
            <p:nvPr/>
          </p:nvSpPr>
          <p:spPr bwMode="auto">
            <a:xfrm flipV="1">
              <a:off x="4220" y="2676"/>
              <a:ext cx="282" cy="258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Oval 68"/>
            <p:cNvSpPr>
              <a:spLocks noChangeArrowheads="1"/>
            </p:cNvSpPr>
            <p:nvPr/>
          </p:nvSpPr>
          <p:spPr bwMode="auto">
            <a:xfrm>
              <a:off x="4465" y="2496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6727825" y="5010150"/>
            <a:ext cx="709613" cy="752475"/>
            <a:chOff x="4238" y="3156"/>
            <a:chExt cx="447" cy="474"/>
          </a:xfrm>
        </p:grpSpPr>
        <p:sp>
          <p:nvSpPr>
            <p:cNvPr id="14345" name="Line 70"/>
            <p:cNvSpPr>
              <a:spLocks noChangeShapeType="1"/>
            </p:cNvSpPr>
            <p:nvPr/>
          </p:nvSpPr>
          <p:spPr bwMode="auto">
            <a:xfrm rot="5400000" flipV="1">
              <a:off x="4226" y="3168"/>
              <a:ext cx="282" cy="258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Oval 71"/>
            <p:cNvSpPr>
              <a:spLocks noChangeArrowheads="1"/>
            </p:cNvSpPr>
            <p:nvPr/>
          </p:nvSpPr>
          <p:spPr bwMode="auto">
            <a:xfrm>
              <a:off x="4465" y="3432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99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5364" name="Group 3"/>
          <p:cNvGrpSpPr>
            <a:grpSpLocks/>
          </p:cNvGrpSpPr>
          <p:nvPr/>
        </p:nvGrpSpPr>
        <p:grpSpPr bwMode="auto">
          <a:xfrm>
            <a:off x="869950" y="1204913"/>
            <a:ext cx="2882900" cy="2528887"/>
            <a:chOff x="200" y="759"/>
            <a:chExt cx="1816" cy="1593"/>
          </a:xfrm>
        </p:grpSpPr>
        <p:sp>
          <p:nvSpPr>
            <p:cNvPr id="15493" name="Oval 4"/>
            <p:cNvSpPr>
              <a:spLocks noChangeArrowheads="1"/>
            </p:cNvSpPr>
            <p:nvPr/>
          </p:nvSpPr>
          <p:spPr bwMode="auto">
            <a:xfrm>
              <a:off x="377" y="1430"/>
              <a:ext cx="266" cy="26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5494" name="Oval 5"/>
            <p:cNvSpPr>
              <a:spLocks noChangeArrowheads="1"/>
            </p:cNvSpPr>
            <p:nvPr/>
          </p:nvSpPr>
          <p:spPr bwMode="auto">
            <a:xfrm>
              <a:off x="806" y="96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15495" name="Oval 6"/>
            <p:cNvSpPr>
              <a:spLocks noChangeArrowheads="1"/>
            </p:cNvSpPr>
            <p:nvPr/>
          </p:nvSpPr>
          <p:spPr bwMode="auto">
            <a:xfrm>
              <a:off x="1638" y="96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5496" name="Oval 7"/>
            <p:cNvSpPr>
              <a:spLocks noChangeArrowheads="1"/>
            </p:cNvSpPr>
            <p:nvPr/>
          </p:nvSpPr>
          <p:spPr bwMode="auto">
            <a:xfrm>
              <a:off x="806" y="1896"/>
              <a:ext cx="266" cy="265"/>
            </a:xfrm>
            <a:prstGeom prst="ellipse">
              <a:avLst/>
            </a:prstGeom>
            <a:solidFill>
              <a:schemeClr val="tx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bg1"/>
                  </a:solidFill>
                  <a:sym typeface="Symbol" panose="05050102010706020507" pitchFamily="18" charset="2"/>
                </a:rPr>
                <a:t>5</a:t>
              </a:r>
              <a:endParaRPr lang="en-US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15497" name="Oval 8"/>
            <p:cNvSpPr>
              <a:spLocks noChangeArrowheads="1"/>
            </p:cNvSpPr>
            <p:nvPr/>
          </p:nvSpPr>
          <p:spPr bwMode="auto">
            <a:xfrm>
              <a:off x="1638" y="1896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498" name="Line 9"/>
            <p:cNvSpPr>
              <a:spLocks noChangeShapeType="1"/>
            </p:cNvSpPr>
            <p:nvPr/>
          </p:nvSpPr>
          <p:spPr bwMode="auto">
            <a:xfrm flipV="1">
              <a:off x="584" y="1192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9" name="Line 10"/>
            <p:cNvSpPr>
              <a:spLocks noChangeShapeType="1"/>
            </p:cNvSpPr>
            <p:nvPr/>
          </p:nvSpPr>
          <p:spPr bwMode="auto">
            <a:xfrm>
              <a:off x="585" y="1660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0" name="Text Box 11"/>
            <p:cNvSpPr txBox="1">
              <a:spLocks noChangeArrowheads="1"/>
            </p:cNvSpPr>
            <p:nvPr/>
          </p:nvSpPr>
          <p:spPr bwMode="auto">
            <a:xfrm>
              <a:off x="497" y="1165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501" name="Text Box 12"/>
            <p:cNvSpPr txBox="1">
              <a:spLocks noChangeArrowheads="1"/>
            </p:cNvSpPr>
            <p:nvPr/>
          </p:nvSpPr>
          <p:spPr bwMode="auto">
            <a:xfrm>
              <a:off x="1249" y="82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502" name="Text Box 13"/>
            <p:cNvSpPr txBox="1">
              <a:spLocks noChangeArrowheads="1"/>
            </p:cNvSpPr>
            <p:nvPr/>
          </p:nvSpPr>
          <p:spPr bwMode="auto">
            <a:xfrm>
              <a:off x="574" y="172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5503" name="Text Box 14"/>
            <p:cNvSpPr txBox="1">
              <a:spLocks noChangeArrowheads="1"/>
            </p:cNvSpPr>
            <p:nvPr/>
          </p:nvSpPr>
          <p:spPr bwMode="auto">
            <a:xfrm>
              <a:off x="1269" y="200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504" name="Text Box 15"/>
            <p:cNvSpPr txBox="1">
              <a:spLocks noChangeArrowheads="1"/>
            </p:cNvSpPr>
            <p:nvPr/>
          </p:nvSpPr>
          <p:spPr bwMode="auto">
            <a:xfrm>
              <a:off x="200" y="144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5505" name="Text Box 16"/>
            <p:cNvSpPr txBox="1">
              <a:spLocks noChangeArrowheads="1"/>
            </p:cNvSpPr>
            <p:nvPr/>
          </p:nvSpPr>
          <p:spPr bwMode="auto">
            <a:xfrm>
              <a:off x="861" y="759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5506" name="Text Box 17"/>
            <p:cNvSpPr txBox="1">
              <a:spLocks noChangeArrowheads="1"/>
            </p:cNvSpPr>
            <p:nvPr/>
          </p:nvSpPr>
          <p:spPr bwMode="auto">
            <a:xfrm>
              <a:off x="1683" y="75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5507" name="Text Box 18"/>
            <p:cNvSpPr txBox="1">
              <a:spLocks noChangeArrowheads="1"/>
            </p:cNvSpPr>
            <p:nvPr/>
          </p:nvSpPr>
          <p:spPr bwMode="auto">
            <a:xfrm>
              <a:off x="845" y="212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5508" name="Text Box 19"/>
            <p:cNvSpPr txBox="1">
              <a:spLocks noChangeArrowheads="1"/>
            </p:cNvSpPr>
            <p:nvPr/>
          </p:nvSpPr>
          <p:spPr bwMode="auto">
            <a:xfrm>
              <a:off x="1699" y="212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5509" name="Line 20"/>
            <p:cNvSpPr>
              <a:spLocks noChangeShapeType="1"/>
            </p:cNvSpPr>
            <p:nvPr/>
          </p:nvSpPr>
          <p:spPr bwMode="auto">
            <a:xfrm flipV="1">
              <a:off x="1076" y="2037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0" name="Line 21"/>
            <p:cNvSpPr>
              <a:spLocks noChangeShapeType="1"/>
            </p:cNvSpPr>
            <p:nvPr/>
          </p:nvSpPr>
          <p:spPr bwMode="auto">
            <a:xfrm flipV="1">
              <a:off x="1007" y="1183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1" name="Line 22"/>
            <p:cNvSpPr>
              <a:spLocks noChangeShapeType="1"/>
            </p:cNvSpPr>
            <p:nvPr/>
          </p:nvSpPr>
          <p:spPr bwMode="auto">
            <a:xfrm flipH="1" flipV="1">
              <a:off x="629" y="1611"/>
              <a:ext cx="1031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2" name="Text Box 23"/>
            <p:cNvSpPr txBox="1">
              <a:spLocks noChangeArrowheads="1"/>
            </p:cNvSpPr>
            <p:nvPr/>
          </p:nvSpPr>
          <p:spPr bwMode="auto">
            <a:xfrm>
              <a:off x="694" y="1375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513" name="Text Box 24"/>
            <p:cNvSpPr txBox="1">
              <a:spLocks noChangeArrowheads="1"/>
            </p:cNvSpPr>
            <p:nvPr/>
          </p:nvSpPr>
          <p:spPr bwMode="auto">
            <a:xfrm>
              <a:off x="995" y="1395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514" name="Text Box 25"/>
            <p:cNvSpPr txBox="1">
              <a:spLocks noChangeArrowheads="1"/>
            </p:cNvSpPr>
            <p:nvPr/>
          </p:nvSpPr>
          <p:spPr bwMode="auto">
            <a:xfrm>
              <a:off x="1408" y="115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5515" name="Text Box 26"/>
            <p:cNvSpPr txBox="1">
              <a:spLocks noChangeArrowheads="1"/>
            </p:cNvSpPr>
            <p:nvPr/>
          </p:nvSpPr>
          <p:spPr bwMode="auto">
            <a:xfrm>
              <a:off x="1308" y="1704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5516" name="Freeform 27"/>
            <p:cNvSpPr>
              <a:spLocks/>
            </p:cNvSpPr>
            <p:nvPr/>
          </p:nvSpPr>
          <p:spPr bwMode="auto">
            <a:xfrm rot="5400000">
              <a:off x="650" y="1537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7" name="Freeform 28"/>
            <p:cNvSpPr>
              <a:spLocks/>
            </p:cNvSpPr>
            <p:nvPr/>
          </p:nvSpPr>
          <p:spPr bwMode="auto">
            <a:xfrm rot="5400000" flipH="1" flipV="1">
              <a:off x="522" y="1537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8" name="Line 29"/>
            <p:cNvSpPr>
              <a:spLocks noChangeShapeType="1"/>
            </p:cNvSpPr>
            <p:nvPr/>
          </p:nvSpPr>
          <p:spPr bwMode="auto">
            <a:xfrm flipV="1">
              <a:off x="1094" y="1095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9" name="Text Box 30"/>
            <p:cNvSpPr txBox="1">
              <a:spLocks noChangeArrowheads="1"/>
            </p:cNvSpPr>
            <p:nvPr/>
          </p:nvSpPr>
          <p:spPr bwMode="auto">
            <a:xfrm>
              <a:off x="1528" y="1375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5520" name="Text Box 31"/>
            <p:cNvSpPr txBox="1">
              <a:spLocks noChangeArrowheads="1"/>
            </p:cNvSpPr>
            <p:nvPr/>
          </p:nvSpPr>
          <p:spPr bwMode="auto">
            <a:xfrm>
              <a:off x="1829" y="1395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5521" name="Freeform 32"/>
            <p:cNvSpPr>
              <a:spLocks/>
            </p:cNvSpPr>
            <p:nvPr/>
          </p:nvSpPr>
          <p:spPr bwMode="auto">
            <a:xfrm rot="5400000">
              <a:off x="1484" y="1537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2" name="Freeform 33"/>
            <p:cNvSpPr>
              <a:spLocks/>
            </p:cNvSpPr>
            <p:nvPr/>
          </p:nvSpPr>
          <p:spPr bwMode="auto">
            <a:xfrm rot="5400000" flipH="1" flipV="1">
              <a:off x="1356" y="1537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3" name="Line 34"/>
            <p:cNvSpPr>
              <a:spLocks noChangeShapeType="1"/>
            </p:cNvSpPr>
            <p:nvPr/>
          </p:nvSpPr>
          <p:spPr bwMode="auto">
            <a:xfrm rot="5400000" flipV="1">
              <a:off x="584" y="1674"/>
              <a:ext cx="282" cy="258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5923" name="Line 35"/>
          <p:cNvSpPr>
            <a:spLocks noChangeShapeType="1"/>
          </p:cNvSpPr>
          <p:nvPr/>
        </p:nvSpPr>
        <p:spPr bwMode="auto">
          <a:xfrm flipV="1">
            <a:off x="1470025" y="1885950"/>
            <a:ext cx="447675" cy="409575"/>
          </a:xfrm>
          <a:prstGeom prst="line">
            <a:avLst/>
          </a:prstGeom>
          <a:noFill/>
          <a:ln w="57150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1868488" y="1571625"/>
            <a:ext cx="349250" cy="1431925"/>
            <a:chOff x="829" y="1002"/>
            <a:chExt cx="220" cy="902"/>
          </a:xfrm>
        </p:grpSpPr>
        <p:sp>
          <p:nvSpPr>
            <p:cNvPr id="15491" name="Freeform 37"/>
            <p:cNvSpPr>
              <a:spLocks/>
            </p:cNvSpPr>
            <p:nvPr/>
          </p:nvSpPr>
          <p:spPr bwMode="auto">
            <a:xfrm rot="5400000">
              <a:off x="650" y="153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2" name="Oval 38"/>
            <p:cNvSpPr>
              <a:spLocks noChangeArrowheads="1"/>
            </p:cNvSpPr>
            <p:nvPr/>
          </p:nvSpPr>
          <p:spPr bwMode="auto">
            <a:xfrm>
              <a:off x="829" y="1002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805927" name="Line 39"/>
          <p:cNvSpPr>
            <a:spLocks noChangeShapeType="1"/>
          </p:cNvSpPr>
          <p:nvPr/>
        </p:nvSpPr>
        <p:spPr bwMode="auto">
          <a:xfrm flipV="1">
            <a:off x="1454150" y="1893888"/>
            <a:ext cx="447675" cy="409575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2160588" y="1571625"/>
            <a:ext cx="1381125" cy="1419225"/>
            <a:chOff x="1013" y="1002"/>
            <a:chExt cx="870" cy="894"/>
          </a:xfrm>
        </p:grpSpPr>
        <p:sp>
          <p:nvSpPr>
            <p:cNvPr id="15489" name="Line 41"/>
            <p:cNvSpPr>
              <a:spLocks noChangeShapeType="1"/>
            </p:cNvSpPr>
            <p:nvPr/>
          </p:nvSpPr>
          <p:spPr bwMode="auto">
            <a:xfrm flipV="1">
              <a:off x="1013" y="1171"/>
              <a:ext cx="670" cy="725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0" name="Oval 42"/>
            <p:cNvSpPr>
              <a:spLocks noChangeArrowheads="1"/>
            </p:cNvSpPr>
            <p:nvPr/>
          </p:nvSpPr>
          <p:spPr bwMode="auto">
            <a:xfrm>
              <a:off x="1663" y="1002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14</a:t>
              </a:r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2279650" y="3048000"/>
            <a:ext cx="1271588" cy="314325"/>
            <a:chOff x="1088" y="1932"/>
            <a:chExt cx="801" cy="198"/>
          </a:xfrm>
        </p:grpSpPr>
        <p:sp>
          <p:nvSpPr>
            <p:cNvPr id="15487" name="Line 44"/>
            <p:cNvSpPr>
              <a:spLocks noChangeShapeType="1"/>
            </p:cNvSpPr>
            <p:nvPr/>
          </p:nvSpPr>
          <p:spPr bwMode="auto">
            <a:xfrm flipV="1">
              <a:off x="1088" y="2037"/>
              <a:ext cx="5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8" name="Oval 45"/>
            <p:cNvSpPr>
              <a:spLocks noChangeArrowheads="1"/>
            </p:cNvSpPr>
            <p:nvPr/>
          </p:nvSpPr>
          <p:spPr bwMode="auto">
            <a:xfrm>
              <a:off x="1669" y="1932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805934" name="Line 46"/>
          <p:cNvSpPr>
            <a:spLocks noChangeShapeType="1"/>
          </p:cNvSpPr>
          <p:nvPr/>
        </p:nvSpPr>
        <p:spPr bwMode="auto">
          <a:xfrm flipV="1">
            <a:off x="6018213" y="1849438"/>
            <a:ext cx="1063625" cy="1150937"/>
          </a:xfrm>
          <a:prstGeom prst="line">
            <a:avLst/>
          </a:prstGeom>
          <a:noFill/>
          <a:ln w="57150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4727575" y="1195388"/>
            <a:ext cx="2882900" cy="2528887"/>
            <a:chOff x="2222" y="813"/>
            <a:chExt cx="1816" cy="1593"/>
          </a:xfrm>
        </p:grpSpPr>
        <p:grpSp>
          <p:nvGrpSpPr>
            <p:cNvPr id="15453" name="Group 48"/>
            <p:cNvGrpSpPr>
              <a:grpSpLocks/>
            </p:cNvGrpSpPr>
            <p:nvPr/>
          </p:nvGrpSpPr>
          <p:grpSpPr bwMode="auto">
            <a:xfrm>
              <a:off x="2222" y="813"/>
              <a:ext cx="1816" cy="1593"/>
              <a:chOff x="200" y="759"/>
              <a:chExt cx="1816" cy="1593"/>
            </a:xfrm>
          </p:grpSpPr>
          <p:sp>
            <p:nvSpPr>
              <p:cNvPr id="15456" name="Oval 49"/>
              <p:cNvSpPr>
                <a:spLocks noChangeArrowheads="1"/>
              </p:cNvSpPr>
              <p:nvPr/>
            </p:nvSpPr>
            <p:spPr bwMode="auto">
              <a:xfrm>
                <a:off x="377" y="1430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15457" name="Oval 50"/>
              <p:cNvSpPr>
                <a:spLocks noChangeArrowheads="1"/>
              </p:cNvSpPr>
              <p:nvPr/>
            </p:nvSpPr>
            <p:spPr bwMode="auto">
              <a:xfrm>
                <a:off x="806" y="965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8</a:t>
                </a:r>
              </a:p>
            </p:txBody>
          </p:sp>
          <p:sp>
            <p:nvSpPr>
              <p:cNvPr id="15458" name="Oval 51"/>
              <p:cNvSpPr>
                <a:spLocks noChangeArrowheads="1"/>
              </p:cNvSpPr>
              <p:nvPr/>
            </p:nvSpPr>
            <p:spPr bwMode="auto">
              <a:xfrm>
                <a:off x="1638" y="965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14</a:t>
                </a:r>
              </a:p>
            </p:txBody>
          </p:sp>
          <p:sp>
            <p:nvSpPr>
              <p:cNvPr id="15459" name="Oval 52"/>
              <p:cNvSpPr>
                <a:spLocks noChangeArrowheads="1"/>
              </p:cNvSpPr>
              <p:nvPr/>
            </p:nvSpPr>
            <p:spPr bwMode="auto">
              <a:xfrm>
                <a:off x="806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5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460" name="Oval 53"/>
              <p:cNvSpPr>
                <a:spLocks noChangeArrowheads="1"/>
              </p:cNvSpPr>
              <p:nvPr/>
            </p:nvSpPr>
            <p:spPr bwMode="auto">
              <a:xfrm>
                <a:off x="1638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7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461" name="Line 54"/>
              <p:cNvSpPr>
                <a:spLocks noChangeShapeType="1"/>
              </p:cNvSpPr>
              <p:nvPr/>
            </p:nvSpPr>
            <p:spPr bwMode="auto">
              <a:xfrm flipV="1">
                <a:off x="584" y="1192"/>
                <a:ext cx="261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2" name="Line 55"/>
              <p:cNvSpPr>
                <a:spLocks noChangeShapeType="1"/>
              </p:cNvSpPr>
              <p:nvPr/>
            </p:nvSpPr>
            <p:spPr bwMode="auto">
              <a:xfrm>
                <a:off x="585" y="1660"/>
                <a:ext cx="256" cy="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3" name="Text Box 56"/>
              <p:cNvSpPr txBox="1">
                <a:spLocks noChangeArrowheads="1"/>
              </p:cNvSpPr>
              <p:nvPr/>
            </p:nvSpPr>
            <p:spPr bwMode="auto">
              <a:xfrm>
                <a:off x="497" y="1165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5464" name="Text Box 57"/>
              <p:cNvSpPr txBox="1">
                <a:spLocks noChangeArrowheads="1"/>
              </p:cNvSpPr>
              <p:nvPr/>
            </p:nvSpPr>
            <p:spPr bwMode="auto">
              <a:xfrm>
                <a:off x="1249" y="82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5465" name="Text Box 58"/>
              <p:cNvSpPr txBox="1">
                <a:spLocks noChangeArrowheads="1"/>
              </p:cNvSpPr>
              <p:nvPr/>
            </p:nvSpPr>
            <p:spPr bwMode="auto">
              <a:xfrm>
                <a:off x="574" y="172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5466" name="Text Box 59"/>
              <p:cNvSpPr txBox="1">
                <a:spLocks noChangeArrowheads="1"/>
              </p:cNvSpPr>
              <p:nvPr/>
            </p:nvSpPr>
            <p:spPr bwMode="auto">
              <a:xfrm>
                <a:off x="1269" y="200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467" name="Text Box 60"/>
              <p:cNvSpPr txBox="1">
                <a:spLocks noChangeArrowheads="1"/>
              </p:cNvSpPr>
              <p:nvPr/>
            </p:nvSpPr>
            <p:spPr bwMode="auto">
              <a:xfrm>
                <a:off x="200" y="144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5468" name="Text Box 61"/>
              <p:cNvSpPr txBox="1">
                <a:spLocks noChangeArrowheads="1"/>
              </p:cNvSpPr>
              <p:nvPr/>
            </p:nvSpPr>
            <p:spPr bwMode="auto">
              <a:xfrm>
                <a:off x="861" y="759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t</a:t>
                </a:r>
              </a:p>
            </p:txBody>
          </p:sp>
          <p:sp>
            <p:nvSpPr>
              <p:cNvPr id="15469" name="Text Box 62"/>
              <p:cNvSpPr txBox="1">
                <a:spLocks noChangeArrowheads="1"/>
              </p:cNvSpPr>
              <p:nvPr/>
            </p:nvSpPr>
            <p:spPr bwMode="auto">
              <a:xfrm>
                <a:off x="1683" y="75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x</a:t>
                </a:r>
              </a:p>
            </p:txBody>
          </p:sp>
          <p:sp>
            <p:nvSpPr>
              <p:cNvPr id="15470" name="Text Box 63"/>
              <p:cNvSpPr txBox="1">
                <a:spLocks noChangeArrowheads="1"/>
              </p:cNvSpPr>
              <p:nvPr/>
            </p:nvSpPr>
            <p:spPr bwMode="auto">
              <a:xfrm>
                <a:off x="845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15471" name="Text Box 64"/>
              <p:cNvSpPr txBox="1">
                <a:spLocks noChangeArrowheads="1"/>
              </p:cNvSpPr>
              <p:nvPr/>
            </p:nvSpPr>
            <p:spPr bwMode="auto">
              <a:xfrm>
                <a:off x="1699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z</a:t>
                </a:r>
              </a:p>
            </p:txBody>
          </p:sp>
          <p:sp>
            <p:nvSpPr>
              <p:cNvPr id="15472" name="Line 65"/>
              <p:cNvSpPr>
                <a:spLocks noChangeShapeType="1"/>
              </p:cNvSpPr>
              <p:nvPr/>
            </p:nvSpPr>
            <p:spPr bwMode="auto">
              <a:xfrm flipV="1">
                <a:off x="1076" y="2037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3" name="Line 66"/>
              <p:cNvSpPr>
                <a:spLocks noChangeShapeType="1"/>
              </p:cNvSpPr>
              <p:nvPr/>
            </p:nvSpPr>
            <p:spPr bwMode="auto">
              <a:xfrm flipV="1">
                <a:off x="1007" y="1183"/>
                <a:ext cx="670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4" name="Line 67"/>
              <p:cNvSpPr>
                <a:spLocks noChangeShapeType="1"/>
              </p:cNvSpPr>
              <p:nvPr/>
            </p:nvSpPr>
            <p:spPr bwMode="auto">
              <a:xfrm flipH="1" flipV="1">
                <a:off x="629" y="1611"/>
                <a:ext cx="1031" cy="3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5" name="Text Box 68"/>
              <p:cNvSpPr txBox="1">
                <a:spLocks noChangeArrowheads="1"/>
              </p:cNvSpPr>
              <p:nvPr/>
            </p:nvSpPr>
            <p:spPr bwMode="auto">
              <a:xfrm>
                <a:off x="694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476" name="Text Box 69"/>
              <p:cNvSpPr txBox="1">
                <a:spLocks noChangeArrowheads="1"/>
              </p:cNvSpPr>
              <p:nvPr/>
            </p:nvSpPr>
            <p:spPr bwMode="auto">
              <a:xfrm>
                <a:off x="995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5477" name="Text Box 70"/>
              <p:cNvSpPr txBox="1">
                <a:spLocks noChangeArrowheads="1"/>
              </p:cNvSpPr>
              <p:nvPr/>
            </p:nvSpPr>
            <p:spPr bwMode="auto">
              <a:xfrm>
                <a:off x="1408" y="115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5478" name="Text Box 71"/>
              <p:cNvSpPr txBox="1">
                <a:spLocks noChangeArrowheads="1"/>
              </p:cNvSpPr>
              <p:nvPr/>
            </p:nvSpPr>
            <p:spPr bwMode="auto">
              <a:xfrm>
                <a:off x="1308" y="170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479" name="Freeform 72"/>
              <p:cNvSpPr>
                <a:spLocks/>
              </p:cNvSpPr>
              <p:nvPr/>
            </p:nvSpPr>
            <p:spPr bwMode="auto">
              <a:xfrm rot="5400000">
                <a:off x="650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0" name="Freeform 73"/>
              <p:cNvSpPr>
                <a:spLocks/>
              </p:cNvSpPr>
              <p:nvPr/>
            </p:nvSpPr>
            <p:spPr bwMode="auto">
              <a:xfrm rot="5400000" flipH="1" flipV="1">
                <a:off x="522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1" name="Line 74"/>
              <p:cNvSpPr>
                <a:spLocks noChangeShapeType="1"/>
              </p:cNvSpPr>
              <p:nvPr/>
            </p:nvSpPr>
            <p:spPr bwMode="auto">
              <a:xfrm flipV="1">
                <a:off x="1094" y="1095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2" name="Text Box 75"/>
              <p:cNvSpPr txBox="1">
                <a:spLocks noChangeArrowheads="1"/>
              </p:cNvSpPr>
              <p:nvPr/>
            </p:nvSpPr>
            <p:spPr bwMode="auto">
              <a:xfrm>
                <a:off x="1528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5483" name="Text Box 76"/>
              <p:cNvSpPr txBox="1">
                <a:spLocks noChangeArrowheads="1"/>
              </p:cNvSpPr>
              <p:nvPr/>
            </p:nvSpPr>
            <p:spPr bwMode="auto">
              <a:xfrm>
                <a:off x="1829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5484" name="Freeform 77"/>
              <p:cNvSpPr>
                <a:spLocks/>
              </p:cNvSpPr>
              <p:nvPr/>
            </p:nvSpPr>
            <p:spPr bwMode="auto">
              <a:xfrm rot="5400000">
                <a:off x="1484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5" name="Freeform 78"/>
              <p:cNvSpPr>
                <a:spLocks/>
              </p:cNvSpPr>
              <p:nvPr/>
            </p:nvSpPr>
            <p:spPr bwMode="auto">
              <a:xfrm rot="5400000" flipH="1" flipV="1">
                <a:off x="1356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6" name="Line 79"/>
              <p:cNvSpPr>
                <a:spLocks noChangeShapeType="1"/>
              </p:cNvSpPr>
              <p:nvPr/>
            </p:nvSpPr>
            <p:spPr bwMode="auto">
              <a:xfrm rot="5400000" flipV="1">
                <a:off x="584" y="1674"/>
                <a:ext cx="282" cy="258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454" name="Freeform 80"/>
            <p:cNvSpPr>
              <a:spLocks/>
            </p:cNvSpPr>
            <p:nvPr/>
          </p:nvSpPr>
          <p:spPr bwMode="auto">
            <a:xfrm rot="5400000">
              <a:off x="2672" y="1585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5" name="Line 81"/>
            <p:cNvSpPr>
              <a:spLocks noChangeShapeType="1"/>
            </p:cNvSpPr>
            <p:nvPr/>
          </p:nvSpPr>
          <p:spPr bwMode="auto">
            <a:xfrm flipV="1">
              <a:off x="3110" y="2091"/>
              <a:ext cx="5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5970" name="Line 82"/>
          <p:cNvSpPr>
            <a:spLocks noChangeShapeType="1"/>
          </p:cNvSpPr>
          <p:nvPr/>
        </p:nvSpPr>
        <p:spPr bwMode="auto">
          <a:xfrm flipV="1">
            <a:off x="6018213" y="1858963"/>
            <a:ext cx="1063625" cy="1150937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" name="Group 83"/>
          <p:cNvGrpSpPr>
            <a:grpSpLocks/>
          </p:cNvGrpSpPr>
          <p:nvPr/>
        </p:nvGrpSpPr>
        <p:grpSpPr bwMode="auto">
          <a:xfrm>
            <a:off x="7059613" y="1571625"/>
            <a:ext cx="349250" cy="1450975"/>
            <a:chOff x="3691" y="1050"/>
            <a:chExt cx="220" cy="914"/>
          </a:xfrm>
        </p:grpSpPr>
        <p:sp>
          <p:nvSpPr>
            <p:cNvPr id="15451" name="Freeform 84"/>
            <p:cNvSpPr>
              <a:spLocks/>
            </p:cNvSpPr>
            <p:nvPr/>
          </p:nvSpPr>
          <p:spPr bwMode="auto">
            <a:xfrm rot="5400000">
              <a:off x="3512" y="15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Oval 85"/>
            <p:cNvSpPr>
              <a:spLocks noChangeArrowheads="1"/>
            </p:cNvSpPr>
            <p:nvPr/>
          </p:nvSpPr>
          <p:spPr bwMode="auto">
            <a:xfrm>
              <a:off x="3691" y="1050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13</a:t>
              </a:r>
            </a:p>
          </p:txBody>
        </p:sp>
      </p:grpSp>
      <p:grpSp>
        <p:nvGrpSpPr>
          <p:cNvPr id="9" name="Group 86"/>
          <p:cNvGrpSpPr>
            <a:grpSpLocks/>
          </p:cNvGrpSpPr>
          <p:nvPr/>
        </p:nvGrpSpPr>
        <p:grpSpPr bwMode="auto">
          <a:xfrm>
            <a:off x="860425" y="3919538"/>
            <a:ext cx="2882900" cy="2528887"/>
            <a:chOff x="224" y="2451"/>
            <a:chExt cx="1816" cy="1593"/>
          </a:xfrm>
        </p:grpSpPr>
        <p:grpSp>
          <p:nvGrpSpPr>
            <p:cNvPr id="15417" name="Group 87"/>
            <p:cNvGrpSpPr>
              <a:grpSpLocks/>
            </p:cNvGrpSpPr>
            <p:nvPr/>
          </p:nvGrpSpPr>
          <p:grpSpPr bwMode="auto">
            <a:xfrm>
              <a:off x="224" y="2451"/>
              <a:ext cx="1816" cy="1593"/>
              <a:chOff x="200" y="759"/>
              <a:chExt cx="1816" cy="1593"/>
            </a:xfrm>
          </p:grpSpPr>
          <p:sp>
            <p:nvSpPr>
              <p:cNvPr id="15420" name="Oval 88"/>
              <p:cNvSpPr>
                <a:spLocks noChangeArrowheads="1"/>
              </p:cNvSpPr>
              <p:nvPr/>
            </p:nvSpPr>
            <p:spPr bwMode="auto">
              <a:xfrm>
                <a:off x="377" y="1430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15421" name="Oval 89"/>
              <p:cNvSpPr>
                <a:spLocks noChangeArrowheads="1"/>
              </p:cNvSpPr>
              <p:nvPr/>
            </p:nvSpPr>
            <p:spPr bwMode="auto">
              <a:xfrm>
                <a:off x="806" y="965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8</a:t>
                </a:r>
              </a:p>
            </p:txBody>
          </p:sp>
          <p:sp>
            <p:nvSpPr>
              <p:cNvPr id="15422" name="Oval 90"/>
              <p:cNvSpPr>
                <a:spLocks noChangeArrowheads="1"/>
              </p:cNvSpPr>
              <p:nvPr/>
            </p:nvSpPr>
            <p:spPr bwMode="auto">
              <a:xfrm>
                <a:off x="1638" y="965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13</a:t>
                </a:r>
              </a:p>
            </p:txBody>
          </p:sp>
          <p:sp>
            <p:nvSpPr>
              <p:cNvPr id="15423" name="Oval 91"/>
              <p:cNvSpPr>
                <a:spLocks noChangeArrowheads="1"/>
              </p:cNvSpPr>
              <p:nvPr/>
            </p:nvSpPr>
            <p:spPr bwMode="auto">
              <a:xfrm>
                <a:off x="806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5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424" name="Oval 92"/>
              <p:cNvSpPr>
                <a:spLocks noChangeArrowheads="1"/>
              </p:cNvSpPr>
              <p:nvPr/>
            </p:nvSpPr>
            <p:spPr bwMode="auto">
              <a:xfrm>
                <a:off x="1638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7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425" name="Line 93"/>
              <p:cNvSpPr>
                <a:spLocks noChangeShapeType="1"/>
              </p:cNvSpPr>
              <p:nvPr/>
            </p:nvSpPr>
            <p:spPr bwMode="auto">
              <a:xfrm flipV="1">
                <a:off x="584" y="1192"/>
                <a:ext cx="261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6" name="Line 94"/>
              <p:cNvSpPr>
                <a:spLocks noChangeShapeType="1"/>
              </p:cNvSpPr>
              <p:nvPr/>
            </p:nvSpPr>
            <p:spPr bwMode="auto">
              <a:xfrm>
                <a:off x="585" y="1660"/>
                <a:ext cx="256" cy="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7" name="Text Box 95"/>
              <p:cNvSpPr txBox="1">
                <a:spLocks noChangeArrowheads="1"/>
              </p:cNvSpPr>
              <p:nvPr/>
            </p:nvSpPr>
            <p:spPr bwMode="auto">
              <a:xfrm>
                <a:off x="497" y="1165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5428" name="Text Box 96"/>
              <p:cNvSpPr txBox="1">
                <a:spLocks noChangeArrowheads="1"/>
              </p:cNvSpPr>
              <p:nvPr/>
            </p:nvSpPr>
            <p:spPr bwMode="auto">
              <a:xfrm>
                <a:off x="1249" y="82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5429" name="Text Box 97"/>
              <p:cNvSpPr txBox="1">
                <a:spLocks noChangeArrowheads="1"/>
              </p:cNvSpPr>
              <p:nvPr/>
            </p:nvSpPr>
            <p:spPr bwMode="auto">
              <a:xfrm>
                <a:off x="574" y="172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5430" name="Text Box 98"/>
              <p:cNvSpPr txBox="1">
                <a:spLocks noChangeArrowheads="1"/>
              </p:cNvSpPr>
              <p:nvPr/>
            </p:nvSpPr>
            <p:spPr bwMode="auto">
              <a:xfrm>
                <a:off x="1269" y="200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431" name="Text Box 99"/>
              <p:cNvSpPr txBox="1">
                <a:spLocks noChangeArrowheads="1"/>
              </p:cNvSpPr>
              <p:nvPr/>
            </p:nvSpPr>
            <p:spPr bwMode="auto">
              <a:xfrm>
                <a:off x="200" y="144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5432" name="Text Box 100"/>
              <p:cNvSpPr txBox="1">
                <a:spLocks noChangeArrowheads="1"/>
              </p:cNvSpPr>
              <p:nvPr/>
            </p:nvSpPr>
            <p:spPr bwMode="auto">
              <a:xfrm>
                <a:off x="861" y="759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t</a:t>
                </a:r>
              </a:p>
            </p:txBody>
          </p:sp>
          <p:sp>
            <p:nvSpPr>
              <p:cNvPr id="15433" name="Text Box 101"/>
              <p:cNvSpPr txBox="1">
                <a:spLocks noChangeArrowheads="1"/>
              </p:cNvSpPr>
              <p:nvPr/>
            </p:nvSpPr>
            <p:spPr bwMode="auto">
              <a:xfrm>
                <a:off x="1683" y="75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x</a:t>
                </a:r>
              </a:p>
            </p:txBody>
          </p:sp>
          <p:sp>
            <p:nvSpPr>
              <p:cNvPr id="15434" name="Text Box 102"/>
              <p:cNvSpPr txBox="1">
                <a:spLocks noChangeArrowheads="1"/>
              </p:cNvSpPr>
              <p:nvPr/>
            </p:nvSpPr>
            <p:spPr bwMode="auto">
              <a:xfrm>
                <a:off x="845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15435" name="Text Box 103"/>
              <p:cNvSpPr txBox="1">
                <a:spLocks noChangeArrowheads="1"/>
              </p:cNvSpPr>
              <p:nvPr/>
            </p:nvSpPr>
            <p:spPr bwMode="auto">
              <a:xfrm>
                <a:off x="1699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z</a:t>
                </a:r>
              </a:p>
            </p:txBody>
          </p:sp>
          <p:sp>
            <p:nvSpPr>
              <p:cNvPr id="15436" name="Line 104"/>
              <p:cNvSpPr>
                <a:spLocks noChangeShapeType="1"/>
              </p:cNvSpPr>
              <p:nvPr/>
            </p:nvSpPr>
            <p:spPr bwMode="auto">
              <a:xfrm flipV="1">
                <a:off x="1076" y="2037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7" name="Line 105"/>
              <p:cNvSpPr>
                <a:spLocks noChangeShapeType="1"/>
              </p:cNvSpPr>
              <p:nvPr/>
            </p:nvSpPr>
            <p:spPr bwMode="auto">
              <a:xfrm flipV="1">
                <a:off x="1007" y="1183"/>
                <a:ext cx="670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8" name="Line 106"/>
              <p:cNvSpPr>
                <a:spLocks noChangeShapeType="1"/>
              </p:cNvSpPr>
              <p:nvPr/>
            </p:nvSpPr>
            <p:spPr bwMode="auto">
              <a:xfrm flipH="1" flipV="1">
                <a:off x="629" y="1611"/>
                <a:ext cx="1031" cy="3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9" name="Text Box 107"/>
              <p:cNvSpPr txBox="1">
                <a:spLocks noChangeArrowheads="1"/>
              </p:cNvSpPr>
              <p:nvPr/>
            </p:nvSpPr>
            <p:spPr bwMode="auto">
              <a:xfrm>
                <a:off x="694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440" name="Text Box 108"/>
              <p:cNvSpPr txBox="1">
                <a:spLocks noChangeArrowheads="1"/>
              </p:cNvSpPr>
              <p:nvPr/>
            </p:nvSpPr>
            <p:spPr bwMode="auto">
              <a:xfrm>
                <a:off x="995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5441" name="Text Box 109"/>
              <p:cNvSpPr txBox="1">
                <a:spLocks noChangeArrowheads="1"/>
              </p:cNvSpPr>
              <p:nvPr/>
            </p:nvSpPr>
            <p:spPr bwMode="auto">
              <a:xfrm>
                <a:off x="1408" y="115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5442" name="Text Box 110"/>
              <p:cNvSpPr txBox="1">
                <a:spLocks noChangeArrowheads="1"/>
              </p:cNvSpPr>
              <p:nvPr/>
            </p:nvSpPr>
            <p:spPr bwMode="auto">
              <a:xfrm>
                <a:off x="1308" y="170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443" name="Freeform 111"/>
              <p:cNvSpPr>
                <a:spLocks/>
              </p:cNvSpPr>
              <p:nvPr/>
            </p:nvSpPr>
            <p:spPr bwMode="auto">
              <a:xfrm rot="5400000">
                <a:off x="650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4" name="Freeform 112"/>
              <p:cNvSpPr>
                <a:spLocks/>
              </p:cNvSpPr>
              <p:nvPr/>
            </p:nvSpPr>
            <p:spPr bwMode="auto">
              <a:xfrm rot="5400000" flipH="1" flipV="1">
                <a:off x="522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5" name="Line 113"/>
              <p:cNvSpPr>
                <a:spLocks noChangeShapeType="1"/>
              </p:cNvSpPr>
              <p:nvPr/>
            </p:nvSpPr>
            <p:spPr bwMode="auto">
              <a:xfrm flipV="1">
                <a:off x="1094" y="1095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6" name="Text Box 114"/>
              <p:cNvSpPr txBox="1">
                <a:spLocks noChangeArrowheads="1"/>
              </p:cNvSpPr>
              <p:nvPr/>
            </p:nvSpPr>
            <p:spPr bwMode="auto">
              <a:xfrm>
                <a:off x="1528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5447" name="Text Box 115"/>
              <p:cNvSpPr txBox="1">
                <a:spLocks noChangeArrowheads="1"/>
              </p:cNvSpPr>
              <p:nvPr/>
            </p:nvSpPr>
            <p:spPr bwMode="auto">
              <a:xfrm>
                <a:off x="1829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5448" name="Freeform 116"/>
              <p:cNvSpPr>
                <a:spLocks/>
              </p:cNvSpPr>
              <p:nvPr/>
            </p:nvSpPr>
            <p:spPr bwMode="auto">
              <a:xfrm rot="5400000">
                <a:off x="1484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9" name="Freeform 117"/>
              <p:cNvSpPr>
                <a:spLocks/>
              </p:cNvSpPr>
              <p:nvPr/>
            </p:nvSpPr>
            <p:spPr bwMode="auto">
              <a:xfrm rot="5400000" flipH="1" flipV="1">
                <a:off x="1356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0" name="Line 118"/>
              <p:cNvSpPr>
                <a:spLocks noChangeShapeType="1"/>
              </p:cNvSpPr>
              <p:nvPr/>
            </p:nvSpPr>
            <p:spPr bwMode="auto">
              <a:xfrm rot="5400000" flipV="1">
                <a:off x="584" y="1674"/>
                <a:ext cx="282" cy="258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418" name="Freeform 119"/>
            <p:cNvSpPr>
              <a:spLocks/>
            </p:cNvSpPr>
            <p:nvPr/>
          </p:nvSpPr>
          <p:spPr bwMode="auto">
            <a:xfrm rot="5400000">
              <a:off x="674" y="3223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Line 120"/>
            <p:cNvSpPr>
              <a:spLocks noChangeShapeType="1"/>
            </p:cNvSpPr>
            <p:nvPr/>
          </p:nvSpPr>
          <p:spPr bwMode="auto">
            <a:xfrm flipV="1">
              <a:off x="1112" y="3729"/>
              <a:ext cx="5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6009" name="Freeform 121"/>
          <p:cNvSpPr>
            <a:spLocks/>
          </p:cNvSpPr>
          <p:nvPr/>
        </p:nvSpPr>
        <p:spPr bwMode="auto">
          <a:xfrm rot="5400000">
            <a:off x="2908301" y="5154612"/>
            <a:ext cx="1104900" cy="79375"/>
          </a:xfrm>
          <a:custGeom>
            <a:avLst/>
            <a:gdLst>
              <a:gd name="T0" fmla="*/ 54062263 w 582"/>
              <a:gd name="T1" fmla="*/ 126007813 h 50"/>
              <a:gd name="T2" fmla="*/ 169393320 w 582"/>
              <a:gd name="T3" fmla="*/ 93246575 h 50"/>
              <a:gd name="T4" fmla="*/ 1077634409 w 582"/>
              <a:gd name="T5" fmla="*/ 2520950 h 50"/>
              <a:gd name="T6" fmla="*/ 2097601392 w 582"/>
              <a:gd name="T7" fmla="*/ 103327200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82"/>
              <a:gd name="T13" fmla="*/ 0 h 50"/>
              <a:gd name="T14" fmla="*/ 582 w 58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2" h="50">
                <a:moveTo>
                  <a:pt x="15" y="50"/>
                </a:moveTo>
                <a:cubicBezTo>
                  <a:pt x="7" y="47"/>
                  <a:pt x="0" y="45"/>
                  <a:pt x="47" y="37"/>
                </a:cubicBezTo>
                <a:cubicBezTo>
                  <a:pt x="94" y="29"/>
                  <a:pt x="210" y="0"/>
                  <a:pt x="299" y="1"/>
                </a:cubicBezTo>
                <a:cubicBezTo>
                  <a:pt x="388" y="2"/>
                  <a:pt x="536" y="34"/>
                  <a:pt x="582" y="41"/>
                </a:cubicBezTo>
              </a:path>
            </a:pathLst>
          </a:custGeom>
          <a:noFill/>
          <a:ln w="57150">
            <a:solidFill>
              <a:srgbClr val="80808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6010" name="Freeform 122"/>
          <p:cNvSpPr>
            <a:spLocks/>
          </p:cNvSpPr>
          <p:nvPr/>
        </p:nvSpPr>
        <p:spPr bwMode="auto">
          <a:xfrm rot="5400000">
            <a:off x="2908301" y="5126037"/>
            <a:ext cx="1104900" cy="79375"/>
          </a:xfrm>
          <a:custGeom>
            <a:avLst/>
            <a:gdLst>
              <a:gd name="T0" fmla="*/ 54062263 w 582"/>
              <a:gd name="T1" fmla="*/ 126007813 h 50"/>
              <a:gd name="T2" fmla="*/ 169393320 w 582"/>
              <a:gd name="T3" fmla="*/ 93246575 h 50"/>
              <a:gd name="T4" fmla="*/ 1077634409 w 582"/>
              <a:gd name="T5" fmla="*/ 2520950 h 50"/>
              <a:gd name="T6" fmla="*/ 2097601392 w 582"/>
              <a:gd name="T7" fmla="*/ 103327200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82"/>
              <a:gd name="T13" fmla="*/ 0 h 50"/>
              <a:gd name="T14" fmla="*/ 582 w 58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2" h="50">
                <a:moveTo>
                  <a:pt x="15" y="50"/>
                </a:moveTo>
                <a:cubicBezTo>
                  <a:pt x="7" y="47"/>
                  <a:pt x="0" y="45"/>
                  <a:pt x="47" y="37"/>
                </a:cubicBezTo>
                <a:cubicBezTo>
                  <a:pt x="94" y="29"/>
                  <a:pt x="210" y="0"/>
                  <a:pt x="299" y="1"/>
                </a:cubicBezTo>
                <a:cubicBezTo>
                  <a:pt x="388" y="2"/>
                  <a:pt x="536" y="34"/>
                  <a:pt x="582" y="41"/>
                </a:cubicBezTo>
              </a:path>
            </a:pathLst>
          </a:custGeom>
          <a:noFill/>
          <a:ln w="76200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" name="Group 123"/>
          <p:cNvGrpSpPr>
            <a:grpSpLocks/>
          </p:cNvGrpSpPr>
          <p:nvPr/>
        </p:nvGrpSpPr>
        <p:grpSpPr bwMode="auto">
          <a:xfrm>
            <a:off x="2260600" y="4305300"/>
            <a:ext cx="1262063" cy="314325"/>
            <a:chOff x="1106" y="2688"/>
            <a:chExt cx="795" cy="198"/>
          </a:xfrm>
        </p:grpSpPr>
        <p:sp>
          <p:nvSpPr>
            <p:cNvPr id="15415" name="Line 124"/>
            <p:cNvSpPr>
              <a:spLocks noChangeShapeType="1"/>
            </p:cNvSpPr>
            <p:nvPr/>
          </p:nvSpPr>
          <p:spPr bwMode="auto">
            <a:xfrm flipV="1">
              <a:off x="1106" y="2781"/>
              <a:ext cx="5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Oval 125"/>
            <p:cNvSpPr>
              <a:spLocks noChangeArrowheads="1"/>
            </p:cNvSpPr>
            <p:nvPr/>
          </p:nvSpPr>
          <p:spPr bwMode="auto">
            <a:xfrm>
              <a:off x="1681" y="2688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12" name="Group 126"/>
          <p:cNvGrpSpPr>
            <a:grpSpLocks/>
          </p:cNvGrpSpPr>
          <p:nvPr/>
        </p:nvGrpSpPr>
        <p:grpSpPr bwMode="auto">
          <a:xfrm>
            <a:off x="4765675" y="3833813"/>
            <a:ext cx="2882900" cy="2528887"/>
            <a:chOff x="3002" y="2415"/>
            <a:chExt cx="1816" cy="1593"/>
          </a:xfrm>
        </p:grpSpPr>
        <p:grpSp>
          <p:nvGrpSpPr>
            <p:cNvPr id="15379" name="Group 127"/>
            <p:cNvGrpSpPr>
              <a:grpSpLocks/>
            </p:cNvGrpSpPr>
            <p:nvPr/>
          </p:nvGrpSpPr>
          <p:grpSpPr bwMode="auto">
            <a:xfrm>
              <a:off x="3002" y="2415"/>
              <a:ext cx="1816" cy="1593"/>
              <a:chOff x="200" y="759"/>
              <a:chExt cx="1816" cy="1593"/>
            </a:xfrm>
          </p:grpSpPr>
          <p:sp>
            <p:nvSpPr>
              <p:cNvPr id="15384" name="Oval 128"/>
              <p:cNvSpPr>
                <a:spLocks noChangeArrowheads="1"/>
              </p:cNvSpPr>
              <p:nvPr/>
            </p:nvSpPr>
            <p:spPr bwMode="auto">
              <a:xfrm>
                <a:off x="377" y="1430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15385" name="Oval 129"/>
              <p:cNvSpPr>
                <a:spLocks noChangeArrowheads="1"/>
              </p:cNvSpPr>
              <p:nvPr/>
            </p:nvSpPr>
            <p:spPr bwMode="auto">
              <a:xfrm>
                <a:off x="806" y="965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8</a:t>
                </a:r>
              </a:p>
            </p:txBody>
          </p:sp>
          <p:sp>
            <p:nvSpPr>
              <p:cNvPr id="15386" name="Oval 130"/>
              <p:cNvSpPr>
                <a:spLocks noChangeArrowheads="1"/>
              </p:cNvSpPr>
              <p:nvPr/>
            </p:nvSpPr>
            <p:spPr bwMode="auto">
              <a:xfrm>
                <a:off x="1638" y="965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9</a:t>
                </a:r>
              </a:p>
            </p:txBody>
          </p:sp>
          <p:sp>
            <p:nvSpPr>
              <p:cNvPr id="15387" name="Oval 131"/>
              <p:cNvSpPr>
                <a:spLocks noChangeArrowheads="1"/>
              </p:cNvSpPr>
              <p:nvPr/>
            </p:nvSpPr>
            <p:spPr bwMode="auto">
              <a:xfrm>
                <a:off x="806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5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388" name="Oval 132"/>
              <p:cNvSpPr>
                <a:spLocks noChangeArrowheads="1"/>
              </p:cNvSpPr>
              <p:nvPr/>
            </p:nvSpPr>
            <p:spPr bwMode="auto">
              <a:xfrm>
                <a:off x="1638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7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389" name="Line 133"/>
              <p:cNvSpPr>
                <a:spLocks noChangeShapeType="1"/>
              </p:cNvSpPr>
              <p:nvPr/>
            </p:nvSpPr>
            <p:spPr bwMode="auto">
              <a:xfrm flipV="1">
                <a:off x="584" y="1192"/>
                <a:ext cx="261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0" name="Line 134"/>
              <p:cNvSpPr>
                <a:spLocks noChangeShapeType="1"/>
              </p:cNvSpPr>
              <p:nvPr/>
            </p:nvSpPr>
            <p:spPr bwMode="auto">
              <a:xfrm>
                <a:off x="585" y="1660"/>
                <a:ext cx="256" cy="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1" name="Text Box 135"/>
              <p:cNvSpPr txBox="1">
                <a:spLocks noChangeArrowheads="1"/>
              </p:cNvSpPr>
              <p:nvPr/>
            </p:nvSpPr>
            <p:spPr bwMode="auto">
              <a:xfrm>
                <a:off x="497" y="1165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5392" name="Text Box 136"/>
              <p:cNvSpPr txBox="1">
                <a:spLocks noChangeArrowheads="1"/>
              </p:cNvSpPr>
              <p:nvPr/>
            </p:nvSpPr>
            <p:spPr bwMode="auto">
              <a:xfrm>
                <a:off x="1249" y="82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5393" name="Text Box 137"/>
              <p:cNvSpPr txBox="1">
                <a:spLocks noChangeArrowheads="1"/>
              </p:cNvSpPr>
              <p:nvPr/>
            </p:nvSpPr>
            <p:spPr bwMode="auto">
              <a:xfrm>
                <a:off x="574" y="172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5394" name="Text Box 138"/>
              <p:cNvSpPr txBox="1">
                <a:spLocks noChangeArrowheads="1"/>
              </p:cNvSpPr>
              <p:nvPr/>
            </p:nvSpPr>
            <p:spPr bwMode="auto">
              <a:xfrm>
                <a:off x="1269" y="200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395" name="Text Box 139"/>
              <p:cNvSpPr txBox="1">
                <a:spLocks noChangeArrowheads="1"/>
              </p:cNvSpPr>
              <p:nvPr/>
            </p:nvSpPr>
            <p:spPr bwMode="auto">
              <a:xfrm>
                <a:off x="200" y="144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5396" name="Text Box 140"/>
              <p:cNvSpPr txBox="1">
                <a:spLocks noChangeArrowheads="1"/>
              </p:cNvSpPr>
              <p:nvPr/>
            </p:nvSpPr>
            <p:spPr bwMode="auto">
              <a:xfrm>
                <a:off x="861" y="759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t</a:t>
                </a:r>
              </a:p>
            </p:txBody>
          </p:sp>
          <p:sp>
            <p:nvSpPr>
              <p:cNvPr id="15397" name="Text Box 141"/>
              <p:cNvSpPr txBox="1">
                <a:spLocks noChangeArrowheads="1"/>
              </p:cNvSpPr>
              <p:nvPr/>
            </p:nvSpPr>
            <p:spPr bwMode="auto">
              <a:xfrm>
                <a:off x="1683" y="75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x</a:t>
                </a:r>
              </a:p>
            </p:txBody>
          </p:sp>
          <p:sp>
            <p:nvSpPr>
              <p:cNvPr id="15398" name="Text Box 142"/>
              <p:cNvSpPr txBox="1">
                <a:spLocks noChangeArrowheads="1"/>
              </p:cNvSpPr>
              <p:nvPr/>
            </p:nvSpPr>
            <p:spPr bwMode="auto">
              <a:xfrm>
                <a:off x="845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15399" name="Text Box 143"/>
              <p:cNvSpPr txBox="1">
                <a:spLocks noChangeArrowheads="1"/>
              </p:cNvSpPr>
              <p:nvPr/>
            </p:nvSpPr>
            <p:spPr bwMode="auto">
              <a:xfrm>
                <a:off x="1699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z</a:t>
                </a:r>
              </a:p>
            </p:txBody>
          </p:sp>
          <p:sp>
            <p:nvSpPr>
              <p:cNvPr id="15400" name="Line 144"/>
              <p:cNvSpPr>
                <a:spLocks noChangeShapeType="1"/>
              </p:cNvSpPr>
              <p:nvPr/>
            </p:nvSpPr>
            <p:spPr bwMode="auto">
              <a:xfrm flipV="1">
                <a:off x="1076" y="2037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1" name="Line 145"/>
              <p:cNvSpPr>
                <a:spLocks noChangeShapeType="1"/>
              </p:cNvSpPr>
              <p:nvPr/>
            </p:nvSpPr>
            <p:spPr bwMode="auto">
              <a:xfrm flipV="1">
                <a:off x="1007" y="1183"/>
                <a:ext cx="670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2" name="Line 146"/>
              <p:cNvSpPr>
                <a:spLocks noChangeShapeType="1"/>
              </p:cNvSpPr>
              <p:nvPr/>
            </p:nvSpPr>
            <p:spPr bwMode="auto">
              <a:xfrm flipH="1" flipV="1">
                <a:off x="629" y="1611"/>
                <a:ext cx="1031" cy="3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3" name="Text Box 147"/>
              <p:cNvSpPr txBox="1">
                <a:spLocks noChangeArrowheads="1"/>
              </p:cNvSpPr>
              <p:nvPr/>
            </p:nvSpPr>
            <p:spPr bwMode="auto">
              <a:xfrm>
                <a:off x="694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404" name="Text Box 148"/>
              <p:cNvSpPr txBox="1">
                <a:spLocks noChangeArrowheads="1"/>
              </p:cNvSpPr>
              <p:nvPr/>
            </p:nvSpPr>
            <p:spPr bwMode="auto">
              <a:xfrm>
                <a:off x="995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5405" name="Text Box 149"/>
              <p:cNvSpPr txBox="1">
                <a:spLocks noChangeArrowheads="1"/>
              </p:cNvSpPr>
              <p:nvPr/>
            </p:nvSpPr>
            <p:spPr bwMode="auto">
              <a:xfrm>
                <a:off x="1408" y="115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5406" name="Text Box 150"/>
              <p:cNvSpPr txBox="1">
                <a:spLocks noChangeArrowheads="1"/>
              </p:cNvSpPr>
              <p:nvPr/>
            </p:nvSpPr>
            <p:spPr bwMode="auto">
              <a:xfrm>
                <a:off x="1308" y="170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407" name="Freeform 151"/>
              <p:cNvSpPr>
                <a:spLocks/>
              </p:cNvSpPr>
              <p:nvPr/>
            </p:nvSpPr>
            <p:spPr bwMode="auto">
              <a:xfrm rot="5400000">
                <a:off x="650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8" name="Freeform 152"/>
              <p:cNvSpPr>
                <a:spLocks/>
              </p:cNvSpPr>
              <p:nvPr/>
            </p:nvSpPr>
            <p:spPr bwMode="auto">
              <a:xfrm rot="5400000" flipH="1" flipV="1">
                <a:off x="522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9" name="Line 153"/>
              <p:cNvSpPr>
                <a:spLocks noChangeShapeType="1"/>
              </p:cNvSpPr>
              <p:nvPr/>
            </p:nvSpPr>
            <p:spPr bwMode="auto">
              <a:xfrm flipV="1">
                <a:off x="1094" y="1095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0" name="Text Box 154"/>
              <p:cNvSpPr txBox="1">
                <a:spLocks noChangeArrowheads="1"/>
              </p:cNvSpPr>
              <p:nvPr/>
            </p:nvSpPr>
            <p:spPr bwMode="auto">
              <a:xfrm>
                <a:off x="1528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5411" name="Text Box 155"/>
              <p:cNvSpPr txBox="1">
                <a:spLocks noChangeArrowheads="1"/>
              </p:cNvSpPr>
              <p:nvPr/>
            </p:nvSpPr>
            <p:spPr bwMode="auto">
              <a:xfrm>
                <a:off x="1829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5412" name="Freeform 156"/>
              <p:cNvSpPr>
                <a:spLocks/>
              </p:cNvSpPr>
              <p:nvPr/>
            </p:nvSpPr>
            <p:spPr bwMode="auto">
              <a:xfrm rot="5400000">
                <a:off x="1484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3" name="Freeform 157"/>
              <p:cNvSpPr>
                <a:spLocks/>
              </p:cNvSpPr>
              <p:nvPr/>
            </p:nvSpPr>
            <p:spPr bwMode="auto">
              <a:xfrm rot="5400000" flipH="1" flipV="1">
                <a:off x="1356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4" name="Line 158"/>
              <p:cNvSpPr>
                <a:spLocks noChangeShapeType="1"/>
              </p:cNvSpPr>
              <p:nvPr/>
            </p:nvSpPr>
            <p:spPr bwMode="auto">
              <a:xfrm rot="5400000" flipV="1">
                <a:off x="584" y="1674"/>
                <a:ext cx="282" cy="258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80" name="Group 159"/>
            <p:cNvGrpSpPr>
              <a:grpSpLocks/>
            </p:cNvGrpSpPr>
            <p:nvPr/>
          </p:nvGrpSpPr>
          <p:grpSpPr bwMode="auto">
            <a:xfrm>
              <a:off x="3775" y="2751"/>
              <a:ext cx="687" cy="942"/>
              <a:chOff x="3073" y="2781"/>
              <a:chExt cx="687" cy="942"/>
            </a:xfrm>
          </p:grpSpPr>
          <p:sp>
            <p:nvSpPr>
              <p:cNvPr id="15381" name="Freeform 160"/>
              <p:cNvSpPr>
                <a:spLocks/>
              </p:cNvSpPr>
              <p:nvPr/>
            </p:nvSpPr>
            <p:spPr bwMode="auto">
              <a:xfrm rot="5400000">
                <a:off x="2750" y="321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57150">
                <a:solidFill>
                  <a:srgbClr val="80808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2" name="Line 161"/>
              <p:cNvSpPr>
                <a:spLocks noChangeShapeType="1"/>
              </p:cNvSpPr>
              <p:nvPr/>
            </p:nvSpPr>
            <p:spPr bwMode="auto">
              <a:xfrm flipV="1">
                <a:off x="3188" y="3723"/>
                <a:ext cx="572" cy="0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3" name="Line 162"/>
              <p:cNvSpPr>
                <a:spLocks noChangeShapeType="1"/>
              </p:cNvSpPr>
              <p:nvPr/>
            </p:nvSpPr>
            <p:spPr bwMode="auto">
              <a:xfrm flipV="1">
                <a:off x="3182" y="2781"/>
                <a:ext cx="572" cy="0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942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" dur="500"/>
                                        <p:tgtEl>
                                          <p:spTgt spid="805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8059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8060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23" grpId="0" animBg="1"/>
      <p:bldP spid="805927" grpId="0" animBg="1"/>
      <p:bldP spid="805934" grpId="0" animBg="1"/>
      <p:bldP spid="805934" grpId="1" animBg="1"/>
      <p:bldP spid="805970" grpId="0" animBg="1"/>
      <p:bldP spid="806009" grpId="0" animBg="1"/>
      <p:bldP spid="806009" grpId="1" animBg="1"/>
      <p:bldP spid="8060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1403350" y="5011738"/>
            <a:ext cx="5715000" cy="9906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entury Schoolbook" pitchFamily="18" charset="0"/>
            </a:endParaRP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da-DK"/>
              <a:t>Dijkstra’s Pseudo Code</a:t>
            </a:r>
          </a:p>
        </p:txBody>
      </p:sp>
      <p:sp>
        <p:nvSpPr>
          <p:cNvPr id="205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696200" cy="4873625"/>
          </a:xfrm>
        </p:spPr>
        <p:txBody>
          <a:bodyPr/>
          <a:lstStyle/>
          <a:p>
            <a:pPr eaLnBrk="1" hangingPunct="1"/>
            <a:r>
              <a:rPr lang="da-DK"/>
              <a:t>Graph </a:t>
            </a:r>
            <a:r>
              <a:rPr lang="da-DK" i="1"/>
              <a:t>G</a:t>
            </a:r>
            <a:r>
              <a:rPr lang="da-DK"/>
              <a:t>, weight function </a:t>
            </a:r>
            <a:r>
              <a:rPr lang="da-DK" i="1"/>
              <a:t>w</a:t>
            </a:r>
            <a:r>
              <a:rPr lang="da-DK"/>
              <a:t>, root </a:t>
            </a:r>
            <a:r>
              <a:rPr lang="da-DK" i="1"/>
              <a:t>s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331913" y="2181225"/>
          <a:ext cx="5486400" cy="374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Photo Editor Photo" r:id="rId3" imgW="7209524" imgH="4923810" progId="">
                  <p:embed/>
                </p:oleObj>
              </mc:Choice>
              <mc:Fallback>
                <p:oleObj name="Photo Editor Photo" r:id="rId3" imgW="7209524" imgH="492381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181225"/>
                        <a:ext cx="5486400" cy="374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7235825" y="5083175"/>
            <a:ext cx="1371600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da-DK" sz="2400">
                <a:latin typeface="Times New Roman" pitchFamily="18" charset="0"/>
              </a:rPr>
              <a:t>relaxing edges</a:t>
            </a:r>
            <a:endParaRPr lang="en-US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497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Example of </a:t>
            </a:r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191491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191492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191493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191494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191495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cxnSp>
        <p:nvCxnSpPr>
          <p:cNvPr id="30728" name="AutoShape 8"/>
          <p:cNvCxnSpPr>
            <a:cxnSpLocks noChangeShapeType="1"/>
            <a:stCxn id="191491" idx="7"/>
            <a:endCxn id="191492" idx="2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0729" name="AutoShape 9"/>
          <p:cNvCxnSpPr>
            <a:cxnSpLocks noChangeShapeType="1"/>
            <a:stCxn id="191491" idx="5"/>
            <a:endCxn id="191494" idx="2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0730" name="AutoShape 10"/>
          <p:cNvCxnSpPr>
            <a:cxnSpLocks noChangeShapeType="1"/>
            <a:stCxn id="191492" idx="6"/>
            <a:endCxn id="191493" idx="2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0731" name="Arc 11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0732" name="Arc 12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0733" name="Arc 13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0734" name="Arc 14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0735" name="Arc 15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0736" name="Arc 16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0737" name="Arc 17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0738" name="Arc 18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30739" name="AutoShape 19"/>
          <p:cNvCxnSpPr>
            <a:cxnSpLocks noChangeShapeType="1"/>
            <a:stCxn id="191494" idx="6"/>
            <a:endCxn id="191495" idx="2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0740" name="Line 20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0742" name="Text Box 22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0743" name="Text Box 23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0744" name="Text Box 24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30745" name="Text Box 25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0746" name="Text Box 26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0747" name="Text Box 27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  <p:sp>
        <p:nvSpPr>
          <p:cNvPr id="30748" name="Text Box 28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0749" name="Text Box 29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0750" name="Text Box 30"/>
          <p:cNvSpPr txBox="1">
            <a:spLocks noChangeArrowheads="1"/>
          </p:cNvSpPr>
          <p:nvPr/>
        </p:nvSpPr>
        <p:spPr bwMode="auto">
          <a:xfrm>
            <a:off x="381000" y="1717675"/>
            <a:ext cx="2743200" cy="14065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Graph with nonnegative edge weights:</a:t>
            </a:r>
          </a:p>
        </p:txBody>
      </p:sp>
    </p:spTree>
    <p:extLst>
      <p:ext uri="{BB962C8B-B14F-4D97-AF65-F5344CB8AC3E}">
        <p14:creationId xmlns:p14="http://schemas.microsoft.com/office/powerpoint/2010/main" val="4215880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Dijkstra’s algorithm</a:t>
            </a:r>
          </a:p>
        </p:txBody>
      </p:sp>
      <p:sp>
        <p:nvSpPr>
          <p:cNvPr id="193539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193540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193541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193542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193543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cxnSp>
        <p:nvCxnSpPr>
          <p:cNvPr id="31752" name="AutoShape 8"/>
          <p:cNvCxnSpPr>
            <a:cxnSpLocks noChangeShapeType="1"/>
            <a:stCxn id="193539" idx="7"/>
            <a:endCxn id="193540" idx="2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1753" name="AutoShape 9"/>
          <p:cNvCxnSpPr>
            <a:cxnSpLocks noChangeShapeType="1"/>
            <a:stCxn id="193539" idx="5"/>
            <a:endCxn id="193542" idx="2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1754" name="Text Box 10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381000" y="1447800"/>
            <a:ext cx="2743200" cy="5302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Initialize:</a:t>
            </a: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131445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19304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2522538" y="3810000"/>
            <a:ext cx="4556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3121025" y="3810000"/>
            <a:ext cx="477838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31763" name="Text Box 19"/>
          <p:cNvSpPr txBox="1">
            <a:spLocks noChangeArrowheads="1"/>
          </p:cNvSpPr>
          <p:nvPr/>
        </p:nvSpPr>
        <p:spPr bwMode="auto">
          <a:xfrm>
            <a:off x="37592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615950" y="3810000"/>
            <a:ext cx="61277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Q:</a:t>
            </a: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1362075" y="4419600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1766" name="Text Box 22"/>
          <p:cNvSpPr txBox="1">
            <a:spLocks noChangeArrowheads="1"/>
          </p:cNvSpPr>
          <p:nvPr/>
        </p:nvSpPr>
        <p:spPr bwMode="auto">
          <a:xfrm>
            <a:off x="19462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1767" name="Text Box 23"/>
          <p:cNvSpPr txBox="1">
            <a:spLocks noChangeArrowheads="1"/>
          </p:cNvSpPr>
          <p:nvPr/>
        </p:nvSpPr>
        <p:spPr bwMode="auto">
          <a:xfrm>
            <a:off x="2551113" y="4413250"/>
            <a:ext cx="4016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1768" name="Text Box 24"/>
          <p:cNvSpPr txBox="1">
            <a:spLocks noChangeArrowheads="1"/>
          </p:cNvSpPr>
          <p:nvPr/>
        </p:nvSpPr>
        <p:spPr bwMode="auto">
          <a:xfrm>
            <a:off x="315912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1769" name="Text Box 25"/>
          <p:cNvSpPr txBox="1">
            <a:spLocks noChangeArrowheads="1"/>
          </p:cNvSpPr>
          <p:nvPr/>
        </p:nvSpPr>
        <p:spPr bwMode="auto">
          <a:xfrm>
            <a:off x="37750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1770" name="Line 26"/>
          <p:cNvSpPr>
            <a:spLocks noChangeShapeType="1"/>
          </p:cNvSpPr>
          <p:nvPr/>
        </p:nvSpPr>
        <p:spPr bwMode="auto">
          <a:xfrm>
            <a:off x="1292225" y="4419600"/>
            <a:ext cx="28956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1771" name="Text Box 27"/>
          <p:cNvSpPr txBox="1">
            <a:spLocks noChangeArrowheads="1"/>
          </p:cNvSpPr>
          <p:nvPr/>
        </p:nvSpPr>
        <p:spPr bwMode="auto">
          <a:xfrm>
            <a:off x="406400" y="2493963"/>
            <a:ext cx="1091966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K: 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{}</a:t>
            </a:r>
          </a:p>
        </p:txBody>
      </p:sp>
      <p:sp>
        <p:nvSpPr>
          <p:cNvPr id="31772" name="Text Box 28"/>
          <p:cNvSpPr txBox="1">
            <a:spLocks noChangeArrowheads="1"/>
          </p:cNvSpPr>
          <p:nvPr/>
        </p:nvSpPr>
        <p:spPr bwMode="auto">
          <a:xfrm>
            <a:off x="3429000" y="253841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1773" name="Text Box 29"/>
          <p:cNvSpPr txBox="1">
            <a:spLocks noChangeArrowheads="1"/>
          </p:cNvSpPr>
          <p:nvPr/>
        </p:nvSpPr>
        <p:spPr bwMode="auto">
          <a:xfrm>
            <a:off x="5738813" y="936625"/>
            <a:ext cx="47466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1774" name="Text Box 30"/>
          <p:cNvSpPr txBox="1">
            <a:spLocks noChangeArrowheads="1"/>
          </p:cNvSpPr>
          <p:nvPr/>
        </p:nvSpPr>
        <p:spPr bwMode="auto">
          <a:xfrm>
            <a:off x="5738813" y="4195763"/>
            <a:ext cx="474662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1775" name="Text Box 31"/>
          <p:cNvSpPr txBox="1">
            <a:spLocks noChangeArrowheads="1"/>
          </p:cNvSpPr>
          <p:nvPr/>
        </p:nvSpPr>
        <p:spPr bwMode="auto">
          <a:xfrm>
            <a:off x="7489825" y="4195763"/>
            <a:ext cx="474663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1776" name="Text Box 32"/>
          <p:cNvSpPr txBox="1">
            <a:spLocks noChangeArrowheads="1"/>
          </p:cNvSpPr>
          <p:nvPr/>
        </p:nvSpPr>
        <p:spPr bwMode="auto">
          <a:xfrm>
            <a:off x="7489825" y="936625"/>
            <a:ext cx="474663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31777" name="AutoShape 33"/>
          <p:cNvCxnSpPr>
            <a:cxnSpLocks noChangeShapeType="1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1778" name="Arc 34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1779" name="Arc 35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1780" name="Arc 36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1781" name="Arc 37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1782" name="Arc 38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1783" name="Arc 39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1784" name="Arc 40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1785" name="Arc 41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31786" name="AutoShape 42"/>
          <p:cNvCxnSpPr>
            <a:cxnSpLocks noChangeShapeType="1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1787" name="Line 43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1788" name="Text Box 44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1789" name="Text Box 45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31790" name="Text Box 46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1791" name="Text Box 47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1792" name="Text Box 48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04001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Dijkstra’s algorithm</a:t>
            </a:r>
          </a:p>
        </p:txBody>
      </p:sp>
      <p:sp>
        <p:nvSpPr>
          <p:cNvPr id="195587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195588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195589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195590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195591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cxnSp>
        <p:nvCxnSpPr>
          <p:cNvPr id="32776" name="AutoShape 8"/>
          <p:cNvCxnSpPr>
            <a:cxnSpLocks noChangeShapeType="1"/>
            <a:stCxn id="195587" idx="7"/>
            <a:endCxn id="195588" idx="2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2777" name="AutoShape 9"/>
          <p:cNvCxnSpPr>
            <a:cxnSpLocks noChangeShapeType="1"/>
            <a:stCxn id="195587" idx="5"/>
            <a:endCxn id="195590" idx="2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131445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19304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2522538" y="3810000"/>
            <a:ext cx="4556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3121025" y="3810000"/>
            <a:ext cx="477838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37592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615950" y="3810000"/>
            <a:ext cx="61277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Q:</a:t>
            </a:r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>
            <a:off x="1362075" y="4419600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2789" name="Text Box 21"/>
          <p:cNvSpPr txBox="1">
            <a:spLocks noChangeArrowheads="1"/>
          </p:cNvSpPr>
          <p:nvPr/>
        </p:nvSpPr>
        <p:spPr bwMode="auto">
          <a:xfrm>
            <a:off x="19462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2790" name="Text Box 22"/>
          <p:cNvSpPr txBox="1">
            <a:spLocks noChangeArrowheads="1"/>
          </p:cNvSpPr>
          <p:nvPr/>
        </p:nvSpPr>
        <p:spPr bwMode="auto">
          <a:xfrm>
            <a:off x="2551113" y="4413250"/>
            <a:ext cx="4016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2791" name="Text Box 23"/>
          <p:cNvSpPr txBox="1">
            <a:spLocks noChangeArrowheads="1"/>
          </p:cNvSpPr>
          <p:nvPr/>
        </p:nvSpPr>
        <p:spPr bwMode="auto">
          <a:xfrm>
            <a:off x="315912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2792" name="Text Box 24"/>
          <p:cNvSpPr txBox="1">
            <a:spLocks noChangeArrowheads="1"/>
          </p:cNvSpPr>
          <p:nvPr/>
        </p:nvSpPr>
        <p:spPr bwMode="auto">
          <a:xfrm>
            <a:off x="37750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2793" name="Line 25"/>
          <p:cNvSpPr>
            <a:spLocks noChangeShapeType="1"/>
          </p:cNvSpPr>
          <p:nvPr/>
        </p:nvSpPr>
        <p:spPr bwMode="auto">
          <a:xfrm>
            <a:off x="1292225" y="4419600"/>
            <a:ext cx="28956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2794" name="Text Box 26"/>
          <p:cNvSpPr txBox="1">
            <a:spLocks noChangeArrowheads="1"/>
          </p:cNvSpPr>
          <p:nvPr/>
        </p:nvSpPr>
        <p:spPr bwMode="auto">
          <a:xfrm>
            <a:off x="406400" y="2493963"/>
            <a:ext cx="1547218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K: 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{ </a:t>
            </a:r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}</a:t>
            </a:r>
          </a:p>
        </p:txBody>
      </p:sp>
      <p:sp>
        <p:nvSpPr>
          <p:cNvPr id="32795" name="Text Box 27"/>
          <p:cNvSpPr txBox="1">
            <a:spLocks noChangeArrowheads="1"/>
          </p:cNvSpPr>
          <p:nvPr/>
        </p:nvSpPr>
        <p:spPr bwMode="auto">
          <a:xfrm>
            <a:off x="3429000" y="253841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2796" name="Text Box 28"/>
          <p:cNvSpPr txBox="1">
            <a:spLocks noChangeArrowheads="1"/>
          </p:cNvSpPr>
          <p:nvPr/>
        </p:nvSpPr>
        <p:spPr bwMode="auto">
          <a:xfrm>
            <a:off x="5738813" y="936625"/>
            <a:ext cx="47466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2797" name="Text Box 29"/>
          <p:cNvSpPr txBox="1">
            <a:spLocks noChangeArrowheads="1"/>
          </p:cNvSpPr>
          <p:nvPr/>
        </p:nvSpPr>
        <p:spPr bwMode="auto">
          <a:xfrm>
            <a:off x="5738813" y="4195763"/>
            <a:ext cx="474662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2798" name="Text Box 30"/>
          <p:cNvSpPr txBox="1">
            <a:spLocks noChangeArrowheads="1"/>
          </p:cNvSpPr>
          <p:nvPr/>
        </p:nvSpPr>
        <p:spPr bwMode="auto">
          <a:xfrm>
            <a:off x="7489825" y="4195763"/>
            <a:ext cx="474663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2799" name="Text Box 31"/>
          <p:cNvSpPr txBox="1">
            <a:spLocks noChangeArrowheads="1"/>
          </p:cNvSpPr>
          <p:nvPr/>
        </p:nvSpPr>
        <p:spPr bwMode="auto">
          <a:xfrm>
            <a:off x="7489825" y="936625"/>
            <a:ext cx="474663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2800" name="Text Box 32"/>
          <p:cNvSpPr txBox="1">
            <a:spLocks noChangeArrowheads="1"/>
          </p:cNvSpPr>
          <p:nvPr/>
        </p:nvSpPr>
        <p:spPr bwMode="auto">
          <a:xfrm>
            <a:off x="127000" y="1447800"/>
            <a:ext cx="4876800" cy="5302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“A”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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 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XTRACT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-M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IN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)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:</a:t>
            </a:r>
          </a:p>
        </p:txBody>
      </p:sp>
      <p:cxnSp>
        <p:nvCxnSpPr>
          <p:cNvPr id="32801" name="AutoShape 33"/>
          <p:cNvCxnSpPr>
            <a:cxnSpLocks noChangeShapeType="1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2802" name="Arc 34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2803" name="Arc 35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2804" name="Arc 36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2805" name="Arc 37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2806" name="Arc 38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2807" name="Arc 39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2808" name="Arc 40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2809" name="Arc 41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32810" name="AutoShape 42"/>
          <p:cNvCxnSpPr>
            <a:cxnSpLocks noChangeShapeType="1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2811" name="Line 43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2812" name="Text Box 44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2813" name="Text Box 45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32814" name="Text Box 46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2815" name="Text Box 47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2816" name="Text Box 48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3918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Dijkstra’s algorithm</a:t>
            </a:r>
          </a:p>
        </p:txBody>
      </p:sp>
      <p:sp>
        <p:nvSpPr>
          <p:cNvPr id="197635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197636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197637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197638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197639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cxnSp>
        <p:nvCxnSpPr>
          <p:cNvPr id="33800" name="AutoShape 8"/>
          <p:cNvCxnSpPr>
            <a:cxnSpLocks noChangeShapeType="1"/>
            <a:stCxn id="197635" idx="7"/>
            <a:endCxn id="197636" idx="2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69850">
            <a:solidFill>
              <a:schemeClr val="accent2"/>
            </a:solidFill>
            <a:round/>
            <a:headEnd/>
            <a:tailEnd type="stealth" w="med" len="med"/>
          </a:ln>
        </p:spPr>
      </p:cxnSp>
      <p:cxnSp>
        <p:nvCxnSpPr>
          <p:cNvPr id="33801" name="AutoShape 9"/>
          <p:cNvCxnSpPr>
            <a:cxnSpLocks noChangeShapeType="1"/>
            <a:stCxn id="197635" idx="5"/>
            <a:endCxn id="197638" idx="2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69850">
            <a:solidFill>
              <a:schemeClr val="accent2"/>
            </a:solidFill>
            <a:round/>
            <a:headEnd/>
            <a:tailEnd type="stealth" w="med" len="med"/>
          </a:ln>
        </p:spPr>
      </p:cxn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3803" name="Text Box 11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131445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19304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33808" name="Text Box 16"/>
          <p:cNvSpPr txBox="1">
            <a:spLocks noChangeArrowheads="1"/>
          </p:cNvSpPr>
          <p:nvPr/>
        </p:nvSpPr>
        <p:spPr bwMode="auto">
          <a:xfrm>
            <a:off x="2522538" y="3810000"/>
            <a:ext cx="4556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3121025" y="3810000"/>
            <a:ext cx="477838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37592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33811" name="Text Box 19"/>
          <p:cNvSpPr txBox="1">
            <a:spLocks noChangeArrowheads="1"/>
          </p:cNvSpPr>
          <p:nvPr/>
        </p:nvSpPr>
        <p:spPr bwMode="auto">
          <a:xfrm>
            <a:off x="615950" y="3810000"/>
            <a:ext cx="61277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Q:</a:t>
            </a:r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1362075" y="4419600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3813" name="Text Box 21"/>
          <p:cNvSpPr txBox="1">
            <a:spLocks noChangeArrowheads="1"/>
          </p:cNvSpPr>
          <p:nvPr/>
        </p:nvSpPr>
        <p:spPr bwMode="auto">
          <a:xfrm>
            <a:off x="19462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814" name="Text Box 22"/>
          <p:cNvSpPr txBox="1">
            <a:spLocks noChangeArrowheads="1"/>
          </p:cNvSpPr>
          <p:nvPr/>
        </p:nvSpPr>
        <p:spPr bwMode="auto">
          <a:xfrm>
            <a:off x="2551113" y="4413250"/>
            <a:ext cx="4016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815" name="Text Box 23"/>
          <p:cNvSpPr txBox="1">
            <a:spLocks noChangeArrowheads="1"/>
          </p:cNvSpPr>
          <p:nvPr/>
        </p:nvSpPr>
        <p:spPr bwMode="auto">
          <a:xfrm>
            <a:off x="315912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816" name="Text Box 24"/>
          <p:cNvSpPr txBox="1">
            <a:spLocks noChangeArrowheads="1"/>
          </p:cNvSpPr>
          <p:nvPr/>
        </p:nvSpPr>
        <p:spPr bwMode="auto">
          <a:xfrm>
            <a:off x="37750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817" name="Line 25"/>
          <p:cNvSpPr>
            <a:spLocks noChangeShapeType="1"/>
          </p:cNvSpPr>
          <p:nvPr/>
        </p:nvSpPr>
        <p:spPr bwMode="auto">
          <a:xfrm>
            <a:off x="1292225" y="4419600"/>
            <a:ext cx="28956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406400" y="2493963"/>
            <a:ext cx="1547218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K: 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{ </a:t>
            </a:r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}</a:t>
            </a:r>
          </a:p>
        </p:txBody>
      </p:sp>
      <p:sp>
        <p:nvSpPr>
          <p:cNvPr id="33819" name="Text Box 27"/>
          <p:cNvSpPr txBox="1">
            <a:spLocks noChangeArrowheads="1"/>
          </p:cNvSpPr>
          <p:nvPr/>
        </p:nvSpPr>
        <p:spPr bwMode="auto">
          <a:xfrm>
            <a:off x="3429000" y="253841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3820" name="Text Box 28"/>
          <p:cNvSpPr txBox="1">
            <a:spLocks noChangeArrowheads="1"/>
          </p:cNvSpPr>
          <p:nvPr/>
        </p:nvSpPr>
        <p:spPr bwMode="auto">
          <a:xfrm>
            <a:off x="5680075" y="944563"/>
            <a:ext cx="5905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3821" name="Text Box 29"/>
          <p:cNvSpPr txBox="1">
            <a:spLocks noChangeArrowheads="1"/>
          </p:cNvSpPr>
          <p:nvPr/>
        </p:nvSpPr>
        <p:spPr bwMode="auto">
          <a:xfrm>
            <a:off x="5781675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3822" name="Text Box 30"/>
          <p:cNvSpPr txBox="1">
            <a:spLocks noChangeArrowheads="1"/>
          </p:cNvSpPr>
          <p:nvPr/>
        </p:nvSpPr>
        <p:spPr bwMode="auto">
          <a:xfrm>
            <a:off x="7489825" y="4195763"/>
            <a:ext cx="474663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823" name="Text Box 31"/>
          <p:cNvSpPr txBox="1">
            <a:spLocks noChangeArrowheads="1"/>
          </p:cNvSpPr>
          <p:nvPr/>
        </p:nvSpPr>
        <p:spPr bwMode="auto">
          <a:xfrm>
            <a:off x="7489825" y="936625"/>
            <a:ext cx="474663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824" name="Text Box 32"/>
          <p:cNvSpPr txBox="1">
            <a:spLocks noChangeArrowheads="1"/>
          </p:cNvSpPr>
          <p:nvPr/>
        </p:nvSpPr>
        <p:spPr bwMode="auto">
          <a:xfrm>
            <a:off x="1901825" y="4783138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3825" name="Text Box 33"/>
          <p:cNvSpPr txBox="1">
            <a:spLocks noChangeArrowheads="1"/>
          </p:cNvSpPr>
          <p:nvPr/>
        </p:nvSpPr>
        <p:spPr bwMode="auto">
          <a:xfrm>
            <a:off x="2582863" y="4776788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3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826" name="Text Box 34"/>
          <p:cNvSpPr txBox="1">
            <a:spLocks noChangeArrowheads="1"/>
          </p:cNvSpPr>
          <p:nvPr/>
        </p:nvSpPr>
        <p:spPr bwMode="auto">
          <a:xfrm>
            <a:off x="3184525" y="4776788"/>
            <a:ext cx="3508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-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827" name="Text Box 35"/>
          <p:cNvSpPr txBox="1">
            <a:spLocks noChangeArrowheads="1"/>
          </p:cNvSpPr>
          <p:nvPr/>
        </p:nvSpPr>
        <p:spPr bwMode="auto">
          <a:xfrm>
            <a:off x="3800475" y="4776788"/>
            <a:ext cx="3508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-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828" name="Text Box 36"/>
          <p:cNvSpPr txBox="1">
            <a:spLocks noChangeArrowheads="1"/>
          </p:cNvSpPr>
          <p:nvPr/>
        </p:nvSpPr>
        <p:spPr bwMode="auto">
          <a:xfrm>
            <a:off x="381000" y="1447800"/>
            <a:ext cx="4876800" cy="9683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Relax all edges </a:t>
            </a:r>
            <a:b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</a:b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leaving </a:t>
            </a: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:</a:t>
            </a:r>
          </a:p>
        </p:txBody>
      </p:sp>
      <p:cxnSp>
        <p:nvCxnSpPr>
          <p:cNvPr id="33829" name="AutoShape 37"/>
          <p:cNvCxnSpPr>
            <a:cxnSpLocks noChangeShapeType="1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3830" name="Arc 38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3831" name="Arc 39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3832" name="Arc 40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3833" name="Arc 41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3834" name="Arc 42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3835" name="Arc 43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3836" name="Arc 44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3837" name="Arc 45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33838" name="AutoShape 46"/>
          <p:cNvCxnSpPr>
            <a:cxnSpLocks noChangeShapeType="1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3839" name="Line 47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3840" name="Text Box 48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3841" name="Text Box 49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33842" name="Text Box 50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3843" name="Text Box 51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3844" name="Text Box 52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49487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Dijkstra’s algorithm</a:t>
            </a:r>
          </a:p>
        </p:txBody>
      </p:sp>
      <p:sp>
        <p:nvSpPr>
          <p:cNvPr id="199683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199684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199685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199686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199687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cxnSp>
        <p:nvCxnSpPr>
          <p:cNvPr id="34824" name="AutoShape 8"/>
          <p:cNvCxnSpPr>
            <a:cxnSpLocks noChangeShapeType="1"/>
            <a:stCxn id="199683" idx="7"/>
            <a:endCxn id="199684" idx="2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4825" name="AutoShape 9"/>
          <p:cNvCxnSpPr>
            <a:cxnSpLocks noChangeShapeType="1"/>
            <a:stCxn id="199683" idx="5"/>
            <a:endCxn id="199686" idx="2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131445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19304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2522538" y="3810000"/>
            <a:ext cx="4556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3121025" y="3810000"/>
            <a:ext cx="477838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37592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615950" y="3810000"/>
            <a:ext cx="61277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Q:</a:t>
            </a:r>
          </a:p>
        </p:txBody>
      </p:sp>
      <p:sp>
        <p:nvSpPr>
          <p:cNvPr id="34836" name="Text Box 20"/>
          <p:cNvSpPr txBox="1">
            <a:spLocks noChangeArrowheads="1"/>
          </p:cNvSpPr>
          <p:nvPr/>
        </p:nvSpPr>
        <p:spPr bwMode="auto">
          <a:xfrm>
            <a:off x="1362075" y="4419600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4837" name="Text Box 21"/>
          <p:cNvSpPr txBox="1">
            <a:spLocks noChangeArrowheads="1"/>
          </p:cNvSpPr>
          <p:nvPr/>
        </p:nvSpPr>
        <p:spPr bwMode="auto">
          <a:xfrm>
            <a:off x="19462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838" name="Text Box 22"/>
          <p:cNvSpPr txBox="1">
            <a:spLocks noChangeArrowheads="1"/>
          </p:cNvSpPr>
          <p:nvPr/>
        </p:nvSpPr>
        <p:spPr bwMode="auto">
          <a:xfrm>
            <a:off x="2551113" y="4413250"/>
            <a:ext cx="4016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839" name="Text Box 23"/>
          <p:cNvSpPr txBox="1">
            <a:spLocks noChangeArrowheads="1"/>
          </p:cNvSpPr>
          <p:nvPr/>
        </p:nvSpPr>
        <p:spPr bwMode="auto">
          <a:xfrm>
            <a:off x="315912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840" name="Text Box 24"/>
          <p:cNvSpPr txBox="1">
            <a:spLocks noChangeArrowheads="1"/>
          </p:cNvSpPr>
          <p:nvPr/>
        </p:nvSpPr>
        <p:spPr bwMode="auto">
          <a:xfrm>
            <a:off x="37750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841" name="Line 25"/>
          <p:cNvSpPr>
            <a:spLocks noChangeShapeType="1"/>
          </p:cNvSpPr>
          <p:nvPr/>
        </p:nvSpPr>
        <p:spPr bwMode="auto">
          <a:xfrm>
            <a:off x="1292225" y="4419600"/>
            <a:ext cx="28956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4842" name="Text Box 26"/>
          <p:cNvSpPr txBox="1">
            <a:spLocks noChangeArrowheads="1"/>
          </p:cNvSpPr>
          <p:nvPr/>
        </p:nvSpPr>
        <p:spPr bwMode="auto">
          <a:xfrm>
            <a:off x="406400" y="2493963"/>
            <a:ext cx="2026517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K: 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{ </a:t>
            </a:r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A, C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}</a:t>
            </a:r>
          </a:p>
        </p:txBody>
      </p:sp>
      <p:sp>
        <p:nvSpPr>
          <p:cNvPr id="34843" name="Text Box 27"/>
          <p:cNvSpPr txBox="1">
            <a:spLocks noChangeArrowheads="1"/>
          </p:cNvSpPr>
          <p:nvPr/>
        </p:nvSpPr>
        <p:spPr bwMode="auto">
          <a:xfrm>
            <a:off x="3429000" y="253841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4844" name="Text Box 28"/>
          <p:cNvSpPr txBox="1">
            <a:spLocks noChangeArrowheads="1"/>
          </p:cNvSpPr>
          <p:nvPr/>
        </p:nvSpPr>
        <p:spPr bwMode="auto">
          <a:xfrm>
            <a:off x="5680075" y="944563"/>
            <a:ext cx="5905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4845" name="Text Box 29"/>
          <p:cNvSpPr txBox="1">
            <a:spLocks noChangeArrowheads="1"/>
          </p:cNvSpPr>
          <p:nvPr/>
        </p:nvSpPr>
        <p:spPr bwMode="auto">
          <a:xfrm>
            <a:off x="5781675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4846" name="Text Box 30"/>
          <p:cNvSpPr txBox="1">
            <a:spLocks noChangeArrowheads="1"/>
          </p:cNvSpPr>
          <p:nvPr/>
        </p:nvSpPr>
        <p:spPr bwMode="auto">
          <a:xfrm>
            <a:off x="7489825" y="4195763"/>
            <a:ext cx="474663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847" name="Text Box 31"/>
          <p:cNvSpPr txBox="1">
            <a:spLocks noChangeArrowheads="1"/>
          </p:cNvSpPr>
          <p:nvPr/>
        </p:nvSpPr>
        <p:spPr bwMode="auto">
          <a:xfrm>
            <a:off x="7489825" y="936625"/>
            <a:ext cx="474663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3200">
              <a:solidFill>
                <a:schemeClr val="accent2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848" name="Text Box 32"/>
          <p:cNvSpPr txBox="1">
            <a:spLocks noChangeArrowheads="1"/>
          </p:cNvSpPr>
          <p:nvPr/>
        </p:nvSpPr>
        <p:spPr bwMode="auto">
          <a:xfrm>
            <a:off x="1901825" y="4783138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4849" name="Text Box 33"/>
          <p:cNvSpPr txBox="1">
            <a:spLocks noChangeArrowheads="1"/>
          </p:cNvSpPr>
          <p:nvPr/>
        </p:nvSpPr>
        <p:spPr bwMode="auto">
          <a:xfrm>
            <a:off x="2582863" y="4776788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3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850" name="Text Box 34"/>
          <p:cNvSpPr txBox="1">
            <a:spLocks noChangeArrowheads="1"/>
          </p:cNvSpPr>
          <p:nvPr/>
        </p:nvSpPr>
        <p:spPr bwMode="auto">
          <a:xfrm>
            <a:off x="3184525" y="4776788"/>
            <a:ext cx="3508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-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851" name="Text Box 35"/>
          <p:cNvSpPr txBox="1">
            <a:spLocks noChangeArrowheads="1"/>
          </p:cNvSpPr>
          <p:nvPr/>
        </p:nvSpPr>
        <p:spPr bwMode="auto">
          <a:xfrm>
            <a:off x="3800475" y="4776788"/>
            <a:ext cx="3508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-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852" name="Text Box 36"/>
          <p:cNvSpPr txBox="1">
            <a:spLocks noChangeArrowheads="1"/>
          </p:cNvSpPr>
          <p:nvPr/>
        </p:nvSpPr>
        <p:spPr bwMode="auto">
          <a:xfrm>
            <a:off x="127000" y="1447800"/>
            <a:ext cx="4876800" cy="5302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“C”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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 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XTRACT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-M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IN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)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:</a:t>
            </a:r>
          </a:p>
        </p:txBody>
      </p:sp>
      <p:cxnSp>
        <p:nvCxnSpPr>
          <p:cNvPr id="34853" name="AutoShape 37"/>
          <p:cNvCxnSpPr>
            <a:cxnSpLocks noChangeShapeType="1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4854" name="Arc 38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4855" name="Arc 39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4856" name="Arc 40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4857" name="Arc 41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4858" name="Arc 42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4859" name="Arc 43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4860" name="Arc 44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4861" name="Arc 45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34862" name="AutoShape 46"/>
          <p:cNvCxnSpPr>
            <a:cxnSpLocks noChangeShapeType="1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4863" name="Line 47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4864" name="Text Box 48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4865" name="Text Box 49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34866" name="Text Box 50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4867" name="Text Box 51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4868" name="Text Box 52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36287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Dijkstra’s algorithm</a:t>
            </a:r>
          </a:p>
        </p:txBody>
      </p:sp>
      <p:sp>
        <p:nvSpPr>
          <p:cNvPr id="201731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201732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201733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201734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201735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cxnSp>
        <p:nvCxnSpPr>
          <p:cNvPr id="35848" name="AutoShape 8"/>
          <p:cNvCxnSpPr>
            <a:cxnSpLocks noChangeShapeType="1"/>
            <a:stCxn id="201731" idx="7"/>
            <a:endCxn id="201732" idx="2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5849" name="AutoShape 9"/>
          <p:cNvCxnSpPr>
            <a:cxnSpLocks noChangeShapeType="1"/>
            <a:stCxn id="201731" idx="5"/>
            <a:endCxn id="201734" idx="2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38100">
            <a:solidFill>
              <a:srgbClr val="990000"/>
            </a:solidFill>
            <a:round/>
            <a:headEnd/>
            <a:tailEnd type="arrow" w="med" len="med"/>
          </a:ln>
        </p:spPr>
      </p:cxnSp>
      <p:cxnSp>
        <p:nvCxnSpPr>
          <p:cNvPr id="35850" name="AutoShape 10"/>
          <p:cNvCxnSpPr>
            <a:cxnSpLocks noChangeShapeType="1"/>
            <a:stCxn id="201732" idx="6"/>
            <a:endCxn id="201733" idx="2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5851" name="Arc 11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69850">
            <a:solidFill>
              <a:schemeClr val="accent2"/>
            </a:solidFill>
            <a:round/>
            <a:headEnd type="stealth" w="med" len="med"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5852" name="Arc 12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6985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5853" name="Arc 13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5854" name="Arc 14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5855" name="Arc 15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5856" name="Arc 16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5857" name="Arc 17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5858" name="Arc 18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35859" name="AutoShape 19"/>
          <p:cNvCxnSpPr>
            <a:cxnSpLocks noChangeShapeType="1"/>
            <a:stCxn id="201734" idx="6"/>
            <a:endCxn id="201735" idx="2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69850">
            <a:solidFill>
              <a:schemeClr val="accent2"/>
            </a:solidFill>
            <a:round/>
            <a:headEnd/>
            <a:tailEnd type="stealth" w="med" len="med"/>
          </a:ln>
        </p:spPr>
      </p:cxnSp>
      <p:sp>
        <p:nvSpPr>
          <p:cNvPr id="35860" name="Line 20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69850">
            <a:solidFill>
              <a:schemeClr val="accent2"/>
            </a:solidFill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5861" name="Text Box 21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5863" name="Text Box 23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5864" name="Text Box 24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35865" name="Text Box 25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5867" name="Text Box 27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  <p:sp>
        <p:nvSpPr>
          <p:cNvPr id="35868" name="Text Box 28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5869" name="Text Box 29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5870" name="Text Box 30"/>
          <p:cNvSpPr txBox="1">
            <a:spLocks noChangeArrowheads="1"/>
          </p:cNvSpPr>
          <p:nvPr/>
        </p:nvSpPr>
        <p:spPr bwMode="auto">
          <a:xfrm>
            <a:off x="131445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35871" name="Text Box 31"/>
          <p:cNvSpPr txBox="1">
            <a:spLocks noChangeArrowheads="1"/>
          </p:cNvSpPr>
          <p:nvPr/>
        </p:nvSpPr>
        <p:spPr bwMode="auto">
          <a:xfrm>
            <a:off x="19304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35872" name="Text Box 32"/>
          <p:cNvSpPr txBox="1">
            <a:spLocks noChangeArrowheads="1"/>
          </p:cNvSpPr>
          <p:nvPr/>
        </p:nvSpPr>
        <p:spPr bwMode="auto">
          <a:xfrm>
            <a:off x="2522538" y="3810000"/>
            <a:ext cx="4556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35873" name="Text Box 33"/>
          <p:cNvSpPr txBox="1">
            <a:spLocks noChangeArrowheads="1"/>
          </p:cNvSpPr>
          <p:nvPr/>
        </p:nvSpPr>
        <p:spPr bwMode="auto">
          <a:xfrm>
            <a:off x="3121025" y="3810000"/>
            <a:ext cx="477838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35874" name="Text Box 34"/>
          <p:cNvSpPr txBox="1">
            <a:spLocks noChangeArrowheads="1"/>
          </p:cNvSpPr>
          <p:nvPr/>
        </p:nvSpPr>
        <p:spPr bwMode="auto">
          <a:xfrm>
            <a:off x="37592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35875" name="Text Box 35"/>
          <p:cNvSpPr txBox="1">
            <a:spLocks noChangeArrowheads="1"/>
          </p:cNvSpPr>
          <p:nvPr/>
        </p:nvSpPr>
        <p:spPr bwMode="auto">
          <a:xfrm>
            <a:off x="615950" y="3810000"/>
            <a:ext cx="61277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Q:</a:t>
            </a:r>
          </a:p>
        </p:txBody>
      </p:sp>
      <p:sp>
        <p:nvSpPr>
          <p:cNvPr id="35876" name="Text Box 36"/>
          <p:cNvSpPr txBox="1">
            <a:spLocks noChangeArrowheads="1"/>
          </p:cNvSpPr>
          <p:nvPr/>
        </p:nvSpPr>
        <p:spPr bwMode="auto">
          <a:xfrm>
            <a:off x="1362075" y="4419600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5877" name="Text Box 37"/>
          <p:cNvSpPr txBox="1">
            <a:spLocks noChangeArrowheads="1"/>
          </p:cNvSpPr>
          <p:nvPr/>
        </p:nvSpPr>
        <p:spPr bwMode="auto">
          <a:xfrm>
            <a:off x="19462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5878" name="Text Box 38"/>
          <p:cNvSpPr txBox="1">
            <a:spLocks noChangeArrowheads="1"/>
          </p:cNvSpPr>
          <p:nvPr/>
        </p:nvSpPr>
        <p:spPr bwMode="auto">
          <a:xfrm>
            <a:off x="2551113" y="4413250"/>
            <a:ext cx="4016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5879" name="Text Box 39"/>
          <p:cNvSpPr txBox="1">
            <a:spLocks noChangeArrowheads="1"/>
          </p:cNvSpPr>
          <p:nvPr/>
        </p:nvSpPr>
        <p:spPr bwMode="auto">
          <a:xfrm>
            <a:off x="315912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5880" name="Text Box 40"/>
          <p:cNvSpPr txBox="1">
            <a:spLocks noChangeArrowheads="1"/>
          </p:cNvSpPr>
          <p:nvPr/>
        </p:nvSpPr>
        <p:spPr bwMode="auto">
          <a:xfrm>
            <a:off x="37750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5881" name="Line 41"/>
          <p:cNvSpPr>
            <a:spLocks noChangeShapeType="1"/>
          </p:cNvSpPr>
          <p:nvPr/>
        </p:nvSpPr>
        <p:spPr bwMode="auto">
          <a:xfrm>
            <a:off x="1292225" y="4419600"/>
            <a:ext cx="28956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5882" name="Text Box 42"/>
          <p:cNvSpPr txBox="1">
            <a:spLocks noChangeArrowheads="1"/>
          </p:cNvSpPr>
          <p:nvPr/>
        </p:nvSpPr>
        <p:spPr bwMode="auto">
          <a:xfrm>
            <a:off x="406400" y="2493963"/>
            <a:ext cx="2026517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K: 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{ </a:t>
            </a:r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A, C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}</a:t>
            </a:r>
          </a:p>
        </p:txBody>
      </p:sp>
      <p:sp>
        <p:nvSpPr>
          <p:cNvPr id="35883" name="Text Box 43"/>
          <p:cNvSpPr txBox="1">
            <a:spLocks noChangeArrowheads="1"/>
          </p:cNvSpPr>
          <p:nvPr/>
        </p:nvSpPr>
        <p:spPr bwMode="auto">
          <a:xfrm>
            <a:off x="3429000" y="253841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5884" name="Text Box 44"/>
          <p:cNvSpPr txBox="1">
            <a:spLocks noChangeArrowheads="1"/>
          </p:cNvSpPr>
          <p:nvPr/>
        </p:nvSpPr>
        <p:spPr bwMode="auto">
          <a:xfrm>
            <a:off x="5781675" y="94456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5885" name="Text Box 45"/>
          <p:cNvSpPr txBox="1">
            <a:spLocks noChangeArrowheads="1"/>
          </p:cNvSpPr>
          <p:nvPr/>
        </p:nvSpPr>
        <p:spPr bwMode="auto">
          <a:xfrm>
            <a:off x="5781675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5886" name="Text Box 46"/>
          <p:cNvSpPr txBox="1">
            <a:spLocks noChangeArrowheads="1"/>
          </p:cNvSpPr>
          <p:nvPr/>
        </p:nvSpPr>
        <p:spPr bwMode="auto">
          <a:xfrm>
            <a:off x="7532688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35887" name="Text Box 47"/>
          <p:cNvSpPr txBox="1">
            <a:spLocks noChangeArrowheads="1"/>
          </p:cNvSpPr>
          <p:nvPr/>
        </p:nvSpPr>
        <p:spPr bwMode="auto">
          <a:xfrm>
            <a:off x="7431088" y="944563"/>
            <a:ext cx="5905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5888" name="Text Box 48"/>
          <p:cNvSpPr txBox="1">
            <a:spLocks noChangeArrowheads="1"/>
          </p:cNvSpPr>
          <p:nvPr/>
        </p:nvSpPr>
        <p:spPr bwMode="auto">
          <a:xfrm>
            <a:off x="1901825" y="4783138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5889" name="Text Box 49"/>
          <p:cNvSpPr txBox="1">
            <a:spLocks noChangeArrowheads="1"/>
          </p:cNvSpPr>
          <p:nvPr/>
        </p:nvSpPr>
        <p:spPr bwMode="auto">
          <a:xfrm>
            <a:off x="2582863" y="4776788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3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5890" name="Text Box 50"/>
          <p:cNvSpPr txBox="1">
            <a:spLocks noChangeArrowheads="1"/>
          </p:cNvSpPr>
          <p:nvPr/>
        </p:nvSpPr>
        <p:spPr bwMode="auto">
          <a:xfrm>
            <a:off x="3184525" y="4776788"/>
            <a:ext cx="3508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-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5891" name="Text Box 51"/>
          <p:cNvSpPr txBox="1">
            <a:spLocks noChangeArrowheads="1"/>
          </p:cNvSpPr>
          <p:nvPr/>
        </p:nvSpPr>
        <p:spPr bwMode="auto">
          <a:xfrm>
            <a:off x="3800475" y="4776788"/>
            <a:ext cx="3508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-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5892" name="Text Box 52"/>
          <p:cNvSpPr txBox="1">
            <a:spLocks noChangeArrowheads="1"/>
          </p:cNvSpPr>
          <p:nvPr/>
        </p:nvSpPr>
        <p:spPr bwMode="auto">
          <a:xfrm>
            <a:off x="1978025" y="5146675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5893" name="Text Box 53"/>
          <p:cNvSpPr txBox="1">
            <a:spLocks noChangeArrowheads="1"/>
          </p:cNvSpPr>
          <p:nvPr/>
        </p:nvSpPr>
        <p:spPr bwMode="auto">
          <a:xfrm>
            <a:off x="3114675" y="5146675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5894" name="Text Box 54"/>
          <p:cNvSpPr txBox="1">
            <a:spLocks noChangeArrowheads="1"/>
          </p:cNvSpPr>
          <p:nvPr/>
        </p:nvSpPr>
        <p:spPr bwMode="auto">
          <a:xfrm>
            <a:off x="3806825" y="5146675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35895" name="Text Box 55"/>
          <p:cNvSpPr txBox="1">
            <a:spLocks noChangeArrowheads="1"/>
          </p:cNvSpPr>
          <p:nvPr/>
        </p:nvSpPr>
        <p:spPr bwMode="auto">
          <a:xfrm>
            <a:off x="381000" y="1447800"/>
            <a:ext cx="4876800" cy="9683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Relax all edges </a:t>
            </a:r>
          </a:p>
          <a:p>
            <a:pPr>
              <a:lnSpc>
                <a:spcPct val="90000"/>
              </a:lnSpc>
            </a:pP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leaving </a:t>
            </a: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03887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Dijkstra’s algorithm</a:t>
            </a:r>
          </a:p>
        </p:txBody>
      </p:sp>
      <p:sp>
        <p:nvSpPr>
          <p:cNvPr id="203779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203780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203781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203782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203783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cxnSp>
        <p:nvCxnSpPr>
          <p:cNvPr id="36872" name="AutoShape 8"/>
          <p:cNvCxnSpPr>
            <a:cxnSpLocks noChangeShapeType="1"/>
            <a:stCxn id="203779" idx="7"/>
            <a:endCxn id="203780" idx="2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6873" name="AutoShape 9"/>
          <p:cNvCxnSpPr>
            <a:cxnSpLocks noChangeShapeType="1"/>
            <a:stCxn id="203779" idx="5"/>
            <a:endCxn id="203782" idx="2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6875" name="Text Box 11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6878" name="Text Box 14"/>
          <p:cNvSpPr txBox="1">
            <a:spLocks noChangeArrowheads="1"/>
          </p:cNvSpPr>
          <p:nvPr/>
        </p:nvSpPr>
        <p:spPr bwMode="auto">
          <a:xfrm>
            <a:off x="131445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19304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2522538" y="3810000"/>
            <a:ext cx="4556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3121025" y="3810000"/>
            <a:ext cx="477838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36882" name="Text Box 18"/>
          <p:cNvSpPr txBox="1">
            <a:spLocks noChangeArrowheads="1"/>
          </p:cNvSpPr>
          <p:nvPr/>
        </p:nvSpPr>
        <p:spPr bwMode="auto">
          <a:xfrm>
            <a:off x="37592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36883" name="Text Box 19"/>
          <p:cNvSpPr txBox="1">
            <a:spLocks noChangeArrowheads="1"/>
          </p:cNvSpPr>
          <p:nvPr/>
        </p:nvSpPr>
        <p:spPr bwMode="auto">
          <a:xfrm>
            <a:off x="615950" y="3810000"/>
            <a:ext cx="61277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Q:</a:t>
            </a:r>
          </a:p>
        </p:txBody>
      </p:sp>
      <p:sp>
        <p:nvSpPr>
          <p:cNvPr id="36884" name="Text Box 20"/>
          <p:cNvSpPr txBox="1">
            <a:spLocks noChangeArrowheads="1"/>
          </p:cNvSpPr>
          <p:nvPr/>
        </p:nvSpPr>
        <p:spPr bwMode="auto">
          <a:xfrm>
            <a:off x="1362075" y="4419600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6885" name="Text Box 21"/>
          <p:cNvSpPr txBox="1">
            <a:spLocks noChangeArrowheads="1"/>
          </p:cNvSpPr>
          <p:nvPr/>
        </p:nvSpPr>
        <p:spPr bwMode="auto">
          <a:xfrm>
            <a:off x="19462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6886" name="Text Box 22"/>
          <p:cNvSpPr txBox="1">
            <a:spLocks noChangeArrowheads="1"/>
          </p:cNvSpPr>
          <p:nvPr/>
        </p:nvSpPr>
        <p:spPr bwMode="auto">
          <a:xfrm>
            <a:off x="2551113" y="4413250"/>
            <a:ext cx="4016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6887" name="Text Box 23"/>
          <p:cNvSpPr txBox="1">
            <a:spLocks noChangeArrowheads="1"/>
          </p:cNvSpPr>
          <p:nvPr/>
        </p:nvSpPr>
        <p:spPr bwMode="auto">
          <a:xfrm>
            <a:off x="315912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6888" name="Text Box 24"/>
          <p:cNvSpPr txBox="1">
            <a:spLocks noChangeArrowheads="1"/>
          </p:cNvSpPr>
          <p:nvPr/>
        </p:nvSpPr>
        <p:spPr bwMode="auto">
          <a:xfrm>
            <a:off x="37750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>
            <a:off x="1292225" y="4419600"/>
            <a:ext cx="28956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6890" name="Text Box 26"/>
          <p:cNvSpPr txBox="1">
            <a:spLocks noChangeArrowheads="1"/>
          </p:cNvSpPr>
          <p:nvPr/>
        </p:nvSpPr>
        <p:spPr bwMode="auto">
          <a:xfrm>
            <a:off x="406400" y="2493963"/>
            <a:ext cx="2481770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K: 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{ </a:t>
            </a:r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A, C, E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}</a:t>
            </a:r>
          </a:p>
        </p:txBody>
      </p:sp>
      <p:sp>
        <p:nvSpPr>
          <p:cNvPr id="36891" name="Text Box 27"/>
          <p:cNvSpPr txBox="1">
            <a:spLocks noChangeArrowheads="1"/>
          </p:cNvSpPr>
          <p:nvPr/>
        </p:nvSpPr>
        <p:spPr bwMode="auto">
          <a:xfrm>
            <a:off x="3429000" y="253841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6892" name="Text Box 28"/>
          <p:cNvSpPr txBox="1">
            <a:spLocks noChangeArrowheads="1"/>
          </p:cNvSpPr>
          <p:nvPr/>
        </p:nvSpPr>
        <p:spPr bwMode="auto">
          <a:xfrm>
            <a:off x="5781675" y="94456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6893" name="Text Box 29"/>
          <p:cNvSpPr txBox="1">
            <a:spLocks noChangeArrowheads="1"/>
          </p:cNvSpPr>
          <p:nvPr/>
        </p:nvSpPr>
        <p:spPr bwMode="auto">
          <a:xfrm>
            <a:off x="5781675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6894" name="Text Box 30"/>
          <p:cNvSpPr txBox="1">
            <a:spLocks noChangeArrowheads="1"/>
          </p:cNvSpPr>
          <p:nvPr/>
        </p:nvSpPr>
        <p:spPr bwMode="auto">
          <a:xfrm>
            <a:off x="7532688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36895" name="Text Box 31"/>
          <p:cNvSpPr txBox="1">
            <a:spLocks noChangeArrowheads="1"/>
          </p:cNvSpPr>
          <p:nvPr/>
        </p:nvSpPr>
        <p:spPr bwMode="auto">
          <a:xfrm>
            <a:off x="7431088" y="944563"/>
            <a:ext cx="5905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6896" name="Text Box 32"/>
          <p:cNvSpPr txBox="1">
            <a:spLocks noChangeArrowheads="1"/>
          </p:cNvSpPr>
          <p:nvPr/>
        </p:nvSpPr>
        <p:spPr bwMode="auto">
          <a:xfrm>
            <a:off x="1901825" y="4783138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6897" name="Text Box 33"/>
          <p:cNvSpPr txBox="1">
            <a:spLocks noChangeArrowheads="1"/>
          </p:cNvSpPr>
          <p:nvPr/>
        </p:nvSpPr>
        <p:spPr bwMode="auto">
          <a:xfrm>
            <a:off x="2582863" y="4776788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3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6898" name="Text Box 34"/>
          <p:cNvSpPr txBox="1">
            <a:spLocks noChangeArrowheads="1"/>
          </p:cNvSpPr>
          <p:nvPr/>
        </p:nvSpPr>
        <p:spPr bwMode="auto">
          <a:xfrm>
            <a:off x="3184525" y="4776788"/>
            <a:ext cx="3508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-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6899" name="Text Box 35"/>
          <p:cNvSpPr txBox="1">
            <a:spLocks noChangeArrowheads="1"/>
          </p:cNvSpPr>
          <p:nvPr/>
        </p:nvSpPr>
        <p:spPr bwMode="auto">
          <a:xfrm>
            <a:off x="3800475" y="4776788"/>
            <a:ext cx="3508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-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6900" name="Text Box 36"/>
          <p:cNvSpPr txBox="1">
            <a:spLocks noChangeArrowheads="1"/>
          </p:cNvSpPr>
          <p:nvPr/>
        </p:nvSpPr>
        <p:spPr bwMode="auto">
          <a:xfrm>
            <a:off x="1978025" y="5146675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6901" name="Text Box 37"/>
          <p:cNvSpPr txBox="1">
            <a:spLocks noChangeArrowheads="1"/>
          </p:cNvSpPr>
          <p:nvPr/>
        </p:nvSpPr>
        <p:spPr bwMode="auto">
          <a:xfrm>
            <a:off x="3114675" y="5146675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6902" name="Text Box 38"/>
          <p:cNvSpPr txBox="1">
            <a:spLocks noChangeArrowheads="1"/>
          </p:cNvSpPr>
          <p:nvPr/>
        </p:nvSpPr>
        <p:spPr bwMode="auto">
          <a:xfrm>
            <a:off x="3806825" y="5146675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36903" name="Text Box 39"/>
          <p:cNvSpPr txBox="1">
            <a:spLocks noChangeArrowheads="1"/>
          </p:cNvSpPr>
          <p:nvPr/>
        </p:nvSpPr>
        <p:spPr bwMode="auto">
          <a:xfrm>
            <a:off x="127000" y="1447800"/>
            <a:ext cx="4876800" cy="5302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“E”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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 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XTRACT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-M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IN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)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:</a:t>
            </a:r>
          </a:p>
        </p:txBody>
      </p:sp>
      <p:cxnSp>
        <p:nvCxnSpPr>
          <p:cNvPr id="36904" name="AutoShape 40"/>
          <p:cNvCxnSpPr>
            <a:cxnSpLocks noChangeShapeType="1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6905" name="Arc 41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6906" name="Arc 42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6907" name="Arc 43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6908" name="Arc 44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6909" name="Arc 45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6910" name="Arc 46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6911" name="Arc 47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6912" name="Arc 48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36913" name="AutoShape 49"/>
          <p:cNvCxnSpPr>
            <a:cxnSpLocks noChangeShapeType="1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36914" name="Line 50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6915" name="Text Box 51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6916" name="Text Box 52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36917" name="Text Box 53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6918" name="Text Box 54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6919" name="Text Box 55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10870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Dijkstra’s algorithm</a:t>
            </a:r>
          </a:p>
        </p:txBody>
      </p:sp>
      <p:sp>
        <p:nvSpPr>
          <p:cNvPr id="205827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205828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205829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205830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205831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cxnSp>
        <p:nvCxnSpPr>
          <p:cNvPr id="37896" name="AutoShape 8"/>
          <p:cNvCxnSpPr>
            <a:cxnSpLocks noChangeShapeType="1"/>
            <a:stCxn id="205827" idx="7"/>
            <a:endCxn id="205828" idx="2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7897" name="AutoShape 9"/>
          <p:cNvCxnSpPr>
            <a:cxnSpLocks noChangeShapeType="1"/>
            <a:stCxn id="205827" idx="5"/>
            <a:endCxn id="205830" idx="2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37898" name="Arc 10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69850">
            <a:solidFill>
              <a:schemeClr val="accent2"/>
            </a:solidFill>
            <a:round/>
            <a:headEnd type="stealth" w="med" len="med"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7899" name="Arc 11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6985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7903" name="Text Box 15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7904" name="Text Box 16"/>
          <p:cNvSpPr txBox="1">
            <a:spLocks noChangeArrowheads="1"/>
          </p:cNvSpPr>
          <p:nvPr/>
        </p:nvSpPr>
        <p:spPr bwMode="auto">
          <a:xfrm>
            <a:off x="131445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>
            <a:off x="19304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37906" name="Text Box 18"/>
          <p:cNvSpPr txBox="1">
            <a:spLocks noChangeArrowheads="1"/>
          </p:cNvSpPr>
          <p:nvPr/>
        </p:nvSpPr>
        <p:spPr bwMode="auto">
          <a:xfrm>
            <a:off x="2522538" y="3810000"/>
            <a:ext cx="4556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37907" name="Text Box 19"/>
          <p:cNvSpPr txBox="1">
            <a:spLocks noChangeArrowheads="1"/>
          </p:cNvSpPr>
          <p:nvPr/>
        </p:nvSpPr>
        <p:spPr bwMode="auto">
          <a:xfrm>
            <a:off x="3121025" y="3810000"/>
            <a:ext cx="477838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37908" name="Text Box 20"/>
          <p:cNvSpPr txBox="1">
            <a:spLocks noChangeArrowheads="1"/>
          </p:cNvSpPr>
          <p:nvPr/>
        </p:nvSpPr>
        <p:spPr bwMode="auto">
          <a:xfrm>
            <a:off x="37592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615950" y="3810000"/>
            <a:ext cx="61277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Q:</a:t>
            </a:r>
          </a:p>
        </p:txBody>
      </p:sp>
      <p:sp>
        <p:nvSpPr>
          <p:cNvPr id="37910" name="Text Box 22"/>
          <p:cNvSpPr txBox="1">
            <a:spLocks noChangeArrowheads="1"/>
          </p:cNvSpPr>
          <p:nvPr/>
        </p:nvSpPr>
        <p:spPr bwMode="auto">
          <a:xfrm>
            <a:off x="1362075" y="4419600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7911" name="Text Box 23"/>
          <p:cNvSpPr txBox="1">
            <a:spLocks noChangeArrowheads="1"/>
          </p:cNvSpPr>
          <p:nvPr/>
        </p:nvSpPr>
        <p:spPr bwMode="auto">
          <a:xfrm>
            <a:off x="19462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7912" name="Text Box 24"/>
          <p:cNvSpPr txBox="1">
            <a:spLocks noChangeArrowheads="1"/>
          </p:cNvSpPr>
          <p:nvPr/>
        </p:nvSpPr>
        <p:spPr bwMode="auto">
          <a:xfrm>
            <a:off x="2551113" y="4413250"/>
            <a:ext cx="4016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7913" name="Text Box 25"/>
          <p:cNvSpPr txBox="1">
            <a:spLocks noChangeArrowheads="1"/>
          </p:cNvSpPr>
          <p:nvPr/>
        </p:nvSpPr>
        <p:spPr bwMode="auto">
          <a:xfrm>
            <a:off x="315912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7914" name="Text Box 26"/>
          <p:cNvSpPr txBox="1">
            <a:spLocks noChangeArrowheads="1"/>
          </p:cNvSpPr>
          <p:nvPr/>
        </p:nvSpPr>
        <p:spPr bwMode="auto">
          <a:xfrm>
            <a:off x="37750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7915" name="Line 27"/>
          <p:cNvSpPr>
            <a:spLocks noChangeShapeType="1"/>
          </p:cNvSpPr>
          <p:nvPr/>
        </p:nvSpPr>
        <p:spPr bwMode="auto">
          <a:xfrm>
            <a:off x="1292225" y="4419600"/>
            <a:ext cx="28956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7916" name="Text Box 28"/>
          <p:cNvSpPr txBox="1">
            <a:spLocks noChangeArrowheads="1"/>
          </p:cNvSpPr>
          <p:nvPr/>
        </p:nvSpPr>
        <p:spPr bwMode="auto">
          <a:xfrm>
            <a:off x="406400" y="2493963"/>
            <a:ext cx="2481770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K: 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{ </a:t>
            </a:r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A, C, E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}</a:t>
            </a:r>
          </a:p>
        </p:txBody>
      </p:sp>
      <p:sp>
        <p:nvSpPr>
          <p:cNvPr id="37917" name="Text Box 29"/>
          <p:cNvSpPr txBox="1">
            <a:spLocks noChangeArrowheads="1"/>
          </p:cNvSpPr>
          <p:nvPr/>
        </p:nvSpPr>
        <p:spPr bwMode="auto">
          <a:xfrm>
            <a:off x="3429000" y="253841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7918" name="Text Box 30"/>
          <p:cNvSpPr txBox="1">
            <a:spLocks noChangeArrowheads="1"/>
          </p:cNvSpPr>
          <p:nvPr/>
        </p:nvSpPr>
        <p:spPr bwMode="auto">
          <a:xfrm>
            <a:off x="5781675" y="94456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7919" name="Text Box 31"/>
          <p:cNvSpPr txBox="1">
            <a:spLocks noChangeArrowheads="1"/>
          </p:cNvSpPr>
          <p:nvPr/>
        </p:nvSpPr>
        <p:spPr bwMode="auto">
          <a:xfrm>
            <a:off x="5781675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7920" name="Text Box 32"/>
          <p:cNvSpPr txBox="1">
            <a:spLocks noChangeArrowheads="1"/>
          </p:cNvSpPr>
          <p:nvPr/>
        </p:nvSpPr>
        <p:spPr bwMode="auto">
          <a:xfrm>
            <a:off x="7532688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37921" name="Text Box 33"/>
          <p:cNvSpPr txBox="1">
            <a:spLocks noChangeArrowheads="1"/>
          </p:cNvSpPr>
          <p:nvPr/>
        </p:nvSpPr>
        <p:spPr bwMode="auto">
          <a:xfrm>
            <a:off x="7431088" y="944563"/>
            <a:ext cx="5905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7922" name="Text Box 34"/>
          <p:cNvSpPr txBox="1">
            <a:spLocks noChangeArrowheads="1"/>
          </p:cNvSpPr>
          <p:nvPr/>
        </p:nvSpPr>
        <p:spPr bwMode="auto">
          <a:xfrm>
            <a:off x="1901825" y="4783138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7923" name="Text Box 35"/>
          <p:cNvSpPr txBox="1">
            <a:spLocks noChangeArrowheads="1"/>
          </p:cNvSpPr>
          <p:nvPr/>
        </p:nvSpPr>
        <p:spPr bwMode="auto">
          <a:xfrm>
            <a:off x="2582863" y="4776788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3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7924" name="Text Box 36"/>
          <p:cNvSpPr txBox="1">
            <a:spLocks noChangeArrowheads="1"/>
          </p:cNvSpPr>
          <p:nvPr/>
        </p:nvSpPr>
        <p:spPr bwMode="auto">
          <a:xfrm>
            <a:off x="3159125" y="4776788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</a:p>
        </p:txBody>
      </p:sp>
      <p:sp>
        <p:nvSpPr>
          <p:cNvPr id="37925" name="Text Box 37"/>
          <p:cNvSpPr txBox="1">
            <a:spLocks noChangeArrowheads="1"/>
          </p:cNvSpPr>
          <p:nvPr/>
        </p:nvSpPr>
        <p:spPr bwMode="auto">
          <a:xfrm>
            <a:off x="3775075" y="4776788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</a:p>
        </p:txBody>
      </p:sp>
      <p:sp>
        <p:nvSpPr>
          <p:cNvPr id="37926" name="Text Box 38"/>
          <p:cNvSpPr txBox="1">
            <a:spLocks noChangeArrowheads="1"/>
          </p:cNvSpPr>
          <p:nvPr/>
        </p:nvSpPr>
        <p:spPr bwMode="auto">
          <a:xfrm>
            <a:off x="1978025" y="5146675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7927" name="Text Box 39"/>
          <p:cNvSpPr txBox="1">
            <a:spLocks noChangeArrowheads="1"/>
          </p:cNvSpPr>
          <p:nvPr/>
        </p:nvSpPr>
        <p:spPr bwMode="auto">
          <a:xfrm>
            <a:off x="3114675" y="5146675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7928" name="Text Box 40"/>
          <p:cNvSpPr txBox="1">
            <a:spLocks noChangeArrowheads="1"/>
          </p:cNvSpPr>
          <p:nvPr/>
        </p:nvSpPr>
        <p:spPr bwMode="auto">
          <a:xfrm>
            <a:off x="3806825" y="5146675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37929" name="Text Box 41"/>
          <p:cNvSpPr txBox="1">
            <a:spLocks noChangeArrowheads="1"/>
          </p:cNvSpPr>
          <p:nvPr/>
        </p:nvSpPr>
        <p:spPr bwMode="auto">
          <a:xfrm>
            <a:off x="1978025" y="5510213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7930" name="Text Box 42"/>
          <p:cNvSpPr txBox="1">
            <a:spLocks noChangeArrowheads="1"/>
          </p:cNvSpPr>
          <p:nvPr/>
        </p:nvSpPr>
        <p:spPr bwMode="auto">
          <a:xfrm>
            <a:off x="3114675" y="5510213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7931" name="Text Box 43"/>
          <p:cNvSpPr txBox="1">
            <a:spLocks noChangeArrowheads="1"/>
          </p:cNvSpPr>
          <p:nvPr/>
        </p:nvSpPr>
        <p:spPr bwMode="auto">
          <a:xfrm>
            <a:off x="381000" y="1447800"/>
            <a:ext cx="4876800" cy="9683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Relax all edges </a:t>
            </a:r>
          </a:p>
          <a:p>
            <a:pPr>
              <a:lnSpc>
                <a:spcPct val="90000"/>
              </a:lnSpc>
            </a:pP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leaving </a:t>
            </a: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:</a:t>
            </a:r>
          </a:p>
        </p:txBody>
      </p:sp>
      <p:cxnSp>
        <p:nvCxnSpPr>
          <p:cNvPr id="37932" name="AutoShape 44"/>
          <p:cNvCxnSpPr>
            <a:cxnSpLocks noChangeShapeType="1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7933" name="Arc 45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7934" name="Arc 46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7935" name="Arc 47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7936" name="Arc 48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7937" name="Arc 49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7938" name="Arc 50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37939" name="AutoShape 51"/>
          <p:cNvCxnSpPr>
            <a:cxnSpLocks noChangeShapeType="1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37940" name="Line 52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7941" name="Text Box 53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7942" name="Text Box 54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37943" name="Text Box 55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7944" name="Text Box 56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7945" name="Text Box 57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2771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Dijkstra’s algorithm</a:t>
            </a:r>
          </a:p>
        </p:txBody>
      </p:sp>
      <p:sp>
        <p:nvSpPr>
          <p:cNvPr id="207875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207876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207877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207878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207879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31445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19304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38924" name="Text Box 12"/>
          <p:cNvSpPr txBox="1">
            <a:spLocks noChangeArrowheads="1"/>
          </p:cNvSpPr>
          <p:nvPr/>
        </p:nvSpPr>
        <p:spPr bwMode="auto">
          <a:xfrm>
            <a:off x="2522538" y="3810000"/>
            <a:ext cx="4556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38925" name="Text Box 13"/>
          <p:cNvSpPr txBox="1">
            <a:spLocks noChangeArrowheads="1"/>
          </p:cNvSpPr>
          <p:nvPr/>
        </p:nvSpPr>
        <p:spPr bwMode="auto">
          <a:xfrm>
            <a:off x="3121025" y="3810000"/>
            <a:ext cx="477838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37592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38927" name="Text Box 15"/>
          <p:cNvSpPr txBox="1">
            <a:spLocks noChangeArrowheads="1"/>
          </p:cNvSpPr>
          <p:nvPr/>
        </p:nvSpPr>
        <p:spPr bwMode="auto">
          <a:xfrm>
            <a:off x="615950" y="3810000"/>
            <a:ext cx="61277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Q:</a:t>
            </a:r>
          </a:p>
        </p:txBody>
      </p:sp>
      <p:sp>
        <p:nvSpPr>
          <p:cNvPr id="38928" name="Text Box 16"/>
          <p:cNvSpPr txBox="1">
            <a:spLocks noChangeArrowheads="1"/>
          </p:cNvSpPr>
          <p:nvPr/>
        </p:nvSpPr>
        <p:spPr bwMode="auto">
          <a:xfrm>
            <a:off x="1362075" y="4419600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19462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8930" name="Text Box 18"/>
          <p:cNvSpPr txBox="1">
            <a:spLocks noChangeArrowheads="1"/>
          </p:cNvSpPr>
          <p:nvPr/>
        </p:nvSpPr>
        <p:spPr bwMode="auto">
          <a:xfrm>
            <a:off x="2551113" y="4413250"/>
            <a:ext cx="4016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8931" name="Text Box 19"/>
          <p:cNvSpPr txBox="1">
            <a:spLocks noChangeArrowheads="1"/>
          </p:cNvSpPr>
          <p:nvPr/>
        </p:nvSpPr>
        <p:spPr bwMode="auto">
          <a:xfrm>
            <a:off x="315912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8932" name="Text Box 20"/>
          <p:cNvSpPr txBox="1">
            <a:spLocks noChangeArrowheads="1"/>
          </p:cNvSpPr>
          <p:nvPr/>
        </p:nvSpPr>
        <p:spPr bwMode="auto">
          <a:xfrm>
            <a:off x="37750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8933" name="Line 21"/>
          <p:cNvSpPr>
            <a:spLocks noChangeShapeType="1"/>
          </p:cNvSpPr>
          <p:nvPr/>
        </p:nvSpPr>
        <p:spPr bwMode="auto">
          <a:xfrm>
            <a:off x="1292225" y="4419600"/>
            <a:ext cx="28956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8934" name="Text Box 22"/>
          <p:cNvSpPr txBox="1">
            <a:spLocks noChangeArrowheads="1"/>
          </p:cNvSpPr>
          <p:nvPr/>
        </p:nvSpPr>
        <p:spPr bwMode="auto">
          <a:xfrm>
            <a:off x="406400" y="2493963"/>
            <a:ext cx="2937022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K: 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{ </a:t>
            </a:r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A, C, E, B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}</a:t>
            </a:r>
          </a:p>
        </p:txBody>
      </p:sp>
      <p:sp>
        <p:nvSpPr>
          <p:cNvPr id="38935" name="Text Box 23"/>
          <p:cNvSpPr txBox="1">
            <a:spLocks noChangeArrowheads="1"/>
          </p:cNvSpPr>
          <p:nvPr/>
        </p:nvSpPr>
        <p:spPr bwMode="auto">
          <a:xfrm>
            <a:off x="3429000" y="253841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8936" name="Text Box 24"/>
          <p:cNvSpPr txBox="1">
            <a:spLocks noChangeArrowheads="1"/>
          </p:cNvSpPr>
          <p:nvPr/>
        </p:nvSpPr>
        <p:spPr bwMode="auto">
          <a:xfrm>
            <a:off x="5781675" y="94456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8937" name="Text Box 25"/>
          <p:cNvSpPr txBox="1">
            <a:spLocks noChangeArrowheads="1"/>
          </p:cNvSpPr>
          <p:nvPr/>
        </p:nvSpPr>
        <p:spPr bwMode="auto">
          <a:xfrm>
            <a:off x="5781675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8938" name="Text Box 26"/>
          <p:cNvSpPr txBox="1">
            <a:spLocks noChangeArrowheads="1"/>
          </p:cNvSpPr>
          <p:nvPr/>
        </p:nvSpPr>
        <p:spPr bwMode="auto">
          <a:xfrm>
            <a:off x="7532688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38939" name="Text Box 27"/>
          <p:cNvSpPr txBox="1">
            <a:spLocks noChangeArrowheads="1"/>
          </p:cNvSpPr>
          <p:nvPr/>
        </p:nvSpPr>
        <p:spPr bwMode="auto">
          <a:xfrm>
            <a:off x="7431088" y="944563"/>
            <a:ext cx="5905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8940" name="Text Box 28"/>
          <p:cNvSpPr txBox="1">
            <a:spLocks noChangeArrowheads="1"/>
          </p:cNvSpPr>
          <p:nvPr/>
        </p:nvSpPr>
        <p:spPr bwMode="auto">
          <a:xfrm>
            <a:off x="1901825" y="4783138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8941" name="Text Box 29"/>
          <p:cNvSpPr txBox="1">
            <a:spLocks noChangeArrowheads="1"/>
          </p:cNvSpPr>
          <p:nvPr/>
        </p:nvSpPr>
        <p:spPr bwMode="auto">
          <a:xfrm>
            <a:off x="2582863" y="4776788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3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8942" name="Text Box 30"/>
          <p:cNvSpPr txBox="1">
            <a:spLocks noChangeArrowheads="1"/>
          </p:cNvSpPr>
          <p:nvPr/>
        </p:nvSpPr>
        <p:spPr bwMode="auto">
          <a:xfrm>
            <a:off x="3159125" y="4776788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</a:p>
        </p:txBody>
      </p:sp>
      <p:sp>
        <p:nvSpPr>
          <p:cNvPr id="38943" name="Text Box 31"/>
          <p:cNvSpPr txBox="1">
            <a:spLocks noChangeArrowheads="1"/>
          </p:cNvSpPr>
          <p:nvPr/>
        </p:nvSpPr>
        <p:spPr bwMode="auto">
          <a:xfrm>
            <a:off x="3775075" y="4776788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</a:p>
        </p:txBody>
      </p:sp>
      <p:sp>
        <p:nvSpPr>
          <p:cNvPr id="38944" name="Text Box 32"/>
          <p:cNvSpPr txBox="1">
            <a:spLocks noChangeArrowheads="1"/>
          </p:cNvSpPr>
          <p:nvPr/>
        </p:nvSpPr>
        <p:spPr bwMode="auto">
          <a:xfrm>
            <a:off x="1978025" y="5146675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8945" name="Text Box 33"/>
          <p:cNvSpPr txBox="1">
            <a:spLocks noChangeArrowheads="1"/>
          </p:cNvSpPr>
          <p:nvPr/>
        </p:nvSpPr>
        <p:spPr bwMode="auto">
          <a:xfrm>
            <a:off x="3114675" y="5146675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8946" name="Text Box 34"/>
          <p:cNvSpPr txBox="1">
            <a:spLocks noChangeArrowheads="1"/>
          </p:cNvSpPr>
          <p:nvPr/>
        </p:nvSpPr>
        <p:spPr bwMode="auto">
          <a:xfrm>
            <a:off x="3806825" y="5146675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38947" name="Text Box 35"/>
          <p:cNvSpPr txBox="1">
            <a:spLocks noChangeArrowheads="1"/>
          </p:cNvSpPr>
          <p:nvPr/>
        </p:nvSpPr>
        <p:spPr bwMode="auto">
          <a:xfrm>
            <a:off x="1978025" y="5510213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8948" name="Text Box 36"/>
          <p:cNvSpPr txBox="1">
            <a:spLocks noChangeArrowheads="1"/>
          </p:cNvSpPr>
          <p:nvPr/>
        </p:nvSpPr>
        <p:spPr bwMode="auto">
          <a:xfrm>
            <a:off x="3114675" y="5510213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8949" name="Text Box 37"/>
          <p:cNvSpPr txBox="1">
            <a:spLocks noChangeArrowheads="1"/>
          </p:cNvSpPr>
          <p:nvPr/>
        </p:nvSpPr>
        <p:spPr bwMode="auto">
          <a:xfrm>
            <a:off x="127000" y="1447800"/>
            <a:ext cx="4876800" cy="5302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“B”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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 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XTRACT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-M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IN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)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:</a:t>
            </a:r>
          </a:p>
        </p:txBody>
      </p:sp>
      <p:cxnSp>
        <p:nvCxnSpPr>
          <p:cNvPr id="38950" name="AutoShape 38"/>
          <p:cNvCxnSpPr>
            <a:cxnSpLocks noChangeShapeType="1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8951" name="AutoShape 39"/>
          <p:cNvCxnSpPr>
            <a:cxnSpLocks noChangeShapeType="1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38952" name="Arc 40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69850">
            <a:solidFill>
              <a:schemeClr val="accent2"/>
            </a:solidFill>
            <a:round/>
            <a:headEnd type="stealth" w="med" len="med"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8953" name="Arc 41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6985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8954" name="Text Box 42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8955" name="Text Box 43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cxnSp>
        <p:nvCxnSpPr>
          <p:cNvPr id="38956" name="AutoShape 44"/>
          <p:cNvCxnSpPr>
            <a:cxnSpLocks noChangeShapeType="1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8957" name="Arc 45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8958" name="Arc 46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8959" name="Arc 47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8960" name="Arc 48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8961" name="Arc 49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8962" name="Arc 50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38963" name="AutoShape 51"/>
          <p:cNvCxnSpPr>
            <a:cxnSpLocks noChangeShapeType="1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38964" name="Line 52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8965" name="Text Box 53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8966" name="Text Box 54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38967" name="Text Box 55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8968" name="Text Box 56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8969" name="Text Box 57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44578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Example of </a:t>
            </a:r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209923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209924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209925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209926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209927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cxnSp>
        <p:nvCxnSpPr>
          <p:cNvPr id="39944" name="AutoShape 8"/>
          <p:cNvCxnSpPr>
            <a:cxnSpLocks noChangeShapeType="1"/>
            <a:stCxn id="209924" idx="6"/>
            <a:endCxn id="209925" idx="2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69850">
            <a:solidFill>
              <a:schemeClr val="accent2"/>
            </a:solidFill>
            <a:round/>
            <a:headEnd/>
            <a:tailEnd type="stealth" w="med" len="med"/>
          </a:ln>
        </p:spPr>
      </p:cxnSp>
      <p:sp>
        <p:nvSpPr>
          <p:cNvPr id="39945" name="Arc 9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6985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9946" name="Arc 10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69850">
            <a:solidFill>
              <a:schemeClr val="accent2"/>
            </a:solidFill>
            <a:round/>
            <a:headEnd type="stealth" w="med" len="med"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9947" name="Text Box 11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39949" name="Text Box 13"/>
          <p:cNvSpPr txBox="1">
            <a:spLocks noChangeArrowheads="1"/>
          </p:cNvSpPr>
          <p:nvPr/>
        </p:nvSpPr>
        <p:spPr bwMode="auto">
          <a:xfrm>
            <a:off x="131445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39950" name="Text Box 14"/>
          <p:cNvSpPr txBox="1">
            <a:spLocks noChangeArrowheads="1"/>
          </p:cNvSpPr>
          <p:nvPr/>
        </p:nvSpPr>
        <p:spPr bwMode="auto">
          <a:xfrm>
            <a:off x="19304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39951" name="Text Box 15"/>
          <p:cNvSpPr txBox="1">
            <a:spLocks noChangeArrowheads="1"/>
          </p:cNvSpPr>
          <p:nvPr/>
        </p:nvSpPr>
        <p:spPr bwMode="auto">
          <a:xfrm>
            <a:off x="2522538" y="3810000"/>
            <a:ext cx="4556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39952" name="Text Box 16"/>
          <p:cNvSpPr txBox="1">
            <a:spLocks noChangeArrowheads="1"/>
          </p:cNvSpPr>
          <p:nvPr/>
        </p:nvSpPr>
        <p:spPr bwMode="auto">
          <a:xfrm>
            <a:off x="3121025" y="3810000"/>
            <a:ext cx="477838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39953" name="Text Box 17"/>
          <p:cNvSpPr txBox="1">
            <a:spLocks noChangeArrowheads="1"/>
          </p:cNvSpPr>
          <p:nvPr/>
        </p:nvSpPr>
        <p:spPr bwMode="auto">
          <a:xfrm>
            <a:off x="37592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39954" name="Text Box 18"/>
          <p:cNvSpPr txBox="1">
            <a:spLocks noChangeArrowheads="1"/>
          </p:cNvSpPr>
          <p:nvPr/>
        </p:nvSpPr>
        <p:spPr bwMode="auto">
          <a:xfrm>
            <a:off x="615950" y="3810000"/>
            <a:ext cx="61277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Q:</a:t>
            </a:r>
          </a:p>
        </p:txBody>
      </p:sp>
      <p:sp>
        <p:nvSpPr>
          <p:cNvPr id="39955" name="Text Box 19"/>
          <p:cNvSpPr txBox="1">
            <a:spLocks noChangeArrowheads="1"/>
          </p:cNvSpPr>
          <p:nvPr/>
        </p:nvSpPr>
        <p:spPr bwMode="auto">
          <a:xfrm>
            <a:off x="1362075" y="4419600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9956" name="Text Box 20"/>
          <p:cNvSpPr txBox="1">
            <a:spLocks noChangeArrowheads="1"/>
          </p:cNvSpPr>
          <p:nvPr/>
        </p:nvSpPr>
        <p:spPr bwMode="auto">
          <a:xfrm>
            <a:off x="19462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9957" name="Text Box 21"/>
          <p:cNvSpPr txBox="1">
            <a:spLocks noChangeArrowheads="1"/>
          </p:cNvSpPr>
          <p:nvPr/>
        </p:nvSpPr>
        <p:spPr bwMode="auto">
          <a:xfrm>
            <a:off x="2551113" y="4413250"/>
            <a:ext cx="4016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9958" name="Text Box 22"/>
          <p:cNvSpPr txBox="1">
            <a:spLocks noChangeArrowheads="1"/>
          </p:cNvSpPr>
          <p:nvPr/>
        </p:nvSpPr>
        <p:spPr bwMode="auto">
          <a:xfrm>
            <a:off x="315912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9959" name="Text Box 23"/>
          <p:cNvSpPr txBox="1">
            <a:spLocks noChangeArrowheads="1"/>
          </p:cNvSpPr>
          <p:nvPr/>
        </p:nvSpPr>
        <p:spPr bwMode="auto">
          <a:xfrm>
            <a:off x="37750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9960" name="Line 24"/>
          <p:cNvSpPr>
            <a:spLocks noChangeShapeType="1"/>
          </p:cNvSpPr>
          <p:nvPr/>
        </p:nvSpPr>
        <p:spPr bwMode="auto">
          <a:xfrm>
            <a:off x="1292225" y="4419600"/>
            <a:ext cx="28956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9961" name="Text Box 25"/>
          <p:cNvSpPr txBox="1">
            <a:spLocks noChangeArrowheads="1"/>
          </p:cNvSpPr>
          <p:nvPr/>
        </p:nvSpPr>
        <p:spPr bwMode="auto">
          <a:xfrm>
            <a:off x="406400" y="2493963"/>
            <a:ext cx="2937022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K: 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{ </a:t>
            </a:r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A, C, E, B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}</a:t>
            </a:r>
          </a:p>
        </p:txBody>
      </p:sp>
      <p:sp>
        <p:nvSpPr>
          <p:cNvPr id="39962" name="Text Box 26"/>
          <p:cNvSpPr txBox="1">
            <a:spLocks noChangeArrowheads="1"/>
          </p:cNvSpPr>
          <p:nvPr/>
        </p:nvSpPr>
        <p:spPr bwMode="auto">
          <a:xfrm>
            <a:off x="3429000" y="253841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39963" name="Text Box 27"/>
          <p:cNvSpPr txBox="1">
            <a:spLocks noChangeArrowheads="1"/>
          </p:cNvSpPr>
          <p:nvPr/>
        </p:nvSpPr>
        <p:spPr bwMode="auto">
          <a:xfrm>
            <a:off x="5781675" y="94456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9964" name="Text Box 28"/>
          <p:cNvSpPr txBox="1">
            <a:spLocks noChangeArrowheads="1"/>
          </p:cNvSpPr>
          <p:nvPr/>
        </p:nvSpPr>
        <p:spPr bwMode="auto">
          <a:xfrm>
            <a:off x="5781675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9965" name="Text Box 29"/>
          <p:cNvSpPr txBox="1">
            <a:spLocks noChangeArrowheads="1"/>
          </p:cNvSpPr>
          <p:nvPr/>
        </p:nvSpPr>
        <p:spPr bwMode="auto">
          <a:xfrm>
            <a:off x="7532688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39966" name="Text Box 30"/>
          <p:cNvSpPr txBox="1">
            <a:spLocks noChangeArrowheads="1"/>
          </p:cNvSpPr>
          <p:nvPr/>
        </p:nvSpPr>
        <p:spPr bwMode="auto">
          <a:xfrm>
            <a:off x="7532688" y="94456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9967" name="Text Box 31"/>
          <p:cNvSpPr txBox="1">
            <a:spLocks noChangeArrowheads="1"/>
          </p:cNvSpPr>
          <p:nvPr/>
        </p:nvSpPr>
        <p:spPr bwMode="auto">
          <a:xfrm>
            <a:off x="1901825" y="4783138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9968" name="Text Box 32"/>
          <p:cNvSpPr txBox="1">
            <a:spLocks noChangeArrowheads="1"/>
          </p:cNvSpPr>
          <p:nvPr/>
        </p:nvSpPr>
        <p:spPr bwMode="auto">
          <a:xfrm>
            <a:off x="2582863" y="4776788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3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9969" name="Text Box 33"/>
          <p:cNvSpPr txBox="1">
            <a:spLocks noChangeArrowheads="1"/>
          </p:cNvSpPr>
          <p:nvPr/>
        </p:nvSpPr>
        <p:spPr bwMode="auto">
          <a:xfrm>
            <a:off x="3159125" y="4776788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</a:p>
        </p:txBody>
      </p:sp>
      <p:sp>
        <p:nvSpPr>
          <p:cNvPr id="39970" name="Text Box 34"/>
          <p:cNvSpPr txBox="1">
            <a:spLocks noChangeArrowheads="1"/>
          </p:cNvSpPr>
          <p:nvPr/>
        </p:nvSpPr>
        <p:spPr bwMode="auto">
          <a:xfrm>
            <a:off x="3775075" y="4776788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</a:p>
        </p:txBody>
      </p:sp>
      <p:sp>
        <p:nvSpPr>
          <p:cNvPr id="39971" name="Text Box 35"/>
          <p:cNvSpPr txBox="1">
            <a:spLocks noChangeArrowheads="1"/>
          </p:cNvSpPr>
          <p:nvPr/>
        </p:nvSpPr>
        <p:spPr bwMode="auto">
          <a:xfrm>
            <a:off x="1978025" y="5146675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9972" name="Text Box 36"/>
          <p:cNvSpPr txBox="1">
            <a:spLocks noChangeArrowheads="1"/>
          </p:cNvSpPr>
          <p:nvPr/>
        </p:nvSpPr>
        <p:spPr bwMode="auto">
          <a:xfrm>
            <a:off x="3114675" y="5146675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9973" name="Text Box 37"/>
          <p:cNvSpPr txBox="1">
            <a:spLocks noChangeArrowheads="1"/>
          </p:cNvSpPr>
          <p:nvPr/>
        </p:nvSpPr>
        <p:spPr bwMode="auto">
          <a:xfrm>
            <a:off x="3806825" y="5146675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39974" name="Text Box 38"/>
          <p:cNvSpPr txBox="1">
            <a:spLocks noChangeArrowheads="1"/>
          </p:cNvSpPr>
          <p:nvPr/>
        </p:nvSpPr>
        <p:spPr bwMode="auto">
          <a:xfrm>
            <a:off x="1978025" y="5510213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9975" name="Text Box 39"/>
          <p:cNvSpPr txBox="1">
            <a:spLocks noChangeArrowheads="1"/>
          </p:cNvSpPr>
          <p:nvPr/>
        </p:nvSpPr>
        <p:spPr bwMode="auto">
          <a:xfrm>
            <a:off x="3114675" y="5510213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39976" name="Text Box 40"/>
          <p:cNvSpPr txBox="1">
            <a:spLocks noChangeArrowheads="1"/>
          </p:cNvSpPr>
          <p:nvPr/>
        </p:nvSpPr>
        <p:spPr bwMode="auto">
          <a:xfrm>
            <a:off x="381000" y="1447800"/>
            <a:ext cx="4876800" cy="9683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Relax all edges </a:t>
            </a:r>
          </a:p>
          <a:p>
            <a:pPr>
              <a:lnSpc>
                <a:spcPct val="90000"/>
              </a:lnSpc>
            </a:pP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leaving </a:t>
            </a: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:</a:t>
            </a:r>
          </a:p>
        </p:txBody>
      </p:sp>
      <p:sp>
        <p:nvSpPr>
          <p:cNvPr id="39977" name="Text Box 41"/>
          <p:cNvSpPr txBox="1">
            <a:spLocks noChangeArrowheads="1"/>
          </p:cNvSpPr>
          <p:nvPr/>
        </p:nvSpPr>
        <p:spPr bwMode="auto">
          <a:xfrm>
            <a:off x="3190875" y="5873750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cxnSp>
        <p:nvCxnSpPr>
          <p:cNvPr id="39978" name="AutoShape 42"/>
          <p:cNvCxnSpPr>
            <a:cxnSpLocks noChangeShapeType="1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979" name="AutoShape 43"/>
          <p:cNvCxnSpPr>
            <a:cxnSpLocks noChangeShapeType="1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39980" name="Text Box 44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39981" name="Text Box 45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39982" name="Arc 46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9983" name="Arc 47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9984" name="Arc 48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9985" name="Arc 49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9986" name="Arc 50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39987" name="Arc 51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39988" name="AutoShape 52"/>
          <p:cNvCxnSpPr>
            <a:cxnSpLocks noChangeShapeType="1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39989" name="Line 53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9990" name="Text Box 54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39991" name="Text Box 55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39992" name="Text Box 56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39993" name="Text Box 57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39994" name="Text Box 58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12032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 of Dijkstra’s algorithm</a:t>
            </a:r>
          </a:p>
        </p:txBody>
      </p:sp>
      <p:sp>
        <p:nvSpPr>
          <p:cNvPr id="211971" name="Oval 3"/>
          <p:cNvSpPr>
            <a:spLocks noChangeArrowheads="1"/>
          </p:cNvSpPr>
          <p:nvPr/>
        </p:nvSpPr>
        <p:spPr bwMode="auto">
          <a:xfrm>
            <a:off x="3883025" y="247491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211972" name="Oval 4"/>
          <p:cNvSpPr>
            <a:spLocks noChangeArrowheads="1"/>
          </p:cNvSpPr>
          <p:nvPr/>
        </p:nvSpPr>
        <p:spPr bwMode="auto">
          <a:xfrm>
            <a:off x="5635625" y="14652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211973" name="Oval 5"/>
          <p:cNvSpPr>
            <a:spLocks noChangeArrowheads="1"/>
          </p:cNvSpPr>
          <p:nvPr/>
        </p:nvSpPr>
        <p:spPr bwMode="auto">
          <a:xfrm>
            <a:off x="7388225" y="14652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211974" name="Oval 6"/>
          <p:cNvSpPr>
            <a:spLocks noChangeArrowheads="1"/>
          </p:cNvSpPr>
          <p:nvPr/>
        </p:nvSpPr>
        <p:spPr bwMode="auto">
          <a:xfrm>
            <a:off x="56356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211975" name="Oval 7"/>
          <p:cNvSpPr>
            <a:spLocks noChangeArrowheads="1"/>
          </p:cNvSpPr>
          <p:nvPr/>
        </p:nvSpPr>
        <p:spPr bwMode="auto">
          <a:xfrm>
            <a:off x="7388225" y="3484563"/>
            <a:ext cx="679450" cy="67945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6702425" y="13001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6702425" y="3752850"/>
            <a:ext cx="36195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131445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</a:t>
            </a:r>
          </a:p>
        </p:txBody>
      </p:sp>
      <p:sp>
        <p:nvSpPr>
          <p:cNvPr id="40971" name="Text Box 11"/>
          <p:cNvSpPr txBox="1">
            <a:spLocks noChangeArrowheads="1"/>
          </p:cNvSpPr>
          <p:nvPr/>
        </p:nvSpPr>
        <p:spPr bwMode="auto">
          <a:xfrm>
            <a:off x="19304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B</a:t>
            </a:r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2522538" y="3810000"/>
            <a:ext cx="4556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C</a:t>
            </a: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auto">
          <a:xfrm>
            <a:off x="3121025" y="3810000"/>
            <a:ext cx="477838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D</a:t>
            </a:r>
          </a:p>
        </p:txBody>
      </p:sp>
      <p:sp>
        <p:nvSpPr>
          <p:cNvPr id="40974" name="Text Box 14"/>
          <p:cNvSpPr txBox="1">
            <a:spLocks noChangeArrowheads="1"/>
          </p:cNvSpPr>
          <p:nvPr/>
        </p:nvSpPr>
        <p:spPr bwMode="auto">
          <a:xfrm>
            <a:off x="3759200" y="3810000"/>
            <a:ext cx="4318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chemeClr val="accent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615950" y="3810000"/>
            <a:ext cx="61277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Q:</a:t>
            </a: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>
            <a:off x="1362075" y="4419600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40977" name="Text Box 17"/>
          <p:cNvSpPr txBox="1">
            <a:spLocks noChangeArrowheads="1"/>
          </p:cNvSpPr>
          <p:nvPr/>
        </p:nvSpPr>
        <p:spPr bwMode="auto">
          <a:xfrm>
            <a:off x="19462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2551113" y="4413250"/>
            <a:ext cx="4016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0979" name="Text Box 19"/>
          <p:cNvSpPr txBox="1">
            <a:spLocks noChangeArrowheads="1"/>
          </p:cNvSpPr>
          <p:nvPr/>
        </p:nvSpPr>
        <p:spPr bwMode="auto">
          <a:xfrm>
            <a:off x="315912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0980" name="Text Box 20"/>
          <p:cNvSpPr txBox="1">
            <a:spLocks noChangeArrowheads="1"/>
          </p:cNvSpPr>
          <p:nvPr/>
        </p:nvSpPr>
        <p:spPr bwMode="auto">
          <a:xfrm>
            <a:off x="3775075" y="4413250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>
            <a:off x="1292225" y="4419600"/>
            <a:ext cx="2895600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40982" name="Text Box 22"/>
          <p:cNvSpPr txBox="1">
            <a:spLocks noChangeArrowheads="1"/>
          </p:cNvSpPr>
          <p:nvPr/>
        </p:nvSpPr>
        <p:spPr bwMode="auto">
          <a:xfrm>
            <a:off x="406400" y="2493963"/>
            <a:ext cx="3336170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K: 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{ </a:t>
            </a:r>
            <a:r>
              <a:rPr lang="en-US" sz="3200" i="1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A, C, E, B, D</a:t>
            </a:r>
            <a:r>
              <a:rPr lang="en-US" sz="3200" dirty="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}</a:t>
            </a:r>
          </a:p>
        </p:txBody>
      </p:sp>
      <p:sp>
        <p:nvSpPr>
          <p:cNvPr id="40983" name="Text Box 23"/>
          <p:cNvSpPr txBox="1">
            <a:spLocks noChangeArrowheads="1"/>
          </p:cNvSpPr>
          <p:nvPr/>
        </p:nvSpPr>
        <p:spPr bwMode="auto">
          <a:xfrm>
            <a:off x="3429000" y="253841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0</a:t>
            </a:r>
          </a:p>
        </p:txBody>
      </p:sp>
      <p:sp>
        <p:nvSpPr>
          <p:cNvPr id="40984" name="Text Box 24"/>
          <p:cNvSpPr txBox="1">
            <a:spLocks noChangeArrowheads="1"/>
          </p:cNvSpPr>
          <p:nvPr/>
        </p:nvSpPr>
        <p:spPr bwMode="auto">
          <a:xfrm>
            <a:off x="5781675" y="94456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40985" name="Text Box 25"/>
          <p:cNvSpPr txBox="1">
            <a:spLocks noChangeArrowheads="1"/>
          </p:cNvSpPr>
          <p:nvPr/>
        </p:nvSpPr>
        <p:spPr bwMode="auto">
          <a:xfrm>
            <a:off x="5781675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7532688" y="4203700"/>
            <a:ext cx="38735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auto">
          <a:xfrm>
            <a:off x="7532688" y="944563"/>
            <a:ext cx="38735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40988" name="Text Box 28"/>
          <p:cNvSpPr txBox="1">
            <a:spLocks noChangeArrowheads="1"/>
          </p:cNvSpPr>
          <p:nvPr/>
        </p:nvSpPr>
        <p:spPr bwMode="auto">
          <a:xfrm>
            <a:off x="1901825" y="4783138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2582863" y="4776788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3</a:t>
            </a:r>
            <a:endParaRPr lang="en-US" sz="2400">
              <a:solidFill>
                <a:srgbClr val="008A87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auto">
          <a:xfrm>
            <a:off x="3159125" y="4776788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</a:p>
        </p:txBody>
      </p:sp>
      <p:sp>
        <p:nvSpPr>
          <p:cNvPr id="40991" name="Text Box 31"/>
          <p:cNvSpPr txBox="1">
            <a:spLocks noChangeArrowheads="1"/>
          </p:cNvSpPr>
          <p:nvPr/>
        </p:nvSpPr>
        <p:spPr bwMode="auto">
          <a:xfrm>
            <a:off x="3775075" y="4776788"/>
            <a:ext cx="4016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¥</a:t>
            </a:r>
          </a:p>
        </p:txBody>
      </p:sp>
      <p:sp>
        <p:nvSpPr>
          <p:cNvPr id="40992" name="Text Box 32"/>
          <p:cNvSpPr txBox="1">
            <a:spLocks noChangeArrowheads="1"/>
          </p:cNvSpPr>
          <p:nvPr/>
        </p:nvSpPr>
        <p:spPr bwMode="auto">
          <a:xfrm>
            <a:off x="1978025" y="5146675"/>
            <a:ext cx="3365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40993" name="Text Box 33"/>
          <p:cNvSpPr txBox="1">
            <a:spLocks noChangeArrowheads="1"/>
          </p:cNvSpPr>
          <p:nvPr/>
        </p:nvSpPr>
        <p:spPr bwMode="auto">
          <a:xfrm>
            <a:off x="3114675" y="5146675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40994" name="Text Box 34"/>
          <p:cNvSpPr txBox="1">
            <a:spLocks noChangeArrowheads="1"/>
          </p:cNvSpPr>
          <p:nvPr/>
        </p:nvSpPr>
        <p:spPr bwMode="auto">
          <a:xfrm>
            <a:off x="3806825" y="5146675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5</a:t>
            </a:r>
          </a:p>
        </p:txBody>
      </p:sp>
      <p:sp>
        <p:nvSpPr>
          <p:cNvPr id="40995" name="Text Box 35"/>
          <p:cNvSpPr txBox="1">
            <a:spLocks noChangeArrowheads="1"/>
          </p:cNvSpPr>
          <p:nvPr/>
        </p:nvSpPr>
        <p:spPr bwMode="auto">
          <a:xfrm>
            <a:off x="1978025" y="5510213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40996" name="Text Box 36"/>
          <p:cNvSpPr txBox="1">
            <a:spLocks noChangeArrowheads="1"/>
          </p:cNvSpPr>
          <p:nvPr/>
        </p:nvSpPr>
        <p:spPr bwMode="auto">
          <a:xfrm>
            <a:off x="3114675" y="5510213"/>
            <a:ext cx="4889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11</a:t>
            </a:r>
          </a:p>
        </p:txBody>
      </p:sp>
      <p:sp>
        <p:nvSpPr>
          <p:cNvPr id="40997" name="Text Box 37"/>
          <p:cNvSpPr txBox="1">
            <a:spLocks noChangeArrowheads="1"/>
          </p:cNvSpPr>
          <p:nvPr/>
        </p:nvSpPr>
        <p:spPr bwMode="auto">
          <a:xfrm>
            <a:off x="3190875" y="5873750"/>
            <a:ext cx="336550" cy="457200"/>
          </a:xfrm>
          <a:prstGeom prst="rect">
            <a:avLst/>
          </a:prstGeom>
          <a:solidFill>
            <a:srgbClr val="FFCCCC"/>
          </a:solidFill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40998" name="Text Box 38"/>
          <p:cNvSpPr txBox="1">
            <a:spLocks noChangeArrowheads="1"/>
          </p:cNvSpPr>
          <p:nvPr/>
        </p:nvSpPr>
        <p:spPr bwMode="auto">
          <a:xfrm>
            <a:off x="127000" y="1447800"/>
            <a:ext cx="4876800" cy="5302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“D”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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 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E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XTRACT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-M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IN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3200" b="1" i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Q</a:t>
            </a:r>
            <a:r>
              <a:rPr lang="en-US" sz="3200" b="1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)</a:t>
            </a:r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:</a:t>
            </a:r>
          </a:p>
        </p:txBody>
      </p:sp>
      <p:cxnSp>
        <p:nvCxnSpPr>
          <p:cNvPr id="40999" name="AutoShape 39"/>
          <p:cNvCxnSpPr>
            <a:cxnSpLocks noChangeShapeType="1"/>
          </p:cNvCxnSpPr>
          <p:nvPr/>
        </p:nvCxnSpPr>
        <p:spPr bwMode="auto">
          <a:xfrm>
            <a:off x="6315075" y="1804988"/>
            <a:ext cx="1073150" cy="0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stealth" w="med" len="med"/>
          </a:ln>
        </p:spPr>
      </p:cxnSp>
      <p:sp>
        <p:nvSpPr>
          <p:cNvPr id="41000" name="Arc 40"/>
          <p:cNvSpPr>
            <a:spLocks/>
          </p:cNvSpPr>
          <p:nvPr/>
        </p:nvSpPr>
        <p:spPr bwMode="auto">
          <a:xfrm flipH="1">
            <a:off x="55594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41001" name="Arc 41"/>
          <p:cNvSpPr>
            <a:spLocks/>
          </p:cNvSpPr>
          <p:nvPr/>
        </p:nvSpPr>
        <p:spPr bwMode="auto">
          <a:xfrm flipH="1" flipV="1">
            <a:off x="55594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41002" name="AutoShape 42"/>
          <p:cNvCxnSpPr>
            <a:cxnSpLocks noChangeShapeType="1"/>
          </p:cNvCxnSpPr>
          <p:nvPr/>
        </p:nvCxnSpPr>
        <p:spPr bwMode="auto">
          <a:xfrm flipV="1">
            <a:off x="4462463" y="1804988"/>
            <a:ext cx="1173162" cy="769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1003" name="AutoShape 43"/>
          <p:cNvCxnSpPr>
            <a:cxnSpLocks noChangeShapeType="1"/>
          </p:cNvCxnSpPr>
          <p:nvPr/>
        </p:nvCxnSpPr>
        <p:spPr bwMode="auto">
          <a:xfrm>
            <a:off x="4462463" y="3054350"/>
            <a:ext cx="1173162" cy="769938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41004" name="Text Box 44"/>
          <p:cNvSpPr txBox="1">
            <a:spLocks noChangeArrowheads="1"/>
          </p:cNvSpPr>
          <p:nvPr/>
        </p:nvSpPr>
        <p:spPr bwMode="auto">
          <a:xfrm>
            <a:off x="4492625" y="1795463"/>
            <a:ext cx="5397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10</a:t>
            </a:r>
          </a:p>
        </p:txBody>
      </p:sp>
      <p:sp>
        <p:nvSpPr>
          <p:cNvPr id="41005" name="Text Box 45"/>
          <p:cNvSpPr txBox="1">
            <a:spLocks noChangeArrowheads="1"/>
          </p:cNvSpPr>
          <p:nvPr/>
        </p:nvSpPr>
        <p:spPr bwMode="auto">
          <a:xfrm>
            <a:off x="4645025" y="32813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41006" name="Arc 46"/>
          <p:cNvSpPr>
            <a:spLocks/>
          </p:cNvSpPr>
          <p:nvPr/>
        </p:nvSpPr>
        <p:spPr bwMode="auto">
          <a:xfrm>
            <a:off x="62468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41007" name="Arc 47"/>
          <p:cNvSpPr>
            <a:spLocks/>
          </p:cNvSpPr>
          <p:nvPr/>
        </p:nvSpPr>
        <p:spPr bwMode="auto">
          <a:xfrm flipV="1">
            <a:off x="6245225" y="28241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41008" name="Arc 48"/>
          <p:cNvSpPr>
            <a:spLocks/>
          </p:cNvSpPr>
          <p:nvPr/>
        </p:nvSpPr>
        <p:spPr bwMode="auto">
          <a:xfrm>
            <a:off x="7999413" y="2033588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41009" name="Arc 49"/>
          <p:cNvSpPr>
            <a:spLocks/>
          </p:cNvSpPr>
          <p:nvPr/>
        </p:nvSpPr>
        <p:spPr bwMode="auto">
          <a:xfrm flipV="1">
            <a:off x="79978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41010" name="Arc 50"/>
          <p:cNvSpPr>
            <a:spLocks/>
          </p:cNvSpPr>
          <p:nvPr/>
        </p:nvSpPr>
        <p:spPr bwMode="auto">
          <a:xfrm flipH="1">
            <a:off x="7312025" y="2036763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41011" name="Arc 51"/>
          <p:cNvSpPr>
            <a:spLocks/>
          </p:cNvSpPr>
          <p:nvPr/>
        </p:nvSpPr>
        <p:spPr bwMode="auto">
          <a:xfrm flipH="1" flipV="1">
            <a:off x="7312025" y="2819400"/>
            <a:ext cx="152400" cy="787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cxnSp>
        <p:nvCxnSpPr>
          <p:cNvPr id="41012" name="AutoShape 52"/>
          <p:cNvCxnSpPr>
            <a:cxnSpLocks noChangeShapeType="1"/>
          </p:cNvCxnSpPr>
          <p:nvPr/>
        </p:nvCxnSpPr>
        <p:spPr bwMode="auto">
          <a:xfrm>
            <a:off x="6315075" y="3824288"/>
            <a:ext cx="1073150" cy="0"/>
          </a:xfrm>
          <a:prstGeom prst="straightConnector1">
            <a:avLst/>
          </a:prstGeom>
          <a:noFill/>
          <a:ln w="28575">
            <a:solidFill>
              <a:srgbClr val="990000"/>
            </a:solidFill>
            <a:round/>
            <a:headEnd/>
            <a:tailEnd type="arrow" w="med" len="med"/>
          </a:ln>
        </p:spPr>
      </p:cxnSp>
      <p:sp>
        <p:nvSpPr>
          <p:cNvPr id="41013" name="Line 53"/>
          <p:cNvSpPr>
            <a:spLocks noChangeShapeType="1"/>
          </p:cNvSpPr>
          <p:nvPr/>
        </p:nvSpPr>
        <p:spPr bwMode="auto">
          <a:xfrm flipV="1">
            <a:off x="6321425" y="1909763"/>
            <a:ext cx="1066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41014" name="Text Box 54"/>
          <p:cNvSpPr txBox="1">
            <a:spLocks noChangeArrowheads="1"/>
          </p:cNvSpPr>
          <p:nvPr/>
        </p:nvSpPr>
        <p:spPr bwMode="auto">
          <a:xfrm>
            <a:off x="55594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41015" name="Text Box 55"/>
          <p:cNvSpPr txBox="1">
            <a:spLocks noChangeArrowheads="1"/>
          </p:cNvSpPr>
          <p:nvPr/>
        </p:nvSpPr>
        <p:spPr bwMode="auto">
          <a:xfrm>
            <a:off x="60166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4</a:t>
            </a:r>
          </a:p>
        </p:txBody>
      </p:sp>
      <p:sp>
        <p:nvSpPr>
          <p:cNvPr id="41016" name="Text Box 56"/>
          <p:cNvSpPr txBox="1">
            <a:spLocks noChangeArrowheads="1"/>
          </p:cNvSpPr>
          <p:nvPr/>
        </p:nvSpPr>
        <p:spPr bwMode="auto">
          <a:xfrm>
            <a:off x="733107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7</a:t>
            </a:r>
          </a:p>
        </p:txBody>
      </p:sp>
      <p:sp>
        <p:nvSpPr>
          <p:cNvPr id="41017" name="Text Box 57"/>
          <p:cNvSpPr txBox="1">
            <a:spLocks noChangeArrowheads="1"/>
          </p:cNvSpPr>
          <p:nvPr/>
        </p:nvSpPr>
        <p:spPr bwMode="auto">
          <a:xfrm>
            <a:off x="7807325" y="256381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9</a:t>
            </a:r>
          </a:p>
        </p:txBody>
      </p:sp>
      <p:sp>
        <p:nvSpPr>
          <p:cNvPr id="41018" name="Text Box 58"/>
          <p:cNvSpPr txBox="1">
            <a:spLocks noChangeArrowheads="1"/>
          </p:cNvSpPr>
          <p:nvPr/>
        </p:nvSpPr>
        <p:spPr bwMode="auto">
          <a:xfrm>
            <a:off x="6569075" y="2366963"/>
            <a:ext cx="36195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008A87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94760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Dijkstra</a:t>
            </a:r>
            <a:r>
              <a:rPr lang="en-US" altLang="en-US" dirty="0"/>
              <a:t> (G, w, s) – Time Complexity</a:t>
            </a:r>
          </a:p>
        </p:txBody>
      </p:sp>
      <p:sp>
        <p:nvSpPr>
          <p:cNvPr id="806915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8988425" cy="5174129"/>
          </a:xfrm>
        </p:spPr>
        <p:txBody>
          <a:bodyPr>
            <a:normAutofit fontScale="92500" lnSpcReduction="10000"/>
          </a:bodyPr>
          <a:lstStyle/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INITIALIZE-SINGLE-SOURCE(</a:t>
            </a:r>
            <a:r>
              <a:rPr lang="en-US" altLang="en-US" dirty="0">
                <a:latin typeface="Comic Sans MS" panose="030F0702030302020204" pitchFamily="66" charset="0"/>
              </a:rPr>
              <a:t>V, s</a:t>
            </a:r>
            <a:r>
              <a:rPr lang="en-US" altLang="en-US" dirty="0"/>
              <a:t>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K ←  </a:t>
            </a:r>
            <a:r>
              <a:rPr lang="en-US" altLang="en-US" dirty="0">
                <a:sym typeface="Symbol" panose="05050102010706020507" pitchFamily="18" charset="2"/>
              </a:rPr>
              <a:t> 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Q ← V[G]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</a:t>
            </a:r>
            <a:r>
              <a:rPr lang="en-US" altLang="en-US" b="1" dirty="0"/>
              <a:t>while </a:t>
            </a:r>
            <a:r>
              <a:rPr lang="en-US" altLang="en-US" dirty="0"/>
              <a:t>Q </a:t>
            </a:r>
            <a:r>
              <a:rPr lang="en-US" altLang="en-US" dirty="0">
                <a:sym typeface="Symbol" panose="05050102010706020507" pitchFamily="18" charset="2"/>
              </a:rPr>
              <a:t>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</a:t>
            </a:r>
            <a:endParaRPr lang="en-US" altLang="en-US" b="1" dirty="0"/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</a:t>
            </a:r>
            <a:r>
              <a:rPr lang="en-US" altLang="en-US" b="1" dirty="0"/>
              <a:t>do</a:t>
            </a:r>
            <a:r>
              <a:rPr lang="en-US" altLang="en-US" dirty="0"/>
              <a:t> </a:t>
            </a:r>
            <a:r>
              <a:rPr lang="en-US" altLang="en-US" dirty="0">
                <a:latin typeface="Comic Sans MS" panose="030F0702030302020204" pitchFamily="66" charset="0"/>
              </a:rPr>
              <a:t>u</a:t>
            </a:r>
            <a:r>
              <a:rPr lang="en-US" altLang="en-US" dirty="0"/>
              <a:t> ← EXTRACT-MIN(Q)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K ← K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{</a:t>
            </a:r>
            <a:r>
              <a:rPr lang="en-US" altLang="en-US" dirty="0">
                <a:latin typeface="Comic Sans MS" panose="030F0702030302020204" pitchFamily="66" charset="0"/>
              </a:rPr>
              <a:t>u</a:t>
            </a:r>
            <a:r>
              <a:rPr lang="en-US" altLang="en-US" dirty="0"/>
              <a:t>} 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</a:t>
            </a:r>
            <a:r>
              <a:rPr lang="en-US" altLang="en-US" b="1" dirty="0"/>
              <a:t>for </a:t>
            </a:r>
            <a:r>
              <a:rPr lang="en-US" altLang="en-US" dirty="0"/>
              <a:t>each vertex </a:t>
            </a:r>
            <a:r>
              <a:rPr lang="en-US" altLang="en-US" dirty="0">
                <a:latin typeface="Comic Sans MS" panose="030F0702030302020204" pitchFamily="66" charset="0"/>
              </a:rPr>
              <a:t>v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</a:t>
            </a:r>
            <a:r>
              <a:rPr lang="en-US" altLang="en-US" dirty="0">
                <a:latin typeface="Comic Sans MS" panose="030F0702030302020204" pitchFamily="66" charset="0"/>
              </a:rPr>
              <a:t> </a:t>
            </a:r>
            <a:r>
              <a:rPr lang="en-US" altLang="en-US" dirty="0" err="1">
                <a:latin typeface="Comic Sans MS" panose="030F0702030302020204" pitchFamily="66" charset="0"/>
              </a:rPr>
              <a:t>Adj</a:t>
            </a:r>
            <a:r>
              <a:rPr lang="en-US" altLang="en-US" dirty="0">
                <a:latin typeface="Comic Sans MS" panose="030F0702030302020204" pitchFamily="66" charset="0"/>
              </a:rPr>
              <a:t>[u]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      </a:t>
            </a:r>
            <a:r>
              <a:rPr lang="en-US" altLang="en-US" b="1" dirty="0"/>
              <a:t>do </a:t>
            </a:r>
            <a:r>
              <a:rPr lang="en-US" altLang="en-US" dirty="0"/>
              <a:t>RELAX(</a:t>
            </a:r>
            <a:r>
              <a:rPr lang="en-US" altLang="en-US" dirty="0">
                <a:latin typeface="Comic Sans MS" panose="030F0702030302020204" pitchFamily="66" charset="0"/>
              </a:rPr>
              <a:t>u, v, w</a:t>
            </a:r>
            <a:r>
              <a:rPr lang="en-US" altLang="en-US" dirty="0"/>
              <a:t>)</a:t>
            </a:r>
          </a:p>
          <a:p>
            <a:pPr marL="533400" indent="-533400" eaLnBrk="1" hangingPunct="1">
              <a:lnSpc>
                <a:spcPct val="120000"/>
              </a:lnSpc>
              <a:buFontTx/>
              <a:buNone/>
            </a:pPr>
            <a:r>
              <a:rPr lang="en-US" altLang="en-US" dirty="0"/>
              <a:t>	Total running time: </a:t>
            </a:r>
            <a:r>
              <a:rPr lang="en-US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V + V</a:t>
            </a:r>
            <a:r>
              <a:rPr lang="en-US" dirty="0">
                <a:sym typeface="Symbol" pitchFamily="18" charset="2"/>
              </a:rPr>
              <a:t>  T</a:t>
            </a:r>
            <a:r>
              <a:rPr lang="en-US" baseline="-25000" dirty="0">
                <a:sym typeface="Symbol" pitchFamily="18" charset="2"/>
              </a:rPr>
              <a:t>E</a:t>
            </a:r>
            <a:r>
              <a:rPr lang="en-US" dirty="0">
                <a:sym typeface="Symbol" pitchFamily="18" charset="2"/>
              </a:rPr>
              <a:t> + </a:t>
            </a:r>
            <a:r>
              <a:rPr lang="en-US" i="1" dirty="0">
                <a:sym typeface="Symbol" pitchFamily="18" charset="2"/>
              </a:rPr>
              <a:t>E</a:t>
            </a:r>
            <a:r>
              <a:rPr lang="en-US" dirty="0">
                <a:sym typeface="Symbol" pitchFamily="18" charset="2"/>
              </a:rPr>
              <a:t>  T</a:t>
            </a:r>
            <a:r>
              <a:rPr lang="en-US" baseline="-25000" dirty="0">
                <a:sym typeface="Symbol" pitchFamily="18" charset="2"/>
              </a:rPr>
              <a:t>D </a:t>
            </a:r>
            <a:r>
              <a:rPr lang="en-US" dirty="0">
                <a:sym typeface="Symbol" pitchFamily="18" charset="2"/>
              </a:rPr>
              <a:t>)</a:t>
            </a:r>
            <a:endParaRPr lang="en-US" altLang="en-US" dirty="0">
              <a:latin typeface="Comic Sans MS" panose="030F0702030302020204" pitchFamily="66" charset="0"/>
            </a:endParaRPr>
          </a:p>
        </p:txBody>
      </p:sp>
      <p:sp>
        <p:nvSpPr>
          <p:cNvPr id="806916" name="Text Box 4"/>
          <p:cNvSpPr txBox="1">
            <a:spLocks noChangeArrowheads="1"/>
          </p:cNvSpPr>
          <p:nvPr/>
        </p:nvSpPr>
        <p:spPr bwMode="auto">
          <a:xfrm>
            <a:off x="5949950" y="990601"/>
            <a:ext cx="815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(V)</a:t>
            </a:r>
          </a:p>
        </p:txBody>
      </p:sp>
      <p:sp>
        <p:nvSpPr>
          <p:cNvPr id="806917" name="Line 5"/>
          <p:cNvSpPr>
            <a:spLocks noChangeShapeType="1"/>
          </p:cNvSpPr>
          <p:nvPr/>
        </p:nvSpPr>
        <p:spPr bwMode="auto">
          <a:xfrm flipH="1">
            <a:off x="5476875" y="1220789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6918" name="Text Box 6"/>
          <p:cNvSpPr txBox="1">
            <a:spLocks noChangeArrowheads="1"/>
          </p:cNvSpPr>
          <p:nvPr/>
        </p:nvSpPr>
        <p:spPr bwMode="auto">
          <a:xfrm>
            <a:off x="2889250" y="2124074"/>
            <a:ext cx="3938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0070C0"/>
                </a:solidFill>
                <a:latin typeface="Symbol" pitchFamily="18" charset="2"/>
                <a:sym typeface="Symbol" pitchFamily="18" charset="2"/>
              </a:rPr>
              <a:t>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(V) time to build min-heap</a:t>
            </a:r>
          </a:p>
        </p:txBody>
      </p:sp>
      <p:sp>
        <p:nvSpPr>
          <p:cNvPr id="806919" name="Line 7"/>
          <p:cNvSpPr>
            <a:spLocks noChangeShapeType="1"/>
          </p:cNvSpPr>
          <p:nvPr/>
        </p:nvSpPr>
        <p:spPr bwMode="auto">
          <a:xfrm flipH="1">
            <a:off x="2416175" y="2349499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6920" name="Text Box 8"/>
          <p:cNvSpPr txBox="1">
            <a:spLocks noChangeArrowheads="1"/>
          </p:cNvSpPr>
          <p:nvPr/>
        </p:nvSpPr>
        <p:spPr bwMode="auto">
          <a:xfrm>
            <a:off x="3257822" y="2673348"/>
            <a:ext cx="299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Executed </a:t>
            </a:r>
            <a:r>
              <a:rPr lang="en-US" sz="2400" dirty="0">
                <a:solidFill>
                  <a:srgbClr val="0070C0"/>
                </a:solidFill>
                <a:latin typeface="Symbol" pitchFamily="18" charset="2"/>
                <a:sym typeface="Symbol" pitchFamily="18" charset="2"/>
              </a:rPr>
              <a:t>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(V) times</a:t>
            </a:r>
          </a:p>
        </p:txBody>
      </p:sp>
      <p:sp>
        <p:nvSpPr>
          <p:cNvPr id="806921" name="Line 9"/>
          <p:cNvSpPr>
            <a:spLocks noChangeShapeType="1"/>
          </p:cNvSpPr>
          <p:nvPr/>
        </p:nvSpPr>
        <p:spPr bwMode="auto">
          <a:xfrm flipH="1">
            <a:off x="2784747" y="2898773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6922" name="Text Box 10"/>
          <p:cNvSpPr txBox="1">
            <a:spLocks noChangeArrowheads="1"/>
          </p:cNvSpPr>
          <p:nvPr/>
        </p:nvSpPr>
        <p:spPr bwMode="auto">
          <a:xfrm>
            <a:off x="5384006" y="3260932"/>
            <a:ext cx="359104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V times, </a:t>
            </a:r>
            <a:r>
              <a:rPr lang="en-US" sz="2400" dirty="0">
                <a:solidFill>
                  <a:srgbClr val="0070C0"/>
                </a:solidFill>
                <a:latin typeface="Symbol" pitchFamily="18" charset="2"/>
                <a:sym typeface="Symbol" pitchFamily="18" charset="2"/>
              </a:rPr>
              <a:t>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(</a:t>
            </a:r>
            <a:r>
              <a:rPr lang="en-US" sz="2600" dirty="0">
                <a:solidFill>
                  <a:srgbClr val="0070C0"/>
                </a:solidFill>
                <a:latin typeface="Calibri"/>
                <a:sym typeface="Symbol" pitchFamily="18" charset="2"/>
              </a:rPr>
              <a:t>T</a:t>
            </a:r>
            <a:r>
              <a:rPr lang="en-US" sz="2600" baseline="-25000" dirty="0">
                <a:solidFill>
                  <a:srgbClr val="0070C0"/>
                </a:solidFill>
                <a:latin typeface="Calibri"/>
                <a:sym typeface="Symbol" pitchFamily="18" charset="2"/>
              </a:rPr>
              <a:t>E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) each time</a:t>
            </a:r>
          </a:p>
        </p:txBody>
      </p:sp>
      <p:sp>
        <p:nvSpPr>
          <p:cNvPr id="806923" name="Line 11"/>
          <p:cNvSpPr>
            <a:spLocks noChangeShapeType="1"/>
          </p:cNvSpPr>
          <p:nvPr/>
        </p:nvSpPr>
        <p:spPr bwMode="auto">
          <a:xfrm flipH="1">
            <a:off x="4910931" y="3486357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6924" name="Text Box 12"/>
          <p:cNvSpPr txBox="1">
            <a:spLocks noChangeArrowheads="1"/>
          </p:cNvSpPr>
          <p:nvPr/>
        </p:nvSpPr>
        <p:spPr bwMode="auto">
          <a:xfrm>
            <a:off x="5098942" y="4943679"/>
            <a:ext cx="40014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0070C0"/>
                </a:solidFill>
                <a:latin typeface="Symbol" pitchFamily="18" charset="2"/>
                <a:sym typeface="Symbol" pitchFamily="18" charset="2"/>
              </a:rPr>
              <a:t>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(E) times, </a:t>
            </a:r>
            <a:r>
              <a:rPr lang="en-US" sz="2400" dirty="0">
                <a:solidFill>
                  <a:srgbClr val="0070C0"/>
                </a:solidFill>
                <a:latin typeface="Symbol" pitchFamily="18" charset="2"/>
                <a:sym typeface="Symbol" pitchFamily="18" charset="2"/>
              </a:rPr>
              <a:t>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(</a:t>
            </a:r>
            <a:r>
              <a:rPr lang="en-US" sz="2400" dirty="0">
                <a:solidFill>
                  <a:srgbClr val="0070C0"/>
                </a:solidFill>
                <a:sym typeface="Symbol" pitchFamily="18" charset="2"/>
              </a:rPr>
              <a:t>T</a:t>
            </a:r>
            <a:r>
              <a:rPr lang="en-US" sz="2400" baseline="-25000" dirty="0">
                <a:solidFill>
                  <a:srgbClr val="0070C0"/>
                </a:solidFill>
                <a:sym typeface="Symbol" pitchFamily="18" charset="2"/>
              </a:rPr>
              <a:t>D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) each time</a:t>
            </a:r>
          </a:p>
        </p:txBody>
      </p:sp>
      <p:sp>
        <p:nvSpPr>
          <p:cNvPr id="806925" name="Line 13"/>
          <p:cNvSpPr>
            <a:spLocks noChangeShapeType="1"/>
          </p:cNvSpPr>
          <p:nvPr/>
        </p:nvSpPr>
        <p:spPr bwMode="auto">
          <a:xfrm flipH="1">
            <a:off x="4706892" y="5169104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716129" y="6068557"/>
            <a:ext cx="44923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-25000" dirty="0">
                <a:solidFill>
                  <a:srgbClr val="0070C0"/>
                </a:solidFill>
              </a:rPr>
              <a:t>E</a:t>
            </a:r>
            <a:r>
              <a:rPr lang="en-US" dirty="0">
                <a:solidFill>
                  <a:srgbClr val="0070C0"/>
                </a:solidFill>
              </a:rPr>
              <a:t> = time taken by an EXTRACT-MIN operation</a:t>
            </a:r>
          </a:p>
          <a:p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-25000" dirty="0">
                <a:solidFill>
                  <a:srgbClr val="0070C0"/>
                </a:solidFill>
              </a:rPr>
              <a:t>D</a:t>
            </a:r>
            <a:r>
              <a:rPr lang="en-US" dirty="0">
                <a:solidFill>
                  <a:srgbClr val="0070C0"/>
                </a:solidFill>
              </a:rPr>
              <a:t> = time taken by a DECREASE-KEY operation</a:t>
            </a:r>
          </a:p>
        </p:txBody>
      </p:sp>
    </p:spTree>
    <p:extLst>
      <p:ext uri="{BB962C8B-B14F-4D97-AF65-F5344CB8AC3E}">
        <p14:creationId xmlns:p14="http://schemas.microsoft.com/office/powerpoint/2010/main" val="270498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916" grpId="0"/>
      <p:bldP spid="806917" grpId="0" animBg="1"/>
      <p:bldP spid="806918" grpId="0"/>
      <p:bldP spid="806919" grpId="0" animBg="1"/>
      <p:bldP spid="806920" grpId="0"/>
      <p:bldP spid="806921" grpId="0" animBg="1"/>
      <p:bldP spid="806922" grpId="0"/>
      <p:bldP spid="806923" grpId="0" animBg="1"/>
      <p:bldP spid="806924" grpId="0"/>
      <p:bldP spid="8069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pPr eaLnBrk="0" hangingPunct="0"/>
            <a:r>
              <a:rPr lang="en-US" dirty="0" err="1"/>
              <a:t>Dijkstra’s</a:t>
            </a:r>
            <a:r>
              <a:rPr lang="en-US" dirty="0"/>
              <a:t> Time complexity (cont.)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458200" cy="5334000"/>
          </a:xfrm>
          <a:noFill/>
          <a:ln/>
        </p:spPr>
        <p:txBody>
          <a:bodyPr/>
          <a:lstStyle/>
          <a:p>
            <a:pPr marL="339725" indent="-339725" eaLnBrk="0" hangingPunct="0">
              <a:lnSpc>
                <a:spcPct val="110000"/>
              </a:lnSpc>
            </a:pPr>
            <a:r>
              <a:rPr lang="en-US" sz="2400" dirty="0"/>
              <a:t>1. Priority queue is an array.</a:t>
            </a:r>
            <a:br>
              <a:rPr lang="en-US" sz="2400" dirty="0"/>
            </a:br>
            <a:r>
              <a:rPr lang="en-US" sz="2400" dirty="0"/>
              <a:t>EXTRACT-MIN in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(V) time, DECREASE-KEY in 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sz="2400" dirty="0"/>
              <a:t>(1)</a:t>
            </a:r>
            <a:br>
              <a:rPr lang="en-US" sz="2400" dirty="0"/>
            </a:br>
            <a:r>
              <a:rPr lang="en-US" sz="2400" dirty="0"/>
              <a:t>Total time: 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i="1" dirty="0">
                <a:sym typeface="Symbol" pitchFamily="18" charset="2"/>
              </a:rPr>
              <a:t>V </a:t>
            </a:r>
            <a:r>
              <a:rPr lang="en-US" sz="2400" dirty="0">
                <a:sym typeface="Symbol" pitchFamily="18" charset="2"/>
              </a:rPr>
              <a:t>+ </a:t>
            </a:r>
            <a:r>
              <a:rPr lang="en-US" sz="2400" i="1" dirty="0">
                <a:sym typeface="Symbol" pitchFamily="18" charset="2"/>
              </a:rPr>
              <a:t>VV</a:t>
            </a:r>
            <a:r>
              <a:rPr lang="en-US" sz="2400" dirty="0">
                <a:sym typeface="Symbol" pitchFamily="18" charset="2"/>
              </a:rPr>
              <a:t> + </a:t>
            </a:r>
            <a:r>
              <a:rPr lang="en-US" sz="2400" i="1" dirty="0">
                <a:sym typeface="Symbol" pitchFamily="18" charset="2"/>
              </a:rPr>
              <a:t>E</a:t>
            </a:r>
            <a:r>
              <a:rPr lang="en-US" sz="2400" dirty="0">
                <a:sym typeface="Symbol" pitchFamily="18" charset="2"/>
              </a:rPr>
              <a:t>) = 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i="1" dirty="0">
                <a:sym typeface="Symbol" pitchFamily="18" charset="2"/>
              </a:rPr>
              <a:t>V</a:t>
            </a:r>
            <a:r>
              <a:rPr lang="en-US" sz="2400" baseline="30000" dirty="0">
                <a:sym typeface="Symbol" pitchFamily="18" charset="2"/>
              </a:rPr>
              <a:t>2</a:t>
            </a:r>
            <a:r>
              <a:rPr lang="en-US" sz="2400" dirty="0">
                <a:sym typeface="Symbol" pitchFamily="18" charset="2"/>
              </a:rPr>
              <a:t>)</a:t>
            </a:r>
          </a:p>
          <a:p>
            <a:pPr marL="339725" indent="-339725" eaLnBrk="0" hangingPunct="0">
              <a:lnSpc>
                <a:spcPct val="110000"/>
              </a:lnSpc>
            </a:pPr>
            <a:r>
              <a:rPr lang="en-US" sz="2400" dirty="0"/>
              <a:t>2. (“Modified </a:t>
            </a:r>
            <a:r>
              <a:rPr lang="en-US" sz="2400" dirty="0" err="1"/>
              <a:t>Dijkstra</a:t>
            </a:r>
            <a:r>
              <a:rPr lang="en-US" sz="2400" dirty="0"/>
              <a:t>”)</a:t>
            </a:r>
            <a:br>
              <a:rPr lang="en-US" sz="2400" dirty="0"/>
            </a:br>
            <a:r>
              <a:rPr lang="en-US" sz="2400" dirty="0"/>
              <a:t>Priority queue is a binary (standard) heap.</a:t>
            </a:r>
            <a:br>
              <a:rPr lang="en-US" sz="2400" dirty="0"/>
            </a:br>
            <a:r>
              <a:rPr lang="en-US" sz="2400" dirty="0"/>
              <a:t>EXTRACT-MIN and DECREASE-KEY takes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(</a:t>
            </a:r>
            <a:r>
              <a:rPr lang="en-US" sz="2400" dirty="0" err="1"/>
              <a:t>lgV</a:t>
            </a:r>
            <a:r>
              <a:rPr lang="en-US" sz="2400" dirty="0"/>
              <a:t>) time each</a:t>
            </a:r>
            <a:br>
              <a:rPr lang="en-US" sz="2400" dirty="0"/>
            </a:br>
            <a:r>
              <a:rPr lang="en-US" sz="2400" dirty="0"/>
              <a:t>Total time: 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i="1" dirty="0">
                <a:sym typeface="Symbol" pitchFamily="18" charset="2"/>
              </a:rPr>
              <a:t>V + </a:t>
            </a:r>
            <a:r>
              <a:rPr lang="en-US" sz="2400" i="1" dirty="0" err="1">
                <a:sym typeface="Symbol" pitchFamily="18" charset="2"/>
              </a:rPr>
              <a:t>V</a:t>
            </a:r>
            <a:r>
              <a:rPr lang="en-US" sz="2400" dirty="0" err="1">
                <a:sym typeface="Symbol" pitchFamily="18" charset="2"/>
              </a:rPr>
              <a:t>lg</a:t>
            </a:r>
            <a:r>
              <a:rPr lang="en-US" sz="2400" i="1" dirty="0" err="1">
                <a:sym typeface="Symbol" pitchFamily="18" charset="2"/>
              </a:rPr>
              <a:t>V</a:t>
            </a:r>
            <a:r>
              <a:rPr lang="en-US" sz="2400" dirty="0">
                <a:sym typeface="Symbol" pitchFamily="18" charset="2"/>
              </a:rPr>
              <a:t> + </a:t>
            </a:r>
            <a:r>
              <a:rPr lang="en-US" sz="2400" i="1" dirty="0" err="1">
                <a:sym typeface="Symbol" pitchFamily="18" charset="2"/>
              </a:rPr>
              <a:t>E</a:t>
            </a:r>
            <a:r>
              <a:rPr lang="en-US" sz="2400" dirty="0" err="1">
                <a:sym typeface="Symbol" pitchFamily="18" charset="2"/>
              </a:rPr>
              <a:t>lg</a:t>
            </a:r>
            <a:r>
              <a:rPr lang="en-US" sz="2400" i="1" dirty="0" err="1">
                <a:sym typeface="Symbol" pitchFamily="18" charset="2"/>
              </a:rPr>
              <a:t>V</a:t>
            </a:r>
            <a:r>
              <a:rPr lang="en-US" sz="2400" dirty="0">
                <a:sym typeface="Symbol" pitchFamily="18" charset="2"/>
              </a:rPr>
              <a:t>) = 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i="1" dirty="0" err="1">
                <a:sym typeface="Symbol" pitchFamily="18" charset="2"/>
              </a:rPr>
              <a:t>E</a:t>
            </a:r>
            <a:r>
              <a:rPr lang="en-US" sz="2400" dirty="0" err="1">
                <a:sym typeface="Symbol" pitchFamily="18" charset="2"/>
              </a:rPr>
              <a:t>lg</a:t>
            </a:r>
            <a:r>
              <a:rPr lang="en-US" sz="2400" i="1" dirty="0" err="1">
                <a:sym typeface="Symbol" pitchFamily="18" charset="2"/>
              </a:rPr>
              <a:t>V</a:t>
            </a:r>
            <a:r>
              <a:rPr lang="en-US" sz="2400" dirty="0">
                <a:sym typeface="Symbol" pitchFamily="18" charset="2"/>
              </a:rPr>
              <a:t>)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3945</TotalTime>
  <Words>1683</Words>
  <Application>Microsoft Office PowerPoint</Application>
  <PresentationFormat>On-screen Show (4:3)</PresentationFormat>
  <Paragraphs>744</Paragraphs>
  <Slides>27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48" baseType="lpstr">
      <vt:lpstr>Agency FB</vt:lpstr>
      <vt:lpstr>Aharoni</vt:lpstr>
      <vt:lpstr>Arial</vt:lpstr>
      <vt:lpstr>Arial Black</vt:lpstr>
      <vt:lpstr>Arial Unicode MS</vt:lpstr>
      <vt:lpstr>Britannic Bold</vt:lpstr>
      <vt:lpstr>Calibri</vt:lpstr>
      <vt:lpstr>Calibri Light</vt:lpstr>
      <vt:lpstr>Century Schoolbook</vt:lpstr>
      <vt:lpstr>Comic Sans MS</vt:lpstr>
      <vt:lpstr>Gungsuh</vt:lpstr>
      <vt:lpstr>Impact</vt:lpstr>
      <vt:lpstr>Monotype Corsiva</vt:lpstr>
      <vt:lpstr>Symbol</vt:lpstr>
      <vt:lpstr>Times New Roman</vt:lpstr>
      <vt:lpstr>TimesNewRomanPSMT;TimesNewRoman</vt:lpstr>
      <vt:lpstr>Verdana</vt:lpstr>
      <vt:lpstr>Wingdings</vt:lpstr>
      <vt:lpstr>Office Theme</vt:lpstr>
      <vt:lpstr>Equation</vt:lpstr>
      <vt:lpstr>Photo Editor Photo</vt:lpstr>
      <vt:lpstr>PowerPoint Presentation</vt:lpstr>
      <vt:lpstr>Shortest Path Problems</vt:lpstr>
      <vt:lpstr>Shortest Path Problems</vt:lpstr>
      <vt:lpstr>Shortest Path Problems</vt:lpstr>
      <vt:lpstr>Variants of Shortest Paths</vt:lpstr>
      <vt:lpstr>Optimal Substructure of Shortest Paths</vt:lpstr>
      <vt:lpstr>Shortest-Path Idea</vt:lpstr>
      <vt:lpstr>Initialization</vt:lpstr>
      <vt:lpstr>Relaxation</vt:lpstr>
      <vt:lpstr>RELAX(u, v, w)</vt:lpstr>
      <vt:lpstr>Dijkstra’s Algorithm</vt:lpstr>
      <vt:lpstr>Dijkstra (G, w, s)</vt:lpstr>
      <vt:lpstr>Example</vt:lpstr>
      <vt:lpstr>Dijkstra’s Pseudo Code</vt:lpstr>
      <vt:lpstr>Example of Dijkstra’s algorithm</vt:lpstr>
      <vt:lpstr>Example of Dijkstra’s algorithm</vt:lpstr>
      <vt:lpstr>Example of Dijkstra’s algorithm</vt:lpstr>
      <vt:lpstr>Example of Dijkstra’s algorithm</vt:lpstr>
      <vt:lpstr>Example of Dijkstra’s algorithm</vt:lpstr>
      <vt:lpstr>Example of Dijkstra’s algorithm</vt:lpstr>
      <vt:lpstr>Example of Dijkstra’s algorithm</vt:lpstr>
      <vt:lpstr>Example of Dijkstra’s algorithm</vt:lpstr>
      <vt:lpstr>Example of Dijkstra’s algorithm</vt:lpstr>
      <vt:lpstr>Example of Dijkstra’s algorithm</vt:lpstr>
      <vt:lpstr>Example of Dijkstra’s algorithm</vt:lpstr>
      <vt:lpstr>Dijkstra (G, w, s) – Time Complexity</vt:lpstr>
      <vt:lpstr>Dijkstra’s Time complexity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CSE</cp:lastModifiedBy>
  <cp:revision>195</cp:revision>
  <dcterms:created xsi:type="dcterms:W3CDTF">2014-09-11T18:03:18Z</dcterms:created>
  <dcterms:modified xsi:type="dcterms:W3CDTF">2025-07-25T06:50:55Z</dcterms:modified>
</cp:coreProperties>
</file>