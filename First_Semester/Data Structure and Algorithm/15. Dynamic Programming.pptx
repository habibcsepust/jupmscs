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321" r:id="rId2"/>
    <p:sldId id="319" r:id="rId3"/>
    <p:sldId id="320" r:id="rId4"/>
    <p:sldId id="259" r:id="rId5"/>
    <p:sldId id="272" r:id="rId6"/>
    <p:sldId id="273" r:id="rId7"/>
    <p:sldId id="274" r:id="rId8"/>
    <p:sldId id="275" r:id="rId9"/>
    <p:sldId id="276" r:id="rId10"/>
    <p:sldId id="261" r:id="rId11"/>
    <p:sldId id="278" r:id="rId12"/>
    <p:sldId id="315" r:id="rId13"/>
    <p:sldId id="316" r:id="rId14"/>
    <p:sldId id="317" r:id="rId15"/>
    <p:sldId id="31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3" r:id="rId49"/>
    <p:sldId id="314" r:id="rId50"/>
    <p:sldId id="277" r:id="rId51"/>
    <p:sldId id="323" r:id="rId52"/>
    <p:sldId id="324" r:id="rId53"/>
    <p:sldId id="322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2" autoAdjust="0"/>
    <p:restoredTop sz="94707" autoAdjust="0"/>
  </p:normalViewPr>
  <p:slideViewPr>
    <p:cSldViewPr snapToGrid="0">
      <p:cViewPr varScale="1">
        <p:scale>
          <a:sx n="69" d="100"/>
          <a:sy n="69" d="100"/>
        </p:scale>
        <p:origin x="16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13" Type="http://schemas.openxmlformats.org/officeDocument/2006/relationships/slide" Target="slides/slide20.xml"/><Relationship Id="rId18" Type="http://schemas.openxmlformats.org/officeDocument/2006/relationships/slide" Target="slides/slide25.xml"/><Relationship Id="rId26" Type="http://schemas.openxmlformats.org/officeDocument/2006/relationships/slide" Target="slides/slide33.xml"/><Relationship Id="rId39" Type="http://schemas.openxmlformats.org/officeDocument/2006/relationships/slide" Target="slides/slide46.xml"/><Relationship Id="rId3" Type="http://schemas.openxmlformats.org/officeDocument/2006/relationships/slide" Target="slides/slide9.xml"/><Relationship Id="rId21" Type="http://schemas.openxmlformats.org/officeDocument/2006/relationships/slide" Target="slides/slide28.xml"/><Relationship Id="rId34" Type="http://schemas.openxmlformats.org/officeDocument/2006/relationships/slide" Target="slides/slide41.xml"/><Relationship Id="rId42" Type="http://schemas.openxmlformats.org/officeDocument/2006/relationships/slide" Target="slides/slide52.xml"/><Relationship Id="rId7" Type="http://schemas.openxmlformats.org/officeDocument/2006/relationships/slide" Target="slides/slide14.xml"/><Relationship Id="rId12" Type="http://schemas.openxmlformats.org/officeDocument/2006/relationships/slide" Target="slides/slide19.xml"/><Relationship Id="rId17" Type="http://schemas.openxmlformats.org/officeDocument/2006/relationships/slide" Target="slides/slide24.xml"/><Relationship Id="rId25" Type="http://schemas.openxmlformats.org/officeDocument/2006/relationships/slide" Target="slides/slide32.xml"/><Relationship Id="rId33" Type="http://schemas.openxmlformats.org/officeDocument/2006/relationships/slide" Target="slides/slide40.xml"/><Relationship Id="rId38" Type="http://schemas.openxmlformats.org/officeDocument/2006/relationships/slide" Target="slides/slide45.xml"/><Relationship Id="rId2" Type="http://schemas.openxmlformats.org/officeDocument/2006/relationships/slide" Target="slides/slide8.xml"/><Relationship Id="rId16" Type="http://schemas.openxmlformats.org/officeDocument/2006/relationships/slide" Target="slides/slide23.xml"/><Relationship Id="rId20" Type="http://schemas.openxmlformats.org/officeDocument/2006/relationships/slide" Target="slides/slide27.xml"/><Relationship Id="rId29" Type="http://schemas.openxmlformats.org/officeDocument/2006/relationships/slide" Target="slides/slide36.xml"/><Relationship Id="rId41" Type="http://schemas.openxmlformats.org/officeDocument/2006/relationships/slide" Target="slides/slide51.xml"/><Relationship Id="rId1" Type="http://schemas.openxmlformats.org/officeDocument/2006/relationships/slide" Target="slides/slide7.xml"/><Relationship Id="rId6" Type="http://schemas.openxmlformats.org/officeDocument/2006/relationships/slide" Target="slides/slide13.xml"/><Relationship Id="rId11" Type="http://schemas.openxmlformats.org/officeDocument/2006/relationships/slide" Target="slides/slide18.xml"/><Relationship Id="rId24" Type="http://schemas.openxmlformats.org/officeDocument/2006/relationships/slide" Target="slides/slide31.xml"/><Relationship Id="rId32" Type="http://schemas.openxmlformats.org/officeDocument/2006/relationships/slide" Target="slides/slide39.xml"/><Relationship Id="rId37" Type="http://schemas.openxmlformats.org/officeDocument/2006/relationships/slide" Target="slides/slide44.xml"/><Relationship Id="rId40" Type="http://schemas.openxmlformats.org/officeDocument/2006/relationships/slide" Target="slides/slide47.xml"/><Relationship Id="rId5" Type="http://schemas.openxmlformats.org/officeDocument/2006/relationships/slide" Target="slides/slide12.xml"/><Relationship Id="rId15" Type="http://schemas.openxmlformats.org/officeDocument/2006/relationships/slide" Target="slides/slide22.xml"/><Relationship Id="rId23" Type="http://schemas.openxmlformats.org/officeDocument/2006/relationships/slide" Target="slides/slide30.xml"/><Relationship Id="rId28" Type="http://schemas.openxmlformats.org/officeDocument/2006/relationships/slide" Target="slides/slide35.xml"/><Relationship Id="rId36" Type="http://schemas.openxmlformats.org/officeDocument/2006/relationships/slide" Target="slides/slide43.xml"/><Relationship Id="rId10" Type="http://schemas.openxmlformats.org/officeDocument/2006/relationships/slide" Target="slides/slide17.xml"/><Relationship Id="rId19" Type="http://schemas.openxmlformats.org/officeDocument/2006/relationships/slide" Target="slides/slide26.xml"/><Relationship Id="rId31" Type="http://schemas.openxmlformats.org/officeDocument/2006/relationships/slide" Target="slides/slide38.xml"/><Relationship Id="rId4" Type="http://schemas.openxmlformats.org/officeDocument/2006/relationships/slide" Target="slides/slide11.xml"/><Relationship Id="rId9" Type="http://schemas.openxmlformats.org/officeDocument/2006/relationships/slide" Target="slides/slide16.xml"/><Relationship Id="rId14" Type="http://schemas.openxmlformats.org/officeDocument/2006/relationships/slide" Target="slides/slide21.xml"/><Relationship Id="rId22" Type="http://schemas.openxmlformats.org/officeDocument/2006/relationships/slide" Target="slides/slide29.xml"/><Relationship Id="rId27" Type="http://schemas.openxmlformats.org/officeDocument/2006/relationships/slide" Target="slides/slide34.xml"/><Relationship Id="rId30" Type="http://schemas.openxmlformats.org/officeDocument/2006/relationships/slide" Target="slides/slide37.xml"/><Relationship Id="rId35" Type="http://schemas.openxmlformats.org/officeDocument/2006/relationships/slide" Target="slides/slide42.xml"/><Relationship Id="rId43" Type="http://schemas.openxmlformats.org/officeDocument/2006/relationships/slide" Target="slides/slide5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FB90A3F-247D-4505-A9EA-6DE85068D652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763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83CA8C-F44A-4C89-815D-08452BE9527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688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E2B34B-62D2-4E54-9B57-08C5AD56017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5629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22A93BF-2DDF-4C16-BBB4-FB21691FD1B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37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79471C-07C7-4417-A6B5-8D443C14B62C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20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E5C238-E1A6-4DB6-807A-6F37B7CB6AD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604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9BECAD-5F2F-48C1-8350-09B73B2A56F5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71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B9D733-18D6-43CE-9EF8-8267E92D842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980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2B7906-B4E7-4110-A769-A629BA5D80F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999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6926A4-0358-4CF1-AAB2-20AE96D992DC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8527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C3DD0-16DB-48E3-9C82-40DC2DC7B98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491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A6906B-7C64-449E-8BA1-1A0847537DD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989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B92224-3A22-48D7-A01A-264CBED66BC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1156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7DDD84-934A-4C2B-83D2-5C4CDA5EACAA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941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BDE0C6E-1B56-436F-8A33-5DAE3B45D80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07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2DF7EF-004B-4904-B8A9-94F6C9884311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646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27C54D-5E6B-4930-9518-735E2849956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957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D6C38C-F2DE-4085-B17C-962CDF9E035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509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9B9D8A-82B5-4C4B-8C0A-D506AD9D8E6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187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91099A-FCBB-48A4-8B42-58E419AC158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4735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E241FC-C79C-4847-8DE9-73F7FF4DF5A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282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109589-7FFD-46FB-A508-7208B4CE24D7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346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C1D894-B895-4326-9D03-6A3C6C811A7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4958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8644AB-3144-4082-A4F8-3E1E9C26EE3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916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2D4FDF-5122-43B3-80BB-C64C7FE49CB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079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783DFB-2206-4332-909D-9A7DADAB9AB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988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B13A52-EF4C-47F0-9EF6-24639E3E071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86287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1B7067-F7EC-4FD0-9D72-43AAFBB50C9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509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3F2A51-7426-45D4-96FF-C1F3A86C0299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818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DF384D-6B48-4D45-B73B-CDD56379C46D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1951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F55729-D2FB-41AE-9E15-9E9CD16226AE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2244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413350-F35E-418A-BC0D-27214F937B80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969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58D153-1C95-4DAC-A233-0650094456D5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594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A595EC-D4F6-457A-8E78-923AA71CC402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9276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6C00CF-DADF-4501-A1BA-C8B91B92954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8057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A8A1E6-576A-4802-B3B8-874ED495DC6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11893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EAF4C5E-C02F-455F-99B8-85742FA899AB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939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3CC94C-B4C1-4EB6-98D3-9EC7EE1284D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805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A1A2FDC-A313-4CE4-A72D-55FEE89D2CDA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5122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5E9FC3-0600-4639-8ACD-22E935C03838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2367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2F5F4D-FC49-4CC3-B5AE-7FD2EAADB139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7092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E0FEBE-EF88-4FC2-88CA-1AF3339739BF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1688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2DF7EF-004B-4904-B8A9-94F6C9884311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51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8137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27C54D-5E6B-4930-9518-735E28499566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52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4419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D6C38C-F2DE-4085-B17C-962CDF9E0354}" type="slidenum">
              <a:rPr lang="zh-CN" altLang="en-US" sz="1200" b="0">
                <a:latin typeface="Times New Roman" panose="02020603050405020304" pitchFamily="18" charset="0"/>
                <a:ea typeface="SimSun" panose="02010600030101010101" pitchFamily="2" charset="-122"/>
              </a:rPr>
              <a:pPr/>
              <a:t>53</a:t>
            </a:fld>
            <a:endParaRPr lang="en-US" altLang="zh-CN" sz="12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724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 smtClean="0"/>
              <a:t>Lecture 01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BECB-1EC2-4351-B909-75E5BD05932C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EC8E1-7B4C-471D-AF10-45011E8E984F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825A-F83B-4DC1-8300-CF704F7A78B7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DE9-AE3A-4E2F-B886-276D4264EB2B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C1DD-08F9-435A-8D24-068019F62DA3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C78BB-5C48-44C7-B0C6-9834365D268B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342D-2389-4250-84F4-884A3CEED256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2B7-8856-45BB-B434-20417E1DDEEB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3B81-A4D5-4E79-B355-B7D4EDF16382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2C3B-6F45-43D4-9945-984EEE559CD0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2068-8E64-4A30-B888-40744527392A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5C2D569-2960-42F7-9E7C-6DB09F85B26D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CC066-6CA6-4288-AB2C-12F498C76B03}" type="datetime1">
              <a:rPr lang="en-US" smtClean="0"/>
              <a:pPr>
                <a:defRPr/>
              </a:pPr>
              <a:t>4/8/2026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1730D-E9A2-4FD1-B980-0FC818472AD9}" type="datetime1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7"/>
            <a:ext cx="7765269" cy="1550163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>
                <a:latin typeface="+mn-lt"/>
              </a:rPr>
              <a:t>Data Structure and Algorithm</a:t>
            </a:r>
            <a:br>
              <a:rPr lang="en-US" altLang="en-US" sz="6600" b="1" dirty="0">
                <a:latin typeface="+mn-lt"/>
              </a:rPr>
            </a:br>
            <a:r>
              <a:rPr lang="en-US" altLang="en-US" sz="4800" b="1" dirty="0">
                <a:solidFill>
                  <a:srgbClr val="00B050"/>
                </a:solidFill>
                <a:latin typeface="+mn-lt"/>
              </a:rPr>
              <a:t>(PMSCS 623P)</a:t>
            </a:r>
            <a:endParaRPr lang="en-US" altLang="en-US" sz="4800" b="1" dirty="0">
              <a:latin typeface="+mn-lt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9983" dirty="0"/>
              <a:t>Lecture </a:t>
            </a:r>
            <a:r>
              <a:rPr lang="en-US" sz="19983" dirty="0" smtClean="0"/>
              <a:t>13</a:t>
            </a:r>
            <a:endParaRPr lang="en-US" sz="19185" dirty="0"/>
          </a:p>
          <a:p>
            <a:pPr marL="0" indent="0" algn="ctr">
              <a:buNone/>
              <a:defRPr/>
            </a:pPr>
            <a:r>
              <a:rPr lang="en-US" sz="12300" dirty="0">
                <a:solidFill>
                  <a:schemeClr val="accent1">
                    <a:lumMod val="50000"/>
                  </a:schemeClr>
                </a:solidFill>
              </a:rPr>
              <a:t>Dynamic Programming</a:t>
            </a:r>
          </a:p>
          <a:p>
            <a:pPr marL="0" indent="0" algn="ctr">
              <a:buNone/>
              <a:defRPr/>
            </a:pPr>
            <a:r>
              <a:rPr lang="en-US" sz="96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en-US" sz="9600" b="1" dirty="0"/>
              <a:t>0-1 knapsack problem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344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" y="310526"/>
            <a:ext cx="8731517" cy="604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Dynamic Programming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1103576"/>
            <a:ext cx="8797925" cy="5237163"/>
          </a:xfrm>
        </p:spPr>
        <p:txBody>
          <a:bodyPr>
            <a:norm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Build up the solution by computing solutions to </a:t>
            </a:r>
            <a:r>
              <a:rPr lang="en-US" dirty="0" smtClean="0"/>
              <a:t>the </a:t>
            </a:r>
            <a:r>
              <a:rPr lang="en-US" dirty="0" err="1" smtClean="0"/>
              <a:t>subproblems</a:t>
            </a:r>
            <a:r>
              <a:rPr lang="en-US" dirty="0"/>
              <a:t>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Don’t solve the same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subproblem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twice</a:t>
            </a:r>
            <a:r>
              <a:rPr lang="en-US" dirty="0"/>
              <a:t>, but rather save </a:t>
            </a:r>
            <a:r>
              <a:rPr lang="en-US" dirty="0" smtClean="0"/>
              <a:t>the solution </a:t>
            </a:r>
            <a:r>
              <a:rPr lang="en-US" dirty="0"/>
              <a:t>so it can be re-used later on.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Often used for a large class to optimization problems.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Unlike Greedy algorithms, implicitly solve all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/>
              <a:t>Motivating the case for DP with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Memoization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– a </a:t>
            </a:r>
            <a:r>
              <a:rPr lang="en-US" dirty="0" smtClean="0"/>
              <a:t>top-down technique</a:t>
            </a:r>
            <a:r>
              <a:rPr lang="en-US" dirty="0"/>
              <a:t>, and then moving on to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Dynamic Programming</a:t>
            </a:r>
            <a:r>
              <a:rPr lang="en-US" dirty="0"/>
              <a:t> – </a:t>
            </a:r>
            <a:r>
              <a:rPr lang="en-US" dirty="0" smtClean="0"/>
              <a:t>a bottom-up </a:t>
            </a:r>
            <a:r>
              <a:rPr lang="en-US" dirty="0"/>
              <a:t>technique.</a:t>
            </a:r>
          </a:p>
        </p:txBody>
      </p:sp>
    </p:spTree>
    <p:extLst>
      <p:ext uri="{BB962C8B-B14F-4D97-AF65-F5344CB8AC3E}">
        <p14:creationId xmlns:p14="http://schemas.microsoft.com/office/powerpoint/2010/main" val="308847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/>
              <a:t>The Knapsack Problem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idx="1"/>
          </p:nvPr>
        </p:nvSpPr>
        <p:spPr>
          <a:xfrm>
            <a:off x="1" y="939800"/>
            <a:ext cx="9144000" cy="52371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b="1" dirty="0" smtClean="0"/>
              <a:t>The 0-1 knapsack problem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A thief robbing a store finds </a:t>
            </a:r>
            <a:r>
              <a:rPr lang="en-US" altLang="en-US" dirty="0" smtClean="0">
                <a:latin typeface="Comic Sans MS" panose="030F0702030302020204" pitchFamily="66" charset="0"/>
              </a:rPr>
              <a:t>n</a:t>
            </a:r>
            <a:r>
              <a:rPr lang="en-US" altLang="en-US" dirty="0" smtClean="0"/>
              <a:t> items: the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err="1" smtClean="0"/>
              <a:t>-th</a:t>
            </a:r>
            <a:r>
              <a:rPr lang="en-US" altLang="en-US" dirty="0" smtClean="0"/>
              <a:t> item is worth </a:t>
            </a:r>
            <a:r>
              <a:rPr lang="en-US" altLang="en-US" dirty="0" smtClean="0">
                <a:latin typeface="Comic Sans MS" panose="030F0702030302020204" pitchFamily="66" charset="0"/>
              </a:rPr>
              <a:t>v</a:t>
            </a:r>
            <a:r>
              <a:rPr lang="en-US" altLang="en-US" baseline="-25000" dirty="0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dollars and weights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w</a:t>
            </a:r>
            <a:r>
              <a:rPr lang="en-US" altLang="en-US" baseline="-25000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pounds (</a:t>
            </a:r>
            <a:r>
              <a:rPr lang="en-US" altLang="en-US" dirty="0" smtClean="0">
                <a:latin typeface="Comic Sans MS" panose="030F0702030302020204" pitchFamily="66" charset="0"/>
              </a:rPr>
              <a:t>v</a:t>
            </a:r>
            <a:r>
              <a:rPr lang="en-US" altLang="en-US" baseline="-25000" dirty="0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>
                <a:latin typeface="Comic Sans MS" panose="030F0702030302020204" pitchFamily="66" charset="0"/>
              </a:rPr>
              <a:t>, </a:t>
            </a:r>
            <a:r>
              <a:rPr lang="en-US" altLang="en-US" dirty="0" err="1" smtClean="0">
                <a:latin typeface="Comic Sans MS" panose="030F0702030302020204" pitchFamily="66" charset="0"/>
              </a:rPr>
              <a:t>w</a:t>
            </a:r>
            <a:r>
              <a:rPr lang="en-US" altLang="en-US" baseline="-25000" dirty="0" err="1" smtClean="0">
                <a:latin typeface="Comic Sans MS" panose="030F0702030302020204" pitchFamily="66" charset="0"/>
              </a:rPr>
              <a:t>i</a:t>
            </a:r>
            <a:r>
              <a:rPr lang="en-US" altLang="en-US" dirty="0" smtClean="0"/>
              <a:t> integers)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The thief can only carry </a:t>
            </a:r>
            <a:r>
              <a:rPr lang="en-US" altLang="en-US" dirty="0" smtClean="0">
                <a:latin typeface="Comic Sans MS" panose="030F0702030302020204" pitchFamily="66" charset="0"/>
              </a:rPr>
              <a:t>W</a:t>
            </a:r>
            <a:r>
              <a:rPr lang="en-US" altLang="en-US" dirty="0" smtClean="0"/>
              <a:t> pounds in his knapsack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Items must be taken entirely or left behind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Which items should the thief take to maximize the value of his load?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b="1" dirty="0" smtClean="0"/>
              <a:t>The fractional knapsack problem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Similar to above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The thief can take fractions of items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Solvable via a greedy approach (always take from that item which has the highest per weight value)</a:t>
            </a:r>
          </a:p>
        </p:txBody>
      </p:sp>
    </p:spTree>
    <p:extLst>
      <p:ext uri="{BB962C8B-B14F-4D97-AF65-F5344CB8AC3E}">
        <p14:creationId xmlns:p14="http://schemas.microsoft.com/office/powerpoint/2010/main" val="139679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>Knapsack 0-1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524" y="1219200"/>
            <a:ext cx="4267200" cy="4876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 smtClean="0">
                <a:cs typeface="Times New Roman" pitchFamily="18" charset="0"/>
              </a:rPr>
              <a:t>The goal is to </a:t>
            </a:r>
            <a:r>
              <a:rPr lang="en-US" sz="3000" b="1" dirty="0" smtClean="0">
                <a:cs typeface="Times New Roman" pitchFamily="18" charset="0"/>
              </a:rPr>
              <a:t>maximize the value of a knapsack </a:t>
            </a:r>
            <a:r>
              <a:rPr lang="en-US" sz="3000" dirty="0" smtClean="0">
                <a:cs typeface="Times New Roman" pitchFamily="18" charset="0"/>
              </a:rPr>
              <a:t>that can hold at most W units (i.e. lbs or kg) worth of goods from a list of items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… I</a:t>
            </a:r>
            <a:r>
              <a:rPr lang="en-US" sz="3000" baseline="-25000" dirty="0" smtClean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defRPr/>
            </a:pPr>
            <a:r>
              <a:rPr lang="en-US" dirty="0" smtClean="0">
                <a:cs typeface="Times New Roman" pitchFamily="18" charset="0"/>
              </a:rPr>
              <a:t>Each item has 2 attributes:</a:t>
            </a:r>
          </a:p>
          <a:p>
            <a:pPr marL="1163637" lvl="2" indent="-514350">
              <a:buFont typeface="+mj-lt"/>
              <a:buAutoNum type="arabicParenR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 – let this be v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item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marL="1163637" lvl="2" indent="-514350">
              <a:buFont typeface="+mj-lt"/>
              <a:buAutoNum type="arabicParenR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Weight – let this be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item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marL="642937" indent="-514350">
              <a:defRPr/>
            </a:pPr>
            <a:endParaRPr lang="en-US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2" name="Content Placeholder 5" descr="knapsack_probl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86" y="1600200"/>
            <a:ext cx="396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01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>Knapsack 0-1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28" y="1219200"/>
            <a:ext cx="3886200" cy="4267200"/>
          </a:xfrm>
        </p:spPr>
        <p:txBody>
          <a:bodyPr>
            <a:normAutofit lnSpcReduction="10000"/>
          </a:bodyPr>
          <a:lstStyle/>
          <a:p>
            <a:pPr marL="642937" indent="-514350">
              <a:defRPr/>
            </a:pPr>
            <a:r>
              <a:rPr lang="en-US" dirty="0" smtClean="0">
                <a:cs typeface="Times New Roman" pitchFamily="18" charset="0"/>
              </a:rPr>
              <a:t>The difference between this problem and the fractional knapsack one is that you CANNOT take a fraction of an item.</a:t>
            </a:r>
          </a:p>
          <a:p>
            <a:pPr marL="642937" indent="-514350">
              <a:buFont typeface="Wingdings 2" panose="05020102010507070707" pitchFamily="18" charset="2"/>
              <a:buNone/>
              <a:defRPr/>
            </a:pPr>
            <a:endParaRPr lang="en-US" dirty="0" smtClean="0">
              <a:cs typeface="Times New Roman" pitchFamily="18" charset="0"/>
            </a:endParaRPr>
          </a:p>
          <a:p>
            <a:pPr marL="917575" lvl="1" indent="-514350">
              <a:defRPr/>
            </a:pPr>
            <a:r>
              <a:rPr lang="en-US" dirty="0" smtClean="0">
                <a:cs typeface="Times New Roman" pitchFamily="18" charset="0"/>
              </a:rPr>
              <a:t>You can either take it or not.</a:t>
            </a:r>
          </a:p>
          <a:p>
            <a:pPr marL="917575" lvl="1" indent="-514350">
              <a:defRPr/>
            </a:pPr>
            <a:r>
              <a:rPr lang="en-US" dirty="0" smtClean="0">
                <a:cs typeface="Times New Roman" pitchFamily="18" charset="0"/>
              </a:rPr>
              <a:t>Hence the name Knapsack 0-1 problem.</a:t>
            </a:r>
            <a:endParaRPr lang="en-US" dirty="0">
              <a:cs typeface="Times New Roman" pitchFamily="18" charset="0"/>
            </a:endParaRPr>
          </a:p>
        </p:txBody>
      </p:sp>
      <p:pic>
        <p:nvPicPr>
          <p:cNvPr id="13316" name="Content Placeholder 5" descr="knapsack_probl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028" y="1600200"/>
            <a:ext cx="396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62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mtClean="0">
                <a:ea typeface="SimSun" panose="02010600030101010101" pitchFamily="2" charset="-122"/>
              </a:rPr>
              <a:t>Given a knapsack with maximum capacity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and a set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smtClean="0">
                <a:ea typeface="SimSun" panose="02010600030101010101" pitchFamily="2" charset="-122"/>
              </a:rPr>
              <a:t> consisting of </a:t>
            </a:r>
            <a:r>
              <a:rPr lang="en-US" altLang="zh-CN" i="1" smtClean="0">
                <a:ea typeface="SimSun" panose="02010600030101010101" pitchFamily="2" charset="-122"/>
              </a:rPr>
              <a:t>n</a:t>
            </a:r>
            <a:r>
              <a:rPr lang="en-US" altLang="zh-CN" smtClean="0">
                <a:ea typeface="SimSun" panose="02010600030101010101" pitchFamily="2" charset="-122"/>
              </a:rPr>
              <a:t> items</a:t>
            </a:r>
          </a:p>
          <a:p>
            <a:pPr>
              <a:lnSpc>
                <a:spcPct val="110000"/>
              </a:lnSpc>
            </a:pPr>
            <a:r>
              <a:rPr lang="en-US" altLang="zh-CN" smtClean="0">
                <a:ea typeface="SimSun" panose="02010600030101010101" pitchFamily="2" charset="-122"/>
              </a:rPr>
              <a:t>Each item </a:t>
            </a:r>
            <a:r>
              <a:rPr lang="en-US" altLang="zh-CN" i="1" smtClean="0">
                <a:ea typeface="SimSun" panose="02010600030101010101" pitchFamily="2" charset="-122"/>
              </a:rPr>
              <a:t>i</a:t>
            </a:r>
            <a:r>
              <a:rPr lang="en-US" altLang="zh-CN" smtClean="0">
                <a:ea typeface="SimSun" panose="02010600030101010101" pitchFamily="2" charset="-122"/>
              </a:rPr>
              <a:t> has some weight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i="1" baseline="-25000" smtClean="0">
                <a:ea typeface="SimSun" panose="02010600030101010101" pitchFamily="2" charset="-122"/>
              </a:rPr>
              <a:t>i</a:t>
            </a:r>
            <a:r>
              <a:rPr lang="en-US" altLang="zh-CN" smtClean="0">
                <a:ea typeface="SimSun" panose="02010600030101010101" pitchFamily="2" charset="-122"/>
              </a:rPr>
              <a:t> and benefit value </a:t>
            </a:r>
            <a:r>
              <a:rPr lang="en-US" altLang="zh-CN" i="1" smtClean="0">
                <a:ea typeface="SimSun" panose="02010600030101010101" pitchFamily="2" charset="-122"/>
              </a:rPr>
              <a:t>b</a:t>
            </a:r>
            <a:r>
              <a:rPr lang="en-US" altLang="zh-CN" i="1" baseline="-25000" smtClean="0">
                <a:ea typeface="SimSun" panose="02010600030101010101" pitchFamily="2" charset="-122"/>
              </a:rPr>
              <a:t>i</a:t>
            </a:r>
            <a:r>
              <a:rPr lang="en-US" altLang="zh-CN" baseline="-25000" smtClean="0">
                <a:ea typeface="SimSun" panose="02010600030101010101" pitchFamily="2" charset="-122"/>
              </a:rPr>
              <a:t>  </a:t>
            </a:r>
            <a:r>
              <a:rPr lang="en-US" altLang="zh-CN" smtClean="0">
                <a:ea typeface="SimSun" panose="02010600030101010101" pitchFamily="2" charset="-122"/>
              </a:rPr>
              <a:t>(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all 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w</a:t>
            </a:r>
            <a:r>
              <a:rPr lang="en-US" altLang="zh-CN" i="1" baseline="-25000" smtClean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baseline="-25000" smtClean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and </a:t>
            </a:r>
            <a:r>
              <a:rPr lang="en-US" altLang="zh-CN" i="1" smtClean="0">
                <a:solidFill>
                  <a:srgbClr val="FF0000"/>
                </a:solidFill>
                <a:ea typeface="SimSun" panose="02010600030101010101" pitchFamily="2" charset="-122"/>
              </a:rPr>
              <a:t>W</a:t>
            </a:r>
            <a:r>
              <a:rPr lang="en-US" altLang="zh-CN" smtClean="0">
                <a:solidFill>
                  <a:srgbClr val="FF0000"/>
                </a:solidFill>
                <a:ea typeface="SimSun" panose="02010600030101010101" pitchFamily="2" charset="-122"/>
              </a:rPr>
              <a:t> are integer values</a:t>
            </a:r>
            <a:r>
              <a:rPr lang="en-US" altLang="zh-CN" smtClean="0">
                <a:ea typeface="SimSun" panose="02010600030101010101" pitchFamily="2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u="sng" smtClean="0">
                <a:ea typeface="SimSun" panose="02010600030101010101" pitchFamily="2" charset="-122"/>
              </a:rPr>
              <a:t>Problem</a:t>
            </a:r>
            <a:r>
              <a:rPr lang="en-US" altLang="zh-CN" smtClean="0">
                <a:ea typeface="SimSun" panose="02010600030101010101" pitchFamily="2" charset="-122"/>
              </a:rPr>
              <a:t>: How to pack the knapsack to achieve maximum total value of packed items?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103425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66038" cy="685800"/>
          </a:xfrm>
        </p:spPr>
        <p:txBody>
          <a:bodyPr/>
          <a:lstStyle/>
          <a:p>
            <a:r>
              <a:rPr lang="en-US" altLang="zh-CN" sz="3200" smtClean="0">
                <a:ea typeface="SimSun" panose="02010600030101010101" pitchFamily="2" charset="-122"/>
              </a:rPr>
              <a:t>Problem, in other words, is to find</a:t>
            </a:r>
          </a:p>
        </p:txBody>
      </p:sp>
      <p:graphicFrame>
        <p:nvGraphicFramePr>
          <p:cNvPr id="7171" name="Object 4"/>
          <p:cNvGraphicFramePr>
            <a:graphicFrameLocks noChangeAspect="1"/>
          </p:cNvGraphicFramePr>
          <p:nvPr/>
        </p:nvGraphicFramePr>
        <p:xfrm>
          <a:off x="1905000" y="2209800"/>
          <a:ext cx="54864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4" imgW="1879600" imgH="342900" progId="Equation.3">
                  <p:embed/>
                </p:oleObj>
              </mc:Choice>
              <mc:Fallback>
                <p:oleObj name="Equation" r:id="rId4" imgW="18796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54864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</a:t>
            </a:r>
          </a:p>
        </p:txBody>
      </p:sp>
      <p:sp>
        <p:nvSpPr>
          <p:cNvPr id="7173" name="Rectangle 8"/>
          <p:cNvSpPr>
            <a:spLocks noChangeArrowheads="1"/>
          </p:cNvSpPr>
          <p:nvPr/>
        </p:nvSpPr>
        <p:spPr bwMode="auto">
          <a:xfrm>
            <a:off x="1219200" y="3429000"/>
            <a:ext cx="766603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Char char="u"/>
            </a:pP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The problem is called a “</a:t>
            </a:r>
            <a:r>
              <a:rPr lang="en-US" altLang="zh-CN" sz="3200" b="0" i="1">
                <a:latin typeface="Times New Roman" panose="02020603050405020304" pitchFamily="18" charset="0"/>
                <a:ea typeface="SimSun" panose="02010600030101010101" pitchFamily="2" charset="-122"/>
              </a:rPr>
              <a:t>0-1</a:t>
            </a: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” problem, because each item must be entirely accepted or rejected.</a:t>
            </a:r>
          </a:p>
        </p:txBody>
      </p:sp>
    </p:spTree>
    <p:extLst>
      <p:ext uri="{BB962C8B-B14F-4D97-AF65-F5344CB8AC3E}">
        <p14:creationId xmlns:p14="http://schemas.microsoft.com/office/powerpoint/2010/main" val="34447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78640"/>
            <a:ext cx="7772400" cy="4343400"/>
          </a:xfrm>
        </p:spPr>
        <p:txBody>
          <a:bodyPr/>
          <a:lstStyle/>
          <a:p>
            <a:pPr algn="ctr">
              <a:buFont typeface="Monotype Sorts" pitchFamily="80" charset="2"/>
              <a:buNone/>
            </a:pPr>
            <a:r>
              <a:rPr lang="en-US" altLang="zh-CN" sz="3200" dirty="0" smtClean="0">
                <a:solidFill>
                  <a:schemeClr val="hlink"/>
                </a:solidFill>
                <a:ea typeface="SimSun" panose="02010600030101010101" pitchFamily="2" charset="-122"/>
              </a:rPr>
              <a:t>Let’s first solve this problem with a straightforward algorithm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Since there are </a:t>
            </a:r>
            <a:r>
              <a:rPr lang="en-US" altLang="zh-CN" i="1" dirty="0" smtClean="0">
                <a:ea typeface="SimSun" panose="02010600030101010101" pitchFamily="2" charset="-122"/>
              </a:rPr>
              <a:t>n</a:t>
            </a:r>
            <a:r>
              <a:rPr lang="en-US" altLang="zh-CN" dirty="0" smtClean="0">
                <a:ea typeface="SimSun" panose="02010600030101010101" pitchFamily="2" charset="-122"/>
              </a:rPr>
              <a:t> items, there are </a:t>
            </a:r>
            <a:r>
              <a:rPr lang="en-US" altLang="zh-CN" i="1" dirty="0" smtClean="0">
                <a:ea typeface="SimSun" panose="02010600030101010101" pitchFamily="2" charset="-122"/>
              </a:rPr>
              <a:t>2</a:t>
            </a:r>
            <a:r>
              <a:rPr lang="en-US" altLang="zh-CN" i="1" baseline="30000" dirty="0" smtClean="0">
                <a:ea typeface="SimSun" panose="02010600030101010101" pitchFamily="2" charset="-122"/>
              </a:rPr>
              <a:t>n</a:t>
            </a:r>
            <a:r>
              <a:rPr lang="en-US" altLang="zh-CN" dirty="0" smtClean="0">
                <a:ea typeface="SimSun" panose="02010600030101010101" pitchFamily="2" charset="-122"/>
              </a:rPr>
              <a:t> possible combinations of items.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We go through all combinations and find the one with maximum value and with total weight less or equal to </a:t>
            </a:r>
            <a:r>
              <a:rPr lang="en-US" altLang="zh-CN" i="1" dirty="0" smtClean="0">
                <a:ea typeface="SimSun" panose="02010600030101010101" pitchFamily="2" charset="-122"/>
              </a:rPr>
              <a:t>W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Running time will be </a:t>
            </a:r>
            <a:r>
              <a:rPr lang="en-US" altLang="zh-CN" i="1" dirty="0" smtClean="0">
                <a:ea typeface="SimSun" panose="02010600030101010101" pitchFamily="2" charset="-122"/>
              </a:rPr>
              <a:t>O(2</a:t>
            </a:r>
            <a:r>
              <a:rPr lang="en-US" altLang="zh-CN" i="1" baseline="30000" dirty="0" smtClean="0">
                <a:ea typeface="SimSun" panose="02010600030101010101" pitchFamily="2" charset="-122"/>
              </a:rPr>
              <a:t>n</a:t>
            </a:r>
            <a:r>
              <a:rPr lang="en-US" altLang="zh-CN" i="1" dirty="0" smtClean="0">
                <a:ea typeface="SimSun" panose="02010600030101010101" pitchFamily="2" charset="-122"/>
              </a:rPr>
              <a:t>)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>
                <a:ea typeface="SimSun" panose="02010600030101010101" pitchFamily="2" charset="-122"/>
              </a:rPr>
              <a:t>0-1 Knapsack problem: brute-force approach</a:t>
            </a:r>
          </a:p>
        </p:txBody>
      </p:sp>
    </p:spTree>
    <p:extLst>
      <p:ext uri="{BB962C8B-B14F-4D97-AF65-F5344CB8AC3E}">
        <p14:creationId xmlns:p14="http://schemas.microsoft.com/office/powerpoint/2010/main" val="41933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/>
              <a:t>0-1 Knapsack - Greedy Strategy</a:t>
            </a:r>
          </a:p>
        </p:txBody>
      </p:sp>
      <p:sp>
        <p:nvSpPr>
          <p:cNvPr id="2765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DD0111"/>
                </a:solidFill>
                <a:latin typeface="Monotype Corsiva" panose="03010101010201010101" pitchFamily="66" charset="0"/>
              </a:rPr>
              <a:t>E.g.:</a:t>
            </a:r>
            <a:r>
              <a:rPr lang="en-US" altLang="en-US" dirty="0" smtClean="0"/>
              <a:t> </a:t>
            </a:r>
          </a:p>
        </p:txBody>
      </p:sp>
      <p:sp>
        <p:nvSpPr>
          <p:cNvPr id="700418" name="AutoShape 2"/>
          <p:cNvSpPr>
            <a:spLocks noChangeArrowheads="1"/>
          </p:cNvSpPr>
          <p:nvPr/>
        </p:nvSpPr>
        <p:spPr bwMode="auto">
          <a:xfrm>
            <a:off x="5207000" y="1579563"/>
            <a:ext cx="277813" cy="2286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50</a:t>
            </a: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368300" y="4481513"/>
            <a:ext cx="82296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27655" name="AutoShape 6"/>
          <p:cNvSpPr>
            <a:spLocks noChangeArrowheads="1"/>
          </p:cNvSpPr>
          <p:nvPr/>
        </p:nvSpPr>
        <p:spPr bwMode="auto">
          <a:xfrm>
            <a:off x="682625" y="3405188"/>
            <a:ext cx="277813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10</a:t>
            </a:r>
          </a:p>
        </p:txBody>
      </p:sp>
      <p:sp>
        <p:nvSpPr>
          <p:cNvPr id="27656" name="AutoShape 7"/>
          <p:cNvSpPr>
            <a:spLocks noChangeArrowheads="1"/>
          </p:cNvSpPr>
          <p:nvPr/>
        </p:nvSpPr>
        <p:spPr bwMode="auto">
          <a:xfrm>
            <a:off x="1535113" y="2947988"/>
            <a:ext cx="277812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20</a:t>
            </a:r>
          </a:p>
        </p:txBody>
      </p:sp>
      <p:sp>
        <p:nvSpPr>
          <p:cNvPr id="27657" name="AutoShape 8"/>
          <p:cNvSpPr>
            <a:spLocks noChangeArrowheads="1"/>
          </p:cNvSpPr>
          <p:nvPr/>
        </p:nvSpPr>
        <p:spPr bwMode="auto">
          <a:xfrm>
            <a:off x="2570163" y="2490788"/>
            <a:ext cx="277812" cy="1371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30</a:t>
            </a:r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434975" y="3059113"/>
            <a:ext cx="750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1</a:t>
            </a:r>
          </a:p>
        </p:txBody>
      </p:sp>
      <p:sp>
        <p:nvSpPr>
          <p:cNvPr id="27660" name="Text Box 11"/>
          <p:cNvSpPr txBox="1">
            <a:spLocks noChangeArrowheads="1"/>
          </p:cNvSpPr>
          <p:nvPr/>
        </p:nvSpPr>
        <p:spPr bwMode="auto">
          <a:xfrm>
            <a:off x="1257300" y="2576513"/>
            <a:ext cx="750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2</a:t>
            </a:r>
          </a:p>
        </p:txBody>
      </p:sp>
      <p:sp>
        <p:nvSpPr>
          <p:cNvPr id="27661" name="Text Box 12"/>
          <p:cNvSpPr txBox="1">
            <a:spLocks noChangeArrowheads="1"/>
          </p:cNvSpPr>
          <p:nvPr/>
        </p:nvSpPr>
        <p:spPr bwMode="auto">
          <a:xfrm>
            <a:off x="2351088" y="211772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Item 3</a:t>
            </a:r>
          </a:p>
        </p:txBody>
      </p:sp>
      <p:sp>
        <p:nvSpPr>
          <p:cNvPr id="27662" name="Text Box 13"/>
          <p:cNvSpPr txBox="1">
            <a:spLocks noChangeArrowheads="1"/>
          </p:cNvSpPr>
          <p:nvPr/>
        </p:nvSpPr>
        <p:spPr bwMode="auto">
          <a:xfrm>
            <a:off x="525463" y="3927475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$60</a:t>
            </a:r>
          </a:p>
        </p:txBody>
      </p:sp>
      <p:sp>
        <p:nvSpPr>
          <p:cNvPr id="27663" name="Text Box 14"/>
          <p:cNvSpPr txBox="1">
            <a:spLocks noChangeArrowheads="1"/>
          </p:cNvSpPr>
          <p:nvPr/>
        </p:nvSpPr>
        <p:spPr bwMode="auto">
          <a:xfrm>
            <a:off x="1308100" y="3927475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$100</a:t>
            </a:r>
          </a:p>
        </p:txBody>
      </p:sp>
      <p:sp>
        <p:nvSpPr>
          <p:cNvPr id="27664" name="Text Box 15"/>
          <p:cNvSpPr txBox="1">
            <a:spLocks noChangeArrowheads="1"/>
          </p:cNvSpPr>
          <p:nvPr/>
        </p:nvSpPr>
        <p:spPr bwMode="auto">
          <a:xfrm>
            <a:off x="2351088" y="3927475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$120</a:t>
            </a:r>
          </a:p>
        </p:txBody>
      </p:sp>
      <p:sp>
        <p:nvSpPr>
          <p:cNvPr id="700432" name="AutoShape 16"/>
          <p:cNvSpPr>
            <a:spLocks noChangeArrowheads="1"/>
          </p:cNvSpPr>
          <p:nvPr/>
        </p:nvSpPr>
        <p:spPr bwMode="auto">
          <a:xfrm>
            <a:off x="5207000" y="3405188"/>
            <a:ext cx="277813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10</a:t>
            </a:r>
          </a:p>
        </p:txBody>
      </p:sp>
      <p:sp>
        <p:nvSpPr>
          <p:cNvPr id="700433" name="AutoShape 17"/>
          <p:cNvSpPr>
            <a:spLocks noChangeArrowheads="1"/>
          </p:cNvSpPr>
          <p:nvPr/>
        </p:nvSpPr>
        <p:spPr bwMode="auto">
          <a:xfrm>
            <a:off x="5205413" y="2493963"/>
            <a:ext cx="277812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20</a:t>
            </a:r>
          </a:p>
        </p:txBody>
      </p:sp>
      <p:sp>
        <p:nvSpPr>
          <p:cNvPr id="700434" name="Text Box 18"/>
          <p:cNvSpPr txBox="1">
            <a:spLocks noChangeArrowheads="1"/>
          </p:cNvSpPr>
          <p:nvPr/>
        </p:nvSpPr>
        <p:spPr bwMode="auto">
          <a:xfrm>
            <a:off x="5592763" y="3484563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$60</a:t>
            </a:r>
          </a:p>
        </p:txBody>
      </p:sp>
      <p:sp>
        <p:nvSpPr>
          <p:cNvPr id="700435" name="Text Box 19"/>
          <p:cNvSpPr txBox="1">
            <a:spLocks noChangeArrowheads="1"/>
          </p:cNvSpPr>
          <p:nvPr/>
        </p:nvSpPr>
        <p:spPr bwMode="auto">
          <a:xfrm>
            <a:off x="5564188" y="2792413"/>
            <a:ext cx="6350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$100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sz="1600"/>
              <a:t>  +</a:t>
            </a:r>
          </a:p>
        </p:txBody>
      </p:sp>
      <p:sp>
        <p:nvSpPr>
          <p:cNvPr id="700436" name="Line 20"/>
          <p:cNvSpPr>
            <a:spLocks noChangeShapeType="1"/>
          </p:cNvSpPr>
          <p:nvPr/>
        </p:nvSpPr>
        <p:spPr bwMode="auto">
          <a:xfrm>
            <a:off x="5062538" y="3959225"/>
            <a:ext cx="1243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0437" name="Text Box 21"/>
          <p:cNvSpPr txBox="1">
            <a:spLocks noChangeArrowheads="1"/>
          </p:cNvSpPr>
          <p:nvPr/>
        </p:nvSpPr>
        <p:spPr bwMode="auto">
          <a:xfrm>
            <a:off x="5492750" y="3987800"/>
            <a:ext cx="635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$160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753220" y="1581150"/>
            <a:ext cx="1746251" cy="2992439"/>
            <a:chOff x="3505" y="1499"/>
            <a:chExt cx="1100" cy="1885"/>
          </a:xfrm>
        </p:grpSpPr>
        <p:sp>
          <p:nvSpPr>
            <p:cNvPr id="27676" name="AutoShape 23"/>
            <p:cNvSpPr>
              <a:spLocks noChangeArrowheads="1"/>
            </p:cNvSpPr>
            <p:nvPr/>
          </p:nvSpPr>
          <p:spPr bwMode="auto">
            <a:xfrm>
              <a:off x="3907" y="1499"/>
              <a:ext cx="175" cy="14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50</a:t>
              </a:r>
            </a:p>
          </p:txBody>
        </p:sp>
        <p:sp>
          <p:nvSpPr>
            <p:cNvPr id="27677" name="AutoShape 24"/>
            <p:cNvSpPr>
              <a:spLocks noChangeArrowheads="1"/>
            </p:cNvSpPr>
            <p:nvPr/>
          </p:nvSpPr>
          <p:spPr bwMode="auto">
            <a:xfrm>
              <a:off x="3906" y="2365"/>
              <a:ext cx="175" cy="57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20</a:t>
              </a:r>
            </a:p>
          </p:txBody>
        </p:sp>
        <p:sp>
          <p:nvSpPr>
            <p:cNvPr id="27678" name="Text Box 25"/>
            <p:cNvSpPr txBox="1">
              <a:spLocks noChangeArrowheads="1"/>
            </p:cNvSpPr>
            <p:nvPr/>
          </p:nvSpPr>
          <p:spPr bwMode="auto">
            <a:xfrm>
              <a:off x="4150" y="2549"/>
              <a:ext cx="4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$100</a:t>
              </a:r>
            </a:p>
          </p:txBody>
        </p:sp>
        <p:sp>
          <p:nvSpPr>
            <p:cNvPr id="27679" name="Text Box 26"/>
            <p:cNvSpPr txBox="1">
              <a:spLocks noChangeArrowheads="1"/>
            </p:cNvSpPr>
            <p:nvPr/>
          </p:nvSpPr>
          <p:spPr bwMode="auto">
            <a:xfrm>
              <a:off x="4132" y="1838"/>
              <a:ext cx="40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$120</a:t>
              </a:r>
            </a:p>
            <a:p>
              <a:pPr eaLnBrk="1" hangingPunct="1"/>
              <a:endParaRPr lang="en-US" altLang="en-US" sz="800"/>
            </a:p>
            <a:p>
              <a:pPr eaLnBrk="1" hangingPunct="1"/>
              <a:r>
                <a:rPr lang="en-US" altLang="en-US" sz="1600"/>
                <a:t>  +</a:t>
              </a:r>
            </a:p>
          </p:txBody>
        </p:sp>
        <p:sp>
          <p:nvSpPr>
            <p:cNvPr id="27680" name="Line 27"/>
            <p:cNvSpPr>
              <a:spLocks noChangeShapeType="1"/>
            </p:cNvSpPr>
            <p:nvPr/>
          </p:nvSpPr>
          <p:spPr bwMode="auto">
            <a:xfrm flipV="1">
              <a:off x="3588" y="2998"/>
              <a:ext cx="9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Text Box 28"/>
            <p:cNvSpPr txBox="1">
              <a:spLocks noChangeArrowheads="1"/>
            </p:cNvSpPr>
            <p:nvPr/>
          </p:nvSpPr>
          <p:spPr bwMode="auto">
            <a:xfrm>
              <a:off x="3505" y="3016"/>
              <a:ext cx="11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dirty="0"/>
                <a:t>$</a:t>
              </a:r>
              <a:r>
                <a:rPr lang="en-US" altLang="en-US" sz="1600" dirty="0" smtClean="0"/>
                <a:t>220 </a:t>
              </a:r>
            </a:p>
            <a:p>
              <a:pPr algn="ctr" eaLnBrk="1" hangingPunct="1"/>
              <a:r>
                <a:rPr lang="en-US" altLang="en-US" sz="1600" dirty="0" smtClean="0"/>
                <a:t>(optimal solution)</a:t>
              </a:r>
              <a:endParaRPr lang="en-US" altLang="en-US" sz="1600" dirty="0"/>
            </a:p>
          </p:txBody>
        </p:sp>
        <p:sp>
          <p:nvSpPr>
            <p:cNvPr id="27682" name="AutoShape 29"/>
            <p:cNvSpPr>
              <a:spLocks noChangeArrowheads="1"/>
            </p:cNvSpPr>
            <p:nvPr/>
          </p:nvSpPr>
          <p:spPr bwMode="auto">
            <a:xfrm>
              <a:off x="3906" y="1502"/>
              <a:ext cx="175" cy="86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30</a:t>
              </a:r>
            </a:p>
          </p:txBody>
        </p:sp>
      </p:grpSp>
      <p:sp>
        <p:nvSpPr>
          <p:cNvPr id="27672" name="Text Box 30"/>
          <p:cNvSpPr txBox="1">
            <a:spLocks noChangeArrowheads="1"/>
          </p:cNvSpPr>
          <p:nvPr/>
        </p:nvSpPr>
        <p:spPr bwMode="auto">
          <a:xfrm>
            <a:off x="27940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$6/pound</a:t>
            </a:r>
          </a:p>
        </p:txBody>
      </p:sp>
      <p:sp>
        <p:nvSpPr>
          <p:cNvPr id="27673" name="Text Box 31"/>
          <p:cNvSpPr txBox="1">
            <a:spLocks noChangeArrowheads="1"/>
          </p:cNvSpPr>
          <p:nvPr/>
        </p:nvSpPr>
        <p:spPr bwMode="auto">
          <a:xfrm>
            <a:off x="123825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$5/pound</a:t>
            </a:r>
          </a:p>
        </p:txBody>
      </p:sp>
      <p:sp>
        <p:nvSpPr>
          <p:cNvPr id="27674" name="Text Box 32"/>
          <p:cNvSpPr txBox="1">
            <a:spLocks noChangeArrowheads="1"/>
          </p:cNvSpPr>
          <p:nvPr/>
        </p:nvSpPr>
        <p:spPr bwMode="auto">
          <a:xfrm>
            <a:off x="2203450" y="4408488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$4/pound</a:t>
            </a:r>
          </a:p>
        </p:txBody>
      </p:sp>
      <p:sp>
        <p:nvSpPr>
          <p:cNvPr id="700449" name="Rectangle 33"/>
          <p:cNvSpPr>
            <a:spLocks noChangeArrowheads="1"/>
          </p:cNvSpPr>
          <p:nvPr/>
        </p:nvSpPr>
        <p:spPr bwMode="auto">
          <a:xfrm>
            <a:off x="395288" y="4844495"/>
            <a:ext cx="822960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 smtClean="0">
                <a:solidFill>
                  <a:schemeClr val="accent2"/>
                </a:solidFill>
              </a:rPr>
              <a:t>Greedy algorithm doesn’t give </a:t>
            </a:r>
            <a:r>
              <a:rPr lang="en-US" altLang="en-US" sz="2800" dirty="0">
                <a:solidFill>
                  <a:schemeClr val="accent2"/>
                </a:solidFill>
              </a:rPr>
              <a:t>optimal solution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 dirty="0" smtClean="0"/>
              <a:t>Because the </a:t>
            </a:r>
            <a:r>
              <a:rPr lang="en-US" altLang="en-US" sz="2400" dirty="0"/>
              <a:t>greedy choice property does not </a:t>
            </a:r>
            <a:r>
              <a:rPr lang="en-US" altLang="en-US" sz="2400" dirty="0" smtClean="0"/>
              <a:t>hold: no solution containing the first greedy choice (item 1) gives an optimal solution</a:t>
            </a:r>
            <a:endParaRPr lang="en-US" alt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021450" y="1576388"/>
            <a:ext cx="1936035" cy="2977667"/>
            <a:chOff x="3021450" y="1576388"/>
            <a:chExt cx="1936035" cy="2977667"/>
          </a:xfrm>
        </p:grpSpPr>
        <p:sp>
          <p:nvSpPr>
            <p:cNvPr id="27658" name="AutoShape 9"/>
            <p:cNvSpPr>
              <a:spLocks noChangeArrowheads="1"/>
            </p:cNvSpPr>
            <p:nvPr/>
          </p:nvSpPr>
          <p:spPr bwMode="auto">
            <a:xfrm>
              <a:off x="3738943" y="1576388"/>
              <a:ext cx="277812" cy="2286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21450" y="3907724"/>
              <a:ext cx="193603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dirty="0" smtClean="0"/>
                <a:t>Knapsack capacity, </a:t>
              </a:r>
            </a:p>
            <a:p>
              <a:pPr algn="ctr"/>
              <a:r>
                <a:rPr lang="en-US" altLang="en-US" dirty="0" smtClean="0"/>
                <a:t>W = 50 pounds</a:t>
              </a:r>
              <a:endParaRPr lang="en-US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565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8" grpId="0" animBg="1"/>
      <p:bldP spid="700432" grpId="0" animBg="1"/>
      <p:bldP spid="700433" grpId="0" animBg="1"/>
      <p:bldP spid="700434" grpId="0"/>
      <p:bldP spid="700435" grpId="0"/>
      <p:bldP spid="700436" grpId="0" animBg="1"/>
      <p:bldP spid="700437" grpId="0"/>
      <p:bldP spid="7004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2305050"/>
          </a:xfrm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We can do better with an algorithm based on dynamic programming</a:t>
            </a:r>
          </a:p>
          <a:p>
            <a:endParaRPr lang="en-US" altLang="zh-CN" smtClean="0">
              <a:ea typeface="SimSun" panose="02010600030101010101" pitchFamily="2" charset="-122"/>
            </a:endParaRPr>
          </a:p>
          <a:p>
            <a:r>
              <a:rPr lang="en-US" altLang="zh-CN" smtClean="0">
                <a:ea typeface="SimSun" panose="02010600030101010101" pitchFamily="2" charset="-122"/>
              </a:rPr>
              <a:t>We need to carefully identify the subproblems</a:t>
            </a:r>
          </a:p>
          <a:p>
            <a:endParaRPr lang="en-US" altLang="zh-CN" smtClean="0">
              <a:ea typeface="SimSun" panose="02010600030101010101" pitchFamily="2" charset="-122"/>
            </a:endParaRPr>
          </a:p>
          <a:p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7391400" cy="11049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problem: </a:t>
            </a:r>
            <a:br>
              <a:rPr lang="en-US" altLang="zh-CN" b="1" dirty="0" smtClean="0">
                <a:ea typeface="SimSun" panose="02010600030101010101" pitchFamily="2" charset="-122"/>
              </a:rPr>
            </a:br>
            <a:r>
              <a:rPr lang="en-US" altLang="zh-CN" b="1" dirty="0" smtClean="0">
                <a:ea typeface="SimSun" panose="02010600030101010101" pitchFamily="2" charset="-122"/>
              </a:rPr>
              <a:t>dynamic programming approach</a:t>
            </a:r>
          </a:p>
        </p:txBody>
      </p:sp>
    </p:spTree>
    <p:extLst>
      <p:ext uri="{BB962C8B-B14F-4D97-AF65-F5344CB8AC3E}">
        <p14:creationId xmlns:p14="http://schemas.microsoft.com/office/powerpoint/2010/main" val="34900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230505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We can do better with an algorithm based on dynamic programming</a:t>
            </a: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We need to carefully identify the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039813" y="4038600"/>
            <a:ext cx="64277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Let’s try this:</a:t>
            </a:r>
          </a:p>
          <a:p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If items are labeled </a:t>
            </a:r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1..n</a:t>
            </a:r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then a subproblem </a:t>
            </a:r>
          </a:p>
          <a:p>
            <a:r>
              <a:rPr lang="en-US" altLang="zh-CN" sz="2800" b="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would be to find an optimal solution for </a:t>
            </a:r>
          </a:p>
          <a:p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800" b="0" i="1" baseline="-25000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{items labeled 1, 2, .. k}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8382000" cy="1104900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 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52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  <p:bldP spid="10957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36942"/>
            <a:ext cx="7772400" cy="4495800"/>
          </a:xfrm>
        </p:spPr>
        <p:txBody>
          <a:bodyPr/>
          <a:lstStyle/>
          <a:p>
            <a:pPr algn="ctr">
              <a:buFont typeface="Monotype Sorts" pitchFamily="80" charset="2"/>
              <a:buNone/>
            </a:pP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If items are labeled 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1..n</a:t>
            </a: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, then a </a:t>
            </a:r>
            <a:r>
              <a:rPr lang="en-US" altLang="zh-CN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solidFill>
                  <a:schemeClr val="tx2"/>
                </a:solidFill>
                <a:ea typeface="SimSun" panose="02010600030101010101" pitchFamily="2" charset="-122"/>
              </a:rPr>
              <a:t> would be to find an optimal solution for 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</a:t>
            </a:r>
          </a:p>
          <a:p>
            <a:pPr algn="ctr">
              <a:buFont typeface="Monotype Sorts" pitchFamily="80" charset="2"/>
              <a:buNone/>
            </a:pPr>
            <a:endParaRPr lang="en-US" altLang="zh-CN" i="1" dirty="0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This is a reasonable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ea typeface="SimSun" panose="02010600030101010101" pitchFamily="2" charset="-122"/>
              </a:rPr>
              <a:t> definition.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The question is: can we describe the final solution (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n</a:t>
            </a:r>
            <a:r>
              <a:rPr lang="en-US" altLang="zh-CN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 smtClean="0">
                <a:ea typeface="SimSun" panose="02010600030101010101" pitchFamily="2" charset="-122"/>
              </a:rPr>
              <a:t>) in terms of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dirty="0" smtClean="0">
                <a:ea typeface="SimSun" panose="02010600030101010101" pitchFamily="2" charset="-122"/>
              </a:rPr>
              <a:t> (</a:t>
            </a:r>
            <a:r>
              <a:rPr lang="en-US" altLang="zh-CN" i="1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dirty="0" err="1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 smtClean="0">
                <a:ea typeface="SimSun" panose="02010600030101010101" pitchFamily="2" charset="-122"/>
              </a:rPr>
              <a:t>)? 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Unfortunately, we </a:t>
            </a:r>
            <a:r>
              <a:rPr lang="en-US" altLang="zh-CN" u="sng" dirty="0" smtClean="0">
                <a:ea typeface="SimSun" panose="02010600030101010101" pitchFamily="2" charset="-122"/>
              </a:rPr>
              <a:t>can’t</a:t>
            </a:r>
            <a:r>
              <a:rPr lang="en-US" altLang="zh-CN" dirty="0" smtClean="0">
                <a:ea typeface="SimSun" panose="02010600030101010101" pitchFamily="2" charset="-122"/>
              </a:rPr>
              <a:t> do that. 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609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1371600" y="2560638"/>
            <a:ext cx="28654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 weight: W = 20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Total weight: 14</a:t>
            </a: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Maximum benefit: 20</a:t>
            </a: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990600" y="1341438"/>
            <a:ext cx="4343400" cy="1066800"/>
            <a:chOff x="624" y="672"/>
            <a:chExt cx="2736" cy="672"/>
          </a:xfrm>
        </p:grpSpPr>
        <p:sp>
          <p:nvSpPr>
            <p:cNvPr id="13357" name="Rectangle 4"/>
            <p:cNvSpPr>
              <a:spLocks noChangeArrowheads="1"/>
            </p:cNvSpPr>
            <p:nvPr/>
          </p:nvSpPr>
          <p:spPr bwMode="auto">
            <a:xfrm>
              <a:off x="672" y="672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8" name="Rectangle 5"/>
            <p:cNvSpPr>
              <a:spLocks noChangeArrowheads="1"/>
            </p:cNvSpPr>
            <p:nvPr/>
          </p:nvSpPr>
          <p:spPr bwMode="auto">
            <a:xfrm>
              <a:off x="672" y="672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9" name="Rectangle 10"/>
            <p:cNvSpPr>
              <a:spLocks noChangeArrowheads="1"/>
            </p:cNvSpPr>
            <p:nvPr/>
          </p:nvSpPr>
          <p:spPr bwMode="auto">
            <a:xfrm>
              <a:off x="1056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0" name="Rectangle 11"/>
            <p:cNvSpPr>
              <a:spLocks noChangeArrowheads="1"/>
            </p:cNvSpPr>
            <p:nvPr/>
          </p:nvSpPr>
          <p:spPr bwMode="auto">
            <a:xfrm>
              <a:off x="1632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1" name="Rectangle 12"/>
            <p:cNvSpPr>
              <a:spLocks noChangeArrowheads="1"/>
            </p:cNvSpPr>
            <p:nvPr/>
          </p:nvSpPr>
          <p:spPr bwMode="auto">
            <a:xfrm>
              <a:off x="2208" y="672"/>
              <a:ext cx="48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62" name="Text Box 13"/>
            <p:cNvSpPr txBox="1">
              <a:spLocks noChangeArrowheads="1"/>
            </p:cNvSpPr>
            <p:nvPr/>
          </p:nvSpPr>
          <p:spPr bwMode="auto">
            <a:xfrm>
              <a:off x="624" y="720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3" name="Text Box 15"/>
            <p:cNvSpPr txBox="1">
              <a:spLocks noChangeArrowheads="1"/>
            </p:cNvSpPr>
            <p:nvPr/>
          </p:nvSpPr>
          <p:spPr bwMode="auto">
            <a:xfrm>
              <a:off x="1056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4" name="Text Box 16"/>
            <p:cNvSpPr txBox="1">
              <a:spLocks noChangeArrowheads="1"/>
            </p:cNvSpPr>
            <p:nvPr/>
          </p:nvSpPr>
          <p:spPr bwMode="auto">
            <a:xfrm>
              <a:off x="1680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=8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65" name="Text Box 17"/>
            <p:cNvSpPr txBox="1">
              <a:spLocks noChangeArrowheads="1"/>
            </p:cNvSpPr>
            <p:nvPr/>
          </p:nvSpPr>
          <p:spPr bwMode="auto">
            <a:xfrm>
              <a:off x="2256" y="720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4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4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13316" name="Text Box 18"/>
          <p:cNvSpPr txBox="1">
            <a:spLocks noChangeArrowheads="1"/>
          </p:cNvSpPr>
          <p:nvPr/>
        </p:nvSpPr>
        <p:spPr bwMode="auto">
          <a:xfrm>
            <a:off x="7162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32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17" name="Text Box 19"/>
          <p:cNvSpPr txBox="1">
            <a:spLocks noChangeArrowheads="1"/>
          </p:cNvSpPr>
          <p:nvPr/>
        </p:nvSpPr>
        <p:spPr bwMode="auto">
          <a:xfrm>
            <a:off x="8305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32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18" name="Text Box 20"/>
          <p:cNvSpPr txBox="1">
            <a:spLocks noChangeArrowheads="1"/>
          </p:cNvSpPr>
          <p:nvPr/>
        </p:nvSpPr>
        <p:spPr bwMode="auto">
          <a:xfrm>
            <a:off x="8229600" y="43894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</a:p>
        </p:txBody>
      </p:sp>
      <p:sp>
        <p:nvSpPr>
          <p:cNvPr id="13319" name="Text Box 21"/>
          <p:cNvSpPr txBox="1">
            <a:spLocks noChangeArrowheads="1"/>
          </p:cNvSpPr>
          <p:nvPr/>
        </p:nvSpPr>
        <p:spPr bwMode="auto">
          <a:xfrm>
            <a:off x="83820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8</a:t>
            </a:r>
          </a:p>
        </p:txBody>
      </p:sp>
      <p:sp>
        <p:nvSpPr>
          <p:cNvPr id="13320" name="Text Box 22"/>
          <p:cNvSpPr txBox="1">
            <a:spLocks noChangeArrowheads="1"/>
          </p:cNvSpPr>
          <p:nvPr/>
        </p:nvSpPr>
        <p:spPr bwMode="auto">
          <a:xfrm>
            <a:off x="73152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21" name="Text Box 23"/>
          <p:cNvSpPr txBox="1">
            <a:spLocks noChangeArrowheads="1"/>
          </p:cNvSpPr>
          <p:nvPr/>
        </p:nvSpPr>
        <p:spPr bwMode="auto">
          <a:xfrm>
            <a:off x="8382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22" name="Text Box 24"/>
          <p:cNvSpPr txBox="1">
            <a:spLocks noChangeArrowheads="1"/>
          </p:cNvSpPr>
          <p:nvPr/>
        </p:nvSpPr>
        <p:spPr bwMode="auto">
          <a:xfrm>
            <a:off x="73152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23" name="Text Box 25"/>
          <p:cNvSpPr txBox="1">
            <a:spLocks noChangeArrowheads="1"/>
          </p:cNvSpPr>
          <p:nvPr/>
        </p:nvSpPr>
        <p:spPr bwMode="auto">
          <a:xfrm>
            <a:off x="83820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24" name="Text Box 26"/>
          <p:cNvSpPr txBox="1">
            <a:spLocks noChangeArrowheads="1"/>
          </p:cNvSpPr>
          <p:nvPr/>
        </p:nvSpPr>
        <p:spPr bwMode="auto">
          <a:xfrm>
            <a:off x="73152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25" name="Text Box 27"/>
          <p:cNvSpPr txBox="1">
            <a:spLocks noChangeArrowheads="1"/>
          </p:cNvSpPr>
          <p:nvPr/>
        </p:nvSpPr>
        <p:spPr bwMode="auto">
          <a:xfrm>
            <a:off x="8382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26" name="Text Box 28"/>
          <p:cNvSpPr txBox="1">
            <a:spLocks noChangeArrowheads="1"/>
          </p:cNvSpPr>
          <p:nvPr/>
        </p:nvSpPr>
        <p:spPr bwMode="auto">
          <a:xfrm>
            <a:off x="73152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3327" name="Text Box 29"/>
          <p:cNvSpPr txBox="1">
            <a:spLocks noChangeArrowheads="1"/>
          </p:cNvSpPr>
          <p:nvPr/>
        </p:nvSpPr>
        <p:spPr bwMode="auto">
          <a:xfrm>
            <a:off x="6781800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Weight</a:t>
            </a:r>
          </a:p>
        </p:txBody>
      </p:sp>
      <p:sp>
        <p:nvSpPr>
          <p:cNvPr id="13328" name="Text Box 30"/>
          <p:cNvSpPr txBox="1">
            <a:spLocks noChangeArrowheads="1"/>
          </p:cNvSpPr>
          <p:nvPr/>
        </p:nvSpPr>
        <p:spPr bwMode="auto">
          <a:xfrm>
            <a:off x="7915275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Benefit</a:t>
            </a:r>
          </a:p>
        </p:txBody>
      </p:sp>
      <p:sp>
        <p:nvSpPr>
          <p:cNvPr id="13329" name="Text Box 31"/>
          <p:cNvSpPr txBox="1">
            <a:spLocks noChangeArrowheads="1"/>
          </p:cNvSpPr>
          <p:nvPr/>
        </p:nvSpPr>
        <p:spPr bwMode="auto">
          <a:xfrm>
            <a:off x="73152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9</a:t>
            </a:r>
          </a:p>
        </p:txBody>
      </p:sp>
      <p:sp>
        <p:nvSpPr>
          <p:cNvPr id="13330" name="Line 32"/>
          <p:cNvSpPr>
            <a:spLocks noChangeShapeType="1"/>
          </p:cNvSpPr>
          <p:nvPr/>
        </p:nvSpPr>
        <p:spPr bwMode="auto">
          <a:xfrm>
            <a:off x="6324600" y="118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Line 33"/>
          <p:cNvSpPr>
            <a:spLocks noChangeShapeType="1"/>
          </p:cNvSpPr>
          <p:nvPr/>
        </p:nvSpPr>
        <p:spPr bwMode="auto">
          <a:xfrm>
            <a:off x="6324600" y="1189038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Text Box 34"/>
          <p:cNvSpPr txBox="1">
            <a:spLocks noChangeArrowheads="1"/>
          </p:cNvSpPr>
          <p:nvPr/>
        </p:nvSpPr>
        <p:spPr bwMode="auto">
          <a:xfrm>
            <a:off x="7299325" y="16113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33" name="Text Box 36"/>
          <p:cNvSpPr txBox="1">
            <a:spLocks noChangeArrowheads="1"/>
          </p:cNvSpPr>
          <p:nvPr/>
        </p:nvSpPr>
        <p:spPr bwMode="auto">
          <a:xfrm>
            <a:off x="6324600" y="1695450"/>
            <a:ext cx="647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Item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#</a:t>
            </a:r>
          </a:p>
        </p:txBody>
      </p:sp>
      <p:sp>
        <p:nvSpPr>
          <p:cNvPr id="13334" name="Text Box 37"/>
          <p:cNvSpPr txBox="1">
            <a:spLocks noChangeArrowheads="1"/>
          </p:cNvSpPr>
          <p:nvPr/>
        </p:nvSpPr>
        <p:spPr bwMode="auto">
          <a:xfrm>
            <a:off x="6477000" y="38560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13335" name="Text Box 38"/>
          <p:cNvSpPr txBox="1">
            <a:spLocks noChangeArrowheads="1"/>
          </p:cNvSpPr>
          <p:nvPr/>
        </p:nvSpPr>
        <p:spPr bwMode="auto">
          <a:xfrm>
            <a:off x="6477000" y="3322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3336" name="Text Box 39"/>
          <p:cNvSpPr txBox="1">
            <a:spLocks noChangeArrowheads="1"/>
          </p:cNvSpPr>
          <p:nvPr/>
        </p:nvSpPr>
        <p:spPr bwMode="auto">
          <a:xfrm>
            <a:off x="6477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3337" name="Text Box 40"/>
          <p:cNvSpPr txBox="1">
            <a:spLocks noChangeArrowheads="1"/>
          </p:cNvSpPr>
          <p:nvPr/>
        </p:nvSpPr>
        <p:spPr bwMode="auto">
          <a:xfrm>
            <a:off x="6477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3338" name="Text Box 41"/>
          <p:cNvSpPr txBox="1">
            <a:spLocks noChangeArrowheads="1"/>
          </p:cNvSpPr>
          <p:nvPr/>
        </p:nvSpPr>
        <p:spPr bwMode="auto">
          <a:xfrm>
            <a:off x="64770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13339" name="Freeform 42"/>
          <p:cNvSpPr>
            <a:spLocks/>
          </p:cNvSpPr>
          <p:nvPr/>
        </p:nvSpPr>
        <p:spPr bwMode="auto">
          <a:xfrm>
            <a:off x="6032500" y="2319338"/>
            <a:ext cx="520700" cy="2197100"/>
          </a:xfrm>
          <a:custGeom>
            <a:avLst/>
            <a:gdLst>
              <a:gd name="T0" fmla="*/ 2147483647 w 328"/>
              <a:gd name="T1" fmla="*/ 2147483647 h 1384"/>
              <a:gd name="T2" fmla="*/ 2147483647 w 328"/>
              <a:gd name="T3" fmla="*/ 2147483647 h 1384"/>
              <a:gd name="T4" fmla="*/ 2147483647 w 328"/>
              <a:gd name="T5" fmla="*/ 2147483647 h 1384"/>
              <a:gd name="T6" fmla="*/ 2147483647 w 328"/>
              <a:gd name="T7" fmla="*/ 2147483647 h 1384"/>
              <a:gd name="T8" fmla="*/ 0 60000 65536"/>
              <a:gd name="T9" fmla="*/ 0 60000 65536"/>
              <a:gd name="T10" fmla="*/ 0 60000 65536"/>
              <a:gd name="T11" fmla="*/ 0 60000 65536"/>
              <a:gd name="T12" fmla="*/ 0 w 328"/>
              <a:gd name="T13" fmla="*/ 0 h 1384"/>
              <a:gd name="T14" fmla="*/ 328 w 328"/>
              <a:gd name="T15" fmla="*/ 1384 h 1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8" h="1384">
                <a:moveTo>
                  <a:pt x="280" y="8"/>
                </a:moveTo>
                <a:cubicBezTo>
                  <a:pt x="204" y="4"/>
                  <a:pt x="128" y="0"/>
                  <a:pt x="88" y="200"/>
                </a:cubicBezTo>
                <a:cubicBezTo>
                  <a:pt x="48" y="400"/>
                  <a:pt x="0" y="1032"/>
                  <a:pt x="40" y="1208"/>
                </a:cubicBezTo>
                <a:cubicBezTo>
                  <a:pt x="80" y="1384"/>
                  <a:pt x="264" y="1288"/>
                  <a:pt x="328" y="12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Text Box 43"/>
          <p:cNvSpPr txBox="1">
            <a:spLocks noChangeArrowheads="1"/>
          </p:cNvSpPr>
          <p:nvPr/>
        </p:nvSpPr>
        <p:spPr bwMode="auto">
          <a:xfrm>
            <a:off x="5715000" y="27130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41" name="Freeform 44"/>
          <p:cNvSpPr>
            <a:spLocks/>
          </p:cNvSpPr>
          <p:nvPr/>
        </p:nvSpPr>
        <p:spPr bwMode="auto">
          <a:xfrm>
            <a:off x="5562600" y="2332038"/>
            <a:ext cx="1066800" cy="2641600"/>
          </a:xfrm>
          <a:custGeom>
            <a:avLst/>
            <a:gdLst>
              <a:gd name="T0" fmla="*/ 2147483647 w 672"/>
              <a:gd name="T1" fmla="*/ 0 h 1664"/>
              <a:gd name="T2" fmla="*/ 2147483647 w 672"/>
              <a:gd name="T3" fmla="*/ 2147483647 h 1664"/>
              <a:gd name="T4" fmla="*/ 2147483647 w 672"/>
              <a:gd name="T5" fmla="*/ 2147483647 h 1664"/>
              <a:gd name="T6" fmla="*/ 2147483647 w 672"/>
              <a:gd name="T7" fmla="*/ 2147483647 h 1664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1664"/>
              <a:gd name="T14" fmla="*/ 672 w 672"/>
              <a:gd name="T15" fmla="*/ 1664 h 1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1664">
                <a:moveTo>
                  <a:pt x="480" y="0"/>
                </a:moveTo>
                <a:cubicBezTo>
                  <a:pt x="320" y="0"/>
                  <a:pt x="160" y="0"/>
                  <a:pt x="96" y="240"/>
                </a:cubicBezTo>
                <a:cubicBezTo>
                  <a:pt x="32" y="480"/>
                  <a:pt x="0" y="1216"/>
                  <a:pt x="96" y="1440"/>
                </a:cubicBezTo>
                <a:cubicBezTo>
                  <a:pt x="192" y="1664"/>
                  <a:pt x="592" y="1592"/>
                  <a:pt x="672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Text Box 45"/>
          <p:cNvSpPr txBox="1">
            <a:spLocks noChangeArrowheads="1"/>
          </p:cNvSpPr>
          <p:nvPr/>
        </p:nvSpPr>
        <p:spPr bwMode="auto">
          <a:xfrm>
            <a:off x="5181600" y="31702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1066800" y="4541838"/>
            <a:ext cx="4343400" cy="1066800"/>
            <a:chOff x="672" y="2688"/>
            <a:chExt cx="2736" cy="672"/>
          </a:xfrm>
        </p:grpSpPr>
        <p:sp>
          <p:nvSpPr>
            <p:cNvPr id="13349" name="Rectangle 46"/>
            <p:cNvSpPr>
              <a:spLocks noChangeArrowheads="1"/>
            </p:cNvSpPr>
            <p:nvPr/>
          </p:nvSpPr>
          <p:spPr bwMode="auto">
            <a:xfrm>
              <a:off x="720" y="2688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0" name="Rectangle 47"/>
            <p:cNvSpPr>
              <a:spLocks noChangeArrowheads="1"/>
            </p:cNvSpPr>
            <p:nvPr/>
          </p:nvSpPr>
          <p:spPr bwMode="auto">
            <a:xfrm>
              <a:off x="720" y="2688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1" name="Rectangle 48"/>
            <p:cNvSpPr>
              <a:spLocks noChangeArrowheads="1"/>
            </p:cNvSpPr>
            <p:nvPr/>
          </p:nvSpPr>
          <p:spPr bwMode="auto">
            <a:xfrm>
              <a:off x="1104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2" name="Rectangle 49"/>
            <p:cNvSpPr>
              <a:spLocks noChangeArrowheads="1"/>
            </p:cNvSpPr>
            <p:nvPr/>
          </p:nvSpPr>
          <p:spPr bwMode="auto">
            <a:xfrm>
              <a:off x="1680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en-US">
                <a:ea typeface="SimSun" panose="02010600030101010101" pitchFamily="2" charset="-122"/>
              </a:endParaRPr>
            </a:p>
          </p:txBody>
        </p:sp>
        <p:sp>
          <p:nvSpPr>
            <p:cNvPr id="13353" name="Text Box 51"/>
            <p:cNvSpPr txBox="1">
              <a:spLocks noChangeArrowheads="1"/>
            </p:cNvSpPr>
            <p:nvPr/>
          </p:nvSpPr>
          <p:spPr bwMode="auto">
            <a:xfrm>
              <a:off x="672" y="2736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=3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4" name="Text Box 52"/>
            <p:cNvSpPr txBox="1">
              <a:spLocks noChangeArrowheads="1"/>
            </p:cNvSpPr>
            <p:nvPr/>
          </p:nvSpPr>
          <p:spPr bwMode="auto">
            <a:xfrm>
              <a:off x="1104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2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5" name="Text Box 53"/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3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=8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3356" name="Text Box 54"/>
            <p:cNvSpPr txBox="1">
              <a:spLocks noChangeArrowheads="1"/>
            </p:cNvSpPr>
            <p:nvPr/>
          </p:nvSpPr>
          <p:spPr bwMode="auto">
            <a:xfrm>
              <a:off x="2304" y="2736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w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5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=9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5 </a:t>
              </a:r>
              <a:r>
                <a:rPr lang="en-US" altLang="zh-CN" sz="2000" b="0">
                  <a:latin typeface="Times New Roman" panose="02020603050405020304" pitchFamily="18" charset="0"/>
                  <a:ea typeface="SimSun" panose="02010600030101010101" pitchFamily="2" charset="-122"/>
                </a:rPr>
                <a:t>=10</a:t>
              </a:r>
              <a:endPara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13344" name="Line 55"/>
          <p:cNvSpPr>
            <a:spLocks noChangeShapeType="1"/>
          </p:cNvSpPr>
          <p:nvPr/>
        </p:nvSpPr>
        <p:spPr bwMode="auto">
          <a:xfrm flipV="1">
            <a:off x="6324600" y="499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20" name="Text Box 56"/>
          <p:cNvSpPr txBox="1">
            <a:spLocks noChangeArrowheads="1"/>
          </p:cNvSpPr>
          <p:nvPr/>
        </p:nvSpPr>
        <p:spPr bwMode="auto">
          <a:xfrm>
            <a:off x="2362200" y="5580063"/>
            <a:ext cx="28384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Total weight: 20</a:t>
            </a:r>
          </a:p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Maximum benefit: 26</a:t>
            </a:r>
          </a:p>
        </p:txBody>
      </p:sp>
      <p:sp>
        <p:nvSpPr>
          <p:cNvPr id="113721" name="Text Box 57"/>
          <p:cNvSpPr txBox="1">
            <a:spLocks noChangeArrowheads="1"/>
          </p:cNvSpPr>
          <p:nvPr/>
        </p:nvSpPr>
        <p:spPr bwMode="auto">
          <a:xfrm>
            <a:off x="5638800" y="5303838"/>
            <a:ext cx="312420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Solution for S</a:t>
            </a:r>
            <a:r>
              <a:rPr lang="en-US" altLang="zh-CN" sz="32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is not part of the solution for S</a:t>
            </a:r>
            <a:r>
              <a:rPr lang="en-US" altLang="zh-CN" sz="32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r>
              <a:rPr lang="en-US" altLang="zh-CN" sz="32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!!!</a:t>
            </a:r>
            <a:endParaRPr lang="en-US" altLang="zh-CN" sz="24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3723" name="Text Box 59"/>
          <p:cNvSpPr txBox="1">
            <a:spLocks noChangeArrowheads="1"/>
          </p:cNvSpPr>
          <p:nvPr/>
        </p:nvSpPr>
        <p:spPr bwMode="auto">
          <a:xfrm>
            <a:off x="3733800" y="1951038"/>
            <a:ext cx="557213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800">
                <a:solidFill>
                  <a:srgbClr val="FF0000"/>
                </a:solidFill>
                <a:ea typeface="SimSun" panose="02010600030101010101" pitchFamily="2" charset="-122"/>
              </a:rPr>
              <a:t>?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348" name="Rectangle 6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3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3" grpId="0" autoUpdateAnimBg="0"/>
      <p:bldP spid="113720" grpId="0" autoUpdateAnimBg="0"/>
      <p:bldP spid="113721" grpId="0" autoUpdateAnimBg="0"/>
      <p:bldP spid="1137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As we have seen, the solution for </a:t>
            </a:r>
            <a:r>
              <a:rPr lang="en-US" altLang="zh-CN" i="1" dirty="0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dirty="0" smtClean="0">
                <a:ea typeface="SimSun" panose="02010600030101010101" pitchFamily="2" charset="-122"/>
              </a:rPr>
              <a:t>4</a:t>
            </a:r>
            <a:r>
              <a:rPr lang="en-US" altLang="zh-CN" dirty="0" smtClean="0">
                <a:ea typeface="SimSun" panose="02010600030101010101" pitchFamily="2" charset="-122"/>
              </a:rPr>
              <a:t> is not part of the solution for </a:t>
            </a:r>
            <a:r>
              <a:rPr lang="en-US" altLang="zh-CN" i="1" dirty="0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dirty="0" smtClean="0">
                <a:ea typeface="SimSun" panose="02010600030101010101" pitchFamily="2" charset="-122"/>
              </a:rPr>
              <a:t>5</a:t>
            </a: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So our definition of a </a:t>
            </a:r>
            <a:r>
              <a:rPr lang="en-US" altLang="zh-CN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dirty="0" smtClean="0">
                <a:ea typeface="SimSun" panose="02010600030101010101" pitchFamily="2" charset="-122"/>
              </a:rPr>
              <a:t> is flawed and we need another one!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036" y="4373592"/>
            <a:ext cx="88589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</a:rPr>
              <a:t>But this definition did not consider the knapsack capacity!!!</a:t>
            </a:r>
            <a:endParaRPr lang="en-US" altLang="en-US" sz="24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659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uiExpand="1" build="p" autoUpdateAnimBg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Let’s add another parameter: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which will represent the maximum weight for each subset of items</a:t>
            </a:r>
          </a:p>
          <a:p>
            <a:endParaRPr lang="en-US" altLang="zh-CN" smtClean="0">
              <a:solidFill>
                <a:schemeClr val="hlink"/>
              </a:solidFill>
              <a:ea typeface="SimSun" panose="02010600030101010101" pitchFamily="2" charset="-122"/>
            </a:endParaRPr>
          </a:p>
          <a:p>
            <a:r>
              <a:rPr lang="en-US" altLang="zh-CN" smtClean="0">
                <a:solidFill>
                  <a:schemeClr val="hlink"/>
                </a:solidFill>
                <a:ea typeface="SimSun" panose="02010600030101010101" pitchFamily="2" charset="-122"/>
              </a:rPr>
              <a:t>The subproblem then will be to compute </a:t>
            </a:r>
            <a:r>
              <a:rPr lang="en-US" altLang="zh-CN" i="1" smtClean="0">
                <a:solidFill>
                  <a:schemeClr val="hlink"/>
                </a:solidFill>
                <a:ea typeface="SimSun" panose="02010600030101010101" pitchFamily="2" charset="-122"/>
              </a:rPr>
              <a:t>V[k,w], i.e.,</a:t>
            </a:r>
            <a:r>
              <a:rPr lang="en-US" altLang="zh-CN" smtClean="0">
                <a:solidFill>
                  <a:schemeClr val="tx2"/>
                </a:solidFill>
                <a:ea typeface="SimSun" panose="02010600030101010101" pitchFamily="2" charset="-122"/>
              </a:rPr>
              <a:t> to find an optimal solution for 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 in a knapsack of size w</a:t>
            </a:r>
          </a:p>
          <a:p>
            <a:endParaRPr lang="zh-CN" altLang="en-US" sz="3600" baseline="-25000" smtClean="0">
              <a:solidFill>
                <a:schemeClr val="hlink"/>
              </a:solidFill>
              <a:ea typeface="SimSun" panose="02010600030101010101" pitchFamily="2" charset="-122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Defining a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796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  <a:ea typeface="SimSun" panose="02010600030101010101" pitchFamily="2" charset="-122"/>
              </a:rPr>
              <a:t>The subproblem will then be to compute </a:t>
            </a:r>
            <a:r>
              <a:rPr lang="en-US" altLang="zh-CN" i="1" smtClean="0">
                <a:solidFill>
                  <a:schemeClr val="hlink"/>
                </a:solidFill>
                <a:ea typeface="SimSun" panose="02010600030101010101" pitchFamily="2" charset="-122"/>
              </a:rPr>
              <a:t>V[k,w], i.e.,</a:t>
            </a:r>
            <a:r>
              <a:rPr lang="en-US" altLang="zh-CN" smtClean="0">
                <a:solidFill>
                  <a:schemeClr val="tx2"/>
                </a:solidFill>
                <a:ea typeface="SimSun" panose="02010600030101010101" pitchFamily="2" charset="-122"/>
              </a:rPr>
              <a:t> to find an optimal solution for 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solidFill>
                  <a:schemeClr val="tx2"/>
                </a:solidFill>
                <a:ea typeface="SimSun" panose="02010600030101010101" pitchFamily="2" charset="-122"/>
              </a:rPr>
              <a:t>k</a:t>
            </a:r>
            <a:r>
              <a:rPr lang="en-US" altLang="zh-CN" i="1" smtClean="0">
                <a:solidFill>
                  <a:schemeClr val="tx2"/>
                </a:solidFill>
                <a:ea typeface="SimSun" panose="02010600030101010101" pitchFamily="2" charset="-122"/>
              </a:rPr>
              <a:t> = {items labeled 1, 2, .. k} in a knapsack of size w</a:t>
            </a: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r>
              <a:rPr lang="en-US" altLang="zh-CN" smtClean="0">
                <a:ea typeface="SimSun" panose="02010600030101010101" pitchFamily="2" charset="-122"/>
              </a:rPr>
              <a:t>Assuming knowing V[i, j], where i=0,1, 2, … k-1, j=0,1,2, …w, how to derive V[k,w]?</a:t>
            </a: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endParaRPr lang="en-US" altLang="zh-CN" i="1" smtClean="0">
              <a:solidFill>
                <a:schemeClr val="tx2"/>
              </a:solidFill>
              <a:ea typeface="SimSun" panose="02010600030101010101" pitchFamily="2" charset="-122"/>
            </a:endParaRPr>
          </a:p>
          <a:p>
            <a:endParaRPr lang="zh-CN" altLang="en-US" sz="3600" baseline="-25000" smtClean="0">
              <a:solidFill>
                <a:schemeClr val="hlink"/>
              </a:solidFill>
              <a:ea typeface="SimSun" panose="02010600030101010101" pitchFamily="2" charset="-122"/>
            </a:endParaRP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Recursive Formula for </a:t>
            </a:r>
            <a:r>
              <a:rPr lang="en-US" altLang="zh-CN" b="1" dirty="0" err="1" smtClean="0">
                <a:ea typeface="SimSun" panose="02010600030101010101" pitchFamily="2" charset="-122"/>
              </a:rPr>
              <a:t>subproblems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57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657600"/>
            <a:ext cx="8001000" cy="2971800"/>
          </a:xfrm>
        </p:spPr>
        <p:txBody>
          <a:bodyPr/>
          <a:lstStyle/>
          <a:p>
            <a:pPr>
              <a:buFont typeface="Monotype Sorts" pitchFamily="80" charset="2"/>
              <a:buNone/>
            </a:pPr>
            <a:r>
              <a:rPr lang="zh-CN" altLang="en-US" smtClean="0">
                <a:ea typeface="SimSun" panose="02010600030101010101" pitchFamily="2" charset="-122"/>
              </a:rPr>
              <a:t>	</a:t>
            </a:r>
            <a:r>
              <a:rPr lang="en-US" altLang="zh-CN" smtClean="0">
                <a:ea typeface="SimSun" panose="02010600030101010101" pitchFamily="2" charset="-122"/>
              </a:rPr>
              <a:t>It means, that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 is:</a:t>
            </a:r>
          </a:p>
          <a:p>
            <a:pPr lvl="1">
              <a:buFontTx/>
              <a:buNone/>
            </a:pPr>
            <a:r>
              <a:rPr lang="en-US" altLang="zh-CN" smtClean="0">
                <a:ea typeface="SimSun" panose="02010600030101010101" pitchFamily="2" charset="-122"/>
              </a:rPr>
              <a:t>1)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k-1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 smtClean="0">
                <a:ea typeface="SimSun" panose="02010600030101010101" pitchFamily="2" charset="-122"/>
              </a:rPr>
              <a:t>w</a:t>
            </a:r>
            <a:r>
              <a:rPr lang="en-US" altLang="zh-CN" smtClean="0">
                <a:ea typeface="SimSun" panose="02010600030101010101" pitchFamily="2" charset="-122"/>
              </a:rPr>
              <a:t>,    </a:t>
            </a:r>
            <a:r>
              <a:rPr lang="en-US" altLang="zh-CN" b="1" smtClean="0">
                <a:ea typeface="SimSun" panose="02010600030101010101" pitchFamily="2" charset="-122"/>
              </a:rPr>
              <a:t>or</a:t>
            </a:r>
            <a:endParaRPr lang="en-US" altLang="zh-CN" smtClean="0">
              <a:ea typeface="SimSun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mtClean="0">
                <a:ea typeface="SimSun" panose="02010600030101010101" pitchFamily="2" charset="-122"/>
              </a:rPr>
              <a:t>2) the best subset of </a:t>
            </a:r>
            <a:r>
              <a:rPr lang="en-US" altLang="zh-CN" i="1" smtClean="0">
                <a:ea typeface="SimSun" panose="02010600030101010101" pitchFamily="2" charset="-122"/>
              </a:rPr>
              <a:t>S</a:t>
            </a:r>
            <a:r>
              <a:rPr lang="en-US" altLang="zh-CN" i="1" baseline="-25000" smtClean="0">
                <a:ea typeface="SimSun" panose="02010600030101010101" pitchFamily="2" charset="-122"/>
              </a:rPr>
              <a:t>k-1</a:t>
            </a:r>
            <a:r>
              <a:rPr lang="en-US" altLang="zh-CN" smtClean="0">
                <a:ea typeface="SimSun" panose="02010600030101010101" pitchFamily="2" charset="-122"/>
              </a:rPr>
              <a:t> that has total weight </a:t>
            </a:r>
            <a:r>
              <a:rPr lang="en-US" altLang="zh-CN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 smtClean="0">
                <a:ea typeface="SimSun" panose="02010600030101010101" pitchFamily="2" charset="-122"/>
              </a:rPr>
              <a:t>w-w</a:t>
            </a:r>
            <a:r>
              <a:rPr lang="en-US" altLang="zh-CN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mtClean="0">
                <a:ea typeface="SimSun" panose="02010600030101010101" pitchFamily="2" charset="-122"/>
              </a:rPr>
              <a:t> plus the item </a:t>
            </a:r>
            <a:r>
              <a:rPr lang="en-US" altLang="zh-CN" i="1" smtClean="0">
                <a:ea typeface="SimSun" panose="02010600030101010101" pitchFamily="2" charset="-122"/>
              </a:rPr>
              <a:t>k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762000" y="2514600"/>
          <a:ext cx="65373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4" imgW="5473700" imgH="736600" progId="Equation.3">
                  <p:embed/>
                </p:oleObj>
              </mc:Choice>
              <mc:Fallback>
                <p:oleObj name="Equation" r:id="rId4" imgW="5473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653732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914400" y="1905000"/>
            <a:ext cx="76660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 dirty="0">
                <a:latin typeface="Times New Roman" panose="02020603050405020304" pitchFamily="18" charset="0"/>
                <a:ea typeface="SimSun" panose="02010600030101010101" pitchFamily="2" charset="-122"/>
              </a:rPr>
              <a:t>Recursive formula for </a:t>
            </a:r>
            <a:r>
              <a:rPr lang="en-US" altLang="zh-CN" sz="28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subproblems</a:t>
            </a:r>
            <a:r>
              <a:rPr lang="en-US" altLang="zh-CN" sz="2800" b="0" dirty="0"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</a:p>
        </p:txBody>
      </p:sp>
      <p:sp>
        <p:nvSpPr>
          <p:cNvPr id="1843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>
                <a:ea typeface="SimSun" panose="02010600030101010101" pitchFamily="2" charset="-122"/>
              </a:rPr>
              <a:t>Recursive Formula for </a:t>
            </a:r>
            <a:r>
              <a:rPr lang="en-US" altLang="zh-CN" sz="3600" b="1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3600" b="1" dirty="0" smtClean="0">
                <a:ea typeface="SimSun" panose="02010600030101010101" pitchFamily="2" charset="-122"/>
              </a:rPr>
              <a:t> (continued)</a:t>
            </a:r>
          </a:p>
        </p:txBody>
      </p:sp>
    </p:spTree>
    <p:extLst>
      <p:ext uri="{BB962C8B-B14F-4D97-AF65-F5344CB8AC3E}">
        <p14:creationId xmlns:p14="http://schemas.microsoft.com/office/powerpoint/2010/main" val="378790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Recursive Formula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3048000"/>
            <a:ext cx="7162800" cy="3200400"/>
          </a:xfrm>
        </p:spPr>
        <p:txBody>
          <a:bodyPr/>
          <a:lstStyle/>
          <a:p>
            <a:r>
              <a:rPr lang="en-US" altLang="zh-CN" sz="2400" smtClean="0">
                <a:ea typeface="SimSun" panose="02010600030101010101" pitchFamily="2" charset="-122"/>
              </a:rPr>
              <a:t>The best subset of </a:t>
            </a:r>
            <a:r>
              <a:rPr lang="en-US" altLang="zh-CN" sz="2400" i="1" smtClean="0">
                <a:ea typeface="SimSun" panose="02010600030101010101" pitchFamily="2" charset="-122"/>
              </a:rPr>
              <a:t>S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that has the total weight </a:t>
            </a:r>
            <a:r>
              <a:rPr lang="en-US" altLang="zh-CN" sz="2400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smtClean="0">
                <a:ea typeface="SimSun" panose="02010600030101010101" pitchFamily="2" charset="-122"/>
              </a:rPr>
              <a:t>w,</a:t>
            </a:r>
            <a:r>
              <a:rPr lang="en-US" altLang="zh-CN" sz="2400" smtClean="0">
                <a:ea typeface="SimSun" panose="02010600030101010101" pitchFamily="2" charset="-122"/>
              </a:rPr>
              <a:t> either contains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or not.</a:t>
            </a:r>
          </a:p>
          <a:p>
            <a:r>
              <a:rPr lang="en-US" altLang="zh-CN" sz="2400" smtClean="0">
                <a:ea typeface="SimSun" panose="02010600030101010101" pitchFamily="2" charset="-122"/>
              </a:rPr>
              <a:t>First case: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i="1" smtClean="0">
                <a:ea typeface="SimSun" panose="02010600030101010101" pitchFamily="2" charset="-122"/>
              </a:rPr>
              <a:t>&gt;w</a:t>
            </a:r>
            <a:r>
              <a:rPr lang="en-US" altLang="zh-CN" sz="2400" smtClean="0">
                <a:ea typeface="SimSun" panose="02010600030101010101" pitchFamily="2" charset="-122"/>
              </a:rPr>
              <a:t>.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can’t be part of the solution, since if it was, the total weight would be </a:t>
            </a:r>
            <a:r>
              <a:rPr lang="en-US" altLang="zh-CN" sz="2400" i="1" smtClean="0">
                <a:ea typeface="SimSun" panose="02010600030101010101" pitchFamily="2" charset="-122"/>
              </a:rPr>
              <a:t>&gt; w</a:t>
            </a:r>
            <a:r>
              <a:rPr lang="en-US" altLang="zh-CN" sz="2400" smtClean="0">
                <a:ea typeface="SimSun" panose="02010600030101010101" pitchFamily="2" charset="-122"/>
              </a:rPr>
              <a:t>, which is unacceptable.</a:t>
            </a:r>
          </a:p>
          <a:p>
            <a:r>
              <a:rPr lang="en-US" altLang="zh-CN" sz="2400" smtClean="0">
                <a:ea typeface="SimSun" panose="02010600030101010101" pitchFamily="2" charset="-122"/>
              </a:rPr>
              <a:t>Second case: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i="1" baseline="-25000" smtClean="0">
                <a:ea typeface="SimSun" panose="02010600030101010101" pitchFamily="2" charset="-122"/>
              </a:rPr>
              <a:t>k</a:t>
            </a:r>
            <a:r>
              <a:rPr lang="en-US" altLang="zh-CN" sz="2400" i="1" smtClean="0">
                <a:ea typeface="SimSun" panose="02010600030101010101" pitchFamily="2" charset="-122"/>
              </a:rPr>
              <a:t> </a:t>
            </a:r>
            <a:r>
              <a:rPr lang="en-US" altLang="zh-CN" sz="2400" smtClean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smtClean="0">
                <a:ea typeface="SimSun" panose="02010600030101010101" pitchFamily="2" charset="-122"/>
              </a:rPr>
              <a:t>w</a:t>
            </a:r>
            <a:r>
              <a:rPr lang="en-US" altLang="zh-CN" sz="2400" smtClean="0">
                <a:ea typeface="SimSun" panose="02010600030101010101" pitchFamily="2" charset="-122"/>
              </a:rPr>
              <a:t>. Then the item </a:t>
            </a:r>
            <a:r>
              <a:rPr lang="en-US" altLang="zh-CN" sz="2400" i="1" smtClean="0">
                <a:ea typeface="SimSun" panose="02010600030101010101" pitchFamily="2" charset="-122"/>
              </a:rPr>
              <a:t>k</a:t>
            </a:r>
            <a:r>
              <a:rPr lang="en-US" altLang="zh-CN" sz="2400" smtClean="0">
                <a:ea typeface="SimSun" panose="02010600030101010101" pitchFamily="2" charset="-122"/>
              </a:rPr>
              <a:t> </a:t>
            </a:r>
            <a:r>
              <a:rPr lang="en-US" altLang="zh-CN" sz="2400" u="sng" smtClean="0">
                <a:ea typeface="SimSun" panose="02010600030101010101" pitchFamily="2" charset="-122"/>
              </a:rPr>
              <a:t>can</a:t>
            </a:r>
            <a:r>
              <a:rPr lang="en-US" altLang="zh-CN" sz="2400" smtClean="0">
                <a:ea typeface="SimSun" panose="02010600030101010101" pitchFamily="2" charset="-122"/>
              </a:rPr>
              <a:t> be in the solution, and we choose </a:t>
            </a:r>
            <a:r>
              <a:rPr lang="en-US" altLang="zh-CN" sz="2400" i="1" smtClean="0">
                <a:ea typeface="SimSun" panose="02010600030101010101" pitchFamily="2" charset="-122"/>
              </a:rPr>
              <a:t>the case with greater value</a:t>
            </a:r>
            <a:r>
              <a:rPr lang="en-US" altLang="zh-CN" sz="2400" smtClean="0">
                <a:ea typeface="SimSun" panose="02010600030101010101" pitchFamily="2" charset="-122"/>
              </a:rPr>
              <a:t>.</a:t>
            </a:r>
          </a:p>
        </p:txBody>
      </p:sp>
      <p:graphicFrame>
        <p:nvGraphicFramePr>
          <p:cNvPr id="1946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1752600"/>
          <a:ext cx="67818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4" imgW="5473700" imgH="736600" progId="Equation.3">
                  <p:embed/>
                </p:oleObj>
              </mc:Choice>
              <mc:Fallback>
                <p:oleObj name="Equation" r:id="rId4" imgW="5473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67818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34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4238" y="1371600"/>
            <a:ext cx="7878762" cy="53340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if 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&lt;= w 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// item i can be part of the solution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if b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+ V[i-1,w-w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] &gt; V[i-1,w]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	V[i,w] = b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 + V[i-1,w- w</a:t>
            </a:r>
            <a:r>
              <a:rPr lang="en-US" altLang="zh-CN" sz="2400" baseline="-25000" smtClean="0"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ea typeface="SimSun" panose="02010600030101010101" pitchFamily="2" charset="-122"/>
              </a:rPr>
              <a:t>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else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		V[i,w] = V[i-1,w]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else V[i,w] = V[i-1,w]  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// w</a:t>
            </a:r>
            <a:r>
              <a:rPr lang="en-US" altLang="zh-CN" sz="2400" baseline="-25000" smtClean="0">
                <a:solidFill>
                  <a:srgbClr val="008000"/>
                </a:solidFill>
                <a:ea typeface="SimSun" panose="02010600030101010101" pitchFamily="2" charset="-122"/>
              </a:rPr>
              <a:t>i</a:t>
            </a:r>
            <a:r>
              <a:rPr lang="en-US" altLang="zh-CN" sz="2400" smtClean="0">
                <a:solidFill>
                  <a:srgbClr val="008000"/>
                </a:solidFill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Algorithm</a:t>
            </a:r>
          </a:p>
        </p:txBody>
      </p:sp>
    </p:spTree>
    <p:extLst>
      <p:ext uri="{BB962C8B-B14F-4D97-AF65-F5344CB8AC3E}">
        <p14:creationId xmlns:p14="http://schemas.microsoft.com/office/powerpoint/2010/main" val="267607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3163" y="1428750"/>
            <a:ext cx="7772400" cy="31242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for i = 1 to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for w = 0 to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smtClean="0">
                <a:ea typeface="SimSun" panose="02010600030101010101" pitchFamily="2" charset="-122"/>
              </a:rPr>
              <a:t>		&lt; the rest of the code &gt;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1279525" y="4399480"/>
            <a:ext cx="7216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What is the running time of this algorithm?</a:t>
            </a:r>
            <a:endParaRPr lang="en-US" altLang="zh-CN" sz="24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4251325" y="1351480"/>
            <a:ext cx="108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 i="1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O(W)</a:t>
            </a:r>
            <a:endParaRPr lang="en-US" altLang="zh-CN" sz="3200" b="0" dirty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800600" y="3466030"/>
            <a:ext cx="108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 i="1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O(W)</a:t>
            </a:r>
            <a:endParaRPr lang="en-US" altLang="zh-CN" sz="3200" b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4343400" y="2856430"/>
            <a:ext cx="260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Repeat </a:t>
            </a:r>
            <a:r>
              <a:rPr lang="en-US" altLang="zh-CN" sz="3200" b="0" i="1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times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1447800" y="5066230"/>
            <a:ext cx="1538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b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O(n*W)</a:t>
            </a:r>
          </a:p>
        </p:txBody>
      </p:sp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1203325" y="5542480"/>
            <a:ext cx="6967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Remember that the brute-force algorithm </a:t>
            </a:r>
          </a:p>
          <a:p>
            <a:pPr algn="ctr"/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takes O(2</a:t>
            </a:r>
            <a:r>
              <a:rPr lang="en-US" altLang="zh-CN" sz="32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lang="en-US" altLang="zh-CN" sz="3200" b="0"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3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Running time</a:t>
            </a:r>
          </a:p>
        </p:txBody>
      </p:sp>
    </p:spTree>
    <p:extLst>
      <p:ext uri="{BB962C8B-B14F-4D97-AF65-F5344CB8AC3E}">
        <p14:creationId xmlns:p14="http://schemas.microsoft.com/office/powerpoint/2010/main" val="367072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utoUpdateAnimBg="0"/>
      <p:bldP spid="118789" grpId="0" autoUpdateAnimBg="0"/>
      <p:bldP spid="118790" grpId="0" autoUpdateAnimBg="0"/>
      <p:bldP spid="118791" grpId="0" autoUpdateAnimBg="0"/>
      <p:bldP spid="118792" grpId="0" autoUpdateAnimBg="0"/>
      <p:bldP spid="11879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7"/>
          <p:cNvSpPr txBox="1">
            <a:spLocks noChangeArrowheads="1"/>
          </p:cNvSpPr>
          <p:nvPr/>
        </p:nvSpPr>
        <p:spPr bwMode="auto">
          <a:xfrm>
            <a:off x="1660525" y="1506270"/>
            <a:ext cx="58229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600" b="0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Let’s run our algorithm on the </a:t>
            </a:r>
          </a:p>
          <a:p>
            <a:r>
              <a:rPr lang="en-US" altLang="zh-CN" sz="3600" b="0" dirty="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following data:</a:t>
            </a:r>
          </a:p>
          <a:p>
            <a:endParaRPr lang="en-US" altLang="zh-CN" sz="3600" b="0" dirty="0">
              <a:solidFill>
                <a:schemeClr val="hlin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n = 4 (# of elements)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W = 5 (max weight)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Elements (weight, benefit):</a:t>
            </a:r>
          </a:p>
          <a:p>
            <a:r>
              <a:rPr lang="en-US" altLang="zh-CN" sz="36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(2,3), (3,4), (4,5), (5,6)</a:t>
            </a:r>
            <a:endParaRPr lang="en-US" altLang="zh-CN" sz="24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531" name="Rectangle 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662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21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138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w = 0 to W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V[0,w] = 0</a:t>
            </a:r>
          </a:p>
        </p:txBody>
      </p:sp>
      <p:sp>
        <p:nvSpPr>
          <p:cNvPr id="23556" name="Line 151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Line 152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160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161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62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163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64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997" name="Text Box 165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8" name="Text Box 166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9" name="Text Box 167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0" name="Text Box 168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2" name="Text Box 170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3" name="Text Box 171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69" name="Line 192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93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194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195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196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197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Text Box 200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76" name="Text Box 201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77" name="Text Box 202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78" name="Text Box 203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79" name="Text Box 204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0" name="Text Box 205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3581" name="Text Box 206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82" name="Text Box 207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83" name="Text Box 208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84" name="Text Box 209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85" name="Text Box 210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6" name="Text Box 211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3587" name="Rectangle 2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0861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97" grpId="0" autoUpdateAnimBg="0"/>
      <p:bldP spid="120998" grpId="0" autoUpdateAnimBg="0"/>
      <p:bldP spid="120999" grpId="0" autoUpdateAnimBg="0"/>
      <p:bldP spid="121000" grpId="0" autoUpdateAnimBg="0"/>
      <p:bldP spid="121002" grpId="0" autoUpdateAnimBg="0"/>
      <p:bldP spid="12100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i = 1 to n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V[i,0] = 0</a:t>
            </a:r>
          </a:p>
        </p:txBody>
      </p:sp>
      <p:sp>
        <p:nvSpPr>
          <p:cNvPr id="137252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5" name="Text Box 39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grpSp>
        <p:nvGrpSpPr>
          <p:cNvPr id="24584" name="Group 72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4586" name="Line 41"/>
            <p:cNvSpPr>
              <a:spLocks noChangeShapeType="1"/>
            </p:cNvSpPr>
            <p:nvPr/>
          </p:nvSpPr>
          <p:spPr bwMode="auto">
            <a:xfrm>
              <a:off x="96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42"/>
            <p:cNvSpPr>
              <a:spLocks noChangeShapeType="1"/>
            </p:cNvSpPr>
            <p:nvPr/>
          </p:nvSpPr>
          <p:spPr bwMode="auto">
            <a:xfrm>
              <a:off x="960" y="10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43"/>
            <p:cNvSpPr>
              <a:spLocks noChangeShapeType="1"/>
            </p:cNvSpPr>
            <p:nvPr/>
          </p:nvSpPr>
          <p:spPr bwMode="auto">
            <a:xfrm>
              <a:off x="144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Line 44"/>
            <p:cNvSpPr>
              <a:spLocks noChangeShapeType="1"/>
            </p:cNvSpPr>
            <p:nvPr/>
          </p:nvSpPr>
          <p:spPr bwMode="auto">
            <a:xfrm>
              <a:off x="1968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45"/>
            <p:cNvSpPr>
              <a:spLocks noChangeShapeType="1"/>
            </p:cNvSpPr>
            <p:nvPr/>
          </p:nvSpPr>
          <p:spPr bwMode="auto">
            <a:xfrm>
              <a:off x="2496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Line 46"/>
            <p:cNvSpPr>
              <a:spLocks noChangeShapeType="1"/>
            </p:cNvSpPr>
            <p:nvPr/>
          </p:nvSpPr>
          <p:spPr bwMode="auto">
            <a:xfrm>
              <a:off x="3024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Line 47"/>
            <p:cNvSpPr>
              <a:spLocks noChangeShapeType="1"/>
            </p:cNvSpPr>
            <p:nvPr/>
          </p:nvSpPr>
          <p:spPr bwMode="auto">
            <a:xfrm>
              <a:off x="3552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Text Box 48"/>
            <p:cNvSpPr txBox="1">
              <a:spLocks noChangeArrowheads="1"/>
            </p:cNvSpPr>
            <p:nvPr/>
          </p:nvSpPr>
          <p:spPr bwMode="auto">
            <a:xfrm>
              <a:off x="110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4" name="Text Box 49"/>
            <p:cNvSpPr txBox="1">
              <a:spLocks noChangeArrowheads="1"/>
            </p:cNvSpPr>
            <p:nvPr/>
          </p:nvSpPr>
          <p:spPr bwMode="auto">
            <a:xfrm>
              <a:off x="158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5" name="Text Box 50"/>
            <p:cNvSpPr txBox="1">
              <a:spLocks noChangeArrowheads="1"/>
            </p:cNvSpPr>
            <p:nvPr/>
          </p:nvSpPr>
          <p:spPr bwMode="auto">
            <a:xfrm>
              <a:off x="211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6" name="Text Box 51"/>
            <p:cNvSpPr txBox="1">
              <a:spLocks noChangeArrowheads="1"/>
            </p:cNvSpPr>
            <p:nvPr/>
          </p:nvSpPr>
          <p:spPr bwMode="auto">
            <a:xfrm>
              <a:off x="2640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7" name="Text Box 52"/>
            <p:cNvSpPr txBox="1">
              <a:spLocks noChangeArrowheads="1"/>
            </p:cNvSpPr>
            <p:nvPr/>
          </p:nvSpPr>
          <p:spPr bwMode="auto">
            <a:xfrm>
              <a:off x="3696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8" name="Text Box 53"/>
            <p:cNvSpPr txBox="1">
              <a:spLocks noChangeArrowheads="1"/>
            </p:cNvSpPr>
            <p:nvPr/>
          </p:nvSpPr>
          <p:spPr bwMode="auto">
            <a:xfrm>
              <a:off x="3168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9" name="Line 54"/>
            <p:cNvSpPr>
              <a:spLocks noChangeShapeType="1"/>
            </p:cNvSpPr>
            <p:nvPr/>
          </p:nvSpPr>
          <p:spPr bwMode="auto">
            <a:xfrm>
              <a:off x="408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>
              <a:off x="960" y="134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Line 56"/>
            <p:cNvSpPr>
              <a:spLocks noChangeShapeType="1"/>
            </p:cNvSpPr>
            <p:nvPr/>
          </p:nvSpPr>
          <p:spPr bwMode="auto">
            <a:xfrm>
              <a:off x="960" y="163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Line 57"/>
            <p:cNvSpPr>
              <a:spLocks noChangeShapeType="1"/>
            </p:cNvSpPr>
            <p:nvPr/>
          </p:nvSpPr>
          <p:spPr bwMode="auto">
            <a:xfrm>
              <a:off x="960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Line 58"/>
            <p:cNvSpPr>
              <a:spLocks noChangeShapeType="1"/>
            </p:cNvSpPr>
            <p:nvPr/>
          </p:nvSpPr>
          <p:spPr bwMode="auto">
            <a:xfrm>
              <a:off x="960" y="220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59"/>
            <p:cNvSpPr>
              <a:spLocks noChangeShapeType="1"/>
            </p:cNvSpPr>
            <p:nvPr/>
          </p:nvSpPr>
          <p:spPr bwMode="auto">
            <a:xfrm>
              <a:off x="960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Text Box 60"/>
            <p:cNvSpPr txBox="1">
              <a:spLocks noChangeArrowheads="1"/>
            </p:cNvSpPr>
            <p:nvPr/>
          </p:nvSpPr>
          <p:spPr bwMode="auto">
            <a:xfrm>
              <a:off x="65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06" name="Text Box 61"/>
            <p:cNvSpPr txBox="1">
              <a:spLocks noChangeArrowheads="1"/>
            </p:cNvSpPr>
            <p:nvPr/>
          </p:nvSpPr>
          <p:spPr bwMode="auto">
            <a:xfrm>
              <a:off x="652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07" name="Text Box 62"/>
            <p:cNvSpPr txBox="1">
              <a:spLocks noChangeArrowheads="1"/>
            </p:cNvSpPr>
            <p:nvPr/>
          </p:nvSpPr>
          <p:spPr bwMode="auto">
            <a:xfrm>
              <a:off x="652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08" name="Text Box 63"/>
            <p:cNvSpPr txBox="1">
              <a:spLocks noChangeArrowheads="1"/>
            </p:cNvSpPr>
            <p:nvPr/>
          </p:nvSpPr>
          <p:spPr bwMode="auto">
            <a:xfrm>
              <a:off x="652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09" name="Text Box 64"/>
            <p:cNvSpPr txBox="1">
              <a:spLocks noChangeArrowheads="1"/>
            </p:cNvSpPr>
            <p:nvPr/>
          </p:nvSpPr>
          <p:spPr bwMode="auto">
            <a:xfrm>
              <a:off x="3168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0" name="Text Box 65"/>
            <p:cNvSpPr txBox="1">
              <a:spLocks noChangeArrowheads="1"/>
            </p:cNvSpPr>
            <p:nvPr/>
          </p:nvSpPr>
          <p:spPr bwMode="auto">
            <a:xfrm>
              <a:off x="3696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24611" name="Text Box 66"/>
            <p:cNvSpPr txBox="1">
              <a:spLocks noChangeArrowheads="1"/>
            </p:cNvSpPr>
            <p:nvPr/>
          </p:nvSpPr>
          <p:spPr bwMode="auto">
            <a:xfrm>
              <a:off x="110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12" name="Text Box 67"/>
            <p:cNvSpPr txBox="1">
              <a:spLocks noChangeArrowheads="1"/>
            </p:cNvSpPr>
            <p:nvPr/>
          </p:nvSpPr>
          <p:spPr bwMode="auto">
            <a:xfrm>
              <a:off x="158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13" name="Text Box 68"/>
            <p:cNvSpPr txBox="1">
              <a:spLocks noChangeArrowheads="1"/>
            </p:cNvSpPr>
            <p:nvPr/>
          </p:nvSpPr>
          <p:spPr bwMode="auto">
            <a:xfrm>
              <a:off x="2112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14" name="Text Box 69"/>
            <p:cNvSpPr txBox="1">
              <a:spLocks noChangeArrowheads="1"/>
            </p:cNvSpPr>
            <p:nvPr/>
          </p:nvSpPr>
          <p:spPr bwMode="auto">
            <a:xfrm>
              <a:off x="2640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15" name="Text Box 70"/>
            <p:cNvSpPr txBox="1">
              <a:spLocks noChangeArrowheads="1"/>
            </p:cNvSpPr>
            <p:nvPr/>
          </p:nvSpPr>
          <p:spPr bwMode="auto">
            <a:xfrm>
              <a:off x="652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6" name="Text Box 71"/>
            <p:cNvSpPr txBox="1">
              <a:spLocks noChangeArrowheads="1"/>
            </p:cNvSpPr>
            <p:nvPr/>
          </p:nvSpPr>
          <p:spPr bwMode="auto">
            <a:xfrm>
              <a:off x="662" y="7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i\W</a:t>
              </a:r>
            </a:p>
          </p:txBody>
        </p:sp>
      </p:grpSp>
      <p:sp>
        <p:nvSpPr>
          <p:cNvPr id="24585" name="Rectangle 7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44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2" grpId="0" autoUpdateAnimBg="0"/>
      <p:bldP spid="137253" grpId="0" autoUpdateAnimBg="0"/>
      <p:bldP spid="137254" grpId="0" autoUpdateAnimBg="0"/>
      <p:bldP spid="13725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5604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5" name="Text Box 38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1528" name="Text Box 40"/>
          <p:cNvSpPr txBox="1">
            <a:spLocks noChangeArrowheads="1"/>
          </p:cNvSpPr>
          <p:nvPr/>
        </p:nvSpPr>
        <p:spPr bwMode="auto">
          <a:xfrm>
            <a:off x="2514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7" name="Rectangle 41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608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=-1</a:t>
            </a:r>
          </a:p>
        </p:txBody>
      </p:sp>
      <p:sp>
        <p:nvSpPr>
          <p:cNvPr id="25609" name="Line 47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48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49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50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51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52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53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Text Box 54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7" name="Text Box 55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8" name="Text Box 56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9" name="Text Box 57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0" name="Text Box 58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1" name="Text Box 59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2" name="Line 71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72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Line 73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Line 74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Line 75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Line 76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79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9" name="Text Box 80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0" name="Text Box 81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1" name="Text Box 82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2" name="Text Box 83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3" name="Text Box 84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5634" name="Text Box 85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35" name="Text Box 86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6" name="Text Box 87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7" name="Text Box 88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8" name="Text Box 89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9" name="Text Box 90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5640" name="Text Box 103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1" name="Text Box 104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2" name="Text Box 105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91594" name="Line 106"/>
          <p:cNvSpPr>
            <a:spLocks noChangeShapeType="1"/>
          </p:cNvSpPr>
          <p:nvPr/>
        </p:nvSpPr>
        <p:spPr bwMode="auto">
          <a:xfrm>
            <a:off x="2514600" y="2438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44" name="Rectangle 10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384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28" grpId="0" autoUpdateAnimBg="0"/>
      <p:bldP spid="1915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Text Box 41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954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9549" name="Line 45"/>
          <p:cNvSpPr>
            <a:spLocks noChangeShapeType="1"/>
          </p:cNvSpPr>
          <p:nvPr/>
        </p:nvSpPr>
        <p:spPr bwMode="auto">
          <a:xfrm>
            <a:off x="21336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Rectangle 46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6631" name="Group 83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6635" name="Text Box 43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6" name="Text Box 4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7" name="Text Box 4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8" name="Text Box 4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6639" name="Text Box 5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6640" name="Group 5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6641" name="Line 5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2" name="Line 5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3" name="Line 5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4" name="Line 5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5" name="Line 5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6" name="Line 5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7" name="Line 5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8" name="Text Box 5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49" name="Text Box 6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0" name="Text Box 6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1" name="Text Box 6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2" name="Text Box 6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3" name="Text Box 6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54" name="Line 6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5" name="Line 6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6" name="Line 6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7" name="Line 6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8" name="Line 6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9" name="Line 7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0" name="Text Box 7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61" name="Text Box 7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6662" name="Text Box 7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6663" name="Text Box 7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6664" name="Text Box 7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6665" name="Text Box 7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6666" name="Text Box 7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6667" name="Text Box 7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6668" name="Text Box 7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6669" name="Text Box 8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6670" name="Text Box 8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6671" name="Text Box 8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6632" name="Text Box 87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=0</a:t>
            </a:r>
          </a:p>
        </p:txBody>
      </p:sp>
      <p:sp>
        <p:nvSpPr>
          <p:cNvPr id="26633" name="Text Box 88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6634" name="Rectangle 8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5865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48" grpId="0" autoUpdateAnimBg="0"/>
      <p:bldP spid="1495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>
            <a:off x="29718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7655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7660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1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3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7664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7665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7666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5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6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7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8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79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0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1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2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86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7687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7688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7689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7690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7691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7692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7693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7694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7695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7696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7656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=1</a:t>
            </a:r>
          </a:p>
        </p:txBody>
      </p:sp>
      <p:sp>
        <p:nvSpPr>
          <p:cNvPr id="27657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7658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7659" name="Rectangle 4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5111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 autoUpdateAnimBg="0"/>
      <p:bldP spid="1925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3542" name="Line 6"/>
          <p:cNvSpPr>
            <a:spLocks noChangeShapeType="1"/>
          </p:cNvSpPr>
          <p:nvPr/>
        </p:nvSpPr>
        <p:spPr bwMode="auto">
          <a:xfrm>
            <a:off x="38100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8679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8685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6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7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8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8689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8690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8691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2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69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0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1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3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04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6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7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11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8712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8713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8714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8715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8716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8717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8718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8719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8720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8721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8680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=2</a:t>
            </a: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8682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8683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8684" name="Rectangle 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6839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1" grpId="0" autoUpdateAnimBg="0"/>
      <p:bldP spid="19354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566" name="Line 6"/>
          <p:cNvSpPr>
            <a:spLocks noChangeShapeType="1"/>
          </p:cNvSpPr>
          <p:nvPr/>
        </p:nvSpPr>
        <p:spPr bwMode="auto">
          <a:xfrm>
            <a:off x="4648200" y="2362200"/>
            <a:ext cx="1219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7239000" y="5334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grpSp>
        <p:nvGrpSpPr>
          <p:cNvPr id="29703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9710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1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2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3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9714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29715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29716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7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8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9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0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1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2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3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5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6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7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8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29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0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1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2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3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4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36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9737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9738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9739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9740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29741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29742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29743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29744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29745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29746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29704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=3</a:t>
            </a:r>
          </a:p>
        </p:txBody>
      </p:sp>
      <p:sp>
        <p:nvSpPr>
          <p:cNvPr id="29705" name="Text Box 4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9706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7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8" name="Text Box 50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9709" name="Rectangle 5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6643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5" grpId="0" autoUpdateAnimBg="0"/>
      <p:bldP spid="19456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0724" name="Group 8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0735" name="Text Box 9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6" name="Text Box 10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7" name="Text Box 11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8" name="Text Box 12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0739" name="Text Box 13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0740" name="Group 14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0741" name="Line 1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2" name="Line 1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3" name="Line 17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4" name="Line 18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5" name="Line 19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6" name="Line 20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7" name="Line 21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8" name="Text Box 22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4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0" name="Text Box 24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1" name="Text Box 25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3" name="Text Box 27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54" name="Line 28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5" name="Line 29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6" name="Line 30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7" name="Line 31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Line 32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33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61" name="Text Box 35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0762" name="Text Box 36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0763" name="Text Box 37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0764" name="Text Box 38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0765" name="Text Box 39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0766" name="Text Box 40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0767" name="Text Box 41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0768" name="Text Box 42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0769" name="Text Box 43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0770" name="Text Box 44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0771" name="Text Box 45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0725" name="Text Box 46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=-2</a:t>
            </a:r>
          </a:p>
        </p:txBody>
      </p:sp>
      <p:sp>
        <p:nvSpPr>
          <p:cNvPr id="30726" name="Text Box 48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7" name="Text Box 49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8" name="Text Box 50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0729" name="Rectangle 51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0730" name="Text Box 52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95637" name="Line 53"/>
          <p:cNvSpPr>
            <a:spLocks noChangeShapeType="1"/>
          </p:cNvSpPr>
          <p:nvPr/>
        </p:nvSpPr>
        <p:spPr bwMode="auto">
          <a:xfrm>
            <a:off x="2514600" y="28717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38" name="Text Box 54"/>
          <p:cNvSpPr txBox="1">
            <a:spLocks noChangeArrowheads="1"/>
          </p:cNvSpPr>
          <p:nvPr/>
        </p:nvSpPr>
        <p:spPr bwMode="auto">
          <a:xfrm>
            <a:off x="24828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3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0734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8063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37" grpId="0" animBg="1"/>
      <p:bldP spid="19563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174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176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176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176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176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7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8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178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178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178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179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179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179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179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179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179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179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174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=-1</a:t>
            </a:r>
          </a:p>
        </p:txBody>
      </p:sp>
      <p:sp>
        <p:nvSpPr>
          <p:cNvPr id="3175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1753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1754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96657" name="Line 49"/>
          <p:cNvSpPr>
            <a:spLocks noChangeShapeType="1"/>
          </p:cNvSpPr>
          <p:nvPr/>
        </p:nvSpPr>
        <p:spPr bwMode="auto">
          <a:xfrm>
            <a:off x="3352800" y="28717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658" name="Text Box 50"/>
          <p:cNvSpPr txBox="1">
            <a:spLocks noChangeArrowheads="1"/>
          </p:cNvSpPr>
          <p:nvPr/>
        </p:nvSpPr>
        <p:spPr bwMode="auto">
          <a:xfrm>
            <a:off x="3321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757" name="Text Box 51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1758" name="Text Box 52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1759" name="Rectangle 5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840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57" grpId="0" animBg="1"/>
      <p:bldP spid="19665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277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278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278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279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279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79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0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1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281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281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281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281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281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281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281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281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282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282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277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=0</a:t>
            </a:r>
          </a:p>
        </p:txBody>
      </p:sp>
      <p:sp>
        <p:nvSpPr>
          <p:cNvPr id="3277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7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2778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79" name="Text Box 52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2780" name="Text Box 53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7686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7687" name="Line 55"/>
          <p:cNvSpPr>
            <a:spLocks noChangeShapeType="1"/>
          </p:cNvSpPr>
          <p:nvPr/>
        </p:nvSpPr>
        <p:spPr bwMode="auto">
          <a:xfrm>
            <a:off x="20574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Text Box 56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2784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5848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86" grpId="0" autoUpdateAnimBg="0"/>
      <p:bldP spid="19768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379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381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381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381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381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2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3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383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383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383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384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384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384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384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384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384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384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379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=1</a:t>
            </a:r>
          </a:p>
        </p:txBody>
      </p:sp>
      <p:sp>
        <p:nvSpPr>
          <p:cNvPr id="3379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79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1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3802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3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3804" name="Text Box 50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870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8708" name="Line 52"/>
          <p:cNvSpPr>
            <a:spLocks noChangeShapeType="1"/>
          </p:cNvSpPr>
          <p:nvPr/>
        </p:nvSpPr>
        <p:spPr bwMode="auto">
          <a:xfrm>
            <a:off x="28956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3808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3809" name="Rectangle 5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2075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07" grpId="0" autoUpdateAnimBg="0"/>
      <p:bldP spid="19870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482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483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483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484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484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4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5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6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486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486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486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486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486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486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486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486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487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487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482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 =2</a:t>
            </a:r>
          </a:p>
        </p:txBody>
      </p:sp>
      <p:sp>
        <p:nvSpPr>
          <p:cNvPr id="3482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5" name="Rectangle 47"/>
          <p:cNvSpPr>
            <a:spLocks noChangeArrowheads="1"/>
          </p:cNvSpPr>
          <p:nvPr/>
        </p:nvSpPr>
        <p:spPr bwMode="auto">
          <a:xfrm>
            <a:off x="7239000" y="5334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4826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27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4828" name="Text Box 50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199731" name="Text Box 51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9732" name="Line 52"/>
          <p:cNvSpPr>
            <a:spLocks noChangeShapeType="1"/>
          </p:cNvSpPr>
          <p:nvPr/>
        </p:nvSpPr>
        <p:spPr bwMode="auto">
          <a:xfrm>
            <a:off x="3733800" y="2895600"/>
            <a:ext cx="2133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4832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4833" name="Text Box 55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4834" name="Rectangle 5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0877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31" grpId="0" autoUpdateAnimBg="0"/>
      <p:bldP spid="1997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5844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5864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5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6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7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5868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5869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5870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1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2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3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4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5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6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77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78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79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0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1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2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83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4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5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6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7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8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9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90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5891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5892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5893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5894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5895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5896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5897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5898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5899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5900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5845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1..3</a:t>
            </a:r>
          </a:p>
          <a:p>
            <a:pPr>
              <a:lnSpc>
                <a:spcPct val="110000"/>
              </a:lnSpc>
            </a:pPr>
            <a:endParaRPr lang="zh-CN" altLang="en-US" sz="28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5846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7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8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49" name="Text Box 48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50" name="Text Box 49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5851" name="Text Box 53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5852" name="Text Box 54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5853" name="Text Box 55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5854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5855" name="Rectangle 57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5856" name="Text Box 58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0764" name="Text Box 60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00765" name="Text Box 61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0769" name="Line 65"/>
          <p:cNvSpPr>
            <a:spLocks noChangeShapeType="1"/>
          </p:cNvSpPr>
          <p:nvPr/>
        </p:nvSpPr>
        <p:spPr bwMode="auto">
          <a:xfrm>
            <a:off x="2538413" y="33289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770" name="Text Box 66"/>
          <p:cNvSpPr txBox="1">
            <a:spLocks noChangeArrowheads="1"/>
          </p:cNvSpPr>
          <p:nvPr/>
        </p:nvSpPr>
        <p:spPr bwMode="auto">
          <a:xfrm>
            <a:off x="2506663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0771" name="Line 67"/>
          <p:cNvSpPr>
            <a:spLocks noChangeShapeType="1"/>
          </p:cNvSpPr>
          <p:nvPr/>
        </p:nvSpPr>
        <p:spPr bwMode="auto">
          <a:xfrm>
            <a:off x="3352800" y="3352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772" name="Line 68"/>
          <p:cNvSpPr>
            <a:spLocks noChangeShapeType="1"/>
          </p:cNvSpPr>
          <p:nvPr/>
        </p:nvSpPr>
        <p:spPr bwMode="auto">
          <a:xfrm>
            <a:off x="4191000" y="3352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3" name="Rectangle 6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8570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64" grpId="0" autoUpdateAnimBg="0"/>
      <p:bldP spid="200765" grpId="0" autoUpdateAnimBg="0"/>
      <p:bldP spid="200769" grpId="0" animBg="1"/>
      <p:bldP spid="200770" grpId="0" autoUpdateAnimBg="0"/>
      <p:bldP spid="200771" grpId="0" animBg="1"/>
      <p:bldP spid="20077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686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6887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88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89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90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6891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6892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6893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4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5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6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7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8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9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0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1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2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3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4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5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06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7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8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9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0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1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2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13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6914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6915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6916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6917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6918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6919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6920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6921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6922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6923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686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3687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3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4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6875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6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687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6878" name="Rectangle 53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6879" name="Text Box 54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6880" name="Text Box 61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6881" name="Text Box 62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82" name="Text Box 63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1793" name="Line 65"/>
          <p:cNvSpPr>
            <a:spLocks noChangeShapeType="1"/>
          </p:cNvSpPr>
          <p:nvPr/>
        </p:nvSpPr>
        <p:spPr bwMode="auto">
          <a:xfrm>
            <a:off x="2057400" y="3276600"/>
            <a:ext cx="2971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1794" name="Text Box 66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6885" name="Text Box 6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b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6886" name="Rectangle 6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b="1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2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93" grpId="0" animBg="1"/>
      <p:bldP spid="20179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789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7912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3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4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5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7916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7917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7918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9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0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1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2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4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5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6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7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8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29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0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1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2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3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4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5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6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7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38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7939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7940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7941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7942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7943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7944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7945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7946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7947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7948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789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=1</a:t>
            </a:r>
          </a:p>
        </p:txBody>
      </p:sp>
      <p:sp>
        <p:nvSpPr>
          <p:cNvPr id="3789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7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898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7899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900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1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2" name="Rectangle 52"/>
          <p:cNvSpPr>
            <a:spLocks noChangeArrowheads="1"/>
          </p:cNvSpPr>
          <p:nvPr/>
        </p:nvSpPr>
        <p:spPr bwMode="auto">
          <a:xfrm>
            <a:off x="7239000" y="5334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7903" name="Text Box 53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7904" name="Text Box 54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7905" name="Text Box 55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7906" name="Text Box 56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7907" name="Text Box 59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7908" name="Text Box 60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2813" name="Line 61"/>
          <p:cNvSpPr>
            <a:spLocks noChangeShapeType="1"/>
          </p:cNvSpPr>
          <p:nvPr/>
        </p:nvSpPr>
        <p:spPr bwMode="auto">
          <a:xfrm>
            <a:off x="5899150" y="33289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7911" name="Rectangle 6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89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813" grpId="0" animBg="1"/>
      <p:bldP spid="20281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891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8943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4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5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6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8947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8948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8949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0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1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2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3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4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5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56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7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8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59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0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1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2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3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4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5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6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7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68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69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8970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8971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8972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8973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8974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8975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8976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8977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8978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8979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891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1..4</a:t>
            </a:r>
          </a:p>
          <a:p>
            <a:pPr>
              <a:lnSpc>
                <a:spcPct val="110000"/>
              </a:lnSpc>
            </a:pPr>
            <a:endParaRPr lang="zh-CN" altLang="en-US" sz="28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891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1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1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2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8923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24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25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26" name="Text Box 52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8927" name="Text Box 54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3831" name="Text Box 55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03832" name="Text Box 56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03833" name="Line 57"/>
          <p:cNvSpPr>
            <a:spLocks noChangeShapeType="1"/>
          </p:cNvSpPr>
          <p:nvPr/>
        </p:nvSpPr>
        <p:spPr bwMode="auto">
          <a:xfrm>
            <a:off x="2538413" y="37861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834" name="Text Box 58"/>
          <p:cNvSpPr txBox="1">
            <a:spLocks noChangeArrowheads="1"/>
          </p:cNvSpPr>
          <p:nvPr/>
        </p:nvSpPr>
        <p:spPr bwMode="auto">
          <a:xfrm>
            <a:off x="2506663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3835" name="Line 59"/>
          <p:cNvSpPr>
            <a:spLocks noChangeShapeType="1"/>
          </p:cNvSpPr>
          <p:nvPr/>
        </p:nvSpPr>
        <p:spPr bwMode="auto">
          <a:xfrm>
            <a:off x="335280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836" name="Line 60"/>
          <p:cNvSpPr>
            <a:spLocks noChangeShapeType="1"/>
          </p:cNvSpPr>
          <p:nvPr/>
        </p:nvSpPr>
        <p:spPr bwMode="auto">
          <a:xfrm>
            <a:off x="419100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Text Box 61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8935" name="Text Box 62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8936" name="Text Box 63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8937" name="Text Box 64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8938" name="Text Box 65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3842" name="Text Box 66"/>
          <p:cNvSpPr txBox="1">
            <a:spLocks noChangeArrowheads="1"/>
          </p:cNvSpPr>
          <p:nvPr/>
        </p:nvSpPr>
        <p:spPr bwMode="auto">
          <a:xfrm>
            <a:off x="49974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3843" name="Line 67"/>
          <p:cNvSpPr>
            <a:spLocks noChangeShapeType="1"/>
          </p:cNvSpPr>
          <p:nvPr/>
        </p:nvSpPr>
        <p:spPr bwMode="auto">
          <a:xfrm>
            <a:off x="4997450" y="38100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1" name="Rectangle 68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8942" name="Rectangle 6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02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31" grpId="0" autoUpdateAnimBg="0"/>
      <p:bldP spid="203832" grpId="0" autoUpdateAnimBg="0"/>
      <p:bldP spid="203833" grpId="0" animBg="1"/>
      <p:bldP spid="203834" grpId="0" autoUpdateAnimBg="0"/>
      <p:bldP spid="203835" grpId="0" animBg="1"/>
      <p:bldP spid="203836" grpId="0" animBg="1"/>
      <p:bldP spid="203842" grpId="0" autoUpdateAnimBg="0"/>
      <p:bldP spid="20384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3994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39965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6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7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8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39969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39970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39971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2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3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4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5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6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7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8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79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0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1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2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3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84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5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6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7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8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89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0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91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9992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3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39994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39995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39996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39997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39998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9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0000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0001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3994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470025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w= </a:t>
            </a:r>
            <a:r>
              <a:rPr lang="en-US" altLang="zh-CN" sz="2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  <a:p>
            <a:pPr>
              <a:lnSpc>
                <a:spcPct val="11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w- w</a:t>
            </a:r>
            <a:r>
              <a:rPr lang="en-US" altLang="zh-CN" sz="28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3994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5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6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47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48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49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50" name="Text Box 53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9951" name="Text Box 54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52" name="Text Box 55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53" name="Text Box 56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54" name="Text Box 57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000" b="0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&lt;= w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else V[i,w] = V[i-1,w]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39955" name="Text Box 58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04859" name="Line 59"/>
          <p:cNvSpPr>
            <a:spLocks noChangeShapeType="1"/>
          </p:cNvSpPr>
          <p:nvPr/>
        </p:nvSpPr>
        <p:spPr bwMode="auto">
          <a:xfrm>
            <a:off x="5899150" y="378618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0" name="Text Box 60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958" name="Text Box 61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39959" name="Text Box 62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39960" name="Text Box 63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9961" name="Text Box 64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39962" name="Text Box 65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39963" name="Rectangle 66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9964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48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9" grpId="0" animBg="1"/>
      <p:bldP spid="20486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Comments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This algorithm only finds the max possible value that can be carried in the knapsack</a:t>
            </a: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i.e., the value in V[</a:t>
            </a:r>
            <a:r>
              <a:rPr lang="en-US" altLang="zh-CN" dirty="0" err="1" smtClean="0">
                <a:ea typeface="SimSun" panose="02010600030101010101" pitchFamily="2" charset="-122"/>
              </a:rPr>
              <a:t>n,W</a:t>
            </a:r>
            <a:r>
              <a:rPr lang="en-US" altLang="zh-CN" dirty="0" smtClean="0">
                <a:ea typeface="SimSun" panose="02010600030101010101" pitchFamily="2" charset="-122"/>
              </a:rPr>
              <a:t>]</a:t>
            </a:r>
          </a:p>
          <a:p>
            <a:r>
              <a:rPr lang="en-US" altLang="zh-CN" dirty="0" smtClean="0">
                <a:ea typeface="SimSun" panose="02010600030101010101" pitchFamily="2" charset="-122"/>
              </a:rPr>
              <a:t>To know the items that make this maximum value, an addition to this algorithm is necessary</a:t>
            </a:r>
          </a:p>
          <a:p>
            <a:pPr lvl="1">
              <a:buFontTx/>
              <a:buNone/>
            </a:pPr>
            <a:endParaRPr lang="en-US" altLang="zh-CN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endParaRPr lang="zh-CN" altLang="en-US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25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556" y="1143002"/>
            <a:ext cx="7924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All of the information we need is in the table.</a:t>
            </a:r>
          </a:p>
          <a:p>
            <a:pPr>
              <a:lnSpc>
                <a:spcPct val="90000"/>
              </a:lnSpc>
            </a:pPr>
            <a:r>
              <a:rPr lang="en-US" altLang="zh-CN" i="1" dirty="0" smtClean="0">
                <a:ea typeface="SimSun" panose="02010600030101010101" pitchFamily="2" charset="-122"/>
              </a:rPr>
              <a:t>V[</a:t>
            </a:r>
            <a:r>
              <a:rPr lang="en-US" altLang="zh-CN" i="1" dirty="0" err="1" smtClean="0">
                <a:ea typeface="SimSun" panose="02010600030101010101" pitchFamily="2" charset="-122"/>
              </a:rPr>
              <a:t>n</a:t>
            </a:r>
            <a:r>
              <a:rPr lang="en-US" altLang="zh-CN" dirty="0" err="1" smtClean="0">
                <a:ea typeface="SimSun" panose="02010600030101010101" pitchFamily="2" charset="-122"/>
              </a:rPr>
              <a:t>,</a:t>
            </a:r>
            <a:r>
              <a:rPr lang="en-US" altLang="zh-CN" i="1" dirty="0" err="1" smtClean="0">
                <a:ea typeface="SimSun" panose="02010600030101010101" pitchFamily="2" charset="-122"/>
              </a:rPr>
              <a:t>W</a:t>
            </a:r>
            <a:r>
              <a:rPr lang="en-US" altLang="zh-CN" dirty="0" smtClean="0">
                <a:ea typeface="SimSun" panose="02010600030101010101" pitchFamily="2" charset="-122"/>
              </a:rPr>
              <a:t>] is the maximal value of items that can be placed in the Knapsack.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anose="02010600030101010101" pitchFamily="2" charset="-122"/>
              </a:rPr>
              <a:t>Let </a:t>
            </a:r>
            <a:r>
              <a:rPr lang="en-US" altLang="zh-CN" dirty="0" err="1" smtClean="0">
                <a:ea typeface="SimSun" panose="02010600030101010101" pitchFamily="2" charset="-122"/>
              </a:rPr>
              <a:t>i</a:t>
            </a:r>
            <a:r>
              <a:rPr lang="en-US" altLang="zh-CN" dirty="0" smtClean="0">
                <a:ea typeface="SimSun" panose="02010600030101010101" pitchFamily="2" charset="-122"/>
              </a:rPr>
              <a:t>=n and k=W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if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V[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i,k</a:t>
            </a:r>
            <a:r>
              <a:rPr lang="en-US" altLang="zh-CN" sz="2800" dirty="0" smtClean="0">
                <a:ea typeface="SimSun" panose="02010600030101010101" pitchFamily="2" charset="-122"/>
              </a:rPr>
              <a:t>] </a:t>
            </a:r>
            <a:r>
              <a:rPr lang="en-US" altLang="zh-CN" sz="2800" dirty="0" smtClean="0"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V[i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1,k</a:t>
            </a:r>
            <a:r>
              <a:rPr lang="en-US" altLang="zh-CN" sz="2800" dirty="0" smtClean="0">
                <a:ea typeface="SimSun" panose="02010600030101010101" pitchFamily="2" charset="-122"/>
              </a:rPr>
              <a:t>] then</a:t>
            </a:r>
            <a:r>
              <a:rPr lang="en-US" altLang="zh-CN" sz="3200" dirty="0" smtClean="0"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lang="en-US" altLang="zh-CN" sz="2800" dirty="0" smtClean="0">
                <a:solidFill>
                  <a:schemeClr val="accent1"/>
                </a:solidFill>
                <a:ea typeface="SimSun" panose="02010600030101010101" pitchFamily="2" charset="-122"/>
              </a:rPr>
              <a:t>	</a:t>
            </a:r>
            <a:r>
              <a:rPr lang="en-US" altLang="zh-CN" sz="2800" dirty="0" smtClean="0">
                <a:ea typeface="SimSun" panose="02010600030101010101" pitchFamily="2" charset="-122"/>
              </a:rPr>
              <a:t>mark the 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baseline="30000" dirty="0" err="1" smtClean="0">
                <a:ea typeface="SimSun" panose="02010600030101010101" pitchFamily="2" charset="-122"/>
              </a:rPr>
              <a:t>th</a:t>
            </a:r>
            <a:r>
              <a:rPr lang="en-US" altLang="zh-CN" sz="2800" dirty="0" smtClean="0"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	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  <a:r>
              <a:rPr lang="en-US" altLang="zh-CN" sz="2800" dirty="0" smtClean="0">
                <a:ea typeface="SimSun" panose="02010600030101010101" pitchFamily="2" charset="-122"/>
              </a:rPr>
              <a:t>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</a:t>
            </a:r>
            <a:r>
              <a:rPr lang="en-US" altLang="zh-CN" sz="2800" dirty="0" smtClean="0">
                <a:ea typeface="SimSun" panose="02010600030101010101" pitchFamily="2" charset="-122"/>
              </a:rPr>
              <a:t>,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k</a:t>
            </a:r>
            <a:r>
              <a:rPr lang="en-US" altLang="zh-CN" sz="2800" dirty="0" smtClean="0">
                <a:ea typeface="SimSun" panose="02010600030101010101" pitchFamily="2" charset="-122"/>
              </a:rPr>
              <a:t> 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k-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w</a:t>
            </a:r>
            <a:r>
              <a:rPr lang="en-US" altLang="zh-CN" sz="2800" i="1" baseline="-25000" dirty="0" err="1" smtClean="0">
                <a:ea typeface="SimSun" panose="02010600030101010101" pitchFamily="2" charset="-122"/>
              </a:rPr>
              <a:t>i</a:t>
            </a:r>
            <a:endParaRPr lang="en-US" altLang="zh-CN" sz="3200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dirty="0" smtClean="0">
                <a:ea typeface="SimSun" panose="02010600030101010101" pitchFamily="2" charset="-122"/>
              </a:rPr>
              <a:t>else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800" i="1" dirty="0" smtClean="0">
                <a:ea typeface="SimSun" panose="02010600030101010101" pitchFamily="2" charset="-122"/>
              </a:rPr>
              <a:t>	</a:t>
            </a:r>
            <a:r>
              <a:rPr lang="en-US" altLang="zh-CN" sz="2800" i="1" dirty="0" err="1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</a:rPr>
              <a:t> </a:t>
            </a:r>
            <a:r>
              <a:rPr lang="en-US" altLang="zh-CN" sz="2800" dirty="0" smtClean="0">
                <a:ea typeface="SimSun" panose="02010600030101010101" pitchFamily="2" charset="-122"/>
              </a:rPr>
              <a:t>= </a:t>
            </a:r>
            <a:r>
              <a:rPr lang="en-US" altLang="zh-CN" sz="2800" i="1" dirty="0" smtClean="0">
                <a:ea typeface="SimSun" panose="02010600030101010101" pitchFamily="2" charset="-122"/>
              </a:rPr>
              <a:t>i</a:t>
            </a:r>
            <a:r>
              <a:rPr lang="en-US" altLang="zh-CN" sz="2800" i="1" dirty="0" smtClean="0"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i="1" dirty="0" smtClean="0">
                <a:ea typeface="SimSun" panose="02010600030101010101" pitchFamily="2" charset="-122"/>
              </a:rPr>
              <a:t>1  </a:t>
            </a:r>
            <a:r>
              <a:rPr lang="en-US" altLang="zh-CN" sz="2800" dirty="0" smtClean="0">
                <a:solidFill>
                  <a:schemeClr val="tx1"/>
                </a:solidFill>
                <a:ea typeface="SimSun" panose="02010600030101010101" pitchFamily="2" charset="-122"/>
              </a:rPr>
              <a:t>// 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Assume the </a:t>
            </a:r>
            <a:r>
              <a:rPr lang="en-US" altLang="zh-CN" i="1" dirty="0" err="1" smtClean="0">
                <a:solidFill>
                  <a:schemeClr val="tx1"/>
                </a:solidFill>
                <a:ea typeface="SimSun" panose="02010600030101010101" pitchFamily="2" charset="-122"/>
              </a:rPr>
              <a:t>i</a:t>
            </a:r>
            <a:r>
              <a:rPr lang="en-US" altLang="zh-CN" baseline="30000" dirty="0" err="1" smtClean="0">
                <a:solidFill>
                  <a:schemeClr val="tx1"/>
                </a:solidFill>
                <a:ea typeface="SimSun" panose="02010600030101010101" pitchFamily="2" charset="-122"/>
              </a:rPr>
              <a:t>th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 item is </a:t>
            </a:r>
            <a:r>
              <a:rPr lang="en-US" altLang="zh-CN" u="sng" dirty="0" smtClean="0">
                <a:solidFill>
                  <a:schemeClr val="tx1"/>
                </a:solidFill>
                <a:ea typeface="SimSun" panose="02010600030101010101" pitchFamily="2" charset="-122"/>
              </a:rPr>
              <a:t>not</a:t>
            </a:r>
            <a:r>
              <a:rPr lang="en-US" altLang="zh-CN" dirty="0" smtClean="0">
                <a:solidFill>
                  <a:schemeClr val="tx1"/>
                </a:solidFill>
                <a:ea typeface="SimSun" panose="02010600030101010101" pitchFamily="2" charset="-122"/>
              </a:rPr>
              <a:t> in the knapsack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		            </a:t>
            </a:r>
            <a:r>
              <a:rPr lang="en-US" altLang="zh-CN" sz="2800" dirty="0" smtClean="0">
                <a:solidFill>
                  <a:srgbClr val="FF0000"/>
                </a:solidFill>
                <a:ea typeface="SimSun" panose="02010600030101010101" pitchFamily="2" charset="-122"/>
              </a:rPr>
              <a:t>//</a:t>
            </a: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 Could it be in the optimally packed knapsack?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>
                <a:ea typeface="SimSun" panose="02010600030101010101" pitchFamily="2" charset="-122"/>
              </a:rPr>
              <a:t>How to find actual Knapsack Items</a:t>
            </a:r>
          </a:p>
        </p:txBody>
      </p:sp>
    </p:spTree>
    <p:extLst>
      <p:ext uri="{BB962C8B-B14F-4D97-AF65-F5344CB8AC3E}">
        <p14:creationId xmlns:p14="http://schemas.microsoft.com/office/powerpoint/2010/main" val="278656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403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406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406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406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406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6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7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7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8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8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408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408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408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409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409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409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409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409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409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409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4037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4038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39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0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1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2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43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4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45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46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47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48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49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50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b="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4051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4052" name="Text Box 60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53" name="Text Box 61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4054" name="Text Box 62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4055" name="Text Box 63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4056" name="Text Box 64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4057" name="Rectangle 65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4058" name="Text Box 66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4059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Finding the Items</a:t>
            </a:r>
          </a:p>
        </p:txBody>
      </p:sp>
    </p:spTree>
    <p:extLst>
      <p:ext uri="{BB962C8B-B14F-4D97-AF65-F5344CB8AC3E}">
        <p14:creationId xmlns:p14="http://schemas.microsoft.com/office/powerpoint/2010/main" val="379403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5060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5086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7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8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89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5090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5091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5092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3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4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5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6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7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8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99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0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1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2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3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4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05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6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7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8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09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0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1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12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5113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5114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5115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5116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5117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5118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5119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5120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5121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5122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5061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=6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5062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3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4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5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6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67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68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69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70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5071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72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73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74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5075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5076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5077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5078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5079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5080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5081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5082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8961" name="Line 65"/>
          <p:cNvSpPr>
            <a:spLocks noChangeShapeType="1"/>
          </p:cNvSpPr>
          <p:nvPr/>
        </p:nvSpPr>
        <p:spPr bwMode="auto">
          <a:xfrm flipV="1">
            <a:off x="62484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962" name="Oval 66"/>
          <p:cNvSpPr>
            <a:spLocks noChangeArrowheads="1"/>
          </p:cNvSpPr>
          <p:nvPr/>
        </p:nvSpPr>
        <p:spPr bwMode="auto">
          <a:xfrm>
            <a:off x="5759450" y="3481388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5085" name="Rectangle 6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Finding the Items</a:t>
            </a:r>
          </a:p>
        </p:txBody>
      </p:sp>
    </p:spTree>
    <p:extLst>
      <p:ext uri="{BB962C8B-B14F-4D97-AF65-F5344CB8AC3E}">
        <p14:creationId xmlns:p14="http://schemas.microsoft.com/office/powerpoint/2010/main" val="2797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61" grpId="0" animBg="1"/>
      <p:bldP spid="20896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6084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6110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1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2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3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6114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6115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6116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7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8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9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0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1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2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23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4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5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6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7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8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29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0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1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2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3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4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35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36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6137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6138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6139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6140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6141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6142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6143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6144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6145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6146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6085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=7</a:t>
            </a:r>
          </a:p>
        </p:txBody>
      </p:sp>
      <p:sp>
        <p:nvSpPr>
          <p:cNvPr id="46086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7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8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89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0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091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2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3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4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6095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096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097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098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6099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6100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6101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6102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6103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6104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6105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6106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09985" name="Line 65"/>
          <p:cNvSpPr>
            <a:spLocks noChangeShapeType="1"/>
          </p:cNvSpPr>
          <p:nvPr/>
        </p:nvSpPr>
        <p:spPr bwMode="auto">
          <a:xfrm flipV="1">
            <a:off x="6248400" y="3276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987" name="Oval 67"/>
          <p:cNvSpPr>
            <a:spLocks noChangeArrowheads="1"/>
          </p:cNvSpPr>
          <p:nvPr/>
        </p:nvSpPr>
        <p:spPr bwMode="auto">
          <a:xfrm>
            <a:off x="5759450" y="3016250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6109" name="Rectangle 6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75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85" grpId="0" animBg="1"/>
      <p:bldP spid="20998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7108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7136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7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8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39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7140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7141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7142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3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4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5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6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7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8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49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0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1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2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3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4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55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6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7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8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59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60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61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62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7163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7164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7165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7166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7167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7168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7169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7170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7171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7172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7109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i=2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k= 5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=4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 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</p:txBody>
      </p:sp>
      <p:sp>
        <p:nvSpPr>
          <p:cNvPr id="47110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1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2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3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4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15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16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17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18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7119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20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21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22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7123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7124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7125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7126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7127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7128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7129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7130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1010" name="Text Box 66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1011" name="Oval 67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1012" name="Line 68"/>
          <p:cNvSpPr>
            <a:spLocks noChangeShapeType="1"/>
          </p:cNvSpPr>
          <p:nvPr/>
        </p:nvSpPr>
        <p:spPr bwMode="auto">
          <a:xfrm flipH="1" flipV="1">
            <a:off x="3657600" y="2819400"/>
            <a:ext cx="2209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013" name="Oval 69"/>
          <p:cNvSpPr>
            <a:spLocks noChangeArrowheads="1"/>
          </p:cNvSpPr>
          <p:nvPr/>
        </p:nvSpPr>
        <p:spPr bwMode="auto">
          <a:xfrm>
            <a:off x="5759450" y="2559050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7135" name="Rectangle 7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04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10" grpId="0" autoUpdateAnimBg="0"/>
      <p:bldP spid="211011" grpId="0" animBg="1"/>
      <p:bldP spid="211012" grpId="0" animBg="1"/>
      <p:bldP spid="2110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8132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8161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2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3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4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8165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8166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8167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68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69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0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1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2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3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4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5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6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7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8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79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80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1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2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3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4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5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86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87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8188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8189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8190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8191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8192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8193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8194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8195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8196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8197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8133" name="Text Box 43"/>
          <p:cNvSpPr txBox="1">
            <a:spLocks noChangeArrowheads="1"/>
          </p:cNvSpPr>
          <p:nvPr/>
        </p:nvSpPr>
        <p:spPr bwMode="auto">
          <a:xfrm>
            <a:off x="6607175" y="1752600"/>
            <a:ext cx="17748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i=1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2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=3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=2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 3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k 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 w</a:t>
            </a:r>
            <a:r>
              <a:rPr lang="en-US" altLang="zh-CN" sz="24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48134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5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6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7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38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39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40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1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2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8143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44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45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46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baseline="30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8147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8148" name="Text Box 58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8149" name="Text Box 59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8150" name="Text Box 60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8151" name="Text Box 61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8152" name="Text Box 62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8153" name="Rectangle 63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8154" name="Text Box 64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212033" name="Text Box 65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12034" name="Oval 66"/>
          <p:cNvSpPr>
            <a:spLocks noChangeArrowheads="1"/>
          </p:cNvSpPr>
          <p:nvPr/>
        </p:nvSpPr>
        <p:spPr bwMode="auto">
          <a:xfrm>
            <a:off x="966788" y="25908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2036" name="Oval 68"/>
          <p:cNvSpPr>
            <a:spLocks noChangeArrowheads="1"/>
          </p:cNvSpPr>
          <p:nvPr/>
        </p:nvSpPr>
        <p:spPr bwMode="auto">
          <a:xfrm>
            <a:off x="3236913" y="2109788"/>
            <a:ext cx="5334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8158" name="Oval 69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2038" name="Line 70"/>
          <p:cNvSpPr>
            <a:spLocks noChangeShapeType="1"/>
          </p:cNvSpPr>
          <p:nvPr/>
        </p:nvSpPr>
        <p:spPr bwMode="auto">
          <a:xfrm flipV="1">
            <a:off x="3810000" y="2362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0" name="Rectangle 7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03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33" grpId="0" autoUpdateAnimBg="0"/>
      <p:bldP spid="212034" grpId="0" animBg="1"/>
      <p:bldP spid="212036" grpId="0" animBg="1"/>
      <p:bldP spid="21203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Text Box 4"/>
          <p:cNvSpPr txBox="1">
            <a:spLocks noChangeArrowheads="1"/>
          </p:cNvSpPr>
          <p:nvPr/>
        </p:nvSpPr>
        <p:spPr bwMode="auto">
          <a:xfrm>
            <a:off x="7543800" y="76200"/>
            <a:ext cx="132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Items: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1: (2,3)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2: (3,4)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3: (4,5) 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4: (5,6)</a:t>
            </a:r>
            <a:endParaRPr lang="en-US" altLang="zh-CN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9156" name="Group 5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49183" name="Text Box 6"/>
            <p:cNvSpPr txBox="1">
              <a:spLocks noChangeArrowheads="1"/>
            </p:cNvSpPr>
            <p:nvPr/>
          </p:nvSpPr>
          <p:spPr bwMode="auto">
            <a:xfrm>
              <a:off x="158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4" name="Text Box 7"/>
            <p:cNvSpPr txBox="1">
              <a:spLocks noChangeArrowheads="1"/>
            </p:cNvSpPr>
            <p:nvPr/>
          </p:nvSpPr>
          <p:spPr bwMode="auto">
            <a:xfrm>
              <a:off x="1104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5" name="Text Box 8"/>
            <p:cNvSpPr txBox="1">
              <a:spLocks noChangeArrowheads="1"/>
            </p:cNvSpPr>
            <p:nvPr/>
          </p:nvSpPr>
          <p:spPr bwMode="auto">
            <a:xfrm>
              <a:off x="1104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6" name="Text Box 9"/>
            <p:cNvSpPr txBox="1">
              <a:spLocks noChangeArrowheads="1"/>
            </p:cNvSpPr>
            <p:nvPr/>
          </p:nvSpPr>
          <p:spPr bwMode="auto">
            <a:xfrm>
              <a:off x="1104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49187" name="Text Box 10"/>
            <p:cNvSpPr txBox="1">
              <a:spLocks noChangeArrowheads="1"/>
            </p:cNvSpPr>
            <p:nvPr/>
          </p:nvSpPr>
          <p:spPr bwMode="auto">
            <a:xfrm>
              <a:off x="1104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grpSp>
          <p:nvGrpSpPr>
            <p:cNvPr id="49188" name="Group 11"/>
            <p:cNvGrpSpPr>
              <a:grpSpLocks/>
            </p:cNvGrpSpPr>
            <p:nvPr/>
          </p:nvGrpSpPr>
          <p:grpSpPr bwMode="auto">
            <a:xfrm>
              <a:off x="652" y="768"/>
              <a:ext cx="3428" cy="1728"/>
              <a:chOff x="652" y="768"/>
              <a:chExt cx="3428" cy="1728"/>
            </a:xfrm>
          </p:grpSpPr>
          <p:sp>
            <p:nvSpPr>
              <p:cNvPr id="49189" name="Line 12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0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1" name="Line 14"/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2" name="Line 15"/>
              <p:cNvSpPr>
                <a:spLocks noChangeShapeType="1"/>
              </p:cNvSpPr>
              <p:nvPr/>
            </p:nvSpPr>
            <p:spPr bwMode="auto">
              <a:xfrm>
                <a:off x="1968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3" name="Line 16"/>
              <p:cNvSpPr>
                <a:spLocks noChangeShapeType="1"/>
              </p:cNvSpPr>
              <p:nvPr/>
            </p:nvSpPr>
            <p:spPr bwMode="auto">
              <a:xfrm>
                <a:off x="2496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4" name="Line 17"/>
              <p:cNvSpPr>
                <a:spLocks noChangeShapeType="1"/>
              </p:cNvSpPr>
              <p:nvPr/>
            </p:nvSpPr>
            <p:spPr bwMode="auto">
              <a:xfrm>
                <a:off x="3024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5" name="Line 18"/>
              <p:cNvSpPr>
                <a:spLocks noChangeShapeType="1"/>
              </p:cNvSpPr>
              <p:nvPr/>
            </p:nvSpPr>
            <p:spPr bwMode="auto">
              <a:xfrm>
                <a:off x="3552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96" name="Text Box 19"/>
              <p:cNvSpPr txBox="1">
                <a:spLocks noChangeArrowheads="1"/>
              </p:cNvSpPr>
              <p:nvPr/>
            </p:nvSpPr>
            <p:spPr bwMode="auto">
              <a:xfrm>
                <a:off x="110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7" name="Text Box 20"/>
              <p:cNvSpPr txBox="1">
                <a:spLocks noChangeArrowheads="1"/>
              </p:cNvSpPr>
              <p:nvPr/>
            </p:nvSpPr>
            <p:spPr bwMode="auto">
              <a:xfrm>
                <a:off x="1584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8" name="Text Box 21"/>
              <p:cNvSpPr txBox="1">
                <a:spLocks noChangeArrowheads="1"/>
              </p:cNvSpPr>
              <p:nvPr/>
            </p:nvSpPr>
            <p:spPr bwMode="auto">
              <a:xfrm>
                <a:off x="211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199" name="Text Box 22"/>
              <p:cNvSpPr txBox="1">
                <a:spLocks noChangeArrowheads="1"/>
              </p:cNvSpPr>
              <p:nvPr/>
            </p:nvSpPr>
            <p:spPr bwMode="auto">
              <a:xfrm>
                <a:off x="2640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0" name="Text Box 23"/>
              <p:cNvSpPr txBox="1">
                <a:spLocks noChangeArrowheads="1"/>
              </p:cNvSpPr>
              <p:nvPr/>
            </p:nvSpPr>
            <p:spPr bwMode="auto">
              <a:xfrm>
                <a:off x="3696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1" name="Text Box 24"/>
              <p:cNvSpPr txBox="1">
                <a:spLocks noChangeArrowheads="1"/>
              </p:cNvSpPr>
              <p:nvPr/>
            </p:nvSpPr>
            <p:spPr bwMode="auto">
              <a:xfrm>
                <a:off x="3168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2" name="Line 25"/>
              <p:cNvSpPr>
                <a:spLocks noChangeShapeType="1"/>
              </p:cNvSpPr>
              <p:nvPr/>
            </p:nvSpPr>
            <p:spPr bwMode="auto">
              <a:xfrm>
                <a:off x="4080" y="105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3" name="Line 2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4" name="Line 27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5" name="Line 28"/>
              <p:cNvSpPr>
                <a:spLocks noChangeShapeType="1"/>
              </p:cNvSpPr>
              <p:nvPr/>
            </p:nvSpPr>
            <p:spPr bwMode="auto">
              <a:xfrm>
                <a:off x="960" y="192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6" name="Line 29"/>
              <p:cNvSpPr>
                <a:spLocks noChangeShapeType="1"/>
              </p:cNvSpPr>
              <p:nvPr/>
            </p:nvSpPr>
            <p:spPr bwMode="auto">
              <a:xfrm>
                <a:off x="960" y="2208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7" name="Line 30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08" name="Text Box 31"/>
              <p:cNvSpPr txBox="1">
                <a:spLocks noChangeArrowheads="1"/>
              </p:cNvSpPr>
              <p:nvPr/>
            </p:nvSpPr>
            <p:spPr bwMode="auto">
              <a:xfrm>
                <a:off x="652" y="1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09" name="Text Box 32"/>
              <p:cNvSpPr txBox="1">
                <a:spLocks noChangeArrowheads="1"/>
              </p:cNvSpPr>
              <p:nvPr/>
            </p:nvSpPr>
            <p:spPr bwMode="auto">
              <a:xfrm>
                <a:off x="652" y="13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9210" name="Text Box 33"/>
              <p:cNvSpPr txBox="1">
                <a:spLocks noChangeArrowheads="1"/>
              </p:cNvSpPr>
              <p:nvPr/>
            </p:nvSpPr>
            <p:spPr bwMode="auto">
              <a:xfrm>
                <a:off x="652" y="163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9211" name="Text Box 34"/>
              <p:cNvSpPr txBox="1">
                <a:spLocks noChangeArrowheads="1"/>
              </p:cNvSpPr>
              <p:nvPr/>
            </p:nvSpPr>
            <p:spPr bwMode="auto">
              <a:xfrm>
                <a:off x="652" y="19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9212" name="Text Box 35"/>
              <p:cNvSpPr txBox="1">
                <a:spLocks noChangeArrowheads="1"/>
              </p:cNvSpPr>
              <p:nvPr/>
            </p:nvSpPr>
            <p:spPr bwMode="auto">
              <a:xfrm>
                <a:off x="3168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9213" name="Text Box 36"/>
              <p:cNvSpPr txBox="1">
                <a:spLocks noChangeArrowheads="1"/>
              </p:cNvSpPr>
              <p:nvPr/>
            </p:nvSpPr>
            <p:spPr bwMode="auto">
              <a:xfrm>
                <a:off x="3696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5</a:t>
                </a:r>
              </a:p>
            </p:txBody>
          </p:sp>
          <p:sp>
            <p:nvSpPr>
              <p:cNvPr id="49214" name="Text Box 37"/>
              <p:cNvSpPr txBox="1">
                <a:spLocks noChangeArrowheads="1"/>
              </p:cNvSpPr>
              <p:nvPr/>
            </p:nvSpPr>
            <p:spPr bwMode="auto">
              <a:xfrm>
                <a:off x="110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0</a:t>
                </a:r>
              </a:p>
            </p:txBody>
          </p:sp>
          <p:sp>
            <p:nvSpPr>
              <p:cNvPr id="49215" name="Text Box 38"/>
              <p:cNvSpPr txBox="1">
                <a:spLocks noChangeArrowheads="1"/>
              </p:cNvSpPr>
              <p:nvPr/>
            </p:nvSpPr>
            <p:spPr bwMode="auto">
              <a:xfrm>
                <a:off x="1584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1</a:t>
                </a:r>
              </a:p>
            </p:txBody>
          </p:sp>
          <p:sp>
            <p:nvSpPr>
              <p:cNvPr id="49216" name="Text Box 39"/>
              <p:cNvSpPr txBox="1">
                <a:spLocks noChangeArrowheads="1"/>
              </p:cNvSpPr>
              <p:nvPr/>
            </p:nvSpPr>
            <p:spPr bwMode="auto">
              <a:xfrm>
                <a:off x="2112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2</a:t>
                </a:r>
              </a:p>
            </p:txBody>
          </p:sp>
          <p:sp>
            <p:nvSpPr>
              <p:cNvPr id="49217" name="Text Box 40"/>
              <p:cNvSpPr txBox="1">
                <a:spLocks noChangeArrowheads="1"/>
              </p:cNvSpPr>
              <p:nvPr/>
            </p:nvSpPr>
            <p:spPr bwMode="auto">
              <a:xfrm>
                <a:off x="2640" y="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3</a:t>
                </a:r>
              </a:p>
            </p:txBody>
          </p:sp>
          <p:sp>
            <p:nvSpPr>
              <p:cNvPr id="49218" name="Text Box 41"/>
              <p:cNvSpPr txBox="1">
                <a:spLocks noChangeArrowheads="1"/>
              </p:cNvSpPr>
              <p:nvPr/>
            </p:nvSpPr>
            <p:spPr bwMode="auto">
              <a:xfrm>
                <a:off x="652" y="22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4</a:t>
                </a:r>
              </a:p>
            </p:txBody>
          </p:sp>
          <p:sp>
            <p:nvSpPr>
              <p:cNvPr id="49219" name="Text Box 42"/>
              <p:cNvSpPr txBox="1">
                <a:spLocks noChangeArrowheads="1"/>
              </p:cNvSpPr>
              <p:nvPr/>
            </p:nvSpPr>
            <p:spPr bwMode="auto">
              <a:xfrm>
                <a:off x="662" y="76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b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i\W</a:t>
                </a:r>
              </a:p>
            </p:txBody>
          </p:sp>
        </p:grpSp>
      </p:grpSp>
      <p:sp>
        <p:nvSpPr>
          <p:cNvPr id="49157" name="Text Box 44"/>
          <p:cNvSpPr txBox="1">
            <a:spLocks noChangeArrowheads="1"/>
          </p:cNvSpPr>
          <p:nvPr/>
        </p:nvSpPr>
        <p:spPr bwMode="auto">
          <a:xfrm>
            <a:off x="33528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58" name="Text Box 45"/>
          <p:cNvSpPr txBox="1">
            <a:spLocks noChangeArrowheads="1"/>
          </p:cNvSpPr>
          <p:nvPr/>
        </p:nvSpPr>
        <p:spPr bwMode="auto">
          <a:xfrm>
            <a:off x="41910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59" name="Text Box 46"/>
          <p:cNvSpPr txBox="1">
            <a:spLocks noChangeArrowheads="1"/>
          </p:cNvSpPr>
          <p:nvPr/>
        </p:nvSpPr>
        <p:spPr bwMode="auto">
          <a:xfrm>
            <a:off x="50292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0" name="Text Box 47"/>
          <p:cNvSpPr txBox="1">
            <a:spLocks noChangeArrowheads="1"/>
          </p:cNvSpPr>
          <p:nvPr/>
        </p:nvSpPr>
        <p:spPr bwMode="auto">
          <a:xfrm>
            <a:off x="58674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1" name="Text Box 48"/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62" name="Text Box 49"/>
          <p:cNvSpPr txBox="1">
            <a:spLocks noChangeArrowheads="1"/>
          </p:cNvSpPr>
          <p:nvPr/>
        </p:nvSpPr>
        <p:spPr bwMode="auto">
          <a:xfrm>
            <a:off x="3352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3" name="Text Box 50"/>
          <p:cNvSpPr txBox="1">
            <a:spLocks noChangeArrowheads="1"/>
          </p:cNvSpPr>
          <p:nvPr/>
        </p:nvSpPr>
        <p:spPr bwMode="auto">
          <a:xfrm>
            <a:off x="4191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4" name="Text Box 51"/>
          <p:cNvSpPr txBox="1">
            <a:spLocks noChangeArrowheads="1"/>
          </p:cNvSpPr>
          <p:nvPr/>
        </p:nvSpPr>
        <p:spPr bwMode="auto">
          <a:xfrm>
            <a:off x="50292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5" name="Text Box 52"/>
          <p:cNvSpPr txBox="1">
            <a:spLocks noChangeArrowheads="1"/>
          </p:cNvSpPr>
          <p:nvPr/>
        </p:nvSpPr>
        <p:spPr bwMode="auto">
          <a:xfrm>
            <a:off x="5867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66" name="Text Box 53"/>
          <p:cNvSpPr txBox="1">
            <a:spLocks noChangeArrowheads="1"/>
          </p:cNvSpPr>
          <p:nvPr/>
        </p:nvSpPr>
        <p:spPr bwMode="auto">
          <a:xfrm>
            <a:off x="2514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67" name="Text Box 54"/>
          <p:cNvSpPr txBox="1">
            <a:spLocks noChangeArrowheads="1"/>
          </p:cNvSpPr>
          <p:nvPr/>
        </p:nvSpPr>
        <p:spPr bwMode="auto">
          <a:xfrm>
            <a:off x="33528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68" name="Text Box 55"/>
          <p:cNvSpPr txBox="1">
            <a:spLocks noChangeArrowheads="1"/>
          </p:cNvSpPr>
          <p:nvPr/>
        </p:nvSpPr>
        <p:spPr bwMode="auto">
          <a:xfrm>
            <a:off x="41910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69" name="Text Box 56"/>
          <p:cNvSpPr txBox="1">
            <a:spLocks noChangeArrowheads="1"/>
          </p:cNvSpPr>
          <p:nvPr/>
        </p:nvSpPr>
        <p:spPr bwMode="auto">
          <a:xfrm>
            <a:off x="1752600" y="4556125"/>
            <a:ext cx="69342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i=n, k=W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while i,k &gt;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V[i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i="1">
                <a:latin typeface="Times New Roman" panose="02020603050405020304" pitchFamily="18" charset="0"/>
                <a:ea typeface="SimSun" panose="02010600030101010101" pitchFamily="2" charset="-122"/>
              </a:rPr>
              <a:t>1,k</a:t>
            </a:r>
            <a:r>
              <a:rPr kumimoji="1"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then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mark the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kumimoji="1" lang="en-US" altLang="zh-CN" sz="1800" b="0" baseline="30000">
                <a:latin typeface="Times New Roman" panose="02020603050405020304" pitchFamily="18" charset="0"/>
                <a:ea typeface="SimSun" panose="02010600030101010101" pitchFamily="2" charset="-122"/>
              </a:rPr>
              <a:t>th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item as in the knapsack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80" charset="2"/>
              <a:buNone/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 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k-w</a:t>
            </a:r>
            <a:r>
              <a:rPr kumimoji="1" lang="en-US" altLang="zh-CN" sz="1800" b="0" i="1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kumimoji="1"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	i </a:t>
            </a:r>
            <a:r>
              <a:rPr kumimoji="1" lang="en-US" altLang="zh-CN" sz="1800" b="0">
                <a:latin typeface="Times New Roman" panose="02020603050405020304" pitchFamily="18" charset="0"/>
                <a:ea typeface="SimSun" panose="02010600030101010101" pitchFamily="2" charset="-122"/>
              </a:rPr>
              <a:t>= 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sz="1800" b="0" i="1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kumimoji="1" lang="en-US" altLang="zh-CN" sz="1800" b="0" i="1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9170" name="Text Box 57"/>
          <p:cNvSpPr txBox="1">
            <a:spLocks noChangeArrowheads="1"/>
          </p:cNvSpPr>
          <p:nvPr/>
        </p:nvSpPr>
        <p:spPr bwMode="auto">
          <a:xfrm>
            <a:off x="50292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9171" name="Text Box 60"/>
          <p:cNvSpPr txBox="1">
            <a:spLocks noChangeArrowheads="1"/>
          </p:cNvSpPr>
          <p:nvPr/>
        </p:nvSpPr>
        <p:spPr bwMode="auto">
          <a:xfrm>
            <a:off x="58674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72" name="Text Box 61"/>
          <p:cNvSpPr txBox="1">
            <a:spLocks noChangeArrowheads="1"/>
          </p:cNvSpPr>
          <p:nvPr/>
        </p:nvSpPr>
        <p:spPr bwMode="auto">
          <a:xfrm>
            <a:off x="2514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49173" name="Text Box 62"/>
          <p:cNvSpPr txBox="1">
            <a:spLocks noChangeArrowheads="1"/>
          </p:cNvSpPr>
          <p:nvPr/>
        </p:nvSpPr>
        <p:spPr bwMode="auto">
          <a:xfrm>
            <a:off x="33528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9174" name="Text Box 63"/>
          <p:cNvSpPr txBox="1">
            <a:spLocks noChangeArrowheads="1"/>
          </p:cNvSpPr>
          <p:nvPr/>
        </p:nvSpPr>
        <p:spPr bwMode="auto">
          <a:xfrm>
            <a:off x="41910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9175" name="Text Box 64"/>
          <p:cNvSpPr txBox="1">
            <a:spLocks noChangeArrowheads="1"/>
          </p:cNvSpPr>
          <p:nvPr/>
        </p:nvSpPr>
        <p:spPr bwMode="auto">
          <a:xfrm>
            <a:off x="5029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9176" name="Rectangle 65"/>
          <p:cNvSpPr>
            <a:spLocks noChangeArrowheads="1"/>
          </p:cNvSpPr>
          <p:nvPr/>
        </p:nvSpPr>
        <p:spPr bwMode="auto">
          <a:xfrm>
            <a:off x="7239000" y="533400"/>
            <a:ext cx="1676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9177" name="Text Box 66"/>
          <p:cNvSpPr txBox="1">
            <a:spLocks noChangeArrowheads="1"/>
          </p:cNvSpPr>
          <p:nvPr/>
        </p:nvSpPr>
        <p:spPr bwMode="auto">
          <a:xfrm>
            <a:off x="58674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7</a:t>
            </a:r>
          </a:p>
        </p:txBody>
      </p:sp>
      <p:sp>
        <p:nvSpPr>
          <p:cNvPr id="49178" name="Text Box 67"/>
          <p:cNvSpPr txBox="1">
            <a:spLocks noChangeArrowheads="1"/>
          </p:cNvSpPr>
          <p:nvPr/>
        </p:nvSpPr>
        <p:spPr bwMode="auto">
          <a:xfrm>
            <a:off x="6607175" y="1752600"/>
            <a:ext cx="177482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i=0</a:t>
            </a:r>
          </a:p>
          <a:p>
            <a:pPr>
              <a:lnSpc>
                <a:spcPct val="110000"/>
              </a:lnSpc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k= 0</a:t>
            </a:r>
          </a:p>
          <a:p>
            <a:pPr>
              <a:lnSpc>
                <a:spcPct val="110000"/>
              </a:lnSpc>
            </a:pPr>
            <a:endParaRPr lang="zh-CN" altLang="en-US" sz="2400" b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9179" name="Oval 68"/>
          <p:cNvSpPr>
            <a:spLocks noChangeArrowheads="1"/>
          </p:cNvSpPr>
          <p:nvPr/>
        </p:nvSpPr>
        <p:spPr bwMode="auto">
          <a:xfrm>
            <a:off x="966788" y="25908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9180" name="Oval 69"/>
          <p:cNvSpPr>
            <a:spLocks noChangeArrowheads="1"/>
          </p:cNvSpPr>
          <p:nvPr/>
        </p:nvSpPr>
        <p:spPr bwMode="auto">
          <a:xfrm>
            <a:off x="966788" y="3048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07942" name="Text Box 70"/>
          <p:cNvSpPr txBox="1">
            <a:spLocks noChangeArrowheads="1"/>
          </p:cNvSpPr>
          <p:nvPr/>
        </p:nvSpPr>
        <p:spPr bwMode="auto">
          <a:xfrm>
            <a:off x="7010400" y="3429000"/>
            <a:ext cx="1981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The optimal knapsack should contain {1, 2}</a:t>
            </a:r>
          </a:p>
        </p:txBody>
      </p:sp>
      <p:sp>
        <p:nvSpPr>
          <p:cNvPr id="49182" name="Rectangle 7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Finding the Items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84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4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7772400" cy="699938"/>
          </a:xfrm>
        </p:spPr>
        <p:txBody>
          <a:bodyPr/>
          <a:lstStyle/>
          <a:p>
            <a:r>
              <a:rPr lang="en-US" altLang="zh-CN" sz="3200" b="1" dirty="0" smtClean="0">
                <a:ea typeface="SimSun" panose="02010600030101010101" pitchFamily="2" charset="-122"/>
              </a:rPr>
              <a:t>Memorization (Memory Function Method)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6297" y="1419048"/>
            <a:ext cx="8327366" cy="4495800"/>
          </a:xfrm>
        </p:spPr>
        <p:txBody>
          <a:bodyPr>
            <a:normAutofit lnSpcReduction="10000"/>
          </a:bodyPr>
          <a:lstStyle/>
          <a:p>
            <a:r>
              <a:rPr lang="en-US" altLang="zh-CN" sz="2400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Goal: </a:t>
            </a:r>
          </a:p>
          <a:p>
            <a:pPr lvl="1"/>
            <a:r>
              <a:rPr lang="en-US" altLang="zh-CN" sz="2200" i="1" dirty="0" smtClean="0">
                <a:ea typeface="SimSun" panose="02010600030101010101" pitchFamily="2" charset="-122"/>
              </a:rPr>
              <a:t>Solve only </a:t>
            </a:r>
            <a:r>
              <a:rPr lang="en-US" altLang="zh-CN" sz="2200" i="1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2200" i="1" dirty="0" smtClean="0">
                <a:ea typeface="SimSun" panose="02010600030101010101" pitchFamily="2" charset="-122"/>
              </a:rPr>
              <a:t> that are necessary and solve it only once</a:t>
            </a:r>
          </a:p>
          <a:p>
            <a:r>
              <a:rPr lang="en-US" altLang="zh-CN" sz="2400" i="1" dirty="0" smtClean="0">
                <a:solidFill>
                  <a:schemeClr val="tx2"/>
                </a:solidFill>
                <a:ea typeface="SimSun" panose="02010600030101010101" pitchFamily="2" charset="-122"/>
              </a:rPr>
              <a:t>Memorization</a:t>
            </a:r>
            <a:r>
              <a:rPr lang="en-US" altLang="zh-CN" sz="2400" dirty="0" smtClean="0">
                <a:ea typeface="SimSun" panose="02010600030101010101" pitchFamily="2" charset="-122"/>
              </a:rPr>
              <a:t> is another way to deal with overlapping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subproblems</a:t>
            </a:r>
            <a:r>
              <a:rPr lang="en-US" altLang="zh-CN" sz="2400" dirty="0" smtClean="0">
                <a:ea typeface="SimSun" panose="02010600030101010101" pitchFamily="2" charset="-122"/>
              </a:rPr>
              <a:t> in dynamic programming</a:t>
            </a:r>
          </a:p>
          <a:p>
            <a:r>
              <a:rPr lang="en-US" altLang="zh-CN" sz="2400" dirty="0" smtClean="0">
                <a:ea typeface="SimSun" panose="02010600030101010101" pitchFamily="2" charset="-122"/>
              </a:rPr>
              <a:t>With memorization, we implement the algorithm </a:t>
            </a:r>
            <a:r>
              <a:rPr lang="en-US" altLang="zh-CN" sz="2400" b="1" i="1" dirty="0" smtClean="0">
                <a:ea typeface="SimSun" panose="02010600030101010101" pitchFamily="2" charset="-122"/>
              </a:rPr>
              <a:t>recursively</a:t>
            </a:r>
            <a:r>
              <a:rPr lang="en-US" altLang="zh-CN" sz="2400" dirty="0" smtClean="0">
                <a:ea typeface="SimSun" panose="02010600030101010101" pitchFamily="2" charset="-122"/>
              </a:rPr>
              <a:t>: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If we encounter a new </a:t>
            </a:r>
            <a:r>
              <a:rPr lang="en-US" altLang="zh-CN" sz="2200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sz="2200" dirty="0" smtClean="0">
                <a:ea typeface="SimSun" panose="02010600030101010101" pitchFamily="2" charset="-122"/>
              </a:rPr>
              <a:t>, we compute and store the solution.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If we encounter a </a:t>
            </a:r>
            <a:r>
              <a:rPr lang="en-US" altLang="zh-CN" sz="2200" dirty="0" err="1" smtClean="0">
                <a:ea typeface="SimSun" panose="02010600030101010101" pitchFamily="2" charset="-122"/>
              </a:rPr>
              <a:t>subproblem</a:t>
            </a:r>
            <a:r>
              <a:rPr lang="en-US" altLang="zh-CN" sz="2200" dirty="0" smtClean="0">
                <a:ea typeface="SimSun" panose="02010600030101010101" pitchFamily="2" charset="-122"/>
              </a:rPr>
              <a:t> we have seen, we look up the answer</a:t>
            </a:r>
          </a:p>
          <a:p>
            <a:r>
              <a:rPr lang="en-US" altLang="zh-CN" sz="2400" dirty="0" smtClean="0">
                <a:ea typeface="SimSun" panose="02010600030101010101" pitchFamily="2" charset="-122"/>
              </a:rPr>
              <a:t>Most useful when the algorithm is easiest to implement recursively</a:t>
            </a:r>
          </a:p>
          <a:p>
            <a:pPr lvl="1"/>
            <a:r>
              <a:rPr lang="en-US" altLang="zh-CN" sz="2200" dirty="0" smtClean="0">
                <a:ea typeface="SimSun" panose="02010600030101010101" pitchFamily="2" charset="-122"/>
              </a:rPr>
              <a:t>Especially if we do not need solutions to all subproblems.0</a:t>
            </a:r>
          </a:p>
        </p:txBody>
      </p:sp>
    </p:spTree>
    <p:extLst>
      <p:ext uri="{BB962C8B-B14F-4D97-AF65-F5344CB8AC3E}">
        <p14:creationId xmlns:p14="http://schemas.microsoft.com/office/powerpoint/2010/main" val="37578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3" y="1295400"/>
            <a:ext cx="3282351" cy="4114800"/>
          </a:xfrm>
        </p:spPr>
        <p:txBody>
          <a:bodyPr>
            <a:normAutofit/>
          </a:bodyPr>
          <a:lstStyle/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</a:t>
            </a:r>
            <a:r>
              <a:rPr lang="en-US" altLang="zh-CN" sz="2400" dirty="0" smtClean="0">
                <a:ea typeface="SimSun" panose="02010600030101010101" pitchFamily="2" charset="-122"/>
              </a:rPr>
              <a:t>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</a:t>
            </a: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w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	V[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i,w</a:t>
            </a:r>
            <a:r>
              <a:rPr lang="en-US" altLang="zh-CN" sz="2400" dirty="0" smtClean="0">
                <a:ea typeface="SimSun" panose="02010600030101010101" pitchFamily="2" charset="-122"/>
              </a:rPr>
              <a:t>] = -1</a:t>
            </a:r>
          </a:p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w = 0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W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V[0,w] = 0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b="1" dirty="0" smtClean="0">
                <a:ea typeface="SimSun" panose="02010600030101010101" pitchFamily="2" charset="-122"/>
              </a:rPr>
              <a:t>for</a:t>
            </a:r>
            <a:r>
              <a:rPr lang="en-US" altLang="zh-CN" sz="2400" dirty="0" smtClean="0"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ea typeface="SimSun" panose="02010600030101010101" pitchFamily="2" charset="-122"/>
              </a:rPr>
              <a:t>i</a:t>
            </a:r>
            <a:r>
              <a:rPr lang="en-US" altLang="zh-CN" sz="2400" dirty="0" smtClean="0">
                <a:ea typeface="SimSun" panose="02010600030101010101" pitchFamily="2" charset="-122"/>
              </a:rPr>
              <a:t> = 1 </a:t>
            </a:r>
            <a:r>
              <a:rPr lang="en-US" altLang="zh-CN" sz="2400" b="1" dirty="0" smtClean="0">
                <a:ea typeface="SimSun" panose="02010600030101010101" pitchFamily="2" charset="-122"/>
              </a:rPr>
              <a:t>to</a:t>
            </a:r>
            <a:r>
              <a:rPr lang="en-US" altLang="zh-CN" sz="2400" dirty="0" smtClean="0">
                <a:ea typeface="SimSun" panose="02010600030101010101" pitchFamily="2" charset="-122"/>
              </a:rPr>
              <a:t> n</a:t>
            </a:r>
          </a:p>
          <a:p>
            <a:pPr>
              <a:buFont typeface="Monotype Sorts" pitchFamily="80" charset="2"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	V[i,0] = 0</a:t>
            </a:r>
          </a:p>
          <a:p>
            <a:pPr>
              <a:buFont typeface="Monotype Sorts" pitchFamily="80" charset="2"/>
              <a:buNone/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buFont typeface="Monotype Sorts" pitchFamily="80" charset="2"/>
              <a:buNone/>
            </a:pPr>
            <a:endParaRPr lang="zh-CN" altLang="en-US" sz="2400" dirty="0" smtClean="0">
              <a:ea typeface="SimSun" panose="02010600030101010101" pitchFamily="2" charset="-122"/>
            </a:endParaRPr>
          </a:p>
        </p:txBody>
      </p:sp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3140014" y="1676400"/>
            <a:ext cx="5975224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, w)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if 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 &lt; 0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if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w &lt;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endParaRPr lang="en-US" altLang="zh-CN" sz="2400" b="0" baseline="-25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		     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value =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else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		    value = max(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w),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                    b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+ 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MFKnapsack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(i-1, w-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w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))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b="0" baseline="-25000" dirty="0">
                <a:latin typeface="Times New Roman" panose="02020603050405020304" pitchFamily="18" charset="0"/>
                <a:ea typeface="SimSun" panose="02010600030101010101" pitchFamily="2" charset="-122"/>
              </a:rPr>
              <a:t>		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 = value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	return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 V[</a:t>
            </a:r>
            <a:r>
              <a:rPr lang="en-US" altLang="zh-CN" sz="2400" b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i,w</a:t>
            </a:r>
            <a:r>
              <a:rPr lang="en-US" altLang="zh-CN" sz="2400" b="0" dirty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endParaRPr lang="en-US" altLang="zh-CN" sz="24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80" charset="2"/>
              <a:buNone/>
            </a:pPr>
            <a:endParaRPr lang="zh-CN" altLang="en-US" sz="2800" b="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title"/>
          </p:nvPr>
        </p:nvSpPr>
        <p:spPr>
          <a:xfrm>
            <a:off x="152400" y="292100"/>
            <a:ext cx="8991600" cy="11049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0-1 Knapsack Memory Function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27192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3" y="821282"/>
            <a:ext cx="8532125" cy="401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2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21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138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w = 0 to W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V[0,w] = 0</a:t>
            </a:r>
          </a:p>
        </p:txBody>
      </p:sp>
      <p:sp>
        <p:nvSpPr>
          <p:cNvPr id="23556" name="Line 151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Line 152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160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161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62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163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64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997" name="Text Box 165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8" name="Text Box 166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0999" name="Text Box 167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0" name="Text Box 168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2" name="Text Box 170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21003" name="Text Box 171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69" name="Line 192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93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194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195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196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197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Text Box 200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76" name="Text Box 201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77" name="Text Box 202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78" name="Text Box 203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79" name="Text Box 204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0" name="Text Box 205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3581" name="Text Box 206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3582" name="Text Box 207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3583" name="Text Box 208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3584" name="Text Box 209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3585" name="Text Box 210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3586" name="Text Box 211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3587" name="Rectangle 2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2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97" grpId="0" autoUpdateAnimBg="0"/>
      <p:bldP spid="120998" grpId="0" autoUpdateAnimBg="0"/>
      <p:bldP spid="120999" grpId="0" autoUpdateAnimBg="0"/>
      <p:bldP spid="121000" grpId="0" autoUpdateAnimBg="0"/>
      <p:bldP spid="121002" grpId="0" autoUpdateAnimBg="0"/>
      <p:bldP spid="12100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1752600" y="47244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for i = 1 to n</a:t>
            </a:r>
          </a:p>
          <a:p>
            <a:r>
              <a:rPr lang="en-US" altLang="zh-CN" sz="2800" b="0">
                <a:latin typeface="Times New Roman" panose="02020603050405020304" pitchFamily="18" charset="0"/>
                <a:ea typeface="SimSun" panose="02010600030101010101" pitchFamily="2" charset="-122"/>
              </a:rPr>
              <a:t>	V[i,0] = 0</a:t>
            </a:r>
          </a:p>
        </p:txBody>
      </p:sp>
      <p:sp>
        <p:nvSpPr>
          <p:cNvPr id="137252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137255" name="Text Box 39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grpSp>
        <p:nvGrpSpPr>
          <p:cNvPr id="24584" name="Group 72"/>
          <p:cNvGrpSpPr>
            <a:grpSpLocks/>
          </p:cNvGrpSpPr>
          <p:nvPr/>
        </p:nvGrpSpPr>
        <p:grpSpPr bwMode="auto">
          <a:xfrm>
            <a:off x="1035050" y="1676400"/>
            <a:ext cx="5441950" cy="2743200"/>
            <a:chOff x="652" y="768"/>
            <a:chExt cx="3428" cy="1728"/>
          </a:xfrm>
        </p:grpSpPr>
        <p:sp>
          <p:nvSpPr>
            <p:cNvPr id="24586" name="Line 41"/>
            <p:cNvSpPr>
              <a:spLocks noChangeShapeType="1"/>
            </p:cNvSpPr>
            <p:nvPr/>
          </p:nvSpPr>
          <p:spPr bwMode="auto">
            <a:xfrm>
              <a:off x="96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42"/>
            <p:cNvSpPr>
              <a:spLocks noChangeShapeType="1"/>
            </p:cNvSpPr>
            <p:nvPr/>
          </p:nvSpPr>
          <p:spPr bwMode="auto">
            <a:xfrm>
              <a:off x="960" y="10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43"/>
            <p:cNvSpPr>
              <a:spLocks noChangeShapeType="1"/>
            </p:cNvSpPr>
            <p:nvPr/>
          </p:nvSpPr>
          <p:spPr bwMode="auto">
            <a:xfrm>
              <a:off x="144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Line 44"/>
            <p:cNvSpPr>
              <a:spLocks noChangeShapeType="1"/>
            </p:cNvSpPr>
            <p:nvPr/>
          </p:nvSpPr>
          <p:spPr bwMode="auto">
            <a:xfrm>
              <a:off x="1968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45"/>
            <p:cNvSpPr>
              <a:spLocks noChangeShapeType="1"/>
            </p:cNvSpPr>
            <p:nvPr/>
          </p:nvSpPr>
          <p:spPr bwMode="auto">
            <a:xfrm>
              <a:off x="2496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Line 46"/>
            <p:cNvSpPr>
              <a:spLocks noChangeShapeType="1"/>
            </p:cNvSpPr>
            <p:nvPr/>
          </p:nvSpPr>
          <p:spPr bwMode="auto">
            <a:xfrm>
              <a:off x="3024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Line 47"/>
            <p:cNvSpPr>
              <a:spLocks noChangeShapeType="1"/>
            </p:cNvSpPr>
            <p:nvPr/>
          </p:nvSpPr>
          <p:spPr bwMode="auto">
            <a:xfrm>
              <a:off x="3552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Text Box 48"/>
            <p:cNvSpPr txBox="1">
              <a:spLocks noChangeArrowheads="1"/>
            </p:cNvSpPr>
            <p:nvPr/>
          </p:nvSpPr>
          <p:spPr bwMode="auto">
            <a:xfrm>
              <a:off x="110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4" name="Text Box 49"/>
            <p:cNvSpPr txBox="1">
              <a:spLocks noChangeArrowheads="1"/>
            </p:cNvSpPr>
            <p:nvPr/>
          </p:nvSpPr>
          <p:spPr bwMode="auto">
            <a:xfrm>
              <a:off x="1584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5" name="Text Box 50"/>
            <p:cNvSpPr txBox="1">
              <a:spLocks noChangeArrowheads="1"/>
            </p:cNvSpPr>
            <p:nvPr/>
          </p:nvSpPr>
          <p:spPr bwMode="auto">
            <a:xfrm>
              <a:off x="211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6" name="Text Box 51"/>
            <p:cNvSpPr txBox="1">
              <a:spLocks noChangeArrowheads="1"/>
            </p:cNvSpPr>
            <p:nvPr/>
          </p:nvSpPr>
          <p:spPr bwMode="auto">
            <a:xfrm>
              <a:off x="2640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7" name="Text Box 52"/>
            <p:cNvSpPr txBox="1">
              <a:spLocks noChangeArrowheads="1"/>
            </p:cNvSpPr>
            <p:nvPr/>
          </p:nvSpPr>
          <p:spPr bwMode="auto">
            <a:xfrm>
              <a:off x="3696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8" name="Text Box 53"/>
            <p:cNvSpPr txBox="1">
              <a:spLocks noChangeArrowheads="1"/>
            </p:cNvSpPr>
            <p:nvPr/>
          </p:nvSpPr>
          <p:spPr bwMode="auto">
            <a:xfrm>
              <a:off x="3168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599" name="Line 54"/>
            <p:cNvSpPr>
              <a:spLocks noChangeShapeType="1"/>
            </p:cNvSpPr>
            <p:nvPr/>
          </p:nvSpPr>
          <p:spPr bwMode="auto">
            <a:xfrm>
              <a:off x="4080" y="10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>
              <a:off x="960" y="134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Line 56"/>
            <p:cNvSpPr>
              <a:spLocks noChangeShapeType="1"/>
            </p:cNvSpPr>
            <p:nvPr/>
          </p:nvSpPr>
          <p:spPr bwMode="auto">
            <a:xfrm>
              <a:off x="960" y="163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Line 57"/>
            <p:cNvSpPr>
              <a:spLocks noChangeShapeType="1"/>
            </p:cNvSpPr>
            <p:nvPr/>
          </p:nvSpPr>
          <p:spPr bwMode="auto">
            <a:xfrm>
              <a:off x="960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Line 58"/>
            <p:cNvSpPr>
              <a:spLocks noChangeShapeType="1"/>
            </p:cNvSpPr>
            <p:nvPr/>
          </p:nvSpPr>
          <p:spPr bwMode="auto">
            <a:xfrm>
              <a:off x="960" y="220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59"/>
            <p:cNvSpPr>
              <a:spLocks noChangeShapeType="1"/>
            </p:cNvSpPr>
            <p:nvPr/>
          </p:nvSpPr>
          <p:spPr bwMode="auto">
            <a:xfrm>
              <a:off x="960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Text Box 60"/>
            <p:cNvSpPr txBox="1">
              <a:spLocks noChangeArrowheads="1"/>
            </p:cNvSpPr>
            <p:nvPr/>
          </p:nvSpPr>
          <p:spPr bwMode="auto">
            <a:xfrm>
              <a:off x="652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06" name="Text Box 61"/>
            <p:cNvSpPr txBox="1">
              <a:spLocks noChangeArrowheads="1"/>
            </p:cNvSpPr>
            <p:nvPr/>
          </p:nvSpPr>
          <p:spPr bwMode="auto">
            <a:xfrm>
              <a:off x="652" y="134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07" name="Text Box 62"/>
            <p:cNvSpPr txBox="1">
              <a:spLocks noChangeArrowheads="1"/>
            </p:cNvSpPr>
            <p:nvPr/>
          </p:nvSpPr>
          <p:spPr bwMode="auto">
            <a:xfrm>
              <a:off x="652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08" name="Text Box 63"/>
            <p:cNvSpPr txBox="1">
              <a:spLocks noChangeArrowheads="1"/>
            </p:cNvSpPr>
            <p:nvPr/>
          </p:nvSpPr>
          <p:spPr bwMode="auto">
            <a:xfrm>
              <a:off x="652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09" name="Text Box 64"/>
            <p:cNvSpPr txBox="1">
              <a:spLocks noChangeArrowheads="1"/>
            </p:cNvSpPr>
            <p:nvPr/>
          </p:nvSpPr>
          <p:spPr bwMode="auto">
            <a:xfrm>
              <a:off x="3168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0" name="Text Box 65"/>
            <p:cNvSpPr txBox="1">
              <a:spLocks noChangeArrowheads="1"/>
            </p:cNvSpPr>
            <p:nvPr/>
          </p:nvSpPr>
          <p:spPr bwMode="auto">
            <a:xfrm>
              <a:off x="3696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24611" name="Text Box 66"/>
            <p:cNvSpPr txBox="1">
              <a:spLocks noChangeArrowheads="1"/>
            </p:cNvSpPr>
            <p:nvPr/>
          </p:nvSpPr>
          <p:spPr bwMode="auto">
            <a:xfrm>
              <a:off x="110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0</a:t>
              </a:r>
            </a:p>
          </p:txBody>
        </p:sp>
        <p:sp>
          <p:nvSpPr>
            <p:cNvPr id="24612" name="Text Box 67"/>
            <p:cNvSpPr txBox="1">
              <a:spLocks noChangeArrowheads="1"/>
            </p:cNvSpPr>
            <p:nvPr/>
          </p:nvSpPr>
          <p:spPr bwMode="auto">
            <a:xfrm>
              <a:off x="1584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4613" name="Text Box 68"/>
            <p:cNvSpPr txBox="1">
              <a:spLocks noChangeArrowheads="1"/>
            </p:cNvSpPr>
            <p:nvPr/>
          </p:nvSpPr>
          <p:spPr bwMode="auto">
            <a:xfrm>
              <a:off x="2112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24614" name="Text Box 69"/>
            <p:cNvSpPr txBox="1">
              <a:spLocks noChangeArrowheads="1"/>
            </p:cNvSpPr>
            <p:nvPr/>
          </p:nvSpPr>
          <p:spPr bwMode="auto">
            <a:xfrm>
              <a:off x="2640" y="8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24615" name="Text Box 70"/>
            <p:cNvSpPr txBox="1">
              <a:spLocks noChangeArrowheads="1"/>
            </p:cNvSpPr>
            <p:nvPr/>
          </p:nvSpPr>
          <p:spPr bwMode="auto">
            <a:xfrm>
              <a:off x="652" y="22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24616" name="Text Box 71"/>
            <p:cNvSpPr txBox="1">
              <a:spLocks noChangeArrowheads="1"/>
            </p:cNvSpPr>
            <p:nvPr/>
          </p:nvSpPr>
          <p:spPr bwMode="auto">
            <a:xfrm>
              <a:off x="662" y="7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latin typeface="Times New Roman" panose="02020603050405020304" pitchFamily="18" charset="0"/>
                  <a:ea typeface="SimSun" panose="02010600030101010101" pitchFamily="2" charset="-122"/>
                </a:rPr>
                <a:t>i\W</a:t>
              </a:r>
            </a:p>
          </p:txBody>
        </p:sp>
      </p:grpSp>
      <p:sp>
        <p:nvSpPr>
          <p:cNvPr id="24585" name="Rectangle 7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2" grpId="0" autoUpdateAnimBg="0"/>
      <p:bldP spid="137253" grpId="0" autoUpdateAnimBg="0"/>
      <p:bldP spid="137254" grpId="0" autoUpdateAnimBg="0"/>
      <p:bldP spid="137255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>
            <a:spLocks noChangeShapeType="1"/>
          </p:cNvSpPr>
          <p:nvPr/>
        </p:nvSpPr>
        <p:spPr bwMode="auto">
          <a:xfrm>
            <a:off x="4648200" y="1524000"/>
            <a:ext cx="0" cy="3657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752600" y="45561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if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&lt;= w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item i can be part of the solution</a:t>
            </a:r>
            <a:endParaRPr lang="en-US" altLang="zh-CN" sz="2000" b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if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 &gt; V[i-1,w]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b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+ V[i-1,w- w</a:t>
            </a:r>
            <a:r>
              <a:rPr lang="en-US" altLang="zh-CN" sz="2000" b="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else</a:t>
            </a:r>
          </a:p>
          <a:p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          V[i,w] = V[i-1,w]</a:t>
            </a:r>
          </a:p>
          <a:p>
            <a:r>
              <a: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else 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V[i,w] = V[i-1,w]</a:t>
            </a:r>
            <a:r>
              <a:rPr lang="en-US" altLang="zh-CN" sz="2000" b="0"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// w</a:t>
            </a:r>
            <a:r>
              <a:rPr lang="en-US" altLang="zh-CN" sz="2000" b="0" baseline="-2500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sz="2000" b="0">
                <a:solidFill>
                  <a:srgbClr val="008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 &gt; w </a:t>
            </a:r>
          </a:p>
        </p:txBody>
      </p:sp>
      <p:sp>
        <p:nvSpPr>
          <p:cNvPr id="25604" name="Text Box 36"/>
          <p:cNvSpPr txBox="1">
            <a:spLocks noChangeArrowheads="1"/>
          </p:cNvSpPr>
          <p:nvPr/>
        </p:nvSpPr>
        <p:spPr bwMode="auto">
          <a:xfrm>
            <a:off x="175260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09" name="Line 47"/>
          <p:cNvSpPr>
            <a:spLocks noChangeShapeType="1"/>
          </p:cNvSpPr>
          <p:nvPr/>
        </p:nvSpPr>
        <p:spPr bwMode="auto">
          <a:xfrm>
            <a:off x="1524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48"/>
          <p:cNvSpPr>
            <a:spLocks noChangeShapeType="1"/>
          </p:cNvSpPr>
          <p:nvPr/>
        </p:nvSpPr>
        <p:spPr bwMode="auto">
          <a:xfrm>
            <a:off x="1524000" y="2133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49"/>
          <p:cNvSpPr>
            <a:spLocks noChangeShapeType="1"/>
          </p:cNvSpPr>
          <p:nvPr/>
        </p:nvSpPr>
        <p:spPr bwMode="auto">
          <a:xfrm>
            <a:off x="2286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50"/>
          <p:cNvSpPr>
            <a:spLocks noChangeShapeType="1"/>
          </p:cNvSpPr>
          <p:nvPr/>
        </p:nvSpPr>
        <p:spPr bwMode="auto">
          <a:xfrm>
            <a:off x="31242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51"/>
          <p:cNvSpPr>
            <a:spLocks noChangeShapeType="1"/>
          </p:cNvSpPr>
          <p:nvPr/>
        </p:nvSpPr>
        <p:spPr bwMode="auto">
          <a:xfrm>
            <a:off x="39624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52"/>
          <p:cNvSpPr>
            <a:spLocks noChangeShapeType="1"/>
          </p:cNvSpPr>
          <p:nvPr/>
        </p:nvSpPr>
        <p:spPr bwMode="auto">
          <a:xfrm>
            <a:off x="48006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53"/>
          <p:cNvSpPr>
            <a:spLocks noChangeShapeType="1"/>
          </p:cNvSpPr>
          <p:nvPr/>
        </p:nvSpPr>
        <p:spPr bwMode="auto">
          <a:xfrm>
            <a:off x="56388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Text Box 54"/>
          <p:cNvSpPr txBox="1">
            <a:spLocks noChangeArrowheads="1"/>
          </p:cNvSpPr>
          <p:nvPr/>
        </p:nvSpPr>
        <p:spPr bwMode="auto">
          <a:xfrm>
            <a:off x="1752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7" name="Text Box 55"/>
          <p:cNvSpPr txBox="1">
            <a:spLocks noChangeArrowheads="1"/>
          </p:cNvSpPr>
          <p:nvPr/>
        </p:nvSpPr>
        <p:spPr bwMode="auto">
          <a:xfrm>
            <a:off x="25146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8" name="Text Box 56"/>
          <p:cNvSpPr txBox="1">
            <a:spLocks noChangeArrowheads="1"/>
          </p:cNvSpPr>
          <p:nvPr/>
        </p:nvSpPr>
        <p:spPr bwMode="auto">
          <a:xfrm>
            <a:off x="33528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19" name="Text Box 57"/>
          <p:cNvSpPr txBox="1">
            <a:spLocks noChangeArrowheads="1"/>
          </p:cNvSpPr>
          <p:nvPr/>
        </p:nvSpPr>
        <p:spPr bwMode="auto">
          <a:xfrm>
            <a:off x="41910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0" name="Text Box 58"/>
          <p:cNvSpPr txBox="1">
            <a:spLocks noChangeArrowheads="1"/>
          </p:cNvSpPr>
          <p:nvPr/>
        </p:nvSpPr>
        <p:spPr bwMode="auto">
          <a:xfrm>
            <a:off x="58674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1" name="Text Box 59"/>
          <p:cNvSpPr txBox="1">
            <a:spLocks noChangeArrowheads="1"/>
          </p:cNvSpPr>
          <p:nvPr/>
        </p:nvSpPr>
        <p:spPr bwMode="auto">
          <a:xfrm>
            <a:off x="502920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2" name="Line 71"/>
          <p:cNvSpPr>
            <a:spLocks noChangeShapeType="1"/>
          </p:cNvSpPr>
          <p:nvPr/>
        </p:nvSpPr>
        <p:spPr bwMode="auto">
          <a:xfrm>
            <a:off x="6477000" y="2133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72"/>
          <p:cNvSpPr>
            <a:spLocks noChangeShapeType="1"/>
          </p:cNvSpPr>
          <p:nvPr/>
        </p:nvSpPr>
        <p:spPr bwMode="auto">
          <a:xfrm>
            <a:off x="1524000" y="25908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Line 73"/>
          <p:cNvSpPr>
            <a:spLocks noChangeShapeType="1"/>
          </p:cNvSpPr>
          <p:nvPr/>
        </p:nvSpPr>
        <p:spPr bwMode="auto">
          <a:xfrm>
            <a:off x="1524000" y="30480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Line 74"/>
          <p:cNvSpPr>
            <a:spLocks noChangeShapeType="1"/>
          </p:cNvSpPr>
          <p:nvPr/>
        </p:nvSpPr>
        <p:spPr bwMode="auto">
          <a:xfrm>
            <a:off x="1524000" y="35052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Line 75"/>
          <p:cNvSpPr>
            <a:spLocks noChangeShapeType="1"/>
          </p:cNvSpPr>
          <p:nvPr/>
        </p:nvSpPr>
        <p:spPr bwMode="auto">
          <a:xfrm>
            <a:off x="1524000" y="3962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Line 76"/>
          <p:cNvSpPr>
            <a:spLocks noChangeShapeType="1"/>
          </p:cNvSpPr>
          <p:nvPr/>
        </p:nvSpPr>
        <p:spPr bwMode="auto">
          <a:xfrm>
            <a:off x="15240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79"/>
          <p:cNvSpPr txBox="1">
            <a:spLocks noChangeArrowheads="1"/>
          </p:cNvSpPr>
          <p:nvPr/>
        </p:nvSpPr>
        <p:spPr bwMode="auto">
          <a:xfrm>
            <a:off x="1035050" y="2133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29" name="Text Box 80"/>
          <p:cNvSpPr txBox="1">
            <a:spLocks noChangeArrowheads="1"/>
          </p:cNvSpPr>
          <p:nvPr/>
        </p:nvSpPr>
        <p:spPr bwMode="auto">
          <a:xfrm>
            <a:off x="1035050" y="259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0" name="Text Box 81"/>
          <p:cNvSpPr txBox="1">
            <a:spLocks noChangeArrowheads="1"/>
          </p:cNvSpPr>
          <p:nvPr/>
        </p:nvSpPr>
        <p:spPr bwMode="auto">
          <a:xfrm>
            <a:off x="103505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1" name="Text Box 82"/>
          <p:cNvSpPr txBox="1">
            <a:spLocks noChangeArrowheads="1"/>
          </p:cNvSpPr>
          <p:nvPr/>
        </p:nvSpPr>
        <p:spPr bwMode="auto">
          <a:xfrm>
            <a:off x="103505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2" name="Text Box 83"/>
          <p:cNvSpPr txBox="1">
            <a:spLocks noChangeArrowheads="1"/>
          </p:cNvSpPr>
          <p:nvPr/>
        </p:nvSpPr>
        <p:spPr bwMode="auto">
          <a:xfrm>
            <a:off x="50292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3" name="Text Box 84"/>
          <p:cNvSpPr txBox="1">
            <a:spLocks noChangeArrowheads="1"/>
          </p:cNvSpPr>
          <p:nvPr/>
        </p:nvSpPr>
        <p:spPr bwMode="auto">
          <a:xfrm>
            <a:off x="5867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5634" name="Text Box 85"/>
          <p:cNvSpPr txBox="1">
            <a:spLocks noChangeArrowheads="1"/>
          </p:cNvSpPr>
          <p:nvPr/>
        </p:nvSpPr>
        <p:spPr bwMode="auto">
          <a:xfrm>
            <a:off x="1752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35" name="Text Box 86"/>
          <p:cNvSpPr txBox="1">
            <a:spLocks noChangeArrowheads="1"/>
          </p:cNvSpPr>
          <p:nvPr/>
        </p:nvSpPr>
        <p:spPr bwMode="auto">
          <a:xfrm>
            <a:off x="2514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5636" name="Text Box 87"/>
          <p:cNvSpPr txBox="1">
            <a:spLocks noChangeArrowheads="1"/>
          </p:cNvSpPr>
          <p:nvPr/>
        </p:nvSpPr>
        <p:spPr bwMode="auto">
          <a:xfrm>
            <a:off x="3352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5637" name="Text Box 88"/>
          <p:cNvSpPr txBox="1">
            <a:spLocks noChangeArrowheads="1"/>
          </p:cNvSpPr>
          <p:nvPr/>
        </p:nvSpPr>
        <p:spPr bwMode="auto">
          <a:xfrm>
            <a:off x="4191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5638" name="Text Box 89"/>
          <p:cNvSpPr txBox="1">
            <a:spLocks noChangeArrowheads="1"/>
          </p:cNvSpPr>
          <p:nvPr/>
        </p:nvSpPr>
        <p:spPr bwMode="auto">
          <a:xfrm>
            <a:off x="103505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5639" name="Text Box 90"/>
          <p:cNvSpPr txBox="1">
            <a:spLocks noChangeArrowheads="1"/>
          </p:cNvSpPr>
          <p:nvPr/>
        </p:nvSpPr>
        <p:spPr bwMode="auto">
          <a:xfrm>
            <a:off x="1050925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i\W</a:t>
            </a:r>
          </a:p>
        </p:txBody>
      </p:sp>
      <p:sp>
        <p:nvSpPr>
          <p:cNvPr id="25640" name="Text Box 103"/>
          <p:cNvSpPr txBox="1">
            <a:spLocks noChangeArrowheads="1"/>
          </p:cNvSpPr>
          <p:nvPr/>
        </p:nvSpPr>
        <p:spPr bwMode="auto">
          <a:xfrm>
            <a:off x="1752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1" name="Text Box 104"/>
          <p:cNvSpPr txBox="1">
            <a:spLocks noChangeArrowheads="1"/>
          </p:cNvSpPr>
          <p:nvPr/>
        </p:nvSpPr>
        <p:spPr bwMode="auto">
          <a:xfrm>
            <a:off x="1752600" y="3505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2" name="Text Box 105"/>
          <p:cNvSpPr txBox="1">
            <a:spLocks noChangeArrowheads="1"/>
          </p:cNvSpPr>
          <p:nvPr/>
        </p:nvSpPr>
        <p:spPr bwMode="auto">
          <a:xfrm>
            <a:off x="17526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</a:p>
        </p:txBody>
      </p:sp>
      <p:sp>
        <p:nvSpPr>
          <p:cNvPr id="25644" name="Rectangle 10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anose="02010600030101010101" pitchFamily="2" charset="-122"/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59" y="22219"/>
            <a:ext cx="3901925" cy="17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3653</TotalTime>
  <Words>3801</Words>
  <Application>Microsoft Office PowerPoint</Application>
  <PresentationFormat>On-screen Show (4:3)</PresentationFormat>
  <Paragraphs>1498</Paragraphs>
  <Slides>53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71" baseType="lpstr">
      <vt:lpstr>SimSun</vt:lpstr>
      <vt:lpstr>Aharoni</vt:lpstr>
      <vt:lpstr>Arial</vt:lpstr>
      <vt:lpstr>Britannic Bold</vt:lpstr>
      <vt:lpstr>Calibri</vt:lpstr>
      <vt:lpstr>Calibri Light</vt:lpstr>
      <vt:lpstr>Comic Sans MS</vt:lpstr>
      <vt:lpstr>Gungsuh</vt:lpstr>
      <vt:lpstr>Impact</vt:lpstr>
      <vt:lpstr>Monotype Corsiva</vt:lpstr>
      <vt:lpstr>Monotype Sorts</vt:lpstr>
      <vt:lpstr>Symbol</vt:lpstr>
      <vt:lpstr>Times New Roman</vt:lpstr>
      <vt:lpstr>Verdana</vt:lpstr>
      <vt:lpstr>Wingdings</vt:lpstr>
      <vt:lpstr>Wingdings 2</vt:lpstr>
      <vt:lpstr>Office Theme</vt:lpstr>
      <vt:lpstr>Equation</vt:lpstr>
      <vt:lpstr>PowerPoint Presentation</vt:lpstr>
      <vt:lpstr>PowerPoint Presentation</vt:lpstr>
      <vt:lpstr>Dynamic Programming (DP)</vt:lpstr>
      <vt:lpstr>The Knapsack Problem</vt:lpstr>
      <vt:lpstr>Knapsack 0-1 Problem</vt:lpstr>
      <vt:lpstr>Knapsack 0-1 Problem</vt:lpstr>
      <vt:lpstr>0-1 Knapsack problem</vt:lpstr>
      <vt:lpstr>0-1 Knapsack problem</vt:lpstr>
      <vt:lpstr>0-1 Knapsack problem: brute-force approach</vt:lpstr>
      <vt:lpstr>0-1 Knapsack - Greedy Strategy</vt:lpstr>
      <vt:lpstr>0-1 Knapsack problem:  dynamic programming approach</vt:lpstr>
      <vt:lpstr> Defining a Subproblem</vt:lpstr>
      <vt:lpstr>Defining a Subproblem</vt:lpstr>
      <vt:lpstr>Defining a Subproblem</vt:lpstr>
      <vt:lpstr>Defining a Subproblem</vt:lpstr>
      <vt:lpstr>Defining a Subproblem</vt:lpstr>
      <vt:lpstr>Recursive Formula for subproblems</vt:lpstr>
      <vt:lpstr>Recursive Formula for subproblems (continued)</vt:lpstr>
      <vt:lpstr>Recursive Formula</vt:lpstr>
      <vt:lpstr>0-1 Knapsack Algorithm</vt:lpstr>
      <vt:lpstr>Running time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Comments</vt:lpstr>
      <vt:lpstr>How to find actual Knapsack Items</vt:lpstr>
      <vt:lpstr>Finding the Items</vt:lpstr>
      <vt:lpstr>Finding the Items</vt:lpstr>
      <vt:lpstr>Finding the Items</vt:lpstr>
      <vt:lpstr>Finding the Items</vt:lpstr>
      <vt:lpstr>Finding the Items</vt:lpstr>
      <vt:lpstr>Finding the Items</vt:lpstr>
      <vt:lpstr>Memorization (Memory Function Method)</vt:lpstr>
      <vt:lpstr>0-1 Knapsack Memory Function Algorithm</vt:lpstr>
      <vt:lpstr>PowerPoint Presentation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HP</cp:lastModifiedBy>
  <cp:revision>200</cp:revision>
  <dcterms:created xsi:type="dcterms:W3CDTF">2014-09-11T18:03:18Z</dcterms:created>
  <dcterms:modified xsi:type="dcterms:W3CDTF">2026-04-08T16:39:52Z</dcterms:modified>
</cp:coreProperties>
</file>