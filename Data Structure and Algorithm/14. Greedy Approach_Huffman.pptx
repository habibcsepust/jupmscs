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455" r:id="rId2"/>
    <p:sldId id="411" r:id="rId3"/>
    <p:sldId id="412" r:id="rId4"/>
    <p:sldId id="413" r:id="rId5"/>
    <p:sldId id="414" r:id="rId6"/>
    <p:sldId id="415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453" r:id="rId15"/>
    <p:sldId id="28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416" r:id="rId40"/>
    <p:sldId id="451" r:id="rId41"/>
    <p:sldId id="452" r:id="rId42"/>
    <p:sldId id="316" r:id="rId43"/>
    <p:sldId id="317" r:id="rId44"/>
    <p:sldId id="320" r:id="rId45"/>
    <p:sldId id="432" r:id="rId46"/>
    <p:sldId id="433" r:id="rId47"/>
    <p:sldId id="434" r:id="rId48"/>
    <p:sldId id="435" r:id="rId49"/>
    <p:sldId id="436" r:id="rId50"/>
    <p:sldId id="437" r:id="rId51"/>
    <p:sldId id="438" r:id="rId52"/>
    <p:sldId id="439" r:id="rId53"/>
    <p:sldId id="440" r:id="rId54"/>
    <p:sldId id="441" r:id="rId55"/>
    <p:sldId id="442" r:id="rId56"/>
    <p:sldId id="443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336" r:id="rId65"/>
    <p:sldId id="342" r:id="rId66"/>
    <p:sldId id="456" r:id="rId67"/>
    <p:sldId id="457" r:id="rId68"/>
    <p:sldId id="458" r:id="rId69"/>
    <p:sldId id="459" r:id="rId70"/>
    <p:sldId id="362" r:id="rId71"/>
    <p:sldId id="363" r:id="rId72"/>
    <p:sldId id="364" r:id="rId73"/>
    <p:sldId id="365" r:id="rId74"/>
    <p:sldId id="366" r:id="rId75"/>
    <p:sldId id="367" r:id="rId76"/>
    <p:sldId id="368" r:id="rId77"/>
    <p:sldId id="369" r:id="rId78"/>
    <p:sldId id="454" r:id="rId79"/>
    <p:sldId id="430" r:id="rId80"/>
    <p:sldId id="431" r:id="rId81"/>
    <p:sldId id="378" r:id="rId82"/>
    <p:sldId id="418" r:id="rId83"/>
    <p:sldId id="419" r:id="rId84"/>
    <p:sldId id="420" r:id="rId85"/>
    <p:sldId id="421" r:id="rId86"/>
    <p:sldId id="422" r:id="rId87"/>
    <p:sldId id="423" r:id="rId88"/>
    <p:sldId id="424" r:id="rId89"/>
    <p:sldId id="425" r:id="rId90"/>
    <p:sldId id="426" r:id="rId91"/>
    <p:sldId id="427" r:id="rId92"/>
    <p:sldId id="428" r:id="rId93"/>
    <p:sldId id="429" r:id="rId94"/>
    <p:sldId id="402" r:id="rId95"/>
    <p:sldId id="410" r:id="rId96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4" d="100"/>
          <a:sy n="134" d="100"/>
        </p:scale>
        <p:origin x="14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101E5-7CC2-4E3E-A157-E17A8A1784B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C56B-7288-4B6D-B4E1-2CECDCDD2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47C56B-7288-4B6D-B4E1-2CECDCDD26F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8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304415" cy="126364"/>
          </a:xfrm>
          <a:custGeom>
            <a:avLst/>
            <a:gdLst/>
            <a:ahLst/>
            <a:cxnLst/>
            <a:rect l="l" t="t" r="r" b="b"/>
            <a:pathLst>
              <a:path w="2304415" h="126364">
                <a:moveTo>
                  <a:pt x="0" y="126123"/>
                </a:moveTo>
                <a:lnTo>
                  <a:pt x="2303995" y="126123"/>
                </a:lnTo>
                <a:lnTo>
                  <a:pt x="2303995" y="0"/>
                </a:lnTo>
                <a:lnTo>
                  <a:pt x="0" y="0"/>
                </a:lnTo>
                <a:lnTo>
                  <a:pt x="0" y="126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835371"/>
            <a:ext cx="3477895" cy="734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67290" y="3318070"/>
            <a:ext cx="245745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9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11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8.png"/><Relationship Id="rId5" Type="http://schemas.openxmlformats.org/officeDocument/2006/relationships/image" Target="../media/image54.png"/><Relationship Id="rId10" Type="http://schemas.openxmlformats.org/officeDocument/2006/relationships/image" Target="../media/image57.png"/><Relationship Id="rId4" Type="http://schemas.openxmlformats.org/officeDocument/2006/relationships/image" Target="../media/image9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9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9.png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12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5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5.png"/><Relationship Id="rId5" Type="http://schemas.openxmlformats.org/officeDocument/2006/relationships/image" Target="../media/image65.png"/><Relationship Id="rId10" Type="http://schemas.openxmlformats.org/officeDocument/2006/relationships/image" Target="../media/image74.png"/><Relationship Id="rId4" Type="http://schemas.openxmlformats.org/officeDocument/2006/relationships/image" Target="../media/image4.png"/><Relationship Id="rId9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5.png"/><Relationship Id="rId5" Type="http://schemas.openxmlformats.org/officeDocument/2006/relationships/image" Target="../media/image65.png"/><Relationship Id="rId10" Type="http://schemas.openxmlformats.org/officeDocument/2006/relationships/image" Target="../media/image77.png"/><Relationship Id="rId4" Type="http://schemas.openxmlformats.org/officeDocument/2006/relationships/image" Target="../media/image4.png"/><Relationship Id="rId9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12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5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0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3.png"/><Relationship Id="rId5" Type="http://schemas.openxmlformats.org/officeDocument/2006/relationships/image" Target="../media/image65.png"/><Relationship Id="rId10" Type="http://schemas.openxmlformats.org/officeDocument/2006/relationships/image" Target="../media/image8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3.png"/><Relationship Id="rId5" Type="http://schemas.openxmlformats.org/officeDocument/2006/relationships/image" Target="../media/image65.png"/><Relationship Id="rId10" Type="http://schemas.openxmlformats.org/officeDocument/2006/relationships/image" Target="../media/image74.png"/><Relationship Id="rId4" Type="http://schemas.openxmlformats.org/officeDocument/2006/relationships/image" Target="../media/image4.png"/><Relationship Id="rId9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11.png"/><Relationship Id="rId5" Type="http://schemas.openxmlformats.org/officeDocument/2006/relationships/image" Target="../media/image48.png"/><Relationship Id="rId10" Type="http://schemas.openxmlformats.org/officeDocument/2006/relationships/image" Target="../media/image86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89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91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93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0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06.png"/><Relationship Id="rId7" Type="http://schemas.openxmlformats.org/officeDocument/2006/relationships/image" Target="../media/image1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10" Type="http://schemas.openxmlformats.org/officeDocument/2006/relationships/image" Target="../media/image121.png"/><Relationship Id="rId4" Type="http://schemas.openxmlformats.org/officeDocument/2006/relationships/image" Target="../media/image107.png"/><Relationship Id="rId9" Type="http://schemas.openxmlformats.org/officeDocument/2006/relationships/image" Target="../media/image12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11" Type="http://schemas.openxmlformats.org/officeDocument/2006/relationships/image" Target="../media/image121.png"/><Relationship Id="rId5" Type="http://schemas.openxmlformats.org/officeDocument/2006/relationships/image" Target="../media/image124.png"/><Relationship Id="rId10" Type="http://schemas.openxmlformats.org/officeDocument/2006/relationships/image" Target="../media/image127.png"/><Relationship Id="rId4" Type="http://schemas.openxmlformats.org/officeDocument/2006/relationships/image" Target="../media/image123.png"/><Relationship Id="rId9" Type="http://schemas.openxmlformats.org/officeDocument/2006/relationships/image" Target="../media/image1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3" Type="http://schemas.openxmlformats.org/officeDocument/2006/relationships/image" Target="../media/image10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12.png"/><Relationship Id="rId10" Type="http://schemas.openxmlformats.org/officeDocument/2006/relationships/image" Target="../media/image133.png"/><Relationship Id="rId4" Type="http://schemas.openxmlformats.org/officeDocument/2006/relationships/image" Target="../media/image128.png"/><Relationship Id="rId9" Type="http://schemas.openxmlformats.org/officeDocument/2006/relationships/image" Target="../media/image13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5.png"/><Relationship Id="rId3" Type="http://schemas.openxmlformats.org/officeDocument/2006/relationships/image" Target="../media/image137.png"/><Relationship Id="rId7" Type="http://schemas.openxmlformats.org/officeDocument/2006/relationships/image" Target="../media/image140.png"/><Relationship Id="rId12" Type="http://schemas.openxmlformats.org/officeDocument/2006/relationships/image" Target="../media/image1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11" Type="http://schemas.openxmlformats.org/officeDocument/2006/relationships/image" Target="../media/image143.png"/><Relationship Id="rId5" Type="http://schemas.openxmlformats.org/officeDocument/2006/relationships/image" Target="../media/image112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8.png"/><Relationship Id="rId9" Type="http://schemas.openxmlformats.org/officeDocument/2006/relationships/image" Target="../media/image108.png"/><Relationship Id="rId14" Type="http://schemas.openxmlformats.org/officeDocument/2006/relationships/image" Target="../media/image14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8.png"/><Relationship Id="rId7" Type="http://schemas.openxmlformats.org/officeDocument/2006/relationships/image" Target="../media/image150.png"/><Relationship Id="rId12" Type="http://schemas.openxmlformats.org/officeDocument/2006/relationships/image" Target="../media/image1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11" Type="http://schemas.openxmlformats.org/officeDocument/2006/relationships/image" Target="../media/image154.png"/><Relationship Id="rId5" Type="http://schemas.openxmlformats.org/officeDocument/2006/relationships/image" Target="../media/image108.png"/><Relationship Id="rId10" Type="http://schemas.openxmlformats.org/officeDocument/2006/relationships/image" Target="../media/image153.png"/><Relationship Id="rId4" Type="http://schemas.openxmlformats.org/officeDocument/2006/relationships/image" Target="../media/image149.png"/><Relationship Id="rId9" Type="http://schemas.openxmlformats.org/officeDocument/2006/relationships/image" Target="../media/image1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61.png"/><Relationship Id="rId3" Type="http://schemas.openxmlformats.org/officeDocument/2006/relationships/image" Target="../media/image155.png"/><Relationship Id="rId7" Type="http://schemas.openxmlformats.org/officeDocument/2006/relationships/image" Target="../media/image157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" Type="http://schemas.openxmlformats.org/officeDocument/2006/relationships/image" Target="../media/image2.png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6.png"/><Relationship Id="rId11" Type="http://schemas.openxmlformats.org/officeDocument/2006/relationships/image" Target="../media/image121.png"/><Relationship Id="rId5" Type="http://schemas.openxmlformats.org/officeDocument/2006/relationships/image" Target="../media/image108.png"/><Relationship Id="rId15" Type="http://schemas.openxmlformats.org/officeDocument/2006/relationships/image" Target="../media/image163.png"/><Relationship Id="rId10" Type="http://schemas.openxmlformats.org/officeDocument/2006/relationships/image" Target="../media/image159.png"/><Relationship Id="rId4" Type="http://schemas.openxmlformats.org/officeDocument/2006/relationships/image" Target="../media/image107.png"/><Relationship Id="rId9" Type="http://schemas.openxmlformats.org/officeDocument/2006/relationships/image" Target="../media/image158.png"/><Relationship Id="rId14" Type="http://schemas.openxmlformats.org/officeDocument/2006/relationships/image" Target="../media/image1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7.png"/><Relationship Id="rId5" Type="http://schemas.openxmlformats.org/officeDocument/2006/relationships/image" Target="../media/image112.png"/><Relationship Id="rId4" Type="http://schemas.openxmlformats.org/officeDocument/2006/relationships/image" Target="../media/image16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69.png"/><Relationship Id="rId7" Type="http://schemas.openxmlformats.org/officeDocument/2006/relationships/image" Target="../media/image1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72.png"/><Relationship Id="rId7" Type="http://schemas.openxmlformats.org/officeDocument/2006/relationships/image" Target="../media/image1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4.png"/><Relationship Id="rId7" Type="http://schemas.openxmlformats.org/officeDocument/2006/relationships/image" Target="../media/image1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Relationship Id="rId9" Type="http://schemas.openxmlformats.org/officeDocument/2006/relationships/image" Target="../media/image12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74.png"/><Relationship Id="rId7" Type="http://schemas.openxmlformats.org/officeDocument/2006/relationships/image" Target="../media/image17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82.png"/><Relationship Id="rId5" Type="http://schemas.openxmlformats.org/officeDocument/2006/relationships/image" Target="../media/image108.png"/><Relationship Id="rId10" Type="http://schemas.openxmlformats.org/officeDocument/2006/relationships/image" Target="../media/image181.png"/><Relationship Id="rId4" Type="http://schemas.openxmlformats.org/officeDocument/2006/relationships/image" Target="../media/image178.png"/><Relationship Id="rId9" Type="http://schemas.openxmlformats.org/officeDocument/2006/relationships/image" Target="../media/image1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88.png"/><Relationship Id="rId3" Type="http://schemas.openxmlformats.org/officeDocument/2006/relationships/image" Target="../media/image174.png"/><Relationship Id="rId7" Type="http://schemas.openxmlformats.org/officeDocument/2006/relationships/image" Target="../media/image184.png"/><Relationship Id="rId12" Type="http://schemas.openxmlformats.org/officeDocument/2006/relationships/image" Target="../media/image1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86.png"/><Relationship Id="rId5" Type="http://schemas.openxmlformats.org/officeDocument/2006/relationships/image" Target="../media/image108.png"/><Relationship Id="rId10" Type="http://schemas.openxmlformats.org/officeDocument/2006/relationships/image" Target="../media/image181.png"/><Relationship Id="rId4" Type="http://schemas.openxmlformats.org/officeDocument/2006/relationships/image" Target="../media/image183.png"/><Relationship Id="rId9" Type="http://schemas.openxmlformats.org/officeDocument/2006/relationships/image" Target="../media/image18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95.png"/><Relationship Id="rId3" Type="http://schemas.openxmlformats.org/officeDocument/2006/relationships/image" Target="../media/image174.png"/><Relationship Id="rId7" Type="http://schemas.openxmlformats.org/officeDocument/2006/relationships/image" Target="../media/image191.png"/><Relationship Id="rId12" Type="http://schemas.openxmlformats.org/officeDocument/2006/relationships/image" Target="../media/image1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4.png"/><Relationship Id="rId5" Type="http://schemas.openxmlformats.org/officeDocument/2006/relationships/image" Target="../media/image112.png"/><Relationship Id="rId15" Type="http://schemas.openxmlformats.org/officeDocument/2006/relationships/image" Target="../media/image197.png"/><Relationship Id="rId10" Type="http://schemas.openxmlformats.org/officeDocument/2006/relationships/image" Target="../media/image193.png"/><Relationship Id="rId4" Type="http://schemas.openxmlformats.org/officeDocument/2006/relationships/image" Target="../media/image189.png"/><Relationship Id="rId9" Type="http://schemas.openxmlformats.org/officeDocument/2006/relationships/image" Target="../media/image192.png"/><Relationship Id="rId14" Type="http://schemas.openxmlformats.org/officeDocument/2006/relationships/image" Target="../media/image19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203.png"/><Relationship Id="rId3" Type="http://schemas.openxmlformats.org/officeDocument/2006/relationships/image" Target="../media/image174.png"/><Relationship Id="rId7" Type="http://schemas.openxmlformats.org/officeDocument/2006/relationships/image" Target="../media/image199.png"/><Relationship Id="rId12" Type="http://schemas.openxmlformats.org/officeDocument/2006/relationships/image" Target="../media/image2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01.png"/><Relationship Id="rId5" Type="http://schemas.openxmlformats.org/officeDocument/2006/relationships/image" Target="../media/image108.png"/><Relationship Id="rId10" Type="http://schemas.openxmlformats.org/officeDocument/2006/relationships/image" Target="../media/image200.png"/><Relationship Id="rId4" Type="http://schemas.openxmlformats.org/officeDocument/2006/relationships/image" Target="../media/image198.png"/><Relationship Id="rId9" Type="http://schemas.openxmlformats.org/officeDocument/2006/relationships/image" Target="../media/image121.png"/><Relationship Id="rId14" Type="http://schemas.openxmlformats.org/officeDocument/2006/relationships/image" Target="../media/image20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209.png"/><Relationship Id="rId3" Type="http://schemas.openxmlformats.org/officeDocument/2006/relationships/image" Target="../media/image174.png"/><Relationship Id="rId7" Type="http://schemas.openxmlformats.org/officeDocument/2006/relationships/image" Target="../media/image205.png"/><Relationship Id="rId12" Type="http://schemas.openxmlformats.org/officeDocument/2006/relationships/image" Target="../media/image2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207.png"/><Relationship Id="rId5" Type="http://schemas.openxmlformats.org/officeDocument/2006/relationships/image" Target="../media/image112.png"/><Relationship Id="rId15" Type="http://schemas.openxmlformats.org/officeDocument/2006/relationships/image" Target="../media/image21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181.png"/><Relationship Id="rId14" Type="http://schemas.openxmlformats.org/officeDocument/2006/relationships/image" Target="../media/image2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2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2.png"/><Relationship Id="rId4" Type="http://schemas.openxmlformats.org/officeDocument/2006/relationships/image" Target="../media/image22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3.png"/><Relationship Id="rId4" Type="http://schemas.openxmlformats.org/officeDocument/2006/relationships/image" Target="../media/image22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4.png"/><Relationship Id="rId4" Type="http://schemas.openxmlformats.org/officeDocument/2006/relationships/image" Target="../media/image22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4.png"/><Relationship Id="rId4" Type="http://schemas.openxmlformats.org/officeDocument/2006/relationships/image" Target="../media/image22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45758" y="444103"/>
            <a:ext cx="3918585" cy="782258"/>
          </a:xfrm>
          <a:prstGeom prst="rect">
            <a:avLst/>
          </a:prstGeom>
        </p:spPr>
        <p:txBody>
          <a:bodyPr vert="horz" lIns="46101" tIns="23051" rIns="46101" bIns="23051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3600" b="1" dirty="0"/>
              <a:t>Data Structure and Algorithm</a:t>
            </a:r>
            <a:br>
              <a:rPr lang="en-US" altLang="en-US" sz="3600" b="1" dirty="0"/>
            </a:br>
            <a:r>
              <a:rPr lang="en-US" altLang="en-US" sz="2400" b="1" dirty="0">
                <a:solidFill>
                  <a:srgbClr val="00B050"/>
                </a:solidFill>
              </a:rPr>
              <a:t>(PMSCS 623P)</a:t>
            </a:r>
            <a:endParaRPr lang="en-US" altLang="en-US" sz="24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91515" y="2037715"/>
            <a:ext cx="3227070" cy="883603"/>
          </a:xfrm>
          <a:prstGeom prst="rect">
            <a:avLst/>
          </a:prstGeom>
        </p:spPr>
        <p:txBody>
          <a:bodyPr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0084" dirty="0"/>
              <a:t>Lecture </a:t>
            </a:r>
            <a:r>
              <a:rPr lang="en-US" sz="10084" dirty="0" smtClean="0"/>
              <a:t>12</a:t>
            </a:r>
            <a:endParaRPr lang="en-US" sz="9681" dirty="0"/>
          </a:p>
          <a:p>
            <a:pPr marL="0" indent="0" algn="ctr">
              <a:buNone/>
              <a:defRPr/>
            </a:pPr>
            <a:r>
              <a:rPr lang="en-US" sz="4800" dirty="0">
                <a:solidFill>
                  <a:schemeClr val="tx2"/>
                </a:solidFill>
              </a:rPr>
              <a:t>Greedy Algorithms</a:t>
            </a:r>
          </a:p>
        </p:txBody>
      </p:sp>
    </p:spTree>
    <p:extLst>
      <p:ext uri="{BB962C8B-B14F-4D97-AF65-F5344CB8AC3E}">
        <p14:creationId xmlns:p14="http://schemas.microsoft.com/office/powerpoint/2010/main" val="143927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36" y="358775"/>
            <a:ext cx="4465012" cy="28643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Decision Problems:</a:t>
            </a: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3-coloring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decision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graph, G= (V,E), determine if there is a way to assign a “color” chosen from {0, 1, 2} to each vertex in such a way that no two adjacent vertices have the same color</a:t>
            </a: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buFont typeface="Arial" pitchFamily="34" charset="0"/>
              <a:buChar char="•"/>
            </a:pP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decision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Is there any path from u to v in G?</a:t>
            </a:r>
          </a:p>
        </p:txBody>
      </p:sp>
      <p:pic>
        <p:nvPicPr>
          <p:cNvPr id="4" name="Picture 3" descr="vertex_color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1349374"/>
            <a:ext cx="2557978" cy="148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3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1" y="282575"/>
            <a:ext cx="4343400" cy="1348831"/>
          </a:xfrm>
        </p:spPr>
        <p:txBody>
          <a:bodyPr/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Search problem:</a:t>
            </a:r>
          </a:p>
          <a:p>
            <a:pPr>
              <a:lnSpc>
                <a:spcPct val="100000"/>
              </a:lnSpc>
              <a:buFont typeface="Arial" pitchFamily="34" charset="0"/>
              <a:buChar char="•"/>
            </a:pP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3-coloring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search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 G = (V, E) find, if it exists, a coloring c: V → {1, 2, 3} of the vertices, such that for every (u, v) ∈ E: c(u) ≠ c(v)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search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Find all the paths from u to v in G</a:t>
            </a:r>
          </a:p>
          <a:p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927575" y="1882775"/>
            <a:ext cx="3249287" cy="951808"/>
            <a:chOff x="1839817" y="4384713"/>
            <a:chExt cx="6444867" cy="1887885"/>
          </a:xfrm>
        </p:grpSpPr>
        <p:sp>
          <p:nvSpPr>
            <p:cNvPr id="5" name="Oval 4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8" name="Straight Arrow Connector 7"/>
            <p:cNvCxnSpPr>
              <a:stCxn id="5" idx="6"/>
              <a:endCxn id="6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13" name="Straight Arrow Connector 12"/>
            <p:cNvCxnSpPr>
              <a:stCxn id="5" idx="5"/>
              <a:endCxn id="11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3"/>
              <a:endCxn id="11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6"/>
              <a:endCxn id="12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6081311" y="4486985"/>
              <a:ext cx="2203373" cy="178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Find all the paths from a to d:</a:t>
              </a:r>
            </a:p>
            <a:p>
              <a:r>
                <a:rPr lang="en-US" sz="1050" dirty="0"/>
                <a:t>a →b →d</a:t>
              </a:r>
            </a:p>
            <a:p>
              <a:r>
                <a:rPr lang="en-US" sz="1050" dirty="0"/>
                <a:t>a →c →d</a:t>
              </a:r>
            </a:p>
            <a:p>
              <a:r>
                <a:rPr lang="en-US" sz="1050" dirty="0"/>
                <a:t>a →b →c →d</a:t>
              </a:r>
            </a:p>
          </p:txBody>
        </p:sp>
        <p:cxnSp>
          <p:nvCxnSpPr>
            <p:cNvPr id="29" name="Straight Arrow Connector 28"/>
            <p:cNvCxnSpPr>
              <a:stCxn id="6" idx="5"/>
              <a:endCxn id="12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88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36" y="475403"/>
            <a:ext cx="4360214" cy="28643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Counting Problem: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Compute the number of solutions to a given search problem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 3-coloring </a:t>
            </a:r>
            <a:r>
              <a:rPr lang="en-US" sz="1200" i="1" u="sng" dirty="0">
                <a:latin typeface="Times New Roman" pitchFamily="18" charset="0"/>
                <a:cs typeface="Times New Roman" pitchFamily="18" charset="0"/>
              </a:rPr>
              <a:t>counting problem</a:t>
            </a: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given an undirected graph G = (V, E) compute the number of ways we can color the graph using only 3 colors: {1,2,3}. While coloring we have to ensure that no two adjacent vertices have the same color. 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 Path </a:t>
            </a:r>
            <a:r>
              <a:rPr lang="en-US" sz="1200" i="1" u="sng" dirty="0">
                <a:latin typeface="Times New Roman" pitchFamily="18" charset="0"/>
                <a:cs typeface="Times New Roman" pitchFamily="18" charset="0"/>
              </a:rPr>
              <a:t>counting Problem</a:t>
            </a: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Compute the number of possible paths from u to v in a given graph G.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927575" y="2212214"/>
            <a:ext cx="3382591" cy="909060"/>
            <a:chOff x="1839817" y="4384713"/>
            <a:chExt cx="6709272" cy="1803095"/>
          </a:xfrm>
        </p:grpSpPr>
        <p:sp>
          <p:nvSpPr>
            <p:cNvPr id="7" name="Oval 6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12" name="Straight Arrow Connector 11"/>
            <p:cNvCxnSpPr>
              <a:stCxn id="7" idx="5"/>
              <a:endCxn id="10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10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6"/>
              <a:endCxn id="11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081312" y="4715219"/>
              <a:ext cx="2467777" cy="737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8" dirty="0"/>
                <a:t>Compute the number of paths from a to d: </a:t>
              </a:r>
              <a:r>
                <a:rPr lang="en-US" sz="908" b="1" dirty="0"/>
                <a:t>3</a:t>
              </a:r>
            </a:p>
          </p:txBody>
        </p:sp>
        <p:cxnSp>
          <p:nvCxnSpPr>
            <p:cNvPr id="16" name="Straight Arrow Connector 15"/>
            <p:cNvCxnSpPr>
              <a:stCxn id="8" idx="5"/>
              <a:endCxn id="11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66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1" y="282575"/>
            <a:ext cx="4267199" cy="1953996"/>
          </a:xfrm>
        </p:spPr>
        <p:txBody>
          <a:bodyPr/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 Optimization Problems: 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Find the best possible solution among the set of all possible solutions to a search problem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Graph 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optimization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graph, G= (V,E), what is the minimum number of colors required to assign “colors” to each vertex in such a way that no two adjacent vertices have the same color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optimization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Find the shortest path(s) from u to v in a given graph G.</a:t>
            </a:r>
          </a:p>
          <a:p>
            <a:endParaRPr lang="en-US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927575" y="2187575"/>
            <a:ext cx="3249287" cy="933697"/>
            <a:chOff x="1839817" y="4335846"/>
            <a:chExt cx="6444867" cy="1851962"/>
          </a:xfrm>
        </p:grpSpPr>
        <p:sp>
          <p:nvSpPr>
            <p:cNvPr id="4" name="Oval 3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6" name="Straight Arrow Connector 5"/>
            <p:cNvCxnSpPr>
              <a:stCxn id="4" idx="6"/>
              <a:endCxn id="5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9" name="Straight Arrow Connector 8"/>
            <p:cNvCxnSpPr>
              <a:stCxn id="4" idx="5"/>
              <a:endCxn id="7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5" idx="3"/>
              <a:endCxn id="7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7" idx="6"/>
              <a:endCxn id="8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5"/>
              <a:endCxn id="8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081311" y="4335846"/>
              <a:ext cx="2203373" cy="178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Find all the </a:t>
              </a:r>
              <a:r>
                <a:rPr lang="en-US" sz="1050" b="1" dirty="0"/>
                <a:t>shortest</a:t>
              </a:r>
              <a:r>
                <a:rPr lang="en-US" sz="1050" dirty="0"/>
                <a:t> paths from a to d:</a:t>
              </a:r>
            </a:p>
            <a:p>
              <a:r>
                <a:rPr lang="en-US" sz="1050" dirty="0"/>
                <a:t>a →b →d</a:t>
              </a:r>
            </a:p>
            <a:p>
              <a:r>
                <a:rPr lang="en-US" sz="1050" dirty="0"/>
                <a:t>a →c →d</a:t>
              </a:r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</p:spTree>
    <p:extLst>
      <p:ext uri="{BB962C8B-B14F-4D97-AF65-F5344CB8AC3E}">
        <p14:creationId xmlns:p14="http://schemas.microsoft.com/office/powerpoint/2010/main" val="258396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1800" b="1" dirty="0">
                <a:solidFill>
                  <a:schemeClr val="tx2"/>
                </a:solidFill>
              </a:rPr>
              <a:t>  Greedy Algorithm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95250" y="457200"/>
            <a:ext cx="4343399" cy="3178175"/>
          </a:xfrm>
        </p:spPr>
        <p:txBody>
          <a:bodyPr>
            <a:noAutofit/>
          </a:bodyPr>
          <a:lstStyle/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/>
              <a:t>Solves an optimization problem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/>
              <a:t>Example: 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/>
              <a:t>Activity Selection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 err="1"/>
              <a:t>Dijkstra’s</a:t>
            </a:r>
            <a:r>
              <a:rPr lang="en-US" altLang="en-US" sz="1000" dirty="0"/>
              <a:t> Shortest Path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/>
              <a:t>Minimum Spanning Tree Problem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For many optimization problems, greedy algorithm can be used. (not always)</a:t>
            </a:r>
          </a:p>
          <a:p>
            <a:pPr marL="172890" lvl="1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Greedy algorithm for optimization problems typically </a:t>
            </a:r>
            <a:r>
              <a:rPr lang="en-US" altLang="en-US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through a sequence of steps, with a set of choices at each step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choice does not depend on evaluating potential future choices or pre-solving repeatedly occurring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(a.k.a., </a:t>
            </a:r>
            <a:r>
              <a:rPr lang="en-US" alt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overlapping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). With each step, the original problem is reduced to a smaller problem.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Greedy algorithm 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makes the choice that looks best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at the moment.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It makes a </a:t>
            </a:r>
            <a:r>
              <a:rPr lang="en-US" altLang="en-US" sz="105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locally optimal choice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in the hope that this choice will lead to a globally optimal solution.</a:t>
            </a:r>
          </a:p>
          <a:p>
            <a:pPr lvl="1" algn="just" eaLnBrk="1" hangingPunct="1">
              <a:spcBef>
                <a:spcPts val="600"/>
              </a:spcBef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3544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Optimal</a:t>
            </a:r>
            <a:r>
              <a:rPr sz="1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2639" y="434975"/>
            <a:ext cx="4091356" cy="2558521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lang="en-US" sz="1400" spc="-10" dirty="0">
                <a:latin typeface="+mj-lt"/>
                <a:cs typeface="Times New Roman" panose="02020603050405020304" pitchFamily="18" charset="0"/>
              </a:rPr>
              <a:t>       </a:t>
            </a:r>
            <a:r>
              <a:rPr sz="1400" b="1" spc="-1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1400" b="1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b="1" spc="-55" dirty="0">
                <a:latin typeface="+mj-lt"/>
                <a:cs typeface="Times New Roman" panose="02020603050405020304" pitchFamily="18" charset="0"/>
              </a:rPr>
              <a:t>an </a:t>
            </a:r>
            <a:r>
              <a:rPr sz="1400" b="1" spc="-1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b="1" spc="16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b="1" spc="-20" dirty="0">
                <a:latin typeface="+mj-lt"/>
                <a:cs typeface="Times New Roman" panose="02020603050405020304" pitchFamily="18" charset="0"/>
              </a:rPr>
              <a:t>Solution?</a:t>
            </a:r>
            <a:endParaRPr sz="1400" b="1" dirty="0">
              <a:latin typeface="+mj-lt"/>
              <a:cs typeface="Times New Roman" panose="02020603050405020304" pitchFamily="18" charset="0"/>
            </a:endParaRPr>
          </a:p>
          <a:p>
            <a:pPr marL="575310" indent="-285750" algn="just">
              <a:lnSpc>
                <a:spcPct val="100000"/>
              </a:lnSpc>
              <a:spcBef>
                <a:spcPts val="630"/>
              </a:spcBef>
              <a:buFont typeface="Courier New" panose="02070309020205020404" pitchFamily="49" charset="0"/>
              <a:buChar char="o"/>
            </a:pPr>
            <a:r>
              <a:rPr sz="1400" spc="-45" dirty="0">
                <a:latin typeface="+mj-lt"/>
                <a:cs typeface="Times New Roman" panose="02020603050405020304" pitchFamily="18" charset="0"/>
              </a:rPr>
              <a:t>Given </a:t>
            </a:r>
            <a:r>
              <a:rPr sz="1400" spc="-55" dirty="0">
                <a:latin typeface="+mj-lt"/>
                <a:cs typeface="Times New Roman" panose="02020603050405020304" pitchFamily="18" charset="0"/>
              </a:rPr>
              <a:t>a problem,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more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than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</a:t>
            </a:r>
            <a:r>
              <a:rPr sz="1400" spc="-10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exist</a:t>
            </a:r>
            <a:endParaRPr sz="1400" dirty="0">
              <a:latin typeface="+mj-lt"/>
              <a:cs typeface="Times New Roman" panose="02020603050405020304" pitchFamily="18" charset="0"/>
            </a:endParaRPr>
          </a:p>
          <a:p>
            <a:pPr marL="575310" marR="5080" indent="-285750" algn="just">
              <a:lnSpc>
                <a:spcPct val="1026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sz="1400" spc="-40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of </a:t>
            </a:r>
            <a:r>
              <a:rPr sz="1400" spc="-4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spc="-45" dirty="0">
                <a:latin typeface="+mj-lt"/>
                <a:cs typeface="Times New Roman" panose="02020603050405020304" pitchFamily="18" charset="0"/>
              </a:rPr>
              <a:t>the best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based </a:t>
            </a:r>
            <a:r>
              <a:rPr sz="1400" spc="-55" dirty="0">
                <a:latin typeface="+mj-lt"/>
                <a:cs typeface="Times New Roman" panose="02020603050405020304" pitchFamily="18" charset="0"/>
              </a:rPr>
              <a:t>on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some </a:t>
            </a:r>
            <a:r>
              <a:rPr sz="1400" spc="-50" dirty="0">
                <a:latin typeface="+mj-lt"/>
                <a:cs typeface="Times New Roman" panose="02020603050405020304" pitchFamily="18" charset="0"/>
              </a:rPr>
              <a:t>given 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constraints,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that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is called </a:t>
            </a:r>
            <a:r>
              <a:rPr sz="1400" spc="-45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1400" spc="-2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spc="25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</a:t>
            </a:r>
            <a:endParaRPr lang="en-US" sz="1400" spc="-30" dirty="0">
              <a:latin typeface="+mj-lt"/>
              <a:cs typeface="Times New Roman" panose="02020603050405020304" pitchFamily="18" charset="0"/>
            </a:endParaRPr>
          </a:p>
          <a:p>
            <a:pPr marL="289560" marR="5080" algn="just">
              <a:lnSpc>
                <a:spcPct val="102600"/>
              </a:lnSpc>
              <a:spcBef>
                <a:spcPts val="300"/>
              </a:spcBef>
            </a:pPr>
            <a:endParaRPr lang="en-US" sz="100" spc="-10" dirty="0">
              <a:cs typeface="Times New Roman" panose="02020603050405020304" pitchFamily="18" charset="0"/>
            </a:endParaRPr>
          </a:p>
          <a:p>
            <a:pPr marL="289560" marR="5080" algn="just">
              <a:lnSpc>
                <a:spcPct val="102600"/>
              </a:lnSpc>
              <a:spcBef>
                <a:spcPts val="300"/>
              </a:spcBef>
            </a:pPr>
            <a:r>
              <a:rPr lang="en-US" sz="1400" b="1" spc="-10" dirty="0">
                <a:cs typeface="Times New Roman" panose="02020603050405020304" pitchFamily="18" charset="0"/>
              </a:rPr>
              <a:t>What </a:t>
            </a:r>
            <a:r>
              <a:rPr lang="en-US" sz="1400" b="1" spc="-35" dirty="0">
                <a:cs typeface="Times New Roman" panose="02020603050405020304" pitchFamily="18" charset="0"/>
              </a:rPr>
              <a:t>is </a:t>
            </a:r>
            <a:r>
              <a:rPr lang="en-US" sz="1400" b="1" spc="-30" dirty="0">
                <a:cs typeface="Times New Roman" panose="02020603050405020304" pitchFamily="18" charset="0"/>
              </a:rPr>
              <a:t>Global </a:t>
            </a:r>
            <a:r>
              <a:rPr lang="en-US" sz="1400" b="1" spc="-15" dirty="0">
                <a:cs typeface="Times New Roman" panose="02020603050405020304" pitchFamily="18" charset="0"/>
              </a:rPr>
              <a:t>Optimal</a:t>
            </a:r>
            <a:r>
              <a:rPr lang="en-US" sz="1400" b="1" spc="135" dirty="0">
                <a:cs typeface="Times New Roman" panose="02020603050405020304" pitchFamily="18" charset="0"/>
              </a:rPr>
              <a:t> </a:t>
            </a:r>
            <a:r>
              <a:rPr lang="en-US" sz="1400" b="1" spc="-20" dirty="0">
                <a:cs typeface="Times New Roman" panose="02020603050405020304" pitchFamily="18" charset="0"/>
              </a:rPr>
              <a:t>Solution?</a:t>
            </a:r>
          </a:p>
          <a:p>
            <a:pPr marL="575310" marR="5080" indent="-285750" algn="just">
              <a:lnSpc>
                <a:spcPct val="1026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US" sz="1400" spc="-15" dirty="0">
                <a:cs typeface="Times New Roman" panose="02020603050405020304" pitchFamily="18" charset="0"/>
              </a:rPr>
              <a:t>Optimal </a:t>
            </a:r>
            <a:r>
              <a:rPr lang="en-US" sz="1400" spc="-25" dirty="0">
                <a:cs typeface="Times New Roman" panose="02020603050405020304" pitchFamily="18" charset="0"/>
              </a:rPr>
              <a:t>Solution </a:t>
            </a:r>
            <a:r>
              <a:rPr lang="en-US" sz="1400" spc="-15" dirty="0">
                <a:cs typeface="Times New Roman" panose="02020603050405020304" pitchFamily="18" charset="0"/>
              </a:rPr>
              <a:t>to </a:t>
            </a:r>
            <a:r>
              <a:rPr lang="en-US" sz="1400" spc="-40" dirty="0">
                <a:cs typeface="Times New Roman" panose="02020603050405020304" pitchFamily="18" charset="0"/>
              </a:rPr>
              <a:t>the main </a:t>
            </a:r>
            <a:r>
              <a:rPr lang="en-US" sz="1400" spc="-55" dirty="0">
                <a:cs typeface="Times New Roman" panose="02020603050405020304" pitchFamily="18" charset="0"/>
              </a:rPr>
              <a:t>problem</a:t>
            </a:r>
            <a:r>
              <a:rPr lang="en-US" sz="1400" spc="-10" dirty="0">
                <a:latin typeface="+mj-lt"/>
                <a:cs typeface="Times New Roman" panose="02020603050405020304" pitchFamily="18" charset="0"/>
              </a:rPr>
              <a:t>       </a:t>
            </a:r>
          </a:p>
          <a:p>
            <a:pPr marL="12700" marR="950594" indent="276860" algn="just">
              <a:lnSpc>
                <a:spcPct val="125299"/>
              </a:lnSpc>
            </a:pPr>
            <a:endParaRPr lang="en-US" sz="600" b="1" spc="-10" dirty="0">
              <a:latin typeface="+mj-lt"/>
              <a:cs typeface="Times New Roman" panose="02020603050405020304" pitchFamily="18" charset="0"/>
            </a:endParaRPr>
          </a:p>
          <a:p>
            <a:pPr marL="12700" marR="950594" indent="276860" algn="just">
              <a:lnSpc>
                <a:spcPct val="125299"/>
              </a:lnSpc>
            </a:pPr>
            <a:r>
              <a:rPr sz="1400" b="1" spc="-1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1400" b="1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b="1" spc="-20" dirty="0">
                <a:latin typeface="+mj-lt"/>
                <a:cs typeface="Times New Roman" panose="02020603050405020304" pitchFamily="18" charset="0"/>
              </a:rPr>
              <a:t>local </a:t>
            </a:r>
            <a:r>
              <a:rPr sz="1400" b="1" spc="-1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b="1" spc="12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b="1" spc="-25" dirty="0">
                <a:latin typeface="+mj-lt"/>
                <a:cs typeface="Times New Roman" panose="02020603050405020304" pitchFamily="18" charset="0"/>
              </a:rPr>
              <a:t>Solution?</a:t>
            </a:r>
            <a:endParaRPr sz="1400" b="1" dirty="0">
              <a:latin typeface="+mj-lt"/>
              <a:cs typeface="Times New Roman" panose="02020603050405020304" pitchFamily="18" charset="0"/>
            </a:endParaRPr>
          </a:p>
          <a:p>
            <a:pPr marL="575310" indent="-285750" algn="just">
              <a:lnSpc>
                <a:spcPct val="100000"/>
              </a:lnSpc>
              <a:spcBef>
                <a:spcPts val="330"/>
              </a:spcBef>
              <a:buFont typeface="Courier New" panose="02070309020205020404" pitchFamily="49" charset="0"/>
              <a:buChar char="o"/>
            </a:pPr>
            <a:r>
              <a:rPr lang="en-US" sz="1400" spc="-15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Optimal </a:t>
            </a:r>
            <a:r>
              <a:rPr sz="1400" spc="-25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to </a:t>
            </a:r>
            <a:r>
              <a:rPr sz="1400" spc="-40" dirty="0">
                <a:latin typeface="+mj-lt"/>
                <a:cs typeface="Times New Roman" panose="02020603050405020304" pitchFamily="18" charset="0"/>
              </a:rPr>
              <a:t>the</a:t>
            </a:r>
            <a:r>
              <a:rPr sz="1400" spc="114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60" dirty="0" err="1">
                <a:latin typeface="+mj-lt"/>
                <a:cs typeface="Times New Roman" panose="02020603050405020304" pitchFamily="18" charset="0"/>
              </a:rPr>
              <a:t>subproblems</a:t>
            </a:r>
            <a:endParaRPr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5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93800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147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8122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13466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638035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825510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76134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634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507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6380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50098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425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52400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6959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5689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94333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6826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432415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4197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4070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943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93577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93800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147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8122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13466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638035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825510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76134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634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507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6380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50098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425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52400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6959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56890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94333"/>
            <a:ext cx="50751" cy="12752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6826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432415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4197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4070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943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93577"/>
            <a:ext cx="2915983" cy="8756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7294" y="2490087"/>
            <a:ext cx="941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24876" y="2490087"/>
            <a:ext cx="48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453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810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3197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540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8784"/>
            <a:ext cx="50751" cy="5093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6247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687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41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014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87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00835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5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52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00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74736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20327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07627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45069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9005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83152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704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577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450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44327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23057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5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88995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2668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67291"/>
            <a:ext cx="50751" cy="3080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33283"/>
            <a:ext cx="3989704" cy="193040"/>
          </a:xfrm>
          <a:custGeom>
            <a:avLst/>
            <a:gdLst/>
            <a:ahLst/>
            <a:cxnLst/>
            <a:rect l="l" t="t" r="r" b="b"/>
            <a:pathLst>
              <a:path w="3989704" h="193039">
                <a:moveTo>
                  <a:pt x="3989652" y="0"/>
                </a:moveTo>
                <a:lnTo>
                  <a:pt x="0" y="0"/>
                </a:lnTo>
                <a:lnTo>
                  <a:pt x="0" y="142085"/>
                </a:lnTo>
                <a:lnTo>
                  <a:pt x="4008" y="161809"/>
                </a:lnTo>
                <a:lnTo>
                  <a:pt x="14922" y="177962"/>
                </a:lnTo>
                <a:lnTo>
                  <a:pt x="31075" y="188876"/>
                </a:lnTo>
                <a:lnTo>
                  <a:pt x="50800" y="192885"/>
                </a:lnTo>
                <a:lnTo>
                  <a:pt x="3938852" y="192885"/>
                </a:lnTo>
                <a:lnTo>
                  <a:pt x="3958576" y="188876"/>
                </a:lnTo>
                <a:lnTo>
                  <a:pt x="3974729" y="177962"/>
                </a:lnTo>
                <a:lnTo>
                  <a:pt x="3985644" y="161809"/>
                </a:lnTo>
                <a:lnTo>
                  <a:pt x="3989652" y="142085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905390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28902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926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799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672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40824"/>
            <a:ext cx="1958975" cy="7550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4.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95" dirty="0">
                <a:latin typeface="Tahoma"/>
                <a:cs typeface="Tahoma"/>
              </a:rPr>
              <a:t>Is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only </a:t>
            </a:r>
            <a:r>
              <a:rPr sz="1100" spc="-15" dirty="0">
                <a:latin typeface="Tahoma"/>
                <a:cs typeface="Tahoma"/>
              </a:rPr>
              <a:t>“correct”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answer?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039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396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7824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126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4631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2106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273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00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73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46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291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4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9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0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66824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241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99715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37145"/>
            <a:ext cx="50751" cy="12752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1093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5240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25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498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371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6402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1360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9064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77299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6363"/>
            <a:ext cx="3938802" cy="1143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5595"/>
            <a:ext cx="50751" cy="3234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1585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3692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09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82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55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47294" y="2411563"/>
            <a:ext cx="941705" cy="5899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24876" y="2411563"/>
            <a:ext cx="487680" cy="3187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7294" y="2978224"/>
            <a:ext cx="1658620" cy="4743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45" dirty="0">
                <a:latin typeface="Tahoma"/>
                <a:cs typeface="Tahoma"/>
              </a:rPr>
              <a:t>How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about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275"/>
              </a:spcBef>
            </a:pP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Licensed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039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396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7824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126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4631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2106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273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00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73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46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291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4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9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0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66824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241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9971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37145"/>
            <a:ext cx="50751" cy="12752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1093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5240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25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498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371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6402"/>
            <a:ext cx="2915983" cy="8756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1360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9064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77299"/>
            <a:ext cx="3989651" cy="506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636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5595"/>
            <a:ext cx="50751" cy="3234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1585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3692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09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82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55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32899"/>
            <a:ext cx="2102485" cy="758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How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about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9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38695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9947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6122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7247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2930"/>
            <a:ext cx="50751" cy="5170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0391"/>
            <a:ext cx="3989704" cy="380365"/>
          </a:xfrm>
          <a:custGeom>
            <a:avLst/>
            <a:gdLst/>
            <a:ahLst/>
            <a:cxnLst/>
            <a:rect l="l" t="t" r="r" b="b"/>
            <a:pathLst>
              <a:path w="3989704" h="380365">
                <a:moveTo>
                  <a:pt x="3989652" y="0"/>
                </a:moveTo>
                <a:lnTo>
                  <a:pt x="0" y="0"/>
                </a:lnTo>
                <a:lnTo>
                  <a:pt x="0" y="329555"/>
                </a:lnTo>
                <a:lnTo>
                  <a:pt x="4008" y="349280"/>
                </a:lnTo>
                <a:lnTo>
                  <a:pt x="14922" y="365433"/>
                </a:lnTo>
                <a:lnTo>
                  <a:pt x="31075" y="376347"/>
                </a:lnTo>
                <a:lnTo>
                  <a:pt x="50800" y="380355"/>
                </a:lnTo>
                <a:lnTo>
                  <a:pt x="3938852" y="380355"/>
                </a:lnTo>
                <a:lnTo>
                  <a:pt x="3958576" y="376347"/>
                </a:lnTo>
                <a:lnTo>
                  <a:pt x="3974729" y="365433"/>
                </a:lnTo>
                <a:lnTo>
                  <a:pt x="3985644" y="349280"/>
                </a:lnTo>
                <a:lnTo>
                  <a:pt x="3989652" y="329555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1014"/>
            <a:ext cx="0" cy="498475"/>
          </a:xfrm>
          <a:custGeom>
            <a:avLst/>
            <a:gdLst/>
            <a:ahLst/>
            <a:cxnLst/>
            <a:rect l="l" t="t" r="r" b="b"/>
            <a:pathLst>
              <a:path h="498475">
                <a:moveTo>
                  <a:pt x="0" y="4979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83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56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29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6339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857750" cy="1350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75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897255">
              <a:lnSpc>
                <a:spcPct val="102600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 </a:t>
            </a:r>
            <a:r>
              <a:rPr sz="1100" i="1" spc="-50" dirty="0">
                <a:latin typeface="+mj-lt"/>
                <a:cs typeface="Trebuchet MS"/>
              </a:rPr>
              <a:t>and </a:t>
            </a:r>
            <a:r>
              <a:rPr sz="1100" spc="-60" dirty="0">
                <a:latin typeface="+mj-lt"/>
                <a:cs typeface="Lucida Sans Unicode"/>
              </a:rPr>
              <a:t>|</a:t>
            </a:r>
            <a:r>
              <a:rPr sz="1100" i="1" spc="-60" dirty="0">
                <a:latin typeface="+mj-lt"/>
                <a:cs typeface="Trebuchet MS"/>
              </a:rPr>
              <a:t>A</a:t>
            </a:r>
            <a:r>
              <a:rPr sz="1100" spc="-60" dirty="0">
                <a:latin typeface="+mj-lt"/>
                <a:cs typeface="Lucida Sans Unicode"/>
              </a:rPr>
              <a:t>| </a:t>
            </a:r>
            <a:r>
              <a:rPr sz="1100" spc="-35" dirty="0">
                <a:latin typeface="+mj-lt"/>
                <a:cs typeface="Tahoma"/>
              </a:rPr>
              <a:t>is</a:t>
            </a:r>
            <a:r>
              <a:rPr sz="1100" spc="-55" dirty="0">
                <a:latin typeface="+mj-lt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+mj-lt"/>
                <a:cs typeface="Tahoma"/>
              </a:rPr>
              <a:t>maximized</a:t>
            </a:r>
            <a:r>
              <a:rPr sz="1100" spc="-4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 marL="397510">
              <a:lnSpc>
                <a:spcPct val="100000"/>
              </a:lnSpc>
              <a:spcBef>
                <a:spcPts val="1505"/>
              </a:spcBef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7024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5831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0313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40573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450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8656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59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532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405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9818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221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9194" y="2978162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9994" y="3179915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7214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6445"/>
            <a:ext cx="50751" cy="32346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2436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4543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18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91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64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36328"/>
            <a:ext cx="3140075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9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sz="1100" b="1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FF0000"/>
                </a:solidFill>
                <a:latin typeface="Arial"/>
                <a:cs typeface="Arial"/>
              </a:rPr>
              <a:t>many?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7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Brute 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force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" y="405892"/>
            <a:ext cx="4495800" cy="30242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68604" y="629579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47650" y="1044575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47650" y="1425575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6396" y="1897106"/>
            <a:ext cx="4465505" cy="624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23850" y="2499409"/>
            <a:ext cx="3962400" cy="466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23850" y="2981745"/>
            <a:ext cx="4038600" cy="42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3607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endParaRPr spc="5" dirty="0"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" y="413666"/>
            <a:ext cx="4460699" cy="297171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71450" y="1084616"/>
            <a:ext cx="4191000" cy="417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8412" y="1501775"/>
            <a:ext cx="41910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71450" y="1924979"/>
            <a:ext cx="41910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71450" y="2270809"/>
            <a:ext cx="4191000" cy="2500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5249" y="2644774"/>
            <a:ext cx="4417785" cy="740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983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4576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94067"/>
            <a:ext cx="4040403" cy="1583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51876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4858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6079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32158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94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67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40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93627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5026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4005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8789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901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754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7305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7903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6743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11540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5473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62324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63545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9624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6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24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1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88858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058771" y="3018759"/>
            <a:ext cx="4908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spc="-85" dirty="0">
                <a:latin typeface="Lucida Sans Unicode"/>
                <a:cs typeface="Lucida Sans Unicode"/>
              </a:rPr>
              <a:t>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8385"/>
            <a:ext cx="1918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8385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7294" y="1617695"/>
            <a:ext cx="2515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7294" y="1958385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26902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236429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80539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23729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131323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32544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3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57857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70108"/>
            <a:ext cx="1103630" cy="3822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81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9621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Shortest First</a:t>
            </a:r>
            <a:r>
              <a:rPr sz="900" i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0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2.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729189"/>
            <a:ext cx="2515235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2.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26902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236429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80539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23729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131323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32544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3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57857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70108"/>
            <a:ext cx="1103630" cy="3822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81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9621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Shortest First</a:t>
            </a:r>
            <a:r>
              <a:rPr sz="900" i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0" dirty="0">
                <a:latin typeface="Arial"/>
                <a:cs typeface="Arial"/>
              </a:rPr>
              <a:t>3.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729189"/>
            <a:ext cx="2515235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843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390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72668"/>
            <a:ext cx="4040403" cy="1583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91207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23457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4678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10757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80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53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726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72227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8862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865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7389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761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614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84908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75518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8504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29155"/>
            <a:ext cx="4040403" cy="158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7234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79938"/>
            <a:ext cx="50751" cy="11051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81160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67239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54539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4183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2913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06473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18724"/>
            <a:ext cx="1103630" cy="4337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1220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65061" y="1624304"/>
            <a:ext cx="3487420" cy="177165"/>
          </a:xfrm>
          <a:custGeom>
            <a:avLst/>
            <a:gdLst/>
            <a:ahLst/>
            <a:cxnLst/>
            <a:rect l="l" t="t" r="r" b="b"/>
            <a:pathLst>
              <a:path w="3487420" h="177164">
                <a:moveTo>
                  <a:pt x="0" y="177139"/>
                </a:moveTo>
                <a:lnTo>
                  <a:pt x="3487178" y="177139"/>
                </a:lnTo>
                <a:lnTo>
                  <a:pt x="3487178" y="0"/>
                </a:lnTo>
                <a:lnTo>
                  <a:pt x="0" y="0"/>
                </a:lnTo>
                <a:lnTo>
                  <a:pt x="0" y="177139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0321" y="1614774"/>
            <a:ext cx="1769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This </a:t>
            </a:r>
            <a:r>
              <a:rPr sz="900" spc="-20" dirty="0">
                <a:latin typeface="Arial"/>
                <a:cs typeface="Arial"/>
              </a:rPr>
              <a:t>strategy </a:t>
            </a:r>
            <a:r>
              <a:rPr sz="900" spc="-40" dirty="0">
                <a:latin typeface="Arial"/>
                <a:cs typeface="Arial"/>
              </a:rPr>
              <a:t>is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55" dirty="0">
                <a:latin typeface="Arial"/>
                <a:cs typeface="Arial"/>
              </a:rPr>
              <a:t>one </a:t>
            </a:r>
            <a:r>
              <a:rPr sz="900" spc="20" dirty="0">
                <a:latin typeface="Arial"/>
                <a:cs typeface="Arial"/>
              </a:rPr>
              <a:t>that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works.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1621777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2534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54767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994" y="1803971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65061" y="1624304"/>
            <a:ext cx="3487420" cy="177165"/>
          </a:xfrm>
          <a:custGeom>
            <a:avLst/>
            <a:gdLst/>
            <a:ahLst/>
            <a:cxnLst/>
            <a:rect l="l" t="t" r="r" b="b"/>
            <a:pathLst>
              <a:path w="3487420" h="177164">
                <a:moveTo>
                  <a:pt x="0" y="177139"/>
                </a:moveTo>
                <a:lnTo>
                  <a:pt x="3487178" y="177139"/>
                </a:lnTo>
                <a:lnTo>
                  <a:pt x="3487178" y="0"/>
                </a:lnTo>
                <a:lnTo>
                  <a:pt x="0" y="0"/>
                </a:lnTo>
                <a:lnTo>
                  <a:pt x="0" y="177139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0321" y="1614774"/>
            <a:ext cx="343725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This </a:t>
            </a:r>
            <a:r>
              <a:rPr sz="900" spc="-20" dirty="0">
                <a:latin typeface="Arial"/>
                <a:cs typeface="Arial"/>
              </a:rPr>
              <a:t>strategy </a:t>
            </a:r>
            <a:r>
              <a:rPr sz="900" spc="-40" dirty="0">
                <a:latin typeface="Arial"/>
                <a:cs typeface="Arial"/>
              </a:rPr>
              <a:t>is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55" dirty="0">
                <a:latin typeface="Arial"/>
                <a:cs typeface="Arial"/>
              </a:rPr>
              <a:t>one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35" dirty="0">
                <a:latin typeface="Arial"/>
                <a:cs typeface="Arial"/>
              </a:rPr>
              <a:t>works. </a:t>
            </a:r>
            <a:r>
              <a:rPr sz="900" spc="20" dirty="0">
                <a:latin typeface="Arial"/>
                <a:cs typeface="Arial"/>
              </a:rPr>
              <a:t>But </a:t>
            </a:r>
            <a:r>
              <a:rPr sz="900" spc="-45" dirty="0">
                <a:latin typeface="Arial"/>
                <a:cs typeface="Arial"/>
              </a:rPr>
              <a:t>can you </a:t>
            </a:r>
            <a:r>
              <a:rPr sz="900" spc="-40" dirty="0">
                <a:latin typeface="Arial"/>
                <a:cs typeface="Arial"/>
              </a:rPr>
              <a:t>prove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45" dirty="0">
                <a:latin typeface="Arial"/>
                <a:cs typeface="Arial"/>
              </a:rPr>
              <a:t>works?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1621777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2534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54767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994" y="1803971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507056"/>
            <a:ext cx="3888205" cy="11676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507056"/>
            <a:ext cx="3888205" cy="11676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2032491"/>
            <a:ext cx="3888205" cy="11676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2158555" y="1674685"/>
            <a:ext cx="146495" cy="2842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434975"/>
            <a:ext cx="4424093" cy="259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1" y="53975"/>
            <a:ext cx="4514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An </a:t>
            </a:r>
            <a:r>
              <a:rPr lang="en-US" sz="1400" b="1" i="1" dirty="0"/>
              <a:t>O</a:t>
            </a:r>
            <a:r>
              <a:rPr lang="en-US" sz="1400" b="1" dirty="0"/>
              <a:t>(</a:t>
            </a:r>
            <a:r>
              <a:rPr lang="en-US" sz="1400" b="1" i="1" dirty="0"/>
              <a:t>n </a:t>
            </a:r>
            <a:r>
              <a:rPr lang="en-US" sz="1400" b="1" dirty="0" err="1"/>
              <a:t>lg</a:t>
            </a:r>
            <a:r>
              <a:rPr lang="en-US" sz="1400" b="1" dirty="0"/>
              <a:t> </a:t>
            </a:r>
            <a:r>
              <a:rPr lang="en-US" sz="1400" b="1" i="1" dirty="0"/>
              <a:t>n</a:t>
            </a:r>
            <a:r>
              <a:rPr lang="en-US" sz="1400" b="1" dirty="0"/>
              <a:t>) greedy algorithm for interval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" y="2111375"/>
            <a:ext cx="4424093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4"/>
          <p:cNvSpPr>
            <a:spLocks noGrp="1" noChangeArrowheads="1"/>
          </p:cNvSpPr>
          <p:nvPr>
            <p:ph idx="1"/>
          </p:nvPr>
        </p:nvSpPr>
        <p:spPr>
          <a:xfrm>
            <a:off x="314799" y="422754"/>
            <a:ext cx="3285651" cy="240821"/>
          </a:xfrm>
        </p:spPr>
        <p:txBody>
          <a:bodyPr/>
          <a:lstStyle/>
          <a:p>
            <a:pPr eaLnBrk="1" hangingPunct="1"/>
            <a:r>
              <a:rPr lang="en-US" sz="1210"/>
              <a:t>Here are a set of start and finish times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77021"/>
              </p:ext>
            </p:extLst>
          </p:nvPr>
        </p:nvGraphicFramePr>
        <p:xfrm>
          <a:off x="729932" y="671864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" y="160061"/>
            <a:ext cx="4590891" cy="340955"/>
          </a:xfrm>
          <a:prstGeom prst="rect">
            <a:avLst/>
          </a:prstGeom>
        </p:spPr>
        <p:txBody>
          <a:bodyPr vert="horz" lIns="46101" tIns="23051" rIns="46101" bIns="23051" rtlCol="0" anchor="t">
            <a:normAutofit fontScale="7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218" b="1" dirty="0">
                <a:solidFill>
                  <a:prstClr val="black"/>
                </a:solidFill>
                <a:latin typeface="Calibri Light"/>
                <a:cs typeface="Arial" charset="0"/>
              </a:rPr>
              <a:t>Activity Selection a.k.a. Interval Scheduling Problem</a:t>
            </a:r>
          </a:p>
        </p:txBody>
      </p:sp>
    </p:spTree>
    <p:extLst>
      <p:ext uri="{BB962C8B-B14F-4D97-AF65-F5344CB8AC3E}">
        <p14:creationId xmlns:p14="http://schemas.microsoft.com/office/powerpoint/2010/main" val="3972774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4"/>
          <p:cNvSpPr>
            <a:spLocks noGrp="1" noChangeArrowheads="1"/>
          </p:cNvSpPr>
          <p:nvPr>
            <p:ph idx="1"/>
          </p:nvPr>
        </p:nvSpPr>
        <p:spPr>
          <a:xfrm>
            <a:off x="314799" y="422754"/>
            <a:ext cx="3285651" cy="240821"/>
          </a:xfrm>
        </p:spPr>
        <p:txBody>
          <a:bodyPr/>
          <a:lstStyle/>
          <a:p>
            <a:pPr eaLnBrk="1" hangingPunct="1"/>
            <a:r>
              <a:rPr lang="en-US" sz="1210"/>
              <a:t>Here are a set of start and finish times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137342"/>
              </p:ext>
            </p:extLst>
          </p:nvPr>
        </p:nvGraphicFramePr>
        <p:xfrm>
          <a:off x="729932" y="671864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" y="160061"/>
            <a:ext cx="4590891" cy="340955"/>
          </a:xfrm>
          <a:prstGeom prst="rect">
            <a:avLst/>
          </a:prstGeom>
        </p:spPr>
        <p:txBody>
          <a:bodyPr vert="horz" lIns="46101" tIns="23051" rIns="46101" bIns="23051" rtlCol="0" anchor="t">
            <a:normAutofit fontScale="7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218" b="1" dirty="0">
                <a:solidFill>
                  <a:prstClr val="black"/>
                </a:solidFill>
                <a:latin typeface="Calibri Light"/>
                <a:cs typeface="Arial" charset="0"/>
              </a:rPr>
              <a:t>Activity Selection a.k.a. Interval Scheduling Problem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53184"/>
              </p:ext>
            </p:extLst>
          </p:nvPr>
        </p:nvGraphicFramePr>
        <p:xfrm>
          <a:off x="704850" y="1984763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>
          <a:xfrm>
            <a:off x="2076450" y="1375163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27842" y="2668496"/>
            <a:ext cx="4600339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prstClr val="black"/>
                </a:solidFill>
                <a:cs typeface="Arial" charset="0"/>
              </a:rPr>
              <a:t> {1, 4, 8, 11} which is a larger set (</a:t>
            </a:r>
            <a:r>
              <a:rPr lang="en-US" sz="1200" i="1" u="sng" dirty="0">
                <a:solidFill>
                  <a:prstClr val="black"/>
                </a:solidFill>
                <a:cs typeface="Arial" charset="0"/>
              </a:rPr>
              <a:t>an optimal solution</a:t>
            </a:r>
            <a:r>
              <a:rPr lang="en-US" sz="1200" dirty="0">
                <a:solidFill>
                  <a:prstClr val="black"/>
                </a:solidFill>
                <a:cs typeface="Arial" charset="0"/>
              </a:rPr>
              <a:t>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prstClr val="black"/>
                </a:solidFill>
                <a:cs typeface="Arial" charset="0"/>
              </a:rPr>
              <a:t> Solution is not unique, consider {2, 4, 9, 11}  (another optimal solution)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</a:pPr>
            <a:endParaRPr lang="en-US" sz="1200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51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5" y="440835"/>
            <a:ext cx="4329454" cy="2286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9" y="454903"/>
            <a:ext cx="4286059" cy="2300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1" y="443183"/>
            <a:ext cx="4331262" cy="233838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43" y="2783106"/>
            <a:ext cx="4309679" cy="66958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2809754"/>
            <a:ext cx="4494022" cy="650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121015"/>
            <a:ext cx="4608195" cy="9239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4879003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0" y="121015"/>
            <a:ext cx="4608195" cy="1468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5"/>
              </a:spcBef>
            </a:pPr>
            <a:r>
              <a:rPr sz="1100" spc="-20" dirty="0">
                <a:latin typeface="Tahoma"/>
                <a:cs typeface="Tahoma"/>
              </a:rPr>
              <a:t>Coin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denominations,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35" dirty="0">
                <a:latin typeface="Trebuchet MS"/>
                <a:cs typeface="Trebuchet MS"/>
              </a:rPr>
              <a:t>C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70" dirty="0">
                <a:latin typeface="Tahoma"/>
                <a:cs typeface="Tahoma"/>
              </a:rPr>
              <a:t>10</a:t>
            </a:r>
            <a:r>
              <a:rPr sz="1100" i="1" spc="-7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38034"/>
      </p:ext>
    </p:extLst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531130"/>
      </p:ext>
    </p:extLst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4395" y="1491282"/>
            <a:ext cx="304355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9985521"/>
      </p:ext>
    </p:extLst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6413158"/>
      </p:ext>
    </p:extLst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4395" y="1911347"/>
            <a:ext cx="276669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71953"/>
      </p:ext>
    </p:extLst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395" y="216515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7294" y="2375190"/>
            <a:ext cx="3693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optimal):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25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8263281"/>
      </p:ext>
    </p:extLst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395" y="216515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09193" y="2757423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8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9194" y="2931325"/>
            <a:ext cx="3989651" cy="506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9994" y="311768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0794" y="3104984"/>
            <a:ext cx="3938802" cy="114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98846" y="2801658"/>
            <a:ext cx="50751" cy="31602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9193" y="2975599"/>
            <a:ext cx="3989704" cy="193040"/>
          </a:xfrm>
          <a:custGeom>
            <a:avLst/>
            <a:gdLst/>
            <a:ahLst/>
            <a:cxnLst/>
            <a:rect l="l" t="t" r="r" b="b"/>
            <a:pathLst>
              <a:path w="3989704" h="193039">
                <a:moveTo>
                  <a:pt x="3989652" y="0"/>
                </a:moveTo>
                <a:lnTo>
                  <a:pt x="0" y="0"/>
                </a:lnTo>
                <a:lnTo>
                  <a:pt x="0" y="142085"/>
                </a:lnTo>
                <a:lnTo>
                  <a:pt x="4008" y="161809"/>
                </a:lnTo>
                <a:lnTo>
                  <a:pt x="14922" y="177962"/>
                </a:lnTo>
                <a:lnTo>
                  <a:pt x="31075" y="188876"/>
                </a:lnTo>
                <a:lnTo>
                  <a:pt x="50800" y="192885"/>
                </a:lnTo>
                <a:lnTo>
                  <a:pt x="3938852" y="192885"/>
                </a:lnTo>
                <a:lnTo>
                  <a:pt x="3958576" y="188876"/>
                </a:lnTo>
                <a:lnTo>
                  <a:pt x="3974729" y="177962"/>
                </a:lnTo>
                <a:lnTo>
                  <a:pt x="3985644" y="161809"/>
                </a:lnTo>
                <a:lnTo>
                  <a:pt x="3989652" y="142085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98846" y="2839746"/>
            <a:ext cx="0" cy="297180"/>
          </a:xfrm>
          <a:custGeom>
            <a:avLst/>
            <a:gdLst/>
            <a:ahLst/>
            <a:cxnLst/>
            <a:rect l="l" t="t" r="r" b="b"/>
            <a:pathLst>
              <a:path h="297180">
                <a:moveTo>
                  <a:pt x="0" y="29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98846" y="28270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98846" y="28143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98846" y="28016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47294" y="2375190"/>
            <a:ext cx="3693795" cy="762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optimal):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25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spc="-40" dirty="0">
                <a:latin typeface="Tahoma"/>
                <a:cs typeface="Tahoma"/>
              </a:rPr>
              <a:t>Does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65" dirty="0">
                <a:latin typeface="Tahoma"/>
                <a:cs typeface="Tahoma"/>
              </a:rPr>
              <a:t>greedy </a:t>
            </a:r>
            <a:r>
              <a:rPr sz="1100" spc="-55" dirty="0">
                <a:latin typeface="Tahoma"/>
                <a:cs typeface="Tahoma"/>
              </a:rPr>
              <a:t>approach </a:t>
            </a:r>
            <a:r>
              <a:rPr sz="1100" spc="-65" dirty="0">
                <a:latin typeface="Tahoma"/>
                <a:cs typeface="Tahoma"/>
              </a:rPr>
              <a:t>always </a:t>
            </a:r>
            <a:r>
              <a:rPr sz="1100" spc="-55" dirty="0">
                <a:latin typeface="Tahoma"/>
                <a:cs typeface="Tahoma"/>
              </a:rPr>
              <a:t>produce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25" dirty="0">
                <a:latin typeface="Tahoma"/>
                <a:cs typeface="Tahoma"/>
              </a:rPr>
              <a:t>optimal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8753704"/>
      </p:ext>
    </p:extLst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533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14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965"/>
              </a:spcBef>
              <a:tabLst>
                <a:tab pos="2668905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499958"/>
      </p:ext>
    </p:extLst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784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05" dirty="0"/>
              <a:t> </a:t>
            </a:r>
            <a:r>
              <a:rPr spc="5" dirty="0"/>
              <a:t>(continued)</a:t>
            </a:r>
          </a:p>
          <a:p>
            <a:pPr marL="359410" marR="351790">
              <a:lnSpc>
                <a:spcPct val="149600"/>
              </a:lnSpc>
              <a:spcBef>
                <a:spcPts val="309"/>
              </a:spcBef>
              <a:tabLst>
                <a:tab pos="2668905" algn="l"/>
              </a:tabLst>
            </a:pP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Coin 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denominations, </a:t>
            </a:r>
            <a:r>
              <a:rPr sz="1100" i="1" spc="35" dirty="0">
                <a:solidFill>
                  <a:srgbClr val="000000"/>
                </a:solidFill>
                <a:latin typeface="Trebuchet MS"/>
                <a:cs typeface="Trebuchet MS"/>
              </a:rPr>
              <a:t>C </a:t>
            </a:r>
            <a:r>
              <a:rPr sz="1100" spc="45" dirty="0">
                <a:solidFill>
                  <a:srgbClr val="000000"/>
                </a:solidFill>
                <a:latin typeface="Tahoma"/>
                <a:cs typeface="Tahoma"/>
              </a:rPr>
              <a:t>= </a:t>
            </a:r>
            <a:r>
              <a:rPr sz="1100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{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12</a:t>
            </a:r>
            <a:r>
              <a:rPr sz="1100" i="1" spc="-10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1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r>
              <a:rPr sz="1100" i="1" spc="-80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spc="60" dirty="0">
                <a:solidFill>
                  <a:srgbClr val="000000"/>
                </a:solidFill>
                <a:latin typeface="Tahoma"/>
                <a:cs typeface="Tahoma"/>
              </a:rPr>
              <a:t>1</a:t>
            </a:r>
            <a:r>
              <a:rPr sz="1100" spc="60" dirty="0">
                <a:solidFill>
                  <a:srgbClr val="000000"/>
                </a:solidFill>
                <a:latin typeface="Lucida Sans Unicode"/>
                <a:cs typeface="Lucida Sans Unicode"/>
              </a:rPr>
              <a:t>}	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Amount </a:t>
            </a:r>
            <a:r>
              <a:rPr sz="1100" spc="-15" dirty="0">
                <a:solidFill>
                  <a:srgbClr val="000000"/>
                </a:solidFill>
                <a:latin typeface="Tahoma"/>
                <a:cs typeface="Tahoma"/>
              </a:rPr>
              <a:t>to </a:t>
            </a:r>
            <a:r>
              <a:rPr sz="1100" spc="-55" dirty="0">
                <a:solidFill>
                  <a:srgbClr val="000000"/>
                </a:solidFill>
                <a:latin typeface="Tahoma"/>
                <a:cs typeface="Tahoma"/>
              </a:rPr>
              <a:t>change, </a:t>
            </a:r>
            <a:r>
              <a:rPr sz="1100" i="1" spc="55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1100" spc="45" dirty="0">
                <a:solidFill>
                  <a:srgbClr val="000000"/>
                </a:solidFill>
                <a:latin typeface="Tahoma"/>
                <a:cs typeface="Tahoma"/>
              </a:rPr>
              <a:t>=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00"/>
                </a:solidFill>
                <a:latin typeface="Tahoma"/>
                <a:cs typeface="Tahoma"/>
              </a:rPr>
              <a:t>15  </a:t>
            </a:r>
            <a:r>
              <a:rPr sz="1100" spc="-40" dirty="0">
                <a:latin typeface="Tahoma"/>
                <a:cs typeface="Tahoma"/>
              </a:rPr>
              <a:t>Example </a:t>
            </a:r>
            <a:r>
              <a:rPr sz="1100" spc="-45" dirty="0">
                <a:latin typeface="Tahoma"/>
                <a:cs typeface="Tahoma"/>
              </a:rPr>
              <a:t>(using </a:t>
            </a:r>
            <a:r>
              <a:rPr sz="1100" spc="-65" dirty="0">
                <a:latin typeface="Tahoma"/>
                <a:cs typeface="Tahoma"/>
              </a:rPr>
              <a:t>greedy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6908824"/>
      </p:ext>
    </p:extLst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368839"/>
      </p:ext>
    </p:extLst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394" y="887918"/>
            <a:ext cx="335705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230536"/>
      </p:ext>
    </p:extLst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31284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294" y="1389721"/>
            <a:ext cx="1043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791365"/>
      </p:ext>
    </p:extLst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8998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3924869"/>
      </p:ext>
    </p:extLst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4" y="931696"/>
            <a:ext cx="308189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33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2094407"/>
      </p:ext>
    </p:extLst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862948"/>
            <a:ext cx="283591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372693"/>
      </p:ext>
    </p:extLst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394" y="2116758"/>
            <a:ext cx="31284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7294" y="2364751"/>
            <a:ext cx="1043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1331186"/>
      </p:ext>
    </p:extLst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395" y="2116758"/>
            <a:ext cx="2835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9193" y="2674391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8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9194" y="2848292"/>
            <a:ext cx="3989651" cy="5060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9994" y="3206737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0794" y="3194037"/>
            <a:ext cx="3938802" cy="1143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98846" y="2718625"/>
            <a:ext cx="50751" cy="4881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9193" y="2892575"/>
            <a:ext cx="3989704" cy="365125"/>
          </a:xfrm>
          <a:custGeom>
            <a:avLst/>
            <a:gdLst/>
            <a:ahLst/>
            <a:cxnLst/>
            <a:rect l="l" t="t" r="r" b="b"/>
            <a:pathLst>
              <a:path w="3989704" h="365125">
                <a:moveTo>
                  <a:pt x="3989652" y="0"/>
                </a:moveTo>
                <a:lnTo>
                  <a:pt x="0" y="0"/>
                </a:lnTo>
                <a:lnTo>
                  <a:pt x="0" y="314162"/>
                </a:lnTo>
                <a:lnTo>
                  <a:pt x="4008" y="333886"/>
                </a:lnTo>
                <a:lnTo>
                  <a:pt x="14922" y="350039"/>
                </a:lnTo>
                <a:lnTo>
                  <a:pt x="31075" y="360953"/>
                </a:lnTo>
                <a:lnTo>
                  <a:pt x="50800" y="364962"/>
                </a:lnTo>
                <a:lnTo>
                  <a:pt x="3938852" y="364962"/>
                </a:lnTo>
                <a:lnTo>
                  <a:pt x="3958576" y="360953"/>
                </a:lnTo>
                <a:lnTo>
                  <a:pt x="3974729" y="350039"/>
                </a:lnTo>
                <a:lnTo>
                  <a:pt x="3985644" y="333886"/>
                </a:lnTo>
                <a:lnTo>
                  <a:pt x="3989652" y="314162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98846" y="2756722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06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98846" y="274402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98846" y="273132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98846" y="27186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47294" y="2364751"/>
            <a:ext cx="3650615" cy="862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observation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0"/>
              </a:spcBef>
            </a:pPr>
            <a:r>
              <a:rPr sz="1100" spc="-50" dirty="0">
                <a:latin typeface="Tahoma"/>
                <a:cs typeface="Tahoma"/>
              </a:rPr>
              <a:t>Correctness </a:t>
            </a:r>
            <a:r>
              <a:rPr sz="1100" spc="-65" dirty="0">
                <a:latin typeface="Tahoma"/>
                <a:cs typeface="Tahoma"/>
              </a:rPr>
              <a:t>depends </a:t>
            </a:r>
            <a:r>
              <a:rPr sz="1100" spc="-55" dirty="0">
                <a:latin typeface="Tahoma"/>
                <a:cs typeface="Tahoma"/>
              </a:rPr>
              <a:t>on </a:t>
            </a:r>
            <a:r>
              <a:rPr sz="1100" spc="-40" dirty="0">
                <a:latin typeface="Tahoma"/>
                <a:cs typeface="Tahoma"/>
              </a:rPr>
              <a:t>the choice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greedy </a:t>
            </a:r>
            <a:r>
              <a:rPr sz="1100" spc="-40" dirty="0">
                <a:latin typeface="Tahoma"/>
                <a:cs typeface="Tahoma"/>
              </a:rPr>
              <a:t>strategy  </a:t>
            </a:r>
            <a:r>
              <a:rPr sz="1100" spc="-60" dirty="0">
                <a:latin typeface="Tahoma"/>
                <a:cs typeface="Tahoma"/>
              </a:rPr>
              <a:t>does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 </a:t>
            </a:r>
            <a:r>
              <a:rPr sz="1100" spc="-50" dirty="0">
                <a:latin typeface="Tahoma"/>
                <a:cs typeface="Tahoma"/>
              </a:rPr>
              <a:t>provide </a:t>
            </a:r>
            <a:r>
              <a:rPr sz="1100" spc="-55" dirty="0">
                <a:latin typeface="Tahoma"/>
                <a:cs typeface="Tahoma"/>
              </a:rPr>
              <a:t>a general </a:t>
            </a:r>
            <a:r>
              <a:rPr sz="1100" spc="-30" dirty="0">
                <a:latin typeface="Tahoma"/>
                <a:cs typeface="Tahoma"/>
              </a:rPr>
              <a:t>solution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45" dirty="0">
                <a:latin typeface="Tahoma"/>
                <a:cs typeface="Tahoma"/>
              </a:rPr>
              <a:t>problem!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5484964"/>
      </p:ext>
    </p:extLst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9" y="743861"/>
            <a:ext cx="4472315" cy="22329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3850" y="1860354"/>
            <a:ext cx="3733800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23849" y="2263775"/>
            <a:ext cx="3973061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47650" y="2698554"/>
            <a:ext cx="4114800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838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6" grpId="0" animBg="1"/>
      <p:bldP spid="3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7" y="739775"/>
            <a:ext cx="4427865" cy="203376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0846" y="1379518"/>
            <a:ext cx="4041604" cy="4270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0846" y="1806574"/>
            <a:ext cx="2974804" cy="6397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88718" y="2586114"/>
            <a:ext cx="4041604" cy="42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31670" y="1220889"/>
          <a:ext cx="1539875" cy="708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18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10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7294" y="2043949"/>
            <a:ext cx="9474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Capacity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W=20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22" y="463111"/>
            <a:ext cx="4379170" cy="28351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412" y="1273175"/>
            <a:ext cx="4041604" cy="42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3850" y="1700232"/>
            <a:ext cx="4114800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3850" y="1962828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3850" y="2263775"/>
            <a:ext cx="404160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3850" y="2710760"/>
            <a:ext cx="4041604" cy="391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23850" y="3128937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8"/>
          <p:cNvGraphicFramePr>
            <a:graphicFrameLocks noGrp="1"/>
          </p:cNvGraphicFramePr>
          <p:nvPr/>
        </p:nvGraphicFramePr>
        <p:xfrm>
          <a:off x="2838451" y="853145"/>
          <a:ext cx="13716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05179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37" y="1505263"/>
            <a:ext cx="4341955" cy="1228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5250" y="1985025"/>
            <a:ext cx="4114800" cy="748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567048"/>
              </p:ext>
            </p:extLst>
          </p:nvPr>
        </p:nvGraphicFramePr>
        <p:xfrm>
          <a:off x="1320355" y="627396"/>
          <a:ext cx="13716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16465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2" y="496492"/>
            <a:ext cx="4261244" cy="28842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3200" y="1437236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5714" y="1688171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9782" y="1971869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79298" y="2373971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51164" y="2797175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650" y="3205137"/>
            <a:ext cx="4041604" cy="255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0562" y="511175"/>
            <a:ext cx="4219322" cy="505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444035"/>
              </p:ext>
            </p:extLst>
          </p:nvPr>
        </p:nvGraphicFramePr>
        <p:xfrm>
          <a:off x="1619250" y="432320"/>
          <a:ext cx="13716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35600" y="1119994"/>
            <a:ext cx="4041604" cy="309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7343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29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20" y="1044575"/>
            <a:ext cx="4239742" cy="1076663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Grp="1"/>
          </p:cNvGraphicFramePr>
          <p:nvPr/>
        </p:nvGraphicFramePr>
        <p:xfrm>
          <a:off x="1847850" y="434975"/>
          <a:ext cx="1371600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482566"/>
              </p:ext>
            </p:extLst>
          </p:nvPr>
        </p:nvGraphicFramePr>
        <p:xfrm>
          <a:off x="247650" y="2243591"/>
          <a:ext cx="2205732" cy="835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Ratio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25/18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1.4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15/10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1.5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24/15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1.6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3882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15950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31670" y="2029180"/>
          <a:ext cx="1539875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47294" y="3035184"/>
            <a:ext cx="2279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Calculate </a:t>
            </a:r>
            <a:r>
              <a:rPr sz="1100" spc="-20" dirty="0">
                <a:latin typeface="Tahoma"/>
                <a:cs typeface="Tahoma"/>
              </a:rPr>
              <a:t>benefit/kg </a:t>
            </a:r>
            <a:r>
              <a:rPr sz="1100" spc="-55" dirty="0">
                <a:latin typeface="Tahoma"/>
                <a:cs typeface="Tahoma"/>
              </a:rPr>
              <a:t>–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value</a:t>
            </a:r>
            <a:r>
              <a:rPr sz="1100" spc="2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30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194353817"/>
      </p:ext>
    </p:extLst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21360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1130" y="2034590"/>
          <a:ext cx="2360930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88315" y="3044191"/>
            <a:ext cx="2045335" cy="43878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30" dirty="0">
                <a:latin typeface="Tahoma"/>
                <a:cs typeface="Tahoma"/>
              </a:rPr>
              <a:t>Sort </a:t>
            </a:r>
            <a:r>
              <a:rPr sz="1100" spc="-65" dirty="0">
                <a:latin typeface="Tahoma"/>
                <a:cs typeface="Tahoma"/>
              </a:rPr>
              <a:t>by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non-increasing </a:t>
            </a:r>
            <a:r>
              <a:rPr sz="1100" spc="-50" dirty="0">
                <a:latin typeface="Tahoma"/>
                <a:cs typeface="Tahoma"/>
              </a:rPr>
              <a:t>value</a:t>
            </a:r>
            <a:r>
              <a:rPr sz="1100" spc="19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index.</a:t>
            </a:r>
            <a:endParaRPr sz="1100" dirty="0">
              <a:latin typeface="Tahoma"/>
              <a:cs typeface="Tahoma"/>
            </a:endParaRPr>
          </a:p>
          <a:p>
            <a:pPr marL="1127760">
              <a:lnSpc>
                <a:spcPct val="100000"/>
              </a:lnSpc>
              <a:spcBef>
                <a:spcPts val="1000"/>
              </a:spcBef>
            </a:pP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Licensed</a:t>
            </a:r>
            <a:r>
              <a:rPr sz="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877738"/>
      </p:ext>
    </p:extLst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486943"/>
            <a:ext cx="3200400" cy="1325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1130" y="2000173"/>
          <a:ext cx="2360930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47294" y="3043376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1655" y="3057918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4172814"/>
      </p:ext>
    </p:extLst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3417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15031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6793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3487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007125"/>
      </p:ext>
    </p:extLst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200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1157885"/>
      </p:ext>
    </p:extLst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440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53914"/>
      </p:ext>
    </p:extLst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510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310630"/>
      </p:ext>
    </p:extLst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510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7971959"/>
      </p:ext>
    </p:extLst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Fractional Knapsack Problem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74428" y="337718"/>
            <a:ext cx="4293396" cy="630942"/>
          </a:xfrm>
        </p:spPr>
        <p:txBody>
          <a:bodyPr/>
          <a:lstStyle/>
          <a:p>
            <a:r>
              <a:rPr lang="en-US" sz="1050" b="1" dirty="0">
                <a:solidFill>
                  <a:schemeClr val="tx2"/>
                </a:solidFill>
                <a:latin typeface="+mj-lt"/>
              </a:rPr>
              <a:t>Given:</a:t>
            </a:r>
            <a:r>
              <a:rPr lang="en-US" sz="1050" dirty="0">
                <a:latin typeface="+mj-lt"/>
              </a:rPr>
              <a:t> A set S of</a:t>
            </a:r>
            <a:r>
              <a:rPr lang="en-US" sz="1050" dirty="0">
                <a:solidFill>
                  <a:srgbClr val="CC0000"/>
                </a:solidFill>
                <a:latin typeface="+mj-lt"/>
              </a:rPr>
              <a:t> </a:t>
            </a:r>
            <a:r>
              <a:rPr lang="en-US" sz="1050" b="1" dirty="0">
                <a:solidFill>
                  <a:srgbClr val="CC0000"/>
                </a:solidFill>
                <a:latin typeface="+mj-lt"/>
              </a:rPr>
              <a:t>n</a:t>
            </a:r>
            <a:r>
              <a:rPr lang="en-US" sz="1050" dirty="0">
                <a:latin typeface="+mj-lt"/>
              </a:rPr>
              <a:t> items, with each item </a:t>
            </a:r>
            <a:r>
              <a:rPr lang="en-US" sz="1050" b="1" dirty="0" err="1">
                <a:solidFill>
                  <a:srgbClr val="CC0000"/>
                </a:solidFill>
                <a:latin typeface="+mj-lt"/>
              </a:rPr>
              <a:t>i</a:t>
            </a:r>
            <a:r>
              <a:rPr lang="en-US" sz="1050" dirty="0">
                <a:latin typeface="+mj-lt"/>
              </a:rPr>
              <a:t> having</a:t>
            </a:r>
          </a:p>
          <a:p>
            <a:pPr lvl="1"/>
            <a:r>
              <a:rPr lang="en-US" sz="1000" b="1" dirty="0">
                <a:latin typeface="+mj-lt"/>
              </a:rPr>
              <a:t>b</a:t>
            </a:r>
            <a:r>
              <a:rPr lang="en-US" sz="1000" b="1" baseline="-25000" dirty="0">
                <a:latin typeface="+mj-lt"/>
              </a:rPr>
              <a:t>i</a:t>
            </a:r>
            <a:r>
              <a:rPr lang="en-US" sz="1000" dirty="0">
                <a:latin typeface="+mj-lt"/>
              </a:rPr>
              <a:t> - a positive benefit</a:t>
            </a:r>
          </a:p>
          <a:p>
            <a:pPr lvl="1"/>
            <a:r>
              <a:rPr lang="en-US" sz="1000" b="1" dirty="0" err="1">
                <a:latin typeface="+mj-lt"/>
              </a:rPr>
              <a:t>w</a:t>
            </a:r>
            <a:r>
              <a:rPr lang="en-US" sz="1000" b="1" baseline="-25000" dirty="0" err="1">
                <a:latin typeface="+mj-lt"/>
              </a:rPr>
              <a:t>i</a:t>
            </a:r>
            <a:r>
              <a:rPr lang="en-US" sz="1000" dirty="0">
                <a:latin typeface="+mj-lt"/>
              </a:rPr>
              <a:t> - a positive weight</a:t>
            </a:r>
          </a:p>
          <a:p>
            <a:r>
              <a:rPr lang="en-US" sz="1050" b="1" dirty="0">
                <a:solidFill>
                  <a:schemeClr val="tx2"/>
                </a:solidFill>
                <a:latin typeface="+mj-lt"/>
              </a:rPr>
              <a:t>Goal:</a:t>
            </a:r>
            <a:r>
              <a:rPr lang="en-US" sz="1050" dirty="0">
                <a:latin typeface="+mj-lt"/>
              </a:rPr>
              <a:t> Choose items with maximum total benefit but with weight at most </a:t>
            </a:r>
            <a:r>
              <a:rPr lang="en-US" sz="1050" b="1" dirty="0">
                <a:latin typeface="+mj-lt"/>
              </a:rPr>
              <a:t>W</a:t>
            </a:r>
            <a:r>
              <a:rPr lang="en-US" sz="1050" dirty="0">
                <a:latin typeface="+mj-lt"/>
              </a:rPr>
              <a:t>.</a:t>
            </a:r>
          </a:p>
        </p:txBody>
      </p:sp>
      <p:pic>
        <p:nvPicPr>
          <p:cNvPr id="16389" name="Picture 4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13" y="1974486"/>
            <a:ext cx="249714" cy="44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59" y="1782399"/>
            <a:ext cx="356963" cy="63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6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962" y="2128156"/>
            <a:ext cx="164074" cy="293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7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90" y="1884045"/>
            <a:ext cx="300136" cy="53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8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81" y="2152968"/>
            <a:ext cx="142465" cy="25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Text Box 9"/>
          <p:cNvSpPr txBox="1">
            <a:spLocks noChangeArrowheads="1"/>
          </p:cNvSpPr>
          <p:nvPr/>
        </p:nvSpPr>
        <p:spPr bwMode="auto">
          <a:xfrm>
            <a:off x="185098" y="2421890"/>
            <a:ext cx="714298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Weight: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190474" y="2613977"/>
            <a:ext cx="717953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Benefit:</a:t>
            </a:r>
          </a:p>
        </p:txBody>
      </p:sp>
      <p:sp>
        <p:nvSpPr>
          <p:cNvPr id="16396" name="Text Box 11"/>
          <p:cNvSpPr txBox="1">
            <a:spLocks noChangeArrowheads="1"/>
          </p:cNvSpPr>
          <p:nvPr/>
        </p:nvSpPr>
        <p:spPr bwMode="auto">
          <a:xfrm>
            <a:off x="909283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6397" name="Text Box 12"/>
          <p:cNvSpPr txBox="1">
            <a:spLocks noChangeArrowheads="1"/>
          </p:cNvSpPr>
          <p:nvPr/>
        </p:nvSpPr>
        <p:spPr bwMode="auto">
          <a:xfrm>
            <a:off x="1283853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1632012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6399" name="Text Box 14"/>
          <p:cNvSpPr txBox="1">
            <a:spLocks noChangeArrowheads="1"/>
          </p:cNvSpPr>
          <p:nvPr/>
        </p:nvSpPr>
        <p:spPr bwMode="auto">
          <a:xfrm>
            <a:off x="1980971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6400" name="Text Box 15"/>
          <p:cNvSpPr txBox="1">
            <a:spLocks noChangeArrowheads="1"/>
          </p:cNvSpPr>
          <p:nvPr/>
        </p:nvSpPr>
        <p:spPr bwMode="auto">
          <a:xfrm>
            <a:off x="2321126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6401" name="Text Box 16"/>
          <p:cNvSpPr txBox="1">
            <a:spLocks noChangeArrowheads="1"/>
          </p:cNvSpPr>
          <p:nvPr/>
        </p:nvSpPr>
        <p:spPr bwMode="auto">
          <a:xfrm>
            <a:off x="825525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4 ml</a:t>
            </a:r>
          </a:p>
        </p:txBody>
      </p:sp>
      <p:sp>
        <p:nvSpPr>
          <p:cNvPr id="16402" name="Text Box 17"/>
          <p:cNvSpPr txBox="1">
            <a:spLocks noChangeArrowheads="1"/>
          </p:cNvSpPr>
          <p:nvPr/>
        </p:nvSpPr>
        <p:spPr bwMode="auto">
          <a:xfrm>
            <a:off x="1200095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8 ml</a:t>
            </a:r>
          </a:p>
        </p:txBody>
      </p:sp>
      <p:sp>
        <p:nvSpPr>
          <p:cNvPr id="16403" name="Text Box 18"/>
          <p:cNvSpPr txBox="1">
            <a:spLocks noChangeArrowheads="1"/>
          </p:cNvSpPr>
          <p:nvPr/>
        </p:nvSpPr>
        <p:spPr bwMode="auto">
          <a:xfrm>
            <a:off x="1548254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2 ml</a:t>
            </a:r>
          </a:p>
        </p:txBody>
      </p:sp>
      <p:sp>
        <p:nvSpPr>
          <p:cNvPr id="16404" name="Text Box 19"/>
          <p:cNvSpPr txBox="1">
            <a:spLocks noChangeArrowheads="1"/>
          </p:cNvSpPr>
          <p:nvPr/>
        </p:nvSpPr>
        <p:spPr bwMode="auto">
          <a:xfrm>
            <a:off x="1897213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6 ml</a:t>
            </a:r>
          </a:p>
        </p:txBody>
      </p:sp>
      <p:sp>
        <p:nvSpPr>
          <p:cNvPr id="16405" name="Text Box 20"/>
          <p:cNvSpPr txBox="1">
            <a:spLocks noChangeArrowheads="1"/>
          </p:cNvSpPr>
          <p:nvPr/>
        </p:nvSpPr>
        <p:spPr bwMode="auto">
          <a:xfrm>
            <a:off x="2237368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1 ml</a:t>
            </a:r>
          </a:p>
        </p:txBody>
      </p:sp>
      <p:sp>
        <p:nvSpPr>
          <p:cNvPr id="16406" name="Text Box 21"/>
          <p:cNvSpPr txBox="1">
            <a:spLocks noChangeArrowheads="1"/>
          </p:cNvSpPr>
          <p:nvPr/>
        </p:nvSpPr>
        <p:spPr bwMode="auto">
          <a:xfrm>
            <a:off x="842757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$12</a:t>
            </a:r>
          </a:p>
        </p:txBody>
      </p:sp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1216527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$32</a:t>
            </a:r>
          </a:p>
        </p:txBody>
      </p:sp>
      <p:sp>
        <p:nvSpPr>
          <p:cNvPr id="16408" name="Text Box 23"/>
          <p:cNvSpPr txBox="1">
            <a:spLocks noChangeArrowheads="1"/>
          </p:cNvSpPr>
          <p:nvPr/>
        </p:nvSpPr>
        <p:spPr bwMode="auto">
          <a:xfrm>
            <a:off x="1565486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$40</a:t>
            </a:r>
          </a:p>
        </p:txBody>
      </p:sp>
      <p:sp>
        <p:nvSpPr>
          <p:cNvPr id="16409" name="Text Box 24"/>
          <p:cNvSpPr txBox="1">
            <a:spLocks noChangeArrowheads="1"/>
          </p:cNvSpPr>
          <p:nvPr/>
        </p:nvSpPr>
        <p:spPr bwMode="auto">
          <a:xfrm>
            <a:off x="1914445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$30</a:t>
            </a:r>
          </a:p>
        </p:txBody>
      </p:sp>
      <p:sp>
        <p:nvSpPr>
          <p:cNvPr id="16410" name="Text Box 25"/>
          <p:cNvSpPr txBox="1">
            <a:spLocks noChangeArrowheads="1"/>
          </p:cNvSpPr>
          <p:nvPr/>
        </p:nvSpPr>
        <p:spPr bwMode="auto">
          <a:xfrm>
            <a:off x="2253799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$50</a:t>
            </a:r>
          </a:p>
        </p:txBody>
      </p:sp>
      <p:sp>
        <p:nvSpPr>
          <p:cNvPr id="16411" name="Text Box 26"/>
          <p:cNvSpPr txBox="1">
            <a:spLocks noChangeArrowheads="1"/>
          </p:cNvSpPr>
          <p:nvPr/>
        </p:nvSpPr>
        <p:spPr bwMode="auto">
          <a:xfrm>
            <a:off x="269117" y="2076132"/>
            <a:ext cx="628698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Items:</a:t>
            </a:r>
          </a:p>
        </p:txBody>
      </p:sp>
      <p:sp>
        <p:nvSpPr>
          <p:cNvPr id="713755" name="Text Box 27"/>
          <p:cNvSpPr txBox="1">
            <a:spLocks noChangeArrowheads="1"/>
          </p:cNvSpPr>
          <p:nvPr/>
        </p:nvSpPr>
        <p:spPr bwMode="auto">
          <a:xfrm>
            <a:off x="287891" y="2806065"/>
            <a:ext cx="610360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Value:</a:t>
            </a:r>
          </a:p>
        </p:txBody>
      </p:sp>
      <p:sp>
        <p:nvSpPr>
          <p:cNvPr id="713756" name="Text Box 28"/>
          <p:cNvSpPr txBox="1">
            <a:spLocks noChangeArrowheads="1"/>
          </p:cNvSpPr>
          <p:nvPr/>
        </p:nvSpPr>
        <p:spPr bwMode="auto">
          <a:xfrm>
            <a:off x="906076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13757" name="Text Box 29"/>
          <p:cNvSpPr txBox="1">
            <a:spLocks noChangeArrowheads="1"/>
          </p:cNvSpPr>
          <p:nvPr/>
        </p:nvSpPr>
        <p:spPr bwMode="auto">
          <a:xfrm>
            <a:off x="190228" y="2959735"/>
            <a:ext cx="704039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($ per ml)</a:t>
            </a:r>
          </a:p>
        </p:txBody>
      </p:sp>
      <p:sp>
        <p:nvSpPr>
          <p:cNvPr id="713758" name="Text Box 30"/>
          <p:cNvSpPr txBox="1">
            <a:spLocks noChangeArrowheads="1"/>
          </p:cNvSpPr>
          <p:nvPr/>
        </p:nvSpPr>
        <p:spPr bwMode="auto">
          <a:xfrm>
            <a:off x="1280647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713759" name="Text Box 31"/>
          <p:cNvSpPr txBox="1">
            <a:spLocks noChangeArrowheads="1"/>
          </p:cNvSpPr>
          <p:nvPr/>
        </p:nvSpPr>
        <p:spPr bwMode="auto">
          <a:xfrm>
            <a:off x="1597146" y="2844483"/>
            <a:ext cx="31290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20</a:t>
            </a:r>
          </a:p>
        </p:txBody>
      </p:sp>
      <p:sp>
        <p:nvSpPr>
          <p:cNvPr id="713760" name="Text Box 32"/>
          <p:cNvSpPr txBox="1">
            <a:spLocks noChangeArrowheads="1"/>
          </p:cNvSpPr>
          <p:nvPr/>
        </p:nvSpPr>
        <p:spPr bwMode="auto">
          <a:xfrm>
            <a:off x="1978565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13761" name="Text Box 33"/>
          <p:cNvSpPr txBox="1">
            <a:spLocks noChangeArrowheads="1"/>
          </p:cNvSpPr>
          <p:nvPr/>
        </p:nvSpPr>
        <p:spPr bwMode="auto">
          <a:xfrm>
            <a:off x="2286260" y="2844483"/>
            <a:ext cx="31290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50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847913" y="1503070"/>
            <a:ext cx="629087" cy="1419846"/>
            <a:chOff x="4180" y="2068"/>
            <a:chExt cx="786" cy="1774"/>
          </a:xfrm>
        </p:grpSpPr>
        <p:sp>
          <p:nvSpPr>
            <p:cNvPr id="16423" name="Freeform 35"/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4"/>
                <a:gd name="T103" fmla="*/ 0 h 320"/>
                <a:gd name="T104" fmla="*/ 594 w 594"/>
                <a:gd name="T105" fmla="*/ 320 h 3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4" name="Freeform 36"/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86"/>
                <a:gd name="T127" fmla="*/ 0 h 1147"/>
                <a:gd name="T128" fmla="*/ 786 w 786"/>
                <a:gd name="T129" fmla="*/ 1147 h 11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5" name="Freeform 37"/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2"/>
                <a:gd name="T133" fmla="*/ 0 h 164"/>
                <a:gd name="T134" fmla="*/ 482 w 482"/>
                <a:gd name="T135" fmla="*/ 164 h 1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6" name="Freeform 38"/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7"/>
                <a:gd name="T100" fmla="*/ 0 h 101"/>
                <a:gd name="T101" fmla="*/ 487 w 487"/>
                <a:gd name="T102" fmla="*/ 101 h 10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7" name="Freeform 39"/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93"/>
                <a:gd name="T181" fmla="*/ 0 h 1071"/>
                <a:gd name="T182" fmla="*/ 693 w 693"/>
                <a:gd name="T183" fmla="*/ 1071 h 107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8" name="Freeform 40"/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"/>
                <a:gd name="T67" fmla="*/ 0 h 908"/>
                <a:gd name="T68" fmla="*/ 72 w 72"/>
                <a:gd name="T69" fmla="*/ 908 h 9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9" name="Text Box 41"/>
            <p:cNvSpPr txBox="1">
              <a:spLocks noChangeArrowheads="1"/>
            </p:cNvSpPr>
            <p:nvPr/>
          </p:nvSpPr>
          <p:spPr bwMode="auto">
            <a:xfrm>
              <a:off x="4260" y="3552"/>
              <a:ext cx="59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>
                  <a:latin typeface="Tahoma" panose="020B0604030504040204" pitchFamily="34" charset="0"/>
                </a:rPr>
                <a:t>10 ml</a:t>
              </a:r>
            </a:p>
          </p:txBody>
        </p:sp>
      </p:grpSp>
      <p:sp>
        <p:nvSpPr>
          <p:cNvPr id="16420" name="Line 42"/>
          <p:cNvSpPr>
            <a:spLocks noChangeShapeType="1"/>
          </p:cNvSpPr>
          <p:nvPr/>
        </p:nvSpPr>
        <p:spPr bwMode="auto">
          <a:xfrm>
            <a:off x="2698029" y="1615122"/>
            <a:ext cx="0" cy="14214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713771" name="Text Box 43"/>
          <p:cNvSpPr txBox="1">
            <a:spLocks noChangeArrowheads="1"/>
          </p:cNvSpPr>
          <p:nvPr/>
        </p:nvSpPr>
        <p:spPr bwMode="auto">
          <a:xfrm>
            <a:off x="3472335" y="1845628"/>
            <a:ext cx="1123401" cy="114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10" dirty="0">
                <a:latin typeface="Tahoma" panose="020B0604030504040204" pitchFamily="34" charset="0"/>
              </a:rPr>
              <a:t>Solution:   P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1 ml of 5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50$</a:t>
            </a:r>
            <a:r>
              <a:rPr lang="en-US" sz="1008" dirty="0">
                <a:latin typeface="Tahoma" panose="020B0604030504040204" pitchFamily="34" charset="0"/>
              </a:rPr>
              <a:t> 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2 ml of 3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40$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6 ml of 4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30$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1 ml of 2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 4$</a:t>
            </a:r>
          </a:p>
          <a:p>
            <a:pPr eaLnBrk="1" hangingPunct="1">
              <a:buFontTx/>
              <a:buChar char="•"/>
            </a:pPr>
            <a:endParaRPr lang="en-US" sz="807" dirty="0">
              <a:latin typeface="Tahoma" panose="020B0604030504040204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sz="807" dirty="0">
                <a:latin typeface="Tahoma" panose="020B0604030504040204" pitchFamily="34" charset="0"/>
              </a:rPr>
              <a:t>Total </a:t>
            </a:r>
            <a:r>
              <a:rPr lang="en-US" sz="807" dirty="0">
                <a:solidFill>
                  <a:srgbClr val="008000"/>
                </a:solidFill>
                <a:latin typeface="Tahoma" panose="020B0604030504040204" pitchFamily="34" charset="0"/>
              </a:rPr>
              <a:t>Profit:124$</a:t>
            </a:r>
          </a:p>
        </p:txBody>
      </p:sp>
      <p:sp>
        <p:nvSpPr>
          <p:cNvPr id="16422" name="Text Box 44"/>
          <p:cNvSpPr txBox="1">
            <a:spLocks noChangeArrowheads="1"/>
          </p:cNvSpPr>
          <p:nvPr/>
        </p:nvSpPr>
        <p:spPr bwMode="auto">
          <a:xfrm>
            <a:off x="3412944" y="1499870"/>
            <a:ext cx="941283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“knapsack”</a:t>
            </a:r>
          </a:p>
        </p:txBody>
      </p:sp>
    </p:spTree>
    <p:extLst>
      <p:ext uri="{BB962C8B-B14F-4D97-AF65-F5344CB8AC3E}">
        <p14:creationId xmlns:p14="http://schemas.microsoft.com/office/powerpoint/2010/main" val="58881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55" grpId="0"/>
      <p:bldP spid="713756" grpId="0"/>
      <p:bldP spid="713757" grpId="0"/>
      <p:bldP spid="713758" grpId="0"/>
      <p:bldP spid="713759" grpId="0"/>
      <p:bldP spid="713760" grpId="0"/>
      <p:bldP spid="71376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9" y="815975"/>
            <a:ext cx="4291119" cy="213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" y="53975"/>
            <a:ext cx="391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645"/>
              </a:spcBef>
            </a:pPr>
            <a:r>
              <a:rPr lang="en-US" spc="10" dirty="0">
                <a:cs typeface="Calibri"/>
              </a:rPr>
              <a:t>Fractional knapsack </a:t>
            </a:r>
            <a:r>
              <a:rPr lang="en-US" spc="-25" dirty="0">
                <a:cs typeface="Calibri"/>
              </a:rPr>
              <a:t>greedy</a:t>
            </a:r>
            <a:r>
              <a:rPr lang="en-US" spc="13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algorithm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2421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The Fractional Knapsack Algorithm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1450" y="587375"/>
            <a:ext cx="4267200" cy="2743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  <a:spcBef>
                <a:spcPts val="600"/>
              </a:spcBef>
            </a:pPr>
            <a:r>
              <a:rPr lang="en-US" sz="1600" b="1" kern="0" dirty="0"/>
              <a:t>Running time: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/>
              <a:t>Given a collection S of n items, such that each item </a:t>
            </a:r>
            <a:r>
              <a:rPr lang="en-US" sz="1600" kern="0" dirty="0" err="1"/>
              <a:t>i</a:t>
            </a:r>
            <a:r>
              <a:rPr lang="en-US" sz="1600" kern="0" dirty="0"/>
              <a:t> has a benefit b</a:t>
            </a:r>
            <a:r>
              <a:rPr lang="en-US" sz="1600" kern="0" baseline="-25000" dirty="0"/>
              <a:t>i</a:t>
            </a:r>
            <a:r>
              <a:rPr lang="en-US" sz="1600" kern="0" dirty="0"/>
              <a:t> and weight </a:t>
            </a:r>
            <a:r>
              <a:rPr lang="en-US" sz="1600" kern="0" dirty="0" err="1"/>
              <a:t>w</a:t>
            </a:r>
            <a:r>
              <a:rPr lang="en-US" sz="1600" kern="0" baseline="-25000" dirty="0" err="1"/>
              <a:t>i</a:t>
            </a:r>
            <a:r>
              <a:rPr lang="en-US" sz="1600" kern="0" dirty="0"/>
              <a:t>, we can construct a maximum-benefit subset of S, allowing for fractional amounts, that has a total weight W in </a:t>
            </a:r>
            <a:r>
              <a:rPr lang="en-US" sz="1600" kern="0" dirty="0">
                <a:solidFill>
                  <a:srgbClr val="CC0000"/>
                </a:solidFill>
              </a:rPr>
              <a:t>O(</a:t>
            </a:r>
            <a:r>
              <a:rPr lang="en-US" sz="1600" kern="0" dirty="0" err="1">
                <a:solidFill>
                  <a:srgbClr val="CC0000"/>
                </a:solidFill>
              </a:rPr>
              <a:t>nlogn</a:t>
            </a:r>
            <a:r>
              <a:rPr lang="en-US" sz="1600" kern="0" dirty="0">
                <a:solidFill>
                  <a:srgbClr val="CC0000"/>
                </a:solidFill>
              </a:rPr>
              <a:t>)</a:t>
            </a:r>
            <a:r>
              <a:rPr lang="en-US" sz="1600" kern="0" dirty="0"/>
              <a:t> time. (how?)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Use heap-based priority queue to store S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Removing the item with the highest value takes O(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logn</a:t>
            </a:r>
            <a:r>
              <a:rPr lang="en-US" sz="1600" kern="0" dirty="0">
                <a:solidFill>
                  <a:sysClr val="windowText" lastClr="000000"/>
                </a:solidFill>
              </a:rPr>
              <a:t>) time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In the worst case, need to remove all items</a:t>
            </a:r>
          </a:p>
        </p:txBody>
      </p:sp>
    </p:spTree>
    <p:extLst>
      <p:ext uri="{BB962C8B-B14F-4D97-AF65-F5344CB8AC3E}">
        <p14:creationId xmlns:p14="http://schemas.microsoft.com/office/powerpoint/2010/main" val="26541165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45" dirty="0"/>
              <a:t>0/1 </a:t>
            </a:r>
            <a:r>
              <a:rPr spc="10" dirty="0"/>
              <a:t>knapsack</a:t>
            </a:r>
            <a:r>
              <a:rPr spc="21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32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03" y="434521"/>
            <a:ext cx="4309030" cy="294198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6832" y="815975"/>
            <a:ext cx="4041604" cy="179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16615" y="2568574"/>
            <a:ext cx="4196419" cy="215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06620" y="2791315"/>
            <a:ext cx="4196419" cy="27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33582" y="3150556"/>
            <a:ext cx="4196419" cy="215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3653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Huffman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47650" y="663575"/>
            <a:ext cx="4191000" cy="2087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400" kern="0" dirty="0"/>
              <a:t>Widely used technique for data compression</a:t>
            </a:r>
          </a:p>
          <a:p>
            <a:pPr>
              <a:lnSpc>
                <a:spcPct val="200000"/>
              </a:lnSpc>
            </a:pPr>
            <a:r>
              <a:rPr lang="en-US" sz="1400" kern="0" dirty="0"/>
              <a:t>Assume the data to be a sequence of characters</a:t>
            </a:r>
          </a:p>
          <a:p>
            <a:pPr>
              <a:lnSpc>
                <a:spcPct val="200000"/>
              </a:lnSpc>
            </a:pPr>
            <a:r>
              <a:rPr lang="en-US" sz="1400" kern="0" dirty="0"/>
              <a:t>Looking for an effective way of storing the data</a:t>
            </a:r>
          </a:p>
          <a:p>
            <a:pPr>
              <a:lnSpc>
                <a:spcPct val="200000"/>
              </a:lnSpc>
            </a:pPr>
            <a:r>
              <a:rPr lang="en-US" sz="1400" b="1" i="1" kern="0" dirty="0"/>
              <a:t>Binary character code</a:t>
            </a:r>
          </a:p>
          <a:p>
            <a:pPr>
              <a:lnSpc>
                <a:spcPct val="20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Uniquely represents a character by a binary string</a:t>
            </a:r>
          </a:p>
        </p:txBody>
      </p:sp>
    </p:spTree>
    <p:extLst>
      <p:ext uri="{BB962C8B-B14F-4D97-AF65-F5344CB8AC3E}">
        <p14:creationId xmlns:p14="http://schemas.microsoft.com/office/powerpoint/2010/main" val="35899757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Fixed-Length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739775"/>
            <a:ext cx="4359275" cy="1898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E.g.: </a:t>
            </a:r>
            <a:r>
              <a:rPr lang="en-US" sz="1400" kern="0" dirty="0"/>
              <a:t>Data file containing 100,000 characters</a:t>
            </a:r>
          </a:p>
          <a:p>
            <a:pPr>
              <a:lnSpc>
                <a:spcPct val="150000"/>
              </a:lnSpc>
            </a:pPr>
            <a:endParaRPr lang="en-US" sz="1400" kern="0" dirty="0"/>
          </a:p>
          <a:p>
            <a:pPr>
              <a:lnSpc>
                <a:spcPct val="150000"/>
              </a:lnSpc>
            </a:pPr>
            <a:endParaRPr lang="en-US" sz="1400" kern="0" dirty="0"/>
          </a:p>
          <a:p>
            <a:pPr>
              <a:lnSpc>
                <a:spcPct val="150000"/>
              </a:lnSpc>
            </a:pPr>
            <a:r>
              <a:rPr lang="en-US" sz="1400" kern="0" dirty="0"/>
              <a:t>3 bits needed</a:t>
            </a:r>
          </a:p>
          <a:p>
            <a:pPr>
              <a:lnSpc>
                <a:spcPct val="150000"/>
              </a:lnSpc>
            </a:pPr>
            <a:r>
              <a:rPr lang="en-US" sz="1400" kern="0" dirty="0"/>
              <a:t>a = 000, b = 001, c = 010, d = 011, e = 100, f = 101</a:t>
            </a:r>
          </a:p>
          <a:p>
            <a:pPr>
              <a:lnSpc>
                <a:spcPct val="150000"/>
              </a:lnSpc>
            </a:pPr>
            <a:r>
              <a:rPr lang="en-US" sz="1400" kern="0" dirty="0"/>
              <a:t>Requires: 100,000 </a:t>
            </a:r>
            <a:r>
              <a:rPr lang="en-US" sz="1400" kern="0" dirty="0">
                <a:sym typeface="Symbol" panose="05050102010706020507" pitchFamily="18" charset="2"/>
              </a:rPr>
              <a:t></a:t>
            </a:r>
            <a:r>
              <a:rPr lang="en-US" sz="1400" kern="0" dirty="0"/>
              <a:t> 3 = 300,000 bits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140606"/>
            <a:ext cx="3862164" cy="53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0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Huffman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939800"/>
            <a:ext cx="4283075" cy="14080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kern="0" dirty="0"/>
              <a:t>Idea:</a:t>
            </a:r>
          </a:p>
          <a:p>
            <a:pPr>
              <a:lnSpc>
                <a:spcPct val="150000"/>
              </a:lnSpc>
            </a:pPr>
            <a:endParaRPr lang="en-US" sz="300" b="1" kern="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200" kern="0" dirty="0">
                <a:solidFill>
                  <a:sysClr val="windowText" lastClr="000000"/>
                </a:solidFill>
              </a:rPr>
              <a:t>Use the frequencies of occurrence of characters to build a optimal way of representing each character</a:t>
            </a:r>
            <a:endParaRPr lang="en-US" kern="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endParaRPr lang="en-US" kern="0" dirty="0"/>
          </a:p>
          <a:p>
            <a:pPr>
              <a:lnSpc>
                <a:spcPct val="150000"/>
              </a:lnSpc>
            </a:pPr>
            <a:endParaRPr lang="en-US" kern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2187575"/>
            <a:ext cx="4011516" cy="5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949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Variable-Length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739775"/>
            <a:ext cx="4130675" cy="24006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E.g.: </a:t>
            </a:r>
            <a:r>
              <a:rPr lang="en-US" sz="1200" kern="0" dirty="0"/>
              <a:t>Data file containing 100,000 characters</a:t>
            </a:r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pPr algn="just"/>
            <a:r>
              <a:rPr lang="en-US" sz="1200" kern="0" dirty="0"/>
              <a:t>Assign short </a:t>
            </a:r>
            <a:r>
              <a:rPr lang="en-US" sz="1200" kern="0" dirty="0" err="1"/>
              <a:t>codewords</a:t>
            </a:r>
            <a:r>
              <a:rPr lang="en-US" sz="1200" kern="0" dirty="0"/>
              <a:t> to frequent characters and long </a:t>
            </a:r>
            <a:r>
              <a:rPr lang="en-US" sz="1200" kern="0" dirty="0" err="1"/>
              <a:t>codewords</a:t>
            </a:r>
            <a:r>
              <a:rPr lang="en-US" sz="1200" kern="0" dirty="0"/>
              <a:t> to infrequent characters</a:t>
            </a:r>
          </a:p>
          <a:p>
            <a:pPr algn="just"/>
            <a:endParaRPr lang="en-US" sz="1200" kern="0" dirty="0"/>
          </a:p>
          <a:p>
            <a:pPr algn="just"/>
            <a:r>
              <a:rPr lang="en-US" sz="1200" kern="0" dirty="0"/>
              <a:t>a = 0, b = 101, c = 100, d = 111, e = 1101, f = 1100</a:t>
            </a:r>
          </a:p>
          <a:p>
            <a:pPr algn="just"/>
            <a:r>
              <a:rPr lang="en-US" sz="1200" kern="0" dirty="0"/>
              <a:t>(45 </a:t>
            </a:r>
            <a:r>
              <a:rPr lang="en-US" sz="1200" kern="0" dirty="0">
                <a:sym typeface="Symbol" panose="05050102010706020507" pitchFamily="18" charset="2"/>
              </a:rPr>
              <a:t> 1 + 13  3 + 12  3 + 16  3 + 9  4 + 5  4) 1,000</a:t>
            </a:r>
          </a:p>
          <a:p>
            <a:pPr algn="just"/>
            <a:endParaRPr lang="en-US" sz="700" kern="0" dirty="0">
              <a:sym typeface="Symbol" panose="05050102010706020507" pitchFamily="18" charset="2"/>
            </a:endParaRPr>
          </a:p>
          <a:p>
            <a:pPr algn="just"/>
            <a:r>
              <a:rPr lang="en-US" sz="1200" kern="0" dirty="0">
                <a:sym typeface="Symbol" panose="05050102010706020507" pitchFamily="18" charset="2"/>
              </a:rPr>
              <a:t>    =   224,000 bits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120775"/>
            <a:ext cx="3404964" cy="4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4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Prefix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5250" y="587375"/>
            <a:ext cx="4419600" cy="258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kern="0" dirty="0"/>
              <a:t>Prefix codes:</a:t>
            </a: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Codes for which no 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codeword</a:t>
            </a:r>
            <a:r>
              <a:rPr lang="en-US" sz="1600" kern="0" dirty="0">
                <a:solidFill>
                  <a:sysClr val="windowText" lastClr="000000"/>
                </a:solidFill>
              </a:rPr>
              <a:t> is also a prefix of some other 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codeword</a:t>
            </a:r>
            <a:endParaRPr lang="en-US" sz="1600" kern="0" dirty="0">
              <a:solidFill>
                <a:sysClr val="windowText" lastClr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Better name would be “prefix-free codes”</a:t>
            </a:r>
          </a:p>
          <a:p>
            <a:pPr>
              <a:lnSpc>
                <a:spcPct val="150000"/>
              </a:lnSpc>
            </a:pPr>
            <a:r>
              <a:rPr lang="en-US" sz="1600" kern="0" dirty="0"/>
              <a:t>We can achieve optimal data compression using prefix codes</a:t>
            </a: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We will restrict our attention to prefix codes</a:t>
            </a:r>
          </a:p>
        </p:txBody>
      </p:sp>
    </p:spTree>
    <p:extLst>
      <p:ext uri="{BB962C8B-B14F-4D97-AF65-F5344CB8AC3E}">
        <p14:creationId xmlns:p14="http://schemas.microsoft.com/office/powerpoint/2010/main" val="15942659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Encoding with Binary Character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663575"/>
            <a:ext cx="4206875" cy="19389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kern="0" dirty="0"/>
              <a:t>Encoding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Concatenate the </a:t>
            </a:r>
            <a:r>
              <a:rPr lang="en-US" sz="1400" kern="0" dirty="0" err="1">
                <a:solidFill>
                  <a:sysClr val="windowText" lastClr="000000"/>
                </a:solidFill>
              </a:rPr>
              <a:t>codewords</a:t>
            </a:r>
            <a:r>
              <a:rPr lang="en-US" sz="1400" kern="0" dirty="0">
                <a:solidFill>
                  <a:sysClr val="windowText" lastClr="000000"/>
                </a:solidFill>
              </a:rPr>
              <a:t> representing each character in the file</a:t>
            </a:r>
          </a:p>
          <a:p>
            <a:pPr algn="just">
              <a:lnSpc>
                <a:spcPct val="150000"/>
              </a:lnSpc>
            </a:pPr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</a:t>
            </a:r>
            <a:r>
              <a:rPr lang="en-US" sz="1400" kern="0" dirty="0">
                <a:solidFill>
                  <a:srgbClr val="DD011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a = 0, b = 101, c = 100, d = 111, e = 1101, f = 1100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 err="1">
                <a:solidFill>
                  <a:sysClr val="windowText" lastClr="000000"/>
                </a:solidFill>
              </a:rPr>
              <a:t>abc</a:t>
            </a:r>
            <a:r>
              <a:rPr lang="en-US" sz="1400" kern="0" dirty="0">
                <a:solidFill>
                  <a:sysClr val="windowText" lastClr="000000"/>
                </a:solidFill>
              </a:rPr>
              <a:t> = 0 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 101  100 = 0101100</a:t>
            </a:r>
          </a:p>
        </p:txBody>
      </p:sp>
    </p:spTree>
    <p:extLst>
      <p:ext uri="{BB962C8B-B14F-4D97-AF65-F5344CB8AC3E}">
        <p14:creationId xmlns:p14="http://schemas.microsoft.com/office/powerpoint/2010/main" val="185480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Decoding with Binary Character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1450" y="587375"/>
            <a:ext cx="4343400" cy="2262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kern="0" dirty="0"/>
              <a:t>Prefix codes simplify decoding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</a:rPr>
              <a:t>No </a:t>
            </a:r>
            <a:r>
              <a:rPr lang="en-US" sz="1400" kern="0" dirty="0" err="1">
                <a:solidFill>
                  <a:sysClr val="windowText" lastClr="000000"/>
                </a:solidFill>
              </a:rPr>
              <a:t>codeword</a:t>
            </a:r>
            <a:r>
              <a:rPr lang="en-US" sz="1400" kern="0" dirty="0">
                <a:solidFill>
                  <a:sysClr val="windowText" lastClr="000000"/>
                </a:solidFill>
              </a:rPr>
              <a:t> is a prefix of another 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 the </a:t>
            </a:r>
            <a:r>
              <a:rPr lang="en-US" sz="1400" kern="0" dirty="0" err="1">
                <a:solidFill>
                  <a:sysClr val="windowText" lastClr="000000"/>
                </a:solidFill>
                <a:sym typeface="Symbol" panose="05050102010706020507" pitchFamily="18" charset="2"/>
              </a:rPr>
              <a:t>codeword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 that begins an encoded file is unambiguous</a:t>
            </a:r>
          </a:p>
          <a:p>
            <a:r>
              <a:rPr lang="en-US" sz="1400" kern="0" dirty="0">
                <a:sym typeface="Symbol" panose="05050102010706020507" pitchFamily="18" charset="2"/>
              </a:rPr>
              <a:t>Approach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Identify the initial </a:t>
            </a:r>
            <a:r>
              <a:rPr lang="en-US" sz="1400" kern="0" dirty="0" err="1">
                <a:solidFill>
                  <a:sysClr val="windowText" lastClr="000000"/>
                </a:solidFill>
                <a:sym typeface="Symbol" panose="05050102010706020507" pitchFamily="18" charset="2"/>
              </a:rPr>
              <a:t>codeword</a:t>
            </a:r>
            <a:endParaRPr lang="en-US" sz="1400" kern="0" dirty="0">
              <a:solidFill>
                <a:sysClr val="windowText" lastClr="000000"/>
              </a:solidFill>
              <a:sym typeface="Symbol" panose="05050102010706020507" pitchFamily="18" charset="2"/>
            </a:endParaRP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Translate it back to the original character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Repeat the process on the remainder of the file</a:t>
            </a:r>
          </a:p>
          <a:p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E.g.</a:t>
            </a:r>
            <a:r>
              <a:rPr lang="en-US" sz="1400" kern="0" dirty="0">
                <a:solidFill>
                  <a:srgbClr val="DD0111"/>
                </a:solidFill>
                <a:sym typeface="Symbol" panose="05050102010706020507" pitchFamily="18" charset="2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a = 0, b = 101, c = 100, d = 111, e = 1101, f = 1100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001011101 =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49276" y="2874274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/>
              <a:t>0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77876" y="2869511"/>
            <a:ext cx="4619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ym typeface="Symbol" panose="05050102010706020507" pitchFamily="18" charset="2"/>
              </a:rPr>
              <a:t> </a:t>
            </a:r>
            <a:r>
              <a:rPr lang="en-US" sz="2000"/>
              <a:t>0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69034" y="2874274"/>
            <a:ext cx="7473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</a:t>
            </a:r>
            <a:r>
              <a:rPr lang="en-US" sz="2000" i="1" dirty="0"/>
              <a:t> </a:t>
            </a:r>
            <a:r>
              <a:rPr lang="en-US" sz="2000" dirty="0"/>
              <a:t>101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264359" y="2874274"/>
            <a:ext cx="8709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ym typeface="Symbol" panose="05050102010706020507" pitchFamily="18" charset="2"/>
              </a:rPr>
              <a:t></a:t>
            </a:r>
            <a:r>
              <a:rPr lang="en-US" sz="2000" i="1"/>
              <a:t> </a:t>
            </a:r>
            <a:r>
              <a:rPr lang="en-US" sz="2000"/>
              <a:t>1101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011952" y="2869511"/>
            <a:ext cx="9749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=</a:t>
            </a:r>
            <a:r>
              <a:rPr lang="en-US" sz="2000" i="1" dirty="0"/>
              <a:t> </a:t>
            </a:r>
            <a:r>
              <a:rPr lang="en-US" sz="2000" dirty="0" err="1"/>
              <a:t>aabe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557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Constructing a Huffman Code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5251" y="511175"/>
            <a:ext cx="4343400" cy="2895600"/>
          </a:xfrm>
          <a:prstGeom prst="rect">
            <a:avLst/>
          </a:prstGeom>
        </p:spPr>
        <p:txBody>
          <a:bodyPr wrap="square" lIns="0" tIns="0" rIns="0" bIns="0">
            <a:normAutofit fontScale="55000" lnSpcReduction="20000"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kern="0" dirty="0"/>
              <a:t>A greedy algorithm that constructs an optimal prefix code called a </a:t>
            </a:r>
            <a:r>
              <a:rPr lang="en-US" sz="2400" b="1" kern="0" dirty="0"/>
              <a:t>Huffman code</a:t>
            </a:r>
          </a:p>
          <a:p>
            <a:pPr>
              <a:lnSpc>
                <a:spcPct val="120000"/>
              </a:lnSpc>
            </a:pPr>
            <a:endParaRPr lang="en-US" sz="1100" kern="0" dirty="0"/>
          </a:p>
          <a:p>
            <a:pPr>
              <a:lnSpc>
                <a:spcPct val="120000"/>
              </a:lnSpc>
            </a:pPr>
            <a:r>
              <a:rPr lang="en-US" sz="2400" kern="0" dirty="0"/>
              <a:t>Assume that: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C</a:t>
            </a:r>
            <a:r>
              <a:rPr lang="en-US" sz="2000" kern="0" dirty="0">
                <a:solidFill>
                  <a:sysClr val="windowText" lastClr="000000"/>
                </a:solidFill>
              </a:rPr>
              <a:t> is a set of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n</a:t>
            </a:r>
            <a:r>
              <a:rPr lang="en-US" sz="2000" kern="0" dirty="0">
                <a:solidFill>
                  <a:sysClr val="windowText" lastClr="000000"/>
                </a:solidFill>
              </a:rPr>
              <a:t> characters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Each character has a frequency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f(c)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The tree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T</a:t>
            </a:r>
            <a:r>
              <a:rPr lang="en-US" sz="2000" kern="0" dirty="0">
                <a:solidFill>
                  <a:sysClr val="windowText" lastClr="000000"/>
                </a:solidFill>
              </a:rPr>
              <a:t> is built in a bottom up manner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Left means ‘0’, right means ‘1’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More frequent characters will be </a:t>
            </a:r>
            <a:r>
              <a:rPr lang="en-US" sz="2000" kern="0" dirty="0">
                <a:solidFill>
                  <a:schemeClr val="tx2"/>
                </a:solidFill>
              </a:rPr>
              <a:t>higher</a:t>
            </a:r>
            <a:r>
              <a:rPr lang="en-US" sz="2000" kern="0" dirty="0">
                <a:solidFill>
                  <a:sysClr val="windowText" lastClr="000000"/>
                </a:solidFill>
              </a:rPr>
              <a:t> in the tree</a:t>
            </a:r>
          </a:p>
          <a:p>
            <a:pPr lvl="1">
              <a:lnSpc>
                <a:spcPct val="120000"/>
              </a:lnSpc>
            </a:pPr>
            <a:endParaRPr lang="en-US" sz="2000" kern="0" dirty="0">
              <a:solidFill>
                <a:sysClr val="windowText" lastClr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400" kern="0" dirty="0"/>
              <a:t>Idea: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Start with a set of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|C|</a:t>
            </a:r>
            <a:r>
              <a:rPr lang="en-US" sz="2000" kern="0" dirty="0">
                <a:solidFill>
                  <a:sysClr val="windowText" lastClr="000000"/>
                </a:solidFill>
              </a:rPr>
              <a:t> leaves 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At each step, merge the two least frequent objects: the frequency of the new node = sum of two frequencies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Use a min-priority queue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Q</a:t>
            </a:r>
            <a:r>
              <a:rPr lang="en-US" sz="2000" kern="0" dirty="0">
                <a:solidFill>
                  <a:sysClr val="windowText" lastClr="000000"/>
                </a:solidFill>
              </a:rPr>
              <a:t>, keyed on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f </a:t>
            </a:r>
            <a:r>
              <a:rPr lang="en-US" sz="2000" kern="0" dirty="0">
                <a:solidFill>
                  <a:sysClr val="windowText" lastClr="000000"/>
                </a:solidFill>
              </a:rPr>
              <a:t>to identify the two least frequent objects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13" y="2151130"/>
            <a:ext cx="2016539" cy="2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60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Constructing a Huffman tree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" y="587375"/>
            <a:ext cx="436888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976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677339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Example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20900" y="671493"/>
            <a:ext cx="2029725" cy="168877"/>
            <a:chOff x="276" y="837"/>
            <a:chExt cx="2536" cy="211"/>
          </a:xfrm>
        </p:grpSpPr>
        <p:sp>
          <p:nvSpPr>
            <p:cNvPr id="25725" name="Rectangle 4"/>
            <p:cNvSpPr>
              <a:spLocks noChangeArrowheads="1"/>
            </p:cNvSpPr>
            <p:nvPr/>
          </p:nvSpPr>
          <p:spPr bwMode="auto">
            <a:xfrm>
              <a:off x="2420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726" name="Rectangle 5"/>
            <p:cNvSpPr>
              <a:spLocks noChangeArrowheads="1"/>
            </p:cNvSpPr>
            <p:nvPr/>
          </p:nvSpPr>
          <p:spPr bwMode="auto">
            <a:xfrm>
              <a:off x="1133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c: 12</a:t>
              </a:r>
            </a:p>
          </p:txBody>
        </p:sp>
        <p:sp>
          <p:nvSpPr>
            <p:cNvPr id="25727" name="Rectangle 6"/>
            <p:cNvSpPr>
              <a:spLocks noChangeArrowheads="1"/>
            </p:cNvSpPr>
            <p:nvPr/>
          </p:nvSpPr>
          <p:spPr bwMode="auto">
            <a:xfrm>
              <a:off x="1562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b: 13</a:t>
              </a:r>
            </a:p>
          </p:txBody>
        </p:sp>
        <p:sp>
          <p:nvSpPr>
            <p:cNvPr id="25728" name="Rectangle 7"/>
            <p:cNvSpPr>
              <a:spLocks noChangeArrowheads="1"/>
            </p:cNvSpPr>
            <p:nvPr/>
          </p:nvSpPr>
          <p:spPr bwMode="auto">
            <a:xfrm>
              <a:off x="276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f: 5</a:t>
              </a:r>
            </a:p>
          </p:txBody>
        </p:sp>
        <p:sp>
          <p:nvSpPr>
            <p:cNvPr id="25729" name="Rectangle 8"/>
            <p:cNvSpPr>
              <a:spLocks noChangeArrowheads="1"/>
            </p:cNvSpPr>
            <p:nvPr/>
          </p:nvSpPr>
          <p:spPr bwMode="auto">
            <a:xfrm>
              <a:off x="704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 dirty="0"/>
                <a:t>e: 9</a:t>
              </a:r>
            </a:p>
          </p:txBody>
        </p:sp>
        <p:sp>
          <p:nvSpPr>
            <p:cNvPr id="25730" name="Rectangle 9"/>
            <p:cNvSpPr>
              <a:spLocks noChangeArrowheads="1"/>
            </p:cNvSpPr>
            <p:nvPr/>
          </p:nvSpPr>
          <p:spPr bwMode="auto">
            <a:xfrm>
              <a:off x="1991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441913" y="641880"/>
            <a:ext cx="1924076" cy="476217"/>
            <a:chOff x="3051" y="800"/>
            <a:chExt cx="2404" cy="595"/>
          </a:xfrm>
        </p:grpSpPr>
        <p:sp>
          <p:nvSpPr>
            <p:cNvPr id="25714" name="Rectangle 11"/>
            <p:cNvSpPr>
              <a:spLocks noChangeArrowheads="1"/>
            </p:cNvSpPr>
            <p:nvPr/>
          </p:nvSpPr>
          <p:spPr bwMode="auto">
            <a:xfrm>
              <a:off x="5063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715" name="Rectangle 12"/>
            <p:cNvSpPr>
              <a:spLocks noChangeArrowheads="1"/>
            </p:cNvSpPr>
            <p:nvPr/>
          </p:nvSpPr>
          <p:spPr bwMode="auto">
            <a:xfrm>
              <a:off x="3051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c: 12</a:t>
              </a:r>
            </a:p>
          </p:txBody>
        </p:sp>
        <p:sp>
          <p:nvSpPr>
            <p:cNvPr id="25716" name="Rectangle 13"/>
            <p:cNvSpPr>
              <a:spLocks noChangeArrowheads="1"/>
            </p:cNvSpPr>
            <p:nvPr/>
          </p:nvSpPr>
          <p:spPr bwMode="auto">
            <a:xfrm>
              <a:off x="3480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b: 13</a:t>
              </a:r>
            </a:p>
          </p:txBody>
        </p:sp>
        <p:sp>
          <p:nvSpPr>
            <p:cNvPr id="25717" name="Rectangle 14"/>
            <p:cNvSpPr>
              <a:spLocks noChangeArrowheads="1"/>
            </p:cNvSpPr>
            <p:nvPr/>
          </p:nvSpPr>
          <p:spPr bwMode="auto">
            <a:xfrm>
              <a:off x="4634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sp>
          <p:nvSpPr>
            <p:cNvPr id="25718" name="Oval 15"/>
            <p:cNvSpPr>
              <a:spLocks noChangeArrowheads="1"/>
            </p:cNvSpPr>
            <p:nvPr/>
          </p:nvSpPr>
          <p:spPr bwMode="auto">
            <a:xfrm>
              <a:off x="4068" y="800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14</a:t>
              </a:r>
            </a:p>
          </p:txBody>
        </p:sp>
        <p:sp>
          <p:nvSpPr>
            <p:cNvPr id="25719" name="Line 16"/>
            <p:cNvSpPr>
              <a:spLocks noChangeShapeType="1"/>
            </p:cNvSpPr>
            <p:nvPr/>
          </p:nvSpPr>
          <p:spPr bwMode="auto">
            <a:xfrm flipH="1">
              <a:off x="4032" y="1053"/>
              <a:ext cx="126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720" name="Line 17"/>
            <p:cNvSpPr>
              <a:spLocks noChangeShapeType="1"/>
            </p:cNvSpPr>
            <p:nvPr/>
          </p:nvSpPr>
          <p:spPr bwMode="auto">
            <a:xfrm>
              <a:off x="4320" y="1058"/>
              <a:ext cx="131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721" name="Rectangle 18"/>
            <p:cNvSpPr>
              <a:spLocks noChangeArrowheads="1"/>
            </p:cNvSpPr>
            <p:nvPr/>
          </p:nvSpPr>
          <p:spPr bwMode="auto">
            <a:xfrm>
              <a:off x="3824" y="1184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f: 5</a:t>
              </a:r>
            </a:p>
          </p:txBody>
        </p:sp>
        <p:sp>
          <p:nvSpPr>
            <p:cNvPr id="25722" name="Rectangle 19"/>
            <p:cNvSpPr>
              <a:spLocks noChangeArrowheads="1"/>
            </p:cNvSpPr>
            <p:nvPr/>
          </p:nvSpPr>
          <p:spPr bwMode="auto">
            <a:xfrm>
              <a:off x="4252" y="1184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e: 9</a:t>
              </a:r>
            </a:p>
          </p:txBody>
        </p:sp>
        <p:sp>
          <p:nvSpPr>
            <p:cNvPr id="25723" name="Text Box 20"/>
            <p:cNvSpPr txBox="1">
              <a:spLocks noChangeArrowheads="1"/>
            </p:cNvSpPr>
            <p:nvPr/>
          </p:nvSpPr>
          <p:spPr bwMode="auto">
            <a:xfrm>
              <a:off x="3869" y="92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24" name="Text Box 21"/>
            <p:cNvSpPr txBox="1">
              <a:spLocks noChangeArrowheads="1"/>
            </p:cNvSpPr>
            <p:nvPr/>
          </p:nvSpPr>
          <p:spPr bwMode="auto">
            <a:xfrm>
              <a:off x="4289" y="93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64076" y="1172521"/>
            <a:ext cx="1747194" cy="483420"/>
            <a:chOff x="205" y="1463"/>
            <a:chExt cx="2183" cy="604"/>
          </a:xfrm>
        </p:grpSpPr>
        <p:sp>
          <p:nvSpPr>
            <p:cNvPr id="25696" name="Rectangle 23"/>
            <p:cNvSpPr>
              <a:spLocks noChangeArrowheads="1"/>
            </p:cNvSpPr>
            <p:nvPr/>
          </p:nvSpPr>
          <p:spPr bwMode="auto">
            <a:xfrm>
              <a:off x="914" y="149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1260" y="1467"/>
              <a:ext cx="820" cy="600"/>
              <a:chOff x="1260" y="1602"/>
              <a:chExt cx="820" cy="600"/>
            </a:xfrm>
          </p:grpSpPr>
          <p:sp>
            <p:nvSpPr>
              <p:cNvPr id="25709" name="Rectangle 25"/>
              <p:cNvSpPr>
                <a:spLocks noChangeArrowheads="1"/>
              </p:cNvSpPr>
              <p:nvPr/>
            </p:nvSpPr>
            <p:spPr bwMode="auto">
              <a:xfrm>
                <a:off x="1260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c: 12</a:t>
                </a:r>
              </a:p>
            </p:txBody>
          </p:sp>
          <p:sp>
            <p:nvSpPr>
              <p:cNvPr id="25710" name="Rectangle 26"/>
              <p:cNvSpPr>
                <a:spLocks noChangeArrowheads="1"/>
              </p:cNvSpPr>
              <p:nvPr/>
            </p:nvSpPr>
            <p:spPr bwMode="auto">
              <a:xfrm>
                <a:off x="1688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b: 13</a:t>
                </a:r>
              </a:p>
            </p:txBody>
          </p:sp>
          <p:sp>
            <p:nvSpPr>
              <p:cNvPr id="25711" name="Oval 27"/>
              <p:cNvSpPr>
                <a:spLocks noChangeArrowheads="1"/>
              </p:cNvSpPr>
              <p:nvPr/>
            </p:nvSpPr>
            <p:spPr bwMode="auto">
              <a:xfrm>
                <a:off x="1504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25</a:t>
                </a:r>
              </a:p>
            </p:txBody>
          </p:sp>
          <p:sp>
            <p:nvSpPr>
              <p:cNvPr id="25712" name="Line 28"/>
              <p:cNvSpPr>
                <a:spLocks noChangeShapeType="1"/>
              </p:cNvSpPr>
              <p:nvPr/>
            </p:nvSpPr>
            <p:spPr bwMode="auto">
              <a:xfrm flipH="1">
                <a:off x="1468" y="1860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713" name="Line 29"/>
              <p:cNvSpPr>
                <a:spLocks noChangeShapeType="1"/>
              </p:cNvSpPr>
              <p:nvPr/>
            </p:nvSpPr>
            <p:spPr bwMode="auto">
              <a:xfrm>
                <a:off x="1756" y="1865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98" name="Rectangle 30"/>
            <p:cNvSpPr>
              <a:spLocks noChangeArrowheads="1"/>
            </p:cNvSpPr>
            <p:nvPr/>
          </p:nvSpPr>
          <p:spPr bwMode="auto">
            <a:xfrm>
              <a:off x="1996" y="149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205" y="1463"/>
              <a:ext cx="820" cy="595"/>
              <a:chOff x="109" y="1602"/>
              <a:chExt cx="820" cy="595"/>
            </a:xfrm>
          </p:grpSpPr>
          <p:sp>
            <p:nvSpPr>
              <p:cNvPr id="25704" name="Rectangle 32"/>
              <p:cNvSpPr>
                <a:spLocks noChangeArrowheads="1"/>
              </p:cNvSpPr>
              <p:nvPr/>
            </p:nvSpPr>
            <p:spPr bwMode="auto">
              <a:xfrm>
                <a:off x="109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f: 5</a:t>
                </a:r>
              </a:p>
            </p:txBody>
          </p:sp>
          <p:sp>
            <p:nvSpPr>
              <p:cNvPr id="25705" name="Rectangle 33"/>
              <p:cNvSpPr>
                <a:spLocks noChangeArrowheads="1"/>
              </p:cNvSpPr>
              <p:nvPr/>
            </p:nvSpPr>
            <p:spPr bwMode="auto">
              <a:xfrm>
                <a:off x="537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e: 9</a:t>
                </a:r>
              </a:p>
            </p:txBody>
          </p:sp>
          <p:sp>
            <p:nvSpPr>
              <p:cNvPr id="25706" name="Oval 34"/>
              <p:cNvSpPr>
                <a:spLocks noChangeArrowheads="1"/>
              </p:cNvSpPr>
              <p:nvPr/>
            </p:nvSpPr>
            <p:spPr bwMode="auto">
              <a:xfrm>
                <a:off x="353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14</a:t>
                </a:r>
              </a:p>
            </p:txBody>
          </p:sp>
          <p:sp>
            <p:nvSpPr>
              <p:cNvPr id="25707" name="Line 35"/>
              <p:cNvSpPr>
                <a:spLocks noChangeShapeType="1"/>
              </p:cNvSpPr>
              <p:nvPr/>
            </p:nvSpPr>
            <p:spPr bwMode="auto">
              <a:xfrm flipH="1">
                <a:off x="317" y="1855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708" name="Line 36"/>
              <p:cNvSpPr>
                <a:spLocks noChangeShapeType="1"/>
              </p:cNvSpPr>
              <p:nvPr/>
            </p:nvSpPr>
            <p:spPr bwMode="auto">
              <a:xfrm>
                <a:off x="605" y="1860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700" name="Text Box 37"/>
            <p:cNvSpPr txBox="1">
              <a:spLocks noChangeArrowheads="1"/>
            </p:cNvSpPr>
            <p:nvPr/>
          </p:nvSpPr>
          <p:spPr bwMode="auto">
            <a:xfrm>
              <a:off x="231" y="160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01" name="Text Box 38"/>
            <p:cNvSpPr txBox="1">
              <a:spLocks noChangeArrowheads="1"/>
            </p:cNvSpPr>
            <p:nvPr/>
          </p:nvSpPr>
          <p:spPr bwMode="auto">
            <a:xfrm>
              <a:off x="1311" y="1596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02" name="Text Box 39"/>
            <p:cNvSpPr txBox="1">
              <a:spLocks noChangeArrowheads="1"/>
            </p:cNvSpPr>
            <p:nvPr/>
          </p:nvSpPr>
          <p:spPr bwMode="auto">
            <a:xfrm>
              <a:off x="667" y="159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703" name="Text Box 40"/>
            <p:cNvSpPr txBox="1">
              <a:spLocks noChangeArrowheads="1"/>
            </p:cNvSpPr>
            <p:nvPr/>
          </p:nvSpPr>
          <p:spPr bwMode="auto">
            <a:xfrm>
              <a:off x="1729" y="160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2424305" y="1193331"/>
            <a:ext cx="1883258" cy="777954"/>
            <a:chOff x="3029" y="1489"/>
            <a:chExt cx="2353" cy="972"/>
          </a:xfrm>
        </p:grpSpPr>
        <p:grpSp>
          <p:nvGrpSpPr>
            <p:cNvPr id="9" name="Group 42"/>
            <p:cNvGrpSpPr>
              <a:grpSpLocks/>
            </p:cNvGrpSpPr>
            <p:nvPr/>
          </p:nvGrpSpPr>
          <p:grpSpPr bwMode="auto">
            <a:xfrm>
              <a:off x="3781" y="1866"/>
              <a:ext cx="820" cy="595"/>
              <a:chOff x="109" y="1602"/>
              <a:chExt cx="820" cy="595"/>
            </a:xfrm>
          </p:grpSpPr>
          <p:sp>
            <p:nvSpPr>
              <p:cNvPr id="25691" name="Rectangle 43"/>
              <p:cNvSpPr>
                <a:spLocks noChangeArrowheads="1"/>
              </p:cNvSpPr>
              <p:nvPr/>
            </p:nvSpPr>
            <p:spPr bwMode="auto">
              <a:xfrm>
                <a:off x="109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f: 5</a:t>
                </a:r>
              </a:p>
            </p:txBody>
          </p:sp>
          <p:sp>
            <p:nvSpPr>
              <p:cNvPr id="25692" name="Rectangle 44"/>
              <p:cNvSpPr>
                <a:spLocks noChangeArrowheads="1"/>
              </p:cNvSpPr>
              <p:nvPr/>
            </p:nvSpPr>
            <p:spPr bwMode="auto">
              <a:xfrm>
                <a:off x="537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e: 9</a:t>
                </a:r>
              </a:p>
            </p:txBody>
          </p:sp>
          <p:sp>
            <p:nvSpPr>
              <p:cNvPr id="25693" name="Oval 45"/>
              <p:cNvSpPr>
                <a:spLocks noChangeArrowheads="1"/>
              </p:cNvSpPr>
              <p:nvPr/>
            </p:nvSpPr>
            <p:spPr bwMode="auto">
              <a:xfrm>
                <a:off x="353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14</a:t>
                </a:r>
              </a:p>
            </p:txBody>
          </p:sp>
          <p:sp>
            <p:nvSpPr>
              <p:cNvPr id="25694" name="Line 46"/>
              <p:cNvSpPr>
                <a:spLocks noChangeShapeType="1"/>
              </p:cNvSpPr>
              <p:nvPr/>
            </p:nvSpPr>
            <p:spPr bwMode="auto">
              <a:xfrm flipH="1">
                <a:off x="317" y="1855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95" name="Line 47"/>
              <p:cNvSpPr>
                <a:spLocks noChangeShapeType="1"/>
              </p:cNvSpPr>
              <p:nvPr/>
            </p:nvSpPr>
            <p:spPr bwMode="auto">
              <a:xfrm>
                <a:off x="605" y="1860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grpSp>
          <p:nvGrpSpPr>
            <p:cNvPr id="10" name="Group 48"/>
            <p:cNvGrpSpPr>
              <a:grpSpLocks/>
            </p:cNvGrpSpPr>
            <p:nvPr/>
          </p:nvGrpSpPr>
          <p:grpSpPr bwMode="auto">
            <a:xfrm>
              <a:off x="3029" y="1497"/>
              <a:ext cx="820" cy="600"/>
              <a:chOff x="1260" y="1602"/>
              <a:chExt cx="820" cy="600"/>
            </a:xfrm>
          </p:grpSpPr>
          <p:sp>
            <p:nvSpPr>
              <p:cNvPr id="25686" name="Rectangle 49"/>
              <p:cNvSpPr>
                <a:spLocks noChangeArrowheads="1"/>
              </p:cNvSpPr>
              <p:nvPr/>
            </p:nvSpPr>
            <p:spPr bwMode="auto">
              <a:xfrm>
                <a:off x="1260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c: 12</a:t>
                </a:r>
              </a:p>
            </p:txBody>
          </p:sp>
          <p:sp>
            <p:nvSpPr>
              <p:cNvPr id="25687" name="Rectangle 50"/>
              <p:cNvSpPr>
                <a:spLocks noChangeArrowheads="1"/>
              </p:cNvSpPr>
              <p:nvPr/>
            </p:nvSpPr>
            <p:spPr bwMode="auto">
              <a:xfrm>
                <a:off x="1688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b: 13</a:t>
                </a:r>
              </a:p>
            </p:txBody>
          </p:sp>
          <p:sp>
            <p:nvSpPr>
              <p:cNvPr id="25688" name="Oval 51"/>
              <p:cNvSpPr>
                <a:spLocks noChangeArrowheads="1"/>
              </p:cNvSpPr>
              <p:nvPr/>
            </p:nvSpPr>
            <p:spPr bwMode="auto">
              <a:xfrm>
                <a:off x="1504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25</a:t>
                </a:r>
              </a:p>
            </p:txBody>
          </p:sp>
          <p:sp>
            <p:nvSpPr>
              <p:cNvPr id="25689" name="Line 52"/>
              <p:cNvSpPr>
                <a:spLocks noChangeShapeType="1"/>
              </p:cNvSpPr>
              <p:nvPr/>
            </p:nvSpPr>
            <p:spPr bwMode="auto">
              <a:xfrm flipH="1">
                <a:off x="1468" y="1860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90" name="Line 53"/>
              <p:cNvSpPr>
                <a:spLocks noChangeShapeType="1"/>
              </p:cNvSpPr>
              <p:nvPr/>
            </p:nvSpPr>
            <p:spPr bwMode="auto">
              <a:xfrm>
                <a:off x="1756" y="1865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75" name="Rectangle 54"/>
            <p:cNvSpPr>
              <a:spLocks noChangeArrowheads="1"/>
            </p:cNvSpPr>
            <p:nvPr/>
          </p:nvSpPr>
          <p:spPr bwMode="auto">
            <a:xfrm>
              <a:off x="4438" y="1873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sp>
          <p:nvSpPr>
            <p:cNvPr id="25676" name="Oval 55"/>
            <p:cNvSpPr>
              <a:spLocks noChangeArrowheads="1"/>
            </p:cNvSpPr>
            <p:nvPr/>
          </p:nvSpPr>
          <p:spPr bwMode="auto">
            <a:xfrm>
              <a:off x="4254" y="1489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30</a:t>
              </a:r>
            </a:p>
          </p:txBody>
        </p:sp>
        <p:sp>
          <p:nvSpPr>
            <p:cNvPr id="25677" name="Line 56"/>
            <p:cNvSpPr>
              <a:spLocks noChangeShapeType="1"/>
            </p:cNvSpPr>
            <p:nvPr/>
          </p:nvSpPr>
          <p:spPr bwMode="auto">
            <a:xfrm flipH="1">
              <a:off x="4218" y="1742"/>
              <a:ext cx="126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78" name="Line 57"/>
            <p:cNvSpPr>
              <a:spLocks noChangeShapeType="1"/>
            </p:cNvSpPr>
            <p:nvPr/>
          </p:nvSpPr>
          <p:spPr bwMode="auto">
            <a:xfrm>
              <a:off x="4506" y="1747"/>
              <a:ext cx="131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79" name="Rectangle 58"/>
            <p:cNvSpPr>
              <a:spLocks noChangeArrowheads="1"/>
            </p:cNvSpPr>
            <p:nvPr/>
          </p:nvSpPr>
          <p:spPr bwMode="auto">
            <a:xfrm>
              <a:off x="4990" y="152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680" name="Text Box 59"/>
            <p:cNvSpPr txBox="1">
              <a:spLocks noChangeArrowheads="1"/>
            </p:cNvSpPr>
            <p:nvPr/>
          </p:nvSpPr>
          <p:spPr bwMode="auto">
            <a:xfrm>
              <a:off x="3083" y="163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81" name="Text Box 60"/>
            <p:cNvSpPr txBox="1">
              <a:spLocks noChangeArrowheads="1"/>
            </p:cNvSpPr>
            <p:nvPr/>
          </p:nvSpPr>
          <p:spPr bwMode="auto">
            <a:xfrm>
              <a:off x="4058" y="162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82" name="Text Box 61"/>
            <p:cNvSpPr txBox="1">
              <a:spLocks noChangeArrowheads="1"/>
            </p:cNvSpPr>
            <p:nvPr/>
          </p:nvSpPr>
          <p:spPr bwMode="auto">
            <a:xfrm>
              <a:off x="3837" y="199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83" name="Text Box 62"/>
            <p:cNvSpPr txBox="1">
              <a:spLocks noChangeArrowheads="1"/>
            </p:cNvSpPr>
            <p:nvPr/>
          </p:nvSpPr>
          <p:spPr bwMode="auto">
            <a:xfrm>
              <a:off x="3505" y="163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84" name="Text Box 63"/>
            <p:cNvSpPr txBox="1">
              <a:spLocks noChangeArrowheads="1"/>
            </p:cNvSpPr>
            <p:nvPr/>
          </p:nvSpPr>
          <p:spPr bwMode="auto">
            <a:xfrm>
              <a:off x="4496" y="162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85" name="Text Box 64"/>
            <p:cNvSpPr txBox="1">
              <a:spLocks noChangeArrowheads="1"/>
            </p:cNvSpPr>
            <p:nvPr/>
          </p:nvSpPr>
          <p:spPr bwMode="auto">
            <a:xfrm>
              <a:off x="4248" y="201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11" name="Group 65"/>
          <p:cNvGrpSpPr>
            <a:grpSpLocks/>
          </p:cNvGrpSpPr>
          <p:nvPr/>
        </p:nvGrpSpPr>
        <p:grpSpPr bwMode="auto">
          <a:xfrm>
            <a:off x="288932" y="2107347"/>
            <a:ext cx="1683165" cy="1102102"/>
            <a:chOff x="361" y="2631"/>
            <a:chExt cx="2103" cy="1377"/>
          </a:xfrm>
        </p:grpSpPr>
        <p:sp>
          <p:nvSpPr>
            <p:cNvPr id="25644" name="Rectangle 66"/>
            <p:cNvSpPr>
              <a:spLocks noChangeArrowheads="1"/>
            </p:cNvSpPr>
            <p:nvPr/>
          </p:nvSpPr>
          <p:spPr bwMode="auto">
            <a:xfrm>
              <a:off x="361" y="2663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grpSp>
          <p:nvGrpSpPr>
            <p:cNvPr id="12" name="Group 67"/>
            <p:cNvGrpSpPr>
              <a:grpSpLocks/>
            </p:cNvGrpSpPr>
            <p:nvPr/>
          </p:nvGrpSpPr>
          <p:grpSpPr bwMode="auto">
            <a:xfrm>
              <a:off x="663" y="3036"/>
              <a:ext cx="1801" cy="972"/>
              <a:chOff x="335" y="3180"/>
              <a:chExt cx="1801" cy="972"/>
            </a:xfrm>
          </p:grpSpPr>
          <p:grpSp>
            <p:nvGrpSpPr>
              <p:cNvPr id="13" name="Group 68"/>
              <p:cNvGrpSpPr>
                <a:grpSpLocks/>
              </p:cNvGrpSpPr>
              <p:nvPr/>
            </p:nvGrpSpPr>
            <p:grpSpPr bwMode="auto">
              <a:xfrm>
                <a:off x="1087" y="3557"/>
                <a:ext cx="820" cy="595"/>
                <a:chOff x="109" y="1602"/>
                <a:chExt cx="820" cy="595"/>
              </a:xfrm>
            </p:grpSpPr>
            <p:sp>
              <p:nvSpPr>
                <p:cNvPr id="25668" name="Rectangle 69"/>
                <p:cNvSpPr>
                  <a:spLocks noChangeArrowheads="1"/>
                </p:cNvSpPr>
                <p:nvPr/>
              </p:nvSpPr>
              <p:spPr bwMode="auto">
                <a:xfrm>
                  <a:off x="109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f: 5</a:t>
                  </a:r>
                </a:p>
              </p:txBody>
            </p:sp>
            <p:sp>
              <p:nvSpPr>
                <p:cNvPr id="25669" name="Rectangle 70"/>
                <p:cNvSpPr>
                  <a:spLocks noChangeArrowheads="1"/>
                </p:cNvSpPr>
                <p:nvPr/>
              </p:nvSpPr>
              <p:spPr bwMode="auto">
                <a:xfrm>
                  <a:off x="537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e: 9</a:t>
                  </a:r>
                </a:p>
              </p:txBody>
            </p:sp>
            <p:sp>
              <p:nvSpPr>
                <p:cNvPr id="25670" name="Oval 71"/>
                <p:cNvSpPr>
                  <a:spLocks noChangeArrowheads="1"/>
                </p:cNvSpPr>
                <p:nvPr/>
              </p:nvSpPr>
              <p:spPr bwMode="auto">
                <a:xfrm>
                  <a:off x="353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14</a:t>
                  </a:r>
                </a:p>
              </p:txBody>
            </p:sp>
            <p:sp>
              <p:nvSpPr>
                <p:cNvPr id="25671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317" y="1855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72" name="Line 73"/>
                <p:cNvSpPr>
                  <a:spLocks noChangeShapeType="1"/>
                </p:cNvSpPr>
                <p:nvPr/>
              </p:nvSpPr>
              <p:spPr bwMode="auto">
                <a:xfrm>
                  <a:off x="605" y="1860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grpSp>
            <p:nvGrpSpPr>
              <p:cNvPr id="14" name="Group 74"/>
              <p:cNvGrpSpPr>
                <a:grpSpLocks/>
              </p:cNvGrpSpPr>
              <p:nvPr/>
            </p:nvGrpSpPr>
            <p:grpSpPr bwMode="auto">
              <a:xfrm>
                <a:off x="335" y="3188"/>
                <a:ext cx="820" cy="600"/>
                <a:chOff x="1260" y="1602"/>
                <a:chExt cx="820" cy="600"/>
              </a:xfrm>
            </p:grpSpPr>
            <p:sp>
              <p:nvSpPr>
                <p:cNvPr id="25663" name="Rectangle 75"/>
                <p:cNvSpPr>
                  <a:spLocks noChangeArrowheads="1"/>
                </p:cNvSpPr>
                <p:nvPr/>
              </p:nvSpPr>
              <p:spPr bwMode="auto">
                <a:xfrm>
                  <a:off x="1260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c: 12</a:t>
                  </a:r>
                </a:p>
              </p:txBody>
            </p:sp>
            <p:sp>
              <p:nvSpPr>
                <p:cNvPr id="25664" name="Rectangle 76"/>
                <p:cNvSpPr>
                  <a:spLocks noChangeArrowheads="1"/>
                </p:cNvSpPr>
                <p:nvPr/>
              </p:nvSpPr>
              <p:spPr bwMode="auto">
                <a:xfrm>
                  <a:off x="1688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b: 13</a:t>
                  </a:r>
                </a:p>
              </p:txBody>
            </p:sp>
            <p:sp>
              <p:nvSpPr>
                <p:cNvPr id="25665" name="Oval 77"/>
                <p:cNvSpPr>
                  <a:spLocks noChangeArrowheads="1"/>
                </p:cNvSpPr>
                <p:nvPr/>
              </p:nvSpPr>
              <p:spPr bwMode="auto">
                <a:xfrm>
                  <a:off x="1504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25</a:t>
                  </a:r>
                </a:p>
              </p:txBody>
            </p:sp>
            <p:sp>
              <p:nvSpPr>
                <p:cNvPr id="25666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468" y="1860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67" name="Line 79"/>
                <p:cNvSpPr>
                  <a:spLocks noChangeShapeType="1"/>
                </p:cNvSpPr>
                <p:nvPr/>
              </p:nvSpPr>
              <p:spPr bwMode="auto">
                <a:xfrm>
                  <a:off x="1756" y="1865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sp>
            <p:nvSpPr>
              <p:cNvPr id="25659" name="Rectangle 80"/>
              <p:cNvSpPr>
                <a:spLocks noChangeArrowheads="1"/>
              </p:cNvSpPr>
              <p:nvPr/>
            </p:nvSpPr>
            <p:spPr bwMode="auto">
              <a:xfrm>
                <a:off x="1744" y="3564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d: 16</a:t>
                </a:r>
              </a:p>
            </p:txBody>
          </p:sp>
          <p:sp>
            <p:nvSpPr>
              <p:cNvPr id="25660" name="Oval 81"/>
              <p:cNvSpPr>
                <a:spLocks noChangeArrowheads="1"/>
              </p:cNvSpPr>
              <p:nvPr/>
            </p:nvSpPr>
            <p:spPr bwMode="auto">
              <a:xfrm>
                <a:off x="1560" y="3180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30</a:t>
                </a:r>
              </a:p>
            </p:txBody>
          </p:sp>
          <p:sp>
            <p:nvSpPr>
              <p:cNvPr id="25661" name="Line 82"/>
              <p:cNvSpPr>
                <a:spLocks noChangeShapeType="1"/>
              </p:cNvSpPr>
              <p:nvPr/>
            </p:nvSpPr>
            <p:spPr bwMode="auto">
              <a:xfrm flipH="1">
                <a:off x="1524" y="3433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62" name="Line 83"/>
              <p:cNvSpPr>
                <a:spLocks noChangeShapeType="1"/>
              </p:cNvSpPr>
              <p:nvPr/>
            </p:nvSpPr>
            <p:spPr bwMode="auto">
              <a:xfrm>
                <a:off x="1812" y="3438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46" name="Oval 84"/>
            <p:cNvSpPr>
              <a:spLocks noChangeArrowheads="1"/>
            </p:cNvSpPr>
            <p:nvPr/>
          </p:nvSpPr>
          <p:spPr bwMode="auto">
            <a:xfrm>
              <a:off x="1383" y="2631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55</a:t>
              </a:r>
            </a:p>
          </p:txBody>
        </p:sp>
        <p:sp>
          <p:nvSpPr>
            <p:cNvPr id="25647" name="Line 85"/>
            <p:cNvSpPr>
              <a:spLocks noChangeShapeType="1"/>
            </p:cNvSpPr>
            <p:nvPr/>
          </p:nvSpPr>
          <p:spPr bwMode="auto">
            <a:xfrm flipH="1">
              <a:off x="1161" y="2885"/>
              <a:ext cx="27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48" name="Line 86"/>
            <p:cNvSpPr>
              <a:spLocks noChangeShapeType="1"/>
            </p:cNvSpPr>
            <p:nvPr/>
          </p:nvSpPr>
          <p:spPr bwMode="auto">
            <a:xfrm>
              <a:off x="1656" y="2853"/>
              <a:ext cx="306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49" name="Text Box 87"/>
            <p:cNvSpPr txBox="1">
              <a:spLocks noChangeArrowheads="1"/>
            </p:cNvSpPr>
            <p:nvPr/>
          </p:nvSpPr>
          <p:spPr bwMode="auto">
            <a:xfrm>
              <a:off x="1076" y="276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0" name="Text Box 88"/>
            <p:cNvSpPr txBox="1">
              <a:spLocks noChangeArrowheads="1"/>
            </p:cNvSpPr>
            <p:nvPr/>
          </p:nvSpPr>
          <p:spPr bwMode="auto">
            <a:xfrm>
              <a:off x="718" y="3175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1" name="Text Box 89"/>
            <p:cNvSpPr txBox="1">
              <a:spLocks noChangeArrowheads="1"/>
            </p:cNvSpPr>
            <p:nvPr/>
          </p:nvSpPr>
          <p:spPr bwMode="auto">
            <a:xfrm>
              <a:off x="1695" y="3165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2" name="Text Box 90"/>
            <p:cNvSpPr txBox="1">
              <a:spLocks noChangeArrowheads="1"/>
            </p:cNvSpPr>
            <p:nvPr/>
          </p:nvSpPr>
          <p:spPr bwMode="auto">
            <a:xfrm>
              <a:off x="1452" y="3548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3" name="Text Box 91"/>
            <p:cNvSpPr txBox="1">
              <a:spLocks noChangeArrowheads="1"/>
            </p:cNvSpPr>
            <p:nvPr/>
          </p:nvSpPr>
          <p:spPr bwMode="auto">
            <a:xfrm>
              <a:off x="1702" y="273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54" name="Text Box 92"/>
            <p:cNvSpPr txBox="1">
              <a:spLocks noChangeArrowheads="1"/>
            </p:cNvSpPr>
            <p:nvPr/>
          </p:nvSpPr>
          <p:spPr bwMode="auto">
            <a:xfrm>
              <a:off x="2132" y="316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55" name="Text Box 93"/>
            <p:cNvSpPr txBox="1">
              <a:spLocks noChangeArrowheads="1"/>
            </p:cNvSpPr>
            <p:nvPr/>
          </p:nvSpPr>
          <p:spPr bwMode="auto">
            <a:xfrm>
              <a:off x="1132" y="318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56" name="Text Box 94"/>
            <p:cNvSpPr txBox="1">
              <a:spLocks noChangeArrowheads="1"/>
            </p:cNvSpPr>
            <p:nvPr/>
          </p:nvSpPr>
          <p:spPr bwMode="auto">
            <a:xfrm>
              <a:off x="1886" y="355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15" name="Group 95"/>
          <p:cNvGrpSpPr>
            <a:grpSpLocks/>
          </p:cNvGrpSpPr>
          <p:nvPr/>
        </p:nvGrpSpPr>
        <p:grpSpPr bwMode="auto">
          <a:xfrm>
            <a:off x="2666814" y="2062527"/>
            <a:ext cx="1629542" cy="1339010"/>
            <a:chOff x="3332" y="2575"/>
            <a:chExt cx="2036" cy="1673"/>
          </a:xfrm>
        </p:grpSpPr>
        <p:grpSp>
          <p:nvGrpSpPr>
            <p:cNvPr id="16" name="Group 96"/>
            <p:cNvGrpSpPr>
              <a:grpSpLocks/>
            </p:cNvGrpSpPr>
            <p:nvPr/>
          </p:nvGrpSpPr>
          <p:grpSpPr bwMode="auto">
            <a:xfrm>
              <a:off x="3567" y="3276"/>
              <a:ext cx="1801" cy="972"/>
              <a:chOff x="335" y="3180"/>
              <a:chExt cx="1801" cy="972"/>
            </a:xfrm>
          </p:grpSpPr>
          <p:grpSp>
            <p:nvGrpSpPr>
              <p:cNvPr id="17" name="Group 97"/>
              <p:cNvGrpSpPr>
                <a:grpSpLocks/>
              </p:cNvGrpSpPr>
              <p:nvPr/>
            </p:nvGrpSpPr>
            <p:grpSpPr bwMode="auto">
              <a:xfrm>
                <a:off x="1087" y="3557"/>
                <a:ext cx="820" cy="595"/>
                <a:chOff x="109" y="1602"/>
                <a:chExt cx="820" cy="595"/>
              </a:xfrm>
            </p:grpSpPr>
            <p:sp>
              <p:nvSpPr>
                <p:cNvPr id="25639" name="Rectangle 98"/>
                <p:cNvSpPr>
                  <a:spLocks noChangeArrowheads="1"/>
                </p:cNvSpPr>
                <p:nvPr/>
              </p:nvSpPr>
              <p:spPr bwMode="auto">
                <a:xfrm>
                  <a:off x="109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f: 5</a:t>
                  </a:r>
                </a:p>
              </p:txBody>
            </p:sp>
            <p:sp>
              <p:nvSpPr>
                <p:cNvPr id="25640" name="Rectangle 99"/>
                <p:cNvSpPr>
                  <a:spLocks noChangeArrowheads="1"/>
                </p:cNvSpPr>
                <p:nvPr/>
              </p:nvSpPr>
              <p:spPr bwMode="auto">
                <a:xfrm>
                  <a:off x="537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e: 9</a:t>
                  </a:r>
                </a:p>
              </p:txBody>
            </p:sp>
            <p:sp>
              <p:nvSpPr>
                <p:cNvPr id="25641" name="Oval 100"/>
                <p:cNvSpPr>
                  <a:spLocks noChangeArrowheads="1"/>
                </p:cNvSpPr>
                <p:nvPr/>
              </p:nvSpPr>
              <p:spPr bwMode="auto">
                <a:xfrm>
                  <a:off x="353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14</a:t>
                  </a:r>
                </a:p>
              </p:txBody>
            </p:sp>
            <p:sp>
              <p:nvSpPr>
                <p:cNvPr id="25642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317" y="1855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43" name="Line 102"/>
                <p:cNvSpPr>
                  <a:spLocks noChangeShapeType="1"/>
                </p:cNvSpPr>
                <p:nvPr/>
              </p:nvSpPr>
              <p:spPr bwMode="auto">
                <a:xfrm>
                  <a:off x="605" y="1860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grpSp>
            <p:nvGrpSpPr>
              <p:cNvPr id="18" name="Group 103"/>
              <p:cNvGrpSpPr>
                <a:grpSpLocks/>
              </p:cNvGrpSpPr>
              <p:nvPr/>
            </p:nvGrpSpPr>
            <p:grpSpPr bwMode="auto">
              <a:xfrm>
                <a:off x="335" y="3188"/>
                <a:ext cx="820" cy="600"/>
                <a:chOff x="1260" y="1602"/>
                <a:chExt cx="820" cy="600"/>
              </a:xfrm>
            </p:grpSpPr>
            <p:sp>
              <p:nvSpPr>
                <p:cNvPr id="25634" name="Rectangle 104"/>
                <p:cNvSpPr>
                  <a:spLocks noChangeArrowheads="1"/>
                </p:cNvSpPr>
                <p:nvPr/>
              </p:nvSpPr>
              <p:spPr bwMode="auto">
                <a:xfrm>
                  <a:off x="1260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c: 12</a:t>
                  </a:r>
                </a:p>
              </p:txBody>
            </p:sp>
            <p:sp>
              <p:nvSpPr>
                <p:cNvPr id="25635" name="Rectangle 105"/>
                <p:cNvSpPr>
                  <a:spLocks noChangeArrowheads="1"/>
                </p:cNvSpPr>
                <p:nvPr/>
              </p:nvSpPr>
              <p:spPr bwMode="auto">
                <a:xfrm>
                  <a:off x="1688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b: 13</a:t>
                  </a:r>
                </a:p>
              </p:txBody>
            </p:sp>
            <p:sp>
              <p:nvSpPr>
                <p:cNvPr id="25636" name="Oval 106"/>
                <p:cNvSpPr>
                  <a:spLocks noChangeArrowheads="1"/>
                </p:cNvSpPr>
                <p:nvPr/>
              </p:nvSpPr>
              <p:spPr bwMode="auto">
                <a:xfrm>
                  <a:off x="1504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25</a:t>
                  </a:r>
                </a:p>
              </p:txBody>
            </p:sp>
            <p:sp>
              <p:nvSpPr>
                <p:cNvPr id="25637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1468" y="1860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38" name="Line 108"/>
                <p:cNvSpPr>
                  <a:spLocks noChangeShapeType="1"/>
                </p:cNvSpPr>
                <p:nvPr/>
              </p:nvSpPr>
              <p:spPr bwMode="auto">
                <a:xfrm>
                  <a:off x="1756" y="1865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sp>
            <p:nvSpPr>
              <p:cNvPr id="25630" name="Rectangle 109"/>
              <p:cNvSpPr>
                <a:spLocks noChangeArrowheads="1"/>
              </p:cNvSpPr>
              <p:nvPr/>
            </p:nvSpPr>
            <p:spPr bwMode="auto">
              <a:xfrm>
                <a:off x="1744" y="3564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d: 16</a:t>
                </a:r>
              </a:p>
            </p:txBody>
          </p:sp>
          <p:sp>
            <p:nvSpPr>
              <p:cNvPr id="25631" name="Oval 110"/>
              <p:cNvSpPr>
                <a:spLocks noChangeArrowheads="1"/>
              </p:cNvSpPr>
              <p:nvPr/>
            </p:nvSpPr>
            <p:spPr bwMode="auto">
              <a:xfrm>
                <a:off x="1560" y="3180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30</a:t>
                </a:r>
              </a:p>
            </p:txBody>
          </p:sp>
          <p:sp>
            <p:nvSpPr>
              <p:cNvPr id="25632" name="Line 111"/>
              <p:cNvSpPr>
                <a:spLocks noChangeShapeType="1"/>
              </p:cNvSpPr>
              <p:nvPr/>
            </p:nvSpPr>
            <p:spPr bwMode="auto">
              <a:xfrm flipH="1">
                <a:off x="1524" y="3433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33" name="Line 112"/>
              <p:cNvSpPr>
                <a:spLocks noChangeShapeType="1"/>
              </p:cNvSpPr>
              <p:nvPr/>
            </p:nvSpPr>
            <p:spPr bwMode="auto">
              <a:xfrm>
                <a:off x="1812" y="3438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11" name="Oval 113"/>
            <p:cNvSpPr>
              <a:spLocks noChangeArrowheads="1"/>
            </p:cNvSpPr>
            <p:nvPr/>
          </p:nvSpPr>
          <p:spPr bwMode="auto">
            <a:xfrm>
              <a:off x="4287" y="2871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55</a:t>
              </a:r>
            </a:p>
          </p:txBody>
        </p:sp>
        <p:sp>
          <p:nvSpPr>
            <p:cNvPr id="25612" name="Line 114"/>
            <p:cNvSpPr>
              <a:spLocks noChangeShapeType="1"/>
            </p:cNvSpPr>
            <p:nvPr/>
          </p:nvSpPr>
          <p:spPr bwMode="auto">
            <a:xfrm flipH="1">
              <a:off x="4065" y="3125"/>
              <a:ext cx="27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3" name="Line 115"/>
            <p:cNvSpPr>
              <a:spLocks noChangeShapeType="1"/>
            </p:cNvSpPr>
            <p:nvPr/>
          </p:nvSpPr>
          <p:spPr bwMode="auto">
            <a:xfrm>
              <a:off x="4560" y="3093"/>
              <a:ext cx="306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4" name="Rectangle 116"/>
            <p:cNvSpPr>
              <a:spLocks noChangeArrowheads="1"/>
            </p:cNvSpPr>
            <p:nvPr/>
          </p:nvSpPr>
          <p:spPr bwMode="auto">
            <a:xfrm>
              <a:off x="3332" y="2888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615" name="Oval 117"/>
            <p:cNvSpPr>
              <a:spLocks noChangeArrowheads="1"/>
            </p:cNvSpPr>
            <p:nvPr/>
          </p:nvSpPr>
          <p:spPr bwMode="auto">
            <a:xfrm>
              <a:off x="3876" y="2575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100</a:t>
              </a:r>
            </a:p>
          </p:txBody>
        </p:sp>
        <p:sp>
          <p:nvSpPr>
            <p:cNvPr id="25616" name="Line 118"/>
            <p:cNvSpPr>
              <a:spLocks noChangeShapeType="1"/>
            </p:cNvSpPr>
            <p:nvPr/>
          </p:nvSpPr>
          <p:spPr bwMode="auto">
            <a:xfrm flipH="1">
              <a:off x="3576" y="2781"/>
              <a:ext cx="32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7" name="Line 119"/>
            <p:cNvSpPr>
              <a:spLocks noChangeShapeType="1"/>
            </p:cNvSpPr>
            <p:nvPr/>
          </p:nvSpPr>
          <p:spPr bwMode="auto">
            <a:xfrm>
              <a:off x="4185" y="2777"/>
              <a:ext cx="2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8" name="Text Box 120"/>
            <p:cNvSpPr txBox="1">
              <a:spLocks noChangeArrowheads="1"/>
            </p:cNvSpPr>
            <p:nvPr/>
          </p:nvSpPr>
          <p:spPr bwMode="auto">
            <a:xfrm>
              <a:off x="3559" y="261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19" name="Text Box 121"/>
            <p:cNvSpPr txBox="1">
              <a:spLocks noChangeArrowheads="1"/>
            </p:cNvSpPr>
            <p:nvPr/>
          </p:nvSpPr>
          <p:spPr bwMode="auto">
            <a:xfrm>
              <a:off x="4006" y="298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20" name="Text Box 122"/>
            <p:cNvSpPr txBox="1">
              <a:spLocks noChangeArrowheads="1"/>
            </p:cNvSpPr>
            <p:nvPr/>
          </p:nvSpPr>
          <p:spPr bwMode="auto">
            <a:xfrm>
              <a:off x="3620" y="343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21" name="Text Box 123"/>
            <p:cNvSpPr txBox="1">
              <a:spLocks noChangeArrowheads="1"/>
            </p:cNvSpPr>
            <p:nvPr/>
          </p:nvSpPr>
          <p:spPr bwMode="auto">
            <a:xfrm>
              <a:off x="4603" y="341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22" name="Text Box 124"/>
            <p:cNvSpPr txBox="1">
              <a:spLocks noChangeArrowheads="1"/>
            </p:cNvSpPr>
            <p:nvPr/>
          </p:nvSpPr>
          <p:spPr bwMode="auto">
            <a:xfrm>
              <a:off x="4373" y="378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23" name="Text Box 125"/>
            <p:cNvSpPr txBox="1">
              <a:spLocks noChangeArrowheads="1"/>
            </p:cNvSpPr>
            <p:nvPr/>
          </p:nvSpPr>
          <p:spPr bwMode="auto">
            <a:xfrm>
              <a:off x="4197" y="260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4" name="Text Box 126"/>
            <p:cNvSpPr txBox="1">
              <a:spLocks noChangeArrowheads="1"/>
            </p:cNvSpPr>
            <p:nvPr/>
          </p:nvSpPr>
          <p:spPr bwMode="auto">
            <a:xfrm>
              <a:off x="4576" y="298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5" name="Text Box 127"/>
            <p:cNvSpPr txBox="1">
              <a:spLocks noChangeArrowheads="1"/>
            </p:cNvSpPr>
            <p:nvPr/>
          </p:nvSpPr>
          <p:spPr bwMode="auto">
            <a:xfrm>
              <a:off x="5014" y="3407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6" name="Text Box 128"/>
            <p:cNvSpPr txBox="1">
              <a:spLocks noChangeArrowheads="1"/>
            </p:cNvSpPr>
            <p:nvPr/>
          </p:nvSpPr>
          <p:spPr bwMode="auto">
            <a:xfrm>
              <a:off x="4034" y="343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27" name="Text Box 129"/>
            <p:cNvSpPr txBox="1">
              <a:spLocks noChangeArrowheads="1"/>
            </p:cNvSpPr>
            <p:nvPr/>
          </p:nvSpPr>
          <p:spPr bwMode="auto">
            <a:xfrm>
              <a:off x="4784" y="380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39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276999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Huffman encoding/decoding using Huffman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51" y="496295"/>
            <a:ext cx="451294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Encoding: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Construct Huffman tree using the previous algorithm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Traverse the Huffman tree to assign a code to each leaf (representing an input character )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Use these codes to encode the file</a:t>
            </a:r>
          </a:p>
          <a:p>
            <a:pPr algn="just">
              <a:buFont typeface="Arial" charset="0"/>
              <a:buChar char="•"/>
            </a:pPr>
            <a:endParaRPr lang="en-US" sz="1200" dirty="0"/>
          </a:p>
          <a:p>
            <a:pPr algn="just"/>
            <a:r>
              <a:rPr lang="en-US" sz="1400" b="1" dirty="0"/>
              <a:t>Decoding: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Construct Huffman tree using the previous algorithm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Traverse the Huffman tree according to the bits you encounter until you reach a leaf node at which point you output the character represented by that leaf node.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Continue in this fashion until all the bits in the file are read.</a:t>
            </a: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02270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Problem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solved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by greedy</a:t>
            </a:r>
            <a:r>
              <a:rPr sz="1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algorithms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7" y="587375"/>
            <a:ext cx="4414823" cy="236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5250" y="1120775"/>
            <a:ext cx="4196419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1360" y="1555061"/>
            <a:ext cx="4196419" cy="556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47650" y="2157627"/>
            <a:ext cx="4196419" cy="784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362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2" y="507036"/>
            <a:ext cx="4418299" cy="281103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4811" y="968375"/>
            <a:ext cx="441834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5250" y="1405646"/>
            <a:ext cx="4196419" cy="553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722" y="1941702"/>
            <a:ext cx="4196419" cy="302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5250" y="2294566"/>
            <a:ext cx="4267200" cy="350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95249" y="2733010"/>
            <a:ext cx="4417901" cy="585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44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</TotalTime>
  <Words>5850</Words>
  <Application>Microsoft Office PowerPoint</Application>
  <PresentationFormat>Custom</PresentationFormat>
  <Paragraphs>1370</Paragraphs>
  <Slides>95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8" baseType="lpstr">
      <vt:lpstr>Arial</vt:lpstr>
      <vt:lpstr>Calibri</vt:lpstr>
      <vt:lpstr>Calibri Light</vt:lpstr>
      <vt:lpstr>Comic Sans MS</vt:lpstr>
      <vt:lpstr>Courier New</vt:lpstr>
      <vt:lpstr>Lucida Sans Unicode</vt:lpstr>
      <vt:lpstr>Monotype Corsiva</vt:lpstr>
      <vt:lpstr>Symbol</vt:lpstr>
      <vt:lpstr>Tahoma</vt:lpstr>
      <vt:lpstr>Times New Roman</vt:lpstr>
      <vt:lpstr>Trebuchet MS</vt:lpstr>
      <vt:lpstr>Verdana</vt:lpstr>
      <vt:lpstr>Office Theme</vt:lpstr>
      <vt:lpstr>PowerPoint Presentation</vt:lpstr>
      <vt:lpstr>Types of Computational Problems</vt:lpstr>
      <vt:lpstr>Types of Computational Problems</vt:lpstr>
      <vt:lpstr>Types of Computational Problems</vt:lpstr>
      <vt:lpstr>Types of Computational Problems</vt:lpstr>
      <vt:lpstr>  Greedy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a greedy algorithm 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Extension: weighted interval scheduling problem</vt:lpstr>
      <vt:lpstr>Extension: weighted interval scheduling problem</vt:lpstr>
      <vt:lpstr>Extension: weighted interval scheduling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Coin changing problem (continued) Coin denominations, C = {12, 5, 1} Amount to change, A = 15  Example (using greedy strategy)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Fractional Knapsack Problem</vt:lpstr>
      <vt:lpstr>PowerPoint Presentation</vt:lpstr>
      <vt:lpstr>The Fractional Knapsack Algorithm</vt:lpstr>
      <vt:lpstr>Extension: 0/1 knapsack problem</vt:lpstr>
      <vt:lpstr>Huffman Codes</vt:lpstr>
      <vt:lpstr>Fixed-Length Codes</vt:lpstr>
      <vt:lpstr>Huffman Codes</vt:lpstr>
      <vt:lpstr>Variable-Length Codes</vt:lpstr>
      <vt:lpstr>Prefix Codes</vt:lpstr>
      <vt:lpstr>Encoding with Binary Character Codes</vt:lpstr>
      <vt:lpstr>Decoding with Binary Character Codes</vt:lpstr>
      <vt:lpstr>Constructing a Huffman Code</vt:lpstr>
      <vt:lpstr>Constructing a Huffman tree</vt:lpstr>
      <vt:lpstr>Example</vt:lpstr>
      <vt:lpstr>Example</vt:lpstr>
      <vt:lpstr>Huffman encoding/decoding using Huffman tree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221: Algorithms - Greedy algorithms</dc:title>
  <dc:subject>CSE 221: Algorithms</dc:subject>
  <dc:creator>Mumit Khan Fatema Tuz Zohora</dc:creator>
  <cp:lastModifiedBy>HP</cp:lastModifiedBy>
  <cp:revision>174</cp:revision>
  <dcterms:created xsi:type="dcterms:W3CDTF">2019-03-02T14:10:43Z</dcterms:created>
  <dcterms:modified xsi:type="dcterms:W3CDTF">2026-04-15T16:59:35Z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2012-11-13T00:00:00Z</vt:filetime>
  </property>
  <property fmtid="{D5CDD505-2E9C-101B-9397-08002B2CF9AE}" pid="3" name="Creator">
    <vt:lpwstr>LaTeX with Beamer class version 3.22</vt:lpwstr>
  </property>
  <property fmtid="{D5CDD505-2E9C-101B-9397-08002B2CF9AE}" pid="4" name="LastSaved">
    <vt:filetime>2019-03-02T00:00:00Z</vt:filetime>
  </property>
</Properties>
</file>