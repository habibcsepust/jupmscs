
<file path=[Content_Types].xml><?xml version="1.0" encoding="utf-8"?>
<Types xmlns="http://schemas.openxmlformats.org/package/2006/content-types"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7"/>
  </p:notesMasterIdLst>
  <p:sldIdLst>
    <p:sldId id="455" r:id="rId2"/>
    <p:sldId id="411" r:id="rId3"/>
    <p:sldId id="412" r:id="rId4"/>
    <p:sldId id="413" r:id="rId5"/>
    <p:sldId id="414" r:id="rId6"/>
    <p:sldId id="415" r:id="rId7"/>
    <p:sldId id="266" r:id="rId8"/>
    <p:sldId id="268" r:id="rId9"/>
    <p:sldId id="269" r:id="rId10"/>
    <p:sldId id="270" r:id="rId11"/>
    <p:sldId id="271" r:id="rId12"/>
    <p:sldId id="272" r:id="rId13"/>
    <p:sldId id="273" r:id="rId14"/>
    <p:sldId id="453" r:id="rId15"/>
    <p:sldId id="286" r:id="rId16"/>
    <p:sldId id="288" r:id="rId17"/>
    <p:sldId id="289" r:id="rId18"/>
    <p:sldId id="290" r:id="rId19"/>
    <p:sldId id="291" r:id="rId20"/>
    <p:sldId id="292" r:id="rId21"/>
    <p:sldId id="293" r:id="rId22"/>
    <p:sldId id="294" r:id="rId23"/>
    <p:sldId id="295" r:id="rId24"/>
    <p:sldId id="296" r:id="rId25"/>
    <p:sldId id="297" r:id="rId26"/>
    <p:sldId id="298" r:id="rId27"/>
    <p:sldId id="299" r:id="rId28"/>
    <p:sldId id="30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416" r:id="rId40"/>
    <p:sldId id="451" r:id="rId41"/>
    <p:sldId id="452" r:id="rId42"/>
    <p:sldId id="316" r:id="rId43"/>
    <p:sldId id="317" r:id="rId44"/>
    <p:sldId id="320" r:id="rId45"/>
    <p:sldId id="432" r:id="rId46"/>
    <p:sldId id="433" r:id="rId47"/>
    <p:sldId id="434" r:id="rId48"/>
    <p:sldId id="435" r:id="rId49"/>
    <p:sldId id="436" r:id="rId50"/>
    <p:sldId id="437" r:id="rId51"/>
    <p:sldId id="438" r:id="rId52"/>
    <p:sldId id="439" r:id="rId53"/>
    <p:sldId id="440" r:id="rId54"/>
    <p:sldId id="441" r:id="rId55"/>
    <p:sldId id="442" r:id="rId56"/>
    <p:sldId id="443" r:id="rId57"/>
    <p:sldId id="444" r:id="rId58"/>
    <p:sldId id="445" r:id="rId59"/>
    <p:sldId id="446" r:id="rId60"/>
    <p:sldId id="447" r:id="rId61"/>
    <p:sldId id="448" r:id="rId62"/>
    <p:sldId id="449" r:id="rId63"/>
    <p:sldId id="450" r:id="rId64"/>
    <p:sldId id="336" r:id="rId65"/>
    <p:sldId id="342" r:id="rId66"/>
    <p:sldId id="456" r:id="rId67"/>
    <p:sldId id="457" r:id="rId68"/>
    <p:sldId id="458" r:id="rId69"/>
    <p:sldId id="459" r:id="rId70"/>
    <p:sldId id="362" r:id="rId71"/>
    <p:sldId id="363" r:id="rId72"/>
    <p:sldId id="364" r:id="rId73"/>
    <p:sldId id="365" r:id="rId74"/>
    <p:sldId id="366" r:id="rId75"/>
    <p:sldId id="367" r:id="rId76"/>
    <p:sldId id="368" r:id="rId77"/>
    <p:sldId id="369" r:id="rId78"/>
    <p:sldId id="454" r:id="rId79"/>
    <p:sldId id="430" r:id="rId80"/>
    <p:sldId id="431" r:id="rId81"/>
    <p:sldId id="378" r:id="rId82"/>
    <p:sldId id="418" r:id="rId83"/>
    <p:sldId id="419" r:id="rId84"/>
    <p:sldId id="420" r:id="rId85"/>
    <p:sldId id="421" r:id="rId86"/>
    <p:sldId id="422" r:id="rId87"/>
    <p:sldId id="423" r:id="rId88"/>
    <p:sldId id="424" r:id="rId89"/>
    <p:sldId id="425" r:id="rId90"/>
    <p:sldId id="426" r:id="rId91"/>
    <p:sldId id="427" r:id="rId92"/>
    <p:sldId id="428" r:id="rId93"/>
    <p:sldId id="429" r:id="rId94"/>
    <p:sldId id="402" r:id="rId95"/>
    <p:sldId id="410" r:id="rId96"/>
  </p:sldIdLst>
  <p:sldSz cx="4610100" cy="3460750"/>
  <p:notesSz cx="4610100" cy="346075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208" d="100"/>
          <a:sy n="208" d="100"/>
        </p:scale>
        <p:origin x="1944" y="16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viewProps" Target="viewProps.xml"/><Relationship Id="rId10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presProps" Target="presProps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611438" y="0"/>
            <a:ext cx="1997075" cy="1730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30101E5-7CC2-4E3E-A157-E17A8A1784BB}" type="datetimeFigureOut">
              <a:rPr lang="en-US" smtClean="0"/>
              <a:t>3/29/2024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527175" y="433388"/>
            <a:ext cx="1555750" cy="116681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60375" y="1665288"/>
            <a:ext cx="3689350" cy="13636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611438" y="3287713"/>
            <a:ext cx="1997075" cy="1730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47C56B-7288-4B6D-B4E1-2CECDCDD26F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6344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47C56B-7288-4B6D-B4E1-2CECDCDD26F6}" type="slidenum">
              <a:rPr lang="en-US" smtClean="0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782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5" dirty="0"/>
              <a:t>‹#›</a:t>
            </a:fld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5" dirty="0"/>
              <a:t>‹#›</a:t>
            </a:fld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5" dirty="0"/>
              <a:t>‹#›</a:t>
            </a:fld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5" dirty="0"/>
              <a:t>‹#›</a:t>
            </a:fld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5" dirty="0"/>
              <a:t>‹#›</a:t>
            </a:fld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2304415" cy="126364"/>
          </a:xfrm>
          <a:custGeom>
            <a:avLst/>
            <a:gdLst/>
            <a:ahLst/>
            <a:cxnLst/>
            <a:rect l="l" t="t" r="r" b="b"/>
            <a:pathLst>
              <a:path w="2304415" h="126364">
                <a:moveTo>
                  <a:pt x="0" y="126123"/>
                </a:moveTo>
                <a:lnTo>
                  <a:pt x="2303995" y="126123"/>
                </a:lnTo>
                <a:lnTo>
                  <a:pt x="2303995" y="0"/>
                </a:lnTo>
                <a:lnTo>
                  <a:pt x="0" y="0"/>
                </a:lnTo>
                <a:lnTo>
                  <a:pt x="0" y="12612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chemeClr val="bg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24395" y="835371"/>
            <a:ext cx="3477895" cy="734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462595" y="3318070"/>
            <a:ext cx="543560" cy="134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99296" y="3318070"/>
            <a:ext cx="762635" cy="134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4267290" y="3318070"/>
            <a:ext cx="245745" cy="1346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00" b="1" i="0">
                <a:solidFill>
                  <a:schemeClr val="bg1"/>
                </a:solidFill>
                <a:latin typeface="Arial"/>
                <a:cs typeface="Arial"/>
              </a:defRPr>
            </a:lvl1pPr>
          </a:lstStyle>
          <a:p>
            <a:pPr marL="38100">
              <a:lnSpc>
                <a:spcPct val="100000"/>
              </a:lnSpc>
              <a:spcBef>
                <a:spcPts val="175"/>
              </a:spcBef>
            </a:pPr>
            <a:fld id="{81D60167-4931-47E6-BA6A-407CBD079E47}" type="slidenum">
              <a:rPr spc="-5" dirty="0"/>
              <a:t>‹#›</a:t>
            </a:fld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.png"/><Relationship Id="rId7" Type="http://schemas.openxmlformats.org/officeDocument/2006/relationships/image" Target="../media/image14.png"/><Relationship Id="rId12" Type="http://schemas.openxmlformats.org/officeDocument/2006/relationships/image" Target="../media/image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.png"/><Relationship Id="rId11" Type="http://schemas.openxmlformats.org/officeDocument/2006/relationships/image" Target="../media/image16.png"/><Relationship Id="rId5" Type="http://schemas.openxmlformats.org/officeDocument/2006/relationships/image" Target="../media/image12.png"/><Relationship Id="rId10" Type="http://schemas.openxmlformats.org/officeDocument/2006/relationships/image" Target="../media/image6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3.png"/><Relationship Id="rId3" Type="http://schemas.openxmlformats.org/officeDocument/2006/relationships/image" Target="../media/image3.png"/><Relationship Id="rId7" Type="http://schemas.openxmlformats.org/officeDocument/2006/relationships/image" Target="../media/image19.png"/><Relationship Id="rId12" Type="http://schemas.openxmlformats.org/officeDocument/2006/relationships/image" Target="../media/image2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6.png"/><Relationship Id="rId11" Type="http://schemas.openxmlformats.org/officeDocument/2006/relationships/image" Target="../media/image17.png"/><Relationship Id="rId5" Type="http://schemas.openxmlformats.org/officeDocument/2006/relationships/image" Target="../media/image18.png"/><Relationship Id="rId10" Type="http://schemas.openxmlformats.org/officeDocument/2006/relationships/image" Target="../media/image21.png"/><Relationship Id="rId4" Type="http://schemas.openxmlformats.org/officeDocument/2006/relationships/image" Target="../media/image9.png"/><Relationship Id="rId9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11" Type="http://schemas.openxmlformats.org/officeDocument/2006/relationships/image" Target="../media/image29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9.png"/><Relationship Id="rId9" Type="http://schemas.openxmlformats.org/officeDocument/2006/relationships/image" Target="../media/image27.png"/><Relationship Id="rId14" Type="http://schemas.openxmlformats.org/officeDocument/2006/relationships/image" Target="../media/image3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11" Type="http://schemas.openxmlformats.org/officeDocument/2006/relationships/image" Target="../media/image38.png"/><Relationship Id="rId5" Type="http://schemas.openxmlformats.org/officeDocument/2006/relationships/image" Target="../media/image33.png"/><Relationship Id="rId10" Type="http://schemas.openxmlformats.org/officeDocument/2006/relationships/image" Target="../media/image37.png"/><Relationship Id="rId4" Type="http://schemas.openxmlformats.org/officeDocument/2006/relationships/image" Target="../media/image9.png"/><Relationship Id="rId9" Type="http://schemas.openxmlformats.org/officeDocument/2006/relationships/image" Target="../media/image36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openxmlformats.org/officeDocument/2006/relationships/image" Target="../media/image45.png"/><Relationship Id="rId3" Type="http://schemas.openxmlformats.org/officeDocument/2006/relationships/image" Target="../media/image3.png"/><Relationship Id="rId7" Type="http://schemas.openxmlformats.org/officeDocument/2006/relationships/image" Target="../media/image41.png"/><Relationship Id="rId12" Type="http://schemas.openxmlformats.org/officeDocument/2006/relationships/image" Target="../media/image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png"/><Relationship Id="rId11" Type="http://schemas.openxmlformats.org/officeDocument/2006/relationships/image" Target="../media/image11.png"/><Relationship Id="rId5" Type="http://schemas.openxmlformats.org/officeDocument/2006/relationships/image" Target="../media/image40.png"/><Relationship Id="rId10" Type="http://schemas.openxmlformats.org/officeDocument/2006/relationships/image" Target="../media/image43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4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49.png"/><Relationship Id="rId12" Type="http://schemas.openxmlformats.org/officeDocument/2006/relationships/image" Target="../media/image5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52.png"/><Relationship Id="rId5" Type="http://schemas.openxmlformats.org/officeDocument/2006/relationships/image" Target="../media/image48.png"/><Relationship Id="rId10" Type="http://schemas.openxmlformats.org/officeDocument/2006/relationships/image" Target="../media/image51.png"/><Relationship Id="rId4" Type="http://schemas.openxmlformats.org/officeDocument/2006/relationships/image" Target="../media/image9.png"/><Relationship Id="rId9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5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58.png"/><Relationship Id="rId5" Type="http://schemas.openxmlformats.org/officeDocument/2006/relationships/image" Target="../media/image54.png"/><Relationship Id="rId10" Type="http://schemas.openxmlformats.org/officeDocument/2006/relationships/image" Target="../media/image57.png"/><Relationship Id="rId4" Type="http://schemas.openxmlformats.org/officeDocument/2006/relationships/image" Target="../media/image9.png"/><Relationship Id="rId9" Type="http://schemas.openxmlformats.org/officeDocument/2006/relationships/image" Target="../media/image56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5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62.png"/><Relationship Id="rId5" Type="http://schemas.openxmlformats.org/officeDocument/2006/relationships/image" Target="../media/image54.png"/><Relationship Id="rId10" Type="http://schemas.openxmlformats.org/officeDocument/2006/relationships/image" Target="../media/image61.png"/><Relationship Id="rId4" Type="http://schemas.openxmlformats.org/officeDocument/2006/relationships/image" Target="../media/image9.png"/><Relationship Id="rId9" Type="http://schemas.openxmlformats.org/officeDocument/2006/relationships/image" Target="../media/image60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6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62.png"/><Relationship Id="rId5" Type="http://schemas.openxmlformats.org/officeDocument/2006/relationships/image" Target="../media/image54.png"/><Relationship Id="rId10" Type="http://schemas.openxmlformats.org/officeDocument/2006/relationships/image" Target="../media/image61.png"/><Relationship Id="rId4" Type="http://schemas.openxmlformats.org/officeDocument/2006/relationships/image" Target="../media/image9.png"/><Relationship Id="rId9" Type="http://schemas.openxmlformats.org/officeDocument/2006/relationships/image" Target="../media/image64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66.png"/><Relationship Id="rId12" Type="http://schemas.openxmlformats.org/officeDocument/2006/relationships/image" Target="../media/image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67.png"/><Relationship Id="rId5" Type="http://schemas.openxmlformats.org/officeDocument/2006/relationships/image" Target="../media/image65.png"/><Relationship Id="rId10" Type="http://schemas.openxmlformats.org/officeDocument/2006/relationships/image" Target="../media/image51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6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71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4.png"/><Relationship Id="rId9" Type="http://schemas.openxmlformats.org/officeDocument/2006/relationships/image" Target="../media/image6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7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75.png"/><Relationship Id="rId5" Type="http://schemas.openxmlformats.org/officeDocument/2006/relationships/image" Target="../media/image65.png"/><Relationship Id="rId10" Type="http://schemas.openxmlformats.org/officeDocument/2006/relationships/image" Target="../media/image74.png"/><Relationship Id="rId4" Type="http://schemas.openxmlformats.org/officeDocument/2006/relationships/image" Target="../media/image4.png"/><Relationship Id="rId9" Type="http://schemas.openxmlformats.org/officeDocument/2006/relationships/image" Target="../media/image73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7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75.png"/><Relationship Id="rId5" Type="http://schemas.openxmlformats.org/officeDocument/2006/relationships/image" Target="../media/image65.png"/><Relationship Id="rId10" Type="http://schemas.openxmlformats.org/officeDocument/2006/relationships/image" Target="../media/image77.png"/><Relationship Id="rId4" Type="http://schemas.openxmlformats.org/officeDocument/2006/relationships/image" Target="../media/image4.png"/><Relationship Id="rId9" Type="http://schemas.openxmlformats.org/officeDocument/2006/relationships/image" Target="../media/image76.pn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72.png"/><Relationship Id="rId12" Type="http://schemas.openxmlformats.org/officeDocument/2006/relationships/image" Target="../media/image7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67.png"/><Relationship Id="rId5" Type="http://schemas.openxmlformats.org/officeDocument/2006/relationships/image" Target="../media/image65.png"/><Relationship Id="rId10" Type="http://schemas.openxmlformats.org/officeDocument/2006/relationships/image" Target="../media/image51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7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80.png"/><Relationship Id="rId5" Type="http://schemas.openxmlformats.org/officeDocument/2006/relationships/image" Target="../media/image65.png"/><Relationship Id="rId10" Type="http://schemas.openxmlformats.org/officeDocument/2006/relationships/image" Target="../media/image70.png"/><Relationship Id="rId4" Type="http://schemas.openxmlformats.org/officeDocument/2006/relationships/image" Target="../media/image4.png"/><Relationship Id="rId9" Type="http://schemas.openxmlformats.org/officeDocument/2006/relationships/image" Target="../media/image7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8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83.png"/><Relationship Id="rId5" Type="http://schemas.openxmlformats.org/officeDocument/2006/relationships/image" Target="../media/image65.png"/><Relationship Id="rId10" Type="http://schemas.openxmlformats.org/officeDocument/2006/relationships/image" Target="../media/image82.png"/><Relationship Id="rId4" Type="http://schemas.openxmlformats.org/officeDocument/2006/relationships/image" Target="../media/image4.png"/><Relationship Id="rId9" Type="http://schemas.openxmlformats.org/officeDocument/2006/relationships/image" Target="../media/image8.png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8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83.png"/><Relationship Id="rId5" Type="http://schemas.openxmlformats.org/officeDocument/2006/relationships/image" Target="../media/image65.png"/><Relationship Id="rId10" Type="http://schemas.openxmlformats.org/officeDocument/2006/relationships/image" Target="../media/image74.png"/><Relationship Id="rId4" Type="http://schemas.openxmlformats.org/officeDocument/2006/relationships/image" Target="../media/image4.png"/><Relationship Id="rId9" Type="http://schemas.openxmlformats.org/officeDocument/2006/relationships/image" Target="../media/image73.png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3" Type="http://schemas.openxmlformats.org/officeDocument/2006/relationships/image" Target="../media/image3.png"/><Relationship Id="rId7" Type="http://schemas.openxmlformats.org/officeDocument/2006/relationships/image" Target="../media/image8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11.png"/><Relationship Id="rId5" Type="http://schemas.openxmlformats.org/officeDocument/2006/relationships/image" Target="../media/image48.png"/><Relationship Id="rId10" Type="http://schemas.openxmlformats.org/officeDocument/2006/relationships/image" Target="../media/image86.png"/><Relationship Id="rId4" Type="http://schemas.openxmlformats.org/officeDocument/2006/relationships/image" Target="../media/image9.png"/><Relationship Id="rId9" Type="http://schemas.openxmlformats.org/officeDocument/2006/relationships/image" Target="../media/image85.png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12" Type="http://schemas.openxmlformats.org/officeDocument/2006/relationships/image" Target="../media/image9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9.png"/><Relationship Id="rId5" Type="http://schemas.openxmlformats.org/officeDocument/2006/relationships/image" Target="../media/image54.png"/><Relationship Id="rId10" Type="http://schemas.openxmlformats.org/officeDocument/2006/relationships/image" Target="../media/image89.png"/><Relationship Id="rId4" Type="http://schemas.openxmlformats.org/officeDocument/2006/relationships/image" Target="../media/image4.png"/><Relationship Id="rId9" Type="http://schemas.openxmlformats.org/officeDocument/2006/relationships/image" Target="../media/image88.pn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12" Type="http://schemas.openxmlformats.org/officeDocument/2006/relationships/image" Target="../media/image9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9.png"/><Relationship Id="rId5" Type="http://schemas.openxmlformats.org/officeDocument/2006/relationships/image" Target="../media/image54.png"/><Relationship Id="rId10" Type="http://schemas.openxmlformats.org/officeDocument/2006/relationships/image" Target="../media/image91.png"/><Relationship Id="rId4" Type="http://schemas.openxmlformats.org/officeDocument/2006/relationships/image" Target="../media/image4.png"/><Relationship Id="rId9" Type="http://schemas.openxmlformats.org/officeDocument/2006/relationships/image" Target="../media/image88.png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87.png"/><Relationship Id="rId12" Type="http://schemas.openxmlformats.org/officeDocument/2006/relationships/image" Target="../media/image9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11" Type="http://schemas.openxmlformats.org/officeDocument/2006/relationships/image" Target="../media/image9.png"/><Relationship Id="rId5" Type="http://schemas.openxmlformats.org/officeDocument/2006/relationships/image" Target="../media/image54.png"/><Relationship Id="rId10" Type="http://schemas.openxmlformats.org/officeDocument/2006/relationships/image" Target="../media/image93.png"/><Relationship Id="rId4" Type="http://schemas.openxmlformats.org/officeDocument/2006/relationships/image" Target="../media/image4.png"/><Relationship Id="rId9" Type="http://schemas.openxmlformats.org/officeDocument/2006/relationships/image" Target="../media/image8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7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99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00.png"/><Relationship Id="rId4" Type="http://schemas.openxmlformats.org/officeDocument/2006/relationships/image" Target="../media/image11.png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5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3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7" Type="http://schemas.openxmlformats.org/officeDocument/2006/relationships/image" Target="../media/image1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9.png"/><Relationship Id="rId5" Type="http://schemas.openxmlformats.org/officeDocument/2006/relationships/image" Target="../media/image108.png"/><Relationship Id="rId4" Type="http://schemas.openxmlformats.org/officeDocument/2006/relationships/image" Target="../media/image107.png"/></Relationships>
</file>

<file path=ppt/slides/_rels/slide4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3" Type="http://schemas.openxmlformats.org/officeDocument/2006/relationships/image" Target="../media/image106.png"/><Relationship Id="rId7" Type="http://schemas.openxmlformats.org/officeDocument/2006/relationships/image" Target="../media/image1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3.png"/><Relationship Id="rId5" Type="http://schemas.openxmlformats.org/officeDocument/2006/relationships/image" Target="../media/image112.png"/><Relationship Id="rId10" Type="http://schemas.openxmlformats.org/officeDocument/2006/relationships/image" Target="../media/image117.png"/><Relationship Id="rId4" Type="http://schemas.openxmlformats.org/officeDocument/2006/relationships/image" Target="../media/image111.png"/><Relationship Id="rId9" Type="http://schemas.openxmlformats.org/officeDocument/2006/relationships/image" Target="../media/image116.png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06.png"/><Relationship Id="rId7" Type="http://schemas.openxmlformats.org/officeDocument/2006/relationships/image" Target="../media/image11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3.png"/><Relationship Id="rId5" Type="http://schemas.openxmlformats.org/officeDocument/2006/relationships/image" Target="../media/image108.png"/><Relationship Id="rId10" Type="http://schemas.openxmlformats.org/officeDocument/2006/relationships/image" Target="../media/image121.png"/><Relationship Id="rId4" Type="http://schemas.openxmlformats.org/officeDocument/2006/relationships/image" Target="../media/image107.png"/><Relationship Id="rId9" Type="http://schemas.openxmlformats.org/officeDocument/2006/relationships/image" Target="../media/image120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2.png"/><Relationship Id="rId7" Type="http://schemas.openxmlformats.org/officeDocument/2006/relationships/image" Target="../media/image12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3.png"/><Relationship Id="rId11" Type="http://schemas.openxmlformats.org/officeDocument/2006/relationships/image" Target="../media/image121.png"/><Relationship Id="rId5" Type="http://schemas.openxmlformats.org/officeDocument/2006/relationships/image" Target="../media/image124.png"/><Relationship Id="rId10" Type="http://schemas.openxmlformats.org/officeDocument/2006/relationships/image" Target="../media/image127.png"/><Relationship Id="rId4" Type="http://schemas.openxmlformats.org/officeDocument/2006/relationships/image" Target="../media/image123.png"/><Relationship Id="rId9" Type="http://schemas.openxmlformats.org/officeDocument/2006/relationships/image" Target="../media/image112.png"/></Relationships>
</file>

<file path=ppt/slides/_rels/slide4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1.png"/><Relationship Id="rId13" Type="http://schemas.openxmlformats.org/officeDocument/2006/relationships/image" Target="../media/image136.png"/><Relationship Id="rId3" Type="http://schemas.openxmlformats.org/officeDocument/2006/relationships/image" Target="../media/image106.png"/><Relationship Id="rId7" Type="http://schemas.openxmlformats.org/officeDocument/2006/relationships/image" Target="../media/image130.png"/><Relationship Id="rId12" Type="http://schemas.openxmlformats.org/officeDocument/2006/relationships/image" Target="../media/image13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29.png"/><Relationship Id="rId11" Type="http://schemas.openxmlformats.org/officeDocument/2006/relationships/image" Target="../media/image134.png"/><Relationship Id="rId5" Type="http://schemas.openxmlformats.org/officeDocument/2006/relationships/image" Target="../media/image112.png"/><Relationship Id="rId10" Type="http://schemas.openxmlformats.org/officeDocument/2006/relationships/image" Target="../media/image133.png"/><Relationship Id="rId4" Type="http://schemas.openxmlformats.org/officeDocument/2006/relationships/image" Target="../media/image128.png"/><Relationship Id="rId9" Type="http://schemas.openxmlformats.org/officeDocument/2006/relationships/image" Target="../media/image132.png"/></Relationships>
</file>

<file path=ppt/slides/_rels/slide5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13" Type="http://schemas.openxmlformats.org/officeDocument/2006/relationships/image" Target="../media/image145.png"/><Relationship Id="rId3" Type="http://schemas.openxmlformats.org/officeDocument/2006/relationships/image" Target="../media/image137.png"/><Relationship Id="rId7" Type="http://schemas.openxmlformats.org/officeDocument/2006/relationships/image" Target="../media/image140.png"/><Relationship Id="rId12" Type="http://schemas.openxmlformats.org/officeDocument/2006/relationships/image" Target="../media/image14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39.png"/><Relationship Id="rId11" Type="http://schemas.openxmlformats.org/officeDocument/2006/relationships/image" Target="../media/image143.png"/><Relationship Id="rId5" Type="http://schemas.openxmlformats.org/officeDocument/2006/relationships/image" Target="../media/image112.png"/><Relationship Id="rId15" Type="http://schemas.openxmlformats.org/officeDocument/2006/relationships/image" Target="../media/image147.png"/><Relationship Id="rId10" Type="http://schemas.openxmlformats.org/officeDocument/2006/relationships/image" Target="../media/image142.png"/><Relationship Id="rId4" Type="http://schemas.openxmlformats.org/officeDocument/2006/relationships/image" Target="../media/image138.png"/><Relationship Id="rId9" Type="http://schemas.openxmlformats.org/officeDocument/2006/relationships/image" Target="../media/image108.png"/><Relationship Id="rId14" Type="http://schemas.openxmlformats.org/officeDocument/2006/relationships/image" Target="../media/image146.png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1.png"/><Relationship Id="rId3" Type="http://schemas.openxmlformats.org/officeDocument/2006/relationships/image" Target="../media/image148.png"/><Relationship Id="rId7" Type="http://schemas.openxmlformats.org/officeDocument/2006/relationships/image" Target="../media/image150.png"/><Relationship Id="rId12" Type="http://schemas.openxmlformats.org/officeDocument/2006/relationships/image" Target="../media/image12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3.png"/><Relationship Id="rId11" Type="http://schemas.openxmlformats.org/officeDocument/2006/relationships/image" Target="../media/image154.png"/><Relationship Id="rId5" Type="http://schemas.openxmlformats.org/officeDocument/2006/relationships/image" Target="../media/image108.png"/><Relationship Id="rId10" Type="http://schemas.openxmlformats.org/officeDocument/2006/relationships/image" Target="../media/image153.png"/><Relationship Id="rId4" Type="http://schemas.openxmlformats.org/officeDocument/2006/relationships/image" Target="../media/image149.png"/><Relationship Id="rId9" Type="http://schemas.openxmlformats.org/officeDocument/2006/relationships/image" Target="../media/image152.png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5.png"/><Relationship Id="rId13" Type="http://schemas.openxmlformats.org/officeDocument/2006/relationships/image" Target="../media/image161.png"/><Relationship Id="rId3" Type="http://schemas.openxmlformats.org/officeDocument/2006/relationships/image" Target="../media/image155.png"/><Relationship Id="rId7" Type="http://schemas.openxmlformats.org/officeDocument/2006/relationships/image" Target="../media/image157.png"/><Relationship Id="rId12" Type="http://schemas.openxmlformats.org/officeDocument/2006/relationships/image" Target="../media/image160.png"/><Relationship Id="rId17" Type="http://schemas.openxmlformats.org/officeDocument/2006/relationships/image" Target="../media/image164.png"/><Relationship Id="rId2" Type="http://schemas.openxmlformats.org/officeDocument/2006/relationships/image" Target="../media/image2.png"/><Relationship Id="rId16" Type="http://schemas.openxmlformats.org/officeDocument/2006/relationships/image" Target="../media/image113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56.png"/><Relationship Id="rId11" Type="http://schemas.openxmlformats.org/officeDocument/2006/relationships/image" Target="../media/image121.png"/><Relationship Id="rId5" Type="http://schemas.openxmlformats.org/officeDocument/2006/relationships/image" Target="../media/image108.png"/><Relationship Id="rId15" Type="http://schemas.openxmlformats.org/officeDocument/2006/relationships/image" Target="../media/image163.png"/><Relationship Id="rId10" Type="http://schemas.openxmlformats.org/officeDocument/2006/relationships/image" Target="../media/image159.png"/><Relationship Id="rId4" Type="http://schemas.openxmlformats.org/officeDocument/2006/relationships/image" Target="../media/image107.png"/><Relationship Id="rId9" Type="http://schemas.openxmlformats.org/officeDocument/2006/relationships/image" Target="../media/image158.png"/><Relationship Id="rId14" Type="http://schemas.openxmlformats.org/officeDocument/2006/relationships/image" Target="../media/image16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5.png"/><Relationship Id="rId7" Type="http://schemas.openxmlformats.org/officeDocument/2006/relationships/image" Target="../media/image16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7.png"/><Relationship Id="rId5" Type="http://schemas.openxmlformats.org/officeDocument/2006/relationships/image" Target="../media/image112.png"/><Relationship Id="rId4" Type="http://schemas.openxmlformats.org/officeDocument/2006/relationships/image" Target="../media/image166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69.png"/><Relationship Id="rId7" Type="http://schemas.openxmlformats.org/officeDocument/2006/relationships/image" Target="../media/image17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08.png"/><Relationship Id="rId4" Type="http://schemas.openxmlformats.org/officeDocument/2006/relationships/image" Target="../media/image170.png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72.png"/><Relationship Id="rId7" Type="http://schemas.openxmlformats.org/officeDocument/2006/relationships/image" Target="../media/image17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5" Type="http://schemas.openxmlformats.org/officeDocument/2006/relationships/image" Target="../media/image108.png"/><Relationship Id="rId4" Type="http://schemas.openxmlformats.org/officeDocument/2006/relationships/image" Target="../media/image170.png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7.png"/><Relationship Id="rId3" Type="http://schemas.openxmlformats.org/officeDocument/2006/relationships/image" Target="../media/image174.png"/><Relationship Id="rId7" Type="http://schemas.openxmlformats.org/officeDocument/2006/relationships/image" Target="../media/image17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5.png"/><Relationship Id="rId5" Type="http://schemas.openxmlformats.org/officeDocument/2006/relationships/image" Target="../media/image108.png"/><Relationship Id="rId4" Type="http://schemas.openxmlformats.org/officeDocument/2006/relationships/image" Target="../media/image170.png"/><Relationship Id="rId9" Type="http://schemas.openxmlformats.org/officeDocument/2006/relationships/image" Target="../media/image121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3" Type="http://schemas.openxmlformats.org/officeDocument/2006/relationships/image" Target="../media/image174.png"/><Relationship Id="rId7" Type="http://schemas.openxmlformats.org/officeDocument/2006/relationships/image" Target="../media/image17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82.png"/><Relationship Id="rId5" Type="http://schemas.openxmlformats.org/officeDocument/2006/relationships/image" Target="../media/image108.png"/><Relationship Id="rId10" Type="http://schemas.openxmlformats.org/officeDocument/2006/relationships/image" Target="../media/image181.png"/><Relationship Id="rId4" Type="http://schemas.openxmlformats.org/officeDocument/2006/relationships/image" Target="../media/image178.png"/><Relationship Id="rId9" Type="http://schemas.openxmlformats.org/officeDocument/2006/relationships/image" Target="../media/image180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88.png"/><Relationship Id="rId3" Type="http://schemas.openxmlformats.org/officeDocument/2006/relationships/image" Target="../media/image174.png"/><Relationship Id="rId7" Type="http://schemas.openxmlformats.org/officeDocument/2006/relationships/image" Target="../media/image184.png"/><Relationship Id="rId12" Type="http://schemas.openxmlformats.org/officeDocument/2006/relationships/image" Target="../media/image18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186.png"/><Relationship Id="rId5" Type="http://schemas.openxmlformats.org/officeDocument/2006/relationships/image" Target="../media/image108.png"/><Relationship Id="rId10" Type="http://schemas.openxmlformats.org/officeDocument/2006/relationships/image" Target="../media/image181.png"/><Relationship Id="rId4" Type="http://schemas.openxmlformats.org/officeDocument/2006/relationships/image" Target="../media/image183.png"/><Relationship Id="rId9" Type="http://schemas.openxmlformats.org/officeDocument/2006/relationships/image" Target="../media/image185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95.png"/><Relationship Id="rId3" Type="http://schemas.openxmlformats.org/officeDocument/2006/relationships/image" Target="../media/image174.png"/><Relationship Id="rId7" Type="http://schemas.openxmlformats.org/officeDocument/2006/relationships/image" Target="../media/image191.png"/><Relationship Id="rId12" Type="http://schemas.openxmlformats.org/officeDocument/2006/relationships/image" Target="../media/image139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194.png"/><Relationship Id="rId5" Type="http://schemas.openxmlformats.org/officeDocument/2006/relationships/image" Target="../media/image112.png"/><Relationship Id="rId15" Type="http://schemas.openxmlformats.org/officeDocument/2006/relationships/image" Target="../media/image197.png"/><Relationship Id="rId10" Type="http://schemas.openxmlformats.org/officeDocument/2006/relationships/image" Target="../media/image193.png"/><Relationship Id="rId4" Type="http://schemas.openxmlformats.org/officeDocument/2006/relationships/image" Target="../media/image189.png"/><Relationship Id="rId9" Type="http://schemas.openxmlformats.org/officeDocument/2006/relationships/image" Target="../media/image192.png"/><Relationship Id="rId14" Type="http://schemas.openxmlformats.org/officeDocument/2006/relationships/image" Target="../media/image196.png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7.png"/><Relationship Id="rId13" Type="http://schemas.openxmlformats.org/officeDocument/2006/relationships/image" Target="../media/image203.png"/><Relationship Id="rId3" Type="http://schemas.openxmlformats.org/officeDocument/2006/relationships/image" Target="../media/image174.png"/><Relationship Id="rId7" Type="http://schemas.openxmlformats.org/officeDocument/2006/relationships/image" Target="../media/image199.png"/><Relationship Id="rId12" Type="http://schemas.openxmlformats.org/officeDocument/2006/relationships/image" Target="../media/image20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0.png"/><Relationship Id="rId11" Type="http://schemas.openxmlformats.org/officeDocument/2006/relationships/image" Target="../media/image201.png"/><Relationship Id="rId5" Type="http://schemas.openxmlformats.org/officeDocument/2006/relationships/image" Target="../media/image108.png"/><Relationship Id="rId10" Type="http://schemas.openxmlformats.org/officeDocument/2006/relationships/image" Target="../media/image200.png"/><Relationship Id="rId4" Type="http://schemas.openxmlformats.org/officeDocument/2006/relationships/image" Target="../media/image198.png"/><Relationship Id="rId9" Type="http://schemas.openxmlformats.org/officeDocument/2006/relationships/image" Target="../media/image121.png"/><Relationship Id="rId14" Type="http://schemas.openxmlformats.org/officeDocument/2006/relationships/image" Target="../media/image204.png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209.png"/><Relationship Id="rId3" Type="http://schemas.openxmlformats.org/officeDocument/2006/relationships/image" Target="../media/image174.png"/><Relationship Id="rId7" Type="http://schemas.openxmlformats.org/officeDocument/2006/relationships/image" Target="../media/image205.png"/><Relationship Id="rId12" Type="http://schemas.openxmlformats.org/officeDocument/2006/relationships/image" Target="../media/image20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3.png"/><Relationship Id="rId11" Type="http://schemas.openxmlformats.org/officeDocument/2006/relationships/image" Target="../media/image207.png"/><Relationship Id="rId5" Type="http://schemas.openxmlformats.org/officeDocument/2006/relationships/image" Target="../media/image112.png"/><Relationship Id="rId15" Type="http://schemas.openxmlformats.org/officeDocument/2006/relationships/image" Target="../media/image211.png"/><Relationship Id="rId10" Type="http://schemas.openxmlformats.org/officeDocument/2006/relationships/image" Target="../media/image206.png"/><Relationship Id="rId4" Type="http://schemas.openxmlformats.org/officeDocument/2006/relationships/image" Target="../media/image200.png"/><Relationship Id="rId9" Type="http://schemas.openxmlformats.org/officeDocument/2006/relationships/image" Target="../media/image181.png"/><Relationship Id="rId14" Type="http://schemas.openxmlformats.org/officeDocument/2006/relationships/image" Target="../media/image210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2.png"/><Relationship Id="rId4" Type="http://schemas.openxmlformats.org/officeDocument/2006/relationships/image" Target="../media/image3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3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4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5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6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8.png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9.png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9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0.png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1.png"/><Relationship Id="rId4" Type="http://schemas.openxmlformats.org/officeDocument/2006/relationships/image" Target="../media/image220.png"/></Relationships>
</file>

<file path=ppt/slides/_rels/slide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2.png"/><Relationship Id="rId4" Type="http://schemas.openxmlformats.org/officeDocument/2006/relationships/image" Target="../media/image220.png"/></Relationships>
</file>

<file path=ppt/slides/_rels/slide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3.png"/><Relationship Id="rId4" Type="http://schemas.openxmlformats.org/officeDocument/2006/relationships/image" Target="../media/image220.png"/></Relationships>
</file>

<file path=ppt/slides/_rels/slide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4.png"/><Relationship Id="rId4" Type="http://schemas.openxmlformats.org/officeDocument/2006/relationships/image" Target="../media/image220.png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24.png"/><Relationship Id="rId4" Type="http://schemas.openxmlformats.org/officeDocument/2006/relationships/image" Target="../media/image220.png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5.wmf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6.png"/><Relationship Id="rId1" Type="http://schemas.openxmlformats.org/officeDocument/2006/relationships/slideLayout" Target="../slideLayouts/slideLayout5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7.png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8.png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9.png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0.png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1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2.png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3.png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45758" y="444103"/>
            <a:ext cx="3918585" cy="782258"/>
          </a:xfrm>
          <a:prstGeom prst="rect">
            <a:avLst/>
          </a:prstGeom>
        </p:spPr>
        <p:txBody>
          <a:bodyPr vert="horz" lIns="46101" tIns="23051" rIns="46101" bIns="23051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Aft>
                <a:spcPts val="1200"/>
              </a:spcAft>
            </a:pPr>
            <a:r>
              <a:rPr lang="en-US" altLang="en-US" sz="3600" b="1" dirty="0"/>
              <a:t>Data Structure and Algorithm</a:t>
            </a:r>
            <a:br>
              <a:rPr lang="en-US" altLang="en-US" sz="3600" b="1" dirty="0"/>
            </a:br>
            <a:r>
              <a:rPr lang="en-US" altLang="en-US" sz="2400" b="1" dirty="0">
                <a:solidFill>
                  <a:srgbClr val="00B050"/>
                </a:solidFill>
              </a:rPr>
              <a:t>(PMSCS 623P)</a:t>
            </a:r>
            <a:endParaRPr lang="en-US" altLang="en-US" sz="2400" b="1" dirty="0"/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691515" y="2037715"/>
            <a:ext cx="3227070" cy="883603"/>
          </a:xfrm>
          <a:prstGeom prst="rect">
            <a:avLst/>
          </a:prstGeom>
        </p:spPr>
        <p:txBody>
          <a:bodyPr rtlCol="0">
            <a:normAutofit fontScale="4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  <a:defRPr/>
            </a:pPr>
            <a:r>
              <a:rPr lang="en-US" sz="10084" dirty="0"/>
              <a:t>Lecture </a:t>
            </a:r>
            <a:r>
              <a:rPr lang="en-US" sz="10084" dirty="0" smtClean="0"/>
              <a:t>12</a:t>
            </a:r>
            <a:endParaRPr lang="en-US" sz="9681" dirty="0"/>
          </a:p>
          <a:p>
            <a:pPr marL="0" indent="0" algn="ctr">
              <a:buNone/>
              <a:defRPr/>
            </a:pPr>
            <a:r>
              <a:rPr lang="en-US" sz="4800" dirty="0">
                <a:solidFill>
                  <a:schemeClr val="tx2"/>
                </a:solidFill>
              </a:rPr>
              <a:t>Greedy Algorithms</a:t>
            </a:r>
          </a:p>
        </p:txBody>
      </p:sp>
    </p:spTree>
    <p:extLst>
      <p:ext uri="{BB962C8B-B14F-4D97-AF65-F5344CB8AC3E}">
        <p14:creationId xmlns:p14="http://schemas.microsoft.com/office/powerpoint/2010/main" val="1439274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Computational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436" y="358775"/>
            <a:ext cx="4465012" cy="28643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311" b="1" dirty="0">
                <a:latin typeface="Times New Roman" pitchFamily="18" charset="0"/>
                <a:cs typeface="Times New Roman" pitchFamily="18" charset="0"/>
              </a:rPr>
              <a:t>Decision Problems:</a:t>
            </a:r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u="sng" dirty="0">
                <a:latin typeface="Times New Roman" pitchFamily="18" charset="0"/>
                <a:cs typeface="Times New Roman" pitchFamily="18" charset="0"/>
              </a:rPr>
              <a:t>3-coloring </a:t>
            </a:r>
            <a:r>
              <a:rPr lang="en-US" sz="1311" i="1" u="sng" dirty="0">
                <a:latin typeface="Times New Roman" pitchFamily="18" charset="0"/>
                <a:cs typeface="Times New Roman" pitchFamily="18" charset="0"/>
              </a:rPr>
              <a:t>decision problem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: given an undirected graph, G= (V,E), determine if there is a way to assign a “color” chosen from {0, 1, 2} to each vertex in such a way that no two adjacent vertices have the same color</a:t>
            </a:r>
          </a:p>
          <a:p>
            <a:pPr lvl="1"/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/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 </a:t>
            </a:r>
          </a:p>
          <a:p>
            <a:pPr lvl="1">
              <a:buFont typeface="Arial" pitchFamily="34" charset="0"/>
              <a:buChar char="•"/>
            </a:pPr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/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>
              <a:buFont typeface="Arial" pitchFamily="34" charset="0"/>
              <a:buChar char="•"/>
            </a:pPr>
            <a:r>
              <a:rPr lang="en-US" sz="1311" u="sng" dirty="0">
                <a:latin typeface="Times New Roman" pitchFamily="18" charset="0"/>
                <a:cs typeface="Times New Roman" pitchFamily="18" charset="0"/>
              </a:rPr>
              <a:t>Path </a:t>
            </a:r>
            <a:r>
              <a:rPr lang="en-US" sz="1311" i="1" u="sng" dirty="0">
                <a:latin typeface="Times New Roman" pitchFamily="18" charset="0"/>
                <a:cs typeface="Times New Roman" pitchFamily="18" charset="0"/>
              </a:rPr>
              <a:t>decision problem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: Is there any path from u to v in G?</a:t>
            </a:r>
          </a:p>
        </p:txBody>
      </p:sp>
      <p:pic>
        <p:nvPicPr>
          <p:cNvPr id="4" name="Picture 3" descr="vertex_coloring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5850" y="1349374"/>
            <a:ext cx="2557978" cy="1489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7314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Computational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1451" y="282575"/>
            <a:ext cx="4343400" cy="1348831"/>
          </a:xfrm>
        </p:spPr>
        <p:txBody>
          <a:bodyPr/>
          <a:lstStyle/>
          <a:p>
            <a:pPr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b="1" dirty="0">
                <a:latin typeface="Times New Roman" pitchFamily="18" charset="0"/>
                <a:cs typeface="Times New Roman" pitchFamily="18" charset="0"/>
              </a:rPr>
              <a:t>Search problem:</a:t>
            </a:r>
          </a:p>
          <a:p>
            <a:pPr>
              <a:lnSpc>
                <a:spcPct val="100000"/>
              </a:lnSpc>
              <a:buFont typeface="Arial" pitchFamily="34" charset="0"/>
              <a:buChar char="•"/>
            </a:pPr>
            <a:endParaRPr lang="en-US" sz="1311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u="sng" dirty="0">
                <a:latin typeface="Times New Roman" pitchFamily="18" charset="0"/>
                <a:cs typeface="Times New Roman" pitchFamily="18" charset="0"/>
              </a:rPr>
              <a:t>3-coloring </a:t>
            </a:r>
            <a:r>
              <a:rPr lang="en-US" sz="1311" i="1" u="sng" dirty="0">
                <a:latin typeface="Times New Roman" pitchFamily="18" charset="0"/>
                <a:cs typeface="Times New Roman" pitchFamily="18" charset="0"/>
              </a:rPr>
              <a:t>search problem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: given an undirected graph G = (V, E) find, if it exists, a coloring c: V → {1, 2, 3} of the vertices, such that for every (u, v) ∈ E: c(u) ≠ c(v)</a:t>
            </a: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1311" u="sng" dirty="0">
                <a:latin typeface="Times New Roman" pitchFamily="18" charset="0"/>
                <a:cs typeface="Times New Roman" pitchFamily="18" charset="0"/>
              </a:rPr>
              <a:t>Path </a:t>
            </a:r>
            <a:r>
              <a:rPr lang="en-US" sz="1311" i="1" u="sng" dirty="0">
                <a:latin typeface="Times New Roman" pitchFamily="18" charset="0"/>
                <a:cs typeface="Times New Roman" pitchFamily="18" charset="0"/>
              </a:rPr>
              <a:t>search problem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: Find all the paths from u to v in G</a:t>
            </a:r>
          </a:p>
          <a:p>
            <a:endParaRPr lang="en-US" dirty="0"/>
          </a:p>
        </p:txBody>
      </p:sp>
      <p:grpSp>
        <p:nvGrpSpPr>
          <p:cNvPr id="42" name="Group 41"/>
          <p:cNvGrpSpPr/>
          <p:nvPr/>
        </p:nvGrpSpPr>
        <p:grpSpPr>
          <a:xfrm>
            <a:off x="927575" y="1882775"/>
            <a:ext cx="3249287" cy="951808"/>
            <a:chOff x="1839817" y="4384713"/>
            <a:chExt cx="6444867" cy="1887885"/>
          </a:xfrm>
        </p:grpSpPr>
        <p:sp>
          <p:nvSpPr>
            <p:cNvPr id="5" name="Oval 4"/>
            <p:cNvSpPr/>
            <p:nvPr/>
          </p:nvSpPr>
          <p:spPr>
            <a:xfrm>
              <a:off x="1839817" y="4384713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a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3798983" y="4393894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b</a:t>
              </a:r>
            </a:p>
          </p:txBody>
        </p:sp>
        <p:cxnSp>
          <p:nvCxnSpPr>
            <p:cNvPr id="8" name="Straight Arrow Connector 7"/>
            <p:cNvCxnSpPr>
              <a:stCxn id="5" idx="6"/>
              <a:endCxn id="6" idx="2"/>
            </p:cNvCxnSpPr>
            <p:nvPr/>
          </p:nvCxnSpPr>
          <p:spPr>
            <a:xfrm>
              <a:off x="2379643" y="4643610"/>
              <a:ext cx="1419340" cy="918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Oval 10"/>
            <p:cNvSpPr/>
            <p:nvPr/>
          </p:nvSpPr>
          <p:spPr>
            <a:xfrm>
              <a:off x="2915798" y="567001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c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4777648" y="528442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d</a:t>
              </a:r>
            </a:p>
          </p:txBody>
        </p:sp>
        <p:cxnSp>
          <p:nvCxnSpPr>
            <p:cNvPr id="13" name="Straight Arrow Connector 12"/>
            <p:cNvCxnSpPr>
              <a:stCxn id="5" idx="5"/>
              <a:endCxn id="11" idx="1"/>
            </p:cNvCxnSpPr>
            <p:nvPr/>
          </p:nvCxnSpPr>
          <p:spPr>
            <a:xfrm rot="16200000" flipH="1">
              <a:off x="2188137" y="4939126"/>
              <a:ext cx="919167" cy="69426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stCxn id="6" idx="3"/>
              <a:endCxn id="11" idx="7"/>
            </p:cNvCxnSpPr>
            <p:nvPr/>
          </p:nvCxnSpPr>
          <p:spPr>
            <a:xfrm rot="5400000">
              <a:off x="3172311" y="5040116"/>
              <a:ext cx="909986" cy="50147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stCxn id="11" idx="6"/>
              <a:endCxn id="12" idx="2"/>
            </p:cNvCxnSpPr>
            <p:nvPr/>
          </p:nvCxnSpPr>
          <p:spPr>
            <a:xfrm flipV="1">
              <a:off x="3455624" y="5543322"/>
              <a:ext cx="1322024" cy="38559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/>
            <p:cNvSpPr txBox="1"/>
            <p:nvPr/>
          </p:nvSpPr>
          <p:spPr>
            <a:xfrm>
              <a:off x="6081311" y="4486985"/>
              <a:ext cx="2203373" cy="1785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Find all the paths from a to d:</a:t>
              </a:r>
            </a:p>
            <a:p>
              <a:r>
                <a:rPr lang="en-US" sz="1050" dirty="0"/>
                <a:t>a →b →d</a:t>
              </a:r>
            </a:p>
            <a:p>
              <a:r>
                <a:rPr lang="en-US" sz="1050" dirty="0"/>
                <a:t>a →c →d</a:t>
              </a:r>
            </a:p>
            <a:p>
              <a:r>
                <a:rPr lang="en-US" sz="1050" dirty="0"/>
                <a:t>a →b →c →d</a:t>
              </a:r>
            </a:p>
          </p:txBody>
        </p:sp>
        <p:cxnSp>
          <p:nvCxnSpPr>
            <p:cNvPr id="29" name="Straight Arrow Connector 28"/>
            <p:cNvCxnSpPr>
              <a:stCxn id="6" idx="5"/>
              <a:endCxn id="12" idx="1"/>
            </p:cNvCxnSpPr>
            <p:nvPr/>
          </p:nvCxnSpPr>
          <p:spPr>
            <a:xfrm rot="16200000" flipH="1">
              <a:off x="4296030" y="4799580"/>
              <a:ext cx="524396" cy="59695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68868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Computational Problems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436" y="475403"/>
            <a:ext cx="4360214" cy="2864341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buFont typeface="Arial" pitchFamily="34" charset="0"/>
              <a:buChar char="•"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 Counting Problem: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Compute the number of solutions to a given search problem</a:t>
            </a: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200" u="sng" dirty="0">
                <a:latin typeface="Times New Roman" pitchFamily="18" charset="0"/>
                <a:cs typeface="Times New Roman" pitchFamily="18" charset="0"/>
              </a:rPr>
              <a:t> 3-coloring </a:t>
            </a:r>
            <a:r>
              <a:rPr lang="en-US" sz="1200" i="1" u="sng" dirty="0">
                <a:latin typeface="Times New Roman" pitchFamily="18" charset="0"/>
                <a:cs typeface="Times New Roman" pitchFamily="18" charset="0"/>
              </a:rPr>
              <a:t>counting problem</a:t>
            </a:r>
            <a:r>
              <a:rPr lang="en-US" sz="1200" u="sng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given an undirected graph G = (V, E) compute the number of ways we can color the graph using only 3 colors: {1,2,3}. While coloring we have to ensure that no two adjacent vertices have the same color. </a:t>
            </a: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200" u="sng" dirty="0">
                <a:latin typeface="Times New Roman" pitchFamily="18" charset="0"/>
                <a:cs typeface="Times New Roman" pitchFamily="18" charset="0"/>
              </a:rPr>
              <a:t> Path </a:t>
            </a:r>
            <a:r>
              <a:rPr lang="en-US" sz="1200" i="1" u="sng" dirty="0">
                <a:latin typeface="Times New Roman" pitchFamily="18" charset="0"/>
                <a:cs typeface="Times New Roman" pitchFamily="18" charset="0"/>
              </a:rPr>
              <a:t>counting Problem</a:t>
            </a:r>
            <a:r>
              <a:rPr lang="en-US" sz="1200" u="sng" dirty="0">
                <a:latin typeface="Times New Roman" pitchFamily="18" charset="0"/>
                <a:cs typeface="Times New Roman" pitchFamily="18" charset="0"/>
              </a:rPr>
              <a:t>:</a:t>
            </a:r>
            <a:r>
              <a:rPr lang="en-US" sz="1200" dirty="0">
                <a:latin typeface="Times New Roman" pitchFamily="18" charset="0"/>
                <a:cs typeface="Times New Roman" pitchFamily="18" charset="0"/>
              </a:rPr>
              <a:t> Compute the number of possible paths from u to v in a given graph G.</a:t>
            </a: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endParaRPr lang="en-US" sz="1200" u="sng" dirty="0">
              <a:latin typeface="Times New Roman" pitchFamily="18" charset="0"/>
              <a:cs typeface="Times New Roman" pitchFamily="18" charset="0"/>
            </a:endParaRPr>
          </a:p>
        </p:txBody>
      </p:sp>
      <p:grpSp>
        <p:nvGrpSpPr>
          <p:cNvPr id="17" name="Group 16"/>
          <p:cNvGrpSpPr/>
          <p:nvPr/>
        </p:nvGrpSpPr>
        <p:grpSpPr>
          <a:xfrm>
            <a:off x="927575" y="2212214"/>
            <a:ext cx="3382591" cy="909060"/>
            <a:chOff x="1839817" y="4384713"/>
            <a:chExt cx="6709272" cy="1803095"/>
          </a:xfrm>
        </p:grpSpPr>
        <p:sp>
          <p:nvSpPr>
            <p:cNvPr id="7" name="Oval 6"/>
            <p:cNvSpPr/>
            <p:nvPr/>
          </p:nvSpPr>
          <p:spPr>
            <a:xfrm>
              <a:off x="1839817" y="4384713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a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3798983" y="4393894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b</a:t>
              </a:r>
            </a:p>
          </p:txBody>
        </p:sp>
        <p:cxnSp>
          <p:nvCxnSpPr>
            <p:cNvPr id="9" name="Straight Arrow Connector 8"/>
            <p:cNvCxnSpPr>
              <a:stCxn id="7" idx="6"/>
              <a:endCxn id="8" idx="2"/>
            </p:cNvCxnSpPr>
            <p:nvPr/>
          </p:nvCxnSpPr>
          <p:spPr>
            <a:xfrm>
              <a:off x="2379643" y="4643610"/>
              <a:ext cx="1419340" cy="918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Oval 9"/>
            <p:cNvSpPr/>
            <p:nvPr/>
          </p:nvSpPr>
          <p:spPr>
            <a:xfrm>
              <a:off x="2915798" y="567001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c</a:t>
              </a:r>
            </a:p>
          </p:txBody>
        </p:sp>
        <p:sp>
          <p:nvSpPr>
            <p:cNvPr id="11" name="Oval 10"/>
            <p:cNvSpPr/>
            <p:nvPr/>
          </p:nvSpPr>
          <p:spPr>
            <a:xfrm>
              <a:off x="4777648" y="528442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d</a:t>
              </a:r>
            </a:p>
          </p:txBody>
        </p:sp>
        <p:cxnSp>
          <p:nvCxnSpPr>
            <p:cNvPr id="12" name="Straight Arrow Connector 11"/>
            <p:cNvCxnSpPr>
              <a:stCxn id="7" idx="5"/>
              <a:endCxn id="10" idx="1"/>
            </p:cNvCxnSpPr>
            <p:nvPr/>
          </p:nvCxnSpPr>
          <p:spPr>
            <a:xfrm rot="16200000" flipH="1">
              <a:off x="2188137" y="4939126"/>
              <a:ext cx="919167" cy="69426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8" idx="3"/>
              <a:endCxn id="10" idx="7"/>
            </p:cNvCxnSpPr>
            <p:nvPr/>
          </p:nvCxnSpPr>
          <p:spPr>
            <a:xfrm rot="5400000">
              <a:off x="3172311" y="5040116"/>
              <a:ext cx="909986" cy="50147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>
              <a:stCxn id="10" idx="6"/>
              <a:endCxn id="11" idx="2"/>
            </p:cNvCxnSpPr>
            <p:nvPr/>
          </p:nvCxnSpPr>
          <p:spPr>
            <a:xfrm flipV="1">
              <a:off x="3455624" y="5543322"/>
              <a:ext cx="1322024" cy="38559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/>
            <p:cNvSpPr txBox="1"/>
            <p:nvPr/>
          </p:nvSpPr>
          <p:spPr>
            <a:xfrm>
              <a:off x="6081312" y="4715219"/>
              <a:ext cx="2467777" cy="7373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908" dirty="0"/>
                <a:t>Compute the number of paths from a to d: </a:t>
              </a:r>
              <a:r>
                <a:rPr lang="en-US" sz="908" b="1" dirty="0"/>
                <a:t>3</a:t>
              </a:r>
            </a:p>
          </p:txBody>
        </p:sp>
        <p:cxnSp>
          <p:nvCxnSpPr>
            <p:cNvPr id="16" name="Straight Arrow Connector 15"/>
            <p:cNvCxnSpPr>
              <a:stCxn id="8" idx="5"/>
              <a:endCxn id="11" idx="1"/>
            </p:cNvCxnSpPr>
            <p:nvPr/>
          </p:nvCxnSpPr>
          <p:spPr>
            <a:xfrm rot="16200000" flipH="1">
              <a:off x="4296030" y="4799580"/>
              <a:ext cx="524396" cy="59695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16651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1" y="282575"/>
            <a:ext cx="4267199" cy="1953996"/>
          </a:xfrm>
        </p:spPr>
        <p:txBody>
          <a:bodyPr/>
          <a:lstStyle/>
          <a:p>
            <a:pPr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b="1" dirty="0">
                <a:latin typeface="Times New Roman" pitchFamily="18" charset="0"/>
                <a:cs typeface="Times New Roman" pitchFamily="18" charset="0"/>
              </a:rPr>
              <a:t> Optimization Problems: 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Find the best possible solution among the set of all possible solutions to a search problem</a:t>
            </a: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u="sng" dirty="0">
                <a:latin typeface="Times New Roman" pitchFamily="18" charset="0"/>
                <a:cs typeface="Times New Roman" pitchFamily="18" charset="0"/>
              </a:rPr>
              <a:t>Graph coloring </a:t>
            </a:r>
            <a:r>
              <a:rPr lang="en-US" sz="1311" i="1" u="sng" dirty="0">
                <a:latin typeface="Times New Roman" pitchFamily="18" charset="0"/>
                <a:cs typeface="Times New Roman" pitchFamily="18" charset="0"/>
              </a:rPr>
              <a:t>optimization problem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: given an undirected graph, G= (V,E), what is the minimum number of colors required to assign “colors” to each vertex in such a way that no two adjacent vertices have the same color</a:t>
            </a:r>
          </a:p>
          <a:p>
            <a:pPr lvl="1">
              <a:lnSpc>
                <a:spcPct val="100000"/>
              </a:lnSpc>
              <a:buFont typeface="Arial" pitchFamily="34" charset="0"/>
              <a:buChar char="•"/>
            </a:pPr>
            <a:r>
              <a:rPr lang="en-US" sz="1311" u="sng" dirty="0">
                <a:latin typeface="Times New Roman" pitchFamily="18" charset="0"/>
                <a:cs typeface="Times New Roman" pitchFamily="18" charset="0"/>
              </a:rPr>
              <a:t>Path </a:t>
            </a:r>
            <a:r>
              <a:rPr lang="en-US" sz="1311" i="1" u="sng" dirty="0">
                <a:latin typeface="Times New Roman" pitchFamily="18" charset="0"/>
                <a:cs typeface="Times New Roman" pitchFamily="18" charset="0"/>
              </a:rPr>
              <a:t>optimization problem</a:t>
            </a:r>
            <a:r>
              <a:rPr lang="en-US" sz="1311" dirty="0">
                <a:latin typeface="Times New Roman" pitchFamily="18" charset="0"/>
                <a:cs typeface="Times New Roman" pitchFamily="18" charset="0"/>
              </a:rPr>
              <a:t>: Find the shortest path(s) from u to v in a given graph G.</a:t>
            </a:r>
          </a:p>
          <a:p>
            <a:endParaRPr lang="en-US" b="1" dirty="0"/>
          </a:p>
        </p:txBody>
      </p:sp>
      <p:grpSp>
        <p:nvGrpSpPr>
          <p:cNvPr id="15" name="Group 14"/>
          <p:cNvGrpSpPr/>
          <p:nvPr/>
        </p:nvGrpSpPr>
        <p:grpSpPr>
          <a:xfrm>
            <a:off x="927575" y="2187575"/>
            <a:ext cx="3249287" cy="933697"/>
            <a:chOff x="1839817" y="4335846"/>
            <a:chExt cx="6444867" cy="1851962"/>
          </a:xfrm>
        </p:grpSpPr>
        <p:sp>
          <p:nvSpPr>
            <p:cNvPr id="4" name="Oval 3"/>
            <p:cNvSpPr/>
            <p:nvPr/>
          </p:nvSpPr>
          <p:spPr>
            <a:xfrm>
              <a:off x="1839817" y="4384713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a</a:t>
              </a:r>
            </a:p>
          </p:txBody>
        </p:sp>
        <p:sp>
          <p:nvSpPr>
            <p:cNvPr id="5" name="Oval 4"/>
            <p:cNvSpPr/>
            <p:nvPr/>
          </p:nvSpPr>
          <p:spPr>
            <a:xfrm>
              <a:off x="3798983" y="4393894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b</a:t>
              </a:r>
            </a:p>
          </p:txBody>
        </p:sp>
        <p:cxnSp>
          <p:nvCxnSpPr>
            <p:cNvPr id="6" name="Straight Arrow Connector 5"/>
            <p:cNvCxnSpPr>
              <a:stCxn id="4" idx="6"/>
              <a:endCxn id="5" idx="2"/>
            </p:cNvCxnSpPr>
            <p:nvPr/>
          </p:nvCxnSpPr>
          <p:spPr>
            <a:xfrm>
              <a:off x="2379643" y="4643610"/>
              <a:ext cx="1419340" cy="918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Oval 6"/>
            <p:cNvSpPr/>
            <p:nvPr/>
          </p:nvSpPr>
          <p:spPr>
            <a:xfrm>
              <a:off x="2915798" y="567001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c</a:t>
              </a:r>
            </a:p>
          </p:txBody>
        </p:sp>
        <p:sp>
          <p:nvSpPr>
            <p:cNvPr id="8" name="Oval 7"/>
            <p:cNvSpPr/>
            <p:nvPr/>
          </p:nvSpPr>
          <p:spPr>
            <a:xfrm>
              <a:off x="4777648" y="5284425"/>
              <a:ext cx="539826" cy="517793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17" dirty="0"/>
                <a:t>d</a:t>
              </a:r>
            </a:p>
          </p:txBody>
        </p:sp>
        <p:cxnSp>
          <p:nvCxnSpPr>
            <p:cNvPr id="9" name="Straight Arrow Connector 8"/>
            <p:cNvCxnSpPr>
              <a:stCxn id="4" idx="5"/>
              <a:endCxn id="7" idx="1"/>
            </p:cNvCxnSpPr>
            <p:nvPr/>
          </p:nvCxnSpPr>
          <p:spPr>
            <a:xfrm rot="16200000" flipH="1">
              <a:off x="2188137" y="4939126"/>
              <a:ext cx="919167" cy="694267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>
              <a:stCxn id="5" idx="3"/>
              <a:endCxn id="7" idx="7"/>
            </p:cNvCxnSpPr>
            <p:nvPr/>
          </p:nvCxnSpPr>
          <p:spPr>
            <a:xfrm rot="5400000">
              <a:off x="3172311" y="5040116"/>
              <a:ext cx="909986" cy="50147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>
              <a:stCxn id="7" idx="6"/>
              <a:endCxn id="8" idx="2"/>
            </p:cNvCxnSpPr>
            <p:nvPr/>
          </p:nvCxnSpPr>
          <p:spPr>
            <a:xfrm flipV="1">
              <a:off x="3455624" y="5543322"/>
              <a:ext cx="1322024" cy="385590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>
              <a:stCxn id="5" idx="5"/>
              <a:endCxn id="8" idx="1"/>
            </p:cNvCxnSpPr>
            <p:nvPr/>
          </p:nvCxnSpPr>
          <p:spPr>
            <a:xfrm rot="16200000" flipH="1">
              <a:off x="4296030" y="4799580"/>
              <a:ext cx="524396" cy="596951"/>
            </a:xfrm>
            <a:prstGeom prst="straightConnector1">
              <a:avLst/>
            </a:prstGeom>
            <a:ln w="254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" name="TextBox 13"/>
            <p:cNvSpPr txBox="1"/>
            <p:nvPr/>
          </p:nvSpPr>
          <p:spPr>
            <a:xfrm>
              <a:off x="6081311" y="4335846"/>
              <a:ext cx="2203373" cy="178561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050" dirty="0"/>
                <a:t>Find all the </a:t>
              </a:r>
              <a:r>
                <a:rPr lang="en-US" sz="1050" b="1" dirty="0"/>
                <a:t>shortest</a:t>
              </a:r>
              <a:r>
                <a:rPr lang="en-US" sz="1050" dirty="0"/>
                <a:t> paths from a to d:</a:t>
              </a:r>
            </a:p>
            <a:p>
              <a:r>
                <a:rPr lang="en-US" sz="1050" dirty="0"/>
                <a:t>a →b →d</a:t>
              </a:r>
            </a:p>
            <a:p>
              <a:r>
                <a:rPr lang="en-US" sz="1050" dirty="0"/>
                <a:t>a →c →d</a:t>
              </a:r>
            </a:p>
          </p:txBody>
        </p:sp>
      </p:grpSp>
      <p:sp>
        <p:nvSpPr>
          <p:cNvPr id="16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Types of Computational Problems</a:t>
            </a:r>
          </a:p>
        </p:txBody>
      </p:sp>
    </p:spTree>
    <p:extLst>
      <p:ext uri="{BB962C8B-B14F-4D97-AF65-F5344CB8AC3E}">
        <p14:creationId xmlns:p14="http://schemas.microsoft.com/office/powerpoint/2010/main" val="25839670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altLang="en-US" sz="1800" b="1" dirty="0">
                <a:solidFill>
                  <a:schemeClr val="tx2"/>
                </a:solidFill>
              </a:rPr>
              <a:t>  Greedy Algorithm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>
          <a:xfrm>
            <a:off x="95250" y="457200"/>
            <a:ext cx="4343399" cy="3178175"/>
          </a:xfrm>
        </p:spPr>
        <p:txBody>
          <a:bodyPr>
            <a:noAutofit/>
          </a:bodyPr>
          <a:lstStyle/>
          <a:p>
            <a:pPr marL="172890" indent="-17289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50" dirty="0"/>
              <a:t>Solves an optimization problem</a:t>
            </a:r>
          </a:p>
          <a:p>
            <a:pPr marL="172890" indent="-17289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50" dirty="0"/>
              <a:t>Example: </a:t>
            </a:r>
          </a:p>
          <a:p>
            <a:pPr marL="403410" lvl="1" indent="-172890" algn="just">
              <a:buFont typeface="Arial" panose="020B0604020202020204" pitchFamily="34" charset="0"/>
              <a:buChar char="•"/>
            </a:pPr>
            <a:r>
              <a:rPr lang="en-US" altLang="en-US" sz="1000" dirty="0"/>
              <a:t>Activity Selection Problem</a:t>
            </a:r>
          </a:p>
          <a:p>
            <a:pPr marL="403410" lvl="1" indent="-172890" algn="just">
              <a:buFont typeface="Arial" panose="020B0604020202020204" pitchFamily="34" charset="0"/>
              <a:buChar char="•"/>
            </a:pPr>
            <a:r>
              <a:rPr lang="en-US" altLang="en-US" sz="1000" dirty="0" err="1"/>
              <a:t>Dijkstra’s</a:t>
            </a:r>
            <a:r>
              <a:rPr lang="en-US" altLang="en-US" sz="1000" dirty="0"/>
              <a:t> Shortest Path Problem</a:t>
            </a:r>
          </a:p>
          <a:p>
            <a:pPr marL="403410" lvl="1" indent="-172890" algn="just">
              <a:buFont typeface="Arial" panose="020B0604020202020204" pitchFamily="34" charset="0"/>
              <a:buChar char="•"/>
            </a:pPr>
            <a:r>
              <a:rPr lang="en-US" altLang="en-US" sz="1000" dirty="0"/>
              <a:t>Minimum Spanning Tree Problem</a:t>
            </a:r>
          </a:p>
          <a:p>
            <a:pPr marL="172890" indent="-17289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For many optimization problems, greedy algorithm can be used. (not always)</a:t>
            </a:r>
          </a:p>
          <a:p>
            <a:pPr marL="172890" lvl="1" indent="-17289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Greedy algorithm for optimization problems typically </a:t>
            </a:r>
            <a:r>
              <a:rPr lang="en-US" altLang="en-US" sz="105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through a sequence of steps, with a set of choices at each step</a:t>
            </a: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Current choice does not depend on evaluating potential future choices or pre-solving repeatedly occurring </a:t>
            </a:r>
            <a:r>
              <a:rPr lang="en-US" altLang="en-US" sz="1050" dirty="0" err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subproblems</a:t>
            </a: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(a.k.a., </a:t>
            </a:r>
            <a:r>
              <a:rPr lang="en-US" altLang="en-US" sz="1050" i="1" dirty="0">
                <a:latin typeface="Arial" panose="020B0604020202020204" pitchFamily="34" charset="0"/>
                <a:cs typeface="Arial" panose="020B0604020202020204" pitchFamily="34" charset="0"/>
              </a:rPr>
              <a:t>overlapping</a:t>
            </a: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en-US" sz="1050" i="1" dirty="0" err="1">
                <a:latin typeface="Arial" panose="020B0604020202020204" pitchFamily="34" charset="0"/>
                <a:cs typeface="Arial" panose="020B0604020202020204" pitchFamily="34" charset="0"/>
              </a:rPr>
              <a:t>subproblems</a:t>
            </a: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). With each step, the original problem is reduced to a smaller problem.</a:t>
            </a:r>
          </a:p>
          <a:p>
            <a:pPr marL="172890" indent="-17289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Greedy algorithm </a:t>
            </a:r>
            <a:r>
              <a:rPr lang="en-US" altLang="en-US" sz="1050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always makes the choice that looks best</a:t>
            </a: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at the moment.</a:t>
            </a:r>
          </a:p>
          <a:p>
            <a:pPr marL="172890" indent="-172890" algn="just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It makes a </a:t>
            </a:r>
            <a:r>
              <a:rPr lang="en-US" altLang="en-US" sz="1050" u="sng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locally optimal choice</a:t>
            </a:r>
            <a:r>
              <a:rPr lang="en-US" altLang="en-US" sz="1050" dirty="0">
                <a:latin typeface="Arial" panose="020B0604020202020204" pitchFamily="34" charset="0"/>
                <a:cs typeface="Arial" panose="020B0604020202020204" pitchFamily="34" charset="0"/>
              </a:rPr>
              <a:t> in the hope that this choice will lead to a globally optimal solution.</a:t>
            </a:r>
          </a:p>
          <a:p>
            <a:pPr lvl="1" algn="just" eaLnBrk="1" hangingPunct="1">
              <a:spcBef>
                <a:spcPts val="600"/>
              </a:spcBef>
            </a:pPr>
            <a:endParaRPr lang="en-US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73544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Optimal</a:t>
            </a:r>
            <a:r>
              <a:rPr sz="1400" spc="1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92639" y="434975"/>
            <a:ext cx="4091356" cy="2558521"/>
          </a:xfrm>
          <a:prstGeom prst="rect">
            <a:avLst/>
          </a:prstGeom>
        </p:spPr>
        <p:txBody>
          <a:bodyPr vert="horz" wrap="square" lIns="0" tIns="9334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735"/>
              </a:spcBef>
            </a:pPr>
            <a:r>
              <a:rPr lang="en-US" sz="1400" spc="-10" dirty="0">
                <a:latin typeface="+mj-lt"/>
                <a:cs typeface="Times New Roman" panose="02020603050405020304" pitchFamily="18" charset="0"/>
              </a:rPr>
              <a:t>       </a:t>
            </a:r>
            <a:r>
              <a:rPr sz="1400" b="1" spc="-10" dirty="0">
                <a:latin typeface="+mj-lt"/>
                <a:cs typeface="Times New Roman" panose="02020603050405020304" pitchFamily="18" charset="0"/>
              </a:rPr>
              <a:t>What </a:t>
            </a:r>
            <a:r>
              <a:rPr sz="1400" b="1" spc="-35" dirty="0">
                <a:latin typeface="+mj-lt"/>
                <a:cs typeface="Times New Roman" panose="02020603050405020304" pitchFamily="18" charset="0"/>
              </a:rPr>
              <a:t>is </a:t>
            </a:r>
            <a:r>
              <a:rPr sz="1400" b="1" spc="-55" dirty="0">
                <a:latin typeface="+mj-lt"/>
                <a:cs typeface="Times New Roman" panose="02020603050405020304" pitchFamily="18" charset="0"/>
              </a:rPr>
              <a:t>an </a:t>
            </a:r>
            <a:r>
              <a:rPr sz="1400" b="1" spc="-15" dirty="0">
                <a:latin typeface="+mj-lt"/>
                <a:cs typeface="Times New Roman" panose="02020603050405020304" pitchFamily="18" charset="0"/>
              </a:rPr>
              <a:t>Optimal</a:t>
            </a:r>
            <a:r>
              <a:rPr sz="1400" b="1" spc="160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1400" b="1" spc="-20" dirty="0">
                <a:latin typeface="+mj-lt"/>
                <a:cs typeface="Times New Roman" panose="02020603050405020304" pitchFamily="18" charset="0"/>
              </a:rPr>
              <a:t>Solution?</a:t>
            </a:r>
            <a:endParaRPr sz="1400" b="1" dirty="0">
              <a:latin typeface="+mj-lt"/>
              <a:cs typeface="Times New Roman" panose="02020603050405020304" pitchFamily="18" charset="0"/>
            </a:endParaRPr>
          </a:p>
          <a:p>
            <a:pPr marL="575310" indent="-285750" algn="just">
              <a:lnSpc>
                <a:spcPct val="100000"/>
              </a:lnSpc>
              <a:spcBef>
                <a:spcPts val="630"/>
              </a:spcBef>
              <a:buFont typeface="Courier New" panose="02070309020205020404" pitchFamily="49" charset="0"/>
              <a:buChar char="o"/>
            </a:pPr>
            <a:r>
              <a:rPr sz="1400" spc="-45" dirty="0">
                <a:latin typeface="+mj-lt"/>
                <a:cs typeface="Times New Roman" panose="02020603050405020304" pitchFamily="18" charset="0"/>
              </a:rPr>
              <a:t>Given </a:t>
            </a:r>
            <a:r>
              <a:rPr sz="1400" spc="-55" dirty="0">
                <a:latin typeface="+mj-lt"/>
                <a:cs typeface="Times New Roman" panose="02020603050405020304" pitchFamily="18" charset="0"/>
              </a:rPr>
              <a:t>a problem, </a:t>
            </a:r>
            <a:r>
              <a:rPr sz="1400" spc="-70" dirty="0">
                <a:latin typeface="+mj-lt"/>
                <a:cs typeface="Times New Roman" panose="02020603050405020304" pitchFamily="18" charset="0"/>
              </a:rPr>
              <a:t>more </a:t>
            </a:r>
            <a:r>
              <a:rPr sz="1400" spc="-35" dirty="0">
                <a:latin typeface="+mj-lt"/>
                <a:cs typeface="Times New Roman" panose="02020603050405020304" pitchFamily="18" charset="0"/>
              </a:rPr>
              <a:t>than </a:t>
            </a:r>
            <a:r>
              <a:rPr sz="1400" spc="-70" dirty="0">
                <a:latin typeface="+mj-lt"/>
                <a:cs typeface="Times New Roman" panose="02020603050405020304" pitchFamily="18" charset="0"/>
              </a:rPr>
              <a:t>one </a:t>
            </a:r>
            <a:r>
              <a:rPr sz="1400" spc="-30" dirty="0">
                <a:latin typeface="+mj-lt"/>
                <a:cs typeface="Times New Roman" panose="02020603050405020304" pitchFamily="18" charset="0"/>
              </a:rPr>
              <a:t>solution</a:t>
            </a:r>
            <a:r>
              <a:rPr sz="1400" spc="-100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1400" spc="-35" dirty="0">
                <a:latin typeface="+mj-lt"/>
                <a:cs typeface="Times New Roman" panose="02020603050405020304" pitchFamily="18" charset="0"/>
              </a:rPr>
              <a:t>exist</a:t>
            </a:r>
            <a:endParaRPr sz="1400" dirty="0">
              <a:latin typeface="+mj-lt"/>
              <a:cs typeface="Times New Roman" panose="02020603050405020304" pitchFamily="18" charset="0"/>
            </a:endParaRPr>
          </a:p>
          <a:p>
            <a:pPr marL="575310" marR="5080" indent="-285750" algn="just">
              <a:lnSpc>
                <a:spcPct val="102600"/>
              </a:lnSpc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sz="1400" spc="-40" dirty="0">
                <a:latin typeface="+mj-lt"/>
                <a:cs typeface="Times New Roman" panose="02020603050405020304" pitchFamily="18" charset="0"/>
              </a:rPr>
              <a:t>One </a:t>
            </a:r>
            <a:r>
              <a:rPr sz="1400" spc="-35" dirty="0">
                <a:latin typeface="+mj-lt"/>
                <a:cs typeface="Times New Roman" panose="02020603050405020304" pitchFamily="18" charset="0"/>
              </a:rPr>
              <a:t>of </a:t>
            </a:r>
            <a:r>
              <a:rPr sz="1400" spc="-40" dirty="0">
                <a:latin typeface="+mj-lt"/>
                <a:cs typeface="Times New Roman" panose="02020603050405020304" pitchFamily="18" charset="0"/>
              </a:rPr>
              <a:t>the </a:t>
            </a:r>
            <a:r>
              <a:rPr sz="1400" spc="-30" dirty="0">
                <a:latin typeface="+mj-lt"/>
                <a:cs typeface="Times New Roman" panose="02020603050405020304" pitchFamily="18" charset="0"/>
              </a:rPr>
              <a:t>solution </a:t>
            </a:r>
            <a:r>
              <a:rPr sz="1400" spc="-35" dirty="0">
                <a:latin typeface="+mj-lt"/>
                <a:cs typeface="Times New Roman" panose="02020603050405020304" pitchFamily="18" charset="0"/>
              </a:rPr>
              <a:t>is </a:t>
            </a:r>
            <a:r>
              <a:rPr sz="1400" spc="-45" dirty="0">
                <a:latin typeface="+mj-lt"/>
                <a:cs typeface="Times New Roman" panose="02020603050405020304" pitchFamily="18" charset="0"/>
              </a:rPr>
              <a:t>the best </a:t>
            </a:r>
            <a:r>
              <a:rPr sz="1400" spc="-70" dirty="0">
                <a:latin typeface="+mj-lt"/>
                <a:cs typeface="Times New Roman" panose="02020603050405020304" pitchFamily="18" charset="0"/>
              </a:rPr>
              <a:t>based </a:t>
            </a:r>
            <a:r>
              <a:rPr sz="1400" spc="-55" dirty="0">
                <a:latin typeface="+mj-lt"/>
                <a:cs typeface="Times New Roman" panose="02020603050405020304" pitchFamily="18" charset="0"/>
              </a:rPr>
              <a:t>on </a:t>
            </a:r>
            <a:r>
              <a:rPr sz="1400" spc="-70" dirty="0">
                <a:latin typeface="+mj-lt"/>
                <a:cs typeface="Times New Roman" panose="02020603050405020304" pitchFamily="18" charset="0"/>
              </a:rPr>
              <a:t>some </a:t>
            </a:r>
            <a:r>
              <a:rPr sz="1400" spc="-50" dirty="0">
                <a:latin typeface="+mj-lt"/>
                <a:cs typeface="Times New Roman" panose="02020603050405020304" pitchFamily="18" charset="0"/>
              </a:rPr>
              <a:t>given  </a:t>
            </a:r>
            <a:r>
              <a:rPr sz="1400" spc="-35" dirty="0">
                <a:latin typeface="+mj-lt"/>
                <a:cs typeface="Times New Roman" panose="02020603050405020304" pitchFamily="18" charset="0"/>
              </a:rPr>
              <a:t>constraints, </a:t>
            </a:r>
            <a:r>
              <a:rPr sz="1400" spc="-15" dirty="0">
                <a:latin typeface="+mj-lt"/>
                <a:cs typeface="Times New Roman" panose="02020603050405020304" pitchFamily="18" charset="0"/>
              </a:rPr>
              <a:t>that </a:t>
            </a:r>
            <a:r>
              <a:rPr sz="1400" spc="-30" dirty="0">
                <a:latin typeface="+mj-lt"/>
                <a:cs typeface="Times New Roman" panose="02020603050405020304" pitchFamily="18" charset="0"/>
              </a:rPr>
              <a:t>solution </a:t>
            </a:r>
            <a:r>
              <a:rPr sz="1400" spc="-35" dirty="0">
                <a:latin typeface="+mj-lt"/>
                <a:cs typeface="Times New Roman" panose="02020603050405020304" pitchFamily="18" charset="0"/>
              </a:rPr>
              <a:t>is called </a:t>
            </a:r>
            <a:r>
              <a:rPr sz="1400" spc="-45" dirty="0">
                <a:latin typeface="+mj-lt"/>
                <a:cs typeface="Times New Roman" panose="02020603050405020304" pitchFamily="18" charset="0"/>
              </a:rPr>
              <a:t>the </a:t>
            </a:r>
            <a:r>
              <a:rPr sz="1400" spc="-25" dirty="0">
                <a:latin typeface="+mj-lt"/>
                <a:cs typeface="Times New Roman" panose="02020603050405020304" pitchFamily="18" charset="0"/>
              </a:rPr>
              <a:t>optimal</a:t>
            </a:r>
            <a:r>
              <a:rPr sz="1400" spc="25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1400" spc="-30" dirty="0">
                <a:latin typeface="+mj-lt"/>
                <a:cs typeface="Times New Roman" panose="02020603050405020304" pitchFamily="18" charset="0"/>
              </a:rPr>
              <a:t>solution</a:t>
            </a:r>
            <a:endParaRPr lang="en-US" sz="1400" spc="-30" dirty="0">
              <a:latin typeface="+mj-lt"/>
              <a:cs typeface="Times New Roman" panose="02020603050405020304" pitchFamily="18" charset="0"/>
            </a:endParaRPr>
          </a:p>
          <a:p>
            <a:pPr marL="289560" marR="5080" algn="just">
              <a:lnSpc>
                <a:spcPct val="102600"/>
              </a:lnSpc>
              <a:spcBef>
                <a:spcPts val="300"/>
              </a:spcBef>
            </a:pPr>
            <a:endParaRPr lang="en-US" sz="100" spc="-10" dirty="0">
              <a:cs typeface="Times New Roman" panose="02020603050405020304" pitchFamily="18" charset="0"/>
            </a:endParaRPr>
          </a:p>
          <a:p>
            <a:pPr marL="289560" marR="5080" algn="just">
              <a:lnSpc>
                <a:spcPct val="102600"/>
              </a:lnSpc>
              <a:spcBef>
                <a:spcPts val="300"/>
              </a:spcBef>
            </a:pPr>
            <a:r>
              <a:rPr lang="en-US" sz="1400" b="1" spc="-10" dirty="0">
                <a:cs typeface="Times New Roman" panose="02020603050405020304" pitchFamily="18" charset="0"/>
              </a:rPr>
              <a:t>What </a:t>
            </a:r>
            <a:r>
              <a:rPr lang="en-US" sz="1400" b="1" spc="-35" dirty="0">
                <a:cs typeface="Times New Roman" panose="02020603050405020304" pitchFamily="18" charset="0"/>
              </a:rPr>
              <a:t>is </a:t>
            </a:r>
            <a:r>
              <a:rPr lang="en-US" sz="1400" b="1" spc="-30" dirty="0">
                <a:cs typeface="Times New Roman" panose="02020603050405020304" pitchFamily="18" charset="0"/>
              </a:rPr>
              <a:t>Global </a:t>
            </a:r>
            <a:r>
              <a:rPr lang="en-US" sz="1400" b="1" spc="-15" dirty="0">
                <a:cs typeface="Times New Roman" panose="02020603050405020304" pitchFamily="18" charset="0"/>
              </a:rPr>
              <a:t>Optimal</a:t>
            </a:r>
            <a:r>
              <a:rPr lang="en-US" sz="1400" b="1" spc="135" dirty="0">
                <a:cs typeface="Times New Roman" panose="02020603050405020304" pitchFamily="18" charset="0"/>
              </a:rPr>
              <a:t> </a:t>
            </a:r>
            <a:r>
              <a:rPr lang="en-US" sz="1400" b="1" spc="-20" dirty="0">
                <a:cs typeface="Times New Roman" panose="02020603050405020304" pitchFamily="18" charset="0"/>
              </a:rPr>
              <a:t>Solution?</a:t>
            </a:r>
          </a:p>
          <a:p>
            <a:pPr marL="575310" marR="5080" indent="-285750" algn="just">
              <a:lnSpc>
                <a:spcPct val="102600"/>
              </a:lnSpc>
              <a:spcBef>
                <a:spcPts val="300"/>
              </a:spcBef>
              <a:buFont typeface="Courier New" panose="02070309020205020404" pitchFamily="49" charset="0"/>
              <a:buChar char="o"/>
            </a:pPr>
            <a:r>
              <a:rPr lang="en-US" sz="1400" spc="-15" dirty="0">
                <a:cs typeface="Times New Roman" panose="02020603050405020304" pitchFamily="18" charset="0"/>
              </a:rPr>
              <a:t>Optimal </a:t>
            </a:r>
            <a:r>
              <a:rPr lang="en-US" sz="1400" spc="-25" dirty="0">
                <a:cs typeface="Times New Roman" panose="02020603050405020304" pitchFamily="18" charset="0"/>
              </a:rPr>
              <a:t>Solution </a:t>
            </a:r>
            <a:r>
              <a:rPr lang="en-US" sz="1400" spc="-15" dirty="0">
                <a:cs typeface="Times New Roman" panose="02020603050405020304" pitchFamily="18" charset="0"/>
              </a:rPr>
              <a:t>to </a:t>
            </a:r>
            <a:r>
              <a:rPr lang="en-US" sz="1400" spc="-40" dirty="0">
                <a:cs typeface="Times New Roman" panose="02020603050405020304" pitchFamily="18" charset="0"/>
              </a:rPr>
              <a:t>the main </a:t>
            </a:r>
            <a:r>
              <a:rPr lang="en-US" sz="1400" spc="-55" dirty="0">
                <a:cs typeface="Times New Roman" panose="02020603050405020304" pitchFamily="18" charset="0"/>
              </a:rPr>
              <a:t>problem</a:t>
            </a:r>
            <a:r>
              <a:rPr lang="en-US" sz="1400" spc="-10" dirty="0">
                <a:latin typeface="+mj-lt"/>
                <a:cs typeface="Times New Roman" panose="02020603050405020304" pitchFamily="18" charset="0"/>
              </a:rPr>
              <a:t>       </a:t>
            </a:r>
          </a:p>
          <a:p>
            <a:pPr marL="12700" marR="950594" indent="276860" algn="just">
              <a:lnSpc>
                <a:spcPct val="125299"/>
              </a:lnSpc>
            </a:pPr>
            <a:endParaRPr lang="en-US" sz="600" b="1" spc="-10" dirty="0">
              <a:latin typeface="+mj-lt"/>
              <a:cs typeface="Times New Roman" panose="02020603050405020304" pitchFamily="18" charset="0"/>
            </a:endParaRPr>
          </a:p>
          <a:p>
            <a:pPr marL="12700" marR="950594" indent="276860" algn="just">
              <a:lnSpc>
                <a:spcPct val="125299"/>
              </a:lnSpc>
            </a:pPr>
            <a:r>
              <a:rPr sz="1400" b="1" spc="-10" dirty="0">
                <a:latin typeface="+mj-lt"/>
                <a:cs typeface="Times New Roman" panose="02020603050405020304" pitchFamily="18" charset="0"/>
              </a:rPr>
              <a:t>What </a:t>
            </a:r>
            <a:r>
              <a:rPr sz="1400" b="1" spc="-35" dirty="0">
                <a:latin typeface="+mj-lt"/>
                <a:cs typeface="Times New Roman" panose="02020603050405020304" pitchFamily="18" charset="0"/>
              </a:rPr>
              <a:t>is </a:t>
            </a:r>
            <a:r>
              <a:rPr sz="1400" b="1" spc="-20" dirty="0">
                <a:latin typeface="+mj-lt"/>
                <a:cs typeface="Times New Roman" panose="02020603050405020304" pitchFamily="18" charset="0"/>
              </a:rPr>
              <a:t>local </a:t>
            </a:r>
            <a:r>
              <a:rPr sz="1400" b="1" spc="-15" dirty="0">
                <a:latin typeface="+mj-lt"/>
                <a:cs typeface="Times New Roman" panose="02020603050405020304" pitchFamily="18" charset="0"/>
              </a:rPr>
              <a:t>Optimal</a:t>
            </a:r>
            <a:r>
              <a:rPr sz="1400" b="1" spc="120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1400" b="1" spc="-25" dirty="0">
                <a:latin typeface="+mj-lt"/>
                <a:cs typeface="Times New Roman" panose="02020603050405020304" pitchFamily="18" charset="0"/>
              </a:rPr>
              <a:t>Solution?</a:t>
            </a:r>
            <a:endParaRPr sz="1400" b="1" dirty="0">
              <a:latin typeface="+mj-lt"/>
              <a:cs typeface="Times New Roman" panose="02020603050405020304" pitchFamily="18" charset="0"/>
            </a:endParaRPr>
          </a:p>
          <a:p>
            <a:pPr marL="575310" indent="-285750" algn="just">
              <a:lnSpc>
                <a:spcPct val="100000"/>
              </a:lnSpc>
              <a:spcBef>
                <a:spcPts val="330"/>
              </a:spcBef>
              <a:buFont typeface="Courier New" panose="02070309020205020404" pitchFamily="49" charset="0"/>
              <a:buChar char="o"/>
            </a:pPr>
            <a:r>
              <a:rPr lang="en-US" sz="1400" spc="-15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1400" spc="-15" dirty="0">
                <a:latin typeface="+mj-lt"/>
                <a:cs typeface="Times New Roman" panose="02020603050405020304" pitchFamily="18" charset="0"/>
              </a:rPr>
              <a:t>Optimal </a:t>
            </a:r>
            <a:r>
              <a:rPr sz="1400" spc="-25" dirty="0">
                <a:latin typeface="+mj-lt"/>
                <a:cs typeface="Times New Roman" panose="02020603050405020304" pitchFamily="18" charset="0"/>
              </a:rPr>
              <a:t>Solution </a:t>
            </a:r>
            <a:r>
              <a:rPr sz="1400" spc="-15" dirty="0">
                <a:latin typeface="+mj-lt"/>
                <a:cs typeface="Times New Roman" panose="02020603050405020304" pitchFamily="18" charset="0"/>
              </a:rPr>
              <a:t>to </a:t>
            </a:r>
            <a:r>
              <a:rPr sz="1400" spc="-40" dirty="0">
                <a:latin typeface="+mj-lt"/>
                <a:cs typeface="Times New Roman" panose="02020603050405020304" pitchFamily="18" charset="0"/>
              </a:rPr>
              <a:t>the</a:t>
            </a:r>
            <a:r>
              <a:rPr sz="1400" spc="114" dirty="0">
                <a:latin typeface="+mj-lt"/>
                <a:cs typeface="Times New Roman" panose="02020603050405020304" pitchFamily="18" charset="0"/>
              </a:rPr>
              <a:t> </a:t>
            </a:r>
            <a:r>
              <a:rPr sz="1400" spc="-60" dirty="0" err="1">
                <a:latin typeface="+mj-lt"/>
                <a:cs typeface="Times New Roman" panose="02020603050405020304" pitchFamily="18" charset="0"/>
              </a:rPr>
              <a:t>subproblems</a:t>
            </a:r>
            <a:endParaRPr sz="1400" dirty="0">
              <a:latin typeface="+mj-lt"/>
              <a:cs typeface="Times New Roman" panose="02020603050405020304" pitchFamily="18" charset="0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5</a:t>
            </a:r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593800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14736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194" y="781227"/>
            <a:ext cx="398965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13466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638035"/>
            <a:ext cx="50751" cy="5093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825510"/>
            <a:ext cx="3989704" cy="372745"/>
          </a:xfrm>
          <a:custGeom>
            <a:avLst/>
            <a:gdLst/>
            <a:ahLst/>
            <a:cxnLst/>
            <a:rect l="l" t="t" r="r" b="b"/>
            <a:pathLst>
              <a:path w="3989704" h="372744">
                <a:moveTo>
                  <a:pt x="3989652" y="0"/>
                </a:moveTo>
                <a:lnTo>
                  <a:pt x="0" y="0"/>
                </a:lnTo>
                <a:lnTo>
                  <a:pt x="0" y="321858"/>
                </a:lnTo>
                <a:lnTo>
                  <a:pt x="4008" y="341583"/>
                </a:lnTo>
                <a:lnTo>
                  <a:pt x="14922" y="357736"/>
                </a:lnTo>
                <a:lnTo>
                  <a:pt x="31075" y="368650"/>
                </a:lnTo>
                <a:lnTo>
                  <a:pt x="50800" y="372658"/>
                </a:lnTo>
                <a:lnTo>
                  <a:pt x="3938852" y="372658"/>
                </a:lnTo>
                <a:lnTo>
                  <a:pt x="3958576" y="368650"/>
                </a:lnTo>
                <a:lnTo>
                  <a:pt x="3974729" y="357736"/>
                </a:lnTo>
                <a:lnTo>
                  <a:pt x="3985644" y="341583"/>
                </a:lnTo>
                <a:lnTo>
                  <a:pt x="3989652" y="321858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76134"/>
            <a:ext cx="0" cy="490855"/>
          </a:xfrm>
          <a:custGeom>
            <a:avLst/>
            <a:gdLst/>
            <a:ahLst/>
            <a:cxnLst/>
            <a:rect l="l" t="t" r="r" b="b"/>
            <a:pathLst>
              <a:path h="490855">
                <a:moveTo>
                  <a:pt x="0" y="49028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6343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65073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63803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350098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-38100" y="121015"/>
            <a:ext cx="4684395" cy="142526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+mj-lt"/>
                <a:cs typeface="Calibri"/>
              </a:rPr>
              <a:t>Designing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 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greedy</a:t>
            </a:r>
            <a:r>
              <a:rPr sz="1400" spc="114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algorithm</a:t>
            </a:r>
            <a:endParaRPr sz="1400" dirty="0">
              <a:latin typeface="+mj-lt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20" dirty="0">
                <a:solidFill>
                  <a:srgbClr val="FFFFFF"/>
                </a:solidFill>
                <a:latin typeface="+mj-lt"/>
                <a:cs typeface="Tahoma"/>
              </a:rPr>
              <a:t>Definition </a:t>
            </a:r>
            <a:r>
              <a:rPr sz="1100" spc="-45" dirty="0">
                <a:solidFill>
                  <a:srgbClr val="FFFFFF"/>
                </a:solidFill>
                <a:latin typeface="+mj-lt"/>
                <a:cs typeface="Tahoma"/>
              </a:rPr>
              <a:t>(Interval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scheduling</a:t>
            </a:r>
            <a:r>
              <a:rPr sz="1100" spc="120" dirty="0">
                <a:solidFill>
                  <a:srgbClr val="FFFFFF"/>
                </a:solidFill>
                <a:latin typeface="+mj-lt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problem)</a:t>
            </a:r>
            <a:endParaRPr sz="1100" dirty="0">
              <a:latin typeface="+mj-lt"/>
              <a:cs typeface="Tahoma"/>
            </a:endParaRPr>
          </a:p>
          <a:p>
            <a:pPr marL="397510" marR="547370">
              <a:lnSpc>
                <a:spcPct val="102699"/>
              </a:lnSpc>
              <a:spcBef>
                <a:spcPts val="385"/>
              </a:spcBef>
            </a:pPr>
            <a:r>
              <a:rPr sz="1100" spc="-45" dirty="0">
                <a:latin typeface="+mj-lt"/>
                <a:cs typeface="Tahoma"/>
              </a:rPr>
              <a:t>Given </a:t>
            </a:r>
            <a:r>
              <a:rPr sz="1100" spc="-55" dirty="0">
                <a:latin typeface="+mj-lt"/>
                <a:cs typeface="Tahoma"/>
              </a:rPr>
              <a:t>a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spc="-55" dirty="0">
                <a:latin typeface="+mj-lt"/>
                <a:cs typeface="Tahoma"/>
              </a:rPr>
              <a:t>schedules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45" dirty="0">
                <a:latin typeface="+mj-lt"/>
                <a:cs typeface="Tahoma"/>
              </a:rPr>
              <a:t>= </a:t>
            </a:r>
            <a:r>
              <a:rPr sz="1100" spc="65" dirty="0">
                <a:latin typeface="+mj-lt"/>
                <a:cs typeface="Lucida Sans Unicode"/>
              </a:rPr>
              <a:t>{</a:t>
            </a:r>
            <a:r>
              <a:rPr sz="1100" i="1" spc="65" dirty="0">
                <a:latin typeface="+mj-lt"/>
                <a:cs typeface="Trebuchet MS"/>
              </a:rPr>
              <a:t>I</a:t>
            </a:r>
            <a:r>
              <a:rPr sz="1200" i="1" spc="97" baseline="-10416" dirty="0">
                <a:latin typeface="+mj-lt"/>
                <a:cs typeface="Arial"/>
              </a:rPr>
              <a:t>i </a:t>
            </a:r>
            <a:r>
              <a:rPr sz="1100" spc="75" dirty="0">
                <a:latin typeface="+mj-lt"/>
                <a:cs typeface="Lucida Sans Unicode"/>
              </a:rPr>
              <a:t>}</a:t>
            </a:r>
            <a:r>
              <a:rPr sz="1100" spc="75" dirty="0">
                <a:latin typeface="+mj-lt"/>
                <a:cs typeface="Tahoma"/>
              </a:rPr>
              <a:t>, </a:t>
            </a:r>
            <a:r>
              <a:rPr sz="1100" spc="-30" dirty="0">
                <a:latin typeface="+mj-lt"/>
                <a:cs typeface="Tahoma"/>
              </a:rPr>
              <a:t>find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50" dirty="0">
                <a:solidFill>
                  <a:srgbClr val="0000FF"/>
                </a:solidFill>
                <a:latin typeface="+mj-lt"/>
                <a:cs typeface="Tahoma"/>
              </a:rPr>
              <a:t>largest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30" dirty="0">
                <a:latin typeface="+mj-lt"/>
                <a:cs typeface="Lucida Sans Unicode"/>
              </a:rPr>
              <a:t>⊆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-50" dirty="0">
                <a:latin typeface="+mj-lt"/>
                <a:cs typeface="Tahoma"/>
              </a:rPr>
              <a:t>such  </a:t>
            </a:r>
            <a:r>
              <a:rPr sz="1100" spc="-15" dirty="0">
                <a:latin typeface="+mj-lt"/>
                <a:cs typeface="Tahoma"/>
              </a:rPr>
              <a:t>that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60" dirty="0">
                <a:latin typeface="+mj-lt"/>
                <a:cs typeface="Tahoma"/>
              </a:rPr>
              <a:t>members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75" dirty="0">
                <a:latin typeface="+mj-lt"/>
                <a:cs typeface="Tahoma"/>
              </a:rPr>
              <a:t>are</a:t>
            </a:r>
            <a:r>
              <a:rPr sz="1100" spc="-65" dirty="0">
                <a:latin typeface="+mj-lt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+mj-lt"/>
                <a:cs typeface="Tahoma"/>
              </a:rPr>
              <a:t>non-conflicting</a:t>
            </a:r>
            <a:r>
              <a:rPr sz="1100" spc="-30" dirty="0">
                <a:latin typeface="+mj-lt"/>
                <a:cs typeface="Tahoma"/>
              </a:rPr>
              <a:t>.</a:t>
            </a:r>
            <a:endParaRPr sz="1100" dirty="0">
              <a:latin typeface="+mj-lt"/>
              <a:cs typeface="Tahoma"/>
            </a:endParaRPr>
          </a:p>
          <a:p>
            <a:pPr>
              <a:lnSpc>
                <a:spcPct val="100000"/>
              </a:lnSpc>
            </a:pPr>
            <a:endParaRPr sz="130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40" dirty="0">
                <a:solidFill>
                  <a:srgbClr val="FFFFFF"/>
                </a:solidFill>
                <a:latin typeface="+mj-lt"/>
                <a:cs typeface="Tahoma"/>
              </a:rPr>
              <a:t>Example</a:t>
            </a:r>
            <a:endParaRPr sz="1100" dirty="0">
              <a:latin typeface="+mj-lt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524000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669590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65689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394333"/>
            <a:ext cx="50751" cy="127525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568269"/>
            <a:ext cx="3989704" cy="1152525"/>
          </a:xfrm>
          <a:custGeom>
            <a:avLst/>
            <a:gdLst/>
            <a:ahLst/>
            <a:cxnLst/>
            <a:rect l="l" t="t" r="r" b="b"/>
            <a:pathLst>
              <a:path w="3989704" h="1152525">
                <a:moveTo>
                  <a:pt x="3989652" y="0"/>
                </a:moveTo>
                <a:lnTo>
                  <a:pt x="0" y="0"/>
                </a:lnTo>
                <a:lnTo>
                  <a:pt x="0" y="1101321"/>
                </a:lnTo>
                <a:lnTo>
                  <a:pt x="4008" y="1121046"/>
                </a:lnTo>
                <a:lnTo>
                  <a:pt x="14922" y="1137199"/>
                </a:lnTo>
                <a:lnTo>
                  <a:pt x="31075" y="1148113"/>
                </a:lnTo>
                <a:lnTo>
                  <a:pt x="50800" y="1152122"/>
                </a:lnTo>
                <a:lnTo>
                  <a:pt x="3938852" y="1152122"/>
                </a:lnTo>
                <a:lnTo>
                  <a:pt x="3958576" y="1148113"/>
                </a:lnTo>
                <a:lnTo>
                  <a:pt x="3974729" y="1137199"/>
                </a:lnTo>
                <a:lnTo>
                  <a:pt x="3985644" y="1121046"/>
                </a:lnTo>
                <a:lnTo>
                  <a:pt x="3989652" y="1101321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432415"/>
            <a:ext cx="0" cy="1256665"/>
          </a:xfrm>
          <a:custGeom>
            <a:avLst/>
            <a:gdLst/>
            <a:ahLst/>
            <a:cxnLst/>
            <a:rect l="l" t="t" r="r" b="b"/>
            <a:pathLst>
              <a:path h="1256664">
                <a:moveTo>
                  <a:pt x="0" y="12562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41971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40701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39431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9086" y="1593577"/>
            <a:ext cx="2915983" cy="8756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292690" y="3318070"/>
            <a:ext cx="22034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593800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14736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194" y="781227"/>
            <a:ext cx="398965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13466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638035"/>
            <a:ext cx="50751" cy="5093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825510"/>
            <a:ext cx="3989704" cy="372745"/>
          </a:xfrm>
          <a:custGeom>
            <a:avLst/>
            <a:gdLst/>
            <a:ahLst/>
            <a:cxnLst/>
            <a:rect l="l" t="t" r="r" b="b"/>
            <a:pathLst>
              <a:path w="3989704" h="372744">
                <a:moveTo>
                  <a:pt x="3989652" y="0"/>
                </a:moveTo>
                <a:lnTo>
                  <a:pt x="0" y="0"/>
                </a:lnTo>
                <a:lnTo>
                  <a:pt x="0" y="321858"/>
                </a:lnTo>
                <a:lnTo>
                  <a:pt x="4008" y="341583"/>
                </a:lnTo>
                <a:lnTo>
                  <a:pt x="14922" y="357736"/>
                </a:lnTo>
                <a:lnTo>
                  <a:pt x="31075" y="368650"/>
                </a:lnTo>
                <a:lnTo>
                  <a:pt x="50800" y="372658"/>
                </a:lnTo>
                <a:lnTo>
                  <a:pt x="3938852" y="372658"/>
                </a:lnTo>
                <a:lnTo>
                  <a:pt x="3958576" y="368650"/>
                </a:lnTo>
                <a:lnTo>
                  <a:pt x="3974729" y="357736"/>
                </a:lnTo>
                <a:lnTo>
                  <a:pt x="3985644" y="341583"/>
                </a:lnTo>
                <a:lnTo>
                  <a:pt x="3989652" y="321858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76134"/>
            <a:ext cx="0" cy="490855"/>
          </a:xfrm>
          <a:custGeom>
            <a:avLst/>
            <a:gdLst/>
            <a:ahLst/>
            <a:cxnLst/>
            <a:rect l="l" t="t" r="r" b="b"/>
            <a:pathLst>
              <a:path h="490855">
                <a:moveTo>
                  <a:pt x="0" y="49028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6343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65073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63803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350098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-38100" y="121015"/>
            <a:ext cx="4684395" cy="1425262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+mj-lt"/>
                <a:cs typeface="Calibri"/>
              </a:rPr>
              <a:t>Designing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 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greedy</a:t>
            </a:r>
            <a:r>
              <a:rPr sz="1400" spc="114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algorithm</a:t>
            </a:r>
            <a:endParaRPr sz="1400" dirty="0">
              <a:latin typeface="+mj-lt"/>
              <a:cs typeface="Calibri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165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20" dirty="0">
                <a:solidFill>
                  <a:srgbClr val="FFFFFF"/>
                </a:solidFill>
                <a:latin typeface="+mj-lt"/>
                <a:cs typeface="Tahoma"/>
              </a:rPr>
              <a:t>Definition </a:t>
            </a:r>
            <a:r>
              <a:rPr sz="1100" spc="-45" dirty="0">
                <a:solidFill>
                  <a:srgbClr val="FFFFFF"/>
                </a:solidFill>
                <a:latin typeface="+mj-lt"/>
                <a:cs typeface="Tahoma"/>
              </a:rPr>
              <a:t>(Interval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scheduling</a:t>
            </a:r>
            <a:r>
              <a:rPr sz="1100" spc="120" dirty="0">
                <a:solidFill>
                  <a:srgbClr val="FFFFFF"/>
                </a:solidFill>
                <a:latin typeface="+mj-lt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problem)</a:t>
            </a:r>
            <a:endParaRPr sz="1100" dirty="0">
              <a:latin typeface="+mj-lt"/>
              <a:cs typeface="Tahoma"/>
            </a:endParaRPr>
          </a:p>
          <a:p>
            <a:pPr marL="397510" marR="547370">
              <a:lnSpc>
                <a:spcPct val="102699"/>
              </a:lnSpc>
              <a:spcBef>
                <a:spcPts val="385"/>
              </a:spcBef>
            </a:pPr>
            <a:r>
              <a:rPr sz="1100" spc="-45" dirty="0">
                <a:latin typeface="+mj-lt"/>
                <a:cs typeface="Tahoma"/>
              </a:rPr>
              <a:t>Given </a:t>
            </a:r>
            <a:r>
              <a:rPr sz="1100" spc="-55" dirty="0">
                <a:latin typeface="+mj-lt"/>
                <a:cs typeface="Tahoma"/>
              </a:rPr>
              <a:t>a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spc="-55" dirty="0">
                <a:latin typeface="+mj-lt"/>
                <a:cs typeface="Tahoma"/>
              </a:rPr>
              <a:t>schedules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45" dirty="0">
                <a:latin typeface="+mj-lt"/>
                <a:cs typeface="Tahoma"/>
              </a:rPr>
              <a:t>= </a:t>
            </a:r>
            <a:r>
              <a:rPr sz="1100" spc="65" dirty="0">
                <a:latin typeface="+mj-lt"/>
                <a:cs typeface="Lucida Sans Unicode"/>
              </a:rPr>
              <a:t>{</a:t>
            </a:r>
            <a:r>
              <a:rPr sz="1100" i="1" spc="65" dirty="0">
                <a:latin typeface="+mj-lt"/>
                <a:cs typeface="Trebuchet MS"/>
              </a:rPr>
              <a:t>I</a:t>
            </a:r>
            <a:r>
              <a:rPr sz="1200" i="1" spc="97" baseline="-10416" dirty="0">
                <a:latin typeface="+mj-lt"/>
                <a:cs typeface="Arial"/>
              </a:rPr>
              <a:t>i </a:t>
            </a:r>
            <a:r>
              <a:rPr sz="1100" spc="75" dirty="0">
                <a:latin typeface="+mj-lt"/>
                <a:cs typeface="Lucida Sans Unicode"/>
              </a:rPr>
              <a:t>}</a:t>
            </a:r>
            <a:r>
              <a:rPr sz="1100" spc="75" dirty="0">
                <a:latin typeface="+mj-lt"/>
                <a:cs typeface="Tahoma"/>
              </a:rPr>
              <a:t>, </a:t>
            </a:r>
            <a:r>
              <a:rPr sz="1100" spc="-30" dirty="0">
                <a:latin typeface="+mj-lt"/>
                <a:cs typeface="Tahoma"/>
              </a:rPr>
              <a:t>find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50" dirty="0">
                <a:solidFill>
                  <a:srgbClr val="0000FF"/>
                </a:solidFill>
                <a:latin typeface="+mj-lt"/>
                <a:cs typeface="Tahoma"/>
              </a:rPr>
              <a:t>largest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30" dirty="0">
                <a:latin typeface="+mj-lt"/>
                <a:cs typeface="Lucida Sans Unicode"/>
              </a:rPr>
              <a:t>⊆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-50" dirty="0">
                <a:latin typeface="+mj-lt"/>
                <a:cs typeface="Tahoma"/>
              </a:rPr>
              <a:t>such  </a:t>
            </a:r>
            <a:r>
              <a:rPr sz="1100" spc="-15" dirty="0">
                <a:latin typeface="+mj-lt"/>
                <a:cs typeface="Tahoma"/>
              </a:rPr>
              <a:t>that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60" dirty="0">
                <a:latin typeface="+mj-lt"/>
                <a:cs typeface="Tahoma"/>
              </a:rPr>
              <a:t>members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75" dirty="0">
                <a:latin typeface="+mj-lt"/>
                <a:cs typeface="Tahoma"/>
              </a:rPr>
              <a:t>are</a:t>
            </a:r>
            <a:r>
              <a:rPr sz="1100" spc="-65" dirty="0">
                <a:latin typeface="+mj-lt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+mj-lt"/>
                <a:cs typeface="Tahoma"/>
              </a:rPr>
              <a:t>non-conflicting</a:t>
            </a:r>
            <a:r>
              <a:rPr sz="1100" spc="-30" dirty="0">
                <a:latin typeface="+mj-lt"/>
                <a:cs typeface="Tahoma"/>
              </a:rPr>
              <a:t>.</a:t>
            </a:r>
            <a:endParaRPr sz="1100" dirty="0">
              <a:latin typeface="+mj-lt"/>
              <a:cs typeface="Tahoma"/>
            </a:endParaRPr>
          </a:p>
          <a:p>
            <a:pPr>
              <a:lnSpc>
                <a:spcPct val="100000"/>
              </a:lnSpc>
            </a:pPr>
            <a:endParaRPr sz="130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40" dirty="0">
                <a:solidFill>
                  <a:srgbClr val="FFFFFF"/>
                </a:solidFill>
                <a:latin typeface="+mj-lt"/>
                <a:cs typeface="Tahoma"/>
              </a:rPr>
              <a:t>Example</a:t>
            </a:r>
            <a:endParaRPr sz="1100" dirty="0">
              <a:latin typeface="+mj-lt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524000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669590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656890"/>
            <a:ext cx="3938802" cy="1143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394333"/>
            <a:ext cx="50751" cy="1275257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568269"/>
            <a:ext cx="3989704" cy="1152525"/>
          </a:xfrm>
          <a:custGeom>
            <a:avLst/>
            <a:gdLst/>
            <a:ahLst/>
            <a:cxnLst/>
            <a:rect l="l" t="t" r="r" b="b"/>
            <a:pathLst>
              <a:path w="3989704" h="1152525">
                <a:moveTo>
                  <a:pt x="3989652" y="0"/>
                </a:moveTo>
                <a:lnTo>
                  <a:pt x="0" y="0"/>
                </a:lnTo>
                <a:lnTo>
                  <a:pt x="0" y="1101321"/>
                </a:lnTo>
                <a:lnTo>
                  <a:pt x="4008" y="1121046"/>
                </a:lnTo>
                <a:lnTo>
                  <a:pt x="14922" y="1137199"/>
                </a:lnTo>
                <a:lnTo>
                  <a:pt x="31075" y="1148113"/>
                </a:lnTo>
                <a:lnTo>
                  <a:pt x="50800" y="1152122"/>
                </a:lnTo>
                <a:lnTo>
                  <a:pt x="3938852" y="1152122"/>
                </a:lnTo>
                <a:lnTo>
                  <a:pt x="3958576" y="1148113"/>
                </a:lnTo>
                <a:lnTo>
                  <a:pt x="3974729" y="1137199"/>
                </a:lnTo>
                <a:lnTo>
                  <a:pt x="3985644" y="1121046"/>
                </a:lnTo>
                <a:lnTo>
                  <a:pt x="3989652" y="1101321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432415"/>
            <a:ext cx="0" cy="1256665"/>
          </a:xfrm>
          <a:custGeom>
            <a:avLst/>
            <a:gdLst/>
            <a:ahLst/>
            <a:cxnLst/>
            <a:rect l="l" t="t" r="r" b="b"/>
            <a:pathLst>
              <a:path h="1256664">
                <a:moveTo>
                  <a:pt x="0" y="12562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41971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40701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39431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9086" y="1593577"/>
            <a:ext cx="2915983" cy="87567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347294" y="2490087"/>
            <a:ext cx="941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5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25" dirty="0">
                <a:latin typeface="Verdana"/>
                <a:cs typeface="Verdana"/>
              </a:rPr>
              <a:t> </a:t>
            </a:r>
            <a:r>
              <a:rPr sz="1100" spc="10" dirty="0">
                <a:latin typeface="Tahoma"/>
                <a:cs typeface="Tahoma"/>
              </a:rPr>
              <a:t>8</a:t>
            </a:r>
            <a:r>
              <a:rPr sz="1100" spc="10" dirty="0">
                <a:latin typeface="Lucida Sans Unicode"/>
                <a:cs typeface="Lucida Sans Unicode"/>
              </a:rPr>
              <a:t>}</a:t>
            </a:r>
            <a:r>
              <a:rPr sz="1100" i="1" spc="10" dirty="0">
                <a:latin typeface="Verdana"/>
                <a:cs typeface="Verdana"/>
              </a:rPr>
              <a:t>,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424876" y="2490087"/>
            <a:ext cx="487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Lucida Sans Unicode"/>
                <a:cs typeface="Lucida Sans Unicode"/>
              </a:rPr>
              <a:t>|</a:t>
            </a:r>
            <a:r>
              <a:rPr sz="1100" i="1" spc="-60" dirty="0">
                <a:latin typeface="Trebuchet MS"/>
                <a:cs typeface="Trebuchet MS"/>
              </a:rPr>
              <a:t>A</a:t>
            </a:r>
            <a:r>
              <a:rPr sz="1100" spc="-60" dirty="0">
                <a:latin typeface="Lucida Sans Unicode"/>
                <a:cs typeface="Lucida Sans Unicode"/>
              </a:rPr>
              <a:t>|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4.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4" name="object 3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5" name="object 3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6" name="object 36"/>
          <p:cNvSpPr txBox="1"/>
          <p:nvPr/>
        </p:nvSpPr>
        <p:spPr>
          <a:xfrm>
            <a:off x="4292690" y="3318070"/>
            <a:ext cx="22034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544537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09810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194" y="731977"/>
            <a:ext cx="398965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08540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88784"/>
            <a:ext cx="50751" cy="50932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76247"/>
            <a:ext cx="3989704" cy="372745"/>
          </a:xfrm>
          <a:custGeom>
            <a:avLst/>
            <a:gdLst/>
            <a:ahLst/>
            <a:cxnLst/>
            <a:rect l="l" t="t" r="r" b="b"/>
            <a:pathLst>
              <a:path w="3989704" h="372744">
                <a:moveTo>
                  <a:pt x="3989652" y="0"/>
                </a:moveTo>
                <a:lnTo>
                  <a:pt x="0" y="0"/>
                </a:lnTo>
                <a:lnTo>
                  <a:pt x="0" y="321858"/>
                </a:lnTo>
                <a:lnTo>
                  <a:pt x="4008" y="341583"/>
                </a:lnTo>
                <a:lnTo>
                  <a:pt x="14922" y="357736"/>
                </a:lnTo>
                <a:lnTo>
                  <a:pt x="31075" y="368650"/>
                </a:lnTo>
                <a:lnTo>
                  <a:pt x="50800" y="372658"/>
                </a:lnTo>
                <a:lnTo>
                  <a:pt x="3938852" y="372658"/>
                </a:lnTo>
                <a:lnTo>
                  <a:pt x="3958576" y="368650"/>
                </a:lnTo>
                <a:lnTo>
                  <a:pt x="3974729" y="357736"/>
                </a:lnTo>
                <a:lnTo>
                  <a:pt x="3985644" y="341583"/>
                </a:lnTo>
                <a:lnTo>
                  <a:pt x="3989652" y="321858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26870"/>
            <a:ext cx="0" cy="490855"/>
          </a:xfrm>
          <a:custGeom>
            <a:avLst/>
            <a:gdLst/>
            <a:ahLst/>
            <a:cxnLst/>
            <a:rect l="l" t="t" r="r" b="b"/>
            <a:pathLst>
              <a:path h="490855">
                <a:moveTo>
                  <a:pt x="0" y="49028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1417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60147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8877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300835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-38100" y="121015"/>
            <a:ext cx="4684395" cy="135509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+mj-lt"/>
                <a:cs typeface="Calibri"/>
              </a:rPr>
              <a:t>Designing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 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greedy</a:t>
            </a:r>
            <a:r>
              <a:rPr sz="1400" spc="114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algorithm</a:t>
            </a:r>
            <a:endParaRPr sz="1400" dirty="0">
              <a:latin typeface="+mj-lt"/>
              <a:cs typeface="Calibri"/>
            </a:endParaRPr>
          </a:p>
          <a:p>
            <a:pPr marL="397510">
              <a:lnSpc>
                <a:spcPct val="100000"/>
              </a:lnSpc>
              <a:spcBef>
                <a:spcPts val="1520"/>
              </a:spcBef>
            </a:pPr>
            <a:r>
              <a:rPr sz="1100" spc="-20" dirty="0">
                <a:solidFill>
                  <a:srgbClr val="FFFFFF"/>
                </a:solidFill>
                <a:latin typeface="+mj-lt"/>
                <a:cs typeface="Tahoma"/>
              </a:rPr>
              <a:t>Definition </a:t>
            </a:r>
            <a:r>
              <a:rPr sz="1100" spc="-45" dirty="0">
                <a:solidFill>
                  <a:srgbClr val="FFFFFF"/>
                </a:solidFill>
                <a:latin typeface="+mj-lt"/>
                <a:cs typeface="Tahoma"/>
              </a:rPr>
              <a:t>(Interval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scheduling</a:t>
            </a:r>
            <a:r>
              <a:rPr sz="1100" spc="120" dirty="0">
                <a:solidFill>
                  <a:srgbClr val="FFFFFF"/>
                </a:solidFill>
                <a:latin typeface="+mj-lt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problem)</a:t>
            </a:r>
            <a:endParaRPr sz="1100" dirty="0">
              <a:latin typeface="+mj-lt"/>
              <a:cs typeface="Tahoma"/>
            </a:endParaRPr>
          </a:p>
          <a:p>
            <a:pPr marL="397510" marR="547370">
              <a:lnSpc>
                <a:spcPct val="102600"/>
              </a:lnSpc>
              <a:spcBef>
                <a:spcPts val="385"/>
              </a:spcBef>
            </a:pPr>
            <a:r>
              <a:rPr sz="1100" spc="-45" dirty="0">
                <a:latin typeface="+mj-lt"/>
                <a:cs typeface="Tahoma"/>
              </a:rPr>
              <a:t>Given </a:t>
            </a:r>
            <a:r>
              <a:rPr sz="1100" spc="-55" dirty="0">
                <a:latin typeface="+mj-lt"/>
                <a:cs typeface="Tahoma"/>
              </a:rPr>
              <a:t>a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spc="-55" dirty="0">
                <a:latin typeface="+mj-lt"/>
                <a:cs typeface="Tahoma"/>
              </a:rPr>
              <a:t>schedules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45" dirty="0">
                <a:latin typeface="+mj-lt"/>
                <a:cs typeface="Tahoma"/>
              </a:rPr>
              <a:t>= </a:t>
            </a:r>
            <a:r>
              <a:rPr sz="1100" spc="65" dirty="0">
                <a:latin typeface="+mj-lt"/>
                <a:cs typeface="Lucida Sans Unicode"/>
              </a:rPr>
              <a:t>{</a:t>
            </a:r>
            <a:r>
              <a:rPr sz="1100" i="1" spc="65" dirty="0">
                <a:latin typeface="+mj-lt"/>
                <a:cs typeface="Trebuchet MS"/>
              </a:rPr>
              <a:t>I</a:t>
            </a:r>
            <a:r>
              <a:rPr sz="1200" i="1" spc="97" baseline="-10416" dirty="0">
                <a:latin typeface="+mj-lt"/>
                <a:cs typeface="Arial"/>
              </a:rPr>
              <a:t>i </a:t>
            </a:r>
            <a:r>
              <a:rPr sz="1100" spc="75" dirty="0">
                <a:latin typeface="+mj-lt"/>
                <a:cs typeface="Lucida Sans Unicode"/>
              </a:rPr>
              <a:t>}</a:t>
            </a:r>
            <a:r>
              <a:rPr sz="1100" spc="75" dirty="0">
                <a:latin typeface="+mj-lt"/>
                <a:cs typeface="Tahoma"/>
              </a:rPr>
              <a:t>, </a:t>
            </a:r>
            <a:r>
              <a:rPr sz="1100" spc="-30" dirty="0">
                <a:latin typeface="+mj-lt"/>
                <a:cs typeface="Tahoma"/>
              </a:rPr>
              <a:t>find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50" dirty="0">
                <a:solidFill>
                  <a:srgbClr val="0000FF"/>
                </a:solidFill>
                <a:latin typeface="+mj-lt"/>
                <a:cs typeface="Tahoma"/>
              </a:rPr>
              <a:t>largest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30" dirty="0">
                <a:latin typeface="+mj-lt"/>
                <a:cs typeface="Lucida Sans Unicode"/>
              </a:rPr>
              <a:t>⊆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-50" dirty="0">
                <a:latin typeface="+mj-lt"/>
                <a:cs typeface="Tahoma"/>
              </a:rPr>
              <a:t>such  </a:t>
            </a:r>
            <a:r>
              <a:rPr sz="1100" spc="-15" dirty="0">
                <a:latin typeface="+mj-lt"/>
                <a:cs typeface="Tahoma"/>
              </a:rPr>
              <a:t>that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60" dirty="0">
                <a:latin typeface="+mj-lt"/>
                <a:cs typeface="Tahoma"/>
              </a:rPr>
              <a:t>members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75" dirty="0">
                <a:latin typeface="+mj-lt"/>
                <a:cs typeface="Tahoma"/>
              </a:rPr>
              <a:t>are</a:t>
            </a:r>
            <a:r>
              <a:rPr sz="1100" spc="-65" dirty="0">
                <a:latin typeface="+mj-lt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+mj-lt"/>
                <a:cs typeface="Tahoma"/>
              </a:rPr>
              <a:t>non-conflicting</a:t>
            </a:r>
            <a:r>
              <a:rPr sz="1100" spc="-30" dirty="0">
                <a:latin typeface="+mj-lt"/>
                <a:cs typeface="Tahoma"/>
              </a:rPr>
              <a:t>.</a:t>
            </a:r>
            <a:endParaRPr sz="1100" dirty="0">
              <a:latin typeface="+mj-lt"/>
              <a:cs typeface="Tahoma"/>
            </a:endParaRPr>
          </a:p>
          <a:p>
            <a:pPr>
              <a:lnSpc>
                <a:spcPct val="100000"/>
              </a:lnSpc>
            </a:pPr>
            <a:endParaRPr sz="130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40" dirty="0">
                <a:solidFill>
                  <a:srgbClr val="FFFFFF"/>
                </a:solidFill>
                <a:latin typeface="+mj-lt"/>
                <a:cs typeface="Tahoma"/>
              </a:rPr>
              <a:t>Example</a:t>
            </a:r>
            <a:endParaRPr sz="1100" dirty="0">
              <a:latin typeface="+mj-lt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474736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620327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607627"/>
            <a:ext cx="3938802" cy="114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345069"/>
            <a:ext cx="50751" cy="127525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519005"/>
            <a:ext cx="3989704" cy="1152525"/>
          </a:xfrm>
          <a:custGeom>
            <a:avLst/>
            <a:gdLst/>
            <a:ahLst/>
            <a:cxnLst/>
            <a:rect l="l" t="t" r="r" b="b"/>
            <a:pathLst>
              <a:path w="3989704" h="1152525">
                <a:moveTo>
                  <a:pt x="3989652" y="0"/>
                </a:moveTo>
                <a:lnTo>
                  <a:pt x="0" y="0"/>
                </a:lnTo>
                <a:lnTo>
                  <a:pt x="0" y="1101321"/>
                </a:lnTo>
                <a:lnTo>
                  <a:pt x="4008" y="1121046"/>
                </a:lnTo>
                <a:lnTo>
                  <a:pt x="14922" y="1137199"/>
                </a:lnTo>
                <a:lnTo>
                  <a:pt x="31075" y="1148113"/>
                </a:lnTo>
                <a:lnTo>
                  <a:pt x="50800" y="1152122"/>
                </a:lnTo>
                <a:lnTo>
                  <a:pt x="3938852" y="1152122"/>
                </a:lnTo>
                <a:lnTo>
                  <a:pt x="3958576" y="1148113"/>
                </a:lnTo>
                <a:lnTo>
                  <a:pt x="3974729" y="1137199"/>
                </a:lnTo>
                <a:lnTo>
                  <a:pt x="3985644" y="1121046"/>
                </a:lnTo>
                <a:lnTo>
                  <a:pt x="3989652" y="1101321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383152"/>
            <a:ext cx="0" cy="1256665"/>
          </a:xfrm>
          <a:custGeom>
            <a:avLst/>
            <a:gdLst/>
            <a:ahLst/>
            <a:cxnLst/>
            <a:rect l="l" t="t" r="r" b="b"/>
            <a:pathLst>
              <a:path h="1256664">
                <a:moveTo>
                  <a:pt x="0" y="12562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37045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35775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34505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9086" y="1544327"/>
            <a:ext cx="2915983" cy="8756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823057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6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9994" y="317536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9194" y="2988995"/>
            <a:ext cx="3989651" cy="506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0794" y="3162668"/>
            <a:ext cx="3938802" cy="114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867291"/>
            <a:ext cx="50751" cy="30807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9193" y="3033283"/>
            <a:ext cx="3989704" cy="193040"/>
          </a:xfrm>
          <a:custGeom>
            <a:avLst/>
            <a:gdLst/>
            <a:ahLst/>
            <a:cxnLst/>
            <a:rect l="l" t="t" r="r" b="b"/>
            <a:pathLst>
              <a:path w="3989704" h="193039">
                <a:moveTo>
                  <a:pt x="3989652" y="0"/>
                </a:moveTo>
                <a:lnTo>
                  <a:pt x="0" y="0"/>
                </a:lnTo>
                <a:lnTo>
                  <a:pt x="0" y="142085"/>
                </a:lnTo>
                <a:lnTo>
                  <a:pt x="4008" y="161809"/>
                </a:lnTo>
                <a:lnTo>
                  <a:pt x="14922" y="177962"/>
                </a:lnTo>
                <a:lnTo>
                  <a:pt x="31075" y="188876"/>
                </a:lnTo>
                <a:lnTo>
                  <a:pt x="50800" y="192885"/>
                </a:lnTo>
                <a:lnTo>
                  <a:pt x="3938852" y="192885"/>
                </a:lnTo>
                <a:lnTo>
                  <a:pt x="3958576" y="188876"/>
                </a:lnTo>
                <a:lnTo>
                  <a:pt x="3974729" y="177962"/>
                </a:lnTo>
                <a:lnTo>
                  <a:pt x="3985644" y="161809"/>
                </a:lnTo>
                <a:lnTo>
                  <a:pt x="3989652" y="142085"/>
                </a:lnTo>
                <a:lnTo>
                  <a:pt x="3989652" y="0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98846" y="2905390"/>
            <a:ext cx="0" cy="289560"/>
          </a:xfrm>
          <a:custGeom>
            <a:avLst/>
            <a:gdLst/>
            <a:ahLst/>
            <a:cxnLst/>
            <a:rect l="l" t="t" r="r" b="b"/>
            <a:pathLst>
              <a:path h="289560">
                <a:moveTo>
                  <a:pt x="0" y="28902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98846" y="289269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98846" y="287999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98846" y="286729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47294" y="2440824"/>
            <a:ext cx="1958975" cy="75501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89660" algn="l"/>
              </a:tabLst>
            </a:pP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3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10" dirty="0">
                <a:latin typeface="Tahoma"/>
                <a:cs typeface="Tahoma"/>
              </a:rPr>
              <a:t>8</a:t>
            </a:r>
            <a:r>
              <a:rPr sz="1100" spc="10" dirty="0">
                <a:latin typeface="Lucida Sans Unicode"/>
                <a:cs typeface="Lucida Sans Unicode"/>
              </a:rPr>
              <a:t>}</a:t>
            </a:r>
            <a:r>
              <a:rPr sz="1100" i="1" spc="10" dirty="0">
                <a:latin typeface="Verdana"/>
                <a:cs typeface="Verdana"/>
              </a:rPr>
              <a:t>,	</a:t>
            </a:r>
            <a:r>
              <a:rPr sz="1100" spc="-60" dirty="0">
                <a:latin typeface="Lucida Sans Unicode"/>
                <a:cs typeface="Lucida Sans Unicode"/>
              </a:rPr>
              <a:t>|</a:t>
            </a:r>
            <a:r>
              <a:rPr sz="1100" i="1" spc="-60" dirty="0">
                <a:latin typeface="Trebuchet MS"/>
                <a:cs typeface="Trebuchet MS"/>
              </a:rPr>
              <a:t>A</a:t>
            </a:r>
            <a:r>
              <a:rPr sz="1100" spc="-60" dirty="0">
                <a:latin typeface="Lucida Sans Unicode"/>
                <a:cs typeface="Lucida Sans Unicode"/>
              </a:rPr>
              <a:t>|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4.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1100" spc="-95" dirty="0">
                <a:latin typeface="Tahoma"/>
                <a:cs typeface="Tahoma"/>
              </a:rPr>
              <a:t>Is </a:t>
            </a:r>
            <a:r>
              <a:rPr sz="1100" spc="-25" dirty="0">
                <a:latin typeface="Tahoma"/>
                <a:cs typeface="Tahoma"/>
              </a:rPr>
              <a:t>this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only </a:t>
            </a:r>
            <a:r>
              <a:rPr sz="1100" spc="-15" dirty="0">
                <a:latin typeface="Tahoma"/>
                <a:cs typeface="Tahoma"/>
              </a:rPr>
              <a:t>“correct”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answer?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4292690" y="3318070"/>
            <a:ext cx="22034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540397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09396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194" y="727824"/>
            <a:ext cx="398965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08126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84631"/>
            <a:ext cx="50751" cy="5093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72106"/>
            <a:ext cx="3989704" cy="372745"/>
          </a:xfrm>
          <a:custGeom>
            <a:avLst/>
            <a:gdLst/>
            <a:ahLst/>
            <a:cxnLst/>
            <a:rect l="l" t="t" r="r" b="b"/>
            <a:pathLst>
              <a:path w="3989704" h="372744">
                <a:moveTo>
                  <a:pt x="3989652" y="0"/>
                </a:moveTo>
                <a:lnTo>
                  <a:pt x="0" y="0"/>
                </a:lnTo>
                <a:lnTo>
                  <a:pt x="0" y="321858"/>
                </a:lnTo>
                <a:lnTo>
                  <a:pt x="4008" y="341583"/>
                </a:lnTo>
                <a:lnTo>
                  <a:pt x="14922" y="357736"/>
                </a:lnTo>
                <a:lnTo>
                  <a:pt x="31075" y="368650"/>
                </a:lnTo>
                <a:lnTo>
                  <a:pt x="50800" y="372658"/>
                </a:lnTo>
                <a:lnTo>
                  <a:pt x="3938852" y="372658"/>
                </a:lnTo>
                <a:lnTo>
                  <a:pt x="3958576" y="368650"/>
                </a:lnTo>
                <a:lnTo>
                  <a:pt x="3974729" y="357736"/>
                </a:lnTo>
                <a:lnTo>
                  <a:pt x="3985644" y="341583"/>
                </a:lnTo>
                <a:lnTo>
                  <a:pt x="3989652" y="321858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22730"/>
            <a:ext cx="0" cy="490855"/>
          </a:xfrm>
          <a:custGeom>
            <a:avLst/>
            <a:gdLst/>
            <a:ahLst/>
            <a:cxnLst/>
            <a:rect l="l" t="t" r="r" b="b"/>
            <a:pathLst>
              <a:path h="490855">
                <a:moveTo>
                  <a:pt x="0" y="49028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1003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9733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8463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9291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-38100" y="121015"/>
            <a:ext cx="4684395" cy="134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+mj-lt"/>
                <a:cs typeface="Calibri"/>
              </a:rPr>
              <a:t>Designing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 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greedy</a:t>
            </a:r>
            <a:r>
              <a:rPr sz="1400" spc="114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algorithm</a:t>
            </a:r>
            <a:endParaRPr sz="1400" dirty="0">
              <a:latin typeface="+mj-lt"/>
              <a:cs typeface="Calibri"/>
            </a:endParaRPr>
          </a:p>
          <a:p>
            <a:pPr marL="397510">
              <a:lnSpc>
                <a:spcPct val="100000"/>
              </a:lnSpc>
              <a:spcBef>
                <a:spcPts val="1490"/>
              </a:spcBef>
            </a:pPr>
            <a:r>
              <a:rPr sz="1100" spc="-20" dirty="0">
                <a:solidFill>
                  <a:srgbClr val="FFFFFF"/>
                </a:solidFill>
                <a:latin typeface="+mj-lt"/>
                <a:cs typeface="Tahoma"/>
              </a:rPr>
              <a:t>Definition </a:t>
            </a:r>
            <a:r>
              <a:rPr sz="1100" spc="-45" dirty="0">
                <a:solidFill>
                  <a:srgbClr val="FFFFFF"/>
                </a:solidFill>
                <a:latin typeface="+mj-lt"/>
                <a:cs typeface="Tahoma"/>
              </a:rPr>
              <a:t>(Interval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scheduling</a:t>
            </a:r>
            <a:r>
              <a:rPr sz="1100" spc="120" dirty="0">
                <a:solidFill>
                  <a:srgbClr val="FFFFFF"/>
                </a:solidFill>
                <a:latin typeface="+mj-lt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problem)</a:t>
            </a:r>
            <a:endParaRPr sz="1100" dirty="0">
              <a:latin typeface="+mj-lt"/>
              <a:cs typeface="Tahoma"/>
            </a:endParaRPr>
          </a:p>
          <a:p>
            <a:pPr marL="397510" marR="547370">
              <a:lnSpc>
                <a:spcPct val="102699"/>
              </a:lnSpc>
              <a:spcBef>
                <a:spcPts val="380"/>
              </a:spcBef>
            </a:pPr>
            <a:r>
              <a:rPr sz="1100" spc="-45" dirty="0">
                <a:latin typeface="+mj-lt"/>
                <a:cs typeface="Tahoma"/>
              </a:rPr>
              <a:t>Given </a:t>
            </a:r>
            <a:r>
              <a:rPr sz="1100" spc="-55" dirty="0">
                <a:latin typeface="+mj-lt"/>
                <a:cs typeface="Tahoma"/>
              </a:rPr>
              <a:t>a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spc="-55" dirty="0">
                <a:latin typeface="+mj-lt"/>
                <a:cs typeface="Tahoma"/>
              </a:rPr>
              <a:t>schedules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45" dirty="0">
                <a:latin typeface="+mj-lt"/>
                <a:cs typeface="Tahoma"/>
              </a:rPr>
              <a:t>= </a:t>
            </a:r>
            <a:r>
              <a:rPr sz="1100" spc="65" dirty="0">
                <a:latin typeface="+mj-lt"/>
                <a:cs typeface="Lucida Sans Unicode"/>
              </a:rPr>
              <a:t>{</a:t>
            </a:r>
            <a:r>
              <a:rPr sz="1100" i="1" spc="65" dirty="0">
                <a:latin typeface="+mj-lt"/>
                <a:cs typeface="Trebuchet MS"/>
              </a:rPr>
              <a:t>I</a:t>
            </a:r>
            <a:r>
              <a:rPr sz="1200" i="1" spc="97" baseline="-10416" dirty="0">
                <a:latin typeface="+mj-lt"/>
                <a:cs typeface="Arial"/>
              </a:rPr>
              <a:t>i </a:t>
            </a:r>
            <a:r>
              <a:rPr sz="1100" spc="75" dirty="0">
                <a:latin typeface="+mj-lt"/>
                <a:cs typeface="Lucida Sans Unicode"/>
              </a:rPr>
              <a:t>}</a:t>
            </a:r>
            <a:r>
              <a:rPr sz="1100" spc="75" dirty="0">
                <a:latin typeface="+mj-lt"/>
                <a:cs typeface="Tahoma"/>
              </a:rPr>
              <a:t>, </a:t>
            </a:r>
            <a:r>
              <a:rPr sz="1100" spc="-30" dirty="0">
                <a:latin typeface="+mj-lt"/>
                <a:cs typeface="Tahoma"/>
              </a:rPr>
              <a:t>find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50" dirty="0">
                <a:solidFill>
                  <a:srgbClr val="0000FF"/>
                </a:solidFill>
                <a:latin typeface="+mj-lt"/>
                <a:cs typeface="Tahoma"/>
              </a:rPr>
              <a:t>largest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30" dirty="0">
                <a:latin typeface="+mj-lt"/>
                <a:cs typeface="Lucida Sans Unicode"/>
              </a:rPr>
              <a:t>⊆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-50" dirty="0">
                <a:latin typeface="+mj-lt"/>
                <a:cs typeface="Tahoma"/>
              </a:rPr>
              <a:t>such  </a:t>
            </a:r>
            <a:r>
              <a:rPr sz="1100" spc="-15" dirty="0">
                <a:latin typeface="+mj-lt"/>
                <a:cs typeface="Tahoma"/>
              </a:rPr>
              <a:t>that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60" dirty="0">
                <a:latin typeface="+mj-lt"/>
                <a:cs typeface="Tahoma"/>
              </a:rPr>
              <a:t>members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75" dirty="0">
                <a:latin typeface="+mj-lt"/>
                <a:cs typeface="Tahoma"/>
              </a:rPr>
              <a:t>are</a:t>
            </a:r>
            <a:r>
              <a:rPr sz="1100" spc="-65" dirty="0">
                <a:latin typeface="+mj-lt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+mj-lt"/>
                <a:cs typeface="Tahoma"/>
              </a:rPr>
              <a:t>non-conflicting</a:t>
            </a:r>
            <a:r>
              <a:rPr sz="1100" spc="-30" dirty="0">
                <a:latin typeface="+mj-lt"/>
                <a:cs typeface="Tahoma"/>
              </a:rPr>
              <a:t>.</a:t>
            </a:r>
            <a:endParaRPr sz="1100" dirty="0">
              <a:latin typeface="+mj-lt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40" dirty="0">
                <a:solidFill>
                  <a:srgbClr val="FFFFFF"/>
                </a:solidFill>
                <a:latin typeface="+mj-lt"/>
                <a:cs typeface="Tahoma"/>
              </a:rPr>
              <a:t>Example</a:t>
            </a:r>
            <a:endParaRPr sz="1100" dirty="0">
              <a:latin typeface="+mj-lt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466824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61241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99715"/>
            <a:ext cx="3938802" cy="114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337145"/>
            <a:ext cx="50751" cy="12752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511093"/>
            <a:ext cx="3989704" cy="1152525"/>
          </a:xfrm>
          <a:custGeom>
            <a:avLst/>
            <a:gdLst/>
            <a:ahLst/>
            <a:cxnLst/>
            <a:rect l="l" t="t" r="r" b="b"/>
            <a:pathLst>
              <a:path w="3989704" h="1152525">
                <a:moveTo>
                  <a:pt x="3989652" y="0"/>
                </a:moveTo>
                <a:lnTo>
                  <a:pt x="0" y="0"/>
                </a:lnTo>
                <a:lnTo>
                  <a:pt x="0" y="1101321"/>
                </a:lnTo>
                <a:lnTo>
                  <a:pt x="4008" y="1121046"/>
                </a:lnTo>
                <a:lnTo>
                  <a:pt x="14922" y="1137199"/>
                </a:lnTo>
                <a:lnTo>
                  <a:pt x="31075" y="1148113"/>
                </a:lnTo>
                <a:lnTo>
                  <a:pt x="50800" y="1152122"/>
                </a:lnTo>
                <a:lnTo>
                  <a:pt x="3938852" y="1152122"/>
                </a:lnTo>
                <a:lnTo>
                  <a:pt x="3958576" y="1148113"/>
                </a:lnTo>
                <a:lnTo>
                  <a:pt x="3974729" y="1137199"/>
                </a:lnTo>
                <a:lnTo>
                  <a:pt x="3985644" y="1121046"/>
                </a:lnTo>
                <a:lnTo>
                  <a:pt x="3989652" y="1101321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375240"/>
            <a:ext cx="0" cy="1256665"/>
          </a:xfrm>
          <a:custGeom>
            <a:avLst/>
            <a:gdLst/>
            <a:ahLst/>
            <a:cxnLst/>
            <a:rect l="l" t="t" r="r" b="b"/>
            <a:pathLst>
              <a:path h="1256664">
                <a:moveTo>
                  <a:pt x="0" y="12562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36254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34984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33714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9086" y="1536402"/>
            <a:ext cx="2915983" cy="8756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811360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6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9994" y="3179064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9194" y="2977299"/>
            <a:ext cx="3989651" cy="506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0794" y="3166363"/>
            <a:ext cx="3938802" cy="11430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855595"/>
            <a:ext cx="50751" cy="32346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9193" y="3021585"/>
            <a:ext cx="3989704" cy="208279"/>
          </a:xfrm>
          <a:custGeom>
            <a:avLst/>
            <a:gdLst/>
            <a:ahLst/>
            <a:cxnLst/>
            <a:rect l="l" t="t" r="r" b="b"/>
            <a:pathLst>
              <a:path w="3989704" h="208280">
                <a:moveTo>
                  <a:pt x="3989652" y="0"/>
                </a:moveTo>
                <a:lnTo>
                  <a:pt x="0" y="0"/>
                </a:lnTo>
                <a:lnTo>
                  <a:pt x="0" y="157478"/>
                </a:lnTo>
                <a:lnTo>
                  <a:pt x="4008" y="177203"/>
                </a:lnTo>
                <a:lnTo>
                  <a:pt x="14922" y="193356"/>
                </a:lnTo>
                <a:lnTo>
                  <a:pt x="31075" y="204270"/>
                </a:lnTo>
                <a:lnTo>
                  <a:pt x="50800" y="208279"/>
                </a:lnTo>
                <a:lnTo>
                  <a:pt x="3938852" y="208279"/>
                </a:lnTo>
                <a:lnTo>
                  <a:pt x="3958576" y="204270"/>
                </a:lnTo>
                <a:lnTo>
                  <a:pt x="3974729" y="193356"/>
                </a:lnTo>
                <a:lnTo>
                  <a:pt x="3985644" y="177203"/>
                </a:lnTo>
                <a:lnTo>
                  <a:pt x="3989652" y="157478"/>
                </a:lnTo>
                <a:lnTo>
                  <a:pt x="3989652" y="0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98846" y="2893692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42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98846" y="288099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98846" y="286829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98846" y="285559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 txBox="1"/>
          <p:nvPr/>
        </p:nvSpPr>
        <p:spPr>
          <a:xfrm>
            <a:off x="347294" y="2411563"/>
            <a:ext cx="941705" cy="58991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5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25" dirty="0">
                <a:latin typeface="Verdana"/>
                <a:cs typeface="Verdana"/>
              </a:rPr>
              <a:t> </a:t>
            </a:r>
            <a:r>
              <a:rPr sz="1100" spc="10" dirty="0">
                <a:latin typeface="Tahoma"/>
                <a:cs typeface="Tahoma"/>
              </a:rPr>
              <a:t>8</a:t>
            </a:r>
            <a:r>
              <a:rPr sz="1100" spc="10" dirty="0">
                <a:latin typeface="Lucida Sans Unicode"/>
                <a:cs typeface="Lucida Sans Unicode"/>
              </a:rPr>
              <a:t>}</a:t>
            </a:r>
            <a:r>
              <a:rPr sz="1100" i="1" spc="10" dirty="0">
                <a:latin typeface="Verdana"/>
                <a:cs typeface="Verdana"/>
              </a:rPr>
              <a:t>,</a:t>
            </a:r>
            <a:endParaRPr sz="11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1530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424876" y="2411563"/>
            <a:ext cx="487680" cy="318770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100" spc="-60" dirty="0">
                <a:latin typeface="Lucida Sans Unicode"/>
                <a:cs typeface="Lucida Sans Unicode"/>
              </a:rPr>
              <a:t>|</a:t>
            </a:r>
            <a:r>
              <a:rPr sz="1100" i="1" spc="-60" dirty="0">
                <a:latin typeface="Trebuchet MS"/>
                <a:cs typeface="Trebuchet MS"/>
              </a:rPr>
              <a:t>A</a:t>
            </a:r>
            <a:r>
              <a:rPr sz="1100" spc="-60" dirty="0">
                <a:latin typeface="Lucida Sans Unicode"/>
                <a:cs typeface="Lucida Sans Unicode"/>
              </a:rPr>
              <a:t>|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4.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347294" y="2978224"/>
            <a:ext cx="1658620" cy="474345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100" spc="-45" dirty="0">
                <a:latin typeface="Tahoma"/>
                <a:cs typeface="Tahoma"/>
              </a:rPr>
              <a:t>How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about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2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4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7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40" dirty="0">
                <a:latin typeface="Tahoma"/>
                <a:cs typeface="Tahom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Tahoma"/>
                <a:cs typeface="Tahoma"/>
              </a:rPr>
              <a:t>?</a:t>
            </a:r>
            <a:endParaRPr sz="1100" dirty="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1275"/>
              </a:spcBef>
            </a:pPr>
            <a:r>
              <a:rPr sz="600" b="1" spc="-40" dirty="0">
                <a:solidFill>
                  <a:srgbClr val="FFFFFF"/>
                </a:solidFill>
                <a:latin typeface="Arial"/>
                <a:cs typeface="Arial"/>
              </a:rPr>
              <a:t>Licensed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under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292690" y="3318070"/>
            <a:ext cx="22034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540397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09396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194" y="727824"/>
            <a:ext cx="398965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08126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84631"/>
            <a:ext cx="50751" cy="50933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72106"/>
            <a:ext cx="3989704" cy="372745"/>
          </a:xfrm>
          <a:custGeom>
            <a:avLst/>
            <a:gdLst/>
            <a:ahLst/>
            <a:cxnLst/>
            <a:rect l="l" t="t" r="r" b="b"/>
            <a:pathLst>
              <a:path w="3989704" h="372744">
                <a:moveTo>
                  <a:pt x="3989652" y="0"/>
                </a:moveTo>
                <a:lnTo>
                  <a:pt x="0" y="0"/>
                </a:lnTo>
                <a:lnTo>
                  <a:pt x="0" y="321858"/>
                </a:lnTo>
                <a:lnTo>
                  <a:pt x="4008" y="341583"/>
                </a:lnTo>
                <a:lnTo>
                  <a:pt x="14922" y="357736"/>
                </a:lnTo>
                <a:lnTo>
                  <a:pt x="31075" y="368650"/>
                </a:lnTo>
                <a:lnTo>
                  <a:pt x="50800" y="372658"/>
                </a:lnTo>
                <a:lnTo>
                  <a:pt x="3938852" y="372658"/>
                </a:lnTo>
                <a:lnTo>
                  <a:pt x="3958576" y="368650"/>
                </a:lnTo>
                <a:lnTo>
                  <a:pt x="3974729" y="357736"/>
                </a:lnTo>
                <a:lnTo>
                  <a:pt x="3985644" y="341583"/>
                </a:lnTo>
                <a:lnTo>
                  <a:pt x="3989652" y="321858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22730"/>
            <a:ext cx="0" cy="490855"/>
          </a:xfrm>
          <a:custGeom>
            <a:avLst/>
            <a:gdLst/>
            <a:ahLst/>
            <a:cxnLst/>
            <a:rect l="l" t="t" r="r" b="b"/>
            <a:pathLst>
              <a:path h="490855">
                <a:moveTo>
                  <a:pt x="0" y="49028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1003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9733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8463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9291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-38100" y="121015"/>
            <a:ext cx="4684395" cy="13468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+mj-lt"/>
                <a:cs typeface="Calibri"/>
              </a:rPr>
              <a:t>Designing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 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greedy</a:t>
            </a:r>
            <a:r>
              <a:rPr sz="1400" spc="114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algorithm</a:t>
            </a:r>
            <a:endParaRPr sz="1400" dirty="0">
              <a:latin typeface="+mj-lt"/>
              <a:cs typeface="Calibri"/>
            </a:endParaRPr>
          </a:p>
          <a:p>
            <a:pPr marL="397510">
              <a:lnSpc>
                <a:spcPct val="100000"/>
              </a:lnSpc>
              <a:spcBef>
                <a:spcPts val="1490"/>
              </a:spcBef>
            </a:pPr>
            <a:r>
              <a:rPr sz="1100" spc="-20" dirty="0">
                <a:solidFill>
                  <a:srgbClr val="FFFFFF"/>
                </a:solidFill>
                <a:latin typeface="+mj-lt"/>
                <a:cs typeface="Tahoma"/>
              </a:rPr>
              <a:t>Definition </a:t>
            </a:r>
            <a:r>
              <a:rPr sz="1100" spc="-45" dirty="0">
                <a:solidFill>
                  <a:srgbClr val="FFFFFF"/>
                </a:solidFill>
                <a:latin typeface="+mj-lt"/>
                <a:cs typeface="Tahoma"/>
              </a:rPr>
              <a:t>(Interval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scheduling</a:t>
            </a:r>
            <a:r>
              <a:rPr sz="1100" spc="120" dirty="0">
                <a:solidFill>
                  <a:srgbClr val="FFFFFF"/>
                </a:solidFill>
                <a:latin typeface="+mj-lt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problem)</a:t>
            </a:r>
            <a:endParaRPr sz="1100" dirty="0">
              <a:latin typeface="+mj-lt"/>
              <a:cs typeface="Tahoma"/>
            </a:endParaRPr>
          </a:p>
          <a:p>
            <a:pPr marL="397510" marR="547370">
              <a:lnSpc>
                <a:spcPct val="102699"/>
              </a:lnSpc>
              <a:spcBef>
                <a:spcPts val="380"/>
              </a:spcBef>
            </a:pPr>
            <a:r>
              <a:rPr sz="1100" spc="-45" dirty="0">
                <a:latin typeface="+mj-lt"/>
                <a:cs typeface="Tahoma"/>
              </a:rPr>
              <a:t>Given </a:t>
            </a:r>
            <a:r>
              <a:rPr sz="1100" spc="-55" dirty="0">
                <a:latin typeface="+mj-lt"/>
                <a:cs typeface="Tahoma"/>
              </a:rPr>
              <a:t>a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spc="-55" dirty="0">
                <a:latin typeface="+mj-lt"/>
                <a:cs typeface="Tahoma"/>
              </a:rPr>
              <a:t>schedules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45" dirty="0">
                <a:latin typeface="+mj-lt"/>
                <a:cs typeface="Tahoma"/>
              </a:rPr>
              <a:t>= </a:t>
            </a:r>
            <a:r>
              <a:rPr sz="1100" spc="65" dirty="0">
                <a:latin typeface="+mj-lt"/>
                <a:cs typeface="Lucida Sans Unicode"/>
              </a:rPr>
              <a:t>{</a:t>
            </a:r>
            <a:r>
              <a:rPr sz="1100" i="1" spc="65" dirty="0">
                <a:latin typeface="+mj-lt"/>
                <a:cs typeface="Trebuchet MS"/>
              </a:rPr>
              <a:t>I</a:t>
            </a:r>
            <a:r>
              <a:rPr sz="1200" i="1" spc="97" baseline="-10416" dirty="0">
                <a:latin typeface="+mj-lt"/>
                <a:cs typeface="Arial"/>
              </a:rPr>
              <a:t>i </a:t>
            </a:r>
            <a:r>
              <a:rPr sz="1100" spc="75" dirty="0">
                <a:latin typeface="+mj-lt"/>
                <a:cs typeface="Lucida Sans Unicode"/>
              </a:rPr>
              <a:t>}</a:t>
            </a:r>
            <a:r>
              <a:rPr sz="1100" spc="75" dirty="0">
                <a:latin typeface="+mj-lt"/>
                <a:cs typeface="Tahoma"/>
              </a:rPr>
              <a:t>, </a:t>
            </a:r>
            <a:r>
              <a:rPr sz="1100" spc="-30" dirty="0">
                <a:latin typeface="+mj-lt"/>
                <a:cs typeface="Tahoma"/>
              </a:rPr>
              <a:t>find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50" dirty="0">
                <a:solidFill>
                  <a:srgbClr val="0000FF"/>
                </a:solidFill>
                <a:latin typeface="+mj-lt"/>
                <a:cs typeface="Tahoma"/>
              </a:rPr>
              <a:t>largest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30" dirty="0">
                <a:latin typeface="+mj-lt"/>
                <a:cs typeface="Lucida Sans Unicode"/>
              </a:rPr>
              <a:t>⊆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-50" dirty="0">
                <a:latin typeface="+mj-lt"/>
                <a:cs typeface="Tahoma"/>
              </a:rPr>
              <a:t>such  </a:t>
            </a:r>
            <a:r>
              <a:rPr sz="1100" spc="-15" dirty="0">
                <a:latin typeface="+mj-lt"/>
                <a:cs typeface="Tahoma"/>
              </a:rPr>
              <a:t>that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60" dirty="0">
                <a:latin typeface="+mj-lt"/>
                <a:cs typeface="Tahoma"/>
              </a:rPr>
              <a:t>members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75" dirty="0">
                <a:latin typeface="+mj-lt"/>
                <a:cs typeface="Tahoma"/>
              </a:rPr>
              <a:t>are</a:t>
            </a:r>
            <a:r>
              <a:rPr sz="1100" spc="-65" dirty="0">
                <a:latin typeface="+mj-lt"/>
                <a:cs typeface="Tahoma"/>
              </a:rPr>
              <a:t> </a:t>
            </a:r>
            <a:r>
              <a:rPr sz="1100" spc="-30" dirty="0">
                <a:solidFill>
                  <a:srgbClr val="0000FF"/>
                </a:solidFill>
                <a:latin typeface="+mj-lt"/>
                <a:cs typeface="Tahoma"/>
              </a:rPr>
              <a:t>non-conflicting</a:t>
            </a:r>
            <a:r>
              <a:rPr sz="1100" spc="-30" dirty="0">
                <a:latin typeface="+mj-lt"/>
                <a:cs typeface="Tahoma"/>
              </a:rPr>
              <a:t>.</a:t>
            </a:r>
            <a:endParaRPr sz="1100" dirty="0">
              <a:latin typeface="+mj-lt"/>
              <a:cs typeface="Tahoma"/>
            </a:endParaRPr>
          </a:p>
          <a:p>
            <a:pPr>
              <a:lnSpc>
                <a:spcPct val="100000"/>
              </a:lnSpc>
              <a:spcBef>
                <a:spcPts val="30"/>
              </a:spcBef>
            </a:pPr>
            <a:endParaRPr sz="1250" dirty="0">
              <a:latin typeface="+mj-lt"/>
              <a:cs typeface="Times New Roman"/>
            </a:endParaRPr>
          </a:p>
          <a:p>
            <a:pPr marL="397510">
              <a:lnSpc>
                <a:spcPct val="100000"/>
              </a:lnSpc>
            </a:pPr>
            <a:r>
              <a:rPr sz="1100" spc="-40" dirty="0">
                <a:solidFill>
                  <a:srgbClr val="FFFFFF"/>
                </a:solidFill>
                <a:latin typeface="+mj-lt"/>
                <a:cs typeface="Tahoma"/>
              </a:rPr>
              <a:t>Example</a:t>
            </a:r>
            <a:endParaRPr sz="1100" dirty="0">
              <a:latin typeface="+mj-lt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466824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61241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9971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337145"/>
            <a:ext cx="50751" cy="127527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511093"/>
            <a:ext cx="3989704" cy="1152525"/>
          </a:xfrm>
          <a:custGeom>
            <a:avLst/>
            <a:gdLst/>
            <a:ahLst/>
            <a:cxnLst/>
            <a:rect l="l" t="t" r="r" b="b"/>
            <a:pathLst>
              <a:path w="3989704" h="1152525">
                <a:moveTo>
                  <a:pt x="3989652" y="0"/>
                </a:moveTo>
                <a:lnTo>
                  <a:pt x="0" y="0"/>
                </a:lnTo>
                <a:lnTo>
                  <a:pt x="0" y="1101321"/>
                </a:lnTo>
                <a:lnTo>
                  <a:pt x="4008" y="1121046"/>
                </a:lnTo>
                <a:lnTo>
                  <a:pt x="14922" y="1137199"/>
                </a:lnTo>
                <a:lnTo>
                  <a:pt x="31075" y="1148113"/>
                </a:lnTo>
                <a:lnTo>
                  <a:pt x="50800" y="1152122"/>
                </a:lnTo>
                <a:lnTo>
                  <a:pt x="3938852" y="1152122"/>
                </a:lnTo>
                <a:lnTo>
                  <a:pt x="3958576" y="1148113"/>
                </a:lnTo>
                <a:lnTo>
                  <a:pt x="3974729" y="1137199"/>
                </a:lnTo>
                <a:lnTo>
                  <a:pt x="3985644" y="1121046"/>
                </a:lnTo>
                <a:lnTo>
                  <a:pt x="3989652" y="1101321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375240"/>
            <a:ext cx="0" cy="1256665"/>
          </a:xfrm>
          <a:custGeom>
            <a:avLst/>
            <a:gdLst/>
            <a:ahLst/>
            <a:cxnLst/>
            <a:rect l="l" t="t" r="r" b="b"/>
            <a:pathLst>
              <a:path h="1256664">
                <a:moveTo>
                  <a:pt x="0" y="12562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36254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34984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337140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9086" y="1536402"/>
            <a:ext cx="2915983" cy="87567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811360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6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59994" y="3179064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09194" y="2977299"/>
            <a:ext cx="3989651" cy="50609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0794" y="316636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855595"/>
            <a:ext cx="50751" cy="32346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9193" y="3021585"/>
            <a:ext cx="3989704" cy="208279"/>
          </a:xfrm>
          <a:custGeom>
            <a:avLst/>
            <a:gdLst/>
            <a:ahLst/>
            <a:cxnLst/>
            <a:rect l="l" t="t" r="r" b="b"/>
            <a:pathLst>
              <a:path w="3989704" h="208280">
                <a:moveTo>
                  <a:pt x="3989652" y="0"/>
                </a:moveTo>
                <a:lnTo>
                  <a:pt x="0" y="0"/>
                </a:lnTo>
                <a:lnTo>
                  <a:pt x="0" y="157478"/>
                </a:lnTo>
                <a:lnTo>
                  <a:pt x="4008" y="177203"/>
                </a:lnTo>
                <a:lnTo>
                  <a:pt x="14922" y="193356"/>
                </a:lnTo>
                <a:lnTo>
                  <a:pt x="31075" y="204270"/>
                </a:lnTo>
                <a:lnTo>
                  <a:pt x="50800" y="208279"/>
                </a:lnTo>
                <a:lnTo>
                  <a:pt x="3938852" y="208279"/>
                </a:lnTo>
                <a:lnTo>
                  <a:pt x="3958576" y="204270"/>
                </a:lnTo>
                <a:lnTo>
                  <a:pt x="3974729" y="193356"/>
                </a:lnTo>
                <a:lnTo>
                  <a:pt x="3985644" y="177203"/>
                </a:lnTo>
                <a:lnTo>
                  <a:pt x="3989652" y="157478"/>
                </a:lnTo>
                <a:lnTo>
                  <a:pt x="3989652" y="0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98846" y="2893692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42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98846" y="288099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98846" y="286829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98846" y="285559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47294" y="2432899"/>
            <a:ext cx="2102485" cy="7588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89660" algn="l"/>
              </a:tabLst>
            </a:pP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3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10" dirty="0">
                <a:latin typeface="Tahoma"/>
                <a:cs typeface="Tahoma"/>
              </a:rPr>
              <a:t>8</a:t>
            </a:r>
            <a:r>
              <a:rPr sz="1100" spc="10" dirty="0">
                <a:latin typeface="Lucida Sans Unicode"/>
                <a:cs typeface="Lucida Sans Unicode"/>
              </a:rPr>
              <a:t>}</a:t>
            </a:r>
            <a:r>
              <a:rPr sz="1100" i="1" spc="10" dirty="0">
                <a:latin typeface="Verdana"/>
                <a:cs typeface="Verdana"/>
              </a:rPr>
              <a:t>,	</a:t>
            </a:r>
            <a:r>
              <a:rPr sz="1100" spc="-60" dirty="0">
                <a:latin typeface="Lucida Sans Unicode"/>
                <a:cs typeface="Lucida Sans Unicode"/>
              </a:rPr>
              <a:t>|</a:t>
            </a:r>
            <a:r>
              <a:rPr sz="1100" i="1" spc="-60" dirty="0">
                <a:latin typeface="Trebuchet MS"/>
                <a:cs typeface="Trebuchet MS"/>
              </a:rPr>
              <a:t>A</a:t>
            </a:r>
            <a:r>
              <a:rPr sz="1100" spc="-60" dirty="0">
                <a:latin typeface="Lucida Sans Unicode"/>
                <a:cs typeface="Lucida Sans Unicode"/>
              </a:rPr>
              <a:t>|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4.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25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How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about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2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4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7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40" dirty="0">
                <a:latin typeface="Tahoma"/>
                <a:cs typeface="Tahom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Tahoma"/>
                <a:cs typeface="Tahoma"/>
              </a:rPr>
              <a:t>?</a:t>
            </a:r>
            <a:r>
              <a:rPr sz="1100" spc="130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40" dirty="0">
                <a:latin typeface="Tahoma"/>
                <a:cs typeface="Tahoma"/>
              </a:rPr>
              <a:t>9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Tahoma"/>
                <a:cs typeface="Tahoma"/>
              </a:rPr>
              <a:t>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5" name="object 45"/>
          <p:cNvSpPr txBox="1"/>
          <p:nvPr/>
        </p:nvSpPr>
        <p:spPr>
          <a:xfrm>
            <a:off x="4292690" y="3318070"/>
            <a:ext cx="22034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538695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099947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09194" y="726122"/>
            <a:ext cx="3989651" cy="5060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087247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82930"/>
            <a:ext cx="50751" cy="5170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70391"/>
            <a:ext cx="3989704" cy="380365"/>
          </a:xfrm>
          <a:custGeom>
            <a:avLst/>
            <a:gdLst/>
            <a:ahLst/>
            <a:cxnLst/>
            <a:rect l="l" t="t" r="r" b="b"/>
            <a:pathLst>
              <a:path w="3989704" h="380365">
                <a:moveTo>
                  <a:pt x="3989652" y="0"/>
                </a:moveTo>
                <a:lnTo>
                  <a:pt x="0" y="0"/>
                </a:lnTo>
                <a:lnTo>
                  <a:pt x="0" y="329555"/>
                </a:lnTo>
                <a:lnTo>
                  <a:pt x="4008" y="349280"/>
                </a:lnTo>
                <a:lnTo>
                  <a:pt x="14922" y="365433"/>
                </a:lnTo>
                <a:lnTo>
                  <a:pt x="31075" y="376347"/>
                </a:lnTo>
                <a:lnTo>
                  <a:pt x="50800" y="380355"/>
                </a:lnTo>
                <a:lnTo>
                  <a:pt x="3938852" y="380355"/>
                </a:lnTo>
                <a:lnTo>
                  <a:pt x="3958576" y="376347"/>
                </a:lnTo>
                <a:lnTo>
                  <a:pt x="3974729" y="365433"/>
                </a:lnTo>
                <a:lnTo>
                  <a:pt x="3985644" y="349280"/>
                </a:lnTo>
                <a:lnTo>
                  <a:pt x="3989652" y="329555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21014"/>
            <a:ext cx="0" cy="498475"/>
          </a:xfrm>
          <a:custGeom>
            <a:avLst/>
            <a:gdLst/>
            <a:ahLst/>
            <a:cxnLst/>
            <a:rect l="l" t="t" r="r" b="b"/>
            <a:pathLst>
              <a:path h="498475">
                <a:moveTo>
                  <a:pt x="0" y="49798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0831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9561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8291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96339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-38100" y="121015"/>
            <a:ext cx="4857750" cy="135064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05104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+mj-lt"/>
                <a:cs typeface="Calibri"/>
              </a:rPr>
              <a:t>Designing </a:t>
            </a:r>
            <a:r>
              <a:rPr sz="1400" dirty="0">
                <a:solidFill>
                  <a:srgbClr val="FFFFFF"/>
                </a:solidFill>
                <a:latin typeface="+mj-lt"/>
                <a:cs typeface="Calibri"/>
              </a:rPr>
              <a:t>a </a:t>
            </a:r>
            <a:r>
              <a:rPr sz="1400" spc="-25" dirty="0">
                <a:solidFill>
                  <a:srgbClr val="FFFFFF"/>
                </a:solidFill>
                <a:latin typeface="+mj-lt"/>
                <a:cs typeface="Calibri"/>
              </a:rPr>
              <a:t>greedy</a:t>
            </a:r>
            <a:r>
              <a:rPr sz="1400" spc="114" dirty="0">
                <a:solidFill>
                  <a:srgbClr val="FFFFFF"/>
                </a:solidFill>
                <a:latin typeface="+mj-lt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+mj-lt"/>
                <a:cs typeface="Calibri"/>
              </a:rPr>
              <a:t>algorithm</a:t>
            </a:r>
            <a:endParaRPr sz="1400" dirty="0">
              <a:latin typeface="+mj-lt"/>
              <a:cs typeface="Calibri"/>
            </a:endParaRPr>
          </a:p>
          <a:p>
            <a:pPr marL="397510">
              <a:lnSpc>
                <a:spcPct val="100000"/>
              </a:lnSpc>
              <a:spcBef>
                <a:spcPts val="1475"/>
              </a:spcBef>
            </a:pPr>
            <a:r>
              <a:rPr sz="1100" spc="-20" dirty="0">
                <a:solidFill>
                  <a:srgbClr val="FFFFFF"/>
                </a:solidFill>
                <a:latin typeface="+mj-lt"/>
                <a:cs typeface="Tahoma"/>
              </a:rPr>
              <a:t>Definition </a:t>
            </a:r>
            <a:r>
              <a:rPr sz="1100" spc="-45" dirty="0">
                <a:solidFill>
                  <a:srgbClr val="FFFFFF"/>
                </a:solidFill>
                <a:latin typeface="+mj-lt"/>
                <a:cs typeface="Tahoma"/>
              </a:rPr>
              <a:t>(Interval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scheduling</a:t>
            </a:r>
            <a:r>
              <a:rPr sz="1100" spc="120" dirty="0">
                <a:solidFill>
                  <a:srgbClr val="FFFFFF"/>
                </a:solidFill>
                <a:latin typeface="+mj-lt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+mj-lt"/>
                <a:cs typeface="Tahoma"/>
              </a:rPr>
              <a:t>problem)</a:t>
            </a:r>
            <a:endParaRPr sz="1100" dirty="0">
              <a:latin typeface="+mj-lt"/>
              <a:cs typeface="Tahoma"/>
            </a:endParaRPr>
          </a:p>
          <a:p>
            <a:pPr marL="397510" marR="897255">
              <a:lnSpc>
                <a:spcPct val="102600"/>
              </a:lnSpc>
              <a:spcBef>
                <a:spcPts val="385"/>
              </a:spcBef>
            </a:pPr>
            <a:r>
              <a:rPr sz="1100" spc="-45" dirty="0">
                <a:latin typeface="+mj-lt"/>
                <a:cs typeface="Tahoma"/>
              </a:rPr>
              <a:t>Given </a:t>
            </a:r>
            <a:r>
              <a:rPr sz="1100" spc="-55" dirty="0">
                <a:latin typeface="+mj-lt"/>
                <a:cs typeface="Tahoma"/>
              </a:rPr>
              <a:t>a </a:t>
            </a:r>
            <a:r>
              <a:rPr sz="1100" spc="-50" dirty="0">
                <a:latin typeface="+mj-lt"/>
                <a:cs typeface="Tahoma"/>
              </a:rPr>
              <a:t>set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spc="-55" dirty="0">
                <a:latin typeface="+mj-lt"/>
                <a:cs typeface="Tahoma"/>
              </a:rPr>
              <a:t>schedules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45" dirty="0">
                <a:latin typeface="+mj-lt"/>
                <a:cs typeface="Tahoma"/>
              </a:rPr>
              <a:t>= </a:t>
            </a:r>
            <a:r>
              <a:rPr sz="1100" spc="65" dirty="0">
                <a:latin typeface="+mj-lt"/>
                <a:cs typeface="Lucida Sans Unicode"/>
              </a:rPr>
              <a:t>{</a:t>
            </a:r>
            <a:r>
              <a:rPr sz="1100" i="1" spc="65" dirty="0">
                <a:latin typeface="+mj-lt"/>
                <a:cs typeface="Trebuchet MS"/>
              </a:rPr>
              <a:t>I</a:t>
            </a:r>
            <a:r>
              <a:rPr sz="1200" i="1" spc="97" baseline="-10416" dirty="0">
                <a:latin typeface="+mj-lt"/>
                <a:cs typeface="Arial"/>
              </a:rPr>
              <a:t>i </a:t>
            </a:r>
            <a:r>
              <a:rPr sz="1100" spc="75" dirty="0">
                <a:latin typeface="+mj-lt"/>
                <a:cs typeface="Lucida Sans Unicode"/>
              </a:rPr>
              <a:t>}</a:t>
            </a:r>
            <a:r>
              <a:rPr sz="1100" spc="75" dirty="0">
                <a:latin typeface="+mj-lt"/>
                <a:cs typeface="Tahoma"/>
              </a:rPr>
              <a:t>, </a:t>
            </a:r>
            <a:r>
              <a:rPr sz="1100" spc="-30" dirty="0">
                <a:latin typeface="+mj-lt"/>
                <a:cs typeface="Tahoma"/>
              </a:rPr>
              <a:t>find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30" dirty="0">
                <a:latin typeface="+mj-lt"/>
                <a:cs typeface="Lucida Sans Unicode"/>
              </a:rPr>
              <a:t>⊆ </a:t>
            </a:r>
            <a:r>
              <a:rPr sz="1100" i="1" spc="-5" dirty="0">
                <a:latin typeface="+mj-lt"/>
                <a:cs typeface="Trebuchet MS"/>
              </a:rPr>
              <a:t>I </a:t>
            </a:r>
            <a:r>
              <a:rPr sz="1100" spc="-50" dirty="0">
                <a:latin typeface="+mj-lt"/>
                <a:cs typeface="Tahoma"/>
              </a:rPr>
              <a:t>such </a:t>
            </a:r>
            <a:r>
              <a:rPr sz="1100" spc="-15" dirty="0">
                <a:latin typeface="+mj-lt"/>
                <a:cs typeface="Tahoma"/>
              </a:rPr>
              <a:t>that </a:t>
            </a:r>
            <a:r>
              <a:rPr sz="1100" spc="-40" dirty="0">
                <a:latin typeface="+mj-lt"/>
                <a:cs typeface="Tahoma"/>
              </a:rPr>
              <a:t>the </a:t>
            </a:r>
            <a:r>
              <a:rPr sz="1100" spc="-60" dirty="0">
                <a:latin typeface="+mj-lt"/>
                <a:cs typeface="Tahoma"/>
              </a:rPr>
              <a:t>members </a:t>
            </a:r>
            <a:r>
              <a:rPr sz="1100" spc="-35" dirty="0">
                <a:latin typeface="+mj-lt"/>
                <a:cs typeface="Tahoma"/>
              </a:rPr>
              <a:t>of </a:t>
            </a:r>
            <a:r>
              <a:rPr sz="1100" i="1" spc="55" dirty="0">
                <a:latin typeface="+mj-lt"/>
                <a:cs typeface="Trebuchet MS"/>
              </a:rPr>
              <a:t>A </a:t>
            </a:r>
            <a:r>
              <a:rPr sz="1100" spc="-75" dirty="0">
                <a:latin typeface="+mj-lt"/>
                <a:cs typeface="Tahoma"/>
              </a:rPr>
              <a:t>are </a:t>
            </a:r>
            <a:r>
              <a:rPr sz="1100" spc="-30" dirty="0">
                <a:solidFill>
                  <a:srgbClr val="0000FF"/>
                </a:solidFill>
                <a:latin typeface="+mj-lt"/>
                <a:cs typeface="Tahoma"/>
              </a:rPr>
              <a:t>non-conflicting </a:t>
            </a:r>
            <a:r>
              <a:rPr sz="1100" i="1" spc="-50" dirty="0">
                <a:latin typeface="+mj-lt"/>
                <a:cs typeface="Trebuchet MS"/>
              </a:rPr>
              <a:t>and </a:t>
            </a:r>
            <a:r>
              <a:rPr sz="1100" spc="-60" dirty="0">
                <a:latin typeface="+mj-lt"/>
                <a:cs typeface="Lucida Sans Unicode"/>
              </a:rPr>
              <a:t>|</a:t>
            </a:r>
            <a:r>
              <a:rPr sz="1100" i="1" spc="-60" dirty="0">
                <a:latin typeface="+mj-lt"/>
                <a:cs typeface="Trebuchet MS"/>
              </a:rPr>
              <a:t>A</a:t>
            </a:r>
            <a:r>
              <a:rPr sz="1100" spc="-60" dirty="0">
                <a:latin typeface="+mj-lt"/>
                <a:cs typeface="Lucida Sans Unicode"/>
              </a:rPr>
              <a:t>| </a:t>
            </a:r>
            <a:r>
              <a:rPr sz="1100" spc="-35" dirty="0">
                <a:latin typeface="+mj-lt"/>
                <a:cs typeface="Tahoma"/>
              </a:rPr>
              <a:t>is</a:t>
            </a:r>
            <a:r>
              <a:rPr sz="1100" spc="-55" dirty="0">
                <a:latin typeface="+mj-lt"/>
                <a:cs typeface="Tahoma"/>
              </a:rPr>
              <a:t> </a:t>
            </a:r>
            <a:r>
              <a:rPr sz="1100" spc="-40" dirty="0">
                <a:solidFill>
                  <a:srgbClr val="0000FF"/>
                </a:solidFill>
                <a:latin typeface="+mj-lt"/>
                <a:cs typeface="Tahoma"/>
              </a:rPr>
              <a:t>maximized</a:t>
            </a:r>
            <a:r>
              <a:rPr sz="1100" spc="-40" dirty="0">
                <a:latin typeface="+mj-lt"/>
                <a:cs typeface="Tahoma"/>
              </a:rPr>
              <a:t>.</a:t>
            </a:r>
            <a:endParaRPr sz="1100" dirty="0">
              <a:latin typeface="+mj-lt"/>
              <a:cs typeface="Tahoma"/>
            </a:endParaRPr>
          </a:p>
          <a:p>
            <a:pPr marL="397510">
              <a:lnSpc>
                <a:spcPct val="100000"/>
              </a:lnSpc>
              <a:spcBef>
                <a:spcPts val="1505"/>
              </a:spcBef>
            </a:pPr>
            <a:r>
              <a:rPr sz="1100" spc="-40" dirty="0">
                <a:solidFill>
                  <a:srgbClr val="FFFFFF"/>
                </a:solidFill>
                <a:latin typeface="+mj-lt"/>
                <a:cs typeface="Tahoma"/>
              </a:rPr>
              <a:t>Example</a:t>
            </a:r>
            <a:endParaRPr sz="1100" dirty="0">
              <a:latin typeface="+mj-lt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470240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615831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60313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340573"/>
            <a:ext cx="50751" cy="127525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514509"/>
            <a:ext cx="3989704" cy="1152525"/>
          </a:xfrm>
          <a:custGeom>
            <a:avLst/>
            <a:gdLst/>
            <a:ahLst/>
            <a:cxnLst/>
            <a:rect l="l" t="t" r="r" b="b"/>
            <a:pathLst>
              <a:path w="3989704" h="1152525">
                <a:moveTo>
                  <a:pt x="3989652" y="0"/>
                </a:moveTo>
                <a:lnTo>
                  <a:pt x="0" y="0"/>
                </a:lnTo>
                <a:lnTo>
                  <a:pt x="0" y="1101321"/>
                </a:lnTo>
                <a:lnTo>
                  <a:pt x="4008" y="1121046"/>
                </a:lnTo>
                <a:lnTo>
                  <a:pt x="14922" y="1137199"/>
                </a:lnTo>
                <a:lnTo>
                  <a:pt x="31075" y="1148113"/>
                </a:lnTo>
                <a:lnTo>
                  <a:pt x="50800" y="1152122"/>
                </a:lnTo>
                <a:lnTo>
                  <a:pt x="3938852" y="1152122"/>
                </a:lnTo>
                <a:lnTo>
                  <a:pt x="3958576" y="1148113"/>
                </a:lnTo>
                <a:lnTo>
                  <a:pt x="3974729" y="1137199"/>
                </a:lnTo>
                <a:lnTo>
                  <a:pt x="3985644" y="1121046"/>
                </a:lnTo>
                <a:lnTo>
                  <a:pt x="3989652" y="1101321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378656"/>
            <a:ext cx="0" cy="1256665"/>
          </a:xfrm>
          <a:custGeom>
            <a:avLst/>
            <a:gdLst/>
            <a:ahLst/>
            <a:cxnLst/>
            <a:rect l="l" t="t" r="r" b="b"/>
            <a:pathLst>
              <a:path h="1256664">
                <a:moveTo>
                  <a:pt x="0" y="1256224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36595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35325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34055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869086" y="1539818"/>
            <a:ext cx="2915983" cy="8756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81221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6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09194" y="2978162"/>
            <a:ext cx="3989651" cy="50609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359994" y="3179915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10794" y="3167214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856445"/>
            <a:ext cx="50751" cy="32346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309193" y="3022436"/>
            <a:ext cx="3989704" cy="208279"/>
          </a:xfrm>
          <a:custGeom>
            <a:avLst/>
            <a:gdLst/>
            <a:ahLst/>
            <a:cxnLst/>
            <a:rect l="l" t="t" r="r" b="b"/>
            <a:pathLst>
              <a:path w="3989704" h="208280">
                <a:moveTo>
                  <a:pt x="3989652" y="0"/>
                </a:moveTo>
                <a:lnTo>
                  <a:pt x="0" y="0"/>
                </a:lnTo>
                <a:lnTo>
                  <a:pt x="0" y="157478"/>
                </a:lnTo>
                <a:lnTo>
                  <a:pt x="4008" y="177203"/>
                </a:lnTo>
                <a:lnTo>
                  <a:pt x="14922" y="193356"/>
                </a:lnTo>
                <a:lnTo>
                  <a:pt x="31075" y="204270"/>
                </a:lnTo>
                <a:lnTo>
                  <a:pt x="50800" y="208279"/>
                </a:lnTo>
                <a:lnTo>
                  <a:pt x="3938852" y="208279"/>
                </a:lnTo>
                <a:lnTo>
                  <a:pt x="3958576" y="204270"/>
                </a:lnTo>
                <a:lnTo>
                  <a:pt x="3974729" y="193356"/>
                </a:lnTo>
                <a:lnTo>
                  <a:pt x="3985644" y="177203"/>
                </a:lnTo>
                <a:lnTo>
                  <a:pt x="3989652" y="157478"/>
                </a:lnTo>
                <a:lnTo>
                  <a:pt x="3989652" y="0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4298846" y="2894543"/>
            <a:ext cx="0" cy="304800"/>
          </a:xfrm>
          <a:custGeom>
            <a:avLst/>
            <a:gdLst/>
            <a:ahLst/>
            <a:cxnLst/>
            <a:rect l="l" t="t" r="r" b="b"/>
            <a:pathLst>
              <a:path h="304800">
                <a:moveTo>
                  <a:pt x="0" y="30442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98846" y="288184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98846" y="286914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98846" y="285644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347294" y="2436328"/>
            <a:ext cx="3140075" cy="7562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1089660" algn="l"/>
              </a:tabLst>
            </a:pP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3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10" dirty="0">
                <a:latin typeface="Tahoma"/>
                <a:cs typeface="Tahoma"/>
              </a:rPr>
              <a:t>8</a:t>
            </a:r>
            <a:r>
              <a:rPr sz="1100" spc="10" dirty="0">
                <a:latin typeface="Lucida Sans Unicode"/>
                <a:cs typeface="Lucida Sans Unicode"/>
              </a:rPr>
              <a:t>}</a:t>
            </a:r>
            <a:r>
              <a:rPr sz="1100" i="1" spc="10" dirty="0">
                <a:latin typeface="Verdana"/>
                <a:cs typeface="Verdana"/>
              </a:rPr>
              <a:t>,	</a:t>
            </a:r>
            <a:r>
              <a:rPr sz="1100" spc="-60" dirty="0">
                <a:latin typeface="Lucida Sans Unicode"/>
                <a:cs typeface="Lucida Sans Unicode"/>
              </a:rPr>
              <a:t>|</a:t>
            </a:r>
            <a:r>
              <a:rPr sz="1100" i="1" spc="-60" dirty="0">
                <a:latin typeface="Trebuchet MS"/>
                <a:cs typeface="Trebuchet MS"/>
              </a:rPr>
              <a:t>A</a:t>
            </a:r>
            <a:r>
              <a:rPr sz="1100" spc="-60" dirty="0">
                <a:latin typeface="Lucida Sans Unicode"/>
                <a:cs typeface="Lucida Sans Unicode"/>
              </a:rPr>
              <a:t>|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4.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05"/>
              </a:spcBef>
            </a:pP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95"/>
              </a:spcBef>
            </a:pP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40" dirty="0">
                <a:latin typeface="Tahoma"/>
                <a:cs typeface="Tahom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Tahoma"/>
                <a:cs typeface="Tahoma"/>
              </a:rPr>
              <a:t>?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2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4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7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40" dirty="0">
                <a:latin typeface="Tahoma"/>
                <a:cs typeface="Tahoma"/>
              </a:rPr>
              <a:t>8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Tahoma"/>
                <a:cs typeface="Tahoma"/>
              </a:rPr>
              <a:t>?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10" dirty="0">
                <a:latin typeface="Lucida Sans Unicode"/>
                <a:cs typeface="Lucida Sans Unicode"/>
              </a:rPr>
              <a:t>{</a:t>
            </a:r>
            <a:r>
              <a:rPr sz="1100" spc="10" dirty="0">
                <a:latin typeface="Tahoma"/>
                <a:cs typeface="Tahoma"/>
              </a:rPr>
              <a:t>1</a:t>
            </a:r>
            <a:r>
              <a:rPr sz="1100" i="1" spc="1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3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40" dirty="0">
                <a:latin typeface="Tahoma"/>
                <a:cs typeface="Tahoma"/>
              </a:rPr>
              <a:t>9</a:t>
            </a:r>
            <a:r>
              <a:rPr sz="1100" spc="40" dirty="0">
                <a:latin typeface="Lucida Sans Unicode"/>
                <a:cs typeface="Lucida Sans Unicode"/>
              </a:rPr>
              <a:t>}</a:t>
            </a:r>
            <a:r>
              <a:rPr sz="1100" spc="40" dirty="0">
                <a:latin typeface="Tahoma"/>
                <a:cs typeface="Tahoma"/>
              </a:rPr>
              <a:t>?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-16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.</a:t>
            </a:r>
            <a:r>
              <a:rPr sz="1100" spc="-170" dirty="0">
                <a:latin typeface="Tahoma"/>
                <a:cs typeface="Tahoma"/>
              </a:rPr>
              <a:t> </a:t>
            </a:r>
            <a:r>
              <a:rPr sz="1100" b="1" spc="-30" dirty="0">
                <a:solidFill>
                  <a:srgbClr val="FF0000"/>
                </a:solidFill>
                <a:latin typeface="Arial"/>
                <a:cs typeface="Arial"/>
              </a:rPr>
              <a:t>How</a:t>
            </a:r>
            <a:r>
              <a:rPr sz="1100" b="1" spc="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1100" b="1" spc="-70" dirty="0">
                <a:solidFill>
                  <a:srgbClr val="FF0000"/>
                </a:solidFill>
                <a:latin typeface="Arial"/>
                <a:cs typeface="Arial"/>
              </a:rPr>
              <a:t>many?</a:t>
            </a:r>
            <a:endParaRPr sz="1100">
              <a:latin typeface="Arial"/>
              <a:cs typeface="Aria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4" name="object 4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7</a:t>
            </a:r>
            <a:r>
              <a:rPr spc="-95" dirty="0"/>
              <a:t> </a:t>
            </a:r>
            <a:r>
              <a:rPr spc="160" dirty="0"/>
              <a:t>/</a:t>
            </a:r>
            <a:r>
              <a:rPr spc="-95" dirty="0"/>
              <a:t> </a:t>
            </a:r>
            <a:r>
              <a:rPr spc="-5" dirty="0"/>
              <a:t>38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0" y="121015"/>
            <a:ext cx="46081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5" dirty="0">
                <a:solidFill>
                  <a:srgbClr val="FFFFFF"/>
                </a:solidFill>
                <a:latin typeface="Calibri"/>
                <a:cs typeface="Calibri"/>
              </a:rPr>
              <a:t>Brute 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force</a:t>
            </a:r>
            <a:r>
              <a:rPr sz="14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solution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02" y="405892"/>
            <a:ext cx="4495800" cy="3024220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268604" y="629579"/>
            <a:ext cx="4246246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/>
          <p:cNvSpPr/>
          <p:nvPr/>
        </p:nvSpPr>
        <p:spPr>
          <a:xfrm>
            <a:off x="247650" y="1044575"/>
            <a:ext cx="4246246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247650" y="1425575"/>
            <a:ext cx="4246246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/>
          <p:cNvSpPr/>
          <p:nvPr/>
        </p:nvSpPr>
        <p:spPr>
          <a:xfrm>
            <a:off x="86396" y="1897106"/>
            <a:ext cx="4465505" cy="6249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1"/>
          <p:cNvSpPr/>
          <p:nvPr/>
        </p:nvSpPr>
        <p:spPr>
          <a:xfrm>
            <a:off x="323850" y="2499409"/>
            <a:ext cx="3962400" cy="46611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/>
          <p:cNvSpPr/>
          <p:nvPr/>
        </p:nvSpPr>
        <p:spPr>
          <a:xfrm>
            <a:off x="323850" y="2981745"/>
            <a:ext cx="4038600" cy="42685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436079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9" grpId="0" animBg="1"/>
      <p:bldP spid="40" grpId="0" animBg="1"/>
      <p:bldP spid="41" grpId="0" animBg="1"/>
      <p:bldP spid="42" grpId="0" animBg="1"/>
      <p:bldP spid="4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endParaRPr spc="5" dirty="0"/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0" name="object 3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1" name="object 31"/>
          <p:cNvSpPr txBox="1"/>
          <p:nvPr/>
        </p:nvSpPr>
        <p:spPr>
          <a:xfrm>
            <a:off x="4292690" y="3318070"/>
            <a:ext cx="22034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9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52" y="413666"/>
            <a:ext cx="4460699" cy="2971714"/>
          </a:xfrm>
          <a:prstGeom prst="rect">
            <a:avLst/>
          </a:prstGeom>
        </p:spPr>
      </p:pic>
      <p:sp>
        <p:nvSpPr>
          <p:cNvPr id="32" name="Rectangle 31"/>
          <p:cNvSpPr/>
          <p:nvPr/>
        </p:nvSpPr>
        <p:spPr>
          <a:xfrm>
            <a:off x="171450" y="1084616"/>
            <a:ext cx="4191000" cy="4171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32"/>
          <p:cNvSpPr/>
          <p:nvPr/>
        </p:nvSpPr>
        <p:spPr>
          <a:xfrm>
            <a:off x="198412" y="1501775"/>
            <a:ext cx="41910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33"/>
          <p:cNvSpPr/>
          <p:nvPr/>
        </p:nvSpPr>
        <p:spPr>
          <a:xfrm>
            <a:off x="171450" y="1924979"/>
            <a:ext cx="41910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/>
        </p:nvSpPr>
        <p:spPr>
          <a:xfrm>
            <a:off x="171450" y="2270809"/>
            <a:ext cx="4191000" cy="25009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95249" y="2644774"/>
            <a:ext cx="4417785" cy="7406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 animBg="1"/>
      <p:bldP spid="33" grpId="0" animBg="1"/>
      <p:bldP spid="34" grpId="0" animBg="1"/>
      <p:bldP spid="35" grpId="0" animBg="1"/>
      <p:bldP spid="3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4983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764576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94067"/>
            <a:ext cx="4040403" cy="1583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51876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44858"/>
            <a:ext cx="50751" cy="11197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46079"/>
            <a:ext cx="3989704" cy="1069340"/>
          </a:xfrm>
          <a:custGeom>
            <a:avLst/>
            <a:gdLst/>
            <a:ahLst/>
            <a:cxnLst/>
            <a:rect l="l" t="t" r="r" b="b"/>
            <a:pathLst>
              <a:path w="3989704" h="1069339">
                <a:moveTo>
                  <a:pt x="3989652" y="0"/>
                </a:moveTo>
                <a:lnTo>
                  <a:pt x="0" y="0"/>
                </a:lnTo>
                <a:lnTo>
                  <a:pt x="0" y="1018496"/>
                </a:lnTo>
                <a:lnTo>
                  <a:pt x="4008" y="1038221"/>
                </a:lnTo>
                <a:lnTo>
                  <a:pt x="14922" y="1054374"/>
                </a:lnTo>
                <a:lnTo>
                  <a:pt x="31075" y="1065288"/>
                </a:lnTo>
                <a:lnTo>
                  <a:pt x="50800" y="1069296"/>
                </a:lnTo>
                <a:lnTo>
                  <a:pt x="3938852" y="1069296"/>
                </a:lnTo>
                <a:lnTo>
                  <a:pt x="3958576" y="1065288"/>
                </a:lnTo>
                <a:lnTo>
                  <a:pt x="3974729" y="1054374"/>
                </a:lnTo>
                <a:lnTo>
                  <a:pt x="3985644" y="1038221"/>
                </a:lnTo>
                <a:lnTo>
                  <a:pt x="3989652" y="101849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32158"/>
            <a:ext cx="0" cy="1151890"/>
          </a:xfrm>
          <a:custGeom>
            <a:avLst/>
            <a:gdLst/>
            <a:ahLst/>
            <a:cxnLst/>
            <a:rect l="l" t="t" r="r" b="b"/>
            <a:pathLst>
              <a:path h="1151889">
                <a:moveTo>
                  <a:pt x="0" y="115146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1945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0675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9405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93627"/>
            <a:ext cx="2888615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1. </a:t>
            </a:r>
            <a:r>
              <a:rPr sz="900" i="1" spc="-40" dirty="0">
                <a:solidFill>
                  <a:srgbClr val="FFFFFF"/>
                </a:solidFill>
                <a:latin typeface="Trebuchet MS"/>
                <a:cs typeface="Trebuchet MS"/>
              </a:rPr>
              <a:t>Earliest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5" dirty="0">
                <a:latin typeface="Arial"/>
                <a:cs typeface="Arial"/>
              </a:rPr>
              <a:t>start </a:t>
            </a:r>
            <a:r>
              <a:rPr sz="900" spc="-40" dirty="0">
                <a:latin typeface="Arial"/>
                <a:cs typeface="Arial"/>
              </a:rPr>
              <a:t>using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5026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4005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38789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69018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5754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0" dirty="0"/>
              <a:t>starting </a:t>
            </a:r>
            <a:r>
              <a:rPr dirty="0"/>
              <a:t>time, </a:t>
            </a:r>
            <a:r>
              <a:rPr spc="-35" dirty="0"/>
              <a:t>breaking </a:t>
            </a:r>
            <a:r>
              <a:rPr spc="-25" dirty="0"/>
              <a:t>ties</a:t>
            </a:r>
            <a:r>
              <a:rPr spc="16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09193" y="1967305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957903"/>
            <a:ext cx="4400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3167430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9194" y="2011540"/>
            <a:ext cx="4040403" cy="15834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15473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62324"/>
            <a:ext cx="50751" cy="110510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163545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049624"/>
            <a:ext cx="0" cy="1137285"/>
          </a:xfrm>
          <a:custGeom>
            <a:avLst/>
            <a:gdLst/>
            <a:ahLst/>
            <a:cxnLst/>
            <a:rect l="l" t="t" r="r" b="b"/>
            <a:pathLst>
              <a:path h="1137285">
                <a:moveTo>
                  <a:pt x="0" y="113685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0369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242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115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188858"/>
            <a:ext cx="2721593" cy="81729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2058771" y="3018759"/>
            <a:ext cx="4908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spc="-85" dirty="0">
                <a:latin typeface="Lucida Sans Unicode"/>
                <a:cs typeface="Lucida Sans Unicode"/>
              </a:rPr>
              <a:t> </a:t>
            </a:r>
            <a:r>
              <a:rPr sz="900" spc="30" dirty="0">
                <a:latin typeface="Lucida Sans Unicode"/>
                <a:cs typeface="Lucida Sans Unicode"/>
              </a:rPr>
              <a:t>=???</a:t>
            </a:r>
            <a:r>
              <a:rPr sz="900" spc="30" dirty="0">
                <a:latin typeface="Arial"/>
                <a:cs typeface="Arial"/>
              </a:rPr>
              <a:t>.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45299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760042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89534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47342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40324"/>
            <a:ext cx="50751" cy="11197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41545"/>
            <a:ext cx="3989704" cy="1069340"/>
          </a:xfrm>
          <a:custGeom>
            <a:avLst/>
            <a:gdLst/>
            <a:ahLst/>
            <a:cxnLst/>
            <a:rect l="l" t="t" r="r" b="b"/>
            <a:pathLst>
              <a:path w="3989704" h="1069339">
                <a:moveTo>
                  <a:pt x="3989652" y="0"/>
                </a:moveTo>
                <a:lnTo>
                  <a:pt x="0" y="0"/>
                </a:lnTo>
                <a:lnTo>
                  <a:pt x="0" y="1018496"/>
                </a:lnTo>
                <a:lnTo>
                  <a:pt x="4008" y="1038221"/>
                </a:lnTo>
                <a:lnTo>
                  <a:pt x="14922" y="1054374"/>
                </a:lnTo>
                <a:lnTo>
                  <a:pt x="31075" y="1065288"/>
                </a:lnTo>
                <a:lnTo>
                  <a:pt x="50800" y="1069296"/>
                </a:lnTo>
                <a:lnTo>
                  <a:pt x="3938852" y="1069296"/>
                </a:lnTo>
                <a:lnTo>
                  <a:pt x="3958576" y="1065288"/>
                </a:lnTo>
                <a:lnTo>
                  <a:pt x="3974729" y="1054374"/>
                </a:lnTo>
                <a:lnTo>
                  <a:pt x="3985644" y="1038221"/>
                </a:lnTo>
                <a:lnTo>
                  <a:pt x="3989652" y="101849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27624"/>
            <a:ext cx="0" cy="1151890"/>
          </a:xfrm>
          <a:custGeom>
            <a:avLst/>
            <a:gdLst/>
            <a:ahLst/>
            <a:cxnLst/>
            <a:rect l="l" t="t" r="r" b="b"/>
            <a:pathLst>
              <a:path h="1151889">
                <a:moveTo>
                  <a:pt x="0" y="115146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149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022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895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89080"/>
            <a:ext cx="2888615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1. </a:t>
            </a:r>
            <a:r>
              <a:rPr sz="900" i="1" spc="-40" dirty="0">
                <a:solidFill>
                  <a:srgbClr val="FFFFFF"/>
                </a:solidFill>
                <a:latin typeface="Trebuchet MS"/>
                <a:cs typeface="Trebuchet MS"/>
              </a:rPr>
              <a:t>Earliest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5" dirty="0">
                <a:latin typeface="Arial"/>
                <a:cs typeface="Arial"/>
              </a:rPr>
              <a:t>start </a:t>
            </a:r>
            <a:r>
              <a:rPr sz="900" spc="-40" dirty="0">
                <a:latin typeface="Arial"/>
                <a:cs typeface="Arial"/>
              </a:rPr>
              <a:t>using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4572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35516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34242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6448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5299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0" dirty="0"/>
              <a:t>starting </a:t>
            </a:r>
            <a:r>
              <a:rPr dirty="0"/>
              <a:t>time, </a:t>
            </a:r>
            <a:r>
              <a:rPr spc="-35" dirty="0"/>
              <a:t>breaking </a:t>
            </a:r>
            <a:r>
              <a:rPr spc="-25" dirty="0"/>
              <a:t>ties</a:t>
            </a:r>
            <a:r>
              <a:rPr spc="16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09193" y="1962759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958385"/>
            <a:ext cx="19183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i="1" spc="-40" dirty="0">
                <a:solidFill>
                  <a:srgbClr val="FFFFFF"/>
                </a:solidFill>
                <a:latin typeface="Trebuchet MS"/>
                <a:cs typeface="Trebuchet MS"/>
              </a:rPr>
              <a:t>Earliest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sz="900" i="1" spc="-12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317423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9194" y="2126081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16153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07006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170352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045088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0323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196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069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195665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07916"/>
            <a:ext cx="1066165" cy="4445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1.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130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45299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760042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89534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47342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40324"/>
            <a:ext cx="50751" cy="11197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41545"/>
            <a:ext cx="3989704" cy="1069340"/>
          </a:xfrm>
          <a:custGeom>
            <a:avLst/>
            <a:gdLst/>
            <a:ahLst/>
            <a:cxnLst/>
            <a:rect l="l" t="t" r="r" b="b"/>
            <a:pathLst>
              <a:path w="3989704" h="1069339">
                <a:moveTo>
                  <a:pt x="3989652" y="0"/>
                </a:moveTo>
                <a:lnTo>
                  <a:pt x="0" y="0"/>
                </a:lnTo>
                <a:lnTo>
                  <a:pt x="0" y="1018496"/>
                </a:lnTo>
                <a:lnTo>
                  <a:pt x="4008" y="1038221"/>
                </a:lnTo>
                <a:lnTo>
                  <a:pt x="14922" y="1054374"/>
                </a:lnTo>
                <a:lnTo>
                  <a:pt x="31075" y="1065288"/>
                </a:lnTo>
                <a:lnTo>
                  <a:pt x="50800" y="1069296"/>
                </a:lnTo>
                <a:lnTo>
                  <a:pt x="3938852" y="1069296"/>
                </a:lnTo>
                <a:lnTo>
                  <a:pt x="3958576" y="1065288"/>
                </a:lnTo>
                <a:lnTo>
                  <a:pt x="3974729" y="1054374"/>
                </a:lnTo>
                <a:lnTo>
                  <a:pt x="3985644" y="1038221"/>
                </a:lnTo>
                <a:lnTo>
                  <a:pt x="3989652" y="101849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27624"/>
            <a:ext cx="0" cy="1151890"/>
          </a:xfrm>
          <a:custGeom>
            <a:avLst/>
            <a:gdLst/>
            <a:ahLst/>
            <a:cxnLst/>
            <a:rect l="l" t="t" r="r" b="b"/>
            <a:pathLst>
              <a:path h="1151889">
                <a:moveTo>
                  <a:pt x="0" y="115146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149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022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895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89080"/>
            <a:ext cx="2888615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1. </a:t>
            </a:r>
            <a:r>
              <a:rPr sz="900" i="1" spc="-40" dirty="0">
                <a:solidFill>
                  <a:srgbClr val="FFFFFF"/>
                </a:solidFill>
                <a:latin typeface="Trebuchet MS"/>
                <a:cs typeface="Trebuchet MS"/>
              </a:rPr>
              <a:t>Earliest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5" dirty="0">
                <a:latin typeface="Arial"/>
                <a:cs typeface="Arial"/>
              </a:rPr>
              <a:t>start </a:t>
            </a:r>
            <a:r>
              <a:rPr sz="900" spc="-40" dirty="0">
                <a:latin typeface="Arial"/>
                <a:cs typeface="Arial"/>
              </a:rPr>
              <a:t>using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4572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35516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34242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6448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5299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0" dirty="0"/>
              <a:t>starting </a:t>
            </a:r>
            <a:r>
              <a:rPr dirty="0"/>
              <a:t>time, </a:t>
            </a:r>
            <a:r>
              <a:rPr spc="-35" dirty="0"/>
              <a:t>breaking </a:t>
            </a:r>
            <a:r>
              <a:rPr spc="-25" dirty="0"/>
              <a:t>ties</a:t>
            </a:r>
            <a:r>
              <a:rPr spc="16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09193" y="1962759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958385"/>
            <a:ext cx="18116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9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26081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17423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16153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07006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170352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045088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0323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196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069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195665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07916"/>
            <a:ext cx="1066165" cy="4445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130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45299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760042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89534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47342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40324"/>
            <a:ext cx="50751" cy="111971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41545"/>
            <a:ext cx="3989704" cy="1069340"/>
          </a:xfrm>
          <a:custGeom>
            <a:avLst/>
            <a:gdLst/>
            <a:ahLst/>
            <a:cxnLst/>
            <a:rect l="l" t="t" r="r" b="b"/>
            <a:pathLst>
              <a:path w="3989704" h="1069339">
                <a:moveTo>
                  <a:pt x="3989652" y="0"/>
                </a:moveTo>
                <a:lnTo>
                  <a:pt x="0" y="0"/>
                </a:lnTo>
                <a:lnTo>
                  <a:pt x="0" y="1018496"/>
                </a:lnTo>
                <a:lnTo>
                  <a:pt x="4008" y="1038221"/>
                </a:lnTo>
                <a:lnTo>
                  <a:pt x="14922" y="1054374"/>
                </a:lnTo>
                <a:lnTo>
                  <a:pt x="31075" y="1065288"/>
                </a:lnTo>
                <a:lnTo>
                  <a:pt x="50800" y="1069296"/>
                </a:lnTo>
                <a:lnTo>
                  <a:pt x="3938852" y="1069296"/>
                </a:lnTo>
                <a:lnTo>
                  <a:pt x="3958576" y="1065288"/>
                </a:lnTo>
                <a:lnTo>
                  <a:pt x="3974729" y="1054374"/>
                </a:lnTo>
                <a:lnTo>
                  <a:pt x="3985644" y="1038221"/>
                </a:lnTo>
                <a:lnTo>
                  <a:pt x="3989652" y="101849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27624"/>
            <a:ext cx="0" cy="1151890"/>
          </a:xfrm>
          <a:custGeom>
            <a:avLst/>
            <a:gdLst/>
            <a:ahLst/>
            <a:cxnLst/>
            <a:rect l="l" t="t" r="r" b="b"/>
            <a:pathLst>
              <a:path h="1151889">
                <a:moveTo>
                  <a:pt x="0" y="115146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6149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6022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89524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89080"/>
            <a:ext cx="2888615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1. </a:t>
            </a:r>
            <a:r>
              <a:rPr sz="900" i="1" spc="-40" dirty="0">
                <a:solidFill>
                  <a:srgbClr val="FFFFFF"/>
                </a:solidFill>
                <a:latin typeface="Trebuchet MS"/>
                <a:cs typeface="Trebuchet MS"/>
              </a:rPr>
              <a:t>Earliest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5" dirty="0">
                <a:latin typeface="Arial"/>
                <a:cs typeface="Arial"/>
              </a:rPr>
              <a:t>start </a:t>
            </a:r>
            <a:r>
              <a:rPr sz="900" spc="-40" dirty="0">
                <a:latin typeface="Arial"/>
                <a:cs typeface="Arial"/>
              </a:rPr>
              <a:t>using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114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4572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35516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34242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6448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5299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0" dirty="0"/>
              <a:t>starting </a:t>
            </a:r>
            <a:r>
              <a:rPr dirty="0"/>
              <a:t>time, </a:t>
            </a:r>
            <a:r>
              <a:rPr spc="-35" dirty="0"/>
              <a:t>breaking </a:t>
            </a:r>
            <a:r>
              <a:rPr spc="-25" dirty="0"/>
              <a:t>ties</a:t>
            </a:r>
            <a:r>
              <a:rPr spc="16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47294" y="1617695"/>
            <a:ext cx="251523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This </a:t>
            </a:r>
            <a:r>
              <a:rPr sz="900" spc="-20" dirty="0">
                <a:solidFill>
                  <a:srgbClr val="FF0000"/>
                </a:solidFill>
                <a:latin typeface="Arial"/>
                <a:cs typeface="Arial"/>
              </a:rPr>
              <a:t>strategy </a:t>
            </a:r>
            <a:r>
              <a:rPr sz="900" spc="-60" dirty="0">
                <a:solidFill>
                  <a:srgbClr val="FF0000"/>
                </a:solidFill>
                <a:latin typeface="Arial"/>
                <a:cs typeface="Arial"/>
              </a:rPr>
              <a:t>does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sz="900" spc="-40" dirty="0">
                <a:solidFill>
                  <a:srgbClr val="FF0000"/>
                </a:solidFill>
                <a:latin typeface="Arial"/>
                <a:cs typeface="Arial"/>
              </a:rPr>
              <a:t>lead </a:t>
            </a:r>
            <a:r>
              <a:rPr sz="900" spc="20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optimal</a:t>
            </a:r>
            <a:r>
              <a:rPr sz="900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FF0000"/>
                </a:solidFill>
                <a:latin typeface="Arial"/>
                <a:cs typeface="Arial"/>
              </a:rPr>
              <a:t>solution.</a:t>
            </a:r>
            <a:endParaRPr sz="900">
              <a:latin typeface="Arial"/>
              <a:cs typeface="Arial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09193" y="1962759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 txBox="1"/>
          <p:nvPr/>
        </p:nvSpPr>
        <p:spPr>
          <a:xfrm>
            <a:off x="347294" y="1958385"/>
            <a:ext cx="18116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9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09194" y="2126081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59994" y="317423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10794" y="316153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4298846" y="2007006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309193" y="2170352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045088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323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196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98846" y="20069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962710" y="2195665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2096147" y="3007916"/>
            <a:ext cx="1066165" cy="4445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130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1" name="object 41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48996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2.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Shortest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40" dirty="0">
                <a:latin typeface="Trebuchet MS"/>
                <a:cs typeface="Trebuchet MS"/>
              </a:rPr>
              <a:t>Earliest </a:t>
            </a:r>
            <a:r>
              <a:rPr sz="900" i="1" spc="-30" dirty="0">
                <a:latin typeface="Trebuchet MS"/>
                <a:cs typeface="Trebuchet MS"/>
              </a:rPr>
              <a:t>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5" dirty="0">
                <a:latin typeface="Arial"/>
                <a:cs typeface="Arial"/>
              </a:rPr>
              <a:t>missed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 </a:t>
            </a:r>
            <a:r>
              <a:rPr sz="900" spc="-20" dirty="0">
                <a:latin typeface="Arial"/>
                <a:cs typeface="Arial"/>
              </a:rPr>
              <a:t>intervals, which </a:t>
            </a:r>
            <a:r>
              <a:rPr sz="900" spc="-30" dirty="0">
                <a:latin typeface="Arial"/>
                <a:cs typeface="Arial"/>
              </a:rPr>
              <a:t>would </a:t>
            </a:r>
            <a:r>
              <a:rPr sz="900" spc="-35" dirty="0">
                <a:latin typeface="Arial"/>
                <a:cs typeface="Arial"/>
              </a:rPr>
              <a:t>accommodate </a:t>
            </a:r>
            <a:r>
              <a:rPr sz="900" spc="-45" dirty="0">
                <a:latin typeface="Arial"/>
                <a:cs typeface="Arial"/>
              </a:rPr>
              <a:t>more </a:t>
            </a:r>
            <a:r>
              <a:rPr sz="900" spc="-20" dirty="0">
                <a:latin typeface="Arial"/>
                <a:cs typeface="Arial"/>
              </a:rPr>
              <a:t>intervals.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477895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40" dirty="0">
                <a:latin typeface="Arial"/>
                <a:cs typeface="Arial"/>
              </a:rPr>
              <a:t>by </a:t>
            </a:r>
            <a:r>
              <a:rPr sz="900" spc="-15" dirty="0">
                <a:latin typeface="Arial"/>
                <a:cs typeface="Arial"/>
              </a:rPr>
              <a:t>length, </a:t>
            </a:r>
            <a:r>
              <a:rPr sz="900" spc="-30" dirty="0">
                <a:latin typeface="Arial"/>
                <a:cs typeface="Arial"/>
              </a:rPr>
              <a:t>breaking </a:t>
            </a:r>
            <a:r>
              <a:rPr sz="900" spc="-25" dirty="0">
                <a:latin typeface="Arial"/>
                <a:cs typeface="Arial"/>
              </a:rPr>
              <a:t>ties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arbitrarily.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2026902"/>
            <a:ext cx="4400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3236429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9194" y="2080539"/>
            <a:ext cx="4040403" cy="15834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23729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131323"/>
            <a:ext cx="50751" cy="110510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32544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3"/>
            <a:ext cx="0" cy="1137285"/>
          </a:xfrm>
          <a:custGeom>
            <a:avLst/>
            <a:gdLst/>
            <a:ahLst/>
            <a:cxnLst/>
            <a:rect l="l" t="t" r="r" b="b"/>
            <a:pathLst>
              <a:path h="1137285">
                <a:moveTo>
                  <a:pt x="0" y="113685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57857"/>
            <a:ext cx="2721593" cy="81729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58771" y="3070108"/>
            <a:ext cx="1103630" cy="38227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spc="30" dirty="0">
                <a:latin typeface="Lucida Sans Unicode"/>
                <a:cs typeface="Lucida Sans Unicode"/>
              </a:rPr>
              <a:t>=???</a:t>
            </a:r>
            <a:r>
              <a:rPr sz="900" spc="3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81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48996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2.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Shortest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40" dirty="0">
                <a:latin typeface="Trebuchet MS"/>
                <a:cs typeface="Trebuchet MS"/>
              </a:rPr>
              <a:t>Earliest </a:t>
            </a:r>
            <a:r>
              <a:rPr sz="900" i="1" spc="-30" dirty="0">
                <a:latin typeface="Trebuchet MS"/>
                <a:cs typeface="Trebuchet MS"/>
              </a:rPr>
              <a:t>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5" dirty="0">
                <a:latin typeface="Arial"/>
                <a:cs typeface="Arial"/>
              </a:rPr>
              <a:t>missed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 </a:t>
            </a:r>
            <a:r>
              <a:rPr sz="900" spc="-20" dirty="0">
                <a:latin typeface="Arial"/>
                <a:cs typeface="Arial"/>
              </a:rPr>
              <a:t>intervals, which </a:t>
            </a:r>
            <a:r>
              <a:rPr sz="900" spc="-30" dirty="0">
                <a:latin typeface="Arial"/>
                <a:cs typeface="Arial"/>
              </a:rPr>
              <a:t>would </a:t>
            </a:r>
            <a:r>
              <a:rPr sz="900" spc="-35" dirty="0">
                <a:latin typeface="Arial"/>
                <a:cs typeface="Arial"/>
              </a:rPr>
              <a:t>accommodate </a:t>
            </a:r>
            <a:r>
              <a:rPr sz="900" spc="-45" dirty="0">
                <a:latin typeface="Arial"/>
                <a:cs typeface="Arial"/>
              </a:rPr>
              <a:t>more </a:t>
            </a:r>
            <a:r>
              <a:rPr sz="900" spc="-20" dirty="0">
                <a:latin typeface="Arial"/>
                <a:cs typeface="Arial"/>
              </a:rPr>
              <a:t>intervals.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477895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40" dirty="0">
                <a:latin typeface="Arial"/>
                <a:cs typeface="Arial"/>
              </a:rPr>
              <a:t>by </a:t>
            </a:r>
            <a:r>
              <a:rPr sz="900" spc="-15" dirty="0">
                <a:latin typeface="Arial"/>
                <a:cs typeface="Arial"/>
              </a:rPr>
              <a:t>length, </a:t>
            </a:r>
            <a:r>
              <a:rPr sz="900" spc="-30" dirty="0">
                <a:latin typeface="Arial"/>
                <a:cs typeface="Arial"/>
              </a:rPr>
              <a:t>breaking </a:t>
            </a:r>
            <a:r>
              <a:rPr sz="900" spc="-25" dirty="0">
                <a:latin typeface="Arial"/>
                <a:cs typeface="Arial"/>
              </a:rPr>
              <a:t>ties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arbitrarily.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2031918"/>
            <a:ext cx="19621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Shortest First</a:t>
            </a:r>
            <a:r>
              <a:rPr sz="900" i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99614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247771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3507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80539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43886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1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69198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81449"/>
            <a:ext cx="1066165" cy="3708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0" dirty="0">
                <a:latin typeface="Arial"/>
                <a:cs typeface="Arial"/>
              </a:rPr>
              <a:t>1.</a:t>
            </a:r>
            <a:endParaRPr sz="90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72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48996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2.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Shortest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40" dirty="0">
                <a:latin typeface="Trebuchet MS"/>
                <a:cs typeface="Trebuchet MS"/>
              </a:rPr>
              <a:t>Earliest </a:t>
            </a:r>
            <a:r>
              <a:rPr sz="900" i="1" spc="-30" dirty="0">
                <a:latin typeface="Trebuchet MS"/>
                <a:cs typeface="Trebuchet MS"/>
              </a:rPr>
              <a:t>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5" dirty="0">
                <a:latin typeface="Arial"/>
                <a:cs typeface="Arial"/>
              </a:rPr>
              <a:t>missed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 </a:t>
            </a:r>
            <a:r>
              <a:rPr sz="900" spc="-20" dirty="0">
                <a:latin typeface="Arial"/>
                <a:cs typeface="Arial"/>
              </a:rPr>
              <a:t>intervals, which </a:t>
            </a:r>
            <a:r>
              <a:rPr sz="900" spc="-30" dirty="0">
                <a:latin typeface="Arial"/>
                <a:cs typeface="Arial"/>
              </a:rPr>
              <a:t>would </a:t>
            </a:r>
            <a:r>
              <a:rPr sz="900" spc="-35" dirty="0">
                <a:latin typeface="Arial"/>
                <a:cs typeface="Arial"/>
              </a:rPr>
              <a:t>accommodate </a:t>
            </a:r>
            <a:r>
              <a:rPr sz="900" spc="-45" dirty="0">
                <a:latin typeface="Arial"/>
                <a:cs typeface="Arial"/>
              </a:rPr>
              <a:t>more </a:t>
            </a:r>
            <a:r>
              <a:rPr sz="900" spc="-20" dirty="0">
                <a:latin typeface="Arial"/>
                <a:cs typeface="Arial"/>
              </a:rPr>
              <a:t>intervals.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477895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40" dirty="0">
                <a:latin typeface="Arial"/>
                <a:cs typeface="Arial"/>
              </a:rPr>
              <a:t>by </a:t>
            </a:r>
            <a:r>
              <a:rPr sz="900" spc="-15" dirty="0">
                <a:latin typeface="Arial"/>
                <a:cs typeface="Arial"/>
              </a:rPr>
              <a:t>length, </a:t>
            </a:r>
            <a:r>
              <a:rPr sz="900" spc="-30" dirty="0">
                <a:latin typeface="Arial"/>
                <a:cs typeface="Arial"/>
              </a:rPr>
              <a:t>breaking </a:t>
            </a:r>
            <a:r>
              <a:rPr sz="900" spc="-25" dirty="0">
                <a:latin typeface="Arial"/>
                <a:cs typeface="Arial"/>
              </a:rPr>
              <a:t>ties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arbitrarily.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2031918"/>
            <a:ext cx="18116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9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99614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247771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3507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80539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43886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1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69198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81449"/>
            <a:ext cx="1066165" cy="3708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2.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72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48996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2.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Shortest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40" dirty="0">
                <a:latin typeface="Trebuchet MS"/>
                <a:cs typeface="Trebuchet MS"/>
              </a:rPr>
              <a:t>Earliest </a:t>
            </a:r>
            <a:r>
              <a:rPr sz="900" i="1" spc="-30" dirty="0">
                <a:latin typeface="Trebuchet MS"/>
                <a:cs typeface="Trebuchet MS"/>
              </a:rPr>
              <a:t>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5" dirty="0">
                <a:latin typeface="Arial"/>
                <a:cs typeface="Arial"/>
              </a:rPr>
              <a:t>missed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 </a:t>
            </a:r>
            <a:r>
              <a:rPr sz="900" spc="-20" dirty="0">
                <a:latin typeface="Arial"/>
                <a:cs typeface="Arial"/>
              </a:rPr>
              <a:t>intervals, which </a:t>
            </a:r>
            <a:r>
              <a:rPr sz="900" spc="-30" dirty="0">
                <a:latin typeface="Arial"/>
                <a:cs typeface="Arial"/>
              </a:rPr>
              <a:t>would </a:t>
            </a:r>
            <a:r>
              <a:rPr sz="900" spc="-35" dirty="0">
                <a:latin typeface="Arial"/>
                <a:cs typeface="Arial"/>
              </a:rPr>
              <a:t>accommodate </a:t>
            </a:r>
            <a:r>
              <a:rPr sz="900" spc="-45" dirty="0">
                <a:latin typeface="Arial"/>
                <a:cs typeface="Arial"/>
              </a:rPr>
              <a:t>more </a:t>
            </a:r>
            <a:r>
              <a:rPr sz="900" spc="-20" dirty="0">
                <a:latin typeface="Arial"/>
                <a:cs typeface="Arial"/>
              </a:rPr>
              <a:t>intervals.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477895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40" dirty="0">
                <a:latin typeface="Arial"/>
                <a:cs typeface="Arial"/>
              </a:rPr>
              <a:t>by </a:t>
            </a:r>
            <a:r>
              <a:rPr sz="900" spc="-15" dirty="0">
                <a:latin typeface="Arial"/>
                <a:cs typeface="Arial"/>
              </a:rPr>
              <a:t>length, </a:t>
            </a:r>
            <a:r>
              <a:rPr sz="900" spc="-30" dirty="0">
                <a:latin typeface="Arial"/>
                <a:cs typeface="Arial"/>
              </a:rPr>
              <a:t>breaking </a:t>
            </a:r>
            <a:r>
              <a:rPr sz="900" spc="-25" dirty="0">
                <a:latin typeface="Arial"/>
                <a:cs typeface="Arial"/>
              </a:rPr>
              <a:t>ties</a:t>
            </a:r>
            <a:r>
              <a:rPr sz="900" spc="9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arbitrarily.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729189"/>
            <a:ext cx="2515235" cy="464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This </a:t>
            </a:r>
            <a:r>
              <a:rPr sz="900" spc="-20" dirty="0">
                <a:solidFill>
                  <a:srgbClr val="FF0000"/>
                </a:solidFill>
                <a:latin typeface="Arial"/>
                <a:cs typeface="Arial"/>
              </a:rPr>
              <a:t>strategy </a:t>
            </a:r>
            <a:r>
              <a:rPr sz="900" spc="-60" dirty="0">
                <a:solidFill>
                  <a:srgbClr val="FF0000"/>
                </a:solidFill>
                <a:latin typeface="Arial"/>
                <a:cs typeface="Arial"/>
              </a:rPr>
              <a:t>does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sz="900" spc="-40" dirty="0">
                <a:solidFill>
                  <a:srgbClr val="FF0000"/>
                </a:solidFill>
                <a:latin typeface="Arial"/>
                <a:cs typeface="Arial"/>
              </a:rPr>
              <a:t>lead </a:t>
            </a:r>
            <a:r>
              <a:rPr sz="900" spc="20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optimal</a:t>
            </a:r>
            <a:r>
              <a:rPr sz="900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FF0000"/>
                </a:solidFill>
                <a:latin typeface="Arial"/>
                <a:cs typeface="Arial"/>
              </a:rPr>
              <a:t>solution.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9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99614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247771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3507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80539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43886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1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69198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81449"/>
            <a:ext cx="1066165" cy="3708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2.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72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11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81254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3.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Least-conflict</a:t>
            </a:r>
            <a:r>
              <a:rPr sz="900" i="1" spc="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30" dirty="0">
                <a:latin typeface="Trebuchet MS"/>
                <a:cs typeface="Trebuchet MS"/>
              </a:rPr>
              <a:t>Shortest 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</a:t>
            </a:r>
            <a:r>
              <a:rPr sz="900" spc="-70" dirty="0">
                <a:latin typeface="Arial"/>
                <a:cs typeface="Arial"/>
              </a:rPr>
              <a:t>ones </a:t>
            </a:r>
            <a:r>
              <a:rPr sz="900" spc="-40" dirty="0">
                <a:latin typeface="Arial"/>
                <a:cs typeface="Arial"/>
              </a:rPr>
              <a:t>had </a:t>
            </a:r>
            <a:r>
              <a:rPr sz="900" spc="-45" dirty="0">
                <a:latin typeface="Arial"/>
                <a:cs typeface="Arial"/>
              </a:rPr>
              <a:t>more  </a:t>
            </a:r>
            <a:r>
              <a:rPr sz="900" spc="-15" dirty="0">
                <a:latin typeface="Arial"/>
                <a:cs typeface="Arial"/>
              </a:rPr>
              <a:t>conflicts, </a:t>
            </a:r>
            <a:r>
              <a:rPr sz="900" spc="-40" dirty="0">
                <a:latin typeface="Arial"/>
                <a:cs typeface="Arial"/>
              </a:rPr>
              <a:t>and </a:t>
            </a:r>
            <a:r>
              <a:rPr sz="900" spc="-25" dirty="0">
                <a:latin typeface="Arial"/>
                <a:cs typeface="Arial"/>
              </a:rPr>
              <a:t>ruled </a:t>
            </a:r>
            <a:r>
              <a:rPr sz="900" dirty="0">
                <a:latin typeface="Arial"/>
                <a:cs typeface="Arial"/>
              </a:rPr>
              <a:t>out </a:t>
            </a:r>
            <a:r>
              <a:rPr sz="900" spc="5" dirty="0">
                <a:latin typeface="Arial"/>
                <a:cs typeface="Arial"/>
              </a:rPr>
              <a:t>too </a:t>
            </a:r>
            <a:r>
              <a:rPr sz="900" spc="-35" dirty="0">
                <a:latin typeface="Arial"/>
                <a:cs typeface="Arial"/>
              </a:rPr>
              <a:t>many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5" dirty="0">
                <a:latin typeface="Arial"/>
                <a:cs typeface="Arial"/>
              </a:rPr>
              <a:t>in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204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596640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by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number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other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which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conflict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 marR="123189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2026902"/>
            <a:ext cx="4400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3236429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9194" y="2080539"/>
            <a:ext cx="4040403" cy="15834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23729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131323"/>
            <a:ext cx="50751" cy="1105106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32544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3"/>
            <a:ext cx="0" cy="1137285"/>
          </a:xfrm>
          <a:custGeom>
            <a:avLst/>
            <a:gdLst/>
            <a:ahLst/>
            <a:cxnLst/>
            <a:rect l="l" t="t" r="r" b="b"/>
            <a:pathLst>
              <a:path h="1137285">
                <a:moveTo>
                  <a:pt x="0" y="113685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57857"/>
            <a:ext cx="2721593" cy="81729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58771" y="3070108"/>
            <a:ext cx="1103630" cy="38227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spc="30" dirty="0">
                <a:latin typeface="Lucida Sans Unicode"/>
                <a:cs typeface="Lucida Sans Unicode"/>
              </a:rPr>
              <a:t>=???</a:t>
            </a:r>
            <a:r>
              <a:rPr sz="900" spc="3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81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81254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3.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Least-conflict</a:t>
            </a:r>
            <a:r>
              <a:rPr sz="900" i="1" spc="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30" dirty="0">
                <a:latin typeface="Trebuchet MS"/>
                <a:cs typeface="Trebuchet MS"/>
              </a:rPr>
              <a:t>Shortest 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</a:t>
            </a:r>
            <a:r>
              <a:rPr sz="900" spc="-70" dirty="0">
                <a:latin typeface="Arial"/>
                <a:cs typeface="Arial"/>
              </a:rPr>
              <a:t>ones </a:t>
            </a:r>
            <a:r>
              <a:rPr sz="900" spc="-40" dirty="0">
                <a:latin typeface="Arial"/>
                <a:cs typeface="Arial"/>
              </a:rPr>
              <a:t>had </a:t>
            </a:r>
            <a:r>
              <a:rPr sz="900" spc="-45" dirty="0">
                <a:latin typeface="Arial"/>
                <a:cs typeface="Arial"/>
              </a:rPr>
              <a:t>more  </a:t>
            </a:r>
            <a:r>
              <a:rPr sz="900" spc="-15" dirty="0">
                <a:latin typeface="Arial"/>
                <a:cs typeface="Arial"/>
              </a:rPr>
              <a:t>conflicts, </a:t>
            </a:r>
            <a:r>
              <a:rPr sz="900" spc="-40" dirty="0">
                <a:latin typeface="Arial"/>
                <a:cs typeface="Arial"/>
              </a:rPr>
              <a:t>and </a:t>
            </a:r>
            <a:r>
              <a:rPr sz="900" spc="-25" dirty="0">
                <a:latin typeface="Arial"/>
                <a:cs typeface="Arial"/>
              </a:rPr>
              <a:t>ruled </a:t>
            </a:r>
            <a:r>
              <a:rPr sz="900" dirty="0">
                <a:latin typeface="Arial"/>
                <a:cs typeface="Arial"/>
              </a:rPr>
              <a:t>out </a:t>
            </a:r>
            <a:r>
              <a:rPr sz="900" spc="5" dirty="0">
                <a:latin typeface="Arial"/>
                <a:cs typeface="Arial"/>
              </a:rPr>
              <a:t>too </a:t>
            </a:r>
            <a:r>
              <a:rPr sz="900" spc="-35" dirty="0">
                <a:latin typeface="Arial"/>
                <a:cs typeface="Arial"/>
              </a:rPr>
              <a:t>many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5" dirty="0">
                <a:latin typeface="Arial"/>
                <a:cs typeface="Arial"/>
              </a:rPr>
              <a:t>in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204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596640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by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number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other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which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conflict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 marR="123189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2031918"/>
            <a:ext cx="1962150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Shortest First</a:t>
            </a:r>
            <a:r>
              <a:rPr sz="900" i="1" spc="-14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99614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247771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3507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80539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43886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1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69198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81449"/>
            <a:ext cx="1066165" cy="3708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0" dirty="0">
                <a:latin typeface="Arial"/>
                <a:cs typeface="Arial"/>
              </a:rPr>
              <a:t>3.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72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81254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3.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Least-conflict</a:t>
            </a:r>
            <a:r>
              <a:rPr sz="900" i="1" spc="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30" dirty="0">
                <a:latin typeface="Trebuchet MS"/>
                <a:cs typeface="Trebuchet MS"/>
              </a:rPr>
              <a:t>Shortest 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</a:t>
            </a:r>
            <a:r>
              <a:rPr sz="900" spc="-70" dirty="0">
                <a:latin typeface="Arial"/>
                <a:cs typeface="Arial"/>
              </a:rPr>
              <a:t>ones </a:t>
            </a:r>
            <a:r>
              <a:rPr sz="900" spc="-40" dirty="0">
                <a:latin typeface="Arial"/>
                <a:cs typeface="Arial"/>
              </a:rPr>
              <a:t>had </a:t>
            </a:r>
            <a:r>
              <a:rPr sz="900" spc="-45" dirty="0">
                <a:latin typeface="Arial"/>
                <a:cs typeface="Arial"/>
              </a:rPr>
              <a:t>more  </a:t>
            </a:r>
            <a:r>
              <a:rPr sz="900" spc="-15" dirty="0">
                <a:latin typeface="Arial"/>
                <a:cs typeface="Arial"/>
              </a:rPr>
              <a:t>conflicts, </a:t>
            </a:r>
            <a:r>
              <a:rPr sz="900" spc="-40" dirty="0">
                <a:latin typeface="Arial"/>
                <a:cs typeface="Arial"/>
              </a:rPr>
              <a:t>and </a:t>
            </a:r>
            <a:r>
              <a:rPr sz="900" spc="-25" dirty="0">
                <a:latin typeface="Arial"/>
                <a:cs typeface="Arial"/>
              </a:rPr>
              <a:t>ruled </a:t>
            </a:r>
            <a:r>
              <a:rPr sz="900" dirty="0">
                <a:latin typeface="Arial"/>
                <a:cs typeface="Arial"/>
              </a:rPr>
              <a:t>out </a:t>
            </a:r>
            <a:r>
              <a:rPr sz="900" spc="5" dirty="0">
                <a:latin typeface="Arial"/>
                <a:cs typeface="Arial"/>
              </a:rPr>
              <a:t>too </a:t>
            </a:r>
            <a:r>
              <a:rPr sz="900" spc="-35" dirty="0">
                <a:latin typeface="Arial"/>
                <a:cs typeface="Arial"/>
              </a:rPr>
              <a:t>many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5" dirty="0">
                <a:latin typeface="Arial"/>
                <a:cs typeface="Arial"/>
              </a:rPr>
              <a:t>in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204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596640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by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number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other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which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conflict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 marR="123189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2031918"/>
            <a:ext cx="18116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900" spc="-1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99614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247771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3507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80539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43886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1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69198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81449"/>
            <a:ext cx="1066165" cy="3708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72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17613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7153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1848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85883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2637"/>
            <a:ext cx="50751" cy="12588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13859"/>
            <a:ext cx="3989704" cy="1209040"/>
          </a:xfrm>
          <a:custGeom>
            <a:avLst/>
            <a:gdLst/>
            <a:ahLst/>
            <a:cxnLst/>
            <a:rect l="l" t="t" r="r" b="b"/>
            <a:pathLst>
              <a:path w="3989704" h="1209039">
                <a:moveTo>
                  <a:pt x="3989652" y="0"/>
                </a:moveTo>
                <a:lnTo>
                  <a:pt x="0" y="0"/>
                </a:lnTo>
                <a:lnTo>
                  <a:pt x="0" y="1157676"/>
                </a:lnTo>
                <a:lnTo>
                  <a:pt x="4008" y="1177400"/>
                </a:lnTo>
                <a:lnTo>
                  <a:pt x="14922" y="1193553"/>
                </a:lnTo>
                <a:lnTo>
                  <a:pt x="31075" y="1204468"/>
                </a:lnTo>
                <a:lnTo>
                  <a:pt x="50800" y="1208476"/>
                </a:lnTo>
                <a:lnTo>
                  <a:pt x="3938852" y="1208476"/>
                </a:lnTo>
                <a:lnTo>
                  <a:pt x="3958576" y="1204468"/>
                </a:lnTo>
                <a:lnTo>
                  <a:pt x="3974729" y="1193553"/>
                </a:lnTo>
                <a:lnTo>
                  <a:pt x="3985644" y="1177400"/>
                </a:lnTo>
                <a:lnTo>
                  <a:pt x="3989652" y="1157676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599937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64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872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745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183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1407"/>
            <a:ext cx="3812540" cy="531495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3. </a:t>
            </a:r>
            <a:r>
              <a:rPr sz="900" i="1" spc="-35" dirty="0">
                <a:solidFill>
                  <a:srgbClr val="FFFFFF"/>
                </a:solidFill>
                <a:latin typeface="Trebuchet MS"/>
                <a:cs typeface="Trebuchet MS"/>
              </a:rPr>
              <a:t>Least-conflict</a:t>
            </a:r>
            <a:r>
              <a:rPr sz="900" i="1" spc="18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 marR="5080">
              <a:lnSpc>
                <a:spcPct val="101499"/>
              </a:lnSpc>
              <a:spcBef>
                <a:spcPts val="34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i="1" spc="-30" dirty="0">
                <a:latin typeface="Trebuchet MS"/>
                <a:cs typeface="Trebuchet MS"/>
              </a:rPr>
              <a:t>Shortest First </a:t>
            </a:r>
            <a:r>
              <a:rPr sz="900" spc="-20" dirty="0">
                <a:latin typeface="Arial"/>
                <a:cs typeface="Arial"/>
              </a:rPr>
              <a:t>strategy failed </a:t>
            </a:r>
            <a:r>
              <a:rPr sz="900" spc="-45" dirty="0">
                <a:latin typeface="Arial"/>
                <a:cs typeface="Arial"/>
              </a:rPr>
              <a:t>perhaps </a:t>
            </a:r>
            <a:r>
              <a:rPr sz="900" spc="-65" dirty="0">
                <a:latin typeface="Arial"/>
                <a:cs typeface="Arial"/>
              </a:rPr>
              <a:t>because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5" dirty="0">
                <a:latin typeface="Arial"/>
                <a:cs typeface="Arial"/>
              </a:rPr>
              <a:t>shorter </a:t>
            </a:r>
            <a:r>
              <a:rPr sz="900" spc="-70" dirty="0">
                <a:latin typeface="Arial"/>
                <a:cs typeface="Arial"/>
              </a:rPr>
              <a:t>ones </a:t>
            </a:r>
            <a:r>
              <a:rPr sz="900" spc="-40" dirty="0">
                <a:latin typeface="Arial"/>
                <a:cs typeface="Arial"/>
              </a:rPr>
              <a:t>had </a:t>
            </a:r>
            <a:r>
              <a:rPr sz="900" spc="-45" dirty="0">
                <a:latin typeface="Arial"/>
                <a:cs typeface="Arial"/>
              </a:rPr>
              <a:t>more  </a:t>
            </a:r>
            <a:r>
              <a:rPr sz="900" spc="-15" dirty="0">
                <a:latin typeface="Arial"/>
                <a:cs typeface="Arial"/>
              </a:rPr>
              <a:t>conflicts, </a:t>
            </a:r>
            <a:r>
              <a:rPr sz="900" spc="-40" dirty="0">
                <a:latin typeface="Arial"/>
                <a:cs typeface="Arial"/>
              </a:rPr>
              <a:t>and </a:t>
            </a:r>
            <a:r>
              <a:rPr sz="900" spc="-25" dirty="0">
                <a:latin typeface="Arial"/>
                <a:cs typeface="Arial"/>
              </a:rPr>
              <a:t>ruled </a:t>
            </a:r>
            <a:r>
              <a:rPr sz="900" dirty="0">
                <a:latin typeface="Arial"/>
                <a:cs typeface="Arial"/>
              </a:rPr>
              <a:t>out </a:t>
            </a:r>
            <a:r>
              <a:rPr sz="900" spc="5" dirty="0">
                <a:latin typeface="Arial"/>
                <a:cs typeface="Arial"/>
              </a:rPr>
              <a:t>too </a:t>
            </a:r>
            <a:r>
              <a:rPr sz="900" spc="-35" dirty="0">
                <a:latin typeface="Arial"/>
                <a:cs typeface="Arial"/>
              </a:rPr>
              <a:t>many </a:t>
            </a:r>
            <a:r>
              <a:rPr sz="900" spc="-20" dirty="0">
                <a:latin typeface="Arial"/>
                <a:cs typeface="Arial"/>
              </a:rPr>
              <a:t>intervals </a:t>
            </a:r>
            <a:r>
              <a:rPr sz="900" spc="-5" dirty="0">
                <a:latin typeface="Arial"/>
                <a:cs typeface="Arial"/>
              </a:rPr>
              <a:t>in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204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process.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105722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24700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1045748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575977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564492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967502"/>
            <a:ext cx="3596640" cy="734060"/>
          </a:xfrm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z="900" spc="-20" dirty="0">
                <a:latin typeface="Arial"/>
                <a:cs typeface="Arial"/>
              </a:rPr>
              <a:t>Sort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by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15" dirty="0">
                <a:latin typeface="Arial"/>
                <a:cs typeface="Arial"/>
              </a:rPr>
              <a:t>the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number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of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other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intervals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which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-5" dirty="0">
                <a:latin typeface="Arial"/>
                <a:cs typeface="Arial"/>
              </a:rPr>
              <a:t>conflict</a:t>
            </a:r>
            <a:r>
              <a:rPr sz="900" spc="65" dirty="0">
                <a:latin typeface="Arial"/>
                <a:cs typeface="Arial"/>
              </a:rPr>
              <a:t>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60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 marR="123189">
              <a:lnSpc>
                <a:spcPct val="101499"/>
              </a:lnSpc>
              <a:spcBef>
                <a:spcPts val="395"/>
              </a:spcBef>
            </a:pPr>
            <a:r>
              <a:rPr sz="900" spc="-10" dirty="0">
                <a:latin typeface="Arial"/>
                <a:cs typeface="Arial"/>
              </a:rPr>
              <a:t>Pick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first </a:t>
            </a:r>
            <a:r>
              <a:rPr sz="900" spc="-45" dirty="0">
                <a:latin typeface="Arial"/>
                <a:cs typeface="Arial"/>
              </a:rPr>
              <a:t>one, </a:t>
            </a:r>
            <a:r>
              <a:rPr sz="900" spc="-30" dirty="0">
                <a:latin typeface="Arial"/>
                <a:cs typeface="Arial"/>
              </a:rPr>
              <a:t>removing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5" dirty="0">
                <a:latin typeface="Arial"/>
                <a:cs typeface="Arial"/>
              </a:rPr>
              <a:t>from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35" dirty="0">
                <a:latin typeface="Arial"/>
                <a:cs typeface="Arial"/>
              </a:rPr>
              <a:t>along </a:t>
            </a:r>
            <a:r>
              <a:rPr sz="900" spc="10" dirty="0">
                <a:latin typeface="Arial"/>
                <a:cs typeface="Arial"/>
              </a:rPr>
              <a:t>with </a:t>
            </a:r>
            <a:r>
              <a:rPr sz="900" spc="-10" dirty="0">
                <a:latin typeface="Arial"/>
                <a:cs typeface="Arial"/>
              </a:rPr>
              <a:t>all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20" dirty="0">
                <a:latin typeface="Arial"/>
                <a:cs typeface="Arial"/>
              </a:rPr>
              <a:t>intervals 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5" dirty="0">
                <a:latin typeface="Arial"/>
                <a:cs typeface="Arial"/>
              </a:rPr>
              <a:t>conflict </a:t>
            </a:r>
            <a:r>
              <a:rPr sz="900" spc="10" dirty="0">
                <a:latin typeface="Arial"/>
                <a:cs typeface="Arial"/>
              </a:rPr>
              <a:t>with</a:t>
            </a:r>
            <a:r>
              <a:rPr sz="900" spc="145" dirty="0">
                <a:latin typeface="Arial"/>
                <a:cs typeface="Arial"/>
              </a:rPr>
              <a:t> </a:t>
            </a:r>
            <a:r>
              <a:rPr sz="900" spc="35" dirty="0">
                <a:latin typeface="Arial"/>
                <a:cs typeface="Arial"/>
              </a:rPr>
              <a:t>it.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z="900" spc="-40" dirty="0">
                <a:latin typeface="Arial"/>
                <a:cs typeface="Arial"/>
              </a:rPr>
              <a:t>Repeat </a:t>
            </a:r>
            <a:r>
              <a:rPr sz="900" spc="-35" dirty="0">
                <a:latin typeface="Arial"/>
                <a:cs typeface="Arial"/>
              </a:rPr>
              <a:t>Step </a:t>
            </a:r>
            <a:r>
              <a:rPr sz="900" spc="-20" dirty="0">
                <a:latin typeface="Arial"/>
                <a:cs typeface="Arial"/>
              </a:rPr>
              <a:t>2, </a:t>
            </a:r>
            <a:r>
              <a:rPr sz="900" spc="10" dirty="0">
                <a:latin typeface="Arial"/>
                <a:cs typeface="Arial"/>
              </a:rPr>
              <a:t>until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5" dirty="0">
                <a:latin typeface="Arial"/>
                <a:cs typeface="Arial"/>
              </a:rPr>
              <a:t>list </a:t>
            </a:r>
            <a:r>
              <a:rPr sz="900" spc="-40" dirty="0">
                <a:latin typeface="Arial"/>
                <a:cs typeface="Arial"/>
              </a:rPr>
              <a:t>is</a:t>
            </a:r>
            <a:r>
              <a:rPr sz="900" spc="5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empty.</a:t>
            </a:r>
            <a:endParaRPr sz="900">
              <a:latin typeface="Arial"/>
              <a:cs typeface="Arial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2036304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729189"/>
            <a:ext cx="2515235" cy="464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This </a:t>
            </a:r>
            <a:r>
              <a:rPr sz="900" spc="-20" dirty="0">
                <a:solidFill>
                  <a:srgbClr val="FF0000"/>
                </a:solidFill>
                <a:latin typeface="Arial"/>
                <a:cs typeface="Arial"/>
              </a:rPr>
              <a:t>strategy </a:t>
            </a:r>
            <a:r>
              <a:rPr sz="900" spc="-60" dirty="0">
                <a:solidFill>
                  <a:srgbClr val="FF0000"/>
                </a:solidFill>
                <a:latin typeface="Arial"/>
                <a:cs typeface="Arial"/>
              </a:rPr>
              <a:t>does </a:t>
            </a:r>
            <a:r>
              <a:rPr sz="900" dirty="0">
                <a:solidFill>
                  <a:srgbClr val="FF0000"/>
                </a:solidFill>
                <a:latin typeface="Arial"/>
                <a:cs typeface="Arial"/>
              </a:rPr>
              <a:t>not </a:t>
            </a:r>
            <a:r>
              <a:rPr sz="900" spc="-40" dirty="0">
                <a:solidFill>
                  <a:srgbClr val="FF0000"/>
                </a:solidFill>
                <a:latin typeface="Arial"/>
                <a:cs typeface="Arial"/>
              </a:rPr>
              <a:t>lead </a:t>
            </a:r>
            <a:r>
              <a:rPr sz="900" spc="20" dirty="0">
                <a:solidFill>
                  <a:srgbClr val="FF0000"/>
                </a:solidFill>
                <a:latin typeface="Arial"/>
                <a:cs typeface="Arial"/>
              </a:rPr>
              <a:t>to </a:t>
            </a:r>
            <a:r>
              <a:rPr sz="900" spc="-45" dirty="0">
                <a:solidFill>
                  <a:srgbClr val="FF0000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0000"/>
                </a:solidFill>
                <a:latin typeface="Arial"/>
                <a:cs typeface="Arial"/>
              </a:rPr>
              <a:t>optimal</a:t>
            </a:r>
            <a:r>
              <a:rPr sz="900" spc="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900" spc="-15" dirty="0">
                <a:solidFill>
                  <a:srgbClr val="FF0000"/>
                </a:solidFill>
                <a:latin typeface="Arial"/>
                <a:cs typeface="Arial"/>
              </a:rPr>
              <a:t>solution.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11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45" dirty="0">
                <a:solidFill>
                  <a:srgbClr val="FFFFFF"/>
                </a:solidFill>
                <a:latin typeface="Arial"/>
                <a:cs typeface="Arial"/>
              </a:rPr>
              <a:t>an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</a:t>
            </a:r>
            <a:r>
              <a:rPr sz="900" spc="-10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99614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247771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235070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80539"/>
            <a:ext cx="50751" cy="1167231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243886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118621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1059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932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805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69198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81449"/>
            <a:ext cx="1066165" cy="37084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72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12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28434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03908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72668"/>
            <a:ext cx="4040403" cy="1583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91207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23457"/>
            <a:ext cx="50751" cy="11804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24678"/>
            <a:ext cx="3989704" cy="1130300"/>
          </a:xfrm>
          <a:custGeom>
            <a:avLst/>
            <a:gdLst/>
            <a:ahLst/>
            <a:cxnLst/>
            <a:rect l="l" t="t" r="r" b="b"/>
            <a:pathLst>
              <a:path w="3989704" h="1130300">
                <a:moveTo>
                  <a:pt x="3989652" y="0"/>
                </a:moveTo>
                <a:lnTo>
                  <a:pt x="0" y="0"/>
                </a:lnTo>
                <a:lnTo>
                  <a:pt x="0" y="1079229"/>
                </a:lnTo>
                <a:lnTo>
                  <a:pt x="4008" y="1098953"/>
                </a:lnTo>
                <a:lnTo>
                  <a:pt x="14922" y="1115106"/>
                </a:lnTo>
                <a:lnTo>
                  <a:pt x="31075" y="1126020"/>
                </a:lnTo>
                <a:lnTo>
                  <a:pt x="50800" y="1130029"/>
                </a:lnTo>
                <a:lnTo>
                  <a:pt x="3938852" y="1130029"/>
                </a:lnTo>
                <a:lnTo>
                  <a:pt x="3958576" y="1126020"/>
                </a:lnTo>
                <a:lnTo>
                  <a:pt x="3974729" y="1115106"/>
                </a:lnTo>
                <a:lnTo>
                  <a:pt x="3985644" y="1098953"/>
                </a:lnTo>
                <a:lnTo>
                  <a:pt x="3989652" y="107922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10757"/>
            <a:ext cx="0" cy="1212215"/>
          </a:xfrm>
          <a:custGeom>
            <a:avLst/>
            <a:gdLst/>
            <a:ahLst/>
            <a:cxnLst/>
            <a:rect l="l" t="t" r="r" b="b"/>
            <a:pathLst>
              <a:path h="1212214">
                <a:moveTo>
                  <a:pt x="0" y="121220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9805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8535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72657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72227"/>
            <a:ext cx="2715260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4.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35" dirty="0">
                <a:latin typeface="Arial"/>
                <a:cs typeface="Arial"/>
              </a:rPr>
              <a:t>free </a:t>
            </a:r>
            <a:r>
              <a:rPr sz="900" spc="-30" dirty="0">
                <a:latin typeface="Arial"/>
                <a:cs typeface="Arial"/>
              </a:rPr>
              <a:t>up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28862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1865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17389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47619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3614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5" dirty="0"/>
              <a:t>the </a:t>
            </a:r>
            <a:r>
              <a:rPr spc="-20" dirty="0"/>
              <a:t>finishing </a:t>
            </a:r>
            <a:r>
              <a:rPr dirty="0"/>
              <a:t>time, </a:t>
            </a:r>
            <a:r>
              <a:rPr spc="-30" dirty="0"/>
              <a:t>breaking </a:t>
            </a:r>
            <a:r>
              <a:rPr spc="-25" dirty="0"/>
              <a:t>ties</a:t>
            </a:r>
            <a:r>
              <a:rPr spc="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09193" y="1984908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975518"/>
            <a:ext cx="44005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3185045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09194" y="2029155"/>
            <a:ext cx="4040403" cy="1583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172345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79938"/>
            <a:ext cx="50751" cy="1105106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181160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067239"/>
            <a:ext cx="0" cy="1137285"/>
          </a:xfrm>
          <a:custGeom>
            <a:avLst/>
            <a:gdLst/>
            <a:ahLst/>
            <a:cxnLst/>
            <a:rect l="l" t="t" r="r" b="b"/>
            <a:pathLst>
              <a:path h="1137285">
                <a:moveTo>
                  <a:pt x="0" y="1136856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054539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4183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2913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06473"/>
            <a:ext cx="2721593" cy="81729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58771" y="3018724"/>
            <a:ext cx="1103630" cy="433705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spc="30" dirty="0">
                <a:latin typeface="Lucida Sans Unicode"/>
                <a:cs typeface="Lucida Sans Unicode"/>
              </a:rPr>
              <a:t>=???</a:t>
            </a:r>
            <a:r>
              <a:rPr sz="900" spc="30" dirty="0">
                <a:latin typeface="Arial"/>
                <a:cs typeface="Arial"/>
              </a:rPr>
              <a:t>.</a:t>
            </a:r>
            <a:endParaRPr sz="900" dirty="0">
              <a:latin typeface="Arial"/>
              <a:cs typeface="Arial"/>
            </a:endParaRPr>
          </a:p>
          <a:p>
            <a:pPr marL="353060">
              <a:lnSpc>
                <a:spcPct val="100000"/>
              </a:lnSpc>
              <a:spcBef>
                <a:spcPts val="1220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24662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00123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8896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8742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9672"/>
            <a:ext cx="50751" cy="11804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20894"/>
            <a:ext cx="3989704" cy="1130300"/>
          </a:xfrm>
          <a:custGeom>
            <a:avLst/>
            <a:gdLst/>
            <a:ahLst/>
            <a:cxnLst/>
            <a:rect l="l" t="t" r="r" b="b"/>
            <a:pathLst>
              <a:path w="3989704" h="1130300">
                <a:moveTo>
                  <a:pt x="3989652" y="0"/>
                </a:moveTo>
                <a:lnTo>
                  <a:pt x="0" y="0"/>
                </a:lnTo>
                <a:lnTo>
                  <a:pt x="0" y="1079229"/>
                </a:lnTo>
                <a:lnTo>
                  <a:pt x="4008" y="1098953"/>
                </a:lnTo>
                <a:lnTo>
                  <a:pt x="14922" y="1115106"/>
                </a:lnTo>
                <a:lnTo>
                  <a:pt x="31075" y="1126020"/>
                </a:lnTo>
                <a:lnTo>
                  <a:pt x="50800" y="1130029"/>
                </a:lnTo>
                <a:lnTo>
                  <a:pt x="3938852" y="1130029"/>
                </a:lnTo>
                <a:lnTo>
                  <a:pt x="3958576" y="1126020"/>
                </a:lnTo>
                <a:lnTo>
                  <a:pt x="3974729" y="1115106"/>
                </a:lnTo>
                <a:lnTo>
                  <a:pt x="3985644" y="1098953"/>
                </a:lnTo>
                <a:lnTo>
                  <a:pt x="3989652" y="107922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06972"/>
            <a:ext cx="0" cy="1212215"/>
          </a:xfrm>
          <a:custGeom>
            <a:avLst/>
            <a:gdLst/>
            <a:ahLst/>
            <a:cxnLst/>
            <a:rect l="l" t="t" r="r" b="b"/>
            <a:pathLst>
              <a:path h="1212214">
                <a:moveTo>
                  <a:pt x="0" y="121220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942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815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88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8443"/>
            <a:ext cx="2715260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4.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35" dirty="0">
                <a:latin typeface="Arial"/>
                <a:cs typeface="Arial"/>
              </a:rPr>
              <a:t>free </a:t>
            </a:r>
            <a:r>
              <a:rPr sz="900" spc="-30" dirty="0">
                <a:latin typeface="Arial"/>
                <a:cs typeface="Arial"/>
              </a:rPr>
              <a:t>up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2509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14878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13605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43847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32361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5" dirty="0"/>
              <a:t>the </a:t>
            </a:r>
            <a:r>
              <a:rPr spc="-20" dirty="0"/>
              <a:t>finishing </a:t>
            </a:r>
            <a:r>
              <a:rPr dirty="0"/>
              <a:t>time, </a:t>
            </a:r>
            <a:r>
              <a:rPr spc="-30" dirty="0"/>
              <a:t>breaking </a:t>
            </a:r>
            <a:r>
              <a:rPr spc="-25" dirty="0"/>
              <a:t>ties</a:t>
            </a:r>
            <a:r>
              <a:rPr spc="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09193" y="1975459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971085"/>
            <a:ext cx="22536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sz="900" i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2138781"/>
            <a:ext cx="3989651" cy="506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3186938"/>
            <a:ext cx="101600" cy="101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317423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2019693"/>
            <a:ext cx="50751" cy="11672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2183052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2057788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20450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20323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20196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962710" y="2208365"/>
            <a:ext cx="2721593" cy="8172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2096147" y="3020616"/>
            <a:ext cx="1066165" cy="4318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120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39" name="object 3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24662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00123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8896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8742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9672"/>
            <a:ext cx="50751" cy="11804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20894"/>
            <a:ext cx="3989704" cy="1130300"/>
          </a:xfrm>
          <a:custGeom>
            <a:avLst/>
            <a:gdLst/>
            <a:ahLst/>
            <a:cxnLst/>
            <a:rect l="l" t="t" r="r" b="b"/>
            <a:pathLst>
              <a:path w="3989704" h="1130300">
                <a:moveTo>
                  <a:pt x="3989652" y="0"/>
                </a:moveTo>
                <a:lnTo>
                  <a:pt x="0" y="0"/>
                </a:lnTo>
                <a:lnTo>
                  <a:pt x="0" y="1079229"/>
                </a:lnTo>
                <a:lnTo>
                  <a:pt x="4008" y="1098953"/>
                </a:lnTo>
                <a:lnTo>
                  <a:pt x="14922" y="1115106"/>
                </a:lnTo>
                <a:lnTo>
                  <a:pt x="31075" y="1126020"/>
                </a:lnTo>
                <a:lnTo>
                  <a:pt x="50800" y="1130029"/>
                </a:lnTo>
                <a:lnTo>
                  <a:pt x="3938852" y="1130029"/>
                </a:lnTo>
                <a:lnTo>
                  <a:pt x="3958576" y="1126020"/>
                </a:lnTo>
                <a:lnTo>
                  <a:pt x="3974729" y="1115106"/>
                </a:lnTo>
                <a:lnTo>
                  <a:pt x="3985644" y="1098953"/>
                </a:lnTo>
                <a:lnTo>
                  <a:pt x="3989652" y="107922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06972"/>
            <a:ext cx="0" cy="1212215"/>
          </a:xfrm>
          <a:custGeom>
            <a:avLst/>
            <a:gdLst/>
            <a:ahLst/>
            <a:cxnLst/>
            <a:rect l="l" t="t" r="r" b="b"/>
            <a:pathLst>
              <a:path h="1212214">
                <a:moveTo>
                  <a:pt x="0" y="121220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942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815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88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8443"/>
            <a:ext cx="2715260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4.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35" dirty="0">
                <a:latin typeface="Arial"/>
                <a:cs typeface="Arial"/>
              </a:rPr>
              <a:t>free </a:t>
            </a:r>
            <a:r>
              <a:rPr sz="900" spc="-30" dirty="0">
                <a:latin typeface="Arial"/>
                <a:cs typeface="Arial"/>
              </a:rPr>
              <a:t>up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2509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14878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13605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43847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32361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5" dirty="0"/>
              <a:t>the </a:t>
            </a:r>
            <a:r>
              <a:rPr spc="-20" dirty="0"/>
              <a:t>finishing </a:t>
            </a:r>
            <a:r>
              <a:rPr dirty="0"/>
              <a:t>time, </a:t>
            </a:r>
            <a:r>
              <a:rPr spc="-30" dirty="0"/>
              <a:t>breaking </a:t>
            </a:r>
            <a:r>
              <a:rPr spc="-25" dirty="0"/>
              <a:t>ties</a:t>
            </a:r>
            <a:r>
              <a:rPr spc="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65061" y="1624304"/>
            <a:ext cx="3487420" cy="177165"/>
          </a:xfrm>
          <a:custGeom>
            <a:avLst/>
            <a:gdLst/>
            <a:ahLst/>
            <a:cxnLst/>
            <a:rect l="l" t="t" r="r" b="b"/>
            <a:pathLst>
              <a:path w="3487420" h="177164">
                <a:moveTo>
                  <a:pt x="0" y="177139"/>
                </a:moveTo>
                <a:lnTo>
                  <a:pt x="3487178" y="177139"/>
                </a:lnTo>
                <a:lnTo>
                  <a:pt x="3487178" y="0"/>
                </a:lnTo>
                <a:lnTo>
                  <a:pt x="0" y="0"/>
                </a:lnTo>
                <a:lnTo>
                  <a:pt x="0" y="177139"/>
                </a:lnTo>
                <a:close/>
              </a:path>
            </a:pathLst>
          </a:custGeom>
          <a:solidFill>
            <a:srgbClr val="FFF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90321" y="1614774"/>
            <a:ext cx="176974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This </a:t>
            </a:r>
            <a:r>
              <a:rPr sz="900" spc="-20" dirty="0">
                <a:latin typeface="Arial"/>
                <a:cs typeface="Arial"/>
              </a:rPr>
              <a:t>strategy </a:t>
            </a:r>
            <a:r>
              <a:rPr sz="900" spc="-40" dirty="0">
                <a:latin typeface="Arial"/>
                <a:cs typeface="Arial"/>
              </a:rPr>
              <a:t>is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55" dirty="0">
                <a:latin typeface="Arial"/>
                <a:cs typeface="Arial"/>
              </a:rPr>
              <a:t>one </a:t>
            </a:r>
            <a:r>
              <a:rPr sz="900" spc="20" dirty="0">
                <a:latin typeface="Arial"/>
                <a:cs typeface="Arial"/>
              </a:rPr>
              <a:t>that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works.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1621777"/>
            <a:ext cx="3497579" cy="0"/>
          </a:xfrm>
          <a:custGeom>
            <a:avLst/>
            <a:gdLst/>
            <a:ahLst/>
            <a:cxnLst/>
            <a:rect l="l" t="t" r="r" b="b"/>
            <a:pathLst>
              <a:path w="3497579">
                <a:moveTo>
                  <a:pt x="0" y="0"/>
                </a:moveTo>
                <a:lnTo>
                  <a:pt x="349730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2534" y="1621777"/>
            <a:ext cx="0" cy="182245"/>
          </a:xfrm>
          <a:custGeom>
            <a:avLst/>
            <a:gdLst/>
            <a:ahLst/>
            <a:cxnLst/>
            <a:rect l="l" t="t" r="r" b="b"/>
            <a:pathLst>
              <a:path h="182244">
                <a:moveTo>
                  <a:pt x="0" y="182194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854767" y="1621777"/>
            <a:ext cx="0" cy="182245"/>
          </a:xfrm>
          <a:custGeom>
            <a:avLst/>
            <a:gdLst/>
            <a:ahLst/>
            <a:cxnLst/>
            <a:rect l="l" t="t" r="r" b="b"/>
            <a:pathLst>
              <a:path h="182244">
                <a:moveTo>
                  <a:pt x="0" y="182194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9994" y="1803971"/>
            <a:ext cx="3497579" cy="0"/>
          </a:xfrm>
          <a:custGeom>
            <a:avLst/>
            <a:gdLst/>
            <a:ahLst/>
            <a:cxnLst/>
            <a:rect l="l" t="t" r="r" b="b"/>
            <a:pathLst>
              <a:path w="3497579">
                <a:moveTo>
                  <a:pt x="0" y="0"/>
                </a:moveTo>
                <a:lnTo>
                  <a:pt x="349730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75459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47294" y="1971085"/>
            <a:ext cx="22536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sz="900" i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09194" y="2138781"/>
            <a:ext cx="3989651" cy="506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9994" y="3186938"/>
            <a:ext cx="101600" cy="101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0794" y="317423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98846" y="2019693"/>
            <a:ext cx="50751" cy="11672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9193" y="2183052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98846" y="2057788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98846" y="20450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98846" y="20323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298846" y="20196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62710" y="2208365"/>
            <a:ext cx="2721593" cy="8172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096147" y="3020616"/>
            <a:ext cx="1066165" cy="4318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120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5" dirty="0"/>
              <a:t>Designing </a:t>
            </a:r>
            <a:r>
              <a:rPr dirty="0"/>
              <a:t>a </a:t>
            </a:r>
            <a:r>
              <a:rPr spc="-25" dirty="0"/>
              <a:t>greedy </a:t>
            </a:r>
            <a:r>
              <a:rPr spc="-5" dirty="0"/>
              <a:t>algorithm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524662"/>
            <a:ext cx="3989704" cy="165100"/>
          </a:xfrm>
          <a:custGeom>
            <a:avLst/>
            <a:gdLst/>
            <a:ahLst/>
            <a:cxnLst/>
            <a:rect l="l" t="t" r="r" b="b"/>
            <a:pathLst>
              <a:path w="3989704" h="16510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64627"/>
                </a:lnTo>
                <a:lnTo>
                  <a:pt x="3989652" y="164627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1800123"/>
            <a:ext cx="101600" cy="10160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568896"/>
            <a:ext cx="4040403" cy="15834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78742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619672"/>
            <a:ext cx="50751" cy="118045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720894"/>
            <a:ext cx="3989704" cy="1130300"/>
          </a:xfrm>
          <a:custGeom>
            <a:avLst/>
            <a:gdLst/>
            <a:ahLst/>
            <a:cxnLst/>
            <a:rect l="l" t="t" r="r" b="b"/>
            <a:pathLst>
              <a:path w="3989704" h="1130300">
                <a:moveTo>
                  <a:pt x="3989652" y="0"/>
                </a:moveTo>
                <a:lnTo>
                  <a:pt x="0" y="0"/>
                </a:lnTo>
                <a:lnTo>
                  <a:pt x="0" y="1079229"/>
                </a:lnTo>
                <a:lnTo>
                  <a:pt x="4008" y="1098953"/>
                </a:lnTo>
                <a:lnTo>
                  <a:pt x="14922" y="1115106"/>
                </a:lnTo>
                <a:lnTo>
                  <a:pt x="31075" y="1126020"/>
                </a:lnTo>
                <a:lnTo>
                  <a:pt x="50800" y="1130029"/>
                </a:lnTo>
                <a:lnTo>
                  <a:pt x="3938852" y="1130029"/>
                </a:lnTo>
                <a:lnTo>
                  <a:pt x="3958576" y="1126020"/>
                </a:lnTo>
                <a:lnTo>
                  <a:pt x="3974729" y="1115106"/>
                </a:lnTo>
                <a:lnTo>
                  <a:pt x="3985644" y="1098953"/>
                </a:lnTo>
                <a:lnTo>
                  <a:pt x="3989652" y="107922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606972"/>
            <a:ext cx="0" cy="1212215"/>
          </a:xfrm>
          <a:custGeom>
            <a:avLst/>
            <a:gdLst/>
            <a:ahLst/>
            <a:cxnLst/>
            <a:rect l="l" t="t" r="r" b="b"/>
            <a:pathLst>
              <a:path h="1212214">
                <a:moveTo>
                  <a:pt x="0" y="1212200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942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815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6887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47294" y="468443"/>
            <a:ext cx="2715260" cy="392430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65"/>
              </a:spcBef>
            </a:pPr>
            <a:r>
              <a:rPr sz="900" spc="-20" dirty="0">
                <a:solidFill>
                  <a:srgbClr val="FFFFFF"/>
                </a:solidFill>
                <a:latin typeface="Arial"/>
                <a:cs typeface="Arial"/>
              </a:rPr>
              <a:t>Strategy 4.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</a:t>
            </a:r>
            <a:r>
              <a:rPr sz="900" i="1" spc="18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endParaRPr sz="90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0" dirty="0">
                <a:latin typeface="Arial"/>
                <a:cs typeface="Arial"/>
              </a:rPr>
              <a:t>idea is </a:t>
            </a:r>
            <a:r>
              <a:rPr sz="900" spc="20" dirty="0">
                <a:latin typeface="Arial"/>
                <a:cs typeface="Arial"/>
              </a:rPr>
              <a:t>to </a:t>
            </a:r>
            <a:r>
              <a:rPr sz="900" spc="-35" dirty="0">
                <a:latin typeface="Arial"/>
                <a:cs typeface="Arial"/>
              </a:rPr>
              <a:t>free </a:t>
            </a:r>
            <a:r>
              <a:rPr sz="900" spc="-30" dirty="0">
                <a:latin typeface="Arial"/>
                <a:cs typeface="Arial"/>
              </a:rPr>
              <a:t>up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45" dirty="0">
                <a:latin typeface="Arial"/>
                <a:cs typeface="Arial"/>
              </a:rPr>
              <a:t>resource </a:t>
            </a:r>
            <a:r>
              <a:rPr sz="900" spc="-80" dirty="0">
                <a:latin typeface="Arial"/>
                <a:cs typeface="Arial"/>
              </a:rPr>
              <a:t>as </a:t>
            </a:r>
            <a:r>
              <a:rPr sz="900" spc="-35" dirty="0">
                <a:latin typeface="Arial"/>
                <a:cs typeface="Arial"/>
              </a:rPr>
              <a:t>early </a:t>
            </a:r>
            <a:r>
              <a:rPr sz="900" spc="-80" dirty="0">
                <a:latin typeface="Arial"/>
                <a:cs typeface="Arial"/>
              </a:rPr>
              <a:t>as</a:t>
            </a:r>
            <a:r>
              <a:rPr sz="900" spc="-7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possible.</a:t>
            </a:r>
            <a:endParaRPr sz="9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460095" y="925090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460095" y="1114878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/>
          <p:nvPr/>
        </p:nvSpPr>
        <p:spPr>
          <a:xfrm>
            <a:off x="483628" y="913605"/>
            <a:ext cx="67310" cy="306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6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60095" y="1443847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83628" y="1432361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15"/>
              </a:spcBef>
            </a:pPr>
            <a:r>
              <a:rPr spc="-20" dirty="0"/>
              <a:t>Sort </a:t>
            </a:r>
            <a:r>
              <a:rPr spc="-15" dirty="0"/>
              <a:t>the </a:t>
            </a:r>
            <a:r>
              <a:rPr spc="-20" dirty="0"/>
              <a:t>intervals </a:t>
            </a:r>
            <a:r>
              <a:rPr spc="-40" dirty="0"/>
              <a:t>by </a:t>
            </a:r>
            <a:r>
              <a:rPr spc="-15" dirty="0"/>
              <a:t>the </a:t>
            </a:r>
            <a:r>
              <a:rPr spc="-20" dirty="0"/>
              <a:t>finishing </a:t>
            </a:r>
            <a:r>
              <a:rPr dirty="0"/>
              <a:t>time, </a:t>
            </a:r>
            <a:r>
              <a:rPr spc="-30" dirty="0"/>
              <a:t>breaking </a:t>
            </a:r>
            <a:r>
              <a:rPr spc="-25" dirty="0"/>
              <a:t>ties</a:t>
            </a:r>
            <a:r>
              <a:rPr spc="5" dirty="0"/>
              <a:t> </a:t>
            </a:r>
            <a:r>
              <a:rPr spc="-10" dirty="0"/>
              <a:t>arbitrarily.</a:t>
            </a:r>
          </a:p>
          <a:p>
            <a:pPr marL="12700" marR="5080">
              <a:lnSpc>
                <a:spcPct val="101499"/>
              </a:lnSpc>
              <a:spcBef>
                <a:spcPts val="395"/>
              </a:spcBef>
            </a:pPr>
            <a:r>
              <a:rPr spc="-10" dirty="0"/>
              <a:t>Pick </a:t>
            </a:r>
            <a:r>
              <a:rPr spc="-15" dirty="0"/>
              <a:t>the </a:t>
            </a:r>
            <a:r>
              <a:rPr spc="5" dirty="0"/>
              <a:t>first </a:t>
            </a:r>
            <a:r>
              <a:rPr spc="-45" dirty="0"/>
              <a:t>one, </a:t>
            </a:r>
            <a:r>
              <a:rPr spc="-30" dirty="0"/>
              <a:t>removing </a:t>
            </a:r>
            <a:r>
              <a:rPr spc="50" dirty="0"/>
              <a:t>it </a:t>
            </a:r>
            <a:r>
              <a:rPr spc="-5" dirty="0"/>
              <a:t>from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35" dirty="0"/>
              <a:t>along </a:t>
            </a:r>
            <a:r>
              <a:rPr spc="10" dirty="0"/>
              <a:t>with </a:t>
            </a:r>
            <a:r>
              <a:rPr spc="-10" dirty="0"/>
              <a:t>all </a:t>
            </a:r>
            <a:r>
              <a:rPr spc="-15" dirty="0"/>
              <a:t>the </a:t>
            </a:r>
            <a:r>
              <a:rPr spc="-20" dirty="0"/>
              <a:t>intervals  </a:t>
            </a:r>
            <a:r>
              <a:rPr spc="20" dirty="0"/>
              <a:t>that </a:t>
            </a:r>
            <a:r>
              <a:rPr spc="-5" dirty="0"/>
              <a:t>conflict </a:t>
            </a:r>
            <a:r>
              <a:rPr spc="10" dirty="0"/>
              <a:t>with</a:t>
            </a:r>
            <a:r>
              <a:rPr spc="145" dirty="0"/>
              <a:t> </a:t>
            </a:r>
            <a:r>
              <a:rPr spc="35" dirty="0"/>
              <a:t>it.</a:t>
            </a:r>
          </a:p>
          <a:p>
            <a:pPr marL="12700">
              <a:lnSpc>
                <a:spcPct val="100000"/>
              </a:lnSpc>
              <a:spcBef>
                <a:spcPts val="415"/>
              </a:spcBef>
            </a:pPr>
            <a:r>
              <a:rPr spc="-40" dirty="0"/>
              <a:t>Repeat </a:t>
            </a:r>
            <a:r>
              <a:rPr spc="-35" dirty="0"/>
              <a:t>Step </a:t>
            </a:r>
            <a:r>
              <a:rPr spc="-20" dirty="0"/>
              <a:t>2, </a:t>
            </a:r>
            <a:r>
              <a:rPr spc="10" dirty="0"/>
              <a:t>until </a:t>
            </a:r>
            <a:r>
              <a:rPr spc="-15" dirty="0"/>
              <a:t>the </a:t>
            </a:r>
            <a:r>
              <a:rPr spc="5" dirty="0"/>
              <a:t>list </a:t>
            </a:r>
            <a:r>
              <a:rPr spc="-40" dirty="0"/>
              <a:t>is</a:t>
            </a:r>
            <a:r>
              <a:rPr spc="50" dirty="0"/>
              <a:t> </a:t>
            </a:r>
            <a:r>
              <a:rPr spc="-35" dirty="0"/>
              <a:t>empty.</a:t>
            </a:r>
          </a:p>
        </p:txBody>
      </p:sp>
      <p:sp>
        <p:nvSpPr>
          <p:cNvPr id="23" name="object 23"/>
          <p:cNvSpPr/>
          <p:nvPr/>
        </p:nvSpPr>
        <p:spPr>
          <a:xfrm>
            <a:off x="365061" y="1624304"/>
            <a:ext cx="3487420" cy="177165"/>
          </a:xfrm>
          <a:custGeom>
            <a:avLst/>
            <a:gdLst/>
            <a:ahLst/>
            <a:cxnLst/>
            <a:rect l="l" t="t" r="r" b="b"/>
            <a:pathLst>
              <a:path w="3487420" h="177164">
                <a:moveTo>
                  <a:pt x="0" y="177139"/>
                </a:moveTo>
                <a:lnTo>
                  <a:pt x="3487178" y="177139"/>
                </a:lnTo>
                <a:lnTo>
                  <a:pt x="3487178" y="0"/>
                </a:lnTo>
                <a:lnTo>
                  <a:pt x="0" y="0"/>
                </a:lnTo>
                <a:lnTo>
                  <a:pt x="0" y="177139"/>
                </a:lnTo>
                <a:close/>
              </a:path>
            </a:pathLst>
          </a:custGeom>
          <a:solidFill>
            <a:srgbClr val="FFF2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90321" y="1614774"/>
            <a:ext cx="3437254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" dirty="0">
                <a:latin typeface="Arial"/>
                <a:cs typeface="Arial"/>
              </a:rPr>
              <a:t>This </a:t>
            </a:r>
            <a:r>
              <a:rPr sz="900" spc="-20" dirty="0">
                <a:latin typeface="Arial"/>
                <a:cs typeface="Arial"/>
              </a:rPr>
              <a:t>strategy </a:t>
            </a:r>
            <a:r>
              <a:rPr sz="900" spc="-40" dirty="0">
                <a:latin typeface="Arial"/>
                <a:cs typeface="Arial"/>
              </a:rPr>
              <a:t>is </a:t>
            </a:r>
            <a:r>
              <a:rPr sz="900" spc="-15" dirty="0">
                <a:latin typeface="Arial"/>
                <a:cs typeface="Arial"/>
              </a:rPr>
              <a:t>the </a:t>
            </a:r>
            <a:r>
              <a:rPr sz="900" spc="-55" dirty="0">
                <a:latin typeface="Arial"/>
                <a:cs typeface="Arial"/>
              </a:rPr>
              <a:t>one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-35" dirty="0">
                <a:latin typeface="Arial"/>
                <a:cs typeface="Arial"/>
              </a:rPr>
              <a:t>works. </a:t>
            </a:r>
            <a:r>
              <a:rPr sz="900" spc="20" dirty="0">
                <a:latin typeface="Arial"/>
                <a:cs typeface="Arial"/>
              </a:rPr>
              <a:t>But </a:t>
            </a:r>
            <a:r>
              <a:rPr sz="900" spc="-45" dirty="0">
                <a:latin typeface="Arial"/>
                <a:cs typeface="Arial"/>
              </a:rPr>
              <a:t>can you </a:t>
            </a:r>
            <a:r>
              <a:rPr sz="900" spc="-40" dirty="0">
                <a:latin typeface="Arial"/>
                <a:cs typeface="Arial"/>
              </a:rPr>
              <a:t>prove</a:t>
            </a:r>
            <a:r>
              <a:rPr sz="900" spc="-50" dirty="0">
                <a:latin typeface="Arial"/>
                <a:cs typeface="Arial"/>
              </a:rPr>
              <a:t> </a:t>
            </a:r>
            <a:r>
              <a:rPr sz="900" spc="20" dirty="0">
                <a:latin typeface="Arial"/>
                <a:cs typeface="Arial"/>
              </a:rPr>
              <a:t>that </a:t>
            </a:r>
            <a:r>
              <a:rPr sz="900" spc="50" dirty="0">
                <a:latin typeface="Arial"/>
                <a:cs typeface="Arial"/>
              </a:rPr>
              <a:t>it </a:t>
            </a:r>
            <a:r>
              <a:rPr sz="900" spc="-45" dirty="0">
                <a:latin typeface="Arial"/>
                <a:cs typeface="Arial"/>
              </a:rPr>
              <a:t>works?</a:t>
            </a:r>
            <a:endParaRPr sz="900">
              <a:latin typeface="Arial"/>
              <a:cs typeface="Aria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9994" y="1621777"/>
            <a:ext cx="3497579" cy="0"/>
          </a:xfrm>
          <a:custGeom>
            <a:avLst/>
            <a:gdLst/>
            <a:ahLst/>
            <a:cxnLst/>
            <a:rect l="l" t="t" r="r" b="b"/>
            <a:pathLst>
              <a:path w="3497579">
                <a:moveTo>
                  <a:pt x="0" y="0"/>
                </a:moveTo>
                <a:lnTo>
                  <a:pt x="349730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62534" y="1621777"/>
            <a:ext cx="0" cy="182245"/>
          </a:xfrm>
          <a:custGeom>
            <a:avLst/>
            <a:gdLst/>
            <a:ahLst/>
            <a:cxnLst/>
            <a:rect l="l" t="t" r="r" b="b"/>
            <a:pathLst>
              <a:path h="182244">
                <a:moveTo>
                  <a:pt x="0" y="182194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3854767" y="1621777"/>
            <a:ext cx="0" cy="182245"/>
          </a:xfrm>
          <a:custGeom>
            <a:avLst/>
            <a:gdLst/>
            <a:ahLst/>
            <a:cxnLst/>
            <a:rect l="l" t="t" r="r" b="b"/>
            <a:pathLst>
              <a:path h="182244">
                <a:moveTo>
                  <a:pt x="0" y="182194"/>
                </a:moveTo>
                <a:lnTo>
                  <a:pt x="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359994" y="1803971"/>
            <a:ext cx="3497579" cy="0"/>
          </a:xfrm>
          <a:custGeom>
            <a:avLst/>
            <a:gdLst/>
            <a:ahLst/>
            <a:cxnLst/>
            <a:rect l="l" t="t" r="r" b="b"/>
            <a:pathLst>
              <a:path w="3497579">
                <a:moveTo>
                  <a:pt x="0" y="0"/>
                </a:moveTo>
                <a:lnTo>
                  <a:pt x="3497300" y="0"/>
                </a:lnTo>
              </a:path>
            </a:pathLst>
          </a:custGeom>
          <a:ln w="5054">
            <a:solidFill>
              <a:srgbClr val="0000F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75459"/>
            <a:ext cx="3989704" cy="176530"/>
          </a:xfrm>
          <a:custGeom>
            <a:avLst/>
            <a:gdLst/>
            <a:ahLst/>
            <a:cxnLst/>
            <a:rect l="l" t="t" r="r" b="b"/>
            <a:pathLst>
              <a:path w="3989704" h="17653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5970"/>
                </a:lnTo>
                <a:lnTo>
                  <a:pt x="3989652" y="175970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347294" y="1971085"/>
            <a:ext cx="225361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35" dirty="0">
                <a:solidFill>
                  <a:srgbClr val="FFFFFF"/>
                </a:solidFill>
                <a:latin typeface="Arial"/>
                <a:cs typeface="Arial"/>
              </a:rPr>
              <a:t>Example </a:t>
            </a:r>
            <a:r>
              <a:rPr sz="900" spc="-25" dirty="0">
                <a:solidFill>
                  <a:srgbClr val="FFFFFF"/>
                </a:solidFill>
                <a:latin typeface="Arial"/>
                <a:cs typeface="Arial"/>
              </a:rPr>
              <a:t>(using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optimal </a:t>
            </a:r>
            <a:r>
              <a:rPr sz="900" i="1" spc="-25" dirty="0">
                <a:solidFill>
                  <a:srgbClr val="FFFFFF"/>
                </a:solidFill>
                <a:latin typeface="Trebuchet MS"/>
                <a:cs typeface="Trebuchet MS"/>
              </a:rPr>
              <a:t>Finish </a:t>
            </a:r>
            <a:r>
              <a:rPr sz="900" i="1" spc="-30" dirty="0">
                <a:solidFill>
                  <a:srgbClr val="FFFFFF"/>
                </a:solidFill>
                <a:latin typeface="Trebuchet MS"/>
                <a:cs typeface="Trebuchet MS"/>
              </a:rPr>
              <a:t>First</a:t>
            </a:r>
            <a:r>
              <a:rPr sz="900" i="1" spc="-50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900" spc="-10" dirty="0">
                <a:solidFill>
                  <a:srgbClr val="FFFFFF"/>
                </a:solidFill>
                <a:latin typeface="Arial"/>
                <a:cs typeface="Arial"/>
              </a:rPr>
              <a:t>strategy)</a:t>
            </a:r>
            <a:endParaRPr sz="9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09194" y="2138781"/>
            <a:ext cx="3989651" cy="506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359994" y="3186938"/>
            <a:ext cx="101600" cy="101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10794" y="3174238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298846" y="2019693"/>
            <a:ext cx="50751" cy="116724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309193" y="2183052"/>
            <a:ext cx="3989704" cy="1054735"/>
          </a:xfrm>
          <a:custGeom>
            <a:avLst/>
            <a:gdLst/>
            <a:ahLst/>
            <a:cxnLst/>
            <a:rect l="l" t="t" r="r" b="b"/>
            <a:pathLst>
              <a:path w="3989704" h="1054735">
                <a:moveTo>
                  <a:pt x="3989652" y="0"/>
                </a:moveTo>
                <a:lnTo>
                  <a:pt x="0" y="0"/>
                </a:lnTo>
                <a:lnTo>
                  <a:pt x="0" y="1003885"/>
                </a:lnTo>
                <a:lnTo>
                  <a:pt x="4008" y="1023609"/>
                </a:lnTo>
                <a:lnTo>
                  <a:pt x="14922" y="1039762"/>
                </a:lnTo>
                <a:lnTo>
                  <a:pt x="31075" y="1050676"/>
                </a:lnTo>
                <a:lnTo>
                  <a:pt x="50800" y="1054685"/>
                </a:lnTo>
                <a:lnTo>
                  <a:pt x="3938852" y="1054685"/>
                </a:lnTo>
                <a:lnTo>
                  <a:pt x="3958576" y="1050676"/>
                </a:lnTo>
                <a:lnTo>
                  <a:pt x="3974729" y="1039762"/>
                </a:lnTo>
                <a:lnTo>
                  <a:pt x="3985644" y="1023609"/>
                </a:lnTo>
                <a:lnTo>
                  <a:pt x="3989652" y="1003885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4298846" y="2057788"/>
            <a:ext cx="0" cy="1148715"/>
          </a:xfrm>
          <a:custGeom>
            <a:avLst/>
            <a:gdLst/>
            <a:ahLst/>
            <a:cxnLst/>
            <a:rect l="l" t="t" r="r" b="b"/>
            <a:pathLst>
              <a:path h="1148714">
                <a:moveTo>
                  <a:pt x="0" y="1148199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4298846" y="20450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4298846" y="20323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4298846" y="2019688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962710" y="2208365"/>
            <a:ext cx="2721593" cy="81729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096147" y="3020616"/>
            <a:ext cx="1066165" cy="431800"/>
          </a:xfrm>
          <a:prstGeom prst="rect">
            <a:avLst/>
          </a:prstGeom>
        </p:spPr>
        <p:txBody>
          <a:bodyPr vert="horz" wrap="square" lIns="0" tIns="298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sz="900" spc="-35" dirty="0">
                <a:latin typeface="Lucida Sans Unicode"/>
                <a:cs typeface="Lucida Sans Unicode"/>
              </a:rPr>
              <a:t>|</a:t>
            </a:r>
            <a:r>
              <a:rPr sz="900" i="1" spc="-35" dirty="0">
                <a:latin typeface="Trebuchet MS"/>
                <a:cs typeface="Trebuchet MS"/>
              </a:rPr>
              <a:t>A</a:t>
            </a:r>
            <a:r>
              <a:rPr sz="900" spc="-35" dirty="0">
                <a:latin typeface="Lucida Sans Unicode"/>
                <a:cs typeface="Lucida Sans Unicode"/>
              </a:rPr>
              <a:t>| </a:t>
            </a:r>
            <a:r>
              <a:rPr sz="900" dirty="0">
                <a:latin typeface="Lucida Sans Unicode"/>
                <a:cs typeface="Lucida Sans Unicode"/>
              </a:rPr>
              <a:t>=</a:t>
            </a:r>
            <a:r>
              <a:rPr sz="900" spc="-35" dirty="0">
                <a:latin typeface="Lucida Sans Unicode"/>
                <a:cs typeface="Lucida Sans Unicode"/>
              </a:rPr>
              <a:t> </a:t>
            </a:r>
            <a:r>
              <a:rPr sz="900" spc="-25" dirty="0">
                <a:latin typeface="Arial"/>
                <a:cs typeface="Arial"/>
              </a:rPr>
              <a:t>4.</a:t>
            </a:r>
            <a:endParaRPr sz="900" dirty="0">
              <a:latin typeface="Arial"/>
              <a:cs typeface="Arial"/>
            </a:endParaRPr>
          </a:p>
          <a:p>
            <a:pPr marL="315595">
              <a:lnSpc>
                <a:spcPct val="100000"/>
              </a:lnSpc>
              <a:spcBef>
                <a:spcPts val="1205"/>
              </a:spcBef>
            </a:pP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CSE </a:t>
            </a:r>
            <a:r>
              <a:rPr sz="600" b="1" spc="-10" dirty="0">
                <a:solidFill>
                  <a:srgbClr val="FFFFFF"/>
                </a:solidFill>
                <a:latin typeface="Arial"/>
                <a:cs typeface="Arial"/>
              </a:rPr>
              <a:t>221:</a:t>
            </a:r>
            <a:r>
              <a:rPr sz="600" b="1" spc="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13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</a:t>
            </a:r>
            <a:r>
              <a:rPr sz="14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8303" y="486929"/>
            <a:ext cx="2491394" cy="2743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</a:t>
            </a:r>
            <a:r>
              <a:rPr sz="14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8303" y="486929"/>
            <a:ext cx="2491394" cy="2743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</a:t>
            </a:r>
            <a:r>
              <a:rPr sz="14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8303" y="486929"/>
            <a:ext cx="2491394" cy="2743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</a:t>
            </a:r>
            <a:r>
              <a:rPr sz="14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8303" y="486929"/>
            <a:ext cx="2491394" cy="2743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</a:t>
            </a:r>
            <a:r>
              <a:rPr sz="1400" spc="-17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58303" y="486929"/>
            <a:ext cx="2491394" cy="2743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r>
              <a:rPr sz="1400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(continued)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507056"/>
            <a:ext cx="3888205" cy="11676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Interval scheduling in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r>
              <a:rPr sz="1400" spc="29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(continued)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59994" y="507056"/>
            <a:ext cx="3888205" cy="116762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2032491"/>
            <a:ext cx="3888205" cy="11676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sp>
        <p:nvSpPr>
          <p:cNvPr id="2" name="Down Arrow 1"/>
          <p:cNvSpPr/>
          <p:nvPr/>
        </p:nvSpPr>
        <p:spPr>
          <a:xfrm>
            <a:off x="2158555" y="1674685"/>
            <a:ext cx="146495" cy="28429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" y="434975"/>
            <a:ext cx="4424093" cy="2590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1" y="53975"/>
            <a:ext cx="45148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/>
              <a:t>An </a:t>
            </a:r>
            <a:r>
              <a:rPr lang="en-US" sz="1400" b="1" i="1" dirty="0"/>
              <a:t>O</a:t>
            </a:r>
            <a:r>
              <a:rPr lang="en-US" sz="1400" b="1" dirty="0"/>
              <a:t>(</a:t>
            </a:r>
            <a:r>
              <a:rPr lang="en-US" sz="1400" b="1" i="1" dirty="0"/>
              <a:t>n </a:t>
            </a:r>
            <a:r>
              <a:rPr lang="en-US" sz="1400" b="1" dirty="0" err="1"/>
              <a:t>lg</a:t>
            </a:r>
            <a:r>
              <a:rPr lang="en-US" sz="1400" b="1" dirty="0"/>
              <a:t> </a:t>
            </a:r>
            <a:r>
              <a:rPr lang="en-US" sz="1400" b="1" i="1" dirty="0"/>
              <a:t>n</a:t>
            </a:r>
            <a:r>
              <a:rPr lang="en-US" sz="1400" b="1" dirty="0"/>
              <a:t>) greedy algorithm for interval scheduling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95250" y="2111375"/>
            <a:ext cx="4424093" cy="9906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934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4"/>
          <p:cNvSpPr>
            <a:spLocks noGrp="1" noChangeArrowheads="1"/>
          </p:cNvSpPr>
          <p:nvPr>
            <p:ph idx="1"/>
          </p:nvPr>
        </p:nvSpPr>
        <p:spPr>
          <a:xfrm>
            <a:off x="314799" y="422754"/>
            <a:ext cx="3285651" cy="240821"/>
          </a:xfrm>
        </p:spPr>
        <p:txBody>
          <a:bodyPr/>
          <a:lstStyle/>
          <a:p>
            <a:pPr eaLnBrk="1" hangingPunct="1"/>
            <a:r>
              <a:rPr lang="en-US" sz="1210"/>
              <a:t>Here are a set of start and finish times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2877021"/>
              </p:ext>
            </p:extLst>
          </p:nvPr>
        </p:nvGraphicFramePr>
        <p:xfrm>
          <a:off x="729932" y="671864"/>
          <a:ext cx="3073404" cy="56105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6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87019">
                <a:tc>
                  <a:txBody>
                    <a:bodyPr/>
                    <a:lstStyle/>
                    <a:p>
                      <a:r>
                        <a:rPr lang="en-US" sz="900" dirty="0"/>
                        <a:t>i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11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019">
                <a:tc>
                  <a:txBody>
                    <a:bodyPr/>
                    <a:lstStyle/>
                    <a:p>
                      <a:r>
                        <a:rPr lang="en-US" altLang="en-US" sz="900" i="1" dirty="0" err="1"/>
                        <a:t>S</a:t>
                      </a:r>
                      <a:r>
                        <a:rPr lang="en-US" altLang="en-US" sz="900" i="1" baseline="-25000" dirty="0" err="1"/>
                        <a:t>j</a:t>
                      </a:r>
                      <a:endParaRPr lang="en-US" sz="900" dirty="0"/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019">
                <a:tc>
                  <a:txBody>
                    <a:bodyPr/>
                    <a:lstStyle/>
                    <a:p>
                      <a:r>
                        <a:rPr lang="en-US" altLang="en-US" sz="900" i="1" dirty="0" err="1"/>
                        <a:t>f</a:t>
                      </a:r>
                      <a:r>
                        <a:rPr lang="en-US" altLang="en-US" sz="900" i="1" baseline="-25000" dirty="0" err="1"/>
                        <a:t>j</a:t>
                      </a:r>
                      <a:endParaRPr lang="en-US" sz="900" dirty="0"/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11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" y="160061"/>
            <a:ext cx="4590891" cy="340955"/>
          </a:xfrm>
          <a:prstGeom prst="rect">
            <a:avLst/>
          </a:prstGeom>
        </p:spPr>
        <p:txBody>
          <a:bodyPr vert="horz" lIns="46101" tIns="23051" rIns="46101" bIns="23051" rtlCol="0" anchor="t">
            <a:normAutofit fontScale="7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2218" b="1" dirty="0">
                <a:solidFill>
                  <a:prstClr val="black"/>
                </a:solidFill>
                <a:latin typeface="Calibri Light"/>
                <a:cs typeface="Arial" charset="0"/>
              </a:rPr>
              <a:t>Activity Selection a.k.a. Interval Scheduling Problem</a:t>
            </a:r>
          </a:p>
        </p:txBody>
      </p:sp>
    </p:spTree>
    <p:extLst>
      <p:ext uri="{BB962C8B-B14F-4D97-AF65-F5344CB8AC3E}">
        <p14:creationId xmlns:p14="http://schemas.microsoft.com/office/powerpoint/2010/main" val="397277402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61" name="Rectangle 4"/>
          <p:cNvSpPr>
            <a:spLocks noGrp="1" noChangeArrowheads="1"/>
          </p:cNvSpPr>
          <p:nvPr>
            <p:ph idx="1"/>
          </p:nvPr>
        </p:nvSpPr>
        <p:spPr>
          <a:xfrm>
            <a:off x="314799" y="422754"/>
            <a:ext cx="3285651" cy="240821"/>
          </a:xfrm>
        </p:spPr>
        <p:txBody>
          <a:bodyPr/>
          <a:lstStyle/>
          <a:p>
            <a:pPr eaLnBrk="1" hangingPunct="1"/>
            <a:r>
              <a:rPr lang="en-US" sz="1210"/>
              <a:t>Here are a set of start and finish times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7137342"/>
              </p:ext>
            </p:extLst>
          </p:nvPr>
        </p:nvGraphicFramePr>
        <p:xfrm>
          <a:off x="729932" y="671864"/>
          <a:ext cx="3073404" cy="56105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6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87019">
                <a:tc>
                  <a:txBody>
                    <a:bodyPr/>
                    <a:lstStyle/>
                    <a:p>
                      <a:r>
                        <a:rPr lang="en-US" sz="900" dirty="0"/>
                        <a:t>i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11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019">
                <a:tc>
                  <a:txBody>
                    <a:bodyPr/>
                    <a:lstStyle/>
                    <a:p>
                      <a:r>
                        <a:rPr lang="en-US" altLang="en-US" sz="900" i="1" dirty="0" err="1"/>
                        <a:t>S</a:t>
                      </a:r>
                      <a:r>
                        <a:rPr lang="en-US" altLang="en-US" sz="900" i="1" baseline="-25000" dirty="0" err="1"/>
                        <a:t>j</a:t>
                      </a:r>
                      <a:endParaRPr lang="en-US" sz="900" dirty="0"/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019">
                <a:tc>
                  <a:txBody>
                    <a:bodyPr/>
                    <a:lstStyle/>
                    <a:p>
                      <a:r>
                        <a:rPr lang="en-US" altLang="en-US" sz="900" i="1" dirty="0" err="1"/>
                        <a:t>f</a:t>
                      </a:r>
                      <a:r>
                        <a:rPr lang="en-US" altLang="en-US" sz="900" i="1" baseline="-25000" dirty="0" err="1"/>
                        <a:t>j</a:t>
                      </a:r>
                      <a:endParaRPr lang="en-US" sz="900" dirty="0"/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7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10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16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>
                          <a:solidFill>
                            <a:srgbClr val="FF0000"/>
                          </a:solidFill>
                        </a:rPr>
                        <a:t>14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11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" y="160061"/>
            <a:ext cx="4590891" cy="340955"/>
          </a:xfrm>
          <a:prstGeom prst="rect">
            <a:avLst/>
          </a:prstGeom>
        </p:spPr>
        <p:txBody>
          <a:bodyPr vert="horz" lIns="46101" tIns="23051" rIns="46101" bIns="23051" rtlCol="0" anchor="t">
            <a:normAutofit fontScale="75000" lnSpcReduction="20000"/>
          </a:bodyPr>
          <a:lstStyle/>
          <a:p>
            <a:pPr>
              <a:lnSpc>
                <a:spcPct val="90000"/>
              </a:lnSpc>
              <a:spcBef>
                <a:spcPct val="0"/>
              </a:spcBef>
              <a:defRPr/>
            </a:pPr>
            <a:r>
              <a:rPr lang="en-US" altLang="en-US" sz="2218" b="1" dirty="0">
                <a:solidFill>
                  <a:prstClr val="black"/>
                </a:solidFill>
                <a:latin typeface="Calibri Light"/>
                <a:cs typeface="Arial" charset="0"/>
              </a:rPr>
              <a:t>Activity Selection a.k.a. Interval Scheduling Problem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9553184"/>
              </p:ext>
            </p:extLst>
          </p:nvPr>
        </p:nvGraphicFramePr>
        <p:xfrm>
          <a:off x="704850" y="1984763"/>
          <a:ext cx="3073404" cy="56105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61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25611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87019">
                <a:tc>
                  <a:txBody>
                    <a:bodyPr/>
                    <a:lstStyle/>
                    <a:p>
                      <a:r>
                        <a:rPr lang="en-US" sz="900" dirty="0"/>
                        <a:t>i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11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019">
                <a:tc>
                  <a:txBody>
                    <a:bodyPr/>
                    <a:lstStyle/>
                    <a:p>
                      <a:r>
                        <a:rPr lang="en-US" altLang="en-US" sz="900" i="1" dirty="0" err="1"/>
                        <a:t>S</a:t>
                      </a:r>
                      <a:r>
                        <a:rPr lang="en-US" altLang="en-US" sz="900" i="1" baseline="-25000" dirty="0" err="1"/>
                        <a:t>j</a:t>
                      </a:r>
                      <a:endParaRPr lang="en-US" sz="900" dirty="0"/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3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8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019">
                <a:tc>
                  <a:txBody>
                    <a:bodyPr/>
                    <a:lstStyle/>
                    <a:p>
                      <a:r>
                        <a:rPr lang="en-US" altLang="en-US" sz="900" i="1" dirty="0" err="1"/>
                        <a:t>f</a:t>
                      </a:r>
                      <a:r>
                        <a:rPr lang="en-US" altLang="en-US" sz="900" i="1" baseline="-25000" dirty="0" err="1"/>
                        <a:t>j</a:t>
                      </a:r>
                      <a:endParaRPr lang="en-US" sz="900" dirty="0"/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5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6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7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9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10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11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12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14</a:t>
                      </a:r>
                    </a:p>
                  </a:txBody>
                  <a:tcPr marL="46101" marR="46101" marT="23057" marB="23057"/>
                </a:tc>
                <a:tc>
                  <a:txBody>
                    <a:bodyPr/>
                    <a:lstStyle/>
                    <a:p>
                      <a:r>
                        <a:rPr lang="en-US" sz="900" dirty="0"/>
                        <a:t>16</a:t>
                      </a:r>
                    </a:p>
                  </a:txBody>
                  <a:tcPr marL="46101" marR="46101" marT="23057" marB="23057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" name="Down Arrow 1"/>
          <p:cNvSpPr/>
          <p:nvPr/>
        </p:nvSpPr>
        <p:spPr>
          <a:xfrm>
            <a:off x="2076450" y="1375163"/>
            <a:ext cx="228600" cy="4572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-27842" y="2668496"/>
            <a:ext cx="4600339" cy="9048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1200" dirty="0">
                <a:solidFill>
                  <a:prstClr val="black"/>
                </a:solidFill>
                <a:cs typeface="Arial" charset="0"/>
              </a:rPr>
              <a:t> {1, 4, 8, 11} which is a larger set (</a:t>
            </a:r>
            <a:r>
              <a:rPr lang="en-US" sz="1200" i="1" u="sng" dirty="0">
                <a:solidFill>
                  <a:prstClr val="black"/>
                </a:solidFill>
                <a:cs typeface="Arial" charset="0"/>
              </a:rPr>
              <a:t>an optimal solution</a:t>
            </a:r>
            <a:r>
              <a:rPr lang="en-US" sz="1200" dirty="0">
                <a:solidFill>
                  <a:prstClr val="black"/>
                </a:solidFill>
                <a:cs typeface="Arial" charset="0"/>
              </a:rPr>
              <a:t>)</a:t>
            </a:r>
          </a:p>
          <a:p>
            <a:pPr lvl="1" fontAlgn="base"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1200" dirty="0">
                <a:solidFill>
                  <a:prstClr val="black"/>
                </a:solidFill>
                <a:cs typeface="Arial" charset="0"/>
              </a:rPr>
              <a:t> Solution is not unique, consider {2, 4, 9, 11}  (another optimal solution)</a:t>
            </a:r>
          </a:p>
          <a:p>
            <a:pPr lvl="1" fontAlgn="base">
              <a:spcBef>
                <a:spcPct val="20000"/>
              </a:spcBef>
              <a:spcAft>
                <a:spcPct val="0"/>
              </a:spcAft>
            </a:pPr>
            <a:endParaRPr lang="en-US" sz="1200" dirty="0">
              <a:solidFill>
                <a:prstClr val="black"/>
              </a:solidFill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35159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Extension: </a:t>
            </a:r>
            <a:r>
              <a:rPr spc="-25" dirty="0"/>
              <a:t>weighted </a:t>
            </a:r>
            <a:r>
              <a:rPr spc="-10" dirty="0"/>
              <a:t>interval </a:t>
            </a:r>
            <a:r>
              <a:rPr spc="-5" dirty="0"/>
              <a:t>scheduling</a:t>
            </a:r>
            <a:r>
              <a:rPr spc="-145" dirty="0"/>
              <a:t> </a:t>
            </a:r>
            <a:r>
              <a:rPr spc="-35" dirty="0"/>
              <a:t>problem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935" y="440835"/>
            <a:ext cx="4329454" cy="228600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Extension: </a:t>
            </a:r>
            <a:r>
              <a:rPr spc="-25" dirty="0"/>
              <a:t>weighted </a:t>
            </a:r>
            <a:r>
              <a:rPr spc="-10" dirty="0"/>
              <a:t>interval </a:t>
            </a:r>
            <a:r>
              <a:rPr spc="-5" dirty="0"/>
              <a:t>scheduling</a:t>
            </a:r>
            <a:r>
              <a:rPr spc="-145" dirty="0"/>
              <a:t> </a:t>
            </a:r>
            <a:r>
              <a:rPr spc="-35" dirty="0"/>
              <a:t>problem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3" name="object 3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4" name="object 34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3839" y="454903"/>
            <a:ext cx="4286059" cy="2300427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Extension: </a:t>
            </a:r>
            <a:r>
              <a:rPr spc="-25" dirty="0"/>
              <a:t>weighted </a:t>
            </a:r>
            <a:r>
              <a:rPr spc="-10" dirty="0"/>
              <a:t>interval </a:t>
            </a:r>
            <a:r>
              <a:rPr spc="-5" dirty="0"/>
              <a:t>scheduling</a:t>
            </a:r>
            <a:r>
              <a:rPr spc="-145" dirty="0"/>
              <a:t> </a:t>
            </a:r>
            <a:r>
              <a:rPr spc="-35" dirty="0"/>
              <a:t>problem</a:t>
            </a: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371" y="443183"/>
            <a:ext cx="4331262" cy="2338388"/>
          </a:xfrm>
          <a:prstGeom prst="rect">
            <a:avLst/>
          </a:prstGeom>
        </p:spPr>
      </p:pic>
      <p:pic>
        <p:nvPicPr>
          <p:cNvPr id="41" name="Picture 4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343" y="2783106"/>
            <a:ext cx="4309679" cy="669583"/>
          </a:xfrm>
          <a:prstGeom prst="rect">
            <a:avLst/>
          </a:prstGeom>
        </p:spPr>
      </p:pic>
      <p:sp>
        <p:nvSpPr>
          <p:cNvPr id="45" name="Rectangle 44"/>
          <p:cNvSpPr/>
          <p:nvPr/>
        </p:nvSpPr>
        <p:spPr>
          <a:xfrm>
            <a:off x="0" y="2809754"/>
            <a:ext cx="4494022" cy="65099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 txBox="1"/>
          <p:nvPr/>
        </p:nvSpPr>
        <p:spPr>
          <a:xfrm>
            <a:off x="0" y="121015"/>
            <a:ext cx="4608195" cy="9239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94879003"/>
      </p:ext>
    </p:extLst>
  </p:cSld>
  <p:clrMapOvr>
    <a:masterClrMapping/>
  </p:clrMapOvr>
  <p:transition>
    <p:cut/>
  </p:transition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0" y="121015"/>
            <a:ext cx="4608195" cy="146812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5"/>
              </a:spcBef>
            </a:pPr>
            <a:r>
              <a:rPr sz="1100" spc="-20" dirty="0">
                <a:latin typeface="Tahoma"/>
                <a:cs typeface="Tahoma"/>
              </a:rPr>
              <a:t>Coin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denominations,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35" dirty="0">
                <a:latin typeface="Trebuchet MS"/>
                <a:cs typeface="Trebuchet MS"/>
              </a:rPr>
              <a:t>C</a:t>
            </a:r>
            <a:r>
              <a:rPr sz="1100" i="1" spc="8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-70" dirty="0">
                <a:latin typeface="Tahoma"/>
                <a:cs typeface="Tahoma"/>
              </a:rPr>
              <a:t>10</a:t>
            </a:r>
            <a:r>
              <a:rPr sz="1100" i="1" spc="-7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0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3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35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1" name="object 3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2" name="object 3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3" name="object 3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4938034"/>
      </p:ext>
    </p:extLst>
  </p:cSld>
  <p:clrMapOvr>
    <a:masterClrMapping/>
  </p:clrMapOvr>
  <p:transition>
    <p:cut/>
  </p:transition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0" y="121015"/>
            <a:ext cx="4608195" cy="1254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7294" y="1397024"/>
            <a:ext cx="193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9215" y="1397024"/>
            <a:ext cx="1960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9122" y="1589173"/>
            <a:ext cx="114214" cy="114214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2668" y="157770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4395" y="1535060"/>
            <a:ext cx="3043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2 25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73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</a:t>
            </a:r>
            <a:r>
              <a:rPr sz="1100" spc="-55" dirty="0">
                <a:latin typeface="Tahoma"/>
                <a:cs typeface="Tahoma"/>
              </a:rPr>
              <a:t>25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6" name="object 3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7" name="object 3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8" name="object 38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10531130"/>
      </p:ext>
    </p:extLst>
  </p:cSld>
  <p:clrMapOvr>
    <a:masterClrMapping/>
  </p:clrMapOvr>
  <p:transition>
    <p:cut/>
  </p:transition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0" y="121015"/>
            <a:ext cx="4608195" cy="1254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7294" y="1397024"/>
            <a:ext cx="193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9215" y="1397024"/>
            <a:ext cx="1960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9122" y="1589173"/>
            <a:ext cx="114214" cy="1142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2668" y="157770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449122" y="1799205"/>
            <a:ext cx="114214" cy="1142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/>
          <p:nvPr/>
        </p:nvSpPr>
        <p:spPr>
          <a:xfrm>
            <a:off x="472668" y="178773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624395" y="1491282"/>
            <a:ext cx="304355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2 25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73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</a:t>
            </a:r>
            <a:r>
              <a:rPr sz="1100" spc="-55" dirty="0">
                <a:latin typeface="Tahoma"/>
                <a:cs typeface="Tahoma"/>
              </a:rPr>
              <a:t>25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23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2 10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23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</a:t>
            </a:r>
            <a:r>
              <a:rPr sz="1100" spc="-55" dirty="0">
                <a:latin typeface="Tahoma"/>
                <a:cs typeface="Tahoma"/>
              </a:rPr>
              <a:t>10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8" name="object 3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9" name="object 3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0" name="object 40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69985521"/>
      </p:ext>
    </p:extLst>
  </p:cSld>
  <p:clrMapOvr>
    <a:masterClrMapping/>
  </p:clrMapOvr>
  <p:transition>
    <p:cut/>
  </p:transition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0" y="121015"/>
            <a:ext cx="4608195" cy="1254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7294" y="1397024"/>
            <a:ext cx="193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9215" y="1397024"/>
            <a:ext cx="1960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9122" y="1589173"/>
            <a:ext cx="114214" cy="1142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2668" y="157770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4395" y="1535060"/>
            <a:ext cx="3043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2 25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73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</a:t>
            </a:r>
            <a:r>
              <a:rPr sz="1100" spc="-55" dirty="0">
                <a:latin typeface="Tahoma"/>
                <a:cs typeface="Tahoma"/>
              </a:rPr>
              <a:t>25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9122" y="1799205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72668" y="178773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4395" y="1745093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2 10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23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</a:t>
            </a:r>
            <a:r>
              <a:rPr sz="1100" spc="-55" dirty="0">
                <a:latin typeface="Tahoma"/>
                <a:cs typeface="Tahoma"/>
              </a:rPr>
              <a:t>10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9122" y="2009238"/>
            <a:ext cx="114214" cy="11421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2668" y="199776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4395" y="1955125"/>
            <a:ext cx="2073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06413158"/>
      </p:ext>
    </p:extLst>
  </p:cSld>
  <p:clrMapOvr>
    <a:masterClrMapping/>
  </p:clrMapOvr>
  <p:transition>
    <p:cut/>
  </p:transition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0" y="121015"/>
            <a:ext cx="4608195" cy="1254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7294" y="1397024"/>
            <a:ext cx="193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9215" y="1397024"/>
            <a:ext cx="1960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9122" y="1589173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2668" y="157770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4395" y="1535060"/>
            <a:ext cx="3043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2 25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73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</a:t>
            </a:r>
            <a:r>
              <a:rPr sz="1100" spc="-55" dirty="0">
                <a:latin typeface="Tahoma"/>
                <a:cs typeface="Tahoma"/>
              </a:rPr>
              <a:t>25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9122" y="1799205"/>
            <a:ext cx="114214" cy="11421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72668" y="178773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4395" y="1745093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2 10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23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</a:t>
            </a:r>
            <a:r>
              <a:rPr sz="1100" spc="-55" dirty="0">
                <a:latin typeface="Tahoma"/>
                <a:cs typeface="Tahoma"/>
              </a:rPr>
              <a:t>10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9122" y="2009238"/>
            <a:ext cx="114214" cy="1142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2668" y="199776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49122" y="2219271"/>
            <a:ext cx="114214" cy="11421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72668" y="2207785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624395" y="1911347"/>
            <a:ext cx="276669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lang="en-US" sz="1100" spc="-55" dirty="0">
                <a:latin typeface="Tahoma"/>
                <a:cs typeface="Tahoma"/>
              </a:rPr>
              <a:t>3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</a:t>
            </a:r>
            <a:r>
              <a:rPr lang="en-US" sz="1100" spc="-55" dirty="0">
                <a:latin typeface="Tahoma"/>
                <a:cs typeface="Tahoma"/>
              </a:rPr>
              <a:t>1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9371953"/>
      </p:ext>
    </p:extLst>
  </p:cSld>
  <p:clrMapOvr>
    <a:masterClrMapping/>
  </p:clrMapOvr>
  <p:transition>
    <p:cut/>
  </p:transition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0" y="121015"/>
            <a:ext cx="4608195" cy="1254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7294" y="1397024"/>
            <a:ext cx="193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9215" y="1397024"/>
            <a:ext cx="1960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9122" y="1589173"/>
            <a:ext cx="114214" cy="1142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2668" y="157770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4395" y="1535060"/>
            <a:ext cx="3043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2 25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73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</a:t>
            </a:r>
            <a:r>
              <a:rPr sz="1100" spc="-55" dirty="0">
                <a:latin typeface="Tahoma"/>
                <a:cs typeface="Tahoma"/>
              </a:rPr>
              <a:t>25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9122" y="1799205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72668" y="178773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4395" y="1745093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2 10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23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</a:t>
            </a:r>
            <a:r>
              <a:rPr sz="1100" spc="-55" dirty="0">
                <a:latin typeface="Tahoma"/>
                <a:cs typeface="Tahoma"/>
              </a:rPr>
              <a:t>10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9122" y="2009238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2668" y="199776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4395" y="1955125"/>
            <a:ext cx="2073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49122" y="2219271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72668" y="2207785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4395" y="2165158"/>
            <a:ext cx="27666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lang="en-US" sz="1100" spc="-55" dirty="0">
                <a:latin typeface="Tahoma"/>
                <a:cs typeface="Tahoma"/>
              </a:rPr>
              <a:t>3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</a:t>
            </a:r>
            <a:r>
              <a:rPr lang="en-US" sz="1100" spc="-55" dirty="0">
                <a:latin typeface="Tahoma"/>
                <a:cs typeface="Tahoma"/>
              </a:rPr>
              <a:t>1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47294" y="2375190"/>
            <a:ext cx="36937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it’s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optimal):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25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+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7" name="object 4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8" name="object 48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38263281"/>
      </p:ext>
    </p:extLst>
  </p:cSld>
  <p:clrMapOvr>
    <a:masterClrMapping/>
  </p:clrMapOvr>
  <p:transition>
    <p:cut/>
  </p:transition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09193" y="493001"/>
            <a:ext cx="3989704" cy="179070"/>
          </a:xfrm>
          <a:custGeom>
            <a:avLst/>
            <a:gdLst/>
            <a:ahLst/>
            <a:cxnLst/>
            <a:rect l="l" t="t" r="r" b="b"/>
            <a:pathLst>
              <a:path w="3989704" h="17907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78598"/>
                </a:lnTo>
                <a:lnTo>
                  <a:pt x="3989652" y="178598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26268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09194" y="658939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998143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985443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537235"/>
            <a:ext cx="50751" cy="46090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703224"/>
            <a:ext cx="3989704" cy="346075"/>
          </a:xfrm>
          <a:custGeom>
            <a:avLst/>
            <a:gdLst/>
            <a:ahLst/>
            <a:cxnLst/>
            <a:rect l="l" t="t" r="r" b="b"/>
            <a:pathLst>
              <a:path w="3989704" h="346075">
                <a:moveTo>
                  <a:pt x="3989652" y="0"/>
                </a:moveTo>
                <a:lnTo>
                  <a:pt x="0" y="0"/>
                </a:lnTo>
                <a:lnTo>
                  <a:pt x="0" y="294919"/>
                </a:lnTo>
                <a:lnTo>
                  <a:pt x="4008" y="314643"/>
                </a:lnTo>
                <a:lnTo>
                  <a:pt x="14922" y="330796"/>
                </a:lnTo>
                <a:lnTo>
                  <a:pt x="31075" y="341710"/>
                </a:lnTo>
                <a:lnTo>
                  <a:pt x="50800" y="345719"/>
                </a:lnTo>
                <a:lnTo>
                  <a:pt x="3938852" y="345719"/>
                </a:lnTo>
                <a:lnTo>
                  <a:pt x="3958576" y="341710"/>
                </a:lnTo>
                <a:lnTo>
                  <a:pt x="3974729" y="330796"/>
                </a:lnTo>
                <a:lnTo>
                  <a:pt x="3985644" y="314643"/>
                </a:lnTo>
                <a:lnTo>
                  <a:pt x="3989652" y="294919"/>
                </a:lnTo>
                <a:lnTo>
                  <a:pt x="3989652" y="0"/>
                </a:lnTo>
                <a:close/>
              </a:path>
            </a:pathLst>
          </a:custGeom>
          <a:solidFill>
            <a:srgbClr val="E9E9F2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575331"/>
            <a:ext cx="0" cy="441959"/>
          </a:xfrm>
          <a:custGeom>
            <a:avLst/>
            <a:gdLst/>
            <a:ahLst/>
            <a:cxnLst/>
            <a:rect l="l" t="t" r="r" b="b"/>
            <a:pathLst>
              <a:path h="441959">
                <a:moveTo>
                  <a:pt x="0" y="441861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5626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5499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53723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309193" y="1200860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9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0" y="121015"/>
            <a:ext cx="4608195" cy="125476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</a:t>
            </a:r>
            <a:r>
              <a:rPr sz="14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1070"/>
              </a:spcBef>
            </a:pP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Definition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295"/>
              </a:spcBef>
            </a:pPr>
            <a:r>
              <a:rPr sz="1100" spc="-45" dirty="0">
                <a:latin typeface="Tahoma"/>
                <a:cs typeface="Tahoma"/>
              </a:rPr>
              <a:t>Given </a:t>
            </a:r>
            <a:r>
              <a:rPr sz="1100" spc="-30" dirty="0">
                <a:latin typeface="Tahoma"/>
                <a:cs typeface="Tahoma"/>
              </a:rPr>
              <a:t>coin </a:t>
            </a:r>
            <a:r>
              <a:rPr sz="1100" spc="-50" dirty="0">
                <a:latin typeface="Tahoma"/>
                <a:cs typeface="Tahoma"/>
              </a:rPr>
              <a:t>denominations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110" dirty="0">
                <a:latin typeface="Lucida Sans Unicode"/>
                <a:cs typeface="Lucida Sans Unicode"/>
              </a:rPr>
              <a:t>{</a:t>
            </a:r>
            <a:r>
              <a:rPr sz="1100" i="1" spc="110" dirty="0">
                <a:latin typeface="Trebuchet MS"/>
                <a:cs typeface="Trebuchet MS"/>
              </a:rPr>
              <a:t>C </a:t>
            </a:r>
            <a:r>
              <a:rPr sz="1100" spc="75" dirty="0">
                <a:latin typeface="Lucida Sans Unicode"/>
                <a:cs typeface="Lucida Sans Unicode"/>
              </a:rPr>
              <a:t>}</a:t>
            </a:r>
            <a:r>
              <a:rPr sz="1100" spc="75" dirty="0">
                <a:latin typeface="Tahoma"/>
                <a:cs typeface="Tahoma"/>
              </a:rPr>
              <a:t>, </a:t>
            </a:r>
            <a:r>
              <a:rPr sz="1100" spc="-65" dirty="0">
                <a:latin typeface="Tahoma"/>
                <a:cs typeface="Tahoma"/>
              </a:rPr>
              <a:t>make </a:t>
            </a:r>
            <a:r>
              <a:rPr sz="1100" spc="-60" dirty="0">
                <a:latin typeface="Tahoma"/>
                <a:cs typeface="Tahoma"/>
              </a:rPr>
              <a:t>change </a:t>
            </a:r>
            <a:r>
              <a:rPr sz="1100" spc="-45" dirty="0">
                <a:latin typeface="Tahoma"/>
                <a:cs typeface="Tahoma"/>
              </a:rPr>
              <a:t>for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50" dirty="0">
                <a:latin typeface="Tahoma"/>
                <a:cs typeface="Tahoma"/>
              </a:rPr>
              <a:t>given</a:t>
            </a:r>
            <a:r>
              <a:rPr sz="1100" spc="6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amount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35"/>
              </a:spcBef>
            </a:pP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-25" dirty="0">
                <a:latin typeface="Tahoma"/>
                <a:cs typeface="Tahoma"/>
              </a:rPr>
              <a:t>with </a:t>
            </a:r>
            <a:r>
              <a:rPr sz="1100" spc="-40" dirty="0">
                <a:latin typeface="Tahoma"/>
                <a:cs typeface="Tahoma"/>
              </a:rPr>
              <a:t>the minimum </a:t>
            </a:r>
            <a:r>
              <a:rPr sz="1100" spc="-55" dirty="0">
                <a:latin typeface="Tahoma"/>
                <a:cs typeface="Tahoma"/>
              </a:rPr>
              <a:t>number </a:t>
            </a:r>
            <a:r>
              <a:rPr sz="1100" spc="-35" dirty="0">
                <a:latin typeface="Tahoma"/>
                <a:cs typeface="Tahoma"/>
              </a:rPr>
              <a:t>of</a:t>
            </a:r>
            <a:r>
              <a:rPr sz="1100" spc="2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359410">
              <a:lnSpc>
                <a:spcPct val="100000"/>
              </a:lnSpc>
              <a:spcBef>
                <a:spcPts val="1285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09194" y="1374775"/>
            <a:ext cx="3989651" cy="5060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359994" y="2554694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410794" y="2541993"/>
            <a:ext cx="3938802" cy="1143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4298846" y="1245108"/>
            <a:ext cx="50751" cy="130958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309193" y="1419039"/>
            <a:ext cx="3989704" cy="1186815"/>
          </a:xfrm>
          <a:custGeom>
            <a:avLst/>
            <a:gdLst/>
            <a:ahLst/>
            <a:cxnLst/>
            <a:rect l="l" t="t" r="r" b="b"/>
            <a:pathLst>
              <a:path w="3989704" h="1186814">
                <a:moveTo>
                  <a:pt x="3989652" y="0"/>
                </a:moveTo>
                <a:lnTo>
                  <a:pt x="0" y="0"/>
                </a:lnTo>
                <a:lnTo>
                  <a:pt x="0" y="1135654"/>
                </a:lnTo>
                <a:lnTo>
                  <a:pt x="4008" y="1155379"/>
                </a:lnTo>
                <a:lnTo>
                  <a:pt x="14922" y="1171532"/>
                </a:lnTo>
                <a:lnTo>
                  <a:pt x="31075" y="1182446"/>
                </a:lnTo>
                <a:lnTo>
                  <a:pt x="50800" y="1186455"/>
                </a:lnTo>
                <a:lnTo>
                  <a:pt x="3938852" y="1186455"/>
                </a:lnTo>
                <a:lnTo>
                  <a:pt x="3958576" y="1182446"/>
                </a:lnTo>
                <a:lnTo>
                  <a:pt x="3974729" y="1171532"/>
                </a:lnTo>
                <a:lnTo>
                  <a:pt x="3985644" y="1155379"/>
                </a:lnTo>
                <a:lnTo>
                  <a:pt x="3989652" y="1135654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4298846" y="1283186"/>
            <a:ext cx="0" cy="1290955"/>
          </a:xfrm>
          <a:custGeom>
            <a:avLst/>
            <a:gdLst/>
            <a:ahLst/>
            <a:cxnLst/>
            <a:rect l="l" t="t" r="r" b="b"/>
            <a:pathLst>
              <a:path h="1290955">
                <a:moveTo>
                  <a:pt x="0" y="1290557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4298846" y="12704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4298846" y="125778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298846" y="1245085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 txBox="1"/>
          <p:nvPr/>
        </p:nvSpPr>
        <p:spPr>
          <a:xfrm>
            <a:off x="347294" y="1397024"/>
            <a:ext cx="193738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5" dirty="0">
                <a:latin typeface="Lucida Sans Unicode"/>
                <a:cs typeface="Lucida Sans Unicode"/>
              </a:rPr>
              <a:t>{</a:t>
            </a:r>
            <a:r>
              <a:rPr sz="1100" spc="-5" dirty="0">
                <a:latin typeface="Tahoma"/>
                <a:cs typeface="Tahoma"/>
              </a:rPr>
              <a:t>25</a:t>
            </a:r>
            <a:r>
              <a:rPr sz="1100" i="1" spc="-5" dirty="0">
                <a:latin typeface="Verdana"/>
                <a:cs typeface="Verdana"/>
              </a:rPr>
              <a:t>,</a:t>
            </a:r>
            <a:r>
              <a:rPr sz="1100" i="1" spc="-290" dirty="0">
                <a:latin typeface="Verdana"/>
                <a:cs typeface="Verdana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259215" y="1397024"/>
            <a:ext cx="1960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10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15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</a:t>
            </a:r>
            <a:r>
              <a:rPr sz="1100" spc="-40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Tahoma"/>
                <a:cs typeface="Tahoma"/>
              </a:rPr>
              <a:t>Amount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5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change,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55" dirty="0">
                <a:latin typeface="Trebuchet MS"/>
                <a:cs typeface="Trebuchet MS"/>
              </a:rPr>
              <a:t>A</a:t>
            </a:r>
            <a:r>
              <a:rPr sz="1100" i="1" spc="-40" dirty="0">
                <a:latin typeface="Trebuchet MS"/>
                <a:cs typeface="Trebuchet MS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449122" y="1589173"/>
            <a:ext cx="114214" cy="1142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 txBox="1"/>
          <p:nvPr/>
        </p:nvSpPr>
        <p:spPr>
          <a:xfrm>
            <a:off x="472668" y="1577700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24395" y="1535060"/>
            <a:ext cx="30435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2 25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73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</a:t>
            </a:r>
            <a:r>
              <a:rPr sz="1100" spc="-55" dirty="0">
                <a:latin typeface="Tahoma"/>
                <a:cs typeface="Tahoma"/>
              </a:rPr>
              <a:t>25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449122" y="1799205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 txBox="1"/>
          <p:nvPr/>
        </p:nvSpPr>
        <p:spPr>
          <a:xfrm>
            <a:off x="472668" y="1787733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24395" y="1745093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2 10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23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2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</a:t>
            </a:r>
            <a:r>
              <a:rPr sz="1100" spc="-55" dirty="0">
                <a:latin typeface="Tahoma"/>
                <a:cs typeface="Tahoma"/>
              </a:rPr>
              <a:t>10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9122" y="2009238"/>
            <a:ext cx="114214" cy="11421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2668" y="1997766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4395" y="1955125"/>
            <a:ext cx="20739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449122" y="2219271"/>
            <a:ext cx="114214" cy="1142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472668" y="2207785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4</a:t>
            </a:r>
            <a:endParaRPr sz="60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624395" y="2165158"/>
            <a:ext cx="27666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lang="en-US" sz="1100" spc="-55" dirty="0">
                <a:latin typeface="Tahoma"/>
                <a:cs typeface="Tahoma"/>
              </a:rPr>
              <a:t>3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</a:t>
            </a:r>
            <a:r>
              <a:rPr lang="en-US" sz="1100" spc="-55" dirty="0">
                <a:latin typeface="Tahoma"/>
                <a:cs typeface="Tahoma"/>
              </a:rPr>
              <a:t>1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309193" y="2757423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8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309194" y="2931325"/>
            <a:ext cx="3989651" cy="5060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359994" y="3117684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410794" y="3104984"/>
            <a:ext cx="3938802" cy="11430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298846" y="2801658"/>
            <a:ext cx="50751" cy="316026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09193" y="2975599"/>
            <a:ext cx="3989704" cy="193040"/>
          </a:xfrm>
          <a:custGeom>
            <a:avLst/>
            <a:gdLst/>
            <a:ahLst/>
            <a:cxnLst/>
            <a:rect l="l" t="t" r="r" b="b"/>
            <a:pathLst>
              <a:path w="3989704" h="193039">
                <a:moveTo>
                  <a:pt x="3989652" y="0"/>
                </a:moveTo>
                <a:lnTo>
                  <a:pt x="0" y="0"/>
                </a:lnTo>
                <a:lnTo>
                  <a:pt x="0" y="142085"/>
                </a:lnTo>
                <a:lnTo>
                  <a:pt x="4008" y="161809"/>
                </a:lnTo>
                <a:lnTo>
                  <a:pt x="14922" y="177962"/>
                </a:lnTo>
                <a:lnTo>
                  <a:pt x="31075" y="188876"/>
                </a:lnTo>
                <a:lnTo>
                  <a:pt x="50800" y="192885"/>
                </a:lnTo>
                <a:lnTo>
                  <a:pt x="3938852" y="192885"/>
                </a:lnTo>
                <a:lnTo>
                  <a:pt x="3958576" y="188876"/>
                </a:lnTo>
                <a:lnTo>
                  <a:pt x="3974729" y="177962"/>
                </a:lnTo>
                <a:lnTo>
                  <a:pt x="3985644" y="161809"/>
                </a:lnTo>
                <a:lnTo>
                  <a:pt x="3989652" y="142085"/>
                </a:lnTo>
                <a:lnTo>
                  <a:pt x="3989652" y="0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98846" y="2839746"/>
            <a:ext cx="0" cy="297180"/>
          </a:xfrm>
          <a:custGeom>
            <a:avLst/>
            <a:gdLst/>
            <a:ahLst/>
            <a:cxnLst/>
            <a:rect l="l" t="t" r="r" b="b"/>
            <a:pathLst>
              <a:path h="297180">
                <a:moveTo>
                  <a:pt x="0" y="29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98846" y="282704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298846" y="281434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298846" y="2801646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 txBox="1"/>
          <p:nvPr/>
        </p:nvSpPr>
        <p:spPr>
          <a:xfrm>
            <a:off x="347294" y="2375190"/>
            <a:ext cx="3693795" cy="76263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(and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it’s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optimal):</a:t>
            </a:r>
            <a:r>
              <a:rPr sz="1100" spc="1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</a:t>
            </a:r>
            <a:r>
              <a:rPr sz="1100" spc="-100" dirty="0">
                <a:latin typeface="Tahoma"/>
                <a:cs typeface="Tahom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25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+</a:t>
            </a:r>
            <a:r>
              <a:rPr sz="1100" spc="-1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2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10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+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r>
              <a:rPr sz="1100" spc="-105" dirty="0">
                <a:latin typeface="Tahoma"/>
                <a:cs typeface="Tahoma"/>
              </a:rPr>
              <a:t> </a:t>
            </a:r>
            <a:r>
              <a:rPr sz="1100" spc="-30" dirty="0">
                <a:latin typeface="Lucida Sans Unicode"/>
                <a:cs typeface="Lucida Sans Unicode"/>
              </a:rPr>
              <a:t>×</a:t>
            </a:r>
            <a:r>
              <a:rPr sz="1100" spc="-11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1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7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FFFFFF"/>
                </a:solidFill>
                <a:latin typeface="Tahoma"/>
                <a:cs typeface="Tahoma"/>
              </a:rPr>
              <a:t>question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100" spc="-40" dirty="0">
                <a:latin typeface="Tahoma"/>
                <a:cs typeface="Tahoma"/>
              </a:rPr>
              <a:t>Does </a:t>
            </a:r>
            <a:r>
              <a:rPr sz="1100" spc="-55" dirty="0">
                <a:latin typeface="Tahoma"/>
                <a:cs typeface="Tahoma"/>
              </a:rPr>
              <a:t>a </a:t>
            </a:r>
            <a:r>
              <a:rPr sz="1100" spc="-65" dirty="0">
                <a:latin typeface="Tahoma"/>
                <a:cs typeface="Tahoma"/>
              </a:rPr>
              <a:t>greedy </a:t>
            </a:r>
            <a:r>
              <a:rPr sz="1100" spc="-55" dirty="0">
                <a:latin typeface="Tahoma"/>
                <a:cs typeface="Tahoma"/>
              </a:rPr>
              <a:t>approach </a:t>
            </a:r>
            <a:r>
              <a:rPr sz="1100" spc="-65" dirty="0">
                <a:latin typeface="Tahoma"/>
                <a:cs typeface="Tahoma"/>
              </a:rPr>
              <a:t>always </a:t>
            </a:r>
            <a:r>
              <a:rPr sz="1100" spc="-55" dirty="0">
                <a:latin typeface="Tahoma"/>
                <a:cs typeface="Tahoma"/>
              </a:rPr>
              <a:t>produce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25" dirty="0">
                <a:latin typeface="Tahoma"/>
                <a:cs typeface="Tahoma"/>
              </a:rPr>
              <a:t>optimal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solution?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6" name="object 5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57" name="object 5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58" name="object 58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8753704"/>
      </p:ext>
    </p:extLst>
  </p:cSld>
  <p:clrMapOvr>
    <a:masterClrMapping/>
  </p:clrMapOvr>
  <p:transition>
    <p:cut/>
  </p:transition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53340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20" dirty="0">
                <a:solidFill>
                  <a:srgbClr val="FFFFFF"/>
                </a:solidFill>
                <a:latin typeface="Calibri"/>
                <a:cs typeface="Calibri"/>
              </a:rPr>
              <a:t>Coin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changing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r>
              <a:rPr sz="1400" spc="10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5" dirty="0">
                <a:solidFill>
                  <a:srgbClr val="FFFFFF"/>
                </a:solidFill>
                <a:latin typeface="Calibri"/>
                <a:cs typeface="Calibri"/>
              </a:rPr>
              <a:t>(continued)</a:t>
            </a:r>
            <a:endParaRPr sz="1400">
              <a:latin typeface="Calibri"/>
              <a:cs typeface="Calibri"/>
            </a:endParaRPr>
          </a:p>
          <a:p>
            <a:pPr marL="359410">
              <a:lnSpc>
                <a:spcPct val="100000"/>
              </a:lnSpc>
              <a:spcBef>
                <a:spcPts val="965"/>
              </a:spcBef>
              <a:tabLst>
                <a:tab pos="2668905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0499958"/>
      </p:ext>
    </p:extLst>
  </p:cSld>
  <p:clrMapOvr>
    <a:masterClrMapping/>
  </p:clrMapOvr>
  <p:transition>
    <p:cut/>
  </p:transition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78422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05" dirty="0"/>
              <a:t> </a:t>
            </a:r>
            <a:r>
              <a:rPr spc="5" dirty="0"/>
              <a:t>(continued)</a:t>
            </a:r>
          </a:p>
          <a:p>
            <a:pPr marL="359410" marR="351790">
              <a:lnSpc>
                <a:spcPct val="149600"/>
              </a:lnSpc>
              <a:spcBef>
                <a:spcPts val="309"/>
              </a:spcBef>
              <a:tabLst>
                <a:tab pos="2668905" algn="l"/>
              </a:tabLst>
            </a:pPr>
            <a:r>
              <a:rPr sz="1100" spc="-20" dirty="0">
                <a:solidFill>
                  <a:srgbClr val="000000"/>
                </a:solidFill>
                <a:latin typeface="Tahoma"/>
                <a:cs typeface="Tahoma"/>
              </a:rPr>
              <a:t>Coin </a:t>
            </a:r>
            <a:r>
              <a:rPr sz="1100" spc="-45" dirty="0">
                <a:solidFill>
                  <a:srgbClr val="000000"/>
                </a:solidFill>
                <a:latin typeface="Tahoma"/>
                <a:cs typeface="Tahoma"/>
              </a:rPr>
              <a:t>denominations, </a:t>
            </a:r>
            <a:r>
              <a:rPr sz="1100" i="1" spc="35" dirty="0">
                <a:solidFill>
                  <a:srgbClr val="000000"/>
                </a:solidFill>
                <a:latin typeface="Trebuchet MS"/>
                <a:cs typeface="Trebuchet MS"/>
              </a:rPr>
              <a:t>C </a:t>
            </a:r>
            <a:r>
              <a:rPr sz="1100" spc="45" dirty="0">
                <a:solidFill>
                  <a:srgbClr val="000000"/>
                </a:solidFill>
                <a:latin typeface="Tahoma"/>
                <a:cs typeface="Tahoma"/>
              </a:rPr>
              <a:t>= </a:t>
            </a:r>
            <a:r>
              <a:rPr sz="1100" spc="-10" dirty="0">
                <a:solidFill>
                  <a:srgbClr val="000000"/>
                </a:solidFill>
                <a:latin typeface="Lucida Sans Unicode"/>
                <a:cs typeface="Lucida Sans Unicode"/>
              </a:rPr>
              <a:t>{</a:t>
            </a:r>
            <a:r>
              <a:rPr sz="1100" spc="-10" dirty="0">
                <a:solidFill>
                  <a:srgbClr val="000000"/>
                </a:solidFill>
                <a:latin typeface="Tahoma"/>
                <a:cs typeface="Tahoma"/>
              </a:rPr>
              <a:t>12</a:t>
            </a:r>
            <a:r>
              <a:rPr sz="1100" i="1" spc="-10" dirty="0">
                <a:solidFill>
                  <a:srgbClr val="000000"/>
                </a:solidFill>
                <a:latin typeface="Verdana"/>
                <a:cs typeface="Verdana"/>
              </a:rPr>
              <a:t>,</a:t>
            </a:r>
            <a:r>
              <a:rPr sz="1100" i="1" spc="-120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100" spc="-80" dirty="0">
                <a:solidFill>
                  <a:srgbClr val="000000"/>
                </a:solidFill>
                <a:latin typeface="Tahoma"/>
                <a:cs typeface="Tahoma"/>
              </a:rPr>
              <a:t>5</a:t>
            </a:r>
            <a:r>
              <a:rPr sz="1100" i="1" spc="-80" dirty="0">
                <a:solidFill>
                  <a:srgbClr val="000000"/>
                </a:solidFill>
                <a:latin typeface="Verdana"/>
                <a:cs typeface="Verdana"/>
              </a:rPr>
              <a:t>,</a:t>
            </a:r>
            <a:r>
              <a:rPr sz="1100" i="1" spc="-204" dirty="0">
                <a:solidFill>
                  <a:srgbClr val="000000"/>
                </a:solidFill>
                <a:latin typeface="Verdana"/>
                <a:cs typeface="Verdana"/>
              </a:rPr>
              <a:t> </a:t>
            </a:r>
            <a:r>
              <a:rPr sz="1100" spc="60" dirty="0">
                <a:solidFill>
                  <a:srgbClr val="000000"/>
                </a:solidFill>
                <a:latin typeface="Tahoma"/>
                <a:cs typeface="Tahoma"/>
              </a:rPr>
              <a:t>1</a:t>
            </a:r>
            <a:r>
              <a:rPr sz="1100" spc="60" dirty="0">
                <a:solidFill>
                  <a:srgbClr val="000000"/>
                </a:solidFill>
                <a:latin typeface="Lucida Sans Unicode"/>
                <a:cs typeface="Lucida Sans Unicode"/>
              </a:rPr>
              <a:t>}	</a:t>
            </a:r>
            <a:r>
              <a:rPr sz="1100" spc="-25" dirty="0">
                <a:solidFill>
                  <a:srgbClr val="000000"/>
                </a:solidFill>
                <a:latin typeface="Tahoma"/>
                <a:cs typeface="Tahoma"/>
              </a:rPr>
              <a:t>Amount </a:t>
            </a:r>
            <a:r>
              <a:rPr sz="1100" spc="-15" dirty="0">
                <a:solidFill>
                  <a:srgbClr val="000000"/>
                </a:solidFill>
                <a:latin typeface="Tahoma"/>
                <a:cs typeface="Tahoma"/>
              </a:rPr>
              <a:t>to </a:t>
            </a:r>
            <a:r>
              <a:rPr sz="1100" spc="-55" dirty="0">
                <a:solidFill>
                  <a:srgbClr val="000000"/>
                </a:solidFill>
                <a:latin typeface="Tahoma"/>
                <a:cs typeface="Tahoma"/>
              </a:rPr>
              <a:t>change, </a:t>
            </a:r>
            <a:r>
              <a:rPr sz="1100" i="1" spc="55" dirty="0">
                <a:solidFill>
                  <a:srgbClr val="000000"/>
                </a:solidFill>
                <a:latin typeface="Trebuchet MS"/>
                <a:cs typeface="Trebuchet MS"/>
              </a:rPr>
              <a:t>A </a:t>
            </a:r>
            <a:r>
              <a:rPr sz="1100" spc="45" dirty="0">
                <a:solidFill>
                  <a:srgbClr val="000000"/>
                </a:solidFill>
                <a:latin typeface="Tahoma"/>
                <a:cs typeface="Tahoma"/>
              </a:rPr>
              <a:t>=</a:t>
            </a:r>
            <a:r>
              <a:rPr sz="1100" spc="-40" dirty="0">
                <a:solidFill>
                  <a:srgbClr val="000000"/>
                </a:solidFill>
                <a:latin typeface="Tahoma"/>
                <a:cs typeface="Tahoma"/>
              </a:rPr>
              <a:t> </a:t>
            </a:r>
            <a:r>
              <a:rPr sz="1100" spc="-55" dirty="0">
                <a:solidFill>
                  <a:srgbClr val="000000"/>
                </a:solidFill>
                <a:latin typeface="Tahoma"/>
                <a:cs typeface="Tahoma"/>
              </a:rPr>
              <a:t>15  </a:t>
            </a:r>
            <a:r>
              <a:rPr sz="1100" spc="-40" dirty="0">
                <a:latin typeface="Tahoma"/>
                <a:cs typeface="Tahoma"/>
              </a:rPr>
              <a:t>Example </a:t>
            </a:r>
            <a:r>
              <a:rPr sz="1100" spc="-45" dirty="0">
                <a:latin typeface="Tahoma"/>
                <a:cs typeface="Tahoma"/>
              </a:rPr>
              <a:t>(using </a:t>
            </a:r>
            <a:r>
              <a:rPr sz="1100" spc="-65" dirty="0">
                <a:latin typeface="Tahoma"/>
                <a:cs typeface="Tahoma"/>
              </a:rPr>
              <a:t>greedy</a:t>
            </a:r>
            <a:r>
              <a:rPr sz="1100" spc="13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1" name="object 21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56908824"/>
      </p:ext>
    </p:extLst>
  </p:cSld>
  <p:clrMapOvr>
    <a:masterClrMapping/>
  </p:clrMapOvr>
  <p:transition>
    <p:cut/>
  </p:transition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5" y="931696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15368839"/>
      </p:ext>
    </p:extLst>
  </p:cSld>
  <p:clrMapOvr>
    <a:masterClrMapping/>
  </p:clrMapOvr>
  <p:transition>
    <p:cut/>
  </p:transition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624394" y="887918"/>
            <a:ext cx="335705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5" name="object 2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7" name="object 27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00230536"/>
      </p:ext>
    </p:extLst>
  </p:cSld>
  <p:clrMapOvr>
    <a:masterClrMapping/>
  </p:clrMapOvr>
  <p:transition>
    <p:cut/>
  </p:transition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5" y="931696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1141728"/>
            <a:ext cx="31284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47294" y="1389721"/>
            <a:ext cx="10433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1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7" name="object 2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9" name="object 29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791365"/>
      </p:ext>
    </p:extLst>
  </p:cSld>
  <p:clrMapOvr>
    <a:masterClrMapping/>
  </p:clrMapOvr>
  <p:transition>
    <p:cut/>
  </p:transition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5" y="931696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1141728"/>
            <a:ext cx="28998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 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1699361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6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389721"/>
            <a:ext cx="1956435" cy="490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optimal</a:t>
            </a:r>
            <a:r>
              <a:rPr sz="11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1886788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2509621"/>
            <a:ext cx="101600" cy="1016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249692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1743595"/>
            <a:ext cx="50751" cy="7660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3105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1781682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17689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17562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17435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8" name="object 3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83924869"/>
      </p:ext>
    </p:extLst>
  </p:cSld>
  <p:clrMapOvr>
    <a:masterClrMapping/>
  </p:clrMapOvr>
  <p:transition>
    <p:cut/>
  </p:transition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4" y="931696"/>
            <a:ext cx="3081897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1141728"/>
            <a:ext cx="27666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</a:t>
            </a:r>
            <a:r>
              <a:rPr sz="1100" spc="-330" dirty="0">
                <a:latin typeface="Lucida Sans Unicode"/>
                <a:cs typeface="Lucida Sans Unicode"/>
              </a:rPr>
              <a:t>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1699361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6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389721"/>
            <a:ext cx="1956435" cy="490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optimal</a:t>
            </a:r>
            <a:r>
              <a:rPr sz="11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1886788"/>
            <a:ext cx="3989651" cy="5060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2509621"/>
            <a:ext cx="101600" cy="1016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2496921"/>
            <a:ext cx="3938802" cy="1143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1743595"/>
            <a:ext cx="50751" cy="76602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3105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1781682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17689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17562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17435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9122" y="1960851"/>
            <a:ext cx="114214" cy="11421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49122" y="194936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4395" y="1906726"/>
            <a:ext cx="2212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12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2" name="object 4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32094407"/>
      </p:ext>
    </p:extLst>
  </p:cSld>
  <p:clrMapOvr>
    <a:masterClrMapping/>
  </p:clrMapOvr>
  <p:transition>
    <p:cut/>
  </p:transition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5" y="931696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1141728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1699361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6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389721"/>
            <a:ext cx="1956435" cy="490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optimal</a:t>
            </a:r>
            <a:r>
              <a:rPr sz="11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1886788"/>
            <a:ext cx="3989651" cy="506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2509621"/>
            <a:ext cx="101600" cy="101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2496921"/>
            <a:ext cx="3938802" cy="1143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1743595"/>
            <a:ext cx="50751" cy="76602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3105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1781682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17689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17562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17435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9122" y="1960851"/>
            <a:ext cx="114214" cy="1142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49122" y="194936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449122" y="2170883"/>
            <a:ext cx="114214" cy="114214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 txBox="1"/>
          <p:nvPr/>
        </p:nvSpPr>
        <p:spPr>
          <a:xfrm>
            <a:off x="472668" y="215939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24395" y="1862948"/>
            <a:ext cx="2835910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12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</a:t>
            </a:r>
            <a:endParaRPr sz="11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34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</a:t>
            </a:r>
            <a:r>
              <a:rPr sz="1100" spc="-55" dirty="0">
                <a:latin typeface="Tahoma"/>
                <a:cs typeface="Tahoma"/>
              </a:rPr>
              <a:t>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2" name="object 4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3" name="object 4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78372693"/>
      </p:ext>
    </p:extLst>
  </p:cSld>
  <p:clrMapOvr>
    <a:masterClrMapping/>
  </p:clrMapOvr>
  <p:transition>
    <p:cut/>
  </p:transition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5" y="931696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1141728"/>
            <a:ext cx="27666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1699361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6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389721"/>
            <a:ext cx="1956435" cy="490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optimal</a:t>
            </a:r>
            <a:r>
              <a:rPr sz="11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1886788"/>
            <a:ext cx="3989651" cy="5060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2509621"/>
            <a:ext cx="101600" cy="1016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2496921"/>
            <a:ext cx="3938802" cy="11430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1743595"/>
            <a:ext cx="50751" cy="766025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3105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1781682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17689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17562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17435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9122" y="1960851"/>
            <a:ext cx="114214" cy="11421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49122" y="194936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4395" y="1906726"/>
            <a:ext cx="2212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12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9122" y="2170883"/>
            <a:ext cx="114214" cy="1142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72668" y="215939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4394" y="2116758"/>
            <a:ext cx="312845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 </a:t>
            </a:r>
            <a:r>
              <a:rPr sz="1100" spc="-55" dirty="0">
                <a:latin typeface="Tahoma"/>
                <a:cs typeface="Tahoma"/>
              </a:rPr>
              <a:t>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347294" y="2364751"/>
            <a:ext cx="10433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3</a:t>
            </a:r>
            <a:r>
              <a:rPr sz="1100" spc="-1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4" name="object 4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45" name="object 4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46" name="object 46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81331186"/>
      </p:ext>
    </p:extLst>
  </p:cSld>
  <p:clrMapOvr>
    <a:masterClrMapping/>
  </p:clrMapOvr>
  <p:transition>
    <p:cut/>
  </p:transition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54762" y="121015"/>
            <a:ext cx="264795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20" dirty="0"/>
              <a:t>Coin </a:t>
            </a:r>
            <a:r>
              <a:rPr spc="5" dirty="0"/>
              <a:t>changing </a:t>
            </a:r>
            <a:r>
              <a:rPr spc="-35" dirty="0"/>
              <a:t>problem</a:t>
            </a:r>
            <a:r>
              <a:rPr spc="120" dirty="0"/>
              <a:t> </a:t>
            </a:r>
            <a:r>
              <a:rPr spc="5" dirty="0"/>
              <a:t>(continued)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09193" y="724318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5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47294" y="378000"/>
            <a:ext cx="3913504" cy="527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9600"/>
              </a:lnSpc>
              <a:spcBef>
                <a:spcPts val="100"/>
              </a:spcBef>
              <a:tabLst>
                <a:tab pos="2321560" algn="l"/>
              </a:tabLst>
            </a:pPr>
            <a:r>
              <a:rPr sz="1100" spc="-20" dirty="0">
                <a:latin typeface="Tahoma"/>
                <a:cs typeface="Tahoma"/>
              </a:rPr>
              <a:t>Coin </a:t>
            </a:r>
            <a:r>
              <a:rPr sz="1100" spc="-45" dirty="0">
                <a:latin typeface="Tahoma"/>
                <a:cs typeface="Tahoma"/>
              </a:rPr>
              <a:t>denominations, </a:t>
            </a:r>
            <a:r>
              <a:rPr sz="1100" i="1" spc="35" dirty="0">
                <a:latin typeface="Trebuchet MS"/>
                <a:cs typeface="Trebuchet MS"/>
              </a:rPr>
              <a:t>C </a:t>
            </a:r>
            <a:r>
              <a:rPr sz="1100" spc="45" dirty="0">
                <a:latin typeface="Tahoma"/>
                <a:cs typeface="Tahoma"/>
              </a:rPr>
              <a:t>= </a:t>
            </a:r>
            <a:r>
              <a:rPr sz="1100" spc="-10" dirty="0">
                <a:latin typeface="Lucida Sans Unicode"/>
                <a:cs typeface="Lucida Sans Unicode"/>
              </a:rPr>
              <a:t>{</a:t>
            </a:r>
            <a:r>
              <a:rPr sz="1100" spc="-10" dirty="0">
                <a:latin typeface="Tahoma"/>
                <a:cs typeface="Tahoma"/>
              </a:rPr>
              <a:t>12</a:t>
            </a:r>
            <a:r>
              <a:rPr sz="1100" i="1" spc="-10" dirty="0">
                <a:latin typeface="Verdana"/>
                <a:cs typeface="Verdana"/>
              </a:rPr>
              <a:t>,</a:t>
            </a:r>
            <a:r>
              <a:rPr sz="1100" i="1" spc="-120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5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60" dirty="0">
                <a:latin typeface="Tahoma"/>
                <a:cs typeface="Tahoma"/>
              </a:rPr>
              <a:t>1</a:t>
            </a:r>
            <a:r>
              <a:rPr sz="1100" spc="60" dirty="0">
                <a:latin typeface="Lucida Sans Unicode"/>
                <a:cs typeface="Lucida Sans Unicode"/>
              </a:rPr>
              <a:t>}	</a:t>
            </a:r>
            <a:r>
              <a:rPr sz="1100" spc="-25" dirty="0">
                <a:latin typeface="Tahoma"/>
                <a:cs typeface="Tahoma"/>
              </a:rPr>
              <a:t>Amount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55" dirty="0">
                <a:latin typeface="Tahoma"/>
                <a:cs typeface="Tahoma"/>
              </a:rPr>
              <a:t>change, </a:t>
            </a:r>
            <a:r>
              <a:rPr sz="1100" i="1" spc="55" dirty="0">
                <a:latin typeface="Trebuchet MS"/>
                <a:cs typeface="Trebuchet MS"/>
              </a:rPr>
              <a:t>A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  </a:t>
            </a: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65" dirty="0">
                <a:solidFill>
                  <a:srgbClr val="FFFFFF"/>
                </a:solidFill>
                <a:latin typeface="Tahoma"/>
                <a:cs typeface="Tahoma"/>
              </a:rPr>
              <a:t>greedy</a:t>
            </a:r>
            <a:r>
              <a:rPr sz="1100" spc="1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09194" y="91175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59994" y="1534591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410794" y="1521891"/>
            <a:ext cx="3938802" cy="11430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4298846" y="768565"/>
            <a:ext cx="50751" cy="76602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309193" y="95602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4298846" y="806653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4298846" y="7939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4298846" y="7812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4298846" y="768553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49122" y="985821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449122" y="97433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4395" y="931696"/>
            <a:ext cx="29743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1 12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</a:t>
            </a:r>
            <a:r>
              <a:rPr sz="1100" spc="-55" dirty="0">
                <a:latin typeface="Tahoma"/>
                <a:cs typeface="Tahoma"/>
              </a:rPr>
              <a:t>12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3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49122" y="1195854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472668" y="1184368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624395" y="1141728"/>
            <a:ext cx="27666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3 1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1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09193" y="1699361"/>
            <a:ext cx="3989704" cy="200660"/>
          </a:xfrm>
          <a:custGeom>
            <a:avLst/>
            <a:gdLst/>
            <a:ahLst/>
            <a:cxnLst/>
            <a:rect l="l" t="t" r="r" b="b"/>
            <a:pathLst>
              <a:path w="3989704" h="200660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200082"/>
                </a:lnTo>
                <a:lnTo>
                  <a:pt x="3989652" y="200082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005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347294" y="1389721"/>
            <a:ext cx="1956435" cy="49022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030"/>
              </a:spcBef>
            </a:pPr>
            <a:r>
              <a:rPr sz="1100" spc="-40" dirty="0">
                <a:solidFill>
                  <a:srgbClr val="FFFFFF"/>
                </a:solidFill>
                <a:latin typeface="Tahoma"/>
                <a:cs typeface="Tahoma"/>
              </a:rPr>
              <a:t>Example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(using </a:t>
            </a:r>
            <a:r>
              <a:rPr sz="1100" spc="-25" dirty="0">
                <a:solidFill>
                  <a:srgbClr val="FFFFFF"/>
                </a:solidFill>
                <a:latin typeface="Tahoma"/>
                <a:cs typeface="Tahoma"/>
              </a:rPr>
              <a:t>optimal</a:t>
            </a:r>
            <a:r>
              <a:rPr sz="11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35" dirty="0">
                <a:solidFill>
                  <a:srgbClr val="FFFFFF"/>
                </a:solidFill>
                <a:latin typeface="Tahoma"/>
                <a:cs typeface="Tahoma"/>
              </a:rPr>
              <a:t>strategy)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09194" y="1886788"/>
            <a:ext cx="3989651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359994" y="2509621"/>
            <a:ext cx="101600" cy="1016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410794" y="2496921"/>
            <a:ext cx="3938802" cy="1143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4298846" y="1743595"/>
            <a:ext cx="50751" cy="766025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309193" y="1931059"/>
            <a:ext cx="3989704" cy="629920"/>
          </a:xfrm>
          <a:custGeom>
            <a:avLst/>
            <a:gdLst/>
            <a:ahLst/>
            <a:cxnLst/>
            <a:rect l="l" t="t" r="r" b="b"/>
            <a:pathLst>
              <a:path w="3989704" h="629919">
                <a:moveTo>
                  <a:pt x="3989652" y="0"/>
                </a:moveTo>
                <a:lnTo>
                  <a:pt x="0" y="0"/>
                </a:lnTo>
                <a:lnTo>
                  <a:pt x="0" y="578562"/>
                </a:lnTo>
                <a:lnTo>
                  <a:pt x="4008" y="598286"/>
                </a:lnTo>
                <a:lnTo>
                  <a:pt x="14922" y="614439"/>
                </a:lnTo>
                <a:lnTo>
                  <a:pt x="31075" y="625354"/>
                </a:lnTo>
                <a:lnTo>
                  <a:pt x="50800" y="629362"/>
                </a:lnTo>
                <a:lnTo>
                  <a:pt x="3938852" y="629362"/>
                </a:lnTo>
                <a:lnTo>
                  <a:pt x="3958576" y="625354"/>
                </a:lnTo>
                <a:lnTo>
                  <a:pt x="3974729" y="614439"/>
                </a:lnTo>
                <a:lnTo>
                  <a:pt x="3985644" y="598286"/>
                </a:lnTo>
                <a:lnTo>
                  <a:pt x="3989652" y="578562"/>
                </a:lnTo>
                <a:lnTo>
                  <a:pt x="3989652" y="0"/>
                </a:lnTo>
                <a:close/>
              </a:path>
            </a:pathLst>
          </a:custGeom>
          <a:solidFill>
            <a:srgbClr val="E5EF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4298846" y="1781682"/>
            <a:ext cx="0" cy="747395"/>
          </a:xfrm>
          <a:custGeom>
            <a:avLst/>
            <a:gdLst/>
            <a:ahLst/>
            <a:cxnLst/>
            <a:rect l="l" t="t" r="r" b="b"/>
            <a:pathLst>
              <a:path h="747394">
                <a:moveTo>
                  <a:pt x="0" y="746988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4298846" y="17689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4298846" y="17562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4298846" y="174358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449122" y="1960851"/>
            <a:ext cx="114214" cy="114214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 txBox="1"/>
          <p:nvPr/>
        </p:nvSpPr>
        <p:spPr>
          <a:xfrm>
            <a:off x="449122" y="1949366"/>
            <a:ext cx="11430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6195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624395" y="1906726"/>
            <a:ext cx="22123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12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coins,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so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remaining</a:t>
            </a:r>
            <a:r>
              <a:rPr sz="1100" spc="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is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15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449122" y="2170883"/>
            <a:ext cx="114214" cy="11421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472668" y="2159399"/>
            <a:ext cx="6731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</a:t>
            </a:r>
            <a:endParaRPr sz="6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624395" y="2116758"/>
            <a:ext cx="283591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45" dirty="0">
                <a:latin typeface="Tahoma"/>
                <a:cs typeface="Tahoma"/>
              </a:rPr>
              <a:t>Choose </a:t>
            </a:r>
            <a:r>
              <a:rPr sz="1100" spc="-55" dirty="0">
                <a:latin typeface="Tahoma"/>
                <a:cs typeface="Tahoma"/>
              </a:rPr>
              <a:t>3 5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</a:t>
            </a:r>
            <a:r>
              <a:rPr sz="1100" spc="-50" dirty="0">
                <a:latin typeface="Tahoma"/>
                <a:cs typeface="Tahoma"/>
              </a:rPr>
              <a:t>remaining </a:t>
            </a:r>
            <a:r>
              <a:rPr sz="1100" spc="-35" dirty="0">
                <a:latin typeface="Tahoma"/>
                <a:cs typeface="Tahoma"/>
              </a:rPr>
              <a:t>is </a:t>
            </a:r>
            <a:r>
              <a:rPr sz="1100" spc="-55" dirty="0">
                <a:latin typeface="Tahoma"/>
                <a:cs typeface="Tahoma"/>
              </a:rPr>
              <a:t>15 </a:t>
            </a:r>
            <a:r>
              <a:rPr sz="1100" spc="-30" dirty="0">
                <a:latin typeface="Lucida Sans Unicode"/>
                <a:cs typeface="Lucida Sans Unicode"/>
              </a:rPr>
              <a:t>− </a:t>
            </a:r>
            <a:r>
              <a:rPr sz="1100" spc="-55" dirty="0">
                <a:latin typeface="Tahoma"/>
                <a:cs typeface="Tahoma"/>
              </a:rPr>
              <a:t>3 </a:t>
            </a:r>
            <a:r>
              <a:rPr sz="1100" spc="-330" dirty="0">
                <a:latin typeface="Lucida Sans Unicode"/>
                <a:cs typeface="Lucida Sans Unicode"/>
              </a:rPr>
              <a:t>∗ </a:t>
            </a:r>
            <a:r>
              <a:rPr lang="en-US" sz="1100" spc="-330" dirty="0">
                <a:latin typeface="Lucida Sans Unicode"/>
                <a:cs typeface="Lucida Sans Unicode"/>
              </a:rPr>
              <a:t>                      </a:t>
            </a:r>
            <a:r>
              <a:rPr sz="1100" spc="-55" dirty="0">
                <a:latin typeface="Tahoma"/>
                <a:cs typeface="Tahoma"/>
              </a:rPr>
              <a:t>5 </a:t>
            </a:r>
            <a:r>
              <a:rPr sz="1100" spc="45" dirty="0">
                <a:latin typeface="Tahoma"/>
                <a:cs typeface="Tahoma"/>
              </a:rPr>
              <a:t>=</a:t>
            </a:r>
            <a:r>
              <a:rPr sz="1100" spc="2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0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09193" y="2674391"/>
            <a:ext cx="3989704" cy="186690"/>
          </a:xfrm>
          <a:custGeom>
            <a:avLst/>
            <a:gdLst/>
            <a:ahLst/>
            <a:cxnLst/>
            <a:rect l="l" t="t" r="r" b="b"/>
            <a:pathLst>
              <a:path w="3989704" h="186689">
                <a:moveTo>
                  <a:pt x="3938852" y="0"/>
                </a:moveTo>
                <a:lnTo>
                  <a:pt x="50800" y="0"/>
                </a:lnTo>
                <a:lnTo>
                  <a:pt x="31075" y="4008"/>
                </a:lnTo>
                <a:lnTo>
                  <a:pt x="14922" y="14922"/>
                </a:lnTo>
                <a:lnTo>
                  <a:pt x="4008" y="31075"/>
                </a:lnTo>
                <a:lnTo>
                  <a:pt x="0" y="50800"/>
                </a:lnTo>
                <a:lnTo>
                  <a:pt x="0" y="186559"/>
                </a:lnTo>
                <a:lnTo>
                  <a:pt x="3989652" y="186559"/>
                </a:lnTo>
                <a:lnTo>
                  <a:pt x="3989652" y="50800"/>
                </a:lnTo>
                <a:lnTo>
                  <a:pt x="3985644" y="31075"/>
                </a:lnTo>
                <a:lnTo>
                  <a:pt x="3974729" y="14922"/>
                </a:lnTo>
                <a:lnTo>
                  <a:pt x="3958576" y="4008"/>
                </a:lnTo>
                <a:lnTo>
                  <a:pt x="3938852" y="0"/>
                </a:lnTo>
                <a:close/>
              </a:path>
            </a:pathLst>
          </a:custGeom>
          <a:solidFill>
            <a:srgbClr val="BF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309194" y="2848292"/>
            <a:ext cx="3989651" cy="5060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359994" y="3206737"/>
            <a:ext cx="101600" cy="1016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410794" y="3194037"/>
            <a:ext cx="3938802" cy="1143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4298846" y="2718625"/>
            <a:ext cx="50751" cy="488111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09193" y="2892575"/>
            <a:ext cx="3989704" cy="365125"/>
          </a:xfrm>
          <a:custGeom>
            <a:avLst/>
            <a:gdLst/>
            <a:ahLst/>
            <a:cxnLst/>
            <a:rect l="l" t="t" r="r" b="b"/>
            <a:pathLst>
              <a:path w="3989704" h="365125">
                <a:moveTo>
                  <a:pt x="3989652" y="0"/>
                </a:moveTo>
                <a:lnTo>
                  <a:pt x="0" y="0"/>
                </a:lnTo>
                <a:lnTo>
                  <a:pt x="0" y="314162"/>
                </a:lnTo>
                <a:lnTo>
                  <a:pt x="4008" y="333886"/>
                </a:lnTo>
                <a:lnTo>
                  <a:pt x="14922" y="350039"/>
                </a:lnTo>
                <a:lnTo>
                  <a:pt x="31075" y="360953"/>
                </a:lnTo>
                <a:lnTo>
                  <a:pt x="50800" y="364962"/>
                </a:lnTo>
                <a:lnTo>
                  <a:pt x="3938852" y="364962"/>
                </a:lnTo>
                <a:lnTo>
                  <a:pt x="3958576" y="360953"/>
                </a:lnTo>
                <a:lnTo>
                  <a:pt x="3974729" y="350039"/>
                </a:lnTo>
                <a:lnTo>
                  <a:pt x="3985644" y="333886"/>
                </a:lnTo>
                <a:lnTo>
                  <a:pt x="3989652" y="314162"/>
                </a:lnTo>
                <a:lnTo>
                  <a:pt x="3989652" y="0"/>
                </a:lnTo>
                <a:close/>
              </a:path>
            </a:pathLst>
          </a:custGeom>
          <a:solidFill>
            <a:srgbClr val="F8E5E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4298846" y="2756722"/>
            <a:ext cx="0" cy="469265"/>
          </a:xfrm>
          <a:custGeom>
            <a:avLst/>
            <a:gdLst/>
            <a:ahLst/>
            <a:cxnLst/>
            <a:rect l="l" t="t" r="r" b="b"/>
            <a:pathLst>
              <a:path h="469264">
                <a:moveTo>
                  <a:pt x="0" y="469065"/>
                </a:moveTo>
                <a:lnTo>
                  <a:pt x="0" y="0"/>
                </a:lnTo>
              </a:path>
            </a:pathLst>
          </a:custGeom>
          <a:ln w="3175">
            <a:solidFill>
              <a:srgbClr val="7F7F7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4298846" y="274402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AFAFA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4298846" y="2731322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699"/>
                </a:moveTo>
                <a:lnTo>
                  <a:pt x="0" y="0"/>
                </a:lnTo>
              </a:path>
            </a:pathLst>
          </a:custGeom>
          <a:ln w="3175">
            <a:solidFill>
              <a:srgbClr val="CECECE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298846" y="2718621"/>
            <a:ext cx="0" cy="12700"/>
          </a:xfrm>
          <a:custGeom>
            <a:avLst/>
            <a:gdLst/>
            <a:ahLst/>
            <a:cxnLst/>
            <a:rect l="l" t="t" r="r" b="b"/>
            <a:pathLst>
              <a:path h="12700">
                <a:moveTo>
                  <a:pt x="0" y="12700"/>
                </a:moveTo>
                <a:lnTo>
                  <a:pt x="0" y="0"/>
                </a:lnTo>
              </a:path>
            </a:pathLst>
          </a:custGeom>
          <a:ln w="3175">
            <a:solidFill>
              <a:srgbClr val="EFEF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 txBox="1"/>
          <p:nvPr/>
        </p:nvSpPr>
        <p:spPr>
          <a:xfrm>
            <a:off x="347294" y="2364751"/>
            <a:ext cx="3650615" cy="8623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Solution: </a:t>
            </a:r>
            <a:r>
              <a:rPr sz="1100" spc="-55" dirty="0">
                <a:latin typeface="Tahoma"/>
                <a:cs typeface="Tahoma"/>
              </a:rPr>
              <a:t>3</a:t>
            </a:r>
            <a:r>
              <a:rPr sz="1100" spc="-1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coins.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985"/>
              </a:spcBef>
            </a:pPr>
            <a:r>
              <a:rPr sz="1100" spc="-10" dirty="0">
                <a:solidFill>
                  <a:srgbClr val="FFFFFF"/>
                </a:solidFill>
                <a:latin typeface="Tahoma"/>
                <a:cs typeface="Tahoma"/>
              </a:rPr>
              <a:t>Key</a:t>
            </a:r>
            <a:r>
              <a:rPr sz="1100" spc="1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45" dirty="0">
                <a:solidFill>
                  <a:srgbClr val="FFFFFF"/>
                </a:solidFill>
                <a:latin typeface="Tahoma"/>
                <a:cs typeface="Tahoma"/>
              </a:rPr>
              <a:t>observation</a:t>
            </a:r>
            <a:endParaRPr sz="1100">
              <a:latin typeface="Tahoma"/>
              <a:cs typeface="Tahoma"/>
            </a:endParaRPr>
          </a:p>
          <a:p>
            <a:pPr marL="12700" marR="5080">
              <a:lnSpc>
                <a:spcPct val="102600"/>
              </a:lnSpc>
              <a:spcBef>
                <a:spcPts val="260"/>
              </a:spcBef>
            </a:pPr>
            <a:r>
              <a:rPr sz="1100" spc="-50" dirty="0">
                <a:latin typeface="Tahoma"/>
                <a:cs typeface="Tahoma"/>
              </a:rPr>
              <a:t>Correctness </a:t>
            </a:r>
            <a:r>
              <a:rPr sz="1100" spc="-65" dirty="0">
                <a:latin typeface="Tahoma"/>
                <a:cs typeface="Tahoma"/>
              </a:rPr>
              <a:t>depends </a:t>
            </a:r>
            <a:r>
              <a:rPr sz="1100" spc="-55" dirty="0">
                <a:latin typeface="Tahoma"/>
                <a:cs typeface="Tahoma"/>
              </a:rPr>
              <a:t>on </a:t>
            </a:r>
            <a:r>
              <a:rPr sz="1100" spc="-40" dirty="0">
                <a:latin typeface="Tahoma"/>
                <a:cs typeface="Tahoma"/>
              </a:rPr>
              <a:t>the choice </a:t>
            </a:r>
            <a:r>
              <a:rPr sz="1100" spc="-35" dirty="0">
                <a:latin typeface="Tahoma"/>
                <a:cs typeface="Tahoma"/>
              </a:rPr>
              <a:t>of </a:t>
            </a:r>
            <a:r>
              <a:rPr sz="1100" spc="-40" dirty="0">
                <a:latin typeface="Tahoma"/>
                <a:cs typeface="Tahoma"/>
              </a:rPr>
              <a:t>coins, </a:t>
            </a:r>
            <a:r>
              <a:rPr sz="1100" spc="-65" dirty="0">
                <a:latin typeface="Tahoma"/>
                <a:cs typeface="Tahoma"/>
              </a:rPr>
              <a:t>so greedy </a:t>
            </a:r>
            <a:r>
              <a:rPr sz="1100" spc="-40" dirty="0">
                <a:latin typeface="Tahoma"/>
                <a:cs typeface="Tahoma"/>
              </a:rPr>
              <a:t>strategy  </a:t>
            </a:r>
            <a:r>
              <a:rPr sz="1100" spc="-60" dirty="0">
                <a:latin typeface="Tahoma"/>
                <a:cs typeface="Tahoma"/>
              </a:rPr>
              <a:t>does</a:t>
            </a:r>
            <a:r>
              <a:rPr sz="1100" spc="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not </a:t>
            </a:r>
            <a:r>
              <a:rPr sz="1100" spc="-50" dirty="0">
                <a:latin typeface="Tahoma"/>
                <a:cs typeface="Tahoma"/>
              </a:rPr>
              <a:t>provide </a:t>
            </a:r>
            <a:r>
              <a:rPr sz="1100" spc="-55" dirty="0">
                <a:latin typeface="Tahoma"/>
                <a:cs typeface="Tahoma"/>
              </a:rPr>
              <a:t>a general </a:t>
            </a:r>
            <a:r>
              <a:rPr sz="1100" spc="-30" dirty="0">
                <a:latin typeface="Tahoma"/>
                <a:cs typeface="Tahoma"/>
              </a:rPr>
              <a:t>solution </a:t>
            </a:r>
            <a:r>
              <a:rPr sz="1100" spc="-15" dirty="0">
                <a:latin typeface="Tahoma"/>
                <a:cs typeface="Tahoma"/>
              </a:rPr>
              <a:t>to </a:t>
            </a:r>
            <a:r>
              <a:rPr sz="1100" spc="-25" dirty="0">
                <a:latin typeface="Tahoma"/>
                <a:cs typeface="Tahoma"/>
              </a:rPr>
              <a:t>this </a:t>
            </a:r>
            <a:r>
              <a:rPr sz="1100" spc="-45" dirty="0">
                <a:latin typeface="Tahoma"/>
                <a:cs typeface="Tahoma"/>
              </a:rPr>
              <a:t>problem!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4" name="object 5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55" name="object 5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56" name="object 56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65484964"/>
      </p:ext>
    </p:extLst>
  </p:cSld>
  <p:clrMapOvr>
    <a:masterClrMapping/>
  </p:clrMapOvr>
  <p:transition>
    <p:cut/>
  </p:transition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34" name="object 3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35" name="object 35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23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589" y="743861"/>
            <a:ext cx="4472315" cy="2232986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23850" y="1860354"/>
            <a:ext cx="3733800" cy="4034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323849" y="2263775"/>
            <a:ext cx="3973061" cy="4034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/>
          <p:cNvSpPr/>
          <p:nvPr/>
        </p:nvSpPr>
        <p:spPr>
          <a:xfrm>
            <a:off x="247650" y="2698554"/>
            <a:ext cx="4114800" cy="403421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5638389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6" grpId="0" animBg="1"/>
      <p:bldP spid="37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5" name="object 25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24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27" y="739775"/>
            <a:ext cx="4427865" cy="2033764"/>
          </a:xfrm>
          <a:prstGeom prst="rect">
            <a:avLst/>
          </a:prstGeom>
        </p:spPr>
      </p:pic>
      <p:sp>
        <p:nvSpPr>
          <p:cNvPr id="22" name="Rectangle 21"/>
          <p:cNvSpPr/>
          <p:nvPr/>
        </p:nvSpPr>
        <p:spPr>
          <a:xfrm>
            <a:off x="320846" y="1379518"/>
            <a:ext cx="4041604" cy="427057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320846" y="1806574"/>
            <a:ext cx="2974804" cy="639743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188718" y="2586114"/>
            <a:ext cx="4041604" cy="42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  <p:bldP spid="27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1531670" y="1220889"/>
          <a:ext cx="1539875" cy="70854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18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10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</a:t>
                      </a:r>
                      <a:r>
                        <a:rPr sz="1100" spc="-2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347294" y="2043949"/>
            <a:ext cx="947419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Capacity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W=20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25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0" y="121015"/>
            <a:ext cx="46081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26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022" y="463111"/>
            <a:ext cx="4379170" cy="283510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304412" y="1273175"/>
            <a:ext cx="4041604" cy="42705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323850" y="1700232"/>
            <a:ext cx="4114800" cy="273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323850" y="1962828"/>
            <a:ext cx="4041604" cy="273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23850" y="2263775"/>
            <a:ext cx="4041604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323850" y="2710760"/>
            <a:ext cx="4041604" cy="39121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323850" y="3128937"/>
            <a:ext cx="4041604" cy="273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object 8"/>
          <p:cNvGraphicFramePr>
            <a:graphicFrameLocks noGrp="1"/>
          </p:cNvGraphicFramePr>
          <p:nvPr/>
        </p:nvGraphicFramePr>
        <p:xfrm>
          <a:off x="2838451" y="853145"/>
          <a:ext cx="1371600" cy="540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6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Item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Benefit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Weight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18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10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95051790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27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237" y="1505263"/>
            <a:ext cx="4341955" cy="1228725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95250" y="1985025"/>
            <a:ext cx="4114800" cy="74896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0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567048"/>
              </p:ext>
            </p:extLst>
          </p:nvPr>
        </p:nvGraphicFramePr>
        <p:xfrm>
          <a:off x="1320355" y="627396"/>
          <a:ext cx="1371600" cy="540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6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Item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Benefit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Weight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18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10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74164654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0" y="121015"/>
            <a:ext cx="4608195" cy="232756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28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562" y="496492"/>
            <a:ext cx="4261244" cy="2884248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283200" y="1437236"/>
            <a:ext cx="4041604" cy="273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295714" y="1688171"/>
            <a:ext cx="4041604" cy="2739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309782" y="1971869"/>
            <a:ext cx="4041604" cy="354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79298" y="2373971"/>
            <a:ext cx="4041604" cy="354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/>
          <p:nvPr/>
        </p:nvSpPr>
        <p:spPr>
          <a:xfrm>
            <a:off x="251164" y="2797175"/>
            <a:ext cx="4041604" cy="35403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47650" y="3205137"/>
            <a:ext cx="4041604" cy="2556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10562" y="511175"/>
            <a:ext cx="4219322" cy="50534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2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2444035"/>
              </p:ext>
            </p:extLst>
          </p:nvPr>
        </p:nvGraphicFramePr>
        <p:xfrm>
          <a:off x="1619250" y="432320"/>
          <a:ext cx="1371600" cy="540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6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Item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Benefit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Weight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18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10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" name="Rectangle 19"/>
          <p:cNvSpPr/>
          <p:nvPr/>
        </p:nvSpPr>
        <p:spPr>
          <a:xfrm>
            <a:off x="435600" y="1119994"/>
            <a:ext cx="4041604" cy="30980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37343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1" grpId="0" animBg="1"/>
      <p:bldP spid="20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</a:t>
            </a:r>
            <a:r>
              <a:rPr sz="1400" spc="-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problem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29</a:t>
            </a:r>
            <a:r>
              <a:rPr spc="-95" dirty="0"/>
              <a:t> </a:t>
            </a:r>
            <a:r>
              <a:rPr spc="160" dirty="0"/>
              <a:t>/</a:t>
            </a:r>
            <a:r>
              <a:rPr spc="-90" dirty="0"/>
              <a:t> </a:t>
            </a:r>
            <a:r>
              <a:rPr spc="-5" dirty="0"/>
              <a:t>38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0420" y="1044575"/>
            <a:ext cx="4239742" cy="1076663"/>
          </a:xfrm>
          <a:prstGeom prst="rect">
            <a:avLst/>
          </a:prstGeom>
        </p:spPr>
      </p:pic>
      <p:graphicFrame>
        <p:nvGraphicFramePr>
          <p:cNvPr id="9" name="object 8"/>
          <p:cNvGraphicFramePr>
            <a:graphicFrameLocks noGrp="1"/>
          </p:cNvGraphicFramePr>
          <p:nvPr/>
        </p:nvGraphicFramePr>
        <p:xfrm>
          <a:off x="1847850" y="434975"/>
          <a:ext cx="1371600" cy="54051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7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016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28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6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Item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Benefit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Weight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18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10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2627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482566"/>
              </p:ext>
            </p:extLst>
          </p:nvPr>
        </p:nvGraphicFramePr>
        <p:xfrm>
          <a:off x="247650" y="2243591"/>
          <a:ext cx="2205732" cy="8354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442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3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59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08862"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b="1" spc="-6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Item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Benefit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800" b="1" spc="-3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Weight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lang="en-US" sz="800" b="1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Ratio</a:t>
                      </a:r>
                      <a:endParaRPr sz="800" b="1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8862"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A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18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25/18 = </a:t>
                      </a:r>
                      <a:r>
                        <a:rPr lang="en-US" sz="80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1.4</a:t>
                      </a:r>
                      <a:endParaRPr sz="800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8862"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B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10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15/10 = </a:t>
                      </a:r>
                      <a:r>
                        <a:rPr lang="en-US" sz="80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1.5</a:t>
                      </a:r>
                      <a:endParaRPr sz="800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8862"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C</a:t>
                      </a: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24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sz="800" spc="-5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15</a:t>
                      </a:r>
                      <a:r>
                        <a:rPr sz="800" spc="-2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800" spc="-45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800" dirty="0">
                        <a:solidFill>
                          <a:srgbClr val="FF000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83185" algn="ctr">
                        <a:lnSpc>
                          <a:spcPts val="1190"/>
                        </a:lnSpc>
                      </a:pPr>
                      <a:r>
                        <a:rPr lang="en-US" sz="800" dirty="0">
                          <a:solidFill>
                            <a:srgbClr val="FF0000"/>
                          </a:solidFill>
                          <a:latin typeface="Tahoma"/>
                          <a:cs typeface="Tahoma"/>
                        </a:rPr>
                        <a:t>24/15 = </a:t>
                      </a:r>
                      <a:r>
                        <a:rPr lang="en-US" sz="800" dirty="0">
                          <a:solidFill>
                            <a:srgbClr val="002060"/>
                          </a:solidFill>
                          <a:latin typeface="Tahoma"/>
                          <a:cs typeface="Tahoma"/>
                        </a:rPr>
                        <a:t>1.6</a:t>
                      </a:r>
                      <a:endParaRPr sz="800" dirty="0">
                        <a:solidFill>
                          <a:srgbClr val="002060"/>
                        </a:solidFill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843882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15950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531670" y="2029180"/>
          <a:ext cx="1539875" cy="885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47294" y="3035184"/>
            <a:ext cx="22796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0" dirty="0">
                <a:latin typeface="Tahoma"/>
                <a:cs typeface="Tahoma"/>
              </a:rPr>
              <a:t>Calculate </a:t>
            </a:r>
            <a:r>
              <a:rPr sz="1100" spc="-20" dirty="0">
                <a:latin typeface="Tahoma"/>
                <a:cs typeface="Tahoma"/>
              </a:rPr>
              <a:t>benefit/kg </a:t>
            </a:r>
            <a:r>
              <a:rPr sz="1100" spc="-55" dirty="0">
                <a:latin typeface="Tahoma"/>
                <a:cs typeface="Tahoma"/>
              </a:rPr>
              <a:t>– </a:t>
            </a:r>
            <a:r>
              <a:rPr sz="1100" spc="-40" dirty="0">
                <a:latin typeface="Tahoma"/>
                <a:cs typeface="Tahoma"/>
              </a:rPr>
              <a:t>the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value</a:t>
            </a:r>
            <a:r>
              <a:rPr sz="1100" spc="215" dirty="0">
                <a:solidFill>
                  <a:srgbClr val="0000FF"/>
                </a:solidFill>
                <a:latin typeface="Tahoma"/>
                <a:cs typeface="Tahoma"/>
              </a:rPr>
              <a:t>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index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5" name="object 15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30</a:t>
            </a:r>
            <a:r>
              <a:rPr spc="-95" dirty="0"/>
              <a:t> </a:t>
            </a:r>
            <a:r>
              <a:rPr spc="160" dirty="0"/>
              <a:t>/</a:t>
            </a:r>
            <a:r>
              <a:rPr spc="-90" dirty="0"/>
              <a:t> </a:t>
            </a:r>
            <a:r>
              <a:rPr spc="-5" dirty="0"/>
              <a:t>38</a:t>
            </a:r>
          </a:p>
        </p:txBody>
      </p:sp>
    </p:spTree>
    <p:extLst>
      <p:ext uri="{BB962C8B-B14F-4D97-AF65-F5344CB8AC3E}">
        <p14:creationId xmlns:p14="http://schemas.microsoft.com/office/powerpoint/2010/main" val="3194353817"/>
      </p:ext>
    </p:extLst>
  </p:cSld>
  <p:clrMapOvr>
    <a:masterClrMapping/>
  </p:clrMapOvr>
  <p:transition>
    <p:cut/>
  </p:transition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21360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121130" y="2034590"/>
          <a:ext cx="2360930" cy="885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" name="object 13"/>
          <p:cNvSpPr txBox="1"/>
          <p:nvPr/>
        </p:nvSpPr>
        <p:spPr>
          <a:xfrm>
            <a:off x="488315" y="3044191"/>
            <a:ext cx="2045335" cy="438784"/>
          </a:xfrm>
          <a:prstGeom prst="rect">
            <a:avLst/>
          </a:prstGeom>
        </p:spPr>
        <p:txBody>
          <a:bodyPr vert="horz" wrap="square" lIns="0" tIns="3238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1100" spc="-30" dirty="0">
                <a:latin typeface="Tahoma"/>
                <a:cs typeface="Tahoma"/>
              </a:rPr>
              <a:t>Sort </a:t>
            </a:r>
            <a:r>
              <a:rPr sz="1100" spc="-65" dirty="0">
                <a:latin typeface="Tahoma"/>
                <a:cs typeface="Tahoma"/>
              </a:rPr>
              <a:t>by </a:t>
            </a:r>
            <a:r>
              <a:rPr sz="1100" spc="-50" dirty="0">
                <a:solidFill>
                  <a:srgbClr val="0000FF"/>
                </a:solidFill>
                <a:latin typeface="Tahoma"/>
                <a:cs typeface="Tahoma"/>
              </a:rPr>
              <a:t>non-increasing </a:t>
            </a:r>
            <a:r>
              <a:rPr sz="1100" spc="-50" dirty="0">
                <a:latin typeface="Tahoma"/>
                <a:cs typeface="Tahoma"/>
              </a:rPr>
              <a:t>value</a:t>
            </a:r>
            <a:r>
              <a:rPr sz="1100" spc="19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index.</a:t>
            </a:r>
            <a:endParaRPr sz="1100" dirty="0">
              <a:latin typeface="Tahoma"/>
              <a:cs typeface="Tahoma"/>
            </a:endParaRPr>
          </a:p>
          <a:p>
            <a:pPr marL="1127760">
              <a:lnSpc>
                <a:spcPct val="100000"/>
              </a:lnSpc>
              <a:spcBef>
                <a:spcPts val="1000"/>
              </a:spcBef>
            </a:pPr>
            <a:r>
              <a:rPr sz="600" b="1" spc="-40" dirty="0">
                <a:solidFill>
                  <a:srgbClr val="FFFFFF"/>
                </a:solidFill>
                <a:latin typeface="Arial"/>
                <a:cs typeface="Arial"/>
              </a:rPr>
              <a:t>Licensed</a:t>
            </a:r>
            <a:r>
              <a:rPr sz="600" b="1" spc="4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under</a:t>
            </a:r>
            <a:endParaRPr sz="6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97877738"/>
      </p:ext>
    </p:extLst>
  </p:cSld>
  <p:clrMapOvr>
    <a:masterClrMapping/>
  </p:clrMapOvr>
  <p:transition>
    <p:cut/>
  </p:transition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486943"/>
            <a:ext cx="3200400" cy="13258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1121130" y="2000173"/>
          <a:ext cx="2360930" cy="88566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 txBox="1"/>
          <p:nvPr/>
        </p:nvSpPr>
        <p:spPr>
          <a:xfrm>
            <a:off x="347294" y="3043376"/>
            <a:ext cx="1063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Maximum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weight: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461655" y="3057918"/>
            <a:ext cx="33401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24172814"/>
      </p:ext>
    </p:extLst>
  </p:cSld>
  <p:clrMapOvr>
    <a:masterClrMapping/>
  </p:clrMapOvr>
  <p:transition>
    <p:cut/>
  </p:transition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89826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7466" y="1951215"/>
          <a:ext cx="2928619" cy="8856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Chosen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767950" y="2091525"/>
            <a:ext cx="480060" cy="796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294" y="2889058"/>
            <a:ext cx="1063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Maximum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weight: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1655" y="2903601"/>
            <a:ext cx="33401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93417" y="2889058"/>
            <a:ext cx="670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Remaining: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715031" y="2903601"/>
            <a:ext cx="37973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46793" y="2889058"/>
            <a:ext cx="474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Benefit: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773487" y="2903601"/>
            <a:ext cx="37973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37007125"/>
      </p:ext>
    </p:extLst>
  </p:cSld>
  <p:clrMapOvr>
    <a:masterClrMapping/>
  </p:clrMapOvr>
  <p:transition>
    <p:cut/>
  </p:transition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89826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7466" y="1951215"/>
          <a:ext cx="2928619" cy="8856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Chosen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767950" y="2091525"/>
            <a:ext cx="480060" cy="796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294" y="2889058"/>
            <a:ext cx="1063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Maximum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weight: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1655" y="2903601"/>
            <a:ext cx="33401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4138" y="2889058"/>
            <a:ext cx="670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Remaining: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5752" y="2903601"/>
            <a:ext cx="37973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4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08248" y="2889058"/>
            <a:ext cx="474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Benefit: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4943" y="2903601"/>
            <a:ext cx="518159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200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41157885"/>
      </p:ext>
    </p:extLst>
  </p:cSld>
  <p:clrMapOvr>
    <a:masterClrMapping/>
  </p:clrMapOvr>
  <p:transition>
    <p:cut/>
  </p:transition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89826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7466" y="1951215"/>
          <a:ext cx="2928619" cy="8856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Chosen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767950" y="2091525"/>
            <a:ext cx="480060" cy="796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294" y="2889058"/>
            <a:ext cx="1063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Maximum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weight: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1655" y="2903601"/>
            <a:ext cx="33401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4138" y="2889058"/>
            <a:ext cx="670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Remaining: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5752" y="2903601"/>
            <a:ext cx="37973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1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08248" y="2889058"/>
            <a:ext cx="474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Benefit: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4943" y="2903601"/>
            <a:ext cx="518159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440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7553914"/>
      </p:ext>
    </p:extLst>
  </p:cSld>
  <p:clrMapOvr>
    <a:masterClrMapping/>
  </p:clrMapOvr>
  <p:transition>
    <p:cut/>
  </p:transition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89826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7466" y="1951215"/>
          <a:ext cx="2928619" cy="8856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Chosen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767950" y="2091525"/>
            <a:ext cx="480060" cy="796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294" y="2889058"/>
            <a:ext cx="1063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Maximum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weight: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1655" y="2903601"/>
            <a:ext cx="33401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4138" y="2889058"/>
            <a:ext cx="670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Remaining: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5752" y="2903601"/>
            <a:ext cx="37973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08248" y="2889058"/>
            <a:ext cx="474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Benefit: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4943" y="2903601"/>
            <a:ext cx="518159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510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74310630"/>
      </p:ext>
    </p:extLst>
  </p:cSld>
  <p:clrMapOvr>
    <a:masterClrMapping/>
  </p:clrMapOvr>
  <p:transition>
    <p:cut/>
  </p:transition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554200" y="0"/>
            <a:ext cx="655320" cy="1168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600" b="1" spc="-30" dirty="0">
                <a:solidFill>
                  <a:srgbClr val="FFFFFF"/>
                </a:solidFill>
                <a:latin typeface="Arial"/>
                <a:cs typeface="Arial"/>
              </a:rPr>
              <a:t>Greedy</a:t>
            </a:r>
            <a:r>
              <a:rPr sz="600" b="1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25" dirty="0">
                <a:solidFill>
                  <a:srgbClr val="FFFFFF"/>
                </a:solidFill>
                <a:latin typeface="Arial"/>
                <a:cs typeface="Arial"/>
              </a:rPr>
              <a:t>algorithms</a:t>
            </a:r>
            <a:endParaRPr sz="6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spc="10" dirty="0">
                <a:solidFill>
                  <a:srgbClr val="FFFFFF"/>
                </a:solidFill>
                <a:latin typeface="Calibri"/>
                <a:cs typeface="Calibri"/>
              </a:rPr>
              <a:t>Fractional knapsack </a:t>
            </a:r>
            <a:r>
              <a:rPr sz="1400" spc="-5" dirty="0">
                <a:solidFill>
                  <a:srgbClr val="FFFFFF"/>
                </a:solidFill>
                <a:latin typeface="Calibri"/>
                <a:cs typeface="Calibri"/>
              </a:rPr>
              <a:t>in</a:t>
            </a:r>
            <a:r>
              <a:rPr sz="1400" spc="11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action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03808" y="589826"/>
            <a:ext cx="3200400" cy="132588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9" name="object 9"/>
          <p:cNvGraphicFramePr>
            <a:graphicFrameLocks noGrp="1"/>
          </p:cNvGraphicFramePr>
          <p:nvPr/>
        </p:nvGraphicFramePr>
        <p:xfrm>
          <a:off x="357466" y="1951215"/>
          <a:ext cx="2928619" cy="8856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121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32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645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105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676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65" dirty="0">
                          <a:latin typeface="Tahoma"/>
                          <a:cs typeface="Tahoma"/>
                        </a:rPr>
                        <a:t>Item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Benefit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0" dirty="0">
                          <a:latin typeface="Tahoma"/>
                          <a:cs typeface="Tahoma"/>
                        </a:rPr>
                        <a:t>Weight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35" dirty="0">
                          <a:latin typeface="Tahoma"/>
                          <a:cs typeface="Tahoma"/>
                        </a:rPr>
                        <a:t>Value</a:t>
                      </a:r>
                      <a:r>
                        <a:rPr sz="1100" spc="-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50" dirty="0">
                          <a:latin typeface="Tahoma"/>
                          <a:cs typeface="Tahoma"/>
                        </a:rPr>
                        <a:t>index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Chosen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B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200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7126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D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80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3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A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140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2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70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1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7139"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dirty="0">
                          <a:latin typeface="Tahoma"/>
                          <a:cs typeface="Tahoma"/>
                        </a:rPr>
                        <a:t>C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150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5</a:t>
                      </a:r>
                      <a:r>
                        <a:rPr sz="1100" spc="-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75565">
                        <a:lnSpc>
                          <a:spcPts val="1190"/>
                        </a:lnSpc>
                      </a:pPr>
                      <a:r>
                        <a:rPr sz="1100" spc="-55" dirty="0">
                          <a:latin typeface="Tahoma"/>
                          <a:cs typeface="Tahoma"/>
                        </a:rPr>
                        <a:t>30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21920">
                        <a:lnSpc>
                          <a:spcPts val="1190"/>
                        </a:lnSpc>
                      </a:pPr>
                      <a:r>
                        <a:rPr sz="1100" spc="-5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0</a:t>
                      </a:r>
                      <a:r>
                        <a:rPr sz="1100" spc="-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 </a:t>
                      </a:r>
                      <a:r>
                        <a:rPr sz="1100" spc="-45" dirty="0">
                          <a:solidFill>
                            <a:srgbClr val="0000FF"/>
                          </a:solidFill>
                          <a:latin typeface="Tahoma"/>
                          <a:cs typeface="Tahoma"/>
                        </a:rPr>
                        <a:t>kg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object 10"/>
          <p:cNvSpPr/>
          <p:nvPr/>
        </p:nvSpPr>
        <p:spPr>
          <a:xfrm>
            <a:off x="3767950" y="2091525"/>
            <a:ext cx="480060" cy="79689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47294" y="2889058"/>
            <a:ext cx="10636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25" dirty="0">
                <a:latin typeface="Tahoma"/>
                <a:cs typeface="Tahoma"/>
              </a:rPr>
              <a:t>Maximum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weight: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461655" y="2903601"/>
            <a:ext cx="33401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40005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924138" y="2889058"/>
            <a:ext cx="6705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Remaining: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645752" y="2903601"/>
            <a:ext cx="379730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0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108248" y="2889058"/>
            <a:ext cx="4749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Benefit: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634943" y="2903601"/>
            <a:ext cx="518159" cy="204470"/>
          </a:xfrm>
          <a:prstGeom prst="rect">
            <a:avLst/>
          </a:prstGeom>
          <a:solidFill>
            <a:srgbClr val="FFF200"/>
          </a:solidFill>
          <a:ln w="5054">
            <a:solidFill>
              <a:srgbClr val="0000FF"/>
            </a:solidFill>
          </a:ln>
        </p:spPr>
        <p:txBody>
          <a:bodyPr vert="horz" wrap="square" lIns="0" tIns="0" rIns="0" bIns="0" rtlCol="0">
            <a:spAutoFit/>
          </a:bodyPr>
          <a:lstStyle/>
          <a:p>
            <a:pPr marL="86360">
              <a:lnSpc>
                <a:spcPts val="1295"/>
              </a:lnSpc>
            </a:pPr>
            <a:r>
              <a:rPr sz="1100" spc="-55" dirty="0">
                <a:latin typeface="Tahoma"/>
                <a:cs typeface="Tahoma"/>
              </a:rPr>
              <a:t>510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kg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30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67971959"/>
      </p:ext>
    </p:extLst>
  </p:cSld>
  <p:clrMapOvr>
    <a:masterClrMapping/>
  </p:clrMapOvr>
  <p:transition>
    <p:cut/>
  </p:transition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7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Fractional Knapsack Problem</a:t>
            </a:r>
          </a:p>
        </p:txBody>
      </p:sp>
      <p:sp>
        <p:nvSpPr>
          <p:cNvPr id="16388" name="Rectangle 3"/>
          <p:cNvSpPr>
            <a:spLocks noGrp="1" noChangeArrowheads="1"/>
          </p:cNvSpPr>
          <p:nvPr>
            <p:ph idx="1"/>
          </p:nvPr>
        </p:nvSpPr>
        <p:spPr>
          <a:xfrm>
            <a:off x="174428" y="337718"/>
            <a:ext cx="4293396" cy="630942"/>
          </a:xfrm>
        </p:spPr>
        <p:txBody>
          <a:bodyPr/>
          <a:lstStyle/>
          <a:p>
            <a:r>
              <a:rPr lang="en-US" sz="1050" b="1" dirty="0">
                <a:solidFill>
                  <a:schemeClr val="tx2"/>
                </a:solidFill>
                <a:latin typeface="+mj-lt"/>
              </a:rPr>
              <a:t>Given:</a:t>
            </a:r>
            <a:r>
              <a:rPr lang="en-US" sz="1050" dirty="0">
                <a:latin typeface="+mj-lt"/>
              </a:rPr>
              <a:t> A set S of</a:t>
            </a:r>
            <a:r>
              <a:rPr lang="en-US" sz="1050" dirty="0">
                <a:solidFill>
                  <a:srgbClr val="CC0000"/>
                </a:solidFill>
                <a:latin typeface="+mj-lt"/>
              </a:rPr>
              <a:t> </a:t>
            </a:r>
            <a:r>
              <a:rPr lang="en-US" sz="1050" b="1" dirty="0">
                <a:solidFill>
                  <a:srgbClr val="CC0000"/>
                </a:solidFill>
                <a:latin typeface="+mj-lt"/>
              </a:rPr>
              <a:t>n</a:t>
            </a:r>
            <a:r>
              <a:rPr lang="en-US" sz="1050" dirty="0">
                <a:latin typeface="+mj-lt"/>
              </a:rPr>
              <a:t> items, with each item </a:t>
            </a:r>
            <a:r>
              <a:rPr lang="en-US" sz="1050" b="1" dirty="0" err="1">
                <a:solidFill>
                  <a:srgbClr val="CC0000"/>
                </a:solidFill>
                <a:latin typeface="+mj-lt"/>
              </a:rPr>
              <a:t>i</a:t>
            </a:r>
            <a:r>
              <a:rPr lang="en-US" sz="1050" dirty="0">
                <a:latin typeface="+mj-lt"/>
              </a:rPr>
              <a:t> having</a:t>
            </a:r>
          </a:p>
          <a:p>
            <a:pPr lvl="1"/>
            <a:r>
              <a:rPr lang="en-US" sz="1000" b="1" dirty="0">
                <a:latin typeface="+mj-lt"/>
              </a:rPr>
              <a:t>b</a:t>
            </a:r>
            <a:r>
              <a:rPr lang="en-US" sz="1000" b="1" baseline="-25000" dirty="0">
                <a:latin typeface="+mj-lt"/>
              </a:rPr>
              <a:t>i</a:t>
            </a:r>
            <a:r>
              <a:rPr lang="en-US" sz="1000" dirty="0">
                <a:latin typeface="+mj-lt"/>
              </a:rPr>
              <a:t> - a positive benefit</a:t>
            </a:r>
          </a:p>
          <a:p>
            <a:pPr lvl="1"/>
            <a:r>
              <a:rPr lang="en-US" sz="1000" b="1" dirty="0" err="1">
                <a:latin typeface="+mj-lt"/>
              </a:rPr>
              <a:t>w</a:t>
            </a:r>
            <a:r>
              <a:rPr lang="en-US" sz="1000" b="1" baseline="-25000" dirty="0" err="1">
                <a:latin typeface="+mj-lt"/>
              </a:rPr>
              <a:t>i</a:t>
            </a:r>
            <a:r>
              <a:rPr lang="en-US" sz="1000" dirty="0">
                <a:latin typeface="+mj-lt"/>
              </a:rPr>
              <a:t> - a positive weight</a:t>
            </a:r>
          </a:p>
          <a:p>
            <a:r>
              <a:rPr lang="en-US" sz="1050" b="1" dirty="0">
                <a:solidFill>
                  <a:schemeClr val="tx2"/>
                </a:solidFill>
                <a:latin typeface="+mj-lt"/>
              </a:rPr>
              <a:t>Goal:</a:t>
            </a:r>
            <a:r>
              <a:rPr lang="en-US" sz="1050" dirty="0">
                <a:latin typeface="+mj-lt"/>
              </a:rPr>
              <a:t> Choose items with maximum total benefit but with weight at most </a:t>
            </a:r>
            <a:r>
              <a:rPr lang="en-US" sz="1050" b="1" dirty="0">
                <a:latin typeface="+mj-lt"/>
              </a:rPr>
              <a:t>W</a:t>
            </a:r>
            <a:r>
              <a:rPr lang="en-US" sz="1050" dirty="0">
                <a:latin typeface="+mj-lt"/>
              </a:rPr>
              <a:t>.</a:t>
            </a:r>
          </a:p>
        </p:txBody>
      </p:sp>
      <p:pic>
        <p:nvPicPr>
          <p:cNvPr id="16389" name="Picture 4" descr="HH0100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6013" y="1974486"/>
            <a:ext cx="249714" cy="4474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0" name="Picture 5" descr="HH0100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26959" y="1782399"/>
            <a:ext cx="356963" cy="6394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1" name="Picture 6" descr="HH0100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71962" y="2128156"/>
            <a:ext cx="164074" cy="29373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2" name="Picture 7" descr="HH0100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2090" y="1884045"/>
            <a:ext cx="300136" cy="5378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6393" name="Picture 8" descr="HH01008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481" y="2152968"/>
            <a:ext cx="142465" cy="2553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94" name="Text Box 9"/>
          <p:cNvSpPr txBox="1">
            <a:spLocks noChangeArrowheads="1"/>
          </p:cNvSpPr>
          <p:nvPr/>
        </p:nvSpPr>
        <p:spPr bwMode="auto">
          <a:xfrm>
            <a:off x="185098" y="2421890"/>
            <a:ext cx="714298" cy="27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210">
                <a:latin typeface="Tahoma" panose="020B0604030504040204" pitchFamily="34" charset="0"/>
              </a:rPr>
              <a:t>Weight:</a:t>
            </a:r>
          </a:p>
        </p:txBody>
      </p:sp>
      <p:sp>
        <p:nvSpPr>
          <p:cNvPr id="16395" name="Text Box 10"/>
          <p:cNvSpPr txBox="1">
            <a:spLocks noChangeArrowheads="1"/>
          </p:cNvSpPr>
          <p:nvPr/>
        </p:nvSpPr>
        <p:spPr bwMode="auto">
          <a:xfrm>
            <a:off x="190474" y="2613977"/>
            <a:ext cx="717953" cy="27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210">
                <a:latin typeface="Tahoma" panose="020B0604030504040204" pitchFamily="34" charset="0"/>
              </a:rPr>
              <a:t>Benefit:</a:t>
            </a:r>
          </a:p>
        </p:txBody>
      </p:sp>
      <p:sp>
        <p:nvSpPr>
          <p:cNvPr id="16396" name="Text Box 11"/>
          <p:cNvSpPr txBox="1">
            <a:spLocks noChangeArrowheads="1"/>
          </p:cNvSpPr>
          <p:nvPr/>
        </p:nvSpPr>
        <p:spPr bwMode="auto">
          <a:xfrm>
            <a:off x="909283" y="2229803"/>
            <a:ext cx="242374" cy="200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706" b="1">
                <a:solidFill>
                  <a:srgbClr val="000000"/>
                </a:solidFill>
                <a:latin typeface="Tahoma" panose="020B0604030504040204" pitchFamily="34" charset="0"/>
              </a:rPr>
              <a:t>1</a:t>
            </a:r>
          </a:p>
        </p:txBody>
      </p:sp>
      <p:sp>
        <p:nvSpPr>
          <p:cNvPr id="16397" name="Text Box 12"/>
          <p:cNvSpPr txBox="1">
            <a:spLocks noChangeArrowheads="1"/>
          </p:cNvSpPr>
          <p:nvPr/>
        </p:nvSpPr>
        <p:spPr bwMode="auto">
          <a:xfrm>
            <a:off x="1283853" y="2229803"/>
            <a:ext cx="242374" cy="200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706" b="1">
                <a:solidFill>
                  <a:srgbClr val="000000"/>
                </a:solidFill>
                <a:latin typeface="Tahoma" panose="020B0604030504040204" pitchFamily="34" charset="0"/>
              </a:rPr>
              <a:t>2</a:t>
            </a:r>
          </a:p>
        </p:txBody>
      </p:sp>
      <p:sp>
        <p:nvSpPr>
          <p:cNvPr id="16398" name="Text Box 13"/>
          <p:cNvSpPr txBox="1">
            <a:spLocks noChangeArrowheads="1"/>
          </p:cNvSpPr>
          <p:nvPr/>
        </p:nvSpPr>
        <p:spPr bwMode="auto">
          <a:xfrm>
            <a:off x="1632012" y="2229803"/>
            <a:ext cx="242374" cy="200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706" b="1">
                <a:solidFill>
                  <a:srgbClr val="000000"/>
                </a:solidFill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16399" name="Text Box 14"/>
          <p:cNvSpPr txBox="1">
            <a:spLocks noChangeArrowheads="1"/>
          </p:cNvSpPr>
          <p:nvPr/>
        </p:nvSpPr>
        <p:spPr bwMode="auto">
          <a:xfrm>
            <a:off x="1980971" y="2229803"/>
            <a:ext cx="242374" cy="200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706" b="1">
                <a:solidFill>
                  <a:srgbClr val="000000"/>
                </a:solidFill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16400" name="Text Box 15"/>
          <p:cNvSpPr txBox="1">
            <a:spLocks noChangeArrowheads="1"/>
          </p:cNvSpPr>
          <p:nvPr/>
        </p:nvSpPr>
        <p:spPr bwMode="auto">
          <a:xfrm>
            <a:off x="2321126" y="2229803"/>
            <a:ext cx="242374" cy="200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706" b="1">
                <a:solidFill>
                  <a:srgbClr val="000000"/>
                </a:solidFill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16401" name="Text Box 16"/>
          <p:cNvSpPr txBox="1">
            <a:spLocks noChangeArrowheads="1"/>
          </p:cNvSpPr>
          <p:nvPr/>
        </p:nvSpPr>
        <p:spPr bwMode="auto">
          <a:xfrm>
            <a:off x="825525" y="2460308"/>
            <a:ext cx="410690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4 ml</a:t>
            </a:r>
          </a:p>
        </p:txBody>
      </p:sp>
      <p:sp>
        <p:nvSpPr>
          <p:cNvPr id="16402" name="Text Box 17"/>
          <p:cNvSpPr txBox="1">
            <a:spLocks noChangeArrowheads="1"/>
          </p:cNvSpPr>
          <p:nvPr/>
        </p:nvSpPr>
        <p:spPr bwMode="auto">
          <a:xfrm>
            <a:off x="1200095" y="2460308"/>
            <a:ext cx="410690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8 ml</a:t>
            </a:r>
          </a:p>
        </p:txBody>
      </p:sp>
      <p:sp>
        <p:nvSpPr>
          <p:cNvPr id="16403" name="Text Box 18"/>
          <p:cNvSpPr txBox="1">
            <a:spLocks noChangeArrowheads="1"/>
          </p:cNvSpPr>
          <p:nvPr/>
        </p:nvSpPr>
        <p:spPr bwMode="auto">
          <a:xfrm>
            <a:off x="1548254" y="2460308"/>
            <a:ext cx="410690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2 ml</a:t>
            </a:r>
          </a:p>
        </p:txBody>
      </p:sp>
      <p:sp>
        <p:nvSpPr>
          <p:cNvPr id="16404" name="Text Box 19"/>
          <p:cNvSpPr txBox="1">
            <a:spLocks noChangeArrowheads="1"/>
          </p:cNvSpPr>
          <p:nvPr/>
        </p:nvSpPr>
        <p:spPr bwMode="auto">
          <a:xfrm>
            <a:off x="1897213" y="2460308"/>
            <a:ext cx="410690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6 ml</a:t>
            </a:r>
          </a:p>
        </p:txBody>
      </p:sp>
      <p:sp>
        <p:nvSpPr>
          <p:cNvPr id="16405" name="Text Box 20"/>
          <p:cNvSpPr txBox="1">
            <a:spLocks noChangeArrowheads="1"/>
          </p:cNvSpPr>
          <p:nvPr/>
        </p:nvSpPr>
        <p:spPr bwMode="auto">
          <a:xfrm>
            <a:off x="2237368" y="2460308"/>
            <a:ext cx="410690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1 ml</a:t>
            </a:r>
          </a:p>
        </p:txBody>
      </p:sp>
      <p:sp>
        <p:nvSpPr>
          <p:cNvPr id="16406" name="Text Box 21"/>
          <p:cNvSpPr txBox="1">
            <a:spLocks noChangeArrowheads="1"/>
          </p:cNvSpPr>
          <p:nvPr/>
        </p:nvSpPr>
        <p:spPr bwMode="auto">
          <a:xfrm>
            <a:off x="842757" y="2652395"/>
            <a:ext cx="37702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$12</a:t>
            </a:r>
          </a:p>
        </p:txBody>
      </p:sp>
      <p:sp>
        <p:nvSpPr>
          <p:cNvPr id="16407" name="Text Box 22"/>
          <p:cNvSpPr txBox="1">
            <a:spLocks noChangeArrowheads="1"/>
          </p:cNvSpPr>
          <p:nvPr/>
        </p:nvSpPr>
        <p:spPr bwMode="auto">
          <a:xfrm>
            <a:off x="1216527" y="2652395"/>
            <a:ext cx="37702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$32</a:t>
            </a:r>
          </a:p>
        </p:txBody>
      </p:sp>
      <p:sp>
        <p:nvSpPr>
          <p:cNvPr id="16408" name="Text Box 23"/>
          <p:cNvSpPr txBox="1">
            <a:spLocks noChangeArrowheads="1"/>
          </p:cNvSpPr>
          <p:nvPr/>
        </p:nvSpPr>
        <p:spPr bwMode="auto">
          <a:xfrm>
            <a:off x="1565486" y="2652395"/>
            <a:ext cx="37702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$40</a:t>
            </a:r>
          </a:p>
        </p:txBody>
      </p:sp>
      <p:sp>
        <p:nvSpPr>
          <p:cNvPr id="16409" name="Text Box 24"/>
          <p:cNvSpPr txBox="1">
            <a:spLocks noChangeArrowheads="1"/>
          </p:cNvSpPr>
          <p:nvPr/>
        </p:nvSpPr>
        <p:spPr bwMode="auto">
          <a:xfrm>
            <a:off x="1914445" y="2652395"/>
            <a:ext cx="37702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$30</a:t>
            </a:r>
          </a:p>
        </p:txBody>
      </p:sp>
      <p:sp>
        <p:nvSpPr>
          <p:cNvPr id="16410" name="Text Box 25"/>
          <p:cNvSpPr txBox="1">
            <a:spLocks noChangeArrowheads="1"/>
          </p:cNvSpPr>
          <p:nvPr/>
        </p:nvSpPr>
        <p:spPr bwMode="auto">
          <a:xfrm>
            <a:off x="2253799" y="2652395"/>
            <a:ext cx="37702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$50</a:t>
            </a:r>
          </a:p>
        </p:txBody>
      </p:sp>
      <p:sp>
        <p:nvSpPr>
          <p:cNvPr id="16411" name="Text Box 26"/>
          <p:cNvSpPr txBox="1">
            <a:spLocks noChangeArrowheads="1"/>
          </p:cNvSpPr>
          <p:nvPr/>
        </p:nvSpPr>
        <p:spPr bwMode="auto">
          <a:xfrm>
            <a:off x="269117" y="2076132"/>
            <a:ext cx="628698" cy="27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210">
                <a:latin typeface="Tahoma" panose="020B0604030504040204" pitchFamily="34" charset="0"/>
              </a:rPr>
              <a:t>Items:</a:t>
            </a:r>
          </a:p>
        </p:txBody>
      </p:sp>
      <p:sp>
        <p:nvSpPr>
          <p:cNvPr id="713755" name="Text Box 27"/>
          <p:cNvSpPr txBox="1">
            <a:spLocks noChangeArrowheads="1"/>
          </p:cNvSpPr>
          <p:nvPr/>
        </p:nvSpPr>
        <p:spPr bwMode="auto">
          <a:xfrm>
            <a:off x="287891" y="2806065"/>
            <a:ext cx="610360" cy="27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210">
                <a:latin typeface="Tahoma" panose="020B0604030504040204" pitchFamily="34" charset="0"/>
              </a:rPr>
              <a:t>Value:</a:t>
            </a:r>
          </a:p>
        </p:txBody>
      </p:sp>
      <p:sp>
        <p:nvSpPr>
          <p:cNvPr id="713756" name="Text Box 28"/>
          <p:cNvSpPr txBox="1">
            <a:spLocks noChangeArrowheads="1"/>
          </p:cNvSpPr>
          <p:nvPr/>
        </p:nvSpPr>
        <p:spPr bwMode="auto">
          <a:xfrm>
            <a:off x="906076" y="2844483"/>
            <a:ext cx="24878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3</a:t>
            </a:r>
          </a:p>
        </p:txBody>
      </p:sp>
      <p:sp>
        <p:nvSpPr>
          <p:cNvPr id="713757" name="Text Box 29"/>
          <p:cNvSpPr txBox="1">
            <a:spLocks noChangeArrowheads="1"/>
          </p:cNvSpPr>
          <p:nvPr/>
        </p:nvSpPr>
        <p:spPr bwMode="auto">
          <a:xfrm>
            <a:off x="190228" y="2959735"/>
            <a:ext cx="704039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($ per ml)</a:t>
            </a:r>
          </a:p>
        </p:txBody>
      </p:sp>
      <p:sp>
        <p:nvSpPr>
          <p:cNvPr id="713758" name="Text Box 30"/>
          <p:cNvSpPr txBox="1">
            <a:spLocks noChangeArrowheads="1"/>
          </p:cNvSpPr>
          <p:nvPr/>
        </p:nvSpPr>
        <p:spPr bwMode="auto">
          <a:xfrm>
            <a:off x="1280647" y="2844483"/>
            <a:ext cx="24878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4</a:t>
            </a:r>
          </a:p>
        </p:txBody>
      </p:sp>
      <p:sp>
        <p:nvSpPr>
          <p:cNvPr id="713759" name="Text Box 31"/>
          <p:cNvSpPr txBox="1">
            <a:spLocks noChangeArrowheads="1"/>
          </p:cNvSpPr>
          <p:nvPr/>
        </p:nvSpPr>
        <p:spPr bwMode="auto">
          <a:xfrm>
            <a:off x="1597146" y="2844483"/>
            <a:ext cx="31290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20</a:t>
            </a:r>
          </a:p>
        </p:txBody>
      </p:sp>
      <p:sp>
        <p:nvSpPr>
          <p:cNvPr id="713760" name="Text Box 32"/>
          <p:cNvSpPr txBox="1">
            <a:spLocks noChangeArrowheads="1"/>
          </p:cNvSpPr>
          <p:nvPr/>
        </p:nvSpPr>
        <p:spPr bwMode="auto">
          <a:xfrm>
            <a:off x="1978565" y="2844483"/>
            <a:ext cx="24878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5</a:t>
            </a:r>
          </a:p>
        </p:txBody>
      </p:sp>
      <p:sp>
        <p:nvSpPr>
          <p:cNvPr id="713761" name="Text Box 33"/>
          <p:cNvSpPr txBox="1">
            <a:spLocks noChangeArrowheads="1"/>
          </p:cNvSpPr>
          <p:nvPr/>
        </p:nvSpPr>
        <p:spPr bwMode="auto">
          <a:xfrm>
            <a:off x="2286260" y="2844483"/>
            <a:ext cx="312906" cy="2320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908">
                <a:latin typeface="Tahoma" panose="020B0604030504040204" pitchFamily="34" charset="0"/>
              </a:rPr>
              <a:t>50</a:t>
            </a:r>
          </a:p>
        </p:txBody>
      </p:sp>
      <p:grpSp>
        <p:nvGrpSpPr>
          <p:cNvPr id="2" name="Group 34"/>
          <p:cNvGrpSpPr>
            <a:grpSpLocks/>
          </p:cNvGrpSpPr>
          <p:nvPr/>
        </p:nvGrpSpPr>
        <p:grpSpPr bwMode="auto">
          <a:xfrm>
            <a:off x="2847913" y="1503070"/>
            <a:ext cx="629087" cy="1419846"/>
            <a:chOff x="4180" y="2068"/>
            <a:chExt cx="786" cy="1774"/>
          </a:xfrm>
        </p:grpSpPr>
        <p:sp>
          <p:nvSpPr>
            <p:cNvPr id="16423" name="Freeform 35"/>
            <p:cNvSpPr>
              <a:spLocks/>
            </p:cNvSpPr>
            <p:nvPr/>
          </p:nvSpPr>
          <p:spPr bwMode="auto">
            <a:xfrm>
              <a:off x="4276" y="2068"/>
              <a:ext cx="594" cy="320"/>
            </a:xfrm>
            <a:custGeom>
              <a:avLst/>
              <a:gdLst>
                <a:gd name="T0" fmla="*/ 578 w 594"/>
                <a:gd name="T1" fmla="*/ 231 h 320"/>
                <a:gd name="T2" fmla="*/ 584 w 594"/>
                <a:gd name="T3" fmla="*/ 147 h 320"/>
                <a:gd name="T4" fmla="*/ 594 w 594"/>
                <a:gd name="T5" fmla="*/ 103 h 320"/>
                <a:gd name="T6" fmla="*/ 590 w 594"/>
                <a:gd name="T7" fmla="*/ 75 h 320"/>
                <a:gd name="T8" fmla="*/ 571 w 594"/>
                <a:gd name="T9" fmla="*/ 52 h 320"/>
                <a:gd name="T10" fmla="*/ 540 w 594"/>
                <a:gd name="T11" fmla="*/ 33 h 320"/>
                <a:gd name="T12" fmla="*/ 498 w 594"/>
                <a:gd name="T13" fmla="*/ 18 h 320"/>
                <a:gd name="T14" fmla="*/ 446 w 594"/>
                <a:gd name="T15" fmla="*/ 8 h 320"/>
                <a:gd name="T16" fmla="*/ 391 w 594"/>
                <a:gd name="T17" fmla="*/ 2 h 320"/>
                <a:gd name="T18" fmla="*/ 329 w 594"/>
                <a:gd name="T19" fmla="*/ 0 h 320"/>
                <a:gd name="T20" fmla="*/ 265 w 594"/>
                <a:gd name="T21" fmla="*/ 2 h 320"/>
                <a:gd name="T22" fmla="*/ 203 w 594"/>
                <a:gd name="T23" fmla="*/ 5 h 320"/>
                <a:gd name="T24" fmla="*/ 148 w 594"/>
                <a:gd name="T25" fmla="*/ 11 h 320"/>
                <a:gd name="T26" fmla="*/ 96 w 594"/>
                <a:gd name="T27" fmla="*/ 21 h 320"/>
                <a:gd name="T28" fmla="*/ 54 w 594"/>
                <a:gd name="T29" fmla="*/ 34 h 320"/>
                <a:gd name="T30" fmla="*/ 23 w 594"/>
                <a:gd name="T31" fmla="*/ 53 h 320"/>
                <a:gd name="T32" fmla="*/ 4 w 594"/>
                <a:gd name="T33" fmla="*/ 75 h 320"/>
                <a:gd name="T34" fmla="*/ 0 w 594"/>
                <a:gd name="T35" fmla="*/ 103 h 320"/>
                <a:gd name="T36" fmla="*/ 10 w 594"/>
                <a:gd name="T37" fmla="*/ 147 h 320"/>
                <a:gd name="T38" fmla="*/ 16 w 594"/>
                <a:gd name="T39" fmla="*/ 231 h 320"/>
                <a:gd name="T40" fmla="*/ 22 w 594"/>
                <a:gd name="T41" fmla="*/ 279 h 320"/>
                <a:gd name="T42" fmla="*/ 39 w 594"/>
                <a:gd name="T43" fmla="*/ 288 h 320"/>
                <a:gd name="T44" fmla="*/ 95 w 594"/>
                <a:gd name="T45" fmla="*/ 303 h 320"/>
                <a:gd name="T46" fmla="*/ 172 w 594"/>
                <a:gd name="T47" fmla="*/ 313 h 320"/>
                <a:gd name="T48" fmla="*/ 244 w 594"/>
                <a:gd name="T49" fmla="*/ 319 h 320"/>
                <a:gd name="T50" fmla="*/ 310 w 594"/>
                <a:gd name="T51" fmla="*/ 320 h 320"/>
                <a:gd name="T52" fmla="*/ 367 w 594"/>
                <a:gd name="T53" fmla="*/ 317 h 320"/>
                <a:gd name="T54" fmla="*/ 416 w 594"/>
                <a:gd name="T55" fmla="*/ 311 h 320"/>
                <a:gd name="T56" fmla="*/ 457 w 594"/>
                <a:gd name="T57" fmla="*/ 306 h 320"/>
                <a:gd name="T58" fmla="*/ 489 w 594"/>
                <a:gd name="T59" fmla="*/ 298 h 320"/>
                <a:gd name="T60" fmla="*/ 511 w 594"/>
                <a:gd name="T61" fmla="*/ 292 h 320"/>
                <a:gd name="T62" fmla="*/ 530 w 594"/>
                <a:gd name="T63" fmla="*/ 288 h 320"/>
                <a:gd name="T64" fmla="*/ 550 w 594"/>
                <a:gd name="T65" fmla="*/ 284 h 320"/>
                <a:gd name="T66" fmla="*/ 569 w 594"/>
                <a:gd name="T67" fmla="*/ 276 h 320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w 594"/>
                <a:gd name="T103" fmla="*/ 0 h 320"/>
                <a:gd name="T104" fmla="*/ 594 w 594"/>
                <a:gd name="T105" fmla="*/ 320 h 320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T102" t="T103" r="T104" b="T105"/>
              <a:pathLst>
                <a:path w="594" h="320">
                  <a:moveTo>
                    <a:pt x="578" y="272"/>
                  </a:moveTo>
                  <a:lnTo>
                    <a:pt x="578" y="231"/>
                  </a:lnTo>
                  <a:lnTo>
                    <a:pt x="580" y="187"/>
                  </a:lnTo>
                  <a:lnTo>
                    <a:pt x="584" y="147"/>
                  </a:lnTo>
                  <a:lnTo>
                    <a:pt x="590" y="119"/>
                  </a:lnTo>
                  <a:lnTo>
                    <a:pt x="594" y="103"/>
                  </a:lnTo>
                  <a:lnTo>
                    <a:pt x="594" y="88"/>
                  </a:lnTo>
                  <a:lnTo>
                    <a:pt x="590" y="75"/>
                  </a:lnTo>
                  <a:lnTo>
                    <a:pt x="583" y="62"/>
                  </a:lnTo>
                  <a:lnTo>
                    <a:pt x="571" y="52"/>
                  </a:lnTo>
                  <a:lnTo>
                    <a:pt x="556" y="41"/>
                  </a:lnTo>
                  <a:lnTo>
                    <a:pt x="540" y="33"/>
                  </a:lnTo>
                  <a:lnTo>
                    <a:pt x="520" y="24"/>
                  </a:lnTo>
                  <a:lnTo>
                    <a:pt x="498" y="18"/>
                  </a:lnTo>
                  <a:lnTo>
                    <a:pt x="473" y="12"/>
                  </a:lnTo>
                  <a:lnTo>
                    <a:pt x="446" y="8"/>
                  </a:lnTo>
                  <a:lnTo>
                    <a:pt x="419" y="5"/>
                  </a:lnTo>
                  <a:lnTo>
                    <a:pt x="391" y="2"/>
                  </a:lnTo>
                  <a:lnTo>
                    <a:pt x="360" y="0"/>
                  </a:lnTo>
                  <a:lnTo>
                    <a:pt x="329" y="0"/>
                  </a:lnTo>
                  <a:lnTo>
                    <a:pt x="297" y="0"/>
                  </a:lnTo>
                  <a:lnTo>
                    <a:pt x="265" y="2"/>
                  </a:lnTo>
                  <a:lnTo>
                    <a:pt x="234" y="3"/>
                  </a:lnTo>
                  <a:lnTo>
                    <a:pt x="203" y="5"/>
                  </a:lnTo>
                  <a:lnTo>
                    <a:pt x="175" y="8"/>
                  </a:lnTo>
                  <a:lnTo>
                    <a:pt x="148" y="11"/>
                  </a:lnTo>
                  <a:lnTo>
                    <a:pt x="121" y="15"/>
                  </a:lnTo>
                  <a:lnTo>
                    <a:pt x="96" y="21"/>
                  </a:lnTo>
                  <a:lnTo>
                    <a:pt x="74" y="27"/>
                  </a:lnTo>
                  <a:lnTo>
                    <a:pt x="54" y="34"/>
                  </a:lnTo>
                  <a:lnTo>
                    <a:pt x="38" y="43"/>
                  </a:lnTo>
                  <a:lnTo>
                    <a:pt x="23" y="53"/>
                  </a:lnTo>
                  <a:lnTo>
                    <a:pt x="11" y="63"/>
                  </a:lnTo>
                  <a:lnTo>
                    <a:pt x="4" y="75"/>
                  </a:lnTo>
                  <a:lnTo>
                    <a:pt x="0" y="88"/>
                  </a:lnTo>
                  <a:lnTo>
                    <a:pt x="0" y="103"/>
                  </a:lnTo>
                  <a:lnTo>
                    <a:pt x="4" y="119"/>
                  </a:lnTo>
                  <a:lnTo>
                    <a:pt x="10" y="147"/>
                  </a:lnTo>
                  <a:lnTo>
                    <a:pt x="14" y="187"/>
                  </a:lnTo>
                  <a:lnTo>
                    <a:pt x="16" y="231"/>
                  </a:lnTo>
                  <a:lnTo>
                    <a:pt x="14" y="272"/>
                  </a:lnTo>
                  <a:lnTo>
                    <a:pt x="22" y="279"/>
                  </a:lnTo>
                  <a:lnTo>
                    <a:pt x="29" y="284"/>
                  </a:lnTo>
                  <a:lnTo>
                    <a:pt x="39" y="288"/>
                  </a:lnTo>
                  <a:lnTo>
                    <a:pt x="52" y="294"/>
                  </a:lnTo>
                  <a:lnTo>
                    <a:pt x="95" y="303"/>
                  </a:lnTo>
                  <a:lnTo>
                    <a:pt x="134" y="308"/>
                  </a:lnTo>
                  <a:lnTo>
                    <a:pt x="172" y="313"/>
                  </a:lnTo>
                  <a:lnTo>
                    <a:pt x="209" y="317"/>
                  </a:lnTo>
                  <a:lnTo>
                    <a:pt x="244" y="319"/>
                  </a:lnTo>
                  <a:lnTo>
                    <a:pt x="278" y="320"/>
                  </a:lnTo>
                  <a:lnTo>
                    <a:pt x="310" y="320"/>
                  </a:lnTo>
                  <a:lnTo>
                    <a:pt x="339" y="319"/>
                  </a:lnTo>
                  <a:lnTo>
                    <a:pt x="367" y="317"/>
                  </a:lnTo>
                  <a:lnTo>
                    <a:pt x="392" y="314"/>
                  </a:lnTo>
                  <a:lnTo>
                    <a:pt x="416" y="311"/>
                  </a:lnTo>
                  <a:lnTo>
                    <a:pt x="438" y="308"/>
                  </a:lnTo>
                  <a:lnTo>
                    <a:pt x="457" y="306"/>
                  </a:lnTo>
                  <a:lnTo>
                    <a:pt x="473" y="301"/>
                  </a:lnTo>
                  <a:lnTo>
                    <a:pt x="489" y="298"/>
                  </a:lnTo>
                  <a:lnTo>
                    <a:pt x="501" y="294"/>
                  </a:lnTo>
                  <a:lnTo>
                    <a:pt x="511" y="292"/>
                  </a:lnTo>
                  <a:lnTo>
                    <a:pt x="520" y="291"/>
                  </a:lnTo>
                  <a:lnTo>
                    <a:pt x="530" y="288"/>
                  </a:lnTo>
                  <a:lnTo>
                    <a:pt x="540" y="286"/>
                  </a:lnTo>
                  <a:lnTo>
                    <a:pt x="550" y="284"/>
                  </a:lnTo>
                  <a:lnTo>
                    <a:pt x="559" y="279"/>
                  </a:lnTo>
                  <a:lnTo>
                    <a:pt x="569" y="276"/>
                  </a:lnTo>
                  <a:lnTo>
                    <a:pt x="578" y="272"/>
                  </a:lnTo>
                  <a:close/>
                </a:path>
              </a:pathLst>
            </a:custGeom>
            <a:solidFill>
              <a:srgbClr val="A37A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908"/>
            </a:p>
          </p:txBody>
        </p:sp>
        <p:sp>
          <p:nvSpPr>
            <p:cNvPr id="16424" name="Freeform 36"/>
            <p:cNvSpPr>
              <a:spLocks/>
            </p:cNvSpPr>
            <p:nvPr/>
          </p:nvSpPr>
          <p:spPr bwMode="auto">
            <a:xfrm>
              <a:off x="4180" y="2340"/>
              <a:ext cx="786" cy="1147"/>
            </a:xfrm>
            <a:custGeom>
              <a:avLst/>
              <a:gdLst>
                <a:gd name="T0" fmla="*/ 665 w 786"/>
                <a:gd name="T1" fmla="*/ 4 h 1147"/>
                <a:gd name="T2" fmla="*/ 646 w 786"/>
                <a:gd name="T3" fmla="*/ 12 h 1147"/>
                <a:gd name="T4" fmla="*/ 626 w 786"/>
                <a:gd name="T5" fmla="*/ 16 h 1147"/>
                <a:gd name="T6" fmla="*/ 607 w 786"/>
                <a:gd name="T7" fmla="*/ 20 h 1147"/>
                <a:gd name="T8" fmla="*/ 585 w 786"/>
                <a:gd name="T9" fmla="*/ 26 h 1147"/>
                <a:gd name="T10" fmla="*/ 553 w 786"/>
                <a:gd name="T11" fmla="*/ 34 h 1147"/>
                <a:gd name="T12" fmla="*/ 512 w 786"/>
                <a:gd name="T13" fmla="*/ 39 h 1147"/>
                <a:gd name="T14" fmla="*/ 463 w 786"/>
                <a:gd name="T15" fmla="*/ 45 h 1147"/>
                <a:gd name="T16" fmla="*/ 406 w 786"/>
                <a:gd name="T17" fmla="*/ 48 h 1147"/>
                <a:gd name="T18" fmla="*/ 340 w 786"/>
                <a:gd name="T19" fmla="*/ 47 h 1147"/>
                <a:gd name="T20" fmla="*/ 268 w 786"/>
                <a:gd name="T21" fmla="*/ 41 h 1147"/>
                <a:gd name="T22" fmla="*/ 191 w 786"/>
                <a:gd name="T23" fmla="*/ 31 h 1147"/>
                <a:gd name="T24" fmla="*/ 135 w 786"/>
                <a:gd name="T25" fmla="*/ 16 h 1147"/>
                <a:gd name="T26" fmla="*/ 118 w 786"/>
                <a:gd name="T27" fmla="*/ 7 h 1147"/>
                <a:gd name="T28" fmla="*/ 82 w 786"/>
                <a:gd name="T29" fmla="*/ 13 h 1147"/>
                <a:gd name="T30" fmla="*/ 41 w 786"/>
                <a:gd name="T31" fmla="*/ 44 h 1147"/>
                <a:gd name="T32" fmla="*/ 17 w 786"/>
                <a:gd name="T33" fmla="*/ 78 h 1147"/>
                <a:gd name="T34" fmla="*/ 5 w 786"/>
                <a:gd name="T35" fmla="*/ 107 h 1147"/>
                <a:gd name="T36" fmla="*/ 2 w 786"/>
                <a:gd name="T37" fmla="*/ 295 h 1147"/>
                <a:gd name="T38" fmla="*/ 0 w 786"/>
                <a:gd name="T39" fmla="*/ 796 h 1147"/>
                <a:gd name="T40" fmla="*/ 6 w 786"/>
                <a:gd name="T41" fmla="*/ 980 h 1147"/>
                <a:gd name="T42" fmla="*/ 22 w 786"/>
                <a:gd name="T43" fmla="*/ 1012 h 1147"/>
                <a:gd name="T44" fmla="*/ 52 w 786"/>
                <a:gd name="T45" fmla="*/ 1044 h 1147"/>
                <a:gd name="T46" fmla="*/ 94 w 786"/>
                <a:gd name="T47" fmla="*/ 1074 h 1147"/>
                <a:gd name="T48" fmla="*/ 147 w 786"/>
                <a:gd name="T49" fmla="*/ 1100 h 1147"/>
                <a:gd name="T50" fmla="*/ 208 w 786"/>
                <a:gd name="T51" fmla="*/ 1122 h 1147"/>
                <a:gd name="T52" fmla="*/ 277 w 786"/>
                <a:gd name="T53" fmla="*/ 1138 h 1147"/>
                <a:gd name="T54" fmla="*/ 353 w 786"/>
                <a:gd name="T55" fmla="*/ 1146 h 1147"/>
                <a:gd name="T56" fmla="*/ 433 w 786"/>
                <a:gd name="T57" fmla="*/ 1146 h 1147"/>
                <a:gd name="T58" fmla="*/ 507 w 786"/>
                <a:gd name="T59" fmla="*/ 1138 h 1147"/>
                <a:gd name="T60" fmla="*/ 576 w 786"/>
                <a:gd name="T61" fmla="*/ 1122 h 1147"/>
                <a:gd name="T62" fmla="*/ 638 w 786"/>
                <a:gd name="T63" fmla="*/ 1100 h 1147"/>
                <a:gd name="T64" fmla="*/ 690 w 786"/>
                <a:gd name="T65" fmla="*/ 1074 h 1147"/>
                <a:gd name="T66" fmla="*/ 733 w 786"/>
                <a:gd name="T67" fmla="*/ 1044 h 1147"/>
                <a:gd name="T68" fmla="*/ 764 w 786"/>
                <a:gd name="T69" fmla="*/ 1012 h 1147"/>
                <a:gd name="T70" fmla="*/ 780 w 786"/>
                <a:gd name="T71" fmla="*/ 980 h 1147"/>
                <a:gd name="T72" fmla="*/ 786 w 786"/>
                <a:gd name="T73" fmla="*/ 796 h 1147"/>
                <a:gd name="T74" fmla="*/ 784 w 786"/>
                <a:gd name="T75" fmla="*/ 295 h 1147"/>
                <a:gd name="T76" fmla="*/ 781 w 786"/>
                <a:gd name="T77" fmla="*/ 107 h 1147"/>
                <a:gd name="T78" fmla="*/ 769 w 786"/>
                <a:gd name="T79" fmla="*/ 78 h 1147"/>
                <a:gd name="T80" fmla="*/ 745 w 786"/>
                <a:gd name="T81" fmla="*/ 44 h 1147"/>
                <a:gd name="T82" fmla="*/ 702 w 786"/>
                <a:gd name="T83" fmla="*/ 13 h 1147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w 786"/>
                <a:gd name="T127" fmla="*/ 0 h 1147"/>
                <a:gd name="T128" fmla="*/ 786 w 786"/>
                <a:gd name="T129" fmla="*/ 1147 h 1147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T126" t="T127" r="T128" b="T129"/>
              <a:pathLst>
                <a:path w="786" h="1147">
                  <a:moveTo>
                    <a:pt x="674" y="0"/>
                  </a:moveTo>
                  <a:lnTo>
                    <a:pt x="665" y="4"/>
                  </a:lnTo>
                  <a:lnTo>
                    <a:pt x="655" y="7"/>
                  </a:lnTo>
                  <a:lnTo>
                    <a:pt x="646" y="12"/>
                  </a:lnTo>
                  <a:lnTo>
                    <a:pt x="636" y="14"/>
                  </a:lnTo>
                  <a:lnTo>
                    <a:pt x="626" y="16"/>
                  </a:lnTo>
                  <a:lnTo>
                    <a:pt x="616" y="19"/>
                  </a:lnTo>
                  <a:lnTo>
                    <a:pt x="607" y="20"/>
                  </a:lnTo>
                  <a:lnTo>
                    <a:pt x="597" y="22"/>
                  </a:lnTo>
                  <a:lnTo>
                    <a:pt x="585" y="26"/>
                  </a:lnTo>
                  <a:lnTo>
                    <a:pt x="569" y="29"/>
                  </a:lnTo>
                  <a:lnTo>
                    <a:pt x="553" y="34"/>
                  </a:lnTo>
                  <a:lnTo>
                    <a:pt x="534" y="36"/>
                  </a:lnTo>
                  <a:lnTo>
                    <a:pt x="512" y="39"/>
                  </a:lnTo>
                  <a:lnTo>
                    <a:pt x="488" y="42"/>
                  </a:lnTo>
                  <a:lnTo>
                    <a:pt x="463" y="45"/>
                  </a:lnTo>
                  <a:lnTo>
                    <a:pt x="435" y="47"/>
                  </a:lnTo>
                  <a:lnTo>
                    <a:pt x="406" y="48"/>
                  </a:lnTo>
                  <a:lnTo>
                    <a:pt x="374" y="48"/>
                  </a:lnTo>
                  <a:lnTo>
                    <a:pt x="340" y="47"/>
                  </a:lnTo>
                  <a:lnTo>
                    <a:pt x="305" y="45"/>
                  </a:lnTo>
                  <a:lnTo>
                    <a:pt x="268" y="41"/>
                  </a:lnTo>
                  <a:lnTo>
                    <a:pt x="230" y="36"/>
                  </a:lnTo>
                  <a:lnTo>
                    <a:pt x="191" y="31"/>
                  </a:lnTo>
                  <a:lnTo>
                    <a:pt x="148" y="22"/>
                  </a:lnTo>
                  <a:lnTo>
                    <a:pt x="135" y="16"/>
                  </a:lnTo>
                  <a:lnTo>
                    <a:pt x="125" y="12"/>
                  </a:lnTo>
                  <a:lnTo>
                    <a:pt x="118" y="7"/>
                  </a:lnTo>
                  <a:lnTo>
                    <a:pt x="110" y="0"/>
                  </a:lnTo>
                  <a:lnTo>
                    <a:pt x="82" y="13"/>
                  </a:lnTo>
                  <a:lnTo>
                    <a:pt x="60" y="28"/>
                  </a:lnTo>
                  <a:lnTo>
                    <a:pt x="41" y="44"/>
                  </a:lnTo>
                  <a:lnTo>
                    <a:pt x="27" y="61"/>
                  </a:lnTo>
                  <a:lnTo>
                    <a:pt x="17" y="78"/>
                  </a:lnTo>
                  <a:lnTo>
                    <a:pt x="9" y="94"/>
                  </a:lnTo>
                  <a:lnTo>
                    <a:pt x="5" y="107"/>
                  </a:lnTo>
                  <a:lnTo>
                    <a:pt x="3" y="119"/>
                  </a:lnTo>
                  <a:lnTo>
                    <a:pt x="2" y="295"/>
                  </a:lnTo>
                  <a:lnTo>
                    <a:pt x="0" y="547"/>
                  </a:lnTo>
                  <a:lnTo>
                    <a:pt x="0" y="796"/>
                  </a:lnTo>
                  <a:lnTo>
                    <a:pt x="3" y="964"/>
                  </a:lnTo>
                  <a:lnTo>
                    <a:pt x="6" y="980"/>
                  </a:lnTo>
                  <a:lnTo>
                    <a:pt x="12" y="996"/>
                  </a:lnTo>
                  <a:lnTo>
                    <a:pt x="22" y="1012"/>
                  </a:lnTo>
                  <a:lnTo>
                    <a:pt x="36" y="1028"/>
                  </a:lnTo>
                  <a:lnTo>
                    <a:pt x="52" y="1044"/>
                  </a:lnTo>
                  <a:lnTo>
                    <a:pt x="72" y="1059"/>
                  </a:lnTo>
                  <a:lnTo>
                    <a:pt x="94" y="1074"/>
                  </a:lnTo>
                  <a:lnTo>
                    <a:pt x="119" y="1088"/>
                  </a:lnTo>
                  <a:lnTo>
                    <a:pt x="147" y="1100"/>
                  </a:lnTo>
                  <a:lnTo>
                    <a:pt x="176" y="1112"/>
                  </a:lnTo>
                  <a:lnTo>
                    <a:pt x="208" y="1122"/>
                  </a:lnTo>
                  <a:lnTo>
                    <a:pt x="242" y="1131"/>
                  </a:lnTo>
                  <a:lnTo>
                    <a:pt x="277" y="1138"/>
                  </a:lnTo>
                  <a:lnTo>
                    <a:pt x="314" y="1143"/>
                  </a:lnTo>
                  <a:lnTo>
                    <a:pt x="353" y="1146"/>
                  </a:lnTo>
                  <a:lnTo>
                    <a:pt x="393" y="1147"/>
                  </a:lnTo>
                  <a:lnTo>
                    <a:pt x="433" y="1146"/>
                  </a:lnTo>
                  <a:lnTo>
                    <a:pt x="471" y="1143"/>
                  </a:lnTo>
                  <a:lnTo>
                    <a:pt x="507" y="1138"/>
                  </a:lnTo>
                  <a:lnTo>
                    <a:pt x="542" y="1131"/>
                  </a:lnTo>
                  <a:lnTo>
                    <a:pt x="576" y="1122"/>
                  </a:lnTo>
                  <a:lnTo>
                    <a:pt x="608" y="1112"/>
                  </a:lnTo>
                  <a:lnTo>
                    <a:pt x="638" y="1100"/>
                  </a:lnTo>
                  <a:lnTo>
                    <a:pt x="665" y="1088"/>
                  </a:lnTo>
                  <a:lnTo>
                    <a:pt x="690" y="1074"/>
                  </a:lnTo>
                  <a:lnTo>
                    <a:pt x="712" y="1059"/>
                  </a:lnTo>
                  <a:lnTo>
                    <a:pt x="733" y="1044"/>
                  </a:lnTo>
                  <a:lnTo>
                    <a:pt x="749" y="1028"/>
                  </a:lnTo>
                  <a:lnTo>
                    <a:pt x="764" y="1012"/>
                  </a:lnTo>
                  <a:lnTo>
                    <a:pt x="774" y="996"/>
                  </a:lnTo>
                  <a:lnTo>
                    <a:pt x="780" y="980"/>
                  </a:lnTo>
                  <a:lnTo>
                    <a:pt x="783" y="964"/>
                  </a:lnTo>
                  <a:lnTo>
                    <a:pt x="786" y="796"/>
                  </a:lnTo>
                  <a:lnTo>
                    <a:pt x="786" y="547"/>
                  </a:lnTo>
                  <a:lnTo>
                    <a:pt x="784" y="295"/>
                  </a:lnTo>
                  <a:lnTo>
                    <a:pt x="783" y="119"/>
                  </a:lnTo>
                  <a:lnTo>
                    <a:pt x="781" y="107"/>
                  </a:lnTo>
                  <a:lnTo>
                    <a:pt x="777" y="94"/>
                  </a:lnTo>
                  <a:lnTo>
                    <a:pt x="769" y="78"/>
                  </a:lnTo>
                  <a:lnTo>
                    <a:pt x="759" y="61"/>
                  </a:lnTo>
                  <a:lnTo>
                    <a:pt x="745" y="44"/>
                  </a:lnTo>
                  <a:lnTo>
                    <a:pt x="726" y="28"/>
                  </a:lnTo>
                  <a:lnTo>
                    <a:pt x="702" y="13"/>
                  </a:lnTo>
                  <a:lnTo>
                    <a:pt x="674" y="0"/>
                  </a:lnTo>
                  <a:close/>
                </a:path>
              </a:pathLst>
            </a:custGeom>
            <a:solidFill>
              <a:srgbClr val="6099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908"/>
            </a:p>
          </p:txBody>
        </p:sp>
        <p:sp>
          <p:nvSpPr>
            <p:cNvPr id="16425" name="Freeform 37"/>
            <p:cNvSpPr>
              <a:spLocks/>
            </p:cNvSpPr>
            <p:nvPr/>
          </p:nvSpPr>
          <p:spPr bwMode="auto">
            <a:xfrm>
              <a:off x="4314" y="2195"/>
              <a:ext cx="482" cy="164"/>
            </a:xfrm>
            <a:custGeom>
              <a:avLst/>
              <a:gdLst>
                <a:gd name="T0" fmla="*/ 447 w 482"/>
                <a:gd name="T1" fmla="*/ 149 h 164"/>
                <a:gd name="T2" fmla="*/ 370 w 482"/>
                <a:gd name="T3" fmla="*/ 159 h 164"/>
                <a:gd name="T4" fmla="*/ 274 w 482"/>
                <a:gd name="T5" fmla="*/ 164 h 164"/>
                <a:gd name="T6" fmla="*/ 168 w 482"/>
                <a:gd name="T7" fmla="*/ 161 h 164"/>
                <a:gd name="T8" fmla="*/ 66 w 482"/>
                <a:gd name="T9" fmla="*/ 145 h 164"/>
                <a:gd name="T10" fmla="*/ 7 w 482"/>
                <a:gd name="T11" fmla="*/ 104 h 164"/>
                <a:gd name="T12" fmla="*/ 0 w 482"/>
                <a:gd name="T13" fmla="*/ 0 h 164"/>
                <a:gd name="T14" fmla="*/ 48 w 482"/>
                <a:gd name="T15" fmla="*/ 10 h 164"/>
                <a:gd name="T16" fmla="*/ 115 w 482"/>
                <a:gd name="T17" fmla="*/ 23 h 164"/>
                <a:gd name="T18" fmla="*/ 203 w 482"/>
                <a:gd name="T19" fmla="*/ 32 h 164"/>
                <a:gd name="T20" fmla="*/ 307 w 482"/>
                <a:gd name="T21" fmla="*/ 32 h 164"/>
                <a:gd name="T22" fmla="*/ 427 w 482"/>
                <a:gd name="T23" fmla="*/ 16 h 164"/>
                <a:gd name="T24" fmla="*/ 445 w 482"/>
                <a:gd name="T25" fmla="*/ 16 h 164"/>
                <a:gd name="T26" fmla="*/ 388 w 482"/>
                <a:gd name="T27" fmla="*/ 29 h 164"/>
                <a:gd name="T28" fmla="*/ 312 w 482"/>
                <a:gd name="T29" fmla="*/ 39 h 164"/>
                <a:gd name="T30" fmla="*/ 221 w 482"/>
                <a:gd name="T31" fmla="*/ 48 h 164"/>
                <a:gd name="T32" fmla="*/ 123 w 482"/>
                <a:gd name="T33" fmla="*/ 49 h 164"/>
                <a:gd name="T34" fmla="*/ 74 w 482"/>
                <a:gd name="T35" fmla="*/ 51 h 164"/>
                <a:gd name="T36" fmla="*/ 143 w 482"/>
                <a:gd name="T37" fmla="*/ 61 h 164"/>
                <a:gd name="T38" fmla="*/ 225 w 482"/>
                <a:gd name="T39" fmla="*/ 67 h 164"/>
                <a:gd name="T40" fmla="*/ 313 w 482"/>
                <a:gd name="T41" fmla="*/ 66 h 164"/>
                <a:gd name="T42" fmla="*/ 398 w 482"/>
                <a:gd name="T43" fmla="*/ 58 h 164"/>
                <a:gd name="T44" fmla="*/ 474 w 482"/>
                <a:gd name="T45" fmla="*/ 45 h 164"/>
                <a:gd name="T46" fmla="*/ 429 w 482"/>
                <a:gd name="T47" fmla="*/ 61 h 164"/>
                <a:gd name="T48" fmla="*/ 353 w 482"/>
                <a:gd name="T49" fmla="*/ 76 h 164"/>
                <a:gd name="T50" fmla="*/ 262 w 482"/>
                <a:gd name="T51" fmla="*/ 86 h 164"/>
                <a:gd name="T52" fmla="*/ 170 w 482"/>
                <a:gd name="T53" fmla="*/ 89 h 164"/>
                <a:gd name="T54" fmla="*/ 89 w 482"/>
                <a:gd name="T55" fmla="*/ 85 h 164"/>
                <a:gd name="T56" fmla="*/ 108 w 482"/>
                <a:gd name="T57" fmla="*/ 92 h 164"/>
                <a:gd name="T58" fmla="*/ 175 w 482"/>
                <a:gd name="T59" fmla="*/ 104 h 164"/>
                <a:gd name="T60" fmla="*/ 253 w 482"/>
                <a:gd name="T61" fmla="*/ 108 h 164"/>
                <a:gd name="T62" fmla="*/ 334 w 482"/>
                <a:gd name="T63" fmla="*/ 108 h 164"/>
                <a:gd name="T64" fmla="*/ 417 w 482"/>
                <a:gd name="T65" fmla="*/ 101 h 164"/>
                <a:gd name="T66" fmla="*/ 458 w 482"/>
                <a:gd name="T67" fmla="*/ 96 h 164"/>
                <a:gd name="T68" fmla="*/ 410 w 482"/>
                <a:gd name="T69" fmla="*/ 110 h 164"/>
                <a:gd name="T70" fmla="*/ 345 w 482"/>
                <a:gd name="T71" fmla="*/ 121 h 164"/>
                <a:gd name="T72" fmla="*/ 271 w 482"/>
                <a:gd name="T73" fmla="*/ 130 h 164"/>
                <a:gd name="T74" fmla="*/ 183 w 482"/>
                <a:gd name="T75" fmla="*/ 130 h 164"/>
                <a:gd name="T76" fmla="*/ 86 w 482"/>
                <a:gd name="T77" fmla="*/ 118 h 164"/>
                <a:gd name="T78" fmla="*/ 126 w 482"/>
                <a:gd name="T79" fmla="*/ 127 h 164"/>
                <a:gd name="T80" fmla="*/ 187 w 482"/>
                <a:gd name="T81" fmla="*/ 137 h 164"/>
                <a:gd name="T82" fmla="*/ 265 w 482"/>
                <a:gd name="T83" fmla="*/ 146 h 164"/>
                <a:gd name="T84" fmla="*/ 354 w 482"/>
                <a:gd name="T85" fmla="*/ 148 h 164"/>
                <a:gd name="T86" fmla="*/ 449 w 482"/>
                <a:gd name="T87" fmla="*/ 143 h 164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w 482"/>
                <a:gd name="T133" fmla="*/ 0 h 164"/>
                <a:gd name="T134" fmla="*/ 482 w 482"/>
                <a:gd name="T135" fmla="*/ 164 h 164"/>
              </a:gdLst>
              <a:ahLst/>
              <a:cxnLst>
                <a:cxn ang="T88">
                  <a:pos x="T0" y="T1"/>
                </a:cxn>
                <a:cxn ang="T89">
                  <a:pos x="T2" y="T3"/>
                </a:cxn>
                <a:cxn ang="T90">
                  <a:pos x="T4" y="T5"/>
                </a:cxn>
                <a:cxn ang="T91">
                  <a:pos x="T6" y="T7"/>
                </a:cxn>
                <a:cxn ang="T92">
                  <a:pos x="T8" y="T9"/>
                </a:cxn>
                <a:cxn ang="T93">
                  <a:pos x="T10" y="T11"/>
                </a:cxn>
                <a:cxn ang="T94">
                  <a:pos x="T12" y="T13"/>
                </a:cxn>
                <a:cxn ang="T95">
                  <a:pos x="T14" y="T15"/>
                </a:cxn>
                <a:cxn ang="T96">
                  <a:pos x="T16" y="T17"/>
                </a:cxn>
                <a:cxn ang="T97">
                  <a:pos x="T18" y="T19"/>
                </a:cxn>
                <a:cxn ang="T98">
                  <a:pos x="T20" y="T21"/>
                </a:cxn>
                <a:cxn ang="T99">
                  <a:pos x="T22" y="T23"/>
                </a:cxn>
                <a:cxn ang="T100">
                  <a:pos x="T24" y="T25"/>
                </a:cxn>
                <a:cxn ang="T101">
                  <a:pos x="T26" y="T27"/>
                </a:cxn>
                <a:cxn ang="T102">
                  <a:pos x="T28" y="T29"/>
                </a:cxn>
                <a:cxn ang="T103">
                  <a:pos x="T30" y="T31"/>
                </a:cxn>
                <a:cxn ang="T104">
                  <a:pos x="T32" y="T33"/>
                </a:cxn>
                <a:cxn ang="T105">
                  <a:pos x="T34" y="T35"/>
                </a:cxn>
                <a:cxn ang="T106">
                  <a:pos x="T36" y="T37"/>
                </a:cxn>
                <a:cxn ang="T107">
                  <a:pos x="T38" y="T39"/>
                </a:cxn>
                <a:cxn ang="T108">
                  <a:pos x="T40" y="T41"/>
                </a:cxn>
                <a:cxn ang="T109">
                  <a:pos x="T42" y="T43"/>
                </a:cxn>
                <a:cxn ang="T110">
                  <a:pos x="T44" y="T45"/>
                </a:cxn>
                <a:cxn ang="T111">
                  <a:pos x="T46" y="T47"/>
                </a:cxn>
                <a:cxn ang="T112">
                  <a:pos x="T48" y="T49"/>
                </a:cxn>
                <a:cxn ang="T113">
                  <a:pos x="T50" y="T51"/>
                </a:cxn>
                <a:cxn ang="T114">
                  <a:pos x="T52" y="T53"/>
                </a:cxn>
                <a:cxn ang="T115">
                  <a:pos x="T54" y="T55"/>
                </a:cxn>
                <a:cxn ang="T116">
                  <a:pos x="T56" y="T57"/>
                </a:cxn>
                <a:cxn ang="T117">
                  <a:pos x="T58" y="T59"/>
                </a:cxn>
                <a:cxn ang="T118">
                  <a:pos x="T60" y="T61"/>
                </a:cxn>
                <a:cxn ang="T119">
                  <a:pos x="T62" y="T63"/>
                </a:cxn>
                <a:cxn ang="T120">
                  <a:pos x="T64" y="T65"/>
                </a:cxn>
                <a:cxn ang="T121">
                  <a:pos x="T66" y="T67"/>
                </a:cxn>
                <a:cxn ang="T122">
                  <a:pos x="T68" y="T69"/>
                </a:cxn>
                <a:cxn ang="T123">
                  <a:pos x="T70" y="T71"/>
                </a:cxn>
                <a:cxn ang="T124">
                  <a:pos x="T72" y="T73"/>
                </a:cxn>
                <a:cxn ang="T125">
                  <a:pos x="T74" y="T75"/>
                </a:cxn>
                <a:cxn ang="T126">
                  <a:pos x="T76" y="T77"/>
                </a:cxn>
                <a:cxn ang="T127">
                  <a:pos x="T78" y="T79"/>
                </a:cxn>
                <a:cxn ang="T128">
                  <a:pos x="T80" y="T81"/>
                </a:cxn>
                <a:cxn ang="T129">
                  <a:pos x="T82" y="T83"/>
                </a:cxn>
                <a:cxn ang="T130">
                  <a:pos x="T84" y="T85"/>
                </a:cxn>
                <a:cxn ang="T131">
                  <a:pos x="T86" y="T87"/>
                </a:cxn>
              </a:cxnLst>
              <a:rect l="T132" t="T133" r="T134" b="T135"/>
              <a:pathLst>
                <a:path w="482" h="164">
                  <a:moveTo>
                    <a:pt x="482" y="139"/>
                  </a:moveTo>
                  <a:lnTo>
                    <a:pt x="467" y="145"/>
                  </a:lnTo>
                  <a:lnTo>
                    <a:pt x="447" y="149"/>
                  </a:lnTo>
                  <a:lnTo>
                    <a:pt x="425" y="154"/>
                  </a:lnTo>
                  <a:lnTo>
                    <a:pt x="398" y="157"/>
                  </a:lnTo>
                  <a:lnTo>
                    <a:pt x="370" y="159"/>
                  </a:lnTo>
                  <a:lnTo>
                    <a:pt x="340" y="162"/>
                  </a:lnTo>
                  <a:lnTo>
                    <a:pt x="307" y="164"/>
                  </a:lnTo>
                  <a:lnTo>
                    <a:pt x="274" y="164"/>
                  </a:lnTo>
                  <a:lnTo>
                    <a:pt x="238" y="164"/>
                  </a:lnTo>
                  <a:lnTo>
                    <a:pt x="203" y="162"/>
                  </a:lnTo>
                  <a:lnTo>
                    <a:pt x="168" y="161"/>
                  </a:lnTo>
                  <a:lnTo>
                    <a:pt x="133" y="157"/>
                  </a:lnTo>
                  <a:lnTo>
                    <a:pt x="99" y="152"/>
                  </a:lnTo>
                  <a:lnTo>
                    <a:pt x="66" y="145"/>
                  </a:lnTo>
                  <a:lnTo>
                    <a:pt x="33" y="137"/>
                  </a:lnTo>
                  <a:lnTo>
                    <a:pt x="4" y="129"/>
                  </a:lnTo>
                  <a:lnTo>
                    <a:pt x="7" y="104"/>
                  </a:lnTo>
                  <a:lnTo>
                    <a:pt x="7" y="73"/>
                  </a:lnTo>
                  <a:lnTo>
                    <a:pt x="4" y="38"/>
                  </a:lnTo>
                  <a:lnTo>
                    <a:pt x="0" y="0"/>
                  </a:lnTo>
                  <a:lnTo>
                    <a:pt x="13" y="2"/>
                  </a:lnTo>
                  <a:lnTo>
                    <a:pt x="29" y="7"/>
                  </a:lnTo>
                  <a:lnTo>
                    <a:pt x="48" y="10"/>
                  </a:lnTo>
                  <a:lnTo>
                    <a:pt x="69" y="14"/>
                  </a:lnTo>
                  <a:lnTo>
                    <a:pt x="91" y="19"/>
                  </a:lnTo>
                  <a:lnTo>
                    <a:pt x="115" y="23"/>
                  </a:lnTo>
                  <a:lnTo>
                    <a:pt x="143" y="26"/>
                  </a:lnTo>
                  <a:lnTo>
                    <a:pt x="173" y="29"/>
                  </a:lnTo>
                  <a:lnTo>
                    <a:pt x="203" y="32"/>
                  </a:lnTo>
                  <a:lnTo>
                    <a:pt x="236" y="33"/>
                  </a:lnTo>
                  <a:lnTo>
                    <a:pt x="271" y="33"/>
                  </a:lnTo>
                  <a:lnTo>
                    <a:pt x="307" y="32"/>
                  </a:lnTo>
                  <a:lnTo>
                    <a:pt x="345" y="29"/>
                  </a:lnTo>
                  <a:lnTo>
                    <a:pt x="385" y="23"/>
                  </a:lnTo>
                  <a:lnTo>
                    <a:pt x="427" y="16"/>
                  </a:lnTo>
                  <a:lnTo>
                    <a:pt x="470" y="7"/>
                  </a:lnTo>
                  <a:lnTo>
                    <a:pt x="460" y="11"/>
                  </a:lnTo>
                  <a:lnTo>
                    <a:pt x="445" y="16"/>
                  </a:lnTo>
                  <a:lnTo>
                    <a:pt x="429" y="20"/>
                  </a:lnTo>
                  <a:lnTo>
                    <a:pt x="410" y="25"/>
                  </a:lnTo>
                  <a:lnTo>
                    <a:pt x="388" y="29"/>
                  </a:lnTo>
                  <a:lnTo>
                    <a:pt x="364" y="33"/>
                  </a:lnTo>
                  <a:lnTo>
                    <a:pt x="338" y="36"/>
                  </a:lnTo>
                  <a:lnTo>
                    <a:pt x="312" y="39"/>
                  </a:lnTo>
                  <a:lnTo>
                    <a:pt x="282" y="44"/>
                  </a:lnTo>
                  <a:lnTo>
                    <a:pt x="252" y="45"/>
                  </a:lnTo>
                  <a:lnTo>
                    <a:pt x="221" y="48"/>
                  </a:lnTo>
                  <a:lnTo>
                    <a:pt x="189" y="49"/>
                  </a:lnTo>
                  <a:lnTo>
                    <a:pt x="156" y="49"/>
                  </a:lnTo>
                  <a:lnTo>
                    <a:pt x="123" y="49"/>
                  </a:lnTo>
                  <a:lnTo>
                    <a:pt x="91" y="48"/>
                  </a:lnTo>
                  <a:lnTo>
                    <a:pt x="57" y="47"/>
                  </a:lnTo>
                  <a:lnTo>
                    <a:pt x="74" y="51"/>
                  </a:lnTo>
                  <a:lnTo>
                    <a:pt x="95" y="55"/>
                  </a:lnTo>
                  <a:lnTo>
                    <a:pt x="118" y="58"/>
                  </a:lnTo>
                  <a:lnTo>
                    <a:pt x="143" y="61"/>
                  </a:lnTo>
                  <a:lnTo>
                    <a:pt x="170" y="64"/>
                  </a:lnTo>
                  <a:lnTo>
                    <a:pt x="196" y="66"/>
                  </a:lnTo>
                  <a:lnTo>
                    <a:pt x="225" y="67"/>
                  </a:lnTo>
                  <a:lnTo>
                    <a:pt x="255" y="67"/>
                  </a:lnTo>
                  <a:lnTo>
                    <a:pt x="284" y="67"/>
                  </a:lnTo>
                  <a:lnTo>
                    <a:pt x="313" y="66"/>
                  </a:lnTo>
                  <a:lnTo>
                    <a:pt x="343" y="64"/>
                  </a:lnTo>
                  <a:lnTo>
                    <a:pt x="370" y="61"/>
                  </a:lnTo>
                  <a:lnTo>
                    <a:pt x="398" y="58"/>
                  </a:lnTo>
                  <a:lnTo>
                    <a:pt x="426" y="55"/>
                  </a:lnTo>
                  <a:lnTo>
                    <a:pt x="451" y="51"/>
                  </a:lnTo>
                  <a:lnTo>
                    <a:pt x="474" y="45"/>
                  </a:lnTo>
                  <a:lnTo>
                    <a:pt x="464" y="51"/>
                  </a:lnTo>
                  <a:lnTo>
                    <a:pt x="448" y="55"/>
                  </a:lnTo>
                  <a:lnTo>
                    <a:pt x="429" y="61"/>
                  </a:lnTo>
                  <a:lnTo>
                    <a:pt x="407" y="66"/>
                  </a:lnTo>
                  <a:lnTo>
                    <a:pt x="381" y="71"/>
                  </a:lnTo>
                  <a:lnTo>
                    <a:pt x="353" y="76"/>
                  </a:lnTo>
                  <a:lnTo>
                    <a:pt x="323" y="79"/>
                  </a:lnTo>
                  <a:lnTo>
                    <a:pt x="294" y="83"/>
                  </a:lnTo>
                  <a:lnTo>
                    <a:pt x="262" y="86"/>
                  </a:lnTo>
                  <a:lnTo>
                    <a:pt x="231" y="88"/>
                  </a:lnTo>
                  <a:lnTo>
                    <a:pt x="199" y="89"/>
                  </a:lnTo>
                  <a:lnTo>
                    <a:pt x="170" y="89"/>
                  </a:lnTo>
                  <a:lnTo>
                    <a:pt x="140" y="89"/>
                  </a:lnTo>
                  <a:lnTo>
                    <a:pt x="114" y="88"/>
                  </a:lnTo>
                  <a:lnTo>
                    <a:pt x="89" y="85"/>
                  </a:lnTo>
                  <a:lnTo>
                    <a:pt x="69" y="82"/>
                  </a:lnTo>
                  <a:lnTo>
                    <a:pt x="88" y="88"/>
                  </a:lnTo>
                  <a:lnTo>
                    <a:pt x="108" y="92"/>
                  </a:lnTo>
                  <a:lnTo>
                    <a:pt x="129" y="96"/>
                  </a:lnTo>
                  <a:lnTo>
                    <a:pt x="152" y="99"/>
                  </a:lnTo>
                  <a:lnTo>
                    <a:pt x="175" y="104"/>
                  </a:lnTo>
                  <a:lnTo>
                    <a:pt x="200" y="105"/>
                  </a:lnTo>
                  <a:lnTo>
                    <a:pt x="227" y="108"/>
                  </a:lnTo>
                  <a:lnTo>
                    <a:pt x="253" y="108"/>
                  </a:lnTo>
                  <a:lnTo>
                    <a:pt x="280" y="110"/>
                  </a:lnTo>
                  <a:lnTo>
                    <a:pt x="306" y="110"/>
                  </a:lnTo>
                  <a:lnTo>
                    <a:pt x="334" y="108"/>
                  </a:lnTo>
                  <a:lnTo>
                    <a:pt x="362" y="107"/>
                  </a:lnTo>
                  <a:lnTo>
                    <a:pt x="389" y="104"/>
                  </a:lnTo>
                  <a:lnTo>
                    <a:pt x="417" y="101"/>
                  </a:lnTo>
                  <a:lnTo>
                    <a:pt x="444" y="96"/>
                  </a:lnTo>
                  <a:lnTo>
                    <a:pt x="471" y="92"/>
                  </a:lnTo>
                  <a:lnTo>
                    <a:pt x="458" y="96"/>
                  </a:lnTo>
                  <a:lnTo>
                    <a:pt x="444" y="99"/>
                  </a:lnTo>
                  <a:lnTo>
                    <a:pt x="427" y="105"/>
                  </a:lnTo>
                  <a:lnTo>
                    <a:pt x="410" y="110"/>
                  </a:lnTo>
                  <a:lnTo>
                    <a:pt x="389" y="114"/>
                  </a:lnTo>
                  <a:lnTo>
                    <a:pt x="369" y="118"/>
                  </a:lnTo>
                  <a:lnTo>
                    <a:pt x="345" y="121"/>
                  </a:lnTo>
                  <a:lnTo>
                    <a:pt x="322" y="126"/>
                  </a:lnTo>
                  <a:lnTo>
                    <a:pt x="297" y="129"/>
                  </a:lnTo>
                  <a:lnTo>
                    <a:pt x="271" y="130"/>
                  </a:lnTo>
                  <a:lnTo>
                    <a:pt x="243" y="132"/>
                  </a:lnTo>
                  <a:lnTo>
                    <a:pt x="214" y="132"/>
                  </a:lnTo>
                  <a:lnTo>
                    <a:pt x="183" y="130"/>
                  </a:lnTo>
                  <a:lnTo>
                    <a:pt x="152" y="129"/>
                  </a:lnTo>
                  <a:lnTo>
                    <a:pt x="120" y="124"/>
                  </a:lnTo>
                  <a:lnTo>
                    <a:pt x="86" y="118"/>
                  </a:lnTo>
                  <a:lnTo>
                    <a:pt x="96" y="121"/>
                  </a:lnTo>
                  <a:lnTo>
                    <a:pt x="110" y="124"/>
                  </a:lnTo>
                  <a:lnTo>
                    <a:pt x="126" y="127"/>
                  </a:lnTo>
                  <a:lnTo>
                    <a:pt x="143" y="132"/>
                  </a:lnTo>
                  <a:lnTo>
                    <a:pt x="164" y="135"/>
                  </a:lnTo>
                  <a:lnTo>
                    <a:pt x="187" y="137"/>
                  </a:lnTo>
                  <a:lnTo>
                    <a:pt x="212" y="140"/>
                  </a:lnTo>
                  <a:lnTo>
                    <a:pt x="238" y="143"/>
                  </a:lnTo>
                  <a:lnTo>
                    <a:pt x="265" y="146"/>
                  </a:lnTo>
                  <a:lnTo>
                    <a:pt x="294" y="148"/>
                  </a:lnTo>
                  <a:lnTo>
                    <a:pt x="323" y="148"/>
                  </a:lnTo>
                  <a:lnTo>
                    <a:pt x="354" y="148"/>
                  </a:lnTo>
                  <a:lnTo>
                    <a:pt x="386" y="148"/>
                  </a:lnTo>
                  <a:lnTo>
                    <a:pt x="417" y="146"/>
                  </a:lnTo>
                  <a:lnTo>
                    <a:pt x="449" y="143"/>
                  </a:lnTo>
                  <a:lnTo>
                    <a:pt x="482" y="139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908"/>
            </a:p>
          </p:txBody>
        </p:sp>
        <p:sp>
          <p:nvSpPr>
            <p:cNvPr id="16426" name="Freeform 38"/>
            <p:cNvSpPr>
              <a:spLocks/>
            </p:cNvSpPr>
            <p:nvPr/>
          </p:nvSpPr>
          <p:spPr bwMode="auto">
            <a:xfrm>
              <a:off x="4331" y="2098"/>
              <a:ext cx="487" cy="101"/>
            </a:xfrm>
            <a:custGeom>
              <a:avLst/>
              <a:gdLst>
                <a:gd name="T0" fmla="*/ 0 w 487"/>
                <a:gd name="T1" fmla="*/ 53 h 101"/>
                <a:gd name="T2" fmla="*/ 5 w 487"/>
                <a:gd name="T3" fmla="*/ 42 h 101"/>
                <a:gd name="T4" fmla="*/ 19 w 487"/>
                <a:gd name="T5" fmla="*/ 32 h 101"/>
                <a:gd name="T6" fmla="*/ 43 w 487"/>
                <a:gd name="T7" fmla="*/ 23 h 101"/>
                <a:gd name="T8" fmla="*/ 74 w 487"/>
                <a:gd name="T9" fmla="*/ 16 h 101"/>
                <a:gd name="T10" fmla="*/ 110 w 487"/>
                <a:gd name="T11" fmla="*/ 10 h 101"/>
                <a:gd name="T12" fmla="*/ 153 w 487"/>
                <a:gd name="T13" fmla="*/ 6 h 101"/>
                <a:gd name="T14" fmla="*/ 197 w 487"/>
                <a:gd name="T15" fmla="*/ 1 h 101"/>
                <a:gd name="T16" fmla="*/ 242 w 487"/>
                <a:gd name="T17" fmla="*/ 0 h 101"/>
                <a:gd name="T18" fmla="*/ 289 w 487"/>
                <a:gd name="T19" fmla="*/ 0 h 101"/>
                <a:gd name="T20" fmla="*/ 333 w 487"/>
                <a:gd name="T21" fmla="*/ 1 h 101"/>
                <a:gd name="T22" fmla="*/ 374 w 487"/>
                <a:gd name="T23" fmla="*/ 4 h 101"/>
                <a:gd name="T24" fmla="*/ 412 w 487"/>
                <a:gd name="T25" fmla="*/ 9 h 101"/>
                <a:gd name="T26" fmla="*/ 443 w 487"/>
                <a:gd name="T27" fmla="*/ 16 h 101"/>
                <a:gd name="T28" fmla="*/ 466 w 487"/>
                <a:gd name="T29" fmla="*/ 25 h 101"/>
                <a:gd name="T30" fmla="*/ 482 w 487"/>
                <a:gd name="T31" fmla="*/ 35 h 101"/>
                <a:gd name="T32" fmla="*/ 487 w 487"/>
                <a:gd name="T33" fmla="*/ 48 h 101"/>
                <a:gd name="T34" fmla="*/ 481 w 487"/>
                <a:gd name="T35" fmla="*/ 61 h 101"/>
                <a:gd name="T36" fmla="*/ 465 w 487"/>
                <a:gd name="T37" fmla="*/ 72 h 101"/>
                <a:gd name="T38" fmla="*/ 441 w 487"/>
                <a:gd name="T39" fmla="*/ 82 h 101"/>
                <a:gd name="T40" fmla="*/ 410 w 487"/>
                <a:gd name="T41" fmla="*/ 89 h 101"/>
                <a:gd name="T42" fmla="*/ 374 w 487"/>
                <a:gd name="T43" fmla="*/ 95 h 101"/>
                <a:gd name="T44" fmla="*/ 334 w 487"/>
                <a:gd name="T45" fmla="*/ 98 h 101"/>
                <a:gd name="T46" fmla="*/ 290 w 487"/>
                <a:gd name="T47" fmla="*/ 101 h 101"/>
                <a:gd name="T48" fmla="*/ 246 w 487"/>
                <a:gd name="T49" fmla="*/ 101 h 101"/>
                <a:gd name="T50" fmla="*/ 201 w 487"/>
                <a:gd name="T51" fmla="*/ 101 h 101"/>
                <a:gd name="T52" fmla="*/ 157 w 487"/>
                <a:gd name="T53" fmla="*/ 98 h 101"/>
                <a:gd name="T54" fmla="*/ 116 w 487"/>
                <a:gd name="T55" fmla="*/ 94 h 101"/>
                <a:gd name="T56" fmla="*/ 79 w 487"/>
                <a:gd name="T57" fmla="*/ 88 h 101"/>
                <a:gd name="T58" fmla="*/ 49 w 487"/>
                <a:gd name="T59" fmla="*/ 82 h 101"/>
                <a:gd name="T60" fmla="*/ 24 w 487"/>
                <a:gd name="T61" fmla="*/ 73 h 101"/>
                <a:gd name="T62" fmla="*/ 8 w 487"/>
                <a:gd name="T63" fmla="*/ 63 h 101"/>
                <a:gd name="T64" fmla="*/ 0 w 487"/>
                <a:gd name="T65" fmla="*/ 53 h 10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w 487"/>
                <a:gd name="T100" fmla="*/ 0 h 101"/>
                <a:gd name="T101" fmla="*/ 487 w 487"/>
                <a:gd name="T102" fmla="*/ 101 h 101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T99" t="T100" r="T101" b="T102"/>
              <a:pathLst>
                <a:path w="487" h="101">
                  <a:moveTo>
                    <a:pt x="0" y="53"/>
                  </a:moveTo>
                  <a:lnTo>
                    <a:pt x="5" y="42"/>
                  </a:lnTo>
                  <a:lnTo>
                    <a:pt x="19" y="32"/>
                  </a:lnTo>
                  <a:lnTo>
                    <a:pt x="43" y="23"/>
                  </a:lnTo>
                  <a:lnTo>
                    <a:pt x="74" y="16"/>
                  </a:lnTo>
                  <a:lnTo>
                    <a:pt x="110" y="10"/>
                  </a:lnTo>
                  <a:lnTo>
                    <a:pt x="153" y="6"/>
                  </a:lnTo>
                  <a:lnTo>
                    <a:pt x="197" y="1"/>
                  </a:lnTo>
                  <a:lnTo>
                    <a:pt x="242" y="0"/>
                  </a:lnTo>
                  <a:lnTo>
                    <a:pt x="289" y="0"/>
                  </a:lnTo>
                  <a:lnTo>
                    <a:pt x="333" y="1"/>
                  </a:lnTo>
                  <a:lnTo>
                    <a:pt x="374" y="4"/>
                  </a:lnTo>
                  <a:lnTo>
                    <a:pt x="412" y="9"/>
                  </a:lnTo>
                  <a:lnTo>
                    <a:pt x="443" y="16"/>
                  </a:lnTo>
                  <a:lnTo>
                    <a:pt x="466" y="25"/>
                  </a:lnTo>
                  <a:lnTo>
                    <a:pt x="482" y="35"/>
                  </a:lnTo>
                  <a:lnTo>
                    <a:pt x="487" y="48"/>
                  </a:lnTo>
                  <a:lnTo>
                    <a:pt x="481" y="61"/>
                  </a:lnTo>
                  <a:lnTo>
                    <a:pt x="465" y="72"/>
                  </a:lnTo>
                  <a:lnTo>
                    <a:pt x="441" y="82"/>
                  </a:lnTo>
                  <a:lnTo>
                    <a:pt x="410" y="89"/>
                  </a:lnTo>
                  <a:lnTo>
                    <a:pt x="374" y="95"/>
                  </a:lnTo>
                  <a:lnTo>
                    <a:pt x="334" y="98"/>
                  </a:lnTo>
                  <a:lnTo>
                    <a:pt x="290" y="101"/>
                  </a:lnTo>
                  <a:lnTo>
                    <a:pt x="246" y="101"/>
                  </a:lnTo>
                  <a:lnTo>
                    <a:pt x="201" y="101"/>
                  </a:lnTo>
                  <a:lnTo>
                    <a:pt x="157" y="98"/>
                  </a:lnTo>
                  <a:lnTo>
                    <a:pt x="116" y="94"/>
                  </a:lnTo>
                  <a:lnTo>
                    <a:pt x="79" y="88"/>
                  </a:lnTo>
                  <a:lnTo>
                    <a:pt x="49" y="82"/>
                  </a:lnTo>
                  <a:lnTo>
                    <a:pt x="24" y="73"/>
                  </a:lnTo>
                  <a:lnTo>
                    <a:pt x="8" y="63"/>
                  </a:lnTo>
                  <a:lnTo>
                    <a:pt x="0" y="53"/>
                  </a:lnTo>
                  <a:close/>
                </a:path>
              </a:pathLst>
            </a:custGeom>
            <a:solidFill>
              <a:srgbClr val="CCB7A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908"/>
            </a:p>
          </p:txBody>
        </p:sp>
        <p:sp>
          <p:nvSpPr>
            <p:cNvPr id="16427" name="Freeform 39"/>
            <p:cNvSpPr>
              <a:spLocks/>
            </p:cNvSpPr>
            <p:nvPr/>
          </p:nvSpPr>
          <p:spPr bwMode="auto">
            <a:xfrm>
              <a:off x="4211" y="2362"/>
              <a:ext cx="693" cy="1071"/>
            </a:xfrm>
            <a:custGeom>
              <a:avLst/>
              <a:gdLst>
                <a:gd name="T0" fmla="*/ 35 w 693"/>
                <a:gd name="T1" fmla="*/ 994 h 1071"/>
                <a:gd name="T2" fmla="*/ 302 w 693"/>
                <a:gd name="T3" fmla="*/ 1069 h 1071"/>
                <a:gd name="T4" fmla="*/ 567 w 693"/>
                <a:gd name="T5" fmla="*/ 1031 h 1071"/>
                <a:gd name="T6" fmla="*/ 377 w 693"/>
                <a:gd name="T7" fmla="*/ 1015 h 1071"/>
                <a:gd name="T8" fmla="*/ 513 w 693"/>
                <a:gd name="T9" fmla="*/ 1003 h 1071"/>
                <a:gd name="T10" fmla="*/ 626 w 693"/>
                <a:gd name="T11" fmla="*/ 965 h 1071"/>
                <a:gd name="T12" fmla="*/ 579 w 693"/>
                <a:gd name="T13" fmla="*/ 971 h 1071"/>
                <a:gd name="T14" fmla="*/ 451 w 693"/>
                <a:gd name="T15" fmla="*/ 962 h 1071"/>
                <a:gd name="T16" fmla="*/ 453 w 693"/>
                <a:gd name="T17" fmla="*/ 943 h 1071"/>
                <a:gd name="T18" fmla="*/ 610 w 693"/>
                <a:gd name="T19" fmla="*/ 909 h 1071"/>
                <a:gd name="T20" fmla="*/ 692 w 693"/>
                <a:gd name="T21" fmla="*/ 854 h 1071"/>
                <a:gd name="T22" fmla="*/ 561 w 693"/>
                <a:gd name="T23" fmla="*/ 893 h 1071"/>
                <a:gd name="T24" fmla="*/ 446 w 693"/>
                <a:gd name="T25" fmla="*/ 889 h 1071"/>
                <a:gd name="T26" fmla="*/ 528 w 693"/>
                <a:gd name="T27" fmla="*/ 877 h 1071"/>
                <a:gd name="T28" fmla="*/ 645 w 693"/>
                <a:gd name="T29" fmla="*/ 832 h 1071"/>
                <a:gd name="T30" fmla="*/ 596 w 693"/>
                <a:gd name="T31" fmla="*/ 820 h 1071"/>
                <a:gd name="T32" fmla="*/ 533 w 693"/>
                <a:gd name="T33" fmla="*/ 795 h 1071"/>
                <a:gd name="T34" fmla="*/ 664 w 693"/>
                <a:gd name="T35" fmla="*/ 747 h 1071"/>
                <a:gd name="T36" fmla="*/ 470 w 693"/>
                <a:gd name="T37" fmla="*/ 748 h 1071"/>
                <a:gd name="T38" fmla="*/ 675 w 693"/>
                <a:gd name="T39" fmla="*/ 695 h 1071"/>
                <a:gd name="T40" fmla="*/ 539 w 693"/>
                <a:gd name="T41" fmla="*/ 695 h 1071"/>
                <a:gd name="T42" fmla="*/ 637 w 693"/>
                <a:gd name="T43" fmla="*/ 656 h 1071"/>
                <a:gd name="T44" fmla="*/ 573 w 693"/>
                <a:gd name="T45" fmla="*/ 638 h 1071"/>
                <a:gd name="T46" fmla="*/ 595 w 693"/>
                <a:gd name="T47" fmla="*/ 609 h 1071"/>
                <a:gd name="T48" fmla="*/ 633 w 693"/>
                <a:gd name="T49" fmla="*/ 568 h 1071"/>
                <a:gd name="T50" fmla="*/ 519 w 693"/>
                <a:gd name="T51" fmla="*/ 562 h 1071"/>
                <a:gd name="T52" fmla="*/ 686 w 693"/>
                <a:gd name="T53" fmla="*/ 503 h 1071"/>
                <a:gd name="T54" fmla="*/ 508 w 693"/>
                <a:gd name="T55" fmla="*/ 509 h 1071"/>
                <a:gd name="T56" fmla="*/ 659 w 693"/>
                <a:gd name="T57" fmla="*/ 468 h 1071"/>
                <a:gd name="T58" fmla="*/ 554 w 693"/>
                <a:gd name="T59" fmla="*/ 462 h 1071"/>
                <a:gd name="T60" fmla="*/ 596 w 693"/>
                <a:gd name="T61" fmla="*/ 433 h 1071"/>
                <a:gd name="T62" fmla="*/ 608 w 693"/>
                <a:gd name="T63" fmla="*/ 402 h 1071"/>
                <a:gd name="T64" fmla="*/ 539 w 693"/>
                <a:gd name="T65" fmla="*/ 389 h 1071"/>
                <a:gd name="T66" fmla="*/ 646 w 693"/>
                <a:gd name="T67" fmla="*/ 346 h 1071"/>
                <a:gd name="T68" fmla="*/ 473 w 693"/>
                <a:gd name="T69" fmla="*/ 331 h 1071"/>
                <a:gd name="T70" fmla="*/ 658 w 693"/>
                <a:gd name="T71" fmla="*/ 302 h 1071"/>
                <a:gd name="T72" fmla="*/ 595 w 693"/>
                <a:gd name="T73" fmla="*/ 299 h 1071"/>
                <a:gd name="T74" fmla="*/ 482 w 693"/>
                <a:gd name="T75" fmla="*/ 290 h 1071"/>
                <a:gd name="T76" fmla="*/ 513 w 693"/>
                <a:gd name="T77" fmla="*/ 279 h 1071"/>
                <a:gd name="T78" fmla="*/ 637 w 693"/>
                <a:gd name="T79" fmla="*/ 251 h 1071"/>
                <a:gd name="T80" fmla="*/ 673 w 693"/>
                <a:gd name="T81" fmla="*/ 230 h 1071"/>
                <a:gd name="T82" fmla="*/ 563 w 693"/>
                <a:gd name="T83" fmla="*/ 245 h 1071"/>
                <a:gd name="T84" fmla="*/ 448 w 693"/>
                <a:gd name="T85" fmla="*/ 242 h 1071"/>
                <a:gd name="T86" fmla="*/ 478 w 693"/>
                <a:gd name="T87" fmla="*/ 233 h 1071"/>
                <a:gd name="T88" fmla="*/ 617 w 693"/>
                <a:gd name="T89" fmla="*/ 210 h 1071"/>
                <a:gd name="T90" fmla="*/ 680 w 693"/>
                <a:gd name="T91" fmla="*/ 183 h 1071"/>
                <a:gd name="T92" fmla="*/ 533 w 693"/>
                <a:gd name="T93" fmla="*/ 195 h 1071"/>
                <a:gd name="T94" fmla="*/ 388 w 693"/>
                <a:gd name="T95" fmla="*/ 185 h 1071"/>
                <a:gd name="T96" fmla="*/ 498 w 693"/>
                <a:gd name="T97" fmla="*/ 180 h 1071"/>
                <a:gd name="T98" fmla="*/ 662 w 693"/>
                <a:gd name="T99" fmla="*/ 160 h 1071"/>
                <a:gd name="T100" fmla="*/ 602 w 693"/>
                <a:gd name="T101" fmla="*/ 152 h 1071"/>
                <a:gd name="T102" fmla="*/ 333 w 693"/>
                <a:gd name="T103" fmla="*/ 148 h 1071"/>
                <a:gd name="T104" fmla="*/ 311 w 693"/>
                <a:gd name="T105" fmla="*/ 126 h 1071"/>
                <a:gd name="T106" fmla="*/ 582 w 693"/>
                <a:gd name="T107" fmla="*/ 110 h 1071"/>
                <a:gd name="T108" fmla="*/ 684 w 693"/>
                <a:gd name="T109" fmla="*/ 69 h 1071"/>
                <a:gd name="T110" fmla="*/ 591 w 693"/>
                <a:gd name="T111" fmla="*/ 1 h 1071"/>
                <a:gd name="T112" fmla="*/ 457 w 693"/>
                <a:gd name="T113" fmla="*/ 20 h 1071"/>
                <a:gd name="T114" fmla="*/ 237 w 693"/>
                <a:gd name="T115" fmla="*/ 19 h 1071"/>
                <a:gd name="T116" fmla="*/ 53 w 693"/>
                <a:gd name="T117" fmla="*/ 31 h 1071"/>
                <a:gd name="T118" fmla="*/ 6 w 693"/>
                <a:gd name="T119" fmla="*/ 177 h 1071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w 693"/>
                <a:gd name="T181" fmla="*/ 0 h 1071"/>
                <a:gd name="T182" fmla="*/ 693 w 693"/>
                <a:gd name="T183" fmla="*/ 1071 h 1071"/>
              </a:gdLst>
              <a:ahLst/>
              <a:cxnLst>
                <a:cxn ang="T120">
                  <a:pos x="T0" y="T1"/>
                </a:cxn>
                <a:cxn ang="T121">
                  <a:pos x="T2" y="T3"/>
                </a:cxn>
                <a:cxn ang="T122">
                  <a:pos x="T4" y="T5"/>
                </a:cxn>
                <a:cxn ang="T123">
                  <a:pos x="T6" y="T7"/>
                </a:cxn>
                <a:cxn ang="T124">
                  <a:pos x="T8" y="T9"/>
                </a:cxn>
                <a:cxn ang="T125">
                  <a:pos x="T10" y="T11"/>
                </a:cxn>
                <a:cxn ang="T126">
                  <a:pos x="T12" y="T13"/>
                </a:cxn>
                <a:cxn ang="T127">
                  <a:pos x="T14" y="T15"/>
                </a:cxn>
                <a:cxn ang="T128">
                  <a:pos x="T16" y="T17"/>
                </a:cxn>
                <a:cxn ang="T129">
                  <a:pos x="T18" y="T19"/>
                </a:cxn>
                <a:cxn ang="T130">
                  <a:pos x="T20" y="T21"/>
                </a:cxn>
                <a:cxn ang="T131">
                  <a:pos x="T22" y="T23"/>
                </a:cxn>
                <a:cxn ang="T132">
                  <a:pos x="T24" y="T25"/>
                </a:cxn>
                <a:cxn ang="T133">
                  <a:pos x="T26" y="T27"/>
                </a:cxn>
                <a:cxn ang="T134">
                  <a:pos x="T28" y="T29"/>
                </a:cxn>
                <a:cxn ang="T135">
                  <a:pos x="T30" y="T31"/>
                </a:cxn>
                <a:cxn ang="T136">
                  <a:pos x="T32" y="T33"/>
                </a:cxn>
                <a:cxn ang="T137">
                  <a:pos x="T34" y="T35"/>
                </a:cxn>
                <a:cxn ang="T138">
                  <a:pos x="T36" y="T37"/>
                </a:cxn>
                <a:cxn ang="T139">
                  <a:pos x="T38" y="T39"/>
                </a:cxn>
                <a:cxn ang="T140">
                  <a:pos x="T40" y="T41"/>
                </a:cxn>
                <a:cxn ang="T141">
                  <a:pos x="T42" y="T43"/>
                </a:cxn>
                <a:cxn ang="T142">
                  <a:pos x="T44" y="T45"/>
                </a:cxn>
                <a:cxn ang="T143">
                  <a:pos x="T46" y="T47"/>
                </a:cxn>
                <a:cxn ang="T144">
                  <a:pos x="T48" y="T49"/>
                </a:cxn>
                <a:cxn ang="T145">
                  <a:pos x="T50" y="T51"/>
                </a:cxn>
                <a:cxn ang="T146">
                  <a:pos x="T52" y="T53"/>
                </a:cxn>
                <a:cxn ang="T147">
                  <a:pos x="T54" y="T55"/>
                </a:cxn>
                <a:cxn ang="T148">
                  <a:pos x="T56" y="T57"/>
                </a:cxn>
                <a:cxn ang="T149">
                  <a:pos x="T58" y="T59"/>
                </a:cxn>
                <a:cxn ang="T150">
                  <a:pos x="T60" y="T61"/>
                </a:cxn>
                <a:cxn ang="T151">
                  <a:pos x="T62" y="T63"/>
                </a:cxn>
                <a:cxn ang="T152">
                  <a:pos x="T64" y="T65"/>
                </a:cxn>
                <a:cxn ang="T153">
                  <a:pos x="T66" y="T67"/>
                </a:cxn>
                <a:cxn ang="T154">
                  <a:pos x="T68" y="T69"/>
                </a:cxn>
                <a:cxn ang="T155">
                  <a:pos x="T70" y="T71"/>
                </a:cxn>
                <a:cxn ang="T156">
                  <a:pos x="T72" y="T73"/>
                </a:cxn>
                <a:cxn ang="T157">
                  <a:pos x="T74" y="T75"/>
                </a:cxn>
                <a:cxn ang="T158">
                  <a:pos x="T76" y="T77"/>
                </a:cxn>
                <a:cxn ang="T159">
                  <a:pos x="T78" y="T79"/>
                </a:cxn>
                <a:cxn ang="T160">
                  <a:pos x="T80" y="T81"/>
                </a:cxn>
                <a:cxn ang="T161">
                  <a:pos x="T82" y="T83"/>
                </a:cxn>
                <a:cxn ang="T162">
                  <a:pos x="T84" y="T85"/>
                </a:cxn>
                <a:cxn ang="T163">
                  <a:pos x="T86" y="T87"/>
                </a:cxn>
                <a:cxn ang="T164">
                  <a:pos x="T88" y="T89"/>
                </a:cxn>
                <a:cxn ang="T165">
                  <a:pos x="T90" y="T91"/>
                </a:cxn>
                <a:cxn ang="T166">
                  <a:pos x="T92" y="T93"/>
                </a:cxn>
                <a:cxn ang="T167">
                  <a:pos x="T94" y="T95"/>
                </a:cxn>
                <a:cxn ang="T168">
                  <a:pos x="T96" y="T97"/>
                </a:cxn>
                <a:cxn ang="T169">
                  <a:pos x="T98" y="T99"/>
                </a:cxn>
                <a:cxn ang="T170">
                  <a:pos x="T100" y="T101"/>
                </a:cxn>
                <a:cxn ang="T171">
                  <a:pos x="T102" y="T103"/>
                </a:cxn>
                <a:cxn ang="T172">
                  <a:pos x="T104" y="T105"/>
                </a:cxn>
                <a:cxn ang="T173">
                  <a:pos x="T106" y="T107"/>
                </a:cxn>
                <a:cxn ang="T174">
                  <a:pos x="T108" y="T109"/>
                </a:cxn>
                <a:cxn ang="T175">
                  <a:pos x="T110" y="T111"/>
                </a:cxn>
                <a:cxn ang="T176">
                  <a:pos x="T112" y="T113"/>
                </a:cxn>
                <a:cxn ang="T177">
                  <a:pos x="T114" y="T115"/>
                </a:cxn>
                <a:cxn ang="T178">
                  <a:pos x="T116" y="T117"/>
                </a:cxn>
                <a:cxn ang="T179">
                  <a:pos x="T118" y="T119"/>
                </a:cxn>
              </a:cxnLst>
              <a:rect l="T180" t="T181" r="T182" b="T183"/>
              <a:pathLst>
                <a:path w="693" h="1071">
                  <a:moveTo>
                    <a:pt x="5" y="226"/>
                  </a:moveTo>
                  <a:lnTo>
                    <a:pt x="2" y="425"/>
                  </a:lnTo>
                  <a:lnTo>
                    <a:pt x="0" y="645"/>
                  </a:lnTo>
                  <a:lnTo>
                    <a:pt x="0" y="836"/>
                  </a:lnTo>
                  <a:lnTo>
                    <a:pt x="2" y="946"/>
                  </a:lnTo>
                  <a:lnTo>
                    <a:pt x="15" y="972"/>
                  </a:lnTo>
                  <a:lnTo>
                    <a:pt x="35" y="994"/>
                  </a:lnTo>
                  <a:lnTo>
                    <a:pt x="62" y="1014"/>
                  </a:lnTo>
                  <a:lnTo>
                    <a:pt x="94" y="1031"/>
                  </a:lnTo>
                  <a:lnTo>
                    <a:pt x="129" y="1044"/>
                  </a:lnTo>
                  <a:lnTo>
                    <a:pt x="170" y="1055"/>
                  </a:lnTo>
                  <a:lnTo>
                    <a:pt x="213" y="1062"/>
                  </a:lnTo>
                  <a:lnTo>
                    <a:pt x="257" y="1068"/>
                  </a:lnTo>
                  <a:lnTo>
                    <a:pt x="302" y="1069"/>
                  </a:lnTo>
                  <a:lnTo>
                    <a:pt x="346" y="1071"/>
                  </a:lnTo>
                  <a:lnTo>
                    <a:pt x="391" y="1069"/>
                  </a:lnTo>
                  <a:lnTo>
                    <a:pt x="434" y="1065"/>
                  </a:lnTo>
                  <a:lnTo>
                    <a:pt x="473" y="1059"/>
                  </a:lnTo>
                  <a:lnTo>
                    <a:pt x="508" y="1052"/>
                  </a:lnTo>
                  <a:lnTo>
                    <a:pt x="541" y="1041"/>
                  </a:lnTo>
                  <a:lnTo>
                    <a:pt x="567" y="1031"/>
                  </a:lnTo>
                  <a:lnTo>
                    <a:pt x="536" y="1033"/>
                  </a:lnTo>
                  <a:lnTo>
                    <a:pt x="506" y="1034"/>
                  </a:lnTo>
                  <a:lnTo>
                    <a:pt x="476" y="1033"/>
                  </a:lnTo>
                  <a:lnTo>
                    <a:pt x="447" y="1031"/>
                  </a:lnTo>
                  <a:lnTo>
                    <a:pt x="419" y="1027"/>
                  </a:lnTo>
                  <a:lnTo>
                    <a:pt x="396" y="1022"/>
                  </a:lnTo>
                  <a:lnTo>
                    <a:pt x="377" y="1015"/>
                  </a:lnTo>
                  <a:lnTo>
                    <a:pt x="362" y="1006"/>
                  </a:lnTo>
                  <a:lnTo>
                    <a:pt x="390" y="1009"/>
                  </a:lnTo>
                  <a:lnTo>
                    <a:pt x="418" y="1011"/>
                  </a:lnTo>
                  <a:lnTo>
                    <a:pt x="444" y="1009"/>
                  </a:lnTo>
                  <a:lnTo>
                    <a:pt x="467" y="1009"/>
                  </a:lnTo>
                  <a:lnTo>
                    <a:pt x="491" y="1006"/>
                  </a:lnTo>
                  <a:lnTo>
                    <a:pt x="513" y="1003"/>
                  </a:lnTo>
                  <a:lnTo>
                    <a:pt x="533" y="999"/>
                  </a:lnTo>
                  <a:lnTo>
                    <a:pt x="552" y="994"/>
                  </a:lnTo>
                  <a:lnTo>
                    <a:pt x="570" y="989"/>
                  </a:lnTo>
                  <a:lnTo>
                    <a:pt x="586" y="983"/>
                  </a:lnTo>
                  <a:lnTo>
                    <a:pt x="601" y="977"/>
                  </a:lnTo>
                  <a:lnTo>
                    <a:pt x="614" y="971"/>
                  </a:lnTo>
                  <a:lnTo>
                    <a:pt x="626" y="965"/>
                  </a:lnTo>
                  <a:lnTo>
                    <a:pt x="637" y="958"/>
                  </a:lnTo>
                  <a:lnTo>
                    <a:pt x="646" y="952"/>
                  </a:lnTo>
                  <a:lnTo>
                    <a:pt x="654" y="946"/>
                  </a:lnTo>
                  <a:lnTo>
                    <a:pt x="636" y="955"/>
                  </a:lnTo>
                  <a:lnTo>
                    <a:pt x="617" y="962"/>
                  </a:lnTo>
                  <a:lnTo>
                    <a:pt x="598" y="967"/>
                  </a:lnTo>
                  <a:lnTo>
                    <a:pt x="579" y="971"/>
                  </a:lnTo>
                  <a:lnTo>
                    <a:pt x="560" y="972"/>
                  </a:lnTo>
                  <a:lnTo>
                    <a:pt x="541" y="974"/>
                  </a:lnTo>
                  <a:lnTo>
                    <a:pt x="522" y="972"/>
                  </a:lnTo>
                  <a:lnTo>
                    <a:pt x="503" y="971"/>
                  </a:lnTo>
                  <a:lnTo>
                    <a:pt x="485" y="969"/>
                  </a:lnTo>
                  <a:lnTo>
                    <a:pt x="467" y="967"/>
                  </a:lnTo>
                  <a:lnTo>
                    <a:pt x="451" y="962"/>
                  </a:lnTo>
                  <a:lnTo>
                    <a:pt x="437" y="958"/>
                  </a:lnTo>
                  <a:lnTo>
                    <a:pt x="422" y="955"/>
                  </a:lnTo>
                  <a:lnTo>
                    <a:pt x="409" y="950"/>
                  </a:lnTo>
                  <a:lnTo>
                    <a:pt x="399" y="946"/>
                  </a:lnTo>
                  <a:lnTo>
                    <a:pt x="390" y="942"/>
                  </a:lnTo>
                  <a:lnTo>
                    <a:pt x="422" y="943"/>
                  </a:lnTo>
                  <a:lnTo>
                    <a:pt x="453" y="943"/>
                  </a:lnTo>
                  <a:lnTo>
                    <a:pt x="481" y="942"/>
                  </a:lnTo>
                  <a:lnTo>
                    <a:pt x="507" y="939"/>
                  </a:lnTo>
                  <a:lnTo>
                    <a:pt x="530" y="934"/>
                  </a:lnTo>
                  <a:lnTo>
                    <a:pt x="554" y="930"/>
                  </a:lnTo>
                  <a:lnTo>
                    <a:pt x="574" y="923"/>
                  </a:lnTo>
                  <a:lnTo>
                    <a:pt x="592" y="917"/>
                  </a:lnTo>
                  <a:lnTo>
                    <a:pt x="610" y="909"/>
                  </a:lnTo>
                  <a:lnTo>
                    <a:pt x="626" y="901"/>
                  </a:lnTo>
                  <a:lnTo>
                    <a:pt x="639" y="893"/>
                  </a:lnTo>
                  <a:lnTo>
                    <a:pt x="652" y="884"/>
                  </a:lnTo>
                  <a:lnTo>
                    <a:pt x="664" y="877"/>
                  </a:lnTo>
                  <a:lnTo>
                    <a:pt x="674" y="868"/>
                  </a:lnTo>
                  <a:lnTo>
                    <a:pt x="683" y="861"/>
                  </a:lnTo>
                  <a:lnTo>
                    <a:pt x="692" y="854"/>
                  </a:lnTo>
                  <a:lnTo>
                    <a:pt x="674" y="862"/>
                  </a:lnTo>
                  <a:lnTo>
                    <a:pt x="656" y="870"/>
                  </a:lnTo>
                  <a:lnTo>
                    <a:pt x="639" y="877"/>
                  </a:lnTo>
                  <a:lnTo>
                    <a:pt x="620" y="883"/>
                  </a:lnTo>
                  <a:lnTo>
                    <a:pt x="599" y="887"/>
                  </a:lnTo>
                  <a:lnTo>
                    <a:pt x="580" y="890"/>
                  </a:lnTo>
                  <a:lnTo>
                    <a:pt x="561" y="893"/>
                  </a:lnTo>
                  <a:lnTo>
                    <a:pt x="542" y="895"/>
                  </a:lnTo>
                  <a:lnTo>
                    <a:pt x="525" y="895"/>
                  </a:lnTo>
                  <a:lnTo>
                    <a:pt x="506" y="895"/>
                  </a:lnTo>
                  <a:lnTo>
                    <a:pt x="489" y="895"/>
                  </a:lnTo>
                  <a:lnTo>
                    <a:pt x="473" y="893"/>
                  </a:lnTo>
                  <a:lnTo>
                    <a:pt x="459" y="890"/>
                  </a:lnTo>
                  <a:lnTo>
                    <a:pt x="446" y="889"/>
                  </a:lnTo>
                  <a:lnTo>
                    <a:pt x="434" y="884"/>
                  </a:lnTo>
                  <a:lnTo>
                    <a:pt x="425" y="881"/>
                  </a:lnTo>
                  <a:lnTo>
                    <a:pt x="446" y="883"/>
                  </a:lnTo>
                  <a:lnTo>
                    <a:pt x="467" y="883"/>
                  </a:lnTo>
                  <a:lnTo>
                    <a:pt x="488" y="883"/>
                  </a:lnTo>
                  <a:lnTo>
                    <a:pt x="507" y="880"/>
                  </a:lnTo>
                  <a:lnTo>
                    <a:pt x="528" y="877"/>
                  </a:lnTo>
                  <a:lnTo>
                    <a:pt x="547" y="874"/>
                  </a:lnTo>
                  <a:lnTo>
                    <a:pt x="564" y="868"/>
                  </a:lnTo>
                  <a:lnTo>
                    <a:pt x="583" y="862"/>
                  </a:lnTo>
                  <a:lnTo>
                    <a:pt x="599" y="855"/>
                  </a:lnTo>
                  <a:lnTo>
                    <a:pt x="615" y="848"/>
                  </a:lnTo>
                  <a:lnTo>
                    <a:pt x="632" y="840"/>
                  </a:lnTo>
                  <a:lnTo>
                    <a:pt x="645" y="832"/>
                  </a:lnTo>
                  <a:lnTo>
                    <a:pt x="659" y="823"/>
                  </a:lnTo>
                  <a:lnTo>
                    <a:pt x="671" y="814"/>
                  </a:lnTo>
                  <a:lnTo>
                    <a:pt x="681" y="805"/>
                  </a:lnTo>
                  <a:lnTo>
                    <a:pt x="692" y="795"/>
                  </a:lnTo>
                  <a:lnTo>
                    <a:pt x="658" y="808"/>
                  </a:lnTo>
                  <a:lnTo>
                    <a:pt x="627" y="817"/>
                  </a:lnTo>
                  <a:lnTo>
                    <a:pt x="596" y="820"/>
                  </a:lnTo>
                  <a:lnTo>
                    <a:pt x="569" y="820"/>
                  </a:lnTo>
                  <a:lnTo>
                    <a:pt x="541" y="817"/>
                  </a:lnTo>
                  <a:lnTo>
                    <a:pt x="514" y="811"/>
                  </a:lnTo>
                  <a:lnTo>
                    <a:pt x="487" y="805"/>
                  </a:lnTo>
                  <a:lnTo>
                    <a:pt x="460" y="798"/>
                  </a:lnTo>
                  <a:lnTo>
                    <a:pt x="498" y="798"/>
                  </a:lnTo>
                  <a:lnTo>
                    <a:pt x="533" y="795"/>
                  </a:lnTo>
                  <a:lnTo>
                    <a:pt x="566" y="791"/>
                  </a:lnTo>
                  <a:lnTo>
                    <a:pt x="595" y="783"/>
                  </a:lnTo>
                  <a:lnTo>
                    <a:pt x="623" y="773"/>
                  </a:lnTo>
                  <a:lnTo>
                    <a:pt x="648" y="761"/>
                  </a:lnTo>
                  <a:lnTo>
                    <a:pt x="671" y="748"/>
                  </a:lnTo>
                  <a:lnTo>
                    <a:pt x="692" y="732"/>
                  </a:lnTo>
                  <a:lnTo>
                    <a:pt x="664" y="747"/>
                  </a:lnTo>
                  <a:lnTo>
                    <a:pt x="633" y="755"/>
                  </a:lnTo>
                  <a:lnTo>
                    <a:pt x="602" y="760"/>
                  </a:lnTo>
                  <a:lnTo>
                    <a:pt x="570" y="761"/>
                  </a:lnTo>
                  <a:lnTo>
                    <a:pt x="541" y="760"/>
                  </a:lnTo>
                  <a:lnTo>
                    <a:pt x="513" y="757"/>
                  </a:lnTo>
                  <a:lnTo>
                    <a:pt x="489" y="752"/>
                  </a:lnTo>
                  <a:lnTo>
                    <a:pt x="470" y="748"/>
                  </a:lnTo>
                  <a:lnTo>
                    <a:pt x="507" y="748"/>
                  </a:lnTo>
                  <a:lnTo>
                    <a:pt x="542" y="744"/>
                  </a:lnTo>
                  <a:lnTo>
                    <a:pt x="574" y="738"/>
                  </a:lnTo>
                  <a:lnTo>
                    <a:pt x="604" y="729"/>
                  </a:lnTo>
                  <a:lnTo>
                    <a:pt x="632" y="720"/>
                  </a:lnTo>
                  <a:lnTo>
                    <a:pt x="655" y="707"/>
                  </a:lnTo>
                  <a:lnTo>
                    <a:pt x="675" y="695"/>
                  </a:lnTo>
                  <a:lnTo>
                    <a:pt x="692" y="680"/>
                  </a:lnTo>
                  <a:lnTo>
                    <a:pt x="658" y="691"/>
                  </a:lnTo>
                  <a:lnTo>
                    <a:pt x="630" y="697"/>
                  </a:lnTo>
                  <a:lnTo>
                    <a:pt x="605" y="701"/>
                  </a:lnTo>
                  <a:lnTo>
                    <a:pt x="583" y="701"/>
                  </a:lnTo>
                  <a:lnTo>
                    <a:pt x="561" y="700"/>
                  </a:lnTo>
                  <a:lnTo>
                    <a:pt x="539" y="695"/>
                  </a:lnTo>
                  <a:lnTo>
                    <a:pt x="514" y="688"/>
                  </a:lnTo>
                  <a:lnTo>
                    <a:pt x="488" y="679"/>
                  </a:lnTo>
                  <a:lnTo>
                    <a:pt x="528" y="676"/>
                  </a:lnTo>
                  <a:lnTo>
                    <a:pt x="561" y="673"/>
                  </a:lnTo>
                  <a:lnTo>
                    <a:pt x="591" y="669"/>
                  </a:lnTo>
                  <a:lnTo>
                    <a:pt x="615" y="663"/>
                  </a:lnTo>
                  <a:lnTo>
                    <a:pt x="637" y="656"/>
                  </a:lnTo>
                  <a:lnTo>
                    <a:pt x="656" y="645"/>
                  </a:lnTo>
                  <a:lnTo>
                    <a:pt x="674" y="634"/>
                  </a:lnTo>
                  <a:lnTo>
                    <a:pt x="692" y="617"/>
                  </a:lnTo>
                  <a:lnTo>
                    <a:pt x="656" y="626"/>
                  </a:lnTo>
                  <a:lnTo>
                    <a:pt x="624" y="632"/>
                  </a:lnTo>
                  <a:lnTo>
                    <a:pt x="596" y="636"/>
                  </a:lnTo>
                  <a:lnTo>
                    <a:pt x="573" y="638"/>
                  </a:lnTo>
                  <a:lnTo>
                    <a:pt x="550" y="638"/>
                  </a:lnTo>
                  <a:lnTo>
                    <a:pt x="528" y="635"/>
                  </a:lnTo>
                  <a:lnTo>
                    <a:pt x="507" y="629"/>
                  </a:lnTo>
                  <a:lnTo>
                    <a:pt x="485" y="622"/>
                  </a:lnTo>
                  <a:lnTo>
                    <a:pt x="529" y="619"/>
                  </a:lnTo>
                  <a:lnTo>
                    <a:pt x="564" y="614"/>
                  </a:lnTo>
                  <a:lnTo>
                    <a:pt x="595" y="609"/>
                  </a:lnTo>
                  <a:lnTo>
                    <a:pt x="620" y="600"/>
                  </a:lnTo>
                  <a:lnTo>
                    <a:pt x="640" y="590"/>
                  </a:lnTo>
                  <a:lnTo>
                    <a:pt x="658" y="578"/>
                  </a:lnTo>
                  <a:lnTo>
                    <a:pt x="673" y="565"/>
                  </a:lnTo>
                  <a:lnTo>
                    <a:pt x="686" y="550"/>
                  </a:lnTo>
                  <a:lnTo>
                    <a:pt x="661" y="560"/>
                  </a:lnTo>
                  <a:lnTo>
                    <a:pt x="633" y="568"/>
                  </a:lnTo>
                  <a:lnTo>
                    <a:pt x="605" y="572"/>
                  </a:lnTo>
                  <a:lnTo>
                    <a:pt x="577" y="573"/>
                  </a:lnTo>
                  <a:lnTo>
                    <a:pt x="551" y="573"/>
                  </a:lnTo>
                  <a:lnTo>
                    <a:pt x="526" y="572"/>
                  </a:lnTo>
                  <a:lnTo>
                    <a:pt x="506" y="569"/>
                  </a:lnTo>
                  <a:lnTo>
                    <a:pt x="488" y="566"/>
                  </a:lnTo>
                  <a:lnTo>
                    <a:pt x="519" y="562"/>
                  </a:lnTo>
                  <a:lnTo>
                    <a:pt x="550" y="556"/>
                  </a:lnTo>
                  <a:lnTo>
                    <a:pt x="582" y="548"/>
                  </a:lnTo>
                  <a:lnTo>
                    <a:pt x="611" y="540"/>
                  </a:lnTo>
                  <a:lnTo>
                    <a:pt x="637" y="531"/>
                  </a:lnTo>
                  <a:lnTo>
                    <a:pt x="659" y="522"/>
                  </a:lnTo>
                  <a:lnTo>
                    <a:pt x="677" y="512"/>
                  </a:lnTo>
                  <a:lnTo>
                    <a:pt x="686" y="503"/>
                  </a:lnTo>
                  <a:lnTo>
                    <a:pt x="662" y="507"/>
                  </a:lnTo>
                  <a:lnTo>
                    <a:pt x="639" y="512"/>
                  </a:lnTo>
                  <a:lnTo>
                    <a:pt x="613" y="515"/>
                  </a:lnTo>
                  <a:lnTo>
                    <a:pt x="586" y="516"/>
                  </a:lnTo>
                  <a:lnTo>
                    <a:pt x="560" y="516"/>
                  </a:lnTo>
                  <a:lnTo>
                    <a:pt x="535" y="513"/>
                  </a:lnTo>
                  <a:lnTo>
                    <a:pt x="508" y="509"/>
                  </a:lnTo>
                  <a:lnTo>
                    <a:pt x="485" y="503"/>
                  </a:lnTo>
                  <a:lnTo>
                    <a:pt x="510" y="503"/>
                  </a:lnTo>
                  <a:lnTo>
                    <a:pt x="541" y="499"/>
                  </a:lnTo>
                  <a:lnTo>
                    <a:pt x="573" y="493"/>
                  </a:lnTo>
                  <a:lnTo>
                    <a:pt x="605" y="485"/>
                  </a:lnTo>
                  <a:lnTo>
                    <a:pt x="634" y="477"/>
                  </a:lnTo>
                  <a:lnTo>
                    <a:pt x="659" y="468"/>
                  </a:lnTo>
                  <a:lnTo>
                    <a:pt x="677" y="459"/>
                  </a:lnTo>
                  <a:lnTo>
                    <a:pt x="686" y="452"/>
                  </a:lnTo>
                  <a:lnTo>
                    <a:pt x="656" y="456"/>
                  </a:lnTo>
                  <a:lnTo>
                    <a:pt x="630" y="459"/>
                  </a:lnTo>
                  <a:lnTo>
                    <a:pt x="604" y="460"/>
                  </a:lnTo>
                  <a:lnTo>
                    <a:pt x="579" y="462"/>
                  </a:lnTo>
                  <a:lnTo>
                    <a:pt x="554" y="462"/>
                  </a:lnTo>
                  <a:lnTo>
                    <a:pt x="530" y="460"/>
                  </a:lnTo>
                  <a:lnTo>
                    <a:pt x="507" y="456"/>
                  </a:lnTo>
                  <a:lnTo>
                    <a:pt x="485" y="449"/>
                  </a:lnTo>
                  <a:lnTo>
                    <a:pt x="513" y="446"/>
                  </a:lnTo>
                  <a:lnTo>
                    <a:pt x="541" y="441"/>
                  </a:lnTo>
                  <a:lnTo>
                    <a:pt x="569" y="437"/>
                  </a:lnTo>
                  <a:lnTo>
                    <a:pt x="596" y="433"/>
                  </a:lnTo>
                  <a:lnTo>
                    <a:pt x="623" y="427"/>
                  </a:lnTo>
                  <a:lnTo>
                    <a:pt x="648" y="419"/>
                  </a:lnTo>
                  <a:lnTo>
                    <a:pt x="668" y="409"/>
                  </a:lnTo>
                  <a:lnTo>
                    <a:pt x="686" y="396"/>
                  </a:lnTo>
                  <a:lnTo>
                    <a:pt x="662" y="399"/>
                  </a:lnTo>
                  <a:lnTo>
                    <a:pt x="636" y="402"/>
                  </a:lnTo>
                  <a:lnTo>
                    <a:pt x="608" y="402"/>
                  </a:lnTo>
                  <a:lnTo>
                    <a:pt x="580" y="402"/>
                  </a:lnTo>
                  <a:lnTo>
                    <a:pt x="551" y="402"/>
                  </a:lnTo>
                  <a:lnTo>
                    <a:pt x="525" y="399"/>
                  </a:lnTo>
                  <a:lnTo>
                    <a:pt x="500" y="396"/>
                  </a:lnTo>
                  <a:lnTo>
                    <a:pt x="478" y="391"/>
                  </a:lnTo>
                  <a:lnTo>
                    <a:pt x="510" y="391"/>
                  </a:lnTo>
                  <a:lnTo>
                    <a:pt x="539" y="389"/>
                  </a:lnTo>
                  <a:lnTo>
                    <a:pt x="570" y="384"/>
                  </a:lnTo>
                  <a:lnTo>
                    <a:pt x="598" y="378"/>
                  </a:lnTo>
                  <a:lnTo>
                    <a:pt x="623" y="369"/>
                  </a:lnTo>
                  <a:lnTo>
                    <a:pt x="646" y="361"/>
                  </a:lnTo>
                  <a:lnTo>
                    <a:pt x="668" y="350"/>
                  </a:lnTo>
                  <a:lnTo>
                    <a:pt x="686" y="340"/>
                  </a:lnTo>
                  <a:lnTo>
                    <a:pt x="646" y="346"/>
                  </a:lnTo>
                  <a:lnTo>
                    <a:pt x="613" y="349"/>
                  </a:lnTo>
                  <a:lnTo>
                    <a:pt x="583" y="349"/>
                  </a:lnTo>
                  <a:lnTo>
                    <a:pt x="557" y="346"/>
                  </a:lnTo>
                  <a:lnTo>
                    <a:pt x="533" y="343"/>
                  </a:lnTo>
                  <a:lnTo>
                    <a:pt x="513" y="340"/>
                  </a:lnTo>
                  <a:lnTo>
                    <a:pt x="492" y="336"/>
                  </a:lnTo>
                  <a:lnTo>
                    <a:pt x="473" y="331"/>
                  </a:lnTo>
                  <a:lnTo>
                    <a:pt x="494" y="331"/>
                  </a:lnTo>
                  <a:lnTo>
                    <a:pt x="519" y="330"/>
                  </a:lnTo>
                  <a:lnTo>
                    <a:pt x="544" y="327"/>
                  </a:lnTo>
                  <a:lnTo>
                    <a:pt x="571" y="324"/>
                  </a:lnTo>
                  <a:lnTo>
                    <a:pt x="601" y="320"/>
                  </a:lnTo>
                  <a:lnTo>
                    <a:pt x="630" y="312"/>
                  </a:lnTo>
                  <a:lnTo>
                    <a:pt x="658" y="302"/>
                  </a:lnTo>
                  <a:lnTo>
                    <a:pt x="686" y="290"/>
                  </a:lnTo>
                  <a:lnTo>
                    <a:pt x="673" y="293"/>
                  </a:lnTo>
                  <a:lnTo>
                    <a:pt x="659" y="295"/>
                  </a:lnTo>
                  <a:lnTo>
                    <a:pt x="643" y="296"/>
                  </a:lnTo>
                  <a:lnTo>
                    <a:pt x="629" y="298"/>
                  </a:lnTo>
                  <a:lnTo>
                    <a:pt x="611" y="299"/>
                  </a:lnTo>
                  <a:lnTo>
                    <a:pt x="595" y="299"/>
                  </a:lnTo>
                  <a:lnTo>
                    <a:pt x="579" y="299"/>
                  </a:lnTo>
                  <a:lnTo>
                    <a:pt x="561" y="299"/>
                  </a:lnTo>
                  <a:lnTo>
                    <a:pt x="545" y="298"/>
                  </a:lnTo>
                  <a:lnTo>
                    <a:pt x="528" y="296"/>
                  </a:lnTo>
                  <a:lnTo>
                    <a:pt x="511" y="295"/>
                  </a:lnTo>
                  <a:lnTo>
                    <a:pt x="497" y="293"/>
                  </a:lnTo>
                  <a:lnTo>
                    <a:pt x="482" y="290"/>
                  </a:lnTo>
                  <a:lnTo>
                    <a:pt x="469" y="287"/>
                  </a:lnTo>
                  <a:lnTo>
                    <a:pt x="456" y="284"/>
                  </a:lnTo>
                  <a:lnTo>
                    <a:pt x="446" y="280"/>
                  </a:lnTo>
                  <a:lnTo>
                    <a:pt x="462" y="281"/>
                  </a:lnTo>
                  <a:lnTo>
                    <a:pt x="478" y="281"/>
                  </a:lnTo>
                  <a:lnTo>
                    <a:pt x="495" y="281"/>
                  </a:lnTo>
                  <a:lnTo>
                    <a:pt x="513" y="279"/>
                  </a:lnTo>
                  <a:lnTo>
                    <a:pt x="532" y="277"/>
                  </a:lnTo>
                  <a:lnTo>
                    <a:pt x="551" y="274"/>
                  </a:lnTo>
                  <a:lnTo>
                    <a:pt x="570" y="270"/>
                  </a:lnTo>
                  <a:lnTo>
                    <a:pt x="588" y="265"/>
                  </a:lnTo>
                  <a:lnTo>
                    <a:pt x="605" y="261"/>
                  </a:lnTo>
                  <a:lnTo>
                    <a:pt x="623" y="255"/>
                  </a:lnTo>
                  <a:lnTo>
                    <a:pt x="637" y="251"/>
                  </a:lnTo>
                  <a:lnTo>
                    <a:pt x="652" y="245"/>
                  </a:lnTo>
                  <a:lnTo>
                    <a:pt x="665" y="239"/>
                  </a:lnTo>
                  <a:lnTo>
                    <a:pt x="677" y="235"/>
                  </a:lnTo>
                  <a:lnTo>
                    <a:pt x="686" y="229"/>
                  </a:lnTo>
                  <a:lnTo>
                    <a:pt x="692" y="224"/>
                  </a:lnTo>
                  <a:lnTo>
                    <a:pt x="683" y="227"/>
                  </a:lnTo>
                  <a:lnTo>
                    <a:pt x="673" y="230"/>
                  </a:lnTo>
                  <a:lnTo>
                    <a:pt x="661" y="233"/>
                  </a:lnTo>
                  <a:lnTo>
                    <a:pt x="646" y="236"/>
                  </a:lnTo>
                  <a:lnTo>
                    <a:pt x="632" y="239"/>
                  </a:lnTo>
                  <a:lnTo>
                    <a:pt x="615" y="240"/>
                  </a:lnTo>
                  <a:lnTo>
                    <a:pt x="598" y="242"/>
                  </a:lnTo>
                  <a:lnTo>
                    <a:pt x="582" y="243"/>
                  </a:lnTo>
                  <a:lnTo>
                    <a:pt x="563" y="245"/>
                  </a:lnTo>
                  <a:lnTo>
                    <a:pt x="545" y="245"/>
                  </a:lnTo>
                  <a:lnTo>
                    <a:pt x="528" y="246"/>
                  </a:lnTo>
                  <a:lnTo>
                    <a:pt x="510" y="246"/>
                  </a:lnTo>
                  <a:lnTo>
                    <a:pt x="492" y="246"/>
                  </a:lnTo>
                  <a:lnTo>
                    <a:pt x="478" y="245"/>
                  </a:lnTo>
                  <a:lnTo>
                    <a:pt x="462" y="243"/>
                  </a:lnTo>
                  <a:lnTo>
                    <a:pt x="448" y="242"/>
                  </a:lnTo>
                  <a:lnTo>
                    <a:pt x="440" y="240"/>
                  </a:lnTo>
                  <a:lnTo>
                    <a:pt x="431" y="239"/>
                  </a:lnTo>
                  <a:lnTo>
                    <a:pt x="424" y="236"/>
                  </a:lnTo>
                  <a:lnTo>
                    <a:pt x="418" y="233"/>
                  </a:lnTo>
                  <a:lnTo>
                    <a:pt x="437" y="235"/>
                  </a:lnTo>
                  <a:lnTo>
                    <a:pt x="457" y="235"/>
                  </a:lnTo>
                  <a:lnTo>
                    <a:pt x="478" y="233"/>
                  </a:lnTo>
                  <a:lnTo>
                    <a:pt x="498" y="232"/>
                  </a:lnTo>
                  <a:lnTo>
                    <a:pt x="519" y="229"/>
                  </a:lnTo>
                  <a:lnTo>
                    <a:pt x="539" y="226"/>
                  </a:lnTo>
                  <a:lnTo>
                    <a:pt x="560" y="223"/>
                  </a:lnTo>
                  <a:lnTo>
                    <a:pt x="580" y="218"/>
                  </a:lnTo>
                  <a:lnTo>
                    <a:pt x="599" y="214"/>
                  </a:lnTo>
                  <a:lnTo>
                    <a:pt x="617" y="210"/>
                  </a:lnTo>
                  <a:lnTo>
                    <a:pt x="634" y="205"/>
                  </a:lnTo>
                  <a:lnTo>
                    <a:pt x="649" y="199"/>
                  </a:lnTo>
                  <a:lnTo>
                    <a:pt x="662" y="195"/>
                  </a:lnTo>
                  <a:lnTo>
                    <a:pt x="674" y="191"/>
                  </a:lnTo>
                  <a:lnTo>
                    <a:pt x="684" y="185"/>
                  </a:lnTo>
                  <a:lnTo>
                    <a:pt x="692" y="180"/>
                  </a:lnTo>
                  <a:lnTo>
                    <a:pt x="680" y="183"/>
                  </a:lnTo>
                  <a:lnTo>
                    <a:pt x="665" y="186"/>
                  </a:lnTo>
                  <a:lnTo>
                    <a:pt x="648" y="189"/>
                  </a:lnTo>
                  <a:lnTo>
                    <a:pt x="629" y="191"/>
                  </a:lnTo>
                  <a:lnTo>
                    <a:pt x="607" y="192"/>
                  </a:lnTo>
                  <a:lnTo>
                    <a:pt x="583" y="193"/>
                  </a:lnTo>
                  <a:lnTo>
                    <a:pt x="558" y="195"/>
                  </a:lnTo>
                  <a:lnTo>
                    <a:pt x="533" y="195"/>
                  </a:lnTo>
                  <a:lnTo>
                    <a:pt x="508" y="195"/>
                  </a:lnTo>
                  <a:lnTo>
                    <a:pt x="485" y="195"/>
                  </a:lnTo>
                  <a:lnTo>
                    <a:pt x="462" y="193"/>
                  </a:lnTo>
                  <a:lnTo>
                    <a:pt x="440" y="192"/>
                  </a:lnTo>
                  <a:lnTo>
                    <a:pt x="421" y="191"/>
                  </a:lnTo>
                  <a:lnTo>
                    <a:pt x="403" y="188"/>
                  </a:lnTo>
                  <a:lnTo>
                    <a:pt x="388" y="185"/>
                  </a:lnTo>
                  <a:lnTo>
                    <a:pt x="378" y="180"/>
                  </a:lnTo>
                  <a:lnTo>
                    <a:pt x="391" y="182"/>
                  </a:lnTo>
                  <a:lnTo>
                    <a:pt x="407" y="182"/>
                  </a:lnTo>
                  <a:lnTo>
                    <a:pt x="428" y="182"/>
                  </a:lnTo>
                  <a:lnTo>
                    <a:pt x="450" y="182"/>
                  </a:lnTo>
                  <a:lnTo>
                    <a:pt x="473" y="180"/>
                  </a:lnTo>
                  <a:lnTo>
                    <a:pt x="498" y="180"/>
                  </a:lnTo>
                  <a:lnTo>
                    <a:pt x="525" y="179"/>
                  </a:lnTo>
                  <a:lnTo>
                    <a:pt x="551" y="176"/>
                  </a:lnTo>
                  <a:lnTo>
                    <a:pt x="576" y="174"/>
                  </a:lnTo>
                  <a:lnTo>
                    <a:pt x="601" y="171"/>
                  </a:lnTo>
                  <a:lnTo>
                    <a:pt x="623" y="167"/>
                  </a:lnTo>
                  <a:lnTo>
                    <a:pt x="645" y="164"/>
                  </a:lnTo>
                  <a:lnTo>
                    <a:pt x="662" y="160"/>
                  </a:lnTo>
                  <a:lnTo>
                    <a:pt x="677" y="155"/>
                  </a:lnTo>
                  <a:lnTo>
                    <a:pt x="687" y="149"/>
                  </a:lnTo>
                  <a:lnTo>
                    <a:pt x="693" y="144"/>
                  </a:lnTo>
                  <a:lnTo>
                    <a:pt x="680" y="147"/>
                  </a:lnTo>
                  <a:lnTo>
                    <a:pt x="659" y="148"/>
                  </a:lnTo>
                  <a:lnTo>
                    <a:pt x="633" y="151"/>
                  </a:lnTo>
                  <a:lnTo>
                    <a:pt x="602" y="152"/>
                  </a:lnTo>
                  <a:lnTo>
                    <a:pt x="567" y="154"/>
                  </a:lnTo>
                  <a:lnTo>
                    <a:pt x="530" y="154"/>
                  </a:lnTo>
                  <a:lnTo>
                    <a:pt x="491" y="154"/>
                  </a:lnTo>
                  <a:lnTo>
                    <a:pt x="450" y="154"/>
                  </a:lnTo>
                  <a:lnTo>
                    <a:pt x="409" y="152"/>
                  </a:lnTo>
                  <a:lnTo>
                    <a:pt x="369" y="151"/>
                  </a:lnTo>
                  <a:lnTo>
                    <a:pt x="333" y="148"/>
                  </a:lnTo>
                  <a:lnTo>
                    <a:pt x="299" y="145"/>
                  </a:lnTo>
                  <a:lnTo>
                    <a:pt x="268" y="141"/>
                  </a:lnTo>
                  <a:lnTo>
                    <a:pt x="243" y="136"/>
                  </a:lnTo>
                  <a:lnTo>
                    <a:pt x="223" y="130"/>
                  </a:lnTo>
                  <a:lnTo>
                    <a:pt x="211" y="123"/>
                  </a:lnTo>
                  <a:lnTo>
                    <a:pt x="261" y="124"/>
                  </a:lnTo>
                  <a:lnTo>
                    <a:pt x="311" y="126"/>
                  </a:lnTo>
                  <a:lnTo>
                    <a:pt x="356" y="126"/>
                  </a:lnTo>
                  <a:lnTo>
                    <a:pt x="402" y="126"/>
                  </a:lnTo>
                  <a:lnTo>
                    <a:pt x="443" y="123"/>
                  </a:lnTo>
                  <a:lnTo>
                    <a:pt x="482" y="122"/>
                  </a:lnTo>
                  <a:lnTo>
                    <a:pt x="519" y="119"/>
                  </a:lnTo>
                  <a:lnTo>
                    <a:pt x="551" y="114"/>
                  </a:lnTo>
                  <a:lnTo>
                    <a:pt x="582" y="110"/>
                  </a:lnTo>
                  <a:lnTo>
                    <a:pt x="608" y="104"/>
                  </a:lnTo>
                  <a:lnTo>
                    <a:pt x="632" y="100"/>
                  </a:lnTo>
                  <a:lnTo>
                    <a:pt x="651" y="94"/>
                  </a:lnTo>
                  <a:lnTo>
                    <a:pt x="665" y="88"/>
                  </a:lnTo>
                  <a:lnTo>
                    <a:pt x="675" y="82"/>
                  </a:lnTo>
                  <a:lnTo>
                    <a:pt x="683" y="75"/>
                  </a:lnTo>
                  <a:lnTo>
                    <a:pt x="684" y="69"/>
                  </a:lnTo>
                  <a:lnTo>
                    <a:pt x="678" y="53"/>
                  </a:lnTo>
                  <a:lnTo>
                    <a:pt x="670" y="39"/>
                  </a:lnTo>
                  <a:lnTo>
                    <a:pt x="659" y="28"/>
                  </a:lnTo>
                  <a:lnTo>
                    <a:pt x="646" y="17"/>
                  </a:lnTo>
                  <a:lnTo>
                    <a:pt x="630" y="10"/>
                  </a:lnTo>
                  <a:lnTo>
                    <a:pt x="613" y="4"/>
                  </a:lnTo>
                  <a:lnTo>
                    <a:pt x="591" y="1"/>
                  </a:lnTo>
                  <a:lnTo>
                    <a:pt x="566" y="0"/>
                  </a:lnTo>
                  <a:lnTo>
                    <a:pt x="554" y="4"/>
                  </a:lnTo>
                  <a:lnTo>
                    <a:pt x="538" y="7"/>
                  </a:lnTo>
                  <a:lnTo>
                    <a:pt x="522" y="12"/>
                  </a:lnTo>
                  <a:lnTo>
                    <a:pt x="503" y="14"/>
                  </a:lnTo>
                  <a:lnTo>
                    <a:pt x="481" y="17"/>
                  </a:lnTo>
                  <a:lnTo>
                    <a:pt x="457" y="20"/>
                  </a:lnTo>
                  <a:lnTo>
                    <a:pt x="432" y="23"/>
                  </a:lnTo>
                  <a:lnTo>
                    <a:pt x="404" y="25"/>
                  </a:lnTo>
                  <a:lnTo>
                    <a:pt x="375" y="26"/>
                  </a:lnTo>
                  <a:lnTo>
                    <a:pt x="343" y="26"/>
                  </a:lnTo>
                  <a:lnTo>
                    <a:pt x="309" y="25"/>
                  </a:lnTo>
                  <a:lnTo>
                    <a:pt x="274" y="23"/>
                  </a:lnTo>
                  <a:lnTo>
                    <a:pt x="237" y="19"/>
                  </a:lnTo>
                  <a:lnTo>
                    <a:pt x="199" y="14"/>
                  </a:lnTo>
                  <a:lnTo>
                    <a:pt x="160" y="9"/>
                  </a:lnTo>
                  <a:lnTo>
                    <a:pt x="117" y="0"/>
                  </a:lnTo>
                  <a:lnTo>
                    <a:pt x="103" y="6"/>
                  </a:lnTo>
                  <a:lnTo>
                    <a:pt x="87" y="12"/>
                  </a:lnTo>
                  <a:lnTo>
                    <a:pt x="70" y="20"/>
                  </a:lnTo>
                  <a:lnTo>
                    <a:pt x="53" y="31"/>
                  </a:lnTo>
                  <a:lnTo>
                    <a:pt x="38" y="42"/>
                  </a:lnTo>
                  <a:lnTo>
                    <a:pt x="24" y="57"/>
                  </a:lnTo>
                  <a:lnTo>
                    <a:pt x="15" y="73"/>
                  </a:lnTo>
                  <a:lnTo>
                    <a:pt x="9" y="92"/>
                  </a:lnTo>
                  <a:lnTo>
                    <a:pt x="7" y="108"/>
                  </a:lnTo>
                  <a:lnTo>
                    <a:pt x="7" y="136"/>
                  </a:lnTo>
                  <a:lnTo>
                    <a:pt x="6" y="177"/>
                  </a:lnTo>
                  <a:lnTo>
                    <a:pt x="5" y="226"/>
                  </a:lnTo>
                  <a:close/>
                </a:path>
              </a:pathLst>
            </a:custGeom>
            <a:solidFill>
              <a:srgbClr val="D8E5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908"/>
            </a:p>
          </p:txBody>
        </p:sp>
        <p:sp>
          <p:nvSpPr>
            <p:cNvPr id="16428" name="Freeform 40"/>
            <p:cNvSpPr>
              <a:spLocks/>
            </p:cNvSpPr>
            <p:nvPr/>
          </p:nvSpPr>
          <p:spPr bwMode="auto">
            <a:xfrm>
              <a:off x="4249" y="2415"/>
              <a:ext cx="72" cy="908"/>
            </a:xfrm>
            <a:custGeom>
              <a:avLst/>
              <a:gdLst>
                <a:gd name="T0" fmla="*/ 72 w 72"/>
                <a:gd name="T1" fmla="*/ 0 h 908"/>
                <a:gd name="T2" fmla="*/ 60 w 72"/>
                <a:gd name="T3" fmla="*/ 1 h 908"/>
                <a:gd name="T4" fmla="*/ 49 w 72"/>
                <a:gd name="T5" fmla="*/ 5 h 908"/>
                <a:gd name="T6" fmla="*/ 38 w 72"/>
                <a:gd name="T7" fmla="*/ 13 h 908"/>
                <a:gd name="T8" fmla="*/ 28 w 72"/>
                <a:gd name="T9" fmla="*/ 22 h 908"/>
                <a:gd name="T10" fmla="*/ 19 w 72"/>
                <a:gd name="T11" fmla="*/ 35 h 908"/>
                <a:gd name="T12" fmla="*/ 13 w 72"/>
                <a:gd name="T13" fmla="*/ 54 h 908"/>
                <a:gd name="T14" fmla="*/ 9 w 72"/>
                <a:gd name="T15" fmla="*/ 76 h 908"/>
                <a:gd name="T16" fmla="*/ 8 w 72"/>
                <a:gd name="T17" fmla="*/ 104 h 908"/>
                <a:gd name="T18" fmla="*/ 6 w 72"/>
                <a:gd name="T19" fmla="*/ 262 h 908"/>
                <a:gd name="T20" fmla="*/ 5 w 72"/>
                <a:gd name="T21" fmla="*/ 529 h 908"/>
                <a:gd name="T22" fmla="*/ 2 w 72"/>
                <a:gd name="T23" fmla="*/ 782 h 908"/>
                <a:gd name="T24" fmla="*/ 0 w 72"/>
                <a:gd name="T25" fmla="*/ 893 h 908"/>
                <a:gd name="T26" fmla="*/ 34 w 72"/>
                <a:gd name="T27" fmla="*/ 908 h 908"/>
                <a:gd name="T28" fmla="*/ 35 w 72"/>
                <a:gd name="T29" fmla="*/ 786 h 908"/>
                <a:gd name="T30" fmla="*/ 38 w 72"/>
                <a:gd name="T31" fmla="*/ 516 h 908"/>
                <a:gd name="T32" fmla="*/ 41 w 72"/>
                <a:gd name="T33" fmla="*/ 240 h 908"/>
                <a:gd name="T34" fmla="*/ 46 w 72"/>
                <a:gd name="T35" fmla="*/ 101 h 908"/>
                <a:gd name="T36" fmla="*/ 47 w 72"/>
                <a:gd name="T37" fmla="*/ 73 h 908"/>
                <a:gd name="T38" fmla="*/ 50 w 72"/>
                <a:gd name="T39" fmla="*/ 45 h 908"/>
                <a:gd name="T40" fmla="*/ 57 w 72"/>
                <a:gd name="T41" fmla="*/ 19 h 908"/>
                <a:gd name="T42" fmla="*/ 72 w 72"/>
                <a:gd name="T43" fmla="*/ 0 h 90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w 72"/>
                <a:gd name="T67" fmla="*/ 0 h 908"/>
                <a:gd name="T68" fmla="*/ 72 w 72"/>
                <a:gd name="T69" fmla="*/ 908 h 908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T66" t="T67" r="T68" b="T69"/>
              <a:pathLst>
                <a:path w="72" h="908">
                  <a:moveTo>
                    <a:pt x="72" y="0"/>
                  </a:moveTo>
                  <a:lnTo>
                    <a:pt x="60" y="1"/>
                  </a:lnTo>
                  <a:lnTo>
                    <a:pt x="49" y="5"/>
                  </a:lnTo>
                  <a:lnTo>
                    <a:pt x="38" y="13"/>
                  </a:lnTo>
                  <a:lnTo>
                    <a:pt x="28" y="22"/>
                  </a:lnTo>
                  <a:lnTo>
                    <a:pt x="19" y="35"/>
                  </a:lnTo>
                  <a:lnTo>
                    <a:pt x="13" y="54"/>
                  </a:lnTo>
                  <a:lnTo>
                    <a:pt x="9" y="76"/>
                  </a:lnTo>
                  <a:lnTo>
                    <a:pt x="8" y="104"/>
                  </a:lnTo>
                  <a:lnTo>
                    <a:pt x="6" y="262"/>
                  </a:lnTo>
                  <a:lnTo>
                    <a:pt x="5" y="529"/>
                  </a:lnTo>
                  <a:lnTo>
                    <a:pt x="2" y="782"/>
                  </a:lnTo>
                  <a:lnTo>
                    <a:pt x="0" y="893"/>
                  </a:lnTo>
                  <a:lnTo>
                    <a:pt x="34" y="908"/>
                  </a:lnTo>
                  <a:lnTo>
                    <a:pt x="35" y="786"/>
                  </a:lnTo>
                  <a:lnTo>
                    <a:pt x="38" y="516"/>
                  </a:lnTo>
                  <a:lnTo>
                    <a:pt x="41" y="240"/>
                  </a:lnTo>
                  <a:lnTo>
                    <a:pt x="46" y="101"/>
                  </a:lnTo>
                  <a:lnTo>
                    <a:pt x="47" y="73"/>
                  </a:lnTo>
                  <a:lnTo>
                    <a:pt x="50" y="45"/>
                  </a:lnTo>
                  <a:lnTo>
                    <a:pt x="57" y="19"/>
                  </a:lnTo>
                  <a:lnTo>
                    <a:pt x="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endParaRPr lang="en-US" sz="908"/>
            </a:p>
          </p:txBody>
        </p:sp>
        <p:sp>
          <p:nvSpPr>
            <p:cNvPr id="16429" name="Text Box 41"/>
            <p:cNvSpPr txBox="1">
              <a:spLocks noChangeArrowheads="1"/>
            </p:cNvSpPr>
            <p:nvPr/>
          </p:nvSpPr>
          <p:spPr bwMode="auto">
            <a:xfrm>
              <a:off x="4260" y="3552"/>
              <a:ext cx="593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>
                  <a:latin typeface="Tahoma" panose="020B0604030504040204" pitchFamily="34" charset="0"/>
                </a:rPr>
                <a:t>10 ml</a:t>
              </a:r>
            </a:p>
          </p:txBody>
        </p:sp>
      </p:grpSp>
      <p:sp>
        <p:nvSpPr>
          <p:cNvPr id="16420" name="Line 42"/>
          <p:cNvSpPr>
            <a:spLocks noChangeShapeType="1"/>
          </p:cNvSpPr>
          <p:nvPr/>
        </p:nvSpPr>
        <p:spPr bwMode="auto">
          <a:xfrm>
            <a:off x="2698029" y="1615122"/>
            <a:ext cx="0" cy="1421448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908"/>
          </a:p>
        </p:txBody>
      </p:sp>
      <p:sp>
        <p:nvSpPr>
          <p:cNvPr id="713771" name="Text Box 43"/>
          <p:cNvSpPr txBox="1">
            <a:spLocks noChangeArrowheads="1"/>
          </p:cNvSpPr>
          <p:nvPr/>
        </p:nvSpPr>
        <p:spPr bwMode="auto">
          <a:xfrm>
            <a:off x="3472335" y="1845628"/>
            <a:ext cx="1123401" cy="11473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1210" dirty="0">
                <a:latin typeface="Tahoma" panose="020B0604030504040204" pitchFamily="34" charset="0"/>
              </a:rPr>
              <a:t>Solution:   P</a:t>
            </a:r>
          </a:p>
          <a:p>
            <a:pPr eaLnBrk="1" hangingPunct="1">
              <a:buFontTx/>
              <a:buChar char="•"/>
            </a:pPr>
            <a:r>
              <a:rPr lang="en-US" sz="1008" dirty="0">
                <a:latin typeface="Tahoma" panose="020B0604030504040204" pitchFamily="34" charset="0"/>
              </a:rPr>
              <a:t> 1 ml of 5  </a:t>
            </a:r>
            <a:r>
              <a:rPr lang="en-US" sz="1008" dirty="0">
                <a:solidFill>
                  <a:srgbClr val="008000"/>
                </a:solidFill>
                <a:latin typeface="Tahoma" panose="020B0604030504040204" pitchFamily="34" charset="0"/>
              </a:rPr>
              <a:t>50$</a:t>
            </a:r>
            <a:r>
              <a:rPr lang="en-US" sz="1008" dirty="0">
                <a:latin typeface="Tahoma" panose="020B0604030504040204" pitchFamily="34" charset="0"/>
              </a:rPr>
              <a:t> </a:t>
            </a:r>
          </a:p>
          <a:p>
            <a:pPr eaLnBrk="1" hangingPunct="1">
              <a:buFontTx/>
              <a:buChar char="•"/>
            </a:pPr>
            <a:r>
              <a:rPr lang="en-US" sz="1008" dirty="0">
                <a:latin typeface="Tahoma" panose="020B0604030504040204" pitchFamily="34" charset="0"/>
              </a:rPr>
              <a:t> 2 ml of 3  </a:t>
            </a:r>
            <a:r>
              <a:rPr lang="en-US" sz="1008" dirty="0">
                <a:solidFill>
                  <a:srgbClr val="008000"/>
                </a:solidFill>
                <a:latin typeface="Tahoma" panose="020B0604030504040204" pitchFamily="34" charset="0"/>
              </a:rPr>
              <a:t>40$</a:t>
            </a:r>
          </a:p>
          <a:p>
            <a:pPr eaLnBrk="1" hangingPunct="1">
              <a:buFontTx/>
              <a:buChar char="•"/>
            </a:pPr>
            <a:r>
              <a:rPr lang="en-US" sz="1008" dirty="0">
                <a:latin typeface="Tahoma" panose="020B0604030504040204" pitchFamily="34" charset="0"/>
              </a:rPr>
              <a:t> 6 ml of 4  </a:t>
            </a:r>
            <a:r>
              <a:rPr lang="en-US" sz="1008" dirty="0">
                <a:solidFill>
                  <a:srgbClr val="008000"/>
                </a:solidFill>
                <a:latin typeface="Tahoma" panose="020B0604030504040204" pitchFamily="34" charset="0"/>
              </a:rPr>
              <a:t>30$</a:t>
            </a:r>
          </a:p>
          <a:p>
            <a:pPr eaLnBrk="1" hangingPunct="1">
              <a:buFontTx/>
              <a:buChar char="•"/>
            </a:pPr>
            <a:r>
              <a:rPr lang="en-US" sz="1008" dirty="0">
                <a:latin typeface="Tahoma" panose="020B0604030504040204" pitchFamily="34" charset="0"/>
              </a:rPr>
              <a:t> 1 ml of 2  </a:t>
            </a:r>
            <a:r>
              <a:rPr lang="en-US" sz="1008" dirty="0">
                <a:solidFill>
                  <a:srgbClr val="008000"/>
                </a:solidFill>
                <a:latin typeface="Tahoma" panose="020B0604030504040204" pitchFamily="34" charset="0"/>
              </a:rPr>
              <a:t> 4$</a:t>
            </a:r>
          </a:p>
          <a:p>
            <a:pPr eaLnBrk="1" hangingPunct="1">
              <a:buFontTx/>
              <a:buChar char="•"/>
            </a:pPr>
            <a:endParaRPr lang="en-US" sz="807" dirty="0">
              <a:latin typeface="Tahoma" panose="020B0604030504040204" pitchFamily="34" charset="0"/>
            </a:endParaRPr>
          </a:p>
          <a:p>
            <a:pPr eaLnBrk="1" hangingPunct="1">
              <a:buFontTx/>
              <a:buChar char="•"/>
            </a:pPr>
            <a:r>
              <a:rPr lang="en-US" sz="807" dirty="0">
                <a:latin typeface="Tahoma" panose="020B0604030504040204" pitchFamily="34" charset="0"/>
              </a:rPr>
              <a:t>Total </a:t>
            </a:r>
            <a:r>
              <a:rPr lang="en-US" sz="807" dirty="0">
                <a:solidFill>
                  <a:srgbClr val="008000"/>
                </a:solidFill>
                <a:latin typeface="Tahoma" panose="020B0604030504040204" pitchFamily="34" charset="0"/>
              </a:rPr>
              <a:t>Profit:124$</a:t>
            </a:r>
          </a:p>
        </p:txBody>
      </p:sp>
      <p:sp>
        <p:nvSpPr>
          <p:cNvPr id="16422" name="Text Box 44"/>
          <p:cNvSpPr txBox="1">
            <a:spLocks noChangeArrowheads="1"/>
          </p:cNvSpPr>
          <p:nvPr/>
        </p:nvSpPr>
        <p:spPr bwMode="auto">
          <a:xfrm>
            <a:off x="3412944" y="1499870"/>
            <a:ext cx="941283" cy="278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/>
            <a:r>
              <a:rPr lang="en-US" sz="1210">
                <a:latin typeface="Tahoma" panose="020B0604030504040204" pitchFamily="34" charset="0"/>
              </a:rPr>
              <a:t>“knapsack”</a:t>
            </a:r>
          </a:p>
        </p:txBody>
      </p:sp>
    </p:spTree>
    <p:extLst>
      <p:ext uri="{BB962C8B-B14F-4D97-AF65-F5344CB8AC3E}">
        <p14:creationId xmlns:p14="http://schemas.microsoft.com/office/powerpoint/2010/main" val="588815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37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3755" grpId="0"/>
      <p:bldP spid="713756" grpId="0"/>
      <p:bldP spid="713757" grpId="0"/>
      <p:bldP spid="713758" grpId="0"/>
      <p:bldP spid="713759" grpId="0"/>
      <p:bldP spid="713760" grpId="0"/>
      <p:bldP spid="713761" grpId="0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559" y="815975"/>
            <a:ext cx="4291119" cy="2133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5250" y="53975"/>
            <a:ext cx="39122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92405">
              <a:lnSpc>
                <a:spcPct val="100000"/>
              </a:lnSpc>
              <a:spcBef>
                <a:spcPts val="645"/>
              </a:spcBef>
            </a:pPr>
            <a:r>
              <a:rPr lang="en-US" spc="10" dirty="0">
                <a:cs typeface="Calibri"/>
              </a:rPr>
              <a:t>Fractional knapsack </a:t>
            </a:r>
            <a:r>
              <a:rPr lang="en-US" spc="-25" dirty="0">
                <a:cs typeface="Calibri"/>
              </a:rPr>
              <a:t>greedy</a:t>
            </a:r>
            <a:r>
              <a:rPr lang="en-US" spc="135" dirty="0">
                <a:cs typeface="Calibri"/>
              </a:rPr>
              <a:t> </a:t>
            </a:r>
            <a:r>
              <a:rPr lang="en-US" spc="-10" dirty="0">
                <a:cs typeface="Calibri"/>
              </a:rPr>
              <a:t>algorithm</a:t>
            </a: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8324219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The Fractional Knapsack Algorithm</a:t>
            </a:r>
          </a:p>
        </p:txBody>
      </p:sp>
      <p:sp>
        <p:nvSpPr>
          <p:cNvPr id="6" name="Rectangle 3"/>
          <p:cNvSpPr txBox="1">
            <a:spLocks noChangeArrowheads="1"/>
          </p:cNvSpPr>
          <p:nvPr/>
        </p:nvSpPr>
        <p:spPr>
          <a:xfrm>
            <a:off x="171450" y="587375"/>
            <a:ext cx="4267200" cy="2743200"/>
          </a:xfrm>
          <a:prstGeom prst="rect">
            <a:avLst/>
          </a:prstGeom>
        </p:spPr>
        <p:txBody>
          <a:bodyPr wrap="square" lIns="0" tIns="0" rIns="0" bIns="0">
            <a:norm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80000"/>
              </a:lnSpc>
              <a:spcBef>
                <a:spcPts val="600"/>
              </a:spcBef>
            </a:pPr>
            <a:r>
              <a:rPr lang="en-US" sz="1600" b="1" kern="0" dirty="0"/>
              <a:t>Running time: </a:t>
            </a:r>
          </a:p>
          <a:p>
            <a:pPr algn="just">
              <a:lnSpc>
                <a:spcPct val="80000"/>
              </a:lnSpc>
              <a:spcBef>
                <a:spcPts val="600"/>
              </a:spcBef>
            </a:pPr>
            <a:r>
              <a:rPr lang="en-US" sz="1600" kern="0" dirty="0"/>
              <a:t>Given a collection S of n items, such that each item </a:t>
            </a:r>
            <a:r>
              <a:rPr lang="en-US" sz="1600" kern="0" dirty="0" err="1"/>
              <a:t>i</a:t>
            </a:r>
            <a:r>
              <a:rPr lang="en-US" sz="1600" kern="0" dirty="0"/>
              <a:t> has a benefit b</a:t>
            </a:r>
            <a:r>
              <a:rPr lang="en-US" sz="1600" kern="0" baseline="-25000" dirty="0"/>
              <a:t>i</a:t>
            </a:r>
            <a:r>
              <a:rPr lang="en-US" sz="1600" kern="0" dirty="0"/>
              <a:t> and weight </a:t>
            </a:r>
            <a:r>
              <a:rPr lang="en-US" sz="1600" kern="0" dirty="0" err="1"/>
              <a:t>w</a:t>
            </a:r>
            <a:r>
              <a:rPr lang="en-US" sz="1600" kern="0" baseline="-25000" dirty="0" err="1"/>
              <a:t>i</a:t>
            </a:r>
            <a:r>
              <a:rPr lang="en-US" sz="1600" kern="0" dirty="0"/>
              <a:t>, we can construct a maximum-benefit subset of S, allowing for fractional amounts, that has a total weight W in </a:t>
            </a:r>
            <a:r>
              <a:rPr lang="en-US" sz="1600" kern="0" dirty="0">
                <a:solidFill>
                  <a:srgbClr val="CC0000"/>
                </a:solidFill>
              </a:rPr>
              <a:t>O(</a:t>
            </a:r>
            <a:r>
              <a:rPr lang="en-US" sz="1600" kern="0" dirty="0" err="1">
                <a:solidFill>
                  <a:srgbClr val="CC0000"/>
                </a:solidFill>
              </a:rPr>
              <a:t>nlogn</a:t>
            </a:r>
            <a:r>
              <a:rPr lang="en-US" sz="1600" kern="0" dirty="0">
                <a:solidFill>
                  <a:srgbClr val="CC0000"/>
                </a:solidFill>
              </a:rPr>
              <a:t>)</a:t>
            </a:r>
            <a:r>
              <a:rPr lang="en-US" sz="1600" kern="0" dirty="0"/>
              <a:t> time. (how?)</a:t>
            </a:r>
          </a:p>
          <a:p>
            <a:pPr lvl="1" algn="just">
              <a:lnSpc>
                <a:spcPct val="80000"/>
              </a:lnSpc>
              <a:spcBef>
                <a:spcPts val="600"/>
              </a:spcBef>
            </a:pPr>
            <a:r>
              <a:rPr lang="en-US" sz="1600" kern="0" dirty="0">
                <a:solidFill>
                  <a:sysClr val="windowText" lastClr="000000"/>
                </a:solidFill>
              </a:rPr>
              <a:t>Use heap-based priority queue to store S</a:t>
            </a:r>
          </a:p>
          <a:p>
            <a:pPr lvl="1" algn="just">
              <a:lnSpc>
                <a:spcPct val="80000"/>
              </a:lnSpc>
              <a:spcBef>
                <a:spcPts val="600"/>
              </a:spcBef>
            </a:pPr>
            <a:r>
              <a:rPr lang="en-US" sz="1600" kern="0" dirty="0">
                <a:solidFill>
                  <a:sysClr val="windowText" lastClr="000000"/>
                </a:solidFill>
              </a:rPr>
              <a:t>Removing the item with the highest value takes O(</a:t>
            </a:r>
            <a:r>
              <a:rPr lang="en-US" sz="1600" kern="0" dirty="0" err="1">
                <a:solidFill>
                  <a:sysClr val="windowText" lastClr="000000"/>
                </a:solidFill>
              </a:rPr>
              <a:t>logn</a:t>
            </a:r>
            <a:r>
              <a:rPr lang="en-US" sz="1600" kern="0" dirty="0">
                <a:solidFill>
                  <a:sysClr val="windowText" lastClr="000000"/>
                </a:solidFill>
              </a:rPr>
              <a:t>) time</a:t>
            </a:r>
          </a:p>
          <a:p>
            <a:pPr lvl="1" algn="just">
              <a:lnSpc>
                <a:spcPct val="80000"/>
              </a:lnSpc>
              <a:spcBef>
                <a:spcPts val="600"/>
              </a:spcBef>
            </a:pPr>
            <a:r>
              <a:rPr lang="en-US" sz="1600" kern="0" dirty="0">
                <a:solidFill>
                  <a:sysClr val="windowText" lastClr="000000"/>
                </a:solidFill>
              </a:rPr>
              <a:t>In the worst case, need to remove all items</a:t>
            </a:r>
          </a:p>
        </p:txBody>
      </p:sp>
    </p:spTree>
    <p:extLst>
      <p:ext uri="{BB962C8B-B14F-4D97-AF65-F5344CB8AC3E}">
        <p14:creationId xmlns:p14="http://schemas.microsoft.com/office/powerpoint/2010/main" val="2654116525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pc="10" dirty="0"/>
              <a:t>Extension: </a:t>
            </a:r>
            <a:r>
              <a:rPr spc="45" dirty="0"/>
              <a:t>0/1 </a:t>
            </a:r>
            <a:r>
              <a:rPr spc="10" dirty="0"/>
              <a:t>knapsack</a:t>
            </a:r>
            <a:r>
              <a:rPr spc="215" dirty="0"/>
              <a:t> </a:t>
            </a:r>
            <a:r>
              <a:rPr spc="-35" dirty="0"/>
              <a:t>problem</a:t>
            </a:r>
          </a:p>
        </p:txBody>
      </p:sp>
      <p:sp>
        <p:nvSpPr>
          <p:cNvPr id="5" name="object 5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8" name="object 2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75"/>
              </a:spcBef>
            </a:pPr>
            <a:r>
              <a:rPr spc="-5" dirty="0"/>
              <a:t>32</a:t>
            </a:r>
            <a:r>
              <a:rPr spc="-95" dirty="0"/>
              <a:t> </a:t>
            </a:r>
            <a:r>
              <a:rPr spc="160" dirty="0"/>
              <a:t>/</a:t>
            </a:r>
            <a:r>
              <a:rPr spc="-90" dirty="0"/>
              <a:t> </a:t>
            </a:r>
            <a:r>
              <a:rPr spc="-5" dirty="0"/>
              <a:t>38</a:t>
            </a:r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903" y="434521"/>
            <a:ext cx="4309030" cy="2941984"/>
          </a:xfrm>
          <a:prstGeom prst="rect">
            <a:avLst/>
          </a:prstGeom>
        </p:spPr>
      </p:pic>
      <p:sp>
        <p:nvSpPr>
          <p:cNvPr id="29" name="Rectangle 28"/>
          <p:cNvSpPr/>
          <p:nvPr/>
        </p:nvSpPr>
        <p:spPr>
          <a:xfrm>
            <a:off x="66832" y="815975"/>
            <a:ext cx="4041604" cy="17956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16615" y="2568574"/>
            <a:ext cx="4196419" cy="215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/>
          <p:cNvSpPr/>
          <p:nvPr/>
        </p:nvSpPr>
        <p:spPr>
          <a:xfrm>
            <a:off x="206620" y="2791315"/>
            <a:ext cx="4196419" cy="27208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233582" y="3150556"/>
            <a:ext cx="4196419" cy="21518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4736532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0" grpId="0" animBg="1"/>
      <p:bldP spid="31" grpId="0" animBg="1"/>
      <p:bldP spid="32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Huffman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247650" y="663575"/>
            <a:ext cx="4191000" cy="208755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200000"/>
              </a:lnSpc>
            </a:pPr>
            <a:r>
              <a:rPr lang="en-US" sz="1400" kern="0" dirty="0"/>
              <a:t>Widely used technique for data compression</a:t>
            </a:r>
          </a:p>
          <a:p>
            <a:pPr>
              <a:lnSpc>
                <a:spcPct val="200000"/>
              </a:lnSpc>
            </a:pPr>
            <a:r>
              <a:rPr lang="en-US" sz="1400" kern="0" dirty="0"/>
              <a:t>Assume the data to be a sequence of characters</a:t>
            </a:r>
          </a:p>
          <a:p>
            <a:pPr>
              <a:lnSpc>
                <a:spcPct val="200000"/>
              </a:lnSpc>
            </a:pPr>
            <a:r>
              <a:rPr lang="en-US" sz="1400" kern="0" dirty="0"/>
              <a:t>Looking for an effective way of storing the data</a:t>
            </a:r>
          </a:p>
          <a:p>
            <a:pPr>
              <a:lnSpc>
                <a:spcPct val="200000"/>
              </a:lnSpc>
            </a:pPr>
            <a:r>
              <a:rPr lang="en-US" sz="1400" b="1" i="1" kern="0" dirty="0"/>
              <a:t>Binary character code</a:t>
            </a:r>
          </a:p>
          <a:p>
            <a:pPr>
              <a:lnSpc>
                <a:spcPct val="200000"/>
              </a:lnSpc>
            </a:pPr>
            <a:r>
              <a:rPr lang="en-US" sz="1400" kern="0" dirty="0">
                <a:solidFill>
                  <a:sysClr val="windowText" lastClr="000000"/>
                </a:solidFill>
              </a:rPr>
              <a:t>Uniquely represents a character by a binary string</a:t>
            </a:r>
          </a:p>
        </p:txBody>
      </p:sp>
    </p:spTree>
    <p:extLst>
      <p:ext uri="{BB962C8B-B14F-4D97-AF65-F5344CB8AC3E}">
        <p14:creationId xmlns:p14="http://schemas.microsoft.com/office/powerpoint/2010/main" val="3589975754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Fixed-Length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5575" y="739775"/>
            <a:ext cx="4359275" cy="18985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400" kern="0" dirty="0">
                <a:solidFill>
                  <a:srgbClr val="DD0111"/>
                </a:solidFill>
                <a:latin typeface="Monotype Corsiva" panose="03010101010201010101" pitchFamily="66" charset="0"/>
              </a:rPr>
              <a:t>E.g.: </a:t>
            </a:r>
            <a:r>
              <a:rPr lang="en-US" sz="1400" kern="0" dirty="0"/>
              <a:t>Data file containing 100,000 characters</a:t>
            </a:r>
          </a:p>
          <a:p>
            <a:pPr>
              <a:lnSpc>
                <a:spcPct val="150000"/>
              </a:lnSpc>
            </a:pPr>
            <a:endParaRPr lang="en-US" sz="1400" kern="0" dirty="0"/>
          </a:p>
          <a:p>
            <a:pPr>
              <a:lnSpc>
                <a:spcPct val="150000"/>
              </a:lnSpc>
            </a:pPr>
            <a:endParaRPr lang="en-US" sz="1400" kern="0" dirty="0"/>
          </a:p>
          <a:p>
            <a:pPr>
              <a:lnSpc>
                <a:spcPct val="150000"/>
              </a:lnSpc>
            </a:pPr>
            <a:r>
              <a:rPr lang="en-US" sz="1400" kern="0" dirty="0"/>
              <a:t>3 bits needed</a:t>
            </a:r>
          </a:p>
          <a:p>
            <a:pPr>
              <a:lnSpc>
                <a:spcPct val="150000"/>
              </a:lnSpc>
            </a:pPr>
            <a:r>
              <a:rPr lang="en-US" sz="1400" kern="0" dirty="0"/>
              <a:t>a = 000, b = 001, c = 010, d = 011, e = 100, f = 101</a:t>
            </a:r>
          </a:p>
          <a:p>
            <a:pPr>
              <a:lnSpc>
                <a:spcPct val="150000"/>
              </a:lnSpc>
            </a:pPr>
            <a:r>
              <a:rPr lang="en-US" sz="1400" kern="0" dirty="0"/>
              <a:t>Requires: 100,000 </a:t>
            </a:r>
            <a:r>
              <a:rPr lang="en-US" sz="1400" kern="0" dirty="0">
                <a:sym typeface="Symbol" panose="05050102010706020507" pitchFamily="18" charset="2"/>
              </a:rPr>
              <a:t></a:t>
            </a:r>
            <a:r>
              <a:rPr lang="en-US" sz="1400" kern="0" dirty="0"/>
              <a:t> 3 = 300,000 bits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850" y="1140606"/>
            <a:ext cx="3862164" cy="530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608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Huffman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5575" y="939800"/>
            <a:ext cx="4283075" cy="140807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b="1" kern="0" dirty="0"/>
              <a:t>Idea:</a:t>
            </a:r>
          </a:p>
          <a:p>
            <a:pPr>
              <a:lnSpc>
                <a:spcPct val="150000"/>
              </a:lnSpc>
            </a:pPr>
            <a:endParaRPr lang="en-US" sz="300" b="1" kern="0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r>
              <a:rPr lang="en-US" sz="1200" kern="0" dirty="0">
                <a:solidFill>
                  <a:sysClr val="windowText" lastClr="000000"/>
                </a:solidFill>
              </a:rPr>
              <a:t>Use the frequencies of occurrence of characters to build a optimal way of representing each character</a:t>
            </a:r>
            <a:endParaRPr lang="en-US" kern="0" dirty="0">
              <a:solidFill>
                <a:sysClr val="windowText" lastClr="000000"/>
              </a:solidFill>
            </a:endParaRPr>
          </a:p>
          <a:p>
            <a:pPr>
              <a:lnSpc>
                <a:spcPct val="150000"/>
              </a:lnSpc>
            </a:pPr>
            <a:endParaRPr lang="en-US" kern="0" dirty="0"/>
          </a:p>
          <a:p>
            <a:pPr>
              <a:lnSpc>
                <a:spcPct val="150000"/>
              </a:lnSpc>
            </a:pPr>
            <a:endParaRPr lang="en-US" kern="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575" y="2187575"/>
            <a:ext cx="4011516" cy="551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009492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Variable-Length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5575" y="739775"/>
            <a:ext cx="4130675" cy="24006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0" dirty="0">
                <a:solidFill>
                  <a:srgbClr val="DD0111"/>
                </a:solidFill>
                <a:latin typeface="Monotype Corsiva" panose="03010101010201010101" pitchFamily="66" charset="0"/>
              </a:rPr>
              <a:t>E.g.: </a:t>
            </a:r>
            <a:r>
              <a:rPr lang="en-US" sz="1200" kern="0" dirty="0"/>
              <a:t>Data file containing 100,000 characters</a:t>
            </a:r>
          </a:p>
          <a:p>
            <a:endParaRPr lang="en-US" sz="1200" kern="0" dirty="0"/>
          </a:p>
          <a:p>
            <a:endParaRPr lang="en-US" sz="1200" kern="0" dirty="0"/>
          </a:p>
          <a:p>
            <a:endParaRPr lang="en-US" sz="1200" kern="0" dirty="0"/>
          </a:p>
          <a:p>
            <a:endParaRPr lang="en-US" sz="1200" kern="0" dirty="0"/>
          </a:p>
          <a:p>
            <a:endParaRPr lang="en-US" sz="1200" kern="0" dirty="0"/>
          </a:p>
          <a:p>
            <a:pPr algn="just"/>
            <a:r>
              <a:rPr lang="en-US" sz="1200" kern="0" dirty="0"/>
              <a:t>Assign short </a:t>
            </a:r>
            <a:r>
              <a:rPr lang="en-US" sz="1200" kern="0" dirty="0" err="1"/>
              <a:t>codewords</a:t>
            </a:r>
            <a:r>
              <a:rPr lang="en-US" sz="1200" kern="0" dirty="0"/>
              <a:t> to frequent characters and long </a:t>
            </a:r>
            <a:r>
              <a:rPr lang="en-US" sz="1200" kern="0" dirty="0" err="1"/>
              <a:t>codewords</a:t>
            </a:r>
            <a:r>
              <a:rPr lang="en-US" sz="1200" kern="0" dirty="0"/>
              <a:t> to infrequent characters</a:t>
            </a:r>
          </a:p>
          <a:p>
            <a:pPr algn="just"/>
            <a:endParaRPr lang="en-US" sz="1200" kern="0" dirty="0"/>
          </a:p>
          <a:p>
            <a:pPr algn="just"/>
            <a:r>
              <a:rPr lang="en-US" sz="1200" kern="0" dirty="0"/>
              <a:t>a = 0, b = 101, c = 100, d = 111, e = 1101, f = 1100</a:t>
            </a:r>
          </a:p>
          <a:p>
            <a:pPr algn="just"/>
            <a:r>
              <a:rPr lang="en-US" sz="1200" kern="0" dirty="0"/>
              <a:t>(45 </a:t>
            </a:r>
            <a:r>
              <a:rPr lang="en-US" sz="1200" kern="0" dirty="0">
                <a:sym typeface="Symbol" panose="05050102010706020507" pitchFamily="18" charset="2"/>
              </a:rPr>
              <a:t> 1 + 13  3 + 12  3 + 16  3 + 9  4 + 5  4) 1,000</a:t>
            </a:r>
          </a:p>
          <a:p>
            <a:pPr algn="just"/>
            <a:endParaRPr lang="en-US" sz="700" kern="0" dirty="0">
              <a:sym typeface="Symbol" panose="05050102010706020507" pitchFamily="18" charset="2"/>
            </a:endParaRPr>
          </a:p>
          <a:p>
            <a:pPr algn="just"/>
            <a:r>
              <a:rPr lang="en-US" sz="1200" kern="0" dirty="0">
                <a:sym typeface="Symbol" panose="05050102010706020507" pitchFamily="18" charset="2"/>
              </a:rPr>
              <a:t>    =   224,000 bits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650" y="1120775"/>
            <a:ext cx="3404964" cy="46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342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b="1" dirty="0">
                <a:solidFill>
                  <a:schemeClr val="tx1"/>
                </a:solidFill>
              </a:rPr>
              <a:t>Prefix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5250" y="587375"/>
            <a:ext cx="4419600" cy="258532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1600" kern="0" dirty="0"/>
              <a:t>Prefix codes:</a:t>
            </a:r>
          </a:p>
          <a:p>
            <a:pPr lvl="1">
              <a:lnSpc>
                <a:spcPct val="150000"/>
              </a:lnSpc>
            </a:pPr>
            <a:r>
              <a:rPr lang="en-US" sz="1600" kern="0" dirty="0">
                <a:solidFill>
                  <a:sysClr val="windowText" lastClr="000000"/>
                </a:solidFill>
              </a:rPr>
              <a:t>Codes for which no </a:t>
            </a:r>
            <a:r>
              <a:rPr lang="en-US" sz="1600" kern="0" dirty="0" err="1">
                <a:solidFill>
                  <a:sysClr val="windowText" lastClr="000000"/>
                </a:solidFill>
              </a:rPr>
              <a:t>codeword</a:t>
            </a:r>
            <a:r>
              <a:rPr lang="en-US" sz="1600" kern="0" dirty="0">
                <a:solidFill>
                  <a:sysClr val="windowText" lastClr="000000"/>
                </a:solidFill>
              </a:rPr>
              <a:t> is also a prefix of some other </a:t>
            </a:r>
            <a:r>
              <a:rPr lang="en-US" sz="1600" kern="0" dirty="0" err="1">
                <a:solidFill>
                  <a:sysClr val="windowText" lastClr="000000"/>
                </a:solidFill>
              </a:rPr>
              <a:t>codeword</a:t>
            </a:r>
            <a:endParaRPr lang="en-US" sz="1600" kern="0" dirty="0">
              <a:solidFill>
                <a:sysClr val="windowText" lastClr="000000"/>
              </a:solidFill>
            </a:endParaRPr>
          </a:p>
          <a:p>
            <a:pPr lvl="1">
              <a:lnSpc>
                <a:spcPct val="150000"/>
              </a:lnSpc>
            </a:pPr>
            <a:r>
              <a:rPr lang="en-US" sz="1600" kern="0" dirty="0">
                <a:solidFill>
                  <a:sysClr val="windowText" lastClr="000000"/>
                </a:solidFill>
              </a:rPr>
              <a:t>Better name would be “prefix-free codes”</a:t>
            </a:r>
          </a:p>
          <a:p>
            <a:pPr>
              <a:lnSpc>
                <a:spcPct val="150000"/>
              </a:lnSpc>
            </a:pPr>
            <a:r>
              <a:rPr lang="en-US" sz="1600" kern="0" dirty="0"/>
              <a:t>We can achieve optimal data compression using prefix codes</a:t>
            </a:r>
          </a:p>
          <a:p>
            <a:pPr lvl="1">
              <a:lnSpc>
                <a:spcPct val="150000"/>
              </a:lnSpc>
            </a:pPr>
            <a:r>
              <a:rPr lang="en-US" sz="1600" kern="0" dirty="0">
                <a:solidFill>
                  <a:sysClr val="windowText" lastClr="000000"/>
                </a:solidFill>
              </a:rPr>
              <a:t>We will restrict our attention to prefix codes</a:t>
            </a:r>
          </a:p>
        </p:txBody>
      </p:sp>
    </p:spTree>
    <p:extLst>
      <p:ext uri="{BB962C8B-B14F-4D97-AF65-F5344CB8AC3E}">
        <p14:creationId xmlns:p14="http://schemas.microsoft.com/office/powerpoint/2010/main" val="1594265993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Encoding with Binary Character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55575" y="663575"/>
            <a:ext cx="4206875" cy="193899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n-US" sz="1400" b="1" kern="0" dirty="0"/>
              <a:t>Encoding</a:t>
            </a:r>
          </a:p>
          <a:p>
            <a:pPr lvl="1" algn="just">
              <a:lnSpc>
                <a:spcPct val="150000"/>
              </a:lnSpc>
            </a:pPr>
            <a:r>
              <a:rPr lang="en-US" sz="1400" kern="0" dirty="0">
                <a:solidFill>
                  <a:sysClr val="windowText" lastClr="000000"/>
                </a:solidFill>
              </a:rPr>
              <a:t>Concatenate the </a:t>
            </a:r>
            <a:r>
              <a:rPr lang="en-US" sz="1400" kern="0" dirty="0" err="1">
                <a:solidFill>
                  <a:sysClr val="windowText" lastClr="000000"/>
                </a:solidFill>
              </a:rPr>
              <a:t>codewords</a:t>
            </a:r>
            <a:r>
              <a:rPr lang="en-US" sz="1400" kern="0" dirty="0">
                <a:solidFill>
                  <a:sysClr val="windowText" lastClr="000000"/>
                </a:solidFill>
              </a:rPr>
              <a:t> representing each character in the file</a:t>
            </a:r>
          </a:p>
          <a:p>
            <a:pPr algn="just">
              <a:lnSpc>
                <a:spcPct val="150000"/>
              </a:lnSpc>
            </a:pPr>
            <a:r>
              <a:rPr lang="en-US" sz="1400" kern="0" dirty="0">
                <a:solidFill>
                  <a:srgbClr val="DD0111"/>
                </a:solidFill>
                <a:latin typeface="Monotype Corsiva" panose="03010101010201010101" pitchFamily="66" charset="0"/>
              </a:rPr>
              <a:t>E.g.</a:t>
            </a:r>
            <a:r>
              <a:rPr lang="en-US" sz="1400" kern="0" dirty="0">
                <a:solidFill>
                  <a:srgbClr val="DD0111"/>
                </a:solidFill>
              </a:rPr>
              <a:t>:</a:t>
            </a:r>
          </a:p>
          <a:p>
            <a:pPr lvl="1" algn="just">
              <a:lnSpc>
                <a:spcPct val="150000"/>
              </a:lnSpc>
            </a:pPr>
            <a:r>
              <a:rPr lang="en-US" sz="1400" kern="0" dirty="0">
                <a:solidFill>
                  <a:sysClr val="windowText" lastClr="000000"/>
                </a:solidFill>
              </a:rPr>
              <a:t>a = 0, b = 101, c = 100, d = 111, e = 1101, f = 1100</a:t>
            </a:r>
          </a:p>
          <a:p>
            <a:pPr lvl="1" algn="just">
              <a:lnSpc>
                <a:spcPct val="150000"/>
              </a:lnSpc>
            </a:pPr>
            <a:r>
              <a:rPr lang="en-US" sz="1400" kern="0" dirty="0" err="1">
                <a:solidFill>
                  <a:sysClr val="windowText" lastClr="000000"/>
                </a:solidFill>
              </a:rPr>
              <a:t>abc</a:t>
            </a:r>
            <a:r>
              <a:rPr lang="en-US" sz="1400" kern="0" dirty="0">
                <a:solidFill>
                  <a:sysClr val="windowText" lastClr="000000"/>
                </a:solidFill>
              </a:rPr>
              <a:t> = 0 </a:t>
            </a:r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 101  100 = 0101100</a:t>
            </a:r>
          </a:p>
        </p:txBody>
      </p:sp>
    </p:spTree>
    <p:extLst>
      <p:ext uri="{BB962C8B-B14F-4D97-AF65-F5344CB8AC3E}">
        <p14:creationId xmlns:p14="http://schemas.microsoft.com/office/powerpoint/2010/main" val="18548067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Decoding with Binary Character Codes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171450" y="587375"/>
            <a:ext cx="4343400" cy="226215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r>
              <a:rPr lang="en-US" sz="1400" kern="0" dirty="0"/>
              <a:t>Prefix codes simplify decoding</a:t>
            </a:r>
          </a:p>
          <a:p>
            <a:pPr lvl="1"/>
            <a:r>
              <a:rPr lang="en-US" sz="1400" kern="0" dirty="0">
                <a:solidFill>
                  <a:sysClr val="windowText" lastClr="000000"/>
                </a:solidFill>
              </a:rPr>
              <a:t>No </a:t>
            </a:r>
            <a:r>
              <a:rPr lang="en-US" sz="1400" kern="0" dirty="0" err="1">
                <a:solidFill>
                  <a:sysClr val="windowText" lastClr="000000"/>
                </a:solidFill>
              </a:rPr>
              <a:t>codeword</a:t>
            </a:r>
            <a:r>
              <a:rPr lang="en-US" sz="1400" kern="0" dirty="0">
                <a:solidFill>
                  <a:sysClr val="windowText" lastClr="000000"/>
                </a:solidFill>
              </a:rPr>
              <a:t> is a prefix of another </a:t>
            </a:r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 the </a:t>
            </a:r>
            <a:r>
              <a:rPr lang="en-US" sz="1400" kern="0" dirty="0" err="1">
                <a:solidFill>
                  <a:sysClr val="windowText" lastClr="000000"/>
                </a:solidFill>
                <a:sym typeface="Symbol" panose="05050102010706020507" pitchFamily="18" charset="2"/>
              </a:rPr>
              <a:t>codeword</a:t>
            </a:r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 that begins an encoded file is unambiguous</a:t>
            </a:r>
          </a:p>
          <a:p>
            <a:r>
              <a:rPr lang="en-US" sz="1400" kern="0" dirty="0">
                <a:sym typeface="Symbol" panose="05050102010706020507" pitchFamily="18" charset="2"/>
              </a:rPr>
              <a:t>Approach</a:t>
            </a:r>
          </a:p>
          <a:p>
            <a:pPr lvl="1"/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Identify the initial </a:t>
            </a:r>
            <a:r>
              <a:rPr lang="en-US" sz="1400" kern="0" dirty="0" err="1">
                <a:solidFill>
                  <a:sysClr val="windowText" lastClr="000000"/>
                </a:solidFill>
                <a:sym typeface="Symbol" panose="05050102010706020507" pitchFamily="18" charset="2"/>
              </a:rPr>
              <a:t>codeword</a:t>
            </a:r>
            <a:endParaRPr lang="en-US" sz="1400" kern="0" dirty="0">
              <a:solidFill>
                <a:sysClr val="windowText" lastClr="000000"/>
              </a:solidFill>
              <a:sym typeface="Symbol" panose="05050102010706020507" pitchFamily="18" charset="2"/>
            </a:endParaRPr>
          </a:p>
          <a:p>
            <a:pPr lvl="1"/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Translate it back to the original character</a:t>
            </a:r>
          </a:p>
          <a:p>
            <a:pPr lvl="1"/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Repeat the process on the remainder of the file</a:t>
            </a:r>
          </a:p>
          <a:p>
            <a:r>
              <a:rPr lang="en-US" sz="1400" kern="0" dirty="0">
                <a:solidFill>
                  <a:srgbClr val="DD0111"/>
                </a:solidFill>
                <a:latin typeface="Monotype Corsiva" panose="03010101010201010101" pitchFamily="66" charset="0"/>
                <a:sym typeface="Symbol" panose="05050102010706020507" pitchFamily="18" charset="2"/>
              </a:rPr>
              <a:t>E.g.</a:t>
            </a:r>
            <a:r>
              <a:rPr lang="en-US" sz="1400" kern="0" dirty="0">
                <a:solidFill>
                  <a:srgbClr val="DD0111"/>
                </a:solidFill>
                <a:sym typeface="Symbol" panose="05050102010706020507" pitchFamily="18" charset="2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1400" kern="0" dirty="0">
                <a:solidFill>
                  <a:sysClr val="windowText" lastClr="000000"/>
                </a:solidFill>
              </a:rPr>
              <a:t>a = 0, b = 101, c = 100, d = 111, e = 1101, f = 1100</a:t>
            </a:r>
          </a:p>
          <a:p>
            <a:pPr lvl="1"/>
            <a:r>
              <a:rPr lang="en-US" sz="1400" kern="0" dirty="0">
                <a:solidFill>
                  <a:sysClr val="windowText" lastClr="000000"/>
                </a:solidFill>
                <a:sym typeface="Symbol" panose="05050102010706020507" pitchFamily="18" charset="2"/>
              </a:rPr>
              <a:t>001011101 = </a:t>
            </a:r>
          </a:p>
        </p:txBody>
      </p:sp>
      <p:sp>
        <p:nvSpPr>
          <p:cNvPr id="5" name="Text Box 4"/>
          <p:cNvSpPr txBox="1">
            <a:spLocks noChangeArrowheads="1"/>
          </p:cNvSpPr>
          <p:nvPr/>
        </p:nvSpPr>
        <p:spPr bwMode="auto">
          <a:xfrm>
            <a:off x="949276" y="2874274"/>
            <a:ext cx="3273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dirty="0"/>
              <a:t>0</a:t>
            </a:r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1177876" y="2869511"/>
            <a:ext cx="46198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ym typeface="Symbol" panose="05050102010706020507" pitchFamily="18" charset="2"/>
              </a:rPr>
              <a:t> </a:t>
            </a:r>
            <a:r>
              <a:rPr lang="en-US" sz="2000"/>
              <a:t>0</a:t>
            </a:r>
          </a:p>
        </p:txBody>
      </p:sp>
      <p:sp>
        <p:nvSpPr>
          <p:cNvPr id="7" name="Text Box 6"/>
          <p:cNvSpPr txBox="1">
            <a:spLocks noChangeArrowheads="1"/>
          </p:cNvSpPr>
          <p:nvPr/>
        </p:nvSpPr>
        <p:spPr bwMode="auto">
          <a:xfrm>
            <a:off x="1569034" y="2874274"/>
            <a:ext cx="74732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</a:t>
            </a:r>
            <a:r>
              <a:rPr lang="en-US" sz="2000" i="1" dirty="0"/>
              <a:t> </a:t>
            </a:r>
            <a:r>
              <a:rPr lang="en-US" sz="2000" dirty="0"/>
              <a:t>101</a:t>
            </a:r>
          </a:p>
        </p:txBody>
      </p:sp>
      <p:sp>
        <p:nvSpPr>
          <p:cNvPr id="8" name="Text Box 7"/>
          <p:cNvSpPr txBox="1">
            <a:spLocks noChangeArrowheads="1"/>
          </p:cNvSpPr>
          <p:nvPr/>
        </p:nvSpPr>
        <p:spPr bwMode="auto">
          <a:xfrm>
            <a:off x="2264359" y="2874274"/>
            <a:ext cx="87094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>
                <a:sym typeface="Symbol" panose="05050102010706020507" pitchFamily="18" charset="2"/>
              </a:rPr>
              <a:t></a:t>
            </a:r>
            <a:r>
              <a:rPr lang="en-US" sz="2000" i="1"/>
              <a:t> </a:t>
            </a:r>
            <a:r>
              <a:rPr lang="en-US" sz="2000"/>
              <a:t>1101</a:t>
            </a:r>
          </a:p>
        </p:txBody>
      </p:sp>
      <p:sp>
        <p:nvSpPr>
          <p:cNvPr id="9" name="Text Box 8"/>
          <p:cNvSpPr txBox="1">
            <a:spLocks noChangeArrowheads="1"/>
          </p:cNvSpPr>
          <p:nvPr/>
        </p:nvSpPr>
        <p:spPr bwMode="auto">
          <a:xfrm>
            <a:off x="3011952" y="2869511"/>
            <a:ext cx="974947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/>
            <a:r>
              <a:rPr lang="en-US" sz="2000" dirty="0">
                <a:sym typeface="Symbol" panose="05050102010706020507" pitchFamily="18" charset="2"/>
              </a:rPr>
              <a:t>=</a:t>
            </a:r>
            <a:r>
              <a:rPr lang="en-US" sz="2000" i="1" dirty="0"/>
              <a:t> </a:t>
            </a:r>
            <a:r>
              <a:rPr lang="en-US" sz="2000" dirty="0" err="1"/>
              <a:t>aabe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4555759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Constructing a Huffman Code</a:t>
            </a:r>
          </a:p>
        </p:txBody>
      </p:sp>
      <p:sp>
        <p:nvSpPr>
          <p:cNvPr id="4" name="Rectangle 3"/>
          <p:cNvSpPr txBox="1">
            <a:spLocks noChangeArrowheads="1"/>
          </p:cNvSpPr>
          <p:nvPr/>
        </p:nvSpPr>
        <p:spPr>
          <a:xfrm>
            <a:off x="95251" y="511175"/>
            <a:ext cx="4343400" cy="2895600"/>
          </a:xfrm>
          <a:prstGeom prst="rect">
            <a:avLst/>
          </a:prstGeom>
        </p:spPr>
        <p:txBody>
          <a:bodyPr wrap="square" lIns="0" tIns="0" rIns="0" bIns="0">
            <a:normAutofit fontScale="55000" lnSpcReduction="20000"/>
          </a:bodyPr>
          <a:lstStyle>
            <a:lvl1pPr marL="0">
              <a:defRPr sz="900" b="0" i="0">
                <a:solidFill>
                  <a:schemeClr val="tx1"/>
                </a:solidFill>
                <a:latin typeface="Arial"/>
                <a:ea typeface="+mn-ea"/>
                <a:cs typeface="Arial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kern="0" dirty="0"/>
              <a:t>A greedy algorithm that constructs an optimal prefix code called a </a:t>
            </a:r>
            <a:r>
              <a:rPr lang="en-US" sz="2400" b="1" kern="0" dirty="0"/>
              <a:t>Huffman code</a:t>
            </a:r>
          </a:p>
          <a:p>
            <a:pPr>
              <a:lnSpc>
                <a:spcPct val="120000"/>
              </a:lnSpc>
            </a:pPr>
            <a:endParaRPr lang="en-US" sz="1100" kern="0" dirty="0"/>
          </a:p>
          <a:p>
            <a:pPr>
              <a:lnSpc>
                <a:spcPct val="120000"/>
              </a:lnSpc>
            </a:pPr>
            <a:r>
              <a:rPr lang="en-US" sz="2400" kern="0" dirty="0"/>
              <a:t>Assume that: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C</a:t>
            </a:r>
            <a:r>
              <a:rPr lang="en-US" sz="2000" kern="0" dirty="0">
                <a:solidFill>
                  <a:sysClr val="windowText" lastClr="000000"/>
                </a:solidFill>
              </a:rPr>
              <a:t> is a set of </a:t>
            </a: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n</a:t>
            </a:r>
            <a:r>
              <a:rPr lang="en-US" sz="2000" kern="0" dirty="0">
                <a:solidFill>
                  <a:sysClr val="windowText" lastClr="000000"/>
                </a:solidFill>
              </a:rPr>
              <a:t> characters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Each character has a frequency </a:t>
            </a: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f(c)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The tree </a:t>
            </a: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T</a:t>
            </a:r>
            <a:r>
              <a:rPr lang="en-US" sz="2000" kern="0" dirty="0">
                <a:solidFill>
                  <a:sysClr val="windowText" lastClr="000000"/>
                </a:solidFill>
              </a:rPr>
              <a:t> is built in a bottom up manner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Left means ‘0’, right means ‘1’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More frequent characters will be </a:t>
            </a:r>
            <a:r>
              <a:rPr lang="en-US" sz="2000" kern="0" dirty="0">
                <a:solidFill>
                  <a:schemeClr val="tx2"/>
                </a:solidFill>
              </a:rPr>
              <a:t>higher</a:t>
            </a:r>
            <a:r>
              <a:rPr lang="en-US" sz="2000" kern="0" dirty="0">
                <a:solidFill>
                  <a:sysClr val="windowText" lastClr="000000"/>
                </a:solidFill>
              </a:rPr>
              <a:t> in the tree</a:t>
            </a:r>
          </a:p>
          <a:p>
            <a:pPr lvl="1">
              <a:lnSpc>
                <a:spcPct val="120000"/>
              </a:lnSpc>
            </a:pPr>
            <a:endParaRPr lang="en-US" sz="2000" kern="0" dirty="0">
              <a:solidFill>
                <a:sysClr val="windowText" lastClr="000000"/>
              </a:solidFill>
            </a:endParaRPr>
          </a:p>
          <a:p>
            <a:pPr>
              <a:lnSpc>
                <a:spcPct val="120000"/>
              </a:lnSpc>
            </a:pPr>
            <a:r>
              <a:rPr lang="en-US" sz="2400" kern="0" dirty="0"/>
              <a:t>Idea: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Start with a set of </a:t>
            </a: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|C|</a:t>
            </a:r>
            <a:r>
              <a:rPr lang="en-US" sz="2000" kern="0" dirty="0">
                <a:solidFill>
                  <a:sysClr val="windowText" lastClr="000000"/>
                </a:solidFill>
              </a:rPr>
              <a:t> leaves 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At each step, merge the two least frequent objects: the frequency of the new node = sum of two frequencies</a:t>
            </a:r>
          </a:p>
          <a:p>
            <a:pPr lvl="1">
              <a:lnSpc>
                <a:spcPct val="120000"/>
              </a:lnSpc>
            </a:pPr>
            <a:r>
              <a:rPr lang="en-US" sz="2000" kern="0" dirty="0">
                <a:solidFill>
                  <a:sysClr val="windowText" lastClr="000000"/>
                </a:solidFill>
              </a:rPr>
              <a:t>Use a min-priority queue </a:t>
            </a: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Q</a:t>
            </a:r>
            <a:r>
              <a:rPr lang="en-US" sz="2000" kern="0" dirty="0">
                <a:solidFill>
                  <a:sysClr val="windowText" lastClr="000000"/>
                </a:solidFill>
              </a:rPr>
              <a:t>, keyed on </a:t>
            </a:r>
            <a:r>
              <a:rPr lang="en-US" sz="2000" kern="0" dirty="0">
                <a:solidFill>
                  <a:sysClr val="windowText" lastClr="000000"/>
                </a:solidFill>
                <a:latin typeface="Comic Sans MS" panose="030F0702030302020204" pitchFamily="66" charset="0"/>
              </a:rPr>
              <a:t>f </a:t>
            </a:r>
            <a:r>
              <a:rPr lang="en-US" sz="2000" kern="0" dirty="0">
                <a:solidFill>
                  <a:sysClr val="windowText" lastClr="000000"/>
                </a:solidFill>
              </a:rPr>
              <a:t>to identify the two least frequent objects </a:t>
            </a: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1313" y="2151130"/>
            <a:ext cx="2016539" cy="229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6059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Constructing a Huffman tree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449" y="587375"/>
            <a:ext cx="4368889" cy="259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66976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307777"/>
          </a:xfrm>
        </p:spPr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106773399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3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eaLnBrk="1" hangingPunct="1"/>
            <a:r>
              <a:rPr lang="en-US" sz="2000" dirty="0">
                <a:solidFill>
                  <a:schemeClr val="tx1"/>
                </a:solidFill>
              </a:rPr>
              <a:t>Example</a:t>
            </a: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220900" y="671493"/>
            <a:ext cx="2029725" cy="168877"/>
            <a:chOff x="276" y="837"/>
            <a:chExt cx="2536" cy="211"/>
          </a:xfrm>
        </p:grpSpPr>
        <p:sp>
          <p:nvSpPr>
            <p:cNvPr id="25725" name="Rectangle 4"/>
            <p:cNvSpPr>
              <a:spLocks noChangeArrowheads="1"/>
            </p:cNvSpPr>
            <p:nvPr/>
          </p:nvSpPr>
          <p:spPr bwMode="auto">
            <a:xfrm>
              <a:off x="2420" y="837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a: 45</a:t>
              </a:r>
            </a:p>
          </p:txBody>
        </p:sp>
        <p:sp>
          <p:nvSpPr>
            <p:cNvPr id="25726" name="Rectangle 5"/>
            <p:cNvSpPr>
              <a:spLocks noChangeArrowheads="1"/>
            </p:cNvSpPr>
            <p:nvPr/>
          </p:nvSpPr>
          <p:spPr bwMode="auto">
            <a:xfrm>
              <a:off x="1133" y="837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c: 12</a:t>
              </a:r>
            </a:p>
          </p:txBody>
        </p:sp>
        <p:sp>
          <p:nvSpPr>
            <p:cNvPr id="25727" name="Rectangle 6"/>
            <p:cNvSpPr>
              <a:spLocks noChangeArrowheads="1"/>
            </p:cNvSpPr>
            <p:nvPr/>
          </p:nvSpPr>
          <p:spPr bwMode="auto">
            <a:xfrm>
              <a:off x="1562" y="837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b: 13</a:t>
              </a:r>
            </a:p>
          </p:txBody>
        </p:sp>
        <p:sp>
          <p:nvSpPr>
            <p:cNvPr id="25728" name="Rectangle 7"/>
            <p:cNvSpPr>
              <a:spLocks noChangeArrowheads="1"/>
            </p:cNvSpPr>
            <p:nvPr/>
          </p:nvSpPr>
          <p:spPr bwMode="auto">
            <a:xfrm>
              <a:off x="276" y="837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f: 5</a:t>
              </a:r>
            </a:p>
          </p:txBody>
        </p:sp>
        <p:sp>
          <p:nvSpPr>
            <p:cNvPr id="25729" name="Rectangle 8"/>
            <p:cNvSpPr>
              <a:spLocks noChangeArrowheads="1"/>
            </p:cNvSpPr>
            <p:nvPr/>
          </p:nvSpPr>
          <p:spPr bwMode="auto">
            <a:xfrm>
              <a:off x="704" y="837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 dirty="0"/>
                <a:t>e: 9</a:t>
              </a:r>
            </a:p>
          </p:txBody>
        </p:sp>
        <p:sp>
          <p:nvSpPr>
            <p:cNvPr id="25730" name="Rectangle 9"/>
            <p:cNvSpPr>
              <a:spLocks noChangeArrowheads="1"/>
            </p:cNvSpPr>
            <p:nvPr/>
          </p:nvSpPr>
          <p:spPr bwMode="auto">
            <a:xfrm>
              <a:off x="1991" y="837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d: 16</a:t>
              </a:r>
            </a:p>
          </p:txBody>
        </p:sp>
      </p:grpSp>
      <p:grpSp>
        <p:nvGrpSpPr>
          <p:cNvPr id="4" name="Group 10"/>
          <p:cNvGrpSpPr>
            <a:grpSpLocks/>
          </p:cNvGrpSpPr>
          <p:nvPr/>
        </p:nvGrpSpPr>
        <p:grpSpPr bwMode="auto">
          <a:xfrm>
            <a:off x="2441913" y="641880"/>
            <a:ext cx="1924076" cy="476217"/>
            <a:chOff x="3051" y="800"/>
            <a:chExt cx="2404" cy="595"/>
          </a:xfrm>
        </p:grpSpPr>
        <p:sp>
          <p:nvSpPr>
            <p:cNvPr id="25714" name="Rectangle 11"/>
            <p:cNvSpPr>
              <a:spLocks noChangeArrowheads="1"/>
            </p:cNvSpPr>
            <p:nvPr/>
          </p:nvSpPr>
          <p:spPr bwMode="auto">
            <a:xfrm>
              <a:off x="5063" y="832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a: 45</a:t>
              </a:r>
            </a:p>
          </p:txBody>
        </p:sp>
        <p:sp>
          <p:nvSpPr>
            <p:cNvPr id="25715" name="Rectangle 12"/>
            <p:cNvSpPr>
              <a:spLocks noChangeArrowheads="1"/>
            </p:cNvSpPr>
            <p:nvPr/>
          </p:nvSpPr>
          <p:spPr bwMode="auto">
            <a:xfrm>
              <a:off x="3051" y="832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c: 12</a:t>
              </a:r>
            </a:p>
          </p:txBody>
        </p:sp>
        <p:sp>
          <p:nvSpPr>
            <p:cNvPr id="25716" name="Rectangle 13"/>
            <p:cNvSpPr>
              <a:spLocks noChangeArrowheads="1"/>
            </p:cNvSpPr>
            <p:nvPr/>
          </p:nvSpPr>
          <p:spPr bwMode="auto">
            <a:xfrm>
              <a:off x="3480" y="832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b: 13</a:t>
              </a:r>
            </a:p>
          </p:txBody>
        </p:sp>
        <p:sp>
          <p:nvSpPr>
            <p:cNvPr id="25717" name="Rectangle 14"/>
            <p:cNvSpPr>
              <a:spLocks noChangeArrowheads="1"/>
            </p:cNvSpPr>
            <p:nvPr/>
          </p:nvSpPr>
          <p:spPr bwMode="auto">
            <a:xfrm>
              <a:off x="4634" y="832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d: 16</a:t>
              </a:r>
            </a:p>
          </p:txBody>
        </p:sp>
        <p:sp>
          <p:nvSpPr>
            <p:cNvPr id="25718" name="Oval 15"/>
            <p:cNvSpPr>
              <a:spLocks noChangeArrowheads="1"/>
            </p:cNvSpPr>
            <p:nvPr/>
          </p:nvSpPr>
          <p:spPr bwMode="auto">
            <a:xfrm>
              <a:off x="4068" y="800"/>
              <a:ext cx="329" cy="27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14</a:t>
              </a:r>
            </a:p>
          </p:txBody>
        </p:sp>
        <p:sp>
          <p:nvSpPr>
            <p:cNvPr id="25719" name="Line 16"/>
            <p:cNvSpPr>
              <a:spLocks noChangeShapeType="1"/>
            </p:cNvSpPr>
            <p:nvPr/>
          </p:nvSpPr>
          <p:spPr bwMode="auto">
            <a:xfrm flipH="1">
              <a:off x="4032" y="1053"/>
              <a:ext cx="126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720" name="Line 17"/>
            <p:cNvSpPr>
              <a:spLocks noChangeShapeType="1"/>
            </p:cNvSpPr>
            <p:nvPr/>
          </p:nvSpPr>
          <p:spPr bwMode="auto">
            <a:xfrm>
              <a:off x="4320" y="1058"/>
              <a:ext cx="131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721" name="Rectangle 18"/>
            <p:cNvSpPr>
              <a:spLocks noChangeArrowheads="1"/>
            </p:cNvSpPr>
            <p:nvPr/>
          </p:nvSpPr>
          <p:spPr bwMode="auto">
            <a:xfrm>
              <a:off x="3824" y="1184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f: 5</a:t>
              </a:r>
            </a:p>
          </p:txBody>
        </p:sp>
        <p:sp>
          <p:nvSpPr>
            <p:cNvPr id="25722" name="Rectangle 19"/>
            <p:cNvSpPr>
              <a:spLocks noChangeArrowheads="1"/>
            </p:cNvSpPr>
            <p:nvPr/>
          </p:nvSpPr>
          <p:spPr bwMode="auto">
            <a:xfrm>
              <a:off x="4252" y="1184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e: 9</a:t>
              </a:r>
            </a:p>
          </p:txBody>
        </p:sp>
        <p:sp>
          <p:nvSpPr>
            <p:cNvPr id="25723" name="Text Box 20"/>
            <p:cNvSpPr txBox="1">
              <a:spLocks noChangeArrowheads="1"/>
            </p:cNvSpPr>
            <p:nvPr/>
          </p:nvSpPr>
          <p:spPr bwMode="auto">
            <a:xfrm>
              <a:off x="3869" y="922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724" name="Text Box 21"/>
            <p:cNvSpPr txBox="1">
              <a:spLocks noChangeArrowheads="1"/>
            </p:cNvSpPr>
            <p:nvPr/>
          </p:nvSpPr>
          <p:spPr bwMode="auto">
            <a:xfrm>
              <a:off x="4289" y="931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</p:grpSp>
      <p:grpSp>
        <p:nvGrpSpPr>
          <p:cNvPr id="5" name="Group 22"/>
          <p:cNvGrpSpPr>
            <a:grpSpLocks/>
          </p:cNvGrpSpPr>
          <p:nvPr/>
        </p:nvGrpSpPr>
        <p:grpSpPr bwMode="auto">
          <a:xfrm>
            <a:off x="164076" y="1172521"/>
            <a:ext cx="1747194" cy="483420"/>
            <a:chOff x="205" y="1463"/>
            <a:chExt cx="2183" cy="604"/>
          </a:xfrm>
        </p:grpSpPr>
        <p:sp>
          <p:nvSpPr>
            <p:cNvPr id="25696" name="Rectangle 23"/>
            <p:cNvSpPr>
              <a:spLocks noChangeArrowheads="1"/>
            </p:cNvSpPr>
            <p:nvPr/>
          </p:nvSpPr>
          <p:spPr bwMode="auto">
            <a:xfrm>
              <a:off x="914" y="1499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d: 16</a:t>
              </a:r>
            </a:p>
          </p:txBody>
        </p:sp>
        <p:grpSp>
          <p:nvGrpSpPr>
            <p:cNvPr id="6" name="Group 24"/>
            <p:cNvGrpSpPr>
              <a:grpSpLocks/>
            </p:cNvGrpSpPr>
            <p:nvPr/>
          </p:nvGrpSpPr>
          <p:grpSpPr bwMode="auto">
            <a:xfrm>
              <a:off x="1260" y="1467"/>
              <a:ext cx="820" cy="600"/>
              <a:chOff x="1260" y="1602"/>
              <a:chExt cx="820" cy="600"/>
            </a:xfrm>
          </p:grpSpPr>
          <p:sp>
            <p:nvSpPr>
              <p:cNvPr id="25709" name="Rectangle 25"/>
              <p:cNvSpPr>
                <a:spLocks noChangeArrowheads="1"/>
              </p:cNvSpPr>
              <p:nvPr/>
            </p:nvSpPr>
            <p:spPr bwMode="auto">
              <a:xfrm>
                <a:off x="1260" y="1991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c: 12</a:t>
                </a:r>
              </a:p>
            </p:txBody>
          </p:sp>
          <p:sp>
            <p:nvSpPr>
              <p:cNvPr id="25710" name="Rectangle 26"/>
              <p:cNvSpPr>
                <a:spLocks noChangeArrowheads="1"/>
              </p:cNvSpPr>
              <p:nvPr/>
            </p:nvSpPr>
            <p:spPr bwMode="auto">
              <a:xfrm>
                <a:off x="1688" y="1991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b: 13</a:t>
                </a:r>
              </a:p>
            </p:txBody>
          </p:sp>
          <p:sp>
            <p:nvSpPr>
              <p:cNvPr id="25711" name="Oval 27"/>
              <p:cNvSpPr>
                <a:spLocks noChangeArrowheads="1"/>
              </p:cNvSpPr>
              <p:nvPr/>
            </p:nvSpPr>
            <p:spPr bwMode="auto">
              <a:xfrm>
                <a:off x="1504" y="1602"/>
                <a:ext cx="329" cy="27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25</a:t>
                </a:r>
              </a:p>
            </p:txBody>
          </p:sp>
          <p:sp>
            <p:nvSpPr>
              <p:cNvPr id="25712" name="Line 28"/>
              <p:cNvSpPr>
                <a:spLocks noChangeShapeType="1"/>
              </p:cNvSpPr>
              <p:nvPr/>
            </p:nvSpPr>
            <p:spPr bwMode="auto">
              <a:xfrm flipH="1">
                <a:off x="1468" y="1860"/>
                <a:ext cx="126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  <p:sp>
            <p:nvSpPr>
              <p:cNvPr id="25713" name="Line 29"/>
              <p:cNvSpPr>
                <a:spLocks noChangeShapeType="1"/>
              </p:cNvSpPr>
              <p:nvPr/>
            </p:nvSpPr>
            <p:spPr bwMode="auto">
              <a:xfrm>
                <a:off x="1756" y="1865"/>
                <a:ext cx="131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</p:grpSp>
        <p:sp>
          <p:nvSpPr>
            <p:cNvPr id="25698" name="Rectangle 30"/>
            <p:cNvSpPr>
              <a:spLocks noChangeArrowheads="1"/>
            </p:cNvSpPr>
            <p:nvPr/>
          </p:nvSpPr>
          <p:spPr bwMode="auto">
            <a:xfrm>
              <a:off x="1996" y="1499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a: 45</a:t>
              </a:r>
            </a:p>
          </p:txBody>
        </p:sp>
        <p:grpSp>
          <p:nvGrpSpPr>
            <p:cNvPr id="7" name="Group 31"/>
            <p:cNvGrpSpPr>
              <a:grpSpLocks/>
            </p:cNvGrpSpPr>
            <p:nvPr/>
          </p:nvGrpSpPr>
          <p:grpSpPr bwMode="auto">
            <a:xfrm>
              <a:off x="205" y="1463"/>
              <a:ext cx="820" cy="595"/>
              <a:chOff x="109" y="1602"/>
              <a:chExt cx="820" cy="595"/>
            </a:xfrm>
          </p:grpSpPr>
          <p:sp>
            <p:nvSpPr>
              <p:cNvPr id="25704" name="Rectangle 32"/>
              <p:cNvSpPr>
                <a:spLocks noChangeArrowheads="1"/>
              </p:cNvSpPr>
              <p:nvPr/>
            </p:nvSpPr>
            <p:spPr bwMode="auto">
              <a:xfrm>
                <a:off x="109" y="1986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f: 5</a:t>
                </a:r>
              </a:p>
            </p:txBody>
          </p:sp>
          <p:sp>
            <p:nvSpPr>
              <p:cNvPr id="25705" name="Rectangle 33"/>
              <p:cNvSpPr>
                <a:spLocks noChangeArrowheads="1"/>
              </p:cNvSpPr>
              <p:nvPr/>
            </p:nvSpPr>
            <p:spPr bwMode="auto">
              <a:xfrm>
                <a:off x="537" y="1986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e: 9</a:t>
                </a:r>
              </a:p>
            </p:txBody>
          </p:sp>
          <p:sp>
            <p:nvSpPr>
              <p:cNvPr id="25706" name="Oval 34"/>
              <p:cNvSpPr>
                <a:spLocks noChangeArrowheads="1"/>
              </p:cNvSpPr>
              <p:nvPr/>
            </p:nvSpPr>
            <p:spPr bwMode="auto">
              <a:xfrm>
                <a:off x="353" y="1602"/>
                <a:ext cx="329" cy="27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14</a:t>
                </a:r>
              </a:p>
            </p:txBody>
          </p:sp>
          <p:sp>
            <p:nvSpPr>
              <p:cNvPr id="25707" name="Line 35"/>
              <p:cNvSpPr>
                <a:spLocks noChangeShapeType="1"/>
              </p:cNvSpPr>
              <p:nvPr/>
            </p:nvSpPr>
            <p:spPr bwMode="auto">
              <a:xfrm flipH="1">
                <a:off x="317" y="1855"/>
                <a:ext cx="126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  <p:sp>
            <p:nvSpPr>
              <p:cNvPr id="25708" name="Line 36"/>
              <p:cNvSpPr>
                <a:spLocks noChangeShapeType="1"/>
              </p:cNvSpPr>
              <p:nvPr/>
            </p:nvSpPr>
            <p:spPr bwMode="auto">
              <a:xfrm>
                <a:off x="605" y="1860"/>
                <a:ext cx="131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</p:grpSp>
        <p:sp>
          <p:nvSpPr>
            <p:cNvPr id="25700" name="Text Box 37"/>
            <p:cNvSpPr txBox="1">
              <a:spLocks noChangeArrowheads="1"/>
            </p:cNvSpPr>
            <p:nvPr/>
          </p:nvSpPr>
          <p:spPr bwMode="auto">
            <a:xfrm>
              <a:off x="231" y="1603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701" name="Text Box 38"/>
            <p:cNvSpPr txBox="1">
              <a:spLocks noChangeArrowheads="1"/>
            </p:cNvSpPr>
            <p:nvPr/>
          </p:nvSpPr>
          <p:spPr bwMode="auto">
            <a:xfrm>
              <a:off x="1311" y="1596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702" name="Text Box 39"/>
            <p:cNvSpPr txBox="1">
              <a:spLocks noChangeArrowheads="1"/>
            </p:cNvSpPr>
            <p:nvPr/>
          </p:nvSpPr>
          <p:spPr bwMode="auto">
            <a:xfrm>
              <a:off x="667" y="1590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703" name="Text Box 40"/>
            <p:cNvSpPr txBox="1">
              <a:spLocks noChangeArrowheads="1"/>
            </p:cNvSpPr>
            <p:nvPr/>
          </p:nvSpPr>
          <p:spPr bwMode="auto">
            <a:xfrm>
              <a:off x="1729" y="1602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</p:grpSp>
      <p:grpSp>
        <p:nvGrpSpPr>
          <p:cNvPr id="8" name="Group 41"/>
          <p:cNvGrpSpPr>
            <a:grpSpLocks/>
          </p:cNvGrpSpPr>
          <p:nvPr/>
        </p:nvGrpSpPr>
        <p:grpSpPr bwMode="auto">
          <a:xfrm>
            <a:off x="2424305" y="1193331"/>
            <a:ext cx="1883258" cy="777954"/>
            <a:chOff x="3029" y="1489"/>
            <a:chExt cx="2353" cy="972"/>
          </a:xfrm>
        </p:grpSpPr>
        <p:grpSp>
          <p:nvGrpSpPr>
            <p:cNvPr id="9" name="Group 42"/>
            <p:cNvGrpSpPr>
              <a:grpSpLocks/>
            </p:cNvGrpSpPr>
            <p:nvPr/>
          </p:nvGrpSpPr>
          <p:grpSpPr bwMode="auto">
            <a:xfrm>
              <a:off x="3781" y="1866"/>
              <a:ext cx="820" cy="595"/>
              <a:chOff x="109" y="1602"/>
              <a:chExt cx="820" cy="595"/>
            </a:xfrm>
          </p:grpSpPr>
          <p:sp>
            <p:nvSpPr>
              <p:cNvPr id="25691" name="Rectangle 43"/>
              <p:cNvSpPr>
                <a:spLocks noChangeArrowheads="1"/>
              </p:cNvSpPr>
              <p:nvPr/>
            </p:nvSpPr>
            <p:spPr bwMode="auto">
              <a:xfrm>
                <a:off x="109" y="1986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f: 5</a:t>
                </a:r>
              </a:p>
            </p:txBody>
          </p:sp>
          <p:sp>
            <p:nvSpPr>
              <p:cNvPr id="25692" name="Rectangle 44"/>
              <p:cNvSpPr>
                <a:spLocks noChangeArrowheads="1"/>
              </p:cNvSpPr>
              <p:nvPr/>
            </p:nvSpPr>
            <p:spPr bwMode="auto">
              <a:xfrm>
                <a:off x="537" y="1986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e: 9</a:t>
                </a:r>
              </a:p>
            </p:txBody>
          </p:sp>
          <p:sp>
            <p:nvSpPr>
              <p:cNvPr id="25693" name="Oval 45"/>
              <p:cNvSpPr>
                <a:spLocks noChangeArrowheads="1"/>
              </p:cNvSpPr>
              <p:nvPr/>
            </p:nvSpPr>
            <p:spPr bwMode="auto">
              <a:xfrm>
                <a:off x="353" y="1602"/>
                <a:ext cx="329" cy="27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14</a:t>
                </a:r>
              </a:p>
            </p:txBody>
          </p:sp>
          <p:sp>
            <p:nvSpPr>
              <p:cNvPr id="25694" name="Line 46"/>
              <p:cNvSpPr>
                <a:spLocks noChangeShapeType="1"/>
              </p:cNvSpPr>
              <p:nvPr/>
            </p:nvSpPr>
            <p:spPr bwMode="auto">
              <a:xfrm flipH="1">
                <a:off x="317" y="1855"/>
                <a:ext cx="126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  <p:sp>
            <p:nvSpPr>
              <p:cNvPr id="25695" name="Line 47"/>
              <p:cNvSpPr>
                <a:spLocks noChangeShapeType="1"/>
              </p:cNvSpPr>
              <p:nvPr/>
            </p:nvSpPr>
            <p:spPr bwMode="auto">
              <a:xfrm>
                <a:off x="605" y="1860"/>
                <a:ext cx="131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</p:grpSp>
        <p:grpSp>
          <p:nvGrpSpPr>
            <p:cNvPr id="10" name="Group 48"/>
            <p:cNvGrpSpPr>
              <a:grpSpLocks/>
            </p:cNvGrpSpPr>
            <p:nvPr/>
          </p:nvGrpSpPr>
          <p:grpSpPr bwMode="auto">
            <a:xfrm>
              <a:off x="3029" y="1497"/>
              <a:ext cx="820" cy="600"/>
              <a:chOff x="1260" y="1602"/>
              <a:chExt cx="820" cy="600"/>
            </a:xfrm>
          </p:grpSpPr>
          <p:sp>
            <p:nvSpPr>
              <p:cNvPr id="25686" name="Rectangle 49"/>
              <p:cNvSpPr>
                <a:spLocks noChangeArrowheads="1"/>
              </p:cNvSpPr>
              <p:nvPr/>
            </p:nvSpPr>
            <p:spPr bwMode="auto">
              <a:xfrm>
                <a:off x="1260" y="1991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c: 12</a:t>
                </a:r>
              </a:p>
            </p:txBody>
          </p:sp>
          <p:sp>
            <p:nvSpPr>
              <p:cNvPr id="25687" name="Rectangle 50"/>
              <p:cNvSpPr>
                <a:spLocks noChangeArrowheads="1"/>
              </p:cNvSpPr>
              <p:nvPr/>
            </p:nvSpPr>
            <p:spPr bwMode="auto">
              <a:xfrm>
                <a:off x="1688" y="1991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b: 13</a:t>
                </a:r>
              </a:p>
            </p:txBody>
          </p:sp>
          <p:sp>
            <p:nvSpPr>
              <p:cNvPr id="25688" name="Oval 51"/>
              <p:cNvSpPr>
                <a:spLocks noChangeArrowheads="1"/>
              </p:cNvSpPr>
              <p:nvPr/>
            </p:nvSpPr>
            <p:spPr bwMode="auto">
              <a:xfrm>
                <a:off x="1504" y="1602"/>
                <a:ext cx="329" cy="27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25</a:t>
                </a:r>
              </a:p>
            </p:txBody>
          </p:sp>
          <p:sp>
            <p:nvSpPr>
              <p:cNvPr id="25689" name="Line 52"/>
              <p:cNvSpPr>
                <a:spLocks noChangeShapeType="1"/>
              </p:cNvSpPr>
              <p:nvPr/>
            </p:nvSpPr>
            <p:spPr bwMode="auto">
              <a:xfrm flipH="1">
                <a:off x="1468" y="1860"/>
                <a:ext cx="126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  <p:sp>
            <p:nvSpPr>
              <p:cNvPr id="25690" name="Line 53"/>
              <p:cNvSpPr>
                <a:spLocks noChangeShapeType="1"/>
              </p:cNvSpPr>
              <p:nvPr/>
            </p:nvSpPr>
            <p:spPr bwMode="auto">
              <a:xfrm>
                <a:off x="1756" y="1865"/>
                <a:ext cx="131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</p:grpSp>
        <p:sp>
          <p:nvSpPr>
            <p:cNvPr id="25675" name="Rectangle 54"/>
            <p:cNvSpPr>
              <a:spLocks noChangeArrowheads="1"/>
            </p:cNvSpPr>
            <p:nvPr/>
          </p:nvSpPr>
          <p:spPr bwMode="auto">
            <a:xfrm>
              <a:off x="4438" y="1873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d: 16</a:t>
              </a:r>
            </a:p>
          </p:txBody>
        </p:sp>
        <p:sp>
          <p:nvSpPr>
            <p:cNvPr id="25676" name="Oval 55"/>
            <p:cNvSpPr>
              <a:spLocks noChangeArrowheads="1"/>
            </p:cNvSpPr>
            <p:nvPr/>
          </p:nvSpPr>
          <p:spPr bwMode="auto">
            <a:xfrm>
              <a:off x="4254" y="1489"/>
              <a:ext cx="329" cy="27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30</a:t>
              </a:r>
            </a:p>
          </p:txBody>
        </p:sp>
        <p:sp>
          <p:nvSpPr>
            <p:cNvPr id="25677" name="Line 56"/>
            <p:cNvSpPr>
              <a:spLocks noChangeShapeType="1"/>
            </p:cNvSpPr>
            <p:nvPr/>
          </p:nvSpPr>
          <p:spPr bwMode="auto">
            <a:xfrm flipH="1">
              <a:off x="4218" y="1742"/>
              <a:ext cx="126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78" name="Line 57"/>
            <p:cNvSpPr>
              <a:spLocks noChangeShapeType="1"/>
            </p:cNvSpPr>
            <p:nvPr/>
          </p:nvSpPr>
          <p:spPr bwMode="auto">
            <a:xfrm>
              <a:off x="4506" y="1747"/>
              <a:ext cx="131" cy="12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79" name="Rectangle 58"/>
            <p:cNvSpPr>
              <a:spLocks noChangeArrowheads="1"/>
            </p:cNvSpPr>
            <p:nvPr/>
          </p:nvSpPr>
          <p:spPr bwMode="auto">
            <a:xfrm>
              <a:off x="4990" y="1529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a: 45</a:t>
              </a:r>
            </a:p>
          </p:txBody>
        </p:sp>
        <p:sp>
          <p:nvSpPr>
            <p:cNvPr id="25680" name="Text Box 59"/>
            <p:cNvSpPr txBox="1">
              <a:spLocks noChangeArrowheads="1"/>
            </p:cNvSpPr>
            <p:nvPr/>
          </p:nvSpPr>
          <p:spPr bwMode="auto">
            <a:xfrm>
              <a:off x="3083" y="1633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81" name="Text Box 60"/>
            <p:cNvSpPr txBox="1">
              <a:spLocks noChangeArrowheads="1"/>
            </p:cNvSpPr>
            <p:nvPr/>
          </p:nvSpPr>
          <p:spPr bwMode="auto">
            <a:xfrm>
              <a:off x="4058" y="1620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/>
                <a:t>0</a:t>
              </a:r>
            </a:p>
          </p:txBody>
        </p:sp>
        <p:sp>
          <p:nvSpPr>
            <p:cNvPr id="25682" name="Text Box 61"/>
            <p:cNvSpPr txBox="1">
              <a:spLocks noChangeArrowheads="1"/>
            </p:cNvSpPr>
            <p:nvPr/>
          </p:nvSpPr>
          <p:spPr bwMode="auto">
            <a:xfrm>
              <a:off x="3837" y="1999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83" name="Text Box 62"/>
            <p:cNvSpPr txBox="1">
              <a:spLocks noChangeArrowheads="1"/>
            </p:cNvSpPr>
            <p:nvPr/>
          </p:nvSpPr>
          <p:spPr bwMode="auto">
            <a:xfrm>
              <a:off x="3505" y="1630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684" name="Text Box 63"/>
            <p:cNvSpPr txBox="1">
              <a:spLocks noChangeArrowheads="1"/>
            </p:cNvSpPr>
            <p:nvPr/>
          </p:nvSpPr>
          <p:spPr bwMode="auto">
            <a:xfrm>
              <a:off x="4496" y="1624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/>
                <a:t>1</a:t>
              </a:r>
            </a:p>
          </p:txBody>
        </p:sp>
        <p:sp>
          <p:nvSpPr>
            <p:cNvPr id="25685" name="Text Box 64"/>
            <p:cNvSpPr txBox="1">
              <a:spLocks noChangeArrowheads="1"/>
            </p:cNvSpPr>
            <p:nvPr/>
          </p:nvSpPr>
          <p:spPr bwMode="auto">
            <a:xfrm>
              <a:off x="4248" y="2012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</p:grpSp>
      <p:grpSp>
        <p:nvGrpSpPr>
          <p:cNvPr id="11" name="Group 65"/>
          <p:cNvGrpSpPr>
            <a:grpSpLocks/>
          </p:cNvGrpSpPr>
          <p:nvPr/>
        </p:nvGrpSpPr>
        <p:grpSpPr bwMode="auto">
          <a:xfrm>
            <a:off x="288932" y="2107347"/>
            <a:ext cx="1683165" cy="1102102"/>
            <a:chOff x="361" y="2631"/>
            <a:chExt cx="2103" cy="1377"/>
          </a:xfrm>
        </p:grpSpPr>
        <p:sp>
          <p:nvSpPr>
            <p:cNvPr id="25644" name="Rectangle 66"/>
            <p:cNvSpPr>
              <a:spLocks noChangeArrowheads="1"/>
            </p:cNvSpPr>
            <p:nvPr/>
          </p:nvSpPr>
          <p:spPr bwMode="auto">
            <a:xfrm>
              <a:off x="361" y="2663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a: 45</a:t>
              </a:r>
            </a:p>
          </p:txBody>
        </p:sp>
        <p:grpSp>
          <p:nvGrpSpPr>
            <p:cNvPr id="12" name="Group 67"/>
            <p:cNvGrpSpPr>
              <a:grpSpLocks/>
            </p:cNvGrpSpPr>
            <p:nvPr/>
          </p:nvGrpSpPr>
          <p:grpSpPr bwMode="auto">
            <a:xfrm>
              <a:off x="663" y="3036"/>
              <a:ext cx="1801" cy="972"/>
              <a:chOff x="335" y="3180"/>
              <a:chExt cx="1801" cy="972"/>
            </a:xfrm>
          </p:grpSpPr>
          <p:grpSp>
            <p:nvGrpSpPr>
              <p:cNvPr id="13" name="Group 68"/>
              <p:cNvGrpSpPr>
                <a:grpSpLocks/>
              </p:cNvGrpSpPr>
              <p:nvPr/>
            </p:nvGrpSpPr>
            <p:grpSpPr bwMode="auto">
              <a:xfrm>
                <a:off x="1087" y="3557"/>
                <a:ext cx="820" cy="595"/>
                <a:chOff x="109" y="1602"/>
                <a:chExt cx="820" cy="595"/>
              </a:xfrm>
            </p:grpSpPr>
            <p:sp>
              <p:nvSpPr>
                <p:cNvPr id="25668" name="Rectangle 69"/>
                <p:cNvSpPr>
                  <a:spLocks noChangeArrowheads="1"/>
                </p:cNvSpPr>
                <p:nvPr/>
              </p:nvSpPr>
              <p:spPr bwMode="auto">
                <a:xfrm>
                  <a:off x="109" y="1986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f: 5</a:t>
                  </a:r>
                </a:p>
              </p:txBody>
            </p:sp>
            <p:sp>
              <p:nvSpPr>
                <p:cNvPr id="25669" name="Rectangle 70"/>
                <p:cNvSpPr>
                  <a:spLocks noChangeArrowheads="1"/>
                </p:cNvSpPr>
                <p:nvPr/>
              </p:nvSpPr>
              <p:spPr bwMode="auto">
                <a:xfrm>
                  <a:off x="537" y="1986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e: 9</a:t>
                  </a:r>
                </a:p>
              </p:txBody>
            </p:sp>
            <p:sp>
              <p:nvSpPr>
                <p:cNvPr id="25670" name="Oval 71"/>
                <p:cNvSpPr>
                  <a:spLocks noChangeArrowheads="1"/>
                </p:cNvSpPr>
                <p:nvPr/>
              </p:nvSpPr>
              <p:spPr bwMode="auto">
                <a:xfrm>
                  <a:off x="353" y="1602"/>
                  <a:ext cx="329" cy="275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14</a:t>
                  </a:r>
                </a:p>
              </p:txBody>
            </p:sp>
            <p:sp>
              <p:nvSpPr>
                <p:cNvPr id="25671" name="Line 72"/>
                <p:cNvSpPr>
                  <a:spLocks noChangeShapeType="1"/>
                </p:cNvSpPr>
                <p:nvPr/>
              </p:nvSpPr>
              <p:spPr bwMode="auto">
                <a:xfrm flipH="1">
                  <a:off x="317" y="1855"/>
                  <a:ext cx="126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  <p:sp>
              <p:nvSpPr>
                <p:cNvPr id="25672" name="Line 73"/>
                <p:cNvSpPr>
                  <a:spLocks noChangeShapeType="1"/>
                </p:cNvSpPr>
                <p:nvPr/>
              </p:nvSpPr>
              <p:spPr bwMode="auto">
                <a:xfrm>
                  <a:off x="605" y="1860"/>
                  <a:ext cx="131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</p:grpSp>
          <p:grpSp>
            <p:nvGrpSpPr>
              <p:cNvPr id="14" name="Group 74"/>
              <p:cNvGrpSpPr>
                <a:grpSpLocks/>
              </p:cNvGrpSpPr>
              <p:nvPr/>
            </p:nvGrpSpPr>
            <p:grpSpPr bwMode="auto">
              <a:xfrm>
                <a:off x="335" y="3188"/>
                <a:ext cx="820" cy="600"/>
                <a:chOff x="1260" y="1602"/>
                <a:chExt cx="820" cy="600"/>
              </a:xfrm>
            </p:grpSpPr>
            <p:sp>
              <p:nvSpPr>
                <p:cNvPr id="25663" name="Rectangle 75"/>
                <p:cNvSpPr>
                  <a:spLocks noChangeArrowheads="1"/>
                </p:cNvSpPr>
                <p:nvPr/>
              </p:nvSpPr>
              <p:spPr bwMode="auto">
                <a:xfrm>
                  <a:off x="1260" y="1991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c: 12</a:t>
                  </a:r>
                </a:p>
              </p:txBody>
            </p:sp>
            <p:sp>
              <p:nvSpPr>
                <p:cNvPr id="25664" name="Rectangle 76"/>
                <p:cNvSpPr>
                  <a:spLocks noChangeArrowheads="1"/>
                </p:cNvSpPr>
                <p:nvPr/>
              </p:nvSpPr>
              <p:spPr bwMode="auto">
                <a:xfrm>
                  <a:off x="1688" y="1991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b: 13</a:t>
                  </a:r>
                </a:p>
              </p:txBody>
            </p:sp>
            <p:sp>
              <p:nvSpPr>
                <p:cNvPr id="25665" name="Oval 77"/>
                <p:cNvSpPr>
                  <a:spLocks noChangeArrowheads="1"/>
                </p:cNvSpPr>
                <p:nvPr/>
              </p:nvSpPr>
              <p:spPr bwMode="auto">
                <a:xfrm>
                  <a:off x="1504" y="1602"/>
                  <a:ext cx="329" cy="275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25</a:t>
                  </a:r>
                </a:p>
              </p:txBody>
            </p:sp>
            <p:sp>
              <p:nvSpPr>
                <p:cNvPr id="25666" name="Line 78"/>
                <p:cNvSpPr>
                  <a:spLocks noChangeShapeType="1"/>
                </p:cNvSpPr>
                <p:nvPr/>
              </p:nvSpPr>
              <p:spPr bwMode="auto">
                <a:xfrm flipH="1">
                  <a:off x="1468" y="1860"/>
                  <a:ext cx="126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  <p:sp>
              <p:nvSpPr>
                <p:cNvPr id="25667" name="Line 79"/>
                <p:cNvSpPr>
                  <a:spLocks noChangeShapeType="1"/>
                </p:cNvSpPr>
                <p:nvPr/>
              </p:nvSpPr>
              <p:spPr bwMode="auto">
                <a:xfrm>
                  <a:off x="1756" y="1865"/>
                  <a:ext cx="131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</p:grpSp>
          <p:sp>
            <p:nvSpPr>
              <p:cNvPr id="25659" name="Rectangle 80"/>
              <p:cNvSpPr>
                <a:spLocks noChangeArrowheads="1"/>
              </p:cNvSpPr>
              <p:nvPr/>
            </p:nvSpPr>
            <p:spPr bwMode="auto">
              <a:xfrm>
                <a:off x="1744" y="3564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d: 16</a:t>
                </a:r>
              </a:p>
            </p:txBody>
          </p:sp>
          <p:sp>
            <p:nvSpPr>
              <p:cNvPr id="25660" name="Oval 81"/>
              <p:cNvSpPr>
                <a:spLocks noChangeArrowheads="1"/>
              </p:cNvSpPr>
              <p:nvPr/>
            </p:nvSpPr>
            <p:spPr bwMode="auto">
              <a:xfrm>
                <a:off x="1560" y="3180"/>
                <a:ext cx="329" cy="27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30</a:t>
                </a:r>
              </a:p>
            </p:txBody>
          </p:sp>
          <p:sp>
            <p:nvSpPr>
              <p:cNvPr id="25661" name="Line 82"/>
              <p:cNvSpPr>
                <a:spLocks noChangeShapeType="1"/>
              </p:cNvSpPr>
              <p:nvPr/>
            </p:nvSpPr>
            <p:spPr bwMode="auto">
              <a:xfrm flipH="1">
                <a:off x="1524" y="3433"/>
                <a:ext cx="126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  <p:sp>
            <p:nvSpPr>
              <p:cNvPr id="25662" name="Line 83"/>
              <p:cNvSpPr>
                <a:spLocks noChangeShapeType="1"/>
              </p:cNvSpPr>
              <p:nvPr/>
            </p:nvSpPr>
            <p:spPr bwMode="auto">
              <a:xfrm>
                <a:off x="1812" y="3438"/>
                <a:ext cx="131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</p:grpSp>
        <p:sp>
          <p:nvSpPr>
            <p:cNvPr id="25646" name="Oval 84"/>
            <p:cNvSpPr>
              <a:spLocks noChangeArrowheads="1"/>
            </p:cNvSpPr>
            <p:nvPr/>
          </p:nvSpPr>
          <p:spPr bwMode="auto">
            <a:xfrm>
              <a:off x="1383" y="2631"/>
              <a:ext cx="329" cy="27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55</a:t>
              </a:r>
            </a:p>
          </p:txBody>
        </p:sp>
        <p:sp>
          <p:nvSpPr>
            <p:cNvPr id="25647" name="Line 85"/>
            <p:cNvSpPr>
              <a:spLocks noChangeShapeType="1"/>
            </p:cNvSpPr>
            <p:nvPr/>
          </p:nvSpPr>
          <p:spPr bwMode="auto">
            <a:xfrm flipH="1">
              <a:off x="1161" y="2885"/>
              <a:ext cx="27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48" name="Line 86"/>
            <p:cNvSpPr>
              <a:spLocks noChangeShapeType="1"/>
            </p:cNvSpPr>
            <p:nvPr/>
          </p:nvSpPr>
          <p:spPr bwMode="auto">
            <a:xfrm>
              <a:off x="1656" y="2853"/>
              <a:ext cx="306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49" name="Text Box 87"/>
            <p:cNvSpPr txBox="1">
              <a:spLocks noChangeArrowheads="1"/>
            </p:cNvSpPr>
            <p:nvPr/>
          </p:nvSpPr>
          <p:spPr bwMode="auto">
            <a:xfrm>
              <a:off x="1076" y="2769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50" name="Text Box 88"/>
            <p:cNvSpPr txBox="1">
              <a:spLocks noChangeArrowheads="1"/>
            </p:cNvSpPr>
            <p:nvPr/>
          </p:nvSpPr>
          <p:spPr bwMode="auto">
            <a:xfrm>
              <a:off x="718" y="3175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51" name="Text Box 89"/>
            <p:cNvSpPr txBox="1">
              <a:spLocks noChangeArrowheads="1"/>
            </p:cNvSpPr>
            <p:nvPr/>
          </p:nvSpPr>
          <p:spPr bwMode="auto">
            <a:xfrm>
              <a:off x="1695" y="3165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52" name="Text Box 90"/>
            <p:cNvSpPr txBox="1">
              <a:spLocks noChangeArrowheads="1"/>
            </p:cNvSpPr>
            <p:nvPr/>
          </p:nvSpPr>
          <p:spPr bwMode="auto">
            <a:xfrm>
              <a:off x="1452" y="3548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53" name="Text Box 91"/>
            <p:cNvSpPr txBox="1">
              <a:spLocks noChangeArrowheads="1"/>
            </p:cNvSpPr>
            <p:nvPr/>
          </p:nvSpPr>
          <p:spPr bwMode="auto">
            <a:xfrm>
              <a:off x="1702" y="2739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654" name="Text Box 92"/>
            <p:cNvSpPr txBox="1">
              <a:spLocks noChangeArrowheads="1"/>
            </p:cNvSpPr>
            <p:nvPr/>
          </p:nvSpPr>
          <p:spPr bwMode="auto">
            <a:xfrm>
              <a:off x="2132" y="3169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/>
                <a:t>1</a:t>
              </a:r>
            </a:p>
          </p:txBody>
        </p:sp>
        <p:sp>
          <p:nvSpPr>
            <p:cNvPr id="25655" name="Text Box 93"/>
            <p:cNvSpPr txBox="1">
              <a:spLocks noChangeArrowheads="1"/>
            </p:cNvSpPr>
            <p:nvPr/>
          </p:nvSpPr>
          <p:spPr bwMode="auto">
            <a:xfrm>
              <a:off x="1132" y="3182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656" name="Text Box 94"/>
            <p:cNvSpPr txBox="1">
              <a:spLocks noChangeArrowheads="1"/>
            </p:cNvSpPr>
            <p:nvPr/>
          </p:nvSpPr>
          <p:spPr bwMode="auto">
            <a:xfrm>
              <a:off x="1886" y="3559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</p:grpSp>
      <p:grpSp>
        <p:nvGrpSpPr>
          <p:cNvPr id="15" name="Group 95"/>
          <p:cNvGrpSpPr>
            <a:grpSpLocks/>
          </p:cNvGrpSpPr>
          <p:nvPr/>
        </p:nvGrpSpPr>
        <p:grpSpPr bwMode="auto">
          <a:xfrm>
            <a:off x="2666814" y="2062527"/>
            <a:ext cx="1629542" cy="1339010"/>
            <a:chOff x="3332" y="2575"/>
            <a:chExt cx="2036" cy="1673"/>
          </a:xfrm>
        </p:grpSpPr>
        <p:grpSp>
          <p:nvGrpSpPr>
            <p:cNvPr id="16" name="Group 96"/>
            <p:cNvGrpSpPr>
              <a:grpSpLocks/>
            </p:cNvGrpSpPr>
            <p:nvPr/>
          </p:nvGrpSpPr>
          <p:grpSpPr bwMode="auto">
            <a:xfrm>
              <a:off x="3567" y="3276"/>
              <a:ext cx="1801" cy="972"/>
              <a:chOff x="335" y="3180"/>
              <a:chExt cx="1801" cy="972"/>
            </a:xfrm>
          </p:grpSpPr>
          <p:grpSp>
            <p:nvGrpSpPr>
              <p:cNvPr id="17" name="Group 97"/>
              <p:cNvGrpSpPr>
                <a:grpSpLocks/>
              </p:cNvGrpSpPr>
              <p:nvPr/>
            </p:nvGrpSpPr>
            <p:grpSpPr bwMode="auto">
              <a:xfrm>
                <a:off x="1087" y="3557"/>
                <a:ext cx="820" cy="595"/>
                <a:chOff x="109" y="1602"/>
                <a:chExt cx="820" cy="595"/>
              </a:xfrm>
            </p:grpSpPr>
            <p:sp>
              <p:nvSpPr>
                <p:cNvPr id="25639" name="Rectangle 98"/>
                <p:cNvSpPr>
                  <a:spLocks noChangeArrowheads="1"/>
                </p:cNvSpPr>
                <p:nvPr/>
              </p:nvSpPr>
              <p:spPr bwMode="auto">
                <a:xfrm>
                  <a:off x="109" y="1986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f: 5</a:t>
                  </a:r>
                </a:p>
              </p:txBody>
            </p:sp>
            <p:sp>
              <p:nvSpPr>
                <p:cNvPr id="25640" name="Rectangle 99"/>
                <p:cNvSpPr>
                  <a:spLocks noChangeArrowheads="1"/>
                </p:cNvSpPr>
                <p:nvPr/>
              </p:nvSpPr>
              <p:spPr bwMode="auto">
                <a:xfrm>
                  <a:off x="537" y="1986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e: 9</a:t>
                  </a:r>
                </a:p>
              </p:txBody>
            </p:sp>
            <p:sp>
              <p:nvSpPr>
                <p:cNvPr id="25641" name="Oval 100"/>
                <p:cNvSpPr>
                  <a:spLocks noChangeArrowheads="1"/>
                </p:cNvSpPr>
                <p:nvPr/>
              </p:nvSpPr>
              <p:spPr bwMode="auto">
                <a:xfrm>
                  <a:off x="353" y="1602"/>
                  <a:ext cx="329" cy="275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14</a:t>
                  </a:r>
                </a:p>
              </p:txBody>
            </p:sp>
            <p:sp>
              <p:nvSpPr>
                <p:cNvPr id="25642" name="Line 101"/>
                <p:cNvSpPr>
                  <a:spLocks noChangeShapeType="1"/>
                </p:cNvSpPr>
                <p:nvPr/>
              </p:nvSpPr>
              <p:spPr bwMode="auto">
                <a:xfrm flipH="1">
                  <a:off x="317" y="1855"/>
                  <a:ext cx="126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  <p:sp>
              <p:nvSpPr>
                <p:cNvPr id="25643" name="Line 102"/>
                <p:cNvSpPr>
                  <a:spLocks noChangeShapeType="1"/>
                </p:cNvSpPr>
                <p:nvPr/>
              </p:nvSpPr>
              <p:spPr bwMode="auto">
                <a:xfrm>
                  <a:off x="605" y="1860"/>
                  <a:ext cx="131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</p:grpSp>
          <p:grpSp>
            <p:nvGrpSpPr>
              <p:cNvPr id="18" name="Group 103"/>
              <p:cNvGrpSpPr>
                <a:grpSpLocks/>
              </p:cNvGrpSpPr>
              <p:nvPr/>
            </p:nvGrpSpPr>
            <p:grpSpPr bwMode="auto">
              <a:xfrm>
                <a:off x="335" y="3188"/>
                <a:ext cx="820" cy="600"/>
                <a:chOff x="1260" y="1602"/>
                <a:chExt cx="820" cy="600"/>
              </a:xfrm>
            </p:grpSpPr>
            <p:sp>
              <p:nvSpPr>
                <p:cNvPr id="25634" name="Rectangle 104"/>
                <p:cNvSpPr>
                  <a:spLocks noChangeArrowheads="1"/>
                </p:cNvSpPr>
                <p:nvPr/>
              </p:nvSpPr>
              <p:spPr bwMode="auto">
                <a:xfrm>
                  <a:off x="1260" y="1991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c: 12</a:t>
                  </a:r>
                </a:p>
              </p:txBody>
            </p:sp>
            <p:sp>
              <p:nvSpPr>
                <p:cNvPr id="25635" name="Rectangle 105"/>
                <p:cNvSpPr>
                  <a:spLocks noChangeArrowheads="1"/>
                </p:cNvSpPr>
                <p:nvPr/>
              </p:nvSpPr>
              <p:spPr bwMode="auto">
                <a:xfrm>
                  <a:off x="1688" y="1991"/>
                  <a:ext cx="392" cy="211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b: 13</a:t>
                  </a:r>
                </a:p>
              </p:txBody>
            </p:sp>
            <p:sp>
              <p:nvSpPr>
                <p:cNvPr id="25636" name="Oval 106"/>
                <p:cNvSpPr>
                  <a:spLocks noChangeArrowheads="1"/>
                </p:cNvSpPr>
                <p:nvPr/>
              </p:nvSpPr>
              <p:spPr bwMode="auto">
                <a:xfrm>
                  <a:off x="1504" y="1602"/>
                  <a:ext cx="329" cy="275"/>
                </a:xfrm>
                <a:prstGeom prst="ellipse">
                  <a:avLst/>
                </a:prstGeom>
                <a:noFill/>
                <a:ln w="12700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>
                  <a:lvl1pPr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eaLnBrk="0" hangingPunct="0"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/>
                  <a:r>
                    <a:rPr lang="en-US" sz="908"/>
                    <a:t>25</a:t>
                  </a:r>
                </a:p>
              </p:txBody>
            </p:sp>
            <p:sp>
              <p:nvSpPr>
                <p:cNvPr id="25637" name="Line 107"/>
                <p:cNvSpPr>
                  <a:spLocks noChangeShapeType="1"/>
                </p:cNvSpPr>
                <p:nvPr/>
              </p:nvSpPr>
              <p:spPr bwMode="auto">
                <a:xfrm flipH="1">
                  <a:off x="1468" y="1860"/>
                  <a:ext cx="126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  <p:sp>
              <p:nvSpPr>
                <p:cNvPr id="25638" name="Line 108"/>
                <p:cNvSpPr>
                  <a:spLocks noChangeShapeType="1"/>
                </p:cNvSpPr>
                <p:nvPr/>
              </p:nvSpPr>
              <p:spPr bwMode="auto">
                <a:xfrm>
                  <a:off x="1756" y="1865"/>
                  <a:ext cx="131" cy="126"/>
                </a:xfrm>
                <a:prstGeom prst="line">
                  <a:avLst/>
                </a:prstGeom>
                <a:noFill/>
                <a:ln w="952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en-US" sz="908"/>
                </a:p>
              </p:txBody>
            </p:sp>
          </p:grpSp>
          <p:sp>
            <p:nvSpPr>
              <p:cNvPr id="25630" name="Rectangle 109"/>
              <p:cNvSpPr>
                <a:spLocks noChangeArrowheads="1"/>
              </p:cNvSpPr>
              <p:nvPr/>
            </p:nvSpPr>
            <p:spPr bwMode="auto">
              <a:xfrm>
                <a:off x="1744" y="3564"/>
                <a:ext cx="392" cy="211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d: 16</a:t>
                </a:r>
              </a:p>
            </p:txBody>
          </p:sp>
          <p:sp>
            <p:nvSpPr>
              <p:cNvPr id="25631" name="Oval 110"/>
              <p:cNvSpPr>
                <a:spLocks noChangeArrowheads="1"/>
              </p:cNvSpPr>
              <p:nvPr/>
            </p:nvSpPr>
            <p:spPr bwMode="auto">
              <a:xfrm>
                <a:off x="1560" y="3180"/>
                <a:ext cx="329" cy="275"/>
              </a:xfrm>
              <a:prstGeom prst="ellips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/>
                <a:r>
                  <a:rPr lang="en-US" sz="908"/>
                  <a:t>30</a:t>
                </a:r>
              </a:p>
            </p:txBody>
          </p:sp>
          <p:sp>
            <p:nvSpPr>
              <p:cNvPr id="25632" name="Line 111"/>
              <p:cNvSpPr>
                <a:spLocks noChangeShapeType="1"/>
              </p:cNvSpPr>
              <p:nvPr/>
            </p:nvSpPr>
            <p:spPr bwMode="auto">
              <a:xfrm flipH="1">
                <a:off x="1524" y="3433"/>
                <a:ext cx="126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  <p:sp>
            <p:nvSpPr>
              <p:cNvPr id="25633" name="Line 112"/>
              <p:cNvSpPr>
                <a:spLocks noChangeShapeType="1"/>
              </p:cNvSpPr>
              <p:nvPr/>
            </p:nvSpPr>
            <p:spPr bwMode="auto">
              <a:xfrm>
                <a:off x="1812" y="3438"/>
                <a:ext cx="131" cy="12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sz="908"/>
              </a:p>
            </p:txBody>
          </p:sp>
        </p:grpSp>
        <p:sp>
          <p:nvSpPr>
            <p:cNvPr id="25611" name="Oval 113"/>
            <p:cNvSpPr>
              <a:spLocks noChangeArrowheads="1"/>
            </p:cNvSpPr>
            <p:nvPr/>
          </p:nvSpPr>
          <p:spPr bwMode="auto">
            <a:xfrm>
              <a:off x="4287" y="2871"/>
              <a:ext cx="329" cy="27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55</a:t>
              </a:r>
            </a:p>
          </p:txBody>
        </p:sp>
        <p:sp>
          <p:nvSpPr>
            <p:cNvPr id="25612" name="Line 114"/>
            <p:cNvSpPr>
              <a:spLocks noChangeShapeType="1"/>
            </p:cNvSpPr>
            <p:nvPr/>
          </p:nvSpPr>
          <p:spPr bwMode="auto">
            <a:xfrm flipH="1">
              <a:off x="4065" y="3125"/>
              <a:ext cx="270" cy="1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13" name="Line 115"/>
            <p:cNvSpPr>
              <a:spLocks noChangeShapeType="1"/>
            </p:cNvSpPr>
            <p:nvPr/>
          </p:nvSpPr>
          <p:spPr bwMode="auto">
            <a:xfrm>
              <a:off x="4560" y="3093"/>
              <a:ext cx="306" cy="20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14" name="Rectangle 116"/>
            <p:cNvSpPr>
              <a:spLocks noChangeArrowheads="1"/>
            </p:cNvSpPr>
            <p:nvPr/>
          </p:nvSpPr>
          <p:spPr bwMode="auto">
            <a:xfrm>
              <a:off x="3332" y="2888"/>
              <a:ext cx="392" cy="211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a: 45</a:t>
              </a:r>
            </a:p>
          </p:txBody>
        </p:sp>
        <p:sp>
          <p:nvSpPr>
            <p:cNvPr id="25615" name="Oval 117"/>
            <p:cNvSpPr>
              <a:spLocks noChangeArrowheads="1"/>
            </p:cNvSpPr>
            <p:nvPr/>
          </p:nvSpPr>
          <p:spPr bwMode="auto">
            <a:xfrm>
              <a:off x="3876" y="2575"/>
              <a:ext cx="329" cy="275"/>
            </a:xfrm>
            <a:prstGeom prst="ellips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/>
              <a:r>
                <a:rPr lang="en-US" sz="908"/>
                <a:t>100</a:t>
              </a:r>
            </a:p>
          </p:txBody>
        </p:sp>
        <p:sp>
          <p:nvSpPr>
            <p:cNvPr id="25616" name="Line 118"/>
            <p:cNvSpPr>
              <a:spLocks noChangeShapeType="1"/>
            </p:cNvSpPr>
            <p:nvPr/>
          </p:nvSpPr>
          <p:spPr bwMode="auto">
            <a:xfrm flipH="1">
              <a:off x="3576" y="2781"/>
              <a:ext cx="320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17" name="Line 119"/>
            <p:cNvSpPr>
              <a:spLocks noChangeShapeType="1"/>
            </p:cNvSpPr>
            <p:nvPr/>
          </p:nvSpPr>
          <p:spPr bwMode="auto">
            <a:xfrm>
              <a:off x="4185" y="2777"/>
              <a:ext cx="270" cy="9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908"/>
            </a:p>
          </p:txBody>
        </p:sp>
        <p:sp>
          <p:nvSpPr>
            <p:cNvPr id="25618" name="Text Box 120"/>
            <p:cNvSpPr txBox="1">
              <a:spLocks noChangeArrowheads="1"/>
            </p:cNvSpPr>
            <p:nvPr/>
          </p:nvSpPr>
          <p:spPr bwMode="auto">
            <a:xfrm>
              <a:off x="3559" y="2614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19" name="Text Box 121"/>
            <p:cNvSpPr txBox="1">
              <a:spLocks noChangeArrowheads="1"/>
            </p:cNvSpPr>
            <p:nvPr/>
          </p:nvSpPr>
          <p:spPr bwMode="auto">
            <a:xfrm>
              <a:off x="4006" y="2983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20" name="Text Box 122"/>
            <p:cNvSpPr txBox="1">
              <a:spLocks noChangeArrowheads="1"/>
            </p:cNvSpPr>
            <p:nvPr/>
          </p:nvSpPr>
          <p:spPr bwMode="auto">
            <a:xfrm>
              <a:off x="3620" y="3431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/>
                <a:t>0</a:t>
              </a:r>
            </a:p>
          </p:txBody>
        </p:sp>
        <p:sp>
          <p:nvSpPr>
            <p:cNvPr id="25621" name="Text Box 123"/>
            <p:cNvSpPr txBox="1">
              <a:spLocks noChangeArrowheads="1"/>
            </p:cNvSpPr>
            <p:nvPr/>
          </p:nvSpPr>
          <p:spPr bwMode="auto">
            <a:xfrm>
              <a:off x="4603" y="3411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/>
                <a:t>0</a:t>
              </a:r>
            </a:p>
          </p:txBody>
        </p:sp>
        <p:sp>
          <p:nvSpPr>
            <p:cNvPr id="25622" name="Text Box 124"/>
            <p:cNvSpPr txBox="1">
              <a:spLocks noChangeArrowheads="1"/>
            </p:cNvSpPr>
            <p:nvPr/>
          </p:nvSpPr>
          <p:spPr bwMode="auto">
            <a:xfrm>
              <a:off x="4373" y="3784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0</a:t>
              </a:r>
            </a:p>
          </p:txBody>
        </p:sp>
        <p:sp>
          <p:nvSpPr>
            <p:cNvPr id="25623" name="Text Box 125"/>
            <p:cNvSpPr txBox="1">
              <a:spLocks noChangeArrowheads="1"/>
            </p:cNvSpPr>
            <p:nvPr/>
          </p:nvSpPr>
          <p:spPr bwMode="auto">
            <a:xfrm>
              <a:off x="4197" y="2604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624" name="Text Box 126"/>
            <p:cNvSpPr txBox="1">
              <a:spLocks noChangeArrowheads="1"/>
            </p:cNvSpPr>
            <p:nvPr/>
          </p:nvSpPr>
          <p:spPr bwMode="auto">
            <a:xfrm>
              <a:off x="4576" y="2982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625" name="Text Box 127"/>
            <p:cNvSpPr txBox="1">
              <a:spLocks noChangeArrowheads="1"/>
            </p:cNvSpPr>
            <p:nvPr/>
          </p:nvSpPr>
          <p:spPr bwMode="auto">
            <a:xfrm>
              <a:off x="5014" y="3407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  <p:sp>
          <p:nvSpPr>
            <p:cNvPr id="25626" name="Text Box 128"/>
            <p:cNvSpPr txBox="1">
              <a:spLocks noChangeArrowheads="1"/>
            </p:cNvSpPr>
            <p:nvPr/>
          </p:nvSpPr>
          <p:spPr bwMode="auto">
            <a:xfrm>
              <a:off x="4034" y="3433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/>
                <a:t>1</a:t>
              </a:r>
            </a:p>
          </p:txBody>
        </p:sp>
        <p:sp>
          <p:nvSpPr>
            <p:cNvPr id="25627" name="Text Box 129"/>
            <p:cNvSpPr txBox="1">
              <a:spLocks noChangeArrowheads="1"/>
            </p:cNvSpPr>
            <p:nvPr/>
          </p:nvSpPr>
          <p:spPr bwMode="auto">
            <a:xfrm>
              <a:off x="4784" y="3802"/>
              <a:ext cx="311" cy="29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/>
              <a:r>
                <a:rPr lang="en-US" sz="908" dirty="0"/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813964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21015"/>
            <a:ext cx="4608195" cy="276999"/>
          </a:xfrm>
        </p:spPr>
        <p:txBody>
          <a:bodyPr/>
          <a:lstStyle/>
          <a:p>
            <a:r>
              <a:rPr lang="en-US" sz="1800" dirty="0">
                <a:solidFill>
                  <a:schemeClr val="tx1"/>
                </a:solidFill>
              </a:rPr>
              <a:t>Huffman encoding/decoding using Huffman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351" y="496295"/>
            <a:ext cx="4512945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/>
              <a:t>Encoding:</a:t>
            </a:r>
          </a:p>
          <a:p>
            <a:pPr algn="just">
              <a:spcBef>
                <a:spcPts val="600"/>
              </a:spcBef>
              <a:buFont typeface="Arial" charset="0"/>
              <a:buChar char="•"/>
            </a:pPr>
            <a:r>
              <a:rPr lang="en-US" sz="1200" dirty="0"/>
              <a:t> Construct Huffman tree using the previous algorithm </a:t>
            </a:r>
          </a:p>
          <a:p>
            <a:pPr algn="just">
              <a:spcBef>
                <a:spcPts val="600"/>
              </a:spcBef>
              <a:buFont typeface="Arial" charset="0"/>
              <a:buChar char="•"/>
            </a:pPr>
            <a:r>
              <a:rPr lang="en-US" sz="1200" dirty="0"/>
              <a:t> Traverse the Huffman tree to assign a code to each leaf (representing an input character )</a:t>
            </a:r>
          </a:p>
          <a:p>
            <a:pPr algn="just">
              <a:spcBef>
                <a:spcPts val="600"/>
              </a:spcBef>
              <a:buFont typeface="Arial" charset="0"/>
              <a:buChar char="•"/>
            </a:pPr>
            <a:r>
              <a:rPr lang="en-US" sz="1200" dirty="0"/>
              <a:t> Use these codes to encode the file</a:t>
            </a:r>
          </a:p>
          <a:p>
            <a:pPr algn="just">
              <a:buFont typeface="Arial" charset="0"/>
              <a:buChar char="•"/>
            </a:pPr>
            <a:endParaRPr lang="en-US" sz="1200" dirty="0"/>
          </a:p>
          <a:p>
            <a:pPr algn="just"/>
            <a:r>
              <a:rPr lang="en-US" sz="1400" b="1" dirty="0"/>
              <a:t>Decoding:</a:t>
            </a:r>
          </a:p>
          <a:p>
            <a:pPr algn="just">
              <a:spcBef>
                <a:spcPts val="600"/>
              </a:spcBef>
              <a:buFont typeface="Arial" charset="0"/>
              <a:buChar char="•"/>
            </a:pPr>
            <a:r>
              <a:rPr lang="en-US" sz="1200" dirty="0"/>
              <a:t> Construct Huffman tree using the previous algorithm </a:t>
            </a:r>
          </a:p>
          <a:p>
            <a:pPr algn="just">
              <a:spcBef>
                <a:spcPts val="600"/>
              </a:spcBef>
              <a:buFont typeface="Arial" charset="0"/>
              <a:buChar char="•"/>
            </a:pPr>
            <a:r>
              <a:rPr lang="en-US" sz="1200" dirty="0"/>
              <a:t> Traverse the Huffman tree according to the bits you encounter until you reach a leaf node at which point you output the character represented by that leaf node. </a:t>
            </a:r>
          </a:p>
          <a:p>
            <a:pPr algn="just">
              <a:spcBef>
                <a:spcPts val="600"/>
              </a:spcBef>
              <a:buFont typeface="Arial" charset="0"/>
              <a:buChar char="•"/>
            </a:pPr>
            <a:r>
              <a:rPr lang="en-US" sz="1200" dirty="0"/>
              <a:t> Continue in this fashion until all the bits in the file are read.</a:t>
            </a:r>
          </a:p>
          <a:p>
            <a:pPr algn="just"/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3300227051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Problem </a:t>
            </a:r>
            <a:r>
              <a:rPr sz="1400" spc="-15" dirty="0">
                <a:solidFill>
                  <a:srgbClr val="FFFFFF"/>
                </a:solidFill>
                <a:latin typeface="Calibri"/>
                <a:cs typeface="Calibri"/>
              </a:rPr>
              <a:t>types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solved </a:t>
            </a: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by greedy</a:t>
            </a:r>
            <a:r>
              <a:rPr sz="1400" spc="-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algorithms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07" y="587375"/>
            <a:ext cx="4414823" cy="23622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95250" y="1120775"/>
            <a:ext cx="4196419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281360" y="1555061"/>
            <a:ext cx="4196419" cy="5563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247650" y="2157627"/>
            <a:ext cx="4196419" cy="78491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4936251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6" grpId="0" animBg="1"/>
      <p:bldP spid="17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0" y="123591"/>
            <a:ext cx="4608004" cy="2606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0" y="121015"/>
            <a:ext cx="460819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67005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Conclusion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0" y="381711"/>
            <a:ext cx="4608004" cy="5060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40" dirty="0"/>
              <a:t>Licensed</a:t>
            </a:r>
            <a:r>
              <a:rPr spc="5" dirty="0"/>
              <a:t> </a:t>
            </a:r>
            <a:r>
              <a:rPr spc="-30" dirty="0"/>
              <a:t>under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pc="-25" dirty="0"/>
              <a:t>CSE </a:t>
            </a:r>
            <a:r>
              <a:rPr spc="-10" dirty="0"/>
              <a:t>221:</a:t>
            </a:r>
            <a:r>
              <a:rPr spc="5" dirty="0"/>
              <a:t> </a:t>
            </a:r>
            <a:r>
              <a:rPr spc="-25" dirty="0"/>
              <a:t>Algorithms</a:t>
            </a:r>
          </a:p>
        </p:txBody>
      </p:sp>
      <p:sp>
        <p:nvSpPr>
          <p:cNvPr id="24" name="object 24"/>
          <p:cNvSpPr txBox="1"/>
          <p:nvPr/>
        </p:nvSpPr>
        <p:spPr>
          <a:xfrm>
            <a:off x="4250937" y="3318070"/>
            <a:ext cx="262255" cy="134620"/>
          </a:xfrm>
          <a:prstGeom prst="rect">
            <a:avLst/>
          </a:prstGeom>
        </p:spPr>
        <p:txBody>
          <a:bodyPr vert="horz" wrap="square" lIns="0" tIns="222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5"/>
              </a:spcBef>
            </a:pP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r>
              <a:rPr sz="600" b="1" spc="-9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160" dirty="0">
                <a:solidFill>
                  <a:srgbClr val="FFFFFF"/>
                </a:solidFill>
                <a:latin typeface="Arial"/>
                <a:cs typeface="Arial"/>
              </a:rPr>
              <a:t>/</a:t>
            </a:r>
            <a:r>
              <a:rPr sz="600" b="1" spc="-9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600" b="1" spc="-5" dirty="0">
                <a:solidFill>
                  <a:srgbClr val="FFFFFF"/>
                </a:solidFill>
                <a:latin typeface="Arial"/>
                <a:cs typeface="Arial"/>
              </a:rPr>
              <a:t>38</a:t>
            </a:r>
            <a:endParaRPr sz="600">
              <a:latin typeface="Arial"/>
              <a:cs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52" y="507036"/>
            <a:ext cx="4418299" cy="2811034"/>
          </a:xfrm>
          <a:prstGeom prst="rect">
            <a:avLst/>
          </a:prstGeom>
        </p:spPr>
      </p:pic>
      <p:sp>
        <p:nvSpPr>
          <p:cNvPr id="21" name="Rectangle 20"/>
          <p:cNvSpPr/>
          <p:nvPr/>
        </p:nvSpPr>
        <p:spPr>
          <a:xfrm>
            <a:off x="94811" y="968375"/>
            <a:ext cx="4418340" cy="381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/>
          <p:cNvSpPr/>
          <p:nvPr/>
        </p:nvSpPr>
        <p:spPr>
          <a:xfrm>
            <a:off x="95250" y="1405646"/>
            <a:ext cx="4196419" cy="5533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/>
          <p:cNvSpPr/>
          <p:nvPr/>
        </p:nvSpPr>
        <p:spPr>
          <a:xfrm>
            <a:off x="96722" y="1941702"/>
            <a:ext cx="4196419" cy="3021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/>
          <p:cNvSpPr/>
          <p:nvPr/>
        </p:nvSpPr>
        <p:spPr>
          <a:xfrm>
            <a:off x="95250" y="2294566"/>
            <a:ext cx="4267200" cy="35020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/>
          <p:cNvSpPr/>
          <p:nvPr/>
        </p:nvSpPr>
        <p:spPr>
          <a:xfrm>
            <a:off x="95249" y="2733010"/>
            <a:ext cx="4417901" cy="5850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94485"/>
      </p:ext>
    </p:extLst>
  </p:cSld>
  <p:clrMapOvr>
    <a:masterClrMapping/>
  </p:clrMapOvr>
  <p:transition>
    <p:cut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5" grpId="0" animBg="1"/>
      <p:bldP spid="26" grpId="0" animBg="1"/>
      <p:bldP spid="27" grpId="0" animBg="1"/>
      <p:bldP spid="28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851</TotalTime>
  <Words>5850</Words>
  <Application>Microsoft Office PowerPoint</Application>
  <PresentationFormat>Custom</PresentationFormat>
  <Paragraphs>1370</Paragraphs>
  <Slides>95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95</vt:i4>
      </vt:variant>
    </vt:vector>
  </HeadingPairs>
  <TitlesOfParts>
    <vt:vector size="108" baseType="lpstr">
      <vt:lpstr>Arial</vt:lpstr>
      <vt:lpstr>Calibri</vt:lpstr>
      <vt:lpstr>Calibri Light</vt:lpstr>
      <vt:lpstr>Comic Sans MS</vt:lpstr>
      <vt:lpstr>Courier New</vt:lpstr>
      <vt:lpstr>Lucida Sans Unicode</vt:lpstr>
      <vt:lpstr>Monotype Corsiva</vt:lpstr>
      <vt:lpstr>Symbol</vt:lpstr>
      <vt:lpstr>Tahoma</vt:lpstr>
      <vt:lpstr>Times New Roman</vt:lpstr>
      <vt:lpstr>Trebuchet MS</vt:lpstr>
      <vt:lpstr>Verdana</vt:lpstr>
      <vt:lpstr>Office Theme</vt:lpstr>
      <vt:lpstr>PowerPoint Presentation</vt:lpstr>
      <vt:lpstr>Types of Computational Problems</vt:lpstr>
      <vt:lpstr>Types of Computational Problems</vt:lpstr>
      <vt:lpstr>Types of Computational Problems</vt:lpstr>
      <vt:lpstr>Types of Computational Problems</vt:lpstr>
      <vt:lpstr>  Greedy Algorithm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Designing a greedy algorithm 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Designing a greedy algorithm (continued)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Extension: weighted interval scheduling problem</vt:lpstr>
      <vt:lpstr>Extension: weighted interval scheduling problem</vt:lpstr>
      <vt:lpstr>Extension: weighted interval scheduling problem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Coin changing problem (continued) Coin denominations, C = {12, 5, 1} Amount to change, A = 15  Example (using greedy strategy)</vt:lpstr>
      <vt:lpstr>Coin changing problem (continued)</vt:lpstr>
      <vt:lpstr>Coin changing problem (continued)</vt:lpstr>
      <vt:lpstr>Coin changing problem (continued)</vt:lpstr>
      <vt:lpstr>Coin changing problem (continued)</vt:lpstr>
      <vt:lpstr>Coin changing problem (continued)</vt:lpstr>
      <vt:lpstr>Coin changing problem (continued)</vt:lpstr>
      <vt:lpstr>Coin changing problem (continued)</vt:lpstr>
      <vt:lpstr>Coin changing problem (continued)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The Fractional Knapsack Problem</vt:lpstr>
      <vt:lpstr>PowerPoint Presentation</vt:lpstr>
      <vt:lpstr>The Fractional Knapsack Algorithm</vt:lpstr>
      <vt:lpstr>Extension: 0/1 knapsack problem</vt:lpstr>
      <vt:lpstr>Huffman Codes</vt:lpstr>
      <vt:lpstr>Fixed-Length Codes</vt:lpstr>
      <vt:lpstr>Huffman Codes</vt:lpstr>
      <vt:lpstr>Variable-Length Codes</vt:lpstr>
      <vt:lpstr>Prefix Codes</vt:lpstr>
      <vt:lpstr>Encoding with Binary Character Codes</vt:lpstr>
      <vt:lpstr>Decoding with Binary Character Codes</vt:lpstr>
      <vt:lpstr>Constructing a Huffman Code</vt:lpstr>
      <vt:lpstr>Constructing a Huffman tree</vt:lpstr>
      <vt:lpstr>Example</vt:lpstr>
      <vt:lpstr>Example</vt:lpstr>
      <vt:lpstr>Huffman encoding/decoding using Huffman tree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 221: Algorithms - Greedy algorithms</dc:title>
  <dc:subject>CSE 221: Algorithms</dc:subject>
  <dc:creator>Mumit Khan Fatema Tuz Zohora</dc:creator>
  <cp:lastModifiedBy>CSE</cp:lastModifiedBy>
  <cp:revision>174</cp:revision>
  <dcterms:created xsi:type="dcterms:W3CDTF">2019-03-02T14:10:43Z</dcterms:created>
  <dcterms:modified xsi:type="dcterms:W3CDTF">2024-03-29T04:36:06Z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2012-11-13T00:00:00Z</vt:filetime>
  </property>
  <property fmtid="{D5CDD505-2E9C-101B-9397-08002B2CF9AE}" pid="3" name="Creator">
    <vt:lpwstr>LaTeX with Beamer class version 3.22</vt:lpwstr>
  </property>
  <property fmtid="{D5CDD505-2E9C-101B-9397-08002B2CF9AE}" pid="4" name="LastSaved">
    <vt:filetime>2019-03-02T00:00:00Z</vt:filetime>
  </property>
</Properties>
</file>