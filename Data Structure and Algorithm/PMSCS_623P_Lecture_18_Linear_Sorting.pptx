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handoutMasterIdLst>
    <p:handoutMasterId r:id="rId39"/>
  </p:handoutMasterIdLst>
  <p:sldIdLst>
    <p:sldId id="401" r:id="rId2"/>
    <p:sldId id="304" r:id="rId3"/>
    <p:sldId id="305" r:id="rId4"/>
    <p:sldId id="306" r:id="rId5"/>
    <p:sldId id="375" r:id="rId6"/>
    <p:sldId id="376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89" r:id="rId20"/>
    <p:sldId id="402" r:id="rId21"/>
    <p:sldId id="390" r:id="rId22"/>
    <p:sldId id="397" r:id="rId23"/>
    <p:sldId id="391" r:id="rId24"/>
    <p:sldId id="392" r:id="rId25"/>
    <p:sldId id="393" r:id="rId26"/>
    <p:sldId id="399" r:id="rId27"/>
    <p:sldId id="361" r:id="rId28"/>
    <p:sldId id="400" r:id="rId29"/>
    <p:sldId id="339" r:id="rId30"/>
    <p:sldId id="340" r:id="rId31"/>
    <p:sldId id="341" r:id="rId32"/>
    <p:sldId id="342" r:id="rId33"/>
    <p:sldId id="343" r:id="rId34"/>
    <p:sldId id="344" r:id="rId35"/>
    <p:sldId id="368" r:id="rId36"/>
    <p:sldId id="369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2808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38D7B-3A73-43B1-8F29-310C76B1479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A094A-2649-44AB-A21A-A594A73715B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013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DC18B-F509-4EE9-8436-784C53AC2096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56690-4438-4DCE-A483-169399E744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532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/>
              <a:t>Lecture 01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15C16-6D65-4274-9E56-F37AC991E97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02ED9-9E9E-45A8-8E25-C696696CDDD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1319-0F46-42E2-A620-BBF200A30A7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B3CF-5237-4476-B3AB-D9F7CE09BB7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8C4D7-1140-4747-B079-589D6C9CD3C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5721-BD3F-45BB-BC02-E32BE4E6DE2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1684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9C774-F069-44A0-AE59-BD5C361A2E9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80747-9743-479A-867C-94A223CEA55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9060-47CA-4D39-B451-F208D8E1021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531F-6A33-440C-AE57-03C9C20E719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76B4F18A-0B99-496E-9733-98986E80F74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F65E6-D5D1-41C3-AA6B-10147E3E004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3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17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0.png"/><Relationship Id="rId10" Type="http://schemas.openxmlformats.org/officeDocument/2006/relationships/image" Target="../media/image29.png"/><Relationship Id="rId4" Type="http://schemas.openxmlformats.org/officeDocument/2006/relationships/image" Target="../media/image17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1.png"/><Relationship Id="rId10" Type="http://schemas.openxmlformats.org/officeDocument/2006/relationships/image" Target="../media/image29.png"/><Relationship Id="rId4" Type="http://schemas.openxmlformats.org/officeDocument/2006/relationships/image" Target="../media/image17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32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33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17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35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6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5.png"/><Relationship Id="rId7" Type="http://schemas.openxmlformats.org/officeDocument/2006/relationships/image" Target="../media/image3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17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5.png"/><Relationship Id="rId7" Type="http://schemas.openxmlformats.org/officeDocument/2006/relationships/image" Target="../media/image3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43.png"/><Relationship Id="rId10" Type="http://schemas.openxmlformats.org/officeDocument/2006/relationships/image" Target="../media/image42.png"/><Relationship Id="rId4" Type="http://schemas.openxmlformats.org/officeDocument/2006/relationships/image" Target="../media/image17.png"/><Relationship Id="rId9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5.png"/><Relationship Id="rId7" Type="http://schemas.openxmlformats.org/officeDocument/2006/relationships/image" Target="../media/image3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44.png"/><Relationship Id="rId10" Type="http://schemas.openxmlformats.org/officeDocument/2006/relationships/image" Target="../media/image42.png"/><Relationship Id="rId4" Type="http://schemas.openxmlformats.org/officeDocument/2006/relationships/image" Target="../media/image17.png"/><Relationship Id="rId9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4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49.png"/><Relationship Id="rId4" Type="http://schemas.openxmlformats.org/officeDocument/2006/relationships/image" Target="../media/image17.png"/><Relationship Id="rId9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4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50.png"/><Relationship Id="rId10" Type="http://schemas.openxmlformats.org/officeDocument/2006/relationships/image" Target="../media/image49.png"/><Relationship Id="rId4" Type="http://schemas.openxmlformats.org/officeDocument/2006/relationships/image" Target="../media/image17.png"/><Relationship Id="rId9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5.png"/><Relationship Id="rId7" Type="http://schemas.openxmlformats.org/officeDocument/2006/relationships/image" Target="../media/image56.png"/><Relationship Id="rId12" Type="http://schemas.openxmlformats.org/officeDocument/2006/relationships/image" Target="../media/image6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59.png"/><Relationship Id="rId5" Type="http://schemas.openxmlformats.org/officeDocument/2006/relationships/image" Target="../media/image54.png"/><Relationship Id="rId10" Type="http://schemas.openxmlformats.org/officeDocument/2006/relationships/image" Target="../media/image58.png"/><Relationship Id="rId4" Type="http://schemas.openxmlformats.org/officeDocument/2006/relationships/image" Target="../media/image17.png"/><Relationship Id="rId9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1.png"/><Relationship Id="rId3" Type="http://schemas.openxmlformats.org/officeDocument/2006/relationships/image" Target="../media/image15.png"/><Relationship Id="rId7" Type="http://schemas.openxmlformats.org/officeDocument/2006/relationships/image" Target="../media/image56.png"/><Relationship Id="rId12" Type="http://schemas.openxmlformats.org/officeDocument/2006/relationships/image" Target="../media/image6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59.png"/><Relationship Id="rId5" Type="http://schemas.openxmlformats.org/officeDocument/2006/relationships/image" Target="../media/image54.png"/><Relationship Id="rId10" Type="http://schemas.openxmlformats.org/officeDocument/2006/relationships/image" Target="../media/image58.png"/><Relationship Id="rId4" Type="http://schemas.openxmlformats.org/officeDocument/2006/relationships/image" Target="../media/image17.png"/><Relationship Id="rId9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15.png"/><Relationship Id="rId7" Type="http://schemas.openxmlformats.org/officeDocument/2006/relationships/image" Target="../media/image6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17.png"/><Relationship Id="rId9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3.png"/><Relationship Id="rId7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5800" y="877716"/>
            <a:ext cx="7772400" cy="15515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altLang="en-US" sz="6600" b="1" dirty="0" smtClean="0"/>
              <a:t>Data Structure and Algorithm</a:t>
            </a:r>
            <a:r>
              <a:rPr lang="en-US" altLang="en-US" sz="6600" b="1" dirty="0"/>
              <a:t/>
            </a:r>
            <a:br>
              <a:rPr lang="en-US" altLang="en-US" sz="6600" b="1" dirty="0"/>
            </a:br>
            <a:r>
              <a:rPr lang="en-US" altLang="en-US" sz="4800" b="1" dirty="0"/>
              <a:t>(PMSCS </a:t>
            </a:r>
            <a:r>
              <a:rPr lang="en-US" altLang="en-US" sz="4800" b="1" dirty="0" smtClean="0"/>
              <a:t>623 P)</a:t>
            </a:r>
            <a:endParaRPr lang="en-US" altLang="en-US" sz="4800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1600" y="4038600"/>
            <a:ext cx="6400800" cy="1752600"/>
          </a:xfrm>
          <a:prstGeom prst="rect">
            <a:avLst/>
          </a:prstGeom>
        </p:spPr>
        <p:txBody>
          <a:bodyPr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20000" dirty="0"/>
              <a:t>Lecture </a:t>
            </a:r>
            <a:r>
              <a:rPr lang="en-US" sz="20000" dirty="0" smtClean="0"/>
              <a:t>18</a:t>
            </a:r>
            <a:endParaRPr lang="en-US" sz="19200" dirty="0"/>
          </a:p>
          <a:p>
            <a:pPr marL="0" indent="0" algn="ctr">
              <a:buNone/>
              <a:defRPr/>
            </a:pPr>
            <a:r>
              <a:rPr lang="en-US" sz="10000" dirty="0">
                <a:solidFill>
                  <a:schemeClr val="accent1">
                    <a:lumMod val="50000"/>
                  </a:schemeClr>
                </a:solidFill>
              </a:rPr>
              <a:t>Linear Time Sorting</a:t>
            </a:r>
          </a:p>
        </p:txBody>
      </p:sp>
    </p:spTree>
    <p:extLst>
      <p:ext uri="{BB962C8B-B14F-4D97-AF65-F5344CB8AC3E}">
        <p14:creationId xmlns:p14="http://schemas.microsoft.com/office/powerpoint/2010/main" val="117878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95" y="244914"/>
            <a:ext cx="9131457" cy="516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 txBox="1"/>
          <p:nvPr/>
        </p:nvSpPr>
        <p:spPr>
          <a:xfrm>
            <a:off x="4195" y="239810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spc="-79" dirty="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2774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5" y="756419"/>
            <a:ext cx="9131457" cy="100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619979" y="2061601"/>
            <a:ext cx="317254" cy="3172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 txBox="1"/>
          <p:nvPr/>
        </p:nvSpPr>
        <p:spPr>
          <a:xfrm>
            <a:off x="698274" y="2064116"/>
            <a:ext cx="161069" cy="268055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585" b="1" spc="-20" dirty="0">
                <a:solidFill>
                  <a:srgbClr val="FAFAFD"/>
                </a:solidFill>
                <a:latin typeface="Arial"/>
                <a:cs typeface="Arial"/>
              </a:rPr>
              <a:t>1</a:t>
            </a:r>
            <a:endParaRPr sz="1585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76333" y="2505096"/>
            <a:ext cx="129332" cy="1293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1076333" y="2846083"/>
            <a:ext cx="129332" cy="1293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 txBox="1"/>
          <p:nvPr/>
        </p:nvSpPr>
        <p:spPr>
          <a:xfrm>
            <a:off x="1027987" y="2005931"/>
            <a:ext cx="3543510" cy="1049434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69" dirty="0">
                <a:solidFill>
                  <a:srgbClr val="D6D6EF"/>
                </a:solidFill>
                <a:latin typeface="Tahoma"/>
                <a:cs typeface="Tahoma"/>
              </a:rPr>
              <a:t>Sorting </a:t>
            </a:r>
            <a:r>
              <a:rPr sz="2180" spc="-129" dirty="0">
                <a:solidFill>
                  <a:srgbClr val="D6D6EF"/>
                </a:solidFill>
                <a:latin typeface="Tahoma"/>
                <a:cs typeface="Tahoma"/>
              </a:rPr>
              <a:t>lower</a:t>
            </a:r>
            <a:r>
              <a:rPr sz="2180" spc="129" dirty="0">
                <a:solidFill>
                  <a:srgbClr val="D6D6EF"/>
                </a:solidFill>
                <a:latin typeface="Tahoma"/>
                <a:cs typeface="Tahoma"/>
              </a:rPr>
              <a:t> </a:t>
            </a:r>
            <a:r>
              <a:rPr sz="2180" spc="-99" dirty="0">
                <a:solidFill>
                  <a:srgbClr val="D6D6EF"/>
                </a:solidFill>
                <a:latin typeface="Tahoma"/>
                <a:cs typeface="Tahoma"/>
              </a:rPr>
              <a:t>bounds</a:t>
            </a:r>
            <a:endParaRPr sz="2180">
              <a:latin typeface="Tahoma"/>
              <a:cs typeface="Tahoma"/>
            </a:endParaRPr>
          </a:p>
          <a:p>
            <a:pPr marL="299494" marR="10067">
              <a:lnSpc>
                <a:spcPct val="102600"/>
              </a:lnSpc>
            </a:pPr>
            <a:r>
              <a:rPr sz="2180" spc="-20" dirty="0">
                <a:solidFill>
                  <a:srgbClr val="CCCCCC"/>
                </a:solidFill>
                <a:latin typeface="Tahoma"/>
                <a:cs typeface="Tahoma"/>
              </a:rPr>
              <a:t>What’s </a:t>
            </a:r>
            <a:r>
              <a:rPr sz="2180" spc="-79" dirty="0">
                <a:solidFill>
                  <a:srgbClr val="CCCCCC"/>
                </a:solidFill>
                <a:latin typeface="Tahoma"/>
                <a:cs typeface="Tahoma"/>
              </a:rPr>
              <a:t>the </a:t>
            </a:r>
            <a:r>
              <a:rPr sz="2180" spc="-89" dirty="0">
                <a:solidFill>
                  <a:srgbClr val="CCCCCC"/>
                </a:solidFill>
                <a:latin typeface="Tahoma"/>
                <a:cs typeface="Tahoma"/>
              </a:rPr>
              <a:t>best </a:t>
            </a:r>
            <a:r>
              <a:rPr sz="2180" spc="-208" dirty="0">
                <a:solidFill>
                  <a:srgbClr val="CCCCCC"/>
                </a:solidFill>
                <a:latin typeface="Tahoma"/>
                <a:cs typeface="Tahoma"/>
              </a:rPr>
              <a:t>we </a:t>
            </a:r>
            <a:r>
              <a:rPr sz="2180" spc="-89" dirty="0">
                <a:solidFill>
                  <a:srgbClr val="CCCCCC"/>
                </a:solidFill>
                <a:latin typeface="Tahoma"/>
                <a:cs typeface="Tahoma"/>
              </a:rPr>
              <a:t>can </a:t>
            </a:r>
            <a:r>
              <a:rPr sz="2180" spc="-79" dirty="0">
                <a:solidFill>
                  <a:srgbClr val="CCCCCC"/>
                </a:solidFill>
                <a:latin typeface="Tahoma"/>
                <a:cs typeface="Tahoma"/>
              </a:rPr>
              <a:t>do?  </a:t>
            </a:r>
            <a:r>
              <a:rPr sz="2180" spc="-109" dirty="0">
                <a:solidFill>
                  <a:srgbClr val="CCCCCC"/>
                </a:solidFill>
                <a:latin typeface="Tahoma"/>
                <a:cs typeface="Tahoma"/>
              </a:rPr>
              <a:t>Lower</a:t>
            </a:r>
            <a:r>
              <a:rPr sz="2180" spc="30" dirty="0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sz="2180" spc="-89" dirty="0">
                <a:solidFill>
                  <a:srgbClr val="CCCCCC"/>
                </a:solidFill>
                <a:latin typeface="Tahoma"/>
                <a:cs typeface="Tahoma"/>
              </a:rPr>
              <a:t>bound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9979" y="3697934"/>
            <a:ext cx="317254" cy="3172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 txBox="1"/>
          <p:nvPr/>
        </p:nvSpPr>
        <p:spPr>
          <a:xfrm>
            <a:off x="698274" y="3700447"/>
            <a:ext cx="161069" cy="268055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585" b="1" spc="-20" dirty="0">
                <a:solidFill>
                  <a:srgbClr val="EAEAF7"/>
                </a:solidFill>
                <a:latin typeface="Arial"/>
                <a:cs typeface="Arial"/>
              </a:rPr>
              <a:t>2</a:t>
            </a:r>
            <a:endParaRPr sz="1585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76333" y="4141427"/>
            <a:ext cx="129332" cy="1293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1076333" y="4482415"/>
            <a:ext cx="129332" cy="1293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1076333" y="4823428"/>
            <a:ext cx="129332" cy="1293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 txBox="1"/>
          <p:nvPr/>
        </p:nvSpPr>
        <p:spPr>
          <a:xfrm>
            <a:off x="1027988" y="3642262"/>
            <a:ext cx="2470138" cy="1396150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99494" marR="10067" indent="-275585">
              <a:lnSpc>
                <a:spcPct val="102600"/>
              </a:lnSpc>
              <a:spcBef>
                <a:spcPts val="109"/>
              </a:spcBef>
            </a:pPr>
            <a:r>
              <a:rPr sz="2180" spc="-69" dirty="0">
                <a:solidFill>
                  <a:srgbClr val="3333B2"/>
                </a:solidFill>
                <a:latin typeface="Tahoma"/>
                <a:cs typeface="Tahoma"/>
              </a:rPr>
              <a:t>Sorting </a:t>
            </a:r>
            <a:r>
              <a:rPr sz="2180" spc="-50" dirty="0">
                <a:solidFill>
                  <a:srgbClr val="3333B2"/>
                </a:solidFill>
                <a:latin typeface="Tahoma"/>
                <a:cs typeface="Tahoma"/>
              </a:rPr>
              <a:t>in </a:t>
            </a:r>
            <a:r>
              <a:rPr sz="2180" spc="-89" dirty="0">
                <a:solidFill>
                  <a:srgbClr val="3333B2"/>
                </a:solidFill>
                <a:latin typeface="Tahoma"/>
                <a:cs typeface="Tahoma"/>
              </a:rPr>
              <a:t>linear </a:t>
            </a:r>
            <a:r>
              <a:rPr sz="2180" spc="-59" dirty="0">
                <a:solidFill>
                  <a:srgbClr val="3333B2"/>
                </a:solidFill>
                <a:latin typeface="Tahoma"/>
                <a:cs typeface="Tahoma"/>
              </a:rPr>
              <a:t>time  </a:t>
            </a:r>
            <a:r>
              <a:rPr sz="2180" spc="-59" dirty="0">
                <a:solidFill>
                  <a:srgbClr val="CCCCCC"/>
                </a:solidFill>
                <a:latin typeface="Tahoma"/>
                <a:cs typeface="Tahoma"/>
              </a:rPr>
              <a:t>Counting </a:t>
            </a:r>
            <a:r>
              <a:rPr sz="2180" spc="-79" dirty="0">
                <a:solidFill>
                  <a:srgbClr val="CCCCCC"/>
                </a:solidFill>
                <a:latin typeface="Tahoma"/>
                <a:cs typeface="Tahoma"/>
              </a:rPr>
              <a:t>sort  </a:t>
            </a:r>
            <a:r>
              <a:rPr sz="2180" spc="-59" dirty="0">
                <a:solidFill>
                  <a:srgbClr val="CCCCCC"/>
                </a:solidFill>
                <a:latin typeface="Tahoma"/>
                <a:cs typeface="Tahoma"/>
              </a:rPr>
              <a:t>Radix </a:t>
            </a:r>
            <a:r>
              <a:rPr sz="2180" spc="-89" dirty="0">
                <a:solidFill>
                  <a:srgbClr val="CCCCCC"/>
                </a:solidFill>
                <a:latin typeface="Tahoma"/>
                <a:cs typeface="Tahoma"/>
              </a:rPr>
              <a:t>sort  </a:t>
            </a:r>
            <a:r>
              <a:rPr sz="2180" spc="-69" dirty="0">
                <a:solidFill>
                  <a:srgbClr val="CCCCCC"/>
                </a:solidFill>
                <a:latin typeface="Tahoma"/>
                <a:cs typeface="Tahoma"/>
              </a:rPr>
              <a:t>Conclusion</a:t>
            </a:r>
            <a:endParaRPr sz="218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725439488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95" y="244914"/>
            <a:ext cx="9131457" cy="516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4195" y="756419"/>
            <a:ext cx="9131457" cy="100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1000077" y="1488047"/>
            <a:ext cx="129332" cy="1293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1000077" y="1892231"/>
            <a:ext cx="129332" cy="1293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1000077" y="2296436"/>
            <a:ext cx="129332" cy="1293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 txBox="1"/>
          <p:nvPr/>
        </p:nvSpPr>
        <p:spPr>
          <a:xfrm>
            <a:off x="4195" y="239811"/>
            <a:ext cx="9131836" cy="227761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spc="-69" dirty="0">
                <a:solidFill>
                  <a:srgbClr val="FFFFFF"/>
                </a:solidFill>
                <a:latin typeface="Tahoma"/>
                <a:cs typeface="Tahoma"/>
              </a:rPr>
              <a:t>Sorting </a:t>
            </a:r>
            <a:r>
              <a:rPr sz="2774" spc="-59" dirty="0">
                <a:solidFill>
                  <a:srgbClr val="FFFFFF"/>
                </a:solidFill>
                <a:latin typeface="Tahoma"/>
                <a:cs typeface="Tahoma"/>
              </a:rPr>
              <a:t>in </a:t>
            </a:r>
            <a:r>
              <a:rPr sz="2774" spc="-99" dirty="0">
                <a:solidFill>
                  <a:srgbClr val="FFFFFF"/>
                </a:solidFill>
                <a:latin typeface="Tahoma"/>
                <a:cs typeface="Tahoma"/>
              </a:rPr>
              <a:t>linear </a:t>
            </a:r>
            <a:r>
              <a:rPr sz="2774" spc="-109" dirty="0">
                <a:solidFill>
                  <a:srgbClr val="FFFFFF"/>
                </a:solidFill>
                <a:latin typeface="Tahoma"/>
                <a:cs typeface="Tahoma"/>
              </a:rPr>
              <a:t>time: </a:t>
            </a:r>
            <a:r>
              <a:rPr sz="2774" spc="-59" dirty="0">
                <a:solidFill>
                  <a:srgbClr val="FFFFFF"/>
                </a:solidFill>
                <a:latin typeface="Tahoma"/>
                <a:cs typeface="Tahoma"/>
              </a:rPr>
              <a:t>Counting</a:t>
            </a:r>
            <a:r>
              <a:rPr sz="2774" spc="15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99" dirty="0">
                <a:solidFill>
                  <a:srgbClr val="FFFFFF"/>
                </a:solidFill>
                <a:latin typeface="Tahoma"/>
                <a:cs typeface="Tahoma"/>
              </a:rPr>
              <a:t>sort</a:t>
            </a:r>
            <a:endParaRPr sz="2774" dirty="0">
              <a:latin typeface="Tahoma"/>
              <a:cs typeface="Tahoma"/>
            </a:endParaRPr>
          </a:p>
          <a:p>
            <a:pPr marL="712243">
              <a:spcBef>
                <a:spcPts val="1912"/>
              </a:spcBef>
            </a:pPr>
            <a:r>
              <a:rPr sz="2180" b="1" spc="-89" dirty="0">
                <a:solidFill>
                  <a:srgbClr val="FF0000"/>
                </a:solidFill>
                <a:latin typeface="Arial"/>
                <a:cs typeface="Arial"/>
              </a:rPr>
              <a:t>Counting </a:t>
            </a:r>
            <a:r>
              <a:rPr sz="2180" b="1" spc="-119" dirty="0">
                <a:solidFill>
                  <a:srgbClr val="FF0000"/>
                </a:solidFill>
                <a:latin typeface="Arial"/>
                <a:cs typeface="Arial"/>
              </a:rPr>
              <a:t>sort</a:t>
            </a:r>
            <a:r>
              <a:rPr sz="2180" spc="-119" dirty="0">
                <a:solidFill>
                  <a:srgbClr val="FF0000"/>
                </a:solidFill>
                <a:latin typeface="Tahoma"/>
                <a:cs typeface="Tahoma"/>
              </a:rPr>
              <a:t>: </a:t>
            </a:r>
            <a:r>
              <a:rPr sz="2180" spc="-20" dirty="0">
                <a:latin typeface="Tahoma"/>
                <a:cs typeface="Tahoma"/>
              </a:rPr>
              <a:t>No </a:t>
            </a:r>
            <a:r>
              <a:rPr sz="2180" spc="-99" dirty="0">
                <a:latin typeface="Tahoma"/>
                <a:cs typeface="Tahoma"/>
              </a:rPr>
              <a:t>comparisons </a:t>
            </a:r>
            <a:r>
              <a:rPr sz="2180" spc="-139" dirty="0">
                <a:latin typeface="Tahoma"/>
                <a:cs typeface="Tahoma"/>
              </a:rPr>
              <a:t>between</a:t>
            </a:r>
            <a:r>
              <a:rPr sz="2180" spc="-188" dirty="0">
                <a:latin typeface="Tahoma"/>
                <a:cs typeface="Tahoma"/>
              </a:rPr>
              <a:t> </a:t>
            </a:r>
            <a:r>
              <a:rPr sz="2180" spc="-109" dirty="0">
                <a:latin typeface="Tahoma"/>
                <a:cs typeface="Tahoma"/>
              </a:rPr>
              <a:t>elements.</a:t>
            </a:r>
            <a:endParaRPr sz="2180" dirty="0">
              <a:latin typeface="Tahoma"/>
              <a:cs typeface="Tahoma"/>
            </a:endParaRPr>
          </a:p>
          <a:p>
            <a:pPr marL="1262155">
              <a:spcBef>
                <a:spcPts val="575"/>
              </a:spcBef>
            </a:pPr>
            <a:r>
              <a:rPr sz="2180" b="1" spc="-59" dirty="0">
                <a:solidFill>
                  <a:srgbClr val="FF0000"/>
                </a:solidFill>
                <a:latin typeface="Arial"/>
                <a:cs typeface="Arial"/>
              </a:rPr>
              <a:t>Input</a:t>
            </a:r>
            <a:r>
              <a:rPr sz="2180" spc="-59" dirty="0">
                <a:solidFill>
                  <a:srgbClr val="FF0000"/>
                </a:solidFill>
                <a:latin typeface="Tahoma"/>
                <a:cs typeface="Tahoma"/>
              </a:rPr>
              <a:t>:</a:t>
            </a:r>
            <a:r>
              <a:rPr sz="2180" spc="27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80" i="1" spc="-40" dirty="0">
                <a:latin typeface="Trebuchet MS"/>
                <a:cs typeface="Trebuchet MS"/>
              </a:rPr>
              <a:t>A</a:t>
            </a:r>
            <a:r>
              <a:rPr sz="2180" spc="-40" dirty="0">
                <a:latin typeface="Lucida Sans Unicode"/>
                <a:cs typeface="Lucida Sans Unicode"/>
              </a:rPr>
              <a:t>[</a:t>
            </a:r>
            <a:r>
              <a:rPr sz="2180" spc="-40" dirty="0">
                <a:latin typeface="Tahoma"/>
                <a:cs typeface="Tahoma"/>
              </a:rPr>
              <a:t>1</a:t>
            </a:r>
            <a:r>
              <a:rPr sz="2180" spc="-327" dirty="0">
                <a:latin typeface="Tahoma"/>
                <a:cs typeface="Tahoma"/>
              </a:rPr>
              <a:t> </a:t>
            </a:r>
            <a:r>
              <a:rPr sz="2180" i="1" spc="-198" dirty="0">
                <a:latin typeface="Verdana"/>
                <a:cs typeface="Verdana"/>
              </a:rPr>
              <a:t>.</a:t>
            </a:r>
            <a:r>
              <a:rPr sz="2180" i="1" spc="-404" dirty="0">
                <a:latin typeface="Verdana"/>
                <a:cs typeface="Verdana"/>
              </a:rPr>
              <a:t> </a:t>
            </a:r>
            <a:r>
              <a:rPr sz="2180" i="1" spc="-198" dirty="0">
                <a:latin typeface="Verdana"/>
                <a:cs typeface="Verdana"/>
              </a:rPr>
              <a:t>.</a:t>
            </a:r>
            <a:r>
              <a:rPr sz="2180" i="1" spc="-416" dirty="0">
                <a:latin typeface="Verdana"/>
                <a:cs typeface="Verdana"/>
              </a:rPr>
              <a:t> </a:t>
            </a:r>
            <a:r>
              <a:rPr sz="2180" i="1" spc="-69" dirty="0">
                <a:latin typeface="Trebuchet MS"/>
                <a:cs typeface="Trebuchet MS"/>
              </a:rPr>
              <a:t>n</a:t>
            </a:r>
            <a:r>
              <a:rPr sz="2180" spc="-69" dirty="0">
                <a:latin typeface="Lucida Sans Unicode"/>
                <a:cs typeface="Lucida Sans Unicode"/>
              </a:rPr>
              <a:t>]</a:t>
            </a:r>
            <a:r>
              <a:rPr sz="2180" spc="-69" dirty="0">
                <a:latin typeface="Tahoma"/>
                <a:cs typeface="Tahoma"/>
              </a:rPr>
              <a:t>,</a:t>
            </a:r>
            <a:r>
              <a:rPr sz="2180" spc="30" dirty="0">
                <a:latin typeface="Tahoma"/>
                <a:cs typeface="Tahoma"/>
              </a:rPr>
              <a:t> </a:t>
            </a:r>
            <a:r>
              <a:rPr sz="2180" spc="-139" dirty="0">
                <a:latin typeface="Tahoma"/>
                <a:cs typeface="Tahoma"/>
              </a:rPr>
              <a:t>where</a:t>
            </a:r>
            <a:r>
              <a:rPr sz="2180" spc="30" dirty="0">
                <a:latin typeface="Tahoma"/>
                <a:cs typeface="Tahoma"/>
              </a:rPr>
              <a:t> </a:t>
            </a:r>
            <a:r>
              <a:rPr sz="2180" i="1" spc="-30" dirty="0">
                <a:latin typeface="Trebuchet MS"/>
                <a:cs typeface="Trebuchet MS"/>
              </a:rPr>
              <a:t>A</a:t>
            </a:r>
            <a:r>
              <a:rPr sz="2180" spc="-30" dirty="0">
                <a:latin typeface="Lucida Sans Unicode"/>
                <a:cs typeface="Lucida Sans Unicode"/>
              </a:rPr>
              <a:t>[</a:t>
            </a:r>
            <a:r>
              <a:rPr sz="2180" i="1" spc="-30" dirty="0">
                <a:latin typeface="Trebuchet MS"/>
                <a:cs typeface="Trebuchet MS"/>
              </a:rPr>
              <a:t>j</a:t>
            </a:r>
            <a:r>
              <a:rPr sz="2180" spc="-30" dirty="0">
                <a:latin typeface="Lucida Sans Unicode"/>
                <a:cs typeface="Lucida Sans Unicode"/>
              </a:rPr>
              <a:t>]</a:t>
            </a:r>
            <a:r>
              <a:rPr sz="2180" spc="-89" dirty="0">
                <a:latin typeface="Lucida Sans Unicode"/>
                <a:cs typeface="Lucida Sans Unicode"/>
              </a:rPr>
              <a:t> </a:t>
            </a:r>
            <a:r>
              <a:rPr sz="2180" spc="-297" dirty="0">
                <a:latin typeface="Lucida Sans Unicode"/>
                <a:cs typeface="Lucida Sans Unicode"/>
              </a:rPr>
              <a:t>∈</a:t>
            </a:r>
            <a:r>
              <a:rPr sz="2180" spc="-99" dirty="0">
                <a:latin typeface="Lucida Sans Unicode"/>
                <a:cs typeface="Lucida Sans Unicode"/>
              </a:rPr>
              <a:t> </a:t>
            </a:r>
            <a:r>
              <a:rPr sz="2180" spc="10" dirty="0">
                <a:latin typeface="Lucida Sans Unicode"/>
                <a:cs typeface="Lucida Sans Unicode"/>
              </a:rPr>
              <a:t>{</a:t>
            </a:r>
            <a:r>
              <a:rPr sz="2180" spc="10" dirty="0">
                <a:latin typeface="Tahoma"/>
                <a:cs typeface="Tahoma"/>
              </a:rPr>
              <a:t>1</a:t>
            </a:r>
            <a:r>
              <a:rPr sz="2180" i="1" spc="10" dirty="0">
                <a:latin typeface="Verdana"/>
                <a:cs typeface="Verdana"/>
              </a:rPr>
              <a:t>,</a:t>
            </a:r>
            <a:r>
              <a:rPr sz="2180" i="1" spc="-416" dirty="0">
                <a:latin typeface="Verdana"/>
                <a:cs typeface="Verdana"/>
              </a:rPr>
              <a:t> </a:t>
            </a:r>
            <a:r>
              <a:rPr sz="2180" spc="-159" dirty="0">
                <a:latin typeface="Tahoma"/>
                <a:cs typeface="Tahoma"/>
              </a:rPr>
              <a:t>2</a:t>
            </a:r>
            <a:r>
              <a:rPr sz="2180" i="1" spc="-159" dirty="0">
                <a:latin typeface="Verdana"/>
                <a:cs typeface="Verdana"/>
              </a:rPr>
              <a:t>,</a:t>
            </a:r>
            <a:r>
              <a:rPr sz="2180" i="1" spc="-404" dirty="0">
                <a:latin typeface="Verdana"/>
                <a:cs typeface="Verdana"/>
              </a:rPr>
              <a:t> </a:t>
            </a:r>
            <a:r>
              <a:rPr sz="2180" i="1" spc="-198" dirty="0">
                <a:latin typeface="Verdana"/>
                <a:cs typeface="Verdana"/>
              </a:rPr>
              <a:t>.</a:t>
            </a:r>
            <a:r>
              <a:rPr sz="2180" i="1" spc="-416" dirty="0">
                <a:latin typeface="Verdana"/>
                <a:cs typeface="Verdana"/>
              </a:rPr>
              <a:t> </a:t>
            </a:r>
            <a:r>
              <a:rPr sz="2180" i="1" spc="-198" dirty="0">
                <a:latin typeface="Verdana"/>
                <a:cs typeface="Verdana"/>
              </a:rPr>
              <a:t>.</a:t>
            </a:r>
            <a:r>
              <a:rPr sz="2180" i="1" spc="-404" dirty="0">
                <a:latin typeface="Verdana"/>
                <a:cs typeface="Verdana"/>
              </a:rPr>
              <a:t> </a:t>
            </a:r>
            <a:r>
              <a:rPr sz="2180" i="1" spc="-198" dirty="0">
                <a:latin typeface="Verdana"/>
                <a:cs typeface="Verdana"/>
              </a:rPr>
              <a:t>.</a:t>
            </a:r>
            <a:r>
              <a:rPr sz="2180" i="1" spc="-404" dirty="0">
                <a:latin typeface="Verdana"/>
                <a:cs typeface="Verdana"/>
              </a:rPr>
              <a:t> </a:t>
            </a:r>
            <a:r>
              <a:rPr sz="2180" i="1" spc="-198" dirty="0">
                <a:latin typeface="Verdana"/>
                <a:cs typeface="Verdana"/>
              </a:rPr>
              <a:t>,</a:t>
            </a:r>
            <a:r>
              <a:rPr sz="2180" i="1" spc="-416" dirty="0">
                <a:latin typeface="Verdana"/>
                <a:cs typeface="Verdana"/>
              </a:rPr>
              <a:t> </a:t>
            </a:r>
            <a:r>
              <a:rPr sz="2180" i="1" spc="139" dirty="0">
                <a:latin typeface="Trebuchet MS"/>
                <a:cs typeface="Trebuchet MS"/>
              </a:rPr>
              <a:t>k</a:t>
            </a:r>
            <a:r>
              <a:rPr sz="2180" spc="139" dirty="0">
                <a:latin typeface="Lucida Sans Unicode"/>
                <a:cs typeface="Lucida Sans Unicode"/>
              </a:rPr>
              <a:t>}</a:t>
            </a:r>
            <a:r>
              <a:rPr sz="2180" spc="139" dirty="0">
                <a:latin typeface="Tahoma"/>
                <a:cs typeface="Tahoma"/>
              </a:rPr>
              <a:t>.</a:t>
            </a:r>
            <a:endParaRPr sz="2180" dirty="0">
              <a:latin typeface="Tahoma"/>
              <a:cs typeface="Tahoma"/>
            </a:endParaRPr>
          </a:p>
          <a:p>
            <a:pPr marL="1262155">
              <a:spcBef>
                <a:spcPts val="575"/>
              </a:spcBef>
            </a:pPr>
            <a:r>
              <a:rPr sz="2180" b="1" spc="-40" dirty="0">
                <a:solidFill>
                  <a:srgbClr val="FF0000"/>
                </a:solidFill>
                <a:latin typeface="Arial"/>
                <a:cs typeface="Arial"/>
              </a:rPr>
              <a:t>Output</a:t>
            </a:r>
            <a:r>
              <a:rPr sz="2180" spc="-40" dirty="0">
                <a:solidFill>
                  <a:srgbClr val="FF0000"/>
                </a:solidFill>
                <a:latin typeface="Tahoma"/>
                <a:cs typeface="Tahoma"/>
              </a:rPr>
              <a:t>: </a:t>
            </a:r>
            <a:r>
              <a:rPr sz="2180" i="1" spc="40" dirty="0">
                <a:latin typeface="Trebuchet MS"/>
                <a:cs typeface="Trebuchet MS"/>
              </a:rPr>
              <a:t>B</a:t>
            </a:r>
            <a:r>
              <a:rPr sz="2180" spc="40" dirty="0">
                <a:latin typeface="Lucida Sans Unicode"/>
                <a:cs typeface="Lucida Sans Unicode"/>
              </a:rPr>
              <a:t>[</a:t>
            </a:r>
            <a:r>
              <a:rPr sz="2180" spc="40" dirty="0">
                <a:latin typeface="Tahoma"/>
                <a:cs typeface="Tahoma"/>
              </a:rPr>
              <a:t>1 </a:t>
            </a:r>
            <a:r>
              <a:rPr sz="2180" i="1" spc="-198" dirty="0">
                <a:latin typeface="Verdana"/>
                <a:cs typeface="Verdana"/>
              </a:rPr>
              <a:t>. . </a:t>
            </a:r>
            <a:r>
              <a:rPr sz="2180" i="1" spc="-69" dirty="0">
                <a:latin typeface="Trebuchet MS"/>
                <a:cs typeface="Trebuchet MS"/>
              </a:rPr>
              <a:t>n</a:t>
            </a:r>
            <a:r>
              <a:rPr sz="2180" spc="-69" dirty="0">
                <a:latin typeface="Lucida Sans Unicode"/>
                <a:cs typeface="Lucida Sans Unicode"/>
              </a:rPr>
              <a:t>]</a:t>
            </a:r>
            <a:r>
              <a:rPr sz="2180" spc="-69" dirty="0">
                <a:latin typeface="Tahoma"/>
                <a:cs typeface="Tahoma"/>
              </a:rPr>
              <a:t>,</a:t>
            </a:r>
            <a:r>
              <a:rPr sz="2180" spc="-454" dirty="0">
                <a:latin typeface="Tahoma"/>
                <a:cs typeface="Tahoma"/>
              </a:rPr>
              <a:t> </a:t>
            </a:r>
            <a:r>
              <a:rPr sz="2180" spc="-99" dirty="0">
                <a:latin typeface="Tahoma"/>
                <a:cs typeface="Tahoma"/>
              </a:rPr>
              <a:t>sorted.</a:t>
            </a:r>
            <a:endParaRPr sz="2180" dirty="0">
              <a:latin typeface="Tahoma"/>
              <a:cs typeface="Tahoma"/>
            </a:endParaRPr>
          </a:p>
          <a:p>
            <a:pPr marL="1262155">
              <a:spcBef>
                <a:spcPts val="565"/>
              </a:spcBef>
            </a:pPr>
            <a:r>
              <a:rPr sz="2180" b="1" spc="-89" dirty="0">
                <a:solidFill>
                  <a:srgbClr val="FF0000"/>
                </a:solidFill>
                <a:latin typeface="Arial"/>
                <a:cs typeface="Arial"/>
              </a:rPr>
              <a:t>Auxiliary </a:t>
            </a:r>
            <a:r>
              <a:rPr sz="2180" b="1" spc="-119" dirty="0">
                <a:solidFill>
                  <a:srgbClr val="FF0000"/>
                </a:solidFill>
                <a:latin typeface="Arial"/>
                <a:cs typeface="Arial"/>
              </a:rPr>
              <a:t>storage</a:t>
            </a:r>
            <a:r>
              <a:rPr sz="2180" spc="-119" dirty="0">
                <a:solidFill>
                  <a:srgbClr val="FF0000"/>
                </a:solidFill>
                <a:latin typeface="Tahoma"/>
                <a:cs typeface="Tahoma"/>
              </a:rPr>
              <a:t>: </a:t>
            </a:r>
            <a:r>
              <a:rPr sz="2180" i="1" spc="69" dirty="0">
                <a:latin typeface="Trebuchet MS"/>
                <a:cs typeface="Trebuchet MS"/>
              </a:rPr>
              <a:t>C</a:t>
            </a:r>
            <a:r>
              <a:rPr sz="2180" i="1" spc="-426" dirty="0">
                <a:latin typeface="Trebuchet MS"/>
                <a:cs typeface="Trebuchet MS"/>
              </a:rPr>
              <a:t> </a:t>
            </a:r>
            <a:r>
              <a:rPr sz="2180" spc="-99" dirty="0">
                <a:latin typeface="Lucida Sans Unicode"/>
                <a:cs typeface="Lucida Sans Unicode"/>
              </a:rPr>
              <a:t>[</a:t>
            </a:r>
            <a:r>
              <a:rPr sz="2180" spc="-99" dirty="0">
                <a:latin typeface="Tahoma"/>
                <a:cs typeface="Tahoma"/>
              </a:rPr>
              <a:t>1 </a:t>
            </a:r>
            <a:r>
              <a:rPr sz="2180" i="1" spc="-198" dirty="0">
                <a:latin typeface="Verdana"/>
                <a:cs typeface="Verdana"/>
              </a:rPr>
              <a:t>. . </a:t>
            </a:r>
            <a:r>
              <a:rPr sz="2180" i="1" spc="-10" dirty="0">
                <a:latin typeface="Trebuchet MS"/>
                <a:cs typeface="Trebuchet MS"/>
              </a:rPr>
              <a:t>k</a:t>
            </a:r>
            <a:r>
              <a:rPr sz="2180" spc="-10" dirty="0">
                <a:latin typeface="Lucida Sans Unicode"/>
                <a:cs typeface="Lucida Sans Unicode"/>
              </a:rPr>
              <a:t>]</a:t>
            </a:r>
            <a:r>
              <a:rPr sz="2180" spc="-10" dirty="0">
                <a:latin typeface="Tahoma"/>
                <a:cs typeface="Tahoma"/>
              </a:rPr>
              <a:t>.</a:t>
            </a:r>
            <a:endParaRPr sz="218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069046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195" y="244914"/>
            <a:ext cx="9131457" cy="516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95" y="239811"/>
            <a:ext cx="9131836" cy="896081"/>
          </a:xfrm>
          <a:prstGeom prst="rect">
            <a:avLst/>
          </a:prstGeom>
        </p:spPr>
        <p:txBody>
          <a:bodyPr vert="horz" wrap="square" lIns="0" tIns="33975" rIns="0" bIns="0" rtlCol="0" anchor="t">
            <a:spAutoFit/>
          </a:bodyPr>
          <a:lstStyle/>
          <a:p>
            <a:pPr marL="330954">
              <a:lnSpc>
                <a:spcPct val="100000"/>
              </a:lnSpc>
              <a:spcBef>
                <a:spcPts val="268"/>
              </a:spcBef>
            </a:pPr>
            <a:r>
              <a:rPr lang="en-US" sz="2800" spc="-69" dirty="0">
                <a:solidFill>
                  <a:srgbClr val="FFFFFF"/>
                </a:solidFill>
                <a:latin typeface="Tahoma"/>
                <a:cs typeface="Tahoma"/>
              </a:rPr>
              <a:t>Sorting </a:t>
            </a:r>
            <a:r>
              <a:rPr lang="en-US" sz="2800" spc="-59" dirty="0">
                <a:solidFill>
                  <a:srgbClr val="FFFFFF"/>
                </a:solidFill>
                <a:latin typeface="Tahoma"/>
                <a:cs typeface="Tahoma"/>
              </a:rPr>
              <a:t>in </a:t>
            </a:r>
            <a:r>
              <a:rPr lang="en-US" sz="2800" spc="-99" dirty="0">
                <a:solidFill>
                  <a:srgbClr val="FFFFFF"/>
                </a:solidFill>
                <a:latin typeface="Tahoma"/>
                <a:cs typeface="Tahoma"/>
              </a:rPr>
              <a:t>linear </a:t>
            </a:r>
            <a:r>
              <a:rPr lang="en-US" sz="2800" spc="-109" dirty="0">
                <a:solidFill>
                  <a:srgbClr val="FFFFFF"/>
                </a:solidFill>
                <a:latin typeface="Tahoma"/>
                <a:cs typeface="Tahoma"/>
              </a:rPr>
              <a:t>time: </a:t>
            </a:r>
            <a:r>
              <a:rPr lang="en-US" sz="2800" spc="-59" dirty="0">
                <a:solidFill>
                  <a:srgbClr val="FFFFFF"/>
                </a:solidFill>
                <a:latin typeface="Tahoma"/>
                <a:cs typeface="Tahoma"/>
              </a:rPr>
              <a:t>Counting</a:t>
            </a:r>
            <a:r>
              <a:rPr lang="en-US" sz="2800" spc="15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2800" spc="-99" dirty="0">
                <a:solidFill>
                  <a:srgbClr val="FFFFFF"/>
                </a:solidFill>
                <a:latin typeface="Tahoma"/>
                <a:cs typeface="Tahoma"/>
              </a:rPr>
              <a:t>sort</a:t>
            </a:r>
            <a:r>
              <a:rPr lang="en-US" sz="2800" dirty="0">
                <a:latin typeface="Tahoma"/>
                <a:cs typeface="Tahoma"/>
              </a:rPr>
              <a:t/>
            </a:r>
            <a:br>
              <a:rPr lang="en-US" sz="2800" dirty="0">
                <a:latin typeface="Tahoma"/>
                <a:cs typeface="Tahoma"/>
              </a:rPr>
            </a:br>
            <a:endParaRPr sz="2800" spc="-99" dirty="0"/>
          </a:p>
        </p:txBody>
      </p:sp>
      <p:sp>
        <p:nvSpPr>
          <p:cNvPr id="5" name="object 5"/>
          <p:cNvSpPr/>
          <p:nvPr/>
        </p:nvSpPr>
        <p:spPr>
          <a:xfrm>
            <a:off x="4195" y="756419"/>
            <a:ext cx="9131457" cy="100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1000077" y="1488047"/>
            <a:ext cx="129332" cy="1293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1000077" y="1892231"/>
            <a:ext cx="129332" cy="1293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1000077" y="2296436"/>
            <a:ext cx="129332" cy="1293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616907" y="2757292"/>
            <a:ext cx="7906202" cy="369954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 txBox="1"/>
          <p:nvPr/>
        </p:nvSpPr>
        <p:spPr>
          <a:xfrm>
            <a:off x="692411" y="839742"/>
            <a:ext cx="5960797" cy="2277900"/>
          </a:xfrm>
          <a:prstGeom prst="rect">
            <a:avLst/>
          </a:prstGeom>
        </p:spPr>
        <p:txBody>
          <a:bodyPr vert="horz" wrap="square" lIns="0" tIns="99410" rIns="0" bIns="0" rtlCol="0">
            <a:spAutoFit/>
          </a:bodyPr>
          <a:lstStyle/>
          <a:p>
            <a:pPr marL="25168">
              <a:spcBef>
                <a:spcPts val="783"/>
              </a:spcBef>
            </a:pPr>
            <a:r>
              <a:rPr sz="2180" b="1" spc="-89" dirty="0">
                <a:solidFill>
                  <a:srgbClr val="FF0000"/>
                </a:solidFill>
                <a:latin typeface="Arial"/>
                <a:cs typeface="Arial"/>
              </a:rPr>
              <a:t>Counting </a:t>
            </a:r>
            <a:r>
              <a:rPr sz="2180" b="1" spc="-119" dirty="0">
                <a:solidFill>
                  <a:srgbClr val="FF0000"/>
                </a:solidFill>
                <a:latin typeface="Arial"/>
                <a:cs typeface="Arial"/>
              </a:rPr>
              <a:t>sort</a:t>
            </a:r>
            <a:r>
              <a:rPr sz="2180" spc="-119" dirty="0">
                <a:solidFill>
                  <a:srgbClr val="FF0000"/>
                </a:solidFill>
                <a:latin typeface="Tahoma"/>
                <a:cs typeface="Tahoma"/>
              </a:rPr>
              <a:t>: </a:t>
            </a:r>
            <a:r>
              <a:rPr sz="2180" spc="-20" dirty="0">
                <a:latin typeface="Tahoma"/>
                <a:cs typeface="Tahoma"/>
              </a:rPr>
              <a:t>No </a:t>
            </a:r>
            <a:r>
              <a:rPr sz="2180" spc="-99" dirty="0">
                <a:latin typeface="Tahoma"/>
                <a:cs typeface="Tahoma"/>
              </a:rPr>
              <a:t>comparisons </a:t>
            </a:r>
            <a:r>
              <a:rPr sz="2180" spc="-139" dirty="0">
                <a:latin typeface="Tahoma"/>
                <a:cs typeface="Tahoma"/>
              </a:rPr>
              <a:t>between</a:t>
            </a:r>
            <a:r>
              <a:rPr sz="2180" spc="-188" dirty="0">
                <a:latin typeface="Tahoma"/>
                <a:cs typeface="Tahoma"/>
              </a:rPr>
              <a:t> </a:t>
            </a:r>
            <a:r>
              <a:rPr sz="2180" spc="-109" dirty="0">
                <a:latin typeface="Tahoma"/>
                <a:cs typeface="Tahoma"/>
              </a:rPr>
              <a:t>elements.</a:t>
            </a:r>
            <a:endParaRPr sz="2180" dirty="0">
              <a:latin typeface="Tahoma"/>
              <a:cs typeface="Tahoma"/>
            </a:endParaRPr>
          </a:p>
          <a:p>
            <a:pPr marL="573821">
              <a:spcBef>
                <a:spcPts val="585"/>
              </a:spcBef>
            </a:pPr>
            <a:r>
              <a:rPr sz="2180" b="1" spc="-59" dirty="0">
                <a:solidFill>
                  <a:srgbClr val="FF0000"/>
                </a:solidFill>
                <a:latin typeface="Arial"/>
                <a:cs typeface="Arial"/>
              </a:rPr>
              <a:t>Input</a:t>
            </a:r>
            <a:r>
              <a:rPr sz="2180" spc="-59" dirty="0">
                <a:solidFill>
                  <a:srgbClr val="FF0000"/>
                </a:solidFill>
                <a:latin typeface="Tahoma"/>
                <a:cs typeface="Tahoma"/>
              </a:rPr>
              <a:t>:</a:t>
            </a:r>
            <a:r>
              <a:rPr sz="2180" spc="27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80" i="1" spc="-40" dirty="0">
                <a:latin typeface="Trebuchet MS"/>
                <a:cs typeface="Trebuchet MS"/>
              </a:rPr>
              <a:t>A</a:t>
            </a:r>
            <a:r>
              <a:rPr sz="2180" spc="-40" dirty="0">
                <a:latin typeface="Lucida Sans Unicode"/>
                <a:cs typeface="Lucida Sans Unicode"/>
              </a:rPr>
              <a:t>[</a:t>
            </a:r>
            <a:r>
              <a:rPr sz="2180" spc="-40" dirty="0">
                <a:latin typeface="Tahoma"/>
                <a:cs typeface="Tahoma"/>
              </a:rPr>
              <a:t>1</a:t>
            </a:r>
            <a:r>
              <a:rPr sz="2180" spc="-327" dirty="0">
                <a:latin typeface="Tahoma"/>
                <a:cs typeface="Tahoma"/>
              </a:rPr>
              <a:t> </a:t>
            </a:r>
            <a:r>
              <a:rPr sz="2180" i="1" spc="-198" dirty="0">
                <a:latin typeface="Verdana"/>
                <a:cs typeface="Verdana"/>
              </a:rPr>
              <a:t>.</a:t>
            </a:r>
            <a:r>
              <a:rPr sz="2180" i="1" spc="-404" dirty="0">
                <a:latin typeface="Verdana"/>
                <a:cs typeface="Verdana"/>
              </a:rPr>
              <a:t> </a:t>
            </a:r>
            <a:r>
              <a:rPr sz="2180" i="1" spc="-198" dirty="0">
                <a:latin typeface="Verdana"/>
                <a:cs typeface="Verdana"/>
              </a:rPr>
              <a:t>.</a:t>
            </a:r>
            <a:r>
              <a:rPr sz="2180" i="1" spc="-416" dirty="0">
                <a:latin typeface="Verdana"/>
                <a:cs typeface="Verdana"/>
              </a:rPr>
              <a:t> </a:t>
            </a:r>
            <a:r>
              <a:rPr sz="2180" i="1" spc="-69" dirty="0">
                <a:latin typeface="Trebuchet MS"/>
                <a:cs typeface="Trebuchet MS"/>
              </a:rPr>
              <a:t>n</a:t>
            </a:r>
            <a:r>
              <a:rPr sz="2180" spc="-69" dirty="0">
                <a:latin typeface="Lucida Sans Unicode"/>
                <a:cs typeface="Lucida Sans Unicode"/>
              </a:rPr>
              <a:t>]</a:t>
            </a:r>
            <a:r>
              <a:rPr sz="2180" spc="-69" dirty="0">
                <a:latin typeface="Tahoma"/>
                <a:cs typeface="Tahoma"/>
              </a:rPr>
              <a:t>,</a:t>
            </a:r>
            <a:r>
              <a:rPr sz="2180" spc="30" dirty="0">
                <a:latin typeface="Tahoma"/>
                <a:cs typeface="Tahoma"/>
              </a:rPr>
              <a:t> </a:t>
            </a:r>
            <a:r>
              <a:rPr sz="2180" spc="-139" dirty="0">
                <a:latin typeface="Tahoma"/>
                <a:cs typeface="Tahoma"/>
              </a:rPr>
              <a:t>where</a:t>
            </a:r>
            <a:r>
              <a:rPr sz="2180" spc="30" dirty="0">
                <a:latin typeface="Tahoma"/>
                <a:cs typeface="Tahoma"/>
              </a:rPr>
              <a:t> </a:t>
            </a:r>
            <a:r>
              <a:rPr sz="2180" i="1" spc="-30" dirty="0">
                <a:latin typeface="Trebuchet MS"/>
                <a:cs typeface="Trebuchet MS"/>
              </a:rPr>
              <a:t>A</a:t>
            </a:r>
            <a:r>
              <a:rPr sz="2180" spc="-30" dirty="0">
                <a:latin typeface="Lucida Sans Unicode"/>
                <a:cs typeface="Lucida Sans Unicode"/>
              </a:rPr>
              <a:t>[</a:t>
            </a:r>
            <a:r>
              <a:rPr sz="2180" i="1" spc="-30" dirty="0">
                <a:latin typeface="Trebuchet MS"/>
                <a:cs typeface="Trebuchet MS"/>
              </a:rPr>
              <a:t>j</a:t>
            </a:r>
            <a:r>
              <a:rPr sz="2180" spc="-30" dirty="0">
                <a:latin typeface="Lucida Sans Unicode"/>
                <a:cs typeface="Lucida Sans Unicode"/>
              </a:rPr>
              <a:t>]</a:t>
            </a:r>
            <a:r>
              <a:rPr sz="2180" spc="-89" dirty="0">
                <a:latin typeface="Lucida Sans Unicode"/>
                <a:cs typeface="Lucida Sans Unicode"/>
              </a:rPr>
              <a:t> </a:t>
            </a:r>
            <a:r>
              <a:rPr sz="2180" spc="-297" dirty="0">
                <a:latin typeface="Lucida Sans Unicode"/>
                <a:cs typeface="Lucida Sans Unicode"/>
              </a:rPr>
              <a:t>∈</a:t>
            </a:r>
            <a:r>
              <a:rPr sz="2180" spc="-99" dirty="0">
                <a:latin typeface="Lucida Sans Unicode"/>
                <a:cs typeface="Lucida Sans Unicode"/>
              </a:rPr>
              <a:t> </a:t>
            </a:r>
            <a:r>
              <a:rPr sz="2180" spc="10" dirty="0">
                <a:latin typeface="Lucida Sans Unicode"/>
                <a:cs typeface="Lucida Sans Unicode"/>
              </a:rPr>
              <a:t>{</a:t>
            </a:r>
            <a:r>
              <a:rPr sz="2180" spc="10" dirty="0">
                <a:latin typeface="Tahoma"/>
                <a:cs typeface="Tahoma"/>
              </a:rPr>
              <a:t>1</a:t>
            </a:r>
            <a:r>
              <a:rPr sz="2180" i="1" spc="10" dirty="0">
                <a:latin typeface="Verdana"/>
                <a:cs typeface="Verdana"/>
              </a:rPr>
              <a:t>,</a:t>
            </a:r>
            <a:r>
              <a:rPr sz="2180" i="1" spc="-416" dirty="0">
                <a:latin typeface="Verdana"/>
                <a:cs typeface="Verdana"/>
              </a:rPr>
              <a:t> </a:t>
            </a:r>
            <a:r>
              <a:rPr sz="2180" spc="-159" dirty="0">
                <a:latin typeface="Tahoma"/>
                <a:cs typeface="Tahoma"/>
              </a:rPr>
              <a:t>2</a:t>
            </a:r>
            <a:r>
              <a:rPr sz="2180" i="1" spc="-159" dirty="0">
                <a:latin typeface="Verdana"/>
                <a:cs typeface="Verdana"/>
              </a:rPr>
              <a:t>,</a:t>
            </a:r>
            <a:r>
              <a:rPr sz="2180" i="1" spc="-404" dirty="0">
                <a:latin typeface="Verdana"/>
                <a:cs typeface="Verdana"/>
              </a:rPr>
              <a:t> </a:t>
            </a:r>
            <a:r>
              <a:rPr sz="2180" i="1" spc="-198" dirty="0">
                <a:latin typeface="Verdana"/>
                <a:cs typeface="Verdana"/>
              </a:rPr>
              <a:t>.</a:t>
            </a:r>
            <a:r>
              <a:rPr sz="2180" i="1" spc="-416" dirty="0">
                <a:latin typeface="Verdana"/>
                <a:cs typeface="Verdana"/>
              </a:rPr>
              <a:t> </a:t>
            </a:r>
            <a:r>
              <a:rPr sz="2180" i="1" spc="-198" dirty="0">
                <a:latin typeface="Verdana"/>
                <a:cs typeface="Verdana"/>
              </a:rPr>
              <a:t>.</a:t>
            </a:r>
            <a:r>
              <a:rPr sz="2180" i="1" spc="-404" dirty="0">
                <a:latin typeface="Verdana"/>
                <a:cs typeface="Verdana"/>
              </a:rPr>
              <a:t> </a:t>
            </a:r>
            <a:r>
              <a:rPr sz="2180" i="1" spc="-198" dirty="0">
                <a:latin typeface="Verdana"/>
                <a:cs typeface="Verdana"/>
              </a:rPr>
              <a:t>.</a:t>
            </a:r>
            <a:r>
              <a:rPr sz="2180" i="1" spc="-404" dirty="0">
                <a:latin typeface="Verdana"/>
                <a:cs typeface="Verdana"/>
              </a:rPr>
              <a:t> </a:t>
            </a:r>
            <a:r>
              <a:rPr sz="2180" i="1" spc="-198" dirty="0">
                <a:latin typeface="Verdana"/>
                <a:cs typeface="Verdana"/>
              </a:rPr>
              <a:t>,</a:t>
            </a:r>
            <a:r>
              <a:rPr sz="2180" i="1" spc="-416" dirty="0">
                <a:latin typeface="Verdana"/>
                <a:cs typeface="Verdana"/>
              </a:rPr>
              <a:t> </a:t>
            </a:r>
            <a:r>
              <a:rPr sz="2180" i="1" spc="139" dirty="0">
                <a:latin typeface="Trebuchet MS"/>
                <a:cs typeface="Trebuchet MS"/>
              </a:rPr>
              <a:t>k</a:t>
            </a:r>
            <a:r>
              <a:rPr sz="2180" spc="139" dirty="0">
                <a:latin typeface="Lucida Sans Unicode"/>
                <a:cs typeface="Lucida Sans Unicode"/>
              </a:rPr>
              <a:t>}</a:t>
            </a:r>
            <a:r>
              <a:rPr sz="2180" spc="139" dirty="0">
                <a:latin typeface="Tahoma"/>
                <a:cs typeface="Tahoma"/>
              </a:rPr>
              <a:t>.</a:t>
            </a:r>
            <a:endParaRPr sz="2180" dirty="0">
              <a:latin typeface="Tahoma"/>
              <a:cs typeface="Tahoma"/>
            </a:endParaRPr>
          </a:p>
          <a:p>
            <a:pPr marL="573821">
              <a:spcBef>
                <a:spcPts val="565"/>
              </a:spcBef>
            </a:pPr>
            <a:r>
              <a:rPr sz="2180" b="1" spc="-40" dirty="0">
                <a:solidFill>
                  <a:srgbClr val="FF0000"/>
                </a:solidFill>
                <a:latin typeface="Arial"/>
                <a:cs typeface="Arial"/>
              </a:rPr>
              <a:t>Output</a:t>
            </a:r>
            <a:r>
              <a:rPr sz="2180" spc="-40" dirty="0">
                <a:solidFill>
                  <a:srgbClr val="FF0000"/>
                </a:solidFill>
                <a:latin typeface="Tahoma"/>
                <a:cs typeface="Tahoma"/>
              </a:rPr>
              <a:t>: </a:t>
            </a:r>
            <a:r>
              <a:rPr sz="2180" i="1" spc="40" dirty="0">
                <a:latin typeface="Trebuchet MS"/>
                <a:cs typeface="Trebuchet MS"/>
              </a:rPr>
              <a:t>B</a:t>
            </a:r>
            <a:r>
              <a:rPr sz="2180" spc="40" dirty="0">
                <a:latin typeface="Lucida Sans Unicode"/>
                <a:cs typeface="Lucida Sans Unicode"/>
              </a:rPr>
              <a:t>[</a:t>
            </a:r>
            <a:r>
              <a:rPr sz="2180" spc="40" dirty="0">
                <a:latin typeface="Tahoma"/>
                <a:cs typeface="Tahoma"/>
              </a:rPr>
              <a:t>1 </a:t>
            </a:r>
            <a:r>
              <a:rPr sz="2180" i="1" spc="-198" dirty="0">
                <a:latin typeface="Verdana"/>
                <a:cs typeface="Verdana"/>
              </a:rPr>
              <a:t>. . </a:t>
            </a:r>
            <a:r>
              <a:rPr sz="2180" i="1" spc="-69" dirty="0">
                <a:latin typeface="Trebuchet MS"/>
                <a:cs typeface="Trebuchet MS"/>
              </a:rPr>
              <a:t>n</a:t>
            </a:r>
            <a:r>
              <a:rPr sz="2180" spc="-69" dirty="0">
                <a:latin typeface="Lucida Sans Unicode"/>
                <a:cs typeface="Lucida Sans Unicode"/>
              </a:rPr>
              <a:t>]</a:t>
            </a:r>
            <a:r>
              <a:rPr sz="2180" spc="-69" dirty="0">
                <a:latin typeface="Tahoma"/>
                <a:cs typeface="Tahoma"/>
              </a:rPr>
              <a:t>,</a:t>
            </a:r>
            <a:r>
              <a:rPr sz="2180" spc="-466" dirty="0">
                <a:latin typeface="Tahoma"/>
                <a:cs typeface="Tahoma"/>
              </a:rPr>
              <a:t> </a:t>
            </a:r>
            <a:r>
              <a:rPr sz="2180" spc="-99" dirty="0">
                <a:latin typeface="Tahoma"/>
                <a:cs typeface="Tahoma"/>
              </a:rPr>
              <a:t>sorted.</a:t>
            </a:r>
            <a:endParaRPr sz="2180" dirty="0">
              <a:latin typeface="Tahoma"/>
              <a:cs typeface="Tahoma"/>
            </a:endParaRPr>
          </a:p>
          <a:p>
            <a:pPr marL="573821">
              <a:spcBef>
                <a:spcPts val="565"/>
              </a:spcBef>
            </a:pPr>
            <a:r>
              <a:rPr sz="2180" b="1" spc="-89" dirty="0">
                <a:solidFill>
                  <a:srgbClr val="FF0000"/>
                </a:solidFill>
                <a:latin typeface="Arial"/>
                <a:cs typeface="Arial"/>
              </a:rPr>
              <a:t>Auxiliary </a:t>
            </a:r>
            <a:r>
              <a:rPr sz="2180" b="1" spc="-119" dirty="0">
                <a:solidFill>
                  <a:srgbClr val="FF0000"/>
                </a:solidFill>
                <a:latin typeface="Arial"/>
                <a:cs typeface="Arial"/>
              </a:rPr>
              <a:t>storage</a:t>
            </a:r>
            <a:r>
              <a:rPr sz="2180" spc="-119" dirty="0">
                <a:solidFill>
                  <a:srgbClr val="FF0000"/>
                </a:solidFill>
                <a:latin typeface="Tahoma"/>
                <a:cs typeface="Tahoma"/>
              </a:rPr>
              <a:t>: </a:t>
            </a:r>
            <a:r>
              <a:rPr sz="2180" i="1" spc="69" dirty="0">
                <a:latin typeface="Trebuchet MS"/>
                <a:cs typeface="Trebuchet MS"/>
              </a:rPr>
              <a:t>C</a:t>
            </a:r>
            <a:r>
              <a:rPr sz="2180" i="1" spc="-436" dirty="0">
                <a:latin typeface="Trebuchet MS"/>
                <a:cs typeface="Trebuchet MS"/>
              </a:rPr>
              <a:t> </a:t>
            </a:r>
            <a:r>
              <a:rPr sz="2180" spc="-99" dirty="0">
                <a:latin typeface="Lucida Sans Unicode"/>
                <a:cs typeface="Lucida Sans Unicode"/>
              </a:rPr>
              <a:t>[</a:t>
            </a:r>
            <a:r>
              <a:rPr sz="2180" spc="-99" dirty="0">
                <a:latin typeface="Tahoma"/>
                <a:cs typeface="Tahoma"/>
              </a:rPr>
              <a:t>1 </a:t>
            </a:r>
            <a:r>
              <a:rPr sz="2180" i="1" spc="-198" dirty="0">
                <a:latin typeface="Verdana"/>
                <a:cs typeface="Verdana"/>
              </a:rPr>
              <a:t>. . </a:t>
            </a:r>
            <a:r>
              <a:rPr sz="2180" i="1" spc="-10" dirty="0">
                <a:latin typeface="Trebuchet MS"/>
                <a:cs typeface="Trebuchet MS"/>
              </a:rPr>
              <a:t>k</a:t>
            </a:r>
            <a:r>
              <a:rPr sz="2180" spc="-10" dirty="0">
                <a:latin typeface="Lucida Sans Unicode"/>
                <a:cs typeface="Lucida Sans Unicode"/>
              </a:rPr>
              <a:t>]</a:t>
            </a:r>
            <a:r>
              <a:rPr sz="2180" spc="-10" dirty="0">
                <a:latin typeface="Tahoma"/>
                <a:cs typeface="Tahoma"/>
              </a:rPr>
              <a:t>.</a:t>
            </a:r>
            <a:endParaRPr sz="2180" dirty="0">
              <a:latin typeface="Tahoma"/>
              <a:cs typeface="Tahoma"/>
            </a:endParaRPr>
          </a:p>
          <a:p>
            <a:pPr marL="25168">
              <a:spcBef>
                <a:spcPts val="2051"/>
              </a:spcBef>
            </a:pPr>
            <a:r>
              <a:rPr sz="2180" spc="-59" dirty="0">
                <a:solidFill>
                  <a:srgbClr val="FFFFFF"/>
                </a:solidFill>
                <a:latin typeface="Tahoma"/>
                <a:cs typeface="Tahoma"/>
              </a:rPr>
              <a:t>Counting </a:t>
            </a:r>
            <a:r>
              <a:rPr sz="2180" spc="-79" dirty="0">
                <a:solidFill>
                  <a:srgbClr val="FFFFFF"/>
                </a:solidFill>
                <a:latin typeface="Tahoma"/>
                <a:cs typeface="Tahoma"/>
              </a:rPr>
              <a:t>sort</a:t>
            </a:r>
            <a:r>
              <a:rPr sz="2180" spc="11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80" spc="-79" dirty="0">
                <a:solidFill>
                  <a:srgbClr val="FFFFFF"/>
                </a:solidFill>
                <a:latin typeface="Tahoma"/>
                <a:cs typeface="Tahoma"/>
              </a:rPr>
              <a:t>algorithm</a:t>
            </a:r>
            <a:endParaRPr sz="2180"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7577" y="6301306"/>
            <a:ext cx="201336" cy="2013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616910" y="3101906"/>
            <a:ext cx="7906097" cy="100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818245" y="6276139"/>
            <a:ext cx="7805332" cy="2265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8523009" y="2844951"/>
            <a:ext cx="100571" cy="345635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616907" y="3189631"/>
            <a:ext cx="7906202" cy="3212564"/>
          </a:xfrm>
          <a:custGeom>
            <a:avLst/>
            <a:gdLst/>
            <a:ahLst/>
            <a:cxnLst/>
            <a:rect l="l" t="t" r="r" b="b"/>
            <a:pathLst>
              <a:path w="3989704" h="1621155">
                <a:moveTo>
                  <a:pt x="3989652" y="0"/>
                </a:moveTo>
                <a:lnTo>
                  <a:pt x="0" y="0"/>
                </a:lnTo>
                <a:lnTo>
                  <a:pt x="0" y="1570243"/>
                </a:lnTo>
                <a:lnTo>
                  <a:pt x="4008" y="1589968"/>
                </a:lnTo>
                <a:lnTo>
                  <a:pt x="14922" y="1606121"/>
                </a:lnTo>
                <a:lnTo>
                  <a:pt x="31075" y="1617035"/>
                </a:lnTo>
                <a:lnTo>
                  <a:pt x="50800" y="1621044"/>
                </a:lnTo>
                <a:lnTo>
                  <a:pt x="3938852" y="1621044"/>
                </a:lnTo>
                <a:lnTo>
                  <a:pt x="3958576" y="1617035"/>
                </a:lnTo>
                <a:lnTo>
                  <a:pt x="3974729" y="1606121"/>
                </a:lnTo>
                <a:lnTo>
                  <a:pt x="3985644" y="1589968"/>
                </a:lnTo>
                <a:lnTo>
                  <a:pt x="3989652" y="1570243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8523009" y="2920416"/>
            <a:ext cx="0" cy="3418933"/>
          </a:xfrm>
          <a:custGeom>
            <a:avLst/>
            <a:gdLst/>
            <a:ahLst/>
            <a:cxnLst/>
            <a:rect l="l" t="t" r="r" b="b"/>
            <a:pathLst>
              <a:path h="1725295">
                <a:moveTo>
                  <a:pt x="0" y="172514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8523009" y="2895248"/>
            <a:ext cx="0" cy="25167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/>
          <p:nvPr/>
        </p:nvSpPr>
        <p:spPr>
          <a:xfrm>
            <a:off x="8523009" y="2870081"/>
            <a:ext cx="0" cy="25167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9" name="object 19"/>
          <p:cNvSpPr/>
          <p:nvPr/>
        </p:nvSpPr>
        <p:spPr>
          <a:xfrm>
            <a:off x="8523009" y="2844914"/>
            <a:ext cx="0" cy="25167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0" name="object 20"/>
          <p:cNvSpPr txBox="1"/>
          <p:nvPr/>
        </p:nvSpPr>
        <p:spPr>
          <a:xfrm>
            <a:off x="1733140" y="3524984"/>
            <a:ext cx="1457168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b="1" spc="-139" dirty="0">
                <a:latin typeface="Arial"/>
                <a:cs typeface="Arial"/>
              </a:rPr>
              <a:t>do</a:t>
            </a:r>
            <a:r>
              <a:rPr sz="2180" b="1" dirty="0">
                <a:latin typeface="Arial"/>
                <a:cs typeface="Arial"/>
              </a:rPr>
              <a:t> </a:t>
            </a:r>
            <a:r>
              <a:rPr sz="2180" i="1" spc="69" dirty="0">
                <a:latin typeface="Trebuchet MS"/>
                <a:cs typeface="Trebuchet MS"/>
              </a:rPr>
              <a:t>C</a:t>
            </a:r>
            <a:r>
              <a:rPr sz="2180" i="1" spc="-446" dirty="0">
                <a:latin typeface="Trebuchet MS"/>
                <a:cs typeface="Trebuchet MS"/>
              </a:rPr>
              <a:t> </a:t>
            </a:r>
            <a:r>
              <a:rPr sz="2180" spc="-129" dirty="0">
                <a:latin typeface="Lucida Sans Unicode"/>
                <a:cs typeface="Lucida Sans Unicode"/>
              </a:rPr>
              <a:t>[</a:t>
            </a:r>
            <a:r>
              <a:rPr sz="2180" i="1" spc="-129" dirty="0">
                <a:latin typeface="Trebuchet MS"/>
                <a:cs typeface="Trebuchet MS"/>
              </a:rPr>
              <a:t>i</a:t>
            </a:r>
            <a:r>
              <a:rPr sz="2180" i="1" spc="-476" dirty="0">
                <a:latin typeface="Trebuchet MS"/>
                <a:cs typeface="Trebuchet MS"/>
              </a:rPr>
              <a:t> </a:t>
            </a:r>
            <a:r>
              <a:rPr sz="2180" spc="-89" dirty="0">
                <a:latin typeface="Lucida Sans Unicode"/>
                <a:cs typeface="Lucida Sans Unicode"/>
              </a:rPr>
              <a:t>]</a:t>
            </a:r>
            <a:r>
              <a:rPr sz="2180" spc="-119" dirty="0">
                <a:latin typeface="Lucida Sans Unicode"/>
                <a:cs typeface="Lucida Sans Unicode"/>
              </a:rPr>
              <a:t> </a:t>
            </a:r>
            <a:r>
              <a:rPr sz="2180" spc="109" dirty="0">
                <a:latin typeface="Lucida Sans Unicode"/>
                <a:cs typeface="Lucida Sans Unicode"/>
              </a:rPr>
              <a:t>←</a:t>
            </a:r>
            <a:r>
              <a:rPr sz="2180" spc="-139" dirty="0">
                <a:latin typeface="Lucida Sans Unicode"/>
                <a:cs typeface="Lucida Sans Unicode"/>
              </a:rPr>
              <a:t> </a:t>
            </a:r>
            <a:r>
              <a:rPr sz="2180" spc="-109" dirty="0">
                <a:latin typeface="Tahoma"/>
                <a:cs typeface="Tahoma"/>
              </a:rPr>
              <a:t>0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33141" y="4206959"/>
            <a:ext cx="2940761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b="1" spc="-139" dirty="0">
                <a:latin typeface="Arial"/>
                <a:cs typeface="Arial"/>
              </a:rPr>
              <a:t>do</a:t>
            </a:r>
            <a:r>
              <a:rPr sz="2180" b="1" spc="10" dirty="0">
                <a:latin typeface="Arial"/>
                <a:cs typeface="Arial"/>
              </a:rPr>
              <a:t> </a:t>
            </a:r>
            <a:r>
              <a:rPr sz="2180" i="1" spc="69" dirty="0">
                <a:latin typeface="Trebuchet MS"/>
                <a:cs typeface="Trebuchet MS"/>
              </a:rPr>
              <a:t>C</a:t>
            </a:r>
            <a:r>
              <a:rPr sz="2180" i="1" spc="-436" dirty="0">
                <a:latin typeface="Trebuchet MS"/>
                <a:cs typeface="Trebuchet MS"/>
              </a:rPr>
              <a:t> </a:t>
            </a:r>
            <a:r>
              <a:rPr sz="2180" spc="-50" dirty="0">
                <a:latin typeface="Lucida Sans Unicode"/>
                <a:cs typeface="Lucida Sans Unicode"/>
              </a:rPr>
              <a:t>[</a:t>
            </a:r>
            <a:r>
              <a:rPr sz="2180" i="1" spc="-50" dirty="0">
                <a:latin typeface="Trebuchet MS"/>
                <a:cs typeface="Trebuchet MS"/>
              </a:rPr>
              <a:t>A</a:t>
            </a:r>
            <a:r>
              <a:rPr sz="2180" spc="-50" dirty="0">
                <a:latin typeface="Lucida Sans Unicode"/>
                <a:cs typeface="Lucida Sans Unicode"/>
              </a:rPr>
              <a:t>[</a:t>
            </a:r>
            <a:r>
              <a:rPr sz="2180" i="1" spc="-50" dirty="0">
                <a:latin typeface="Trebuchet MS"/>
                <a:cs typeface="Trebuchet MS"/>
              </a:rPr>
              <a:t>j</a:t>
            </a:r>
            <a:r>
              <a:rPr sz="2180" spc="-50" dirty="0">
                <a:latin typeface="Lucida Sans Unicode"/>
                <a:cs typeface="Lucida Sans Unicode"/>
              </a:rPr>
              <a:t>]]</a:t>
            </a:r>
            <a:r>
              <a:rPr sz="2180" spc="-109" dirty="0">
                <a:latin typeface="Lucida Sans Unicode"/>
                <a:cs typeface="Lucida Sans Unicode"/>
              </a:rPr>
              <a:t> </a:t>
            </a:r>
            <a:r>
              <a:rPr sz="2180" spc="109" dirty="0">
                <a:latin typeface="Lucida Sans Unicode"/>
                <a:cs typeface="Lucida Sans Unicode"/>
              </a:rPr>
              <a:t>←</a:t>
            </a:r>
            <a:r>
              <a:rPr sz="2180" spc="-119" dirty="0">
                <a:latin typeface="Lucida Sans Unicode"/>
                <a:cs typeface="Lucida Sans Unicode"/>
              </a:rPr>
              <a:t> </a:t>
            </a:r>
            <a:r>
              <a:rPr sz="2180" i="1" spc="69" dirty="0">
                <a:latin typeface="Trebuchet MS"/>
                <a:cs typeface="Trebuchet MS"/>
              </a:rPr>
              <a:t>C</a:t>
            </a:r>
            <a:r>
              <a:rPr sz="2180" i="1" spc="-436" dirty="0">
                <a:latin typeface="Trebuchet MS"/>
                <a:cs typeface="Trebuchet MS"/>
              </a:rPr>
              <a:t> </a:t>
            </a:r>
            <a:r>
              <a:rPr sz="2180" spc="-50" dirty="0">
                <a:latin typeface="Lucida Sans Unicode"/>
                <a:cs typeface="Lucida Sans Unicode"/>
              </a:rPr>
              <a:t>[</a:t>
            </a:r>
            <a:r>
              <a:rPr sz="2180" i="1" spc="-50" dirty="0">
                <a:latin typeface="Trebuchet MS"/>
                <a:cs typeface="Trebuchet MS"/>
              </a:rPr>
              <a:t>A</a:t>
            </a:r>
            <a:r>
              <a:rPr sz="2180" spc="-50" dirty="0">
                <a:latin typeface="Lucida Sans Unicode"/>
                <a:cs typeface="Lucida Sans Unicode"/>
              </a:rPr>
              <a:t>[</a:t>
            </a:r>
            <a:r>
              <a:rPr sz="2180" i="1" spc="-50" dirty="0">
                <a:latin typeface="Trebuchet MS"/>
                <a:cs typeface="Trebuchet MS"/>
              </a:rPr>
              <a:t>j</a:t>
            </a:r>
            <a:r>
              <a:rPr sz="2180" spc="-50" dirty="0">
                <a:latin typeface="Lucida Sans Unicode"/>
                <a:cs typeface="Lucida Sans Unicode"/>
              </a:rPr>
              <a:t>]]</a:t>
            </a:r>
            <a:r>
              <a:rPr sz="2180" spc="-218" dirty="0">
                <a:latin typeface="Lucida Sans Unicode"/>
                <a:cs typeface="Lucida Sans Unicode"/>
              </a:rPr>
              <a:t> </a:t>
            </a:r>
            <a:r>
              <a:rPr sz="2180" spc="-59" dirty="0">
                <a:latin typeface="Lucida Sans Unicode"/>
                <a:cs typeface="Lucida Sans Unicode"/>
              </a:rPr>
              <a:t>+</a:t>
            </a:r>
            <a:r>
              <a:rPr sz="2180" spc="-226" dirty="0">
                <a:latin typeface="Lucida Sans Unicode"/>
                <a:cs typeface="Lucida Sans Unicode"/>
              </a:rPr>
              <a:t> </a:t>
            </a:r>
            <a:r>
              <a:rPr sz="2180" spc="-109" dirty="0">
                <a:latin typeface="Tahoma"/>
                <a:cs typeface="Tahoma"/>
              </a:rPr>
              <a:t>1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33141" y="4888933"/>
            <a:ext cx="3036395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b="1" spc="-139" dirty="0">
                <a:latin typeface="Arial"/>
                <a:cs typeface="Arial"/>
              </a:rPr>
              <a:t>do</a:t>
            </a:r>
            <a:r>
              <a:rPr sz="2180" b="1" spc="30" dirty="0">
                <a:latin typeface="Arial"/>
                <a:cs typeface="Arial"/>
              </a:rPr>
              <a:t> </a:t>
            </a:r>
            <a:r>
              <a:rPr sz="2180" i="1" spc="69" dirty="0">
                <a:latin typeface="Trebuchet MS"/>
                <a:cs typeface="Trebuchet MS"/>
              </a:rPr>
              <a:t>C</a:t>
            </a:r>
            <a:r>
              <a:rPr sz="2180" i="1" spc="-436" dirty="0">
                <a:latin typeface="Trebuchet MS"/>
                <a:cs typeface="Trebuchet MS"/>
              </a:rPr>
              <a:t> </a:t>
            </a:r>
            <a:r>
              <a:rPr sz="2180" spc="-129" dirty="0">
                <a:latin typeface="Lucida Sans Unicode"/>
                <a:cs typeface="Lucida Sans Unicode"/>
              </a:rPr>
              <a:t>[</a:t>
            </a:r>
            <a:r>
              <a:rPr sz="2180" i="1" spc="-129" dirty="0">
                <a:latin typeface="Trebuchet MS"/>
                <a:cs typeface="Trebuchet MS"/>
              </a:rPr>
              <a:t>i</a:t>
            </a:r>
            <a:r>
              <a:rPr sz="2180" i="1" spc="-466" dirty="0">
                <a:latin typeface="Trebuchet MS"/>
                <a:cs typeface="Trebuchet MS"/>
              </a:rPr>
              <a:t> </a:t>
            </a:r>
            <a:r>
              <a:rPr sz="2180" spc="-89" dirty="0">
                <a:latin typeface="Lucida Sans Unicode"/>
                <a:cs typeface="Lucida Sans Unicode"/>
              </a:rPr>
              <a:t>]</a:t>
            </a:r>
            <a:r>
              <a:rPr sz="2180" spc="-99" dirty="0">
                <a:latin typeface="Lucida Sans Unicode"/>
                <a:cs typeface="Lucida Sans Unicode"/>
              </a:rPr>
              <a:t> </a:t>
            </a:r>
            <a:r>
              <a:rPr sz="2180" spc="109" dirty="0">
                <a:latin typeface="Lucida Sans Unicode"/>
                <a:cs typeface="Lucida Sans Unicode"/>
              </a:rPr>
              <a:t>←</a:t>
            </a:r>
            <a:r>
              <a:rPr sz="2180" spc="-99" dirty="0">
                <a:latin typeface="Lucida Sans Unicode"/>
                <a:cs typeface="Lucida Sans Unicode"/>
              </a:rPr>
              <a:t> </a:t>
            </a:r>
            <a:r>
              <a:rPr sz="2180" i="1" spc="69" dirty="0">
                <a:latin typeface="Trebuchet MS"/>
                <a:cs typeface="Trebuchet MS"/>
              </a:rPr>
              <a:t>C</a:t>
            </a:r>
            <a:r>
              <a:rPr sz="2180" i="1" spc="-426" dirty="0">
                <a:latin typeface="Trebuchet MS"/>
                <a:cs typeface="Trebuchet MS"/>
              </a:rPr>
              <a:t> </a:t>
            </a:r>
            <a:r>
              <a:rPr sz="2180" spc="-129" dirty="0">
                <a:latin typeface="Lucida Sans Unicode"/>
                <a:cs typeface="Lucida Sans Unicode"/>
              </a:rPr>
              <a:t>[</a:t>
            </a:r>
            <a:r>
              <a:rPr sz="2180" i="1" spc="-129" dirty="0">
                <a:latin typeface="Trebuchet MS"/>
                <a:cs typeface="Trebuchet MS"/>
              </a:rPr>
              <a:t>i</a:t>
            </a:r>
            <a:r>
              <a:rPr sz="2180" i="1" spc="-466" dirty="0">
                <a:latin typeface="Trebuchet MS"/>
                <a:cs typeface="Trebuchet MS"/>
              </a:rPr>
              <a:t> </a:t>
            </a:r>
            <a:r>
              <a:rPr sz="2180" spc="-89" dirty="0">
                <a:latin typeface="Lucida Sans Unicode"/>
                <a:cs typeface="Lucida Sans Unicode"/>
              </a:rPr>
              <a:t>]</a:t>
            </a:r>
            <a:r>
              <a:rPr sz="2180" spc="-218" dirty="0">
                <a:latin typeface="Lucida Sans Unicode"/>
                <a:cs typeface="Lucida Sans Unicode"/>
              </a:rPr>
              <a:t> </a:t>
            </a:r>
            <a:r>
              <a:rPr sz="2180" spc="-59" dirty="0">
                <a:latin typeface="Lucida Sans Unicode"/>
                <a:cs typeface="Lucida Sans Unicode"/>
              </a:rPr>
              <a:t>+</a:t>
            </a:r>
            <a:r>
              <a:rPr sz="2180" spc="-208" dirty="0">
                <a:latin typeface="Lucida Sans Unicode"/>
                <a:cs typeface="Lucida Sans Unicode"/>
              </a:rPr>
              <a:t> </a:t>
            </a:r>
            <a:r>
              <a:rPr sz="2180" i="1" spc="69" dirty="0">
                <a:latin typeface="Trebuchet MS"/>
                <a:cs typeface="Trebuchet MS"/>
              </a:rPr>
              <a:t>C</a:t>
            </a:r>
            <a:r>
              <a:rPr sz="2180" i="1" spc="-436" dirty="0">
                <a:latin typeface="Trebuchet MS"/>
                <a:cs typeface="Trebuchet MS"/>
              </a:rPr>
              <a:t> </a:t>
            </a:r>
            <a:r>
              <a:rPr sz="2180" spc="-129" dirty="0">
                <a:latin typeface="Lucida Sans Unicode"/>
                <a:cs typeface="Lucida Sans Unicode"/>
              </a:rPr>
              <a:t>[</a:t>
            </a:r>
            <a:r>
              <a:rPr sz="2180" i="1" spc="-129" dirty="0">
                <a:latin typeface="Trebuchet MS"/>
                <a:cs typeface="Trebuchet MS"/>
              </a:rPr>
              <a:t>i</a:t>
            </a:r>
            <a:r>
              <a:rPr sz="2180" i="1" spc="10" dirty="0">
                <a:latin typeface="Trebuchet MS"/>
                <a:cs typeface="Trebuchet MS"/>
              </a:rPr>
              <a:t> </a:t>
            </a:r>
            <a:r>
              <a:rPr sz="2180" spc="-59" dirty="0">
                <a:latin typeface="Lucida Sans Unicode"/>
                <a:cs typeface="Lucida Sans Unicode"/>
              </a:rPr>
              <a:t>−</a:t>
            </a:r>
            <a:r>
              <a:rPr sz="2180" spc="-218" dirty="0">
                <a:latin typeface="Lucida Sans Unicode"/>
                <a:cs typeface="Lucida Sans Unicode"/>
              </a:rPr>
              <a:t> </a:t>
            </a:r>
            <a:r>
              <a:rPr sz="2180" spc="-99" dirty="0">
                <a:latin typeface="Tahoma"/>
                <a:cs typeface="Tahoma"/>
              </a:rPr>
              <a:t>1</a:t>
            </a:r>
            <a:r>
              <a:rPr sz="2180" spc="-99" dirty="0">
                <a:latin typeface="Lucida Sans Unicode"/>
                <a:cs typeface="Lucida Sans Unicode"/>
              </a:rPr>
              <a:t>]</a:t>
            </a:r>
            <a:endParaRPr sz="218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46028" y="4206959"/>
            <a:ext cx="2465105" cy="1052897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i="1" spc="466" dirty="0">
                <a:latin typeface="Arial"/>
                <a:cs typeface="Arial"/>
              </a:rPr>
              <a:t>d</a:t>
            </a:r>
            <a:r>
              <a:rPr sz="2180" i="1" spc="89" dirty="0">
                <a:latin typeface="Arial"/>
                <a:cs typeface="Arial"/>
              </a:rPr>
              <a:t> </a:t>
            </a:r>
            <a:r>
              <a:rPr sz="2180" i="1" spc="69" dirty="0">
                <a:latin typeface="Trebuchet MS"/>
                <a:cs typeface="Trebuchet MS"/>
              </a:rPr>
              <a:t>C</a:t>
            </a:r>
            <a:r>
              <a:rPr sz="2180" i="1" spc="-436" dirty="0">
                <a:latin typeface="Trebuchet MS"/>
                <a:cs typeface="Trebuchet MS"/>
              </a:rPr>
              <a:t> </a:t>
            </a:r>
            <a:r>
              <a:rPr sz="2180" spc="-129" dirty="0">
                <a:latin typeface="Lucida Sans Unicode"/>
                <a:cs typeface="Lucida Sans Unicode"/>
              </a:rPr>
              <a:t>[</a:t>
            </a:r>
            <a:r>
              <a:rPr sz="2180" i="1" spc="-129" dirty="0">
                <a:latin typeface="Trebuchet MS"/>
                <a:cs typeface="Trebuchet MS"/>
              </a:rPr>
              <a:t>i</a:t>
            </a:r>
            <a:r>
              <a:rPr sz="2180" i="1" spc="-466" dirty="0">
                <a:latin typeface="Trebuchet MS"/>
                <a:cs typeface="Trebuchet MS"/>
              </a:rPr>
              <a:t> </a:t>
            </a:r>
            <a:r>
              <a:rPr sz="2180" spc="-89" dirty="0">
                <a:latin typeface="Lucida Sans Unicode"/>
                <a:cs typeface="Lucida Sans Unicode"/>
              </a:rPr>
              <a:t>]</a:t>
            </a:r>
            <a:r>
              <a:rPr sz="2180" spc="-109" dirty="0">
                <a:latin typeface="Lucida Sans Unicode"/>
                <a:cs typeface="Lucida Sans Unicode"/>
              </a:rPr>
              <a:t> </a:t>
            </a:r>
            <a:r>
              <a:rPr sz="2180" spc="-59" dirty="0">
                <a:latin typeface="Lucida Sans Unicode"/>
                <a:cs typeface="Lucida Sans Unicode"/>
              </a:rPr>
              <a:t>=</a:t>
            </a:r>
            <a:r>
              <a:rPr sz="2180" spc="-109" dirty="0">
                <a:latin typeface="Lucida Sans Unicode"/>
                <a:cs typeface="Lucida Sans Unicode"/>
              </a:rPr>
              <a:t> </a:t>
            </a:r>
            <a:r>
              <a:rPr sz="2180" spc="-59" dirty="0">
                <a:latin typeface="Lucida Sans Unicode"/>
                <a:cs typeface="Lucida Sans Unicode"/>
              </a:rPr>
              <a:t>|{</a:t>
            </a:r>
            <a:r>
              <a:rPr sz="2180" i="1" spc="-59" dirty="0">
                <a:latin typeface="Trebuchet MS"/>
                <a:cs typeface="Trebuchet MS"/>
              </a:rPr>
              <a:t>key</a:t>
            </a:r>
            <a:r>
              <a:rPr sz="2180" i="1" spc="149" dirty="0">
                <a:latin typeface="Trebuchet MS"/>
                <a:cs typeface="Trebuchet MS"/>
              </a:rPr>
              <a:t> </a:t>
            </a:r>
            <a:r>
              <a:rPr sz="2180" spc="-59" dirty="0">
                <a:latin typeface="Lucida Sans Unicode"/>
                <a:cs typeface="Lucida Sans Unicode"/>
              </a:rPr>
              <a:t>=</a:t>
            </a:r>
            <a:r>
              <a:rPr sz="2180" spc="-99" dirty="0">
                <a:latin typeface="Lucida Sans Unicode"/>
                <a:cs typeface="Lucida Sans Unicode"/>
              </a:rPr>
              <a:t> </a:t>
            </a:r>
            <a:r>
              <a:rPr sz="2180" i="1" spc="-159" dirty="0">
                <a:latin typeface="Trebuchet MS"/>
                <a:cs typeface="Trebuchet MS"/>
              </a:rPr>
              <a:t>i</a:t>
            </a:r>
            <a:r>
              <a:rPr sz="2180" i="1" spc="-476" dirty="0">
                <a:latin typeface="Trebuchet MS"/>
                <a:cs typeface="Trebuchet MS"/>
              </a:rPr>
              <a:t> </a:t>
            </a:r>
            <a:r>
              <a:rPr sz="2180" spc="79" dirty="0">
                <a:latin typeface="Lucida Sans Unicode"/>
                <a:cs typeface="Lucida Sans Unicode"/>
              </a:rPr>
              <a:t>}|</a:t>
            </a:r>
            <a:endParaRPr sz="2180" dirty="0">
              <a:latin typeface="Lucida Sans Unicode"/>
              <a:cs typeface="Lucida Sans Unicode"/>
            </a:endParaRPr>
          </a:p>
          <a:p>
            <a:pPr marL="25168">
              <a:spcBef>
                <a:spcPts val="2755"/>
              </a:spcBef>
            </a:pPr>
            <a:r>
              <a:rPr sz="2180" i="1" spc="466" dirty="0">
                <a:latin typeface="Arial"/>
                <a:cs typeface="Arial"/>
              </a:rPr>
              <a:t>d</a:t>
            </a:r>
            <a:r>
              <a:rPr sz="2180" i="1" spc="89" dirty="0">
                <a:latin typeface="Arial"/>
                <a:cs typeface="Arial"/>
              </a:rPr>
              <a:t> </a:t>
            </a:r>
            <a:r>
              <a:rPr sz="2180" i="1" spc="69" dirty="0">
                <a:latin typeface="Trebuchet MS"/>
                <a:cs typeface="Trebuchet MS"/>
              </a:rPr>
              <a:t>C</a:t>
            </a:r>
            <a:r>
              <a:rPr sz="2180" i="1" spc="-436" dirty="0">
                <a:latin typeface="Trebuchet MS"/>
                <a:cs typeface="Trebuchet MS"/>
              </a:rPr>
              <a:t> </a:t>
            </a:r>
            <a:r>
              <a:rPr sz="2180" spc="-129" dirty="0">
                <a:latin typeface="Lucida Sans Unicode"/>
                <a:cs typeface="Lucida Sans Unicode"/>
              </a:rPr>
              <a:t>[</a:t>
            </a:r>
            <a:r>
              <a:rPr sz="2180" i="1" spc="-129" dirty="0">
                <a:latin typeface="Trebuchet MS"/>
                <a:cs typeface="Trebuchet MS"/>
              </a:rPr>
              <a:t>i</a:t>
            </a:r>
            <a:r>
              <a:rPr sz="2180" i="1" spc="-466" dirty="0">
                <a:latin typeface="Trebuchet MS"/>
                <a:cs typeface="Trebuchet MS"/>
              </a:rPr>
              <a:t> </a:t>
            </a:r>
            <a:r>
              <a:rPr sz="2180" spc="-89" dirty="0">
                <a:latin typeface="Lucida Sans Unicode"/>
                <a:cs typeface="Lucida Sans Unicode"/>
              </a:rPr>
              <a:t>]</a:t>
            </a:r>
            <a:r>
              <a:rPr sz="2180" spc="-109" dirty="0">
                <a:latin typeface="Lucida Sans Unicode"/>
                <a:cs typeface="Lucida Sans Unicode"/>
              </a:rPr>
              <a:t> </a:t>
            </a:r>
            <a:r>
              <a:rPr sz="2180" spc="-59" dirty="0">
                <a:latin typeface="Lucida Sans Unicode"/>
                <a:cs typeface="Lucida Sans Unicode"/>
              </a:rPr>
              <a:t>=</a:t>
            </a:r>
            <a:r>
              <a:rPr sz="2180" spc="-99" dirty="0">
                <a:latin typeface="Lucida Sans Unicode"/>
                <a:cs typeface="Lucida Sans Unicode"/>
              </a:rPr>
              <a:t> </a:t>
            </a:r>
            <a:r>
              <a:rPr sz="2180" spc="-59" dirty="0">
                <a:latin typeface="Lucida Sans Unicode"/>
                <a:cs typeface="Lucida Sans Unicode"/>
              </a:rPr>
              <a:t>|{</a:t>
            </a:r>
            <a:r>
              <a:rPr sz="2180" i="1" spc="-59" dirty="0">
                <a:latin typeface="Trebuchet MS"/>
                <a:cs typeface="Trebuchet MS"/>
              </a:rPr>
              <a:t>key</a:t>
            </a:r>
            <a:r>
              <a:rPr sz="2180" i="1" spc="149" dirty="0">
                <a:latin typeface="Trebuchet MS"/>
                <a:cs typeface="Trebuchet MS"/>
              </a:rPr>
              <a:t> </a:t>
            </a:r>
            <a:r>
              <a:rPr sz="2180" spc="-59" dirty="0">
                <a:latin typeface="Lucida Sans Unicode"/>
                <a:cs typeface="Lucida Sans Unicode"/>
              </a:rPr>
              <a:t>≤</a:t>
            </a:r>
            <a:r>
              <a:rPr sz="2180" spc="-119" dirty="0">
                <a:latin typeface="Lucida Sans Unicode"/>
                <a:cs typeface="Lucida Sans Unicode"/>
              </a:rPr>
              <a:t> </a:t>
            </a:r>
            <a:r>
              <a:rPr sz="2180" i="1" spc="-159" dirty="0">
                <a:latin typeface="Trebuchet MS"/>
                <a:cs typeface="Trebuchet MS"/>
              </a:rPr>
              <a:t>i</a:t>
            </a:r>
            <a:r>
              <a:rPr sz="2180" i="1" spc="-466" dirty="0">
                <a:latin typeface="Trebuchet MS"/>
                <a:cs typeface="Trebuchet MS"/>
              </a:rPr>
              <a:t> </a:t>
            </a:r>
            <a:r>
              <a:rPr sz="2180" spc="79" dirty="0">
                <a:latin typeface="Lucida Sans Unicode"/>
                <a:cs typeface="Lucida Sans Unicode"/>
              </a:rPr>
              <a:t>}|</a:t>
            </a:r>
            <a:endParaRPr sz="2180" dirty="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33141" y="5570934"/>
            <a:ext cx="2462588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b="1" spc="-139" dirty="0">
                <a:latin typeface="Arial"/>
                <a:cs typeface="Arial"/>
              </a:rPr>
              <a:t>do </a:t>
            </a:r>
            <a:r>
              <a:rPr sz="2180" i="1" spc="99" dirty="0">
                <a:latin typeface="Trebuchet MS"/>
                <a:cs typeface="Trebuchet MS"/>
              </a:rPr>
              <a:t>B</a:t>
            </a:r>
            <a:r>
              <a:rPr sz="2180" spc="99" dirty="0">
                <a:latin typeface="Lucida Sans Unicode"/>
                <a:cs typeface="Lucida Sans Unicode"/>
              </a:rPr>
              <a:t>[</a:t>
            </a:r>
            <a:r>
              <a:rPr sz="2180" i="1" spc="99" dirty="0">
                <a:latin typeface="Trebuchet MS"/>
                <a:cs typeface="Trebuchet MS"/>
              </a:rPr>
              <a:t>C</a:t>
            </a:r>
            <a:r>
              <a:rPr sz="2180" i="1" spc="-575" dirty="0">
                <a:latin typeface="Trebuchet MS"/>
                <a:cs typeface="Trebuchet MS"/>
              </a:rPr>
              <a:t> </a:t>
            </a:r>
            <a:r>
              <a:rPr sz="2180" spc="-59" dirty="0">
                <a:latin typeface="Lucida Sans Unicode"/>
                <a:cs typeface="Lucida Sans Unicode"/>
              </a:rPr>
              <a:t>[</a:t>
            </a:r>
            <a:r>
              <a:rPr sz="2180" i="1" spc="-59" dirty="0">
                <a:latin typeface="Trebuchet MS"/>
                <a:cs typeface="Trebuchet MS"/>
              </a:rPr>
              <a:t>A</a:t>
            </a:r>
            <a:r>
              <a:rPr sz="2180" spc="-59" dirty="0">
                <a:latin typeface="Lucida Sans Unicode"/>
                <a:cs typeface="Lucida Sans Unicode"/>
              </a:rPr>
              <a:t>[</a:t>
            </a:r>
            <a:r>
              <a:rPr sz="2180" i="1" spc="-59" dirty="0">
                <a:latin typeface="Trebuchet MS"/>
                <a:cs typeface="Trebuchet MS"/>
              </a:rPr>
              <a:t>j</a:t>
            </a:r>
            <a:r>
              <a:rPr sz="2180" spc="-59" dirty="0">
                <a:latin typeface="Lucida Sans Unicode"/>
                <a:cs typeface="Lucida Sans Unicode"/>
              </a:rPr>
              <a:t>]]] </a:t>
            </a:r>
            <a:r>
              <a:rPr sz="2180" spc="109" dirty="0">
                <a:latin typeface="Lucida Sans Unicode"/>
                <a:cs typeface="Lucida Sans Unicode"/>
              </a:rPr>
              <a:t>← </a:t>
            </a:r>
            <a:r>
              <a:rPr sz="2180" i="1" spc="-30" dirty="0">
                <a:latin typeface="Trebuchet MS"/>
                <a:cs typeface="Trebuchet MS"/>
              </a:rPr>
              <a:t>A</a:t>
            </a:r>
            <a:r>
              <a:rPr sz="2180" spc="-30" dirty="0">
                <a:latin typeface="Lucida Sans Unicode"/>
                <a:cs typeface="Lucida Sans Unicode"/>
              </a:rPr>
              <a:t>[</a:t>
            </a:r>
            <a:r>
              <a:rPr sz="2180" i="1" spc="-30" dirty="0">
                <a:latin typeface="Trebuchet MS"/>
                <a:cs typeface="Trebuchet MS"/>
              </a:rPr>
              <a:t>j</a:t>
            </a:r>
            <a:r>
              <a:rPr sz="2180" spc="-30" dirty="0">
                <a:latin typeface="Lucida Sans Unicode"/>
                <a:cs typeface="Lucida Sans Unicode"/>
              </a:rPr>
              <a:t>]</a:t>
            </a:r>
            <a:endParaRPr sz="218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2410" y="3183972"/>
            <a:ext cx="2801084" cy="3139237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  <a:tabLst>
                <a:tab pos="436658" algn="l"/>
              </a:tabLst>
            </a:pPr>
            <a:r>
              <a:rPr sz="2180" spc="-109" dirty="0">
                <a:latin typeface="Tahoma"/>
                <a:cs typeface="Tahoma"/>
              </a:rPr>
              <a:t>1	</a:t>
            </a:r>
            <a:r>
              <a:rPr sz="2180" b="1" spc="-89" dirty="0">
                <a:latin typeface="Arial"/>
                <a:cs typeface="Arial"/>
              </a:rPr>
              <a:t>for </a:t>
            </a:r>
            <a:r>
              <a:rPr sz="2180" i="1" spc="-159" dirty="0">
                <a:latin typeface="Trebuchet MS"/>
                <a:cs typeface="Trebuchet MS"/>
              </a:rPr>
              <a:t>i  </a:t>
            </a:r>
            <a:r>
              <a:rPr sz="2180" spc="109" dirty="0">
                <a:latin typeface="Lucida Sans Unicode"/>
                <a:cs typeface="Lucida Sans Unicode"/>
              </a:rPr>
              <a:t>← </a:t>
            </a:r>
            <a:r>
              <a:rPr sz="2180" spc="-109" dirty="0">
                <a:latin typeface="Tahoma"/>
                <a:cs typeface="Tahoma"/>
              </a:rPr>
              <a:t>1 </a:t>
            </a:r>
            <a:r>
              <a:rPr sz="2180" b="1" dirty="0">
                <a:latin typeface="Arial"/>
                <a:cs typeface="Arial"/>
              </a:rPr>
              <a:t>to</a:t>
            </a:r>
            <a:r>
              <a:rPr sz="2180" b="1" spc="-89" dirty="0">
                <a:latin typeface="Arial"/>
                <a:cs typeface="Arial"/>
              </a:rPr>
              <a:t> </a:t>
            </a:r>
            <a:r>
              <a:rPr sz="2180" i="1" spc="-50" dirty="0">
                <a:latin typeface="Trebuchet MS"/>
                <a:cs typeface="Trebuchet MS"/>
              </a:rPr>
              <a:t>k</a:t>
            </a:r>
            <a:endParaRPr sz="2180">
              <a:latin typeface="Trebuchet MS"/>
              <a:cs typeface="Trebuchet MS"/>
            </a:endParaRPr>
          </a:p>
          <a:p>
            <a:pPr marL="25168">
              <a:spcBef>
                <a:spcPts val="69"/>
              </a:spcBef>
            </a:pPr>
            <a:r>
              <a:rPr sz="2180" spc="-109" dirty="0">
                <a:latin typeface="Tahoma"/>
                <a:cs typeface="Tahoma"/>
              </a:rPr>
              <a:t>2</a:t>
            </a:r>
            <a:endParaRPr sz="2180">
              <a:latin typeface="Tahoma"/>
              <a:cs typeface="Tahoma"/>
            </a:endParaRPr>
          </a:p>
          <a:p>
            <a:pPr marL="25168">
              <a:spcBef>
                <a:spcPts val="69"/>
              </a:spcBef>
              <a:tabLst>
                <a:tab pos="436658" algn="l"/>
              </a:tabLst>
            </a:pPr>
            <a:r>
              <a:rPr sz="2180" spc="-109" dirty="0">
                <a:latin typeface="Tahoma"/>
                <a:cs typeface="Tahoma"/>
              </a:rPr>
              <a:t>3	</a:t>
            </a:r>
            <a:r>
              <a:rPr sz="2180" b="1" spc="-89" dirty="0">
                <a:latin typeface="Arial"/>
                <a:cs typeface="Arial"/>
              </a:rPr>
              <a:t>for </a:t>
            </a:r>
            <a:r>
              <a:rPr sz="2180" i="1" spc="-226" dirty="0">
                <a:latin typeface="Trebuchet MS"/>
                <a:cs typeface="Trebuchet MS"/>
              </a:rPr>
              <a:t>j  </a:t>
            </a:r>
            <a:r>
              <a:rPr sz="2180" spc="109" dirty="0">
                <a:latin typeface="Lucida Sans Unicode"/>
                <a:cs typeface="Lucida Sans Unicode"/>
              </a:rPr>
              <a:t>← </a:t>
            </a:r>
            <a:r>
              <a:rPr sz="2180" spc="-109" dirty="0">
                <a:latin typeface="Tahoma"/>
                <a:cs typeface="Tahoma"/>
              </a:rPr>
              <a:t>1 </a:t>
            </a:r>
            <a:r>
              <a:rPr sz="2180" b="1" dirty="0">
                <a:latin typeface="Arial"/>
                <a:cs typeface="Arial"/>
              </a:rPr>
              <a:t>to</a:t>
            </a:r>
            <a:r>
              <a:rPr sz="2180" b="1" spc="20" dirty="0">
                <a:latin typeface="Arial"/>
                <a:cs typeface="Arial"/>
              </a:rPr>
              <a:t> </a:t>
            </a:r>
            <a:r>
              <a:rPr sz="2180" i="1" spc="-79" dirty="0">
                <a:latin typeface="Trebuchet MS"/>
                <a:cs typeface="Trebuchet MS"/>
              </a:rPr>
              <a:t>n</a:t>
            </a:r>
            <a:endParaRPr sz="2180">
              <a:latin typeface="Trebuchet MS"/>
              <a:cs typeface="Trebuchet MS"/>
            </a:endParaRPr>
          </a:p>
          <a:p>
            <a:pPr marL="25168">
              <a:spcBef>
                <a:spcPts val="69"/>
              </a:spcBef>
            </a:pPr>
            <a:r>
              <a:rPr sz="2180" spc="-109" dirty="0">
                <a:latin typeface="Tahoma"/>
                <a:cs typeface="Tahoma"/>
              </a:rPr>
              <a:t>4</a:t>
            </a:r>
            <a:endParaRPr sz="2180">
              <a:latin typeface="Tahoma"/>
              <a:cs typeface="Tahoma"/>
            </a:endParaRPr>
          </a:p>
          <a:p>
            <a:pPr marL="25168">
              <a:spcBef>
                <a:spcPts val="69"/>
              </a:spcBef>
              <a:tabLst>
                <a:tab pos="436658" algn="l"/>
              </a:tabLst>
            </a:pPr>
            <a:r>
              <a:rPr sz="2180" spc="-109" dirty="0">
                <a:latin typeface="Tahoma"/>
                <a:cs typeface="Tahoma"/>
              </a:rPr>
              <a:t>5	</a:t>
            </a:r>
            <a:r>
              <a:rPr sz="2180" b="1" spc="-89" dirty="0">
                <a:latin typeface="Arial"/>
                <a:cs typeface="Arial"/>
              </a:rPr>
              <a:t>for </a:t>
            </a:r>
            <a:r>
              <a:rPr sz="2180" i="1" spc="-159" dirty="0">
                <a:latin typeface="Trebuchet MS"/>
                <a:cs typeface="Trebuchet MS"/>
              </a:rPr>
              <a:t>i  </a:t>
            </a:r>
            <a:r>
              <a:rPr sz="2180" spc="109" dirty="0">
                <a:latin typeface="Lucida Sans Unicode"/>
                <a:cs typeface="Lucida Sans Unicode"/>
              </a:rPr>
              <a:t>← </a:t>
            </a:r>
            <a:r>
              <a:rPr sz="2180" spc="-109" dirty="0">
                <a:latin typeface="Tahoma"/>
                <a:cs typeface="Tahoma"/>
              </a:rPr>
              <a:t>2 </a:t>
            </a:r>
            <a:r>
              <a:rPr sz="2180" b="1" dirty="0">
                <a:latin typeface="Arial"/>
                <a:cs typeface="Arial"/>
              </a:rPr>
              <a:t>to</a:t>
            </a:r>
            <a:r>
              <a:rPr sz="2180" b="1" spc="-89" dirty="0">
                <a:latin typeface="Arial"/>
                <a:cs typeface="Arial"/>
              </a:rPr>
              <a:t> </a:t>
            </a:r>
            <a:r>
              <a:rPr sz="2180" i="1" spc="-50" dirty="0">
                <a:latin typeface="Trebuchet MS"/>
                <a:cs typeface="Trebuchet MS"/>
              </a:rPr>
              <a:t>k</a:t>
            </a:r>
            <a:endParaRPr sz="2180">
              <a:latin typeface="Trebuchet MS"/>
              <a:cs typeface="Trebuchet MS"/>
            </a:endParaRPr>
          </a:p>
          <a:p>
            <a:pPr marL="25168">
              <a:spcBef>
                <a:spcPts val="69"/>
              </a:spcBef>
            </a:pPr>
            <a:r>
              <a:rPr sz="2180" spc="-109" dirty="0">
                <a:latin typeface="Tahoma"/>
                <a:cs typeface="Tahoma"/>
              </a:rPr>
              <a:t>6</a:t>
            </a:r>
            <a:endParaRPr sz="2180">
              <a:latin typeface="Tahoma"/>
              <a:cs typeface="Tahoma"/>
            </a:endParaRPr>
          </a:p>
          <a:p>
            <a:pPr marL="25168" marR="10067">
              <a:lnSpc>
                <a:spcPct val="102600"/>
              </a:lnSpc>
              <a:tabLst>
                <a:tab pos="436658" algn="l"/>
              </a:tabLst>
            </a:pPr>
            <a:r>
              <a:rPr sz="2180" spc="-109" dirty="0">
                <a:latin typeface="Tahoma"/>
                <a:cs typeface="Tahoma"/>
              </a:rPr>
              <a:t>7	</a:t>
            </a:r>
            <a:r>
              <a:rPr sz="2180" b="1" spc="-89" dirty="0">
                <a:latin typeface="Arial"/>
                <a:cs typeface="Arial"/>
              </a:rPr>
              <a:t>for </a:t>
            </a:r>
            <a:r>
              <a:rPr sz="2180" i="1" spc="-226" dirty="0">
                <a:latin typeface="Trebuchet MS"/>
                <a:cs typeface="Trebuchet MS"/>
              </a:rPr>
              <a:t>j </a:t>
            </a:r>
            <a:r>
              <a:rPr sz="2180" spc="109" dirty="0">
                <a:latin typeface="Lucida Sans Unicode"/>
                <a:cs typeface="Lucida Sans Unicode"/>
              </a:rPr>
              <a:t>← </a:t>
            </a:r>
            <a:r>
              <a:rPr sz="2180" i="1" spc="-79" dirty="0">
                <a:latin typeface="Trebuchet MS"/>
                <a:cs typeface="Trebuchet MS"/>
              </a:rPr>
              <a:t>n </a:t>
            </a:r>
            <a:r>
              <a:rPr sz="2180" b="1" spc="-89" dirty="0">
                <a:latin typeface="Arial"/>
                <a:cs typeface="Arial"/>
              </a:rPr>
              <a:t>downto </a:t>
            </a:r>
            <a:r>
              <a:rPr sz="2180" spc="-109" dirty="0">
                <a:latin typeface="Tahoma"/>
                <a:cs typeface="Tahoma"/>
              </a:rPr>
              <a:t>1  8</a:t>
            </a:r>
            <a:endParaRPr sz="2180">
              <a:latin typeface="Tahoma"/>
              <a:cs typeface="Tahoma"/>
            </a:endParaRPr>
          </a:p>
          <a:p>
            <a:pPr marL="25168">
              <a:spcBef>
                <a:spcPts val="69"/>
              </a:spcBef>
            </a:pPr>
            <a:r>
              <a:rPr sz="2180" spc="-109" dirty="0">
                <a:latin typeface="Tahoma"/>
                <a:cs typeface="Tahoma"/>
              </a:rPr>
              <a:t>9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20562" y="5911921"/>
            <a:ext cx="2553189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i="1" spc="69" dirty="0">
                <a:latin typeface="Trebuchet MS"/>
                <a:cs typeface="Trebuchet MS"/>
              </a:rPr>
              <a:t>C</a:t>
            </a:r>
            <a:r>
              <a:rPr sz="2180" i="1" spc="-446" dirty="0">
                <a:latin typeface="Trebuchet MS"/>
                <a:cs typeface="Trebuchet MS"/>
              </a:rPr>
              <a:t> </a:t>
            </a:r>
            <a:r>
              <a:rPr sz="2180" spc="-50" dirty="0">
                <a:latin typeface="Lucida Sans Unicode"/>
                <a:cs typeface="Lucida Sans Unicode"/>
              </a:rPr>
              <a:t>[</a:t>
            </a:r>
            <a:r>
              <a:rPr sz="2180" i="1" spc="-50" dirty="0">
                <a:latin typeface="Trebuchet MS"/>
                <a:cs typeface="Trebuchet MS"/>
              </a:rPr>
              <a:t>A</a:t>
            </a:r>
            <a:r>
              <a:rPr sz="2180" spc="-50" dirty="0">
                <a:latin typeface="Lucida Sans Unicode"/>
                <a:cs typeface="Lucida Sans Unicode"/>
              </a:rPr>
              <a:t>[</a:t>
            </a:r>
            <a:r>
              <a:rPr sz="2180" i="1" spc="-50" dirty="0">
                <a:latin typeface="Trebuchet MS"/>
                <a:cs typeface="Trebuchet MS"/>
              </a:rPr>
              <a:t>j</a:t>
            </a:r>
            <a:r>
              <a:rPr sz="2180" spc="-50" dirty="0">
                <a:latin typeface="Lucida Sans Unicode"/>
                <a:cs typeface="Lucida Sans Unicode"/>
              </a:rPr>
              <a:t>]]</a:t>
            </a:r>
            <a:r>
              <a:rPr sz="2180" spc="-119" dirty="0">
                <a:latin typeface="Lucida Sans Unicode"/>
                <a:cs typeface="Lucida Sans Unicode"/>
              </a:rPr>
              <a:t> </a:t>
            </a:r>
            <a:r>
              <a:rPr sz="2180" spc="109" dirty="0">
                <a:latin typeface="Lucida Sans Unicode"/>
                <a:cs typeface="Lucida Sans Unicode"/>
              </a:rPr>
              <a:t>←</a:t>
            </a:r>
            <a:r>
              <a:rPr sz="2180" spc="-119" dirty="0">
                <a:latin typeface="Lucida Sans Unicode"/>
                <a:cs typeface="Lucida Sans Unicode"/>
              </a:rPr>
              <a:t> </a:t>
            </a:r>
            <a:r>
              <a:rPr sz="2180" i="1" spc="69" dirty="0">
                <a:latin typeface="Trebuchet MS"/>
                <a:cs typeface="Trebuchet MS"/>
              </a:rPr>
              <a:t>C</a:t>
            </a:r>
            <a:r>
              <a:rPr sz="2180" i="1" spc="-436" dirty="0">
                <a:latin typeface="Trebuchet MS"/>
                <a:cs typeface="Trebuchet MS"/>
              </a:rPr>
              <a:t> </a:t>
            </a:r>
            <a:r>
              <a:rPr sz="2180" spc="-50" dirty="0">
                <a:latin typeface="Lucida Sans Unicode"/>
                <a:cs typeface="Lucida Sans Unicode"/>
              </a:rPr>
              <a:t>[</a:t>
            </a:r>
            <a:r>
              <a:rPr sz="2180" i="1" spc="-50" dirty="0">
                <a:latin typeface="Trebuchet MS"/>
                <a:cs typeface="Trebuchet MS"/>
              </a:rPr>
              <a:t>A</a:t>
            </a:r>
            <a:r>
              <a:rPr sz="2180" spc="-50" dirty="0">
                <a:latin typeface="Lucida Sans Unicode"/>
                <a:cs typeface="Lucida Sans Unicode"/>
              </a:rPr>
              <a:t>[</a:t>
            </a:r>
            <a:r>
              <a:rPr sz="2180" i="1" spc="-50" dirty="0">
                <a:latin typeface="Trebuchet MS"/>
                <a:cs typeface="Trebuchet MS"/>
              </a:rPr>
              <a:t>j</a:t>
            </a:r>
            <a:r>
              <a:rPr sz="2180" spc="-50" dirty="0">
                <a:latin typeface="Lucida Sans Unicode"/>
                <a:cs typeface="Lucida Sans Unicode"/>
              </a:rPr>
              <a:t>]]</a:t>
            </a:r>
            <a:r>
              <a:rPr sz="2180" spc="-238" dirty="0">
                <a:latin typeface="Lucida Sans Unicode"/>
                <a:cs typeface="Lucida Sans Unicode"/>
              </a:rPr>
              <a:t> </a:t>
            </a:r>
            <a:r>
              <a:rPr sz="2180" spc="-59" dirty="0">
                <a:latin typeface="Lucida Sans Unicode"/>
                <a:cs typeface="Lucida Sans Unicode"/>
              </a:rPr>
              <a:t>−</a:t>
            </a:r>
            <a:r>
              <a:rPr sz="2180" spc="-238" dirty="0">
                <a:latin typeface="Lucida Sans Unicode"/>
                <a:cs typeface="Lucida Sans Unicode"/>
              </a:rPr>
              <a:t> </a:t>
            </a:r>
            <a:r>
              <a:rPr sz="2180" spc="-109" dirty="0">
                <a:latin typeface="Tahoma"/>
                <a:cs typeface="Tahoma"/>
              </a:rPr>
              <a:t>1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3390542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object 267"/>
          <p:cNvSpPr/>
          <p:nvPr/>
        </p:nvSpPr>
        <p:spPr>
          <a:xfrm>
            <a:off x="1" y="393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12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21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813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2" y="376326"/>
            <a:ext cx="3365665" cy="396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77" spc="20" dirty="0">
                <a:solidFill>
                  <a:srgbClr val="FFFFFF"/>
                </a:solidFill>
                <a:latin typeface="Arial"/>
                <a:cs typeface="Arial"/>
              </a:rPr>
              <a:t>Counting sort example</a:t>
            </a:r>
            <a:endParaRPr sz="2381">
              <a:latin typeface="Arial"/>
              <a:cs typeface="Arial"/>
            </a:endParaRPr>
          </a:p>
        </p:txBody>
      </p:sp>
      <p:pic>
        <p:nvPicPr>
          <p:cNvPr id="215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603567"/>
            <a:ext cx="7714539" cy="314893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927215" y="6675432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8459187" y="6675431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13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4986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object 272"/>
          <p:cNvSpPr/>
          <p:nvPr/>
        </p:nvSpPr>
        <p:spPr>
          <a:xfrm>
            <a:off x="1" y="393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1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21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1</a:t>
            </a:r>
            <a:endParaRPr sz="2381">
              <a:latin typeface="Arial"/>
              <a:cs typeface="Arial"/>
            </a:endParaRPr>
          </a:p>
        </p:txBody>
      </p:sp>
      <p:pic>
        <p:nvPicPr>
          <p:cNvPr id="21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pic>
        <p:nvPicPr>
          <p:cNvPr id="22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256152"/>
            <a:ext cx="7714539" cy="3148934"/>
          </a:xfrm>
          <a:prstGeom prst="rect">
            <a:avLst/>
          </a:prstGeom>
        </p:spPr>
      </p:pic>
      <p:sp>
        <p:nvSpPr>
          <p:cNvPr id="275" name="object 275"/>
          <p:cNvSpPr/>
          <p:nvPr/>
        </p:nvSpPr>
        <p:spPr>
          <a:xfrm>
            <a:off x="613485" y="4960364"/>
            <a:ext cx="7916085" cy="163463"/>
          </a:xfrm>
          <a:custGeom>
            <a:avLst/>
            <a:gdLst/>
            <a:ahLst/>
            <a:cxnLst/>
            <a:rect l="l" t="t" r="r" b="b"/>
            <a:pathLst>
              <a:path w="3989652" h="82384">
                <a:moveTo>
                  <a:pt x="0" y="50800"/>
                </a:moveTo>
                <a:cubicBezTo>
                  <a:pt x="0" y="22860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0"/>
                  <a:pt x="3989653" y="50800"/>
                </a:cubicBezTo>
                <a:lnTo>
                  <a:pt x="3989653" y="82385"/>
                </a:lnTo>
                <a:lnTo>
                  <a:pt x="0" y="82385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21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5774111"/>
            <a:ext cx="201590" cy="201588"/>
          </a:xfrm>
          <a:prstGeom prst="rect">
            <a:avLst/>
          </a:prstGeom>
        </p:spPr>
      </p:pic>
      <p:pic>
        <p:nvPicPr>
          <p:cNvPr id="222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572521"/>
            <a:ext cx="403180" cy="403178"/>
          </a:xfrm>
          <a:prstGeom prst="rect">
            <a:avLst/>
          </a:prstGeom>
        </p:spPr>
      </p:pic>
      <p:pic>
        <p:nvPicPr>
          <p:cNvPr id="223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5774111"/>
            <a:ext cx="8327914" cy="201588"/>
          </a:xfrm>
          <a:prstGeom prst="rect">
            <a:avLst/>
          </a:prstGeom>
        </p:spPr>
      </p:pic>
      <p:pic>
        <p:nvPicPr>
          <p:cNvPr id="224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5060681"/>
            <a:ext cx="201590" cy="201590"/>
          </a:xfrm>
          <a:prstGeom prst="rect">
            <a:avLst/>
          </a:prstGeom>
        </p:spPr>
      </p:pic>
      <p:pic>
        <p:nvPicPr>
          <p:cNvPr id="225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3"/>
            <a:ext cx="201590" cy="5874510"/>
          </a:xfrm>
          <a:prstGeom prst="rect">
            <a:avLst/>
          </a:prstGeom>
        </p:spPr>
      </p:pic>
      <p:sp>
        <p:nvSpPr>
          <p:cNvPr id="276" name="object 276"/>
          <p:cNvSpPr/>
          <p:nvPr/>
        </p:nvSpPr>
        <p:spPr>
          <a:xfrm>
            <a:off x="613485" y="5048496"/>
            <a:ext cx="7916085" cy="826410"/>
          </a:xfrm>
          <a:custGeom>
            <a:avLst/>
            <a:gdLst/>
            <a:ahLst/>
            <a:cxnLst/>
            <a:rect l="l" t="t" r="r" b="b"/>
            <a:pathLst>
              <a:path w="3989652" h="416505">
                <a:moveTo>
                  <a:pt x="0" y="365705"/>
                </a:moveTo>
                <a:cubicBezTo>
                  <a:pt x="0" y="393644"/>
                  <a:pt x="22861" y="416505"/>
                  <a:pt x="50801" y="416505"/>
                </a:cubicBezTo>
                <a:lnTo>
                  <a:pt x="3938853" y="416505"/>
                </a:lnTo>
                <a:cubicBezTo>
                  <a:pt x="3966793" y="416505"/>
                  <a:pt x="3989653" y="393644"/>
                  <a:pt x="3989653" y="365705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277" name="object 277"/>
          <p:cNvSpPr/>
          <p:nvPr/>
        </p:nvSpPr>
        <p:spPr>
          <a:xfrm>
            <a:off x="8516973" y="5123669"/>
            <a:ext cx="25199" cy="700837"/>
          </a:xfrm>
          <a:custGeom>
            <a:avLst/>
            <a:gdLst/>
            <a:ahLst/>
            <a:cxnLst/>
            <a:rect l="l" t="t" r="r" b="b"/>
            <a:pathLst>
              <a:path w="12700" h="353217">
                <a:moveTo>
                  <a:pt x="6350" y="346867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278" name="object 278"/>
          <p:cNvSpPr/>
          <p:nvPr/>
        </p:nvSpPr>
        <p:spPr>
          <a:xfrm>
            <a:off x="8516973" y="509846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279" name="object 279"/>
          <p:cNvSpPr/>
          <p:nvPr/>
        </p:nvSpPr>
        <p:spPr>
          <a:xfrm>
            <a:off x="8516973" y="507327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280" name="object 280"/>
          <p:cNvSpPr/>
          <p:nvPr/>
        </p:nvSpPr>
        <p:spPr>
          <a:xfrm>
            <a:off x="8516973" y="5048072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281" name="object 281"/>
          <p:cNvSpPr/>
          <p:nvPr/>
        </p:nvSpPr>
        <p:spPr>
          <a:xfrm>
            <a:off x="8516973" y="5010274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5136737"/>
            <a:ext cx="1443985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i ←</a:t>
            </a:r>
            <a:r>
              <a:rPr sz="1943" spc="20" dirty="0">
                <a:latin typeface="Arial"/>
                <a:cs typeface="Arial"/>
              </a:rPr>
              <a:t>1 </a:t>
            </a:r>
            <a:r>
              <a:rPr sz="1943" b="1" spc="20" dirty="0">
                <a:latin typeface="Arial"/>
                <a:cs typeface="Arial"/>
              </a:rPr>
              <a:t>to </a:t>
            </a:r>
            <a:r>
              <a:rPr sz="1943" i="1" spc="20" dirty="0">
                <a:latin typeface="Arial"/>
                <a:cs typeface="Arial"/>
              </a:rPr>
              <a:t>k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478154"/>
            <a:ext cx="1207382" cy="26225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704" b="1" spc="20" dirty="0">
                <a:latin typeface="Arial"/>
                <a:cs typeface="Arial"/>
              </a:rPr>
              <a:t>do </a:t>
            </a:r>
            <a:r>
              <a:rPr sz="1704" i="1" spc="20" dirty="0">
                <a:latin typeface="Arial"/>
                <a:cs typeface="Arial"/>
              </a:rPr>
              <a:t>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i </a:t>
            </a:r>
            <a:r>
              <a:rPr sz="1704" spc="20" dirty="0">
                <a:latin typeface="Arial"/>
                <a:cs typeface="Arial"/>
              </a:rPr>
              <a:t>] </a:t>
            </a:r>
            <a:r>
              <a:rPr sz="1704" i="1" spc="20" dirty="0">
                <a:latin typeface="Arial"/>
                <a:cs typeface="Arial"/>
              </a:rPr>
              <a:t>←</a:t>
            </a:r>
            <a:r>
              <a:rPr sz="1704" spc="20" dirty="0">
                <a:latin typeface="Arial"/>
                <a:cs typeface="Arial"/>
              </a:rPr>
              <a:t>0</a:t>
            </a:r>
            <a:endParaRPr sz="1587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2927213" y="6675432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8459187" y="6675431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14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9845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object 284"/>
          <p:cNvSpPr/>
          <p:nvPr/>
        </p:nvSpPr>
        <p:spPr>
          <a:xfrm>
            <a:off x="1" y="393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2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22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2</a:t>
            </a:r>
            <a:endParaRPr sz="2381" dirty="0">
              <a:latin typeface="Arial"/>
              <a:cs typeface="Arial"/>
            </a:endParaRPr>
          </a:p>
        </p:txBody>
      </p:sp>
      <p:pic>
        <p:nvPicPr>
          <p:cNvPr id="22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pic>
        <p:nvPicPr>
          <p:cNvPr id="23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158607"/>
            <a:ext cx="7714539" cy="3148934"/>
          </a:xfrm>
          <a:prstGeom prst="rect">
            <a:avLst/>
          </a:prstGeom>
        </p:spPr>
      </p:pic>
      <p:sp>
        <p:nvSpPr>
          <p:cNvPr id="287" name="object 287"/>
          <p:cNvSpPr/>
          <p:nvPr/>
        </p:nvSpPr>
        <p:spPr>
          <a:xfrm>
            <a:off x="613485" y="5106695"/>
            <a:ext cx="7916085" cy="163465"/>
          </a:xfrm>
          <a:custGeom>
            <a:avLst/>
            <a:gdLst/>
            <a:ahLst/>
            <a:cxnLst/>
            <a:rect l="l" t="t" r="r" b="b"/>
            <a:pathLst>
              <a:path w="3989652" h="82385">
                <a:moveTo>
                  <a:pt x="0" y="50800"/>
                </a:moveTo>
                <a:cubicBezTo>
                  <a:pt x="0" y="22860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0"/>
                  <a:pt x="3989653" y="50800"/>
                </a:cubicBezTo>
                <a:lnTo>
                  <a:pt x="3989653" y="82385"/>
                </a:lnTo>
                <a:lnTo>
                  <a:pt x="0" y="82385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31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5920437"/>
            <a:ext cx="201590" cy="201590"/>
          </a:xfrm>
          <a:prstGeom prst="rect">
            <a:avLst/>
          </a:prstGeom>
        </p:spPr>
      </p:pic>
      <p:pic>
        <p:nvPicPr>
          <p:cNvPr id="232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718847"/>
            <a:ext cx="403180" cy="403180"/>
          </a:xfrm>
          <a:prstGeom prst="rect">
            <a:avLst/>
          </a:prstGeom>
        </p:spPr>
      </p:pic>
      <p:pic>
        <p:nvPicPr>
          <p:cNvPr id="233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5920437"/>
            <a:ext cx="8327914" cy="201590"/>
          </a:xfrm>
          <a:prstGeom prst="rect">
            <a:avLst/>
          </a:prstGeom>
        </p:spPr>
      </p:pic>
      <p:pic>
        <p:nvPicPr>
          <p:cNvPr id="234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5207011"/>
            <a:ext cx="201590" cy="201590"/>
          </a:xfrm>
          <a:prstGeom prst="rect">
            <a:avLst/>
          </a:prstGeom>
        </p:spPr>
      </p:pic>
      <p:pic>
        <p:nvPicPr>
          <p:cNvPr id="235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4"/>
            <a:ext cx="201590" cy="6020839"/>
          </a:xfrm>
          <a:prstGeom prst="rect">
            <a:avLst/>
          </a:prstGeom>
        </p:spPr>
      </p:pic>
      <p:sp>
        <p:nvSpPr>
          <p:cNvPr id="288" name="object 288"/>
          <p:cNvSpPr/>
          <p:nvPr/>
        </p:nvSpPr>
        <p:spPr>
          <a:xfrm>
            <a:off x="613485" y="5194825"/>
            <a:ext cx="7916085" cy="826410"/>
          </a:xfrm>
          <a:custGeom>
            <a:avLst/>
            <a:gdLst/>
            <a:ahLst/>
            <a:cxnLst/>
            <a:rect l="l" t="t" r="r" b="b"/>
            <a:pathLst>
              <a:path w="3989652" h="416505">
                <a:moveTo>
                  <a:pt x="0" y="365704"/>
                </a:moveTo>
                <a:cubicBezTo>
                  <a:pt x="0" y="393644"/>
                  <a:pt x="22861" y="416505"/>
                  <a:pt x="50801" y="416505"/>
                </a:cubicBezTo>
                <a:lnTo>
                  <a:pt x="3938853" y="416505"/>
                </a:lnTo>
                <a:cubicBezTo>
                  <a:pt x="3966793" y="416505"/>
                  <a:pt x="3989653" y="393644"/>
                  <a:pt x="3989653" y="365704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289" name="object 289"/>
          <p:cNvSpPr/>
          <p:nvPr/>
        </p:nvSpPr>
        <p:spPr>
          <a:xfrm>
            <a:off x="8516973" y="5269999"/>
            <a:ext cx="25199" cy="700837"/>
          </a:xfrm>
          <a:custGeom>
            <a:avLst/>
            <a:gdLst/>
            <a:ahLst/>
            <a:cxnLst/>
            <a:rect l="l" t="t" r="r" b="b"/>
            <a:pathLst>
              <a:path w="12700" h="353217">
                <a:moveTo>
                  <a:pt x="6350" y="346867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290" name="object 290"/>
          <p:cNvSpPr/>
          <p:nvPr/>
        </p:nvSpPr>
        <p:spPr>
          <a:xfrm>
            <a:off x="8516973" y="524479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291" name="object 291"/>
          <p:cNvSpPr/>
          <p:nvPr/>
        </p:nvSpPr>
        <p:spPr>
          <a:xfrm>
            <a:off x="8516973" y="521960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292" name="object 292"/>
          <p:cNvSpPr/>
          <p:nvPr/>
        </p:nvSpPr>
        <p:spPr>
          <a:xfrm>
            <a:off x="8516973" y="5194401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293" name="object 293"/>
          <p:cNvSpPr/>
          <p:nvPr/>
        </p:nvSpPr>
        <p:spPr>
          <a:xfrm>
            <a:off x="8516973" y="5156603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5283066"/>
            <a:ext cx="1456809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j ←</a:t>
            </a:r>
            <a:r>
              <a:rPr sz="1943" spc="20" dirty="0">
                <a:latin typeface="Arial"/>
                <a:cs typeface="Arial"/>
              </a:rPr>
              <a:t>1 </a:t>
            </a:r>
            <a:r>
              <a:rPr sz="1943" b="1" spc="20" dirty="0">
                <a:latin typeface="Arial"/>
                <a:cs typeface="Arial"/>
              </a:rPr>
              <a:t>to </a:t>
            </a:r>
            <a:r>
              <a:rPr sz="1943" i="1" spc="20" dirty="0">
                <a:latin typeface="Arial"/>
                <a:cs typeface="Arial"/>
              </a:rPr>
              <a:t>n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624483"/>
            <a:ext cx="2656496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b="1" spc="20" dirty="0">
                <a:latin typeface="Arial"/>
                <a:cs typeface="Arial"/>
              </a:rPr>
              <a:t>do </a:t>
            </a:r>
            <a:r>
              <a:rPr sz="1823" i="1" spc="20" dirty="0">
                <a:latin typeface="Arial"/>
                <a:cs typeface="Arial"/>
              </a:rPr>
              <a:t>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 </a:t>
            </a:r>
            <a:r>
              <a:rPr sz="1823" i="1" spc="20" dirty="0">
                <a:latin typeface="Arial"/>
                <a:cs typeface="Arial"/>
              </a:rPr>
              <a:t>←C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 + 1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5874410" y="5624483"/>
            <a:ext cx="2260555" cy="3359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183" i="1" spc="20" dirty="0">
                <a:latin typeface="Arial"/>
                <a:cs typeface="Arial"/>
              </a:rPr>
              <a:t> C </a:t>
            </a:r>
            <a:r>
              <a:rPr sz="2183" spc="20" dirty="0">
                <a:latin typeface="Arial"/>
                <a:cs typeface="Arial"/>
              </a:rPr>
              <a:t>[</a:t>
            </a:r>
            <a:r>
              <a:rPr sz="2183" i="1" spc="20" dirty="0">
                <a:latin typeface="Arial"/>
                <a:cs typeface="Arial"/>
              </a:rPr>
              <a:t>i </a:t>
            </a:r>
            <a:r>
              <a:rPr sz="2183" spc="20" dirty="0">
                <a:latin typeface="Arial"/>
                <a:cs typeface="Arial"/>
              </a:rPr>
              <a:t>] = </a:t>
            </a:r>
            <a:r>
              <a:rPr sz="2183" i="1" spc="20" dirty="0">
                <a:latin typeface="Arial"/>
                <a:cs typeface="Arial"/>
              </a:rPr>
              <a:t>|{key  </a:t>
            </a:r>
            <a:r>
              <a:rPr sz="2183" spc="20" dirty="0">
                <a:latin typeface="Arial"/>
                <a:cs typeface="Arial"/>
              </a:rPr>
              <a:t>= </a:t>
            </a:r>
            <a:r>
              <a:rPr sz="2183" i="1" spc="20" dirty="0">
                <a:latin typeface="Arial"/>
                <a:cs typeface="Arial"/>
              </a:rPr>
              <a:t>i}|</a:t>
            </a:r>
            <a:endParaRPr sz="2183">
              <a:latin typeface="Arial"/>
              <a:cs typeface="Arial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2927213" y="6675432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4785773" y="6675432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 dirty="0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8459187" y="6675431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15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3515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23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2</a:t>
            </a:r>
            <a:endParaRPr sz="2381" dirty="0">
              <a:latin typeface="Arial"/>
              <a:cs typeface="Arial"/>
            </a:endParaRPr>
          </a:p>
        </p:txBody>
      </p:sp>
      <p:pic>
        <p:nvPicPr>
          <p:cNvPr id="23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pic>
        <p:nvPicPr>
          <p:cNvPr id="24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158607"/>
            <a:ext cx="7714539" cy="3148934"/>
          </a:xfrm>
          <a:prstGeom prst="rect">
            <a:avLst/>
          </a:prstGeom>
        </p:spPr>
      </p:pic>
      <p:sp>
        <p:nvSpPr>
          <p:cNvPr id="299" name="object 299"/>
          <p:cNvSpPr/>
          <p:nvPr/>
        </p:nvSpPr>
        <p:spPr>
          <a:xfrm>
            <a:off x="613485" y="5106695"/>
            <a:ext cx="7916085" cy="163465"/>
          </a:xfrm>
          <a:custGeom>
            <a:avLst/>
            <a:gdLst/>
            <a:ahLst/>
            <a:cxnLst/>
            <a:rect l="l" t="t" r="r" b="b"/>
            <a:pathLst>
              <a:path w="3989652" h="82385">
                <a:moveTo>
                  <a:pt x="0" y="50800"/>
                </a:moveTo>
                <a:cubicBezTo>
                  <a:pt x="0" y="22860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0"/>
                  <a:pt x="3989653" y="50800"/>
                </a:cubicBezTo>
                <a:lnTo>
                  <a:pt x="3989653" y="82385"/>
                </a:lnTo>
                <a:lnTo>
                  <a:pt x="0" y="82385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41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5920437"/>
            <a:ext cx="201590" cy="201590"/>
          </a:xfrm>
          <a:prstGeom prst="rect">
            <a:avLst/>
          </a:prstGeom>
        </p:spPr>
      </p:pic>
      <p:pic>
        <p:nvPicPr>
          <p:cNvPr id="242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718847"/>
            <a:ext cx="403180" cy="403180"/>
          </a:xfrm>
          <a:prstGeom prst="rect">
            <a:avLst/>
          </a:prstGeom>
        </p:spPr>
      </p:pic>
      <p:pic>
        <p:nvPicPr>
          <p:cNvPr id="243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5920437"/>
            <a:ext cx="8327914" cy="201590"/>
          </a:xfrm>
          <a:prstGeom prst="rect">
            <a:avLst/>
          </a:prstGeom>
        </p:spPr>
      </p:pic>
      <p:pic>
        <p:nvPicPr>
          <p:cNvPr id="244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5207011"/>
            <a:ext cx="201590" cy="201590"/>
          </a:xfrm>
          <a:prstGeom prst="rect">
            <a:avLst/>
          </a:prstGeom>
        </p:spPr>
      </p:pic>
      <p:pic>
        <p:nvPicPr>
          <p:cNvPr id="245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4"/>
            <a:ext cx="201590" cy="6020839"/>
          </a:xfrm>
          <a:prstGeom prst="rect">
            <a:avLst/>
          </a:prstGeom>
        </p:spPr>
      </p:pic>
      <p:sp>
        <p:nvSpPr>
          <p:cNvPr id="300" name="object 300"/>
          <p:cNvSpPr/>
          <p:nvPr/>
        </p:nvSpPr>
        <p:spPr>
          <a:xfrm>
            <a:off x="613485" y="5194825"/>
            <a:ext cx="7916085" cy="826410"/>
          </a:xfrm>
          <a:custGeom>
            <a:avLst/>
            <a:gdLst/>
            <a:ahLst/>
            <a:cxnLst/>
            <a:rect l="l" t="t" r="r" b="b"/>
            <a:pathLst>
              <a:path w="3989652" h="416505">
                <a:moveTo>
                  <a:pt x="0" y="365704"/>
                </a:moveTo>
                <a:cubicBezTo>
                  <a:pt x="0" y="393644"/>
                  <a:pt x="22861" y="416505"/>
                  <a:pt x="50801" y="416505"/>
                </a:cubicBezTo>
                <a:lnTo>
                  <a:pt x="3938853" y="416505"/>
                </a:lnTo>
                <a:cubicBezTo>
                  <a:pt x="3966793" y="416505"/>
                  <a:pt x="3989653" y="393644"/>
                  <a:pt x="3989653" y="365704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01" name="object 301"/>
          <p:cNvSpPr/>
          <p:nvPr/>
        </p:nvSpPr>
        <p:spPr>
          <a:xfrm>
            <a:off x="8516973" y="5269999"/>
            <a:ext cx="25199" cy="700837"/>
          </a:xfrm>
          <a:custGeom>
            <a:avLst/>
            <a:gdLst/>
            <a:ahLst/>
            <a:cxnLst/>
            <a:rect l="l" t="t" r="r" b="b"/>
            <a:pathLst>
              <a:path w="12700" h="353217">
                <a:moveTo>
                  <a:pt x="6350" y="346867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02" name="object 302"/>
          <p:cNvSpPr/>
          <p:nvPr/>
        </p:nvSpPr>
        <p:spPr>
          <a:xfrm>
            <a:off x="8516973" y="524479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03" name="object 303"/>
          <p:cNvSpPr/>
          <p:nvPr/>
        </p:nvSpPr>
        <p:spPr>
          <a:xfrm>
            <a:off x="8516973" y="521960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04" name="object 304"/>
          <p:cNvSpPr/>
          <p:nvPr/>
        </p:nvSpPr>
        <p:spPr>
          <a:xfrm>
            <a:off x="8516973" y="5194401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05" name="object 305"/>
          <p:cNvSpPr/>
          <p:nvPr/>
        </p:nvSpPr>
        <p:spPr>
          <a:xfrm>
            <a:off x="8516973" y="5156603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5283066"/>
            <a:ext cx="1456809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j ←</a:t>
            </a:r>
            <a:r>
              <a:rPr sz="1943" spc="20" dirty="0">
                <a:latin typeface="Arial"/>
                <a:cs typeface="Arial"/>
              </a:rPr>
              <a:t>1 </a:t>
            </a:r>
            <a:r>
              <a:rPr sz="1943" b="1" spc="20" dirty="0">
                <a:latin typeface="Arial"/>
                <a:cs typeface="Arial"/>
              </a:rPr>
              <a:t>to </a:t>
            </a:r>
            <a:r>
              <a:rPr sz="1943" i="1" spc="20" dirty="0">
                <a:latin typeface="Arial"/>
                <a:cs typeface="Arial"/>
              </a:rPr>
              <a:t>n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624483"/>
            <a:ext cx="2656496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b="1" spc="20" dirty="0">
                <a:latin typeface="Arial"/>
                <a:cs typeface="Arial"/>
              </a:rPr>
              <a:t>do </a:t>
            </a:r>
            <a:r>
              <a:rPr sz="1823" i="1" spc="20" dirty="0">
                <a:latin typeface="Arial"/>
                <a:cs typeface="Arial"/>
              </a:rPr>
              <a:t>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 </a:t>
            </a:r>
            <a:r>
              <a:rPr sz="1823" i="1" spc="20" dirty="0">
                <a:latin typeface="Arial"/>
                <a:cs typeface="Arial"/>
              </a:rPr>
              <a:t>←C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 + 1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5874410" y="5624483"/>
            <a:ext cx="2260555" cy="3359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183" i="1" spc="20" dirty="0">
                <a:latin typeface="Arial"/>
                <a:cs typeface="Arial"/>
              </a:rPr>
              <a:t> C </a:t>
            </a:r>
            <a:r>
              <a:rPr sz="2183" spc="20" dirty="0">
                <a:latin typeface="Arial"/>
                <a:cs typeface="Arial"/>
              </a:rPr>
              <a:t>[</a:t>
            </a:r>
            <a:r>
              <a:rPr sz="2183" i="1" spc="20" dirty="0">
                <a:latin typeface="Arial"/>
                <a:cs typeface="Arial"/>
              </a:rPr>
              <a:t>i </a:t>
            </a:r>
            <a:r>
              <a:rPr sz="2183" spc="20" dirty="0">
                <a:latin typeface="Arial"/>
                <a:cs typeface="Arial"/>
              </a:rPr>
              <a:t>] = </a:t>
            </a:r>
            <a:r>
              <a:rPr sz="2183" i="1" spc="20" dirty="0">
                <a:latin typeface="Arial"/>
                <a:cs typeface="Arial"/>
              </a:rPr>
              <a:t>|{key  </a:t>
            </a:r>
            <a:r>
              <a:rPr sz="2183" spc="20" dirty="0">
                <a:latin typeface="Arial"/>
                <a:cs typeface="Arial"/>
              </a:rPr>
              <a:t>= </a:t>
            </a:r>
            <a:r>
              <a:rPr sz="2183" i="1" spc="20" dirty="0">
                <a:latin typeface="Arial"/>
                <a:cs typeface="Arial"/>
              </a:rPr>
              <a:t>i}|</a:t>
            </a:r>
            <a:endParaRPr sz="2183">
              <a:latin typeface="Arial"/>
              <a:cs typeface="Arial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2927213" y="6675432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8459187" y="6675431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15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6935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object 308"/>
          <p:cNvSpPr/>
          <p:nvPr/>
        </p:nvSpPr>
        <p:spPr>
          <a:xfrm>
            <a:off x="1" y="393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4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24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2</a:t>
            </a:r>
            <a:endParaRPr sz="2381">
              <a:latin typeface="Arial"/>
              <a:cs typeface="Arial"/>
            </a:endParaRPr>
          </a:p>
        </p:txBody>
      </p:sp>
      <p:pic>
        <p:nvPicPr>
          <p:cNvPr id="24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pic>
        <p:nvPicPr>
          <p:cNvPr id="25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158607"/>
            <a:ext cx="7714539" cy="3148934"/>
          </a:xfrm>
          <a:prstGeom prst="rect">
            <a:avLst/>
          </a:prstGeom>
        </p:spPr>
      </p:pic>
      <p:sp>
        <p:nvSpPr>
          <p:cNvPr id="311" name="object 311"/>
          <p:cNvSpPr/>
          <p:nvPr/>
        </p:nvSpPr>
        <p:spPr>
          <a:xfrm>
            <a:off x="613485" y="5106695"/>
            <a:ext cx="7916085" cy="163465"/>
          </a:xfrm>
          <a:custGeom>
            <a:avLst/>
            <a:gdLst/>
            <a:ahLst/>
            <a:cxnLst/>
            <a:rect l="l" t="t" r="r" b="b"/>
            <a:pathLst>
              <a:path w="3989652" h="82385">
                <a:moveTo>
                  <a:pt x="0" y="50800"/>
                </a:moveTo>
                <a:cubicBezTo>
                  <a:pt x="0" y="22860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0"/>
                  <a:pt x="3989653" y="50800"/>
                </a:cubicBezTo>
                <a:lnTo>
                  <a:pt x="3989653" y="82385"/>
                </a:lnTo>
                <a:lnTo>
                  <a:pt x="0" y="82385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51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5920437"/>
            <a:ext cx="201590" cy="201590"/>
          </a:xfrm>
          <a:prstGeom prst="rect">
            <a:avLst/>
          </a:prstGeom>
        </p:spPr>
      </p:pic>
      <p:pic>
        <p:nvPicPr>
          <p:cNvPr id="252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718847"/>
            <a:ext cx="403180" cy="403180"/>
          </a:xfrm>
          <a:prstGeom prst="rect">
            <a:avLst/>
          </a:prstGeom>
        </p:spPr>
      </p:pic>
      <p:pic>
        <p:nvPicPr>
          <p:cNvPr id="253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5920437"/>
            <a:ext cx="8327914" cy="201590"/>
          </a:xfrm>
          <a:prstGeom prst="rect">
            <a:avLst/>
          </a:prstGeom>
        </p:spPr>
      </p:pic>
      <p:pic>
        <p:nvPicPr>
          <p:cNvPr id="254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5207011"/>
            <a:ext cx="201590" cy="201590"/>
          </a:xfrm>
          <a:prstGeom prst="rect">
            <a:avLst/>
          </a:prstGeom>
        </p:spPr>
      </p:pic>
      <p:pic>
        <p:nvPicPr>
          <p:cNvPr id="255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4"/>
            <a:ext cx="201590" cy="6020839"/>
          </a:xfrm>
          <a:prstGeom prst="rect">
            <a:avLst/>
          </a:prstGeom>
        </p:spPr>
      </p:pic>
      <p:sp>
        <p:nvSpPr>
          <p:cNvPr id="312" name="object 312"/>
          <p:cNvSpPr/>
          <p:nvPr/>
        </p:nvSpPr>
        <p:spPr>
          <a:xfrm>
            <a:off x="613485" y="5194825"/>
            <a:ext cx="7916085" cy="826410"/>
          </a:xfrm>
          <a:custGeom>
            <a:avLst/>
            <a:gdLst/>
            <a:ahLst/>
            <a:cxnLst/>
            <a:rect l="l" t="t" r="r" b="b"/>
            <a:pathLst>
              <a:path w="3989652" h="416505">
                <a:moveTo>
                  <a:pt x="0" y="365704"/>
                </a:moveTo>
                <a:cubicBezTo>
                  <a:pt x="0" y="393644"/>
                  <a:pt x="22861" y="416505"/>
                  <a:pt x="50801" y="416505"/>
                </a:cubicBezTo>
                <a:lnTo>
                  <a:pt x="3938853" y="416505"/>
                </a:lnTo>
                <a:cubicBezTo>
                  <a:pt x="3966793" y="416505"/>
                  <a:pt x="3989653" y="393644"/>
                  <a:pt x="3989653" y="365704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13" name="object 313"/>
          <p:cNvSpPr/>
          <p:nvPr/>
        </p:nvSpPr>
        <p:spPr>
          <a:xfrm>
            <a:off x="8516973" y="5269999"/>
            <a:ext cx="25199" cy="700837"/>
          </a:xfrm>
          <a:custGeom>
            <a:avLst/>
            <a:gdLst/>
            <a:ahLst/>
            <a:cxnLst/>
            <a:rect l="l" t="t" r="r" b="b"/>
            <a:pathLst>
              <a:path w="12700" h="353217">
                <a:moveTo>
                  <a:pt x="6350" y="346867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14" name="object 314"/>
          <p:cNvSpPr/>
          <p:nvPr/>
        </p:nvSpPr>
        <p:spPr>
          <a:xfrm>
            <a:off x="8516973" y="524479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15" name="object 315"/>
          <p:cNvSpPr/>
          <p:nvPr/>
        </p:nvSpPr>
        <p:spPr>
          <a:xfrm>
            <a:off x="8516973" y="521960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16" name="object 316"/>
          <p:cNvSpPr/>
          <p:nvPr/>
        </p:nvSpPr>
        <p:spPr>
          <a:xfrm>
            <a:off x="8516973" y="5194401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17" name="object 317"/>
          <p:cNvSpPr/>
          <p:nvPr/>
        </p:nvSpPr>
        <p:spPr>
          <a:xfrm>
            <a:off x="8516973" y="5156603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5283066"/>
            <a:ext cx="1456809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j ←</a:t>
            </a:r>
            <a:r>
              <a:rPr sz="1943" spc="20" dirty="0">
                <a:latin typeface="Arial"/>
                <a:cs typeface="Arial"/>
              </a:rPr>
              <a:t>1 </a:t>
            </a:r>
            <a:r>
              <a:rPr sz="1943" b="1" spc="20" dirty="0">
                <a:latin typeface="Arial"/>
                <a:cs typeface="Arial"/>
              </a:rPr>
              <a:t>to </a:t>
            </a:r>
            <a:r>
              <a:rPr sz="1943" i="1" spc="20" dirty="0">
                <a:latin typeface="Arial"/>
                <a:cs typeface="Arial"/>
              </a:rPr>
              <a:t>n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624483"/>
            <a:ext cx="2656496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b="1" spc="20" dirty="0">
                <a:latin typeface="Arial"/>
                <a:cs typeface="Arial"/>
              </a:rPr>
              <a:t>do </a:t>
            </a:r>
            <a:r>
              <a:rPr sz="1823" i="1" spc="20" dirty="0">
                <a:latin typeface="Arial"/>
                <a:cs typeface="Arial"/>
              </a:rPr>
              <a:t>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 </a:t>
            </a:r>
            <a:r>
              <a:rPr sz="1823" i="1" spc="20" dirty="0">
                <a:latin typeface="Arial"/>
                <a:cs typeface="Arial"/>
              </a:rPr>
              <a:t>←C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 + 1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5874410" y="5624483"/>
            <a:ext cx="2260555" cy="3359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183" i="1" spc="20" dirty="0">
                <a:latin typeface="Arial"/>
                <a:cs typeface="Arial"/>
              </a:rPr>
              <a:t> C </a:t>
            </a:r>
            <a:r>
              <a:rPr sz="2183" spc="20" dirty="0">
                <a:latin typeface="Arial"/>
                <a:cs typeface="Arial"/>
              </a:rPr>
              <a:t>[</a:t>
            </a:r>
            <a:r>
              <a:rPr sz="2183" i="1" spc="20" dirty="0">
                <a:latin typeface="Arial"/>
                <a:cs typeface="Arial"/>
              </a:rPr>
              <a:t>i </a:t>
            </a:r>
            <a:r>
              <a:rPr sz="2183" spc="20" dirty="0">
                <a:latin typeface="Arial"/>
                <a:cs typeface="Arial"/>
              </a:rPr>
              <a:t>] = </a:t>
            </a:r>
            <a:r>
              <a:rPr sz="2183" i="1" spc="20" dirty="0">
                <a:latin typeface="Arial"/>
                <a:cs typeface="Arial"/>
              </a:rPr>
              <a:t>|{key  </a:t>
            </a:r>
            <a:r>
              <a:rPr sz="2183" spc="20" dirty="0">
                <a:latin typeface="Arial"/>
                <a:cs typeface="Arial"/>
              </a:rPr>
              <a:t>= </a:t>
            </a:r>
            <a:r>
              <a:rPr sz="2183" i="1" spc="20" dirty="0">
                <a:latin typeface="Arial"/>
                <a:cs typeface="Arial"/>
              </a:rPr>
              <a:t>i}|</a:t>
            </a:r>
            <a:endParaRPr sz="2183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4785773" y="6675432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8459187" y="6675431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15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6461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object 320"/>
          <p:cNvSpPr/>
          <p:nvPr/>
        </p:nvSpPr>
        <p:spPr>
          <a:xfrm>
            <a:off x="1" y="393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5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25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813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2</a:t>
            </a:r>
            <a:endParaRPr sz="2381">
              <a:latin typeface="Arial"/>
              <a:cs typeface="Arial"/>
            </a:endParaRPr>
          </a:p>
        </p:txBody>
      </p:sp>
      <p:pic>
        <p:nvPicPr>
          <p:cNvPr id="25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pic>
        <p:nvPicPr>
          <p:cNvPr id="26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256152"/>
            <a:ext cx="7714539" cy="3148934"/>
          </a:xfrm>
          <a:prstGeom prst="rect">
            <a:avLst/>
          </a:prstGeom>
        </p:spPr>
      </p:pic>
      <p:sp>
        <p:nvSpPr>
          <p:cNvPr id="323" name="object 323"/>
          <p:cNvSpPr/>
          <p:nvPr/>
        </p:nvSpPr>
        <p:spPr>
          <a:xfrm>
            <a:off x="613485" y="4960364"/>
            <a:ext cx="7916085" cy="163463"/>
          </a:xfrm>
          <a:custGeom>
            <a:avLst/>
            <a:gdLst/>
            <a:ahLst/>
            <a:cxnLst/>
            <a:rect l="l" t="t" r="r" b="b"/>
            <a:pathLst>
              <a:path w="3989652" h="82384">
                <a:moveTo>
                  <a:pt x="0" y="50800"/>
                </a:moveTo>
                <a:cubicBezTo>
                  <a:pt x="0" y="22860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0"/>
                  <a:pt x="3989653" y="50800"/>
                </a:cubicBezTo>
                <a:lnTo>
                  <a:pt x="3989653" y="82385"/>
                </a:lnTo>
                <a:lnTo>
                  <a:pt x="0" y="82385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61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5774111"/>
            <a:ext cx="201590" cy="201588"/>
          </a:xfrm>
          <a:prstGeom prst="rect">
            <a:avLst/>
          </a:prstGeom>
        </p:spPr>
      </p:pic>
      <p:pic>
        <p:nvPicPr>
          <p:cNvPr id="262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572521"/>
            <a:ext cx="403180" cy="403178"/>
          </a:xfrm>
          <a:prstGeom prst="rect">
            <a:avLst/>
          </a:prstGeom>
        </p:spPr>
      </p:pic>
      <p:pic>
        <p:nvPicPr>
          <p:cNvPr id="263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5774111"/>
            <a:ext cx="8327914" cy="201588"/>
          </a:xfrm>
          <a:prstGeom prst="rect">
            <a:avLst/>
          </a:prstGeom>
        </p:spPr>
      </p:pic>
      <p:pic>
        <p:nvPicPr>
          <p:cNvPr id="264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5060681"/>
            <a:ext cx="201590" cy="201590"/>
          </a:xfrm>
          <a:prstGeom prst="rect">
            <a:avLst/>
          </a:prstGeom>
        </p:spPr>
      </p:pic>
      <p:pic>
        <p:nvPicPr>
          <p:cNvPr id="265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3"/>
            <a:ext cx="201590" cy="5874510"/>
          </a:xfrm>
          <a:prstGeom prst="rect">
            <a:avLst/>
          </a:prstGeom>
        </p:spPr>
      </p:pic>
      <p:sp>
        <p:nvSpPr>
          <p:cNvPr id="324" name="object 324"/>
          <p:cNvSpPr/>
          <p:nvPr/>
        </p:nvSpPr>
        <p:spPr>
          <a:xfrm>
            <a:off x="613485" y="5048496"/>
            <a:ext cx="7916085" cy="826410"/>
          </a:xfrm>
          <a:custGeom>
            <a:avLst/>
            <a:gdLst/>
            <a:ahLst/>
            <a:cxnLst/>
            <a:rect l="l" t="t" r="r" b="b"/>
            <a:pathLst>
              <a:path w="3989652" h="416505">
                <a:moveTo>
                  <a:pt x="0" y="365705"/>
                </a:moveTo>
                <a:cubicBezTo>
                  <a:pt x="0" y="393644"/>
                  <a:pt x="22861" y="416505"/>
                  <a:pt x="50801" y="416505"/>
                </a:cubicBezTo>
                <a:lnTo>
                  <a:pt x="3938853" y="416505"/>
                </a:lnTo>
                <a:cubicBezTo>
                  <a:pt x="3966793" y="416505"/>
                  <a:pt x="3989653" y="393644"/>
                  <a:pt x="3989653" y="365705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25" name="object 325"/>
          <p:cNvSpPr/>
          <p:nvPr/>
        </p:nvSpPr>
        <p:spPr>
          <a:xfrm>
            <a:off x="8516973" y="5123669"/>
            <a:ext cx="25199" cy="700837"/>
          </a:xfrm>
          <a:custGeom>
            <a:avLst/>
            <a:gdLst/>
            <a:ahLst/>
            <a:cxnLst/>
            <a:rect l="l" t="t" r="r" b="b"/>
            <a:pathLst>
              <a:path w="12700" h="353217">
                <a:moveTo>
                  <a:pt x="6350" y="346867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26" name="object 326"/>
          <p:cNvSpPr/>
          <p:nvPr/>
        </p:nvSpPr>
        <p:spPr>
          <a:xfrm>
            <a:off x="8516973" y="509846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27" name="object 327"/>
          <p:cNvSpPr/>
          <p:nvPr/>
        </p:nvSpPr>
        <p:spPr>
          <a:xfrm>
            <a:off x="8516973" y="507327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28" name="object 328"/>
          <p:cNvSpPr/>
          <p:nvPr/>
        </p:nvSpPr>
        <p:spPr>
          <a:xfrm>
            <a:off x="8516973" y="5048072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29" name="object 329"/>
          <p:cNvSpPr/>
          <p:nvPr/>
        </p:nvSpPr>
        <p:spPr>
          <a:xfrm>
            <a:off x="8516973" y="5010274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5136737"/>
            <a:ext cx="1456809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j ←</a:t>
            </a:r>
            <a:r>
              <a:rPr sz="1943" spc="20" dirty="0">
                <a:latin typeface="Arial"/>
                <a:cs typeface="Arial"/>
              </a:rPr>
              <a:t>1 </a:t>
            </a:r>
            <a:r>
              <a:rPr sz="1943" b="1" spc="20" dirty="0">
                <a:latin typeface="Arial"/>
                <a:cs typeface="Arial"/>
              </a:rPr>
              <a:t>to </a:t>
            </a:r>
            <a:r>
              <a:rPr sz="1943" i="1" spc="20" dirty="0">
                <a:latin typeface="Arial"/>
                <a:cs typeface="Arial"/>
              </a:rPr>
              <a:t>n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478153"/>
            <a:ext cx="2656496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b="1" spc="20" dirty="0">
                <a:latin typeface="Arial"/>
                <a:cs typeface="Arial"/>
              </a:rPr>
              <a:t>do </a:t>
            </a:r>
            <a:r>
              <a:rPr sz="1823" i="1" spc="20" dirty="0">
                <a:latin typeface="Arial"/>
                <a:cs typeface="Arial"/>
              </a:rPr>
              <a:t>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 </a:t>
            </a:r>
            <a:r>
              <a:rPr sz="1823" i="1" spc="20" dirty="0">
                <a:latin typeface="Arial"/>
                <a:cs typeface="Arial"/>
              </a:rPr>
              <a:t>←C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 + 1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5874410" y="5478153"/>
            <a:ext cx="2260555" cy="3359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183" i="1" spc="20" dirty="0">
                <a:latin typeface="Arial"/>
                <a:cs typeface="Arial"/>
              </a:rPr>
              <a:t> C </a:t>
            </a:r>
            <a:r>
              <a:rPr sz="2183" spc="20" dirty="0">
                <a:latin typeface="Arial"/>
                <a:cs typeface="Arial"/>
              </a:rPr>
              <a:t>[</a:t>
            </a:r>
            <a:r>
              <a:rPr sz="2183" i="1" spc="20" dirty="0">
                <a:latin typeface="Arial"/>
                <a:cs typeface="Arial"/>
              </a:rPr>
              <a:t>i </a:t>
            </a:r>
            <a:r>
              <a:rPr sz="2183" spc="20" dirty="0">
                <a:latin typeface="Arial"/>
                <a:cs typeface="Arial"/>
              </a:rPr>
              <a:t>] = </a:t>
            </a:r>
            <a:r>
              <a:rPr sz="2183" i="1" spc="20" dirty="0">
                <a:latin typeface="Arial"/>
                <a:cs typeface="Arial"/>
              </a:rPr>
              <a:t>|{key  </a:t>
            </a:r>
            <a:r>
              <a:rPr sz="2183" spc="20" dirty="0">
                <a:latin typeface="Arial"/>
                <a:cs typeface="Arial"/>
              </a:rPr>
              <a:t>= </a:t>
            </a:r>
            <a:r>
              <a:rPr sz="2183" i="1" spc="20" dirty="0">
                <a:latin typeface="Arial"/>
                <a:cs typeface="Arial"/>
              </a:rPr>
              <a:t>i}|</a:t>
            </a:r>
            <a:endParaRPr sz="2183">
              <a:latin typeface="Arial"/>
              <a:cs typeface="Arial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2927213" y="6675432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4785773" y="6675432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8459187" y="6675431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15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5918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object 332"/>
          <p:cNvSpPr/>
          <p:nvPr/>
        </p:nvSpPr>
        <p:spPr>
          <a:xfrm>
            <a:off x="1" y="393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6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26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2</a:t>
            </a:r>
            <a:endParaRPr sz="2381" dirty="0">
              <a:latin typeface="Arial"/>
              <a:cs typeface="Arial"/>
            </a:endParaRPr>
          </a:p>
        </p:txBody>
      </p:sp>
      <p:pic>
        <p:nvPicPr>
          <p:cNvPr id="26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pic>
        <p:nvPicPr>
          <p:cNvPr id="27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256152"/>
            <a:ext cx="7714539" cy="3148934"/>
          </a:xfrm>
          <a:prstGeom prst="rect">
            <a:avLst/>
          </a:prstGeom>
        </p:spPr>
      </p:pic>
      <p:sp>
        <p:nvSpPr>
          <p:cNvPr id="335" name="object 335"/>
          <p:cNvSpPr/>
          <p:nvPr/>
        </p:nvSpPr>
        <p:spPr>
          <a:xfrm>
            <a:off x="613485" y="4960364"/>
            <a:ext cx="7916085" cy="163463"/>
          </a:xfrm>
          <a:custGeom>
            <a:avLst/>
            <a:gdLst/>
            <a:ahLst/>
            <a:cxnLst/>
            <a:rect l="l" t="t" r="r" b="b"/>
            <a:pathLst>
              <a:path w="3989652" h="82384">
                <a:moveTo>
                  <a:pt x="0" y="50800"/>
                </a:moveTo>
                <a:cubicBezTo>
                  <a:pt x="0" y="22860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0"/>
                  <a:pt x="3989653" y="50800"/>
                </a:cubicBezTo>
                <a:lnTo>
                  <a:pt x="3989653" y="82385"/>
                </a:lnTo>
                <a:lnTo>
                  <a:pt x="0" y="82385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71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5774111"/>
            <a:ext cx="201590" cy="201588"/>
          </a:xfrm>
          <a:prstGeom prst="rect">
            <a:avLst/>
          </a:prstGeom>
        </p:spPr>
      </p:pic>
      <p:pic>
        <p:nvPicPr>
          <p:cNvPr id="272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572521"/>
            <a:ext cx="403180" cy="403178"/>
          </a:xfrm>
          <a:prstGeom prst="rect">
            <a:avLst/>
          </a:prstGeom>
        </p:spPr>
      </p:pic>
      <p:pic>
        <p:nvPicPr>
          <p:cNvPr id="273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5774111"/>
            <a:ext cx="8327914" cy="201588"/>
          </a:xfrm>
          <a:prstGeom prst="rect">
            <a:avLst/>
          </a:prstGeom>
        </p:spPr>
      </p:pic>
      <p:pic>
        <p:nvPicPr>
          <p:cNvPr id="274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5060681"/>
            <a:ext cx="201590" cy="201590"/>
          </a:xfrm>
          <a:prstGeom prst="rect">
            <a:avLst/>
          </a:prstGeom>
        </p:spPr>
      </p:pic>
      <p:pic>
        <p:nvPicPr>
          <p:cNvPr id="275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3"/>
            <a:ext cx="201590" cy="5874510"/>
          </a:xfrm>
          <a:prstGeom prst="rect">
            <a:avLst/>
          </a:prstGeom>
        </p:spPr>
      </p:pic>
      <p:sp>
        <p:nvSpPr>
          <p:cNvPr id="336" name="object 336"/>
          <p:cNvSpPr/>
          <p:nvPr/>
        </p:nvSpPr>
        <p:spPr>
          <a:xfrm>
            <a:off x="613485" y="5048496"/>
            <a:ext cx="7916085" cy="826410"/>
          </a:xfrm>
          <a:custGeom>
            <a:avLst/>
            <a:gdLst/>
            <a:ahLst/>
            <a:cxnLst/>
            <a:rect l="l" t="t" r="r" b="b"/>
            <a:pathLst>
              <a:path w="3989652" h="416505">
                <a:moveTo>
                  <a:pt x="0" y="365705"/>
                </a:moveTo>
                <a:cubicBezTo>
                  <a:pt x="0" y="393644"/>
                  <a:pt x="22861" y="416505"/>
                  <a:pt x="50801" y="416505"/>
                </a:cubicBezTo>
                <a:lnTo>
                  <a:pt x="3938853" y="416505"/>
                </a:lnTo>
                <a:cubicBezTo>
                  <a:pt x="3966793" y="416505"/>
                  <a:pt x="3989653" y="393644"/>
                  <a:pt x="3989653" y="365705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37" name="object 337"/>
          <p:cNvSpPr/>
          <p:nvPr/>
        </p:nvSpPr>
        <p:spPr>
          <a:xfrm>
            <a:off x="8516973" y="5123669"/>
            <a:ext cx="25199" cy="700837"/>
          </a:xfrm>
          <a:custGeom>
            <a:avLst/>
            <a:gdLst/>
            <a:ahLst/>
            <a:cxnLst/>
            <a:rect l="l" t="t" r="r" b="b"/>
            <a:pathLst>
              <a:path w="12700" h="353217">
                <a:moveTo>
                  <a:pt x="6350" y="346867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38" name="object 338"/>
          <p:cNvSpPr/>
          <p:nvPr/>
        </p:nvSpPr>
        <p:spPr>
          <a:xfrm>
            <a:off x="8516973" y="509846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39" name="object 339"/>
          <p:cNvSpPr/>
          <p:nvPr/>
        </p:nvSpPr>
        <p:spPr>
          <a:xfrm>
            <a:off x="8516973" y="507327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40" name="object 340"/>
          <p:cNvSpPr/>
          <p:nvPr/>
        </p:nvSpPr>
        <p:spPr>
          <a:xfrm>
            <a:off x="8516973" y="5048072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41" name="object 341"/>
          <p:cNvSpPr/>
          <p:nvPr/>
        </p:nvSpPr>
        <p:spPr>
          <a:xfrm>
            <a:off x="8516973" y="5010274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5136737"/>
            <a:ext cx="1456809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j ←</a:t>
            </a:r>
            <a:r>
              <a:rPr sz="1943" spc="20" dirty="0">
                <a:latin typeface="Arial"/>
                <a:cs typeface="Arial"/>
              </a:rPr>
              <a:t>1 </a:t>
            </a:r>
            <a:r>
              <a:rPr sz="1943" b="1" spc="20" dirty="0">
                <a:latin typeface="Arial"/>
                <a:cs typeface="Arial"/>
              </a:rPr>
              <a:t>to </a:t>
            </a:r>
            <a:r>
              <a:rPr sz="1943" i="1" spc="20" dirty="0">
                <a:latin typeface="Arial"/>
                <a:cs typeface="Arial"/>
              </a:rPr>
              <a:t>n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478153"/>
            <a:ext cx="2656496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b="1" spc="20" dirty="0">
                <a:latin typeface="Arial"/>
                <a:cs typeface="Arial"/>
              </a:rPr>
              <a:t>do </a:t>
            </a:r>
            <a:r>
              <a:rPr sz="1823" i="1" spc="20" dirty="0">
                <a:latin typeface="Arial"/>
                <a:cs typeface="Arial"/>
              </a:rPr>
              <a:t>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 </a:t>
            </a:r>
            <a:r>
              <a:rPr sz="1823" i="1" spc="20" dirty="0">
                <a:latin typeface="Arial"/>
                <a:cs typeface="Arial"/>
              </a:rPr>
              <a:t>←C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 + 1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5874410" y="5478153"/>
            <a:ext cx="2260555" cy="3359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183" i="1" spc="20" dirty="0">
                <a:latin typeface="Arial"/>
                <a:cs typeface="Arial"/>
              </a:rPr>
              <a:t> C </a:t>
            </a:r>
            <a:r>
              <a:rPr sz="2183" spc="20" dirty="0">
                <a:latin typeface="Arial"/>
                <a:cs typeface="Arial"/>
              </a:rPr>
              <a:t>[</a:t>
            </a:r>
            <a:r>
              <a:rPr sz="2183" i="1" spc="20" dirty="0">
                <a:latin typeface="Arial"/>
                <a:cs typeface="Arial"/>
              </a:rPr>
              <a:t>i </a:t>
            </a:r>
            <a:r>
              <a:rPr sz="2183" spc="20" dirty="0">
                <a:latin typeface="Arial"/>
                <a:cs typeface="Arial"/>
              </a:rPr>
              <a:t>] = </a:t>
            </a:r>
            <a:r>
              <a:rPr sz="2183" i="1" spc="20" dirty="0">
                <a:latin typeface="Arial"/>
                <a:cs typeface="Arial"/>
              </a:rPr>
              <a:t>|{key  </a:t>
            </a:r>
            <a:r>
              <a:rPr sz="2183" spc="20" dirty="0">
                <a:latin typeface="Arial"/>
                <a:cs typeface="Arial"/>
              </a:rPr>
              <a:t>= </a:t>
            </a:r>
            <a:r>
              <a:rPr sz="2183" i="1" spc="20" dirty="0">
                <a:latin typeface="Arial"/>
                <a:cs typeface="Arial"/>
              </a:rPr>
              <a:t>i}|</a:t>
            </a:r>
            <a:endParaRPr sz="2183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4785773" y="6675432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8459187" y="6675431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15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5791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27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3</a:t>
            </a:r>
            <a:endParaRPr sz="2381">
              <a:latin typeface="Arial"/>
              <a:cs typeface="Arial"/>
            </a:endParaRPr>
          </a:p>
        </p:txBody>
      </p:sp>
      <p:pic>
        <p:nvPicPr>
          <p:cNvPr id="27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pic>
        <p:nvPicPr>
          <p:cNvPr id="28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158607"/>
            <a:ext cx="7714539" cy="3148934"/>
          </a:xfrm>
          <a:prstGeom prst="rect">
            <a:avLst/>
          </a:prstGeom>
        </p:spPr>
      </p:pic>
      <p:sp>
        <p:nvSpPr>
          <p:cNvPr id="347" name="object 347"/>
          <p:cNvSpPr/>
          <p:nvPr/>
        </p:nvSpPr>
        <p:spPr>
          <a:xfrm>
            <a:off x="613485" y="5106695"/>
            <a:ext cx="7916085" cy="163465"/>
          </a:xfrm>
          <a:custGeom>
            <a:avLst/>
            <a:gdLst/>
            <a:ahLst/>
            <a:cxnLst/>
            <a:rect l="l" t="t" r="r" b="b"/>
            <a:pathLst>
              <a:path w="3989652" h="82385">
                <a:moveTo>
                  <a:pt x="0" y="50800"/>
                </a:moveTo>
                <a:cubicBezTo>
                  <a:pt x="0" y="22860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0"/>
                  <a:pt x="3989653" y="50800"/>
                </a:cubicBezTo>
                <a:lnTo>
                  <a:pt x="3989653" y="82385"/>
                </a:lnTo>
                <a:lnTo>
                  <a:pt x="0" y="82385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81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5920437"/>
            <a:ext cx="201590" cy="201590"/>
          </a:xfrm>
          <a:prstGeom prst="rect">
            <a:avLst/>
          </a:prstGeom>
        </p:spPr>
      </p:pic>
      <p:pic>
        <p:nvPicPr>
          <p:cNvPr id="282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718847"/>
            <a:ext cx="403180" cy="403180"/>
          </a:xfrm>
          <a:prstGeom prst="rect">
            <a:avLst/>
          </a:prstGeom>
        </p:spPr>
      </p:pic>
      <p:pic>
        <p:nvPicPr>
          <p:cNvPr id="283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5920437"/>
            <a:ext cx="8327914" cy="201590"/>
          </a:xfrm>
          <a:prstGeom prst="rect">
            <a:avLst/>
          </a:prstGeom>
        </p:spPr>
      </p:pic>
      <p:pic>
        <p:nvPicPr>
          <p:cNvPr id="284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5207011"/>
            <a:ext cx="201590" cy="201590"/>
          </a:xfrm>
          <a:prstGeom prst="rect">
            <a:avLst/>
          </a:prstGeom>
        </p:spPr>
      </p:pic>
      <p:pic>
        <p:nvPicPr>
          <p:cNvPr id="285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4"/>
            <a:ext cx="201590" cy="6020839"/>
          </a:xfrm>
          <a:prstGeom prst="rect">
            <a:avLst/>
          </a:prstGeom>
        </p:spPr>
      </p:pic>
      <p:sp>
        <p:nvSpPr>
          <p:cNvPr id="348" name="object 348"/>
          <p:cNvSpPr/>
          <p:nvPr/>
        </p:nvSpPr>
        <p:spPr>
          <a:xfrm>
            <a:off x="613485" y="5194825"/>
            <a:ext cx="7916085" cy="826410"/>
          </a:xfrm>
          <a:custGeom>
            <a:avLst/>
            <a:gdLst/>
            <a:ahLst/>
            <a:cxnLst/>
            <a:rect l="l" t="t" r="r" b="b"/>
            <a:pathLst>
              <a:path w="3989652" h="416505">
                <a:moveTo>
                  <a:pt x="0" y="365704"/>
                </a:moveTo>
                <a:cubicBezTo>
                  <a:pt x="0" y="393644"/>
                  <a:pt x="22861" y="416505"/>
                  <a:pt x="50801" y="416505"/>
                </a:cubicBezTo>
                <a:lnTo>
                  <a:pt x="3938853" y="416505"/>
                </a:lnTo>
                <a:cubicBezTo>
                  <a:pt x="3966793" y="416505"/>
                  <a:pt x="3989653" y="393644"/>
                  <a:pt x="3989653" y="365704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49" name="object 349"/>
          <p:cNvSpPr/>
          <p:nvPr/>
        </p:nvSpPr>
        <p:spPr>
          <a:xfrm>
            <a:off x="8516973" y="5269999"/>
            <a:ext cx="25199" cy="700837"/>
          </a:xfrm>
          <a:custGeom>
            <a:avLst/>
            <a:gdLst/>
            <a:ahLst/>
            <a:cxnLst/>
            <a:rect l="l" t="t" r="r" b="b"/>
            <a:pathLst>
              <a:path w="12700" h="353217">
                <a:moveTo>
                  <a:pt x="6350" y="346867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50" name="object 350"/>
          <p:cNvSpPr/>
          <p:nvPr/>
        </p:nvSpPr>
        <p:spPr>
          <a:xfrm>
            <a:off x="8516973" y="524479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51" name="object 351"/>
          <p:cNvSpPr/>
          <p:nvPr/>
        </p:nvSpPr>
        <p:spPr>
          <a:xfrm>
            <a:off x="8516973" y="521960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52" name="object 352"/>
          <p:cNvSpPr/>
          <p:nvPr/>
        </p:nvSpPr>
        <p:spPr>
          <a:xfrm>
            <a:off x="8516973" y="5194401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53" name="object 353"/>
          <p:cNvSpPr/>
          <p:nvPr/>
        </p:nvSpPr>
        <p:spPr>
          <a:xfrm>
            <a:off x="8516973" y="5156603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5283066"/>
            <a:ext cx="1443985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i ←</a:t>
            </a:r>
            <a:r>
              <a:rPr sz="1943" spc="20" dirty="0">
                <a:latin typeface="Arial"/>
                <a:cs typeface="Arial"/>
              </a:rPr>
              <a:t>2 </a:t>
            </a:r>
            <a:r>
              <a:rPr sz="1943" b="1" spc="20" dirty="0">
                <a:latin typeface="Arial"/>
                <a:cs typeface="Arial"/>
              </a:rPr>
              <a:t>to </a:t>
            </a:r>
            <a:r>
              <a:rPr sz="1943" i="1" spc="20" dirty="0">
                <a:latin typeface="Arial"/>
                <a:cs typeface="Arial"/>
              </a:rPr>
              <a:t>k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624484"/>
            <a:ext cx="2524409" cy="26225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704" b="1" spc="20" dirty="0">
                <a:latin typeface="Arial"/>
                <a:cs typeface="Arial"/>
              </a:rPr>
              <a:t>do </a:t>
            </a:r>
            <a:r>
              <a:rPr sz="1704" i="1" spc="20" dirty="0">
                <a:latin typeface="Arial"/>
                <a:cs typeface="Arial"/>
              </a:rPr>
              <a:t>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i </a:t>
            </a:r>
            <a:r>
              <a:rPr sz="1704" spc="20" dirty="0">
                <a:latin typeface="Arial"/>
                <a:cs typeface="Arial"/>
              </a:rPr>
              <a:t>] </a:t>
            </a:r>
            <a:r>
              <a:rPr sz="1704" i="1" spc="20" dirty="0">
                <a:latin typeface="Arial"/>
                <a:cs typeface="Arial"/>
              </a:rPr>
              <a:t>←C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i </a:t>
            </a:r>
            <a:r>
              <a:rPr sz="1704" spc="20" dirty="0">
                <a:latin typeface="Arial"/>
                <a:cs typeface="Arial"/>
              </a:rPr>
              <a:t>] + </a:t>
            </a:r>
            <a:r>
              <a:rPr sz="1704" i="1" spc="20" dirty="0">
                <a:latin typeface="Arial"/>
                <a:cs typeface="Arial"/>
              </a:rPr>
              <a:t>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i −</a:t>
            </a:r>
            <a:r>
              <a:rPr sz="1704" spc="20" dirty="0">
                <a:latin typeface="Arial"/>
                <a:cs typeface="Arial"/>
              </a:rPr>
              <a:t>1]</a:t>
            </a:r>
            <a:endParaRPr sz="1587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5874409" y="5624483"/>
            <a:ext cx="2169825" cy="3359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183" i="1" spc="20" dirty="0">
                <a:latin typeface="Arial"/>
                <a:cs typeface="Arial"/>
              </a:rPr>
              <a:t> C </a:t>
            </a:r>
            <a:r>
              <a:rPr sz="2183" spc="20" dirty="0">
                <a:latin typeface="Arial"/>
                <a:cs typeface="Arial"/>
              </a:rPr>
              <a:t>[</a:t>
            </a:r>
            <a:r>
              <a:rPr sz="2183" i="1" spc="20" dirty="0">
                <a:latin typeface="Arial"/>
                <a:cs typeface="Arial"/>
              </a:rPr>
              <a:t>i </a:t>
            </a:r>
            <a:r>
              <a:rPr sz="2183" spc="20" dirty="0">
                <a:latin typeface="Arial"/>
                <a:cs typeface="Arial"/>
              </a:rPr>
              <a:t>] = </a:t>
            </a:r>
            <a:r>
              <a:rPr sz="2183" i="1" spc="20" dirty="0">
                <a:latin typeface="Arial"/>
                <a:cs typeface="Arial"/>
              </a:rPr>
              <a:t>|{key  ≤</a:t>
            </a:r>
            <a:r>
              <a:rPr sz="2183" i="1" spc="20" dirty="0" err="1">
                <a:latin typeface="Arial"/>
                <a:cs typeface="Arial"/>
              </a:rPr>
              <a:t>i</a:t>
            </a:r>
            <a:r>
              <a:rPr sz="2183" i="1" spc="20" dirty="0">
                <a:latin typeface="Arial"/>
                <a:cs typeface="Arial"/>
              </a:rPr>
              <a:t>}|</a:t>
            </a:r>
            <a:endParaRPr sz="2183" dirty="0">
              <a:latin typeface="Arial"/>
              <a:cs typeface="Arial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2927213" y="6675432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4785773" y="6675432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8459187" y="6675431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16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3705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28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813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3</a:t>
            </a:r>
            <a:endParaRPr sz="2381" dirty="0">
              <a:latin typeface="Arial"/>
              <a:cs typeface="Arial"/>
            </a:endParaRPr>
          </a:p>
        </p:txBody>
      </p:sp>
      <p:pic>
        <p:nvPicPr>
          <p:cNvPr id="28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pic>
        <p:nvPicPr>
          <p:cNvPr id="29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256152"/>
            <a:ext cx="7714539" cy="3148934"/>
          </a:xfrm>
          <a:prstGeom prst="rect">
            <a:avLst/>
          </a:prstGeom>
        </p:spPr>
      </p:pic>
      <p:sp>
        <p:nvSpPr>
          <p:cNvPr id="359" name="object 359"/>
          <p:cNvSpPr/>
          <p:nvPr/>
        </p:nvSpPr>
        <p:spPr>
          <a:xfrm>
            <a:off x="613485" y="4960364"/>
            <a:ext cx="7916085" cy="163463"/>
          </a:xfrm>
          <a:custGeom>
            <a:avLst/>
            <a:gdLst/>
            <a:ahLst/>
            <a:cxnLst/>
            <a:rect l="l" t="t" r="r" b="b"/>
            <a:pathLst>
              <a:path w="3989652" h="82384">
                <a:moveTo>
                  <a:pt x="0" y="50800"/>
                </a:moveTo>
                <a:cubicBezTo>
                  <a:pt x="0" y="22860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0"/>
                  <a:pt x="3989653" y="50800"/>
                </a:cubicBezTo>
                <a:lnTo>
                  <a:pt x="3989653" y="82385"/>
                </a:lnTo>
                <a:lnTo>
                  <a:pt x="0" y="82385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91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5774111"/>
            <a:ext cx="201590" cy="201588"/>
          </a:xfrm>
          <a:prstGeom prst="rect">
            <a:avLst/>
          </a:prstGeom>
        </p:spPr>
      </p:pic>
      <p:pic>
        <p:nvPicPr>
          <p:cNvPr id="292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572521"/>
            <a:ext cx="403180" cy="403178"/>
          </a:xfrm>
          <a:prstGeom prst="rect">
            <a:avLst/>
          </a:prstGeom>
        </p:spPr>
      </p:pic>
      <p:pic>
        <p:nvPicPr>
          <p:cNvPr id="293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5774111"/>
            <a:ext cx="8327914" cy="201588"/>
          </a:xfrm>
          <a:prstGeom prst="rect">
            <a:avLst/>
          </a:prstGeom>
        </p:spPr>
      </p:pic>
      <p:pic>
        <p:nvPicPr>
          <p:cNvPr id="294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5060681"/>
            <a:ext cx="201590" cy="201590"/>
          </a:xfrm>
          <a:prstGeom prst="rect">
            <a:avLst/>
          </a:prstGeom>
        </p:spPr>
      </p:pic>
      <p:pic>
        <p:nvPicPr>
          <p:cNvPr id="295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3"/>
            <a:ext cx="201590" cy="5874510"/>
          </a:xfrm>
          <a:prstGeom prst="rect">
            <a:avLst/>
          </a:prstGeom>
        </p:spPr>
      </p:pic>
      <p:sp>
        <p:nvSpPr>
          <p:cNvPr id="360" name="object 360"/>
          <p:cNvSpPr/>
          <p:nvPr/>
        </p:nvSpPr>
        <p:spPr>
          <a:xfrm>
            <a:off x="613485" y="5048496"/>
            <a:ext cx="7916085" cy="826410"/>
          </a:xfrm>
          <a:custGeom>
            <a:avLst/>
            <a:gdLst/>
            <a:ahLst/>
            <a:cxnLst/>
            <a:rect l="l" t="t" r="r" b="b"/>
            <a:pathLst>
              <a:path w="3989652" h="416505">
                <a:moveTo>
                  <a:pt x="0" y="365705"/>
                </a:moveTo>
                <a:cubicBezTo>
                  <a:pt x="0" y="393644"/>
                  <a:pt x="22861" y="416505"/>
                  <a:pt x="50801" y="416505"/>
                </a:cubicBezTo>
                <a:lnTo>
                  <a:pt x="3938853" y="416505"/>
                </a:lnTo>
                <a:cubicBezTo>
                  <a:pt x="3966793" y="416505"/>
                  <a:pt x="3989653" y="393644"/>
                  <a:pt x="3989653" y="365705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61" name="object 361"/>
          <p:cNvSpPr/>
          <p:nvPr/>
        </p:nvSpPr>
        <p:spPr>
          <a:xfrm>
            <a:off x="8516973" y="5123669"/>
            <a:ext cx="25199" cy="700837"/>
          </a:xfrm>
          <a:custGeom>
            <a:avLst/>
            <a:gdLst/>
            <a:ahLst/>
            <a:cxnLst/>
            <a:rect l="l" t="t" r="r" b="b"/>
            <a:pathLst>
              <a:path w="12700" h="353217">
                <a:moveTo>
                  <a:pt x="6350" y="346867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62" name="object 362"/>
          <p:cNvSpPr/>
          <p:nvPr/>
        </p:nvSpPr>
        <p:spPr>
          <a:xfrm>
            <a:off x="8516973" y="509846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63" name="object 363"/>
          <p:cNvSpPr/>
          <p:nvPr/>
        </p:nvSpPr>
        <p:spPr>
          <a:xfrm>
            <a:off x="8516973" y="507327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64" name="object 364"/>
          <p:cNvSpPr/>
          <p:nvPr/>
        </p:nvSpPr>
        <p:spPr>
          <a:xfrm>
            <a:off x="8516973" y="5048072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65" name="object 365"/>
          <p:cNvSpPr/>
          <p:nvPr/>
        </p:nvSpPr>
        <p:spPr>
          <a:xfrm>
            <a:off x="8516973" y="5010274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5136737"/>
            <a:ext cx="1443985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i ←</a:t>
            </a:r>
            <a:r>
              <a:rPr sz="1943" spc="20" dirty="0">
                <a:latin typeface="Arial"/>
                <a:cs typeface="Arial"/>
              </a:rPr>
              <a:t>2 </a:t>
            </a:r>
            <a:r>
              <a:rPr sz="1943" b="1" spc="20" dirty="0">
                <a:latin typeface="Arial"/>
                <a:cs typeface="Arial"/>
              </a:rPr>
              <a:t>to </a:t>
            </a:r>
            <a:r>
              <a:rPr sz="1943" i="1" spc="20" dirty="0">
                <a:latin typeface="Arial"/>
                <a:cs typeface="Arial"/>
              </a:rPr>
              <a:t>k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478154"/>
            <a:ext cx="2524409" cy="26225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704" b="1" spc="20" dirty="0">
                <a:latin typeface="Arial"/>
                <a:cs typeface="Arial"/>
              </a:rPr>
              <a:t>do </a:t>
            </a:r>
            <a:r>
              <a:rPr sz="1704" i="1" spc="20" dirty="0">
                <a:latin typeface="Arial"/>
                <a:cs typeface="Arial"/>
              </a:rPr>
              <a:t>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i </a:t>
            </a:r>
            <a:r>
              <a:rPr sz="1704" spc="20" dirty="0">
                <a:latin typeface="Arial"/>
                <a:cs typeface="Arial"/>
              </a:rPr>
              <a:t>] </a:t>
            </a:r>
            <a:r>
              <a:rPr sz="1704" i="1" spc="20" dirty="0">
                <a:latin typeface="Arial"/>
                <a:cs typeface="Arial"/>
              </a:rPr>
              <a:t>←C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i </a:t>
            </a:r>
            <a:r>
              <a:rPr sz="1704" spc="20" dirty="0">
                <a:latin typeface="Arial"/>
                <a:cs typeface="Arial"/>
              </a:rPr>
              <a:t>] + </a:t>
            </a:r>
            <a:r>
              <a:rPr sz="1704" i="1" spc="20" dirty="0">
                <a:latin typeface="Arial"/>
                <a:cs typeface="Arial"/>
              </a:rPr>
              <a:t>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i −</a:t>
            </a:r>
            <a:r>
              <a:rPr sz="1704" spc="20" dirty="0">
                <a:latin typeface="Arial"/>
                <a:cs typeface="Arial"/>
              </a:rPr>
              <a:t>1]</a:t>
            </a:r>
            <a:endParaRPr sz="1587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5874409" y="5478153"/>
            <a:ext cx="2169825" cy="3359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183" i="1" spc="20" dirty="0">
                <a:latin typeface="Arial"/>
                <a:cs typeface="Arial"/>
              </a:rPr>
              <a:t> C </a:t>
            </a:r>
            <a:r>
              <a:rPr sz="2183" spc="20" dirty="0">
                <a:latin typeface="Arial"/>
                <a:cs typeface="Arial"/>
              </a:rPr>
              <a:t>[</a:t>
            </a:r>
            <a:r>
              <a:rPr sz="2183" i="1" spc="20" dirty="0">
                <a:latin typeface="Arial"/>
                <a:cs typeface="Arial"/>
              </a:rPr>
              <a:t>i </a:t>
            </a:r>
            <a:r>
              <a:rPr sz="2183" spc="20" dirty="0">
                <a:latin typeface="Arial"/>
                <a:cs typeface="Arial"/>
              </a:rPr>
              <a:t>] = </a:t>
            </a:r>
            <a:r>
              <a:rPr sz="2183" i="1" spc="20" dirty="0">
                <a:latin typeface="Arial"/>
                <a:cs typeface="Arial"/>
              </a:rPr>
              <a:t>|{key  ≤</a:t>
            </a:r>
            <a:r>
              <a:rPr sz="2183" i="1" spc="20" dirty="0" err="1">
                <a:latin typeface="Arial"/>
                <a:cs typeface="Arial"/>
              </a:rPr>
              <a:t>i</a:t>
            </a:r>
            <a:r>
              <a:rPr sz="2183" i="1" spc="20" dirty="0">
                <a:latin typeface="Arial"/>
                <a:cs typeface="Arial"/>
              </a:rPr>
              <a:t>}|</a:t>
            </a:r>
            <a:endParaRPr sz="2183" dirty="0">
              <a:latin typeface="Arial"/>
              <a:cs typeface="Arial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2927213" y="6675432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4785773" y="6675432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 dirty="0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8459187" y="6675431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16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0516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object 368"/>
          <p:cNvSpPr/>
          <p:nvPr/>
        </p:nvSpPr>
        <p:spPr>
          <a:xfrm>
            <a:off x="1" y="393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29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29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3</a:t>
            </a:r>
            <a:endParaRPr sz="2381">
              <a:latin typeface="Arial"/>
              <a:cs typeface="Arial"/>
            </a:endParaRPr>
          </a:p>
        </p:txBody>
      </p:sp>
      <p:pic>
        <p:nvPicPr>
          <p:cNvPr id="300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256152"/>
            <a:ext cx="7714539" cy="3148934"/>
          </a:xfrm>
          <a:prstGeom prst="rect">
            <a:avLst/>
          </a:prstGeom>
        </p:spPr>
      </p:pic>
      <p:sp>
        <p:nvSpPr>
          <p:cNvPr id="371" name="object 371"/>
          <p:cNvSpPr/>
          <p:nvPr/>
        </p:nvSpPr>
        <p:spPr>
          <a:xfrm>
            <a:off x="613485" y="4960364"/>
            <a:ext cx="7916085" cy="163463"/>
          </a:xfrm>
          <a:custGeom>
            <a:avLst/>
            <a:gdLst/>
            <a:ahLst/>
            <a:cxnLst/>
            <a:rect l="l" t="t" r="r" b="b"/>
            <a:pathLst>
              <a:path w="3989652" h="82384">
                <a:moveTo>
                  <a:pt x="0" y="50800"/>
                </a:moveTo>
                <a:cubicBezTo>
                  <a:pt x="0" y="22860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0"/>
                  <a:pt x="3989653" y="50800"/>
                </a:cubicBezTo>
                <a:lnTo>
                  <a:pt x="3989653" y="82385"/>
                </a:lnTo>
                <a:lnTo>
                  <a:pt x="0" y="82385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301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5774111"/>
            <a:ext cx="201590" cy="201588"/>
          </a:xfrm>
          <a:prstGeom prst="rect">
            <a:avLst/>
          </a:prstGeom>
        </p:spPr>
      </p:pic>
      <p:pic>
        <p:nvPicPr>
          <p:cNvPr id="302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572521"/>
            <a:ext cx="403180" cy="403178"/>
          </a:xfrm>
          <a:prstGeom prst="rect">
            <a:avLst/>
          </a:prstGeom>
        </p:spPr>
      </p:pic>
      <p:pic>
        <p:nvPicPr>
          <p:cNvPr id="303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5774111"/>
            <a:ext cx="8327914" cy="201588"/>
          </a:xfrm>
          <a:prstGeom prst="rect">
            <a:avLst/>
          </a:prstGeom>
        </p:spPr>
      </p:pic>
      <p:pic>
        <p:nvPicPr>
          <p:cNvPr id="304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5060681"/>
            <a:ext cx="201590" cy="201590"/>
          </a:xfrm>
          <a:prstGeom prst="rect">
            <a:avLst/>
          </a:prstGeom>
        </p:spPr>
      </p:pic>
      <p:pic>
        <p:nvPicPr>
          <p:cNvPr id="305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3"/>
            <a:ext cx="201590" cy="5874510"/>
          </a:xfrm>
          <a:prstGeom prst="rect">
            <a:avLst/>
          </a:prstGeom>
        </p:spPr>
      </p:pic>
      <p:sp>
        <p:nvSpPr>
          <p:cNvPr id="372" name="object 372"/>
          <p:cNvSpPr/>
          <p:nvPr/>
        </p:nvSpPr>
        <p:spPr>
          <a:xfrm>
            <a:off x="613485" y="5048496"/>
            <a:ext cx="7916085" cy="826410"/>
          </a:xfrm>
          <a:custGeom>
            <a:avLst/>
            <a:gdLst/>
            <a:ahLst/>
            <a:cxnLst/>
            <a:rect l="l" t="t" r="r" b="b"/>
            <a:pathLst>
              <a:path w="3989652" h="416505">
                <a:moveTo>
                  <a:pt x="0" y="365705"/>
                </a:moveTo>
                <a:cubicBezTo>
                  <a:pt x="0" y="393644"/>
                  <a:pt x="22861" y="416505"/>
                  <a:pt x="50801" y="416505"/>
                </a:cubicBezTo>
                <a:lnTo>
                  <a:pt x="3938853" y="416505"/>
                </a:lnTo>
                <a:cubicBezTo>
                  <a:pt x="3966793" y="416505"/>
                  <a:pt x="3989653" y="393644"/>
                  <a:pt x="3989653" y="365705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73" name="object 373"/>
          <p:cNvSpPr/>
          <p:nvPr/>
        </p:nvSpPr>
        <p:spPr>
          <a:xfrm>
            <a:off x="8516973" y="5123669"/>
            <a:ext cx="25199" cy="700837"/>
          </a:xfrm>
          <a:custGeom>
            <a:avLst/>
            <a:gdLst/>
            <a:ahLst/>
            <a:cxnLst/>
            <a:rect l="l" t="t" r="r" b="b"/>
            <a:pathLst>
              <a:path w="12700" h="353217">
                <a:moveTo>
                  <a:pt x="6350" y="346867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74" name="object 374"/>
          <p:cNvSpPr/>
          <p:nvPr/>
        </p:nvSpPr>
        <p:spPr>
          <a:xfrm>
            <a:off x="8516973" y="509846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75" name="object 375"/>
          <p:cNvSpPr/>
          <p:nvPr/>
        </p:nvSpPr>
        <p:spPr>
          <a:xfrm>
            <a:off x="8516973" y="507327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76" name="object 376"/>
          <p:cNvSpPr/>
          <p:nvPr/>
        </p:nvSpPr>
        <p:spPr>
          <a:xfrm>
            <a:off x="8516973" y="5048072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77" name="object 377"/>
          <p:cNvSpPr/>
          <p:nvPr/>
        </p:nvSpPr>
        <p:spPr>
          <a:xfrm>
            <a:off x="8516973" y="5010274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5136737"/>
            <a:ext cx="1443985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i ←</a:t>
            </a:r>
            <a:r>
              <a:rPr sz="1943" spc="20" dirty="0">
                <a:latin typeface="Arial"/>
                <a:cs typeface="Arial"/>
              </a:rPr>
              <a:t>2 </a:t>
            </a:r>
            <a:r>
              <a:rPr sz="1943" b="1" spc="20" dirty="0">
                <a:latin typeface="Arial"/>
                <a:cs typeface="Arial"/>
              </a:rPr>
              <a:t>to </a:t>
            </a:r>
            <a:r>
              <a:rPr sz="1943" i="1" spc="20" dirty="0">
                <a:latin typeface="Arial"/>
                <a:cs typeface="Arial"/>
              </a:rPr>
              <a:t>k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478154"/>
            <a:ext cx="2524409" cy="26225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704" b="1" spc="20" dirty="0">
                <a:latin typeface="Arial"/>
                <a:cs typeface="Arial"/>
              </a:rPr>
              <a:t>do </a:t>
            </a:r>
            <a:r>
              <a:rPr sz="1704" i="1" spc="20" dirty="0">
                <a:latin typeface="Arial"/>
                <a:cs typeface="Arial"/>
              </a:rPr>
              <a:t>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i </a:t>
            </a:r>
            <a:r>
              <a:rPr sz="1704" spc="20" dirty="0">
                <a:latin typeface="Arial"/>
                <a:cs typeface="Arial"/>
              </a:rPr>
              <a:t>] </a:t>
            </a:r>
            <a:r>
              <a:rPr sz="1704" i="1" spc="20" dirty="0">
                <a:latin typeface="Arial"/>
                <a:cs typeface="Arial"/>
              </a:rPr>
              <a:t>←C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i </a:t>
            </a:r>
            <a:r>
              <a:rPr sz="1704" spc="20" dirty="0">
                <a:latin typeface="Arial"/>
                <a:cs typeface="Arial"/>
              </a:rPr>
              <a:t>] + </a:t>
            </a:r>
            <a:r>
              <a:rPr sz="1704" i="1" spc="20" dirty="0">
                <a:latin typeface="Arial"/>
                <a:cs typeface="Arial"/>
              </a:rPr>
              <a:t>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i −</a:t>
            </a:r>
            <a:r>
              <a:rPr sz="1704" spc="20" dirty="0">
                <a:latin typeface="Arial"/>
                <a:cs typeface="Arial"/>
              </a:rPr>
              <a:t>1]</a:t>
            </a:r>
            <a:endParaRPr sz="1587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5874409" y="5478153"/>
            <a:ext cx="2169825" cy="3359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183" i="1" spc="20" dirty="0">
                <a:latin typeface="Arial"/>
                <a:cs typeface="Arial"/>
              </a:rPr>
              <a:t> C </a:t>
            </a:r>
            <a:r>
              <a:rPr sz="2183" spc="20" dirty="0">
                <a:latin typeface="Arial"/>
                <a:cs typeface="Arial"/>
              </a:rPr>
              <a:t>[</a:t>
            </a:r>
            <a:r>
              <a:rPr sz="2183" i="1" spc="20" dirty="0">
                <a:latin typeface="Arial"/>
                <a:cs typeface="Arial"/>
              </a:rPr>
              <a:t>i </a:t>
            </a:r>
            <a:r>
              <a:rPr sz="2183" spc="20" dirty="0">
                <a:latin typeface="Arial"/>
                <a:cs typeface="Arial"/>
              </a:rPr>
              <a:t>] = </a:t>
            </a:r>
            <a:r>
              <a:rPr sz="2183" i="1" spc="20" dirty="0">
                <a:latin typeface="Arial"/>
                <a:cs typeface="Arial"/>
              </a:rPr>
              <a:t>|{key  ≤</a:t>
            </a:r>
            <a:r>
              <a:rPr sz="2183" i="1" spc="20" dirty="0" err="1">
                <a:latin typeface="Arial"/>
                <a:cs typeface="Arial"/>
              </a:rPr>
              <a:t>i</a:t>
            </a:r>
            <a:r>
              <a:rPr sz="2183" i="1" spc="20" dirty="0">
                <a:latin typeface="Arial"/>
                <a:cs typeface="Arial"/>
              </a:rPr>
              <a:t>}|</a:t>
            </a:r>
            <a:endParaRPr sz="2183" dirty="0">
              <a:latin typeface="Arial"/>
              <a:cs typeface="Arial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2927213" y="6675432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4785773" y="6675432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8459187" y="6675431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16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8597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30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813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4</a:t>
            </a:r>
            <a:endParaRPr sz="2381">
              <a:latin typeface="Arial"/>
              <a:cs typeface="Arial"/>
            </a:endParaRPr>
          </a:p>
        </p:txBody>
      </p:sp>
      <p:pic>
        <p:nvPicPr>
          <p:cNvPr id="30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pic>
        <p:nvPicPr>
          <p:cNvPr id="3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061062"/>
            <a:ext cx="7714539" cy="3148934"/>
          </a:xfrm>
          <a:prstGeom prst="rect">
            <a:avLst/>
          </a:prstGeom>
        </p:spPr>
      </p:pic>
      <p:sp>
        <p:nvSpPr>
          <p:cNvPr id="383" name="object 383"/>
          <p:cNvSpPr/>
          <p:nvPr/>
        </p:nvSpPr>
        <p:spPr>
          <a:xfrm>
            <a:off x="613485" y="4911576"/>
            <a:ext cx="7916085" cy="163463"/>
          </a:xfrm>
          <a:custGeom>
            <a:avLst/>
            <a:gdLst/>
            <a:ahLst/>
            <a:cxnLst/>
            <a:rect l="l" t="t" r="r" b="b"/>
            <a:pathLst>
              <a:path w="3989652" h="82384">
                <a:moveTo>
                  <a:pt x="0" y="50801"/>
                </a:moveTo>
                <a:cubicBezTo>
                  <a:pt x="0" y="22861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1"/>
                  <a:pt x="3989653" y="50801"/>
                </a:cubicBezTo>
                <a:lnTo>
                  <a:pt x="3989653" y="82385"/>
                </a:lnTo>
                <a:lnTo>
                  <a:pt x="0" y="82385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311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6066765"/>
            <a:ext cx="201590" cy="201590"/>
          </a:xfrm>
          <a:prstGeom prst="rect">
            <a:avLst/>
          </a:prstGeom>
        </p:spPr>
      </p:pic>
      <p:pic>
        <p:nvPicPr>
          <p:cNvPr id="312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865175"/>
            <a:ext cx="403180" cy="403180"/>
          </a:xfrm>
          <a:prstGeom prst="rect">
            <a:avLst/>
          </a:prstGeom>
        </p:spPr>
      </p:pic>
      <p:pic>
        <p:nvPicPr>
          <p:cNvPr id="313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6066765"/>
            <a:ext cx="8327914" cy="201590"/>
          </a:xfrm>
          <a:prstGeom prst="rect">
            <a:avLst/>
          </a:prstGeom>
        </p:spPr>
      </p:pic>
      <p:pic>
        <p:nvPicPr>
          <p:cNvPr id="314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5011919"/>
            <a:ext cx="201590" cy="201590"/>
          </a:xfrm>
          <a:prstGeom prst="rect">
            <a:avLst/>
          </a:prstGeom>
        </p:spPr>
      </p:pic>
      <p:pic>
        <p:nvPicPr>
          <p:cNvPr id="315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4"/>
            <a:ext cx="201590" cy="6167166"/>
          </a:xfrm>
          <a:prstGeom prst="rect">
            <a:avLst/>
          </a:prstGeom>
        </p:spPr>
      </p:pic>
      <p:sp>
        <p:nvSpPr>
          <p:cNvPr id="384" name="object 384"/>
          <p:cNvSpPr/>
          <p:nvPr/>
        </p:nvSpPr>
        <p:spPr>
          <a:xfrm>
            <a:off x="613485" y="4999722"/>
            <a:ext cx="7916085" cy="1167838"/>
          </a:xfrm>
          <a:custGeom>
            <a:avLst/>
            <a:gdLst/>
            <a:ahLst/>
            <a:cxnLst/>
            <a:rect l="l" t="t" r="r" b="b"/>
            <a:pathLst>
              <a:path w="3989652" h="588582">
                <a:moveTo>
                  <a:pt x="0" y="537782"/>
                </a:moveTo>
                <a:cubicBezTo>
                  <a:pt x="0" y="565722"/>
                  <a:pt x="22861" y="588582"/>
                  <a:pt x="50801" y="588582"/>
                </a:cubicBezTo>
                <a:lnTo>
                  <a:pt x="3938853" y="588582"/>
                </a:lnTo>
                <a:cubicBezTo>
                  <a:pt x="3966793" y="588582"/>
                  <a:pt x="3989653" y="565722"/>
                  <a:pt x="3989653" y="537782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85" name="object 385"/>
          <p:cNvSpPr/>
          <p:nvPr/>
        </p:nvSpPr>
        <p:spPr>
          <a:xfrm>
            <a:off x="8516973" y="5074896"/>
            <a:ext cx="25199" cy="1042264"/>
          </a:xfrm>
          <a:custGeom>
            <a:avLst/>
            <a:gdLst/>
            <a:ahLst/>
            <a:cxnLst/>
            <a:rect l="l" t="t" r="r" b="b"/>
            <a:pathLst>
              <a:path w="12700" h="525294">
                <a:moveTo>
                  <a:pt x="6350" y="518945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86" name="object 386"/>
          <p:cNvSpPr/>
          <p:nvPr/>
        </p:nvSpPr>
        <p:spPr>
          <a:xfrm>
            <a:off x="8516973" y="5049697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87" name="object 387"/>
          <p:cNvSpPr/>
          <p:nvPr/>
        </p:nvSpPr>
        <p:spPr>
          <a:xfrm>
            <a:off x="8516973" y="5024498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88" name="object 388"/>
          <p:cNvSpPr/>
          <p:nvPr/>
        </p:nvSpPr>
        <p:spPr>
          <a:xfrm>
            <a:off x="8516973" y="499929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89" name="object 389"/>
          <p:cNvSpPr/>
          <p:nvPr/>
        </p:nvSpPr>
        <p:spPr>
          <a:xfrm>
            <a:off x="8516973" y="4961501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5087974"/>
            <a:ext cx="2117887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j ←n </a:t>
            </a:r>
            <a:r>
              <a:rPr sz="1943" b="1" spc="20" dirty="0">
                <a:latin typeface="Arial"/>
                <a:cs typeface="Arial"/>
              </a:rPr>
              <a:t>downto </a:t>
            </a:r>
            <a:r>
              <a:rPr sz="1943" spc="20" dirty="0">
                <a:latin typeface="Arial"/>
                <a:cs typeface="Arial"/>
              </a:rPr>
              <a:t>1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429391"/>
            <a:ext cx="2167581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b="1" spc="20" dirty="0">
                <a:latin typeface="Arial"/>
                <a:cs typeface="Arial"/>
              </a:rPr>
              <a:t>do </a:t>
            </a:r>
            <a:r>
              <a:rPr sz="1823" i="1" spc="20" dirty="0">
                <a:latin typeface="Arial"/>
                <a:cs typeface="Arial"/>
              </a:rPr>
              <a:t>B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]]] </a:t>
            </a:r>
            <a:r>
              <a:rPr sz="1823" i="1" spc="20" dirty="0">
                <a:latin typeface="Arial"/>
                <a:cs typeface="Arial"/>
              </a:rPr>
              <a:t>←A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2144237" y="5770811"/>
            <a:ext cx="2081980" cy="26225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704" i="1" spc="20" dirty="0">
                <a:latin typeface="Arial"/>
                <a:cs typeface="Arial"/>
              </a:rPr>
              <a:t>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A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j </a:t>
            </a:r>
            <a:r>
              <a:rPr sz="1704" spc="20" dirty="0">
                <a:latin typeface="Arial"/>
                <a:cs typeface="Arial"/>
              </a:rPr>
              <a:t>]] </a:t>
            </a:r>
            <a:r>
              <a:rPr sz="1704" i="1" spc="20" dirty="0">
                <a:latin typeface="Arial"/>
                <a:cs typeface="Arial"/>
              </a:rPr>
              <a:t>←C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A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j </a:t>
            </a:r>
            <a:r>
              <a:rPr sz="1704" spc="20" dirty="0">
                <a:latin typeface="Arial"/>
                <a:cs typeface="Arial"/>
              </a:rPr>
              <a:t>]] </a:t>
            </a:r>
            <a:r>
              <a:rPr sz="1704" i="1" spc="20" dirty="0">
                <a:latin typeface="Arial"/>
                <a:cs typeface="Arial"/>
              </a:rPr>
              <a:t>−</a:t>
            </a:r>
            <a:r>
              <a:rPr sz="1704" spc="20" dirty="0">
                <a:latin typeface="Arial"/>
                <a:cs typeface="Arial"/>
              </a:rPr>
              <a:t>1</a:t>
            </a:r>
            <a:endParaRPr sz="1587" dirty="0">
              <a:latin typeface="Arial"/>
              <a:cs typeface="Arial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2927213" y="6675428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4785773" y="6675428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8459187" y="6675427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17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436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object 392"/>
          <p:cNvSpPr/>
          <p:nvPr/>
        </p:nvSpPr>
        <p:spPr>
          <a:xfrm>
            <a:off x="1" y="393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31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31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4</a:t>
            </a:r>
            <a:endParaRPr sz="2381">
              <a:latin typeface="Arial"/>
              <a:cs typeface="Arial"/>
            </a:endParaRPr>
          </a:p>
        </p:txBody>
      </p:sp>
      <p:pic>
        <p:nvPicPr>
          <p:cNvPr id="31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pic>
        <p:nvPicPr>
          <p:cNvPr id="32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061062"/>
            <a:ext cx="7714539" cy="3148934"/>
          </a:xfrm>
          <a:prstGeom prst="rect">
            <a:avLst/>
          </a:prstGeom>
        </p:spPr>
      </p:pic>
      <p:sp>
        <p:nvSpPr>
          <p:cNvPr id="395" name="object 395"/>
          <p:cNvSpPr/>
          <p:nvPr/>
        </p:nvSpPr>
        <p:spPr>
          <a:xfrm>
            <a:off x="613485" y="4911576"/>
            <a:ext cx="7916085" cy="163463"/>
          </a:xfrm>
          <a:custGeom>
            <a:avLst/>
            <a:gdLst/>
            <a:ahLst/>
            <a:cxnLst/>
            <a:rect l="l" t="t" r="r" b="b"/>
            <a:pathLst>
              <a:path w="3989652" h="82384">
                <a:moveTo>
                  <a:pt x="0" y="50801"/>
                </a:moveTo>
                <a:cubicBezTo>
                  <a:pt x="0" y="22861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1"/>
                  <a:pt x="3989653" y="50801"/>
                </a:cubicBezTo>
                <a:lnTo>
                  <a:pt x="3989653" y="82385"/>
                </a:lnTo>
                <a:lnTo>
                  <a:pt x="0" y="82385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321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6066765"/>
            <a:ext cx="201590" cy="201590"/>
          </a:xfrm>
          <a:prstGeom prst="rect">
            <a:avLst/>
          </a:prstGeom>
        </p:spPr>
      </p:pic>
      <p:pic>
        <p:nvPicPr>
          <p:cNvPr id="322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865175"/>
            <a:ext cx="403180" cy="403180"/>
          </a:xfrm>
          <a:prstGeom prst="rect">
            <a:avLst/>
          </a:prstGeom>
        </p:spPr>
      </p:pic>
      <p:pic>
        <p:nvPicPr>
          <p:cNvPr id="323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6066765"/>
            <a:ext cx="8327914" cy="201590"/>
          </a:xfrm>
          <a:prstGeom prst="rect">
            <a:avLst/>
          </a:prstGeom>
        </p:spPr>
      </p:pic>
      <p:pic>
        <p:nvPicPr>
          <p:cNvPr id="324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5011919"/>
            <a:ext cx="201590" cy="201590"/>
          </a:xfrm>
          <a:prstGeom prst="rect">
            <a:avLst/>
          </a:prstGeom>
        </p:spPr>
      </p:pic>
      <p:pic>
        <p:nvPicPr>
          <p:cNvPr id="325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4"/>
            <a:ext cx="201590" cy="6167166"/>
          </a:xfrm>
          <a:prstGeom prst="rect">
            <a:avLst/>
          </a:prstGeom>
        </p:spPr>
      </p:pic>
      <p:sp>
        <p:nvSpPr>
          <p:cNvPr id="396" name="object 396"/>
          <p:cNvSpPr/>
          <p:nvPr/>
        </p:nvSpPr>
        <p:spPr>
          <a:xfrm>
            <a:off x="613485" y="4999722"/>
            <a:ext cx="7916085" cy="1167838"/>
          </a:xfrm>
          <a:custGeom>
            <a:avLst/>
            <a:gdLst/>
            <a:ahLst/>
            <a:cxnLst/>
            <a:rect l="l" t="t" r="r" b="b"/>
            <a:pathLst>
              <a:path w="3989652" h="588582">
                <a:moveTo>
                  <a:pt x="0" y="537782"/>
                </a:moveTo>
                <a:cubicBezTo>
                  <a:pt x="0" y="565722"/>
                  <a:pt x="22861" y="588582"/>
                  <a:pt x="50801" y="588582"/>
                </a:cubicBezTo>
                <a:lnTo>
                  <a:pt x="3938853" y="588582"/>
                </a:lnTo>
                <a:cubicBezTo>
                  <a:pt x="3966793" y="588582"/>
                  <a:pt x="3989653" y="565722"/>
                  <a:pt x="3989653" y="537782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97" name="object 397"/>
          <p:cNvSpPr/>
          <p:nvPr/>
        </p:nvSpPr>
        <p:spPr>
          <a:xfrm>
            <a:off x="8516973" y="5074896"/>
            <a:ext cx="25199" cy="1042264"/>
          </a:xfrm>
          <a:custGeom>
            <a:avLst/>
            <a:gdLst/>
            <a:ahLst/>
            <a:cxnLst/>
            <a:rect l="l" t="t" r="r" b="b"/>
            <a:pathLst>
              <a:path w="12700" h="525294">
                <a:moveTo>
                  <a:pt x="6350" y="518945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98" name="object 398"/>
          <p:cNvSpPr/>
          <p:nvPr/>
        </p:nvSpPr>
        <p:spPr>
          <a:xfrm>
            <a:off x="8516973" y="5049697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399" name="object 399"/>
          <p:cNvSpPr/>
          <p:nvPr/>
        </p:nvSpPr>
        <p:spPr>
          <a:xfrm>
            <a:off x="8516973" y="5024498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00" name="object 400"/>
          <p:cNvSpPr/>
          <p:nvPr/>
        </p:nvSpPr>
        <p:spPr>
          <a:xfrm>
            <a:off x="8516973" y="499929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01" name="object 401"/>
          <p:cNvSpPr/>
          <p:nvPr/>
        </p:nvSpPr>
        <p:spPr>
          <a:xfrm>
            <a:off x="8516973" y="4961501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5087974"/>
            <a:ext cx="2117887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j ←n </a:t>
            </a:r>
            <a:r>
              <a:rPr sz="1943" b="1" spc="20" dirty="0">
                <a:latin typeface="Arial"/>
                <a:cs typeface="Arial"/>
              </a:rPr>
              <a:t>downto </a:t>
            </a:r>
            <a:r>
              <a:rPr sz="1943" spc="20" dirty="0">
                <a:latin typeface="Arial"/>
                <a:cs typeface="Arial"/>
              </a:rPr>
              <a:t>1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429391"/>
            <a:ext cx="2167581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b="1" spc="20" dirty="0">
                <a:latin typeface="Arial"/>
                <a:cs typeface="Arial"/>
              </a:rPr>
              <a:t>do </a:t>
            </a:r>
            <a:r>
              <a:rPr sz="1823" i="1" spc="20" dirty="0">
                <a:latin typeface="Arial"/>
                <a:cs typeface="Arial"/>
              </a:rPr>
              <a:t>B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]]] </a:t>
            </a:r>
            <a:r>
              <a:rPr sz="1823" i="1" spc="20" dirty="0">
                <a:latin typeface="Arial"/>
                <a:cs typeface="Arial"/>
              </a:rPr>
              <a:t>←A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2144237" y="5770811"/>
            <a:ext cx="2081980" cy="26225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704" i="1" spc="20" dirty="0">
                <a:latin typeface="Arial"/>
                <a:cs typeface="Arial"/>
              </a:rPr>
              <a:t>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A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j </a:t>
            </a:r>
            <a:r>
              <a:rPr sz="1704" spc="20" dirty="0">
                <a:latin typeface="Arial"/>
                <a:cs typeface="Arial"/>
              </a:rPr>
              <a:t>]] </a:t>
            </a:r>
            <a:r>
              <a:rPr sz="1704" i="1" spc="20" dirty="0">
                <a:latin typeface="Arial"/>
                <a:cs typeface="Arial"/>
              </a:rPr>
              <a:t>←C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A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j </a:t>
            </a:r>
            <a:r>
              <a:rPr sz="1704" spc="20" dirty="0">
                <a:latin typeface="Arial"/>
                <a:cs typeface="Arial"/>
              </a:rPr>
              <a:t>]] </a:t>
            </a:r>
            <a:r>
              <a:rPr sz="1704" i="1" spc="20" dirty="0">
                <a:latin typeface="Arial"/>
                <a:cs typeface="Arial"/>
              </a:rPr>
              <a:t>−</a:t>
            </a:r>
            <a:r>
              <a:rPr sz="1704" spc="20" dirty="0">
                <a:latin typeface="Arial"/>
                <a:cs typeface="Arial"/>
              </a:rPr>
              <a:t>1</a:t>
            </a:r>
            <a:endParaRPr sz="1587" dirty="0">
              <a:latin typeface="Arial"/>
              <a:cs typeface="Arial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2927213" y="6675428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 dirty="0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4785773" y="6675428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8459187" y="6675427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17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0353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object 404"/>
          <p:cNvSpPr/>
          <p:nvPr/>
        </p:nvSpPr>
        <p:spPr>
          <a:xfrm>
            <a:off x="1" y="393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32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32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4</a:t>
            </a:r>
            <a:endParaRPr sz="2381">
              <a:latin typeface="Arial"/>
              <a:cs typeface="Arial"/>
            </a:endParaRPr>
          </a:p>
        </p:txBody>
      </p:sp>
      <p:pic>
        <p:nvPicPr>
          <p:cNvPr id="32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pic>
        <p:nvPicPr>
          <p:cNvPr id="33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061062"/>
            <a:ext cx="7714539" cy="3148934"/>
          </a:xfrm>
          <a:prstGeom prst="rect">
            <a:avLst/>
          </a:prstGeom>
        </p:spPr>
      </p:pic>
      <p:sp>
        <p:nvSpPr>
          <p:cNvPr id="407" name="object 407"/>
          <p:cNvSpPr/>
          <p:nvPr/>
        </p:nvSpPr>
        <p:spPr>
          <a:xfrm>
            <a:off x="613485" y="4911576"/>
            <a:ext cx="7916085" cy="163463"/>
          </a:xfrm>
          <a:custGeom>
            <a:avLst/>
            <a:gdLst/>
            <a:ahLst/>
            <a:cxnLst/>
            <a:rect l="l" t="t" r="r" b="b"/>
            <a:pathLst>
              <a:path w="3989652" h="82384">
                <a:moveTo>
                  <a:pt x="0" y="50801"/>
                </a:moveTo>
                <a:cubicBezTo>
                  <a:pt x="0" y="22861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1"/>
                  <a:pt x="3989653" y="50801"/>
                </a:cubicBezTo>
                <a:lnTo>
                  <a:pt x="3989653" y="82385"/>
                </a:lnTo>
                <a:lnTo>
                  <a:pt x="0" y="82385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331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6066765"/>
            <a:ext cx="201590" cy="201590"/>
          </a:xfrm>
          <a:prstGeom prst="rect">
            <a:avLst/>
          </a:prstGeom>
        </p:spPr>
      </p:pic>
      <p:pic>
        <p:nvPicPr>
          <p:cNvPr id="332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865175"/>
            <a:ext cx="403180" cy="403180"/>
          </a:xfrm>
          <a:prstGeom prst="rect">
            <a:avLst/>
          </a:prstGeom>
        </p:spPr>
      </p:pic>
      <p:pic>
        <p:nvPicPr>
          <p:cNvPr id="333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6066765"/>
            <a:ext cx="8327914" cy="201590"/>
          </a:xfrm>
          <a:prstGeom prst="rect">
            <a:avLst/>
          </a:prstGeom>
        </p:spPr>
      </p:pic>
      <p:pic>
        <p:nvPicPr>
          <p:cNvPr id="334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5011919"/>
            <a:ext cx="201590" cy="201590"/>
          </a:xfrm>
          <a:prstGeom prst="rect">
            <a:avLst/>
          </a:prstGeom>
        </p:spPr>
      </p:pic>
      <p:pic>
        <p:nvPicPr>
          <p:cNvPr id="335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4"/>
            <a:ext cx="201590" cy="6167166"/>
          </a:xfrm>
          <a:prstGeom prst="rect">
            <a:avLst/>
          </a:prstGeom>
        </p:spPr>
      </p:pic>
      <p:sp>
        <p:nvSpPr>
          <p:cNvPr id="408" name="object 408"/>
          <p:cNvSpPr/>
          <p:nvPr/>
        </p:nvSpPr>
        <p:spPr>
          <a:xfrm>
            <a:off x="613485" y="4999722"/>
            <a:ext cx="7916085" cy="1167838"/>
          </a:xfrm>
          <a:custGeom>
            <a:avLst/>
            <a:gdLst/>
            <a:ahLst/>
            <a:cxnLst/>
            <a:rect l="l" t="t" r="r" b="b"/>
            <a:pathLst>
              <a:path w="3989652" h="588582">
                <a:moveTo>
                  <a:pt x="0" y="537782"/>
                </a:moveTo>
                <a:cubicBezTo>
                  <a:pt x="0" y="565722"/>
                  <a:pt x="22861" y="588582"/>
                  <a:pt x="50801" y="588582"/>
                </a:cubicBezTo>
                <a:lnTo>
                  <a:pt x="3938853" y="588582"/>
                </a:lnTo>
                <a:cubicBezTo>
                  <a:pt x="3966793" y="588582"/>
                  <a:pt x="3989653" y="565722"/>
                  <a:pt x="3989653" y="537782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09" name="object 409"/>
          <p:cNvSpPr/>
          <p:nvPr/>
        </p:nvSpPr>
        <p:spPr>
          <a:xfrm>
            <a:off x="8516973" y="5074896"/>
            <a:ext cx="25199" cy="1042264"/>
          </a:xfrm>
          <a:custGeom>
            <a:avLst/>
            <a:gdLst/>
            <a:ahLst/>
            <a:cxnLst/>
            <a:rect l="l" t="t" r="r" b="b"/>
            <a:pathLst>
              <a:path w="12700" h="525294">
                <a:moveTo>
                  <a:pt x="6350" y="518945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10" name="object 410"/>
          <p:cNvSpPr/>
          <p:nvPr/>
        </p:nvSpPr>
        <p:spPr>
          <a:xfrm>
            <a:off x="8516973" y="5049697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11" name="object 411"/>
          <p:cNvSpPr/>
          <p:nvPr/>
        </p:nvSpPr>
        <p:spPr>
          <a:xfrm>
            <a:off x="8516973" y="5024498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12" name="object 412"/>
          <p:cNvSpPr/>
          <p:nvPr/>
        </p:nvSpPr>
        <p:spPr>
          <a:xfrm>
            <a:off x="8516973" y="499929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13" name="object 413"/>
          <p:cNvSpPr/>
          <p:nvPr/>
        </p:nvSpPr>
        <p:spPr>
          <a:xfrm>
            <a:off x="8516973" y="4961501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5087974"/>
            <a:ext cx="2117887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j ←n </a:t>
            </a:r>
            <a:r>
              <a:rPr sz="1943" b="1" spc="20" dirty="0">
                <a:latin typeface="Arial"/>
                <a:cs typeface="Arial"/>
              </a:rPr>
              <a:t>downto </a:t>
            </a:r>
            <a:r>
              <a:rPr sz="1943" spc="20" dirty="0">
                <a:latin typeface="Arial"/>
                <a:cs typeface="Arial"/>
              </a:rPr>
              <a:t>1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429391"/>
            <a:ext cx="2167581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b="1" spc="20" dirty="0">
                <a:latin typeface="Arial"/>
                <a:cs typeface="Arial"/>
              </a:rPr>
              <a:t>do </a:t>
            </a:r>
            <a:r>
              <a:rPr sz="1823" i="1" spc="20" dirty="0">
                <a:latin typeface="Arial"/>
                <a:cs typeface="Arial"/>
              </a:rPr>
              <a:t>B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]]] </a:t>
            </a:r>
            <a:r>
              <a:rPr sz="1823" i="1" spc="20" dirty="0">
                <a:latin typeface="Arial"/>
                <a:cs typeface="Arial"/>
              </a:rPr>
              <a:t>←A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2144237" y="5770811"/>
            <a:ext cx="2081980" cy="26225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704" i="1" spc="20" dirty="0">
                <a:latin typeface="Arial"/>
                <a:cs typeface="Arial"/>
              </a:rPr>
              <a:t>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A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j </a:t>
            </a:r>
            <a:r>
              <a:rPr sz="1704" spc="20" dirty="0">
                <a:latin typeface="Arial"/>
                <a:cs typeface="Arial"/>
              </a:rPr>
              <a:t>]] </a:t>
            </a:r>
            <a:r>
              <a:rPr sz="1704" i="1" spc="20" dirty="0">
                <a:latin typeface="Arial"/>
                <a:cs typeface="Arial"/>
              </a:rPr>
              <a:t>←C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A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j </a:t>
            </a:r>
            <a:r>
              <a:rPr sz="1704" spc="20" dirty="0">
                <a:latin typeface="Arial"/>
                <a:cs typeface="Arial"/>
              </a:rPr>
              <a:t>]] </a:t>
            </a:r>
            <a:r>
              <a:rPr sz="1704" i="1" spc="20" dirty="0">
                <a:latin typeface="Arial"/>
                <a:cs typeface="Arial"/>
              </a:rPr>
              <a:t>−</a:t>
            </a:r>
            <a:r>
              <a:rPr sz="1704" spc="20" dirty="0">
                <a:latin typeface="Arial"/>
                <a:cs typeface="Arial"/>
              </a:rPr>
              <a:t>1</a:t>
            </a:r>
            <a:endParaRPr sz="1587" dirty="0">
              <a:latin typeface="Arial"/>
              <a:cs typeface="Arial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2927213" y="6675428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4785773" y="6675428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8459187" y="6675427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17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9373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object 416"/>
          <p:cNvSpPr/>
          <p:nvPr/>
        </p:nvSpPr>
        <p:spPr>
          <a:xfrm>
            <a:off x="1" y="393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33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33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4</a:t>
            </a:r>
            <a:endParaRPr sz="2381">
              <a:latin typeface="Arial"/>
              <a:cs typeface="Arial"/>
            </a:endParaRPr>
          </a:p>
        </p:txBody>
      </p:sp>
      <p:pic>
        <p:nvPicPr>
          <p:cNvPr id="33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pic>
        <p:nvPicPr>
          <p:cNvPr id="34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158607"/>
            <a:ext cx="7714539" cy="3148934"/>
          </a:xfrm>
          <a:prstGeom prst="rect">
            <a:avLst/>
          </a:prstGeom>
        </p:spPr>
      </p:pic>
      <p:sp>
        <p:nvSpPr>
          <p:cNvPr id="419" name="object 419"/>
          <p:cNvSpPr/>
          <p:nvPr/>
        </p:nvSpPr>
        <p:spPr>
          <a:xfrm>
            <a:off x="613485" y="4765274"/>
            <a:ext cx="7916085" cy="163463"/>
          </a:xfrm>
          <a:custGeom>
            <a:avLst/>
            <a:gdLst/>
            <a:ahLst/>
            <a:cxnLst/>
            <a:rect l="l" t="t" r="r" b="b"/>
            <a:pathLst>
              <a:path w="3989652" h="82384">
                <a:moveTo>
                  <a:pt x="0" y="50800"/>
                </a:moveTo>
                <a:cubicBezTo>
                  <a:pt x="0" y="22860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0"/>
                  <a:pt x="3989653" y="50800"/>
                </a:cubicBezTo>
                <a:lnTo>
                  <a:pt x="3989653" y="82384"/>
                </a:lnTo>
                <a:lnTo>
                  <a:pt x="0" y="82384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341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5920435"/>
            <a:ext cx="201590" cy="201590"/>
          </a:xfrm>
          <a:prstGeom prst="rect">
            <a:avLst/>
          </a:prstGeom>
        </p:spPr>
      </p:pic>
      <p:pic>
        <p:nvPicPr>
          <p:cNvPr id="342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718845"/>
            <a:ext cx="403180" cy="403180"/>
          </a:xfrm>
          <a:prstGeom prst="rect">
            <a:avLst/>
          </a:prstGeom>
        </p:spPr>
      </p:pic>
      <p:pic>
        <p:nvPicPr>
          <p:cNvPr id="343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5920435"/>
            <a:ext cx="8327914" cy="201590"/>
          </a:xfrm>
          <a:prstGeom prst="rect">
            <a:avLst/>
          </a:prstGeom>
        </p:spPr>
      </p:pic>
      <p:pic>
        <p:nvPicPr>
          <p:cNvPr id="344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4865591"/>
            <a:ext cx="201590" cy="201590"/>
          </a:xfrm>
          <a:prstGeom prst="rect">
            <a:avLst/>
          </a:prstGeom>
        </p:spPr>
      </p:pic>
      <p:pic>
        <p:nvPicPr>
          <p:cNvPr id="345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3"/>
            <a:ext cx="201590" cy="6020837"/>
          </a:xfrm>
          <a:prstGeom prst="rect">
            <a:avLst/>
          </a:prstGeom>
        </p:spPr>
      </p:pic>
      <p:sp>
        <p:nvSpPr>
          <p:cNvPr id="420" name="object 420"/>
          <p:cNvSpPr/>
          <p:nvPr/>
        </p:nvSpPr>
        <p:spPr>
          <a:xfrm>
            <a:off x="613485" y="4853394"/>
            <a:ext cx="7916085" cy="1167838"/>
          </a:xfrm>
          <a:custGeom>
            <a:avLst/>
            <a:gdLst/>
            <a:ahLst/>
            <a:cxnLst/>
            <a:rect l="l" t="t" r="r" b="b"/>
            <a:pathLst>
              <a:path w="3989652" h="588582">
                <a:moveTo>
                  <a:pt x="0" y="537781"/>
                </a:moveTo>
                <a:cubicBezTo>
                  <a:pt x="0" y="565721"/>
                  <a:pt x="22861" y="588582"/>
                  <a:pt x="50801" y="588582"/>
                </a:cubicBezTo>
                <a:lnTo>
                  <a:pt x="3938853" y="588582"/>
                </a:lnTo>
                <a:cubicBezTo>
                  <a:pt x="3966793" y="588582"/>
                  <a:pt x="3989653" y="565721"/>
                  <a:pt x="3989653" y="537781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21" name="object 421"/>
          <p:cNvSpPr/>
          <p:nvPr/>
        </p:nvSpPr>
        <p:spPr>
          <a:xfrm>
            <a:off x="8516973" y="4928568"/>
            <a:ext cx="25199" cy="1042264"/>
          </a:xfrm>
          <a:custGeom>
            <a:avLst/>
            <a:gdLst/>
            <a:ahLst/>
            <a:cxnLst/>
            <a:rect l="l" t="t" r="r" b="b"/>
            <a:pathLst>
              <a:path w="12700" h="525294">
                <a:moveTo>
                  <a:pt x="6350" y="518944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22" name="object 422"/>
          <p:cNvSpPr/>
          <p:nvPr/>
        </p:nvSpPr>
        <p:spPr>
          <a:xfrm>
            <a:off x="8516973" y="490336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23" name="object 423"/>
          <p:cNvSpPr/>
          <p:nvPr/>
        </p:nvSpPr>
        <p:spPr>
          <a:xfrm>
            <a:off x="8516973" y="4878171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24" name="object 424"/>
          <p:cNvSpPr/>
          <p:nvPr/>
        </p:nvSpPr>
        <p:spPr>
          <a:xfrm>
            <a:off x="8516973" y="4852972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25" name="object 425"/>
          <p:cNvSpPr/>
          <p:nvPr/>
        </p:nvSpPr>
        <p:spPr>
          <a:xfrm>
            <a:off x="8516973" y="4815174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4941647"/>
            <a:ext cx="2117887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j ←n </a:t>
            </a:r>
            <a:r>
              <a:rPr sz="1943" b="1" spc="20" dirty="0">
                <a:latin typeface="Arial"/>
                <a:cs typeface="Arial"/>
              </a:rPr>
              <a:t>downto </a:t>
            </a:r>
            <a:r>
              <a:rPr sz="1943" spc="20" dirty="0">
                <a:latin typeface="Arial"/>
                <a:cs typeface="Arial"/>
              </a:rPr>
              <a:t>1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283063"/>
            <a:ext cx="2167581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b="1" spc="20" dirty="0">
                <a:latin typeface="Arial"/>
                <a:cs typeface="Arial"/>
              </a:rPr>
              <a:t>do </a:t>
            </a:r>
            <a:r>
              <a:rPr sz="1823" i="1" spc="20" dirty="0">
                <a:latin typeface="Arial"/>
                <a:cs typeface="Arial"/>
              </a:rPr>
              <a:t>B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]]] </a:t>
            </a:r>
            <a:r>
              <a:rPr sz="1823" i="1" spc="20" dirty="0">
                <a:latin typeface="Arial"/>
                <a:cs typeface="Arial"/>
              </a:rPr>
              <a:t>←A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2144237" y="5624482"/>
            <a:ext cx="2081980" cy="26225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704" i="1" spc="20" dirty="0">
                <a:latin typeface="Arial"/>
                <a:cs typeface="Arial"/>
              </a:rPr>
              <a:t>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A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j </a:t>
            </a:r>
            <a:r>
              <a:rPr sz="1704" spc="20" dirty="0">
                <a:latin typeface="Arial"/>
                <a:cs typeface="Arial"/>
              </a:rPr>
              <a:t>]] </a:t>
            </a:r>
            <a:r>
              <a:rPr sz="1704" i="1" spc="20" dirty="0">
                <a:latin typeface="Arial"/>
                <a:cs typeface="Arial"/>
              </a:rPr>
              <a:t>←C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A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j </a:t>
            </a:r>
            <a:r>
              <a:rPr sz="1704" spc="20" dirty="0">
                <a:latin typeface="Arial"/>
                <a:cs typeface="Arial"/>
              </a:rPr>
              <a:t>]] </a:t>
            </a:r>
            <a:r>
              <a:rPr sz="1704" i="1" spc="20" dirty="0">
                <a:latin typeface="Arial"/>
                <a:cs typeface="Arial"/>
              </a:rPr>
              <a:t>−</a:t>
            </a:r>
            <a:r>
              <a:rPr sz="1704" spc="20" dirty="0">
                <a:latin typeface="Arial"/>
                <a:cs typeface="Arial"/>
              </a:rPr>
              <a:t>1</a:t>
            </a:r>
            <a:endParaRPr sz="1587" dirty="0">
              <a:latin typeface="Arial"/>
              <a:cs typeface="Arial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2927213" y="6675428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4785773" y="6675428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8459187" y="6675427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17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79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34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5"/>
            <a:ext cx="4457952" cy="3874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18" spc="20" dirty="0">
                <a:solidFill>
                  <a:srgbClr val="FFFFFF"/>
                </a:solidFill>
                <a:latin typeface="Arial"/>
                <a:cs typeface="Arial"/>
              </a:rPr>
              <a:t>Counting sort example:  loop 4</a:t>
            </a:r>
            <a:endParaRPr sz="2381">
              <a:latin typeface="Arial"/>
              <a:cs typeface="Arial"/>
            </a:endParaRPr>
          </a:p>
        </p:txBody>
      </p:sp>
      <p:pic>
        <p:nvPicPr>
          <p:cNvPr id="34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pic>
        <p:nvPicPr>
          <p:cNvPr id="35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4" y="1158607"/>
            <a:ext cx="7714539" cy="3148934"/>
          </a:xfrm>
          <a:prstGeom prst="rect">
            <a:avLst/>
          </a:prstGeom>
        </p:spPr>
      </p:pic>
      <p:sp>
        <p:nvSpPr>
          <p:cNvPr id="431" name="object 431"/>
          <p:cNvSpPr/>
          <p:nvPr/>
        </p:nvSpPr>
        <p:spPr>
          <a:xfrm>
            <a:off x="613485" y="4765274"/>
            <a:ext cx="7916085" cy="163463"/>
          </a:xfrm>
          <a:custGeom>
            <a:avLst/>
            <a:gdLst/>
            <a:ahLst/>
            <a:cxnLst/>
            <a:rect l="l" t="t" r="r" b="b"/>
            <a:pathLst>
              <a:path w="3989652" h="82384">
                <a:moveTo>
                  <a:pt x="0" y="50800"/>
                </a:moveTo>
                <a:cubicBezTo>
                  <a:pt x="0" y="22860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0"/>
                  <a:pt x="3989653" y="50800"/>
                </a:cubicBezTo>
                <a:lnTo>
                  <a:pt x="3989653" y="82384"/>
                </a:lnTo>
                <a:lnTo>
                  <a:pt x="0" y="82384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351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5920435"/>
            <a:ext cx="201590" cy="201590"/>
          </a:xfrm>
          <a:prstGeom prst="rect">
            <a:avLst/>
          </a:prstGeom>
        </p:spPr>
      </p:pic>
      <p:pic>
        <p:nvPicPr>
          <p:cNvPr id="352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5718845"/>
            <a:ext cx="403180" cy="403180"/>
          </a:xfrm>
          <a:prstGeom prst="rect">
            <a:avLst/>
          </a:prstGeom>
        </p:spPr>
      </p:pic>
      <p:pic>
        <p:nvPicPr>
          <p:cNvPr id="353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5920435"/>
            <a:ext cx="8327914" cy="201590"/>
          </a:xfrm>
          <a:prstGeom prst="rect">
            <a:avLst/>
          </a:prstGeom>
        </p:spPr>
      </p:pic>
      <p:pic>
        <p:nvPicPr>
          <p:cNvPr id="354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4865591"/>
            <a:ext cx="201590" cy="201590"/>
          </a:xfrm>
          <a:prstGeom prst="rect">
            <a:avLst/>
          </a:prstGeom>
        </p:spPr>
      </p:pic>
      <p:pic>
        <p:nvPicPr>
          <p:cNvPr id="355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3"/>
            <a:ext cx="201590" cy="6020837"/>
          </a:xfrm>
          <a:prstGeom prst="rect">
            <a:avLst/>
          </a:prstGeom>
        </p:spPr>
      </p:pic>
      <p:sp>
        <p:nvSpPr>
          <p:cNvPr id="432" name="object 432"/>
          <p:cNvSpPr/>
          <p:nvPr/>
        </p:nvSpPr>
        <p:spPr>
          <a:xfrm>
            <a:off x="613485" y="4853394"/>
            <a:ext cx="7916085" cy="1167838"/>
          </a:xfrm>
          <a:custGeom>
            <a:avLst/>
            <a:gdLst/>
            <a:ahLst/>
            <a:cxnLst/>
            <a:rect l="l" t="t" r="r" b="b"/>
            <a:pathLst>
              <a:path w="3989652" h="588582">
                <a:moveTo>
                  <a:pt x="0" y="537781"/>
                </a:moveTo>
                <a:cubicBezTo>
                  <a:pt x="0" y="565721"/>
                  <a:pt x="22861" y="588582"/>
                  <a:pt x="50801" y="588582"/>
                </a:cubicBezTo>
                <a:lnTo>
                  <a:pt x="3938853" y="588582"/>
                </a:lnTo>
                <a:cubicBezTo>
                  <a:pt x="3966793" y="588582"/>
                  <a:pt x="3989653" y="565721"/>
                  <a:pt x="3989653" y="537781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33" name="object 433"/>
          <p:cNvSpPr/>
          <p:nvPr/>
        </p:nvSpPr>
        <p:spPr>
          <a:xfrm>
            <a:off x="8516973" y="4928568"/>
            <a:ext cx="25199" cy="1042264"/>
          </a:xfrm>
          <a:custGeom>
            <a:avLst/>
            <a:gdLst/>
            <a:ahLst/>
            <a:cxnLst/>
            <a:rect l="l" t="t" r="r" b="b"/>
            <a:pathLst>
              <a:path w="12700" h="525294">
                <a:moveTo>
                  <a:pt x="6350" y="518944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34" name="object 434"/>
          <p:cNvSpPr/>
          <p:nvPr/>
        </p:nvSpPr>
        <p:spPr>
          <a:xfrm>
            <a:off x="8516973" y="490336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35" name="object 435"/>
          <p:cNvSpPr/>
          <p:nvPr/>
        </p:nvSpPr>
        <p:spPr>
          <a:xfrm>
            <a:off x="8516973" y="4878171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36" name="object 436"/>
          <p:cNvSpPr/>
          <p:nvPr/>
        </p:nvSpPr>
        <p:spPr>
          <a:xfrm>
            <a:off x="8516973" y="4852972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37" name="object 437"/>
          <p:cNvSpPr/>
          <p:nvPr/>
        </p:nvSpPr>
        <p:spPr>
          <a:xfrm>
            <a:off x="8516973" y="4815174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" name="text 1"/>
          <p:cNvSpPr txBox="1"/>
          <p:nvPr/>
        </p:nvSpPr>
        <p:spPr>
          <a:xfrm>
            <a:off x="1126635" y="4941647"/>
            <a:ext cx="2117887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b="1" spc="20" dirty="0">
                <a:latin typeface="Arial"/>
                <a:cs typeface="Arial"/>
              </a:rPr>
              <a:t>for </a:t>
            </a:r>
            <a:r>
              <a:rPr sz="1943" i="1" spc="20" dirty="0">
                <a:latin typeface="Arial"/>
                <a:cs typeface="Arial"/>
              </a:rPr>
              <a:t>j ←n </a:t>
            </a:r>
            <a:r>
              <a:rPr sz="1943" b="1" spc="20" dirty="0">
                <a:latin typeface="Arial"/>
                <a:cs typeface="Arial"/>
              </a:rPr>
              <a:t>downto </a:t>
            </a:r>
            <a:r>
              <a:rPr sz="1943" spc="20" dirty="0">
                <a:latin typeface="Arial"/>
                <a:cs typeface="Arial"/>
              </a:rPr>
              <a:t>1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1756327" y="5283063"/>
            <a:ext cx="2167581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b="1" spc="20" dirty="0">
                <a:latin typeface="Arial"/>
                <a:cs typeface="Arial"/>
              </a:rPr>
              <a:t>do </a:t>
            </a:r>
            <a:r>
              <a:rPr sz="1823" i="1" spc="20" dirty="0">
                <a:latin typeface="Arial"/>
                <a:cs typeface="Arial"/>
              </a:rPr>
              <a:t>B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C 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]]] </a:t>
            </a:r>
            <a:r>
              <a:rPr sz="1823" i="1" spc="20" dirty="0">
                <a:latin typeface="Arial"/>
                <a:cs typeface="Arial"/>
              </a:rPr>
              <a:t>←A</a:t>
            </a:r>
            <a:r>
              <a:rPr sz="1823" spc="20" dirty="0">
                <a:latin typeface="Arial"/>
                <a:cs typeface="Arial"/>
              </a:rPr>
              <a:t>[</a:t>
            </a:r>
            <a:r>
              <a:rPr sz="1823" i="1" spc="20" dirty="0">
                <a:latin typeface="Arial"/>
                <a:cs typeface="Arial"/>
              </a:rPr>
              <a:t>j </a:t>
            </a:r>
            <a:r>
              <a:rPr sz="1823" spc="20" dirty="0">
                <a:latin typeface="Arial"/>
                <a:cs typeface="Arial"/>
              </a:rPr>
              <a:t>]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2144237" y="5624482"/>
            <a:ext cx="2081980" cy="26225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704" i="1" spc="20" dirty="0">
                <a:latin typeface="Arial"/>
                <a:cs typeface="Arial"/>
              </a:rPr>
              <a:t>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A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j </a:t>
            </a:r>
            <a:r>
              <a:rPr sz="1704" spc="20" dirty="0">
                <a:latin typeface="Arial"/>
                <a:cs typeface="Arial"/>
              </a:rPr>
              <a:t>]] </a:t>
            </a:r>
            <a:r>
              <a:rPr sz="1704" i="1" spc="20" dirty="0">
                <a:latin typeface="Arial"/>
                <a:cs typeface="Arial"/>
              </a:rPr>
              <a:t>←C 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A</a:t>
            </a:r>
            <a:r>
              <a:rPr sz="1704" spc="20" dirty="0">
                <a:latin typeface="Arial"/>
                <a:cs typeface="Arial"/>
              </a:rPr>
              <a:t>[</a:t>
            </a:r>
            <a:r>
              <a:rPr sz="1704" i="1" spc="20" dirty="0">
                <a:latin typeface="Arial"/>
                <a:cs typeface="Arial"/>
              </a:rPr>
              <a:t>j </a:t>
            </a:r>
            <a:r>
              <a:rPr sz="1704" spc="20" dirty="0">
                <a:latin typeface="Arial"/>
                <a:cs typeface="Arial"/>
              </a:rPr>
              <a:t>]] </a:t>
            </a:r>
            <a:r>
              <a:rPr sz="1704" i="1" spc="20" dirty="0">
                <a:latin typeface="Arial"/>
                <a:cs typeface="Arial"/>
              </a:rPr>
              <a:t>−</a:t>
            </a:r>
            <a:r>
              <a:rPr sz="1704" spc="20" dirty="0">
                <a:latin typeface="Arial"/>
                <a:cs typeface="Arial"/>
              </a:rPr>
              <a:t>1</a:t>
            </a:r>
            <a:endParaRPr sz="1587" dirty="0">
              <a:latin typeface="Arial"/>
              <a:cs typeface="Arial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2927213" y="6675428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4785773" y="6675428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8459187" y="6675427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17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4156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xmlns="" id="{A2079599-D907-4600-A352-6C57899F3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228601"/>
            <a:ext cx="2971800" cy="257818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xmlns="" id="{E97477B9-E233-4D71-A757-D39C8D58E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381000"/>
            <a:ext cx="4514850" cy="149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83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object 440"/>
          <p:cNvSpPr/>
          <p:nvPr/>
        </p:nvSpPr>
        <p:spPr>
          <a:xfrm>
            <a:off x="1" y="76963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35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35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6"/>
            <a:ext cx="1877758" cy="40581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637" spc="20" dirty="0">
                <a:solidFill>
                  <a:srgbClr val="FFFFFF"/>
                </a:solidFill>
                <a:latin typeface="Arial"/>
                <a:cs typeface="Arial"/>
              </a:rPr>
              <a:t>Sort stability</a:t>
            </a:r>
            <a:endParaRPr sz="2579">
              <a:latin typeface="Arial"/>
              <a:cs typeface="Arial"/>
            </a:endParaRPr>
          </a:p>
        </p:txBody>
      </p:sp>
      <p:pic>
        <p:nvPicPr>
          <p:cNvPr id="35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14285" y="1069957"/>
            <a:ext cx="6661119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Counting sort is stable, ie., it preserves the relative order of</a:t>
            </a:r>
            <a:endParaRPr sz="1786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714284" y="1411373"/>
            <a:ext cx="3380734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latin typeface="Arial"/>
                <a:cs typeface="Arial"/>
              </a:rPr>
              <a:t>“equal” elements in the input.</a:t>
            </a:r>
            <a:endParaRPr sz="1984">
              <a:latin typeface="Arial"/>
              <a:cs typeface="Arial"/>
            </a:endParaRPr>
          </a:p>
        </p:txBody>
      </p:sp>
      <p:sp>
        <p:nvSpPr>
          <p:cNvPr id="443" name="object 443"/>
          <p:cNvSpPr/>
          <p:nvPr/>
        </p:nvSpPr>
        <p:spPr>
          <a:xfrm>
            <a:off x="51011654" y="-45614025"/>
            <a:ext cx="7916089" cy="354370"/>
          </a:xfrm>
          <a:custGeom>
            <a:avLst/>
            <a:gdLst/>
            <a:ahLst/>
            <a:cxnLst/>
            <a:rect l="l" t="t" r="r" b="b"/>
            <a:pathLst>
              <a:path w="3989654" h="178600">
                <a:moveTo>
                  <a:pt x="0" y="50800"/>
                </a:moveTo>
                <a:cubicBezTo>
                  <a:pt x="0" y="22860"/>
                  <a:pt x="22862" y="0"/>
                  <a:pt x="50800" y="0"/>
                </a:cubicBezTo>
                <a:lnTo>
                  <a:pt x="3938854" y="0"/>
                </a:lnTo>
                <a:cubicBezTo>
                  <a:pt x="3966792" y="0"/>
                  <a:pt x="3989654" y="22860"/>
                  <a:pt x="3989654" y="50800"/>
                </a:cubicBezTo>
                <a:lnTo>
                  <a:pt x="3989654" y="178600"/>
                </a:lnTo>
                <a:lnTo>
                  <a:pt x="0" y="178600"/>
                </a:lnTo>
              </a:path>
            </a:pathLst>
          </a:custGeom>
          <a:solidFill>
            <a:srgbClr val="262686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7" name="text 1"/>
          <p:cNvSpPr txBox="1"/>
          <p:nvPr/>
        </p:nvSpPr>
        <p:spPr>
          <a:xfrm>
            <a:off x="51112449" y="-45538298"/>
            <a:ext cx="1074653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spc="20" dirty="0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endParaRPr sz="1786">
              <a:latin typeface="Arial"/>
              <a:cs typeface="Arial"/>
            </a:endParaRPr>
          </a:p>
        </p:txBody>
      </p:sp>
      <p:sp>
        <p:nvSpPr>
          <p:cNvPr id="444" name="object 444"/>
          <p:cNvSpPr/>
          <p:nvPr/>
        </p:nvSpPr>
        <p:spPr>
          <a:xfrm>
            <a:off x="51011654" y="-45196917"/>
            <a:ext cx="7916089" cy="1140881"/>
          </a:xfrm>
          <a:custGeom>
            <a:avLst/>
            <a:gdLst/>
            <a:ahLst/>
            <a:cxnLst/>
            <a:rect l="l" t="t" r="r" b="b"/>
            <a:pathLst>
              <a:path w="3989654" h="574996">
                <a:moveTo>
                  <a:pt x="0" y="524196"/>
                </a:moveTo>
                <a:cubicBezTo>
                  <a:pt x="0" y="552136"/>
                  <a:pt x="22862" y="574996"/>
                  <a:pt x="50800" y="574996"/>
                </a:cubicBezTo>
                <a:lnTo>
                  <a:pt x="3938854" y="574996"/>
                </a:lnTo>
                <a:cubicBezTo>
                  <a:pt x="3966792" y="574996"/>
                  <a:pt x="3989654" y="552136"/>
                  <a:pt x="3989654" y="524196"/>
                </a:cubicBezTo>
                <a:lnTo>
                  <a:pt x="3989654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45" name="object 445"/>
          <p:cNvSpPr/>
          <p:nvPr/>
        </p:nvSpPr>
        <p:spPr>
          <a:xfrm>
            <a:off x="58915144" y="-45463273"/>
            <a:ext cx="25199" cy="1356840"/>
          </a:xfrm>
          <a:custGeom>
            <a:avLst/>
            <a:gdLst/>
            <a:ahLst/>
            <a:cxnLst/>
            <a:rect l="l" t="t" r="r" b="b"/>
            <a:pathLst>
              <a:path w="12700" h="683838">
                <a:moveTo>
                  <a:pt x="6350" y="677488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46" name="object 446"/>
          <p:cNvSpPr/>
          <p:nvPr/>
        </p:nvSpPr>
        <p:spPr>
          <a:xfrm>
            <a:off x="58915144" y="-45488472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47" name="object 447"/>
          <p:cNvSpPr/>
          <p:nvPr/>
        </p:nvSpPr>
        <p:spPr>
          <a:xfrm>
            <a:off x="58915144" y="-45513671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48" name="object 448"/>
          <p:cNvSpPr/>
          <p:nvPr/>
        </p:nvSpPr>
        <p:spPr>
          <a:xfrm>
            <a:off x="58915144" y="-4553887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49" name="object 449"/>
          <p:cNvSpPr/>
          <p:nvPr/>
        </p:nvSpPr>
        <p:spPr>
          <a:xfrm>
            <a:off x="58915144" y="-45576668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8" name="text 1"/>
          <p:cNvSpPr txBox="1"/>
          <p:nvPr/>
        </p:nvSpPr>
        <p:spPr>
          <a:xfrm>
            <a:off x="51662262" y="-45161956"/>
            <a:ext cx="6941516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latin typeface="Arial"/>
                <a:cs typeface="Arial"/>
              </a:rPr>
              <a:t>Would it still be stable if we had used </a:t>
            </a:r>
            <a:r>
              <a:rPr sz="2002" b="1" spc="20" dirty="0">
                <a:solidFill>
                  <a:srgbClr val="0000FF"/>
                </a:solidFill>
                <a:latin typeface="Arial"/>
                <a:cs typeface="Arial"/>
              </a:rPr>
              <a:t>for 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j ←−</a:t>
            </a:r>
            <a:r>
              <a:rPr sz="2002" spc="20" dirty="0">
                <a:solidFill>
                  <a:srgbClr val="0000FF"/>
                </a:solidFill>
                <a:latin typeface="Arial"/>
                <a:cs typeface="Arial"/>
              </a:rPr>
              <a:t>1 </a:t>
            </a:r>
            <a:r>
              <a:rPr sz="2002" b="1" spc="20" dirty="0">
                <a:solidFill>
                  <a:srgbClr val="0000FF"/>
                </a:solidFill>
                <a:latin typeface="Arial"/>
                <a:cs typeface="Arial"/>
              </a:rPr>
              <a:t>to 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n </a:t>
            </a:r>
            <a:r>
              <a:rPr sz="2002" spc="20" dirty="0">
                <a:latin typeface="Arial"/>
                <a:cs typeface="Arial"/>
              </a:rPr>
              <a:t>instead</a:t>
            </a:r>
            <a:endParaRPr sz="1984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51662262" y="-44820534"/>
            <a:ext cx="2690160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of </a:t>
            </a:r>
            <a:r>
              <a:rPr sz="1943" b="1" spc="20" dirty="0">
                <a:solidFill>
                  <a:srgbClr val="0000FF"/>
                </a:solidFill>
                <a:latin typeface="Arial"/>
                <a:cs typeface="Arial"/>
              </a:rPr>
              <a:t>for </a:t>
            </a:r>
            <a:r>
              <a:rPr sz="1943" i="1" spc="20" dirty="0">
                <a:solidFill>
                  <a:srgbClr val="0000FF"/>
                </a:solidFill>
                <a:latin typeface="Arial"/>
                <a:cs typeface="Arial"/>
              </a:rPr>
              <a:t>j ←−n </a:t>
            </a:r>
            <a:r>
              <a:rPr sz="1943" b="1" spc="20" dirty="0">
                <a:solidFill>
                  <a:srgbClr val="0000FF"/>
                </a:solidFill>
                <a:latin typeface="Arial"/>
                <a:cs typeface="Arial"/>
              </a:rPr>
              <a:t>downto </a:t>
            </a:r>
            <a:r>
              <a:rPr sz="1943" spc="2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943" spc="20" dirty="0">
                <a:latin typeface="Arial"/>
                <a:cs typeface="Arial"/>
              </a:rPr>
              <a:t>?</a:t>
            </a:r>
            <a:endParaRPr sz="1786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51662262" y="-44388405"/>
            <a:ext cx="6942926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What other sort algorithms that you’ve seen so far are stable?</a:t>
            </a:r>
            <a:endParaRPr sz="1786">
              <a:latin typeface="Arial"/>
              <a:cs typeface="Arial"/>
            </a:endParaRPr>
          </a:p>
        </p:txBody>
      </p:sp>
      <p:sp>
        <p:nvSpPr>
          <p:cNvPr id="11" name="text 1"/>
          <p:cNvSpPr txBox="1"/>
          <p:nvPr/>
        </p:nvSpPr>
        <p:spPr>
          <a:xfrm>
            <a:off x="2927213" y="6675441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12" name="text 1"/>
          <p:cNvSpPr txBox="1"/>
          <p:nvPr/>
        </p:nvSpPr>
        <p:spPr>
          <a:xfrm>
            <a:off x="4785773" y="6675441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3" name="text 1"/>
          <p:cNvSpPr txBox="1"/>
          <p:nvPr/>
        </p:nvSpPr>
        <p:spPr>
          <a:xfrm>
            <a:off x="8459187" y="6675441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18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904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1314271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sorting algorithm is stable if elements with the same value appear in the same order in the sorted list as they do in the original list.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730" y="3200400"/>
            <a:ext cx="56578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4855" y="381000"/>
            <a:ext cx="853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Stable Sort</a:t>
            </a:r>
          </a:p>
        </p:txBody>
      </p:sp>
    </p:spTree>
    <p:extLst>
      <p:ext uri="{BB962C8B-B14F-4D97-AF65-F5344CB8AC3E}">
        <p14:creationId xmlns:p14="http://schemas.microsoft.com/office/powerpoint/2010/main" val="1564095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36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6"/>
            <a:ext cx="1877758" cy="40581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637" spc="20" dirty="0">
                <a:solidFill>
                  <a:srgbClr val="FFFFFF"/>
                </a:solidFill>
                <a:latin typeface="Arial"/>
                <a:cs typeface="Arial"/>
              </a:rPr>
              <a:t>Sort stability</a:t>
            </a:r>
            <a:endParaRPr sz="2579">
              <a:latin typeface="Arial"/>
              <a:cs typeface="Arial"/>
            </a:endParaRPr>
          </a:p>
        </p:txBody>
      </p:sp>
      <p:pic>
        <p:nvPicPr>
          <p:cNvPr id="363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14285" y="1069957"/>
            <a:ext cx="6661119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Counting sort is stable, ie., it preserves the relative order of</a:t>
            </a:r>
            <a:endParaRPr sz="1786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714284" y="1411373"/>
            <a:ext cx="3380734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latin typeface="Arial"/>
                <a:cs typeface="Arial"/>
              </a:rPr>
              <a:t>“equal” elements in the input.</a:t>
            </a:r>
            <a:endParaRPr sz="1984">
              <a:latin typeface="Arial"/>
              <a:cs typeface="Arial"/>
            </a:endParaRPr>
          </a:p>
        </p:txBody>
      </p:sp>
      <p:pic>
        <p:nvPicPr>
          <p:cNvPr id="364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044" y="1680698"/>
            <a:ext cx="5442932" cy="2902897"/>
          </a:xfrm>
          <a:prstGeom prst="rect">
            <a:avLst/>
          </a:prstGeom>
        </p:spPr>
      </p:pic>
      <p:sp>
        <p:nvSpPr>
          <p:cNvPr id="455" name="object 455"/>
          <p:cNvSpPr/>
          <p:nvPr/>
        </p:nvSpPr>
        <p:spPr>
          <a:xfrm>
            <a:off x="51011654" y="-45614025"/>
            <a:ext cx="7916089" cy="354370"/>
          </a:xfrm>
          <a:custGeom>
            <a:avLst/>
            <a:gdLst/>
            <a:ahLst/>
            <a:cxnLst/>
            <a:rect l="l" t="t" r="r" b="b"/>
            <a:pathLst>
              <a:path w="3989654" h="178600">
                <a:moveTo>
                  <a:pt x="0" y="50800"/>
                </a:moveTo>
                <a:cubicBezTo>
                  <a:pt x="0" y="22860"/>
                  <a:pt x="22862" y="0"/>
                  <a:pt x="50800" y="0"/>
                </a:cubicBezTo>
                <a:lnTo>
                  <a:pt x="3938854" y="0"/>
                </a:lnTo>
                <a:cubicBezTo>
                  <a:pt x="3966792" y="0"/>
                  <a:pt x="3989654" y="22860"/>
                  <a:pt x="3989654" y="50800"/>
                </a:cubicBezTo>
                <a:lnTo>
                  <a:pt x="3989654" y="178600"/>
                </a:lnTo>
                <a:lnTo>
                  <a:pt x="0" y="178600"/>
                </a:lnTo>
              </a:path>
            </a:pathLst>
          </a:custGeom>
          <a:solidFill>
            <a:srgbClr val="262686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7" name="text 1"/>
          <p:cNvSpPr txBox="1"/>
          <p:nvPr/>
        </p:nvSpPr>
        <p:spPr>
          <a:xfrm>
            <a:off x="51112449" y="-45538298"/>
            <a:ext cx="1074653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spc="20" dirty="0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endParaRPr sz="1786">
              <a:latin typeface="Arial"/>
              <a:cs typeface="Arial"/>
            </a:endParaRPr>
          </a:p>
        </p:txBody>
      </p:sp>
      <p:sp>
        <p:nvSpPr>
          <p:cNvPr id="456" name="object 456"/>
          <p:cNvSpPr/>
          <p:nvPr/>
        </p:nvSpPr>
        <p:spPr>
          <a:xfrm>
            <a:off x="51011654" y="-45196917"/>
            <a:ext cx="7916089" cy="1140881"/>
          </a:xfrm>
          <a:custGeom>
            <a:avLst/>
            <a:gdLst/>
            <a:ahLst/>
            <a:cxnLst/>
            <a:rect l="l" t="t" r="r" b="b"/>
            <a:pathLst>
              <a:path w="3989654" h="574996">
                <a:moveTo>
                  <a:pt x="0" y="524196"/>
                </a:moveTo>
                <a:cubicBezTo>
                  <a:pt x="0" y="552136"/>
                  <a:pt x="22862" y="574996"/>
                  <a:pt x="50800" y="574996"/>
                </a:cubicBezTo>
                <a:lnTo>
                  <a:pt x="3938854" y="574996"/>
                </a:lnTo>
                <a:cubicBezTo>
                  <a:pt x="3966792" y="574996"/>
                  <a:pt x="3989654" y="552136"/>
                  <a:pt x="3989654" y="524196"/>
                </a:cubicBezTo>
                <a:lnTo>
                  <a:pt x="3989654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57" name="object 457"/>
          <p:cNvSpPr/>
          <p:nvPr/>
        </p:nvSpPr>
        <p:spPr>
          <a:xfrm>
            <a:off x="58915144" y="-45463273"/>
            <a:ext cx="25199" cy="1356840"/>
          </a:xfrm>
          <a:custGeom>
            <a:avLst/>
            <a:gdLst/>
            <a:ahLst/>
            <a:cxnLst/>
            <a:rect l="l" t="t" r="r" b="b"/>
            <a:pathLst>
              <a:path w="12700" h="683838">
                <a:moveTo>
                  <a:pt x="6350" y="677488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58" name="object 458"/>
          <p:cNvSpPr/>
          <p:nvPr/>
        </p:nvSpPr>
        <p:spPr>
          <a:xfrm>
            <a:off x="58915144" y="-45488472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59" name="object 459"/>
          <p:cNvSpPr/>
          <p:nvPr/>
        </p:nvSpPr>
        <p:spPr>
          <a:xfrm>
            <a:off x="58915144" y="-45513671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60" name="object 460"/>
          <p:cNvSpPr/>
          <p:nvPr/>
        </p:nvSpPr>
        <p:spPr>
          <a:xfrm>
            <a:off x="58915144" y="-4553887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61" name="object 461"/>
          <p:cNvSpPr/>
          <p:nvPr/>
        </p:nvSpPr>
        <p:spPr>
          <a:xfrm>
            <a:off x="58915144" y="-45576668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8" name="text 1"/>
          <p:cNvSpPr txBox="1"/>
          <p:nvPr/>
        </p:nvSpPr>
        <p:spPr>
          <a:xfrm>
            <a:off x="51662262" y="-45161956"/>
            <a:ext cx="6941516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latin typeface="Arial"/>
                <a:cs typeface="Arial"/>
              </a:rPr>
              <a:t>Would it still be stable if we had used </a:t>
            </a:r>
            <a:r>
              <a:rPr sz="2002" b="1" spc="20" dirty="0">
                <a:solidFill>
                  <a:srgbClr val="0000FF"/>
                </a:solidFill>
                <a:latin typeface="Arial"/>
                <a:cs typeface="Arial"/>
              </a:rPr>
              <a:t>for 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j ←−</a:t>
            </a:r>
            <a:r>
              <a:rPr sz="2002" spc="20" dirty="0">
                <a:solidFill>
                  <a:srgbClr val="0000FF"/>
                </a:solidFill>
                <a:latin typeface="Arial"/>
                <a:cs typeface="Arial"/>
              </a:rPr>
              <a:t>1 </a:t>
            </a:r>
            <a:r>
              <a:rPr sz="2002" b="1" spc="20" dirty="0">
                <a:solidFill>
                  <a:srgbClr val="0000FF"/>
                </a:solidFill>
                <a:latin typeface="Arial"/>
                <a:cs typeface="Arial"/>
              </a:rPr>
              <a:t>to 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n </a:t>
            </a:r>
            <a:r>
              <a:rPr sz="2002" spc="20" dirty="0">
                <a:latin typeface="Arial"/>
                <a:cs typeface="Arial"/>
              </a:rPr>
              <a:t>instead</a:t>
            </a:r>
            <a:endParaRPr sz="1984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51662262" y="-44820534"/>
            <a:ext cx="2690160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of </a:t>
            </a:r>
            <a:r>
              <a:rPr sz="1943" b="1" spc="20" dirty="0">
                <a:solidFill>
                  <a:srgbClr val="0000FF"/>
                </a:solidFill>
                <a:latin typeface="Arial"/>
                <a:cs typeface="Arial"/>
              </a:rPr>
              <a:t>for </a:t>
            </a:r>
            <a:r>
              <a:rPr sz="1943" i="1" spc="20" dirty="0">
                <a:solidFill>
                  <a:srgbClr val="0000FF"/>
                </a:solidFill>
                <a:latin typeface="Arial"/>
                <a:cs typeface="Arial"/>
              </a:rPr>
              <a:t>j ←−n </a:t>
            </a:r>
            <a:r>
              <a:rPr sz="1943" b="1" spc="20" dirty="0">
                <a:solidFill>
                  <a:srgbClr val="0000FF"/>
                </a:solidFill>
                <a:latin typeface="Arial"/>
                <a:cs typeface="Arial"/>
              </a:rPr>
              <a:t>downto </a:t>
            </a:r>
            <a:r>
              <a:rPr sz="1943" spc="2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943" spc="20" dirty="0">
                <a:latin typeface="Arial"/>
                <a:cs typeface="Arial"/>
              </a:rPr>
              <a:t>?</a:t>
            </a:r>
            <a:endParaRPr sz="1786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51662262" y="-44388405"/>
            <a:ext cx="6942926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What other sort algorithms that you’ve seen so far are stable?</a:t>
            </a:r>
            <a:endParaRPr sz="1786">
              <a:latin typeface="Arial"/>
              <a:cs typeface="Arial"/>
            </a:endParaRPr>
          </a:p>
        </p:txBody>
      </p:sp>
      <p:sp>
        <p:nvSpPr>
          <p:cNvPr id="11" name="text 1"/>
          <p:cNvSpPr txBox="1"/>
          <p:nvPr/>
        </p:nvSpPr>
        <p:spPr>
          <a:xfrm>
            <a:off x="2927213" y="6675441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 dirty="0">
              <a:latin typeface="Arial"/>
              <a:cs typeface="Arial"/>
            </a:endParaRPr>
          </a:p>
        </p:txBody>
      </p:sp>
      <p:sp>
        <p:nvSpPr>
          <p:cNvPr id="12" name="text 1"/>
          <p:cNvSpPr txBox="1"/>
          <p:nvPr/>
        </p:nvSpPr>
        <p:spPr>
          <a:xfrm>
            <a:off x="4785773" y="6675441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3" name="text 1"/>
          <p:cNvSpPr txBox="1"/>
          <p:nvPr/>
        </p:nvSpPr>
        <p:spPr>
          <a:xfrm>
            <a:off x="8459187" y="6675441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18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072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367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6"/>
            <a:ext cx="1877758" cy="40581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637" spc="20" dirty="0">
                <a:solidFill>
                  <a:srgbClr val="FFFFFF"/>
                </a:solidFill>
                <a:latin typeface="Arial"/>
                <a:cs typeface="Arial"/>
              </a:rPr>
              <a:t>Sort stability</a:t>
            </a:r>
            <a:endParaRPr sz="2579">
              <a:latin typeface="Arial"/>
              <a:cs typeface="Arial"/>
            </a:endParaRPr>
          </a:p>
        </p:txBody>
      </p:sp>
      <p:pic>
        <p:nvPicPr>
          <p:cNvPr id="368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14285" y="1069957"/>
            <a:ext cx="6661119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Counting sort is stable, ie., it preserves the relative order of</a:t>
            </a:r>
            <a:endParaRPr sz="1786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714284" y="1411373"/>
            <a:ext cx="3380734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latin typeface="Arial"/>
                <a:cs typeface="Arial"/>
              </a:rPr>
              <a:t>“equal” elements in the input.</a:t>
            </a:r>
            <a:endParaRPr sz="1984">
              <a:latin typeface="Arial"/>
              <a:cs typeface="Arial"/>
            </a:endParaRPr>
          </a:p>
        </p:txBody>
      </p:sp>
      <p:pic>
        <p:nvPicPr>
          <p:cNvPr id="369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044" y="1680698"/>
            <a:ext cx="5442932" cy="2902897"/>
          </a:xfrm>
          <a:prstGeom prst="rect">
            <a:avLst/>
          </a:prstGeom>
        </p:spPr>
      </p:pic>
      <p:sp>
        <p:nvSpPr>
          <p:cNvPr id="467" name="object 467"/>
          <p:cNvSpPr/>
          <p:nvPr/>
        </p:nvSpPr>
        <p:spPr>
          <a:xfrm>
            <a:off x="613492" y="4784528"/>
            <a:ext cx="7916087" cy="354368"/>
          </a:xfrm>
          <a:custGeom>
            <a:avLst/>
            <a:gdLst/>
            <a:ahLst/>
            <a:cxnLst/>
            <a:rect l="l" t="t" r="r" b="b"/>
            <a:pathLst>
              <a:path w="3989653" h="178599">
                <a:moveTo>
                  <a:pt x="0" y="50801"/>
                </a:moveTo>
                <a:cubicBezTo>
                  <a:pt x="0" y="22861"/>
                  <a:pt x="22861" y="0"/>
                  <a:pt x="50801" y="0"/>
                </a:cubicBezTo>
                <a:lnTo>
                  <a:pt x="3938852" y="0"/>
                </a:lnTo>
                <a:cubicBezTo>
                  <a:pt x="3966793" y="0"/>
                  <a:pt x="3989653" y="22861"/>
                  <a:pt x="3989653" y="50801"/>
                </a:cubicBezTo>
                <a:lnTo>
                  <a:pt x="3989653" y="178599"/>
                </a:lnTo>
                <a:lnTo>
                  <a:pt x="0" y="178599"/>
                </a:lnTo>
              </a:path>
            </a:pathLst>
          </a:custGeom>
          <a:solidFill>
            <a:srgbClr val="262686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7" name="text 1"/>
          <p:cNvSpPr txBox="1"/>
          <p:nvPr/>
        </p:nvSpPr>
        <p:spPr>
          <a:xfrm>
            <a:off x="714289" y="4860252"/>
            <a:ext cx="1074653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spc="20" dirty="0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endParaRPr sz="1786">
              <a:latin typeface="Arial"/>
              <a:cs typeface="Arial"/>
            </a:endParaRPr>
          </a:p>
        </p:txBody>
      </p:sp>
      <p:pic>
        <p:nvPicPr>
          <p:cNvPr id="370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93" y="5113800"/>
            <a:ext cx="8529498" cy="100416"/>
          </a:xfrm>
          <a:prstGeom prst="rect">
            <a:avLst/>
          </a:prstGeom>
        </p:spPr>
      </p:pic>
      <p:pic>
        <p:nvPicPr>
          <p:cNvPr id="371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8" y="6241721"/>
            <a:ext cx="201590" cy="201590"/>
          </a:xfrm>
          <a:prstGeom prst="rect">
            <a:avLst/>
          </a:prstGeom>
        </p:spPr>
      </p:pic>
      <p:pic>
        <p:nvPicPr>
          <p:cNvPr id="372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6" y="6040131"/>
            <a:ext cx="403180" cy="403180"/>
          </a:xfrm>
          <a:prstGeom prst="rect">
            <a:avLst/>
          </a:prstGeom>
        </p:spPr>
      </p:pic>
      <p:pic>
        <p:nvPicPr>
          <p:cNvPr id="373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83" y="6241721"/>
            <a:ext cx="8327908" cy="201590"/>
          </a:xfrm>
          <a:prstGeom prst="rect">
            <a:avLst/>
          </a:prstGeom>
        </p:spPr>
      </p:pic>
      <p:pic>
        <p:nvPicPr>
          <p:cNvPr id="374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6" y="4872296"/>
            <a:ext cx="201590" cy="201590"/>
          </a:xfrm>
          <a:prstGeom prst="rect">
            <a:avLst/>
          </a:prstGeom>
        </p:spPr>
      </p:pic>
      <p:pic>
        <p:nvPicPr>
          <p:cNvPr id="375" name="Image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6" y="393"/>
            <a:ext cx="201590" cy="6342123"/>
          </a:xfrm>
          <a:prstGeom prst="rect">
            <a:avLst/>
          </a:prstGeom>
        </p:spPr>
      </p:pic>
      <p:sp>
        <p:nvSpPr>
          <p:cNvPr id="468" name="object 468"/>
          <p:cNvSpPr/>
          <p:nvPr/>
        </p:nvSpPr>
        <p:spPr>
          <a:xfrm>
            <a:off x="613492" y="5201634"/>
            <a:ext cx="7916087" cy="1140883"/>
          </a:xfrm>
          <a:custGeom>
            <a:avLst/>
            <a:gdLst/>
            <a:ahLst/>
            <a:cxnLst/>
            <a:rect l="l" t="t" r="r" b="b"/>
            <a:pathLst>
              <a:path w="3989653" h="574997">
                <a:moveTo>
                  <a:pt x="0" y="524197"/>
                </a:moveTo>
                <a:cubicBezTo>
                  <a:pt x="0" y="552137"/>
                  <a:pt x="22861" y="574998"/>
                  <a:pt x="50801" y="574998"/>
                </a:cubicBezTo>
                <a:lnTo>
                  <a:pt x="3938852" y="574998"/>
                </a:lnTo>
                <a:cubicBezTo>
                  <a:pt x="3966793" y="574998"/>
                  <a:pt x="3989653" y="552137"/>
                  <a:pt x="3989653" y="524197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69" name="object 469"/>
          <p:cNvSpPr/>
          <p:nvPr/>
        </p:nvSpPr>
        <p:spPr>
          <a:xfrm>
            <a:off x="8516979" y="4935275"/>
            <a:ext cx="25199" cy="1356844"/>
          </a:xfrm>
          <a:custGeom>
            <a:avLst/>
            <a:gdLst/>
            <a:ahLst/>
            <a:cxnLst/>
            <a:rect l="l" t="t" r="r" b="b"/>
            <a:pathLst>
              <a:path w="12700" h="683840">
                <a:moveTo>
                  <a:pt x="6350" y="67749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70" name="object 470"/>
          <p:cNvSpPr/>
          <p:nvPr/>
        </p:nvSpPr>
        <p:spPr>
          <a:xfrm>
            <a:off x="8516979" y="4910076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71" name="object 471"/>
          <p:cNvSpPr/>
          <p:nvPr/>
        </p:nvSpPr>
        <p:spPr>
          <a:xfrm>
            <a:off x="8516979" y="4884877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72" name="object 472"/>
          <p:cNvSpPr/>
          <p:nvPr/>
        </p:nvSpPr>
        <p:spPr>
          <a:xfrm>
            <a:off x="8516979" y="4859678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73" name="object 473"/>
          <p:cNvSpPr/>
          <p:nvPr/>
        </p:nvSpPr>
        <p:spPr>
          <a:xfrm>
            <a:off x="8516979" y="4821880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376" name="Imag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44" y="5308235"/>
            <a:ext cx="129496" cy="129496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264099" y="5236598"/>
            <a:ext cx="6941516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latin typeface="Arial"/>
                <a:cs typeface="Arial"/>
              </a:rPr>
              <a:t>Would it still be stable if we had used </a:t>
            </a:r>
            <a:r>
              <a:rPr sz="2002" b="1" spc="20" dirty="0">
                <a:solidFill>
                  <a:srgbClr val="0000FF"/>
                </a:solidFill>
                <a:latin typeface="Arial"/>
                <a:cs typeface="Arial"/>
              </a:rPr>
              <a:t>for 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j ←</a:t>
            </a:r>
            <a:r>
              <a:rPr sz="2002" spc="20" dirty="0">
                <a:solidFill>
                  <a:srgbClr val="0000FF"/>
                </a:solidFill>
                <a:latin typeface="Arial"/>
                <a:cs typeface="Arial"/>
              </a:rPr>
              <a:t>1 </a:t>
            </a:r>
            <a:r>
              <a:rPr sz="2002" b="1" spc="20" dirty="0">
                <a:solidFill>
                  <a:srgbClr val="0000FF"/>
                </a:solidFill>
                <a:latin typeface="Arial"/>
                <a:cs typeface="Arial"/>
              </a:rPr>
              <a:t>to 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n </a:t>
            </a:r>
            <a:r>
              <a:rPr sz="2002" spc="20" dirty="0">
                <a:latin typeface="Arial"/>
                <a:cs typeface="Arial"/>
              </a:rPr>
              <a:t>instead</a:t>
            </a:r>
            <a:endParaRPr sz="1984" dirty="0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1264099" y="5578017"/>
            <a:ext cx="2541721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of </a:t>
            </a:r>
            <a:r>
              <a:rPr sz="1943" b="1" spc="20" dirty="0">
                <a:solidFill>
                  <a:srgbClr val="0000FF"/>
                </a:solidFill>
                <a:latin typeface="Arial"/>
                <a:cs typeface="Arial"/>
              </a:rPr>
              <a:t>for </a:t>
            </a:r>
            <a:r>
              <a:rPr sz="1943" i="1" spc="20" dirty="0">
                <a:solidFill>
                  <a:srgbClr val="0000FF"/>
                </a:solidFill>
                <a:latin typeface="Arial"/>
                <a:cs typeface="Arial"/>
              </a:rPr>
              <a:t>j ←n </a:t>
            </a:r>
            <a:r>
              <a:rPr sz="1943" b="1" spc="20" dirty="0">
                <a:solidFill>
                  <a:srgbClr val="0000FF"/>
                </a:solidFill>
                <a:latin typeface="Arial"/>
                <a:cs typeface="Arial"/>
              </a:rPr>
              <a:t>downto </a:t>
            </a:r>
            <a:r>
              <a:rPr sz="1943" spc="2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943" spc="20" dirty="0">
                <a:latin typeface="Arial"/>
                <a:cs typeface="Arial"/>
              </a:rPr>
              <a:t>?</a:t>
            </a:r>
            <a:endParaRPr sz="1786" dirty="0">
              <a:latin typeface="Arial"/>
              <a:cs typeface="Arial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51662262" y="-44388413"/>
            <a:ext cx="6942926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What other sort algorithms that you’ve seen so far are stable?</a:t>
            </a:r>
            <a:endParaRPr sz="1786">
              <a:latin typeface="Arial"/>
              <a:cs typeface="Arial"/>
            </a:endParaRPr>
          </a:p>
        </p:txBody>
      </p:sp>
      <p:sp>
        <p:nvSpPr>
          <p:cNvPr id="11" name="text 1"/>
          <p:cNvSpPr txBox="1"/>
          <p:nvPr/>
        </p:nvSpPr>
        <p:spPr>
          <a:xfrm>
            <a:off x="2927213" y="6675434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 dirty="0">
              <a:latin typeface="Arial"/>
              <a:cs typeface="Arial"/>
            </a:endParaRPr>
          </a:p>
        </p:txBody>
      </p:sp>
      <p:sp>
        <p:nvSpPr>
          <p:cNvPr id="12" name="text 1"/>
          <p:cNvSpPr txBox="1"/>
          <p:nvPr/>
        </p:nvSpPr>
        <p:spPr>
          <a:xfrm>
            <a:off x="4785773" y="6675434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3" name="text 1"/>
          <p:cNvSpPr txBox="1"/>
          <p:nvPr/>
        </p:nvSpPr>
        <p:spPr>
          <a:xfrm>
            <a:off x="8459187" y="6675433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18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3635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object 476"/>
          <p:cNvSpPr/>
          <p:nvPr/>
        </p:nvSpPr>
        <p:spPr>
          <a:xfrm>
            <a:off x="1" y="393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378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37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1" y="376326"/>
            <a:ext cx="1877758" cy="40581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637" spc="20" dirty="0">
                <a:solidFill>
                  <a:srgbClr val="FFFFFF"/>
                </a:solidFill>
                <a:latin typeface="Arial"/>
                <a:cs typeface="Arial"/>
              </a:rPr>
              <a:t>Sort stability</a:t>
            </a:r>
            <a:endParaRPr sz="2579">
              <a:latin typeface="Arial"/>
              <a:cs typeface="Arial"/>
            </a:endParaRPr>
          </a:p>
        </p:txBody>
      </p:sp>
      <p:pic>
        <p:nvPicPr>
          <p:cNvPr id="380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14285" y="1069957"/>
            <a:ext cx="6661119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Counting sort is stable, ie., it preserves the relative order of</a:t>
            </a:r>
            <a:endParaRPr sz="1786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714284" y="1411373"/>
            <a:ext cx="3380734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latin typeface="Arial"/>
                <a:cs typeface="Arial"/>
              </a:rPr>
              <a:t>“equal” elements in the input.</a:t>
            </a:r>
            <a:endParaRPr sz="1984">
              <a:latin typeface="Arial"/>
              <a:cs typeface="Arial"/>
            </a:endParaRPr>
          </a:p>
        </p:txBody>
      </p:sp>
      <p:pic>
        <p:nvPicPr>
          <p:cNvPr id="381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044" y="1680698"/>
            <a:ext cx="5442932" cy="2902897"/>
          </a:xfrm>
          <a:prstGeom prst="rect">
            <a:avLst/>
          </a:prstGeom>
        </p:spPr>
      </p:pic>
      <p:sp>
        <p:nvSpPr>
          <p:cNvPr id="479" name="object 479"/>
          <p:cNvSpPr/>
          <p:nvPr/>
        </p:nvSpPr>
        <p:spPr>
          <a:xfrm>
            <a:off x="613492" y="4784528"/>
            <a:ext cx="7916087" cy="354368"/>
          </a:xfrm>
          <a:custGeom>
            <a:avLst/>
            <a:gdLst/>
            <a:ahLst/>
            <a:cxnLst/>
            <a:rect l="l" t="t" r="r" b="b"/>
            <a:pathLst>
              <a:path w="3989653" h="178599">
                <a:moveTo>
                  <a:pt x="0" y="50801"/>
                </a:moveTo>
                <a:cubicBezTo>
                  <a:pt x="0" y="22861"/>
                  <a:pt x="22861" y="0"/>
                  <a:pt x="50801" y="0"/>
                </a:cubicBezTo>
                <a:lnTo>
                  <a:pt x="3938852" y="0"/>
                </a:lnTo>
                <a:cubicBezTo>
                  <a:pt x="3966793" y="0"/>
                  <a:pt x="3989653" y="22861"/>
                  <a:pt x="3989653" y="50801"/>
                </a:cubicBezTo>
                <a:lnTo>
                  <a:pt x="3989653" y="178599"/>
                </a:lnTo>
                <a:lnTo>
                  <a:pt x="0" y="178599"/>
                </a:lnTo>
              </a:path>
            </a:pathLst>
          </a:custGeom>
          <a:solidFill>
            <a:srgbClr val="262686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7" name="text 1"/>
          <p:cNvSpPr txBox="1"/>
          <p:nvPr/>
        </p:nvSpPr>
        <p:spPr>
          <a:xfrm>
            <a:off x="714289" y="4860252"/>
            <a:ext cx="1074653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spc="20" dirty="0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endParaRPr sz="1786">
              <a:latin typeface="Arial"/>
              <a:cs typeface="Arial"/>
            </a:endParaRPr>
          </a:p>
        </p:txBody>
      </p:sp>
      <p:pic>
        <p:nvPicPr>
          <p:cNvPr id="382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93" y="5113800"/>
            <a:ext cx="8529498" cy="100416"/>
          </a:xfrm>
          <a:prstGeom prst="rect">
            <a:avLst/>
          </a:prstGeom>
        </p:spPr>
      </p:pic>
      <p:pic>
        <p:nvPicPr>
          <p:cNvPr id="383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8" y="6241721"/>
            <a:ext cx="201590" cy="201590"/>
          </a:xfrm>
          <a:prstGeom prst="rect">
            <a:avLst/>
          </a:prstGeom>
        </p:spPr>
      </p:pic>
      <p:pic>
        <p:nvPicPr>
          <p:cNvPr id="384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6" y="6040131"/>
            <a:ext cx="403180" cy="403180"/>
          </a:xfrm>
          <a:prstGeom prst="rect">
            <a:avLst/>
          </a:prstGeom>
        </p:spPr>
      </p:pic>
      <p:pic>
        <p:nvPicPr>
          <p:cNvPr id="385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83" y="6241721"/>
            <a:ext cx="8327908" cy="201590"/>
          </a:xfrm>
          <a:prstGeom prst="rect">
            <a:avLst/>
          </a:prstGeom>
        </p:spPr>
      </p:pic>
      <p:pic>
        <p:nvPicPr>
          <p:cNvPr id="386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6" y="4872296"/>
            <a:ext cx="201590" cy="201590"/>
          </a:xfrm>
          <a:prstGeom prst="rect">
            <a:avLst/>
          </a:prstGeom>
        </p:spPr>
      </p:pic>
      <p:pic>
        <p:nvPicPr>
          <p:cNvPr id="387" name="Image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6" y="393"/>
            <a:ext cx="201590" cy="6342123"/>
          </a:xfrm>
          <a:prstGeom prst="rect">
            <a:avLst/>
          </a:prstGeom>
        </p:spPr>
      </p:pic>
      <p:sp>
        <p:nvSpPr>
          <p:cNvPr id="480" name="object 480"/>
          <p:cNvSpPr/>
          <p:nvPr/>
        </p:nvSpPr>
        <p:spPr>
          <a:xfrm>
            <a:off x="613492" y="5201634"/>
            <a:ext cx="7916087" cy="1140883"/>
          </a:xfrm>
          <a:custGeom>
            <a:avLst/>
            <a:gdLst/>
            <a:ahLst/>
            <a:cxnLst/>
            <a:rect l="l" t="t" r="r" b="b"/>
            <a:pathLst>
              <a:path w="3989653" h="574997">
                <a:moveTo>
                  <a:pt x="0" y="524197"/>
                </a:moveTo>
                <a:cubicBezTo>
                  <a:pt x="0" y="552137"/>
                  <a:pt x="22861" y="574998"/>
                  <a:pt x="50801" y="574998"/>
                </a:cubicBezTo>
                <a:lnTo>
                  <a:pt x="3938852" y="574998"/>
                </a:lnTo>
                <a:cubicBezTo>
                  <a:pt x="3966793" y="574998"/>
                  <a:pt x="3989653" y="552137"/>
                  <a:pt x="3989653" y="524197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81" name="object 481"/>
          <p:cNvSpPr/>
          <p:nvPr/>
        </p:nvSpPr>
        <p:spPr>
          <a:xfrm>
            <a:off x="8516979" y="4935275"/>
            <a:ext cx="25199" cy="1356844"/>
          </a:xfrm>
          <a:custGeom>
            <a:avLst/>
            <a:gdLst/>
            <a:ahLst/>
            <a:cxnLst/>
            <a:rect l="l" t="t" r="r" b="b"/>
            <a:pathLst>
              <a:path w="12700" h="683840">
                <a:moveTo>
                  <a:pt x="6350" y="67749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82" name="object 482"/>
          <p:cNvSpPr/>
          <p:nvPr/>
        </p:nvSpPr>
        <p:spPr>
          <a:xfrm>
            <a:off x="8516979" y="4910076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83" name="object 483"/>
          <p:cNvSpPr/>
          <p:nvPr/>
        </p:nvSpPr>
        <p:spPr>
          <a:xfrm>
            <a:off x="8516979" y="4884877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84" name="object 484"/>
          <p:cNvSpPr/>
          <p:nvPr/>
        </p:nvSpPr>
        <p:spPr>
          <a:xfrm>
            <a:off x="8516979" y="4859678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485" name="object 485"/>
          <p:cNvSpPr/>
          <p:nvPr/>
        </p:nvSpPr>
        <p:spPr>
          <a:xfrm>
            <a:off x="8516979" y="4821880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388" name="Imag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44" y="5308235"/>
            <a:ext cx="129496" cy="129496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264099" y="5236598"/>
            <a:ext cx="6941516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latin typeface="Arial"/>
                <a:cs typeface="Arial"/>
              </a:rPr>
              <a:t>Would it still be stable if we had used </a:t>
            </a:r>
            <a:r>
              <a:rPr sz="2002" b="1" spc="20" dirty="0">
                <a:solidFill>
                  <a:srgbClr val="0000FF"/>
                </a:solidFill>
                <a:latin typeface="Arial"/>
                <a:cs typeface="Arial"/>
              </a:rPr>
              <a:t>for 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j ←</a:t>
            </a:r>
            <a:r>
              <a:rPr sz="2002" spc="20" dirty="0">
                <a:solidFill>
                  <a:srgbClr val="0000FF"/>
                </a:solidFill>
                <a:latin typeface="Arial"/>
                <a:cs typeface="Arial"/>
              </a:rPr>
              <a:t>1 </a:t>
            </a:r>
            <a:r>
              <a:rPr sz="2002" b="1" spc="20" dirty="0">
                <a:solidFill>
                  <a:srgbClr val="0000FF"/>
                </a:solidFill>
                <a:latin typeface="Arial"/>
                <a:cs typeface="Arial"/>
              </a:rPr>
              <a:t>to 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n </a:t>
            </a:r>
            <a:r>
              <a:rPr sz="2002" spc="20" dirty="0">
                <a:latin typeface="Arial"/>
                <a:cs typeface="Arial"/>
              </a:rPr>
              <a:t>instead</a:t>
            </a:r>
            <a:endParaRPr sz="1984" dirty="0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1264099" y="5578017"/>
            <a:ext cx="2541721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of </a:t>
            </a:r>
            <a:r>
              <a:rPr sz="1943" b="1" spc="20" dirty="0">
                <a:solidFill>
                  <a:srgbClr val="0000FF"/>
                </a:solidFill>
                <a:latin typeface="Arial"/>
                <a:cs typeface="Arial"/>
              </a:rPr>
              <a:t>for </a:t>
            </a:r>
            <a:r>
              <a:rPr sz="1943" i="1" spc="20" dirty="0">
                <a:solidFill>
                  <a:srgbClr val="0000FF"/>
                </a:solidFill>
                <a:latin typeface="Arial"/>
                <a:cs typeface="Arial"/>
              </a:rPr>
              <a:t>j ←n </a:t>
            </a:r>
            <a:r>
              <a:rPr sz="1943" b="1" spc="20" dirty="0">
                <a:solidFill>
                  <a:srgbClr val="0000FF"/>
                </a:solidFill>
                <a:latin typeface="Arial"/>
                <a:cs typeface="Arial"/>
              </a:rPr>
              <a:t>downto </a:t>
            </a:r>
            <a:r>
              <a:rPr sz="1943" spc="2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943" spc="20" dirty="0">
                <a:latin typeface="Arial"/>
                <a:cs typeface="Arial"/>
              </a:rPr>
              <a:t>?</a:t>
            </a:r>
            <a:endParaRPr sz="1786" dirty="0">
              <a:latin typeface="Arial"/>
              <a:cs typeface="Arial"/>
            </a:endParaRPr>
          </a:p>
        </p:txBody>
      </p:sp>
      <p:pic>
        <p:nvPicPr>
          <p:cNvPr id="389" name="Imag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42" y="6066416"/>
            <a:ext cx="129496" cy="129496"/>
          </a:xfrm>
          <a:prstGeom prst="rect">
            <a:avLst/>
          </a:prstGeom>
        </p:spPr>
      </p:pic>
      <p:sp>
        <p:nvSpPr>
          <p:cNvPr id="10" name="text 1"/>
          <p:cNvSpPr txBox="1"/>
          <p:nvPr/>
        </p:nvSpPr>
        <p:spPr>
          <a:xfrm>
            <a:off x="1264097" y="6010150"/>
            <a:ext cx="6942926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What other sort algorithms that you’ve seen so far are stable?</a:t>
            </a:r>
            <a:endParaRPr sz="1786">
              <a:latin typeface="Arial"/>
              <a:cs typeface="Arial"/>
            </a:endParaRPr>
          </a:p>
        </p:txBody>
      </p:sp>
      <p:sp>
        <p:nvSpPr>
          <p:cNvPr id="11" name="text 1"/>
          <p:cNvSpPr txBox="1"/>
          <p:nvPr/>
        </p:nvSpPr>
        <p:spPr>
          <a:xfrm>
            <a:off x="2927217" y="6675434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12" name="text 1"/>
          <p:cNvSpPr txBox="1"/>
          <p:nvPr/>
        </p:nvSpPr>
        <p:spPr>
          <a:xfrm>
            <a:off x="4785775" y="6675434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3" name="text 1"/>
          <p:cNvSpPr txBox="1"/>
          <p:nvPr/>
        </p:nvSpPr>
        <p:spPr>
          <a:xfrm>
            <a:off x="8459189" y="6675433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18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6872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95" y="228600"/>
            <a:ext cx="9131457" cy="516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 txBox="1"/>
          <p:nvPr/>
        </p:nvSpPr>
        <p:spPr>
          <a:xfrm>
            <a:off x="4195" y="239810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spc="-59" dirty="0">
                <a:solidFill>
                  <a:srgbClr val="FFFFFF"/>
                </a:solidFill>
                <a:latin typeface="Tahoma"/>
                <a:cs typeface="Tahoma"/>
              </a:rPr>
              <a:t>Counting </a:t>
            </a:r>
            <a:r>
              <a:rPr sz="2774" spc="-99" dirty="0">
                <a:solidFill>
                  <a:srgbClr val="FFFFFF"/>
                </a:solidFill>
                <a:latin typeface="Tahoma"/>
                <a:cs typeface="Tahoma"/>
              </a:rPr>
              <a:t>sort</a:t>
            </a:r>
            <a:r>
              <a:rPr sz="2774" spc="15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79" dirty="0">
                <a:solidFill>
                  <a:srgbClr val="FFFFFF"/>
                </a:solidFill>
                <a:latin typeface="Tahoma"/>
                <a:cs typeface="Tahoma"/>
              </a:rPr>
              <a:t>complexity</a:t>
            </a:r>
            <a:endParaRPr sz="2774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5" y="756419"/>
            <a:ext cx="9131457" cy="100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3021285" y="1144176"/>
            <a:ext cx="5401013" cy="42446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189">
              <a:latin typeface="Arial"/>
              <a:cs typeface="Arial"/>
            </a:endParaRPr>
          </a:p>
        </p:txBody>
      </p:sp>
      <p:sp>
        <p:nvSpPr>
          <p:cNvPr id="2" name="Left Brace 1"/>
          <p:cNvSpPr/>
          <p:nvPr/>
        </p:nvSpPr>
        <p:spPr>
          <a:xfrm>
            <a:off x="2133600" y="1219200"/>
            <a:ext cx="228600" cy="6858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221846" y="1295400"/>
            <a:ext cx="803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cs typeface="Arial" panose="020B0604020202020204" pitchFamily="34" charset="0"/>
              </a:rPr>
              <a:t>O(</a:t>
            </a:r>
            <a:r>
              <a:rPr lang="en-US" sz="2800" i="1" dirty="0">
                <a:cs typeface="Arial" panose="020B0604020202020204" pitchFamily="34" charset="0"/>
              </a:rPr>
              <a:t>k</a:t>
            </a:r>
            <a:r>
              <a:rPr lang="en-US" sz="2800" dirty="0"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Left Brace 8"/>
          <p:cNvSpPr/>
          <p:nvPr/>
        </p:nvSpPr>
        <p:spPr>
          <a:xfrm>
            <a:off x="2130954" y="2209800"/>
            <a:ext cx="228600" cy="6858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219200" y="2286000"/>
            <a:ext cx="829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cs typeface="Arial" panose="020B0604020202020204" pitchFamily="34" charset="0"/>
              </a:rPr>
              <a:t>O(</a:t>
            </a:r>
            <a:r>
              <a:rPr lang="en-US" sz="2800" i="1" dirty="0">
                <a:cs typeface="Arial" panose="020B0604020202020204" pitchFamily="34" charset="0"/>
              </a:rPr>
              <a:t>n</a:t>
            </a:r>
            <a:r>
              <a:rPr lang="en-US" sz="2800" dirty="0"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Left Brace 10"/>
          <p:cNvSpPr/>
          <p:nvPr/>
        </p:nvSpPr>
        <p:spPr>
          <a:xfrm>
            <a:off x="2139580" y="3141452"/>
            <a:ext cx="228600" cy="6858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27826" y="3217652"/>
            <a:ext cx="803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cs typeface="Arial" panose="020B0604020202020204" pitchFamily="34" charset="0"/>
              </a:rPr>
              <a:t>O(</a:t>
            </a:r>
            <a:r>
              <a:rPr lang="en-US" sz="2800" i="1" dirty="0">
                <a:cs typeface="Arial" panose="020B0604020202020204" pitchFamily="34" charset="0"/>
              </a:rPr>
              <a:t>k</a:t>
            </a:r>
            <a:r>
              <a:rPr lang="en-US" sz="2800" dirty="0">
                <a:cs typeface="Arial" panose="020B0604020202020204" pitchFamily="34" charset="0"/>
              </a:rPr>
              <a:t>)</a:t>
            </a:r>
          </a:p>
        </p:txBody>
      </p:sp>
      <p:sp>
        <p:nvSpPr>
          <p:cNvPr id="14" name="Left Brace 13"/>
          <p:cNvSpPr/>
          <p:nvPr/>
        </p:nvSpPr>
        <p:spPr>
          <a:xfrm>
            <a:off x="2207154" y="4191000"/>
            <a:ext cx="228600" cy="10668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295400" y="4429780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cs typeface="Arial" panose="020B0604020202020204" pitchFamily="34" charset="0"/>
              </a:rPr>
              <a:t>O(</a:t>
            </a:r>
            <a:r>
              <a:rPr lang="en-US" sz="2800" i="1" dirty="0">
                <a:cs typeface="Arial" panose="020B0604020202020204" pitchFamily="34" charset="0"/>
              </a:rPr>
              <a:t>n</a:t>
            </a:r>
            <a:r>
              <a:rPr lang="en-US" sz="2800" dirty="0"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219200" y="5638800"/>
            <a:ext cx="1802085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71600" y="5801380"/>
            <a:ext cx="1330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cs typeface="Arial" panose="020B0604020202020204" pitchFamily="34" charset="0"/>
              </a:rPr>
              <a:t>O(</a:t>
            </a:r>
            <a:r>
              <a:rPr lang="en-US" sz="2800" i="1" dirty="0">
                <a:cs typeface="Arial" panose="020B0604020202020204" pitchFamily="34" charset="0"/>
              </a:rPr>
              <a:t>n + k</a:t>
            </a:r>
            <a:r>
              <a:rPr lang="en-US" sz="2800" dirty="0"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73996928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9" grpId="0" animBg="1"/>
      <p:bldP spid="10" grpId="0"/>
      <p:bldP spid="11" grpId="0" animBg="1"/>
      <p:bldP spid="12" grpId="0"/>
      <p:bldP spid="14" grpId="0" animBg="1"/>
      <p:bldP spid="15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object 518"/>
          <p:cNvSpPr/>
          <p:nvPr/>
        </p:nvSpPr>
        <p:spPr>
          <a:xfrm>
            <a:off x="1" y="393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421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42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2" y="376326"/>
            <a:ext cx="4452181" cy="396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77" spc="20" dirty="0">
                <a:solidFill>
                  <a:srgbClr val="FFFFFF"/>
                </a:solidFill>
                <a:latin typeface="Arial"/>
                <a:cs typeface="Arial"/>
              </a:rPr>
              <a:t>Running time of Counting sort</a:t>
            </a:r>
            <a:endParaRPr sz="2381">
              <a:latin typeface="Arial"/>
              <a:cs typeface="Arial"/>
            </a:endParaRPr>
          </a:p>
        </p:txBody>
      </p:sp>
      <p:pic>
        <p:nvPicPr>
          <p:cNvPr id="423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14285" y="1555359"/>
            <a:ext cx="6588663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solidFill>
                  <a:srgbClr val="0000FF"/>
                </a:solidFill>
                <a:latin typeface="Arial"/>
                <a:cs typeface="Arial"/>
              </a:rPr>
              <a:t>The worst-case running time of Counting sort is 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2" spc="2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n </a:t>
            </a:r>
            <a:r>
              <a:rPr sz="2002" spc="20" dirty="0">
                <a:solidFill>
                  <a:srgbClr val="0000FF"/>
                </a:solidFill>
                <a:latin typeface="Arial"/>
                <a:cs typeface="Arial"/>
              </a:rPr>
              <a:t>+ 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k</a:t>
            </a:r>
            <a:r>
              <a:rPr sz="2002" spc="20" dirty="0">
                <a:solidFill>
                  <a:srgbClr val="0000FF"/>
                </a:solidFill>
                <a:latin typeface="Arial"/>
                <a:cs typeface="Arial"/>
              </a:rPr>
              <a:t>).</a:t>
            </a:r>
            <a:endParaRPr sz="1984">
              <a:latin typeface="Arial"/>
              <a:cs typeface="Arial"/>
            </a:endParaRPr>
          </a:p>
        </p:txBody>
      </p:sp>
      <p:sp>
        <p:nvSpPr>
          <p:cNvPr id="521" name="object 521"/>
          <p:cNvSpPr/>
          <p:nvPr/>
        </p:nvSpPr>
        <p:spPr>
          <a:xfrm>
            <a:off x="51011650" y="-48382770"/>
            <a:ext cx="7916085" cy="354370"/>
          </a:xfrm>
          <a:custGeom>
            <a:avLst/>
            <a:gdLst/>
            <a:ahLst/>
            <a:cxnLst/>
            <a:rect l="l" t="t" r="r" b="b"/>
            <a:pathLst>
              <a:path w="3989652" h="178600">
                <a:moveTo>
                  <a:pt x="0" y="50800"/>
                </a:moveTo>
                <a:cubicBezTo>
                  <a:pt x="0" y="22860"/>
                  <a:pt x="22860" y="0"/>
                  <a:pt x="50800" y="0"/>
                </a:cubicBezTo>
                <a:lnTo>
                  <a:pt x="3938852" y="0"/>
                </a:lnTo>
                <a:cubicBezTo>
                  <a:pt x="3966792" y="0"/>
                  <a:pt x="3989652" y="22860"/>
                  <a:pt x="3989652" y="50800"/>
                </a:cubicBezTo>
                <a:lnTo>
                  <a:pt x="3989652" y="178600"/>
                </a:lnTo>
                <a:lnTo>
                  <a:pt x="0" y="178600"/>
                </a:lnTo>
              </a:path>
            </a:pathLst>
          </a:custGeom>
          <a:solidFill>
            <a:srgbClr val="262686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6" name="text 1"/>
          <p:cNvSpPr txBox="1"/>
          <p:nvPr/>
        </p:nvSpPr>
        <p:spPr>
          <a:xfrm>
            <a:off x="51112445" y="-48307043"/>
            <a:ext cx="1407758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spc="20" dirty="0">
                <a:solidFill>
                  <a:srgbClr val="FFFFFF"/>
                </a:solidFill>
                <a:latin typeface="Arial"/>
                <a:cs typeface="Arial"/>
              </a:rPr>
              <a:t>Observations</a:t>
            </a:r>
            <a:endParaRPr sz="1786">
              <a:latin typeface="Arial"/>
              <a:cs typeface="Arial"/>
            </a:endParaRPr>
          </a:p>
        </p:txBody>
      </p:sp>
      <p:sp>
        <p:nvSpPr>
          <p:cNvPr id="522" name="object 522"/>
          <p:cNvSpPr/>
          <p:nvPr/>
        </p:nvSpPr>
        <p:spPr>
          <a:xfrm>
            <a:off x="51011650" y="-47965653"/>
            <a:ext cx="7916085" cy="1231465"/>
          </a:xfrm>
          <a:custGeom>
            <a:avLst/>
            <a:gdLst/>
            <a:ahLst/>
            <a:cxnLst/>
            <a:rect l="l" t="t" r="r" b="b"/>
            <a:pathLst>
              <a:path w="3989652" h="620650">
                <a:moveTo>
                  <a:pt x="0" y="569850"/>
                </a:moveTo>
                <a:cubicBezTo>
                  <a:pt x="0" y="597788"/>
                  <a:pt x="22860" y="620650"/>
                  <a:pt x="50800" y="620650"/>
                </a:cubicBezTo>
                <a:lnTo>
                  <a:pt x="3938852" y="620650"/>
                </a:lnTo>
                <a:cubicBezTo>
                  <a:pt x="3966792" y="620650"/>
                  <a:pt x="3989652" y="597788"/>
                  <a:pt x="3989652" y="569850"/>
                </a:cubicBezTo>
                <a:lnTo>
                  <a:pt x="3989652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23" name="object 523"/>
          <p:cNvSpPr/>
          <p:nvPr/>
        </p:nvSpPr>
        <p:spPr>
          <a:xfrm>
            <a:off x="58915136" y="-48232014"/>
            <a:ext cx="25199" cy="1447429"/>
          </a:xfrm>
          <a:custGeom>
            <a:avLst/>
            <a:gdLst/>
            <a:ahLst/>
            <a:cxnLst/>
            <a:rect l="l" t="t" r="r" b="b"/>
            <a:pathLst>
              <a:path w="12700" h="729494">
                <a:moveTo>
                  <a:pt x="6350" y="723144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24" name="object 524"/>
          <p:cNvSpPr/>
          <p:nvPr/>
        </p:nvSpPr>
        <p:spPr>
          <a:xfrm>
            <a:off x="58915136" y="-48257213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25" name="object 525"/>
          <p:cNvSpPr/>
          <p:nvPr/>
        </p:nvSpPr>
        <p:spPr>
          <a:xfrm>
            <a:off x="58915136" y="-48282412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26" name="object 526"/>
          <p:cNvSpPr/>
          <p:nvPr/>
        </p:nvSpPr>
        <p:spPr>
          <a:xfrm>
            <a:off x="58915136" y="-48307611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27" name="object 527"/>
          <p:cNvSpPr/>
          <p:nvPr/>
        </p:nvSpPr>
        <p:spPr>
          <a:xfrm>
            <a:off x="58915136" y="-48345408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7" name="text 1"/>
          <p:cNvSpPr txBox="1"/>
          <p:nvPr/>
        </p:nvSpPr>
        <p:spPr>
          <a:xfrm>
            <a:off x="51662254" y="-47900029"/>
            <a:ext cx="6035948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latin typeface="Arial"/>
                <a:cs typeface="Arial"/>
              </a:rPr>
              <a:t>If </a:t>
            </a:r>
            <a:r>
              <a:rPr sz="2002" i="1" spc="20" dirty="0">
                <a:latin typeface="Arial"/>
                <a:cs typeface="Arial"/>
              </a:rPr>
              <a:t>k </a:t>
            </a:r>
            <a:r>
              <a:rPr sz="2002" spc="20" dirty="0">
                <a:latin typeface="Arial"/>
                <a:cs typeface="Arial"/>
              </a:rPr>
              <a:t>= </a:t>
            </a:r>
            <a:r>
              <a:rPr sz="2002" i="1" spc="20" dirty="0">
                <a:latin typeface="Arial"/>
                <a:cs typeface="Arial"/>
              </a:rPr>
              <a:t>O</a:t>
            </a:r>
            <a:r>
              <a:rPr sz="2002" spc="20" dirty="0">
                <a:latin typeface="Arial"/>
                <a:cs typeface="Arial"/>
              </a:rPr>
              <a:t>(</a:t>
            </a:r>
            <a:r>
              <a:rPr sz="2002" i="1" spc="20" dirty="0">
                <a:latin typeface="Arial"/>
                <a:cs typeface="Arial"/>
              </a:rPr>
              <a:t>n</a:t>
            </a:r>
            <a:r>
              <a:rPr sz="2002" spc="20" dirty="0">
                <a:latin typeface="Arial"/>
                <a:cs typeface="Arial"/>
              </a:rPr>
              <a:t>), then the worst case running time is Θ(</a:t>
            </a:r>
            <a:r>
              <a:rPr sz="2002" i="1" spc="20" dirty="0">
                <a:latin typeface="Arial"/>
                <a:cs typeface="Arial"/>
              </a:rPr>
              <a:t>n</a:t>
            </a:r>
            <a:r>
              <a:rPr sz="2002" spc="20" dirty="0">
                <a:latin typeface="Arial"/>
                <a:cs typeface="Arial"/>
              </a:rPr>
              <a:t>).</a:t>
            </a:r>
            <a:endParaRPr sz="1984">
              <a:latin typeface="Arial"/>
              <a:cs typeface="Arial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51662254" y="-47483297"/>
            <a:ext cx="6582571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latin typeface="Arial"/>
                <a:cs typeface="Arial"/>
              </a:rPr>
              <a:t>But didn’t we just prove that sorting takes Ω(</a:t>
            </a:r>
            <a:r>
              <a:rPr sz="2002" i="1" spc="20" dirty="0">
                <a:latin typeface="Arial"/>
                <a:cs typeface="Arial"/>
              </a:rPr>
              <a:t>n </a:t>
            </a:r>
            <a:r>
              <a:rPr sz="2002" spc="20" dirty="0">
                <a:latin typeface="Arial"/>
                <a:cs typeface="Arial"/>
              </a:rPr>
              <a:t>lg </a:t>
            </a:r>
            <a:r>
              <a:rPr sz="2002" i="1" spc="20" dirty="0">
                <a:latin typeface="Arial"/>
                <a:cs typeface="Arial"/>
              </a:rPr>
              <a:t>n</a:t>
            </a:r>
            <a:r>
              <a:rPr sz="2002" spc="20" dirty="0">
                <a:latin typeface="Arial"/>
                <a:cs typeface="Arial"/>
              </a:rPr>
              <a:t>) time?</a:t>
            </a:r>
            <a:endParaRPr sz="1984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51662254" y="-47066557"/>
            <a:ext cx="3944221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solidFill>
                  <a:srgbClr val="FF0000"/>
                </a:solidFill>
                <a:latin typeface="Arial"/>
                <a:cs typeface="Arial"/>
              </a:rPr>
              <a:t>So what’s wrong with this picture?</a:t>
            </a:r>
            <a:endParaRPr sz="1984">
              <a:latin typeface="Arial"/>
              <a:cs typeface="Arial"/>
            </a:endParaRPr>
          </a:p>
        </p:txBody>
      </p:sp>
      <p:sp>
        <p:nvSpPr>
          <p:cNvPr id="528" name="object 528"/>
          <p:cNvSpPr/>
          <p:nvPr/>
        </p:nvSpPr>
        <p:spPr>
          <a:xfrm>
            <a:off x="51011650" y="-46432739"/>
            <a:ext cx="7916085" cy="354370"/>
          </a:xfrm>
          <a:custGeom>
            <a:avLst/>
            <a:gdLst/>
            <a:ahLst/>
            <a:cxnLst/>
            <a:rect l="l" t="t" r="r" b="b"/>
            <a:pathLst>
              <a:path w="3989652" h="178600">
                <a:moveTo>
                  <a:pt x="0" y="50800"/>
                </a:moveTo>
                <a:cubicBezTo>
                  <a:pt x="0" y="22860"/>
                  <a:pt x="22860" y="0"/>
                  <a:pt x="50800" y="0"/>
                </a:cubicBezTo>
                <a:lnTo>
                  <a:pt x="3938852" y="0"/>
                </a:lnTo>
                <a:cubicBezTo>
                  <a:pt x="3966792" y="0"/>
                  <a:pt x="3989652" y="22860"/>
                  <a:pt x="3989652" y="50800"/>
                </a:cubicBezTo>
                <a:lnTo>
                  <a:pt x="3989652" y="178600"/>
                </a:lnTo>
                <a:lnTo>
                  <a:pt x="0" y="178600"/>
                </a:lnTo>
              </a:path>
            </a:pathLst>
          </a:custGeom>
          <a:solidFill>
            <a:srgbClr val="262686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10" name="text 1"/>
          <p:cNvSpPr txBox="1"/>
          <p:nvPr/>
        </p:nvSpPr>
        <p:spPr>
          <a:xfrm>
            <a:off x="51112445" y="-46357012"/>
            <a:ext cx="2373407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solidFill>
                  <a:srgbClr val="FFFFFF"/>
                </a:solidFill>
                <a:latin typeface="Arial"/>
                <a:cs typeface="Arial"/>
              </a:rPr>
              <a:t>And the answer is ...</a:t>
            </a:r>
            <a:endParaRPr sz="1984">
              <a:latin typeface="Arial"/>
              <a:cs typeface="Arial"/>
            </a:endParaRPr>
          </a:p>
        </p:txBody>
      </p:sp>
      <p:sp>
        <p:nvSpPr>
          <p:cNvPr id="529" name="object 529"/>
          <p:cNvSpPr/>
          <p:nvPr/>
        </p:nvSpPr>
        <p:spPr>
          <a:xfrm>
            <a:off x="51011650" y="-46015622"/>
            <a:ext cx="7916085" cy="1231465"/>
          </a:xfrm>
          <a:custGeom>
            <a:avLst/>
            <a:gdLst/>
            <a:ahLst/>
            <a:cxnLst/>
            <a:rect l="l" t="t" r="r" b="b"/>
            <a:pathLst>
              <a:path w="3989652" h="620650">
                <a:moveTo>
                  <a:pt x="0" y="569850"/>
                </a:moveTo>
                <a:cubicBezTo>
                  <a:pt x="0" y="597790"/>
                  <a:pt x="22860" y="620650"/>
                  <a:pt x="50800" y="620650"/>
                </a:cubicBezTo>
                <a:lnTo>
                  <a:pt x="3938852" y="620650"/>
                </a:lnTo>
                <a:cubicBezTo>
                  <a:pt x="3966792" y="620650"/>
                  <a:pt x="3989652" y="597790"/>
                  <a:pt x="3989652" y="569850"/>
                </a:cubicBezTo>
                <a:lnTo>
                  <a:pt x="3989652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30" name="object 530"/>
          <p:cNvSpPr/>
          <p:nvPr/>
        </p:nvSpPr>
        <p:spPr>
          <a:xfrm>
            <a:off x="58915136" y="-46281983"/>
            <a:ext cx="25199" cy="1447429"/>
          </a:xfrm>
          <a:custGeom>
            <a:avLst/>
            <a:gdLst/>
            <a:ahLst/>
            <a:cxnLst/>
            <a:rect l="l" t="t" r="r" b="b"/>
            <a:pathLst>
              <a:path w="12700" h="729494">
                <a:moveTo>
                  <a:pt x="6350" y="723144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31" name="object 531"/>
          <p:cNvSpPr/>
          <p:nvPr/>
        </p:nvSpPr>
        <p:spPr>
          <a:xfrm>
            <a:off x="58915136" y="-46307182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32" name="object 532"/>
          <p:cNvSpPr/>
          <p:nvPr/>
        </p:nvSpPr>
        <p:spPr>
          <a:xfrm>
            <a:off x="58915136" y="-46332381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33" name="object 533"/>
          <p:cNvSpPr/>
          <p:nvPr/>
        </p:nvSpPr>
        <p:spPr>
          <a:xfrm>
            <a:off x="58915136" y="-4635758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34" name="object 534"/>
          <p:cNvSpPr/>
          <p:nvPr/>
        </p:nvSpPr>
        <p:spPr>
          <a:xfrm>
            <a:off x="58915136" y="-46395381"/>
            <a:ext cx="25199" cy="63001"/>
          </a:xfrm>
          <a:custGeom>
            <a:avLst/>
            <a:gdLst/>
            <a:ahLst/>
            <a:cxnLst/>
            <a:rect l="l" t="t" r="r" b="b"/>
            <a:pathLst>
              <a:path w="12700" h="31752">
                <a:moveTo>
                  <a:pt x="6350" y="25402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11" name="text 1"/>
          <p:cNvSpPr txBox="1"/>
          <p:nvPr/>
        </p:nvSpPr>
        <p:spPr>
          <a:xfrm>
            <a:off x="51662254" y="-45949998"/>
            <a:ext cx="4413068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The Ω(</a:t>
            </a:r>
            <a:r>
              <a:rPr sz="1943" i="1" spc="20" dirty="0">
                <a:latin typeface="Arial"/>
                <a:cs typeface="Arial"/>
              </a:rPr>
              <a:t>n </a:t>
            </a:r>
            <a:r>
              <a:rPr sz="1943" spc="20" dirty="0">
                <a:latin typeface="Arial"/>
                <a:cs typeface="Arial"/>
              </a:rPr>
              <a:t>lg </a:t>
            </a:r>
            <a:r>
              <a:rPr sz="1943" i="1" spc="20" dirty="0">
                <a:latin typeface="Arial"/>
                <a:cs typeface="Arial"/>
              </a:rPr>
              <a:t>n</a:t>
            </a:r>
            <a:r>
              <a:rPr sz="1943" spc="20" dirty="0">
                <a:latin typeface="Arial"/>
                <a:cs typeface="Arial"/>
              </a:rPr>
              <a:t>) is for </a:t>
            </a:r>
            <a:r>
              <a:rPr sz="1943" spc="20" dirty="0">
                <a:solidFill>
                  <a:srgbClr val="0000FF"/>
                </a:solidFill>
                <a:latin typeface="Arial"/>
                <a:cs typeface="Arial"/>
              </a:rPr>
              <a:t>comparison </a:t>
            </a:r>
            <a:r>
              <a:rPr sz="1943" spc="20" dirty="0">
                <a:latin typeface="Arial"/>
                <a:cs typeface="Arial"/>
              </a:rPr>
              <a:t>sorting.</a:t>
            </a:r>
            <a:endParaRPr sz="1786">
              <a:latin typeface="Arial"/>
              <a:cs typeface="Arial"/>
            </a:endParaRPr>
          </a:p>
        </p:txBody>
      </p:sp>
      <p:sp>
        <p:nvSpPr>
          <p:cNvPr id="12" name="text 1"/>
          <p:cNvSpPr txBox="1"/>
          <p:nvPr/>
        </p:nvSpPr>
        <p:spPr>
          <a:xfrm>
            <a:off x="51662254" y="-45533262"/>
            <a:ext cx="4399281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Counting sort is </a:t>
            </a:r>
            <a:r>
              <a:rPr sz="1943" b="1" spc="20" dirty="0">
                <a:latin typeface="Arial"/>
                <a:cs typeface="Arial"/>
              </a:rPr>
              <a:t>not </a:t>
            </a:r>
            <a:r>
              <a:rPr sz="1943" spc="20" dirty="0">
                <a:latin typeface="Arial"/>
                <a:cs typeface="Arial"/>
              </a:rPr>
              <a:t>a </a:t>
            </a:r>
            <a:r>
              <a:rPr sz="1943" spc="20" dirty="0">
                <a:solidFill>
                  <a:srgbClr val="0000FF"/>
                </a:solidFill>
                <a:latin typeface="Arial"/>
                <a:cs typeface="Arial"/>
              </a:rPr>
              <a:t>comparison </a:t>
            </a:r>
            <a:r>
              <a:rPr sz="1943" spc="20" dirty="0">
                <a:latin typeface="Arial"/>
                <a:cs typeface="Arial"/>
              </a:rPr>
              <a:t>sort.</a:t>
            </a:r>
            <a:endParaRPr sz="1786">
              <a:latin typeface="Arial"/>
              <a:cs typeface="Arial"/>
            </a:endParaRPr>
          </a:p>
        </p:txBody>
      </p:sp>
      <p:sp>
        <p:nvSpPr>
          <p:cNvPr id="13" name="text 1"/>
          <p:cNvSpPr txBox="1"/>
          <p:nvPr/>
        </p:nvSpPr>
        <p:spPr>
          <a:xfrm>
            <a:off x="51662254" y="-45116522"/>
            <a:ext cx="6222216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In fact, counting sort does not use a single </a:t>
            </a:r>
            <a:r>
              <a:rPr sz="1943" spc="20" dirty="0">
                <a:solidFill>
                  <a:srgbClr val="0000FF"/>
                </a:solidFill>
                <a:latin typeface="Arial"/>
                <a:cs typeface="Arial"/>
              </a:rPr>
              <a:t>comparison</a:t>
            </a:r>
            <a:r>
              <a:rPr sz="1943" spc="20" dirty="0">
                <a:latin typeface="Arial"/>
                <a:cs typeface="Arial"/>
              </a:rPr>
              <a:t>.</a:t>
            </a:r>
            <a:endParaRPr sz="1786">
              <a:latin typeface="Arial"/>
              <a:cs typeface="Arial"/>
            </a:endParaRPr>
          </a:p>
        </p:txBody>
      </p:sp>
      <p:sp>
        <p:nvSpPr>
          <p:cNvPr id="14" name="text 1"/>
          <p:cNvSpPr txBox="1"/>
          <p:nvPr/>
        </p:nvSpPr>
        <p:spPr>
          <a:xfrm>
            <a:off x="2927201" y="6675443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 dirty="0">
              <a:latin typeface="Arial"/>
              <a:cs typeface="Arial"/>
            </a:endParaRPr>
          </a:p>
        </p:txBody>
      </p:sp>
      <p:sp>
        <p:nvSpPr>
          <p:cNvPr id="15" name="text 1"/>
          <p:cNvSpPr txBox="1"/>
          <p:nvPr/>
        </p:nvSpPr>
        <p:spPr>
          <a:xfrm>
            <a:off x="4785761" y="6675443"/>
            <a:ext cx="1345561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SE 221:  Algorithms</a:t>
            </a:r>
            <a:endParaRPr sz="992" dirty="0">
              <a:latin typeface="Arial"/>
              <a:cs typeface="Arial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8459173" y="6675443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20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04370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object 537"/>
          <p:cNvSpPr/>
          <p:nvPr/>
        </p:nvSpPr>
        <p:spPr>
          <a:xfrm>
            <a:off x="-107165" y="55249"/>
            <a:ext cx="9142991" cy="6857237"/>
          </a:xfrm>
          <a:custGeom>
            <a:avLst/>
            <a:gdLst/>
            <a:ahLst/>
            <a:cxnLst/>
            <a:rect l="l" t="t" r="r" b="b"/>
            <a:pathLst>
              <a:path w="4608004" h="3456000">
                <a:moveTo>
                  <a:pt x="0" y="3456000"/>
                </a:moveTo>
                <a:lnTo>
                  <a:pt x="0" y="0"/>
                </a:lnTo>
                <a:lnTo>
                  <a:pt x="4608004" y="0"/>
                </a:lnTo>
                <a:lnTo>
                  <a:pt x="4608004" y="3456000"/>
                </a:lnTo>
                <a:lnTo>
                  <a:pt x="0" y="345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425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5628"/>
            <a:ext cx="9142991" cy="100416"/>
          </a:xfrm>
          <a:prstGeom prst="rect">
            <a:avLst/>
          </a:prstGeom>
        </p:spPr>
      </p:pic>
      <p:pic>
        <p:nvPicPr>
          <p:cNvPr id="426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813"/>
            <a:ext cx="9142991" cy="762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2272" y="376326"/>
            <a:ext cx="4452181" cy="396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577" spc="20" dirty="0">
                <a:solidFill>
                  <a:srgbClr val="FFFFFF"/>
                </a:solidFill>
                <a:latin typeface="Arial"/>
                <a:cs typeface="Arial"/>
              </a:rPr>
              <a:t>Running time of Counting sort</a:t>
            </a:r>
            <a:endParaRPr sz="2381">
              <a:latin typeface="Arial"/>
              <a:cs typeface="Arial"/>
            </a:endParaRPr>
          </a:p>
        </p:txBody>
      </p:sp>
      <p:pic>
        <p:nvPicPr>
          <p:cNvPr id="427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57768"/>
            <a:ext cx="9142991" cy="1004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14285" y="1555359"/>
            <a:ext cx="6588663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solidFill>
                  <a:srgbClr val="0000FF"/>
                </a:solidFill>
                <a:latin typeface="Arial"/>
                <a:cs typeface="Arial"/>
              </a:rPr>
              <a:t>The worst-case running time of Counting sort is 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2" spc="2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n </a:t>
            </a:r>
            <a:r>
              <a:rPr sz="2002" spc="20" dirty="0">
                <a:solidFill>
                  <a:srgbClr val="0000FF"/>
                </a:solidFill>
                <a:latin typeface="Arial"/>
                <a:cs typeface="Arial"/>
              </a:rPr>
              <a:t>+ </a:t>
            </a:r>
            <a:r>
              <a:rPr sz="2002" i="1" spc="20" dirty="0">
                <a:solidFill>
                  <a:srgbClr val="0000FF"/>
                </a:solidFill>
                <a:latin typeface="Arial"/>
                <a:cs typeface="Arial"/>
              </a:rPr>
              <a:t>k</a:t>
            </a:r>
            <a:r>
              <a:rPr sz="2002" spc="20" dirty="0">
                <a:solidFill>
                  <a:srgbClr val="0000FF"/>
                </a:solidFill>
                <a:latin typeface="Arial"/>
                <a:cs typeface="Arial"/>
              </a:rPr>
              <a:t>).</a:t>
            </a:r>
            <a:endParaRPr sz="1984">
              <a:latin typeface="Arial"/>
              <a:cs typeface="Arial"/>
            </a:endParaRPr>
          </a:p>
        </p:txBody>
      </p:sp>
      <p:sp>
        <p:nvSpPr>
          <p:cNvPr id="540" name="object 540"/>
          <p:cNvSpPr/>
          <p:nvPr/>
        </p:nvSpPr>
        <p:spPr>
          <a:xfrm>
            <a:off x="613485" y="2015788"/>
            <a:ext cx="7916085" cy="354366"/>
          </a:xfrm>
          <a:custGeom>
            <a:avLst/>
            <a:gdLst/>
            <a:ahLst/>
            <a:cxnLst/>
            <a:rect l="l" t="t" r="r" b="b"/>
            <a:pathLst>
              <a:path w="3989652" h="178598">
                <a:moveTo>
                  <a:pt x="0" y="50800"/>
                </a:moveTo>
                <a:cubicBezTo>
                  <a:pt x="0" y="22860"/>
                  <a:pt x="22861" y="0"/>
                  <a:pt x="50801" y="0"/>
                </a:cubicBezTo>
                <a:lnTo>
                  <a:pt x="3938853" y="0"/>
                </a:lnTo>
                <a:cubicBezTo>
                  <a:pt x="3966793" y="0"/>
                  <a:pt x="3989653" y="22860"/>
                  <a:pt x="3989653" y="50800"/>
                </a:cubicBezTo>
                <a:lnTo>
                  <a:pt x="3989653" y="178599"/>
                </a:lnTo>
                <a:lnTo>
                  <a:pt x="0" y="178599"/>
                </a:lnTo>
              </a:path>
            </a:pathLst>
          </a:custGeom>
          <a:solidFill>
            <a:srgbClr val="262686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6" name="text 1"/>
          <p:cNvSpPr txBox="1"/>
          <p:nvPr/>
        </p:nvSpPr>
        <p:spPr>
          <a:xfrm>
            <a:off x="714282" y="2091513"/>
            <a:ext cx="1407758" cy="2805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823" spc="20" dirty="0">
                <a:solidFill>
                  <a:srgbClr val="FFFFFF"/>
                </a:solidFill>
                <a:latin typeface="Arial"/>
                <a:cs typeface="Arial"/>
              </a:rPr>
              <a:t>Observations</a:t>
            </a:r>
            <a:endParaRPr sz="1786">
              <a:latin typeface="Arial"/>
              <a:cs typeface="Arial"/>
            </a:endParaRPr>
          </a:p>
        </p:txBody>
      </p:sp>
      <p:pic>
        <p:nvPicPr>
          <p:cNvPr id="428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88" y="2345061"/>
            <a:ext cx="8529504" cy="100416"/>
          </a:xfrm>
          <a:prstGeom prst="rect">
            <a:avLst/>
          </a:prstGeom>
        </p:spPr>
      </p:pic>
      <p:pic>
        <p:nvPicPr>
          <p:cNvPr id="429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" y="3563571"/>
            <a:ext cx="201590" cy="201590"/>
          </a:xfrm>
          <a:prstGeom prst="rect">
            <a:avLst/>
          </a:prstGeom>
        </p:spPr>
      </p:pic>
      <p:pic>
        <p:nvPicPr>
          <p:cNvPr id="430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092" y="3361981"/>
            <a:ext cx="403180" cy="403180"/>
          </a:xfrm>
          <a:prstGeom prst="rect">
            <a:avLst/>
          </a:prstGeom>
        </p:spPr>
      </p:pic>
      <p:pic>
        <p:nvPicPr>
          <p:cNvPr id="431" name="Imag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" y="3563571"/>
            <a:ext cx="8327914" cy="201590"/>
          </a:xfrm>
          <a:prstGeom prst="rect">
            <a:avLst/>
          </a:prstGeom>
        </p:spPr>
      </p:pic>
      <p:pic>
        <p:nvPicPr>
          <p:cNvPr id="432" name="Imag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2103581"/>
            <a:ext cx="201590" cy="201590"/>
          </a:xfrm>
          <a:prstGeom prst="rect">
            <a:avLst/>
          </a:prstGeom>
        </p:spPr>
      </p:pic>
      <p:pic>
        <p:nvPicPr>
          <p:cNvPr id="433" name="Imag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82" y="394"/>
            <a:ext cx="201590" cy="3663973"/>
          </a:xfrm>
          <a:prstGeom prst="rect">
            <a:avLst/>
          </a:prstGeom>
        </p:spPr>
      </p:pic>
      <p:sp>
        <p:nvSpPr>
          <p:cNvPr id="541" name="object 541"/>
          <p:cNvSpPr/>
          <p:nvPr/>
        </p:nvSpPr>
        <p:spPr>
          <a:xfrm>
            <a:off x="613485" y="2432899"/>
            <a:ext cx="7916085" cy="1231469"/>
          </a:xfrm>
          <a:custGeom>
            <a:avLst/>
            <a:gdLst/>
            <a:ahLst/>
            <a:cxnLst/>
            <a:rect l="l" t="t" r="r" b="b"/>
            <a:pathLst>
              <a:path w="3989652" h="620652">
                <a:moveTo>
                  <a:pt x="0" y="569851"/>
                </a:moveTo>
                <a:cubicBezTo>
                  <a:pt x="0" y="597791"/>
                  <a:pt x="22861" y="620652"/>
                  <a:pt x="50801" y="620652"/>
                </a:cubicBezTo>
                <a:lnTo>
                  <a:pt x="3938853" y="620652"/>
                </a:lnTo>
                <a:cubicBezTo>
                  <a:pt x="3966793" y="620652"/>
                  <a:pt x="3989653" y="597791"/>
                  <a:pt x="3989653" y="569851"/>
                </a:cubicBezTo>
                <a:lnTo>
                  <a:pt x="3989653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42" name="object 542"/>
          <p:cNvSpPr/>
          <p:nvPr/>
        </p:nvSpPr>
        <p:spPr>
          <a:xfrm>
            <a:off x="8516973" y="2166538"/>
            <a:ext cx="25199" cy="1447429"/>
          </a:xfrm>
          <a:custGeom>
            <a:avLst/>
            <a:gdLst/>
            <a:ahLst/>
            <a:cxnLst/>
            <a:rect l="l" t="t" r="r" b="b"/>
            <a:pathLst>
              <a:path w="12700" h="729494">
                <a:moveTo>
                  <a:pt x="6350" y="723145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43" name="object 543"/>
          <p:cNvSpPr/>
          <p:nvPr/>
        </p:nvSpPr>
        <p:spPr>
          <a:xfrm>
            <a:off x="8516973" y="2141339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44" name="object 544"/>
          <p:cNvSpPr/>
          <p:nvPr/>
        </p:nvSpPr>
        <p:spPr>
          <a:xfrm>
            <a:off x="8516973" y="211614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45" name="object 545"/>
          <p:cNvSpPr/>
          <p:nvPr/>
        </p:nvSpPr>
        <p:spPr>
          <a:xfrm>
            <a:off x="8516973" y="2090942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46" name="object 546"/>
          <p:cNvSpPr/>
          <p:nvPr/>
        </p:nvSpPr>
        <p:spPr>
          <a:xfrm>
            <a:off x="8516973" y="2053144"/>
            <a:ext cx="25199" cy="62997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6350" y="2540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pic>
        <p:nvPicPr>
          <p:cNvPr id="434" name="Image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40" y="2554790"/>
            <a:ext cx="129496" cy="129496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1264093" y="2498523"/>
            <a:ext cx="6035948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latin typeface="Arial"/>
                <a:cs typeface="Arial"/>
              </a:rPr>
              <a:t>If </a:t>
            </a:r>
            <a:r>
              <a:rPr sz="2002" i="1" spc="20" dirty="0">
                <a:latin typeface="Arial"/>
                <a:cs typeface="Arial"/>
              </a:rPr>
              <a:t>k </a:t>
            </a:r>
            <a:r>
              <a:rPr sz="2002" spc="20" dirty="0">
                <a:latin typeface="Arial"/>
                <a:cs typeface="Arial"/>
              </a:rPr>
              <a:t>= </a:t>
            </a:r>
            <a:r>
              <a:rPr sz="2002" i="1" spc="20" dirty="0">
                <a:latin typeface="Arial"/>
                <a:cs typeface="Arial"/>
              </a:rPr>
              <a:t>O</a:t>
            </a:r>
            <a:r>
              <a:rPr sz="2002" spc="20" dirty="0">
                <a:latin typeface="Arial"/>
                <a:cs typeface="Arial"/>
              </a:rPr>
              <a:t>(</a:t>
            </a:r>
            <a:r>
              <a:rPr sz="2002" i="1" spc="20" dirty="0">
                <a:latin typeface="Arial"/>
                <a:cs typeface="Arial"/>
              </a:rPr>
              <a:t>n</a:t>
            </a:r>
            <a:r>
              <a:rPr sz="2002" spc="20" dirty="0">
                <a:latin typeface="Arial"/>
                <a:cs typeface="Arial"/>
              </a:rPr>
              <a:t>), then the worst case running time is </a:t>
            </a:r>
            <a:r>
              <a:rPr lang="en-US" sz="2002" spc="20" dirty="0">
                <a:latin typeface="Arial"/>
                <a:cs typeface="Arial"/>
              </a:rPr>
              <a:t>O</a:t>
            </a:r>
            <a:r>
              <a:rPr sz="2002" spc="20" dirty="0">
                <a:latin typeface="Arial"/>
                <a:cs typeface="Arial"/>
              </a:rPr>
              <a:t>(</a:t>
            </a:r>
            <a:r>
              <a:rPr sz="2002" i="1" spc="20" dirty="0">
                <a:latin typeface="Arial"/>
                <a:cs typeface="Arial"/>
              </a:rPr>
              <a:t>n</a:t>
            </a:r>
            <a:r>
              <a:rPr sz="2002" spc="20" dirty="0">
                <a:latin typeface="Arial"/>
                <a:cs typeface="Arial"/>
              </a:rPr>
              <a:t>).</a:t>
            </a:r>
            <a:endParaRPr sz="1984" dirty="0">
              <a:latin typeface="Arial"/>
              <a:cs typeface="Arial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51662262" y="-47483297"/>
            <a:ext cx="6582571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latin typeface="Arial"/>
                <a:cs typeface="Arial"/>
              </a:rPr>
              <a:t>But didn’t we just prove that sorting takes Ω(</a:t>
            </a:r>
            <a:r>
              <a:rPr sz="2002" i="1" spc="20" dirty="0">
                <a:latin typeface="Arial"/>
                <a:cs typeface="Arial"/>
              </a:rPr>
              <a:t>n </a:t>
            </a:r>
            <a:r>
              <a:rPr sz="2002" spc="20" dirty="0">
                <a:latin typeface="Arial"/>
                <a:cs typeface="Arial"/>
              </a:rPr>
              <a:t>lg </a:t>
            </a:r>
            <a:r>
              <a:rPr sz="2002" i="1" spc="20" dirty="0">
                <a:latin typeface="Arial"/>
                <a:cs typeface="Arial"/>
              </a:rPr>
              <a:t>n</a:t>
            </a:r>
            <a:r>
              <a:rPr sz="2002" spc="20" dirty="0">
                <a:latin typeface="Arial"/>
                <a:cs typeface="Arial"/>
              </a:rPr>
              <a:t>) time?</a:t>
            </a:r>
            <a:endParaRPr sz="1984">
              <a:latin typeface="Arial"/>
              <a:cs typeface="Arial"/>
            </a:endParaRPr>
          </a:p>
        </p:txBody>
      </p:sp>
      <p:sp>
        <p:nvSpPr>
          <p:cNvPr id="9" name="text 1"/>
          <p:cNvSpPr txBox="1"/>
          <p:nvPr/>
        </p:nvSpPr>
        <p:spPr>
          <a:xfrm>
            <a:off x="51662254" y="-47066557"/>
            <a:ext cx="3944221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solidFill>
                  <a:srgbClr val="FF0000"/>
                </a:solidFill>
                <a:latin typeface="Arial"/>
                <a:cs typeface="Arial"/>
              </a:rPr>
              <a:t>So what’s wrong with this picture?</a:t>
            </a:r>
            <a:endParaRPr sz="1984">
              <a:latin typeface="Arial"/>
              <a:cs typeface="Arial"/>
            </a:endParaRPr>
          </a:p>
        </p:txBody>
      </p:sp>
      <p:sp>
        <p:nvSpPr>
          <p:cNvPr id="547" name="object 547"/>
          <p:cNvSpPr/>
          <p:nvPr/>
        </p:nvSpPr>
        <p:spPr>
          <a:xfrm>
            <a:off x="51011650" y="-46432739"/>
            <a:ext cx="7916085" cy="354370"/>
          </a:xfrm>
          <a:custGeom>
            <a:avLst/>
            <a:gdLst/>
            <a:ahLst/>
            <a:cxnLst/>
            <a:rect l="l" t="t" r="r" b="b"/>
            <a:pathLst>
              <a:path w="3989652" h="178600">
                <a:moveTo>
                  <a:pt x="0" y="50800"/>
                </a:moveTo>
                <a:cubicBezTo>
                  <a:pt x="0" y="22860"/>
                  <a:pt x="22860" y="0"/>
                  <a:pt x="50800" y="0"/>
                </a:cubicBezTo>
                <a:lnTo>
                  <a:pt x="3938852" y="0"/>
                </a:lnTo>
                <a:cubicBezTo>
                  <a:pt x="3966792" y="0"/>
                  <a:pt x="3989652" y="22860"/>
                  <a:pt x="3989652" y="50800"/>
                </a:cubicBezTo>
                <a:lnTo>
                  <a:pt x="3989652" y="178600"/>
                </a:lnTo>
                <a:lnTo>
                  <a:pt x="0" y="178600"/>
                </a:lnTo>
              </a:path>
            </a:pathLst>
          </a:custGeom>
          <a:solidFill>
            <a:srgbClr val="262686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10" name="text 1"/>
          <p:cNvSpPr txBox="1"/>
          <p:nvPr/>
        </p:nvSpPr>
        <p:spPr>
          <a:xfrm>
            <a:off x="51112445" y="-46357012"/>
            <a:ext cx="2373407" cy="3080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2002" spc="20" dirty="0">
                <a:solidFill>
                  <a:srgbClr val="FFFFFF"/>
                </a:solidFill>
                <a:latin typeface="Arial"/>
                <a:cs typeface="Arial"/>
              </a:rPr>
              <a:t>And the answer is ...</a:t>
            </a:r>
            <a:endParaRPr sz="1984">
              <a:latin typeface="Arial"/>
              <a:cs typeface="Arial"/>
            </a:endParaRPr>
          </a:p>
        </p:txBody>
      </p:sp>
      <p:sp>
        <p:nvSpPr>
          <p:cNvPr id="548" name="object 548"/>
          <p:cNvSpPr/>
          <p:nvPr/>
        </p:nvSpPr>
        <p:spPr>
          <a:xfrm>
            <a:off x="51011650" y="-46015622"/>
            <a:ext cx="7916085" cy="1231465"/>
          </a:xfrm>
          <a:custGeom>
            <a:avLst/>
            <a:gdLst/>
            <a:ahLst/>
            <a:cxnLst/>
            <a:rect l="l" t="t" r="r" b="b"/>
            <a:pathLst>
              <a:path w="3989652" h="620650">
                <a:moveTo>
                  <a:pt x="0" y="569850"/>
                </a:moveTo>
                <a:cubicBezTo>
                  <a:pt x="0" y="597790"/>
                  <a:pt x="22860" y="620650"/>
                  <a:pt x="50800" y="620650"/>
                </a:cubicBezTo>
                <a:lnTo>
                  <a:pt x="3938852" y="620650"/>
                </a:lnTo>
                <a:cubicBezTo>
                  <a:pt x="3966792" y="620650"/>
                  <a:pt x="3989652" y="597790"/>
                  <a:pt x="3989652" y="569850"/>
                </a:cubicBezTo>
                <a:lnTo>
                  <a:pt x="3989652" y="0"/>
                </a:lnTo>
                <a:lnTo>
                  <a:pt x="0" y="0"/>
                </a:lnTo>
              </a:path>
            </a:pathLst>
          </a:custGeom>
          <a:solidFill>
            <a:srgbClr val="E9E9F3"/>
          </a:solidFill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49" name="object 549"/>
          <p:cNvSpPr/>
          <p:nvPr/>
        </p:nvSpPr>
        <p:spPr>
          <a:xfrm>
            <a:off x="58915136" y="-46281983"/>
            <a:ext cx="25199" cy="1447429"/>
          </a:xfrm>
          <a:custGeom>
            <a:avLst/>
            <a:gdLst/>
            <a:ahLst/>
            <a:cxnLst/>
            <a:rect l="l" t="t" r="r" b="b"/>
            <a:pathLst>
              <a:path w="12700" h="729494">
                <a:moveTo>
                  <a:pt x="6350" y="723144"/>
                </a:moveTo>
                <a:lnTo>
                  <a:pt x="6350" y="6350"/>
                </a:lnTo>
              </a:path>
            </a:pathLst>
          </a:custGeom>
          <a:ln w="0">
            <a:solidFill>
              <a:srgbClr val="8181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50" name="object 550"/>
          <p:cNvSpPr/>
          <p:nvPr/>
        </p:nvSpPr>
        <p:spPr>
          <a:xfrm>
            <a:off x="58915136" y="-46307182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51" name="object 551"/>
          <p:cNvSpPr/>
          <p:nvPr/>
        </p:nvSpPr>
        <p:spPr>
          <a:xfrm>
            <a:off x="58915136" y="-46332381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D0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52" name="object 552"/>
          <p:cNvSpPr/>
          <p:nvPr/>
        </p:nvSpPr>
        <p:spPr>
          <a:xfrm>
            <a:off x="58915136" y="-46357580"/>
            <a:ext cx="25199" cy="50398"/>
          </a:xfrm>
          <a:custGeom>
            <a:avLst/>
            <a:gdLst/>
            <a:ahLst/>
            <a:cxnLst/>
            <a:rect l="l" t="t" r="r" b="b"/>
            <a:pathLst>
              <a:path w="12700" h="25400">
                <a:moveTo>
                  <a:pt x="6350" y="19050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0F0F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553" name="object 553"/>
          <p:cNvSpPr/>
          <p:nvPr/>
        </p:nvSpPr>
        <p:spPr>
          <a:xfrm>
            <a:off x="58915136" y="-46395381"/>
            <a:ext cx="25199" cy="63001"/>
          </a:xfrm>
          <a:custGeom>
            <a:avLst/>
            <a:gdLst/>
            <a:ahLst/>
            <a:cxnLst/>
            <a:rect l="l" t="t" r="r" b="b"/>
            <a:pathLst>
              <a:path w="12700" h="31752">
                <a:moveTo>
                  <a:pt x="6350" y="25402"/>
                </a:moveTo>
                <a:lnTo>
                  <a:pt x="6350" y="6350"/>
                </a:lnTo>
              </a:path>
            </a:pathLst>
          </a:custGeom>
          <a:ln w="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3572"/>
          </a:p>
        </p:txBody>
      </p:sp>
      <p:sp>
        <p:nvSpPr>
          <p:cNvPr id="11" name="text 1"/>
          <p:cNvSpPr txBox="1"/>
          <p:nvPr/>
        </p:nvSpPr>
        <p:spPr>
          <a:xfrm>
            <a:off x="51662254" y="-45949998"/>
            <a:ext cx="4413068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The Ω(</a:t>
            </a:r>
            <a:r>
              <a:rPr sz="1943" i="1" spc="20" dirty="0">
                <a:latin typeface="Arial"/>
                <a:cs typeface="Arial"/>
              </a:rPr>
              <a:t>n </a:t>
            </a:r>
            <a:r>
              <a:rPr sz="1943" spc="20" dirty="0">
                <a:latin typeface="Arial"/>
                <a:cs typeface="Arial"/>
              </a:rPr>
              <a:t>lg </a:t>
            </a:r>
            <a:r>
              <a:rPr sz="1943" i="1" spc="20" dirty="0">
                <a:latin typeface="Arial"/>
                <a:cs typeface="Arial"/>
              </a:rPr>
              <a:t>n</a:t>
            </a:r>
            <a:r>
              <a:rPr sz="1943" spc="20" dirty="0">
                <a:latin typeface="Arial"/>
                <a:cs typeface="Arial"/>
              </a:rPr>
              <a:t>) is for </a:t>
            </a:r>
            <a:r>
              <a:rPr sz="1943" spc="20" dirty="0">
                <a:solidFill>
                  <a:srgbClr val="0000FF"/>
                </a:solidFill>
                <a:latin typeface="Arial"/>
                <a:cs typeface="Arial"/>
              </a:rPr>
              <a:t>comparison </a:t>
            </a:r>
            <a:r>
              <a:rPr sz="1943" spc="20" dirty="0">
                <a:latin typeface="Arial"/>
                <a:cs typeface="Arial"/>
              </a:rPr>
              <a:t>sorting.</a:t>
            </a:r>
            <a:endParaRPr sz="1786">
              <a:latin typeface="Arial"/>
              <a:cs typeface="Arial"/>
            </a:endParaRPr>
          </a:p>
        </p:txBody>
      </p:sp>
      <p:sp>
        <p:nvSpPr>
          <p:cNvPr id="12" name="text 1"/>
          <p:cNvSpPr txBox="1"/>
          <p:nvPr/>
        </p:nvSpPr>
        <p:spPr>
          <a:xfrm>
            <a:off x="51662254" y="-45533262"/>
            <a:ext cx="4399281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Counting sort is </a:t>
            </a:r>
            <a:r>
              <a:rPr sz="1943" b="1" spc="20" dirty="0">
                <a:latin typeface="Arial"/>
                <a:cs typeface="Arial"/>
              </a:rPr>
              <a:t>not </a:t>
            </a:r>
            <a:r>
              <a:rPr sz="1943" spc="20" dirty="0">
                <a:latin typeface="Arial"/>
                <a:cs typeface="Arial"/>
              </a:rPr>
              <a:t>a </a:t>
            </a:r>
            <a:r>
              <a:rPr sz="1943" spc="20" dirty="0">
                <a:solidFill>
                  <a:srgbClr val="0000FF"/>
                </a:solidFill>
                <a:latin typeface="Arial"/>
                <a:cs typeface="Arial"/>
              </a:rPr>
              <a:t>comparison </a:t>
            </a:r>
            <a:r>
              <a:rPr sz="1943" spc="20" dirty="0">
                <a:latin typeface="Arial"/>
                <a:cs typeface="Arial"/>
              </a:rPr>
              <a:t>sort.</a:t>
            </a:r>
            <a:endParaRPr sz="1786">
              <a:latin typeface="Arial"/>
              <a:cs typeface="Arial"/>
            </a:endParaRPr>
          </a:p>
        </p:txBody>
      </p:sp>
      <p:sp>
        <p:nvSpPr>
          <p:cNvPr id="13" name="text 1"/>
          <p:cNvSpPr txBox="1"/>
          <p:nvPr/>
        </p:nvSpPr>
        <p:spPr>
          <a:xfrm>
            <a:off x="51662254" y="-45116522"/>
            <a:ext cx="6222216" cy="29899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943" spc="20" dirty="0">
                <a:latin typeface="Arial"/>
                <a:cs typeface="Arial"/>
              </a:rPr>
              <a:t>In fact, counting sort does not use a single </a:t>
            </a:r>
            <a:r>
              <a:rPr sz="1943" spc="20" dirty="0">
                <a:solidFill>
                  <a:srgbClr val="0000FF"/>
                </a:solidFill>
                <a:latin typeface="Arial"/>
                <a:cs typeface="Arial"/>
              </a:rPr>
              <a:t>comparison</a:t>
            </a:r>
            <a:r>
              <a:rPr sz="1943" spc="20" dirty="0">
                <a:latin typeface="Arial"/>
                <a:cs typeface="Arial"/>
              </a:rPr>
              <a:t>.</a:t>
            </a:r>
            <a:endParaRPr sz="1786">
              <a:latin typeface="Arial"/>
              <a:cs typeface="Arial"/>
            </a:endParaRPr>
          </a:p>
        </p:txBody>
      </p:sp>
      <p:sp>
        <p:nvSpPr>
          <p:cNvPr id="14" name="text 1"/>
          <p:cNvSpPr txBox="1"/>
          <p:nvPr/>
        </p:nvSpPr>
        <p:spPr>
          <a:xfrm>
            <a:off x="2927201" y="6675443"/>
            <a:ext cx="1050609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Licensed under</a:t>
            </a:r>
            <a:endParaRPr sz="992">
              <a:latin typeface="Arial"/>
              <a:cs typeface="Arial"/>
            </a:endParaRPr>
          </a:p>
        </p:txBody>
      </p:sp>
      <p:sp>
        <p:nvSpPr>
          <p:cNvPr id="15" name="text 1"/>
          <p:cNvSpPr txBox="1"/>
          <p:nvPr/>
        </p:nvSpPr>
        <p:spPr>
          <a:xfrm>
            <a:off x="4785761" y="6675443"/>
            <a:ext cx="1447512" cy="1645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069" b="1" spc="20" dirty="0">
                <a:solidFill>
                  <a:srgbClr val="FFFFFF"/>
                </a:solidFill>
                <a:latin typeface="Arial"/>
                <a:cs typeface="Arial"/>
              </a:rPr>
              <a:t>CSE 221:  Algorithms</a:t>
            </a:r>
            <a:endParaRPr sz="992">
              <a:latin typeface="Arial"/>
              <a:cs typeface="Arial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8459173" y="6675443"/>
            <a:ext cx="458780" cy="1740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sz="1131" b="1" spc="20" dirty="0">
                <a:solidFill>
                  <a:srgbClr val="FFFFFF"/>
                </a:solidFill>
                <a:latin typeface="Arial"/>
                <a:cs typeface="Arial"/>
              </a:rPr>
              <a:t>20 / 26</a:t>
            </a:r>
            <a:endParaRPr sz="99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9679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195" y="228600"/>
            <a:ext cx="9131457" cy="516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 txBox="1"/>
          <p:nvPr/>
        </p:nvSpPr>
        <p:spPr>
          <a:xfrm>
            <a:off x="4195" y="239810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spc="-50" dirty="0">
                <a:solidFill>
                  <a:srgbClr val="FFFFFF"/>
                </a:solidFill>
                <a:latin typeface="Tahoma"/>
                <a:cs typeface="Tahoma"/>
              </a:rPr>
              <a:t>Radix</a:t>
            </a:r>
            <a:r>
              <a:rPr sz="2774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99" dirty="0">
                <a:solidFill>
                  <a:srgbClr val="FFFFFF"/>
                </a:solidFill>
                <a:latin typeface="Tahoma"/>
                <a:cs typeface="Tahoma"/>
              </a:rPr>
              <a:t>sort</a:t>
            </a:r>
            <a:endParaRPr sz="277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95" y="756419"/>
            <a:ext cx="9131457" cy="100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479799" y="1689887"/>
            <a:ext cx="2899235" cy="36240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3936532" y="2433040"/>
            <a:ext cx="4824509" cy="354854"/>
          </a:xfrm>
          <a:custGeom>
            <a:avLst/>
            <a:gdLst/>
            <a:ahLst/>
            <a:cxnLst/>
            <a:rect l="l" t="t" r="r" b="b"/>
            <a:pathLst>
              <a:path w="2434590" h="179069">
                <a:moveTo>
                  <a:pt x="238365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2434455" y="178598"/>
                </a:lnTo>
                <a:lnTo>
                  <a:pt x="2434455" y="50800"/>
                </a:lnTo>
                <a:lnTo>
                  <a:pt x="2430447" y="31075"/>
                </a:lnTo>
                <a:lnTo>
                  <a:pt x="2419532" y="14922"/>
                </a:lnTo>
                <a:lnTo>
                  <a:pt x="2403379" y="4008"/>
                </a:lnTo>
                <a:lnTo>
                  <a:pt x="2383655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3936534" y="2761900"/>
            <a:ext cx="4824239" cy="1002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4037202" y="4645621"/>
            <a:ext cx="201336" cy="2013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4137870" y="4620454"/>
            <a:ext cx="4723512" cy="2265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8760774" y="2520699"/>
            <a:ext cx="100606" cy="21249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3936532" y="2849632"/>
            <a:ext cx="4824509" cy="1897590"/>
          </a:xfrm>
          <a:custGeom>
            <a:avLst/>
            <a:gdLst/>
            <a:ahLst/>
            <a:cxnLst/>
            <a:rect l="l" t="t" r="r" b="b"/>
            <a:pathLst>
              <a:path w="2434590" h="957580">
                <a:moveTo>
                  <a:pt x="2434455" y="0"/>
                </a:moveTo>
                <a:lnTo>
                  <a:pt x="0" y="0"/>
                </a:lnTo>
                <a:lnTo>
                  <a:pt x="0" y="906309"/>
                </a:lnTo>
                <a:lnTo>
                  <a:pt x="4008" y="926034"/>
                </a:lnTo>
                <a:lnTo>
                  <a:pt x="14922" y="942187"/>
                </a:lnTo>
                <a:lnTo>
                  <a:pt x="31075" y="953101"/>
                </a:lnTo>
                <a:lnTo>
                  <a:pt x="50800" y="957109"/>
                </a:lnTo>
                <a:lnTo>
                  <a:pt x="2383655" y="957109"/>
                </a:lnTo>
                <a:lnTo>
                  <a:pt x="2403379" y="953101"/>
                </a:lnTo>
                <a:lnTo>
                  <a:pt x="2419532" y="942187"/>
                </a:lnTo>
                <a:lnTo>
                  <a:pt x="2430447" y="926034"/>
                </a:lnTo>
                <a:lnTo>
                  <a:pt x="2434455" y="906309"/>
                </a:lnTo>
                <a:lnTo>
                  <a:pt x="243445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8760775" y="2596192"/>
            <a:ext cx="0" cy="2087600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1053252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8760775" y="2571024"/>
            <a:ext cx="0" cy="25167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8760775" y="2545857"/>
            <a:ext cx="0" cy="25167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/>
          <p:nvPr/>
        </p:nvSpPr>
        <p:spPr>
          <a:xfrm>
            <a:off x="8760775" y="2520690"/>
            <a:ext cx="0" cy="25167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9" name="object 19"/>
          <p:cNvSpPr/>
          <p:nvPr/>
        </p:nvSpPr>
        <p:spPr>
          <a:xfrm>
            <a:off x="4319676" y="2956112"/>
            <a:ext cx="129332" cy="1293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0" name="object 20"/>
          <p:cNvSpPr/>
          <p:nvPr/>
        </p:nvSpPr>
        <p:spPr>
          <a:xfrm>
            <a:off x="4319676" y="3372324"/>
            <a:ext cx="129332" cy="1293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1" name="object 21"/>
          <p:cNvSpPr/>
          <p:nvPr/>
        </p:nvSpPr>
        <p:spPr>
          <a:xfrm>
            <a:off x="4319676" y="4129523"/>
            <a:ext cx="129332" cy="1293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2" name="object 22"/>
          <p:cNvSpPr txBox="1"/>
          <p:nvPr/>
        </p:nvSpPr>
        <p:spPr>
          <a:xfrm>
            <a:off x="4012036" y="2337704"/>
            <a:ext cx="4649598" cy="2361781"/>
          </a:xfrm>
          <a:prstGeom prst="rect">
            <a:avLst/>
          </a:prstGeom>
        </p:spPr>
        <p:txBody>
          <a:bodyPr vert="horz" wrap="square" lIns="0" tIns="84309" rIns="0" bIns="0" rtlCol="0">
            <a:spAutoFit/>
          </a:bodyPr>
          <a:lstStyle/>
          <a:p>
            <a:pPr marL="25168">
              <a:spcBef>
                <a:spcPts val="664"/>
              </a:spcBef>
            </a:pPr>
            <a:r>
              <a:rPr sz="2180" spc="-59" dirty="0">
                <a:solidFill>
                  <a:srgbClr val="FFFFFF"/>
                </a:solidFill>
                <a:latin typeface="Tahoma"/>
                <a:cs typeface="Tahoma"/>
              </a:rPr>
              <a:t>Radix </a:t>
            </a:r>
            <a:r>
              <a:rPr sz="2180" spc="-79" dirty="0">
                <a:solidFill>
                  <a:srgbClr val="FFFFFF"/>
                </a:solidFill>
                <a:latin typeface="Tahoma"/>
                <a:cs typeface="Tahoma"/>
              </a:rPr>
              <a:t>sort</a:t>
            </a:r>
            <a:r>
              <a:rPr sz="2180" spc="10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80" spc="-99" dirty="0">
                <a:solidFill>
                  <a:srgbClr val="FFFFFF"/>
                </a:solidFill>
                <a:latin typeface="Tahoma"/>
                <a:cs typeface="Tahoma"/>
              </a:rPr>
              <a:t>basics</a:t>
            </a:r>
            <a:endParaRPr sz="2180">
              <a:latin typeface="Tahoma"/>
              <a:cs typeface="Tahoma"/>
            </a:endParaRPr>
          </a:p>
          <a:p>
            <a:pPr marL="573821">
              <a:spcBef>
                <a:spcPts val="466"/>
              </a:spcBef>
            </a:pPr>
            <a:r>
              <a:rPr sz="2180" dirty="0">
                <a:latin typeface="Tahoma"/>
                <a:cs typeface="Tahoma"/>
              </a:rPr>
              <a:t>Digit </a:t>
            </a:r>
            <a:r>
              <a:rPr sz="2180" spc="-119" dirty="0">
                <a:latin typeface="Tahoma"/>
                <a:cs typeface="Tahoma"/>
              </a:rPr>
              <a:t>by </a:t>
            </a:r>
            <a:r>
              <a:rPr sz="2180" spc="-40" dirty="0">
                <a:latin typeface="Tahoma"/>
                <a:cs typeface="Tahoma"/>
              </a:rPr>
              <a:t>digit</a:t>
            </a:r>
            <a:r>
              <a:rPr sz="2180" spc="198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sort.</a:t>
            </a:r>
            <a:endParaRPr sz="2180">
              <a:latin typeface="Tahoma"/>
              <a:cs typeface="Tahoma"/>
            </a:endParaRPr>
          </a:p>
          <a:p>
            <a:pPr marL="573821" marR="10067">
              <a:lnSpc>
                <a:spcPct val="102600"/>
              </a:lnSpc>
              <a:spcBef>
                <a:spcPts val="595"/>
              </a:spcBef>
            </a:pPr>
            <a:r>
              <a:rPr sz="2180" spc="-59" dirty="0">
                <a:latin typeface="Tahoma"/>
                <a:cs typeface="Tahoma"/>
              </a:rPr>
              <a:t>Can </a:t>
            </a:r>
            <a:r>
              <a:rPr sz="2180" spc="-109" dirty="0">
                <a:latin typeface="Tahoma"/>
                <a:cs typeface="Tahoma"/>
              </a:rPr>
              <a:t>be </a:t>
            </a:r>
            <a:r>
              <a:rPr sz="2180" spc="-79" dirty="0">
                <a:latin typeface="Tahoma"/>
                <a:cs typeface="Tahoma"/>
              </a:rPr>
              <a:t>either </a:t>
            </a:r>
            <a:r>
              <a:rPr sz="2180" i="1" spc="-109" dirty="0">
                <a:latin typeface="Trebuchet MS"/>
                <a:cs typeface="Trebuchet MS"/>
              </a:rPr>
              <a:t>most-significant </a:t>
            </a:r>
            <a:r>
              <a:rPr sz="2180" spc="-40" dirty="0">
                <a:latin typeface="Tahoma"/>
                <a:cs typeface="Tahoma"/>
              </a:rPr>
              <a:t>digit  first, </a:t>
            </a:r>
            <a:r>
              <a:rPr sz="2180" spc="-109" dirty="0">
                <a:latin typeface="Tahoma"/>
                <a:cs typeface="Tahoma"/>
              </a:rPr>
              <a:t>or </a:t>
            </a:r>
            <a:r>
              <a:rPr sz="2180" i="1" spc="-129" dirty="0">
                <a:latin typeface="Trebuchet MS"/>
                <a:cs typeface="Trebuchet MS"/>
              </a:rPr>
              <a:t>least-significant </a:t>
            </a:r>
            <a:r>
              <a:rPr sz="2180" spc="-40" dirty="0">
                <a:latin typeface="Tahoma"/>
                <a:cs typeface="Tahoma"/>
              </a:rPr>
              <a:t>digit</a:t>
            </a:r>
            <a:r>
              <a:rPr sz="2180" spc="-149" dirty="0">
                <a:latin typeface="Tahoma"/>
                <a:cs typeface="Tahoma"/>
              </a:rPr>
              <a:t> </a:t>
            </a:r>
            <a:r>
              <a:rPr sz="2180" spc="-40" dirty="0">
                <a:latin typeface="Tahoma"/>
                <a:cs typeface="Tahoma"/>
              </a:rPr>
              <a:t>first.</a:t>
            </a:r>
            <a:endParaRPr sz="2180">
              <a:latin typeface="Tahoma"/>
              <a:cs typeface="Tahoma"/>
            </a:endParaRPr>
          </a:p>
          <a:p>
            <a:pPr marL="573821">
              <a:spcBef>
                <a:spcPts val="662"/>
              </a:spcBef>
            </a:pPr>
            <a:r>
              <a:rPr sz="2180" spc="129" dirty="0">
                <a:latin typeface="Tahoma"/>
                <a:cs typeface="Tahoma"/>
              </a:rPr>
              <a:t>A </a:t>
            </a:r>
            <a:r>
              <a:rPr sz="2180" spc="-79" dirty="0">
                <a:latin typeface="Tahoma"/>
                <a:cs typeface="Tahoma"/>
              </a:rPr>
              <a:t>good </a:t>
            </a:r>
            <a:r>
              <a:rPr sz="2180" spc="-159" dirty="0">
                <a:latin typeface="Tahoma"/>
                <a:cs typeface="Tahoma"/>
              </a:rPr>
              <a:t>way </a:t>
            </a:r>
            <a:r>
              <a:rPr sz="2180" spc="-69" dirty="0">
                <a:latin typeface="Tahoma"/>
                <a:cs typeface="Tahoma"/>
              </a:rPr>
              <a:t>is </a:t>
            </a:r>
            <a:r>
              <a:rPr sz="2180" spc="-30" dirty="0">
                <a:latin typeface="Tahoma"/>
                <a:cs typeface="Tahoma"/>
              </a:rPr>
              <a:t>to </a:t>
            </a:r>
            <a:r>
              <a:rPr sz="2180" spc="-59" dirty="0">
                <a:latin typeface="Tahoma"/>
                <a:cs typeface="Tahoma"/>
              </a:rPr>
              <a:t>stably</a:t>
            </a:r>
            <a:r>
              <a:rPr sz="2180" spc="-178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sort</a:t>
            </a:r>
            <a:endParaRPr sz="2180">
              <a:latin typeface="Tahoma"/>
              <a:cs typeface="Tahoma"/>
            </a:endParaRPr>
          </a:p>
          <a:p>
            <a:pPr marL="573821">
              <a:spcBef>
                <a:spcPts val="69"/>
              </a:spcBef>
            </a:pPr>
            <a:r>
              <a:rPr sz="2180" i="1" spc="-129" dirty="0">
                <a:latin typeface="Trebuchet MS"/>
                <a:cs typeface="Trebuchet MS"/>
              </a:rPr>
              <a:t>least-significant </a:t>
            </a:r>
            <a:r>
              <a:rPr sz="2180" spc="-40" dirty="0">
                <a:latin typeface="Tahoma"/>
                <a:cs typeface="Tahoma"/>
              </a:rPr>
              <a:t>digit</a:t>
            </a:r>
            <a:r>
              <a:rPr sz="2180" spc="-327" dirty="0">
                <a:latin typeface="Tahoma"/>
                <a:cs typeface="Tahoma"/>
              </a:rPr>
              <a:t> </a:t>
            </a:r>
            <a:r>
              <a:rPr sz="2180" spc="-40" dirty="0">
                <a:latin typeface="Tahoma"/>
                <a:cs typeface="Tahoma"/>
              </a:rPr>
              <a:t>first.</a:t>
            </a:r>
            <a:endParaRPr sz="218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215007384"/>
      </p:ext>
    </p:extLst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95" y="228600"/>
            <a:ext cx="9131457" cy="516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 txBox="1"/>
          <p:nvPr/>
        </p:nvSpPr>
        <p:spPr>
          <a:xfrm>
            <a:off x="4195" y="239810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spc="-50" dirty="0">
                <a:solidFill>
                  <a:srgbClr val="FFFFFF"/>
                </a:solidFill>
                <a:latin typeface="Tahoma"/>
                <a:cs typeface="Tahoma"/>
              </a:rPr>
              <a:t>Radix </a:t>
            </a:r>
            <a:r>
              <a:rPr sz="2774" spc="-89" dirty="0">
                <a:solidFill>
                  <a:srgbClr val="FFFFFF"/>
                </a:solidFill>
                <a:latin typeface="Tahoma"/>
                <a:cs typeface="Tahoma"/>
              </a:rPr>
              <a:t>sort </a:t>
            </a:r>
            <a:r>
              <a:rPr sz="2774" spc="-59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774" spc="307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69" dirty="0">
                <a:solidFill>
                  <a:srgbClr val="FFFFFF"/>
                </a:solidFill>
                <a:latin typeface="Tahoma"/>
                <a:cs typeface="Tahoma"/>
              </a:rPr>
              <a:t>action</a:t>
            </a:r>
            <a:endParaRPr sz="2774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5" y="756419"/>
            <a:ext cx="9131457" cy="100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1625399" y="1172176"/>
            <a:ext cx="1250295" cy="38414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2467840"/>
      </p:ext>
    </p:extLst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95" y="245490"/>
            <a:ext cx="9131457" cy="516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 txBox="1"/>
          <p:nvPr/>
        </p:nvSpPr>
        <p:spPr>
          <a:xfrm>
            <a:off x="4195" y="239810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spc="-50" dirty="0">
                <a:solidFill>
                  <a:srgbClr val="FFFFFF"/>
                </a:solidFill>
                <a:latin typeface="Tahoma"/>
                <a:cs typeface="Tahoma"/>
              </a:rPr>
              <a:t>Radix </a:t>
            </a:r>
            <a:r>
              <a:rPr sz="2774" spc="-89" dirty="0">
                <a:solidFill>
                  <a:srgbClr val="FFFFFF"/>
                </a:solidFill>
                <a:latin typeface="Tahoma"/>
                <a:cs typeface="Tahoma"/>
              </a:rPr>
              <a:t>sort </a:t>
            </a:r>
            <a:r>
              <a:rPr sz="2774" spc="-59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774" spc="307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69" dirty="0">
                <a:solidFill>
                  <a:srgbClr val="FFFFFF"/>
                </a:solidFill>
                <a:latin typeface="Tahoma"/>
                <a:cs typeface="Tahoma"/>
              </a:rPr>
              <a:t>action</a:t>
            </a:r>
            <a:endParaRPr sz="2774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5" y="756419"/>
            <a:ext cx="9131457" cy="100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1625399" y="1172176"/>
            <a:ext cx="1250295" cy="38414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1389787"/>
      </p:ext>
    </p:extLst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95" y="245490"/>
            <a:ext cx="9131457" cy="516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 txBox="1"/>
          <p:nvPr/>
        </p:nvSpPr>
        <p:spPr>
          <a:xfrm>
            <a:off x="4195" y="239810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spc="-50" dirty="0">
                <a:solidFill>
                  <a:srgbClr val="FFFFFF"/>
                </a:solidFill>
                <a:latin typeface="Tahoma"/>
                <a:cs typeface="Tahoma"/>
              </a:rPr>
              <a:t>Radix </a:t>
            </a:r>
            <a:r>
              <a:rPr sz="2774" spc="-89" dirty="0">
                <a:solidFill>
                  <a:srgbClr val="FFFFFF"/>
                </a:solidFill>
                <a:latin typeface="Tahoma"/>
                <a:cs typeface="Tahoma"/>
              </a:rPr>
              <a:t>sort </a:t>
            </a:r>
            <a:r>
              <a:rPr sz="2774" spc="-59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774" spc="307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69" dirty="0">
                <a:solidFill>
                  <a:srgbClr val="FFFFFF"/>
                </a:solidFill>
                <a:latin typeface="Tahoma"/>
                <a:cs typeface="Tahoma"/>
              </a:rPr>
              <a:t>action</a:t>
            </a:r>
            <a:endParaRPr sz="2774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5" y="756419"/>
            <a:ext cx="9131457" cy="100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1625399" y="1172177"/>
            <a:ext cx="2808634" cy="4058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767262"/>
      </p:ext>
    </p:extLst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95" y="244914"/>
            <a:ext cx="9131457" cy="516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 txBox="1"/>
          <p:nvPr/>
        </p:nvSpPr>
        <p:spPr>
          <a:xfrm>
            <a:off x="4195" y="239810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spc="-50" dirty="0">
                <a:solidFill>
                  <a:srgbClr val="FFFFFF"/>
                </a:solidFill>
                <a:latin typeface="Tahoma"/>
                <a:cs typeface="Tahoma"/>
              </a:rPr>
              <a:t>Radix </a:t>
            </a:r>
            <a:r>
              <a:rPr sz="2774" spc="-89" dirty="0">
                <a:solidFill>
                  <a:srgbClr val="FFFFFF"/>
                </a:solidFill>
                <a:latin typeface="Tahoma"/>
                <a:cs typeface="Tahoma"/>
              </a:rPr>
              <a:t>sort </a:t>
            </a:r>
            <a:r>
              <a:rPr sz="2774" spc="-59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774" spc="307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69" dirty="0">
                <a:solidFill>
                  <a:srgbClr val="FFFFFF"/>
                </a:solidFill>
                <a:latin typeface="Tahoma"/>
                <a:cs typeface="Tahoma"/>
              </a:rPr>
              <a:t>action</a:t>
            </a:r>
            <a:endParaRPr sz="2774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5" y="756419"/>
            <a:ext cx="9131457" cy="100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1625399" y="1172176"/>
            <a:ext cx="4366973" cy="40951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1341355"/>
      </p:ext>
    </p:extLst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95" y="244914"/>
            <a:ext cx="9131457" cy="516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 txBox="1"/>
          <p:nvPr/>
        </p:nvSpPr>
        <p:spPr>
          <a:xfrm>
            <a:off x="4195" y="239810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spc="-50" dirty="0">
                <a:solidFill>
                  <a:srgbClr val="FFFFFF"/>
                </a:solidFill>
                <a:latin typeface="Tahoma"/>
                <a:cs typeface="Tahoma"/>
              </a:rPr>
              <a:t>Radix </a:t>
            </a:r>
            <a:r>
              <a:rPr sz="2774" spc="-89" dirty="0">
                <a:solidFill>
                  <a:srgbClr val="FFFFFF"/>
                </a:solidFill>
                <a:latin typeface="Tahoma"/>
                <a:cs typeface="Tahoma"/>
              </a:rPr>
              <a:t>sort </a:t>
            </a:r>
            <a:r>
              <a:rPr sz="2774" spc="-59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774" spc="307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69" dirty="0">
                <a:solidFill>
                  <a:srgbClr val="FFFFFF"/>
                </a:solidFill>
                <a:latin typeface="Tahoma"/>
                <a:cs typeface="Tahoma"/>
              </a:rPr>
              <a:t>action</a:t>
            </a:r>
            <a:endParaRPr sz="2774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5" y="756419"/>
            <a:ext cx="9131457" cy="100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1625399" y="1172176"/>
            <a:ext cx="5889072" cy="41042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4230654"/>
      </p:ext>
    </p:extLst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7261651" cy="276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737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-209828" y="254946"/>
            <a:ext cx="9131457" cy="516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 txBox="1"/>
          <p:nvPr/>
        </p:nvSpPr>
        <p:spPr>
          <a:xfrm>
            <a:off x="4195" y="239810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lang="en-US" sz="2774" spc="-40" dirty="0">
                <a:solidFill>
                  <a:srgbClr val="FFFFFF"/>
                </a:solidFill>
                <a:latin typeface="Tahoma"/>
                <a:cs typeface="Tahoma"/>
              </a:rPr>
              <a:t>Time Complexity of Radix Sort</a:t>
            </a:r>
            <a:endParaRPr sz="2774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5" y="756419"/>
            <a:ext cx="9131457" cy="100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Rectangle 16"/>
          <p:cNvSpPr/>
          <p:nvPr/>
        </p:nvSpPr>
        <p:spPr>
          <a:xfrm>
            <a:off x="359573" y="1295400"/>
            <a:ext cx="8562055" cy="4724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sz="3200" dirty="0">
                <a:latin typeface="Arial" panose="020B0604020202020204" pitchFamily="34" charset="0"/>
              </a:rPr>
              <a:t>Assume that we use counting sort as the intermediate sort.</a:t>
            </a:r>
          </a:p>
          <a:p>
            <a:pPr marL="457200" indent="-457200" algn="just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sz="3200" dirty="0">
                <a:latin typeface="Arial" panose="020B0604020202020204" pitchFamily="34" charset="0"/>
              </a:rPr>
              <a:t>When each digit is in the range 0 to </a:t>
            </a:r>
            <a:r>
              <a:rPr lang="en-US" sz="3200" i="1" dirty="0">
                <a:latin typeface="Arial" panose="020B0604020202020204" pitchFamily="34" charset="0"/>
              </a:rPr>
              <a:t>k−1</a:t>
            </a:r>
            <a:r>
              <a:rPr lang="en-US" sz="3200" dirty="0">
                <a:latin typeface="Arial" panose="020B0604020202020204" pitchFamily="34" charset="0"/>
              </a:rPr>
              <a:t>, each pass over </a:t>
            </a:r>
            <a:r>
              <a:rPr lang="en-US" sz="3200" i="1" dirty="0">
                <a:latin typeface="Arial" panose="020B0604020202020204" pitchFamily="34" charset="0"/>
              </a:rPr>
              <a:t>n d</a:t>
            </a:r>
            <a:r>
              <a:rPr lang="en-US" sz="3200" dirty="0">
                <a:latin typeface="Arial" panose="020B0604020202020204" pitchFamily="34" charset="0"/>
              </a:rPr>
              <a:t>‐digit number takes time O</a:t>
            </a:r>
            <a:r>
              <a:rPr lang="el-GR" sz="3200" dirty="0">
                <a:latin typeface="Arial" panose="020B0604020202020204" pitchFamily="34" charset="0"/>
              </a:rPr>
              <a:t>(</a:t>
            </a:r>
            <a:r>
              <a:rPr lang="en-US" sz="3200" i="1" dirty="0">
                <a:latin typeface="Arial" panose="020B0604020202020204" pitchFamily="34" charset="0"/>
              </a:rPr>
              <a:t>n + k</a:t>
            </a:r>
            <a:r>
              <a:rPr lang="en-US" sz="3200" dirty="0">
                <a:latin typeface="Arial" panose="020B0604020202020204" pitchFamily="34" charset="0"/>
              </a:rPr>
              <a:t>).</a:t>
            </a:r>
          </a:p>
          <a:p>
            <a:pPr marL="457200" indent="-457200" algn="just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sz="3200" dirty="0">
                <a:latin typeface="Arial" panose="020B0604020202020204" pitchFamily="34" charset="0"/>
              </a:rPr>
              <a:t>There are </a:t>
            </a:r>
            <a:r>
              <a:rPr lang="en-US" sz="3200" i="1" dirty="0">
                <a:latin typeface="Arial" panose="020B0604020202020204" pitchFamily="34" charset="0"/>
              </a:rPr>
              <a:t>d</a:t>
            </a:r>
            <a:r>
              <a:rPr lang="en-US" sz="3200" dirty="0">
                <a:latin typeface="Arial" panose="020B0604020202020204" pitchFamily="34" charset="0"/>
              </a:rPr>
              <a:t> passes, so the total time for radix sort is O</a:t>
            </a:r>
            <a:r>
              <a:rPr lang="el-GR" sz="3200" dirty="0">
                <a:latin typeface="Arial" panose="020B0604020202020204" pitchFamily="34" charset="0"/>
              </a:rPr>
              <a:t>(</a:t>
            </a:r>
            <a:r>
              <a:rPr lang="en-US" sz="3200" i="1" dirty="0">
                <a:latin typeface="Arial" panose="020B0604020202020204" pitchFamily="34" charset="0"/>
              </a:rPr>
              <a:t>d(n + k)</a:t>
            </a:r>
            <a:r>
              <a:rPr lang="en-US" sz="3200" dirty="0">
                <a:latin typeface="Arial" panose="020B0604020202020204" pitchFamily="34" charset="0"/>
              </a:rPr>
              <a:t>).</a:t>
            </a:r>
          </a:p>
          <a:p>
            <a:pPr marL="457200" indent="-457200" algn="just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sz="3200" dirty="0">
                <a:latin typeface="Arial" panose="020B0604020202020204" pitchFamily="34" charset="0"/>
              </a:rPr>
              <a:t>If k=O(</a:t>
            </a:r>
            <a:r>
              <a:rPr lang="en-US" sz="3200" i="1" dirty="0">
                <a:latin typeface="Arial" panose="020B0604020202020204" pitchFamily="34" charset="0"/>
              </a:rPr>
              <a:t>n</a:t>
            </a:r>
            <a:r>
              <a:rPr lang="en-US" sz="3200" dirty="0">
                <a:latin typeface="Arial" panose="020B0604020202020204" pitchFamily="34" charset="0"/>
              </a:rPr>
              <a:t>), time=O</a:t>
            </a:r>
            <a:r>
              <a:rPr lang="el-GR" sz="3200" dirty="0">
                <a:latin typeface="Arial" panose="020B0604020202020204" pitchFamily="34" charset="0"/>
              </a:rPr>
              <a:t>(</a:t>
            </a:r>
            <a:r>
              <a:rPr lang="en-US" sz="3200" i="1" dirty="0" err="1">
                <a:latin typeface="Arial" panose="020B0604020202020204" pitchFamily="34" charset="0"/>
              </a:rPr>
              <a:t>dn</a:t>
            </a:r>
            <a:r>
              <a:rPr lang="en-US" sz="3200" dirty="0">
                <a:latin typeface="Arial" panose="020B0604020202020204" pitchFamily="34" charset="0"/>
              </a:rPr>
              <a:t>).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49832277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579</Words>
  <Application>Microsoft Office PowerPoint</Application>
  <PresentationFormat>On-screen Show (4:3)</PresentationFormat>
  <Paragraphs>229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Aharoni</vt:lpstr>
      <vt:lpstr>Arial</vt:lpstr>
      <vt:lpstr>Britannic Bold</vt:lpstr>
      <vt:lpstr>Calibri</vt:lpstr>
      <vt:lpstr>Calibri Light</vt:lpstr>
      <vt:lpstr>Courier New</vt:lpstr>
      <vt:lpstr>Gungsuh</vt:lpstr>
      <vt:lpstr>Impact</vt:lpstr>
      <vt:lpstr>Lucida Sans Unicode</vt:lpstr>
      <vt:lpstr>Tahoma</vt:lpstr>
      <vt:lpstr>Trebuchet MS</vt:lpstr>
      <vt:lpstr>Verdana</vt:lpstr>
      <vt:lpstr>1_Office Theme</vt:lpstr>
      <vt:lpstr>PowerPoint Presentation</vt:lpstr>
      <vt:lpstr>PowerPoint Presentation</vt:lpstr>
      <vt:lpstr>PowerPoint Presentation</vt:lpstr>
      <vt:lpstr>Sorting in linear time: Counting sort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Corporate Edition</dc:creator>
  <cp:lastModifiedBy>asus</cp:lastModifiedBy>
  <cp:revision>142</cp:revision>
  <dcterms:created xsi:type="dcterms:W3CDTF">2018-07-03T03:14:54Z</dcterms:created>
  <dcterms:modified xsi:type="dcterms:W3CDTF">2025-08-13T01:41:28Z</dcterms:modified>
</cp:coreProperties>
</file>