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0"/>
  </p:notesMasterIdLst>
  <p:sldIdLst>
    <p:sldId id="444" r:id="rId2"/>
    <p:sldId id="257" r:id="rId3"/>
    <p:sldId id="258" r:id="rId4"/>
    <p:sldId id="394" r:id="rId5"/>
    <p:sldId id="395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  <p:sldId id="417" r:id="rId21"/>
    <p:sldId id="418" r:id="rId22"/>
    <p:sldId id="419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5" r:id="rId39"/>
    <p:sldId id="436" r:id="rId40"/>
    <p:sldId id="437" r:id="rId41"/>
    <p:sldId id="438" r:id="rId42"/>
    <p:sldId id="439" r:id="rId43"/>
    <p:sldId id="440" r:id="rId44"/>
    <p:sldId id="441" r:id="rId45"/>
    <p:sldId id="442" r:id="rId46"/>
    <p:sldId id="39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262" r:id="rId66"/>
    <p:sldId id="344" r:id="rId67"/>
    <p:sldId id="388" r:id="rId68"/>
    <p:sldId id="389" r:id="rId69"/>
    <p:sldId id="390" r:id="rId70"/>
    <p:sldId id="399" r:id="rId71"/>
    <p:sldId id="400" r:id="rId72"/>
    <p:sldId id="281" r:id="rId73"/>
    <p:sldId id="282" r:id="rId74"/>
    <p:sldId id="283" r:id="rId75"/>
    <p:sldId id="284" r:id="rId76"/>
    <p:sldId id="401" r:id="rId77"/>
    <p:sldId id="402" r:id="rId78"/>
    <p:sldId id="445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276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2704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96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8703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35888A-48CE-4A93-8FF0-F43ADCD90FB1}" type="slidenum">
              <a:rPr lang="en-US" sz="1200" smtClean="0"/>
              <a:pPr/>
              <a:t>77</a:t>
            </a:fld>
            <a:endParaRPr 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48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DA37-6BF5-4F75-B438-59F7269D5592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95B3-E764-439C-87AC-88F6C5F38BD2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E268-5929-4752-B652-0800A981044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D601-0399-4B94-8B3F-DCE0EDFF85E4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DD6F-F691-4066-B042-102890CCA6CB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48A8-E02B-433E-B767-E513AE7D9989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427B-EB62-43FE-A75C-834859F59C56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ACD5-90AD-4155-9B7A-52AF80027E7C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46BA7-19C7-4830-9F7A-670C80FC9666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16AE-679F-472D-81FA-247FEBCC9E2A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0724-73AD-46B9-BFB8-8CFD10D4A854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DD9A4B60-5B3F-4549-85A0-FE306CFB3086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3790A-6BD6-40EC-A63A-C23EA9F5ADAE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800" y="877716"/>
            <a:ext cx="7543800" cy="1551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 smtClean="0">
                <a:latin typeface="+mn-lt"/>
              </a:rPr>
              <a:t>Data Structure and Algorithm</a:t>
            </a:r>
            <a:r>
              <a:rPr lang="en-US" altLang="en-US" sz="6600" b="1" dirty="0">
                <a:latin typeface="+mn-lt"/>
              </a:rPr>
              <a:t/>
            </a:r>
            <a:br>
              <a:rPr lang="en-US" altLang="en-US" sz="6600" b="1" dirty="0">
                <a:latin typeface="+mn-lt"/>
              </a:rPr>
            </a:br>
            <a:r>
              <a:rPr lang="en-US" altLang="en-US" sz="4800" b="1" dirty="0">
                <a:solidFill>
                  <a:srgbClr val="00B050"/>
                </a:solidFill>
                <a:latin typeface="+mn-lt"/>
              </a:rPr>
              <a:t>(PMSCS </a:t>
            </a:r>
            <a:r>
              <a:rPr lang="en-US" altLang="en-US" sz="4800" b="1" dirty="0" smtClean="0">
                <a:solidFill>
                  <a:srgbClr val="00B050"/>
                </a:solidFill>
                <a:latin typeface="+mn-lt"/>
              </a:rPr>
              <a:t>623P)</a:t>
            </a:r>
            <a:endParaRPr lang="en-US" altLang="en-US" sz="48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4038600"/>
            <a:ext cx="6400800" cy="1752600"/>
          </a:xfrm>
          <a:prstGeom prst="rect">
            <a:avLst/>
          </a:prstGeom>
        </p:spPr>
        <p:txBody>
          <a:bodyPr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0000" dirty="0"/>
              <a:t>Lecture </a:t>
            </a:r>
            <a:r>
              <a:rPr lang="en-US" sz="20000" dirty="0" smtClean="0"/>
              <a:t>7</a:t>
            </a:r>
            <a:endParaRPr lang="en-US" sz="19200" dirty="0"/>
          </a:p>
          <a:p>
            <a:pPr marL="0" indent="0" algn="ctr">
              <a:buNone/>
              <a:defRPr/>
            </a:pP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Divide and Conquer (</a:t>
            </a:r>
            <a:r>
              <a:rPr lang="en-US" sz="10000" dirty="0" err="1">
                <a:solidFill>
                  <a:schemeClr val="accent1">
                    <a:lumMod val="50000"/>
                  </a:schemeClr>
                </a:solidFill>
              </a:rPr>
              <a:t>Mergesort</a:t>
            </a: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0135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b="1" dirty="0"/>
              <a:t>Divide and Conquer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69166" y="1070434"/>
            <a:ext cx="8048623" cy="5237163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FF0000"/>
                </a:solidFill>
              </a:rPr>
              <a:t>Recursive </a:t>
            </a:r>
            <a:r>
              <a:rPr lang="en-US" altLang="en-US" sz="2800" b="1" dirty="0">
                <a:solidFill>
                  <a:srgbClr val="0070C0"/>
                </a:solidFill>
              </a:rPr>
              <a:t>in structure  </a:t>
            </a:r>
          </a:p>
          <a:p>
            <a:endParaRPr lang="en-US" altLang="en-US" sz="200" dirty="0"/>
          </a:p>
          <a:p>
            <a:pPr lvl="1" algn="just">
              <a:spcBef>
                <a:spcPts val="1800"/>
              </a:spcBef>
            </a:pPr>
            <a:r>
              <a:rPr lang="en-US" altLang="en-US" b="1" i="1" dirty="0">
                <a:solidFill>
                  <a:srgbClr val="CC3300"/>
                </a:solidFill>
              </a:rPr>
              <a:t>Divide</a:t>
            </a:r>
            <a:r>
              <a:rPr lang="en-US" altLang="en-US" dirty="0"/>
              <a:t> the problem into independent sub-problems that are similar to the original but smaller in size</a:t>
            </a:r>
          </a:p>
          <a:p>
            <a:pPr lvl="1" algn="just">
              <a:spcBef>
                <a:spcPts val="1800"/>
              </a:spcBef>
            </a:pPr>
            <a:r>
              <a:rPr lang="en-US" altLang="en-US" b="1" i="1" dirty="0">
                <a:solidFill>
                  <a:srgbClr val="CC3300"/>
                </a:solidFill>
              </a:rPr>
              <a:t>Conquer</a:t>
            </a:r>
            <a:r>
              <a:rPr lang="en-US" altLang="en-US" dirty="0"/>
              <a:t> the sub-problems by solving them </a:t>
            </a:r>
            <a:r>
              <a:rPr lang="en-US" altLang="en-US" dirty="0">
                <a:solidFill>
                  <a:schemeClr val="hlink"/>
                </a:solidFill>
              </a:rPr>
              <a:t>recursively</a:t>
            </a:r>
            <a:r>
              <a:rPr lang="en-US" altLang="en-US" dirty="0"/>
              <a:t>.  If they are small enough, just solve them in a straightforward manner. </a:t>
            </a:r>
          </a:p>
          <a:p>
            <a:pPr lvl="1" algn="just">
              <a:spcBef>
                <a:spcPts val="1800"/>
              </a:spcBef>
            </a:pPr>
            <a:r>
              <a:rPr lang="en-US" dirty="0"/>
              <a:t>This can be done by reducing the problem until it reaches 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base case</a:t>
            </a:r>
            <a:r>
              <a:rPr lang="en-US" dirty="0"/>
              <a:t>, which is the solution.</a:t>
            </a:r>
            <a:endParaRPr lang="en-US" altLang="en-US" dirty="0"/>
          </a:p>
          <a:p>
            <a:pPr lvl="1" algn="just">
              <a:spcBef>
                <a:spcPts val="1800"/>
              </a:spcBef>
            </a:pPr>
            <a:r>
              <a:rPr lang="en-US" altLang="en-US" b="1" i="1" dirty="0">
                <a:solidFill>
                  <a:srgbClr val="CC3300"/>
                </a:solidFill>
              </a:rPr>
              <a:t>Combine</a:t>
            </a:r>
            <a:r>
              <a:rPr lang="en-US" altLang="en-US" dirty="0"/>
              <a:t> the solutions of the sub-problems to create a solution to the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3864000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b="1" dirty="0"/>
              <a:t>Example:  Merge Sort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idx="1"/>
          </p:nvPr>
        </p:nvSpPr>
        <p:spPr>
          <a:xfrm>
            <a:off x="190079" y="1130060"/>
            <a:ext cx="8582983" cy="504690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 b="1" i="1" u="sng" dirty="0">
                <a:solidFill>
                  <a:srgbClr val="CC3300"/>
                </a:solidFill>
              </a:rPr>
              <a:t>Sorting Problem</a:t>
            </a:r>
            <a:r>
              <a:rPr lang="en-US" altLang="en-US" sz="2800" b="1" u="sng" dirty="0">
                <a:solidFill>
                  <a:srgbClr val="CC3300"/>
                </a:solidFill>
              </a:rPr>
              <a:t>:</a:t>
            </a:r>
            <a:r>
              <a:rPr lang="en-US" altLang="en-US" sz="2800" dirty="0">
                <a:solidFill>
                  <a:srgbClr val="CC99FF"/>
                </a:solidFill>
              </a:rPr>
              <a:t> </a:t>
            </a:r>
            <a:r>
              <a:rPr lang="en-US" altLang="en-US" sz="2800" dirty="0"/>
              <a:t>Sort a sequence of </a:t>
            </a:r>
            <a:r>
              <a:rPr lang="en-US" altLang="en-US" sz="2800" i="1" dirty="0"/>
              <a:t>n</a:t>
            </a:r>
            <a:r>
              <a:rPr lang="en-US" altLang="en-US" sz="2800" dirty="0"/>
              <a:t> elements into non-decreasing order.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 i="1" dirty="0"/>
          </a:p>
          <a:p>
            <a:r>
              <a:rPr lang="en-US" altLang="en-US" sz="2800" b="1" i="1" dirty="0">
                <a:solidFill>
                  <a:srgbClr val="CC3300"/>
                </a:solidFill>
              </a:rPr>
              <a:t>Divide</a:t>
            </a:r>
            <a:r>
              <a:rPr lang="en-US" altLang="en-US" sz="2800" b="1" dirty="0">
                <a:solidFill>
                  <a:srgbClr val="CC3300"/>
                </a:solidFill>
              </a:rPr>
              <a:t>:</a:t>
            </a:r>
            <a:r>
              <a:rPr lang="en-US" altLang="en-US" sz="2800" dirty="0"/>
              <a:t>  Divide the </a:t>
            </a:r>
            <a:r>
              <a:rPr lang="en-US" altLang="en-US" sz="2800" i="1" dirty="0"/>
              <a:t>n</a:t>
            </a:r>
            <a:r>
              <a:rPr lang="en-US" altLang="en-US" sz="2800" dirty="0"/>
              <a:t>-element sequence to be sorted into two subsequences of </a:t>
            </a:r>
            <a:r>
              <a:rPr lang="en-US" altLang="en-US" sz="2800" i="1" dirty="0"/>
              <a:t>n/2</a:t>
            </a:r>
            <a:r>
              <a:rPr lang="en-US" altLang="en-US" sz="2800" dirty="0"/>
              <a:t> elements each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000" dirty="0"/>
          </a:p>
          <a:p>
            <a:r>
              <a:rPr lang="en-US" altLang="en-US" sz="2800" b="1" i="1" dirty="0">
                <a:solidFill>
                  <a:srgbClr val="CC3300"/>
                </a:solidFill>
              </a:rPr>
              <a:t>Conquer:</a:t>
            </a:r>
            <a:r>
              <a:rPr lang="en-US" altLang="en-US" sz="2800" dirty="0"/>
              <a:t>  Sort the two subsequences recursively using merge sort.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000" dirty="0"/>
          </a:p>
          <a:p>
            <a:r>
              <a:rPr lang="en-US" altLang="en-US" sz="2800" b="1" i="1" dirty="0">
                <a:solidFill>
                  <a:srgbClr val="CC3300"/>
                </a:solidFill>
              </a:rPr>
              <a:t>Combine</a:t>
            </a:r>
            <a:r>
              <a:rPr lang="en-US" altLang="en-US" sz="2800" b="1" dirty="0">
                <a:solidFill>
                  <a:srgbClr val="CC3300"/>
                </a:solidFill>
              </a:rPr>
              <a:t>:</a:t>
            </a:r>
            <a:r>
              <a:rPr lang="en-US" altLang="en-US" sz="2800" dirty="0">
                <a:solidFill>
                  <a:srgbClr val="CC99FF"/>
                </a:solidFill>
              </a:rPr>
              <a:t> </a:t>
            </a:r>
            <a:r>
              <a:rPr lang="en-US" altLang="en-US" sz="2800" dirty="0"/>
              <a:t> Merge the two sorted subsequences to produce the sorted answer.</a:t>
            </a:r>
          </a:p>
        </p:txBody>
      </p:sp>
    </p:spTree>
    <p:extLst>
      <p:ext uri="{BB962C8B-B14F-4D97-AF65-F5344CB8AC3E}">
        <p14:creationId xmlns:p14="http://schemas.microsoft.com/office/powerpoint/2010/main" val="237030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Merge Sort – Example </a:t>
            </a:r>
          </a:p>
        </p:txBody>
      </p:sp>
      <p:sp>
        <p:nvSpPr>
          <p:cNvPr id="9220" name="Text Box 23"/>
          <p:cNvSpPr txBox="1">
            <a:spLocks noChangeArrowheads="1"/>
          </p:cNvSpPr>
          <p:nvPr/>
        </p:nvSpPr>
        <p:spPr bwMode="auto">
          <a:xfrm>
            <a:off x="2320925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21" name="Text Box 24"/>
          <p:cNvSpPr txBox="1">
            <a:spLocks noChangeArrowheads="1"/>
          </p:cNvSpPr>
          <p:nvPr/>
        </p:nvSpPr>
        <p:spPr bwMode="auto">
          <a:xfrm>
            <a:off x="2887663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9222" name="Text Box 25"/>
          <p:cNvSpPr txBox="1">
            <a:spLocks noChangeArrowheads="1"/>
          </p:cNvSpPr>
          <p:nvPr/>
        </p:nvSpPr>
        <p:spPr bwMode="auto">
          <a:xfrm>
            <a:off x="3455988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9223" name="Text Box 26"/>
          <p:cNvSpPr txBox="1">
            <a:spLocks noChangeArrowheads="1"/>
          </p:cNvSpPr>
          <p:nvPr/>
        </p:nvSpPr>
        <p:spPr bwMode="auto">
          <a:xfrm>
            <a:off x="4022725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9224" name="Text Box 27"/>
          <p:cNvSpPr txBox="1">
            <a:spLocks noChangeArrowheads="1"/>
          </p:cNvSpPr>
          <p:nvPr/>
        </p:nvSpPr>
        <p:spPr bwMode="auto">
          <a:xfrm>
            <a:off x="4591050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22</a:t>
            </a:r>
          </a:p>
        </p:txBody>
      </p:sp>
      <p:sp>
        <p:nvSpPr>
          <p:cNvPr id="9225" name="Text Box 28"/>
          <p:cNvSpPr txBox="1">
            <a:spLocks noChangeArrowheads="1"/>
          </p:cNvSpPr>
          <p:nvPr/>
        </p:nvSpPr>
        <p:spPr bwMode="auto">
          <a:xfrm>
            <a:off x="5157788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226" name="Text Box 29"/>
          <p:cNvSpPr txBox="1">
            <a:spLocks noChangeArrowheads="1"/>
          </p:cNvSpPr>
          <p:nvPr/>
        </p:nvSpPr>
        <p:spPr bwMode="auto">
          <a:xfrm>
            <a:off x="5726113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19</a:t>
            </a:r>
          </a:p>
        </p:txBody>
      </p:sp>
      <p:sp>
        <p:nvSpPr>
          <p:cNvPr id="9227" name="Text Box 30"/>
          <p:cNvSpPr txBox="1">
            <a:spLocks noChangeArrowheads="1"/>
          </p:cNvSpPr>
          <p:nvPr/>
        </p:nvSpPr>
        <p:spPr bwMode="auto">
          <a:xfrm>
            <a:off x="6292850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55</a:t>
            </a:r>
          </a:p>
        </p:txBody>
      </p:sp>
      <p:sp>
        <p:nvSpPr>
          <p:cNvPr id="9228" name="Text Box 31"/>
          <p:cNvSpPr txBox="1">
            <a:spLocks noChangeArrowheads="1"/>
          </p:cNvSpPr>
          <p:nvPr/>
        </p:nvSpPr>
        <p:spPr bwMode="auto">
          <a:xfrm>
            <a:off x="6861175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37</a:t>
            </a:r>
          </a:p>
        </p:txBody>
      </p:sp>
      <p:sp>
        <p:nvSpPr>
          <p:cNvPr id="9229" name="Text Box 32"/>
          <p:cNvSpPr txBox="1">
            <a:spLocks noChangeArrowheads="1"/>
          </p:cNvSpPr>
          <p:nvPr/>
        </p:nvSpPr>
        <p:spPr bwMode="auto">
          <a:xfrm>
            <a:off x="7427913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30" name="Text Box 33"/>
          <p:cNvSpPr txBox="1">
            <a:spLocks noChangeArrowheads="1"/>
          </p:cNvSpPr>
          <p:nvPr/>
        </p:nvSpPr>
        <p:spPr bwMode="auto">
          <a:xfrm>
            <a:off x="7996238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99</a:t>
            </a:r>
          </a:p>
        </p:txBody>
      </p:sp>
      <p:sp>
        <p:nvSpPr>
          <p:cNvPr id="9231" name="Text Box 34"/>
          <p:cNvSpPr txBox="1">
            <a:spLocks noChangeArrowheads="1"/>
          </p:cNvSpPr>
          <p:nvPr/>
        </p:nvSpPr>
        <p:spPr bwMode="auto">
          <a:xfrm>
            <a:off x="8564563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2 </a:t>
            </a:r>
          </a:p>
        </p:txBody>
      </p:sp>
      <p:sp>
        <p:nvSpPr>
          <p:cNvPr id="9232" name="Text Box 35"/>
          <p:cNvSpPr txBox="1">
            <a:spLocks noChangeArrowheads="1"/>
          </p:cNvSpPr>
          <p:nvPr/>
        </p:nvSpPr>
        <p:spPr bwMode="auto">
          <a:xfrm>
            <a:off x="4714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9233" name="Text Box 36"/>
          <p:cNvSpPr txBox="1">
            <a:spLocks noChangeArrowheads="1"/>
          </p:cNvSpPr>
          <p:nvPr/>
        </p:nvSpPr>
        <p:spPr bwMode="auto">
          <a:xfrm>
            <a:off x="99853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234" name="Text Box 37"/>
          <p:cNvSpPr txBox="1">
            <a:spLocks noChangeArrowheads="1"/>
          </p:cNvSpPr>
          <p:nvPr/>
        </p:nvSpPr>
        <p:spPr bwMode="auto">
          <a:xfrm>
            <a:off x="15255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9235" name="Text Box 38"/>
          <p:cNvSpPr txBox="1">
            <a:spLocks noChangeArrowheads="1"/>
          </p:cNvSpPr>
          <p:nvPr/>
        </p:nvSpPr>
        <p:spPr bwMode="auto">
          <a:xfrm>
            <a:off x="205263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9236" name="Text Box 39"/>
          <p:cNvSpPr txBox="1">
            <a:spLocks noChangeArrowheads="1"/>
          </p:cNvSpPr>
          <p:nvPr/>
        </p:nvSpPr>
        <p:spPr bwMode="auto">
          <a:xfrm>
            <a:off x="25796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37" name="Text Box 40"/>
          <p:cNvSpPr txBox="1">
            <a:spLocks noChangeArrowheads="1"/>
          </p:cNvSpPr>
          <p:nvPr/>
        </p:nvSpPr>
        <p:spPr bwMode="auto">
          <a:xfrm>
            <a:off x="310673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9238" name="Text Box 41"/>
          <p:cNvSpPr txBox="1">
            <a:spLocks noChangeArrowheads="1"/>
          </p:cNvSpPr>
          <p:nvPr/>
        </p:nvSpPr>
        <p:spPr bwMode="auto">
          <a:xfrm>
            <a:off x="36337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9239" name="Text Box 42"/>
          <p:cNvSpPr txBox="1">
            <a:spLocks noChangeArrowheads="1"/>
          </p:cNvSpPr>
          <p:nvPr/>
        </p:nvSpPr>
        <p:spPr bwMode="auto">
          <a:xfrm>
            <a:off x="416083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9240" name="Text Box 43"/>
          <p:cNvSpPr txBox="1">
            <a:spLocks noChangeArrowheads="1"/>
          </p:cNvSpPr>
          <p:nvPr/>
        </p:nvSpPr>
        <p:spPr bwMode="auto">
          <a:xfrm>
            <a:off x="46878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22</a:t>
            </a:r>
          </a:p>
        </p:txBody>
      </p:sp>
      <p:sp>
        <p:nvSpPr>
          <p:cNvPr id="9241" name="Text Box 44"/>
          <p:cNvSpPr txBox="1">
            <a:spLocks noChangeArrowheads="1"/>
          </p:cNvSpPr>
          <p:nvPr/>
        </p:nvSpPr>
        <p:spPr bwMode="auto">
          <a:xfrm>
            <a:off x="521493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242" name="Text Box 45"/>
          <p:cNvSpPr txBox="1">
            <a:spLocks noChangeArrowheads="1"/>
          </p:cNvSpPr>
          <p:nvPr/>
        </p:nvSpPr>
        <p:spPr bwMode="auto">
          <a:xfrm>
            <a:off x="57419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19</a:t>
            </a:r>
          </a:p>
        </p:txBody>
      </p:sp>
      <p:sp>
        <p:nvSpPr>
          <p:cNvPr id="9243" name="Text Box 46"/>
          <p:cNvSpPr txBox="1">
            <a:spLocks noChangeArrowheads="1"/>
          </p:cNvSpPr>
          <p:nvPr/>
        </p:nvSpPr>
        <p:spPr bwMode="auto">
          <a:xfrm>
            <a:off x="626903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55</a:t>
            </a:r>
          </a:p>
        </p:txBody>
      </p:sp>
      <p:sp>
        <p:nvSpPr>
          <p:cNvPr id="9244" name="Text Box 47"/>
          <p:cNvSpPr txBox="1">
            <a:spLocks noChangeArrowheads="1"/>
          </p:cNvSpPr>
          <p:nvPr/>
        </p:nvSpPr>
        <p:spPr bwMode="auto">
          <a:xfrm>
            <a:off x="67960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37</a:t>
            </a:r>
          </a:p>
        </p:txBody>
      </p:sp>
      <p:sp>
        <p:nvSpPr>
          <p:cNvPr id="9245" name="Text Box 48"/>
          <p:cNvSpPr txBox="1">
            <a:spLocks noChangeArrowheads="1"/>
          </p:cNvSpPr>
          <p:nvPr/>
        </p:nvSpPr>
        <p:spPr bwMode="auto">
          <a:xfrm>
            <a:off x="732313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46" name="Text Box 49"/>
          <p:cNvSpPr txBox="1">
            <a:spLocks noChangeArrowheads="1"/>
          </p:cNvSpPr>
          <p:nvPr/>
        </p:nvSpPr>
        <p:spPr bwMode="auto">
          <a:xfrm>
            <a:off x="7850188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99</a:t>
            </a:r>
          </a:p>
        </p:txBody>
      </p:sp>
      <p:sp>
        <p:nvSpPr>
          <p:cNvPr id="9247" name="Text Box 50"/>
          <p:cNvSpPr txBox="1">
            <a:spLocks noChangeArrowheads="1"/>
          </p:cNvSpPr>
          <p:nvPr/>
        </p:nvSpPr>
        <p:spPr bwMode="auto">
          <a:xfrm>
            <a:off x="8378825" y="11763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2 </a:t>
            </a:r>
          </a:p>
        </p:txBody>
      </p:sp>
      <p:sp>
        <p:nvSpPr>
          <p:cNvPr id="9248" name="Text Box 51"/>
          <p:cNvSpPr txBox="1">
            <a:spLocks noChangeArrowheads="1"/>
          </p:cNvSpPr>
          <p:nvPr/>
        </p:nvSpPr>
        <p:spPr bwMode="auto">
          <a:xfrm>
            <a:off x="30162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9249" name="Text Box 52"/>
          <p:cNvSpPr txBox="1">
            <a:spLocks noChangeArrowheads="1"/>
          </p:cNvSpPr>
          <p:nvPr/>
        </p:nvSpPr>
        <p:spPr bwMode="auto">
          <a:xfrm>
            <a:off x="82867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250" name="Text Box 53"/>
          <p:cNvSpPr txBox="1">
            <a:spLocks noChangeArrowheads="1"/>
          </p:cNvSpPr>
          <p:nvPr/>
        </p:nvSpPr>
        <p:spPr bwMode="auto">
          <a:xfrm>
            <a:off x="135572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9251" name="Text Box 54"/>
          <p:cNvSpPr txBox="1">
            <a:spLocks noChangeArrowheads="1"/>
          </p:cNvSpPr>
          <p:nvPr/>
        </p:nvSpPr>
        <p:spPr bwMode="auto">
          <a:xfrm>
            <a:off x="188277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9252" name="Text Box 55"/>
          <p:cNvSpPr txBox="1">
            <a:spLocks noChangeArrowheads="1"/>
          </p:cNvSpPr>
          <p:nvPr/>
        </p:nvSpPr>
        <p:spPr bwMode="auto">
          <a:xfrm>
            <a:off x="240982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53" name="Text Box 56"/>
          <p:cNvSpPr txBox="1">
            <a:spLocks noChangeArrowheads="1"/>
          </p:cNvSpPr>
          <p:nvPr/>
        </p:nvSpPr>
        <p:spPr bwMode="auto">
          <a:xfrm>
            <a:off x="293687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9254" name="Text Box 57"/>
          <p:cNvSpPr txBox="1">
            <a:spLocks noChangeArrowheads="1"/>
          </p:cNvSpPr>
          <p:nvPr/>
        </p:nvSpPr>
        <p:spPr bwMode="auto">
          <a:xfrm>
            <a:off x="346392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9255" name="Text Box 58"/>
          <p:cNvSpPr txBox="1">
            <a:spLocks noChangeArrowheads="1"/>
          </p:cNvSpPr>
          <p:nvPr/>
        </p:nvSpPr>
        <p:spPr bwMode="auto">
          <a:xfrm>
            <a:off x="3990975" y="25479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9256" name="Text Box 59"/>
          <p:cNvSpPr txBox="1">
            <a:spLocks noChangeArrowheads="1"/>
          </p:cNvSpPr>
          <p:nvPr/>
        </p:nvSpPr>
        <p:spPr bwMode="auto">
          <a:xfrm>
            <a:off x="4602163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22</a:t>
            </a:r>
          </a:p>
        </p:txBody>
      </p:sp>
      <p:sp>
        <p:nvSpPr>
          <p:cNvPr id="9257" name="Text Box 60"/>
          <p:cNvSpPr txBox="1">
            <a:spLocks noChangeArrowheads="1"/>
          </p:cNvSpPr>
          <p:nvPr/>
        </p:nvSpPr>
        <p:spPr bwMode="auto">
          <a:xfrm>
            <a:off x="5129213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258" name="Text Box 61"/>
          <p:cNvSpPr txBox="1">
            <a:spLocks noChangeArrowheads="1"/>
          </p:cNvSpPr>
          <p:nvPr/>
        </p:nvSpPr>
        <p:spPr bwMode="auto">
          <a:xfrm>
            <a:off x="5656263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19</a:t>
            </a:r>
          </a:p>
        </p:txBody>
      </p:sp>
      <p:sp>
        <p:nvSpPr>
          <p:cNvPr id="9259" name="Text Box 62"/>
          <p:cNvSpPr txBox="1">
            <a:spLocks noChangeArrowheads="1"/>
          </p:cNvSpPr>
          <p:nvPr/>
        </p:nvSpPr>
        <p:spPr bwMode="auto">
          <a:xfrm>
            <a:off x="6183313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55</a:t>
            </a:r>
          </a:p>
        </p:txBody>
      </p:sp>
      <p:sp>
        <p:nvSpPr>
          <p:cNvPr id="9260" name="Text Box 63"/>
          <p:cNvSpPr txBox="1">
            <a:spLocks noChangeArrowheads="1"/>
          </p:cNvSpPr>
          <p:nvPr/>
        </p:nvSpPr>
        <p:spPr bwMode="auto">
          <a:xfrm>
            <a:off x="6710363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37</a:t>
            </a:r>
          </a:p>
        </p:txBody>
      </p:sp>
      <p:sp>
        <p:nvSpPr>
          <p:cNvPr id="9261" name="Text Box 64"/>
          <p:cNvSpPr txBox="1">
            <a:spLocks noChangeArrowheads="1"/>
          </p:cNvSpPr>
          <p:nvPr/>
        </p:nvSpPr>
        <p:spPr bwMode="auto">
          <a:xfrm>
            <a:off x="7237413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62" name="Text Box 65"/>
          <p:cNvSpPr txBox="1">
            <a:spLocks noChangeArrowheads="1"/>
          </p:cNvSpPr>
          <p:nvPr/>
        </p:nvSpPr>
        <p:spPr bwMode="auto">
          <a:xfrm>
            <a:off x="7764463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99</a:t>
            </a:r>
          </a:p>
        </p:txBody>
      </p:sp>
      <p:sp>
        <p:nvSpPr>
          <p:cNvPr id="9263" name="Text Box 66"/>
          <p:cNvSpPr txBox="1">
            <a:spLocks noChangeArrowheads="1"/>
          </p:cNvSpPr>
          <p:nvPr/>
        </p:nvSpPr>
        <p:spPr bwMode="auto">
          <a:xfrm>
            <a:off x="8293100" y="25352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2 </a:t>
            </a:r>
          </a:p>
        </p:txBody>
      </p:sp>
      <p:sp>
        <p:nvSpPr>
          <p:cNvPr id="9264" name="Line 67"/>
          <p:cNvSpPr>
            <a:spLocks noChangeShapeType="1"/>
          </p:cNvSpPr>
          <p:nvPr/>
        </p:nvSpPr>
        <p:spPr bwMode="auto">
          <a:xfrm flipH="1">
            <a:off x="2582863" y="1655763"/>
            <a:ext cx="2087562" cy="852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5" name="Line 68"/>
          <p:cNvSpPr>
            <a:spLocks noChangeShapeType="1"/>
          </p:cNvSpPr>
          <p:nvPr/>
        </p:nvSpPr>
        <p:spPr bwMode="auto">
          <a:xfrm>
            <a:off x="4657725" y="1655763"/>
            <a:ext cx="2027238" cy="877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6" name="Line 87"/>
          <p:cNvSpPr>
            <a:spLocks noChangeShapeType="1"/>
          </p:cNvSpPr>
          <p:nvPr/>
        </p:nvSpPr>
        <p:spPr bwMode="auto">
          <a:xfrm>
            <a:off x="4535488" y="251936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7" name="Line 89"/>
          <p:cNvSpPr>
            <a:spLocks noChangeShapeType="1"/>
          </p:cNvSpPr>
          <p:nvPr/>
        </p:nvSpPr>
        <p:spPr bwMode="auto">
          <a:xfrm>
            <a:off x="4540250" y="361156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8" name="Line 99"/>
          <p:cNvSpPr>
            <a:spLocks noChangeShapeType="1"/>
          </p:cNvSpPr>
          <p:nvPr/>
        </p:nvSpPr>
        <p:spPr bwMode="auto">
          <a:xfrm>
            <a:off x="2282825" y="4764088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9" name="Text Box 69"/>
          <p:cNvSpPr txBox="1">
            <a:spLocks noChangeArrowheads="1"/>
          </p:cNvSpPr>
          <p:nvPr/>
        </p:nvSpPr>
        <p:spPr bwMode="auto">
          <a:xfrm>
            <a:off x="166688" y="36496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9270" name="Text Box 70"/>
          <p:cNvSpPr txBox="1">
            <a:spLocks noChangeArrowheads="1"/>
          </p:cNvSpPr>
          <p:nvPr/>
        </p:nvSpPr>
        <p:spPr bwMode="auto">
          <a:xfrm>
            <a:off x="693738" y="36496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271" name="Text Box 71"/>
          <p:cNvSpPr txBox="1">
            <a:spLocks noChangeArrowheads="1"/>
          </p:cNvSpPr>
          <p:nvPr/>
        </p:nvSpPr>
        <p:spPr bwMode="auto">
          <a:xfrm>
            <a:off x="1220788" y="36496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9272" name="Text Box 72"/>
          <p:cNvSpPr txBox="1">
            <a:spLocks noChangeArrowheads="1"/>
          </p:cNvSpPr>
          <p:nvPr/>
        </p:nvSpPr>
        <p:spPr bwMode="auto">
          <a:xfrm>
            <a:off x="1747838" y="36496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9273" name="Text Box 73"/>
          <p:cNvSpPr txBox="1">
            <a:spLocks noChangeArrowheads="1"/>
          </p:cNvSpPr>
          <p:nvPr/>
        </p:nvSpPr>
        <p:spPr bwMode="auto">
          <a:xfrm>
            <a:off x="2363788" y="36385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74" name="Text Box 74"/>
          <p:cNvSpPr txBox="1">
            <a:spLocks noChangeArrowheads="1"/>
          </p:cNvSpPr>
          <p:nvPr/>
        </p:nvSpPr>
        <p:spPr bwMode="auto">
          <a:xfrm>
            <a:off x="2890838" y="36385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9275" name="Text Box 75"/>
          <p:cNvSpPr txBox="1">
            <a:spLocks noChangeArrowheads="1"/>
          </p:cNvSpPr>
          <p:nvPr/>
        </p:nvSpPr>
        <p:spPr bwMode="auto">
          <a:xfrm>
            <a:off x="3417888" y="36385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9276" name="Text Box 76"/>
          <p:cNvSpPr txBox="1">
            <a:spLocks noChangeArrowheads="1"/>
          </p:cNvSpPr>
          <p:nvPr/>
        </p:nvSpPr>
        <p:spPr bwMode="auto">
          <a:xfrm>
            <a:off x="3944938" y="36385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9277" name="Line 88"/>
          <p:cNvSpPr>
            <a:spLocks noChangeShapeType="1"/>
          </p:cNvSpPr>
          <p:nvPr/>
        </p:nvSpPr>
        <p:spPr bwMode="auto">
          <a:xfrm>
            <a:off x="2316163" y="3659188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78" name="Line 114"/>
          <p:cNvSpPr>
            <a:spLocks noChangeShapeType="1"/>
          </p:cNvSpPr>
          <p:nvPr/>
        </p:nvSpPr>
        <p:spPr bwMode="auto">
          <a:xfrm flipH="1">
            <a:off x="1198563" y="3027363"/>
            <a:ext cx="1173162" cy="593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79" name="Line 115"/>
          <p:cNvSpPr>
            <a:spLocks noChangeShapeType="1"/>
          </p:cNvSpPr>
          <p:nvPr/>
        </p:nvSpPr>
        <p:spPr bwMode="auto">
          <a:xfrm>
            <a:off x="2360613" y="3052763"/>
            <a:ext cx="1038225" cy="555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80" name="Text Box 77"/>
          <p:cNvSpPr txBox="1">
            <a:spLocks noChangeArrowheads="1"/>
          </p:cNvSpPr>
          <p:nvPr/>
        </p:nvSpPr>
        <p:spPr bwMode="auto">
          <a:xfrm>
            <a:off x="4632325" y="36258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22</a:t>
            </a:r>
          </a:p>
        </p:txBody>
      </p:sp>
      <p:sp>
        <p:nvSpPr>
          <p:cNvPr id="9281" name="Text Box 78"/>
          <p:cNvSpPr txBox="1">
            <a:spLocks noChangeArrowheads="1"/>
          </p:cNvSpPr>
          <p:nvPr/>
        </p:nvSpPr>
        <p:spPr bwMode="auto">
          <a:xfrm>
            <a:off x="5159375" y="36258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282" name="Text Box 79"/>
          <p:cNvSpPr txBox="1">
            <a:spLocks noChangeArrowheads="1"/>
          </p:cNvSpPr>
          <p:nvPr/>
        </p:nvSpPr>
        <p:spPr bwMode="auto">
          <a:xfrm>
            <a:off x="5686425" y="36258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19</a:t>
            </a:r>
          </a:p>
        </p:txBody>
      </p:sp>
      <p:sp>
        <p:nvSpPr>
          <p:cNvPr id="9283" name="Text Box 80"/>
          <p:cNvSpPr txBox="1">
            <a:spLocks noChangeArrowheads="1"/>
          </p:cNvSpPr>
          <p:nvPr/>
        </p:nvSpPr>
        <p:spPr bwMode="auto">
          <a:xfrm>
            <a:off x="6213475" y="36258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55</a:t>
            </a:r>
          </a:p>
        </p:txBody>
      </p:sp>
      <p:sp>
        <p:nvSpPr>
          <p:cNvPr id="9284" name="Text Box 81"/>
          <p:cNvSpPr txBox="1">
            <a:spLocks noChangeArrowheads="1"/>
          </p:cNvSpPr>
          <p:nvPr/>
        </p:nvSpPr>
        <p:spPr bwMode="auto">
          <a:xfrm>
            <a:off x="6853238" y="36020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37</a:t>
            </a:r>
          </a:p>
        </p:txBody>
      </p:sp>
      <p:sp>
        <p:nvSpPr>
          <p:cNvPr id="9285" name="Text Box 82"/>
          <p:cNvSpPr txBox="1">
            <a:spLocks noChangeArrowheads="1"/>
          </p:cNvSpPr>
          <p:nvPr/>
        </p:nvSpPr>
        <p:spPr bwMode="auto">
          <a:xfrm>
            <a:off x="7380288" y="36020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86" name="Text Box 83"/>
          <p:cNvSpPr txBox="1">
            <a:spLocks noChangeArrowheads="1"/>
          </p:cNvSpPr>
          <p:nvPr/>
        </p:nvSpPr>
        <p:spPr bwMode="auto">
          <a:xfrm>
            <a:off x="7907338" y="36020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99</a:t>
            </a:r>
          </a:p>
        </p:txBody>
      </p:sp>
      <p:sp>
        <p:nvSpPr>
          <p:cNvPr id="9287" name="Text Box 84"/>
          <p:cNvSpPr txBox="1">
            <a:spLocks noChangeArrowheads="1"/>
          </p:cNvSpPr>
          <p:nvPr/>
        </p:nvSpPr>
        <p:spPr bwMode="auto">
          <a:xfrm>
            <a:off x="8435975" y="3602038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2 </a:t>
            </a:r>
          </a:p>
        </p:txBody>
      </p:sp>
      <p:sp>
        <p:nvSpPr>
          <p:cNvPr id="9288" name="Line 90"/>
          <p:cNvSpPr>
            <a:spLocks noChangeShapeType="1"/>
          </p:cNvSpPr>
          <p:nvPr/>
        </p:nvSpPr>
        <p:spPr bwMode="auto">
          <a:xfrm>
            <a:off x="6789738" y="359886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89" name="Line 116"/>
          <p:cNvSpPr>
            <a:spLocks noChangeShapeType="1"/>
          </p:cNvSpPr>
          <p:nvPr/>
        </p:nvSpPr>
        <p:spPr bwMode="auto">
          <a:xfrm flipH="1">
            <a:off x="5684838" y="3001963"/>
            <a:ext cx="1025525" cy="606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0" name="Line 117"/>
          <p:cNvSpPr>
            <a:spLocks noChangeShapeType="1"/>
          </p:cNvSpPr>
          <p:nvPr/>
        </p:nvSpPr>
        <p:spPr bwMode="auto">
          <a:xfrm>
            <a:off x="6721475" y="3001963"/>
            <a:ext cx="1211263" cy="581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91" name="Group 161"/>
          <p:cNvGrpSpPr>
            <a:grpSpLocks/>
          </p:cNvGrpSpPr>
          <p:nvPr/>
        </p:nvGrpSpPr>
        <p:grpSpPr bwMode="auto">
          <a:xfrm>
            <a:off x="96838" y="4140200"/>
            <a:ext cx="2152650" cy="1098550"/>
            <a:chOff x="61" y="2608"/>
            <a:chExt cx="1356" cy="692"/>
          </a:xfrm>
        </p:grpSpPr>
        <p:sp>
          <p:nvSpPr>
            <p:cNvPr id="9351" name="Text Box 91"/>
            <p:cNvSpPr txBox="1">
              <a:spLocks noChangeArrowheads="1"/>
            </p:cNvSpPr>
            <p:nvPr/>
          </p:nvSpPr>
          <p:spPr bwMode="auto">
            <a:xfrm>
              <a:off x="61" y="2979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9352" name="Text Box 92"/>
            <p:cNvSpPr txBox="1">
              <a:spLocks noChangeArrowheads="1"/>
            </p:cNvSpPr>
            <p:nvPr/>
          </p:nvSpPr>
          <p:spPr bwMode="auto">
            <a:xfrm>
              <a:off x="393" y="2979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9353" name="Text Box 93"/>
            <p:cNvSpPr txBox="1">
              <a:spLocks noChangeArrowheads="1"/>
            </p:cNvSpPr>
            <p:nvPr/>
          </p:nvSpPr>
          <p:spPr bwMode="auto">
            <a:xfrm>
              <a:off x="765" y="2979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9354" name="Text Box 94"/>
            <p:cNvSpPr txBox="1">
              <a:spLocks noChangeArrowheads="1"/>
            </p:cNvSpPr>
            <p:nvPr/>
          </p:nvSpPr>
          <p:spPr bwMode="auto">
            <a:xfrm>
              <a:off x="1097" y="2979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9355" name="Line 109"/>
            <p:cNvSpPr>
              <a:spLocks noChangeShapeType="1"/>
            </p:cNvSpPr>
            <p:nvPr/>
          </p:nvSpPr>
          <p:spPr bwMode="auto">
            <a:xfrm>
              <a:off x="725" y="2972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56" name="Line 118"/>
            <p:cNvSpPr>
              <a:spLocks noChangeShapeType="1"/>
            </p:cNvSpPr>
            <p:nvPr/>
          </p:nvSpPr>
          <p:spPr bwMode="auto">
            <a:xfrm flipH="1">
              <a:off x="374" y="2608"/>
              <a:ext cx="373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57" name="Line 119"/>
            <p:cNvSpPr>
              <a:spLocks noChangeShapeType="1"/>
            </p:cNvSpPr>
            <p:nvPr/>
          </p:nvSpPr>
          <p:spPr bwMode="auto">
            <a:xfrm>
              <a:off x="739" y="2608"/>
              <a:ext cx="374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92" name="Line 120"/>
          <p:cNvSpPr>
            <a:spLocks noChangeShapeType="1"/>
          </p:cNvSpPr>
          <p:nvPr/>
        </p:nvSpPr>
        <p:spPr bwMode="auto">
          <a:xfrm flipH="1">
            <a:off x="2854325" y="4114800"/>
            <a:ext cx="555625" cy="593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3" name="Text Box 95"/>
          <p:cNvSpPr txBox="1">
            <a:spLocks noChangeArrowheads="1"/>
          </p:cNvSpPr>
          <p:nvPr/>
        </p:nvSpPr>
        <p:spPr bwMode="auto">
          <a:xfrm>
            <a:off x="2330450" y="47307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294" name="Text Box 96"/>
          <p:cNvSpPr txBox="1">
            <a:spLocks noChangeArrowheads="1"/>
          </p:cNvSpPr>
          <p:nvPr/>
        </p:nvSpPr>
        <p:spPr bwMode="auto">
          <a:xfrm>
            <a:off x="2857500" y="47307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9295" name="Text Box 97"/>
          <p:cNvSpPr txBox="1">
            <a:spLocks noChangeArrowheads="1"/>
          </p:cNvSpPr>
          <p:nvPr/>
        </p:nvSpPr>
        <p:spPr bwMode="auto">
          <a:xfrm>
            <a:off x="3433763" y="47307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9296" name="Text Box 98"/>
          <p:cNvSpPr txBox="1">
            <a:spLocks noChangeArrowheads="1"/>
          </p:cNvSpPr>
          <p:nvPr/>
        </p:nvSpPr>
        <p:spPr bwMode="auto">
          <a:xfrm>
            <a:off x="3960813" y="47307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9297" name="Line 100"/>
          <p:cNvSpPr>
            <a:spLocks noChangeShapeType="1"/>
          </p:cNvSpPr>
          <p:nvPr/>
        </p:nvSpPr>
        <p:spPr bwMode="auto">
          <a:xfrm>
            <a:off x="3382963" y="471646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8" name="Line 121"/>
          <p:cNvSpPr>
            <a:spLocks noChangeShapeType="1"/>
          </p:cNvSpPr>
          <p:nvPr/>
        </p:nvSpPr>
        <p:spPr bwMode="auto">
          <a:xfrm>
            <a:off x="3422650" y="4140200"/>
            <a:ext cx="568325" cy="5794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9" name="Text Box 101"/>
          <p:cNvSpPr txBox="1">
            <a:spLocks noChangeArrowheads="1"/>
          </p:cNvSpPr>
          <p:nvPr/>
        </p:nvSpPr>
        <p:spPr bwMode="auto">
          <a:xfrm>
            <a:off x="4584700" y="47291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22</a:t>
            </a:r>
          </a:p>
        </p:txBody>
      </p:sp>
      <p:sp>
        <p:nvSpPr>
          <p:cNvPr id="9300" name="Text Box 102"/>
          <p:cNvSpPr txBox="1">
            <a:spLocks noChangeArrowheads="1"/>
          </p:cNvSpPr>
          <p:nvPr/>
        </p:nvSpPr>
        <p:spPr bwMode="auto">
          <a:xfrm>
            <a:off x="5111750" y="47291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9301" name="Text Box 103"/>
          <p:cNvSpPr txBox="1">
            <a:spLocks noChangeArrowheads="1"/>
          </p:cNvSpPr>
          <p:nvPr/>
        </p:nvSpPr>
        <p:spPr bwMode="auto">
          <a:xfrm>
            <a:off x="5702300" y="47291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19</a:t>
            </a:r>
          </a:p>
        </p:txBody>
      </p:sp>
      <p:sp>
        <p:nvSpPr>
          <p:cNvPr id="9302" name="Text Box 104"/>
          <p:cNvSpPr txBox="1">
            <a:spLocks noChangeArrowheads="1"/>
          </p:cNvSpPr>
          <p:nvPr/>
        </p:nvSpPr>
        <p:spPr bwMode="auto">
          <a:xfrm>
            <a:off x="6229350" y="472916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55</a:t>
            </a:r>
          </a:p>
        </p:txBody>
      </p:sp>
      <p:sp>
        <p:nvSpPr>
          <p:cNvPr id="9303" name="Line 110"/>
          <p:cNvSpPr>
            <a:spLocks noChangeShapeType="1"/>
          </p:cNvSpPr>
          <p:nvPr/>
        </p:nvSpPr>
        <p:spPr bwMode="auto">
          <a:xfrm>
            <a:off x="4527550" y="4733925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4" name="Line 111"/>
          <p:cNvSpPr>
            <a:spLocks noChangeShapeType="1"/>
          </p:cNvSpPr>
          <p:nvPr/>
        </p:nvSpPr>
        <p:spPr bwMode="auto">
          <a:xfrm>
            <a:off x="5643563" y="4725988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5" name="Line 112"/>
          <p:cNvSpPr>
            <a:spLocks noChangeShapeType="1"/>
          </p:cNvSpPr>
          <p:nvPr/>
        </p:nvSpPr>
        <p:spPr bwMode="auto">
          <a:xfrm>
            <a:off x="6772275" y="4705350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6" name="Line 122"/>
          <p:cNvSpPr>
            <a:spLocks noChangeShapeType="1"/>
          </p:cNvSpPr>
          <p:nvPr/>
        </p:nvSpPr>
        <p:spPr bwMode="auto">
          <a:xfrm flipH="1">
            <a:off x="5091113" y="4114800"/>
            <a:ext cx="593725" cy="6048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7" name="Line 123"/>
          <p:cNvSpPr>
            <a:spLocks noChangeShapeType="1"/>
          </p:cNvSpPr>
          <p:nvPr/>
        </p:nvSpPr>
        <p:spPr bwMode="auto">
          <a:xfrm>
            <a:off x="5684838" y="4102100"/>
            <a:ext cx="530225" cy="606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8" name="Text Box 105"/>
          <p:cNvSpPr txBox="1">
            <a:spLocks noChangeArrowheads="1"/>
          </p:cNvSpPr>
          <p:nvPr/>
        </p:nvSpPr>
        <p:spPr bwMode="auto">
          <a:xfrm>
            <a:off x="6819900" y="47180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37</a:t>
            </a:r>
          </a:p>
        </p:txBody>
      </p:sp>
      <p:sp>
        <p:nvSpPr>
          <p:cNvPr id="9309" name="Text Box 106"/>
          <p:cNvSpPr txBox="1">
            <a:spLocks noChangeArrowheads="1"/>
          </p:cNvSpPr>
          <p:nvPr/>
        </p:nvSpPr>
        <p:spPr bwMode="auto">
          <a:xfrm>
            <a:off x="7346950" y="47180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9310" name="Text Box 107"/>
          <p:cNvSpPr txBox="1">
            <a:spLocks noChangeArrowheads="1"/>
          </p:cNvSpPr>
          <p:nvPr/>
        </p:nvSpPr>
        <p:spPr bwMode="auto">
          <a:xfrm>
            <a:off x="7935913" y="47180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99</a:t>
            </a:r>
          </a:p>
        </p:txBody>
      </p:sp>
      <p:sp>
        <p:nvSpPr>
          <p:cNvPr id="9311" name="Text Box 108"/>
          <p:cNvSpPr txBox="1">
            <a:spLocks noChangeArrowheads="1"/>
          </p:cNvSpPr>
          <p:nvPr/>
        </p:nvSpPr>
        <p:spPr bwMode="auto">
          <a:xfrm>
            <a:off x="8464550" y="471805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2 </a:t>
            </a:r>
          </a:p>
        </p:txBody>
      </p:sp>
      <p:sp>
        <p:nvSpPr>
          <p:cNvPr id="9312" name="Line 113"/>
          <p:cNvSpPr>
            <a:spLocks noChangeShapeType="1"/>
          </p:cNvSpPr>
          <p:nvPr/>
        </p:nvSpPr>
        <p:spPr bwMode="auto">
          <a:xfrm>
            <a:off x="7900988" y="472281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3" name="Line 124"/>
          <p:cNvSpPr>
            <a:spLocks noChangeShapeType="1"/>
          </p:cNvSpPr>
          <p:nvPr/>
        </p:nvSpPr>
        <p:spPr bwMode="auto">
          <a:xfrm flipH="1">
            <a:off x="7340600" y="4040188"/>
            <a:ext cx="555625" cy="668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4" name="Line 125"/>
          <p:cNvSpPr>
            <a:spLocks noChangeShapeType="1"/>
          </p:cNvSpPr>
          <p:nvPr/>
        </p:nvSpPr>
        <p:spPr bwMode="auto">
          <a:xfrm>
            <a:off x="7896225" y="4029075"/>
            <a:ext cx="568325" cy="690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5" name="Line 130"/>
          <p:cNvSpPr>
            <a:spLocks noChangeShapeType="1"/>
          </p:cNvSpPr>
          <p:nvPr/>
        </p:nvSpPr>
        <p:spPr bwMode="auto">
          <a:xfrm flipH="1">
            <a:off x="2557463" y="5176838"/>
            <a:ext cx="271462" cy="519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6" name="Line 131"/>
          <p:cNvSpPr>
            <a:spLocks noChangeShapeType="1"/>
          </p:cNvSpPr>
          <p:nvPr/>
        </p:nvSpPr>
        <p:spPr bwMode="auto">
          <a:xfrm>
            <a:off x="2841625" y="5214938"/>
            <a:ext cx="296863" cy="481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7" name="Line 132"/>
          <p:cNvSpPr>
            <a:spLocks noChangeShapeType="1"/>
          </p:cNvSpPr>
          <p:nvPr/>
        </p:nvSpPr>
        <p:spPr bwMode="auto">
          <a:xfrm flipH="1">
            <a:off x="3683000" y="5214938"/>
            <a:ext cx="284163" cy="469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8" name="Line 133"/>
          <p:cNvSpPr>
            <a:spLocks noChangeShapeType="1"/>
          </p:cNvSpPr>
          <p:nvPr/>
        </p:nvSpPr>
        <p:spPr bwMode="auto">
          <a:xfrm>
            <a:off x="3990975" y="5214938"/>
            <a:ext cx="296863" cy="481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9" name="Line 134"/>
          <p:cNvSpPr>
            <a:spLocks noChangeShapeType="1"/>
          </p:cNvSpPr>
          <p:nvPr/>
        </p:nvSpPr>
        <p:spPr bwMode="auto">
          <a:xfrm flipH="1">
            <a:off x="4819650" y="5176838"/>
            <a:ext cx="271463" cy="519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" name="Line 135"/>
          <p:cNvSpPr>
            <a:spLocks noChangeShapeType="1"/>
          </p:cNvSpPr>
          <p:nvPr/>
        </p:nvSpPr>
        <p:spPr bwMode="auto">
          <a:xfrm>
            <a:off x="5103813" y="5189538"/>
            <a:ext cx="307975" cy="495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1" name="Line 136"/>
          <p:cNvSpPr>
            <a:spLocks noChangeShapeType="1"/>
          </p:cNvSpPr>
          <p:nvPr/>
        </p:nvSpPr>
        <p:spPr bwMode="auto">
          <a:xfrm flipH="1">
            <a:off x="5943600" y="5214938"/>
            <a:ext cx="271463" cy="481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2" name="Line 137"/>
          <p:cNvSpPr>
            <a:spLocks noChangeShapeType="1"/>
          </p:cNvSpPr>
          <p:nvPr/>
        </p:nvSpPr>
        <p:spPr bwMode="auto">
          <a:xfrm>
            <a:off x="6240463" y="5227638"/>
            <a:ext cx="296862" cy="468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3" name="Line 138"/>
          <p:cNvSpPr>
            <a:spLocks noChangeShapeType="1"/>
          </p:cNvSpPr>
          <p:nvPr/>
        </p:nvSpPr>
        <p:spPr bwMode="auto">
          <a:xfrm flipH="1">
            <a:off x="7092950" y="5165725"/>
            <a:ext cx="258763" cy="519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4" name="Line 139"/>
          <p:cNvSpPr>
            <a:spLocks noChangeShapeType="1"/>
          </p:cNvSpPr>
          <p:nvPr/>
        </p:nvSpPr>
        <p:spPr bwMode="auto">
          <a:xfrm>
            <a:off x="7351713" y="5189538"/>
            <a:ext cx="346075" cy="493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5" name="Line 140"/>
          <p:cNvSpPr>
            <a:spLocks noChangeShapeType="1"/>
          </p:cNvSpPr>
          <p:nvPr/>
        </p:nvSpPr>
        <p:spPr bwMode="auto">
          <a:xfrm flipH="1">
            <a:off x="8193088" y="5176838"/>
            <a:ext cx="246062" cy="519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6" name="Line 141"/>
          <p:cNvSpPr>
            <a:spLocks noChangeShapeType="1"/>
          </p:cNvSpPr>
          <p:nvPr/>
        </p:nvSpPr>
        <p:spPr bwMode="auto">
          <a:xfrm>
            <a:off x="8477250" y="5153025"/>
            <a:ext cx="307975" cy="542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27" name="Group 165"/>
          <p:cNvGrpSpPr>
            <a:grpSpLocks/>
          </p:cNvGrpSpPr>
          <p:nvPr/>
        </p:nvGrpSpPr>
        <p:grpSpPr bwMode="auto">
          <a:xfrm>
            <a:off x="50800" y="5165725"/>
            <a:ext cx="1109663" cy="1052513"/>
            <a:chOff x="32" y="3254"/>
            <a:chExt cx="699" cy="663"/>
          </a:xfrm>
        </p:grpSpPr>
        <p:sp>
          <p:nvSpPr>
            <p:cNvPr id="9345" name="Text Box 5"/>
            <p:cNvSpPr txBox="1">
              <a:spLocks noChangeArrowheads="1"/>
            </p:cNvSpPr>
            <p:nvPr/>
          </p:nvSpPr>
          <p:spPr bwMode="auto">
            <a:xfrm>
              <a:off x="32" y="3586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9346" name="Text Box 6"/>
            <p:cNvSpPr txBox="1">
              <a:spLocks noChangeArrowheads="1"/>
            </p:cNvSpPr>
            <p:nvPr/>
          </p:nvSpPr>
          <p:spPr bwMode="auto">
            <a:xfrm>
              <a:off x="389" y="3586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9347" name="Line 126"/>
            <p:cNvSpPr>
              <a:spLocks noChangeShapeType="1"/>
            </p:cNvSpPr>
            <p:nvPr/>
          </p:nvSpPr>
          <p:spPr bwMode="auto">
            <a:xfrm flipH="1">
              <a:off x="163" y="3254"/>
              <a:ext cx="226" cy="3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48" name="Line 127"/>
            <p:cNvSpPr>
              <a:spLocks noChangeShapeType="1"/>
            </p:cNvSpPr>
            <p:nvPr/>
          </p:nvSpPr>
          <p:spPr bwMode="auto">
            <a:xfrm>
              <a:off x="389" y="3261"/>
              <a:ext cx="125" cy="3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49" name="Line 142"/>
            <p:cNvSpPr>
              <a:spLocks noChangeShapeType="1"/>
            </p:cNvSpPr>
            <p:nvPr/>
          </p:nvSpPr>
          <p:spPr bwMode="auto">
            <a:xfrm>
              <a:off x="362" y="3589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50" name="Line 143"/>
            <p:cNvSpPr>
              <a:spLocks noChangeShapeType="1"/>
            </p:cNvSpPr>
            <p:nvPr/>
          </p:nvSpPr>
          <p:spPr bwMode="auto">
            <a:xfrm>
              <a:off x="731" y="3584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28" name="Text Box 21"/>
          <p:cNvSpPr txBox="1">
            <a:spLocks noChangeArrowheads="1"/>
          </p:cNvSpPr>
          <p:nvPr/>
        </p:nvSpPr>
        <p:spPr bwMode="auto">
          <a:xfrm>
            <a:off x="1185863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9329" name="Text Box 22"/>
          <p:cNvSpPr txBox="1">
            <a:spLocks noChangeArrowheads="1"/>
          </p:cNvSpPr>
          <p:nvPr/>
        </p:nvSpPr>
        <p:spPr bwMode="auto">
          <a:xfrm>
            <a:off x="1752600" y="5692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9330" name="Line 128"/>
          <p:cNvSpPr>
            <a:spLocks noChangeShapeType="1"/>
          </p:cNvSpPr>
          <p:nvPr/>
        </p:nvSpPr>
        <p:spPr bwMode="auto">
          <a:xfrm flipH="1">
            <a:off x="1358900" y="5189538"/>
            <a:ext cx="358775" cy="506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1" name="Line 129"/>
          <p:cNvSpPr>
            <a:spLocks noChangeShapeType="1"/>
          </p:cNvSpPr>
          <p:nvPr/>
        </p:nvSpPr>
        <p:spPr bwMode="auto">
          <a:xfrm>
            <a:off x="1730375" y="5176838"/>
            <a:ext cx="258763" cy="50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2" name="Line 144"/>
          <p:cNvSpPr>
            <a:spLocks noChangeShapeType="1"/>
          </p:cNvSpPr>
          <p:nvPr/>
        </p:nvSpPr>
        <p:spPr bwMode="auto">
          <a:xfrm>
            <a:off x="1716088" y="5689600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3" name="Line 145"/>
          <p:cNvSpPr>
            <a:spLocks noChangeShapeType="1"/>
          </p:cNvSpPr>
          <p:nvPr/>
        </p:nvSpPr>
        <p:spPr bwMode="auto">
          <a:xfrm>
            <a:off x="2287588" y="568166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4" name="Line 146"/>
          <p:cNvSpPr>
            <a:spLocks noChangeShapeType="1"/>
          </p:cNvSpPr>
          <p:nvPr/>
        </p:nvSpPr>
        <p:spPr bwMode="auto">
          <a:xfrm>
            <a:off x="2855913" y="5680075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5" name="Line 147"/>
          <p:cNvSpPr>
            <a:spLocks noChangeShapeType="1"/>
          </p:cNvSpPr>
          <p:nvPr/>
        </p:nvSpPr>
        <p:spPr bwMode="auto">
          <a:xfrm>
            <a:off x="3440113" y="5710238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6" name="Line 148"/>
          <p:cNvSpPr>
            <a:spLocks noChangeShapeType="1"/>
          </p:cNvSpPr>
          <p:nvPr/>
        </p:nvSpPr>
        <p:spPr bwMode="auto">
          <a:xfrm>
            <a:off x="3997325" y="5708650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7" name="Line 149"/>
          <p:cNvSpPr>
            <a:spLocks noChangeShapeType="1"/>
          </p:cNvSpPr>
          <p:nvPr/>
        </p:nvSpPr>
        <p:spPr bwMode="auto">
          <a:xfrm>
            <a:off x="4557713" y="571341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8" name="Line 150"/>
          <p:cNvSpPr>
            <a:spLocks noChangeShapeType="1"/>
          </p:cNvSpPr>
          <p:nvPr/>
        </p:nvSpPr>
        <p:spPr bwMode="auto">
          <a:xfrm>
            <a:off x="5129213" y="5716588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9" name="Line 151"/>
          <p:cNvSpPr>
            <a:spLocks noChangeShapeType="1"/>
          </p:cNvSpPr>
          <p:nvPr/>
        </p:nvSpPr>
        <p:spPr bwMode="auto">
          <a:xfrm>
            <a:off x="5689600" y="5683250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40" name="Line 152"/>
          <p:cNvSpPr>
            <a:spLocks noChangeShapeType="1"/>
          </p:cNvSpPr>
          <p:nvPr/>
        </p:nvSpPr>
        <p:spPr bwMode="auto">
          <a:xfrm>
            <a:off x="6249988" y="568801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41" name="Line 153"/>
          <p:cNvSpPr>
            <a:spLocks noChangeShapeType="1"/>
          </p:cNvSpPr>
          <p:nvPr/>
        </p:nvSpPr>
        <p:spPr bwMode="auto">
          <a:xfrm>
            <a:off x="6823075" y="5692775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42" name="Line 154"/>
          <p:cNvSpPr>
            <a:spLocks noChangeShapeType="1"/>
          </p:cNvSpPr>
          <p:nvPr/>
        </p:nvSpPr>
        <p:spPr bwMode="auto">
          <a:xfrm>
            <a:off x="7407275" y="5710238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43" name="Line 155"/>
          <p:cNvSpPr>
            <a:spLocks noChangeShapeType="1"/>
          </p:cNvSpPr>
          <p:nvPr/>
        </p:nvSpPr>
        <p:spPr bwMode="auto">
          <a:xfrm>
            <a:off x="7951788" y="5697538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44" name="Line 156"/>
          <p:cNvSpPr>
            <a:spLocks noChangeShapeType="1"/>
          </p:cNvSpPr>
          <p:nvPr/>
        </p:nvSpPr>
        <p:spPr bwMode="auto">
          <a:xfrm>
            <a:off x="8524875" y="5726113"/>
            <a:ext cx="0" cy="520700"/>
          </a:xfrm>
          <a:prstGeom prst="line">
            <a:avLst/>
          </a:prstGeom>
          <a:noFill/>
          <a:ln w="57150">
            <a:solidFill>
              <a:srgbClr val="CC33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057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Merge Sort – Example </a:t>
            </a:r>
          </a:p>
        </p:txBody>
      </p:sp>
      <p:grpSp>
        <p:nvGrpSpPr>
          <p:cNvPr id="10244" name="Group 242"/>
          <p:cNvGrpSpPr>
            <a:grpSpLocks/>
          </p:cNvGrpSpPr>
          <p:nvPr/>
        </p:nvGrpSpPr>
        <p:grpSpPr bwMode="auto">
          <a:xfrm>
            <a:off x="288925" y="1322388"/>
            <a:ext cx="4197350" cy="476250"/>
            <a:chOff x="182" y="833"/>
            <a:chExt cx="2644" cy="300"/>
          </a:xfrm>
        </p:grpSpPr>
        <p:sp>
          <p:nvSpPr>
            <p:cNvPr id="10464" name="Text Box 31"/>
            <p:cNvSpPr txBox="1">
              <a:spLocks noChangeArrowheads="1"/>
            </p:cNvSpPr>
            <p:nvPr/>
          </p:nvSpPr>
          <p:spPr bwMode="auto">
            <a:xfrm>
              <a:off x="182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465" name="Text Box 32"/>
            <p:cNvSpPr txBox="1">
              <a:spLocks noChangeArrowheads="1"/>
            </p:cNvSpPr>
            <p:nvPr/>
          </p:nvSpPr>
          <p:spPr bwMode="auto">
            <a:xfrm>
              <a:off x="514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466" name="Text Box 33"/>
            <p:cNvSpPr txBox="1">
              <a:spLocks noChangeArrowheads="1"/>
            </p:cNvSpPr>
            <p:nvPr/>
          </p:nvSpPr>
          <p:spPr bwMode="auto">
            <a:xfrm>
              <a:off x="846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467" name="Text Box 34"/>
            <p:cNvSpPr txBox="1">
              <a:spLocks noChangeArrowheads="1"/>
            </p:cNvSpPr>
            <p:nvPr/>
          </p:nvSpPr>
          <p:spPr bwMode="auto">
            <a:xfrm>
              <a:off x="1178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468" name="Text Box 35"/>
            <p:cNvSpPr txBox="1">
              <a:spLocks noChangeArrowheads="1"/>
            </p:cNvSpPr>
            <p:nvPr/>
          </p:nvSpPr>
          <p:spPr bwMode="auto">
            <a:xfrm>
              <a:off x="1510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469" name="Text Box 36"/>
            <p:cNvSpPr txBox="1">
              <a:spLocks noChangeArrowheads="1"/>
            </p:cNvSpPr>
            <p:nvPr/>
          </p:nvSpPr>
          <p:spPr bwMode="auto">
            <a:xfrm>
              <a:off x="1842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470" name="Text Box 37"/>
            <p:cNvSpPr txBox="1">
              <a:spLocks noChangeArrowheads="1"/>
            </p:cNvSpPr>
            <p:nvPr/>
          </p:nvSpPr>
          <p:spPr bwMode="auto">
            <a:xfrm>
              <a:off x="2174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9 </a:t>
              </a:r>
            </a:p>
          </p:txBody>
        </p:sp>
        <p:sp>
          <p:nvSpPr>
            <p:cNvPr id="10471" name="Text Box 38"/>
            <p:cNvSpPr txBox="1">
              <a:spLocks noChangeArrowheads="1"/>
            </p:cNvSpPr>
            <p:nvPr/>
          </p:nvSpPr>
          <p:spPr bwMode="auto">
            <a:xfrm>
              <a:off x="2506" y="833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</p:grpSp>
      <p:grpSp>
        <p:nvGrpSpPr>
          <p:cNvPr id="426227" name="Group 243"/>
          <p:cNvGrpSpPr>
            <a:grpSpLocks/>
          </p:cNvGrpSpPr>
          <p:nvPr/>
        </p:nvGrpSpPr>
        <p:grpSpPr bwMode="auto">
          <a:xfrm>
            <a:off x="153988" y="1801813"/>
            <a:ext cx="2205037" cy="1098550"/>
            <a:chOff x="97" y="1135"/>
            <a:chExt cx="1389" cy="692"/>
          </a:xfrm>
        </p:grpSpPr>
        <p:sp>
          <p:nvSpPr>
            <p:cNvPr id="10459" name="Text Box 52"/>
            <p:cNvSpPr txBox="1">
              <a:spLocks noChangeArrowheads="1"/>
            </p:cNvSpPr>
            <p:nvPr/>
          </p:nvSpPr>
          <p:spPr bwMode="auto">
            <a:xfrm>
              <a:off x="97" y="152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460" name="Text Box 53"/>
            <p:cNvSpPr txBox="1">
              <a:spLocks noChangeArrowheads="1"/>
            </p:cNvSpPr>
            <p:nvPr/>
          </p:nvSpPr>
          <p:spPr bwMode="auto">
            <a:xfrm>
              <a:off x="429" y="152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461" name="Text Box 54"/>
            <p:cNvSpPr txBox="1">
              <a:spLocks noChangeArrowheads="1"/>
            </p:cNvSpPr>
            <p:nvPr/>
          </p:nvSpPr>
          <p:spPr bwMode="auto">
            <a:xfrm>
              <a:off x="761" y="152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462" name="Text Box 55"/>
            <p:cNvSpPr txBox="1">
              <a:spLocks noChangeArrowheads="1"/>
            </p:cNvSpPr>
            <p:nvPr/>
          </p:nvSpPr>
          <p:spPr bwMode="auto">
            <a:xfrm>
              <a:off x="1093" y="152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463" name="Line 61"/>
            <p:cNvSpPr>
              <a:spLocks noChangeShapeType="1"/>
            </p:cNvSpPr>
            <p:nvPr/>
          </p:nvSpPr>
          <p:spPr bwMode="auto">
            <a:xfrm flipH="1">
              <a:off x="747" y="1135"/>
              <a:ext cx="739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28" name="Group 244"/>
          <p:cNvGrpSpPr>
            <a:grpSpLocks/>
          </p:cNvGrpSpPr>
          <p:nvPr/>
        </p:nvGrpSpPr>
        <p:grpSpPr bwMode="auto">
          <a:xfrm>
            <a:off x="2303463" y="1827213"/>
            <a:ext cx="2136775" cy="1127125"/>
            <a:chOff x="1451" y="1151"/>
            <a:chExt cx="1346" cy="710"/>
          </a:xfrm>
        </p:grpSpPr>
        <p:sp>
          <p:nvSpPr>
            <p:cNvPr id="10453" name="Text Box 56"/>
            <p:cNvSpPr txBox="1">
              <a:spLocks noChangeArrowheads="1"/>
            </p:cNvSpPr>
            <p:nvPr/>
          </p:nvSpPr>
          <p:spPr bwMode="auto">
            <a:xfrm>
              <a:off x="1481" y="1520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454" name="Text Box 57"/>
            <p:cNvSpPr txBox="1">
              <a:spLocks noChangeArrowheads="1"/>
            </p:cNvSpPr>
            <p:nvPr/>
          </p:nvSpPr>
          <p:spPr bwMode="auto">
            <a:xfrm>
              <a:off x="1813" y="1520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455" name="Text Box 58"/>
            <p:cNvSpPr txBox="1">
              <a:spLocks noChangeArrowheads="1"/>
            </p:cNvSpPr>
            <p:nvPr/>
          </p:nvSpPr>
          <p:spPr bwMode="auto">
            <a:xfrm>
              <a:off x="2145" y="1520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9 </a:t>
              </a:r>
            </a:p>
          </p:txBody>
        </p:sp>
        <p:sp>
          <p:nvSpPr>
            <p:cNvPr id="10456" name="Text Box 59"/>
            <p:cNvSpPr txBox="1">
              <a:spLocks noChangeArrowheads="1"/>
            </p:cNvSpPr>
            <p:nvPr/>
          </p:nvSpPr>
          <p:spPr bwMode="auto">
            <a:xfrm>
              <a:off x="2477" y="1520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  <p:sp>
          <p:nvSpPr>
            <p:cNvPr id="10457" name="Line 60"/>
            <p:cNvSpPr>
              <a:spLocks noChangeShapeType="1"/>
            </p:cNvSpPr>
            <p:nvPr/>
          </p:nvSpPr>
          <p:spPr bwMode="auto">
            <a:xfrm>
              <a:off x="1451" y="1533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8" name="Line 62"/>
            <p:cNvSpPr>
              <a:spLocks noChangeShapeType="1"/>
            </p:cNvSpPr>
            <p:nvPr/>
          </p:nvSpPr>
          <p:spPr bwMode="auto">
            <a:xfrm>
              <a:off x="1479" y="1151"/>
              <a:ext cx="654" cy="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29" name="Group 245"/>
          <p:cNvGrpSpPr>
            <a:grpSpLocks/>
          </p:cNvGrpSpPr>
          <p:nvPr/>
        </p:nvGrpSpPr>
        <p:grpSpPr bwMode="auto">
          <a:xfrm>
            <a:off x="84138" y="2914650"/>
            <a:ext cx="1089025" cy="1098550"/>
            <a:chOff x="53" y="1836"/>
            <a:chExt cx="686" cy="692"/>
          </a:xfrm>
        </p:grpSpPr>
        <p:sp>
          <p:nvSpPr>
            <p:cNvPr id="10449" name="Text Box 75"/>
            <p:cNvSpPr txBox="1">
              <a:spLocks noChangeArrowheads="1"/>
            </p:cNvSpPr>
            <p:nvPr/>
          </p:nvSpPr>
          <p:spPr bwMode="auto">
            <a:xfrm>
              <a:off x="53" y="220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450" name="Text Box 76"/>
            <p:cNvSpPr txBox="1">
              <a:spLocks noChangeArrowheads="1"/>
            </p:cNvSpPr>
            <p:nvPr/>
          </p:nvSpPr>
          <p:spPr bwMode="auto">
            <a:xfrm>
              <a:off x="385" y="220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451" name="Line 79"/>
            <p:cNvSpPr>
              <a:spLocks noChangeShapeType="1"/>
            </p:cNvSpPr>
            <p:nvPr/>
          </p:nvSpPr>
          <p:spPr bwMode="auto">
            <a:xfrm>
              <a:off x="717" y="2200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2" name="Line 80"/>
            <p:cNvSpPr>
              <a:spLocks noChangeShapeType="1"/>
            </p:cNvSpPr>
            <p:nvPr/>
          </p:nvSpPr>
          <p:spPr bwMode="auto">
            <a:xfrm flipH="1">
              <a:off x="366" y="1836"/>
              <a:ext cx="373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30" name="Group 246"/>
          <p:cNvGrpSpPr>
            <a:grpSpLocks/>
          </p:cNvGrpSpPr>
          <p:nvPr/>
        </p:nvGrpSpPr>
        <p:grpSpPr bwMode="auto">
          <a:xfrm>
            <a:off x="1160463" y="2914650"/>
            <a:ext cx="1076325" cy="1065213"/>
            <a:chOff x="731" y="1836"/>
            <a:chExt cx="678" cy="671"/>
          </a:xfrm>
        </p:grpSpPr>
        <p:sp>
          <p:nvSpPr>
            <p:cNvPr id="10446" name="Text Box 77"/>
            <p:cNvSpPr txBox="1">
              <a:spLocks noChangeArrowheads="1"/>
            </p:cNvSpPr>
            <p:nvPr/>
          </p:nvSpPr>
          <p:spPr bwMode="auto">
            <a:xfrm>
              <a:off x="757" y="220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447" name="Text Box 78"/>
            <p:cNvSpPr txBox="1">
              <a:spLocks noChangeArrowheads="1"/>
            </p:cNvSpPr>
            <p:nvPr/>
          </p:nvSpPr>
          <p:spPr bwMode="auto">
            <a:xfrm>
              <a:off x="1089" y="2207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448" name="Line 81"/>
            <p:cNvSpPr>
              <a:spLocks noChangeShapeType="1"/>
            </p:cNvSpPr>
            <p:nvPr/>
          </p:nvSpPr>
          <p:spPr bwMode="auto">
            <a:xfrm>
              <a:off x="731" y="1836"/>
              <a:ext cx="374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70" name="Group 286"/>
          <p:cNvGrpSpPr>
            <a:grpSpLocks/>
          </p:cNvGrpSpPr>
          <p:nvPr/>
        </p:nvGrpSpPr>
        <p:grpSpPr bwMode="auto">
          <a:xfrm>
            <a:off x="2317750" y="2889250"/>
            <a:ext cx="1079500" cy="1122363"/>
            <a:chOff x="1460" y="1820"/>
            <a:chExt cx="680" cy="707"/>
          </a:xfrm>
        </p:grpSpPr>
        <p:sp>
          <p:nvSpPr>
            <p:cNvPr id="10442" name="Line 82"/>
            <p:cNvSpPr>
              <a:spLocks noChangeShapeType="1"/>
            </p:cNvSpPr>
            <p:nvPr/>
          </p:nvSpPr>
          <p:spPr bwMode="auto">
            <a:xfrm flipH="1">
              <a:off x="1790" y="1820"/>
              <a:ext cx="35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3" name="Text Box 83"/>
            <p:cNvSpPr txBox="1">
              <a:spLocks noChangeArrowheads="1"/>
            </p:cNvSpPr>
            <p:nvPr/>
          </p:nvSpPr>
          <p:spPr bwMode="auto">
            <a:xfrm>
              <a:off x="1460" y="2208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444" name="Text Box 84"/>
            <p:cNvSpPr txBox="1">
              <a:spLocks noChangeArrowheads="1"/>
            </p:cNvSpPr>
            <p:nvPr/>
          </p:nvSpPr>
          <p:spPr bwMode="auto">
            <a:xfrm>
              <a:off x="1792" y="2208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445" name="Line 87"/>
            <p:cNvSpPr>
              <a:spLocks noChangeShapeType="1"/>
            </p:cNvSpPr>
            <p:nvPr/>
          </p:nvSpPr>
          <p:spPr bwMode="auto">
            <a:xfrm>
              <a:off x="2123" y="2199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71" name="Group 287"/>
          <p:cNvGrpSpPr>
            <a:grpSpLocks/>
          </p:cNvGrpSpPr>
          <p:nvPr/>
        </p:nvGrpSpPr>
        <p:grpSpPr bwMode="auto">
          <a:xfrm>
            <a:off x="3409950" y="2914650"/>
            <a:ext cx="1046163" cy="1066800"/>
            <a:chOff x="2148" y="1836"/>
            <a:chExt cx="659" cy="672"/>
          </a:xfrm>
        </p:grpSpPr>
        <p:sp>
          <p:nvSpPr>
            <p:cNvPr id="10439" name="Text Box 85"/>
            <p:cNvSpPr txBox="1">
              <a:spLocks noChangeArrowheads="1"/>
            </p:cNvSpPr>
            <p:nvPr/>
          </p:nvSpPr>
          <p:spPr bwMode="auto">
            <a:xfrm>
              <a:off x="2155" y="2208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9 </a:t>
              </a:r>
            </a:p>
          </p:txBody>
        </p:sp>
        <p:sp>
          <p:nvSpPr>
            <p:cNvPr id="10440" name="Text Box 86"/>
            <p:cNvSpPr txBox="1">
              <a:spLocks noChangeArrowheads="1"/>
            </p:cNvSpPr>
            <p:nvPr/>
          </p:nvSpPr>
          <p:spPr bwMode="auto">
            <a:xfrm>
              <a:off x="2487" y="2208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  <p:sp>
          <p:nvSpPr>
            <p:cNvPr id="10441" name="Line 88"/>
            <p:cNvSpPr>
              <a:spLocks noChangeShapeType="1"/>
            </p:cNvSpPr>
            <p:nvPr/>
          </p:nvSpPr>
          <p:spPr bwMode="auto">
            <a:xfrm>
              <a:off x="2148" y="1836"/>
              <a:ext cx="358" cy="3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34" name="Group 250"/>
          <p:cNvGrpSpPr>
            <a:grpSpLocks/>
          </p:cNvGrpSpPr>
          <p:nvPr/>
        </p:nvGrpSpPr>
        <p:grpSpPr bwMode="auto">
          <a:xfrm>
            <a:off x="604838" y="3951288"/>
            <a:ext cx="508000" cy="992187"/>
            <a:chOff x="381" y="2489"/>
            <a:chExt cx="320" cy="625"/>
          </a:xfrm>
        </p:grpSpPr>
        <p:sp>
          <p:nvSpPr>
            <p:cNvPr id="10437" name="Text Box 119"/>
            <p:cNvSpPr txBox="1">
              <a:spLocks noChangeArrowheads="1"/>
            </p:cNvSpPr>
            <p:nvPr/>
          </p:nvSpPr>
          <p:spPr bwMode="auto">
            <a:xfrm>
              <a:off x="381" y="2814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438" name="Line 121"/>
            <p:cNvSpPr>
              <a:spLocks noChangeShapeType="1"/>
            </p:cNvSpPr>
            <p:nvPr/>
          </p:nvSpPr>
          <p:spPr bwMode="auto">
            <a:xfrm>
              <a:off x="381" y="2489"/>
              <a:ext cx="125" cy="3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33" name="Group 249"/>
          <p:cNvGrpSpPr>
            <a:grpSpLocks/>
          </p:cNvGrpSpPr>
          <p:nvPr/>
        </p:nvGrpSpPr>
        <p:grpSpPr bwMode="auto">
          <a:xfrm>
            <a:off x="38100" y="3940175"/>
            <a:ext cx="566738" cy="1052513"/>
            <a:chOff x="24" y="2482"/>
            <a:chExt cx="357" cy="663"/>
          </a:xfrm>
        </p:grpSpPr>
        <p:sp>
          <p:nvSpPr>
            <p:cNvPr id="10434" name="Text Box 118"/>
            <p:cNvSpPr txBox="1">
              <a:spLocks noChangeArrowheads="1"/>
            </p:cNvSpPr>
            <p:nvPr/>
          </p:nvSpPr>
          <p:spPr bwMode="auto">
            <a:xfrm>
              <a:off x="24" y="2814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435" name="Line 120"/>
            <p:cNvSpPr>
              <a:spLocks noChangeShapeType="1"/>
            </p:cNvSpPr>
            <p:nvPr/>
          </p:nvSpPr>
          <p:spPr bwMode="auto">
            <a:xfrm flipH="1">
              <a:off x="155" y="2482"/>
              <a:ext cx="226" cy="3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6" name="Line 122"/>
            <p:cNvSpPr>
              <a:spLocks noChangeShapeType="1"/>
            </p:cNvSpPr>
            <p:nvPr/>
          </p:nvSpPr>
          <p:spPr bwMode="auto">
            <a:xfrm>
              <a:off x="354" y="2817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49" name="Group 265"/>
          <p:cNvGrpSpPr>
            <a:grpSpLocks/>
          </p:cNvGrpSpPr>
          <p:nvPr/>
        </p:nvGrpSpPr>
        <p:grpSpPr bwMode="auto">
          <a:xfrm>
            <a:off x="1717675" y="3951288"/>
            <a:ext cx="530225" cy="992187"/>
            <a:chOff x="1082" y="2489"/>
            <a:chExt cx="334" cy="625"/>
          </a:xfrm>
        </p:grpSpPr>
        <p:sp>
          <p:nvSpPr>
            <p:cNvPr id="10432" name="Text Box 125"/>
            <p:cNvSpPr txBox="1">
              <a:spLocks noChangeArrowheads="1"/>
            </p:cNvSpPr>
            <p:nvPr/>
          </p:nvSpPr>
          <p:spPr bwMode="auto">
            <a:xfrm>
              <a:off x="1096" y="2814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433" name="Line 127"/>
            <p:cNvSpPr>
              <a:spLocks noChangeShapeType="1"/>
            </p:cNvSpPr>
            <p:nvPr/>
          </p:nvSpPr>
          <p:spPr bwMode="auto">
            <a:xfrm>
              <a:off x="1082" y="2489"/>
              <a:ext cx="163" cy="3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53" name="Group 269"/>
          <p:cNvGrpSpPr>
            <a:grpSpLocks/>
          </p:cNvGrpSpPr>
          <p:nvPr/>
        </p:nvGrpSpPr>
        <p:grpSpPr bwMode="auto">
          <a:xfrm>
            <a:off x="1173163" y="3963988"/>
            <a:ext cx="531812" cy="1020762"/>
            <a:chOff x="739" y="2497"/>
            <a:chExt cx="335" cy="643"/>
          </a:xfrm>
        </p:grpSpPr>
        <p:sp>
          <p:nvSpPr>
            <p:cNvPr id="10429" name="Text Box 124"/>
            <p:cNvSpPr txBox="1">
              <a:spLocks noChangeArrowheads="1"/>
            </p:cNvSpPr>
            <p:nvPr/>
          </p:nvSpPr>
          <p:spPr bwMode="auto">
            <a:xfrm>
              <a:off x="739" y="2814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430" name="Line 126"/>
            <p:cNvSpPr>
              <a:spLocks noChangeShapeType="1"/>
            </p:cNvSpPr>
            <p:nvPr/>
          </p:nvSpPr>
          <p:spPr bwMode="auto">
            <a:xfrm flipH="1">
              <a:off x="848" y="2497"/>
              <a:ext cx="226" cy="3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1" name="Line 128"/>
            <p:cNvSpPr>
              <a:spLocks noChangeShapeType="1"/>
            </p:cNvSpPr>
            <p:nvPr/>
          </p:nvSpPr>
          <p:spPr bwMode="auto">
            <a:xfrm>
              <a:off x="1073" y="2812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73" name="Group 289"/>
          <p:cNvGrpSpPr>
            <a:grpSpLocks/>
          </p:cNvGrpSpPr>
          <p:nvPr/>
        </p:nvGrpSpPr>
        <p:grpSpPr bwMode="auto">
          <a:xfrm>
            <a:off x="2828925" y="3989388"/>
            <a:ext cx="554038" cy="954087"/>
            <a:chOff x="1782" y="2513"/>
            <a:chExt cx="349" cy="601"/>
          </a:xfrm>
        </p:grpSpPr>
        <p:sp>
          <p:nvSpPr>
            <p:cNvPr id="10427" name="Text Box 4"/>
            <p:cNvSpPr txBox="1">
              <a:spLocks noChangeArrowheads="1"/>
            </p:cNvSpPr>
            <p:nvPr/>
          </p:nvSpPr>
          <p:spPr bwMode="auto">
            <a:xfrm>
              <a:off x="1811" y="2814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428" name="Line 106"/>
            <p:cNvSpPr>
              <a:spLocks noChangeShapeType="1"/>
            </p:cNvSpPr>
            <p:nvPr/>
          </p:nvSpPr>
          <p:spPr bwMode="auto">
            <a:xfrm>
              <a:off x="1782" y="2513"/>
              <a:ext cx="187" cy="3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72" name="Group 288"/>
          <p:cNvGrpSpPr>
            <a:grpSpLocks/>
          </p:cNvGrpSpPr>
          <p:nvPr/>
        </p:nvGrpSpPr>
        <p:grpSpPr bwMode="auto">
          <a:xfrm>
            <a:off x="2308225" y="3951288"/>
            <a:ext cx="534988" cy="1023937"/>
            <a:chOff x="1454" y="2489"/>
            <a:chExt cx="337" cy="645"/>
          </a:xfrm>
        </p:grpSpPr>
        <p:sp>
          <p:nvSpPr>
            <p:cNvPr id="10424" name="Text Box 3"/>
            <p:cNvSpPr txBox="1">
              <a:spLocks noChangeArrowheads="1"/>
            </p:cNvSpPr>
            <p:nvPr/>
          </p:nvSpPr>
          <p:spPr bwMode="auto">
            <a:xfrm>
              <a:off x="1454" y="2814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425" name="Line 105"/>
            <p:cNvSpPr>
              <a:spLocks noChangeShapeType="1"/>
            </p:cNvSpPr>
            <p:nvPr/>
          </p:nvSpPr>
          <p:spPr bwMode="auto">
            <a:xfrm flipH="1">
              <a:off x="1603" y="2489"/>
              <a:ext cx="171" cy="3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6" name="Line 130"/>
            <p:cNvSpPr>
              <a:spLocks noChangeShapeType="1"/>
            </p:cNvSpPr>
            <p:nvPr/>
          </p:nvSpPr>
          <p:spPr bwMode="auto">
            <a:xfrm>
              <a:off x="1791" y="2806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89" name="Group 305"/>
          <p:cNvGrpSpPr>
            <a:grpSpLocks/>
          </p:cNvGrpSpPr>
          <p:nvPr/>
        </p:nvGrpSpPr>
        <p:grpSpPr bwMode="auto">
          <a:xfrm>
            <a:off x="3978275" y="3989388"/>
            <a:ext cx="539750" cy="954087"/>
            <a:chOff x="2506" y="2513"/>
            <a:chExt cx="340" cy="601"/>
          </a:xfrm>
        </p:grpSpPr>
        <p:sp>
          <p:nvSpPr>
            <p:cNvPr id="10422" name="Text Box 6"/>
            <p:cNvSpPr txBox="1">
              <a:spLocks noChangeArrowheads="1"/>
            </p:cNvSpPr>
            <p:nvPr/>
          </p:nvSpPr>
          <p:spPr bwMode="auto">
            <a:xfrm>
              <a:off x="2526" y="2814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  <p:sp>
          <p:nvSpPr>
            <p:cNvPr id="10423" name="Line 108"/>
            <p:cNvSpPr>
              <a:spLocks noChangeShapeType="1"/>
            </p:cNvSpPr>
            <p:nvPr/>
          </p:nvSpPr>
          <p:spPr bwMode="auto">
            <a:xfrm>
              <a:off x="2506" y="2513"/>
              <a:ext cx="187" cy="3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323" name="Group 339"/>
          <p:cNvGrpSpPr>
            <a:grpSpLocks/>
          </p:cNvGrpSpPr>
          <p:nvPr/>
        </p:nvGrpSpPr>
        <p:grpSpPr bwMode="auto">
          <a:xfrm>
            <a:off x="3443288" y="3989388"/>
            <a:ext cx="541337" cy="1014412"/>
            <a:chOff x="2169" y="2513"/>
            <a:chExt cx="341" cy="639"/>
          </a:xfrm>
        </p:grpSpPr>
        <p:grpSp>
          <p:nvGrpSpPr>
            <p:cNvPr id="10418" name="Group 304"/>
            <p:cNvGrpSpPr>
              <a:grpSpLocks/>
            </p:cNvGrpSpPr>
            <p:nvPr/>
          </p:nvGrpSpPr>
          <p:grpSpPr bwMode="auto">
            <a:xfrm>
              <a:off x="2169" y="2513"/>
              <a:ext cx="322" cy="601"/>
              <a:chOff x="2169" y="2513"/>
              <a:chExt cx="322" cy="601"/>
            </a:xfrm>
          </p:grpSpPr>
          <p:sp>
            <p:nvSpPr>
              <p:cNvPr id="10420" name="Text Box 5"/>
              <p:cNvSpPr txBox="1">
                <a:spLocks noChangeArrowheads="1"/>
              </p:cNvSpPr>
              <p:nvPr/>
            </p:nvSpPr>
            <p:spPr bwMode="auto">
              <a:xfrm>
                <a:off x="2169" y="2814"/>
                <a:ext cx="320" cy="300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/>
                  <a:t> 9 </a:t>
                </a:r>
              </a:p>
            </p:txBody>
          </p:sp>
          <p:sp>
            <p:nvSpPr>
              <p:cNvPr id="10421" name="Line 107"/>
              <p:cNvSpPr>
                <a:spLocks noChangeShapeType="1"/>
              </p:cNvSpPr>
              <p:nvPr/>
            </p:nvSpPr>
            <p:spPr bwMode="auto">
              <a:xfrm flipH="1">
                <a:off x="2312" y="2513"/>
                <a:ext cx="179" cy="2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419" name="Line 132"/>
            <p:cNvSpPr>
              <a:spLocks noChangeShapeType="1"/>
            </p:cNvSpPr>
            <p:nvPr/>
          </p:nvSpPr>
          <p:spPr bwMode="auto">
            <a:xfrm>
              <a:off x="2510" y="2824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167" name="Group 183"/>
          <p:cNvGrpSpPr>
            <a:grpSpLocks/>
          </p:cNvGrpSpPr>
          <p:nvPr/>
        </p:nvGrpSpPr>
        <p:grpSpPr bwMode="auto">
          <a:xfrm>
            <a:off x="0" y="4954588"/>
            <a:ext cx="508000" cy="763587"/>
            <a:chOff x="0" y="3121"/>
            <a:chExt cx="320" cy="481"/>
          </a:xfrm>
        </p:grpSpPr>
        <p:sp>
          <p:nvSpPr>
            <p:cNvPr id="10416" name="Text Box 151"/>
            <p:cNvSpPr txBox="1">
              <a:spLocks noChangeArrowheads="1"/>
            </p:cNvSpPr>
            <p:nvPr/>
          </p:nvSpPr>
          <p:spPr bwMode="auto">
            <a:xfrm>
              <a:off x="0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417" name="Line 159"/>
            <p:cNvSpPr>
              <a:spLocks noChangeShapeType="1"/>
            </p:cNvSpPr>
            <p:nvPr/>
          </p:nvSpPr>
          <p:spPr bwMode="auto">
            <a:xfrm>
              <a:off x="156" y="3121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35" name="Group 251"/>
          <p:cNvGrpSpPr>
            <a:grpSpLocks/>
          </p:cNvGrpSpPr>
          <p:nvPr/>
        </p:nvGrpSpPr>
        <p:grpSpPr bwMode="auto">
          <a:xfrm>
            <a:off x="569913" y="4959350"/>
            <a:ext cx="508000" cy="758825"/>
            <a:chOff x="359" y="3124"/>
            <a:chExt cx="320" cy="478"/>
          </a:xfrm>
        </p:grpSpPr>
        <p:sp>
          <p:nvSpPr>
            <p:cNvPr id="10414" name="Text Box 152"/>
            <p:cNvSpPr txBox="1">
              <a:spLocks noChangeArrowheads="1"/>
            </p:cNvSpPr>
            <p:nvPr/>
          </p:nvSpPr>
          <p:spPr bwMode="auto">
            <a:xfrm>
              <a:off x="359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415" name="Line 160"/>
            <p:cNvSpPr>
              <a:spLocks noChangeShapeType="1"/>
            </p:cNvSpPr>
            <p:nvPr/>
          </p:nvSpPr>
          <p:spPr bwMode="auto">
            <a:xfrm>
              <a:off x="533" y="3124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50" name="Group 266"/>
          <p:cNvGrpSpPr>
            <a:grpSpLocks/>
          </p:cNvGrpSpPr>
          <p:nvPr/>
        </p:nvGrpSpPr>
        <p:grpSpPr bwMode="auto">
          <a:xfrm>
            <a:off x="1141413" y="4962525"/>
            <a:ext cx="508000" cy="755650"/>
            <a:chOff x="719" y="3126"/>
            <a:chExt cx="320" cy="476"/>
          </a:xfrm>
        </p:grpSpPr>
        <p:sp>
          <p:nvSpPr>
            <p:cNvPr id="10412" name="Text Box 153"/>
            <p:cNvSpPr txBox="1">
              <a:spLocks noChangeArrowheads="1"/>
            </p:cNvSpPr>
            <p:nvPr/>
          </p:nvSpPr>
          <p:spPr bwMode="auto">
            <a:xfrm>
              <a:off x="719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413" name="Line 161"/>
            <p:cNvSpPr>
              <a:spLocks noChangeShapeType="1"/>
            </p:cNvSpPr>
            <p:nvPr/>
          </p:nvSpPr>
          <p:spPr bwMode="auto">
            <a:xfrm>
              <a:off x="878" y="3126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51" name="Group 267"/>
          <p:cNvGrpSpPr>
            <a:grpSpLocks/>
          </p:cNvGrpSpPr>
          <p:nvPr/>
        </p:nvGrpSpPr>
        <p:grpSpPr bwMode="auto">
          <a:xfrm>
            <a:off x="1712913" y="4941888"/>
            <a:ext cx="508000" cy="776287"/>
            <a:chOff x="1079" y="3113"/>
            <a:chExt cx="320" cy="489"/>
          </a:xfrm>
        </p:grpSpPr>
        <p:sp>
          <p:nvSpPr>
            <p:cNvPr id="10410" name="Text Box 154"/>
            <p:cNvSpPr txBox="1">
              <a:spLocks noChangeArrowheads="1"/>
            </p:cNvSpPr>
            <p:nvPr/>
          </p:nvSpPr>
          <p:spPr bwMode="auto">
            <a:xfrm>
              <a:off x="1079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411" name="Line 162"/>
            <p:cNvSpPr>
              <a:spLocks noChangeShapeType="1"/>
            </p:cNvSpPr>
            <p:nvPr/>
          </p:nvSpPr>
          <p:spPr bwMode="auto">
            <a:xfrm>
              <a:off x="1231" y="3113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74" name="Group 290"/>
          <p:cNvGrpSpPr>
            <a:grpSpLocks/>
          </p:cNvGrpSpPr>
          <p:nvPr/>
        </p:nvGrpSpPr>
        <p:grpSpPr bwMode="auto">
          <a:xfrm>
            <a:off x="2284413" y="4970463"/>
            <a:ext cx="508000" cy="747712"/>
            <a:chOff x="1439" y="3131"/>
            <a:chExt cx="320" cy="471"/>
          </a:xfrm>
        </p:grpSpPr>
        <p:sp>
          <p:nvSpPr>
            <p:cNvPr id="10408" name="Text Box 155"/>
            <p:cNvSpPr txBox="1">
              <a:spLocks noChangeArrowheads="1"/>
            </p:cNvSpPr>
            <p:nvPr/>
          </p:nvSpPr>
          <p:spPr bwMode="auto">
            <a:xfrm>
              <a:off x="1439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409" name="Line 163"/>
            <p:cNvSpPr>
              <a:spLocks noChangeShapeType="1"/>
            </p:cNvSpPr>
            <p:nvPr/>
          </p:nvSpPr>
          <p:spPr bwMode="auto">
            <a:xfrm>
              <a:off x="1615" y="3131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75" name="Group 291"/>
          <p:cNvGrpSpPr>
            <a:grpSpLocks/>
          </p:cNvGrpSpPr>
          <p:nvPr/>
        </p:nvGrpSpPr>
        <p:grpSpPr bwMode="auto">
          <a:xfrm>
            <a:off x="2855913" y="4949825"/>
            <a:ext cx="508000" cy="768350"/>
            <a:chOff x="1799" y="3118"/>
            <a:chExt cx="320" cy="484"/>
          </a:xfrm>
        </p:grpSpPr>
        <p:sp>
          <p:nvSpPr>
            <p:cNvPr id="10406" name="Text Box 156"/>
            <p:cNvSpPr txBox="1">
              <a:spLocks noChangeArrowheads="1"/>
            </p:cNvSpPr>
            <p:nvPr/>
          </p:nvSpPr>
          <p:spPr bwMode="auto">
            <a:xfrm>
              <a:off x="1799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407" name="Line 164"/>
            <p:cNvSpPr>
              <a:spLocks noChangeShapeType="1"/>
            </p:cNvSpPr>
            <p:nvPr/>
          </p:nvSpPr>
          <p:spPr bwMode="auto">
            <a:xfrm>
              <a:off x="1968" y="3118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76" name="Group 292"/>
          <p:cNvGrpSpPr>
            <a:grpSpLocks/>
          </p:cNvGrpSpPr>
          <p:nvPr/>
        </p:nvGrpSpPr>
        <p:grpSpPr bwMode="auto">
          <a:xfrm>
            <a:off x="3427413" y="4941888"/>
            <a:ext cx="508000" cy="776287"/>
            <a:chOff x="2159" y="3113"/>
            <a:chExt cx="320" cy="489"/>
          </a:xfrm>
        </p:grpSpPr>
        <p:sp>
          <p:nvSpPr>
            <p:cNvPr id="10404" name="Text Box 157"/>
            <p:cNvSpPr txBox="1">
              <a:spLocks noChangeArrowheads="1"/>
            </p:cNvSpPr>
            <p:nvPr/>
          </p:nvSpPr>
          <p:spPr bwMode="auto">
            <a:xfrm>
              <a:off x="2159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9 </a:t>
              </a:r>
            </a:p>
          </p:txBody>
        </p:sp>
        <p:sp>
          <p:nvSpPr>
            <p:cNvPr id="10405" name="Line 165"/>
            <p:cNvSpPr>
              <a:spLocks noChangeShapeType="1"/>
            </p:cNvSpPr>
            <p:nvPr/>
          </p:nvSpPr>
          <p:spPr bwMode="auto">
            <a:xfrm>
              <a:off x="2321" y="3113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52" name="Group 268"/>
          <p:cNvGrpSpPr>
            <a:grpSpLocks/>
          </p:cNvGrpSpPr>
          <p:nvPr/>
        </p:nvGrpSpPr>
        <p:grpSpPr bwMode="auto">
          <a:xfrm>
            <a:off x="3998913" y="4957763"/>
            <a:ext cx="508000" cy="760412"/>
            <a:chOff x="2519" y="3123"/>
            <a:chExt cx="320" cy="479"/>
          </a:xfrm>
        </p:grpSpPr>
        <p:sp>
          <p:nvSpPr>
            <p:cNvPr id="10402" name="Text Box 158"/>
            <p:cNvSpPr txBox="1">
              <a:spLocks noChangeArrowheads="1"/>
            </p:cNvSpPr>
            <p:nvPr/>
          </p:nvSpPr>
          <p:spPr bwMode="auto">
            <a:xfrm>
              <a:off x="2519" y="3302"/>
              <a:ext cx="320" cy="3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  <p:sp>
          <p:nvSpPr>
            <p:cNvPr id="10403" name="Line 166"/>
            <p:cNvSpPr>
              <a:spLocks noChangeShapeType="1"/>
            </p:cNvSpPr>
            <p:nvPr/>
          </p:nvSpPr>
          <p:spPr bwMode="auto">
            <a:xfrm>
              <a:off x="2689" y="3123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159" name="Text Box 175"/>
          <p:cNvSpPr txBox="1">
            <a:spLocks noChangeArrowheads="1"/>
          </p:cNvSpPr>
          <p:nvPr/>
        </p:nvSpPr>
        <p:spPr bwMode="auto">
          <a:xfrm>
            <a:off x="4637088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160" name="Text Box 176"/>
          <p:cNvSpPr txBox="1">
            <a:spLocks noChangeArrowheads="1"/>
          </p:cNvSpPr>
          <p:nvPr/>
        </p:nvSpPr>
        <p:spPr bwMode="auto">
          <a:xfrm>
            <a:off x="5207000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161" name="Text Box 177"/>
          <p:cNvSpPr txBox="1">
            <a:spLocks noChangeArrowheads="1"/>
          </p:cNvSpPr>
          <p:nvPr/>
        </p:nvSpPr>
        <p:spPr bwMode="auto">
          <a:xfrm>
            <a:off x="5778500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162" name="Text Box 178"/>
          <p:cNvSpPr txBox="1">
            <a:spLocks noChangeArrowheads="1"/>
          </p:cNvSpPr>
          <p:nvPr/>
        </p:nvSpPr>
        <p:spPr bwMode="auto">
          <a:xfrm>
            <a:off x="6350000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163" name="Text Box 179"/>
          <p:cNvSpPr txBox="1">
            <a:spLocks noChangeArrowheads="1"/>
          </p:cNvSpPr>
          <p:nvPr/>
        </p:nvSpPr>
        <p:spPr bwMode="auto">
          <a:xfrm>
            <a:off x="6921500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426164" name="Text Box 180"/>
          <p:cNvSpPr txBox="1">
            <a:spLocks noChangeArrowheads="1"/>
          </p:cNvSpPr>
          <p:nvPr/>
        </p:nvSpPr>
        <p:spPr bwMode="auto">
          <a:xfrm>
            <a:off x="7493000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165" name="Text Box 181"/>
          <p:cNvSpPr txBox="1">
            <a:spLocks noChangeArrowheads="1"/>
          </p:cNvSpPr>
          <p:nvPr/>
        </p:nvSpPr>
        <p:spPr bwMode="auto">
          <a:xfrm>
            <a:off x="8064500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166" name="Text Box 182"/>
          <p:cNvSpPr txBox="1">
            <a:spLocks noChangeArrowheads="1"/>
          </p:cNvSpPr>
          <p:nvPr/>
        </p:nvSpPr>
        <p:spPr bwMode="auto">
          <a:xfrm>
            <a:off x="8636000" y="44577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175" name="Text Box 191"/>
          <p:cNvSpPr txBox="1">
            <a:spLocks noChangeArrowheads="1"/>
          </p:cNvSpPr>
          <p:nvPr/>
        </p:nvSpPr>
        <p:spPr bwMode="auto">
          <a:xfrm>
            <a:off x="4716463" y="35210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176" name="Text Box 192"/>
          <p:cNvSpPr txBox="1">
            <a:spLocks noChangeArrowheads="1"/>
          </p:cNvSpPr>
          <p:nvPr/>
        </p:nvSpPr>
        <p:spPr bwMode="auto">
          <a:xfrm>
            <a:off x="5226050" y="35210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180" name="Text Box 196"/>
          <p:cNvSpPr txBox="1">
            <a:spLocks noChangeArrowheads="1"/>
          </p:cNvSpPr>
          <p:nvPr/>
        </p:nvSpPr>
        <p:spPr bwMode="auto">
          <a:xfrm>
            <a:off x="6327775" y="35210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181" name="Text Box 197"/>
          <p:cNvSpPr txBox="1">
            <a:spLocks noChangeArrowheads="1"/>
          </p:cNvSpPr>
          <p:nvPr/>
        </p:nvSpPr>
        <p:spPr bwMode="auto">
          <a:xfrm>
            <a:off x="5824538" y="35210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184" name="Text Box 200"/>
          <p:cNvSpPr txBox="1">
            <a:spLocks noChangeArrowheads="1"/>
          </p:cNvSpPr>
          <p:nvPr/>
        </p:nvSpPr>
        <p:spPr bwMode="auto">
          <a:xfrm>
            <a:off x="6953250" y="3521075"/>
            <a:ext cx="582613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185" name="Text Box 201"/>
          <p:cNvSpPr txBox="1">
            <a:spLocks noChangeArrowheads="1"/>
          </p:cNvSpPr>
          <p:nvPr/>
        </p:nvSpPr>
        <p:spPr bwMode="auto">
          <a:xfrm>
            <a:off x="7469188" y="3521075"/>
            <a:ext cx="582612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426188" name="Text Box 204"/>
          <p:cNvSpPr txBox="1">
            <a:spLocks noChangeArrowheads="1"/>
          </p:cNvSpPr>
          <p:nvPr/>
        </p:nvSpPr>
        <p:spPr bwMode="auto">
          <a:xfrm>
            <a:off x="8131175" y="3533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189" name="Text Box 205"/>
          <p:cNvSpPr txBox="1">
            <a:spLocks noChangeArrowheads="1"/>
          </p:cNvSpPr>
          <p:nvPr/>
        </p:nvSpPr>
        <p:spPr bwMode="auto">
          <a:xfrm>
            <a:off x="8636000" y="353377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195" name="Text Box 211"/>
          <p:cNvSpPr txBox="1">
            <a:spLocks noChangeArrowheads="1"/>
          </p:cNvSpPr>
          <p:nvPr/>
        </p:nvSpPr>
        <p:spPr bwMode="auto">
          <a:xfrm>
            <a:off x="4691063" y="24511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196" name="Text Box 212"/>
          <p:cNvSpPr txBox="1">
            <a:spLocks noChangeArrowheads="1"/>
          </p:cNvSpPr>
          <p:nvPr/>
        </p:nvSpPr>
        <p:spPr bwMode="auto">
          <a:xfrm>
            <a:off x="5200650" y="2451100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197" name="Text Box 213"/>
          <p:cNvSpPr txBox="1">
            <a:spLocks noChangeArrowheads="1"/>
          </p:cNvSpPr>
          <p:nvPr/>
        </p:nvSpPr>
        <p:spPr bwMode="auto">
          <a:xfrm>
            <a:off x="5699125" y="244951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198" name="Text Box 214"/>
          <p:cNvSpPr txBox="1">
            <a:spLocks noChangeArrowheads="1"/>
          </p:cNvSpPr>
          <p:nvPr/>
        </p:nvSpPr>
        <p:spPr bwMode="auto">
          <a:xfrm>
            <a:off x="6194425" y="244951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grpSp>
        <p:nvGrpSpPr>
          <p:cNvPr id="426263" name="Group 279"/>
          <p:cNvGrpSpPr>
            <a:grpSpLocks/>
          </p:cNvGrpSpPr>
          <p:nvPr/>
        </p:nvGrpSpPr>
        <p:grpSpPr bwMode="auto">
          <a:xfrm>
            <a:off x="5165725" y="2905125"/>
            <a:ext cx="1098550" cy="506413"/>
            <a:chOff x="3254" y="1830"/>
            <a:chExt cx="692" cy="319"/>
          </a:xfrm>
        </p:grpSpPr>
        <p:sp>
          <p:nvSpPr>
            <p:cNvPr id="10400" name="Line 215"/>
            <p:cNvSpPr>
              <a:spLocks noChangeShapeType="1"/>
            </p:cNvSpPr>
            <p:nvPr/>
          </p:nvSpPr>
          <p:spPr bwMode="auto">
            <a:xfrm flipV="1">
              <a:off x="3254" y="1830"/>
              <a:ext cx="334" cy="3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1" name="Line 216"/>
            <p:cNvSpPr>
              <a:spLocks noChangeShapeType="1"/>
            </p:cNvSpPr>
            <p:nvPr/>
          </p:nvSpPr>
          <p:spPr bwMode="auto">
            <a:xfrm flipH="1" flipV="1">
              <a:off x="3581" y="1837"/>
              <a:ext cx="365" cy="3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201" name="Text Box 217"/>
          <p:cNvSpPr txBox="1">
            <a:spLocks noChangeArrowheads="1"/>
          </p:cNvSpPr>
          <p:nvPr/>
        </p:nvSpPr>
        <p:spPr bwMode="auto">
          <a:xfrm>
            <a:off x="6972300" y="246221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202" name="Text Box 218"/>
          <p:cNvSpPr txBox="1">
            <a:spLocks noChangeArrowheads="1"/>
          </p:cNvSpPr>
          <p:nvPr/>
        </p:nvSpPr>
        <p:spPr bwMode="auto">
          <a:xfrm>
            <a:off x="7475538" y="2462213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203" name="Text Box 219"/>
          <p:cNvSpPr txBox="1">
            <a:spLocks noChangeArrowheads="1"/>
          </p:cNvSpPr>
          <p:nvPr/>
        </p:nvSpPr>
        <p:spPr bwMode="auto">
          <a:xfrm>
            <a:off x="7980363" y="2462213"/>
            <a:ext cx="582612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204" name="Text Box 220"/>
          <p:cNvSpPr txBox="1">
            <a:spLocks noChangeArrowheads="1"/>
          </p:cNvSpPr>
          <p:nvPr/>
        </p:nvSpPr>
        <p:spPr bwMode="auto">
          <a:xfrm>
            <a:off x="8523288" y="2462213"/>
            <a:ext cx="582612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grpSp>
        <p:nvGrpSpPr>
          <p:cNvPr id="426298" name="Group 314"/>
          <p:cNvGrpSpPr>
            <a:grpSpLocks/>
          </p:cNvGrpSpPr>
          <p:nvPr/>
        </p:nvGrpSpPr>
        <p:grpSpPr bwMode="auto">
          <a:xfrm>
            <a:off x="7469188" y="2908300"/>
            <a:ext cx="1060450" cy="495300"/>
            <a:chOff x="4705" y="1832"/>
            <a:chExt cx="668" cy="312"/>
          </a:xfrm>
        </p:grpSpPr>
        <p:sp>
          <p:nvSpPr>
            <p:cNvPr id="10398" name="Line 221"/>
            <p:cNvSpPr>
              <a:spLocks noChangeShapeType="1"/>
            </p:cNvSpPr>
            <p:nvPr/>
          </p:nvSpPr>
          <p:spPr bwMode="auto">
            <a:xfrm flipV="1">
              <a:off x="4705" y="1840"/>
              <a:ext cx="319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9" name="Line 222"/>
            <p:cNvSpPr>
              <a:spLocks noChangeShapeType="1"/>
            </p:cNvSpPr>
            <p:nvPr/>
          </p:nvSpPr>
          <p:spPr bwMode="auto">
            <a:xfrm flipH="1" flipV="1">
              <a:off x="5008" y="1832"/>
              <a:ext cx="365" cy="3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207" name="Text Box 223"/>
          <p:cNvSpPr txBox="1">
            <a:spLocks noChangeArrowheads="1"/>
          </p:cNvSpPr>
          <p:nvPr/>
        </p:nvSpPr>
        <p:spPr bwMode="auto">
          <a:xfrm>
            <a:off x="4778375" y="134302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208" name="Text Box 224"/>
          <p:cNvSpPr txBox="1">
            <a:spLocks noChangeArrowheads="1"/>
          </p:cNvSpPr>
          <p:nvPr/>
        </p:nvSpPr>
        <p:spPr bwMode="auto">
          <a:xfrm>
            <a:off x="5286375" y="134302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209" name="Text Box 225"/>
          <p:cNvSpPr txBox="1">
            <a:spLocks noChangeArrowheads="1"/>
          </p:cNvSpPr>
          <p:nvPr/>
        </p:nvSpPr>
        <p:spPr bwMode="auto">
          <a:xfrm>
            <a:off x="5799138" y="134302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210" name="Text Box 226"/>
          <p:cNvSpPr txBox="1">
            <a:spLocks noChangeArrowheads="1"/>
          </p:cNvSpPr>
          <p:nvPr/>
        </p:nvSpPr>
        <p:spPr bwMode="auto">
          <a:xfrm>
            <a:off x="6316663" y="1343025"/>
            <a:ext cx="582612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211" name="Text Box 227"/>
          <p:cNvSpPr txBox="1">
            <a:spLocks noChangeArrowheads="1"/>
          </p:cNvSpPr>
          <p:nvPr/>
        </p:nvSpPr>
        <p:spPr bwMode="auto">
          <a:xfrm>
            <a:off x="6897688" y="134302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212" name="Text Box 228"/>
          <p:cNvSpPr txBox="1">
            <a:spLocks noChangeArrowheads="1"/>
          </p:cNvSpPr>
          <p:nvPr/>
        </p:nvSpPr>
        <p:spPr bwMode="auto">
          <a:xfrm>
            <a:off x="7397750" y="134302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213" name="Text Box 229"/>
          <p:cNvSpPr txBox="1">
            <a:spLocks noChangeArrowheads="1"/>
          </p:cNvSpPr>
          <p:nvPr/>
        </p:nvSpPr>
        <p:spPr bwMode="auto">
          <a:xfrm>
            <a:off x="7905750" y="1343025"/>
            <a:ext cx="508000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214" name="Text Box 230"/>
          <p:cNvSpPr txBox="1">
            <a:spLocks noChangeArrowheads="1"/>
          </p:cNvSpPr>
          <p:nvPr/>
        </p:nvSpPr>
        <p:spPr bwMode="auto">
          <a:xfrm>
            <a:off x="8389938" y="1343025"/>
            <a:ext cx="582612" cy="4762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grpSp>
        <p:nvGrpSpPr>
          <p:cNvPr id="426306" name="Group 322"/>
          <p:cNvGrpSpPr>
            <a:grpSpLocks/>
          </p:cNvGrpSpPr>
          <p:nvPr/>
        </p:nvGrpSpPr>
        <p:grpSpPr bwMode="auto">
          <a:xfrm>
            <a:off x="5695950" y="1817688"/>
            <a:ext cx="2286000" cy="641350"/>
            <a:chOff x="3588" y="1145"/>
            <a:chExt cx="1440" cy="404"/>
          </a:xfrm>
        </p:grpSpPr>
        <p:sp>
          <p:nvSpPr>
            <p:cNvPr id="10396" name="Line 231"/>
            <p:cNvSpPr>
              <a:spLocks noChangeShapeType="1"/>
            </p:cNvSpPr>
            <p:nvPr/>
          </p:nvSpPr>
          <p:spPr bwMode="auto">
            <a:xfrm flipV="1">
              <a:off x="3588" y="1145"/>
              <a:ext cx="755" cy="3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7" name="Line 233"/>
            <p:cNvSpPr>
              <a:spLocks noChangeShapeType="1"/>
            </p:cNvSpPr>
            <p:nvPr/>
          </p:nvSpPr>
          <p:spPr bwMode="auto">
            <a:xfrm flipH="1" flipV="1">
              <a:off x="4352" y="1145"/>
              <a:ext cx="676" cy="4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36" name="Group 252"/>
          <p:cNvGrpSpPr>
            <a:grpSpLocks/>
          </p:cNvGrpSpPr>
          <p:nvPr/>
        </p:nvGrpSpPr>
        <p:grpSpPr bwMode="auto">
          <a:xfrm>
            <a:off x="4856163" y="4003675"/>
            <a:ext cx="617537" cy="457200"/>
            <a:chOff x="3059" y="2522"/>
            <a:chExt cx="389" cy="288"/>
          </a:xfrm>
        </p:grpSpPr>
        <p:sp>
          <p:nvSpPr>
            <p:cNvPr id="10394" name="Line 234"/>
            <p:cNvSpPr>
              <a:spLocks noChangeShapeType="1"/>
            </p:cNvSpPr>
            <p:nvPr/>
          </p:nvSpPr>
          <p:spPr bwMode="auto">
            <a:xfrm flipV="1">
              <a:off x="3059" y="2522"/>
              <a:ext cx="226" cy="2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5" name="Line 235"/>
            <p:cNvSpPr>
              <a:spLocks noChangeShapeType="1"/>
            </p:cNvSpPr>
            <p:nvPr/>
          </p:nvSpPr>
          <p:spPr bwMode="auto">
            <a:xfrm flipH="1" flipV="1">
              <a:off x="3277" y="2522"/>
              <a:ext cx="171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58" name="Group 274"/>
          <p:cNvGrpSpPr>
            <a:grpSpLocks/>
          </p:cNvGrpSpPr>
          <p:nvPr/>
        </p:nvGrpSpPr>
        <p:grpSpPr bwMode="auto">
          <a:xfrm>
            <a:off x="5972175" y="3957638"/>
            <a:ext cx="628650" cy="469900"/>
            <a:chOff x="3762" y="2493"/>
            <a:chExt cx="396" cy="296"/>
          </a:xfrm>
        </p:grpSpPr>
        <p:sp>
          <p:nvSpPr>
            <p:cNvPr id="10392" name="Line 236"/>
            <p:cNvSpPr>
              <a:spLocks noChangeShapeType="1"/>
            </p:cNvSpPr>
            <p:nvPr/>
          </p:nvSpPr>
          <p:spPr bwMode="auto">
            <a:xfrm flipV="1">
              <a:off x="3762" y="2493"/>
              <a:ext cx="226" cy="2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3" name="Line 237"/>
            <p:cNvSpPr>
              <a:spLocks noChangeShapeType="1"/>
            </p:cNvSpPr>
            <p:nvPr/>
          </p:nvSpPr>
          <p:spPr bwMode="auto">
            <a:xfrm flipH="1" flipV="1">
              <a:off x="3987" y="2501"/>
              <a:ext cx="171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81" name="Group 297"/>
          <p:cNvGrpSpPr>
            <a:grpSpLocks/>
          </p:cNvGrpSpPr>
          <p:nvPr/>
        </p:nvGrpSpPr>
        <p:grpSpPr bwMode="auto">
          <a:xfrm>
            <a:off x="7075488" y="3973513"/>
            <a:ext cx="666750" cy="484187"/>
            <a:chOff x="4457" y="2503"/>
            <a:chExt cx="420" cy="305"/>
          </a:xfrm>
        </p:grpSpPr>
        <p:sp>
          <p:nvSpPr>
            <p:cNvPr id="10390" name="Line 238"/>
            <p:cNvSpPr>
              <a:spLocks noChangeShapeType="1"/>
            </p:cNvSpPr>
            <p:nvPr/>
          </p:nvSpPr>
          <p:spPr bwMode="auto">
            <a:xfrm flipV="1">
              <a:off x="4457" y="2503"/>
              <a:ext cx="226" cy="2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1" name="Line 239"/>
            <p:cNvSpPr>
              <a:spLocks noChangeShapeType="1"/>
            </p:cNvSpPr>
            <p:nvPr/>
          </p:nvSpPr>
          <p:spPr bwMode="auto">
            <a:xfrm flipH="1" flipV="1">
              <a:off x="4706" y="2520"/>
              <a:ext cx="171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82" name="Group 298"/>
          <p:cNvGrpSpPr>
            <a:grpSpLocks/>
          </p:cNvGrpSpPr>
          <p:nvPr/>
        </p:nvGrpSpPr>
        <p:grpSpPr bwMode="auto">
          <a:xfrm>
            <a:off x="8266113" y="3976688"/>
            <a:ext cx="628650" cy="498475"/>
            <a:chOff x="5207" y="2505"/>
            <a:chExt cx="396" cy="314"/>
          </a:xfrm>
        </p:grpSpPr>
        <p:sp>
          <p:nvSpPr>
            <p:cNvPr id="10388" name="Line 240"/>
            <p:cNvSpPr>
              <a:spLocks noChangeShapeType="1"/>
            </p:cNvSpPr>
            <p:nvPr/>
          </p:nvSpPr>
          <p:spPr bwMode="auto">
            <a:xfrm flipV="1">
              <a:off x="5207" y="2505"/>
              <a:ext cx="226" cy="2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89" name="Line 241"/>
            <p:cNvSpPr>
              <a:spLocks noChangeShapeType="1"/>
            </p:cNvSpPr>
            <p:nvPr/>
          </p:nvSpPr>
          <p:spPr bwMode="auto">
            <a:xfrm flipH="1" flipV="1">
              <a:off x="5432" y="2531"/>
              <a:ext cx="171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237" name="Text Box 253"/>
          <p:cNvSpPr txBox="1">
            <a:spLocks noChangeArrowheads="1"/>
          </p:cNvSpPr>
          <p:nvPr/>
        </p:nvSpPr>
        <p:spPr bwMode="auto">
          <a:xfrm>
            <a:off x="0" y="522922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238" name="Text Box 254"/>
          <p:cNvSpPr txBox="1">
            <a:spLocks noChangeArrowheads="1"/>
          </p:cNvSpPr>
          <p:nvPr/>
        </p:nvSpPr>
        <p:spPr bwMode="auto">
          <a:xfrm>
            <a:off x="577850" y="522922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239" name="Text Box 255"/>
          <p:cNvSpPr txBox="1">
            <a:spLocks noChangeArrowheads="1"/>
          </p:cNvSpPr>
          <p:nvPr/>
        </p:nvSpPr>
        <p:spPr bwMode="auto">
          <a:xfrm>
            <a:off x="25400" y="4478338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240" name="Text Box 256"/>
          <p:cNvSpPr txBox="1">
            <a:spLocks noChangeArrowheads="1"/>
          </p:cNvSpPr>
          <p:nvPr/>
        </p:nvSpPr>
        <p:spPr bwMode="auto">
          <a:xfrm>
            <a:off x="608013" y="446722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grpSp>
        <p:nvGrpSpPr>
          <p:cNvPr id="426243" name="Group 259"/>
          <p:cNvGrpSpPr>
            <a:grpSpLocks/>
          </p:cNvGrpSpPr>
          <p:nvPr/>
        </p:nvGrpSpPr>
        <p:grpSpPr bwMode="auto">
          <a:xfrm>
            <a:off x="100013" y="2906713"/>
            <a:ext cx="1089025" cy="1098550"/>
            <a:chOff x="53" y="1836"/>
            <a:chExt cx="686" cy="692"/>
          </a:xfrm>
        </p:grpSpPr>
        <p:sp>
          <p:nvSpPr>
            <p:cNvPr id="10384" name="Text Box 260"/>
            <p:cNvSpPr txBox="1">
              <a:spLocks noChangeArrowheads="1"/>
            </p:cNvSpPr>
            <p:nvPr/>
          </p:nvSpPr>
          <p:spPr bwMode="auto">
            <a:xfrm>
              <a:off x="53" y="220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385" name="Text Box 261"/>
            <p:cNvSpPr txBox="1">
              <a:spLocks noChangeArrowheads="1"/>
            </p:cNvSpPr>
            <p:nvPr/>
          </p:nvSpPr>
          <p:spPr bwMode="auto">
            <a:xfrm>
              <a:off x="385" y="220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386" name="Line 262"/>
            <p:cNvSpPr>
              <a:spLocks noChangeShapeType="1"/>
            </p:cNvSpPr>
            <p:nvPr/>
          </p:nvSpPr>
          <p:spPr bwMode="auto">
            <a:xfrm>
              <a:off x="717" y="2200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87" name="Line 263"/>
            <p:cNvSpPr>
              <a:spLocks noChangeShapeType="1"/>
            </p:cNvSpPr>
            <p:nvPr/>
          </p:nvSpPr>
          <p:spPr bwMode="auto">
            <a:xfrm flipH="1">
              <a:off x="366" y="1836"/>
              <a:ext cx="373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254" name="Text Box 270"/>
          <p:cNvSpPr txBox="1">
            <a:spLocks noChangeArrowheads="1"/>
          </p:cNvSpPr>
          <p:nvPr/>
        </p:nvSpPr>
        <p:spPr bwMode="auto">
          <a:xfrm>
            <a:off x="1136650" y="522922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255" name="Text Box 271"/>
          <p:cNvSpPr txBox="1">
            <a:spLocks noChangeArrowheads="1"/>
          </p:cNvSpPr>
          <p:nvPr/>
        </p:nvSpPr>
        <p:spPr bwMode="auto">
          <a:xfrm>
            <a:off x="1174750" y="447357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256" name="Text Box 272"/>
          <p:cNvSpPr txBox="1">
            <a:spLocks noChangeArrowheads="1"/>
          </p:cNvSpPr>
          <p:nvPr/>
        </p:nvSpPr>
        <p:spPr bwMode="auto">
          <a:xfrm>
            <a:off x="1719263" y="5227638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257" name="Text Box 273"/>
          <p:cNvSpPr txBox="1">
            <a:spLocks noChangeArrowheads="1"/>
          </p:cNvSpPr>
          <p:nvPr/>
        </p:nvSpPr>
        <p:spPr bwMode="auto">
          <a:xfrm>
            <a:off x="1744663" y="4475163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grpSp>
        <p:nvGrpSpPr>
          <p:cNvPr id="426259" name="Group 275"/>
          <p:cNvGrpSpPr>
            <a:grpSpLocks/>
          </p:cNvGrpSpPr>
          <p:nvPr/>
        </p:nvGrpSpPr>
        <p:grpSpPr bwMode="auto">
          <a:xfrm>
            <a:off x="1152525" y="2919413"/>
            <a:ext cx="1076325" cy="1065212"/>
            <a:chOff x="731" y="1836"/>
            <a:chExt cx="678" cy="671"/>
          </a:xfrm>
        </p:grpSpPr>
        <p:sp>
          <p:nvSpPr>
            <p:cNvPr id="10381" name="Text Box 276"/>
            <p:cNvSpPr txBox="1">
              <a:spLocks noChangeArrowheads="1"/>
            </p:cNvSpPr>
            <p:nvPr/>
          </p:nvSpPr>
          <p:spPr bwMode="auto">
            <a:xfrm>
              <a:off x="757" y="220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382" name="Text Box 277"/>
            <p:cNvSpPr txBox="1">
              <a:spLocks noChangeArrowheads="1"/>
            </p:cNvSpPr>
            <p:nvPr/>
          </p:nvSpPr>
          <p:spPr bwMode="auto">
            <a:xfrm>
              <a:off x="1089" y="220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383" name="Line 278"/>
            <p:cNvSpPr>
              <a:spLocks noChangeShapeType="1"/>
            </p:cNvSpPr>
            <p:nvPr/>
          </p:nvSpPr>
          <p:spPr bwMode="auto">
            <a:xfrm>
              <a:off x="731" y="1836"/>
              <a:ext cx="374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64" name="Group 280"/>
          <p:cNvGrpSpPr>
            <a:grpSpLocks/>
          </p:cNvGrpSpPr>
          <p:nvPr/>
        </p:nvGrpSpPr>
        <p:grpSpPr bwMode="auto">
          <a:xfrm>
            <a:off x="157163" y="1795463"/>
            <a:ext cx="2205037" cy="1098550"/>
            <a:chOff x="97" y="1135"/>
            <a:chExt cx="1389" cy="692"/>
          </a:xfrm>
        </p:grpSpPr>
        <p:sp>
          <p:nvSpPr>
            <p:cNvPr id="10376" name="Text Box 281"/>
            <p:cNvSpPr txBox="1">
              <a:spLocks noChangeArrowheads="1"/>
            </p:cNvSpPr>
            <p:nvPr/>
          </p:nvSpPr>
          <p:spPr bwMode="auto">
            <a:xfrm>
              <a:off x="97" y="152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377" name="Text Box 282"/>
            <p:cNvSpPr txBox="1">
              <a:spLocks noChangeArrowheads="1"/>
            </p:cNvSpPr>
            <p:nvPr/>
          </p:nvSpPr>
          <p:spPr bwMode="auto">
            <a:xfrm>
              <a:off x="429" y="152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378" name="Text Box 283"/>
            <p:cNvSpPr txBox="1">
              <a:spLocks noChangeArrowheads="1"/>
            </p:cNvSpPr>
            <p:nvPr/>
          </p:nvSpPr>
          <p:spPr bwMode="auto">
            <a:xfrm>
              <a:off x="761" y="152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379" name="Text Box 284"/>
            <p:cNvSpPr txBox="1">
              <a:spLocks noChangeArrowheads="1"/>
            </p:cNvSpPr>
            <p:nvPr/>
          </p:nvSpPr>
          <p:spPr bwMode="auto">
            <a:xfrm>
              <a:off x="1093" y="1527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380" name="Line 285"/>
            <p:cNvSpPr>
              <a:spLocks noChangeShapeType="1"/>
            </p:cNvSpPr>
            <p:nvPr/>
          </p:nvSpPr>
          <p:spPr bwMode="auto">
            <a:xfrm flipH="1">
              <a:off x="747" y="1135"/>
              <a:ext cx="739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277" name="Text Box 293"/>
          <p:cNvSpPr txBox="1">
            <a:spLocks noChangeArrowheads="1"/>
          </p:cNvSpPr>
          <p:nvPr/>
        </p:nvSpPr>
        <p:spPr bwMode="auto">
          <a:xfrm>
            <a:off x="2281238" y="5227638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426278" name="Text Box 294"/>
          <p:cNvSpPr txBox="1">
            <a:spLocks noChangeArrowheads="1"/>
          </p:cNvSpPr>
          <p:nvPr/>
        </p:nvSpPr>
        <p:spPr bwMode="auto">
          <a:xfrm>
            <a:off x="2309813" y="4478338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426279" name="Text Box 295"/>
          <p:cNvSpPr txBox="1">
            <a:spLocks noChangeArrowheads="1"/>
          </p:cNvSpPr>
          <p:nvPr/>
        </p:nvSpPr>
        <p:spPr bwMode="auto">
          <a:xfrm>
            <a:off x="2851150" y="5240338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280" name="Text Box 296"/>
          <p:cNvSpPr txBox="1">
            <a:spLocks noChangeArrowheads="1"/>
          </p:cNvSpPr>
          <p:nvPr/>
        </p:nvSpPr>
        <p:spPr bwMode="auto">
          <a:xfrm>
            <a:off x="2876550" y="4462463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grpSp>
        <p:nvGrpSpPr>
          <p:cNvPr id="426283" name="Group 299"/>
          <p:cNvGrpSpPr>
            <a:grpSpLocks/>
          </p:cNvGrpSpPr>
          <p:nvPr/>
        </p:nvGrpSpPr>
        <p:grpSpPr bwMode="auto">
          <a:xfrm>
            <a:off x="2335213" y="2881313"/>
            <a:ext cx="1079500" cy="1122362"/>
            <a:chOff x="1460" y="1820"/>
            <a:chExt cx="680" cy="707"/>
          </a:xfrm>
        </p:grpSpPr>
        <p:sp>
          <p:nvSpPr>
            <p:cNvPr id="10372" name="Line 300"/>
            <p:cNvSpPr>
              <a:spLocks noChangeShapeType="1"/>
            </p:cNvSpPr>
            <p:nvPr/>
          </p:nvSpPr>
          <p:spPr bwMode="auto">
            <a:xfrm flipH="1">
              <a:off x="1790" y="1820"/>
              <a:ext cx="35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73" name="Text Box 301"/>
            <p:cNvSpPr txBox="1">
              <a:spLocks noChangeArrowheads="1"/>
            </p:cNvSpPr>
            <p:nvPr/>
          </p:nvSpPr>
          <p:spPr bwMode="auto">
            <a:xfrm>
              <a:off x="1460" y="2208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374" name="Text Box 302"/>
            <p:cNvSpPr txBox="1">
              <a:spLocks noChangeArrowheads="1"/>
            </p:cNvSpPr>
            <p:nvPr/>
          </p:nvSpPr>
          <p:spPr bwMode="auto">
            <a:xfrm>
              <a:off x="1792" y="2208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375" name="Line 303"/>
            <p:cNvSpPr>
              <a:spLocks noChangeShapeType="1"/>
            </p:cNvSpPr>
            <p:nvPr/>
          </p:nvSpPr>
          <p:spPr bwMode="auto">
            <a:xfrm>
              <a:off x="2123" y="2199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290" name="Text Box 306"/>
          <p:cNvSpPr txBox="1">
            <a:spLocks noChangeArrowheads="1"/>
          </p:cNvSpPr>
          <p:nvPr/>
        </p:nvSpPr>
        <p:spPr bwMode="auto">
          <a:xfrm>
            <a:off x="3422650" y="5240338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291" name="Text Box 307"/>
          <p:cNvSpPr txBox="1">
            <a:spLocks noChangeArrowheads="1"/>
          </p:cNvSpPr>
          <p:nvPr/>
        </p:nvSpPr>
        <p:spPr bwMode="auto">
          <a:xfrm>
            <a:off x="3451225" y="446722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292" name="Text Box 308"/>
          <p:cNvSpPr txBox="1">
            <a:spLocks noChangeArrowheads="1"/>
          </p:cNvSpPr>
          <p:nvPr/>
        </p:nvSpPr>
        <p:spPr bwMode="auto">
          <a:xfrm>
            <a:off x="4003675" y="522922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293" name="Text Box 309"/>
          <p:cNvSpPr txBox="1">
            <a:spLocks noChangeArrowheads="1"/>
          </p:cNvSpPr>
          <p:nvPr/>
        </p:nvSpPr>
        <p:spPr bwMode="auto">
          <a:xfrm>
            <a:off x="4008438" y="4467225"/>
            <a:ext cx="508000" cy="476250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grpSp>
        <p:nvGrpSpPr>
          <p:cNvPr id="426294" name="Group 310"/>
          <p:cNvGrpSpPr>
            <a:grpSpLocks/>
          </p:cNvGrpSpPr>
          <p:nvPr/>
        </p:nvGrpSpPr>
        <p:grpSpPr bwMode="auto">
          <a:xfrm>
            <a:off x="3416300" y="2908300"/>
            <a:ext cx="1046163" cy="1066800"/>
            <a:chOff x="2148" y="1836"/>
            <a:chExt cx="659" cy="672"/>
          </a:xfrm>
        </p:grpSpPr>
        <p:sp>
          <p:nvSpPr>
            <p:cNvPr id="10369" name="Text Box 311"/>
            <p:cNvSpPr txBox="1">
              <a:spLocks noChangeArrowheads="1"/>
            </p:cNvSpPr>
            <p:nvPr/>
          </p:nvSpPr>
          <p:spPr bwMode="auto">
            <a:xfrm>
              <a:off x="2155" y="2208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9 </a:t>
              </a:r>
            </a:p>
          </p:txBody>
        </p:sp>
        <p:sp>
          <p:nvSpPr>
            <p:cNvPr id="10370" name="Text Box 312"/>
            <p:cNvSpPr txBox="1">
              <a:spLocks noChangeArrowheads="1"/>
            </p:cNvSpPr>
            <p:nvPr/>
          </p:nvSpPr>
          <p:spPr bwMode="auto">
            <a:xfrm>
              <a:off x="2487" y="2208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  <p:sp>
          <p:nvSpPr>
            <p:cNvPr id="10371" name="Line 313"/>
            <p:cNvSpPr>
              <a:spLocks noChangeShapeType="1"/>
            </p:cNvSpPr>
            <p:nvPr/>
          </p:nvSpPr>
          <p:spPr bwMode="auto">
            <a:xfrm>
              <a:off x="2148" y="1836"/>
              <a:ext cx="358" cy="3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299" name="Group 315"/>
          <p:cNvGrpSpPr>
            <a:grpSpLocks/>
          </p:cNvGrpSpPr>
          <p:nvPr/>
        </p:nvGrpSpPr>
        <p:grpSpPr bwMode="auto">
          <a:xfrm>
            <a:off x="2308225" y="1831975"/>
            <a:ext cx="2136775" cy="1127125"/>
            <a:chOff x="1451" y="1151"/>
            <a:chExt cx="1346" cy="710"/>
          </a:xfrm>
        </p:grpSpPr>
        <p:sp>
          <p:nvSpPr>
            <p:cNvPr id="10363" name="Text Box 316"/>
            <p:cNvSpPr txBox="1">
              <a:spLocks noChangeArrowheads="1"/>
            </p:cNvSpPr>
            <p:nvPr/>
          </p:nvSpPr>
          <p:spPr bwMode="auto">
            <a:xfrm>
              <a:off x="1481" y="1520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364" name="Text Box 317"/>
            <p:cNvSpPr txBox="1">
              <a:spLocks noChangeArrowheads="1"/>
            </p:cNvSpPr>
            <p:nvPr/>
          </p:nvSpPr>
          <p:spPr bwMode="auto">
            <a:xfrm>
              <a:off x="1813" y="1520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365" name="Text Box 318"/>
            <p:cNvSpPr txBox="1">
              <a:spLocks noChangeArrowheads="1"/>
            </p:cNvSpPr>
            <p:nvPr/>
          </p:nvSpPr>
          <p:spPr bwMode="auto">
            <a:xfrm>
              <a:off x="2145" y="1520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9 </a:t>
              </a:r>
            </a:p>
          </p:txBody>
        </p:sp>
        <p:sp>
          <p:nvSpPr>
            <p:cNvPr id="10366" name="Text Box 319"/>
            <p:cNvSpPr txBox="1">
              <a:spLocks noChangeArrowheads="1"/>
            </p:cNvSpPr>
            <p:nvPr/>
          </p:nvSpPr>
          <p:spPr bwMode="auto">
            <a:xfrm>
              <a:off x="2477" y="1520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  <p:sp>
          <p:nvSpPr>
            <p:cNvPr id="10367" name="Line 320"/>
            <p:cNvSpPr>
              <a:spLocks noChangeShapeType="1"/>
            </p:cNvSpPr>
            <p:nvPr/>
          </p:nvSpPr>
          <p:spPr bwMode="auto">
            <a:xfrm>
              <a:off x="1451" y="1533"/>
              <a:ext cx="0" cy="32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68" name="Line 321"/>
            <p:cNvSpPr>
              <a:spLocks noChangeShapeType="1"/>
            </p:cNvSpPr>
            <p:nvPr/>
          </p:nvSpPr>
          <p:spPr bwMode="auto">
            <a:xfrm>
              <a:off x="1479" y="1151"/>
              <a:ext cx="654" cy="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6314" name="Group 330"/>
          <p:cNvGrpSpPr>
            <a:grpSpLocks/>
          </p:cNvGrpSpPr>
          <p:nvPr/>
        </p:nvGrpSpPr>
        <p:grpSpPr bwMode="auto">
          <a:xfrm>
            <a:off x="293688" y="1327150"/>
            <a:ext cx="4197350" cy="476250"/>
            <a:chOff x="182" y="833"/>
            <a:chExt cx="2644" cy="300"/>
          </a:xfrm>
        </p:grpSpPr>
        <p:sp>
          <p:nvSpPr>
            <p:cNvPr id="10355" name="Text Box 331"/>
            <p:cNvSpPr txBox="1">
              <a:spLocks noChangeArrowheads="1"/>
            </p:cNvSpPr>
            <p:nvPr/>
          </p:nvSpPr>
          <p:spPr bwMode="auto">
            <a:xfrm>
              <a:off x="182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18</a:t>
              </a:r>
            </a:p>
          </p:txBody>
        </p:sp>
        <p:sp>
          <p:nvSpPr>
            <p:cNvPr id="10356" name="Text Box 332"/>
            <p:cNvSpPr txBox="1">
              <a:spLocks noChangeArrowheads="1"/>
            </p:cNvSpPr>
            <p:nvPr/>
          </p:nvSpPr>
          <p:spPr bwMode="auto">
            <a:xfrm>
              <a:off x="514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26</a:t>
              </a:r>
            </a:p>
          </p:txBody>
        </p:sp>
        <p:sp>
          <p:nvSpPr>
            <p:cNvPr id="10357" name="Text Box 333"/>
            <p:cNvSpPr txBox="1">
              <a:spLocks noChangeArrowheads="1"/>
            </p:cNvSpPr>
            <p:nvPr/>
          </p:nvSpPr>
          <p:spPr bwMode="auto">
            <a:xfrm>
              <a:off x="846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32</a:t>
              </a:r>
            </a:p>
          </p:txBody>
        </p:sp>
        <p:sp>
          <p:nvSpPr>
            <p:cNvPr id="10358" name="Text Box 334"/>
            <p:cNvSpPr txBox="1">
              <a:spLocks noChangeArrowheads="1"/>
            </p:cNvSpPr>
            <p:nvPr/>
          </p:nvSpPr>
          <p:spPr bwMode="auto">
            <a:xfrm>
              <a:off x="1178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6 </a:t>
              </a:r>
            </a:p>
          </p:txBody>
        </p:sp>
        <p:sp>
          <p:nvSpPr>
            <p:cNvPr id="10359" name="Text Box 335"/>
            <p:cNvSpPr txBox="1">
              <a:spLocks noChangeArrowheads="1"/>
            </p:cNvSpPr>
            <p:nvPr/>
          </p:nvSpPr>
          <p:spPr bwMode="auto">
            <a:xfrm>
              <a:off x="1510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43</a:t>
              </a:r>
            </a:p>
          </p:txBody>
        </p:sp>
        <p:sp>
          <p:nvSpPr>
            <p:cNvPr id="10360" name="Text Box 336"/>
            <p:cNvSpPr txBox="1">
              <a:spLocks noChangeArrowheads="1"/>
            </p:cNvSpPr>
            <p:nvPr/>
          </p:nvSpPr>
          <p:spPr bwMode="auto">
            <a:xfrm>
              <a:off x="1842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15</a:t>
              </a:r>
            </a:p>
          </p:txBody>
        </p:sp>
        <p:sp>
          <p:nvSpPr>
            <p:cNvPr id="10361" name="Text Box 337"/>
            <p:cNvSpPr txBox="1">
              <a:spLocks noChangeArrowheads="1"/>
            </p:cNvSpPr>
            <p:nvPr/>
          </p:nvSpPr>
          <p:spPr bwMode="auto">
            <a:xfrm>
              <a:off x="2174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9 </a:t>
              </a:r>
            </a:p>
          </p:txBody>
        </p:sp>
        <p:sp>
          <p:nvSpPr>
            <p:cNvPr id="10362" name="Text Box 338"/>
            <p:cNvSpPr txBox="1">
              <a:spLocks noChangeArrowheads="1"/>
            </p:cNvSpPr>
            <p:nvPr/>
          </p:nvSpPr>
          <p:spPr bwMode="auto">
            <a:xfrm>
              <a:off x="2506" y="833"/>
              <a:ext cx="320" cy="300"/>
            </a:xfrm>
            <a:prstGeom prst="rect">
              <a:avLst/>
            </a:prstGeom>
            <a:solidFill>
              <a:srgbClr val="66C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/>
                <a:t> 1 </a:t>
              </a:r>
            </a:p>
          </p:txBody>
        </p:sp>
      </p:grpSp>
      <p:sp>
        <p:nvSpPr>
          <p:cNvPr id="426325" name="Text Box 341"/>
          <p:cNvSpPr txBox="1">
            <a:spLocks noChangeArrowheads="1"/>
          </p:cNvSpPr>
          <p:nvPr/>
        </p:nvSpPr>
        <p:spPr bwMode="auto">
          <a:xfrm>
            <a:off x="4629150" y="4460875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326" name="Text Box 342"/>
          <p:cNvSpPr txBox="1">
            <a:spLocks noChangeArrowheads="1"/>
          </p:cNvSpPr>
          <p:nvPr/>
        </p:nvSpPr>
        <p:spPr bwMode="auto">
          <a:xfrm>
            <a:off x="5199063" y="4449763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327" name="Text Box 343"/>
          <p:cNvSpPr txBox="1">
            <a:spLocks noChangeArrowheads="1"/>
          </p:cNvSpPr>
          <p:nvPr/>
        </p:nvSpPr>
        <p:spPr bwMode="auto">
          <a:xfrm>
            <a:off x="6335713" y="4465638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328" name="Text Box 344"/>
          <p:cNvSpPr txBox="1">
            <a:spLocks noChangeArrowheads="1"/>
          </p:cNvSpPr>
          <p:nvPr/>
        </p:nvSpPr>
        <p:spPr bwMode="auto">
          <a:xfrm>
            <a:off x="5788025" y="4451350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329" name="Text Box 345"/>
          <p:cNvSpPr txBox="1">
            <a:spLocks noChangeArrowheads="1"/>
          </p:cNvSpPr>
          <p:nvPr/>
        </p:nvSpPr>
        <p:spPr bwMode="auto">
          <a:xfrm>
            <a:off x="5819775" y="3517900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330" name="Text Box 346"/>
          <p:cNvSpPr txBox="1">
            <a:spLocks noChangeArrowheads="1"/>
          </p:cNvSpPr>
          <p:nvPr/>
        </p:nvSpPr>
        <p:spPr bwMode="auto">
          <a:xfrm>
            <a:off x="5222875" y="3516313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331" name="Text Box 347"/>
          <p:cNvSpPr txBox="1">
            <a:spLocks noChangeArrowheads="1"/>
          </p:cNvSpPr>
          <p:nvPr/>
        </p:nvSpPr>
        <p:spPr bwMode="auto">
          <a:xfrm>
            <a:off x="6321425" y="3516313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332" name="Text Box 348"/>
          <p:cNvSpPr txBox="1">
            <a:spLocks noChangeArrowheads="1"/>
          </p:cNvSpPr>
          <p:nvPr/>
        </p:nvSpPr>
        <p:spPr bwMode="auto">
          <a:xfrm>
            <a:off x="4722813" y="3517900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333" name="Text Box 349"/>
          <p:cNvSpPr txBox="1">
            <a:spLocks noChangeArrowheads="1"/>
          </p:cNvSpPr>
          <p:nvPr/>
        </p:nvSpPr>
        <p:spPr bwMode="auto">
          <a:xfrm>
            <a:off x="7488238" y="4438650"/>
            <a:ext cx="5334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334" name="Text Box 350"/>
          <p:cNvSpPr txBox="1">
            <a:spLocks noChangeArrowheads="1"/>
          </p:cNvSpPr>
          <p:nvPr/>
        </p:nvSpPr>
        <p:spPr bwMode="auto">
          <a:xfrm>
            <a:off x="6902450" y="4462463"/>
            <a:ext cx="5461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426335" name="Text Box 351"/>
          <p:cNvSpPr txBox="1">
            <a:spLocks noChangeArrowheads="1"/>
          </p:cNvSpPr>
          <p:nvPr/>
        </p:nvSpPr>
        <p:spPr bwMode="auto">
          <a:xfrm>
            <a:off x="8636000" y="4452938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336" name="Text Box 352"/>
          <p:cNvSpPr txBox="1">
            <a:spLocks noChangeArrowheads="1"/>
          </p:cNvSpPr>
          <p:nvPr/>
        </p:nvSpPr>
        <p:spPr bwMode="auto">
          <a:xfrm>
            <a:off x="8069263" y="4464050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337" name="Text Box 353"/>
          <p:cNvSpPr txBox="1">
            <a:spLocks noChangeArrowheads="1"/>
          </p:cNvSpPr>
          <p:nvPr/>
        </p:nvSpPr>
        <p:spPr bwMode="auto">
          <a:xfrm>
            <a:off x="8126413" y="3529013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338" name="Text Box 354"/>
          <p:cNvSpPr txBox="1">
            <a:spLocks noChangeArrowheads="1"/>
          </p:cNvSpPr>
          <p:nvPr/>
        </p:nvSpPr>
        <p:spPr bwMode="auto">
          <a:xfrm>
            <a:off x="8636000" y="3529013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339" name="Text Box 355"/>
          <p:cNvSpPr txBox="1">
            <a:spLocks noChangeArrowheads="1"/>
          </p:cNvSpPr>
          <p:nvPr/>
        </p:nvSpPr>
        <p:spPr bwMode="auto">
          <a:xfrm>
            <a:off x="6958013" y="3516313"/>
            <a:ext cx="582612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340" name="Text Box 356"/>
          <p:cNvSpPr txBox="1">
            <a:spLocks noChangeArrowheads="1"/>
          </p:cNvSpPr>
          <p:nvPr/>
        </p:nvSpPr>
        <p:spPr bwMode="auto">
          <a:xfrm>
            <a:off x="7473950" y="3517900"/>
            <a:ext cx="582613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426341" name="Text Box 357"/>
          <p:cNvSpPr txBox="1">
            <a:spLocks noChangeArrowheads="1"/>
          </p:cNvSpPr>
          <p:nvPr/>
        </p:nvSpPr>
        <p:spPr bwMode="auto">
          <a:xfrm>
            <a:off x="6969125" y="2460625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1 </a:t>
            </a:r>
          </a:p>
        </p:txBody>
      </p:sp>
      <p:sp>
        <p:nvSpPr>
          <p:cNvPr id="426342" name="Text Box 358"/>
          <p:cNvSpPr txBox="1">
            <a:spLocks noChangeArrowheads="1"/>
          </p:cNvSpPr>
          <p:nvPr/>
        </p:nvSpPr>
        <p:spPr bwMode="auto">
          <a:xfrm>
            <a:off x="4697413" y="2446338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6 </a:t>
            </a:r>
          </a:p>
        </p:txBody>
      </p:sp>
      <p:sp>
        <p:nvSpPr>
          <p:cNvPr id="426343" name="Text Box 359"/>
          <p:cNvSpPr txBox="1">
            <a:spLocks noChangeArrowheads="1"/>
          </p:cNvSpPr>
          <p:nvPr/>
        </p:nvSpPr>
        <p:spPr bwMode="auto">
          <a:xfrm>
            <a:off x="7470775" y="2459038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 9 </a:t>
            </a:r>
          </a:p>
        </p:txBody>
      </p:sp>
      <p:sp>
        <p:nvSpPr>
          <p:cNvPr id="426344" name="Text Box 360"/>
          <p:cNvSpPr txBox="1">
            <a:spLocks noChangeArrowheads="1"/>
          </p:cNvSpPr>
          <p:nvPr/>
        </p:nvSpPr>
        <p:spPr bwMode="auto">
          <a:xfrm>
            <a:off x="7977188" y="2459038"/>
            <a:ext cx="582612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15</a:t>
            </a:r>
          </a:p>
        </p:txBody>
      </p:sp>
      <p:sp>
        <p:nvSpPr>
          <p:cNvPr id="426345" name="Text Box 361"/>
          <p:cNvSpPr txBox="1">
            <a:spLocks noChangeArrowheads="1"/>
          </p:cNvSpPr>
          <p:nvPr/>
        </p:nvSpPr>
        <p:spPr bwMode="auto">
          <a:xfrm>
            <a:off x="5195888" y="2459038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18</a:t>
            </a:r>
          </a:p>
        </p:txBody>
      </p:sp>
      <p:sp>
        <p:nvSpPr>
          <p:cNvPr id="426346" name="Text Box 362"/>
          <p:cNvSpPr txBox="1">
            <a:spLocks noChangeArrowheads="1"/>
          </p:cNvSpPr>
          <p:nvPr/>
        </p:nvSpPr>
        <p:spPr bwMode="auto">
          <a:xfrm>
            <a:off x="5695950" y="2447925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26</a:t>
            </a:r>
          </a:p>
        </p:txBody>
      </p:sp>
      <p:sp>
        <p:nvSpPr>
          <p:cNvPr id="426347" name="Text Box 363"/>
          <p:cNvSpPr txBox="1">
            <a:spLocks noChangeArrowheads="1"/>
          </p:cNvSpPr>
          <p:nvPr/>
        </p:nvSpPr>
        <p:spPr bwMode="auto">
          <a:xfrm>
            <a:off x="6203950" y="2446338"/>
            <a:ext cx="508000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32</a:t>
            </a:r>
          </a:p>
        </p:txBody>
      </p:sp>
      <p:sp>
        <p:nvSpPr>
          <p:cNvPr id="426348" name="Text Box 364"/>
          <p:cNvSpPr txBox="1">
            <a:spLocks noChangeArrowheads="1"/>
          </p:cNvSpPr>
          <p:nvPr/>
        </p:nvSpPr>
        <p:spPr bwMode="auto">
          <a:xfrm>
            <a:off x="8561388" y="2460625"/>
            <a:ext cx="582612" cy="47625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/>
              <a:t>43</a:t>
            </a:r>
          </a:p>
        </p:txBody>
      </p:sp>
      <p:sp>
        <p:nvSpPr>
          <p:cNvPr id="10353" name="Text Box 365"/>
          <p:cNvSpPr txBox="1">
            <a:spLocks noChangeArrowheads="1"/>
          </p:cNvSpPr>
          <p:nvPr/>
        </p:nvSpPr>
        <p:spPr bwMode="auto">
          <a:xfrm>
            <a:off x="1392238" y="857250"/>
            <a:ext cx="2065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000" u="sng">
                <a:solidFill>
                  <a:srgbClr val="CC3300"/>
                </a:solidFill>
              </a:rPr>
              <a:t>Original Sequence</a:t>
            </a:r>
          </a:p>
        </p:txBody>
      </p:sp>
      <p:sp>
        <p:nvSpPr>
          <p:cNvPr id="10354" name="Text Box 366"/>
          <p:cNvSpPr txBox="1">
            <a:spLocks noChangeArrowheads="1"/>
          </p:cNvSpPr>
          <p:nvPr/>
        </p:nvSpPr>
        <p:spPr bwMode="auto">
          <a:xfrm>
            <a:off x="5770563" y="884238"/>
            <a:ext cx="1882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000" u="sng">
                <a:solidFill>
                  <a:srgbClr val="CC3300"/>
                </a:solidFill>
              </a:rPr>
              <a:t>Sorted Sequence</a:t>
            </a:r>
          </a:p>
        </p:txBody>
      </p:sp>
    </p:spTree>
    <p:extLst>
      <p:ext uri="{BB962C8B-B14F-4D97-AF65-F5344CB8AC3E}">
        <p14:creationId xmlns:p14="http://schemas.microsoft.com/office/powerpoint/2010/main" val="338998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2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2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2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42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42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42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4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 nodeType="clickPar">
                      <p:stCondLst>
                        <p:cond delay="indefinite"/>
                      </p:stCondLst>
                      <p:childTnLst>
                        <p:par>
                          <p:cTn id="3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159" grpId="0" animBg="1" autoUpdateAnimBg="0"/>
      <p:bldP spid="426160" grpId="0" animBg="1" autoUpdateAnimBg="0"/>
      <p:bldP spid="426161" grpId="0" animBg="1" autoUpdateAnimBg="0"/>
      <p:bldP spid="426162" grpId="0" animBg="1" autoUpdateAnimBg="0"/>
      <p:bldP spid="426163" grpId="0" animBg="1" autoUpdateAnimBg="0"/>
      <p:bldP spid="426164" grpId="0" animBg="1" autoUpdateAnimBg="0"/>
      <p:bldP spid="426165" grpId="0" animBg="1" autoUpdateAnimBg="0"/>
      <p:bldP spid="426166" grpId="0" animBg="1" autoUpdateAnimBg="0"/>
      <p:bldP spid="426175" grpId="0" animBg="1" autoUpdateAnimBg="0"/>
      <p:bldP spid="426176" grpId="0" animBg="1" autoUpdateAnimBg="0"/>
      <p:bldP spid="426180" grpId="0" animBg="1" autoUpdateAnimBg="0"/>
      <p:bldP spid="426181" grpId="0" animBg="1" autoUpdateAnimBg="0"/>
      <p:bldP spid="426184" grpId="0" animBg="1" autoUpdateAnimBg="0"/>
      <p:bldP spid="426185" grpId="0" animBg="1" autoUpdateAnimBg="0"/>
      <p:bldP spid="426188" grpId="0" animBg="1" autoUpdateAnimBg="0"/>
      <p:bldP spid="426189" grpId="0" animBg="1" autoUpdateAnimBg="0"/>
      <p:bldP spid="426195" grpId="0" animBg="1" autoUpdateAnimBg="0"/>
      <p:bldP spid="426196" grpId="0" animBg="1" autoUpdateAnimBg="0"/>
      <p:bldP spid="426197" grpId="0" animBg="1" autoUpdateAnimBg="0"/>
      <p:bldP spid="426198" grpId="0" animBg="1" autoUpdateAnimBg="0"/>
      <p:bldP spid="426201" grpId="0" animBg="1" autoUpdateAnimBg="0"/>
      <p:bldP spid="426202" grpId="0" animBg="1" autoUpdateAnimBg="0"/>
      <p:bldP spid="426203" grpId="0" animBg="1" autoUpdateAnimBg="0"/>
      <p:bldP spid="426204" grpId="0" animBg="1" autoUpdateAnimBg="0"/>
      <p:bldP spid="426207" grpId="0" animBg="1" autoUpdateAnimBg="0"/>
      <p:bldP spid="426208" grpId="0" animBg="1" autoUpdateAnimBg="0"/>
      <p:bldP spid="426209" grpId="0" animBg="1" autoUpdateAnimBg="0"/>
      <p:bldP spid="426210" grpId="0" animBg="1" autoUpdateAnimBg="0"/>
      <p:bldP spid="426211" grpId="0" animBg="1" autoUpdateAnimBg="0"/>
      <p:bldP spid="426212" grpId="0" animBg="1" autoUpdateAnimBg="0"/>
      <p:bldP spid="426213" grpId="0" animBg="1" autoUpdateAnimBg="0"/>
      <p:bldP spid="426214" grpId="0" animBg="1" autoUpdateAnimBg="0"/>
      <p:bldP spid="426237" grpId="0" animBg="1" autoUpdateAnimBg="0"/>
      <p:bldP spid="426238" grpId="0" animBg="1" autoUpdateAnimBg="0"/>
      <p:bldP spid="426239" grpId="0" animBg="1" autoUpdateAnimBg="0"/>
      <p:bldP spid="426240" grpId="0" animBg="1" autoUpdateAnimBg="0"/>
      <p:bldP spid="426254" grpId="0" animBg="1" autoUpdateAnimBg="0"/>
      <p:bldP spid="426255" grpId="0" animBg="1" autoUpdateAnimBg="0"/>
      <p:bldP spid="426256" grpId="0" animBg="1" autoUpdateAnimBg="0"/>
      <p:bldP spid="426257" grpId="0" animBg="1" autoUpdateAnimBg="0"/>
      <p:bldP spid="426277" grpId="0" animBg="1" autoUpdateAnimBg="0"/>
      <p:bldP spid="426278" grpId="0" animBg="1" autoUpdateAnimBg="0"/>
      <p:bldP spid="426279" grpId="0" animBg="1" autoUpdateAnimBg="0"/>
      <p:bldP spid="426280" grpId="0" animBg="1" autoUpdateAnimBg="0"/>
      <p:bldP spid="426290" grpId="0" animBg="1" autoUpdateAnimBg="0"/>
      <p:bldP spid="426291" grpId="0" animBg="1" autoUpdateAnimBg="0"/>
      <p:bldP spid="426292" grpId="0" animBg="1" autoUpdateAnimBg="0"/>
      <p:bldP spid="426293" grpId="0" animBg="1" autoUpdateAnimBg="0"/>
      <p:bldP spid="426325" grpId="0" animBg="1" autoUpdateAnimBg="0"/>
      <p:bldP spid="426326" grpId="0" animBg="1" autoUpdateAnimBg="0"/>
      <p:bldP spid="426327" grpId="0" animBg="1" autoUpdateAnimBg="0"/>
      <p:bldP spid="426328" grpId="0" animBg="1" autoUpdateAnimBg="0"/>
      <p:bldP spid="426329" grpId="0" animBg="1" autoUpdateAnimBg="0"/>
      <p:bldP spid="426330" grpId="0" animBg="1" autoUpdateAnimBg="0"/>
      <p:bldP spid="426331" grpId="0" animBg="1" autoUpdateAnimBg="0"/>
      <p:bldP spid="426332" grpId="0" animBg="1" autoUpdateAnimBg="0"/>
      <p:bldP spid="426333" grpId="0" animBg="1" autoUpdateAnimBg="0"/>
      <p:bldP spid="426334" grpId="0" animBg="1" autoUpdateAnimBg="0"/>
      <p:bldP spid="426335" grpId="0" animBg="1" autoUpdateAnimBg="0"/>
      <p:bldP spid="426336" grpId="0" animBg="1" autoUpdateAnimBg="0"/>
      <p:bldP spid="426337" grpId="0" animBg="1" autoUpdateAnimBg="0"/>
      <p:bldP spid="426338" grpId="0" animBg="1" autoUpdateAnimBg="0"/>
      <p:bldP spid="426339" grpId="0" animBg="1" autoUpdateAnimBg="0"/>
      <p:bldP spid="426340" grpId="0" animBg="1" autoUpdateAnimBg="0"/>
      <p:bldP spid="426341" grpId="0" animBg="1" autoUpdateAnimBg="0"/>
      <p:bldP spid="426342" grpId="0" animBg="1" autoUpdateAnimBg="0"/>
      <p:bldP spid="426343" grpId="0" animBg="1" autoUpdateAnimBg="0"/>
      <p:bldP spid="426344" grpId="0" animBg="1" autoUpdateAnimBg="0"/>
      <p:bldP spid="426345" grpId="0" animBg="1" autoUpdateAnimBg="0"/>
      <p:bldP spid="426346" grpId="0" animBg="1" autoUpdateAnimBg="0"/>
      <p:bldP spid="426347" grpId="0" animBg="1" autoUpdateAnimBg="0"/>
      <p:bldP spid="42634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1642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1642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1642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1642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1642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165118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18467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18468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18469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18470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18471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18472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18473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18474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18475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18476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18478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18479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18480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18481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21084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0515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0517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0518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0519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0520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0521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0522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0523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0524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0525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0526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0527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0528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0529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0530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0531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0532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0533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906447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2566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2567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2568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2570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2571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2572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2573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2574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2575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2576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2577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2578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2579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2580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2581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2582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2583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2984912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4613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4614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4615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4616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4617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4618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4619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4620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4621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4622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4623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4624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4625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4626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4627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4628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4629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4630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4631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4632" name="Text Box 24"/>
          <p:cNvSpPr txBox="1">
            <a:spLocks noChangeArrowheads="1"/>
          </p:cNvSpPr>
          <p:nvPr/>
        </p:nvSpPr>
        <p:spPr bwMode="auto">
          <a:xfrm>
            <a:off x="1600200" y="42672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2045532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666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666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666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666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6666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6668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6669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6670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6671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6672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6673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6674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6675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6676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6677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6678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6679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6680" name="Text Box 24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6681" name="Text Box 25"/>
          <p:cNvSpPr txBox="1">
            <a:spLocks noChangeArrowheads="1"/>
          </p:cNvSpPr>
          <p:nvPr/>
        </p:nvSpPr>
        <p:spPr bwMode="auto">
          <a:xfrm>
            <a:off x="1600200" y="42672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06363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8709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8710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8711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8712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8713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8714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28715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8716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8717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8718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28719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28720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8721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28722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28723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8724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28725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8726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8727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8728" name="Text Box 24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28729" name="Text Box 25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28730" name="Text Box 26"/>
          <p:cNvSpPr txBox="1">
            <a:spLocks noChangeArrowheads="1"/>
          </p:cNvSpPr>
          <p:nvPr/>
        </p:nvSpPr>
        <p:spPr bwMode="auto">
          <a:xfrm>
            <a:off x="1600200" y="42672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247330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0755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0756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0757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0758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0759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0760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0761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0762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0763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0764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0765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0766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0767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0768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0769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0770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0771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0772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0773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0774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0775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0776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0777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0778" name="Text Box 26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0779" name="Text Box 27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409598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Text Box 1026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2803" name="Text Box 1027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2804" name="Text Box 1028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2805" name="Text Box 1029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2806" name="Text Box 1030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2807" name="Text Box 1031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2808" name="Text Box 1032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2809" name="Text Box 1033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2810" name="Text Box 1034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2811" name="Text Box 1035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2812" name="Text Box 1036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2813" name="Text Box 1037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2814" name="Text Box 1038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2815" name="Text Box 1039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2816" name="Text Box 1040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2817" name="Text Box 1041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2818" name="Text Box 1042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2819" name="Text Box 1043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2820" name="Text Box 1044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2821" name="Text Box 1045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2822" name="Text Box 1046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2823" name="Text Box 1047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2824" name="Text Box 1048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2825" name="Text Box 1049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2826" name="Text Box 1050"/>
          <p:cNvSpPr txBox="1">
            <a:spLocks noChangeArrowheads="1"/>
          </p:cNvSpPr>
          <p:nvPr/>
        </p:nvSpPr>
        <p:spPr bwMode="auto">
          <a:xfrm>
            <a:off x="3276600" y="44196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32827" name="Text Box 1051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2828" name="Text Box 1052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015001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4852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4854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4856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4857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4858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4859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4860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4861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4862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4863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4864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4865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4866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4867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4868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4869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4870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4871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4872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4873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4874" name="Text Box 26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4875" name="Text Box 27"/>
          <p:cNvSpPr txBox="1">
            <a:spLocks noChangeArrowheads="1"/>
          </p:cNvSpPr>
          <p:nvPr/>
        </p:nvSpPr>
        <p:spPr bwMode="auto">
          <a:xfrm>
            <a:off x="3276600" y="44196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34876" name="Text Box 28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4877" name="Text Box 29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26135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Text Box 1026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6899" name="Text Box 1027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6900" name="Text Box 1028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6901" name="Text Box 1029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6902" name="Text Box 1030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6903" name="Text Box 1031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6904" name="Text Box 1032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6905" name="Text Box 1033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6906" name="Text Box 1034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6907" name="Text Box 1035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6908" name="Text Box 1036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6909" name="Text Box 1037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6910" name="Text Box 1038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6911" name="Text Box 1039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6912" name="Text Box 1040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6913" name="Text Box 1041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6914" name="Text Box 1042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6915" name="Text Box 1043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6916" name="Text Box 1044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6917" name="Text Box 1045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6918" name="Text Box 1046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6919" name="Text Box 1047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6920" name="Text Box 1048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6921" name="Text Box 1049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6922" name="Text Box 1050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6923" name="Text Box 1051"/>
          <p:cNvSpPr txBox="1">
            <a:spLocks noChangeArrowheads="1"/>
          </p:cNvSpPr>
          <p:nvPr/>
        </p:nvSpPr>
        <p:spPr bwMode="auto">
          <a:xfrm>
            <a:off x="3276600" y="44196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36924" name="Text Box 1052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6925" name="Text Box 1053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6926" name="Text Box 1054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8522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Text Box 1026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8947" name="Text Box 1027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8948" name="Text Box 1028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8949" name="Text Box 1029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8950" name="Text Box 1030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8951" name="Text Box 1031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8952" name="Text Box 1032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8953" name="Text Box 1033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8954" name="Text Box 1034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38955" name="Text Box 1035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8956" name="Text Box 1036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8957" name="Text Box 1037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8958" name="Text Box 1038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38959" name="Text Box 1039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38960" name="Text Box 1040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8961" name="Text Box 1041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38962" name="Text Box 1042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8963" name="Text Box 1043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8964" name="Text Box 1044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8965" name="Text Box 1045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8966" name="Text Box 1046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38967" name="Text Box 1047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8968" name="Text Box 1048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8969" name="Text Box 1049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8970" name="Text Box 1050"/>
          <p:cNvSpPr txBox="1">
            <a:spLocks noChangeArrowheads="1"/>
          </p:cNvSpPr>
          <p:nvPr/>
        </p:nvSpPr>
        <p:spPr bwMode="auto"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38971" name="Text Box 1051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38972" name="Text Box 1052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38973" name="Text Box 1053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38974" name="Text Box 1054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429064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Text Box 1026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0995" name="Text Box 1027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0996" name="Text Box 1028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0997" name="Text Box 1029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0998" name="Text Box 1030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0999" name="Text Box 1031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1000" name="Text Box 1032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1001" name="Text Box 1033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1002" name="Text Box 1034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1003" name="Text Box 1035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1004" name="Text Box 1036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1005" name="Text Box 1037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1006" name="Text Box 1038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1007" name="Text Box 1039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1008" name="Text Box 1040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1009" name="Text Box 1041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1010" name="Text Box 1042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1011" name="Text Box 1043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1012" name="Text Box 1044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1013" name="Text Box 1045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1014" name="Text Box 1046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1015" name="Text Box 1047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1016" name="Text Box 1048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1017" name="Text Box 1049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1018" name="Text Box 1050"/>
          <p:cNvSpPr txBox="1">
            <a:spLocks noChangeArrowheads="1"/>
          </p:cNvSpPr>
          <p:nvPr/>
        </p:nvSpPr>
        <p:spPr bwMode="auto"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41019" name="Text Box 1051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1020" name="Text Box 1052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1021" name="Text Box 105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1022" name="Text Box 1054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1023" name="Text Box 1055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543939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Text Box 1026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3043" name="Text Box 1027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3044" name="Text Box 1028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3045" name="Text Box 1029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3046" name="Text Box 1030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3047" name="Text Box 1031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3048" name="Text Box 1032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3049" name="Text Box 1033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3050" name="Text Box 1034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3051" name="Text Box 1035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3052" name="Text Box 1036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3053" name="Text Box 1037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3054" name="Text Box 1038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3055" name="Text Box 1039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3056" name="Text Box 1040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3057" name="Text Box 1041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3058" name="Text Box 1042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3059" name="Text Box 1043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3060" name="Text Box 1044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3061" name="Text Box 1045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3062" name="Text Box 1046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3063" name="Text Box 1047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3064" name="Text Box 1048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3065" name="Text Box 1049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3066" name="Text Box 1050"/>
          <p:cNvSpPr txBox="1">
            <a:spLocks noChangeArrowheads="1"/>
          </p:cNvSpPr>
          <p:nvPr/>
        </p:nvSpPr>
        <p:spPr bwMode="auto"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43067" name="Text Box 1051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3068" name="Text Box 1052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3069" name="Text Box 105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3070" name="Text Box 105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3071" name="Text Box 1055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3072" name="Text Box 1056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701272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Text Box 1026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5091" name="Text Box 1027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5092" name="Text Box 1028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5093" name="Text Box 1029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5094" name="Text Box 1030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5095" name="Text Box 1031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5096" name="Text Box 1032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5097" name="Text Box 1033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5098" name="Text Box 1034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5099" name="Text Box 1035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5100" name="Text Box 1036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5101" name="Text Box 1037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5102" name="Text Box 1038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5103" name="Text Box 1039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5104" name="Text Box 1040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5105" name="Text Box 1041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5106" name="Text Box 1042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5107" name="Text Box 1043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5108" name="Text Box 1044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5109" name="Text Box 1045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5110" name="Text Box 1046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5111" name="Text Box 1047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5112" name="Text Box 1048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5113" name="Text Box 1049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5114" name="Text Box 1050"/>
          <p:cNvSpPr txBox="1">
            <a:spLocks noChangeArrowheads="1"/>
          </p:cNvSpPr>
          <p:nvPr/>
        </p:nvSpPr>
        <p:spPr bwMode="auto"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45115" name="Text Box 1051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5116" name="Text Box 1052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5117" name="Text Box 1053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5118" name="Text Box 1054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5119" name="Text Box 1055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5120" name="Text Box 1056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5121" name="Text Box 1057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223419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713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714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714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714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714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714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7146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7147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7148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7149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7150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7151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7152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7153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7154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7155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7156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7157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7158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7159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7160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7161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7162" name="Text Box 26"/>
          <p:cNvSpPr txBox="1">
            <a:spLocks noChangeArrowheads="1"/>
          </p:cNvSpPr>
          <p:nvPr/>
        </p:nvSpPr>
        <p:spPr bwMode="auto"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47163" name="Text Box 27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7164" name="Text Box 28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7165" name="Text Box 29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7166" name="Text Box 30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7167" name="Text Box 31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7168" name="Text Box 32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7169" name="Text Box 33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7170" name="Text Box 34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564111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9187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9188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9189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9190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9191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9192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9193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9194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9195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9196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9197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9198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9199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9200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9201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9202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9203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9204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9205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9206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9207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9208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9209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9210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49211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49212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49213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49214" name="Text Box 30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9215" name="Text Box 31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49216" name="Text Box 32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9217" name="Text Box 33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9218" name="Text Box 34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49219" name="Text Box 35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49220" name="Text Box 36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49221" name="Text Box 37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060983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1235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1236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1237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1238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1239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1240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1241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1242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1243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1244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1245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1246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1247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1248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1249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1250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1251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1252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1253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1254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1255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1256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1257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1258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1259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1260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1261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1262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1263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1264" name="Text Box 32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1265" name="Text Box 33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1266" name="Text Box 34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1267" name="Text Box 35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1268" name="Text Box 36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1269" name="Text Box 37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1270" name="Text Box 38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1271" name="Text Box 39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380344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3283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3284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3285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3286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3287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3288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3289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3290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3291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3292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3293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3294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3295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3296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3297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3298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3299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3300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3301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3302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3303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3304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3305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3306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3307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3308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3309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3310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3311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3312" name="Text Box 32"/>
          <p:cNvSpPr txBox="1">
            <a:spLocks noChangeArrowheads="1"/>
          </p:cNvSpPr>
          <p:nvPr/>
        </p:nvSpPr>
        <p:spPr bwMode="auto">
          <a:xfrm>
            <a:off x="49530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53313" name="Text Box 33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3314" name="Text Box 34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3315" name="Text Box 35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3316" name="Text Box 36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3317" name="Text Box 37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3318" name="Text Box 38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3319" name="Text Box 39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3320" name="Text Box 40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275534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5331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5332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5333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5334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5335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5336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5337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5338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5339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5340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5341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5342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5343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5344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5345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5346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5347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5348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5349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5350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5351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5352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5353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5354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5355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5356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5357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5358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5359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5360" name="Text Box 32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5361" name="Text Box 33"/>
          <p:cNvSpPr txBox="1">
            <a:spLocks noChangeArrowheads="1"/>
          </p:cNvSpPr>
          <p:nvPr/>
        </p:nvSpPr>
        <p:spPr bwMode="auto">
          <a:xfrm>
            <a:off x="49530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55362" name="Text Box 34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5363" name="Text Box 35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5364" name="Text Box 36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5365" name="Text Box 37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5366" name="Text Box 38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5367" name="Text Box 39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5368" name="Text Box 40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5369" name="Text Box 41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539793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737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738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738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738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738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738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738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7386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7387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7388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7389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7390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7391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7392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7393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7394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7395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7396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7397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7398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7399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7400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7401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7402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7403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7404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7405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7406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7407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7408" name="Text Box 32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7409" name="Text Box 33"/>
          <p:cNvSpPr txBox="1">
            <a:spLocks noChangeArrowheads="1"/>
          </p:cNvSpPr>
          <p:nvPr/>
        </p:nvSpPr>
        <p:spPr bwMode="auto">
          <a:xfrm>
            <a:off x="49530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57410" name="Text Box 34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7411" name="Text Box 35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7412" name="Text Box 36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7413" name="Text Box 37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7414" name="Text Box 38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7415" name="Text Box 39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7416" name="Text Box 40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7417" name="Text Box 41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7418" name="Text Box 42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515231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9427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9428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9429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9430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9431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9432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9433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9434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9435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9436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9437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9438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9439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9440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9441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9442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9443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9444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9445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9446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9447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9448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9449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9450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9451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9452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9453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9454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9455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9456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59457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59458" name="Text Box 34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9459" name="Text Box 35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59460" name="Text Box 36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9461" name="Text Box 37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9462" name="Text Box 38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59463" name="Text Box 39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59464" name="Text Box 40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59465" name="Text Box 41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59466" name="Text Box 42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59467" name="Text Box 43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2741048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1475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1476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1477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1478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1479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1480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1481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1482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1483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1484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1485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1486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1487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1488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1489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1490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1491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1492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1493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1494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1495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1496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1497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1498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1499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1500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1501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1502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1503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1504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1505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1506" name="Text Box 34"/>
          <p:cNvSpPr txBox="1">
            <a:spLocks noChangeArrowheads="1"/>
          </p:cNvSpPr>
          <p:nvPr/>
        </p:nvSpPr>
        <p:spPr bwMode="auto">
          <a:xfrm>
            <a:off x="66294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61507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1508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1509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1510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1511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1512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1513" name="Text Box 41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1514" name="Text Box 42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1515" name="Text Box 43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1516" name="Text Box 44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406344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3523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3524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3525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3526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3527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3528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3529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3530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3531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3532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3533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3534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3535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3536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3537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3538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3539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3540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3541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3542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3543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3544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3545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3546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3547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3548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3549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3550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3551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3552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3553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3554" name="Text Box 34"/>
          <p:cNvSpPr txBox="1">
            <a:spLocks noChangeArrowheads="1"/>
          </p:cNvSpPr>
          <p:nvPr/>
        </p:nvSpPr>
        <p:spPr bwMode="auto">
          <a:xfrm>
            <a:off x="66294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63555" name="Text Box 35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3556" name="Text Box 36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3557" name="Text Box 37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3558" name="Text Box 38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3559" name="Text Box 39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3560" name="Text Box 40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3561" name="Text Box 41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3562" name="Text Box 42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3563" name="Text Box 4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3564" name="Text Box 4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3565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734403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5571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5572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5573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5574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5575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5576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5577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5578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5579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5580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5581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5582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5583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5584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5585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5586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5587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5588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5589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5590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5591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5592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5593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5594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5595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5596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5597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5598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5599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5600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5601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5602" name="Text Box 34"/>
          <p:cNvSpPr txBox="1">
            <a:spLocks noChangeArrowheads="1"/>
          </p:cNvSpPr>
          <p:nvPr/>
        </p:nvSpPr>
        <p:spPr bwMode="auto">
          <a:xfrm>
            <a:off x="66294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65603" name="Text Box 35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5604" name="Text Box 36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5605" name="Text Box 37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5606" name="Text Box 38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5607" name="Text Box 39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5608" name="Text Box 40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5609" name="Text Box 41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5610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5611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5612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5613" name="Text Box 4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5614" name="Text Box 46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35278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761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762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762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762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762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762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762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7626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7627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7628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7629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7630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7631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7632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7633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7634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7635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7636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7637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7638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7639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7640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7641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7642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7643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7644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7645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7646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7647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7648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7649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7650" name="Text Box 34"/>
          <p:cNvSpPr txBox="1">
            <a:spLocks noChangeArrowheads="1"/>
          </p:cNvSpPr>
          <p:nvPr/>
        </p:nvSpPr>
        <p:spPr bwMode="auto"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67651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7652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7653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7654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7655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7656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7657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7658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7659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7660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7661" name="Text Box 4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7662" name="Text Box 46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22701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9667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9668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9669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9670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9671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9672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9673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9674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9675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9676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9677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9678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9679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9680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9681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9682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9683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9684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9685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9686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9687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9688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9689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9690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9691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9692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9693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9694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69695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9696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9697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9698" name="Text Box 34"/>
          <p:cNvSpPr txBox="1">
            <a:spLocks noChangeArrowheads="1"/>
          </p:cNvSpPr>
          <p:nvPr/>
        </p:nvSpPr>
        <p:spPr bwMode="auto"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69699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9700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9701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9702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9703" name="Text Box 39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9704" name="Text Box 40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69705" name="Text Box 41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69706" name="Text Box 42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69707" name="Text Box 4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69708" name="Text Box 4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69709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69710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69711" name="Text Box 47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538657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1715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1716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1717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1718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1719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1720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1721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1722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1723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1724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1725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1726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1727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1728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1729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1730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1731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1732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1733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1734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1735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1736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1737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1738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1739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1740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1741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1742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1743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1744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1745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1746" name="Text Box 34"/>
          <p:cNvSpPr txBox="1">
            <a:spLocks noChangeArrowheads="1"/>
          </p:cNvSpPr>
          <p:nvPr/>
        </p:nvSpPr>
        <p:spPr bwMode="auto"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71747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1748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1749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1750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1751" name="Text Box 39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1752" name="Text Box 40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1753" name="Text Box 41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1754" name="Text Box 42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1755" name="Text Box 43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1756" name="Text Box 44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1757" name="Text Box 45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1758" name="Text Box 46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1759" name="Text Box 47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1760" name="Text Box 48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150945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3763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3764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3765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3766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3767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3768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3769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3770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3771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3772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3773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3774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3775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3776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3777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3778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3779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3780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3781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3782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3783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3784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3785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3786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3787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3788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3789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3790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3791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3792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3793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3794" name="Text Box 34"/>
          <p:cNvSpPr txBox="1">
            <a:spLocks noChangeArrowheads="1"/>
          </p:cNvSpPr>
          <p:nvPr/>
        </p:nvSpPr>
        <p:spPr bwMode="auto"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73795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3796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3797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3798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3799" name="Text Box 39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3800" name="Text Box 40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3801" name="Text Box 41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3802" name="Text Box 42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3803" name="Text Box 4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3804" name="Text Box 4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3805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3806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3807" name="Text Box 4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3808" name="Text Box 48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3809" name="Text Box 4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707841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5811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5812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5813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5814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5815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5816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5817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5818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5819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5820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5821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5822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5823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5824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5825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5826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5827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5828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5829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5830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5831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5832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5833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5834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5835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5836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5837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5838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5839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5840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5841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5842" name="Text Box 34"/>
          <p:cNvSpPr txBox="1">
            <a:spLocks noChangeArrowheads="1"/>
          </p:cNvSpPr>
          <p:nvPr/>
        </p:nvSpPr>
        <p:spPr bwMode="auto"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75843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5844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5845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5846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5847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5848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5849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5850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5851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5852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5853" name="Text Box 4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5854" name="Text Box 46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5855" name="Text Box 47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5856" name="Text Box 48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5857" name="Text Box 49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5858" name="Text Box 50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940934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785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786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786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786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786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786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786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7866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7867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7868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7869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7870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7871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7872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7873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7874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7875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7876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7877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7878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7879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7880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7881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7882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7883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7884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7885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7886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7887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7888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7889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7890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77891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7892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7893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7894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7895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7896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7897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7898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7899" name="Text Box 4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7900" name="Text Box 4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7901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7902" name="Text Box 46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7903" name="Text Box 4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7904" name="Text Box 4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7905" name="Text Box 49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7906" name="Text Box 50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35245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9907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9908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9909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9910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9911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9912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9913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9914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9915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9916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9917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9918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9919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9920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9921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9922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9923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9924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9925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9926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9927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9928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9929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9930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9931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9932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9933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9934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9935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9936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9937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9938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79939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9940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9941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9942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9943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9944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9945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9946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79947" name="Text Box 4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79948" name="Text Box 4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79949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79950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9951" name="Text Box 4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79952" name="Text Box 4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79953" name="Text Box 4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79954" name="Text Box 50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79955" name="Text Box 51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243589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1955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1956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1957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1958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1959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1960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1961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1962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1963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1964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1965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1966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1967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1968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1969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1970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1971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1972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1973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1974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1975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1976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1977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1978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1979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1980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1981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1982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1983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1984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1985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1986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81987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1988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1989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1990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1991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1992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1993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1994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1995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1996" name="Text Box 4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1997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1998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1999" name="Text Box 4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2000" name="Text Box 4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2001" name="Text Box 4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2002" name="Text Box 5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2003" name="Text Box 51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2004" name="Text Box 52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439311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4003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4004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4005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4006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4007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4008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4009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4010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4011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4012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4013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4014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4015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4016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4017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4018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4019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4020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4021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4022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4023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4024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4025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4026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4027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4028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4029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4030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4031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4032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4033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4034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84035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4036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4037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4038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4039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4040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4041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4042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4043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4044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4045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4046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4047" name="Text Box 4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4048" name="Text Box 4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4049" name="Text Box 4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4050" name="Text Box 5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4051" name="Text Box 5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4052" name="Text Box 52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4053" name="Text Box 53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7263079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6051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6052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6053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6054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6055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6056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6057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6058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6059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6060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6061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6062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6063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6064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6065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6066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6067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6068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6069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6070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6071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6072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6073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6074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6075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6076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6077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6078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6079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6080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6081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6082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86083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6084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6085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6086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6087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6088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6089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6090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6091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6092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6093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6094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6095" name="Text Box 4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6096" name="Text Box 4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6097" name="Text Box 4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6098" name="Text Box 5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6099" name="Text Box 5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6100" name="Text Box 52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6101" name="Text Box 53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6102" name="Text Box 54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1863166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809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810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810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810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810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810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810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8106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8107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8108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8109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8110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8111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8112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8113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8114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8115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8116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8117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8118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8119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8120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8121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8122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8123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8124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8125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8126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8127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8128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8129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8130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88131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8132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8133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8134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8135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88136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8137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8138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8139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8140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8141" name="Text Box 4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88142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8143" name="Text Box 4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8144" name="Text Box 48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8145" name="Text Box 4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88146" name="Text Box 5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88147" name="Text Box 5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88148" name="Text Box 52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88149" name="Text Box 53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88150" name="Text Box 5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88151" name="Text Box 55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477927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0147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0148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0149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0150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0151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0152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0153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0154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0155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0156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0157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0158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0159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0160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0161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0162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0163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0164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0165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0166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0167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0168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0169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0170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0171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0172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0173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0174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0175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0176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0177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0178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90179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0180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0181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0182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0183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0184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0185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0186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0187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0188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0189" name="Text Box 4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0190" name="Text Box 4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0191" name="Text Box 4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0192" name="Text Box 48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0193" name="Text Box 4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0194" name="Text Box 5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0195" name="Text Box 5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0196" name="Text Box 52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0197" name="Text Box 53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0198" name="Text Box 54"/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0199" name="Text Box 5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0200" name="Text Box 56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23928246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2195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2196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2197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2198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2199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2200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2201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2202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2203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2204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2205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2206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2207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2208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2209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2210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2211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2212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2213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2214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2215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2216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2217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2218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2219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2220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2221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2222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2223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2224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2225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2226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92227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2228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2229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2230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2231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2232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2233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2234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2235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2236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2237" name="Text Box 4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2238" name="Text Box 46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2239" name="Text Box 47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2240" name="Text Box 48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2241" name="Text Box 49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2242" name="Text Box 50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2243" name="Text Box 51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2244" name="Text Box 52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2245" name="Text Box 53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2246" name="Text Box 54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2247" name="Text Box 55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2248" name="Text Box 56"/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2249" name="Text Box 57"/>
          <p:cNvSpPr txBox="1">
            <a:spLocks noChangeArrowheads="1"/>
          </p:cNvSpPr>
          <p:nvPr/>
        </p:nvSpPr>
        <p:spPr bwMode="auto">
          <a:xfrm>
            <a:off x="5761038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4245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4243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4244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4245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4246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4247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4248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4249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4250" name="Text Box 10"/>
          <p:cNvSpPr txBox="1">
            <a:spLocks noChangeArrowheads="1"/>
          </p:cNvSpPr>
          <p:nvPr/>
        </p:nvSpPr>
        <p:spPr bwMode="auto"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4251" name="Text Box 11"/>
          <p:cNvSpPr txBox="1">
            <a:spLocks noChangeArrowheads="1"/>
          </p:cNvSpPr>
          <p:nvPr/>
        </p:nvSpPr>
        <p:spPr bwMode="auto"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4252" name="Text Box 12"/>
          <p:cNvSpPr txBox="1">
            <a:spLocks noChangeArrowheads="1"/>
          </p:cNvSpPr>
          <p:nvPr/>
        </p:nvSpPr>
        <p:spPr bwMode="auto"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4253" name="Text Box 13"/>
          <p:cNvSpPr txBox="1">
            <a:spLocks noChangeArrowheads="1"/>
          </p:cNvSpPr>
          <p:nvPr/>
        </p:nvSpPr>
        <p:spPr bwMode="auto"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4254" name="Text Box 14"/>
          <p:cNvSpPr txBox="1">
            <a:spLocks noChangeArrowheads="1"/>
          </p:cNvSpPr>
          <p:nvPr/>
        </p:nvSpPr>
        <p:spPr bwMode="auto"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4255" name="Text Box 15"/>
          <p:cNvSpPr txBox="1">
            <a:spLocks noChangeArrowheads="1"/>
          </p:cNvSpPr>
          <p:nvPr/>
        </p:nvSpPr>
        <p:spPr bwMode="auto"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4256" name="Text Box 16"/>
          <p:cNvSpPr txBox="1">
            <a:spLocks noChangeArrowheads="1"/>
          </p:cNvSpPr>
          <p:nvPr/>
        </p:nvSpPr>
        <p:spPr bwMode="auto"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4257" name="Text Box 17"/>
          <p:cNvSpPr txBox="1">
            <a:spLocks noChangeArrowheads="1"/>
          </p:cNvSpPr>
          <p:nvPr/>
        </p:nvSpPr>
        <p:spPr bwMode="auto"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4258" name="Text Box 18"/>
          <p:cNvSpPr txBox="1">
            <a:spLocks noChangeArrowheads="1"/>
          </p:cNvSpPr>
          <p:nvPr/>
        </p:nvSpPr>
        <p:spPr bwMode="auto"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4259" name="Text Box 19"/>
          <p:cNvSpPr txBox="1">
            <a:spLocks noChangeArrowheads="1"/>
          </p:cNvSpPr>
          <p:nvPr/>
        </p:nvSpPr>
        <p:spPr bwMode="auto"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4260" name="Text Box 20"/>
          <p:cNvSpPr txBox="1">
            <a:spLocks noChangeArrowheads="1"/>
          </p:cNvSpPr>
          <p:nvPr/>
        </p:nvSpPr>
        <p:spPr bwMode="auto"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4261" name="Text Box 21"/>
          <p:cNvSpPr txBox="1">
            <a:spLocks noChangeArrowheads="1"/>
          </p:cNvSpPr>
          <p:nvPr/>
        </p:nvSpPr>
        <p:spPr bwMode="auto"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4262" name="Text Box 22"/>
          <p:cNvSpPr txBox="1">
            <a:spLocks noChangeArrowheads="1"/>
          </p:cNvSpPr>
          <p:nvPr/>
        </p:nvSpPr>
        <p:spPr bwMode="auto"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4263" name="Text Box 23"/>
          <p:cNvSpPr txBox="1">
            <a:spLocks noChangeArrowheads="1"/>
          </p:cNvSpPr>
          <p:nvPr/>
        </p:nvSpPr>
        <p:spPr bwMode="auto"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4264" name="Text Box 24"/>
          <p:cNvSpPr txBox="1">
            <a:spLocks noChangeArrowheads="1"/>
          </p:cNvSpPr>
          <p:nvPr/>
        </p:nvSpPr>
        <p:spPr bwMode="auto"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4265" name="Text Box 25"/>
          <p:cNvSpPr txBox="1">
            <a:spLocks noChangeArrowheads="1"/>
          </p:cNvSpPr>
          <p:nvPr/>
        </p:nvSpPr>
        <p:spPr bwMode="auto"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4266" name="Text Box 26"/>
          <p:cNvSpPr txBox="1">
            <a:spLocks noChangeArrowheads="1"/>
          </p:cNvSpPr>
          <p:nvPr/>
        </p:nvSpPr>
        <p:spPr bwMode="auto"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4267" name="Text Box 27"/>
          <p:cNvSpPr txBox="1">
            <a:spLocks noChangeArrowheads="1"/>
          </p:cNvSpPr>
          <p:nvPr/>
        </p:nvSpPr>
        <p:spPr bwMode="auto"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4268" name="Text Box 28"/>
          <p:cNvSpPr txBox="1">
            <a:spLocks noChangeArrowheads="1"/>
          </p:cNvSpPr>
          <p:nvPr/>
        </p:nvSpPr>
        <p:spPr bwMode="auto"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4269" name="Text Box 29"/>
          <p:cNvSpPr txBox="1">
            <a:spLocks noChangeArrowheads="1"/>
          </p:cNvSpPr>
          <p:nvPr/>
        </p:nvSpPr>
        <p:spPr bwMode="auto"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4270" name="Text Box 30"/>
          <p:cNvSpPr txBox="1">
            <a:spLocks noChangeArrowheads="1"/>
          </p:cNvSpPr>
          <p:nvPr/>
        </p:nvSpPr>
        <p:spPr bwMode="auto"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4271" name="Text Box 31"/>
          <p:cNvSpPr txBox="1">
            <a:spLocks noChangeArrowheads="1"/>
          </p:cNvSpPr>
          <p:nvPr/>
        </p:nvSpPr>
        <p:spPr bwMode="auto"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4272" name="Text Box 32"/>
          <p:cNvSpPr txBox="1">
            <a:spLocks noChangeArrowheads="1"/>
          </p:cNvSpPr>
          <p:nvPr/>
        </p:nvSpPr>
        <p:spPr bwMode="auto"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4273" name="Text Box 33"/>
          <p:cNvSpPr txBox="1">
            <a:spLocks noChangeArrowheads="1"/>
          </p:cNvSpPr>
          <p:nvPr/>
        </p:nvSpPr>
        <p:spPr bwMode="auto"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4274" name="Text Box 34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94275" name="Text Box 35"/>
          <p:cNvSpPr txBox="1">
            <a:spLocks noChangeArrowheads="1"/>
          </p:cNvSpPr>
          <p:nvPr/>
        </p:nvSpPr>
        <p:spPr bwMode="auto"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4276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4277" name="Text Box 37"/>
          <p:cNvSpPr txBox="1">
            <a:spLocks noChangeArrowheads="1"/>
          </p:cNvSpPr>
          <p:nvPr/>
        </p:nvSpPr>
        <p:spPr bwMode="auto"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4278" name="Text Box 38"/>
          <p:cNvSpPr txBox="1">
            <a:spLocks noChangeArrowheads="1"/>
          </p:cNvSpPr>
          <p:nvPr/>
        </p:nvSpPr>
        <p:spPr bwMode="auto"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4279" name="Text Box 39"/>
          <p:cNvSpPr txBox="1">
            <a:spLocks noChangeArrowheads="1"/>
          </p:cNvSpPr>
          <p:nvPr/>
        </p:nvSpPr>
        <p:spPr bwMode="auto"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4280" name="Text Box 40"/>
          <p:cNvSpPr txBox="1">
            <a:spLocks noChangeArrowheads="1"/>
          </p:cNvSpPr>
          <p:nvPr/>
        </p:nvSpPr>
        <p:spPr bwMode="auto"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4281" name="Text Box 41"/>
          <p:cNvSpPr txBox="1">
            <a:spLocks noChangeArrowheads="1"/>
          </p:cNvSpPr>
          <p:nvPr/>
        </p:nvSpPr>
        <p:spPr bwMode="auto"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4282" name="Text Box 42"/>
          <p:cNvSpPr txBox="1">
            <a:spLocks noChangeArrowheads="1"/>
          </p:cNvSpPr>
          <p:nvPr/>
        </p:nvSpPr>
        <p:spPr bwMode="auto"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4283" name="Text Box 4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4284" name="Text Box 4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4285" name="Text Box 4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4286" name="Text Box 46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4287" name="Text Box 47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4288" name="Text Box 48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4289" name="Text Box 49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4290" name="Text Box 50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4291" name="Text Box 51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4292" name="Text Box 52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4293" name="Text Box 53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4294" name="Text Box 54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4295" name="Text Box 55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4296" name="Text Box 56"/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4297" name="Text Box 57"/>
          <p:cNvSpPr txBox="1">
            <a:spLocks noChangeArrowheads="1"/>
          </p:cNvSpPr>
          <p:nvPr/>
        </p:nvSpPr>
        <p:spPr bwMode="auto">
          <a:xfrm>
            <a:off x="5761038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4298" name="Text Box 58"/>
          <p:cNvSpPr txBox="1">
            <a:spLocks noChangeArrowheads="1"/>
          </p:cNvSpPr>
          <p:nvPr/>
        </p:nvSpPr>
        <p:spPr bwMode="auto">
          <a:xfrm>
            <a:off x="634841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702430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Text Box 2"/>
          <p:cNvSpPr txBox="1">
            <a:spLocks noChangeArrowheads="1"/>
          </p:cNvSpPr>
          <p:nvPr/>
        </p:nvSpPr>
        <p:spPr bwMode="auto">
          <a:xfrm>
            <a:off x="51609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8339" name="Text Box 3"/>
          <p:cNvSpPr txBox="1">
            <a:spLocks noChangeArrowheads="1"/>
          </p:cNvSpPr>
          <p:nvPr/>
        </p:nvSpPr>
        <p:spPr bwMode="auto">
          <a:xfrm>
            <a:off x="33988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8340" name="Text Box 4"/>
          <p:cNvSpPr txBox="1">
            <a:spLocks noChangeArrowheads="1"/>
          </p:cNvSpPr>
          <p:nvPr/>
        </p:nvSpPr>
        <p:spPr bwMode="auto">
          <a:xfrm>
            <a:off x="281146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8341" name="Text Box 5"/>
          <p:cNvSpPr txBox="1">
            <a:spLocks noChangeArrowheads="1"/>
          </p:cNvSpPr>
          <p:nvPr/>
        </p:nvSpPr>
        <p:spPr bwMode="auto">
          <a:xfrm>
            <a:off x="39862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8342" name="Text Box 6"/>
          <p:cNvSpPr txBox="1">
            <a:spLocks noChangeArrowheads="1"/>
          </p:cNvSpPr>
          <p:nvPr/>
        </p:nvSpPr>
        <p:spPr bwMode="auto">
          <a:xfrm>
            <a:off x="45735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8343" name="Text Box 7"/>
          <p:cNvSpPr txBox="1">
            <a:spLocks noChangeArrowheads="1"/>
          </p:cNvSpPr>
          <p:nvPr/>
        </p:nvSpPr>
        <p:spPr bwMode="auto">
          <a:xfrm>
            <a:off x="574833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8344" name="Text Box 8"/>
          <p:cNvSpPr txBox="1">
            <a:spLocks noChangeArrowheads="1"/>
          </p:cNvSpPr>
          <p:nvPr/>
        </p:nvSpPr>
        <p:spPr bwMode="auto">
          <a:xfrm>
            <a:off x="2224088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8345" name="Text Box 9"/>
          <p:cNvSpPr txBox="1">
            <a:spLocks noChangeArrowheads="1"/>
          </p:cNvSpPr>
          <p:nvPr/>
        </p:nvSpPr>
        <p:spPr bwMode="auto">
          <a:xfrm>
            <a:off x="6335713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8346" name="Text Box 10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r>
              <a:rPr lang="en-US">
                <a:latin typeface="Courier New" pitchFamily="49" charset="0"/>
              </a:rPr>
              <a:t>6</a:t>
            </a:r>
          </a:p>
        </p:txBody>
      </p:sp>
      <p:sp>
        <p:nvSpPr>
          <p:cNvPr id="398347" name="Text Box 11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14</a:t>
            </a:r>
          </a:p>
        </p:txBody>
      </p:sp>
      <p:sp>
        <p:nvSpPr>
          <p:cNvPr id="398348" name="Text Box 12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23</a:t>
            </a:r>
          </a:p>
        </p:txBody>
      </p:sp>
      <p:sp>
        <p:nvSpPr>
          <p:cNvPr id="398349" name="Text Box 13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33</a:t>
            </a:r>
          </a:p>
        </p:txBody>
      </p:sp>
      <p:sp>
        <p:nvSpPr>
          <p:cNvPr id="398350" name="Text Box 14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42</a:t>
            </a:r>
          </a:p>
        </p:txBody>
      </p:sp>
      <p:sp>
        <p:nvSpPr>
          <p:cNvPr id="398351" name="Text Box 15"/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45</a:t>
            </a:r>
          </a:p>
        </p:txBody>
      </p:sp>
      <p:sp>
        <p:nvSpPr>
          <p:cNvPr id="398352" name="Text Box 16"/>
          <p:cNvSpPr txBox="1">
            <a:spLocks noChangeArrowheads="1"/>
          </p:cNvSpPr>
          <p:nvPr/>
        </p:nvSpPr>
        <p:spPr bwMode="auto">
          <a:xfrm>
            <a:off x="5761038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67</a:t>
            </a:r>
          </a:p>
        </p:txBody>
      </p:sp>
      <p:sp>
        <p:nvSpPr>
          <p:cNvPr id="398353" name="Text Box 17"/>
          <p:cNvSpPr txBox="1">
            <a:spLocks noChangeArrowheads="1"/>
          </p:cNvSpPr>
          <p:nvPr/>
        </p:nvSpPr>
        <p:spPr bwMode="auto">
          <a:xfrm>
            <a:off x="634841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/>
          <a:lstStyle/>
          <a:p>
            <a:r>
              <a:rPr lang="en-US">
                <a:latin typeface="Courier New" pitchFamily="49" charset="0"/>
              </a:rPr>
              <a:t>98</a:t>
            </a:r>
          </a:p>
        </p:txBody>
      </p:sp>
      <p:sp>
        <p:nvSpPr>
          <p:cNvPr id="398354" name="Line 18"/>
          <p:cNvSpPr>
            <a:spLocks noChangeShapeType="1"/>
          </p:cNvSpPr>
          <p:nvPr/>
        </p:nvSpPr>
        <p:spPr bwMode="auto">
          <a:xfrm>
            <a:off x="4584700" y="1573213"/>
            <a:ext cx="0" cy="3043237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605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Merge-Sort (A, p, r)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008063"/>
            <a:ext cx="8343900" cy="10382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800" b="1">
                <a:solidFill>
                  <a:srgbClr val="CC3300"/>
                </a:solidFill>
              </a:rPr>
              <a:t>INPUT: </a:t>
            </a:r>
            <a:r>
              <a:rPr lang="en-US" sz="2800" b="1">
                <a:solidFill>
                  <a:schemeClr val="hlink"/>
                </a:solidFill>
              </a:rPr>
              <a:t>a sequence of </a:t>
            </a:r>
            <a:r>
              <a:rPr lang="en-US" sz="2800" i="1">
                <a:solidFill>
                  <a:schemeClr val="hlink"/>
                </a:solidFill>
              </a:rPr>
              <a:t>n</a:t>
            </a:r>
            <a:r>
              <a:rPr lang="en-US" sz="2800" b="1">
                <a:solidFill>
                  <a:schemeClr val="hlink"/>
                </a:solidFill>
              </a:rPr>
              <a:t> numbers stored in array 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b="1">
                <a:solidFill>
                  <a:srgbClr val="CC3300"/>
                </a:solidFill>
              </a:rPr>
              <a:t>OUTPUT: </a:t>
            </a:r>
            <a:r>
              <a:rPr lang="en-US" sz="2800" b="1">
                <a:solidFill>
                  <a:schemeClr val="hlink"/>
                </a:solidFill>
              </a:rPr>
              <a:t>an ordered sequence of </a:t>
            </a:r>
            <a:r>
              <a:rPr lang="en-US" sz="2800" i="1">
                <a:solidFill>
                  <a:schemeClr val="hlink"/>
                </a:solidFill>
              </a:rPr>
              <a:t>n</a:t>
            </a:r>
            <a:r>
              <a:rPr lang="en-US" sz="2800" b="1">
                <a:solidFill>
                  <a:schemeClr val="hlink"/>
                </a:solidFill>
              </a:rPr>
              <a:t> numbers</a:t>
            </a:r>
            <a:endParaRPr lang="en-US" sz="2800">
              <a:solidFill>
                <a:schemeClr val="hlink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2000">
              <a:solidFill>
                <a:schemeClr val="hlink"/>
              </a:solidFill>
            </a:endParaRP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550863" y="2217738"/>
            <a:ext cx="785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576263" y="2441575"/>
            <a:ext cx="7335837" cy="229552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b="1" i="1"/>
              <a:t>MergeSort </a:t>
            </a:r>
            <a:r>
              <a:rPr lang="en-US" b="1"/>
              <a:t>(</a:t>
            </a:r>
            <a:r>
              <a:rPr lang="en-US" b="1" i="1"/>
              <a:t>A</a:t>
            </a:r>
            <a:r>
              <a:rPr lang="en-US" b="1"/>
              <a:t>, </a:t>
            </a:r>
            <a:r>
              <a:rPr lang="en-US" b="1" i="1"/>
              <a:t>p</a:t>
            </a:r>
            <a:r>
              <a:rPr lang="en-US" b="1"/>
              <a:t>, </a:t>
            </a:r>
            <a:r>
              <a:rPr lang="en-US" b="1" i="1"/>
              <a:t>r</a:t>
            </a:r>
            <a:r>
              <a:rPr lang="en-US" b="1"/>
              <a:t>)   // </a:t>
            </a:r>
            <a:r>
              <a:rPr lang="en-US" sz="2000"/>
              <a:t>sort </a:t>
            </a:r>
            <a:r>
              <a:rPr lang="en-US" sz="2000" i="1"/>
              <a:t>A</a:t>
            </a:r>
            <a:r>
              <a:rPr lang="en-US" sz="2000"/>
              <a:t>[</a:t>
            </a:r>
            <a:r>
              <a:rPr lang="en-US" sz="2000" i="1"/>
              <a:t>p..r</a:t>
            </a:r>
            <a:r>
              <a:rPr lang="en-US" sz="2000"/>
              <a:t>] by divide &amp; conquer</a:t>
            </a:r>
          </a:p>
          <a:p>
            <a:pPr>
              <a:buFontTx/>
              <a:buAutoNum type="arabicPlain"/>
            </a:pPr>
            <a:r>
              <a:rPr lang="en-US" b="1"/>
              <a:t>if</a:t>
            </a:r>
            <a:r>
              <a:rPr lang="en-US" b="1" i="1"/>
              <a:t> </a:t>
            </a:r>
            <a:r>
              <a:rPr lang="en-US" i="1"/>
              <a:t>p</a:t>
            </a:r>
            <a:r>
              <a:rPr lang="en-US"/>
              <a:t> &lt; </a:t>
            </a:r>
            <a:r>
              <a:rPr lang="en-US" i="1"/>
              <a:t>r</a:t>
            </a:r>
          </a:p>
          <a:p>
            <a:pPr>
              <a:buFontTx/>
              <a:buAutoNum type="arabicPlain"/>
            </a:pPr>
            <a:r>
              <a:rPr lang="en-US" b="1"/>
              <a:t>    then</a:t>
            </a:r>
            <a:r>
              <a:rPr lang="en-US"/>
              <a:t> </a:t>
            </a:r>
            <a:r>
              <a:rPr lang="en-US" i="1"/>
              <a:t>q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 (</a:t>
            </a:r>
            <a:r>
              <a:rPr lang="en-US" i="1">
                <a:sym typeface="Symbol" panose="05050102010706020507" pitchFamily="18" charset="2"/>
              </a:rPr>
              <a:t>p</a:t>
            </a:r>
            <a:r>
              <a:rPr lang="en-US">
                <a:sym typeface="Symbol" panose="05050102010706020507" pitchFamily="18" charset="2"/>
              </a:rPr>
              <a:t>+</a:t>
            </a:r>
            <a:r>
              <a:rPr lang="en-US" i="1">
                <a:sym typeface="Symbol" panose="05050102010706020507" pitchFamily="18" charset="2"/>
              </a:rPr>
              <a:t>r</a:t>
            </a:r>
            <a:r>
              <a:rPr lang="en-US">
                <a:sym typeface="Symbol" panose="05050102010706020507" pitchFamily="18" charset="2"/>
              </a:rPr>
              <a:t>)/2</a:t>
            </a:r>
          </a:p>
          <a:p>
            <a:pPr>
              <a:buFontTx/>
              <a:buAutoNum type="arabicPlain"/>
            </a:pPr>
            <a:r>
              <a:rPr lang="en-US">
                <a:sym typeface="Symbol" panose="05050102010706020507" pitchFamily="18" charset="2"/>
              </a:rPr>
              <a:t>         </a:t>
            </a:r>
            <a:r>
              <a:rPr lang="en-US" i="1">
                <a:sym typeface="Symbol" panose="05050102010706020507" pitchFamily="18" charset="2"/>
              </a:rPr>
              <a:t>MergeSort</a:t>
            </a:r>
            <a:r>
              <a:rPr lang="en-US">
                <a:sym typeface="Symbol" panose="05050102010706020507" pitchFamily="18" charset="2"/>
              </a:rPr>
              <a:t> (</a:t>
            </a:r>
            <a:r>
              <a:rPr lang="en-US" i="1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 pitchFamily="18" charset="2"/>
              </a:rPr>
              <a:t>, </a:t>
            </a:r>
            <a:r>
              <a:rPr lang="en-US" i="1">
                <a:sym typeface="Symbol" panose="05050102010706020507" pitchFamily="18" charset="2"/>
              </a:rPr>
              <a:t>p</a:t>
            </a:r>
            <a:r>
              <a:rPr lang="en-US">
                <a:sym typeface="Symbol" panose="05050102010706020507" pitchFamily="18" charset="2"/>
              </a:rPr>
              <a:t>, </a:t>
            </a:r>
            <a:r>
              <a:rPr lang="en-US" i="1">
                <a:sym typeface="Symbol" panose="05050102010706020507" pitchFamily="18" charset="2"/>
              </a:rPr>
              <a:t>q</a:t>
            </a:r>
            <a:r>
              <a:rPr lang="en-US">
                <a:sym typeface="Symbol" panose="05050102010706020507" pitchFamily="18" charset="2"/>
              </a:rPr>
              <a:t>)</a:t>
            </a:r>
          </a:p>
          <a:p>
            <a:pPr>
              <a:buFontTx/>
              <a:buAutoNum type="arabicPlain"/>
            </a:pPr>
            <a:r>
              <a:rPr lang="en-US">
                <a:sym typeface="Symbol" panose="05050102010706020507" pitchFamily="18" charset="2"/>
              </a:rPr>
              <a:t>         </a:t>
            </a:r>
            <a:r>
              <a:rPr lang="en-US" i="1">
                <a:sym typeface="Symbol" panose="05050102010706020507" pitchFamily="18" charset="2"/>
              </a:rPr>
              <a:t>MergeSort</a:t>
            </a:r>
            <a:r>
              <a:rPr lang="en-US">
                <a:sym typeface="Symbol" panose="05050102010706020507" pitchFamily="18" charset="2"/>
              </a:rPr>
              <a:t> (</a:t>
            </a:r>
            <a:r>
              <a:rPr lang="en-US" i="1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 pitchFamily="18" charset="2"/>
              </a:rPr>
              <a:t>, </a:t>
            </a:r>
            <a:r>
              <a:rPr lang="en-US" i="1">
                <a:sym typeface="Symbol" panose="05050102010706020507" pitchFamily="18" charset="2"/>
              </a:rPr>
              <a:t>q</a:t>
            </a:r>
            <a:r>
              <a:rPr lang="en-US">
                <a:sym typeface="Symbol" panose="05050102010706020507" pitchFamily="18" charset="2"/>
              </a:rPr>
              <a:t>+1, </a:t>
            </a:r>
            <a:r>
              <a:rPr lang="en-US" i="1">
                <a:sym typeface="Symbol" panose="05050102010706020507" pitchFamily="18" charset="2"/>
              </a:rPr>
              <a:t>r</a:t>
            </a:r>
            <a:r>
              <a:rPr lang="en-US">
                <a:sym typeface="Symbol" panose="05050102010706020507" pitchFamily="18" charset="2"/>
              </a:rPr>
              <a:t>)</a:t>
            </a:r>
          </a:p>
          <a:p>
            <a:pPr>
              <a:buFontTx/>
              <a:buAutoNum type="arabicPlain"/>
            </a:pPr>
            <a:r>
              <a:rPr lang="en-US">
                <a:sym typeface="Symbol" panose="05050102010706020507" pitchFamily="18" charset="2"/>
              </a:rPr>
              <a:t>         </a:t>
            </a:r>
            <a:r>
              <a:rPr lang="en-US" i="1">
                <a:sym typeface="Symbol" panose="05050102010706020507" pitchFamily="18" charset="2"/>
              </a:rPr>
              <a:t>Merge</a:t>
            </a:r>
            <a:r>
              <a:rPr lang="en-US">
                <a:sym typeface="Symbol" panose="05050102010706020507" pitchFamily="18" charset="2"/>
              </a:rPr>
              <a:t> (</a:t>
            </a:r>
            <a:r>
              <a:rPr lang="en-US" i="1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 pitchFamily="18" charset="2"/>
              </a:rPr>
              <a:t>, </a:t>
            </a:r>
            <a:r>
              <a:rPr lang="en-US" i="1">
                <a:sym typeface="Symbol" panose="05050102010706020507" pitchFamily="18" charset="2"/>
              </a:rPr>
              <a:t>p</a:t>
            </a:r>
            <a:r>
              <a:rPr lang="en-US">
                <a:sym typeface="Symbol" panose="05050102010706020507" pitchFamily="18" charset="2"/>
              </a:rPr>
              <a:t>, </a:t>
            </a:r>
            <a:r>
              <a:rPr lang="en-US" i="1">
                <a:sym typeface="Symbol" panose="05050102010706020507" pitchFamily="18" charset="2"/>
              </a:rPr>
              <a:t>q</a:t>
            </a:r>
            <a:r>
              <a:rPr lang="en-US">
                <a:sym typeface="Symbol" panose="05050102010706020507" pitchFamily="18" charset="2"/>
              </a:rPr>
              <a:t>, </a:t>
            </a:r>
            <a:r>
              <a:rPr lang="en-US" i="1">
                <a:sym typeface="Symbol" panose="05050102010706020507" pitchFamily="18" charset="2"/>
              </a:rPr>
              <a:t>r</a:t>
            </a:r>
            <a:r>
              <a:rPr lang="en-US">
                <a:sym typeface="Symbol" panose="05050102010706020507" pitchFamily="18" charset="2"/>
              </a:rPr>
              <a:t>) // </a:t>
            </a:r>
            <a:r>
              <a:rPr lang="en-US" sz="2000">
                <a:sym typeface="Symbol" panose="05050102010706020507" pitchFamily="18" charset="2"/>
              </a:rPr>
              <a:t>merges </a:t>
            </a:r>
            <a:r>
              <a:rPr lang="en-US" sz="2000" i="1"/>
              <a:t>A</a:t>
            </a:r>
            <a:r>
              <a:rPr lang="en-US" sz="2000"/>
              <a:t>[</a:t>
            </a:r>
            <a:r>
              <a:rPr lang="en-US" sz="2000" i="1"/>
              <a:t>p..q</a:t>
            </a:r>
            <a:r>
              <a:rPr lang="en-US" sz="2000"/>
              <a:t>] with </a:t>
            </a:r>
            <a:r>
              <a:rPr lang="en-US" sz="2000" i="1"/>
              <a:t>A</a:t>
            </a:r>
            <a:r>
              <a:rPr lang="en-US" sz="2000"/>
              <a:t>[</a:t>
            </a:r>
            <a:r>
              <a:rPr lang="en-US" sz="2000" i="1"/>
              <a:t>q+1..r</a:t>
            </a:r>
            <a:r>
              <a:rPr lang="en-US" sz="2000"/>
              <a:t>] 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14363" y="5160963"/>
            <a:ext cx="3954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>
                <a:solidFill>
                  <a:srgbClr val="CC3300"/>
                </a:solidFill>
              </a:rPr>
              <a:t>Initial Call:</a:t>
            </a:r>
            <a:r>
              <a:rPr lang="en-US"/>
              <a:t> MergeSort(</a:t>
            </a:r>
            <a:r>
              <a:rPr lang="en-US" i="1"/>
              <a:t>A</a:t>
            </a:r>
            <a:r>
              <a:rPr lang="en-US"/>
              <a:t>, 1, </a:t>
            </a:r>
            <a:r>
              <a:rPr lang="en-US" i="1"/>
              <a:t>n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70761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155575" y="1826902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9810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1826902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Left Brace 1"/>
          <p:cNvSpPr/>
          <p:nvPr/>
        </p:nvSpPr>
        <p:spPr>
          <a:xfrm rot="16200000">
            <a:off x="2244146" y="1282265"/>
            <a:ext cx="437881" cy="4011771"/>
          </a:xfrm>
          <a:prstGeom prst="leftBrac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 rot="16200000">
            <a:off x="6431926" y="1273680"/>
            <a:ext cx="437881" cy="4028941"/>
          </a:xfrm>
          <a:prstGeom prst="leftBrac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86945" y="3507091"/>
            <a:ext cx="1352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4725" y="3507091"/>
            <a:ext cx="1352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553" y="710823"/>
            <a:ext cx="1779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Unsorted</a:t>
            </a:r>
          </a:p>
        </p:txBody>
      </p:sp>
      <p:sp>
        <p:nvSpPr>
          <p:cNvPr id="14" name="Left Brace 13"/>
          <p:cNvSpPr/>
          <p:nvPr/>
        </p:nvSpPr>
        <p:spPr>
          <a:xfrm rot="5400000">
            <a:off x="4342327" y="-2638129"/>
            <a:ext cx="437881" cy="8208136"/>
          </a:xfrm>
          <a:prstGeom prst="leftBrac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994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19315010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0125509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2179909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9087712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11402457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8800257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2789447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15909138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3547853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29201801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8340033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0224022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5775889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5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5445616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3658064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CA" dirty="0"/>
          </a:p>
        </p:txBody>
      </p:sp>
      <p:graphicFrame>
        <p:nvGraphicFramePr>
          <p:cNvPr id="3075" name="Group 3"/>
          <p:cNvGraphicFramePr>
            <a:graphicFrameLocks noGrp="1"/>
          </p:cNvGraphicFramePr>
          <p:nvPr>
            <p:ph idx="1"/>
          </p:nvPr>
        </p:nvGraphicFramePr>
        <p:xfrm>
          <a:off x="155575" y="939800"/>
          <a:ext cx="8797928" cy="944563"/>
        </p:xfrm>
        <a:graphic>
          <a:graphicData uri="http://schemas.openxmlformats.org/drawingml/2006/table">
            <a:tbl>
              <a:tblPr/>
              <a:tblGrid>
                <a:gridCol w="109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9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7755" marR="97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7755" marR="97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/>
          <p:cNvGraphicFramePr>
            <a:graphicFrameLocks/>
          </p:cNvGraphicFramePr>
          <p:nvPr/>
        </p:nvGraphicFramePr>
        <p:xfrm>
          <a:off x="455052" y="4083683"/>
          <a:ext cx="8229600" cy="944563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65004" y="5198773"/>
            <a:ext cx="304800" cy="304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765004" y="6265573"/>
            <a:ext cx="304800" cy="304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2765004" y="5732173"/>
            <a:ext cx="3048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298404" y="5198773"/>
            <a:ext cx="54184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dirty="0"/>
              <a:t>Left half</a:t>
            </a:r>
          </a:p>
          <a:p>
            <a:endParaRPr lang="en-CA" dirty="0"/>
          </a:p>
          <a:p>
            <a:r>
              <a:rPr lang="en-CA" dirty="0"/>
              <a:t>Right half</a:t>
            </a:r>
          </a:p>
          <a:p>
            <a:endParaRPr lang="en-CA" dirty="0"/>
          </a:p>
          <a:p>
            <a:r>
              <a:rPr lang="en-CA" dirty="0"/>
              <a:t>Minimum between first elements in both halves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978794" y="346075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010669" y="345440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020319" y="345440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068069" y="345440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096769" y="345440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106419" y="345440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7144644" y="345440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173344" y="3454400"/>
            <a:ext cx="5456" cy="60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5575" y="2193924"/>
            <a:ext cx="1603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192374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Merging two sorted </a:t>
            </a:r>
            <a:r>
              <a:rPr lang="en-CA" dirty="0" err="1"/>
              <a:t>subsequeces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797925" cy="5747603"/>
          </a:xfr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FF3300"/>
                </a:solidFill>
              </a:rPr>
              <a:t>Merge(</a:t>
            </a:r>
            <a:r>
              <a:rPr lang="en-US" altLang="en-US" sz="1800" b="1" i="1" dirty="0">
                <a:solidFill>
                  <a:srgbClr val="FF3300"/>
                </a:solidFill>
              </a:rPr>
              <a:t>A</a:t>
            </a:r>
            <a:r>
              <a:rPr lang="en-US" altLang="en-US" sz="1800" b="1" dirty="0">
                <a:solidFill>
                  <a:srgbClr val="FF3300"/>
                </a:solidFill>
              </a:rPr>
              <a:t>, </a:t>
            </a:r>
            <a:r>
              <a:rPr lang="en-US" altLang="en-US" sz="1800" b="1" i="1" dirty="0">
                <a:solidFill>
                  <a:srgbClr val="FF3300"/>
                </a:solidFill>
              </a:rPr>
              <a:t>p</a:t>
            </a:r>
            <a:r>
              <a:rPr lang="en-US" altLang="en-US" sz="1800" b="1" dirty="0">
                <a:solidFill>
                  <a:srgbClr val="FF3300"/>
                </a:solidFill>
              </a:rPr>
              <a:t>, </a:t>
            </a:r>
            <a:r>
              <a:rPr lang="en-US" altLang="en-US" sz="1800" b="1" i="1" dirty="0">
                <a:solidFill>
                  <a:srgbClr val="FF3300"/>
                </a:solidFill>
              </a:rPr>
              <a:t>q</a:t>
            </a:r>
            <a:r>
              <a:rPr lang="en-US" altLang="en-US" sz="1800" b="1" dirty="0">
                <a:solidFill>
                  <a:srgbClr val="FF3300"/>
                </a:solidFill>
              </a:rPr>
              <a:t>, </a:t>
            </a:r>
            <a:r>
              <a:rPr lang="en-US" altLang="en-US" sz="1800" b="1" i="1" dirty="0">
                <a:solidFill>
                  <a:srgbClr val="FF3300"/>
                </a:solidFill>
              </a:rPr>
              <a:t>r</a:t>
            </a:r>
            <a:r>
              <a:rPr lang="en-US" altLang="en-US" sz="1800" b="1" dirty="0">
                <a:solidFill>
                  <a:srgbClr val="FF3300"/>
                </a:solidFill>
              </a:rPr>
              <a:t>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1  </a:t>
            </a:r>
            <a:r>
              <a:rPr lang="en-US" altLang="en-US" sz="1800" i="1" dirty="0"/>
              <a:t>n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 </a:t>
            </a:r>
            <a:r>
              <a:rPr lang="en-US" altLang="en-US" sz="1800" i="1" dirty="0">
                <a:sym typeface="Symbol" panose="05050102010706020507" pitchFamily="18" charset="2"/>
              </a:rPr>
              <a:t>q </a:t>
            </a:r>
            <a:r>
              <a:rPr lang="en-US" altLang="en-US" sz="1800" dirty="0">
                <a:cs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en-US" sz="1800" i="1" dirty="0">
                <a:sym typeface="Symbol" panose="05050102010706020507" pitchFamily="18" charset="2"/>
              </a:rPr>
              <a:t>p </a:t>
            </a:r>
            <a:r>
              <a:rPr lang="en-US" altLang="en-US" sz="1800" dirty="0">
                <a:sym typeface="Symbol" panose="05050102010706020507" pitchFamily="18" charset="2"/>
              </a:rPr>
              <a:t>+ 1</a:t>
            </a:r>
            <a:endParaRPr lang="en-US" altLang="en-US" sz="1800" dirty="0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2  </a:t>
            </a:r>
            <a:r>
              <a:rPr lang="en-US" altLang="en-US" sz="1800" i="1" dirty="0"/>
              <a:t>n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 </a:t>
            </a:r>
            <a:r>
              <a:rPr lang="en-US" altLang="en-US" sz="1800" i="1" dirty="0">
                <a:sym typeface="Symbol" panose="05050102010706020507" pitchFamily="18" charset="2"/>
              </a:rPr>
              <a:t>r </a:t>
            </a:r>
            <a:r>
              <a:rPr lang="en-US" altLang="en-US" sz="1800" dirty="0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q</a:t>
            </a:r>
            <a:endParaRPr lang="en-US" altLang="en-US" sz="1800" b="1" i="1" dirty="0">
              <a:sym typeface="Symbol" panose="05050102010706020507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b="1" dirty="0">
                <a:solidFill>
                  <a:schemeClr val="hlink"/>
                </a:solidFill>
              </a:rPr>
              <a:t>for</a:t>
            </a:r>
            <a:r>
              <a:rPr lang="en-US" altLang="en-US" sz="1800" dirty="0"/>
              <a:t>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</a:t>
            </a:r>
            <a:r>
              <a:rPr lang="en-US" altLang="en-US" sz="1800" dirty="0"/>
              <a:t> 1 </a:t>
            </a:r>
            <a:r>
              <a:rPr lang="en-US" altLang="en-US" sz="1800" b="1" dirty="0">
                <a:solidFill>
                  <a:schemeClr val="hlink"/>
                </a:solidFill>
              </a:rPr>
              <a:t>to</a:t>
            </a:r>
            <a:r>
              <a:rPr lang="en-US" altLang="en-US" sz="1800" dirty="0"/>
              <a:t> </a:t>
            </a:r>
            <a:r>
              <a:rPr lang="en-US" altLang="en-US" sz="1800" i="1" dirty="0"/>
              <a:t>n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dirty="0"/>
              <a:t>    </a:t>
            </a:r>
            <a:r>
              <a:rPr lang="en-US" altLang="en-US" sz="1800" b="1" dirty="0">
                <a:solidFill>
                  <a:schemeClr val="hlink"/>
                </a:solidFill>
              </a:rPr>
              <a:t>do</a:t>
            </a:r>
            <a:r>
              <a:rPr lang="en-US" altLang="en-US" sz="1800" dirty="0"/>
              <a:t> </a:t>
            </a:r>
            <a:r>
              <a:rPr lang="en-US" altLang="en-US" sz="1800" i="1" dirty="0"/>
              <a:t>L</a:t>
            </a:r>
            <a:r>
              <a:rPr lang="en-US" altLang="en-US" sz="1800" dirty="0"/>
              <a:t>[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] </a:t>
            </a:r>
            <a:r>
              <a:rPr lang="en-US" altLang="en-US" sz="1800" dirty="0">
                <a:sym typeface="Symbol" panose="05050102010706020507" pitchFamily="18" charset="2"/>
              </a:rPr>
              <a:t> </a:t>
            </a:r>
            <a:r>
              <a:rPr lang="en-US" altLang="en-US" sz="1800" i="1" dirty="0">
                <a:sym typeface="Symbol" panose="05050102010706020507" pitchFamily="18" charset="2"/>
              </a:rPr>
              <a:t>A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>
                <a:sym typeface="Symbol" panose="05050102010706020507" pitchFamily="18" charset="2"/>
              </a:rPr>
              <a:t>p </a:t>
            </a:r>
            <a:r>
              <a:rPr lang="en-US" altLang="en-US" sz="1800" dirty="0">
                <a:sym typeface="Symbol" panose="05050102010706020507" pitchFamily="18" charset="2"/>
              </a:rPr>
              <a:t>+ 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i="1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en-US" sz="1800" dirty="0">
                <a:sym typeface="Symbol" panose="05050102010706020507" pitchFamily="18" charset="2"/>
              </a:rPr>
              <a:t> 1]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b="1" dirty="0">
                <a:solidFill>
                  <a:schemeClr val="hlink"/>
                </a:solidFill>
              </a:rPr>
              <a:t>for</a:t>
            </a:r>
            <a:r>
              <a:rPr lang="en-US" altLang="en-US" sz="1800" dirty="0"/>
              <a:t> </a:t>
            </a:r>
            <a:r>
              <a:rPr lang="en-US" altLang="en-US" sz="1800" i="1" dirty="0"/>
              <a:t>j </a:t>
            </a:r>
            <a:r>
              <a:rPr lang="en-US" altLang="en-US" sz="1800" dirty="0">
                <a:sym typeface="Symbol" panose="05050102010706020507" pitchFamily="18" charset="2"/>
              </a:rPr>
              <a:t></a:t>
            </a:r>
            <a:r>
              <a:rPr lang="en-US" altLang="en-US" sz="1800" dirty="0"/>
              <a:t> 1 </a:t>
            </a:r>
            <a:r>
              <a:rPr lang="en-US" altLang="en-US" sz="1800" b="1" dirty="0">
                <a:solidFill>
                  <a:schemeClr val="hlink"/>
                </a:solidFill>
              </a:rPr>
              <a:t>to</a:t>
            </a:r>
            <a:r>
              <a:rPr lang="en-US" altLang="en-US" sz="1800" dirty="0"/>
              <a:t> </a:t>
            </a:r>
            <a:r>
              <a:rPr lang="en-US" altLang="en-US" sz="1800" i="1" dirty="0"/>
              <a:t>n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dirty="0"/>
              <a:t>    </a:t>
            </a:r>
            <a:r>
              <a:rPr lang="en-US" altLang="en-US" sz="1800" b="1" dirty="0">
                <a:solidFill>
                  <a:schemeClr val="hlink"/>
                </a:solidFill>
              </a:rPr>
              <a:t>do</a:t>
            </a:r>
            <a:r>
              <a:rPr lang="en-US" altLang="en-US" sz="1800" dirty="0"/>
              <a:t> </a:t>
            </a:r>
            <a:r>
              <a:rPr lang="en-US" altLang="en-US" sz="1800" i="1" dirty="0"/>
              <a:t>R</a:t>
            </a:r>
            <a:r>
              <a:rPr lang="en-US" altLang="en-US" sz="1800" dirty="0"/>
              <a:t>[</a:t>
            </a:r>
            <a:r>
              <a:rPr lang="en-US" altLang="en-US" sz="1800" i="1" dirty="0"/>
              <a:t>j</a:t>
            </a:r>
            <a:r>
              <a:rPr lang="en-US" altLang="en-US" sz="1800" dirty="0"/>
              <a:t>] </a:t>
            </a:r>
            <a:r>
              <a:rPr lang="en-US" altLang="en-US" sz="1800" dirty="0">
                <a:sym typeface="Symbol" panose="05050102010706020507" pitchFamily="18" charset="2"/>
              </a:rPr>
              <a:t> </a:t>
            </a:r>
            <a:r>
              <a:rPr lang="en-US" altLang="en-US" sz="1800" i="1" dirty="0">
                <a:sym typeface="Symbol" panose="05050102010706020507" pitchFamily="18" charset="2"/>
              </a:rPr>
              <a:t>A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>
                <a:sym typeface="Symbol" panose="05050102010706020507" pitchFamily="18" charset="2"/>
              </a:rPr>
              <a:t>q </a:t>
            </a:r>
            <a:r>
              <a:rPr lang="en-US" altLang="en-US" sz="1800" dirty="0">
                <a:sym typeface="Symbol" panose="05050102010706020507" pitchFamily="18" charset="2"/>
              </a:rPr>
              <a:t>+ </a:t>
            </a:r>
            <a:r>
              <a:rPr lang="en-US" altLang="en-US" sz="1800" i="1" dirty="0">
                <a:sym typeface="Symbol" panose="05050102010706020507" pitchFamily="18" charset="2"/>
              </a:rPr>
              <a:t>j</a:t>
            </a:r>
            <a:r>
              <a:rPr lang="en-US" altLang="en-US" sz="1800" dirty="0">
                <a:sym typeface="Symbol" panose="05050102010706020507" pitchFamily="18" charset="2"/>
              </a:rPr>
              <a:t>]</a:t>
            </a:r>
            <a:endParaRPr lang="en-US" altLang="en-US" sz="1800" i="1" dirty="0">
              <a:sym typeface="Symbol" panose="05050102010706020507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i="1" dirty="0">
                <a:sym typeface="Symbol" panose="05050102010706020507" pitchFamily="18" charset="2"/>
              </a:rPr>
              <a:t>L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/>
              <a:t>n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+1] </a:t>
            </a:r>
            <a:r>
              <a:rPr lang="en-US" altLang="en-US" sz="1800" dirty="0">
                <a:sym typeface="Symbol" panose="05050102010706020507" pitchFamily="18" charset="2"/>
              </a:rPr>
              <a:t> 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/>
              <a:t>n</a:t>
            </a:r>
            <a:r>
              <a:rPr lang="en-US" altLang="en-US" sz="1800" i="1" baseline="-25000" dirty="0"/>
              <a:t>2</a:t>
            </a:r>
            <a:r>
              <a:rPr lang="en-US" altLang="en-US" sz="1800" dirty="0"/>
              <a:t>+1] </a:t>
            </a:r>
            <a:r>
              <a:rPr lang="en-US" altLang="en-US" sz="1800" dirty="0">
                <a:sym typeface="Symbol" panose="05050102010706020507" pitchFamily="18" charset="2"/>
              </a:rPr>
              <a:t> 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sym typeface="Symbol" panose="05050102010706020507" pitchFamily="18" charset="2"/>
              </a:rPr>
              <a:t>  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i="1" dirty="0">
                <a:sym typeface="Symbol" panose="05050102010706020507" pitchFamily="18" charset="2"/>
              </a:rPr>
              <a:t>j</a:t>
            </a:r>
            <a:r>
              <a:rPr lang="en-US" altLang="en-US" sz="1800" dirty="0">
                <a:sym typeface="Symbol" panose="05050102010706020507" pitchFamily="18" charset="2"/>
              </a:rPr>
              <a:t>  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b="1" dirty="0">
                <a:solidFill>
                  <a:schemeClr val="hlink"/>
                </a:solidFill>
                <a:sym typeface="Symbol" panose="05050102010706020507" pitchFamily="18" charset="2"/>
              </a:rPr>
              <a:t>for</a:t>
            </a:r>
            <a:r>
              <a:rPr lang="en-US" altLang="en-US" sz="1800" b="1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k </a:t>
            </a:r>
            <a:r>
              <a:rPr lang="en-US" altLang="en-US" sz="1800" dirty="0">
                <a:sym typeface="Symbol" panose="05050102010706020507" pitchFamily="18" charset="2"/>
              </a:rPr>
              <a:t></a:t>
            </a:r>
            <a:r>
              <a:rPr lang="en-US" altLang="en-US" sz="1800" i="1" dirty="0">
                <a:sym typeface="Symbol" panose="05050102010706020507" pitchFamily="18" charset="2"/>
              </a:rPr>
              <a:t>p </a:t>
            </a:r>
            <a:r>
              <a:rPr lang="en-US" altLang="en-US" sz="1800" b="1" dirty="0">
                <a:solidFill>
                  <a:schemeClr val="hlink"/>
                </a:solidFill>
                <a:sym typeface="Symbol" panose="05050102010706020507" pitchFamily="18" charset="2"/>
              </a:rPr>
              <a:t>to</a:t>
            </a:r>
            <a:r>
              <a:rPr lang="en-US" altLang="en-US" sz="1800" b="1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dirty="0">
                <a:sym typeface="Symbol" panose="05050102010706020507" pitchFamily="18" charset="2"/>
              </a:rPr>
              <a:t>    </a:t>
            </a:r>
            <a:r>
              <a:rPr lang="en-US" altLang="en-US" sz="1800" b="1" dirty="0">
                <a:solidFill>
                  <a:schemeClr val="hlink"/>
                </a:solidFill>
                <a:sym typeface="Symbol" panose="05050102010706020507" pitchFamily="18" charset="2"/>
              </a:rPr>
              <a:t>do</a:t>
            </a:r>
            <a:r>
              <a:rPr lang="en-US" altLang="en-US" sz="1800" b="1" dirty="0">
                <a:sym typeface="Symbol" panose="05050102010706020507" pitchFamily="18" charset="2"/>
              </a:rPr>
              <a:t> </a:t>
            </a:r>
            <a:r>
              <a:rPr lang="en-US" altLang="en-US" sz="1800" b="1" dirty="0">
                <a:solidFill>
                  <a:schemeClr val="hlink"/>
                </a:solidFill>
                <a:sym typeface="Symbol" panose="05050102010706020507" pitchFamily="18" charset="2"/>
              </a:rPr>
              <a:t>if</a:t>
            </a:r>
            <a:r>
              <a:rPr lang="en-US" altLang="en-US" sz="1800" b="1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L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sym typeface="Symbol" panose="05050102010706020507" pitchFamily="18" charset="2"/>
              </a:rPr>
              <a:t>]  </a:t>
            </a: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>
                <a:sym typeface="Symbol" panose="05050102010706020507" pitchFamily="18" charset="2"/>
              </a:rPr>
              <a:t>j</a:t>
            </a:r>
            <a:r>
              <a:rPr lang="en-US" altLang="en-US" sz="1800" dirty="0">
                <a:sym typeface="Symbol" panose="05050102010706020507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dirty="0">
                <a:sym typeface="Symbol" panose="05050102010706020507" pitchFamily="18" charset="2"/>
              </a:rPr>
              <a:t>        </a:t>
            </a:r>
            <a:r>
              <a:rPr lang="en-US" altLang="en-US" sz="1800" b="1" dirty="0">
                <a:solidFill>
                  <a:schemeClr val="hlink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A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]  </a:t>
            </a:r>
            <a:r>
              <a:rPr lang="en-US" altLang="en-US" sz="1800" i="1" dirty="0">
                <a:sym typeface="Symbol" panose="05050102010706020507" pitchFamily="18" charset="2"/>
              </a:rPr>
              <a:t>L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sym typeface="Symbol" panose="05050102010706020507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dirty="0">
                <a:sym typeface="Symbol" panose="05050102010706020507" pitchFamily="18" charset="2"/>
              </a:rPr>
              <a:t>                 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i="1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 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sym typeface="Symbol" panose="05050102010706020507" pitchFamily="18" charset="2"/>
              </a:rPr>
              <a:t> + 1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dirty="0">
                <a:sym typeface="Symbol" panose="05050102010706020507" pitchFamily="18" charset="2"/>
              </a:rPr>
              <a:t>        </a:t>
            </a:r>
            <a:r>
              <a:rPr lang="en-US" altLang="en-US" sz="1800" b="1" dirty="0">
                <a:solidFill>
                  <a:schemeClr val="hlink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A</a:t>
            </a:r>
            <a:r>
              <a:rPr lang="en-US" altLang="en-US" sz="1600" dirty="0">
                <a:sym typeface="Symbol" panose="05050102010706020507" pitchFamily="18" charset="2"/>
              </a:rPr>
              <a:t>[</a:t>
            </a:r>
            <a:r>
              <a:rPr lang="en-US" altLang="en-US" sz="1600" i="1" dirty="0">
                <a:sym typeface="Symbol" panose="05050102010706020507" pitchFamily="18" charset="2"/>
              </a:rPr>
              <a:t>k</a:t>
            </a:r>
            <a:r>
              <a:rPr lang="en-US" altLang="en-US" sz="1600" dirty="0">
                <a:sym typeface="Symbol" panose="05050102010706020507" pitchFamily="18" charset="2"/>
              </a:rPr>
              <a:t>] </a:t>
            </a:r>
            <a:r>
              <a:rPr lang="en-US" altLang="en-US" sz="1800" dirty="0">
                <a:sym typeface="Symbol" panose="05050102010706020507" pitchFamily="18" charset="2"/>
              </a:rPr>
              <a:t> </a:t>
            </a: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r>
              <a:rPr lang="en-US" altLang="en-US" sz="1800" dirty="0">
                <a:sym typeface="Symbol" panose="05050102010706020507" pitchFamily="18" charset="2"/>
              </a:rPr>
              <a:t>[</a:t>
            </a:r>
            <a:r>
              <a:rPr lang="en-US" altLang="en-US" sz="1800" i="1" dirty="0">
                <a:sym typeface="Symbol" panose="05050102010706020507" pitchFamily="18" charset="2"/>
              </a:rPr>
              <a:t>j</a:t>
            </a:r>
            <a:r>
              <a:rPr lang="en-US" altLang="en-US" sz="1800" dirty="0">
                <a:sym typeface="Symbol" panose="05050102010706020507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1800" dirty="0">
                <a:sym typeface="Symbol" panose="05050102010706020507" pitchFamily="18" charset="2"/>
              </a:rPr>
              <a:t>                 </a:t>
            </a:r>
            <a:r>
              <a:rPr lang="en-US" altLang="en-US" sz="1800" i="1" dirty="0">
                <a:sym typeface="Symbol" panose="05050102010706020507" pitchFamily="18" charset="2"/>
              </a:rPr>
              <a:t>j </a:t>
            </a:r>
            <a:r>
              <a:rPr lang="en-US" altLang="en-US" sz="1800" dirty="0">
                <a:sym typeface="Symbol" panose="05050102010706020507" pitchFamily="18" charset="2"/>
              </a:rPr>
              <a:t> </a:t>
            </a:r>
            <a:r>
              <a:rPr lang="en-US" altLang="en-US" sz="1800" i="1" dirty="0">
                <a:sym typeface="Symbol" panose="05050102010706020507" pitchFamily="18" charset="2"/>
              </a:rPr>
              <a:t>j</a:t>
            </a:r>
            <a:r>
              <a:rPr lang="en-US" altLang="en-US" sz="1800" dirty="0">
                <a:sym typeface="Symbol" panose="05050102010706020507" pitchFamily="18" charset="2"/>
              </a:rPr>
              <a:t> + 1</a:t>
            </a:r>
          </a:p>
        </p:txBody>
      </p:sp>
      <p:grpSp>
        <p:nvGrpSpPr>
          <p:cNvPr id="430091" name="Group 11"/>
          <p:cNvGrpSpPr>
            <a:grpSpLocks/>
          </p:cNvGrpSpPr>
          <p:nvPr/>
        </p:nvGrpSpPr>
        <p:grpSpPr bwMode="auto">
          <a:xfrm>
            <a:off x="2152413" y="3495274"/>
            <a:ext cx="6538913" cy="2222500"/>
            <a:chOff x="1502" y="2049"/>
            <a:chExt cx="4119" cy="1400"/>
          </a:xfrm>
        </p:grpSpPr>
        <p:sp>
          <p:nvSpPr>
            <p:cNvPr id="11270" name="Text Box 4"/>
            <p:cNvSpPr txBox="1">
              <a:spLocks noChangeArrowheads="1"/>
            </p:cNvSpPr>
            <p:nvPr/>
          </p:nvSpPr>
          <p:spPr bwMode="auto">
            <a:xfrm>
              <a:off x="3275" y="2693"/>
              <a:ext cx="2346" cy="75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rgbClr val="CC3300"/>
                  </a:solidFill>
                </a:rPr>
                <a:t>Sentinels</a:t>
              </a:r>
              <a:r>
                <a:rPr lang="en-US" altLang="en-US"/>
                <a:t>, to avoid having to</a:t>
              </a:r>
            </a:p>
            <a:p>
              <a:r>
                <a:rPr lang="en-US" altLang="en-US"/>
                <a:t>check if either subarray is</a:t>
              </a:r>
            </a:p>
            <a:p>
              <a:r>
                <a:rPr lang="en-US" altLang="en-US"/>
                <a:t>fully copied at </a:t>
              </a:r>
              <a:r>
                <a:rPr lang="en-US" altLang="en-US">
                  <a:solidFill>
                    <a:srgbClr val="CC3300"/>
                  </a:solidFill>
                </a:rPr>
                <a:t>each step</a:t>
              </a:r>
              <a:r>
                <a:rPr lang="en-US" altLang="en-US"/>
                <a:t>.</a:t>
              </a:r>
              <a:endParaRPr lang="en-US" altLang="en-US" b="1"/>
            </a:p>
          </p:txBody>
        </p:sp>
        <p:sp>
          <p:nvSpPr>
            <p:cNvPr id="11271" name="Freeform 6"/>
            <p:cNvSpPr>
              <a:spLocks/>
            </p:cNvSpPr>
            <p:nvPr/>
          </p:nvSpPr>
          <p:spPr bwMode="auto">
            <a:xfrm>
              <a:off x="1502" y="2049"/>
              <a:ext cx="1762" cy="840"/>
            </a:xfrm>
            <a:custGeom>
              <a:avLst/>
              <a:gdLst>
                <a:gd name="T0" fmla="*/ 1762 w 1762"/>
                <a:gd name="T1" fmla="*/ 840 h 840"/>
                <a:gd name="T2" fmla="*/ 0 w 1762"/>
                <a:gd name="T3" fmla="*/ 0 h 8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2" h="840">
                  <a:moveTo>
                    <a:pt x="1762" y="84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2" name="Freeform 7"/>
            <p:cNvSpPr>
              <a:spLocks/>
            </p:cNvSpPr>
            <p:nvPr/>
          </p:nvSpPr>
          <p:spPr bwMode="auto">
            <a:xfrm>
              <a:off x="1521" y="2238"/>
              <a:ext cx="1752" cy="669"/>
            </a:xfrm>
            <a:custGeom>
              <a:avLst/>
              <a:gdLst>
                <a:gd name="T0" fmla="*/ 1752 w 1752"/>
                <a:gd name="T1" fmla="*/ 669 h 669"/>
                <a:gd name="T2" fmla="*/ 0 w 1752"/>
                <a:gd name="T3" fmla="*/ 0 h 6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52" h="669">
                  <a:moveTo>
                    <a:pt x="1752" y="66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69" name="Text Box 10"/>
          <p:cNvSpPr txBox="1">
            <a:spLocks noChangeArrowheads="1"/>
          </p:cNvSpPr>
          <p:nvPr/>
        </p:nvSpPr>
        <p:spPr bwMode="auto">
          <a:xfrm>
            <a:off x="5065713" y="1600200"/>
            <a:ext cx="3395662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Input: </a:t>
            </a:r>
            <a:r>
              <a:rPr lang="en-US" altLang="en-US">
                <a:sym typeface="Symbol" panose="05050102010706020507" pitchFamily="18" charset="2"/>
              </a:rPr>
              <a:t>Array containing sorted subarrays </a:t>
            </a:r>
            <a:r>
              <a:rPr lang="en-US" altLang="en-US"/>
              <a:t>A[p..q] and A[q+1..r].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Output: Merged sorted subarray in A[p..r].</a:t>
            </a:r>
          </a:p>
        </p:txBody>
      </p:sp>
    </p:spTree>
    <p:extLst>
      <p:ext uri="{BB962C8B-B14F-4D97-AF65-F5344CB8AC3E}">
        <p14:creationId xmlns:p14="http://schemas.microsoft.com/office/powerpoint/2010/main" val="177473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Time complexity of Merge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898856"/>
            <a:ext cx="8797925" cy="5802194"/>
          </a:xfr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 b="1" dirty="0">
                <a:solidFill>
                  <a:srgbClr val="FF3300"/>
                </a:solidFill>
              </a:rPr>
              <a:t>Merge(</a:t>
            </a:r>
            <a:r>
              <a:rPr lang="en-US" altLang="en-US" sz="2100" b="1" i="1" dirty="0">
                <a:solidFill>
                  <a:srgbClr val="FF3300"/>
                </a:solidFill>
              </a:rPr>
              <a:t>A</a:t>
            </a:r>
            <a:r>
              <a:rPr lang="en-US" altLang="en-US" sz="2100" b="1" dirty="0">
                <a:solidFill>
                  <a:srgbClr val="FF3300"/>
                </a:solidFill>
              </a:rPr>
              <a:t>, </a:t>
            </a:r>
            <a:r>
              <a:rPr lang="en-US" altLang="en-US" sz="2100" b="1" i="1" dirty="0">
                <a:solidFill>
                  <a:srgbClr val="FF3300"/>
                </a:solidFill>
              </a:rPr>
              <a:t>p</a:t>
            </a:r>
            <a:r>
              <a:rPr lang="en-US" altLang="en-US" sz="2100" b="1" dirty="0">
                <a:solidFill>
                  <a:srgbClr val="FF3300"/>
                </a:solidFill>
              </a:rPr>
              <a:t>, </a:t>
            </a:r>
            <a:r>
              <a:rPr lang="en-US" altLang="en-US" sz="2100" b="1" i="1" dirty="0">
                <a:solidFill>
                  <a:srgbClr val="FF3300"/>
                </a:solidFill>
              </a:rPr>
              <a:t>q</a:t>
            </a:r>
            <a:r>
              <a:rPr lang="en-US" altLang="en-US" sz="2100" b="1" dirty="0">
                <a:solidFill>
                  <a:srgbClr val="FF3300"/>
                </a:solidFill>
              </a:rPr>
              <a:t>, </a:t>
            </a:r>
            <a:r>
              <a:rPr lang="en-US" altLang="en-US" sz="2100" b="1" i="1" dirty="0">
                <a:solidFill>
                  <a:srgbClr val="FF3300"/>
                </a:solidFill>
              </a:rPr>
              <a:t>r</a:t>
            </a:r>
            <a:r>
              <a:rPr lang="en-US" altLang="en-US" sz="2100" b="1" dirty="0">
                <a:solidFill>
                  <a:srgbClr val="FF3300"/>
                </a:solidFill>
              </a:rPr>
              <a:t>)	//Let r-p+1 = n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 dirty="0"/>
              <a:t>1  </a:t>
            </a:r>
            <a:r>
              <a:rPr lang="en-US" altLang="en-US" sz="2100" i="1" dirty="0"/>
              <a:t>n</a:t>
            </a:r>
            <a:r>
              <a:rPr lang="en-US" altLang="en-US" sz="2100" baseline="-25000" dirty="0"/>
              <a:t>1</a:t>
            </a:r>
            <a:r>
              <a:rPr lang="en-US" altLang="en-US" sz="2100" dirty="0"/>
              <a:t> </a:t>
            </a:r>
            <a:r>
              <a:rPr lang="en-US" altLang="en-US" sz="2100" dirty="0">
                <a:sym typeface="Symbol" panose="05050102010706020507" pitchFamily="18" charset="2"/>
              </a:rPr>
              <a:t> </a:t>
            </a:r>
            <a:r>
              <a:rPr lang="en-US" altLang="en-US" sz="2100" i="1" dirty="0">
                <a:sym typeface="Symbol" panose="05050102010706020507" pitchFamily="18" charset="2"/>
              </a:rPr>
              <a:t>q </a:t>
            </a:r>
            <a:r>
              <a:rPr lang="en-US" altLang="en-US" sz="2100" dirty="0">
                <a:cs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en-US" sz="2100" i="1" dirty="0">
                <a:sym typeface="Symbol" panose="05050102010706020507" pitchFamily="18" charset="2"/>
              </a:rPr>
              <a:t>p </a:t>
            </a:r>
            <a:r>
              <a:rPr lang="en-US" altLang="en-US" sz="2100" dirty="0">
                <a:sym typeface="Symbol" panose="05050102010706020507" pitchFamily="18" charset="2"/>
              </a:rPr>
              <a:t>+ 1	</a:t>
            </a:r>
            <a:r>
              <a:rPr lang="en-US" altLang="en-US" sz="2100" b="1" dirty="0">
                <a:sym typeface="Symbol" panose="05050102010706020507" pitchFamily="18" charset="2"/>
              </a:rPr>
              <a:t>//</a:t>
            </a:r>
            <a:r>
              <a:rPr lang="en-US" altLang="en-US" sz="2100" b="1" i="1" dirty="0">
                <a:sym typeface="Symbol" panose="05050102010706020507" pitchFamily="18" charset="2"/>
              </a:rPr>
              <a:t>O</a:t>
            </a:r>
            <a:r>
              <a:rPr lang="en-US" altLang="en-US" sz="2100" b="1" dirty="0">
                <a:sym typeface="Symbol" panose="05050102010706020507" pitchFamily="18" charset="2"/>
              </a:rPr>
              <a:t>(1)</a:t>
            </a:r>
            <a:endParaRPr lang="en-US" altLang="en-US" sz="2100" b="1" dirty="0"/>
          </a:p>
          <a:p>
            <a:pPr marL="609600" indent="-609600"/>
            <a:r>
              <a:rPr lang="en-US" altLang="en-US" sz="2100" dirty="0"/>
              <a:t>2  </a:t>
            </a:r>
            <a:r>
              <a:rPr lang="en-US" altLang="en-US" sz="2100" i="1" dirty="0"/>
              <a:t>n</a:t>
            </a:r>
            <a:r>
              <a:rPr lang="en-US" altLang="en-US" sz="2100" baseline="-25000" dirty="0"/>
              <a:t>2</a:t>
            </a:r>
            <a:r>
              <a:rPr lang="en-US" altLang="en-US" sz="2100" dirty="0"/>
              <a:t> </a:t>
            </a:r>
            <a:r>
              <a:rPr lang="en-US" altLang="en-US" sz="2100" dirty="0">
                <a:sym typeface="Symbol" panose="05050102010706020507" pitchFamily="18" charset="2"/>
              </a:rPr>
              <a:t> </a:t>
            </a:r>
            <a:r>
              <a:rPr lang="en-US" altLang="en-US" sz="2100" i="1" dirty="0">
                <a:sym typeface="Symbol" panose="05050102010706020507" pitchFamily="18" charset="2"/>
              </a:rPr>
              <a:t>r </a:t>
            </a:r>
            <a:r>
              <a:rPr lang="en-US" altLang="en-US" sz="2100" dirty="0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en-US" sz="2100" dirty="0">
                <a:sym typeface="Symbol" panose="05050102010706020507" pitchFamily="18" charset="2"/>
              </a:rPr>
              <a:t> </a:t>
            </a:r>
            <a:r>
              <a:rPr lang="en-US" altLang="en-US" sz="2100" i="1" dirty="0">
                <a:sym typeface="Symbol" panose="05050102010706020507" pitchFamily="18" charset="2"/>
              </a:rPr>
              <a:t>q	</a:t>
            </a:r>
            <a:r>
              <a:rPr lang="en-US" altLang="en-US" sz="2100" dirty="0">
                <a:sym typeface="Symbol" panose="05050102010706020507" pitchFamily="18" charset="2"/>
              </a:rPr>
              <a:t> </a:t>
            </a:r>
            <a:r>
              <a:rPr lang="en-US" altLang="en-US" sz="2100" b="1" dirty="0">
                <a:sym typeface="Symbol" panose="05050102010706020507" pitchFamily="18" charset="2"/>
              </a:rPr>
              <a:t>//</a:t>
            </a:r>
            <a:r>
              <a:rPr lang="en-US" altLang="en-US" sz="2100" b="1" i="1" dirty="0">
                <a:sym typeface="Symbol" panose="05050102010706020507" pitchFamily="18" charset="2"/>
              </a:rPr>
              <a:t>O</a:t>
            </a:r>
            <a:r>
              <a:rPr lang="en-US" altLang="en-US" sz="2100" b="1" dirty="0">
                <a:sym typeface="Symbol" panose="05050102010706020507" pitchFamily="18" charset="2"/>
              </a:rPr>
              <a:t>(1)</a:t>
            </a:r>
            <a:endParaRPr lang="en-US" altLang="en-US" sz="2100" b="1" i="1" dirty="0">
              <a:sym typeface="Symbol" panose="05050102010706020507" pitchFamily="18" charset="2"/>
            </a:endParaRPr>
          </a:p>
          <a:p>
            <a:pPr marL="609600" indent="-609600">
              <a:buFont typeface="Wingdings" panose="05000000000000000000" pitchFamily="2" charset="2"/>
              <a:buAutoNum type="arabicPlain" startAt="3"/>
            </a:pPr>
            <a:r>
              <a:rPr lang="en-US" altLang="en-US" sz="2100" b="1" dirty="0">
                <a:solidFill>
                  <a:schemeClr val="hlink"/>
                </a:solidFill>
              </a:rPr>
              <a:t>for</a:t>
            </a:r>
            <a:r>
              <a:rPr lang="en-US" altLang="en-US" sz="2100" dirty="0"/>
              <a:t> </a:t>
            </a:r>
            <a:r>
              <a:rPr lang="en-US" altLang="en-US" sz="2100" i="1" dirty="0" err="1"/>
              <a:t>i</a:t>
            </a:r>
            <a:r>
              <a:rPr lang="en-US" altLang="en-US" sz="2100" i="1" dirty="0"/>
              <a:t> </a:t>
            </a:r>
            <a:r>
              <a:rPr lang="en-US" altLang="en-US" sz="2100" dirty="0">
                <a:sym typeface="Symbol" panose="05050102010706020507" pitchFamily="18" charset="2"/>
              </a:rPr>
              <a:t></a:t>
            </a:r>
            <a:r>
              <a:rPr lang="en-US" altLang="en-US" sz="2100" dirty="0"/>
              <a:t> 1 </a:t>
            </a:r>
            <a:r>
              <a:rPr lang="en-US" altLang="en-US" sz="2100" b="1" dirty="0">
                <a:solidFill>
                  <a:schemeClr val="hlink"/>
                </a:solidFill>
              </a:rPr>
              <a:t>to</a:t>
            </a:r>
            <a:r>
              <a:rPr lang="en-US" altLang="en-US" sz="2100" dirty="0"/>
              <a:t> </a:t>
            </a:r>
            <a:r>
              <a:rPr lang="en-US" altLang="en-US" sz="2100" i="1" dirty="0"/>
              <a:t>n</a:t>
            </a:r>
            <a:r>
              <a:rPr lang="en-US" altLang="en-US" sz="2100" baseline="-25000" dirty="0"/>
              <a:t>1</a:t>
            </a:r>
            <a:r>
              <a:rPr lang="en-US" altLang="en-US" sz="2100" dirty="0"/>
              <a:t>  </a:t>
            </a:r>
            <a:r>
              <a:rPr lang="en-US" altLang="en-US" sz="2100" b="1" dirty="0">
                <a:sym typeface="Symbol" panose="05050102010706020507" pitchFamily="18" charset="2"/>
              </a:rPr>
              <a:t>//</a:t>
            </a:r>
            <a:r>
              <a:rPr lang="en-US" altLang="en-US" sz="2100" b="1" i="1" dirty="0">
                <a:sym typeface="Symbol" panose="05050102010706020507" pitchFamily="18" charset="2"/>
              </a:rPr>
              <a:t>O</a:t>
            </a:r>
            <a:r>
              <a:rPr lang="en-US" altLang="en-US" sz="2100" b="1" dirty="0">
                <a:sym typeface="Symbol" panose="05050102010706020507" pitchFamily="18" charset="2"/>
              </a:rPr>
              <a:t>(q-p+1)</a:t>
            </a:r>
            <a:endParaRPr lang="en-US" altLang="en-US" sz="2100" b="1" dirty="0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dirty="0"/>
              <a:t>    </a:t>
            </a:r>
            <a:r>
              <a:rPr lang="en-US" altLang="en-US" sz="2100" b="1" dirty="0">
                <a:solidFill>
                  <a:schemeClr val="hlink"/>
                </a:solidFill>
              </a:rPr>
              <a:t>do</a:t>
            </a:r>
            <a:r>
              <a:rPr lang="en-US" altLang="en-US" sz="2100" dirty="0"/>
              <a:t> </a:t>
            </a:r>
            <a:r>
              <a:rPr lang="en-US" altLang="en-US" sz="2100" i="1" dirty="0"/>
              <a:t>L</a:t>
            </a:r>
            <a:r>
              <a:rPr lang="en-US" altLang="en-US" sz="2100" dirty="0"/>
              <a:t>[</a:t>
            </a:r>
            <a:r>
              <a:rPr lang="en-US" altLang="en-US" sz="2100" i="1" dirty="0" err="1"/>
              <a:t>i</a:t>
            </a:r>
            <a:r>
              <a:rPr lang="en-US" altLang="en-US" sz="2100" dirty="0"/>
              <a:t>] </a:t>
            </a:r>
            <a:r>
              <a:rPr lang="en-US" altLang="en-US" sz="2100" dirty="0">
                <a:sym typeface="Symbol" panose="05050102010706020507" pitchFamily="18" charset="2"/>
              </a:rPr>
              <a:t> </a:t>
            </a:r>
            <a:r>
              <a:rPr lang="en-US" altLang="en-US" sz="2100" i="1" dirty="0">
                <a:sym typeface="Symbol" panose="05050102010706020507" pitchFamily="18" charset="2"/>
              </a:rPr>
              <a:t>A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>
                <a:sym typeface="Symbol" panose="05050102010706020507" pitchFamily="18" charset="2"/>
              </a:rPr>
              <a:t>p </a:t>
            </a:r>
            <a:r>
              <a:rPr lang="en-US" altLang="en-US" sz="2100" dirty="0">
                <a:sym typeface="Symbol" panose="05050102010706020507" pitchFamily="18" charset="2"/>
              </a:rPr>
              <a:t>+ </a:t>
            </a:r>
            <a:r>
              <a:rPr lang="en-US" altLang="en-US" sz="2100" i="1" dirty="0" err="1">
                <a:sym typeface="Symbol" panose="05050102010706020507" pitchFamily="18" charset="2"/>
              </a:rPr>
              <a:t>i</a:t>
            </a:r>
            <a:r>
              <a:rPr lang="en-US" altLang="en-US" sz="2100" i="1" dirty="0">
                <a:sym typeface="Symbol" panose="05050102010706020507" pitchFamily="18" charset="2"/>
              </a:rPr>
              <a:t> </a:t>
            </a:r>
            <a:r>
              <a:rPr lang="en-US" altLang="en-US" sz="2100" dirty="0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en-US" sz="2100" dirty="0">
                <a:sym typeface="Symbol" panose="05050102010706020507" pitchFamily="18" charset="2"/>
              </a:rPr>
              <a:t> 1]</a:t>
            </a:r>
          </a:p>
          <a:p>
            <a:pPr marL="609600" indent="-609600">
              <a:buFont typeface="Wingdings" panose="05000000000000000000" pitchFamily="2" charset="2"/>
              <a:buAutoNum type="arabicPlain" startAt="3"/>
            </a:pPr>
            <a:r>
              <a:rPr lang="en-US" altLang="en-US" sz="2100" b="1" dirty="0">
                <a:solidFill>
                  <a:schemeClr val="hlink"/>
                </a:solidFill>
              </a:rPr>
              <a:t>for</a:t>
            </a:r>
            <a:r>
              <a:rPr lang="en-US" altLang="en-US" sz="2100" dirty="0"/>
              <a:t> </a:t>
            </a:r>
            <a:r>
              <a:rPr lang="en-US" altLang="en-US" sz="2100" i="1" dirty="0"/>
              <a:t>j </a:t>
            </a:r>
            <a:r>
              <a:rPr lang="en-US" altLang="en-US" sz="2100" dirty="0">
                <a:sym typeface="Symbol" panose="05050102010706020507" pitchFamily="18" charset="2"/>
              </a:rPr>
              <a:t></a:t>
            </a:r>
            <a:r>
              <a:rPr lang="en-US" altLang="en-US" sz="2100" dirty="0"/>
              <a:t> 1 </a:t>
            </a:r>
            <a:r>
              <a:rPr lang="en-US" altLang="en-US" sz="2100" b="1" dirty="0">
                <a:solidFill>
                  <a:schemeClr val="hlink"/>
                </a:solidFill>
              </a:rPr>
              <a:t>to</a:t>
            </a:r>
            <a:r>
              <a:rPr lang="en-US" altLang="en-US" sz="2100" dirty="0"/>
              <a:t> </a:t>
            </a:r>
            <a:r>
              <a:rPr lang="en-US" altLang="en-US" sz="2100" i="1" dirty="0"/>
              <a:t>n</a:t>
            </a:r>
            <a:r>
              <a:rPr lang="en-US" altLang="en-US" sz="2100" baseline="-25000" dirty="0"/>
              <a:t>2  </a:t>
            </a:r>
            <a:r>
              <a:rPr lang="en-US" altLang="en-US" sz="2100" b="1" dirty="0">
                <a:sym typeface="Symbol" panose="05050102010706020507" pitchFamily="18" charset="2"/>
              </a:rPr>
              <a:t>//</a:t>
            </a:r>
            <a:r>
              <a:rPr lang="en-US" altLang="en-US" sz="2100" b="1" i="1" dirty="0">
                <a:sym typeface="Symbol" panose="05050102010706020507" pitchFamily="18" charset="2"/>
              </a:rPr>
              <a:t>O</a:t>
            </a:r>
            <a:r>
              <a:rPr lang="en-US" altLang="en-US" sz="2100" b="1" dirty="0">
                <a:sym typeface="Symbol" panose="05050102010706020507" pitchFamily="18" charset="2"/>
              </a:rPr>
              <a:t>(r-q)</a:t>
            </a:r>
            <a:endParaRPr lang="en-US" altLang="en-US" sz="2100" b="1" dirty="0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dirty="0"/>
              <a:t>    </a:t>
            </a:r>
            <a:r>
              <a:rPr lang="en-US" altLang="en-US" sz="2100" b="1" dirty="0">
                <a:solidFill>
                  <a:schemeClr val="hlink"/>
                </a:solidFill>
              </a:rPr>
              <a:t>do</a:t>
            </a:r>
            <a:r>
              <a:rPr lang="en-US" altLang="en-US" sz="2100" dirty="0"/>
              <a:t> </a:t>
            </a:r>
            <a:r>
              <a:rPr lang="en-US" altLang="en-US" sz="2100" i="1" dirty="0"/>
              <a:t>R</a:t>
            </a:r>
            <a:r>
              <a:rPr lang="en-US" altLang="en-US" sz="2100" dirty="0"/>
              <a:t>[</a:t>
            </a:r>
            <a:r>
              <a:rPr lang="en-US" altLang="en-US" sz="2100" i="1" dirty="0"/>
              <a:t>j</a:t>
            </a:r>
            <a:r>
              <a:rPr lang="en-US" altLang="en-US" sz="2100" dirty="0"/>
              <a:t>] </a:t>
            </a:r>
            <a:r>
              <a:rPr lang="en-US" altLang="en-US" sz="2100" dirty="0">
                <a:sym typeface="Symbol" panose="05050102010706020507" pitchFamily="18" charset="2"/>
              </a:rPr>
              <a:t> </a:t>
            </a:r>
            <a:r>
              <a:rPr lang="en-US" altLang="en-US" sz="2100" i="1" dirty="0">
                <a:sym typeface="Symbol" panose="05050102010706020507" pitchFamily="18" charset="2"/>
              </a:rPr>
              <a:t>A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>
                <a:sym typeface="Symbol" panose="05050102010706020507" pitchFamily="18" charset="2"/>
              </a:rPr>
              <a:t>q </a:t>
            </a:r>
            <a:r>
              <a:rPr lang="en-US" altLang="en-US" sz="2100" dirty="0">
                <a:sym typeface="Symbol" panose="05050102010706020507" pitchFamily="18" charset="2"/>
              </a:rPr>
              <a:t>+ </a:t>
            </a:r>
            <a:r>
              <a:rPr lang="en-US" altLang="en-US" sz="2100" i="1" dirty="0">
                <a:sym typeface="Symbol" panose="05050102010706020507" pitchFamily="18" charset="2"/>
              </a:rPr>
              <a:t>j</a:t>
            </a:r>
            <a:r>
              <a:rPr lang="en-US" altLang="en-US" sz="2100" dirty="0">
                <a:sym typeface="Symbol" panose="05050102010706020507" pitchFamily="18" charset="2"/>
              </a:rPr>
              <a:t>]</a:t>
            </a:r>
            <a:endParaRPr lang="en-US" altLang="en-US" sz="2100" i="1" dirty="0">
              <a:sym typeface="Symbol" panose="05050102010706020507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i="1" dirty="0">
                <a:sym typeface="Symbol" panose="05050102010706020507" pitchFamily="18" charset="2"/>
              </a:rPr>
              <a:t>L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/>
              <a:t>n</a:t>
            </a:r>
            <a:r>
              <a:rPr lang="en-US" altLang="en-US" sz="2100" i="1" baseline="-25000" dirty="0"/>
              <a:t>1</a:t>
            </a:r>
            <a:r>
              <a:rPr lang="en-US" altLang="en-US" sz="2100" dirty="0"/>
              <a:t>+1] </a:t>
            </a:r>
            <a:r>
              <a:rPr lang="en-US" altLang="en-US" sz="2100" dirty="0">
                <a:sym typeface="Symbol" panose="05050102010706020507" pitchFamily="18" charset="2"/>
              </a:rPr>
              <a:t> 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i="1" dirty="0">
                <a:sym typeface="Symbol" panose="05050102010706020507" pitchFamily="18" charset="2"/>
              </a:rPr>
              <a:t>R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/>
              <a:t>n</a:t>
            </a:r>
            <a:r>
              <a:rPr lang="en-US" altLang="en-US" sz="2100" i="1" baseline="-25000" dirty="0"/>
              <a:t>2</a:t>
            </a:r>
            <a:r>
              <a:rPr lang="en-US" altLang="en-US" sz="2100" dirty="0"/>
              <a:t>+1] </a:t>
            </a:r>
            <a:r>
              <a:rPr lang="en-US" altLang="en-US" sz="2100" dirty="0">
                <a:sym typeface="Symbol" panose="05050102010706020507" pitchFamily="18" charset="2"/>
              </a:rPr>
              <a:t> 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i="1" dirty="0" err="1">
                <a:sym typeface="Symbol" panose="05050102010706020507" pitchFamily="18" charset="2"/>
              </a:rPr>
              <a:t>i</a:t>
            </a:r>
            <a:r>
              <a:rPr lang="en-US" altLang="en-US" sz="2100" dirty="0">
                <a:sym typeface="Symbol" panose="05050102010706020507" pitchFamily="18" charset="2"/>
              </a:rPr>
              <a:t>  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i="1" dirty="0">
                <a:sym typeface="Symbol" panose="05050102010706020507" pitchFamily="18" charset="2"/>
              </a:rPr>
              <a:t>j</a:t>
            </a:r>
            <a:r>
              <a:rPr lang="en-US" altLang="en-US" sz="2100" dirty="0">
                <a:sym typeface="Symbol" panose="05050102010706020507" pitchFamily="18" charset="2"/>
              </a:rPr>
              <a:t>  1</a:t>
            </a:r>
          </a:p>
          <a:p>
            <a:pPr marL="609600" indent="-609600">
              <a:buFont typeface="Wingdings" panose="05000000000000000000" pitchFamily="2" charset="2"/>
              <a:buAutoNum type="arabicPlain" startAt="3"/>
            </a:pPr>
            <a:r>
              <a:rPr lang="en-US" altLang="en-US" sz="2100" b="1" dirty="0">
                <a:solidFill>
                  <a:schemeClr val="hlink"/>
                </a:solidFill>
                <a:sym typeface="Symbol" panose="05050102010706020507" pitchFamily="18" charset="2"/>
              </a:rPr>
              <a:t>for</a:t>
            </a:r>
            <a:r>
              <a:rPr lang="en-US" altLang="en-US" sz="2100" b="1" dirty="0">
                <a:sym typeface="Symbol" panose="05050102010706020507" pitchFamily="18" charset="2"/>
              </a:rPr>
              <a:t> </a:t>
            </a:r>
            <a:r>
              <a:rPr lang="en-US" altLang="en-US" sz="2100" i="1" dirty="0">
                <a:sym typeface="Symbol" panose="05050102010706020507" pitchFamily="18" charset="2"/>
              </a:rPr>
              <a:t>k </a:t>
            </a:r>
            <a:r>
              <a:rPr lang="en-US" altLang="en-US" sz="2100" dirty="0">
                <a:sym typeface="Symbol" panose="05050102010706020507" pitchFamily="18" charset="2"/>
              </a:rPr>
              <a:t></a:t>
            </a:r>
            <a:r>
              <a:rPr lang="en-US" altLang="en-US" sz="2100" i="1" dirty="0">
                <a:sym typeface="Symbol" panose="05050102010706020507" pitchFamily="18" charset="2"/>
              </a:rPr>
              <a:t>p </a:t>
            </a:r>
            <a:r>
              <a:rPr lang="en-US" altLang="en-US" sz="2100" b="1" dirty="0">
                <a:solidFill>
                  <a:schemeClr val="hlink"/>
                </a:solidFill>
                <a:sym typeface="Symbol" panose="05050102010706020507" pitchFamily="18" charset="2"/>
              </a:rPr>
              <a:t>to</a:t>
            </a:r>
            <a:r>
              <a:rPr lang="en-US" altLang="en-US" sz="2100" b="1" dirty="0">
                <a:sym typeface="Symbol" panose="05050102010706020507" pitchFamily="18" charset="2"/>
              </a:rPr>
              <a:t> </a:t>
            </a:r>
            <a:r>
              <a:rPr lang="en-US" altLang="en-US" sz="2100" i="1" dirty="0">
                <a:sym typeface="Symbol" panose="05050102010706020507" pitchFamily="18" charset="2"/>
              </a:rPr>
              <a:t>r	</a:t>
            </a:r>
            <a:r>
              <a:rPr lang="en-US" altLang="en-US" sz="2100" dirty="0">
                <a:sym typeface="Symbol" panose="05050102010706020507" pitchFamily="18" charset="2"/>
              </a:rPr>
              <a:t> </a:t>
            </a:r>
            <a:r>
              <a:rPr lang="en-US" altLang="en-US" sz="2100" b="1" dirty="0">
                <a:sym typeface="Symbol" panose="05050102010706020507" pitchFamily="18" charset="2"/>
              </a:rPr>
              <a:t>//</a:t>
            </a:r>
            <a:r>
              <a:rPr lang="en-US" altLang="en-US" sz="2100" b="1" i="1" dirty="0">
                <a:sym typeface="Symbol" panose="05050102010706020507" pitchFamily="18" charset="2"/>
              </a:rPr>
              <a:t>O</a:t>
            </a:r>
            <a:r>
              <a:rPr lang="en-US" altLang="en-US" sz="2100" b="1" dirty="0">
                <a:sym typeface="Symbol" panose="05050102010706020507" pitchFamily="18" charset="2"/>
              </a:rPr>
              <a:t>(r-p+1) = </a:t>
            </a:r>
            <a:r>
              <a:rPr lang="en-US" altLang="en-US" sz="2100" b="1" i="1" dirty="0">
                <a:sym typeface="Symbol" panose="05050102010706020507" pitchFamily="18" charset="2"/>
              </a:rPr>
              <a:t>O</a:t>
            </a:r>
            <a:r>
              <a:rPr lang="en-US" altLang="en-US" sz="2100" b="1" dirty="0">
                <a:sym typeface="Symbol" panose="05050102010706020507" pitchFamily="18" charset="2"/>
              </a:rPr>
              <a:t>(n)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dirty="0">
                <a:sym typeface="Symbol" panose="05050102010706020507" pitchFamily="18" charset="2"/>
              </a:rPr>
              <a:t>    </a:t>
            </a:r>
            <a:r>
              <a:rPr lang="en-US" altLang="en-US" sz="2100" b="1" dirty="0">
                <a:solidFill>
                  <a:schemeClr val="hlink"/>
                </a:solidFill>
                <a:sym typeface="Symbol" panose="05050102010706020507" pitchFamily="18" charset="2"/>
              </a:rPr>
              <a:t>do</a:t>
            </a:r>
            <a:r>
              <a:rPr lang="en-US" altLang="en-US" sz="2100" b="1" dirty="0">
                <a:sym typeface="Symbol" panose="05050102010706020507" pitchFamily="18" charset="2"/>
              </a:rPr>
              <a:t> </a:t>
            </a:r>
            <a:r>
              <a:rPr lang="en-US" altLang="en-US" sz="2100" b="1" dirty="0">
                <a:solidFill>
                  <a:schemeClr val="hlink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100" b="1" dirty="0">
                <a:sym typeface="Symbol" panose="05050102010706020507" pitchFamily="18" charset="2"/>
              </a:rPr>
              <a:t> </a:t>
            </a:r>
            <a:r>
              <a:rPr lang="en-US" altLang="en-US" sz="2100" i="1" dirty="0">
                <a:sym typeface="Symbol" panose="05050102010706020507" pitchFamily="18" charset="2"/>
              </a:rPr>
              <a:t>L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 err="1">
                <a:sym typeface="Symbol" panose="05050102010706020507" pitchFamily="18" charset="2"/>
              </a:rPr>
              <a:t>i</a:t>
            </a:r>
            <a:r>
              <a:rPr lang="en-US" altLang="en-US" sz="2100" dirty="0">
                <a:sym typeface="Symbol" panose="05050102010706020507" pitchFamily="18" charset="2"/>
              </a:rPr>
              <a:t>]  </a:t>
            </a:r>
            <a:r>
              <a:rPr lang="en-US" altLang="en-US" sz="2100" i="1" dirty="0">
                <a:sym typeface="Symbol" panose="05050102010706020507" pitchFamily="18" charset="2"/>
              </a:rPr>
              <a:t>R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>
                <a:sym typeface="Symbol" panose="05050102010706020507" pitchFamily="18" charset="2"/>
              </a:rPr>
              <a:t>j</a:t>
            </a:r>
            <a:r>
              <a:rPr lang="en-US" altLang="en-US" sz="2100" dirty="0">
                <a:sym typeface="Symbol" panose="05050102010706020507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dirty="0">
                <a:sym typeface="Symbol" panose="05050102010706020507" pitchFamily="18" charset="2"/>
              </a:rPr>
              <a:t>        </a:t>
            </a:r>
            <a:r>
              <a:rPr lang="en-US" altLang="en-US" sz="2100" b="1" dirty="0">
                <a:solidFill>
                  <a:schemeClr val="hlink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100" dirty="0">
                <a:sym typeface="Symbol" panose="05050102010706020507" pitchFamily="18" charset="2"/>
              </a:rPr>
              <a:t> </a:t>
            </a:r>
            <a:r>
              <a:rPr lang="en-US" altLang="en-US" sz="2100" i="1" dirty="0">
                <a:sym typeface="Symbol" panose="05050102010706020507" pitchFamily="18" charset="2"/>
              </a:rPr>
              <a:t>A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>
                <a:sym typeface="Symbol" panose="05050102010706020507" pitchFamily="18" charset="2"/>
              </a:rPr>
              <a:t>k</a:t>
            </a:r>
            <a:r>
              <a:rPr lang="en-US" altLang="en-US" sz="2100" dirty="0">
                <a:sym typeface="Symbol" panose="05050102010706020507" pitchFamily="18" charset="2"/>
              </a:rPr>
              <a:t>]  </a:t>
            </a:r>
            <a:r>
              <a:rPr lang="en-US" altLang="en-US" sz="2100" i="1" dirty="0">
                <a:sym typeface="Symbol" panose="05050102010706020507" pitchFamily="18" charset="2"/>
              </a:rPr>
              <a:t>L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 err="1">
                <a:sym typeface="Symbol" panose="05050102010706020507" pitchFamily="18" charset="2"/>
              </a:rPr>
              <a:t>i</a:t>
            </a:r>
            <a:r>
              <a:rPr lang="en-US" altLang="en-US" sz="2100" dirty="0">
                <a:sym typeface="Symbol" panose="05050102010706020507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dirty="0">
                <a:sym typeface="Symbol" panose="05050102010706020507" pitchFamily="18" charset="2"/>
              </a:rPr>
              <a:t>                 </a:t>
            </a:r>
            <a:r>
              <a:rPr lang="en-US" altLang="en-US" sz="2100" i="1" dirty="0" err="1">
                <a:sym typeface="Symbol" panose="05050102010706020507" pitchFamily="18" charset="2"/>
              </a:rPr>
              <a:t>i</a:t>
            </a:r>
            <a:r>
              <a:rPr lang="en-US" altLang="en-US" sz="2100" i="1" dirty="0">
                <a:sym typeface="Symbol" panose="05050102010706020507" pitchFamily="18" charset="2"/>
              </a:rPr>
              <a:t> </a:t>
            </a:r>
            <a:r>
              <a:rPr lang="en-US" altLang="en-US" sz="2100" dirty="0">
                <a:sym typeface="Symbol" panose="05050102010706020507" pitchFamily="18" charset="2"/>
              </a:rPr>
              <a:t> </a:t>
            </a:r>
            <a:r>
              <a:rPr lang="en-US" altLang="en-US" sz="2100" i="1" dirty="0" err="1">
                <a:sym typeface="Symbol" panose="05050102010706020507" pitchFamily="18" charset="2"/>
              </a:rPr>
              <a:t>i</a:t>
            </a:r>
            <a:r>
              <a:rPr lang="en-US" altLang="en-US" sz="2100" dirty="0">
                <a:sym typeface="Symbol" panose="05050102010706020507" pitchFamily="18" charset="2"/>
              </a:rPr>
              <a:t> + 1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dirty="0">
                <a:sym typeface="Symbol" panose="05050102010706020507" pitchFamily="18" charset="2"/>
              </a:rPr>
              <a:t>        </a:t>
            </a:r>
            <a:r>
              <a:rPr lang="en-US" altLang="en-US" sz="2100" b="1" dirty="0">
                <a:solidFill>
                  <a:schemeClr val="hlink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2100" dirty="0">
                <a:sym typeface="Symbol" panose="05050102010706020507" pitchFamily="18" charset="2"/>
              </a:rPr>
              <a:t> </a:t>
            </a:r>
            <a:r>
              <a:rPr lang="en-US" altLang="en-US" sz="2100" i="1" dirty="0">
                <a:sym typeface="Symbol" panose="05050102010706020507" pitchFamily="18" charset="2"/>
              </a:rPr>
              <a:t>A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>
                <a:sym typeface="Symbol" panose="05050102010706020507" pitchFamily="18" charset="2"/>
              </a:rPr>
              <a:t>k</a:t>
            </a:r>
            <a:r>
              <a:rPr lang="en-US" altLang="en-US" sz="2100" dirty="0">
                <a:sym typeface="Symbol" panose="05050102010706020507" pitchFamily="18" charset="2"/>
              </a:rPr>
              <a:t>]  </a:t>
            </a:r>
            <a:r>
              <a:rPr lang="en-US" altLang="en-US" sz="2100" i="1" dirty="0">
                <a:sym typeface="Symbol" panose="05050102010706020507" pitchFamily="18" charset="2"/>
              </a:rPr>
              <a:t>R</a:t>
            </a:r>
            <a:r>
              <a:rPr lang="en-US" altLang="en-US" sz="2100" dirty="0">
                <a:sym typeface="Symbol" panose="05050102010706020507" pitchFamily="18" charset="2"/>
              </a:rPr>
              <a:t>[</a:t>
            </a:r>
            <a:r>
              <a:rPr lang="en-US" altLang="en-US" sz="2100" i="1" dirty="0">
                <a:sym typeface="Symbol" panose="05050102010706020507" pitchFamily="18" charset="2"/>
              </a:rPr>
              <a:t>j</a:t>
            </a:r>
            <a:r>
              <a:rPr lang="en-US" altLang="en-US" sz="2100" dirty="0">
                <a:sym typeface="Symbol" panose="05050102010706020507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lain" startAt="3"/>
            </a:pPr>
            <a:r>
              <a:rPr lang="en-US" altLang="en-US" sz="2100" dirty="0">
                <a:sym typeface="Symbol" panose="05050102010706020507" pitchFamily="18" charset="2"/>
              </a:rPr>
              <a:t>                 </a:t>
            </a:r>
            <a:r>
              <a:rPr lang="en-US" altLang="en-US" sz="2100" i="1" dirty="0">
                <a:sym typeface="Symbol" panose="05050102010706020507" pitchFamily="18" charset="2"/>
              </a:rPr>
              <a:t>j </a:t>
            </a:r>
            <a:r>
              <a:rPr lang="en-US" altLang="en-US" sz="2100" dirty="0">
                <a:sym typeface="Symbol" panose="05050102010706020507" pitchFamily="18" charset="2"/>
              </a:rPr>
              <a:t> </a:t>
            </a:r>
            <a:r>
              <a:rPr lang="en-US" altLang="en-US" sz="2100" i="1" dirty="0">
                <a:sym typeface="Symbol" panose="05050102010706020507" pitchFamily="18" charset="2"/>
              </a:rPr>
              <a:t>j</a:t>
            </a:r>
            <a:r>
              <a:rPr lang="en-US" altLang="en-US" sz="2100" dirty="0">
                <a:sym typeface="Symbol" panose="05050102010706020507" pitchFamily="18" charset="2"/>
              </a:rPr>
              <a:t> + 1</a:t>
            </a:r>
            <a:endParaRPr lang="en-US" altLang="en-US" sz="2100" b="1" dirty="0">
              <a:sym typeface="Symbol" panose="05050102010706020507" pitchFamily="18" charset="2"/>
            </a:endParaRPr>
          </a:p>
          <a:p>
            <a:pPr marL="609600" indent="-609600"/>
            <a:r>
              <a:rPr lang="en-US" altLang="en-US" sz="2400" b="1" dirty="0">
                <a:sym typeface="Symbol" panose="05050102010706020507" pitchFamily="18" charset="2"/>
              </a:rPr>
              <a:t>//Total time: </a:t>
            </a:r>
            <a:r>
              <a:rPr lang="en-US" altLang="en-US" sz="2400" b="1" i="1" dirty="0">
                <a:sym typeface="Symbol" panose="05050102010706020507" pitchFamily="18" charset="2"/>
              </a:rPr>
              <a:t>O</a:t>
            </a:r>
            <a:r>
              <a:rPr lang="en-US" altLang="en-US" sz="2400" b="1" dirty="0">
                <a:sym typeface="Symbol" panose="05050102010706020507" pitchFamily="18" charset="2"/>
              </a:rPr>
              <a:t>(n)</a:t>
            </a:r>
          </a:p>
        </p:txBody>
      </p:sp>
      <p:sp>
        <p:nvSpPr>
          <p:cNvPr id="11269" name="Text Box 10"/>
          <p:cNvSpPr txBox="1">
            <a:spLocks noChangeArrowheads="1"/>
          </p:cNvSpPr>
          <p:nvPr/>
        </p:nvSpPr>
        <p:spPr bwMode="auto">
          <a:xfrm>
            <a:off x="5065713" y="1600200"/>
            <a:ext cx="3395662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Input: </a:t>
            </a:r>
            <a:r>
              <a:rPr lang="en-US" altLang="en-US">
                <a:sym typeface="Symbol" panose="05050102010706020507" pitchFamily="18" charset="2"/>
              </a:rPr>
              <a:t>Array containing sorted subarrays </a:t>
            </a:r>
            <a:r>
              <a:rPr lang="en-US" altLang="en-US"/>
              <a:t>A[p..q] and A[q+1..r].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Output: Merged sorted subarray in A[p..r].</a:t>
            </a:r>
          </a:p>
        </p:txBody>
      </p:sp>
    </p:spTree>
    <p:extLst>
      <p:ext uri="{BB962C8B-B14F-4D97-AF65-F5344CB8AC3E}">
        <p14:creationId xmlns:p14="http://schemas.microsoft.com/office/powerpoint/2010/main" val="177473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Merge Sort</a:t>
            </a:r>
            <a:endParaRPr lang="en-US" alt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sz="2000" dirty="0">
              <a:solidFill>
                <a:schemeClr val="hlink"/>
              </a:solidFill>
            </a:endParaRP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550863" y="2924175"/>
            <a:ext cx="785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227919" y="1028701"/>
            <a:ext cx="8188967" cy="2308324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 err="1">
                <a:latin typeface="Times New Roman" panose="02020603050405020304" pitchFamily="18" charset="0"/>
              </a:rPr>
              <a:t>MergeSort</a:t>
            </a:r>
            <a:r>
              <a:rPr lang="en-US" altLang="en-US" sz="2400" b="1" dirty="0">
                <a:latin typeface="Times New Roman" panose="02020603050405020304" pitchFamily="18" charset="0"/>
              </a:rPr>
              <a:t> (A, p, r)   // </a:t>
            </a:r>
            <a:r>
              <a:rPr lang="en-US" altLang="en-US" dirty="0">
                <a:latin typeface="Times New Roman" panose="02020603050405020304" pitchFamily="18" charset="0"/>
              </a:rPr>
              <a:t>sort A[</a:t>
            </a:r>
            <a:r>
              <a:rPr lang="en-US" altLang="en-US" dirty="0" err="1">
                <a:latin typeface="Times New Roman" panose="02020603050405020304" pitchFamily="18" charset="0"/>
              </a:rPr>
              <a:t>p..r</a:t>
            </a:r>
            <a:r>
              <a:rPr lang="en-US" altLang="en-US" dirty="0">
                <a:latin typeface="Times New Roman" panose="02020603050405020304" pitchFamily="18" charset="0"/>
              </a:rPr>
              <a:t>] by divide &amp; conquer</a:t>
            </a:r>
          </a:p>
          <a:p>
            <a:pPr>
              <a:buFontTx/>
              <a:buAutoNum type="arabicPlain"/>
            </a:pPr>
            <a:r>
              <a:rPr lang="en-US" altLang="en-US" sz="2400" b="1" dirty="0">
                <a:latin typeface="Times New Roman" panose="02020603050405020304" pitchFamily="18" charset="0"/>
              </a:rPr>
              <a:t>if </a:t>
            </a:r>
            <a:r>
              <a:rPr lang="en-US" altLang="en-US" sz="2400" dirty="0">
                <a:latin typeface="Times New Roman" panose="02020603050405020304" pitchFamily="18" charset="0"/>
              </a:rPr>
              <a:t>p &lt; r</a:t>
            </a:r>
          </a:p>
          <a:p>
            <a:pPr>
              <a:buFontTx/>
              <a:buAutoNum type="arabicPlain"/>
            </a:pPr>
            <a:r>
              <a:rPr lang="en-US" altLang="en-US" sz="2400" b="1" dirty="0">
                <a:latin typeface="Times New Roman" panose="02020603050405020304" pitchFamily="18" charset="0"/>
              </a:rPr>
              <a:t>    then</a:t>
            </a:r>
            <a:r>
              <a:rPr lang="en-US" altLang="en-US" sz="2400" dirty="0">
                <a:latin typeface="Times New Roman" panose="02020603050405020304" pitchFamily="18" charset="0"/>
              </a:rPr>
              <a:t> q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400" i="0" dirty="0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p+r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)/2</a:t>
            </a:r>
            <a:r>
              <a:rPr lang="en-US" altLang="en-US" sz="2400" i="0" dirty="0">
                <a:latin typeface="Times New Roman" panose="02020603050405020304" pitchFamily="18" charset="0"/>
                <a:sym typeface="Symbol" panose="05050102010706020507" pitchFamily="18" charset="2"/>
              </a:rPr>
              <a:t>	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//divide</a:t>
            </a: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MergeSort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(A, p, q)	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//conquer</a:t>
            </a: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MergeSort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(A, q+1, r)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//conquer</a:t>
            </a: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Merge (A, p, q, r) //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combine: merge </a:t>
            </a:r>
            <a:r>
              <a:rPr lang="en-US" altLang="en-US" dirty="0">
                <a:latin typeface="Times New Roman" panose="02020603050405020304" pitchFamily="18" charset="0"/>
              </a:rPr>
              <a:t>A[p..q] with A[q+1..r] </a:t>
            </a:r>
          </a:p>
        </p:txBody>
      </p:sp>
      <p:sp>
        <p:nvSpPr>
          <p:cNvPr id="10246" name="Text Box 7"/>
          <p:cNvSpPr txBox="1">
            <a:spLocks noChangeArrowheads="1"/>
          </p:cNvSpPr>
          <p:nvPr/>
        </p:nvSpPr>
        <p:spPr bwMode="auto">
          <a:xfrm>
            <a:off x="227920" y="3558381"/>
            <a:ext cx="3954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CC3300"/>
                </a:solidFill>
              </a:rPr>
              <a:t>Initial Call:</a:t>
            </a:r>
            <a:r>
              <a:rPr lang="en-US" altLang="en-US" dirty="0"/>
              <a:t> </a:t>
            </a:r>
            <a:r>
              <a:rPr lang="en-US" altLang="en-US" dirty="0" err="1"/>
              <a:t>MergeSort</a:t>
            </a:r>
            <a:r>
              <a:rPr lang="en-US" altLang="en-US" dirty="0"/>
              <a:t>(A, 1, n)</a:t>
            </a:r>
          </a:p>
        </p:txBody>
      </p:sp>
    </p:spTree>
    <p:extLst>
      <p:ext uri="{BB962C8B-B14F-4D97-AF65-F5344CB8AC3E}">
        <p14:creationId xmlns:p14="http://schemas.microsoft.com/office/powerpoint/2010/main" val="271518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Analysis of Merge Sort</a:t>
            </a:r>
          </a:p>
        </p:txBody>
      </p:sp>
      <p:sp>
        <p:nvSpPr>
          <p:cNvPr id="26627" name="Rectangle 1027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9140825" cy="5237163"/>
          </a:xfrm>
        </p:spPr>
        <p:txBody>
          <a:bodyPr/>
          <a:lstStyle/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r>
              <a:rPr lang="en-US" altLang="en-US" u="sng" dirty="0"/>
              <a:t>Statement		                  	         Cost</a:t>
            </a: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endParaRPr lang="en-US" altLang="en-US" sz="2800" dirty="0"/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r>
              <a:rPr lang="en-US" altLang="en-US" sz="2800" dirty="0"/>
              <a:t>So T(n) = 	</a:t>
            </a:r>
            <a:r>
              <a:rPr lang="en-US" altLang="en-US" dirty="0"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ym typeface="Symbol" panose="05050102010706020507" pitchFamily="18" charset="2"/>
              </a:rPr>
              <a:t>(1) when n = 1, and 	             	</a:t>
            </a:r>
            <a:r>
              <a:rPr lang="en-US" altLang="en-US" sz="2800" dirty="0"/>
              <a:t>2T(n/2) + </a:t>
            </a:r>
            <a:r>
              <a:rPr lang="en-US" altLang="en-US" dirty="0"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ym typeface="Symbol" panose="05050102010706020507" pitchFamily="18" charset="2"/>
              </a:rPr>
              <a:t>(n) when n &gt; 1</a:t>
            </a:r>
          </a:p>
        </p:txBody>
      </p:sp>
      <p:sp>
        <p:nvSpPr>
          <p:cNvPr id="26628" name="Text Box 6"/>
          <p:cNvSpPr txBox="1">
            <a:spLocks noChangeArrowheads="1"/>
          </p:cNvSpPr>
          <p:nvPr/>
        </p:nvSpPr>
        <p:spPr bwMode="auto">
          <a:xfrm>
            <a:off x="239486" y="1395549"/>
            <a:ext cx="8447314" cy="2308324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 err="1">
                <a:latin typeface="Times New Roman" panose="02020603050405020304" pitchFamily="18" charset="0"/>
              </a:rPr>
              <a:t>MergeSort</a:t>
            </a:r>
            <a:r>
              <a:rPr lang="en-US" altLang="en-US" sz="2400" b="1" dirty="0">
                <a:latin typeface="Times New Roman" panose="02020603050405020304" pitchFamily="18" charset="0"/>
              </a:rPr>
              <a:t> (A, p, r) //initial call: </a:t>
            </a:r>
            <a:r>
              <a:rPr lang="en-US" altLang="en-US" sz="2400" b="1" dirty="0" err="1">
                <a:latin typeface="Times New Roman" panose="02020603050405020304" pitchFamily="18" charset="0"/>
              </a:rPr>
              <a:t>MergeSort</a:t>
            </a:r>
            <a:r>
              <a:rPr lang="en-US" altLang="en-US" sz="2400" b="1" dirty="0">
                <a:latin typeface="Times New Roman" panose="02020603050405020304" pitchFamily="18" charset="0"/>
              </a:rPr>
              <a:t>(A,1,n)         </a:t>
            </a:r>
            <a:r>
              <a:rPr lang="en-US" altLang="en-US" sz="2400" b="1" i="0" dirty="0">
                <a:latin typeface="Times New Roman" panose="02020603050405020304" pitchFamily="18" charset="0"/>
              </a:rPr>
              <a:t>T(n) [let]</a:t>
            </a:r>
            <a:endParaRPr lang="en-US" altLang="en-US" i="0" dirty="0">
              <a:latin typeface="Times New Roman" panose="02020603050405020304" pitchFamily="18" charset="0"/>
            </a:endParaRPr>
          </a:p>
          <a:p>
            <a:pPr>
              <a:buFontTx/>
              <a:buAutoNum type="arabicPlain"/>
            </a:pPr>
            <a:r>
              <a:rPr lang="en-US" altLang="en-US" sz="2400" b="1" dirty="0">
                <a:latin typeface="Times New Roman" panose="02020603050405020304" pitchFamily="18" charset="0"/>
              </a:rPr>
              <a:t>if </a:t>
            </a:r>
            <a:r>
              <a:rPr lang="en-US" altLang="en-US" sz="2400" dirty="0">
                <a:latin typeface="Times New Roman" panose="02020603050405020304" pitchFamily="18" charset="0"/>
              </a:rPr>
              <a:t>p &lt; r					</a:t>
            </a:r>
          </a:p>
          <a:p>
            <a:pPr>
              <a:buFontTx/>
              <a:buAutoNum type="arabicPlain"/>
            </a:pPr>
            <a:r>
              <a:rPr lang="en-US" altLang="en-US" sz="2400" b="1" dirty="0">
                <a:latin typeface="Times New Roman" panose="02020603050405020304" pitchFamily="18" charset="0"/>
              </a:rPr>
              <a:t>    then</a:t>
            </a:r>
            <a:r>
              <a:rPr lang="en-US" altLang="en-US" sz="2400" dirty="0">
                <a:latin typeface="Times New Roman" panose="02020603050405020304" pitchFamily="18" charset="0"/>
              </a:rPr>
              <a:t> q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 (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p+r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)/2			</a:t>
            </a: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MergeSort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(A, p, q)			</a:t>
            </a:r>
            <a:endParaRPr lang="en-US" altLang="en-US" sz="2400" b="1" i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MergeSort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(A, q+1, r)		</a:t>
            </a: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Merge (A, p, q, r) 			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28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Analysis of Merge Sort</a:t>
            </a:r>
          </a:p>
        </p:txBody>
      </p:sp>
      <p:sp>
        <p:nvSpPr>
          <p:cNvPr id="2662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r>
              <a:rPr lang="en-US" altLang="en-US" u="sng" dirty="0"/>
              <a:t>Statement		                  Cost</a:t>
            </a: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buFont typeface="Monotype Sorts" pitchFamily="92" charset="2"/>
              <a:buNone/>
              <a:tabLst>
                <a:tab pos="2114550" algn="l"/>
                <a:tab pos="4110038" algn="l"/>
              </a:tabLst>
            </a:pPr>
            <a:endParaRPr lang="en-US" altLang="en-US" dirty="0"/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endParaRPr lang="en-US" altLang="en-US" sz="2800" dirty="0"/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r>
              <a:rPr lang="en-US" altLang="en-US" sz="2800" dirty="0"/>
              <a:t>So T(n) = 	</a:t>
            </a:r>
            <a:r>
              <a:rPr lang="en-US" altLang="en-US" sz="2800" i="1" dirty="0"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ym typeface="Symbol" panose="05050102010706020507" pitchFamily="18" charset="2"/>
              </a:rPr>
              <a:t>(1) when n = 1, and 	             	</a:t>
            </a:r>
            <a:r>
              <a:rPr lang="en-US" altLang="en-US" sz="2800" dirty="0"/>
              <a:t>2T(n/2) + </a:t>
            </a:r>
            <a:r>
              <a:rPr lang="en-US" altLang="en-US" sz="2800" i="1" dirty="0"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ym typeface="Symbol" panose="05050102010706020507" pitchFamily="18" charset="2"/>
              </a:rPr>
              <a:t>(n) when n &gt; 1</a:t>
            </a:r>
          </a:p>
        </p:txBody>
      </p:sp>
      <p:sp>
        <p:nvSpPr>
          <p:cNvPr id="26628" name="Text Box 6"/>
          <p:cNvSpPr txBox="1">
            <a:spLocks noChangeArrowheads="1"/>
          </p:cNvSpPr>
          <p:nvPr/>
        </p:nvSpPr>
        <p:spPr bwMode="auto">
          <a:xfrm>
            <a:off x="130302" y="1395549"/>
            <a:ext cx="8904514" cy="236988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 err="1">
                <a:latin typeface="Times New Roman" panose="02020603050405020304" pitchFamily="18" charset="0"/>
              </a:rPr>
              <a:t>MergeSort</a:t>
            </a:r>
            <a:r>
              <a:rPr lang="en-US" altLang="en-US" sz="2400" b="1" dirty="0">
                <a:latin typeface="Times New Roman" panose="02020603050405020304" pitchFamily="18" charset="0"/>
              </a:rPr>
              <a:t> (A, p, r)                                         </a:t>
            </a:r>
            <a:r>
              <a:rPr lang="en-US" altLang="en-US" sz="2400" b="1" i="0" dirty="0">
                <a:latin typeface="Times New Roman" panose="02020603050405020304" pitchFamily="18" charset="0"/>
              </a:rPr>
              <a:t>T(n)</a:t>
            </a:r>
            <a:r>
              <a:rPr lang="en-US" altLang="en-US" i="0" dirty="0">
                <a:latin typeface="Times New Roman" panose="02020603050405020304" pitchFamily="18" charset="0"/>
              </a:rPr>
              <a:t>, to sort n elements</a:t>
            </a:r>
          </a:p>
          <a:p>
            <a:pPr>
              <a:buFontTx/>
              <a:buAutoNum type="arabicPlain"/>
            </a:pPr>
            <a:r>
              <a:rPr lang="en-US" altLang="en-US" sz="2400" b="1" dirty="0">
                <a:latin typeface="Times New Roman" panose="02020603050405020304" pitchFamily="18" charset="0"/>
              </a:rPr>
              <a:t>if </a:t>
            </a:r>
            <a:r>
              <a:rPr lang="en-US" altLang="en-US" sz="2400" dirty="0">
                <a:latin typeface="Times New Roman" panose="02020603050405020304" pitchFamily="18" charset="0"/>
              </a:rPr>
              <a:t>p &lt; r					</a:t>
            </a:r>
            <a:r>
              <a:rPr kumimoji="1"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O</a:t>
            </a:r>
            <a:r>
              <a:rPr kumimoji="1" lang="en-US" altLang="en-US" sz="2400" b="1" i="0" dirty="0">
                <a:latin typeface="Courier New" panose="02070309020205020404" pitchFamily="49" charset="0"/>
                <a:sym typeface="Symbol" panose="05050102010706020507" pitchFamily="18" charset="2"/>
              </a:rPr>
              <a:t>(1)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>
              <a:buFontTx/>
              <a:buAutoNum type="arabicPlain"/>
            </a:pPr>
            <a:r>
              <a:rPr lang="en-US" altLang="en-US" sz="2400" b="1" dirty="0">
                <a:latin typeface="Times New Roman" panose="02020603050405020304" pitchFamily="18" charset="0"/>
              </a:rPr>
              <a:t>    then</a:t>
            </a:r>
            <a:r>
              <a:rPr lang="en-US" altLang="en-US" sz="2400" dirty="0">
                <a:latin typeface="Times New Roman" panose="02020603050405020304" pitchFamily="18" charset="0"/>
              </a:rPr>
              <a:t> q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 (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p+r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)/2			</a:t>
            </a:r>
            <a:r>
              <a:rPr kumimoji="1"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O</a:t>
            </a:r>
            <a:r>
              <a:rPr kumimoji="1" lang="en-US" altLang="en-US" sz="2400" b="1" i="0" dirty="0">
                <a:latin typeface="Courier New" panose="02070309020205020404" pitchFamily="49" charset="0"/>
                <a:sym typeface="Symbol" panose="05050102010706020507" pitchFamily="18" charset="2"/>
              </a:rPr>
              <a:t>(1)</a:t>
            </a:r>
            <a:endParaRPr lang="en-US" altLang="en-US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MergeSort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(A, p, q)			</a:t>
            </a:r>
            <a:r>
              <a:rPr lang="en-US" altLang="en-US" sz="24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T(n/2)</a:t>
            </a:r>
            <a:r>
              <a:rPr lang="en-US" altLang="en-US" sz="2400" i="0" dirty="0">
                <a:latin typeface="Times New Roman" panose="02020603050405020304" pitchFamily="18" charset="0"/>
              </a:rPr>
              <a:t>, </a:t>
            </a:r>
            <a:r>
              <a:rPr lang="en-US" altLang="en-US" i="0" dirty="0">
                <a:latin typeface="Times New Roman" panose="02020603050405020304" pitchFamily="18" charset="0"/>
              </a:rPr>
              <a:t>to sort n/2 elements</a:t>
            </a:r>
            <a:endParaRPr lang="en-US" altLang="en-US" sz="2400" b="1" i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MergeSort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(A, q+1, r)		</a:t>
            </a:r>
            <a:r>
              <a:rPr lang="en-US" altLang="en-US" sz="24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T(n/2)</a:t>
            </a:r>
            <a:r>
              <a:rPr lang="en-US" altLang="en-US" sz="2800" i="0" dirty="0">
                <a:latin typeface="Times New Roman" panose="02020603050405020304" pitchFamily="18" charset="0"/>
              </a:rPr>
              <a:t>, </a:t>
            </a:r>
            <a:r>
              <a:rPr lang="en-US" altLang="en-US" i="0" dirty="0">
                <a:latin typeface="Times New Roman" panose="02020603050405020304" pitchFamily="18" charset="0"/>
              </a:rPr>
              <a:t>to sort n/2 elements</a:t>
            </a:r>
            <a:endParaRPr lang="en-US" altLang="en-US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AutoNum type="arabicPlain"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Merge (A, p, q, r) 			</a:t>
            </a:r>
            <a:r>
              <a:rPr kumimoji="1"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O</a:t>
            </a:r>
            <a:r>
              <a:rPr kumimoji="1" lang="en-US" altLang="en-US" sz="2400" b="1" i="0" dirty="0">
                <a:latin typeface="Courier New" panose="02070309020205020404" pitchFamily="49" charset="0"/>
                <a:sym typeface="Symbol" panose="05050102010706020507" pitchFamily="18" charset="2"/>
              </a:rPr>
              <a:t>(n)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28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Analysis of Merge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divide step takes constant time, regardless of the </a:t>
            </a:r>
            <a:r>
              <a:rPr lang="en-US" dirty="0" err="1"/>
              <a:t>subarray</a:t>
            </a:r>
            <a:r>
              <a:rPr lang="en-US" dirty="0"/>
              <a:t> size. After all, the divide step just computes the midpoint </a:t>
            </a:r>
            <a:r>
              <a:rPr lang="en-US" i="1" dirty="0">
                <a:solidFill>
                  <a:srgbClr val="002060"/>
                </a:solidFill>
              </a:rPr>
              <a:t>q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/>
              <a:t>of the indices </a:t>
            </a:r>
            <a:r>
              <a:rPr lang="en-US" i="1" dirty="0">
                <a:solidFill>
                  <a:srgbClr val="002060"/>
                </a:solidFill>
              </a:rPr>
              <a:t>p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/>
              <a:t>and </a:t>
            </a:r>
            <a:r>
              <a:rPr lang="en-US" i="1" dirty="0">
                <a:solidFill>
                  <a:srgbClr val="002060"/>
                </a:solidFill>
              </a:rPr>
              <a:t>r</a:t>
            </a:r>
            <a:r>
              <a:rPr lang="en-US" dirty="0"/>
              <a:t>. Recall that in big-</a:t>
            </a:r>
            <a:r>
              <a:rPr lang="en-US" i="1" dirty="0"/>
              <a:t>O</a:t>
            </a:r>
            <a:r>
              <a:rPr lang="en-US" dirty="0"/>
              <a:t> notation, we indicate constant time by </a:t>
            </a:r>
            <a:r>
              <a:rPr lang="en-US" i="1" dirty="0">
                <a:solidFill>
                  <a:srgbClr val="002060"/>
                </a:solidFill>
              </a:rPr>
              <a:t>O(1)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conquer step, where we recursively sort two </a:t>
            </a:r>
            <a:r>
              <a:rPr lang="en-US" dirty="0" err="1"/>
              <a:t>subarrays</a:t>
            </a:r>
            <a:r>
              <a:rPr lang="en-US" dirty="0"/>
              <a:t> of approximately </a:t>
            </a:r>
            <a:r>
              <a:rPr lang="en-US" i="1" dirty="0">
                <a:solidFill>
                  <a:srgbClr val="002060"/>
                </a:solidFill>
              </a:rPr>
              <a:t>n/2</a:t>
            </a:r>
            <a:r>
              <a:rPr lang="en-US" dirty="0"/>
              <a:t> elements each, takes some amount of time, but we'll account for that time when we consider the </a:t>
            </a:r>
            <a:r>
              <a:rPr lang="en-US" dirty="0" err="1"/>
              <a:t>subproblems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combine step merges a total of </a:t>
            </a:r>
            <a:r>
              <a:rPr lang="en-US" i="1" dirty="0">
                <a:solidFill>
                  <a:srgbClr val="002060"/>
                </a:solidFill>
              </a:rPr>
              <a:t>n</a:t>
            </a:r>
            <a:r>
              <a:rPr lang="en-US" dirty="0"/>
              <a:t> elements, taking </a:t>
            </a:r>
            <a:r>
              <a:rPr lang="en-US" i="1" dirty="0">
                <a:solidFill>
                  <a:srgbClr val="002060"/>
                </a:solidFill>
              </a:rPr>
              <a:t>O(n)</a:t>
            </a:r>
            <a:r>
              <a:rPr lang="en-US" dirty="0"/>
              <a:t> time.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05719" y="5324455"/>
            <a:ext cx="6660108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</a:rPr>
              <a:t>let's say that the divide and combine steps together take </a:t>
            </a:r>
            <a:r>
              <a:rPr lang="en-US" sz="2800" b="1" i="1" dirty="0" err="1">
                <a:solidFill>
                  <a:srgbClr val="002060"/>
                </a:solidFill>
              </a:rPr>
              <a:t>cn</a:t>
            </a:r>
            <a:r>
              <a:rPr lang="en-US" sz="2800" b="1" dirty="0">
                <a:solidFill>
                  <a:schemeClr val="accent2"/>
                </a:solidFill>
              </a:rPr>
              <a:t> time for some constant </a:t>
            </a:r>
            <a:r>
              <a:rPr lang="en-US" sz="2800" b="1" i="1" dirty="0">
                <a:solidFill>
                  <a:srgbClr val="00206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4641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Analysis of Merge Sort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60" y="988284"/>
            <a:ext cx="7137779" cy="5461481"/>
          </a:xfrm>
        </p:spPr>
      </p:pic>
      <p:sp>
        <p:nvSpPr>
          <p:cNvPr id="5" name="TextBox 4"/>
          <p:cNvSpPr txBox="1"/>
          <p:nvPr/>
        </p:nvSpPr>
        <p:spPr>
          <a:xfrm>
            <a:off x="1048852" y="1241947"/>
            <a:ext cx="180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to sort /</a:t>
            </a:r>
          </a:p>
        </p:txBody>
      </p:sp>
      <p:sp>
        <p:nvSpPr>
          <p:cNvPr id="6" name="Rectangle 5"/>
          <p:cNvSpPr/>
          <p:nvPr/>
        </p:nvSpPr>
        <p:spPr>
          <a:xfrm>
            <a:off x="668740" y="2299390"/>
            <a:ext cx="7601803" cy="976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21140" y="3220869"/>
            <a:ext cx="7601803" cy="1094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21140" y="4087757"/>
            <a:ext cx="7601803" cy="934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48436" y="5194149"/>
            <a:ext cx="7601803" cy="1555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4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Recursion-tree Method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1035336"/>
            <a:ext cx="8797925" cy="5237163"/>
          </a:xfrm>
        </p:spPr>
        <p:txBody>
          <a:bodyPr/>
          <a:lstStyle/>
          <a:p>
            <a:pPr algn="just">
              <a:spcBef>
                <a:spcPts val="2400"/>
              </a:spcBef>
            </a:pPr>
            <a:r>
              <a:rPr lang="en-US" altLang="en-US" dirty="0"/>
              <a:t>Recursion Trees</a:t>
            </a:r>
          </a:p>
          <a:p>
            <a:pPr lvl="1" algn="just">
              <a:spcBef>
                <a:spcPts val="2400"/>
              </a:spcBef>
              <a:buFont typeface="Arial" pitchFamily="34" charset="0"/>
              <a:buChar char="•"/>
            </a:pPr>
            <a:r>
              <a:rPr lang="en-US" altLang="en-US" dirty="0"/>
              <a:t>Show successive expansions of recurrences using trees.</a:t>
            </a:r>
          </a:p>
          <a:p>
            <a:pPr lvl="1" algn="just">
              <a:spcBef>
                <a:spcPts val="2400"/>
              </a:spcBef>
              <a:buFont typeface="Arial" pitchFamily="34" charset="0"/>
              <a:buChar char="•"/>
            </a:pPr>
            <a:r>
              <a:rPr lang="en-US" altLang="en-US" dirty="0"/>
              <a:t>Keep track of the time spent on the </a:t>
            </a:r>
            <a:r>
              <a:rPr lang="en-US" altLang="en-US" dirty="0" err="1"/>
              <a:t>subproblems</a:t>
            </a:r>
            <a:r>
              <a:rPr lang="en-US" altLang="en-US" dirty="0"/>
              <a:t> of a divide and conquer algorithm.</a:t>
            </a:r>
          </a:p>
          <a:p>
            <a:pPr lvl="1" algn="just">
              <a:spcBef>
                <a:spcPts val="2400"/>
              </a:spcBef>
              <a:buFont typeface="Arial" pitchFamily="34" charset="0"/>
              <a:buChar char="•"/>
            </a:pPr>
            <a:r>
              <a:rPr lang="en-US" altLang="en-US" dirty="0"/>
              <a:t>Help organize the algebraic bookkeeping necessary to solve a recurrence.</a:t>
            </a:r>
          </a:p>
        </p:txBody>
      </p:sp>
    </p:spTree>
    <p:extLst>
      <p:ext uri="{BB962C8B-B14F-4D97-AF65-F5344CB8AC3E}">
        <p14:creationId xmlns:p14="http://schemas.microsoft.com/office/powerpoint/2010/main" val="400486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Recursion Tree – Example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Running time of Merge Sort:</a:t>
            </a:r>
          </a:p>
          <a:p>
            <a:pPr lvl="2" algn="ctr">
              <a:buFontTx/>
              <a:buNone/>
            </a:pPr>
            <a:r>
              <a:rPr lang="en-US" altLang="en-US" sz="2800" i="1" dirty="0">
                <a:solidFill>
                  <a:srgbClr val="CC3300"/>
                </a:solidFill>
              </a:rPr>
              <a:t>T</a:t>
            </a:r>
            <a:r>
              <a:rPr lang="en-US" altLang="en-US" sz="2800" dirty="0">
                <a:solidFill>
                  <a:srgbClr val="CC3300"/>
                </a:solidFill>
              </a:rPr>
              <a:t>(</a:t>
            </a:r>
            <a:r>
              <a:rPr lang="en-US" altLang="en-US" sz="2800" i="1" dirty="0">
                <a:solidFill>
                  <a:srgbClr val="CC3300"/>
                </a:solidFill>
              </a:rPr>
              <a:t>n</a:t>
            </a:r>
            <a:r>
              <a:rPr lang="en-US" altLang="en-US" sz="2800" dirty="0">
                <a:solidFill>
                  <a:srgbClr val="CC3300"/>
                </a:solidFill>
              </a:rPr>
              <a:t>)</a:t>
            </a:r>
            <a:r>
              <a:rPr lang="en-US" altLang="en-US" sz="2800" i="1" dirty="0">
                <a:solidFill>
                  <a:srgbClr val="CC3300"/>
                </a:solidFill>
              </a:rPr>
              <a:t> = </a:t>
            </a:r>
            <a:r>
              <a:rPr lang="en-US" altLang="en-US" sz="2800" dirty="0">
                <a:solidFill>
                  <a:srgbClr val="CC3300"/>
                </a:solidFill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olidFill>
                  <a:srgbClr val="CC3300"/>
                </a:solidFill>
              </a:rPr>
              <a:t>(1)</a:t>
            </a:r>
            <a:r>
              <a:rPr lang="en-US" altLang="en-US" sz="2800" i="1" dirty="0">
                <a:solidFill>
                  <a:srgbClr val="CC3300"/>
                </a:solidFill>
              </a:rPr>
              <a:t> 			</a:t>
            </a:r>
            <a:r>
              <a:rPr lang="en-US" altLang="en-US" sz="2800" dirty="0">
                <a:solidFill>
                  <a:srgbClr val="CC3300"/>
                </a:solidFill>
              </a:rPr>
              <a:t>if</a:t>
            </a:r>
            <a:r>
              <a:rPr lang="en-US" altLang="en-US" sz="2800" i="1" dirty="0">
                <a:solidFill>
                  <a:srgbClr val="CC3300"/>
                </a:solidFill>
              </a:rPr>
              <a:t> n = </a:t>
            </a:r>
            <a:r>
              <a:rPr lang="en-US" altLang="en-US" sz="2800" dirty="0">
                <a:solidFill>
                  <a:srgbClr val="CC3300"/>
                </a:solidFill>
              </a:rPr>
              <a:t>1</a:t>
            </a:r>
            <a:endParaRPr lang="en-US" altLang="en-US" sz="2800" i="1" dirty="0">
              <a:solidFill>
                <a:srgbClr val="CC3300"/>
              </a:solidFill>
            </a:endParaRPr>
          </a:p>
          <a:p>
            <a:pPr lvl="2" algn="ctr">
              <a:buFontTx/>
              <a:buNone/>
            </a:pPr>
            <a:r>
              <a:rPr lang="en-US" altLang="en-US" sz="2800" i="1" dirty="0">
                <a:solidFill>
                  <a:srgbClr val="CC3300"/>
                </a:solidFill>
              </a:rPr>
              <a:t>T</a:t>
            </a:r>
            <a:r>
              <a:rPr lang="en-US" altLang="en-US" sz="2800" dirty="0">
                <a:solidFill>
                  <a:srgbClr val="CC3300"/>
                </a:solidFill>
              </a:rPr>
              <a:t>(</a:t>
            </a:r>
            <a:r>
              <a:rPr lang="en-US" altLang="en-US" sz="2800" i="1" dirty="0">
                <a:solidFill>
                  <a:srgbClr val="CC3300"/>
                </a:solidFill>
              </a:rPr>
              <a:t>n</a:t>
            </a:r>
            <a:r>
              <a:rPr lang="en-US" altLang="en-US" sz="2800" dirty="0">
                <a:solidFill>
                  <a:srgbClr val="CC3300"/>
                </a:solidFill>
              </a:rPr>
              <a:t>)</a:t>
            </a:r>
            <a:r>
              <a:rPr lang="en-US" altLang="en-US" sz="2800" i="1" dirty="0">
                <a:solidFill>
                  <a:srgbClr val="CC3300"/>
                </a:solidFill>
              </a:rPr>
              <a:t> = </a:t>
            </a:r>
            <a:r>
              <a:rPr lang="en-US" altLang="en-US" sz="2800" dirty="0">
                <a:solidFill>
                  <a:srgbClr val="CC3300"/>
                </a:solidFill>
              </a:rPr>
              <a:t>2</a:t>
            </a:r>
            <a:r>
              <a:rPr lang="en-US" altLang="en-US" sz="2800" i="1" dirty="0">
                <a:solidFill>
                  <a:srgbClr val="CC3300"/>
                </a:solidFill>
              </a:rPr>
              <a:t>T</a:t>
            </a:r>
            <a:r>
              <a:rPr lang="en-US" altLang="en-US" sz="2800" dirty="0">
                <a:solidFill>
                  <a:srgbClr val="CC3300"/>
                </a:solidFill>
              </a:rPr>
              <a:t>(</a:t>
            </a:r>
            <a:r>
              <a:rPr lang="en-US" altLang="en-US" sz="2800" i="1" dirty="0">
                <a:solidFill>
                  <a:srgbClr val="CC3300"/>
                </a:solidFill>
              </a:rPr>
              <a:t>n</a:t>
            </a:r>
            <a:r>
              <a:rPr lang="en-US" altLang="en-US" sz="2800" dirty="0">
                <a:solidFill>
                  <a:srgbClr val="CC3300"/>
                </a:solidFill>
              </a:rPr>
              <a:t>/2)</a:t>
            </a:r>
            <a:r>
              <a:rPr lang="en-US" altLang="en-US" sz="2800" i="1" dirty="0">
                <a:solidFill>
                  <a:srgbClr val="CC3300"/>
                </a:solidFill>
              </a:rPr>
              <a:t> + </a:t>
            </a:r>
            <a:r>
              <a:rPr lang="en-US" altLang="en-US" sz="2800" dirty="0">
                <a:solidFill>
                  <a:srgbClr val="CC3300"/>
                </a:solidFill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olidFill>
                  <a:srgbClr val="CC3300"/>
                </a:solidFill>
              </a:rPr>
              <a:t>(</a:t>
            </a:r>
            <a:r>
              <a:rPr lang="en-US" altLang="en-US" sz="2800" i="1" dirty="0">
                <a:solidFill>
                  <a:srgbClr val="CC3300"/>
                </a:solidFill>
              </a:rPr>
              <a:t>n</a:t>
            </a:r>
            <a:r>
              <a:rPr lang="en-US" altLang="en-US" sz="2800" dirty="0">
                <a:solidFill>
                  <a:srgbClr val="CC3300"/>
                </a:solidFill>
              </a:rPr>
              <a:t>)</a:t>
            </a:r>
            <a:r>
              <a:rPr lang="en-US" altLang="en-US" sz="2800" i="1" dirty="0">
                <a:solidFill>
                  <a:srgbClr val="CC3300"/>
                </a:solidFill>
              </a:rPr>
              <a:t> 	</a:t>
            </a:r>
            <a:r>
              <a:rPr lang="en-US" altLang="en-US" sz="2800" dirty="0">
                <a:solidFill>
                  <a:srgbClr val="CC3300"/>
                </a:solidFill>
              </a:rPr>
              <a:t>if</a:t>
            </a:r>
            <a:r>
              <a:rPr lang="en-US" altLang="en-US" sz="2800" i="1" dirty="0">
                <a:solidFill>
                  <a:srgbClr val="CC3300"/>
                </a:solidFill>
              </a:rPr>
              <a:t> n &gt; </a:t>
            </a:r>
            <a:r>
              <a:rPr lang="en-US" altLang="en-US" sz="2800" dirty="0">
                <a:solidFill>
                  <a:srgbClr val="CC3300"/>
                </a:solidFill>
              </a:rPr>
              <a:t>1</a:t>
            </a:r>
            <a:endParaRPr lang="en-US" altLang="en-US" sz="2800" i="1" dirty="0">
              <a:solidFill>
                <a:srgbClr val="CC3300"/>
              </a:solidFill>
            </a:endParaRPr>
          </a:p>
          <a:p>
            <a:endParaRPr lang="en-US" altLang="en-US" dirty="0"/>
          </a:p>
          <a:p>
            <a:r>
              <a:rPr lang="en-US" altLang="en-US" dirty="0"/>
              <a:t>Rewrite the recurrence as</a:t>
            </a:r>
          </a:p>
          <a:p>
            <a:pPr lvl="2" algn="ctr">
              <a:buFontTx/>
              <a:buNone/>
            </a:pPr>
            <a:r>
              <a:rPr lang="en-US" altLang="en-US" sz="2800" i="1" dirty="0">
                <a:solidFill>
                  <a:srgbClr val="CC3300"/>
                </a:solidFill>
              </a:rPr>
              <a:t>T</a:t>
            </a:r>
            <a:r>
              <a:rPr lang="en-US" altLang="en-US" sz="2800" dirty="0">
                <a:solidFill>
                  <a:srgbClr val="CC3300"/>
                </a:solidFill>
              </a:rPr>
              <a:t>(</a:t>
            </a:r>
            <a:r>
              <a:rPr lang="en-US" altLang="en-US" sz="2800" i="1" dirty="0">
                <a:solidFill>
                  <a:srgbClr val="CC3300"/>
                </a:solidFill>
              </a:rPr>
              <a:t>n</a:t>
            </a:r>
            <a:r>
              <a:rPr lang="en-US" altLang="en-US" sz="2800" dirty="0">
                <a:solidFill>
                  <a:srgbClr val="CC3300"/>
                </a:solidFill>
              </a:rPr>
              <a:t>)</a:t>
            </a:r>
            <a:r>
              <a:rPr lang="en-US" altLang="en-US" sz="2800" i="1" dirty="0">
                <a:solidFill>
                  <a:srgbClr val="CC3300"/>
                </a:solidFill>
              </a:rPr>
              <a:t> = 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c</a:t>
            </a:r>
            <a:r>
              <a:rPr lang="en-US" altLang="en-US" sz="2800" i="1" dirty="0">
                <a:solidFill>
                  <a:srgbClr val="CC3300"/>
                </a:solidFill>
              </a:rPr>
              <a:t> 			</a:t>
            </a:r>
            <a:r>
              <a:rPr lang="en-US" altLang="en-US" sz="2800" dirty="0">
                <a:solidFill>
                  <a:srgbClr val="CC3300"/>
                </a:solidFill>
              </a:rPr>
              <a:t>if</a:t>
            </a:r>
            <a:r>
              <a:rPr lang="en-US" altLang="en-US" sz="2800" i="1" dirty="0">
                <a:solidFill>
                  <a:srgbClr val="CC3300"/>
                </a:solidFill>
              </a:rPr>
              <a:t> n = </a:t>
            </a:r>
            <a:r>
              <a:rPr lang="en-US" altLang="en-US" sz="2800" dirty="0">
                <a:solidFill>
                  <a:srgbClr val="CC3300"/>
                </a:solidFill>
              </a:rPr>
              <a:t>1</a:t>
            </a:r>
            <a:endParaRPr lang="en-US" altLang="en-US" sz="2800" i="1" dirty="0">
              <a:solidFill>
                <a:srgbClr val="CC3300"/>
              </a:solidFill>
            </a:endParaRPr>
          </a:p>
          <a:p>
            <a:pPr lvl="2" algn="ctr">
              <a:buFontTx/>
              <a:buNone/>
            </a:pPr>
            <a:r>
              <a:rPr lang="en-US" altLang="en-US" sz="2800" i="1" dirty="0">
                <a:solidFill>
                  <a:srgbClr val="CC3300"/>
                </a:solidFill>
              </a:rPr>
              <a:t>T</a:t>
            </a:r>
            <a:r>
              <a:rPr lang="en-US" altLang="en-US" sz="2800" dirty="0">
                <a:solidFill>
                  <a:srgbClr val="CC3300"/>
                </a:solidFill>
              </a:rPr>
              <a:t>(</a:t>
            </a:r>
            <a:r>
              <a:rPr lang="en-US" altLang="en-US" sz="2800" i="1" dirty="0">
                <a:solidFill>
                  <a:srgbClr val="CC3300"/>
                </a:solidFill>
              </a:rPr>
              <a:t>n</a:t>
            </a:r>
            <a:r>
              <a:rPr lang="en-US" altLang="en-US" sz="2800" dirty="0">
                <a:solidFill>
                  <a:srgbClr val="CC3300"/>
                </a:solidFill>
              </a:rPr>
              <a:t>)</a:t>
            </a:r>
            <a:r>
              <a:rPr lang="en-US" altLang="en-US" sz="2800" i="1" dirty="0">
                <a:solidFill>
                  <a:srgbClr val="CC3300"/>
                </a:solidFill>
              </a:rPr>
              <a:t> = </a:t>
            </a:r>
            <a:r>
              <a:rPr lang="en-US" altLang="en-US" sz="2800" dirty="0">
                <a:solidFill>
                  <a:srgbClr val="CC3300"/>
                </a:solidFill>
              </a:rPr>
              <a:t>2</a:t>
            </a:r>
            <a:r>
              <a:rPr lang="en-US" altLang="en-US" sz="2800" i="1" dirty="0">
                <a:solidFill>
                  <a:srgbClr val="CC3300"/>
                </a:solidFill>
              </a:rPr>
              <a:t>T</a:t>
            </a:r>
            <a:r>
              <a:rPr lang="en-US" altLang="en-US" sz="2800" dirty="0">
                <a:solidFill>
                  <a:srgbClr val="CC3300"/>
                </a:solidFill>
              </a:rPr>
              <a:t>(</a:t>
            </a:r>
            <a:r>
              <a:rPr lang="en-US" altLang="en-US" sz="2800" i="1" dirty="0">
                <a:solidFill>
                  <a:srgbClr val="CC3300"/>
                </a:solidFill>
              </a:rPr>
              <a:t>n</a:t>
            </a:r>
            <a:r>
              <a:rPr lang="en-US" altLang="en-US" sz="2800" dirty="0">
                <a:solidFill>
                  <a:srgbClr val="CC3300"/>
                </a:solidFill>
              </a:rPr>
              <a:t>/2)</a:t>
            </a:r>
            <a:r>
              <a:rPr lang="en-US" altLang="en-US" sz="2800" i="1" dirty="0">
                <a:solidFill>
                  <a:srgbClr val="CC3300"/>
                </a:solidFill>
              </a:rPr>
              <a:t> + </a:t>
            </a:r>
            <a:r>
              <a:rPr lang="en-US" altLang="en-US" sz="2800" b="1" i="1" dirty="0" err="1">
                <a:solidFill>
                  <a:schemeClr val="hlink"/>
                </a:solidFill>
                <a:sym typeface="Symbol" panose="05050102010706020507" pitchFamily="18" charset="2"/>
              </a:rPr>
              <a:t>cn</a:t>
            </a:r>
            <a:r>
              <a:rPr lang="en-US" altLang="en-US" sz="2800" i="1" dirty="0">
                <a:solidFill>
                  <a:srgbClr val="CC3300"/>
                </a:solidFill>
                <a:sym typeface="Symbol" panose="05050102010706020507" pitchFamily="18" charset="2"/>
              </a:rPr>
              <a:t>  </a:t>
            </a:r>
            <a:r>
              <a:rPr lang="en-US" altLang="en-US" sz="2800" i="1" dirty="0">
                <a:solidFill>
                  <a:srgbClr val="CC3300"/>
                </a:solidFill>
              </a:rPr>
              <a:t> 	</a:t>
            </a:r>
            <a:r>
              <a:rPr lang="en-US" altLang="en-US" sz="2800" dirty="0">
                <a:solidFill>
                  <a:srgbClr val="CC3300"/>
                </a:solidFill>
              </a:rPr>
              <a:t>if</a:t>
            </a:r>
            <a:r>
              <a:rPr lang="en-US" altLang="en-US" sz="2800" i="1" dirty="0">
                <a:solidFill>
                  <a:srgbClr val="CC3300"/>
                </a:solidFill>
              </a:rPr>
              <a:t> n &gt; </a:t>
            </a:r>
            <a:r>
              <a:rPr lang="en-US" altLang="en-US" sz="2800" dirty="0">
                <a:solidFill>
                  <a:srgbClr val="CC3300"/>
                </a:solidFill>
              </a:rPr>
              <a:t>1</a:t>
            </a:r>
          </a:p>
          <a:p>
            <a:pPr lvl="2">
              <a:buFontTx/>
              <a:buNone/>
            </a:pPr>
            <a:endParaRPr lang="en-US" altLang="en-US" sz="1000" b="1" i="1" dirty="0">
              <a:solidFill>
                <a:schemeClr val="hlink"/>
              </a:solidFill>
            </a:endParaRPr>
          </a:p>
          <a:p>
            <a:pPr lvl="2">
              <a:buFontTx/>
              <a:buNone/>
            </a:pPr>
            <a:r>
              <a:rPr lang="en-US" altLang="en-US" sz="2800" b="1" i="1" dirty="0">
                <a:solidFill>
                  <a:schemeClr val="hlink"/>
                </a:solidFill>
              </a:rPr>
              <a:t>c </a:t>
            </a:r>
            <a:r>
              <a:rPr lang="en-US" altLang="en-US" sz="2800" b="1" dirty="0">
                <a:solidFill>
                  <a:schemeClr val="hlink"/>
                </a:solidFill>
              </a:rPr>
              <a:t>&gt; 0</a:t>
            </a:r>
            <a:r>
              <a:rPr lang="en-US" altLang="en-US" sz="2800" dirty="0">
                <a:solidFill>
                  <a:schemeClr val="hlink"/>
                </a:solidFill>
              </a:rPr>
              <a:t>:</a:t>
            </a:r>
            <a:r>
              <a:rPr lang="en-US" altLang="en-US" sz="2800" dirty="0">
                <a:solidFill>
                  <a:srgbClr val="CC3300"/>
                </a:solidFill>
              </a:rPr>
              <a:t>  </a:t>
            </a:r>
            <a:r>
              <a:rPr lang="en-US" altLang="en-US" sz="2800" dirty="0"/>
              <a:t>Running time for the base case and</a:t>
            </a:r>
          </a:p>
          <a:p>
            <a:pPr lvl="2">
              <a:buFontTx/>
              <a:buNone/>
            </a:pPr>
            <a:r>
              <a:rPr lang="en-US" altLang="en-US" sz="2800" dirty="0"/>
              <a:t>     time per array element for the divide and</a:t>
            </a:r>
          </a:p>
          <a:p>
            <a:pPr lvl="2">
              <a:buFontTx/>
              <a:buNone/>
            </a:pPr>
            <a:r>
              <a:rPr lang="en-US" altLang="en-US" sz="2800" dirty="0"/>
              <a:t>     combine steps.</a:t>
            </a:r>
            <a:endParaRPr lang="en-US" alt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67715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Recursion Tree for Merge Sort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0563" name="Text Box 3"/>
          <p:cNvSpPr txBox="1">
            <a:spLocks noChangeArrowheads="1"/>
          </p:cNvSpPr>
          <p:nvPr/>
        </p:nvSpPr>
        <p:spPr bwMode="auto">
          <a:xfrm>
            <a:off x="311150" y="1636713"/>
            <a:ext cx="3319463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For the original problem, we have a cost of </a:t>
            </a:r>
            <a:r>
              <a:rPr lang="en-US" altLang="en-US">
                <a:solidFill>
                  <a:srgbClr val="CC3300"/>
                </a:solidFill>
              </a:rPr>
              <a:t>cn</a:t>
            </a:r>
            <a:r>
              <a:rPr lang="en-US" altLang="en-US"/>
              <a:t>, plus two subproblems each of size (n/2) and running time T(n/2).</a:t>
            </a:r>
          </a:p>
        </p:txBody>
      </p:sp>
      <p:grpSp>
        <p:nvGrpSpPr>
          <p:cNvPr id="450564" name="Group 4"/>
          <p:cNvGrpSpPr>
            <a:grpSpLocks/>
          </p:cNvGrpSpPr>
          <p:nvPr/>
        </p:nvGrpSpPr>
        <p:grpSpPr bwMode="auto">
          <a:xfrm>
            <a:off x="358775" y="3686175"/>
            <a:ext cx="3109913" cy="2106613"/>
            <a:chOff x="226" y="2223"/>
            <a:chExt cx="1959" cy="1327"/>
          </a:xfrm>
        </p:grpSpPr>
        <p:sp>
          <p:nvSpPr>
            <p:cNvPr id="32797" name="Text Box 5"/>
            <p:cNvSpPr txBox="1">
              <a:spLocks noChangeArrowheads="1"/>
            </p:cNvSpPr>
            <p:nvPr/>
          </p:nvSpPr>
          <p:spPr bwMode="auto">
            <a:xfrm>
              <a:off x="1066" y="22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</a:t>
              </a:r>
            </a:p>
          </p:txBody>
        </p:sp>
        <p:sp>
          <p:nvSpPr>
            <p:cNvPr id="32798" name="Line 6"/>
            <p:cNvSpPr>
              <a:spLocks noChangeShapeType="1"/>
            </p:cNvSpPr>
            <p:nvPr/>
          </p:nvSpPr>
          <p:spPr bwMode="auto">
            <a:xfrm flipH="1">
              <a:off x="596" y="2503"/>
              <a:ext cx="585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9" name="Line 7"/>
            <p:cNvSpPr>
              <a:spLocks noChangeShapeType="1"/>
            </p:cNvSpPr>
            <p:nvPr/>
          </p:nvSpPr>
          <p:spPr bwMode="auto">
            <a:xfrm>
              <a:off x="1256" y="2493"/>
              <a:ext cx="557" cy="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0" name="Text Box 8"/>
            <p:cNvSpPr txBox="1">
              <a:spLocks noChangeArrowheads="1"/>
            </p:cNvSpPr>
            <p:nvPr/>
          </p:nvSpPr>
          <p:spPr bwMode="auto">
            <a:xfrm>
              <a:off x="226" y="3261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T(n/2)</a:t>
              </a:r>
            </a:p>
          </p:txBody>
        </p:sp>
        <p:sp>
          <p:nvSpPr>
            <p:cNvPr id="32801" name="Text Box 9"/>
            <p:cNvSpPr txBox="1">
              <a:spLocks noChangeArrowheads="1"/>
            </p:cNvSpPr>
            <p:nvPr/>
          </p:nvSpPr>
          <p:spPr bwMode="auto">
            <a:xfrm>
              <a:off x="1568" y="3262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T(n/2)</a:t>
              </a:r>
            </a:p>
          </p:txBody>
        </p:sp>
      </p:grpSp>
      <p:sp>
        <p:nvSpPr>
          <p:cNvPr id="450570" name="Text Box 10"/>
          <p:cNvSpPr txBox="1">
            <a:spLocks noChangeArrowheads="1"/>
          </p:cNvSpPr>
          <p:nvPr/>
        </p:nvSpPr>
        <p:spPr bwMode="auto">
          <a:xfrm>
            <a:off x="4510088" y="1695450"/>
            <a:ext cx="40703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Each of the size n/2 problems has a cost of cn/2 plus two subproblems, each costing T(n/4).</a:t>
            </a:r>
          </a:p>
        </p:txBody>
      </p:sp>
      <p:grpSp>
        <p:nvGrpSpPr>
          <p:cNvPr id="450571" name="Group 11"/>
          <p:cNvGrpSpPr>
            <a:grpSpLocks/>
          </p:cNvGrpSpPr>
          <p:nvPr/>
        </p:nvGrpSpPr>
        <p:grpSpPr bwMode="auto">
          <a:xfrm>
            <a:off x="4722813" y="2997200"/>
            <a:ext cx="3352800" cy="3148013"/>
            <a:chOff x="2975" y="1733"/>
            <a:chExt cx="2112" cy="1983"/>
          </a:xfrm>
        </p:grpSpPr>
        <p:sp>
          <p:nvSpPr>
            <p:cNvPr id="32784" name="Text Box 12"/>
            <p:cNvSpPr txBox="1">
              <a:spLocks noChangeArrowheads="1"/>
            </p:cNvSpPr>
            <p:nvPr/>
          </p:nvSpPr>
          <p:spPr bwMode="auto">
            <a:xfrm>
              <a:off x="3825" y="17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</a:t>
              </a:r>
            </a:p>
          </p:txBody>
        </p:sp>
        <p:sp>
          <p:nvSpPr>
            <p:cNvPr id="32785" name="Line 13"/>
            <p:cNvSpPr>
              <a:spLocks noChangeShapeType="1"/>
            </p:cNvSpPr>
            <p:nvPr/>
          </p:nvSpPr>
          <p:spPr bwMode="auto">
            <a:xfrm flipH="1">
              <a:off x="3620" y="2013"/>
              <a:ext cx="320" cy="6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6" name="Line 14"/>
            <p:cNvSpPr>
              <a:spLocks noChangeShapeType="1"/>
            </p:cNvSpPr>
            <p:nvPr/>
          </p:nvSpPr>
          <p:spPr bwMode="auto">
            <a:xfrm>
              <a:off x="4015" y="2003"/>
              <a:ext cx="34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7" name="Text Box 15"/>
            <p:cNvSpPr txBox="1">
              <a:spLocks noChangeArrowheads="1"/>
            </p:cNvSpPr>
            <p:nvPr/>
          </p:nvSpPr>
          <p:spPr bwMode="auto">
            <a:xfrm>
              <a:off x="3411" y="2668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cn/2</a:t>
              </a:r>
            </a:p>
          </p:txBody>
        </p:sp>
        <p:sp>
          <p:nvSpPr>
            <p:cNvPr id="32788" name="Text Box 16"/>
            <p:cNvSpPr txBox="1">
              <a:spLocks noChangeArrowheads="1"/>
            </p:cNvSpPr>
            <p:nvPr/>
          </p:nvSpPr>
          <p:spPr bwMode="auto">
            <a:xfrm>
              <a:off x="4176" y="2649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cn/2</a:t>
              </a:r>
            </a:p>
          </p:txBody>
        </p:sp>
        <p:sp>
          <p:nvSpPr>
            <p:cNvPr id="32789" name="Line 17"/>
            <p:cNvSpPr>
              <a:spLocks noChangeShapeType="1"/>
            </p:cNvSpPr>
            <p:nvPr/>
          </p:nvSpPr>
          <p:spPr bwMode="auto">
            <a:xfrm flipH="1">
              <a:off x="3305" y="2946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0" name="Line 18"/>
            <p:cNvSpPr>
              <a:spLocks noChangeShapeType="1"/>
            </p:cNvSpPr>
            <p:nvPr/>
          </p:nvSpPr>
          <p:spPr bwMode="auto">
            <a:xfrm>
              <a:off x="3626" y="2946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1" name="Line 19"/>
            <p:cNvSpPr>
              <a:spLocks noChangeShapeType="1"/>
            </p:cNvSpPr>
            <p:nvPr/>
          </p:nvSpPr>
          <p:spPr bwMode="auto">
            <a:xfrm flipH="1">
              <a:off x="4147" y="2957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2" name="Line 20"/>
            <p:cNvSpPr>
              <a:spLocks noChangeShapeType="1"/>
            </p:cNvSpPr>
            <p:nvPr/>
          </p:nvSpPr>
          <p:spPr bwMode="auto">
            <a:xfrm>
              <a:off x="4468" y="2957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3" name="Text Box 21"/>
            <p:cNvSpPr txBox="1">
              <a:spLocks noChangeArrowheads="1"/>
            </p:cNvSpPr>
            <p:nvPr/>
          </p:nvSpPr>
          <p:spPr bwMode="auto">
            <a:xfrm>
              <a:off x="2975" y="3455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T(n/4)</a:t>
              </a:r>
            </a:p>
          </p:txBody>
        </p:sp>
        <p:sp>
          <p:nvSpPr>
            <p:cNvPr id="32794" name="Text Box 22"/>
            <p:cNvSpPr txBox="1">
              <a:spLocks noChangeArrowheads="1"/>
            </p:cNvSpPr>
            <p:nvPr/>
          </p:nvSpPr>
          <p:spPr bwMode="auto">
            <a:xfrm>
              <a:off x="3534" y="3466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T(n/4)</a:t>
              </a:r>
            </a:p>
          </p:txBody>
        </p:sp>
        <p:sp>
          <p:nvSpPr>
            <p:cNvPr id="32795" name="Text Box 23"/>
            <p:cNvSpPr txBox="1">
              <a:spLocks noChangeArrowheads="1"/>
            </p:cNvSpPr>
            <p:nvPr/>
          </p:nvSpPr>
          <p:spPr bwMode="auto">
            <a:xfrm>
              <a:off x="4015" y="3466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T(n/4)</a:t>
              </a:r>
            </a:p>
          </p:txBody>
        </p:sp>
        <p:sp>
          <p:nvSpPr>
            <p:cNvPr id="32796" name="Text Box 24"/>
            <p:cNvSpPr txBox="1">
              <a:spLocks noChangeArrowheads="1"/>
            </p:cNvSpPr>
            <p:nvPr/>
          </p:nvSpPr>
          <p:spPr bwMode="auto">
            <a:xfrm>
              <a:off x="4554" y="3466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T(n/4)</a:t>
              </a:r>
            </a:p>
          </p:txBody>
        </p:sp>
      </p:grpSp>
      <p:grpSp>
        <p:nvGrpSpPr>
          <p:cNvPr id="450585" name="Group 25"/>
          <p:cNvGrpSpPr>
            <a:grpSpLocks/>
          </p:cNvGrpSpPr>
          <p:nvPr/>
        </p:nvGrpSpPr>
        <p:grpSpPr bwMode="auto">
          <a:xfrm>
            <a:off x="1992313" y="3302000"/>
            <a:ext cx="4079875" cy="1484313"/>
            <a:chOff x="1255" y="1789"/>
            <a:chExt cx="2570" cy="935"/>
          </a:xfrm>
        </p:grpSpPr>
        <p:sp>
          <p:nvSpPr>
            <p:cNvPr id="32780" name="Text Box 26"/>
            <p:cNvSpPr txBox="1">
              <a:spLocks noChangeArrowheads="1"/>
            </p:cNvSpPr>
            <p:nvPr/>
          </p:nvSpPr>
          <p:spPr bwMode="auto">
            <a:xfrm>
              <a:off x="2006" y="2183"/>
              <a:ext cx="1141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rgbClr val="CC3300"/>
                  </a:solidFill>
                </a:rPr>
                <a:t>Cost of divide and merge. </a:t>
              </a:r>
            </a:p>
          </p:txBody>
        </p:sp>
        <p:cxnSp>
          <p:nvCxnSpPr>
            <p:cNvPr id="32781" name="AutoShape 27"/>
            <p:cNvCxnSpPr>
              <a:cxnSpLocks noChangeShapeType="1"/>
              <a:stCxn id="32780" idx="2"/>
              <a:endCxn id="32799" idx="0"/>
            </p:cNvCxnSpPr>
            <p:nvPr/>
          </p:nvCxnSpPr>
          <p:spPr bwMode="auto">
            <a:xfrm rot="5400000" flipH="1">
              <a:off x="1812" y="1793"/>
              <a:ext cx="208" cy="1321"/>
            </a:xfrm>
            <a:prstGeom prst="curvedConnector3">
              <a:avLst>
                <a:gd name="adj1" fmla="val -341824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2" name="AutoShape 28"/>
            <p:cNvCxnSpPr>
              <a:cxnSpLocks noChangeShapeType="1"/>
              <a:stCxn id="32780" idx="3"/>
              <a:endCxn id="32784" idx="1"/>
            </p:cNvCxnSpPr>
            <p:nvPr/>
          </p:nvCxnSpPr>
          <p:spPr bwMode="auto">
            <a:xfrm flipV="1">
              <a:off x="3147" y="1789"/>
              <a:ext cx="678" cy="581"/>
            </a:xfrm>
            <a:prstGeom prst="curved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3" name="AutoShape 29"/>
            <p:cNvCxnSpPr>
              <a:cxnSpLocks noChangeShapeType="1"/>
              <a:stCxn id="32780" idx="2"/>
              <a:endCxn id="32787" idx="1"/>
            </p:cNvCxnSpPr>
            <p:nvPr/>
          </p:nvCxnSpPr>
          <p:spPr bwMode="auto">
            <a:xfrm rot="16200000" flipH="1">
              <a:off x="2910" y="2223"/>
              <a:ext cx="167" cy="835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50590" name="Group 30"/>
          <p:cNvGrpSpPr>
            <a:grpSpLocks/>
          </p:cNvGrpSpPr>
          <p:nvPr/>
        </p:nvGrpSpPr>
        <p:grpSpPr bwMode="auto">
          <a:xfrm>
            <a:off x="2765425" y="5867400"/>
            <a:ext cx="2381250" cy="762000"/>
            <a:chOff x="1742" y="3405"/>
            <a:chExt cx="1500" cy="480"/>
          </a:xfrm>
        </p:grpSpPr>
        <p:sp>
          <p:nvSpPr>
            <p:cNvPr id="32777" name="Text Box 31"/>
            <p:cNvSpPr txBox="1">
              <a:spLocks noChangeArrowheads="1"/>
            </p:cNvSpPr>
            <p:nvPr/>
          </p:nvSpPr>
          <p:spPr bwMode="auto">
            <a:xfrm>
              <a:off x="1742" y="3511"/>
              <a:ext cx="1141" cy="3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rgbClr val="CC3300"/>
                  </a:solidFill>
                </a:rPr>
                <a:t>Cost of sorting subproblems.</a:t>
              </a:r>
              <a:r>
                <a:rPr lang="en-US" altLang="en-US" sz="1600" b="1"/>
                <a:t> </a:t>
              </a:r>
            </a:p>
          </p:txBody>
        </p:sp>
        <p:cxnSp>
          <p:nvCxnSpPr>
            <p:cNvPr id="32778" name="AutoShape 32"/>
            <p:cNvCxnSpPr>
              <a:cxnSpLocks noChangeShapeType="1"/>
              <a:stCxn id="32777" idx="0"/>
              <a:endCxn id="32801" idx="2"/>
            </p:cNvCxnSpPr>
            <p:nvPr/>
          </p:nvCxnSpPr>
          <p:spPr bwMode="auto">
            <a:xfrm rot="16200000" flipV="1">
              <a:off x="2042" y="3240"/>
              <a:ext cx="105" cy="436"/>
            </a:xfrm>
            <a:prstGeom prst="curved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79" name="AutoShape 33"/>
            <p:cNvCxnSpPr>
              <a:cxnSpLocks noChangeShapeType="1"/>
              <a:stCxn id="32777" idx="3"/>
              <a:endCxn id="32793" idx="2"/>
            </p:cNvCxnSpPr>
            <p:nvPr/>
          </p:nvCxnSpPr>
          <p:spPr bwMode="auto">
            <a:xfrm flipV="1">
              <a:off x="2883" y="3617"/>
              <a:ext cx="359" cy="81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96722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3" grpId="0" autoUpdateAnimBg="0"/>
      <p:bldP spid="450570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Recursion Tree for Merge Sort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38125" y="947263"/>
            <a:ext cx="698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Continue expanding until the problem size reduces to 1.</a:t>
            </a:r>
          </a:p>
        </p:txBody>
      </p:sp>
      <p:grpSp>
        <p:nvGrpSpPr>
          <p:cNvPr id="33796" name="Group 4"/>
          <p:cNvGrpSpPr>
            <a:grpSpLocks/>
          </p:cNvGrpSpPr>
          <p:nvPr/>
        </p:nvGrpSpPr>
        <p:grpSpPr bwMode="auto">
          <a:xfrm>
            <a:off x="1001713" y="1496177"/>
            <a:ext cx="3432175" cy="4830763"/>
            <a:chOff x="659" y="978"/>
            <a:chExt cx="2162" cy="3043"/>
          </a:xfrm>
        </p:grpSpPr>
        <p:sp>
          <p:nvSpPr>
            <p:cNvPr id="33810" name="Text Box 5"/>
            <p:cNvSpPr txBox="1">
              <a:spLocks noChangeArrowheads="1"/>
            </p:cNvSpPr>
            <p:nvPr/>
          </p:nvSpPr>
          <p:spPr bwMode="auto">
            <a:xfrm>
              <a:off x="1596" y="9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 err="1">
                  <a:solidFill>
                    <a:schemeClr val="hlink"/>
                  </a:solidFill>
                </a:rPr>
                <a:t>cn</a:t>
              </a:r>
              <a:endParaRPr lang="en-US" altLang="en-US" b="1" dirty="0">
                <a:solidFill>
                  <a:schemeClr val="hlink"/>
                </a:solidFill>
              </a:endParaRPr>
            </a:p>
          </p:txBody>
        </p:sp>
        <p:sp>
          <p:nvSpPr>
            <p:cNvPr id="33811" name="Line 6"/>
            <p:cNvSpPr>
              <a:spLocks noChangeShapeType="1"/>
            </p:cNvSpPr>
            <p:nvPr/>
          </p:nvSpPr>
          <p:spPr bwMode="auto">
            <a:xfrm flipH="1">
              <a:off x="1448" y="1258"/>
              <a:ext cx="263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2" name="Line 7"/>
            <p:cNvSpPr>
              <a:spLocks noChangeShapeType="1"/>
            </p:cNvSpPr>
            <p:nvPr/>
          </p:nvSpPr>
          <p:spPr bwMode="auto">
            <a:xfrm>
              <a:off x="1786" y="1248"/>
              <a:ext cx="293" cy="5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3" name="Text Box 8"/>
            <p:cNvSpPr txBox="1">
              <a:spLocks noChangeArrowheads="1"/>
            </p:cNvSpPr>
            <p:nvPr/>
          </p:nvSpPr>
          <p:spPr bwMode="auto">
            <a:xfrm>
              <a:off x="1182" y="1913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cn/2</a:t>
              </a:r>
            </a:p>
          </p:txBody>
        </p:sp>
        <p:sp>
          <p:nvSpPr>
            <p:cNvPr id="33814" name="Text Box 9"/>
            <p:cNvSpPr txBox="1">
              <a:spLocks noChangeArrowheads="1"/>
            </p:cNvSpPr>
            <p:nvPr/>
          </p:nvSpPr>
          <p:spPr bwMode="auto">
            <a:xfrm>
              <a:off x="1947" y="1894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cn/2</a:t>
              </a:r>
            </a:p>
          </p:txBody>
        </p:sp>
        <p:sp>
          <p:nvSpPr>
            <p:cNvPr id="33815" name="Line 10"/>
            <p:cNvSpPr>
              <a:spLocks noChangeShapeType="1"/>
            </p:cNvSpPr>
            <p:nvPr/>
          </p:nvSpPr>
          <p:spPr bwMode="auto">
            <a:xfrm flipH="1">
              <a:off x="1076" y="2191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6" name="Line 11"/>
            <p:cNvSpPr>
              <a:spLocks noChangeShapeType="1"/>
            </p:cNvSpPr>
            <p:nvPr/>
          </p:nvSpPr>
          <p:spPr bwMode="auto">
            <a:xfrm>
              <a:off x="1397" y="2191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7" name="Line 12"/>
            <p:cNvSpPr>
              <a:spLocks noChangeShapeType="1"/>
            </p:cNvSpPr>
            <p:nvPr/>
          </p:nvSpPr>
          <p:spPr bwMode="auto">
            <a:xfrm flipH="1">
              <a:off x="1918" y="2202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8" name="Line 13"/>
            <p:cNvSpPr>
              <a:spLocks noChangeShapeType="1"/>
            </p:cNvSpPr>
            <p:nvPr/>
          </p:nvSpPr>
          <p:spPr bwMode="auto">
            <a:xfrm>
              <a:off x="2239" y="2202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9" name="Text Box 14"/>
            <p:cNvSpPr txBox="1">
              <a:spLocks noChangeArrowheads="1"/>
            </p:cNvSpPr>
            <p:nvPr/>
          </p:nvSpPr>
          <p:spPr bwMode="auto">
            <a:xfrm>
              <a:off x="746" y="2700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cn/4</a:t>
              </a:r>
            </a:p>
          </p:txBody>
        </p:sp>
        <p:sp>
          <p:nvSpPr>
            <p:cNvPr id="33820" name="Text Box 15"/>
            <p:cNvSpPr txBox="1">
              <a:spLocks noChangeArrowheads="1"/>
            </p:cNvSpPr>
            <p:nvPr/>
          </p:nvSpPr>
          <p:spPr bwMode="auto">
            <a:xfrm>
              <a:off x="1399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cn/4</a:t>
              </a:r>
            </a:p>
          </p:txBody>
        </p:sp>
        <p:sp>
          <p:nvSpPr>
            <p:cNvPr id="33821" name="Text Box 16"/>
            <p:cNvSpPr txBox="1">
              <a:spLocks noChangeArrowheads="1"/>
            </p:cNvSpPr>
            <p:nvPr/>
          </p:nvSpPr>
          <p:spPr bwMode="auto">
            <a:xfrm>
              <a:off x="1786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cn/4</a:t>
              </a:r>
            </a:p>
          </p:txBody>
        </p:sp>
        <p:sp>
          <p:nvSpPr>
            <p:cNvPr id="33822" name="Text Box 17"/>
            <p:cNvSpPr txBox="1">
              <a:spLocks noChangeArrowheads="1"/>
            </p:cNvSpPr>
            <p:nvPr/>
          </p:nvSpPr>
          <p:spPr bwMode="auto">
            <a:xfrm>
              <a:off x="2325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cn/4</a:t>
              </a:r>
            </a:p>
          </p:txBody>
        </p:sp>
        <p:sp>
          <p:nvSpPr>
            <p:cNvPr id="33823" name="Line 18"/>
            <p:cNvSpPr>
              <a:spLocks noChangeShapeType="1"/>
            </p:cNvSpPr>
            <p:nvPr/>
          </p:nvSpPr>
          <p:spPr bwMode="auto">
            <a:xfrm flipH="1">
              <a:off x="746" y="2927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4" name="Line 19"/>
            <p:cNvSpPr>
              <a:spLocks noChangeShapeType="1"/>
            </p:cNvSpPr>
            <p:nvPr/>
          </p:nvSpPr>
          <p:spPr bwMode="auto">
            <a:xfrm>
              <a:off x="973" y="2928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5" name="Line 20"/>
            <p:cNvSpPr>
              <a:spLocks noChangeShapeType="1"/>
            </p:cNvSpPr>
            <p:nvPr/>
          </p:nvSpPr>
          <p:spPr bwMode="auto">
            <a:xfrm flipH="1">
              <a:off x="1408" y="2939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6" name="Line 21"/>
            <p:cNvSpPr>
              <a:spLocks noChangeShapeType="1"/>
            </p:cNvSpPr>
            <p:nvPr/>
          </p:nvSpPr>
          <p:spPr bwMode="auto">
            <a:xfrm>
              <a:off x="1635" y="2940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7" name="Line 22"/>
            <p:cNvSpPr>
              <a:spLocks noChangeShapeType="1"/>
            </p:cNvSpPr>
            <p:nvPr/>
          </p:nvSpPr>
          <p:spPr bwMode="auto">
            <a:xfrm flipH="1">
              <a:off x="1853" y="294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8" name="Line 23"/>
            <p:cNvSpPr>
              <a:spLocks noChangeShapeType="1"/>
            </p:cNvSpPr>
            <p:nvPr/>
          </p:nvSpPr>
          <p:spPr bwMode="auto">
            <a:xfrm>
              <a:off x="2080" y="294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9" name="Line 24"/>
            <p:cNvSpPr>
              <a:spLocks noChangeShapeType="1"/>
            </p:cNvSpPr>
            <p:nvPr/>
          </p:nvSpPr>
          <p:spPr bwMode="auto">
            <a:xfrm flipH="1">
              <a:off x="2371" y="293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0" name="Line 25"/>
            <p:cNvSpPr>
              <a:spLocks noChangeShapeType="1"/>
            </p:cNvSpPr>
            <p:nvPr/>
          </p:nvSpPr>
          <p:spPr bwMode="auto">
            <a:xfrm>
              <a:off x="2598" y="293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1" name="Line 26"/>
            <p:cNvSpPr>
              <a:spLocks noChangeShapeType="1"/>
            </p:cNvSpPr>
            <p:nvPr/>
          </p:nvSpPr>
          <p:spPr bwMode="auto">
            <a:xfrm>
              <a:off x="765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2" name="Line 27"/>
            <p:cNvSpPr>
              <a:spLocks noChangeShapeType="1"/>
            </p:cNvSpPr>
            <p:nvPr/>
          </p:nvSpPr>
          <p:spPr bwMode="auto">
            <a:xfrm>
              <a:off x="110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3" name="Line 28"/>
            <p:cNvSpPr>
              <a:spLocks noChangeShapeType="1"/>
            </p:cNvSpPr>
            <p:nvPr/>
          </p:nvSpPr>
          <p:spPr bwMode="auto">
            <a:xfrm>
              <a:off x="1410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4" name="Line 29"/>
            <p:cNvSpPr>
              <a:spLocks noChangeShapeType="1"/>
            </p:cNvSpPr>
            <p:nvPr/>
          </p:nvSpPr>
          <p:spPr bwMode="auto">
            <a:xfrm>
              <a:off x="223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5" name="Line 30"/>
            <p:cNvSpPr>
              <a:spLocks noChangeShapeType="1"/>
            </p:cNvSpPr>
            <p:nvPr/>
          </p:nvSpPr>
          <p:spPr bwMode="auto">
            <a:xfrm>
              <a:off x="244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6" name="Line 31"/>
            <p:cNvSpPr>
              <a:spLocks noChangeShapeType="1"/>
            </p:cNvSpPr>
            <p:nvPr/>
          </p:nvSpPr>
          <p:spPr bwMode="auto">
            <a:xfrm>
              <a:off x="2738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7" name="Line 32"/>
            <p:cNvSpPr>
              <a:spLocks noChangeShapeType="1"/>
            </p:cNvSpPr>
            <p:nvPr/>
          </p:nvSpPr>
          <p:spPr bwMode="auto">
            <a:xfrm>
              <a:off x="1700" y="3654"/>
              <a:ext cx="396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8" name="Text Box 33"/>
            <p:cNvSpPr txBox="1">
              <a:spLocks noChangeArrowheads="1"/>
            </p:cNvSpPr>
            <p:nvPr/>
          </p:nvSpPr>
          <p:spPr bwMode="auto">
            <a:xfrm>
              <a:off x="659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33839" name="Text Box 34"/>
            <p:cNvSpPr txBox="1">
              <a:spLocks noChangeArrowheads="1"/>
            </p:cNvSpPr>
            <p:nvPr/>
          </p:nvSpPr>
          <p:spPr bwMode="auto">
            <a:xfrm>
              <a:off x="982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33840" name="Text Box 35"/>
            <p:cNvSpPr txBox="1">
              <a:spLocks noChangeArrowheads="1"/>
            </p:cNvSpPr>
            <p:nvPr/>
          </p:nvSpPr>
          <p:spPr bwMode="auto">
            <a:xfrm>
              <a:off x="130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33841" name="Text Box 36"/>
            <p:cNvSpPr txBox="1">
              <a:spLocks noChangeArrowheads="1"/>
            </p:cNvSpPr>
            <p:nvPr/>
          </p:nvSpPr>
          <p:spPr bwMode="auto">
            <a:xfrm>
              <a:off x="234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33842" name="Text Box 37"/>
            <p:cNvSpPr txBox="1">
              <a:spLocks noChangeArrowheads="1"/>
            </p:cNvSpPr>
            <p:nvPr/>
          </p:nvSpPr>
          <p:spPr bwMode="auto">
            <a:xfrm>
              <a:off x="2138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33843" name="Text Box 38"/>
            <p:cNvSpPr txBox="1">
              <a:spLocks noChangeArrowheads="1"/>
            </p:cNvSpPr>
            <p:nvPr/>
          </p:nvSpPr>
          <p:spPr bwMode="auto">
            <a:xfrm>
              <a:off x="2620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chemeClr val="hlink"/>
                  </a:solidFill>
                </a:rPr>
                <a:t>c</a:t>
              </a:r>
            </a:p>
          </p:txBody>
        </p:sp>
      </p:grpSp>
      <p:sp>
        <p:nvSpPr>
          <p:cNvPr id="33797" name="Text Box 39"/>
          <p:cNvSpPr txBox="1">
            <a:spLocks noChangeArrowheads="1"/>
          </p:cNvSpPr>
          <p:nvPr/>
        </p:nvSpPr>
        <p:spPr bwMode="auto">
          <a:xfrm>
            <a:off x="4075113" y="2162175"/>
            <a:ext cx="4725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3798" name="Line 40"/>
          <p:cNvSpPr>
            <a:spLocks noChangeShapeType="1"/>
          </p:cNvSpPr>
          <p:nvPr/>
        </p:nvSpPr>
        <p:spPr bwMode="auto">
          <a:xfrm>
            <a:off x="3222625" y="1708616"/>
            <a:ext cx="40767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41"/>
          <p:cNvSpPr>
            <a:spLocks noChangeShapeType="1"/>
          </p:cNvSpPr>
          <p:nvPr/>
        </p:nvSpPr>
        <p:spPr bwMode="auto">
          <a:xfrm>
            <a:off x="3989388" y="3091329"/>
            <a:ext cx="331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42"/>
          <p:cNvSpPr>
            <a:spLocks noChangeShapeType="1"/>
          </p:cNvSpPr>
          <p:nvPr/>
        </p:nvSpPr>
        <p:spPr bwMode="auto">
          <a:xfrm>
            <a:off x="4395788" y="4324816"/>
            <a:ext cx="2908300" cy="142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43"/>
          <p:cNvSpPr>
            <a:spLocks noChangeShapeType="1"/>
          </p:cNvSpPr>
          <p:nvPr/>
        </p:nvSpPr>
        <p:spPr bwMode="auto">
          <a:xfrm flipV="1">
            <a:off x="4699000" y="6097700"/>
            <a:ext cx="2638425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95536" y="1597806"/>
            <a:ext cx="1320801" cy="4543425"/>
            <a:chOff x="95536" y="2020888"/>
            <a:chExt cx="1320801" cy="4543425"/>
          </a:xfrm>
        </p:grpSpPr>
        <p:sp>
          <p:nvSpPr>
            <p:cNvPr id="33802" name="Text Box 44"/>
            <p:cNvSpPr txBox="1">
              <a:spLocks noChangeArrowheads="1"/>
            </p:cNvSpPr>
            <p:nvPr/>
          </p:nvSpPr>
          <p:spPr bwMode="auto">
            <a:xfrm>
              <a:off x="95536" y="4024644"/>
              <a:ext cx="132080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>
                  <a:solidFill>
                    <a:srgbClr val="CC3300"/>
                  </a:solidFill>
                </a:rPr>
                <a:t>log</a:t>
              </a:r>
              <a:r>
                <a:rPr lang="en-US" altLang="en-US" b="1" baseline="-25000" dirty="0">
                  <a:solidFill>
                    <a:srgbClr val="CC3300"/>
                  </a:solidFill>
                </a:rPr>
                <a:t>2</a:t>
              </a:r>
              <a:r>
                <a:rPr lang="en-US" altLang="en-US" b="1" baseline="30000" dirty="0">
                  <a:solidFill>
                    <a:srgbClr val="CC3300"/>
                  </a:solidFill>
                </a:rPr>
                <a:t>n </a:t>
              </a:r>
              <a:r>
                <a:rPr lang="en-US" altLang="en-US" b="1" dirty="0">
                  <a:solidFill>
                    <a:srgbClr val="CC3300"/>
                  </a:solidFill>
                </a:rPr>
                <a:t>+ 1</a:t>
              </a:r>
              <a:endParaRPr lang="en-US" altLang="en-US" b="1" baseline="30000" dirty="0">
                <a:solidFill>
                  <a:srgbClr val="CC3300"/>
                </a:solidFill>
              </a:endParaRPr>
            </a:p>
          </p:txBody>
        </p:sp>
        <p:sp>
          <p:nvSpPr>
            <p:cNvPr id="33803" name="Line 45"/>
            <p:cNvSpPr>
              <a:spLocks noChangeShapeType="1"/>
            </p:cNvSpPr>
            <p:nvPr/>
          </p:nvSpPr>
          <p:spPr bwMode="auto">
            <a:xfrm flipV="1">
              <a:off x="508000" y="2020888"/>
              <a:ext cx="0" cy="1858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4" name="Line 46"/>
            <p:cNvSpPr>
              <a:spLocks noChangeShapeType="1"/>
            </p:cNvSpPr>
            <p:nvPr/>
          </p:nvSpPr>
          <p:spPr bwMode="auto">
            <a:xfrm flipH="1">
              <a:off x="523875" y="4719638"/>
              <a:ext cx="0" cy="184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05" name="Text Box 47"/>
          <p:cNvSpPr txBox="1">
            <a:spLocks noChangeArrowheads="1"/>
          </p:cNvSpPr>
          <p:nvPr/>
        </p:nvSpPr>
        <p:spPr bwMode="auto">
          <a:xfrm>
            <a:off x="7567613" y="14692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CC3300"/>
                </a:solidFill>
              </a:rPr>
              <a:t>cn</a:t>
            </a:r>
          </a:p>
        </p:txBody>
      </p:sp>
      <p:sp>
        <p:nvSpPr>
          <p:cNvPr id="33806" name="Text Box 48"/>
          <p:cNvSpPr txBox="1">
            <a:spLocks noChangeArrowheads="1"/>
          </p:cNvSpPr>
          <p:nvPr/>
        </p:nvSpPr>
        <p:spPr bwMode="auto">
          <a:xfrm>
            <a:off x="7567613" y="2867491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CC3300"/>
                </a:solidFill>
              </a:rPr>
              <a:t>cn</a:t>
            </a:r>
          </a:p>
        </p:txBody>
      </p:sp>
      <p:sp>
        <p:nvSpPr>
          <p:cNvPr id="33807" name="Text Box 49"/>
          <p:cNvSpPr txBox="1">
            <a:spLocks noChangeArrowheads="1"/>
          </p:cNvSpPr>
          <p:nvPr/>
        </p:nvSpPr>
        <p:spPr bwMode="auto">
          <a:xfrm>
            <a:off x="7567613" y="4127966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CC3300"/>
                </a:solidFill>
              </a:rPr>
              <a:t>cn</a:t>
            </a:r>
          </a:p>
        </p:txBody>
      </p:sp>
      <p:sp>
        <p:nvSpPr>
          <p:cNvPr id="33808" name="Text Box 50"/>
          <p:cNvSpPr txBox="1">
            <a:spLocks noChangeArrowheads="1"/>
          </p:cNvSpPr>
          <p:nvPr/>
        </p:nvSpPr>
        <p:spPr bwMode="auto">
          <a:xfrm>
            <a:off x="7567613" y="5871636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 err="1">
                <a:solidFill>
                  <a:srgbClr val="CC3300"/>
                </a:solidFill>
              </a:rPr>
              <a:t>cn</a:t>
            </a:r>
            <a:endParaRPr lang="en-US" altLang="en-US" b="1" dirty="0">
              <a:solidFill>
                <a:srgbClr val="CC3300"/>
              </a:solidFill>
            </a:endParaRPr>
          </a:p>
        </p:txBody>
      </p:sp>
      <p:sp>
        <p:nvSpPr>
          <p:cNvPr id="33809" name="Text Box 51"/>
          <p:cNvSpPr txBox="1">
            <a:spLocks noChangeArrowheads="1"/>
          </p:cNvSpPr>
          <p:nvPr/>
        </p:nvSpPr>
        <p:spPr bwMode="auto">
          <a:xfrm>
            <a:off x="4388891" y="6346208"/>
            <a:ext cx="3704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FF0000"/>
                </a:solidFill>
              </a:rPr>
              <a:t>Total           : cnlog</a:t>
            </a:r>
            <a:r>
              <a:rPr lang="en-US" altLang="en-US" baseline="-25000" dirty="0">
                <a:solidFill>
                  <a:srgbClr val="FF0000"/>
                </a:solidFill>
              </a:rPr>
              <a:t>2</a:t>
            </a:r>
            <a:r>
              <a:rPr lang="en-US" altLang="en-US" baseline="30000" dirty="0">
                <a:solidFill>
                  <a:srgbClr val="FF0000"/>
                </a:solidFill>
              </a:rPr>
              <a:t>n </a:t>
            </a:r>
            <a:r>
              <a:rPr lang="en-US" altLang="en-US" dirty="0">
                <a:solidFill>
                  <a:srgbClr val="FF0000"/>
                </a:solidFill>
              </a:rPr>
              <a:t>+ </a:t>
            </a:r>
            <a:r>
              <a:rPr lang="en-US" altLang="en-US" dirty="0" err="1">
                <a:solidFill>
                  <a:srgbClr val="FF0000"/>
                </a:solidFill>
              </a:rPr>
              <a:t>cn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75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Recursion Tree for Merge Sort</a:t>
            </a:r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268288" y="947143"/>
            <a:ext cx="698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/>
              <a:t>Continue expanding until the problem size reduces to 1.</a:t>
            </a:r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266700" y="1403350"/>
            <a:ext cx="3432175" cy="4830763"/>
            <a:chOff x="659" y="978"/>
            <a:chExt cx="2162" cy="3043"/>
          </a:xfrm>
        </p:grpSpPr>
        <p:sp>
          <p:nvSpPr>
            <p:cNvPr id="29704" name="Text Box 5"/>
            <p:cNvSpPr txBox="1">
              <a:spLocks noChangeArrowheads="1"/>
            </p:cNvSpPr>
            <p:nvPr/>
          </p:nvSpPr>
          <p:spPr bwMode="auto">
            <a:xfrm>
              <a:off x="1596" y="9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cn</a:t>
              </a:r>
            </a:p>
          </p:txBody>
        </p:sp>
        <p:sp>
          <p:nvSpPr>
            <p:cNvPr id="29705" name="Line 6"/>
            <p:cNvSpPr>
              <a:spLocks noChangeShapeType="1"/>
            </p:cNvSpPr>
            <p:nvPr/>
          </p:nvSpPr>
          <p:spPr bwMode="auto">
            <a:xfrm flipH="1">
              <a:off x="1448" y="1258"/>
              <a:ext cx="263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Line 7"/>
            <p:cNvSpPr>
              <a:spLocks noChangeShapeType="1"/>
            </p:cNvSpPr>
            <p:nvPr/>
          </p:nvSpPr>
          <p:spPr bwMode="auto">
            <a:xfrm>
              <a:off x="1786" y="1248"/>
              <a:ext cx="293" cy="5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Text Box 8"/>
            <p:cNvSpPr txBox="1">
              <a:spLocks noChangeArrowheads="1"/>
            </p:cNvSpPr>
            <p:nvPr/>
          </p:nvSpPr>
          <p:spPr bwMode="auto">
            <a:xfrm>
              <a:off x="1182" y="1913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cn</a:t>
              </a:r>
              <a:r>
                <a:rPr lang="en-US" b="1">
                  <a:solidFill>
                    <a:schemeClr val="hlink"/>
                  </a:solidFill>
                </a:rPr>
                <a:t>/2</a:t>
              </a:r>
            </a:p>
          </p:txBody>
        </p:sp>
        <p:sp>
          <p:nvSpPr>
            <p:cNvPr id="29708" name="Text Box 9"/>
            <p:cNvSpPr txBox="1">
              <a:spLocks noChangeArrowheads="1"/>
            </p:cNvSpPr>
            <p:nvPr/>
          </p:nvSpPr>
          <p:spPr bwMode="auto">
            <a:xfrm>
              <a:off x="1947" y="1894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cn</a:t>
              </a:r>
              <a:r>
                <a:rPr lang="en-US" b="1">
                  <a:solidFill>
                    <a:schemeClr val="hlink"/>
                  </a:solidFill>
                </a:rPr>
                <a:t>/2</a:t>
              </a:r>
            </a:p>
          </p:txBody>
        </p:sp>
        <p:sp>
          <p:nvSpPr>
            <p:cNvPr id="29709" name="Line 10"/>
            <p:cNvSpPr>
              <a:spLocks noChangeShapeType="1"/>
            </p:cNvSpPr>
            <p:nvPr/>
          </p:nvSpPr>
          <p:spPr bwMode="auto">
            <a:xfrm flipH="1">
              <a:off x="1076" y="2191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Line 11"/>
            <p:cNvSpPr>
              <a:spLocks noChangeShapeType="1"/>
            </p:cNvSpPr>
            <p:nvPr/>
          </p:nvSpPr>
          <p:spPr bwMode="auto">
            <a:xfrm>
              <a:off x="1397" y="2191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12"/>
            <p:cNvSpPr>
              <a:spLocks noChangeShapeType="1"/>
            </p:cNvSpPr>
            <p:nvPr/>
          </p:nvSpPr>
          <p:spPr bwMode="auto">
            <a:xfrm flipH="1">
              <a:off x="1918" y="2202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Line 13"/>
            <p:cNvSpPr>
              <a:spLocks noChangeShapeType="1"/>
            </p:cNvSpPr>
            <p:nvPr/>
          </p:nvSpPr>
          <p:spPr bwMode="auto">
            <a:xfrm>
              <a:off x="2239" y="2202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3" name="Text Box 14"/>
            <p:cNvSpPr txBox="1">
              <a:spLocks noChangeArrowheads="1"/>
            </p:cNvSpPr>
            <p:nvPr/>
          </p:nvSpPr>
          <p:spPr bwMode="auto">
            <a:xfrm>
              <a:off x="746" y="2700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2000" b="1" i="1">
                  <a:solidFill>
                    <a:schemeClr val="hlink"/>
                  </a:solidFill>
                </a:rPr>
                <a:t>cn</a:t>
              </a:r>
              <a:r>
                <a:rPr lang="en-US" sz="2000" b="1">
                  <a:solidFill>
                    <a:schemeClr val="hlink"/>
                  </a:solidFill>
                </a:rPr>
                <a:t>/4</a:t>
              </a:r>
            </a:p>
          </p:txBody>
        </p:sp>
        <p:sp>
          <p:nvSpPr>
            <p:cNvPr id="29714" name="Text Box 15"/>
            <p:cNvSpPr txBox="1">
              <a:spLocks noChangeArrowheads="1"/>
            </p:cNvSpPr>
            <p:nvPr/>
          </p:nvSpPr>
          <p:spPr bwMode="auto">
            <a:xfrm>
              <a:off x="1399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2000" b="1" i="1">
                  <a:solidFill>
                    <a:schemeClr val="hlink"/>
                  </a:solidFill>
                </a:rPr>
                <a:t>cn</a:t>
              </a:r>
              <a:r>
                <a:rPr lang="en-US" sz="2000" b="1">
                  <a:solidFill>
                    <a:schemeClr val="hlink"/>
                  </a:solidFill>
                </a:rPr>
                <a:t>/4</a:t>
              </a:r>
            </a:p>
          </p:txBody>
        </p:sp>
        <p:sp>
          <p:nvSpPr>
            <p:cNvPr id="29715" name="Text Box 16"/>
            <p:cNvSpPr txBox="1">
              <a:spLocks noChangeArrowheads="1"/>
            </p:cNvSpPr>
            <p:nvPr/>
          </p:nvSpPr>
          <p:spPr bwMode="auto">
            <a:xfrm>
              <a:off x="1786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2000" b="1" i="1">
                  <a:solidFill>
                    <a:schemeClr val="hlink"/>
                  </a:solidFill>
                </a:rPr>
                <a:t>cn</a:t>
              </a:r>
              <a:r>
                <a:rPr lang="en-US" sz="2000" b="1">
                  <a:solidFill>
                    <a:schemeClr val="hlink"/>
                  </a:solidFill>
                </a:rPr>
                <a:t>/4</a:t>
              </a:r>
            </a:p>
          </p:txBody>
        </p:sp>
        <p:sp>
          <p:nvSpPr>
            <p:cNvPr id="29716" name="Text Box 17"/>
            <p:cNvSpPr txBox="1">
              <a:spLocks noChangeArrowheads="1"/>
            </p:cNvSpPr>
            <p:nvPr/>
          </p:nvSpPr>
          <p:spPr bwMode="auto">
            <a:xfrm>
              <a:off x="2325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2000" b="1" i="1">
                  <a:solidFill>
                    <a:schemeClr val="hlink"/>
                  </a:solidFill>
                </a:rPr>
                <a:t>cn</a:t>
              </a:r>
              <a:r>
                <a:rPr lang="en-US" sz="2000" b="1">
                  <a:solidFill>
                    <a:schemeClr val="hlink"/>
                  </a:solidFill>
                </a:rPr>
                <a:t>/4</a:t>
              </a:r>
            </a:p>
          </p:txBody>
        </p:sp>
        <p:sp>
          <p:nvSpPr>
            <p:cNvPr id="29717" name="Line 18"/>
            <p:cNvSpPr>
              <a:spLocks noChangeShapeType="1"/>
            </p:cNvSpPr>
            <p:nvPr/>
          </p:nvSpPr>
          <p:spPr bwMode="auto">
            <a:xfrm flipH="1">
              <a:off x="746" y="2927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Line 19"/>
            <p:cNvSpPr>
              <a:spLocks noChangeShapeType="1"/>
            </p:cNvSpPr>
            <p:nvPr/>
          </p:nvSpPr>
          <p:spPr bwMode="auto">
            <a:xfrm>
              <a:off x="973" y="2928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9" name="Line 20"/>
            <p:cNvSpPr>
              <a:spLocks noChangeShapeType="1"/>
            </p:cNvSpPr>
            <p:nvPr/>
          </p:nvSpPr>
          <p:spPr bwMode="auto">
            <a:xfrm flipH="1">
              <a:off x="1408" y="2939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Line 21"/>
            <p:cNvSpPr>
              <a:spLocks noChangeShapeType="1"/>
            </p:cNvSpPr>
            <p:nvPr/>
          </p:nvSpPr>
          <p:spPr bwMode="auto">
            <a:xfrm>
              <a:off x="1635" y="2940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1" name="Line 22"/>
            <p:cNvSpPr>
              <a:spLocks noChangeShapeType="1"/>
            </p:cNvSpPr>
            <p:nvPr/>
          </p:nvSpPr>
          <p:spPr bwMode="auto">
            <a:xfrm flipH="1">
              <a:off x="1853" y="294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2" name="Line 23"/>
            <p:cNvSpPr>
              <a:spLocks noChangeShapeType="1"/>
            </p:cNvSpPr>
            <p:nvPr/>
          </p:nvSpPr>
          <p:spPr bwMode="auto">
            <a:xfrm>
              <a:off x="2080" y="294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3" name="Line 24"/>
            <p:cNvSpPr>
              <a:spLocks noChangeShapeType="1"/>
            </p:cNvSpPr>
            <p:nvPr/>
          </p:nvSpPr>
          <p:spPr bwMode="auto">
            <a:xfrm flipH="1">
              <a:off x="2371" y="293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4" name="Line 25"/>
            <p:cNvSpPr>
              <a:spLocks noChangeShapeType="1"/>
            </p:cNvSpPr>
            <p:nvPr/>
          </p:nvSpPr>
          <p:spPr bwMode="auto">
            <a:xfrm>
              <a:off x="2598" y="293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5" name="Line 26"/>
            <p:cNvSpPr>
              <a:spLocks noChangeShapeType="1"/>
            </p:cNvSpPr>
            <p:nvPr/>
          </p:nvSpPr>
          <p:spPr bwMode="auto">
            <a:xfrm>
              <a:off x="765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6" name="Line 27"/>
            <p:cNvSpPr>
              <a:spLocks noChangeShapeType="1"/>
            </p:cNvSpPr>
            <p:nvPr/>
          </p:nvSpPr>
          <p:spPr bwMode="auto">
            <a:xfrm>
              <a:off x="110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7" name="Line 28"/>
            <p:cNvSpPr>
              <a:spLocks noChangeShapeType="1"/>
            </p:cNvSpPr>
            <p:nvPr/>
          </p:nvSpPr>
          <p:spPr bwMode="auto">
            <a:xfrm>
              <a:off x="1410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8" name="Line 29"/>
            <p:cNvSpPr>
              <a:spLocks noChangeShapeType="1"/>
            </p:cNvSpPr>
            <p:nvPr/>
          </p:nvSpPr>
          <p:spPr bwMode="auto">
            <a:xfrm>
              <a:off x="223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9" name="Line 30"/>
            <p:cNvSpPr>
              <a:spLocks noChangeShapeType="1"/>
            </p:cNvSpPr>
            <p:nvPr/>
          </p:nvSpPr>
          <p:spPr bwMode="auto">
            <a:xfrm>
              <a:off x="244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0" name="Line 31"/>
            <p:cNvSpPr>
              <a:spLocks noChangeShapeType="1"/>
            </p:cNvSpPr>
            <p:nvPr/>
          </p:nvSpPr>
          <p:spPr bwMode="auto">
            <a:xfrm>
              <a:off x="2738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1" name="Line 32"/>
            <p:cNvSpPr>
              <a:spLocks noChangeShapeType="1"/>
            </p:cNvSpPr>
            <p:nvPr/>
          </p:nvSpPr>
          <p:spPr bwMode="auto">
            <a:xfrm>
              <a:off x="1700" y="3654"/>
              <a:ext cx="396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2" name="Text Box 33"/>
            <p:cNvSpPr txBox="1">
              <a:spLocks noChangeArrowheads="1"/>
            </p:cNvSpPr>
            <p:nvPr/>
          </p:nvSpPr>
          <p:spPr bwMode="auto">
            <a:xfrm>
              <a:off x="659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29733" name="Text Box 34"/>
            <p:cNvSpPr txBox="1">
              <a:spLocks noChangeArrowheads="1"/>
            </p:cNvSpPr>
            <p:nvPr/>
          </p:nvSpPr>
          <p:spPr bwMode="auto">
            <a:xfrm>
              <a:off x="982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29734" name="Text Box 35"/>
            <p:cNvSpPr txBox="1">
              <a:spLocks noChangeArrowheads="1"/>
            </p:cNvSpPr>
            <p:nvPr/>
          </p:nvSpPr>
          <p:spPr bwMode="auto">
            <a:xfrm>
              <a:off x="130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29735" name="Text Box 36"/>
            <p:cNvSpPr txBox="1">
              <a:spLocks noChangeArrowheads="1"/>
            </p:cNvSpPr>
            <p:nvPr/>
          </p:nvSpPr>
          <p:spPr bwMode="auto">
            <a:xfrm>
              <a:off x="234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29736" name="Text Box 37"/>
            <p:cNvSpPr txBox="1">
              <a:spLocks noChangeArrowheads="1"/>
            </p:cNvSpPr>
            <p:nvPr/>
          </p:nvSpPr>
          <p:spPr bwMode="auto">
            <a:xfrm>
              <a:off x="2138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</a:t>
              </a:r>
            </a:p>
          </p:txBody>
        </p:sp>
        <p:sp>
          <p:nvSpPr>
            <p:cNvPr id="29737" name="Text Box 38"/>
            <p:cNvSpPr txBox="1">
              <a:spLocks noChangeArrowheads="1"/>
            </p:cNvSpPr>
            <p:nvPr/>
          </p:nvSpPr>
          <p:spPr bwMode="auto">
            <a:xfrm>
              <a:off x="2620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b="1" i="1">
                  <a:solidFill>
                    <a:schemeClr val="hlink"/>
                  </a:solidFill>
                </a:rPr>
                <a:t>c</a:t>
              </a:r>
            </a:p>
          </p:txBody>
        </p:sp>
      </p:grpSp>
      <p:sp>
        <p:nvSpPr>
          <p:cNvPr id="29702" name="Text Box 39"/>
          <p:cNvSpPr txBox="1">
            <a:spLocks noChangeArrowheads="1"/>
          </p:cNvSpPr>
          <p:nvPr/>
        </p:nvSpPr>
        <p:spPr bwMode="auto">
          <a:xfrm>
            <a:off x="4075113" y="1579563"/>
            <a:ext cx="4725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9703" name="Text Box 40"/>
          <p:cNvSpPr txBox="1">
            <a:spLocks noChangeArrowheads="1"/>
          </p:cNvSpPr>
          <p:nvPr/>
        </p:nvSpPr>
        <p:spPr bwMode="auto">
          <a:xfrm>
            <a:off x="4149725" y="1595438"/>
            <a:ext cx="462597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Char char="•"/>
            </a:pPr>
            <a:r>
              <a:rPr lang="en-US" dirty="0"/>
              <a:t>Each level has total cost </a:t>
            </a:r>
            <a:r>
              <a:rPr lang="en-US" b="1" i="1" dirty="0" err="1">
                <a:solidFill>
                  <a:srgbClr val="CC3300"/>
                </a:solidFill>
              </a:rPr>
              <a:t>cn</a:t>
            </a:r>
            <a:r>
              <a:rPr lang="en-US" dirty="0"/>
              <a:t>.</a:t>
            </a:r>
          </a:p>
          <a:p>
            <a:pPr algn="just">
              <a:buFontTx/>
              <a:buChar char="•"/>
            </a:pPr>
            <a:endParaRPr lang="en-US" dirty="0"/>
          </a:p>
          <a:p>
            <a:pPr algn="just">
              <a:buFontTx/>
              <a:buChar char="•"/>
            </a:pPr>
            <a:r>
              <a:rPr lang="en-US" dirty="0"/>
              <a:t>Each time we go down one level, the number of </a:t>
            </a:r>
            <a:r>
              <a:rPr lang="en-US" dirty="0" err="1"/>
              <a:t>subproblems</a:t>
            </a:r>
            <a:r>
              <a:rPr lang="en-US" dirty="0"/>
              <a:t> doubles, but the cost per </a:t>
            </a:r>
            <a:r>
              <a:rPr lang="en-US" dirty="0" err="1"/>
              <a:t>subproblem</a:t>
            </a:r>
            <a:r>
              <a:rPr lang="en-US" dirty="0"/>
              <a:t> halves 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i="1" dirty="0">
                <a:solidFill>
                  <a:srgbClr val="CC3300"/>
                </a:solidFill>
                <a:sym typeface="Symbol" panose="05050102010706020507" pitchFamily="18" charset="2"/>
              </a:rPr>
              <a:t>cost per level remains the same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algn="just">
              <a:buFontTx/>
              <a:buChar char="•"/>
            </a:pPr>
            <a:endParaRPr lang="en-US" dirty="0">
              <a:sym typeface="Symbol" panose="05050102010706020507" pitchFamily="18" charset="2"/>
            </a:endParaRPr>
          </a:p>
          <a:p>
            <a:pPr algn="just">
              <a:buFontTx/>
              <a:buChar char="•"/>
            </a:pPr>
            <a:r>
              <a:rPr lang="en-US" dirty="0">
                <a:sym typeface="Symbol" panose="05050102010706020507" pitchFamily="18" charset="2"/>
              </a:rPr>
              <a:t>There are </a:t>
            </a:r>
            <a:r>
              <a:rPr lang="en-US" dirty="0" err="1">
                <a:sym typeface="Symbol" panose="05050102010706020507" pitchFamily="18" charset="2"/>
              </a:rPr>
              <a:t>lg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+ 1 levels, height is </a:t>
            </a:r>
            <a:r>
              <a:rPr lang="en-US" dirty="0" err="1">
                <a:sym typeface="Symbol" panose="05050102010706020507" pitchFamily="18" charset="2"/>
              </a:rPr>
              <a:t>lg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. (Assuming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is a power of 2.)</a:t>
            </a:r>
          </a:p>
          <a:p>
            <a:pPr algn="just">
              <a:buFontTx/>
              <a:buChar char="•"/>
            </a:pPr>
            <a:endParaRPr lang="en-US" dirty="0"/>
          </a:p>
          <a:p>
            <a:pPr algn="just">
              <a:buFontTx/>
              <a:buChar char="•"/>
            </a:pPr>
            <a:r>
              <a:rPr lang="en-US" dirty="0"/>
              <a:t>Total cost = sum of costs at each level = (</a:t>
            </a:r>
            <a:r>
              <a:rPr lang="en-US" dirty="0" err="1"/>
              <a:t>lg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+ 1)</a:t>
            </a:r>
            <a:r>
              <a:rPr lang="en-US" i="1" dirty="0" err="1"/>
              <a:t>cn</a:t>
            </a:r>
            <a:r>
              <a:rPr lang="en-US" dirty="0"/>
              <a:t> = </a:t>
            </a:r>
            <a:r>
              <a:rPr lang="en-US" i="1" dirty="0" err="1"/>
              <a:t>cn</a:t>
            </a:r>
            <a:r>
              <a:rPr lang="en-US" dirty="0" err="1"/>
              <a:t>lg</a:t>
            </a:r>
            <a:r>
              <a:rPr lang="en-US" i="1" dirty="0" err="1"/>
              <a:t>n</a:t>
            </a:r>
            <a:r>
              <a:rPr lang="en-US" dirty="0"/>
              <a:t> + </a:t>
            </a:r>
            <a:r>
              <a:rPr lang="en-US" i="1" dirty="0" err="1"/>
              <a:t>cn</a:t>
            </a:r>
            <a:r>
              <a:rPr lang="en-US" dirty="0"/>
              <a:t> = </a:t>
            </a:r>
            <a:r>
              <a:rPr lang="en-US" dirty="0">
                <a:sym typeface="Symbol" panose="05050102010706020507" pitchFamily="18" charset="2"/>
              </a:rPr>
              <a:t>O</a:t>
            </a:r>
            <a:r>
              <a:rPr lang="en-US" dirty="0"/>
              <a:t>(</a:t>
            </a:r>
            <a:r>
              <a:rPr lang="en-US" i="1" dirty="0"/>
              <a:t>n </a:t>
            </a:r>
            <a:r>
              <a:rPr lang="en-US" dirty="0" err="1"/>
              <a:t>lg</a:t>
            </a:r>
            <a:r>
              <a:rPr lang="en-US" i="1" dirty="0" err="1"/>
              <a:t>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9507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ea typeface="宋体" panose="02010600030101010101" pitchFamily="2" charset="-122"/>
              </a:rPr>
              <a:t>Analysis: solving recurrence</a:t>
            </a: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306870"/>
              </p:ext>
            </p:extLst>
          </p:nvPr>
        </p:nvGraphicFramePr>
        <p:xfrm>
          <a:off x="938213" y="2133600"/>
          <a:ext cx="324485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4" imgW="1701720" imgH="2438280" progId="Equation.3">
                  <p:embed/>
                </p:oleObj>
              </mc:Choice>
              <mc:Fallback>
                <p:oleObj name="Equation" r:id="rId4" imgW="1701720" imgH="243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2133600"/>
                        <a:ext cx="3244850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165725" y="2041525"/>
            <a:ext cx="3829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/>
              <a:t>Since n=2</a:t>
            </a:r>
            <a:r>
              <a:rPr lang="en-US" baseline="30000"/>
              <a:t>k</a:t>
            </a:r>
            <a:r>
              <a:rPr lang="en-US"/>
              <a:t>, we have k=log</a:t>
            </a:r>
            <a:r>
              <a:rPr lang="en-US" baseline="-25000"/>
              <a:t>2</a:t>
            </a:r>
            <a:r>
              <a:rPr lang="en-US"/>
              <a:t> n</a:t>
            </a: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5570538" y="2743200"/>
          <a:ext cx="2444750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6" imgW="1282680" imgH="850680" progId="Equation.3">
                  <p:embed/>
                </p:oleObj>
              </mc:Choice>
              <mc:Fallback>
                <p:oleObj name="Equation" r:id="rId6" imgW="12826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743200"/>
                        <a:ext cx="2444750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42328" y="1009651"/>
            <a:ext cx="8382000" cy="516254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q"/>
              <a:defRPr kumimoji="1" sz="24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•"/>
              <a:defRPr kumimoji="1" sz="20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–"/>
              <a:defRPr kumimoji="1"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–"/>
              <a:defRPr kumimoji="1"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r>
              <a:rPr lang="en-US" kern="0" dirty="0"/>
              <a:t>All cases have same efficiency: </a:t>
            </a:r>
            <a:r>
              <a:rPr lang="en-US" i="1" kern="0" dirty="0">
                <a:latin typeface="Lucida Grande" pitchFamily="84" charset="0"/>
                <a:cs typeface="Times New Roman" panose="02020603050405020304" pitchFamily="18" charset="0"/>
              </a:rPr>
              <a:t>O</a:t>
            </a:r>
            <a:r>
              <a:rPr lang="en-US" kern="0" dirty="0">
                <a:cs typeface="Times New Roman" panose="02020603050405020304" pitchFamily="18" charset="0"/>
              </a:rPr>
              <a:t>(</a:t>
            </a:r>
            <a:r>
              <a:rPr lang="en-US" i="1" kern="0" dirty="0">
                <a:cs typeface="Times New Roman" panose="02020603050405020304" pitchFamily="18" charset="0"/>
              </a:rPr>
              <a:t>n </a:t>
            </a:r>
            <a:r>
              <a:rPr lang="en-US" kern="0" dirty="0">
                <a:cs typeface="Times New Roman" panose="02020603050405020304" pitchFamily="18" charset="0"/>
              </a:rPr>
              <a:t>log </a:t>
            </a:r>
            <a:r>
              <a:rPr lang="en-US" i="1" kern="0" dirty="0">
                <a:cs typeface="Times New Roman" panose="02020603050405020304" pitchFamily="18" charset="0"/>
              </a:rPr>
              <a:t>n</a:t>
            </a:r>
            <a:r>
              <a:rPr lang="en-US" kern="0" dirty="0"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457200" y="150495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b="1" i="1" dirty="0">
                <a:solidFill>
                  <a:srgbClr val="FF0000"/>
                </a:solidFill>
              </a:rPr>
              <a:t>T(n) = 2T(n/2) + O(n), and O(n)=</a:t>
            </a:r>
            <a:r>
              <a:rPr kumimoji="1" lang="en-US" b="1" i="1" dirty="0" err="1">
                <a:solidFill>
                  <a:srgbClr val="FF0000"/>
                </a:solidFill>
              </a:rPr>
              <a:t>cn</a:t>
            </a:r>
            <a:endParaRPr kumimoji="1"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66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D8D1B7E1-30BE-485C-90DE-3F1AD4DA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246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8800" b="1" dirty="0">
                <a:solidFill>
                  <a:srgbClr val="FF0000"/>
                </a:solidFill>
              </a:rPr>
              <a:t>Quiz-1</a:t>
            </a:r>
            <a:br>
              <a:rPr lang="en-US" altLang="en-US" sz="8800" b="1" dirty="0">
                <a:solidFill>
                  <a:srgbClr val="FF0000"/>
                </a:solidFill>
              </a:rPr>
            </a:br>
            <a:r>
              <a:rPr lang="en-US" altLang="en-US" sz="6000" b="1" smtClean="0"/>
              <a:t>(31/10/2025)</a:t>
            </a:r>
            <a:endParaRPr lang="en-US" altLang="en-US" sz="8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C2DC5-C159-42EE-BCE9-819871FC6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157538"/>
            <a:ext cx="23812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2" name="Picture 4">
            <a:extLst>
              <a:ext uri="{FF2B5EF4-FFF2-40B4-BE49-F238E27FC236}">
                <a16:creationId xmlns:a16="http://schemas.microsoft.com/office/drawing/2014/main" id="{5335D0D8-38E8-48E2-837B-609A98347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373438"/>
            <a:ext cx="3595688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1041</TotalTime>
  <Words>3231</Words>
  <Application>Microsoft Office PowerPoint</Application>
  <PresentationFormat>On-screen Show (4:3)</PresentationFormat>
  <Paragraphs>2229</Paragraphs>
  <Slides>78</Slides>
  <Notes>5</Notes>
  <HiddenSlides>1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5" baseType="lpstr">
      <vt:lpstr>SimSun</vt:lpstr>
      <vt:lpstr>Aharoni</vt:lpstr>
      <vt:lpstr>Arial</vt:lpstr>
      <vt:lpstr>Britannic Bold</vt:lpstr>
      <vt:lpstr>Calibri</vt:lpstr>
      <vt:lpstr>Calibri Light</vt:lpstr>
      <vt:lpstr>Courier New</vt:lpstr>
      <vt:lpstr>Gungsuh</vt:lpstr>
      <vt:lpstr>Impact</vt:lpstr>
      <vt:lpstr>Lucida Grande</vt:lpstr>
      <vt:lpstr>Monotype Sorts</vt:lpstr>
      <vt:lpstr>Symbol</vt:lpstr>
      <vt:lpstr>Times New Roman</vt:lpstr>
      <vt:lpstr>Verdana</vt:lpstr>
      <vt:lpstr>Wingdings</vt:lpstr>
      <vt:lpstr>Office Theme</vt:lpstr>
      <vt:lpstr>Equation</vt:lpstr>
      <vt:lpstr>PowerPoint Presentation</vt:lpstr>
      <vt:lpstr>Divide and Conquer</vt:lpstr>
      <vt:lpstr>Example:  Merge Sort</vt:lpstr>
      <vt:lpstr>Merge Sort – Example </vt:lpstr>
      <vt:lpstr>Merge Sort – Example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Merge-Sort (A, p, r)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Merging two sorted subsequeces</vt:lpstr>
      <vt:lpstr>Time complexity of Merge</vt:lpstr>
      <vt:lpstr>Merge Sort</vt:lpstr>
      <vt:lpstr>Analysis of Merge Sort</vt:lpstr>
      <vt:lpstr>Analysis of Merge Sort</vt:lpstr>
      <vt:lpstr>Analysis of Merge Sort</vt:lpstr>
      <vt:lpstr>Analysis of Merge Sort</vt:lpstr>
      <vt:lpstr>Recursion-tree Method</vt:lpstr>
      <vt:lpstr>Recursion Tree – Example </vt:lpstr>
      <vt:lpstr>Recursion Tree for Merge Sort</vt:lpstr>
      <vt:lpstr>Recursion Tree for Merge Sort</vt:lpstr>
      <vt:lpstr>Recursion Tree for Merge Sort</vt:lpstr>
      <vt:lpstr>Analysis: solving recurrence</vt:lpstr>
      <vt:lpstr>Quiz-1 (31/10/2025)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CSE</cp:lastModifiedBy>
  <cp:revision>151</cp:revision>
  <dcterms:created xsi:type="dcterms:W3CDTF">2014-09-11T18:03:18Z</dcterms:created>
  <dcterms:modified xsi:type="dcterms:W3CDTF">2025-10-24T02:51:04Z</dcterms:modified>
</cp:coreProperties>
</file>