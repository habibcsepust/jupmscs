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8" r:id="rId1"/>
  </p:sldMasterIdLst>
  <p:notesMasterIdLst>
    <p:notesMasterId r:id="rId71"/>
  </p:notesMasterIdLst>
  <p:handoutMasterIdLst>
    <p:handoutMasterId r:id="rId72"/>
  </p:handoutMasterIdLst>
  <p:sldIdLst>
    <p:sldId id="590" r:id="rId2"/>
    <p:sldId id="417" r:id="rId3"/>
    <p:sldId id="418" r:id="rId4"/>
    <p:sldId id="419" r:id="rId5"/>
    <p:sldId id="420" r:id="rId6"/>
    <p:sldId id="421" r:id="rId7"/>
    <p:sldId id="422" r:id="rId8"/>
    <p:sldId id="423" r:id="rId9"/>
    <p:sldId id="579" r:id="rId10"/>
    <p:sldId id="575" r:id="rId11"/>
    <p:sldId id="580" r:id="rId12"/>
    <p:sldId id="581" r:id="rId13"/>
    <p:sldId id="576" r:id="rId14"/>
    <p:sldId id="577" r:id="rId15"/>
    <p:sldId id="582" r:id="rId16"/>
    <p:sldId id="578" r:id="rId17"/>
    <p:sldId id="424" r:id="rId18"/>
    <p:sldId id="425" r:id="rId19"/>
    <p:sldId id="426" r:id="rId20"/>
    <p:sldId id="492" r:id="rId21"/>
    <p:sldId id="493" r:id="rId22"/>
    <p:sldId id="494" r:id="rId23"/>
    <p:sldId id="495" r:id="rId24"/>
    <p:sldId id="496" r:id="rId25"/>
    <p:sldId id="497" r:id="rId26"/>
    <p:sldId id="500" r:id="rId27"/>
    <p:sldId id="499" r:id="rId28"/>
    <p:sldId id="583" r:id="rId29"/>
    <p:sldId id="573" r:id="rId30"/>
    <p:sldId id="574" r:id="rId31"/>
    <p:sldId id="584" r:id="rId32"/>
    <p:sldId id="498" r:id="rId33"/>
    <p:sldId id="430" r:id="rId34"/>
    <p:sldId id="431" r:id="rId35"/>
    <p:sldId id="432" r:id="rId36"/>
    <p:sldId id="433" r:id="rId37"/>
    <p:sldId id="434" r:id="rId38"/>
    <p:sldId id="435" r:id="rId39"/>
    <p:sldId id="436" r:id="rId40"/>
    <p:sldId id="437" r:id="rId41"/>
    <p:sldId id="438" r:id="rId42"/>
    <p:sldId id="439" r:id="rId43"/>
    <p:sldId id="589" r:id="rId44"/>
    <p:sldId id="440" r:id="rId45"/>
    <p:sldId id="441" r:id="rId46"/>
    <p:sldId id="502" r:id="rId47"/>
    <p:sldId id="585" r:id="rId48"/>
    <p:sldId id="364" r:id="rId49"/>
    <p:sldId id="586" r:id="rId50"/>
    <p:sldId id="588" r:id="rId51"/>
    <p:sldId id="521" r:id="rId52"/>
    <p:sldId id="503" r:id="rId53"/>
    <p:sldId id="504" r:id="rId54"/>
    <p:sldId id="505" r:id="rId55"/>
    <p:sldId id="506" r:id="rId56"/>
    <p:sldId id="507" r:id="rId57"/>
    <p:sldId id="508" r:id="rId58"/>
    <p:sldId id="509" r:id="rId59"/>
    <p:sldId id="510" r:id="rId60"/>
    <p:sldId id="511" r:id="rId61"/>
    <p:sldId id="512" r:id="rId62"/>
    <p:sldId id="513" r:id="rId63"/>
    <p:sldId id="514" r:id="rId64"/>
    <p:sldId id="515" r:id="rId65"/>
    <p:sldId id="516" r:id="rId66"/>
    <p:sldId id="517" r:id="rId67"/>
    <p:sldId id="518" r:id="rId68"/>
    <p:sldId id="519" r:id="rId69"/>
    <p:sldId id="520" r:id="rId70"/>
  </p:sldIdLst>
  <p:sldSz cx="9144000" cy="6858000" type="screen4x3"/>
  <p:notesSz cx="9269413" cy="7019925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11">
          <p15:clr>
            <a:srgbClr val="A4A3A4"/>
          </p15:clr>
        </p15:guide>
        <p15:guide id="2" pos="291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3399"/>
    <a:srgbClr val="006600"/>
    <a:srgbClr val="990033"/>
    <a:srgbClr val="CC0000"/>
    <a:srgbClr val="336699"/>
    <a:srgbClr val="008080"/>
    <a:srgbClr val="009999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12" autoAdjust="0"/>
    <p:restoredTop sz="90929"/>
  </p:normalViewPr>
  <p:slideViewPr>
    <p:cSldViewPr snapToGrid="0">
      <p:cViewPr varScale="1">
        <p:scale>
          <a:sx n="80" d="100"/>
          <a:sy n="80" d="100"/>
        </p:scale>
        <p:origin x="1234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-1818" y="-90"/>
      </p:cViewPr>
      <p:guideLst>
        <p:guide orient="horz" pos="2211"/>
        <p:guide pos="291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16375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077" tIns="46538" rIns="93077" bIns="46538" numCol="1" anchor="t" anchorCtr="0" compatLnSpc="1">
            <a:prstTxWarp prst="textNoShape">
              <a:avLst/>
            </a:prstTxWarp>
          </a:bodyPr>
          <a:lstStyle>
            <a:lvl1pPr algn="l" defTabSz="930275">
              <a:defRPr kumimoji="0" sz="1200"/>
            </a:lvl1pPr>
          </a:lstStyle>
          <a:p>
            <a:endParaRPr 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53038" y="0"/>
            <a:ext cx="4016375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077" tIns="46538" rIns="93077" bIns="46538" numCol="1" anchor="t" anchorCtr="0" compatLnSpc="1">
            <a:prstTxWarp prst="textNoShape">
              <a:avLst/>
            </a:prstTxWarp>
          </a:bodyPr>
          <a:lstStyle>
            <a:lvl1pPr algn="r" defTabSz="930275">
              <a:defRPr kumimoji="0" sz="1200"/>
            </a:lvl1pPr>
          </a:lstStyle>
          <a:p>
            <a:fld id="{F2B1BDA1-1197-46BE-BB51-352A5AE68461}" type="datetime1">
              <a:rPr lang="en-US"/>
              <a:pPr/>
              <a:t>8/13/2025</a:t>
            </a:fld>
            <a:endParaRPr lang="en-US"/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69088"/>
            <a:ext cx="4016375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077" tIns="46538" rIns="93077" bIns="46538" numCol="1" anchor="b" anchorCtr="0" compatLnSpc="1">
            <a:prstTxWarp prst="textNoShape">
              <a:avLst/>
            </a:prstTxWarp>
          </a:bodyPr>
          <a:lstStyle>
            <a:lvl1pPr algn="l" defTabSz="930275">
              <a:defRPr kumimoji="0" sz="1200"/>
            </a:lvl1pPr>
          </a:lstStyle>
          <a:p>
            <a:r>
              <a:rPr lang="en-US"/>
              <a:t>Copyright 2000, Kevin Wayne</a:t>
            </a:r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53038" y="6669088"/>
            <a:ext cx="4016375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077" tIns="46538" rIns="93077" bIns="46538" numCol="1" anchor="b" anchorCtr="0" compatLnSpc="1">
            <a:prstTxWarp prst="textNoShape">
              <a:avLst/>
            </a:prstTxWarp>
          </a:bodyPr>
          <a:lstStyle>
            <a:lvl1pPr algn="r" defTabSz="930275">
              <a:defRPr kumimoji="0" sz="1200"/>
            </a:lvl1pPr>
          </a:lstStyle>
          <a:p>
            <a:fld id="{E5CB93C0-48E1-4AA1-8827-114E73AD9D6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9211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8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16375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077" tIns="46538" rIns="93077" bIns="46538" numCol="1" anchor="t" anchorCtr="0" compatLnSpc="1">
            <a:prstTxWarp prst="textNoShape">
              <a:avLst/>
            </a:prstTxWarp>
          </a:bodyPr>
          <a:lstStyle>
            <a:lvl1pPr algn="l" defTabSz="930275">
              <a:defRPr kumimoji="0" sz="1200"/>
            </a:lvl1pPr>
          </a:lstStyle>
          <a:p>
            <a:endParaRPr lang="en-US"/>
          </a:p>
        </p:txBody>
      </p:sp>
      <p:sp>
        <p:nvSpPr>
          <p:cNvPr id="2057" name="Rectangle 9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2879725" y="527050"/>
            <a:ext cx="3509963" cy="26320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8" name="Rectangle 10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38250" y="3335338"/>
            <a:ext cx="6792913" cy="315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077" tIns="46538" rIns="93077" bIns="465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59" name="Rectangle 11"/>
          <p:cNvSpPr>
            <a:spLocks noGrp="1" noChangeArrowheads="1"/>
          </p:cNvSpPr>
          <p:nvPr>
            <p:ph type="dt" idx="1"/>
          </p:nvPr>
        </p:nvSpPr>
        <p:spPr bwMode="auto">
          <a:xfrm>
            <a:off x="5253038" y="0"/>
            <a:ext cx="4016375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077" tIns="46538" rIns="93077" bIns="46538" numCol="1" anchor="t" anchorCtr="0" compatLnSpc="1">
            <a:prstTxWarp prst="textNoShape">
              <a:avLst/>
            </a:prstTxWarp>
          </a:bodyPr>
          <a:lstStyle>
            <a:lvl1pPr algn="r" defTabSz="930275">
              <a:defRPr kumimoji="0" sz="1200"/>
            </a:lvl1pPr>
          </a:lstStyle>
          <a:p>
            <a:fld id="{02BDE992-9853-451E-B21A-67D8DFFE0F6F}" type="datetime1">
              <a:rPr lang="en-US"/>
              <a:pPr/>
              <a:t>8/13/2025</a:t>
            </a:fld>
            <a:endParaRPr lang="en-US"/>
          </a:p>
        </p:txBody>
      </p:sp>
      <p:sp>
        <p:nvSpPr>
          <p:cNvPr id="2060" name="Rectangle 12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669088"/>
            <a:ext cx="4016375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077" tIns="46538" rIns="93077" bIns="46538" numCol="1" anchor="b" anchorCtr="0" compatLnSpc="1">
            <a:prstTxWarp prst="textNoShape">
              <a:avLst/>
            </a:prstTxWarp>
          </a:bodyPr>
          <a:lstStyle>
            <a:lvl1pPr algn="l" defTabSz="930275">
              <a:defRPr kumimoji="0" sz="1200"/>
            </a:lvl1pPr>
          </a:lstStyle>
          <a:p>
            <a:r>
              <a:rPr lang="en-US"/>
              <a:t>Copyright 2000, Kevin Wayne</a:t>
            </a:r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53038" y="6669088"/>
            <a:ext cx="4016375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077" tIns="46538" rIns="93077" bIns="46538" numCol="1" anchor="b" anchorCtr="0" compatLnSpc="1">
            <a:prstTxWarp prst="textNoShape">
              <a:avLst/>
            </a:prstTxWarp>
          </a:bodyPr>
          <a:lstStyle>
            <a:lvl1pPr algn="r" defTabSz="930275">
              <a:defRPr kumimoji="0" sz="1200"/>
            </a:lvl1pPr>
          </a:lstStyle>
          <a:p>
            <a:fld id="{203D567B-66E3-4333-A455-12ED0AF9BF8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35694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8352413" indent="-3789045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504D26E-D508-49D9-BC47-8B86D4371288}" type="slidenum">
              <a:rPr lang="en-US" altLang="en-US" sz="1200" i="0">
                <a:ea typeface="MS PGothic" panose="020B0600070205080204" pitchFamily="34" charset="-128"/>
              </a:rPr>
              <a:pPr/>
              <a:t>10</a:t>
            </a:fld>
            <a:endParaRPr lang="en-US" altLang="en-US" sz="1200" i="0">
              <a:ea typeface="MS PGothic" panose="020B0600070205080204" pitchFamily="34" charset="-128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734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8352413" indent="-3789045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323716-4116-4235-A1B2-F69F47EEA4AD}" type="slidenum">
              <a:rPr lang="en-US" altLang="en-US" sz="1200" i="0">
                <a:ea typeface="MS PGothic" panose="020B0600070205080204" pitchFamily="34" charset="-128"/>
              </a:rPr>
              <a:pPr/>
              <a:t>14</a:t>
            </a:fld>
            <a:endParaRPr lang="en-US" altLang="en-US" sz="1200" i="0">
              <a:ea typeface="MS PGothic" panose="020B0600070205080204" pitchFamily="34" charset="-128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06562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0888" indent="-287338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54113" indent="-230188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17663" indent="-230188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79625" indent="-230188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36825" indent="-230188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94025" indent="-230188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51225" indent="-230188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08425" indent="-230188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9AD090D-7E4C-4229-BA51-12D065A79E1C}" type="slidenum">
              <a:rPr lang="en-US" altLang="en-US" sz="1200" i="0">
                <a:latin typeface="Times New Roman" panose="02020603050405020304" pitchFamily="18" charset="0"/>
              </a:rPr>
              <a:pPr eaLnBrk="1" hangingPunct="1"/>
              <a:t>16</a:t>
            </a:fld>
            <a:endParaRPr lang="en-US" altLang="en-US" sz="1200" i="0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19364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8352413" indent="-3789045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671091-843D-456E-8609-19DF8F08756E}" type="slidenum">
              <a:rPr lang="en-US" altLang="en-US" sz="1200" i="0">
                <a:ea typeface="MS PGothic" panose="020B0600070205080204" pitchFamily="34" charset="-128"/>
              </a:rPr>
              <a:pPr/>
              <a:t>18</a:t>
            </a:fld>
            <a:endParaRPr lang="en-US" altLang="en-US" sz="1200" i="0">
              <a:ea typeface="MS PGothic" panose="020B0600070205080204" pitchFamily="34" charset="-128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5460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8352413" indent="-3789045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956EBCA-9086-4961-AE62-927C4DA5F634}" type="slidenum">
              <a:rPr lang="en-US" altLang="en-US" sz="1200" i="0">
                <a:ea typeface="MS PGothic" panose="020B0600070205080204" pitchFamily="34" charset="-128"/>
              </a:rPr>
              <a:pPr/>
              <a:t>30</a:t>
            </a:fld>
            <a:endParaRPr lang="en-US" altLang="en-US" sz="1200" i="0">
              <a:ea typeface="MS PGothic" panose="020B0600070205080204" pitchFamily="34" charset="-128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3552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3D567B-66E3-4333-A455-12ED0AF9BF82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9744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8352413" indent="-3789045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D0EA0AE-A29E-40C9-ABA4-D19846CAAE81}" type="slidenum">
              <a:rPr lang="en-US" altLang="en-US" sz="1200" i="0">
                <a:ea typeface="MS PGothic" panose="020B0600070205080204" pitchFamily="34" charset="-128"/>
              </a:rPr>
              <a:pPr/>
              <a:t>44</a:t>
            </a:fld>
            <a:endParaRPr lang="en-US" altLang="en-US" sz="1200" i="0">
              <a:ea typeface="MS PGothic" panose="020B0600070205080204" pitchFamily="34" charset="-128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56864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8352413" indent="-3789045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A1B1FEB-2252-464A-B684-C2C8F8DDAED4}" type="slidenum">
              <a:rPr lang="en-US" altLang="en-US" sz="1200" i="0">
                <a:ea typeface="MS PGothic" panose="020B0600070205080204" pitchFamily="34" charset="-128"/>
              </a:rPr>
              <a:pPr/>
              <a:t>69</a:t>
            </a:fld>
            <a:endParaRPr lang="en-US" altLang="en-US" sz="1200" i="0">
              <a:ea typeface="MS PGothic" panose="020B0600070205080204" pitchFamily="34" charset="-128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16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10" name="Line 2"/>
          <p:cNvSpPr>
            <a:spLocks noChangeShapeType="1"/>
          </p:cNvSpPr>
          <p:nvPr/>
        </p:nvSpPr>
        <p:spPr bwMode="auto">
          <a:xfrm>
            <a:off x="0" y="1708150"/>
            <a:ext cx="9147175" cy="0"/>
          </a:xfrm>
          <a:prstGeom prst="line">
            <a:avLst/>
          </a:prstGeom>
          <a:noFill/>
          <a:ln w="12700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811" name="Rectangle 3"/>
          <p:cNvSpPr>
            <a:spLocks noGrp="1" noChangeArrowheads="1"/>
          </p:cNvSpPr>
          <p:nvPr>
            <p:ph type="ctrTitle" sz="quarter"/>
          </p:nvPr>
        </p:nvSpPr>
        <p:spPr>
          <a:xfrm>
            <a:off x="0" y="0"/>
            <a:ext cx="9144000" cy="1524000"/>
          </a:xfrm>
        </p:spPr>
        <p:txBody>
          <a:bodyPr anchor="b"/>
          <a:lstStyle>
            <a:lvl1pPr>
              <a:lnSpc>
                <a:spcPct val="80000"/>
              </a:lnSpc>
              <a:defRPr sz="3200">
                <a:solidFill>
                  <a:schemeClr val="folHlink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03812" name="Text Box 4"/>
          <p:cNvSpPr txBox="1">
            <a:spLocks noChangeArrowheads="1"/>
          </p:cNvSpPr>
          <p:nvPr/>
        </p:nvSpPr>
        <p:spPr bwMode="auto">
          <a:xfrm>
            <a:off x="0" y="6613525"/>
            <a:ext cx="9144000" cy="26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/>
              <a:t>Robert Sedgewick and Kevin Wayne   •   Copyright © 2005   •   http://www.Princeton.EDU/~cos226</a:t>
            </a:r>
          </a:p>
        </p:txBody>
      </p:sp>
      <p:sp>
        <p:nvSpPr>
          <p:cNvPr id="503813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220788" y="2671763"/>
            <a:ext cx="7162800" cy="3094037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/>
          <a:lstStyle>
            <a:lvl1pPr defTabSz="915988">
              <a:defRPr sz="16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C09D332-E1FE-4CAF-9CBA-71DE4C5B12F5}" type="slidenum">
              <a:rPr lang="en-US"/>
              <a:pPr/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619318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0C174B9-95C5-4E01-A7CF-C29324A60204}" type="slidenum">
              <a:rPr lang="en-US"/>
              <a:pPr/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648403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914400"/>
            <a:ext cx="38481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914400"/>
            <a:ext cx="38481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DB72952-C839-4825-AF8D-E0B254108D24}" type="slidenum">
              <a:rPr lang="en-US"/>
              <a:pPr/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410199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20B0317-D8F1-43EC-8899-826B4AAF9142}" type="slidenum">
              <a:rPr lang="en-US"/>
              <a:pPr/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589398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361D946-2D2B-49BF-9AA0-2A71C02E4B4F}" type="slidenum">
              <a:rPr lang="en-US"/>
              <a:pPr/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857825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03A1D6B-91EE-47DB-ACB9-BA6A102C730E}" type="slidenum">
              <a:rPr lang="en-US"/>
              <a:pPr/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075782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BDB447E-DF85-4030-8623-AD59BA645880}" type="slidenum">
              <a:rPr lang="en-US"/>
              <a:pPr/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104690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FAA80EE-F28F-4BAC-BD87-5B535E00D034}" type="slidenum">
              <a:rPr lang="en-US"/>
              <a:pPr/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586785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EF12FF8-105F-4BD7-A429-CBEE2C463890}" type="slidenum">
              <a:rPr lang="en-US"/>
              <a:pPr/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200757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152400"/>
            <a:ext cx="22860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152400"/>
            <a:ext cx="67056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39D55AA-E710-41E6-ABDC-826A737CB475}" type="slidenum">
              <a:rPr lang="en-US"/>
              <a:pPr/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234878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027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914400"/>
            <a:ext cx="784860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0278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6294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800"/>
            </a:lvl1pPr>
          </a:lstStyle>
          <a:p>
            <a:fld id="{88223C95-6366-4A82-9F7B-FFEE9E9EB8B4}" type="slidenum">
              <a:rPr lang="en-US"/>
              <a:pPr/>
              <a:t>‹#›</a:t>
            </a:fld>
            <a:endParaRPr lang="en-US" sz="1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 dt="0"/>
  <p:txStyles>
    <p:titleStyle>
      <a:lvl1pPr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 kern="1200">
          <a:solidFill>
            <a:schemeClr val="hlink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hlink"/>
          </a:solidFill>
          <a:latin typeface="Comic Sans MS" panose="030F0702030302020204" pitchFamily="66" charset="0"/>
        </a:defRPr>
      </a:lvl2pPr>
      <a:lvl3pPr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hlink"/>
          </a:solidFill>
          <a:latin typeface="Comic Sans MS" panose="030F0702030302020204" pitchFamily="66" charset="0"/>
        </a:defRPr>
      </a:lvl3pPr>
      <a:lvl4pPr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hlink"/>
          </a:solidFill>
          <a:latin typeface="Comic Sans MS" panose="030F0702030302020204" pitchFamily="66" charset="0"/>
        </a:defRPr>
      </a:lvl4pPr>
      <a:lvl5pPr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hlink"/>
          </a:solidFill>
          <a:latin typeface="Comic Sans MS" panose="030F0702030302020204" pitchFamily="66" charset="0"/>
        </a:defRPr>
      </a:lvl5pPr>
      <a:lvl6pPr marL="457200"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hlink"/>
          </a:solidFill>
          <a:latin typeface="Comic Sans MS" panose="030F0702030302020204" pitchFamily="66" charset="0"/>
        </a:defRPr>
      </a:lvl6pPr>
      <a:lvl7pPr marL="914400"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hlink"/>
          </a:solidFill>
          <a:latin typeface="Comic Sans MS" panose="030F0702030302020204" pitchFamily="66" charset="0"/>
        </a:defRPr>
      </a:lvl7pPr>
      <a:lvl8pPr marL="1371600"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hlink"/>
          </a:solidFill>
          <a:latin typeface="Comic Sans MS" panose="030F0702030302020204" pitchFamily="66" charset="0"/>
        </a:defRPr>
      </a:lvl8pPr>
      <a:lvl9pPr marL="1828800"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hlink"/>
          </a:solidFill>
          <a:latin typeface="Comic Sans MS" panose="030F0702030302020204" pitchFamily="66" charset="0"/>
        </a:defRPr>
      </a:lvl9pPr>
    </p:titleStyle>
    <p:bodyStyle>
      <a:lvl1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buClr>
          <a:srgbClr val="003399"/>
        </a:buClr>
        <a:buSzPct val="50000"/>
        <a:buFont typeface="Monotype Sorts" pitchFamily="-110" charset="2"/>
        <a:defRPr kumimoji="1" kern="1200">
          <a:solidFill>
            <a:srgbClr val="003399"/>
          </a:solidFill>
          <a:latin typeface="+mn-lt"/>
          <a:ea typeface="+mn-ea"/>
          <a:cs typeface="+mn-cs"/>
        </a:defRPr>
      </a:lvl1pPr>
      <a:lvl2pPr marL="346075" indent="-231775"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buClr>
          <a:schemeClr val="tx1"/>
        </a:buClr>
        <a:buSzPct val="35000"/>
        <a:buFont typeface="Monotype Sorts" pitchFamily="-110" charset="2"/>
        <a:buChar char="n"/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627063" indent="-166688"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buClr>
          <a:schemeClr val="tx1"/>
        </a:buClr>
        <a:buSzPct val="80000"/>
        <a:buChar char="–"/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147763" indent="-404813"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!"/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539875" indent="-169863"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buClr>
          <a:schemeClr val="tx1"/>
        </a:buClr>
        <a:buSzPct val="100000"/>
        <a:buChar char="–"/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689367" y="880058"/>
            <a:ext cx="7765269" cy="1441802"/>
          </a:xfrm>
          <a:prstGeom prst="rect">
            <a:avLst/>
          </a:prstGeom>
        </p:spPr>
        <p:txBody>
          <a:bodyPr vert="horz" lIns="91356" tIns="45679" rIns="91356" bIns="45679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1199"/>
              </a:spcAft>
            </a:pPr>
            <a:r>
              <a:rPr lang="en-US" altLang="en-US" sz="6595" b="1" dirty="0" smtClean="0"/>
              <a:t>Data Structure and Algorithm </a:t>
            </a:r>
            <a:r>
              <a:rPr lang="en-US" altLang="en-US" sz="4796" b="1" dirty="0" smtClean="0"/>
              <a:t>(</a:t>
            </a:r>
            <a:r>
              <a:rPr lang="en-US" altLang="en-US" sz="4796" b="1" dirty="0"/>
              <a:t>PMSCS </a:t>
            </a:r>
            <a:r>
              <a:rPr lang="en-US" altLang="en-US" sz="4796" b="1" dirty="0" smtClean="0"/>
              <a:t>623P)</a:t>
            </a:r>
            <a:endParaRPr lang="en-US" altLang="en-US" sz="4796" b="1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374536" y="4038042"/>
            <a:ext cx="6394928" cy="1750993"/>
          </a:xfrm>
          <a:prstGeom prst="rect">
            <a:avLst/>
          </a:prstGeom>
        </p:spPr>
        <p:txBody>
          <a:bodyPr rtlCol="0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9983" dirty="0"/>
              <a:t>Lecture </a:t>
            </a:r>
            <a:r>
              <a:rPr lang="en-US" sz="19983" dirty="0" smtClean="0"/>
              <a:t>16</a:t>
            </a:r>
            <a:endParaRPr lang="en-US" sz="19185" dirty="0"/>
          </a:p>
          <a:p>
            <a:pPr marL="0" indent="0" algn="ctr">
              <a:buNone/>
              <a:defRPr/>
            </a:pPr>
            <a:r>
              <a:rPr lang="en-US" sz="12300" dirty="0">
                <a:solidFill>
                  <a:srgbClr val="003399"/>
                </a:solidFill>
              </a:rPr>
              <a:t>Graph-Based Algorithms</a:t>
            </a:r>
            <a:endParaRPr lang="en-US" sz="8000" dirty="0">
              <a:solidFill>
                <a:schemeClr val="accent1">
                  <a:lumMod val="50000"/>
                </a:schemeClr>
              </a:solidFill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1039997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2740"/>
            <a:ext cx="9144000" cy="607256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</a:rPr>
              <a:t>What is a Graph?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889" y="1115464"/>
            <a:ext cx="8024367" cy="546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493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012"/>
            <a:ext cx="9144000" cy="45720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tx1"/>
                </a:solidFill>
              </a:rPr>
              <a:t>Examples of graphs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75" y="1323930"/>
            <a:ext cx="8832497" cy="431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356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8672"/>
            <a:ext cx="9144000" cy="45720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tx1"/>
                </a:solidFill>
              </a:rPr>
              <a:t>What is a Graph?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09" y="815397"/>
            <a:ext cx="8482455" cy="58988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355011" y="6167887"/>
            <a:ext cx="4330461" cy="3623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511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50877"/>
            <a:ext cx="9144000" cy="45720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tx1"/>
                </a:solidFill>
              </a:rPr>
              <a:t>Directed vs. undirected graphs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77" y="1126348"/>
            <a:ext cx="8664920" cy="523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479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94604"/>
            <a:ext cx="9144000" cy="45720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tx1"/>
                </a:solidFill>
              </a:rPr>
              <a:t>Weighted graphs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36" y="894473"/>
            <a:ext cx="8660202" cy="5731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825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80536"/>
            <a:ext cx="9144000" cy="45720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tx1"/>
                </a:solidFill>
              </a:rPr>
              <a:t>Degree of vertices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87" y="812211"/>
            <a:ext cx="8434220" cy="586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460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/>
                </a:solidFill>
              </a:rPr>
              <a:t>Degree of vertices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98" y="866337"/>
            <a:ext cx="8357977" cy="581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273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64944"/>
            <a:ext cx="9144000" cy="457200"/>
          </a:xfrm>
        </p:spPr>
        <p:txBody>
          <a:bodyPr/>
          <a:lstStyle/>
          <a:p>
            <a:r>
              <a:rPr lang="en-US" sz="3200" b="1" dirty="0">
                <a:solidFill>
                  <a:schemeClr val="tx1"/>
                </a:solidFill>
              </a:rPr>
              <a:t>Representing Graphs</a:t>
            </a:r>
          </a:p>
        </p:txBody>
      </p:sp>
      <p:sp>
        <p:nvSpPr>
          <p:cNvPr id="1160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78636"/>
            <a:ext cx="7848600" cy="4923690"/>
          </a:xfrm>
        </p:spPr>
        <p:txBody>
          <a:bodyPr/>
          <a:lstStyle/>
          <a:p>
            <a:pPr algn="just">
              <a:spcBef>
                <a:spcPts val="1200"/>
              </a:spcBef>
            </a:pPr>
            <a:r>
              <a:rPr lang="en-US" sz="2400" dirty="0"/>
              <a:t>Assume V = {1, 2, …, </a:t>
            </a:r>
            <a:r>
              <a:rPr lang="en-US" sz="2400" i="1" dirty="0"/>
              <a:t>n</a:t>
            </a:r>
            <a:r>
              <a:rPr lang="en-US" sz="2400" dirty="0"/>
              <a:t>}</a:t>
            </a:r>
          </a:p>
          <a:p>
            <a:pPr algn="just">
              <a:spcBef>
                <a:spcPts val="1200"/>
              </a:spcBef>
            </a:pPr>
            <a:r>
              <a:rPr lang="en-US" sz="2400" dirty="0"/>
              <a:t>An </a:t>
            </a:r>
            <a:r>
              <a:rPr lang="en-US" sz="2400" i="1" dirty="0">
                <a:solidFill>
                  <a:schemeClr val="tx1"/>
                </a:solidFill>
              </a:rPr>
              <a:t>adjacency matrix </a:t>
            </a:r>
            <a:r>
              <a:rPr lang="en-US" sz="2400" dirty="0"/>
              <a:t>represents the graph as a </a:t>
            </a:r>
            <a:r>
              <a:rPr lang="en-US" sz="2400" i="1" dirty="0"/>
              <a:t>n </a:t>
            </a:r>
            <a:r>
              <a:rPr lang="en-US" sz="2400" dirty="0"/>
              <a:t>x </a:t>
            </a:r>
            <a:r>
              <a:rPr lang="en-US" sz="2400" i="1" dirty="0"/>
              <a:t>n</a:t>
            </a:r>
            <a:r>
              <a:rPr lang="en-US" sz="2400" dirty="0"/>
              <a:t> matrix A:</a:t>
            </a:r>
          </a:p>
          <a:p>
            <a:pPr lvl="1" algn="just">
              <a:lnSpc>
                <a:spcPct val="150000"/>
              </a:lnSpc>
              <a:spcBef>
                <a:spcPts val="1200"/>
              </a:spcBef>
            </a:pPr>
            <a:r>
              <a:rPr lang="en-US" sz="2400" dirty="0"/>
              <a:t>A[</a:t>
            </a:r>
            <a:r>
              <a:rPr lang="en-US" sz="2400" i="1" dirty="0" err="1"/>
              <a:t>i</a:t>
            </a:r>
            <a:r>
              <a:rPr lang="en-US" sz="2400" dirty="0"/>
              <a:t>, </a:t>
            </a:r>
            <a:r>
              <a:rPr lang="en-US" sz="2400" i="1" dirty="0"/>
              <a:t>j</a:t>
            </a:r>
            <a:r>
              <a:rPr lang="en-US" sz="2400" dirty="0"/>
              <a:t>] 	= 1 if edge (</a:t>
            </a:r>
            <a:r>
              <a:rPr lang="en-US" sz="2400" i="1" dirty="0" err="1"/>
              <a:t>i</a:t>
            </a:r>
            <a:r>
              <a:rPr lang="en-US" sz="2400" dirty="0"/>
              <a:t>, </a:t>
            </a:r>
            <a:r>
              <a:rPr lang="en-US" sz="2400" i="1" dirty="0"/>
              <a:t>j</a:t>
            </a:r>
            <a:r>
              <a:rPr lang="en-US" sz="2400" dirty="0"/>
              <a:t>) </a:t>
            </a:r>
            <a:r>
              <a:rPr lang="en-US" sz="2400" dirty="0">
                <a:sym typeface="Symbol" pitchFamily="18" charset="2"/>
              </a:rPr>
              <a:t> </a:t>
            </a:r>
            <a:r>
              <a:rPr lang="en-US" sz="2400" dirty="0"/>
              <a:t>E   (or weight of edge)</a:t>
            </a:r>
            <a:br>
              <a:rPr lang="en-US" sz="2400" dirty="0"/>
            </a:br>
            <a:r>
              <a:rPr lang="en-US" sz="2400" dirty="0"/>
              <a:t>		= 0 if edge (</a:t>
            </a:r>
            <a:r>
              <a:rPr lang="en-US" sz="2400" i="1" dirty="0" err="1"/>
              <a:t>i</a:t>
            </a:r>
            <a:r>
              <a:rPr lang="en-US" sz="2400" dirty="0"/>
              <a:t>, </a:t>
            </a:r>
            <a:r>
              <a:rPr lang="en-US" sz="2400" i="1" dirty="0"/>
              <a:t>j</a:t>
            </a:r>
            <a:r>
              <a:rPr lang="en-US" sz="2400" dirty="0"/>
              <a:t>) </a:t>
            </a:r>
            <a:r>
              <a:rPr lang="en-US" sz="2400" dirty="0">
                <a:sym typeface="Symbol" pitchFamily="18" charset="2"/>
              </a:rPr>
              <a:t> E</a:t>
            </a:r>
          </a:p>
          <a:p>
            <a:pPr algn="just">
              <a:spcBef>
                <a:spcPts val="1200"/>
              </a:spcBef>
            </a:pPr>
            <a:endParaRPr lang="en-US" sz="2400" dirty="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504736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94604"/>
            <a:ext cx="9144000" cy="457200"/>
          </a:xfrm>
        </p:spPr>
        <p:txBody>
          <a:bodyPr>
            <a:normAutofit/>
          </a:bodyPr>
          <a:lstStyle/>
          <a:p>
            <a:r>
              <a:rPr lang="en-US" altLang="en-US" sz="2800" b="1" dirty="0">
                <a:solidFill>
                  <a:schemeClr val="tx1"/>
                </a:solidFill>
              </a:rPr>
              <a:t>Adjacency Matrix Representation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4099" name="Group 100"/>
          <p:cNvGrpSpPr>
            <a:grpSpLocks/>
          </p:cNvGrpSpPr>
          <p:nvPr/>
        </p:nvGrpSpPr>
        <p:grpSpPr bwMode="auto">
          <a:xfrm>
            <a:off x="1143000" y="2133600"/>
            <a:ext cx="2590800" cy="1681163"/>
            <a:chOff x="720" y="1344"/>
            <a:chExt cx="1632" cy="1059"/>
          </a:xfrm>
        </p:grpSpPr>
        <p:grpSp>
          <p:nvGrpSpPr>
            <p:cNvPr id="4162" name="Group 3"/>
            <p:cNvGrpSpPr>
              <a:grpSpLocks/>
            </p:cNvGrpSpPr>
            <p:nvPr/>
          </p:nvGrpSpPr>
          <p:grpSpPr bwMode="auto">
            <a:xfrm>
              <a:off x="768" y="1344"/>
              <a:ext cx="288" cy="291"/>
              <a:chOff x="1200" y="1488"/>
              <a:chExt cx="288" cy="291"/>
            </a:xfrm>
          </p:grpSpPr>
          <p:sp>
            <p:nvSpPr>
              <p:cNvPr id="4181" name="Oval 4"/>
              <p:cNvSpPr>
                <a:spLocks noChangeArrowheads="1"/>
              </p:cNvSpPr>
              <p:nvPr/>
            </p:nvSpPr>
            <p:spPr bwMode="auto">
              <a:xfrm>
                <a:off x="1200" y="1488"/>
                <a:ext cx="288" cy="288"/>
              </a:xfrm>
              <a:prstGeom prst="ellips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37931725" indent="-37474525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2400">
                  <a:latin typeface="Franklin Gothic Book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4182" name="Text Box 5"/>
              <p:cNvSpPr txBox="1">
                <a:spLocks noChangeArrowheads="1"/>
              </p:cNvSpPr>
              <p:nvPr/>
            </p:nvSpPr>
            <p:spPr bwMode="auto">
              <a:xfrm>
                <a:off x="1248" y="1488"/>
                <a:ext cx="21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37931725" indent="-37474525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400">
                    <a:latin typeface="Franklin Gothic Book" pitchFamily="34" charset="0"/>
                    <a:ea typeface="MS PGothic" panose="020B0600070205080204" pitchFamily="34" charset="-128"/>
                  </a:rPr>
                  <a:t>a</a:t>
                </a:r>
              </a:p>
            </p:txBody>
          </p:sp>
        </p:grpSp>
        <p:grpSp>
          <p:nvGrpSpPr>
            <p:cNvPr id="4163" name="Group 6"/>
            <p:cNvGrpSpPr>
              <a:grpSpLocks/>
            </p:cNvGrpSpPr>
            <p:nvPr/>
          </p:nvGrpSpPr>
          <p:grpSpPr bwMode="auto">
            <a:xfrm>
              <a:off x="720" y="2112"/>
              <a:ext cx="288" cy="288"/>
              <a:chOff x="1200" y="1488"/>
              <a:chExt cx="288" cy="288"/>
            </a:xfrm>
          </p:grpSpPr>
          <p:sp>
            <p:nvSpPr>
              <p:cNvPr id="4179" name="Oval 7"/>
              <p:cNvSpPr>
                <a:spLocks noChangeArrowheads="1"/>
              </p:cNvSpPr>
              <p:nvPr/>
            </p:nvSpPr>
            <p:spPr bwMode="auto">
              <a:xfrm>
                <a:off x="1200" y="1488"/>
                <a:ext cx="288" cy="288"/>
              </a:xfrm>
              <a:prstGeom prst="ellips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37931725" indent="-37474525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2400">
                  <a:latin typeface="Franklin Gothic Book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4180" name="Text Box 8"/>
              <p:cNvSpPr txBox="1">
                <a:spLocks noChangeArrowheads="1"/>
              </p:cNvSpPr>
              <p:nvPr/>
            </p:nvSpPr>
            <p:spPr bwMode="auto">
              <a:xfrm>
                <a:off x="1248" y="1488"/>
                <a:ext cx="2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37931725" indent="-37474525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400">
                    <a:latin typeface="Franklin Gothic Book" pitchFamily="34" charset="0"/>
                    <a:ea typeface="MS PGothic" panose="020B0600070205080204" pitchFamily="34" charset="-128"/>
                  </a:rPr>
                  <a:t>c</a:t>
                </a:r>
              </a:p>
            </p:txBody>
          </p:sp>
        </p:grpSp>
        <p:sp>
          <p:nvSpPr>
            <p:cNvPr id="4164" name="Line 9"/>
            <p:cNvSpPr>
              <a:spLocks noChangeShapeType="1"/>
            </p:cNvSpPr>
            <p:nvPr/>
          </p:nvSpPr>
          <p:spPr bwMode="auto">
            <a:xfrm flipV="1">
              <a:off x="864" y="1632"/>
              <a:ext cx="0" cy="48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5" name="Line 10"/>
            <p:cNvSpPr>
              <a:spLocks noChangeShapeType="1"/>
            </p:cNvSpPr>
            <p:nvPr/>
          </p:nvSpPr>
          <p:spPr bwMode="auto">
            <a:xfrm flipH="1" flipV="1">
              <a:off x="1056" y="1488"/>
              <a:ext cx="432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166" name="Group 11"/>
            <p:cNvGrpSpPr>
              <a:grpSpLocks/>
            </p:cNvGrpSpPr>
            <p:nvPr/>
          </p:nvGrpSpPr>
          <p:grpSpPr bwMode="auto">
            <a:xfrm>
              <a:off x="1440" y="2112"/>
              <a:ext cx="288" cy="291"/>
              <a:chOff x="1200" y="1488"/>
              <a:chExt cx="288" cy="291"/>
            </a:xfrm>
          </p:grpSpPr>
          <p:sp>
            <p:nvSpPr>
              <p:cNvPr id="4177" name="Oval 12"/>
              <p:cNvSpPr>
                <a:spLocks noChangeArrowheads="1"/>
              </p:cNvSpPr>
              <p:nvPr/>
            </p:nvSpPr>
            <p:spPr bwMode="auto">
              <a:xfrm>
                <a:off x="1200" y="1488"/>
                <a:ext cx="288" cy="288"/>
              </a:xfrm>
              <a:prstGeom prst="ellips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37931725" indent="-37474525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2400">
                  <a:latin typeface="Franklin Gothic Book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4178" name="Text Box 13"/>
              <p:cNvSpPr txBox="1">
                <a:spLocks noChangeArrowheads="1"/>
              </p:cNvSpPr>
              <p:nvPr/>
            </p:nvSpPr>
            <p:spPr bwMode="auto">
              <a:xfrm>
                <a:off x="1248" y="1488"/>
                <a:ext cx="224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37931725" indent="-37474525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400" dirty="0">
                    <a:latin typeface="Franklin Gothic Book" pitchFamily="34" charset="0"/>
                    <a:ea typeface="MS PGothic" panose="020B0600070205080204" pitchFamily="34" charset="-128"/>
                  </a:rPr>
                  <a:t>d</a:t>
                </a:r>
              </a:p>
            </p:txBody>
          </p:sp>
        </p:grpSp>
        <p:grpSp>
          <p:nvGrpSpPr>
            <p:cNvPr id="4167" name="Group 14"/>
            <p:cNvGrpSpPr>
              <a:grpSpLocks/>
            </p:cNvGrpSpPr>
            <p:nvPr/>
          </p:nvGrpSpPr>
          <p:grpSpPr bwMode="auto">
            <a:xfrm>
              <a:off x="1488" y="1344"/>
              <a:ext cx="288" cy="291"/>
              <a:chOff x="1200" y="1488"/>
              <a:chExt cx="288" cy="291"/>
            </a:xfrm>
          </p:grpSpPr>
          <p:sp>
            <p:nvSpPr>
              <p:cNvPr id="4175" name="Oval 15"/>
              <p:cNvSpPr>
                <a:spLocks noChangeArrowheads="1"/>
              </p:cNvSpPr>
              <p:nvPr/>
            </p:nvSpPr>
            <p:spPr bwMode="auto">
              <a:xfrm>
                <a:off x="1200" y="1488"/>
                <a:ext cx="288" cy="288"/>
              </a:xfrm>
              <a:prstGeom prst="ellips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37931725" indent="-37474525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2400">
                  <a:latin typeface="Franklin Gothic Book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4176" name="Text Box 16"/>
              <p:cNvSpPr txBox="1">
                <a:spLocks noChangeArrowheads="1"/>
              </p:cNvSpPr>
              <p:nvPr/>
            </p:nvSpPr>
            <p:spPr bwMode="auto">
              <a:xfrm>
                <a:off x="1248" y="1488"/>
                <a:ext cx="220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37931725" indent="-37474525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400">
                    <a:latin typeface="Franklin Gothic Book" pitchFamily="34" charset="0"/>
                    <a:ea typeface="MS PGothic" panose="020B0600070205080204" pitchFamily="34" charset="-128"/>
                  </a:rPr>
                  <a:t>b</a:t>
                </a:r>
              </a:p>
            </p:txBody>
          </p:sp>
        </p:grpSp>
        <p:grpSp>
          <p:nvGrpSpPr>
            <p:cNvPr id="4168" name="Group 17"/>
            <p:cNvGrpSpPr>
              <a:grpSpLocks/>
            </p:cNvGrpSpPr>
            <p:nvPr/>
          </p:nvGrpSpPr>
          <p:grpSpPr bwMode="auto">
            <a:xfrm>
              <a:off x="2064" y="1728"/>
              <a:ext cx="288" cy="291"/>
              <a:chOff x="1200" y="1488"/>
              <a:chExt cx="288" cy="291"/>
            </a:xfrm>
          </p:grpSpPr>
          <p:sp>
            <p:nvSpPr>
              <p:cNvPr id="4173" name="Oval 18"/>
              <p:cNvSpPr>
                <a:spLocks noChangeArrowheads="1"/>
              </p:cNvSpPr>
              <p:nvPr/>
            </p:nvSpPr>
            <p:spPr bwMode="auto">
              <a:xfrm>
                <a:off x="1200" y="1488"/>
                <a:ext cx="288" cy="288"/>
              </a:xfrm>
              <a:prstGeom prst="ellips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37931725" indent="-37474525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2400">
                  <a:latin typeface="Franklin Gothic Book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4174" name="Text Box 19"/>
              <p:cNvSpPr txBox="1">
                <a:spLocks noChangeArrowheads="1"/>
              </p:cNvSpPr>
              <p:nvPr/>
            </p:nvSpPr>
            <p:spPr bwMode="auto">
              <a:xfrm>
                <a:off x="1248" y="1488"/>
                <a:ext cx="224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37931725" indent="-37474525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400" dirty="0">
                    <a:latin typeface="Franklin Gothic Book" pitchFamily="34" charset="0"/>
                    <a:ea typeface="MS PGothic" panose="020B0600070205080204" pitchFamily="34" charset="-128"/>
                  </a:rPr>
                  <a:t>e</a:t>
                </a:r>
              </a:p>
            </p:txBody>
          </p:sp>
        </p:grpSp>
        <p:sp>
          <p:nvSpPr>
            <p:cNvPr id="4169" name="Line 20"/>
            <p:cNvSpPr>
              <a:spLocks noChangeShapeType="1"/>
            </p:cNvSpPr>
            <p:nvPr/>
          </p:nvSpPr>
          <p:spPr bwMode="auto">
            <a:xfrm flipH="1" flipV="1">
              <a:off x="1008" y="2256"/>
              <a:ext cx="432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0" name="Line 21"/>
            <p:cNvSpPr>
              <a:spLocks noChangeShapeType="1"/>
            </p:cNvSpPr>
            <p:nvPr/>
          </p:nvSpPr>
          <p:spPr bwMode="auto">
            <a:xfrm flipV="1">
              <a:off x="1584" y="1632"/>
              <a:ext cx="0" cy="48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1" name="Line 22"/>
            <p:cNvSpPr>
              <a:spLocks noChangeShapeType="1"/>
            </p:cNvSpPr>
            <p:nvPr/>
          </p:nvSpPr>
          <p:spPr bwMode="auto">
            <a:xfrm flipH="1" flipV="1">
              <a:off x="1776" y="1536"/>
              <a:ext cx="288" cy="24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2" name="Line 23"/>
            <p:cNvSpPr>
              <a:spLocks noChangeShapeType="1"/>
            </p:cNvSpPr>
            <p:nvPr/>
          </p:nvSpPr>
          <p:spPr bwMode="auto">
            <a:xfrm flipH="1">
              <a:off x="1728" y="1968"/>
              <a:ext cx="384" cy="288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100" name="Group 71"/>
          <p:cNvGrpSpPr>
            <a:grpSpLocks/>
          </p:cNvGrpSpPr>
          <p:nvPr/>
        </p:nvGrpSpPr>
        <p:grpSpPr bwMode="auto">
          <a:xfrm>
            <a:off x="4800600" y="2286000"/>
            <a:ext cx="457200" cy="2286000"/>
            <a:chOff x="3024" y="1440"/>
            <a:chExt cx="288" cy="1440"/>
          </a:xfrm>
        </p:grpSpPr>
        <p:sp>
          <p:nvSpPr>
            <p:cNvPr id="4157" name="Rectangle 24"/>
            <p:cNvSpPr>
              <a:spLocks noChangeArrowheads="1"/>
            </p:cNvSpPr>
            <p:nvPr/>
          </p:nvSpPr>
          <p:spPr bwMode="auto">
            <a:xfrm>
              <a:off x="3024" y="1440"/>
              <a:ext cx="288" cy="288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158" name="Rectangle 25"/>
            <p:cNvSpPr>
              <a:spLocks noChangeArrowheads="1"/>
            </p:cNvSpPr>
            <p:nvPr/>
          </p:nvSpPr>
          <p:spPr bwMode="auto">
            <a:xfrm>
              <a:off x="3024" y="1728"/>
              <a:ext cx="288" cy="288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159" name="Rectangle 26"/>
            <p:cNvSpPr>
              <a:spLocks noChangeArrowheads="1"/>
            </p:cNvSpPr>
            <p:nvPr/>
          </p:nvSpPr>
          <p:spPr bwMode="auto">
            <a:xfrm>
              <a:off x="3024" y="2016"/>
              <a:ext cx="288" cy="288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160" name="Rectangle 27"/>
            <p:cNvSpPr>
              <a:spLocks noChangeArrowheads="1"/>
            </p:cNvSpPr>
            <p:nvPr/>
          </p:nvSpPr>
          <p:spPr bwMode="auto">
            <a:xfrm>
              <a:off x="3024" y="2304"/>
              <a:ext cx="288" cy="288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161" name="Rectangle 28"/>
            <p:cNvSpPr>
              <a:spLocks noChangeArrowheads="1"/>
            </p:cNvSpPr>
            <p:nvPr/>
          </p:nvSpPr>
          <p:spPr bwMode="auto">
            <a:xfrm>
              <a:off x="3024" y="2592"/>
              <a:ext cx="288" cy="288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4101" name="Text Box 53"/>
          <p:cNvSpPr txBox="1">
            <a:spLocks noChangeArrowheads="1"/>
          </p:cNvSpPr>
          <p:nvPr/>
        </p:nvSpPr>
        <p:spPr bwMode="auto">
          <a:xfrm>
            <a:off x="4419600" y="22860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a</a:t>
            </a:r>
          </a:p>
        </p:txBody>
      </p:sp>
      <p:sp>
        <p:nvSpPr>
          <p:cNvPr id="4102" name="Text Box 54"/>
          <p:cNvSpPr txBox="1">
            <a:spLocks noChangeArrowheads="1"/>
          </p:cNvSpPr>
          <p:nvPr/>
        </p:nvSpPr>
        <p:spPr bwMode="auto">
          <a:xfrm>
            <a:off x="4419600" y="27432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b</a:t>
            </a:r>
          </a:p>
        </p:txBody>
      </p:sp>
      <p:sp>
        <p:nvSpPr>
          <p:cNvPr id="4103" name="Text Box 55"/>
          <p:cNvSpPr txBox="1">
            <a:spLocks noChangeArrowheads="1"/>
          </p:cNvSpPr>
          <p:nvPr/>
        </p:nvSpPr>
        <p:spPr bwMode="auto">
          <a:xfrm>
            <a:off x="4464050" y="32004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c</a:t>
            </a:r>
          </a:p>
        </p:txBody>
      </p:sp>
      <p:sp>
        <p:nvSpPr>
          <p:cNvPr id="4104" name="Text Box 56"/>
          <p:cNvSpPr txBox="1">
            <a:spLocks noChangeArrowheads="1"/>
          </p:cNvSpPr>
          <p:nvPr/>
        </p:nvSpPr>
        <p:spPr bwMode="auto">
          <a:xfrm>
            <a:off x="4419600" y="36576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d</a:t>
            </a:r>
          </a:p>
        </p:txBody>
      </p:sp>
      <p:sp>
        <p:nvSpPr>
          <p:cNvPr id="4105" name="Text Box 57"/>
          <p:cNvSpPr txBox="1">
            <a:spLocks noChangeArrowheads="1"/>
          </p:cNvSpPr>
          <p:nvPr/>
        </p:nvSpPr>
        <p:spPr bwMode="auto">
          <a:xfrm>
            <a:off x="4419600" y="41148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e</a:t>
            </a:r>
          </a:p>
        </p:txBody>
      </p:sp>
      <p:grpSp>
        <p:nvGrpSpPr>
          <p:cNvPr id="4107" name="Group 72"/>
          <p:cNvGrpSpPr>
            <a:grpSpLocks/>
          </p:cNvGrpSpPr>
          <p:nvPr/>
        </p:nvGrpSpPr>
        <p:grpSpPr bwMode="auto">
          <a:xfrm>
            <a:off x="5257800" y="2286000"/>
            <a:ext cx="457200" cy="2286000"/>
            <a:chOff x="3024" y="1440"/>
            <a:chExt cx="288" cy="1440"/>
          </a:xfrm>
        </p:grpSpPr>
        <p:sp>
          <p:nvSpPr>
            <p:cNvPr id="4152" name="Rectangle 73"/>
            <p:cNvSpPr>
              <a:spLocks noChangeArrowheads="1"/>
            </p:cNvSpPr>
            <p:nvPr/>
          </p:nvSpPr>
          <p:spPr bwMode="auto">
            <a:xfrm>
              <a:off x="3024" y="1440"/>
              <a:ext cx="288" cy="288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153" name="Rectangle 74"/>
            <p:cNvSpPr>
              <a:spLocks noChangeArrowheads="1"/>
            </p:cNvSpPr>
            <p:nvPr/>
          </p:nvSpPr>
          <p:spPr bwMode="auto">
            <a:xfrm>
              <a:off x="3024" y="1728"/>
              <a:ext cx="288" cy="288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154" name="Rectangle 75"/>
            <p:cNvSpPr>
              <a:spLocks noChangeArrowheads="1"/>
            </p:cNvSpPr>
            <p:nvPr/>
          </p:nvSpPr>
          <p:spPr bwMode="auto">
            <a:xfrm>
              <a:off x="3024" y="2016"/>
              <a:ext cx="288" cy="288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155" name="Rectangle 76"/>
            <p:cNvSpPr>
              <a:spLocks noChangeArrowheads="1"/>
            </p:cNvSpPr>
            <p:nvPr/>
          </p:nvSpPr>
          <p:spPr bwMode="auto">
            <a:xfrm>
              <a:off x="3024" y="2304"/>
              <a:ext cx="288" cy="288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156" name="Rectangle 77"/>
            <p:cNvSpPr>
              <a:spLocks noChangeArrowheads="1"/>
            </p:cNvSpPr>
            <p:nvPr/>
          </p:nvSpPr>
          <p:spPr bwMode="auto">
            <a:xfrm>
              <a:off x="3024" y="2592"/>
              <a:ext cx="288" cy="288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</p:grpSp>
      <p:grpSp>
        <p:nvGrpSpPr>
          <p:cNvPr id="4108" name="Group 78"/>
          <p:cNvGrpSpPr>
            <a:grpSpLocks/>
          </p:cNvGrpSpPr>
          <p:nvPr/>
        </p:nvGrpSpPr>
        <p:grpSpPr bwMode="auto">
          <a:xfrm>
            <a:off x="5715000" y="2286000"/>
            <a:ext cx="457200" cy="2286000"/>
            <a:chOff x="3024" y="1440"/>
            <a:chExt cx="288" cy="1440"/>
          </a:xfrm>
        </p:grpSpPr>
        <p:sp>
          <p:nvSpPr>
            <p:cNvPr id="4147" name="Rectangle 79"/>
            <p:cNvSpPr>
              <a:spLocks noChangeArrowheads="1"/>
            </p:cNvSpPr>
            <p:nvPr/>
          </p:nvSpPr>
          <p:spPr bwMode="auto">
            <a:xfrm>
              <a:off x="3024" y="1440"/>
              <a:ext cx="288" cy="288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148" name="Rectangle 80"/>
            <p:cNvSpPr>
              <a:spLocks noChangeArrowheads="1"/>
            </p:cNvSpPr>
            <p:nvPr/>
          </p:nvSpPr>
          <p:spPr bwMode="auto">
            <a:xfrm>
              <a:off x="3024" y="1728"/>
              <a:ext cx="288" cy="288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149" name="Rectangle 81"/>
            <p:cNvSpPr>
              <a:spLocks noChangeArrowheads="1"/>
            </p:cNvSpPr>
            <p:nvPr/>
          </p:nvSpPr>
          <p:spPr bwMode="auto">
            <a:xfrm>
              <a:off x="3024" y="2016"/>
              <a:ext cx="288" cy="288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150" name="Rectangle 82"/>
            <p:cNvSpPr>
              <a:spLocks noChangeArrowheads="1"/>
            </p:cNvSpPr>
            <p:nvPr/>
          </p:nvSpPr>
          <p:spPr bwMode="auto">
            <a:xfrm>
              <a:off x="3024" y="2304"/>
              <a:ext cx="288" cy="288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151" name="Rectangle 83"/>
            <p:cNvSpPr>
              <a:spLocks noChangeArrowheads="1"/>
            </p:cNvSpPr>
            <p:nvPr/>
          </p:nvSpPr>
          <p:spPr bwMode="auto">
            <a:xfrm>
              <a:off x="3024" y="2592"/>
              <a:ext cx="288" cy="288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</p:grpSp>
      <p:grpSp>
        <p:nvGrpSpPr>
          <p:cNvPr id="4109" name="Group 84"/>
          <p:cNvGrpSpPr>
            <a:grpSpLocks/>
          </p:cNvGrpSpPr>
          <p:nvPr/>
        </p:nvGrpSpPr>
        <p:grpSpPr bwMode="auto">
          <a:xfrm>
            <a:off x="6172200" y="2286000"/>
            <a:ext cx="457200" cy="2286000"/>
            <a:chOff x="3024" y="1440"/>
            <a:chExt cx="288" cy="1440"/>
          </a:xfrm>
        </p:grpSpPr>
        <p:sp>
          <p:nvSpPr>
            <p:cNvPr id="4142" name="Rectangle 85"/>
            <p:cNvSpPr>
              <a:spLocks noChangeArrowheads="1"/>
            </p:cNvSpPr>
            <p:nvPr/>
          </p:nvSpPr>
          <p:spPr bwMode="auto">
            <a:xfrm>
              <a:off x="3024" y="1440"/>
              <a:ext cx="288" cy="288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143" name="Rectangle 86"/>
            <p:cNvSpPr>
              <a:spLocks noChangeArrowheads="1"/>
            </p:cNvSpPr>
            <p:nvPr/>
          </p:nvSpPr>
          <p:spPr bwMode="auto">
            <a:xfrm>
              <a:off x="3024" y="1728"/>
              <a:ext cx="288" cy="288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144" name="Rectangle 87"/>
            <p:cNvSpPr>
              <a:spLocks noChangeArrowheads="1"/>
            </p:cNvSpPr>
            <p:nvPr/>
          </p:nvSpPr>
          <p:spPr bwMode="auto">
            <a:xfrm>
              <a:off x="3024" y="2016"/>
              <a:ext cx="288" cy="288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145" name="Rectangle 88"/>
            <p:cNvSpPr>
              <a:spLocks noChangeArrowheads="1"/>
            </p:cNvSpPr>
            <p:nvPr/>
          </p:nvSpPr>
          <p:spPr bwMode="auto">
            <a:xfrm>
              <a:off x="3024" y="2304"/>
              <a:ext cx="288" cy="288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146" name="Rectangle 89"/>
            <p:cNvSpPr>
              <a:spLocks noChangeArrowheads="1"/>
            </p:cNvSpPr>
            <p:nvPr/>
          </p:nvSpPr>
          <p:spPr bwMode="auto">
            <a:xfrm>
              <a:off x="3024" y="2592"/>
              <a:ext cx="288" cy="288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</p:grpSp>
      <p:grpSp>
        <p:nvGrpSpPr>
          <p:cNvPr id="4110" name="Group 90"/>
          <p:cNvGrpSpPr>
            <a:grpSpLocks/>
          </p:cNvGrpSpPr>
          <p:nvPr/>
        </p:nvGrpSpPr>
        <p:grpSpPr bwMode="auto">
          <a:xfrm>
            <a:off x="6629400" y="2286000"/>
            <a:ext cx="457200" cy="2286000"/>
            <a:chOff x="3024" y="1440"/>
            <a:chExt cx="288" cy="1440"/>
          </a:xfrm>
        </p:grpSpPr>
        <p:sp>
          <p:nvSpPr>
            <p:cNvPr id="4137" name="Rectangle 91"/>
            <p:cNvSpPr>
              <a:spLocks noChangeArrowheads="1"/>
            </p:cNvSpPr>
            <p:nvPr/>
          </p:nvSpPr>
          <p:spPr bwMode="auto">
            <a:xfrm>
              <a:off x="3024" y="1440"/>
              <a:ext cx="288" cy="288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138" name="Rectangle 92"/>
            <p:cNvSpPr>
              <a:spLocks noChangeArrowheads="1"/>
            </p:cNvSpPr>
            <p:nvPr/>
          </p:nvSpPr>
          <p:spPr bwMode="auto">
            <a:xfrm>
              <a:off x="3024" y="1728"/>
              <a:ext cx="288" cy="288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139" name="Rectangle 93"/>
            <p:cNvSpPr>
              <a:spLocks noChangeArrowheads="1"/>
            </p:cNvSpPr>
            <p:nvPr/>
          </p:nvSpPr>
          <p:spPr bwMode="auto">
            <a:xfrm>
              <a:off x="3024" y="2016"/>
              <a:ext cx="288" cy="288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140" name="Rectangle 94"/>
            <p:cNvSpPr>
              <a:spLocks noChangeArrowheads="1"/>
            </p:cNvSpPr>
            <p:nvPr/>
          </p:nvSpPr>
          <p:spPr bwMode="auto">
            <a:xfrm>
              <a:off x="3024" y="2304"/>
              <a:ext cx="288" cy="288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141" name="Rectangle 95"/>
            <p:cNvSpPr>
              <a:spLocks noChangeArrowheads="1"/>
            </p:cNvSpPr>
            <p:nvPr/>
          </p:nvSpPr>
          <p:spPr bwMode="auto">
            <a:xfrm>
              <a:off x="3024" y="2592"/>
              <a:ext cx="288" cy="288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4111" name="Text Box 96"/>
          <p:cNvSpPr txBox="1">
            <a:spLocks noChangeArrowheads="1"/>
          </p:cNvSpPr>
          <p:nvPr/>
        </p:nvSpPr>
        <p:spPr bwMode="auto">
          <a:xfrm>
            <a:off x="4876800" y="1905000"/>
            <a:ext cx="228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a   b    c    d    e</a:t>
            </a:r>
          </a:p>
        </p:txBody>
      </p:sp>
      <p:sp>
        <p:nvSpPr>
          <p:cNvPr id="4112" name="Text Box 101"/>
          <p:cNvSpPr txBox="1">
            <a:spLocks noChangeArrowheads="1"/>
          </p:cNvSpPr>
          <p:nvPr/>
        </p:nvSpPr>
        <p:spPr bwMode="auto">
          <a:xfrm>
            <a:off x="4860925" y="22606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0</a:t>
            </a:r>
          </a:p>
        </p:txBody>
      </p:sp>
      <p:sp>
        <p:nvSpPr>
          <p:cNvPr id="4113" name="Text Box 102"/>
          <p:cNvSpPr txBox="1">
            <a:spLocks noChangeArrowheads="1"/>
          </p:cNvSpPr>
          <p:nvPr/>
        </p:nvSpPr>
        <p:spPr bwMode="auto">
          <a:xfrm>
            <a:off x="5257800" y="22860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4114" name="Text Box 103"/>
          <p:cNvSpPr txBox="1">
            <a:spLocks noChangeArrowheads="1"/>
          </p:cNvSpPr>
          <p:nvPr/>
        </p:nvSpPr>
        <p:spPr bwMode="auto">
          <a:xfrm>
            <a:off x="5715000" y="22860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4115" name="Text Box 104"/>
          <p:cNvSpPr txBox="1">
            <a:spLocks noChangeArrowheads="1"/>
          </p:cNvSpPr>
          <p:nvPr/>
        </p:nvSpPr>
        <p:spPr bwMode="auto">
          <a:xfrm>
            <a:off x="6172200" y="22860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0</a:t>
            </a:r>
          </a:p>
        </p:txBody>
      </p:sp>
      <p:sp>
        <p:nvSpPr>
          <p:cNvPr id="4116" name="Text Box 105"/>
          <p:cNvSpPr txBox="1">
            <a:spLocks noChangeArrowheads="1"/>
          </p:cNvSpPr>
          <p:nvPr/>
        </p:nvSpPr>
        <p:spPr bwMode="auto">
          <a:xfrm>
            <a:off x="6629400" y="22860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0</a:t>
            </a:r>
          </a:p>
        </p:txBody>
      </p:sp>
      <p:sp>
        <p:nvSpPr>
          <p:cNvPr id="4117" name="Text Box 106"/>
          <p:cNvSpPr txBox="1">
            <a:spLocks noChangeArrowheads="1"/>
          </p:cNvSpPr>
          <p:nvPr/>
        </p:nvSpPr>
        <p:spPr bwMode="auto">
          <a:xfrm>
            <a:off x="4800600" y="27432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4118" name="Text Box 107"/>
          <p:cNvSpPr txBox="1">
            <a:spLocks noChangeArrowheads="1"/>
          </p:cNvSpPr>
          <p:nvPr/>
        </p:nvSpPr>
        <p:spPr bwMode="auto">
          <a:xfrm>
            <a:off x="5257800" y="27432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0</a:t>
            </a:r>
          </a:p>
        </p:txBody>
      </p:sp>
      <p:sp>
        <p:nvSpPr>
          <p:cNvPr id="4119" name="Text Box 108"/>
          <p:cNvSpPr txBox="1">
            <a:spLocks noChangeArrowheads="1"/>
          </p:cNvSpPr>
          <p:nvPr/>
        </p:nvSpPr>
        <p:spPr bwMode="auto">
          <a:xfrm>
            <a:off x="5715000" y="27432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0</a:t>
            </a:r>
          </a:p>
        </p:txBody>
      </p:sp>
      <p:sp>
        <p:nvSpPr>
          <p:cNvPr id="4120" name="Text Box 109"/>
          <p:cNvSpPr txBox="1">
            <a:spLocks noChangeArrowheads="1"/>
          </p:cNvSpPr>
          <p:nvPr/>
        </p:nvSpPr>
        <p:spPr bwMode="auto">
          <a:xfrm>
            <a:off x="6172200" y="27432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4121" name="Text Box 110"/>
          <p:cNvSpPr txBox="1">
            <a:spLocks noChangeArrowheads="1"/>
          </p:cNvSpPr>
          <p:nvPr/>
        </p:nvSpPr>
        <p:spPr bwMode="auto">
          <a:xfrm>
            <a:off x="6629400" y="27432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4122" name="Text Box 111"/>
          <p:cNvSpPr txBox="1">
            <a:spLocks noChangeArrowheads="1"/>
          </p:cNvSpPr>
          <p:nvPr/>
        </p:nvSpPr>
        <p:spPr bwMode="auto">
          <a:xfrm>
            <a:off x="4800600" y="32004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4123" name="Text Box 112"/>
          <p:cNvSpPr txBox="1">
            <a:spLocks noChangeArrowheads="1"/>
          </p:cNvSpPr>
          <p:nvPr/>
        </p:nvSpPr>
        <p:spPr bwMode="auto">
          <a:xfrm>
            <a:off x="5257800" y="32004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0</a:t>
            </a:r>
          </a:p>
        </p:txBody>
      </p:sp>
      <p:sp>
        <p:nvSpPr>
          <p:cNvPr id="4124" name="Text Box 113"/>
          <p:cNvSpPr txBox="1">
            <a:spLocks noChangeArrowheads="1"/>
          </p:cNvSpPr>
          <p:nvPr/>
        </p:nvSpPr>
        <p:spPr bwMode="auto">
          <a:xfrm>
            <a:off x="5715000" y="32004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0</a:t>
            </a:r>
          </a:p>
        </p:txBody>
      </p:sp>
      <p:sp>
        <p:nvSpPr>
          <p:cNvPr id="4125" name="Text Box 114"/>
          <p:cNvSpPr txBox="1">
            <a:spLocks noChangeArrowheads="1"/>
          </p:cNvSpPr>
          <p:nvPr/>
        </p:nvSpPr>
        <p:spPr bwMode="auto">
          <a:xfrm>
            <a:off x="6172200" y="32004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4126" name="Text Box 115"/>
          <p:cNvSpPr txBox="1">
            <a:spLocks noChangeArrowheads="1"/>
          </p:cNvSpPr>
          <p:nvPr/>
        </p:nvSpPr>
        <p:spPr bwMode="auto">
          <a:xfrm>
            <a:off x="6629400" y="32004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0</a:t>
            </a:r>
          </a:p>
        </p:txBody>
      </p:sp>
      <p:sp>
        <p:nvSpPr>
          <p:cNvPr id="4127" name="Text Box 116"/>
          <p:cNvSpPr txBox="1">
            <a:spLocks noChangeArrowheads="1"/>
          </p:cNvSpPr>
          <p:nvPr/>
        </p:nvSpPr>
        <p:spPr bwMode="auto">
          <a:xfrm>
            <a:off x="4800600" y="36576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0</a:t>
            </a:r>
          </a:p>
        </p:txBody>
      </p:sp>
      <p:sp>
        <p:nvSpPr>
          <p:cNvPr id="4128" name="Text Box 117"/>
          <p:cNvSpPr txBox="1">
            <a:spLocks noChangeArrowheads="1"/>
          </p:cNvSpPr>
          <p:nvPr/>
        </p:nvSpPr>
        <p:spPr bwMode="auto">
          <a:xfrm>
            <a:off x="5257800" y="36576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4129" name="Text Box 118"/>
          <p:cNvSpPr txBox="1">
            <a:spLocks noChangeArrowheads="1"/>
          </p:cNvSpPr>
          <p:nvPr/>
        </p:nvSpPr>
        <p:spPr bwMode="auto">
          <a:xfrm>
            <a:off x="5715000" y="36576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4130" name="Text Box 119"/>
          <p:cNvSpPr txBox="1">
            <a:spLocks noChangeArrowheads="1"/>
          </p:cNvSpPr>
          <p:nvPr/>
        </p:nvSpPr>
        <p:spPr bwMode="auto">
          <a:xfrm>
            <a:off x="6172200" y="36576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0</a:t>
            </a:r>
          </a:p>
        </p:txBody>
      </p:sp>
      <p:sp>
        <p:nvSpPr>
          <p:cNvPr id="4131" name="Text Box 120"/>
          <p:cNvSpPr txBox="1">
            <a:spLocks noChangeArrowheads="1"/>
          </p:cNvSpPr>
          <p:nvPr/>
        </p:nvSpPr>
        <p:spPr bwMode="auto">
          <a:xfrm>
            <a:off x="6629400" y="36576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4132" name="Text Box 121"/>
          <p:cNvSpPr txBox="1">
            <a:spLocks noChangeArrowheads="1"/>
          </p:cNvSpPr>
          <p:nvPr/>
        </p:nvSpPr>
        <p:spPr bwMode="auto">
          <a:xfrm>
            <a:off x="4800600" y="41148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0</a:t>
            </a:r>
          </a:p>
        </p:txBody>
      </p:sp>
      <p:sp>
        <p:nvSpPr>
          <p:cNvPr id="4133" name="Text Box 122"/>
          <p:cNvSpPr txBox="1">
            <a:spLocks noChangeArrowheads="1"/>
          </p:cNvSpPr>
          <p:nvPr/>
        </p:nvSpPr>
        <p:spPr bwMode="auto">
          <a:xfrm>
            <a:off x="5257800" y="41148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4134" name="Text Box 123"/>
          <p:cNvSpPr txBox="1">
            <a:spLocks noChangeArrowheads="1"/>
          </p:cNvSpPr>
          <p:nvPr/>
        </p:nvSpPr>
        <p:spPr bwMode="auto">
          <a:xfrm>
            <a:off x="5715000" y="41148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0</a:t>
            </a:r>
          </a:p>
        </p:txBody>
      </p:sp>
      <p:sp>
        <p:nvSpPr>
          <p:cNvPr id="4135" name="Text Box 124"/>
          <p:cNvSpPr txBox="1">
            <a:spLocks noChangeArrowheads="1"/>
          </p:cNvSpPr>
          <p:nvPr/>
        </p:nvSpPr>
        <p:spPr bwMode="auto">
          <a:xfrm>
            <a:off x="6172200" y="41148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4136" name="Text Box 125"/>
          <p:cNvSpPr txBox="1">
            <a:spLocks noChangeArrowheads="1"/>
          </p:cNvSpPr>
          <p:nvPr/>
        </p:nvSpPr>
        <p:spPr bwMode="auto">
          <a:xfrm>
            <a:off x="6629400" y="41148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114895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2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2740"/>
            <a:ext cx="9144000" cy="457200"/>
          </a:xfrm>
        </p:spPr>
        <p:txBody>
          <a:bodyPr/>
          <a:lstStyle/>
          <a:p>
            <a:r>
              <a:rPr lang="en-US" sz="2800" b="1" dirty="0">
                <a:solidFill>
                  <a:schemeClr val="tx1"/>
                </a:solidFill>
              </a:rPr>
              <a:t>Graphs: Adjacency Matrix</a:t>
            </a:r>
          </a:p>
        </p:txBody>
      </p:sp>
      <p:sp>
        <p:nvSpPr>
          <p:cNvPr id="116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Example:</a:t>
            </a:r>
          </a:p>
        </p:txBody>
      </p:sp>
      <p:sp>
        <p:nvSpPr>
          <p:cNvPr id="1161220" name="Oval 4"/>
          <p:cNvSpPr>
            <a:spLocks noChangeArrowheads="1"/>
          </p:cNvSpPr>
          <p:nvPr/>
        </p:nvSpPr>
        <p:spPr bwMode="auto">
          <a:xfrm>
            <a:off x="1790112" y="2514600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3200" b="1" i="0">
                <a:latin typeface="Times New Roman" pitchFamily="18" charset="0"/>
              </a:rPr>
              <a:t>1</a:t>
            </a:r>
          </a:p>
        </p:txBody>
      </p:sp>
      <p:sp>
        <p:nvSpPr>
          <p:cNvPr id="1161221" name="Oval 5"/>
          <p:cNvSpPr>
            <a:spLocks noChangeArrowheads="1"/>
          </p:cNvSpPr>
          <p:nvPr/>
        </p:nvSpPr>
        <p:spPr bwMode="auto">
          <a:xfrm>
            <a:off x="647112" y="3581400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3200" b="1" i="0">
                <a:latin typeface="Times New Roman" pitchFamily="18" charset="0"/>
              </a:rPr>
              <a:t>2</a:t>
            </a:r>
          </a:p>
        </p:txBody>
      </p:sp>
      <p:sp>
        <p:nvSpPr>
          <p:cNvPr id="1161222" name="Oval 6"/>
          <p:cNvSpPr>
            <a:spLocks noChangeArrowheads="1"/>
          </p:cNvSpPr>
          <p:nvPr/>
        </p:nvSpPr>
        <p:spPr bwMode="auto">
          <a:xfrm>
            <a:off x="2933112" y="3581400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3200" b="1" i="0">
                <a:latin typeface="Times New Roman" pitchFamily="18" charset="0"/>
              </a:rPr>
              <a:t>4</a:t>
            </a:r>
          </a:p>
        </p:txBody>
      </p:sp>
      <p:sp>
        <p:nvSpPr>
          <p:cNvPr id="1161223" name="Oval 7"/>
          <p:cNvSpPr>
            <a:spLocks noChangeArrowheads="1"/>
          </p:cNvSpPr>
          <p:nvPr/>
        </p:nvSpPr>
        <p:spPr bwMode="auto">
          <a:xfrm>
            <a:off x="1790112" y="4648200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3200" b="1" i="0">
                <a:latin typeface="Times New Roman" pitchFamily="18" charset="0"/>
              </a:rPr>
              <a:t>3</a:t>
            </a:r>
          </a:p>
        </p:txBody>
      </p:sp>
      <p:cxnSp>
        <p:nvCxnSpPr>
          <p:cNvPr id="1161224" name="AutoShape 8"/>
          <p:cNvCxnSpPr>
            <a:cxnSpLocks noChangeShapeType="1"/>
            <a:stCxn id="1161220" idx="3"/>
            <a:endCxn id="1161221" idx="7"/>
          </p:cNvCxnSpPr>
          <p:nvPr/>
        </p:nvCxnSpPr>
        <p:spPr bwMode="auto">
          <a:xfrm flipH="1">
            <a:off x="1167812" y="3049588"/>
            <a:ext cx="711200" cy="606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161225" name="AutoShape 9"/>
          <p:cNvCxnSpPr>
            <a:cxnSpLocks noChangeShapeType="1"/>
            <a:stCxn id="1161221" idx="5"/>
            <a:endCxn id="1161223" idx="1"/>
          </p:cNvCxnSpPr>
          <p:nvPr/>
        </p:nvCxnSpPr>
        <p:spPr bwMode="auto">
          <a:xfrm>
            <a:off x="1167812" y="4116388"/>
            <a:ext cx="711200" cy="606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161226" name="AutoShape 10"/>
          <p:cNvCxnSpPr>
            <a:cxnSpLocks noChangeShapeType="1"/>
            <a:stCxn id="1161222" idx="3"/>
            <a:endCxn id="1161223" idx="7"/>
          </p:cNvCxnSpPr>
          <p:nvPr/>
        </p:nvCxnSpPr>
        <p:spPr bwMode="auto">
          <a:xfrm flipH="1">
            <a:off x="2310812" y="4116388"/>
            <a:ext cx="711200" cy="606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161227" name="AutoShape 11"/>
          <p:cNvCxnSpPr>
            <a:cxnSpLocks noChangeShapeType="1"/>
            <a:stCxn id="1161220" idx="4"/>
            <a:endCxn id="1161223" idx="0"/>
          </p:cNvCxnSpPr>
          <p:nvPr/>
        </p:nvCxnSpPr>
        <p:spPr bwMode="auto">
          <a:xfrm>
            <a:off x="2094912" y="3138488"/>
            <a:ext cx="0" cy="1495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161228" name="Text Box 12"/>
          <p:cNvSpPr txBox="1">
            <a:spLocks noChangeArrowheads="1"/>
          </p:cNvSpPr>
          <p:nvPr/>
        </p:nvSpPr>
        <p:spPr bwMode="auto">
          <a:xfrm>
            <a:off x="1262246" y="3032125"/>
            <a:ext cx="300082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</a:rPr>
              <a:t>a</a:t>
            </a:r>
          </a:p>
        </p:txBody>
      </p:sp>
      <p:sp>
        <p:nvSpPr>
          <p:cNvPr id="1161229" name="Text Box 13"/>
          <p:cNvSpPr txBox="1">
            <a:spLocks noChangeArrowheads="1"/>
          </p:cNvSpPr>
          <p:nvPr/>
        </p:nvSpPr>
        <p:spPr bwMode="auto">
          <a:xfrm>
            <a:off x="2087684" y="3565525"/>
            <a:ext cx="312906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>
                <a:latin typeface="Times New Roman" pitchFamily="18" charset="0"/>
              </a:rPr>
              <a:t>d</a:t>
            </a:r>
          </a:p>
        </p:txBody>
      </p:sp>
      <p:sp>
        <p:nvSpPr>
          <p:cNvPr id="1161230" name="Text Box 14"/>
          <p:cNvSpPr txBox="1">
            <a:spLocks noChangeArrowheads="1"/>
          </p:cNvSpPr>
          <p:nvPr/>
        </p:nvSpPr>
        <p:spPr bwMode="auto">
          <a:xfrm>
            <a:off x="1179634" y="4267200"/>
            <a:ext cx="312906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</a:rPr>
              <a:t>b</a:t>
            </a:r>
          </a:p>
        </p:txBody>
      </p:sp>
      <p:sp>
        <p:nvSpPr>
          <p:cNvPr id="1161231" name="Text Box 15"/>
          <p:cNvSpPr txBox="1">
            <a:spLocks noChangeArrowheads="1"/>
          </p:cNvSpPr>
          <p:nvPr/>
        </p:nvSpPr>
        <p:spPr bwMode="auto">
          <a:xfrm>
            <a:off x="2717252" y="4267200"/>
            <a:ext cx="287258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>
                <a:latin typeface="Times New Roman" pitchFamily="18" charset="0"/>
              </a:rPr>
              <a:t>c</a:t>
            </a:r>
          </a:p>
        </p:txBody>
      </p:sp>
      <p:graphicFrame>
        <p:nvGraphicFramePr>
          <p:cNvPr id="1161232" name="Group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69710"/>
              </p:ext>
            </p:extLst>
          </p:nvPr>
        </p:nvGraphicFramePr>
        <p:xfrm>
          <a:off x="4457112" y="2209800"/>
          <a:ext cx="4191000" cy="3322639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6397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397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endParaRPr kumimoji="0" lang="en-US" sz="2800" b="0" i="1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397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4400" b="0" i="1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</a:rPr>
                        <a:t>??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397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3278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2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0876"/>
            <a:ext cx="9144000" cy="457200"/>
          </a:xfrm>
        </p:spPr>
        <p:txBody>
          <a:bodyPr/>
          <a:lstStyle/>
          <a:p>
            <a:r>
              <a:rPr lang="en-US" sz="2800" b="1" dirty="0">
                <a:solidFill>
                  <a:schemeClr val="tx1"/>
                </a:solidFill>
              </a:rPr>
              <a:t>Graphs: Adjacency Matrix</a:t>
            </a:r>
          </a:p>
        </p:txBody>
      </p:sp>
      <p:sp>
        <p:nvSpPr>
          <p:cNvPr id="1162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Example:</a:t>
            </a:r>
          </a:p>
        </p:txBody>
      </p:sp>
      <p:sp>
        <p:nvSpPr>
          <p:cNvPr id="1162244" name="Oval 4"/>
          <p:cNvSpPr>
            <a:spLocks noChangeArrowheads="1"/>
          </p:cNvSpPr>
          <p:nvPr/>
        </p:nvSpPr>
        <p:spPr bwMode="auto">
          <a:xfrm>
            <a:off x="1804177" y="2514600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3200" b="1" i="0">
                <a:latin typeface="Times New Roman" pitchFamily="18" charset="0"/>
              </a:rPr>
              <a:t>1</a:t>
            </a:r>
          </a:p>
        </p:txBody>
      </p:sp>
      <p:sp>
        <p:nvSpPr>
          <p:cNvPr id="1162245" name="Oval 5"/>
          <p:cNvSpPr>
            <a:spLocks noChangeArrowheads="1"/>
          </p:cNvSpPr>
          <p:nvPr/>
        </p:nvSpPr>
        <p:spPr bwMode="auto">
          <a:xfrm>
            <a:off x="661177" y="3581400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3200" b="1" i="0">
                <a:latin typeface="Times New Roman" pitchFamily="18" charset="0"/>
              </a:rPr>
              <a:t>2</a:t>
            </a:r>
          </a:p>
        </p:txBody>
      </p:sp>
      <p:sp>
        <p:nvSpPr>
          <p:cNvPr id="1162246" name="Oval 6"/>
          <p:cNvSpPr>
            <a:spLocks noChangeArrowheads="1"/>
          </p:cNvSpPr>
          <p:nvPr/>
        </p:nvSpPr>
        <p:spPr bwMode="auto">
          <a:xfrm>
            <a:off x="2947177" y="3581400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3200" b="1" i="0">
                <a:latin typeface="Times New Roman" pitchFamily="18" charset="0"/>
              </a:rPr>
              <a:t>4</a:t>
            </a:r>
          </a:p>
        </p:txBody>
      </p:sp>
      <p:sp>
        <p:nvSpPr>
          <p:cNvPr id="1162247" name="Oval 7"/>
          <p:cNvSpPr>
            <a:spLocks noChangeArrowheads="1"/>
          </p:cNvSpPr>
          <p:nvPr/>
        </p:nvSpPr>
        <p:spPr bwMode="auto">
          <a:xfrm>
            <a:off x="1804177" y="4648200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3200" b="1" i="0">
                <a:latin typeface="Times New Roman" pitchFamily="18" charset="0"/>
              </a:rPr>
              <a:t>3</a:t>
            </a:r>
          </a:p>
        </p:txBody>
      </p:sp>
      <p:cxnSp>
        <p:nvCxnSpPr>
          <p:cNvPr id="1162248" name="AutoShape 8"/>
          <p:cNvCxnSpPr>
            <a:cxnSpLocks noChangeShapeType="1"/>
            <a:stCxn id="1162244" idx="3"/>
            <a:endCxn id="1162245" idx="7"/>
          </p:cNvCxnSpPr>
          <p:nvPr/>
        </p:nvCxnSpPr>
        <p:spPr bwMode="auto">
          <a:xfrm flipH="1">
            <a:off x="1181877" y="3049588"/>
            <a:ext cx="711200" cy="606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162249" name="AutoShape 9"/>
          <p:cNvCxnSpPr>
            <a:cxnSpLocks noChangeShapeType="1"/>
            <a:stCxn id="1162245" idx="5"/>
            <a:endCxn id="1162247" idx="1"/>
          </p:cNvCxnSpPr>
          <p:nvPr/>
        </p:nvCxnSpPr>
        <p:spPr bwMode="auto">
          <a:xfrm>
            <a:off x="1181877" y="4116388"/>
            <a:ext cx="711200" cy="606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162250" name="AutoShape 10"/>
          <p:cNvCxnSpPr>
            <a:cxnSpLocks noChangeShapeType="1"/>
            <a:stCxn id="1162246" idx="3"/>
            <a:endCxn id="1162247" idx="7"/>
          </p:cNvCxnSpPr>
          <p:nvPr/>
        </p:nvCxnSpPr>
        <p:spPr bwMode="auto">
          <a:xfrm flipH="1">
            <a:off x="2324877" y="4116388"/>
            <a:ext cx="711200" cy="606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162251" name="AutoShape 11"/>
          <p:cNvCxnSpPr>
            <a:cxnSpLocks noChangeShapeType="1"/>
            <a:stCxn id="1162244" idx="4"/>
            <a:endCxn id="1162247" idx="0"/>
          </p:cNvCxnSpPr>
          <p:nvPr/>
        </p:nvCxnSpPr>
        <p:spPr bwMode="auto">
          <a:xfrm>
            <a:off x="2108977" y="3138488"/>
            <a:ext cx="0" cy="1495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162252" name="Text Box 12"/>
          <p:cNvSpPr txBox="1">
            <a:spLocks noChangeArrowheads="1"/>
          </p:cNvSpPr>
          <p:nvPr/>
        </p:nvSpPr>
        <p:spPr bwMode="auto">
          <a:xfrm>
            <a:off x="1276311" y="3032125"/>
            <a:ext cx="300082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>
                <a:latin typeface="Times New Roman" pitchFamily="18" charset="0"/>
              </a:rPr>
              <a:t>a</a:t>
            </a:r>
          </a:p>
        </p:txBody>
      </p:sp>
      <p:sp>
        <p:nvSpPr>
          <p:cNvPr id="1162253" name="Text Box 13"/>
          <p:cNvSpPr txBox="1">
            <a:spLocks noChangeArrowheads="1"/>
          </p:cNvSpPr>
          <p:nvPr/>
        </p:nvSpPr>
        <p:spPr bwMode="auto">
          <a:xfrm>
            <a:off x="2101749" y="3565525"/>
            <a:ext cx="312906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>
                <a:latin typeface="Times New Roman" pitchFamily="18" charset="0"/>
              </a:rPr>
              <a:t>d</a:t>
            </a:r>
          </a:p>
        </p:txBody>
      </p:sp>
      <p:sp>
        <p:nvSpPr>
          <p:cNvPr id="1162254" name="Text Box 14"/>
          <p:cNvSpPr txBox="1">
            <a:spLocks noChangeArrowheads="1"/>
          </p:cNvSpPr>
          <p:nvPr/>
        </p:nvSpPr>
        <p:spPr bwMode="auto">
          <a:xfrm>
            <a:off x="1193699" y="4267200"/>
            <a:ext cx="312906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>
                <a:latin typeface="Times New Roman" pitchFamily="18" charset="0"/>
              </a:rPr>
              <a:t>b</a:t>
            </a:r>
          </a:p>
        </p:txBody>
      </p:sp>
      <p:sp>
        <p:nvSpPr>
          <p:cNvPr id="1162255" name="Text Box 15"/>
          <p:cNvSpPr txBox="1">
            <a:spLocks noChangeArrowheads="1"/>
          </p:cNvSpPr>
          <p:nvPr/>
        </p:nvSpPr>
        <p:spPr bwMode="auto">
          <a:xfrm>
            <a:off x="2731317" y="4267200"/>
            <a:ext cx="287258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>
                <a:latin typeface="Times New Roman" pitchFamily="18" charset="0"/>
              </a:rPr>
              <a:t>c</a:t>
            </a:r>
          </a:p>
        </p:txBody>
      </p:sp>
      <p:graphicFrame>
        <p:nvGraphicFramePr>
          <p:cNvPr id="1162256" name="Group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495675"/>
              </p:ext>
            </p:extLst>
          </p:nvPr>
        </p:nvGraphicFramePr>
        <p:xfrm>
          <a:off x="4471177" y="2209800"/>
          <a:ext cx="4191000" cy="3200402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6397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397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397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397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0887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8672"/>
            <a:ext cx="9144000" cy="457200"/>
          </a:xfrm>
        </p:spPr>
        <p:txBody>
          <a:bodyPr>
            <a:normAutofit/>
          </a:bodyPr>
          <a:lstStyle/>
          <a:p>
            <a:r>
              <a:rPr lang="en-US" altLang="en-US" sz="2800" b="1" dirty="0">
                <a:solidFill>
                  <a:schemeClr val="tx1"/>
                </a:solidFill>
              </a:rPr>
              <a:t>Adjacency Matrix Representation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914400"/>
            <a:ext cx="8295249" cy="54102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800" dirty="0"/>
              <a:t>Memory required</a:t>
            </a:r>
          </a:p>
          <a:p>
            <a:pPr lvl="1">
              <a:lnSpc>
                <a:spcPct val="110000"/>
              </a:lnSpc>
            </a:pPr>
            <a:r>
              <a:rPr lang="en-US" altLang="en-US" sz="2400" dirty="0">
                <a:sym typeface="Symbol" panose="05050102010706020507" pitchFamily="18" charset="2"/>
              </a:rPr>
              <a:t>O(V</a:t>
            </a:r>
            <a:r>
              <a:rPr lang="en-US" altLang="en-US" sz="2400" baseline="30000" dirty="0"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en-US" sz="2800" dirty="0">
                <a:sym typeface="Symbol" panose="05050102010706020507" pitchFamily="18" charset="2"/>
              </a:rPr>
              <a:t>Preferred when</a:t>
            </a:r>
          </a:p>
          <a:p>
            <a:pPr lvl="1">
              <a:lnSpc>
                <a:spcPct val="110000"/>
              </a:lnSpc>
            </a:pPr>
            <a:r>
              <a:rPr lang="en-US" altLang="en-US" sz="2400" dirty="0">
                <a:sym typeface="Symbol" panose="05050102010706020507" pitchFamily="18" charset="2"/>
              </a:rPr>
              <a:t>The graph is </a:t>
            </a:r>
            <a:r>
              <a:rPr lang="en-US" altLang="en-US" sz="2400" b="1" dirty="0">
                <a:sym typeface="Symbol" panose="05050102010706020507" pitchFamily="18" charset="2"/>
              </a:rPr>
              <a:t>dense:</a:t>
            </a:r>
            <a:r>
              <a:rPr lang="en-US" altLang="en-US" sz="2400" dirty="0">
                <a:sym typeface="Symbol" panose="05050102010706020507" pitchFamily="18" charset="2"/>
              </a:rPr>
              <a:t> E = O(V</a:t>
            </a:r>
            <a:r>
              <a:rPr lang="en-US" altLang="en-US" sz="2400" baseline="30000" dirty="0"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en-US" sz="2800" dirty="0">
                <a:sym typeface="Symbol" panose="05050102010706020507" pitchFamily="18" charset="2"/>
              </a:rPr>
              <a:t>Advantage</a:t>
            </a:r>
          </a:p>
          <a:p>
            <a:pPr lvl="1">
              <a:lnSpc>
                <a:spcPct val="110000"/>
              </a:lnSpc>
            </a:pPr>
            <a:r>
              <a:rPr lang="en-US" altLang="en-US" sz="2400" dirty="0">
                <a:sym typeface="Symbol" panose="05050102010706020507" pitchFamily="18" charset="2"/>
              </a:rPr>
              <a:t>Can quickly </a:t>
            </a:r>
            <a:r>
              <a:rPr lang="en-US" altLang="en-US" sz="2400">
                <a:sym typeface="Symbol" panose="05050102010706020507" pitchFamily="18" charset="2"/>
              </a:rPr>
              <a:t>determine if </a:t>
            </a:r>
            <a:r>
              <a:rPr lang="en-US" altLang="en-US" sz="2400" dirty="0">
                <a:sym typeface="Symbol" panose="05050102010706020507" pitchFamily="18" charset="2"/>
              </a:rPr>
              <a:t>there is an edge between two vertices</a:t>
            </a:r>
          </a:p>
          <a:p>
            <a:pPr>
              <a:lnSpc>
                <a:spcPct val="130000"/>
              </a:lnSpc>
            </a:pPr>
            <a:r>
              <a:rPr lang="en-US" altLang="en-US" sz="2800" dirty="0"/>
              <a:t>Disadvantage</a:t>
            </a:r>
          </a:p>
          <a:p>
            <a:pPr lvl="1">
              <a:lnSpc>
                <a:spcPct val="130000"/>
              </a:lnSpc>
            </a:pPr>
            <a:r>
              <a:rPr lang="en-US" altLang="en-US" sz="2400" dirty="0"/>
              <a:t>No quick way to determine the vertices adjacent </a:t>
            </a:r>
            <a:r>
              <a:rPr lang="en-US" altLang="en-US" sz="2400" b="1" u="sng" dirty="0"/>
              <a:t>from</a:t>
            </a:r>
            <a:r>
              <a:rPr lang="en-US" altLang="en-US" sz="2400" dirty="0"/>
              <a:t> another vertex.</a:t>
            </a:r>
          </a:p>
          <a:p>
            <a:pPr lvl="1">
              <a:lnSpc>
                <a:spcPct val="130000"/>
              </a:lnSpc>
            </a:pPr>
            <a:r>
              <a:rPr lang="en-US" altLang="en-US" sz="2400" dirty="0"/>
              <a:t>Listing all the neighbors of ANY vertex takes O(V) time.</a:t>
            </a:r>
          </a:p>
        </p:txBody>
      </p:sp>
    </p:spTree>
    <p:extLst>
      <p:ext uri="{BB962C8B-B14F-4D97-AF65-F5344CB8AC3E}">
        <p14:creationId xmlns:p14="http://schemas.microsoft.com/office/powerpoint/2010/main" val="2296135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800" b="1" dirty="0">
                <a:solidFill>
                  <a:schemeClr val="tx1"/>
                </a:solidFill>
              </a:rPr>
              <a:t>Adjacency List Representation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6147" name="Group 5"/>
          <p:cNvGrpSpPr>
            <a:grpSpLocks/>
          </p:cNvGrpSpPr>
          <p:nvPr/>
        </p:nvGrpSpPr>
        <p:grpSpPr bwMode="auto">
          <a:xfrm>
            <a:off x="1219200" y="2133600"/>
            <a:ext cx="457200" cy="461963"/>
            <a:chOff x="1200" y="1488"/>
            <a:chExt cx="288" cy="291"/>
          </a:xfrm>
        </p:grpSpPr>
        <p:sp>
          <p:nvSpPr>
            <p:cNvPr id="6213" name="Oval 6"/>
            <p:cNvSpPr>
              <a:spLocks noChangeArrowheads="1"/>
            </p:cNvSpPr>
            <p:nvPr/>
          </p:nvSpPr>
          <p:spPr bwMode="auto">
            <a:xfrm>
              <a:off x="1200" y="1488"/>
              <a:ext cx="288" cy="288"/>
            </a:xfrm>
            <a:prstGeom prst="ellips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6214" name="Text Box 7"/>
            <p:cNvSpPr txBox="1">
              <a:spLocks noChangeArrowheads="1"/>
            </p:cNvSpPr>
            <p:nvPr/>
          </p:nvSpPr>
          <p:spPr bwMode="auto">
            <a:xfrm>
              <a:off x="1248" y="1488"/>
              <a:ext cx="21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>
                  <a:latin typeface="Franklin Gothic Book" pitchFamily="34" charset="0"/>
                  <a:ea typeface="MS PGothic" panose="020B0600070205080204" pitchFamily="34" charset="-128"/>
                </a:rPr>
                <a:t>a</a:t>
              </a:r>
            </a:p>
          </p:txBody>
        </p:sp>
      </p:grpSp>
      <p:grpSp>
        <p:nvGrpSpPr>
          <p:cNvPr id="6148" name="Group 8"/>
          <p:cNvGrpSpPr>
            <a:grpSpLocks/>
          </p:cNvGrpSpPr>
          <p:nvPr/>
        </p:nvGrpSpPr>
        <p:grpSpPr bwMode="auto">
          <a:xfrm>
            <a:off x="1143000" y="3352800"/>
            <a:ext cx="457200" cy="457200"/>
            <a:chOff x="1200" y="1488"/>
            <a:chExt cx="288" cy="288"/>
          </a:xfrm>
        </p:grpSpPr>
        <p:sp>
          <p:nvSpPr>
            <p:cNvPr id="6211" name="Oval 9"/>
            <p:cNvSpPr>
              <a:spLocks noChangeArrowheads="1"/>
            </p:cNvSpPr>
            <p:nvPr/>
          </p:nvSpPr>
          <p:spPr bwMode="auto">
            <a:xfrm>
              <a:off x="1200" y="1488"/>
              <a:ext cx="288" cy="288"/>
            </a:xfrm>
            <a:prstGeom prst="ellips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6212" name="Text Box 10"/>
            <p:cNvSpPr txBox="1">
              <a:spLocks noChangeArrowheads="1"/>
            </p:cNvSpPr>
            <p:nvPr/>
          </p:nvSpPr>
          <p:spPr bwMode="auto">
            <a:xfrm>
              <a:off x="1248" y="1488"/>
              <a:ext cx="2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>
                  <a:latin typeface="Franklin Gothic Book" pitchFamily="34" charset="0"/>
                  <a:ea typeface="MS PGothic" panose="020B0600070205080204" pitchFamily="34" charset="-128"/>
                </a:rPr>
                <a:t>c</a:t>
              </a:r>
            </a:p>
          </p:txBody>
        </p:sp>
      </p:grpSp>
      <p:sp>
        <p:nvSpPr>
          <p:cNvPr id="6149" name="Line 11"/>
          <p:cNvSpPr>
            <a:spLocks noChangeShapeType="1"/>
          </p:cNvSpPr>
          <p:nvPr/>
        </p:nvSpPr>
        <p:spPr bwMode="auto">
          <a:xfrm flipV="1">
            <a:off x="1371600" y="2590800"/>
            <a:ext cx="0" cy="76200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0" name="Line 12"/>
          <p:cNvSpPr>
            <a:spLocks noChangeShapeType="1"/>
          </p:cNvSpPr>
          <p:nvPr/>
        </p:nvSpPr>
        <p:spPr bwMode="auto">
          <a:xfrm flipH="1" flipV="1">
            <a:off x="1676400" y="2362200"/>
            <a:ext cx="685800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151" name="Group 13"/>
          <p:cNvGrpSpPr>
            <a:grpSpLocks/>
          </p:cNvGrpSpPr>
          <p:nvPr/>
        </p:nvGrpSpPr>
        <p:grpSpPr bwMode="auto">
          <a:xfrm>
            <a:off x="2286000" y="3352800"/>
            <a:ext cx="457200" cy="461963"/>
            <a:chOff x="1200" y="1488"/>
            <a:chExt cx="288" cy="291"/>
          </a:xfrm>
        </p:grpSpPr>
        <p:sp>
          <p:nvSpPr>
            <p:cNvPr id="6209" name="Oval 14"/>
            <p:cNvSpPr>
              <a:spLocks noChangeArrowheads="1"/>
            </p:cNvSpPr>
            <p:nvPr/>
          </p:nvSpPr>
          <p:spPr bwMode="auto">
            <a:xfrm>
              <a:off x="1200" y="1488"/>
              <a:ext cx="288" cy="288"/>
            </a:xfrm>
            <a:prstGeom prst="ellips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6210" name="Text Box 15"/>
            <p:cNvSpPr txBox="1">
              <a:spLocks noChangeArrowheads="1"/>
            </p:cNvSpPr>
            <p:nvPr/>
          </p:nvSpPr>
          <p:spPr bwMode="auto">
            <a:xfrm>
              <a:off x="1248" y="1488"/>
              <a:ext cx="22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 dirty="0">
                  <a:latin typeface="Franklin Gothic Book" pitchFamily="34" charset="0"/>
                  <a:ea typeface="MS PGothic" panose="020B0600070205080204" pitchFamily="34" charset="-128"/>
                </a:rPr>
                <a:t>d</a:t>
              </a:r>
            </a:p>
          </p:txBody>
        </p:sp>
      </p:grpSp>
      <p:grpSp>
        <p:nvGrpSpPr>
          <p:cNvPr id="6152" name="Group 17"/>
          <p:cNvGrpSpPr>
            <a:grpSpLocks/>
          </p:cNvGrpSpPr>
          <p:nvPr/>
        </p:nvGrpSpPr>
        <p:grpSpPr bwMode="auto">
          <a:xfrm>
            <a:off x="2362200" y="2133600"/>
            <a:ext cx="457200" cy="461963"/>
            <a:chOff x="1200" y="1488"/>
            <a:chExt cx="288" cy="291"/>
          </a:xfrm>
        </p:grpSpPr>
        <p:sp>
          <p:nvSpPr>
            <p:cNvPr id="6207" name="Oval 18"/>
            <p:cNvSpPr>
              <a:spLocks noChangeArrowheads="1"/>
            </p:cNvSpPr>
            <p:nvPr/>
          </p:nvSpPr>
          <p:spPr bwMode="auto">
            <a:xfrm>
              <a:off x="1200" y="1488"/>
              <a:ext cx="288" cy="288"/>
            </a:xfrm>
            <a:prstGeom prst="ellips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6208" name="Text Box 19"/>
            <p:cNvSpPr txBox="1">
              <a:spLocks noChangeArrowheads="1"/>
            </p:cNvSpPr>
            <p:nvPr/>
          </p:nvSpPr>
          <p:spPr bwMode="auto">
            <a:xfrm>
              <a:off x="1248" y="1488"/>
              <a:ext cx="22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>
                  <a:latin typeface="Franklin Gothic Book" pitchFamily="34" charset="0"/>
                  <a:ea typeface="MS PGothic" panose="020B0600070205080204" pitchFamily="34" charset="-128"/>
                </a:rPr>
                <a:t>b</a:t>
              </a:r>
            </a:p>
          </p:txBody>
        </p:sp>
      </p:grpSp>
      <p:grpSp>
        <p:nvGrpSpPr>
          <p:cNvPr id="6153" name="Group 20"/>
          <p:cNvGrpSpPr>
            <a:grpSpLocks/>
          </p:cNvGrpSpPr>
          <p:nvPr/>
        </p:nvGrpSpPr>
        <p:grpSpPr bwMode="auto">
          <a:xfrm>
            <a:off x="3276600" y="2743203"/>
            <a:ext cx="457200" cy="461963"/>
            <a:chOff x="1200" y="1488"/>
            <a:chExt cx="288" cy="291"/>
          </a:xfrm>
        </p:grpSpPr>
        <p:sp>
          <p:nvSpPr>
            <p:cNvPr id="6205" name="Oval 21"/>
            <p:cNvSpPr>
              <a:spLocks noChangeArrowheads="1"/>
            </p:cNvSpPr>
            <p:nvPr/>
          </p:nvSpPr>
          <p:spPr bwMode="auto">
            <a:xfrm>
              <a:off x="1200" y="1488"/>
              <a:ext cx="288" cy="288"/>
            </a:xfrm>
            <a:prstGeom prst="ellips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6206" name="Text Box 22"/>
            <p:cNvSpPr txBox="1">
              <a:spLocks noChangeArrowheads="1"/>
            </p:cNvSpPr>
            <p:nvPr/>
          </p:nvSpPr>
          <p:spPr bwMode="auto">
            <a:xfrm>
              <a:off x="1248" y="1488"/>
              <a:ext cx="22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 dirty="0">
                  <a:latin typeface="Franklin Gothic Book" pitchFamily="34" charset="0"/>
                  <a:ea typeface="MS PGothic" panose="020B0600070205080204" pitchFamily="34" charset="-128"/>
                </a:rPr>
                <a:t>e</a:t>
              </a:r>
            </a:p>
          </p:txBody>
        </p:sp>
      </p:grpSp>
      <p:sp>
        <p:nvSpPr>
          <p:cNvPr id="6154" name="Line 23"/>
          <p:cNvSpPr>
            <a:spLocks noChangeShapeType="1"/>
          </p:cNvSpPr>
          <p:nvPr/>
        </p:nvSpPr>
        <p:spPr bwMode="auto">
          <a:xfrm flipH="1" flipV="1">
            <a:off x="1600200" y="3581400"/>
            <a:ext cx="685800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5" name="Line 24"/>
          <p:cNvSpPr>
            <a:spLocks noChangeShapeType="1"/>
          </p:cNvSpPr>
          <p:nvPr/>
        </p:nvSpPr>
        <p:spPr bwMode="auto">
          <a:xfrm flipV="1">
            <a:off x="2514600" y="2590800"/>
            <a:ext cx="0" cy="76200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6" name="Line 25"/>
          <p:cNvSpPr>
            <a:spLocks noChangeShapeType="1"/>
          </p:cNvSpPr>
          <p:nvPr/>
        </p:nvSpPr>
        <p:spPr bwMode="auto">
          <a:xfrm flipH="1" flipV="1">
            <a:off x="2819400" y="2438400"/>
            <a:ext cx="457200" cy="38100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7" name="Line 26"/>
          <p:cNvSpPr>
            <a:spLocks noChangeShapeType="1"/>
          </p:cNvSpPr>
          <p:nvPr/>
        </p:nvSpPr>
        <p:spPr bwMode="auto">
          <a:xfrm flipH="1">
            <a:off x="2743200" y="3124200"/>
            <a:ext cx="609600" cy="45720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8" name="Rectangle 27"/>
          <p:cNvSpPr>
            <a:spLocks noChangeArrowheads="1"/>
          </p:cNvSpPr>
          <p:nvPr/>
        </p:nvSpPr>
        <p:spPr bwMode="auto">
          <a:xfrm>
            <a:off x="4800600" y="2286000"/>
            <a:ext cx="457200" cy="457200"/>
          </a:xfrm>
          <a:prstGeom prst="rect">
            <a:avLst/>
          </a:prstGeom>
          <a:noFill/>
          <a:ln w="38100">
            <a:solidFill>
              <a:srgbClr val="3399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400">
              <a:latin typeface="Franklin Gothic Book" pitchFamily="34" charset="0"/>
              <a:ea typeface="MS PGothic" panose="020B0600070205080204" pitchFamily="34" charset="-128"/>
            </a:endParaRPr>
          </a:p>
        </p:txBody>
      </p:sp>
      <p:sp>
        <p:nvSpPr>
          <p:cNvPr id="6159" name="Rectangle 28"/>
          <p:cNvSpPr>
            <a:spLocks noChangeArrowheads="1"/>
          </p:cNvSpPr>
          <p:nvPr/>
        </p:nvSpPr>
        <p:spPr bwMode="auto">
          <a:xfrm>
            <a:off x="4800600" y="2743200"/>
            <a:ext cx="457200" cy="457200"/>
          </a:xfrm>
          <a:prstGeom prst="rect">
            <a:avLst/>
          </a:prstGeom>
          <a:noFill/>
          <a:ln w="38100">
            <a:solidFill>
              <a:srgbClr val="3399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400">
              <a:latin typeface="Franklin Gothic Book" pitchFamily="34" charset="0"/>
              <a:ea typeface="MS PGothic" panose="020B0600070205080204" pitchFamily="34" charset="-128"/>
            </a:endParaRPr>
          </a:p>
        </p:txBody>
      </p:sp>
      <p:sp>
        <p:nvSpPr>
          <p:cNvPr id="6160" name="Rectangle 29"/>
          <p:cNvSpPr>
            <a:spLocks noChangeArrowheads="1"/>
          </p:cNvSpPr>
          <p:nvPr/>
        </p:nvSpPr>
        <p:spPr bwMode="auto">
          <a:xfrm>
            <a:off x="4800600" y="3200400"/>
            <a:ext cx="457200" cy="457200"/>
          </a:xfrm>
          <a:prstGeom prst="rect">
            <a:avLst/>
          </a:prstGeom>
          <a:noFill/>
          <a:ln w="38100">
            <a:solidFill>
              <a:srgbClr val="3399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400">
              <a:latin typeface="Franklin Gothic Book" pitchFamily="34" charset="0"/>
              <a:ea typeface="MS PGothic" panose="020B0600070205080204" pitchFamily="34" charset="-128"/>
            </a:endParaRPr>
          </a:p>
        </p:txBody>
      </p:sp>
      <p:sp>
        <p:nvSpPr>
          <p:cNvPr id="6161" name="Rectangle 30"/>
          <p:cNvSpPr>
            <a:spLocks noChangeArrowheads="1"/>
          </p:cNvSpPr>
          <p:nvPr/>
        </p:nvSpPr>
        <p:spPr bwMode="auto">
          <a:xfrm>
            <a:off x="4800600" y="3657600"/>
            <a:ext cx="457200" cy="457200"/>
          </a:xfrm>
          <a:prstGeom prst="rect">
            <a:avLst/>
          </a:prstGeom>
          <a:noFill/>
          <a:ln w="38100">
            <a:solidFill>
              <a:srgbClr val="3399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400">
              <a:latin typeface="Franklin Gothic Book" pitchFamily="34" charset="0"/>
              <a:ea typeface="MS PGothic" panose="020B0600070205080204" pitchFamily="34" charset="-128"/>
            </a:endParaRPr>
          </a:p>
        </p:txBody>
      </p:sp>
      <p:sp>
        <p:nvSpPr>
          <p:cNvPr id="6162" name="Rectangle 31"/>
          <p:cNvSpPr>
            <a:spLocks noChangeArrowheads="1"/>
          </p:cNvSpPr>
          <p:nvPr/>
        </p:nvSpPr>
        <p:spPr bwMode="auto">
          <a:xfrm>
            <a:off x="4800600" y="4114800"/>
            <a:ext cx="457200" cy="457200"/>
          </a:xfrm>
          <a:prstGeom prst="rect">
            <a:avLst/>
          </a:prstGeom>
          <a:noFill/>
          <a:ln w="38100">
            <a:solidFill>
              <a:srgbClr val="3399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400">
              <a:latin typeface="Franklin Gothic Book" pitchFamily="34" charset="0"/>
              <a:ea typeface="MS PGothic" panose="020B0600070205080204" pitchFamily="34" charset="-128"/>
            </a:endParaRPr>
          </a:p>
        </p:txBody>
      </p:sp>
      <p:sp>
        <p:nvSpPr>
          <p:cNvPr id="6163" name="Rectangle 32"/>
          <p:cNvSpPr>
            <a:spLocks noChangeArrowheads="1"/>
          </p:cNvSpPr>
          <p:nvPr/>
        </p:nvSpPr>
        <p:spPr bwMode="auto">
          <a:xfrm>
            <a:off x="5791200" y="2286000"/>
            <a:ext cx="381000" cy="381000"/>
          </a:xfrm>
          <a:prstGeom prst="rect">
            <a:avLst/>
          </a:prstGeom>
          <a:noFill/>
          <a:ln w="38100">
            <a:solidFill>
              <a:srgbClr val="3399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400">
              <a:latin typeface="Franklin Gothic Book" pitchFamily="34" charset="0"/>
              <a:ea typeface="MS PGothic" panose="020B0600070205080204" pitchFamily="34" charset="-128"/>
            </a:endParaRPr>
          </a:p>
        </p:txBody>
      </p:sp>
      <p:sp>
        <p:nvSpPr>
          <p:cNvPr id="6164" name="Rectangle 35"/>
          <p:cNvSpPr>
            <a:spLocks noChangeArrowheads="1"/>
          </p:cNvSpPr>
          <p:nvPr/>
        </p:nvSpPr>
        <p:spPr bwMode="auto">
          <a:xfrm>
            <a:off x="6553200" y="2286000"/>
            <a:ext cx="381000" cy="381000"/>
          </a:xfrm>
          <a:prstGeom prst="rect">
            <a:avLst/>
          </a:prstGeom>
          <a:noFill/>
          <a:ln w="38100">
            <a:solidFill>
              <a:srgbClr val="3399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400">
              <a:latin typeface="Franklin Gothic Book" pitchFamily="34" charset="0"/>
              <a:ea typeface="MS PGothic" panose="020B0600070205080204" pitchFamily="34" charset="-128"/>
            </a:endParaRPr>
          </a:p>
        </p:txBody>
      </p:sp>
      <p:sp>
        <p:nvSpPr>
          <p:cNvPr id="6165" name="Rectangle 40"/>
          <p:cNvSpPr>
            <a:spLocks noChangeArrowheads="1"/>
          </p:cNvSpPr>
          <p:nvPr/>
        </p:nvSpPr>
        <p:spPr bwMode="auto">
          <a:xfrm>
            <a:off x="5791200" y="2819400"/>
            <a:ext cx="381000" cy="381000"/>
          </a:xfrm>
          <a:prstGeom prst="rect">
            <a:avLst/>
          </a:prstGeom>
          <a:noFill/>
          <a:ln w="38100">
            <a:solidFill>
              <a:srgbClr val="3399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400">
              <a:latin typeface="Franklin Gothic Book" pitchFamily="34" charset="0"/>
              <a:ea typeface="MS PGothic" panose="020B0600070205080204" pitchFamily="34" charset="-128"/>
            </a:endParaRPr>
          </a:p>
        </p:txBody>
      </p:sp>
      <p:sp>
        <p:nvSpPr>
          <p:cNvPr id="6166" name="Rectangle 41"/>
          <p:cNvSpPr>
            <a:spLocks noChangeArrowheads="1"/>
          </p:cNvSpPr>
          <p:nvPr/>
        </p:nvSpPr>
        <p:spPr bwMode="auto">
          <a:xfrm>
            <a:off x="6553200" y="2819400"/>
            <a:ext cx="381000" cy="381000"/>
          </a:xfrm>
          <a:prstGeom prst="rect">
            <a:avLst/>
          </a:prstGeom>
          <a:noFill/>
          <a:ln w="38100">
            <a:solidFill>
              <a:srgbClr val="3399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400">
              <a:latin typeface="Franklin Gothic Book" pitchFamily="34" charset="0"/>
              <a:ea typeface="MS PGothic" panose="020B0600070205080204" pitchFamily="34" charset="-128"/>
            </a:endParaRPr>
          </a:p>
        </p:txBody>
      </p:sp>
      <p:sp>
        <p:nvSpPr>
          <p:cNvPr id="6167" name="Rectangle 42"/>
          <p:cNvSpPr>
            <a:spLocks noChangeArrowheads="1"/>
          </p:cNvSpPr>
          <p:nvPr/>
        </p:nvSpPr>
        <p:spPr bwMode="auto">
          <a:xfrm>
            <a:off x="7315200" y="2819400"/>
            <a:ext cx="381000" cy="381000"/>
          </a:xfrm>
          <a:prstGeom prst="rect">
            <a:avLst/>
          </a:prstGeom>
          <a:noFill/>
          <a:ln w="38100">
            <a:solidFill>
              <a:srgbClr val="3399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400">
              <a:latin typeface="Franklin Gothic Book" pitchFamily="34" charset="0"/>
              <a:ea typeface="MS PGothic" panose="020B0600070205080204" pitchFamily="34" charset="-128"/>
            </a:endParaRPr>
          </a:p>
        </p:txBody>
      </p:sp>
      <p:sp>
        <p:nvSpPr>
          <p:cNvPr id="6168" name="Rectangle 43"/>
          <p:cNvSpPr>
            <a:spLocks noChangeArrowheads="1"/>
          </p:cNvSpPr>
          <p:nvPr/>
        </p:nvSpPr>
        <p:spPr bwMode="auto">
          <a:xfrm>
            <a:off x="5791200" y="3276600"/>
            <a:ext cx="381000" cy="381000"/>
          </a:xfrm>
          <a:prstGeom prst="rect">
            <a:avLst/>
          </a:prstGeom>
          <a:noFill/>
          <a:ln w="38100">
            <a:solidFill>
              <a:srgbClr val="3399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400">
              <a:latin typeface="Franklin Gothic Book" pitchFamily="34" charset="0"/>
              <a:ea typeface="MS PGothic" panose="020B0600070205080204" pitchFamily="34" charset="-128"/>
            </a:endParaRPr>
          </a:p>
        </p:txBody>
      </p:sp>
      <p:sp>
        <p:nvSpPr>
          <p:cNvPr id="6169" name="Rectangle 44"/>
          <p:cNvSpPr>
            <a:spLocks noChangeArrowheads="1"/>
          </p:cNvSpPr>
          <p:nvPr/>
        </p:nvSpPr>
        <p:spPr bwMode="auto">
          <a:xfrm>
            <a:off x="6553200" y="3276600"/>
            <a:ext cx="381000" cy="381000"/>
          </a:xfrm>
          <a:prstGeom prst="rect">
            <a:avLst/>
          </a:prstGeom>
          <a:noFill/>
          <a:ln w="38100">
            <a:solidFill>
              <a:srgbClr val="3399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400">
              <a:latin typeface="Franklin Gothic Book" pitchFamily="34" charset="0"/>
              <a:ea typeface="MS PGothic" panose="020B0600070205080204" pitchFamily="34" charset="-128"/>
            </a:endParaRPr>
          </a:p>
        </p:txBody>
      </p:sp>
      <p:sp>
        <p:nvSpPr>
          <p:cNvPr id="6170" name="Rectangle 45"/>
          <p:cNvSpPr>
            <a:spLocks noChangeArrowheads="1"/>
          </p:cNvSpPr>
          <p:nvPr/>
        </p:nvSpPr>
        <p:spPr bwMode="auto">
          <a:xfrm>
            <a:off x="5791200" y="3733800"/>
            <a:ext cx="381000" cy="381000"/>
          </a:xfrm>
          <a:prstGeom prst="rect">
            <a:avLst/>
          </a:prstGeom>
          <a:noFill/>
          <a:ln w="38100">
            <a:solidFill>
              <a:srgbClr val="3399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400">
              <a:latin typeface="Franklin Gothic Book" pitchFamily="34" charset="0"/>
              <a:ea typeface="MS PGothic" panose="020B0600070205080204" pitchFamily="34" charset="-128"/>
            </a:endParaRPr>
          </a:p>
        </p:txBody>
      </p:sp>
      <p:sp>
        <p:nvSpPr>
          <p:cNvPr id="6171" name="Rectangle 46"/>
          <p:cNvSpPr>
            <a:spLocks noChangeArrowheads="1"/>
          </p:cNvSpPr>
          <p:nvPr/>
        </p:nvSpPr>
        <p:spPr bwMode="auto">
          <a:xfrm>
            <a:off x="6553200" y="3733800"/>
            <a:ext cx="381000" cy="381000"/>
          </a:xfrm>
          <a:prstGeom prst="rect">
            <a:avLst/>
          </a:prstGeom>
          <a:noFill/>
          <a:ln w="38100">
            <a:solidFill>
              <a:srgbClr val="3399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400">
              <a:latin typeface="Franklin Gothic Book" pitchFamily="34" charset="0"/>
              <a:ea typeface="MS PGothic" panose="020B0600070205080204" pitchFamily="34" charset="-128"/>
            </a:endParaRPr>
          </a:p>
        </p:txBody>
      </p:sp>
      <p:sp>
        <p:nvSpPr>
          <p:cNvPr id="6172" name="Rectangle 47"/>
          <p:cNvSpPr>
            <a:spLocks noChangeArrowheads="1"/>
          </p:cNvSpPr>
          <p:nvPr/>
        </p:nvSpPr>
        <p:spPr bwMode="auto">
          <a:xfrm>
            <a:off x="7315200" y="3733800"/>
            <a:ext cx="381000" cy="381000"/>
          </a:xfrm>
          <a:prstGeom prst="rect">
            <a:avLst/>
          </a:prstGeom>
          <a:noFill/>
          <a:ln w="38100">
            <a:solidFill>
              <a:srgbClr val="3399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400">
              <a:latin typeface="Franklin Gothic Book" pitchFamily="34" charset="0"/>
              <a:ea typeface="MS PGothic" panose="020B0600070205080204" pitchFamily="34" charset="-128"/>
            </a:endParaRPr>
          </a:p>
        </p:txBody>
      </p:sp>
      <p:sp>
        <p:nvSpPr>
          <p:cNvPr id="6173" name="Rectangle 48"/>
          <p:cNvSpPr>
            <a:spLocks noChangeArrowheads="1"/>
          </p:cNvSpPr>
          <p:nvPr/>
        </p:nvSpPr>
        <p:spPr bwMode="auto">
          <a:xfrm>
            <a:off x="5791200" y="4191000"/>
            <a:ext cx="381000" cy="381000"/>
          </a:xfrm>
          <a:prstGeom prst="rect">
            <a:avLst/>
          </a:prstGeom>
          <a:noFill/>
          <a:ln w="38100">
            <a:solidFill>
              <a:srgbClr val="3399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400">
              <a:latin typeface="Franklin Gothic Book" pitchFamily="34" charset="0"/>
              <a:ea typeface="MS PGothic" panose="020B0600070205080204" pitchFamily="34" charset="-128"/>
            </a:endParaRPr>
          </a:p>
        </p:txBody>
      </p:sp>
      <p:sp>
        <p:nvSpPr>
          <p:cNvPr id="6174" name="Rectangle 49"/>
          <p:cNvSpPr>
            <a:spLocks noChangeArrowheads="1"/>
          </p:cNvSpPr>
          <p:nvPr/>
        </p:nvSpPr>
        <p:spPr bwMode="auto">
          <a:xfrm>
            <a:off x="6553200" y="4191000"/>
            <a:ext cx="381000" cy="381000"/>
          </a:xfrm>
          <a:prstGeom prst="rect">
            <a:avLst/>
          </a:prstGeom>
          <a:noFill/>
          <a:ln w="38100">
            <a:solidFill>
              <a:srgbClr val="3399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400">
              <a:latin typeface="Franklin Gothic Book" pitchFamily="34" charset="0"/>
              <a:ea typeface="MS PGothic" panose="020B0600070205080204" pitchFamily="34" charset="-128"/>
            </a:endParaRPr>
          </a:p>
        </p:txBody>
      </p:sp>
      <p:sp>
        <p:nvSpPr>
          <p:cNvPr id="6175" name="Line 50"/>
          <p:cNvSpPr>
            <a:spLocks noChangeShapeType="1"/>
          </p:cNvSpPr>
          <p:nvPr/>
        </p:nvSpPr>
        <p:spPr bwMode="auto">
          <a:xfrm flipH="1" flipV="1">
            <a:off x="5029200" y="2438400"/>
            <a:ext cx="762000" cy="0"/>
          </a:xfrm>
          <a:prstGeom prst="line">
            <a:avLst/>
          </a:prstGeom>
          <a:noFill/>
          <a:ln w="38100">
            <a:solidFill>
              <a:srgbClr val="339966"/>
            </a:solidFill>
            <a:round/>
            <a:headEnd type="triangle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76" name="Line 51"/>
          <p:cNvSpPr>
            <a:spLocks noChangeShapeType="1"/>
          </p:cNvSpPr>
          <p:nvPr/>
        </p:nvSpPr>
        <p:spPr bwMode="auto">
          <a:xfrm flipH="1" flipV="1">
            <a:off x="5029200" y="2971800"/>
            <a:ext cx="762000" cy="0"/>
          </a:xfrm>
          <a:prstGeom prst="line">
            <a:avLst/>
          </a:prstGeom>
          <a:noFill/>
          <a:ln w="38100">
            <a:solidFill>
              <a:srgbClr val="339966"/>
            </a:solidFill>
            <a:round/>
            <a:headEnd type="triangle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77" name="Line 52"/>
          <p:cNvSpPr>
            <a:spLocks noChangeShapeType="1"/>
          </p:cNvSpPr>
          <p:nvPr/>
        </p:nvSpPr>
        <p:spPr bwMode="auto">
          <a:xfrm flipH="1" flipV="1">
            <a:off x="5029200" y="3429000"/>
            <a:ext cx="762000" cy="0"/>
          </a:xfrm>
          <a:prstGeom prst="line">
            <a:avLst/>
          </a:prstGeom>
          <a:noFill/>
          <a:ln w="38100">
            <a:solidFill>
              <a:srgbClr val="339966"/>
            </a:solidFill>
            <a:round/>
            <a:headEnd type="triangle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78" name="Line 53"/>
          <p:cNvSpPr>
            <a:spLocks noChangeShapeType="1"/>
          </p:cNvSpPr>
          <p:nvPr/>
        </p:nvSpPr>
        <p:spPr bwMode="auto">
          <a:xfrm flipH="1" flipV="1">
            <a:off x="5029200" y="3886200"/>
            <a:ext cx="762000" cy="0"/>
          </a:xfrm>
          <a:prstGeom prst="line">
            <a:avLst/>
          </a:prstGeom>
          <a:noFill/>
          <a:ln w="38100">
            <a:solidFill>
              <a:srgbClr val="339966"/>
            </a:solidFill>
            <a:round/>
            <a:headEnd type="triangle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79" name="Line 54"/>
          <p:cNvSpPr>
            <a:spLocks noChangeShapeType="1"/>
          </p:cNvSpPr>
          <p:nvPr/>
        </p:nvSpPr>
        <p:spPr bwMode="auto">
          <a:xfrm flipH="1" flipV="1">
            <a:off x="5029200" y="4343400"/>
            <a:ext cx="762000" cy="0"/>
          </a:xfrm>
          <a:prstGeom prst="line">
            <a:avLst/>
          </a:prstGeom>
          <a:noFill/>
          <a:ln w="38100">
            <a:solidFill>
              <a:srgbClr val="339966"/>
            </a:solidFill>
            <a:round/>
            <a:headEnd type="triangle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0" name="Line 55"/>
          <p:cNvSpPr>
            <a:spLocks noChangeShapeType="1"/>
          </p:cNvSpPr>
          <p:nvPr/>
        </p:nvSpPr>
        <p:spPr bwMode="auto">
          <a:xfrm flipH="1" flipV="1">
            <a:off x="6172200" y="2438400"/>
            <a:ext cx="381000" cy="0"/>
          </a:xfrm>
          <a:prstGeom prst="line">
            <a:avLst/>
          </a:prstGeom>
          <a:noFill/>
          <a:ln w="38100">
            <a:solidFill>
              <a:srgbClr val="339966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1" name="Line 56"/>
          <p:cNvSpPr>
            <a:spLocks noChangeShapeType="1"/>
          </p:cNvSpPr>
          <p:nvPr/>
        </p:nvSpPr>
        <p:spPr bwMode="auto">
          <a:xfrm flipH="1" flipV="1">
            <a:off x="6172200" y="2971800"/>
            <a:ext cx="381000" cy="0"/>
          </a:xfrm>
          <a:prstGeom prst="line">
            <a:avLst/>
          </a:prstGeom>
          <a:noFill/>
          <a:ln w="38100">
            <a:solidFill>
              <a:srgbClr val="339966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2" name="Line 57"/>
          <p:cNvSpPr>
            <a:spLocks noChangeShapeType="1"/>
          </p:cNvSpPr>
          <p:nvPr/>
        </p:nvSpPr>
        <p:spPr bwMode="auto">
          <a:xfrm flipH="1" flipV="1">
            <a:off x="6934200" y="2971800"/>
            <a:ext cx="381000" cy="0"/>
          </a:xfrm>
          <a:prstGeom prst="line">
            <a:avLst/>
          </a:prstGeom>
          <a:noFill/>
          <a:ln w="38100">
            <a:solidFill>
              <a:srgbClr val="339966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3" name="Line 58"/>
          <p:cNvSpPr>
            <a:spLocks noChangeShapeType="1"/>
          </p:cNvSpPr>
          <p:nvPr/>
        </p:nvSpPr>
        <p:spPr bwMode="auto">
          <a:xfrm flipH="1" flipV="1">
            <a:off x="6172200" y="3429000"/>
            <a:ext cx="381000" cy="0"/>
          </a:xfrm>
          <a:prstGeom prst="line">
            <a:avLst/>
          </a:prstGeom>
          <a:noFill/>
          <a:ln w="38100">
            <a:solidFill>
              <a:srgbClr val="339966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4" name="Line 59"/>
          <p:cNvSpPr>
            <a:spLocks noChangeShapeType="1"/>
          </p:cNvSpPr>
          <p:nvPr/>
        </p:nvSpPr>
        <p:spPr bwMode="auto">
          <a:xfrm flipH="1" flipV="1">
            <a:off x="6172200" y="3886200"/>
            <a:ext cx="381000" cy="0"/>
          </a:xfrm>
          <a:prstGeom prst="line">
            <a:avLst/>
          </a:prstGeom>
          <a:noFill/>
          <a:ln w="38100">
            <a:solidFill>
              <a:srgbClr val="339966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5" name="Line 60"/>
          <p:cNvSpPr>
            <a:spLocks noChangeShapeType="1"/>
          </p:cNvSpPr>
          <p:nvPr/>
        </p:nvSpPr>
        <p:spPr bwMode="auto">
          <a:xfrm flipH="1" flipV="1">
            <a:off x="6934200" y="3886200"/>
            <a:ext cx="381000" cy="0"/>
          </a:xfrm>
          <a:prstGeom prst="line">
            <a:avLst/>
          </a:prstGeom>
          <a:noFill/>
          <a:ln w="38100">
            <a:solidFill>
              <a:srgbClr val="339966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6" name="Line 61"/>
          <p:cNvSpPr>
            <a:spLocks noChangeShapeType="1"/>
          </p:cNvSpPr>
          <p:nvPr/>
        </p:nvSpPr>
        <p:spPr bwMode="auto">
          <a:xfrm flipH="1" flipV="1">
            <a:off x="6172200" y="4343400"/>
            <a:ext cx="381000" cy="0"/>
          </a:xfrm>
          <a:prstGeom prst="line">
            <a:avLst/>
          </a:prstGeom>
          <a:noFill/>
          <a:ln w="38100">
            <a:solidFill>
              <a:srgbClr val="339966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7" name="Text Box 62"/>
          <p:cNvSpPr txBox="1">
            <a:spLocks noChangeArrowheads="1"/>
          </p:cNvSpPr>
          <p:nvPr/>
        </p:nvSpPr>
        <p:spPr bwMode="auto">
          <a:xfrm>
            <a:off x="4419600" y="22860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a</a:t>
            </a:r>
          </a:p>
        </p:txBody>
      </p:sp>
      <p:sp>
        <p:nvSpPr>
          <p:cNvPr id="6188" name="Text Box 63"/>
          <p:cNvSpPr txBox="1">
            <a:spLocks noChangeArrowheads="1"/>
          </p:cNvSpPr>
          <p:nvPr/>
        </p:nvSpPr>
        <p:spPr bwMode="auto">
          <a:xfrm>
            <a:off x="4419600" y="27432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b</a:t>
            </a:r>
          </a:p>
        </p:txBody>
      </p:sp>
      <p:sp>
        <p:nvSpPr>
          <p:cNvPr id="6189" name="Text Box 64"/>
          <p:cNvSpPr txBox="1">
            <a:spLocks noChangeArrowheads="1"/>
          </p:cNvSpPr>
          <p:nvPr/>
        </p:nvSpPr>
        <p:spPr bwMode="auto">
          <a:xfrm>
            <a:off x="4464050" y="32004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c</a:t>
            </a:r>
          </a:p>
        </p:txBody>
      </p:sp>
      <p:sp>
        <p:nvSpPr>
          <p:cNvPr id="6190" name="Text Box 65"/>
          <p:cNvSpPr txBox="1">
            <a:spLocks noChangeArrowheads="1"/>
          </p:cNvSpPr>
          <p:nvPr/>
        </p:nvSpPr>
        <p:spPr bwMode="auto">
          <a:xfrm>
            <a:off x="4419600" y="36576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d</a:t>
            </a:r>
          </a:p>
        </p:txBody>
      </p:sp>
      <p:sp>
        <p:nvSpPr>
          <p:cNvPr id="6191" name="Text Box 66"/>
          <p:cNvSpPr txBox="1">
            <a:spLocks noChangeArrowheads="1"/>
          </p:cNvSpPr>
          <p:nvPr/>
        </p:nvSpPr>
        <p:spPr bwMode="auto">
          <a:xfrm>
            <a:off x="4419600" y="41148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e</a:t>
            </a:r>
          </a:p>
        </p:txBody>
      </p:sp>
      <p:sp>
        <p:nvSpPr>
          <p:cNvPr id="6192" name="Text Box 69"/>
          <p:cNvSpPr txBox="1">
            <a:spLocks noChangeArrowheads="1"/>
          </p:cNvSpPr>
          <p:nvPr/>
        </p:nvSpPr>
        <p:spPr bwMode="auto">
          <a:xfrm>
            <a:off x="5791200" y="22098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b</a:t>
            </a:r>
          </a:p>
        </p:txBody>
      </p:sp>
      <p:sp>
        <p:nvSpPr>
          <p:cNvPr id="6193" name="Text Box 70"/>
          <p:cNvSpPr txBox="1">
            <a:spLocks noChangeArrowheads="1"/>
          </p:cNvSpPr>
          <p:nvPr/>
        </p:nvSpPr>
        <p:spPr bwMode="auto">
          <a:xfrm>
            <a:off x="6553200" y="22098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c</a:t>
            </a:r>
          </a:p>
        </p:txBody>
      </p:sp>
      <p:sp>
        <p:nvSpPr>
          <p:cNvPr id="6194" name="Text Box 71"/>
          <p:cNvSpPr txBox="1">
            <a:spLocks noChangeArrowheads="1"/>
          </p:cNvSpPr>
          <p:nvPr/>
        </p:nvSpPr>
        <p:spPr bwMode="auto">
          <a:xfrm>
            <a:off x="5791200" y="27432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a</a:t>
            </a:r>
          </a:p>
        </p:txBody>
      </p:sp>
      <p:sp>
        <p:nvSpPr>
          <p:cNvPr id="6195" name="Text Box 72"/>
          <p:cNvSpPr txBox="1">
            <a:spLocks noChangeArrowheads="1"/>
          </p:cNvSpPr>
          <p:nvPr/>
        </p:nvSpPr>
        <p:spPr bwMode="auto">
          <a:xfrm>
            <a:off x="6629400" y="27432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d</a:t>
            </a:r>
          </a:p>
        </p:txBody>
      </p:sp>
      <p:sp>
        <p:nvSpPr>
          <p:cNvPr id="6196" name="Text Box 73"/>
          <p:cNvSpPr txBox="1">
            <a:spLocks noChangeArrowheads="1"/>
          </p:cNvSpPr>
          <p:nvPr/>
        </p:nvSpPr>
        <p:spPr bwMode="auto">
          <a:xfrm>
            <a:off x="7391400" y="27432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e</a:t>
            </a:r>
          </a:p>
        </p:txBody>
      </p:sp>
      <p:sp>
        <p:nvSpPr>
          <p:cNvPr id="6197" name="Text Box 74"/>
          <p:cNvSpPr txBox="1">
            <a:spLocks noChangeArrowheads="1"/>
          </p:cNvSpPr>
          <p:nvPr/>
        </p:nvSpPr>
        <p:spPr bwMode="auto">
          <a:xfrm>
            <a:off x="5867400" y="32004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a</a:t>
            </a:r>
          </a:p>
        </p:txBody>
      </p:sp>
      <p:sp>
        <p:nvSpPr>
          <p:cNvPr id="6198" name="Text Box 75"/>
          <p:cNvSpPr txBox="1">
            <a:spLocks noChangeArrowheads="1"/>
          </p:cNvSpPr>
          <p:nvPr/>
        </p:nvSpPr>
        <p:spPr bwMode="auto">
          <a:xfrm>
            <a:off x="6553200" y="32004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d</a:t>
            </a:r>
          </a:p>
        </p:txBody>
      </p:sp>
      <p:sp>
        <p:nvSpPr>
          <p:cNvPr id="6199" name="Text Box 76"/>
          <p:cNvSpPr txBox="1">
            <a:spLocks noChangeArrowheads="1"/>
          </p:cNvSpPr>
          <p:nvPr/>
        </p:nvSpPr>
        <p:spPr bwMode="auto">
          <a:xfrm>
            <a:off x="5867400" y="36576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b</a:t>
            </a:r>
          </a:p>
        </p:txBody>
      </p:sp>
      <p:sp>
        <p:nvSpPr>
          <p:cNvPr id="6200" name="Text Box 77"/>
          <p:cNvSpPr txBox="1">
            <a:spLocks noChangeArrowheads="1"/>
          </p:cNvSpPr>
          <p:nvPr/>
        </p:nvSpPr>
        <p:spPr bwMode="auto">
          <a:xfrm>
            <a:off x="6553200" y="36576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c</a:t>
            </a:r>
          </a:p>
        </p:txBody>
      </p:sp>
      <p:sp>
        <p:nvSpPr>
          <p:cNvPr id="6201" name="Text Box 78"/>
          <p:cNvSpPr txBox="1">
            <a:spLocks noChangeArrowheads="1"/>
          </p:cNvSpPr>
          <p:nvPr/>
        </p:nvSpPr>
        <p:spPr bwMode="auto">
          <a:xfrm>
            <a:off x="7315200" y="36576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e</a:t>
            </a:r>
          </a:p>
        </p:txBody>
      </p:sp>
      <p:sp>
        <p:nvSpPr>
          <p:cNvPr id="6202" name="Text Box 79"/>
          <p:cNvSpPr txBox="1">
            <a:spLocks noChangeArrowheads="1"/>
          </p:cNvSpPr>
          <p:nvPr/>
        </p:nvSpPr>
        <p:spPr bwMode="auto">
          <a:xfrm>
            <a:off x="5867400" y="41148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b</a:t>
            </a:r>
          </a:p>
        </p:txBody>
      </p:sp>
      <p:sp>
        <p:nvSpPr>
          <p:cNvPr id="6203" name="Text Box 80"/>
          <p:cNvSpPr txBox="1">
            <a:spLocks noChangeArrowheads="1"/>
          </p:cNvSpPr>
          <p:nvPr/>
        </p:nvSpPr>
        <p:spPr bwMode="auto">
          <a:xfrm>
            <a:off x="6629400" y="41148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322887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3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1"/>
            <a:ext cx="9144000" cy="457200"/>
          </a:xfrm>
        </p:spPr>
        <p:txBody>
          <a:bodyPr/>
          <a:lstStyle/>
          <a:p>
            <a:r>
              <a:rPr lang="en-US" sz="2800" b="1" dirty="0">
                <a:solidFill>
                  <a:schemeClr val="tx1"/>
                </a:solidFill>
              </a:rPr>
              <a:t>Graphs: Adjacency List</a:t>
            </a:r>
          </a:p>
        </p:txBody>
      </p:sp>
      <p:sp>
        <p:nvSpPr>
          <p:cNvPr id="1165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8421" y="914400"/>
            <a:ext cx="8210843" cy="54102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400" dirty="0"/>
              <a:t>Adjacency list: for each vertex </a:t>
            </a:r>
            <a:r>
              <a:rPr lang="en-US" sz="2400" i="1" dirty="0"/>
              <a:t>v </a:t>
            </a:r>
            <a:r>
              <a:rPr lang="en-US" sz="2400" dirty="0">
                <a:sym typeface="Symbol" pitchFamily="18" charset="2"/>
              </a:rPr>
              <a:t> V, store a list of vertices adjacent to </a:t>
            </a:r>
            <a:r>
              <a:rPr lang="en-US" sz="2400" i="1" dirty="0">
                <a:sym typeface="Symbol" pitchFamily="18" charset="2"/>
              </a:rPr>
              <a:t>v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ym typeface="Symbol" pitchFamily="18" charset="2"/>
              </a:rPr>
              <a:t>Example:</a:t>
            </a:r>
          </a:p>
          <a:p>
            <a:pPr lvl="1">
              <a:spcBef>
                <a:spcPts val="1200"/>
              </a:spcBef>
            </a:pPr>
            <a:r>
              <a:rPr lang="en-US" sz="2400" dirty="0" err="1">
                <a:sym typeface="Symbol" pitchFamily="18" charset="2"/>
              </a:rPr>
              <a:t>Adj</a:t>
            </a:r>
            <a:r>
              <a:rPr lang="en-US" sz="2400" dirty="0">
                <a:sym typeface="Symbol" pitchFamily="18" charset="2"/>
              </a:rPr>
              <a:t>[1] = {2,3}</a:t>
            </a:r>
          </a:p>
          <a:p>
            <a:pPr lvl="1">
              <a:spcBef>
                <a:spcPts val="1200"/>
              </a:spcBef>
            </a:pPr>
            <a:r>
              <a:rPr lang="en-US" sz="2400" dirty="0" err="1">
                <a:sym typeface="Symbol" pitchFamily="18" charset="2"/>
              </a:rPr>
              <a:t>Adj</a:t>
            </a:r>
            <a:r>
              <a:rPr lang="en-US" sz="2400" dirty="0">
                <a:sym typeface="Symbol" pitchFamily="18" charset="2"/>
              </a:rPr>
              <a:t>[2] = {3}</a:t>
            </a:r>
          </a:p>
          <a:p>
            <a:pPr lvl="1">
              <a:spcBef>
                <a:spcPts val="1200"/>
              </a:spcBef>
            </a:pPr>
            <a:r>
              <a:rPr lang="en-US" sz="2400" dirty="0" err="1">
                <a:sym typeface="Symbol" pitchFamily="18" charset="2"/>
              </a:rPr>
              <a:t>Adj</a:t>
            </a:r>
            <a:r>
              <a:rPr lang="en-US" sz="2400" dirty="0">
                <a:sym typeface="Symbol" pitchFamily="18" charset="2"/>
              </a:rPr>
              <a:t>[3] = {}</a:t>
            </a:r>
          </a:p>
          <a:p>
            <a:pPr lvl="1">
              <a:spcBef>
                <a:spcPts val="1200"/>
              </a:spcBef>
            </a:pPr>
            <a:r>
              <a:rPr lang="en-US" sz="2400" dirty="0" err="1">
                <a:sym typeface="Symbol" pitchFamily="18" charset="2"/>
              </a:rPr>
              <a:t>Adj</a:t>
            </a:r>
            <a:r>
              <a:rPr lang="en-US" sz="2400" dirty="0">
                <a:sym typeface="Symbol" pitchFamily="18" charset="2"/>
              </a:rPr>
              <a:t>[4] = {3}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accent1"/>
                </a:solidFill>
                <a:sym typeface="Symbol" pitchFamily="18" charset="2"/>
              </a:rPr>
              <a:t>Variation:</a:t>
            </a:r>
            <a:r>
              <a:rPr lang="en-US" sz="2400" dirty="0">
                <a:sym typeface="Symbol" pitchFamily="18" charset="2"/>
              </a:rPr>
              <a:t> can also keep </a:t>
            </a:r>
            <a:br>
              <a:rPr lang="en-US" sz="2400" dirty="0">
                <a:sym typeface="Symbol" pitchFamily="18" charset="2"/>
              </a:rPr>
            </a:br>
            <a:r>
              <a:rPr lang="en-US" sz="2400" dirty="0">
                <a:sym typeface="Symbol" pitchFamily="18" charset="2"/>
              </a:rPr>
              <a:t>a list of edges coming </a:t>
            </a:r>
            <a:r>
              <a:rPr lang="en-US" sz="2400" i="1" dirty="0">
                <a:sym typeface="Symbol" pitchFamily="18" charset="2"/>
              </a:rPr>
              <a:t>into </a:t>
            </a:r>
            <a:r>
              <a:rPr lang="en-US" sz="2400" dirty="0">
                <a:sym typeface="Symbol" pitchFamily="18" charset="2"/>
              </a:rPr>
              <a:t>vertex</a:t>
            </a:r>
          </a:p>
          <a:p>
            <a:pPr>
              <a:spcBef>
                <a:spcPts val="1200"/>
              </a:spcBef>
            </a:pPr>
            <a:endParaRPr lang="en-US" sz="2400" dirty="0"/>
          </a:p>
        </p:txBody>
      </p:sp>
      <p:sp>
        <p:nvSpPr>
          <p:cNvPr id="1165316" name="Oval 4"/>
          <p:cNvSpPr>
            <a:spLocks noChangeArrowheads="1"/>
          </p:cNvSpPr>
          <p:nvPr/>
        </p:nvSpPr>
        <p:spPr bwMode="auto">
          <a:xfrm>
            <a:off x="7129973" y="2819400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3200" b="1" i="0" dirty="0">
                <a:latin typeface="Times New Roman" pitchFamily="18" charset="0"/>
              </a:rPr>
              <a:t>1</a:t>
            </a:r>
          </a:p>
        </p:txBody>
      </p:sp>
      <p:sp>
        <p:nvSpPr>
          <p:cNvPr id="1165317" name="Oval 5"/>
          <p:cNvSpPr>
            <a:spLocks noChangeArrowheads="1"/>
          </p:cNvSpPr>
          <p:nvPr/>
        </p:nvSpPr>
        <p:spPr bwMode="auto">
          <a:xfrm>
            <a:off x="5986973" y="3886200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3200" b="1" i="0">
                <a:latin typeface="Times New Roman" pitchFamily="18" charset="0"/>
              </a:rPr>
              <a:t>2</a:t>
            </a:r>
          </a:p>
        </p:txBody>
      </p:sp>
      <p:sp>
        <p:nvSpPr>
          <p:cNvPr id="1165318" name="Oval 6"/>
          <p:cNvSpPr>
            <a:spLocks noChangeArrowheads="1"/>
          </p:cNvSpPr>
          <p:nvPr/>
        </p:nvSpPr>
        <p:spPr bwMode="auto">
          <a:xfrm>
            <a:off x="8272973" y="3886200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3200" b="1" i="0">
                <a:latin typeface="Times New Roman" pitchFamily="18" charset="0"/>
              </a:rPr>
              <a:t>4</a:t>
            </a:r>
          </a:p>
        </p:txBody>
      </p:sp>
      <p:sp>
        <p:nvSpPr>
          <p:cNvPr id="1165319" name="Oval 7"/>
          <p:cNvSpPr>
            <a:spLocks noChangeArrowheads="1"/>
          </p:cNvSpPr>
          <p:nvPr/>
        </p:nvSpPr>
        <p:spPr bwMode="auto">
          <a:xfrm>
            <a:off x="7129973" y="4953000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3200" b="1" i="0">
                <a:latin typeface="Times New Roman" pitchFamily="18" charset="0"/>
              </a:rPr>
              <a:t>3</a:t>
            </a:r>
          </a:p>
        </p:txBody>
      </p:sp>
      <p:cxnSp>
        <p:nvCxnSpPr>
          <p:cNvPr id="1165320" name="AutoShape 8"/>
          <p:cNvCxnSpPr>
            <a:cxnSpLocks noChangeShapeType="1"/>
            <a:stCxn id="1165316" idx="3"/>
            <a:endCxn id="1165317" idx="7"/>
          </p:cNvCxnSpPr>
          <p:nvPr/>
        </p:nvCxnSpPr>
        <p:spPr bwMode="auto">
          <a:xfrm flipH="1">
            <a:off x="6507673" y="3354388"/>
            <a:ext cx="711200" cy="606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165321" name="AutoShape 9"/>
          <p:cNvCxnSpPr>
            <a:cxnSpLocks noChangeShapeType="1"/>
            <a:stCxn id="1165317" idx="5"/>
            <a:endCxn id="1165319" idx="1"/>
          </p:cNvCxnSpPr>
          <p:nvPr/>
        </p:nvCxnSpPr>
        <p:spPr bwMode="auto">
          <a:xfrm>
            <a:off x="6507673" y="4421188"/>
            <a:ext cx="711200" cy="606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165322" name="AutoShape 10"/>
          <p:cNvCxnSpPr>
            <a:cxnSpLocks noChangeShapeType="1"/>
            <a:stCxn id="1165318" idx="3"/>
            <a:endCxn id="1165319" idx="7"/>
          </p:cNvCxnSpPr>
          <p:nvPr/>
        </p:nvCxnSpPr>
        <p:spPr bwMode="auto">
          <a:xfrm flipH="1">
            <a:off x="7650673" y="4421188"/>
            <a:ext cx="711200" cy="606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165323" name="AutoShape 11"/>
          <p:cNvCxnSpPr>
            <a:cxnSpLocks noChangeShapeType="1"/>
            <a:stCxn id="1165316" idx="4"/>
            <a:endCxn id="1165319" idx="0"/>
          </p:cNvCxnSpPr>
          <p:nvPr/>
        </p:nvCxnSpPr>
        <p:spPr bwMode="auto">
          <a:xfrm>
            <a:off x="7434773" y="3443288"/>
            <a:ext cx="0" cy="1495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306919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94604"/>
            <a:ext cx="9144000" cy="457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b="1" dirty="0">
                <a:solidFill>
                  <a:schemeClr val="tx1"/>
                </a:solidFill>
              </a:rPr>
              <a:t>Adjacency List Representation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30000"/>
              </a:lnSpc>
              <a:defRPr/>
            </a:pPr>
            <a:r>
              <a:rPr lang="en-US" sz="2400" dirty="0"/>
              <a:t>Memory required</a:t>
            </a:r>
          </a:p>
          <a:p>
            <a:pPr lvl="1" eaLnBrk="1" hangingPunct="1">
              <a:lnSpc>
                <a:spcPct val="130000"/>
              </a:lnSpc>
              <a:defRPr/>
            </a:pPr>
            <a:r>
              <a:rPr lang="en-US" sz="2000" dirty="0">
                <a:sym typeface="Symbol" pitchFamily="18" charset="2"/>
              </a:rPr>
              <a:t>O(V + E)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sz="2400" dirty="0"/>
              <a:t>Preferred when</a:t>
            </a:r>
          </a:p>
          <a:p>
            <a:pPr lvl="1" eaLnBrk="1" hangingPunct="1">
              <a:lnSpc>
                <a:spcPct val="130000"/>
              </a:lnSpc>
              <a:defRPr/>
            </a:pPr>
            <a:r>
              <a:rPr lang="en-US" sz="2000" dirty="0"/>
              <a:t>for</a:t>
            </a:r>
            <a:r>
              <a:rPr lang="en-US" sz="2000" b="1" dirty="0"/>
              <a:t> sparse </a:t>
            </a:r>
            <a:r>
              <a:rPr lang="en-US" sz="2000" dirty="0"/>
              <a:t>graphs: </a:t>
            </a:r>
            <a:r>
              <a:rPr lang="en-US" sz="2000" dirty="0">
                <a:sym typeface="Symbol" pitchFamily="18" charset="2"/>
              </a:rPr>
              <a:t>E = O(V) </a:t>
            </a:r>
            <a:endParaRPr lang="en-US" sz="2000" dirty="0"/>
          </a:p>
          <a:p>
            <a:pPr eaLnBrk="1" hangingPunct="1">
              <a:lnSpc>
                <a:spcPct val="130000"/>
              </a:lnSpc>
              <a:defRPr/>
            </a:pPr>
            <a:r>
              <a:rPr lang="en-US" sz="2400" dirty="0"/>
              <a:t>Disadvantage</a:t>
            </a:r>
          </a:p>
          <a:p>
            <a:pPr lvl="1" eaLnBrk="1" hangingPunct="1">
              <a:lnSpc>
                <a:spcPct val="130000"/>
              </a:lnSpc>
              <a:defRPr/>
            </a:pPr>
            <a:r>
              <a:rPr lang="en-US" sz="2000" dirty="0"/>
              <a:t>No quick way to determine whether there is an edge between vertices u and v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sz="2400" dirty="0">
                <a:sym typeface="Symbol" pitchFamily="18" charset="2"/>
              </a:rPr>
              <a:t>Advantage</a:t>
            </a:r>
          </a:p>
          <a:p>
            <a:pPr lvl="1" eaLnBrk="1" hangingPunct="1">
              <a:lnSpc>
                <a:spcPct val="130000"/>
              </a:lnSpc>
              <a:defRPr/>
            </a:pPr>
            <a:r>
              <a:rPr lang="en-US" sz="2000" dirty="0">
                <a:sym typeface="Symbol" pitchFamily="18" charset="2"/>
              </a:rPr>
              <a:t>Can quickly determine all the vertices adjacent </a:t>
            </a:r>
            <a:r>
              <a:rPr lang="en-US" sz="2000" b="1" u="sng" dirty="0">
                <a:sym typeface="Symbol" pitchFamily="18" charset="2"/>
              </a:rPr>
              <a:t>from</a:t>
            </a:r>
            <a:r>
              <a:rPr lang="en-US" sz="2000" dirty="0">
                <a:sym typeface="Symbol" pitchFamily="18" charset="2"/>
              </a:rPr>
              <a:t> a given vertex, </a:t>
            </a:r>
            <a:r>
              <a:rPr lang="en-US" sz="2000" i="1" dirty="0">
                <a:sym typeface="Symbol" pitchFamily="18" charset="2"/>
              </a:rPr>
              <a:t>v:</a:t>
            </a:r>
            <a:r>
              <a:rPr lang="en-US" sz="2000" dirty="0">
                <a:sym typeface="Symbol" pitchFamily="18" charset="2"/>
              </a:rPr>
              <a:t> takes O(N(v)) time, where N(v) is the number of neighbors of v.</a:t>
            </a:r>
            <a:endParaRPr lang="en-US" sz="2000" dirty="0"/>
          </a:p>
        </p:txBody>
      </p:sp>
      <p:sp>
        <p:nvSpPr>
          <p:cNvPr id="123910" name="Line 6"/>
          <p:cNvSpPr>
            <a:spLocks noChangeShapeType="1"/>
          </p:cNvSpPr>
          <p:nvPr/>
        </p:nvSpPr>
        <p:spPr bwMode="auto">
          <a:xfrm flipV="1">
            <a:off x="2362200" y="1954213"/>
            <a:ext cx="1295400" cy="3048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11" name="Line 7"/>
          <p:cNvSpPr>
            <a:spLocks noChangeShapeType="1"/>
          </p:cNvSpPr>
          <p:nvPr/>
        </p:nvSpPr>
        <p:spPr bwMode="auto">
          <a:xfrm>
            <a:off x="2362200" y="2259013"/>
            <a:ext cx="1219200" cy="3048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12" name="Text Box 8"/>
          <p:cNvSpPr txBox="1">
            <a:spLocks noChangeArrowheads="1"/>
          </p:cNvSpPr>
          <p:nvPr/>
        </p:nvSpPr>
        <p:spPr bwMode="auto">
          <a:xfrm>
            <a:off x="4529799" y="1725613"/>
            <a:ext cx="3937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FF9933"/>
                </a:solidFill>
                <a:latin typeface="Arial" panose="020B0604020202020204" pitchFamily="34" charset="0"/>
              </a:rPr>
              <a:t>O(V) for sparse graphs since E=O(V)</a:t>
            </a:r>
          </a:p>
        </p:txBody>
      </p:sp>
      <p:sp>
        <p:nvSpPr>
          <p:cNvPr id="123913" name="Text Box 9"/>
          <p:cNvSpPr txBox="1">
            <a:spLocks noChangeArrowheads="1"/>
          </p:cNvSpPr>
          <p:nvPr/>
        </p:nvSpPr>
        <p:spPr bwMode="auto">
          <a:xfrm>
            <a:off x="4529799" y="2335213"/>
            <a:ext cx="40417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9933"/>
                </a:solidFill>
                <a:latin typeface="Arial" panose="020B0604020202020204" pitchFamily="34" charset="0"/>
              </a:rPr>
              <a:t>O(V</a:t>
            </a:r>
            <a:r>
              <a:rPr lang="en-US" altLang="en-US" sz="1800" baseline="30000">
                <a:solidFill>
                  <a:srgbClr val="FF9933"/>
                </a:solidFill>
                <a:latin typeface="Arial" panose="020B0604020202020204" pitchFamily="34" charset="0"/>
              </a:rPr>
              <a:t>2</a:t>
            </a:r>
            <a:r>
              <a:rPr lang="en-US" altLang="en-US" sz="1800">
                <a:solidFill>
                  <a:srgbClr val="FF9933"/>
                </a:solidFill>
                <a:latin typeface="Arial" panose="020B0604020202020204" pitchFamily="34" charset="0"/>
              </a:rPr>
              <a:t>) for dense graphs since E=O(V</a:t>
            </a:r>
            <a:r>
              <a:rPr lang="en-US" altLang="en-US" sz="1800" baseline="30000">
                <a:solidFill>
                  <a:srgbClr val="FF9933"/>
                </a:solidFill>
                <a:latin typeface="Arial" panose="020B0604020202020204" pitchFamily="34" charset="0"/>
              </a:rPr>
              <a:t>2</a:t>
            </a:r>
            <a:r>
              <a:rPr lang="en-US" altLang="en-US" sz="1800">
                <a:solidFill>
                  <a:srgbClr val="FF9933"/>
                </a:solidFill>
                <a:latin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718518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2740"/>
            <a:ext cx="9144000" cy="457200"/>
          </a:xfrm>
        </p:spPr>
        <p:txBody>
          <a:bodyPr>
            <a:noAutofit/>
          </a:bodyPr>
          <a:lstStyle/>
          <a:p>
            <a:r>
              <a:rPr lang="en-US" altLang="en-US" sz="3600" b="1" dirty="0">
                <a:solidFill>
                  <a:schemeClr val="tx1"/>
                </a:solidFill>
                <a:sym typeface="Symbol" panose="05050102010706020507" pitchFamily="18" charset="2"/>
              </a:rPr>
              <a:t>Graph Searching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139488"/>
            <a:ext cx="8351520" cy="5410200"/>
          </a:xfrm>
        </p:spPr>
        <p:txBody>
          <a:bodyPr/>
          <a:lstStyle/>
          <a:p>
            <a:pPr algn="just">
              <a:spcBef>
                <a:spcPts val="1800"/>
              </a:spcBef>
            </a:pPr>
            <a:r>
              <a:rPr lang="en-US" altLang="en-US" sz="2800" b="1" dirty="0">
                <a:latin typeface="Calibri (body)"/>
              </a:rPr>
              <a:t>Given:</a:t>
            </a:r>
            <a:r>
              <a:rPr lang="en-US" altLang="en-US" sz="2800" dirty="0">
                <a:latin typeface="Calibri (body)"/>
              </a:rPr>
              <a:t> a graph G = (V, E), directed or undirected</a:t>
            </a:r>
          </a:p>
          <a:p>
            <a:pPr algn="just">
              <a:spcBef>
                <a:spcPts val="1800"/>
              </a:spcBef>
            </a:pPr>
            <a:r>
              <a:rPr lang="en-US" altLang="en-US" sz="2800" b="1" dirty="0">
                <a:latin typeface="Calibri (body)"/>
              </a:rPr>
              <a:t>Goal:</a:t>
            </a:r>
            <a:r>
              <a:rPr lang="en-US" altLang="en-US" sz="2800" dirty="0">
                <a:latin typeface="Calibri (body)"/>
              </a:rPr>
              <a:t> methodically explore every vertex and every edge</a:t>
            </a:r>
          </a:p>
          <a:p>
            <a:pPr algn="just">
              <a:spcBef>
                <a:spcPts val="1800"/>
              </a:spcBef>
            </a:pPr>
            <a:r>
              <a:rPr lang="en-US" altLang="en-US" sz="2800" b="1" dirty="0">
                <a:latin typeface="Calibri (body)"/>
              </a:rPr>
              <a:t>Ultimately:</a:t>
            </a:r>
            <a:r>
              <a:rPr lang="en-US" altLang="en-US" sz="2800" dirty="0">
                <a:latin typeface="Calibri (body)"/>
              </a:rPr>
              <a:t> build a tree on the graph</a:t>
            </a:r>
          </a:p>
          <a:p>
            <a:pPr lvl="1" algn="just">
              <a:spcBef>
                <a:spcPts val="1800"/>
              </a:spcBef>
            </a:pPr>
            <a:r>
              <a:rPr lang="en-US" altLang="en-US" sz="2800" dirty="0">
                <a:latin typeface="Calibri (body)"/>
              </a:rPr>
              <a:t>Pick a vertex as the root</a:t>
            </a:r>
          </a:p>
          <a:p>
            <a:pPr lvl="1" algn="just">
              <a:spcBef>
                <a:spcPts val="1800"/>
              </a:spcBef>
            </a:pPr>
            <a:r>
              <a:rPr lang="en-US" altLang="en-US" sz="2800" dirty="0">
                <a:latin typeface="Calibri (body)"/>
              </a:rPr>
              <a:t>Choose certain edges to produce a tree</a:t>
            </a:r>
          </a:p>
          <a:p>
            <a:pPr lvl="1" algn="just">
              <a:spcBef>
                <a:spcPts val="1800"/>
              </a:spcBef>
            </a:pPr>
            <a:r>
              <a:rPr lang="en-US" altLang="en-US" sz="2800" dirty="0">
                <a:latin typeface="Calibri (body)"/>
              </a:rPr>
              <a:t>Note: might also build a </a:t>
            </a:r>
            <a:r>
              <a:rPr lang="en-US" altLang="en-US" sz="2800" i="1" dirty="0">
                <a:solidFill>
                  <a:srgbClr val="003399"/>
                </a:solidFill>
                <a:latin typeface="Calibri (body)"/>
              </a:rPr>
              <a:t>forest</a:t>
            </a:r>
            <a:r>
              <a:rPr lang="en-US" altLang="en-US" sz="2800" dirty="0">
                <a:solidFill>
                  <a:srgbClr val="003399"/>
                </a:solidFill>
                <a:latin typeface="Calibri (body)"/>
              </a:rPr>
              <a:t> </a:t>
            </a:r>
            <a:r>
              <a:rPr lang="en-US" altLang="en-US" sz="2800" dirty="0">
                <a:latin typeface="Calibri (body)"/>
              </a:rPr>
              <a:t>if graph is not connected</a:t>
            </a:r>
          </a:p>
        </p:txBody>
      </p:sp>
    </p:spTree>
    <p:extLst>
      <p:ext uri="{BB962C8B-B14F-4D97-AF65-F5344CB8AC3E}">
        <p14:creationId xmlns:p14="http://schemas.microsoft.com/office/powerpoint/2010/main" val="1346245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0876"/>
            <a:ext cx="9144000" cy="457200"/>
          </a:xfrm>
        </p:spPr>
        <p:txBody>
          <a:bodyPr>
            <a:noAutofit/>
          </a:bodyPr>
          <a:lstStyle/>
          <a:p>
            <a:r>
              <a:rPr lang="en-US" altLang="en-US" sz="3600" b="1" dirty="0">
                <a:solidFill>
                  <a:schemeClr val="tx1"/>
                </a:solidFill>
              </a:rPr>
              <a:t>Graph Traversals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153556"/>
            <a:ext cx="7848600" cy="5410200"/>
          </a:xfrm>
        </p:spPr>
        <p:txBody>
          <a:bodyPr/>
          <a:lstStyle/>
          <a:p>
            <a:pPr algn="just">
              <a:spcBef>
                <a:spcPts val="1800"/>
              </a:spcBef>
            </a:pPr>
            <a:r>
              <a:rPr lang="en-US" altLang="en-US" sz="3600" dirty="0">
                <a:latin typeface="Franklin Gothic Book" pitchFamily="34" charset="0"/>
              </a:rPr>
              <a:t>Ways to traverse/search a graph</a:t>
            </a:r>
          </a:p>
          <a:p>
            <a:pPr lvl="1" algn="just">
              <a:spcBef>
                <a:spcPts val="1800"/>
              </a:spcBef>
            </a:pPr>
            <a:r>
              <a:rPr lang="en-US" altLang="en-US" sz="3600" dirty="0">
                <a:latin typeface="Franklin Gothic Book" pitchFamily="34" charset="0"/>
              </a:rPr>
              <a:t>Visit every vertex exactly once</a:t>
            </a:r>
          </a:p>
          <a:p>
            <a:pPr algn="just">
              <a:spcBef>
                <a:spcPts val="1800"/>
              </a:spcBef>
            </a:pPr>
            <a:endParaRPr lang="en-US" altLang="en-US" sz="3600" dirty="0">
              <a:latin typeface="Franklin Gothic Book" pitchFamily="34" charset="0"/>
            </a:endParaRPr>
          </a:p>
          <a:p>
            <a:pPr marL="571500" indent="-571500" algn="just"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en-US" altLang="en-US" sz="3600" dirty="0">
                <a:latin typeface="Franklin Gothic Book" pitchFamily="34" charset="0"/>
              </a:rPr>
              <a:t>Breadth-First Search</a:t>
            </a:r>
          </a:p>
          <a:p>
            <a:pPr marL="571500" indent="-571500" algn="just"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en-US" altLang="en-US" sz="3600" dirty="0">
                <a:latin typeface="Franklin Gothic Book" pitchFamily="34" charset="0"/>
              </a:rPr>
              <a:t>Depth-First Search</a:t>
            </a:r>
          </a:p>
        </p:txBody>
      </p:sp>
    </p:spTree>
    <p:extLst>
      <p:ext uri="{BB962C8B-B14F-4D97-AF65-F5344CB8AC3E}">
        <p14:creationId xmlns:p14="http://schemas.microsoft.com/office/powerpoint/2010/main" val="2249095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0876"/>
            <a:ext cx="9144000" cy="457200"/>
          </a:xfrm>
        </p:spPr>
        <p:txBody>
          <a:bodyPr>
            <a:noAutofit/>
          </a:bodyPr>
          <a:lstStyle/>
          <a:p>
            <a:r>
              <a:rPr lang="en-US" altLang="en-US" sz="3600" b="1" dirty="0">
                <a:solidFill>
                  <a:schemeClr val="tx1"/>
                </a:solidFill>
              </a:rPr>
              <a:t>Breadth-First Search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181692"/>
            <a:ext cx="8421858" cy="5410200"/>
          </a:xfrm>
        </p:spPr>
        <p:txBody>
          <a:bodyPr/>
          <a:lstStyle/>
          <a:p>
            <a:pPr algn="just">
              <a:spcBef>
                <a:spcPts val="1800"/>
              </a:spcBef>
            </a:pPr>
            <a:r>
              <a:rPr lang="en-US" altLang="en-US" sz="2800" dirty="0">
                <a:latin typeface="Calibri (body)"/>
              </a:rPr>
              <a:t>“Explore” a graph, turning it into a tree</a:t>
            </a:r>
          </a:p>
          <a:p>
            <a:pPr lvl="1" algn="just">
              <a:spcBef>
                <a:spcPts val="1800"/>
              </a:spcBef>
            </a:pPr>
            <a:r>
              <a:rPr lang="en-US" altLang="en-US" sz="2800" dirty="0">
                <a:latin typeface="Calibri (body)"/>
              </a:rPr>
              <a:t>One vertex at a time</a:t>
            </a:r>
          </a:p>
          <a:p>
            <a:pPr lvl="1" algn="just">
              <a:spcBef>
                <a:spcPts val="1800"/>
              </a:spcBef>
            </a:pPr>
            <a:r>
              <a:rPr lang="en-US" altLang="en-US" sz="2800" dirty="0">
                <a:latin typeface="Calibri (body)"/>
              </a:rPr>
              <a:t>Expand frontier of explored vertices across the </a:t>
            </a:r>
            <a:r>
              <a:rPr lang="en-US" altLang="en-US" sz="2800" i="1" dirty="0">
                <a:solidFill>
                  <a:srgbClr val="003399"/>
                </a:solidFill>
                <a:latin typeface="Calibri (body)"/>
              </a:rPr>
              <a:t>breadth</a:t>
            </a:r>
            <a:r>
              <a:rPr lang="en-US" altLang="en-US" sz="2800" dirty="0">
                <a:solidFill>
                  <a:srgbClr val="003399"/>
                </a:solidFill>
                <a:latin typeface="Calibri (body)"/>
              </a:rPr>
              <a:t> </a:t>
            </a:r>
            <a:r>
              <a:rPr lang="en-US" altLang="en-US" sz="2800" dirty="0">
                <a:latin typeface="Calibri (body)"/>
              </a:rPr>
              <a:t>of the frontier</a:t>
            </a:r>
          </a:p>
          <a:p>
            <a:pPr algn="just">
              <a:spcBef>
                <a:spcPts val="1800"/>
              </a:spcBef>
            </a:pPr>
            <a:r>
              <a:rPr lang="en-US" altLang="en-US" sz="2800" dirty="0">
                <a:latin typeface="Calibri (body)"/>
              </a:rPr>
              <a:t>Builds a tree over the graph</a:t>
            </a:r>
          </a:p>
          <a:p>
            <a:pPr lvl="1" algn="just">
              <a:spcBef>
                <a:spcPts val="1800"/>
              </a:spcBef>
            </a:pPr>
            <a:r>
              <a:rPr lang="en-US" altLang="en-US" sz="2800" dirty="0">
                <a:latin typeface="Calibri (body)"/>
              </a:rPr>
              <a:t>Pick a </a:t>
            </a:r>
            <a:r>
              <a:rPr lang="en-US" altLang="en-US" sz="2800" i="1" dirty="0">
                <a:solidFill>
                  <a:srgbClr val="003399"/>
                </a:solidFill>
                <a:latin typeface="Calibri (body)"/>
              </a:rPr>
              <a:t>source vertex</a:t>
            </a:r>
            <a:r>
              <a:rPr lang="en-US" altLang="en-US" sz="2800" dirty="0">
                <a:solidFill>
                  <a:srgbClr val="003399"/>
                </a:solidFill>
                <a:latin typeface="Calibri (body)"/>
              </a:rPr>
              <a:t> </a:t>
            </a:r>
            <a:r>
              <a:rPr lang="en-US" altLang="en-US" sz="2800" dirty="0">
                <a:latin typeface="Calibri (body)"/>
              </a:rPr>
              <a:t>to be the root</a:t>
            </a:r>
          </a:p>
          <a:p>
            <a:pPr lvl="1" algn="just">
              <a:spcBef>
                <a:spcPts val="1800"/>
              </a:spcBef>
            </a:pPr>
            <a:r>
              <a:rPr lang="en-US" altLang="en-US" sz="2800" dirty="0">
                <a:latin typeface="Calibri (body)"/>
              </a:rPr>
              <a:t>Find (“discover”) all of its children, then their children, etc.</a:t>
            </a:r>
          </a:p>
        </p:txBody>
      </p:sp>
    </p:spTree>
    <p:extLst>
      <p:ext uri="{BB962C8B-B14F-4D97-AF65-F5344CB8AC3E}">
        <p14:creationId xmlns:p14="http://schemas.microsoft.com/office/powerpoint/2010/main" val="2762220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18164"/>
            <a:ext cx="9144000" cy="457200"/>
          </a:xfrm>
        </p:spPr>
        <p:txBody>
          <a:bodyPr/>
          <a:lstStyle/>
          <a:p>
            <a:r>
              <a:rPr lang="en-US" sz="2800" b="1" dirty="0">
                <a:solidFill>
                  <a:schemeClr val="tx1"/>
                </a:solidFill>
              </a:rPr>
              <a:t>Basic idea behind breadth first search (BFS)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296" y="2275155"/>
            <a:ext cx="8019904" cy="810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275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2740"/>
            <a:ext cx="9144000" cy="457200"/>
          </a:xfrm>
        </p:spPr>
        <p:txBody>
          <a:bodyPr/>
          <a:lstStyle/>
          <a:p>
            <a:r>
              <a:rPr lang="en-US" sz="3200" b="1" dirty="0"/>
              <a:t>Breadth first search (BFS)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5" y="1123950"/>
            <a:ext cx="6686550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977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1123950"/>
            <a:ext cx="6667500" cy="46101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222740"/>
            <a:ext cx="9144000" cy="457200"/>
          </a:xfrm>
        </p:spPr>
        <p:txBody>
          <a:bodyPr/>
          <a:lstStyle/>
          <a:p>
            <a:r>
              <a:rPr lang="en-US" sz="3200" b="1" dirty="0"/>
              <a:t>Breadth first search (BFS)</a:t>
            </a:r>
          </a:p>
        </p:txBody>
      </p:sp>
    </p:spTree>
    <p:extLst>
      <p:ext uri="{BB962C8B-B14F-4D97-AF65-F5344CB8AC3E}">
        <p14:creationId xmlns:p14="http://schemas.microsoft.com/office/powerpoint/2010/main" val="1719298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775" y="1123950"/>
            <a:ext cx="6648450" cy="46101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222740"/>
            <a:ext cx="9144000" cy="457200"/>
          </a:xfrm>
        </p:spPr>
        <p:txBody>
          <a:bodyPr/>
          <a:lstStyle/>
          <a:p>
            <a:r>
              <a:rPr lang="en-US" sz="3200" b="1" dirty="0"/>
              <a:t>Breadth first search (BFS)</a:t>
            </a:r>
          </a:p>
        </p:txBody>
      </p:sp>
    </p:spTree>
    <p:extLst>
      <p:ext uri="{BB962C8B-B14F-4D97-AF65-F5344CB8AC3E}">
        <p14:creationId xmlns:p14="http://schemas.microsoft.com/office/powerpoint/2010/main" val="2901207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012" y="1133475"/>
            <a:ext cx="6657975" cy="459105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222740"/>
            <a:ext cx="9144000" cy="457200"/>
          </a:xfrm>
        </p:spPr>
        <p:txBody>
          <a:bodyPr/>
          <a:lstStyle/>
          <a:p>
            <a:r>
              <a:rPr lang="en-US" sz="3200" b="1" dirty="0"/>
              <a:t>Breadth first search (BFS)</a:t>
            </a:r>
          </a:p>
        </p:txBody>
      </p:sp>
    </p:spTree>
    <p:extLst>
      <p:ext uri="{BB962C8B-B14F-4D97-AF65-F5344CB8AC3E}">
        <p14:creationId xmlns:p14="http://schemas.microsoft.com/office/powerpoint/2010/main" val="582649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537" y="1109662"/>
            <a:ext cx="6638925" cy="4638675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222740"/>
            <a:ext cx="9144000" cy="457200"/>
          </a:xfrm>
        </p:spPr>
        <p:txBody>
          <a:bodyPr/>
          <a:lstStyle/>
          <a:p>
            <a:r>
              <a:rPr lang="en-US" sz="3200" b="1" dirty="0"/>
              <a:t>Breadth first search (BFS)</a:t>
            </a:r>
          </a:p>
        </p:txBody>
      </p:sp>
    </p:spTree>
    <p:extLst>
      <p:ext uri="{BB962C8B-B14F-4D97-AF65-F5344CB8AC3E}">
        <p14:creationId xmlns:p14="http://schemas.microsoft.com/office/powerpoint/2010/main" val="104785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1216"/>
            <a:ext cx="9144000" cy="457200"/>
          </a:xfrm>
        </p:spPr>
        <p:txBody>
          <a:bodyPr/>
          <a:lstStyle/>
          <a:p>
            <a:r>
              <a:rPr lang="en-US" sz="2800" b="1" dirty="0"/>
              <a:t>What does </a:t>
            </a:r>
            <a:r>
              <a:rPr lang="en-US" sz="2800" b="1" i="1" dirty="0"/>
              <a:t>this </a:t>
            </a:r>
            <a:r>
              <a:rPr lang="en-US" sz="2800" b="1" dirty="0"/>
              <a:t>BFS(</a:t>
            </a:r>
            <a:r>
              <a:rPr lang="en-US" sz="2800" b="1" i="1" dirty="0"/>
              <a:t>G</a:t>
            </a:r>
            <a:r>
              <a:rPr lang="en-US" sz="2800" b="1" dirty="0"/>
              <a:t>, </a:t>
            </a:r>
            <a:r>
              <a:rPr lang="en-US" sz="2800" b="1" i="1" dirty="0"/>
              <a:t>s</a:t>
            </a:r>
            <a:r>
              <a:rPr lang="en-US" sz="2800" b="1" dirty="0"/>
              <a:t>) algorithm tell us?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59" y="1322581"/>
            <a:ext cx="8144726" cy="419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12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6808"/>
            <a:ext cx="9144000" cy="457200"/>
          </a:xfrm>
        </p:spPr>
        <p:txBody>
          <a:bodyPr/>
          <a:lstStyle/>
          <a:p>
            <a:r>
              <a:rPr lang="en-US" sz="2800" b="1" dirty="0"/>
              <a:t>A better Breadth first search (BFS) algorithm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16" y="1151500"/>
            <a:ext cx="8709952" cy="2928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633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4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9012"/>
            <a:ext cx="9144000" cy="457200"/>
          </a:xfrm>
        </p:spPr>
        <p:txBody>
          <a:bodyPr/>
          <a:lstStyle/>
          <a:p>
            <a:r>
              <a:rPr lang="en-US" sz="3200" b="1" dirty="0">
                <a:solidFill>
                  <a:schemeClr val="tx1"/>
                </a:solidFill>
              </a:rPr>
              <a:t>Breadth-First Search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93" y="1390942"/>
            <a:ext cx="8656609" cy="4672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038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64943"/>
            <a:ext cx="9144000" cy="457200"/>
          </a:xfrm>
        </p:spPr>
        <p:txBody>
          <a:bodyPr>
            <a:normAutofit/>
          </a:bodyPr>
          <a:lstStyle/>
          <a:p>
            <a:r>
              <a:rPr lang="en-US" altLang="en-US" sz="3200" b="1" dirty="0">
                <a:solidFill>
                  <a:schemeClr val="tx1"/>
                </a:solidFill>
              </a:rPr>
              <a:t>Breadth-First Search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125420"/>
            <a:ext cx="7848600" cy="5410200"/>
          </a:xfrm>
        </p:spPr>
        <p:txBody>
          <a:bodyPr/>
          <a:lstStyle/>
          <a:p>
            <a:pPr algn="just">
              <a:spcBef>
                <a:spcPts val="1800"/>
              </a:spcBef>
            </a:pPr>
            <a:r>
              <a:rPr lang="en-US" altLang="en-US" sz="2400" dirty="0">
                <a:latin typeface="Calibri (body)"/>
              </a:rPr>
              <a:t>Associate vertex “colors” to guide the algorithm</a:t>
            </a:r>
          </a:p>
          <a:p>
            <a:pPr lvl="1" algn="just">
              <a:spcBef>
                <a:spcPts val="1800"/>
              </a:spcBef>
            </a:pPr>
            <a:r>
              <a:rPr lang="en-US" altLang="en-US" sz="2400" dirty="0">
                <a:latin typeface="Calibri (body)"/>
              </a:rPr>
              <a:t>White vertices have not been discovered</a:t>
            </a:r>
          </a:p>
          <a:p>
            <a:pPr lvl="2" algn="just">
              <a:spcBef>
                <a:spcPts val="1800"/>
              </a:spcBef>
            </a:pPr>
            <a:r>
              <a:rPr lang="en-US" altLang="en-US" sz="2400" dirty="0">
                <a:latin typeface="Calibri (body)"/>
              </a:rPr>
              <a:t>All vertices start out white</a:t>
            </a:r>
          </a:p>
          <a:p>
            <a:pPr lvl="1" algn="just">
              <a:spcBef>
                <a:spcPts val="1800"/>
              </a:spcBef>
            </a:pPr>
            <a:r>
              <a:rPr lang="en-US" altLang="en-US" sz="2400" dirty="0">
                <a:latin typeface="Calibri (body)"/>
              </a:rPr>
              <a:t>Grey vertices are discovered but not fully explored</a:t>
            </a:r>
          </a:p>
          <a:p>
            <a:pPr lvl="2" algn="just">
              <a:spcBef>
                <a:spcPts val="1800"/>
              </a:spcBef>
            </a:pPr>
            <a:r>
              <a:rPr lang="en-US" altLang="en-US" sz="2400" dirty="0">
                <a:latin typeface="Calibri (body)"/>
              </a:rPr>
              <a:t>They may be adjacent to white vertices</a:t>
            </a:r>
          </a:p>
          <a:p>
            <a:pPr lvl="1" algn="just">
              <a:spcBef>
                <a:spcPts val="1800"/>
              </a:spcBef>
            </a:pPr>
            <a:r>
              <a:rPr lang="en-US" altLang="en-US" sz="2400" dirty="0">
                <a:latin typeface="Calibri (body)"/>
              </a:rPr>
              <a:t>Black vertices are discovered and fully explored</a:t>
            </a:r>
          </a:p>
          <a:p>
            <a:pPr lvl="2" algn="just">
              <a:spcBef>
                <a:spcPts val="1800"/>
              </a:spcBef>
            </a:pPr>
            <a:r>
              <a:rPr lang="en-US" altLang="en-US" sz="2400" dirty="0">
                <a:latin typeface="Calibri (body)"/>
              </a:rPr>
              <a:t>They are adjacent only to black and gray vertices</a:t>
            </a:r>
          </a:p>
          <a:p>
            <a:pPr algn="just">
              <a:spcBef>
                <a:spcPts val="1800"/>
              </a:spcBef>
            </a:pPr>
            <a:r>
              <a:rPr lang="en-US" altLang="en-US" sz="2400" dirty="0">
                <a:latin typeface="Calibri (body)"/>
              </a:rPr>
              <a:t>Explore vertices by scanning adjacency list of grey vertices</a:t>
            </a:r>
          </a:p>
        </p:txBody>
      </p:sp>
    </p:spTree>
    <p:extLst>
      <p:ext uri="{BB962C8B-B14F-4D97-AF65-F5344CB8AC3E}">
        <p14:creationId xmlns:p14="http://schemas.microsoft.com/office/powerpoint/2010/main" val="3421468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36808"/>
            <a:ext cx="9144000" cy="457200"/>
          </a:xfrm>
        </p:spPr>
        <p:txBody>
          <a:bodyPr>
            <a:normAutofit/>
          </a:bodyPr>
          <a:lstStyle/>
          <a:p>
            <a:r>
              <a:rPr lang="en-US" altLang="en-US" sz="3200" b="1" dirty="0">
                <a:solidFill>
                  <a:schemeClr val="tx1"/>
                </a:solidFill>
              </a:rPr>
              <a:t>BFS Trees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055080"/>
            <a:ext cx="8281182" cy="5410200"/>
          </a:xfrm>
        </p:spPr>
        <p:txBody>
          <a:bodyPr/>
          <a:lstStyle/>
          <a:p>
            <a:pPr marL="457200" indent="-457200" algn="just">
              <a:spcBef>
                <a:spcPts val="2400"/>
              </a:spcBef>
              <a:buFont typeface="Wingdings" panose="05000000000000000000" pitchFamily="2" charset="2"/>
              <a:buChar char="q"/>
            </a:pPr>
            <a:r>
              <a:rPr lang="en-US" altLang="en-US" sz="2800" dirty="0">
                <a:latin typeface="Calibri (body)"/>
              </a:rPr>
              <a:t>BFS tree is not necessarily unique for a given graph</a:t>
            </a:r>
          </a:p>
          <a:p>
            <a:pPr marL="457200" indent="-457200" algn="just">
              <a:spcBef>
                <a:spcPts val="2400"/>
              </a:spcBef>
              <a:buFont typeface="Wingdings" panose="05000000000000000000" pitchFamily="2" charset="2"/>
              <a:buChar char="q"/>
            </a:pPr>
            <a:r>
              <a:rPr lang="en-US" altLang="en-US" sz="2800" dirty="0">
                <a:latin typeface="Calibri (body)"/>
              </a:rPr>
              <a:t>Depends on the order in which neighboring vertices are processed</a:t>
            </a:r>
          </a:p>
          <a:p>
            <a:pPr marL="457200" indent="-457200" algn="just">
              <a:spcBef>
                <a:spcPts val="2400"/>
              </a:spcBef>
              <a:buFont typeface="Wingdings" panose="05000000000000000000" pitchFamily="2" charset="2"/>
              <a:buChar char="q"/>
            </a:pPr>
            <a:r>
              <a:rPr lang="en-US" altLang="en-US" sz="2800" dirty="0">
                <a:latin typeface="Calibri (body)"/>
              </a:rPr>
              <a:t>During the breadth-first search, assign an integer to each vertex</a:t>
            </a:r>
          </a:p>
          <a:p>
            <a:pPr marL="457200" indent="-457200" algn="just">
              <a:spcBef>
                <a:spcPts val="2400"/>
              </a:spcBef>
              <a:buFont typeface="Wingdings" panose="05000000000000000000" pitchFamily="2" charset="2"/>
              <a:buChar char="q"/>
            </a:pPr>
            <a:r>
              <a:rPr lang="en-US" altLang="en-US" sz="2800" dirty="0">
                <a:latin typeface="Calibri (body)"/>
              </a:rPr>
              <a:t>Indicate the distance of each vertex from the source s</a:t>
            </a:r>
          </a:p>
          <a:p>
            <a:pPr marL="457200" indent="-457200" algn="just">
              <a:spcBef>
                <a:spcPts val="2400"/>
              </a:spcBef>
              <a:buFont typeface="Wingdings" panose="05000000000000000000" pitchFamily="2" charset="2"/>
              <a:buChar char="q"/>
            </a:pPr>
            <a:endParaRPr lang="en-US" altLang="en-US" sz="2800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453182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399" y="152400"/>
            <a:ext cx="6231147" cy="6248400"/>
          </a:xfrm>
          <a:solidFill>
            <a:srgbClr val="CCECFF"/>
          </a:solidFill>
          <a:ln>
            <a:solidFill>
              <a:schemeClr val="tx1"/>
            </a:solidFill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800" u="sng" dirty="0">
                <a:solidFill>
                  <a:schemeClr val="tx1"/>
                </a:solidFill>
              </a:rPr>
              <a:t>BFS(G,s)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>
                <a:solidFill>
                  <a:schemeClr val="tx1"/>
                </a:solidFill>
              </a:rPr>
              <a:t>1.	for each vertex u in V[G] –  {s}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>
                <a:solidFill>
                  <a:schemeClr val="tx1"/>
                </a:solidFill>
              </a:rPr>
              <a:t>2		</a:t>
            </a:r>
            <a:r>
              <a:rPr lang="en-US" sz="1800" dirty="0"/>
              <a:t>     </a:t>
            </a:r>
            <a:r>
              <a:rPr lang="en-US" sz="1800" i="1" dirty="0">
                <a:solidFill>
                  <a:schemeClr val="tx1"/>
                </a:solidFill>
              </a:rPr>
              <a:t>color</a:t>
            </a:r>
            <a:r>
              <a:rPr lang="en-US" sz="1800" dirty="0">
                <a:solidFill>
                  <a:schemeClr val="tx1"/>
                </a:solidFill>
              </a:rPr>
              <a:t>[</a:t>
            </a:r>
            <a:r>
              <a:rPr lang="en-US" sz="1800" i="1" dirty="0">
                <a:solidFill>
                  <a:schemeClr val="tx1"/>
                </a:solidFill>
              </a:rPr>
              <a:t>u</a:t>
            </a:r>
            <a:r>
              <a:rPr lang="en-US" sz="1800" dirty="0">
                <a:solidFill>
                  <a:schemeClr val="tx1"/>
                </a:solidFill>
              </a:rPr>
              <a:t>] 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</a:t>
            </a:r>
            <a:r>
              <a:rPr lang="en-US" sz="1800" dirty="0">
                <a:solidFill>
                  <a:schemeClr val="tx1"/>
                </a:solidFill>
              </a:rPr>
              <a:t> white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>
                <a:solidFill>
                  <a:schemeClr val="tx1"/>
                </a:solidFill>
              </a:rPr>
              <a:t>3		     </a:t>
            </a:r>
            <a:r>
              <a:rPr lang="en-US" sz="1800" i="1" dirty="0">
                <a:solidFill>
                  <a:schemeClr val="tx1"/>
                </a:solidFill>
              </a:rPr>
              <a:t>d</a:t>
            </a:r>
            <a:r>
              <a:rPr lang="en-US" sz="1800" dirty="0">
                <a:solidFill>
                  <a:schemeClr val="tx1"/>
                </a:solidFill>
              </a:rPr>
              <a:t>[</a:t>
            </a:r>
            <a:r>
              <a:rPr lang="en-US" sz="1800" i="1" dirty="0">
                <a:solidFill>
                  <a:schemeClr val="tx1"/>
                </a:solidFill>
              </a:rPr>
              <a:t>u</a:t>
            </a:r>
            <a:r>
              <a:rPr lang="en-US" sz="1800" dirty="0">
                <a:solidFill>
                  <a:schemeClr val="tx1"/>
                </a:solidFill>
              </a:rPr>
              <a:t>] 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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</a:t>
            </a:r>
            <a:endParaRPr lang="en-US" sz="18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>
                <a:solidFill>
                  <a:schemeClr val="tx1"/>
                </a:solidFill>
              </a:rPr>
              <a:t>4		     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[</a:t>
            </a:r>
            <a:r>
              <a:rPr lang="en-US" sz="1800" i="1" dirty="0">
                <a:solidFill>
                  <a:schemeClr val="tx1"/>
                </a:solidFill>
                <a:sym typeface="Symbol" pitchFamily="18" charset="2"/>
              </a:rPr>
              <a:t>u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]  nil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5	color[</a:t>
            </a:r>
            <a:r>
              <a:rPr lang="en-US" sz="1800" i="1" dirty="0">
                <a:solidFill>
                  <a:schemeClr val="tx1"/>
                </a:solidFill>
                <a:sym typeface="Symbol" pitchFamily="18" charset="2"/>
              </a:rPr>
              <a:t>s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]  gray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6	d[</a:t>
            </a:r>
            <a:r>
              <a:rPr lang="en-US" sz="1800" i="1" dirty="0">
                <a:solidFill>
                  <a:schemeClr val="tx1"/>
                </a:solidFill>
                <a:sym typeface="Symbol" pitchFamily="18" charset="2"/>
              </a:rPr>
              <a:t>s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]  0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7	[</a:t>
            </a:r>
            <a:r>
              <a:rPr lang="en-US" sz="1800" i="1" dirty="0">
                <a:solidFill>
                  <a:schemeClr val="tx1"/>
                </a:solidFill>
                <a:sym typeface="Symbol" pitchFamily="18" charset="2"/>
              </a:rPr>
              <a:t>s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]  nil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8	</a:t>
            </a:r>
            <a:r>
              <a:rPr lang="en-US" sz="1800" i="1" dirty="0">
                <a:solidFill>
                  <a:schemeClr val="tx1"/>
                </a:solidFill>
                <a:sym typeface="Symbol" pitchFamily="18" charset="2"/>
              </a:rPr>
              <a:t>Q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  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9	</a:t>
            </a:r>
            <a:r>
              <a:rPr lang="en-US" sz="1800" dirty="0" err="1">
                <a:solidFill>
                  <a:schemeClr val="tx1"/>
                </a:solidFill>
                <a:sym typeface="Symbol" pitchFamily="18" charset="2"/>
              </a:rPr>
              <a:t>enqueue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(</a:t>
            </a:r>
            <a:r>
              <a:rPr lang="en-US" sz="1800" i="1" dirty="0">
                <a:solidFill>
                  <a:schemeClr val="tx1"/>
                </a:solidFill>
                <a:sym typeface="Symbol" pitchFamily="18" charset="2"/>
              </a:rPr>
              <a:t>Q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,s)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10	while Q  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11		u  </a:t>
            </a:r>
            <a:r>
              <a:rPr lang="en-US" sz="1800" dirty="0" err="1">
                <a:solidFill>
                  <a:schemeClr val="tx1"/>
                </a:solidFill>
                <a:sym typeface="Symbol" pitchFamily="18" charset="2"/>
              </a:rPr>
              <a:t>dequeue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(Q)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12		for each </a:t>
            </a:r>
            <a:r>
              <a:rPr lang="en-US" sz="1800" i="1" dirty="0">
                <a:solidFill>
                  <a:schemeClr val="tx1"/>
                </a:solidFill>
                <a:sym typeface="Symbol" pitchFamily="18" charset="2"/>
              </a:rPr>
              <a:t>v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 in </a:t>
            </a:r>
            <a:r>
              <a:rPr lang="en-US" sz="1800" dirty="0" err="1">
                <a:solidFill>
                  <a:schemeClr val="tx1"/>
                </a:solidFill>
                <a:sym typeface="Symbol" pitchFamily="18" charset="2"/>
              </a:rPr>
              <a:t>Adj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[</a:t>
            </a:r>
            <a:r>
              <a:rPr lang="en-US" sz="1800" i="1" dirty="0">
                <a:solidFill>
                  <a:schemeClr val="tx1"/>
                </a:solidFill>
                <a:sym typeface="Symbol" pitchFamily="18" charset="2"/>
              </a:rPr>
              <a:t>u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]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13		</a:t>
            </a:r>
            <a:r>
              <a:rPr lang="en-US" sz="1800" dirty="0">
                <a:sym typeface="Symbol" pitchFamily="18" charset="2"/>
              </a:rPr>
              <a:t>	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if color[</a:t>
            </a:r>
            <a:r>
              <a:rPr lang="en-US" sz="1800" i="1" dirty="0">
                <a:solidFill>
                  <a:schemeClr val="tx1"/>
                </a:solidFill>
                <a:sym typeface="Symbol" pitchFamily="18" charset="2"/>
              </a:rPr>
              <a:t>v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] = white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14			</a:t>
            </a:r>
            <a:r>
              <a:rPr lang="en-US" sz="1800" dirty="0">
                <a:sym typeface="Symbol" pitchFamily="18" charset="2"/>
              </a:rPr>
              <a:t>	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color[</a:t>
            </a:r>
            <a:r>
              <a:rPr lang="en-US" sz="1800" i="1" dirty="0">
                <a:solidFill>
                  <a:schemeClr val="tx1"/>
                </a:solidFill>
                <a:sym typeface="Symbol" pitchFamily="18" charset="2"/>
              </a:rPr>
              <a:t>v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]  gray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15			</a:t>
            </a:r>
            <a:r>
              <a:rPr lang="en-US" sz="1800" dirty="0">
                <a:sym typeface="Symbol" pitchFamily="18" charset="2"/>
              </a:rPr>
              <a:t>	</a:t>
            </a:r>
            <a:r>
              <a:rPr lang="en-US" sz="1800" i="1" dirty="0">
                <a:solidFill>
                  <a:schemeClr val="tx1"/>
                </a:solidFill>
                <a:sym typeface="Symbol" pitchFamily="18" charset="2"/>
              </a:rPr>
              <a:t>d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[</a:t>
            </a:r>
            <a:r>
              <a:rPr lang="en-US" sz="1800" i="1" dirty="0">
                <a:solidFill>
                  <a:schemeClr val="tx1"/>
                </a:solidFill>
                <a:sym typeface="Symbol" pitchFamily="18" charset="2"/>
              </a:rPr>
              <a:t>v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]  </a:t>
            </a:r>
            <a:r>
              <a:rPr lang="en-US" sz="1800" i="1" dirty="0">
                <a:solidFill>
                  <a:schemeClr val="tx1"/>
                </a:solidFill>
                <a:sym typeface="Symbol" pitchFamily="18" charset="2"/>
              </a:rPr>
              <a:t>d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[</a:t>
            </a:r>
            <a:r>
              <a:rPr lang="en-US" sz="1800" i="1" dirty="0">
                <a:solidFill>
                  <a:schemeClr val="tx1"/>
                </a:solidFill>
                <a:sym typeface="Symbol" pitchFamily="18" charset="2"/>
              </a:rPr>
              <a:t>u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] + 1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16				[</a:t>
            </a:r>
            <a:r>
              <a:rPr lang="en-US" sz="1800" i="1" dirty="0">
                <a:solidFill>
                  <a:schemeClr val="tx1"/>
                </a:solidFill>
                <a:sym typeface="Symbol" pitchFamily="18" charset="2"/>
              </a:rPr>
              <a:t>v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]  </a:t>
            </a:r>
            <a:r>
              <a:rPr lang="en-US" sz="1800" i="1" dirty="0">
                <a:solidFill>
                  <a:schemeClr val="tx1"/>
                </a:solidFill>
                <a:sym typeface="Symbol" pitchFamily="18" charset="2"/>
              </a:rPr>
              <a:t>u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17			</a:t>
            </a:r>
            <a:r>
              <a:rPr lang="en-US" sz="1800" dirty="0">
                <a:sym typeface="Symbol" pitchFamily="18" charset="2"/>
              </a:rPr>
              <a:t>	</a:t>
            </a:r>
            <a:r>
              <a:rPr lang="en-US" sz="1800" dirty="0" err="1">
                <a:solidFill>
                  <a:schemeClr val="tx1"/>
                </a:solidFill>
                <a:sym typeface="Symbol" pitchFamily="18" charset="2"/>
              </a:rPr>
              <a:t>enqueue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(</a:t>
            </a:r>
            <a:r>
              <a:rPr lang="en-US" sz="1800" i="1" dirty="0" err="1">
                <a:solidFill>
                  <a:schemeClr val="tx1"/>
                </a:solidFill>
                <a:sym typeface="Symbol" pitchFamily="18" charset="2"/>
              </a:rPr>
              <a:t>Q</a:t>
            </a:r>
            <a:r>
              <a:rPr lang="en-US" sz="1800" dirty="0" err="1">
                <a:solidFill>
                  <a:schemeClr val="tx1"/>
                </a:solidFill>
                <a:sym typeface="Symbol" pitchFamily="18" charset="2"/>
              </a:rPr>
              <a:t>,</a:t>
            </a:r>
            <a:r>
              <a:rPr lang="en-US" sz="1800" i="1" dirty="0" err="1">
                <a:solidFill>
                  <a:schemeClr val="tx1"/>
                </a:solidFill>
                <a:sym typeface="Symbol" pitchFamily="18" charset="2"/>
              </a:rPr>
              <a:t>v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18		color[</a:t>
            </a:r>
            <a:r>
              <a:rPr lang="en-US" sz="1800" i="1" dirty="0">
                <a:solidFill>
                  <a:schemeClr val="tx1"/>
                </a:solidFill>
                <a:sym typeface="Symbol" pitchFamily="18" charset="2"/>
              </a:rPr>
              <a:t>u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]  black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9396" name="Text Box 4"/>
          <p:cNvSpPr txBox="1">
            <a:spLocks noChangeArrowheads="1"/>
          </p:cNvSpPr>
          <p:nvPr/>
        </p:nvSpPr>
        <p:spPr bwMode="auto">
          <a:xfrm>
            <a:off x="6673952" y="1371600"/>
            <a:ext cx="2149415" cy="854075"/>
          </a:xfrm>
          <a:prstGeom prst="rect">
            <a:avLst/>
          </a:prstGeom>
          <a:noFill/>
          <a:ln w="28575" cap="sq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kumimoji="1" lang="en-US" sz="1600" b="1" u="none" dirty="0"/>
              <a:t>white:</a:t>
            </a:r>
            <a:r>
              <a:rPr kumimoji="1" lang="en-US" sz="1600" u="none" dirty="0"/>
              <a:t> undiscovered</a:t>
            </a:r>
          </a:p>
          <a:p>
            <a:r>
              <a:rPr kumimoji="1" lang="en-US" sz="1600" b="1" u="none" dirty="0"/>
              <a:t>gray:</a:t>
            </a:r>
            <a:r>
              <a:rPr kumimoji="1" lang="en-US" sz="1600" u="none" dirty="0"/>
              <a:t> discovered</a:t>
            </a:r>
          </a:p>
          <a:p>
            <a:r>
              <a:rPr kumimoji="1" lang="en-US" sz="1600" b="1" u="none" dirty="0"/>
              <a:t>black:</a:t>
            </a:r>
            <a:r>
              <a:rPr kumimoji="1" lang="en-US" sz="1600" u="none" dirty="0"/>
              <a:t> finished</a:t>
            </a:r>
            <a:endParaRPr kumimoji="1" lang="en-US" u="none" dirty="0"/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6411682" y="2616468"/>
            <a:ext cx="2705202" cy="1323439"/>
          </a:xfrm>
          <a:prstGeom prst="rect">
            <a:avLst/>
          </a:prstGeom>
          <a:noFill/>
          <a:ln w="28575" cap="sq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kumimoji="1" lang="en-US" sz="1600" b="1" i="1" u="none" dirty="0"/>
              <a:t>Q</a:t>
            </a:r>
            <a:r>
              <a:rPr kumimoji="1" lang="en-US" sz="1600" b="1" u="none" dirty="0"/>
              <a:t>:</a:t>
            </a:r>
            <a:r>
              <a:rPr kumimoji="1" lang="en-US" sz="1600" u="none" dirty="0"/>
              <a:t> a queue of discovered vertices</a:t>
            </a:r>
          </a:p>
          <a:p>
            <a:r>
              <a:rPr kumimoji="1" lang="en-US" sz="1600" b="1" u="none" dirty="0"/>
              <a:t>color[</a:t>
            </a:r>
            <a:r>
              <a:rPr kumimoji="1" lang="en-US" sz="1600" b="1" i="1" u="none" dirty="0"/>
              <a:t>v</a:t>
            </a:r>
            <a:r>
              <a:rPr kumimoji="1" lang="en-US" sz="1600" b="1" u="none" dirty="0"/>
              <a:t>]:</a:t>
            </a:r>
            <a:r>
              <a:rPr kumimoji="1" lang="en-US" sz="1600" u="none" dirty="0"/>
              <a:t> color of v</a:t>
            </a:r>
          </a:p>
          <a:p>
            <a:r>
              <a:rPr kumimoji="1" lang="en-US" sz="1600" b="1" u="none" dirty="0"/>
              <a:t>d[</a:t>
            </a:r>
            <a:r>
              <a:rPr kumimoji="1" lang="en-US" sz="1600" b="1" i="1" u="none" dirty="0"/>
              <a:t>v</a:t>
            </a:r>
            <a:r>
              <a:rPr kumimoji="1" lang="en-US" sz="1600" b="1" u="none" dirty="0"/>
              <a:t>]:</a:t>
            </a:r>
            <a:r>
              <a:rPr kumimoji="1" lang="en-US" sz="1600" u="none" dirty="0"/>
              <a:t> distance from s to v</a:t>
            </a:r>
          </a:p>
          <a:p>
            <a:r>
              <a:rPr kumimoji="1" lang="en-US" sz="1600" b="1" u="none" dirty="0">
                <a:sym typeface="Symbol" pitchFamily="18" charset="2"/>
              </a:rPr>
              <a:t>[</a:t>
            </a:r>
            <a:r>
              <a:rPr kumimoji="1" lang="en-US" sz="1600" b="1" i="1" u="none" dirty="0">
                <a:sym typeface="Symbol" pitchFamily="18" charset="2"/>
              </a:rPr>
              <a:t>u</a:t>
            </a:r>
            <a:r>
              <a:rPr kumimoji="1" lang="en-US" sz="1600" b="1" u="none" dirty="0">
                <a:sym typeface="Symbol" pitchFamily="18" charset="2"/>
              </a:rPr>
              <a:t>]:</a:t>
            </a:r>
            <a:r>
              <a:rPr kumimoji="1" lang="en-US" sz="1600" u="none" dirty="0">
                <a:sym typeface="Symbol" pitchFamily="18" charset="2"/>
              </a:rPr>
              <a:t> predecessor of v</a:t>
            </a:r>
          </a:p>
        </p:txBody>
      </p:sp>
      <p:sp>
        <p:nvSpPr>
          <p:cNvPr id="59399" name="Text Box 7"/>
          <p:cNvSpPr txBox="1">
            <a:spLocks noChangeArrowheads="1"/>
          </p:cNvSpPr>
          <p:nvPr/>
        </p:nvSpPr>
        <p:spPr bwMode="auto">
          <a:xfrm>
            <a:off x="4863161" y="678205"/>
            <a:ext cx="1508746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u="none" dirty="0">
                <a:solidFill>
                  <a:srgbClr val="0070C0"/>
                </a:solidFill>
              </a:rPr>
              <a:t>initialization</a:t>
            </a:r>
          </a:p>
        </p:txBody>
      </p:sp>
      <p:sp>
        <p:nvSpPr>
          <p:cNvPr id="59401" name="AutoShape 9"/>
          <p:cNvSpPr>
            <a:spLocks/>
          </p:cNvSpPr>
          <p:nvPr/>
        </p:nvSpPr>
        <p:spPr bwMode="auto">
          <a:xfrm>
            <a:off x="4473741" y="447797"/>
            <a:ext cx="150812" cy="960437"/>
          </a:xfrm>
          <a:prstGeom prst="rightBrace">
            <a:avLst>
              <a:gd name="adj1" fmla="val 53070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9402" name="Text Box 10"/>
          <p:cNvSpPr txBox="1">
            <a:spLocks noChangeArrowheads="1"/>
          </p:cNvSpPr>
          <p:nvPr/>
        </p:nvSpPr>
        <p:spPr bwMode="auto">
          <a:xfrm>
            <a:off x="4044568" y="1719335"/>
            <a:ext cx="1851789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u="none" dirty="0">
                <a:solidFill>
                  <a:srgbClr val="0070C0"/>
                </a:solidFill>
              </a:rPr>
              <a:t>access source </a:t>
            </a:r>
            <a:r>
              <a:rPr lang="en-US" i="1" u="none" dirty="0">
                <a:solidFill>
                  <a:srgbClr val="0070C0"/>
                </a:solidFill>
              </a:rPr>
              <a:t>s</a:t>
            </a:r>
            <a:endParaRPr lang="en-US" u="none" dirty="0">
              <a:solidFill>
                <a:srgbClr val="0070C0"/>
              </a:solidFill>
            </a:endParaRPr>
          </a:p>
        </p:txBody>
      </p:sp>
      <p:sp>
        <p:nvSpPr>
          <p:cNvPr id="59403" name="AutoShape 11"/>
          <p:cNvSpPr>
            <a:spLocks/>
          </p:cNvSpPr>
          <p:nvPr/>
        </p:nvSpPr>
        <p:spPr bwMode="auto">
          <a:xfrm>
            <a:off x="3643313" y="1505023"/>
            <a:ext cx="88900" cy="914400"/>
          </a:xfrm>
          <a:prstGeom prst="rightBrace">
            <a:avLst>
              <a:gd name="adj1" fmla="val 85714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6" grpId="0" animBg="1" autoUpdateAnimBg="0"/>
      <p:bldP spid="59397" grpId="0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6808"/>
            <a:ext cx="9144000" cy="457200"/>
          </a:xfrm>
        </p:spPr>
        <p:txBody>
          <a:bodyPr/>
          <a:lstStyle/>
          <a:p>
            <a:r>
              <a:rPr lang="en-US" sz="2800" b="1" dirty="0"/>
              <a:t>A better Breadth first search (BFS) algorithm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70" y="1662748"/>
            <a:ext cx="5035763" cy="47943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476" y="1180514"/>
            <a:ext cx="2694657" cy="36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128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800" b="1" dirty="0"/>
              <a:t>Breadth-First Search: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339" name="Oval 3"/>
          <p:cNvSpPr>
            <a:spLocks noChangeArrowheads="1"/>
          </p:cNvSpPr>
          <p:nvPr/>
        </p:nvSpPr>
        <p:spPr bwMode="auto">
          <a:xfrm>
            <a:off x="11430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</a:pPr>
            <a:r>
              <a:rPr lang="en-US" altLang="en-US" sz="4000" i="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endParaRPr lang="en-US" altLang="en-US" sz="4000" i="0" dirty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40" name="Oval 4"/>
          <p:cNvSpPr>
            <a:spLocks noChangeArrowheads="1"/>
          </p:cNvSpPr>
          <p:nvPr/>
        </p:nvSpPr>
        <p:spPr bwMode="auto">
          <a:xfrm>
            <a:off x="11430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341" name="Oval 5"/>
          <p:cNvSpPr>
            <a:spLocks noChangeArrowheads="1"/>
          </p:cNvSpPr>
          <p:nvPr/>
        </p:nvSpPr>
        <p:spPr bwMode="auto">
          <a:xfrm>
            <a:off x="32004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342" name="Oval 6"/>
          <p:cNvSpPr>
            <a:spLocks noChangeArrowheads="1"/>
          </p:cNvSpPr>
          <p:nvPr/>
        </p:nvSpPr>
        <p:spPr bwMode="auto">
          <a:xfrm>
            <a:off x="32004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343" name="Oval 7"/>
          <p:cNvSpPr>
            <a:spLocks noChangeArrowheads="1"/>
          </p:cNvSpPr>
          <p:nvPr/>
        </p:nvSpPr>
        <p:spPr bwMode="auto">
          <a:xfrm>
            <a:off x="52578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344" name="Oval 8"/>
          <p:cNvSpPr>
            <a:spLocks noChangeArrowheads="1"/>
          </p:cNvSpPr>
          <p:nvPr/>
        </p:nvSpPr>
        <p:spPr bwMode="auto">
          <a:xfrm>
            <a:off x="52578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345" name="Oval 9"/>
          <p:cNvSpPr>
            <a:spLocks noChangeArrowheads="1"/>
          </p:cNvSpPr>
          <p:nvPr/>
        </p:nvSpPr>
        <p:spPr bwMode="auto">
          <a:xfrm>
            <a:off x="73152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346" name="Oval 10"/>
          <p:cNvSpPr>
            <a:spLocks noChangeArrowheads="1"/>
          </p:cNvSpPr>
          <p:nvPr/>
        </p:nvSpPr>
        <p:spPr bwMode="auto">
          <a:xfrm>
            <a:off x="73152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4349" name="Text Box 13"/>
          <p:cNvSpPr txBox="1">
            <a:spLocks noChangeArrowheads="1"/>
          </p:cNvSpPr>
          <p:nvPr/>
        </p:nvSpPr>
        <p:spPr bwMode="auto"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4350" name="Text Box 14"/>
          <p:cNvSpPr txBox="1">
            <a:spLocks noChangeArrowheads="1"/>
          </p:cNvSpPr>
          <p:nvPr/>
        </p:nvSpPr>
        <p:spPr bwMode="auto"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14351" name="Text Box 15"/>
          <p:cNvSpPr txBox="1">
            <a:spLocks noChangeArrowheads="1"/>
          </p:cNvSpPr>
          <p:nvPr/>
        </p:nvSpPr>
        <p:spPr bwMode="auto"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14352" name="Text Box 16"/>
          <p:cNvSpPr txBox="1">
            <a:spLocks noChangeArrowheads="1"/>
          </p:cNvSpPr>
          <p:nvPr/>
        </p:nvSpPr>
        <p:spPr bwMode="auto"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14353" name="Text Box 17"/>
          <p:cNvSpPr txBox="1">
            <a:spLocks noChangeArrowheads="1"/>
          </p:cNvSpPr>
          <p:nvPr/>
        </p:nvSpPr>
        <p:spPr bwMode="auto"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14354" name="Text Box 18"/>
          <p:cNvSpPr txBox="1">
            <a:spLocks noChangeArrowheads="1"/>
          </p:cNvSpPr>
          <p:nvPr/>
        </p:nvSpPr>
        <p:spPr bwMode="auto"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14355" name="AutoShape 19"/>
          <p:cNvCxnSpPr>
            <a:cxnSpLocks noChangeShapeType="1"/>
            <a:stCxn id="14340" idx="0"/>
            <a:endCxn id="14339" idx="4"/>
          </p:cNvCxnSpPr>
          <p:nvPr/>
        </p:nvCxnSpPr>
        <p:spPr bwMode="auto">
          <a:xfrm flipV="1">
            <a:off x="15240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56" name="AutoShape 20"/>
          <p:cNvCxnSpPr>
            <a:cxnSpLocks noChangeShapeType="1"/>
            <a:stCxn id="14339" idx="6"/>
            <a:endCxn id="14341" idx="2"/>
          </p:cNvCxnSpPr>
          <p:nvPr/>
        </p:nvCxnSpPr>
        <p:spPr bwMode="auto">
          <a:xfrm>
            <a:off x="1919288" y="2514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57" name="AutoShape 21"/>
          <p:cNvCxnSpPr>
            <a:cxnSpLocks noChangeShapeType="1"/>
            <a:stCxn id="14341" idx="4"/>
            <a:endCxn id="14342" idx="0"/>
          </p:cNvCxnSpPr>
          <p:nvPr/>
        </p:nvCxnSpPr>
        <p:spPr bwMode="auto">
          <a:xfrm>
            <a:off x="35814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58" name="AutoShape 22"/>
          <p:cNvCxnSpPr>
            <a:cxnSpLocks noChangeShapeType="1"/>
            <a:stCxn id="14342" idx="7"/>
            <a:endCxn id="14343" idx="3"/>
          </p:cNvCxnSpPr>
          <p:nvPr/>
        </p:nvCxnSpPr>
        <p:spPr bwMode="auto">
          <a:xfrm flipV="1">
            <a:off x="3851275" y="2798763"/>
            <a:ext cx="1517650" cy="9556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59" name="AutoShape 23"/>
          <p:cNvCxnSpPr>
            <a:cxnSpLocks noChangeShapeType="1"/>
            <a:stCxn id="14342" idx="6"/>
            <a:endCxn id="14344" idx="2"/>
          </p:cNvCxnSpPr>
          <p:nvPr/>
        </p:nvCxnSpPr>
        <p:spPr bwMode="auto">
          <a:xfrm>
            <a:off x="3976688" y="4038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60" name="AutoShape 24"/>
          <p:cNvCxnSpPr>
            <a:cxnSpLocks noChangeShapeType="1"/>
            <a:stCxn id="14344" idx="0"/>
            <a:endCxn id="14343" idx="4"/>
          </p:cNvCxnSpPr>
          <p:nvPr/>
        </p:nvCxnSpPr>
        <p:spPr bwMode="auto">
          <a:xfrm flipV="1">
            <a:off x="56388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61" name="AutoShape 25"/>
          <p:cNvCxnSpPr>
            <a:cxnSpLocks noChangeShapeType="1"/>
            <a:stCxn id="14343" idx="6"/>
            <a:endCxn id="14345" idx="2"/>
          </p:cNvCxnSpPr>
          <p:nvPr/>
        </p:nvCxnSpPr>
        <p:spPr bwMode="auto">
          <a:xfrm>
            <a:off x="6034088" y="2514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62" name="AutoShape 26"/>
          <p:cNvCxnSpPr>
            <a:cxnSpLocks noChangeShapeType="1"/>
            <a:stCxn id="14344" idx="6"/>
            <a:endCxn id="14346" idx="2"/>
          </p:cNvCxnSpPr>
          <p:nvPr/>
        </p:nvCxnSpPr>
        <p:spPr bwMode="auto">
          <a:xfrm>
            <a:off x="6034088" y="4038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63" name="AutoShape 27"/>
          <p:cNvCxnSpPr>
            <a:cxnSpLocks noChangeShapeType="1"/>
            <a:stCxn id="14346" idx="0"/>
            <a:endCxn id="14345" idx="4"/>
          </p:cNvCxnSpPr>
          <p:nvPr/>
        </p:nvCxnSpPr>
        <p:spPr bwMode="auto">
          <a:xfrm flipV="1">
            <a:off x="76962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643887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800" b="1" dirty="0"/>
              <a:t>Breadth-First Search: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363" name="Oval 3"/>
          <p:cNvSpPr>
            <a:spLocks noChangeArrowheads="1"/>
          </p:cNvSpPr>
          <p:nvPr/>
        </p:nvSpPr>
        <p:spPr bwMode="auto">
          <a:xfrm>
            <a:off x="11430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</a:pPr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endParaRPr lang="en-US" altLang="en-US" sz="4000" i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4" name="Oval 4"/>
          <p:cNvSpPr>
            <a:spLocks noChangeArrowheads="1"/>
          </p:cNvSpPr>
          <p:nvPr/>
        </p:nvSpPr>
        <p:spPr bwMode="auto">
          <a:xfrm>
            <a:off x="11430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365" name="Oval 5"/>
          <p:cNvSpPr>
            <a:spLocks noChangeArrowheads="1"/>
          </p:cNvSpPr>
          <p:nvPr/>
        </p:nvSpPr>
        <p:spPr bwMode="auto">
          <a:xfrm>
            <a:off x="3200400" y="2133600"/>
            <a:ext cx="762000" cy="76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5366" name="Oval 6"/>
          <p:cNvSpPr>
            <a:spLocks noChangeArrowheads="1"/>
          </p:cNvSpPr>
          <p:nvPr/>
        </p:nvSpPr>
        <p:spPr bwMode="auto">
          <a:xfrm>
            <a:off x="32004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367" name="Oval 7"/>
          <p:cNvSpPr>
            <a:spLocks noChangeArrowheads="1"/>
          </p:cNvSpPr>
          <p:nvPr/>
        </p:nvSpPr>
        <p:spPr bwMode="auto">
          <a:xfrm>
            <a:off x="52578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368" name="Oval 8"/>
          <p:cNvSpPr>
            <a:spLocks noChangeArrowheads="1"/>
          </p:cNvSpPr>
          <p:nvPr/>
        </p:nvSpPr>
        <p:spPr bwMode="auto">
          <a:xfrm>
            <a:off x="52578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369" name="Oval 9"/>
          <p:cNvSpPr>
            <a:spLocks noChangeArrowheads="1"/>
          </p:cNvSpPr>
          <p:nvPr/>
        </p:nvSpPr>
        <p:spPr bwMode="auto">
          <a:xfrm>
            <a:off x="73152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370" name="Oval 10"/>
          <p:cNvSpPr>
            <a:spLocks noChangeArrowheads="1"/>
          </p:cNvSpPr>
          <p:nvPr/>
        </p:nvSpPr>
        <p:spPr bwMode="auto">
          <a:xfrm>
            <a:off x="73152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371" name="Text Box 11"/>
          <p:cNvSpPr txBox="1">
            <a:spLocks noChangeArrowheads="1"/>
          </p:cNvSpPr>
          <p:nvPr/>
        </p:nvSpPr>
        <p:spPr bwMode="auto"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15372" name="Text Box 12"/>
          <p:cNvSpPr txBox="1">
            <a:spLocks noChangeArrowheads="1"/>
          </p:cNvSpPr>
          <p:nvPr/>
        </p:nvSpPr>
        <p:spPr bwMode="auto"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5373" name="Text Box 13"/>
          <p:cNvSpPr txBox="1">
            <a:spLocks noChangeArrowheads="1"/>
          </p:cNvSpPr>
          <p:nvPr/>
        </p:nvSpPr>
        <p:spPr bwMode="auto"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5374" name="Text Box 14"/>
          <p:cNvSpPr txBox="1">
            <a:spLocks noChangeArrowheads="1"/>
          </p:cNvSpPr>
          <p:nvPr/>
        </p:nvSpPr>
        <p:spPr bwMode="auto"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15375" name="Text Box 15"/>
          <p:cNvSpPr txBox="1">
            <a:spLocks noChangeArrowheads="1"/>
          </p:cNvSpPr>
          <p:nvPr/>
        </p:nvSpPr>
        <p:spPr bwMode="auto"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15376" name="Text Box 16"/>
          <p:cNvSpPr txBox="1">
            <a:spLocks noChangeArrowheads="1"/>
          </p:cNvSpPr>
          <p:nvPr/>
        </p:nvSpPr>
        <p:spPr bwMode="auto"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15377" name="Text Box 17"/>
          <p:cNvSpPr txBox="1">
            <a:spLocks noChangeArrowheads="1"/>
          </p:cNvSpPr>
          <p:nvPr/>
        </p:nvSpPr>
        <p:spPr bwMode="auto"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15378" name="Text Box 18"/>
          <p:cNvSpPr txBox="1">
            <a:spLocks noChangeArrowheads="1"/>
          </p:cNvSpPr>
          <p:nvPr/>
        </p:nvSpPr>
        <p:spPr bwMode="auto"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15379" name="AutoShape 19"/>
          <p:cNvCxnSpPr>
            <a:cxnSpLocks noChangeShapeType="1"/>
            <a:stCxn id="15364" idx="0"/>
            <a:endCxn id="15363" idx="4"/>
          </p:cNvCxnSpPr>
          <p:nvPr/>
        </p:nvCxnSpPr>
        <p:spPr bwMode="auto">
          <a:xfrm flipV="1">
            <a:off x="15240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380" name="AutoShape 20"/>
          <p:cNvCxnSpPr>
            <a:cxnSpLocks noChangeShapeType="1"/>
            <a:stCxn id="15363" idx="6"/>
            <a:endCxn id="15365" idx="2"/>
          </p:cNvCxnSpPr>
          <p:nvPr/>
        </p:nvCxnSpPr>
        <p:spPr bwMode="auto">
          <a:xfrm>
            <a:off x="1919288" y="2514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381" name="AutoShape 21"/>
          <p:cNvCxnSpPr>
            <a:cxnSpLocks noChangeShapeType="1"/>
            <a:stCxn id="15365" idx="4"/>
            <a:endCxn id="15366" idx="0"/>
          </p:cNvCxnSpPr>
          <p:nvPr/>
        </p:nvCxnSpPr>
        <p:spPr bwMode="auto">
          <a:xfrm>
            <a:off x="35814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382" name="AutoShape 22"/>
          <p:cNvCxnSpPr>
            <a:cxnSpLocks noChangeShapeType="1"/>
            <a:stCxn id="15366" idx="7"/>
            <a:endCxn id="15367" idx="3"/>
          </p:cNvCxnSpPr>
          <p:nvPr/>
        </p:nvCxnSpPr>
        <p:spPr bwMode="auto">
          <a:xfrm flipV="1">
            <a:off x="3851275" y="2798763"/>
            <a:ext cx="1517650" cy="9556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383" name="AutoShape 23"/>
          <p:cNvCxnSpPr>
            <a:cxnSpLocks noChangeShapeType="1"/>
            <a:stCxn id="15366" idx="6"/>
            <a:endCxn id="15368" idx="2"/>
          </p:cNvCxnSpPr>
          <p:nvPr/>
        </p:nvCxnSpPr>
        <p:spPr bwMode="auto">
          <a:xfrm>
            <a:off x="3976688" y="4038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384" name="AutoShape 24"/>
          <p:cNvCxnSpPr>
            <a:cxnSpLocks noChangeShapeType="1"/>
            <a:stCxn id="15368" idx="0"/>
            <a:endCxn id="15367" idx="4"/>
          </p:cNvCxnSpPr>
          <p:nvPr/>
        </p:nvCxnSpPr>
        <p:spPr bwMode="auto">
          <a:xfrm flipV="1">
            <a:off x="56388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385" name="AutoShape 25"/>
          <p:cNvCxnSpPr>
            <a:cxnSpLocks noChangeShapeType="1"/>
            <a:stCxn id="15367" idx="6"/>
            <a:endCxn id="15369" idx="2"/>
          </p:cNvCxnSpPr>
          <p:nvPr/>
        </p:nvCxnSpPr>
        <p:spPr bwMode="auto">
          <a:xfrm>
            <a:off x="6034088" y="2514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386" name="AutoShape 26"/>
          <p:cNvCxnSpPr>
            <a:cxnSpLocks noChangeShapeType="1"/>
            <a:stCxn id="15368" idx="6"/>
            <a:endCxn id="15370" idx="2"/>
          </p:cNvCxnSpPr>
          <p:nvPr/>
        </p:nvCxnSpPr>
        <p:spPr bwMode="auto">
          <a:xfrm>
            <a:off x="6034088" y="4038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387" name="AutoShape 27"/>
          <p:cNvCxnSpPr>
            <a:cxnSpLocks noChangeShapeType="1"/>
            <a:stCxn id="15370" idx="0"/>
            <a:endCxn id="15369" idx="4"/>
          </p:cNvCxnSpPr>
          <p:nvPr/>
        </p:nvCxnSpPr>
        <p:spPr bwMode="auto">
          <a:xfrm flipV="1">
            <a:off x="76962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388" name="Rectangle 28"/>
          <p:cNvSpPr>
            <a:spLocks noChangeArrowheads="1"/>
          </p:cNvSpPr>
          <p:nvPr/>
        </p:nvSpPr>
        <p:spPr bwMode="auto">
          <a:xfrm>
            <a:off x="25146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5389" name="Rectangle 29"/>
          <p:cNvSpPr>
            <a:spLocks noChangeArrowheads="1"/>
          </p:cNvSpPr>
          <p:nvPr/>
        </p:nvSpPr>
        <p:spPr bwMode="auto">
          <a:xfrm>
            <a:off x="1828800" y="5562600"/>
            <a:ext cx="68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 b="1">
                <a:latin typeface="Times New Roman" panose="02020603050405020304" pitchFamily="18" charset="0"/>
              </a:rPr>
              <a:t>Q:</a:t>
            </a:r>
          </a:p>
        </p:txBody>
      </p:sp>
    </p:spTree>
    <p:extLst>
      <p:ext uri="{BB962C8B-B14F-4D97-AF65-F5344CB8AC3E}">
        <p14:creationId xmlns:p14="http://schemas.microsoft.com/office/powerpoint/2010/main" val="906910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38332"/>
            <a:ext cx="9144000" cy="457200"/>
          </a:xfrm>
        </p:spPr>
        <p:txBody>
          <a:bodyPr>
            <a:normAutofit/>
          </a:bodyPr>
          <a:lstStyle/>
          <a:p>
            <a:r>
              <a:rPr lang="en-US" altLang="en-US" sz="2800" b="1" dirty="0"/>
              <a:t>Breadth-First Search: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387" name="Oval 3"/>
          <p:cNvSpPr>
            <a:spLocks noChangeArrowheads="1"/>
          </p:cNvSpPr>
          <p:nvPr/>
        </p:nvSpPr>
        <p:spPr bwMode="auto">
          <a:xfrm>
            <a:off x="1143000" y="2133600"/>
            <a:ext cx="762000" cy="76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</a:pPr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en-US" sz="4000" i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8" name="Oval 4"/>
          <p:cNvSpPr>
            <a:spLocks noChangeArrowheads="1"/>
          </p:cNvSpPr>
          <p:nvPr/>
        </p:nvSpPr>
        <p:spPr bwMode="auto">
          <a:xfrm>
            <a:off x="11430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6389" name="Oval 5"/>
          <p:cNvSpPr>
            <a:spLocks noChangeArrowheads="1"/>
          </p:cNvSpPr>
          <p:nvPr/>
        </p:nvSpPr>
        <p:spPr bwMode="auto">
          <a:xfrm>
            <a:off x="32004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6390" name="Oval 6"/>
          <p:cNvSpPr>
            <a:spLocks noChangeArrowheads="1"/>
          </p:cNvSpPr>
          <p:nvPr/>
        </p:nvSpPr>
        <p:spPr bwMode="auto">
          <a:xfrm>
            <a:off x="3200400" y="3657600"/>
            <a:ext cx="762000" cy="76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6391" name="Oval 7"/>
          <p:cNvSpPr>
            <a:spLocks noChangeArrowheads="1"/>
          </p:cNvSpPr>
          <p:nvPr/>
        </p:nvSpPr>
        <p:spPr bwMode="auto">
          <a:xfrm>
            <a:off x="52578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6392" name="Oval 8"/>
          <p:cNvSpPr>
            <a:spLocks noChangeArrowheads="1"/>
          </p:cNvSpPr>
          <p:nvPr/>
        </p:nvSpPr>
        <p:spPr bwMode="auto">
          <a:xfrm>
            <a:off x="52578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6393" name="Oval 9"/>
          <p:cNvSpPr>
            <a:spLocks noChangeArrowheads="1"/>
          </p:cNvSpPr>
          <p:nvPr/>
        </p:nvSpPr>
        <p:spPr bwMode="auto">
          <a:xfrm>
            <a:off x="73152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6394" name="Oval 10"/>
          <p:cNvSpPr>
            <a:spLocks noChangeArrowheads="1"/>
          </p:cNvSpPr>
          <p:nvPr/>
        </p:nvSpPr>
        <p:spPr bwMode="auto">
          <a:xfrm>
            <a:off x="73152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6395" name="Text Box 11"/>
          <p:cNvSpPr txBox="1">
            <a:spLocks noChangeArrowheads="1"/>
          </p:cNvSpPr>
          <p:nvPr/>
        </p:nvSpPr>
        <p:spPr bwMode="auto"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16396" name="Text Box 12"/>
          <p:cNvSpPr txBox="1">
            <a:spLocks noChangeArrowheads="1"/>
          </p:cNvSpPr>
          <p:nvPr/>
        </p:nvSpPr>
        <p:spPr bwMode="auto"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6397" name="Text Box 13"/>
          <p:cNvSpPr txBox="1">
            <a:spLocks noChangeArrowheads="1"/>
          </p:cNvSpPr>
          <p:nvPr/>
        </p:nvSpPr>
        <p:spPr bwMode="auto"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6398" name="Text Box 14"/>
          <p:cNvSpPr txBox="1">
            <a:spLocks noChangeArrowheads="1"/>
          </p:cNvSpPr>
          <p:nvPr/>
        </p:nvSpPr>
        <p:spPr bwMode="auto"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16399" name="Text Box 15"/>
          <p:cNvSpPr txBox="1">
            <a:spLocks noChangeArrowheads="1"/>
          </p:cNvSpPr>
          <p:nvPr/>
        </p:nvSpPr>
        <p:spPr bwMode="auto"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16400" name="Text Box 16"/>
          <p:cNvSpPr txBox="1">
            <a:spLocks noChangeArrowheads="1"/>
          </p:cNvSpPr>
          <p:nvPr/>
        </p:nvSpPr>
        <p:spPr bwMode="auto"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16401" name="Text Box 17"/>
          <p:cNvSpPr txBox="1">
            <a:spLocks noChangeArrowheads="1"/>
          </p:cNvSpPr>
          <p:nvPr/>
        </p:nvSpPr>
        <p:spPr bwMode="auto"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16402" name="Text Box 18"/>
          <p:cNvSpPr txBox="1">
            <a:spLocks noChangeArrowheads="1"/>
          </p:cNvSpPr>
          <p:nvPr/>
        </p:nvSpPr>
        <p:spPr bwMode="auto"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16403" name="AutoShape 19"/>
          <p:cNvCxnSpPr>
            <a:cxnSpLocks noChangeShapeType="1"/>
            <a:stCxn id="16388" idx="0"/>
            <a:endCxn id="16387" idx="4"/>
          </p:cNvCxnSpPr>
          <p:nvPr/>
        </p:nvCxnSpPr>
        <p:spPr bwMode="auto">
          <a:xfrm flipV="1">
            <a:off x="15240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404" name="AutoShape 20"/>
          <p:cNvCxnSpPr>
            <a:cxnSpLocks noChangeShapeType="1"/>
            <a:stCxn id="16387" idx="6"/>
            <a:endCxn id="16389" idx="2"/>
          </p:cNvCxnSpPr>
          <p:nvPr/>
        </p:nvCxnSpPr>
        <p:spPr bwMode="auto">
          <a:xfrm>
            <a:off x="1919288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405" name="AutoShape 21"/>
          <p:cNvCxnSpPr>
            <a:cxnSpLocks noChangeShapeType="1"/>
            <a:stCxn id="16389" idx="4"/>
            <a:endCxn id="16390" idx="0"/>
          </p:cNvCxnSpPr>
          <p:nvPr/>
        </p:nvCxnSpPr>
        <p:spPr bwMode="auto">
          <a:xfrm>
            <a:off x="3581400" y="2909888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406" name="AutoShape 22"/>
          <p:cNvCxnSpPr>
            <a:cxnSpLocks noChangeShapeType="1"/>
            <a:stCxn id="16390" idx="7"/>
            <a:endCxn id="16391" idx="3"/>
          </p:cNvCxnSpPr>
          <p:nvPr/>
        </p:nvCxnSpPr>
        <p:spPr bwMode="auto">
          <a:xfrm flipV="1">
            <a:off x="3851275" y="2798763"/>
            <a:ext cx="1517650" cy="9556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407" name="AutoShape 23"/>
          <p:cNvCxnSpPr>
            <a:cxnSpLocks noChangeShapeType="1"/>
            <a:stCxn id="16390" idx="6"/>
            <a:endCxn id="16392" idx="2"/>
          </p:cNvCxnSpPr>
          <p:nvPr/>
        </p:nvCxnSpPr>
        <p:spPr bwMode="auto">
          <a:xfrm>
            <a:off x="3976688" y="4038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408" name="AutoShape 24"/>
          <p:cNvCxnSpPr>
            <a:cxnSpLocks noChangeShapeType="1"/>
            <a:stCxn id="16392" idx="0"/>
            <a:endCxn id="16391" idx="4"/>
          </p:cNvCxnSpPr>
          <p:nvPr/>
        </p:nvCxnSpPr>
        <p:spPr bwMode="auto">
          <a:xfrm flipV="1">
            <a:off x="56388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409" name="AutoShape 25"/>
          <p:cNvCxnSpPr>
            <a:cxnSpLocks noChangeShapeType="1"/>
            <a:stCxn id="16391" idx="6"/>
            <a:endCxn id="16393" idx="2"/>
          </p:cNvCxnSpPr>
          <p:nvPr/>
        </p:nvCxnSpPr>
        <p:spPr bwMode="auto">
          <a:xfrm>
            <a:off x="6034088" y="2514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410" name="AutoShape 26"/>
          <p:cNvCxnSpPr>
            <a:cxnSpLocks noChangeShapeType="1"/>
            <a:stCxn id="16392" idx="6"/>
            <a:endCxn id="16394" idx="2"/>
          </p:cNvCxnSpPr>
          <p:nvPr/>
        </p:nvCxnSpPr>
        <p:spPr bwMode="auto">
          <a:xfrm>
            <a:off x="6034088" y="4038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411" name="AutoShape 27"/>
          <p:cNvCxnSpPr>
            <a:cxnSpLocks noChangeShapeType="1"/>
            <a:stCxn id="16394" idx="0"/>
            <a:endCxn id="16393" idx="4"/>
          </p:cNvCxnSpPr>
          <p:nvPr/>
        </p:nvCxnSpPr>
        <p:spPr bwMode="auto">
          <a:xfrm flipV="1">
            <a:off x="76962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412" name="Rectangle 28"/>
          <p:cNvSpPr>
            <a:spLocks noChangeArrowheads="1"/>
          </p:cNvSpPr>
          <p:nvPr/>
        </p:nvSpPr>
        <p:spPr bwMode="auto">
          <a:xfrm>
            <a:off x="25146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16413" name="Rectangle 29"/>
          <p:cNvSpPr>
            <a:spLocks noChangeArrowheads="1"/>
          </p:cNvSpPr>
          <p:nvPr/>
        </p:nvSpPr>
        <p:spPr bwMode="auto">
          <a:xfrm>
            <a:off x="1828800" y="5562600"/>
            <a:ext cx="68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 b="1">
                <a:latin typeface="Times New Roman" panose="02020603050405020304" pitchFamily="18" charset="0"/>
              </a:rPr>
              <a:t>Q:</a:t>
            </a:r>
          </a:p>
        </p:txBody>
      </p:sp>
      <p:sp>
        <p:nvSpPr>
          <p:cNvPr id="16414" name="Rectangle 30"/>
          <p:cNvSpPr>
            <a:spLocks noChangeArrowheads="1"/>
          </p:cNvSpPr>
          <p:nvPr/>
        </p:nvSpPr>
        <p:spPr bwMode="auto">
          <a:xfrm>
            <a:off x="32004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368267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800" b="1" dirty="0"/>
              <a:t>Breadth-First Search: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411" name="Oval 3"/>
          <p:cNvSpPr>
            <a:spLocks noChangeArrowheads="1"/>
          </p:cNvSpPr>
          <p:nvPr/>
        </p:nvSpPr>
        <p:spPr bwMode="auto">
          <a:xfrm>
            <a:off x="1143000" y="2133600"/>
            <a:ext cx="762000" cy="76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</a:pPr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en-US" sz="4000" i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12" name="Oval 4"/>
          <p:cNvSpPr>
            <a:spLocks noChangeArrowheads="1"/>
          </p:cNvSpPr>
          <p:nvPr/>
        </p:nvSpPr>
        <p:spPr bwMode="auto">
          <a:xfrm>
            <a:off x="11430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7413" name="Oval 5"/>
          <p:cNvSpPr>
            <a:spLocks noChangeArrowheads="1"/>
          </p:cNvSpPr>
          <p:nvPr/>
        </p:nvSpPr>
        <p:spPr bwMode="auto">
          <a:xfrm>
            <a:off x="32004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7414" name="Oval 6"/>
          <p:cNvSpPr>
            <a:spLocks noChangeArrowheads="1"/>
          </p:cNvSpPr>
          <p:nvPr/>
        </p:nvSpPr>
        <p:spPr bwMode="auto">
          <a:xfrm>
            <a:off x="32004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7415" name="Oval 7"/>
          <p:cNvSpPr>
            <a:spLocks noChangeArrowheads="1"/>
          </p:cNvSpPr>
          <p:nvPr/>
        </p:nvSpPr>
        <p:spPr bwMode="auto">
          <a:xfrm>
            <a:off x="5257800" y="2133600"/>
            <a:ext cx="762000" cy="76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7416" name="Oval 8"/>
          <p:cNvSpPr>
            <a:spLocks noChangeArrowheads="1"/>
          </p:cNvSpPr>
          <p:nvPr/>
        </p:nvSpPr>
        <p:spPr bwMode="auto">
          <a:xfrm>
            <a:off x="5257800" y="3657600"/>
            <a:ext cx="762000" cy="76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7417" name="Oval 9"/>
          <p:cNvSpPr>
            <a:spLocks noChangeArrowheads="1"/>
          </p:cNvSpPr>
          <p:nvPr/>
        </p:nvSpPr>
        <p:spPr bwMode="auto">
          <a:xfrm>
            <a:off x="73152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7418" name="Oval 10"/>
          <p:cNvSpPr>
            <a:spLocks noChangeArrowheads="1"/>
          </p:cNvSpPr>
          <p:nvPr/>
        </p:nvSpPr>
        <p:spPr bwMode="auto">
          <a:xfrm>
            <a:off x="73152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7419" name="Text Box 11"/>
          <p:cNvSpPr txBox="1">
            <a:spLocks noChangeArrowheads="1"/>
          </p:cNvSpPr>
          <p:nvPr/>
        </p:nvSpPr>
        <p:spPr bwMode="auto"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17420" name="Text Box 12"/>
          <p:cNvSpPr txBox="1">
            <a:spLocks noChangeArrowheads="1"/>
          </p:cNvSpPr>
          <p:nvPr/>
        </p:nvSpPr>
        <p:spPr bwMode="auto"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7421" name="Text Box 13"/>
          <p:cNvSpPr txBox="1">
            <a:spLocks noChangeArrowheads="1"/>
          </p:cNvSpPr>
          <p:nvPr/>
        </p:nvSpPr>
        <p:spPr bwMode="auto"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7422" name="Text Box 14"/>
          <p:cNvSpPr txBox="1">
            <a:spLocks noChangeArrowheads="1"/>
          </p:cNvSpPr>
          <p:nvPr/>
        </p:nvSpPr>
        <p:spPr bwMode="auto"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17423" name="Text Box 15"/>
          <p:cNvSpPr txBox="1">
            <a:spLocks noChangeArrowheads="1"/>
          </p:cNvSpPr>
          <p:nvPr/>
        </p:nvSpPr>
        <p:spPr bwMode="auto"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17424" name="Text Box 16"/>
          <p:cNvSpPr txBox="1">
            <a:spLocks noChangeArrowheads="1"/>
          </p:cNvSpPr>
          <p:nvPr/>
        </p:nvSpPr>
        <p:spPr bwMode="auto"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17425" name="Text Box 17"/>
          <p:cNvSpPr txBox="1">
            <a:spLocks noChangeArrowheads="1"/>
          </p:cNvSpPr>
          <p:nvPr/>
        </p:nvSpPr>
        <p:spPr bwMode="auto"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17426" name="Text Box 18"/>
          <p:cNvSpPr txBox="1">
            <a:spLocks noChangeArrowheads="1"/>
          </p:cNvSpPr>
          <p:nvPr/>
        </p:nvSpPr>
        <p:spPr bwMode="auto"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17427" name="AutoShape 19"/>
          <p:cNvCxnSpPr>
            <a:cxnSpLocks noChangeShapeType="1"/>
            <a:stCxn id="17412" idx="0"/>
            <a:endCxn id="17411" idx="4"/>
          </p:cNvCxnSpPr>
          <p:nvPr/>
        </p:nvCxnSpPr>
        <p:spPr bwMode="auto">
          <a:xfrm flipV="1">
            <a:off x="15240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428" name="AutoShape 20"/>
          <p:cNvCxnSpPr>
            <a:cxnSpLocks noChangeShapeType="1"/>
            <a:stCxn id="17411" idx="6"/>
            <a:endCxn id="17413" idx="2"/>
          </p:cNvCxnSpPr>
          <p:nvPr/>
        </p:nvCxnSpPr>
        <p:spPr bwMode="auto">
          <a:xfrm>
            <a:off x="1919288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429" name="AutoShape 21"/>
          <p:cNvCxnSpPr>
            <a:cxnSpLocks noChangeShapeType="1"/>
            <a:stCxn id="17413" idx="4"/>
            <a:endCxn id="17414" idx="0"/>
          </p:cNvCxnSpPr>
          <p:nvPr/>
        </p:nvCxnSpPr>
        <p:spPr bwMode="auto">
          <a:xfrm>
            <a:off x="3581400" y="2909888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430" name="AutoShape 22"/>
          <p:cNvCxnSpPr>
            <a:cxnSpLocks noChangeShapeType="1"/>
            <a:stCxn id="17414" idx="7"/>
            <a:endCxn id="17415" idx="3"/>
          </p:cNvCxnSpPr>
          <p:nvPr/>
        </p:nvCxnSpPr>
        <p:spPr bwMode="auto">
          <a:xfrm flipV="1">
            <a:off x="3851275" y="2798763"/>
            <a:ext cx="1517650" cy="9556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431" name="AutoShape 23"/>
          <p:cNvCxnSpPr>
            <a:cxnSpLocks noChangeShapeType="1"/>
            <a:stCxn id="17414" idx="6"/>
            <a:endCxn id="17416" idx="2"/>
          </p:cNvCxnSpPr>
          <p:nvPr/>
        </p:nvCxnSpPr>
        <p:spPr bwMode="auto">
          <a:xfrm>
            <a:off x="3976688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432" name="AutoShape 24"/>
          <p:cNvCxnSpPr>
            <a:cxnSpLocks noChangeShapeType="1"/>
            <a:stCxn id="17416" idx="0"/>
            <a:endCxn id="17415" idx="4"/>
          </p:cNvCxnSpPr>
          <p:nvPr/>
        </p:nvCxnSpPr>
        <p:spPr bwMode="auto">
          <a:xfrm flipV="1">
            <a:off x="56388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433" name="AutoShape 25"/>
          <p:cNvCxnSpPr>
            <a:cxnSpLocks noChangeShapeType="1"/>
            <a:stCxn id="17415" idx="6"/>
            <a:endCxn id="17417" idx="2"/>
          </p:cNvCxnSpPr>
          <p:nvPr/>
        </p:nvCxnSpPr>
        <p:spPr bwMode="auto">
          <a:xfrm>
            <a:off x="6034088" y="2514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434" name="AutoShape 26"/>
          <p:cNvCxnSpPr>
            <a:cxnSpLocks noChangeShapeType="1"/>
            <a:stCxn id="17416" idx="6"/>
            <a:endCxn id="17418" idx="2"/>
          </p:cNvCxnSpPr>
          <p:nvPr/>
        </p:nvCxnSpPr>
        <p:spPr bwMode="auto">
          <a:xfrm>
            <a:off x="6034088" y="4038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435" name="AutoShape 27"/>
          <p:cNvCxnSpPr>
            <a:cxnSpLocks noChangeShapeType="1"/>
            <a:stCxn id="17418" idx="0"/>
            <a:endCxn id="17417" idx="4"/>
          </p:cNvCxnSpPr>
          <p:nvPr/>
        </p:nvCxnSpPr>
        <p:spPr bwMode="auto">
          <a:xfrm flipV="1">
            <a:off x="76962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436" name="Rectangle 28"/>
          <p:cNvSpPr>
            <a:spLocks noChangeArrowheads="1"/>
          </p:cNvSpPr>
          <p:nvPr/>
        </p:nvSpPr>
        <p:spPr bwMode="auto">
          <a:xfrm>
            <a:off x="25146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17437" name="Rectangle 29"/>
          <p:cNvSpPr>
            <a:spLocks noChangeArrowheads="1"/>
          </p:cNvSpPr>
          <p:nvPr/>
        </p:nvSpPr>
        <p:spPr bwMode="auto">
          <a:xfrm>
            <a:off x="1828800" y="5562600"/>
            <a:ext cx="68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 b="1">
                <a:latin typeface="Times New Roman" panose="02020603050405020304" pitchFamily="18" charset="0"/>
              </a:rPr>
              <a:t>Q:</a:t>
            </a:r>
          </a:p>
        </p:txBody>
      </p:sp>
      <p:sp>
        <p:nvSpPr>
          <p:cNvPr id="17438" name="Rectangle 30"/>
          <p:cNvSpPr>
            <a:spLocks noChangeArrowheads="1"/>
          </p:cNvSpPr>
          <p:nvPr/>
        </p:nvSpPr>
        <p:spPr bwMode="auto">
          <a:xfrm>
            <a:off x="32004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7439" name="Rectangle 31"/>
          <p:cNvSpPr>
            <a:spLocks noChangeArrowheads="1"/>
          </p:cNvSpPr>
          <p:nvPr/>
        </p:nvSpPr>
        <p:spPr bwMode="auto">
          <a:xfrm>
            <a:off x="38862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559481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800" b="1" dirty="0"/>
              <a:t>Breadth-First Search: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435" name="Oval 3"/>
          <p:cNvSpPr>
            <a:spLocks noChangeArrowheads="1"/>
          </p:cNvSpPr>
          <p:nvPr/>
        </p:nvSpPr>
        <p:spPr bwMode="auto">
          <a:xfrm>
            <a:off x="11430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</a:pPr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en-US" sz="4000" i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6" name="Oval 4"/>
          <p:cNvSpPr>
            <a:spLocks noChangeArrowheads="1"/>
          </p:cNvSpPr>
          <p:nvPr/>
        </p:nvSpPr>
        <p:spPr bwMode="auto">
          <a:xfrm>
            <a:off x="1143000" y="3657600"/>
            <a:ext cx="762000" cy="76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8437" name="Oval 5"/>
          <p:cNvSpPr>
            <a:spLocks noChangeArrowheads="1"/>
          </p:cNvSpPr>
          <p:nvPr/>
        </p:nvSpPr>
        <p:spPr bwMode="auto">
          <a:xfrm>
            <a:off x="32004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8438" name="Oval 6"/>
          <p:cNvSpPr>
            <a:spLocks noChangeArrowheads="1"/>
          </p:cNvSpPr>
          <p:nvPr/>
        </p:nvSpPr>
        <p:spPr bwMode="auto">
          <a:xfrm>
            <a:off x="32004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8439" name="Oval 7"/>
          <p:cNvSpPr>
            <a:spLocks noChangeArrowheads="1"/>
          </p:cNvSpPr>
          <p:nvPr/>
        </p:nvSpPr>
        <p:spPr bwMode="auto">
          <a:xfrm>
            <a:off x="5257800" y="2133600"/>
            <a:ext cx="762000" cy="76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8440" name="Oval 8"/>
          <p:cNvSpPr>
            <a:spLocks noChangeArrowheads="1"/>
          </p:cNvSpPr>
          <p:nvPr/>
        </p:nvSpPr>
        <p:spPr bwMode="auto">
          <a:xfrm>
            <a:off x="5257800" y="3657600"/>
            <a:ext cx="762000" cy="76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8441" name="Oval 9"/>
          <p:cNvSpPr>
            <a:spLocks noChangeArrowheads="1"/>
          </p:cNvSpPr>
          <p:nvPr/>
        </p:nvSpPr>
        <p:spPr bwMode="auto">
          <a:xfrm>
            <a:off x="73152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8442" name="Oval 10"/>
          <p:cNvSpPr>
            <a:spLocks noChangeArrowheads="1"/>
          </p:cNvSpPr>
          <p:nvPr/>
        </p:nvSpPr>
        <p:spPr bwMode="auto">
          <a:xfrm>
            <a:off x="73152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8443" name="Text Box 11"/>
          <p:cNvSpPr txBox="1">
            <a:spLocks noChangeArrowheads="1"/>
          </p:cNvSpPr>
          <p:nvPr/>
        </p:nvSpPr>
        <p:spPr bwMode="auto"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18444" name="Text Box 12"/>
          <p:cNvSpPr txBox="1">
            <a:spLocks noChangeArrowheads="1"/>
          </p:cNvSpPr>
          <p:nvPr/>
        </p:nvSpPr>
        <p:spPr bwMode="auto"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8445" name="Text Box 13"/>
          <p:cNvSpPr txBox="1">
            <a:spLocks noChangeArrowheads="1"/>
          </p:cNvSpPr>
          <p:nvPr/>
        </p:nvSpPr>
        <p:spPr bwMode="auto"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8446" name="Text Box 14"/>
          <p:cNvSpPr txBox="1">
            <a:spLocks noChangeArrowheads="1"/>
          </p:cNvSpPr>
          <p:nvPr/>
        </p:nvSpPr>
        <p:spPr bwMode="auto"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18447" name="Text Box 15"/>
          <p:cNvSpPr txBox="1">
            <a:spLocks noChangeArrowheads="1"/>
          </p:cNvSpPr>
          <p:nvPr/>
        </p:nvSpPr>
        <p:spPr bwMode="auto"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18448" name="Text Box 16"/>
          <p:cNvSpPr txBox="1">
            <a:spLocks noChangeArrowheads="1"/>
          </p:cNvSpPr>
          <p:nvPr/>
        </p:nvSpPr>
        <p:spPr bwMode="auto"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18449" name="Text Box 17"/>
          <p:cNvSpPr txBox="1">
            <a:spLocks noChangeArrowheads="1"/>
          </p:cNvSpPr>
          <p:nvPr/>
        </p:nvSpPr>
        <p:spPr bwMode="auto"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18450" name="Text Box 18"/>
          <p:cNvSpPr txBox="1">
            <a:spLocks noChangeArrowheads="1"/>
          </p:cNvSpPr>
          <p:nvPr/>
        </p:nvSpPr>
        <p:spPr bwMode="auto"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18451" name="AutoShape 19"/>
          <p:cNvCxnSpPr>
            <a:cxnSpLocks noChangeShapeType="1"/>
            <a:stCxn id="18436" idx="0"/>
            <a:endCxn id="18435" idx="4"/>
          </p:cNvCxnSpPr>
          <p:nvPr/>
        </p:nvCxnSpPr>
        <p:spPr bwMode="auto">
          <a:xfrm flipV="1">
            <a:off x="1524000" y="2909888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452" name="AutoShape 20"/>
          <p:cNvCxnSpPr>
            <a:cxnSpLocks noChangeShapeType="1"/>
            <a:stCxn id="18435" idx="6"/>
            <a:endCxn id="18437" idx="2"/>
          </p:cNvCxnSpPr>
          <p:nvPr/>
        </p:nvCxnSpPr>
        <p:spPr bwMode="auto">
          <a:xfrm>
            <a:off x="1919288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453" name="AutoShape 21"/>
          <p:cNvCxnSpPr>
            <a:cxnSpLocks noChangeShapeType="1"/>
            <a:stCxn id="18437" idx="4"/>
            <a:endCxn id="18438" idx="0"/>
          </p:cNvCxnSpPr>
          <p:nvPr/>
        </p:nvCxnSpPr>
        <p:spPr bwMode="auto">
          <a:xfrm>
            <a:off x="3581400" y="2909888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454" name="AutoShape 22"/>
          <p:cNvCxnSpPr>
            <a:cxnSpLocks noChangeShapeType="1"/>
            <a:stCxn id="18438" idx="7"/>
            <a:endCxn id="18439" idx="3"/>
          </p:cNvCxnSpPr>
          <p:nvPr/>
        </p:nvCxnSpPr>
        <p:spPr bwMode="auto">
          <a:xfrm flipV="1">
            <a:off x="3851275" y="2798763"/>
            <a:ext cx="1517650" cy="9556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455" name="AutoShape 23"/>
          <p:cNvCxnSpPr>
            <a:cxnSpLocks noChangeShapeType="1"/>
            <a:stCxn id="18438" idx="6"/>
            <a:endCxn id="18440" idx="2"/>
          </p:cNvCxnSpPr>
          <p:nvPr/>
        </p:nvCxnSpPr>
        <p:spPr bwMode="auto">
          <a:xfrm>
            <a:off x="3976688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456" name="AutoShape 24"/>
          <p:cNvCxnSpPr>
            <a:cxnSpLocks noChangeShapeType="1"/>
            <a:stCxn id="18440" idx="0"/>
            <a:endCxn id="18439" idx="4"/>
          </p:cNvCxnSpPr>
          <p:nvPr/>
        </p:nvCxnSpPr>
        <p:spPr bwMode="auto">
          <a:xfrm flipV="1">
            <a:off x="56388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457" name="AutoShape 25"/>
          <p:cNvCxnSpPr>
            <a:cxnSpLocks noChangeShapeType="1"/>
            <a:stCxn id="18439" idx="6"/>
            <a:endCxn id="18441" idx="2"/>
          </p:cNvCxnSpPr>
          <p:nvPr/>
        </p:nvCxnSpPr>
        <p:spPr bwMode="auto">
          <a:xfrm>
            <a:off x="6034088" y="2514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458" name="AutoShape 26"/>
          <p:cNvCxnSpPr>
            <a:cxnSpLocks noChangeShapeType="1"/>
            <a:stCxn id="18440" idx="6"/>
            <a:endCxn id="18442" idx="2"/>
          </p:cNvCxnSpPr>
          <p:nvPr/>
        </p:nvCxnSpPr>
        <p:spPr bwMode="auto">
          <a:xfrm>
            <a:off x="6034088" y="4038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459" name="AutoShape 27"/>
          <p:cNvCxnSpPr>
            <a:cxnSpLocks noChangeShapeType="1"/>
            <a:stCxn id="18442" idx="0"/>
            <a:endCxn id="18441" idx="4"/>
          </p:cNvCxnSpPr>
          <p:nvPr/>
        </p:nvCxnSpPr>
        <p:spPr bwMode="auto">
          <a:xfrm flipV="1">
            <a:off x="76962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460" name="Rectangle 28"/>
          <p:cNvSpPr>
            <a:spLocks noChangeArrowheads="1"/>
          </p:cNvSpPr>
          <p:nvPr/>
        </p:nvSpPr>
        <p:spPr bwMode="auto">
          <a:xfrm>
            <a:off x="1828800" y="5562600"/>
            <a:ext cx="68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 b="1">
                <a:latin typeface="Times New Roman" panose="02020603050405020304" pitchFamily="18" charset="0"/>
              </a:rPr>
              <a:t>Q:</a:t>
            </a:r>
          </a:p>
        </p:txBody>
      </p:sp>
      <p:sp>
        <p:nvSpPr>
          <p:cNvPr id="18461" name="Rectangle 29"/>
          <p:cNvSpPr>
            <a:spLocks noChangeArrowheads="1"/>
          </p:cNvSpPr>
          <p:nvPr/>
        </p:nvSpPr>
        <p:spPr bwMode="auto">
          <a:xfrm>
            <a:off x="25146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8462" name="Rectangle 30"/>
          <p:cNvSpPr>
            <a:spLocks noChangeArrowheads="1"/>
          </p:cNvSpPr>
          <p:nvPr/>
        </p:nvSpPr>
        <p:spPr bwMode="auto">
          <a:xfrm>
            <a:off x="32004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18463" name="Rectangle 31"/>
          <p:cNvSpPr>
            <a:spLocks noChangeArrowheads="1"/>
          </p:cNvSpPr>
          <p:nvPr/>
        </p:nvSpPr>
        <p:spPr bwMode="auto">
          <a:xfrm>
            <a:off x="38862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2360729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38333"/>
            <a:ext cx="9144000" cy="457200"/>
          </a:xfrm>
        </p:spPr>
        <p:txBody>
          <a:bodyPr>
            <a:normAutofit/>
          </a:bodyPr>
          <a:lstStyle/>
          <a:p>
            <a:r>
              <a:rPr lang="en-US" altLang="en-US" sz="2800" b="1" dirty="0"/>
              <a:t>Breadth-First Search: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459" name="Oval 3"/>
          <p:cNvSpPr>
            <a:spLocks noChangeArrowheads="1"/>
          </p:cNvSpPr>
          <p:nvPr/>
        </p:nvSpPr>
        <p:spPr bwMode="auto">
          <a:xfrm>
            <a:off x="11430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</a:pPr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en-US" sz="4000" i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60" name="Oval 4"/>
          <p:cNvSpPr>
            <a:spLocks noChangeArrowheads="1"/>
          </p:cNvSpPr>
          <p:nvPr/>
        </p:nvSpPr>
        <p:spPr bwMode="auto">
          <a:xfrm>
            <a:off x="1143000" y="3657600"/>
            <a:ext cx="762000" cy="76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9461" name="Oval 5"/>
          <p:cNvSpPr>
            <a:spLocks noChangeArrowheads="1"/>
          </p:cNvSpPr>
          <p:nvPr/>
        </p:nvSpPr>
        <p:spPr bwMode="auto">
          <a:xfrm>
            <a:off x="32004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9462" name="Oval 6"/>
          <p:cNvSpPr>
            <a:spLocks noChangeArrowheads="1"/>
          </p:cNvSpPr>
          <p:nvPr/>
        </p:nvSpPr>
        <p:spPr bwMode="auto">
          <a:xfrm>
            <a:off x="32004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9463" name="Oval 7"/>
          <p:cNvSpPr>
            <a:spLocks noChangeArrowheads="1"/>
          </p:cNvSpPr>
          <p:nvPr/>
        </p:nvSpPr>
        <p:spPr bwMode="auto">
          <a:xfrm>
            <a:off x="52578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9464" name="Oval 8"/>
          <p:cNvSpPr>
            <a:spLocks noChangeArrowheads="1"/>
          </p:cNvSpPr>
          <p:nvPr/>
        </p:nvSpPr>
        <p:spPr bwMode="auto">
          <a:xfrm>
            <a:off x="5257800" y="3657600"/>
            <a:ext cx="762000" cy="76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9465" name="Oval 9"/>
          <p:cNvSpPr>
            <a:spLocks noChangeArrowheads="1"/>
          </p:cNvSpPr>
          <p:nvPr/>
        </p:nvSpPr>
        <p:spPr bwMode="auto">
          <a:xfrm>
            <a:off x="7315200" y="2133600"/>
            <a:ext cx="762000" cy="76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9466" name="Oval 10"/>
          <p:cNvSpPr>
            <a:spLocks noChangeArrowheads="1"/>
          </p:cNvSpPr>
          <p:nvPr/>
        </p:nvSpPr>
        <p:spPr bwMode="auto">
          <a:xfrm>
            <a:off x="73152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9467" name="Text Box 11"/>
          <p:cNvSpPr txBox="1">
            <a:spLocks noChangeArrowheads="1"/>
          </p:cNvSpPr>
          <p:nvPr/>
        </p:nvSpPr>
        <p:spPr bwMode="auto"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9469" name="Text Box 13"/>
          <p:cNvSpPr txBox="1">
            <a:spLocks noChangeArrowheads="1"/>
          </p:cNvSpPr>
          <p:nvPr/>
        </p:nvSpPr>
        <p:spPr bwMode="auto"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9470" name="Text Box 14"/>
          <p:cNvSpPr txBox="1">
            <a:spLocks noChangeArrowheads="1"/>
          </p:cNvSpPr>
          <p:nvPr/>
        </p:nvSpPr>
        <p:spPr bwMode="auto"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19471" name="Text Box 15"/>
          <p:cNvSpPr txBox="1">
            <a:spLocks noChangeArrowheads="1"/>
          </p:cNvSpPr>
          <p:nvPr/>
        </p:nvSpPr>
        <p:spPr bwMode="auto"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19472" name="Text Box 16"/>
          <p:cNvSpPr txBox="1">
            <a:spLocks noChangeArrowheads="1"/>
          </p:cNvSpPr>
          <p:nvPr/>
        </p:nvSpPr>
        <p:spPr bwMode="auto"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19473" name="Text Box 17"/>
          <p:cNvSpPr txBox="1">
            <a:spLocks noChangeArrowheads="1"/>
          </p:cNvSpPr>
          <p:nvPr/>
        </p:nvSpPr>
        <p:spPr bwMode="auto"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19474" name="Text Box 18"/>
          <p:cNvSpPr txBox="1">
            <a:spLocks noChangeArrowheads="1"/>
          </p:cNvSpPr>
          <p:nvPr/>
        </p:nvSpPr>
        <p:spPr bwMode="auto"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19475" name="AutoShape 19"/>
          <p:cNvCxnSpPr>
            <a:cxnSpLocks noChangeShapeType="1"/>
            <a:stCxn id="19460" idx="0"/>
            <a:endCxn id="19459" idx="4"/>
          </p:cNvCxnSpPr>
          <p:nvPr/>
        </p:nvCxnSpPr>
        <p:spPr bwMode="auto">
          <a:xfrm flipV="1">
            <a:off x="1524000" y="2909888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76" name="AutoShape 20"/>
          <p:cNvCxnSpPr>
            <a:cxnSpLocks noChangeShapeType="1"/>
            <a:stCxn id="19459" idx="6"/>
            <a:endCxn id="19461" idx="2"/>
          </p:cNvCxnSpPr>
          <p:nvPr/>
        </p:nvCxnSpPr>
        <p:spPr bwMode="auto">
          <a:xfrm>
            <a:off x="1919288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77" name="AutoShape 21"/>
          <p:cNvCxnSpPr>
            <a:cxnSpLocks noChangeShapeType="1"/>
            <a:stCxn id="19461" idx="4"/>
            <a:endCxn id="19462" idx="0"/>
          </p:cNvCxnSpPr>
          <p:nvPr/>
        </p:nvCxnSpPr>
        <p:spPr bwMode="auto">
          <a:xfrm>
            <a:off x="3581400" y="2909888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78" name="AutoShape 22"/>
          <p:cNvCxnSpPr>
            <a:cxnSpLocks noChangeShapeType="1"/>
            <a:stCxn id="19462" idx="7"/>
            <a:endCxn id="19463" idx="3"/>
          </p:cNvCxnSpPr>
          <p:nvPr/>
        </p:nvCxnSpPr>
        <p:spPr bwMode="auto">
          <a:xfrm flipV="1">
            <a:off x="3851275" y="2798763"/>
            <a:ext cx="1517650" cy="9556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79" name="AutoShape 23"/>
          <p:cNvCxnSpPr>
            <a:cxnSpLocks noChangeShapeType="1"/>
            <a:stCxn id="19462" idx="6"/>
            <a:endCxn id="19464" idx="2"/>
          </p:cNvCxnSpPr>
          <p:nvPr/>
        </p:nvCxnSpPr>
        <p:spPr bwMode="auto">
          <a:xfrm>
            <a:off x="3976688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80" name="AutoShape 24"/>
          <p:cNvCxnSpPr>
            <a:cxnSpLocks noChangeShapeType="1"/>
            <a:stCxn id="19464" idx="0"/>
            <a:endCxn id="19463" idx="4"/>
          </p:cNvCxnSpPr>
          <p:nvPr/>
        </p:nvCxnSpPr>
        <p:spPr bwMode="auto">
          <a:xfrm flipV="1">
            <a:off x="56388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81" name="AutoShape 25"/>
          <p:cNvCxnSpPr>
            <a:cxnSpLocks noChangeShapeType="1"/>
            <a:stCxn id="19463" idx="6"/>
            <a:endCxn id="19465" idx="2"/>
          </p:cNvCxnSpPr>
          <p:nvPr/>
        </p:nvCxnSpPr>
        <p:spPr bwMode="auto">
          <a:xfrm>
            <a:off x="6034088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82" name="AutoShape 26"/>
          <p:cNvCxnSpPr>
            <a:cxnSpLocks noChangeShapeType="1"/>
            <a:stCxn id="19464" idx="6"/>
            <a:endCxn id="19466" idx="2"/>
          </p:cNvCxnSpPr>
          <p:nvPr/>
        </p:nvCxnSpPr>
        <p:spPr bwMode="auto">
          <a:xfrm>
            <a:off x="6034088" y="4038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83" name="AutoShape 27"/>
          <p:cNvCxnSpPr>
            <a:cxnSpLocks noChangeShapeType="1"/>
            <a:stCxn id="19466" idx="0"/>
            <a:endCxn id="19465" idx="4"/>
          </p:cNvCxnSpPr>
          <p:nvPr/>
        </p:nvCxnSpPr>
        <p:spPr bwMode="auto">
          <a:xfrm flipV="1">
            <a:off x="76962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484" name="Rectangle 28"/>
          <p:cNvSpPr>
            <a:spLocks noChangeArrowheads="1"/>
          </p:cNvSpPr>
          <p:nvPr/>
        </p:nvSpPr>
        <p:spPr bwMode="auto">
          <a:xfrm>
            <a:off x="1828800" y="5562600"/>
            <a:ext cx="68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 b="1">
                <a:latin typeface="Times New Roman" panose="02020603050405020304" pitchFamily="18" charset="0"/>
              </a:rPr>
              <a:t>Q:</a:t>
            </a:r>
          </a:p>
        </p:txBody>
      </p:sp>
      <p:sp>
        <p:nvSpPr>
          <p:cNvPr id="19485" name="Rectangle 29"/>
          <p:cNvSpPr>
            <a:spLocks noChangeArrowheads="1"/>
          </p:cNvSpPr>
          <p:nvPr/>
        </p:nvSpPr>
        <p:spPr bwMode="auto">
          <a:xfrm>
            <a:off x="25146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19486" name="Rectangle 30"/>
          <p:cNvSpPr>
            <a:spLocks noChangeArrowheads="1"/>
          </p:cNvSpPr>
          <p:nvPr/>
        </p:nvSpPr>
        <p:spPr bwMode="auto">
          <a:xfrm>
            <a:off x="32004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19487" name="Rectangle 31"/>
          <p:cNvSpPr>
            <a:spLocks noChangeArrowheads="1"/>
          </p:cNvSpPr>
          <p:nvPr/>
        </p:nvSpPr>
        <p:spPr bwMode="auto">
          <a:xfrm>
            <a:off x="38862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1105724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38333"/>
            <a:ext cx="9144000" cy="457200"/>
          </a:xfrm>
        </p:spPr>
        <p:txBody>
          <a:bodyPr>
            <a:normAutofit/>
          </a:bodyPr>
          <a:lstStyle/>
          <a:p>
            <a:r>
              <a:rPr lang="en-US" altLang="en-US" sz="2800" b="1" dirty="0"/>
              <a:t>Breadth-First Search: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483" name="Oval 3"/>
          <p:cNvSpPr>
            <a:spLocks noChangeArrowheads="1"/>
          </p:cNvSpPr>
          <p:nvPr/>
        </p:nvSpPr>
        <p:spPr bwMode="auto">
          <a:xfrm>
            <a:off x="11430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</a:pPr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en-US" sz="4000" i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4" name="Oval 4"/>
          <p:cNvSpPr>
            <a:spLocks noChangeArrowheads="1"/>
          </p:cNvSpPr>
          <p:nvPr/>
        </p:nvSpPr>
        <p:spPr bwMode="auto">
          <a:xfrm>
            <a:off x="1143000" y="3657600"/>
            <a:ext cx="762000" cy="76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0485" name="Oval 5"/>
          <p:cNvSpPr>
            <a:spLocks noChangeArrowheads="1"/>
          </p:cNvSpPr>
          <p:nvPr/>
        </p:nvSpPr>
        <p:spPr bwMode="auto">
          <a:xfrm>
            <a:off x="32004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20486" name="Oval 6"/>
          <p:cNvSpPr>
            <a:spLocks noChangeArrowheads="1"/>
          </p:cNvSpPr>
          <p:nvPr/>
        </p:nvSpPr>
        <p:spPr bwMode="auto">
          <a:xfrm>
            <a:off x="32004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20487" name="Oval 7"/>
          <p:cNvSpPr>
            <a:spLocks noChangeArrowheads="1"/>
          </p:cNvSpPr>
          <p:nvPr/>
        </p:nvSpPr>
        <p:spPr bwMode="auto">
          <a:xfrm>
            <a:off x="52578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0488" name="Oval 8"/>
          <p:cNvSpPr>
            <a:spLocks noChangeArrowheads="1"/>
          </p:cNvSpPr>
          <p:nvPr/>
        </p:nvSpPr>
        <p:spPr bwMode="auto">
          <a:xfrm>
            <a:off x="52578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0489" name="Oval 9"/>
          <p:cNvSpPr>
            <a:spLocks noChangeArrowheads="1"/>
          </p:cNvSpPr>
          <p:nvPr/>
        </p:nvSpPr>
        <p:spPr bwMode="auto">
          <a:xfrm>
            <a:off x="7315200" y="2133600"/>
            <a:ext cx="762000" cy="76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0490" name="Oval 10"/>
          <p:cNvSpPr>
            <a:spLocks noChangeArrowheads="1"/>
          </p:cNvSpPr>
          <p:nvPr/>
        </p:nvSpPr>
        <p:spPr bwMode="auto">
          <a:xfrm>
            <a:off x="7315200" y="3657600"/>
            <a:ext cx="762000" cy="76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0491" name="Text Box 11"/>
          <p:cNvSpPr txBox="1">
            <a:spLocks noChangeArrowheads="1"/>
          </p:cNvSpPr>
          <p:nvPr/>
        </p:nvSpPr>
        <p:spPr bwMode="auto"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20492" name="Text Box 12"/>
          <p:cNvSpPr txBox="1">
            <a:spLocks noChangeArrowheads="1"/>
          </p:cNvSpPr>
          <p:nvPr/>
        </p:nvSpPr>
        <p:spPr bwMode="auto"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0493" name="Text Box 13"/>
          <p:cNvSpPr txBox="1">
            <a:spLocks noChangeArrowheads="1"/>
          </p:cNvSpPr>
          <p:nvPr/>
        </p:nvSpPr>
        <p:spPr bwMode="auto"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0494" name="Text Box 14"/>
          <p:cNvSpPr txBox="1">
            <a:spLocks noChangeArrowheads="1"/>
          </p:cNvSpPr>
          <p:nvPr/>
        </p:nvSpPr>
        <p:spPr bwMode="auto"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0495" name="Text Box 15"/>
          <p:cNvSpPr txBox="1">
            <a:spLocks noChangeArrowheads="1"/>
          </p:cNvSpPr>
          <p:nvPr/>
        </p:nvSpPr>
        <p:spPr bwMode="auto"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0496" name="Text Box 16"/>
          <p:cNvSpPr txBox="1">
            <a:spLocks noChangeArrowheads="1"/>
          </p:cNvSpPr>
          <p:nvPr/>
        </p:nvSpPr>
        <p:spPr bwMode="auto"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20497" name="Text Box 17"/>
          <p:cNvSpPr txBox="1">
            <a:spLocks noChangeArrowheads="1"/>
          </p:cNvSpPr>
          <p:nvPr/>
        </p:nvSpPr>
        <p:spPr bwMode="auto"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0498" name="Text Box 18"/>
          <p:cNvSpPr txBox="1">
            <a:spLocks noChangeArrowheads="1"/>
          </p:cNvSpPr>
          <p:nvPr/>
        </p:nvSpPr>
        <p:spPr bwMode="auto"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20499" name="AutoShape 19"/>
          <p:cNvCxnSpPr>
            <a:cxnSpLocks noChangeShapeType="1"/>
            <a:stCxn id="20484" idx="0"/>
            <a:endCxn id="20483" idx="4"/>
          </p:cNvCxnSpPr>
          <p:nvPr/>
        </p:nvCxnSpPr>
        <p:spPr bwMode="auto">
          <a:xfrm flipV="1">
            <a:off x="1524000" y="2909888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00" name="AutoShape 20"/>
          <p:cNvCxnSpPr>
            <a:cxnSpLocks noChangeShapeType="1"/>
            <a:stCxn id="20483" idx="6"/>
            <a:endCxn id="20485" idx="2"/>
          </p:cNvCxnSpPr>
          <p:nvPr/>
        </p:nvCxnSpPr>
        <p:spPr bwMode="auto">
          <a:xfrm>
            <a:off x="1919288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01" name="AutoShape 21"/>
          <p:cNvCxnSpPr>
            <a:cxnSpLocks noChangeShapeType="1"/>
            <a:stCxn id="20485" idx="4"/>
            <a:endCxn id="20486" idx="0"/>
          </p:cNvCxnSpPr>
          <p:nvPr/>
        </p:nvCxnSpPr>
        <p:spPr bwMode="auto">
          <a:xfrm>
            <a:off x="3581400" y="2909888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02" name="AutoShape 22"/>
          <p:cNvCxnSpPr>
            <a:cxnSpLocks noChangeShapeType="1"/>
            <a:stCxn id="20486" idx="7"/>
            <a:endCxn id="20487" idx="3"/>
          </p:cNvCxnSpPr>
          <p:nvPr/>
        </p:nvCxnSpPr>
        <p:spPr bwMode="auto">
          <a:xfrm flipV="1">
            <a:off x="3851275" y="2798763"/>
            <a:ext cx="1517650" cy="9556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03" name="AutoShape 23"/>
          <p:cNvCxnSpPr>
            <a:cxnSpLocks noChangeShapeType="1"/>
            <a:stCxn id="20486" idx="6"/>
            <a:endCxn id="20488" idx="2"/>
          </p:cNvCxnSpPr>
          <p:nvPr/>
        </p:nvCxnSpPr>
        <p:spPr bwMode="auto">
          <a:xfrm>
            <a:off x="3976688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04" name="AutoShape 24"/>
          <p:cNvCxnSpPr>
            <a:cxnSpLocks noChangeShapeType="1"/>
            <a:stCxn id="20488" idx="0"/>
            <a:endCxn id="20487" idx="4"/>
          </p:cNvCxnSpPr>
          <p:nvPr/>
        </p:nvCxnSpPr>
        <p:spPr bwMode="auto">
          <a:xfrm flipV="1">
            <a:off x="56388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05" name="AutoShape 25"/>
          <p:cNvCxnSpPr>
            <a:cxnSpLocks noChangeShapeType="1"/>
            <a:stCxn id="20487" idx="6"/>
            <a:endCxn id="20489" idx="2"/>
          </p:cNvCxnSpPr>
          <p:nvPr/>
        </p:nvCxnSpPr>
        <p:spPr bwMode="auto">
          <a:xfrm>
            <a:off x="6034088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06" name="AutoShape 26"/>
          <p:cNvCxnSpPr>
            <a:cxnSpLocks noChangeShapeType="1"/>
            <a:stCxn id="20488" idx="6"/>
            <a:endCxn id="20490" idx="2"/>
          </p:cNvCxnSpPr>
          <p:nvPr/>
        </p:nvCxnSpPr>
        <p:spPr bwMode="auto">
          <a:xfrm>
            <a:off x="6034088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07" name="AutoShape 27"/>
          <p:cNvCxnSpPr>
            <a:cxnSpLocks noChangeShapeType="1"/>
            <a:stCxn id="20490" idx="0"/>
            <a:endCxn id="20489" idx="4"/>
          </p:cNvCxnSpPr>
          <p:nvPr/>
        </p:nvCxnSpPr>
        <p:spPr bwMode="auto">
          <a:xfrm flipV="1">
            <a:off x="76962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508" name="Rectangle 28"/>
          <p:cNvSpPr>
            <a:spLocks noChangeArrowheads="1"/>
          </p:cNvSpPr>
          <p:nvPr/>
        </p:nvSpPr>
        <p:spPr bwMode="auto">
          <a:xfrm>
            <a:off x="1828800" y="5562600"/>
            <a:ext cx="68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 b="1">
                <a:latin typeface="Times New Roman" panose="02020603050405020304" pitchFamily="18" charset="0"/>
              </a:rPr>
              <a:t>Q:</a:t>
            </a:r>
          </a:p>
        </p:txBody>
      </p:sp>
      <p:sp>
        <p:nvSpPr>
          <p:cNvPr id="20509" name="Rectangle 29"/>
          <p:cNvSpPr>
            <a:spLocks noChangeArrowheads="1"/>
          </p:cNvSpPr>
          <p:nvPr/>
        </p:nvSpPr>
        <p:spPr bwMode="auto">
          <a:xfrm>
            <a:off x="25146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0510" name="Rectangle 30"/>
          <p:cNvSpPr>
            <a:spLocks noChangeArrowheads="1"/>
          </p:cNvSpPr>
          <p:nvPr/>
        </p:nvSpPr>
        <p:spPr bwMode="auto">
          <a:xfrm>
            <a:off x="32004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0511" name="Rectangle 31"/>
          <p:cNvSpPr>
            <a:spLocks noChangeArrowheads="1"/>
          </p:cNvSpPr>
          <p:nvPr/>
        </p:nvSpPr>
        <p:spPr bwMode="auto">
          <a:xfrm>
            <a:off x="38862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2812856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800" b="1" dirty="0"/>
              <a:t>Breadth-First Search: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507" name="Oval 3"/>
          <p:cNvSpPr>
            <a:spLocks noChangeArrowheads="1"/>
          </p:cNvSpPr>
          <p:nvPr/>
        </p:nvSpPr>
        <p:spPr bwMode="auto">
          <a:xfrm>
            <a:off x="11430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</a:pPr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en-US" sz="4000" i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08" name="Oval 4"/>
          <p:cNvSpPr>
            <a:spLocks noChangeArrowheads="1"/>
          </p:cNvSpPr>
          <p:nvPr/>
        </p:nvSpPr>
        <p:spPr bwMode="auto">
          <a:xfrm>
            <a:off x="11430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1509" name="Oval 5"/>
          <p:cNvSpPr>
            <a:spLocks noChangeArrowheads="1"/>
          </p:cNvSpPr>
          <p:nvPr/>
        </p:nvSpPr>
        <p:spPr bwMode="auto">
          <a:xfrm>
            <a:off x="32004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21510" name="Oval 6"/>
          <p:cNvSpPr>
            <a:spLocks noChangeArrowheads="1"/>
          </p:cNvSpPr>
          <p:nvPr/>
        </p:nvSpPr>
        <p:spPr bwMode="auto">
          <a:xfrm>
            <a:off x="32004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21511" name="Oval 7"/>
          <p:cNvSpPr>
            <a:spLocks noChangeArrowheads="1"/>
          </p:cNvSpPr>
          <p:nvPr/>
        </p:nvSpPr>
        <p:spPr bwMode="auto">
          <a:xfrm>
            <a:off x="52578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1512" name="Oval 8"/>
          <p:cNvSpPr>
            <a:spLocks noChangeArrowheads="1"/>
          </p:cNvSpPr>
          <p:nvPr/>
        </p:nvSpPr>
        <p:spPr bwMode="auto">
          <a:xfrm>
            <a:off x="52578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1513" name="Oval 9"/>
          <p:cNvSpPr>
            <a:spLocks noChangeArrowheads="1"/>
          </p:cNvSpPr>
          <p:nvPr/>
        </p:nvSpPr>
        <p:spPr bwMode="auto">
          <a:xfrm>
            <a:off x="7315200" y="2133600"/>
            <a:ext cx="762000" cy="76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1514" name="Oval 10"/>
          <p:cNvSpPr>
            <a:spLocks noChangeArrowheads="1"/>
          </p:cNvSpPr>
          <p:nvPr/>
        </p:nvSpPr>
        <p:spPr bwMode="auto">
          <a:xfrm>
            <a:off x="7315200" y="3657600"/>
            <a:ext cx="762000" cy="76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1515" name="Text Box 11"/>
          <p:cNvSpPr txBox="1">
            <a:spLocks noChangeArrowheads="1"/>
          </p:cNvSpPr>
          <p:nvPr/>
        </p:nvSpPr>
        <p:spPr bwMode="auto"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21516" name="Text Box 12"/>
          <p:cNvSpPr txBox="1">
            <a:spLocks noChangeArrowheads="1"/>
          </p:cNvSpPr>
          <p:nvPr/>
        </p:nvSpPr>
        <p:spPr bwMode="auto"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1517" name="Text Box 13"/>
          <p:cNvSpPr txBox="1">
            <a:spLocks noChangeArrowheads="1"/>
          </p:cNvSpPr>
          <p:nvPr/>
        </p:nvSpPr>
        <p:spPr bwMode="auto"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1518" name="Text Box 14"/>
          <p:cNvSpPr txBox="1">
            <a:spLocks noChangeArrowheads="1"/>
          </p:cNvSpPr>
          <p:nvPr/>
        </p:nvSpPr>
        <p:spPr bwMode="auto"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1519" name="Text Box 15"/>
          <p:cNvSpPr txBox="1">
            <a:spLocks noChangeArrowheads="1"/>
          </p:cNvSpPr>
          <p:nvPr/>
        </p:nvSpPr>
        <p:spPr bwMode="auto"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1520" name="Text Box 16"/>
          <p:cNvSpPr txBox="1">
            <a:spLocks noChangeArrowheads="1"/>
          </p:cNvSpPr>
          <p:nvPr/>
        </p:nvSpPr>
        <p:spPr bwMode="auto"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21521" name="Text Box 17"/>
          <p:cNvSpPr txBox="1">
            <a:spLocks noChangeArrowheads="1"/>
          </p:cNvSpPr>
          <p:nvPr/>
        </p:nvSpPr>
        <p:spPr bwMode="auto"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1522" name="Text Box 18"/>
          <p:cNvSpPr txBox="1">
            <a:spLocks noChangeArrowheads="1"/>
          </p:cNvSpPr>
          <p:nvPr/>
        </p:nvSpPr>
        <p:spPr bwMode="auto"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21523" name="AutoShape 19"/>
          <p:cNvCxnSpPr>
            <a:cxnSpLocks noChangeShapeType="1"/>
            <a:stCxn id="21508" idx="0"/>
            <a:endCxn id="21507" idx="4"/>
          </p:cNvCxnSpPr>
          <p:nvPr/>
        </p:nvCxnSpPr>
        <p:spPr bwMode="auto">
          <a:xfrm flipV="1">
            <a:off x="1524000" y="2909888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524" name="AutoShape 20"/>
          <p:cNvCxnSpPr>
            <a:cxnSpLocks noChangeShapeType="1"/>
            <a:stCxn id="21507" idx="6"/>
            <a:endCxn id="21509" idx="2"/>
          </p:cNvCxnSpPr>
          <p:nvPr/>
        </p:nvCxnSpPr>
        <p:spPr bwMode="auto">
          <a:xfrm>
            <a:off x="1919288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525" name="AutoShape 21"/>
          <p:cNvCxnSpPr>
            <a:cxnSpLocks noChangeShapeType="1"/>
            <a:stCxn id="21509" idx="4"/>
            <a:endCxn id="21510" idx="0"/>
          </p:cNvCxnSpPr>
          <p:nvPr/>
        </p:nvCxnSpPr>
        <p:spPr bwMode="auto">
          <a:xfrm>
            <a:off x="3581400" y="2909888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526" name="AutoShape 22"/>
          <p:cNvCxnSpPr>
            <a:cxnSpLocks noChangeShapeType="1"/>
            <a:stCxn id="21510" idx="7"/>
            <a:endCxn id="21511" idx="3"/>
          </p:cNvCxnSpPr>
          <p:nvPr/>
        </p:nvCxnSpPr>
        <p:spPr bwMode="auto">
          <a:xfrm flipV="1">
            <a:off x="3851275" y="2798763"/>
            <a:ext cx="1517650" cy="9556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527" name="AutoShape 23"/>
          <p:cNvCxnSpPr>
            <a:cxnSpLocks noChangeShapeType="1"/>
            <a:stCxn id="21510" idx="6"/>
            <a:endCxn id="21512" idx="2"/>
          </p:cNvCxnSpPr>
          <p:nvPr/>
        </p:nvCxnSpPr>
        <p:spPr bwMode="auto">
          <a:xfrm>
            <a:off x="3976688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528" name="AutoShape 24"/>
          <p:cNvCxnSpPr>
            <a:cxnSpLocks noChangeShapeType="1"/>
            <a:stCxn id="21512" idx="0"/>
            <a:endCxn id="21511" idx="4"/>
          </p:cNvCxnSpPr>
          <p:nvPr/>
        </p:nvCxnSpPr>
        <p:spPr bwMode="auto">
          <a:xfrm flipV="1">
            <a:off x="56388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529" name="AutoShape 25"/>
          <p:cNvCxnSpPr>
            <a:cxnSpLocks noChangeShapeType="1"/>
            <a:stCxn id="21511" idx="6"/>
            <a:endCxn id="21513" idx="2"/>
          </p:cNvCxnSpPr>
          <p:nvPr/>
        </p:nvCxnSpPr>
        <p:spPr bwMode="auto">
          <a:xfrm>
            <a:off x="6034088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530" name="AutoShape 26"/>
          <p:cNvCxnSpPr>
            <a:cxnSpLocks noChangeShapeType="1"/>
            <a:stCxn id="21512" idx="6"/>
            <a:endCxn id="21514" idx="2"/>
          </p:cNvCxnSpPr>
          <p:nvPr/>
        </p:nvCxnSpPr>
        <p:spPr bwMode="auto">
          <a:xfrm>
            <a:off x="6034088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531" name="AutoShape 27"/>
          <p:cNvCxnSpPr>
            <a:cxnSpLocks noChangeShapeType="1"/>
            <a:stCxn id="21514" idx="0"/>
            <a:endCxn id="21513" idx="4"/>
          </p:cNvCxnSpPr>
          <p:nvPr/>
        </p:nvCxnSpPr>
        <p:spPr bwMode="auto">
          <a:xfrm flipV="1">
            <a:off x="76962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532" name="Rectangle 28"/>
          <p:cNvSpPr>
            <a:spLocks noChangeArrowheads="1"/>
          </p:cNvSpPr>
          <p:nvPr/>
        </p:nvSpPr>
        <p:spPr bwMode="auto">
          <a:xfrm>
            <a:off x="1828800" y="5562600"/>
            <a:ext cx="68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 b="1">
                <a:latin typeface="Times New Roman" panose="02020603050405020304" pitchFamily="18" charset="0"/>
              </a:rPr>
              <a:t>Q:</a:t>
            </a:r>
          </a:p>
        </p:txBody>
      </p:sp>
      <p:sp>
        <p:nvSpPr>
          <p:cNvPr id="21533" name="Rectangle 29"/>
          <p:cNvSpPr>
            <a:spLocks noChangeArrowheads="1"/>
          </p:cNvSpPr>
          <p:nvPr/>
        </p:nvSpPr>
        <p:spPr bwMode="auto">
          <a:xfrm>
            <a:off x="25146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1534" name="Rectangle 30"/>
          <p:cNvSpPr>
            <a:spLocks noChangeArrowheads="1"/>
          </p:cNvSpPr>
          <p:nvPr/>
        </p:nvSpPr>
        <p:spPr bwMode="auto">
          <a:xfrm>
            <a:off x="32004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3715275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800" b="1" dirty="0"/>
              <a:t>Breadth-First Search: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531" name="Oval 3"/>
          <p:cNvSpPr>
            <a:spLocks noChangeArrowheads="1"/>
          </p:cNvSpPr>
          <p:nvPr/>
        </p:nvSpPr>
        <p:spPr bwMode="auto">
          <a:xfrm>
            <a:off x="11430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</a:pPr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en-US" sz="4000" i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2" name="Oval 4"/>
          <p:cNvSpPr>
            <a:spLocks noChangeArrowheads="1"/>
          </p:cNvSpPr>
          <p:nvPr/>
        </p:nvSpPr>
        <p:spPr bwMode="auto">
          <a:xfrm>
            <a:off x="11430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2533" name="Oval 5"/>
          <p:cNvSpPr>
            <a:spLocks noChangeArrowheads="1"/>
          </p:cNvSpPr>
          <p:nvPr/>
        </p:nvSpPr>
        <p:spPr bwMode="auto">
          <a:xfrm>
            <a:off x="32004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22534" name="Oval 6"/>
          <p:cNvSpPr>
            <a:spLocks noChangeArrowheads="1"/>
          </p:cNvSpPr>
          <p:nvPr/>
        </p:nvSpPr>
        <p:spPr bwMode="auto">
          <a:xfrm>
            <a:off x="32004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22535" name="Oval 7"/>
          <p:cNvSpPr>
            <a:spLocks noChangeArrowheads="1"/>
          </p:cNvSpPr>
          <p:nvPr/>
        </p:nvSpPr>
        <p:spPr bwMode="auto">
          <a:xfrm>
            <a:off x="52578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2536" name="Oval 8"/>
          <p:cNvSpPr>
            <a:spLocks noChangeArrowheads="1"/>
          </p:cNvSpPr>
          <p:nvPr/>
        </p:nvSpPr>
        <p:spPr bwMode="auto">
          <a:xfrm>
            <a:off x="52578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2537" name="Oval 9"/>
          <p:cNvSpPr>
            <a:spLocks noChangeArrowheads="1"/>
          </p:cNvSpPr>
          <p:nvPr/>
        </p:nvSpPr>
        <p:spPr bwMode="auto">
          <a:xfrm>
            <a:off x="73152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2538" name="Oval 10"/>
          <p:cNvSpPr>
            <a:spLocks noChangeArrowheads="1"/>
          </p:cNvSpPr>
          <p:nvPr/>
        </p:nvSpPr>
        <p:spPr bwMode="auto">
          <a:xfrm>
            <a:off x="7315200" y="3657600"/>
            <a:ext cx="762000" cy="76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2539" name="Text Box 11"/>
          <p:cNvSpPr txBox="1">
            <a:spLocks noChangeArrowheads="1"/>
          </p:cNvSpPr>
          <p:nvPr/>
        </p:nvSpPr>
        <p:spPr bwMode="auto"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22540" name="Text Box 12"/>
          <p:cNvSpPr txBox="1">
            <a:spLocks noChangeArrowheads="1"/>
          </p:cNvSpPr>
          <p:nvPr/>
        </p:nvSpPr>
        <p:spPr bwMode="auto"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2541" name="Text Box 13"/>
          <p:cNvSpPr txBox="1">
            <a:spLocks noChangeArrowheads="1"/>
          </p:cNvSpPr>
          <p:nvPr/>
        </p:nvSpPr>
        <p:spPr bwMode="auto"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2542" name="Text Box 14"/>
          <p:cNvSpPr txBox="1">
            <a:spLocks noChangeArrowheads="1"/>
          </p:cNvSpPr>
          <p:nvPr/>
        </p:nvSpPr>
        <p:spPr bwMode="auto"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2543" name="Text Box 15"/>
          <p:cNvSpPr txBox="1">
            <a:spLocks noChangeArrowheads="1"/>
          </p:cNvSpPr>
          <p:nvPr/>
        </p:nvSpPr>
        <p:spPr bwMode="auto"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2544" name="Text Box 16"/>
          <p:cNvSpPr txBox="1">
            <a:spLocks noChangeArrowheads="1"/>
          </p:cNvSpPr>
          <p:nvPr/>
        </p:nvSpPr>
        <p:spPr bwMode="auto"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22545" name="Text Box 17"/>
          <p:cNvSpPr txBox="1">
            <a:spLocks noChangeArrowheads="1"/>
          </p:cNvSpPr>
          <p:nvPr/>
        </p:nvSpPr>
        <p:spPr bwMode="auto"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2546" name="Text Box 18"/>
          <p:cNvSpPr txBox="1">
            <a:spLocks noChangeArrowheads="1"/>
          </p:cNvSpPr>
          <p:nvPr/>
        </p:nvSpPr>
        <p:spPr bwMode="auto"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22547" name="AutoShape 19"/>
          <p:cNvCxnSpPr>
            <a:cxnSpLocks noChangeShapeType="1"/>
            <a:stCxn id="22532" idx="0"/>
            <a:endCxn id="22531" idx="4"/>
          </p:cNvCxnSpPr>
          <p:nvPr/>
        </p:nvCxnSpPr>
        <p:spPr bwMode="auto">
          <a:xfrm flipV="1">
            <a:off x="1524000" y="2909888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48" name="AutoShape 20"/>
          <p:cNvCxnSpPr>
            <a:cxnSpLocks noChangeShapeType="1"/>
            <a:stCxn id="22531" idx="6"/>
            <a:endCxn id="22533" idx="2"/>
          </p:cNvCxnSpPr>
          <p:nvPr/>
        </p:nvCxnSpPr>
        <p:spPr bwMode="auto">
          <a:xfrm>
            <a:off x="1919288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49" name="AutoShape 21"/>
          <p:cNvCxnSpPr>
            <a:cxnSpLocks noChangeShapeType="1"/>
            <a:stCxn id="22533" idx="4"/>
            <a:endCxn id="22534" idx="0"/>
          </p:cNvCxnSpPr>
          <p:nvPr/>
        </p:nvCxnSpPr>
        <p:spPr bwMode="auto">
          <a:xfrm>
            <a:off x="3581400" y="2909888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50" name="AutoShape 22"/>
          <p:cNvCxnSpPr>
            <a:cxnSpLocks noChangeShapeType="1"/>
            <a:stCxn id="22534" idx="7"/>
            <a:endCxn id="22535" idx="3"/>
          </p:cNvCxnSpPr>
          <p:nvPr/>
        </p:nvCxnSpPr>
        <p:spPr bwMode="auto">
          <a:xfrm flipV="1">
            <a:off x="3851275" y="2798763"/>
            <a:ext cx="1517650" cy="9556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51" name="AutoShape 23"/>
          <p:cNvCxnSpPr>
            <a:cxnSpLocks noChangeShapeType="1"/>
            <a:stCxn id="22534" idx="6"/>
            <a:endCxn id="22536" idx="2"/>
          </p:cNvCxnSpPr>
          <p:nvPr/>
        </p:nvCxnSpPr>
        <p:spPr bwMode="auto">
          <a:xfrm>
            <a:off x="3976688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52" name="AutoShape 24"/>
          <p:cNvCxnSpPr>
            <a:cxnSpLocks noChangeShapeType="1"/>
            <a:stCxn id="22536" idx="0"/>
            <a:endCxn id="22535" idx="4"/>
          </p:cNvCxnSpPr>
          <p:nvPr/>
        </p:nvCxnSpPr>
        <p:spPr bwMode="auto">
          <a:xfrm flipV="1">
            <a:off x="56388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53" name="AutoShape 25"/>
          <p:cNvCxnSpPr>
            <a:cxnSpLocks noChangeShapeType="1"/>
            <a:stCxn id="22535" idx="6"/>
            <a:endCxn id="22537" idx="2"/>
          </p:cNvCxnSpPr>
          <p:nvPr/>
        </p:nvCxnSpPr>
        <p:spPr bwMode="auto">
          <a:xfrm>
            <a:off x="6034088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54" name="AutoShape 26"/>
          <p:cNvCxnSpPr>
            <a:cxnSpLocks noChangeShapeType="1"/>
            <a:stCxn id="22536" idx="6"/>
            <a:endCxn id="22538" idx="2"/>
          </p:cNvCxnSpPr>
          <p:nvPr/>
        </p:nvCxnSpPr>
        <p:spPr bwMode="auto">
          <a:xfrm>
            <a:off x="6034088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55" name="AutoShape 27"/>
          <p:cNvCxnSpPr>
            <a:cxnSpLocks noChangeShapeType="1"/>
            <a:stCxn id="22538" idx="0"/>
            <a:endCxn id="22537" idx="4"/>
          </p:cNvCxnSpPr>
          <p:nvPr/>
        </p:nvCxnSpPr>
        <p:spPr bwMode="auto">
          <a:xfrm flipV="1">
            <a:off x="76962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556" name="Rectangle 28"/>
          <p:cNvSpPr>
            <a:spLocks noChangeArrowheads="1"/>
          </p:cNvSpPr>
          <p:nvPr/>
        </p:nvSpPr>
        <p:spPr bwMode="auto">
          <a:xfrm>
            <a:off x="1828800" y="5562600"/>
            <a:ext cx="68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 b="1">
                <a:latin typeface="Times New Roman" panose="02020603050405020304" pitchFamily="18" charset="0"/>
              </a:rPr>
              <a:t>Q:</a:t>
            </a:r>
          </a:p>
        </p:txBody>
      </p:sp>
      <p:sp>
        <p:nvSpPr>
          <p:cNvPr id="22557" name="Rectangle 29"/>
          <p:cNvSpPr>
            <a:spLocks noChangeArrowheads="1"/>
          </p:cNvSpPr>
          <p:nvPr/>
        </p:nvSpPr>
        <p:spPr bwMode="auto">
          <a:xfrm>
            <a:off x="25146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2334490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800" b="1" dirty="0"/>
              <a:t>Breadth-First Search: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555" name="Oval 3"/>
          <p:cNvSpPr>
            <a:spLocks noChangeArrowheads="1"/>
          </p:cNvSpPr>
          <p:nvPr/>
        </p:nvSpPr>
        <p:spPr bwMode="auto">
          <a:xfrm>
            <a:off x="11430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</a:pPr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en-US" sz="4000" i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6" name="Oval 4"/>
          <p:cNvSpPr>
            <a:spLocks noChangeArrowheads="1"/>
          </p:cNvSpPr>
          <p:nvPr/>
        </p:nvSpPr>
        <p:spPr bwMode="auto">
          <a:xfrm>
            <a:off x="11430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3557" name="Oval 5"/>
          <p:cNvSpPr>
            <a:spLocks noChangeArrowheads="1"/>
          </p:cNvSpPr>
          <p:nvPr/>
        </p:nvSpPr>
        <p:spPr bwMode="auto">
          <a:xfrm>
            <a:off x="32004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23558" name="Oval 6"/>
          <p:cNvSpPr>
            <a:spLocks noChangeArrowheads="1"/>
          </p:cNvSpPr>
          <p:nvPr/>
        </p:nvSpPr>
        <p:spPr bwMode="auto">
          <a:xfrm>
            <a:off x="32004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23559" name="Oval 7"/>
          <p:cNvSpPr>
            <a:spLocks noChangeArrowheads="1"/>
          </p:cNvSpPr>
          <p:nvPr/>
        </p:nvSpPr>
        <p:spPr bwMode="auto">
          <a:xfrm>
            <a:off x="52578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3560" name="Oval 8"/>
          <p:cNvSpPr>
            <a:spLocks noChangeArrowheads="1"/>
          </p:cNvSpPr>
          <p:nvPr/>
        </p:nvSpPr>
        <p:spPr bwMode="auto">
          <a:xfrm>
            <a:off x="52578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3561" name="Oval 9"/>
          <p:cNvSpPr>
            <a:spLocks noChangeArrowheads="1"/>
          </p:cNvSpPr>
          <p:nvPr/>
        </p:nvSpPr>
        <p:spPr bwMode="auto">
          <a:xfrm>
            <a:off x="73152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3562" name="Oval 10"/>
          <p:cNvSpPr>
            <a:spLocks noChangeArrowheads="1"/>
          </p:cNvSpPr>
          <p:nvPr/>
        </p:nvSpPr>
        <p:spPr bwMode="auto">
          <a:xfrm>
            <a:off x="73152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3563" name="Text Box 11"/>
          <p:cNvSpPr txBox="1">
            <a:spLocks noChangeArrowheads="1"/>
          </p:cNvSpPr>
          <p:nvPr/>
        </p:nvSpPr>
        <p:spPr bwMode="auto"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23564" name="Text Box 12"/>
          <p:cNvSpPr txBox="1">
            <a:spLocks noChangeArrowheads="1"/>
          </p:cNvSpPr>
          <p:nvPr/>
        </p:nvSpPr>
        <p:spPr bwMode="auto"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3565" name="Text Box 13"/>
          <p:cNvSpPr txBox="1">
            <a:spLocks noChangeArrowheads="1"/>
          </p:cNvSpPr>
          <p:nvPr/>
        </p:nvSpPr>
        <p:spPr bwMode="auto"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3566" name="Text Box 14"/>
          <p:cNvSpPr txBox="1">
            <a:spLocks noChangeArrowheads="1"/>
          </p:cNvSpPr>
          <p:nvPr/>
        </p:nvSpPr>
        <p:spPr bwMode="auto"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3567" name="Text Box 15"/>
          <p:cNvSpPr txBox="1">
            <a:spLocks noChangeArrowheads="1"/>
          </p:cNvSpPr>
          <p:nvPr/>
        </p:nvSpPr>
        <p:spPr bwMode="auto"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3568" name="Text Box 16"/>
          <p:cNvSpPr txBox="1">
            <a:spLocks noChangeArrowheads="1"/>
          </p:cNvSpPr>
          <p:nvPr/>
        </p:nvSpPr>
        <p:spPr bwMode="auto"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23569" name="Text Box 17"/>
          <p:cNvSpPr txBox="1">
            <a:spLocks noChangeArrowheads="1"/>
          </p:cNvSpPr>
          <p:nvPr/>
        </p:nvSpPr>
        <p:spPr bwMode="auto"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3570" name="Text Box 18"/>
          <p:cNvSpPr txBox="1">
            <a:spLocks noChangeArrowheads="1"/>
          </p:cNvSpPr>
          <p:nvPr/>
        </p:nvSpPr>
        <p:spPr bwMode="auto"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23571" name="AutoShape 19"/>
          <p:cNvCxnSpPr>
            <a:cxnSpLocks noChangeShapeType="1"/>
            <a:stCxn id="23556" idx="0"/>
            <a:endCxn id="23555" idx="4"/>
          </p:cNvCxnSpPr>
          <p:nvPr/>
        </p:nvCxnSpPr>
        <p:spPr bwMode="auto">
          <a:xfrm flipV="1">
            <a:off x="1524000" y="2909888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572" name="AutoShape 20"/>
          <p:cNvCxnSpPr>
            <a:cxnSpLocks noChangeShapeType="1"/>
            <a:stCxn id="23555" idx="6"/>
            <a:endCxn id="23557" idx="2"/>
          </p:cNvCxnSpPr>
          <p:nvPr/>
        </p:nvCxnSpPr>
        <p:spPr bwMode="auto">
          <a:xfrm>
            <a:off x="1919288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573" name="AutoShape 21"/>
          <p:cNvCxnSpPr>
            <a:cxnSpLocks noChangeShapeType="1"/>
            <a:stCxn id="23557" idx="4"/>
            <a:endCxn id="23558" idx="0"/>
          </p:cNvCxnSpPr>
          <p:nvPr/>
        </p:nvCxnSpPr>
        <p:spPr bwMode="auto">
          <a:xfrm>
            <a:off x="3581400" y="2909888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574" name="AutoShape 22"/>
          <p:cNvCxnSpPr>
            <a:cxnSpLocks noChangeShapeType="1"/>
            <a:stCxn id="23558" idx="7"/>
            <a:endCxn id="23559" idx="3"/>
          </p:cNvCxnSpPr>
          <p:nvPr/>
        </p:nvCxnSpPr>
        <p:spPr bwMode="auto">
          <a:xfrm flipV="1">
            <a:off x="3851275" y="2798763"/>
            <a:ext cx="1517650" cy="9556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575" name="AutoShape 23"/>
          <p:cNvCxnSpPr>
            <a:cxnSpLocks noChangeShapeType="1"/>
            <a:stCxn id="23558" idx="6"/>
            <a:endCxn id="23560" idx="2"/>
          </p:cNvCxnSpPr>
          <p:nvPr/>
        </p:nvCxnSpPr>
        <p:spPr bwMode="auto">
          <a:xfrm>
            <a:off x="3976688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576" name="AutoShape 24"/>
          <p:cNvCxnSpPr>
            <a:cxnSpLocks noChangeShapeType="1"/>
            <a:stCxn id="23560" idx="0"/>
            <a:endCxn id="23559" idx="4"/>
          </p:cNvCxnSpPr>
          <p:nvPr/>
        </p:nvCxnSpPr>
        <p:spPr bwMode="auto">
          <a:xfrm flipV="1">
            <a:off x="56388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577" name="AutoShape 25"/>
          <p:cNvCxnSpPr>
            <a:cxnSpLocks noChangeShapeType="1"/>
            <a:stCxn id="23559" idx="6"/>
            <a:endCxn id="23561" idx="2"/>
          </p:cNvCxnSpPr>
          <p:nvPr/>
        </p:nvCxnSpPr>
        <p:spPr bwMode="auto">
          <a:xfrm>
            <a:off x="6034088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578" name="AutoShape 26"/>
          <p:cNvCxnSpPr>
            <a:cxnSpLocks noChangeShapeType="1"/>
            <a:stCxn id="23560" idx="6"/>
            <a:endCxn id="23562" idx="2"/>
          </p:cNvCxnSpPr>
          <p:nvPr/>
        </p:nvCxnSpPr>
        <p:spPr bwMode="auto">
          <a:xfrm>
            <a:off x="6034088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579" name="AutoShape 27"/>
          <p:cNvCxnSpPr>
            <a:cxnSpLocks noChangeShapeType="1"/>
            <a:stCxn id="23562" idx="0"/>
            <a:endCxn id="23561" idx="4"/>
          </p:cNvCxnSpPr>
          <p:nvPr/>
        </p:nvCxnSpPr>
        <p:spPr bwMode="auto">
          <a:xfrm flipV="1">
            <a:off x="76962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580" name="Rectangle 28"/>
          <p:cNvSpPr>
            <a:spLocks noChangeArrowheads="1"/>
          </p:cNvSpPr>
          <p:nvPr/>
        </p:nvSpPr>
        <p:spPr bwMode="auto">
          <a:xfrm>
            <a:off x="1828800" y="5562600"/>
            <a:ext cx="68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 b="1">
                <a:latin typeface="Times New Roman" panose="02020603050405020304" pitchFamily="18" charset="0"/>
              </a:rPr>
              <a:t>Q:</a:t>
            </a:r>
          </a:p>
        </p:txBody>
      </p:sp>
      <p:sp>
        <p:nvSpPr>
          <p:cNvPr id="23581" name="Rectangle 29"/>
          <p:cNvSpPr>
            <a:spLocks noChangeArrowheads="1"/>
          </p:cNvSpPr>
          <p:nvPr/>
        </p:nvSpPr>
        <p:spPr bwMode="auto">
          <a:xfrm>
            <a:off x="2514600" y="5562600"/>
            <a:ext cx="68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Ø</a:t>
            </a:r>
            <a:endParaRPr lang="en-US" altLang="en-US" sz="2800" b="1" i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013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49" y="472868"/>
            <a:ext cx="8518096" cy="638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117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0877"/>
            <a:ext cx="9144000" cy="457200"/>
          </a:xfrm>
        </p:spPr>
        <p:txBody>
          <a:bodyPr>
            <a:normAutofit/>
          </a:bodyPr>
          <a:lstStyle/>
          <a:p>
            <a:r>
              <a:rPr lang="en-US" altLang="en-US" sz="3200" b="1" dirty="0">
                <a:solidFill>
                  <a:schemeClr val="tx1"/>
                </a:solidFill>
              </a:rPr>
              <a:t>BFS Running Time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153556"/>
            <a:ext cx="7848600" cy="5410200"/>
          </a:xfrm>
        </p:spPr>
        <p:txBody>
          <a:bodyPr/>
          <a:lstStyle/>
          <a:p>
            <a:pPr algn="just">
              <a:spcBef>
                <a:spcPts val="1800"/>
              </a:spcBef>
            </a:pP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Initialization of each vertex takes </a:t>
            </a:r>
            <a:r>
              <a:rPr lang="en-US" altLang="en-US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alt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en-US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alt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time</a:t>
            </a:r>
          </a:p>
          <a:p>
            <a:pPr algn="just">
              <a:spcBef>
                <a:spcPts val="1800"/>
              </a:spcBef>
            </a:pP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Every vertex is </a:t>
            </a:r>
            <a:r>
              <a:rPr lang="en-US" alt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enqueued</a:t>
            </a: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once and </a:t>
            </a:r>
            <a:r>
              <a:rPr lang="en-US" alt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dequeued</a:t>
            </a: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once, taking </a:t>
            </a:r>
            <a:r>
              <a:rPr lang="en-US" altLang="en-US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alt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en-US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alt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time</a:t>
            </a:r>
          </a:p>
          <a:p>
            <a:pPr algn="just">
              <a:spcBef>
                <a:spcPts val="1800"/>
              </a:spcBef>
            </a:pP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When a vertex is </a:t>
            </a:r>
            <a:r>
              <a:rPr lang="en-US" alt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dequeued</a:t>
            </a: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, all its neighbors are checked to see if they are unvisited, taking time proportional to number of neighbors of the vertex, and summing to </a:t>
            </a:r>
            <a:r>
              <a:rPr lang="en-US" altLang="en-US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alt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en-US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alt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over all iterations</a:t>
            </a:r>
          </a:p>
          <a:p>
            <a:pPr algn="just">
              <a:spcBef>
                <a:spcPts val="1800"/>
              </a:spcBef>
            </a:pP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Total time is </a:t>
            </a:r>
            <a:r>
              <a:rPr lang="en-US" altLang="en-US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alt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en-US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V+E</a:t>
            </a:r>
            <a:r>
              <a:rPr lang="en-US" alt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595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94604"/>
            <a:ext cx="9144000" cy="457200"/>
          </a:xfrm>
        </p:spPr>
        <p:txBody>
          <a:bodyPr>
            <a:normAutofit/>
          </a:bodyPr>
          <a:lstStyle/>
          <a:p>
            <a:r>
              <a:rPr lang="en-US" altLang="en-US" sz="3200" b="1" dirty="0">
                <a:solidFill>
                  <a:schemeClr val="tx1"/>
                </a:solidFill>
              </a:rPr>
              <a:t>Breadth-First Search: Properties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609599" y="1097284"/>
            <a:ext cx="8196775" cy="5410200"/>
          </a:xfrm>
        </p:spPr>
        <p:txBody>
          <a:bodyPr/>
          <a:lstStyle/>
          <a:p>
            <a:pPr algn="just">
              <a:spcBef>
                <a:spcPts val="1800"/>
              </a:spcBef>
            </a:pP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BFS calculates the </a:t>
            </a:r>
            <a:r>
              <a:rPr lang="en-US" altLang="en-US" sz="28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shortest-path distance</a:t>
            </a: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to the source node</a:t>
            </a:r>
          </a:p>
          <a:p>
            <a:pPr lvl="1" algn="just">
              <a:spcBef>
                <a:spcPts val="1800"/>
              </a:spcBef>
            </a:pP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Shortest-path distance </a:t>
            </a: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(</a:t>
            </a:r>
            <a:r>
              <a:rPr lang="en-US" altLang="en-US" sz="2800" dirty="0" err="1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s,v</a:t>
            </a: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) </a:t>
            </a: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= minimum number of edges from s to v, or </a:t>
            </a: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 if v not reachable from s</a:t>
            </a:r>
            <a:endParaRPr lang="en-US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Bef>
                <a:spcPts val="1800"/>
              </a:spcBef>
            </a:pP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BFS builds </a:t>
            </a:r>
            <a:r>
              <a:rPr lang="en-US" altLang="en-US" sz="28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breadth-first tree</a:t>
            </a: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, in which paths to root represent shortest paths in G</a:t>
            </a:r>
          </a:p>
          <a:p>
            <a:pPr lvl="1" algn="just">
              <a:spcBef>
                <a:spcPts val="1800"/>
              </a:spcBef>
            </a:pP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Thus we can use BFS to calculate shortest path from one vertex to another in O(V+E) time</a:t>
            </a:r>
          </a:p>
        </p:txBody>
      </p:sp>
    </p:spTree>
    <p:extLst>
      <p:ext uri="{BB962C8B-B14F-4D97-AF65-F5344CB8AC3E}">
        <p14:creationId xmlns:p14="http://schemas.microsoft.com/office/powerpoint/2010/main" val="1915479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4068" y="264945"/>
            <a:ext cx="9144000" cy="457200"/>
          </a:xfrm>
        </p:spPr>
        <p:txBody>
          <a:bodyPr>
            <a:normAutofit/>
          </a:bodyPr>
          <a:lstStyle/>
          <a:p>
            <a:r>
              <a:rPr lang="en-US" altLang="en-US" sz="3200" b="1" dirty="0">
                <a:solidFill>
                  <a:schemeClr val="tx1"/>
                </a:solidFill>
              </a:rPr>
              <a:t>Depth-First Search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365760" y="1167624"/>
            <a:ext cx="8581292" cy="5410200"/>
          </a:xfrm>
        </p:spPr>
        <p:txBody>
          <a:bodyPr/>
          <a:lstStyle/>
          <a:p>
            <a:pPr algn="just">
              <a:spcBef>
                <a:spcPts val="1800"/>
              </a:spcBef>
            </a:pPr>
            <a:r>
              <a:rPr lang="en-US" altLang="en-US" sz="2800" b="1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Depth-first search</a:t>
            </a: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is another strategy for exploring a graph</a:t>
            </a:r>
          </a:p>
          <a:p>
            <a:pPr lvl="1" algn="just">
              <a:spcBef>
                <a:spcPts val="1800"/>
              </a:spcBef>
            </a:pP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Explore “deeper” in the graph whenever possible</a:t>
            </a:r>
          </a:p>
          <a:p>
            <a:pPr lvl="1" algn="just">
              <a:spcBef>
                <a:spcPts val="1800"/>
              </a:spcBef>
            </a:pP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Edges are explored out of the most recently discovered vertex </a:t>
            </a:r>
            <a:r>
              <a:rPr lang="en-US" altLang="en-US" sz="2800" i="1" dirty="0">
                <a:solidFill>
                  <a:srgbClr val="0033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that still has unexplored edges</a:t>
            </a:r>
          </a:p>
          <a:p>
            <a:pPr lvl="1" algn="just">
              <a:spcBef>
                <a:spcPts val="1800"/>
              </a:spcBef>
            </a:pP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When all of </a:t>
            </a:r>
            <a:r>
              <a:rPr lang="en-US" altLang="en-US" sz="2800" i="1" dirty="0">
                <a:solidFill>
                  <a:srgbClr val="0033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’s edges have been explored, backtrack to the vertex from which </a:t>
            </a:r>
            <a:r>
              <a:rPr lang="en-US" altLang="en-US" sz="2800" i="1" dirty="0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was discovered</a:t>
            </a:r>
          </a:p>
          <a:p>
            <a:pPr lvl="1" algn="just">
              <a:spcBef>
                <a:spcPts val="1800"/>
              </a:spcBef>
              <a:buFont typeface="Times New Roman" panose="02020603050405020304" pitchFamily="18" charset="0"/>
              <a:buNone/>
            </a:pPr>
            <a:endParaRPr lang="en-US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534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7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2740"/>
            <a:ext cx="9144000" cy="457200"/>
          </a:xfrm>
        </p:spPr>
        <p:txBody>
          <a:bodyPr/>
          <a:lstStyle/>
          <a:p>
            <a:r>
              <a:rPr lang="en-US" sz="3200" b="1" dirty="0">
                <a:solidFill>
                  <a:schemeClr val="tx1"/>
                </a:solidFill>
              </a:rPr>
              <a:t>Depth-first Search (DFS)</a:t>
            </a:r>
          </a:p>
        </p:txBody>
      </p:sp>
      <p:sp>
        <p:nvSpPr>
          <p:cNvPr id="1185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599" y="1012876"/>
            <a:ext cx="8112369" cy="5410200"/>
          </a:xfrm>
        </p:spPr>
        <p:txBody>
          <a:bodyPr/>
          <a:lstStyle/>
          <a:p>
            <a:pPr marL="342900" indent="-342900" algn="just"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Explore edges out of the most recently discovered vertex 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 algn="just"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When all edges of 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have been explored, backtrack to explore other edges leaving the vertex from which 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was discovered (its </a:t>
            </a:r>
            <a:r>
              <a:rPr lang="en-US" sz="2400" i="1" dirty="0">
                <a:solidFill>
                  <a:srgbClr val="CC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predecessor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342900" indent="-342900" algn="just"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hlin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“Search as deep as possible first.”</a:t>
            </a:r>
          </a:p>
          <a:p>
            <a:pPr marL="342900" indent="-342900" algn="just"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Continue until all vertices reachable from the original source are discovered.</a:t>
            </a:r>
          </a:p>
          <a:p>
            <a:pPr marL="342900" indent="-342900" algn="just"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any undiscovered vertices remain, then one of them is chosen as a new source and search is repeated from that source.</a:t>
            </a:r>
          </a:p>
        </p:txBody>
      </p:sp>
    </p:spTree>
    <p:extLst>
      <p:ext uri="{BB962C8B-B14F-4D97-AF65-F5344CB8AC3E}">
        <p14:creationId xmlns:p14="http://schemas.microsoft.com/office/powerpoint/2010/main" val="625718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64944"/>
            <a:ext cx="9144000" cy="457200"/>
          </a:xfrm>
        </p:spPr>
        <p:txBody>
          <a:bodyPr/>
          <a:lstStyle/>
          <a:p>
            <a:r>
              <a:rPr lang="en-US" sz="3200" b="1" dirty="0">
                <a:solidFill>
                  <a:schemeClr val="tx1"/>
                </a:solidFill>
              </a:rPr>
              <a:t>Depth First Search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41" y="1337162"/>
            <a:ext cx="7753118" cy="492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537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7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36808"/>
            <a:ext cx="9144000" cy="457200"/>
          </a:xfrm>
        </p:spPr>
        <p:txBody>
          <a:bodyPr/>
          <a:lstStyle/>
          <a:p>
            <a:r>
              <a:rPr lang="en-US" sz="3600" b="1" dirty="0">
                <a:solidFill>
                  <a:schemeClr val="tx1"/>
                </a:solidFill>
              </a:rPr>
              <a:t>Depth-first Search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10" y="1190992"/>
            <a:ext cx="8176379" cy="4239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229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739667"/>
            <a:ext cx="3581400" cy="3124200"/>
          </a:xfrm>
          <a:solidFill>
            <a:srgbClr val="CCECFF"/>
          </a:solidFill>
          <a:ln>
            <a:solidFill>
              <a:schemeClr val="tx1"/>
            </a:solidFill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normAutofit/>
          </a:bodyPr>
          <a:lstStyle/>
          <a:p>
            <a:pPr marL="609600" indent="-609600">
              <a:buFont typeface="Wingdings" pitchFamily="2" charset="2"/>
              <a:buNone/>
            </a:pPr>
            <a:r>
              <a:rPr lang="en-US" sz="2000" b="1" u="sng" dirty="0">
                <a:solidFill>
                  <a:schemeClr val="tx1"/>
                </a:solidFill>
                <a:latin typeface="Century Schoolbook (Body)"/>
              </a:rPr>
              <a:t>DFS(</a:t>
            </a:r>
            <a:r>
              <a:rPr lang="en-US" sz="2000" b="1" i="1" u="sng" dirty="0">
                <a:solidFill>
                  <a:schemeClr val="tx1"/>
                </a:solidFill>
                <a:latin typeface="Century Schoolbook (Body)"/>
              </a:rPr>
              <a:t>G</a:t>
            </a:r>
            <a:r>
              <a:rPr lang="en-US" sz="2000" b="1" u="sng" dirty="0">
                <a:solidFill>
                  <a:schemeClr val="tx1"/>
                </a:solidFill>
                <a:latin typeface="Century Schoolbook (Body)"/>
              </a:rPr>
              <a:t>)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000" dirty="0">
                <a:solidFill>
                  <a:schemeClr val="tx1"/>
                </a:solidFill>
                <a:latin typeface="Century Schoolbook (Body)"/>
              </a:rPr>
              <a:t>1.  </a:t>
            </a:r>
            <a:r>
              <a:rPr lang="en-US" sz="2000" b="1" dirty="0">
                <a:solidFill>
                  <a:schemeClr val="tx1"/>
                </a:solidFill>
                <a:latin typeface="Century Schoolbook (Body)"/>
              </a:rPr>
              <a:t>for</a:t>
            </a:r>
            <a:r>
              <a:rPr lang="en-US" sz="2000" dirty="0">
                <a:solidFill>
                  <a:schemeClr val="tx1"/>
                </a:solidFill>
                <a:latin typeface="Century Schoolbook (Body)"/>
              </a:rPr>
              <a:t> each vertex </a:t>
            </a:r>
            <a:r>
              <a:rPr lang="en-US" sz="2000" i="1" dirty="0">
                <a:solidFill>
                  <a:schemeClr val="tx1"/>
                </a:solidFill>
                <a:latin typeface="Century Schoolbook (Body)"/>
              </a:rPr>
              <a:t>u </a:t>
            </a:r>
            <a:r>
              <a:rPr lang="en-US" sz="2000" i="1" dirty="0">
                <a:solidFill>
                  <a:schemeClr val="tx1"/>
                </a:solidFill>
                <a:latin typeface="Century Schoolbook (Body)"/>
                <a:sym typeface="Symbol" pitchFamily="18" charset="2"/>
              </a:rPr>
              <a:t></a:t>
            </a:r>
            <a:r>
              <a:rPr lang="en-US" sz="2000" i="1" dirty="0">
                <a:solidFill>
                  <a:schemeClr val="tx1"/>
                </a:solidFill>
                <a:latin typeface="Century Schoolbook (Body)"/>
              </a:rPr>
              <a:t> V</a:t>
            </a:r>
            <a:r>
              <a:rPr lang="en-US" sz="2000" dirty="0">
                <a:solidFill>
                  <a:schemeClr val="tx1"/>
                </a:solidFill>
                <a:latin typeface="Century Schoolbook (Body)"/>
              </a:rPr>
              <a:t>[</a:t>
            </a:r>
            <a:r>
              <a:rPr lang="en-US" sz="2000" i="1" dirty="0">
                <a:solidFill>
                  <a:schemeClr val="tx1"/>
                </a:solidFill>
                <a:latin typeface="Century Schoolbook (Body)"/>
              </a:rPr>
              <a:t>G</a:t>
            </a:r>
            <a:r>
              <a:rPr lang="en-US" sz="2000" dirty="0">
                <a:solidFill>
                  <a:schemeClr val="tx1"/>
                </a:solidFill>
                <a:latin typeface="Century Schoolbook (Body)"/>
              </a:rPr>
              <a:t>]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000" dirty="0">
                <a:solidFill>
                  <a:schemeClr val="tx1"/>
                </a:solidFill>
                <a:latin typeface="Century Schoolbook (Body)"/>
              </a:rPr>
              <a:t>2.       </a:t>
            </a:r>
            <a:r>
              <a:rPr lang="en-US" sz="2000" b="1" dirty="0">
                <a:solidFill>
                  <a:schemeClr val="tx1"/>
                </a:solidFill>
                <a:latin typeface="Century Schoolbook (Body)"/>
              </a:rPr>
              <a:t>do</a:t>
            </a:r>
            <a:r>
              <a:rPr lang="en-US" sz="2000" dirty="0">
                <a:solidFill>
                  <a:schemeClr val="tx1"/>
                </a:solidFill>
                <a:latin typeface="Century Schoolbook (Body)"/>
              </a:rPr>
              <a:t> </a:t>
            </a:r>
            <a:r>
              <a:rPr lang="en-US" sz="2000" i="1" dirty="0">
                <a:solidFill>
                  <a:schemeClr val="tx1"/>
                </a:solidFill>
                <a:latin typeface="Century Schoolbook (Body)"/>
              </a:rPr>
              <a:t>color</a:t>
            </a:r>
            <a:r>
              <a:rPr lang="en-US" sz="2000" dirty="0">
                <a:solidFill>
                  <a:schemeClr val="tx1"/>
                </a:solidFill>
                <a:latin typeface="Century Schoolbook (Body)"/>
              </a:rPr>
              <a:t>[</a:t>
            </a:r>
            <a:r>
              <a:rPr lang="en-US" sz="2000" i="1" dirty="0">
                <a:solidFill>
                  <a:schemeClr val="tx1"/>
                </a:solidFill>
                <a:latin typeface="Century Schoolbook (Body)"/>
              </a:rPr>
              <a:t>u</a:t>
            </a:r>
            <a:r>
              <a:rPr lang="en-US" sz="2000" dirty="0">
                <a:solidFill>
                  <a:schemeClr val="tx1"/>
                </a:solidFill>
                <a:latin typeface="Century Schoolbook (Body)"/>
              </a:rPr>
              <a:t>] </a:t>
            </a:r>
            <a:r>
              <a:rPr lang="en-US" sz="2000" dirty="0">
                <a:solidFill>
                  <a:schemeClr val="tx1"/>
                </a:solidFill>
                <a:latin typeface="Century Schoolbook (Body)"/>
                <a:sym typeface="Symbol" pitchFamily="18" charset="2"/>
              </a:rPr>
              <a:t></a:t>
            </a:r>
            <a:r>
              <a:rPr lang="en-US" sz="2000" dirty="0">
                <a:solidFill>
                  <a:schemeClr val="tx1"/>
                </a:solidFill>
                <a:latin typeface="Century Schoolbook (Body)"/>
              </a:rPr>
              <a:t> white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000" dirty="0">
                <a:solidFill>
                  <a:schemeClr val="tx1"/>
                </a:solidFill>
                <a:latin typeface="Century Schoolbook (Body)"/>
              </a:rPr>
              <a:t>3.            </a:t>
            </a:r>
            <a:r>
              <a:rPr lang="en-US" sz="2000" dirty="0">
                <a:solidFill>
                  <a:schemeClr val="tx1"/>
                </a:solidFill>
                <a:latin typeface="Century Schoolbook (Body)"/>
                <a:sym typeface="Symbol" pitchFamily="18" charset="2"/>
              </a:rPr>
              <a:t></a:t>
            </a:r>
            <a:r>
              <a:rPr lang="en-US" sz="2000" dirty="0">
                <a:solidFill>
                  <a:schemeClr val="tx1"/>
                </a:solidFill>
                <a:latin typeface="Century Schoolbook (Body)"/>
              </a:rPr>
              <a:t>[</a:t>
            </a:r>
            <a:r>
              <a:rPr lang="en-US" sz="2000" i="1" dirty="0">
                <a:solidFill>
                  <a:schemeClr val="tx1"/>
                </a:solidFill>
                <a:latin typeface="Century Schoolbook (Body)"/>
              </a:rPr>
              <a:t>u</a:t>
            </a:r>
            <a:r>
              <a:rPr lang="en-US" sz="2000" dirty="0">
                <a:solidFill>
                  <a:schemeClr val="tx1"/>
                </a:solidFill>
                <a:latin typeface="Century Schoolbook (Body)"/>
              </a:rPr>
              <a:t>] </a:t>
            </a:r>
            <a:r>
              <a:rPr lang="en-US" sz="2000" dirty="0">
                <a:solidFill>
                  <a:schemeClr val="tx1"/>
                </a:solidFill>
                <a:latin typeface="Century Schoolbook (Body)"/>
                <a:sym typeface="Symbol" pitchFamily="18" charset="2"/>
              </a:rPr>
              <a:t></a:t>
            </a:r>
            <a:r>
              <a:rPr lang="en-US" sz="2000" dirty="0">
                <a:solidFill>
                  <a:schemeClr val="tx1"/>
                </a:solidFill>
                <a:latin typeface="Century Schoolbook (Body)"/>
              </a:rPr>
              <a:t> NIL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000" dirty="0">
                <a:solidFill>
                  <a:schemeClr val="tx1"/>
                </a:solidFill>
                <a:latin typeface="Century Schoolbook (Body)"/>
              </a:rPr>
              <a:t>4.  </a:t>
            </a:r>
            <a:r>
              <a:rPr lang="en-US" sz="2000" i="1" dirty="0">
                <a:solidFill>
                  <a:schemeClr val="tx1"/>
                </a:solidFill>
                <a:latin typeface="Century Schoolbook (Body)"/>
              </a:rPr>
              <a:t>time</a:t>
            </a:r>
            <a:r>
              <a:rPr lang="en-US" sz="2000" dirty="0">
                <a:solidFill>
                  <a:schemeClr val="tx1"/>
                </a:solidFill>
                <a:latin typeface="Century Schoolbook (Body)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entury Schoolbook (Body)"/>
                <a:sym typeface="Symbol" pitchFamily="18" charset="2"/>
              </a:rPr>
              <a:t></a:t>
            </a:r>
            <a:r>
              <a:rPr lang="en-US" sz="2000" dirty="0">
                <a:solidFill>
                  <a:schemeClr val="tx1"/>
                </a:solidFill>
                <a:latin typeface="Century Schoolbook (Body)"/>
              </a:rPr>
              <a:t> 0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000" dirty="0">
                <a:solidFill>
                  <a:schemeClr val="tx1"/>
                </a:solidFill>
                <a:latin typeface="Century Schoolbook (Body)"/>
              </a:rPr>
              <a:t>5.  </a:t>
            </a:r>
            <a:r>
              <a:rPr lang="en-US" sz="2000" b="1" dirty="0">
                <a:solidFill>
                  <a:schemeClr val="tx1"/>
                </a:solidFill>
                <a:latin typeface="Century Schoolbook (Body)"/>
              </a:rPr>
              <a:t>for</a:t>
            </a:r>
            <a:r>
              <a:rPr lang="en-US" sz="2000" dirty="0">
                <a:solidFill>
                  <a:schemeClr val="tx1"/>
                </a:solidFill>
                <a:latin typeface="Century Schoolbook (Body)"/>
              </a:rPr>
              <a:t> each vertex </a:t>
            </a:r>
            <a:r>
              <a:rPr lang="en-US" sz="2000" i="1" dirty="0">
                <a:solidFill>
                  <a:schemeClr val="tx1"/>
                </a:solidFill>
                <a:latin typeface="Century Schoolbook (Body)"/>
              </a:rPr>
              <a:t>u </a:t>
            </a:r>
            <a:r>
              <a:rPr lang="en-US" sz="2000" i="1" dirty="0">
                <a:solidFill>
                  <a:schemeClr val="tx1"/>
                </a:solidFill>
                <a:latin typeface="Century Schoolbook (Body)"/>
                <a:sym typeface="Symbol" pitchFamily="18" charset="2"/>
              </a:rPr>
              <a:t></a:t>
            </a:r>
            <a:r>
              <a:rPr lang="en-US" sz="2000" i="1" dirty="0">
                <a:solidFill>
                  <a:schemeClr val="tx1"/>
                </a:solidFill>
                <a:latin typeface="Century Schoolbook (Body)"/>
              </a:rPr>
              <a:t> V</a:t>
            </a:r>
            <a:r>
              <a:rPr lang="en-US" sz="2000" dirty="0">
                <a:solidFill>
                  <a:schemeClr val="tx1"/>
                </a:solidFill>
                <a:latin typeface="Century Schoolbook (Body)"/>
              </a:rPr>
              <a:t>[</a:t>
            </a:r>
            <a:r>
              <a:rPr lang="en-US" sz="2000" i="1" dirty="0">
                <a:solidFill>
                  <a:schemeClr val="tx1"/>
                </a:solidFill>
                <a:latin typeface="Century Schoolbook (Body)"/>
              </a:rPr>
              <a:t>G</a:t>
            </a:r>
            <a:r>
              <a:rPr lang="en-US" sz="2000" dirty="0">
                <a:solidFill>
                  <a:schemeClr val="tx1"/>
                </a:solidFill>
                <a:latin typeface="Century Schoolbook (Body)"/>
              </a:rPr>
              <a:t>]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000" dirty="0">
                <a:solidFill>
                  <a:schemeClr val="tx1"/>
                </a:solidFill>
                <a:latin typeface="Century Schoolbook (Body)"/>
              </a:rPr>
              <a:t>6.        </a:t>
            </a:r>
            <a:r>
              <a:rPr lang="en-US" sz="2000" b="1" dirty="0">
                <a:solidFill>
                  <a:schemeClr val="tx1"/>
                </a:solidFill>
                <a:latin typeface="Century Schoolbook (Body)"/>
              </a:rPr>
              <a:t>do</a:t>
            </a:r>
            <a:r>
              <a:rPr lang="en-US" sz="2000" dirty="0">
                <a:solidFill>
                  <a:schemeClr val="tx1"/>
                </a:solidFill>
                <a:latin typeface="Century Schoolbook (Body)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Century Schoolbook (Body)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Century Schoolbook (Body)"/>
              </a:rPr>
              <a:t> </a:t>
            </a:r>
            <a:r>
              <a:rPr lang="en-US" sz="2000" i="1" dirty="0">
                <a:solidFill>
                  <a:schemeClr val="tx1"/>
                </a:solidFill>
                <a:latin typeface="Century Schoolbook (Body)"/>
              </a:rPr>
              <a:t>color</a:t>
            </a:r>
            <a:r>
              <a:rPr lang="en-US" sz="2000" dirty="0">
                <a:solidFill>
                  <a:schemeClr val="tx1"/>
                </a:solidFill>
                <a:latin typeface="Century Schoolbook (Body)"/>
              </a:rPr>
              <a:t>[</a:t>
            </a:r>
            <a:r>
              <a:rPr lang="en-US" sz="2000" i="1" dirty="0">
                <a:solidFill>
                  <a:schemeClr val="tx1"/>
                </a:solidFill>
                <a:latin typeface="Century Schoolbook (Body)"/>
              </a:rPr>
              <a:t>u</a:t>
            </a:r>
            <a:r>
              <a:rPr lang="en-US" sz="2000" dirty="0">
                <a:solidFill>
                  <a:schemeClr val="tx1"/>
                </a:solidFill>
                <a:latin typeface="Century Schoolbook (Body)"/>
              </a:rPr>
              <a:t>] </a:t>
            </a:r>
            <a:r>
              <a:rPr lang="en-US" sz="2000" dirty="0">
                <a:solidFill>
                  <a:schemeClr val="tx1"/>
                </a:solidFill>
                <a:latin typeface="Century Schoolbook (Body)"/>
                <a:sym typeface="Symbol" pitchFamily="18" charset="2"/>
              </a:rPr>
              <a:t>=</a:t>
            </a:r>
            <a:r>
              <a:rPr lang="en-US" sz="2000" dirty="0">
                <a:solidFill>
                  <a:schemeClr val="tx1"/>
                </a:solidFill>
                <a:latin typeface="Century Schoolbook (Body)"/>
              </a:rPr>
              <a:t> white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000" dirty="0">
                <a:solidFill>
                  <a:schemeClr val="tx1"/>
                </a:solidFill>
                <a:latin typeface="Century Schoolbook (Body)"/>
              </a:rPr>
              <a:t>7.              </a:t>
            </a:r>
            <a:r>
              <a:rPr lang="en-US" sz="2000" b="1" dirty="0">
                <a:solidFill>
                  <a:schemeClr val="tx1"/>
                </a:solidFill>
                <a:latin typeface="Century Schoolbook (Body)"/>
              </a:rPr>
              <a:t>then</a:t>
            </a:r>
            <a:r>
              <a:rPr lang="en-US" sz="2000" dirty="0">
                <a:solidFill>
                  <a:schemeClr val="tx1"/>
                </a:solidFill>
                <a:latin typeface="Century Schoolbook (Body)"/>
              </a:rPr>
              <a:t> DFS-Visit(</a:t>
            </a:r>
            <a:r>
              <a:rPr lang="en-US" sz="2000" i="1" dirty="0">
                <a:solidFill>
                  <a:schemeClr val="tx1"/>
                </a:solidFill>
                <a:latin typeface="Century Schoolbook (Body)"/>
              </a:rPr>
              <a:t>u</a:t>
            </a:r>
            <a:r>
              <a:rPr lang="en-US" sz="2000" dirty="0">
                <a:solidFill>
                  <a:schemeClr val="tx1"/>
                </a:solidFill>
                <a:latin typeface="Century Schoolbook (Body)"/>
              </a:rPr>
              <a:t>)</a:t>
            </a:r>
          </a:p>
        </p:txBody>
      </p:sp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0" y="5417394"/>
            <a:ext cx="4002657" cy="400110"/>
          </a:xfrm>
          <a:prstGeom prst="rect">
            <a:avLst/>
          </a:prstGeom>
          <a:noFill/>
          <a:ln w="19050">
            <a:solidFill>
              <a:schemeClr val="hlink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r>
              <a:rPr lang="en-US" sz="2000" u="none" dirty="0"/>
              <a:t>Uses a global timestamp </a:t>
            </a:r>
            <a:r>
              <a:rPr lang="en-US" sz="2000" b="1" i="1" u="none" dirty="0">
                <a:solidFill>
                  <a:srgbClr val="CC3300"/>
                </a:solidFill>
              </a:rPr>
              <a:t>time</a:t>
            </a:r>
            <a:r>
              <a:rPr lang="en-US" sz="2000" u="none" dirty="0"/>
              <a:t>.</a:t>
            </a:r>
          </a:p>
        </p:txBody>
      </p:sp>
      <p:sp>
        <p:nvSpPr>
          <p:cNvPr id="52229" name="Rectangle 5"/>
          <p:cNvSpPr>
            <a:spLocks noChangeArrowheads="1"/>
          </p:cNvSpPr>
          <p:nvPr/>
        </p:nvSpPr>
        <p:spPr bwMode="auto">
          <a:xfrm>
            <a:off x="3864633" y="1739667"/>
            <a:ext cx="5124090" cy="441960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92075" tIns="46038" rIns="92075" bIns="46038"/>
          <a:lstStyle/>
          <a:p>
            <a:pPr marL="609600" indent="-609600" algn="l">
              <a:spcBef>
                <a:spcPct val="20000"/>
              </a:spcBef>
              <a:buFont typeface="Wingdings" pitchFamily="2" charset="2"/>
              <a:buNone/>
            </a:pPr>
            <a:r>
              <a:rPr lang="en-US" sz="2000" b="1" dirty="0">
                <a:solidFill>
                  <a:srgbClr val="010000"/>
                </a:solidFill>
                <a:latin typeface="Century Schoolbook (Body)"/>
              </a:rPr>
              <a:t>DFS-Visit(</a:t>
            </a:r>
            <a:r>
              <a:rPr lang="en-US" sz="2000" b="1" i="1" dirty="0">
                <a:solidFill>
                  <a:srgbClr val="010000"/>
                </a:solidFill>
                <a:latin typeface="Century Schoolbook (Body)"/>
              </a:rPr>
              <a:t>u</a:t>
            </a:r>
            <a:r>
              <a:rPr lang="en-US" sz="2000" b="1" dirty="0">
                <a:solidFill>
                  <a:srgbClr val="010000"/>
                </a:solidFill>
                <a:latin typeface="Century Schoolbook (Body)"/>
              </a:rPr>
              <a:t>)</a:t>
            </a:r>
            <a:endParaRPr lang="en-US" sz="2000" b="1" i="1" dirty="0">
              <a:solidFill>
                <a:srgbClr val="010000"/>
              </a:solidFill>
              <a:latin typeface="Century Schoolbook (Body)"/>
            </a:endParaRPr>
          </a:p>
          <a:p>
            <a:pPr marL="609600" indent="-609600" algn="l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  <a:latin typeface="Century Schoolbook (Body)"/>
              </a:rPr>
              <a:t>color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</a:rPr>
              <a:t>[</a:t>
            </a:r>
            <a:r>
              <a:rPr lang="en-US" sz="2000" i="1" u="none" dirty="0">
                <a:solidFill>
                  <a:srgbClr val="010000"/>
                </a:solidFill>
                <a:latin typeface="Century Schoolbook (Body)"/>
              </a:rPr>
              <a:t>u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</a:rPr>
              <a:t>] 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</a:rPr>
              <a:t> GRAY  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  <a:sym typeface="Symbol" pitchFamily="18" charset="2"/>
              </a:rPr>
              <a:t>// White vertex </a:t>
            </a:r>
            <a:r>
              <a:rPr lang="en-US" sz="2000" i="1" u="none" dirty="0">
                <a:solidFill>
                  <a:srgbClr val="010000"/>
                </a:solidFill>
                <a:latin typeface="Century Schoolbook (Body)"/>
              </a:rPr>
              <a:t>u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  <a:sym typeface="Symbol" pitchFamily="18" charset="2"/>
              </a:rPr>
              <a:t> 		has been discovered</a:t>
            </a:r>
          </a:p>
          <a:p>
            <a:pPr marL="609600" indent="-609600" algn="l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i="1" u="none" dirty="0">
                <a:solidFill>
                  <a:srgbClr val="010000"/>
                </a:solidFill>
                <a:latin typeface="Century Schoolbook (Body)"/>
                <a:sym typeface="Symbol" pitchFamily="18" charset="2"/>
              </a:rPr>
              <a:t>time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  <a:sym typeface="Symbol" pitchFamily="18" charset="2"/>
              </a:rPr>
              <a:t>  </a:t>
            </a:r>
            <a:r>
              <a:rPr lang="en-US" sz="2000" i="1" u="none" dirty="0">
                <a:solidFill>
                  <a:srgbClr val="010000"/>
                </a:solidFill>
                <a:latin typeface="Century Schoolbook (Body)"/>
                <a:sym typeface="Symbol" pitchFamily="18" charset="2"/>
              </a:rPr>
              <a:t>time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  <a:sym typeface="Symbol" pitchFamily="18" charset="2"/>
              </a:rPr>
              <a:t> + 1</a:t>
            </a:r>
            <a:endParaRPr lang="en-US" sz="1400" i="1" u="none" dirty="0">
              <a:solidFill>
                <a:srgbClr val="010000"/>
              </a:solidFill>
              <a:latin typeface="Century Schoolbook (Body)"/>
              <a:sym typeface="Symbol" pitchFamily="18" charset="2"/>
            </a:endParaRPr>
          </a:p>
          <a:p>
            <a:pPr marL="609600" indent="-609600" algn="l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u="none" dirty="0">
                <a:solidFill>
                  <a:srgbClr val="010000"/>
                </a:solidFill>
                <a:latin typeface="Century Schoolbook (Body)"/>
              </a:rPr>
              <a:t> </a:t>
            </a:r>
            <a:r>
              <a:rPr lang="en-US" sz="2000" i="1" u="none" dirty="0">
                <a:solidFill>
                  <a:srgbClr val="010000"/>
                </a:solidFill>
                <a:latin typeface="Century Schoolbook (Body)"/>
              </a:rPr>
              <a:t>d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</a:rPr>
              <a:t>[</a:t>
            </a:r>
            <a:r>
              <a:rPr lang="en-US" sz="2000" i="1" u="none" dirty="0">
                <a:solidFill>
                  <a:srgbClr val="010000"/>
                </a:solidFill>
                <a:latin typeface="Century Schoolbook (Body)"/>
              </a:rPr>
              <a:t>u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</a:rPr>
              <a:t>] 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</a:rPr>
              <a:t> </a:t>
            </a:r>
            <a:r>
              <a:rPr lang="en-US" sz="2000" i="1" u="none" dirty="0">
                <a:solidFill>
                  <a:srgbClr val="010000"/>
                </a:solidFill>
                <a:latin typeface="Century Schoolbook (Body)"/>
              </a:rPr>
              <a:t>time</a:t>
            </a:r>
            <a:endParaRPr lang="en-US" sz="2000" u="none" dirty="0">
              <a:solidFill>
                <a:srgbClr val="010000"/>
              </a:solidFill>
              <a:latin typeface="Century Schoolbook (Body)"/>
            </a:endParaRPr>
          </a:p>
          <a:p>
            <a:pPr marL="609600" indent="-609600" algn="l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u="none" dirty="0">
                <a:solidFill>
                  <a:srgbClr val="010000"/>
                </a:solidFill>
                <a:latin typeface="Century Schoolbook (Body)"/>
              </a:rPr>
              <a:t> </a:t>
            </a:r>
            <a:r>
              <a:rPr lang="en-US" sz="2000" b="1" u="none" dirty="0">
                <a:solidFill>
                  <a:srgbClr val="010000"/>
                </a:solidFill>
                <a:latin typeface="Century Schoolbook (Body)"/>
              </a:rPr>
              <a:t>for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</a:rPr>
              <a:t> each </a:t>
            </a:r>
            <a:r>
              <a:rPr lang="en-US" sz="2000" i="1" u="none" dirty="0">
                <a:solidFill>
                  <a:srgbClr val="010000"/>
                </a:solidFill>
                <a:latin typeface="Century Schoolbook (Body)"/>
              </a:rPr>
              <a:t>v 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  <a:sym typeface="Symbol" pitchFamily="18" charset="2"/>
              </a:rPr>
              <a:t></a:t>
            </a:r>
            <a:r>
              <a:rPr lang="en-US" sz="2000" i="1" u="none" dirty="0">
                <a:solidFill>
                  <a:srgbClr val="010000"/>
                </a:solidFill>
                <a:latin typeface="Century Schoolbook (Body)"/>
              </a:rPr>
              <a:t> </a:t>
            </a:r>
            <a:r>
              <a:rPr lang="en-US" sz="2000" i="1" u="none" dirty="0" err="1">
                <a:solidFill>
                  <a:srgbClr val="010000"/>
                </a:solidFill>
                <a:latin typeface="Century Schoolbook (Body)"/>
              </a:rPr>
              <a:t>Adj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</a:rPr>
              <a:t>[</a:t>
            </a:r>
            <a:r>
              <a:rPr lang="en-US" sz="2000" i="1" u="none" dirty="0">
                <a:solidFill>
                  <a:srgbClr val="010000"/>
                </a:solidFill>
                <a:latin typeface="Century Schoolbook (Body)"/>
              </a:rPr>
              <a:t>u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</a:rPr>
              <a:t>]</a:t>
            </a:r>
          </a:p>
          <a:p>
            <a:pPr marL="609600" indent="-609600" algn="l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u="none" dirty="0">
                <a:solidFill>
                  <a:srgbClr val="010000"/>
                </a:solidFill>
                <a:latin typeface="Century Schoolbook (Body)"/>
              </a:rPr>
              <a:t>       </a:t>
            </a:r>
            <a:r>
              <a:rPr lang="en-US" sz="2000" b="1" u="none" dirty="0">
                <a:solidFill>
                  <a:srgbClr val="010000"/>
                </a:solidFill>
                <a:latin typeface="Century Schoolbook (Body)"/>
              </a:rPr>
              <a:t>do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</a:rPr>
              <a:t> </a:t>
            </a:r>
            <a:r>
              <a:rPr lang="en-US" sz="2000" b="1" u="none" dirty="0">
                <a:solidFill>
                  <a:srgbClr val="010000"/>
                </a:solidFill>
                <a:latin typeface="Century Schoolbook (Body)"/>
              </a:rPr>
              <a:t>if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</a:rPr>
              <a:t> </a:t>
            </a:r>
            <a:r>
              <a:rPr lang="en-US" sz="2000" i="1" u="none" dirty="0">
                <a:solidFill>
                  <a:srgbClr val="010000"/>
                </a:solidFill>
                <a:latin typeface="Century Schoolbook (Body)"/>
              </a:rPr>
              <a:t>color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</a:rPr>
              <a:t>[</a:t>
            </a:r>
            <a:r>
              <a:rPr lang="en-US" sz="2000" i="1" u="none" dirty="0">
                <a:solidFill>
                  <a:srgbClr val="010000"/>
                </a:solidFill>
                <a:latin typeface="Century Schoolbook (Body)"/>
              </a:rPr>
              <a:t>v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</a:rPr>
              <a:t>] 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  <a:sym typeface="Symbol" pitchFamily="18" charset="2"/>
              </a:rPr>
              <a:t>=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</a:rPr>
              <a:t> WHITE</a:t>
            </a:r>
          </a:p>
          <a:p>
            <a:pPr marL="609600" indent="-609600" algn="l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u="none" dirty="0">
                <a:solidFill>
                  <a:srgbClr val="010000"/>
                </a:solidFill>
                <a:latin typeface="Century Schoolbook (Body)"/>
              </a:rPr>
              <a:t>                 </a:t>
            </a:r>
            <a:r>
              <a:rPr lang="en-US" sz="2000" b="1" u="none" dirty="0">
                <a:solidFill>
                  <a:srgbClr val="010000"/>
                </a:solidFill>
                <a:latin typeface="Century Schoolbook (Body)"/>
              </a:rPr>
              <a:t>then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</a:rPr>
              <a:t> 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  <a:sym typeface="Symbol" pitchFamily="18" charset="2"/>
              </a:rPr>
              <a:t>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</a:rPr>
              <a:t>[</a:t>
            </a:r>
            <a:r>
              <a:rPr lang="en-US" sz="2000" i="1" u="none" dirty="0">
                <a:solidFill>
                  <a:srgbClr val="010000"/>
                </a:solidFill>
                <a:latin typeface="Century Schoolbook (Body)"/>
              </a:rPr>
              <a:t>v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</a:rPr>
              <a:t>] 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</a:rPr>
              <a:t> </a:t>
            </a:r>
            <a:r>
              <a:rPr lang="en-US" sz="2000" i="1" u="none" dirty="0">
                <a:solidFill>
                  <a:srgbClr val="010000"/>
                </a:solidFill>
                <a:latin typeface="Century Schoolbook (Body)"/>
              </a:rPr>
              <a:t>u</a:t>
            </a:r>
            <a:endParaRPr lang="en-US" sz="2000" u="none" dirty="0">
              <a:solidFill>
                <a:srgbClr val="010000"/>
              </a:solidFill>
              <a:latin typeface="Century Schoolbook (Body)"/>
            </a:endParaRPr>
          </a:p>
          <a:p>
            <a:pPr marL="609600" indent="-609600" algn="l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u="none" dirty="0">
                <a:solidFill>
                  <a:srgbClr val="010000"/>
                </a:solidFill>
                <a:latin typeface="Century Schoolbook (Body)"/>
              </a:rPr>
              <a:t>                          DFS-Visit(</a:t>
            </a:r>
            <a:r>
              <a:rPr lang="en-US" sz="2000" i="1" u="none" dirty="0">
                <a:solidFill>
                  <a:srgbClr val="010000"/>
                </a:solidFill>
                <a:latin typeface="Century Schoolbook (Body)"/>
              </a:rPr>
              <a:t>v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</a:rPr>
              <a:t>)</a:t>
            </a:r>
          </a:p>
          <a:p>
            <a:pPr marL="609600" indent="-609600" algn="l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u="none" dirty="0">
                <a:solidFill>
                  <a:srgbClr val="010000"/>
                </a:solidFill>
                <a:latin typeface="Century Schoolbook (Body)"/>
              </a:rPr>
              <a:t>  </a:t>
            </a:r>
            <a:r>
              <a:rPr lang="en-US" sz="2000" i="1" u="none" dirty="0">
                <a:solidFill>
                  <a:srgbClr val="010000"/>
                </a:solidFill>
                <a:latin typeface="Century Schoolbook (Body)"/>
              </a:rPr>
              <a:t>color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</a:rPr>
              <a:t>[</a:t>
            </a:r>
            <a:r>
              <a:rPr lang="en-US" sz="2000" i="1" u="none" dirty="0">
                <a:solidFill>
                  <a:srgbClr val="010000"/>
                </a:solidFill>
                <a:latin typeface="Century Schoolbook (Body)"/>
              </a:rPr>
              <a:t>u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</a:rPr>
              <a:t>] 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</a:rPr>
              <a:t> BLACK     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  <a:sym typeface="Symbol" pitchFamily="18" charset="2"/>
              </a:rPr>
              <a:t>// Blacken </a:t>
            </a:r>
            <a:r>
              <a:rPr lang="en-US" sz="2000" i="1" u="none" dirty="0">
                <a:solidFill>
                  <a:srgbClr val="010000"/>
                </a:solidFill>
                <a:latin typeface="Century Schoolbook (Body)"/>
              </a:rPr>
              <a:t>u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</a:rPr>
              <a:t>;  			it is finished.</a:t>
            </a:r>
          </a:p>
          <a:p>
            <a:pPr marL="609600" indent="-609600" algn="l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sz="2000" u="none" dirty="0">
                <a:solidFill>
                  <a:srgbClr val="010000"/>
                </a:solidFill>
                <a:latin typeface="Century Schoolbook (Body)"/>
              </a:rPr>
              <a:t>  </a:t>
            </a:r>
            <a:r>
              <a:rPr lang="en-US" sz="2000" i="1" u="none" dirty="0">
                <a:solidFill>
                  <a:srgbClr val="010000"/>
                </a:solidFill>
                <a:latin typeface="Century Schoolbook (Body)"/>
              </a:rPr>
              <a:t>f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</a:rPr>
              <a:t>[</a:t>
            </a:r>
            <a:r>
              <a:rPr lang="en-US" sz="2000" i="1" u="none" dirty="0">
                <a:solidFill>
                  <a:srgbClr val="010000"/>
                </a:solidFill>
                <a:latin typeface="Century Schoolbook (Body)"/>
              </a:rPr>
              <a:t>u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</a:rPr>
              <a:t>] 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  <a:sym typeface="Symbol" pitchFamily="18" charset="2"/>
              </a:rPr>
              <a:t>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</a:rPr>
              <a:t> </a:t>
            </a:r>
            <a:r>
              <a:rPr lang="en-US" sz="2000" i="1" u="none" dirty="0">
                <a:solidFill>
                  <a:srgbClr val="010000"/>
                </a:solidFill>
                <a:latin typeface="Century Schoolbook (Body)"/>
              </a:rPr>
              <a:t>time 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  <a:sym typeface="Symbol" pitchFamily="18" charset="2"/>
              </a:rPr>
              <a:t></a:t>
            </a:r>
            <a:r>
              <a:rPr lang="en-US" sz="2000" i="1" u="none" dirty="0">
                <a:solidFill>
                  <a:srgbClr val="010000"/>
                </a:solidFill>
                <a:latin typeface="Century Schoolbook (Body)"/>
              </a:rPr>
              <a:t> time </a:t>
            </a:r>
            <a:r>
              <a:rPr lang="en-US" sz="2000" u="none" dirty="0">
                <a:solidFill>
                  <a:srgbClr val="010000"/>
                </a:solidFill>
                <a:latin typeface="Century Schoolbook (Body)"/>
              </a:rPr>
              <a:t>+ 1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681965"/>
          </a:xfrm>
        </p:spPr>
        <p:txBody>
          <a:bodyPr/>
          <a:lstStyle/>
          <a:p>
            <a:r>
              <a:rPr lang="en-US" sz="3200" b="1" dirty="0">
                <a:solidFill>
                  <a:schemeClr val="tx1"/>
                </a:solidFill>
              </a:rPr>
              <a:t>Depth-first Search</a:t>
            </a:r>
            <a:r>
              <a:rPr lang="en-US" sz="3200" dirty="0"/>
              <a:t> (</a:t>
            </a:r>
            <a:r>
              <a:rPr lang="en-US" sz="3200" b="1" dirty="0" err="1">
                <a:solidFill>
                  <a:schemeClr val="tx1"/>
                </a:solidFill>
              </a:rPr>
              <a:t>Pseudocode</a:t>
            </a:r>
            <a:r>
              <a:rPr lang="en-US" sz="3200" b="1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57905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chemeClr val="tx1"/>
                </a:solidFill>
              </a:rPr>
              <a:t>Depth-first Search</a:t>
            </a:r>
            <a:r>
              <a:rPr lang="en-US" sz="2800" dirty="0"/>
              <a:t> (</a:t>
            </a:r>
            <a:r>
              <a:rPr lang="en-US" sz="2800" b="1" dirty="0" err="1">
                <a:solidFill>
                  <a:schemeClr val="tx1"/>
                </a:solidFill>
              </a:rPr>
              <a:t>Pseudocode</a:t>
            </a:r>
            <a:r>
              <a:rPr lang="en-US" sz="2800" b="1" dirty="0">
                <a:solidFill>
                  <a:schemeClr val="tx1"/>
                </a:solidFill>
              </a:rPr>
              <a:t>)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799" y="735693"/>
            <a:ext cx="4560277" cy="610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76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DFS Example</a:t>
            </a:r>
          </a:p>
        </p:txBody>
      </p:sp>
      <p:sp>
        <p:nvSpPr>
          <p:cNvPr id="30723" name="Oval 3"/>
          <p:cNvSpPr>
            <a:spLocks noChangeArrowheads="1"/>
          </p:cNvSpPr>
          <p:nvPr/>
        </p:nvSpPr>
        <p:spPr bwMode="auto">
          <a:xfrm>
            <a:off x="1524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 altLang="en-US" sz="2800" b="1" i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4" name="Oval 4"/>
          <p:cNvSpPr>
            <a:spLocks noChangeArrowheads="1"/>
          </p:cNvSpPr>
          <p:nvPr/>
        </p:nvSpPr>
        <p:spPr bwMode="auto">
          <a:xfrm>
            <a:off x="4191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 altLang="en-US" sz="2800" b="1" i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5" name="Oval 5"/>
          <p:cNvSpPr>
            <a:spLocks noChangeArrowheads="1"/>
          </p:cNvSpPr>
          <p:nvPr/>
        </p:nvSpPr>
        <p:spPr bwMode="auto">
          <a:xfrm>
            <a:off x="6858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 altLang="en-US" sz="2800" b="1" i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6" name="Oval 6"/>
          <p:cNvSpPr>
            <a:spLocks noChangeArrowheads="1"/>
          </p:cNvSpPr>
          <p:nvPr/>
        </p:nvSpPr>
        <p:spPr bwMode="auto">
          <a:xfrm>
            <a:off x="6858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 altLang="en-US" sz="2800" b="1" i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7" name="Oval 7"/>
          <p:cNvSpPr>
            <a:spLocks noChangeArrowheads="1"/>
          </p:cNvSpPr>
          <p:nvPr/>
        </p:nvSpPr>
        <p:spPr bwMode="auto">
          <a:xfrm>
            <a:off x="4191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 altLang="en-US" sz="2800" b="1" i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8" name="Oval 8"/>
          <p:cNvSpPr>
            <a:spLocks noChangeArrowheads="1"/>
          </p:cNvSpPr>
          <p:nvPr/>
        </p:nvSpPr>
        <p:spPr bwMode="auto">
          <a:xfrm>
            <a:off x="1524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 altLang="en-US" sz="2800" b="1" i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9" name="Oval 9"/>
          <p:cNvSpPr>
            <a:spLocks noChangeArrowheads="1"/>
          </p:cNvSpPr>
          <p:nvPr/>
        </p:nvSpPr>
        <p:spPr bwMode="auto">
          <a:xfrm>
            <a:off x="228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 altLang="en-US" sz="2800" b="1" i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30" name="Oval 10"/>
          <p:cNvSpPr>
            <a:spLocks noChangeArrowheads="1"/>
          </p:cNvSpPr>
          <p:nvPr/>
        </p:nvSpPr>
        <p:spPr bwMode="auto">
          <a:xfrm>
            <a:off x="5562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 altLang="en-US" sz="2800" b="1" i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30731" name="AutoShape 11"/>
          <p:cNvCxnSpPr>
            <a:cxnSpLocks noChangeShapeType="1"/>
            <a:stCxn id="30723" idx="3"/>
            <a:endCxn id="30729" idx="7"/>
          </p:cNvCxnSpPr>
          <p:nvPr/>
        </p:nvCxnSpPr>
        <p:spPr bwMode="auto">
          <a:xfrm flipH="1">
            <a:off x="1139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32" name="AutoShape 12"/>
          <p:cNvCxnSpPr>
            <a:cxnSpLocks noChangeShapeType="1"/>
            <a:stCxn id="30729" idx="5"/>
            <a:endCxn id="30728" idx="1"/>
          </p:cNvCxnSpPr>
          <p:nvPr/>
        </p:nvCxnSpPr>
        <p:spPr bwMode="auto">
          <a:xfrm>
            <a:off x="1139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33" name="AutoShape 13"/>
          <p:cNvCxnSpPr>
            <a:cxnSpLocks noChangeShapeType="1"/>
            <a:stCxn id="30729" idx="6"/>
            <a:endCxn id="30727" idx="1"/>
          </p:cNvCxnSpPr>
          <p:nvPr/>
        </p:nvCxnSpPr>
        <p:spPr bwMode="auto">
          <a:xfrm>
            <a:off x="1309688" y="3848100"/>
            <a:ext cx="3036887" cy="962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34" name="AutoShape 14"/>
          <p:cNvCxnSpPr>
            <a:cxnSpLocks noChangeShapeType="1"/>
            <a:stCxn id="30727" idx="2"/>
            <a:endCxn id="30728" idx="6"/>
          </p:cNvCxnSpPr>
          <p:nvPr/>
        </p:nvCxnSpPr>
        <p:spPr bwMode="auto">
          <a:xfrm flipH="1">
            <a:off x="2605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35" name="AutoShape 15"/>
          <p:cNvCxnSpPr>
            <a:cxnSpLocks noChangeShapeType="1"/>
            <a:stCxn id="30728" idx="0"/>
            <a:endCxn id="30723" idx="4"/>
          </p:cNvCxnSpPr>
          <p:nvPr/>
        </p:nvCxnSpPr>
        <p:spPr bwMode="auto">
          <a:xfrm flipV="1">
            <a:off x="2057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36" name="AutoShape 16"/>
          <p:cNvCxnSpPr>
            <a:cxnSpLocks noChangeShapeType="1"/>
            <a:stCxn id="30723" idx="5"/>
            <a:endCxn id="30727" idx="1"/>
          </p:cNvCxnSpPr>
          <p:nvPr/>
        </p:nvCxnSpPr>
        <p:spPr bwMode="auto">
          <a:xfrm>
            <a:off x="2435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37" name="AutoShape 17"/>
          <p:cNvCxnSpPr>
            <a:cxnSpLocks noChangeShapeType="1"/>
            <a:stCxn id="30724" idx="4"/>
            <a:endCxn id="30727" idx="0"/>
          </p:cNvCxnSpPr>
          <p:nvPr/>
        </p:nvCxnSpPr>
        <p:spPr bwMode="auto">
          <a:xfrm>
            <a:off x="4724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38" name="AutoShape 18"/>
          <p:cNvCxnSpPr>
            <a:cxnSpLocks noChangeShapeType="1"/>
            <a:stCxn id="30723" idx="6"/>
            <a:endCxn id="30724" idx="2"/>
          </p:cNvCxnSpPr>
          <p:nvPr/>
        </p:nvCxnSpPr>
        <p:spPr bwMode="auto">
          <a:xfrm>
            <a:off x="2605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39" name="AutoShape 19"/>
          <p:cNvCxnSpPr>
            <a:cxnSpLocks noChangeShapeType="1"/>
            <a:stCxn id="30725" idx="2"/>
            <a:endCxn id="30724" idx="6"/>
          </p:cNvCxnSpPr>
          <p:nvPr/>
        </p:nvCxnSpPr>
        <p:spPr bwMode="auto">
          <a:xfrm flipH="1">
            <a:off x="5272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40" name="AutoShape 20"/>
          <p:cNvCxnSpPr>
            <a:cxnSpLocks noChangeShapeType="1"/>
            <a:stCxn id="30724" idx="5"/>
            <a:endCxn id="30730" idx="1"/>
          </p:cNvCxnSpPr>
          <p:nvPr/>
        </p:nvCxnSpPr>
        <p:spPr bwMode="auto">
          <a:xfrm>
            <a:off x="5102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41" name="AutoShape 21"/>
          <p:cNvCxnSpPr>
            <a:cxnSpLocks noChangeShapeType="1"/>
            <a:stCxn id="30725" idx="3"/>
            <a:endCxn id="30730" idx="7"/>
          </p:cNvCxnSpPr>
          <p:nvPr/>
        </p:nvCxnSpPr>
        <p:spPr bwMode="auto">
          <a:xfrm flipH="1">
            <a:off x="647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42" name="AutoShape 22"/>
          <p:cNvCxnSpPr>
            <a:cxnSpLocks noChangeShapeType="1"/>
            <a:stCxn id="30725" idx="4"/>
            <a:endCxn id="30726" idx="0"/>
          </p:cNvCxnSpPr>
          <p:nvPr/>
        </p:nvCxnSpPr>
        <p:spPr bwMode="auto">
          <a:xfrm>
            <a:off x="7391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43" name="AutoShape 23"/>
          <p:cNvCxnSpPr>
            <a:cxnSpLocks noChangeShapeType="1"/>
            <a:stCxn id="30726" idx="2"/>
            <a:endCxn id="30727" idx="6"/>
          </p:cNvCxnSpPr>
          <p:nvPr/>
        </p:nvCxnSpPr>
        <p:spPr bwMode="auto">
          <a:xfrm flipH="1">
            <a:off x="5272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44" name="AutoShape 24"/>
          <p:cNvCxnSpPr>
            <a:cxnSpLocks noChangeShapeType="1"/>
            <a:stCxn id="30730" idx="3"/>
            <a:endCxn id="30727" idx="7"/>
          </p:cNvCxnSpPr>
          <p:nvPr/>
        </p:nvCxnSpPr>
        <p:spPr bwMode="auto">
          <a:xfrm flipH="1">
            <a:off x="5102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45" name="Line 25"/>
          <p:cNvSpPr>
            <a:spLocks noChangeShapeType="1"/>
          </p:cNvSpPr>
          <p:nvPr/>
        </p:nvSpPr>
        <p:spPr bwMode="auto">
          <a:xfrm>
            <a:off x="457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6" name="Text Box 26"/>
          <p:cNvSpPr txBox="1">
            <a:spLocks noChangeArrowheads="1"/>
          </p:cNvSpPr>
          <p:nvPr/>
        </p:nvSpPr>
        <p:spPr bwMode="auto"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b="1" dirty="0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552990" y="1969824"/>
            <a:ext cx="7371378" cy="3798133"/>
            <a:chOff x="552990" y="1969824"/>
            <a:chExt cx="7371378" cy="3798133"/>
          </a:xfrm>
        </p:grpSpPr>
        <p:sp>
          <p:nvSpPr>
            <p:cNvPr id="3" name="TextBox 2"/>
            <p:cNvSpPr txBox="1"/>
            <p:nvPr/>
          </p:nvSpPr>
          <p:spPr>
            <a:xfrm>
              <a:off x="1802757" y="1969824"/>
              <a:ext cx="931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52990" y="3179928"/>
              <a:ext cx="471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922650" y="5398625"/>
              <a:ext cx="1200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503761" y="2018146"/>
              <a:ext cx="7683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217657" y="5308981"/>
              <a:ext cx="1541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042427" y="4130584"/>
              <a:ext cx="569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290884" y="5387396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196550" y="2041199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5037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DFS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1747" name="Oval 3"/>
          <p:cNvSpPr>
            <a:spLocks noChangeArrowheads="1"/>
          </p:cNvSpPr>
          <p:nvPr/>
        </p:nvSpPr>
        <p:spPr bwMode="auto">
          <a:xfrm>
            <a:off x="1524000" y="2362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 |  </a:t>
            </a:r>
          </a:p>
        </p:txBody>
      </p:sp>
      <p:sp>
        <p:nvSpPr>
          <p:cNvPr id="31748" name="Oval 4"/>
          <p:cNvSpPr>
            <a:spLocks noChangeArrowheads="1"/>
          </p:cNvSpPr>
          <p:nvPr/>
        </p:nvSpPr>
        <p:spPr bwMode="auto">
          <a:xfrm>
            <a:off x="4191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1749" name="Oval 5"/>
          <p:cNvSpPr>
            <a:spLocks noChangeArrowheads="1"/>
          </p:cNvSpPr>
          <p:nvPr/>
        </p:nvSpPr>
        <p:spPr bwMode="auto">
          <a:xfrm>
            <a:off x="6858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1750" name="Oval 6"/>
          <p:cNvSpPr>
            <a:spLocks noChangeArrowheads="1"/>
          </p:cNvSpPr>
          <p:nvPr/>
        </p:nvSpPr>
        <p:spPr bwMode="auto">
          <a:xfrm>
            <a:off x="6858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1751" name="Oval 7"/>
          <p:cNvSpPr>
            <a:spLocks noChangeArrowheads="1"/>
          </p:cNvSpPr>
          <p:nvPr/>
        </p:nvSpPr>
        <p:spPr bwMode="auto">
          <a:xfrm>
            <a:off x="4191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| </a:t>
            </a:r>
          </a:p>
        </p:txBody>
      </p:sp>
      <p:sp>
        <p:nvSpPr>
          <p:cNvPr id="31752" name="Oval 8"/>
          <p:cNvSpPr>
            <a:spLocks noChangeArrowheads="1"/>
          </p:cNvSpPr>
          <p:nvPr/>
        </p:nvSpPr>
        <p:spPr bwMode="auto">
          <a:xfrm>
            <a:off x="1524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 dirty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1753" name="Oval 9"/>
          <p:cNvSpPr>
            <a:spLocks noChangeArrowheads="1"/>
          </p:cNvSpPr>
          <p:nvPr/>
        </p:nvSpPr>
        <p:spPr bwMode="auto">
          <a:xfrm>
            <a:off x="228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1754" name="Oval 10"/>
          <p:cNvSpPr>
            <a:spLocks noChangeArrowheads="1"/>
          </p:cNvSpPr>
          <p:nvPr/>
        </p:nvSpPr>
        <p:spPr bwMode="auto">
          <a:xfrm>
            <a:off x="5562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cxnSp>
        <p:nvCxnSpPr>
          <p:cNvPr id="31755" name="AutoShape 11"/>
          <p:cNvCxnSpPr>
            <a:cxnSpLocks noChangeShapeType="1"/>
            <a:stCxn id="31747" idx="3"/>
            <a:endCxn id="31753" idx="7"/>
          </p:cNvCxnSpPr>
          <p:nvPr/>
        </p:nvCxnSpPr>
        <p:spPr bwMode="auto">
          <a:xfrm flipH="1">
            <a:off x="1139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56" name="AutoShape 12"/>
          <p:cNvCxnSpPr>
            <a:cxnSpLocks noChangeShapeType="1"/>
            <a:stCxn id="31753" idx="5"/>
            <a:endCxn id="31752" idx="1"/>
          </p:cNvCxnSpPr>
          <p:nvPr/>
        </p:nvCxnSpPr>
        <p:spPr bwMode="auto">
          <a:xfrm>
            <a:off x="1139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57" name="AutoShape 13"/>
          <p:cNvCxnSpPr>
            <a:cxnSpLocks noChangeShapeType="1"/>
            <a:stCxn id="31753" idx="6"/>
            <a:endCxn id="31751" idx="1"/>
          </p:cNvCxnSpPr>
          <p:nvPr/>
        </p:nvCxnSpPr>
        <p:spPr bwMode="auto">
          <a:xfrm>
            <a:off x="1309688" y="3848100"/>
            <a:ext cx="3036887" cy="962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58" name="AutoShape 14"/>
          <p:cNvCxnSpPr>
            <a:cxnSpLocks noChangeShapeType="1"/>
            <a:stCxn id="31751" idx="2"/>
            <a:endCxn id="31752" idx="6"/>
          </p:cNvCxnSpPr>
          <p:nvPr/>
        </p:nvCxnSpPr>
        <p:spPr bwMode="auto">
          <a:xfrm flipH="1">
            <a:off x="2605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59" name="AutoShape 15"/>
          <p:cNvCxnSpPr>
            <a:cxnSpLocks noChangeShapeType="1"/>
            <a:stCxn id="31752" idx="0"/>
            <a:endCxn id="31747" idx="4"/>
          </p:cNvCxnSpPr>
          <p:nvPr/>
        </p:nvCxnSpPr>
        <p:spPr bwMode="auto">
          <a:xfrm flipV="1">
            <a:off x="2057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60" name="AutoShape 16"/>
          <p:cNvCxnSpPr>
            <a:cxnSpLocks noChangeShapeType="1"/>
            <a:stCxn id="31747" idx="5"/>
            <a:endCxn id="31751" idx="1"/>
          </p:cNvCxnSpPr>
          <p:nvPr/>
        </p:nvCxnSpPr>
        <p:spPr bwMode="auto">
          <a:xfrm>
            <a:off x="2435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61" name="AutoShape 17"/>
          <p:cNvCxnSpPr>
            <a:cxnSpLocks noChangeShapeType="1"/>
            <a:stCxn id="31748" idx="4"/>
            <a:endCxn id="31751" idx="0"/>
          </p:cNvCxnSpPr>
          <p:nvPr/>
        </p:nvCxnSpPr>
        <p:spPr bwMode="auto">
          <a:xfrm>
            <a:off x="4724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62" name="AutoShape 18"/>
          <p:cNvCxnSpPr>
            <a:cxnSpLocks noChangeShapeType="1"/>
            <a:stCxn id="31747" idx="6"/>
            <a:endCxn id="31748" idx="2"/>
          </p:cNvCxnSpPr>
          <p:nvPr/>
        </p:nvCxnSpPr>
        <p:spPr bwMode="auto">
          <a:xfrm>
            <a:off x="2605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63" name="AutoShape 19"/>
          <p:cNvCxnSpPr>
            <a:cxnSpLocks noChangeShapeType="1"/>
            <a:stCxn id="31749" idx="2"/>
            <a:endCxn id="31748" idx="6"/>
          </p:cNvCxnSpPr>
          <p:nvPr/>
        </p:nvCxnSpPr>
        <p:spPr bwMode="auto">
          <a:xfrm flipH="1">
            <a:off x="5272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64" name="AutoShape 20"/>
          <p:cNvCxnSpPr>
            <a:cxnSpLocks noChangeShapeType="1"/>
            <a:stCxn id="31748" idx="5"/>
            <a:endCxn id="31754" idx="1"/>
          </p:cNvCxnSpPr>
          <p:nvPr/>
        </p:nvCxnSpPr>
        <p:spPr bwMode="auto">
          <a:xfrm>
            <a:off x="5102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65" name="AutoShape 21"/>
          <p:cNvCxnSpPr>
            <a:cxnSpLocks noChangeShapeType="1"/>
            <a:stCxn id="31749" idx="3"/>
            <a:endCxn id="31754" idx="7"/>
          </p:cNvCxnSpPr>
          <p:nvPr/>
        </p:nvCxnSpPr>
        <p:spPr bwMode="auto">
          <a:xfrm flipH="1">
            <a:off x="647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66" name="AutoShape 22"/>
          <p:cNvCxnSpPr>
            <a:cxnSpLocks noChangeShapeType="1"/>
            <a:stCxn id="31749" idx="4"/>
            <a:endCxn id="31750" idx="0"/>
          </p:cNvCxnSpPr>
          <p:nvPr/>
        </p:nvCxnSpPr>
        <p:spPr bwMode="auto">
          <a:xfrm>
            <a:off x="7391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67" name="AutoShape 23"/>
          <p:cNvCxnSpPr>
            <a:cxnSpLocks noChangeShapeType="1"/>
            <a:stCxn id="31750" idx="2"/>
            <a:endCxn id="31751" idx="6"/>
          </p:cNvCxnSpPr>
          <p:nvPr/>
        </p:nvCxnSpPr>
        <p:spPr bwMode="auto">
          <a:xfrm flipH="1">
            <a:off x="5272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68" name="AutoShape 24"/>
          <p:cNvCxnSpPr>
            <a:cxnSpLocks noChangeShapeType="1"/>
            <a:stCxn id="31754" idx="3"/>
            <a:endCxn id="31751" idx="7"/>
          </p:cNvCxnSpPr>
          <p:nvPr/>
        </p:nvCxnSpPr>
        <p:spPr bwMode="auto">
          <a:xfrm flipH="1">
            <a:off x="5102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769" name="Line 25"/>
          <p:cNvSpPr>
            <a:spLocks noChangeShapeType="1"/>
          </p:cNvSpPr>
          <p:nvPr/>
        </p:nvSpPr>
        <p:spPr bwMode="auto">
          <a:xfrm>
            <a:off x="457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70" name="Text Box 26"/>
          <p:cNvSpPr txBox="1">
            <a:spLocks noChangeArrowheads="1"/>
          </p:cNvSpPr>
          <p:nvPr/>
        </p:nvSpPr>
        <p:spPr bwMode="auto"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sp>
        <p:nvSpPr>
          <p:cNvPr id="31771" name="Oval 27"/>
          <p:cNvSpPr>
            <a:spLocks noChangeArrowheads="1"/>
          </p:cNvSpPr>
          <p:nvPr/>
        </p:nvSpPr>
        <p:spPr bwMode="auto">
          <a:xfrm>
            <a:off x="1524000" y="1828800"/>
            <a:ext cx="1066800" cy="6858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>
                <a:latin typeface="Times New Roman" panose="02020603050405020304" pitchFamily="18" charset="0"/>
              </a:rPr>
              <a:t>d      f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552990" y="1983892"/>
            <a:ext cx="7371378" cy="3798133"/>
            <a:chOff x="552990" y="1969824"/>
            <a:chExt cx="7371378" cy="3798133"/>
          </a:xfrm>
        </p:grpSpPr>
        <p:sp>
          <p:nvSpPr>
            <p:cNvPr id="30" name="TextBox 29"/>
            <p:cNvSpPr txBox="1"/>
            <p:nvPr/>
          </p:nvSpPr>
          <p:spPr>
            <a:xfrm>
              <a:off x="1732417" y="1969824"/>
              <a:ext cx="931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52990" y="3179928"/>
              <a:ext cx="471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22650" y="5398625"/>
              <a:ext cx="1200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03761" y="2018146"/>
              <a:ext cx="7683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17657" y="5308981"/>
              <a:ext cx="1541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042427" y="4130584"/>
              <a:ext cx="569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290884" y="5387396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96550" y="2041199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7201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DFS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771" name="Oval 3"/>
          <p:cNvSpPr>
            <a:spLocks noChangeArrowheads="1"/>
          </p:cNvSpPr>
          <p:nvPr/>
        </p:nvSpPr>
        <p:spPr bwMode="auto">
          <a:xfrm>
            <a:off x="1524000" y="2362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 |  </a:t>
            </a:r>
          </a:p>
        </p:txBody>
      </p:sp>
      <p:sp>
        <p:nvSpPr>
          <p:cNvPr id="32772" name="Oval 4"/>
          <p:cNvSpPr>
            <a:spLocks noChangeArrowheads="1"/>
          </p:cNvSpPr>
          <p:nvPr/>
        </p:nvSpPr>
        <p:spPr bwMode="auto">
          <a:xfrm>
            <a:off x="4191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2773" name="Oval 5"/>
          <p:cNvSpPr>
            <a:spLocks noChangeArrowheads="1"/>
          </p:cNvSpPr>
          <p:nvPr/>
        </p:nvSpPr>
        <p:spPr bwMode="auto">
          <a:xfrm>
            <a:off x="6858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2774" name="Oval 6"/>
          <p:cNvSpPr>
            <a:spLocks noChangeArrowheads="1"/>
          </p:cNvSpPr>
          <p:nvPr/>
        </p:nvSpPr>
        <p:spPr bwMode="auto">
          <a:xfrm>
            <a:off x="6858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2775" name="Oval 7"/>
          <p:cNvSpPr>
            <a:spLocks noChangeArrowheads="1"/>
          </p:cNvSpPr>
          <p:nvPr/>
        </p:nvSpPr>
        <p:spPr bwMode="auto">
          <a:xfrm>
            <a:off x="4191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| </a:t>
            </a:r>
          </a:p>
        </p:txBody>
      </p:sp>
      <p:sp>
        <p:nvSpPr>
          <p:cNvPr id="32776" name="Oval 8"/>
          <p:cNvSpPr>
            <a:spLocks noChangeArrowheads="1"/>
          </p:cNvSpPr>
          <p:nvPr/>
        </p:nvSpPr>
        <p:spPr bwMode="auto">
          <a:xfrm>
            <a:off x="1524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 dirty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2777" name="Oval 9"/>
          <p:cNvSpPr>
            <a:spLocks noChangeArrowheads="1"/>
          </p:cNvSpPr>
          <p:nvPr/>
        </p:nvSpPr>
        <p:spPr bwMode="auto">
          <a:xfrm>
            <a:off x="228600" y="3505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2 |  </a:t>
            </a:r>
          </a:p>
        </p:txBody>
      </p:sp>
      <p:sp>
        <p:nvSpPr>
          <p:cNvPr id="32778" name="Oval 10"/>
          <p:cNvSpPr>
            <a:spLocks noChangeArrowheads="1"/>
          </p:cNvSpPr>
          <p:nvPr/>
        </p:nvSpPr>
        <p:spPr bwMode="auto">
          <a:xfrm>
            <a:off x="5562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cxnSp>
        <p:nvCxnSpPr>
          <p:cNvPr id="32779" name="AutoShape 11"/>
          <p:cNvCxnSpPr>
            <a:cxnSpLocks noChangeShapeType="1"/>
            <a:stCxn id="32771" idx="3"/>
            <a:endCxn id="32777" idx="7"/>
          </p:cNvCxnSpPr>
          <p:nvPr/>
        </p:nvCxnSpPr>
        <p:spPr bwMode="auto">
          <a:xfrm flipH="1">
            <a:off x="1139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80" name="AutoShape 12"/>
          <p:cNvCxnSpPr>
            <a:cxnSpLocks noChangeShapeType="1"/>
            <a:stCxn id="32777" idx="5"/>
            <a:endCxn id="32776" idx="1"/>
          </p:cNvCxnSpPr>
          <p:nvPr/>
        </p:nvCxnSpPr>
        <p:spPr bwMode="auto">
          <a:xfrm>
            <a:off x="1139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81" name="AutoShape 13"/>
          <p:cNvCxnSpPr>
            <a:cxnSpLocks noChangeShapeType="1"/>
            <a:stCxn id="32777" idx="6"/>
            <a:endCxn id="32775" idx="1"/>
          </p:cNvCxnSpPr>
          <p:nvPr/>
        </p:nvCxnSpPr>
        <p:spPr bwMode="auto">
          <a:xfrm>
            <a:off x="1309688" y="3848100"/>
            <a:ext cx="3036887" cy="962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82" name="AutoShape 14"/>
          <p:cNvCxnSpPr>
            <a:cxnSpLocks noChangeShapeType="1"/>
            <a:stCxn id="32775" idx="2"/>
            <a:endCxn id="32776" idx="6"/>
          </p:cNvCxnSpPr>
          <p:nvPr/>
        </p:nvCxnSpPr>
        <p:spPr bwMode="auto">
          <a:xfrm flipH="1">
            <a:off x="2605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83" name="AutoShape 15"/>
          <p:cNvCxnSpPr>
            <a:cxnSpLocks noChangeShapeType="1"/>
            <a:stCxn id="32776" idx="0"/>
            <a:endCxn id="32771" idx="4"/>
          </p:cNvCxnSpPr>
          <p:nvPr/>
        </p:nvCxnSpPr>
        <p:spPr bwMode="auto">
          <a:xfrm flipV="1">
            <a:off x="2057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84" name="AutoShape 16"/>
          <p:cNvCxnSpPr>
            <a:cxnSpLocks noChangeShapeType="1"/>
            <a:stCxn id="32771" idx="5"/>
            <a:endCxn id="32775" idx="1"/>
          </p:cNvCxnSpPr>
          <p:nvPr/>
        </p:nvCxnSpPr>
        <p:spPr bwMode="auto">
          <a:xfrm>
            <a:off x="2435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85" name="AutoShape 17"/>
          <p:cNvCxnSpPr>
            <a:cxnSpLocks noChangeShapeType="1"/>
            <a:stCxn id="32772" idx="4"/>
            <a:endCxn id="32775" idx="0"/>
          </p:cNvCxnSpPr>
          <p:nvPr/>
        </p:nvCxnSpPr>
        <p:spPr bwMode="auto">
          <a:xfrm>
            <a:off x="4724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86" name="AutoShape 18"/>
          <p:cNvCxnSpPr>
            <a:cxnSpLocks noChangeShapeType="1"/>
            <a:stCxn id="32771" idx="6"/>
            <a:endCxn id="32772" idx="2"/>
          </p:cNvCxnSpPr>
          <p:nvPr/>
        </p:nvCxnSpPr>
        <p:spPr bwMode="auto">
          <a:xfrm>
            <a:off x="2605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87" name="AutoShape 19"/>
          <p:cNvCxnSpPr>
            <a:cxnSpLocks noChangeShapeType="1"/>
            <a:stCxn id="32773" idx="2"/>
            <a:endCxn id="32772" idx="6"/>
          </p:cNvCxnSpPr>
          <p:nvPr/>
        </p:nvCxnSpPr>
        <p:spPr bwMode="auto">
          <a:xfrm flipH="1">
            <a:off x="5272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88" name="AutoShape 20"/>
          <p:cNvCxnSpPr>
            <a:cxnSpLocks noChangeShapeType="1"/>
            <a:stCxn id="32772" idx="5"/>
            <a:endCxn id="32778" idx="1"/>
          </p:cNvCxnSpPr>
          <p:nvPr/>
        </p:nvCxnSpPr>
        <p:spPr bwMode="auto">
          <a:xfrm>
            <a:off x="5102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89" name="AutoShape 21"/>
          <p:cNvCxnSpPr>
            <a:cxnSpLocks noChangeShapeType="1"/>
            <a:stCxn id="32773" idx="3"/>
            <a:endCxn id="32778" idx="7"/>
          </p:cNvCxnSpPr>
          <p:nvPr/>
        </p:nvCxnSpPr>
        <p:spPr bwMode="auto">
          <a:xfrm flipH="1">
            <a:off x="647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90" name="AutoShape 22"/>
          <p:cNvCxnSpPr>
            <a:cxnSpLocks noChangeShapeType="1"/>
            <a:stCxn id="32773" idx="4"/>
            <a:endCxn id="32774" idx="0"/>
          </p:cNvCxnSpPr>
          <p:nvPr/>
        </p:nvCxnSpPr>
        <p:spPr bwMode="auto">
          <a:xfrm>
            <a:off x="7391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91" name="AutoShape 23"/>
          <p:cNvCxnSpPr>
            <a:cxnSpLocks noChangeShapeType="1"/>
            <a:stCxn id="32774" idx="2"/>
            <a:endCxn id="32775" idx="6"/>
          </p:cNvCxnSpPr>
          <p:nvPr/>
        </p:nvCxnSpPr>
        <p:spPr bwMode="auto">
          <a:xfrm flipH="1">
            <a:off x="5272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92" name="AutoShape 24"/>
          <p:cNvCxnSpPr>
            <a:cxnSpLocks noChangeShapeType="1"/>
            <a:stCxn id="32778" idx="3"/>
            <a:endCxn id="32775" idx="7"/>
          </p:cNvCxnSpPr>
          <p:nvPr/>
        </p:nvCxnSpPr>
        <p:spPr bwMode="auto">
          <a:xfrm flipH="1">
            <a:off x="5102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793" name="Line 25"/>
          <p:cNvSpPr>
            <a:spLocks noChangeShapeType="1"/>
          </p:cNvSpPr>
          <p:nvPr/>
        </p:nvSpPr>
        <p:spPr bwMode="auto">
          <a:xfrm>
            <a:off x="457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94" name="Text Box 26"/>
          <p:cNvSpPr txBox="1">
            <a:spLocks noChangeArrowheads="1"/>
          </p:cNvSpPr>
          <p:nvPr/>
        </p:nvSpPr>
        <p:spPr bwMode="auto"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552990" y="1969824"/>
            <a:ext cx="7371378" cy="3798133"/>
            <a:chOff x="552990" y="1969824"/>
            <a:chExt cx="7371378" cy="3798133"/>
          </a:xfrm>
        </p:grpSpPr>
        <p:sp>
          <p:nvSpPr>
            <p:cNvPr id="30" name="TextBox 29"/>
            <p:cNvSpPr txBox="1"/>
            <p:nvPr/>
          </p:nvSpPr>
          <p:spPr>
            <a:xfrm>
              <a:off x="1802757" y="1969824"/>
              <a:ext cx="931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52990" y="3179928"/>
              <a:ext cx="471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22650" y="5398625"/>
              <a:ext cx="1200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03761" y="2018146"/>
              <a:ext cx="7683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17657" y="5308981"/>
              <a:ext cx="1541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042427" y="4130584"/>
              <a:ext cx="569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290884" y="5387396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96550" y="2041199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0537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DFS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3795" name="Oval 3"/>
          <p:cNvSpPr>
            <a:spLocks noChangeArrowheads="1"/>
          </p:cNvSpPr>
          <p:nvPr/>
        </p:nvSpPr>
        <p:spPr bwMode="auto">
          <a:xfrm>
            <a:off x="1524000" y="2362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 dirty="0">
                <a:solidFill>
                  <a:schemeClr val="accent1"/>
                </a:solidFill>
                <a:latin typeface="Courier New" panose="02070309020205020404" pitchFamily="49" charset="0"/>
              </a:rPr>
              <a:t>1 |  </a:t>
            </a:r>
          </a:p>
        </p:txBody>
      </p:sp>
      <p:sp>
        <p:nvSpPr>
          <p:cNvPr id="33796" name="Oval 4"/>
          <p:cNvSpPr>
            <a:spLocks noChangeArrowheads="1"/>
          </p:cNvSpPr>
          <p:nvPr/>
        </p:nvSpPr>
        <p:spPr bwMode="auto">
          <a:xfrm>
            <a:off x="4191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3797" name="Oval 5"/>
          <p:cNvSpPr>
            <a:spLocks noChangeArrowheads="1"/>
          </p:cNvSpPr>
          <p:nvPr/>
        </p:nvSpPr>
        <p:spPr bwMode="auto">
          <a:xfrm>
            <a:off x="6858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3798" name="Oval 6"/>
          <p:cNvSpPr>
            <a:spLocks noChangeArrowheads="1"/>
          </p:cNvSpPr>
          <p:nvPr/>
        </p:nvSpPr>
        <p:spPr bwMode="auto">
          <a:xfrm>
            <a:off x="6858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3799" name="Oval 7"/>
          <p:cNvSpPr>
            <a:spLocks noChangeArrowheads="1"/>
          </p:cNvSpPr>
          <p:nvPr/>
        </p:nvSpPr>
        <p:spPr bwMode="auto">
          <a:xfrm>
            <a:off x="4191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| </a:t>
            </a:r>
          </a:p>
        </p:txBody>
      </p:sp>
      <p:sp>
        <p:nvSpPr>
          <p:cNvPr id="33800" name="Oval 8"/>
          <p:cNvSpPr>
            <a:spLocks noChangeArrowheads="1"/>
          </p:cNvSpPr>
          <p:nvPr/>
        </p:nvSpPr>
        <p:spPr bwMode="auto">
          <a:xfrm>
            <a:off x="1524000" y="47244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 dirty="0">
                <a:solidFill>
                  <a:schemeClr val="accent1"/>
                </a:solidFill>
                <a:latin typeface="Courier New" panose="02070309020205020404" pitchFamily="49" charset="0"/>
              </a:rPr>
              <a:t>3 |  </a:t>
            </a:r>
          </a:p>
        </p:txBody>
      </p:sp>
      <p:sp>
        <p:nvSpPr>
          <p:cNvPr id="33801" name="Oval 9"/>
          <p:cNvSpPr>
            <a:spLocks noChangeArrowheads="1"/>
          </p:cNvSpPr>
          <p:nvPr/>
        </p:nvSpPr>
        <p:spPr bwMode="auto">
          <a:xfrm>
            <a:off x="228600" y="3505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 dirty="0">
                <a:solidFill>
                  <a:schemeClr val="accent1"/>
                </a:solidFill>
                <a:latin typeface="Courier New" panose="02070309020205020404" pitchFamily="49" charset="0"/>
              </a:rPr>
              <a:t>2 |  </a:t>
            </a:r>
          </a:p>
        </p:txBody>
      </p:sp>
      <p:sp>
        <p:nvSpPr>
          <p:cNvPr id="33802" name="Oval 10"/>
          <p:cNvSpPr>
            <a:spLocks noChangeArrowheads="1"/>
          </p:cNvSpPr>
          <p:nvPr/>
        </p:nvSpPr>
        <p:spPr bwMode="auto">
          <a:xfrm>
            <a:off x="5562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cxnSp>
        <p:nvCxnSpPr>
          <p:cNvPr id="33803" name="AutoShape 11"/>
          <p:cNvCxnSpPr>
            <a:cxnSpLocks noChangeShapeType="1"/>
            <a:stCxn id="33795" idx="3"/>
            <a:endCxn id="33801" idx="7"/>
          </p:cNvCxnSpPr>
          <p:nvPr/>
        </p:nvCxnSpPr>
        <p:spPr bwMode="auto">
          <a:xfrm flipH="1">
            <a:off x="1139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04" name="AutoShape 12"/>
          <p:cNvCxnSpPr>
            <a:cxnSpLocks noChangeShapeType="1"/>
            <a:stCxn id="33801" idx="5"/>
            <a:endCxn id="33800" idx="1"/>
          </p:cNvCxnSpPr>
          <p:nvPr/>
        </p:nvCxnSpPr>
        <p:spPr bwMode="auto">
          <a:xfrm>
            <a:off x="1139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05" name="AutoShape 13"/>
          <p:cNvCxnSpPr>
            <a:cxnSpLocks noChangeShapeType="1"/>
            <a:stCxn id="33801" idx="6"/>
            <a:endCxn id="33799" idx="1"/>
          </p:cNvCxnSpPr>
          <p:nvPr/>
        </p:nvCxnSpPr>
        <p:spPr bwMode="auto">
          <a:xfrm>
            <a:off x="1309688" y="3848100"/>
            <a:ext cx="3036887" cy="962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06" name="AutoShape 14"/>
          <p:cNvCxnSpPr>
            <a:cxnSpLocks noChangeShapeType="1"/>
            <a:stCxn id="33799" idx="2"/>
            <a:endCxn id="33800" idx="6"/>
          </p:cNvCxnSpPr>
          <p:nvPr/>
        </p:nvCxnSpPr>
        <p:spPr bwMode="auto">
          <a:xfrm flipH="1">
            <a:off x="2605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07" name="AutoShape 15"/>
          <p:cNvCxnSpPr>
            <a:cxnSpLocks noChangeShapeType="1"/>
            <a:stCxn id="33800" idx="0"/>
            <a:endCxn id="33795" idx="4"/>
          </p:cNvCxnSpPr>
          <p:nvPr/>
        </p:nvCxnSpPr>
        <p:spPr bwMode="auto">
          <a:xfrm flipV="1">
            <a:off x="2057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08" name="AutoShape 16"/>
          <p:cNvCxnSpPr>
            <a:cxnSpLocks noChangeShapeType="1"/>
            <a:stCxn id="33795" idx="5"/>
            <a:endCxn id="33799" idx="1"/>
          </p:cNvCxnSpPr>
          <p:nvPr/>
        </p:nvCxnSpPr>
        <p:spPr bwMode="auto">
          <a:xfrm>
            <a:off x="2435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09" name="AutoShape 17"/>
          <p:cNvCxnSpPr>
            <a:cxnSpLocks noChangeShapeType="1"/>
            <a:stCxn id="33796" idx="4"/>
            <a:endCxn id="33799" idx="0"/>
          </p:cNvCxnSpPr>
          <p:nvPr/>
        </p:nvCxnSpPr>
        <p:spPr bwMode="auto">
          <a:xfrm>
            <a:off x="4724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10" name="AutoShape 18"/>
          <p:cNvCxnSpPr>
            <a:cxnSpLocks noChangeShapeType="1"/>
            <a:stCxn id="33795" idx="6"/>
            <a:endCxn id="33796" idx="2"/>
          </p:cNvCxnSpPr>
          <p:nvPr/>
        </p:nvCxnSpPr>
        <p:spPr bwMode="auto">
          <a:xfrm>
            <a:off x="2605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11" name="AutoShape 19"/>
          <p:cNvCxnSpPr>
            <a:cxnSpLocks noChangeShapeType="1"/>
            <a:stCxn id="33797" idx="2"/>
            <a:endCxn id="33796" idx="6"/>
          </p:cNvCxnSpPr>
          <p:nvPr/>
        </p:nvCxnSpPr>
        <p:spPr bwMode="auto">
          <a:xfrm flipH="1">
            <a:off x="5272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12" name="AutoShape 20"/>
          <p:cNvCxnSpPr>
            <a:cxnSpLocks noChangeShapeType="1"/>
            <a:stCxn id="33796" idx="5"/>
            <a:endCxn id="33802" idx="1"/>
          </p:cNvCxnSpPr>
          <p:nvPr/>
        </p:nvCxnSpPr>
        <p:spPr bwMode="auto">
          <a:xfrm>
            <a:off x="5102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13" name="AutoShape 21"/>
          <p:cNvCxnSpPr>
            <a:cxnSpLocks noChangeShapeType="1"/>
            <a:stCxn id="33797" idx="3"/>
            <a:endCxn id="33802" idx="7"/>
          </p:cNvCxnSpPr>
          <p:nvPr/>
        </p:nvCxnSpPr>
        <p:spPr bwMode="auto">
          <a:xfrm flipH="1">
            <a:off x="647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14" name="AutoShape 22"/>
          <p:cNvCxnSpPr>
            <a:cxnSpLocks noChangeShapeType="1"/>
            <a:stCxn id="33797" idx="4"/>
            <a:endCxn id="33798" idx="0"/>
          </p:cNvCxnSpPr>
          <p:nvPr/>
        </p:nvCxnSpPr>
        <p:spPr bwMode="auto">
          <a:xfrm>
            <a:off x="7391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15" name="AutoShape 23"/>
          <p:cNvCxnSpPr>
            <a:cxnSpLocks noChangeShapeType="1"/>
            <a:stCxn id="33798" idx="2"/>
            <a:endCxn id="33799" idx="6"/>
          </p:cNvCxnSpPr>
          <p:nvPr/>
        </p:nvCxnSpPr>
        <p:spPr bwMode="auto">
          <a:xfrm flipH="1">
            <a:off x="5272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16" name="AutoShape 24"/>
          <p:cNvCxnSpPr>
            <a:cxnSpLocks noChangeShapeType="1"/>
            <a:stCxn id="33802" idx="3"/>
            <a:endCxn id="33799" idx="7"/>
          </p:cNvCxnSpPr>
          <p:nvPr/>
        </p:nvCxnSpPr>
        <p:spPr bwMode="auto">
          <a:xfrm flipH="1">
            <a:off x="5102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817" name="Line 25"/>
          <p:cNvSpPr>
            <a:spLocks noChangeShapeType="1"/>
          </p:cNvSpPr>
          <p:nvPr/>
        </p:nvSpPr>
        <p:spPr bwMode="auto">
          <a:xfrm>
            <a:off x="457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18" name="Text Box 26"/>
          <p:cNvSpPr txBox="1">
            <a:spLocks noChangeArrowheads="1"/>
          </p:cNvSpPr>
          <p:nvPr/>
        </p:nvSpPr>
        <p:spPr bwMode="auto"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552990" y="1969824"/>
            <a:ext cx="7371378" cy="3798133"/>
            <a:chOff x="552990" y="1969824"/>
            <a:chExt cx="7371378" cy="3798133"/>
          </a:xfrm>
        </p:grpSpPr>
        <p:sp>
          <p:nvSpPr>
            <p:cNvPr id="30" name="TextBox 29"/>
            <p:cNvSpPr txBox="1"/>
            <p:nvPr/>
          </p:nvSpPr>
          <p:spPr>
            <a:xfrm>
              <a:off x="1802757" y="1969824"/>
              <a:ext cx="931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52990" y="3179928"/>
              <a:ext cx="471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22650" y="5398625"/>
              <a:ext cx="1200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03761" y="2018146"/>
              <a:ext cx="7683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17657" y="5308981"/>
              <a:ext cx="1541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042427" y="4130584"/>
              <a:ext cx="569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290884" y="5387396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96550" y="2041199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801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DFS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4819" name="Oval 3"/>
          <p:cNvSpPr>
            <a:spLocks noChangeArrowheads="1"/>
          </p:cNvSpPr>
          <p:nvPr/>
        </p:nvSpPr>
        <p:spPr bwMode="auto">
          <a:xfrm>
            <a:off x="1524000" y="2362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 |  </a:t>
            </a:r>
          </a:p>
        </p:txBody>
      </p:sp>
      <p:sp>
        <p:nvSpPr>
          <p:cNvPr id="34820" name="Oval 4"/>
          <p:cNvSpPr>
            <a:spLocks noChangeArrowheads="1"/>
          </p:cNvSpPr>
          <p:nvPr/>
        </p:nvSpPr>
        <p:spPr bwMode="auto">
          <a:xfrm>
            <a:off x="4191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4821" name="Oval 5"/>
          <p:cNvSpPr>
            <a:spLocks noChangeArrowheads="1"/>
          </p:cNvSpPr>
          <p:nvPr/>
        </p:nvSpPr>
        <p:spPr bwMode="auto">
          <a:xfrm>
            <a:off x="6858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4822" name="Oval 6"/>
          <p:cNvSpPr>
            <a:spLocks noChangeArrowheads="1"/>
          </p:cNvSpPr>
          <p:nvPr/>
        </p:nvSpPr>
        <p:spPr bwMode="auto">
          <a:xfrm>
            <a:off x="6858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4823" name="Oval 7"/>
          <p:cNvSpPr>
            <a:spLocks noChangeArrowheads="1"/>
          </p:cNvSpPr>
          <p:nvPr/>
        </p:nvSpPr>
        <p:spPr bwMode="auto">
          <a:xfrm>
            <a:off x="4191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| </a:t>
            </a:r>
          </a:p>
        </p:txBody>
      </p:sp>
      <p:sp>
        <p:nvSpPr>
          <p:cNvPr id="34824" name="Oval 8"/>
          <p:cNvSpPr>
            <a:spLocks noChangeArrowheads="1"/>
          </p:cNvSpPr>
          <p:nvPr/>
        </p:nvSpPr>
        <p:spPr bwMode="auto">
          <a:xfrm>
            <a:off x="1524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3 | 4</a:t>
            </a:r>
          </a:p>
        </p:txBody>
      </p:sp>
      <p:sp>
        <p:nvSpPr>
          <p:cNvPr id="34825" name="Oval 9"/>
          <p:cNvSpPr>
            <a:spLocks noChangeArrowheads="1"/>
          </p:cNvSpPr>
          <p:nvPr/>
        </p:nvSpPr>
        <p:spPr bwMode="auto">
          <a:xfrm>
            <a:off x="228600" y="3505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2 |  </a:t>
            </a:r>
          </a:p>
        </p:txBody>
      </p:sp>
      <p:sp>
        <p:nvSpPr>
          <p:cNvPr id="34826" name="Oval 10"/>
          <p:cNvSpPr>
            <a:spLocks noChangeArrowheads="1"/>
          </p:cNvSpPr>
          <p:nvPr/>
        </p:nvSpPr>
        <p:spPr bwMode="auto">
          <a:xfrm>
            <a:off x="5562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cxnSp>
        <p:nvCxnSpPr>
          <p:cNvPr id="34827" name="AutoShape 11"/>
          <p:cNvCxnSpPr>
            <a:cxnSpLocks noChangeShapeType="1"/>
            <a:stCxn id="34819" idx="3"/>
            <a:endCxn id="34825" idx="7"/>
          </p:cNvCxnSpPr>
          <p:nvPr/>
        </p:nvCxnSpPr>
        <p:spPr bwMode="auto">
          <a:xfrm flipH="1">
            <a:off x="1139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28" name="AutoShape 12"/>
          <p:cNvCxnSpPr>
            <a:cxnSpLocks noChangeShapeType="1"/>
            <a:stCxn id="34825" idx="5"/>
            <a:endCxn id="34824" idx="1"/>
          </p:cNvCxnSpPr>
          <p:nvPr/>
        </p:nvCxnSpPr>
        <p:spPr bwMode="auto">
          <a:xfrm>
            <a:off x="1139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29" name="AutoShape 13"/>
          <p:cNvCxnSpPr>
            <a:cxnSpLocks noChangeShapeType="1"/>
            <a:stCxn id="34825" idx="6"/>
            <a:endCxn id="34823" idx="1"/>
          </p:cNvCxnSpPr>
          <p:nvPr/>
        </p:nvCxnSpPr>
        <p:spPr bwMode="auto">
          <a:xfrm>
            <a:off x="1309688" y="3848100"/>
            <a:ext cx="3036887" cy="962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30" name="AutoShape 14"/>
          <p:cNvCxnSpPr>
            <a:cxnSpLocks noChangeShapeType="1"/>
            <a:stCxn id="34823" idx="2"/>
            <a:endCxn id="34824" idx="6"/>
          </p:cNvCxnSpPr>
          <p:nvPr/>
        </p:nvCxnSpPr>
        <p:spPr bwMode="auto">
          <a:xfrm flipH="1">
            <a:off x="2605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31" name="AutoShape 15"/>
          <p:cNvCxnSpPr>
            <a:cxnSpLocks noChangeShapeType="1"/>
            <a:stCxn id="34824" idx="0"/>
            <a:endCxn id="34819" idx="4"/>
          </p:cNvCxnSpPr>
          <p:nvPr/>
        </p:nvCxnSpPr>
        <p:spPr bwMode="auto">
          <a:xfrm flipV="1">
            <a:off x="2057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32" name="AutoShape 16"/>
          <p:cNvCxnSpPr>
            <a:cxnSpLocks noChangeShapeType="1"/>
            <a:stCxn id="34819" idx="5"/>
            <a:endCxn id="34823" idx="1"/>
          </p:cNvCxnSpPr>
          <p:nvPr/>
        </p:nvCxnSpPr>
        <p:spPr bwMode="auto">
          <a:xfrm>
            <a:off x="2435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33" name="AutoShape 17"/>
          <p:cNvCxnSpPr>
            <a:cxnSpLocks noChangeShapeType="1"/>
            <a:stCxn id="34820" idx="4"/>
            <a:endCxn id="34823" idx="0"/>
          </p:cNvCxnSpPr>
          <p:nvPr/>
        </p:nvCxnSpPr>
        <p:spPr bwMode="auto">
          <a:xfrm>
            <a:off x="4724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34" name="AutoShape 18"/>
          <p:cNvCxnSpPr>
            <a:cxnSpLocks noChangeShapeType="1"/>
            <a:stCxn id="34819" idx="6"/>
            <a:endCxn id="34820" idx="2"/>
          </p:cNvCxnSpPr>
          <p:nvPr/>
        </p:nvCxnSpPr>
        <p:spPr bwMode="auto">
          <a:xfrm>
            <a:off x="2605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35" name="AutoShape 19"/>
          <p:cNvCxnSpPr>
            <a:cxnSpLocks noChangeShapeType="1"/>
            <a:stCxn id="34821" idx="2"/>
            <a:endCxn id="34820" idx="6"/>
          </p:cNvCxnSpPr>
          <p:nvPr/>
        </p:nvCxnSpPr>
        <p:spPr bwMode="auto">
          <a:xfrm flipH="1">
            <a:off x="5272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36" name="AutoShape 20"/>
          <p:cNvCxnSpPr>
            <a:cxnSpLocks noChangeShapeType="1"/>
            <a:stCxn id="34820" idx="5"/>
            <a:endCxn id="34826" idx="1"/>
          </p:cNvCxnSpPr>
          <p:nvPr/>
        </p:nvCxnSpPr>
        <p:spPr bwMode="auto">
          <a:xfrm>
            <a:off x="5102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37" name="AutoShape 21"/>
          <p:cNvCxnSpPr>
            <a:cxnSpLocks noChangeShapeType="1"/>
            <a:stCxn id="34821" idx="3"/>
            <a:endCxn id="34826" idx="7"/>
          </p:cNvCxnSpPr>
          <p:nvPr/>
        </p:nvCxnSpPr>
        <p:spPr bwMode="auto">
          <a:xfrm flipH="1">
            <a:off x="647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38" name="AutoShape 22"/>
          <p:cNvCxnSpPr>
            <a:cxnSpLocks noChangeShapeType="1"/>
            <a:stCxn id="34821" idx="4"/>
            <a:endCxn id="34822" idx="0"/>
          </p:cNvCxnSpPr>
          <p:nvPr/>
        </p:nvCxnSpPr>
        <p:spPr bwMode="auto">
          <a:xfrm>
            <a:off x="7391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39" name="AutoShape 23"/>
          <p:cNvCxnSpPr>
            <a:cxnSpLocks noChangeShapeType="1"/>
            <a:stCxn id="34822" idx="2"/>
            <a:endCxn id="34823" idx="6"/>
          </p:cNvCxnSpPr>
          <p:nvPr/>
        </p:nvCxnSpPr>
        <p:spPr bwMode="auto">
          <a:xfrm flipH="1">
            <a:off x="5272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40" name="AutoShape 24"/>
          <p:cNvCxnSpPr>
            <a:cxnSpLocks noChangeShapeType="1"/>
            <a:stCxn id="34826" idx="3"/>
            <a:endCxn id="34823" idx="7"/>
          </p:cNvCxnSpPr>
          <p:nvPr/>
        </p:nvCxnSpPr>
        <p:spPr bwMode="auto">
          <a:xfrm flipH="1">
            <a:off x="5102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841" name="Line 25"/>
          <p:cNvSpPr>
            <a:spLocks noChangeShapeType="1"/>
          </p:cNvSpPr>
          <p:nvPr/>
        </p:nvSpPr>
        <p:spPr bwMode="auto">
          <a:xfrm>
            <a:off x="457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42" name="Text Box 26"/>
          <p:cNvSpPr txBox="1">
            <a:spLocks noChangeArrowheads="1"/>
          </p:cNvSpPr>
          <p:nvPr/>
        </p:nvSpPr>
        <p:spPr bwMode="auto"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552990" y="1969824"/>
            <a:ext cx="7371378" cy="3798133"/>
            <a:chOff x="552990" y="1969824"/>
            <a:chExt cx="7371378" cy="3798133"/>
          </a:xfrm>
        </p:grpSpPr>
        <p:sp>
          <p:nvSpPr>
            <p:cNvPr id="30" name="TextBox 29"/>
            <p:cNvSpPr txBox="1"/>
            <p:nvPr/>
          </p:nvSpPr>
          <p:spPr>
            <a:xfrm>
              <a:off x="1802757" y="1969824"/>
              <a:ext cx="931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52990" y="3179928"/>
              <a:ext cx="471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22650" y="5398625"/>
              <a:ext cx="1200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03761" y="2018146"/>
              <a:ext cx="7683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17657" y="5308981"/>
              <a:ext cx="1541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042427" y="4130584"/>
              <a:ext cx="569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290884" y="5387396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96550" y="2041199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2885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DFS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843" name="Oval 3"/>
          <p:cNvSpPr>
            <a:spLocks noChangeArrowheads="1"/>
          </p:cNvSpPr>
          <p:nvPr/>
        </p:nvSpPr>
        <p:spPr bwMode="auto">
          <a:xfrm>
            <a:off x="1524000" y="2362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 |  </a:t>
            </a:r>
          </a:p>
        </p:txBody>
      </p:sp>
      <p:sp>
        <p:nvSpPr>
          <p:cNvPr id="35844" name="Oval 4"/>
          <p:cNvSpPr>
            <a:spLocks noChangeArrowheads="1"/>
          </p:cNvSpPr>
          <p:nvPr/>
        </p:nvSpPr>
        <p:spPr bwMode="auto">
          <a:xfrm>
            <a:off x="4191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5845" name="Oval 5"/>
          <p:cNvSpPr>
            <a:spLocks noChangeArrowheads="1"/>
          </p:cNvSpPr>
          <p:nvPr/>
        </p:nvSpPr>
        <p:spPr bwMode="auto">
          <a:xfrm>
            <a:off x="6858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5846" name="Oval 6"/>
          <p:cNvSpPr>
            <a:spLocks noChangeArrowheads="1"/>
          </p:cNvSpPr>
          <p:nvPr/>
        </p:nvSpPr>
        <p:spPr bwMode="auto">
          <a:xfrm>
            <a:off x="6858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5847" name="Oval 7"/>
          <p:cNvSpPr>
            <a:spLocks noChangeArrowheads="1"/>
          </p:cNvSpPr>
          <p:nvPr/>
        </p:nvSpPr>
        <p:spPr bwMode="auto">
          <a:xfrm>
            <a:off x="4191000" y="47244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5 |  </a:t>
            </a:r>
          </a:p>
        </p:txBody>
      </p:sp>
      <p:sp>
        <p:nvSpPr>
          <p:cNvPr id="35848" name="Oval 8"/>
          <p:cNvSpPr>
            <a:spLocks noChangeArrowheads="1"/>
          </p:cNvSpPr>
          <p:nvPr/>
        </p:nvSpPr>
        <p:spPr bwMode="auto">
          <a:xfrm>
            <a:off x="1524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3 | 4</a:t>
            </a:r>
          </a:p>
        </p:txBody>
      </p:sp>
      <p:sp>
        <p:nvSpPr>
          <p:cNvPr id="35849" name="Oval 9"/>
          <p:cNvSpPr>
            <a:spLocks noChangeArrowheads="1"/>
          </p:cNvSpPr>
          <p:nvPr/>
        </p:nvSpPr>
        <p:spPr bwMode="auto">
          <a:xfrm>
            <a:off x="228600" y="3505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2 |  </a:t>
            </a:r>
          </a:p>
        </p:txBody>
      </p:sp>
      <p:sp>
        <p:nvSpPr>
          <p:cNvPr id="35850" name="Oval 10"/>
          <p:cNvSpPr>
            <a:spLocks noChangeArrowheads="1"/>
          </p:cNvSpPr>
          <p:nvPr/>
        </p:nvSpPr>
        <p:spPr bwMode="auto">
          <a:xfrm>
            <a:off x="5562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cxnSp>
        <p:nvCxnSpPr>
          <p:cNvPr id="35851" name="AutoShape 11"/>
          <p:cNvCxnSpPr>
            <a:cxnSpLocks noChangeShapeType="1"/>
            <a:stCxn id="35843" idx="3"/>
            <a:endCxn id="35849" idx="7"/>
          </p:cNvCxnSpPr>
          <p:nvPr/>
        </p:nvCxnSpPr>
        <p:spPr bwMode="auto">
          <a:xfrm flipH="1">
            <a:off x="1139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52" name="AutoShape 12"/>
          <p:cNvCxnSpPr>
            <a:cxnSpLocks noChangeShapeType="1"/>
            <a:stCxn id="35849" idx="5"/>
            <a:endCxn id="35848" idx="1"/>
          </p:cNvCxnSpPr>
          <p:nvPr/>
        </p:nvCxnSpPr>
        <p:spPr bwMode="auto">
          <a:xfrm>
            <a:off x="1139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53" name="AutoShape 13"/>
          <p:cNvCxnSpPr>
            <a:cxnSpLocks noChangeShapeType="1"/>
            <a:stCxn id="35849" idx="6"/>
            <a:endCxn id="35847" idx="1"/>
          </p:cNvCxnSpPr>
          <p:nvPr/>
        </p:nvCxnSpPr>
        <p:spPr bwMode="auto">
          <a:xfrm>
            <a:off x="1309688" y="3848100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54" name="AutoShape 14"/>
          <p:cNvCxnSpPr>
            <a:cxnSpLocks noChangeShapeType="1"/>
            <a:stCxn id="35847" idx="2"/>
            <a:endCxn id="35848" idx="6"/>
          </p:cNvCxnSpPr>
          <p:nvPr/>
        </p:nvCxnSpPr>
        <p:spPr bwMode="auto">
          <a:xfrm flipH="1">
            <a:off x="2605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55" name="AutoShape 15"/>
          <p:cNvCxnSpPr>
            <a:cxnSpLocks noChangeShapeType="1"/>
            <a:stCxn id="35848" idx="0"/>
            <a:endCxn id="35843" idx="4"/>
          </p:cNvCxnSpPr>
          <p:nvPr/>
        </p:nvCxnSpPr>
        <p:spPr bwMode="auto">
          <a:xfrm flipV="1">
            <a:off x="2057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56" name="AutoShape 16"/>
          <p:cNvCxnSpPr>
            <a:cxnSpLocks noChangeShapeType="1"/>
            <a:stCxn id="35843" idx="5"/>
            <a:endCxn id="35847" idx="1"/>
          </p:cNvCxnSpPr>
          <p:nvPr/>
        </p:nvCxnSpPr>
        <p:spPr bwMode="auto">
          <a:xfrm>
            <a:off x="2435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57" name="AutoShape 17"/>
          <p:cNvCxnSpPr>
            <a:cxnSpLocks noChangeShapeType="1"/>
            <a:stCxn id="35844" idx="4"/>
            <a:endCxn id="35847" idx="0"/>
          </p:cNvCxnSpPr>
          <p:nvPr/>
        </p:nvCxnSpPr>
        <p:spPr bwMode="auto">
          <a:xfrm>
            <a:off x="4724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58" name="AutoShape 18"/>
          <p:cNvCxnSpPr>
            <a:cxnSpLocks noChangeShapeType="1"/>
            <a:stCxn id="35843" idx="6"/>
            <a:endCxn id="35844" idx="2"/>
          </p:cNvCxnSpPr>
          <p:nvPr/>
        </p:nvCxnSpPr>
        <p:spPr bwMode="auto">
          <a:xfrm>
            <a:off x="2605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59" name="AutoShape 19"/>
          <p:cNvCxnSpPr>
            <a:cxnSpLocks noChangeShapeType="1"/>
            <a:stCxn id="35845" idx="2"/>
            <a:endCxn id="35844" idx="6"/>
          </p:cNvCxnSpPr>
          <p:nvPr/>
        </p:nvCxnSpPr>
        <p:spPr bwMode="auto">
          <a:xfrm flipH="1">
            <a:off x="5272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60" name="AutoShape 20"/>
          <p:cNvCxnSpPr>
            <a:cxnSpLocks noChangeShapeType="1"/>
            <a:stCxn id="35844" idx="5"/>
            <a:endCxn id="35850" idx="1"/>
          </p:cNvCxnSpPr>
          <p:nvPr/>
        </p:nvCxnSpPr>
        <p:spPr bwMode="auto">
          <a:xfrm>
            <a:off x="5102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61" name="AutoShape 21"/>
          <p:cNvCxnSpPr>
            <a:cxnSpLocks noChangeShapeType="1"/>
            <a:stCxn id="35845" idx="3"/>
            <a:endCxn id="35850" idx="7"/>
          </p:cNvCxnSpPr>
          <p:nvPr/>
        </p:nvCxnSpPr>
        <p:spPr bwMode="auto">
          <a:xfrm flipH="1">
            <a:off x="647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62" name="AutoShape 22"/>
          <p:cNvCxnSpPr>
            <a:cxnSpLocks noChangeShapeType="1"/>
            <a:stCxn id="35845" idx="4"/>
            <a:endCxn id="35846" idx="0"/>
          </p:cNvCxnSpPr>
          <p:nvPr/>
        </p:nvCxnSpPr>
        <p:spPr bwMode="auto">
          <a:xfrm>
            <a:off x="7391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63" name="AutoShape 23"/>
          <p:cNvCxnSpPr>
            <a:cxnSpLocks noChangeShapeType="1"/>
            <a:stCxn id="35846" idx="2"/>
            <a:endCxn id="35847" idx="6"/>
          </p:cNvCxnSpPr>
          <p:nvPr/>
        </p:nvCxnSpPr>
        <p:spPr bwMode="auto">
          <a:xfrm flipH="1">
            <a:off x="5272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64" name="AutoShape 24"/>
          <p:cNvCxnSpPr>
            <a:cxnSpLocks noChangeShapeType="1"/>
            <a:stCxn id="35850" idx="3"/>
            <a:endCxn id="35847" idx="7"/>
          </p:cNvCxnSpPr>
          <p:nvPr/>
        </p:nvCxnSpPr>
        <p:spPr bwMode="auto">
          <a:xfrm flipH="1">
            <a:off x="5102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865" name="Line 25"/>
          <p:cNvSpPr>
            <a:spLocks noChangeShapeType="1"/>
          </p:cNvSpPr>
          <p:nvPr/>
        </p:nvSpPr>
        <p:spPr bwMode="auto">
          <a:xfrm>
            <a:off x="457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66" name="Text Box 26"/>
          <p:cNvSpPr txBox="1">
            <a:spLocks noChangeArrowheads="1"/>
          </p:cNvSpPr>
          <p:nvPr/>
        </p:nvSpPr>
        <p:spPr bwMode="auto"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552990" y="1969824"/>
            <a:ext cx="7371378" cy="3798133"/>
            <a:chOff x="552990" y="1969824"/>
            <a:chExt cx="7371378" cy="3798133"/>
          </a:xfrm>
        </p:grpSpPr>
        <p:sp>
          <p:nvSpPr>
            <p:cNvPr id="30" name="TextBox 29"/>
            <p:cNvSpPr txBox="1"/>
            <p:nvPr/>
          </p:nvSpPr>
          <p:spPr>
            <a:xfrm>
              <a:off x="1802757" y="1969824"/>
              <a:ext cx="931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52990" y="3179928"/>
              <a:ext cx="471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22650" y="5398625"/>
              <a:ext cx="1200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03761" y="2018146"/>
              <a:ext cx="7683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17657" y="5308981"/>
              <a:ext cx="1541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042427" y="4130584"/>
              <a:ext cx="569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290884" y="5387396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96550" y="2041199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4477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DFS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867" name="Oval 3"/>
          <p:cNvSpPr>
            <a:spLocks noChangeArrowheads="1"/>
          </p:cNvSpPr>
          <p:nvPr/>
        </p:nvSpPr>
        <p:spPr bwMode="auto">
          <a:xfrm>
            <a:off x="1524000" y="2362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 |  </a:t>
            </a:r>
          </a:p>
        </p:txBody>
      </p:sp>
      <p:sp>
        <p:nvSpPr>
          <p:cNvPr id="36868" name="Oval 4"/>
          <p:cNvSpPr>
            <a:spLocks noChangeArrowheads="1"/>
          </p:cNvSpPr>
          <p:nvPr/>
        </p:nvSpPr>
        <p:spPr bwMode="auto">
          <a:xfrm>
            <a:off x="4191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6869" name="Oval 5"/>
          <p:cNvSpPr>
            <a:spLocks noChangeArrowheads="1"/>
          </p:cNvSpPr>
          <p:nvPr/>
        </p:nvSpPr>
        <p:spPr bwMode="auto">
          <a:xfrm>
            <a:off x="6858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6870" name="Oval 6"/>
          <p:cNvSpPr>
            <a:spLocks noChangeArrowheads="1"/>
          </p:cNvSpPr>
          <p:nvPr/>
        </p:nvSpPr>
        <p:spPr bwMode="auto">
          <a:xfrm>
            <a:off x="6858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6871" name="Oval 7"/>
          <p:cNvSpPr>
            <a:spLocks noChangeArrowheads="1"/>
          </p:cNvSpPr>
          <p:nvPr/>
        </p:nvSpPr>
        <p:spPr bwMode="auto">
          <a:xfrm>
            <a:off x="4191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5 | 6</a:t>
            </a:r>
          </a:p>
        </p:txBody>
      </p:sp>
      <p:sp>
        <p:nvSpPr>
          <p:cNvPr id="36872" name="Oval 8"/>
          <p:cNvSpPr>
            <a:spLocks noChangeArrowheads="1"/>
          </p:cNvSpPr>
          <p:nvPr/>
        </p:nvSpPr>
        <p:spPr bwMode="auto">
          <a:xfrm>
            <a:off x="1524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3 | 4</a:t>
            </a:r>
          </a:p>
        </p:txBody>
      </p:sp>
      <p:sp>
        <p:nvSpPr>
          <p:cNvPr id="36873" name="Oval 9"/>
          <p:cNvSpPr>
            <a:spLocks noChangeArrowheads="1"/>
          </p:cNvSpPr>
          <p:nvPr/>
        </p:nvSpPr>
        <p:spPr bwMode="auto">
          <a:xfrm>
            <a:off x="228600" y="3505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2 |  </a:t>
            </a:r>
          </a:p>
        </p:txBody>
      </p:sp>
      <p:sp>
        <p:nvSpPr>
          <p:cNvPr id="36874" name="Oval 10"/>
          <p:cNvSpPr>
            <a:spLocks noChangeArrowheads="1"/>
          </p:cNvSpPr>
          <p:nvPr/>
        </p:nvSpPr>
        <p:spPr bwMode="auto">
          <a:xfrm>
            <a:off x="5562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cxnSp>
        <p:nvCxnSpPr>
          <p:cNvPr id="36875" name="AutoShape 11"/>
          <p:cNvCxnSpPr>
            <a:cxnSpLocks noChangeShapeType="1"/>
            <a:stCxn id="36867" idx="3"/>
            <a:endCxn id="36873" idx="7"/>
          </p:cNvCxnSpPr>
          <p:nvPr/>
        </p:nvCxnSpPr>
        <p:spPr bwMode="auto">
          <a:xfrm flipH="1">
            <a:off x="1139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76" name="AutoShape 12"/>
          <p:cNvCxnSpPr>
            <a:cxnSpLocks noChangeShapeType="1"/>
            <a:stCxn id="36873" idx="5"/>
            <a:endCxn id="36872" idx="1"/>
          </p:cNvCxnSpPr>
          <p:nvPr/>
        </p:nvCxnSpPr>
        <p:spPr bwMode="auto">
          <a:xfrm>
            <a:off x="1139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77" name="AutoShape 13"/>
          <p:cNvCxnSpPr>
            <a:cxnSpLocks noChangeShapeType="1"/>
            <a:stCxn id="36873" idx="6"/>
            <a:endCxn id="36871" idx="1"/>
          </p:cNvCxnSpPr>
          <p:nvPr/>
        </p:nvCxnSpPr>
        <p:spPr bwMode="auto">
          <a:xfrm>
            <a:off x="1309688" y="3848100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78" name="AutoShape 14"/>
          <p:cNvCxnSpPr>
            <a:cxnSpLocks noChangeShapeType="1"/>
            <a:stCxn id="36871" idx="2"/>
            <a:endCxn id="36872" idx="6"/>
          </p:cNvCxnSpPr>
          <p:nvPr/>
        </p:nvCxnSpPr>
        <p:spPr bwMode="auto">
          <a:xfrm flipH="1">
            <a:off x="2605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79" name="AutoShape 15"/>
          <p:cNvCxnSpPr>
            <a:cxnSpLocks noChangeShapeType="1"/>
            <a:stCxn id="36872" idx="0"/>
            <a:endCxn id="36867" idx="4"/>
          </p:cNvCxnSpPr>
          <p:nvPr/>
        </p:nvCxnSpPr>
        <p:spPr bwMode="auto">
          <a:xfrm flipV="1">
            <a:off x="2057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80" name="AutoShape 16"/>
          <p:cNvCxnSpPr>
            <a:cxnSpLocks noChangeShapeType="1"/>
            <a:stCxn id="36867" idx="5"/>
            <a:endCxn id="36871" idx="1"/>
          </p:cNvCxnSpPr>
          <p:nvPr/>
        </p:nvCxnSpPr>
        <p:spPr bwMode="auto">
          <a:xfrm>
            <a:off x="2435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81" name="AutoShape 17"/>
          <p:cNvCxnSpPr>
            <a:cxnSpLocks noChangeShapeType="1"/>
            <a:stCxn id="36868" idx="4"/>
            <a:endCxn id="36871" idx="0"/>
          </p:cNvCxnSpPr>
          <p:nvPr/>
        </p:nvCxnSpPr>
        <p:spPr bwMode="auto">
          <a:xfrm>
            <a:off x="4724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82" name="AutoShape 18"/>
          <p:cNvCxnSpPr>
            <a:cxnSpLocks noChangeShapeType="1"/>
            <a:stCxn id="36867" idx="6"/>
            <a:endCxn id="36868" idx="2"/>
          </p:cNvCxnSpPr>
          <p:nvPr/>
        </p:nvCxnSpPr>
        <p:spPr bwMode="auto">
          <a:xfrm>
            <a:off x="2605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83" name="AutoShape 19"/>
          <p:cNvCxnSpPr>
            <a:cxnSpLocks noChangeShapeType="1"/>
            <a:stCxn id="36869" idx="2"/>
            <a:endCxn id="36868" idx="6"/>
          </p:cNvCxnSpPr>
          <p:nvPr/>
        </p:nvCxnSpPr>
        <p:spPr bwMode="auto">
          <a:xfrm flipH="1">
            <a:off x="5272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84" name="AutoShape 20"/>
          <p:cNvCxnSpPr>
            <a:cxnSpLocks noChangeShapeType="1"/>
            <a:stCxn id="36868" idx="5"/>
            <a:endCxn id="36874" idx="1"/>
          </p:cNvCxnSpPr>
          <p:nvPr/>
        </p:nvCxnSpPr>
        <p:spPr bwMode="auto">
          <a:xfrm>
            <a:off x="5102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85" name="AutoShape 21"/>
          <p:cNvCxnSpPr>
            <a:cxnSpLocks noChangeShapeType="1"/>
            <a:stCxn id="36869" idx="3"/>
            <a:endCxn id="36874" idx="7"/>
          </p:cNvCxnSpPr>
          <p:nvPr/>
        </p:nvCxnSpPr>
        <p:spPr bwMode="auto">
          <a:xfrm flipH="1">
            <a:off x="647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86" name="AutoShape 22"/>
          <p:cNvCxnSpPr>
            <a:cxnSpLocks noChangeShapeType="1"/>
            <a:stCxn id="36869" idx="4"/>
            <a:endCxn id="36870" idx="0"/>
          </p:cNvCxnSpPr>
          <p:nvPr/>
        </p:nvCxnSpPr>
        <p:spPr bwMode="auto">
          <a:xfrm>
            <a:off x="7391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87" name="AutoShape 23"/>
          <p:cNvCxnSpPr>
            <a:cxnSpLocks noChangeShapeType="1"/>
            <a:stCxn id="36870" idx="2"/>
            <a:endCxn id="36871" idx="6"/>
          </p:cNvCxnSpPr>
          <p:nvPr/>
        </p:nvCxnSpPr>
        <p:spPr bwMode="auto">
          <a:xfrm flipH="1">
            <a:off x="5272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88" name="AutoShape 24"/>
          <p:cNvCxnSpPr>
            <a:cxnSpLocks noChangeShapeType="1"/>
            <a:stCxn id="36874" idx="3"/>
            <a:endCxn id="36871" idx="7"/>
          </p:cNvCxnSpPr>
          <p:nvPr/>
        </p:nvCxnSpPr>
        <p:spPr bwMode="auto">
          <a:xfrm flipH="1">
            <a:off x="5102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889" name="Line 25"/>
          <p:cNvSpPr>
            <a:spLocks noChangeShapeType="1"/>
          </p:cNvSpPr>
          <p:nvPr/>
        </p:nvSpPr>
        <p:spPr bwMode="auto">
          <a:xfrm>
            <a:off x="457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90" name="Text Box 26"/>
          <p:cNvSpPr txBox="1">
            <a:spLocks noChangeArrowheads="1"/>
          </p:cNvSpPr>
          <p:nvPr/>
        </p:nvSpPr>
        <p:spPr bwMode="auto"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552990" y="1969824"/>
            <a:ext cx="7371378" cy="3798133"/>
            <a:chOff x="552990" y="1969824"/>
            <a:chExt cx="7371378" cy="3798133"/>
          </a:xfrm>
        </p:grpSpPr>
        <p:sp>
          <p:nvSpPr>
            <p:cNvPr id="30" name="TextBox 29"/>
            <p:cNvSpPr txBox="1"/>
            <p:nvPr/>
          </p:nvSpPr>
          <p:spPr>
            <a:xfrm>
              <a:off x="1802757" y="1969824"/>
              <a:ext cx="931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52990" y="3179928"/>
              <a:ext cx="471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22650" y="5398625"/>
              <a:ext cx="1200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03761" y="2018146"/>
              <a:ext cx="7683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17657" y="5308981"/>
              <a:ext cx="1541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042427" y="4130584"/>
              <a:ext cx="569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290884" y="5387396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96550" y="2041199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1073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DFS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891" name="Oval 3"/>
          <p:cNvSpPr>
            <a:spLocks noChangeArrowheads="1"/>
          </p:cNvSpPr>
          <p:nvPr/>
        </p:nvSpPr>
        <p:spPr bwMode="auto">
          <a:xfrm>
            <a:off x="1524000" y="2362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 |  </a:t>
            </a:r>
          </a:p>
        </p:txBody>
      </p:sp>
      <p:sp>
        <p:nvSpPr>
          <p:cNvPr id="37892" name="Oval 4"/>
          <p:cNvSpPr>
            <a:spLocks noChangeArrowheads="1"/>
          </p:cNvSpPr>
          <p:nvPr/>
        </p:nvSpPr>
        <p:spPr bwMode="auto">
          <a:xfrm>
            <a:off x="4191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 dirty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7893" name="Oval 5"/>
          <p:cNvSpPr>
            <a:spLocks noChangeArrowheads="1"/>
          </p:cNvSpPr>
          <p:nvPr/>
        </p:nvSpPr>
        <p:spPr bwMode="auto">
          <a:xfrm>
            <a:off x="6858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7894" name="Oval 6"/>
          <p:cNvSpPr>
            <a:spLocks noChangeArrowheads="1"/>
          </p:cNvSpPr>
          <p:nvPr/>
        </p:nvSpPr>
        <p:spPr bwMode="auto">
          <a:xfrm>
            <a:off x="6858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7895" name="Oval 7"/>
          <p:cNvSpPr>
            <a:spLocks noChangeArrowheads="1"/>
          </p:cNvSpPr>
          <p:nvPr/>
        </p:nvSpPr>
        <p:spPr bwMode="auto">
          <a:xfrm>
            <a:off x="4191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5 | 6</a:t>
            </a:r>
          </a:p>
        </p:txBody>
      </p:sp>
      <p:sp>
        <p:nvSpPr>
          <p:cNvPr id="37896" name="Oval 8"/>
          <p:cNvSpPr>
            <a:spLocks noChangeArrowheads="1"/>
          </p:cNvSpPr>
          <p:nvPr/>
        </p:nvSpPr>
        <p:spPr bwMode="auto">
          <a:xfrm>
            <a:off x="1524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3 | 4</a:t>
            </a:r>
          </a:p>
        </p:txBody>
      </p:sp>
      <p:sp>
        <p:nvSpPr>
          <p:cNvPr id="37897" name="Oval 9"/>
          <p:cNvSpPr>
            <a:spLocks noChangeArrowheads="1"/>
          </p:cNvSpPr>
          <p:nvPr/>
        </p:nvSpPr>
        <p:spPr bwMode="auto">
          <a:xfrm>
            <a:off x="228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2 | 7</a:t>
            </a:r>
          </a:p>
        </p:txBody>
      </p:sp>
      <p:sp>
        <p:nvSpPr>
          <p:cNvPr id="37898" name="Oval 10"/>
          <p:cNvSpPr>
            <a:spLocks noChangeArrowheads="1"/>
          </p:cNvSpPr>
          <p:nvPr/>
        </p:nvSpPr>
        <p:spPr bwMode="auto">
          <a:xfrm>
            <a:off x="5562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cxnSp>
        <p:nvCxnSpPr>
          <p:cNvPr id="37899" name="AutoShape 11"/>
          <p:cNvCxnSpPr>
            <a:cxnSpLocks noChangeShapeType="1"/>
            <a:stCxn id="37891" idx="3"/>
            <a:endCxn id="37897" idx="7"/>
          </p:cNvCxnSpPr>
          <p:nvPr/>
        </p:nvCxnSpPr>
        <p:spPr bwMode="auto">
          <a:xfrm flipH="1">
            <a:off x="1139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00" name="AutoShape 12"/>
          <p:cNvCxnSpPr>
            <a:cxnSpLocks noChangeShapeType="1"/>
            <a:stCxn id="37897" idx="5"/>
            <a:endCxn id="37896" idx="1"/>
          </p:cNvCxnSpPr>
          <p:nvPr/>
        </p:nvCxnSpPr>
        <p:spPr bwMode="auto">
          <a:xfrm>
            <a:off x="1139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01" name="AutoShape 13"/>
          <p:cNvCxnSpPr>
            <a:cxnSpLocks noChangeShapeType="1"/>
            <a:stCxn id="37897" idx="6"/>
            <a:endCxn id="37895" idx="1"/>
          </p:cNvCxnSpPr>
          <p:nvPr/>
        </p:nvCxnSpPr>
        <p:spPr bwMode="auto">
          <a:xfrm>
            <a:off x="1309688" y="3848100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02" name="AutoShape 14"/>
          <p:cNvCxnSpPr>
            <a:cxnSpLocks noChangeShapeType="1"/>
            <a:stCxn id="37895" idx="2"/>
            <a:endCxn id="37896" idx="6"/>
          </p:cNvCxnSpPr>
          <p:nvPr/>
        </p:nvCxnSpPr>
        <p:spPr bwMode="auto">
          <a:xfrm flipH="1">
            <a:off x="2605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03" name="AutoShape 15"/>
          <p:cNvCxnSpPr>
            <a:cxnSpLocks noChangeShapeType="1"/>
            <a:stCxn id="37896" idx="0"/>
            <a:endCxn id="37891" idx="4"/>
          </p:cNvCxnSpPr>
          <p:nvPr/>
        </p:nvCxnSpPr>
        <p:spPr bwMode="auto">
          <a:xfrm flipV="1">
            <a:off x="2057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04" name="AutoShape 16"/>
          <p:cNvCxnSpPr>
            <a:cxnSpLocks noChangeShapeType="1"/>
            <a:stCxn id="37891" idx="5"/>
            <a:endCxn id="37895" idx="1"/>
          </p:cNvCxnSpPr>
          <p:nvPr/>
        </p:nvCxnSpPr>
        <p:spPr bwMode="auto">
          <a:xfrm>
            <a:off x="2435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05" name="AutoShape 17"/>
          <p:cNvCxnSpPr>
            <a:cxnSpLocks noChangeShapeType="1"/>
            <a:stCxn id="37892" idx="4"/>
            <a:endCxn id="37895" idx="0"/>
          </p:cNvCxnSpPr>
          <p:nvPr/>
        </p:nvCxnSpPr>
        <p:spPr bwMode="auto">
          <a:xfrm>
            <a:off x="4724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06" name="AutoShape 18"/>
          <p:cNvCxnSpPr>
            <a:cxnSpLocks noChangeShapeType="1"/>
            <a:stCxn id="37891" idx="6"/>
            <a:endCxn id="37892" idx="2"/>
          </p:cNvCxnSpPr>
          <p:nvPr/>
        </p:nvCxnSpPr>
        <p:spPr bwMode="auto">
          <a:xfrm>
            <a:off x="2605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07" name="AutoShape 19"/>
          <p:cNvCxnSpPr>
            <a:cxnSpLocks noChangeShapeType="1"/>
            <a:stCxn id="37893" idx="2"/>
            <a:endCxn id="37892" idx="6"/>
          </p:cNvCxnSpPr>
          <p:nvPr/>
        </p:nvCxnSpPr>
        <p:spPr bwMode="auto">
          <a:xfrm flipH="1">
            <a:off x="5272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08" name="AutoShape 20"/>
          <p:cNvCxnSpPr>
            <a:cxnSpLocks noChangeShapeType="1"/>
            <a:stCxn id="37892" idx="5"/>
            <a:endCxn id="37898" idx="1"/>
          </p:cNvCxnSpPr>
          <p:nvPr/>
        </p:nvCxnSpPr>
        <p:spPr bwMode="auto">
          <a:xfrm>
            <a:off x="5102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09" name="AutoShape 21"/>
          <p:cNvCxnSpPr>
            <a:cxnSpLocks noChangeShapeType="1"/>
            <a:stCxn id="37893" idx="3"/>
            <a:endCxn id="37898" idx="7"/>
          </p:cNvCxnSpPr>
          <p:nvPr/>
        </p:nvCxnSpPr>
        <p:spPr bwMode="auto">
          <a:xfrm flipH="1">
            <a:off x="647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10" name="AutoShape 22"/>
          <p:cNvCxnSpPr>
            <a:cxnSpLocks noChangeShapeType="1"/>
            <a:stCxn id="37893" idx="4"/>
            <a:endCxn id="37894" idx="0"/>
          </p:cNvCxnSpPr>
          <p:nvPr/>
        </p:nvCxnSpPr>
        <p:spPr bwMode="auto">
          <a:xfrm>
            <a:off x="7391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11" name="AutoShape 23"/>
          <p:cNvCxnSpPr>
            <a:cxnSpLocks noChangeShapeType="1"/>
            <a:stCxn id="37894" idx="2"/>
            <a:endCxn id="37895" idx="6"/>
          </p:cNvCxnSpPr>
          <p:nvPr/>
        </p:nvCxnSpPr>
        <p:spPr bwMode="auto">
          <a:xfrm flipH="1">
            <a:off x="5272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12" name="AutoShape 24"/>
          <p:cNvCxnSpPr>
            <a:cxnSpLocks noChangeShapeType="1"/>
            <a:stCxn id="37898" idx="3"/>
            <a:endCxn id="37895" idx="7"/>
          </p:cNvCxnSpPr>
          <p:nvPr/>
        </p:nvCxnSpPr>
        <p:spPr bwMode="auto">
          <a:xfrm flipH="1">
            <a:off x="5102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913" name="Line 25"/>
          <p:cNvSpPr>
            <a:spLocks noChangeShapeType="1"/>
          </p:cNvSpPr>
          <p:nvPr/>
        </p:nvSpPr>
        <p:spPr bwMode="auto">
          <a:xfrm>
            <a:off x="457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14" name="Text Box 26"/>
          <p:cNvSpPr txBox="1">
            <a:spLocks noChangeArrowheads="1"/>
          </p:cNvSpPr>
          <p:nvPr/>
        </p:nvSpPr>
        <p:spPr bwMode="auto"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552990" y="1969824"/>
            <a:ext cx="7371378" cy="3798133"/>
            <a:chOff x="552990" y="1969824"/>
            <a:chExt cx="7371378" cy="3798133"/>
          </a:xfrm>
        </p:grpSpPr>
        <p:sp>
          <p:nvSpPr>
            <p:cNvPr id="30" name="TextBox 29"/>
            <p:cNvSpPr txBox="1"/>
            <p:nvPr/>
          </p:nvSpPr>
          <p:spPr>
            <a:xfrm>
              <a:off x="1802757" y="1969824"/>
              <a:ext cx="931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52990" y="3179928"/>
              <a:ext cx="471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22650" y="5398625"/>
              <a:ext cx="1200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03761" y="2018146"/>
              <a:ext cx="7683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17657" y="5308981"/>
              <a:ext cx="1541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042427" y="4130584"/>
              <a:ext cx="569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290884" y="5387396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96550" y="2041199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78135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DFS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915" name="Oval 3"/>
          <p:cNvSpPr>
            <a:spLocks noChangeArrowheads="1"/>
          </p:cNvSpPr>
          <p:nvPr/>
        </p:nvSpPr>
        <p:spPr bwMode="auto">
          <a:xfrm>
            <a:off x="1524000" y="2362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 |  </a:t>
            </a:r>
          </a:p>
        </p:txBody>
      </p:sp>
      <p:sp>
        <p:nvSpPr>
          <p:cNvPr id="38916" name="Oval 4"/>
          <p:cNvSpPr>
            <a:spLocks noChangeArrowheads="1"/>
          </p:cNvSpPr>
          <p:nvPr/>
        </p:nvSpPr>
        <p:spPr bwMode="auto">
          <a:xfrm>
            <a:off x="4191000" y="2362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8 |  </a:t>
            </a:r>
          </a:p>
        </p:txBody>
      </p:sp>
      <p:sp>
        <p:nvSpPr>
          <p:cNvPr id="38917" name="Oval 5"/>
          <p:cNvSpPr>
            <a:spLocks noChangeArrowheads="1"/>
          </p:cNvSpPr>
          <p:nvPr/>
        </p:nvSpPr>
        <p:spPr bwMode="auto">
          <a:xfrm>
            <a:off x="6858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8918" name="Oval 6"/>
          <p:cNvSpPr>
            <a:spLocks noChangeArrowheads="1"/>
          </p:cNvSpPr>
          <p:nvPr/>
        </p:nvSpPr>
        <p:spPr bwMode="auto">
          <a:xfrm>
            <a:off x="6858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8919" name="Oval 7"/>
          <p:cNvSpPr>
            <a:spLocks noChangeArrowheads="1"/>
          </p:cNvSpPr>
          <p:nvPr/>
        </p:nvSpPr>
        <p:spPr bwMode="auto">
          <a:xfrm>
            <a:off x="4191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5 | 6</a:t>
            </a:r>
          </a:p>
        </p:txBody>
      </p:sp>
      <p:sp>
        <p:nvSpPr>
          <p:cNvPr id="38920" name="Oval 8"/>
          <p:cNvSpPr>
            <a:spLocks noChangeArrowheads="1"/>
          </p:cNvSpPr>
          <p:nvPr/>
        </p:nvSpPr>
        <p:spPr bwMode="auto">
          <a:xfrm>
            <a:off x="1524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3 | 4</a:t>
            </a:r>
          </a:p>
        </p:txBody>
      </p:sp>
      <p:sp>
        <p:nvSpPr>
          <p:cNvPr id="38921" name="Oval 9"/>
          <p:cNvSpPr>
            <a:spLocks noChangeArrowheads="1"/>
          </p:cNvSpPr>
          <p:nvPr/>
        </p:nvSpPr>
        <p:spPr bwMode="auto">
          <a:xfrm>
            <a:off x="228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2 | 7</a:t>
            </a:r>
          </a:p>
        </p:txBody>
      </p:sp>
      <p:sp>
        <p:nvSpPr>
          <p:cNvPr id="38922" name="Oval 10"/>
          <p:cNvSpPr>
            <a:spLocks noChangeArrowheads="1"/>
          </p:cNvSpPr>
          <p:nvPr/>
        </p:nvSpPr>
        <p:spPr bwMode="auto">
          <a:xfrm>
            <a:off x="5562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cxnSp>
        <p:nvCxnSpPr>
          <p:cNvPr id="38923" name="AutoShape 11"/>
          <p:cNvCxnSpPr>
            <a:cxnSpLocks noChangeShapeType="1"/>
            <a:stCxn id="38915" idx="3"/>
            <a:endCxn id="38921" idx="7"/>
          </p:cNvCxnSpPr>
          <p:nvPr/>
        </p:nvCxnSpPr>
        <p:spPr bwMode="auto">
          <a:xfrm flipH="1">
            <a:off x="1139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24" name="AutoShape 12"/>
          <p:cNvCxnSpPr>
            <a:cxnSpLocks noChangeShapeType="1"/>
            <a:stCxn id="38921" idx="5"/>
            <a:endCxn id="38920" idx="1"/>
          </p:cNvCxnSpPr>
          <p:nvPr/>
        </p:nvCxnSpPr>
        <p:spPr bwMode="auto">
          <a:xfrm>
            <a:off x="1139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25" name="AutoShape 13"/>
          <p:cNvCxnSpPr>
            <a:cxnSpLocks noChangeShapeType="1"/>
            <a:stCxn id="38921" idx="6"/>
            <a:endCxn id="38919" idx="1"/>
          </p:cNvCxnSpPr>
          <p:nvPr/>
        </p:nvCxnSpPr>
        <p:spPr bwMode="auto">
          <a:xfrm>
            <a:off x="1309688" y="3848100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26" name="AutoShape 14"/>
          <p:cNvCxnSpPr>
            <a:cxnSpLocks noChangeShapeType="1"/>
            <a:stCxn id="38919" idx="2"/>
            <a:endCxn id="38920" idx="6"/>
          </p:cNvCxnSpPr>
          <p:nvPr/>
        </p:nvCxnSpPr>
        <p:spPr bwMode="auto">
          <a:xfrm flipH="1">
            <a:off x="2605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27" name="AutoShape 15"/>
          <p:cNvCxnSpPr>
            <a:cxnSpLocks noChangeShapeType="1"/>
            <a:stCxn id="38920" idx="0"/>
            <a:endCxn id="38915" idx="4"/>
          </p:cNvCxnSpPr>
          <p:nvPr/>
        </p:nvCxnSpPr>
        <p:spPr bwMode="auto">
          <a:xfrm flipV="1">
            <a:off x="2057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28" name="AutoShape 16"/>
          <p:cNvCxnSpPr>
            <a:cxnSpLocks noChangeShapeType="1"/>
            <a:stCxn id="38915" idx="5"/>
            <a:endCxn id="38919" idx="1"/>
          </p:cNvCxnSpPr>
          <p:nvPr/>
        </p:nvCxnSpPr>
        <p:spPr bwMode="auto">
          <a:xfrm>
            <a:off x="2435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29" name="AutoShape 17"/>
          <p:cNvCxnSpPr>
            <a:cxnSpLocks noChangeShapeType="1"/>
            <a:stCxn id="38916" idx="4"/>
            <a:endCxn id="38919" idx="0"/>
          </p:cNvCxnSpPr>
          <p:nvPr/>
        </p:nvCxnSpPr>
        <p:spPr bwMode="auto">
          <a:xfrm>
            <a:off x="4724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30" name="AutoShape 18"/>
          <p:cNvCxnSpPr>
            <a:cxnSpLocks noChangeShapeType="1"/>
            <a:stCxn id="38915" idx="6"/>
            <a:endCxn id="38916" idx="2"/>
          </p:cNvCxnSpPr>
          <p:nvPr/>
        </p:nvCxnSpPr>
        <p:spPr bwMode="auto">
          <a:xfrm>
            <a:off x="2605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31" name="AutoShape 19"/>
          <p:cNvCxnSpPr>
            <a:cxnSpLocks noChangeShapeType="1"/>
            <a:stCxn id="38917" idx="2"/>
            <a:endCxn id="38916" idx="6"/>
          </p:cNvCxnSpPr>
          <p:nvPr/>
        </p:nvCxnSpPr>
        <p:spPr bwMode="auto">
          <a:xfrm flipH="1">
            <a:off x="5272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32" name="AutoShape 20"/>
          <p:cNvCxnSpPr>
            <a:cxnSpLocks noChangeShapeType="1"/>
            <a:stCxn id="38916" idx="5"/>
            <a:endCxn id="38922" idx="1"/>
          </p:cNvCxnSpPr>
          <p:nvPr/>
        </p:nvCxnSpPr>
        <p:spPr bwMode="auto">
          <a:xfrm>
            <a:off x="5102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33" name="AutoShape 21"/>
          <p:cNvCxnSpPr>
            <a:cxnSpLocks noChangeShapeType="1"/>
            <a:stCxn id="38917" idx="3"/>
            <a:endCxn id="38922" idx="7"/>
          </p:cNvCxnSpPr>
          <p:nvPr/>
        </p:nvCxnSpPr>
        <p:spPr bwMode="auto">
          <a:xfrm flipH="1">
            <a:off x="647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34" name="AutoShape 22"/>
          <p:cNvCxnSpPr>
            <a:cxnSpLocks noChangeShapeType="1"/>
            <a:stCxn id="38917" idx="4"/>
            <a:endCxn id="38918" idx="0"/>
          </p:cNvCxnSpPr>
          <p:nvPr/>
        </p:nvCxnSpPr>
        <p:spPr bwMode="auto">
          <a:xfrm>
            <a:off x="7391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35" name="AutoShape 23"/>
          <p:cNvCxnSpPr>
            <a:cxnSpLocks noChangeShapeType="1"/>
            <a:stCxn id="38918" idx="2"/>
            <a:endCxn id="38919" idx="6"/>
          </p:cNvCxnSpPr>
          <p:nvPr/>
        </p:nvCxnSpPr>
        <p:spPr bwMode="auto">
          <a:xfrm flipH="1">
            <a:off x="5272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36" name="AutoShape 24"/>
          <p:cNvCxnSpPr>
            <a:cxnSpLocks noChangeShapeType="1"/>
            <a:stCxn id="38922" idx="3"/>
            <a:endCxn id="38919" idx="7"/>
          </p:cNvCxnSpPr>
          <p:nvPr/>
        </p:nvCxnSpPr>
        <p:spPr bwMode="auto">
          <a:xfrm flipH="1">
            <a:off x="5102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37" name="Line 25"/>
          <p:cNvSpPr>
            <a:spLocks noChangeShapeType="1"/>
          </p:cNvSpPr>
          <p:nvPr/>
        </p:nvSpPr>
        <p:spPr bwMode="auto">
          <a:xfrm>
            <a:off x="457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38" name="Text Box 26"/>
          <p:cNvSpPr txBox="1">
            <a:spLocks noChangeArrowheads="1"/>
          </p:cNvSpPr>
          <p:nvPr/>
        </p:nvSpPr>
        <p:spPr bwMode="auto"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552990" y="1969824"/>
            <a:ext cx="7371378" cy="3798133"/>
            <a:chOff x="552990" y="1969824"/>
            <a:chExt cx="7371378" cy="3798133"/>
          </a:xfrm>
        </p:grpSpPr>
        <p:sp>
          <p:nvSpPr>
            <p:cNvPr id="30" name="TextBox 29"/>
            <p:cNvSpPr txBox="1"/>
            <p:nvPr/>
          </p:nvSpPr>
          <p:spPr>
            <a:xfrm>
              <a:off x="1802757" y="1969824"/>
              <a:ext cx="931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52990" y="3179928"/>
              <a:ext cx="471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22650" y="5398625"/>
              <a:ext cx="1200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03761" y="2018146"/>
              <a:ext cx="7683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17657" y="5308981"/>
              <a:ext cx="1541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042427" y="4130584"/>
              <a:ext cx="569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290884" y="5387396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96550" y="2041199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5440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DFS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9939" name="Oval 3"/>
          <p:cNvSpPr>
            <a:spLocks noChangeArrowheads="1"/>
          </p:cNvSpPr>
          <p:nvPr/>
        </p:nvSpPr>
        <p:spPr bwMode="auto">
          <a:xfrm>
            <a:off x="1524000" y="2362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 |  </a:t>
            </a:r>
          </a:p>
        </p:txBody>
      </p:sp>
      <p:sp>
        <p:nvSpPr>
          <p:cNvPr id="39940" name="Oval 4"/>
          <p:cNvSpPr>
            <a:spLocks noChangeArrowheads="1"/>
          </p:cNvSpPr>
          <p:nvPr/>
        </p:nvSpPr>
        <p:spPr bwMode="auto">
          <a:xfrm>
            <a:off x="4191000" y="2362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8 |  </a:t>
            </a:r>
          </a:p>
        </p:txBody>
      </p:sp>
      <p:sp>
        <p:nvSpPr>
          <p:cNvPr id="39941" name="Oval 5"/>
          <p:cNvSpPr>
            <a:spLocks noChangeArrowheads="1"/>
          </p:cNvSpPr>
          <p:nvPr/>
        </p:nvSpPr>
        <p:spPr bwMode="auto">
          <a:xfrm>
            <a:off x="6858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9942" name="Oval 6"/>
          <p:cNvSpPr>
            <a:spLocks noChangeArrowheads="1"/>
          </p:cNvSpPr>
          <p:nvPr/>
        </p:nvSpPr>
        <p:spPr bwMode="auto">
          <a:xfrm>
            <a:off x="6858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9943" name="Oval 7"/>
          <p:cNvSpPr>
            <a:spLocks noChangeArrowheads="1"/>
          </p:cNvSpPr>
          <p:nvPr/>
        </p:nvSpPr>
        <p:spPr bwMode="auto">
          <a:xfrm>
            <a:off x="4191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5 | 6</a:t>
            </a:r>
          </a:p>
        </p:txBody>
      </p:sp>
      <p:sp>
        <p:nvSpPr>
          <p:cNvPr id="39944" name="Oval 8"/>
          <p:cNvSpPr>
            <a:spLocks noChangeArrowheads="1"/>
          </p:cNvSpPr>
          <p:nvPr/>
        </p:nvSpPr>
        <p:spPr bwMode="auto">
          <a:xfrm>
            <a:off x="1524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3 | 4</a:t>
            </a:r>
          </a:p>
        </p:txBody>
      </p:sp>
      <p:sp>
        <p:nvSpPr>
          <p:cNvPr id="39945" name="Oval 9"/>
          <p:cNvSpPr>
            <a:spLocks noChangeArrowheads="1"/>
          </p:cNvSpPr>
          <p:nvPr/>
        </p:nvSpPr>
        <p:spPr bwMode="auto">
          <a:xfrm>
            <a:off x="228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2 | 7</a:t>
            </a:r>
          </a:p>
        </p:txBody>
      </p:sp>
      <p:sp>
        <p:nvSpPr>
          <p:cNvPr id="39946" name="Oval 10"/>
          <p:cNvSpPr>
            <a:spLocks noChangeArrowheads="1"/>
          </p:cNvSpPr>
          <p:nvPr/>
        </p:nvSpPr>
        <p:spPr bwMode="auto">
          <a:xfrm>
            <a:off x="5562600" y="3505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9 |  </a:t>
            </a:r>
          </a:p>
        </p:txBody>
      </p:sp>
      <p:cxnSp>
        <p:nvCxnSpPr>
          <p:cNvPr id="39947" name="AutoShape 11"/>
          <p:cNvCxnSpPr>
            <a:cxnSpLocks noChangeShapeType="1"/>
            <a:stCxn id="39939" idx="3"/>
            <a:endCxn id="39945" idx="7"/>
          </p:cNvCxnSpPr>
          <p:nvPr/>
        </p:nvCxnSpPr>
        <p:spPr bwMode="auto">
          <a:xfrm flipH="1">
            <a:off x="1139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48" name="AutoShape 12"/>
          <p:cNvCxnSpPr>
            <a:cxnSpLocks noChangeShapeType="1"/>
            <a:stCxn id="39945" idx="5"/>
            <a:endCxn id="39944" idx="1"/>
          </p:cNvCxnSpPr>
          <p:nvPr/>
        </p:nvCxnSpPr>
        <p:spPr bwMode="auto">
          <a:xfrm>
            <a:off x="1139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49" name="AutoShape 13"/>
          <p:cNvCxnSpPr>
            <a:cxnSpLocks noChangeShapeType="1"/>
            <a:stCxn id="39945" idx="6"/>
            <a:endCxn id="39943" idx="1"/>
          </p:cNvCxnSpPr>
          <p:nvPr/>
        </p:nvCxnSpPr>
        <p:spPr bwMode="auto">
          <a:xfrm>
            <a:off x="1309688" y="3848100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50" name="AutoShape 14"/>
          <p:cNvCxnSpPr>
            <a:cxnSpLocks noChangeShapeType="1"/>
            <a:stCxn id="39943" idx="2"/>
            <a:endCxn id="39944" idx="6"/>
          </p:cNvCxnSpPr>
          <p:nvPr/>
        </p:nvCxnSpPr>
        <p:spPr bwMode="auto">
          <a:xfrm flipH="1">
            <a:off x="2605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51" name="AutoShape 15"/>
          <p:cNvCxnSpPr>
            <a:cxnSpLocks noChangeShapeType="1"/>
            <a:stCxn id="39944" idx="0"/>
            <a:endCxn id="39939" idx="4"/>
          </p:cNvCxnSpPr>
          <p:nvPr/>
        </p:nvCxnSpPr>
        <p:spPr bwMode="auto">
          <a:xfrm flipV="1">
            <a:off x="2057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52" name="AutoShape 16"/>
          <p:cNvCxnSpPr>
            <a:cxnSpLocks noChangeShapeType="1"/>
            <a:stCxn id="39939" idx="5"/>
            <a:endCxn id="39943" idx="1"/>
          </p:cNvCxnSpPr>
          <p:nvPr/>
        </p:nvCxnSpPr>
        <p:spPr bwMode="auto">
          <a:xfrm>
            <a:off x="2435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53" name="AutoShape 17"/>
          <p:cNvCxnSpPr>
            <a:cxnSpLocks noChangeShapeType="1"/>
            <a:stCxn id="39940" idx="4"/>
            <a:endCxn id="39943" idx="0"/>
          </p:cNvCxnSpPr>
          <p:nvPr/>
        </p:nvCxnSpPr>
        <p:spPr bwMode="auto">
          <a:xfrm>
            <a:off x="4724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54" name="AutoShape 18"/>
          <p:cNvCxnSpPr>
            <a:cxnSpLocks noChangeShapeType="1"/>
            <a:stCxn id="39939" idx="6"/>
            <a:endCxn id="39940" idx="2"/>
          </p:cNvCxnSpPr>
          <p:nvPr/>
        </p:nvCxnSpPr>
        <p:spPr bwMode="auto">
          <a:xfrm>
            <a:off x="2605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55" name="AutoShape 19"/>
          <p:cNvCxnSpPr>
            <a:cxnSpLocks noChangeShapeType="1"/>
            <a:stCxn id="39941" idx="2"/>
            <a:endCxn id="39940" idx="6"/>
          </p:cNvCxnSpPr>
          <p:nvPr/>
        </p:nvCxnSpPr>
        <p:spPr bwMode="auto">
          <a:xfrm flipH="1">
            <a:off x="5272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56" name="AutoShape 20"/>
          <p:cNvCxnSpPr>
            <a:cxnSpLocks noChangeShapeType="1"/>
            <a:stCxn id="39940" idx="5"/>
            <a:endCxn id="39946" idx="1"/>
          </p:cNvCxnSpPr>
          <p:nvPr/>
        </p:nvCxnSpPr>
        <p:spPr bwMode="auto">
          <a:xfrm>
            <a:off x="5102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57" name="AutoShape 21"/>
          <p:cNvCxnSpPr>
            <a:cxnSpLocks noChangeShapeType="1"/>
            <a:stCxn id="39941" idx="3"/>
            <a:endCxn id="39946" idx="7"/>
          </p:cNvCxnSpPr>
          <p:nvPr/>
        </p:nvCxnSpPr>
        <p:spPr bwMode="auto">
          <a:xfrm flipH="1">
            <a:off x="647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58" name="AutoShape 22"/>
          <p:cNvCxnSpPr>
            <a:cxnSpLocks noChangeShapeType="1"/>
            <a:stCxn id="39941" idx="4"/>
            <a:endCxn id="39942" idx="0"/>
          </p:cNvCxnSpPr>
          <p:nvPr/>
        </p:nvCxnSpPr>
        <p:spPr bwMode="auto">
          <a:xfrm>
            <a:off x="7391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59" name="AutoShape 23"/>
          <p:cNvCxnSpPr>
            <a:cxnSpLocks noChangeShapeType="1"/>
            <a:stCxn id="39942" idx="2"/>
            <a:endCxn id="39943" idx="6"/>
          </p:cNvCxnSpPr>
          <p:nvPr/>
        </p:nvCxnSpPr>
        <p:spPr bwMode="auto">
          <a:xfrm flipH="1">
            <a:off x="5272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60" name="AutoShape 24"/>
          <p:cNvCxnSpPr>
            <a:cxnSpLocks noChangeShapeType="1"/>
            <a:stCxn id="39946" idx="3"/>
            <a:endCxn id="39943" idx="7"/>
          </p:cNvCxnSpPr>
          <p:nvPr/>
        </p:nvCxnSpPr>
        <p:spPr bwMode="auto">
          <a:xfrm flipH="1">
            <a:off x="5102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61" name="Line 25"/>
          <p:cNvSpPr>
            <a:spLocks noChangeShapeType="1"/>
          </p:cNvSpPr>
          <p:nvPr/>
        </p:nvSpPr>
        <p:spPr bwMode="auto">
          <a:xfrm>
            <a:off x="457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62" name="Text Box 26"/>
          <p:cNvSpPr txBox="1">
            <a:spLocks noChangeArrowheads="1"/>
          </p:cNvSpPr>
          <p:nvPr/>
        </p:nvSpPr>
        <p:spPr bwMode="auto"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552990" y="1969824"/>
            <a:ext cx="7371378" cy="3798133"/>
            <a:chOff x="552990" y="1969824"/>
            <a:chExt cx="7371378" cy="3798133"/>
          </a:xfrm>
        </p:grpSpPr>
        <p:sp>
          <p:nvSpPr>
            <p:cNvPr id="30" name="TextBox 29"/>
            <p:cNvSpPr txBox="1"/>
            <p:nvPr/>
          </p:nvSpPr>
          <p:spPr>
            <a:xfrm>
              <a:off x="1802757" y="1969824"/>
              <a:ext cx="931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52990" y="3179928"/>
              <a:ext cx="471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22650" y="5398625"/>
              <a:ext cx="1200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03761" y="2018146"/>
              <a:ext cx="7683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17657" y="5308981"/>
              <a:ext cx="1541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042427" y="4130584"/>
              <a:ext cx="569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290884" y="5387396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96550" y="2041199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7280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DFS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963" name="Oval 3"/>
          <p:cNvSpPr>
            <a:spLocks noChangeArrowheads="1"/>
          </p:cNvSpPr>
          <p:nvPr/>
        </p:nvSpPr>
        <p:spPr bwMode="auto">
          <a:xfrm>
            <a:off x="1524000" y="2362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 |  </a:t>
            </a:r>
          </a:p>
        </p:txBody>
      </p:sp>
      <p:sp>
        <p:nvSpPr>
          <p:cNvPr id="40964" name="Oval 4"/>
          <p:cNvSpPr>
            <a:spLocks noChangeArrowheads="1"/>
          </p:cNvSpPr>
          <p:nvPr/>
        </p:nvSpPr>
        <p:spPr bwMode="auto">
          <a:xfrm>
            <a:off x="4191000" y="2362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8 |  </a:t>
            </a:r>
          </a:p>
        </p:txBody>
      </p:sp>
      <p:sp>
        <p:nvSpPr>
          <p:cNvPr id="40965" name="Oval 5"/>
          <p:cNvSpPr>
            <a:spLocks noChangeArrowheads="1"/>
          </p:cNvSpPr>
          <p:nvPr/>
        </p:nvSpPr>
        <p:spPr bwMode="auto">
          <a:xfrm>
            <a:off x="6858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40966" name="Oval 6"/>
          <p:cNvSpPr>
            <a:spLocks noChangeArrowheads="1"/>
          </p:cNvSpPr>
          <p:nvPr/>
        </p:nvSpPr>
        <p:spPr bwMode="auto">
          <a:xfrm>
            <a:off x="6858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40967" name="Oval 7"/>
          <p:cNvSpPr>
            <a:spLocks noChangeArrowheads="1"/>
          </p:cNvSpPr>
          <p:nvPr/>
        </p:nvSpPr>
        <p:spPr bwMode="auto">
          <a:xfrm>
            <a:off x="4191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5 | 6</a:t>
            </a:r>
          </a:p>
        </p:txBody>
      </p:sp>
      <p:sp>
        <p:nvSpPr>
          <p:cNvPr id="40968" name="Oval 8"/>
          <p:cNvSpPr>
            <a:spLocks noChangeArrowheads="1"/>
          </p:cNvSpPr>
          <p:nvPr/>
        </p:nvSpPr>
        <p:spPr bwMode="auto">
          <a:xfrm>
            <a:off x="1524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3 | 4</a:t>
            </a:r>
          </a:p>
        </p:txBody>
      </p:sp>
      <p:sp>
        <p:nvSpPr>
          <p:cNvPr id="40969" name="Oval 9"/>
          <p:cNvSpPr>
            <a:spLocks noChangeArrowheads="1"/>
          </p:cNvSpPr>
          <p:nvPr/>
        </p:nvSpPr>
        <p:spPr bwMode="auto">
          <a:xfrm>
            <a:off x="228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2 | 7</a:t>
            </a:r>
          </a:p>
        </p:txBody>
      </p:sp>
      <p:sp>
        <p:nvSpPr>
          <p:cNvPr id="40970" name="Oval 10"/>
          <p:cNvSpPr>
            <a:spLocks noChangeArrowheads="1"/>
          </p:cNvSpPr>
          <p:nvPr/>
        </p:nvSpPr>
        <p:spPr bwMode="auto">
          <a:xfrm>
            <a:off x="5562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9 |10</a:t>
            </a:r>
          </a:p>
        </p:txBody>
      </p:sp>
      <p:cxnSp>
        <p:nvCxnSpPr>
          <p:cNvPr id="40971" name="AutoShape 11"/>
          <p:cNvCxnSpPr>
            <a:cxnSpLocks noChangeShapeType="1"/>
            <a:stCxn id="40963" idx="3"/>
            <a:endCxn id="40969" idx="7"/>
          </p:cNvCxnSpPr>
          <p:nvPr/>
        </p:nvCxnSpPr>
        <p:spPr bwMode="auto">
          <a:xfrm flipH="1">
            <a:off x="1139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72" name="AutoShape 12"/>
          <p:cNvCxnSpPr>
            <a:cxnSpLocks noChangeShapeType="1"/>
            <a:stCxn id="40969" idx="5"/>
            <a:endCxn id="40968" idx="1"/>
          </p:cNvCxnSpPr>
          <p:nvPr/>
        </p:nvCxnSpPr>
        <p:spPr bwMode="auto">
          <a:xfrm>
            <a:off x="1139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73" name="AutoShape 13"/>
          <p:cNvCxnSpPr>
            <a:cxnSpLocks noChangeShapeType="1"/>
            <a:stCxn id="40969" idx="6"/>
            <a:endCxn id="40967" idx="1"/>
          </p:cNvCxnSpPr>
          <p:nvPr/>
        </p:nvCxnSpPr>
        <p:spPr bwMode="auto">
          <a:xfrm>
            <a:off x="1309688" y="3848100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74" name="AutoShape 14"/>
          <p:cNvCxnSpPr>
            <a:cxnSpLocks noChangeShapeType="1"/>
            <a:stCxn id="40967" idx="2"/>
            <a:endCxn id="40968" idx="6"/>
          </p:cNvCxnSpPr>
          <p:nvPr/>
        </p:nvCxnSpPr>
        <p:spPr bwMode="auto">
          <a:xfrm flipH="1">
            <a:off x="2605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75" name="AutoShape 15"/>
          <p:cNvCxnSpPr>
            <a:cxnSpLocks noChangeShapeType="1"/>
            <a:stCxn id="40968" idx="0"/>
            <a:endCxn id="40963" idx="4"/>
          </p:cNvCxnSpPr>
          <p:nvPr/>
        </p:nvCxnSpPr>
        <p:spPr bwMode="auto">
          <a:xfrm flipV="1">
            <a:off x="2057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76" name="AutoShape 16"/>
          <p:cNvCxnSpPr>
            <a:cxnSpLocks noChangeShapeType="1"/>
            <a:stCxn id="40963" idx="5"/>
            <a:endCxn id="40967" idx="1"/>
          </p:cNvCxnSpPr>
          <p:nvPr/>
        </p:nvCxnSpPr>
        <p:spPr bwMode="auto">
          <a:xfrm>
            <a:off x="2435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77" name="AutoShape 17"/>
          <p:cNvCxnSpPr>
            <a:cxnSpLocks noChangeShapeType="1"/>
            <a:stCxn id="40964" idx="4"/>
            <a:endCxn id="40967" idx="0"/>
          </p:cNvCxnSpPr>
          <p:nvPr/>
        </p:nvCxnSpPr>
        <p:spPr bwMode="auto">
          <a:xfrm>
            <a:off x="4724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78" name="AutoShape 18"/>
          <p:cNvCxnSpPr>
            <a:cxnSpLocks noChangeShapeType="1"/>
            <a:stCxn id="40963" idx="6"/>
            <a:endCxn id="40964" idx="2"/>
          </p:cNvCxnSpPr>
          <p:nvPr/>
        </p:nvCxnSpPr>
        <p:spPr bwMode="auto">
          <a:xfrm>
            <a:off x="2605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79" name="AutoShape 19"/>
          <p:cNvCxnSpPr>
            <a:cxnSpLocks noChangeShapeType="1"/>
            <a:stCxn id="40965" idx="2"/>
            <a:endCxn id="40964" idx="6"/>
          </p:cNvCxnSpPr>
          <p:nvPr/>
        </p:nvCxnSpPr>
        <p:spPr bwMode="auto">
          <a:xfrm flipH="1">
            <a:off x="5272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80" name="AutoShape 20"/>
          <p:cNvCxnSpPr>
            <a:cxnSpLocks noChangeShapeType="1"/>
            <a:stCxn id="40964" idx="5"/>
            <a:endCxn id="40970" idx="1"/>
          </p:cNvCxnSpPr>
          <p:nvPr/>
        </p:nvCxnSpPr>
        <p:spPr bwMode="auto">
          <a:xfrm>
            <a:off x="5102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81" name="AutoShape 21"/>
          <p:cNvCxnSpPr>
            <a:cxnSpLocks noChangeShapeType="1"/>
            <a:stCxn id="40965" idx="3"/>
            <a:endCxn id="40970" idx="7"/>
          </p:cNvCxnSpPr>
          <p:nvPr/>
        </p:nvCxnSpPr>
        <p:spPr bwMode="auto">
          <a:xfrm flipH="1">
            <a:off x="647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82" name="AutoShape 22"/>
          <p:cNvCxnSpPr>
            <a:cxnSpLocks noChangeShapeType="1"/>
            <a:stCxn id="40965" idx="4"/>
            <a:endCxn id="40966" idx="0"/>
          </p:cNvCxnSpPr>
          <p:nvPr/>
        </p:nvCxnSpPr>
        <p:spPr bwMode="auto">
          <a:xfrm>
            <a:off x="7391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83" name="AutoShape 23"/>
          <p:cNvCxnSpPr>
            <a:cxnSpLocks noChangeShapeType="1"/>
            <a:stCxn id="40966" idx="2"/>
            <a:endCxn id="40967" idx="6"/>
          </p:cNvCxnSpPr>
          <p:nvPr/>
        </p:nvCxnSpPr>
        <p:spPr bwMode="auto">
          <a:xfrm flipH="1">
            <a:off x="5272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84" name="AutoShape 24"/>
          <p:cNvCxnSpPr>
            <a:cxnSpLocks noChangeShapeType="1"/>
            <a:stCxn id="40970" idx="3"/>
            <a:endCxn id="40967" idx="7"/>
          </p:cNvCxnSpPr>
          <p:nvPr/>
        </p:nvCxnSpPr>
        <p:spPr bwMode="auto">
          <a:xfrm flipH="1">
            <a:off x="5102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985" name="Line 25"/>
          <p:cNvSpPr>
            <a:spLocks noChangeShapeType="1"/>
          </p:cNvSpPr>
          <p:nvPr/>
        </p:nvSpPr>
        <p:spPr bwMode="auto">
          <a:xfrm>
            <a:off x="457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86" name="Text Box 26"/>
          <p:cNvSpPr txBox="1">
            <a:spLocks noChangeArrowheads="1"/>
          </p:cNvSpPr>
          <p:nvPr/>
        </p:nvSpPr>
        <p:spPr bwMode="auto"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552990" y="1969824"/>
            <a:ext cx="7371378" cy="3798133"/>
            <a:chOff x="552990" y="1969824"/>
            <a:chExt cx="7371378" cy="3798133"/>
          </a:xfrm>
        </p:grpSpPr>
        <p:sp>
          <p:nvSpPr>
            <p:cNvPr id="30" name="TextBox 29"/>
            <p:cNvSpPr txBox="1"/>
            <p:nvPr/>
          </p:nvSpPr>
          <p:spPr>
            <a:xfrm>
              <a:off x="1802757" y="1969824"/>
              <a:ext cx="931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52990" y="3179928"/>
              <a:ext cx="471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22650" y="5398625"/>
              <a:ext cx="1200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03761" y="2018146"/>
              <a:ext cx="7683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17657" y="5308981"/>
              <a:ext cx="1541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042427" y="4130584"/>
              <a:ext cx="569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290884" y="5387396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96550" y="2041199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4290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DFS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987" name="Oval 3"/>
          <p:cNvSpPr>
            <a:spLocks noChangeArrowheads="1"/>
          </p:cNvSpPr>
          <p:nvPr/>
        </p:nvSpPr>
        <p:spPr bwMode="auto">
          <a:xfrm>
            <a:off x="1524000" y="2362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 |  </a:t>
            </a:r>
          </a:p>
        </p:txBody>
      </p:sp>
      <p:sp>
        <p:nvSpPr>
          <p:cNvPr id="41988" name="Oval 4"/>
          <p:cNvSpPr>
            <a:spLocks noChangeArrowheads="1"/>
          </p:cNvSpPr>
          <p:nvPr/>
        </p:nvSpPr>
        <p:spPr bwMode="auto">
          <a:xfrm>
            <a:off x="4191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8 |11</a:t>
            </a:r>
          </a:p>
        </p:txBody>
      </p:sp>
      <p:sp>
        <p:nvSpPr>
          <p:cNvPr id="41989" name="Oval 5"/>
          <p:cNvSpPr>
            <a:spLocks noChangeArrowheads="1"/>
          </p:cNvSpPr>
          <p:nvPr/>
        </p:nvSpPr>
        <p:spPr bwMode="auto">
          <a:xfrm>
            <a:off x="6858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41990" name="Oval 6"/>
          <p:cNvSpPr>
            <a:spLocks noChangeArrowheads="1"/>
          </p:cNvSpPr>
          <p:nvPr/>
        </p:nvSpPr>
        <p:spPr bwMode="auto">
          <a:xfrm>
            <a:off x="6858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41991" name="Oval 7"/>
          <p:cNvSpPr>
            <a:spLocks noChangeArrowheads="1"/>
          </p:cNvSpPr>
          <p:nvPr/>
        </p:nvSpPr>
        <p:spPr bwMode="auto">
          <a:xfrm>
            <a:off x="4191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5 | 6</a:t>
            </a:r>
          </a:p>
        </p:txBody>
      </p:sp>
      <p:sp>
        <p:nvSpPr>
          <p:cNvPr id="41992" name="Oval 8"/>
          <p:cNvSpPr>
            <a:spLocks noChangeArrowheads="1"/>
          </p:cNvSpPr>
          <p:nvPr/>
        </p:nvSpPr>
        <p:spPr bwMode="auto">
          <a:xfrm>
            <a:off x="1524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3 | 4</a:t>
            </a:r>
          </a:p>
        </p:txBody>
      </p:sp>
      <p:sp>
        <p:nvSpPr>
          <p:cNvPr id="41993" name="Oval 9"/>
          <p:cNvSpPr>
            <a:spLocks noChangeArrowheads="1"/>
          </p:cNvSpPr>
          <p:nvPr/>
        </p:nvSpPr>
        <p:spPr bwMode="auto">
          <a:xfrm>
            <a:off x="228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2 | 7</a:t>
            </a:r>
          </a:p>
        </p:txBody>
      </p:sp>
      <p:sp>
        <p:nvSpPr>
          <p:cNvPr id="41994" name="Oval 10"/>
          <p:cNvSpPr>
            <a:spLocks noChangeArrowheads="1"/>
          </p:cNvSpPr>
          <p:nvPr/>
        </p:nvSpPr>
        <p:spPr bwMode="auto">
          <a:xfrm>
            <a:off x="5562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9 |10</a:t>
            </a:r>
          </a:p>
        </p:txBody>
      </p:sp>
      <p:cxnSp>
        <p:nvCxnSpPr>
          <p:cNvPr id="41995" name="AutoShape 11"/>
          <p:cNvCxnSpPr>
            <a:cxnSpLocks noChangeShapeType="1"/>
            <a:stCxn id="41987" idx="3"/>
            <a:endCxn id="41993" idx="7"/>
          </p:cNvCxnSpPr>
          <p:nvPr/>
        </p:nvCxnSpPr>
        <p:spPr bwMode="auto">
          <a:xfrm flipH="1">
            <a:off x="1139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996" name="AutoShape 12"/>
          <p:cNvCxnSpPr>
            <a:cxnSpLocks noChangeShapeType="1"/>
            <a:stCxn id="41993" idx="5"/>
            <a:endCxn id="41992" idx="1"/>
          </p:cNvCxnSpPr>
          <p:nvPr/>
        </p:nvCxnSpPr>
        <p:spPr bwMode="auto">
          <a:xfrm>
            <a:off x="1139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997" name="AutoShape 13"/>
          <p:cNvCxnSpPr>
            <a:cxnSpLocks noChangeShapeType="1"/>
            <a:stCxn id="41993" idx="6"/>
            <a:endCxn id="41991" idx="1"/>
          </p:cNvCxnSpPr>
          <p:nvPr/>
        </p:nvCxnSpPr>
        <p:spPr bwMode="auto">
          <a:xfrm>
            <a:off x="1309688" y="3848100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998" name="AutoShape 14"/>
          <p:cNvCxnSpPr>
            <a:cxnSpLocks noChangeShapeType="1"/>
            <a:stCxn id="41991" idx="2"/>
            <a:endCxn id="41992" idx="6"/>
          </p:cNvCxnSpPr>
          <p:nvPr/>
        </p:nvCxnSpPr>
        <p:spPr bwMode="auto">
          <a:xfrm flipH="1">
            <a:off x="2605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999" name="AutoShape 15"/>
          <p:cNvCxnSpPr>
            <a:cxnSpLocks noChangeShapeType="1"/>
            <a:stCxn id="41992" idx="0"/>
            <a:endCxn id="41987" idx="4"/>
          </p:cNvCxnSpPr>
          <p:nvPr/>
        </p:nvCxnSpPr>
        <p:spPr bwMode="auto">
          <a:xfrm flipV="1">
            <a:off x="2057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00" name="AutoShape 16"/>
          <p:cNvCxnSpPr>
            <a:cxnSpLocks noChangeShapeType="1"/>
            <a:stCxn id="41987" idx="5"/>
            <a:endCxn id="41991" idx="1"/>
          </p:cNvCxnSpPr>
          <p:nvPr/>
        </p:nvCxnSpPr>
        <p:spPr bwMode="auto">
          <a:xfrm>
            <a:off x="2435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01" name="AutoShape 17"/>
          <p:cNvCxnSpPr>
            <a:cxnSpLocks noChangeShapeType="1"/>
            <a:stCxn id="41988" idx="4"/>
            <a:endCxn id="41991" idx="0"/>
          </p:cNvCxnSpPr>
          <p:nvPr/>
        </p:nvCxnSpPr>
        <p:spPr bwMode="auto">
          <a:xfrm>
            <a:off x="4724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02" name="AutoShape 18"/>
          <p:cNvCxnSpPr>
            <a:cxnSpLocks noChangeShapeType="1"/>
            <a:stCxn id="41987" idx="6"/>
            <a:endCxn id="41988" idx="2"/>
          </p:cNvCxnSpPr>
          <p:nvPr/>
        </p:nvCxnSpPr>
        <p:spPr bwMode="auto">
          <a:xfrm>
            <a:off x="2605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03" name="AutoShape 19"/>
          <p:cNvCxnSpPr>
            <a:cxnSpLocks noChangeShapeType="1"/>
            <a:stCxn id="41989" idx="2"/>
            <a:endCxn id="41988" idx="6"/>
          </p:cNvCxnSpPr>
          <p:nvPr/>
        </p:nvCxnSpPr>
        <p:spPr bwMode="auto">
          <a:xfrm flipH="1">
            <a:off x="5272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04" name="AutoShape 20"/>
          <p:cNvCxnSpPr>
            <a:cxnSpLocks noChangeShapeType="1"/>
            <a:stCxn id="41988" idx="5"/>
            <a:endCxn id="41994" idx="1"/>
          </p:cNvCxnSpPr>
          <p:nvPr/>
        </p:nvCxnSpPr>
        <p:spPr bwMode="auto">
          <a:xfrm>
            <a:off x="5102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05" name="AutoShape 21"/>
          <p:cNvCxnSpPr>
            <a:cxnSpLocks noChangeShapeType="1"/>
            <a:stCxn id="41989" idx="3"/>
            <a:endCxn id="41994" idx="7"/>
          </p:cNvCxnSpPr>
          <p:nvPr/>
        </p:nvCxnSpPr>
        <p:spPr bwMode="auto">
          <a:xfrm flipH="1">
            <a:off x="647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06" name="AutoShape 22"/>
          <p:cNvCxnSpPr>
            <a:cxnSpLocks noChangeShapeType="1"/>
            <a:stCxn id="41989" idx="4"/>
            <a:endCxn id="41990" idx="0"/>
          </p:cNvCxnSpPr>
          <p:nvPr/>
        </p:nvCxnSpPr>
        <p:spPr bwMode="auto">
          <a:xfrm>
            <a:off x="7391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07" name="AutoShape 23"/>
          <p:cNvCxnSpPr>
            <a:cxnSpLocks noChangeShapeType="1"/>
            <a:stCxn id="41990" idx="2"/>
            <a:endCxn id="41991" idx="6"/>
          </p:cNvCxnSpPr>
          <p:nvPr/>
        </p:nvCxnSpPr>
        <p:spPr bwMode="auto">
          <a:xfrm flipH="1">
            <a:off x="5272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08" name="AutoShape 24"/>
          <p:cNvCxnSpPr>
            <a:cxnSpLocks noChangeShapeType="1"/>
            <a:stCxn id="41994" idx="3"/>
            <a:endCxn id="41991" idx="7"/>
          </p:cNvCxnSpPr>
          <p:nvPr/>
        </p:nvCxnSpPr>
        <p:spPr bwMode="auto">
          <a:xfrm flipH="1">
            <a:off x="5102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009" name="Line 25"/>
          <p:cNvSpPr>
            <a:spLocks noChangeShapeType="1"/>
          </p:cNvSpPr>
          <p:nvPr/>
        </p:nvSpPr>
        <p:spPr bwMode="auto">
          <a:xfrm>
            <a:off x="457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10" name="Text Box 26"/>
          <p:cNvSpPr txBox="1">
            <a:spLocks noChangeArrowheads="1"/>
          </p:cNvSpPr>
          <p:nvPr/>
        </p:nvSpPr>
        <p:spPr bwMode="auto"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552990" y="1969824"/>
            <a:ext cx="7371378" cy="3798133"/>
            <a:chOff x="552990" y="1969824"/>
            <a:chExt cx="7371378" cy="3798133"/>
          </a:xfrm>
        </p:grpSpPr>
        <p:sp>
          <p:nvSpPr>
            <p:cNvPr id="30" name="TextBox 29"/>
            <p:cNvSpPr txBox="1"/>
            <p:nvPr/>
          </p:nvSpPr>
          <p:spPr>
            <a:xfrm>
              <a:off x="1802757" y="1969824"/>
              <a:ext cx="931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52990" y="3179928"/>
              <a:ext cx="471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22650" y="5398625"/>
              <a:ext cx="1200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03761" y="2018146"/>
              <a:ext cx="7683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17657" y="5308981"/>
              <a:ext cx="1541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042427" y="4130584"/>
              <a:ext cx="569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290884" y="5387396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96550" y="2041199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74172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DFS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011" name="Oval 3"/>
          <p:cNvSpPr>
            <a:spLocks noChangeArrowheads="1"/>
          </p:cNvSpPr>
          <p:nvPr/>
        </p:nvSpPr>
        <p:spPr bwMode="auto">
          <a:xfrm>
            <a:off x="1524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 |12</a:t>
            </a:r>
          </a:p>
        </p:txBody>
      </p:sp>
      <p:sp>
        <p:nvSpPr>
          <p:cNvPr id="43012" name="Oval 4"/>
          <p:cNvSpPr>
            <a:spLocks noChangeArrowheads="1"/>
          </p:cNvSpPr>
          <p:nvPr/>
        </p:nvSpPr>
        <p:spPr bwMode="auto">
          <a:xfrm>
            <a:off x="4191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8 |11</a:t>
            </a:r>
          </a:p>
        </p:txBody>
      </p:sp>
      <p:sp>
        <p:nvSpPr>
          <p:cNvPr id="43013" name="Oval 5"/>
          <p:cNvSpPr>
            <a:spLocks noChangeArrowheads="1"/>
          </p:cNvSpPr>
          <p:nvPr/>
        </p:nvSpPr>
        <p:spPr bwMode="auto">
          <a:xfrm>
            <a:off x="6858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43014" name="Oval 6"/>
          <p:cNvSpPr>
            <a:spLocks noChangeArrowheads="1"/>
          </p:cNvSpPr>
          <p:nvPr/>
        </p:nvSpPr>
        <p:spPr bwMode="auto">
          <a:xfrm>
            <a:off x="6858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43015" name="Oval 7"/>
          <p:cNvSpPr>
            <a:spLocks noChangeArrowheads="1"/>
          </p:cNvSpPr>
          <p:nvPr/>
        </p:nvSpPr>
        <p:spPr bwMode="auto">
          <a:xfrm>
            <a:off x="4191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5 | 6</a:t>
            </a:r>
          </a:p>
        </p:txBody>
      </p:sp>
      <p:sp>
        <p:nvSpPr>
          <p:cNvPr id="43016" name="Oval 8"/>
          <p:cNvSpPr>
            <a:spLocks noChangeArrowheads="1"/>
          </p:cNvSpPr>
          <p:nvPr/>
        </p:nvSpPr>
        <p:spPr bwMode="auto">
          <a:xfrm>
            <a:off x="1524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3 | 4</a:t>
            </a:r>
          </a:p>
        </p:txBody>
      </p:sp>
      <p:sp>
        <p:nvSpPr>
          <p:cNvPr id="43017" name="Oval 9"/>
          <p:cNvSpPr>
            <a:spLocks noChangeArrowheads="1"/>
          </p:cNvSpPr>
          <p:nvPr/>
        </p:nvSpPr>
        <p:spPr bwMode="auto">
          <a:xfrm>
            <a:off x="228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2 | 7</a:t>
            </a:r>
          </a:p>
        </p:txBody>
      </p:sp>
      <p:sp>
        <p:nvSpPr>
          <p:cNvPr id="43018" name="Oval 10"/>
          <p:cNvSpPr>
            <a:spLocks noChangeArrowheads="1"/>
          </p:cNvSpPr>
          <p:nvPr/>
        </p:nvSpPr>
        <p:spPr bwMode="auto">
          <a:xfrm>
            <a:off x="5562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9 |10</a:t>
            </a:r>
          </a:p>
        </p:txBody>
      </p:sp>
      <p:cxnSp>
        <p:nvCxnSpPr>
          <p:cNvPr id="43019" name="AutoShape 11"/>
          <p:cNvCxnSpPr>
            <a:cxnSpLocks noChangeShapeType="1"/>
            <a:stCxn id="43011" idx="3"/>
            <a:endCxn id="43017" idx="7"/>
          </p:cNvCxnSpPr>
          <p:nvPr/>
        </p:nvCxnSpPr>
        <p:spPr bwMode="auto">
          <a:xfrm flipH="1">
            <a:off x="1139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020" name="AutoShape 12"/>
          <p:cNvCxnSpPr>
            <a:cxnSpLocks noChangeShapeType="1"/>
            <a:stCxn id="43017" idx="5"/>
            <a:endCxn id="43016" idx="1"/>
          </p:cNvCxnSpPr>
          <p:nvPr/>
        </p:nvCxnSpPr>
        <p:spPr bwMode="auto">
          <a:xfrm>
            <a:off x="1139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021" name="AutoShape 13"/>
          <p:cNvCxnSpPr>
            <a:cxnSpLocks noChangeShapeType="1"/>
            <a:stCxn id="43017" idx="6"/>
            <a:endCxn id="43015" idx="1"/>
          </p:cNvCxnSpPr>
          <p:nvPr/>
        </p:nvCxnSpPr>
        <p:spPr bwMode="auto">
          <a:xfrm>
            <a:off x="1309688" y="3848100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022" name="AutoShape 14"/>
          <p:cNvCxnSpPr>
            <a:cxnSpLocks noChangeShapeType="1"/>
            <a:stCxn id="43015" idx="2"/>
            <a:endCxn id="43016" idx="6"/>
          </p:cNvCxnSpPr>
          <p:nvPr/>
        </p:nvCxnSpPr>
        <p:spPr bwMode="auto">
          <a:xfrm flipH="1">
            <a:off x="2605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023" name="AutoShape 15"/>
          <p:cNvCxnSpPr>
            <a:cxnSpLocks noChangeShapeType="1"/>
            <a:stCxn id="43016" idx="0"/>
            <a:endCxn id="43011" idx="4"/>
          </p:cNvCxnSpPr>
          <p:nvPr/>
        </p:nvCxnSpPr>
        <p:spPr bwMode="auto">
          <a:xfrm flipV="1">
            <a:off x="2057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024" name="AutoShape 16"/>
          <p:cNvCxnSpPr>
            <a:cxnSpLocks noChangeShapeType="1"/>
            <a:stCxn id="43011" idx="5"/>
            <a:endCxn id="43015" idx="1"/>
          </p:cNvCxnSpPr>
          <p:nvPr/>
        </p:nvCxnSpPr>
        <p:spPr bwMode="auto">
          <a:xfrm>
            <a:off x="2435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025" name="AutoShape 17"/>
          <p:cNvCxnSpPr>
            <a:cxnSpLocks noChangeShapeType="1"/>
            <a:stCxn id="43012" idx="4"/>
            <a:endCxn id="43015" idx="0"/>
          </p:cNvCxnSpPr>
          <p:nvPr/>
        </p:nvCxnSpPr>
        <p:spPr bwMode="auto">
          <a:xfrm>
            <a:off x="4724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026" name="AutoShape 18"/>
          <p:cNvCxnSpPr>
            <a:cxnSpLocks noChangeShapeType="1"/>
            <a:stCxn id="43011" idx="6"/>
            <a:endCxn id="43012" idx="2"/>
          </p:cNvCxnSpPr>
          <p:nvPr/>
        </p:nvCxnSpPr>
        <p:spPr bwMode="auto">
          <a:xfrm>
            <a:off x="2605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027" name="AutoShape 19"/>
          <p:cNvCxnSpPr>
            <a:cxnSpLocks noChangeShapeType="1"/>
            <a:stCxn id="43013" idx="2"/>
            <a:endCxn id="43012" idx="6"/>
          </p:cNvCxnSpPr>
          <p:nvPr/>
        </p:nvCxnSpPr>
        <p:spPr bwMode="auto">
          <a:xfrm flipH="1">
            <a:off x="5272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028" name="AutoShape 20"/>
          <p:cNvCxnSpPr>
            <a:cxnSpLocks noChangeShapeType="1"/>
            <a:stCxn id="43012" idx="5"/>
            <a:endCxn id="43018" idx="1"/>
          </p:cNvCxnSpPr>
          <p:nvPr/>
        </p:nvCxnSpPr>
        <p:spPr bwMode="auto">
          <a:xfrm>
            <a:off x="5102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029" name="AutoShape 21"/>
          <p:cNvCxnSpPr>
            <a:cxnSpLocks noChangeShapeType="1"/>
            <a:stCxn id="43013" idx="3"/>
            <a:endCxn id="43018" idx="7"/>
          </p:cNvCxnSpPr>
          <p:nvPr/>
        </p:nvCxnSpPr>
        <p:spPr bwMode="auto">
          <a:xfrm flipH="1">
            <a:off x="647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030" name="AutoShape 22"/>
          <p:cNvCxnSpPr>
            <a:cxnSpLocks noChangeShapeType="1"/>
            <a:stCxn id="43013" idx="4"/>
            <a:endCxn id="43014" idx="0"/>
          </p:cNvCxnSpPr>
          <p:nvPr/>
        </p:nvCxnSpPr>
        <p:spPr bwMode="auto">
          <a:xfrm>
            <a:off x="7391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031" name="AutoShape 23"/>
          <p:cNvCxnSpPr>
            <a:cxnSpLocks noChangeShapeType="1"/>
            <a:stCxn id="43014" idx="2"/>
            <a:endCxn id="43015" idx="6"/>
          </p:cNvCxnSpPr>
          <p:nvPr/>
        </p:nvCxnSpPr>
        <p:spPr bwMode="auto">
          <a:xfrm flipH="1">
            <a:off x="5272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032" name="AutoShape 24"/>
          <p:cNvCxnSpPr>
            <a:cxnSpLocks noChangeShapeType="1"/>
            <a:stCxn id="43018" idx="3"/>
            <a:endCxn id="43015" idx="7"/>
          </p:cNvCxnSpPr>
          <p:nvPr/>
        </p:nvCxnSpPr>
        <p:spPr bwMode="auto">
          <a:xfrm flipH="1">
            <a:off x="5102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033" name="Line 25"/>
          <p:cNvSpPr>
            <a:spLocks noChangeShapeType="1"/>
          </p:cNvSpPr>
          <p:nvPr/>
        </p:nvSpPr>
        <p:spPr bwMode="auto">
          <a:xfrm>
            <a:off x="457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34" name="Text Box 26"/>
          <p:cNvSpPr txBox="1">
            <a:spLocks noChangeArrowheads="1"/>
          </p:cNvSpPr>
          <p:nvPr/>
        </p:nvSpPr>
        <p:spPr bwMode="auto"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552990" y="1969824"/>
            <a:ext cx="7371378" cy="3798133"/>
            <a:chOff x="552990" y="1969824"/>
            <a:chExt cx="7371378" cy="3798133"/>
          </a:xfrm>
        </p:grpSpPr>
        <p:sp>
          <p:nvSpPr>
            <p:cNvPr id="30" name="TextBox 29"/>
            <p:cNvSpPr txBox="1"/>
            <p:nvPr/>
          </p:nvSpPr>
          <p:spPr>
            <a:xfrm>
              <a:off x="1802757" y="1969824"/>
              <a:ext cx="931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52990" y="3179928"/>
              <a:ext cx="471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22650" y="5398625"/>
              <a:ext cx="1200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03761" y="2018146"/>
              <a:ext cx="7683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17657" y="5308981"/>
              <a:ext cx="1541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042427" y="4130584"/>
              <a:ext cx="569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290884" y="5387396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96550" y="2041199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567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DFS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4035" name="Oval 3"/>
          <p:cNvSpPr>
            <a:spLocks noChangeArrowheads="1"/>
          </p:cNvSpPr>
          <p:nvPr/>
        </p:nvSpPr>
        <p:spPr bwMode="auto">
          <a:xfrm>
            <a:off x="1524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 |12</a:t>
            </a:r>
          </a:p>
        </p:txBody>
      </p:sp>
      <p:sp>
        <p:nvSpPr>
          <p:cNvPr id="44036" name="Oval 4"/>
          <p:cNvSpPr>
            <a:spLocks noChangeArrowheads="1"/>
          </p:cNvSpPr>
          <p:nvPr/>
        </p:nvSpPr>
        <p:spPr bwMode="auto">
          <a:xfrm>
            <a:off x="4191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8 |11</a:t>
            </a:r>
          </a:p>
        </p:txBody>
      </p:sp>
      <p:sp>
        <p:nvSpPr>
          <p:cNvPr id="44037" name="Oval 5"/>
          <p:cNvSpPr>
            <a:spLocks noChangeArrowheads="1"/>
          </p:cNvSpPr>
          <p:nvPr/>
        </p:nvSpPr>
        <p:spPr bwMode="auto">
          <a:xfrm>
            <a:off x="6858000" y="2362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13|  </a:t>
            </a:r>
          </a:p>
        </p:txBody>
      </p:sp>
      <p:sp>
        <p:nvSpPr>
          <p:cNvPr id="44038" name="Oval 6"/>
          <p:cNvSpPr>
            <a:spLocks noChangeArrowheads="1"/>
          </p:cNvSpPr>
          <p:nvPr/>
        </p:nvSpPr>
        <p:spPr bwMode="auto">
          <a:xfrm>
            <a:off x="6858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44039" name="Oval 7"/>
          <p:cNvSpPr>
            <a:spLocks noChangeArrowheads="1"/>
          </p:cNvSpPr>
          <p:nvPr/>
        </p:nvSpPr>
        <p:spPr bwMode="auto">
          <a:xfrm>
            <a:off x="4191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5 | 6</a:t>
            </a:r>
          </a:p>
        </p:txBody>
      </p:sp>
      <p:sp>
        <p:nvSpPr>
          <p:cNvPr id="44040" name="Oval 8"/>
          <p:cNvSpPr>
            <a:spLocks noChangeArrowheads="1"/>
          </p:cNvSpPr>
          <p:nvPr/>
        </p:nvSpPr>
        <p:spPr bwMode="auto">
          <a:xfrm>
            <a:off x="1524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3 | 4</a:t>
            </a:r>
          </a:p>
        </p:txBody>
      </p:sp>
      <p:sp>
        <p:nvSpPr>
          <p:cNvPr id="44041" name="Oval 9"/>
          <p:cNvSpPr>
            <a:spLocks noChangeArrowheads="1"/>
          </p:cNvSpPr>
          <p:nvPr/>
        </p:nvSpPr>
        <p:spPr bwMode="auto">
          <a:xfrm>
            <a:off x="228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2 | 7</a:t>
            </a:r>
          </a:p>
        </p:txBody>
      </p:sp>
      <p:sp>
        <p:nvSpPr>
          <p:cNvPr id="44042" name="Oval 10"/>
          <p:cNvSpPr>
            <a:spLocks noChangeArrowheads="1"/>
          </p:cNvSpPr>
          <p:nvPr/>
        </p:nvSpPr>
        <p:spPr bwMode="auto">
          <a:xfrm>
            <a:off x="5562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9 |10</a:t>
            </a:r>
          </a:p>
        </p:txBody>
      </p:sp>
      <p:cxnSp>
        <p:nvCxnSpPr>
          <p:cNvPr id="44043" name="AutoShape 11"/>
          <p:cNvCxnSpPr>
            <a:cxnSpLocks noChangeShapeType="1"/>
            <a:stCxn id="44035" idx="3"/>
            <a:endCxn id="44041" idx="7"/>
          </p:cNvCxnSpPr>
          <p:nvPr/>
        </p:nvCxnSpPr>
        <p:spPr bwMode="auto">
          <a:xfrm flipH="1">
            <a:off x="1139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44" name="AutoShape 12"/>
          <p:cNvCxnSpPr>
            <a:cxnSpLocks noChangeShapeType="1"/>
            <a:stCxn id="44041" idx="5"/>
            <a:endCxn id="44040" idx="1"/>
          </p:cNvCxnSpPr>
          <p:nvPr/>
        </p:nvCxnSpPr>
        <p:spPr bwMode="auto">
          <a:xfrm>
            <a:off x="1139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45" name="AutoShape 13"/>
          <p:cNvCxnSpPr>
            <a:cxnSpLocks noChangeShapeType="1"/>
            <a:stCxn id="44041" idx="6"/>
            <a:endCxn id="44039" idx="1"/>
          </p:cNvCxnSpPr>
          <p:nvPr/>
        </p:nvCxnSpPr>
        <p:spPr bwMode="auto">
          <a:xfrm>
            <a:off x="1309688" y="3848100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46" name="AutoShape 14"/>
          <p:cNvCxnSpPr>
            <a:cxnSpLocks noChangeShapeType="1"/>
            <a:stCxn id="44039" idx="2"/>
            <a:endCxn id="44040" idx="6"/>
          </p:cNvCxnSpPr>
          <p:nvPr/>
        </p:nvCxnSpPr>
        <p:spPr bwMode="auto">
          <a:xfrm flipH="1">
            <a:off x="2605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47" name="AutoShape 15"/>
          <p:cNvCxnSpPr>
            <a:cxnSpLocks noChangeShapeType="1"/>
            <a:stCxn id="44040" idx="0"/>
            <a:endCxn id="44035" idx="4"/>
          </p:cNvCxnSpPr>
          <p:nvPr/>
        </p:nvCxnSpPr>
        <p:spPr bwMode="auto">
          <a:xfrm flipV="1">
            <a:off x="2057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48" name="AutoShape 16"/>
          <p:cNvCxnSpPr>
            <a:cxnSpLocks noChangeShapeType="1"/>
            <a:stCxn id="44035" idx="5"/>
            <a:endCxn id="44039" idx="1"/>
          </p:cNvCxnSpPr>
          <p:nvPr/>
        </p:nvCxnSpPr>
        <p:spPr bwMode="auto">
          <a:xfrm>
            <a:off x="2435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49" name="AutoShape 17"/>
          <p:cNvCxnSpPr>
            <a:cxnSpLocks noChangeShapeType="1"/>
            <a:stCxn id="44036" idx="4"/>
            <a:endCxn id="44039" idx="0"/>
          </p:cNvCxnSpPr>
          <p:nvPr/>
        </p:nvCxnSpPr>
        <p:spPr bwMode="auto">
          <a:xfrm>
            <a:off x="4724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50" name="AutoShape 18"/>
          <p:cNvCxnSpPr>
            <a:cxnSpLocks noChangeShapeType="1"/>
            <a:stCxn id="44035" idx="6"/>
            <a:endCxn id="44036" idx="2"/>
          </p:cNvCxnSpPr>
          <p:nvPr/>
        </p:nvCxnSpPr>
        <p:spPr bwMode="auto">
          <a:xfrm>
            <a:off x="2605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51" name="AutoShape 19"/>
          <p:cNvCxnSpPr>
            <a:cxnSpLocks noChangeShapeType="1"/>
            <a:stCxn id="44037" idx="2"/>
            <a:endCxn id="44036" idx="6"/>
          </p:cNvCxnSpPr>
          <p:nvPr/>
        </p:nvCxnSpPr>
        <p:spPr bwMode="auto">
          <a:xfrm flipH="1">
            <a:off x="5272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52" name="AutoShape 20"/>
          <p:cNvCxnSpPr>
            <a:cxnSpLocks noChangeShapeType="1"/>
            <a:stCxn id="44036" idx="5"/>
            <a:endCxn id="44042" idx="1"/>
          </p:cNvCxnSpPr>
          <p:nvPr/>
        </p:nvCxnSpPr>
        <p:spPr bwMode="auto">
          <a:xfrm>
            <a:off x="5102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53" name="AutoShape 21"/>
          <p:cNvCxnSpPr>
            <a:cxnSpLocks noChangeShapeType="1"/>
            <a:stCxn id="44037" idx="3"/>
            <a:endCxn id="44042" idx="7"/>
          </p:cNvCxnSpPr>
          <p:nvPr/>
        </p:nvCxnSpPr>
        <p:spPr bwMode="auto">
          <a:xfrm flipH="1">
            <a:off x="647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54" name="AutoShape 22"/>
          <p:cNvCxnSpPr>
            <a:cxnSpLocks noChangeShapeType="1"/>
            <a:stCxn id="44037" idx="4"/>
            <a:endCxn id="44038" idx="0"/>
          </p:cNvCxnSpPr>
          <p:nvPr/>
        </p:nvCxnSpPr>
        <p:spPr bwMode="auto">
          <a:xfrm>
            <a:off x="7391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55" name="AutoShape 23"/>
          <p:cNvCxnSpPr>
            <a:cxnSpLocks noChangeShapeType="1"/>
            <a:stCxn id="44038" idx="2"/>
            <a:endCxn id="44039" idx="6"/>
          </p:cNvCxnSpPr>
          <p:nvPr/>
        </p:nvCxnSpPr>
        <p:spPr bwMode="auto">
          <a:xfrm flipH="1">
            <a:off x="5272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56" name="AutoShape 24"/>
          <p:cNvCxnSpPr>
            <a:cxnSpLocks noChangeShapeType="1"/>
            <a:stCxn id="44042" idx="3"/>
            <a:endCxn id="44039" idx="7"/>
          </p:cNvCxnSpPr>
          <p:nvPr/>
        </p:nvCxnSpPr>
        <p:spPr bwMode="auto">
          <a:xfrm flipH="1">
            <a:off x="5102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057" name="Line 25"/>
          <p:cNvSpPr>
            <a:spLocks noChangeShapeType="1"/>
          </p:cNvSpPr>
          <p:nvPr/>
        </p:nvSpPr>
        <p:spPr bwMode="auto">
          <a:xfrm>
            <a:off x="457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58" name="Text Box 26"/>
          <p:cNvSpPr txBox="1">
            <a:spLocks noChangeArrowheads="1"/>
          </p:cNvSpPr>
          <p:nvPr/>
        </p:nvSpPr>
        <p:spPr bwMode="auto"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552990" y="1969824"/>
            <a:ext cx="7371378" cy="3798133"/>
            <a:chOff x="552990" y="1969824"/>
            <a:chExt cx="7371378" cy="3798133"/>
          </a:xfrm>
        </p:grpSpPr>
        <p:sp>
          <p:nvSpPr>
            <p:cNvPr id="30" name="TextBox 29"/>
            <p:cNvSpPr txBox="1"/>
            <p:nvPr/>
          </p:nvSpPr>
          <p:spPr>
            <a:xfrm>
              <a:off x="1802757" y="1969824"/>
              <a:ext cx="931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52990" y="3179928"/>
              <a:ext cx="471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22650" y="5398625"/>
              <a:ext cx="1200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03761" y="2018146"/>
              <a:ext cx="7683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17657" y="5308981"/>
              <a:ext cx="1541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042427" y="4130584"/>
              <a:ext cx="569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290884" y="5387396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96550" y="2041199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7312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DFS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059" name="Oval 3"/>
          <p:cNvSpPr>
            <a:spLocks noChangeArrowheads="1"/>
          </p:cNvSpPr>
          <p:nvPr/>
        </p:nvSpPr>
        <p:spPr bwMode="auto">
          <a:xfrm>
            <a:off x="1524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 |12</a:t>
            </a:r>
          </a:p>
        </p:txBody>
      </p:sp>
      <p:sp>
        <p:nvSpPr>
          <p:cNvPr id="45060" name="Oval 4"/>
          <p:cNvSpPr>
            <a:spLocks noChangeArrowheads="1"/>
          </p:cNvSpPr>
          <p:nvPr/>
        </p:nvSpPr>
        <p:spPr bwMode="auto">
          <a:xfrm>
            <a:off x="4191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8 |11</a:t>
            </a:r>
          </a:p>
        </p:txBody>
      </p:sp>
      <p:sp>
        <p:nvSpPr>
          <p:cNvPr id="45061" name="Oval 5"/>
          <p:cNvSpPr>
            <a:spLocks noChangeArrowheads="1"/>
          </p:cNvSpPr>
          <p:nvPr/>
        </p:nvSpPr>
        <p:spPr bwMode="auto">
          <a:xfrm>
            <a:off x="6858000" y="2362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13|  </a:t>
            </a:r>
          </a:p>
        </p:txBody>
      </p:sp>
      <p:sp>
        <p:nvSpPr>
          <p:cNvPr id="45062" name="Oval 6"/>
          <p:cNvSpPr>
            <a:spLocks noChangeArrowheads="1"/>
          </p:cNvSpPr>
          <p:nvPr/>
        </p:nvSpPr>
        <p:spPr bwMode="auto">
          <a:xfrm>
            <a:off x="6858000" y="47244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14|  </a:t>
            </a:r>
          </a:p>
        </p:txBody>
      </p:sp>
      <p:sp>
        <p:nvSpPr>
          <p:cNvPr id="45063" name="Oval 7"/>
          <p:cNvSpPr>
            <a:spLocks noChangeArrowheads="1"/>
          </p:cNvSpPr>
          <p:nvPr/>
        </p:nvSpPr>
        <p:spPr bwMode="auto">
          <a:xfrm>
            <a:off x="4191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5 | 6</a:t>
            </a:r>
          </a:p>
        </p:txBody>
      </p:sp>
      <p:sp>
        <p:nvSpPr>
          <p:cNvPr id="45064" name="Oval 8"/>
          <p:cNvSpPr>
            <a:spLocks noChangeArrowheads="1"/>
          </p:cNvSpPr>
          <p:nvPr/>
        </p:nvSpPr>
        <p:spPr bwMode="auto">
          <a:xfrm>
            <a:off x="1524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3 | 4</a:t>
            </a:r>
          </a:p>
        </p:txBody>
      </p:sp>
      <p:sp>
        <p:nvSpPr>
          <p:cNvPr id="45065" name="Oval 9"/>
          <p:cNvSpPr>
            <a:spLocks noChangeArrowheads="1"/>
          </p:cNvSpPr>
          <p:nvPr/>
        </p:nvSpPr>
        <p:spPr bwMode="auto">
          <a:xfrm>
            <a:off x="228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2 | 7</a:t>
            </a:r>
          </a:p>
        </p:txBody>
      </p:sp>
      <p:sp>
        <p:nvSpPr>
          <p:cNvPr id="45066" name="Oval 10"/>
          <p:cNvSpPr>
            <a:spLocks noChangeArrowheads="1"/>
          </p:cNvSpPr>
          <p:nvPr/>
        </p:nvSpPr>
        <p:spPr bwMode="auto">
          <a:xfrm>
            <a:off x="5562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9 |10</a:t>
            </a:r>
          </a:p>
        </p:txBody>
      </p:sp>
      <p:cxnSp>
        <p:nvCxnSpPr>
          <p:cNvPr id="45067" name="AutoShape 11"/>
          <p:cNvCxnSpPr>
            <a:cxnSpLocks noChangeShapeType="1"/>
            <a:stCxn id="45059" idx="3"/>
            <a:endCxn id="45065" idx="7"/>
          </p:cNvCxnSpPr>
          <p:nvPr/>
        </p:nvCxnSpPr>
        <p:spPr bwMode="auto">
          <a:xfrm flipH="1">
            <a:off x="1139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68" name="AutoShape 12"/>
          <p:cNvCxnSpPr>
            <a:cxnSpLocks noChangeShapeType="1"/>
            <a:stCxn id="45065" idx="5"/>
            <a:endCxn id="45064" idx="1"/>
          </p:cNvCxnSpPr>
          <p:nvPr/>
        </p:nvCxnSpPr>
        <p:spPr bwMode="auto">
          <a:xfrm>
            <a:off x="1139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69" name="AutoShape 13"/>
          <p:cNvCxnSpPr>
            <a:cxnSpLocks noChangeShapeType="1"/>
            <a:stCxn id="45065" idx="6"/>
            <a:endCxn id="45063" idx="1"/>
          </p:cNvCxnSpPr>
          <p:nvPr/>
        </p:nvCxnSpPr>
        <p:spPr bwMode="auto">
          <a:xfrm>
            <a:off x="1309688" y="3848100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70" name="AutoShape 14"/>
          <p:cNvCxnSpPr>
            <a:cxnSpLocks noChangeShapeType="1"/>
            <a:stCxn id="45063" idx="2"/>
            <a:endCxn id="45064" idx="6"/>
          </p:cNvCxnSpPr>
          <p:nvPr/>
        </p:nvCxnSpPr>
        <p:spPr bwMode="auto">
          <a:xfrm flipH="1">
            <a:off x="2605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71" name="AutoShape 15"/>
          <p:cNvCxnSpPr>
            <a:cxnSpLocks noChangeShapeType="1"/>
            <a:stCxn id="45064" idx="0"/>
            <a:endCxn id="45059" idx="4"/>
          </p:cNvCxnSpPr>
          <p:nvPr/>
        </p:nvCxnSpPr>
        <p:spPr bwMode="auto">
          <a:xfrm flipV="1">
            <a:off x="2057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72" name="AutoShape 16"/>
          <p:cNvCxnSpPr>
            <a:cxnSpLocks noChangeShapeType="1"/>
            <a:stCxn id="45059" idx="5"/>
            <a:endCxn id="45063" idx="1"/>
          </p:cNvCxnSpPr>
          <p:nvPr/>
        </p:nvCxnSpPr>
        <p:spPr bwMode="auto">
          <a:xfrm>
            <a:off x="2435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73" name="AutoShape 17"/>
          <p:cNvCxnSpPr>
            <a:cxnSpLocks noChangeShapeType="1"/>
            <a:stCxn id="45060" idx="4"/>
            <a:endCxn id="45063" idx="0"/>
          </p:cNvCxnSpPr>
          <p:nvPr/>
        </p:nvCxnSpPr>
        <p:spPr bwMode="auto">
          <a:xfrm>
            <a:off x="4724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74" name="AutoShape 18"/>
          <p:cNvCxnSpPr>
            <a:cxnSpLocks noChangeShapeType="1"/>
            <a:stCxn id="45059" idx="6"/>
            <a:endCxn id="45060" idx="2"/>
          </p:cNvCxnSpPr>
          <p:nvPr/>
        </p:nvCxnSpPr>
        <p:spPr bwMode="auto">
          <a:xfrm>
            <a:off x="2605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75" name="AutoShape 19"/>
          <p:cNvCxnSpPr>
            <a:cxnSpLocks noChangeShapeType="1"/>
            <a:stCxn id="45061" idx="2"/>
            <a:endCxn id="45060" idx="6"/>
          </p:cNvCxnSpPr>
          <p:nvPr/>
        </p:nvCxnSpPr>
        <p:spPr bwMode="auto">
          <a:xfrm flipH="1">
            <a:off x="5272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76" name="AutoShape 20"/>
          <p:cNvCxnSpPr>
            <a:cxnSpLocks noChangeShapeType="1"/>
            <a:stCxn id="45060" idx="5"/>
            <a:endCxn id="45066" idx="1"/>
          </p:cNvCxnSpPr>
          <p:nvPr/>
        </p:nvCxnSpPr>
        <p:spPr bwMode="auto">
          <a:xfrm>
            <a:off x="5102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77" name="AutoShape 21"/>
          <p:cNvCxnSpPr>
            <a:cxnSpLocks noChangeShapeType="1"/>
            <a:stCxn id="45061" idx="3"/>
            <a:endCxn id="45066" idx="7"/>
          </p:cNvCxnSpPr>
          <p:nvPr/>
        </p:nvCxnSpPr>
        <p:spPr bwMode="auto">
          <a:xfrm flipH="1">
            <a:off x="647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78" name="AutoShape 22"/>
          <p:cNvCxnSpPr>
            <a:cxnSpLocks noChangeShapeType="1"/>
            <a:stCxn id="45061" idx="4"/>
            <a:endCxn id="45062" idx="0"/>
          </p:cNvCxnSpPr>
          <p:nvPr/>
        </p:nvCxnSpPr>
        <p:spPr bwMode="auto">
          <a:xfrm>
            <a:off x="7391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79" name="AutoShape 23"/>
          <p:cNvCxnSpPr>
            <a:cxnSpLocks noChangeShapeType="1"/>
            <a:stCxn id="45062" idx="2"/>
            <a:endCxn id="45063" idx="6"/>
          </p:cNvCxnSpPr>
          <p:nvPr/>
        </p:nvCxnSpPr>
        <p:spPr bwMode="auto">
          <a:xfrm flipH="1">
            <a:off x="5272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80" name="AutoShape 24"/>
          <p:cNvCxnSpPr>
            <a:cxnSpLocks noChangeShapeType="1"/>
            <a:stCxn id="45066" idx="3"/>
            <a:endCxn id="45063" idx="7"/>
          </p:cNvCxnSpPr>
          <p:nvPr/>
        </p:nvCxnSpPr>
        <p:spPr bwMode="auto">
          <a:xfrm flipH="1">
            <a:off x="5102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081" name="Line 25"/>
          <p:cNvSpPr>
            <a:spLocks noChangeShapeType="1"/>
          </p:cNvSpPr>
          <p:nvPr/>
        </p:nvSpPr>
        <p:spPr bwMode="auto">
          <a:xfrm>
            <a:off x="457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82" name="Text Box 26"/>
          <p:cNvSpPr txBox="1">
            <a:spLocks noChangeArrowheads="1"/>
          </p:cNvSpPr>
          <p:nvPr/>
        </p:nvSpPr>
        <p:spPr bwMode="auto"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552990" y="1969824"/>
            <a:ext cx="7371378" cy="3798133"/>
            <a:chOff x="552990" y="1969824"/>
            <a:chExt cx="7371378" cy="3798133"/>
          </a:xfrm>
        </p:grpSpPr>
        <p:sp>
          <p:nvSpPr>
            <p:cNvPr id="30" name="TextBox 29"/>
            <p:cNvSpPr txBox="1"/>
            <p:nvPr/>
          </p:nvSpPr>
          <p:spPr>
            <a:xfrm>
              <a:off x="1802757" y="1969824"/>
              <a:ext cx="931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52990" y="3179928"/>
              <a:ext cx="471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22650" y="5398625"/>
              <a:ext cx="1200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03761" y="2018146"/>
              <a:ext cx="7683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17657" y="5308981"/>
              <a:ext cx="1541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042427" y="4130584"/>
              <a:ext cx="569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290884" y="5387396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96550" y="2041199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9025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DFS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6083" name="Oval 3"/>
          <p:cNvSpPr>
            <a:spLocks noChangeArrowheads="1"/>
          </p:cNvSpPr>
          <p:nvPr/>
        </p:nvSpPr>
        <p:spPr bwMode="auto">
          <a:xfrm>
            <a:off x="1524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 |12</a:t>
            </a:r>
          </a:p>
        </p:txBody>
      </p:sp>
      <p:sp>
        <p:nvSpPr>
          <p:cNvPr id="46084" name="Oval 4"/>
          <p:cNvSpPr>
            <a:spLocks noChangeArrowheads="1"/>
          </p:cNvSpPr>
          <p:nvPr/>
        </p:nvSpPr>
        <p:spPr bwMode="auto">
          <a:xfrm>
            <a:off x="4191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8 |11</a:t>
            </a:r>
          </a:p>
        </p:txBody>
      </p:sp>
      <p:sp>
        <p:nvSpPr>
          <p:cNvPr id="46085" name="Oval 5"/>
          <p:cNvSpPr>
            <a:spLocks noChangeArrowheads="1"/>
          </p:cNvSpPr>
          <p:nvPr/>
        </p:nvSpPr>
        <p:spPr bwMode="auto">
          <a:xfrm>
            <a:off x="6858000" y="2362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13|  </a:t>
            </a:r>
          </a:p>
        </p:txBody>
      </p:sp>
      <p:sp>
        <p:nvSpPr>
          <p:cNvPr id="46086" name="Oval 6"/>
          <p:cNvSpPr>
            <a:spLocks noChangeArrowheads="1"/>
          </p:cNvSpPr>
          <p:nvPr/>
        </p:nvSpPr>
        <p:spPr bwMode="auto">
          <a:xfrm>
            <a:off x="6858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14|15</a:t>
            </a:r>
          </a:p>
        </p:txBody>
      </p:sp>
      <p:sp>
        <p:nvSpPr>
          <p:cNvPr id="46087" name="Oval 7"/>
          <p:cNvSpPr>
            <a:spLocks noChangeArrowheads="1"/>
          </p:cNvSpPr>
          <p:nvPr/>
        </p:nvSpPr>
        <p:spPr bwMode="auto">
          <a:xfrm>
            <a:off x="4191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5 | 6</a:t>
            </a:r>
          </a:p>
        </p:txBody>
      </p:sp>
      <p:sp>
        <p:nvSpPr>
          <p:cNvPr id="46088" name="Oval 8"/>
          <p:cNvSpPr>
            <a:spLocks noChangeArrowheads="1"/>
          </p:cNvSpPr>
          <p:nvPr/>
        </p:nvSpPr>
        <p:spPr bwMode="auto">
          <a:xfrm>
            <a:off x="1524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3 | 4</a:t>
            </a:r>
          </a:p>
        </p:txBody>
      </p:sp>
      <p:sp>
        <p:nvSpPr>
          <p:cNvPr id="46089" name="Oval 9"/>
          <p:cNvSpPr>
            <a:spLocks noChangeArrowheads="1"/>
          </p:cNvSpPr>
          <p:nvPr/>
        </p:nvSpPr>
        <p:spPr bwMode="auto">
          <a:xfrm>
            <a:off x="228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2 | 7</a:t>
            </a:r>
          </a:p>
        </p:txBody>
      </p:sp>
      <p:sp>
        <p:nvSpPr>
          <p:cNvPr id="46090" name="Oval 10"/>
          <p:cNvSpPr>
            <a:spLocks noChangeArrowheads="1"/>
          </p:cNvSpPr>
          <p:nvPr/>
        </p:nvSpPr>
        <p:spPr bwMode="auto">
          <a:xfrm>
            <a:off x="5562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9 |10</a:t>
            </a:r>
          </a:p>
        </p:txBody>
      </p:sp>
      <p:cxnSp>
        <p:nvCxnSpPr>
          <p:cNvPr id="46091" name="AutoShape 11"/>
          <p:cNvCxnSpPr>
            <a:cxnSpLocks noChangeShapeType="1"/>
            <a:stCxn id="46083" idx="3"/>
            <a:endCxn id="46089" idx="7"/>
          </p:cNvCxnSpPr>
          <p:nvPr/>
        </p:nvCxnSpPr>
        <p:spPr bwMode="auto">
          <a:xfrm flipH="1">
            <a:off x="1139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92" name="AutoShape 12"/>
          <p:cNvCxnSpPr>
            <a:cxnSpLocks noChangeShapeType="1"/>
            <a:stCxn id="46089" idx="5"/>
            <a:endCxn id="46088" idx="1"/>
          </p:cNvCxnSpPr>
          <p:nvPr/>
        </p:nvCxnSpPr>
        <p:spPr bwMode="auto">
          <a:xfrm>
            <a:off x="1139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93" name="AutoShape 13"/>
          <p:cNvCxnSpPr>
            <a:cxnSpLocks noChangeShapeType="1"/>
            <a:stCxn id="46089" idx="6"/>
            <a:endCxn id="46087" idx="1"/>
          </p:cNvCxnSpPr>
          <p:nvPr/>
        </p:nvCxnSpPr>
        <p:spPr bwMode="auto">
          <a:xfrm>
            <a:off x="1309688" y="3848100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94" name="AutoShape 14"/>
          <p:cNvCxnSpPr>
            <a:cxnSpLocks noChangeShapeType="1"/>
            <a:stCxn id="46087" idx="2"/>
            <a:endCxn id="46088" idx="6"/>
          </p:cNvCxnSpPr>
          <p:nvPr/>
        </p:nvCxnSpPr>
        <p:spPr bwMode="auto">
          <a:xfrm flipH="1">
            <a:off x="2605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95" name="AutoShape 15"/>
          <p:cNvCxnSpPr>
            <a:cxnSpLocks noChangeShapeType="1"/>
            <a:stCxn id="46088" idx="0"/>
            <a:endCxn id="46083" idx="4"/>
          </p:cNvCxnSpPr>
          <p:nvPr/>
        </p:nvCxnSpPr>
        <p:spPr bwMode="auto">
          <a:xfrm flipV="1">
            <a:off x="2057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96" name="AutoShape 16"/>
          <p:cNvCxnSpPr>
            <a:cxnSpLocks noChangeShapeType="1"/>
            <a:stCxn id="46083" idx="5"/>
            <a:endCxn id="46087" idx="1"/>
          </p:cNvCxnSpPr>
          <p:nvPr/>
        </p:nvCxnSpPr>
        <p:spPr bwMode="auto">
          <a:xfrm>
            <a:off x="2435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97" name="AutoShape 17"/>
          <p:cNvCxnSpPr>
            <a:cxnSpLocks noChangeShapeType="1"/>
            <a:stCxn id="46084" idx="4"/>
            <a:endCxn id="46087" idx="0"/>
          </p:cNvCxnSpPr>
          <p:nvPr/>
        </p:nvCxnSpPr>
        <p:spPr bwMode="auto">
          <a:xfrm>
            <a:off x="4724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98" name="AutoShape 18"/>
          <p:cNvCxnSpPr>
            <a:cxnSpLocks noChangeShapeType="1"/>
            <a:stCxn id="46083" idx="6"/>
            <a:endCxn id="46084" idx="2"/>
          </p:cNvCxnSpPr>
          <p:nvPr/>
        </p:nvCxnSpPr>
        <p:spPr bwMode="auto">
          <a:xfrm>
            <a:off x="2605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99" name="AutoShape 19"/>
          <p:cNvCxnSpPr>
            <a:cxnSpLocks noChangeShapeType="1"/>
            <a:stCxn id="46085" idx="2"/>
            <a:endCxn id="46084" idx="6"/>
          </p:cNvCxnSpPr>
          <p:nvPr/>
        </p:nvCxnSpPr>
        <p:spPr bwMode="auto">
          <a:xfrm flipH="1">
            <a:off x="5272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00" name="AutoShape 20"/>
          <p:cNvCxnSpPr>
            <a:cxnSpLocks noChangeShapeType="1"/>
            <a:stCxn id="46084" idx="5"/>
            <a:endCxn id="46090" idx="1"/>
          </p:cNvCxnSpPr>
          <p:nvPr/>
        </p:nvCxnSpPr>
        <p:spPr bwMode="auto">
          <a:xfrm>
            <a:off x="5102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01" name="AutoShape 21"/>
          <p:cNvCxnSpPr>
            <a:cxnSpLocks noChangeShapeType="1"/>
            <a:stCxn id="46085" idx="3"/>
            <a:endCxn id="46090" idx="7"/>
          </p:cNvCxnSpPr>
          <p:nvPr/>
        </p:nvCxnSpPr>
        <p:spPr bwMode="auto">
          <a:xfrm flipH="1">
            <a:off x="647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02" name="AutoShape 22"/>
          <p:cNvCxnSpPr>
            <a:cxnSpLocks noChangeShapeType="1"/>
            <a:stCxn id="46085" idx="4"/>
            <a:endCxn id="46086" idx="0"/>
          </p:cNvCxnSpPr>
          <p:nvPr/>
        </p:nvCxnSpPr>
        <p:spPr bwMode="auto">
          <a:xfrm>
            <a:off x="7391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03" name="AutoShape 23"/>
          <p:cNvCxnSpPr>
            <a:cxnSpLocks noChangeShapeType="1"/>
            <a:stCxn id="46086" idx="2"/>
            <a:endCxn id="46087" idx="6"/>
          </p:cNvCxnSpPr>
          <p:nvPr/>
        </p:nvCxnSpPr>
        <p:spPr bwMode="auto">
          <a:xfrm flipH="1">
            <a:off x="5272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04" name="AutoShape 24"/>
          <p:cNvCxnSpPr>
            <a:cxnSpLocks noChangeShapeType="1"/>
            <a:stCxn id="46090" idx="3"/>
            <a:endCxn id="46087" idx="7"/>
          </p:cNvCxnSpPr>
          <p:nvPr/>
        </p:nvCxnSpPr>
        <p:spPr bwMode="auto">
          <a:xfrm flipH="1">
            <a:off x="5102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05" name="Line 25"/>
          <p:cNvSpPr>
            <a:spLocks noChangeShapeType="1"/>
          </p:cNvSpPr>
          <p:nvPr/>
        </p:nvSpPr>
        <p:spPr bwMode="auto">
          <a:xfrm>
            <a:off x="457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106" name="Text Box 26"/>
          <p:cNvSpPr txBox="1">
            <a:spLocks noChangeArrowheads="1"/>
          </p:cNvSpPr>
          <p:nvPr/>
        </p:nvSpPr>
        <p:spPr bwMode="auto"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552990" y="1969824"/>
            <a:ext cx="7371378" cy="3798133"/>
            <a:chOff x="552990" y="1969824"/>
            <a:chExt cx="7371378" cy="3798133"/>
          </a:xfrm>
        </p:grpSpPr>
        <p:sp>
          <p:nvSpPr>
            <p:cNvPr id="30" name="TextBox 29"/>
            <p:cNvSpPr txBox="1"/>
            <p:nvPr/>
          </p:nvSpPr>
          <p:spPr>
            <a:xfrm>
              <a:off x="1802757" y="1969824"/>
              <a:ext cx="931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52990" y="3179928"/>
              <a:ext cx="471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22650" y="5398625"/>
              <a:ext cx="1200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03761" y="2018146"/>
              <a:ext cx="7683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17657" y="5308981"/>
              <a:ext cx="1541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042427" y="4130584"/>
              <a:ext cx="569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290884" y="5387396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96550" y="2041199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6956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DFS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7107" name="Oval 3"/>
          <p:cNvSpPr>
            <a:spLocks noChangeArrowheads="1"/>
          </p:cNvSpPr>
          <p:nvPr/>
        </p:nvSpPr>
        <p:spPr bwMode="auto">
          <a:xfrm>
            <a:off x="1524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 |12</a:t>
            </a:r>
          </a:p>
        </p:txBody>
      </p:sp>
      <p:sp>
        <p:nvSpPr>
          <p:cNvPr id="47108" name="Oval 4"/>
          <p:cNvSpPr>
            <a:spLocks noChangeArrowheads="1"/>
          </p:cNvSpPr>
          <p:nvPr/>
        </p:nvSpPr>
        <p:spPr bwMode="auto">
          <a:xfrm>
            <a:off x="4191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8 |11</a:t>
            </a:r>
          </a:p>
        </p:txBody>
      </p:sp>
      <p:sp>
        <p:nvSpPr>
          <p:cNvPr id="47109" name="Oval 5"/>
          <p:cNvSpPr>
            <a:spLocks noChangeArrowheads="1"/>
          </p:cNvSpPr>
          <p:nvPr/>
        </p:nvSpPr>
        <p:spPr bwMode="auto">
          <a:xfrm>
            <a:off x="6858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13|16</a:t>
            </a:r>
          </a:p>
        </p:txBody>
      </p:sp>
      <p:sp>
        <p:nvSpPr>
          <p:cNvPr id="47110" name="Oval 6"/>
          <p:cNvSpPr>
            <a:spLocks noChangeArrowheads="1"/>
          </p:cNvSpPr>
          <p:nvPr/>
        </p:nvSpPr>
        <p:spPr bwMode="auto">
          <a:xfrm>
            <a:off x="6858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14|15</a:t>
            </a:r>
          </a:p>
        </p:txBody>
      </p:sp>
      <p:sp>
        <p:nvSpPr>
          <p:cNvPr id="47111" name="Oval 7"/>
          <p:cNvSpPr>
            <a:spLocks noChangeArrowheads="1"/>
          </p:cNvSpPr>
          <p:nvPr/>
        </p:nvSpPr>
        <p:spPr bwMode="auto">
          <a:xfrm>
            <a:off x="4191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5 | 6</a:t>
            </a:r>
          </a:p>
        </p:txBody>
      </p:sp>
      <p:sp>
        <p:nvSpPr>
          <p:cNvPr id="47112" name="Oval 8"/>
          <p:cNvSpPr>
            <a:spLocks noChangeArrowheads="1"/>
          </p:cNvSpPr>
          <p:nvPr/>
        </p:nvSpPr>
        <p:spPr bwMode="auto">
          <a:xfrm>
            <a:off x="1524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3 | 4</a:t>
            </a:r>
          </a:p>
        </p:txBody>
      </p:sp>
      <p:sp>
        <p:nvSpPr>
          <p:cNvPr id="47113" name="Oval 9"/>
          <p:cNvSpPr>
            <a:spLocks noChangeArrowheads="1"/>
          </p:cNvSpPr>
          <p:nvPr/>
        </p:nvSpPr>
        <p:spPr bwMode="auto">
          <a:xfrm>
            <a:off x="228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2 | 7</a:t>
            </a:r>
          </a:p>
        </p:txBody>
      </p:sp>
      <p:sp>
        <p:nvSpPr>
          <p:cNvPr id="47114" name="Oval 10"/>
          <p:cNvSpPr>
            <a:spLocks noChangeArrowheads="1"/>
          </p:cNvSpPr>
          <p:nvPr/>
        </p:nvSpPr>
        <p:spPr bwMode="auto">
          <a:xfrm>
            <a:off x="5562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9 |10</a:t>
            </a:r>
          </a:p>
        </p:txBody>
      </p:sp>
      <p:cxnSp>
        <p:nvCxnSpPr>
          <p:cNvPr id="47115" name="AutoShape 11"/>
          <p:cNvCxnSpPr>
            <a:cxnSpLocks noChangeShapeType="1"/>
            <a:stCxn id="47107" idx="3"/>
            <a:endCxn id="47113" idx="7"/>
          </p:cNvCxnSpPr>
          <p:nvPr/>
        </p:nvCxnSpPr>
        <p:spPr bwMode="auto">
          <a:xfrm flipH="1">
            <a:off x="1139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16" name="AutoShape 12"/>
          <p:cNvCxnSpPr>
            <a:cxnSpLocks noChangeShapeType="1"/>
            <a:stCxn id="47113" idx="5"/>
            <a:endCxn id="47112" idx="1"/>
          </p:cNvCxnSpPr>
          <p:nvPr/>
        </p:nvCxnSpPr>
        <p:spPr bwMode="auto">
          <a:xfrm>
            <a:off x="1139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17" name="AutoShape 13"/>
          <p:cNvCxnSpPr>
            <a:cxnSpLocks noChangeShapeType="1"/>
            <a:stCxn id="47113" idx="6"/>
            <a:endCxn id="47111" idx="1"/>
          </p:cNvCxnSpPr>
          <p:nvPr/>
        </p:nvCxnSpPr>
        <p:spPr bwMode="auto">
          <a:xfrm>
            <a:off x="1309688" y="3848100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18" name="AutoShape 14"/>
          <p:cNvCxnSpPr>
            <a:cxnSpLocks noChangeShapeType="1"/>
            <a:stCxn id="47111" idx="2"/>
            <a:endCxn id="47112" idx="6"/>
          </p:cNvCxnSpPr>
          <p:nvPr/>
        </p:nvCxnSpPr>
        <p:spPr bwMode="auto">
          <a:xfrm flipH="1">
            <a:off x="2605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19" name="AutoShape 15"/>
          <p:cNvCxnSpPr>
            <a:cxnSpLocks noChangeShapeType="1"/>
            <a:stCxn id="47112" idx="0"/>
            <a:endCxn id="47107" idx="4"/>
          </p:cNvCxnSpPr>
          <p:nvPr/>
        </p:nvCxnSpPr>
        <p:spPr bwMode="auto">
          <a:xfrm flipV="1">
            <a:off x="2057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20" name="AutoShape 16"/>
          <p:cNvCxnSpPr>
            <a:cxnSpLocks noChangeShapeType="1"/>
            <a:stCxn id="47107" idx="5"/>
            <a:endCxn id="47111" idx="1"/>
          </p:cNvCxnSpPr>
          <p:nvPr/>
        </p:nvCxnSpPr>
        <p:spPr bwMode="auto">
          <a:xfrm>
            <a:off x="2435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21" name="AutoShape 17"/>
          <p:cNvCxnSpPr>
            <a:cxnSpLocks noChangeShapeType="1"/>
            <a:stCxn id="47108" idx="4"/>
            <a:endCxn id="47111" idx="0"/>
          </p:cNvCxnSpPr>
          <p:nvPr/>
        </p:nvCxnSpPr>
        <p:spPr bwMode="auto">
          <a:xfrm>
            <a:off x="4724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22" name="AutoShape 18"/>
          <p:cNvCxnSpPr>
            <a:cxnSpLocks noChangeShapeType="1"/>
            <a:stCxn id="47107" idx="6"/>
            <a:endCxn id="47108" idx="2"/>
          </p:cNvCxnSpPr>
          <p:nvPr/>
        </p:nvCxnSpPr>
        <p:spPr bwMode="auto">
          <a:xfrm>
            <a:off x="2605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23" name="AutoShape 19"/>
          <p:cNvCxnSpPr>
            <a:cxnSpLocks noChangeShapeType="1"/>
            <a:stCxn id="47109" idx="2"/>
            <a:endCxn id="47108" idx="6"/>
          </p:cNvCxnSpPr>
          <p:nvPr/>
        </p:nvCxnSpPr>
        <p:spPr bwMode="auto">
          <a:xfrm flipH="1">
            <a:off x="5272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24" name="AutoShape 20"/>
          <p:cNvCxnSpPr>
            <a:cxnSpLocks noChangeShapeType="1"/>
            <a:stCxn id="47108" idx="5"/>
            <a:endCxn id="47114" idx="1"/>
          </p:cNvCxnSpPr>
          <p:nvPr/>
        </p:nvCxnSpPr>
        <p:spPr bwMode="auto">
          <a:xfrm>
            <a:off x="5102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25" name="AutoShape 21"/>
          <p:cNvCxnSpPr>
            <a:cxnSpLocks noChangeShapeType="1"/>
            <a:stCxn id="47109" idx="3"/>
            <a:endCxn id="47114" idx="7"/>
          </p:cNvCxnSpPr>
          <p:nvPr/>
        </p:nvCxnSpPr>
        <p:spPr bwMode="auto">
          <a:xfrm flipH="1">
            <a:off x="647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26" name="AutoShape 22"/>
          <p:cNvCxnSpPr>
            <a:cxnSpLocks noChangeShapeType="1"/>
            <a:stCxn id="47109" idx="4"/>
            <a:endCxn id="47110" idx="0"/>
          </p:cNvCxnSpPr>
          <p:nvPr/>
        </p:nvCxnSpPr>
        <p:spPr bwMode="auto">
          <a:xfrm>
            <a:off x="7391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27" name="AutoShape 23"/>
          <p:cNvCxnSpPr>
            <a:cxnSpLocks noChangeShapeType="1"/>
            <a:stCxn id="47110" idx="2"/>
            <a:endCxn id="47111" idx="6"/>
          </p:cNvCxnSpPr>
          <p:nvPr/>
        </p:nvCxnSpPr>
        <p:spPr bwMode="auto">
          <a:xfrm flipH="1">
            <a:off x="5272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28" name="AutoShape 24"/>
          <p:cNvCxnSpPr>
            <a:cxnSpLocks noChangeShapeType="1"/>
            <a:stCxn id="47114" idx="3"/>
            <a:endCxn id="47111" idx="7"/>
          </p:cNvCxnSpPr>
          <p:nvPr/>
        </p:nvCxnSpPr>
        <p:spPr bwMode="auto">
          <a:xfrm flipH="1">
            <a:off x="5102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129" name="Line 25"/>
          <p:cNvSpPr>
            <a:spLocks noChangeShapeType="1"/>
          </p:cNvSpPr>
          <p:nvPr/>
        </p:nvSpPr>
        <p:spPr bwMode="auto">
          <a:xfrm>
            <a:off x="457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30" name="Text Box 26"/>
          <p:cNvSpPr txBox="1">
            <a:spLocks noChangeArrowheads="1"/>
          </p:cNvSpPr>
          <p:nvPr/>
        </p:nvSpPr>
        <p:spPr bwMode="auto"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552990" y="1969824"/>
            <a:ext cx="7371378" cy="3798133"/>
            <a:chOff x="552990" y="1969824"/>
            <a:chExt cx="7371378" cy="3798133"/>
          </a:xfrm>
        </p:grpSpPr>
        <p:sp>
          <p:nvSpPr>
            <p:cNvPr id="30" name="TextBox 29"/>
            <p:cNvSpPr txBox="1"/>
            <p:nvPr/>
          </p:nvSpPr>
          <p:spPr>
            <a:xfrm>
              <a:off x="1802757" y="1969824"/>
              <a:ext cx="931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52990" y="3179928"/>
              <a:ext cx="471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22650" y="5398625"/>
              <a:ext cx="1200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03761" y="2018146"/>
              <a:ext cx="7683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17657" y="5308981"/>
              <a:ext cx="1541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042427" y="4130584"/>
              <a:ext cx="569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290884" y="5387396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96550" y="2041199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50715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0876"/>
            <a:ext cx="9144000" cy="457200"/>
          </a:xfrm>
        </p:spPr>
        <p:txBody>
          <a:bodyPr>
            <a:normAutofit/>
          </a:bodyPr>
          <a:lstStyle/>
          <a:p>
            <a:r>
              <a:rPr lang="en-US" altLang="en-US" sz="3200" b="1" dirty="0">
                <a:solidFill>
                  <a:schemeClr val="tx1"/>
                </a:solidFill>
              </a:rPr>
              <a:t>Running Time of DFS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609599" y="1392703"/>
            <a:ext cx="8323385" cy="5410200"/>
          </a:xfrm>
        </p:spPr>
        <p:txBody>
          <a:bodyPr/>
          <a:lstStyle/>
          <a:p>
            <a:pPr algn="just">
              <a:lnSpc>
                <a:spcPct val="90000"/>
              </a:lnSpc>
              <a:spcBef>
                <a:spcPts val="1800"/>
              </a:spcBef>
            </a:pPr>
            <a:r>
              <a:rPr lang="en-US" altLang="en-US" sz="2800" dirty="0"/>
              <a:t>initialization takes </a:t>
            </a:r>
            <a:r>
              <a:rPr lang="en-US" altLang="en-US" sz="2800" b="1" i="1" dirty="0"/>
              <a:t>O(V) </a:t>
            </a:r>
            <a:r>
              <a:rPr lang="en-US" altLang="en-US" sz="2800" dirty="0"/>
              <a:t>time</a:t>
            </a:r>
          </a:p>
          <a:p>
            <a:pPr algn="just">
              <a:lnSpc>
                <a:spcPct val="90000"/>
              </a:lnSpc>
              <a:spcBef>
                <a:spcPts val="1800"/>
              </a:spcBef>
            </a:pPr>
            <a:r>
              <a:rPr lang="en-US" altLang="en-US" sz="2800" dirty="0"/>
              <a:t>second for loop in non-recursive wrapper considers each vertex, so </a:t>
            </a:r>
            <a:r>
              <a:rPr lang="en-US" altLang="en-US" sz="2800" b="1" i="1" dirty="0"/>
              <a:t>O(V)</a:t>
            </a:r>
            <a:r>
              <a:rPr lang="en-US" altLang="en-US" sz="2800" dirty="0"/>
              <a:t> iterations</a:t>
            </a:r>
          </a:p>
          <a:p>
            <a:pPr algn="just">
              <a:lnSpc>
                <a:spcPct val="90000"/>
              </a:lnSpc>
              <a:spcBef>
                <a:spcPts val="1800"/>
              </a:spcBef>
            </a:pPr>
            <a:r>
              <a:rPr lang="en-US" altLang="en-US" sz="2800" dirty="0"/>
              <a:t>one recursive call is made for each vertex</a:t>
            </a:r>
          </a:p>
          <a:p>
            <a:pPr algn="just">
              <a:lnSpc>
                <a:spcPct val="90000"/>
              </a:lnSpc>
              <a:spcBef>
                <a:spcPts val="1800"/>
              </a:spcBef>
            </a:pPr>
            <a:r>
              <a:rPr lang="en-US" altLang="en-US" sz="2800" dirty="0"/>
              <a:t>in recursive call for vertex u, all its neighbors are checked; total time in all recursive calls is </a:t>
            </a:r>
            <a:r>
              <a:rPr lang="en-US" altLang="en-US" sz="2800" b="1" i="1" dirty="0"/>
              <a:t>O(E) </a:t>
            </a:r>
          </a:p>
          <a:p>
            <a:pPr algn="just">
              <a:lnSpc>
                <a:spcPct val="90000"/>
              </a:lnSpc>
              <a:spcBef>
                <a:spcPts val="1800"/>
              </a:spcBef>
            </a:pPr>
            <a:r>
              <a:rPr lang="en-US" altLang="en-US" sz="2800" dirty="0"/>
              <a:t>Total time is </a:t>
            </a:r>
            <a:r>
              <a:rPr lang="en-US" altLang="en-US" sz="2800" b="1" i="1" dirty="0"/>
              <a:t>O(V+E) 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886539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ntroalgsds">
  <a:themeElements>
    <a:clrScheme name="">
      <a:dk1>
        <a:srgbClr val="000000"/>
      </a:dk1>
      <a:lt1>
        <a:srgbClr val="FFFFFF"/>
      </a:lt1>
      <a:dk2>
        <a:srgbClr val="C0C0C0"/>
      </a:dk2>
      <a:lt2>
        <a:srgbClr val="010000"/>
      </a:lt2>
      <a:accent1>
        <a:srgbClr val="CC0000"/>
      </a:accent1>
      <a:accent2>
        <a:srgbClr val="777777"/>
      </a:accent2>
      <a:accent3>
        <a:srgbClr val="FFFFFF"/>
      </a:accent3>
      <a:accent4>
        <a:srgbClr val="000000"/>
      </a:accent4>
      <a:accent5>
        <a:srgbClr val="E2AAAA"/>
      </a:accent5>
      <a:accent6>
        <a:srgbClr val="6B6B6B"/>
      </a:accent6>
      <a:hlink>
        <a:srgbClr val="4D4D4D"/>
      </a:hlink>
      <a:folHlink>
        <a:srgbClr val="003399"/>
      </a:folHlink>
    </a:clrScheme>
    <a:fontScheme name="introalgs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accent1"/>
          </a:solidFill>
          <a:prstDash val="solid"/>
          <a:round/>
          <a:headEnd type="triangl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2075" tIns="46038" rIns="92075" bIns="46038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702030302020204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accent1"/>
          </a:solidFill>
          <a:prstDash val="solid"/>
          <a:round/>
          <a:headEnd type="triangl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2075" tIns="46038" rIns="92075" bIns="46038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702030302020204" pitchFamily="66" charset="0"/>
          </a:defRPr>
        </a:defPPr>
      </a:lstStyle>
    </a:lnDef>
  </a:objectDefaults>
  <a:extraClrSchemeLst>
    <a:extraClrScheme>
      <a:clrScheme name="introalgsds 1">
        <a:dk1>
          <a:srgbClr val="009999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8282"/>
        </a:accent4>
        <a:accent5>
          <a:srgbClr val="E2F4FF"/>
        </a:accent5>
        <a:accent6>
          <a:srgbClr val="E7E7B9"/>
        </a:accent6>
        <a:hlink>
          <a:srgbClr val="FF9966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algsds 2">
        <a:dk1>
          <a:srgbClr val="800000"/>
        </a:dk1>
        <a:lt1>
          <a:srgbClr val="FFFFFF"/>
        </a:lt1>
        <a:dk2>
          <a:srgbClr val="000000"/>
        </a:dk2>
        <a:lt2>
          <a:srgbClr val="FFFFCC"/>
        </a:lt2>
        <a:accent1>
          <a:srgbClr val="000000"/>
        </a:accent1>
        <a:accent2>
          <a:srgbClr val="000099"/>
        </a:accent2>
        <a:accent3>
          <a:srgbClr val="AAAAAA"/>
        </a:accent3>
        <a:accent4>
          <a:srgbClr val="DADADA"/>
        </a:accent4>
        <a:accent5>
          <a:srgbClr val="AAAAAA"/>
        </a:accent5>
        <a:accent6>
          <a:srgbClr val="00008A"/>
        </a:accent6>
        <a:hlink>
          <a:srgbClr val="800000"/>
        </a:hlink>
        <a:folHlink>
          <a:srgbClr val="00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roalgsds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C0C0C0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C8C8C8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algsds 4">
        <a:dk1>
          <a:srgbClr val="000000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E7E7B9"/>
        </a:accent6>
        <a:hlink>
          <a:srgbClr val="FF6600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algsds 5">
        <a:dk1>
          <a:srgbClr val="000000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E7E7B9"/>
        </a:accent6>
        <a:hlink>
          <a:srgbClr val="FF6600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algsds 6">
        <a:dk1>
          <a:srgbClr val="000000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E7E7B9"/>
        </a:accent6>
        <a:hlink>
          <a:srgbClr val="FF6600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algsds 7">
        <a:dk1>
          <a:srgbClr val="000000"/>
        </a:dk1>
        <a:lt1>
          <a:srgbClr val="FFFFFF"/>
        </a:lt1>
        <a:dk2>
          <a:srgbClr val="C0C0C0"/>
        </a:dk2>
        <a:lt2>
          <a:srgbClr val="010000"/>
        </a:lt2>
        <a:accent1>
          <a:srgbClr val="CC0000"/>
        </a:accent1>
        <a:accent2>
          <a:srgbClr val="777777"/>
        </a:accent2>
        <a:accent3>
          <a:srgbClr val="FFFFFF"/>
        </a:accent3>
        <a:accent4>
          <a:srgbClr val="000000"/>
        </a:accent4>
        <a:accent5>
          <a:srgbClr val="E2AAAA"/>
        </a:accent5>
        <a:accent6>
          <a:srgbClr val="6B6B6B"/>
        </a:accent6>
        <a:hlink>
          <a:srgbClr val="4D4D4D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HD:Users:wayne:Documents:cos226-f05:introalgsds.pot</Template>
  <TotalTime>7135</TotalTime>
  <Words>1899</Words>
  <Application>Microsoft Office PowerPoint</Application>
  <PresentationFormat>On-screen Show (4:3)</PresentationFormat>
  <Paragraphs>789</Paragraphs>
  <Slides>69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82" baseType="lpstr">
      <vt:lpstr>MS PGothic</vt:lpstr>
      <vt:lpstr>Arial</vt:lpstr>
      <vt:lpstr>Calibri</vt:lpstr>
      <vt:lpstr>Calibri (body)</vt:lpstr>
      <vt:lpstr>Century Schoolbook (Body)</vt:lpstr>
      <vt:lpstr>Comic Sans MS</vt:lpstr>
      <vt:lpstr>Courier New</vt:lpstr>
      <vt:lpstr>Franklin Gothic Book</vt:lpstr>
      <vt:lpstr>Monotype Sorts</vt:lpstr>
      <vt:lpstr>Symbol</vt:lpstr>
      <vt:lpstr>Times New Roman</vt:lpstr>
      <vt:lpstr>Wingdings</vt:lpstr>
      <vt:lpstr>introalgsds</vt:lpstr>
      <vt:lpstr>PowerPoint Presentation</vt:lpstr>
      <vt:lpstr>What is a Graph?</vt:lpstr>
      <vt:lpstr>Examples of graphs</vt:lpstr>
      <vt:lpstr>What is a Graph?</vt:lpstr>
      <vt:lpstr>Directed vs. undirected graphs</vt:lpstr>
      <vt:lpstr>Weighted graphs</vt:lpstr>
      <vt:lpstr>Degree of vertices</vt:lpstr>
      <vt:lpstr>Degree of vertices</vt:lpstr>
      <vt:lpstr>Representing Graphs</vt:lpstr>
      <vt:lpstr>Adjacency Matrix Representation</vt:lpstr>
      <vt:lpstr>Graphs: Adjacency Matrix</vt:lpstr>
      <vt:lpstr>Graphs: Adjacency Matrix</vt:lpstr>
      <vt:lpstr>Adjacency Matrix Representation</vt:lpstr>
      <vt:lpstr>Adjacency List Representation</vt:lpstr>
      <vt:lpstr>Graphs: Adjacency List</vt:lpstr>
      <vt:lpstr>Adjacency List Representation</vt:lpstr>
      <vt:lpstr>Graph Searching</vt:lpstr>
      <vt:lpstr>Graph Traversals</vt:lpstr>
      <vt:lpstr>Breadth-First Search</vt:lpstr>
      <vt:lpstr>Basic idea behind 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What does this BFS(G, s) algorithm tell us?</vt:lpstr>
      <vt:lpstr>A better Breadth first search (BFS) algorithm</vt:lpstr>
      <vt:lpstr>Breadth-First Search</vt:lpstr>
      <vt:lpstr>Breadth-First Search</vt:lpstr>
      <vt:lpstr>BFS Trees</vt:lpstr>
      <vt:lpstr>PowerPoint Presentation</vt:lpstr>
      <vt:lpstr>A better Breadth first search (BFS) algorithm</vt:lpstr>
      <vt:lpstr>Breadth-First Search: Example</vt:lpstr>
      <vt:lpstr>Breadth-First Search: Example</vt:lpstr>
      <vt:lpstr>Breadth-First Search: Example</vt:lpstr>
      <vt:lpstr>Breadth-First Search: Example</vt:lpstr>
      <vt:lpstr>Breadth-First Search: Example</vt:lpstr>
      <vt:lpstr>Breadth-First Search: Example</vt:lpstr>
      <vt:lpstr>Breadth-First Search: Example</vt:lpstr>
      <vt:lpstr>Breadth-First Search: Example</vt:lpstr>
      <vt:lpstr>Breadth-First Search: Example</vt:lpstr>
      <vt:lpstr>Breadth-First Search: Example</vt:lpstr>
      <vt:lpstr>PowerPoint Presentation</vt:lpstr>
      <vt:lpstr>BFS Running Time</vt:lpstr>
      <vt:lpstr>Breadth-First Search: Properties</vt:lpstr>
      <vt:lpstr>Depth-First Search</vt:lpstr>
      <vt:lpstr>Depth-first Search (DFS)</vt:lpstr>
      <vt:lpstr>Depth First Search</vt:lpstr>
      <vt:lpstr>Depth-first Search</vt:lpstr>
      <vt:lpstr>Depth-first Search (Pseudocode)</vt:lpstr>
      <vt:lpstr>Depth-first Search (Pseudocode)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Running Time of DFS</vt:lpstr>
    </vt:vector>
  </TitlesOfParts>
  <Company>Dell Computer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Trees</dc:title>
  <dc:creator>Kevin Wayne</dc:creator>
  <cp:lastModifiedBy>asus</cp:lastModifiedBy>
  <cp:revision>714</cp:revision>
  <dcterms:created xsi:type="dcterms:W3CDTF">1999-12-31T01:41:01Z</dcterms:created>
  <dcterms:modified xsi:type="dcterms:W3CDTF">2025-08-13T01:39:48Z</dcterms:modified>
</cp:coreProperties>
</file>