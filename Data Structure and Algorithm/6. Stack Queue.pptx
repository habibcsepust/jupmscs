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tiff" ContentType="image/tif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335" r:id="rId2"/>
    <p:sldId id="266" r:id="rId3"/>
    <p:sldId id="333" r:id="rId4"/>
    <p:sldId id="268" r:id="rId5"/>
    <p:sldId id="269" r:id="rId6"/>
    <p:sldId id="314" r:id="rId7"/>
    <p:sldId id="270" r:id="rId8"/>
    <p:sldId id="271" r:id="rId9"/>
    <p:sldId id="332" r:id="rId10"/>
    <p:sldId id="260" r:id="rId11"/>
    <p:sldId id="261" r:id="rId12"/>
    <p:sldId id="262" r:id="rId13"/>
    <p:sldId id="258" r:id="rId14"/>
    <p:sldId id="316" r:id="rId15"/>
    <p:sldId id="315" r:id="rId16"/>
    <p:sldId id="259" r:id="rId17"/>
    <p:sldId id="334" r:id="rId18"/>
    <p:sldId id="263" r:id="rId19"/>
    <p:sldId id="265" r:id="rId20"/>
    <p:sldId id="264" r:id="rId21"/>
    <p:sldId id="287" r:id="rId22"/>
    <p:sldId id="288" r:id="rId23"/>
    <p:sldId id="289" r:id="rId24"/>
    <p:sldId id="290" r:id="rId25"/>
    <p:sldId id="291" r:id="rId26"/>
    <p:sldId id="292" r:id="rId27"/>
    <p:sldId id="303" r:id="rId28"/>
    <p:sldId id="329" r:id="rId29"/>
    <p:sldId id="328" r:id="rId30"/>
    <p:sldId id="304" r:id="rId31"/>
    <p:sldId id="305" r:id="rId32"/>
    <p:sldId id="306" r:id="rId33"/>
    <p:sldId id="307" r:id="rId34"/>
    <p:sldId id="322" r:id="rId35"/>
    <p:sldId id="323" r:id="rId36"/>
    <p:sldId id="324" r:id="rId37"/>
    <p:sldId id="308" r:id="rId38"/>
    <p:sldId id="309" r:id="rId39"/>
    <p:sldId id="310" r:id="rId40"/>
    <p:sldId id="325" r:id="rId41"/>
    <p:sldId id="326" r:id="rId42"/>
    <p:sldId id="327" r:id="rId43"/>
    <p:sldId id="311" r:id="rId44"/>
    <p:sldId id="312" r:id="rId45"/>
    <p:sldId id="313" r:id="rId46"/>
    <p:sldId id="330" r:id="rId47"/>
    <p:sldId id="331"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06" autoAdjust="0"/>
    <p:restoredTop sz="97312" autoAdjust="0"/>
  </p:normalViewPr>
  <p:slideViewPr>
    <p:cSldViewPr>
      <p:cViewPr varScale="1">
        <p:scale>
          <a:sx n="84" d="100"/>
          <a:sy n="84" d="100"/>
        </p:scale>
        <p:origin x="1699" y="67"/>
      </p:cViewPr>
      <p:guideLst>
        <p:guide orient="horz" pos="2160"/>
        <p:guide pos="2880"/>
      </p:guideLst>
    </p:cSldViewPr>
  </p:slideViewPr>
  <p:outlineViewPr>
    <p:cViewPr>
      <p:scale>
        <a:sx n="33" d="100"/>
        <a:sy n="33" d="100"/>
      </p:scale>
      <p:origin x="21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109D61-295C-4E7B-896D-258D8C62218F}" type="datetimeFigureOut">
              <a:rPr lang="en-US" smtClean="0"/>
              <a:pPr/>
              <a:t>4/14/2024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05E933-03AE-4F32-8C5B-7DC0967ACB75}" type="slidenum">
              <a:rPr lang="en-US" smtClean="0"/>
              <a:pPr/>
              <a:t>‹#›</a:t>
            </a:fld>
            <a:endParaRPr lang="en-US"/>
          </a:p>
        </p:txBody>
      </p:sp>
    </p:spTree>
    <p:extLst>
      <p:ext uri="{BB962C8B-B14F-4D97-AF65-F5344CB8AC3E}">
        <p14:creationId xmlns:p14="http://schemas.microsoft.com/office/powerpoint/2010/main" val="1609941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a:t>
            </a:fld>
            <a:endParaRPr lang="en-US"/>
          </a:p>
        </p:txBody>
      </p:sp>
    </p:spTree>
    <p:extLst>
      <p:ext uri="{BB962C8B-B14F-4D97-AF65-F5344CB8AC3E}">
        <p14:creationId xmlns:p14="http://schemas.microsoft.com/office/powerpoint/2010/main" val="1771629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xmlns="" id="{235CFADB-523C-4669-B918-A2A70FE341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EA51435-B863-4B29-9FC2-BB1350DF43BF}" type="slidenum">
              <a:rPr lang="ar-SA" altLang="en-US" smtClean="0"/>
              <a:pPr>
                <a:spcBef>
                  <a:spcPct val="0"/>
                </a:spcBef>
              </a:pPr>
              <a:t>3</a:t>
            </a:fld>
            <a:endParaRPr lang="en-US" altLang="en-US"/>
          </a:p>
        </p:txBody>
      </p:sp>
      <p:sp>
        <p:nvSpPr>
          <p:cNvPr id="8195" name="Rectangle 2">
            <a:extLst>
              <a:ext uri="{FF2B5EF4-FFF2-40B4-BE49-F238E27FC236}">
                <a16:creationId xmlns:a16="http://schemas.microsoft.com/office/drawing/2014/main" xmlns="" id="{EACA2595-1C7D-40ED-8D2E-204AA80411C1}"/>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xmlns="" id="{82BF4552-CF1E-46CA-ABA3-D586E99417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383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a:t>
            </a:fld>
            <a:endParaRPr lang="en-US"/>
          </a:p>
        </p:txBody>
      </p:sp>
    </p:spTree>
    <p:extLst>
      <p:ext uri="{BB962C8B-B14F-4D97-AF65-F5344CB8AC3E}">
        <p14:creationId xmlns:p14="http://schemas.microsoft.com/office/powerpoint/2010/main" val="976139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a:t>
            </a:fld>
            <a:endParaRPr lang="en-US"/>
          </a:p>
        </p:txBody>
      </p:sp>
    </p:spTree>
    <p:extLst>
      <p:ext uri="{BB962C8B-B14F-4D97-AF65-F5344CB8AC3E}">
        <p14:creationId xmlns:p14="http://schemas.microsoft.com/office/powerpoint/2010/main" val="1246108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a:t>
            </a:fld>
            <a:endParaRPr lang="en-US"/>
          </a:p>
        </p:txBody>
      </p:sp>
    </p:spTree>
    <p:extLst>
      <p:ext uri="{BB962C8B-B14F-4D97-AF65-F5344CB8AC3E}">
        <p14:creationId xmlns:p14="http://schemas.microsoft.com/office/powerpoint/2010/main" val="3618617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a:t>
            </a:fld>
            <a:endParaRPr lang="en-US"/>
          </a:p>
        </p:txBody>
      </p:sp>
    </p:spTree>
    <p:extLst>
      <p:ext uri="{BB962C8B-B14F-4D97-AF65-F5344CB8AC3E}">
        <p14:creationId xmlns:p14="http://schemas.microsoft.com/office/powerpoint/2010/main" val="2222139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a:t>
            </a:fld>
            <a:endParaRPr lang="en-US"/>
          </a:p>
        </p:txBody>
      </p:sp>
    </p:spTree>
    <p:extLst>
      <p:ext uri="{BB962C8B-B14F-4D97-AF65-F5344CB8AC3E}">
        <p14:creationId xmlns:p14="http://schemas.microsoft.com/office/powerpoint/2010/main" val="2899294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10</a:t>
            </a:fld>
            <a:endParaRPr lang="en-US"/>
          </a:p>
        </p:txBody>
      </p:sp>
    </p:spTree>
    <p:extLst>
      <p:ext uri="{BB962C8B-B14F-4D97-AF65-F5344CB8AC3E}">
        <p14:creationId xmlns:p14="http://schemas.microsoft.com/office/powerpoint/2010/main" val="3212870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11</a:t>
            </a:fld>
            <a:endParaRPr lang="en-US"/>
          </a:p>
        </p:txBody>
      </p:sp>
    </p:spTree>
    <p:extLst>
      <p:ext uri="{BB962C8B-B14F-4D97-AF65-F5344CB8AC3E}">
        <p14:creationId xmlns:p14="http://schemas.microsoft.com/office/powerpoint/2010/main" val="3910406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12</a:t>
            </a:fld>
            <a:endParaRPr lang="en-US"/>
          </a:p>
        </p:txBody>
      </p:sp>
    </p:spTree>
    <p:extLst>
      <p:ext uri="{BB962C8B-B14F-4D97-AF65-F5344CB8AC3E}">
        <p14:creationId xmlns:p14="http://schemas.microsoft.com/office/powerpoint/2010/main" val="5992245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13</a:t>
            </a:fld>
            <a:endParaRPr lang="en-US"/>
          </a:p>
        </p:txBody>
      </p:sp>
    </p:spTree>
    <p:extLst>
      <p:ext uri="{BB962C8B-B14F-4D97-AF65-F5344CB8AC3E}">
        <p14:creationId xmlns:p14="http://schemas.microsoft.com/office/powerpoint/2010/main" val="18457329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14</a:t>
            </a:fld>
            <a:endParaRPr lang="en-US"/>
          </a:p>
        </p:txBody>
      </p:sp>
    </p:spTree>
    <p:extLst>
      <p:ext uri="{BB962C8B-B14F-4D97-AF65-F5344CB8AC3E}">
        <p14:creationId xmlns:p14="http://schemas.microsoft.com/office/powerpoint/2010/main" val="3005009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15</a:t>
            </a:fld>
            <a:endParaRPr lang="en-US"/>
          </a:p>
        </p:txBody>
      </p:sp>
    </p:spTree>
    <p:extLst>
      <p:ext uri="{BB962C8B-B14F-4D97-AF65-F5344CB8AC3E}">
        <p14:creationId xmlns:p14="http://schemas.microsoft.com/office/powerpoint/2010/main" val="8050815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16</a:t>
            </a:fld>
            <a:endParaRPr lang="en-US"/>
          </a:p>
        </p:txBody>
      </p:sp>
    </p:spTree>
    <p:extLst>
      <p:ext uri="{BB962C8B-B14F-4D97-AF65-F5344CB8AC3E}">
        <p14:creationId xmlns:p14="http://schemas.microsoft.com/office/powerpoint/2010/main" val="4889053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xmlns="" id="{F3F56B39-83EA-4EF8-A26E-C7C5F91574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FF48867-DB6B-4D19-BFE3-CFC3153BCBE4}" type="slidenum">
              <a:rPr lang="ar-SA" altLang="en-US" smtClean="0"/>
              <a:pPr>
                <a:spcBef>
                  <a:spcPct val="0"/>
                </a:spcBef>
              </a:pPr>
              <a:t>17</a:t>
            </a:fld>
            <a:endParaRPr lang="en-US" altLang="en-US"/>
          </a:p>
        </p:txBody>
      </p:sp>
      <p:sp>
        <p:nvSpPr>
          <p:cNvPr id="40963" name="Rectangle 2">
            <a:extLst>
              <a:ext uri="{FF2B5EF4-FFF2-40B4-BE49-F238E27FC236}">
                <a16:creationId xmlns:a16="http://schemas.microsoft.com/office/drawing/2014/main" xmlns="" id="{BE459F37-3300-4EF2-B454-130816A7A1F7}"/>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xmlns="" id="{A6A73BD7-98AF-4501-B5C5-4D328BA52F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87023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18</a:t>
            </a:fld>
            <a:endParaRPr lang="en-US"/>
          </a:p>
        </p:txBody>
      </p:sp>
    </p:spTree>
    <p:extLst>
      <p:ext uri="{BB962C8B-B14F-4D97-AF65-F5344CB8AC3E}">
        <p14:creationId xmlns:p14="http://schemas.microsoft.com/office/powerpoint/2010/main" val="34447886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19</a:t>
            </a:fld>
            <a:endParaRPr lang="en-US"/>
          </a:p>
        </p:txBody>
      </p:sp>
    </p:spTree>
    <p:extLst>
      <p:ext uri="{BB962C8B-B14F-4D97-AF65-F5344CB8AC3E}">
        <p14:creationId xmlns:p14="http://schemas.microsoft.com/office/powerpoint/2010/main" val="25142976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20</a:t>
            </a:fld>
            <a:endParaRPr lang="en-US"/>
          </a:p>
        </p:txBody>
      </p:sp>
    </p:spTree>
    <p:extLst>
      <p:ext uri="{BB962C8B-B14F-4D97-AF65-F5344CB8AC3E}">
        <p14:creationId xmlns:p14="http://schemas.microsoft.com/office/powerpoint/2010/main" val="3201809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21</a:t>
            </a:fld>
            <a:endParaRPr lang="en-US"/>
          </a:p>
        </p:txBody>
      </p:sp>
    </p:spTree>
    <p:extLst>
      <p:ext uri="{BB962C8B-B14F-4D97-AF65-F5344CB8AC3E}">
        <p14:creationId xmlns:p14="http://schemas.microsoft.com/office/powerpoint/2010/main" val="23506143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22</a:t>
            </a:fld>
            <a:endParaRPr lang="en-US"/>
          </a:p>
        </p:txBody>
      </p:sp>
    </p:spTree>
    <p:extLst>
      <p:ext uri="{BB962C8B-B14F-4D97-AF65-F5344CB8AC3E}">
        <p14:creationId xmlns:p14="http://schemas.microsoft.com/office/powerpoint/2010/main" val="37544782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23</a:t>
            </a:fld>
            <a:endParaRPr lang="en-US"/>
          </a:p>
        </p:txBody>
      </p:sp>
    </p:spTree>
    <p:extLst>
      <p:ext uri="{BB962C8B-B14F-4D97-AF65-F5344CB8AC3E}">
        <p14:creationId xmlns:p14="http://schemas.microsoft.com/office/powerpoint/2010/main" val="33902373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24</a:t>
            </a:fld>
            <a:endParaRPr lang="en-US"/>
          </a:p>
        </p:txBody>
      </p:sp>
    </p:spTree>
    <p:extLst>
      <p:ext uri="{BB962C8B-B14F-4D97-AF65-F5344CB8AC3E}">
        <p14:creationId xmlns:p14="http://schemas.microsoft.com/office/powerpoint/2010/main" val="16245687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25</a:t>
            </a:fld>
            <a:endParaRPr lang="en-US"/>
          </a:p>
        </p:txBody>
      </p:sp>
    </p:spTree>
    <p:extLst>
      <p:ext uri="{BB962C8B-B14F-4D97-AF65-F5344CB8AC3E}">
        <p14:creationId xmlns:p14="http://schemas.microsoft.com/office/powerpoint/2010/main" val="16499155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26</a:t>
            </a:fld>
            <a:endParaRPr lang="en-US"/>
          </a:p>
        </p:txBody>
      </p:sp>
    </p:spTree>
    <p:extLst>
      <p:ext uri="{BB962C8B-B14F-4D97-AF65-F5344CB8AC3E}">
        <p14:creationId xmlns:p14="http://schemas.microsoft.com/office/powerpoint/2010/main" val="19101374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27</a:t>
            </a:fld>
            <a:endParaRPr lang="en-US"/>
          </a:p>
        </p:txBody>
      </p:sp>
    </p:spTree>
    <p:extLst>
      <p:ext uri="{BB962C8B-B14F-4D97-AF65-F5344CB8AC3E}">
        <p14:creationId xmlns:p14="http://schemas.microsoft.com/office/powerpoint/2010/main" val="12785734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28</a:t>
            </a:fld>
            <a:endParaRPr lang="en-US"/>
          </a:p>
        </p:txBody>
      </p:sp>
    </p:spTree>
    <p:extLst>
      <p:ext uri="{BB962C8B-B14F-4D97-AF65-F5344CB8AC3E}">
        <p14:creationId xmlns:p14="http://schemas.microsoft.com/office/powerpoint/2010/main" val="10782270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29</a:t>
            </a:fld>
            <a:endParaRPr lang="en-US"/>
          </a:p>
        </p:txBody>
      </p:sp>
    </p:spTree>
    <p:extLst>
      <p:ext uri="{BB962C8B-B14F-4D97-AF65-F5344CB8AC3E}">
        <p14:creationId xmlns:p14="http://schemas.microsoft.com/office/powerpoint/2010/main" val="19373472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30</a:t>
            </a:fld>
            <a:endParaRPr lang="en-US"/>
          </a:p>
        </p:txBody>
      </p:sp>
    </p:spTree>
    <p:extLst>
      <p:ext uri="{BB962C8B-B14F-4D97-AF65-F5344CB8AC3E}">
        <p14:creationId xmlns:p14="http://schemas.microsoft.com/office/powerpoint/2010/main" val="2265044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31</a:t>
            </a:fld>
            <a:endParaRPr lang="en-US"/>
          </a:p>
        </p:txBody>
      </p:sp>
    </p:spTree>
    <p:extLst>
      <p:ext uri="{BB962C8B-B14F-4D97-AF65-F5344CB8AC3E}">
        <p14:creationId xmlns:p14="http://schemas.microsoft.com/office/powerpoint/2010/main" val="8696753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32</a:t>
            </a:fld>
            <a:endParaRPr lang="en-US"/>
          </a:p>
        </p:txBody>
      </p:sp>
    </p:spTree>
    <p:extLst>
      <p:ext uri="{BB962C8B-B14F-4D97-AF65-F5344CB8AC3E}">
        <p14:creationId xmlns:p14="http://schemas.microsoft.com/office/powerpoint/2010/main" val="18643823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33</a:t>
            </a:fld>
            <a:endParaRPr lang="en-US"/>
          </a:p>
        </p:txBody>
      </p:sp>
    </p:spTree>
    <p:extLst>
      <p:ext uri="{BB962C8B-B14F-4D97-AF65-F5344CB8AC3E}">
        <p14:creationId xmlns:p14="http://schemas.microsoft.com/office/powerpoint/2010/main" val="7371925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34</a:t>
            </a:fld>
            <a:endParaRPr lang="en-US"/>
          </a:p>
        </p:txBody>
      </p:sp>
    </p:spTree>
    <p:extLst>
      <p:ext uri="{BB962C8B-B14F-4D97-AF65-F5344CB8AC3E}">
        <p14:creationId xmlns:p14="http://schemas.microsoft.com/office/powerpoint/2010/main" val="11925487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35</a:t>
            </a:fld>
            <a:endParaRPr lang="en-US"/>
          </a:p>
        </p:txBody>
      </p:sp>
    </p:spTree>
    <p:extLst>
      <p:ext uri="{BB962C8B-B14F-4D97-AF65-F5344CB8AC3E}">
        <p14:creationId xmlns:p14="http://schemas.microsoft.com/office/powerpoint/2010/main" val="10497388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36</a:t>
            </a:fld>
            <a:endParaRPr lang="en-US"/>
          </a:p>
        </p:txBody>
      </p:sp>
    </p:spTree>
    <p:extLst>
      <p:ext uri="{BB962C8B-B14F-4D97-AF65-F5344CB8AC3E}">
        <p14:creationId xmlns:p14="http://schemas.microsoft.com/office/powerpoint/2010/main" val="35787712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37</a:t>
            </a:fld>
            <a:endParaRPr lang="en-US"/>
          </a:p>
        </p:txBody>
      </p:sp>
    </p:spTree>
    <p:extLst>
      <p:ext uri="{BB962C8B-B14F-4D97-AF65-F5344CB8AC3E}">
        <p14:creationId xmlns:p14="http://schemas.microsoft.com/office/powerpoint/2010/main" val="16089584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38</a:t>
            </a:fld>
            <a:endParaRPr lang="en-US"/>
          </a:p>
        </p:txBody>
      </p:sp>
    </p:spTree>
    <p:extLst>
      <p:ext uri="{BB962C8B-B14F-4D97-AF65-F5344CB8AC3E}">
        <p14:creationId xmlns:p14="http://schemas.microsoft.com/office/powerpoint/2010/main" val="19497008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39</a:t>
            </a:fld>
            <a:endParaRPr lang="en-US"/>
          </a:p>
        </p:txBody>
      </p:sp>
    </p:spTree>
    <p:extLst>
      <p:ext uri="{BB962C8B-B14F-4D97-AF65-F5344CB8AC3E}">
        <p14:creationId xmlns:p14="http://schemas.microsoft.com/office/powerpoint/2010/main" val="19361705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40</a:t>
            </a:fld>
            <a:endParaRPr lang="en-US"/>
          </a:p>
        </p:txBody>
      </p:sp>
    </p:spTree>
    <p:extLst>
      <p:ext uri="{BB962C8B-B14F-4D97-AF65-F5344CB8AC3E}">
        <p14:creationId xmlns:p14="http://schemas.microsoft.com/office/powerpoint/2010/main" val="4375028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41</a:t>
            </a:fld>
            <a:endParaRPr lang="en-US"/>
          </a:p>
        </p:txBody>
      </p:sp>
    </p:spTree>
    <p:extLst>
      <p:ext uri="{BB962C8B-B14F-4D97-AF65-F5344CB8AC3E}">
        <p14:creationId xmlns:p14="http://schemas.microsoft.com/office/powerpoint/2010/main" val="7556951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42</a:t>
            </a:fld>
            <a:endParaRPr lang="en-US"/>
          </a:p>
        </p:txBody>
      </p:sp>
    </p:spTree>
    <p:extLst>
      <p:ext uri="{BB962C8B-B14F-4D97-AF65-F5344CB8AC3E}">
        <p14:creationId xmlns:p14="http://schemas.microsoft.com/office/powerpoint/2010/main" val="24833628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43</a:t>
            </a:fld>
            <a:endParaRPr lang="en-US"/>
          </a:p>
        </p:txBody>
      </p:sp>
    </p:spTree>
    <p:extLst>
      <p:ext uri="{BB962C8B-B14F-4D97-AF65-F5344CB8AC3E}">
        <p14:creationId xmlns:p14="http://schemas.microsoft.com/office/powerpoint/2010/main" val="34267506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44</a:t>
            </a:fld>
            <a:endParaRPr lang="en-US"/>
          </a:p>
        </p:txBody>
      </p:sp>
    </p:spTree>
    <p:extLst>
      <p:ext uri="{BB962C8B-B14F-4D97-AF65-F5344CB8AC3E}">
        <p14:creationId xmlns:p14="http://schemas.microsoft.com/office/powerpoint/2010/main" val="29764337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45</a:t>
            </a:fld>
            <a:endParaRPr lang="en-US"/>
          </a:p>
        </p:txBody>
      </p:sp>
    </p:spTree>
    <p:extLst>
      <p:ext uri="{BB962C8B-B14F-4D97-AF65-F5344CB8AC3E}">
        <p14:creationId xmlns:p14="http://schemas.microsoft.com/office/powerpoint/2010/main" val="18685161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46</a:t>
            </a:fld>
            <a:endParaRPr lang="en-US"/>
          </a:p>
        </p:txBody>
      </p:sp>
    </p:spTree>
    <p:extLst>
      <p:ext uri="{BB962C8B-B14F-4D97-AF65-F5344CB8AC3E}">
        <p14:creationId xmlns:p14="http://schemas.microsoft.com/office/powerpoint/2010/main" val="2673498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47</a:t>
            </a:fld>
            <a:endParaRPr lang="en-US"/>
          </a:p>
        </p:txBody>
      </p:sp>
    </p:spTree>
    <p:extLst>
      <p:ext uri="{BB962C8B-B14F-4D97-AF65-F5344CB8AC3E}">
        <p14:creationId xmlns:p14="http://schemas.microsoft.com/office/powerpoint/2010/main" val="2130161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C47B3F2-D0FE-4264-8508-1A9EB6FCE7E3}" type="datetime1">
              <a:rPr lang="en-US" smtClean="0"/>
              <a:t>4/14/2024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9281A4-4C9D-4645-98E5-DC94BB779CF3}" type="slidenum">
              <a:rPr lang="en-US" smtClean="0"/>
              <a:pPr/>
              <a:t>‹#›</a:t>
            </a:fld>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47800" y="214313"/>
            <a:ext cx="7307263" cy="623887"/>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762000" y="1371600"/>
            <a:ext cx="7659688" cy="47609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10990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3867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2130633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tif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srcRect/>
          <a:tile tx="0" ty="0" sx="100000" sy="100000" flip="none" algn="tl"/>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D8951F-B803-4946-80AD-669E0B4A9FEB}" type="datetime1">
              <a:rPr lang="en-US" smtClean="0"/>
              <a:t>4/14/2024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281A4-4C9D-4645-98E5-DC94BB779CF3}" type="slidenum">
              <a:rPr lang="en-US" smtClean="0"/>
              <a:pPr/>
              <a:t>‹#›</a:t>
            </a:fld>
            <a:endParaRPr lang="en-US"/>
          </a:p>
        </p:txBody>
      </p:sp>
      <p:pic>
        <p:nvPicPr>
          <p:cNvPr id="7" name="Picture 6" descr="JU Mon eps.tif"/>
          <p:cNvPicPr>
            <a:picLocks noChangeAspect="1"/>
          </p:cNvPicPr>
          <p:nvPr userDrawn="1"/>
        </p:nvPicPr>
        <p:blipFill>
          <a:blip r:embed="rId7" cstate="print"/>
          <a:stretch>
            <a:fillRect/>
          </a:stretch>
        </p:blipFill>
        <p:spPr>
          <a:xfrm>
            <a:off x="381000" y="228600"/>
            <a:ext cx="917067" cy="1135254"/>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4.xml"/><Relationship Id="rId7"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1.bin"/><Relationship Id="rId4" Type="http://schemas.openxmlformats.org/officeDocument/2006/relationships/image" Target="../media/image3.tiff"/></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3.tiff"/></Relationships>
</file>

<file path=ppt/slides/_rels/slide2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685800" y="1524000"/>
            <a:ext cx="7772400" cy="1470025"/>
          </a:xfrm>
        </p:spPr>
        <p:txBody>
          <a:bodyPr/>
          <a:lstStyle/>
          <a:p>
            <a:pPr eaLnBrk="1" hangingPunct="1">
              <a:spcAft>
                <a:spcPts val="1200"/>
              </a:spcAft>
            </a:pPr>
            <a:r>
              <a:rPr lang="en-US" altLang="en-US" sz="6600" b="1" dirty="0" smtClean="0"/>
              <a:t>Data Structure and Algorithm</a:t>
            </a:r>
            <a:br>
              <a:rPr lang="en-US" altLang="en-US" sz="6600" b="1" dirty="0" smtClean="0"/>
            </a:br>
            <a:r>
              <a:rPr lang="en-US" altLang="en-US" sz="4800" b="1" dirty="0" smtClean="0">
                <a:solidFill>
                  <a:srgbClr val="00B050"/>
                </a:solidFill>
              </a:rPr>
              <a:t>(PMSCS 623P)</a:t>
            </a:r>
            <a:endParaRPr lang="en-US" altLang="en-US" sz="4800" b="1" dirty="0" smtClean="0"/>
          </a:p>
        </p:txBody>
      </p:sp>
      <p:sp>
        <p:nvSpPr>
          <p:cNvPr id="3" name="Subtitle 2"/>
          <p:cNvSpPr>
            <a:spLocks noGrp="1"/>
          </p:cNvSpPr>
          <p:nvPr>
            <p:ph type="subTitle" idx="1"/>
          </p:nvPr>
        </p:nvSpPr>
        <p:spPr>
          <a:xfrm>
            <a:off x="1371600" y="4038600"/>
            <a:ext cx="6400800" cy="1752600"/>
          </a:xfrm>
        </p:spPr>
        <p:txBody>
          <a:bodyPr rtlCol="0">
            <a:normAutofit fontScale="70000" lnSpcReduction="20000"/>
          </a:bodyPr>
          <a:lstStyle/>
          <a:p>
            <a:pPr eaLnBrk="1" fontAlgn="auto" hangingPunct="1">
              <a:spcAft>
                <a:spcPts val="0"/>
              </a:spcAft>
              <a:defRPr/>
            </a:pPr>
            <a:endParaRPr lang="en-US" sz="8000" dirty="0" smtClean="0"/>
          </a:p>
          <a:p>
            <a:pPr eaLnBrk="1" fontAlgn="auto" hangingPunct="1">
              <a:spcAft>
                <a:spcPts val="0"/>
              </a:spcAft>
              <a:defRPr/>
            </a:pPr>
            <a:r>
              <a:rPr lang="en-US" sz="8000" dirty="0" smtClean="0"/>
              <a:t>Lecture </a:t>
            </a:r>
            <a:r>
              <a:rPr lang="en-US" sz="8000" dirty="0"/>
              <a:t>6</a:t>
            </a:r>
          </a:p>
        </p:txBody>
      </p:sp>
    </p:spTree>
    <p:extLst>
      <p:ext uri="{BB962C8B-B14F-4D97-AF65-F5344CB8AC3E}">
        <p14:creationId xmlns:p14="http://schemas.microsoft.com/office/powerpoint/2010/main" val="42906670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4953000"/>
          </a:xfrm>
          <a:prstGeom prst="rect">
            <a:avLst/>
          </a:prstGeom>
        </p:spPr>
        <p:txBody>
          <a:bodyPr/>
          <a:lstStyle/>
          <a:p>
            <a:pPr algn="just">
              <a:lnSpc>
                <a:spcPct val="150000"/>
              </a:lnSpc>
              <a:buFont typeface="Wingdings" pitchFamily="2" charset="2"/>
              <a:buChar char="q"/>
            </a:pPr>
            <a:r>
              <a:rPr lang="en-US" sz="2000" b="1" dirty="0" smtClean="0">
                <a:latin typeface="Times New Roman" pitchFamily="18" charset="0"/>
                <a:cs typeface="Times New Roman" pitchFamily="18" charset="0"/>
              </a:rPr>
              <a:t>Stacks</a:t>
            </a:r>
            <a:endParaRPr lang="en-US" sz="2000" dirty="0" smtClean="0">
              <a:latin typeface="Times New Roman" pitchFamily="18" charset="0"/>
              <a:cs typeface="Times New Roman" pitchFamily="18" charset="0"/>
            </a:endParaRPr>
          </a:p>
          <a:p>
            <a:pPr lvl="1" algn="just">
              <a:lnSpc>
                <a:spcPct val="150000"/>
              </a:lnSpc>
            </a:pPr>
            <a:r>
              <a:rPr lang="en-US" sz="2000" dirty="0" smtClean="0">
                <a:latin typeface="Times New Roman" pitchFamily="18" charset="0"/>
                <a:cs typeface="Times New Roman" pitchFamily="18" charset="0"/>
              </a:rPr>
              <a:t>A stack is a list of elements in which an element may be inserted or deleted only at one end, called the top of the stack. </a:t>
            </a:r>
          </a:p>
          <a:p>
            <a:pPr lvl="1" algn="just">
              <a:lnSpc>
                <a:spcPct val="150000"/>
              </a:lnSpc>
            </a:pPr>
            <a:r>
              <a:rPr lang="en-US" sz="2000" dirty="0" smtClean="0">
                <a:latin typeface="Times New Roman" pitchFamily="18" charset="0"/>
                <a:cs typeface="Times New Roman" pitchFamily="18" charset="0"/>
              </a:rPr>
              <a:t>This means that elements are removed from a stack in the reverse order of that in which they were inserted into the stack.</a:t>
            </a:r>
          </a:p>
          <a:p>
            <a:pPr lvl="1" algn="just">
              <a:lnSpc>
                <a:spcPct val="150000"/>
              </a:lnSpc>
            </a:pPr>
            <a:endParaRPr lang="en-US" sz="2000" dirty="0" smtClean="0">
              <a:latin typeface="Times New Roman" pitchFamily="18" charset="0"/>
              <a:cs typeface="Times New Roman" pitchFamily="18" charset="0"/>
            </a:endParaRPr>
          </a:p>
          <a:p>
            <a:pPr lvl="1" algn="just">
              <a:lnSpc>
                <a:spcPct val="150000"/>
              </a:lnSpc>
            </a:pPr>
            <a:r>
              <a:rPr lang="en-US" sz="2000" dirty="0" smtClean="0">
                <a:latin typeface="Times New Roman" pitchFamily="18" charset="0"/>
                <a:cs typeface="Times New Roman" pitchFamily="18" charset="0"/>
              </a:rPr>
              <a:t>Two basic operations associated with stacks:</a:t>
            </a:r>
          </a:p>
          <a:p>
            <a:pPr lvl="2" algn="just">
              <a:lnSpc>
                <a:spcPct val="150000"/>
              </a:lnSpc>
            </a:pPr>
            <a:r>
              <a:rPr lang="en-US" sz="2000" dirty="0" smtClean="0">
                <a:latin typeface="Times New Roman" pitchFamily="18" charset="0"/>
                <a:cs typeface="Times New Roman" pitchFamily="18" charset="0"/>
              </a:rPr>
              <a:t>“</a:t>
            </a:r>
            <a:r>
              <a:rPr lang="en-US" sz="2000" b="1" dirty="0" smtClean="0">
                <a:latin typeface="Times New Roman" pitchFamily="18" charset="0"/>
                <a:cs typeface="Times New Roman" pitchFamily="18" charset="0"/>
              </a:rPr>
              <a:t>Push</a:t>
            </a:r>
            <a:r>
              <a:rPr lang="en-US" sz="2000" dirty="0" smtClean="0">
                <a:latin typeface="Times New Roman" pitchFamily="18" charset="0"/>
                <a:cs typeface="Times New Roman" pitchFamily="18" charset="0"/>
              </a:rPr>
              <a:t>” is the term used to insert an element into a stack.</a:t>
            </a:r>
          </a:p>
          <a:p>
            <a:pPr lvl="2" algn="just">
              <a:lnSpc>
                <a:spcPct val="150000"/>
              </a:lnSpc>
            </a:pPr>
            <a:r>
              <a:rPr lang="en-US" sz="2000" dirty="0" smtClean="0">
                <a:latin typeface="Times New Roman" pitchFamily="18" charset="0"/>
                <a:cs typeface="Times New Roman" pitchFamily="18" charset="0"/>
              </a:rPr>
              <a:t>“</a:t>
            </a:r>
            <a:r>
              <a:rPr lang="en-US" sz="2000" b="1" dirty="0" smtClean="0">
                <a:latin typeface="Times New Roman" pitchFamily="18" charset="0"/>
                <a:cs typeface="Times New Roman" pitchFamily="18" charset="0"/>
              </a:rPr>
              <a:t>Pop</a:t>
            </a:r>
            <a:r>
              <a:rPr lang="en-US" sz="2000" dirty="0" smtClean="0">
                <a:latin typeface="Times New Roman" pitchFamily="18" charset="0"/>
                <a:cs typeface="Times New Roman" pitchFamily="18" charset="0"/>
              </a:rPr>
              <a:t>” is the term used to delete an element from a stack.</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xmlns="" id="{15914EC7-AC8A-4511-AA17-489D0D653EB4}"/>
              </a:ext>
            </a:extLst>
          </p:cNvPr>
          <p:cNvSpPr>
            <a:spLocks noGrp="1" noChangeArrowheads="1"/>
          </p:cNvSpPr>
          <p:nvPr>
            <p:ph type="title"/>
          </p:nvPr>
        </p:nvSpPr>
        <p:spPr>
          <a:xfrm>
            <a:off x="1332409" y="342107"/>
            <a:ext cx="5471839" cy="549275"/>
          </a:xfrm>
        </p:spPr>
        <p:txBody>
          <a:bodyPr/>
          <a:lstStyle/>
          <a:p>
            <a:pPr eaLnBrk="1" hangingPunct="1"/>
            <a:r>
              <a:rPr lang="en-US" altLang="en-US" dirty="0"/>
              <a:t>An Example of a Stack</a:t>
            </a:r>
          </a:p>
        </p:txBody>
      </p:sp>
      <p:graphicFrame>
        <p:nvGraphicFramePr>
          <p:cNvPr id="5159" name="Group 39">
            <a:extLst>
              <a:ext uri="{FF2B5EF4-FFF2-40B4-BE49-F238E27FC236}">
                <a16:creationId xmlns:a16="http://schemas.microsoft.com/office/drawing/2014/main" xmlns="" id="{D9B8B946-E0B6-43CF-964B-C5383C8B2FB0}"/>
              </a:ext>
            </a:extLst>
          </p:cNvPr>
          <p:cNvGraphicFramePr>
            <a:graphicFrameLocks noGrp="1"/>
          </p:cNvGraphicFramePr>
          <p:nvPr/>
        </p:nvGraphicFramePr>
        <p:xfrm>
          <a:off x="7019925" y="1516063"/>
          <a:ext cx="1079500" cy="2058988"/>
        </p:xfrm>
        <a:graphic>
          <a:graphicData uri="http://schemas.openxmlformats.org/drawingml/2006/table">
            <a:tbl>
              <a:tblPr rtl="1"/>
              <a:tblGrid>
                <a:gridCol w="1079500">
                  <a:extLst>
                    <a:ext uri="{9D8B030D-6E8A-4147-A177-3AD203B41FA5}">
                      <a16:colId xmlns:a16="http://schemas.microsoft.com/office/drawing/2014/main" xmlns="" val="20000"/>
                    </a:ext>
                  </a:extLst>
                </a:gridCol>
              </a:tblGrid>
              <a:tr h="36576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44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20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graphicFrame>
        <p:nvGraphicFramePr>
          <p:cNvPr id="5261" name="Group 141">
            <a:extLst>
              <a:ext uri="{FF2B5EF4-FFF2-40B4-BE49-F238E27FC236}">
                <a16:creationId xmlns:a16="http://schemas.microsoft.com/office/drawing/2014/main" xmlns="" id="{34A55A5C-1969-493E-8AAF-1FBFD0F06178}"/>
              </a:ext>
            </a:extLst>
          </p:cNvPr>
          <p:cNvGraphicFramePr>
            <a:graphicFrameLocks noGrp="1"/>
          </p:cNvGraphicFramePr>
          <p:nvPr/>
        </p:nvGraphicFramePr>
        <p:xfrm>
          <a:off x="1260475" y="4922838"/>
          <a:ext cx="1079500" cy="1028700"/>
        </p:xfrm>
        <a:graphic>
          <a:graphicData uri="http://schemas.openxmlformats.org/drawingml/2006/table">
            <a:tbl>
              <a:tblPr rtl="1"/>
              <a:tblGrid>
                <a:gridCol w="1079500">
                  <a:extLst>
                    <a:ext uri="{9D8B030D-6E8A-4147-A177-3AD203B41FA5}">
                      <a16:colId xmlns:a16="http://schemas.microsoft.com/office/drawing/2014/main" xmlns="" val="20000"/>
                    </a:ext>
                  </a:extLst>
                </a:gridCol>
              </a:tblGrid>
              <a:tr h="3349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dirty="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graphicFrame>
        <p:nvGraphicFramePr>
          <p:cNvPr id="5235" name="Group 115">
            <a:extLst>
              <a:ext uri="{FF2B5EF4-FFF2-40B4-BE49-F238E27FC236}">
                <a16:creationId xmlns:a16="http://schemas.microsoft.com/office/drawing/2014/main" xmlns="" id="{46C2E463-B0E8-4500-9CF6-F607849FC445}"/>
              </a:ext>
            </a:extLst>
          </p:cNvPr>
          <p:cNvGraphicFramePr>
            <a:graphicFrameLocks noGrp="1"/>
          </p:cNvGraphicFramePr>
          <p:nvPr/>
        </p:nvGraphicFramePr>
        <p:xfrm>
          <a:off x="1260475" y="2205038"/>
          <a:ext cx="1079500" cy="1371600"/>
        </p:xfrm>
        <a:graphic>
          <a:graphicData uri="http://schemas.openxmlformats.org/drawingml/2006/table">
            <a:tbl>
              <a:tblPr rtl="1"/>
              <a:tblGrid>
                <a:gridCol w="1079500">
                  <a:extLst>
                    <a:ext uri="{9D8B030D-6E8A-4147-A177-3AD203B41FA5}">
                      <a16:colId xmlns:a16="http://schemas.microsoft.com/office/drawing/2014/main" xmlns="" val="20000"/>
                    </a:ext>
                  </a:extLst>
                </a:gridCol>
              </a:tblGrid>
              <a:tr h="3349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dirty="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bl>
          </a:graphicData>
        </a:graphic>
      </p:graphicFrame>
      <p:graphicFrame>
        <p:nvGraphicFramePr>
          <p:cNvPr id="5247" name="Group 127">
            <a:extLst>
              <a:ext uri="{FF2B5EF4-FFF2-40B4-BE49-F238E27FC236}">
                <a16:creationId xmlns:a16="http://schemas.microsoft.com/office/drawing/2014/main" xmlns="" id="{90CD0E67-5496-4308-AE4D-77DB43B09CEE}"/>
              </a:ext>
            </a:extLst>
          </p:cNvPr>
          <p:cNvGraphicFramePr>
            <a:graphicFrameLocks noGrp="1"/>
          </p:cNvGraphicFramePr>
          <p:nvPr/>
        </p:nvGraphicFramePr>
        <p:xfrm>
          <a:off x="3995738" y="4652963"/>
          <a:ext cx="1079500" cy="1371600"/>
        </p:xfrm>
        <a:graphic>
          <a:graphicData uri="http://schemas.openxmlformats.org/drawingml/2006/table">
            <a:tbl>
              <a:tblPr rtl="1"/>
              <a:tblGrid>
                <a:gridCol w="1079500">
                  <a:extLst>
                    <a:ext uri="{9D8B030D-6E8A-4147-A177-3AD203B41FA5}">
                      <a16:colId xmlns:a16="http://schemas.microsoft.com/office/drawing/2014/main" xmlns="" val="20000"/>
                    </a:ext>
                  </a:extLst>
                </a:gridCol>
              </a:tblGrid>
              <a:tr h="3349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dirty="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bl>
          </a:graphicData>
        </a:graphic>
      </p:graphicFrame>
      <p:graphicFrame>
        <p:nvGraphicFramePr>
          <p:cNvPr id="5278" name="Group 158">
            <a:extLst>
              <a:ext uri="{FF2B5EF4-FFF2-40B4-BE49-F238E27FC236}">
                <a16:creationId xmlns:a16="http://schemas.microsoft.com/office/drawing/2014/main" xmlns="" id="{130B6B96-B322-430B-8102-11942ACACB4B}"/>
              </a:ext>
            </a:extLst>
          </p:cNvPr>
          <p:cNvGraphicFramePr>
            <a:graphicFrameLocks noGrp="1"/>
          </p:cNvGraphicFramePr>
          <p:nvPr/>
        </p:nvGraphicFramePr>
        <p:xfrm>
          <a:off x="7019925" y="4437063"/>
          <a:ext cx="1079500" cy="1716088"/>
        </p:xfrm>
        <a:graphic>
          <a:graphicData uri="http://schemas.openxmlformats.org/drawingml/2006/table">
            <a:tbl>
              <a:tblPr rtl="1"/>
              <a:tblGrid>
                <a:gridCol w="1079500">
                  <a:extLst>
                    <a:ext uri="{9D8B030D-6E8A-4147-A177-3AD203B41FA5}">
                      <a16:colId xmlns:a16="http://schemas.microsoft.com/office/drawing/2014/main" xmlns="" val="20000"/>
                    </a:ext>
                  </a:extLst>
                </a:gridCol>
              </a:tblGrid>
              <a:tr h="36576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44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20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graphicFrame>
        <p:nvGraphicFramePr>
          <p:cNvPr id="5279" name="Group 159">
            <a:extLst>
              <a:ext uri="{FF2B5EF4-FFF2-40B4-BE49-F238E27FC236}">
                <a16:creationId xmlns:a16="http://schemas.microsoft.com/office/drawing/2014/main" xmlns="" id="{BF646EE1-5958-418D-902E-B05274180BFB}"/>
              </a:ext>
            </a:extLst>
          </p:cNvPr>
          <p:cNvGraphicFramePr>
            <a:graphicFrameLocks noGrp="1"/>
          </p:cNvGraphicFramePr>
          <p:nvPr/>
        </p:nvGraphicFramePr>
        <p:xfrm>
          <a:off x="3997325" y="1844675"/>
          <a:ext cx="1079500" cy="1716088"/>
        </p:xfrm>
        <a:graphic>
          <a:graphicData uri="http://schemas.openxmlformats.org/drawingml/2006/table">
            <a:tbl>
              <a:tblPr rtl="1"/>
              <a:tblGrid>
                <a:gridCol w="1079500">
                  <a:extLst>
                    <a:ext uri="{9D8B030D-6E8A-4147-A177-3AD203B41FA5}">
                      <a16:colId xmlns:a16="http://schemas.microsoft.com/office/drawing/2014/main" xmlns="" val="20000"/>
                    </a:ext>
                  </a:extLst>
                </a:gridCol>
              </a:tblGrid>
              <a:tr h="3349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44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42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a:ln>
                            <a:noFill/>
                          </a:ln>
                          <a:solidFill>
                            <a:schemeClr val="tx1"/>
                          </a:solidFill>
                          <a:effectLst/>
                          <a:latin typeface="Arial" charset="0"/>
                          <a:cs typeface="Arial" charset="0"/>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180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500" b="0" i="0" u="none" strike="noStrike" cap="none" normalizeH="0" baseline="0" dirty="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
        <p:nvSpPr>
          <p:cNvPr id="7243" name="Text Box 173">
            <a:extLst>
              <a:ext uri="{FF2B5EF4-FFF2-40B4-BE49-F238E27FC236}">
                <a16:creationId xmlns:a16="http://schemas.microsoft.com/office/drawing/2014/main" xmlns="" id="{65F434A5-7D0D-41A9-AEB3-899D26683050}"/>
              </a:ext>
            </a:extLst>
          </p:cNvPr>
          <p:cNvSpPr txBox="1">
            <a:spLocks noChangeArrowheads="1"/>
          </p:cNvSpPr>
          <p:nvPr/>
        </p:nvSpPr>
        <p:spPr bwMode="auto">
          <a:xfrm>
            <a:off x="468313" y="2565400"/>
            <a:ext cx="7191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50000"/>
              </a:spcBef>
              <a:buFontTx/>
              <a:buNone/>
            </a:pPr>
            <a:r>
              <a:rPr lang="en-US" altLang="en-US" sz="1800" dirty="0"/>
              <a:t>top</a:t>
            </a:r>
          </a:p>
        </p:txBody>
      </p:sp>
      <p:sp>
        <p:nvSpPr>
          <p:cNvPr id="5294" name="Text Box 174">
            <a:extLst>
              <a:ext uri="{FF2B5EF4-FFF2-40B4-BE49-F238E27FC236}">
                <a16:creationId xmlns:a16="http://schemas.microsoft.com/office/drawing/2014/main" xmlns="" id="{44B7DC7C-DD53-4844-A467-3BB47FC4733E}"/>
              </a:ext>
            </a:extLst>
          </p:cNvPr>
          <p:cNvSpPr txBox="1">
            <a:spLocks noChangeArrowheads="1"/>
          </p:cNvSpPr>
          <p:nvPr/>
        </p:nvSpPr>
        <p:spPr bwMode="auto">
          <a:xfrm>
            <a:off x="3059113" y="2205038"/>
            <a:ext cx="7191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50000"/>
              </a:spcBef>
              <a:buFontTx/>
              <a:buNone/>
            </a:pPr>
            <a:r>
              <a:rPr lang="en-US" altLang="en-US" sz="1800"/>
              <a:t>top</a:t>
            </a:r>
          </a:p>
        </p:txBody>
      </p:sp>
      <p:sp>
        <p:nvSpPr>
          <p:cNvPr id="5295" name="Text Box 175">
            <a:extLst>
              <a:ext uri="{FF2B5EF4-FFF2-40B4-BE49-F238E27FC236}">
                <a16:creationId xmlns:a16="http://schemas.microsoft.com/office/drawing/2014/main" xmlns="" id="{81B6C1B4-1DED-4522-980C-ADA54FA43FF0}"/>
              </a:ext>
            </a:extLst>
          </p:cNvPr>
          <p:cNvSpPr txBox="1">
            <a:spLocks noChangeArrowheads="1"/>
          </p:cNvSpPr>
          <p:nvPr/>
        </p:nvSpPr>
        <p:spPr bwMode="auto">
          <a:xfrm>
            <a:off x="6300788" y="1916113"/>
            <a:ext cx="7191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50000"/>
              </a:spcBef>
              <a:buFontTx/>
              <a:buNone/>
            </a:pPr>
            <a:r>
              <a:rPr lang="en-US" altLang="en-US" sz="1800"/>
              <a:t>top</a:t>
            </a:r>
          </a:p>
        </p:txBody>
      </p:sp>
      <p:sp>
        <p:nvSpPr>
          <p:cNvPr id="5296" name="Text Box 176">
            <a:extLst>
              <a:ext uri="{FF2B5EF4-FFF2-40B4-BE49-F238E27FC236}">
                <a16:creationId xmlns:a16="http://schemas.microsoft.com/office/drawing/2014/main" xmlns="" id="{83E9012A-CF98-494F-AF6F-E6DAA0054EA7}"/>
              </a:ext>
            </a:extLst>
          </p:cNvPr>
          <p:cNvSpPr txBox="1">
            <a:spLocks noChangeArrowheads="1"/>
          </p:cNvSpPr>
          <p:nvPr/>
        </p:nvSpPr>
        <p:spPr bwMode="auto">
          <a:xfrm>
            <a:off x="6300788" y="4797425"/>
            <a:ext cx="7191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50000"/>
              </a:spcBef>
              <a:buFontTx/>
              <a:buNone/>
            </a:pPr>
            <a:r>
              <a:rPr lang="en-US" altLang="en-US" sz="1800"/>
              <a:t>top</a:t>
            </a:r>
          </a:p>
        </p:txBody>
      </p:sp>
      <p:sp>
        <p:nvSpPr>
          <p:cNvPr id="5297" name="Text Box 177">
            <a:extLst>
              <a:ext uri="{FF2B5EF4-FFF2-40B4-BE49-F238E27FC236}">
                <a16:creationId xmlns:a16="http://schemas.microsoft.com/office/drawing/2014/main" xmlns="" id="{3ABD56C2-6683-4C1B-AAAB-15455949C77D}"/>
              </a:ext>
            </a:extLst>
          </p:cNvPr>
          <p:cNvSpPr txBox="1">
            <a:spLocks noChangeArrowheads="1"/>
          </p:cNvSpPr>
          <p:nvPr/>
        </p:nvSpPr>
        <p:spPr bwMode="auto">
          <a:xfrm>
            <a:off x="3276600" y="5013325"/>
            <a:ext cx="7191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50000"/>
              </a:spcBef>
              <a:buFontTx/>
              <a:buNone/>
            </a:pPr>
            <a:r>
              <a:rPr lang="en-US" altLang="en-US" sz="1800"/>
              <a:t>top</a:t>
            </a:r>
          </a:p>
        </p:txBody>
      </p:sp>
      <p:sp>
        <p:nvSpPr>
          <p:cNvPr id="5298" name="Text Box 178">
            <a:extLst>
              <a:ext uri="{FF2B5EF4-FFF2-40B4-BE49-F238E27FC236}">
                <a16:creationId xmlns:a16="http://schemas.microsoft.com/office/drawing/2014/main" xmlns="" id="{56F6ACF2-BEB7-4D01-857E-D484A1B3463E}"/>
              </a:ext>
            </a:extLst>
          </p:cNvPr>
          <p:cNvSpPr txBox="1">
            <a:spLocks noChangeArrowheads="1"/>
          </p:cNvSpPr>
          <p:nvPr/>
        </p:nvSpPr>
        <p:spPr bwMode="auto">
          <a:xfrm>
            <a:off x="539750" y="5229225"/>
            <a:ext cx="7191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50000"/>
              </a:spcBef>
              <a:buFontTx/>
              <a:buNone/>
            </a:pPr>
            <a:r>
              <a:rPr lang="en-US" altLang="en-US" sz="1800"/>
              <a:t>top</a:t>
            </a:r>
          </a:p>
        </p:txBody>
      </p:sp>
      <p:grpSp>
        <p:nvGrpSpPr>
          <p:cNvPr id="7249" name="Group 181">
            <a:extLst>
              <a:ext uri="{FF2B5EF4-FFF2-40B4-BE49-F238E27FC236}">
                <a16:creationId xmlns:a16="http://schemas.microsoft.com/office/drawing/2014/main" xmlns="" id="{BC63F3CB-49B3-497C-B335-92BE59DFB2BC}"/>
              </a:ext>
            </a:extLst>
          </p:cNvPr>
          <p:cNvGrpSpPr>
            <a:grpSpLocks/>
          </p:cNvGrpSpPr>
          <p:nvPr/>
        </p:nvGrpSpPr>
        <p:grpSpPr bwMode="auto">
          <a:xfrm>
            <a:off x="2484438" y="2708275"/>
            <a:ext cx="1295400" cy="433388"/>
            <a:chOff x="1565" y="1706"/>
            <a:chExt cx="816" cy="273"/>
          </a:xfrm>
        </p:grpSpPr>
        <p:sp>
          <p:nvSpPr>
            <p:cNvPr id="7261" name="Line 179">
              <a:extLst>
                <a:ext uri="{FF2B5EF4-FFF2-40B4-BE49-F238E27FC236}">
                  <a16:creationId xmlns:a16="http://schemas.microsoft.com/office/drawing/2014/main" xmlns="" id="{EE42037F-4BAA-4FDE-9CF0-7C36112A9F74}"/>
                </a:ext>
              </a:extLst>
            </p:cNvPr>
            <p:cNvSpPr>
              <a:spLocks noChangeShapeType="1"/>
            </p:cNvSpPr>
            <p:nvPr/>
          </p:nvSpPr>
          <p:spPr bwMode="auto">
            <a:xfrm>
              <a:off x="1610" y="1979"/>
              <a:ext cx="77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62" name="Text Box 180">
              <a:extLst>
                <a:ext uri="{FF2B5EF4-FFF2-40B4-BE49-F238E27FC236}">
                  <a16:creationId xmlns:a16="http://schemas.microsoft.com/office/drawing/2014/main" xmlns="" id="{99CD0EA8-809D-4FD3-A3DB-6FC91EDF1420}"/>
                </a:ext>
              </a:extLst>
            </p:cNvPr>
            <p:cNvSpPr txBox="1">
              <a:spLocks noChangeArrowheads="1"/>
            </p:cNvSpPr>
            <p:nvPr/>
          </p:nvSpPr>
          <p:spPr bwMode="auto">
            <a:xfrm>
              <a:off x="1565" y="1706"/>
              <a:ext cx="7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t>Push(8)</a:t>
              </a:r>
            </a:p>
          </p:txBody>
        </p:sp>
      </p:grpSp>
      <p:grpSp>
        <p:nvGrpSpPr>
          <p:cNvPr id="3" name="Group 182">
            <a:extLst>
              <a:ext uri="{FF2B5EF4-FFF2-40B4-BE49-F238E27FC236}">
                <a16:creationId xmlns:a16="http://schemas.microsoft.com/office/drawing/2014/main" xmlns="" id="{E83D0B14-79CA-4DE3-843A-72D769F34129}"/>
              </a:ext>
            </a:extLst>
          </p:cNvPr>
          <p:cNvGrpSpPr>
            <a:grpSpLocks/>
          </p:cNvGrpSpPr>
          <p:nvPr/>
        </p:nvGrpSpPr>
        <p:grpSpPr bwMode="auto">
          <a:xfrm>
            <a:off x="5364163" y="2781300"/>
            <a:ext cx="1295400" cy="433388"/>
            <a:chOff x="1565" y="1706"/>
            <a:chExt cx="816" cy="273"/>
          </a:xfrm>
        </p:grpSpPr>
        <p:sp>
          <p:nvSpPr>
            <p:cNvPr id="7259" name="Line 183">
              <a:extLst>
                <a:ext uri="{FF2B5EF4-FFF2-40B4-BE49-F238E27FC236}">
                  <a16:creationId xmlns:a16="http://schemas.microsoft.com/office/drawing/2014/main" xmlns="" id="{DC61FD62-6552-45F8-97FA-99E63557593E}"/>
                </a:ext>
              </a:extLst>
            </p:cNvPr>
            <p:cNvSpPr>
              <a:spLocks noChangeShapeType="1"/>
            </p:cNvSpPr>
            <p:nvPr/>
          </p:nvSpPr>
          <p:spPr bwMode="auto">
            <a:xfrm>
              <a:off x="1610" y="1979"/>
              <a:ext cx="77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60" name="Text Box 184">
              <a:extLst>
                <a:ext uri="{FF2B5EF4-FFF2-40B4-BE49-F238E27FC236}">
                  <a16:creationId xmlns:a16="http://schemas.microsoft.com/office/drawing/2014/main" xmlns="" id="{33BF26DF-6EC2-47D6-A44C-80BB860898EF}"/>
                </a:ext>
              </a:extLst>
            </p:cNvPr>
            <p:cNvSpPr txBox="1">
              <a:spLocks noChangeArrowheads="1"/>
            </p:cNvSpPr>
            <p:nvPr/>
          </p:nvSpPr>
          <p:spPr bwMode="auto">
            <a:xfrm>
              <a:off x="1565" y="1706"/>
              <a:ext cx="7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Push(2)</a:t>
              </a:r>
            </a:p>
          </p:txBody>
        </p:sp>
      </p:grpSp>
      <p:sp>
        <p:nvSpPr>
          <p:cNvPr id="5305" name="Line 185">
            <a:extLst>
              <a:ext uri="{FF2B5EF4-FFF2-40B4-BE49-F238E27FC236}">
                <a16:creationId xmlns:a16="http://schemas.microsoft.com/office/drawing/2014/main" xmlns="" id="{B44809DD-0D98-4672-9B7C-8F0C62AE0D94}"/>
              </a:ext>
            </a:extLst>
          </p:cNvPr>
          <p:cNvSpPr>
            <a:spLocks noChangeShapeType="1"/>
          </p:cNvSpPr>
          <p:nvPr/>
        </p:nvSpPr>
        <p:spPr bwMode="auto">
          <a:xfrm>
            <a:off x="7667625" y="3716338"/>
            <a:ext cx="0" cy="8651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06" name="Text Box 186">
            <a:extLst>
              <a:ext uri="{FF2B5EF4-FFF2-40B4-BE49-F238E27FC236}">
                <a16:creationId xmlns:a16="http://schemas.microsoft.com/office/drawing/2014/main" xmlns="" id="{A9114015-1932-40F8-AD49-DAF9FE116CC8}"/>
              </a:ext>
            </a:extLst>
          </p:cNvPr>
          <p:cNvSpPr txBox="1">
            <a:spLocks noChangeArrowheads="1"/>
          </p:cNvSpPr>
          <p:nvPr/>
        </p:nvSpPr>
        <p:spPr bwMode="auto">
          <a:xfrm rot="-5400000">
            <a:off x="7103269" y="3706019"/>
            <a:ext cx="458787"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rtl="1" eaLnBrk="1" hangingPunct="1">
              <a:spcBef>
                <a:spcPct val="0"/>
              </a:spcBef>
              <a:buFontTx/>
              <a:buNone/>
            </a:pPr>
            <a:r>
              <a:rPr lang="en-US" altLang="en-US" sz="1800"/>
              <a:t>pop()</a:t>
            </a:r>
          </a:p>
        </p:txBody>
      </p:sp>
      <p:grpSp>
        <p:nvGrpSpPr>
          <p:cNvPr id="4" name="Group 187">
            <a:extLst>
              <a:ext uri="{FF2B5EF4-FFF2-40B4-BE49-F238E27FC236}">
                <a16:creationId xmlns:a16="http://schemas.microsoft.com/office/drawing/2014/main" xmlns="" id="{A5E3ECC4-DC13-4BF7-A946-F18C2B016E1C}"/>
              </a:ext>
            </a:extLst>
          </p:cNvPr>
          <p:cNvGrpSpPr>
            <a:grpSpLocks/>
          </p:cNvGrpSpPr>
          <p:nvPr/>
        </p:nvGrpSpPr>
        <p:grpSpPr bwMode="auto">
          <a:xfrm flipH="1">
            <a:off x="5219700" y="5300663"/>
            <a:ext cx="1295400" cy="433387"/>
            <a:chOff x="1565" y="1706"/>
            <a:chExt cx="816" cy="273"/>
          </a:xfrm>
        </p:grpSpPr>
        <p:sp>
          <p:nvSpPr>
            <p:cNvPr id="7257" name="Line 188">
              <a:extLst>
                <a:ext uri="{FF2B5EF4-FFF2-40B4-BE49-F238E27FC236}">
                  <a16:creationId xmlns:a16="http://schemas.microsoft.com/office/drawing/2014/main" xmlns="" id="{A060512B-4340-423F-9AA2-E5746C3DA37E}"/>
                </a:ext>
              </a:extLst>
            </p:cNvPr>
            <p:cNvSpPr>
              <a:spLocks noChangeShapeType="1"/>
            </p:cNvSpPr>
            <p:nvPr/>
          </p:nvSpPr>
          <p:spPr bwMode="auto">
            <a:xfrm>
              <a:off x="1610" y="1979"/>
              <a:ext cx="77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58" name="Text Box 189">
              <a:extLst>
                <a:ext uri="{FF2B5EF4-FFF2-40B4-BE49-F238E27FC236}">
                  <a16:creationId xmlns:a16="http://schemas.microsoft.com/office/drawing/2014/main" xmlns="" id="{6323B1E1-E1F8-4876-ABE3-2CC933E298D7}"/>
                </a:ext>
              </a:extLst>
            </p:cNvPr>
            <p:cNvSpPr txBox="1">
              <a:spLocks noChangeArrowheads="1"/>
            </p:cNvSpPr>
            <p:nvPr/>
          </p:nvSpPr>
          <p:spPr bwMode="auto">
            <a:xfrm>
              <a:off x="1565" y="1706"/>
              <a:ext cx="7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a:t>pop()</a:t>
              </a:r>
            </a:p>
          </p:txBody>
        </p:sp>
      </p:grpSp>
      <p:grpSp>
        <p:nvGrpSpPr>
          <p:cNvPr id="5" name="Group 190">
            <a:extLst>
              <a:ext uri="{FF2B5EF4-FFF2-40B4-BE49-F238E27FC236}">
                <a16:creationId xmlns:a16="http://schemas.microsoft.com/office/drawing/2014/main" xmlns="" id="{52ECE0F6-9A80-486B-A622-7AA0AA1C2C93}"/>
              </a:ext>
            </a:extLst>
          </p:cNvPr>
          <p:cNvGrpSpPr>
            <a:grpSpLocks/>
          </p:cNvGrpSpPr>
          <p:nvPr/>
        </p:nvGrpSpPr>
        <p:grpSpPr bwMode="auto">
          <a:xfrm flipH="1">
            <a:off x="2484438" y="5445125"/>
            <a:ext cx="1295400" cy="433388"/>
            <a:chOff x="1565" y="1706"/>
            <a:chExt cx="816" cy="273"/>
          </a:xfrm>
        </p:grpSpPr>
        <p:sp>
          <p:nvSpPr>
            <p:cNvPr id="7255" name="Line 191">
              <a:extLst>
                <a:ext uri="{FF2B5EF4-FFF2-40B4-BE49-F238E27FC236}">
                  <a16:creationId xmlns:a16="http://schemas.microsoft.com/office/drawing/2014/main" xmlns="" id="{3DC50718-BAC3-435B-A27E-C0D8A54966B2}"/>
                </a:ext>
              </a:extLst>
            </p:cNvPr>
            <p:cNvSpPr>
              <a:spLocks noChangeShapeType="1"/>
            </p:cNvSpPr>
            <p:nvPr/>
          </p:nvSpPr>
          <p:spPr bwMode="auto">
            <a:xfrm>
              <a:off x="1610" y="1979"/>
              <a:ext cx="77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56" name="Text Box 192">
              <a:extLst>
                <a:ext uri="{FF2B5EF4-FFF2-40B4-BE49-F238E27FC236}">
                  <a16:creationId xmlns:a16="http://schemas.microsoft.com/office/drawing/2014/main" xmlns="" id="{82B9D5ED-0A6D-48E7-BD99-DC75DB99C534}"/>
                </a:ext>
              </a:extLst>
            </p:cNvPr>
            <p:cNvSpPr txBox="1">
              <a:spLocks noChangeArrowheads="1"/>
            </p:cNvSpPr>
            <p:nvPr/>
          </p:nvSpPr>
          <p:spPr bwMode="auto">
            <a:xfrm>
              <a:off x="1565" y="1706"/>
              <a:ext cx="7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800"/>
                <a:t>pop()</a:t>
              </a:r>
            </a:p>
          </p:txBody>
        </p:sp>
      </p:grpSp>
    </p:spTree>
    <p:extLst>
      <p:ext uri="{BB962C8B-B14F-4D97-AF65-F5344CB8AC3E}">
        <p14:creationId xmlns:p14="http://schemas.microsoft.com/office/powerpoint/2010/main" val="6311872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nodeType="clickEffect">
                                  <p:stCondLst>
                                    <p:cond delay="0"/>
                                  </p:stCondLst>
                                  <p:childTnLst>
                                    <p:set>
                                      <p:cBhvr>
                                        <p:cTn id="6" dur="1" fill="hold">
                                          <p:stCondLst>
                                            <p:cond delay="0"/>
                                          </p:stCondLst>
                                        </p:cTn>
                                        <p:tgtEl>
                                          <p:spTgt spid="5279"/>
                                        </p:tgtEl>
                                        <p:attrNameLst>
                                          <p:attrName>style.visibility</p:attrName>
                                        </p:attrNameLst>
                                      </p:cBhvr>
                                      <p:to>
                                        <p:strVal val="visible"/>
                                      </p:to>
                                    </p:set>
                                    <p:anim to="" calcmode="lin" valueType="num">
                                      <p:cBhvr>
                                        <p:cTn id="7" dur="1" fill="hold"/>
                                        <p:tgtEl>
                                          <p:spTgt spid="5279"/>
                                        </p:tgtEl>
                                        <p:attrNameLst>
                                          <p:attrName/>
                                        </p:attrNameLst>
                                      </p:cBhvr>
                                    </p:anim>
                                  </p:childTnLst>
                                </p:cTn>
                              </p:par>
                              <p:par>
                                <p:cTn id="8" presetID="24" presetClass="entr" presetSubtype="0" fill="hold" grpId="0" nodeType="withEffect">
                                  <p:stCondLst>
                                    <p:cond delay="0"/>
                                  </p:stCondLst>
                                  <p:childTnLst>
                                    <p:set>
                                      <p:cBhvr>
                                        <p:cTn id="9" dur="1" fill="hold">
                                          <p:stCondLst>
                                            <p:cond delay="0"/>
                                          </p:stCondLst>
                                        </p:cTn>
                                        <p:tgtEl>
                                          <p:spTgt spid="5294"/>
                                        </p:tgtEl>
                                        <p:attrNameLst>
                                          <p:attrName>style.visibility</p:attrName>
                                        </p:attrNameLst>
                                      </p:cBhvr>
                                      <p:to>
                                        <p:strVal val="visible"/>
                                      </p:to>
                                    </p:set>
                                    <p:anim to="" calcmode="lin" valueType="num">
                                      <p:cBhvr>
                                        <p:cTn id="10" dur="1" fill="hold"/>
                                        <p:tgtEl>
                                          <p:spTgt spid="5294"/>
                                        </p:tgtEl>
                                        <p:attrNameLst>
                                          <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4"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 to="" calcmode="lin" valueType="num">
                                      <p:cBhvr>
                                        <p:cTn id="15" dur="1" fill="hold"/>
                                        <p:tgtEl>
                                          <p:spTgt spid="3"/>
                                        </p:tgtEl>
                                        <p:attrNameLst>
                                          <p:attrName/>
                                        </p:attrNameLst>
                                      </p:cBhvr>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4" presetClass="entr" presetSubtype="0" fill="hold" nodeType="clickEffect">
                                  <p:stCondLst>
                                    <p:cond delay="0"/>
                                  </p:stCondLst>
                                  <p:childTnLst>
                                    <p:set>
                                      <p:cBhvr>
                                        <p:cTn id="19" dur="1" fill="hold">
                                          <p:stCondLst>
                                            <p:cond delay="0"/>
                                          </p:stCondLst>
                                        </p:cTn>
                                        <p:tgtEl>
                                          <p:spTgt spid="5159"/>
                                        </p:tgtEl>
                                        <p:attrNameLst>
                                          <p:attrName>style.visibility</p:attrName>
                                        </p:attrNameLst>
                                      </p:cBhvr>
                                      <p:to>
                                        <p:strVal val="visible"/>
                                      </p:to>
                                    </p:set>
                                    <p:anim to="" calcmode="lin" valueType="num">
                                      <p:cBhvr>
                                        <p:cTn id="20" dur="1" fill="hold"/>
                                        <p:tgtEl>
                                          <p:spTgt spid="5159"/>
                                        </p:tgtEl>
                                        <p:attrNameLst>
                                          <p:attrName/>
                                        </p:attrNameLst>
                                      </p:cBhvr>
                                    </p:anim>
                                  </p:childTnLst>
                                </p:cTn>
                              </p:par>
                              <p:par>
                                <p:cTn id="21" presetID="24" presetClass="entr" presetSubtype="0" fill="hold" grpId="0" nodeType="withEffect">
                                  <p:stCondLst>
                                    <p:cond delay="0"/>
                                  </p:stCondLst>
                                  <p:childTnLst>
                                    <p:set>
                                      <p:cBhvr>
                                        <p:cTn id="22" dur="1" fill="hold">
                                          <p:stCondLst>
                                            <p:cond delay="0"/>
                                          </p:stCondLst>
                                        </p:cTn>
                                        <p:tgtEl>
                                          <p:spTgt spid="5295"/>
                                        </p:tgtEl>
                                        <p:attrNameLst>
                                          <p:attrName>style.visibility</p:attrName>
                                        </p:attrNameLst>
                                      </p:cBhvr>
                                      <p:to>
                                        <p:strVal val="visible"/>
                                      </p:to>
                                    </p:set>
                                    <p:anim to="" calcmode="lin" valueType="num">
                                      <p:cBhvr>
                                        <p:cTn id="23" dur="1" fill="hold"/>
                                        <p:tgtEl>
                                          <p:spTgt spid="5295"/>
                                        </p:tgtEl>
                                        <p:attrNameLst>
                                          <p:attrName/>
                                        </p:attrNameLst>
                                      </p:cBhvr>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4" presetClass="entr" presetSubtype="0" fill="hold" nodeType="clickEffect">
                                  <p:stCondLst>
                                    <p:cond delay="0"/>
                                  </p:stCondLst>
                                  <p:childTnLst>
                                    <p:set>
                                      <p:cBhvr>
                                        <p:cTn id="27" dur="1" fill="hold">
                                          <p:stCondLst>
                                            <p:cond delay="0"/>
                                          </p:stCondLst>
                                        </p:cTn>
                                        <p:tgtEl>
                                          <p:spTgt spid="5305"/>
                                        </p:tgtEl>
                                        <p:attrNameLst>
                                          <p:attrName>style.visibility</p:attrName>
                                        </p:attrNameLst>
                                      </p:cBhvr>
                                      <p:to>
                                        <p:strVal val="visible"/>
                                      </p:to>
                                    </p:set>
                                    <p:anim to="" calcmode="lin" valueType="num">
                                      <p:cBhvr>
                                        <p:cTn id="28" dur="1" fill="hold"/>
                                        <p:tgtEl>
                                          <p:spTgt spid="5305"/>
                                        </p:tgtEl>
                                        <p:attrNameLst>
                                          <p:attrName/>
                                        </p:attrNameLst>
                                      </p:cBhvr>
                                    </p:anim>
                                  </p:childTnLst>
                                </p:cTn>
                              </p:par>
                              <p:par>
                                <p:cTn id="29" presetID="24" presetClass="entr" presetSubtype="0" fill="hold" grpId="0" nodeType="withEffect">
                                  <p:stCondLst>
                                    <p:cond delay="0"/>
                                  </p:stCondLst>
                                  <p:childTnLst>
                                    <p:set>
                                      <p:cBhvr>
                                        <p:cTn id="30" dur="1" fill="hold">
                                          <p:stCondLst>
                                            <p:cond delay="0"/>
                                          </p:stCondLst>
                                        </p:cTn>
                                        <p:tgtEl>
                                          <p:spTgt spid="5306"/>
                                        </p:tgtEl>
                                        <p:attrNameLst>
                                          <p:attrName>style.visibility</p:attrName>
                                        </p:attrNameLst>
                                      </p:cBhvr>
                                      <p:to>
                                        <p:strVal val="visible"/>
                                      </p:to>
                                    </p:set>
                                    <p:anim to="" calcmode="lin" valueType="num">
                                      <p:cBhvr>
                                        <p:cTn id="31" dur="1" fill="hold"/>
                                        <p:tgtEl>
                                          <p:spTgt spid="5306"/>
                                        </p:tgtEl>
                                        <p:attrNameLst>
                                          <p:attrName/>
                                        </p:attrNameLst>
                                      </p:cBhvr>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4" presetClass="entr" presetSubtype="0" fill="hold" nodeType="clickEffect">
                                  <p:stCondLst>
                                    <p:cond delay="0"/>
                                  </p:stCondLst>
                                  <p:childTnLst>
                                    <p:set>
                                      <p:cBhvr>
                                        <p:cTn id="35" dur="1" fill="hold">
                                          <p:stCondLst>
                                            <p:cond delay="0"/>
                                          </p:stCondLst>
                                        </p:cTn>
                                        <p:tgtEl>
                                          <p:spTgt spid="5278"/>
                                        </p:tgtEl>
                                        <p:attrNameLst>
                                          <p:attrName>style.visibility</p:attrName>
                                        </p:attrNameLst>
                                      </p:cBhvr>
                                      <p:to>
                                        <p:strVal val="visible"/>
                                      </p:to>
                                    </p:set>
                                    <p:anim to="" calcmode="lin" valueType="num">
                                      <p:cBhvr>
                                        <p:cTn id="36" dur="1" fill="hold"/>
                                        <p:tgtEl>
                                          <p:spTgt spid="5278"/>
                                        </p:tgtEl>
                                        <p:attrNameLst>
                                          <p:attrName/>
                                        </p:attrNameLst>
                                      </p:cBhvr>
                                    </p:anim>
                                  </p:childTnLst>
                                </p:cTn>
                              </p:par>
                              <p:par>
                                <p:cTn id="37" presetID="24" presetClass="entr" presetSubtype="0" fill="hold" grpId="0" nodeType="withEffect">
                                  <p:stCondLst>
                                    <p:cond delay="0"/>
                                  </p:stCondLst>
                                  <p:childTnLst>
                                    <p:set>
                                      <p:cBhvr>
                                        <p:cTn id="38" dur="1" fill="hold">
                                          <p:stCondLst>
                                            <p:cond delay="0"/>
                                          </p:stCondLst>
                                        </p:cTn>
                                        <p:tgtEl>
                                          <p:spTgt spid="5296"/>
                                        </p:tgtEl>
                                        <p:attrNameLst>
                                          <p:attrName>style.visibility</p:attrName>
                                        </p:attrNameLst>
                                      </p:cBhvr>
                                      <p:to>
                                        <p:strVal val="visible"/>
                                      </p:to>
                                    </p:set>
                                    <p:anim to="" calcmode="lin" valueType="num">
                                      <p:cBhvr>
                                        <p:cTn id="39" dur="1" fill="hold"/>
                                        <p:tgtEl>
                                          <p:spTgt spid="5296"/>
                                        </p:tgtEl>
                                        <p:attrNameLst>
                                          <p:attrName/>
                                        </p:attrNameLst>
                                      </p:cBhvr>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4" presetClass="entr" presetSubtype="0" fill="hold" nodeType="clickEffect">
                                  <p:stCondLst>
                                    <p:cond delay="0"/>
                                  </p:stCondLst>
                                  <p:childTnLst>
                                    <p:set>
                                      <p:cBhvr>
                                        <p:cTn id="43" dur="1" fill="hold">
                                          <p:stCondLst>
                                            <p:cond delay="0"/>
                                          </p:stCondLst>
                                        </p:cTn>
                                        <p:tgtEl>
                                          <p:spTgt spid="4"/>
                                        </p:tgtEl>
                                        <p:attrNameLst>
                                          <p:attrName>style.visibility</p:attrName>
                                        </p:attrNameLst>
                                      </p:cBhvr>
                                      <p:to>
                                        <p:strVal val="visible"/>
                                      </p:to>
                                    </p:set>
                                    <p:anim to="" calcmode="lin" valueType="num">
                                      <p:cBhvr>
                                        <p:cTn id="44" dur="1" fill="hold"/>
                                        <p:tgtEl>
                                          <p:spTgt spid="4"/>
                                        </p:tgtEl>
                                        <p:attrNameLst>
                                          <p:attrName/>
                                        </p:attrNameLst>
                                      </p:cBhvr>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4" presetClass="entr" presetSubtype="0" fill="hold" nodeType="clickEffect">
                                  <p:stCondLst>
                                    <p:cond delay="0"/>
                                  </p:stCondLst>
                                  <p:childTnLst>
                                    <p:set>
                                      <p:cBhvr>
                                        <p:cTn id="48" dur="1" fill="hold">
                                          <p:stCondLst>
                                            <p:cond delay="0"/>
                                          </p:stCondLst>
                                        </p:cTn>
                                        <p:tgtEl>
                                          <p:spTgt spid="5247"/>
                                        </p:tgtEl>
                                        <p:attrNameLst>
                                          <p:attrName>style.visibility</p:attrName>
                                        </p:attrNameLst>
                                      </p:cBhvr>
                                      <p:to>
                                        <p:strVal val="visible"/>
                                      </p:to>
                                    </p:set>
                                    <p:anim to="" calcmode="lin" valueType="num">
                                      <p:cBhvr>
                                        <p:cTn id="49" dur="1" fill="hold"/>
                                        <p:tgtEl>
                                          <p:spTgt spid="5247"/>
                                        </p:tgtEl>
                                        <p:attrNameLst>
                                          <p:attrName/>
                                        </p:attrNameLst>
                                      </p:cBhvr>
                                    </p:anim>
                                  </p:childTnLst>
                                </p:cTn>
                              </p:par>
                              <p:par>
                                <p:cTn id="50" presetID="24" presetClass="entr" presetSubtype="0" fill="hold" grpId="0" nodeType="withEffect">
                                  <p:stCondLst>
                                    <p:cond delay="0"/>
                                  </p:stCondLst>
                                  <p:childTnLst>
                                    <p:set>
                                      <p:cBhvr>
                                        <p:cTn id="51" dur="1" fill="hold">
                                          <p:stCondLst>
                                            <p:cond delay="0"/>
                                          </p:stCondLst>
                                        </p:cTn>
                                        <p:tgtEl>
                                          <p:spTgt spid="5297"/>
                                        </p:tgtEl>
                                        <p:attrNameLst>
                                          <p:attrName>style.visibility</p:attrName>
                                        </p:attrNameLst>
                                      </p:cBhvr>
                                      <p:to>
                                        <p:strVal val="visible"/>
                                      </p:to>
                                    </p:set>
                                    <p:anim to="" calcmode="lin" valueType="num">
                                      <p:cBhvr>
                                        <p:cTn id="52" dur="1" fill="hold"/>
                                        <p:tgtEl>
                                          <p:spTgt spid="5297"/>
                                        </p:tgtEl>
                                        <p:attrNameLst>
                                          <p:attrName/>
                                        </p:attrNameLst>
                                      </p:cBhvr>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4" presetClass="entr" presetSubtype="0"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 to="" calcmode="lin" valueType="num">
                                      <p:cBhvr>
                                        <p:cTn id="57" dur="1" fill="hold"/>
                                        <p:tgtEl>
                                          <p:spTgt spid="5"/>
                                        </p:tgtEl>
                                        <p:attrNameLst>
                                          <p:attrName/>
                                        </p:attrNameLst>
                                      </p:cBhvr>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4" presetClass="entr" presetSubtype="0" fill="hold" nodeType="clickEffect">
                                  <p:stCondLst>
                                    <p:cond delay="0"/>
                                  </p:stCondLst>
                                  <p:childTnLst>
                                    <p:set>
                                      <p:cBhvr>
                                        <p:cTn id="61" dur="1" fill="hold">
                                          <p:stCondLst>
                                            <p:cond delay="0"/>
                                          </p:stCondLst>
                                        </p:cTn>
                                        <p:tgtEl>
                                          <p:spTgt spid="5261"/>
                                        </p:tgtEl>
                                        <p:attrNameLst>
                                          <p:attrName>style.visibility</p:attrName>
                                        </p:attrNameLst>
                                      </p:cBhvr>
                                      <p:to>
                                        <p:strVal val="visible"/>
                                      </p:to>
                                    </p:set>
                                    <p:anim to="" calcmode="lin" valueType="num">
                                      <p:cBhvr>
                                        <p:cTn id="62" dur="1" fill="hold"/>
                                        <p:tgtEl>
                                          <p:spTgt spid="5261"/>
                                        </p:tgtEl>
                                        <p:attrNameLst>
                                          <p:attrName/>
                                        </p:attrNameLst>
                                      </p:cBhvr>
                                    </p:anim>
                                  </p:childTnLst>
                                </p:cTn>
                              </p:par>
                              <p:par>
                                <p:cTn id="63" presetID="24" presetClass="entr" presetSubtype="0" fill="hold" grpId="0" nodeType="withEffect">
                                  <p:stCondLst>
                                    <p:cond delay="0"/>
                                  </p:stCondLst>
                                  <p:childTnLst>
                                    <p:set>
                                      <p:cBhvr>
                                        <p:cTn id="64" dur="1" fill="hold">
                                          <p:stCondLst>
                                            <p:cond delay="0"/>
                                          </p:stCondLst>
                                        </p:cTn>
                                        <p:tgtEl>
                                          <p:spTgt spid="5298"/>
                                        </p:tgtEl>
                                        <p:attrNameLst>
                                          <p:attrName>style.visibility</p:attrName>
                                        </p:attrNameLst>
                                      </p:cBhvr>
                                      <p:to>
                                        <p:strVal val="visible"/>
                                      </p:to>
                                    </p:set>
                                    <p:anim to="" calcmode="lin" valueType="num">
                                      <p:cBhvr>
                                        <p:cTn id="65" dur="1" fill="hold"/>
                                        <p:tgtEl>
                                          <p:spTgt spid="529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4" grpId="0"/>
      <p:bldP spid="5295" grpId="0"/>
      <p:bldP spid="5296" grpId="0"/>
      <p:bldP spid="5297" grpId="0"/>
      <p:bldP spid="5298" grpId="0"/>
      <p:bldP spid="5306"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4953000"/>
          </a:xfrm>
          <a:prstGeom prst="rect">
            <a:avLst/>
          </a:prstGeom>
        </p:spPr>
        <p:txBody>
          <a:bodyPr/>
          <a:lstStyle/>
          <a:p>
            <a:pPr algn="just">
              <a:lnSpc>
                <a:spcPct val="150000"/>
              </a:lnSpc>
              <a:buFont typeface="Wingdings" pitchFamily="2" charset="2"/>
              <a:buChar char="q"/>
            </a:pPr>
            <a:r>
              <a:rPr lang="en-US" sz="2000" b="1" dirty="0" smtClean="0">
                <a:latin typeface="Times New Roman" pitchFamily="18" charset="0"/>
                <a:cs typeface="Times New Roman" pitchFamily="18" charset="0"/>
              </a:rPr>
              <a:t>Procedure 6.1:</a:t>
            </a:r>
            <a:r>
              <a:rPr lang="en-US" sz="2000" dirty="0" smtClean="0">
                <a:latin typeface="Times New Roman" pitchFamily="18" charset="0"/>
                <a:cs typeface="Times New Roman" pitchFamily="18" charset="0"/>
              </a:rPr>
              <a:t> Write a procedure that pushes an ITEM onto a stack.</a:t>
            </a:r>
            <a:endParaRPr lang="en-US" sz="2000" b="1" dirty="0" smtClean="0">
              <a:latin typeface="Times New Roman" pitchFamily="18" charset="0"/>
              <a:cs typeface="Times New Roman" pitchFamily="18" charset="0"/>
            </a:endParaRPr>
          </a:p>
          <a:p>
            <a:pPr algn="just">
              <a:lnSpc>
                <a:spcPct val="150000"/>
              </a:lnSpc>
              <a:buNone/>
            </a:pPr>
            <a:endParaRPr lang="en-US" sz="1200" dirty="0" smtClean="0">
              <a:latin typeface="Times New Roman" pitchFamily="18" charset="0"/>
              <a:cs typeface="Times New Roman" pitchFamily="18" charset="0"/>
            </a:endParaRPr>
          </a:p>
          <a:p>
            <a:pPr algn="just">
              <a:lnSpc>
                <a:spcPct val="150000"/>
              </a:lnSpc>
              <a:buNone/>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PUSH</a:t>
            </a:r>
            <a:r>
              <a:rPr lang="en-US" sz="2000" dirty="0" smtClean="0">
                <a:latin typeface="Times New Roman" pitchFamily="18" charset="0"/>
                <a:cs typeface="Times New Roman" pitchFamily="18" charset="0"/>
              </a:rPr>
              <a:t> (STACK, TOP, MAXSTK, ITEM)</a:t>
            </a:r>
          </a:p>
          <a:p>
            <a:pPr algn="just">
              <a:lnSpc>
                <a:spcPct val="150000"/>
              </a:lnSpc>
              <a:buNone/>
            </a:pPr>
            <a:r>
              <a:rPr lang="en-US" sz="2000" dirty="0" smtClean="0">
                <a:latin typeface="Times New Roman" pitchFamily="18" charset="0"/>
                <a:cs typeface="Times New Roman" pitchFamily="18" charset="0"/>
              </a:rPr>
              <a:t>		This procedure pushes an ITEM onto a stack.</a:t>
            </a:r>
          </a:p>
          <a:p>
            <a:pPr lvl="0" algn="just">
              <a:lnSpc>
                <a:spcPct val="150000"/>
              </a:lnSpc>
              <a:buNone/>
            </a:pPr>
            <a:endParaRPr lang="en-US" sz="1400" dirty="0" smtClean="0">
              <a:latin typeface="Times New Roman" pitchFamily="18" charset="0"/>
              <a:cs typeface="Times New Roman" pitchFamily="18" charset="0"/>
            </a:endParaRPr>
          </a:p>
          <a:p>
            <a:pPr lvl="0" algn="just">
              <a:lnSpc>
                <a:spcPct val="150000"/>
              </a:lnSpc>
              <a:buNone/>
            </a:pPr>
            <a:r>
              <a:rPr lang="en-US" sz="2000" dirty="0" smtClean="0">
                <a:latin typeface="Times New Roman" pitchFamily="18" charset="0"/>
                <a:cs typeface="Times New Roman" pitchFamily="18" charset="0"/>
              </a:rPr>
              <a:t>		1.  If TOP = MAXSTK, then: Print: OVERFLOW and Return.</a:t>
            </a:r>
          </a:p>
          <a:p>
            <a:pPr lvl="0" algn="just">
              <a:lnSpc>
                <a:spcPct val="150000"/>
              </a:lnSpc>
              <a:buNone/>
            </a:pPr>
            <a:r>
              <a:rPr lang="en-US" sz="2000" dirty="0" smtClean="0">
                <a:latin typeface="Times New Roman" pitchFamily="18" charset="0"/>
                <a:cs typeface="Times New Roman" pitchFamily="18" charset="0"/>
              </a:rPr>
              <a:t>		2.  Set TOP = TOP + 1.</a:t>
            </a:r>
          </a:p>
          <a:p>
            <a:pPr lvl="0" algn="just">
              <a:lnSpc>
                <a:spcPct val="150000"/>
              </a:lnSpc>
              <a:buNone/>
            </a:pPr>
            <a:r>
              <a:rPr lang="en-US" sz="2000" dirty="0" smtClean="0">
                <a:latin typeface="Times New Roman" pitchFamily="18" charset="0"/>
                <a:cs typeface="Times New Roman" pitchFamily="18" charset="0"/>
              </a:rPr>
              <a:t>		3.  Set STACK[TOP] = ITEM. </a:t>
            </a:r>
          </a:p>
          <a:p>
            <a:pPr algn="just">
              <a:lnSpc>
                <a:spcPct val="150000"/>
              </a:lnSpc>
              <a:buNone/>
            </a:pPr>
            <a:r>
              <a:rPr lang="en-US" sz="2000" dirty="0" smtClean="0">
                <a:latin typeface="Times New Roman" pitchFamily="18" charset="0"/>
                <a:cs typeface="Times New Roman" pitchFamily="18" charset="0"/>
              </a:rPr>
              <a:t>		4.  Return.</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533400" y="1371600"/>
            <a:ext cx="8229600" cy="4953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Procedure 6.2:</a:t>
            </a:r>
            <a:r>
              <a:rPr lang="en-US" sz="2000" dirty="0" smtClean="0">
                <a:latin typeface="Times New Roman" pitchFamily="18" charset="0"/>
                <a:cs typeface="Times New Roman" pitchFamily="18" charset="0"/>
              </a:rPr>
              <a:t> Write a procedure that deletes the top element of a stack. </a:t>
            </a:r>
            <a:endParaRPr lang="en-US" sz="2000" b="1"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lgn="just">
              <a:lnSpc>
                <a:spcPct val="150000"/>
              </a:lnSpc>
              <a:buNone/>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POP</a:t>
            </a:r>
            <a:r>
              <a:rPr lang="en-US" sz="2000" dirty="0" smtClean="0">
                <a:latin typeface="Times New Roman" pitchFamily="18" charset="0"/>
                <a:cs typeface="Times New Roman" pitchFamily="18" charset="0"/>
              </a:rPr>
              <a:t> (STACK, TOP, ITEM)</a:t>
            </a:r>
          </a:p>
          <a:p>
            <a:pPr algn="just">
              <a:lnSpc>
                <a:spcPct val="150000"/>
              </a:lnSpc>
              <a:buNone/>
            </a:pPr>
            <a:r>
              <a:rPr lang="en-US" sz="2000" dirty="0" smtClean="0">
                <a:latin typeface="Times New Roman" pitchFamily="18" charset="0"/>
                <a:cs typeface="Times New Roman" pitchFamily="18" charset="0"/>
              </a:rPr>
              <a:t>		This procedure deletes the top element of STACK and assigns it to 	the variable ITEM.</a:t>
            </a:r>
          </a:p>
          <a:p>
            <a:pPr algn="just">
              <a:lnSpc>
                <a:spcPct val="150000"/>
              </a:lnSpc>
              <a:buNone/>
            </a:pPr>
            <a:endParaRPr lang="en-US" sz="600" dirty="0" smtClean="0">
              <a:latin typeface="Times New Roman" pitchFamily="18" charset="0"/>
              <a:cs typeface="Times New Roman" pitchFamily="18" charset="0"/>
            </a:endParaRPr>
          </a:p>
          <a:p>
            <a:pPr lvl="0" algn="just">
              <a:lnSpc>
                <a:spcPct val="150000"/>
              </a:lnSpc>
              <a:buNone/>
            </a:pPr>
            <a:r>
              <a:rPr lang="en-US" sz="2000" dirty="0" smtClean="0">
                <a:latin typeface="Times New Roman" pitchFamily="18" charset="0"/>
                <a:cs typeface="Times New Roman" pitchFamily="18" charset="0"/>
              </a:rPr>
              <a:t>		1.  If TOP = 0, then: Print: UNDERFLOW, and Return.</a:t>
            </a:r>
          </a:p>
          <a:p>
            <a:pPr lvl="0" algn="just">
              <a:lnSpc>
                <a:spcPct val="150000"/>
              </a:lnSpc>
              <a:buNone/>
            </a:pPr>
            <a:r>
              <a:rPr lang="en-US" sz="2000" dirty="0" smtClean="0">
                <a:latin typeface="Times New Roman" pitchFamily="18" charset="0"/>
                <a:cs typeface="Times New Roman" pitchFamily="18" charset="0"/>
              </a:rPr>
              <a:t>		2.  Set ITEM = STACK[TOP]. </a:t>
            </a:r>
          </a:p>
          <a:p>
            <a:pPr lvl="0" algn="just">
              <a:lnSpc>
                <a:spcPct val="150000"/>
              </a:lnSpc>
              <a:buNone/>
            </a:pPr>
            <a:r>
              <a:rPr lang="en-US" sz="2000" dirty="0" smtClean="0">
                <a:latin typeface="Times New Roman" pitchFamily="18" charset="0"/>
                <a:cs typeface="Times New Roman" pitchFamily="18" charset="0"/>
              </a:rPr>
              <a:t>		3.  Set TOP = TOP – 1. </a:t>
            </a:r>
          </a:p>
          <a:p>
            <a:pPr algn="just">
              <a:lnSpc>
                <a:spcPct val="150000"/>
              </a:lnSpc>
              <a:buNone/>
            </a:pPr>
            <a:r>
              <a:rPr lang="en-US" sz="2000" dirty="0" smtClean="0">
                <a:latin typeface="Times New Roman" pitchFamily="18" charset="0"/>
                <a:cs typeface="Times New Roman" pitchFamily="18" charset="0"/>
              </a:rPr>
              <a:t>		4.  Return.</a:t>
            </a:r>
          </a:p>
        </p:txBody>
      </p:sp>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4953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Solved Problem 6.1:</a:t>
            </a:r>
            <a:r>
              <a:rPr lang="en-US" sz="2000" dirty="0" smtClean="0">
                <a:latin typeface="Times New Roman" pitchFamily="18" charset="0"/>
                <a:cs typeface="Times New Roman" pitchFamily="18" charset="0"/>
              </a:rPr>
              <a:t> Consider the following stack of characters, where STACK is allocated N=8 memory cells:</a:t>
            </a:r>
          </a:p>
          <a:p>
            <a:pPr>
              <a:buNone/>
            </a:pPr>
            <a:r>
              <a:rPr lang="en-US" sz="2000" dirty="0" smtClean="0">
                <a:latin typeface="Times New Roman" pitchFamily="18" charset="0"/>
                <a:cs typeface="Times New Roman" pitchFamily="18" charset="0"/>
              </a:rPr>
              <a:t>	            STACK:  A, C, D, F, K, -, -, -</a:t>
            </a:r>
          </a:p>
          <a:p>
            <a:pPr>
              <a:buNone/>
            </a:pPr>
            <a:r>
              <a:rPr lang="en-US" sz="2000" dirty="0" smtClean="0">
                <a:latin typeface="Times New Roman" pitchFamily="18" charset="0"/>
                <a:cs typeface="Times New Roman" pitchFamily="18" charset="0"/>
              </a:rPr>
              <a:t>	Describe the stack as the following operations take place:</a:t>
            </a:r>
          </a:p>
          <a:p>
            <a:pPr>
              <a:buNone/>
            </a:pPr>
            <a:r>
              <a:rPr lang="en-US" sz="1800" dirty="0" smtClean="0">
                <a:latin typeface="Times New Roman" pitchFamily="18" charset="0"/>
                <a:cs typeface="Times New Roman" pitchFamily="18" charset="0"/>
              </a:rPr>
              <a:t>          </a:t>
            </a:r>
            <a:r>
              <a:rPr lang="en-US" sz="1800" i="1" dirty="0" err="1" smtClean="0">
                <a:latin typeface="Times New Roman" pitchFamily="18" charset="0"/>
                <a:cs typeface="Times New Roman" pitchFamily="18" charset="0"/>
              </a:rPr>
              <a:t>i</a:t>
            </a:r>
            <a:r>
              <a:rPr lang="en-US" sz="1800" i="1" dirty="0" smtClean="0">
                <a:latin typeface="Times New Roman" pitchFamily="18" charset="0"/>
                <a:cs typeface="Times New Roman" pitchFamily="18" charset="0"/>
              </a:rPr>
              <a:t>)</a:t>
            </a:r>
            <a:r>
              <a:rPr lang="en-US" sz="1800" dirty="0" smtClean="0">
                <a:latin typeface="Times New Roman" pitchFamily="18" charset="0"/>
                <a:cs typeface="Times New Roman" pitchFamily="18" charset="0"/>
              </a:rPr>
              <a:t>    POP (STACK, ITEM) 	 </a:t>
            </a:r>
            <a:r>
              <a:rPr lang="en-US" sz="1800" i="1" dirty="0" smtClean="0">
                <a:latin typeface="Times New Roman" pitchFamily="18" charset="0"/>
                <a:cs typeface="Times New Roman" pitchFamily="18" charset="0"/>
              </a:rPr>
              <a:t>v)</a:t>
            </a:r>
            <a:r>
              <a:rPr lang="en-US" sz="1800" dirty="0" smtClean="0">
                <a:latin typeface="Times New Roman" pitchFamily="18" charset="0"/>
                <a:cs typeface="Times New Roman" pitchFamily="18" charset="0"/>
              </a:rPr>
              <a:t>  POP (STACK, ITEM)</a:t>
            </a:r>
          </a:p>
          <a:p>
            <a:pPr>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ii)</a:t>
            </a:r>
            <a:r>
              <a:rPr lang="en-US" sz="1800" dirty="0" smtClean="0">
                <a:latin typeface="Times New Roman" pitchFamily="18" charset="0"/>
                <a:cs typeface="Times New Roman" pitchFamily="18" charset="0"/>
              </a:rPr>
              <a:t>   POP (STACK, ITEM) 	</a:t>
            </a:r>
            <a:r>
              <a:rPr lang="en-US" sz="1800" i="1" dirty="0" smtClean="0">
                <a:latin typeface="Times New Roman" pitchFamily="18" charset="0"/>
                <a:cs typeface="Times New Roman" pitchFamily="18" charset="0"/>
              </a:rPr>
              <a:t>vi)</a:t>
            </a:r>
            <a:r>
              <a:rPr lang="en-US" sz="1800" dirty="0" smtClean="0">
                <a:latin typeface="Times New Roman" pitchFamily="18" charset="0"/>
                <a:cs typeface="Times New Roman" pitchFamily="18" charset="0"/>
              </a:rPr>
              <a:t>  PUSH(STACK, R)</a:t>
            </a:r>
          </a:p>
          <a:p>
            <a:pPr>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iii)</a:t>
            </a:r>
            <a:r>
              <a:rPr lang="en-US" sz="1800" dirty="0" smtClean="0">
                <a:latin typeface="Times New Roman" pitchFamily="18" charset="0"/>
                <a:cs typeface="Times New Roman" pitchFamily="18" charset="0"/>
              </a:rPr>
              <a:t>  PUSH(STACK, L)	 	</a:t>
            </a:r>
            <a:r>
              <a:rPr lang="en-US" sz="1800" i="1" dirty="0" smtClean="0">
                <a:latin typeface="Times New Roman" pitchFamily="18" charset="0"/>
                <a:cs typeface="Times New Roman" pitchFamily="18" charset="0"/>
              </a:rPr>
              <a:t>vii)</a:t>
            </a:r>
            <a:r>
              <a:rPr lang="en-US" sz="1800" dirty="0" smtClean="0">
                <a:latin typeface="Times New Roman" pitchFamily="18" charset="0"/>
                <a:cs typeface="Times New Roman" pitchFamily="18" charset="0"/>
              </a:rPr>
              <a:t> PUSH(STACK, S)</a:t>
            </a:r>
          </a:p>
          <a:p>
            <a:pPr>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iv)</a:t>
            </a:r>
            <a:r>
              <a:rPr lang="en-US" sz="1800" dirty="0" smtClean="0">
                <a:latin typeface="Times New Roman" pitchFamily="18" charset="0"/>
                <a:cs typeface="Times New Roman" pitchFamily="18" charset="0"/>
              </a:rPr>
              <a:t>  PUSH(STACK, P)		</a:t>
            </a:r>
            <a:r>
              <a:rPr lang="en-US" sz="1800" i="1" dirty="0" smtClean="0">
                <a:latin typeface="Times New Roman" pitchFamily="18" charset="0"/>
                <a:cs typeface="Times New Roman" pitchFamily="18" charset="0"/>
              </a:rPr>
              <a:t>viii)</a:t>
            </a:r>
            <a:r>
              <a:rPr lang="en-US" sz="1800" dirty="0" smtClean="0">
                <a:latin typeface="Times New Roman" pitchFamily="18" charset="0"/>
                <a:cs typeface="Times New Roman" pitchFamily="18" charset="0"/>
              </a:rPr>
              <a:t> POP (STACK, ITEM)</a:t>
            </a:r>
          </a:p>
          <a:p>
            <a:pPr>
              <a:buNone/>
            </a:pPr>
            <a:r>
              <a:rPr lang="en-US" sz="1800" b="1" dirty="0" smtClean="0">
                <a:latin typeface="Times New Roman" pitchFamily="18" charset="0"/>
                <a:cs typeface="Times New Roman" pitchFamily="18" charset="0"/>
              </a:rPr>
              <a:t>	</a:t>
            </a:r>
            <a:r>
              <a:rPr lang="en-US" sz="1800" b="1" i="1" dirty="0" smtClean="0">
                <a:latin typeface="Times New Roman" pitchFamily="18" charset="0"/>
                <a:cs typeface="Times New Roman" pitchFamily="18" charset="0"/>
              </a:rPr>
              <a:t>Solution:</a:t>
            </a:r>
          </a:p>
          <a:p>
            <a:pPr>
              <a:spcBef>
                <a:spcPts val="1200"/>
              </a:spcBef>
              <a:buNone/>
            </a:pPr>
            <a:r>
              <a:rPr lang="en-US" sz="1800" dirty="0" smtClean="0">
                <a:latin typeface="Times New Roman" pitchFamily="18" charset="0"/>
                <a:cs typeface="Times New Roman" pitchFamily="18" charset="0"/>
              </a:rPr>
              <a:t>		</a:t>
            </a:r>
            <a:r>
              <a:rPr lang="en-US" sz="1800" i="1" dirty="0" err="1" smtClean="0">
                <a:latin typeface="Times New Roman" pitchFamily="18" charset="0"/>
                <a:cs typeface="Times New Roman" pitchFamily="18" charset="0"/>
              </a:rPr>
              <a:t>i</a:t>
            </a:r>
            <a:r>
              <a:rPr lang="en-US" sz="1800" i="1" dirty="0" smtClean="0">
                <a:latin typeface="Times New Roman" pitchFamily="18" charset="0"/>
                <a:cs typeface="Times New Roman" pitchFamily="18" charset="0"/>
              </a:rPr>
              <a:t>)</a:t>
            </a:r>
            <a:r>
              <a:rPr lang="en-US" sz="1800" dirty="0" smtClean="0">
                <a:latin typeface="Times New Roman" pitchFamily="18" charset="0"/>
                <a:cs typeface="Times New Roman" pitchFamily="18" charset="0"/>
              </a:rPr>
              <a:t> STACK:   A, C, D, F, -, -, -, -	</a:t>
            </a:r>
            <a:r>
              <a:rPr lang="en-US" sz="1800" i="1" dirty="0" smtClean="0">
                <a:latin typeface="Times New Roman" pitchFamily="18" charset="0"/>
                <a:cs typeface="Times New Roman" pitchFamily="18" charset="0"/>
              </a:rPr>
              <a:t>v)</a:t>
            </a:r>
            <a:r>
              <a:rPr lang="en-US" sz="1800" dirty="0" smtClean="0">
                <a:latin typeface="Times New Roman" pitchFamily="18" charset="0"/>
                <a:cs typeface="Times New Roman" pitchFamily="18" charset="0"/>
              </a:rPr>
              <a:t> STACK:    A, C, D, L, -, -, -, -</a:t>
            </a:r>
          </a:p>
          <a:p>
            <a:pPr>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ii)</a:t>
            </a:r>
            <a:r>
              <a:rPr lang="en-US" sz="1800" dirty="0" smtClean="0">
                <a:latin typeface="Times New Roman" pitchFamily="18" charset="0"/>
                <a:cs typeface="Times New Roman" pitchFamily="18" charset="0"/>
              </a:rPr>
              <a:t> STACK:  A, C, D, -, -, -, -, -	</a:t>
            </a:r>
            <a:r>
              <a:rPr lang="en-US" sz="1800" i="1" dirty="0" smtClean="0">
                <a:latin typeface="Times New Roman" pitchFamily="18" charset="0"/>
                <a:cs typeface="Times New Roman" pitchFamily="18" charset="0"/>
              </a:rPr>
              <a:t>vi)</a:t>
            </a:r>
            <a:r>
              <a:rPr lang="en-US" sz="1800" dirty="0" smtClean="0">
                <a:latin typeface="Times New Roman" pitchFamily="18" charset="0"/>
                <a:cs typeface="Times New Roman" pitchFamily="18" charset="0"/>
              </a:rPr>
              <a:t> STACK:   A, C, D, L, R, -, -, -</a:t>
            </a:r>
          </a:p>
          <a:p>
            <a:pPr>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iii)</a:t>
            </a:r>
            <a:r>
              <a:rPr lang="en-US" sz="1800" dirty="0" smtClean="0">
                <a:latin typeface="Times New Roman" pitchFamily="18" charset="0"/>
                <a:cs typeface="Times New Roman" pitchFamily="18" charset="0"/>
              </a:rPr>
              <a:t> STACK: A, C, D, L, -, -, -, -	 </a:t>
            </a:r>
            <a:r>
              <a:rPr lang="en-US" sz="1800" i="1" dirty="0" smtClean="0">
                <a:latin typeface="Times New Roman" pitchFamily="18" charset="0"/>
                <a:cs typeface="Times New Roman" pitchFamily="18" charset="0"/>
              </a:rPr>
              <a:t>vii)</a:t>
            </a:r>
            <a:r>
              <a:rPr lang="en-US" sz="1800" dirty="0" smtClean="0">
                <a:latin typeface="Times New Roman" pitchFamily="18" charset="0"/>
                <a:cs typeface="Times New Roman" pitchFamily="18" charset="0"/>
              </a:rPr>
              <a:t> STACK: A, C, D, L, R, S, -, -</a:t>
            </a:r>
          </a:p>
          <a:p>
            <a:pPr>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iv)</a:t>
            </a:r>
            <a:r>
              <a:rPr lang="en-US" sz="1800" dirty="0" smtClean="0">
                <a:latin typeface="Times New Roman" pitchFamily="18" charset="0"/>
                <a:cs typeface="Times New Roman" pitchFamily="18" charset="0"/>
              </a:rPr>
              <a:t> STACK: A, C, D, L, P, -, -, -	 </a:t>
            </a:r>
            <a:r>
              <a:rPr lang="en-US" sz="1800" i="1" dirty="0" smtClean="0">
                <a:latin typeface="Times New Roman" pitchFamily="18" charset="0"/>
                <a:cs typeface="Times New Roman" pitchFamily="18" charset="0"/>
              </a:rPr>
              <a:t>viii)</a:t>
            </a:r>
            <a:r>
              <a:rPr lang="en-US" sz="1800" dirty="0" smtClean="0">
                <a:latin typeface="Times New Roman" pitchFamily="18" charset="0"/>
                <a:cs typeface="Times New Roman" pitchFamily="18" charset="0"/>
              </a:rPr>
              <a:t> STACK: A, C, D, L, R, -, -, -</a:t>
            </a:r>
          </a:p>
          <a:p>
            <a:pPr>
              <a:buNone/>
            </a:pPr>
            <a:endParaRPr lang="en-US" sz="1800" dirty="0" smtClean="0">
              <a:latin typeface="Times New Roman" pitchFamily="18" charset="0"/>
              <a:cs typeface="Times New Roman" pitchFamily="18" charset="0"/>
            </a:endParaRPr>
          </a:p>
          <a:p>
            <a:pPr>
              <a:buNone/>
            </a:pPr>
            <a:endParaRPr lang="en-US" sz="18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533400" y="1371600"/>
            <a:ext cx="8229600" cy="4953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ARITHMETIC EXPRESSIONS; POLISH NOTATION</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algn="just"/>
            <a:r>
              <a:rPr lang="en-US" sz="2000" b="1" dirty="0" smtClean="0">
                <a:latin typeface="Times New Roman" pitchFamily="18" charset="0"/>
                <a:cs typeface="Times New Roman" pitchFamily="18" charset="0"/>
              </a:rPr>
              <a:t>Infix notation:</a:t>
            </a:r>
            <a:r>
              <a:rPr lang="en-US" sz="2000" dirty="0" smtClean="0">
                <a:latin typeface="Times New Roman" pitchFamily="18" charset="0"/>
                <a:cs typeface="Times New Roman" pitchFamily="18" charset="0"/>
              </a:rPr>
              <a:t> The operator symbol is placed between its two operands. Example:     A+B,     A-B,     A*B,    A/B</a:t>
            </a:r>
          </a:p>
          <a:p>
            <a:pPr lvl="1" algn="just"/>
            <a:endParaRPr lang="en-US" sz="1000" dirty="0" smtClean="0">
              <a:latin typeface="Times New Roman" pitchFamily="18" charset="0"/>
              <a:cs typeface="Times New Roman" pitchFamily="18" charset="0"/>
            </a:endParaRPr>
          </a:p>
          <a:p>
            <a:pPr lvl="1" algn="just">
              <a:spcBef>
                <a:spcPts val="1200"/>
              </a:spcBef>
            </a:pPr>
            <a:r>
              <a:rPr lang="en-US" sz="2000" b="1" dirty="0" smtClean="0">
                <a:latin typeface="Times New Roman" pitchFamily="18" charset="0"/>
                <a:cs typeface="Times New Roman" pitchFamily="18" charset="0"/>
              </a:rPr>
              <a:t>Prefix notation:</a:t>
            </a:r>
            <a:r>
              <a:rPr lang="en-US" sz="2000" dirty="0" smtClean="0">
                <a:latin typeface="Times New Roman" pitchFamily="18" charset="0"/>
                <a:cs typeface="Times New Roman" pitchFamily="18" charset="0"/>
              </a:rPr>
              <a:t> The operator symbol is placed before its two operands. Example:     +AB,     -AB,     *AB,    /AB</a:t>
            </a:r>
          </a:p>
          <a:p>
            <a:pPr lvl="2" algn="just">
              <a:spcBef>
                <a:spcPts val="1200"/>
              </a:spcBef>
            </a:pPr>
            <a:r>
              <a:rPr lang="en-US" sz="2000" dirty="0" smtClean="0">
                <a:latin typeface="Times New Roman" pitchFamily="18" charset="0"/>
                <a:cs typeface="Times New Roman" pitchFamily="18" charset="0"/>
              </a:rPr>
              <a:t>This notation is also known as </a:t>
            </a:r>
            <a:r>
              <a:rPr lang="en-US" sz="2000" b="1" dirty="0" smtClean="0">
                <a:latin typeface="Times New Roman" pitchFamily="18" charset="0"/>
                <a:cs typeface="Times New Roman" pitchFamily="18" charset="0"/>
              </a:rPr>
              <a:t>Polish notation</a:t>
            </a:r>
            <a:r>
              <a:rPr lang="en-US" sz="2000" dirty="0" smtClean="0">
                <a:latin typeface="Times New Roman" pitchFamily="18" charset="0"/>
                <a:cs typeface="Times New Roman" pitchFamily="18" charset="0"/>
              </a:rPr>
              <a:t>, named after the Polish mathematician Jan </a:t>
            </a:r>
            <a:r>
              <a:rPr lang="en-US" sz="2000" dirty="0" err="1" smtClean="0">
                <a:latin typeface="Times New Roman" pitchFamily="18" charset="0"/>
                <a:cs typeface="Times New Roman" pitchFamily="18" charset="0"/>
              </a:rPr>
              <a:t>Lukasiewicz</a:t>
            </a:r>
            <a:r>
              <a:rPr lang="en-US" sz="2000" dirty="0" smtClean="0">
                <a:latin typeface="Times New Roman" pitchFamily="18" charset="0"/>
                <a:cs typeface="Times New Roman" pitchFamily="18" charset="0"/>
              </a:rPr>
              <a:t>. </a:t>
            </a:r>
          </a:p>
          <a:p>
            <a:pPr lvl="2" algn="just">
              <a:spcBef>
                <a:spcPts val="1200"/>
              </a:spcBef>
            </a:pPr>
            <a:r>
              <a:rPr lang="en-US" sz="2000" dirty="0" smtClean="0">
                <a:latin typeface="Times New Roman" pitchFamily="18" charset="0"/>
                <a:cs typeface="Times New Roman" pitchFamily="18" charset="0"/>
              </a:rPr>
              <a:t>The fundamental property of Polish notation is that the order in which the operations are to be performed is completely determined by the positions of the operators and operands in the expression. Accordingly, one never needs parentheses when writing expressions in Polish notation.</a:t>
            </a:r>
          </a:p>
        </p:txBody>
      </p:sp>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4953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ARITHMETIC EXPRESSIONS; POLISH NOTATION</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algn="just"/>
            <a:r>
              <a:rPr lang="en-US" sz="2000" b="1" dirty="0" smtClean="0">
                <a:latin typeface="Times New Roman" pitchFamily="18" charset="0"/>
                <a:cs typeface="Times New Roman" pitchFamily="18" charset="0"/>
              </a:rPr>
              <a:t>Postfix notation:</a:t>
            </a:r>
            <a:r>
              <a:rPr lang="en-US" sz="2000" dirty="0" smtClean="0">
                <a:latin typeface="Times New Roman" pitchFamily="18" charset="0"/>
                <a:cs typeface="Times New Roman" pitchFamily="18" charset="0"/>
              </a:rPr>
              <a:t> The operator symbol is placed after its two operands. Example:     AB+,     AB-,     AB*,    AB/</a:t>
            </a:r>
          </a:p>
          <a:p>
            <a:pPr lvl="1" algn="just"/>
            <a:endParaRPr lang="en-US" sz="2000" dirty="0" smtClean="0">
              <a:latin typeface="Times New Roman" pitchFamily="18" charset="0"/>
              <a:cs typeface="Times New Roman" pitchFamily="18" charset="0"/>
            </a:endParaRPr>
          </a:p>
          <a:p>
            <a:pPr lvl="2" algn="just"/>
            <a:r>
              <a:rPr lang="en-US" sz="2000" dirty="0" smtClean="0">
                <a:latin typeface="Times New Roman" pitchFamily="18" charset="0"/>
                <a:cs typeface="Times New Roman" pitchFamily="18" charset="0"/>
              </a:rPr>
              <a:t>This notation is also known as </a:t>
            </a:r>
            <a:r>
              <a:rPr lang="en-US" sz="2000" b="1" dirty="0" smtClean="0">
                <a:latin typeface="Times New Roman" pitchFamily="18" charset="0"/>
                <a:cs typeface="Times New Roman" pitchFamily="18" charset="0"/>
              </a:rPr>
              <a:t>Reverse Polish notation</a:t>
            </a:r>
            <a:r>
              <a:rPr lang="en-US" sz="2000" dirty="0" smtClean="0">
                <a:latin typeface="Times New Roman" pitchFamily="18" charset="0"/>
                <a:cs typeface="Times New Roman" pitchFamily="18" charset="0"/>
              </a:rPr>
              <a:t>.</a:t>
            </a:r>
          </a:p>
          <a:p>
            <a:pPr lvl="2" algn="just"/>
            <a:r>
              <a:rPr lang="en-US" sz="2000" dirty="0" smtClean="0">
                <a:latin typeface="Times New Roman" pitchFamily="18" charset="0"/>
                <a:cs typeface="Times New Roman" pitchFamily="18" charset="0"/>
              </a:rPr>
              <a:t>One never needs parentheses to determine the order of the operations in any arithmetic expression written in reverse Polish notation.</a:t>
            </a:r>
          </a:p>
          <a:p>
            <a:pPr lvl="1" algn="just"/>
            <a:r>
              <a:rPr lang="en-US" sz="2000" dirty="0" smtClean="0">
                <a:latin typeface="Times New Roman" pitchFamily="18" charset="0"/>
                <a:cs typeface="Times New Roman" pitchFamily="18" charset="0"/>
              </a:rPr>
              <a:t>The computer usually evaluates an arithmetic expression written in infix notation in two steps. First, it converts the expression to </a:t>
            </a:r>
            <a:r>
              <a:rPr lang="en-US" sz="2000" b="1" dirty="0" smtClean="0">
                <a:latin typeface="Times New Roman" pitchFamily="18" charset="0"/>
                <a:cs typeface="Times New Roman" pitchFamily="18" charset="0"/>
              </a:rPr>
              <a:t>postfix notation</a:t>
            </a:r>
            <a:r>
              <a:rPr lang="en-US" sz="2000" dirty="0" smtClean="0">
                <a:latin typeface="Times New Roman" pitchFamily="18" charset="0"/>
                <a:cs typeface="Times New Roman" pitchFamily="18" charset="0"/>
              </a:rPr>
              <a:t>, and </a:t>
            </a:r>
            <a:r>
              <a:rPr lang="en-US" sz="2000" b="1" dirty="0" smtClean="0">
                <a:latin typeface="Times New Roman" pitchFamily="18" charset="0"/>
                <a:cs typeface="Times New Roman" pitchFamily="18" charset="0"/>
              </a:rPr>
              <a:t>then it evaluates the postfix expression.</a:t>
            </a:r>
            <a:r>
              <a:rPr lang="en-US" sz="2000" dirty="0" smtClean="0">
                <a:latin typeface="Times New Roman" pitchFamily="18" charset="0"/>
                <a:cs typeface="Times New Roman" pitchFamily="18" charset="0"/>
              </a:rPr>
              <a:t> In each step, the stack is the main tool that is used to accomplish the given task. </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C9281A4-4C9D-4645-98E5-DC94BB779CF3}" type="slidenum">
              <a:rPr lang="en-US" smtClean="0"/>
              <a:pPr/>
              <a:t>9</a:t>
            </a:fld>
            <a:endParaRPr lang="en-US"/>
          </a:p>
        </p:txBody>
      </p:sp>
      <p:pic>
        <p:nvPicPr>
          <p:cNvPr id="137218" name="Picture 2" descr="operator-preced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676400"/>
            <a:ext cx="5638800" cy="179526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4"/>
          <p:cNvSpPr txBox="1">
            <a:spLocks/>
          </p:cNvSpPr>
          <p:nvPr/>
        </p:nvSpPr>
        <p:spPr>
          <a:xfrm>
            <a:off x="1473926" y="360353"/>
            <a:ext cx="7315200" cy="7921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smtClean="0">
                <a:latin typeface="Times New Roman" pitchFamily="18" charset="0"/>
                <a:cs typeface="Times New Roman" pitchFamily="18" charset="0"/>
              </a:rPr>
              <a:t>Data Structures (Operator Precedence)</a:t>
            </a:r>
            <a:endParaRPr lang="en-US" sz="3600" dirty="0">
              <a:latin typeface="Times New Roman" pitchFamily="18" charset="0"/>
              <a:cs typeface="Times New Roman" pitchFamily="18" charset="0"/>
            </a:endParaRPr>
          </a:p>
        </p:txBody>
      </p:sp>
      <p:sp>
        <p:nvSpPr>
          <p:cNvPr id="5" name="Content Placeholder 16"/>
          <p:cNvSpPr txBox="1">
            <a:spLocks/>
          </p:cNvSpPr>
          <p:nvPr/>
        </p:nvSpPr>
        <p:spPr>
          <a:xfrm>
            <a:off x="533400" y="3657600"/>
            <a:ext cx="8229600" cy="19050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buFont typeface="Wingdings" pitchFamily="2" charset="2"/>
              <a:buChar char="q"/>
            </a:pPr>
            <a:r>
              <a:rPr lang="en-US" sz="2000" b="1" dirty="0" smtClean="0">
                <a:latin typeface="Times New Roman" pitchFamily="18" charset="0"/>
                <a:cs typeface="Times New Roman" pitchFamily="18" charset="0"/>
              </a:rPr>
              <a:t>Two operators of same priority can’t stay together.</a:t>
            </a:r>
          </a:p>
          <a:p>
            <a:pPr algn="just">
              <a:lnSpc>
                <a:spcPct val="150000"/>
              </a:lnSpc>
              <a:buFont typeface="Wingdings" pitchFamily="2" charset="2"/>
              <a:buChar char="q"/>
            </a:pPr>
            <a:r>
              <a:rPr lang="en-US" sz="2000" b="1" dirty="0" smtClean="0">
                <a:latin typeface="Times New Roman" pitchFamily="18" charset="0"/>
                <a:cs typeface="Times New Roman" pitchFamily="18" charset="0"/>
              </a:rPr>
              <a:t>Higher priority operator will not stay in the stack when lower priority operator will be inserted.</a:t>
            </a:r>
          </a:p>
          <a:p>
            <a:pPr algn="just">
              <a:lnSpc>
                <a:spcPct val="150000"/>
              </a:lnSpc>
              <a:buFont typeface="Wingdings" pitchFamily="2" charset="2"/>
              <a:buChar char="q"/>
            </a:pPr>
            <a:r>
              <a:rPr lang="en-US" sz="2000" b="1" dirty="0" smtClean="0">
                <a:latin typeface="Times New Roman" pitchFamily="18" charset="0"/>
                <a:cs typeface="Times New Roman" pitchFamily="18" charset="0"/>
              </a:rPr>
              <a:t>(…..) =&gt; pop all the operators from stack and place them in the postfix.</a:t>
            </a:r>
            <a:endParaRPr lang="en-US" sz="20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29555900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4953000"/>
          </a:xfrm>
          <a:prstGeom prst="rect">
            <a:avLst/>
          </a:prstGeom>
        </p:spPr>
        <p:txBody>
          <a:bodyPr/>
          <a:lstStyle/>
          <a:p>
            <a:pPr algn="just">
              <a:lnSpc>
                <a:spcPct val="150000"/>
              </a:lnSpc>
              <a:buFont typeface="Wingdings" pitchFamily="2" charset="2"/>
              <a:buChar char="q"/>
            </a:pPr>
            <a:r>
              <a:rPr lang="en-US" sz="2000" b="1" dirty="0" smtClean="0">
                <a:latin typeface="Times New Roman" pitchFamily="18" charset="0"/>
                <a:cs typeface="Times New Roman" pitchFamily="18" charset="0"/>
              </a:rPr>
              <a:t>Example 6.7: Transform the following arithmetic infix expression Q into its equivalent postfix expression P:</a:t>
            </a:r>
            <a:endParaRPr lang="en-US" sz="2000" dirty="0" smtClean="0">
              <a:latin typeface="Times New Roman" pitchFamily="18" charset="0"/>
              <a:cs typeface="Times New Roman" pitchFamily="18" charset="0"/>
            </a:endParaRPr>
          </a:p>
          <a:p>
            <a:pPr algn="just">
              <a:lnSpc>
                <a:spcPct val="150000"/>
              </a:lnSpc>
              <a:buNone/>
            </a:pPr>
            <a:r>
              <a:rPr lang="en-US" sz="2000" b="1" dirty="0" smtClean="0">
                <a:latin typeface="Times New Roman" pitchFamily="18" charset="0"/>
                <a:cs typeface="Times New Roman" pitchFamily="18" charset="0"/>
              </a:rPr>
              <a:t>			Q:     A + (B*C - (D /E ↑ F)*G)*H</a:t>
            </a:r>
            <a:endParaRPr lang="en-US" sz="2000" dirty="0" smtClean="0">
              <a:latin typeface="Times New Roman" pitchFamily="18" charset="0"/>
              <a:cs typeface="Times New Roman" pitchFamily="18" charset="0"/>
            </a:endParaRPr>
          </a:p>
          <a:p>
            <a:pPr algn="just">
              <a:lnSpc>
                <a:spcPct val="150000"/>
              </a:lnSpc>
              <a:buNone/>
            </a:pPr>
            <a:r>
              <a:rPr lang="en-US" sz="2000" b="1" dirty="0" smtClean="0">
                <a:latin typeface="Times New Roman" pitchFamily="18" charset="0"/>
                <a:cs typeface="Times New Roman" pitchFamily="18" charset="0"/>
              </a:rPr>
              <a:t>	Solution:</a:t>
            </a:r>
            <a:endParaRPr lang="en-US" sz="2000" dirty="0" smtClean="0">
              <a:latin typeface="Times New Roman" pitchFamily="18" charset="0"/>
              <a:cs typeface="Times New Roman" pitchFamily="18" charset="0"/>
            </a:endParaRPr>
          </a:p>
          <a:p>
            <a:pPr lvl="1" algn="just">
              <a:lnSpc>
                <a:spcPct val="150000"/>
              </a:lnSpc>
            </a:pPr>
            <a:r>
              <a:rPr lang="en-US" sz="2000" dirty="0" smtClean="0">
                <a:latin typeface="Times New Roman" pitchFamily="18" charset="0"/>
                <a:cs typeface="Times New Roman" pitchFamily="18" charset="0"/>
              </a:rPr>
              <a:t>Push “(” onto stack and then add “)” to the end of Q. Thus, Q becomes</a:t>
            </a:r>
          </a:p>
          <a:p>
            <a:pPr lvl="1" algn="just">
              <a:lnSpc>
                <a:spcPct val="150000"/>
              </a:lnSpc>
              <a:buNone/>
            </a:pPr>
            <a:r>
              <a:rPr lang="en-US" sz="2000" dirty="0" smtClean="0">
                <a:latin typeface="Times New Roman" pitchFamily="18" charset="0"/>
                <a:cs typeface="Times New Roman" pitchFamily="18" charset="0"/>
              </a:rPr>
              <a:t>			Q:    A + ( B * C - ( D / E ↑ F ) * G ) * H )</a:t>
            </a:r>
          </a:p>
          <a:p>
            <a:pPr lvl="1" algn="just">
              <a:lnSpc>
                <a:spcPct val="150000"/>
              </a:lnSpc>
            </a:pPr>
            <a:r>
              <a:rPr lang="en-US" sz="2000" dirty="0" smtClean="0">
                <a:latin typeface="Times New Roman" pitchFamily="18" charset="0"/>
                <a:cs typeface="Times New Roman" pitchFamily="18" charset="0"/>
              </a:rPr>
              <a:t>Start scanning. The following table shows the status of STACK and of the string P as each element of Q is scanned.</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10</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4953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Example 6.7: Transform the following arithmetic infix expression Q into its equivalent postfix expression P:</a:t>
            </a: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			Q:     A + (B*C - (D /E ↑ F)*G)*H)</a:t>
            </a: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	</a:t>
            </a:r>
          </a:p>
          <a:p>
            <a:pPr>
              <a:buNone/>
            </a:pPr>
            <a:r>
              <a:rPr lang="en-US" sz="2000" b="1" dirty="0" smtClean="0">
                <a:latin typeface="Times New Roman" pitchFamily="18" charset="0"/>
                <a:cs typeface="Times New Roman" pitchFamily="18" charset="0"/>
              </a:rPr>
              <a:t>	Solution:</a:t>
            </a:r>
            <a:endParaRPr lang="en-US" sz="2000"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11</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1219200" y="3284406"/>
          <a:ext cx="7162799" cy="2839212"/>
        </p:xfrm>
        <a:graphic>
          <a:graphicData uri="http://schemas.openxmlformats.org/drawingml/2006/table">
            <a:tbl>
              <a:tblPr/>
              <a:tblGrid>
                <a:gridCol w="1757925">
                  <a:extLst>
                    <a:ext uri="{9D8B030D-6E8A-4147-A177-3AD203B41FA5}">
                      <a16:colId xmlns:a16="http://schemas.microsoft.com/office/drawing/2014/main" xmlns="" val="20000"/>
                    </a:ext>
                  </a:extLst>
                </a:gridCol>
                <a:gridCol w="1841510">
                  <a:extLst>
                    <a:ext uri="{9D8B030D-6E8A-4147-A177-3AD203B41FA5}">
                      <a16:colId xmlns:a16="http://schemas.microsoft.com/office/drawing/2014/main" xmlns="" val="20001"/>
                    </a:ext>
                  </a:extLst>
                </a:gridCol>
                <a:gridCol w="3563364">
                  <a:extLst>
                    <a:ext uri="{9D8B030D-6E8A-4147-A177-3AD203B41FA5}">
                      <a16:colId xmlns:a16="http://schemas.microsoft.com/office/drawing/2014/main" xmlns="" val="20002"/>
                    </a:ext>
                  </a:extLst>
                </a:gridCol>
              </a:tblGrid>
              <a:tr h="284524">
                <a:tc>
                  <a:txBody>
                    <a:bodyPr/>
                    <a:lstStyle/>
                    <a:p>
                      <a:pPr marL="0" marR="0" algn="ctr">
                        <a:lnSpc>
                          <a:spcPct val="115000"/>
                        </a:lnSpc>
                        <a:spcBef>
                          <a:spcPts val="0"/>
                        </a:spcBef>
                        <a:spcAft>
                          <a:spcPts val="0"/>
                        </a:spcAft>
                      </a:pPr>
                      <a:r>
                        <a:rPr lang="en-US" sz="1800" b="1" dirty="0">
                          <a:latin typeface="Times New Roman"/>
                          <a:ea typeface="Calibri"/>
                          <a:cs typeface="Times New Roman"/>
                        </a:rPr>
                        <a:t>Symbol Scanned</a:t>
                      </a:r>
                      <a:endParaRPr lang="en-US" sz="1800" dirty="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b="1" dirty="0">
                          <a:latin typeface="Times New Roman"/>
                          <a:ea typeface="Calibri"/>
                          <a:cs typeface="Times New Roman"/>
                        </a:rPr>
                        <a:t>STACK</a:t>
                      </a:r>
                      <a:endParaRPr lang="en-US" sz="1800" dirty="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b="1">
                          <a:latin typeface="Times New Roman"/>
                          <a:ea typeface="Calibri"/>
                          <a:cs typeface="Times New Roman"/>
                        </a:rPr>
                        <a:t>Expression, P</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142262">
                <a:tc>
                  <a:txBody>
                    <a:bodyPr/>
                    <a:lstStyle/>
                    <a:p>
                      <a:pPr marL="0" marR="0" algn="ctr">
                        <a:lnSpc>
                          <a:spcPct val="115000"/>
                        </a:lnSpc>
                        <a:spcBef>
                          <a:spcPts val="0"/>
                        </a:spcBef>
                        <a:spcAft>
                          <a:spcPts val="0"/>
                        </a:spcAft>
                      </a:pPr>
                      <a:r>
                        <a:rPr lang="en-US" sz="1800">
                          <a:latin typeface="Times New Roman"/>
                          <a:ea typeface="Calibri"/>
                          <a:cs typeface="Times New Roman"/>
                        </a:rPr>
                        <a:t>A</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dirty="0">
                          <a:latin typeface="Times New Roman"/>
                          <a:ea typeface="Calibri"/>
                          <a:cs typeface="Times New Roman"/>
                        </a:rPr>
                        <a:t>(</a:t>
                      </a:r>
                      <a:endParaRPr lang="en-US" sz="1800" dirty="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dirty="0">
                          <a:latin typeface="Times New Roman"/>
                          <a:ea typeface="Calibri"/>
                          <a:cs typeface="Times New Roman"/>
                        </a:rPr>
                        <a:t>A</a:t>
                      </a:r>
                      <a:endParaRPr lang="en-US" sz="1800" dirty="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142262">
                <a:tc>
                  <a:txBody>
                    <a:bodyPr/>
                    <a:lstStyle/>
                    <a:p>
                      <a:pPr marL="0" marR="0" algn="ctr">
                        <a:lnSpc>
                          <a:spcPct val="115000"/>
                        </a:lnSpc>
                        <a:spcBef>
                          <a:spcPts val="0"/>
                        </a:spcBef>
                        <a:spcAft>
                          <a:spcPts val="0"/>
                        </a:spcAft>
                      </a:pPr>
                      <a:r>
                        <a:rPr lang="en-US" sz="1800" dirty="0">
                          <a:latin typeface="Times New Roman"/>
                          <a:ea typeface="Calibri"/>
                          <a:cs typeface="Times New Roman"/>
                        </a:rPr>
                        <a:t>+</a:t>
                      </a:r>
                      <a:endParaRPr lang="en-US" sz="1800" dirty="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A</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142262">
                <a:tc>
                  <a:txBody>
                    <a:bodyPr/>
                    <a:lstStyle/>
                    <a:p>
                      <a:pPr marL="0" marR="0" algn="ctr">
                        <a:lnSpc>
                          <a:spcPct val="115000"/>
                        </a:lnSpc>
                        <a:spcBef>
                          <a:spcPts val="0"/>
                        </a:spcBef>
                        <a:spcAft>
                          <a:spcPts val="0"/>
                        </a:spcAft>
                      </a:pPr>
                      <a:r>
                        <a:rPr lang="en-US" sz="1800">
                          <a:latin typeface="Times New Roman"/>
                          <a:ea typeface="Calibri"/>
                          <a:cs typeface="Times New Roman"/>
                        </a:rPr>
                        <a:t>(</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A</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142262">
                <a:tc>
                  <a:txBody>
                    <a:bodyPr/>
                    <a:lstStyle/>
                    <a:p>
                      <a:pPr marL="0" marR="0" algn="ctr">
                        <a:lnSpc>
                          <a:spcPct val="115000"/>
                        </a:lnSpc>
                        <a:spcBef>
                          <a:spcPts val="0"/>
                        </a:spcBef>
                        <a:spcAft>
                          <a:spcPts val="0"/>
                        </a:spcAft>
                      </a:pPr>
                      <a:r>
                        <a:rPr lang="en-US" sz="1800">
                          <a:latin typeface="Times New Roman"/>
                          <a:ea typeface="Calibri"/>
                          <a:cs typeface="Times New Roman"/>
                        </a:rPr>
                        <a:t>B</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A  B</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142262">
                <a:tc>
                  <a:txBody>
                    <a:bodyPr/>
                    <a:lstStyle/>
                    <a:p>
                      <a:pPr marL="0" marR="0" algn="ctr">
                        <a:lnSpc>
                          <a:spcPct val="115000"/>
                        </a:lnSpc>
                        <a:spcBef>
                          <a:spcPts val="0"/>
                        </a:spcBef>
                        <a:spcAft>
                          <a:spcPts val="0"/>
                        </a:spcAft>
                      </a:pPr>
                      <a:r>
                        <a:rPr lang="en-US" sz="1800">
                          <a:latin typeface="Times New Roman"/>
                          <a:ea typeface="Calibri"/>
                          <a:cs typeface="Times New Roman"/>
                        </a:rPr>
                        <a:t>*</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A  B</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r h="142262">
                <a:tc>
                  <a:txBody>
                    <a:bodyPr/>
                    <a:lstStyle/>
                    <a:p>
                      <a:pPr marL="0" marR="0" algn="ctr">
                        <a:lnSpc>
                          <a:spcPct val="115000"/>
                        </a:lnSpc>
                        <a:spcBef>
                          <a:spcPts val="0"/>
                        </a:spcBef>
                        <a:spcAft>
                          <a:spcPts val="0"/>
                        </a:spcAft>
                      </a:pPr>
                      <a:r>
                        <a:rPr lang="en-US" sz="1800">
                          <a:latin typeface="Times New Roman"/>
                          <a:ea typeface="Calibri"/>
                          <a:cs typeface="Times New Roman"/>
                        </a:rPr>
                        <a:t>C</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A  B  C</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6"/>
                  </a:ext>
                </a:extLst>
              </a:tr>
              <a:tr h="142262">
                <a:tc>
                  <a:txBody>
                    <a:bodyPr/>
                    <a:lstStyle/>
                    <a:p>
                      <a:pPr marL="0" marR="0" algn="ctr">
                        <a:lnSpc>
                          <a:spcPct val="115000"/>
                        </a:lnSpc>
                        <a:spcBef>
                          <a:spcPts val="0"/>
                        </a:spcBef>
                        <a:spcAft>
                          <a:spcPts val="0"/>
                        </a:spcAft>
                      </a:pPr>
                      <a:r>
                        <a:rPr lang="en-US" sz="1800">
                          <a:latin typeface="Times New Roman"/>
                          <a:ea typeface="Calibri"/>
                          <a:cs typeface="Times New Roman"/>
                        </a:rPr>
                        <a:t>-</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dirty="0">
                          <a:latin typeface="Times New Roman"/>
                          <a:ea typeface="Calibri"/>
                          <a:cs typeface="Times New Roman"/>
                        </a:rPr>
                        <a:t>A  B  C  *</a:t>
                      </a:r>
                      <a:endParaRPr lang="en-US" sz="1800" dirty="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7"/>
                  </a:ext>
                </a:extLst>
              </a:tr>
              <a:tr h="142262">
                <a:tc>
                  <a:txBody>
                    <a:bodyPr/>
                    <a:lstStyle/>
                    <a:p>
                      <a:pPr marL="0" marR="0" algn="ctr">
                        <a:lnSpc>
                          <a:spcPct val="115000"/>
                        </a:lnSpc>
                        <a:spcBef>
                          <a:spcPts val="0"/>
                        </a:spcBef>
                        <a:spcAft>
                          <a:spcPts val="0"/>
                        </a:spcAft>
                      </a:pPr>
                      <a:r>
                        <a:rPr lang="en-US" sz="1800">
                          <a:latin typeface="Times New Roman"/>
                          <a:ea typeface="Calibri"/>
                          <a:cs typeface="Times New Roman"/>
                        </a:rPr>
                        <a:t>(</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dirty="0">
                          <a:latin typeface="Times New Roman"/>
                          <a:ea typeface="Calibri"/>
                          <a:cs typeface="Times New Roman"/>
                        </a:rPr>
                        <a:t>A  B  C  *</a:t>
                      </a:r>
                      <a:endParaRPr lang="en-US" sz="1800" dirty="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8"/>
                  </a:ext>
                </a:extLst>
              </a:tr>
            </a:tbl>
          </a:graphicData>
        </a:graphic>
      </p:graphicFrame>
      <p:sp>
        <p:nvSpPr>
          <p:cNvPr id="2" name="Rectangle 1"/>
          <p:cNvSpPr/>
          <p:nvPr/>
        </p:nvSpPr>
        <p:spPr>
          <a:xfrm>
            <a:off x="1524000" y="3959352"/>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511808" y="4267200"/>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621536" y="4581144"/>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600200" y="4913376"/>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600200" y="5218176"/>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524000" y="5535168"/>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1505712" y="5839968"/>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2" grpId="0" animBg="1"/>
      <p:bldP spid="13" grpId="0" animBg="1"/>
      <p:bldP spid="14" grpId="0" animBg="1"/>
      <p:bldP spid="16" grpId="0" animBg="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4953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Example 6.7: Transform . . . . . postfix expression P:</a:t>
            </a: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			Q:     A + (B*C - (D /E ↑ F)*G)*H)</a:t>
            </a: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12</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1143001" y="2223516"/>
          <a:ext cx="7162799" cy="4101084"/>
        </p:xfrm>
        <a:graphic>
          <a:graphicData uri="http://schemas.openxmlformats.org/drawingml/2006/table">
            <a:tbl>
              <a:tblPr/>
              <a:tblGrid>
                <a:gridCol w="1757925">
                  <a:extLst>
                    <a:ext uri="{9D8B030D-6E8A-4147-A177-3AD203B41FA5}">
                      <a16:colId xmlns:a16="http://schemas.microsoft.com/office/drawing/2014/main" xmlns="" val="20000"/>
                    </a:ext>
                  </a:extLst>
                </a:gridCol>
                <a:gridCol w="1671073">
                  <a:extLst>
                    <a:ext uri="{9D8B030D-6E8A-4147-A177-3AD203B41FA5}">
                      <a16:colId xmlns:a16="http://schemas.microsoft.com/office/drawing/2014/main" xmlns="" val="20001"/>
                    </a:ext>
                  </a:extLst>
                </a:gridCol>
                <a:gridCol w="3733801">
                  <a:extLst>
                    <a:ext uri="{9D8B030D-6E8A-4147-A177-3AD203B41FA5}">
                      <a16:colId xmlns:a16="http://schemas.microsoft.com/office/drawing/2014/main" xmlns="" val="20002"/>
                    </a:ext>
                  </a:extLst>
                </a:gridCol>
              </a:tblGrid>
              <a:tr h="284524">
                <a:tc>
                  <a:txBody>
                    <a:bodyPr/>
                    <a:lstStyle/>
                    <a:p>
                      <a:pPr marL="0" marR="0" algn="ctr">
                        <a:lnSpc>
                          <a:spcPct val="115000"/>
                        </a:lnSpc>
                        <a:spcBef>
                          <a:spcPts val="0"/>
                        </a:spcBef>
                        <a:spcAft>
                          <a:spcPts val="0"/>
                        </a:spcAft>
                      </a:pPr>
                      <a:r>
                        <a:rPr lang="en-US" sz="1800" b="1" dirty="0">
                          <a:latin typeface="Times New Roman"/>
                          <a:ea typeface="Calibri"/>
                          <a:cs typeface="Times New Roman"/>
                        </a:rPr>
                        <a:t>Symbol Scanned</a:t>
                      </a:r>
                      <a:endParaRPr lang="en-US" sz="1800" dirty="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b="1" dirty="0">
                          <a:latin typeface="Times New Roman"/>
                          <a:ea typeface="Calibri"/>
                          <a:cs typeface="Times New Roman"/>
                        </a:rPr>
                        <a:t>STACK</a:t>
                      </a:r>
                      <a:endParaRPr lang="en-US" sz="1800" dirty="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b="1">
                          <a:latin typeface="Times New Roman"/>
                          <a:ea typeface="Calibri"/>
                          <a:cs typeface="Times New Roman"/>
                        </a:rPr>
                        <a:t>Expression, P</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142262">
                <a:tc>
                  <a:txBody>
                    <a:bodyPr/>
                    <a:lstStyle/>
                    <a:p>
                      <a:pPr marL="0" marR="0" algn="ctr">
                        <a:lnSpc>
                          <a:spcPct val="115000"/>
                        </a:lnSpc>
                        <a:spcBef>
                          <a:spcPts val="0"/>
                        </a:spcBef>
                        <a:spcAft>
                          <a:spcPts val="0"/>
                        </a:spcAft>
                      </a:pPr>
                      <a:r>
                        <a:rPr lang="en-US" sz="1800" dirty="0">
                          <a:latin typeface="Times New Roman"/>
                          <a:ea typeface="Calibri"/>
                          <a:cs typeface="Times New Roman"/>
                        </a:rPr>
                        <a:t>D</a:t>
                      </a:r>
                      <a:endParaRPr lang="en-US" sz="1800" dirty="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dirty="0">
                          <a:latin typeface="Times New Roman"/>
                          <a:ea typeface="Calibri"/>
                          <a:cs typeface="Times New Roman"/>
                        </a:rPr>
                        <a:t>A  B  C  *  D</a:t>
                      </a:r>
                      <a:endParaRPr lang="en-US" sz="1800" dirty="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142262">
                <a:tc>
                  <a:txBody>
                    <a:bodyPr/>
                    <a:lstStyle/>
                    <a:p>
                      <a:pPr marL="0" marR="0" algn="ctr">
                        <a:lnSpc>
                          <a:spcPct val="115000"/>
                        </a:lnSpc>
                        <a:spcBef>
                          <a:spcPts val="0"/>
                        </a:spcBef>
                        <a:spcAft>
                          <a:spcPts val="0"/>
                        </a:spcAft>
                      </a:pPr>
                      <a:r>
                        <a:rPr lang="en-US" sz="1800">
                          <a:latin typeface="Times New Roman"/>
                          <a:ea typeface="Calibri"/>
                          <a:cs typeface="Times New Roman"/>
                        </a:rPr>
                        <a:t>/</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  -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A  B  C  *  D</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142262">
                <a:tc>
                  <a:txBody>
                    <a:bodyPr/>
                    <a:lstStyle/>
                    <a:p>
                      <a:pPr marL="0" marR="0" algn="ctr">
                        <a:lnSpc>
                          <a:spcPct val="115000"/>
                        </a:lnSpc>
                        <a:spcBef>
                          <a:spcPts val="0"/>
                        </a:spcBef>
                        <a:spcAft>
                          <a:spcPts val="0"/>
                        </a:spcAft>
                      </a:pPr>
                      <a:r>
                        <a:rPr lang="en-US" sz="1800">
                          <a:latin typeface="Times New Roman"/>
                          <a:ea typeface="Calibri"/>
                          <a:cs typeface="Times New Roman"/>
                        </a:rPr>
                        <a:t>E</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  -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A  B  C  *  D  E</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284524">
                <a:tc>
                  <a:txBody>
                    <a:bodyPr/>
                    <a:lstStyle/>
                    <a:p>
                      <a:pPr marL="0" marR="0" algn="ctr">
                        <a:lnSpc>
                          <a:spcPct val="115000"/>
                        </a:lnSpc>
                        <a:spcBef>
                          <a:spcPts val="0"/>
                        </a:spcBef>
                        <a:spcAft>
                          <a:spcPts val="0"/>
                        </a:spcAft>
                      </a:pPr>
                      <a:r>
                        <a:rPr lang="en-US" sz="1800">
                          <a:latin typeface="Times New Roman"/>
                          <a:ea typeface="Calibri"/>
                          <a:cs typeface="Times New Roman"/>
                        </a:rPr>
                        <a:t>↑</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  -  (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A  B  C  *  D  E</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284524">
                <a:tc>
                  <a:txBody>
                    <a:bodyPr/>
                    <a:lstStyle/>
                    <a:p>
                      <a:pPr marL="0" marR="0" algn="ctr">
                        <a:lnSpc>
                          <a:spcPct val="115000"/>
                        </a:lnSpc>
                        <a:spcBef>
                          <a:spcPts val="0"/>
                        </a:spcBef>
                        <a:spcAft>
                          <a:spcPts val="0"/>
                        </a:spcAft>
                      </a:pPr>
                      <a:r>
                        <a:rPr lang="en-US" sz="1800">
                          <a:latin typeface="Times New Roman"/>
                          <a:ea typeface="Calibri"/>
                          <a:cs typeface="Times New Roman"/>
                        </a:rPr>
                        <a:t>F</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  -  (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A  B  C  *  D  E  F</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r h="142262">
                <a:tc>
                  <a:txBody>
                    <a:bodyPr/>
                    <a:lstStyle/>
                    <a:p>
                      <a:pPr marL="0" marR="0" algn="ctr">
                        <a:lnSpc>
                          <a:spcPct val="115000"/>
                        </a:lnSpc>
                        <a:spcBef>
                          <a:spcPts val="0"/>
                        </a:spcBef>
                        <a:spcAft>
                          <a:spcPts val="0"/>
                        </a:spcAft>
                      </a:pPr>
                      <a:r>
                        <a:rPr lang="en-US" sz="1800">
                          <a:latin typeface="Times New Roman"/>
                          <a:ea typeface="Calibri"/>
                          <a:cs typeface="Times New Roman"/>
                        </a:rPr>
                        <a:t>)</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A  B  C  *  D  E  F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6"/>
                  </a:ext>
                </a:extLst>
              </a:tr>
              <a:tr h="142262">
                <a:tc>
                  <a:txBody>
                    <a:bodyPr/>
                    <a:lstStyle/>
                    <a:p>
                      <a:pPr marL="0" marR="0" algn="ctr">
                        <a:lnSpc>
                          <a:spcPct val="115000"/>
                        </a:lnSpc>
                        <a:spcBef>
                          <a:spcPts val="0"/>
                        </a:spcBef>
                        <a:spcAft>
                          <a:spcPts val="0"/>
                        </a:spcAft>
                      </a:pPr>
                      <a:r>
                        <a:rPr lang="en-US" sz="1800">
                          <a:latin typeface="Times New Roman"/>
                          <a:ea typeface="Calibri"/>
                          <a:cs typeface="Times New Roman"/>
                        </a:rPr>
                        <a:t>*</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A  B  C  *  D  E  F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7"/>
                  </a:ext>
                </a:extLst>
              </a:tr>
              <a:tr h="284524">
                <a:tc>
                  <a:txBody>
                    <a:bodyPr/>
                    <a:lstStyle/>
                    <a:p>
                      <a:pPr marL="0" marR="0" algn="ctr">
                        <a:lnSpc>
                          <a:spcPct val="115000"/>
                        </a:lnSpc>
                        <a:spcBef>
                          <a:spcPts val="0"/>
                        </a:spcBef>
                        <a:spcAft>
                          <a:spcPts val="0"/>
                        </a:spcAft>
                      </a:pPr>
                      <a:r>
                        <a:rPr lang="en-US" sz="1800">
                          <a:latin typeface="Times New Roman"/>
                          <a:ea typeface="Calibri"/>
                          <a:cs typeface="Times New Roman"/>
                        </a:rPr>
                        <a:t>G</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A  B  C  *  D  E  F  ↑  /  G</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8"/>
                  </a:ext>
                </a:extLst>
              </a:tr>
              <a:tr h="284524">
                <a:tc>
                  <a:txBody>
                    <a:bodyPr/>
                    <a:lstStyle/>
                    <a:p>
                      <a:pPr marL="0" marR="0" algn="ctr">
                        <a:lnSpc>
                          <a:spcPct val="115000"/>
                        </a:lnSpc>
                        <a:spcBef>
                          <a:spcPts val="0"/>
                        </a:spcBef>
                        <a:spcAft>
                          <a:spcPts val="0"/>
                        </a:spcAft>
                      </a:pPr>
                      <a:r>
                        <a:rPr lang="en-US" sz="1800">
                          <a:latin typeface="Times New Roman"/>
                          <a:ea typeface="Calibri"/>
                          <a:cs typeface="Times New Roman"/>
                        </a:rPr>
                        <a:t>)</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A  B  C  *  D  E  F  ↑  /  G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9"/>
                  </a:ext>
                </a:extLst>
              </a:tr>
              <a:tr h="284524">
                <a:tc>
                  <a:txBody>
                    <a:bodyPr/>
                    <a:lstStyle/>
                    <a:p>
                      <a:pPr marL="0" marR="0" algn="ctr">
                        <a:lnSpc>
                          <a:spcPct val="115000"/>
                        </a:lnSpc>
                        <a:spcBef>
                          <a:spcPts val="0"/>
                        </a:spcBef>
                        <a:spcAft>
                          <a:spcPts val="0"/>
                        </a:spcAft>
                      </a:pPr>
                      <a:r>
                        <a:rPr lang="en-US" sz="1800">
                          <a:latin typeface="Times New Roman"/>
                          <a:ea typeface="Calibri"/>
                          <a:cs typeface="Times New Roman"/>
                        </a:rPr>
                        <a:t>*</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A  B  C  *  D  E  F  ↑  /  G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0"/>
                  </a:ext>
                </a:extLst>
              </a:tr>
              <a:tr h="284524">
                <a:tc>
                  <a:txBody>
                    <a:bodyPr/>
                    <a:lstStyle/>
                    <a:p>
                      <a:pPr marL="0" marR="0" algn="ctr">
                        <a:lnSpc>
                          <a:spcPct val="115000"/>
                        </a:lnSpc>
                        <a:spcBef>
                          <a:spcPts val="0"/>
                        </a:spcBef>
                        <a:spcAft>
                          <a:spcPts val="0"/>
                        </a:spcAft>
                      </a:pPr>
                      <a:r>
                        <a:rPr lang="en-US" sz="1800">
                          <a:latin typeface="Times New Roman"/>
                          <a:ea typeface="Calibri"/>
                          <a:cs typeface="Times New Roman"/>
                        </a:rPr>
                        <a:t>H</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 +   *</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latin typeface="Times New Roman"/>
                          <a:ea typeface="Calibri"/>
                          <a:cs typeface="Times New Roman"/>
                        </a:rPr>
                        <a:t>A  B  C  *  D  E  F  ↑  /  G  *  -  H</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1"/>
                  </a:ext>
                </a:extLst>
              </a:tr>
              <a:tr h="284524">
                <a:tc>
                  <a:txBody>
                    <a:bodyPr/>
                    <a:lstStyle/>
                    <a:p>
                      <a:pPr marL="0" marR="0" algn="ctr">
                        <a:lnSpc>
                          <a:spcPct val="115000"/>
                        </a:lnSpc>
                        <a:spcBef>
                          <a:spcPts val="0"/>
                        </a:spcBef>
                        <a:spcAft>
                          <a:spcPts val="0"/>
                        </a:spcAft>
                      </a:pPr>
                      <a:r>
                        <a:rPr lang="en-US" sz="1800">
                          <a:latin typeface="Times New Roman"/>
                          <a:ea typeface="Calibri"/>
                          <a:cs typeface="Times New Roman"/>
                        </a:rPr>
                        <a:t>)</a:t>
                      </a:r>
                      <a:endParaRPr lang="en-US" sz="180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US" sz="1800">
                        <a:latin typeface="Times New Roman"/>
                        <a:ea typeface="Calibri"/>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dirty="0">
                          <a:latin typeface="Times New Roman"/>
                          <a:ea typeface="Calibri"/>
                          <a:cs typeface="Times New Roman"/>
                        </a:rPr>
                        <a:t>A  B  C  *  D  E  F  ↑  /  G  *  -  H  *  +</a:t>
                      </a:r>
                      <a:endParaRPr lang="en-US" sz="1800" dirty="0">
                        <a:latin typeface="Calibri"/>
                        <a:ea typeface="Times New Roman"/>
                        <a:cs typeface="Times New Roman"/>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2"/>
                  </a:ext>
                </a:extLst>
              </a:tr>
            </a:tbl>
          </a:graphicData>
        </a:graphic>
      </p:graphicFrame>
      <p:sp>
        <p:nvSpPr>
          <p:cNvPr id="11" name="Rectangle 10"/>
          <p:cNvSpPr/>
          <p:nvPr/>
        </p:nvSpPr>
        <p:spPr>
          <a:xfrm>
            <a:off x="1514856" y="2575560"/>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511808" y="2886456"/>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447800" y="3200400"/>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524000" y="3532632"/>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447800" y="3837432"/>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1524000" y="4154424"/>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1505712" y="4459224"/>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502664" y="4782312"/>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1511808" y="5114544"/>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1490473" y="5419344"/>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1484376" y="5736336"/>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1542288" y="6041136"/>
            <a:ext cx="6705599" cy="228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6" grpId="0" animBg="1"/>
      <p:bldP spid="21" grpId="0" animBg="1"/>
      <p:bldP spid="22" grpId="0" animBg="1"/>
      <p:bldP spid="23" grpId="0" animBg="1"/>
      <p:bldP spid="24" grpId="0" animBg="1"/>
      <p:bldP spid="25" grpId="0" animBg="1"/>
      <p:bldP spid="26" grpId="0" animBg="1"/>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4953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Solved Problem 6.10: Transform the following arithmetic infix expression Q into its equivalent postfix expression P:</a:t>
            </a: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			Q:     ((A + B)*D) ↑ (E-F)</a:t>
            </a:r>
            <a:endParaRPr lang="en-US" sz="2000" dirty="0" smtClean="0">
              <a:latin typeface="Times New Roman" pitchFamily="18" charset="0"/>
              <a:cs typeface="Times New Roman" pitchFamily="18" charset="0"/>
            </a:endParaRPr>
          </a:p>
          <a:p>
            <a:pPr>
              <a:buNone/>
            </a:pPr>
            <a:endParaRPr lang="en-US" sz="2000" b="1"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	Solution:</a:t>
            </a: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Push “(” onto stack and then add “)” to the end of Q. Thus, Q becomes</a:t>
            </a:r>
          </a:p>
          <a:p>
            <a:pPr lvl="1">
              <a:buNone/>
            </a:pPr>
            <a:r>
              <a:rPr lang="en-US" sz="2000" dirty="0" smtClean="0">
                <a:latin typeface="Times New Roman" pitchFamily="18" charset="0"/>
                <a:cs typeface="Times New Roman" pitchFamily="18" charset="0"/>
              </a:rPr>
              <a:t>			Q:    ((A + B) * D) ↑ (E-F) )</a:t>
            </a:r>
          </a:p>
          <a:p>
            <a:pPr lvl="1"/>
            <a:r>
              <a:rPr lang="en-US" sz="2000" dirty="0" smtClean="0">
                <a:latin typeface="Times New Roman" pitchFamily="18" charset="0"/>
                <a:cs typeface="Times New Roman" pitchFamily="18" charset="0"/>
              </a:rPr>
              <a:t>Start scanning. The following table shows the status of STACK and of the string P as each element of Q is scanned.</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13</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219200"/>
            <a:ext cx="8229600" cy="4953000"/>
          </a:xfrm>
          <a:prstGeom prst="rect">
            <a:avLst/>
          </a:prstGeom>
        </p:spPr>
        <p:txBody>
          <a:bodyPr/>
          <a:lstStyle/>
          <a:p>
            <a:pPr>
              <a:buFont typeface="Wingdings" pitchFamily="2" charset="2"/>
              <a:buChar char="q"/>
            </a:pPr>
            <a:r>
              <a:rPr lang="en-US" sz="1600" b="1" dirty="0" smtClean="0">
                <a:latin typeface="Times New Roman" pitchFamily="18" charset="0"/>
                <a:cs typeface="Times New Roman" pitchFamily="18" charset="0"/>
              </a:rPr>
              <a:t>Solved Problem 6.10: Transform . . .  postfix expression P:</a:t>
            </a:r>
            <a:endParaRPr lang="en-US" sz="1600"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			Q:     ((A + B)*D) ↑ (E-F))</a:t>
            </a:r>
            <a:endParaRPr lang="en-US" sz="1600" dirty="0" smtClean="0">
              <a:latin typeface="Times New Roman" pitchFamily="18" charset="0"/>
              <a:cs typeface="Times New Roman" pitchFamily="18" charset="0"/>
            </a:endParaRPr>
          </a:p>
          <a:p>
            <a:pPr>
              <a:buNone/>
            </a:pPr>
            <a:endParaRPr lang="en-US" sz="1600" b="1"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	</a:t>
            </a:r>
            <a:endParaRPr lang="en-US" sz="16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	</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14</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1600200" y="1913965"/>
          <a:ext cx="5562600" cy="4465848"/>
        </p:xfrm>
        <a:graphic>
          <a:graphicData uri="http://schemas.openxmlformats.org/drawingml/2006/table">
            <a:tbl>
              <a:tblPr/>
              <a:tblGrid>
                <a:gridCol w="1365197">
                  <a:extLst>
                    <a:ext uri="{9D8B030D-6E8A-4147-A177-3AD203B41FA5}">
                      <a16:colId xmlns:a16="http://schemas.microsoft.com/office/drawing/2014/main" xmlns="" val="20000"/>
                    </a:ext>
                  </a:extLst>
                </a:gridCol>
                <a:gridCol w="1297749">
                  <a:extLst>
                    <a:ext uri="{9D8B030D-6E8A-4147-A177-3AD203B41FA5}">
                      <a16:colId xmlns:a16="http://schemas.microsoft.com/office/drawing/2014/main" xmlns="" val="20001"/>
                    </a:ext>
                  </a:extLst>
                </a:gridCol>
                <a:gridCol w="2899654">
                  <a:extLst>
                    <a:ext uri="{9D8B030D-6E8A-4147-A177-3AD203B41FA5}">
                      <a16:colId xmlns:a16="http://schemas.microsoft.com/office/drawing/2014/main" xmlns="" val="20002"/>
                    </a:ext>
                  </a:extLst>
                </a:gridCol>
              </a:tblGrid>
              <a:tr h="284524">
                <a:tc>
                  <a:txBody>
                    <a:bodyPr/>
                    <a:lstStyle/>
                    <a:p>
                      <a:pPr marL="0" marR="0" algn="ctr">
                        <a:lnSpc>
                          <a:spcPct val="115000"/>
                        </a:lnSpc>
                        <a:spcBef>
                          <a:spcPts val="0"/>
                        </a:spcBef>
                        <a:spcAft>
                          <a:spcPts val="0"/>
                        </a:spcAft>
                      </a:pPr>
                      <a:r>
                        <a:rPr lang="en-US" sz="1200" b="1" dirty="0">
                          <a:latin typeface="Times New Roman" pitchFamily="18" charset="0"/>
                          <a:ea typeface="Calibri"/>
                          <a:cs typeface="Times New Roman" pitchFamily="18" charset="0"/>
                        </a:rPr>
                        <a:t>Symbol Scanned</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dirty="0">
                          <a:latin typeface="Times New Roman" pitchFamily="18" charset="0"/>
                          <a:ea typeface="Calibri"/>
                          <a:cs typeface="Times New Roman" pitchFamily="18" charset="0"/>
                        </a:rPr>
                        <a:t>STACK</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dirty="0">
                          <a:latin typeface="Times New Roman" pitchFamily="18" charset="0"/>
                          <a:ea typeface="Calibri"/>
                          <a:cs typeface="Times New Roman" pitchFamily="18" charset="0"/>
                        </a:rPr>
                        <a:t>Expression, P</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142262">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a:latin typeface="Times New Roman" pitchFamily="18" charset="0"/>
                          <a:ea typeface="Calibri"/>
                          <a:cs typeface="Times New Roman" pitchFamily="18" charset="0"/>
                        </a:rPr>
                        <a:t>( </a:t>
                      </a:r>
                      <a:r>
                        <a:rPr lang="en-US" sz="1200" dirty="0" smtClean="0">
                          <a:latin typeface="Times New Roman" pitchFamily="18" charset="0"/>
                          <a:ea typeface="Calibri"/>
                          <a:cs typeface="Times New Roman" pitchFamily="18" charset="0"/>
                        </a:rPr>
                        <a:t>(</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142262">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a:latin typeface="Times New Roman" pitchFamily="18" charset="0"/>
                          <a:ea typeface="Calibri"/>
                          <a:cs typeface="Times New Roman" pitchFamily="18" charset="0"/>
                        </a:rPr>
                        <a:t>( </a:t>
                      </a:r>
                      <a:r>
                        <a:rPr lang="en-US" sz="1200" dirty="0" smtClean="0">
                          <a:latin typeface="Times New Roman" pitchFamily="18" charset="0"/>
                          <a:ea typeface="Calibri"/>
                          <a:cs typeface="Times New Roman" pitchFamily="18" charset="0"/>
                        </a:rPr>
                        <a:t>( (</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142262">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A</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en-US" sz="1200" dirty="0" smtClean="0">
                          <a:latin typeface="Times New Roman" pitchFamily="18" charset="0"/>
                          <a:ea typeface="Calibri"/>
                          <a:cs typeface="Times New Roman" pitchFamily="18" charset="0"/>
                        </a:rPr>
                        <a:t>( ( (</a:t>
                      </a:r>
                      <a:endParaRPr lang="en-US" sz="1200" dirty="0" smtClean="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Calibri"/>
                          <a:cs typeface="Times New Roman" pitchFamily="18" charset="0"/>
                        </a:rPr>
                        <a:t>A</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284524">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en-US" sz="1200" dirty="0" smtClean="0">
                          <a:latin typeface="Times New Roman" pitchFamily="18" charset="0"/>
                          <a:ea typeface="Calibri"/>
                          <a:cs typeface="Times New Roman" pitchFamily="18" charset="0"/>
                        </a:rPr>
                        <a:t>( ( (</a:t>
                      </a:r>
                      <a:r>
                        <a:rPr lang="en-US" sz="1200" baseline="0" dirty="0">
                          <a:latin typeface="Times New Roman" pitchFamily="18" charset="0"/>
                          <a:ea typeface="Calibri"/>
                          <a:cs typeface="Times New Roman" pitchFamily="18" charset="0"/>
                        </a:rPr>
                        <a:t> </a:t>
                      </a:r>
                      <a:r>
                        <a:rPr lang="en-US" sz="1200" baseline="0" dirty="0" smtClean="0">
                          <a:latin typeface="Times New Roman" pitchFamily="18" charset="0"/>
                          <a:ea typeface="Calibri"/>
                          <a:cs typeface="Times New Roman" pitchFamily="18" charset="0"/>
                        </a:rPr>
                        <a:t>+</a:t>
                      </a:r>
                      <a:endParaRPr lang="en-US" sz="1200" dirty="0" smtClean="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Calibri"/>
                          <a:cs typeface="Times New Roman" pitchFamily="18" charset="0"/>
                        </a:rPr>
                        <a:t>A</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284524">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B</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Calibri"/>
                          <a:cs typeface="Times New Roman" pitchFamily="18" charset="0"/>
                        </a:rPr>
                        <a:t>( ( (</a:t>
                      </a:r>
                      <a:r>
                        <a:rPr lang="en-US" sz="1200" baseline="0" dirty="0" smtClean="0">
                          <a:latin typeface="Times New Roman" pitchFamily="18" charset="0"/>
                          <a:ea typeface="Calibri"/>
                          <a:cs typeface="Times New Roman" pitchFamily="18" charset="0"/>
                        </a:rPr>
                        <a:t> +</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a:latin typeface="Times New Roman" pitchFamily="18" charset="0"/>
                          <a:ea typeface="Calibri"/>
                          <a:cs typeface="Times New Roman" pitchFamily="18" charset="0"/>
                        </a:rPr>
                        <a:t>A  </a:t>
                      </a:r>
                      <a:r>
                        <a:rPr lang="en-US" sz="1200" dirty="0" smtClean="0">
                          <a:latin typeface="Times New Roman" pitchFamily="18" charset="0"/>
                          <a:ea typeface="Calibri"/>
                          <a:cs typeface="Times New Roman" pitchFamily="18" charset="0"/>
                        </a:rPr>
                        <a:t>B</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r h="142262">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Calibri"/>
                          <a:cs typeface="Times New Roman" pitchFamily="18" charset="0"/>
                        </a:rPr>
                        <a:t>( ( </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a:latin typeface="Times New Roman" pitchFamily="18" charset="0"/>
                          <a:ea typeface="Calibri"/>
                          <a:cs typeface="Times New Roman" pitchFamily="18" charset="0"/>
                        </a:rPr>
                        <a:t>A  B </a:t>
                      </a:r>
                      <a:r>
                        <a:rPr lang="en-US" sz="1200" dirty="0" smtClean="0">
                          <a:latin typeface="Times New Roman" pitchFamily="18" charset="0"/>
                          <a:ea typeface="Calibri"/>
                          <a:cs typeface="Times New Roman" pitchFamily="18" charset="0"/>
                        </a:rPr>
                        <a:t>+</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6"/>
                  </a:ext>
                </a:extLst>
              </a:tr>
              <a:tr h="142262">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Times New Roman"/>
                          <a:cs typeface="Times New Roman" pitchFamily="18" charset="0"/>
                        </a:rPr>
                        <a:t>( ( *</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Calibri"/>
                          <a:cs typeface="Times New Roman" pitchFamily="18" charset="0"/>
                        </a:rPr>
                        <a:t>A  B +</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7"/>
                  </a:ext>
                </a:extLst>
              </a:tr>
              <a:tr h="284524">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D</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Times New Roman"/>
                          <a:cs typeface="Times New Roman" pitchFamily="18" charset="0"/>
                        </a:rPr>
                        <a:t>( ( *</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Calibri"/>
                          <a:cs typeface="Times New Roman" pitchFamily="18" charset="0"/>
                        </a:rPr>
                        <a:t>A  B + D</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8"/>
                  </a:ext>
                </a:extLst>
              </a:tr>
              <a:tr h="284524">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Times New Roman"/>
                          <a:cs typeface="Times New Roman" pitchFamily="18" charset="0"/>
                        </a:rPr>
                        <a:t>(</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Calibri"/>
                          <a:cs typeface="Times New Roman" pitchFamily="18" charset="0"/>
                        </a:rPr>
                        <a:t>A  B + D *</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9"/>
                  </a:ext>
                </a:extLst>
              </a:tr>
              <a:tr h="284524">
                <a:tc>
                  <a:txBody>
                    <a:bodyPr/>
                    <a:lstStyle/>
                    <a:p>
                      <a:pPr marL="0" marR="0" algn="ctr">
                        <a:lnSpc>
                          <a:spcPct val="115000"/>
                        </a:lnSpc>
                        <a:spcBef>
                          <a:spcPts val="0"/>
                        </a:spcBef>
                        <a:spcAft>
                          <a:spcPts val="0"/>
                        </a:spcAft>
                      </a:pPr>
                      <a:r>
                        <a:rPr lang="en-US" sz="1200" dirty="0" smtClean="0">
                          <a:latin typeface="Times New Roman" pitchFamily="18" charset="0"/>
                          <a:ea typeface="Calibri"/>
                          <a:cs typeface="Times New Roman" pitchFamily="18" charset="0"/>
                        </a:rPr>
                        <a:t>↑</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Times New Roman"/>
                          <a:cs typeface="Times New Roman" pitchFamily="18" charset="0"/>
                        </a:rPr>
                        <a:t>( </a:t>
                      </a:r>
                      <a:r>
                        <a:rPr lang="en-US" sz="1200" dirty="0" smtClean="0">
                          <a:latin typeface="Times New Roman" pitchFamily="18" charset="0"/>
                          <a:ea typeface="Calibri"/>
                          <a:cs typeface="Times New Roman" pitchFamily="18" charset="0"/>
                        </a:rPr>
                        <a:t>↑</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Calibri"/>
                          <a:cs typeface="Times New Roman" pitchFamily="18" charset="0"/>
                        </a:rPr>
                        <a:t>A  B + D *</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0"/>
                  </a:ext>
                </a:extLst>
              </a:tr>
              <a:tr h="284524">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Times New Roman"/>
                          <a:cs typeface="Times New Roman" pitchFamily="18" charset="0"/>
                        </a:rPr>
                        <a:t>( </a:t>
                      </a:r>
                      <a:r>
                        <a:rPr lang="en-US" sz="1200" dirty="0" smtClean="0">
                          <a:latin typeface="Times New Roman" pitchFamily="18" charset="0"/>
                          <a:ea typeface="Calibri"/>
                          <a:cs typeface="Times New Roman" pitchFamily="18" charset="0"/>
                        </a:rPr>
                        <a:t>↑ (</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Calibri"/>
                          <a:cs typeface="Times New Roman" pitchFamily="18" charset="0"/>
                        </a:rPr>
                        <a:t>A  B + D *</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1"/>
                  </a:ext>
                </a:extLst>
              </a:tr>
              <a:tr h="284524">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E</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Times New Roman"/>
                          <a:cs typeface="Times New Roman" pitchFamily="18" charset="0"/>
                        </a:rPr>
                        <a:t>( </a:t>
                      </a:r>
                      <a:r>
                        <a:rPr lang="en-US" sz="1200" dirty="0" smtClean="0">
                          <a:latin typeface="Times New Roman" pitchFamily="18" charset="0"/>
                          <a:ea typeface="Calibri"/>
                          <a:cs typeface="Times New Roman" pitchFamily="18" charset="0"/>
                        </a:rPr>
                        <a:t>↑ ( </a:t>
                      </a:r>
                      <a:endParaRPr lang="en-US" sz="1200" dirty="0">
                        <a:latin typeface="Times New Roman" pitchFamily="18" charset="0"/>
                        <a:ea typeface="Calibri"/>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Calibri"/>
                          <a:cs typeface="Times New Roman" pitchFamily="18" charset="0"/>
                        </a:rPr>
                        <a:t>A  B + D * E</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2"/>
                  </a:ext>
                </a:extLst>
              </a:tr>
              <a:tr h="284524">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Times New Roman"/>
                          <a:cs typeface="Times New Roman" pitchFamily="18" charset="0"/>
                        </a:rPr>
                        <a:t>( </a:t>
                      </a:r>
                      <a:r>
                        <a:rPr lang="en-US" sz="1200" dirty="0" smtClean="0">
                          <a:latin typeface="Times New Roman" pitchFamily="18" charset="0"/>
                          <a:ea typeface="Calibri"/>
                          <a:cs typeface="Times New Roman" pitchFamily="18" charset="0"/>
                        </a:rPr>
                        <a:t>↑ ( -</a:t>
                      </a:r>
                      <a:endParaRPr lang="en-US" sz="1200" dirty="0">
                        <a:latin typeface="Times New Roman" pitchFamily="18" charset="0"/>
                        <a:ea typeface="Calibri"/>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Calibri"/>
                          <a:cs typeface="Times New Roman" pitchFamily="18" charset="0"/>
                        </a:rPr>
                        <a:t>A  B + D * E</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3"/>
                  </a:ext>
                </a:extLst>
              </a:tr>
              <a:tr h="284524">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F</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Times New Roman"/>
                          <a:cs typeface="Times New Roman" pitchFamily="18" charset="0"/>
                        </a:rPr>
                        <a:t>( </a:t>
                      </a:r>
                      <a:r>
                        <a:rPr lang="en-US" sz="1200" dirty="0" smtClean="0">
                          <a:latin typeface="Times New Roman" pitchFamily="18" charset="0"/>
                          <a:ea typeface="Calibri"/>
                          <a:cs typeface="Times New Roman" pitchFamily="18" charset="0"/>
                        </a:rPr>
                        <a:t>↑ ( -</a:t>
                      </a:r>
                      <a:endParaRPr lang="en-US" sz="1200" dirty="0">
                        <a:latin typeface="Times New Roman" pitchFamily="18" charset="0"/>
                        <a:ea typeface="Calibri"/>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Calibri"/>
                          <a:cs typeface="Times New Roman" pitchFamily="18" charset="0"/>
                        </a:rPr>
                        <a:t>A  B + D * E F</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4"/>
                  </a:ext>
                </a:extLst>
              </a:tr>
              <a:tr h="284524">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15000"/>
                        </a:lnSpc>
                        <a:spcBef>
                          <a:spcPts val="0"/>
                        </a:spcBef>
                        <a:spcAft>
                          <a:spcPts val="0"/>
                        </a:spcAft>
                        <a:buClrTx/>
                        <a:buSzTx/>
                        <a:buFontTx/>
                        <a:buNone/>
                        <a:tabLst/>
                        <a:defRPr/>
                      </a:pPr>
                      <a:r>
                        <a:rPr lang="en-US" sz="1200" dirty="0" smtClean="0">
                          <a:latin typeface="Times New Roman" pitchFamily="18" charset="0"/>
                          <a:ea typeface="Times New Roman"/>
                          <a:cs typeface="Times New Roman" pitchFamily="18" charset="0"/>
                        </a:rPr>
                        <a:t>( </a:t>
                      </a:r>
                      <a:r>
                        <a:rPr lang="en-US" sz="1200" dirty="0" smtClean="0">
                          <a:latin typeface="Times New Roman" pitchFamily="18" charset="0"/>
                          <a:ea typeface="Calibri"/>
                          <a:cs typeface="Times New Roman" pitchFamily="18" charset="0"/>
                        </a:rPr>
                        <a:t>↑</a:t>
                      </a: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Calibri"/>
                          <a:cs typeface="Times New Roman" pitchFamily="18" charset="0"/>
                        </a:rPr>
                        <a:t>A  B + D * E F -</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5"/>
                  </a:ext>
                </a:extLst>
              </a:tr>
              <a:tr h="284524">
                <a:tc>
                  <a:txBody>
                    <a:bodyPr/>
                    <a:lstStyle/>
                    <a:p>
                      <a:pPr marL="0" marR="0" algn="ctr">
                        <a:lnSpc>
                          <a:spcPct val="115000"/>
                        </a:lnSpc>
                        <a:spcBef>
                          <a:spcPts val="0"/>
                        </a:spcBef>
                        <a:spcAft>
                          <a:spcPts val="0"/>
                        </a:spcAft>
                      </a:pPr>
                      <a:r>
                        <a:rPr lang="en-US" sz="1200" dirty="0" smtClean="0">
                          <a:latin typeface="Times New Roman" pitchFamily="18" charset="0"/>
                          <a:ea typeface="Times New Roman"/>
                          <a:cs typeface="Times New Roman" pitchFamily="18" charset="0"/>
                        </a:rPr>
                        <a:t>)</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US" sz="1200" dirty="0">
                        <a:latin typeface="Times New Roman" pitchFamily="18" charset="0"/>
                        <a:ea typeface="Calibri"/>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dirty="0" smtClean="0">
                          <a:latin typeface="Times New Roman" pitchFamily="18" charset="0"/>
                          <a:ea typeface="Calibri"/>
                          <a:cs typeface="Times New Roman" pitchFamily="18" charset="0"/>
                        </a:rPr>
                        <a:t>A  B + D * E F - ↑</a:t>
                      </a:r>
                      <a:endParaRPr lang="en-US" sz="1200" dirty="0">
                        <a:latin typeface="Times New Roman" pitchFamily="18" charset="0"/>
                        <a:ea typeface="Times New Roman"/>
                        <a:cs typeface="Times New Roman" pitchFamily="18" charset="0"/>
                      </a:endParaRPr>
                    </a:p>
                  </a:txBody>
                  <a:tcPr marL="63106" marR="6310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16"/>
                  </a:ext>
                </a:extLst>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4953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Algorithm 6.6: Write an algorithm that transforms the infix expression into its equivalent postfix expression.</a:t>
            </a: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POLISH (Q, P)</a:t>
            </a:r>
          </a:p>
          <a:p>
            <a:pPr>
              <a:buNone/>
            </a:pPr>
            <a:r>
              <a:rPr lang="en-US" sz="2000" dirty="0" smtClean="0">
                <a:latin typeface="Times New Roman" pitchFamily="18" charset="0"/>
                <a:cs typeface="Times New Roman" pitchFamily="18" charset="0"/>
              </a:rPr>
              <a:t>	Suppose Q is an arithmetic expression written in infix notation. This algorithm finds the equivalent postfix expression P.</a:t>
            </a:r>
          </a:p>
          <a:p>
            <a:pPr lvl="0">
              <a:buNone/>
            </a:pPr>
            <a:endParaRPr lang="en-US" sz="2000" dirty="0" smtClean="0">
              <a:latin typeface="Times New Roman" pitchFamily="18" charset="0"/>
              <a:cs typeface="Times New Roman" pitchFamily="18" charset="0"/>
            </a:endParaRPr>
          </a:p>
          <a:p>
            <a:pPr lvl="2">
              <a:buNone/>
            </a:pPr>
            <a:r>
              <a:rPr lang="en-US" sz="2000" dirty="0" smtClean="0">
                <a:latin typeface="Times New Roman" pitchFamily="18" charset="0"/>
                <a:cs typeface="Times New Roman" pitchFamily="18" charset="0"/>
              </a:rPr>
              <a:t>1.	 Push “(” onto STACK and add “)” to the end of Q.</a:t>
            </a:r>
          </a:p>
          <a:p>
            <a:pPr lvl="2">
              <a:buNone/>
            </a:pPr>
            <a:r>
              <a:rPr lang="en-US" sz="2000" dirty="0" smtClean="0">
                <a:latin typeface="Times New Roman" pitchFamily="18" charset="0"/>
                <a:cs typeface="Times New Roman" pitchFamily="18" charset="0"/>
              </a:rPr>
              <a:t>2.  Scan Q from left to right and repeat steps 3 to 6 for each element of Q until the STACK is empty.</a:t>
            </a:r>
          </a:p>
          <a:p>
            <a:pPr lvl="2">
              <a:buNone/>
            </a:pPr>
            <a:r>
              <a:rPr lang="en-US" sz="2000" dirty="0" smtClean="0">
                <a:latin typeface="Times New Roman" pitchFamily="18" charset="0"/>
                <a:cs typeface="Times New Roman" pitchFamily="18" charset="0"/>
              </a:rPr>
              <a:t>3.  	If an operand is encountered, add it to P.</a:t>
            </a:r>
          </a:p>
          <a:p>
            <a:pPr marL="1371600" lvl="2" indent="-457200">
              <a:buNone/>
            </a:pPr>
            <a:r>
              <a:rPr lang="en-US" sz="2000" dirty="0" smtClean="0">
                <a:latin typeface="Times New Roman" pitchFamily="18" charset="0"/>
                <a:cs typeface="Times New Roman" pitchFamily="18" charset="0"/>
              </a:rPr>
              <a:t>4.		If a left parenthesis is encountered, push it onto STACK.</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15</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5334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Algorithm 6.6: Write an algorithm that transforms the infix expression into its equivalent postfix expression.</a:t>
            </a:r>
            <a:endParaRPr lang="en-US" sz="2000" dirty="0" smtClean="0">
              <a:latin typeface="Times New Roman" pitchFamily="18" charset="0"/>
              <a:cs typeface="Times New Roman" pitchFamily="18" charset="0"/>
            </a:endParaRPr>
          </a:p>
          <a:p>
            <a:pPr lvl="2">
              <a:buNone/>
            </a:pPr>
            <a:r>
              <a:rPr lang="en-US" sz="1800" dirty="0" smtClean="0">
                <a:latin typeface="Times New Roman" pitchFamily="18" charset="0"/>
                <a:cs typeface="Times New Roman" pitchFamily="18" charset="0"/>
              </a:rPr>
              <a:t>5. 	If an operator      is encountered, then</a:t>
            </a:r>
          </a:p>
          <a:p>
            <a:pPr lvl="2">
              <a:buNone/>
            </a:pPr>
            <a:r>
              <a:rPr lang="en-US" sz="1800" dirty="0" smtClean="0">
                <a:latin typeface="Times New Roman" pitchFamily="18" charset="0"/>
                <a:cs typeface="Times New Roman" pitchFamily="18" charset="0"/>
              </a:rPr>
              <a:t>		   (a) Repeatedly pop from STACK and add to P each </a:t>
            </a:r>
          </a:p>
          <a:p>
            <a:pPr lvl="2">
              <a:buNone/>
            </a:pPr>
            <a:r>
              <a:rPr lang="en-US" sz="1800" dirty="0" smtClean="0">
                <a:latin typeface="Times New Roman" pitchFamily="18" charset="0"/>
                <a:cs typeface="Times New Roman" pitchFamily="18" charset="0"/>
              </a:rPr>
              <a:t>                      operator (on the top of STACK) which has the same </a:t>
            </a:r>
          </a:p>
          <a:p>
            <a:pPr lvl="2">
              <a:buNone/>
            </a:pPr>
            <a:r>
              <a:rPr lang="en-US" sz="1800" dirty="0" smtClean="0">
                <a:latin typeface="Times New Roman" pitchFamily="18" charset="0"/>
                <a:cs typeface="Times New Roman" pitchFamily="18" charset="0"/>
              </a:rPr>
              <a:t>                      precedence as or higher precedence than     . </a:t>
            </a:r>
          </a:p>
          <a:p>
            <a:pPr lvl="2">
              <a:buNone/>
            </a:pPr>
            <a:r>
              <a:rPr lang="en-US" sz="1800" dirty="0" smtClean="0">
                <a:latin typeface="Times New Roman" pitchFamily="18" charset="0"/>
                <a:cs typeface="Times New Roman" pitchFamily="18" charset="0"/>
              </a:rPr>
              <a:t>		   (b) Add    to STACK.</a:t>
            </a:r>
          </a:p>
          <a:p>
            <a:pPr lvl="2">
              <a:buNone/>
            </a:pPr>
            <a:r>
              <a:rPr lang="en-US" sz="1800" dirty="0" smtClean="0">
                <a:latin typeface="Times New Roman" pitchFamily="18" charset="0"/>
                <a:cs typeface="Times New Roman" pitchFamily="18" charset="0"/>
              </a:rPr>
              <a:t>               [End of if structure]</a:t>
            </a:r>
          </a:p>
          <a:p>
            <a:pPr lvl="2">
              <a:buNone/>
            </a:pPr>
            <a:r>
              <a:rPr lang="en-US" sz="1800" dirty="0" smtClean="0">
                <a:latin typeface="Times New Roman" pitchFamily="18" charset="0"/>
                <a:cs typeface="Times New Roman" pitchFamily="18" charset="0"/>
              </a:rPr>
              <a:t>6. 	If a right parenthesis is encountered, then</a:t>
            </a:r>
          </a:p>
          <a:p>
            <a:pPr lvl="2">
              <a:buNone/>
            </a:pPr>
            <a:r>
              <a:rPr lang="en-US" sz="1800" dirty="0" smtClean="0">
                <a:latin typeface="Times New Roman" pitchFamily="18" charset="0"/>
                <a:cs typeface="Times New Roman" pitchFamily="18" charset="0"/>
              </a:rPr>
              <a:t>		  (a) Repeatedly pop from STACK and add to P each</a:t>
            </a:r>
          </a:p>
          <a:p>
            <a:pPr lvl="2">
              <a:buNone/>
            </a:pPr>
            <a:r>
              <a:rPr lang="en-US" sz="1800" dirty="0" smtClean="0">
                <a:latin typeface="Times New Roman" pitchFamily="18" charset="0"/>
                <a:cs typeface="Times New Roman" pitchFamily="18" charset="0"/>
              </a:rPr>
              <a:t>                     operator (on the top of  STACK) until a left parenthesis </a:t>
            </a:r>
          </a:p>
          <a:p>
            <a:pPr lvl="2">
              <a:buNone/>
            </a:pPr>
            <a:r>
              <a:rPr lang="en-US" sz="1800" dirty="0" smtClean="0">
                <a:latin typeface="Times New Roman" pitchFamily="18" charset="0"/>
                <a:cs typeface="Times New Roman" pitchFamily="18" charset="0"/>
              </a:rPr>
              <a:t>                     is encountered.</a:t>
            </a:r>
          </a:p>
          <a:p>
            <a:pPr lvl="2">
              <a:buNone/>
            </a:pPr>
            <a:r>
              <a:rPr lang="en-US" sz="1800" dirty="0" smtClean="0">
                <a:latin typeface="Times New Roman" pitchFamily="18" charset="0"/>
                <a:cs typeface="Times New Roman" pitchFamily="18" charset="0"/>
              </a:rPr>
              <a:t> 		   (b) Remove the left parenthesis.</a:t>
            </a:r>
          </a:p>
          <a:p>
            <a:pPr lvl="2">
              <a:buNone/>
            </a:pPr>
            <a:r>
              <a:rPr lang="en-US" sz="1800" dirty="0" smtClean="0">
                <a:latin typeface="Times New Roman" pitchFamily="18" charset="0"/>
                <a:cs typeface="Times New Roman" pitchFamily="18" charset="0"/>
              </a:rPr>
              <a:t>                [End of if structure]</a:t>
            </a:r>
          </a:p>
          <a:p>
            <a:pPr lvl="2">
              <a:buNone/>
            </a:pPr>
            <a:r>
              <a:rPr lang="en-US" sz="1800" dirty="0" smtClean="0">
                <a:latin typeface="Times New Roman" pitchFamily="18" charset="0"/>
                <a:cs typeface="Times New Roman" pitchFamily="18" charset="0"/>
              </a:rPr>
              <a:t>        [End of Step 2 loop]</a:t>
            </a:r>
          </a:p>
          <a:p>
            <a:pPr>
              <a:buNone/>
            </a:pPr>
            <a:r>
              <a:rPr lang="en-US" sz="1800" dirty="0" smtClean="0">
                <a:latin typeface="Times New Roman" pitchFamily="18" charset="0"/>
                <a:cs typeface="Times New Roman" pitchFamily="18" charset="0"/>
              </a:rPr>
              <a:t>		7. Exit.</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16</a:t>
            </a:fld>
            <a:endParaRPr lang="en-US">
              <a:solidFill>
                <a:srgbClr val="00B050"/>
              </a:solidFill>
            </a:endParaRPr>
          </a:p>
        </p:txBody>
      </p:sp>
      <p:pic>
        <p:nvPicPr>
          <p:cNvPr id="7" name="Picture 6" descr="JU Mon eps.tif"/>
          <p:cNvPicPr>
            <a:picLocks noChangeAspect="1"/>
          </p:cNvPicPr>
          <p:nvPr/>
        </p:nvPicPr>
        <p:blipFill>
          <a:blip r:embed="rId4"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9" name="Object 1"/>
          <p:cNvGraphicFramePr>
            <a:graphicFrameLocks noChangeAspect="1"/>
          </p:cNvGraphicFramePr>
          <p:nvPr/>
        </p:nvGraphicFramePr>
        <p:xfrm>
          <a:off x="3733800" y="2120153"/>
          <a:ext cx="230104" cy="257175"/>
        </p:xfrm>
        <a:graphic>
          <a:graphicData uri="http://schemas.openxmlformats.org/presentationml/2006/ole">
            <mc:AlternateContent xmlns:mc="http://schemas.openxmlformats.org/markup-compatibility/2006">
              <mc:Choice xmlns:v="urn:schemas-microsoft-com:vml" Requires="v">
                <p:oleObj spid="_x0000_s2180" name="Equation" r:id="rId5" imgW="164814" imgH="177492" progId="Equation.3">
                  <p:embed/>
                </p:oleObj>
              </mc:Choice>
              <mc:Fallback>
                <p:oleObj name="Equation" r:id="rId5" imgW="164814" imgH="177492" progId="Equation.3">
                  <p:embed/>
                  <p:pic>
                    <p:nvPicPr>
                      <p:cNvPr id="0"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2120153"/>
                        <a:ext cx="230104" cy="257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3"/>
          <p:cNvGraphicFramePr>
            <a:graphicFrameLocks noChangeAspect="1"/>
          </p:cNvGraphicFramePr>
          <p:nvPr/>
        </p:nvGraphicFramePr>
        <p:xfrm>
          <a:off x="6553200" y="3095625"/>
          <a:ext cx="230188" cy="257175"/>
        </p:xfrm>
        <a:graphic>
          <a:graphicData uri="http://schemas.openxmlformats.org/presentationml/2006/ole">
            <mc:AlternateContent xmlns:mc="http://schemas.openxmlformats.org/markup-compatibility/2006">
              <mc:Choice xmlns:v="urn:schemas-microsoft-com:vml" Requires="v">
                <p:oleObj spid="_x0000_s2181" name="Equation" r:id="rId7" imgW="164814" imgH="177492" progId="Equation.3">
                  <p:embed/>
                </p:oleObj>
              </mc:Choice>
              <mc:Fallback>
                <p:oleObj name="Equation" r:id="rId7" imgW="164814" imgH="177492"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3200" y="3095625"/>
                        <a:ext cx="230188" cy="257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3" name="Object 5"/>
          <p:cNvGraphicFramePr>
            <a:graphicFrameLocks noChangeAspect="1"/>
          </p:cNvGraphicFramePr>
          <p:nvPr/>
        </p:nvGraphicFramePr>
        <p:xfrm>
          <a:off x="3325906" y="3429000"/>
          <a:ext cx="230188" cy="257175"/>
        </p:xfrm>
        <a:graphic>
          <a:graphicData uri="http://schemas.openxmlformats.org/presentationml/2006/ole">
            <mc:AlternateContent xmlns:mc="http://schemas.openxmlformats.org/markup-compatibility/2006">
              <mc:Choice xmlns:v="urn:schemas-microsoft-com:vml" Requires="v">
                <p:oleObj spid="_x0000_s2182" name="Equation" r:id="rId8" imgW="164814" imgH="177492" progId="Equation.3">
                  <p:embed/>
                </p:oleObj>
              </mc:Choice>
              <mc:Fallback>
                <p:oleObj name="Equation" r:id="rId8" imgW="164814" imgH="177492"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5906" y="3429000"/>
                        <a:ext cx="230188" cy="257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xmlns="" id="{342C1FB2-127C-403F-9783-FBB1E47AADF6}"/>
              </a:ext>
            </a:extLst>
          </p:cNvPr>
          <p:cNvSpPr>
            <a:spLocks noGrp="1" noChangeArrowheads="1"/>
          </p:cNvSpPr>
          <p:nvPr>
            <p:ph type="title"/>
          </p:nvPr>
        </p:nvSpPr>
        <p:spPr>
          <a:xfrm>
            <a:off x="1219200" y="476672"/>
            <a:ext cx="8001000" cy="360363"/>
          </a:xfrm>
        </p:spPr>
        <p:txBody>
          <a:bodyPr/>
          <a:lstStyle/>
          <a:p>
            <a:pPr eaLnBrk="1" hangingPunct="1"/>
            <a:r>
              <a:rPr lang="en-US" altLang="en-US" sz="2800" b="1" dirty="0"/>
              <a:t>Application of Stacks - Evaluating Postfix </a:t>
            </a:r>
            <a:r>
              <a:rPr lang="en-US" altLang="en-US" sz="2800" b="1" dirty="0" smtClean="0"/>
              <a:t>Expression</a:t>
            </a:r>
            <a:endParaRPr lang="en-US" altLang="en-US" sz="2800" b="1" dirty="0"/>
          </a:p>
        </p:txBody>
      </p:sp>
      <p:sp>
        <p:nvSpPr>
          <p:cNvPr id="39939" name="Rectangle 3">
            <a:extLst>
              <a:ext uri="{FF2B5EF4-FFF2-40B4-BE49-F238E27FC236}">
                <a16:creationId xmlns:a16="http://schemas.microsoft.com/office/drawing/2014/main" xmlns="" id="{44F0609D-49AE-4E44-A1FC-77A1CE7206A7}"/>
              </a:ext>
            </a:extLst>
          </p:cNvPr>
          <p:cNvSpPr>
            <a:spLocks noGrp="1" noChangeArrowheads="1"/>
          </p:cNvSpPr>
          <p:nvPr>
            <p:ph type="body" sz="half" idx="1"/>
          </p:nvPr>
        </p:nvSpPr>
        <p:spPr>
          <a:xfrm>
            <a:off x="287337" y="1442120"/>
            <a:ext cx="8362950" cy="2520280"/>
          </a:xfrm>
        </p:spPr>
        <p:txBody>
          <a:bodyPr/>
          <a:lstStyle/>
          <a:p>
            <a:pPr algn="just" eaLnBrk="1" hangingPunct="1"/>
            <a:r>
              <a:rPr lang="en-US" altLang="en-US" sz="2400" dirty="0"/>
              <a:t>Example: Consider the postfix expression,  </a:t>
            </a:r>
            <a:r>
              <a:rPr lang="en-US" altLang="en-US" sz="2400" b="1" dirty="0"/>
              <a:t>2  10  +  9  6  -  /,</a:t>
            </a:r>
            <a:r>
              <a:rPr lang="en-US" altLang="en-US" sz="2400" dirty="0"/>
              <a:t> which is    </a:t>
            </a:r>
            <a:r>
              <a:rPr lang="en-US" altLang="en-US" sz="2400" b="1" dirty="0"/>
              <a:t>(2 + 10) / (9 - 6)</a:t>
            </a:r>
            <a:r>
              <a:rPr lang="en-US" altLang="en-US" sz="2400" dirty="0"/>
              <a:t> in infix, the result of which is 12 / 3 = 4.</a:t>
            </a:r>
          </a:p>
          <a:p>
            <a:pPr algn="just" eaLnBrk="1" hangingPunct="1"/>
            <a:r>
              <a:rPr lang="en-US" altLang="en-US" sz="2400" dirty="0"/>
              <a:t>The following is a trace of the postfix evaluation algorithm for the postfix expression:</a:t>
            </a:r>
          </a:p>
        </p:txBody>
      </p:sp>
      <p:pic>
        <p:nvPicPr>
          <p:cNvPr id="19460" name="Picture 4" descr="postfix2">
            <a:extLst>
              <a:ext uri="{FF2B5EF4-FFF2-40B4-BE49-F238E27FC236}">
                <a16:creationId xmlns:a16="http://schemas.microsoft.com/office/drawing/2014/main" xmlns="" id="{B1173302-AE68-4671-9C3C-48BD935647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075" y="3505200"/>
            <a:ext cx="8569325"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99368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nodeType="clickEffect">
                                  <p:stCondLst>
                                    <p:cond delay="0"/>
                                  </p:stCondLst>
                                  <p:childTnLst>
                                    <p:set>
                                      <p:cBhvr>
                                        <p:cTn id="6" dur="1" fill="hold">
                                          <p:stCondLst>
                                            <p:cond delay="0"/>
                                          </p:stCondLst>
                                        </p:cTn>
                                        <p:tgtEl>
                                          <p:spTgt spid="19460"/>
                                        </p:tgtEl>
                                        <p:attrNameLst>
                                          <p:attrName>style.visibility</p:attrName>
                                        </p:attrNameLst>
                                      </p:cBhvr>
                                      <p:to>
                                        <p:strVal val="visible"/>
                                      </p:to>
                                    </p:set>
                                    <p:anim to="" calcmode="lin" valueType="num">
                                      <p:cBhvr>
                                        <p:cTn id="7" dur="1" fill="hold"/>
                                        <p:tgtEl>
                                          <p:spTgt spid="19460"/>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5334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Example 6.6:</a:t>
            </a:r>
            <a:r>
              <a:rPr lang="en-US" sz="2000" dirty="0" smtClean="0">
                <a:latin typeface="Times New Roman" pitchFamily="18" charset="0"/>
                <a:cs typeface="Times New Roman" pitchFamily="18" charset="0"/>
              </a:rPr>
              <a:t> Find the value of the following arithmetic expression P written in postfix notation:</a:t>
            </a:r>
          </a:p>
          <a:p>
            <a:pPr>
              <a:buNone/>
            </a:pPr>
            <a:r>
              <a:rPr lang="en-US" sz="2000" dirty="0" smtClean="0">
                <a:latin typeface="Times New Roman" pitchFamily="18" charset="0"/>
                <a:cs typeface="Times New Roman" pitchFamily="18" charset="0"/>
              </a:rPr>
              <a:t>			P:    5,  6,  2,  +,  *,  12,  4,  /, -</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Solution:</a:t>
            </a:r>
          </a:p>
          <a:p>
            <a:pPr>
              <a:buNone/>
            </a:pPr>
            <a:r>
              <a:rPr lang="en-US" sz="2000" dirty="0" smtClean="0">
                <a:latin typeface="Times New Roman" pitchFamily="18" charset="0"/>
                <a:cs typeface="Times New Roman" pitchFamily="18" charset="0"/>
              </a:rPr>
              <a:t>	- First we add a sentinel right parenthesis at the end of P:</a:t>
            </a: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 Start scanning from left to right. The following table shows the contents of STACK as each element of P is scanned. The final number in STACK, 37, which is assigned to VALUE when the sentinel ")" is scanned, is the value of P.</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18</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6" name="Table 15"/>
          <p:cNvGraphicFramePr>
            <a:graphicFrameLocks noGrp="1"/>
          </p:cNvGraphicFramePr>
          <p:nvPr/>
        </p:nvGraphicFramePr>
        <p:xfrm>
          <a:off x="1371600" y="3740785"/>
          <a:ext cx="6327458" cy="701040"/>
        </p:xfrm>
        <a:graphic>
          <a:graphicData uri="http://schemas.openxmlformats.org/drawingml/2006/table">
            <a:tbl>
              <a:tblPr/>
              <a:tblGrid>
                <a:gridCol w="423494">
                  <a:extLst>
                    <a:ext uri="{9D8B030D-6E8A-4147-A177-3AD203B41FA5}">
                      <a16:colId xmlns:a16="http://schemas.microsoft.com/office/drawing/2014/main" xmlns="" val="20000"/>
                    </a:ext>
                  </a:extLst>
                </a:gridCol>
                <a:gridCol w="578752">
                  <a:extLst>
                    <a:ext uri="{9D8B030D-6E8A-4147-A177-3AD203B41FA5}">
                      <a16:colId xmlns:a16="http://schemas.microsoft.com/office/drawing/2014/main" xmlns="" val="20001"/>
                    </a:ext>
                  </a:extLst>
                </a:gridCol>
                <a:gridCol w="578752">
                  <a:extLst>
                    <a:ext uri="{9D8B030D-6E8A-4147-A177-3AD203B41FA5}">
                      <a16:colId xmlns:a16="http://schemas.microsoft.com/office/drawing/2014/main" xmlns="" val="20002"/>
                    </a:ext>
                  </a:extLst>
                </a:gridCol>
                <a:gridCol w="578752">
                  <a:extLst>
                    <a:ext uri="{9D8B030D-6E8A-4147-A177-3AD203B41FA5}">
                      <a16:colId xmlns:a16="http://schemas.microsoft.com/office/drawing/2014/main" xmlns="" val="20003"/>
                    </a:ext>
                  </a:extLst>
                </a:gridCol>
                <a:gridCol w="578752">
                  <a:extLst>
                    <a:ext uri="{9D8B030D-6E8A-4147-A177-3AD203B41FA5}">
                      <a16:colId xmlns:a16="http://schemas.microsoft.com/office/drawing/2014/main" xmlns="" val="20004"/>
                    </a:ext>
                  </a:extLst>
                </a:gridCol>
                <a:gridCol w="578752">
                  <a:extLst>
                    <a:ext uri="{9D8B030D-6E8A-4147-A177-3AD203B41FA5}">
                      <a16:colId xmlns:a16="http://schemas.microsoft.com/office/drawing/2014/main" xmlns="" val="20005"/>
                    </a:ext>
                  </a:extLst>
                </a:gridCol>
                <a:gridCol w="594694">
                  <a:extLst>
                    <a:ext uri="{9D8B030D-6E8A-4147-A177-3AD203B41FA5}">
                      <a16:colId xmlns:a16="http://schemas.microsoft.com/office/drawing/2014/main" xmlns="" val="20006"/>
                    </a:ext>
                  </a:extLst>
                </a:gridCol>
                <a:gridCol w="578752">
                  <a:extLst>
                    <a:ext uri="{9D8B030D-6E8A-4147-A177-3AD203B41FA5}">
                      <a16:colId xmlns:a16="http://schemas.microsoft.com/office/drawing/2014/main" xmlns="" val="20007"/>
                    </a:ext>
                  </a:extLst>
                </a:gridCol>
                <a:gridCol w="578752">
                  <a:extLst>
                    <a:ext uri="{9D8B030D-6E8A-4147-A177-3AD203B41FA5}">
                      <a16:colId xmlns:a16="http://schemas.microsoft.com/office/drawing/2014/main" xmlns="" val="20008"/>
                    </a:ext>
                  </a:extLst>
                </a:gridCol>
                <a:gridCol w="578752">
                  <a:extLst>
                    <a:ext uri="{9D8B030D-6E8A-4147-A177-3AD203B41FA5}">
                      <a16:colId xmlns:a16="http://schemas.microsoft.com/office/drawing/2014/main" xmlns="" val="20009"/>
                    </a:ext>
                  </a:extLst>
                </a:gridCol>
                <a:gridCol w="679254">
                  <a:extLst>
                    <a:ext uri="{9D8B030D-6E8A-4147-A177-3AD203B41FA5}">
                      <a16:colId xmlns:a16="http://schemas.microsoft.com/office/drawing/2014/main" xmlns="" val="20010"/>
                    </a:ext>
                  </a:extLst>
                </a:gridCol>
              </a:tblGrid>
              <a:tr h="286512">
                <a:tc>
                  <a:txBody>
                    <a:bodyPr/>
                    <a:lstStyle/>
                    <a:p>
                      <a:pPr marL="0" marR="0" algn="ctr">
                        <a:lnSpc>
                          <a:spcPct val="115000"/>
                        </a:lnSpc>
                        <a:spcBef>
                          <a:spcPts val="0"/>
                        </a:spcBef>
                        <a:spcAft>
                          <a:spcPts val="0"/>
                        </a:spcAft>
                        <a:tabLst>
                          <a:tab pos="1925955" algn="l"/>
                        </a:tabLst>
                      </a:pPr>
                      <a:r>
                        <a:rPr lang="en-US" sz="2000" dirty="0">
                          <a:latin typeface="Times New Roman"/>
                          <a:ea typeface="Times New Roman"/>
                          <a:cs typeface="Times New Roman"/>
                        </a:rPr>
                        <a:t>P:</a:t>
                      </a:r>
                      <a:endParaRPr lang="en-US" sz="2000" dirty="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5,</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6,</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2,</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12,</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4,</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a:t>
                      </a:r>
                      <a:endParaRPr lang="en-US" sz="2000">
                        <a:latin typeface="Calibri"/>
                        <a:ea typeface="Times New Roma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xmlns="" val="10000"/>
                  </a:ext>
                </a:extLst>
              </a:tr>
              <a:tr h="286512">
                <a:tc>
                  <a:txBody>
                    <a:bodyPr/>
                    <a:lstStyle/>
                    <a:p>
                      <a:pPr marL="0" marR="0" algn="ctr">
                        <a:lnSpc>
                          <a:spcPct val="115000"/>
                        </a:lnSpc>
                        <a:spcBef>
                          <a:spcPts val="0"/>
                        </a:spcBef>
                        <a:spcAft>
                          <a:spcPts val="0"/>
                        </a:spcAft>
                        <a:tabLst>
                          <a:tab pos="1925955" algn="l"/>
                        </a:tabLst>
                      </a:pPr>
                      <a:endParaRPr lang="en-US" sz="2000" dirty="0">
                        <a:latin typeface="Times New Roman"/>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(1)</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(2)</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(3)</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(4)</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(5)</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(6)</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(7)</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(8)</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(9)</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dirty="0">
                          <a:latin typeface="Times New Roman"/>
                          <a:ea typeface="Times New Roman"/>
                          <a:cs typeface="Times New Roman"/>
                        </a:rPr>
                        <a:t>(10)</a:t>
                      </a:r>
                      <a:endParaRPr lang="en-US" sz="2000" dirty="0">
                        <a:latin typeface="Calibri"/>
                        <a:ea typeface="Times New Roma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xmlns="" val="10001"/>
                  </a:ext>
                </a:extLst>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5334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Example 6.6:</a:t>
            </a:r>
            <a:r>
              <a:rPr lang="en-US" sz="2000" dirty="0" smtClean="0">
                <a:latin typeface="Times New Roman" pitchFamily="18" charset="0"/>
                <a:cs typeface="Times New Roman" pitchFamily="18" charset="0"/>
              </a:rPr>
              <a:t> Find the value of the following arithmetic expression P written in postfix notation:</a:t>
            </a:r>
          </a:p>
          <a:p>
            <a:pPr>
              <a:buNone/>
            </a:pPr>
            <a:r>
              <a:rPr lang="en-US" sz="2000" dirty="0" smtClean="0">
                <a:latin typeface="Times New Roman" pitchFamily="18" charset="0"/>
                <a:cs typeface="Times New Roman" pitchFamily="18" charset="0"/>
              </a:rPr>
              <a:t>			</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Solution:</a:t>
            </a:r>
          </a:p>
          <a:p>
            <a:pPr>
              <a:buNone/>
            </a:pPr>
            <a:r>
              <a:rPr lang="en-US" sz="2000" dirty="0" smtClean="0">
                <a:latin typeface="Times New Roman" pitchFamily="18" charset="0"/>
                <a:cs typeface="Times New Roman" pitchFamily="18" charset="0"/>
              </a:rPr>
              <a:t>	</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19</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6" name="Table 15"/>
          <p:cNvGraphicFramePr>
            <a:graphicFrameLocks noGrp="1"/>
          </p:cNvGraphicFramePr>
          <p:nvPr/>
        </p:nvGraphicFramePr>
        <p:xfrm>
          <a:off x="1902142" y="2042160"/>
          <a:ext cx="6327458" cy="701040"/>
        </p:xfrm>
        <a:graphic>
          <a:graphicData uri="http://schemas.openxmlformats.org/drawingml/2006/table">
            <a:tbl>
              <a:tblPr/>
              <a:tblGrid>
                <a:gridCol w="423494">
                  <a:extLst>
                    <a:ext uri="{9D8B030D-6E8A-4147-A177-3AD203B41FA5}">
                      <a16:colId xmlns:a16="http://schemas.microsoft.com/office/drawing/2014/main" xmlns="" val="20000"/>
                    </a:ext>
                  </a:extLst>
                </a:gridCol>
                <a:gridCol w="578752">
                  <a:extLst>
                    <a:ext uri="{9D8B030D-6E8A-4147-A177-3AD203B41FA5}">
                      <a16:colId xmlns:a16="http://schemas.microsoft.com/office/drawing/2014/main" xmlns="" val="20001"/>
                    </a:ext>
                  </a:extLst>
                </a:gridCol>
                <a:gridCol w="578752">
                  <a:extLst>
                    <a:ext uri="{9D8B030D-6E8A-4147-A177-3AD203B41FA5}">
                      <a16:colId xmlns:a16="http://schemas.microsoft.com/office/drawing/2014/main" xmlns="" val="20002"/>
                    </a:ext>
                  </a:extLst>
                </a:gridCol>
                <a:gridCol w="578752">
                  <a:extLst>
                    <a:ext uri="{9D8B030D-6E8A-4147-A177-3AD203B41FA5}">
                      <a16:colId xmlns:a16="http://schemas.microsoft.com/office/drawing/2014/main" xmlns="" val="20003"/>
                    </a:ext>
                  </a:extLst>
                </a:gridCol>
                <a:gridCol w="578752">
                  <a:extLst>
                    <a:ext uri="{9D8B030D-6E8A-4147-A177-3AD203B41FA5}">
                      <a16:colId xmlns:a16="http://schemas.microsoft.com/office/drawing/2014/main" xmlns="" val="20004"/>
                    </a:ext>
                  </a:extLst>
                </a:gridCol>
                <a:gridCol w="578752">
                  <a:extLst>
                    <a:ext uri="{9D8B030D-6E8A-4147-A177-3AD203B41FA5}">
                      <a16:colId xmlns:a16="http://schemas.microsoft.com/office/drawing/2014/main" xmlns="" val="20005"/>
                    </a:ext>
                  </a:extLst>
                </a:gridCol>
                <a:gridCol w="594694">
                  <a:extLst>
                    <a:ext uri="{9D8B030D-6E8A-4147-A177-3AD203B41FA5}">
                      <a16:colId xmlns:a16="http://schemas.microsoft.com/office/drawing/2014/main" xmlns="" val="20006"/>
                    </a:ext>
                  </a:extLst>
                </a:gridCol>
                <a:gridCol w="578752">
                  <a:extLst>
                    <a:ext uri="{9D8B030D-6E8A-4147-A177-3AD203B41FA5}">
                      <a16:colId xmlns:a16="http://schemas.microsoft.com/office/drawing/2014/main" xmlns="" val="20007"/>
                    </a:ext>
                  </a:extLst>
                </a:gridCol>
                <a:gridCol w="578752">
                  <a:extLst>
                    <a:ext uri="{9D8B030D-6E8A-4147-A177-3AD203B41FA5}">
                      <a16:colId xmlns:a16="http://schemas.microsoft.com/office/drawing/2014/main" xmlns="" val="20008"/>
                    </a:ext>
                  </a:extLst>
                </a:gridCol>
                <a:gridCol w="578752">
                  <a:extLst>
                    <a:ext uri="{9D8B030D-6E8A-4147-A177-3AD203B41FA5}">
                      <a16:colId xmlns:a16="http://schemas.microsoft.com/office/drawing/2014/main" xmlns="" val="20009"/>
                    </a:ext>
                  </a:extLst>
                </a:gridCol>
                <a:gridCol w="679254">
                  <a:extLst>
                    <a:ext uri="{9D8B030D-6E8A-4147-A177-3AD203B41FA5}">
                      <a16:colId xmlns:a16="http://schemas.microsoft.com/office/drawing/2014/main" xmlns="" val="20010"/>
                    </a:ext>
                  </a:extLst>
                </a:gridCol>
              </a:tblGrid>
              <a:tr h="286512">
                <a:tc>
                  <a:txBody>
                    <a:bodyPr/>
                    <a:lstStyle/>
                    <a:p>
                      <a:pPr marL="0" marR="0" algn="ctr">
                        <a:lnSpc>
                          <a:spcPct val="115000"/>
                        </a:lnSpc>
                        <a:spcBef>
                          <a:spcPts val="0"/>
                        </a:spcBef>
                        <a:spcAft>
                          <a:spcPts val="0"/>
                        </a:spcAft>
                        <a:tabLst>
                          <a:tab pos="1925955" algn="l"/>
                        </a:tabLst>
                      </a:pPr>
                      <a:r>
                        <a:rPr lang="en-US" sz="2000" dirty="0">
                          <a:latin typeface="Times New Roman"/>
                          <a:ea typeface="Times New Roman"/>
                          <a:cs typeface="Times New Roman"/>
                        </a:rPr>
                        <a:t>P:</a:t>
                      </a:r>
                      <a:endParaRPr lang="en-US" sz="2000" dirty="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5,</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6,</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2,</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12,</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4,</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a:t>
                      </a:r>
                      <a:endParaRPr lang="en-US" sz="2000">
                        <a:latin typeface="Calibri"/>
                        <a:ea typeface="Times New Roma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xmlns="" val="10000"/>
                  </a:ext>
                </a:extLst>
              </a:tr>
              <a:tr h="286512">
                <a:tc>
                  <a:txBody>
                    <a:bodyPr/>
                    <a:lstStyle/>
                    <a:p>
                      <a:pPr marL="0" marR="0" algn="ctr">
                        <a:lnSpc>
                          <a:spcPct val="115000"/>
                        </a:lnSpc>
                        <a:spcBef>
                          <a:spcPts val="0"/>
                        </a:spcBef>
                        <a:spcAft>
                          <a:spcPts val="0"/>
                        </a:spcAft>
                        <a:tabLst>
                          <a:tab pos="1925955" algn="l"/>
                        </a:tabLst>
                      </a:pPr>
                      <a:endParaRPr lang="en-US" sz="2000" dirty="0">
                        <a:latin typeface="Times New Roman"/>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(1)</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(2)</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(3)</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(4)</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(5)</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(6)</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(7)</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(8)</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a:latin typeface="Times New Roman"/>
                          <a:ea typeface="Times New Roman"/>
                          <a:cs typeface="Times New Roman"/>
                        </a:rPr>
                        <a:t>(9)</a:t>
                      </a:r>
                      <a:endParaRPr lang="en-US" sz="2000">
                        <a:latin typeface="Calibri"/>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tabLst>
                          <a:tab pos="1925955" algn="l"/>
                        </a:tabLst>
                      </a:pPr>
                      <a:r>
                        <a:rPr lang="en-US" sz="2000" dirty="0">
                          <a:latin typeface="Times New Roman"/>
                          <a:ea typeface="Times New Roman"/>
                          <a:cs typeface="Times New Roman"/>
                        </a:rPr>
                        <a:t>(10)</a:t>
                      </a:r>
                      <a:endParaRPr lang="en-US" sz="2000" dirty="0">
                        <a:latin typeface="Calibri"/>
                        <a:ea typeface="Times New Roman"/>
                        <a:cs typeface="Times New Roman"/>
                      </a:endParaRPr>
                    </a:p>
                  </a:txBody>
                  <a:tcPr marL="68580" marR="68580" marT="0" marB="0">
                    <a:lnL>
                      <a:noFill/>
                    </a:lnL>
                    <a:lnR>
                      <a:noFill/>
                    </a:lnR>
                    <a:lnT>
                      <a:noFill/>
                    </a:lnT>
                    <a:lnB>
                      <a:noFill/>
                    </a:lnB>
                  </a:tcPr>
                </a:tc>
                <a:extLst>
                  <a:ext uri="{0D108BD9-81ED-4DB2-BD59-A6C34878D82A}">
                    <a16:rowId xmlns:a16="http://schemas.microsoft.com/office/drawing/2014/main" xmlns="" val="10001"/>
                  </a:ext>
                </a:extLst>
              </a:tr>
            </a:tbl>
          </a:graphicData>
        </a:graphic>
      </p:graphicFrame>
      <p:graphicFrame>
        <p:nvGraphicFramePr>
          <p:cNvPr id="11" name="Table 10"/>
          <p:cNvGraphicFramePr>
            <a:graphicFrameLocks noGrp="1"/>
          </p:cNvGraphicFramePr>
          <p:nvPr/>
        </p:nvGraphicFramePr>
        <p:xfrm>
          <a:off x="1981200" y="3200400"/>
          <a:ext cx="4572000" cy="3084576"/>
        </p:xfrm>
        <a:graphic>
          <a:graphicData uri="http://schemas.openxmlformats.org/drawingml/2006/table">
            <a:tbl>
              <a:tblPr/>
              <a:tblGrid>
                <a:gridCol w="2286000">
                  <a:extLst>
                    <a:ext uri="{9D8B030D-6E8A-4147-A177-3AD203B41FA5}">
                      <a16:colId xmlns:a16="http://schemas.microsoft.com/office/drawing/2014/main" xmlns="" val="20000"/>
                    </a:ext>
                  </a:extLst>
                </a:gridCol>
                <a:gridCol w="2286000">
                  <a:extLst>
                    <a:ext uri="{9D8B030D-6E8A-4147-A177-3AD203B41FA5}">
                      <a16:colId xmlns:a16="http://schemas.microsoft.com/office/drawing/2014/main" xmlns="" val="20001"/>
                    </a:ext>
                  </a:extLst>
                </a:gridCol>
              </a:tblGrid>
              <a:tr h="0">
                <a:tc>
                  <a:txBody>
                    <a:bodyPr/>
                    <a:lstStyle/>
                    <a:p>
                      <a:pPr marL="0" marR="0" algn="ctr">
                        <a:lnSpc>
                          <a:spcPct val="115000"/>
                        </a:lnSpc>
                        <a:spcBef>
                          <a:spcPts val="0"/>
                        </a:spcBef>
                        <a:spcAft>
                          <a:spcPts val="0"/>
                        </a:spcAft>
                        <a:tabLst>
                          <a:tab pos="1925955" algn="l"/>
                        </a:tabLst>
                      </a:pPr>
                      <a:r>
                        <a:rPr lang="en-US" sz="1600" dirty="0">
                          <a:latin typeface="Times New Roman" pitchFamily="18" charset="0"/>
                          <a:ea typeface="Times New Roman"/>
                          <a:cs typeface="Times New Roman" pitchFamily="18" charset="0"/>
                        </a:rPr>
                        <a:t>Symbol Scanned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tabLst>
                          <a:tab pos="1925955" algn="l"/>
                        </a:tabLst>
                      </a:pPr>
                      <a:r>
                        <a:rPr lang="en-US" sz="1600" dirty="0">
                          <a:latin typeface="Times New Roman" pitchFamily="18" charset="0"/>
                          <a:ea typeface="Times New Roman"/>
                          <a:cs typeface="Times New Roman" pitchFamily="18" charset="0"/>
                        </a:rPr>
                        <a:t>STACK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0">
                <a:tc>
                  <a:txBody>
                    <a:bodyPr/>
                    <a:lstStyle/>
                    <a:p>
                      <a:pPr marL="342900" marR="0" lvl="0" indent="-342900">
                        <a:lnSpc>
                          <a:spcPct val="115000"/>
                        </a:lnSpc>
                        <a:spcBef>
                          <a:spcPts val="0"/>
                        </a:spcBef>
                        <a:spcAft>
                          <a:spcPts val="0"/>
                        </a:spcAft>
                        <a:buFont typeface="+mj-lt"/>
                        <a:buAutoNum type="arabicParenBoth"/>
                        <a:tabLst>
                          <a:tab pos="1925955" algn="l"/>
                        </a:tabLst>
                      </a:pPr>
                      <a:r>
                        <a:rPr lang="en-US" sz="1600" dirty="0">
                          <a:latin typeface="Times New Roman" pitchFamily="18" charset="0"/>
                          <a:ea typeface="Times New Roman"/>
                          <a:cs typeface="Times New Roman" pitchFamily="18" charset="0"/>
                        </a:rPr>
                        <a:t>  5</a:t>
                      </a:r>
                    </a:p>
                    <a:p>
                      <a:pPr marL="342900" marR="0" lvl="0" indent="-342900">
                        <a:lnSpc>
                          <a:spcPct val="115000"/>
                        </a:lnSpc>
                        <a:spcBef>
                          <a:spcPts val="0"/>
                        </a:spcBef>
                        <a:spcAft>
                          <a:spcPts val="0"/>
                        </a:spcAft>
                        <a:buFont typeface="+mj-lt"/>
                        <a:buAutoNum type="arabicParenBoth"/>
                        <a:tabLst>
                          <a:tab pos="1925955" algn="l"/>
                        </a:tabLst>
                      </a:pPr>
                      <a:r>
                        <a:rPr lang="en-US" sz="1600" dirty="0">
                          <a:latin typeface="Times New Roman" pitchFamily="18" charset="0"/>
                          <a:ea typeface="Times New Roman"/>
                          <a:cs typeface="Times New Roman" pitchFamily="18" charset="0"/>
                        </a:rPr>
                        <a:t>  6</a:t>
                      </a:r>
                    </a:p>
                    <a:p>
                      <a:pPr marL="342900" marR="0" lvl="0" indent="-342900">
                        <a:lnSpc>
                          <a:spcPct val="115000"/>
                        </a:lnSpc>
                        <a:spcBef>
                          <a:spcPts val="0"/>
                        </a:spcBef>
                        <a:spcAft>
                          <a:spcPts val="0"/>
                        </a:spcAft>
                        <a:buFont typeface="+mj-lt"/>
                        <a:buAutoNum type="arabicParenBoth"/>
                        <a:tabLst>
                          <a:tab pos="1925955" algn="l"/>
                        </a:tabLst>
                      </a:pPr>
                      <a:r>
                        <a:rPr lang="en-US" sz="1600" dirty="0">
                          <a:latin typeface="Times New Roman" pitchFamily="18" charset="0"/>
                          <a:ea typeface="Times New Roman"/>
                          <a:cs typeface="Times New Roman" pitchFamily="18" charset="0"/>
                        </a:rPr>
                        <a:t>  2</a:t>
                      </a:r>
                    </a:p>
                    <a:p>
                      <a:pPr marL="342900" marR="0" lvl="0" indent="-342900">
                        <a:lnSpc>
                          <a:spcPct val="115000"/>
                        </a:lnSpc>
                        <a:spcBef>
                          <a:spcPts val="0"/>
                        </a:spcBef>
                        <a:spcAft>
                          <a:spcPts val="0"/>
                        </a:spcAft>
                        <a:buFont typeface="+mj-lt"/>
                        <a:buAutoNum type="arabicParenBoth"/>
                        <a:tabLst>
                          <a:tab pos="1925955" algn="l"/>
                        </a:tabLst>
                      </a:pPr>
                      <a:r>
                        <a:rPr lang="en-US" sz="1600" dirty="0">
                          <a:latin typeface="Times New Roman" pitchFamily="18" charset="0"/>
                          <a:ea typeface="Times New Roman"/>
                          <a:cs typeface="Times New Roman" pitchFamily="18" charset="0"/>
                        </a:rPr>
                        <a:t>  +</a:t>
                      </a:r>
                    </a:p>
                    <a:p>
                      <a:pPr marL="342900" marR="0" lvl="0" indent="-342900">
                        <a:lnSpc>
                          <a:spcPct val="115000"/>
                        </a:lnSpc>
                        <a:spcBef>
                          <a:spcPts val="0"/>
                        </a:spcBef>
                        <a:spcAft>
                          <a:spcPts val="0"/>
                        </a:spcAft>
                        <a:buFont typeface="+mj-lt"/>
                        <a:buAutoNum type="arabicParenBoth"/>
                        <a:tabLst>
                          <a:tab pos="1925955" algn="l"/>
                        </a:tabLst>
                      </a:pPr>
                      <a:r>
                        <a:rPr lang="en-US" sz="1600" dirty="0">
                          <a:latin typeface="Times New Roman" pitchFamily="18" charset="0"/>
                          <a:ea typeface="Times New Roman"/>
                          <a:cs typeface="Times New Roman" pitchFamily="18" charset="0"/>
                        </a:rPr>
                        <a:t>  *</a:t>
                      </a:r>
                    </a:p>
                    <a:p>
                      <a:pPr marL="342900" marR="0" lvl="0" indent="-342900">
                        <a:lnSpc>
                          <a:spcPct val="115000"/>
                        </a:lnSpc>
                        <a:spcBef>
                          <a:spcPts val="0"/>
                        </a:spcBef>
                        <a:spcAft>
                          <a:spcPts val="0"/>
                        </a:spcAft>
                        <a:buFont typeface="+mj-lt"/>
                        <a:buAutoNum type="arabicParenBoth"/>
                        <a:tabLst>
                          <a:tab pos="1925955" algn="l"/>
                        </a:tabLst>
                      </a:pPr>
                      <a:r>
                        <a:rPr lang="en-US" sz="1600" dirty="0">
                          <a:latin typeface="Times New Roman" pitchFamily="18" charset="0"/>
                          <a:ea typeface="Times New Roman"/>
                          <a:cs typeface="Times New Roman" pitchFamily="18" charset="0"/>
                        </a:rPr>
                        <a:t>  12</a:t>
                      </a:r>
                    </a:p>
                    <a:p>
                      <a:pPr marL="342900" marR="0" lvl="0" indent="-342900">
                        <a:lnSpc>
                          <a:spcPct val="115000"/>
                        </a:lnSpc>
                        <a:spcBef>
                          <a:spcPts val="0"/>
                        </a:spcBef>
                        <a:spcAft>
                          <a:spcPts val="0"/>
                        </a:spcAft>
                        <a:buFont typeface="+mj-lt"/>
                        <a:buAutoNum type="arabicParenBoth"/>
                        <a:tabLst>
                          <a:tab pos="1925955" algn="l"/>
                        </a:tabLst>
                      </a:pPr>
                      <a:r>
                        <a:rPr lang="en-US" sz="1600" dirty="0">
                          <a:latin typeface="Times New Roman" pitchFamily="18" charset="0"/>
                          <a:ea typeface="Times New Roman"/>
                          <a:cs typeface="Times New Roman" pitchFamily="18" charset="0"/>
                        </a:rPr>
                        <a:t>  4</a:t>
                      </a:r>
                    </a:p>
                    <a:p>
                      <a:pPr marL="342900" marR="0" lvl="0" indent="-342900">
                        <a:lnSpc>
                          <a:spcPct val="115000"/>
                        </a:lnSpc>
                        <a:spcBef>
                          <a:spcPts val="0"/>
                        </a:spcBef>
                        <a:spcAft>
                          <a:spcPts val="0"/>
                        </a:spcAft>
                        <a:buFont typeface="+mj-lt"/>
                        <a:buAutoNum type="arabicParenBoth"/>
                        <a:tabLst>
                          <a:tab pos="1925955" algn="l"/>
                        </a:tabLst>
                      </a:pPr>
                      <a:r>
                        <a:rPr lang="en-US" sz="1600" dirty="0">
                          <a:latin typeface="Times New Roman" pitchFamily="18" charset="0"/>
                          <a:ea typeface="Times New Roman"/>
                          <a:cs typeface="Times New Roman" pitchFamily="18" charset="0"/>
                        </a:rPr>
                        <a:t>  /</a:t>
                      </a:r>
                    </a:p>
                    <a:p>
                      <a:pPr marL="342900" marR="0" lvl="0" indent="-342900">
                        <a:lnSpc>
                          <a:spcPct val="115000"/>
                        </a:lnSpc>
                        <a:spcBef>
                          <a:spcPts val="0"/>
                        </a:spcBef>
                        <a:spcAft>
                          <a:spcPts val="0"/>
                        </a:spcAft>
                        <a:buFont typeface="+mj-lt"/>
                        <a:buAutoNum type="arabicParenBoth"/>
                        <a:tabLst>
                          <a:tab pos="1925955" algn="l"/>
                        </a:tabLst>
                      </a:pPr>
                      <a:r>
                        <a:rPr lang="en-US" sz="1600" dirty="0">
                          <a:latin typeface="Times New Roman" pitchFamily="18" charset="0"/>
                          <a:ea typeface="Times New Roman"/>
                          <a:cs typeface="Times New Roman" pitchFamily="18" charset="0"/>
                        </a:rPr>
                        <a:t>  </a:t>
                      </a:r>
                      <a:r>
                        <a:rPr lang="en-US" sz="1600" dirty="0" smtClean="0">
                          <a:latin typeface="Times New Roman" pitchFamily="18" charset="0"/>
                          <a:ea typeface="Times New Roman"/>
                          <a:cs typeface="Times New Roman" pitchFamily="18" charset="0"/>
                        </a:rPr>
                        <a:t>-</a:t>
                      </a:r>
                    </a:p>
                    <a:p>
                      <a:pPr marL="342900" marR="0" lvl="0" indent="-342900">
                        <a:lnSpc>
                          <a:spcPct val="115000"/>
                        </a:lnSpc>
                        <a:spcBef>
                          <a:spcPts val="0"/>
                        </a:spcBef>
                        <a:spcAft>
                          <a:spcPts val="0"/>
                        </a:spcAft>
                        <a:buFont typeface="+mj-lt"/>
                        <a:buAutoNum type="arabicParenBoth"/>
                        <a:tabLst>
                          <a:tab pos="1925955" algn="l"/>
                        </a:tabLst>
                      </a:pPr>
                      <a:r>
                        <a:rPr lang="en-US" sz="1600" dirty="0" smtClean="0">
                          <a:latin typeface="Times New Roman" pitchFamily="18" charset="0"/>
                          <a:ea typeface="Times New Roman"/>
                          <a:cs typeface="Times New Roman" pitchFamily="18" charset="0"/>
                        </a:rPr>
                        <a:t>   </a:t>
                      </a:r>
                      <a:r>
                        <a:rPr lang="en-US" sz="1600" dirty="0">
                          <a:latin typeface="Times New Roman" pitchFamily="18" charset="0"/>
                          <a:ea typeface="Times New Roman"/>
                          <a:cs typeface="Times New Roman" pitchFamily="18"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tabLst>
                          <a:tab pos="1925955" algn="l"/>
                        </a:tabLst>
                      </a:pPr>
                      <a:r>
                        <a:rPr lang="en-US" sz="1600" dirty="0">
                          <a:latin typeface="Times New Roman" pitchFamily="18" charset="0"/>
                          <a:ea typeface="Times New Roman"/>
                          <a:cs typeface="Times New Roman" pitchFamily="18" charset="0"/>
                        </a:rPr>
                        <a:t>5</a:t>
                      </a:r>
                    </a:p>
                    <a:p>
                      <a:pPr marL="0" marR="0">
                        <a:lnSpc>
                          <a:spcPct val="115000"/>
                        </a:lnSpc>
                        <a:spcBef>
                          <a:spcPts val="0"/>
                        </a:spcBef>
                        <a:spcAft>
                          <a:spcPts val="0"/>
                        </a:spcAft>
                        <a:tabLst>
                          <a:tab pos="1925955" algn="l"/>
                        </a:tabLst>
                      </a:pPr>
                      <a:r>
                        <a:rPr lang="en-US" sz="1600" dirty="0">
                          <a:latin typeface="Times New Roman" pitchFamily="18" charset="0"/>
                          <a:ea typeface="Times New Roman"/>
                          <a:cs typeface="Times New Roman" pitchFamily="18" charset="0"/>
                        </a:rPr>
                        <a:t>5, 6</a:t>
                      </a:r>
                    </a:p>
                    <a:p>
                      <a:pPr marL="0" marR="0">
                        <a:lnSpc>
                          <a:spcPct val="115000"/>
                        </a:lnSpc>
                        <a:spcBef>
                          <a:spcPts val="0"/>
                        </a:spcBef>
                        <a:spcAft>
                          <a:spcPts val="0"/>
                        </a:spcAft>
                        <a:tabLst>
                          <a:tab pos="1925955" algn="l"/>
                        </a:tabLst>
                      </a:pPr>
                      <a:r>
                        <a:rPr lang="en-US" sz="1600" dirty="0">
                          <a:latin typeface="Times New Roman" pitchFamily="18" charset="0"/>
                          <a:ea typeface="Times New Roman"/>
                          <a:cs typeface="Times New Roman" pitchFamily="18" charset="0"/>
                        </a:rPr>
                        <a:t>5, </a:t>
                      </a:r>
                      <a:r>
                        <a:rPr lang="en-US" sz="1600" dirty="0" smtClean="0">
                          <a:latin typeface="Times New Roman" pitchFamily="18" charset="0"/>
                          <a:ea typeface="Times New Roman"/>
                          <a:cs typeface="Times New Roman" pitchFamily="18" charset="0"/>
                        </a:rPr>
                        <a:t>6</a:t>
                      </a:r>
                      <a:r>
                        <a:rPr lang="en-US" sz="1600" dirty="0">
                          <a:latin typeface="Times New Roman" pitchFamily="18" charset="0"/>
                          <a:ea typeface="Times New Roman"/>
                          <a:cs typeface="Times New Roman" pitchFamily="18" charset="0"/>
                        </a:rPr>
                        <a:t>, 2</a:t>
                      </a:r>
                    </a:p>
                    <a:p>
                      <a:pPr marL="0" marR="0">
                        <a:lnSpc>
                          <a:spcPct val="115000"/>
                        </a:lnSpc>
                        <a:spcBef>
                          <a:spcPts val="0"/>
                        </a:spcBef>
                        <a:spcAft>
                          <a:spcPts val="0"/>
                        </a:spcAft>
                        <a:tabLst>
                          <a:tab pos="1925955" algn="l"/>
                        </a:tabLst>
                      </a:pPr>
                      <a:r>
                        <a:rPr lang="en-US" sz="1600" dirty="0">
                          <a:latin typeface="Times New Roman" pitchFamily="18" charset="0"/>
                          <a:ea typeface="Times New Roman"/>
                          <a:cs typeface="Times New Roman" pitchFamily="18" charset="0"/>
                        </a:rPr>
                        <a:t>5, 8</a:t>
                      </a:r>
                    </a:p>
                    <a:p>
                      <a:pPr marL="0" marR="0">
                        <a:lnSpc>
                          <a:spcPct val="115000"/>
                        </a:lnSpc>
                        <a:spcBef>
                          <a:spcPts val="0"/>
                        </a:spcBef>
                        <a:spcAft>
                          <a:spcPts val="0"/>
                        </a:spcAft>
                        <a:tabLst>
                          <a:tab pos="1925955" algn="l"/>
                        </a:tabLst>
                      </a:pPr>
                      <a:r>
                        <a:rPr lang="en-US" sz="1600" dirty="0">
                          <a:latin typeface="Times New Roman" pitchFamily="18" charset="0"/>
                          <a:ea typeface="Times New Roman"/>
                          <a:cs typeface="Times New Roman" pitchFamily="18" charset="0"/>
                        </a:rPr>
                        <a:t>40</a:t>
                      </a:r>
                    </a:p>
                    <a:p>
                      <a:pPr marL="0" marR="0">
                        <a:lnSpc>
                          <a:spcPct val="115000"/>
                        </a:lnSpc>
                        <a:spcBef>
                          <a:spcPts val="0"/>
                        </a:spcBef>
                        <a:spcAft>
                          <a:spcPts val="0"/>
                        </a:spcAft>
                        <a:tabLst>
                          <a:tab pos="1925955" algn="l"/>
                        </a:tabLst>
                      </a:pPr>
                      <a:r>
                        <a:rPr lang="en-US" sz="1600" dirty="0">
                          <a:latin typeface="Times New Roman" pitchFamily="18" charset="0"/>
                          <a:ea typeface="Times New Roman"/>
                          <a:cs typeface="Times New Roman" pitchFamily="18" charset="0"/>
                        </a:rPr>
                        <a:t>40, 12</a:t>
                      </a:r>
                    </a:p>
                    <a:p>
                      <a:pPr marL="0" marR="0">
                        <a:lnSpc>
                          <a:spcPct val="115000"/>
                        </a:lnSpc>
                        <a:spcBef>
                          <a:spcPts val="0"/>
                        </a:spcBef>
                        <a:spcAft>
                          <a:spcPts val="0"/>
                        </a:spcAft>
                        <a:tabLst>
                          <a:tab pos="1925955" algn="l"/>
                        </a:tabLst>
                      </a:pPr>
                      <a:r>
                        <a:rPr lang="en-US" sz="1600" dirty="0">
                          <a:latin typeface="Times New Roman" pitchFamily="18" charset="0"/>
                          <a:ea typeface="Times New Roman"/>
                          <a:cs typeface="Times New Roman" pitchFamily="18" charset="0"/>
                        </a:rPr>
                        <a:t>40, 12, 4</a:t>
                      </a:r>
                    </a:p>
                    <a:p>
                      <a:pPr marL="0" marR="0">
                        <a:lnSpc>
                          <a:spcPct val="115000"/>
                        </a:lnSpc>
                        <a:spcBef>
                          <a:spcPts val="0"/>
                        </a:spcBef>
                        <a:spcAft>
                          <a:spcPts val="0"/>
                        </a:spcAft>
                        <a:tabLst>
                          <a:tab pos="1925955" algn="l"/>
                        </a:tabLst>
                      </a:pPr>
                      <a:r>
                        <a:rPr lang="en-US" sz="1600" dirty="0">
                          <a:latin typeface="Times New Roman" pitchFamily="18" charset="0"/>
                          <a:ea typeface="Times New Roman"/>
                          <a:cs typeface="Times New Roman" pitchFamily="18" charset="0"/>
                        </a:rPr>
                        <a:t>40, 3</a:t>
                      </a:r>
                    </a:p>
                    <a:p>
                      <a:pPr marL="0" marR="0">
                        <a:lnSpc>
                          <a:spcPct val="115000"/>
                        </a:lnSpc>
                        <a:spcBef>
                          <a:spcPts val="0"/>
                        </a:spcBef>
                        <a:spcAft>
                          <a:spcPts val="0"/>
                        </a:spcAft>
                        <a:tabLst>
                          <a:tab pos="1925955" algn="l"/>
                        </a:tabLst>
                      </a:pPr>
                      <a:r>
                        <a:rPr lang="en-US" sz="1600" dirty="0">
                          <a:latin typeface="Times New Roman" pitchFamily="18" charset="0"/>
                          <a:ea typeface="Times New Roman"/>
                          <a:cs typeface="Times New Roman" pitchFamily="18" charset="0"/>
                        </a:rPr>
                        <a:t>37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5334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Algorithm 6.5: Write an algorithm that finds the value of an arithmetic expression written in postfix notation.</a:t>
            </a:r>
            <a:endParaRPr lang="en-US" sz="20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This algorithm finds the VALUE of an arithmetic expression P written in postfix notation.</a:t>
            </a:r>
          </a:p>
          <a:p>
            <a:pPr lvl="2">
              <a:buNone/>
            </a:pPr>
            <a:endParaRPr lang="en-US" sz="1600" dirty="0" smtClean="0">
              <a:latin typeface="Times New Roman" pitchFamily="18" charset="0"/>
              <a:cs typeface="Times New Roman" pitchFamily="18" charset="0"/>
            </a:endParaRPr>
          </a:p>
          <a:p>
            <a:pPr lvl="2">
              <a:buNone/>
            </a:pPr>
            <a:r>
              <a:rPr lang="en-US" sz="1600" dirty="0" smtClean="0">
                <a:latin typeface="Times New Roman" pitchFamily="18" charset="0"/>
                <a:cs typeface="Times New Roman" pitchFamily="18" charset="0"/>
              </a:rPr>
              <a:t>1.	 Add a right parenthesis “)” at the end of P.</a:t>
            </a:r>
          </a:p>
          <a:p>
            <a:pPr lvl="2">
              <a:buNone/>
            </a:pPr>
            <a:r>
              <a:rPr lang="en-US" sz="1600" dirty="0" smtClean="0">
                <a:latin typeface="Times New Roman" pitchFamily="18" charset="0"/>
                <a:cs typeface="Times New Roman" pitchFamily="18" charset="0"/>
              </a:rPr>
              <a:t>2.  Scan P from left to right and repeat Steps 3 and 4 for each element  of P until the sentinel ")" is encountered.</a:t>
            </a:r>
          </a:p>
          <a:p>
            <a:pPr lvl="2">
              <a:buNone/>
            </a:pPr>
            <a:r>
              <a:rPr lang="en-US" sz="1600" dirty="0" smtClean="0">
                <a:latin typeface="Times New Roman" pitchFamily="18" charset="0"/>
                <a:cs typeface="Times New Roman" pitchFamily="18" charset="0"/>
              </a:rPr>
              <a:t>3.       If an operand is encountered, put it on STACK.</a:t>
            </a:r>
          </a:p>
          <a:p>
            <a:pPr lvl="2">
              <a:buNone/>
            </a:pPr>
            <a:r>
              <a:rPr lang="en-US" sz="1600" dirty="0" smtClean="0">
                <a:latin typeface="Times New Roman" pitchFamily="18" charset="0"/>
                <a:cs typeface="Times New Roman" pitchFamily="18" charset="0"/>
              </a:rPr>
              <a:t>4.       If an operator       is encountered, then:</a:t>
            </a:r>
          </a:p>
          <a:p>
            <a:pPr lvl="2">
              <a:buNone/>
            </a:pPr>
            <a:r>
              <a:rPr lang="en-US" sz="1600" dirty="0" smtClean="0">
                <a:latin typeface="Times New Roman" pitchFamily="18" charset="0"/>
                <a:cs typeface="Times New Roman" pitchFamily="18" charset="0"/>
              </a:rPr>
              <a:t>		a)  Remove the two top elements of STACK, where A is the top</a:t>
            </a:r>
          </a:p>
          <a:p>
            <a:pPr lvl="2">
              <a:buNone/>
            </a:pPr>
            <a:r>
              <a:rPr lang="en-US" sz="1600" dirty="0" smtClean="0">
                <a:latin typeface="Times New Roman" pitchFamily="18" charset="0"/>
                <a:cs typeface="Times New Roman" pitchFamily="18" charset="0"/>
              </a:rPr>
              <a:t>		     element and B is the next-to-top element.</a:t>
            </a:r>
          </a:p>
          <a:p>
            <a:pPr lvl="2">
              <a:buNone/>
            </a:pPr>
            <a:r>
              <a:rPr lang="en-US" sz="1600" dirty="0" smtClean="0">
                <a:latin typeface="Times New Roman" pitchFamily="18" charset="0"/>
                <a:cs typeface="Times New Roman" pitchFamily="18" charset="0"/>
              </a:rPr>
              <a:t>		b) Evaluate  B    A.</a:t>
            </a:r>
          </a:p>
          <a:p>
            <a:pPr lvl="2">
              <a:buNone/>
            </a:pPr>
            <a:r>
              <a:rPr lang="en-US" sz="1600" dirty="0" smtClean="0">
                <a:latin typeface="Times New Roman" pitchFamily="18" charset="0"/>
                <a:cs typeface="Times New Roman" pitchFamily="18" charset="0"/>
              </a:rPr>
              <a:t>		c)  Place the result of (b) back on STACK.</a:t>
            </a:r>
          </a:p>
          <a:p>
            <a:pPr lvl="2">
              <a:buNone/>
            </a:pPr>
            <a:r>
              <a:rPr lang="en-US" sz="1600" dirty="0" smtClean="0">
                <a:latin typeface="Times New Roman" pitchFamily="18" charset="0"/>
                <a:cs typeface="Times New Roman" pitchFamily="18" charset="0"/>
              </a:rPr>
              <a:t>            [End of If structure]</a:t>
            </a:r>
          </a:p>
          <a:p>
            <a:pPr>
              <a:buNone/>
            </a:pPr>
            <a:r>
              <a:rPr lang="en-US" sz="1600" dirty="0" smtClean="0">
                <a:latin typeface="Times New Roman" pitchFamily="18" charset="0"/>
                <a:cs typeface="Times New Roman" pitchFamily="18" charset="0"/>
              </a:rPr>
              <a:t>                       [End of Step 2 loop.]</a:t>
            </a:r>
          </a:p>
          <a:p>
            <a:pPr lvl="0">
              <a:buNone/>
            </a:pPr>
            <a:r>
              <a:rPr lang="en-US" sz="1600" dirty="0" smtClean="0">
                <a:latin typeface="Times New Roman" pitchFamily="18" charset="0"/>
                <a:cs typeface="Times New Roman" pitchFamily="18" charset="0"/>
              </a:rPr>
              <a:t>		5.  Set VALUE equal to the top element on STACK.</a:t>
            </a:r>
          </a:p>
          <a:p>
            <a:pPr lvl="0">
              <a:buNone/>
            </a:pPr>
            <a:r>
              <a:rPr lang="en-US" sz="1600" dirty="0" smtClean="0">
                <a:latin typeface="Times New Roman" pitchFamily="18" charset="0"/>
                <a:cs typeface="Times New Roman" pitchFamily="18" charset="0"/>
              </a:rPr>
              <a:t>		6.  Exit.</a:t>
            </a:r>
          </a:p>
          <a:p>
            <a:pPr lvl="2">
              <a:buNone/>
            </a:pPr>
            <a:endParaRPr lang="en-US" sz="2000"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20</a:t>
            </a:fld>
            <a:endParaRPr lang="en-US">
              <a:solidFill>
                <a:srgbClr val="00B050"/>
              </a:solidFill>
            </a:endParaRPr>
          </a:p>
        </p:txBody>
      </p:sp>
      <p:pic>
        <p:nvPicPr>
          <p:cNvPr id="7" name="Picture 6" descr="JU Mon eps.tif"/>
          <p:cNvPicPr>
            <a:picLocks noChangeAspect="1"/>
          </p:cNvPicPr>
          <p:nvPr/>
        </p:nvPicPr>
        <p:blipFill>
          <a:blip r:embed="rId4"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8437" name="Object 5"/>
          <p:cNvGraphicFramePr>
            <a:graphicFrameLocks noChangeAspect="1"/>
          </p:cNvGraphicFramePr>
          <p:nvPr/>
        </p:nvGraphicFramePr>
        <p:xfrm>
          <a:off x="3213847" y="3844178"/>
          <a:ext cx="230187" cy="257175"/>
        </p:xfrm>
        <a:graphic>
          <a:graphicData uri="http://schemas.openxmlformats.org/presentationml/2006/ole">
            <mc:AlternateContent xmlns:mc="http://schemas.openxmlformats.org/markup-compatibility/2006">
              <mc:Choice xmlns:v="urn:schemas-microsoft-com:vml" Requires="v">
                <p:oleObj spid="_x0000_s19544" name="Equation" r:id="rId5" imgW="164814" imgH="177492" progId="Equation.3">
                  <p:embed/>
                </p:oleObj>
              </mc:Choice>
              <mc:Fallback>
                <p:oleObj name="Equation" r:id="rId5" imgW="164814" imgH="177492"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3847" y="3844178"/>
                        <a:ext cx="230187" cy="257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8" name="Object 6"/>
          <p:cNvGraphicFramePr>
            <a:graphicFrameLocks noChangeAspect="1"/>
          </p:cNvGraphicFramePr>
          <p:nvPr/>
        </p:nvGraphicFramePr>
        <p:xfrm>
          <a:off x="3606706" y="4695825"/>
          <a:ext cx="230188" cy="257175"/>
        </p:xfrm>
        <a:graphic>
          <a:graphicData uri="http://schemas.openxmlformats.org/presentationml/2006/ole">
            <mc:AlternateContent xmlns:mc="http://schemas.openxmlformats.org/markup-compatibility/2006">
              <mc:Choice xmlns:v="urn:schemas-microsoft-com:vml" Requires="v">
                <p:oleObj spid="_x0000_s19545" name="Equation" r:id="rId7" imgW="164814" imgH="177492" progId="Equation.3">
                  <p:embed/>
                </p:oleObj>
              </mc:Choice>
              <mc:Fallback>
                <p:oleObj name="Equation" r:id="rId7" imgW="164814" imgH="177492"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6706" y="4695825"/>
                        <a:ext cx="230188" cy="257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5029200"/>
          </a:xfrm>
          <a:prstGeom prst="rect">
            <a:avLst/>
          </a:prstGeom>
        </p:spPr>
        <p:txBody>
          <a:bodyPr/>
          <a:lstStyle/>
          <a:p>
            <a:pPr algn="just">
              <a:lnSpc>
                <a:spcPct val="150000"/>
              </a:lnSpc>
              <a:buFont typeface="Wingdings" pitchFamily="2" charset="2"/>
              <a:buChar char="q"/>
            </a:pPr>
            <a:r>
              <a:rPr lang="en-US" sz="2000" b="1" dirty="0" smtClean="0">
                <a:latin typeface="Times New Roman" pitchFamily="18" charset="0"/>
                <a:cs typeface="Times New Roman" pitchFamily="18" charset="0"/>
              </a:rPr>
              <a:t>Recursion</a:t>
            </a:r>
            <a:endParaRPr lang="en-US" sz="2000" dirty="0" smtClean="0">
              <a:latin typeface="Times New Roman" pitchFamily="18" charset="0"/>
              <a:cs typeface="Times New Roman" pitchFamily="18" charset="0"/>
            </a:endParaRPr>
          </a:p>
          <a:p>
            <a:pPr algn="just">
              <a:lnSpc>
                <a:spcPct val="150000"/>
              </a:lnSpc>
            </a:pPr>
            <a:endParaRPr lang="en-US" sz="700" dirty="0" smtClean="0">
              <a:latin typeface="Times New Roman" pitchFamily="18" charset="0"/>
              <a:cs typeface="Times New Roman" pitchFamily="18" charset="0"/>
            </a:endParaRPr>
          </a:p>
          <a:p>
            <a:pPr lvl="1" algn="just">
              <a:lnSpc>
                <a:spcPct val="150000"/>
              </a:lnSpc>
            </a:pPr>
            <a:r>
              <a:rPr lang="en-US" sz="2000" dirty="0" smtClean="0">
                <a:latin typeface="Times New Roman" pitchFamily="18" charset="0"/>
                <a:cs typeface="Times New Roman" pitchFamily="18" charset="0"/>
              </a:rPr>
              <a:t>A procedure  is called a </a:t>
            </a:r>
            <a:r>
              <a:rPr lang="en-US" sz="2000" b="1" dirty="0" smtClean="0">
                <a:latin typeface="Times New Roman" pitchFamily="18" charset="0"/>
                <a:cs typeface="Times New Roman" pitchFamily="18" charset="0"/>
              </a:rPr>
              <a:t>recursive</a:t>
            </a:r>
            <a:r>
              <a:rPr lang="en-US" sz="2000" dirty="0" smtClean="0">
                <a:latin typeface="Times New Roman" pitchFamily="18" charset="0"/>
                <a:cs typeface="Times New Roman" pitchFamily="18" charset="0"/>
              </a:rPr>
              <a:t> procedure if it contains a </a:t>
            </a:r>
            <a:r>
              <a:rPr lang="en-US" sz="2000" dirty="0" smtClean="0">
                <a:solidFill>
                  <a:srgbClr val="0070C0"/>
                </a:solidFill>
                <a:latin typeface="Times New Roman" pitchFamily="18" charset="0"/>
                <a:cs typeface="Times New Roman" pitchFamily="18" charset="0"/>
              </a:rPr>
              <a:t>Call statement to itself</a:t>
            </a:r>
            <a:r>
              <a:rPr lang="en-US" sz="2000" dirty="0" smtClean="0">
                <a:latin typeface="Times New Roman" pitchFamily="18" charset="0"/>
                <a:cs typeface="Times New Roman" pitchFamily="18" charset="0"/>
              </a:rPr>
              <a:t>.</a:t>
            </a:r>
          </a:p>
          <a:p>
            <a:pPr lvl="1" algn="just">
              <a:lnSpc>
                <a:spcPct val="150000"/>
              </a:lnSpc>
            </a:pPr>
            <a:r>
              <a:rPr lang="en-US" sz="2000" dirty="0" smtClean="0">
                <a:latin typeface="Times New Roman" pitchFamily="18" charset="0"/>
                <a:cs typeface="Times New Roman" pitchFamily="18" charset="0"/>
              </a:rPr>
              <a:t>A recursive procedure must have the following </a:t>
            </a:r>
            <a:r>
              <a:rPr lang="en-US" sz="2000" dirty="0" smtClean="0">
                <a:solidFill>
                  <a:srgbClr val="00B050"/>
                </a:solidFill>
                <a:latin typeface="Times New Roman" pitchFamily="18" charset="0"/>
                <a:cs typeface="Times New Roman" pitchFamily="18" charset="0"/>
              </a:rPr>
              <a:t>two properties</a:t>
            </a:r>
            <a:r>
              <a:rPr lang="en-US" sz="2000" dirty="0" smtClean="0">
                <a:latin typeface="Times New Roman" pitchFamily="18" charset="0"/>
                <a:cs typeface="Times New Roman" pitchFamily="18" charset="0"/>
              </a:rPr>
              <a:t>: </a:t>
            </a:r>
          </a:p>
          <a:p>
            <a:pPr lvl="2" algn="just">
              <a:lnSpc>
                <a:spcPct val="150000"/>
              </a:lnSpc>
            </a:pPr>
            <a:r>
              <a:rPr lang="en-US" sz="2000" dirty="0" smtClean="0">
                <a:latin typeface="Times New Roman" pitchFamily="18" charset="0"/>
                <a:cs typeface="Times New Roman" pitchFamily="18" charset="0"/>
              </a:rPr>
              <a:t>There must be certain criteria, called </a:t>
            </a:r>
            <a:r>
              <a:rPr lang="en-US" sz="2000" b="1" dirty="0" smtClean="0">
                <a:latin typeface="Times New Roman" pitchFamily="18" charset="0"/>
                <a:cs typeface="Times New Roman" pitchFamily="18" charset="0"/>
              </a:rPr>
              <a:t>base criteria</a:t>
            </a:r>
            <a:r>
              <a:rPr lang="en-US" sz="2000" dirty="0" smtClean="0">
                <a:latin typeface="Times New Roman" pitchFamily="18" charset="0"/>
                <a:cs typeface="Times New Roman" pitchFamily="18" charset="0"/>
              </a:rPr>
              <a:t>, for which </a:t>
            </a:r>
            <a:r>
              <a:rPr lang="en-US" sz="2000" dirty="0" smtClean="0">
                <a:solidFill>
                  <a:srgbClr val="FF0000"/>
                </a:solidFill>
                <a:latin typeface="Times New Roman" pitchFamily="18" charset="0"/>
                <a:cs typeface="Times New Roman" pitchFamily="18" charset="0"/>
              </a:rPr>
              <a:t>the procedure does not call itself</a:t>
            </a:r>
            <a:r>
              <a:rPr lang="en-US" sz="2000" dirty="0" smtClean="0">
                <a:latin typeface="Times New Roman" pitchFamily="18" charset="0"/>
                <a:cs typeface="Times New Roman" pitchFamily="18" charset="0"/>
              </a:rPr>
              <a:t>. </a:t>
            </a:r>
          </a:p>
          <a:p>
            <a:pPr lvl="2" algn="just">
              <a:lnSpc>
                <a:spcPct val="150000"/>
              </a:lnSpc>
            </a:pPr>
            <a:r>
              <a:rPr lang="en-US" sz="2000" dirty="0" smtClean="0">
                <a:latin typeface="Times New Roman" pitchFamily="18" charset="0"/>
                <a:cs typeface="Times New Roman" pitchFamily="18" charset="0"/>
              </a:rPr>
              <a:t>Each time the </a:t>
            </a:r>
            <a:r>
              <a:rPr lang="en-US" sz="2000" dirty="0" smtClean="0">
                <a:solidFill>
                  <a:srgbClr val="0070C0"/>
                </a:solidFill>
                <a:latin typeface="Times New Roman" pitchFamily="18" charset="0"/>
                <a:cs typeface="Times New Roman" pitchFamily="18" charset="0"/>
              </a:rPr>
              <a:t>procedure does call itself</a:t>
            </a:r>
            <a:r>
              <a:rPr lang="en-US" sz="2000" dirty="0" smtClean="0">
                <a:latin typeface="Times New Roman" pitchFamily="18" charset="0"/>
                <a:cs typeface="Times New Roman" pitchFamily="18" charset="0"/>
              </a:rPr>
              <a:t>, it </a:t>
            </a:r>
            <a:r>
              <a:rPr lang="en-US" sz="2000" dirty="0" smtClean="0">
                <a:solidFill>
                  <a:srgbClr val="00B050"/>
                </a:solidFill>
                <a:latin typeface="Times New Roman" pitchFamily="18" charset="0"/>
                <a:cs typeface="Times New Roman" pitchFamily="18" charset="0"/>
              </a:rPr>
              <a:t>must be closer to the base criteria</a:t>
            </a:r>
            <a:r>
              <a:rPr lang="en-US" sz="2000" dirty="0" smtClean="0">
                <a:latin typeface="Times New Roman" pitchFamily="18" charset="0"/>
                <a:cs typeface="Times New Roman" pitchFamily="18" charset="0"/>
              </a:rPr>
              <a:t>.</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21</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50292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Recursion</a:t>
            </a: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	Example 6.9:</a:t>
            </a:r>
            <a:r>
              <a:rPr lang="en-US" sz="2000" dirty="0" smtClean="0">
                <a:latin typeface="Times New Roman" pitchFamily="18" charset="0"/>
                <a:cs typeface="Times New Roman" pitchFamily="18" charset="0"/>
              </a:rPr>
              <a:t> </a:t>
            </a:r>
            <a:r>
              <a:rPr lang="en-US" sz="2000" dirty="0" smtClean="0">
                <a:solidFill>
                  <a:srgbClr val="FF0000"/>
                </a:solidFill>
                <a:latin typeface="Times New Roman" pitchFamily="18" charset="0"/>
                <a:cs typeface="Times New Roman" pitchFamily="18" charset="0"/>
              </a:rPr>
              <a:t>Calculate 4! using the recursive definition.</a:t>
            </a:r>
          </a:p>
          <a:p>
            <a:pPr>
              <a:buNone/>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Solution:</a:t>
            </a:r>
            <a:r>
              <a:rPr lang="en-US" sz="2000" dirty="0" smtClean="0">
                <a:latin typeface="Times New Roman" pitchFamily="18" charset="0"/>
                <a:cs typeface="Times New Roman" pitchFamily="18" charset="0"/>
              </a:rPr>
              <a:t> This calculation requires the following nine steps:</a:t>
            </a:r>
          </a:p>
          <a:p>
            <a:pPr lvl="0"/>
            <a:endParaRPr lang="en-US" sz="2000" dirty="0" smtClean="0">
              <a:latin typeface="Times New Roman" pitchFamily="18" charset="0"/>
              <a:cs typeface="Times New Roman" pitchFamily="18" charset="0"/>
            </a:endParaRPr>
          </a:p>
          <a:p>
            <a:pPr lvl="1">
              <a:buNone/>
            </a:pPr>
            <a:r>
              <a:rPr lang="en-US" sz="2000" dirty="0" smtClean="0">
                <a:latin typeface="Times New Roman" pitchFamily="18" charset="0"/>
                <a:cs typeface="Times New Roman" pitchFamily="18" charset="0"/>
              </a:rPr>
              <a:t>	1)	4! = 4. 3! </a:t>
            </a:r>
          </a:p>
          <a:p>
            <a:pPr lvl="1">
              <a:buNone/>
            </a:pPr>
            <a:r>
              <a:rPr lang="en-US" sz="2000" dirty="0" smtClean="0">
                <a:latin typeface="Times New Roman" pitchFamily="18" charset="0"/>
                <a:cs typeface="Times New Roman" pitchFamily="18" charset="0"/>
              </a:rPr>
              <a:t>	2)	            3! = 3. 2! </a:t>
            </a:r>
          </a:p>
          <a:p>
            <a:pPr lvl="1">
              <a:buNone/>
            </a:pPr>
            <a:r>
              <a:rPr lang="en-US" sz="2000" dirty="0" smtClean="0">
                <a:latin typeface="Times New Roman" pitchFamily="18" charset="0"/>
                <a:cs typeface="Times New Roman" pitchFamily="18" charset="0"/>
              </a:rPr>
              <a:t>	3)		         2! = 2 . 1! </a:t>
            </a:r>
          </a:p>
          <a:p>
            <a:pPr lvl="1">
              <a:buNone/>
            </a:pPr>
            <a:r>
              <a:rPr lang="en-US" sz="2000" dirty="0" smtClean="0">
                <a:latin typeface="Times New Roman" pitchFamily="18" charset="0"/>
                <a:cs typeface="Times New Roman" pitchFamily="18" charset="0"/>
              </a:rPr>
              <a:t>	4)			       1! = 1 . 0!</a:t>
            </a:r>
          </a:p>
          <a:p>
            <a:pPr lvl="1">
              <a:buNone/>
            </a:pPr>
            <a:r>
              <a:rPr lang="en-US" sz="2000" dirty="0" smtClean="0">
                <a:latin typeface="Times New Roman" pitchFamily="18" charset="0"/>
                <a:cs typeface="Times New Roman" pitchFamily="18" charset="0"/>
              </a:rPr>
              <a:t>	5)				     0! = 1 </a:t>
            </a:r>
          </a:p>
          <a:p>
            <a:pPr lvl="1">
              <a:buNone/>
            </a:pPr>
            <a:r>
              <a:rPr lang="en-US" sz="2000" dirty="0" smtClean="0">
                <a:latin typeface="Times New Roman" pitchFamily="18" charset="0"/>
                <a:cs typeface="Times New Roman" pitchFamily="18" charset="0"/>
              </a:rPr>
              <a:t>	6)			       1! = 1 . 1 = 1 </a:t>
            </a:r>
          </a:p>
          <a:p>
            <a:pPr lvl="1">
              <a:buNone/>
            </a:pPr>
            <a:r>
              <a:rPr lang="en-US" sz="2000" dirty="0" smtClean="0">
                <a:latin typeface="Times New Roman" pitchFamily="18" charset="0"/>
                <a:cs typeface="Times New Roman" pitchFamily="18" charset="0"/>
              </a:rPr>
              <a:t>	7)		         2! = 2 . 1 =2 </a:t>
            </a:r>
          </a:p>
          <a:p>
            <a:pPr lvl="1">
              <a:buNone/>
            </a:pPr>
            <a:r>
              <a:rPr lang="en-US" sz="2000" dirty="0" smtClean="0">
                <a:latin typeface="Times New Roman" pitchFamily="18" charset="0"/>
                <a:cs typeface="Times New Roman" pitchFamily="18" charset="0"/>
              </a:rPr>
              <a:t>	8)	            3! = 3. 2 = 6 </a:t>
            </a:r>
          </a:p>
          <a:p>
            <a:pPr lvl="1">
              <a:buNone/>
            </a:pPr>
            <a:r>
              <a:rPr lang="en-US" sz="2000" dirty="0" smtClean="0">
                <a:latin typeface="Times New Roman" pitchFamily="18" charset="0"/>
                <a:cs typeface="Times New Roman" pitchFamily="18" charset="0"/>
              </a:rPr>
              <a:t>	9)	4!=4 . 6 = 24 </a:t>
            </a:r>
          </a:p>
          <a:p>
            <a:endParaRPr lang="en-US" sz="2000"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22</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5029200"/>
          </a:xfrm>
          <a:prstGeom prst="rect">
            <a:avLst/>
          </a:prstGeom>
        </p:spPr>
        <p:txBody>
          <a:bodyPr/>
          <a:lstStyle/>
          <a:p>
            <a:pPr algn="just">
              <a:spcBef>
                <a:spcPts val="1200"/>
              </a:spcBef>
              <a:buFont typeface="Wingdings" pitchFamily="2" charset="2"/>
              <a:buChar char="q"/>
            </a:pPr>
            <a:r>
              <a:rPr lang="en-US" sz="2000" b="1" dirty="0" smtClean="0">
                <a:latin typeface="Times New Roman" pitchFamily="18" charset="0"/>
                <a:cs typeface="Times New Roman" pitchFamily="18" charset="0"/>
              </a:rPr>
              <a:t>Procedure 6.9A: </a:t>
            </a:r>
            <a:r>
              <a:rPr lang="en-US" sz="2000" dirty="0" smtClean="0">
                <a:latin typeface="Times New Roman" pitchFamily="18" charset="0"/>
                <a:cs typeface="Times New Roman" pitchFamily="18" charset="0"/>
              </a:rPr>
              <a:t> Write a procedure that calculates N!</a:t>
            </a:r>
            <a:endParaRPr lang="en-US" sz="2000" b="1" dirty="0" smtClean="0">
              <a:latin typeface="Times New Roman" pitchFamily="18" charset="0"/>
              <a:cs typeface="Times New Roman" pitchFamily="18" charset="0"/>
            </a:endParaRPr>
          </a:p>
          <a:p>
            <a:pPr algn="just">
              <a:spcBef>
                <a:spcPts val="1200"/>
              </a:spcBef>
              <a:buNone/>
            </a:pPr>
            <a:endParaRPr lang="en-US" sz="1000" b="1" dirty="0" smtClean="0">
              <a:latin typeface="Times New Roman" pitchFamily="18" charset="0"/>
              <a:cs typeface="Times New Roman" pitchFamily="18" charset="0"/>
            </a:endParaRPr>
          </a:p>
          <a:p>
            <a:pPr lvl="1" algn="just">
              <a:spcBef>
                <a:spcPts val="1200"/>
              </a:spcBef>
              <a:buNone/>
            </a:pPr>
            <a:r>
              <a:rPr lang="en-US" sz="1600"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FACTORIAL(FACT, N)</a:t>
            </a:r>
            <a:endParaRPr lang="en-US" sz="2000" dirty="0" smtClean="0">
              <a:latin typeface="Times New Roman" pitchFamily="18" charset="0"/>
              <a:cs typeface="Times New Roman" pitchFamily="18" charset="0"/>
            </a:endParaRPr>
          </a:p>
          <a:p>
            <a:pPr lvl="1" algn="just">
              <a:spcBef>
                <a:spcPts val="1200"/>
              </a:spcBef>
              <a:buNone/>
            </a:pPr>
            <a:r>
              <a:rPr lang="en-US" sz="2000" dirty="0" smtClean="0">
                <a:latin typeface="Times New Roman" pitchFamily="18" charset="0"/>
                <a:cs typeface="Times New Roman" pitchFamily="18" charset="0"/>
              </a:rPr>
              <a:t>This procedure calculates N! and returns the value in the variable FACT. </a:t>
            </a:r>
          </a:p>
          <a:p>
            <a:pPr lvl="1" algn="just">
              <a:spcBef>
                <a:spcPts val="1200"/>
              </a:spcBef>
              <a:buNone/>
            </a:pPr>
            <a:endParaRPr lang="en-US" sz="900" dirty="0" smtClean="0">
              <a:latin typeface="Times New Roman" pitchFamily="18" charset="0"/>
              <a:cs typeface="Times New Roman" pitchFamily="18" charset="0"/>
            </a:endParaRPr>
          </a:p>
          <a:p>
            <a:pPr lvl="2" algn="just">
              <a:spcBef>
                <a:spcPts val="1200"/>
              </a:spcBef>
              <a:buNone/>
            </a:pPr>
            <a:r>
              <a:rPr lang="en-US" sz="2000" dirty="0" smtClean="0">
                <a:latin typeface="Times New Roman" pitchFamily="18" charset="0"/>
                <a:cs typeface="Times New Roman" pitchFamily="18" charset="0"/>
              </a:rPr>
              <a:t>1.	   If N = 0, then: Set FACT := 1, and Return. </a:t>
            </a:r>
          </a:p>
          <a:p>
            <a:pPr lvl="2" algn="just">
              <a:spcBef>
                <a:spcPts val="1200"/>
              </a:spcBef>
              <a:buNone/>
            </a:pPr>
            <a:r>
              <a:rPr lang="en-US" sz="2000" dirty="0" smtClean="0">
                <a:latin typeface="Times New Roman" pitchFamily="18" charset="0"/>
                <a:cs typeface="Times New Roman" pitchFamily="18" charset="0"/>
              </a:rPr>
              <a:t>2.   Set FACT := 1.  </a:t>
            </a:r>
          </a:p>
          <a:p>
            <a:pPr lvl="2" algn="just">
              <a:spcBef>
                <a:spcPts val="1200"/>
              </a:spcBef>
              <a:buNone/>
            </a:pPr>
            <a:r>
              <a:rPr lang="en-US" sz="2000" dirty="0" smtClean="0">
                <a:latin typeface="Times New Roman" pitchFamily="18" charset="0"/>
                <a:cs typeface="Times New Roman" pitchFamily="18" charset="0"/>
              </a:rPr>
              <a:t>3.   Repeat for K = 1 to N. </a:t>
            </a:r>
          </a:p>
          <a:p>
            <a:pPr lvl="2" algn="just">
              <a:spcBef>
                <a:spcPts val="1200"/>
              </a:spcBef>
              <a:buNone/>
            </a:pPr>
            <a:r>
              <a:rPr lang="en-US" sz="2000" dirty="0" smtClean="0">
                <a:latin typeface="Times New Roman" pitchFamily="18" charset="0"/>
                <a:cs typeface="Times New Roman" pitchFamily="18" charset="0"/>
              </a:rPr>
              <a:t>		Set FACT := K*FACT. </a:t>
            </a:r>
          </a:p>
          <a:p>
            <a:pPr lvl="2" algn="just">
              <a:spcBef>
                <a:spcPts val="1200"/>
              </a:spcBef>
              <a:buNone/>
            </a:pPr>
            <a:r>
              <a:rPr lang="en-US" sz="2000" dirty="0" smtClean="0">
                <a:latin typeface="Times New Roman" pitchFamily="18" charset="0"/>
                <a:cs typeface="Times New Roman" pitchFamily="18" charset="0"/>
              </a:rPr>
              <a:t>	   [End of loop.]</a:t>
            </a:r>
          </a:p>
          <a:p>
            <a:pPr lvl="2" algn="just">
              <a:spcBef>
                <a:spcPts val="1200"/>
              </a:spcBef>
              <a:buNone/>
            </a:pPr>
            <a:r>
              <a:rPr lang="en-US" sz="2000" dirty="0" smtClean="0">
                <a:latin typeface="Times New Roman" pitchFamily="18" charset="0"/>
                <a:cs typeface="Times New Roman" pitchFamily="18" charset="0"/>
              </a:rPr>
              <a:t>4.   Return.</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23</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5029200"/>
          </a:xfrm>
          <a:prstGeom prst="rect">
            <a:avLst/>
          </a:prstGeom>
        </p:spPr>
        <p:txBody>
          <a:bodyPr/>
          <a:lstStyle/>
          <a:p>
            <a:pPr algn="just">
              <a:spcBef>
                <a:spcPts val="1200"/>
              </a:spcBef>
              <a:buFont typeface="Wingdings" pitchFamily="2" charset="2"/>
              <a:buChar char="q"/>
            </a:pPr>
            <a:r>
              <a:rPr lang="en-US" sz="2000" b="1" dirty="0" smtClean="0">
                <a:latin typeface="Times New Roman" pitchFamily="18" charset="0"/>
                <a:cs typeface="Times New Roman" pitchFamily="18" charset="0"/>
              </a:rPr>
              <a:t>Procedure 6.9B: </a:t>
            </a:r>
            <a:r>
              <a:rPr lang="en-US" sz="2000" dirty="0" smtClean="0">
                <a:latin typeface="Times New Roman" pitchFamily="18" charset="0"/>
                <a:cs typeface="Times New Roman" pitchFamily="18" charset="0"/>
              </a:rPr>
              <a:t> Write a </a:t>
            </a:r>
            <a:r>
              <a:rPr lang="en-US" sz="2000" dirty="0" smtClean="0">
                <a:solidFill>
                  <a:srgbClr val="FF0000"/>
                </a:solidFill>
                <a:latin typeface="Times New Roman" pitchFamily="18" charset="0"/>
                <a:cs typeface="Times New Roman" pitchFamily="18" charset="0"/>
              </a:rPr>
              <a:t>recursive procedure</a:t>
            </a:r>
            <a:r>
              <a:rPr lang="en-US" sz="2000" dirty="0" smtClean="0">
                <a:latin typeface="Times New Roman" pitchFamily="18" charset="0"/>
                <a:cs typeface="Times New Roman" pitchFamily="18" charset="0"/>
              </a:rPr>
              <a:t> that calculates N!</a:t>
            </a:r>
            <a:endParaRPr lang="en-US" sz="2000" b="1" dirty="0" smtClean="0">
              <a:latin typeface="Times New Roman" pitchFamily="18" charset="0"/>
              <a:cs typeface="Times New Roman" pitchFamily="18" charset="0"/>
            </a:endParaRPr>
          </a:p>
          <a:p>
            <a:pPr algn="just">
              <a:spcBef>
                <a:spcPts val="1200"/>
              </a:spcBef>
              <a:buNone/>
            </a:pPr>
            <a:endParaRPr lang="en-US" sz="2000" b="1" dirty="0" smtClean="0">
              <a:latin typeface="Times New Roman" pitchFamily="18" charset="0"/>
              <a:cs typeface="Times New Roman" pitchFamily="18" charset="0"/>
            </a:endParaRPr>
          </a:p>
          <a:p>
            <a:pPr lvl="1" algn="just">
              <a:spcBef>
                <a:spcPts val="1200"/>
              </a:spcBef>
              <a:buNone/>
            </a:pPr>
            <a:r>
              <a:rPr lang="en-US" sz="2000" b="1" dirty="0" smtClean="0">
                <a:latin typeface="Times New Roman" pitchFamily="18" charset="0"/>
                <a:cs typeface="Times New Roman" pitchFamily="18" charset="0"/>
              </a:rPr>
              <a:t>	FACTORIAL(FACT, N)</a:t>
            </a:r>
            <a:endParaRPr lang="en-US" sz="2000" dirty="0" smtClean="0">
              <a:latin typeface="Times New Roman" pitchFamily="18" charset="0"/>
              <a:cs typeface="Times New Roman" pitchFamily="18" charset="0"/>
            </a:endParaRPr>
          </a:p>
          <a:p>
            <a:pPr lvl="1" algn="just">
              <a:spcBef>
                <a:spcPts val="1200"/>
              </a:spcBef>
              <a:buNone/>
            </a:pPr>
            <a:r>
              <a:rPr lang="en-US" sz="2000" dirty="0" smtClean="0">
                <a:latin typeface="Times New Roman" pitchFamily="18" charset="0"/>
                <a:cs typeface="Times New Roman" pitchFamily="18" charset="0"/>
              </a:rPr>
              <a:t>This procedure calculates N! and returns the value in the variable FACT. </a:t>
            </a:r>
          </a:p>
          <a:p>
            <a:pPr lvl="1" algn="just">
              <a:spcBef>
                <a:spcPts val="1200"/>
              </a:spcBef>
              <a:buNone/>
            </a:pPr>
            <a:endParaRPr lang="en-US" sz="2000" dirty="0" smtClean="0">
              <a:latin typeface="Times New Roman" pitchFamily="18" charset="0"/>
              <a:cs typeface="Times New Roman" pitchFamily="18" charset="0"/>
            </a:endParaRPr>
          </a:p>
          <a:p>
            <a:pPr lvl="2" algn="just">
              <a:spcBef>
                <a:spcPts val="1200"/>
              </a:spcBef>
              <a:buNone/>
            </a:pPr>
            <a:r>
              <a:rPr lang="en-US" sz="2000" dirty="0" smtClean="0">
                <a:latin typeface="Times New Roman" pitchFamily="18" charset="0"/>
                <a:cs typeface="Times New Roman" pitchFamily="18" charset="0"/>
              </a:rPr>
              <a:t>1.	   If N = 0, then: Set FACT := 1, and Return. </a:t>
            </a:r>
          </a:p>
          <a:p>
            <a:pPr lvl="2" algn="just">
              <a:spcBef>
                <a:spcPts val="1200"/>
              </a:spcBef>
              <a:buNone/>
            </a:pPr>
            <a:r>
              <a:rPr lang="en-US" sz="2000" dirty="0" smtClean="0">
                <a:latin typeface="Times New Roman" pitchFamily="18" charset="0"/>
                <a:cs typeface="Times New Roman" pitchFamily="18" charset="0"/>
              </a:rPr>
              <a:t>2.   Call FACTORIAL(FACT, N — 1).</a:t>
            </a:r>
          </a:p>
          <a:p>
            <a:pPr lvl="2" algn="just">
              <a:spcBef>
                <a:spcPts val="1200"/>
              </a:spcBef>
              <a:buNone/>
            </a:pPr>
            <a:r>
              <a:rPr lang="en-US" sz="2000" dirty="0" smtClean="0">
                <a:latin typeface="Times New Roman" pitchFamily="18" charset="0"/>
                <a:cs typeface="Times New Roman" pitchFamily="18" charset="0"/>
              </a:rPr>
              <a:t>3.   Set FACT := N*FACT. </a:t>
            </a:r>
          </a:p>
          <a:p>
            <a:pPr lvl="2" algn="just">
              <a:spcBef>
                <a:spcPts val="1200"/>
              </a:spcBef>
              <a:buNone/>
            </a:pPr>
            <a:r>
              <a:rPr lang="en-US" sz="2000" dirty="0" smtClean="0">
                <a:latin typeface="Times New Roman" pitchFamily="18" charset="0"/>
                <a:cs typeface="Times New Roman" pitchFamily="18" charset="0"/>
              </a:rPr>
              <a:t>4.   Return.</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24</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5029200"/>
          </a:xfrm>
          <a:prstGeom prst="rect">
            <a:avLst/>
          </a:prstGeom>
        </p:spPr>
        <p:txBody>
          <a:bodyPr/>
          <a:lstStyle/>
          <a:p>
            <a:pPr algn="just">
              <a:spcBef>
                <a:spcPts val="1200"/>
              </a:spcBef>
              <a:buFont typeface="Wingdings" pitchFamily="2" charset="2"/>
              <a:buChar char="q"/>
            </a:pPr>
            <a:r>
              <a:rPr lang="en-US" sz="2000" b="1" dirty="0" smtClean="0">
                <a:latin typeface="Times New Roman" pitchFamily="18" charset="0"/>
                <a:cs typeface="Times New Roman" pitchFamily="18" charset="0"/>
              </a:rPr>
              <a:t>Fibonacci Sequence</a:t>
            </a:r>
            <a:endParaRPr lang="en-US" sz="2000" dirty="0" smtClean="0">
              <a:latin typeface="Times New Roman" pitchFamily="18" charset="0"/>
              <a:cs typeface="Times New Roman" pitchFamily="18" charset="0"/>
            </a:endParaRPr>
          </a:p>
          <a:p>
            <a:pPr algn="just">
              <a:spcBef>
                <a:spcPts val="1200"/>
              </a:spcBef>
              <a:buNone/>
            </a:pPr>
            <a:r>
              <a:rPr lang="en-US" sz="2000" dirty="0" smtClean="0">
                <a:latin typeface="Times New Roman" pitchFamily="18" charset="0"/>
                <a:cs typeface="Times New Roman" pitchFamily="18" charset="0"/>
              </a:rPr>
              <a:t>	The Fibonacci sequence (usually denoted by F</a:t>
            </a:r>
            <a:r>
              <a:rPr lang="en-US" sz="2000" baseline="-25000" dirty="0" smtClean="0">
                <a:latin typeface="Times New Roman" pitchFamily="18" charset="0"/>
                <a:cs typeface="Times New Roman" pitchFamily="18" charset="0"/>
              </a:rPr>
              <a:t>0</a:t>
            </a:r>
            <a:r>
              <a:rPr lang="en-US" sz="2000" dirty="0" smtClean="0">
                <a:latin typeface="Times New Roman" pitchFamily="18" charset="0"/>
                <a:cs typeface="Times New Roman" pitchFamily="18" charset="0"/>
              </a:rPr>
              <a:t>, F</a:t>
            </a:r>
            <a:r>
              <a:rPr lang="en-US" sz="2000" baseline="-25000" dirty="0" smtClean="0">
                <a:latin typeface="Times New Roman" pitchFamily="18" charset="0"/>
                <a:cs typeface="Times New Roman" pitchFamily="18" charset="0"/>
              </a:rPr>
              <a:t>1</a:t>
            </a:r>
            <a:r>
              <a:rPr lang="en-US" sz="2000" dirty="0" smtClean="0">
                <a:latin typeface="Times New Roman" pitchFamily="18" charset="0"/>
                <a:cs typeface="Times New Roman" pitchFamily="18" charset="0"/>
              </a:rPr>
              <a:t>, F</a:t>
            </a:r>
            <a:r>
              <a:rPr lang="en-US" sz="2000" baseline="-25000" dirty="0" smtClean="0">
                <a:latin typeface="Times New Roman" pitchFamily="18" charset="0"/>
                <a:cs typeface="Times New Roman" pitchFamily="18" charset="0"/>
              </a:rPr>
              <a:t>2</a:t>
            </a:r>
            <a:r>
              <a:rPr lang="en-US" sz="2000" dirty="0" smtClean="0">
                <a:latin typeface="Times New Roman" pitchFamily="18" charset="0"/>
                <a:cs typeface="Times New Roman" pitchFamily="18" charset="0"/>
              </a:rPr>
              <a:t>, . …….) is as follows:</a:t>
            </a:r>
          </a:p>
          <a:p>
            <a:pPr algn="just">
              <a:spcBef>
                <a:spcPts val="1200"/>
              </a:spcBef>
              <a:buNone/>
            </a:pPr>
            <a:r>
              <a:rPr lang="en-US" sz="2000" dirty="0" smtClean="0">
                <a:latin typeface="Times New Roman" pitchFamily="18" charset="0"/>
                <a:cs typeface="Times New Roman" pitchFamily="18" charset="0"/>
              </a:rPr>
              <a:t>			0, 1, 1, 2, 3, 5, 8, 13, 21, 34, 55, .... </a:t>
            </a:r>
          </a:p>
          <a:p>
            <a:pPr algn="just">
              <a:spcBef>
                <a:spcPts val="1200"/>
              </a:spcBef>
            </a:pPr>
            <a:endParaRPr lang="en-US" sz="1100" dirty="0" smtClean="0">
              <a:latin typeface="Times New Roman" pitchFamily="18" charset="0"/>
              <a:cs typeface="Times New Roman" pitchFamily="18" charset="0"/>
            </a:endParaRPr>
          </a:p>
          <a:p>
            <a:pPr algn="just">
              <a:spcBef>
                <a:spcPts val="1200"/>
              </a:spcBef>
              <a:buNone/>
            </a:pPr>
            <a:r>
              <a:rPr lang="en-US" sz="2000" dirty="0" smtClean="0">
                <a:latin typeface="Times New Roman" pitchFamily="18" charset="0"/>
                <a:cs typeface="Times New Roman" pitchFamily="18" charset="0"/>
              </a:rPr>
              <a:t>	That is, F</a:t>
            </a:r>
            <a:r>
              <a:rPr lang="en-US" sz="2000" baseline="-25000" dirty="0" smtClean="0">
                <a:latin typeface="Times New Roman" pitchFamily="18" charset="0"/>
                <a:cs typeface="Times New Roman" pitchFamily="18" charset="0"/>
              </a:rPr>
              <a:t>0</a:t>
            </a:r>
            <a:r>
              <a:rPr lang="en-US" sz="2000" dirty="0" smtClean="0">
                <a:latin typeface="Times New Roman" pitchFamily="18" charset="0"/>
                <a:cs typeface="Times New Roman" pitchFamily="18" charset="0"/>
              </a:rPr>
              <a:t> = 0 and F</a:t>
            </a:r>
            <a:r>
              <a:rPr lang="en-US" sz="2000" baseline="-25000" dirty="0" smtClean="0">
                <a:latin typeface="Times New Roman" pitchFamily="18" charset="0"/>
                <a:cs typeface="Times New Roman" pitchFamily="18" charset="0"/>
              </a:rPr>
              <a:t>1</a:t>
            </a:r>
            <a:r>
              <a:rPr lang="en-US" sz="2000" dirty="0" smtClean="0">
                <a:latin typeface="Times New Roman" pitchFamily="18" charset="0"/>
                <a:cs typeface="Times New Roman" pitchFamily="18" charset="0"/>
              </a:rPr>
              <a:t> = 1 and each succeeding term is the sum of the two preceding terms.</a:t>
            </a:r>
          </a:p>
          <a:p>
            <a:pPr algn="just">
              <a:spcBef>
                <a:spcPts val="1200"/>
              </a:spcBef>
              <a:buNone/>
            </a:pPr>
            <a:endParaRPr lang="en-US" sz="1200" b="1" dirty="0" smtClean="0">
              <a:latin typeface="Times New Roman" pitchFamily="18" charset="0"/>
              <a:cs typeface="Times New Roman" pitchFamily="18" charset="0"/>
            </a:endParaRPr>
          </a:p>
          <a:p>
            <a:pPr algn="just">
              <a:spcBef>
                <a:spcPts val="1200"/>
              </a:spcBef>
              <a:buNone/>
            </a:pPr>
            <a:r>
              <a:rPr lang="en-US" sz="2000" b="1" dirty="0" smtClean="0">
                <a:latin typeface="Times New Roman" pitchFamily="18" charset="0"/>
                <a:cs typeface="Times New Roman" pitchFamily="18" charset="0"/>
              </a:rPr>
              <a:t>	Definition:</a:t>
            </a:r>
            <a:r>
              <a:rPr lang="en-US" sz="2000" dirty="0" smtClean="0">
                <a:latin typeface="Times New Roman" pitchFamily="18" charset="0"/>
                <a:cs typeface="Times New Roman" pitchFamily="18" charset="0"/>
              </a:rPr>
              <a:t> (Fibonacci Sequence)</a:t>
            </a:r>
          </a:p>
          <a:p>
            <a:pPr lvl="2" algn="just">
              <a:spcBef>
                <a:spcPts val="1200"/>
              </a:spcBef>
              <a:buNone/>
            </a:pPr>
            <a:r>
              <a:rPr lang="en-US" sz="2000" dirty="0" smtClean="0">
                <a:latin typeface="Times New Roman" pitchFamily="18" charset="0"/>
                <a:cs typeface="Times New Roman" pitchFamily="18" charset="0"/>
              </a:rPr>
              <a:t>a)	   If </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 0 or </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 1, then </a:t>
            </a:r>
            <a:r>
              <a:rPr lang="en-US" sz="2000" i="1" dirty="0" smtClean="0">
                <a:latin typeface="Times New Roman" pitchFamily="18" charset="0"/>
                <a:cs typeface="Times New Roman" pitchFamily="18" charset="0"/>
              </a:rPr>
              <a:t>F</a:t>
            </a:r>
            <a:r>
              <a:rPr lang="en-US" sz="2000" i="1" baseline="-25000"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 </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a:t>
            </a:r>
          </a:p>
          <a:p>
            <a:pPr lvl="2" algn="just">
              <a:spcBef>
                <a:spcPts val="1200"/>
              </a:spcBef>
              <a:buNone/>
            </a:pPr>
            <a:r>
              <a:rPr lang="en-US" sz="2000" dirty="0" smtClean="0">
                <a:latin typeface="Times New Roman" pitchFamily="18" charset="0"/>
                <a:cs typeface="Times New Roman" pitchFamily="18" charset="0"/>
              </a:rPr>
              <a:t>b)   If </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&gt; 1, then </a:t>
            </a:r>
            <a:r>
              <a:rPr lang="en-US" sz="2000" i="1" dirty="0" smtClean="0">
                <a:latin typeface="Times New Roman" pitchFamily="18" charset="0"/>
                <a:cs typeface="Times New Roman" pitchFamily="18" charset="0"/>
              </a:rPr>
              <a:t>F</a:t>
            </a:r>
            <a:r>
              <a:rPr lang="en-US" sz="2000" i="1" baseline="-25000"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 </a:t>
            </a:r>
            <a:r>
              <a:rPr lang="en-US" sz="2000" i="1" dirty="0" smtClean="0">
                <a:latin typeface="Times New Roman" pitchFamily="18" charset="0"/>
                <a:cs typeface="Times New Roman" pitchFamily="18" charset="0"/>
              </a:rPr>
              <a:t>F</a:t>
            </a:r>
            <a:r>
              <a:rPr lang="en-US" sz="2000" i="1" baseline="-25000" dirty="0" smtClean="0">
                <a:latin typeface="Times New Roman" pitchFamily="18" charset="0"/>
                <a:cs typeface="Times New Roman" pitchFamily="18" charset="0"/>
              </a:rPr>
              <a:t>n</a:t>
            </a:r>
            <a:r>
              <a:rPr lang="en-US" sz="2000" baseline="-25000" dirty="0" smtClean="0">
                <a:latin typeface="Times New Roman" pitchFamily="18" charset="0"/>
                <a:cs typeface="Times New Roman" pitchFamily="18" charset="0"/>
              </a:rPr>
              <a:t>-2  </a:t>
            </a: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F</a:t>
            </a:r>
            <a:r>
              <a:rPr lang="en-US" sz="2000" i="1" baseline="-25000" dirty="0" smtClean="0">
                <a:latin typeface="Times New Roman" pitchFamily="18" charset="0"/>
                <a:cs typeface="Times New Roman" pitchFamily="18" charset="0"/>
              </a:rPr>
              <a:t>n</a:t>
            </a:r>
            <a:r>
              <a:rPr lang="en-US" sz="2000" baseline="-25000" dirty="0" smtClean="0">
                <a:latin typeface="Times New Roman" pitchFamily="18" charset="0"/>
                <a:cs typeface="Times New Roman" pitchFamily="18" charset="0"/>
              </a:rPr>
              <a:t>-1</a:t>
            </a:r>
            <a:endParaRPr lang="en-US" sz="2000"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25</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371600"/>
            <a:ext cx="8229600" cy="5029200"/>
          </a:xfrm>
          <a:prstGeom prst="rect">
            <a:avLst/>
          </a:prstGeom>
        </p:spPr>
        <p:txBody>
          <a:bodyPr/>
          <a:lstStyle/>
          <a:p>
            <a:pPr algn="just">
              <a:spcBef>
                <a:spcPts val="1200"/>
              </a:spcBef>
              <a:buFont typeface="Wingdings" pitchFamily="2" charset="2"/>
              <a:buChar char="q"/>
            </a:pPr>
            <a:r>
              <a:rPr lang="en-US" sz="2000" b="1" dirty="0" smtClean="0">
                <a:latin typeface="Times New Roman" pitchFamily="18" charset="0"/>
                <a:cs typeface="Times New Roman" pitchFamily="18" charset="0"/>
              </a:rPr>
              <a:t>Fibonacci Sequence</a:t>
            </a:r>
            <a:endParaRPr lang="en-US" sz="2000" dirty="0" smtClean="0">
              <a:latin typeface="Times New Roman" pitchFamily="18" charset="0"/>
              <a:cs typeface="Times New Roman" pitchFamily="18" charset="0"/>
            </a:endParaRPr>
          </a:p>
          <a:p>
            <a:pPr algn="just">
              <a:spcBef>
                <a:spcPts val="1200"/>
              </a:spcBef>
              <a:buNone/>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Procedure 6.10:</a:t>
            </a:r>
            <a:r>
              <a:rPr lang="en-US" sz="2000" dirty="0" smtClean="0">
                <a:latin typeface="Times New Roman" pitchFamily="18" charset="0"/>
                <a:cs typeface="Times New Roman" pitchFamily="18" charset="0"/>
              </a:rPr>
              <a:t> Write a recursive procedure that finds the nth Fibonacci number.</a:t>
            </a:r>
          </a:p>
          <a:p>
            <a:pPr algn="just">
              <a:spcBef>
                <a:spcPts val="1200"/>
              </a:spcBef>
              <a:buNone/>
            </a:pPr>
            <a:endParaRPr lang="en-US" sz="400" dirty="0" smtClean="0">
              <a:latin typeface="Times New Roman" pitchFamily="18" charset="0"/>
              <a:cs typeface="Times New Roman" pitchFamily="18" charset="0"/>
            </a:endParaRPr>
          </a:p>
          <a:p>
            <a:pPr algn="just">
              <a:spcBef>
                <a:spcPts val="1200"/>
              </a:spcBef>
              <a:buNone/>
            </a:pPr>
            <a:r>
              <a:rPr lang="en-US" sz="2000" dirty="0" smtClean="0">
                <a:latin typeface="Times New Roman" pitchFamily="18" charset="0"/>
                <a:cs typeface="Times New Roman" pitchFamily="18" charset="0"/>
              </a:rPr>
              <a:t>		FIBONACCI(F1B, N)</a:t>
            </a:r>
          </a:p>
          <a:p>
            <a:pPr algn="just">
              <a:spcBef>
                <a:spcPts val="1200"/>
              </a:spcBef>
              <a:buNone/>
            </a:pPr>
            <a:r>
              <a:rPr lang="en-US" sz="2000" dirty="0" smtClean="0">
                <a:latin typeface="Times New Roman" pitchFamily="18" charset="0"/>
                <a:cs typeface="Times New Roman" pitchFamily="18" charset="0"/>
              </a:rPr>
              <a:t>	This procedure calculates F</a:t>
            </a:r>
            <a:r>
              <a:rPr lang="en-US" sz="2000" baseline="-25000"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and returns the value in the first parameter FIB. </a:t>
            </a:r>
          </a:p>
          <a:p>
            <a:pPr lvl="2" algn="just">
              <a:spcBef>
                <a:spcPts val="1200"/>
              </a:spcBef>
              <a:buNone/>
            </a:pPr>
            <a:r>
              <a:rPr lang="en-US" sz="2000" dirty="0" smtClean="0">
                <a:latin typeface="Times New Roman" pitchFamily="18" charset="0"/>
                <a:cs typeface="Times New Roman" pitchFamily="18" charset="0"/>
              </a:rPr>
              <a:t>1.   If N = 0 or N = 1, then: Set FIB := N, and Return.</a:t>
            </a:r>
          </a:p>
          <a:p>
            <a:pPr lvl="2" algn="just">
              <a:spcBef>
                <a:spcPts val="1200"/>
              </a:spcBef>
              <a:buNone/>
            </a:pPr>
            <a:r>
              <a:rPr lang="en-US" sz="2000" dirty="0" smtClean="0">
                <a:latin typeface="Times New Roman" pitchFamily="18" charset="0"/>
                <a:cs typeface="Times New Roman" pitchFamily="18" charset="0"/>
              </a:rPr>
              <a:t>2.   Call FIBONACCI(F1BA, N - 2). </a:t>
            </a:r>
          </a:p>
          <a:p>
            <a:pPr lvl="2" algn="just">
              <a:spcBef>
                <a:spcPts val="1200"/>
              </a:spcBef>
              <a:buNone/>
            </a:pPr>
            <a:r>
              <a:rPr lang="en-US" sz="2000" dirty="0" smtClean="0">
                <a:latin typeface="Times New Roman" pitchFamily="18" charset="0"/>
                <a:cs typeface="Times New Roman" pitchFamily="18" charset="0"/>
              </a:rPr>
              <a:t>3.   Call FIBONACCI(FIBB, N - 1). </a:t>
            </a:r>
          </a:p>
          <a:p>
            <a:pPr lvl="2" algn="just">
              <a:spcBef>
                <a:spcPts val="1200"/>
              </a:spcBef>
              <a:buNone/>
            </a:pPr>
            <a:r>
              <a:rPr lang="en-US" sz="2000" dirty="0" smtClean="0">
                <a:latin typeface="Times New Roman" pitchFamily="18" charset="0"/>
                <a:cs typeface="Times New Roman" pitchFamily="18" charset="0"/>
              </a:rPr>
              <a:t>4.   Set FIB := F1BA + FIBB.</a:t>
            </a:r>
          </a:p>
          <a:p>
            <a:pPr lvl="2" algn="just">
              <a:spcBef>
                <a:spcPts val="1200"/>
              </a:spcBef>
              <a:buNone/>
            </a:pPr>
            <a:r>
              <a:rPr lang="en-US" sz="2000" dirty="0" smtClean="0">
                <a:latin typeface="Times New Roman" pitchFamily="18" charset="0"/>
                <a:cs typeface="Times New Roman" pitchFamily="18" charset="0"/>
              </a:rPr>
              <a:t>5.   Return.</a:t>
            </a:r>
          </a:p>
          <a:p>
            <a:pPr algn="just">
              <a:spcBef>
                <a:spcPts val="1200"/>
              </a:spcBef>
            </a:pPr>
            <a:endParaRPr lang="en-US" sz="2000"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26</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524000"/>
            <a:ext cx="8229600" cy="48006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Recursion vs. Iteration</a:t>
            </a:r>
          </a:p>
          <a:p>
            <a:pPr lvl="1"/>
            <a:r>
              <a:rPr lang="en-GB" sz="2000" dirty="0" smtClean="0">
                <a:latin typeface="Times New Roman" pitchFamily="18" charset="0"/>
                <a:cs typeface="Times New Roman" pitchFamily="18" charset="0"/>
              </a:rPr>
              <a:t>Roughly speaking, recursion and iteration perform the same kinds of tasks:</a:t>
            </a:r>
            <a:endParaRPr lang="en-US" sz="2000" dirty="0" smtClean="0">
              <a:latin typeface="Times New Roman" pitchFamily="18" charset="0"/>
              <a:cs typeface="Times New Roman" pitchFamily="18" charset="0"/>
            </a:endParaRPr>
          </a:p>
          <a:p>
            <a:pPr lvl="1">
              <a:buNone/>
            </a:pPr>
            <a:r>
              <a:rPr lang="en-GB" sz="2000" dirty="0" smtClean="0">
                <a:latin typeface="Times New Roman" pitchFamily="18" charset="0"/>
                <a:cs typeface="Times New Roman" pitchFamily="18" charset="0"/>
              </a:rPr>
              <a:t>	Solve a complicated task one piece at a time, and combine the results.</a:t>
            </a:r>
            <a:endParaRPr lang="en-US" sz="2000" dirty="0" smtClean="0">
              <a:latin typeface="Times New Roman" pitchFamily="18" charset="0"/>
              <a:cs typeface="Times New Roman" pitchFamily="18" charset="0"/>
            </a:endParaRPr>
          </a:p>
          <a:p>
            <a:pPr lvl="1"/>
            <a:endParaRPr lang="en-GB" sz="2000" dirty="0" smtClean="0">
              <a:latin typeface="Times New Roman" pitchFamily="18" charset="0"/>
              <a:cs typeface="Times New Roman" pitchFamily="18" charset="0"/>
            </a:endParaRPr>
          </a:p>
          <a:p>
            <a:pPr lvl="1"/>
            <a:r>
              <a:rPr lang="en-GB" sz="2000" dirty="0" smtClean="0">
                <a:latin typeface="Times New Roman" pitchFamily="18" charset="0"/>
                <a:cs typeface="Times New Roman" pitchFamily="18" charset="0"/>
              </a:rPr>
              <a:t>Emphasis of iteration:</a:t>
            </a:r>
            <a:endParaRPr lang="en-US" sz="2000" dirty="0" smtClean="0">
              <a:latin typeface="Times New Roman" pitchFamily="18" charset="0"/>
              <a:cs typeface="Times New Roman" pitchFamily="18" charset="0"/>
            </a:endParaRPr>
          </a:p>
          <a:p>
            <a:pPr lvl="1">
              <a:buNone/>
            </a:pPr>
            <a:r>
              <a:rPr lang="en-GB" sz="2000" dirty="0" smtClean="0">
                <a:latin typeface="Times New Roman" pitchFamily="18" charset="0"/>
                <a:cs typeface="Times New Roman" pitchFamily="18" charset="0"/>
              </a:rPr>
              <a:t>	keep repeating until a task is “done”</a:t>
            </a:r>
            <a:endParaRPr lang="en-US" sz="2000" dirty="0" smtClean="0">
              <a:latin typeface="Times New Roman" pitchFamily="18" charset="0"/>
              <a:cs typeface="Times New Roman" pitchFamily="18" charset="0"/>
            </a:endParaRPr>
          </a:p>
          <a:p>
            <a:pPr lvl="1"/>
            <a:endParaRPr lang="en-GB" sz="2000" dirty="0" smtClean="0">
              <a:latin typeface="Times New Roman" pitchFamily="18" charset="0"/>
              <a:cs typeface="Times New Roman" pitchFamily="18" charset="0"/>
            </a:endParaRPr>
          </a:p>
          <a:p>
            <a:pPr lvl="1"/>
            <a:r>
              <a:rPr lang="en-GB" sz="2000" dirty="0" smtClean="0">
                <a:latin typeface="Times New Roman" pitchFamily="18" charset="0"/>
                <a:cs typeface="Times New Roman" pitchFamily="18" charset="0"/>
              </a:rPr>
              <a:t>Emphasis of recursion:</a:t>
            </a:r>
            <a:endParaRPr lang="en-US" sz="2000" dirty="0" smtClean="0">
              <a:latin typeface="Times New Roman" pitchFamily="18" charset="0"/>
              <a:cs typeface="Times New Roman" pitchFamily="18" charset="0"/>
            </a:endParaRPr>
          </a:p>
          <a:p>
            <a:pPr lvl="1">
              <a:buNone/>
            </a:pPr>
            <a:r>
              <a:rPr lang="en-GB" sz="2000" dirty="0" smtClean="0">
                <a:latin typeface="Times New Roman" pitchFamily="18" charset="0"/>
                <a:cs typeface="Times New Roman" pitchFamily="18" charset="0"/>
              </a:rPr>
              <a:t>	Solve a large problem by breaking it up into smaller and smaller pieces until you can solve it; combine the results. Example: recursive factorial function. </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27</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524000"/>
            <a:ext cx="8229600" cy="48006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Recursion vs. Iteration</a:t>
            </a:r>
          </a:p>
          <a:p>
            <a:pPr lvl="1"/>
            <a:r>
              <a:rPr lang="en-GB" sz="1800" dirty="0" smtClean="0">
                <a:latin typeface="Times New Roman" pitchFamily="18" charset="0"/>
                <a:cs typeface="Times New Roman" pitchFamily="18" charset="0"/>
              </a:rPr>
              <a:t>The function calls itself recursively on a smaller version of the input (n - 1). The solution to the problem is then devised by combining the solutions obtained from the simpler versions of the problem.</a:t>
            </a:r>
          </a:p>
          <a:p>
            <a:pPr lvl="1"/>
            <a:endParaRPr lang="en-US" sz="2000" dirty="0" smtClean="0">
              <a:latin typeface="Times New Roman" pitchFamily="18" charset="0"/>
              <a:cs typeface="Times New Roman" pitchFamily="18" charset="0"/>
            </a:endParaRPr>
          </a:p>
          <a:p>
            <a:pPr lvl="1"/>
            <a:r>
              <a:rPr lang="en-US" sz="1800" dirty="0" smtClean="0">
                <a:latin typeface="Times New Roman" pitchFamily="18" charset="0"/>
                <a:cs typeface="Times New Roman" pitchFamily="18" charset="0"/>
              </a:rPr>
              <a:t>Use of recursion in an algorithm has both advantages and disadvantages. </a:t>
            </a:r>
          </a:p>
          <a:p>
            <a:pPr lvl="2"/>
            <a:r>
              <a:rPr lang="en-US" sz="1800" dirty="0" smtClean="0">
                <a:latin typeface="Times New Roman" pitchFamily="18" charset="0"/>
                <a:cs typeface="Times New Roman" pitchFamily="18" charset="0"/>
              </a:rPr>
              <a:t>The main advantage is usually simplicity. </a:t>
            </a:r>
          </a:p>
          <a:p>
            <a:pPr lvl="2"/>
            <a:r>
              <a:rPr lang="en-US" sz="1800" dirty="0" smtClean="0">
                <a:latin typeface="Times New Roman" pitchFamily="18" charset="0"/>
                <a:cs typeface="Times New Roman" pitchFamily="18" charset="0"/>
              </a:rPr>
              <a:t>The main disadvantage is often that the algorithm may require large amounts of memory if the depth of the recursion is very large.</a:t>
            </a:r>
          </a:p>
          <a:p>
            <a:pPr lvl="2"/>
            <a:r>
              <a:rPr lang="en-GB" sz="1800" dirty="0" smtClean="0">
                <a:latin typeface="Times New Roman" pitchFamily="18" charset="0"/>
                <a:cs typeface="Times New Roman" pitchFamily="18" charset="0"/>
              </a:rPr>
              <a:t>Recursive isn’t always better. This takes O(2</a:t>
            </a:r>
            <a:r>
              <a:rPr lang="en-GB" sz="1800" i="1" baseline="30000" dirty="0" smtClean="0">
                <a:latin typeface="Times New Roman" pitchFamily="18" charset="0"/>
                <a:cs typeface="Times New Roman" pitchFamily="18" charset="0"/>
              </a:rPr>
              <a:t>n</a:t>
            </a:r>
            <a:r>
              <a:rPr lang="en-GB" sz="1800" dirty="0" smtClean="0">
                <a:latin typeface="Times New Roman" pitchFamily="18" charset="0"/>
                <a:cs typeface="Times New Roman" pitchFamily="18" charset="0"/>
              </a:rPr>
              <a:t>) steps. Unusable for large n.</a:t>
            </a:r>
            <a:endParaRPr lang="en-US" sz="1800" dirty="0" smtClean="0">
              <a:latin typeface="Times New Roman" pitchFamily="18" charset="0"/>
              <a:cs typeface="Times New Roman" pitchFamily="18" charset="0"/>
            </a:endParaRPr>
          </a:p>
          <a:p>
            <a:pPr lvl="2"/>
            <a:r>
              <a:rPr lang="en-GB" sz="1800" dirty="0" smtClean="0">
                <a:latin typeface="Times New Roman" pitchFamily="18" charset="0"/>
                <a:cs typeface="Times New Roman" pitchFamily="18" charset="0"/>
              </a:rPr>
              <a:t>Iterative approach is “linear”; it takes O(n) steps.</a:t>
            </a:r>
            <a:endParaRPr lang="en-US" sz="1800" dirty="0" smtClean="0">
              <a:latin typeface="Times New Roman" pitchFamily="18" charset="0"/>
              <a:cs typeface="Times New Roman" pitchFamily="18" charset="0"/>
            </a:endParaRPr>
          </a:p>
          <a:p>
            <a:pPr lvl="1">
              <a:buNone/>
            </a:pPr>
            <a:endParaRPr lang="en-US" sz="1800"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28</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524000"/>
            <a:ext cx="8229600" cy="4800600"/>
          </a:xfrm>
          <a:prstGeom prst="rect">
            <a:avLst/>
          </a:prstGeom>
        </p:spPr>
        <p:txBody>
          <a:bodyPr/>
          <a:lstStyle/>
          <a:p>
            <a:pPr algn="just">
              <a:spcBef>
                <a:spcPts val="1200"/>
              </a:spcBef>
              <a:buFont typeface="Wingdings" pitchFamily="2" charset="2"/>
              <a:buChar char="q"/>
            </a:pPr>
            <a:r>
              <a:rPr lang="en-US" sz="2000" b="1" dirty="0" smtClean="0">
                <a:latin typeface="Times New Roman" pitchFamily="18" charset="0"/>
                <a:cs typeface="Times New Roman" pitchFamily="18" charset="0"/>
              </a:rPr>
              <a:t>Queues</a:t>
            </a:r>
          </a:p>
          <a:p>
            <a:pPr lvl="1" algn="just">
              <a:spcBef>
                <a:spcPts val="1200"/>
              </a:spcBef>
            </a:pPr>
            <a:r>
              <a:rPr lang="en-US" sz="2000" dirty="0" smtClean="0">
                <a:latin typeface="Times New Roman" pitchFamily="18" charset="0"/>
                <a:cs typeface="Times New Roman" pitchFamily="18" charset="0"/>
              </a:rPr>
              <a:t>A queue is a </a:t>
            </a:r>
            <a:r>
              <a:rPr lang="en-US" sz="2000" b="1" dirty="0" smtClean="0">
                <a:latin typeface="Times New Roman" pitchFamily="18" charset="0"/>
                <a:cs typeface="Times New Roman" pitchFamily="18" charset="0"/>
              </a:rPr>
              <a:t>linear list</a:t>
            </a:r>
            <a:r>
              <a:rPr lang="en-US" sz="2000" dirty="0" smtClean="0">
                <a:latin typeface="Times New Roman" pitchFamily="18" charset="0"/>
                <a:cs typeface="Times New Roman" pitchFamily="18" charset="0"/>
              </a:rPr>
              <a:t> of elements in which </a:t>
            </a:r>
            <a:r>
              <a:rPr lang="en-US" sz="2000" dirty="0" smtClean="0">
                <a:solidFill>
                  <a:srgbClr val="FF0000"/>
                </a:solidFill>
                <a:latin typeface="Times New Roman" pitchFamily="18" charset="0"/>
                <a:cs typeface="Times New Roman" pitchFamily="18" charset="0"/>
              </a:rPr>
              <a:t>deletions can take place only at one end, called the </a:t>
            </a:r>
            <a:r>
              <a:rPr lang="en-US" sz="2000" i="1" dirty="0" smtClean="0">
                <a:solidFill>
                  <a:srgbClr val="FF0000"/>
                </a:solidFill>
                <a:latin typeface="Times New Roman" pitchFamily="18" charset="0"/>
                <a:cs typeface="Times New Roman" pitchFamily="18" charset="0"/>
              </a:rPr>
              <a:t>front</a:t>
            </a:r>
            <a:r>
              <a:rPr lang="en-US" sz="2000" dirty="0" smtClean="0">
                <a:latin typeface="Times New Roman" pitchFamily="18" charset="0"/>
                <a:cs typeface="Times New Roman" pitchFamily="18" charset="0"/>
              </a:rPr>
              <a:t>, and </a:t>
            </a:r>
            <a:r>
              <a:rPr lang="en-US" sz="2000" dirty="0" smtClean="0">
                <a:solidFill>
                  <a:srgbClr val="00B050"/>
                </a:solidFill>
                <a:latin typeface="Times New Roman" pitchFamily="18" charset="0"/>
                <a:cs typeface="Times New Roman" pitchFamily="18" charset="0"/>
              </a:rPr>
              <a:t>insertions can take place only at the other end, called the </a:t>
            </a:r>
            <a:r>
              <a:rPr lang="en-US" sz="2000" i="1" dirty="0" smtClean="0">
                <a:solidFill>
                  <a:srgbClr val="00B050"/>
                </a:solidFill>
                <a:latin typeface="Times New Roman" pitchFamily="18" charset="0"/>
                <a:cs typeface="Times New Roman" pitchFamily="18" charset="0"/>
              </a:rPr>
              <a:t>rear</a:t>
            </a:r>
            <a:r>
              <a:rPr lang="en-US" sz="2000" dirty="0" smtClean="0">
                <a:latin typeface="Times New Roman" pitchFamily="18" charset="0"/>
                <a:cs typeface="Times New Roman" pitchFamily="18" charset="0"/>
              </a:rPr>
              <a:t>.</a:t>
            </a:r>
          </a:p>
          <a:p>
            <a:pPr lvl="1" algn="just">
              <a:spcBef>
                <a:spcPts val="1200"/>
              </a:spcBef>
            </a:pPr>
            <a:r>
              <a:rPr lang="en-US" sz="2000" dirty="0" smtClean="0">
                <a:latin typeface="Times New Roman" pitchFamily="18" charset="0"/>
                <a:cs typeface="Times New Roman" pitchFamily="18" charset="0"/>
              </a:rPr>
              <a:t>Queues are also called </a:t>
            </a:r>
            <a:r>
              <a:rPr lang="en-US" sz="2000" b="1" dirty="0" smtClean="0">
                <a:latin typeface="Times New Roman" pitchFamily="18" charset="0"/>
                <a:cs typeface="Times New Roman" pitchFamily="18" charset="0"/>
              </a:rPr>
              <a:t>first-in first-out (FIFO)</a:t>
            </a:r>
            <a:r>
              <a:rPr lang="en-US" sz="2000" dirty="0" smtClean="0">
                <a:latin typeface="Times New Roman" pitchFamily="18" charset="0"/>
                <a:cs typeface="Times New Roman" pitchFamily="18" charset="0"/>
              </a:rPr>
              <a:t> lists, since the first element in a queue will be the first element out of the queue. In other words, the order in which elements enter a queue is the order in which they leave. </a:t>
            </a:r>
          </a:p>
          <a:p>
            <a:pPr lvl="1" algn="just">
              <a:spcBef>
                <a:spcPts val="1200"/>
              </a:spcBef>
            </a:pPr>
            <a:r>
              <a:rPr lang="en-US" sz="2000" b="1" dirty="0" smtClean="0">
                <a:latin typeface="Times New Roman" pitchFamily="18" charset="0"/>
                <a:cs typeface="Times New Roman" pitchFamily="18" charset="0"/>
              </a:rPr>
              <a:t>Example: </a:t>
            </a:r>
          </a:p>
          <a:p>
            <a:pPr lvl="2" algn="just">
              <a:spcBef>
                <a:spcPts val="1200"/>
              </a:spcBef>
            </a:pPr>
            <a:r>
              <a:rPr lang="en-US" sz="2000" dirty="0" smtClean="0">
                <a:latin typeface="Times New Roman" pitchFamily="18" charset="0"/>
                <a:cs typeface="Times New Roman" pitchFamily="18" charset="0"/>
              </a:rPr>
              <a:t>A line of people waiting at a bus stop form a queue, where the first person in line is the first person to board the bus.</a:t>
            </a:r>
          </a:p>
          <a:p>
            <a:pPr lvl="2" algn="just">
              <a:spcBef>
                <a:spcPts val="1200"/>
              </a:spcBef>
            </a:pPr>
            <a:r>
              <a:rPr lang="en-US" sz="2000" dirty="0" smtClean="0">
                <a:latin typeface="Times New Roman" pitchFamily="18" charset="0"/>
                <a:cs typeface="Times New Roman" pitchFamily="18" charset="0"/>
              </a:rPr>
              <a:t>A line of people waiting to be served by an ATM machine.</a:t>
            </a:r>
          </a:p>
          <a:p>
            <a:pPr lvl="2" algn="just">
              <a:spcBef>
                <a:spcPts val="1200"/>
              </a:spcBef>
            </a:pPr>
            <a:r>
              <a:rPr lang="en-US" sz="2000" dirty="0" smtClean="0">
                <a:latin typeface="Times New Roman" pitchFamily="18" charset="0"/>
                <a:cs typeface="Times New Roman" pitchFamily="18" charset="0"/>
              </a:rPr>
              <a:t>Collection of documents sent to a shared printer.</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29</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304800" y="1219200"/>
            <a:ext cx="8534400" cy="5426075"/>
          </a:xfrm>
          <a:prstGeom prst="rect">
            <a:avLst/>
          </a:prstGeom>
        </p:spPr>
        <p:txBody>
          <a:bodyPr/>
          <a:lstStyle/>
          <a:p>
            <a:pPr algn="just">
              <a:spcBef>
                <a:spcPts val="1200"/>
              </a:spcBef>
              <a:buFont typeface="Wingdings" pitchFamily="2" charset="2"/>
              <a:buChar char="q"/>
            </a:pPr>
            <a:r>
              <a:rPr lang="en-US" sz="2000" b="1" dirty="0" smtClean="0">
                <a:latin typeface="Times New Roman" pitchFamily="18" charset="0"/>
                <a:cs typeface="Times New Roman" pitchFamily="18" charset="0"/>
              </a:rPr>
              <a:t>Representation of Queues </a:t>
            </a:r>
            <a:endParaRPr lang="en-US" sz="2000" dirty="0" smtClean="0">
              <a:latin typeface="Times New Roman" pitchFamily="18" charset="0"/>
              <a:cs typeface="Times New Roman" pitchFamily="18" charset="0"/>
            </a:endParaRPr>
          </a:p>
          <a:p>
            <a:pPr lvl="1" algn="just">
              <a:spcBef>
                <a:spcPts val="1200"/>
              </a:spcBef>
            </a:pPr>
            <a:r>
              <a:rPr lang="en-US" sz="2000" dirty="0" smtClean="0">
                <a:latin typeface="Times New Roman" pitchFamily="18" charset="0"/>
                <a:cs typeface="Times New Roman" pitchFamily="18" charset="0"/>
              </a:rPr>
              <a:t>Queues may be represented in the computer by a linear array </a:t>
            </a:r>
            <a:r>
              <a:rPr lang="en-US" sz="2000" b="1" dirty="0" smtClean="0">
                <a:solidFill>
                  <a:srgbClr val="FF0000"/>
                </a:solidFill>
                <a:latin typeface="Times New Roman" pitchFamily="18" charset="0"/>
                <a:cs typeface="Times New Roman" pitchFamily="18" charset="0"/>
              </a:rPr>
              <a:t>QUEUE</a:t>
            </a:r>
            <a:r>
              <a:rPr lang="en-US" sz="2000" dirty="0" smtClean="0">
                <a:latin typeface="Times New Roman" pitchFamily="18" charset="0"/>
                <a:cs typeface="Times New Roman" pitchFamily="18" charset="0"/>
              </a:rPr>
              <a:t> and two pointer variables: </a:t>
            </a:r>
            <a:r>
              <a:rPr lang="en-US" sz="2000" b="1" dirty="0" smtClean="0">
                <a:solidFill>
                  <a:srgbClr val="FF0000"/>
                </a:solidFill>
                <a:latin typeface="Times New Roman" pitchFamily="18" charset="0"/>
                <a:cs typeface="Times New Roman" pitchFamily="18" charset="0"/>
              </a:rPr>
              <a:t>FRONT</a:t>
            </a:r>
            <a:r>
              <a:rPr lang="en-US" sz="2000" dirty="0" smtClean="0">
                <a:latin typeface="Times New Roman" pitchFamily="18" charset="0"/>
                <a:cs typeface="Times New Roman" pitchFamily="18" charset="0"/>
              </a:rPr>
              <a:t>, containing the location of the front element of the queue; and </a:t>
            </a:r>
            <a:r>
              <a:rPr lang="en-US" sz="2000" b="1" dirty="0" smtClean="0">
                <a:solidFill>
                  <a:srgbClr val="FF0000"/>
                </a:solidFill>
                <a:latin typeface="Times New Roman" pitchFamily="18" charset="0"/>
                <a:cs typeface="Times New Roman" pitchFamily="18" charset="0"/>
              </a:rPr>
              <a:t>REAR</a:t>
            </a:r>
            <a:r>
              <a:rPr lang="en-US" sz="2000" dirty="0" smtClean="0">
                <a:latin typeface="Times New Roman" pitchFamily="18" charset="0"/>
                <a:cs typeface="Times New Roman" pitchFamily="18" charset="0"/>
              </a:rPr>
              <a:t>, containing .the location of the rear element of the queue. </a:t>
            </a:r>
          </a:p>
          <a:p>
            <a:pPr lvl="1" algn="just">
              <a:spcBef>
                <a:spcPts val="1200"/>
              </a:spcBef>
            </a:pPr>
            <a:r>
              <a:rPr lang="en-US" sz="2000" dirty="0" smtClean="0">
                <a:latin typeface="Times New Roman" pitchFamily="18" charset="0"/>
                <a:cs typeface="Times New Roman" pitchFamily="18" charset="0"/>
              </a:rPr>
              <a:t>FRONT = NULL indicates that the queue is empty. </a:t>
            </a:r>
          </a:p>
          <a:p>
            <a:pPr lvl="1" algn="just">
              <a:spcBef>
                <a:spcPts val="1200"/>
              </a:spcBef>
            </a:pPr>
            <a:r>
              <a:rPr lang="en-US" sz="2000" dirty="0" smtClean="0">
                <a:latin typeface="Times New Roman" pitchFamily="18" charset="0"/>
                <a:cs typeface="Times New Roman" pitchFamily="18" charset="0"/>
              </a:rPr>
              <a:t>The following Figure indicates the way elements will be deleted from the queue and the way new elements will be added to the queue. Whenever an element is deleted from the queue, the value of FRONT is increased by 1.</a:t>
            </a:r>
          </a:p>
          <a:p>
            <a:pPr lvl="1" algn="just">
              <a:spcBef>
                <a:spcPts val="1200"/>
              </a:spcBef>
              <a:buNone/>
            </a:pPr>
            <a:r>
              <a:rPr lang="en-US" sz="2000" dirty="0" smtClean="0">
                <a:latin typeface="Times New Roman" pitchFamily="18" charset="0"/>
                <a:cs typeface="Times New Roman" pitchFamily="18" charset="0"/>
              </a:rPr>
              <a:t>				FRONT := FRONT + 1 </a:t>
            </a:r>
          </a:p>
          <a:p>
            <a:pPr lvl="1" algn="just">
              <a:spcBef>
                <a:spcPts val="1200"/>
              </a:spcBef>
            </a:pPr>
            <a:r>
              <a:rPr lang="en-US" sz="2000" dirty="0" smtClean="0">
                <a:latin typeface="Times New Roman" pitchFamily="18" charset="0"/>
                <a:cs typeface="Times New Roman" pitchFamily="18" charset="0"/>
              </a:rPr>
              <a:t>Similarly, whenever an element is added to the queue, the value of REAR is increased by 1. </a:t>
            </a:r>
          </a:p>
          <a:p>
            <a:pPr lvl="1" algn="just">
              <a:spcBef>
                <a:spcPts val="1200"/>
              </a:spcBef>
              <a:buNone/>
            </a:pPr>
            <a:r>
              <a:rPr lang="en-US" sz="2000" dirty="0" smtClean="0">
                <a:latin typeface="Times New Roman" pitchFamily="18" charset="0"/>
                <a:cs typeface="Times New Roman" pitchFamily="18" charset="0"/>
              </a:rPr>
              <a:t>				REAR := REAR + 1 </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30</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524000"/>
            <a:ext cx="8229600" cy="48006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Representation of Queues </a:t>
            </a:r>
            <a:endParaRPr lang="en-US" sz="2000" dirty="0" smtClean="0">
              <a:latin typeface="Times New Roman" pitchFamily="18" charset="0"/>
              <a:cs typeface="Times New Roman" pitchFamily="18" charset="0"/>
            </a:endParaRPr>
          </a:p>
          <a:p>
            <a:pPr lvl="1"/>
            <a:endParaRPr lang="en-US" sz="2000"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31</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 name="Picture 9"/>
          <p:cNvPicPr/>
          <p:nvPr/>
        </p:nvPicPr>
        <p:blipFill>
          <a:blip r:embed="rId4"/>
          <a:srcRect/>
          <a:stretch>
            <a:fillRect/>
          </a:stretch>
        </p:blipFill>
        <p:spPr bwMode="auto">
          <a:xfrm>
            <a:off x="1524000" y="1981200"/>
            <a:ext cx="5867400" cy="4267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524000"/>
            <a:ext cx="8229600" cy="48006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Procedure 6.13: Write a procedure that inserts an ITEM onto a queue.</a:t>
            </a: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QINSERT (QUEUE, N, FRONT, REAR, ITEM)</a:t>
            </a:r>
          </a:p>
          <a:p>
            <a:pPr>
              <a:buNone/>
            </a:pPr>
            <a:r>
              <a:rPr lang="en-US" sz="2000" dirty="0" smtClean="0">
                <a:latin typeface="Times New Roman" pitchFamily="18" charset="0"/>
                <a:cs typeface="Times New Roman" pitchFamily="18" charset="0"/>
              </a:rPr>
              <a:t>	This procedure inserts an element ITEM into a queue.</a:t>
            </a:r>
          </a:p>
          <a:p>
            <a:pPr lvl="2">
              <a:buNone/>
            </a:pPr>
            <a:r>
              <a:rPr lang="en-US" sz="1800" dirty="0" smtClean="0">
                <a:latin typeface="Times New Roman" pitchFamily="18" charset="0"/>
                <a:cs typeface="Times New Roman" pitchFamily="18" charset="0"/>
              </a:rPr>
              <a:t>1.   If FRONT = 1 and REAR = N, or if FRONT = REAR + 1, then</a:t>
            </a:r>
          </a:p>
          <a:p>
            <a:pPr lvl="2">
              <a:buNone/>
            </a:pPr>
            <a:r>
              <a:rPr lang="en-US" sz="1800" dirty="0" smtClean="0">
                <a:latin typeface="Times New Roman" pitchFamily="18" charset="0"/>
                <a:cs typeface="Times New Roman" pitchFamily="18" charset="0"/>
              </a:rPr>
              <a:t> 		Write: OVERFLOW, and Return.</a:t>
            </a:r>
          </a:p>
          <a:p>
            <a:pPr lvl="2">
              <a:buNone/>
            </a:pPr>
            <a:r>
              <a:rPr lang="en-US" sz="1800" dirty="0" smtClean="0">
                <a:latin typeface="Times New Roman" pitchFamily="18" charset="0"/>
                <a:cs typeface="Times New Roman" pitchFamily="18" charset="0"/>
              </a:rPr>
              <a:t>2.    If FRONT = NULL, then</a:t>
            </a:r>
          </a:p>
          <a:p>
            <a:pPr lvl="2">
              <a:buNone/>
            </a:pPr>
            <a:r>
              <a:rPr lang="en-US" sz="1800" dirty="0" smtClean="0">
                <a:latin typeface="Times New Roman" pitchFamily="18" charset="0"/>
                <a:cs typeface="Times New Roman" pitchFamily="18" charset="0"/>
              </a:rPr>
              <a:t>		Set FRONT = 1 and REAR = 1</a:t>
            </a:r>
          </a:p>
          <a:p>
            <a:pPr lvl="2">
              <a:buNone/>
            </a:pPr>
            <a:r>
              <a:rPr lang="en-US" sz="1800" dirty="0" smtClean="0">
                <a:latin typeface="Times New Roman" pitchFamily="18" charset="0"/>
                <a:cs typeface="Times New Roman" pitchFamily="18" charset="0"/>
              </a:rPr>
              <a:t>       Else if REAR = N, then</a:t>
            </a:r>
          </a:p>
          <a:p>
            <a:pPr lvl="2">
              <a:buNone/>
            </a:pPr>
            <a:r>
              <a:rPr lang="en-US" sz="1800" dirty="0" smtClean="0">
                <a:latin typeface="Times New Roman" pitchFamily="18" charset="0"/>
                <a:cs typeface="Times New Roman" pitchFamily="18" charset="0"/>
              </a:rPr>
              <a:t>		Set REAR = 1</a:t>
            </a:r>
          </a:p>
          <a:p>
            <a:pPr lvl="2">
              <a:buNone/>
            </a:pPr>
            <a:r>
              <a:rPr lang="en-US" sz="1800" dirty="0" smtClean="0">
                <a:latin typeface="Times New Roman" pitchFamily="18" charset="0"/>
                <a:cs typeface="Times New Roman" pitchFamily="18" charset="0"/>
              </a:rPr>
              <a:t>       Else</a:t>
            </a:r>
          </a:p>
          <a:p>
            <a:pPr lvl="2">
              <a:buNone/>
            </a:pPr>
            <a:r>
              <a:rPr lang="en-US" sz="1800" dirty="0" smtClean="0">
                <a:latin typeface="Times New Roman" pitchFamily="18" charset="0"/>
                <a:cs typeface="Times New Roman" pitchFamily="18" charset="0"/>
              </a:rPr>
              <a:t>		Set REAR = REAR + 1</a:t>
            </a:r>
          </a:p>
          <a:p>
            <a:pPr lvl="2">
              <a:buNone/>
            </a:pPr>
            <a:r>
              <a:rPr lang="en-US" sz="1800" dirty="0" smtClean="0">
                <a:latin typeface="Times New Roman" pitchFamily="18" charset="0"/>
                <a:cs typeface="Times New Roman" pitchFamily="18" charset="0"/>
              </a:rPr>
              <a:t>       [End of If structure.]</a:t>
            </a:r>
          </a:p>
          <a:p>
            <a:pPr lvl="2">
              <a:buNone/>
            </a:pPr>
            <a:r>
              <a:rPr lang="en-US" sz="1800" dirty="0" smtClean="0">
                <a:latin typeface="Times New Roman" pitchFamily="18" charset="0"/>
                <a:cs typeface="Times New Roman" pitchFamily="18" charset="0"/>
              </a:rPr>
              <a:t>3.    Set QUEUE [REAR] = ITEM</a:t>
            </a:r>
          </a:p>
          <a:p>
            <a:pPr lvl="2">
              <a:buNone/>
            </a:pPr>
            <a:r>
              <a:rPr lang="en-US" sz="1800" dirty="0" smtClean="0">
                <a:latin typeface="Times New Roman" pitchFamily="18" charset="0"/>
                <a:cs typeface="Times New Roman" pitchFamily="18" charset="0"/>
              </a:rPr>
              <a:t>4.    Return.</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32</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524000"/>
            <a:ext cx="8229600" cy="48006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Procedure 6.14: </a:t>
            </a:r>
            <a:r>
              <a:rPr lang="en-US" sz="1800" b="1" dirty="0" smtClean="0">
                <a:latin typeface="Times New Roman" pitchFamily="18" charset="0"/>
                <a:cs typeface="Times New Roman" pitchFamily="18" charset="0"/>
              </a:rPr>
              <a:t>Write a procedure that deletes an element from a queue.</a:t>
            </a: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QDELETE(QUEUE, N, FRONT, REAR, ITEM) </a:t>
            </a:r>
          </a:p>
          <a:p>
            <a:pPr>
              <a:buNone/>
            </a:pPr>
            <a:r>
              <a:rPr lang="en-US" sz="2000" dirty="0" smtClean="0">
                <a:latin typeface="Times New Roman" pitchFamily="18" charset="0"/>
                <a:cs typeface="Times New Roman" pitchFamily="18" charset="0"/>
              </a:rPr>
              <a:t>	This procedure deletes an element from a queue and assigns it to the variable ITEM. </a:t>
            </a:r>
          </a:p>
          <a:p>
            <a:pPr lvl="2">
              <a:buNone/>
            </a:pPr>
            <a:r>
              <a:rPr lang="en-US" sz="1800" dirty="0" smtClean="0">
                <a:latin typeface="Times New Roman" pitchFamily="18" charset="0"/>
                <a:cs typeface="Times New Roman" pitchFamily="18" charset="0"/>
              </a:rPr>
              <a:t>1.   If FRONT:= NULL, then: Write: UNDERFLOW, and Return. </a:t>
            </a:r>
          </a:p>
          <a:p>
            <a:pPr lvl="2">
              <a:buNone/>
            </a:pPr>
            <a:r>
              <a:rPr lang="en-US" sz="1800" dirty="0" smtClean="0">
                <a:latin typeface="Times New Roman" pitchFamily="18" charset="0"/>
                <a:cs typeface="Times New Roman" pitchFamily="18" charset="0"/>
              </a:rPr>
              <a:t>2.   Set ITEM:= QUEUE[FRONT]. </a:t>
            </a:r>
          </a:p>
          <a:p>
            <a:pPr lvl="2">
              <a:buNone/>
            </a:pPr>
            <a:r>
              <a:rPr lang="en-US" sz="1800" dirty="0" smtClean="0">
                <a:latin typeface="Times New Roman" pitchFamily="18" charset="0"/>
                <a:cs typeface="Times New Roman" pitchFamily="18" charset="0"/>
              </a:rPr>
              <a:t>3.   If FRONT= REAR, then:  </a:t>
            </a:r>
          </a:p>
          <a:p>
            <a:pPr lvl="2">
              <a:buNone/>
            </a:pPr>
            <a:r>
              <a:rPr lang="en-US" sz="1800" dirty="0" smtClean="0">
                <a:latin typeface="Times New Roman" pitchFamily="18" charset="0"/>
                <a:cs typeface="Times New Roman" pitchFamily="18" charset="0"/>
              </a:rPr>
              <a:t>		Set FRONT := NULL and REAR := NULL. </a:t>
            </a:r>
          </a:p>
          <a:p>
            <a:pPr lvl="2">
              <a:buNone/>
            </a:pPr>
            <a:r>
              <a:rPr lang="en-US" sz="1800" dirty="0" smtClean="0">
                <a:latin typeface="Times New Roman" pitchFamily="18" charset="0"/>
                <a:cs typeface="Times New Roman" pitchFamily="18" charset="0"/>
              </a:rPr>
              <a:t>	   Else if FRONT = N, then: </a:t>
            </a:r>
          </a:p>
          <a:p>
            <a:pPr lvl="2">
              <a:buNone/>
            </a:pPr>
            <a:r>
              <a:rPr lang="en-US" sz="1800" dirty="0" smtClean="0">
                <a:latin typeface="Times New Roman" pitchFamily="18" charset="0"/>
                <a:cs typeface="Times New Roman" pitchFamily="18" charset="0"/>
              </a:rPr>
              <a:t>		Set FRONT := 1. </a:t>
            </a:r>
          </a:p>
          <a:p>
            <a:pPr lvl="2">
              <a:buNone/>
            </a:pPr>
            <a:r>
              <a:rPr lang="en-US" sz="1800" dirty="0" smtClean="0">
                <a:latin typeface="Times New Roman" pitchFamily="18" charset="0"/>
                <a:cs typeface="Times New Roman" pitchFamily="18" charset="0"/>
              </a:rPr>
              <a:t>	   Else: </a:t>
            </a:r>
          </a:p>
          <a:p>
            <a:pPr lvl="2">
              <a:buNone/>
            </a:pPr>
            <a:r>
              <a:rPr lang="en-US" sz="1800" dirty="0" smtClean="0">
                <a:latin typeface="Times New Roman" pitchFamily="18" charset="0"/>
                <a:cs typeface="Times New Roman" pitchFamily="18" charset="0"/>
              </a:rPr>
              <a:t>		Set FRONT := FRONT + 1</a:t>
            </a:r>
          </a:p>
          <a:p>
            <a:pPr lvl="2">
              <a:buNone/>
            </a:pPr>
            <a:r>
              <a:rPr lang="en-US" sz="1800" dirty="0" smtClean="0">
                <a:latin typeface="Times New Roman" pitchFamily="18" charset="0"/>
                <a:cs typeface="Times New Roman" pitchFamily="18" charset="0"/>
              </a:rPr>
              <a:t>	   [End of If structure.]</a:t>
            </a:r>
          </a:p>
          <a:p>
            <a:pPr lvl="2">
              <a:buNone/>
            </a:pPr>
            <a:r>
              <a:rPr lang="en-US" sz="1800" dirty="0" smtClean="0">
                <a:latin typeface="Times New Roman" pitchFamily="18" charset="0"/>
                <a:cs typeface="Times New Roman" pitchFamily="18" charset="0"/>
              </a:rPr>
              <a:t>4.   Return.</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33</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155192"/>
            <a:ext cx="8229600" cy="5181600"/>
          </a:xfrm>
          <a:prstGeom prst="rect">
            <a:avLst/>
          </a:prstGeom>
        </p:spPr>
        <p:txBody>
          <a:bodyPr/>
          <a:lstStyle/>
          <a:p>
            <a:pPr algn="just">
              <a:spcBef>
                <a:spcPts val="1200"/>
              </a:spcBef>
              <a:buFont typeface="Wingdings" pitchFamily="2" charset="2"/>
              <a:buChar char="q"/>
            </a:pPr>
            <a:r>
              <a:rPr lang="en-US" sz="2000" b="1" dirty="0" smtClean="0">
                <a:latin typeface="Times New Roman" pitchFamily="18" charset="0"/>
                <a:cs typeface="Times New Roman" pitchFamily="18" charset="0"/>
              </a:rPr>
              <a:t>Solved Problem 6.22:</a:t>
            </a:r>
            <a:r>
              <a:rPr lang="en-US" sz="2000" dirty="0" smtClean="0">
                <a:latin typeface="Times New Roman" pitchFamily="18" charset="0"/>
                <a:cs typeface="Times New Roman" pitchFamily="18" charset="0"/>
              </a:rPr>
              <a:t> Consider the following queue of characters, where QUEUE is a circular array which is allocated six memory cells:</a:t>
            </a:r>
          </a:p>
          <a:p>
            <a:pPr algn="just">
              <a:spcBef>
                <a:spcPts val="1200"/>
              </a:spcBef>
              <a:buNone/>
            </a:pPr>
            <a:r>
              <a:rPr lang="en-US" sz="2000" dirty="0" smtClean="0">
                <a:latin typeface="Times New Roman" pitchFamily="18" charset="0"/>
                <a:cs typeface="Times New Roman" pitchFamily="18" charset="0"/>
              </a:rPr>
              <a:t>            FRONT=2,     REAR=4     QUEUE:   -, A, C, D, -, -</a:t>
            </a:r>
          </a:p>
          <a:p>
            <a:pPr algn="just">
              <a:spcBef>
                <a:spcPts val="1200"/>
              </a:spcBef>
              <a:buNone/>
            </a:pPr>
            <a:r>
              <a:rPr lang="en-US" sz="2000" dirty="0" smtClean="0">
                <a:latin typeface="Times New Roman" pitchFamily="18" charset="0"/>
                <a:cs typeface="Times New Roman" pitchFamily="18" charset="0"/>
              </a:rPr>
              <a:t>	Describe the queue as the following operations take place:</a:t>
            </a:r>
          </a:p>
          <a:p>
            <a:pPr algn="just">
              <a:spcBef>
                <a:spcPts val="1200"/>
              </a:spcBef>
              <a:buNone/>
            </a:pPr>
            <a:r>
              <a:rPr lang="en-US" sz="1800" dirty="0" smtClean="0">
                <a:latin typeface="Times New Roman" pitchFamily="18" charset="0"/>
                <a:cs typeface="Times New Roman" pitchFamily="18" charset="0"/>
              </a:rPr>
              <a:t>          </a:t>
            </a:r>
            <a:r>
              <a:rPr lang="en-US" sz="1800" i="1" dirty="0" err="1" smtClean="0">
                <a:latin typeface="Times New Roman" pitchFamily="18" charset="0"/>
                <a:cs typeface="Times New Roman" pitchFamily="18" charset="0"/>
              </a:rPr>
              <a:t>i</a:t>
            </a:r>
            <a:r>
              <a:rPr lang="en-US" sz="1800" i="1" dirty="0" smtClean="0">
                <a:latin typeface="Times New Roman" pitchFamily="18" charset="0"/>
                <a:cs typeface="Times New Roman" pitchFamily="18" charset="0"/>
              </a:rPr>
              <a:t>)</a:t>
            </a:r>
            <a:r>
              <a:rPr lang="en-US" sz="1800" dirty="0" smtClean="0">
                <a:latin typeface="Times New Roman" pitchFamily="18" charset="0"/>
                <a:cs typeface="Times New Roman" pitchFamily="18" charset="0"/>
              </a:rPr>
              <a:t> F is added to the queue.		</a:t>
            </a:r>
            <a:r>
              <a:rPr lang="en-US" sz="1800" i="1" dirty="0" smtClean="0">
                <a:latin typeface="Times New Roman" pitchFamily="18" charset="0"/>
                <a:cs typeface="Times New Roman" pitchFamily="18" charset="0"/>
              </a:rPr>
              <a:t>vi)</a:t>
            </a:r>
            <a:r>
              <a:rPr lang="en-US" sz="1800" dirty="0" smtClean="0">
                <a:latin typeface="Times New Roman" pitchFamily="18" charset="0"/>
                <a:cs typeface="Times New Roman" pitchFamily="18" charset="0"/>
              </a:rPr>
              <a:t> Two letters are deleted.</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ii)</a:t>
            </a:r>
            <a:r>
              <a:rPr lang="en-US" sz="1800" dirty="0" smtClean="0">
                <a:latin typeface="Times New Roman" pitchFamily="18" charset="0"/>
                <a:cs typeface="Times New Roman" pitchFamily="18" charset="0"/>
              </a:rPr>
              <a:t> Two letters are deleted.		</a:t>
            </a:r>
            <a:r>
              <a:rPr lang="en-US" sz="1800" i="1" dirty="0" smtClean="0">
                <a:latin typeface="Times New Roman" pitchFamily="18" charset="0"/>
                <a:cs typeface="Times New Roman" pitchFamily="18" charset="0"/>
              </a:rPr>
              <a:t>vii)</a:t>
            </a:r>
            <a:r>
              <a:rPr lang="en-US" sz="1800" dirty="0" smtClean="0">
                <a:latin typeface="Times New Roman" pitchFamily="18" charset="0"/>
                <a:cs typeface="Times New Roman" pitchFamily="18" charset="0"/>
              </a:rPr>
              <a:t> S is added to the queue.</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iii)</a:t>
            </a:r>
            <a:r>
              <a:rPr lang="en-US" sz="1800" dirty="0" smtClean="0">
                <a:latin typeface="Times New Roman" pitchFamily="18" charset="0"/>
                <a:cs typeface="Times New Roman" pitchFamily="18" charset="0"/>
              </a:rPr>
              <a:t> K, L, and M are added to the queue.	</a:t>
            </a:r>
            <a:r>
              <a:rPr lang="en-US" sz="1800" i="1" dirty="0" smtClean="0">
                <a:latin typeface="Times New Roman" pitchFamily="18" charset="0"/>
                <a:cs typeface="Times New Roman" pitchFamily="18" charset="0"/>
              </a:rPr>
              <a:t>viii)</a:t>
            </a:r>
            <a:r>
              <a:rPr lang="en-US" sz="1800" dirty="0" smtClean="0">
                <a:latin typeface="Times New Roman" pitchFamily="18" charset="0"/>
                <a:cs typeface="Times New Roman" pitchFamily="18" charset="0"/>
              </a:rPr>
              <a:t> Two letters are deleted.</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iv)</a:t>
            </a:r>
            <a:r>
              <a:rPr lang="en-US" sz="1800" dirty="0" smtClean="0">
                <a:latin typeface="Times New Roman" pitchFamily="18" charset="0"/>
                <a:cs typeface="Times New Roman" pitchFamily="18" charset="0"/>
              </a:rPr>
              <a:t> Two letters are deleted.		</a:t>
            </a:r>
            <a:r>
              <a:rPr lang="en-US" sz="1800" i="1" dirty="0" smtClean="0">
                <a:latin typeface="Times New Roman" pitchFamily="18" charset="0"/>
                <a:cs typeface="Times New Roman" pitchFamily="18" charset="0"/>
              </a:rPr>
              <a:t>ix)</a:t>
            </a:r>
            <a:r>
              <a:rPr lang="en-US" sz="1800" dirty="0" smtClean="0">
                <a:latin typeface="Times New Roman" pitchFamily="18" charset="0"/>
                <a:cs typeface="Times New Roman" pitchFamily="18" charset="0"/>
              </a:rPr>
              <a:t> One letter is deleted.</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v)</a:t>
            </a:r>
            <a:r>
              <a:rPr lang="en-US" sz="1800" dirty="0" smtClean="0">
                <a:latin typeface="Times New Roman" pitchFamily="18" charset="0"/>
                <a:cs typeface="Times New Roman" pitchFamily="18" charset="0"/>
              </a:rPr>
              <a:t> R is added to the queue.		</a:t>
            </a:r>
            <a:r>
              <a:rPr lang="en-US" sz="1800" i="1" dirty="0" smtClean="0">
                <a:latin typeface="Times New Roman" pitchFamily="18" charset="0"/>
                <a:cs typeface="Times New Roman" pitchFamily="18" charset="0"/>
              </a:rPr>
              <a:t>x)</a:t>
            </a:r>
            <a:r>
              <a:rPr lang="en-US" sz="1800" dirty="0" smtClean="0">
                <a:latin typeface="Times New Roman" pitchFamily="18" charset="0"/>
                <a:cs typeface="Times New Roman" pitchFamily="18" charset="0"/>
              </a:rPr>
              <a:t> One letter is deleted.</a:t>
            </a:r>
            <a:endParaRPr lang="en-US" sz="1600" dirty="0" smtClean="0">
              <a:latin typeface="Times New Roman" pitchFamily="18" charset="0"/>
              <a:cs typeface="Times New Roman" pitchFamily="18" charset="0"/>
            </a:endParaRPr>
          </a:p>
          <a:p>
            <a:pPr algn="just">
              <a:spcBef>
                <a:spcPts val="1200"/>
              </a:spcBef>
              <a:buNone/>
            </a:pPr>
            <a:r>
              <a:rPr lang="en-US" sz="1800" b="1" dirty="0" smtClean="0">
                <a:latin typeface="Times New Roman" pitchFamily="18" charset="0"/>
                <a:cs typeface="Times New Roman" pitchFamily="18" charset="0"/>
              </a:rPr>
              <a:t>	Solution: </a:t>
            </a:r>
          </a:p>
          <a:p>
            <a:pPr algn="just">
              <a:spcBef>
                <a:spcPts val="1200"/>
              </a:spcBef>
              <a:buNone/>
            </a:pPr>
            <a:r>
              <a:rPr lang="en-US" sz="1800" dirty="0" smtClean="0">
                <a:latin typeface="Times New Roman" pitchFamily="18" charset="0"/>
                <a:cs typeface="Times New Roman" pitchFamily="18" charset="0"/>
              </a:rPr>
              <a:t>		</a:t>
            </a:r>
            <a:r>
              <a:rPr lang="en-US" sz="1800" i="1" dirty="0" err="1" smtClean="0">
                <a:latin typeface="Times New Roman" pitchFamily="18" charset="0"/>
                <a:cs typeface="Times New Roman" pitchFamily="18" charset="0"/>
              </a:rPr>
              <a:t>i</a:t>
            </a:r>
            <a:r>
              <a:rPr lang="en-US" sz="1800" i="1" dirty="0" smtClean="0">
                <a:latin typeface="Times New Roman" pitchFamily="18" charset="0"/>
                <a:cs typeface="Times New Roman" pitchFamily="18" charset="0"/>
              </a:rPr>
              <a:t>)</a:t>
            </a:r>
            <a:r>
              <a:rPr lang="en-US" sz="1800" dirty="0" smtClean="0">
                <a:latin typeface="Times New Roman" pitchFamily="18" charset="0"/>
                <a:cs typeface="Times New Roman" pitchFamily="18" charset="0"/>
              </a:rPr>
              <a:t> FRONT=2,     REAR=5     QUEUE:   -, A, C, D, F, -</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ii)</a:t>
            </a:r>
            <a:r>
              <a:rPr lang="en-US" sz="1800" dirty="0" smtClean="0">
                <a:latin typeface="Times New Roman" pitchFamily="18" charset="0"/>
                <a:cs typeface="Times New Roman" pitchFamily="18" charset="0"/>
              </a:rPr>
              <a:t> FRONT=4,     REAR=5     QUEUE:  -,  -,   -, D, F, -</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iii)</a:t>
            </a:r>
            <a:r>
              <a:rPr lang="en-US" sz="1800" dirty="0" smtClean="0">
                <a:latin typeface="Times New Roman" pitchFamily="18" charset="0"/>
                <a:cs typeface="Times New Roman" pitchFamily="18" charset="0"/>
              </a:rPr>
              <a:t> FRONT=4,     REAR=2     QUEUE:  L, M, -, D, F, K</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34</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149096"/>
            <a:ext cx="8229600" cy="4800600"/>
          </a:xfrm>
          <a:prstGeom prst="rect">
            <a:avLst/>
          </a:prstGeom>
        </p:spPr>
        <p:txBody>
          <a:bodyPr/>
          <a:lstStyle/>
          <a:p>
            <a:pPr algn="just">
              <a:spcBef>
                <a:spcPts val="1200"/>
              </a:spcBef>
              <a:buFont typeface="Wingdings" pitchFamily="2" charset="2"/>
              <a:buChar char="q"/>
            </a:pPr>
            <a:r>
              <a:rPr lang="en-US" sz="2000" b="1" dirty="0" smtClean="0">
                <a:latin typeface="Times New Roman" pitchFamily="18" charset="0"/>
                <a:cs typeface="Times New Roman" pitchFamily="18" charset="0"/>
              </a:rPr>
              <a:t>Solved Problem 6.22:</a:t>
            </a:r>
            <a:r>
              <a:rPr lang="en-US" sz="2000" dirty="0" smtClean="0">
                <a:latin typeface="Times New Roman" pitchFamily="18" charset="0"/>
                <a:cs typeface="Times New Roman" pitchFamily="18" charset="0"/>
              </a:rPr>
              <a:t> Consider the following queue of characters, where QUEUE is a circular array which is allocated six memory cells:</a:t>
            </a:r>
          </a:p>
          <a:p>
            <a:pPr algn="just">
              <a:spcBef>
                <a:spcPts val="1200"/>
              </a:spcBef>
              <a:buNone/>
            </a:pPr>
            <a:r>
              <a:rPr lang="en-US" sz="2000" dirty="0" smtClean="0">
                <a:latin typeface="Times New Roman" pitchFamily="18" charset="0"/>
                <a:cs typeface="Times New Roman" pitchFamily="18" charset="0"/>
              </a:rPr>
              <a:t>            FRONT=2,     REAR=4     QUEUE:   -, A, C, D, -, -</a:t>
            </a:r>
          </a:p>
          <a:p>
            <a:pPr algn="just">
              <a:spcBef>
                <a:spcPts val="1200"/>
              </a:spcBef>
              <a:buNone/>
            </a:pPr>
            <a:r>
              <a:rPr lang="en-US" sz="2000" dirty="0" smtClean="0">
                <a:latin typeface="Times New Roman" pitchFamily="18" charset="0"/>
                <a:cs typeface="Times New Roman" pitchFamily="18" charset="0"/>
              </a:rPr>
              <a:t>	Describe the queue as the following operations take place:</a:t>
            </a:r>
          </a:p>
          <a:p>
            <a:pPr algn="just">
              <a:spcBef>
                <a:spcPts val="1200"/>
              </a:spcBef>
              <a:buNone/>
            </a:pPr>
            <a:r>
              <a:rPr lang="en-US" sz="1800" dirty="0" smtClean="0">
                <a:latin typeface="Times New Roman" pitchFamily="18" charset="0"/>
                <a:cs typeface="Times New Roman" pitchFamily="18" charset="0"/>
              </a:rPr>
              <a:t>          </a:t>
            </a:r>
            <a:r>
              <a:rPr lang="en-US" sz="1800" i="1" dirty="0" err="1" smtClean="0">
                <a:latin typeface="Times New Roman" pitchFamily="18" charset="0"/>
                <a:cs typeface="Times New Roman" pitchFamily="18" charset="0"/>
              </a:rPr>
              <a:t>i</a:t>
            </a:r>
            <a:r>
              <a:rPr lang="en-US" sz="1800" i="1" dirty="0" smtClean="0">
                <a:latin typeface="Times New Roman" pitchFamily="18" charset="0"/>
                <a:cs typeface="Times New Roman" pitchFamily="18" charset="0"/>
              </a:rPr>
              <a:t>)</a:t>
            </a:r>
            <a:r>
              <a:rPr lang="en-US" sz="1800" dirty="0" smtClean="0">
                <a:latin typeface="Times New Roman" pitchFamily="18" charset="0"/>
                <a:cs typeface="Times New Roman" pitchFamily="18" charset="0"/>
              </a:rPr>
              <a:t> F is added to the queue.		</a:t>
            </a:r>
            <a:r>
              <a:rPr lang="en-US" sz="1800" i="1" dirty="0" smtClean="0">
                <a:latin typeface="Times New Roman" pitchFamily="18" charset="0"/>
                <a:cs typeface="Times New Roman" pitchFamily="18" charset="0"/>
              </a:rPr>
              <a:t>vi)</a:t>
            </a:r>
            <a:r>
              <a:rPr lang="en-US" sz="1800" dirty="0" smtClean="0">
                <a:latin typeface="Times New Roman" pitchFamily="18" charset="0"/>
                <a:cs typeface="Times New Roman" pitchFamily="18" charset="0"/>
              </a:rPr>
              <a:t> Two letters are deleted.</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ii)</a:t>
            </a:r>
            <a:r>
              <a:rPr lang="en-US" sz="1800" dirty="0" smtClean="0">
                <a:latin typeface="Times New Roman" pitchFamily="18" charset="0"/>
                <a:cs typeface="Times New Roman" pitchFamily="18" charset="0"/>
              </a:rPr>
              <a:t> Two letters are deleted.		</a:t>
            </a:r>
            <a:r>
              <a:rPr lang="en-US" sz="1800" i="1" dirty="0" smtClean="0">
                <a:latin typeface="Times New Roman" pitchFamily="18" charset="0"/>
                <a:cs typeface="Times New Roman" pitchFamily="18" charset="0"/>
              </a:rPr>
              <a:t>vii)</a:t>
            </a:r>
            <a:r>
              <a:rPr lang="en-US" sz="1800" dirty="0" smtClean="0">
                <a:latin typeface="Times New Roman" pitchFamily="18" charset="0"/>
                <a:cs typeface="Times New Roman" pitchFamily="18" charset="0"/>
              </a:rPr>
              <a:t> S is added to the queue.</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iii)</a:t>
            </a:r>
            <a:r>
              <a:rPr lang="en-US" sz="1800" dirty="0" smtClean="0">
                <a:latin typeface="Times New Roman" pitchFamily="18" charset="0"/>
                <a:cs typeface="Times New Roman" pitchFamily="18" charset="0"/>
              </a:rPr>
              <a:t> K, L, and M are added to the queue.	</a:t>
            </a:r>
            <a:r>
              <a:rPr lang="en-US" sz="1800" i="1" dirty="0" smtClean="0">
                <a:latin typeface="Times New Roman" pitchFamily="18" charset="0"/>
                <a:cs typeface="Times New Roman" pitchFamily="18" charset="0"/>
              </a:rPr>
              <a:t>viii)</a:t>
            </a:r>
            <a:r>
              <a:rPr lang="en-US" sz="1800" dirty="0" smtClean="0">
                <a:latin typeface="Times New Roman" pitchFamily="18" charset="0"/>
                <a:cs typeface="Times New Roman" pitchFamily="18" charset="0"/>
              </a:rPr>
              <a:t> Two letters are deleted.</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iv)</a:t>
            </a:r>
            <a:r>
              <a:rPr lang="en-US" sz="1800" dirty="0" smtClean="0">
                <a:latin typeface="Times New Roman" pitchFamily="18" charset="0"/>
                <a:cs typeface="Times New Roman" pitchFamily="18" charset="0"/>
              </a:rPr>
              <a:t> Two letters are deleted.		</a:t>
            </a:r>
            <a:r>
              <a:rPr lang="en-US" sz="1800" i="1" dirty="0" smtClean="0">
                <a:latin typeface="Times New Roman" pitchFamily="18" charset="0"/>
                <a:cs typeface="Times New Roman" pitchFamily="18" charset="0"/>
              </a:rPr>
              <a:t>ix)</a:t>
            </a:r>
            <a:r>
              <a:rPr lang="en-US" sz="1800" dirty="0" smtClean="0">
                <a:latin typeface="Times New Roman" pitchFamily="18" charset="0"/>
                <a:cs typeface="Times New Roman" pitchFamily="18" charset="0"/>
              </a:rPr>
              <a:t> One letter is deleted.</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v)</a:t>
            </a:r>
            <a:r>
              <a:rPr lang="en-US" sz="1800" dirty="0" smtClean="0">
                <a:latin typeface="Times New Roman" pitchFamily="18" charset="0"/>
                <a:cs typeface="Times New Roman" pitchFamily="18" charset="0"/>
              </a:rPr>
              <a:t> R is added to the queue.		</a:t>
            </a:r>
            <a:r>
              <a:rPr lang="en-US" sz="1800" i="1" dirty="0" smtClean="0">
                <a:latin typeface="Times New Roman" pitchFamily="18" charset="0"/>
                <a:cs typeface="Times New Roman" pitchFamily="18" charset="0"/>
              </a:rPr>
              <a:t>x)</a:t>
            </a:r>
            <a:r>
              <a:rPr lang="en-US" sz="1800" dirty="0" smtClean="0">
                <a:latin typeface="Times New Roman" pitchFamily="18" charset="0"/>
                <a:cs typeface="Times New Roman" pitchFamily="18" charset="0"/>
              </a:rPr>
              <a:t> One letter is deleted.</a:t>
            </a:r>
          </a:p>
          <a:p>
            <a:pPr algn="just">
              <a:spcBef>
                <a:spcPts val="1200"/>
              </a:spcBef>
              <a:buNone/>
            </a:pPr>
            <a:r>
              <a:rPr lang="en-US" sz="1800" b="1" dirty="0" smtClean="0">
                <a:latin typeface="Times New Roman" pitchFamily="18" charset="0"/>
                <a:cs typeface="Times New Roman" pitchFamily="18" charset="0"/>
              </a:rPr>
              <a:t>	Solution: </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iv)</a:t>
            </a:r>
            <a:r>
              <a:rPr lang="en-US" sz="1800" dirty="0" smtClean="0">
                <a:latin typeface="Times New Roman" pitchFamily="18" charset="0"/>
                <a:cs typeface="Times New Roman" pitchFamily="18" charset="0"/>
              </a:rPr>
              <a:t> FRONT=6,     REAR=2     QUEUE:  L, M, -, -, -, K</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v)</a:t>
            </a:r>
            <a:r>
              <a:rPr lang="en-US" sz="1800" dirty="0" smtClean="0">
                <a:latin typeface="Times New Roman" pitchFamily="18" charset="0"/>
                <a:cs typeface="Times New Roman" pitchFamily="18" charset="0"/>
              </a:rPr>
              <a:t> FRONT=6,     REAR=3     QUEUE:  L, M, R, -, -, K</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vi)</a:t>
            </a:r>
            <a:r>
              <a:rPr lang="en-US" sz="1800" dirty="0" smtClean="0">
                <a:latin typeface="Times New Roman" pitchFamily="18" charset="0"/>
                <a:cs typeface="Times New Roman" pitchFamily="18" charset="0"/>
              </a:rPr>
              <a:t> FRONT=2,     REAR=3     QUEUE:  -, M, R, -, -, -</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35</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182624"/>
            <a:ext cx="8229600" cy="4953000"/>
          </a:xfrm>
          <a:prstGeom prst="rect">
            <a:avLst/>
          </a:prstGeom>
        </p:spPr>
        <p:txBody>
          <a:bodyPr/>
          <a:lstStyle/>
          <a:p>
            <a:pPr algn="just">
              <a:spcBef>
                <a:spcPts val="1200"/>
              </a:spcBef>
              <a:buFont typeface="Wingdings" pitchFamily="2" charset="2"/>
              <a:buChar char="q"/>
            </a:pPr>
            <a:r>
              <a:rPr lang="en-US" sz="2000" b="1" dirty="0" smtClean="0">
                <a:latin typeface="Times New Roman" pitchFamily="18" charset="0"/>
                <a:cs typeface="Times New Roman" pitchFamily="18" charset="0"/>
              </a:rPr>
              <a:t>Solved Problem 6.22:</a:t>
            </a:r>
            <a:r>
              <a:rPr lang="en-US" sz="2000" dirty="0" smtClean="0">
                <a:latin typeface="Times New Roman" pitchFamily="18" charset="0"/>
                <a:cs typeface="Times New Roman" pitchFamily="18" charset="0"/>
              </a:rPr>
              <a:t> Consider the following queue of characters, where QUEUE is a circular array which is allocated six memory cells:</a:t>
            </a:r>
          </a:p>
          <a:p>
            <a:pPr algn="just">
              <a:spcBef>
                <a:spcPts val="1200"/>
              </a:spcBef>
              <a:buNone/>
            </a:pPr>
            <a:r>
              <a:rPr lang="en-US" sz="2000" dirty="0" smtClean="0">
                <a:latin typeface="Times New Roman" pitchFamily="18" charset="0"/>
                <a:cs typeface="Times New Roman" pitchFamily="18" charset="0"/>
              </a:rPr>
              <a:t>            FRONT=2,     REAR=4     QUEUE:   -, A, C, D, -, -</a:t>
            </a:r>
          </a:p>
          <a:p>
            <a:pPr algn="just">
              <a:spcBef>
                <a:spcPts val="1200"/>
              </a:spcBef>
              <a:buNone/>
            </a:pPr>
            <a:r>
              <a:rPr lang="en-US" sz="2000" dirty="0" smtClean="0">
                <a:latin typeface="Times New Roman" pitchFamily="18" charset="0"/>
                <a:cs typeface="Times New Roman" pitchFamily="18" charset="0"/>
              </a:rPr>
              <a:t>	Describe the queue as the following operations take place:</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ii)</a:t>
            </a:r>
            <a:r>
              <a:rPr lang="en-US" sz="1800" dirty="0" smtClean="0">
                <a:latin typeface="Times New Roman" pitchFamily="18" charset="0"/>
                <a:cs typeface="Times New Roman" pitchFamily="18" charset="0"/>
              </a:rPr>
              <a:t> Two letters are deleted.		</a:t>
            </a:r>
            <a:r>
              <a:rPr lang="en-US" sz="1800" i="1" dirty="0" smtClean="0">
                <a:latin typeface="Times New Roman" pitchFamily="18" charset="0"/>
                <a:cs typeface="Times New Roman" pitchFamily="18" charset="0"/>
              </a:rPr>
              <a:t>vii)</a:t>
            </a:r>
            <a:r>
              <a:rPr lang="en-US" sz="1800" dirty="0" smtClean="0">
                <a:latin typeface="Times New Roman" pitchFamily="18" charset="0"/>
                <a:cs typeface="Times New Roman" pitchFamily="18" charset="0"/>
              </a:rPr>
              <a:t> S is added to the queue.</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iii)</a:t>
            </a:r>
            <a:r>
              <a:rPr lang="en-US" sz="1800" dirty="0" smtClean="0">
                <a:latin typeface="Times New Roman" pitchFamily="18" charset="0"/>
                <a:cs typeface="Times New Roman" pitchFamily="18" charset="0"/>
              </a:rPr>
              <a:t> K, L, and M are added to the queue.	</a:t>
            </a:r>
            <a:r>
              <a:rPr lang="en-US" sz="1800" i="1" dirty="0" smtClean="0">
                <a:latin typeface="Times New Roman" pitchFamily="18" charset="0"/>
                <a:cs typeface="Times New Roman" pitchFamily="18" charset="0"/>
              </a:rPr>
              <a:t>viii)</a:t>
            </a:r>
            <a:r>
              <a:rPr lang="en-US" sz="1800" dirty="0" smtClean="0">
                <a:latin typeface="Times New Roman" pitchFamily="18" charset="0"/>
                <a:cs typeface="Times New Roman" pitchFamily="18" charset="0"/>
              </a:rPr>
              <a:t> Two letters are deleted.</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iv)</a:t>
            </a:r>
            <a:r>
              <a:rPr lang="en-US" sz="1800" dirty="0" smtClean="0">
                <a:latin typeface="Times New Roman" pitchFamily="18" charset="0"/>
                <a:cs typeface="Times New Roman" pitchFamily="18" charset="0"/>
              </a:rPr>
              <a:t> Two letters are deleted.		</a:t>
            </a:r>
            <a:r>
              <a:rPr lang="en-US" sz="1800" i="1" dirty="0" smtClean="0">
                <a:latin typeface="Times New Roman" pitchFamily="18" charset="0"/>
                <a:cs typeface="Times New Roman" pitchFamily="18" charset="0"/>
              </a:rPr>
              <a:t>ix)</a:t>
            </a:r>
            <a:r>
              <a:rPr lang="en-US" sz="1800" dirty="0" smtClean="0">
                <a:latin typeface="Times New Roman" pitchFamily="18" charset="0"/>
                <a:cs typeface="Times New Roman" pitchFamily="18" charset="0"/>
              </a:rPr>
              <a:t> One letter is deleted.</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v)</a:t>
            </a:r>
            <a:r>
              <a:rPr lang="en-US" sz="1800" dirty="0" smtClean="0">
                <a:latin typeface="Times New Roman" pitchFamily="18" charset="0"/>
                <a:cs typeface="Times New Roman" pitchFamily="18" charset="0"/>
              </a:rPr>
              <a:t> R is added to the queue.		</a:t>
            </a:r>
            <a:r>
              <a:rPr lang="en-US" sz="1800" i="1" dirty="0" smtClean="0">
                <a:latin typeface="Times New Roman" pitchFamily="18" charset="0"/>
                <a:cs typeface="Times New Roman" pitchFamily="18" charset="0"/>
              </a:rPr>
              <a:t>x)</a:t>
            </a:r>
            <a:r>
              <a:rPr lang="en-US" sz="1800" dirty="0" smtClean="0">
                <a:latin typeface="Times New Roman" pitchFamily="18" charset="0"/>
                <a:cs typeface="Times New Roman" pitchFamily="18" charset="0"/>
              </a:rPr>
              <a:t> One letter is deleted.</a:t>
            </a:r>
          </a:p>
          <a:p>
            <a:pPr algn="just">
              <a:spcBef>
                <a:spcPts val="1200"/>
              </a:spcBef>
              <a:buNone/>
            </a:pPr>
            <a:r>
              <a:rPr lang="en-US" sz="1800" b="1" dirty="0" smtClean="0">
                <a:latin typeface="Times New Roman" pitchFamily="18" charset="0"/>
                <a:cs typeface="Times New Roman" pitchFamily="18" charset="0"/>
              </a:rPr>
              <a:t>	Solution: </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vii)</a:t>
            </a:r>
            <a:r>
              <a:rPr lang="en-US" sz="1800" dirty="0" smtClean="0">
                <a:latin typeface="Times New Roman" pitchFamily="18" charset="0"/>
                <a:cs typeface="Times New Roman" pitchFamily="18" charset="0"/>
              </a:rPr>
              <a:t> FRONT=2,     REAR=4     QUEUE:  -, M, R, S, -, -</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viii)</a:t>
            </a:r>
            <a:r>
              <a:rPr lang="en-US" sz="1800" dirty="0" smtClean="0">
                <a:latin typeface="Times New Roman" pitchFamily="18" charset="0"/>
                <a:cs typeface="Times New Roman" pitchFamily="18" charset="0"/>
              </a:rPr>
              <a:t> FRONT=4,     REAR=4     QUEUE:  -, -, -, S, -, -</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ix)</a:t>
            </a:r>
            <a:r>
              <a:rPr lang="en-US" sz="1800" dirty="0" smtClean="0">
                <a:latin typeface="Times New Roman" pitchFamily="18" charset="0"/>
                <a:cs typeface="Times New Roman" pitchFamily="18" charset="0"/>
              </a:rPr>
              <a:t> FRONT=0,     REAR=0     QUEUE:  -, -, -, -, -, -</a:t>
            </a:r>
          </a:p>
          <a:p>
            <a:pPr algn="just">
              <a:spcBef>
                <a:spcPts val="1200"/>
              </a:spcBef>
              <a:buNone/>
            </a:pPr>
            <a:r>
              <a:rPr lang="en-US" sz="1800" dirty="0" smtClean="0">
                <a:latin typeface="Times New Roman" pitchFamily="18" charset="0"/>
                <a:cs typeface="Times New Roman" pitchFamily="18" charset="0"/>
              </a:rPr>
              <a:t>		 </a:t>
            </a:r>
            <a:r>
              <a:rPr lang="en-US" sz="1800" i="1" dirty="0" smtClean="0">
                <a:latin typeface="Times New Roman" pitchFamily="18" charset="0"/>
                <a:cs typeface="Times New Roman" pitchFamily="18" charset="0"/>
              </a:rPr>
              <a:t>x)</a:t>
            </a:r>
            <a:r>
              <a:rPr lang="en-US" sz="1800" dirty="0" smtClean="0">
                <a:latin typeface="Times New Roman" pitchFamily="18" charset="0"/>
                <a:cs typeface="Times New Roman" pitchFamily="18" charset="0"/>
              </a:rPr>
              <a:t> Queue is empty. Underflow has occurred.</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36</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524000"/>
            <a:ext cx="8229600" cy="4800600"/>
          </a:xfrm>
          <a:prstGeom prst="rect">
            <a:avLst/>
          </a:prstGeom>
        </p:spPr>
        <p:txBody>
          <a:bodyPr/>
          <a:lstStyle/>
          <a:p>
            <a:pPr algn="just">
              <a:spcBef>
                <a:spcPts val="1200"/>
              </a:spcBef>
              <a:buFont typeface="Wingdings" pitchFamily="2" charset="2"/>
              <a:buChar char="q"/>
            </a:pPr>
            <a:r>
              <a:rPr lang="en-US" sz="2000" b="1" dirty="0" smtClean="0">
                <a:latin typeface="Times New Roman" pitchFamily="18" charset="0"/>
                <a:cs typeface="Times New Roman" pitchFamily="18" charset="0"/>
              </a:rPr>
              <a:t>DEQUES </a:t>
            </a:r>
            <a:endParaRPr lang="en-US" sz="2000" dirty="0" smtClean="0">
              <a:latin typeface="Times New Roman" pitchFamily="18" charset="0"/>
              <a:cs typeface="Times New Roman" pitchFamily="18" charset="0"/>
            </a:endParaRPr>
          </a:p>
          <a:p>
            <a:pPr algn="just">
              <a:spcBef>
                <a:spcPts val="1200"/>
              </a:spcBef>
            </a:pPr>
            <a:endParaRPr lang="en-US" sz="900" dirty="0" smtClean="0">
              <a:latin typeface="Times New Roman" pitchFamily="18" charset="0"/>
              <a:cs typeface="Times New Roman" pitchFamily="18" charset="0"/>
            </a:endParaRPr>
          </a:p>
          <a:p>
            <a:pPr lvl="1" algn="just">
              <a:spcBef>
                <a:spcPts val="1200"/>
              </a:spcBef>
            </a:pPr>
            <a:r>
              <a:rPr lang="en-US" sz="2000" dirty="0" smtClean="0">
                <a:latin typeface="Times New Roman" pitchFamily="18" charset="0"/>
                <a:cs typeface="Times New Roman" pitchFamily="18" charset="0"/>
              </a:rPr>
              <a:t>A </a:t>
            </a:r>
            <a:r>
              <a:rPr lang="en-US" sz="2000" i="1"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 is a linear list in which </a:t>
            </a:r>
            <a:r>
              <a:rPr lang="en-US" sz="2000" dirty="0" smtClean="0">
                <a:solidFill>
                  <a:srgbClr val="00B050"/>
                </a:solidFill>
                <a:latin typeface="Times New Roman" pitchFamily="18" charset="0"/>
                <a:cs typeface="Times New Roman" pitchFamily="18" charset="0"/>
              </a:rPr>
              <a:t>elements can be added or removed at either end </a:t>
            </a:r>
            <a:r>
              <a:rPr lang="en-US" sz="2000" dirty="0" smtClean="0">
                <a:latin typeface="Times New Roman" pitchFamily="18" charset="0"/>
                <a:cs typeface="Times New Roman" pitchFamily="18" charset="0"/>
              </a:rPr>
              <a:t>but not in the middle. The term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 is a contraction of the name </a:t>
            </a:r>
            <a:r>
              <a:rPr lang="en-US" sz="2000" i="1" dirty="0" smtClean="0">
                <a:latin typeface="Times New Roman" pitchFamily="18" charset="0"/>
                <a:cs typeface="Times New Roman" pitchFamily="18" charset="0"/>
              </a:rPr>
              <a:t>double-ended queue. </a:t>
            </a:r>
          </a:p>
          <a:p>
            <a:pPr lvl="1" algn="just">
              <a:spcBef>
                <a:spcPts val="1200"/>
              </a:spcBef>
            </a:pP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 is maintained in memory by a circular array </a:t>
            </a:r>
            <a:r>
              <a:rPr lang="en-US" sz="2000" dirty="0" smtClean="0">
                <a:solidFill>
                  <a:srgbClr val="FF0000"/>
                </a:solidFill>
                <a:latin typeface="Times New Roman" pitchFamily="18" charset="0"/>
                <a:cs typeface="Times New Roman" pitchFamily="18" charset="0"/>
              </a:rPr>
              <a:t>DEQUE</a:t>
            </a:r>
            <a:r>
              <a:rPr lang="en-US" sz="2000" dirty="0" smtClean="0">
                <a:latin typeface="Times New Roman" pitchFamily="18" charset="0"/>
                <a:cs typeface="Times New Roman" pitchFamily="18" charset="0"/>
              </a:rPr>
              <a:t> with pointers </a:t>
            </a:r>
            <a:r>
              <a:rPr lang="en-US" sz="2000" dirty="0" smtClean="0">
                <a:solidFill>
                  <a:srgbClr val="FF0000"/>
                </a:solidFill>
                <a:latin typeface="Times New Roman" pitchFamily="18" charset="0"/>
                <a:cs typeface="Times New Roman" pitchFamily="18" charset="0"/>
              </a:rPr>
              <a:t>LEFT</a:t>
            </a:r>
            <a:r>
              <a:rPr lang="en-US" sz="2000" dirty="0" smtClean="0">
                <a:latin typeface="Times New Roman" pitchFamily="18" charset="0"/>
                <a:cs typeface="Times New Roman" pitchFamily="18" charset="0"/>
              </a:rPr>
              <a:t> and </a:t>
            </a:r>
            <a:r>
              <a:rPr lang="en-US" sz="2000" dirty="0" smtClean="0">
                <a:solidFill>
                  <a:srgbClr val="FF0000"/>
                </a:solidFill>
                <a:latin typeface="Times New Roman" pitchFamily="18" charset="0"/>
                <a:cs typeface="Times New Roman" pitchFamily="18" charset="0"/>
              </a:rPr>
              <a:t>RIGHT</a:t>
            </a:r>
            <a:r>
              <a:rPr lang="en-US" sz="2000" dirty="0" smtClean="0">
                <a:latin typeface="Times New Roman" pitchFamily="18" charset="0"/>
                <a:cs typeface="Times New Roman" pitchFamily="18" charset="0"/>
              </a:rPr>
              <a:t>, which point to the two ends of the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a:t>
            </a:r>
          </a:p>
          <a:p>
            <a:pPr lvl="1" algn="just">
              <a:spcBef>
                <a:spcPts val="1200"/>
              </a:spcBef>
            </a:pPr>
            <a:r>
              <a:rPr lang="en-US" sz="2000" dirty="0" smtClean="0">
                <a:latin typeface="Times New Roman" pitchFamily="18" charset="0"/>
                <a:cs typeface="Times New Roman" pitchFamily="18" charset="0"/>
              </a:rPr>
              <a:t>Elements extend from the left end to the right end in the array. </a:t>
            </a:r>
          </a:p>
          <a:p>
            <a:pPr lvl="1" algn="just">
              <a:spcBef>
                <a:spcPts val="1200"/>
              </a:spcBef>
            </a:pPr>
            <a:r>
              <a:rPr lang="en-US" sz="2000" dirty="0" smtClean="0">
                <a:latin typeface="Times New Roman" pitchFamily="18" charset="0"/>
                <a:cs typeface="Times New Roman" pitchFamily="18" charset="0"/>
              </a:rPr>
              <a:t>Figure pictures two </a:t>
            </a:r>
            <a:r>
              <a:rPr lang="en-US" sz="2000" dirty="0" err="1" smtClean="0">
                <a:latin typeface="Times New Roman" pitchFamily="18" charset="0"/>
                <a:cs typeface="Times New Roman" pitchFamily="18" charset="0"/>
              </a:rPr>
              <a:t>deques</a:t>
            </a:r>
            <a:r>
              <a:rPr lang="en-US" sz="2000" dirty="0" smtClean="0">
                <a:latin typeface="Times New Roman" pitchFamily="18" charset="0"/>
                <a:cs typeface="Times New Roman" pitchFamily="18" charset="0"/>
              </a:rPr>
              <a:t>, each with 4 elements maintained in an array with N = 8 memory locations.</a:t>
            </a:r>
          </a:p>
          <a:p>
            <a:pPr lvl="1" algn="just">
              <a:spcBef>
                <a:spcPts val="1200"/>
              </a:spcBef>
            </a:pPr>
            <a:r>
              <a:rPr lang="en-US" sz="2000" dirty="0" smtClean="0">
                <a:latin typeface="Times New Roman" pitchFamily="18" charset="0"/>
                <a:cs typeface="Times New Roman" pitchFamily="18" charset="0"/>
              </a:rPr>
              <a:t>LEFT = NULL indicates that a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 is empty. </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37</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524000"/>
            <a:ext cx="8229600" cy="48006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DEQUES </a:t>
            </a:r>
            <a:endParaRPr lang="en-US" sz="2000" dirty="0" smtClean="0">
              <a:latin typeface="Times New Roman" pitchFamily="18" charset="0"/>
              <a:cs typeface="Times New Roman" pitchFamily="18" charset="0"/>
            </a:endParaRPr>
          </a:p>
          <a:p>
            <a:pPr>
              <a:buNone/>
            </a:pPr>
            <a:endParaRPr lang="en-US" sz="2000" i="1" dirty="0" smtClean="0">
              <a:latin typeface="Times New Roman" pitchFamily="18" charset="0"/>
              <a:cs typeface="Times New Roman" pitchFamily="18" charset="0"/>
            </a:endParaRPr>
          </a:p>
          <a:p>
            <a:pPr>
              <a:buNone/>
            </a:pPr>
            <a:endParaRPr lang="en-US" sz="2000" i="1"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38</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 name="Picture 9"/>
          <p:cNvPicPr/>
          <p:nvPr/>
        </p:nvPicPr>
        <p:blipFill>
          <a:blip r:embed="rId4"/>
          <a:srcRect/>
          <a:stretch>
            <a:fillRect/>
          </a:stretch>
        </p:blipFill>
        <p:spPr bwMode="auto">
          <a:xfrm>
            <a:off x="1447800" y="2057400"/>
            <a:ext cx="6248400" cy="3810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524000"/>
            <a:ext cx="8229600" cy="4800600"/>
          </a:xfrm>
          <a:prstGeom prst="rect">
            <a:avLst/>
          </a:prstGeom>
        </p:spPr>
        <p:txBody>
          <a:bodyPr/>
          <a:lstStyle/>
          <a:p>
            <a:pPr algn="just">
              <a:spcBef>
                <a:spcPts val="1200"/>
              </a:spcBef>
              <a:buFont typeface="Wingdings" pitchFamily="2" charset="2"/>
              <a:buChar char="q"/>
            </a:pPr>
            <a:r>
              <a:rPr lang="en-US" sz="2000" b="1" dirty="0" smtClean="0">
                <a:latin typeface="Times New Roman" pitchFamily="18" charset="0"/>
                <a:cs typeface="Times New Roman" pitchFamily="18" charset="0"/>
              </a:rPr>
              <a:t>DEQUES </a:t>
            </a:r>
            <a:endParaRPr lang="en-US" sz="2000" dirty="0" smtClean="0">
              <a:latin typeface="Times New Roman" pitchFamily="18" charset="0"/>
              <a:cs typeface="Times New Roman" pitchFamily="18" charset="0"/>
            </a:endParaRPr>
          </a:p>
          <a:p>
            <a:pPr algn="just">
              <a:spcBef>
                <a:spcPts val="1200"/>
              </a:spcBef>
            </a:pPr>
            <a:endParaRPr lang="en-US" sz="700" i="1" dirty="0" smtClean="0">
              <a:latin typeface="Times New Roman" pitchFamily="18" charset="0"/>
              <a:cs typeface="Times New Roman" pitchFamily="18" charset="0"/>
            </a:endParaRPr>
          </a:p>
          <a:p>
            <a:pPr algn="just">
              <a:spcBef>
                <a:spcPts val="1200"/>
              </a:spcBef>
              <a:buNone/>
            </a:pPr>
            <a:r>
              <a:rPr lang="en-US" sz="2000" dirty="0" smtClean="0">
                <a:latin typeface="Times New Roman" pitchFamily="18" charset="0"/>
                <a:cs typeface="Times New Roman" pitchFamily="18" charset="0"/>
              </a:rPr>
              <a:t>	There are two variations of a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a:t>
            </a:r>
          </a:p>
          <a:p>
            <a:pPr lvl="1" algn="just">
              <a:spcBef>
                <a:spcPts val="1200"/>
              </a:spcBef>
            </a:pPr>
            <a:r>
              <a:rPr lang="en-US" sz="2000" b="1" dirty="0" smtClean="0">
                <a:latin typeface="Times New Roman" pitchFamily="18" charset="0"/>
                <a:cs typeface="Times New Roman" pitchFamily="18" charset="0"/>
              </a:rPr>
              <a:t>An input-restricted </a:t>
            </a:r>
            <a:r>
              <a:rPr lang="en-US" sz="2000" b="1" dirty="0" err="1" smtClean="0">
                <a:latin typeface="Times New Roman" pitchFamily="18" charset="0"/>
                <a:cs typeface="Times New Roman" pitchFamily="18" charset="0"/>
              </a:rPr>
              <a:t>deque</a:t>
            </a:r>
            <a:endParaRPr lang="en-US" sz="2000" b="1" dirty="0" smtClean="0">
              <a:latin typeface="Times New Roman" pitchFamily="18" charset="0"/>
              <a:cs typeface="Times New Roman" pitchFamily="18" charset="0"/>
            </a:endParaRPr>
          </a:p>
          <a:p>
            <a:pPr lvl="1" algn="just">
              <a:spcBef>
                <a:spcPts val="1200"/>
              </a:spcBef>
              <a:buNone/>
            </a:pPr>
            <a:r>
              <a:rPr lang="en-US" sz="2000" dirty="0" smtClean="0">
                <a:latin typeface="Times New Roman" pitchFamily="18" charset="0"/>
                <a:cs typeface="Times New Roman" pitchFamily="18" charset="0"/>
              </a:rPr>
              <a:t>	An input-restricted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 is a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 which </a:t>
            </a:r>
            <a:r>
              <a:rPr lang="en-US" sz="2000" dirty="0" smtClean="0">
                <a:solidFill>
                  <a:srgbClr val="FF0000"/>
                </a:solidFill>
                <a:latin typeface="Times New Roman" pitchFamily="18" charset="0"/>
                <a:cs typeface="Times New Roman" pitchFamily="18" charset="0"/>
              </a:rPr>
              <a:t>allows insertions at only one end </a:t>
            </a:r>
            <a:r>
              <a:rPr lang="en-US" sz="2000" dirty="0" smtClean="0">
                <a:latin typeface="Times New Roman" pitchFamily="18" charset="0"/>
                <a:cs typeface="Times New Roman" pitchFamily="18" charset="0"/>
              </a:rPr>
              <a:t>of the list but allows deletions at both ends of the list.</a:t>
            </a:r>
          </a:p>
          <a:p>
            <a:pPr lvl="1" algn="just">
              <a:spcBef>
                <a:spcPts val="1200"/>
              </a:spcBef>
              <a:buNone/>
            </a:pPr>
            <a:endParaRPr lang="en-US" sz="2000" dirty="0" smtClean="0">
              <a:latin typeface="Times New Roman" pitchFamily="18" charset="0"/>
              <a:cs typeface="Times New Roman" pitchFamily="18" charset="0"/>
            </a:endParaRPr>
          </a:p>
          <a:p>
            <a:pPr lvl="1" algn="just">
              <a:spcBef>
                <a:spcPts val="1200"/>
              </a:spcBef>
            </a:pPr>
            <a:r>
              <a:rPr lang="en-US" sz="2000" b="1" dirty="0" smtClean="0">
                <a:latin typeface="Times New Roman" pitchFamily="18" charset="0"/>
                <a:cs typeface="Times New Roman" pitchFamily="18" charset="0"/>
              </a:rPr>
              <a:t>An output-restricted </a:t>
            </a:r>
            <a:r>
              <a:rPr lang="en-US" sz="2000" b="1" dirty="0" err="1" smtClean="0">
                <a:latin typeface="Times New Roman" pitchFamily="18" charset="0"/>
                <a:cs typeface="Times New Roman" pitchFamily="18" charset="0"/>
              </a:rPr>
              <a:t>deque</a:t>
            </a:r>
            <a:endParaRPr lang="en-US" sz="2000" b="1" dirty="0" smtClean="0">
              <a:latin typeface="Times New Roman" pitchFamily="18" charset="0"/>
              <a:cs typeface="Times New Roman" pitchFamily="18" charset="0"/>
            </a:endParaRPr>
          </a:p>
          <a:p>
            <a:pPr lvl="1" algn="just">
              <a:spcBef>
                <a:spcPts val="1200"/>
              </a:spcBef>
              <a:buNone/>
            </a:pPr>
            <a:r>
              <a:rPr lang="en-US" sz="2000" dirty="0" smtClean="0">
                <a:latin typeface="Times New Roman" pitchFamily="18" charset="0"/>
                <a:cs typeface="Times New Roman" pitchFamily="18" charset="0"/>
              </a:rPr>
              <a:t>	An output-restricted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 is a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 which </a:t>
            </a:r>
            <a:r>
              <a:rPr lang="en-US" sz="2000" dirty="0" smtClean="0">
                <a:solidFill>
                  <a:srgbClr val="FF0000"/>
                </a:solidFill>
                <a:latin typeface="Times New Roman" pitchFamily="18" charset="0"/>
                <a:cs typeface="Times New Roman" pitchFamily="18" charset="0"/>
              </a:rPr>
              <a:t>allows deletions at only one end </a:t>
            </a:r>
            <a:r>
              <a:rPr lang="en-US" sz="2000" dirty="0" smtClean="0">
                <a:latin typeface="Times New Roman" pitchFamily="18" charset="0"/>
                <a:cs typeface="Times New Roman" pitchFamily="18" charset="0"/>
              </a:rPr>
              <a:t>of the list but allows insertions at both ends of the list.</a:t>
            </a:r>
            <a:endParaRPr lang="en-US" sz="2000" i="1"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39</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524000"/>
            <a:ext cx="8229600" cy="4800600"/>
          </a:xfrm>
          <a:prstGeom prst="rect">
            <a:avLst/>
          </a:prstGeom>
        </p:spPr>
        <p:txBody>
          <a:bodyPr/>
          <a:lstStyle/>
          <a:p>
            <a:pPr algn="just">
              <a:spcBef>
                <a:spcPts val="1200"/>
              </a:spcBef>
              <a:buFont typeface="Wingdings" pitchFamily="2" charset="2"/>
              <a:buChar char="q"/>
            </a:pPr>
            <a:r>
              <a:rPr lang="en-US" sz="2000" b="1" dirty="0" smtClean="0">
                <a:latin typeface="Times New Roman" pitchFamily="18" charset="0"/>
                <a:cs typeface="Times New Roman" pitchFamily="18" charset="0"/>
              </a:rPr>
              <a:t>Solved Problem 6.24:</a:t>
            </a:r>
            <a:r>
              <a:rPr lang="en-US" sz="2000" dirty="0" smtClean="0">
                <a:latin typeface="Times New Roman" pitchFamily="18" charset="0"/>
                <a:cs typeface="Times New Roman" pitchFamily="18" charset="0"/>
              </a:rPr>
              <a:t> Consider the following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 of characters, where DEQUE is a circular array which is allocated six memory cells:</a:t>
            </a:r>
          </a:p>
          <a:p>
            <a:pPr algn="just">
              <a:spcBef>
                <a:spcPts val="1200"/>
              </a:spcBef>
              <a:buNone/>
            </a:pPr>
            <a:r>
              <a:rPr lang="en-US" sz="2000" dirty="0" smtClean="0">
                <a:latin typeface="Times New Roman" pitchFamily="18" charset="0"/>
                <a:cs typeface="Times New Roman" pitchFamily="18" charset="0"/>
              </a:rPr>
              <a:t>            LEFT=2,     RIGHT=4              DEQUE:   -, A, C, D, -, -</a:t>
            </a:r>
          </a:p>
          <a:p>
            <a:pPr algn="just">
              <a:spcBef>
                <a:spcPts val="1200"/>
              </a:spcBef>
              <a:buNone/>
            </a:pPr>
            <a:r>
              <a:rPr lang="en-US" sz="2000" dirty="0" smtClean="0">
                <a:latin typeface="Times New Roman" pitchFamily="18" charset="0"/>
                <a:cs typeface="Times New Roman" pitchFamily="18" charset="0"/>
              </a:rPr>
              <a:t>	Describe the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 as the following operations take place:</a:t>
            </a:r>
          </a:p>
          <a:p>
            <a:pPr algn="just">
              <a:spcBef>
                <a:spcPts val="1200"/>
              </a:spcBef>
              <a:buNone/>
            </a:pPr>
            <a:r>
              <a:rPr lang="en-US" sz="2000" dirty="0" smtClean="0">
                <a:latin typeface="Times New Roman" pitchFamily="18" charset="0"/>
                <a:cs typeface="Times New Roman" pitchFamily="18" charset="0"/>
              </a:rPr>
              <a:t>		</a:t>
            </a:r>
            <a:r>
              <a:rPr lang="en-US" sz="2000" i="1" dirty="0" err="1"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F is added to the right of the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a:t>
            </a:r>
          </a:p>
          <a:p>
            <a:pPr algn="just">
              <a:spcBef>
                <a:spcPts val="1200"/>
              </a:spcBef>
              <a:buNone/>
            </a:pP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ii)</a:t>
            </a:r>
            <a:r>
              <a:rPr lang="en-US" sz="2000" dirty="0" smtClean="0">
                <a:latin typeface="Times New Roman" pitchFamily="18" charset="0"/>
                <a:cs typeface="Times New Roman" pitchFamily="18" charset="0"/>
              </a:rPr>
              <a:t> Two letters on the right are deleted.</a:t>
            </a:r>
          </a:p>
          <a:p>
            <a:pPr algn="just">
              <a:spcBef>
                <a:spcPts val="1200"/>
              </a:spcBef>
              <a:buNone/>
            </a:pP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iii)</a:t>
            </a:r>
            <a:r>
              <a:rPr lang="en-US" sz="2000" dirty="0" smtClean="0">
                <a:latin typeface="Times New Roman" pitchFamily="18" charset="0"/>
                <a:cs typeface="Times New Roman" pitchFamily="18" charset="0"/>
              </a:rPr>
              <a:t> K, L, and M are added to the left of the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a:t>
            </a:r>
          </a:p>
          <a:p>
            <a:pPr algn="just">
              <a:spcBef>
                <a:spcPts val="1200"/>
              </a:spcBef>
              <a:buNone/>
            </a:pP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iv)</a:t>
            </a:r>
            <a:r>
              <a:rPr lang="en-US" sz="2000" dirty="0" smtClean="0">
                <a:latin typeface="Times New Roman" pitchFamily="18" charset="0"/>
                <a:cs typeface="Times New Roman" pitchFamily="18" charset="0"/>
              </a:rPr>
              <a:t> One letter on the left is deleted.</a:t>
            </a:r>
          </a:p>
          <a:p>
            <a:pPr algn="just">
              <a:spcBef>
                <a:spcPts val="1200"/>
              </a:spcBef>
              <a:buNone/>
            </a:pP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v)</a:t>
            </a:r>
            <a:r>
              <a:rPr lang="en-US" sz="2000" dirty="0" smtClean="0">
                <a:latin typeface="Times New Roman" pitchFamily="18" charset="0"/>
                <a:cs typeface="Times New Roman" pitchFamily="18" charset="0"/>
              </a:rPr>
              <a:t> R is added to the left of the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a:t>
            </a:r>
          </a:p>
          <a:p>
            <a:pPr algn="just">
              <a:spcBef>
                <a:spcPts val="1200"/>
              </a:spcBef>
              <a:buNone/>
            </a:pP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vi)</a:t>
            </a:r>
            <a:r>
              <a:rPr lang="en-US" sz="2000" dirty="0" smtClean="0">
                <a:latin typeface="Times New Roman" pitchFamily="18" charset="0"/>
                <a:cs typeface="Times New Roman" pitchFamily="18" charset="0"/>
              </a:rPr>
              <a:t> S is added to the right of the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a:t>
            </a:r>
          </a:p>
          <a:p>
            <a:pPr algn="just">
              <a:spcBef>
                <a:spcPts val="1200"/>
              </a:spcBef>
              <a:buNone/>
            </a:pP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vii)</a:t>
            </a:r>
            <a:r>
              <a:rPr lang="en-US" sz="2000" dirty="0" smtClean="0">
                <a:latin typeface="Times New Roman" pitchFamily="18" charset="0"/>
                <a:cs typeface="Times New Roman" pitchFamily="18" charset="0"/>
              </a:rPr>
              <a:t> T is added to the right of the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a:t>
            </a:r>
            <a:endParaRPr lang="en-US" sz="2000" i="1"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40</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219200"/>
            <a:ext cx="8229600" cy="4800600"/>
          </a:xfrm>
          <a:prstGeom prst="rect">
            <a:avLst/>
          </a:prstGeom>
        </p:spPr>
        <p:txBody>
          <a:bodyPr/>
          <a:lstStyle/>
          <a:p>
            <a:pPr algn="just">
              <a:spcBef>
                <a:spcPts val="900"/>
              </a:spcBef>
              <a:buFont typeface="Wingdings" pitchFamily="2" charset="2"/>
              <a:buChar char="q"/>
            </a:pPr>
            <a:r>
              <a:rPr lang="en-US" sz="2000" b="1" dirty="0" smtClean="0">
                <a:latin typeface="Times New Roman" pitchFamily="18" charset="0"/>
                <a:cs typeface="Times New Roman" pitchFamily="18" charset="0"/>
              </a:rPr>
              <a:t>Solved Problem 6.24:</a:t>
            </a:r>
            <a:r>
              <a:rPr lang="en-US" sz="2000" dirty="0" smtClean="0">
                <a:latin typeface="Times New Roman" pitchFamily="18" charset="0"/>
                <a:cs typeface="Times New Roman" pitchFamily="18" charset="0"/>
              </a:rPr>
              <a:t> . . .  LEFT=2,  RIGHT=4   DEQUE:   -, A, C, D, -, -</a:t>
            </a:r>
          </a:p>
          <a:p>
            <a:pPr algn="just">
              <a:spcBef>
                <a:spcPts val="900"/>
              </a:spcBef>
              <a:buNone/>
            </a:pPr>
            <a:r>
              <a:rPr lang="en-US" sz="2000" dirty="0" smtClean="0">
                <a:latin typeface="Times New Roman" pitchFamily="18" charset="0"/>
                <a:cs typeface="Times New Roman" pitchFamily="18" charset="0"/>
              </a:rPr>
              <a:t>		</a:t>
            </a:r>
            <a:r>
              <a:rPr lang="en-US" sz="2000" i="1" dirty="0" err="1"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F is added to the right of the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a:t>
            </a:r>
          </a:p>
          <a:p>
            <a:pPr algn="just">
              <a:spcBef>
                <a:spcPts val="900"/>
              </a:spcBef>
              <a:buNone/>
            </a:pP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ii)</a:t>
            </a:r>
            <a:r>
              <a:rPr lang="en-US" sz="2000" dirty="0" smtClean="0">
                <a:latin typeface="Times New Roman" pitchFamily="18" charset="0"/>
                <a:cs typeface="Times New Roman" pitchFamily="18" charset="0"/>
              </a:rPr>
              <a:t> Two letters on the right are deleted.</a:t>
            </a:r>
          </a:p>
          <a:p>
            <a:pPr algn="just">
              <a:spcBef>
                <a:spcPts val="900"/>
              </a:spcBef>
              <a:buNone/>
            </a:pP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iii)</a:t>
            </a:r>
            <a:r>
              <a:rPr lang="en-US" sz="2000" dirty="0" smtClean="0">
                <a:latin typeface="Times New Roman" pitchFamily="18" charset="0"/>
                <a:cs typeface="Times New Roman" pitchFamily="18" charset="0"/>
              </a:rPr>
              <a:t> K, L, and M are added to the left of the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a:t>
            </a:r>
          </a:p>
          <a:p>
            <a:pPr algn="just">
              <a:spcBef>
                <a:spcPts val="900"/>
              </a:spcBef>
              <a:buNone/>
            </a:pP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iv)</a:t>
            </a:r>
            <a:r>
              <a:rPr lang="en-US" sz="2000" dirty="0" smtClean="0">
                <a:latin typeface="Times New Roman" pitchFamily="18" charset="0"/>
                <a:cs typeface="Times New Roman" pitchFamily="18" charset="0"/>
              </a:rPr>
              <a:t> One letter on the left is deleted.</a:t>
            </a:r>
          </a:p>
          <a:p>
            <a:pPr algn="just">
              <a:spcBef>
                <a:spcPts val="900"/>
              </a:spcBef>
              <a:buNone/>
            </a:pP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v)</a:t>
            </a:r>
            <a:r>
              <a:rPr lang="en-US" sz="2000" dirty="0" smtClean="0">
                <a:latin typeface="Times New Roman" pitchFamily="18" charset="0"/>
                <a:cs typeface="Times New Roman" pitchFamily="18" charset="0"/>
              </a:rPr>
              <a:t> R is added to the left of the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a:t>
            </a:r>
          </a:p>
          <a:p>
            <a:pPr algn="just">
              <a:spcBef>
                <a:spcPts val="900"/>
              </a:spcBef>
              <a:buNone/>
            </a:pPr>
            <a:r>
              <a:rPr lang="en-US" sz="2000" dirty="0" smtClean="0">
                <a:latin typeface="Times New Roman" pitchFamily="18" charset="0"/>
                <a:cs typeface="Times New Roman" pitchFamily="18" charset="0"/>
              </a:rPr>
              <a:t>		</a:t>
            </a:r>
          </a:p>
          <a:p>
            <a:pPr algn="just">
              <a:spcBef>
                <a:spcPts val="900"/>
              </a:spcBef>
              <a:buNone/>
            </a:pPr>
            <a:r>
              <a:rPr lang="en-US" sz="2000" i="1" dirty="0" smtClean="0">
                <a:latin typeface="Times New Roman" pitchFamily="18" charset="0"/>
                <a:cs typeface="Times New Roman" pitchFamily="18" charset="0"/>
              </a:rPr>
              <a:t>	</a:t>
            </a:r>
            <a:r>
              <a:rPr lang="en-US" sz="2000" b="1" i="1" dirty="0" smtClean="0">
                <a:latin typeface="Times New Roman" pitchFamily="18" charset="0"/>
                <a:cs typeface="Times New Roman" pitchFamily="18" charset="0"/>
              </a:rPr>
              <a:t>Solution:</a:t>
            </a:r>
          </a:p>
          <a:p>
            <a:pPr algn="just">
              <a:spcBef>
                <a:spcPts val="900"/>
              </a:spcBef>
              <a:buNone/>
            </a:pPr>
            <a:r>
              <a:rPr lang="en-US" sz="2000" i="1" dirty="0" smtClean="0">
                <a:latin typeface="Times New Roman" pitchFamily="18" charset="0"/>
                <a:cs typeface="Times New Roman" pitchFamily="18" charset="0"/>
              </a:rPr>
              <a:t>		</a:t>
            </a:r>
            <a:r>
              <a:rPr lang="en-US" sz="2000" i="1" dirty="0" err="1"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LEFT=2,       RIGHT=5        DEQUE:   -, A, C, D, F, -</a:t>
            </a:r>
          </a:p>
          <a:p>
            <a:pPr algn="just">
              <a:spcBef>
                <a:spcPts val="900"/>
              </a:spcBef>
              <a:buNone/>
            </a:pPr>
            <a:r>
              <a:rPr lang="en-US" sz="2000" i="1" dirty="0" smtClean="0">
                <a:latin typeface="Times New Roman" pitchFamily="18" charset="0"/>
                <a:cs typeface="Times New Roman" pitchFamily="18" charset="0"/>
              </a:rPr>
              <a:t>		ii)</a:t>
            </a:r>
            <a:r>
              <a:rPr lang="en-US" sz="2000" dirty="0" smtClean="0">
                <a:latin typeface="Times New Roman" pitchFamily="18" charset="0"/>
                <a:cs typeface="Times New Roman" pitchFamily="18" charset="0"/>
              </a:rPr>
              <a:t> LEFT=2,       RIGHT=3        DEQUE:   -, A, C, -, -, -</a:t>
            </a:r>
          </a:p>
          <a:p>
            <a:pPr algn="just">
              <a:spcBef>
                <a:spcPts val="900"/>
              </a:spcBef>
              <a:buNone/>
            </a:pPr>
            <a:r>
              <a:rPr lang="en-US" sz="2000" i="1" dirty="0" smtClean="0">
                <a:latin typeface="Times New Roman" pitchFamily="18" charset="0"/>
                <a:cs typeface="Times New Roman" pitchFamily="18" charset="0"/>
              </a:rPr>
              <a:t>		iii)</a:t>
            </a:r>
            <a:r>
              <a:rPr lang="en-US" sz="2000" dirty="0" smtClean="0">
                <a:latin typeface="Times New Roman" pitchFamily="18" charset="0"/>
                <a:cs typeface="Times New Roman" pitchFamily="18" charset="0"/>
              </a:rPr>
              <a:t> LEFT=5,       RIGHT=3        DEQUE:   K, A, C, -, M, L</a:t>
            </a:r>
          </a:p>
          <a:p>
            <a:pPr algn="just">
              <a:spcBef>
                <a:spcPts val="900"/>
              </a:spcBef>
              <a:buNone/>
            </a:pPr>
            <a:r>
              <a:rPr lang="en-US" sz="2000" i="1" dirty="0" smtClean="0">
                <a:latin typeface="Times New Roman" pitchFamily="18" charset="0"/>
                <a:cs typeface="Times New Roman" pitchFamily="18" charset="0"/>
              </a:rPr>
              <a:t>		iv)</a:t>
            </a:r>
            <a:r>
              <a:rPr lang="en-US" sz="2000" dirty="0" smtClean="0">
                <a:latin typeface="Times New Roman" pitchFamily="18" charset="0"/>
                <a:cs typeface="Times New Roman" pitchFamily="18" charset="0"/>
              </a:rPr>
              <a:t> LEFT=6,       RIGHT=3        DEQUE:   K, A, C, -, -, L</a:t>
            </a:r>
          </a:p>
          <a:p>
            <a:pPr algn="just">
              <a:spcBef>
                <a:spcPts val="900"/>
              </a:spcBef>
              <a:buNone/>
            </a:pPr>
            <a:r>
              <a:rPr lang="en-US" sz="2000" i="1" dirty="0" smtClean="0">
                <a:latin typeface="Times New Roman" pitchFamily="18" charset="0"/>
                <a:cs typeface="Times New Roman" pitchFamily="18" charset="0"/>
              </a:rPr>
              <a:t>		v)</a:t>
            </a:r>
            <a:r>
              <a:rPr lang="en-US" sz="2000" dirty="0" smtClean="0">
                <a:latin typeface="Times New Roman" pitchFamily="18" charset="0"/>
                <a:cs typeface="Times New Roman" pitchFamily="18" charset="0"/>
              </a:rPr>
              <a:t> LEFT=5,       RIGHT=3        DEQUE:   K, A, C, -, R, L</a:t>
            </a:r>
            <a:endParaRPr lang="en-US" sz="2000" i="1"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41</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524000"/>
            <a:ext cx="8229600" cy="4800600"/>
          </a:xfrm>
          <a:prstGeom prst="rect">
            <a:avLst/>
          </a:prstGeom>
        </p:spPr>
        <p:txBody>
          <a:bodyPr/>
          <a:lstStyle/>
          <a:p>
            <a:pPr algn="just">
              <a:spcBef>
                <a:spcPts val="1200"/>
              </a:spcBef>
              <a:buFont typeface="Wingdings" pitchFamily="2" charset="2"/>
              <a:buChar char="q"/>
            </a:pPr>
            <a:r>
              <a:rPr lang="en-US" sz="2000" b="1" dirty="0" smtClean="0">
                <a:latin typeface="Times New Roman" pitchFamily="18" charset="0"/>
                <a:cs typeface="Times New Roman" pitchFamily="18" charset="0"/>
              </a:rPr>
              <a:t>Solved Problem 6.24:</a:t>
            </a:r>
            <a:r>
              <a:rPr lang="en-US" sz="2000" dirty="0" smtClean="0">
                <a:latin typeface="Times New Roman" pitchFamily="18" charset="0"/>
                <a:cs typeface="Times New Roman" pitchFamily="18" charset="0"/>
              </a:rPr>
              <a:t> . . . LEFT=5,  RIGHT=3  DEQUE:   K, A, C, -, R, L</a:t>
            </a:r>
          </a:p>
          <a:p>
            <a:pPr algn="just">
              <a:spcBef>
                <a:spcPts val="1200"/>
              </a:spcBef>
              <a:buNone/>
            </a:pPr>
            <a:r>
              <a:rPr lang="en-US" sz="2000" dirty="0" smtClean="0">
                <a:latin typeface="Times New Roman" pitchFamily="18" charset="0"/>
                <a:cs typeface="Times New Roman" pitchFamily="18" charset="0"/>
              </a:rPr>
              <a:t>		</a:t>
            </a:r>
          </a:p>
          <a:p>
            <a:pPr algn="just">
              <a:spcBef>
                <a:spcPts val="1200"/>
              </a:spcBef>
              <a:buNone/>
            </a:pP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vi)</a:t>
            </a:r>
            <a:r>
              <a:rPr lang="en-US" sz="2000" dirty="0" smtClean="0">
                <a:latin typeface="Times New Roman" pitchFamily="18" charset="0"/>
                <a:cs typeface="Times New Roman" pitchFamily="18" charset="0"/>
              </a:rPr>
              <a:t> S is added to the right of the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a:t>
            </a:r>
          </a:p>
          <a:p>
            <a:pPr algn="just">
              <a:spcBef>
                <a:spcPts val="1200"/>
              </a:spcBef>
              <a:buNone/>
            </a:pPr>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vii)</a:t>
            </a:r>
            <a:r>
              <a:rPr lang="en-US" sz="2000" dirty="0" smtClean="0">
                <a:latin typeface="Times New Roman" pitchFamily="18" charset="0"/>
                <a:cs typeface="Times New Roman" pitchFamily="18" charset="0"/>
              </a:rPr>
              <a:t> T is added to the right of the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 </a:t>
            </a:r>
          </a:p>
          <a:p>
            <a:pPr algn="just">
              <a:spcBef>
                <a:spcPts val="1200"/>
              </a:spcBef>
              <a:buNone/>
            </a:pPr>
            <a:endParaRPr lang="en-US" sz="2000" dirty="0" smtClean="0">
              <a:latin typeface="Times New Roman" pitchFamily="18" charset="0"/>
              <a:cs typeface="Times New Roman" pitchFamily="18" charset="0"/>
            </a:endParaRPr>
          </a:p>
          <a:p>
            <a:pPr algn="just">
              <a:spcBef>
                <a:spcPts val="1200"/>
              </a:spcBef>
              <a:buNone/>
            </a:pPr>
            <a:r>
              <a:rPr lang="en-US" sz="2000" i="1" dirty="0" smtClean="0">
                <a:latin typeface="Times New Roman" pitchFamily="18" charset="0"/>
                <a:cs typeface="Times New Roman" pitchFamily="18" charset="0"/>
              </a:rPr>
              <a:t>	</a:t>
            </a:r>
            <a:r>
              <a:rPr lang="en-US" sz="2000" b="1" i="1" dirty="0" smtClean="0">
                <a:latin typeface="Times New Roman" pitchFamily="18" charset="0"/>
                <a:cs typeface="Times New Roman" pitchFamily="18" charset="0"/>
              </a:rPr>
              <a:t>Solution:</a:t>
            </a:r>
          </a:p>
          <a:p>
            <a:pPr algn="just">
              <a:spcBef>
                <a:spcPts val="1200"/>
              </a:spcBef>
              <a:buNone/>
            </a:pPr>
            <a:r>
              <a:rPr lang="en-US" sz="2000" i="1" dirty="0" smtClean="0">
                <a:latin typeface="Times New Roman" pitchFamily="18" charset="0"/>
                <a:cs typeface="Times New Roman" pitchFamily="18" charset="0"/>
              </a:rPr>
              <a:t>		vi)</a:t>
            </a:r>
            <a:r>
              <a:rPr lang="en-US" sz="2000" dirty="0" smtClean="0">
                <a:latin typeface="Times New Roman" pitchFamily="18" charset="0"/>
                <a:cs typeface="Times New Roman" pitchFamily="18" charset="0"/>
              </a:rPr>
              <a:t> LEFT=5,       RIGHT=4        DEQUE:   K, A, C, S, R, L</a:t>
            </a:r>
          </a:p>
          <a:p>
            <a:pPr algn="just">
              <a:spcBef>
                <a:spcPts val="1200"/>
              </a:spcBef>
              <a:buNone/>
            </a:pPr>
            <a:r>
              <a:rPr lang="en-US" sz="2000" i="1" dirty="0" smtClean="0">
                <a:latin typeface="Times New Roman" pitchFamily="18" charset="0"/>
                <a:cs typeface="Times New Roman" pitchFamily="18" charset="0"/>
              </a:rPr>
              <a:t>		vii)</a:t>
            </a:r>
            <a:r>
              <a:rPr lang="en-US" sz="2000" dirty="0" smtClean="0">
                <a:latin typeface="Times New Roman" pitchFamily="18" charset="0"/>
                <a:cs typeface="Times New Roman" pitchFamily="18" charset="0"/>
              </a:rPr>
              <a:t> Since LEFT = RIGHT + 1, the </a:t>
            </a:r>
            <a:r>
              <a:rPr lang="en-US" sz="2000" dirty="0" err="1" smtClean="0">
                <a:latin typeface="Times New Roman" pitchFamily="18" charset="0"/>
                <a:cs typeface="Times New Roman" pitchFamily="18" charset="0"/>
              </a:rPr>
              <a:t>deque</a:t>
            </a:r>
            <a:r>
              <a:rPr lang="en-US" sz="2000" dirty="0" smtClean="0">
                <a:latin typeface="Times New Roman" pitchFamily="18" charset="0"/>
                <a:cs typeface="Times New Roman" pitchFamily="18" charset="0"/>
              </a:rPr>
              <a:t> is full.</a:t>
            </a:r>
          </a:p>
          <a:p>
            <a:pPr algn="just">
              <a:spcBef>
                <a:spcPts val="1200"/>
              </a:spcBef>
              <a:buNone/>
            </a:pPr>
            <a:r>
              <a:rPr lang="en-US" sz="2000" dirty="0" smtClean="0">
                <a:latin typeface="Times New Roman" pitchFamily="18" charset="0"/>
                <a:cs typeface="Times New Roman" pitchFamily="18" charset="0"/>
              </a:rPr>
              <a:t>		      That is, </a:t>
            </a:r>
            <a:r>
              <a:rPr lang="en-US" sz="2000" dirty="0" smtClean="0">
                <a:solidFill>
                  <a:srgbClr val="FF0000"/>
                </a:solidFill>
                <a:latin typeface="Times New Roman" pitchFamily="18" charset="0"/>
                <a:cs typeface="Times New Roman" pitchFamily="18" charset="0"/>
              </a:rPr>
              <a:t>OVERFLOW</a:t>
            </a:r>
            <a:r>
              <a:rPr lang="en-US" sz="2000" dirty="0" smtClean="0">
                <a:latin typeface="Times New Roman" pitchFamily="18" charset="0"/>
                <a:cs typeface="Times New Roman" pitchFamily="18" charset="0"/>
              </a:rPr>
              <a:t> has occurred.</a:t>
            </a:r>
            <a:endParaRPr lang="en-US" sz="2000" i="1"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42</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524000"/>
            <a:ext cx="7772400" cy="4800600"/>
          </a:xfrm>
          <a:prstGeom prst="rect">
            <a:avLst/>
          </a:prstGeom>
        </p:spPr>
        <p:txBody>
          <a:bodyPr/>
          <a:lstStyle/>
          <a:p>
            <a:pPr algn="just">
              <a:spcBef>
                <a:spcPts val="1200"/>
              </a:spcBef>
              <a:buFont typeface="Wingdings" pitchFamily="2" charset="2"/>
              <a:buChar char="q"/>
            </a:pPr>
            <a:r>
              <a:rPr lang="en-US" sz="2000" b="1" dirty="0" smtClean="0">
                <a:latin typeface="Times New Roman" pitchFamily="18" charset="0"/>
                <a:cs typeface="Times New Roman" pitchFamily="18" charset="0"/>
              </a:rPr>
              <a:t>Priority Queues </a:t>
            </a:r>
            <a:endParaRPr lang="en-US" sz="2000" dirty="0" smtClean="0">
              <a:latin typeface="Times New Roman" pitchFamily="18" charset="0"/>
              <a:cs typeface="Times New Roman" pitchFamily="18" charset="0"/>
            </a:endParaRPr>
          </a:p>
          <a:p>
            <a:pPr algn="just">
              <a:spcBef>
                <a:spcPts val="1200"/>
              </a:spcBef>
            </a:pPr>
            <a:endParaRPr lang="en-US" sz="1000" i="1" dirty="0" smtClean="0">
              <a:latin typeface="Times New Roman" pitchFamily="18" charset="0"/>
              <a:cs typeface="Times New Roman" pitchFamily="18" charset="0"/>
            </a:endParaRPr>
          </a:p>
          <a:p>
            <a:pPr algn="just">
              <a:lnSpc>
                <a:spcPct val="150000"/>
              </a:lnSpc>
              <a:spcBef>
                <a:spcPts val="1200"/>
              </a:spcBef>
              <a:buNone/>
            </a:pPr>
            <a:r>
              <a:rPr lang="en-US" sz="2000" dirty="0" smtClean="0">
                <a:latin typeface="Times New Roman" pitchFamily="18" charset="0"/>
                <a:cs typeface="Times New Roman" pitchFamily="18" charset="0"/>
              </a:rPr>
              <a:t>	A priority queue is a collection of elements such that each element has been assigned a </a:t>
            </a:r>
            <a:r>
              <a:rPr lang="en-US" sz="2000" dirty="0" smtClean="0">
                <a:solidFill>
                  <a:srgbClr val="FF0000"/>
                </a:solidFill>
                <a:latin typeface="Times New Roman" pitchFamily="18" charset="0"/>
                <a:cs typeface="Times New Roman" pitchFamily="18" charset="0"/>
              </a:rPr>
              <a:t>priority</a:t>
            </a:r>
            <a:r>
              <a:rPr lang="en-US" sz="2000" dirty="0" smtClean="0">
                <a:latin typeface="Times New Roman" pitchFamily="18" charset="0"/>
                <a:cs typeface="Times New Roman" pitchFamily="18" charset="0"/>
              </a:rPr>
              <a:t> and such that the order in which the elements are deleted and processed comes from the following rules:</a:t>
            </a:r>
          </a:p>
          <a:p>
            <a:pPr algn="just">
              <a:spcBef>
                <a:spcPts val="1200"/>
              </a:spcBef>
            </a:pPr>
            <a:endParaRPr lang="en-US" sz="1050" dirty="0" smtClean="0">
              <a:latin typeface="Times New Roman" pitchFamily="18" charset="0"/>
              <a:cs typeface="Times New Roman" pitchFamily="18" charset="0"/>
            </a:endParaRPr>
          </a:p>
          <a:p>
            <a:pPr lvl="1" algn="just">
              <a:spcBef>
                <a:spcPts val="1200"/>
              </a:spcBef>
            </a:pPr>
            <a:r>
              <a:rPr lang="en-US" sz="2000" dirty="0" smtClean="0">
                <a:latin typeface="Times New Roman" pitchFamily="18" charset="0"/>
                <a:cs typeface="Times New Roman" pitchFamily="18" charset="0"/>
              </a:rPr>
              <a:t>An element of </a:t>
            </a:r>
            <a:r>
              <a:rPr lang="en-US" sz="2000" dirty="0" smtClean="0">
                <a:solidFill>
                  <a:srgbClr val="0070C0"/>
                </a:solidFill>
                <a:latin typeface="Times New Roman" pitchFamily="18" charset="0"/>
                <a:cs typeface="Times New Roman" pitchFamily="18" charset="0"/>
              </a:rPr>
              <a:t>higher priority is processed before any element of lower priority</a:t>
            </a:r>
            <a:r>
              <a:rPr lang="en-US" sz="2000" dirty="0" smtClean="0">
                <a:latin typeface="Times New Roman" pitchFamily="18" charset="0"/>
                <a:cs typeface="Times New Roman" pitchFamily="18" charset="0"/>
              </a:rPr>
              <a:t>.</a:t>
            </a:r>
          </a:p>
          <a:p>
            <a:pPr lvl="1" algn="just">
              <a:spcBef>
                <a:spcPts val="1200"/>
              </a:spcBef>
            </a:pPr>
            <a:r>
              <a:rPr lang="en-US" sz="2000" dirty="0" smtClean="0">
                <a:latin typeface="Times New Roman" pitchFamily="18" charset="0"/>
                <a:cs typeface="Times New Roman" pitchFamily="18" charset="0"/>
              </a:rPr>
              <a:t>Two elements with the same priority are processed according to the  order in which they were added to the queue.</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43</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447800"/>
            <a:ext cx="8001000" cy="4800600"/>
          </a:xfrm>
          <a:prstGeom prst="rect">
            <a:avLst/>
          </a:prstGeom>
        </p:spPr>
        <p:txBody>
          <a:bodyPr/>
          <a:lstStyle/>
          <a:p>
            <a:pPr algn="just">
              <a:spcBef>
                <a:spcPts val="1200"/>
              </a:spcBef>
              <a:buFont typeface="Wingdings" pitchFamily="2" charset="2"/>
              <a:buChar char="q"/>
            </a:pPr>
            <a:r>
              <a:rPr lang="en-US" sz="2000" b="1" dirty="0" smtClean="0">
                <a:latin typeface="Times New Roman" pitchFamily="18" charset="0"/>
                <a:cs typeface="Times New Roman" pitchFamily="18" charset="0"/>
              </a:rPr>
              <a:t>One-Way List Representation of a Priority Queues </a:t>
            </a:r>
            <a:endParaRPr lang="en-US" sz="2000" dirty="0" smtClean="0">
              <a:latin typeface="Times New Roman" pitchFamily="18" charset="0"/>
              <a:cs typeface="Times New Roman" pitchFamily="18" charset="0"/>
            </a:endParaRPr>
          </a:p>
          <a:p>
            <a:pPr algn="just">
              <a:spcBef>
                <a:spcPts val="1200"/>
              </a:spcBef>
              <a:buNone/>
            </a:pPr>
            <a:endParaRPr lang="en-US" sz="400" dirty="0" smtClean="0">
              <a:latin typeface="Times New Roman" pitchFamily="18" charset="0"/>
              <a:cs typeface="Times New Roman" pitchFamily="18" charset="0"/>
            </a:endParaRPr>
          </a:p>
          <a:p>
            <a:pPr algn="just">
              <a:spcBef>
                <a:spcPts val="1200"/>
              </a:spcBef>
              <a:buNone/>
            </a:pPr>
            <a:r>
              <a:rPr lang="en-US" sz="2000" dirty="0" smtClean="0">
                <a:latin typeface="Times New Roman" pitchFamily="18" charset="0"/>
                <a:cs typeface="Times New Roman" pitchFamily="18" charset="0"/>
              </a:rPr>
              <a:t>	One way to maintain a priority queue in memory is by means of a one-way list as follows:</a:t>
            </a:r>
          </a:p>
          <a:p>
            <a:pPr algn="just">
              <a:lnSpc>
                <a:spcPct val="90000"/>
              </a:lnSpc>
              <a:spcBef>
                <a:spcPts val="1200"/>
              </a:spcBef>
              <a:buNone/>
            </a:pPr>
            <a:endParaRPr lang="en-US" sz="800" dirty="0" smtClean="0">
              <a:latin typeface="Times New Roman" pitchFamily="18" charset="0"/>
              <a:cs typeface="Times New Roman" pitchFamily="18" charset="0"/>
            </a:endParaRPr>
          </a:p>
          <a:p>
            <a:pPr algn="just">
              <a:lnSpc>
                <a:spcPct val="90000"/>
              </a:lnSpc>
              <a:spcBef>
                <a:spcPts val="1200"/>
              </a:spcBef>
              <a:buNone/>
            </a:pPr>
            <a:r>
              <a:rPr lang="en-US" sz="2000" dirty="0" smtClean="0">
                <a:latin typeface="Times New Roman" pitchFamily="18" charset="0"/>
                <a:cs typeface="Times New Roman" pitchFamily="18" charset="0"/>
              </a:rPr>
              <a:t>	a) Each node contains three items of information:</a:t>
            </a:r>
          </a:p>
          <a:p>
            <a:pPr algn="just">
              <a:lnSpc>
                <a:spcPct val="90000"/>
              </a:lnSpc>
              <a:spcBef>
                <a:spcPts val="1200"/>
              </a:spcBef>
              <a:buNone/>
            </a:pPr>
            <a:r>
              <a:rPr lang="en-US" sz="2000" dirty="0" smtClean="0">
                <a:latin typeface="Times New Roman" pitchFamily="18" charset="0"/>
                <a:cs typeface="Times New Roman" pitchFamily="18" charset="0"/>
              </a:rPr>
              <a:t>	    An information field </a:t>
            </a:r>
            <a:r>
              <a:rPr lang="en-US" sz="2000" dirty="0" smtClean="0">
                <a:solidFill>
                  <a:srgbClr val="FF0000"/>
                </a:solidFill>
                <a:latin typeface="Times New Roman" pitchFamily="18" charset="0"/>
                <a:cs typeface="Times New Roman" pitchFamily="18" charset="0"/>
              </a:rPr>
              <a:t>INFO</a:t>
            </a:r>
            <a:r>
              <a:rPr lang="en-US" sz="2000" dirty="0" smtClean="0">
                <a:latin typeface="Times New Roman" pitchFamily="18" charset="0"/>
                <a:cs typeface="Times New Roman" pitchFamily="18" charset="0"/>
              </a:rPr>
              <a:t>, a priority number </a:t>
            </a:r>
            <a:r>
              <a:rPr lang="en-US" sz="2000" dirty="0" smtClean="0">
                <a:solidFill>
                  <a:srgbClr val="FF0000"/>
                </a:solidFill>
                <a:latin typeface="Times New Roman" pitchFamily="18" charset="0"/>
                <a:cs typeface="Times New Roman" pitchFamily="18" charset="0"/>
              </a:rPr>
              <a:t>PRN</a:t>
            </a:r>
            <a:r>
              <a:rPr lang="en-US" sz="2000" dirty="0" smtClean="0">
                <a:latin typeface="Times New Roman" pitchFamily="18" charset="0"/>
                <a:cs typeface="Times New Roman" pitchFamily="18" charset="0"/>
              </a:rPr>
              <a:t> and a link number </a:t>
            </a:r>
          </a:p>
          <a:p>
            <a:pPr algn="just">
              <a:lnSpc>
                <a:spcPct val="90000"/>
              </a:lnSpc>
              <a:spcBef>
                <a:spcPts val="1200"/>
              </a:spcBef>
              <a:buNone/>
            </a:pPr>
            <a:r>
              <a:rPr lang="en-US" sz="2000" dirty="0" smtClean="0">
                <a:latin typeface="Times New Roman" pitchFamily="18" charset="0"/>
                <a:cs typeface="Times New Roman" pitchFamily="18" charset="0"/>
              </a:rPr>
              <a:t>          </a:t>
            </a:r>
            <a:r>
              <a:rPr lang="en-US" sz="2000" dirty="0" smtClean="0">
                <a:solidFill>
                  <a:srgbClr val="FF0000"/>
                </a:solidFill>
                <a:latin typeface="Times New Roman" pitchFamily="18" charset="0"/>
                <a:cs typeface="Times New Roman" pitchFamily="18" charset="0"/>
              </a:rPr>
              <a:t>LINK.</a:t>
            </a:r>
          </a:p>
          <a:p>
            <a:pPr algn="just">
              <a:lnSpc>
                <a:spcPct val="90000"/>
              </a:lnSpc>
              <a:spcBef>
                <a:spcPts val="1200"/>
              </a:spcBef>
              <a:buNone/>
            </a:pPr>
            <a:r>
              <a:rPr lang="en-US" sz="2000" dirty="0" smtClean="0">
                <a:latin typeface="Times New Roman" pitchFamily="18" charset="0"/>
                <a:cs typeface="Times New Roman" pitchFamily="18" charset="0"/>
              </a:rPr>
              <a:t>	b) A node X proceeds a node Y in the list: </a:t>
            </a:r>
          </a:p>
          <a:p>
            <a:pPr lvl="2" algn="just">
              <a:lnSpc>
                <a:spcPct val="90000"/>
              </a:lnSpc>
              <a:spcBef>
                <a:spcPts val="1200"/>
              </a:spcBef>
            </a:pPr>
            <a:r>
              <a:rPr lang="en-US" sz="2000" dirty="0" smtClean="0">
                <a:latin typeface="Times New Roman" pitchFamily="18" charset="0"/>
                <a:cs typeface="Times New Roman" pitchFamily="18" charset="0"/>
              </a:rPr>
              <a:t>When X has higher priority than Y  </a:t>
            </a:r>
            <a:r>
              <a:rPr lang="en-US" sz="2000" dirty="0" smtClean="0">
                <a:solidFill>
                  <a:srgbClr val="FF0000"/>
                </a:solidFill>
                <a:latin typeface="Times New Roman" pitchFamily="18" charset="0"/>
                <a:cs typeface="Times New Roman" pitchFamily="18" charset="0"/>
              </a:rPr>
              <a:t>OR</a:t>
            </a:r>
            <a:r>
              <a:rPr lang="en-US" sz="2000" b="1" dirty="0" smtClean="0">
                <a:solidFill>
                  <a:srgbClr val="FF6600"/>
                </a:solidFill>
                <a:latin typeface="Times New Roman" pitchFamily="18" charset="0"/>
                <a:cs typeface="Times New Roman" pitchFamily="18" charset="0"/>
              </a:rPr>
              <a:t> </a:t>
            </a:r>
            <a:endParaRPr lang="en-US" sz="2000" dirty="0" smtClean="0">
              <a:solidFill>
                <a:srgbClr val="FF6600"/>
              </a:solidFill>
              <a:latin typeface="Times New Roman" pitchFamily="18" charset="0"/>
              <a:cs typeface="Times New Roman" pitchFamily="18" charset="0"/>
            </a:endParaRPr>
          </a:p>
          <a:p>
            <a:pPr lvl="2" algn="just">
              <a:lnSpc>
                <a:spcPct val="90000"/>
              </a:lnSpc>
              <a:spcBef>
                <a:spcPts val="1200"/>
              </a:spcBef>
            </a:pPr>
            <a:r>
              <a:rPr lang="en-US" sz="2000" dirty="0" smtClean="0">
                <a:latin typeface="Times New Roman" pitchFamily="18" charset="0"/>
                <a:cs typeface="Times New Roman" pitchFamily="18" charset="0"/>
              </a:rPr>
              <a:t>When both have the same priority but X was added to the list before Y.</a:t>
            </a:r>
          </a:p>
          <a:p>
            <a:pPr algn="just">
              <a:spcBef>
                <a:spcPts val="1200"/>
              </a:spcBef>
              <a:buNone/>
            </a:pPr>
            <a:endParaRPr lang="en-US" sz="2000"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44</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524000"/>
            <a:ext cx="8001000" cy="48006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One-Way List Representation of a Priority Queues </a:t>
            </a: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a:t>
            </a:r>
          </a:p>
          <a:p>
            <a:pPr>
              <a:buNone/>
            </a:pPr>
            <a:r>
              <a:rPr lang="en-US" sz="2000" dirty="0" smtClean="0">
                <a:latin typeface="Times New Roman" pitchFamily="18" charset="0"/>
                <a:cs typeface="Times New Roman" pitchFamily="18" charset="0"/>
              </a:rPr>
              <a:t>	</a:t>
            </a: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45</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10" name="Group 42"/>
          <p:cNvGrpSpPr>
            <a:grpSpLocks/>
          </p:cNvGrpSpPr>
          <p:nvPr/>
        </p:nvGrpSpPr>
        <p:grpSpPr bwMode="auto">
          <a:xfrm>
            <a:off x="635000" y="2514600"/>
            <a:ext cx="8212138" cy="2554288"/>
            <a:chOff x="288" y="1584"/>
            <a:chExt cx="5376" cy="1584"/>
          </a:xfrm>
        </p:grpSpPr>
        <p:sp>
          <p:nvSpPr>
            <p:cNvPr id="11" name="Rectangle 5"/>
            <p:cNvSpPr>
              <a:spLocks noChangeArrowheads="1"/>
            </p:cNvSpPr>
            <p:nvPr/>
          </p:nvSpPr>
          <p:spPr bwMode="auto">
            <a:xfrm>
              <a:off x="288" y="1632"/>
              <a:ext cx="5376" cy="1536"/>
            </a:xfrm>
            <a:prstGeom prst="rect">
              <a:avLst/>
            </a:prstGeom>
            <a:solidFill>
              <a:srgbClr val="CCFF99"/>
            </a:solidFill>
            <a:ln w="9525">
              <a:solidFill>
                <a:srgbClr val="0000FF"/>
              </a:solidFill>
              <a:miter lim="800000"/>
              <a:headEnd/>
              <a:tailEnd/>
            </a:ln>
          </p:spPr>
          <p:txBody>
            <a:bodyPr wrap="none" anchor="ctr"/>
            <a:lstStyle/>
            <a:p>
              <a:endParaRPr lang="en-US"/>
            </a:p>
          </p:txBody>
        </p:sp>
        <p:grpSp>
          <p:nvGrpSpPr>
            <p:cNvPr id="12" name="Group 6"/>
            <p:cNvGrpSpPr>
              <a:grpSpLocks/>
            </p:cNvGrpSpPr>
            <p:nvPr/>
          </p:nvGrpSpPr>
          <p:grpSpPr bwMode="auto">
            <a:xfrm>
              <a:off x="336" y="1584"/>
              <a:ext cx="5232" cy="1456"/>
              <a:chOff x="288" y="2380"/>
              <a:chExt cx="5232" cy="1456"/>
            </a:xfrm>
          </p:grpSpPr>
          <p:grpSp>
            <p:nvGrpSpPr>
              <p:cNvPr id="14" name="Group 7"/>
              <p:cNvGrpSpPr>
                <a:grpSpLocks/>
              </p:cNvGrpSpPr>
              <p:nvPr/>
            </p:nvGrpSpPr>
            <p:grpSpPr bwMode="auto">
              <a:xfrm>
                <a:off x="672" y="3034"/>
                <a:ext cx="4848" cy="802"/>
                <a:chOff x="528" y="2544"/>
                <a:chExt cx="4848" cy="802"/>
              </a:xfrm>
            </p:grpSpPr>
            <p:grpSp>
              <p:nvGrpSpPr>
                <p:cNvPr id="23" name="Group 8"/>
                <p:cNvGrpSpPr>
                  <a:grpSpLocks/>
                </p:cNvGrpSpPr>
                <p:nvPr/>
              </p:nvGrpSpPr>
              <p:grpSpPr bwMode="auto">
                <a:xfrm>
                  <a:off x="528" y="2544"/>
                  <a:ext cx="816" cy="226"/>
                  <a:chOff x="528" y="2544"/>
                  <a:chExt cx="816" cy="226"/>
                </a:xfrm>
              </p:grpSpPr>
              <p:sp>
                <p:nvSpPr>
                  <p:cNvPr id="49" name="Text Box 9"/>
                  <p:cNvSpPr txBox="1">
                    <a:spLocks noChangeArrowheads="1"/>
                  </p:cNvSpPr>
                  <p:nvPr/>
                </p:nvSpPr>
                <p:spPr bwMode="auto">
                  <a:xfrm>
                    <a:off x="528" y="2544"/>
                    <a:ext cx="432" cy="226"/>
                  </a:xfrm>
                  <a:prstGeom prst="rect">
                    <a:avLst/>
                  </a:prstGeom>
                  <a:noFill/>
                  <a:ln w="28575">
                    <a:solidFill>
                      <a:schemeClr val="tx1"/>
                    </a:solidFill>
                    <a:miter lim="800000"/>
                    <a:headEnd/>
                    <a:tailEnd/>
                  </a:ln>
                </p:spPr>
                <p:txBody>
                  <a:bodyPr>
                    <a:spAutoFit/>
                  </a:bodyPr>
                  <a:lstStyle/>
                  <a:p>
                    <a:pPr>
                      <a:spcBef>
                        <a:spcPct val="50000"/>
                      </a:spcBef>
                    </a:pPr>
                    <a:r>
                      <a:rPr lang="en-US" sz="1600" b="1">
                        <a:latin typeface="Times New Roman" pitchFamily="18" charset="0"/>
                      </a:rPr>
                      <a:t>AAA</a:t>
                    </a:r>
                  </a:p>
                </p:txBody>
              </p:sp>
              <p:sp>
                <p:nvSpPr>
                  <p:cNvPr id="50" name="Text Box 10"/>
                  <p:cNvSpPr txBox="1">
                    <a:spLocks noChangeArrowheads="1"/>
                  </p:cNvSpPr>
                  <p:nvPr/>
                </p:nvSpPr>
                <p:spPr bwMode="auto">
                  <a:xfrm>
                    <a:off x="960" y="2544"/>
                    <a:ext cx="192" cy="226"/>
                  </a:xfrm>
                  <a:prstGeom prst="rect">
                    <a:avLst/>
                  </a:prstGeom>
                  <a:noFill/>
                  <a:ln w="28575">
                    <a:solidFill>
                      <a:schemeClr val="tx1"/>
                    </a:solidFill>
                    <a:miter lim="800000"/>
                    <a:headEnd/>
                    <a:tailEnd/>
                  </a:ln>
                </p:spPr>
                <p:txBody>
                  <a:bodyPr>
                    <a:spAutoFit/>
                  </a:bodyPr>
                  <a:lstStyle/>
                  <a:p>
                    <a:pPr>
                      <a:spcBef>
                        <a:spcPct val="50000"/>
                      </a:spcBef>
                    </a:pPr>
                    <a:r>
                      <a:rPr lang="en-US" sz="1600" b="1">
                        <a:latin typeface="Times New Roman" pitchFamily="18" charset="0"/>
                      </a:rPr>
                      <a:t>1</a:t>
                    </a:r>
                  </a:p>
                </p:txBody>
              </p:sp>
              <p:sp>
                <p:nvSpPr>
                  <p:cNvPr id="51" name="Text Box 11"/>
                  <p:cNvSpPr txBox="1">
                    <a:spLocks noChangeArrowheads="1"/>
                  </p:cNvSpPr>
                  <p:nvPr/>
                </p:nvSpPr>
                <p:spPr bwMode="auto">
                  <a:xfrm>
                    <a:off x="1152" y="2544"/>
                    <a:ext cx="192" cy="226"/>
                  </a:xfrm>
                  <a:prstGeom prst="rect">
                    <a:avLst/>
                  </a:prstGeom>
                  <a:noFill/>
                  <a:ln w="28575">
                    <a:solidFill>
                      <a:schemeClr val="tx1"/>
                    </a:solidFill>
                    <a:miter lim="800000"/>
                    <a:headEnd/>
                    <a:tailEnd/>
                  </a:ln>
                </p:spPr>
                <p:txBody>
                  <a:bodyPr>
                    <a:spAutoFit/>
                  </a:bodyPr>
                  <a:lstStyle/>
                  <a:p>
                    <a:pPr>
                      <a:spcBef>
                        <a:spcPct val="50000"/>
                      </a:spcBef>
                    </a:pPr>
                    <a:endParaRPr lang="en-US" sz="1600" b="1">
                      <a:latin typeface="Times New Roman" pitchFamily="18" charset="0"/>
                    </a:endParaRPr>
                  </a:p>
                </p:txBody>
              </p:sp>
            </p:grpSp>
            <p:grpSp>
              <p:nvGrpSpPr>
                <p:cNvPr id="24" name="Group 12"/>
                <p:cNvGrpSpPr>
                  <a:grpSpLocks/>
                </p:cNvGrpSpPr>
                <p:nvPr/>
              </p:nvGrpSpPr>
              <p:grpSpPr bwMode="auto">
                <a:xfrm>
                  <a:off x="1536" y="2544"/>
                  <a:ext cx="816" cy="226"/>
                  <a:chOff x="528" y="2544"/>
                  <a:chExt cx="816" cy="226"/>
                </a:xfrm>
              </p:grpSpPr>
              <p:sp>
                <p:nvSpPr>
                  <p:cNvPr id="46" name="Text Box 13"/>
                  <p:cNvSpPr txBox="1">
                    <a:spLocks noChangeArrowheads="1"/>
                  </p:cNvSpPr>
                  <p:nvPr/>
                </p:nvSpPr>
                <p:spPr bwMode="auto">
                  <a:xfrm>
                    <a:off x="528" y="2544"/>
                    <a:ext cx="432" cy="226"/>
                  </a:xfrm>
                  <a:prstGeom prst="rect">
                    <a:avLst/>
                  </a:prstGeom>
                  <a:noFill/>
                  <a:ln w="28575">
                    <a:solidFill>
                      <a:schemeClr val="tx1"/>
                    </a:solidFill>
                    <a:miter lim="800000"/>
                    <a:headEnd/>
                    <a:tailEnd/>
                  </a:ln>
                </p:spPr>
                <p:txBody>
                  <a:bodyPr>
                    <a:spAutoFit/>
                  </a:bodyPr>
                  <a:lstStyle/>
                  <a:p>
                    <a:pPr>
                      <a:spcBef>
                        <a:spcPct val="50000"/>
                      </a:spcBef>
                    </a:pPr>
                    <a:r>
                      <a:rPr lang="en-US" sz="1600" b="1">
                        <a:latin typeface="Times New Roman" pitchFamily="18" charset="0"/>
                      </a:rPr>
                      <a:t>BBB</a:t>
                    </a:r>
                  </a:p>
                </p:txBody>
              </p:sp>
              <p:sp>
                <p:nvSpPr>
                  <p:cNvPr id="47" name="Text Box 14"/>
                  <p:cNvSpPr txBox="1">
                    <a:spLocks noChangeArrowheads="1"/>
                  </p:cNvSpPr>
                  <p:nvPr/>
                </p:nvSpPr>
                <p:spPr bwMode="auto">
                  <a:xfrm>
                    <a:off x="960" y="2544"/>
                    <a:ext cx="192" cy="226"/>
                  </a:xfrm>
                  <a:prstGeom prst="rect">
                    <a:avLst/>
                  </a:prstGeom>
                  <a:noFill/>
                  <a:ln w="28575">
                    <a:solidFill>
                      <a:schemeClr val="tx1"/>
                    </a:solidFill>
                    <a:miter lim="800000"/>
                    <a:headEnd/>
                    <a:tailEnd/>
                  </a:ln>
                </p:spPr>
                <p:txBody>
                  <a:bodyPr>
                    <a:spAutoFit/>
                  </a:bodyPr>
                  <a:lstStyle/>
                  <a:p>
                    <a:pPr>
                      <a:spcBef>
                        <a:spcPct val="50000"/>
                      </a:spcBef>
                    </a:pPr>
                    <a:r>
                      <a:rPr lang="en-US" sz="1600" b="1">
                        <a:latin typeface="Times New Roman" pitchFamily="18" charset="0"/>
                      </a:rPr>
                      <a:t>2</a:t>
                    </a:r>
                  </a:p>
                </p:txBody>
              </p:sp>
              <p:sp>
                <p:nvSpPr>
                  <p:cNvPr id="48" name="Text Box 15"/>
                  <p:cNvSpPr txBox="1">
                    <a:spLocks noChangeArrowheads="1"/>
                  </p:cNvSpPr>
                  <p:nvPr/>
                </p:nvSpPr>
                <p:spPr bwMode="auto">
                  <a:xfrm>
                    <a:off x="1152" y="2544"/>
                    <a:ext cx="192" cy="226"/>
                  </a:xfrm>
                  <a:prstGeom prst="rect">
                    <a:avLst/>
                  </a:prstGeom>
                  <a:noFill/>
                  <a:ln w="28575">
                    <a:solidFill>
                      <a:schemeClr val="tx1"/>
                    </a:solidFill>
                    <a:miter lim="800000"/>
                    <a:headEnd/>
                    <a:tailEnd/>
                  </a:ln>
                </p:spPr>
                <p:txBody>
                  <a:bodyPr>
                    <a:spAutoFit/>
                  </a:bodyPr>
                  <a:lstStyle/>
                  <a:p>
                    <a:pPr>
                      <a:spcBef>
                        <a:spcPct val="50000"/>
                      </a:spcBef>
                    </a:pPr>
                    <a:endParaRPr lang="en-US" sz="1600" b="1">
                      <a:latin typeface="Times New Roman" pitchFamily="18" charset="0"/>
                    </a:endParaRPr>
                  </a:p>
                </p:txBody>
              </p:sp>
            </p:grpSp>
            <p:grpSp>
              <p:nvGrpSpPr>
                <p:cNvPr id="25" name="Group 16"/>
                <p:cNvGrpSpPr>
                  <a:grpSpLocks/>
                </p:cNvGrpSpPr>
                <p:nvPr/>
              </p:nvGrpSpPr>
              <p:grpSpPr bwMode="auto">
                <a:xfrm>
                  <a:off x="2544" y="2544"/>
                  <a:ext cx="816" cy="226"/>
                  <a:chOff x="528" y="2544"/>
                  <a:chExt cx="816" cy="226"/>
                </a:xfrm>
              </p:grpSpPr>
              <p:sp>
                <p:nvSpPr>
                  <p:cNvPr id="43" name="Text Box 17"/>
                  <p:cNvSpPr txBox="1">
                    <a:spLocks noChangeArrowheads="1"/>
                  </p:cNvSpPr>
                  <p:nvPr/>
                </p:nvSpPr>
                <p:spPr bwMode="auto">
                  <a:xfrm>
                    <a:off x="528" y="2544"/>
                    <a:ext cx="432" cy="226"/>
                  </a:xfrm>
                  <a:prstGeom prst="rect">
                    <a:avLst/>
                  </a:prstGeom>
                  <a:noFill/>
                  <a:ln w="28575">
                    <a:solidFill>
                      <a:schemeClr val="tx1"/>
                    </a:solidFill>
                    <a:miter lim="800000"/>
                    <a:headEnd/>
                    <a:tailEnd/>
                  </a:ln>
                </p:spPr>
                <p:txBody>
                  <a:bodyPr>
                    <a:spAutoFit/>
                  </a:bodyPr>
                  <a:lstStyle/>
                  <a:p>
                    <a:pPr>
                      <a:spcBef>
                        <a:spcPct val="50000"/>
                      </a:spcBef>
                    </a:pPr>
                    <a:r>
                      <a:rPr lang="en-US" sz="1600" b="1">
                        <a:latin typeface="Times New Roman" pitchFamily="18" charset="0"/>
                      </a:rPr>
                      <a:t>CCC</a:t>
                    </a:r>
                  </a:p>
                </p:txBody>
              </p:sp>
              <p:sp>
                <p:nvSpPr>
                  <p:cNvPr id="44" name="Text Box 18"/>
                  <p:cNvSpPr txBox="1">
                    <a:spLocks noChangeArrowheads="1"/>
                  </p:cNvSpPr>
                  <p:nvPr/>
                </p:nvSpPr>
                <p:spPr bwMode="auto">
                  <a:xfrm>
                    <a:off x="960" y="2544"/>
                    <a:ext cx="192" cy="210"/>
                  </a:xfrm>
                  <a:prstGeom prst="rect">
                    <a:avLst/>
                  </a:prstGeom>
                  <a:noFill/>
                  <a:ln w="28575">
                    <a:solidFill>
                      <a:schemeClr val="tx1"/>
                    </a:solidFill>
                    <a:miter lim="800000"/>
                    <a:headEnd/>
                    <a:tailEnd/>
                  </a:ln>
                </p:spPr>
                <p:txBody>
                  <a:bodyPr>
                    <a:spAutoFit/>
                  </a:bodyPr>
                  <a:lstStyle/>
                  <a:p>
                    <a:pPr>
                      <a:spcBef>
                        <a:spcPct val="50000"/>
                      </a:spcBef>
                    </a:pPr>
                    <a:r>
                      <a:rPr lang="en-US" sz="1600" b="1" dirty="0" smtClean="0">
                        <a:latin typeface="Times New Roman" pitchFamily="18" charset="0"/>
                      </a:rPr>
                      <a:t>2</a:t>
                    </a:r>
                    <a:endParaRPr lang="en-US" sz="1600" b="1" dirty="0">
                      <a:latin typeface="Times New Roman" pitchFamily="18" charset="0"/>
                    </a:endParaRPr>
                  </a:p>
                </p:txBody>
              </p:sp>
              <p:sp>
                <p:nvSpPr>
                  <p:cNvPr id="45" name="Text Box 19"/>
                  <p:cNvSpPr txBox="1">
                    <a:spLocks noChangeArrowheads="1"/>
                  </p:cNvSpPr>
                  <p:nvPr/>
                </p:nvSpPr>
                <p:spPr bwMode="auto">
                  <a:xfrm>
                    <a:off x="1152" y="2544"/>
                    <a:ext cx="192" cy="226"/>
                  </a:xfrm>
                  <a:prstGeom prst="rect">
                    <a:avLst/>
                  </a:prstGeom>
                  <a:noFill/>
                  <a:ln w="28575">
                    <a:solidFill>
                      <a:schemeClr val="tx1"/>
                    </a:solidFill>
                    <a:miter lim="800000"/>
                    <a:headEnd/>
                    <a:tailEnd/>
                  </a:ln>
                </p:spPr>
                <p:txBody>
                  <a:bodyPr>
                    <a:spAutoFit/>
                  </a:bodyPr>
                  <a:lstStyle/>
                  <a:p>
                    <a:pPr>
                      <a:spcBef>
                        <a:spcPct val="50000"/>
                      </a:spcBef>
                    </a:pPr>
                    <a:endParaRPr lang="en-US" sz="1600" b="1">
                      <a:latin typeface="Times New Roman" pitchFamily="18" charset="0"/>
                    </a:endParaRPr>
                  </a:p>
                </p:txBody>
              </p:sp>
            </p:grpSp>
            <p:sp>
              <p:nvSpPr>
                <p:cNvPr id="26" name="Line 20"/>
                <p:cNvSpPr>
                  <a:spLocks noChangeShapeType="1"/>
                </p:cNvSpPr>
                <p:nvPr/>
              </p:nvSpPr>
              <p:spPr bwMode="auto">
                <a:xfrm>
                  <a:off x="1248" y="2667"/>
                  <a:ext cx="288" cy="0"/>
                </a:xfrm>
                <a:prstGeom prst="line">
                  <a:avLst/>
                </a:prstGeom>
                <a:noFill/>
                <a:ln w="38100">
                  <a:solidFill>
                    <a:srgbClr val="0000FF"/>
                  </a:solidFill>
                  <a:round/>
                  <a:headEnd type="oval" w="med" len="med"/>
                  <a:tailEnd type="triangle" w="med" len="med"/>
                </a:ln>
              </p:spPr>
              <p:txBody>
                <a:bodyPr/>
                <a:lstStyle/>
                <a:p>
                  <a:endParaRPr lang="en-US"/>
                </a:p>
              </p:txBody>
            </p:sp>
            <p:sp>
              <p:nvSpPr>
                <p:cNvPr id="27" name="Line 21"/>
                <p:cNvSpPr>
                  <a:spLocks noChangeShapeType="1"/>
                </p:cNvSpPr>
                <p:nvPr/>
              </p:nvSpPr>
              <p:spPr bwMode="auto">
                <a:xfrm>
                  <a:off x="2277" y="2661"/>
                  <a:ext cx="288" cy="0"/>
                </a:xfrm>
                <a:prstGeom prst="line">
                  <a:avLst/>
                </a:prstGeom>
                <a:noFill/>
                <a:ln w="38100">
                  <a:solidFill>
                    <a:srgbClr val="0000FF"/>
                  </a:solidFill>
                  <a:round/>
                  <a:headEnd type="oval" w="med" len="med"/>
                  <a:tailEnd type="triangle" w="med" len="med"/>
                </a:ln>
              </p:spPr>
              <p:txBody>
                <a:bodyPr/>
                <a:lstStyle/>
                <a:p>
                  <a:endParaRPr lang="en-US"/>
                </a:p>
              </p:txBody>
            </p:sp>
            <p:grpSp>
              <p:nvGrpSpPr>
                <p:cNvPr id="28" name="Group 22"/>
                <p:cNvGrpSpPr>
                  <a:grpSpLocks/>
                </p:cNvGrpSpPr>
                <p:nvPr/>
              </p:nvGrpSpPr>
              <p:grpSpPr bwMode="auto">
                <a:xfrm>
                  <a:off x="2496" y="3120"/>
                  <a:ext cx="816" cy="226"/>
                  <a:chOff x="528" y="2544"/>
                  <a:chExt cx="816" cy="226"/>
                </a:xfrm>
              </p:grpSpPr>
              <p:sp>
                <p:nvSpPr>
                  <p:cNvPr id="40" name="Text Box 23"/>
                  <p:cNvSpPr txBox="1">
                    <a:spLocks noChangeArrowheads="1"/>
                  </p:cNvSpPr>
                  <p:nvPr/>
                </p:nvSpPr>
                <p:spPr bwMode="auto">
                  <a:xfrm>
                    <a:off x="528" y="2544"/>
                    <a:ext cx="432" cy="226"/>
                  </a:xfrm>
                  <a:prstGeom prst="rect">
                    <a:avLst/>
                  </a:prstGeom>
                  <a:noFill/>
                  <a:ln w="28575">
                    <a:solidFill>
                      <a:schemeClr val="tx1"/>
                    </a:solidFill>
                    <a:miter lim="800000"/>
                    <a:headEnd/>
                    <a:tailEnd/>
                  </a:ln>
                </p:spPr>
                <p:txBody>
                  <a:bodyPr>
                    <a:spAutoFit/>
                  </a:bodyPr>
                  <a:lstStyle/>
                  <a:p>
                    <a:pPr>
                      <a:spcBef>
                        <a:spcPct val="50000"/>
                      </a:spcBef>
                    </a:pPr>
                    <a:r>
                      <a:rPr lang="en-US" sz="1600" b="1">
                        <a:latin typeface="Times New Roman" pitchFamily="18" charset="0"/>
                      </a:rPr>
                      <a:t>DDD</a:t>
                    </a:r>
                  </a:p>
                </p:txBody>
              </p:sp>
              <p:sp>
                <p:nvSpPr>
                  <p:cNvPr id="41" name="Text Box 24"/>
                  <p:cNvSpPr txBox="1">
                    <a:spLocks noChangeArrowheads="1"/>
                  </p:cNvSpPr>
                  <p:nvPr/>
                </p:nvSpPr>
                <p:spPr bwMode="auto">
                  <a:xfrm>
                    <a:off x="960" y="2544"/>
                    <a:ext cx="192" cy="210"/>
                  </a:xfrm>
                  <a:prstGeom prst="rect">
                    <a:avLst/>
                  </a:prstGeom>
                  <a:noFill/>
                  <a:ln w="28575">
                    <a:solidFill>
                      <a:schemeClr val="tx1"/>
                    </a:solidFill>
                    <a:miter lim="800000"/>
                    <a:headEnd/>
                    <a:tailEnd/>
                  </a:ln>
                </p:spPr>
                <p:txBody>
                  <a:bodyPr>
                    <a:spAutoFit/>
                  </a:bodyPr>
                  <a:lstStyle/>
                  <a:p>
                    <a:pPr>
                      <a:spcBef>
                        <a:spcPct val="50000"/>
                      </a:spcBef>
                    </a:pPr>
                    <a:r>
                      <a:rPr lang="en-US" sz="1600" b="1" dirty="0" smtClean="0">
                        <a:latin typeface="Times New Roman" pitchFamily="18" charset="0"/>
                      </a:rPr>
                      <a:t>4</a:t>
                    </a:r>
                    <a:endParaRPr lang="en-US" sz="1600" b="1" dirty="0">
                      <a:latin typeface="Times New Roman" pitchFamily="18" charset="0"/>
                    </a:endParaRPr>
                  </a:p>
                </p:txBody>
              </p:sp>
              <p:sp>
                <p:nvSpPr>
                  <p:cNvPr id="42" name="Text Box 25"/>
                  <p:cNvSpPr txBox="1">
                    <a:spLocks noChangeArrowheads="1"/>
                  </p:cNvSpPr>
                  <p:nvPr/>
                </p:nvSpPr>
                <p:spPr bwMode="auto">
                  <a:xfrm>
                    <a:off x="1152" y="2544"/>
                    <a:ext cx="192" cy="226"/>
                  </a:xfrm>
                  <a:prstGeom prst="rect">
                    <a:avLst/>
                  </a:prstGeom>
                  <a:noFill/>
                  <a:ln w="28575">
                    <a:solidFill>
                      <a:schemeClr val="tx1"/>
                    </a:solidFill>
                    <a:miter lim="800000"/>
                    <a:headEnd/>
                    <a:tailEnd/>
                  </a:ln>
                </p:spPr>
                <p:txBody>
                  <a:bodyPr>
                    <a:spAutoFit/>
                  </a:bodyPr>
                  <a:lstStyle/>
                  <a:p>
                    <a:pPr>
                      <a:spcBef>
                        <a:spcPct val="50000"/>
                      </a:spcBef>
                    </a:pPr>
                    <a:endParaRPr lang="en-US" sz="1600" b="1">
                      <a:latin typeface="Times New Roman" pitchFamily="18" charset="0"/>
                    </a:endParaRPr>
                  </a:p>
                </p:txBody>
              </p:sp>
            </p:grpSp>
            <p:grpSp>
              <p:nvGrpSpPr>
                <p:cNvPr id="29" name="Group 26"/>
                <p:cNvGrpSpPr>
                  <a:grpSpLocks/>
                </p:cNvGrpSpPr>
                <p:nvPr/>
              </p:nvGrpSpPr>
              <p:grpSpPr bwMode="auto">
                <a:xfrm>
                  <a:off x="3504" y="3120"/>
                  <a:ext cx="816" cy="226"/>
                  <a:chOff x="528" y="2544"/>
                  <a:chExt cx="816" cy="226"/>
                </a:xfrm>
              </p:grpSpPr>
              <p:sp>
                <p:nvSpPr>
                  <p:cNvPr id="37" name="Text Box 27"/>
                  <p:cNvSpPr txBox="1">
                    <a:spLocks noChangeArrowheads="1"/>
                  </p:cNvSpPr>
                  <p:nvPr/>
                </p:nvSpPr>
                <p:spPr bwMode="auto">
                  <a:xfrm>
                    <a:off x="528" y="2544"/>
                    <a:ext cx="432" cy="226"/>
                  </a:xfrm>
                  <a:prstGeom prst="rect">
                    <a:avLst/>
                  </a:prstGeom>
                  <a:noFill/>
                  <a:ln w="28575">
                    <a:solidFill>
                      <a:schemeClr val="tx1"/>
                    </a:solidFill>
                    <a:miter lim="800000"/>
                    <a:headEnd/>
                    <a:tailEnd/>
                  </a:ln>
                </p:spPr>
                <p:txBody>
                  <a:bodyPr>
                    <a:spAutoFit/>
                  </a:bodyPr>
                  <a:lstStyle/>
                  <a:p>
                    <a:pPr>
                      <a:spcBef>
                        <a:spcPct val="50000"/>
                      </a:spcBef>
                    </a:pPr>
                    <a:r>
                      <a:rPr lang="en-US" sz="1600" b="1">
                        <a:latin typeface="Times New Roman" pitchFamily="18" charset="0"/>
                      </a:rPr>
                      <a:t>EEE</a:t>
                    </a:r>
                  </a:p>
                </p:txBody>
              </p:sp>
              <p:sp>
                <p:nvSpPr>
                  <p:cNvPr id="38" name="Text Box 28"/>
                  <p:cNvSpPr txBox="1">
                    <a:spLocks noChangeArrowheads="1"/>
                  </p:cNvSpPr>
                  <p:nvPr/>
                </p:nvSpPr>
                <p:spPr bwMode="auto">
                  <a:xfrm>
                    <a:off x="960" y="2544"/>
                    <a:ext cx="192" cy="226"/>
                  </a:xfrm>
                  <a:prstGeom prst="rect">
                    <a:avLst/>
                  </a:prstGeom>
                  <a:noFill/>
                  <a:ln w="28575">
                    <a:solidFill>
                      <a:schemeClr val="tx1"/>
                    </a:solidFill>
                    <a:miter lim="800000"/>
                    <a:headEnd/>
                    <a:tailEnd/>
                  </a:ln>
                </p:spPr>
                <p:txBody>
                  <a:bodyPr>
                    <a:spAutoFit/>
                  </a:bodyPr>
                  <a:lstStyle/>
                  <a:p>
                    <a:pPr>
                      <a:spcBef>
                        <a:spcPct val="50000"/>
                      </a:spcBef>
                    </a:pPr>
                    <a:r>
                      <a:rPr lang="en-US" sz="1600" b="1">
                        <a:latin typeface="Times New Roman" pitchFamily="18" charset="0"/>
                      </a:rPr>
                      <a:t>5</a:t>
                    </a:r>
                  </a:p>
                </p:txBody>
              </p:sp>
              <p:sp>
                <p:nvSpPr>
                  <p:cNvPr id="39" name="Text Box 29"/>
                  <p:cNvSpPr txBox="1">
                    <a:spLocks noChangeArrowheads="1"/>
                  </p:cNvSpPr>
                  <p:nvPr/>
                </p:nvSpPr>
                <p:spPr bwMode="auto">
                  <a:xfrm>
                    <a:off x="1152" y="2544"/>
                    <a:ext cx="192" cy="226"/>
                  </a:xfrm>
                  <a:prstGeom prst="rect">
                    <a:avLst/>
                  </a:prstGeom>
                  <a:noFill/>
                  <a:ln w="28575">
                    <a:solidFill>
                      <a:schemeClr val="tx1"/>
                    </a:solidFill>
                    <a:miter lim="800000"/>
                    <a:headEnd/>
                    <a:tailEnd/>
                  </a:ln>
                </p:spPr>
                <p:txBody>
                  <a:bodyPr>
                    <a:spAutoFit/>
                  </a:bodyPr>
                  <a:lstStyle/>
                  <a:p>
                    <a:pPr>
                      <a:spcBef>
                        <a:spcPct val="50000"/>
                      </a:spcBef>
                    </a:pPr>
                    <a:endParaRPr lang="en-US" sz="1600" b="1">
                      <a:latin typeface="Times New Roman" pitchFamily="18" charset="0"/>
                    </a:endParaRPr>
                  </a:p>
                </p:txBody>
              </p:sp>
            </p:grpSp>
            <p:grpSp>
              <p:nvGrpSpPr>
                <p:cNvPr id="30" name="Group 30"/>
                <p:cNvGrpSpPr>
                  <a:grpSpLocks/>
                </p:cNvGrpSpPr>
                <p:nvPr/>
              </p:nvGrpSpPr>
              <p:grpSpPr bwMode="auto">
                <a:xfrm>
                  <a:off x="4560" y="3120"/>
                  <a:ext cx="816" cy="226"/>
                  <a:chOff x="528" y="2544"/>
                  <a:chExt cx="816" cy="226"/>
                </a:xfrm>
              </p:grpSpPr>
              <p:sp>
                <p:nvSpPr>
                  <p:cNvPr id="34" name="Text Box 31"/>
                  <p:cNvSpPr txBox="1">
                    <a:spLocks noChangeArrowheads="1"/>
                  </p:cNvSpPr>
                  <p:nvPr/>
                </p:nvSpPr>
                <p:spPr bwMode="auto">
                  <a:xfrm>
                    <a:off x="528" y="2544"/>
                    <a:ext cx="432" cy="226"/>
                  </a:xfrm>
                  <a:prstGeom prst="rect">
                    <a:avLst/>
                  </a:prstGeom>
                  <a:noFill/>
                  <a:ln w="28575">
                    <a:solidFill>
                      <a:schemeClr val="tx1"/>
                    </a:solidFill>
                    <a:miter lim="800000"/>
                    <a:headEnd/>
                    <a:tailEnd/>
                  </a:ln>
                </p:spPr>
                <p:txBody>
                  <a:bodyPr>
                    <a:spAutoFit/>
                  </a:bodyPr>
                  <a:lstStyle/>
                  <a:p>
                    <a:pPr>
                      <a:spcBef>
                        <a:spcPct val="50000"/>
                      </a:spcBef>
                    </a:pPr>
                    <a:r>
                      <a:rPr lang="en-US" sz="1600" b="1">
                        <a:latin typeface="Times New Roman" pitchFamily="18" charset="0"/>
                      </a:rPr>
                      <a:t>FFF</a:t>
                    </a:r>
                  </a:p>
                </p:txBody>
              </p:sp>
              <p:sp>
                <p:nvSpPr>
                  <p:cNvPr id="35" name="Text Box 32"/>
                  <p:cNvSpPr txBox="1">
                    <a:spLocks noChangeArrowheads="1"/>
                  </p:cNvSpPr>
                  <p:nvPr/>
                </p:nvSpPr>
                <p:spPr bwMode="auto">
                  <a:xfrm>
                    <a:off x="960" y="2544"/>
                    <a:ext cx="192" cy="226"/>
                  </a:xfrm>
                  <a:prstGeom prst="rect">
                    <a:avLst/>
                  </a:prstGeom>
                  <a:noFill/>
                  <a:ln w="28575">
                    <a:solidFill>
                      <a:schemeClr val="tx1"/>
                    </a:solidFill>
                    <a:miter lim="800000"/>
                    <a:headEnd/>
                    <a:tailEnd/>
                  </a:ln>
                </p:spPr>
                <p:txBody>
                  <a:bodyPr>
                    <a:spAutoFit/>
                  </a:bodyPr>
                  <a:lstStyle/>
                  <a:p>
                    <a:pPr>
                      <a:spcBef>
                        <a:spcPct val="50000"/>
                      </a:spcBef>
                    </a:pPr>
                    <a:r>
                      <a:rPr lang="en-US" sz="1600" b="1">
                        <a:latin typeface="Times New Roman" pitchFamily="18" charset="0"/>
                      </a:rPr>
                      <a:t>6</a:t>
                    </a:r>
                  </a:p>
                </p:txBody>
              </p:sp>
              <p:sp>
                <p:nvSpPr>
                  <p:cNvPr id="36" name="Text Box 33"/>
                  <p:cNvSpPr txBox="1">
                    <a:spLocks noChangeArrowheads="1"/>
                  </p:cNvSpPr>
                  <p:nvPr/>
                </p:nvSpPr>
                <p:spPr bwMode="auto">
                  <a:xfrm>
                    <a:off x="1152" y="2544"/>
                    <a:ext cx="192" cy="226"/>
                  </a:xfrm>
                  <a:prstGeom prst="rect">
                    <a:avLst/>
                  </a:prstGeom>
                  <a:noFill/>
                  <a:ln w="28575">
                    <a:solidFill>
                      <a:schemeClr val="tx1"/>
                    </a:solidFill>
                    <a:miter lim="800000"/>
                    <a:headEnd/>
                    <a:tailEnd/>
                  </a:ln>
                </p:spPr>
                <p:txBody>
                  <a:bodyPr>
                    <a:spAutoFit/>
                  </a:bodyPr>
                  <a:lstStyle/>
                  <a:p>
                    <a:pPr>
                      <a:spcBef>
                        <a:spcPct val="50000"/>
                      </a:spcBef>
                    </a:pPr>
                    <a:r>
                      <a:rPr lang="en-US" sz="1600" b="1">
                        <a:latin typeface="Times New Roman" pitchFamily="18" charset="0"/>
                        <a:cs typeface="Times New Roman" pitchFamily="18" charset="0"/>
                      </a:rPr>
                      <a:t>×</a:t>
                    </a:r>
                  </a:p>
                </p:txBody>
              </p:sp>
            </p:grpSp>
            <p:sp>
              <p:nvSpPr>
                <p:cNvPr id="31" name="Line 34"/>
                <p:cNvSpPr>
                  <a:spLocks noChangeShapeType="1"/>
                </p:cNvSpPr>
                <p:nvPr/>
              </p:nvSpPr>
              <p:spPr bwMode="auto">
                <a:xfrm>
                  <a:off x="3216" y="3243"/>
                  <a:ext cx="288" cy="0"/>
                </a:xfrm>
                <a:prstGeom prst="line">
                  <a:avLst/>
                </a:prstGeom>
                <a:noFill/>
                <a:ln w="38100">
                  <a:solidFill>
                    <a:srgbClr val="0000FF"/>
                  </a:solidFill>
                  <a:round/>
                  <a:headEnd type="oval" w="med" len="med"/>
                  <a:tailEnd type="triangle" w="med" len="med"/>
                </a:ln>
              </p:spPr>
              <p:txBody>
                <a:bodyPr/>
                <a:lstStyle/>
                <a:p>
                  <a:endParaRPr lang="en-US"/>
                </a:p>
              </p:txBody>
            </p:sp>
            <p:sp>
              <p:nvSpPr>
                <p:cNvPr id="32" name="Line 35"/>
                <p:cNvSpPr>
                  <a:spLocks noChangeShapeType="1"/>
                </p:cNvSpPr>
                <p:nvPr/>
              </p:nvSpPr>
              <p:spPr bwMode="auto">
                <a:xfrm>
                  <a:off x="4245" y="3237"/>
                  <a:ext cx="288" cy="0"/>
                </a:xfrm>
                <a:prstGeom prst="line">
                  <a:avLst/>
                </a:prstGeom>
                <a:noFill/>
                <a:ln w="38100">
                  <a:solidFill>
                    <a:srgbClr val="0000FF"/>
                  </a:solidFill>
                  <a:round/>
                  <a:headEnd type="oval" w="med" len="med"/>
                  <a:tailEnd type="triangle" w="med" len="med"/>
                </a:ln>
              </p:spPr>
              <p:txBody>
                <a:bodyPr/>
                <a:lstStyle/>
                <a:p>
                  <a:endParaRPr lang="en-US"/>
                </a:p>
              </p:txBody>
            </p:sp>
            <p:sp>
              <p:nvSpPr>
                <p:cNvPr id="33" name="Freeform 36"/>
                <p:cNvSpPr>
                  <a:spLocks/>
                </p:cNvSpPr>
                <p:nvPr/>
              </p:nvSpPr>
              <p:spPr bwMode="auto">
                <a:xfrm>
                  <a:off x="2208" y="2608"/>
                  <a:ext cx="1400" cy="640"/>
                </a:xfrm>
                <a:custGeom>
                  <a:avLst/>
                  <a:gdLst>
                    <a:gd name="T0" fmla="*/ 1056 w 1400"/>
                    <a:gd name="T1" fmla="*/ 32 h 640"/>
                    <a:gd name="T2" fmla="*/ 1248 w 1400"/>
                    <a:gd name="T3" fmla="*/ 32 h 640"/>
                    <a:gd name="T4" fmla="*/ 1392 w 1400"/>
                    <a:gd name="T5" fmla="*/ 224 h 640"/>
                    <a:gd name="T6" fmla="*/ 1200 w 1400"/>
                    <a:gd name="T7" fmla="*/ 320 h 640"/>
                    <a:gd name="T8" fmla="*/ 528 w 1400"/>
                    <a:gd name="T9" fmla="*/ 320 h 640"/>
                    <a:gd name="T10" fmla="*/ 96 w 1400"/>
                    <a:gd name="T11" fmla="*/ 416 h 640"/>
                    <a:gd name="T12" fmla="*/ 0 w 1400"/>
                    <a:gd name="T13" fmla="*/ 608 h 640"/>
                    <a:gd name="T14" fmla="*/ 96 w 1400"/>
                    <a:gd name="T15" fmla="*/ 608 h 640"/>
                    <a:gd name="T16" fmla="*/ 288 w 1400"/>
                    <a:gd name="T17" fmla="*/ 608 h 6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00"/>
                    <a:gd name="T28" fmla="*/ 0 h 640"/>
                    <a:gd name="T29" fmla="*/ 1400 w 1400"/>
                    <a:gd name="T30" fmla="*/ 640 h 6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00" h="640">
                      <a:moveTo>
                        <a:pt x="1056" y="32"/>
                      </a:moveTo>
                      <a:cubicBezTo>
                        <a:pt x="1124" y="16"/>
                        <a:pt x="1192" y="0"/>
                        <a:pt x="1248" y="32"/>
                      </a:cubicBezTo>
                      <a:cubicBezTo>
                        <a:pt x="1304" y="64"/>
                        <a:pt x="1400" y="176"/>
                        <a:pt x="1392" y="224"/>
                      </a:cubicBezTo>
                      <a:cubicBezTo>
                        <a:pt x="1384" y="272"/>
                        <a:pt x="1344" y="304"/>
                        <a:pt x="1200" y="320"/>
                      </a:cubicBezTo>
                      <a:cubicBezTo>
                        <a:pt x="1056" y="336"/>
                        <a:pt x="712" y="304"/>
                        <a:pt x="528" y="320"/>
                      </a:cubicBezTo>
                      <a:cubicBezTo>
                        <a:pt x="344" y="336"/>
                        <a:pt x="184" y="368"/>
                        <a:pt x="96" y="416"/>
                      </a:cubicBezTo>
                      <a:cubicBezTo>
                        <a:pt x="8" y="464"/>
                        <a:pt x="0" y="576"/>
                        <a:pt x="0" y="608"/>
                      </a:cubicBezTo>
                      <a:cubicBezTo>
                        <a:pt x="0" y="640"/>
                        <a:pt x="48" y="608"/>
                        <a:pt x="96" y="608"/>
                      </a:cubicBezTo>
                      <a:cubicBezTo>
                        <a:pt x="144" y="608"/>
                        <a:pt x="216" y="608"/>
                        <a:pt x="288" y="608"/>
                      </a:cubicBezTo>
                    </a:path>
                  </a:pathLst>
                </a:custGeom>
                <a:noFill/>
                <a:ln w="28575">
                  <a:solidFill>
                    <a:srgbClr val="0000FF"/>
                  </a:solidFill>
                  <a:round/>
                  <a:headEnd type="oval" w="med" len="med"/>
                  <a:tailEnd type="triangle" w="med" len="med"/>
                </a:ln>
              </p:spPr>
              <p:txBody>
                <a:bodyPr/>
                <a:lstStyle/>
                <a:p>
                  <a:endParaRPr lang="en-US"/>
                </a:p>
              </p:txBody>
            </p:sp>
          </p:grpSp>
          <p:sp>
            <p:nvSpPr>
              <p:cNvPr id="16" name="Rectangle 37"/>
              <p:cNvSpPr>
                <a:spLocks noChangeArrowheads="1"/>
              </p:cNvSpPr>
              <p:nvPr/>
            </p:nvSpPr>
            <p:spPr bwMode="auto">
              <a:xfrm>
                <a:off x="288" y="2544"/>
                <a:ext cx="384" cy="240"/>
              </a:xfrm>
              <a:prstGeom prst="rect">
                <a:avLst/>
              </a:prstGeom>
              <a:solidFill>
                <a:srgbClr val="FF6600"/>
              </a:solidFill>
              <a:ln w="9525">
                <a:solidFill>
                  <a:schemeClr val="tx1"/>
                </a:solidFill>
                <a:miter lim="800000"/>
                <a:headEnd/>
                <a:tailEnd/>
              </a:ln>
            </p:spPr>
            <p:txBody>
              <a:bodyPr wrap="none" anchor="ctr"/>
              <a:lstStyle/>
              <a:p>
                <a:endParaRPr lang="en-US"/>
              </a:p>
            </p:txBody>
          </p:sp>
          <p:sp>
            <p:nvSpPr>
              <p:cNvPr id="21" name="Freeform 38"/>
              <p:cNvSpPr>
                <a:spLocks/>
              </p:cNvSpPr>
              <p:nvPr/>
            </p:nvSpPr>
            <p:spPr bwMode="auto">
              <a:xfrm>
                <a:off x="440" y="2664"/>
                <a:ext cx="472" cy="544"/>
              </a:xfrm>
              <a:custGeom>
                <a:avLst/>
                <a:gdLst>
                  <a:gd name="T0" fmla="*/ 80 w 472"/>
                  <a:gd name="T1" fmla="*/ 24 h 544"/>
                  <a:gd name="T2" fmla="*/ 416 w 472"/>
                  <a:gd name="T3" fmla="*/ 24 h 544"/>
                  <a:gd name="T4" fmla="*/ 416 w 472"/>
                  <a:gd name="T5" fmla="*/ 168 h 544"/>
                  <a:gd name="T6" fmla="*/ 416 w 472"/>
                  <a:gd name="T7" fmla="*/ 264 h 544"/>
                  <a:gd name="T8" fmla="*/ 128 w 472"/>
                  <a:gd name="T9" fmla="*/ 264 h 544"/>
                  <a:gd name="T10" fmla="*/ 32 w 472"/>
                  <a:gd name="T11" fmla="*/ 264 h 544"/>
                  <a:gd name="T12" fmla="*/ 32 w 472"/>
                  <a:gd name="T13" fmla="*/ 504 h 544"/>
                  <a:gd name="T14" fmla="*/ 224 w 472"/>
                  <a:gd name="T15" fmla="*/ 504 h 544"/>
                  <a:gd name="T16" fmla="*/ 0 60000 65536"/>
                  <a:gd name="T17" fmla="*/ 0 60000 65536"/>
                  <a:gd name="T18" fmla="*/ 0 60000 65536"/>
                  <a:gd name="T19" fmla="*/ 0 60000 65536"/>
                  <a:gd name="T20" fmla="*/ 0 60000 65536"/>
                  <a:gd name="T21" fmla="*/ 0 60000 65536"/>
                  <a:gd name="T22" fmla="*/ 0 60000 65536"/>
                  <a:gd name="T23" fmla="*/ 0 60000 65536"/>
                  <a:gd name="T24" fmla="*/ 0 w 472"/>
                  <a:gd name="T25" fmla="*/ 0 h 544"/>
                  <a:gd name="T26" fmla="*/ 472 w 472"/>
                  <a:gd name="T27" fmla="*/ 544 h 5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72" h="544">
                    <a:moveTo>
                      <a:pt x="80" y="24"/>
                    </a:moveTo>
                    <a:cubicBezTo>
                      <a:pt x="220" y="12"/>
                      <a:pt x="360" y="0"/>
                      <a:pt x="416" y="24"/>
                    </a:cubicBezTo>
                    <a:cubicBezTo>
                      <a:pt x="472" y="48"/>
                      <a:pt x="416" y="128"/>
                      <a:pt x="416" y="168"/>
                    </a:cubicBezTo>
                    <a:cubicBezTo>
                      <a:pt x="416" y="208"/>
                      <a:pt x="464" y="248"/>
                      <a:pt x="416" y="264"/>
                    </a:cubicBezTo>
                    <a:cubicBezTo>
                      <a:pt x="368" y="280"/>
                      <a:pt x="192" y="264"/>
                      <a:pt x="128" y="264"/>
                    </a:cubicBezTo>
                    <a:cubicBezTo>
                      <a:pt x="64" y="264"/>
                      <a:pt x="48" y="224"/>
                      <a:pt x="32" y="264"/>
                    </a:cubicBezTo>
                    <a:cubicBezTo>
                      <a:pt x="16" y="304"/>
                      <a:pt x="0" y="464"/>
                      <a:pt x="32" y="504"/>
                    </a:cubicBezTo>
                    <a:cubicBezTo>
                      <a:pt x="64" y="544"/>
                      <a:pt x="144" y="524"/>
                      <a:pt x="224" y="504"/>
                    </a:cubicBezTo>
                  </a:path>
                </a:pathLst>
              </a:custGeom>
              <a:noFill/>
              <a:ln w="28575">
                <a:solidFill>
                  <a:srgbClr val="0000FF"/>
                </a:solidFill>
                <a:round/>
                <a:headEnd type="oval" w="med" len="med"/>
                <a:tailEnd type="triangle" w="med" len="med"/>
              </a:ln>
            </p:spPr>
            <p:txBody>
              <a:bodyPr/>
              <a:lstStyle/>
              <a:p>
                <a:endParaRPr lang="en-US"/>
              </a:p>
            </p:txBody>
          </p:sp>
          <p:sp>
            <p:nvSpPr>
              <p:cNvPr id="22" name="Text Box 39"/>
              <p:cNvSpPr txBox="1">
                <a:spLocks noChangeArrowheads="1"/>
              </p:cNvSpPr>
              <p:nvPr/>
            </p:nvSpPr>
            <p:spPr bwMode="auto">
              <a:xfrm>
                <a:off x="288" y="2380"/>
                <a:ext cx="418" cy="209"/>
              </a:xfrm>
              <a:prstGeom prst="rect">
                <a:avLst/>
              </a:prstGeom>
              <a:noFill/>
              <a:ln w="9525">
                <a:noFill/>
                <a:miter lim="800000"/>
                <a:headEnd/>
                <a:tailEnd/>
              </a:ln>
            </p:spPr>
            <p:txBody>
              <a:bodyPr>
                <a:spAutoFit/>
              </a:bodyPr>
              <a:lstStyle/>
              <a:p>
                <a:pPr>
                  <a:spcBef>
                    <a:spcPct val="50000"/>
                  </a:spcBef>
                </a:pPr>
                <a:r>
                  <a:rPr lang="en-US" sz="1600">
                    <a:latin typeface="Times New Roman" pitchFamily="18" charset="0"/>
                  </a:rPr>
                  <a:t>Start</a:t>
                </a:r>
              </a:p>
            </p:txBody>
          </p:sp>
        </p:grpSp>
        <p:sp>
          <p:nvSpPr>
            <p:cNvPr id="13" name="Text Box 40"/>
            <p:cNvSpPr txBox="1">
              <a:spLocks noChangeArrowheads="1"/>
            </p:cNvSpPr>
            <p:nvPr/>
          </p:nvSpPr>
          <p:spPr bwMode="auto">
            <a:xfrm>
              <a:off x="1104" y="2048"/>
              <a:ext cx="432" cy="189"/>
            </a:xfrm>
            <a:prstGeom prst="rect">
              <a:avLst/>
            </a:prstGeom>
            <a:noFill/>
            <a:ln w="9525">
              <a:noFill/>
              <a:miter lim="800000"/>
              <a:headEnd/>
              <a:tailEnd/>
            </a:ln>
          </p:spPr>
          <p:txBody>
            <a:bodyPr>
              <a:spAutoFit/>
            </a:bodyPr>
            <a:lstStyle/>
            <a:p>
              <a:pPr>
                <a:spcBef>
                  <a:spcPct val="50000"/>
                </a:spcBef>
              </a:pPr>
              <a:r>
                <a:rPr lang="en-US" sz="1400" b="1">
                  <a:solidFill>
                    <a:srgbClr val="FF6600"/>
                  </a:solidFill>
                  <a:latin typeface="Times New Roman" pitchFamily="18" charset="0"/>
                </a:rPr>
                <a:t>PRN</a:t>
              </a:r>
            </a:p>
          </p:txBody>
        </p:sp>
      </p:gr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524000"/>
            <a:ext cx="8001000" cy="48006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Sample Q. </a:t>
            </a:r>
          </a:p>
          <a:p>
            <a:pPr>
              <a:buNone/>
            </a:pPr>
            <a:r>
              <a:rPr lang="en-US" sz="1600" dirty="0" smtClean="0">
                <a:latin typeface="Times New Roman" pitchFamily="18" charset="0"/>
                <a:cs typeface="Times New Roman" pitchFamily="18" charset="0"/>
              </a:rPr>
              <a:t>	</a:t>
            </a:r>
          </a:p>
          <a:p>
            <a:pPr>
              <a:buNone/>
            </a:pPr>
            <a:r>
              <a:rPr lang="en-US" sz="1600" b="1" dirty="0" smtClean="0">
                <a:latin typeface="Times New Roman" pitchFamily="18" charset="0"/>
                <a:cs typeface="Times New Roman" pitchFamily="18" charset="0"/>
              </a:rPr>
              <a:t>Q:</a:t>
            </a:r>
            <a:r>
              <a:rPr lang="en-US" sz="1600" dirty="0" smtClean="0">
                <a:latin typeface="Times New Roman" pitchFamily="18" charset="0"/>
                <a:cs typeface="Times New Roman" pitchFamily="18" charset="0"/>
              </a:rPr>
              <a:t> For the following expressions, trace the conversion of infix to postfix form in tabular form:</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A + B * C / D - E + F / G / ( H + I ) </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Ans</a:t>
            </a:r>
            <a:r>
              <a:rPr lang="en-US" sz="1600" dirty="0" smtClean="0">
                <a:latin typeface="Times New Roman" pitchFamily="18" charset="0"/>
                <a:cs typeface="Times New Roman" pitchFamily="18" charset="0"/>
              </a:rPr>
              <a:t>: Postfix expression is: A B C * D / + E – F G / H I + / +</a:t>
            </a:r>
          </a:p>
          <a:p>
            <a:pPr>
              <a:buNone/>
            </a:pPr>
            <a:endParaRPr lang="en-US" sz="16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	ii.  ( A + B ) * C + D / ( B + A * C ) + D</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Ans</a:t>
            </a:r>
            <a:r>
              <a:rPr lang="en-US" sz="1600" dirty="0" smtClean="0">
                <a:latin typeface="Times New Roman" pitchFamily="18" charset="0"/>
                <a:cs typeface="Times New Roman" pitchFamily="18" charset="0"/>
              </a:rPr>
              <a:t>: Postfix expression is: A B + C * D B A C * + / + D +</a:t>
            </a:r>
          </a:p>
          <a:p>
            <a:pPr>
              <a:buNone/>
            </a:pPr>
            <a:endParaRPr lang="en-US" sz="1600" dirty="0" smtClean="0">
              <a:latin typeface="Times New Roman" pitchFamily="18" charset="0"/>
              <a:cs typeface="Times New Roman" pitchFamily="18" charset="0"/>
            </a:endParaRPr>
          </a:p>
          <a:p>
            <a:pPr>
              <a:buNone/>
            </a:pPr>
            <a:r>
              <a:rPr lang="en-US" sz="1600" b="1" dirty="0" smtClean="0">
                <a:latin typeface="Times New Roman" pitchFamily="18" charset="0"/>
                <a:cs typeface="Times New Roman" pitchFamily="18" charset="0"/>
              </a:rPr>
              <a:t>Q:</a:t>
            </a:r>
            <a:r>
              <a:rPr lang="en-US" sz="1600" dirty="0" smtClean="0">
                <a:latin typeface="Times New Roman" pitchFamily="18" charset="0"/>
                <a:cs typeface="Times New Roman" pitchFamily="18" charset="0"/>
              </a:rPr>
              <a:t> Evaluate the following expression showing every status of stack in tabular form.</a:t>
            </a:r>
          </a:p>
          <a:p>
            <a:pPr marL="400050" indent="-400050">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a:t>
            </a:r>
            <a:r>
              <a:rPr lang="en-US" sz="1600" dirty="0" smtClean="0">
                <a:latin typeface="Times New Roman" pitchFamily="18" charset="0"/>
                <a:cs typeface="Times New Roman" pitchFamily="18" charset="0"/>
              </a:rPr>
              <a:t>. 5 4 6 + * 4 9 3 / + * </a:t>
            </a:r>
          </a:p>
          <a:p>
            <a:pPr marL="400050" indent="-400050">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Ans</a:t>
            </a:r>
            <a:r>
              <a:rPr lang="en-US" sz="1600" dirty="0" smtClean="0">
                <a:latin typeface="Times New Roman" pitchFamily="18" charset="0"/>
                <a:cs typeface="Times New Roman" pitchFamily="18" charset="0"/>
              </a:rPr>
              <a:t>: 350</a:t>
            </a:r>
          </a:p>
          <a:p>
            <a:pPr marL="400050" indent="-400050">
              <a:buNone/>
            </a:pPr>
            <a:r>
              <a:rPr lang="en-US" sz="1600" dirty="0" smtClean="0">
                <a:latin typeface="Times New Roman" pitchFamily="18" charset="0"/>
                <a:cs typeface="Times New Roman" pitchFamily="18" charset="0"/>
              </a:rPr>
              <a:t>	ii. 7 5 2 + * 4 1 1 + / -</a:t>
            </a:r>
          </a:p>
          <a:p>
            <a:pPr marL="400050" indent="-400050">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Ans</a:t>
            </a:r>
            <a:r>
              <a:rPr lang="en-US" sz="1600" dirty="0" smtClean="0">
                <a:latin typeface="Times New Roman" pitchFamily="18" charset="0"/>
                <a:cs typeface="Times New Roman" pitchFamily="18" charset="0"/>
              </a:rPr>
              <a:t>: 47</a:t>
            </a:r>
          </a:p>
          <a:p>
            <a:pPr marL="400050" indent="-400050">
              <a:buNone/>
            </a:pPr>
            <a:endParaRPr lang="en-US" sz="1600" dirty="0" smtClean="0">
              <a:latin typeface="Times New Roman" pitchFamily="18" charset="0"/>
              <a:cs typeface="Times New Roman" pitchFamily="18" charset="0"/>
            </a:endParaRPr>
          </a:p>
          <a:p>
            <a:pPr marL="400050" indent="-400050">
              <a:buNone/>
            </a:pPr>
            <a:endParaRPr lang="en-US" sz="1600" dirty="0" smtClean="0">
              <a:latin typeface="Times New Roman" pitchFamily="18" charset="0"/>
              <a:cs typeface="Times New Roman" pitchFamily="18" charset="0"/>
            </a:endParaRPr>
          </a:p>
          <a:p>
            <a:pPr marL="400050" indent="-400050">
              <a:buNone/>
            </a:pPr>
            <a:endParaRPr lang="en-US" sz="1600"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46</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dirty="0" smtClean="0">
                <a:latin typeface="Times New Roman" pitchFamily="18" charset="0"/>
                <a:cs typeface="Times New Roman" pitchFamily="18" charset="0"/>
              </a:rPr>
              <a:t>Data Structures</a:t>
            </a:r>
            <a:endParaRPr lang="en-US" dirty="0">
              <a:latin typeface="Times New Roman" pitchFamily="18" charset="0"/>
              <a:cs typeface="Times New Roman" pitchFamily="18" charset="0"/>
            </a:endParaRPr>
          </a:p>
        </p:txBody>
      </p:sp>
      <p:sp>
        <p:nvSpPr>
          <p:cNvPr id="17" name="Content Placeholder 16"/>
          <p:cNvSpPr>
            <a:spLocks noGrp="1"/>
          </p:cNvSpPr>
          <p:nvPr>
            <p:ph sz="half" idx="4294967295"/>
          </p:nvPr>
        </p:nvSpPr>
        <p:spPr>
          <a:xfrm>
            <a:off x="533400" y="1524000"/>
            <a:ext cx="8001000" cy="4800600"/>
          </a:xfrm>
          <a:prstGeom prst="rect">
            <a:avLst/>
          </a:prstGeom>
        </p:spPr>
        <p:txBody>
          <a:bodyPr/>
          <a:lstStyle/>
          <a:p>
            <a:pPr>
              <a:buFont typeface="Wingdings" pitchFamily="2" charset="2"/>
              <a:buChar char="q"/>
            </a:pPr>
            <a:r>
              <a:rPr lang="en-US" sz="1600" dirty="0" smtClean="0">
                <a:latin typeface="Times New Roman" pitchFamily="18" charset="0"/>
                <a:cs typeface="Times New Roman" pitchFamily="18" charset="0"/>
              </a:rPr>
              <a:t>Sample Q. </a:t>
            </a:r>
          </a:p>
          <a:p>
            <a:pPr>
              <a:buNone/>
            </a:pPr>
            <a:r>
              <a:rPr lang="en-US" sz="1600" dirty="0" smtClean="0">
                <a:latin typeface="Times New Roman" pitchFamily="18" charset="0"/>
                <a:cs typeface="Times New Roman" pitchFamily="18" charset="0"/>
              </a:rPr>
              <a:t>	</a:t>
            </a:r>
          </a:p>
          <a:p>
            <a:pPr>
              <a:buNone/>
            </a:pPr>
            <a:r>
              <a:rPr lang="en-US" sz="1600" b="1" dirty="0" smtClean="0">
                <a:latin typeface="Times New Roman" pitchFamily="18" charset="0"/>
                <a:cs typeface="Times New Roman" pitchFamily="18" charset="0"/>
              </a:rPr>
              <a:t>Q: </a:t>
            </a:r>
            <a:r>
              <a:rPr lang="en-US" sz="1600" dirty="0" smtClean="0">
                <a:latin typeface="Times New Roman" pitchFamily="18" charset="0"/>
                <a:cs typeface="Times New Roman" pitchFamily="18" charset="0"/>
              </a:rPr>
              <a:t>Consider the following arithmetic expression P, written in postfix notation. Translate it in infix notation and evaluate. P: 12, 7, 3, -, /, 2, 1, 5, +, *, +</a:t>
            </a:r>
          </a:p>
          <a:p>
            <a:pPr>
              <a:buNone/>
            </a:pPr>
            <a:endParaRPr lang="en-US" sz="1600" dirty="0" smtClean="0">
              <a:latin typeface="Times New Roman" pitchFamily="18" charset="0"/>
              <a:cs typeface="Times New Roman" pitchFamily="18" charset="0"/>
            </a:endParaRP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Ans</a:t>
            </a:r>
            <a:r>
              <a:rPr lang="en-US" sz="1600" dirty="0" smtClean="0">
                <a:latin typeface="Times New Roman" pitchFamily="18" charset="0"/>
                <a:cs typeface="Times New Roman" pitchFamily="18" charset="0"/>
              </a:rPr>
              <a:t>: In infix notation is: ( 12 / ( 7 – 3 ) ) + ( ( 5 + 1 ) * 2 )</a:t>
            </a:r>
          </a:p>
          <a:p>
            <a:pPr>
              <a:buNone/>
            </a:pPr>
            <a:r>
              <a:rPr lang="en-US" sz="1600" dirty="0" smtClean="0">
                <a:latin typeface="Times New Roman" pitchFamily="18" charset="0"/>
                <a:cs typeface="Times New Roman" pitchFamily="18" charset="0"/>
              </a:rPr>
              <a:t>		Value = 15</a:t>
            </a: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a:buNone/>
            </a:pPr>
            <a:endParaRPr lang="en-US" sz="1600" dirty="0" smtClean="0">
              <a:latin typeface="Times New Roman" pitchFamily="18" charset="0"/>
              <a:cs typeface="Times New Roman" pitchFamily="18" charset="0"/>
            </a:endParaRPr>
          </a:p>
          <a:p>
            <a:pPr marL="400050" indent="-400050">
              <a:buNone/>
            </a:pPr>
            <a:endParaRPr lang="en-US" sz="1600" dirty="0" smtClean="0">
              <a:latin typeface="Times New Roman" pitchFamily="18" charset="0"/>
              <a:cs typeface="Times New Roman" pitchFamily="18" charset="0"/>
            </a:endParaRPr>
          </a:p>
          <a:p>
            <a:pPr marL="400050" indent="-400050">
              <a:buNone/>
            </a:pPr>
            <a:endParaRPr lang="en-US" sz="1600" dirty="0" smtClean="0">
              <a:latin typeface="Times New Roman" pitchFamily="18" charset="0"/>
              <a:cs typeface="Times New Roman" pitchFamily="18" charset="0"/>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47</a:t>
            </a:fld>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1933</TotalTime>
  <Words>2208</Words>
  <Application>Microsoft Office PowerPoint</Application>
  <PresentationFormat>On-screen Show (4:3)</PresentationFormat>
  <Paragraphs>744</Paragraphs>
  <Slides>47</Slides>
  <Notes>45</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3" baseType="lpstr">
      <vt:lpstr>Arial</vt:lpstr>
      <vt:lpstr>Calibri</vt:lpstr>
      <vt:lpstr>Times New Roman</vt:lpstr>
      <vt:lpstr>Wingdings</vt:lpstr>
      <vt:lpstr>Office Theme</vt:lpstr>
      <vt:lpstr>Equation</vt:lpstr>
      <vt:lpstr>Data Structure and Algorithm (PMSCS 623P)</vt:lpstr>
      <vt:lpstr>Data Structures</vt:lpstr>
      <vt:lpstr>An Example of a Stack</vt:lpstr>
      <vt:lpstr>Data Structures</vt:lpstr>
      <vt:lpstr>Data Structures</vt:lpstr>
      <vt:lpstr>Data Structures</vt:lpstr>
      <vt:lpstr>Data Structures</vt:lpstr>
      <vt:lpstr>Data Structures</vt:lpstr>
      <vt:lpstr>PowerPoint Presentation</vt:lpstr>
      <vt:lpstr>Data Structures</vt:lpstr>
      <vt:lpstr>Data Structures</vt:lpstr>
      <vt:lpstr>Data Structures</vt:lpstr>
      <vt:lpstr>Data Structures</vt:lpstr>
      <vt:lpstr>Data Structures</vt:lpstr>
      <vt:lpstr>Data Structures</vt:lpstr>
      <vt:lpstr>Data Structures</vt:lpstr>
      <vt:lpstr>Application of Stacks - Evaluating Postfix Expression</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lpstr>Data Structures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asus</cp:lastModifiedBy>
  <cp:revision>1850</cp:revision>
  <dcterms:created xsi:type="dcterms:W3CDTF">2014-09-22T15:27:45Z</dcterms:created>
  <dcterms:modified xsi:type="dcterms:W3CDTF">2024-04-14T05:13:43Z</dcterms:modified>
</cp:coreProperties>
</file>