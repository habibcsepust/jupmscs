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92" r:id="rId2"/>
    <p:sldId id="293" r:id="rId3"/>
    <p:sldId id="294" r:id="rId4"/>
    <p:sldId id="295" r:id="rId5"/>
    <p:sldId id="296" r:id="rId6"/>
    <p:sldId id="297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6" r:id="rId44"/>
    <p:sldId id="307" r:id="rId45"/>
    <p:sldId id="308" r:id="rId46"/>
    <p:sldId id="309" r:id="rId47"/>
    <p:sldId id="310" r:id="rId48"/>
    <p:sldId id="311" r:id="rId4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E4667-506E-4CC0-B705-F0E1609A96FD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B826D-B62F-4433-86CB-30C6454B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52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A50F17-8167-4B7B-8E62-57AB1707FF04}" type="slidenum">
              <a:rPr lang="en-US" sz="1200"/>
              <a:pPr eaLnBrk="1" hangingPunct="1"/>
              <a:t>45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6459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50C68C-A19E-4A98-B6F4-311FB243A639}" type="slidenum">
              <a:rPr lang="en-US" sz="1200"/>
              <a:pPr eaLnBrk="1" hangingPunct="1"/>
              <a:t>46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78707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2DF15EE-3B58-4146-8FA8-3EC3712BAEEB}" type="slidenum">
              <a:rPr lang="en-US" sz="1200"/>
              <a:pPr eaLnBrk="1" hangingPunct="1"/>
              <a:t>47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06034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8060AE-317F-4C14-A6D2-C2D0A512799B}" type="slidenum">
              <a:rPr lang="en-US" sz="1200"/>
              <a:pPr eaLnBrk="1" hangingPunct="1"/>
              <a:t>48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41655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33980" y="2232101"/>
            <a:ext cx="4876038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427988" y="3752088"/>
            <a:ext cx="6306312" cy="12710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2420" y="381"/>
            <a:ext cx="597915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0991" y="6570384"/>
            <a:ext cx="621728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5800" y="877716"/>
            <a:ext cx="7772400" cy="15515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altLang="en-US" sz="6600" b="1" dirty="0"/>
              <a:t>Data Structure and Algorithm</a:t>
            </a:r>
            <a:br>
              <a:rPr lang="en-US" altLang="en-US" sz="6600" b="1" dirty="0"/>
            </a:br>
            <a:r>
              <a:rPr lang="en-US" altLang="en-US" sz="4800" b="1" dirty="0">
                <a:solidFill>
                  <a:srgbClr val="00B050"/>
                </a:solidFill>
              </a:rPr>
              <a:t>(PMSCS 623P)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4038600"/>
            <a:ext cx="6400800" cy="1752600"/>
          </a:xfrm>
          <a:prstGeom prst="rect">
            <a:avLst/>
          </a:prstGeom>
        </p:spPr>
        <p:txBody>
          <a:bodyPr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20000"/>
              <a:t>Lecture </a:t>
            </a:r>
            <a:r>
              <a:rPr lang="en-US" sz="20000" smtClean="0"/>
              <a:t>8</a:t>
            </a:r>
            <a:endParaRPr lang="en-US" sz="19200" dirty="0"/>
          </a:p>
          <a:p>
            <a:pPr marL="0" indent="0" algn="ctr">
              <a:buNone/>
              <a:defRPr/>
            </a:pPr>
            <a:r>
              <a:rPr lang="en-US" sz="10000" dirty="0">
                <a:solidFill>
                  <a:schemeClr val="accent1">
                    <a:lumMod val="50000"/>
                  </a:schemeClr>
                </a:solidFill>
              </a:rPr>
              <a:t>Divide and Conquer (Quicksort)</a:t>
            </a:r>
          </a:p>
        </p:txBody>
      </p:sp>
    </p:spTree>
    <p:extLst>
      <p:ext uri="{BB962C8B-B14F-4D97-AF65-F5344CB8AC3E}">
        <p14:creationId xmlns:p14="http://schemas.microsoft.com/office/powerpoint/2010/main" val="249653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92162"/>
          </a:xfrm>
        </p:spPr>
        <p:txBody>
          <a:bodyPr>
            <a:normAutofit/>
          </a:bodyPr>
          <a:lstStyle/>
          <a:p>
            <a:pPr algn="ctr"/>
            <a:r>
              <a:rPr lang="en-US" altLang="en-US" b="1" u="sng" dirty="0"/>
              <a:t>Quicksort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533400" y="1295400"/>
            <a:ext cx="8229600" cy="5181600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altLang="en-US" sz="2400" dirty="0"/>
              <a:t>Follows the </a:t>
            </a:r>
            <a:r>
              <a:rPr lang="en-US" altLang="en-US" sz="2400" b="1" dirty="0">
                <a:solidFill>
                  <a:srgbClr val="CC3300"/>
                </a:solidFill>
              </a:rPr>
              <a:t>divide-and-conquer</a:t>
            </a:r>
            <a:r>
              <a:rPr lang="en-US" altLang="en-US" sz="2400" dirty="0"/>
              <a:t> paradigm.</a:t>
            </a:r>
          </a:p>
          <a:p>
            <a:pPr algn="just">
              <a:spcBef>
                <a:spcPts val="1800"/>
              </a:spcBef>
            </a:pPr>
            <a:r>
              <a:rPr lang="en-US" altLang="en-US" sz="2400" b="1" i="1" dirty="0">
                <a:solidFill>
                  <a:srgbClr val="CC3300"/>
                </a:solidFill>
              </a:rPr>
              <a:t>Divide</a:t>
            </a:r>
            <a:r>
              <a:rPr lang="en-US" altLang="en-US" sz="2400" b="1" dirty="0">
                <a:solidFill>
                  <a:srgbClr val="CC3300"/>
                </a:solidFill>
              </a:rPr>
              <a:t>:</a:t>
            </a:r>
            <a:r>
              <a:rPr lang="en-US" altLang="en-US" sz="2400" dirty="0">
                <a:solidFill>
                  <a:srgbClr val="CC3300"/>
                </a:solidFill>
              </a:rPr>
              <a:t> </a:t>
            </a:r>
            <a:r>
              <a:rPr lang="en-US" altLang="en-US" sz="2400" dirty="0">
                <a:solidFill>
                  <a:schemeClr val="hlink"/>
                </a:solidFill>
              </a:rPr>
              <a:t>Partition</a:t>
            </a:r>
            <a:r>
              <a:rPr lang="en-US" altLang="en-US" sz="2400" dirty="0"/>
              <a:t> (separate) the array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p</a:t>
            </a:r>
            <a:r>
              <a:rPr lang="en-US" altLang="en-US" sz="2400" dirty="0" err="1"/>
              <a:t>..</a:t>
            </a:r>
            <a:r>
              <a:rPr lang="en-US" altLang="en-US" sz="2400" i="1" dirty="0" err="1"/>
              <a:t>r</a:t>
            </a:r>
            <a:r>
              <a:rPr lang="en-US" altLang="en-US" sz="2400" dirty="0"/>
              <a:t>] into two (possibly empty) </a:t>
            </a:r>
            <a:r>
              <a:rPr lang="en-US" altLang="en-US" sz="2400" dirty="0" err="1"/>
              <a:t>subarrays</a:t>
            </a:r>
            <a:r>
              <a:rPr lang="en-US" altLang="en-US" sz="2400" dirty="0"/>
              <a:t>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p</a:t>
            </a:r>
            <a:r>
              <a:rPr lang="en-US" altLang="en-US" sz="2400" dirty="0" err="1"/>
              <a:t>..</a:t>
            </a:r>
            <a:r>
              <a:rPr lang="en-US" altLang="en-US" sz="2400" i="1" dirty="0" err="1"/>
              <a:t>q</a:t>
            </a:r>
            <a:r>
              <a:rPr lang="en-US" altLang="en-US" sz="2400" i="1" dirty="0"/>
              <a:t>–</a:t>
            </a:r>
            <a:r>
              <a:rPr lang="en-US" altLang="en-US" sz="2400" dirty="0"/>
              <a:t>1] and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q+</a:t>
            </a:r>
            <a:r>
              <a:rPr lang="en-US" altLang="en-US" sz="2400" dirty="0"/>
              <a:t>1</a:t>
            </a:r>
            <a:r>
              <a:rPr lang="en-US" altLang="en-US" sz="2400" i="1" dirty="0"/>
              <a:t>..r</a:t>
            </a:r>
            <a:r>
              <a:rPr lang="en-US" altLang="en-US" sz="2400" dirty="0"/>
              <a:t>].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400" dirty="0"/>
              <a:t>Each element in </a:t>
            </a:r>
            <a:r>
              <a:rPr lang="en-US" altLang="en-US" sz="2400" i="1" dirty="0">
                <a:solidFill>
                  <a:schemeClr val="hlink"/>
                </a:solidFill>
              </a:rPr>
              <a:t>A</a:t>
            </a:r>
            <a:r>
              <a:rPr lang="en-US" altLang="en-US" sz="2400" dirty="0">
                <a:solidFill>
                  <a:schemeClr val="hlink"/>
                </a:solidFill>
              </a:rPr>
              <a:t>[</a:t>
            </a:r>
            <a:r>
              <a:rPr lang="en-US" altLang="en-US" sz="2400" i="1" dirty="0" err="1">
                <a:solidFill>
                  <a:schemeClr val="hlink"/>
                </a:solidFill>
              </a:rPr>
              <a:t>p</a:t>
            </a:r>
            <a:r>
              <a:rPr lang="en-US" altLang="en-US" sz="2400" dirty="0" err="1">
                <a:solidFill>
                  <a:schemeClr val="hlink"/>
                </a:solidFill>
              </a:rPr>
              <a:t>..</a:t>
            </a:r>
            <a:r>
              <a:rPr lang="en-US" altLang="en-US" sz="2400" i="1" dirty="0" err="1">
                <a:solidFill>
                  <a:schemeClr val="hlink"/>
                </a:solidFill>
              </a:rPr>
              <a:t>q</a:t>
            </a:r>
            <a:r>
              <a:rPr lang="en-US" altLang="en-US" sz="2400" i="1" dirty="0">
                <a:solidFill>
                  <a:schemeClr val="hlink"/>
                </a:solidFill>
              </a:rPr>
              <a:t>–</a:t>
            </a:r>
            <a:r>
              <a:rPr lang="en-US" altLang="en-US" sz="2400" dirty="0">
                <a:solidFill>
                  <a:schemeClr val="hlink"/>
                </a:solidFill>
              </a:rPr>
              <a:t>1] 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lang="en-US" altLang="en-US" sz="2400" i="1" dirty="0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[</a:t>
            </a:r>
            <a:r>
              <a:rPr lang="en-US" altLang="en-US" sz="2400" i="1" dirty="0">
                <a:solidFill>
                  <a:schemeClr val="hlink"/>
                </a:solidFill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]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400" i="1" dirty="0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[</a:t>
            </a:r>
            <a:r>
              <a:rPr lang="en-US" altLang="en-US" sz="2400" i="1" dirty="0">
                <a:solidFill>
                  <a:schemeClr val="hlink"/>
                </a:solidFill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] &lt;</a:t>
            </a:r>
            <a:r>
              <a:rPr lang="en-US" altLang="en-US" sz="2400" dirty="0">
                <a:sym typeface="Symbol" panose="05050102010706020507" pitchFamily="18" charset="2"/>
              </a:rPr>
              <a:t> each element in </a:t>
            </a:r>
            <a:r>
              <a:rPr lang="en-US" altLang="en-US" sz="2400" i="1" dirty="0">
                <a:solidFill>
                  <a:schemeClr val="hlink"/>
                </a:solidFill>
              </a:rPr>
              <a:t>A</a:t>
            </a:r>
            <a:r>
              <a:rPr lang="en-US" altLang="en-US" sz="2400" dirty="0">
                <a:solidFill>
                  <a:schemeClr val="hlink"/>
                </a:solidFill>
              </a:rPr>
              <a:t>[</a:t>
            </a:r>
            <a:r>
              <a:rPr lang="en-US" altLang="en-US" sz="2400" i="1" dirty="0">
                <a:solidFill>
                  <a:schemeClr val="hlink"/>
                </a:solidFill>
              </a:rPr>
              <a:t>q+</a:t>
            </a:r>
            <a:r>
              <a:rPr lang="en-US" altLang="en-US" sz="2400" dirty="0">
                <a:solidFill>
                  <a:schemeClr val="hlink"/>
                </a:solidFill>
              </a:rPr>
              <a:t>1</a:t>
            </a:r>
            <a:r>
              <a:rPr lang="en-US" altLang="en-US" sz="2400" i="1" dirty="0">
                <a:solidFill>
                  <a:schemeClr val="hlink"/>
                </a:solidFill>
              </a:rPr>
              <a:t>..r</a:t>
            </a:r>
            <a:r>
              <a:rPr lang="en-US" altLang="en-US" sz="2400" dirty="0">
                <a:solidFill>
                  <a:schemeClr val="hlink"/>
                </a:solidFill>
              </a:rPr>
              <a:t>]</a:t>
            </a:r>
            <a:r>
              <a:rPr lang="en-US" altLang="en-US" sz="2400" dirty="0"/>
              <a:t>.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400" dirty="0">
                <a:sym typeface="Symbol" panose="05050102010706020507" pitchFamily="18" charset="2"/>
              </a:rPr>
              <a:t>Index </a:t>
            </a:r>
            <a:r>
              <a:rPr lang="en-US" altLang="en-US" sz="2400" i="1" dirty="0"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sym typeface="Symbol" panose="05050102010706020507" pitchFamily="18" charset="2"/>
              </a:rPr>
              <a:t> is computed as part of the partitioning procedure.</a:t>
            </a:r>
            <a:endParaRPr lang="en-US" altLang="en-US" sz="1050" dirty="0"/>
          </a:p>
          <a:p>
            <a:pPr algn="just">
              <a:spcBef>
                <a:spcPts val="1800"/>
              </a:spcBef>
            </a:pPr>
            <a:r>
              <a:rPr lang="en-US" altLang="en-US" sz="2400" b="1" i="1" dirty="0">
                <a:solidFill>
                  <a:srgbClr val="CC3300"/>
                </a:solidFill>
              </a:rPr>
              <a:t>Conquer</a:t>
            </a:r>
            <a:r>
              <a:rPr lang="en-US" altLang="en-US" sz="2400" b="1" dirty="0">
                <a:solidFill>
                  <a:srgbClr val="CC3300"/>
                </a:solidFill>
              </a:rPr>
              <a:t>:</a:t>
            </a:r>
            <a:r>
              <a:rPr lang="en-US" altLang="en-US" sz="2400" dirty="0"/>
              <a:t>  Sort the two </a:t>
            </a:r>
            <a:r>
              <a:rPr lang="en-US" altLang="en-US" sz="2400" dirty="0" err="1"/>
              <a:t>subarrays</a:t>
            </a:r>
            <a:r>
              <a:rPr lang="en-US" altLang="en-US" sz="2400" dirty="0"/>
              <a:t> by recursive calls to quicksort. </a:t>
            </a:r>
          </a:p>
          <a:p>
            <a:pPr algn="just">
              <a:spcBef>
                <a:spcPts val="1800"/>
              </a:spcBef>
            </a:pPr>
            <a:r>
              <a:rPr lang="en-US" altLang="en-US" sz="2400" b="1" i="1" dirty="0">
                <a:solidFill>
                  <a:srgbClr val="CC3300"/>
                </a:solidFill>
              </a:rPr>
              <a:t>Combine</a:t>
            </a:r>
            <a:r>
              <a:rPr lang="en-US" altLang="en-US" sz="2400" b="1" dirty="0">
                <a:solidFill>
                  <a:srgbClr val="CC3300"/>
                </a:solidFill>
              </a:rPr>
              <a:t>:</a:t>
            </a:r>
            <a:r>
              <a:rPr lang="en-US" altLang="en-US" sz="2400" dirty="0"/>
              <a:t> The </a:t>
            </a:r>
            <a:r>
              <a:rPr lang="en-US" altLang="en-US" sz="2400" dirty="0" err="1"/>
              <a:t>subarrays</a:t>
            </a:r>
            <a:r>
              <a:rPr lang="en-US" altLang="en-US" sz="2400" dirty="0"/>
              <a:t> are sorted in place –  no work is needed to combine them.</a:t>
            </a:r>
          </a:p>
          <a:p>
            <a:pPr algn="just">
              <a:spcBef>
                <a:spcPts val="1800"/>
              </a:spcBef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4057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08075" y="171450"/>
            <a:ext cx="5978525" cy="514350"/>
          </a:xfrm>
        </p:spPr>
        <p:txBody>
          <a:bodyPr>
            <a:normAutofit/>
          </a:bodyPr>
          <a:lstStyle/>
          <a:p>
            <a:r>
              <a:rPr lang="en-US" altLang="en-US" u="sng" dirty="0" err="1"/>
              <a:t>Pseudocode</a:t>
            </a:r>
            <a:endParaRPr lang="en-US" altLang="en-US" u="sng" dirty="0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4887911" y="3363913"/>
            <a:ext cx="3886200" cy="163195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tabLst>
                <a:tab pos="461963" algn="l"/>
                <a:tab pos="909638" algn="l"/>
                <a:tab pos="13716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tabLst>
                <a:tab pos="461963" algn="l"/>
                <a:tab pos="909638" algn="l"/>
                <a:tab pos="13716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tabLst>
                <a:tab pos="461963" algn="l"/>
                <a:tab pos="909638" algn="l"/>
                <a:tab pos="1371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QUICKSORT(A, p, r)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1.	</a:t>
            </a:r>
            <a:r>
              <a:rPr lang="en-US" altLang="en-US" sz="2000" b="1"/>
              <a:t>if</a:t>
            </a:r>
            <a:r>
              <a:rPr lang="en-US" altLang="en-US" sz="2000"/>
              <a:t> p &lt; r </a:t>
            </a:r>
            <a:r>
              <a:rPr lang="en-US" altLang="en-US" sz="2000" b="1"/>
              <a:t>then</a:t>
            </a:r>
            <a:endParaRPr lang="en-US" altLang="en-US" sz="20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2.		q = PARTITION(A, p, r);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3.		QUICKSORT (A, p, q – 1);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4.		QUICKSORT (A, q + 1, r)</a:t>
            </a:r>
          </a:p>
        </p:txBody>
      </p:sp>
      <p:sp>
        <p:nvSpPr>
          <p:cNvPr id="443396" name="Text Box 4"/>
          <p:cNvSpPr txBox="1">
            <a:spLocks noChangeArrowheads="1"/>
          </p:cNvSpPr>
          <p:nvPr/>
        </p:nvSpPr>
        <p:spPr bwMode="auto">
          <a:xfrm>
            <a:off x="155575" y="1133475"/>
            <a:ext cx="4014787" cy="2862263"/>
          </a:xfrm>
          <a:prstGeom prst="rect">
            <a:avLst/>
          </a:prstGeom>
          <a:solidFill>
            <a:srgbClr val="CCEC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kumimoji="0" lang="en-US" altLang="en-US" sz="2000" dirty="0"/>
              <a:t>PARTITION(A, p, r)</a:t>
            </a:r>
          </a:p>
          <a:p>
            <a:pPr marL="457200" indent="-457200">
              <a:buFontTx/>
              <a:buAutoNum type="arabicPeriod"/>
              <a:defRPr/>
            </a:pPr>
            <a:r>
              <a:rPr kumimoji="0" lang="en-US" altLang="en-US" sz="2000" dirty="0"/>
              <a:t>x = A[r]</a:t>
            </a:r>
          </a:p>
          <a:p>
            <a:pPr>
              <a:defRPr/>
            </a:pPr>
            <a:r>
              <a:rPr kumimoji="0" lang="en-US" altLang="en-US" sz="2000" dirty="0"/>
              <a:t>2.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= p-1</a:t>
            </a:r>
          </a:p>
          <a:p>
            <a:pPr>
              <a:defRPr/>
            </a:pPr>
            <a:r>
              <a:rPr kumimoji="0" lang="en-US" altLang="en-US" sz="2000" dirty="0"/>
              <a:t>3.	</a:t>
            </a:r>
            <a:r>
              <a:rPr kumimoji="0" lang="en-US" altLang="en-US" sz="2000" b="1" dirty="0"/>
              <a:t>for</a:t>
            </a:r>
            <a:r>
              <a:rPr kumimoji="0" lang="en-US" altLang="en-US" sz="2000" dirty="0"/>
              <a:t> j = p </a:t>
            </a:r>
            <a:r>
              <a:rPr kumimoji="0" lang="en-US" altLang="en-US" sz="2000" b="1" dirty="0"/>
              <a:t>to </a:t>
            </a:r>
            <a:r>
              <a:rPr kumimoji="0" lang="en-US" altLang="en-US" sz="2000" dirty="0"/>
              <a:t>r – 1 </a:t>
            </a:r>
          </a:p>
          <a:p>
            <a:pPr>
              <a:defRPr/>
            </a:pPr>
            <a:r>
              <a:rPr kumimoji="0" lang="en-US" altLang="en-US" sz="2000" dirty="0"/>
              <a:t>4.		</a:t>
            </a:r>
            <a:r>
              <a:rPr kumimoji="0" lang="en-US" altLang="en-US" sz="2000" b="1" dirty="0">
                <a:sym typeface="Symbol" pitchFamily="18" charset="2"/>
              </a:rPr>
              <a:t>if</a:t>
            </a:r>
            <a:r>
              <a:rPr kumimoji="0" lang="en-US" altLang="en-US" sz="2000" dirty="0">
                <a:sym typeface="Symbol" pitchFamily="18" charset="2"/>
              </a:rPr>
              <a:t> A[j]    x 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5.			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= 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6.               	exchange A[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] with A[j]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7.    exchange  A[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+ 1] with A[r]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8.	</a:t>
            </a:r>
            <a:r>
              <a:rPr kumimoji="0" lang="en-US" altLang="en-US" sz="2000" b="1" dirty="0">
                <a:sym typeface="Symbol" pitchFamily="18" charset="2"/>
              </a:rPr>
              <a:t>return</a:t>
            </a:r>
            <a:r>
              <a:rPr kumimoji="0" lang="en-US" altLang="en-US" sz="2000" dirty="0">
                <a:sym typeface="Symbol" pitchFamily="18" charset="2"/>
              </a:rPr>
              <a:t> 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</a:t>
            </a: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287338" y="4645025"/>
            <a:ext cx="1760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287338" y="464502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639763" y="4640263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992188" y="466407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1344613" y="464502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8" name="Line 10"/>
          <p:cNvSpPr>
            <a:spLocks noChangeShapeType="1"/>
          </p:cNvSpPr>
          <p:nvPr/>
        </p:nvSpPr>
        <p:spPr bwMode="auto">
          <a:xfrm>
            <a:off x="1697038" y="465455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>
            <a:off x="2049463" y="464978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V="1">
            <a:off x="282575" y="4940300"/>
            <a:ext cx="1760538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1709738" y="45989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422" name="AutoShape 14"/>
          <p:cNvSpPr>
            <a:spLocks/>
          </p:cNvSpPr>
          <p:nvPr/>
        </p:nvSpPr>
        <p:spPr bwMode="auto">
          <a:xfrm rot="5400000">
            <a:off x="1065213" y="3621088"/>
            <a:ext cx="201612" cy="1789112"/>
          </a:xfrm>
          <a:prstGeom prst="leftBrace">
            <a:avLst>
              <a:gd name="adj1" fmla="val 739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685800" y="4022725"/>
            <a:ext cx="8747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A[p..r]</a:t>
            </a:r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2665413" y="5775325"/>
            <a:ext cx="1760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2665413" y="5789613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Line 18"/>
          <p:cNvSpPr>
            <a:spLocks noChangeShapeType="1"/>
          </p:cNvSpPr>
          <p:nvPr/>
        </p:nvSpPr>
        <p:spPr bwMode="auto">
          <a:xfrm>
            <a:off x="3017838" y="578485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Line 19"/>
          <p:cNvSpPr>
            <a:spLocks noChangeShapeType="1"/>
          </p:cNvSpPr>
          <p:nvPr/>
        </p:nvSpPr>
        <p:spPr bwMode="auto">
          <a:xfrm>
            <a:off x="3370263" y="578008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8" name="Line 20"/>
          <p:cNvSpPr>
            <a:spLocks noChangeShapeType="1"/>
          </p:cNvSpPr>
          <p:nvPr/>
        </p:nvSpPr>
        <p:spPr bwMode="auto">
          <a:xfrm>
            <a:off x="3722688" y="577532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9" name="Line 21"/>
          <p:cNvSpPr>
            <a:spLocks noChangeShapeType="1"/>
          </p:cNvSpPr>
          <p:nvPr/>
        </p:nvSpPr>
        <p:spPr bwMode="auto">
          <a:xfrm>
            <a:off x="4075113" y="578485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Line 22"/>
          <p:cNvSpPr>
            <a:spLocks noChangeShapeType="1"/>
          </p:cNvSpPr>
          <p:nvPr/>
        </p:nvSpPr>
        <p:spPr bwMode="auto">
          <a:xfrm>
            <a:off x="4427538" y="578008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Line 23"/>
          <p:cNvSpPr>
            <a:spLocks noChangeShapeType="1"/>
          </p:cNvSpPr>
          <p:nvPr/>
        </p:nvSpPr>
        <p:spPr bwMode="auto">
          <a:xfrm>
            <a:off x="2674938" y="6084888"/>
            <a:ext cx="1760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2" name="AutoShape 24"/>
          <p:cNvSpPr>
            <a:spLocks/>
          </p:cNvSpPr>
          <p:nvPr/>
        </p:nvSpPr>
        <p:spPr bwMode="auto">
          <a:xfrm rot="5400000">
            <a:off x="2894807" y="5299869"/>
            <a:ext cx="215900" cy="706437"/>
          </a:xfrm>
          <a:prstGeom prst="leftBrace">
            <a:avLst>
              <a:gd name="adj1" fmla="val 272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2263775" y="5153025"/>
            <a:ext cx="1298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A[p..q – 1]</a:t>
            </a:r>
          </a:p>
        </p:txBody>
      </p:sp>
      <p:sp>
        <p:nvSpPr>
          <p:cNvPr id="17434" name="AutoShape 26"/>
          <p:cNvSpPr>
            <a:spLocks/>
          </p:cNvSpPr>
          <p:nvPr/>
        </p:nvSpPr>
        <p:spPr bwMode="auto">
          <a:xfrm rot="5400000">
            <a:off x="3936206" y="5295107"/>
            <a:ext cx="244475" cy="706438"/>
          </a:xfrm>
          <a:prstGeom prst="leftBrace">
            <a:avLst>
              <a:gd name="adj1" fmla="val 240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35" name="Text Box 27"/>
          <p:cNvSpPr txBox="1">
            <a:spLocks noChangeArrowheads="1"/>
          </p:cNvSpPr>
          <p:nvPr/>
        </p:nvSpPr>
        <p:spPr bwMode="auto">
          <a:xfrm>
            <a:off x="3602038" y="5162550"/>
            <a:ext cx="1144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A[q+1..r]</a:t>
            </a:r>
          </a:p>
        </p:txBody>
      </p:sp>
      <p:sp>
        <p:nvSpPr>
          <p:cNvPr id="17436" name="AutoShape 28"/>
          <p:cNvSpPr>
            <a:spLocks/>
          </p:cNvSpPr>
          <p:nvPr/>
        </p:nvSpPr>
        <p:spPr bwMode="auto">
          <a:xfrm rot="16200000" flipV="1">
            <a:off x="2918619" y="5880894"/>
            <a:ext cx="215900" cy="706438"/>
          </a:xfrm>
          <a:prstGeom prst="leftBrace">
            <a:avLst>
              <a:gd name="adj1" fmla="val 272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37" name="AutoShape 29"/>
          <p:cNvSpPr>
            <a:spLocks/>
          </p:cNvSpPr>
          <p:nvPr/>
        </p:nvSpPr>
        <p:spPr bwMode="auto">
          <a:xfrm rot="16200000" flipV="1">
            <a:off x="3981450" y="5854700"/>
            <a:ext cx="187325" cy="720725"/>
          </a:xfrm>
          <a:prstGeom prst="leftBrace">
            <a:avLst>
              <a:gd name="adj1" fmla="val 3206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2765425" y="6308725"/>
            <a:ext cx="514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 5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3816350" y="6310313"/>
            <a:ext cx="54694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&gt; 5</a:t>
            </a:r>
          </a:p>
        </p:txBody>
      </p: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544513" y="5619750"/>
            <a:ext cx="1260475" cy="4857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Partition</a:t>
            </a:r>
          </a:p>
        </p:txBody>
      </p:sp>
      <p:sp>
        <p:nvSpPr>
          <p:cNvPr id="17441" name="AutoShape 33"/>
          <p:cNvSpPr>
            <a:spLocks noChangeArrowheads="1"/>
          </p:cNvSpPr>
          <p:nvPr/>
        </p:nvSpPr>
        <p:spPr bwMode="auto">
          <a:xfrm rot="41457">
            <a:off x="1919288" y="5653088"/>
            <a:ext cx="514350" cy="485775"/>
          </a:xfrm>
          <a:prstGeom prst="notchedRightArrow">
            <a:avLst>
              <a:gd name="adj1" fmla="val 50000"/>
              <a:gd name="adj2" fmla="val 26471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42" name="AutoShape 34"/>
          <p:cNvSpPr>
            <a:spLocks noChangeArrowheads="1"/>
          </p:cNvSpPr>
          <p:nvPr/>
        </p:nvSpPr>
        <p:spPr bwMode="auto">
          <a:xfrm rot="5415885">
            <a:off x="901701" y="5011737"/>
            <a:ext cx="514350" cy="485775"/>
          </a:xfrm>
          <a:prstGeom prst="notchedRightArrow">
            <a:avLst>
              <a:gd name="adj1" fmla="val 50000"/>
              <a:gd name="adj2" fmla="val 26471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43" name="Text Box 35"/>
          <p:cNvSpPr txBox="1">
            <a:spLocks noChangeArrowheads="1"/>
          </p:cNvSpPr>
          <p:nvPr/>
        </p:nvSpPr>
        <p:spPr bwMode="auto">
          <a:xfrm>
            <a:off x="3405188" y="57324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9004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8475" y="247650"/>
            <a:ext cx="5978525" cy="514350"/>
          </a:xfrm>
        </p:spPr>
        <p:txBody>
          <a:bodyPr>
            <a:normAutofit/>
          </a:bodyPr>
          <a:lstStyle/>
          <a:p>
            <a:pPr algn="ctr"/>
            <a:r>
              <a:rPr lang="en-US" altLang="en-US" u="sng" dirty="0"/>
              <a:t>Example</a:t>
            </a:r>
          </a:p>
        </p:txBody>
      </p:sp>
      <p:sp>
        <p:nvSpPr>
          <p:cNvPr id="488451" name="Text Box 3"/>
          <p:cNvSpPr txBox="1">
            <a:spLocks noChangeArrowheads="1"/>
          </p:cNvSpPr>
          <p:nvPr/>
        </p:nvSpPr>
        <p:spPr bwMode="auto">
          <a:xfrm>
            <a:off x="547688" y="1520825"/>
            <a:ext cx="7527925" cy="533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tabLst>
                <a:tab pos="227965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tabLst>
                <a:tab pos="227965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tabLst>
                <a:tab pos="2279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	p                                    r</a:t>
            </a:r>
            <a:endParaRPr lang="en-US" altLang="en-US" sz="2000" b="1" u="sng" dirty="0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u="sng" dirty="0">
                <a:solidFill>
                  <a:srgbClr val="CC0000"/>
                </a:solidFill>
              </a:rPr>
              <a:t>initially:</a:t>
            </a:r>
            <a:r>
              <a:rPr lang="en-US" altLang="en-US" sz="2000" dirty="0"/>
              <a:t>                  	2  5  8  3  9  4  1  7  10  </a:t>
            </a:r>
            <a:r>
              <a:rPr lang="en-US" altLang="en-US" sz="2000" b="1" dirty="0"/>
              <a:t>6</a:t>
            </a:r>
            <a:r>
              <a:rPr lang="en-US" altLang="en-US" sz="2000" dirty="0"/>
              <a:t>          </a:t>
            </a:r>
            <a:r>
              <a:rPr lang="en-US" altLang="en-US" sz="2000" b="1" u="sng" dirty="0">
                <a:solidFill>
                  <a:schemeClr val="tx2"/>
                </a:solidFill>
              </a:rPr>
              <a:t>note:</a:t>
            </a:r>
            <a:r>
              <a:rPr lang="en-US" altLang="en-US" sz="2000" dirty="0">
                <a:solidFill>
                  <a:schemeClr val="tx2"/>
                </a:solidFill>
              </a:rPr>
              <a:t> pivot (x) = 6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 j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lang="en-US" altLang="en-US" sz="2000" dirty="0"/>
              <a:t>        	</a:t>
            </a:r>
            <a:r>
              <a:rPr lang="en-US" altLang="en-US" sz="2000" dirty="0">
                <a:solidFill>
                  <a:srgbClr val="CC0000"/>
                </a:solidFill>
              </a:rPr>
              <a:t>2</a:t>
            </a:r>
            <a:r>
              <a:rPr lang="en-US" altLang="en-US" sz="2000" dirty="0"/>
              <a:t>  5  8  3  9  4  1  7  10  </a:t>
            </a:r>
            <a:r>
              <a:rPr lang="en-US" altLang="en-US" sz="2000" b="1" dirty="0"/>
              <a:t>6</a:t>
            </a: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 	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  j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lang="en-US" altLang="en-US" sz="2000" dirty="0"/>
              <a:t>        	</a:t>
            </a:r>
            <a:r>
              <a:rPr lang="en-US" altLang="en-US" sz="2000" dirty="0">
                <a:solidFill>
                  <a:srgbClr val="CC0000"/>
                </a:solidFill>
              </a:rPr>
              <a:t>2</a:t>
            </a:r>
            <a:r>
              <a:rPr lang="en-US" altLang="en-US" sz="2000" dirty="0"/>
              <a:t>  </a:t>
            </a:r>
            <a:r>
              <a:rPr lang="en-US" altLang="en-US" sz="2000" dirty="0">
                <a:solidFill>
                  <a:srgbClr val="CC0000"/>
                </a:solidFill>
              </a:rPr>
              <a:t>5</a:t>
            </a:r>
            <a:r>
              <a:rPr lang="en-US" altLang="en-US" sz="2000" dirty="0"/>
              <a:t>  8  3  9  4  1  7  10  </a:t>
            </a:r>
            <a:r>
              <a:rPr lang="en-US" altLang="en-US" sz="2000" b="1" dirty="0"/>
              <a:t>6</a:t>
            </a: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      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  j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lang="en-US" altLang="en-US" sz="2000" dirty="0"/>
              <a:t>        	</a:t>
            </a:r>
            <a:r>
              <a:rPr lang="en-US" altLang="en-US" sz="2000" dirty="0">
                <a:solidFill>
                  <a:srgbClr val="CC0000"/>
                </a:solidFill>
              </a:rPr>
              <a:t>2  5</a:t>
            </a:r>
            <a:r>
              <a:rPr lang="en-US" altLang="en-US" sz="2000" dirty="0"/>
              <a:t>  </a:t>
            </a:r>
            <a:r>
              <a:rPr lang="en-US" altLang="en-US" sz="2000" dirty="0">
                <a:solidFill>
                  <a:schemeClr val="tx2"/>
                </a:solidFill>
              </a:rPr>
              <a:t>8</a:t>
            </a:r>
            <a:r>
              <a:rPr lang="en-US" altLang="en-US" sz="2000" dirty="0"/>
              <a:t>  3  9  4  1  7  10  </a:t>
            </a:r>
            <a:r>
              <a:rPr lang="en-US" altLang="en-US" sz="2000" b="1" dirty="0"/>
              <a:t>6</a:t>
            </a: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      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      j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lang="en-US" altLang="en-US" sz="2000" dirty="0"/>
              <a:t>        	</a:t>
            </a:r>
            <a:r>
              <a:rPr lang="en-US" altLang="en-US" sz="2000" dirty="0">
                <a:solidFill>
                  <a:srgbClr val="CC0000"/>
                </a:solidFill>
              </a:rPr>
              <a:t>2  5</a:t>
            </a:r>
            <a:r>
              <a:rPr lang="en-US" altLang="en-US" sz="2000" dirty="0"/>
              <a:t>  </a:t>
            </a:r>
            <a:r>
              <a:rPr lang="en-US" altLang="en-US" sz="2000" dirty="0">
                <a:solidFill>
                  <a:srgbClr val="CC0000"/>
                </a:solidFill>
              </a:rPr>
              <a:t>3</a:t>
            </a:r>
            <a:r>
              <a:rPr lang="en-US" altLang="en-US" sz="2000" dirty="0"/>
              <a:t>  </a:t>
            </a:r>
            <a:r>
              <a:rPr lang="en-US" altLang="en-US" sz="2000" dirty="0">
                <a:solidFill>
                  <a:schemeClr val="tx2"/>
                </a:solidFill>
              </a:rPr>
              <a:t>8</a:t>
            </a:r>
            <a:r>
              <a:rPr lang="en-US" altLang="en-US" sz="2000" dirty="0"/>
              <a:t>  9  4  1  7  10  </a:t>
            </a:r>
            <a:r>
              <a:rPr lang="en-US" altLang="en-US" sz="2000" b="1" dirty="0"/>
              <a:t>6</a:t>
            </a: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          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      j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562600" y="2895600"/>
            <a:ext cx="3532188" cy="230822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kumimoji="0" lang="en-US" altLang="en-US" sz="1600" dirty="0"/>
              <a:t>PARTITION(A, p, r)</a:t>
            </a:r>
          </a:p>
          <a:p>
            <a:pPr marL="457200" indent="-457200">
              <a:buFontTx/>
              <a:buAutoNum type="arabicPeriod"/>
              <a:defRPr/>
            </a:pPr>
            <a:r>
              <a:rPr kumimoji="0" lang="en-US" altLang="en-US" sz="1600" dirty="0"/>
              <a:t>x = A[r]</a:t>
            </a:r>
          </a:p>
          <a:p>
            <a:pPr>
              <a:defRPr/>
            </a:pPr>
            <a:r>
              <a:rPr kumimoji="0" lang="en-US" altLang="en-US" sz="1600" dirty="0"/>
              <a:t>2.	</a:t>
            </a:r>
            <a:r>
              <a:rPr kumimoji="0" lang="en-US" altLang="en-US" sz="1600" dirty="0" err="1"/>
              <a:t>i</a:t>
            </a:r>
            <a:r>
              <a:rPr kumimoji="0" lang="en-US" altLang="en-US" sz="1600" dirty="0"/>
              <a:t> = p-1</a:t>
            </a:r>
          </a:p>
          <a:p>
            <a:pPr>
              <a:defRPr/>
            </a:pPr>
            <a:r>
              <a:rPr kumimoji="0" lang="en-US" altLang="en-US" sz="1600" dirty="0"/>
              <a:t>3.	</a:t>
            </a:r>
            <a:r>
              <a:rPr kumimoji="0" lang="en-US" altLang="en-US" sz="1600" b="1" dirty="0"/>
              <a:t>for</a:t>
            </a:r>
            <a:r>
              <a:rPr kumimoji="0" lang="en-US" altLang="en-US" sz="1600" dirty="0"/>
              <a:t> j = p </a:t>
            </a:r>
            <a:r>
              <a:rPr kumimoji="0" lang="en-US" altLang="en-US" sz="1600" b="1" dirty="0"/>
              <a:t>to </a:t>
            </a:r>
            <a:r>
              <a:rPr kumimoji="0" lang="en-US" altLang="en-US" sz="1600" dirty="0"/>
              <a:t>r – 1 </a:t>
            </a:r>
          </a:p>
          <a:p>
            <a:pPr>
              <a:defRPr/>
            </a:pPr>
            <a:r>
              <a:rPr kumimoji="0" lang="en-US" altLang="en-US" sz="1600" dirty="0"/>
              <a:t>4.		</a:t>
            </a:r>
            <a:r>
              <a:rPr kumimoji="0" lang="en-US" altLang="en-US" sz="1600" b="1" dirty="0">
                <a:sym typeface="Symbol" pitchFamily="18" charset="2"/>
              </a:rPr>
              <a:t>if</a:t>
            </a:r>
            <a:r>
              <a:rPr kumimoji="0" lang="en-US" altLang="en-US" sz="1600" dirty="0">
                <a:sym typeface="Symbol" pitchFamily="18" charset="2"/>
              </a:rPr>
              <a:t> A[j]    x 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5.			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= 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6.               	exchange A[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] with A[j]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7.    exchange  A[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+ 1] with A[r]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8.	</a:t>
            </a:r>
            <a:r>
              <a:rPr kumimoji="0" lang="en-US" altLang="en-US" sz="1600" b="1" dirty="0">
                <a:sym typeface="Symbol" pitchFamily="18" charset="2"/>
              </a:rPr>
              <a:t>return</a:t>
            </a:r>
            <a:r>
              <a:rPr kumimoji="0" lang="en-US" altLang="en-US" sz="1600" dirty="0">
                <a:sym typeface="Symbol" pitchFamily="18" charset="2"/>
              </a:rPr>
              <a:t> 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</a:t>
            </a:r>
          </a:p>
        </p:txBody>
      </p:sp>
    </p:spTree>
    <p:extLst>
      <p:ext uri="{BB962C8B-B14F-4D97-AF65-F5344CB8AC3E}">
        <p14:creationId xmlns:p14="http://schemas.microsoft.com/office/powerpoint/2010/main" val="216349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27075" y="171450"/>
            <a:ext cx="5978525" cy="514350"/>
          </a:xfrm>
        </p:spPr>
        <p:txBody>
          <a:bodyPr>
            <a:normAutofit/>
          </a:bodyPr>
          <a:lstStyle/>
          <a:p>
            <a:pPr algn="ctr"/>
            <a:r>
              <a:rPr lang="en-US" altLang="en-US" u="sng" dirty="0"/>
              <a:t>Example (Continued)</a:t>
            </a:r>
          </a:p>
        </p:txBody>
      </p:sp>
      <p:sp>
        <p:nvSpPr>
          <p:cNvPr id="489475" name="Text Box 3"/>
          <p:cNvSpPr txBox="1">
            <a:spLocks noChangeArrowheads="1"/>
          </p:cNvSpPr>
          <p:nvPr/>
        </p:nvSpPr>
        <p:spPr bwMode="auto">
          <a:xfrm>
            <a:off x="261938" y="1374775"/>
            <a:ext cx="5051425" cy="540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9  4  1  7  10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j</a:t>
            </a:r>
          </a:p>
          <a:p>
            <a:pPr>
              <a:defRPr/>
            </a:pPr>
            <a:endParaRPr kumimoji="0" lang="en-US" altLang="en-US" sz="110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9</a:t>
            </a:r>
            <a:r>
              <a:rPr kumimoji="0" lang="en-US" altLang="en-US" sz="2000" dirty="0"/>
              <a:t>  4  1  7  10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j</a:t>
            </a:r>
          </a:p>
          <a:p>
            <a:pPr>
              <a:defRPr/>
            </a:pPr>
            <a:endParaRPr kumimoji="0" lang="en-US" altLang="en-US" sz="110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4</a:t>
            </a:r>
            <a:r>
              <a:rPr kumimoji="0" lang="en-US" altLang="en-US" sz="2000" dirty="0"/>
              <a:t> </a:t>
            </a:r>
            <a:r>
              <a:rPr kumimoji="0" lang="en-US" altLang="en-US" sz="2000" dirty="0">
                <a:solidFill>
                  <a:schemeClr val="tx2"/>
                </a:solidFill>
              </a:rPr>
              <a:t> 9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1  7  10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j</a:t>
            </a:r>
          </a:p>
          <a:p>
            <a:pPr>
              <a:defRPr/>
            </a:pPr>
            <a:endParaRPr kumimoji="0" lang="en-US" altLang="en-US" sz="105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4</a:t>
            </a:r>
            <a:r>
              <a:rPr kumimoji="0" lang="en-US" altLang="en-US" sz="2000" dirty="0"/>
              <a:t> </a:t>
            </a:r>
            <a:r>
              <a:rPr kumimoji="0" lang="en-US" altLang="en-US" sz="2000" dirty="0">
                <a:solidFill>
                  <a:schemeClr val="tx2"/>
                </a:solidFill>
              </a:rPr>
              <a:t> </a:t>
            </a:r>
            <a:r>
              <a:rPr kumimoji="0" lang="en-US" altLang="en-US" sz="2000" dirty="0">
                <a:solidFill>
                  <a:srgbClr val="CC0000"/>
                </a:solidFill>
              </a:rPr>
              <a:t>1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9</a:t>
            </a:r>
            <a:r>
              <a:rPr kumimoji="0" lang="en-US" altLang="en-US" sz="2000" dirty="0"/>
              <a:t>  7  10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j</a:t>
            </a:r>
          </a:p>
          <a:p>
            <a:pPr>
              <a:defRPr/>
            </a:pPr>
            <a:endParaRPr kumimoji="0" lang="en-US" altLang="en-US" sz="110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4</a:t>
            </a:r>
            <a:r>
              <a:rPr kumimoji="0" lang="en-US" altLang="en-US" sz="2000" dirty="0"/>
              <a:t> </a:t>
            </a:r>
            <a:r>
              <a:rPr kumimoji="0" lang="en-US" altLang="en-US" sz="2000" dirty="0">
                <a:solidFill>
                  <a:schemeClr val="tx2"/>
                </a:solidFill>
              </a:rPr>
              <a:t> </a:t>
            </a:r>
            <a:r>
              <a:rPr kumimoji="0" lang="en-US" altLang="en-US" sz="2000" dirty="0">
                <a:solidFill>
                  <a:srgbClr val="CC0000"/>
                </a:solidFill>
              </a:rPr>
              <a:t>1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9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7</a:t>
            </a:r>
            <a:r>
              <a:rPr kumimoji="0" lang="en-US" altLang="en-US" sz="2000" dirty="0"/>
              <a:t>  10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     j</a:t>
            </a:r>
          </a:p>
          <a:p>
            <a:pPr>
              <a:defRPr/>
            </a:pPr>
            <a:endParaRPr kumimoji="0" lang="en-US" altLang="en-US" sz="110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4</a:t>
            </a:r>
            <a:r>
              <a:rPr kumimoji="0" lang="en-US" altLang="en-US" sz="2000" dirty="0"/>
              <a:t> </a:t>
            </a:r>
            <a:r>
              <a:rPr kumimoji="0" lang="en-US" altLang="en-US" sz="2000" dirty="0">
                <a:solidFill>
                  <a:schemeClr val="tx2"/>
                </a:solidFill>
              </a:rPr>
              <a:t> </a:t>
            </a:r>
            <a:r>
              <a:rPr kumimoji="0" lang="en-US" altLang="en-US" sz="2000" dirty="0">
                <a:solidFill>
                  <a:srgbClr val="CC0000"/>
                </a:solidFill>
              </a:rPr>
              <a:t>1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9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7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10</a:t>
            </a:r>
            <a:r>
              <a:rPr kumimoji="0" lang="en-US" altLang="en-US" sz="2000" dirty="0"/>
              <a:t>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          j</a:t>
            </a:r>
          </a:p>
          <a:p>
            <a:pPr>
              <a:defRPr/>
            </a:pPr>
            <a:endParaRPr kumimoji="0" lang="en-US" altLang="en-US" sz="110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after final swap:</a:t>
            </a:r>
            <a:r>
              <a:rPr kumimoji="0" lang="en-US" altLang="en-US" sz="2000" dirty="0"/>
              <a:t>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4</a:t>
            </a:r>
            <a:r>
              <a:rPr kumimoji="0" lang="en-US" altLang="en-US" sz="2000" dirty="0"/>
              <a:t> </a:t>
            </a:r>
            <a:r>
              <a:rPr kumimoji="0" lang="en-US" altLang="en-US" sz="2000" dirty="0">
                <a:solidFill>
                  <a:schemeClr val="tx2"/>
                </a:solidFill>
              </a:rPr>
              <a:t> </a:t>
            </a:r>
            <a:r>
              <a:rPr kumimoji="0" lang="en-US" altLang="en-US" sz="2000" dirty="0">
                <a:solidFill>
                  <a:srgbClr val="CC0000"/>
                </a:solidFill>
              </a:rPr>
              <a:t>1</a:t>
            </a:r>
            <a:r>
              <a:rPr kumimoji="0" lang="en-US" altLang="en-US" sz="2000" dirty="0"/>
              <a:t>  </a:t>
            </a:r>
            <a:r>
              <a:rPr kumimoji="0" lang="en-US" altLang="en-US" sz="2000" b="1" dirty="0"/>
              <a:t>6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9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7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10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          j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562600" y="2895600"/>
            <a:ext cx="3532188" cy="230822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kumimoji="0" lang="en-US" altLang="en-US" sz="1600" dirty="0"/>
              <a:t>PARTITION(A, p, r)</a:t>
            </a:r>
          </a:p>
          <a:p>
            <a:pPr marL="457200" indent="-457200">
              <a:buFontTx/>
              <a:buAutoNum type="arabicPeriod"/>
              <a:defRPr/>
            </a:pPr>
            <a:r>
              <a:rPr kumimoji="0" lang="en-US" altLang="en-US" sz="1600" dirty="0"/>
              <a:t>x = A[r]</a:t>
            </a:r>
          </a:p>
          <a:p>
            <a:pPr>
              <a:defRPr/>
            </a:pPr>
            <a:r>
              <a:rPr kumimoji="0" lang="en-US" altLang="en-US" sz="1600" dirty="0"/>
              <a:t>2.	</a:t>
            </a:r>
            <a:r>
              <a:rPr kumimoji="0" lang="en-US" altLang="en-US" sz="1600" dirty="0" err="1"/>
              <a:t>i</a:t>
            </a:r>
            <a:r>
              <a:rPr kumimoji="0" lang="en-US" altLang="en-US" sz="1600" dirty="0"/>
              <a:t> = p-1</a:t>
            </a:r>
          </a:p>
          <a:p>
            <a:pPr>
              <a:defRPr/>
            </a:pPr>
            <a:r>
              <a:rPr kumimoji="0" lang="en-US" altLang="en-US" sz="1600" dirty="0"/>
              <a:t>3.	</a:t>
            </a:r>
            <a:r>
              <a:rPr kumimoji="0" lang="en-US" altLang="en-US" sz="1600" b="1" dirty="0"/>
              <a:t>for</a:t>
            </a:r>
            <a:r>
              <a:rPr kumimoji="0" lang="en-US" altLang="en-US" sz="1600" dirty="0"/>
              <a:t> j = p </a:t>
            </a:r>
            <a:r>
              <a:rPr kumimoji="0" lang="en-US" altLang="en-US" sz="1600" b="1" dirty="0"/>
              <a:t>to </a:t>
            </a:r>
            <a:r>
              <a:rPr kumimoji="0" lang="en-US" altLang="en-US" sz="1600" dirty="0"/>
              <a:t>r – 1 </a:t>
            </a:r>
          </a:p>
          <a:p>
            <a:pPr>
              <a:defRPr/>
            </a:pPr>
            <a:r>
              <a:rPr kumimoji="0" lang="en-US" altLang="en-US" sz="1600" dirty="0"/>
              <a:t>4.		</a:t>
            </a:r>
            <a:r>
              <a:rPr kumimoji="0" lang="en-US" altLang="en-US" sz="1600" b="1" dirty="0">
                <a:sym typeface="Symbol" pitchFamily="18" charset="2"/>
              </a:rPr>
              <a:t>if</a:t>
            </a:r>
            <a:r>
              <a:rPr kumimoji="0" lang="en-US" altLang="en-US" sz="1600" dirty="0">
                <a:sym typeface="Symbol" pitchFamily="18" charset="2"/>
              </a:rPr>
              <a:t> A[j]    x 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5.			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= 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6.               	exchange A[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] with A[j]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7.    exchange  A[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+ 1] with A[r]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8.	</a:t>
            </a:r>
            <a:r>
              <a:rPr kumimoji="0" lang="en-US" altLang="en-US" sz="1600" b="1" dirty="0">
                <a:sym typeface="Symbol" pitchFamily="18" charset="2"/>
              </a:rPr>
              <a:t>return</a:t>
            </a:r>
            <a:r>
              <a:rPr kumimoji="0" lang="en-US" altLang="en-US" sz="1600" dirty="0">
                <a:sym typeface="Symbol" pitchFamily="18" charset="2"/>
              </a:rPr>
              <a:t> 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</a:t>
            </a:r>
          </a:p>
        </p:txBody>
      </p:sp>
    </p:spTree>
    <p:extLst>
      <p:ext uri="{BB962C8B-B14F-4D97-AF65-F5344CB8AC3E}">
        <p14:creationId xmlns:p14="http://schemas.microsoft.com/office/powerpoint/2010/main" val="381964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9475" y="171450"/>
            <a:ext cx="5978525" cy="514350"/>
          </a:xfrm>
        </p:spPr>
        <p:txBody>
          <a:bodyPr>
            <a:normAutofit/>
          </a:bodyPr>
          <a:lstStyle/>
          <a:p>
            <a:pPr algn="ctr"/>
            <a:r>
              <a:rPr lang="en-US" altLang="en-US" u="sng" dirty="0"/>
              <a:t>Partitioning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81383"/>
            <a:ext cx="8458200" cy="4247317"/>
          </a:xfrm>
        </p:spPr>
        <p:txBody>
          <a:bodyPr/>
          <a:lstStyle/>
          <a:p>
            <a:pPr marL="609600" indent="-609600" algn="just"/>
            <a:endParaRPr lang="en-US" altLang="en-US" sz="2800" dirty="0"/>
          </a:p>
          <a:p>
            <a:pPr marL="609600" indent="-609600" algn="just"/>
            <a:r>
              <a:rPr lang="en-US" altLang="en-US" sz="2800" dirty="0"/>
              <a:t>Select the </a:t>
            </a:r>
            <a:r>
              <a:rPr lang="en-US" altLang="en-US" sz="2800" dirty="0">
                <a:solidFill>
                  <a:srgbClr val="CC3300"/>
                </a:solidFill>
              </a:rPr>
              <a:t>last element</a:t>
            </a:r>
            <a:r>
              <a:rPr lang="en-US" altLang="en-US" sz="2800" dirty="0"/>
              <a:t> A[</a:t>
            </a:r>
            <a:r>
              <a:rPr lang="en-US" altLang="en-US" sz="2800" i="1" dirty="0"/>
              <a:t>r</a:t>
            </a:r>
            <a:r>
              <a:rPr lang="en-US" altLang="en-US" sz="2800" dirty="0"/>
              <a:t>] in the </a:t>
            </a:r>
            <a:r>
              <a:rPr lang="en-US" altLang="en-US" sz="2800" dirty="0" err="1"/>
              <a:t>subarray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 err="1"/>
              <a:t>p</a:t>
            </a:r>
            <a:r>
              <a:rPr lang="en-US" altLang="en-US" sz="2800" dirty="0" err="1"/>
              <a:t>..</a:t>
            </a:r>
            <a:r>
              <a:rPr lang="en-US" altLang="en-US" sz="2800" i="1" dirty="0" err="1"/>
              <a:t>r</a:t>
            </a:r>
            <a:r>
              <a:rPr lang="en-US" altLang="en-US" sz="2800" dirty="0"/>
              <a:t>] as the </a:t>
            </a:r>
            <a:r>
              <a:rPr lang="en-US" altLang="en-US" sz="2800" i="1" dirty="0">
                <a:solidFill>
                  <a:schemeClr val="hlink"/>
                </a:solidFill>
              </a:rPr>
              <a:t>pivot</a:t>
            </a:r>
            <a:r>
              <a:rPr lang="en-US" altLang="en-US" sz="2800" dirty="0">
                <a:solidFill>
                  <a:schemeClr val="hlink"/>
                </a:solidFill>
              </a:rPr>
              <a:t> </a:t>
            </a:r>
            <a:r>
              <a:rPr lang="en-US" altLang="en-US" sz="2800" dirty="0"/>
              <a:t>– the element around which to partition.</a:t>
            </a:r>
          </a:p>
          <a:p>
            <a:pPr marL="609600" indent="-609600" algn="just"/>
            <a:r>
              <a:rPr lang="en-US" altLang="en-US" sz="2800" dirty="0"/>
              <a:t>As the procedure executes, the array is partitioned into four (possibly empty) regions.</a:t>
            </a:r>
          </a:p>
          <a:p>
            <a:pPr marL="990600" lvl="1" indent="-533400" algn="just">
              <a:spcBef>
                <a:spcPts val="1200"/>
              </a:spcBef>
              <a:buFontTx/>
              <a:buAutoNum type="arabicPeriod"/>
            </a:pPr>
            <a:r>
              <a:rPr lang="en-US" altLang="en-US" sz="2400" i="1" dirty="0">
                <a:solidFill>
                  <a:srgbClr val="CC3300"/>
                </a:solidFill>
              </a:rPr>
              <a:t>A</a:t>
            </a:r>
            <a:r>
              <a:rPr lang="en-US" altLang="en-US" sz="2400" dirty="0">
                <a:solidFill>
                  <a:srgbClr val="CC3300"/>
                </a:solidFill>
              </a:rPr>
              <a:t>[</a:t>
            </a:r>
            <a:r>
              <a:rPr lang="en-US" altLang="en-US" sz="2400" i="1" dirty="0">
                <a:solidFill>
                  <a:srgbClr val="CC3300"/>
                </a:solidFill>
              </a:rPr>
              <a:t>p</a:t>
            </a:r>
            <a:r>
              <a:rPr lang="en-US" altLang="en-US" sz="2400" dirty="0">
                <a:solidFill>
                  <a:srgbClr val="CC3300"/>
                </a:solidFill>
              </a:rPr>
              <a:t>..</a:t>
            </a:r>
            <a:r>
              <a:rPr lang="en-US" altLang="en-US" sz="2400" i="1" dirty="0" err="1">
                <a:solidFill>
                  <a:srgbClr val="CC3300"/>
                </a:solidFill>
              </a:rPr>
              <a:t>i</a:t>
            </a:r>
            <a:r>
              <a:rPr lang="en-US" altLang="en-US" sz="2400" dirty="0">
                <a:solidFill>
                  <a:srgbClr val="CC3300"/>
                </a:solidFill>
              </a:rPr>
              <a:t>]</a:t>
            </a:r>
            <a:r>
              <a:rPr lang="en-US" altLang="en-US" sz="2400" dirty="0"/>
              <a:t> — All entries in this region are </a:t>
            </a:r>
            <a:r>
              <a:rPr lang="en-US" altLang="en-US" sz="2000" b="1" dirty="0">
                <a:solidFill>
                  <a:srgbClr val="CC3300"/>
                </a:solidFill>
                <a:sym typeface="Symbol" panose="05050102010706020507" pitchFamily="18" charset="2"/>
              </a:rPr>
              <a:t> </a:t>
            </a:r>
            <a:r>
              <a:rPr lang="en-US" altLang="en-US" sz="2000" b="1" i="1" dirty="0">
                <a:solidFill>
                  <a:srgbClr val="CC3300"/>
                </a:solidFill>
                <a:sym typeface="Symbol" panose="05050102010706020507" pitchFamily="18" charset="2"/>
              </a:rPr>
              <a:t>pivot</a:t>
            </a:r>
            <a:r>
              <a:rPr lang="en-US" altLang="en-US" sz="2000" dirty="0">
                <a:sym typeface="Symbol" panose="05050102010706020507" pitchFamily="18" charset="2"/>
              </a:rPr>
              <a:t>.</a:t>
            </a:r>
            <a:r>
              <a:rPr lang="en-US" altLang="en-US" sz="2400" dirty="0"/>
              <a:t> </a:t>
            </a:r>
          </a:p>
          <a:p>
            <a:pPr marL="990600" lvl="1" indent="-533400" algn="just">
              <a:spcBef>
                <a:spcPts val="1200"/>
              </a:spcBef>
              <a:buFontTx/>
              <a:buAutoNum type="arabicPeriod"/>
            </a:pPr>
            <a:r>
              <a:rPr lang="en-US" altLang="en-US" sz="2400" i="1" dirty="0">
                <a:solidFill>
                  <a:srgbClr val="CC3300"/>
                </a:solidFill>
              </a:rPr>
              <a:t>A</a:t>
            </a:r>
            <a:r>
              <a:rPr lang="en-US" altLang="en-US" sz="2400" dirty="0">
                <a:solidFill>
                  <a:srgbClr val="CC3300"/>
                </a:solidFill>
              </a:rPr>
              <a:t>[</a:t>
            </a:r>
            <a:r>
              <a:rPr lang="en-US" altLang="en-US" sz="2400" i="1" dirty="0">
                <a:solidFill>
                  <a:srgbClr val="CC3300"/>
                </a:solidFill>
              </a:rPr>
              <a:t>i</a:t>
            </a:r>
            <a:r>
              <a:rPr lang="en-US" altLang="en-US" sz="2400" dirty="0">
                <a:solidFill>
                  <a:srgbClr val="CC3300"/>
                </a:solidFill>
              </a:rPr>
              <a:t>+1..</a:t>
            </a:r>
            <a:r>
              <a:rPr lang="en-US" altLang="en-US" sz="2400" i="1" dirty="0">
                <a:solidFill>
                  <a:srgbClr val="CC3300"/>
                </a:solidFill>
              </a:rPr>
              <a:t>j – </a:t>
            </a:r>
            <a:r>
              <a:rPr lang="en-US" altLang="en-US" sz="2400" dirty="0">
                <a:solidFill>
                  <a:srgbClr val="CC3300"/>
                </a:solidFill>
              </a:rPr>
              <a:t>1]</a:t>
            </a:r>
            <a:r>
              <a:rPr lang="en-US" altLang="en-US" sz="2400" dirty="0"/>
              <a:t> — All entries in this region are </a:t>
            </a:r>
            <a:r>
              <a:rPr lang="en-US" altLang="en-US" sz="2000" b="1" dirty="0">
                <a:solidFill>
                  <a:srgbClr val="CC3300"/>
                </a:solidFill>
                <a:sym typeface="Symbol" panose="05050102010706020507" pitchFamily="18" charset="2"/>
              </a:rPr>
              <a:t>&gt;  </a:t>
            </a:r>
            <a:r>
              <a:rPr lang="en-US" altLang="en-US" sz="2000" b="1" i="1" dirty="0">
                <a:solidFill>
                  <a:srgbClr val="CC3300"/>
                </a:solidFill>
                <a:sym typeface="Symbol" panose="05050102010706020507" pitchFamily="18" charset="2"/>
              </a:rPr>
              <a:t>pivot</a:t>
            </a:r>
            <a:r>
              <a:rPr lang="en-US" altLang="en-US" sz="2000" dirty="0">
                <a:sym typeface="Symbol" panose="05050102010706020507" pitchFamily="18" charset="2"/>
              </a:rPr>
              <a:t>.</a:t>
            </a:r>
            <a:endParaRPr lang="en-US" altLang="en-US" sz="2400" dirty="0"/>
          </a:p>
          <a:p>
            <a:pPr marL="990600" lvl="1" indent="-533400" algn="just">
              <a:spcBef>
                <a:spcPts val="1200"/>
              </a:spcBef>
              <a:buFontTx/>
              <a:buAutoNum type="arabicPeriod"/>
            </a:pPr>
            <a:r>
              <a:rPr lang="en-US" altLang="en-US" sz="2400" i="1" dirty="0">
                <a:solidFill>
                  <a:srgbClr val="CC3300"/>
                </a:solidFill>
              </a:rPr>
              <a:t>A</a:t>
            </a:r>
            <a:r>
              <a:rPr lang="en-US" altLang="en-US" sz="2400" dirty="0">
                <a:solidFill>
                  <a:srgbClr val="CC3300"/>
                </a:solidFill>
              </a:rPr>
              <a:t>[</a:t>
            </a:r>
            <a:r>
              <a:rPr lang="en-US" altLang="en-US" sz="2400" i="1" dirty="0">
                <a:solidFill>
                  <a:srgbClr val="CC3300"/>
                </a:solidFill>
              </a:rPr>
              <a:t>r</a:t>
            </a:r>
            <a:r>
              <a:rPr lang="en-US" altLang="en-US" sz="2400" dirty="0">
                <a:solidFill>
                  <a:srgbClr val="CC3300"/>
                </a:solidFill>
              </a:rPr>
              <a:t>] = </a:t>
            </a:r>
            <a:r>
              <a:rPr lang="en-US" altLang="en-US" sz="2400" i="1" dirty="0">
                <a:solidFill>
                  <a:srgbClr val="CC3300"/>
                </a:solidFill>
              </a:rPr>
              <a:t>pivot</a:t>
            </a:r>
            <a:r>
              <a:rPr lang="en-US" altLang="en-US" sz="2400" dirty="0"/>
              <a:t>.</a:t>
            </a:r>
          </a:p>
          <a:p>
            <a:pPr marL="990600" lvl="1" indent="-533400" algn="just">
              <a:spcBef>
                <a:spcPts val="1200"/>
              </a:spcBef>
              <a:buFontTx/>
              <a:buAutoNum type="arabicPeriod"/>
            </a:pP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j</a:t>
            </a:r>
            <a:r>
              <a:rPr lang="en-US" altLang="en-US" sz="2400" dirty="0" err="1"/>
              <a:t>..</a:t>
            </a:r>
            <a:r>
              <a:rPr lang="en-US" altLang="en-US" sz="2400" i="1" dirty="0" err="1"/>
              <a:t>r</a:t>
            </a:r>
            <a:r>
              <a:rPr lang="en-US" altLang="en-US" sz="2400" i="1" dirty="0"/>
              <a:t> – </a:t>
            </a:r>
            <a:r>
              <a:rPr lang="en-US" altLang="en-US" sz="2400" dirty="0"/>
              <a:t>1] — Not known how they compare to </a:t>
            </a:r>
            <a:r>
              <a:rPr lang="en-US" altLang="en-US" sz="2400" i="1" dirty="0"/>
              <a:t>pivot</a:t>
            </a:r>
            <a:r>
              <a:rPr lang="en-US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687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u="sng" spc="-800" dirty="0">
                <a:latin typeface="Times New Roman"/>
                <a:cs typeface="Times New Roman"/>
              </a:rPr>
              <a:t> </a:t>
            </a:r>
            <a:r>
              <a:rPr u="sng" spc="-25" dirty="0"/>
              <a:t>Hoare’s </a:t>
            </a:r>
            <a:r>
              <a:rPr u="sng" dirty="0"/>
              <a:t>Quicksort</a:t>
            </a:r>
            <a:r>
              <a:rPr u="sng" spc="-65" dirty="0"/>
              <a:t> </a:t>
            </a:r>
            <a:r>
              <a:rPr u="sng"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1064768"/>
            <a:ext cx="9779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4"/>
                </a:moveTo>
                <a:lnTo>
                  <a:pt x="71247" y="142494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4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4"/>
                </a:lnTo>
                <a:lnTo>
                  <a:pt x="284988" y="142494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4"/>
                </a:moveTo>
                <a:lnTo>
                  <a:pt x="213741" y="142494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4"/>
                </a:lnTo>
                <a:lnTo>
                  <a:pt x="0" y="142494"/>
                </a:lnTo>
                <a:lnTo>
                  <a:pt x="142494" y="0"/>
                </a:lnTo>
                <a:lnTo>
                  <a:pt x="284988" y="1424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96794" y="482854"/>
            <a:ext cx="6099810" cy="1724660"/>
          </a:xfrm>
          <a:custGeom>
            <a:avLst/>
            <a:gdLst/>
            <a:ahLst/>
            <a:cxnLst/>
            <a:rect l="l" t="t" r="r" b="b"/>
            <a:pathLst>
              <a:path w="6099809" h="1724660">
                <a:moveTo>
                  <a:pt x="5858256" y="276860"/>
                </a:moveTo>
                <a:lnTo>
                  <a:pt x="685292" y="276860"/>
                </a:lnTo>
                <a:lnTo>
                  <a:pt x="636674" y="281764"/>
                </a:lnTo>
                <a:lnTo>
                  <a:pt x="591385" y="295828"/>
                </a:lnTo>
                <a:lnTo>
                  <a:pt x="550397" y="318081"/>
                </a:lnTo>
                <a:lnTo>
                  <a:pt x="514683" y="347551"/>
                </a:lnTo>
                <a:lnTo>
                  <a:pt x="485213" y="383265"/>
                </a:lnTo>
                <a:lnTo>
                  <a:pt x="462960" y="424253"/>
                </a:lnTo>
                <a:lnTo>
                  <a:pt x="448896" y="469542"/>
                </a:lnTo>
                <a:lnTo>
                  <a:pt x="443992" y="518160"/>
                </a:lnTo>
                <a:lnTo>
                  <a:pt x="443992" y="1483360"/>
                </a:lnTo>
                <a:lnTo>
                  <a:pt x="448896" y="1531977"/>
                </a:lnTo>
                <a:lnTo>
                  <a:pt x="462960" y="1577266"/>
                </a:lnTo>
                <a:lnTo>
                  <a:pt x="485213" y="1618254"/>
                </a:lnTo>
                <a:lnTo>
                  <a:pt x="514683" y="1653968"/>
                </a:lnTo>
                <a:lnTo>
                  <a:pt x="550397" y="1683438"/>
                </a:lnTo>
                <a:lnTo>
                  <a:pt x="591385" y="1705691"/>
                </a:lnTo>
                <a:lnTo>
                  <a:pt x="636674" y="1719755"/>
                </a:lnTo>
                <a:lnTo>
                  <a:pt x="685292" y="1724660"/>
                </a:lnTo>
                <a:lnTo>
                  <a:pt x="5858256" y="1724660"/>
                </a:lnTo>
                <a:lnTo>
                  <a:pt x="5906873" y="1719755"/>
                </a:lnTo>
                <a:lnTo>
                  <a:pt x="5952162" y="1705691"/>
                </a:lnTo>
                <a:lnTo>
                  <a:pt x="5993150" y="1683438"/>
                </a:lnTo>
                <a:lnTo>
                  <a:pt x="6028864" y="1653968"/>
                </a:lnTo>
                <a:lnTo>
                  <a:pt x="6058334" y="1618254"/>
                </a:lnTo>
                <a:lnTo>
                  <a:pt x="6080587" y="1577266"/>
                </a:lnTo>
                <a:lnTo>
                  <a:pt x="6094651" y="1531977"/>
                </a:lnTo>
                <a:lnTo>
                  <a:pt x="6099556" y="1483360"/>
                </a:lnTo>
                <a:lnTo>
                  <a:pt x="6099556" y="518160"/>
                </a:lnTo>
                <a:lnTo>
                  <a:pt x="6094651" y="469542"/>
                </a:lnTo>
                <a:lnTo>
                  <a:pt x="6080587" y="424253"/>
                </a:lnTo>
                <a:lnTo>
                  <a:pt x="6058334" y="383265"/>
                </a:lnTo>
                <a:lnTo>
                  <a:pt x="6028864" y="347551"/>
                </a:lnTo>
                <a:lnTo>
                  <a:pt x="5993150" y="318081"/>
                </a:lnTo>
                <a:lnTo>
                  <a:pt x="5952162" y="295828"/>
                </a:lnTo>
                <a:lnTo>
                  <a:pt x="5906873" y="281764"/>
                </a:lnTo>
                <a:lnTo>
                  <a:pt x="5858256" y="276860"/>
                </a:lnTo>
                <a:close/>
              </a:path>
              <a:path w="6099809" h="1724660">
                <a:moveTo>
                  <a:pt x="0" y="0"/>
                </a:moveTo>
                <a:lnTo>
                  <a:pt x="1386585" y="276860"/>
                </a:lnTo>
                <a:lnTo>
                  <a:pt x="2800477" y="27686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96794" y="482854"/>
            <a:ext cx="6099810" cy="1724660"/>
          </a:xfrm>
          <a:custGeom>
            <a:avLst/>
            <a:gdLst/>
            <a:ahLst/>
            <a:cxnLst/>
            <a:rect l="l" t="t" r="r" b="b"/>
            <a:pathLst>
              <a:path w="6099809" h="1724660">
                <a:moveTo>
                  <a:pt x="443992" y="518160"/>
                </a:moveTo>
                <a:lnTo>
                  <a:pt x="448896" y="469542"/>
                </a:lnTo>
                <a:lnTo>
                  <a:pt x="462960" y="424253"/>
                </a:lnTo>
                <a:lnTo>
                  <a:pt x="485213" y="383265"/>
                </a:lnTo>
                <a:lnTo>
                  <a:pt x="514683" y="347551"/>
                </a:lnTo>
                <a:lnTo>
                  <a:pt x="550397" y="318081"/>
                </a:lnTo>
                <a:lnTo>
                  <a:pt x="591385" y="295828"/>
                </a:lnTo>
                <a:lnTo>
                  <a:pt x="636674" y="281764"/>
                </a:lnTo>
                <a:lnTo>
                  <a:pt x="685292" y="276860"/>
                </a:lnTo>
                <a:lnTo>
                  <a:pt x="1386585" y="276860"/>
                </a:lnTo>
                <a:lnTo>
                  <a:pt x="0" y="0"/>
                </a:lnTo>
                <a:lnTo>
                  <a:pt x="2800477" y="276860"/>
                </a:lnTo>
                <a:lnTo>
                  <a:pt x="5858256" y="276860"/>
                </a:lnTo>
                <a:lnTo>
                  <a:pt x="5906873" y="281764"/>
                </a:lnTo>
                <a:lnTo>
                  <a:pt x="5952162" y="295828"/>
                </a:lnTo>
                <a:lnTo>
                  <a:pt x="5993150" y="318081"/>
                </a:lnTo>
                <a:lnTo>
                  <a:pt x="6028864" y="347551"/>
                </a:lnTo>
                <a:lnTo>
                  <a:pt x="6058334" y="383265"/>
                </a:lnTo>
                <a:lnTo>
                  <a:pt x="6080587" y="424253"/>
                </a:lnTo>
                <a:lnTo>
                  <a:pt x="6094651" y="469542"/>
                </a:lnTo>
                <a:lnTo>
                  <a:pt x="6099556" y="518160"/>
                </a:lnTo>
                <a:lnTo>
                  <a:pt x="6099556" y="880110"/>
                </a:lnTo>
                <a:lnTo>
                  <a:pt x="6099556" y="1483360"/>
                </a:lnTo>
                <a:lnTo>
                  <a:pt x="6094651" y="1531977"/>
                </a:lnTo>
                <a:lnTo>
                  <a:pt x="6080587" y="1577266"/>
                </a:lnTo>
                <a:lnTo>
                  <a:pt x="6058334" y="1618254"/>
                </a:lnTo>
                <a:lnTo>
                  <a:pt x="6028864" y="1653968"/>
                </a:lnTo>
                <a:lnTo>
                  <a:pt x="5993150" y="1683438"/>
                </a:lnTo>
                <a:lnTo>
                  <a:pt x="5952162" y="1705691"/>
                </a:lnTo>
                <a:lnTo>
                  <a:pt x="5906873" y="1719755"/>
                </a:lnTo>
                <a:lnTo>
                  <a:pt x="5858256" y="1724660"/>
                </a:lnTo>
                <a:lnTo>
                  <a:pt x="2800477" y="1724660"/>
                </a:lnTo>
                <a:lnTo>
                  <a:pt x="1386585" y="1724660"/>
                </a:lnTo>
                <a:lnTo>
                  <a:pt x="685292" y="1724660"/>
                </a:lnTo>
                <a:lnTo>
                  <a:pt x="636674" y="1719755"/>
                </a:lnTo>
                <a:lnTo>
                  <a:pt x="591385" y="1705691"/>
                </a:lnTo>
                <a:lnTo>
                  <a:pt x="550397" y="1683438"/>
                </a:lnTo>
                <a:lnTo>
                  <a:pt x="514683" y="1653968"/>
                </a:lnTo>
                <a:lnTo>
                  <a:pt x="485213" y="1618254"/>
                </a:lnTo>
                <a:lnTo>
                  <a:pt x="462960" y="1577266"/>
                </a:lnTo>
                <a:lnTo>
                  <a:pt x="448896" y="1531977"/>
                </a:lnTo>
                <a:lnTo>
                  <a:pt x="443992" y="1483360"/>
                </a:lnTo>
                <a:lnTo>
                  <a:pt x="443992" y="880110"/>
                </a:lnTo>
                <a:lnTo>
                  <a:pt x="443992" y="518160"/>
                </a:lnTo>
                <a:close/>
              </a:path>
            </a:pathLst>
          </a:custGeom>
          <a:ln w="25907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56813" y="770001"/>
            <a:ext cx="521843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When </a:t>
            </a:r>
            <a:r>
              <a:rPr sz="1800" spc="-10" dirty="0">
                <a:latin typeface="Calibri"/>
                <a:cs typeface="Calibri"/>
              </a:rPr>
              <a:t>researching </a:t>
            </a:r>
            <a:r>
              <a:rPr sz="1800" spc="-5" dirty="0">
                <a:latin typeface="Calibri"/>
                <a:cs typeface="Calibri"/>
              </a:rPr>
              <a:t>Quicksort </a:t>
            </a:r>
            <a:r>
              <a:rPr sz="1800" spc="-10" dirty="0">
                <a:latin typeface="Calibri"/>
                <a:cs typeface="Calibri"/>
              </a:rPr>
              <a:t>you’ll </a:t>
            </a:r>
            <a:r>
              <a:rPr sz="1800" spc="-5" dirty="0">
                <a:latin typeface="Calibri"/>
                <a:cs typeface="Calibri"/>
              </a:rPr>
              <a:t>find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20" dirty="0">
                <a:latin typeface="Calibri"/>
                <a:cs typeface="Calibri"/>
              </a:rPr>
              <a:t>few </a:t>
            </a:r>
            <a:r>
              <a:rPr sz="1800" spc="-15" dirty="0">
                <a:latin typeface="Calibri"/>
                <a:cs typeface="Calibri"/>
              </a:rPr>
              <a:t>different  </a:t>
            </a:r>
            <a:r>
              <a:rPr sz="1800" spc="-5" dirty="0">
                <a:latin typeface="Calibri"/>
                <a:cs typeface="Calibri"/>
              </a:rPr>
              <a:t>popular methods used but they’re </a:t>
            </a:r>
            <a:r>
              <a:rPr sz="1800" dirty="0">
                <a:latin typeface="Calibri"/>
                <a:cs typeface="Calibri"/>
              </a:rPr>
              <a:t>all </a:t>
            </a:r>
            <a:r>
              <a:rPr sz="1800" spc="-5" dirty="0">
                <a:latin typeface="Calibri"/>
                <a:cs typeface="Calibri"/>
              </a:rPr>
              <a:t>basically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same  idea. </a:t>
            </a:r>
            <a:r>
              <a:rPr sz="1800" spc="-10" dirty="0">
                <a:latin typeface="Calibri"/>
                <a:cs typeface="Calibri"/>
              </a:rPr>
              <a:t>Here </a:t>
            </a:r>
            <a:r>
              <a:rPr sz="1800" spc="-20" dirty="0">
                <a:latin typeface="Calibri"/>
                <a:cs typeface="Calibri"/>
              </a:rPr>
              <a:t>we’re </a:t>
            </a:r>
            <a:r>
              <a:rPr sz="1800" spc="-5" dirty="0">
                <a:latin typeface="Calibri"/>
                <a:cs typeface="Calibri"/>
              </a:rPr>
              <a:t>going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look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spc="-5" dirty="0">
                <a:latin typeface="Calibri"/>
                <a:cs typeface="Calibri"/>
              </a:rPr>
              <a:t>one 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most  </a:t>
            </a:r>
            <a:r>
              <a:rPr sz="1800" spc="-25" dirty="0">
                <a:latin typeface="Calibri"/>
                <a:cs typeface="Calibri"/>
              </a:rPr>
              <a:t>popular, Hoare’s </a:t>
            </a:r>
            <a:r>
              <a:rPr sz="1800" spc="-5" dirty="0">
                <a:latin typeface="Calibri"/>
                <a:cs typeface="Calibri"/>
              </a:rPr>
              <a:t>Quicksort, which puts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Pivot on one  </a:t>
            </a:r>
            <a:r>
              <a:rPr sz="1800" dirty="0">
                <a:latin typeface="Calibri"/>
                <a:cs typeface="Calibri"/>
              </a:rPr>
              <a:t>end and </a:t>
            </a:r>
            <a:r>
              <a:rPr sz="1800" spc="-10" dirty="0">
                <a:latin typeface="Calibri"/>
                <a:cs typeface="Calibri"/>
              </a:rPr>
              <a:t>works </a:t>
            </a:r>
            <a:r>
              <a:rPr sz="1800" spc="-5" dirty="0">
                <a:latin typeface="Calibri"/>
                <a:cs typeface="Calibri"/>
              </a:rPr>
              <a:t>down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list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array.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1064768"/>
            <a:ext cx="9779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4"/>
                </a:moveTo>
                <a:lnTo>
                  <a:pt x="71247" y="142494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4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4"/>
                </a:lnTo>
                <a:lnTo>
                  <a:pt x="284988" y="142494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4"/>
                </a:moveTo>
                <a:lnTo>
                  <a:pt x="213741" y="142494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4"/>
                </a:lnTo>
                <a:lnTo>
                  <a:pt x="0" y="142494"/>
                </a:lnTo>
                <a:lnTo>
                  <a:pt x="142494" y="0"/>
                </a:lnTo>
                <a:lnTo>
                  <a:pt x="284988" y="1424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42539" y="697230"/>
            <a:ext cx="6450330" cy="1447800"/>
          </a:xfrm>
          <a:custGeom>
            <a:avLst/>
            <a:gdLst/>
            <a:ahLst/>
            <a:cxnLst/>
            <a:rect l="l" t="t" r="r" b="b"/>
            <a:pathLst>
              <a:path w="6450330" h="1447800">
                <a:moveTo>
                  <a:pt x="6208521" y="0"/>
                </a:moveTo>
                <a:lnTo>
                  <a:pt x="1035558" y="0"/>
                </a:lnTo>
                <a:lnTo>
                  <a:pt x="986940" y="4904"/>
                </a:lnTo>
                <a:lnTo>
                  <a:pt x="941651" y="18968"/>
                </a:lnTo>
                <a:lnTo>
                  <a:pt x="900663" y="41221"/>
                </a:lnTo>
                <a:lnTo>
                  <a:pt x="864949" y="70691"/>
                </a:lnTo>
                <a:lnTo>
                  <a:pt x="835479" y="106405"/>
                </a:lnTo>
                <a:lnTo>
                  <a:pt x="813226" y="147393"/>
                </a:lnTo>
                <a:lnTo>
                  <a:pt x="799162" y="192682"/>
                </a:lnTo>
                <a:lnTo>
                  <a:pt x="794258" y="241300"/>
                </a:lnTo>
                <a:lnTo>
                  <a:pt x="0" y="389636"/>
                </a:lnTo>
                <a:lnTo>
                  <a:pt x="794258" y="603250"/>
                </a:lnTo>
                <a:lnTo>
                  <a:pt x="794258" y="1206500"/>
                </a:lnTo>
                <a:lnTo>
                  <a:pt x="799162" y="1255117"/>
                </a:lnTo>
                <a:lnTo>
                  <a:pt x="813226" y="1300406"/>
                </a:lnTo>
                <a:lnTo>
                  <a:pt x="835479" y="1341394"/>
                </a:lnTo>
                <a:lnTo>
                  <a:pt x="864949" y="1377108"/>
                </a:lnTo>
                <a:lnTo>
                  <a:pt x="900663" y="1406578"/>
                </a:lnTo>
                <a:lnTo>
                  <a:pt x="941651" y="1428831"/>
                </a:lnTo>
                <a:lnTo>
                  <a:pt x="986940" y="1442895"/>
                </a:lnTo>
                <a:lnTo>
                  <a:pt x="1035558" y="1447800"/>
                </a:lnTo>
                <a:lnTo>
                  <a:pt x="6208521" y="1447800"/>
                </a:lnTo>
                <a:lnTo>
                  <a:pt x="6257139" y="1442895"/>
                </a:lnTo>
                <a:lnTo>
                  <a:pt x="6302428" y="1428831"/>
                </a:lnTo>
                <a:lnTo>
                  <a:pt x="6343416" y="1406578"/>
                </a:lnTo>
                <a:lnTo>
                  <a:pt x="6379130" y="1377108"/>
                </a:lnTo>
                <a:lnTo>
                  <a:pt x="6408600" y="1341394"/>
                </a:lnTo>
                <a:lnTo>
                  <a:pt x="6430853" y="1300406"/>
                </a:lnTo>
                <a:lnTo>
                  <a:pt x="6444917" y="1255117"/>
                </a:lnTo>
                <a:lnTo>
                  <a:pt x="6449821" y="1206500"/>
                </a:lnTo>
                <a:lnTo>
                  <a:pt x="6449821" y="241300"/>
                </a:lnTo>
                <a:lnTo>
                  <a:pt x="6444917" y="192682"/>
                </a:lnTo>
                <a:lnTo>
                  <a:pt x="6430853" y="147393"/>
                </a:lnTo>
                <a:lnTo>
                  <a:pt x="6408600" y="106405"/>
                </a:lnTo>
                <a:lnTo>
                  <a:pt x="6379130" y="70691"/>
                </a:lnTo>
                <a:lnTo>
                  <a:pt x="6343416" y="41221"/>
                </a:lnTo>
                <a:lnTo>
                  <a:pt x="6302428" y="18968"/>
                </a:lnTo>
                <a:lnTo>
                  <a:pt x="6257139" y="4904"/>
                </a:lnTo>
                <a:lnTo>
                  <a:pt x="620852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42539" y="697230"/>
            <a:ext cx="6450330" cy="1447800"/>
          </a:xfrm>
          <a:custGeom>
            <a:avLst/>
            <a:gdLst/>
            <a:ahLst/>
            <a:cxnLst/>
            <a:rect l="l" t="t" r="r" b="b"/>
            <a:pathLst>
              <a:path w="6450330" h="1447800">
                <a:moveTo>
                  <a:pt x="794258" y="241300"/>
                </a:moveTo>
                <a:lnTo>
                  <a:pt x="799162" y="192682"/>
                </a:lnTo>
                <a:lnTo>
                  <a:pt x="813226" y="147393"/>
                </a:lnTo>
                <a:lnTo>
                  <a:pt x="835479" y="106405"/>
                </a:lnTo>
                <a:lnTo>
                  <a:pt x="864949" y="70691"/>
                </a:lnTo>
                <a:lnTo>
                  <a:pt x="900663" y="41221"/>
                </a:lnTo>
                <a:lnTo>
                  <a:pt x="941651" y="18968"/>
                </a:lnTo>
                <a:lnTo>
                  <a:pt x="986940" y="4904"/>
                </a:lnTo>
                <a:lnTo>
                  <a:pt x="1035558" y="0"/>
                </a:lnTo>
                <a:lnTo>
                  <a:pt x="1736852" y="0"/>
                </a:lnTo>
                <a:lnTo>
                  <a:pt x="3150743" y="0"/>
                </a:lnTo>
                <a:lnTo>
                  <a:pt x="6208521" y="0"/>
                </a:lnTo>
                <a:lnTo>
                  <a:pt x="6257139" y="4904"/>
                </a:lnTo>
                <a:lnTo>
                  <a:pt x="6302428" y="18968"/>
                </a:lnTo>
                <a:lnTo>
                  <a:pt x="6343416" y="41221"/>
                </a:lnTo>
                <a:lnTo>
                  <a:pt x="6379130" y="70691"/>
                </a:lnTo>
                <a:lnTo>
                  <a:pt x="6408600" y="106405"/>
                </a:lnTo>
                <a:lnTo>
                  <a:pt x="6430853" y="147393"/>
                </a:lnTo>
                <a:lnTo>
                  <a:pt x="6444917" y="192682"/>
                </a:lnTo>
                <a:lnTo>
                  <a:pt x="6449821" y="241300"/>
                </a:lnTo>
                <a:lnTo>
                  <a:pt x="6449821" y="603250"/>
                </a:lnTo>
                <a:lnTo>
                  <a:pt x="6449821" y="1206500"/>
                </a:lnTo>
                <a:lnTo>
                  <a:pt x="6444917" y="1255117"/>
                </a:lnTo>
                <a:lnTo>
                  <a:pt x="6430853" y="1300406"/>
                </a:lnTo>
                <a:lnTo>
                  <a:pt x="6408600" y="1341394"/>
                </a:lnTo>
                <a:lnTo>
                  <a:pt x="6379130" y="1377108"/>
                </a:lnTo>
                <a:lnTo>
                  <a:pt x="6343416" y="1406578"/>
                </a:lnTo>
                <a:lnTo>
                  <a:pt x="6302428" y="1428831"/>
                </a:lnTo>
                <a:lnTo>
                  <a:pt x="6257139" y="1442895"/>
                </a:lnTo>
                <a:lnTo>
                  <a:pt x="6208521" y="1447800"/>
                </a:lnTo>
                <a:lnTo>
                  <a:pt x="3150743" y="1447800"/>
                </a:lnTo>
                <a:lnTo>
                  <a:pt x="1736852" y="1447800"/>
                </a:lnTo>
                <a:lnTo>
                  <a:pt x="1035558" y="1447800"/>
                </a:lnTo>
                <a:lnTo>
                  <a:pt x="986940" y="1442895"/>
                </a:lnTo>
                <a:lnTo>
                  <a:pt x="941651" y="1428831"/>
                </a:lnTo>
                <a:lnTo>
                  <a:pt x="900663" y="1406578"/>
                </a:lnTo>
                <a:lnTo>
                  <a:pt x="864949" y="1377108"/>
                </a:lnTo>
                <a:lnTo>
                  <a:pt x="835479" y="1341394"/>
                </a:lnTo>
                <a:lnTo>
                  <a:pt x="813226" y="1300406"/>
                </a:lnTo>
                <a:lnTo>
                  <a:pt x="799162" y="1255117"/>
                </a:lnTo>
                <a:lnTo>
                  <a:pt x="794258" y="1206500"/>
                </a:lnTo>
                <a:lnTo>
                  <a:pt x="794258" y="603250"/>
                </a:lnTo>
                <a:lnTo>
                  <a:pt x="0" y="389636"/>
                </a:lnTo>
                <a:lnTo>
                  <a:pt x="794258" y="241300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97402" y="981583"/>
            <a:ext cx="51308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All 4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these </a:t>
            </a:r>
            <a:r>
              <a:rPr sz="1800" spc="-5" dirty="0">
                <a:latin typeface="Calibri"/>
                <a:cs typeface="Calibri"/>
              </a:rPr>
              <a:t>bullet points that </a:t>
            </a:r>
            <a:r>
              <a:rPr sz="1800" spc="-10" dirty="0">
                <a:latin typeface="Calibri"/>
                <a:cs typeface="Calibri"/>
              </a:rPr>
              <a:t>you </a:t>
            </a:r>
            <a:r>
              <a:rPr sz="1800" dirty="0">
                <a:latin typeface="Calibri"/>
                <a:cs typeface="Calibri"/>
              </a:rPr>
              <a:t>see </a:t>
            </a:r>
            <a:r>
              <a:rPr sz="1800" spc="-10" dirty="0">
                <a:latin typeface="Calibri"/>
                <a:cs typeface="Calibri"/>
              </a:rPr>
              <a:t>here are </a:t>
            </a:r>
            <a:r>
              <a:rPr sz="1800" dirty="0">
                <a:latin typeface="Calibri"/>
                <a:cs typeface="Calibri"/>
              </a:rPr>
              <a:t>the  </a:t>
            </a:r>
            <a:r>
              <a:rPr sz="1800" spc="-5" dirty="0">
                <a:latin typeface="Calibri"/>
                <a:cs typeface="Calibri"/>
              </a:rPr>
              <a:t>basic rules, or </a:t>
            </a:r>
            <a:r>
              <a:rPr sz="1800" spc="-10" dirty="0">
                <a:latin typeface="Calibri"/>
                <a:cs typeface="Calibri"/>
              </a:rPr>
              <a:t>checks, </a:t>
            </a:r>
            <a:r>
              <a:rPr sz="1800" spc="-5" dirty="0">
                <a:latin typeface="Calibri"/>
                <a:cs typeface="Calibri"/>
              </a:rPr>
              <a:t>that </a:t>
            </a:r>
            <a:r>
              <a:rPr sz="1800" spc="-10" dirty="0">
                <a:latin typeface="Calibri"/>
                <a:cs typeface="Calibri"/>
              </a:rPr>
              <a:t>we’ll </a:t>
            </a:r>
            <a:r>
              <a:rPr sz="1800" spc="-5" dirty="0">
                <a:latin typeface="Calibri"/>
                <a:cs typeface="Calibri"/>
              </a:rPr>
              <a:t>be using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sort. This </a:t>
            </a:r>
            <a:r>
              <a:rPr sz="1800" dirty="0">
                <a:latin typeface="Calibri"/>
                <a:cs typeface="Calibri"/>
              </a:rPr>
              <a:t>is  the </a:t>
            </a:r>
            <a:r>
              <a:rPr sz="1800" spc="-5" dirty="0">
                <a:latin typeface="Calibri"/>
                <a:cs typeface="Calibri"/>
              </a:rPr>
              <a:t>basic logic defined </a:t>
            </a:r>
            <a:r>
              <a:rPr sz="1800" spc="-10" dirty="0">
                <a:latin typeface="Calibri"/>
                <a:cs typeface="Calibri"/>
              </a:rPr>
              <a:t>by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underlying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code.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2496" y="1323594"/>
            <a:ext cx="401955" cy="4129404"/>
          </a:xfrm>
          <a:custGeom>
            <a:avLst/>
            <a:gdLst/>
            <a:ahLst/>
            <a:cxnLst/>
            <a:rect l="l" t="t" r="r" b="b"/>
            <a:pathLst>
              <a:path w="401955" h="4129404">
                <a:moveTo>
                  <a:pt x="325967" y="4016459"/>
                </a:moveTo>
                <a:lnTo>
                  <a:pt x="287972" y="4019295"/>
                </a:lnTo>
                <a:lnTo>
                  <a:pt x="353377" y="4129024"/>
                </a:lnTo>
                <a:lnTo>
                  <a:pt x="391832" y="4035425"/>
                </a:lnTo>
                <a:lnTo>
                  <a:pt x="327367" y="4035425"/>
                </a:lnTo>
                <a:lnTo>
                  <a:pt x="325967" y="4016459"/>
                </a:lnTo>
                <a:close/>
              </a:path>
              <a:path w="401955" h="4129404">
                <a:moveTo>
                  <a:pt x="363963" y="4013623"/>
                </a:moveTo>
                <a:lnTo>
                  <a:pt x="325967" y="4016459"/>
                </a:lnTo>
                <a:lnTo>
                  <a:pt x="327367" y="4035425"/>
                </a:lnTo>
                <a:lnTo>
                  <a:pt x="365366" y="4032630"/>
                </a:lnTo>
                <a:lnTo>
                  <a:pt x="363963" y="4013623"/>
                </a:lnTo>
                <a:close/>
              </a:path>
              <a:path w="401955" h="4129404">
                <a:moveTo>
                  <a:pt x="401955" y="4010786"/>
                </a:moveTo>
                <a:lnTo>
                  <a:pt x="363963" y="4013623"/>
                </a:lnTo>
                <a:lnTo>
                  <a:pt x="365366" y="4032630"/>
                </a:lnTo>
                <a:lnTo>
                  <a:pt x="327367" y="4035425"/>
                </a:lnTo>
                <a:lnTo>
                  <a:pt x="391832" y="4035425"/>
                </a:lnTo>
                <a:lnTo>
                  <a:pt x="401955" y="4010786"/>
                </a:lnTo>
                <a:close/>
              </a:path>
              <a:path w="401955" h="4129404">
                <a:moveTo>
                  <a:pt x="75987" y="112564"/>
                </a:moveTo>
                <a:lnTo>
                  <a:pt x="37991" y="115400"/>
                </a:lnTo>
                <a:lnTo>
                  <a:pt x="325967" y="4016459"/>
                </a:lnTo>
                <a:lnTo>
                  <a:pt x="363963" y="4013623"/>
                </a:lnTo>
                <a:lnTo>
                  <a:pt x="75987" y="112564"/>
                </a:lnTo>
                <a:close/>
              </a:path>
              <a:path w="401955" h="4129404">
                <a:moveTo>
                  <a:pt x="48577" y="0"/>
                </a:moveTo>
                <a:lnTo>
                  <a:pt x="0" y="118236"/>
                </a:lnTo>
                <a:lnTo>
                  <a:pt x="37991" y="115400"/>
                </a:lnTo>
                <a:lnTo>
                  <a:pt x="36588" y="96392"/>
                </a:lnTo>
                <a:lnTo>
                  <a:pt x="74587" y="93598"/>
                </a:lnTo>
                <a:lnTo>
                  <a:pt x="104368" y="93598"/>
                </a:lnTo>
                <a:lnTo>
                  <a:pt x="48577" y="0"/>
                </a:lnTo>
                <a:close/>
              </a:path>
              <a:path w="401955" h="4129404">
                <a:moveTo>
                  <a:pt x="74587" y="93598"/>
                </a:moveTo>
                <a:lnTo>
                  <a:pt x="36588" y="96392"/>
                </a:lnTo>
                <a:lnTo>
                  <a:pt x="37991" y="115400"/>
                </a:lnTo>
                <a:lnTo>
                  <a:pt x="75987" y="112564"/>
                </a:lnTo>
                <a:lnTo>
                  <a:pt x="74587" y="93598"/>
                </a:lnTo>
                <a:close/>
              </a:path>
              <a:path w="401955" h="4129404">
                <a:moveTo>
                  <a:pt x="104368" y="93598"/>
                </a:moveTo>
                <a:lnTo>
                  <a:pt x="74587" y="93598"/>
                </a:lnTo>
                <a:lnTo>
                  <a:pt x="75987" y="112564"/>
                </a:lnTo>
                <a:lnTo>
                  <a:pt x="113982" y="109727"/>
                </a:lnTo>
                <a:lnTo>
                  <a:pt x="104368" y="93598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77012" y="5634990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38100" y="266700"/>
                </a:moveTo>
                <a:lnTo>
                  <a:pt x="0" y="266700"/>
                </a:lnTo>
                <a:lnTo>
                  <a:pt x="57150" y="381000"/>
                </a:lnTo>
                <a:lnTo>
                  <a:pt x="104775" y="285750"/>
                </a:lnTo>
                <a:lnTo>
                  <a:pt x="38100" y="285750"/>
                </a:lnTo>
                <a:lnTo>
                  <a:pt x="38100" y="266700"/>
                </a:lnTo>
                <a:close/>
              </a:path>
              <a:path w="114300" h="381000">
                <a:moveTo>
                  <a:pt x="76200" y="95250"/>
                </a:moveTo>
                <a:lnTo>
                  <a:pt x="38100" y="9525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9525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66700"/>
                </a:lnTo>
                <a:lnTo>
                  <a:pt x="76200" y="285750"/>
                </a:lnTo>
                <a:lnTo>
                  <a:pt x="104775" y="285750"/>
                </a:lnTo>
                <a:lnTo>
                  <a:pt x="114300" y="266700"/>
                </a:lnTo>
                <a:close/>
              </a:path>
              <a:path w="114300" h="3810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810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7012" y="6168390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38100" y="342900"/>
                </a:moveTo>
                <a:lnTo>
                  <a:pt x="0" y="342900"/>
                </a:lnTo>
                <a:lnTo>
                  <a:pt x="57150" y="457200"/>
                </a:lnTo>
                <a:lnTo>
                  <a:pt x="104775" y="361950"/>
                </a:lnTo>
                <a:lnTo>
                  <a:pt x="38100" y="361950"/>
                </a:lnTo>
                <a:lnTo>
                  <a:pt x="38100" y="342900"/>
                </a:lnTo>
                <a:close/>
              </a:path>
              <a:path w="114300" h="457200">
                <a:moveTo>
                  <a:pt x="76200" y="95250"/>
                </a:moveTo>
                <a:lnTo>
                  <a:pt x="38100" y="95250"/>
                </a:lnTo>
                <a:lnTo>
                  <a:pt x="38100" y="361950"/>
                </a:lnTo>
                <a:lnTo>
                  <a:pt x="76200" y="361950"/>
                </a:lnTo>
                <a:lnTo>
                  <a:pt x="76200" y="9525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200" y="342900"/>
                </a:lnTo>
                <a:lnTo>
                  <a:pt x="76200" y="361950"/>
                </a:lnTo>
                <a:lnTo>
                  <a:pt x="104775" y="361950"/>
                </a:lnTo>
                <a:lnTo>
                  <a:pt x="114300" y="342900"/>
                </a:lnTo>
                <a:close/>
              </a:path>
              <a:path w="114300" h="4572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4572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05961" y="950213"/>
            <a:ext cx="0" cy="928369"/>
          </a:xfrm>
          <a:custGeom>
            <a:avLst/>
            <a:gdLst/>
            <a:ahLst/>
            <a:cxnLst/>
            <a:rect l="l" t="t" r="r" b="b"/>
            <a:pathLst>
              <a:path h="928369">
                <a:moveTo>
                  <a:pt x="0" y="0"/>
                </a:moveTo>
                <a:lnTo>
                  <a:pt x="0" y="928243"/>
                </a:lnTo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2964" y="1101852"/>
            <a:ext cx="217932" cy="2164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2919" y="5388864"/>
            <a:ext cx="216408" cy="2164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3776" y="6003035"/>
            <a:ext cx="217932" cy="2179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2919" y="6612635"/>
            <a:ext cx="216408" cy="2179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35" name="object 3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4"/>
                </a:moveTo>
                <a:lnTo>
                  <a:pt x="71247" y="142494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4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4"/>
                </a:lnTo>
                <a:lnTo>
                  <a:pt x="284988" y="142494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4"/>
                </a:moveTo>
                <a:lnTo>
                  <a:pt x="213741" y="142494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4"/>
                </a:lnTo>
                <a:lnTo>
                  <a:pt x="0" y="142494"/>
                </a:lnTo>
                <a:lnTo>
                  <a:pt x="142494" y="0"/>
                </a:lnTo>
                <a:lnTo>
                  <a:pt x="284988" y="1424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36797" y="689609"/>
            <a:ext cx="5655945" cy="2483485"/>
          </a:xfrm>
          <a:custGeom>
            <a:avLst/>
            <a:gdLst/>
            <a:ahLst/>
            <a:cxnLst/>
            <a:rect l="l" t="t" r="r" b="b"/>
            <a:pathLst>
              <a:path w="5655945" h="2483485">
                <a:moveTo>
                  <a:pt x="4712970" y="1447800"/>
                </a:moveTo>
                <a:lnTo>
                  <a:pt x="3299079" y="1447800"/>
                </a:lnTo>
                <a:lnTo>
                  <a:pt x="3896995" y="2483357"/>
                </a:lnTo>
                <a:lnTo>
                  <a:pt x="4712970" y="1447800"/>
                </a:lnTo>
                <a:close/>
              </a:path>
              <a:path w="5655945" h="2483485">
                <a:moveTo>
                  <a:pt x="5414263" y="0"/>
                </a:moveTo>
                <a:lnTo>
                  <a:pt x="241300" y="0"/>
                </a:lnTo>
                <a:lnTo>
                  <a:pt x="192682" y="4904"/>
                </a:lnTo>
                <a:lnTo>
                  <a:pt x="147393" y="18968"/>
                </a:lnTo>
                <a:lnTo>
                  <a:pt x="106405" y="41221"/>
                </a:lnTo>
                <a:lnTo>
                  <a:pt x="70691" y="70691"/>
                </a:lnTo>
                <a:lnTo>
                  <a:pt x="41221" y="106405"/>
                </a:lnTo>
                <a:lnTo>
                  <a:pt x="18968" y="147393"/>
                </a:lnTo>
                <a:lnTo>
                  <a:pt x="4904" y="192682"/>
                </a:lnTo>
                <a:lnTo>
                  <a:pt x="0" y="241300"/>
                </a:lnTo>
                <a:lnTo>
                  <a:pt x="0" y="1206500"/>
                </a:lnTo>
                <a:lnTo>
                  <a:pt x="4904" y="1255117"/>
                </a:lnTo>
                <a:lnTo>
                  <a:pt x="18968" y="1300406"/>
                </a:lnTo>
                <a:lnTo>
                  <a:pt x="41221" y="1341394"/>
                </a:lnTo>
                <a:lnTo>
                  <a:pt x="70691" y="1377108"/>
                </a:lnTo>
                <a:lnTo>
                  <a:pt x="106405" y="1406578"/>
                </a:lnTo>
                <a:lnTo>
                  <a:pt x="147393" y="1428831"/>
                </a:lnTo>
                <a:lnTo>
                  <a:pt x="192682" y="1442895"/>
                </a:lnTo>
                <a:lnTo>
                  <a:pt x="241300" y="1447800"/>
                </a:lnTo>
                <a:lnTo>
                  <a:pt x="5414263" y="1447800"/>
                </a:lnTo>
                <a:lnTo>
                  <a:pt x="5462881" y="1442895"/>
                </a:lnTo>
                <a:lnTo>
                  <a:pt x="5508170" y="1428831"/>
                </a:lnTo>
                <a:lnTo>
                  <a:pt x="5549158" y="1406578"/>
                </a:lnTo>
                <a:lnTo>
                  <a:pt x="5584872" y="1377108"/>
                </a:lnTo>
                <a:lnTo>
                  <a:pt x="5614342" y="1341394"/>
                </a:lnTo>
                <a:lnTo>
                  <a:pt x="5636595" y="1300406"/>
                </a:lnTo>
                <a:lnTo>
                  <a:pt x="5650659" y="1255117"/>
                </a:lnTo>
                <a:lnTo>
                  <a:pt x="5655563" y="1206500"/>
                </a:lnTo>
                <a:lnTo>
                  <a:pt x="5655563" y="241300"/>
                </a:lnTo>
                <a:lnTo>
                  <a:pt x="5650659" y="192682"/>
                </a:lnTo>
                <a:lnTo>
                  <a:pt x="5636595" y="147393"/>
                </a:lnTo>
                <a:lnTo>
                  <a:pt x="5614342" y="106405"/>
                </a:lnTo>
                <a:lnTo>
                  <a:pt x="5584872" y="70691"/>
                </a:lnTo>
                <a:lnTo>
                  <a:pt x="5549158" y="41221"/>
                </a:lnTo>
                <a:lnTo>
                  <a:pt x="5508170" y="18968"/>
                </a:lnTo>
                <a:lnTo>
                  <a:pt x="5462881" y="4904"/>
                </a:lnTo>
                <a:lnTo>
                  <a:pt x="541426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36797" y="689609"/>
            <a:ext cx="5655945" cy="2483485"/>
          </a:xfrm>
          <a:custGeom>
            <a:avLst/>
            <a:gdLst/>
            <a:ahLst/>
            <a:cxnLst/>
            <a:rect l="l" t="t" r="r" b="b"/>
            <a:pathLst>
              <a:path w="5655945" h="2483485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14263" y="0"/>
                </a:lnTo>
                <a:lnTo>
                  <a:pt x="5462881" y="4904"/>
                </a:lnTo>
                <a:lnTo>
                  <a:pt x="5508170" y="18968"/>
                </a:lnTo>
                <a:lnTo>
                  <a:pt x="5549158" y="41221"/>
                </a:lnTo>
                <a:lnTo>
                  <a:pt x="5584872" y="70691"/>
                </a:lnTo>
                <a:lnTo>
                  <a:pt x="5614342" y="106405"/>
                </a:lnTo>
                <a:lnTo>
                  <a:pt x="5636595" y="147393"/>
                </a:lnTo>
                <a:lnTo>
                  <a:pt x="5650659" y="192682"/>
                </a:lnTo>
                <a:lnTo>
                  <a:pt x="5655563" y="241300"/>
                </a:lnTo>
                <a:lnTo>
                  <a:pt x="5655563" y="844550"/>
                </a:lnTo>
                <a:lnTo>
                  <a:pt x="5655563" y="1206500"/>
                </a:lnTo>
                <a:lnTo>
                  <a:pt x="5650659" y="1255117"/>
                </a:lnTo>
                <a:lnTo>
                  <a:pt x="5636595" y="1300406"/>
                </a:lnTo>
                <a:lnTo>
                  <a:pt x="5614342" y="1341394"/>
                </a:lnTo>
                <a:lnTo>
                  <a:pt x="5584872" y="1377108"/>
                </a:lnTo>
                <a:lnTo>
                  <a:pt x="5549158" y="1406578"/>
                </a:lnTo>
                <a:lnTo>
                  <a:pt x="5508170" y="1428831"/>
                </a:lnTo>
                <a:lnTo>
                  <a:pt x="5462881" y="1442895"/>
                </a:lnTo>
                <a:lnTo>
                  <a:pt x="5414263" y="1447800"/>
                </a:lnTo>
                <a:lnTo>
                  <a:pt x="4712970" y="1447800"/>
                </a:lnTo>
                <a:lnTo>
                  <a:pt x="3896995" y="2483357"/>
                </a:lnTo>
                <a:lnTo>
                  <a:pt x="3299079" y="1447800"/>
                </a:lnTo>
                <a:lnTo>
                  <a:pt x="241300" y="1447800"/>
                </a:lnTo>
                <a:lnTo>
                  <a:pt x="192682" y="1442895"/>
                </a:lnTo>
                <a:lnTo>
                  <a:pt x="147393" y="1428831"/>
                </a:lnTo>
                <a:lnTo>
                  <a:pt x="106405" y="1406578"/>
                </a:lnTo>
                <a:lnTo>
                  <a:pt x="70691" y="1377108"/>
                </a:lnTo>
                <a:lnTo>
                  <a:pt x="41221" y="1341394"/>
                </a:lnTo>
                <a:lnTo>
                  <a:pt x="18968" y="1300406"/>
                </a:lnTo>
                <a:lnTo>
                  <a:pt x="4904" y="1255117"/>
                </a:lnTo>
                <a:lnTo>
                  <a:pt x="0" y="1206500"/>
                </a:lnTo>
                <a:lnTo>
                  <a:pt x="0" y="844550"/>
                </a:lnTo>
                <a:lnTo>
                  <a:pt x="0" y="241300"/>
                </a:lnTo>
                <a:close/>
              </a:path>
            </a:pathLst>
          </a:custGeom>
          <a:ln w="25907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57778" y="835914"/>
            <a:ext cx="52095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10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pick our </a:t>
            </a:r>
            <a:r>
              <a:rPr sz="1800" spc="-10" dirty="0">
                <a:latin typeface="Calibri"/>
                <a:cs typeface="Calibri"/>
              </a:rPr>
              <a:t>Pivot (P), </a:t>
            </a:r>
            <a:r>
              <a:rPr sz="1800" spc="-5" dirty="0">
                <a:latin typeface="Calibri"/>
                <a:cs typeface="Calibri"/>
              </a:rPr>
              <a:t>in this </a:t>
            </a:r>
            <a:r>
              <a:rPr sz="1800" spc="-10" dirty="0">
                <a:latin typeface="Calibri"/>
                <a:cs typeface="Calibri"/>
              </a:rPr>
              <a:t>example at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random.</a:t>
            </a:r>
            <a:endParaRPr sz="1800">
              <a:latin typeface="Calibri"/>
              <a:cs typeface="Calibri"/>
            </a:endParaRPr>
          </a:p>
          <a:p>
            <a:pPr marL="12700" marR="5080" indent="8255"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We’ve </a:t>
            </a:r>
            <a:r>
              <a:rPr sz="1800" spc="-5" dirty="0">
                <a:latin typeface="Calibri"/>
                <a:cs typeface="Calibri"/>
              </a:rPr>
              <a:t>decided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go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last element in </a:t>
            </a:r>
            <a:r>
              <a:rPr sz="1800" dirty="0">
                <a:latin typeface="Calibri"/>
                <a:cs typeface="Calibri"/>
              </a:rPr>
              <a:t>the  </a:t>
            </a:r>
            <a:r>
              <a:rPr sz="1800" spc="-5" dirty="0">
                <a:latin typeface="Calibri"/>
                <a:cs typeface="Calibri"/>
              </a:rPr>
              <a:t>sequence, </a:t>
            </a:r>
            <a:r>
              <a:rPr sz="1800" dirty="0">
                <a:latin typeface="Calibri"/>
                <a:cs typeface="Calibri"/>
              </a:rPr>
              <a:t>7, and </a:t>
            </a:r>
            <a:r>
              <a:rPr sz="1800" spc="-10" dirty="0">
                <a:latin typeface="Calibri"/>
                <a:cs typeface="Calibri"/>
              </a:rPr>
              <a:t>we’ll </a:t>
            </a:r>
            <a:r>
              <a:rPr sz="1800" spc="-5" dirty="0">
                <a:latin typeface="Calibri"/>
                <a:cs typeface="Calibri"/>
              </a:rPr>
              <a:t>do this with </a:t>
            </a:r>
            <a:r>
              <a:rPr sz="1800" dirty="0">
                <a:latin typeface="Calibri"/>
                <a:cs typeface="Calibri"/>
              </a:rPr>
              <a:t>each </a:t>
            </a:r>
            <a:r>
              <a:rPr sz="1800" spc="-10" dirty="0">
                <a:latin typeface="Calibri"/>
                <a:cs typeface="Calibri"/>
              </a:rPr>
              <a:t>recursion going  </a:t>
            </a:r>
            <a:r>
              <a:rPr sz="1800" spc="-5" dirty="0">
                <a:latin typeface="Calibri"/>
                <a:cs typeface="Calibri"/>
              </a:rPr>
              <a:t>down </a:t>
            </a:r>
            <a:r>
              <a:rPr sz="1800" dirty="0">
                <a:latin typeface="Calibri"/>
                <a:cs typeface="Calibri"/>
              </a:rPr>
              <a:t>as needed </a:t>
            </a:r>
            <a:r>
              <a:rPr sz="1800" spc="-5" dirty="0">
                <a:latin typeface="Calibri"/>
                <a:cs typeface="Calibri"/>
              </a:rPr>
              <a:t>until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sorting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complete.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4"/>
                </a:moveTo>
                <a:lnTo>
                  <a:pt x="71247" y="142494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4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4"/>
                </a:lnTo>
                <a:lnTo>
                  <a:pt x="284988" y="142494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4"/>
                </a:moveTo>
                <a:lnTo>
                  <a:pt x="213741" y="142494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4"/>
                </a:lnTo>
                <a:lnTo>
                  <a:pt x="0" y="142494"/>
                </a:lnTo>
                <a:lnTo>
                  <a:pt x="142494" y="0"/>
                </a:lnTo>
                <a:lnTo>
                  <a:pt x="284988" y="1424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63748" y="599694"/>
            <a:ext cx="5928995" cy="1988185"/>
          </a:xfrm>
          <a:custGeom>
            <a:avLst/>
            <a:gdLst/>
            <a:ahLst/>
            <a:cxnLst/>
            <a:rect l="l" t="t" r="r" b="b"/>
            <a:pathLst>
              <a:path w="5928995" h="1988185">
                <a:moveTo>
                  <a:pt x="2629535" y="1447800"/>
                </a:moveTo>
                <a:lnTo>
                  <a:pt x="1215643" y="1447800"/>
                </a:lnTo>
                <a:lnTo>
                  <a:pt x="0" y="1987677"/>
                </a:lnTo>
                <a:lnTo>
                  <a:pt x="2629535" y="1447800"/>
                </a:lnTo>
                <a:close/>
              </a:path>
              <a:path w="5928995" h="1988185">
                <a:moveTo>
                  <a:pt x="5687313" y="0"/>
                </a:moveTo>
                <a:lnTo>
                  <a:pt x="514350" y="0"/>
                </a:lnTo>
                <a:lnTo>
                  <a:pt x="465732" y="4904"/>
                </a:lnTo>
                <a:lnTo>
                  <a:pt x="420443" y="18968"/>
                </a:lnTo>
                <a:lnTo>
                  <a:pt x="379455" y="41221"/>
                </a:lnTo>
                <a:lnTo>
                  <a:pt x="343741" y="70691"/>
                </a:lnTo>
                <a:lnTo>
                  <a:pt x="314271" y="106405"/>
                </a:lnTo>
                <a:lnTo>
                  <a:pt x="292018" y="147393"/>
                </a:lnTo>
                <a:lnTo>
                  <a:pt x="277954" y="192682"/>
                </a:lnTo>
                <a:lnTo>
                  <a:pt x="273050" y="241300"/>
                </a:lnTo>
                <a:lnTo>
                  <a:pt x="273050" y="1206500"/>
                </a:lnTo>
                <a:lnTo>
                  <a:pt x="277954" y="1255117"/>
                </a:lnTo>
                <a:lnTo>
                  <a:pt x="292018" y="1300406"/>
                </a:lnTo>
                <a:lnTo>
                  <a:pt x="314271" y="1341394"/>
                </a:lnTo>
                <a:lnTo>
                  <a:pt x="343741" y="1377108"/>
                </a:lnTo>
                <a:lnTo>
                  <a:pt x="379455" y="1406578"/>
                </a:lnTo>
                <a:lnTo>
                  <a:pt x="420443" y="1428831"/>
                </a:lnTo>
                <a:lnTo>
                  <a:pt x="465732" y="1442895"/>
                </a:lnTo>
                <a:lnTo>
                  <a:pt x="514350" y="1447800"/>
                </a:lnTo>
                <a:lnTo>
                  <a:pt x="5687313" y="1447800"/>
                </a:lnTo>
                <a:lnTo>
                  <a:pt x="5735931" y="1442895"/>
                </a:lnTo>
                <a:lnTo>
                  <a:pt x="5781220" y="1428831"/>
                </a:lnTo>
                <a:lnTo>
                  <a:pt x="5822208" y="1406578"/>
                </a:lnTo>
                <a:lnTo>
                  <a:pt x="5857922" y="1377108"/>
                </a:lnTo>
                <a:lnTo>
                  <a:pt x="5887392" y="1341394"/>
                </a:lnTo>
                <a:lnTo>
                  <a:pt x="5909645" y="1300406"/>
                </a:lnTo>
                <a:lnTo>
                  <a:pt x="5923709" y="1255117"/>
                </a:lnTo>
                <a:lnTo>
                  <a:pt x="5928613" y="1206500"/>
                </a:lnTo>
                <a:lnTo>
                  <a:pt x="5928613" y="241300"/>
                </a:lnTo>
                <a:lnTo>
                  <a:pt x="5923709" y="192682"/>
                </a:lnTo>
                <a:lnTo>
                  <a:pt x="5909645" y="147393"/>
                </a:lnTo>
                <a:lnTo>
                  <a:pt x="5887392" y="106405"/>
                </a:lnTo>
                <a:lnTo>
                  <a:pt x="5857922" y="70691"/>
                </a:lnTo>
                <a:lnTo>
                  <a:pt x="5822208" y="41221"/>
                </a:lnTo>
                <a:lnTo>
                  <a:pt x="5781220" y="18968"/>
                </a:lnTo>
                <a:lnTo>
                  <a:pt x="5735931" y="4904"/>
                </a:lnTo>
                <a:lnTo>
                  <a:pt x="568731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63748" y="599694"/>
            <a:ext cx="5928995" cy="1988185"/>
          </a:xfrm>
          <a:custGeom>
            <a:avLst/>
            <a:gdLst/>
            <a:ahLst/>
            <a:cxnLst/>
            <a:rect l="l" t="t" r="r" b="b"/>
            <a:pathLst>
              <a:path w="5928995" h="1988185">
                <a:moveTo>
                  <a:pt x="273050" y="241300"/>
                </a:moveTo>
                <a:lnTo>
                  <a:pt x="277954" y="192682"/>
                </a:lnTo>
                <a:lnTo>
                  <a:pt x="292018" y="147393"/>
                </a:lnTo>
                <a:lnTo>
                  <a:pt x="314271" y="106405"/>
                </a:lnTo>
                <a:lnTo>
                  <a:pt x="343741" y="70691"/>
                </a:lnTo>
                <a:lnTo>
                  <a:pt x="379455" y="41221"/>
                </a:lnTo>
                <a:lnTo>
                  <a:pt x="420443" y="18968"/>
                </a:lnTo>
                <a:lnTo>
                  <a:pt x="465732" y="4904"/>
                </a:lnTo>
                <a:lnTo>
                  <a:pt x="514350" y="0"/>
                </a:lnTo>
                <a:lnTo>
                  <a:pt x="1215643" y="0"/>
                </a:lnTo>
                <a:lnTo>
                  <a:pt x="2629535" y="0"/>
                </a:lnTo>
                <a:lnTo>
                  <a:pt x="5687313" y="0"/>
                </a:lnTo>
                <a:lnTo>
                  <a:pt x="5735931" y="4904"/>
                </a:lnTo>
                <a:lnTo>
                  <a:pt x="5781220" y="18968"/>
                </a:lnTo>
                <a:lnTo>
                  <a:pt x="5822208" y="41221"/>
                </a:lnTo>
                <a:lnTo>
                  <a:pt x="5857922" y="70691"/>
                </a:lnTo>
                <a:lnTo>
                  <a:pt x="5887392" y="106405"/>
                </a:lnTo>
                <a:lnTo>
                  <a:pt x="5909645" y="147393"/>
                </a:lnTo>
                <a:lnTo>
                  <a:pt x="5923709" y="192682"/>
                </a:lnTo>
                <a:lnTo>
                  <a:pt x="5928613" y="241300"/>
                </a:lnTo>
                <a:lnTo>
                  <a:pt x="5928613" y="844550"/>
                </a:lnTo>
                <a:lnTo>
                  <a:pt x="5928613" y="1206500"/>
                </a:lnTo>
                <a:lnTo>
                  <a:pt x="5923709" y="1255117"/>
                </a:lnTo>
                <a:lnTo>
                  <a:pt x="5909645" y="1300406"/>
                </a:lnTo>
                <a:lnTo>
                  <a:pt x="5887392" y="1341394"/>
                </a:lnTo>
                <a:lnTo>
                  <a:pt x="5857922" y="1377108"/>
                </a:lnTo>
                <a:lnTo>
                  <a:pt x="5822208" y="1406578"/>
                </a:lnTo>
                <a:lnTo>
                  <a:pt x="5781220" y="1428831"/>
                </a:lnTo>
                <a:lnTo>
                  <a:pt x="5735931" y="1442895"/>
                </a:lnTo>
                <a:lnTo>
                  <a:pt x="5687313" y="1447800"/>
                </a:lnTo>
                <a:lnTo>
                  <a:pt x="2629535" y="1447800"/>
                </a:lnTo>
                <a:lnTo>
                  <a:pt x="0" y="1987677"/>
                </a:lnTo>
                <a:lnTo>
                  <a:pt x="1215643" y="1447800"/>
                </a:lnTo>
                <a:lnTo>
                  <a:pt x="514350" y="1447800"/>
                </a:lnTo>
                <a:lnTo>
                  <a:pt x="465732" y="1442895"/>
                </a:lnTo>
                <a:lnTo>
                  <a:pt x="420443" y="1428831"/>
                </a:lnTo>
                <a:lnTo>
                  <a:pt x="379455" y="1406578"/>
                </a:lnTo>
                <a:lnTo>
                  <a:pt x="343741" y="1377108"/>
                </a:lnTo>
                <a:lnTo>
                  <a:pt x="314271" y="1341394"/>
                </a:lnTo>
                <a:lnTo>
                  <a:pt x="292018" y="1300406"/>
                </a:lnTo>
                <a:lnTo>
                  <a:pt x="277954" y="1255117"/>
                </a:lnTo>
                <a:lnTo>
                  <a:pt x="273050" y="1206500"/>
                </a:lnTo>
                <a:lnTo>
                  <a:pt x="273050" y="844550"/>
                </a:lnTo>
                <a:lnTo>
                  <a:pt x="273050" y="241300"/>
                </a:lnTo>
                <a:close/>
              </a:path>
            </a:pathLst>
          </a:custGeom>
          <a:ln w="25907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98341" y="884046"/>
            <a:ext cx="53282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This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Partition </a:t>
            </a:r>
            <a:r>
              <a:rPr sz="1800" spc="-25" dirty="0">
                <a:latin typeface="Calibri"/>
                <a:cs typeface="Calibri"/>
              </a:rPr>
              <a:t>divider, </a:t>
            </a:r>
            <a:r>
              <a:rPr sz="1800" spc="-5" dirty="0">
                <a:latin typeface="Calibri"/>
                <a:cs typeface="Calibri"/>
              </a:rPr>
              <a:t>every element on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left will  be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everything on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right will be 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(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dirty="0">
                <a:latin typeface="Calibri"/>
                <a:cs typeface="Calibri"/>
              </a:rPr>
              <a:t>equal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) </a:t>
            </a:r>
            <a:r>
              <a:rPr sz="1800" spc="-5" dirty="0">
                <a:latin typeface="Calibri"/>
                <a:cs typeface="Calibri"/>
              </a:rPr>
              <a:t>our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pivot.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0341" y="861822"/>
            <a:ext cx="2083435" cy="462280"/>
          </a:xfrm>
          <a:custGeom>
            <a:avLst/>
            <a:gdLst/>
            <a:ahLst/>
            <a:cxnLst/>
            <a:rect l="l" t="t" r="r" b="b"/>
            <a:pathLst>
              <a:path w="2083435" h="462280">
                <a:moveTo>
                  <a:pt x="0" y="461772"/>
                </a:moveTo>
                <a:lnTo>
                  <a:pt x="2083308" y="461772"/>
                </a:lnTo>
                <a:lnTo>
                  <a:pt x="2083308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0341" y="861822"/>
            <a:ext cx="2083435" cy="462280"/>
          </a:xfrm>
          <a:custGeom>
            <a:avLst/>
            <a:gdLst/>
            <a:ahLst/>
            <a:cxnLst/>
            <a:rect l="l" t="t" r="r" b="b"/>
            <a:pathLst>
              <a:path w="2083435" h="462280">
                <a:moveTo>
                  <a:pt x="0" y="461772"/>
                </a:moveTo>
                <a:lnTo>
                  <a:pt x="2083308" y="461772"/>
                </a:lnTo>
                <a:lnTo>
                  <a:pt x="2083308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7237" y="875538"/>
            <a:ext cx="1555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01570" y="639318"/>
            <a:ext cx="7091045" cy="3154045"/>
          </a:xfrm>
          <a:custGeom>
            <a:avLst/>
            <a:gdLst/>
            <a:ahLst/>
            <a:cxnLst/>
            <a:rect l="l" t="t" r="r" b="b"/>
            <a:pathLst>
              <a:path w="7091045" h="3154045">
                <a:moveTo>
                  <a:pt x="3791712" y="1761744"/>
                </a:moveTo>
                <a:lnTo>
                  <a:pt x="2377821" y="1761744"/>
                </a:lnTo>
                <a:lnTo>
                  <a:pt x="0" y="3153791"/>
                </a:lnTo>
                <a:lnTo>
                  <a:pt x="3791712" y="1761744"/>
                </a:lnTo>
                <a:close/>
              </a:path>
              <a:path w="7091045" h="3154045">
                <a:moveTo>
                  <a:pt x="6797167" y="0"/>
                </a:moveTo>
                <a:lnTo>
                  <a:pt x="1728851" y="0"/>
                </a:lnTo>
                <a:lnTo>
                  <a:pt x="1681220" y="3842"/>
                </a:lnTo>
                <a:lnTo>
                  <a:pt x="1636037" y="14967"/>
                </a:lnTo>
                <a:lnTo>
                  <a:pt x="1593907" y="32770"/>
                </a:lnTo>
                <a:lnTo>
                  <a:pt x="1555434" y="56648"/>
                </a:lnTo>
                <a:lnTo>
                  <a:pt x="1521221" y="85994"/>
                </a:lnTo>
                <a:lnTo>
                  <a:pt x="1491875" y="120207"/>
                </a:lnTo>
                <a:lnTo>
                  <a:pt x="1467997" y="158680"/>
                </a:lnTo>
                <a:lnTo>
                  <a:pt x="1450194" y="200810"/>
                </a:lnTo>
                <a:lnTo>
                  <a:pt x="1439069" y="245993"/>
                </a:lnTo>
                <a:lnTo>
                  <a:pt x="1435227" y="293624"/>
                </a:lnTo>
                <a:lnTo>
                  <a:pt x="1435227" y="1468120"/>
                </a:lnTo>
                <a:lnTo>
                  <a:pt x="1439069" y="1515750"/>
                </a:lnTo>
                <a:lnTo>
                  <a:pt x="1450194" y="1560933"/>
                </a:lnTo>
                <a:lnTo>
                  <a:pt x="1467997" y="1603063"/>
                </a:lnTo>
                <a:lnTo>
                  <a:pt x="1491875" y="1641536"/>
                </a:lnTo>
                <a:lnTo>
                  <a:pt x="1521221" y="1675749"/>
                </a:lnTo>
                <a:lnTo>
                  <a:pt x="1555434" y="1705095"/>
                </a:lnTo>
                <a:lnTo>
                  <a:pt x="1593907" y="1728973"/>
                </a:lnTo>
                <a:lnTo>
                  <a:pt x="1636037" y="1746776"/>
                </a:lnTo>
                <a:lnTo>
                  <a:pt x="1681220" y="1757901"/>
                </a:lnTo>
                <a:lnTo>
                  <a:pt x="1728851" y="1761744"/>
                </a:lnTo>
                <a:lnTo>
                  <a:pt x="6797167" y="1761744"/>
                </a:lnTo>
                <a:lnTo>
                  <a:pt x="6844797" y="1757901"/>
                </a:lnTo>
                <a:lnTo>
                  <a:pt x="6889980" y="1746776"/>
                </a:lnTo>
                <a:lnTo>
                  <a:pt x="6932110" y="1728973"/>
                </a:lnTo>
                <a:lnTo>
                  <a:pt x="6970583" y="1705095"/>
                </a:lnTo>
                <a:lnTo>
                  <a:pt x="7004796" y="1675749"/>
                </a:lnTo>
                <a:lnTo>
                  <a:pt x="7034142" y="1641536"/>
                </a:lnTo>
                <a:lnTo>
                  <a:pt x="7058020" y="1603063"/>
                </a:lnTo>
                <a:lnTo>
                  <a:pt x="7075823" y="1560933"/>
                </a:lnTo>
                <a:lnTo>
                  <a:pt x="7086948" y="1515750"/>
                </a:lnTo>
                <a:lnTo>
                  <a:pt x="7090790" y="1468120"/>
                </a:lnTo>
                <a:lnTo>
                  <a:pt x="7090790" y="293624"/>
                </a:lnTo>
                <a:lnTo>
                  <a:pt x="7086948" y="245993"/>
                </a:lnTo>
                <a:lnTo>
                  <a:pt x="7075823" y="200810"/>
                </a:lnTo>
                <a:lnTo>
                  <a:pt x="7058020" y="158680"/>
                </a:lnTo>
                <a:lnTo>
                  <a:pt x="7034142" y="120207"/>
                </a:lnTo>
                <a:lnTo>
                  <a:pt x="7004796" y="85994"/>
                </a:lnTo>
                <a:lnTo>
                  <a:pt x="6970583" y="56648"/>
                </a:lnTo>
                <a:lnTo>
                  <a:pt x="6932110" y="32770"/>
                </a:lnTo>
                <a:lnTo>
                  <a:pt x="6889980" y="14967"/>
                </a:lnTo>
                <a:lnTo>
                  <a:pt x="6844797" y="3842"/>
                </a:lnTo>
                <a:lnTo>
                  <a:pt x="679716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1570" y="639318"/>
            <a:ext cx="7091045" cy="3154045"/>
          </a:xfrm>
          <a:custGeom>
            <a:avLst/>
            <a:gdLst/>
            <a:ahLst/>
            <a:cxnLst/>
            <a:rect l="l" t="t" r="r" b="b"/>
            <a:pathLst>
              <a:path w="7091045" h="3154045">
                <a:moveTo>
                  <a:pt x="1435227" y="293624"/>
                </a:moveTo>
                <a:lnTo>
                  <a:pt x="1439069" y="245993"/>
                </a:lnTo>
                <a:lnTo>
                  <a:pt x="1450194" y="200810"/>
                </a:lnTo>
                <a:lnTo>
                  <a:pt x="1467997" y="158680"/>
                </a:lnTo>
                <a:lnTo>
                  <a:pt x="1491875" y="120207"/>
                </a:lnTo>
                <a:lnTo>
                  <a:pt x="1521221" y="85994"/>
                </a:lnTo>
                <a:lnTo>
                  <a:pt x="1555434" y="56648"/>
                </a:lnTo>
                <a:lnTo>
                  <a:pt x="1593907" y="32770"/>
                </a:lnTo>
                <a:lnTo>
                  <a:pt x="1636037" y="14967"/>
                </a:lnTo>
                <a:lnTo>
                  <a:pt x="1681220" y="3842"/>
                </a:lnTo>
                <a:lnTo>
                  <a:pt x="1728851" y="0"/>
                </a:lnTo>
                <a:lnTo>
                  <a:pt x="2377821" y="0"/>
                </a:lnTo>
                <a:lnTo>
                  <a:pt x="3791712" y="0"/>
                </a:lnTo>
                <a:lnTo>
                  <a:pt x="6797167" y="0"/>
                </a:lnTo>
                <a:lnTo>
                  <a:pt x="6844797" y="3842"/>
                </a:lnTo>
                <a:lnTo>
                  <a:pt x="6889980" y="14967"/>
                </a:lnTo>
                <a:lnTo>
                  <a:pt x="6932110" y="32770"/>
                </a:lnTo>
                <a:lnTo>
                  <a:pt x="6970583" y="56648"/>
                </a:lnTo>
                <a:lnTo>
                  <a:pt x="7004796" y="85994"/>
                </a:lnTo>
                <a:lnTo>
                  <a:pt x="7034142" y="120207"/>
                </a:lnTo>
                <a:lnTo>
                  <a:pt x="7058020" y="158680"/>
                </a:lnTo>
                <a:lnTo>
                  <a:pt x="7075823" y="200810"/>
                </a:lnTo>
                <a:lnTo>
                  <a:pt x="7086948" y="245993"/>
                </a:lnTo>
                <a:lnTo>
                  <a:pt x="7090790" y="293624"/>
                </a:lnTo>
                <a:lnTo>
                  <a:pt x="7090790" y="1027684"/>
                </a:lnTo>
                <a:lnTo>
                  <a:pt x="7090790" y="1468120"/>
                </a:lnTo>
                <a:lnTo>
                  <a:pt x="7086948" y="1515750"/>
                </a:lnTo>
                <a:lnTo>
                  <a:pt x="7075823" y="1560933"/>
                </a:lnTo>
                <a:lnTo>
                  <a:pt x="7058020" y="1603063"/>
                </a:lnTo>
                <a:lnTo>
                  <a:pt x="7034142" y="1641536"/>
                </a:lnTo>
                <a:lnTo>
                  <a:pt x="7004796" y="1675749"/>
                </a:lnTo>
                <a:lnTo>
                  <a:pt x="6970583" y="1705095"/>
                </a:lnTo>
                <a:lnTo>
                  <a:pt x="6932110" y="1728973"/>
                </a:lnTo>
                <a:lnTo>
                  <a:pt x="6889980" y="1746776"/>
                </a:lnTo>
                <a:lnTo>
                  <a:pt x="6844797" y="1757901"/>
                </a:lnTo>
                <a:lnTo>
                  <a:pt x="6797167" y="1761744"/>
                </a:lnTo>
                <a:lnTo>
                  <a:pt x="3791712" y="1761744"/>
                </a:lnTo>
                <a:lnTo>
                  <a:pt x="0" y="3153791"/>
                </a:lnTo>
                <a:lnTo>
                  <a:pt x="2377821" y="1761744"/>
                </a:lnTo>
                <a:lnTo>
                  <a:pt x="1728851" y="1761744"/>
                </a:lnTo>
                <a:lnTo>
                  <a:pt x="1681220" y="1757901"/>
                </a:lnTo>
                <a:lnTo>
                  <a:pt x="1636037" y="1746776"/>
                </a:lnTo>
                <a:lnTo>
                  <a:pt x="1593907" y="1728973"/>
                </a:lnTo>
                <a:lnTo>
                  <a:pt x="1555434" y="1705095"/>
                </a:lnTo>
                <a:lnTo>
                  <a:pt x="1521221" y="1675749"/>
                </a:lnTo>
                <a:lnTo>
                  <a:pt x="1491875" y="1641536"/>
                </a:lnTo>
                <a:lnTo>
                  <a:pt x="1467997" y="1603063"/>
                </a:lnTo>
                <a:lnTo>
                  <a:pt x="1450194" y="1560933"/>
                </a:lnTo>
                <a:lnTo>
                  <a:pt x="1439069" y="1515750"/>
                </a:lnTo>
                <a:lnTo>
                  <a:pt x="1435227" y="1468120"/>
                </a:lnTo>
                <a:lnTo>
                  <a:pt x="1435227" y="1027684"/>
                </a:lnTo>
                <a:lnTo>
                  <a:pt x="1435227" y="29362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47109" y="806322"/>
            <a:ext cx="522986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start from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left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compare </a:t>
            </a:r>
            <a:r>
              <a:rPr sz="1800" dirty="0">
                <a:latin typeface="Calibri"/>
                <a:cs typeface="Calibri"/>
              </a:rPr>
              <a:t>each </a:t>
            </a:r>
            <a:r>
              <a:rPr sz="1800" spc="-5" dirty="0">
                <a:latin typeface="Calibri"/>
                <a:cs typeface="Calibri"/>
              </a:rPr>
              <a:t>element </a:t>
            </a:r>
            <a:r>
              <a:rPr sz="1800" spc="-10" dirty="0">
                <a:latin typeface="Calibri"/>
                <a:cs typeface="Calibri"/>
              </a:rPr>
              <a:t>to 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pivot. Again we just </a:t>
            </a:r>
            <a:r>
              <a:rPr sz="1800" spc="-5" dirty="0">
                <a:latin typeface="Calibri"/>
                <a:cs typeface="Calibri"/>
              </a:rPr>
              <a:t>check if its less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greater 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move our partition divider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spc="-5" dirty="0">
                <a:latin typeface="Calibri"/>
                <a:cs typeface="Calibri"/>
              </a:rPr>
              <a:t>elements  </a:t>
            </a:r>
            <a:r>
              <a:rPr sz="1800" spc="-20" dirty="0">
                <a:latin typeface="Calibri"/>
                <a:cs typeface="Calibri"/>
              </a:rPr>
              <a:t>accordingly. </a:t>
            </a:r>
            <a:r>
              <a:rPr sz="1800" spc="-10" dirty="0">
                <a:latin typeface="Calibri"/>
                <a:cs typeface="Calibri"/>
              </a:rPr>
              <a:t>Here </a:t>
            </a:r>
            <a:r>
              <a:rPr sz="1800" dirty="0">
                <a:latin typeface="Calibri"/>
                <a:cs typeface="Calibri"/>
              </a:rPr>
              <a:t>13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dirty="0">
                <a:latin typeface="Calibri"/>
                <a:cs typeface="Calibri"/>
              </a:rPr>
              <a:t>7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is in 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correct </a:t>
            </a:r>
            <a:r>
              <a:rPr sz="1800" spc="-5" dirty="0">
                <a:latin typeface="Calibri"/>
                <a:cs typeface="Calibri"/>
              </a:rPr>
              <a:t>position,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right of our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divider.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4"/>
                </a:moveTo>
                <a:lnTo>
                  <a:pt x="71247" y="142494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4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4"/>
                </a:lnTo>
                <a:lnTo>
                  <a:pt x="284988" y="142494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4"/>
                </a:moveTo>
                <a:lnTo>
                  <a:pt x="213741" y="142494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4"/>
                </a:lnTo>
                <a:lnTo>
                  <a:pt x="0" y="142494"/>
                </a:lnTo>
                <a:lnTo>
                  <a:pt x="142494" y="0"/>
                </a:lnTo>
                <a:lnTo>
                  <a:pt x="284988" y="1424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2885948" y="1495044"/>
                </a:moveTo>
                <a:lnTo>
                  <a:pt x="1472056" y="1495044"/>
                </a:lnTo>
                <a:lnTo>
                  <a:pt x="0" y="3170682"/>
                </a:lnTo>
                <a:lnTo>
                  <a:pt x="2885948" y="1495044"/>
                </a:lnTo>
                <a:close/>
              </a:path>
              <a:path w="6185534" h="3171190">
                <a:moveTo>
                  <a:pt x="5935853" y="0"/>
                </a:moveTo>
                <a:lnTo>
                  <a:pt x="778637" y="0"/>
                </a:lnTo>
                <a:lnTo>
                  <a:pt x="733833" y="4012"/>
                </a:lnTo>
                <a:lnTo>
                  <a:pt x="691670" y="15582"/>
                </a:lnTo>
                <a:lnTo>
                  <a:pt x="652850" y="34007"/>
                </a:lnTo>
                <a:lnTo>
                  <a:pt x="618075" y="58585"/>
                </a:lnTo>
                <a:lnTo>
                  <a:pt x="588048" y="88612"/>
                </a:lnTo>
                <a:lnTo>
                  <a:pt x="563470" y="123387"/>
                </a:lnTo>
                <a:lnTo>
                  <a:pt x="545045" y="162207"/>
                </a:lnTo>
                <a:lnTo>
                  <a:pt x="533475" y="204370"/>
                </a:lnTo>
                <a:lnTo>
                  <a:pt x="529463" y="249174"/>
                </a:lnTo>
                <a:lnTo>
                  <a:pt x="529463" y="1245870"/>
                </a:lnTo>
                <a:lnTo>
                  <a:pt x="533475" y="1290673"/>
                </a:lnTo>
                <a:lnTo>
                  <a:pt x="545045" y="1332836"/>
                </a:lnTo>
                <a:lnTo>
                  <a:pt x="563470" y="1371656"/>
                </a:lnTo>
                <a:lnTo>
                  <a:pt x="588048" y="1406431"/>
                </a:lnTo>
                <a:lnTo>
                  <a:pt x="618075" y="1436458"/>
                </a:lnTo>
                <a:lnTo>
                  <a:pt x="652850" y="1461036"/>
                </a:lnTo>
                <a:lnTo>
                  <a:pt x="691670" y="1479461"/>
                </a:lnTo>
                <a:lnTo>
                  <a:pt x="733833" y="1491031"/>
                </a:lnTo>
                <a:lnTo>
                  <a:pt x="778637" y="1495044"/>
                </a:lnTo>
                <a:lnTo>
                  <a:pt x="5935853" y="1495044"/>
                </a:lnTo>
                <a:lnTo>
                  <a:pt x="5980656" y="1491031"/>
                </a:lnTo>
                <a:lnTo>
                  <a:pt x="6022819" y="1479461"/>
                </a:lnTo>
                <a:lnTo>
                  <a:pt x="6061639" y="1461036"/>
                </a:lnTo>
                <a:lnTo>
                  <a:pt x="6096414" y="1436458"/>
                </a:lnTo>
                <a:lnTo>
                  <a:pt x="6126441" y="1406431"/>
                </a:lnTo>
                <a:lnTo>
                  <a:pt x="6151019" y="1371656"/>
                </a:lnTo>
                <a:lnTo>
                  <a:pt x="6169444" y="1332836"/>
                </a:lnTo>
                <a:lnTo>
                  <a:pt x="6181014" y="1290673"/>
                </a:lnTo>
                <a:lnTo>
                  <a:pt x="6185026" y="1245870"/>
                </a:lnTo>
                <a:lnTo>
                  <a:pt x="6185026" y="249174"/>
                </a:lnTo>
                <a:lnTo>
                  <a:pt x="6181014" y="204370"/>
                </a:lnTo>
                <a:lnTo>
                  <a:pt x="6169444" y="162207"/>
                </a:lnTo>
                <a:lnTo>
                  <a:pt x="6151019" y="123387"/>
                </a:lnTo>
                <a:lnTo>
                  <a:pt x="6126441" y="88612"/>
                </a:lnTo>
                <a:lnTo>
                  <a:pt x="6096414" y="58585"/>
                </a:lnTo>
                <a:lnTo>
                  <a:pt x="6061639" y="34007"/>
                </a:lnTo>
                <a:lnTo>
                  <a:pt x="6022819" y="15582"/>
                </a:lnTo>
                <a:lnTo>
                  <a:pt x="5980656" y="4012"/>
                </a:lnTo>
                <a:lnTo>
                  <a:pt x="59358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529463" y="249174"/>
                </a:moveTo>
                <a:lnTo>
                  <a:pt x="533475" y="204370"/>
                </a:lnTo>
                <a:lnTo>
                  <a:pt x="545045" y="162207"/>
                </a:lnTo>
                <a:lnTo>
                  <a:pt x="563470" y="123387"/>
                </a:lnTo>
                <a:lnTo>
                  <a:pt x="588048" y="88612"/>
                </a:lnTo>
                <a:lnTo>
                  <a:pt x="618075" y="58585"/>
                </a:lnTo>
                <a:lnTo>
                  <a:pt x="652850" y="34007"/>
                </a:lnTo>
                <a:lnTo>
                  <a:pt x="691670" y="15582"/>
                </a:lnTo>
                <a:lnTo>
                  <a:pt x="733833" y="4012"/>
                </a:lnTo>
                <a:lnTo>
                  <a:pt x="778637" y="0"/>
                </a:lnTo>
                <a:lnTo>
                  <a:pt x="1472056" y="0"/>
                </a:lnTo>
                <a:lnTo>
                  <a:pt x="2885948" y="0"/>
                </a:lnTo>
                <a:lnTo>
                  <a:pt x="5935853" y="0"/>
                </a:lnTo>
                <a:lnTo>
                  <a:pt x="5980656" y="4012"/>
                </a:lnTo>
                <a:lnTo>
                  <a:pt x="6022819" y="15582"/>
                </a:lnTo>
                <a:lnTo>
                  <a:pt x="6061639" y="34007"/>
                </a:lnTo>
                <a:lnTo>
                  <a:pt x="6096414" y="58585"/>
                </a:lnTo>
                <a:lnTo>
                  <a:pt x="6126441" y="88612"/>
                </a:lnTo>
                <a:lnTo>
                  <a:pt x="6151019" y="123387"/>
                </a:lnTo>
                <a:lnTo>
                  <a:pt x="6169444" y="162207"/>
                </a:lnTo>
                <a:lnTo>
                  <a:pt x="6181014" y="204370"/>
                </a:lnTo>
                <a:lnTo>
                  <a:pt x="6185026" y="249174"/>
                </a:lnTo>
                <a:lnTo>
                  <a:pt x="6185026" y="872109"/>
                </a:lnTo>
                <a:lnTo>
                  <a:pt x="6185026" y="1245870"/>
                </a:lnTo>
                <a:lnTo>
                  <a:pt x="6181014" y="1290673"/>
                </a:lnTo>
                <a:lnTo>
                  <a:pt x="6169444" y="1332836"/>
                </a:lnTo>
                <a:lnTo>
                  <a:pt x="6151019" y="1371656"/>
                </a:lnTo>
                <a:lnTo>
                  <a:pt x="6126441" y="1406431"/>
                </a:lnTo>
                <a:lnTo>
                  <a:pt x="6096414" y="1436458"/>
                </a:lnTo>
                <a:lnTo>
                  <a:pt x="6061639" y="1461036"/>
                </a:lnTo>
                <a:lnTo>
                  <a:pt x="6022819" y="1479461"/>
                </a:lnTo>
                <a:lnTo>
                  <a:pt x="5980656" y="1491031"/>
                </a:lnTo>
                <a:lnTo>
                  <a:pt x="5935853" y="1495044"/>
                </a:lnTo>
                <a:lnTo>
                  <a:pt x="2885948" y="1495044"/>
                </a:lnTo>
                <a:lnTo>
                  <a:pt x="0" y="3170682"/>
                </a:lnTo>
                <a:lnTo>
                  <a:pt x="1472056" y="1495044"/>
                </a:lnTo>
                <a:lnTo>
                  <a:pt x="778637" y="1495044"/>
                </a:lnTo>
                <a:lnTo>
                  <a:pt x="733833" y="1491031"/>
                </a:lnTo>
                <a:lnTo>
                  <a:pt x="691670" y="1479461"/>
                </a:lnTo>
                <a:lnTo>
                  <a:pt x="652850" y="1461036"/>
                </a:lnTo>
                <a:lnTo>
                  <a:pt x="618075" y="1436458"/>
                </a:lnTo>
                <a:lnTo>
                  <a:pt x="588048" y="1406431"/>
                </a:lnTo>
                <a:lnTo>
                  <a:pt x="563470" y="1371656"/>
                </a:lnTo>
                <a:lnTo>
                  <a:pt x="545045" y="1332836"/>
                </a:lnTo>
                <a:lnTo>
                  <a:pt x="533475" y="1290673"/>
                </a:lnTo>
                <a:lnTo>
                  <a:pt x="529463" y="1245870"/>
                </a:lnTo>
                <a:lnTo>
                  <a:pt x="529463" y="872109"/>
                </a:lnTo>
                <a:lnTo>
                  <a:pt x="529463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25139" y="809320"/>
            <a:ext cx="52730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here </a:t>
            </a:r>
            <a:r>
              <a:rPr sz="1800" dirty="0">
                <a:latin typeface="Calibri"/>
                <a:cs typeface="Calibri"/>
              </a:rPr>
              <a:t>the 13. And </a:t>
            </a:r>
            <a:r>
              <a:rPr sz="1800" spc="-10" dirty="0">
                <a:latin typeface="Calibri"/>
                <a:cs typeface="Calibri"/>
              </a:rPr>
              <a:t>move  </a:t>
            </a:r>
            <a:r>
              <a:rPr sz="1800" spc="-5" dirty="0">
                <a:latin typeface="Calibri"/>
                <a:cs typeface="Calibri"/>
              </a:rPr>
              <a:t>our partition divider </a:t>
            </a:r>
            <a:r>
              <a:rPr sz="1800" spc="-10" dirty="0">
                <a:latin typeface="Calibri"/>
                <a:cs typeface="Calibri"/>
              </a:rPr>
              <a:t>over </a:t>
            </a:r>
            <a:r>
              <a:rPr sz="1800" spc="-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5" dirty="0">
                <a:latin typeface="Calibri"/>
                <a:cs typeface="Calibri"/>
              </a:rPr>
              <a:t>well so that </a:t>
            </a:r>
            <a:r>
              <a:rPr sz="1800" dirty="0">
                <a:latin typeface="Calibri"/>
                <a:cs typeface="Calibri"/>
              </a:rPr>
              <a:t>the lesser 3  </a:t>
            </a:r>
            <a:r>
              <a:rPr sz="1800" spc="-5" dirty="0">
                <a:latin typeface="Calibri"/>
                <a:cs typeface="Calibri"/>
              </a:rPr>
              <a:t>is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correct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995" y="3401567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2885948" y="1495044"/>
                </a:moveTo>
                <a:lnTo>
                  <a:pt x="1472056" y="1495044"/>
                </a:lnTo>
                <a:lnTo>
                  <a:pt x="0" y="3170682"/>
                </a:lnTo>
                <a:lnTo>
                  <a:pt x="2885948" y="1495044"/>
                </a:lnTo>
                <a:close/>
              </a:path>
              <a:path w="6185534" h="3171190">
                <a:moveTo>
                  <a:pt x="5935853" y="0"/>
                </a:moveTo>
                <a:lnTo>
                  <a:pt x="778637" y="0"/>
                </a:lnTo>
                <a:lnTo>
                  <a:pt x="733833" y="4012"/>
                </a:lnTo>
                <a:lnTo>
                  <a:pt x="691670" y="15582"/>
                </a:lnTo>
                <a:lnTo>
                  <a:pt x="652850" y="34007"/>
                </a:lnTo>
                <a:lnTo>
                  <a:pt x="618075" y="58585"/>
                </a:lnTo>
                <a:lnTo>
                  <a:pt x="588048" y="88612"/>
                </a:lnTo>
                <a:lnTo>
                  <a:pt x="563470" y="123387"/>
                </a:lnTo>
                <a:lnTo>
                  <a:pt x="545045" y="162207"/>
                </a:lnTo>
                <a:lnTo>
                  <a:pt x="533475" y="204370"/>
                </a:lnTo>
                <a:lnTo>
                  <a:pt x="529463" y="249174"/>
                </a:lnTo>
                <a:lnTo>
                  <a:pt x="529463" y="1245870"/>
                </a:lnTo>
                <a:lnTo>
                  <a:pt x="533475" y="1290673"/>
                </a:lnTo>
                <a:lnTo>
                  <a:pt x="545045" y="1332836"/>
                </a:lnTo>
                <a:lnTo>
                  <a:pt x="563470" y="1371656"/>
                </a:lnTo>
                <a:lnTo>
                  <a:pt x="588048" y="1406431"/>
                </a:lnTo>
                <a:lnTo>
                  <a:pt x="618075" y="1436458"/>
                </a:lnTo>
                <a:lnTo>
                  <a:pt x="652850" y="1461036"/>
                </a:lnTo>
                <a:lnTo>
                  <a:pt x="691670" y="1479461"/>
                </a:lnTo>
                <a:lnTo>
                  <a:pt x="733833" y="1491031"/>
                </a:lnTo>
                <a:lnTo>
                  <a:pt x="778637" y="1495044"/>
                </a:lnTo>
                <a:lnTo>
                  <a:pt x="5935853" y="1495044"/>
                </a:lnTo>
                <a:lnTo>
                  <a:pt x="5980656" y="1491031"/>
                </a:lnTo>
                <a:lnTo>
                  <a:pt x="6022819" y="1479461"/>
                </a:lnTo>
                <a:lnTo>
                  <a:pt x="6061639" y="1461036"/>
                </a:lnTo>
                <a:lnTo>
                  <a:pt x="6096414" y="1436458"/>
                </a:lnTo>
                <a:lnTo>
                  <a:pt x="6126441" y="1406431"/>
                </a:lnTo>
                <a:lnTo>
                  <a:pt x="6151019" y="1371656"/>
                </a:lnTo>
                <a:lnTo>
                  <a:pt x="6169444" y="1332836"/>
                </a:lnTo>
                <a:lnTo>
                  <a:pt x="6181014" y="1290673"/>
                </a:lnTo>
                <a:lnTo>
                  <a:pt x="6185026" y="1245870"/>
                </a:lnTo>
                <a:lnTo>
                  <a:pt x="6185026" y="249174"/>
                </a:lnTo>
                <a:lnTo>
                  <a:pt x="6181014" y="204370"/>
                </a:lnTo>
                <a:lnTo>
                  <a:pt x="6169444" y="162207"/>
                </a:lnTo>
                <a:lnTo>
                  <a:pt x="6151019" y="123387"/>
                </a:lnTo>
                <a:lnTo>
                  <a:pt x="6126441" y="88612"/>
                </a:lnTo>
                <a:lnTo>
                  <a:pt x="6096414" y="58585"/>
                </a:lnTo>
                <a:lnTo>
                  <a:pt x="6061639" y="34007"/>
                </a:lnTo>
                <a:lnTo>
                  <a:pt x="6022819" y="15582"/>
                </a:lnTo>
                <a:lnTo>
                  <a:pt x="5980656" y="4012"/>
                </a:lnTo>
                <a:lnTo>
                  <a:pt x="59358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529463" y="249174"/>
                </a:moveTo>
                <a:lnTo>
                  <a:pt x="533475" y="204370"/>
                </a:lnTo>
                <a:lnTo>
                  <a:pt x="545045" y="162207"/>
                </a:lnTo>
                <a:lnTo>
                  <a:pt x="563470" y="123387"/>
                </a:lnTo>
                <a:lnTo>
                  <a:pt x="588048" y="88612"/>
                </a:lnTo>
                <a:lnTo>
                  <a:pt x="618075" y="58585"/>
                </a:lnTo>
                <a:lnTo>
                  <a:pt x="652850" y="34007"/>
                </a:lnTo>
                <a:lnTo>
                  <a:pt x="691670" y="15582"/>
                </a:lnTo>
                <a:lnTo>
                  <a:pt x="733833" y="4012"/>
                </a:lnTo>
                <a:lnTo>
                  <a:pt x="778637" y="0"/>
                </a:lnTo>
                <a:lnTo>
                  <a:pt x="1472056" y="0"/>
                </a:lnTo>
                <a:lnTo>
                  <a:pt x="2885948" y="0"/>
                </a:lnTo>
                <a:lnTo>
                  <a:pt x="5935853" y="0"/>
                </a:lnTo>
                <a:lnTo>
                  <a:pt x="5980656" y="4012"/>
                </a:lnTo>
                <a:lnTo>
                  <a:pt x="6022819" y="15582"/>
                </a:lnTo>
                <a:lnTo>
                  <a:pt x="6061639" y="34007"/>
                </a:lnTo>
                <a:lnTo>
                  <a:pt x="6096414" y="58585"/>
                </a:lnTo>
                <a:lnTo>
                  <a:pt x="6126441" y="88612"/>
                </a:lnTo>
                <a:lnTo>
                  <a:pt x="6151019" y="123387"/>
                </a:lnTo>
                <a:lnTo>
                  <a:pt x="6169444" y="162207"/>
                </a:lnTo>
                <a:lnTo>
                  <a:pt x="6181014" y="204370"/>
                </a:lnTo>
                <a:lnTo>
                  <a:pt x="6185026" y="249174"/>
                </a:lnTo>
                <a:lnTo>
                  <a:pt x="6185026" y="872109"/>
                </a:lnTo>
                <a:lnTo>
                  <a:pt x="6185026" y="1245870"/>
                </a:lnTo>
                <a:lnTo>
                  <a:pt x="6181014" y="1290673"/>
                </a:lnTo>
                <a:lnTo>
                  <a:pt x="6169444" y="1332836"/>
                </a:lnTo>
                <a:lnTo>
                  <a:pt x="6151019" y="1371656"/>
                </a:lnTo>
                <a:lnTo>
                  <a:pt x="6126441" y="1406431"/>
                </a:lnTo>
                <a:lnTo>
                  <a:pt x="6096414" y="1436458"/>
                </a:lnTo>
                <a:lnTo>
                  <a:pt x="6061639" y="1461036"/>
                </a:lnTo>
                <a:lnTo>
                  <a:pt x="6022819" y="1479461"/>
                </a:lnTo>
                <a:lnTo>
                  <a:pt x="5980656" y="1491031"/>
                </a:lnTo>
                <a:lnTo>
                  <a:pt x="5935853" y="1495044"/>
                </a:lnTo>
                <a:lnTo>
                  <a:pt x="2885948" y="1495044"/>
                </a:lnTo>
                <a:lnTo>
                  <a:pt x="0" y="3170682"/>
                </a:lnTo>
                <a:lnTo>
                  <a:pt x="1472056" y="1495044"/>
                </a:lnTo>
                <a:lnTo>
                  <a:pt x="778637" y="1495044"/>
                </a:lnTo>
                <a:lnTo>
                  <a:pt x="733833" y="1491031"/>
                </a:lnTo>
                <a:lnTo>
                  <a:pt x="691670" y="1479461"/>
                </a:lnTo>
                <a:lnTo>
                  <a:pt x="652850" y="1461036"/>
                </a:lnTo>
                <a:lnTo>
                  <a:pt x="618075" y="1436458"/>
                </a:lnTo>
                <a:lnTo>
                  <a:pt x="588048" y="1406431"/>
                </a:lnTo>
                <a:lnTo>
                  <a:pt x="563470" y="1371656"/>
                </a:lnTo>
                <a:lnTo>
                  <a:pt x="545045" y="1332836"/>
                </a:lnTo>
                <a:lnTo>
                  <a:pt x="533475" y="1290673"/>
                </a:lnTo>
                <a:lnTo>
                  <a:pt x="529463" y="1245870"/>
                </a:lnTo>
                <a:lnTo>
                  <a:pt x="529463" y="872109"/>
                </a:lnTo>
                <a:lnTo>
                  <a:pt x="529463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25139" y="809320"/>
            <a:ext cx="52730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here </a:t>
            </a:r>
            <a:r>
              <a:rPr sz="1800" dirty="0">
                <a:latin typeface="Calibri"/>
                <a:cs typeface="Calibri"/>
              </a:rPr>
              <a:t>the 13. And </a:t>
            </a:r>
            <a:r>
              <a:rPr sz="1800" spc="-10" dirty="0">
                <a:latin typeface="Calibri"/>
                <a:cs typeface="Calibri"/>
              </a:rPr>
              <a:t>move  </a:t>
            </a:r>
            <a:r>
              <a:rPr sz="1800" spc="-5" dirty="0">
                <a:latin typeface="Calibri"/>
                <a:cs typeface="Calibri"/>
              </a:rPr>
              <a:t>our partition divider </a:t>
            </a:r>
            <a:r>
              <a:rPr sz="1800" spc="-10" dirty="0">
                <a:latin typeface="Calibri"/>
                <a:cs typeface="Calibri"/>
              </a:rPr>
              <a:t>over </a:t>
            </a:r>
            <a:r>
              <a:rPr sz="1800" spc="-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5" dirty="0">
                <a:latin typeface="Calibri"/>
                <a:cs typeface="Calibri"/>
              </a:rPr>
              <a:t>well so that </a:t>
            </a:r>
            <a:r>
              <a:rPr sz="1800" dirty="0">
                <a:latin typeface="Calibri"/>
                <a:cs typeface="Calibri"/>
              </a:rPr>
              <a:t>the lesser 3  </a:t>
            </a:r>
            <a:r>
              <a:rPr sz="1800" spc="-5" dirty="0">
                <a:latin typeface="Calibri"/>
                <a:cs typeface="Calibri"/>
              </a:rPr>
              <a:t>is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correct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7544" y="43144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5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995" y="3401567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2885948" y="1495044"/>
                </a:moveTo>
                <a:lnTo>
                  <a:pt x="1472056" y="1495044"/>
                </a:lnTo>
                <a:lnTo>
                  <a:pt x="0" y="3170682"/>
                </a:lnTo>
                <a:lnTo>
                  <a:pt x="2885948" y="1495044"/>
                </a:lnTo>
                <a:close/>
              </a:path>
              <a:path w="6185534" h="3171190">
                <a:moveTo>
                  <a:pt x="5935853" y="0"/>
                </a:moveTo>
                <a:lnTo>
                  <a:pt x="778637" y="0"/>
                </a:lnTo>
                <a:lnTo>
                  <a:pt x="733833" y="4012"/>
                </a:lnTo>
                <a:lnTo>
                  <a:pt x="691670" y="15582"/>
                </a:lnTo>
                <a:lnTo>
                  <a:pt x="652850" y="34007"/>
                </a:lnTo>
                <a:lnTo>
                  <a:pt x="618075" y="58585"/>
                </a:lnTo>
                <a:lnTo>
                  <a:pt x="588048" y="88612"/>
                </a:lnTo>
                <a:lnTo>
                  <a:pt x="563470" y="123387"/>
                </a:lnTo>
                <a:lnTo>
                  <a:pt x="545045" y="162207"/>
                </a:lnTo>
                <a:lnTo>
                  <a:pt x="533475" y="204370"/>
                </a:lnTo>
                <a:lnTo>
                  <a:pt x="529463" y="249174"/>
                </a:lnTo>
                <a:lnTo>
                  <a:pt x="529463" y="1245870"/>
                </a:lnTo>
                <a:lnTo>
                  <a:pt x="533475" y="1290673"/>
                </a:lnTo>
                <a:lnTo>
                  <a:pt x="545045" y="1332836"/>
                </a:lnTo>
                <a:lnTo>
                  <a:pt x="563470" y="1371656"/>
                </a:lnTo>
                <a:lnTo>
                  <a:pt x="588048" y="1406431"/>
                </a:lnTo>
                <a:lnTo>
                  <a:pt x="618075" y="1436458"/>
                </a:lnTo>
                <a:lnTo>
                  <a:pt x="652850" y="1461036"/>
                </a:lnTo>
                <a:lnTo>
                  <a:pt x="691670" y="1479461"/>
                </a:lnTo>
                <a:lnTo>
                  <a:pt x="733833" y="1491031"/>
                </a:lnTo>
                <a:lnTo>
                  <a:pt x="778637" y="1495044"/>
                </a:lnTo>
                <a:lnTo>
                  <a:pt x="5935853" y="1495044"/>
                </a:lnTo>
                <a:lnTo>
                  <a:pt x="5980656" y="1491031"/>
                </a:lnTo>
                <a:lnTo>
                  <a:pt x="6022819" y="1479461"/>
                </a:lnTo>
                <a:lnTo>
                  <a:pt x="6061639" y="1461036"/>
                </a:lnTo>
                <a:lnTo>
                  <a:pt x="6096414" y="1436458"/>
                </a:lnTo>
                <a:lnTo>
                  <a:pt x="6126441" y="1406431"/>
                </a:lnTo>
                <a:lnTo>
                  <a:pt x="6151019" y="1371656"/>
                </a:lnTo>
                <a:lnTo>
                  <a:pt x="6169444" y="1332836"/>
                </a:lnTo>
                <a:lnTo>
                  <a:pt x="6181014" y="1290673"/>
                </a:lnTo>
                <a:lnTo>
                  <a:pt x="6185026" y="1245870"/>
                </a:lnTo>
                <a:lnTo>
                  <a:pt x="6185026" y="249174"/>
                </a:lnTo>
                <a:lnTo>
                  <a:pt x="6181014" y="204370"/>
                </a:lnTo>
                <a:lnTo>
                  <a:pt x="6169444" y="162207"/>
                </a:lnTo>
                <a:lnTo>
                  <a:pt x="6151019" y="123387"/>
                </a:lnTo>
                <a:lnTo>
                  <a:pt x="6126441" y="88612"/>
                </a:lnTo>
                <a:lnTo>
                  <a:pt x="6096414" y="58585"/>
                </a:lnTo>
                <a:lnTo>
                  <a:pt x="6061639" y="34007"/>
                </a:lnTo>
                <a:lnTo>
                  <a:pt x="6022819" y="15582"/>
                </a:lnTo>
                <a:lnTo>
                  <a:pt x="5980656" y="4012"/>
                </a:lnTo>
                <a:lnTo>
                  <a:pt x="59358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529463" y="249174"/>
                </a:moveTo>
                <a:lnTo>
                  <a:pt x="533475" y="204370"/>
                </a:lnTo>
                <a:lnTo>
                  <a:pt x="545045" y="162207"/>
                </a:lnTo>
                <a:lnTo>
                  <a:pt x="563470" y="123387"/>
                </a:lnTo>
                <a:lnTo>
                  <a:pt x="588048" y="88612"/>
                </a:lnTo>
                <a:lnTo>
                  <a:pt x="618075" y="58585"/>
                </a:lnTo>
                <a:lnTo>
                  <a:pt x="652850" y="34007"/>
                </a:lnTo>
                <a:lnTo>
                  <a:pt x="691670" y="15582"/>
                </a:lnTo>
                <a:lnTo>
                  <a:pt x="733833" y="4012"/>
                </a:lnTo>
                <a:lnTo>
                  <a:pt x="778637" y="0"/>
                </a:lnTo>
                <a:lnTo>
                  <a:pt x="1472056" y="0"/>
                </a:lnTo>
                <a:lnTo>
                  <a:pt x="2885948" y="0"/>
                </a:lnTo>
                <a:lnTo>
                  <a:pt x="5935853" y="0"/>
                </a:lnTo>
                <a:lnTo>
                  <a:pt x="5980656" y="4012"/>
                </a:lnTo>
                <a:lnTo>
                  <a:pt x="6022819" y="15582"/>
                </a:lnTo>
                <a:lnTo>
                  <a:pt x="6061639" y="34007"/>
                </a:lnTo>
                <a:lnTo>
                  <a:pt x="6096414" y="58585"/>
                </a:lnTo>
                <a:lnTo>
                  <a:pt x="6126441" y="88612"/>
                </a:lnTo>
                <a:lnTo>
                  <a:pt x="6151019" y="123387"/>
                </a:lnTo>
                <a:lnTo>
                  <a:pt x="6169444" y="162207"/>
                </a:lnTo>
                <a:lnTo>
                  <a:pt x="6181014" y="204370"/>
                </a:lnTo>
                <a:lnTo>
                  <a:pt x="6185026" y="249174"/>
                </a:lnTo>
                <a:lnTo>
                  <a:pt x="6185026" y="872109"/>
                </a:lnTo>
                <a:lnTo>
                  <a:pt x="6185026" y="1245870"/>
                </a:lnTo>
                <a:lnTo>
                  <a:pt x="6181014" y="1290673"/>
                </a:lnTo>
                <a:lnTo>
                  <a:pt x="6169444" y="1332836"/>
                </a:lnTo>
                <a:lnTo>
                  <a:pt x="6151019" y="1371656"/>
                </a:lnTo>
                <a:lnTo>
                  <a:pt x="6126441" y="1406431"/>
                </a:lnTo>
                <a:lnTo>
                  <a:pt x="6096414" y="1436458"/>
                </a:lnTo>
                <a:lnTo>
                  <a:pt x="6061639" y="1461036"/>
                </a:lnTo>
                <a:lnTo>
                  <a:pt x="6022819" y="1479461"/>
                </a:lnTo>
                <a:lnTo>
                  <a:pt x="5980656" y="1491031"/>
                </a:lnTo>
                <a:lnTo>
                  <a:pt x="5935853" y="1495044"/>
                </a:lnTo>
                <a:lnTo>
                  <a:pt x="2885948" y="1495044"/>
                </a:lnTo>
                <a:lnTo>
                  <a:pt x="0" y="3170682"/>
                </a:lnTo>
                <a:lnTo>
                  <a:pt x="1472056" y="1495044"/>
                </a:lnTo>
                <a:lnTo>
                  <a:pt x="778637" y="1495044"/>
                </a:lnTo>
                <a:lnTo>
                  <a:pt x="733833" y="1491031"/>
                </a:lnTo>
                <a:lnTo>
                  <a:pt x="691670" y="1479461"/>
                </a:lnTo>
                <a:lnTo>
                  <a:pt x="652850" y="1461036"/>
                </a:lnTo>
                <a:lnTo>
                  <a:pt x="618075" y="1436458"/>
                </a:lnTo>
                <a:lnTo>
                  <a:pt x="588048" y="1406431"/>
                </a:lnTo>
                <a:lnTo>
                  <a:pt x="563470" y="1371656"/>
                </a:lnTo>
                <a:lnTo>
                  <a:pt x="545045" y="1332836"/>
                </a:lnTo>
                <a:lnTo>
                  <a:pt x="533475" y="1290673"/>
                </a:lnTo>
                <a:lnTo>
                  <a:pt x="529463" y="1245870"/>
                </a:lnTo>
                <a:lnTo>
                  <a:pt x="529463" y="872109"/>
                </a:lnTo>
                <a:lnTo>
                  <a:pt x="529463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25139" y="809320"/>
            <a:ext cx="52730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here </a:t>
            </a:r>
            <a:r>
              <a:rPr sz="1800" dirty="0">
                <a:latin typeface="Calibri"/>
                <a:cs typeface="Calibri"/>
              </a:rPr>
              <a:t>the 13. And </a:t>
            </a:r>
            <a:r>
              <a:rPr sz="1800" spc="-10" dirty="0">
                <a:latin typeface="Calibri"/>
                <a:cs typeface="Calibri"/>
              </a:rPr>
              <a:t>move  </a:t>
            </a:r>
            <a:r>
              <a:rPr sz="1800" spc="-5" dirty="0">
                <a:latin typeface="Calibri"/>
                <a:cs typeface="Calibri"/>
              </a:rPr>
              <a:t>our partition divider </a:t>
            </a:r>
            <a:r>
              <a:rPr sz="1800" spc="-10" dirty="0">
                <a:latin typeface="Calibri"/>
                <a:cs typeface="Calibri"/>
              </a:rPr>
              <a:t>over </a:t>
            </a:r>
            <a:r>
              <a:rPr sz="1800" spc="-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5" dirty="0">
                <a:latin typeface="Calibri"/>
                <a:cs typeface="Calibri"/>
              </a:rPr>
              <a:t>well so that </a:t>
            </a:r>
            <a:r>
              <a:rPr sz="1800" dirty="0">
                <a:latin typeface="Calibri"/>
                <a:cs typeface="Calibri"/>
              </a:rPr>
              <a:t>the lesser 3  </a:t>
            </a:r>
            <a:r>
              <a:rPr sz="1800" spc="-5" dirty="0">
                <a:latin typeface="Calibri"/>
                <a:cs typeface="Calibri"/>
              </a:rPr>
              <a:t>is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correct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7544" y="43144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5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2885948" y="1495044"/>
                </a:moveTo>
                <a:lnTo>
                  <a:pt x="1472056" y="1495044"/>
                </a:lnTo>
                <a:lnTo>
                  <a:pt x="0" y="3170682"/>
                </a:lnTo>
                <a:lnTo>
                  <a:pt x="2885948" y="1495044"/>
                </a:lnTo>
                <a:close/>
              </a:path>
              <a:path w="6185534" h="3171190">
                <a:moveTo>
                  <a:pt x="5935853" y="0"/>
                </a:moveTo>
                <a:lnTo>
                  <a:pt x="778637" y="0"/>
                </a:lnTo>
                <a:lnTo>
                  <a:pt x="733833" y="4012"/>
                </a:lnTo>
                <a:lnTo>
                  <a:pt x="691670" y="15582"/>
                </a:lnTo>
                <a:lnTo>
                  <a:pt x="652850" y="34007"/>
                </a:lnTo>
                <a:lnTo>
                  <a:pt x="618075" y="58585"/>
                </a:lnTo>
                <a:lnTo>
                  <a:pt x="588048" y="88612"/>
                </a:lnTo>
                <a:lnTo>
                  <a:pt x="563470" y="123387"/>
                </a:lnTo>
                <a:lnTo>
                  <a:pt x="545045" y="162207"/>
                </a:lnTo>
                <a:lnTo>
                  <a:pt x="533475" y="204370"/>
                </a:lnTo>
                <a:lnTo>
                  <a:pt x="529463" y="249174"/>
                </a:lnTo>
                <a:lnTo>
                  <a:pt x="529463" y="1245870"/>
                </a:lnTo>
                <a:lnTo>
                  <a:pt x="533475" y="1290673"/>
                </a:lnTo>
                <a:lnTo>
                  <a:pt x="545045" y="1332836"/>
                </a:lnTo>
                <a:lnTo>
                  <a:pt x="563470" y="1371656"/>
                </a:lnTo>
                <a:lnTo>
                  <a:pt x="588048" y="1406431"/>
                </a:lnTo>
                <a:lnTo>
                  <a:pt x="618075" y="1436458"/>
                </a:lnTo>
                <a:lnTo>
                  <a:pt x="652850" y="1461036"/>
                </a:lnTo>
                <a:lnTo>
                  <a:pt x="691670" y="1479461"/>
                </a:lnTo>
                <a:lnTo>
                  <a:pt x="733833" y="1491031"/>
                </a:lnTo>
                <a:lnTo>
                  <a:pt x="778637" y="1495044"/>
                </a:lnTo>
                <a:lnTo>
                  <a:pt x="5935853" y="1495044"/>
                </a:lnTo>
                <a:lnTo>
                  <a:pt x="5980656" y="1491031"/>
                </a:lnTo>
                <a:lnTo>
                  <a:pt x="6022819" y="1479461"/>
                </a:lnTo>
                <a:lnTo>
                  <a:pt x="6061639" y="1461036"/>
                </a:lnTo>
                <a:lnTo>
                  <a:pt x="6096414" y="1436458"/>
                </a:lnTo>
                <a:lnTo>
                  <a:pt x="6126441" y="1406431"/>
                </a:lnTo>
                <a:lnTo>
                  <a:pt x="6151019" y="1371656"/>
                </a:lnTo>
                <a:lnTo>
                  <a:pt x="6169444" y="1332836"/>
                </a:lnTo>
                <a:lnTo>
                  <a:pt x="6181014" y="1290673"/>
                </a:lnTo>
                <a:lnTo>
                  <a:pt x="6185026" y="1245870"/>
                </a:lnTo>
                <a:lnTo>
                  <a:pt x="6185026" y="249174"/>
                </a:lnTo>
                <a:lnTo>
                  <a:pt x="6181014" y="204370"/>
                </a:lnTo>
                <a:lnTo>
                  <a:pt x="6169444" y="162207"/>
                </a:lnTo>
                <a:lnTo>
                  <a:pt x="6151019" y="123387"/>
                </a:lnTo>
                <a:lnTo>
                  <a:pt x="6126441" y="88612"/>
                </a:lnTo>
                <a:lnTo>
                  <a:pt x="6096414" y="58585"/>
                </a:lnTo>
                <a:lnTo>
                  <a:pt x="6061639" y="34007"/>
                </a:lnTo>
                <a:lnTo>
                  <a:pt x="6022819" y="15582"/>
                </a:lnTo>
                <a:lnTo>
                  <a:pt x="5980656" y="4012"/>
                </a:lnTo>
                <a:lnTo>
                  <a:pt x="59358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529463" y="249174"/>
                </a:moveTo>
                <a:lnTo>
                  <a:pt x="533475" y="204370"/>
                </a:lnTo>
                <a:lnTo>
                  <a:pt x="545045" y="162207"/>
                </a:lnTo>
                <a:lnTo>
                  <a:pt x="563470" y="123387"/>
                </a:lnTo>
                <a:lnTo>
                  <a:pt x="588048" y="88612"/>
                </a:lnTo>
                <a:lnTo>
                  <a:pt x="618075" y="58585"/>
                </a:lnTo>
                <a:lnTo>
                  <a:pt x="652850" y="34007"/>
                </a:lnTo>
                <a:lnTo>
                  <a:pt x="691670" y="15582"/>
                </a:lnTo>
                <a:lnTo>
                  <a:pt x="733833" y="4012"/>
                </a:lnTo>
                <a:lnTo>
                  <a:pt x="778637" y="0"/>
                </a:lnTo>
                <a:lnTo>
                  <a:pt x="1472056" y="0"/>
                </a:lnTo>
                <a:lnTo>
                  <a:pt x="2885948" y="0"/>
                </a:lnTo>
                <a:lnTo>
                  <a:pt x="5935853" y="0"/>
                </a:lnTo>
                <a:lnTo>
                  <a:pt x="5980656" y="4012"/>
                </a:lnTo>
                <a:lnTo>
                  <a:pt x="6022819" y="15582"/>
                </a:lnTo>
                <a:lnTo>
                  <a:pt x="6061639" y="34007"/>
                </a:lnTo>
                <a:lnTo>
                  <a:pt x="6096414" y="58585"/>
                </a:lnTo>
                <a:lnTo>
                  <a:pt x="6126441" y="88612"/>
                </a:lnTo>
                <a:lnTo>
                  <a:pt x="6151019" y="123387"/>
                </a:lnTo>
                <a:lnTo>
                  <a:pt x="6169444" y="162207"/>
                </a:lnTo>
                <a:lnTo>
                  <a:pt x="6181014" y="204370"/>
                </a:lnTo>
                <a:lnTo>
                  <a:pt x="6185026" y="249174"/>
                </a:lnTo>
                <a:lnTo>
                  <a:pt x="6185026" y="872109"/>
                </a:lnTo>
                <a:lnTo>
                  <a:pt x="6185026" y="1245870"/>
                </a:lnTo>
                <a:lnTo>
                  <a:pt x="6181014" y="1290673"/>
                </a:lnTo>
                <a:lnTo>
                  <a:pt x="6169444" y="1332836"/>
                </a:lnTo>
                <a:lnTo>
                  <a:pt x="6151019" y="1371656"/>
                </a:lnTo>
                <a:lnTo>
                  <a:pt x="6126441" y="1406431"/>
                </a:lnTo>
                <a:lnTo>
                  <a:pt x="6096414" y="1436458"/>
                </a:lnTo>
                <a:lnTo>
                  <a:pt x="6061639" y="1461036"/>
                </a:lnTo>
                <a:lnTo>
                  <a:pt x="6022819" y="1479461"/>
                </a:lnTo>
                <a:lnTo>
                  <a:pt x="5980656" y="1491031"/>
                </a:lnTo>
                <a:lnTo>
                  <a:pt x="5935853" y="1495044"/>
                </a:lnTo>
                <a:lnTo>
                  <a:pt x="2885948" y="1495044"/>
                </a:lnTo>
                <a:lnTo>
                  <a:pt x="0" y="3170682"/>
                </a:lnTo>
                <a:lnTo>
                  <a:pt x="1472056" y="1495044"/>
                </a:lnTo>
                <a:lnTo>
                  <a:pt x="778637" y="1495044"/>
                </a:lnTo>
                <a:lnTo>
                  <a:pt x="733833" y="1491031"/>
                </a:lnTo>
                <a:lnTo>
                  <a:pt x="691670" y="1479461"/>
                </a:lnTo>
                <a:lnTo>
                  <a:pt x="652850" y="1461036"/>
                </a:lnTo>
                <a:lnTo>
                  <a:pt x="618075" y="1436458"/>
                </a:lnTo>
                <a:lnTo>
                  <a:pt x="588048" y="1406431"/>
                </a:lnTo>
                <a:lnTo>
                  <a:pt x="563470" y="1371656"/>
                </a:lnTo>
                <a:lnTo>
                  <a:pt x="545045" y="1332836"/>
                </a:lnTo>
                <a:lnTo>
                  <a:pt x="533475" y="1290673"/>
                </a:lnTo>
                <a:lnTo>
                  <a:pt x="529463" y="1245870"/>
                </a:lnTo>
                <a:lnTo>
                  <a:pt x="529463" y="872109"/>
                </a:lnTo>
                <a:lnTo>
                  <a:pt x="529463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525139" y="809320"/>
            <a:ext cx="52730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here </a:t>
            </a:r>
            <a:r>
              <a:rPr sz="1800" dirty="0">
                <a:latin typeface="Calibri"/>
                <a:cs typeface="Calibri"/>
              </a:rPr>
              <a:t>the 13. And </a:t>
            </a:r>
            <a:r>
              <a:rPr sz="1800" spc="-10" dirty="0">
                <a:latin typeface="Calibri"/>
                <a:cs typeface="Calibri"/>
              </a:rPr>
              <a:t>move  </a:t>
            </a:r>
            <a:r>
              <a:rPr sz="1800" spc="-5" dirty="0">
                <a:latin typeface="Calibri"/>
                <a:cs typeface="Calibri"/>
              </a:rPr>
              <a:t>our partition divider </a:t>
            </a:r>
            <a:r>
              <a:rPr sz="1800" spc="-10" dirty="0">
                <a:latin typeface="Calibri"/>
                <a:cs typeface="Calibri"/>
              </a:rPr>
              <a:t>over </a:t>
            </a:r>
            <a:r>
              <a:rPr sz="1800" spc="-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5" dirty="0">
                <a:latin typeface="Calibri"/>
                <a:cs typeface="Calibri"/>
              </a:rPr>
              <a:t>well so that </a:t>
            </a:r>
            <a:r>
              <a:rPr sz="1800" dirty="0">
                <a:latin typeface="Calibri"/>
                <a:cs typeface="Calibri"/>
              </a:rPr>
              <a:t>the lesser 3  </a:t>
            </a:r>
            <a:r>
              <a:rPr sz="1800" spc="-5" dirty="0">
                <a:latin typeface="Calibri"/>
                <a:cs typeface="Calibri"/>
              </a:rPr>
              <a:t>is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correct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7544" y="43144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5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28010"/>
          </a:xfrm>
          <a:custGeom>
            <a:avLst/>
            <a:gdLst/>
            <a:ahLst/>
            <a:cxnLst/>
            <a:rect l="l" t="t" r="r" b="b"/>
            <a:pathLst>
              <a:path w="5655945" h="3128010">
                <a:moveTo>
                  <a:pt x="2356485" y="1495044"/>
                </a:moveTo>
                <a:lnTo>
                  <a:pt x="942593" y="1495044"/>
                </a:lnTo>
                <a:lnTo>
                  <a:pt x="350647" y="3128010"/>
                </a:lnTo>
                <a:lnTo>
                  <a:pt x="2356485" y="1495044"/>
                </a:lnTo>
                <a:close/>
              </a:path>
              <a:path w="5655945" h="312801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28010"/>
          </a:xfrm>
          <a:custGeom>
            <a:avLst/>
            <a:gdLst/>
            <a:ahLst/>
            <a:cxnLst/>
            <a:rect l="l" t="t" r="r" b="b"/>
            <a:pathLst>
              <a:path w="5655945" h="312801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350647" y="3128010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40607" y="1221485"/>
            <a:ext cx="4643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8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its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right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place.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74541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74541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7544" y="43144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5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2356485" y="1495044"/>
                </a:moveTo>
                <a:lnTo>
                  <a:pt x="942593" y="1495044"/>
                </a:lnTo>
                <a:lnTo>
                  <a:pt x="1239392" y="3145155"/>
                </a:lnTo>
                <a:lnTo>
                  <a:pt x="2356485" y="1495044"/>
                </a:lnTo>
                <a:close/>
              </a:path>
              <a:path w="5655945" h="3145154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1239392" y="3145155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7544" y="43144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5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940" y="32095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2356485" y="1495044"/>
                </a:moveTo>
                <a:lnTo>
                  <a:pt x="942593" y="1495044"/>
                </a:lnTo>
                <a:lnTo>
                  <a:pt x="1239392" y="3145155"/>
                </a:lnTo>
                <a:lnTo>
                  <a:pt x="2356485" y="1495044"/>
                </a:lnTo>
                <a:close/>
              </a:path>
              <a:path w="5655945" h="3145154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1239392" y="3145155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940" y="32095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2356485" y="1495044"/>
                </a:moveTo>
                <a:lnTo>
                  <a:pt x="942593" y="1495044"/>
                </a:lnTo>
                <a:lnTo>
                  <a:pt x="1239392" y="3145155"/>
                </a:lnTo>
                <a:lnTo>
                  <a:pt x="2356485" y="1495044"/>
                </a:lnTo>
                <a:close/>
              </a:path>
              <a:path w="5655945" h="3145154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1239392" y="3145155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2356485" y="1495044"/>
                </a:moveTo>
                <a:lnTo>
                  <a:pt x="942593" y="1495044"/>
                </a:lnTo>
                <a:lnTo>
                  <a:pt x="1239392" y="3145155"/>
                </a:lnTo>
                <a:lnTo>
                  <a:pt x="2356485" y="1495044"/>
                </a:lnTo>
                <a:close/>
              </a:path>
              <a:path w="5655945" h="3145154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1239392" y="3145155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2356485" y="1495044"/>
                </a:moveTo>
                <a:lnTo>
                  <a:pt x="942593" y="1495044"/>
                </a:lnTo>
                <a:lnTo>
                  <a:pt x="1239392" y="3145155"/>
                </a:lnTo>
                <a:lnTo>
                  <a:pt x="2356485" y="1495044"/>
                </a:lnTo>
                <a:close/>
              </a:path>
              <a:path w="5655945" h="3145154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1239392" y="3145155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70"/>
                </a:lnTo>
                <a:lnTo>
                  <a:pt x="2971800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4"/>
                </a:lnTo>
                <a:lnTo>
                  <a:pt x="2971800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69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5" y="0"/>
                </a:moveTo>
                <a:lnTo>
                  <a:pt x="32384" y="0"/>
                </a:lnTo>
                <a:lnTo>
                  <a:pt x="32384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4" y="1459230"/>
                </a:lnTo>
                <a:lnTo>
                  <a:pt x="32384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39" y="1459230"/>
                </a:lnTo>
                <a:lnTo>
                  <a:pt x="64769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55035" y="233781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05329" y="2149601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3484245" y="214312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2356485" y="1495044"/>
                </a:moveTo>
                <a:lnTo>
                  <a:pt x="942593" y="1495044"/>
                </a:lnTo>
                <a:lnTo>
                  <a:pt x="2145156" y="3162173"/>
                </a:lnTo>
                <a:lnTo>
                  <a:pt x="2356485" y="1495044"/>
                </a:lnTo>
                <a:close/>
              </a:path>
              <a:path w="5655945" h="316230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2145156" y="3162173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0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70"/>
                </a:lnTo>
                <a:lnTo>
                  <a:pt x="2971800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4"/>
                </a:lnTo>
                <a:lnTo>
                  <a:pt x="2971800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69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5" y="0"/>
                </a:moveTo>
                <a:lnTo>
                  <a:pt x="32384" y="0"/>
                </a:lnTo>
                <a:lnTo>
                  <a:pt x="32384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4" y="1459230"/>
                </a:lnTo>
                <a:lnTo>
                  <a:pt x="32384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39" y="1459230"/>
                </a:lnTo>
                <a:lnTo>
                  <a:pt x="64769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55035" y="233781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05329" y="2149601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3484245" y="214312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004" y="33528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2356485" y="1495044"/>
                </a:moveTo>
                <a:lnTo>
                  <a:pt x="942593" y="1495044"/>
                </a:lnTo>
                <a:lnTo>
                  <a:pt x="2145156" y="3162173"/>
                </a:lnTo>
                <a:lnTo>
                  <a:pt x="2356485" y="1495044"/>
                </a:lnTo>
                <a:close/>
              </a:path>
              <a:path w="5655945" h="316230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2145156" y="3162173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0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70"/>
                </a:lnTo>
                <a:lnTo>
                  <a:pt x="2971800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4"/>
                </a:lnTo>
                <a:lnTo>
                  <a:pt x="2971800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69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5" y="0"/>
                </a:moveTo>
                <a:lnTo>
                  <a:pt x="32384" y="0"/>
                </a:lnTo>
                <a:lnTo>
                  <a:pt x="32384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4" y="1459230"/>
                </a:lnTo>
                <a:lnTo>
                  <a:pt x="32384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39" y="1459230"/>
                </a:lnTo>
                <a:lnTo>
                  <a:pt x="64769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55035" y="233781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05329" y="2149601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3484245" y="214312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004" y="33528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2356485" y="1495044"/>
                </a:moveTo>
                <a:lnTo>
                  <a:pt x="942593" y="1495044"/>
                </a:lnTo>
                <a:lnTo>
                  <a:pt x="2145156" y="3162173"/>
                </a:lnTo>
                <a:lnTo>
                  <a:pt x="2356485" y="1495044"/>
                </a:lnTo>
                <a:close/>
              </a:path>
              <a:path w="5655945" h="316230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2145156" y="3162173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0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70"/>
                </a:lnTo>
                <a:lnTo>
                  <a:pt x="2971800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4"/>
                </a:lnTo>
                <a:lnTo>
                  <a:pt x="2971800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69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5" y="0"/>
                </a:moveTo>
                <a:lnTo>
                  <a:pt x="32384" y="0"/>
                </a:lnTo>
                <a:lnTo>
                  <a:pt x="32384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4" y="1459230"/>
                </a:lnTo>
                <a:lnTo>
                  <a:pt x="32384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39" y="1459230"/>
                </a:lnTo>
                <a:lnTo>
                  <a:pt x="64769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55035" y="233781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05329" y="2149601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3484245" y="214312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2356485" y="1495044"/>
                </a:moveTo>
                <a:lnTo>
                  <a:pt x="942593" y="1495044"/>
                </a:lnTo>
                <a:lnTo>
                  <a:pt x="2145156" y="3162173"/>
                </a:lnTo>
                <a:lnTo>
                  <a:pt x="2356485" y="1495044"/>
                </a:lnTo>
                <a:close/>
              </a:path>
              <a:path w="5655945" h="316230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2145156" y="3162173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0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70"/>
                </a:lnTo>
                <a:lnTo>
                  <a:pt x="2971800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4"/>
                </a:lnTo>
                <a:lnTo>
                  <a:pt x="2971800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69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5" y="0"/>
                </a:moveTo>
                <a:lnTo>
                  <a:pt x="32384" y="0"/>
                </a:lnTo>
                <a:lnTo>
                  <a:pt x="32384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4" y="1459230"/>
                </a:lnTo>
                <a:lnTo>
                  <a:pt x="32384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39" y="1459230"/>
                </a:lnTo>
                <a:lnTo>
                  <a:pt x="64769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55035" y="233781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05329" y="2149601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3484245" y="214312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2356485" y="1495044"/>
                </a:moveTo>
                <a:lnTo>
                  <a:pt x="942593" y="1495044"/>
                </a:lnTo>
                <a:lnTo>
                  <a:pt x="2145156" y="3162173"/>
                </a:lnTo>
                <a:lnTo>
                  <a:pt x="2356485" y="1495044"/>
                </a:lnTo>
                <a:close/>
              </a:path>
              <a:path w="5655945" h="316230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2145156" y="3162173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0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799" y="648970"/>
                </a:lnTo>
                <a:lnTo>
                  <a:pt x="2971799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5525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13740" y="142493"/>
                </a:moveTo>
                <a:lnTo>
                  <a:pt x="71246" y="142493"/>
                </a:lnTo>
                <a:lnTo>
                  <a:pt x="71246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5" h="327660">
                <a:moveTo>
                  <a:pt x="142493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5525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6" y="327659"/>
                </a:lnTo>
                <a:lnTo>
                  <a:pt x="71246" y="142493"/>
                </a:lnTo>
                <a:lnTo>
                  <a:pt x="0" y="142493"/>
                </a:lnTo>
                <a:lnTo>
                  <a:pt x="142493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36797" y="639318"/>
            <a:ext cx="5655945" cy="3154045"/>
          </a:xfrm>
          <a:custGeom>
            <a:avLst/>
            <a:gdLst/>
            <a:ahLst/>
            <a:cxnLst/>
            <a:rect l="l" t="t" r="r" b="b"/>
            <a:pathLst>
              <a:path w="5655945" h="3154045">
                <a:moveTo>
                  <a:pt x="4712970" y="1495044"/>
                </a:moveTo>
                <a:lnTo>
                  <a:pt x="3299079" y="1495044"/>
                </a:lnTo>
                <a:lnTo>
                  <a:pt x="3042412" y="3153664"/>
                </a:lnTo>
                <a:lnTo>
                  <a:pt x="4712970" y="1495044"/>
                </a:lnTo>
                <a:close/>
              </a:path>
              <a:path w="5655945" h="3154045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36797" y="639318"/>
            <a:ext cx="5655945" cy="3154045"/>
          </a:xfrm>
          <a:custGeom>
            <a:avLst/>
            <a:gdLst/>
            <a:ahLst/>
            <a:cxnLst/>
            <a:rect l="l" t="t" r="r" b="b"/>
            <a:pathLst>
              <a:path w="5655945" h="3154045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042412" y="3153664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189603" y="1221485"/>
            <a:ext cx="394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9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move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4712970" y="1495044"/>
                </a:moveTo>
                <a:lnTo>
                  <a:pt x="3299079" y="1495044"/>
                </a:lnTo>
                <a:lnTo>
                  <a:pt x="3922649" y="3179318"/>
                </a:lnTo>
                <a:lnTo>
                  <a:pt x="4712970" y="1495044"/>
                </a:lnTo>
                <a:close/>
              </a:path>
              <a:path w="5655945" h="3179445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22649" y="3179318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1422" y="947165"/>
            <a:ext cx="53041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 end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element 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it, if </a:t>
            </a: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one. </a:t>
            </a:r>
            <a:r>
              <a:rPr sz="1800" dirty="0">
                <a:latin typeface="Calibri"/>
                <a:cs typeface="Calibri"/>
              </a:rPr>
              <a:t>In this </a:t>
            </a:r>
            <a:r>
              <a:rPr sz="1800" spc="-5" dirty="0">
                <a:latin typeface="Calibri"/>
                <a:cs typeface="Calibri"/>
              </a:rPr>
              <a:t>case there is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its  </a:t>
            </a:r>
            <a:r>
              <a:rPr sz="1800" dirty="0">
                <a:latin typeface="Calibri"/>
                <a:cs typeface="Calibri"/>
              </a:rPr>
              <a:t>13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to </a:t>
            </a:r>
            <a:r>
              <a:rPr sz="1800" spc="-15" dirty="0">
                <a:latin typeface="Calibri"/>
                <a:cs typeface="Calibri"/>
              </a:rPr>
              <a:t>complete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pass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7988" y="3752088"/>
            <a:ext cx="6306312" cy="1271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5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799" y="648970"/>
                </a:lnTo>
                <a:lnTo>
                  <a:pt x="2971799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8" name="object 28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4712970" y="1495044"/>
                </a:moveTo>
                <a:lnTo>
                  <a:pt x="3299079" y="1495044"/>
                </a:lnTo>
                <a:lnTo>
                  <a:pt x="3922649" y="3179318"/>
                </a:lnTo>
                <a:lnTo>
                  <a:pt x="4712970" y="1495044"/>
                </a:lnTo>
                <a:close/>
              </a:path>
              <a:path w="5655945" h="3179445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22649" y="3179318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1422" y="947165"/>
            <a:ext cx="53041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 end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element 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it, if </a:t>
            </a: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one. </a:t>
            </a:r>
            <a:r>
              <a:rPr sz="1800" dirty="0">
                <a:latin typeface="Calibri"/>
                <a:cs typeface="Calibri"/>
              </a:rPr>
              <a:t>In this </a:t>
            </a:r>
            <a:r>
              <a:rPr sz="1800" spc="-5" dirty="0">
                <a:latin typeface="Calibri"/>
                <a:cs typeface="Calibri"/>
              </a:rPr>
              <a:t>case there is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its  </a:t>
            </a:r>
            <a:r>
              <a:rPr sz="1800" dirty="0">
                <a:latin typeface="Calibri"/>
                <a:cs typeface="Calibri"/>
              </a:rPr>
              <a:t>13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to </a:t>
            </a:r>
            <a:r>
              <a:rPr sz="1800" spc="-15" dirty="0">
                <a:latin typeface="Calibri"/>
                <a:cs typeface="Calibri"/>
              </a:rPr>
              <a:t>complete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pass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7988" y="3752088"/>
            <a:ext cx="6306312" cy="1271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0888" y="3113532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799" y="648970"/>
                </a:lnTo>
                <a:lnTo>
                  <a:pt x="2971799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5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4712970" y="1495044"/>
                </a:moveTo>
                <a:lnTo>
                  <a:pt x="3299079" y="1495044"/>
                </a:lnTo>
                <a:lnTo>
                  <a:pt x="3922649" y="3179318"/>
                </a:lnTo>
                <a:lnTo>
                  <a:pt x="4712970" y="1495044"/>
                </a:lnTo>
                <a:close/>
              </a:path>
              <a:path w="5655945" h="3179445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22649" y="3179318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1422" y="947165"/>
            <a:ext cx="53041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 end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element 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it, if </a:t>
            </a: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one. </a:t>
            </a:r>
            <a:r>
              <a:rPr sz="1800" dirty="0">
                <a:latin typeface="Calibri"/>
                <a:cs typeface="Calibri"/>
              </a:rPr>
              <a:t>In this </a:t>
            </a:r>
            <a:r>
              <a:rPr sz="1800" spc="-5" dirty="0">
                <a:latin typeface="Calibri"/>
                <a:cs typeface="Calibri"/>
              </a:rPr>
              <a:t>case there is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its  </a:t>
            </a:r>
            <a:r>
              <a:rPr sz="1800" dirty="0">
                <a:latin typeface="Calibri"/>
                <a:cs typeface="Calibri"/>
              </a:rPr>
              <a:t>13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to </a:t>
            </a:r>
            <a:r>
              <a:rPr sz="1800" spc="-15" dirty="0">
                <a:latin typeface="Calibri"/>
                <a:cs typeface="Calibri"/>
              </a:rPr>
              <a:t>complete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pass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7988" y="3752088"/>
            <a:ext cx="6306312" cy="1271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0888" y="3113532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02195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799" y="648970"/>
                </a:lnTo>
                <a:lnTo>
                  <a:pt x="2971799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5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4712970" y="1495044"/>
                </a:moveTo>
                <a:lnTo>
                  <a:pt x="3299079" y="1495044"/>
                </a:lnTo>
                <a:lnTo>
                  <a:pt x="3922649" y="3179318"/>
                </a:lnTo>
                <a:lnTo>
                  <a:pt x="4712970" y="1495044"/>
                </a:lnTo>
                <a:close/>
              </a:path>
              <a:path w="5655945" h="3179445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22649" y="3179318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1422" y="947165"/>
            <a:ext cx="53041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 end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element 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it, if </a:t>
            </a: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one. </a:t>
            </a:r>
            <a:r>
              <a:rPr sz="1800" dirty="0">
                <a:latin typeface="Calibri"/>
                <a:cs typeface="Calibri"/>
              </a:rPr>
              <a:t>In this </a:t>
            </a:r>
            <a:r>
              <a:rPr sz="1800" spc="-5" dirty="0">
                <a:latin typeface="Calibri"/>
                <a:cs typeface="Calibri"/>
              </a:rPr>
              <a:t>case there is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its  </a:t>
            </a:r>
            <a:r>
              <a:rPr sz="1800" dirty="0">
                <a:latin typeface="Calibri"/>
                <a:cs typeface="Calibri"/>
              </a:rPr>
              <a:t>13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to </a:t>
            </a:r>
            <a:r>
              <a:rPr sz="1800" spc="-15" dirty="0">
                <a:latin typeface="Calibri"/>
                <a:cs typeface="Calibri"/>
              </a:rPr>
              <a:t>complete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pass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7988" y="3752088"/>
            <a:ext cx="6306312" cy="1271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09288" y="4294632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02195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799" y="648970"/>
                </a:lnTo>
                <a:lnTo>
                  <a:pt x="2971799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5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3741420"/>
            <a:ext cx="2726436" cy="1271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58996" y="3752088"/>
            <a:ext cx="3575304" cy="1271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452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6851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676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464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4712970" y="1495044"/>
                </a:moveTo>
                <a:lnTo>
                  <a:pt x="3299079" y="1495044"/>
                </a:lnTo>
                <a:lnTo>
                  <a:pt x="3956811" y="1495552"/>
                </a:lnTo>
                <a:lnTo>
                  <a:pt x="4712970" y="1495044"/>
                </a:lnTo>
                <a:close/>
              </a:path>
              <a:path w="5655945" h="149606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56811" y="1495552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63822" y="947165"/>
            <a:ext cx="49980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spc="-10" dirty="0">
                <a:latin typeface="Calibri"/>
                <a:cs typeface="Calibri"/>
              </a:rPr>
              <a:t>have two </a:t>
            </a:r>
            <a:r>
              <a:rPr sz="1800" spc="-5" dirty="0">
                <a:latin typeface="Calibri"/>
                <a:cs typeface="Calibri"/>
              </a:rPr>
              <a:t>partitions with one with </a:t>
            </a:r>
            <a:r>
              <a:rPr sz="1800" dirty="0">
                <a:latin typeface="Calibri"/>
                <a:cs typeface="Calibri"/>
              </a:rPr>
              <a:t>all the  </a:t>
            </a:r>
            <a:r>
              <a:rPr sz="1800" spc="-5" dirty="0">
                <a:latin typeface="Calibri"/>
                <a:cs typeface="Calibri"/>
              </a:rPr>
              <a:t>elements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another with </a:t>
            </a:r>
            <a:r>
              <a:rPr sz="1800" dirty="0">
                <a:latin typeface="Calibri"/>
                <a:cs typeface="Calibri"/>
              </a:rPr>
              <a:t>all  those </a:t>
            </a:r>
            <a:r>
              <a:rPr sz="1800" spc="-35" dirty="0">
                <a:latin typeface="Calibri"/>
                <a:cs typeface="Calibri"/>
              </a:rPr>
              <a:t>greater.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4" name="object 24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3741420"/>
            <a:ext cx="2726436" cy="1271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58996" y="3752088"/>
            <a:ext cx="3575304" cy="1271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452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6851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676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464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4712970" y="1495044"/>
                </a:moveTo>
                <a:lnTo>
                  <a:pt x="3299079" y="1495044"/>
                </a:lnTo>
                <a:lnTo>
                  <a:pt x="3956811" y="1495552"/>
                </a:lnTo>
                <a:lnTo>
                  <a:pt x="4712970" y="1495044"/>
                </a:lnTo>
                <a:close/>
              </a:path>
              <a:path w="5655945" h="149606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56811" y="1495552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05554" y="947165"/>
            <a:ext cx="47136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same </a:t>
            </a:r>
            <a:r>
              <a:rPr sz="1800" spc="-10" dirty="0">
                <a:latin typeface="Calibri"/>
                <a:cs typeface="Calibri"/>
              </a:rPr>
              <a:t>operation </a:t>
            </a:r>
            <a:r>
              <a:rPr sz="1800" spc="-5" dirty="0">
                <a:latin typeface="Calibri"/>
                <a:cs typeface="Calibri"/>
              </a:rPr>
              <a:t>will happen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each new  segement. This happens until </a:t>
            </a:r>
            <a:r>
              <a:rPr sz="1800" spc="-10" dirty="0">
                <a:latin typeface="Calibri"/>
                <a:cs typeface="Calibri"/>
              </a:rPr>
              <a:t>you get </a:t>
            </a:r>
            <a:r>
              <a:rPr sz="1800" spc="-5" dirty="0">
                <a:latin typeface="Calibri"/>
                <a:cs typeface="Calibri"/>
              </a:rPr>
              <a:t>down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one  element.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4" name="object 24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3741420"/>
            <a:ext cx="2726436" cy="1271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58996" y="3752088"/>
            <a:ext cx="3575304" cy="1271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452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6851" y="4288535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6768" y="4288535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464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4712970" y="1495044"/>
                </a:moveTo>
                <a:lnTo>
                  <a:pt x="3299079" y="1495044"/>
                </a:lnTo>
                <a:lnTo>
                  <a:pt x="3956811" y="1495552"/>
                </a:lnTo>
                <a:lnTo>
                  <a:pt x="4712970" y="1495044"/>
                </a:lnTo>
                <a:close/>
              </a:path>
              <a:path w="5655945" h="149606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56811" y="1495552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97934" y="1084326"/>
            <a:ext cx="472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1314" marR="5080" indent="-16192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pivots get </a:t>
            </a:r>
            <a:r>
              <a:rPr sz="1800" spc="-15" dirty="0">
                <a:latin typeface="Calibri"/>
                <a:cs typeface="Calibri"/>
              </a:rPr>
              <a:t>picked </a:t>
            </a:r>
            <a:r>
              <a:rPr sz="1800" spc="-10" dirty="0">
                <a:latin typeface="Calibri"/>
                <a:cs typeface="Calibri"/>
              </a:rPr>
              <a:t>accordingly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partition  dividers are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06014" y="2172671"/>
            <a:ext cx="119380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9271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(13)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9259" y="2166079"/>
            <a:ext cx="1388110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845" algn="ctr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(13)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2237994"/>
            <a:ext cx="2726055" cy="779145"/>
          </a:xfrm>
          <a:custGeom>
            <a:avLst/>
            <a:gdLst/>
            <a:ahLst/>
            <a:cxnLst/>
            <a:rect l="l" t="t" r="r" b="b"/>
            <a:pathLst>
              <a:path w="2726055" h="779144">
                <a:moveTo>
                  <a:pt x="0" y="0"/>
                </a:moveTo>
                <a:lnTo>
                  <a:pt x="2595880" y="0"/>
                </a:lnTo>
                <a:lnTo>
                  <a:pt x="2646378" y="10207"/>
                </a:lnTo>
                <a:lnTo>
                  <a:pt x="2687637" y="38036"/>
                </a:lnTo>
                <a:lnTo>
                  <a:pt x="2715466" y="79295"/>
                </a:lnTo>
                <a:lnTo>
                  <a:pt x="2725674" y="129793"/>
                </a:lnTo>
                <a:lnTo>
                  <a:pt x="2725674" y="648969"/>
                </a:lnTo>
                <a:lnTo>
                  <a:pt x="2715466" y="699468"/>
                </a:lnTo>
                <a:lnTo>
                  <a:pt x="2687637" y="740727"/>
                </a:lnTo>
                <a:lnTo>
                  <a:pt x="2646378" y="768556"/>
                </a:lnTo>
                <a:lnTo>
                  <a:pt x="2595880" y="778763"/>
                </a:lnTo>
                <a:lnTo>
                  <a:pt x="0" y="778763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94994" y="2254757"/>
            <a:ext cx="131445" cy="1524000"/>
          </a:xfrm>
          <a:custGeom>
            <a:avLst/>
            <a:gdLst/>
            <a:ahLst/>
            <a:cxnLst/>
            <a:rect l="l" t="t" r="r" b="b"/>
            <a:pathLst>
              <a:path w="131444" h="1524000">
                <a:moveTo>
                  <a:pt x="131064" y="1458467"/>
                </a:moveTo>
                <a:lnTo>
                  <a:pt x="0" y="1458467"/>
                </a:lnTo>
                <a:lnTo>
                  <a:pt x="65531" y="1523999"/>
                </a:lnTo>
                <a:lnTo>
                  <a:pt x="131064" y="1458467"/>
                </a:lnTo>
                <a:close/>
              </a:path>
              <a:path w="131444" h="1524000">
                <a:moveTo>
                  <a:pt x="98297" y="0"/>
                </a:moveTo>
                <a:lnTo>
                  <a:pt x="32765" y="0"/>
                </a:lnTo>
                <a:lnTo>
                  <a:pt x="32765" y="1458467"/>
                </a:lnTo>
                <a:lnTo>
                  <a:pt x="98297" y="1458467"/>
                </a:lnTo>
                <a:lnTo>
                  <a:pt x="98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94994" y="2254757"/>
            <a:ext cx="131445" cy="1524000"/>
          </a:xfrm>
          <a:custGeom>
            <a:avLst/>
            <a:gdLst/>
            <a:ahLst/>
            <a:cxnLst/>
            <a:rect l="l" t="t" r="r" b="b"/>
            <a:pathLst>
              <a:path w="131444" h="1524000">
                <a:moveTo>
                  <a:pt x="0" y="1458467"/>
                </a:moveTo>
                <a:lnTo>
                  <a:pt x="32765" y="1458467"/>
                </a:lnTo>
                <a:lnTo>
                  <a:pt x="32765" y="0"/>
                </a:lnTo>
                <a:lnTo>
                  <a:pt x="98297" y="0"/>
                </a:lnTo>
                <a:lnTo>
                  <a:pt x="98297" y="1458467"/>
                </a:lnTo>
                <a:lnTo>
                  <a:pt x="131064" y="1458467"/>
                </a:lnTo>
                <a:lnTo>
                  <a:pt x="65531" y="1523999"/>
                </a:lnTo>
                <a:lnTo>
                  <a:pt x="0" y="145846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4963" y="2330195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2197" y="2142954"/>
            <a:ext cx="93916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92075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(6)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8808" y="2136488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42595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(6)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35807" y="3113532"/>
            <a:ext cx="672083" cy="679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3741420"/>
            <a:ext cx="2726436" cy="1271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58996" y="3752088"/>
            <a:ext cx="3575304" cy="1271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452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6851" y="4288535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6768" y="4288535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464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4712970" y="1495044"/>
                </a:moveTo>
                <a:lnTo>
                  <a:pt x="3299079" y="1495044"/>
                </a:lnTo>
                <a:lnTo>
                  <a:pt x="3956811" y="1495552"/>
                </a:lnTo>
                <a:lnTo>
                  <a:pt x="4712970" y="1495044"/>
                </a:lnTo>
                <a:close/>
              </a:path>
              <a:path w="5655945" h="149606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56811" y="1495552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526663" y="672160"/>
            <a:ext cx="527113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However you’ll notice </a:t>
            </a:r>
            <a:r>
              <a:rPr sz="1800" spc="-5" dirty="0">
                <a:latin typeface="Calibri"/>
                <a:cs typeface="Calibri"/>
              </a:rPr>
              <a:t>that both our remaining  segements </a:t>
            </a:r>
            <a:r>
              <a:rPr sz="1800" spc="-10" dirty="0">
                <a:latin typeface="Calibri"/>
                <a:cs typeface="Calibri"/>
              </a:rPr>
              <a:t>just </a:t>
            </a:r>
            <a:r>
              <a:rPr sz="1800" spc="-5" dirty="0">
                <a:latin typeface="Calibri"/>
                <a:cs typeface="Calibri"/>
              </a:rPr>
              <a:t>happened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already be </a:t>
            </a:r>
            <a:r>
              <a:rPr sz="1800" spc="-10" dirty="0">
                <a:latin typeface="Calibri"/>
                <a:cs typeface="Calibri"/>
              </a:rPr>
              <a:t>sorted. </a:t>
            </a:r>
            <a:r>
              <a:rPr sz="1800" spc="-5" dirty="0">
                <a:latin typeface="Calibri"/>
                <a:cs typeface="Calibri"/>
              </a:rPr>
              <a:t>So  </a:t>
            </a:r>
            <a:r>
              <a:rPr sz="1800" dirty="0">
                <a:latin typeface="Calibri"/>
                <a:cs typeface="Calibri"/>
              </a:rPr>
              <a:t>though the </a:t>
            </a:r>
            <a:r>
              <a:rPr sz="1800" spc="-10" dirty="0">
                <a:latin typeface="Calibri"/>
                <a:cs typeface="Calibri"/>
              </a:rPr>
              <a:t>code </a:t>
            </a:r>
            <a:r>
              <a:rPr sz="1800" spc="-5" dirty="0">
                <a:latin typeface="Calibri"/>
                <a:cs typeface="Calibri"/>
              </a:rPr>
              <a:t>will </a:t>
            </a:r>
            <a:r>
              <a:rPr sz="1800" spc="-10" dirty="0">
                <a:latin typeface="Calibri"/>
                <a:cs typeface="Calibri"/>
              </a:rPr>
              <a:t>work </a:t>
            </a:r>
            <a:r>
              <a:rPr sz="1800" dirty="0">
                <a:latin typeface="Calibri"/>
                <a:cs typeface="Calibri"/>
              </a:rPr>
              <a:t>all the </a:t>
            </a:r>
            <a:r>
              <a:rPr sz="1800" spc="-25" dirty="0">
                <a:latin typeface="Calibri"/>
                <a:cs typeface="Calibri"/>
              </a:rPr>
              <a:t>way </a:t>
            </a:r>
            <a:r>
              <a:rPr sz="1800" spc="-10" dirty="0">
                <a:latin typeface="Calibri"/>
                <a:cs typeface="Calibri"/>
              </a:rPr>
              <a:t>through </a:t>
            </a:r>
            <a:r>
              <a:rPr sz="1800" spc="-5" dirty="0">
                <a:latin typeface="Calibri"/>
                <a:cs typeface="Calibri"/>
              </a:rPr>
              <a:t>and down  until </a:t>
            </a: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spc="-5" dirty="0">
                <a:latin typeface="Calibri"/>
                <a:cs typeface="Calibri"/>
              </a:rPr>
              <a:t>is only one element left, no </a:t>
            </a:r>
            <a:r>
              <a:rPr sz="1800" spc="-10" dirty="0">
                <a:latin typeface="Calibri"/>
                <a:cs typeface="Calibri"/>
              </a:rPr>
              <a:t>numbers </a:t>
            </a:r>
            <a:r>
              <a:rPr sz="1800" spc="-5" dirty="0">
                <a:latin typeface="Calibri"/>
                <a:cs typeface="Calibri"/>
              </a:rPr>
              <a:t>will  change </a:t>
            </a:r>
            <a:r>
              <a:rPr sz="1800" spc="-10" dirty="0">
                <a:latin typeface="Calibri"/>
                <a:cs typeface="Calibri"/>
              </a:rPr>
              <a:t>order from here </a:t>
            </a:r>
            <a:r>
              <a:rPr sz="1800" spc="-5" dirty="0">
                <a:latin typeface="Calibri"/>
                <a:cs typeface="Calibri"/>
              </a:rPr>
              <a:t>on so </a:t>
            </a:r>
            <a:r>
              <a:rPr sz="1800" dirty="0">
                <a:latin typeface="Calibri"/>
                <a:cs typeface="Calibri"/>
              </a:rPr>
              <a:t>this ends </a:t>
            </a: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06014" y="2172671"/>
            <a:ext cx="119380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9271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(13)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9259" y="2166079"/>
            <a:ext cx="1388110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845" algn="ctr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(13)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2237994"/>
            <a:ext cx="2726055" cy="779145"/>
          </a:xfrm>
          <a:custGeom>
            <a:avLst/>
            <a:gdLst/>
            <a:ahLst/>
            <a:cxnLst/>
            <a:rect l="l" t="t" r="r" b="b"/>
            <a:pathLst>
              <a:path w="2726055" h="779144">
                <a:moveTo>
                  <a:pt x="0" y="0"/>
                </a:moveTo>
                <a:lnTo>
                  <a:pt x="2595880" y="0"/>
                </a:lnTo>
                <a:lnTo>
                  <a:pt x="2646378" y="10207"/>
                </a:lnTo>
                <a:lnTo>
                  <a:pt x="2687637" y="38036"/>
                </a:lnTo>
                <a:lnTo>
                  <a:pt x="2715466" y="79295"/>
                </a:lnTo>
                <a:lnTo>
                  <a:pt x="2725674" y="129793"/>
                </a:lnTo>
                <a:lnTo>
                  <a:pt x="2725674" y="648969"/>
                </a:lnTo>
                <a:lnTo>
                  <a:pt x="2715466" y="699468"/>
                </a:lnTo>
                <a:lnTo>
                  <a:pt x="2687637" y="740727"/>
                </a:lnTo>
                <a:lnTo>
                  <a:pt x="2646378" y="768556"/>
                </a:lnTo>
                <a:lnTo>
                  <a:pt x="2595880" y="778763"/>
                </a:lnTo>
                <a:lnTo>
                  <a:pt x="0" y="778763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94994" y="2254757"/>
            <a:ext cx="131445" cy="1524000"/>
          </a:xfrm>
          <a:custGeom>
            <a:avLst/>
            <a:gdLst/>
            <a:ahLst/>
            <a:cxnLst/>
            <a:rect l="l" t="t" r="r" b="b"/>
            <a:pathLst>
              <a:path w="131444" h="1524000">
                <a:moveTo>
                  <a:pt x="131064" y="1458467"/>
                </a:moveTo>
                <a:lnTo>
                  <a:pt x="0" y="1458467"/>
                </a:lnTo>
                <a:lnTo>
                  <a:pt x="65531" y="1523999"/>
                </a:lnTo>
                <a:lnTo>
                  <a:pt x="131064" y="1458467"/>
                </a:lnTo>
                <a:close/>
              </a:path>
              <a:path w="131444" h="1524000">
                <a:moveTo>
                  <a:pt x="98297" y="0"/>
                </a:moveTo>
                <a:lnTo>
                  <a:pt x="32765" y="0"/>
                </a:lnTo>
                <a:lnTo>
                  <a:pt x="32765" y="1458467"/>
                </a:lnTo>
                <a:lnTo>
                  <a:pt x="98297" y="1458467"/>
                </a:lnTo>
                <a:lnTo>
                  <a:pt x="98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94994" y="2254757"/>
            <a:ext cx="131445" cy="1524000"/>
          </a:xfrm>
          <a:custGeom>
            <a:avLst/>
            <a:gdLst/>
            <a:ahLst/>
            <a:cxnLst/>
            <a:rect l="l" t="t" r="r" b="b"/>
            <a:pathLst>
              <a:path w="131444" h="1524000">
                <a:moveTo>
                  <a:pt x="0" y="1458467"/>
                </a:moveTo>
                <a:lnTo>
                  <a:pt x="32765" y="1458467"/>
                </a:lnTo>
                <a:lnTo>
                  <a:pt x="32765" y="0"/>
                </a:lnTo>
                <a:lnTo>
                  <a:pt x="98297" y="0"/>
                </a:lnTo>
                <a:lnTo>
                  <a:pt x="98297" y="1458467"/>
                </a:lnTo>
                <a:lnTo>
                  <a:pt x="131064" y="1458467"/>
                </a:lnTo>
                <a:lnTo>
                  <a:pt x="65531" y="1523999"/>
                </a:lnTo>
                <a:lnTo>
                  <a:pt x="0" y="145846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4963" y="2330195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2197" y="2142954"/>
            <a:ext cx="93916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92075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(6)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8808" y="2136488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42595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(6)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35807" y="3113532"/>
            <a:ext cx="672083" cy="679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31875" y="171450"/>
            <a:ext cx="5978525" cy="514350"/>
          </a:xfrm>
        </p:spPr>
        <p:txBody>
          <a:bodyPr>
            <a:normAutofit/>
          </a:bodyPr>
          <a:lstStyle/>
          <a:p>
            <a:pPr algn="ctr"/>
            <a:r>
              <a:rPr lang="en-US" altLang="en-US" u="sng" dirty="0"/>
              <a:t>Complexity of Partition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577975"/>
            <a:ext cx="8229600" cy="1661993"/>
          </a:xfrm>
        </p:spPr>
        <p:txBody>
          <a:bodyPr/>
          <a:lstStyle/>
          <a:p>
            <a:r>
              <a:rPr lang="en-US" altLang="en-US" sz="3600" dirty="0" err="1">
                <a:solidFill>
                  <a:schemeClr val="tx2"/>
                </a:solidFill>
                <a:sym typeface="Symbol" panose="05050102010706020507" pitchFamily="18" charset="2"/>
              </a:rPr>
              <a:t>PartitionTime</a:t>
            </a:r>
            <a:r>
              <a:rPr lang="en-US" altLang="en-US" sz="3600" dirty="0">
                <a:solidFill>
                  <a:schemeClr val="tx2"/>
                </a:solidFill>
                <a:sym typeface="Symbol" panose="05050102010706020507" pitchFamily="18" charset="2"/>
              </a:rPr>
              <a:t>(</a:t>
            </a:r>
            <a:r>
              <a:rPr lang="en-US" altLang="en-US" sz="3600" i="1" dirty="0">
                <a:solidFill>
                  <a:schemeClr val="tx2"/>
                </a:solidFill>
                <a:sym typeface="Symbol" panose="05050102010706020507" pitchFamily="18" charset="2"/>
              </a:rPr>
              <a:t>n</a:t>
            </a:r>
            <a:r>
              <a:rPr lang="en-US" altLang="en-US" sz="3600" dirty="0">
                <a:solidFill>
                  <a:schemeClr val="tx2"/>
                </a:solidFill>
                <a:sym typeface="Symbol" panose="05050102010706020507" pitchFamily="18" charset="2"/>
              </a:rPr>
              <a:t>)</a:t>
            </a:r>
            <a:r>
              <a:rPr lang="en-US" altLang="en-US" sz="3600" dirty="0">
                <a:sym typeface="Symbol" panose="05050102010706020507" pitchFamily="18" charset="2"/>
              </a:rPr>
              <a:t> is given by the number of iterations in the </a:t>
            </a:r>
            <a:r>
              <a:rPr lang="en-US" altLang="en-US" sz="3600" i="1" dirty="0">
                <a:sym typeface="Symbol" panose="05050102010706020507" pitchFamily="18" charset="2"/>
              </a:rPr>
              <a:t>for</a:t>
            </a:r>
            <a:r>
              <a:rPr lang="en-US" altLang="en-US" sz="3600" dirty="0">
                <a:sym typeface="Symbol" panose="05050102010706020507" pitchFamily="18" charset="2"/>
              </a:rPr>
              <a:t> loop.</a:t>
            </a:r>
          </a:p>
          <a:p>
            <a:r>
              <a:rPr lang="en-US" altLang="en-US" sz="3600" dirty="0">
                <a:solidFill>
                  <a:srgbClr val="CC3300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3600" i="1" dirty="0">
                <a:solidFill>
                  <a:srgbClr val="CC33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3600" dirty="0">
                <a:solidFill>
                  <a:srgbClr val="CC3300"/>
                </a:solidFill>
                <a:sym typeface="Symbol" panose="05050102010706020507" pitchFamily="18" charset="2"/>
              </a:rPr>
              <a:t>) </a:t>
            </a:r>
            <a:r>
              <a:rPr lang="en-US" altLang="en-US" sz="3600" dirty="0">
                <a:sym typeface="Symbol" panose="05050102010706020507" pitchFamily="18" charset="2"/>
              </a:rPr>
              <a:t>:  </a:t>
            </a:r>
            <a:r>
              <a:rPr lang="en-US" altLang="en-US" sz="3600" i="1" dirty="0">
                <a:sym typeface="Symbol" panose="05050102010706020507" pitchFamily="18" charset="2"/>
              </a:rPr>
              <a:t>n </a:t>
            </a:r>
            <a:r>
              <a:rPr lang="en-US" altLang="en-US" sz="3600" dirty="0">
                <a:sym typeface="Symbol" panose="05050102010706020507" pitchFamily="18" charset="2"/>
              </a:rPr>
              <a:t>= </a:t>
            </a:r>
            <a:r>
              <a:rPr lang="en-US" altLang="en-US" sz="3600" i="1" dirty="0">
                <a:sym typeface="Symbol" panose="05050102010706020507" pitchFamily="18" charset="2"/>
              </a:rPr>
              <a:t>r</a:t>
            </a:r>
            <a:r>
              <a:rPr lang="en-US" altLang="en-US" sz="3600" dirty="0">
                <a:sym typeface="Symbol" panose="05050102010706020507" pitchFamily="18" charset="2"/>
              </a:rPr>
              <a:t> – </a:t>
            </a:r>
            <a:r>
              <a:rPr lang="en-US" altLang="en-US" sz="3600" i="1" dirty="0">
                <a:sym typeface="Symbol" panose="05050102010706020507" pitchFamily="18" charset="2"/>
              </a:rPr>
              <a:t>p</a:t>
            </a:r>
            <a:r>
              <a:rPr lang="en-US" altLang="en-US" sz="3600" dirty="0">
                <a:sym typeface="Symbol" panose="05050102010706020507" pitchFamily="18" charset="2"/>
              </a:rPr>
              <a:t> + 1.</a:t>
            </a:r>
            <a:endParaRPr lang="en-US" altLang="en-US" sz="360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495800" y="3352800"/>
            <a:ext cx="4014788" cy="2862263"/>
          </a:xfrm>
          <a:prstGeom prst="rect">
            <a:avLst/>
          </a:prstGeom>
          <a:solidFill>
            <a:srgbClr val="CCEC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kumimoji="0" lang="en-US" altLang="en-US" sz="2000" dirty="0"/>
              <a:t>PARTITION(A, p, r)</a:t>
            </a:r>
          </a:p>
          <a:p>
            <a:pPr marL="457200" indent="-457200">
              <a:buFontTx/>
              <a:buAutoNum type="arabicPeriod"/>
              <a:defRPr/>
            </a:pPr>
            <a:r>
              <a:rPr kumimoji="0" lang="en-US" altLang="en-US" sz="2000" dirty="0"/>
              <a:t>x = A[r]</a:t>
            </a:r>
          </a:p>
          <a:p>
            <a:pPr>
              <a:defRPr/>
            </a:pPr>
            <a:r>
              <a:rPr kumimoji="0" lang="en-US" altLang="en-US" sz="2000" dirty="0"/>
              <a:t>2.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= p-1</a:t>
            </a:r>
          </a:p>
          <a:p>
            <a:pPr>
              <a:defRPr/>
            </a:pPr>
            <a:r>
              <a:rPr kumimoji="0" lang="en-US" altLang="en-US" sz="2000" dirty="0"/>
              <a:t>3.	</a:t>
            </a:r>
            <a:r>
              <a:rPr kumimoji="0" lang="en-US" altLang="en-US" sz="2000" b="1" dirty="0"/>
              <a:t>for</a:t>
            </a:r>
            <a:r>
              <a:rPr kumimoji="0" lang="en-US" altLang="en-US" sz="2000" dirty="0"/>
              <a:t> j = p </a:t>
            </a:r>
            <a:r>
              <a:rPr kumimoji="0" lang="en-US" altLang="en-US" sz="2000" b="1" dirty="0"/>
              <a:t>to </a:t>
            </a:r>
            <a:r>
              <a:rPr kumimoji="0" lang="en-US" altLang="en-US" sz="2000" dirty="0"/>
              <a:t>r – 1 </a:t>
            </a:r>
          </a:p>
          <a:p>
            <a:pPr>
              <a:defRPr/>
            </a:pPr>
            <a:r>
              <a:rPr kumimoji="0" lang="en-US" altLang="en-US" sz="2000" dirty="0"/>
              <a:t>4.		</a:t>
            </a:r>
            <a:r>
              <a:rPr kumimoji="0" lang="en-US" altLang="en-US" sz="2000" b="1" dirty="0">
                <a:sym typeface="Symbol" pitchFamily="18" charset="2"/>
              </a:rPr>
              <a:t>if</a:t>
            </a:r>
            <a:r>
              <a:rPr kumimoji="0" lang="en-US" altLang="en-US" sz="2000" dirty="0">
                <a:sym typeface="Symbol" pitchFamily="18" charset="2"/>
              </a:rPr>
              <a:t> A[j]    x 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5.			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= 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6.               	exchange A[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] with A[j]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7.    exchange  A[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+ 1] with A[r]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8.	</a:t>
            </a:r>
            <a:r>
              <a:rPr kumimoji="0" lang="en-US" altLang="en-US" sz="2000" b="1" dirty="0">
                <a:sym typeface="Symbol" pitchFamily="18" charset="2"/>
              </a:rPr>
              <a:t>return</a:t>
            </a:r>
            <a:r>
              <a:rPr kumimoji="0" lang="en-US" altLang="en-US" sz="2000" dirty="0">
                <a:sym typeface="Symbol" pitchFamily="18" charset="2"/>
              </a:rPr>
              <a:t> 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</a:t>
            </a:r>
          </a:p>
        </p:txBody>
      </p:sp>
    </p:spTree>
    <p:extLst>
      <p:ext uri="{BB962C8B-B14F-4D97-AF65-F5344CB8AC3E}">
        <p14:creationId xmlns:p14="http://schemas.microsoft.com/office/powerpoint/2010/main" val="2062704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955675" y="323850"/>
            <a:ext cx="5978525" cy="51435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Algorithm Performance</a:t>
            </a:r>
          </a:p>
        </p:txBody>
      </p:sp>
      <p:sp>
        <p:nvSpPr>
          <p:cNvPr id="410627" name="Rectangle 1027"/>
          <p:cNvSpPr>
            <a:spLocks noGrp="1" noChangeArrowheads="1"/>
          </p:cNvSpPr>
          <p:nvPr>
            <p:ph idx="4294967295"/>
          </p:nvPr>
        </p:nvSpPr>
        <p:spPr>
          <a:xfrm>
            <a:off x="304800" y="1577975"/>
            <a:ext cx="8229600" cy="452596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spcAft>
                <a:spcPct val="20000"/>
              </a:spcAft>
              <a:buFont typeface="Wingdings" pitchFamily="2" charset="2"/>
              <a:buNone/>
              <a:defRPr/>
            </a:pPr>
            <a:r>
              <a:rPr lang="en-US" altLang="en-US" sz="3200" dirty="0"/>
              <a:t>Running time of quicksort depends on whether the partitioning is balanced or not.</a:t>
            </a:r>
          </a:p>
          <a:p>
            <a:pPr algn="just">
              <a:lnSpc>
                <a:spcPct val="90000"/>
              </a:lnSpc>
              <a:spcAft>
                <a:spcPct val="20000"/>
              </a:spcAft>
              <a:buFont typeface="Wingdings" pitchFamily="2" charset="2"/>
              <a:buNone/>
              <a:defRPr/>
            </a:pPr>
            <a:endParaRPr lang="en-US" altLang="en-US" dirty="0"/>
          </a:p>
          <a:p>
            <a:pPr marL="914400" lvl="1" indent="-457200" algn="just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Char char="q"/>
              <a:defRPr/>
            </a:pP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2"/>
                </a:solidFill>
              </a:rPr>
              <a:t>Best case:</a:t>
            </a:r>
            <a:r>
              <a:rPr lang="en-US" altLang="en-US" sz="2800" dirty="0"/>
              <a:t> occurs when the recursion tree is always balanced</a:t>
            </a:r>
          </a:p>
          <a:p>
            <a:pPr marL="914400" lvl="1" indent="-457200" algn="just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Char char="q"/>
              <a:defRPr/>
            </a:pP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2"/>
                </a:solidFill>
              </a:rPr>
              <a:t>Worst case:</a:t>
            </a:r>
            <a:r>
              <a:rPr lang="en-US" altLang="en-US" sz="2800" dirty="0"/>
              <a:t> occurs when the recursion tree is always unbalanced</a:t>
            </a:r>
          </a:p>
          <a:p>
            <a:pPr marL="914400" lvl="1" indent="-457200" algn="just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Char char="q"/>
              <a:defRPr/>
            </a:pP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2"/>
                </a:solidFill>
              </a:rPr>
              <a:t>Average case: </a:t>
            </a:r>
            <a:r>
              <a:rPr lang="en-US" altLang="en-US" sz="2800" dirty="0"/>
              <a:t>computed by using expected value of running time assuming that the pivot elements are randomly distributed</a:t>
            </a:r>
          </a:p>
        </p:txBody>
      </p:sp>
    </p:spTree>
    <p:extLst>
      <p:ext uri="{BB962C8B-B14F-4D97-AF65-F5344CB8AC3E}">
        <p14:creationId xmlns:p14="http://schemas.microsoft.com/office/powerpoint/2010/main" val="713323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84275" y="533400"/>
            <a:ext cx="5978525" cy="51435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Best-case Partitioning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577975"/>
            <a:ext cx="8229600" cy="5047536"/>
          </a:xfrm>
        </p:spPr>
        <p:txBody>
          <a:bodyPr/>
          <a:lstStyle/>
          <a:p>
            <a:pPr algn="just">
              <a:spcBef>
                <a:spcPts val="600"/>
              </a:spcBef>
            </a:pPr>
            <a:r>
              <a:rPr lang="en-US" altLang="en-US" sz="2800" dirty="0"/>
              <a:t>Size of each subproblem </a:t>
            </a:r>
            <a:r>
              <a:rPr lang="en-US" altLang="en-US" sz="2800" dirty="0">
                <a:sym typeface="Symbol" panose="05050102010706020507" pitchFamily="18" charset="2"/>
              </a:rPr>
              <a:t> </a:t>
            </a:r>
            <a:r>
              <a:rPr lang="en-US" altLang="en-US" sz="2800" i="1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/2.</a:t>
            </a:r>
          </a:p>
          <a:p>
            <a:pPr lvl="1" algn="just">
              <a:spcBef>
                <a:spcPts val="600"/>
              </a:spcBef>
            </a:pPr>
            <a:r>
              <a:rPr lang="en-US" altLang="en-US" sz="2800" dirty="0"/>
              <a:t>One of the subproblems is of size </a:t>
            </a:r>
            <a:r>
              <a:rPr lang="en-US" altLang="en-US" sz="2800" dirty="0">
                <a:sym typeface="Symbol" panose="05050102010706020507" pitchFamily="18" charset="2"/>
              </a:rPr>
              <a:t></a:t>
            </a:r>
            <a:r>
              <a:rPr lang="en-US" altLang="en-US" sz="2800" i="1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/2</a:t>
            </a:r>
          </a:p>
          <a:p>
            <a:pPr lvl="1" algn="just">
              <a:spcBef>
                <a:spcPts val="600"/>
              </a:spcBef>
            </a:pPr>
            <a:r>
              <a:rPr lang="en-US" altLang="en-US" sz="2800" dirty="0">
                <a:sym typeface="Symbol" panose="05050102010706020507" pitchFamily="18" charset="2"/>
              </a:rPr>
              <a:t>The other is of size </a:t>
            </a:r>
            <a:r>
              <a:rPr lang="en-US" altLang="en-US" sz="2800" i="1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/2 1. </a:t>
            </a:r>
          </a:p>
          <a:p>
            <a:pPr lvl="1" algn="just">
              <a:spcBef>
                <a:spcPts val="600"/>
              </a:spcBef>
            </a:pPr>
            <a:r>
              <a:rPr lang="en-US" altLang="en-US" sz="2800" dirty="0">
                <a:sym typeface="Symbol" panose="05050102010706020507" pitchFamily="18" charset="2"/>
              </a:rPr>
              <a:t>Called a 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sz="2800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/2: (</a:t>
            </a:r>
            <a:r>
              <a:rPr lang="en-US" altLang="en-US" sz="2800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/2 1) split</a:t>
            </a:r>
          </a:p>
          <a:p>
            <a:pPr algn="just">
              <a:spcBef>
                <a:spcPts val="600"/>
              </a:spcBef>
            </a:pPr>
            <a:r>
              <a:rPr lang="en-US" altLang="en-US" sz="2800" dirty="0"/>
              <a:t>Recurrence for running time</a:t>
            </a:r>
          </a:p>
          <a:p>
            <a:pPr lvl="1" algn="just">
              <a:spcBef>
                <a:spcPts val="600"/>
              </a:spcBef>
            </a:pPr>
            <a:r>
              <a:rPr lang="en-US" altLang="en-US" sz="3600" i="1" dirty="0">
                <a:solidFill>
                  <a:schemeClr val="tx2"/>
                </a:solidFill>
              </a:rPr>
              <a:t>T</a:t>
            </a:r>
            <a:r>
              <a:rPr lang="en-US" altLang="en-US" sz="3600" dirty="0">
                <a:solidFill>
                  <a:schemeClr val="tx2"/>
                </a:solidFill>
              </a:rPr>
              <a:t>(</a:t>
            </a:r>
            <a:r>
              <a:rPr lang="en-US" altLang="en-US" sz="3600" i="1" dirty="0">
                <a:solidFill>
                  <a:schemeClr val="tx2"/>
                </a:solidFill>
              </a:rPr>
              <a:t>n</a:t>
            </a:r>
            <a:r>
              <a:rPr lang="en-US" altLang="en-US" sz="3600" dirty="0">
                <a:solidFill>
                  <a:schemeClr val="tx2"/>
                </a:solidFill>
              </a:rPr>
              <a:t>) </a:t>
            </a:r>
            <a:r>
              <a:rPr lang="en-US" altLang="en-US" sz="3600" dirty="0">
                <a:solidFill>
                  <a:schemeClr val="tx2"/>
                </a:solidFill>
                <a:sym typeface="Symbol" panose="05050102010706020507" pitchFamily="18" charset="2"/>
              </a:rPr>
              <a:t></a:t>
            </a:r>
            <a:r>
              <a:rPr lang="en-US" altLang="en-US" sz="3600" dirty="0">
                <a:solidFill>
                  <a:schemeClr val="tx2"/>
                </a:solidFill>
              </a:rPr>
              <a:t> 2</a:t>
            </a:r>
            <a:r>
              <a:rPr lang="en-US" altLang="en-US" sz="3600" i="1" dirty="0">
                <a:solidFill>
                  <a:schemeClr val="tx2"/>
                </a:solidFill>
              </a:rPr>
              <a:t>T</a:t>
            </a:r>
            <a:r>
              <a:rPr lang="en-US" altLang="en-US" sz="3600" dirty="0">
                <a:solidFill>
                  <a:schemeClr val="tx2"/>
                </a:solidFill>
              </a:rPr>
              <a:t>(</a:t>
            </a:r>
            <a:r>
              <a:rPr lang="en-US" altLang="en-US" sz="3600" i="1" dirty="0">
                <a:solidFill>
                  <a:schemeClr val="tx2"/>
                </a:solidFill>
              </a:rPr>
              <a:t>n</a:t>
            </a:r>
            <a:r>
              <a:rPr lang="en-US" altLang="en-US" sz="3600" dirty="0">
                <a:solidFill>
                  <a:schemeClr val="tx2"/>
                </a:solidFill>
              </a:rPr>
              <a:t>/2) + </a:t>
            </a:r>
            <a:r>
              <a:rPr lang="en-US" altLang="en-US" sz="3600" dirty="0" err="1">
                <a:solidFill>
                  <a:schemeClr val="tx2"/>
                </a:solidFill>
              </a:rPr>
              <a:t>PartitionTime</a:t>
            </a:r>
            <a:r>
              <a:rPr lang="en-US" altLang="en-US" sz="3600" dirty="0">
                <a:solidFill>
                  <a:schemeClr val="tx2"/>
                </a:solidFill>
              </a:rPr>
              <a:t>(</a:t>
            </a:r>
            <a:r>
              <a:rPr lang="en-US" altLang="en-US" sz="3600" i="1" dirty="0">
                <a:solidFill>
                  <a:schemeClr val="tx2"/>
                </a:solidFill>
              </a:rPr>
              <a:t>n</a:t>
            </a:r>
            <a:r>
              <a:rPr lang="en-US" altLang="en-US" sz="3600" dirty="0">
                <a:solidFill>
                  <a:schemeClr val="tx2"/>
                </a:solidFill>
              </a:rPr>
              <a:t>)</a:t>
            </a:r>
            <a:endParaRPr lang="en-US" altLang="en-US" sz="3200" dirty="0">
              <a:solidFill>
                <a:schemeClr val="tx2"/>
              </a:solidFill>
            </a:endParaRPr>
          </a:p>
          <a:p>
            <a:pPr lvl="1" algn="just">
              <a:spcBef>
                <a:spcPts val="600"/>
              </a:spcBef>
              <a:buFontTx/>
              <a:buNone/>
            </a:pPr>
            <a:r>
              <a:rPr lang="en-US" altLang="en-US" sz="3600" dirty="0">
                <a:solidFill>
                  <a:schemeClr val="tx2"/>
                </a:solidFill>
              </a:rPr>
              <a:t>            = 2</a:t>
            </a:r>
            <a:r>
              <a:rPr lang="en-US" altLang="en-US" sz="3600" i="1" dirty="0">
                <a:solidFill>
                  <a:schemeClr val="tx2"/>
                </a:solidFill>
              </a:rPr>
              <a:t>T</a:t>
            </a:r>
            <a:r>
              <a:rPr lang="en-US" altLang="en-US" sz="3600" dirty="0">
                <a:solidFill>
                  <a:schemeClr val="tx2"/>
                </a:solidFill>
              </a:rPr>
              <a:t>(</a:t>
            </a:r>
            <a:r>
              <a:rPr lang="en-US" altLang="en-US" sz="3600" i="1" dirty="0">
                <a:solidFill>
                  <a:schemeClr val="tx2"/>
                </a:solidFill>
              </a:rPr>
              <a:t>n</a:t>
            </a:r>
            <a:r>
              <a:rPr lang="en-US" altLang="en-US" sz="3600" dirty="0">
                <a:solidFill>
                  <a:schemeClr val="tx2"/>
                </a:solidFill>
              </a:rPr>
              <a:t>/2) + </a:t>
            </a:r>
            <a:r>
              <a:rPr lang="en-US" altLang="en-US" sz="3600" dirty="0">
                <a:solidFill>
                  <a:schemeClr val="tx2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3600" i="1" dirty="0">
                <a:solidFill>
                  <a:schemeClr val="tx2"/>
                </a:solidFill>
                <a:sym typeface="Symbol" panose="05050102010706020507" pitchFamily="18" charset="2"/>
              </a:rPr>
              <a:t>n</a:t>
            </a:r>
            <a:r>
              <a:rPr lang="en-US" altLang="en-US" sz="3600" dirty="0">
                <a:solidFill>
                  <a:schemeClr val="tx2"/>
                </a:solidFill>
                <a:sym typeface="Symbol" panose="05050102010706020507" pitchFamily="18" charset="2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b="1" i="1" dirty="0">
                <a:solidFill>
                  <a:srgbClr val="CC3300"/>
                </a:solidFill>
                <a:sym typeface="Symbol" panose="05050102010706020507" pitchFamily="18" charset="2"/>
              </a:rPr>
              <a:t>T</a:t>
            </a:r>
            <a:r>
              <a:rPr lang="en-US" altLang="en-US" sz="4000" b="1" dirty="0">
                <a:solidFill>
                  <a:srgbClr val="CC3300"/>
                </a:solidFill>
                <a:sym typeface="Symbol" panose="05050102010706020507" pitchFamily="18" charset="2"/>
              </a:rPr>
              <a:t>(</a:t>
            </a:r>
            <a:r>
              <a:rPr lang="en-US" altLang="en-US" sz="4000" b="1" i="1" dirty="0">
                <a:solidFill>
                  <a:srgbClr val="CC33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4000" b="1" dirty="0">
                <a:solidFill>
                  <a:srgbClr val="CC3300"/>
                </a:solidFill>
                <a:sym typeface="Symbol" panose="05050102010706020507" pitchFamily="18" charset="2"/>
              </a:rPr>
              <a:t>) = (</a:t>
            </a:r>
            <a:r>
              <a:rPr lang="en-US" altLang="en-US" sz="4000" b="1" i="1" dirty="0">
                <a:solidFill>
                  <a:srgbClr val="CC3300"/>
                </a:solidFill>
                <a:sym typeface="Symbol" panose="05050102010706020507" pitchFamily="18" charset="2"/>
              </a:rPr>
              <a:t>n </a:t>
            </a:r>
            <a:r>
              <a:rPr lang="en-US" altLang="en-US" sz="4000" b="1" dirty="0" err="1">
                <a:solidFill>
                  <a:srgbClr val="CC3300"/>
                </a:solidFill>
                <a:sym typeface="Symbol" panose="05050102010706020507" pitchFamily="18" charset="2"/>
              </a:rPr>
              <a:t>lg</a:t>
            </a:r>
            <a:r>
              <a:rPr lang="en-US" altLang="en-US" sz="4000" b="1" dirty="0">
                <a:solidFill>
                  <a:srgbClr val="CC33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4000" b="1" i="1" dirty="0">
                <a:solidFill>
                  <a:srgbClr val="CC33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4000" b="1" dirty="0">
                <a:solidFill>
                  <a:srgbClr val="CC3300"/>
                </a:solidFill>
                <a:sym typeface="Symbol" panose="05050102010706020507" pitchFamily="18" charset="2"/>
              </a:rPr>
              <a:t>)</a:t>
            </a:r>
          </a:p>
          <a:p>
            <a:pPr lvl="1" algn="just">
              <a:spcBef>
                <a:spcPts val="600"/>
              </a:spcBef>
            </a:pPr>
            <a:endParaRPr lang="en-US" altLang="en-US" sz="3600" b="1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01792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87375" y="400050"/>
            <a:ext cx="7337425" cy="514350"/>
          </a:xfrm>
        </p:spPr>
        <p:txBody>
          <a:bodyPr>
            <a:normAutofit fontScale="90000"/>
          </a:bodyPr>
          <a:lstStyle/>
          <a:p>
            <a:r>
              <a:rPr lang="en-US" altLang="en-US" u="sng" dirty="0"/>
              <a:t>Recursion Tree for Best-case Partition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001713" y="1546225"/>
            <a:ext cx="3432175" cy="4830763"/>
            <a:chOff x="659" y="978"/>
            <a:chExt cx="2162" cy="3043"/>
          </a:xfrm>
        </p:grpSpPr>
        <p:sp>
          <p:nvSpPr>
            <p:cNvPr id="13329" name="Text Box 16"/>
            <p:cNvSpPr txBox="1">
              <a:spLocks noChangeArrowheads="1"/>
            </p:cNvSpPr>
            <p:nvPr/>
          </p:nvSpPr>
          <p:spPr bwMode="auto">
            <a:xfrm>
              <a:off x="1596" y="9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</a:t>
              </a:r>
            </a:p>
          </p:txBody>
        </p:sp>
        <p:sp>
          <p:nvSpPr>
            <p:cNvPr id="13330" name="Line 17"/>
            <p:cNvSpPr>
              <a:spLocks noChangeShapeType="1"/>
            </p:cNvSpPr>
            <p:nvPr/>
          </p:nvSpPr>
          <p:spPr bwMode="auto">
            <a:xfrm flipH="1">
              <a:off x="1448" y="1258"/>
              <a:ext cx="263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1" name="Line 18"/>
            <p:cNvSpPr>
              <a:spLocks noChangeShapeType="1"/>
            </p:cNvSpPr>
            <p:nvPr/>
          </p:nvSpPr>
          <p:spPr bwMode="auto">
            <a:xfrm>
              <a:off x="1786" y="1248"/>
              <a:ext cx="293" cy="5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Text Box 19"/>
            <p:cNvSpPr txBox="1">
              <a:spLocks noChangeArrowheads="1"/>
            </p:cNvSpPr>
            <p:nvPr/>
          </p:nvSpPr>
          <p:spPr bwMode="auto">
            <a:xfrm>
              <a:off x="1182" y="1913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cn/2</a:t>
              </a:r>
            </a:p>
          </p:txBody>
        </p:sp>
        <p:sp>
          <p:nvSpPr>
            <p:cNvPr id="13333" name="Text Box 20"/>
            <p:cNvSpPr txBox="1">
              <a:spLocks noChangeArrowheads="1"/>
            </p:cNvSpPr>
            <p:nvPr/>
          </p:nvSpPr>
          <p:spPr bwMode="auto">
            <a:xfrm>
              <a:off x="1947" y="1894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cn/2</a:t>
              </a:r>
            </a:p>
          </p:txBody>
        </p:sp>
        <p:sp>
          <p:nvSpPr>
            <p:cNvPr id="13334" name="Line 21"/>
            <p:cNvSpPr>
              <a:spLocks noChangeShapeType="1"/>
            </p:cNvSpPr>
            <p:nvPr/>
          </p:nvSpPr>
          <p:spPr bwMode="auto">
            <a:xfrm flipH="1">
              <a:off x="1076" y="2191"/>
              <a:ext cx="274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5" name="Line 22"/>
            <p:cNvSpPr>
              <a:spLocks noChangeShapeType="1"/>
            </p:cNvSpPr>
            <p:nvPr/>
          </p:nvSpPr>
          <p:spPr bwMode="auto">
            <a:xfrm>
              <a:off x="1397" y="2191"/>
              <a:ext cx="265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6" name="Line 23"/>
            <p:cNvSpPr>
              <a:spLocks noChangeShapeType="1"/>
            </p:cNvSpPr>
            <p:nvPr/>
          </p:nvSpPr>
          <p:spPr bwMode="auto">
            <a:xfrm flipH="1">
              <a:off x="1918" y="2202"/>
              <a:ext cx="274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7" name="Line 24"/>
            <p:cNvSpPr>
              <a:spLocks noChangeShapeType="1"/>
            </p:cNvSpPr>
            <p:nvPr/>
          </p:nvSpPr>
          <p:spPr bwMode="auto">
            <a:xfrm>
              <a:off x="2239" y="2202"/>
              <a:ext cx="265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8" name="Text Box 25"/>
            <p:cNvSpPr txBox="1">
              <a:spLocks noChangeArrowheads="1"/>
            </p:cNvSpPr>
            <p:nvPr/>
          </p:nvSpPr>
          <p:spPr bwMode="auto">
            <a:xfrm>
              <a:off x="746" y="2700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cn/4</a:t>
              </a:r>
            </a:p>
          </p:txBody>
        </p:sp>
        <p:sp>
          <p:nvSpPr>
            <p:cNvPr id="13339" name="Text Box 26"/>
            <p:cNvSpPr txBox="1">
              <a:spLocks noChangeArrowheads="1"/>
            </p:cNvSpPr>
            <p:nvPr/>
          </p:nvSpPr>
          <p:spPr bwMode="auto">
            <a:xfrm>
              <a:off x="1399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cn/4</a:t>
              </a:r>
            </a:p>
          </p:txBody>
        </p:sp>
        <p:sp>
          <p:nvSpPr>
            <p:cNvPr id="13340" name="Text Box 27"/>
            <p:cNvSpPr txBox="1">
              <a:spLocks noChangeArrowheads="1"/>
            </p:cNvSpPr>
            <p:nvPr/>
          </p:nvSpPr>
          <p:spPr bwMode="auto">
            <a:xfrm>
              <a:off x="1786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cn/4</a:t>
              </a:r>
            </a:p>
          </p:txBody>
        </p:sp>
        <p:sp>
          <p:nvSpPr>
            <p:cNvPr id="13341" name="Text Box 28"/>
            <p:cNvSpPr txBox="1">
              <a:spLocks noChangeArrowheads="1"/>
            </p:cNvSpPr>
            <p:nvPr/>
          </p:nvSpPr>
          <p:spPr bwMode="auto">
            <a:xfrm>
              <a:off x="2325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cn/4</a:t>
              </a:r>
            </a:p>
          </p:txBody>
        </p:sp>
        <p:sp>
          <p:nvSpPr>
            <p:cNvPr id="13342" name="Line 29"/>
            <p:cNvSpPr>
              <a:spLocks noChangeShapeType="1"/>
            </p:cNvSpPr>
            <p:nvPr/>
          </p:nvSpPr>
          <p:spPr bwMode="auto">
            <a:xfrm flipH="1">
              <a:off x="746" y="2927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3" name="Line 30"/>
            <p:cNvSpPr>
              <a:spLocks noChangeShapeType="1"/>
            </p:cNvSpPr>
            <p:nvPr/>
          </p:nvSpPr>
          <p:spPr bwMode="auto">
            <a:xfrm>
              <a:off x="973" y="2928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4" name="Line 31"/>
            <p:cNvSpPr>
              <a:spLocks noChangeShapeType="1"/>
            </p:cNvSpPr>
            <p:nvPr/>
          </p:nvSpPr>
          <p:spPr bwMode="auto">
            <a:xfrm flipH="1">
              <a:off x="1408" y="2939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5" name="Line 32"/>
            <p:cNvSpPr>
              <a:spLocks noChangeShapeType="1"/>
            </p:cNvSpPr>
            <p:nvPr/>
          </p:nvSpPr>
          <p:spPr bwMode="auto">
            <a:xfrm>
              <a:off x="1635" y="2940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6" name="Line 33"/>
            <p:cNvSpPr>
              <a:spLocks noChangeShapeType="1"/>
            </p:cNvSpPr>
            <p:nvPr/>
          </p:nvSpPr>
          <p:spPr bwMode="auto">
            <a:xfrm flipH="1">
              <a:off x="1853" y="2948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7" name="Line 34"/>
            <p:cNvSpPr>
              <a:spLocks noChangeShapeType="1"/>
            </p:cNvSpPr>
            <p:nvPr/>
          </p:nvSpPr>
          <p:spPr bwMode="auto">
            <a:xfrm>
              <a:off x="2080" y="2949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8" name="Line 35"/>
            <p:cNvSpPr>
              <a:spLocks noChangeShapeType="1"/>
            </p:cNvSpPr>
            <p:nvPr/>
          </p:nvSpPr>
          <p:spPr bwMode="auto">
            <a:xfrm flipH="1">
              <a:off x="2371" y="2938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9" name="Line 36"/>
            <p:cNvSpPr>
              <a:spLocks noChangeShapeType="1"/>
            </p:cNvSpPr>
            <p:nvPr/>
          </p:nvSpPr>
          <p:spPr bwMode="auto">
            <a:xfrm>
              <a:off x="2598" y="2939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0" name="Line 37"/>
            <p:cNvSpPr>
              <a:spLocks noChangeShapeType="1"/>
            </p:cNvSpPr>
            <p:nvPr/>
          </p:nvSpPr>
          <p:spPr bwMode="auto">
            <a:xfrm>
              <a:off x="765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1" name="Line 38"/>
            <p:cNvSpPr>
              <a:spLocks noChangeShapeType="1"/>
            </p:cNvSpPr>
            <p:nvPr/>
          </p:nvSpPr>
          <p:spPr bwMode="auto">
            <a:xfrm>
              <a:off x="110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2" name="Line 39"/>
            <p:cNvSpPr>
              <a:spLocks noChangeShapeType="1"/>
            </p:cNvSpPr>
            <p:nvPr/>
          </p:nvSpPr>
          <p:spPr bwMode="auto">
            <a:xfrm>
              <a:off x="1410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3" name="Line 40"/>
            <p:cNvSpPr>
              <a:spLocks noChangeShapeType="1"/>
            </p:cNvSpPr>
            <p:nvPr/>
          </p:nvSpPr>
          <p:spPr bwMode="auto">
            <a:xfrm>
              <a:off x="223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4" name="Line 41"/>
            <p:cNvSpPr>
              <a:spLocks noChangeShapeType="1"/>
            </p:cNvSpPr>
            <p:nvPr/>
          </p:nvSpPr>
          <p:spPr bwMode="auto">
            <a:xfrm>
              <a:off x="244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5" name="Line 42"/>
            <p:cNvSpPr>
              <a:spLocks noChangeShapeType="1"/>
            </p:cNvSpPr>
            <p:nvPr/>
          </p:nvSpPr>
          <p:spPr bwMode="auto">
            <a:xfrm>
              <a:off x="2738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6" name="Line 43"/>
            <p:cNvSpPr>
              <a:spLocks noChangeShapeType="1"/>
            </p:cNvSpPr>
            <p:nvPr/>
          </p:nvSpPr>
          <p:spPr bwMode="auto">
            <a:xfrm>
              <a:off x="1700" y="3654"/>
              <a:ext cx="396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7" name="Text Box 44"/>
            <p:cNvSpPr txBox="1">
              <a:spLocks noChangeArrowheads="1"/>
            </p:cNvSpPr>
            <p:nvPr/>
          </p:nvSpPr>
          <p:spPr bwMode="auto">
            <a:xfrm>
              <a:off x="659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3358" name="Text Box 45"/>
            <p:cNvSpPr txBox="1">
              <a:spLocks noChangeArrowheads="1"/>
            </p:cNvSpPr>
            <p:nvPr/>
          </p:nvSpPr>
          <p:spPr bwMode="auto">
            <a:xfrm>
              <a:off x="982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3359" name="Text Box 46"/>
            <p:cNvSpPr txBox="1">
              <a:spLocks noChangeArrowheads="1"/>
            </p:cNvSpPr>
            <p:nvPr/>
          </p:nvSpPr>
          <p:spPr bwMode="auto">
            <a:xfrm>
              <a:off x="1305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3360" name="Text Box 47"/>
            <p:cNvSpPr txBox="1">
              <a:spLocks noChangeArrowheads="1"/>
            </p:cNvSpPr>
            <p:nvPr/>
          </p:nvSpPr>
          <p:spPr bwMode="auto">
            <a:xfrm>
              <a:off x="2345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3361" name="Text Box 48"/>
            <p:cNvSpPr txBox="1">
              <a:spLocks noChangeArrowheads="1"/>
            </p:cNvSpPr>
            <p:nvPr/>
          </p:nvSpPr>
          <p:spPr bwMode="auto">
            <a:xfrm>
              <a:off x="2138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3362" name="Text Box 49"/>
            <p:cNvSpPr txBox="1">
              <a:spLocks noChangeArrowheads="1"/>
            </p:cNvSpPr>
            <p:nvPr/>
          </p:nvSpPr>
          <p:spPr bwMode="auto">
            <a:xfrm>
              <a:off x="2620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</p:grpSp>
      <p:sp>
        <p:nvSpPr>
          <p:cNvPr id="13316" name="Text Box 50"/>
          <p:cNvSpPr txBox="1">
            <a:spLocks noChangeArrowheads="1"/>
          </p:cNvSpPr>
          <p:nvPr/>
        </p:nvSpPr>
        <p:spPr bwMode="auto">
          <a:xfrm>
            <a:off x="4075113" y="1857375"/>
            <a:ext cx="4725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3317" name="Line 51"/>
          <p:cNvSpPr>
            <a:spLocks noChangeShapeType="1"/>
          </p:cNvSpPr>
          <p:nvPr/>
        </p:nvSpPr>
        <p:spPr bwMode="auto">
          <a:xfrm>
            <a:off x="3222625" y="1854200"/>
            <a:ext cx="40767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Line 52"/>
          <p:cNvSpPr>
            <a:spLocks noChangeShapeType="1"/>
          </p:cNvSpPr>
          <p:nvPr/>
        </p:nvSpPr>
        <p:spPr bwMode="auto">
          <a:xfrm>
            <a:off x="3989388" y="3236913"/>
            <a:ext cx="33131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Line 53"/>
          <p:cNvSpPr>
            <a:spLocks noChangeShapeType="1"/>
          </p:cNvSpPr>
          <p:nvPr/>
        </p:nvSpPr>
        <p:spPr bwMode="auto">
          <a:xfrm>
            <a:off x="4395788" y="4470400"/>
            <a:ext cx="2908300" cy="14288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54"/>
          <p:cNvSpPr>
            <a:spLocks noChangeShapeType="1"/>
          </p:cNvSpPr>
          <p:nvPr/>
        </p:nvSpPr>
        <p:spPr bwMode="auto">
          <a:xfrm flipV="1">
            <a:off x="4699000" y="6134100"/>
            <a:ext cx="2638425" cy="1588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Text Box 55"/>
          <p:cNvSpPr txBox="1">
            <a:spLocks noChangeArrowheads="1"/>
          </p:cNvSpPr>
          <p:nvPr/>
        </p:nvSpPr>
        <p:spPr bwMode="auto">
          <a:xfrm>
            <a:off x="192088" y="3760788"/>
            <a:ext cx="66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Arial" panose="020B0604020202020204" pitchFamily="34" charset="0"/>
              </a:rPr>
              <a:t>lg n</a:t>
            </a:r>
          </a:p>
        </p:txBody>
      </p:sp>
      <p:sp>
        <p:nvSpPr>
          <p:cNvPr id="13322" name="Line 56"/>
          <p:cNvSpPr>
            <a:spLocks noChangeShapeType="1"/>
          </p:cNvSpPr>
          <p:nvPr/>
        </p:nvSpPr>
        <p:spPr bwMode="auto">
          <a:xfrm flipV="1">
            <a:off x="508000" y="1716088"/>
            <a:ext cx="0" cy="1858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Line 57"/>
          <p:cNvSpPr>
            <a:spLocks noChangeShapeType="1"/>
          </p:cNvSpPr>
          <p:nvPr/>
        </p:nvSpPr>
        <p:spPr bwMode="auto">
          <a:xfrm flipH="1">
            <a:off x="523875" y="4414838"/>
            <a:ext cx="0" cy="1844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4" name="Text Box 58"/>
          <p:cNvSpPr txBox="1">
            <a:spLocks noChangeArrowheads="1"/>
          </p:cNvSpPr>
          <p:nvPr/>
        </p:nvSpPr>
        <p:spPr bwMode="auto">
          <a:xfrm>
            <a:off x="7567613" y="30130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Arial" panose="020B0604020202020204" pitchFamily="34" charset="0"/>
              </a:rPr>
              <a:t>cn</a:t>
            </a:r>
          </a:p>
        </p:txBody>
      </p:sp>
      <p:sp>
        <p:nvSpPr>
          <p:cNvPr id="13325" name="Text Box 59"/>
          <p:cNvSpPr txBox="1">
            <a:spLocks noChangeArrowheads="1"/>
          </p:cNvSpPr>
          <p:nvPr/>
        </p:nvSpPr>
        <p:spPr bwMode="auto">
          <a:xfrm>
            <a:off x="7567613" y="42735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Arial" panose="020B0604020202020204" pitchFamily="34" charset="0"/>
              </a:rPr>
              <a:t>cn</a:t>
            </a:r>
          </a:p>
        </p:txBody>
      </p:sp>
      <p:sp>
        <p:nvSpPr>
          <p:cNvPr id="13326" name="Text Box 60"/>
          <p:cNvSpPr txBox="1">
            <a:spLocks noChangeArrowheads="1"/>
          </p:cNvSpPr>
          <p:nvPr/>
        </p:nvSpPr>
        <p:spPr bwMode="auto">
          <a:xfrm>
            <a:off x="7567613" y="58943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Arial" panose="020B0604020202020204" pitchFamily="34" charset="0"/>
              </a:rPr>
              <a:t>cn</a:t>
            </a:r>
          </a:p>
        </p:txBody>
      </p:sp>
      <p:sp>
        <p:nvSpPr>
          <p:cNvPr id="13327" name="Text Box 61"/>
          <p:cNvSpPr txBox="1">
            <a:spLocks noChangeArrowheads="1"/>
          </p:cNvSpPr>
          <p:nvPr/>
        </p:nvSpPr>
        <p:spPr bwMode="auto">
          <a:xfrm>
            <a:off x="5634038" y="6324600"/>
            <a:ext cx="27608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Total           : O(n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</a:rPr>
              <a:t>lg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 n)</a:t>
            </a:r>
          </a:p>
        </p:txBody>
      </p:sp>
      <p:sp>
        <p:nvSpPr>
          <p:cNvPr id="13328" name="Text Box 62"/>
          <p:cNvSpPr txBox="1">
            <a:spLocks noChangeArrowheads="1"/>
          </p:cNvSpPr>
          <p:nvPr/>
        </p:nvSpPr>
        <p:spPr bwMode="auto">
          <a:xfrm>
            <a:off x="7567613" y="15875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Arial" panose="020B0604020202020204" pitchFamily="34" charset="0"/>
              </a:rPr>
              <a:t>cn</a:t>
            </a:r>
          </a:p>
        </p:txBody>
      </p:sp>
    </p:spTree>
    <p:extLst>
      <p:ext uri="{BB962C8B-B14F-4D97-AF65-F5344CB8AC3E}">
        <p14:creationId xmlns:p14="http://schemas.microsoft.com/office/powerpoint/2010/main" val="7033112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89075" y="457200"/>
            <a:ext cx="5978525" cy="51435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Best-case analysis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3" y="1600200"/>
            <a:ext cx="7913687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084723" y="1663547"/>
            <a:ext cx="440675" cy="429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4940" y="3272010"/>
            <a:ext cx="6887378" cy="2203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676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304800"/>
            <a:ext cx="8229600" cy="533400"/>
          </a:xfrm>
        </p:spPr>
        <p:txBody>
          <a:bodyPr>
            <a:normAutofit/>
          </a:bodyPr>
          <a:lstStyle/>
          <a:p>
            <a:pPr algn="ctr"/>
            <a:r>
              <a:rPr lang="en-US" altLang="en-US" u="sng" dirty="0"/>
              <a:t>Worst-case of </a:t>
            </a:r>
            <a:r>
              <a:rPr lang="en-US" altLang="en-US" u="sng" dirty="0" err="1"/>
              <a:t>quicksort</a:t>
            </a:r>
            <a:endParaRPr lang="en-US" altLang="en-US" u="sng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28600" y="1143000"/>
            <a:ext cx="8686800" cy="498316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800" dirty="0">
                <a:solidFill>
                  <a:srgbClr val="CC3300"/>
                </a:solidFill>
              </a:rPr>
              <a:t>Worst-Case Partitioning (Unbalanced Partitions):</a:t>
            </a:r>
          </a:p>
          <a:p>
            <a:pPr lvl="1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400" dirty="0"/>
              <a:t>Occurs when every call to partition results in the most unbalanced partition.</a:t>
            </a:r>
          </a:p>
          <a:p>
            <a:pPr lvl="1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400" dirty="0">
                <a:solidFill>
                  <a:schemeClr val="hlink"/>
                </a:solidFill>
              </a:rPr>
              <a:t>Partition is most unbalanced when</a:t>
            </a:r>
          </a:p>
          <a:p>
            <a:pPr lvl="2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000" dirty="0"/>
              <a:t>Subproblem 1 is of size </a:t>
            </a:r>
            <a:r>
              <a:rPr lang="en-US" altLang="en-US" sz="2000" i="1" dirty="0"/>
              <a:t>n</a:t>
            </a:r>
            <a:r>
              <a:rPr lang="en-US" altLang="en-US" sz="2000" dirty="0"/>
              <a:t> – 1, and subproblem 2 is of size 0 or vice versa.</a:t>
            </a:r>
          </a:p>
          <a:p>
            <a:pPr lvl="2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000" i="1" dirty="0"/>
              <a:t>pivot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itchFamily="18" charset="2"/>
              </a:rPr>
              <a:t> every element in </a:t>
            </a:r>
            <a:r>
              <a:rPr lang="en-US" altLang="en-US" sz="2000" i="1" dirty="0">
                <a:sym typeface="Symbol" pitchFamily="18" charset="2"/>
              </a:rPr>
              <a:t>A</a:t>
            </a:r>
            <a:r>
              <a:rPr lang="en-US" altLang="en-US" sz="2000" dirty="0">
                <a:sym typeface="Symbol" pitchFamily="18" charset="2"/>
              </a:rPr>
              <a:t>[</a:t>
            </a:r>
            <a:r>
              <a:rPr lang="en-US" altLang="en-US" sz="2000" i="1" dirty="0">
                <a:sym typeface="Symbol" pitchFamily="18" charset="2"/>
              </a:rPr>
              <a:t>p</a:t>
            </a:r>
            <a:r>
              <a:rPr lang="en-US" altLang="en-US" sz="2000" dirty="0">
                <a:sym typeface="Symbol" pitchFamily="18" charset="2"/>
              </a:rPr>
              <a:t>..</a:t>
            </a:r>
            <a:r>
              <a:rPr lang="en-US" altLang="en-US" sz="2000" i="1" dirty="0">
                <a:sym typeface="Symbol" pitchFamily="18" charset="2"/>
              </a:rPr>
              <a:t>r – </a:t>
            </a:r>
            <a:r>
              <a:rPr lang="en-US" altLang="en-US" sz="2000" dirty="0">
                <a:sym typeface="Symbol" pitchFamily="18" charset="2"/>
              </a:rPr>
              <a:t>1] or </a:t>
            </a:r>
            <a:r>
              <a:rPr lang="en-US" altLang="en-US" sz="2000" i="1" dirty="0"/>
              <a:t>pivot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itchFamily="18" charset="2"/>
              </a:rPr>
              <a:t>&lt; every element in </a:t>
            </a:r>
            <a:r>
              <a:rPr lang="en-US" altLang="en-US" sz="2000" i="1" dirty="0">
                <a:sym typeface="Symbol" pitchFamily="18" charset="2"/>
              </a:rPr>
              <a:t>A</a:t>
            </a:r>
            <a:r>
              <a:rPr lang="en-US" altLang="en-US" sz="2000" dirty="0">
                <a:sym typeface="Symbol" pitchFamily="18" charset="2"/>
              </a:rPr>
              <a:t>[</a:t>
            </a:r>
            <a:r>
              <a:rPr lang="en-US" altLang="en-US" sz="2000" i="1" dirty="0">
                <a:sym typeface="Symbol" pitchFamily="18" charset="2"/>
              </a:rPr>
              <a:t>p</a:t>
            </a:r>
            <a:r>
              <a:rPr lang="en-US" altLang="en-US" sz="2000" dirty="0">
                <a:sym typeface="Symbol" pitchFamily="18" charset="2"/>
              </a:rPr>
              <a:t>..</a:t>
            </a:r>
            <a:r>
              <a:rPr lang="en-US" altLang="en-US" sz="2000" i="1" dirty="0">
                <a:sym typeface="Symbol" pitchFamily="18" charset="2"/>
              </a:rPr>
              <a:t>r – </a:t>
            </a:r>
            <a:r>
              <a:rPr lang="en-US" altLang="en-US" sz="2000" dirty="0">
                <a:sym typeface="Symbol" pitchFamily="18" charset="2"/>
              </a:rPr>
              <a:t>1].</a:t>
            </a:r>
          </a:p>
          <a:p>
            <a:pPr lvl="1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400" dirty="0">
                <a:solidFill>
                  <a:schemeClr val="hlink"/>
                </a:solidFill>
                <a:sym typeface="Symbol" pitchFamily="18" charset="2"/>
              </a:rPr>
              <a:t>Every call to partition is most unbalanced when</a:t>
            </a:r>
          </a:p>
          <a:p>
            <a:pPr lvl="2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000" b="1" dirty="0">
                <a:sym typeface="Symbol" pitchFamily="18" charset="2"/>
              </a:rPr>
              <a:t>Array </a:t>
            </a:r>
            <a:r>
              <a:rPr lang="en-US" altLang="en-US" sz="2000" b="1" i="1" dirty="0">
                <a:sym typeface="Symbol" pitchFamily="18" charset="2"/>
              </a:rPr>
              <a:t>A</a:t>
            </a:r>
            <a:r>
              <a:rPr lang="en-US" altLang="en-US" sz="2000" b="1" dirty="0">
                <a:sym typeface="Symbol" pitchFamily="18" charset="2"/>
              </a:rPr>
              <a:t>[1..</a:t>
            </a:r>
            <a:r>
              <a:rPr lang="en-US" altLang="en-US" sz="2000" b="1" i="1" dirty="0">
                <a:sym typeface="Symbol" pitchFamily="18" charset="2"/>
              </a:rPr>
              <a:t>n</a:t>
            </a:r>
            <a:r>
              <a:rPr lang="en-US" altLang="en-US" sz="2000" b="1" dirty="0">
                <a:sym typeface="Symbol" pitchFamily="18" charset="2"/>
              </a:rPr>
              <a:t>] is sorted or reverse sorted!</a:t>
            </a:r>
          </a:p>
          <a:p>
            <a:pPr lvl="2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000" dirty="0"/>
              <a:t>One side of partition always has one element.</a:t>
            </a:r>
            <a:endParaRPr lang="en-US" altLang="en-US" sz="2000" b="1" dirty="0">
              <a:sym typeface="Symbol" pitchFamily="18" charset="2"/>
            </a:endParaRPr>
          </a:p>
          <a:p>
            <a:pPr marL="609600" indent="-609600" algn="just">
              <a:defRPr/>
            </a:pPr>
            <a:endParaRPr lang="en-US" altLang="en-US" sz="2800" dirty="0"/>
          </a:p>
          <a:p>
            <a:pPr marL="0" indent="0" algn="just">
              <a:buFont typeface="Monotype Sorts" pitchFamily="2" charset="2"/>
              <a:buNone/>
              <a:defRPr/>
            </a:pPr>
            <a:r>
              <a:rPr lang="en-US" altLang="en-US" sz="2800" dirty="0"/>
              <a:t>	</a:t>
            </a:r>
          </a:p>
          <a:p>
            <a:pPr marL="0" indent="0" algn="just">
              <a:buFont typeface="Monotype Sorts" pitchFamily="2" charset="2"/>
              <a:buNone/>
              <a:defRPr/>
            </a:pPr>
            <a:r>
              <a:rPr lang="en-US" altLang="en-US" sz="2800" dirty="0"/>
              <a:t>	</a:t>
            </a:r>
          </a:p>
          <a:p>
            <a:pPr marL="0" indent="0" algn="just">
              <a:buFont typeface="Monotype Sorts" pitchFamily="2" charset="2"/>
              <a:buNone/>
              <a:defRPr/>
            </a:pPr>
            <a:endParaRPr lang="en-US" altLang="en-US" sz="2800" dirty="0"/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075" y="4511675"/>
            <a:ext cx="539432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66975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89075" y="171450"/>
            <a:ext cx="5978525" cy="51435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Worst-case recursion tree</a:t>
            </a:r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18" y="1815744"/>
            <a:ext cx="7335838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10079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59472"/>
            <a:ext cx="6172200" cy="59517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64192"/>
            <a:ext cx="1806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to sort /</a:t>
            </a:r>
          </a:p>
        </p:txBody>
      </p:sp>
      <p:sp>
        <p:nvSpPr>
          <p:cNvPr id="7" name="Rectangle 6"/>
          <p:cNvSpPr/>
          <p:nvPr/>
        </p:nvSpPr>
        <p:spPr>
          <a:xfrm>
            <a:off x="668740" y="1752600"/>
            <a:ext cx="7601803" cy="976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21140" y="2667000"/>
            <a:ext cx="7601803" cy="976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21140" y="3595929"/>
            <a:ext cx="7601803" cy="976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21140" y="4662729"/>
            <a:ext cx="7601803" cy="1748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51765" y="4151293"/>
            <a:ext cx="7696199" cy="9541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−1)+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−2)+⋯+2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​=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−1)+(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−2)+⋯+2)</a:t>
            </a:r>
          </a:p>
          <a:p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+1)(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/2)−1) .​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95400" y="5257800"/>
            <a:ext cx="6408761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So, in the worst case, it runs in </a:t>
            </a:r>
            <a:r>
              <a:rPr lang="en-US" sz="2400" i="1" dirty="0">
                <a:solidFill>
                  <a:srgbClr val="FF0000"/>
                </a:solidFill>
              </a:rPr>
              <a:t>O(n</a:t>
            </a:r>
            <a:r>
              <a:rPr lang="en-US" sz="2400" i="1" baseline="30000" dirty="0">
                <a:solidFill>
                  <a:srgbClr val="FF0000"/>
                </a:solidFill>
              </a:rPr>
              <a:t>2</a:t>
            </a:r>
            <a:r>
              <a:rPr lang="en-US" sz="2400" i="1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 time.</a:t>
            </a:r>
          </a:p>
        </p:txBody>
      </p:sp>
    </p:spTree>
    <p:extLst>
      <p:ext uri="{BB962C8B-B14F-4D97-AF65-F5344CB8AC3E}">
        <p14:creationId xmlns:p14="http://schemas.microsoft.com/office/powerpoint/2010/main" val="118947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28600"/>
            <a:ext cx="8229600" cy="68580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Expected Running time of </a:t>
            </a:r>
            <a:r>
              <a:rPr lang="en-US" altLang="en-US" u="sng" dirty="0" err="1"/>
              <a:t>QuickSort</a:t>
            </a:r>
            <a:endParaRPr lang="en-US" altLang="en-US" u="sng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143000"/>
            <a:ext cx="8305800" cy="5334000"/>
          </a:xfrm>
        </p:spPr>
        <p:txBody>
          <a:bodyPr>
            <a:normAutofit/>
          </a:bodyPr>
          <a:lstStyle/>
          <a:p>
            <a:pPr marL="231775" indent="-231775" algn="just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altLang="en-US" sz="3200" dirty="0"/>
              <a:t>We can show that the expected running time of </a:t>
            </a:r>
            <a:r>
              <a:rPr lang="en-US" altLang="en-US" sz="3200" dirty="0" err="1"/>
              <a:t>QuickSort</a:t>
            </a:r>
            <a:r>
              <a:rPr lang="en-US" altLang="en-US" sz="3200" dirty="0"/>
              <a:t> is O(</a:t>
            </a:r>
            <a:r>
              <a:rPr lang="en-US" altLang="en-US" sz="3200" dirty="0" err="1"/>
              <a:t>nlg</a:t>
            </a:r>
            <a:r>
              <a:rPr lang="en-US" altLang="en-US" sz="3200" dirty="0"/>
              <a:t> n), same as that of </a:t>
            </a:r>
            <a:r>
              <a:rPr lang="en-US" altLang="en-US" sz="3200" dirty="0" err="1"/>
              <a:t>MergeSort</a:t>
            </a:r>
            <a:r>
              <a:rPr lang="en-US" altLang="en-US" sz="3200" dirty="0"/>
              <a:t>. </a:t>
            </a:r>
          </a:p>
          <a:p>
            <a:pPr marL="231775" indent="-231775" algn="just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altLang="en-US" sz="3200" dirty="0"/>
              <a:t>So, even though, the worst case running time of </a:t>
            </a:r>
            <a:r>
              <a:rPr lang="en-US" altLang="en-US" sz="3200" dirty="0" err="1"/>
              <a:t>QuickSort</a:t>
            </a:r>
            <a:r>
              <a:rPr lang="en-US" altLang="en-US" sz="3200" dirty="0"/>
              <a:t> is worse than that of </a:t>
            </a:r>
            <a:r>
              <a:rPr lang="en-US" altLang="en-US" sz="3200" dirty="0" err="1"/>
              <a:t>MergeSort</a:t>
            </a:r>
            <a:r>
              <a:rPr lang="en-US" altLang="en-US" sz="3200" dirty="0"/>
              <a:t>, its Average running time is comparable to that of </a:t>
            </a:r>
            <a:r>
              <a:rPr lang="en-US" altLang="en-US" sz="3200" dirty="0" err="1" smtClean="0"/>
              <a:t>MergeSort</a:t>
            </a:r>
            <a:r>
              <a:rPr lang="en-US" altLang="en-US" sz="3200" dirty="0"/>
              <a:t>.</a:t>
            </a:r>
          </a:p>
          <a:p>
            <a:pPr marL="231775" indent="-231775" algn="just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altLang="en-US" sz="3200" dirty="0"/>
              <a:t>For the sake of simplicity, we omit the mathematical details of the calculation of expected running time of </a:t>
            </a:r>
            <a:r>
              <a:rPr lang="en-US" altLang="en-US" sz="3200" dirty="0" err="1"/>
              <a:t>QuickSort</a:t>
            </a:r>
            <a:r>
              <a:rPr lang="en-US" alt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004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76200"/>
            <a:ext cx="8229600" cy="492443"/>
          </a:xfrm>
        </p:spPr>
        <p:txBody>
          <a:bodyPr/>
          <a:lstStyle/>
          <a:p>
            <a:pPr eaLnBrk="1" hangingPunct="1"/>
            <a:r>
              <a:rPr lang="tr-TR" b="1" u="sng" dirty="0">
                <a:solidFill>
                  <a:srgbClr val="CC3300"/>
                </a:solidFill>
              </a:rPr>
              <a:t>Randomized quicksort</a:t>
            </a:r>
            <a:endParaRPr lang="en-US" b="1" u="sng" dirty="0">
              <a:solidFill>
                <a:srgbClr val="CC3300"/>
              </a:solidFill>
            </a:endParaRP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24012"/>
            <a:ext cx="7796213" cy="500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5800" y="798493"/>
            <a:ext cx="739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can we </a:t>
            </a:r>
            <a:r>
              <a:rPr lang="en-US" sz="2800" b="1" dirty="0"/>
              <a:t>ENSURE</a:t>
            </a:r>
            <a:r>
              <a:rPr lang="en-US" sz="2800" dirty="0"/>
              <a:t> that each element of A are equally likely to be the pivot?</a:t>
            </a:r>
          </a:p>
        </p:txBody>
      </p:sp>
    </p:spTree>
    <p:extLst>
      <p:ext uri="{BB962C8B-B14F-4D97-AF65-F5344CB8AC3E}">
        <p14:creationId xmlns:p14="http://schemas.microsoft.com/office/powerpoint/2010/main" val="30008711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9475" y="146447"/>
            <a:ext cx="5978525" cy="615553"/>
          </a:xfrm>
        </p:spPr>
        <p:txBody>
          <a:bodyPr/>
          <a:lstStyle/>
          <a:p>
            <a:pPr eaLnBrk="1" hangingPunct="1"/>
            <a:r>
              <a:rPr lang="tr-TR" sz="4000" b="1" u="sng" dirty="0">
                <a:solidFill>
                  <a:srgbClr val="CC3300"/>
                </a:solidFill>
              </a:rPr>
              <a:t>Randomized quicksort</a:t>
            </a:r>
            <a:endParaRPr lang="en-US" sz="4000" b="1" u="sng" dirty="0">
              <a:solidFill>
                <a:srgbClr val="CC3300"/>
              </a:solidFill>
            </a:endParaRP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060575"/>
            <a:ext cx="6958012" cy="461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Box 3"/>
          <p:cNvSpPr txBox="1">
            <a:spLocks noChangeArrowheads="1"/>
          </p:cNvSpPr>
          <p:nvPr/>
        </p:nvSpPr>
        <p:spPr bwMode="auto">
          <a:xfrm>
            <a:off x="611188" y="1412875"/>
            <a:ext cx="75295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tr-TR" sz="3600"/>
              <a:t>Standard Problematic Algorithm :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3407830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31875" y="171450"/>
            <a:ext cx="5978525" cy="615553"/>
          </a:xfrm>
        </p:spPr>
        <p:txBody>
          <a:bodyPr/>
          <a:lstStyle/>
          <a:p>
            <a:pPr eaLnBrk="1" hangingPunct="1"/>
            <a:r>
              <a:rPr lang="tr-TR" sz="4000" b="1" u="sng" dirty="0">
                <a:solidFill>
                  <a:srgbClr val="CC3300"/>
                </a:solidFill>
              </a:rPr>
              <a:t>Randomized quicksort</a:t>
            </a:r>
            <a:endParaRPr lang="en-US" sz="4000" b="1" u="sng" dirty="0">
              <a:solidFill>
                <a:srgbClr val="CC33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1219200"/>
            <a:ext cx="7143750" cy="20005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tr-TR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ANDOMIZED-PARTITION (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A, p, 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Tx/>
              <a:buAutoNum type="arabicPlain"/>
              <a:defRPr/>
            </a:pP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←RANDOM(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p, 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Tx/>
              <a:buAutoNum type="arabicPlain"/>
              <a:defRPr/>
            </a:pPr>
            <a:r>
              <a:rPr lang="tr-TR" sz="2400" b="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exchange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A[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]↔A[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457200" indent="-457200">
              <a:buFontTx/>
              <a:buAutoNum type="arabicPlain"/>
              <a:defRPr/>
            </a:pPr>
            <a:r>
              <a:rPr lang="tr-T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tr-T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PARTITION(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A, p, 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Tx/>
              <a:buAutoNum type="arabicPlain"/>
              <a:defRPr/>
            </a:pPr>
            <a:endParaRPr lang="tr-TR" sz="2400" b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3276600"/>
            <a:ext cx="714375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RANDOMIZED-QUICKSORT (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A,p,r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Tx/>
              <a:buAutoNum type="arabicPlain"/>
              <a:defRPr/>
            </a:pPr>
            <a:r>
              <a:rPr lang="tr-T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</a:p>
          <a:p>
            <a:pPr marL="457200" indent="-457200">
              <a:buFontTx/>
              <a:buAutoNum type="arabicPlain"/>
              <a:defRPr/>
            </a:pPr>
            <a:r>
              <a:rPr lang="tr-T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then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←</a:t>
            </a:r>
            <a:r>
              <a:rPr lang="tr-TR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ANDOMIZED-PARTITION (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A, p, 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	 </a:t>
            </a:r>
            <a:r>
              <a:rPr lang="tr-TR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RANDOMIZED-QUICKSORT (</a:t>
            </a:r>
            <a:r>
              <a:rPr lang="tr-TR" sz="2400" b="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A, p, q</a:t>
            </a:r>
            <a:r>
              <a:rPr lang="tr-TR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-1)</a:t>
            </a:r>
          </a:p>
          <a:p>
            <a:pPr marL="914400" lvl="1" indent="-457200">
              <a:defRPr/>
            </a:pP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tr-TR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RANDOMIZED-QUICKSORT (</a:t>
            </a:r>
            <a:r>
              <a:rPr lang="tr-TR" sz="2400" b="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A, q+</a:t>
            </a:r>
            <a:r>
              <a:rPr lang="tr-TR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tr-TR" sz="2400" b="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tr-TR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6388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Average and worst case running time of Randomized-</a:t>
            </a:r>
            <a:r>
              <a:rPr lang="en-US" dirty="0" err="1">
                <a:solidFill>
                  <a:srgbClr val="C00000"/>
                </a:solidFill>
              </a:rPr>
              <a:t>QuickSort</a:t>
            </a:r>
            <a:r>
              <a:rPr lang="en-US" dirty="0">
                <a:solidFill>
                  <a:srgbClr val="C00000"/>
                </a:solidFill>
              </a:rPr>
              <a:t> is the same as that of </a:t>
            </a:r>
            <a:r>
              <a:rPr lang="en-US" dirty="0" err="1">
                <a:solidFill>
                  <a:srgbClr val="C00000"/>
                </a:solidFill>
              </a:rPr>
              <a:t>QuickSort</a:t>
            </a:r>
            <a:r>
              <a:rPr lang="en-US" dirty="0">
                <a:solidFill>
                  <a:srgbClr val="C00000"/>
                </a:solidFill>
              </a:rPr>
              <a:t>; but in practice Randomized-</a:t>
            </a:r>
            <a:r>
              <a:rPr lang="en-US" dirty="0" err="1">
                <a:solidFill>
                  <a:srgbClr val="C00000"/>
                </a:solidFill>
              </a:rPr>
              <a:t>QuickSort</a:t>
            </a:r>
            <a:r>
              <a:rPr lang="en-US" dirty="0">
                <a:solidFill>
                  <a:srgbClr val="C00000"/>
                </a:solidFill>
              </a:rPr>
              <a:t> is typically much faster</a:t>
            </a:r>
          </a:p>
        </p:txBody>
      </p:sp>
    </p:spTree>
    <p:extLst>
      <p:ext uri="{BB962C8B-B14F-4D97-AF65-F5344CB8AC3E}">
        <p14:creationId xmlns:p14="http://schemas.microsoft.com/office/powerpoint/2010/main" val="7894388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9475" y="298847"/>
            <a:ext cx="5978525" cy="615553"/>
          </a:xfrm>
        </p:spPr>
        <p:txBody>
          <a:bodyPr/>
          <a:lstStyle/>
          <a:p>
            <a:pPr eaLnBrk="1" hangingPunct="1"/>
            <a:r>
              <a:rPr lang="tr-TR" sz="4000" b="1" u="sng" dirty="0">
                <a:solidFill>
                  <a:srgbClr val="CC3300"/>
                </a:solidFill>
              </a:rPr>
              <a:t>Quicksort in practice</a:t>
            </a:r>
            <a:endParaRPr lang="en-US" sz="4000" b="1" u="sng" dirty="0">
              <a:solidFill>
                <a:srgbClr val="CC3300"/>
              </a:solidFill>
            </a:endParaRPr>
          </a:p>
        </p:txBody>
      </p:sp>
      <p:pic>
        <p:nvPicPr>
          <p:cNvPr id="5939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1997075"/>
            <a:ext cx="697230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19200" y="4114800"/>
            <a:ext cx="7010400" cy="198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08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</TotalTime>
  <Words>4318</Words>
  <Application>Microsoft Office PowerPoint</Application>
  <PresentationFormat>On-screen Show (4:3)</PresentationFormat>
  <Paragraphs>790</Paragraphs>
  <Slides>48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Monotype Sorts</vt:lpstr>
      <vt:lpstr>Symbol</vt:lpstr>
      <vt:lpstr>Times New Roman</vt:lpstr>
      <vt:lpstr>Wingdings</vt:lpstr>
      <vt:lpstr>Office Theme</vt:lpstr>
      <vt:lpstr>PowerPoint Presentation</vt:lpstr>
      <vt:lpstr>Quicksort</vt:lpstr>
      <vt:lpstr>Pseudocode</vt:lpstr>
      <vt:lpstr>Example</vt:lpstr>
      <vt:lpstr>Example (Continued)</vt:lpstr>
      <vt:lpstr>Partitioning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Complexity of Partition</vt:lpstr>
      <vt:lpstr>Algorithm Performance</vt:lpstr>
      <vt:lpstr>Best-case Partitioning</vt:lpstr>
      <vt:lpstr>Recursion Tree for Best-case Partition</vt:lpstr>
      <vt:lpstr>Best-case analysis</vt:lpstr>
      <vt:lpstr>Worst-case of quicksort</vt:lpstr>
      <vt:lpstr>Worst-case recursion tree</vt:lpstr>
      <vt:lpstr>PowerPoint Presentation</vt:lpstr>
      <vt:lpstr>Expected Running time of QuickSort</vt:lpstr>
      <vt:lpstr>Randomized quicksort</vt:lpstr>
      <vt:lpstr>Randomized quicksort</vt:lpstr>
      <vt:lpstr>Randomized quicksort</vt:lpstr>
      <vt:lpstr>Quicksort in practice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is it the best?</dc:title>
  <cp:lastModifiedBy>asus</cp:lastModifiedBy>
  <cp:revision>44</cp:revision>
  <dcterms:created xsi:type="dcterms:W3CDTF">2019-02-09T14:40:35Z</dcterms:created>
  <dcterms:modified xsi:type="dcterms:W3CDTF">2025-04-22T15:43:27Z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2015-05-06T00:00:00Z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2019-02-09T00:00:00Z</vt:filetime>
  </property>
</Properties>
</file>