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5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Default Extension="tiff" ContentType="image/tif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300" r:id="rId3"/>
    <p:sldId id="301" r:id="rId4"/>
    <p:sldId id="302" r:id="rId5"/>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 id="341" r:id="rId44"/>
    <p:sldId id="342" r:id="rId45"/>
    <p:sldId id="343" r:id="rId46"/>
    <p:sldId id="344" r:id="rId47"/>
    <p:sldId id="345" r:id="rId48"/>
    <p:sldId id="346" r:id="rId49"/>
    <p:sldId id="347" r:id="rId50"/>
    <p:sldId id="348"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9706" autoAdjust="0"/>
    <p:restoredTop sz="97312" autoAdjust="0"/>
  </p:normalViewPr>
  <p:slideViewPr>
    <p:cSldViewPr>
      <p:cViewPr varScale="1">
        <p:scale>
          <a:sx n="85" d="100"/>
          <a:sy n="85" d="100"/>
        </p:scale>
        <p:origin x="-1651" y="-72"/>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2/3/2025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71D60C-4F28-4B3A-B514-0D39C0EEA5BD}" type="datetime1">
              <a:rPr lang="en-US" smtClean="0"/>
              <a:pPr/>
              <a:t>2/3/2025</a:t>
            </a:fld>
            <a:endParaRPr lang="en-US"/>
          </a:p>
        </p:txBody>
      </p:sp>
      <p:sp>
        <p:nvSpPr>
          <p:cNvPr id="6" name="Footer Placeholder 5"/>
          <p:cNvSpPr>
            <a:spLocks noGrp="1"/>
          </p:cNvSpPr>
          <p:nvPr>
            <p:ph type="ftr" sz="quarter" idx="11"/>
          </p:nvPr>
        </p:nvSpPr>
        <p:spPr/>
        <p:txBody>
          <a:bodyPr/>
          <a:lstStyle/>
          <a:p>
            <a:r>
              <a:rPr lang="en-US" smtClean="0"/>
              <a:t>Md. Golam Moazzam, Dept. of CSE, JU</a:t>
            </a:r>
            <a:endParaRPr lang="en-US"/>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C0BBC-583C-42F1-99F0-A9970C625DE3}" type="datetime1">
              <a:rPr lang="en-US" smtClean="0"/>
              <a:pPr/>
              <a:t>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Md. Golam Moazzam, Dept. of CSE, JU</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4" cstate="print"/>
          <a:stretch>
            <a:fillRect/>
          </a:stretch>
        </p:blipFill>
        <p:spPr>
          <a:xfrm>
            <a:off x="381000" y="228600"/>
            <a:ext cx="917067" cy="1135254"/>
          </a:xfrm>
          <a:prstGeom prst="rect">
            <a:avLst/>
          </a:prstGeom>
        </p:spPr>
      </p:pic>
      <p:sp>
        <p:nvSpPr>
          <p:cNvPr id="8" name="TextBox 7"/>
          <p:cNvSpPr txBox="1"/>
          <p:nvPr userDrawn="1"/>
        </p:nvSpPr>
        <p:spPr>
          <a:xfrm>
            <a:off x="2133600" y="685800"/>
            <a:ext cx="5715000" cy="369332"/>
          </a:xfrm>
          <a:prstGeom prst="rect">
            <a:avLst/>
          </a:prstGeom>
          <a:noFill/>
        </p:spPr>
        <p:txBody>
          <a:bodyPr wrap="square" rtlCol="0">
            <a:spAutoFit/>
          </a:bodyPr>
          <a:lstStyle/>
          <a:p>
            <a:r>
              <a:rPr lang="en-US" dirty="0" smtClean="0"/>
              <a:t>Indexing and Hashing</a:t>
            </a:r>
            <a:endParaRPr lang="en-US" dirty="0"/>
          </a:p>
        </p:txBody>
      </p:sp>
    </p:spTree>
  </p:cSld>
  <p:clrMap bg1="lt1" tx1="dk1" bg2="lt2" tx2="dk2" accent1="accent1" accent2="accent2" accent3="accent3" accent4="accent4" accent5="accent5" accent6="accent6" hlink="hlink" folHlink="folHlink"/>
  <p:sldLayoutIdLst>
    <p:sldLayoutId id="2147483652"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371600" y="1905000"/>
            <a:ext cx="6781800" cy="3276600"/>
          </a:xfrm>
          <a:prstGeom prst="rect">
            <a:avLst/>
          </a:prstGeom>
        </p:spPr>
        <p:txBody>
          <a:bodyPr/>
          <a:lstStyle/>
          <a:p>
            <a:pPr algn="ctr">
              <a:buNone/>
            </a:pPr>
            <a:r>
              <a:rPr lang="en-US" sz="7200" dirty="0" smtClean="0">
                <a:latin typeface="Times New Roman" pitchFamily="18" charset="0"/>
                <a:cs typeface="Times New Roman" pitchFamily="18" charset="0"/>
              </a:rPr>
              <a:t>Data Recovery System</a:t>
            </a:r>
            <a:endParaRPr lang="en-US" sz="72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OUTLINE</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0" name="Content Placeholder 16"/>
          <p:cNvSpPr txBox="1">
            <a:spLocks/>
          </p:cNvSpPr>
          <p:nvPr/>
        </p:nvSpPr>
        <p:spPr>
          <a:xfrm>
            <a:off x="1066800" y="1371600"/>
            <a:ext cx="7010400" cy="4648200"/>
          </a:xfrm>
          <a:prstGeom prst="rect">
            <a:avLst/>
          </a:prstGeom>
        </p:spPr>
        <p:txBody>
          <a:bodyPr/>
          <a:lstStyle/>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Nested RAID Levels</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Log-Based Recovery</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Deferred Database modification technique</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Immediate Database Modification Technique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lvl="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Nested RAID Levels</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Standard RAID drives are built by combining multiple Hard Disks Drives (HDDs) to offer redundancy, better read/write performance, and protection against data loss.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These RAID drives are built on unique data storage mechanisms, including Striping, Mirroring, and Parity.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Nested RAID drives are built with two or more of the standard RAID levels (based on a combination of RAID levels).</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They are also called hybrid RAID.</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Nested RAID levels are now gaining popularity for their advantages over standard RAID arrays.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The standard RAID drives are numbered using a single number like RAID-0, RAID-1, and RAID-5. On the contrary, the Nested RAID levels are numbered using a series of numbers, including RAID-01, RAID-10, RAID-50, RAID-60, and RAID-100.</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lvl="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RAID-10 or RAID-1+0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This combines RAID-1 and RAID-0 in a single system, which offers higher performance than RAID-1, but at a much higher cost.</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This is a nested or hybrid RAID configuration. It provides security by mirroring all data on secondary drives while using striping across each set of drives to speed up data transfers.</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It is also be called a "Mirrored RAID-0 level" or RAID-1+0.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It can survive up to 2 disks failure, one from either side.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It requires a minimum of 4 disks.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lvl="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RAID-10 or RAID-1+0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 total storage is halved due to mirroring, meaning that if you use 4 1-TB drives while setting up RAID-10, it will eventually offer you 2-TB usable storage.</a:t>
            </a:r>
          </a:p>
        </p:txBody>
      </p:sp>
      <p:pic>
        <p:nvPicPr>
          <p:cNvPr id="10" name="Picture 9" descr="Nested RAID 10 level"/>
          <p:cNvPicPr/>
          <p:nvPr/>
        </p:nvPicPr>
        <p:blipFill>
          <a:blip r:embed="rId4"/>
          <a:srcRect/>
          <a:stretch>
            <a:fillRect/>
          </a:stretch>
        </p:blipFill>
        <p:spPr bwMode="auto">
          <a:xfrm>
            <a:off x="4800600" y="1981200"/>
            <a:ext cx="3810000" cy="2895600"/>
          </a:xfrm>
          <a:prstGeom prst="rect">
            <a:avLst/>
          </a:prstGeom>
          <a:noFill/>
          <a:ln w="9525">
            <a:noFill/>
            <a:miter lim="800000"/>
            <a:headEnd/>
            <a:tailEnd/>
          </a:ln>
        </p:spPr>
      </p:pic>
      <p:pic>
        <p:nvPicPr>
          <p:cNvPr id="12" name="Picture 11" descr="What is RAID"/>
          <p:cNvPicPr/>
          <p:nvPr/>
        </p:nvPicPr>
        <p:blipFill>
          <a:blip r:embed="rId5">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1066800" y="2057400"/>
            <a:ext cx="3657600" cy="2819400"/>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lvl="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RAID-01 or RAID-0+1</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RAID-0+1 is similar to RAID-1+0, except the data organization method is slightly different.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Rather than creating a mirror and then striping the mirror, RAID-0+1 creates a stripe set and then mirrors the stripe set.</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The usable capacity of a RAID-01 array is the same as in a RAID 10.</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At least four disks are required in a standard RAID 01 configuration</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endParaRPr lang="en-US" dirty="0" smtClean="0">
              <a:latin typeface="Times New Roman" pitchFamily="18" charset="0"/>
              <a:cs typeface="Times New Roman" pitchFamily="18" charset="0"/>
            </a:endParaRPr>
          </a:p>
        </p:txBody>
      </p:sp>
      <p:pic>
        <p:nvPicPr>
          <p:cNvPr id="13" name="Picture 12" descr="https://upload.wikimedia.org/wikipedia/commons/thumb/a/ad/RAID_01.svg/180px-RAID_01.svg.png"/>
          <p:cNvPicPr/>
          <p:nvPr/>
        </p:nvPicPr>
        <p:blipFill>
          <a:blip r:embed="rId4"/>
          <a:srcRect/>
          <a:stretch>
            <a:fillRect/>
          </a:stretch>
        </p:blipFill>
        <p:spPr bwMode="auto">
          <a:xfrm>
            <a:off x="2438400" y="3886200"/>
            <a:ext cx="3733800"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lvl="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RAID-03 or RAID-0+3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Also called </a:t>
            </a:r>
            <a:r>
              <a:rPr lang="en-US" b="1" dirty="0" smtClean="0">
                <a:latin typeface="Times New Roman" pitchFamily="18" charset="0"/>
                <a:cs typeface="Times New Roman" pitchFamily="18" charset="0"/>
              </a:rPr>
              <a:t>RAID 0+3</a:t>
            </a:r>
            <a:r>
              <a:rPr lang="en-US" dirty="0" smtClean="0">
                <a:latin typeface="Times New Roman" pitchFamily="18" charset="0"/>
                <a:cs typeface="Times New Roman" pitchFamily="18" charset="0"/>
              </a:rPr>
              <a:t> and sometimes </a:t>
            </a:r>
            <a:r>
              <a:rPr lang="en-US" b="1" dirty="0" smtClean="0">
                <a:latin typeface="Times New Roman" pitchFamily="18" charset="0"/>
                <a:cs typeface="Times New Roman" pitchFamily="18" charset="0"/>
              </a:rPr>
              <a:t>RAID 53.</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This is similar to RAID 01 with the exception that byte-level striping with dedicated parity is used instead of mirroring</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This level uses striping similar to RAID 0 for RAID-3.</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This offers higher performance than RAID-3 but at a higher cost.</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p:txBody>
      </p:sp>
      <p:pic>
        <p:nvPicPr>
          <p:cNvPr id="10" name="Picture 9" descr="https://upload.wikimedia.org/wikipedia/commons/thumb/0/0f/RAID_0%2B3.svg/330px-RAID_0%2B3.svg.png"/>
          <p:cNvPicPr/>
          <p:nvPr/>
        </p:nvPicPr>
        <p:blipFill>
          <a:blip r:embed="rId4"/>
          <a:srcRect/>
          <a:stretch>
            <a:fillRect/>
          </a:stretch>
        </p:blipFill>
        <p:spPr bwMode="auto">
          <a:xfrm>
            <a:off x="2286001" y="3581400"/>
            <a:ext cx="4572000" cy="274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lvl="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RAID-50 or RAID-5+0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This configuration combines RAID-5 distributed parity with RAID-0 striping to improve RAID-5 performance without reducing data protection.</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It is also called RAID 5+0.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This array offers the benefits of both RAID 5 and 0 by following the Parity &amp; Striping mechanism.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It needs at least 6 disks to set up RAID 50 in a nested environment.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It can support a maximum of 48 disks in single or multiple mirrored arrays of RAID 5.</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With this Nested RAID level, you can get higher read/write speed performance, faster rebuilds, and better data protection.</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This hybrid level can withstand up to 4 disks failure.</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lvl="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RAID-50 or RAID-5+0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p:txBody>
      </p:sp>
      <p:pic>
        <p:nvPicPr>
          <p:cNvPr id="10" name="Picture 9" descr="Nested Raid 50"/>
          <p:cNvPicPr/>
          <p:nvPr/>
        </p:nvPicPr>
        <p:blipFill>
          <a:blip r:embed="rId4"/>
          <a:srcRect/>
          <a:stretch>
            <a:fillRect/>
          </a:stretch>
        </p:blipFill>
        <p:spPr bwMode="auto">
          <a:xfrm>
            <a:off x="1447800" y="2286000"/>
            <a:ext cx="6248400" cy="3581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RAID-60 or RAID-6+0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It combines the dual parity of RAID-6 and block-level striping of RAID-0 array.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It requires at least eight disks and this configuration can support up to 128 disks.</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Although it is similar to RAID 50, it offers better redundancy by providing dual drive failure protection.</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However, it has lower write data performance rate.</a:t>
            </a:r>
          </a:p>
          <a:p>
            <a:pPr marL="742950" lvl="1" indent="-285750" algn="just">
              <a:spcBef>
                <a:spcPct val="20000"/>
              </a:spcBef>
              <a:buFont typeface="Arial" pitchFamily="34" charset="0"/>
              <a:buChar char="–"/>
              <a:defRPr/>
            </a:pPr>
            <a:endParaRPr lang="en-US" dirty="0" smtClean="0">
              <a:latin typeface="Times New Roman" pitchFamily="18" charset="0"/>
              <a:cs typeface="Times New Roman" pitchFamily="18" charset="0"/>
            </a:endParaRPr>
          </a:p>
        </p:txBody>
      </p:sp>
      <p:pic>
        <p:nvPicPr>
          <p:cNvPr id="12" name="Picture 11" descr="Nested RAID 60"/>
          <p:cNvPicPr/>
          <p:nvPr/>
        </p:nvPicPr>
        <p:blipFill>
          <a:blip r:embed="rId4"/>
          <a:srcRect/>
          <a:stretch>
            <a:fillRect/>
          </a:stretch>
        </p:blipFill>
        <p:spPr bwMode="auto">
          <a:xfrm>
            <a:off x="2590800" y="4167554"/>
            <a:ext cx="4019550" cy="22332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RAID-100 (RAID-10+0)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Sometimes called RAID-10+0</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It is a stripe of RAID-10s.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This is logically equivalent to a wider RAID-10 array, but is generally implemented using software RAID-0 over hardware RAID-10.</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p:txBody>
      </p:sp>
      <p:pic>
        <p:nvPicPr>
          <p:cNvPr id="10" name="Picture 9" descr="https://upload.wikimedia.org/wikipedia/commons/thumb/c/ce/RAID_100.svg/510px-RAID_100.svg.png"/>
          <p:cNvPicPr/>
          <p:nvPr/>
        </p:nvPicPr>
        <p:blipFill>
          <a:blip r:embed="rId4"/>
          <a:srcRect/>
          <a:stretch>
            <a:fillRect/>
          </a:stretch>
        </p:blipFill>
        <p:spPr bwMode="auto">
          <a:xfrm>
            <a:off x="1752600" y="3505200"/>
            <a:ext cx="5715000" cy="2895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Nested/Hybrid RAID Benefits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b="1" dirty="0" smtClean="0">
                <a:latin typeface="Times New Roman" pitchFamily="18" charset="0"/>
                <a:cs typeface="Times New Roman" pitchFamily="18" charset="0"/>
              </a:rPr>
              <a:t>Improved Performance:</a:t>
            </a:r>
            <a:r>
              <a:rPr lang="en-US" sz="2000" dirty="0" smtClean="0">
                <a:latin typeface="Times New Roman" pitchFamily="18" charset="0"/>
                <a:cs typeface="Times New Roman" pitchFamily="18" charset="0"/>
              </a:rPr>
              <a:t> By combining the striping of RAID 0 with the redundancy of other RAID levels, nested RAID can significantly enhance read and write speeds.</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b="1" dirty="0" smtClean="0">
                <a:latin typeface="Times New Roman" pitchFamily="18" charset="0"/>
                <a:cs typeface="Times New Roman" pitchFamily="18" charset="0"/>
              </a:rPr>
              <a:t>Enhanced Fault Tolerance:</a:t>
            </a:r>
            <a:r>
              <a:rPr lang="en-US" sz="2000" dirty="0" smtClean="0">
                <a:latin typeface="Times New Roman" pitchFamily="18" charset="0"/>
                <a:cs typeface="Times New Roman" pitchFamily="18" charset="0"/>
              </a:rPr>
              <a:t> With multiple levels of redundancy, nested RAID offers better protection against data loss in case of drive failures.</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b="1" dirty="0" smtClean="0">
                <a:latin typeface="Times New Roman" pitchFamily="18" charset="0"/>
                <a:cs typeface="Times New Roman" pitchFamily="18" charset="0"/>
              </a:rPr>
              <a:t>Expanded storage capacity:</a:t>
            </a:r>
            <a:r>
              <a:rPr lang="en-US" sz="2000" dirty="0" smtClean="0">
                <a:latin typeface="Times New Roman" pitchFamily="18" charset="0"/>
                <a:cs typeface="Times New Roman" pitchFamily="18" charset="0"/>
              </a:rPr>
              <a:t> Depending on the type of nested RAID, you can benefit from a larger capacity than traditional RAID configurations. For example, RAID 10 offers a higher storage capacity than RAID 1 alone.</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b="1" dirty="0" smtClean="0">
                <a:latin typeface="Times New Roman" pitchFamily="18" charset="0"/>
                <a:cs typeface="Times New Roman" pitchFamily="18" charset="0"/>
              </a:rPr>
              <a:t>Flexibility:</a:t>
            </a:r>
            <a:r>
              <a:rPr lang="en-US" sz="2000" dirty="0" smtClean="0">
                <a:latin typeface="Times New Roman" pitchFamily="18" charset="0"/>
                <a:cs typeface="Times New Roman" pitchFamily="18" charset="0"/>
              </a:rPr>
              <a:t> Nested RAID configurations can be customized to fit specific storage needs, making it an ideal solution for businesses with varying data requirements.</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Nested/Hybrid RAID Limitations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b="1" dirty="0" smtClean="0">
                <a:latin typeface="Times New Roman" pitchFamily="18" charset="0"/>
                <a:cs typeface="Times New Roman" pitchFamily="18" charset="0"/>
              </a:rPr>
              <a:t>Complexity:</a:t>
            </a:r>
            <a:r>
              <a:rPr lang="en-US" sz="2000" dirty="0" smtClean="0">
                <a:latin typeface="Times New Roman" pitchFamily="18" charset="0"/>
                <a:cs typeface="Times New Roman" pitchFamily="18" charset="0"/>
              </a:rPr>
              <a:t> Nested RAID can be complicated to set up and manage, requiring high technical expertise.</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b="1" dirty="0" smtClean="0">
                <a:latin typeface="Times New Roman" pitchFamily="18" charset="0"/>
                <a:cs typeface="Times New Roman" pitchFamily="18" charset="0"/>
              </a:rPr>
              <a:t>Expensive:</a:t>
            </a:r>
            <a:r>
              <a:rPr lang="en-US" sz="2000" dirty="0" smtClean="0">
                <a:latin typeface="Times New Roman" pitchFamily="18" charset="0"/>
                <a:cs typeface="Times New Roman" pitchFamily="18" charset="0"/>
              </a:rPr>
              <a:t> Due to multiple drives, nested RAID can be more costly than traditional RAID configurations.</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b="1" dirty="0" smtClean="0">
                <a:latin typeface="Times New Roman" pitchFamily="18" charset="0"/>
                <a:cs typeface="Times New Roman" pitchFamily="18" charset="0"/>
              </a:rPr>
              <a:t>Performance Degradation:</a:t>
            </a:r>
            <a:r>
              <a:rPr lang="en-US" sz="2000" dirty="0" smtClean="0">
                <a:latin typeface="Times New Roman" pitchFamily="18" charset="0"/>
                <a:cs typeface="Times New Roman" pitchFamily="18" charset="0"/>
              </a:rPr>
              <a:t> In certain nested RAID configurations, performance can degrade significantly if multiple drives fail.</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Non-Standard RAID Levels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In some cases- non-standard RAID levels are used.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Many non-standard RAID levels were developed by individual manufacturers for use in their products, and some are only designed to work with specific system specifications.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Some non-standard RAID levels:</a:t>
            </a:r>
          </a:p>
          <a:p>
            <a:pPr lvl="3"/>
            <a:r>
              <a:rPr lang="en-US" sz="2000" dirty="0" smtClean="0">
                <a:latin typeface="Times New Roman" pitchFamily="18" charset="0"/>
                <a:cs typeface="Times New Roman" pitchFamily="18" charset="0"/>
              </a:rPr>
              <a:t>RAID 1E </a:t>
            </a:r>
          </a:p>
          <a:p>
            <a:pPr lvl="3"/>
            <a:r>
              <a:rPr lang="en-US" sz="2000" dirty="0" smtClean="0">
                <a:latin typeface="Times New Roman" pitchFamily="18" charset="0"/>
                <a:cs typeface="Times New Roman" pitchFamily="18" charset="0"/>
              </a:rPr>
              <a:t>RAID 5E </a:t>
            </a:r>
          </a:p>
          <a:p>
            <a:pPr lvl="3"/>
            <a:r>
              <a:rPr lang="en-US" sz="2000" dirty="0" smtClean="0">
                <a:latin typeface="Times New Roman" pitchFamily="18" charset="0"/>
                <a:cs typeface="Times New Roman" pitchFamily="18" charset="0"/>
              </a:rPr>
              <a:t>RAID 5EE</a:t>
            </a:r>
          </a:p>
          <a:p>
            <a:pPr lvl="3"/>
            <a:r>
              <a:rPr lang="en-US" sz="2000" dirty="0" smtClean="0">
                <a:latin typeface="Times New Roman" pitchFamily="18" charset="0"/>
                <a:cs typeface="Times New Roman" pitchFamily="18" charset="0"/>
              </a:rPr>
              <a:t>RAID 6E</a:t>
            </a:r>
          </a:p>
          <a:p>
            <a:r>
              <a:rPr lang="en-US" sz="2000" dirty="0" smtClean="0">
                <a:latin typeface="Times New Roman" pitchFamily="18" charset="0"/>
                <a:cs typeface="Times New Roman" pitchFamily="18" charset="0"/>
              </a:rPr>
              <a:t> </a:t>
            </a:r>
          </a:p>
          <a:p>
            <a:pPr lvl="0"/>
            <a:r>
              <a:rPr lang="en-US" sz="2000" dirty="0" smtClean="0">
                <a:latin typeface="Times New Roman" pitchFamily="18" charset="0"/>
                <a:cs typeface="Times New Roman" pitchFamily="18" charset="0"/>
              </a:rPr>
              <a:t>	E stands for Enhanced</a:t>
            </a:r>
          </a:p>
          <a:p>
            <a:r>
              <a:rPr lang="en-US" sz="2000" dirty="0" smtClean="0">
                <a:latin typeface="Times New Roman" pitchFamily="18" charset="0"/>
                <a:cs typeface="Times New Roman" pitchFamily="18" charset="0"/>
              </a:rPr>
              <a:t>	RAID 1E, RAID 5E, RAID 5EE, and RAID 6E refer to variants of 	RAID 1, 5 and 6.</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Non-Standard RAID Levels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There are other forms of non-standard RAID:</a:t>
            </a:r>
          </a:p>
          <a:p>
            <a:pPr marL="1200150" lvl="2" indent="-285750" algn="just">
              <a:spcBef>
                <a:spcPct val="20000"/>
              </a:spcBef>
              <a:buFont typeface="Arial" pitchFamily="34" charset="0"/>
              <a:buChar char="–"/>
              <a:defRPr/>
            </a:pPr>
            <a:r>
              <a:rPr lang="en-US" dirty="0" smtClean="0">
                <a:latin typeface="Times New Roman" pitchFamily="18" charset="0"/>
                <a:cs typeface="Times New Roman" pitchFamily="18" charset="0"/>
              </a:rPr>
              <a:t>RAID-DP uses double-parity disk protection to help prevent disk errors and data corruption. </a:t>
            </a:r>
          </a:p>
          <a:p>
            <a:pPr marL="1200150" lvl="2" indent="-285750" algn="just">
              <a:spcBef>
                <a:spcPct val="20000"/>
              </a:spcBef>
              <a:buFont typeface="Arial" pitchFamily="34" charset="0"/>
              <a:buChar char="–"/>
              <a:defRPr/>
            </a:pPr>
            <a:r>
              <a:rPr lang="en-US" dirty="0" smtClean="0">
                <a:latin typeface="Times New Roman" pitchFamily="18" charset="0"/>
                <a:cs typeface="Times New Roman" pitchFamily="18" charset="0"/>
              </a:rPr>
              <a:t>RAID Z was designed by the Sun Company specifically for use with the ZFS file system</a:t>
            </a:r>
          </a:p>
          <a:p>
            <a:pPr marL="1200150" lvl="2" indent="-285750" algn="just">
              <a:spcBef>
                <a:spcPct val="20000"/>
              </a:spcBef>
              <a:buFont typeface="Arial" pitchFamily="34" charset="0"/>
              <a:buChar char="–"/>
              <a:defRPr/>
            </a:pPr>
            <a:r>
              <a:rPr lang="en-US" dirty="0" smtClean="0">
                <a:latin typeface="Times New Roman" pitchFamily="18" charset="0"/>
                <a:cs typeface="Times New Roman" pitchFamily="18" charset="0"/>
              </a:rPr>
              <a:t>MD RAID 10 only works on Linux-based operating systems. </a:t>
            </a:r>
          </a:p>
          <a:p>
            <a:pPr marL="1200150" lvl="2" indent="-285750" algn="just">
              <a:spcBef>
                <a:spcPct val="20000"/>
              </a:spcBef>
              <a:buFont typeface="Arial" pitchFamily="34" charset="0"/>
              <a:buChar char="–"/>
              <a:defRPr/>
            </a:pPr>
            <a:r>
              <a:rPr lang="en-US" dirty="0" smtClean="0">
                <a:latin typeface="Times New Roman" pitchFamily="18" charset="0"/>
                <a:cs typeface="Times New Roman" pitchFamily="18" charset="0"/>
              </a:rPr>
              <a:t>Adaptive-RAID This level enables the RAID controller to decide how to store the parity on disks. It will choose between RAID 3 and RAID 5, depending on which RAID set type will perform better with the kind of data being written to the disks.</a:t>
            </a:r>
          </a:p>
          <a:p>
            <a:pPr marL="1200150" lvl="2" indent="-285750" algn="just">
              <a:spcBef>
                <a:spcPct val="20000"/>
              </a:spcBef>
              <a:buFont typeface="Arial" pitchFamily="34" charset="0"/>
              <a:buChar char="–"/>
              <a:defRPr/>
            </a:pPr>
            <a:r>
              <a:rPr lang="en-US" dirty="0" smtClean="0">
                <a:latin typeface="Times New Roman" pitchFamily="18" charset="0"/>
                <a:cs typeface="Times New Roman" pitchFamily="18" charset="0"/>
              </a:rPr>
              <a:t>RAID-7 A non-standard RAID level is based on RAID 3 and RAID 4 that adds caching. It includes a real-time embedded OS as a controller, caching via a high-speed bus, and other stand-alone computer characteristics.</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latin typeface="Times New Roman" pitchFamily="18" charset="0"/>
                <a:cs typeface="Times New Roman" pitchFamily="18" charset="0"/>
              </a:rPr>
              <a:t>Since manufacturers and developers are free to create their own configurations to meet specialty needs, the possibilities are nearly endless.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Nested RAID Levels</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Which is the best RAID level?   </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Each RAID level offers different benefits. However, while choosing the best level for RAID systems, you must check for all the features like Storage Capacity, Application Performance, Cost, and so on. So evaluate all these aspects and your requirements, and choose wisely.</a:t>
            </a:r>
            <a:endParaRPr lang="en-US" sz="2000" b="1" dirty="0" smtClean="0">
              <a:latin typeface="Times New Roman" pitchFamily="18" charset="0"/>
              <a:cs typeface="Times New Roman" pitchFamily="18" charset="0"/>
            </a:endParaRPr>
          </a:p>
          <a:p>
            <a:pPr marL="342900" indent="-342900" algn="just">
              <a:spcBef>
                <a:spcPct val="20000"/>
              </a:spcBef>
              <a:defRPr/>
            </a:pPr>
            <a:endParaRPr lang="en-US" sz="2000" b="1" dirty="0" smtClean="0">
              <a:latin typeface="Times New Roman" pitchFamily="18" charset="0"/>
              <a:cs typeface="Times New Roman" pitchFamily="18" charset="0"/>
            </a:endParaRPr>
          </a:p>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Which RAID level is most secure?   </a:t>
            </a: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When it comes to the most secure RAID level, RAID-10 is considered the best. This is because RAID-10 stripes data across multiple disks. Therefore, the data chunks can be read or written to multiple disks simultaneously. Additionally, RAID-10 offers mirroring that duplicates all your data, thereby offering faster read-write performance and security.</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What is Log-Based Recovery?    </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 log is a sequence of records. Log of each transaction is maintained in some stable storage so that if any failure occurs, then it can be recovered from there.</a:t>
            </a: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If any operation is performed on the database, then it will be recorded in the log.</a:t>
            </a: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 process of storing the logs should be done before the actual transaction is applied in the database.</a:t>
            </a: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There are several types of log records. </a:t>
            </a:r>
          </a:p>
          <a:p>
            <a:pPr algn="just"/>
            <a:r>
              <a:rPr lang="en-US" sz="20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Fields of Log Record   </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A log record has the following fields:</a:t>
            </a:r>
          </a:p>
          <a:p>
            <a:pPr marL="1200150" lvl="2" indent="-285750" algn="just">
              <a:spcBef>
                <a:spcPct val="20000"/>
              </a:spcBef>
              <a:buFont typeface="Arial" pitchFamily="34" charset="0"/>
              <a:buChar char="•"/>
              <a:defRPr/>
            </a:pPr>
            <a:r>
              <a:rPr lang="en-US" sz="2000" b="1" dirty="0" smtClean="0">
                <a:latin typeface="Times New Roman" pitchFamily="18" charset="0"/>
                <a:cs typeface="Times New Roman" pitchFamily="18" charset="0"/>
              </a:rPr>
              <a:t>Transaction identifier: </a:t>
            </a:r>
            <a:r>
              <a:rPr lang="en-US" sz="2000" dirty="0" smtClean="0">
                <a:latin typeface="Times New Roman" pitchFamily="18" charset="0"/>
                <a:cs typeface="Times New Roman" pitchFamily="18" charset="0"/>
              </a:rPr>
              <a:t>Unique identifier that distinguishes one transaction from another.</a:t>
            </a:r>
          </a:p>
          <a:p>
            <a:pPr marL="1200150" lvl="2" indent="-285750" algn="just">
              <a:spcBef>
                <a:spcPct val="20000"/>
              </a:spcBef>
              <a:buFont typeface="Arial" pitchFamily="34" charset="0"/>
              <a:buChar char="•"/>
              <a:defRPr/>
            </a:pPr>
            <a:r>
              <a:rPr lang="en-US" sz="2000" b="1" dirty="0" smtClean="0">
                <a:latin typeface="Times New Roman" pitchFamily="18" charset="0"/>
                <a:cs typeface="Times New Roman" pitchFamily="18" charset="0"/>
              </a:rPr>
              <a:t>Data-item identifier: </a:t>
            </a:r>
            <a:r>
              <a:rPr lang="en-US" sz="2000" dirty="0" smtClean="0">
                <a:latin typeface="Times New Roman" pitchFamily="18" charset="0"/>
                <a:cs typeface="Times New Roman" pitchFamily="18" charset="0"/>
              </a:rPr>
              <a:t>It uniquely identifies data. Typically, it is the location on disk of the data item.</a:t>
            </a:r>
          </a:p>
          <a:p>
            <a:pPr marL="1200150" lvl="2" indent="-285750" algn="just">
              <a:spcBef>
                <a:spcPct val="20000"/>
              </a:spcBef>
              <a:buFont typeface="Arial" pitchFamily="34" charset="0"/>
              <a:buChar char="•"/>
              <a:defRPr/>
            </a:pPr>
            <a:r>
              <a:rPr lang="en-US" sz="2000" b="1" dirty="0" smtClean="0">
                <a:latin typeface="Times New Roman" pitchFamily="18" charset="0"/>
                <a:cs typeface="Times New Roman" pitchFamily="18" charset="0"/>
              </a:rPr>
              <a:t>Old value: </a:t>
            </a:r>
            <a:r>
              <a:rPr lang="en-US" sz="2000" dirty="0" smtClean="0">
                <a:latin typeface="Times New Roman" pitchFamily="18" charset="0"/>
                <a:cs typeface="Times New Roman" pitchFamily="18" charset="0"/>
              </a:rPr>
              <a:t>This is the value of the data item </a:t>
            </a:r>
            <a:r>
              <a:rPr lang="en-US" sz="2000" smtClean="0">
                <a:latin typeface="Times New Roman" pitchFamily="18" charset="0"/>
                <a:cs typeface="Times New Roman" pitchFamily="18" charset="0"/>
              </a:rPr>
              <a:t>before writing</a:t>
            </a:r>
          </a:p>
          <a:p>
            <a:pPr marL="1200150" lvl="2" indent="-285750" algn="just">
              <a:spcBef>
                <a:spcPct val="20000"/>
              </a:spcBef>
              <a:buFont typeface="Arial" pitchFamily="34" charset="0"/>
              <a:buChar char="•"/>
              <a:defRPr/>
            </a:pPr>
            <a:r>
              <a:rPr lang="en-US" sz="2000" b="1" smtClean="0">
                <a:latin typeface="Times New Roman" pitchFamily="18" charset="0"/>
                <a:cs typeface="Times New Roman" pitchFamily="18" charset="0"/>
              </a:rPr>
              <a:t>New </a:t>
            </a:r>
            <a:r>
              <a:rPr lang="en-US" sz="2000" b="1" dirty="0" smtClean="0">
                <a:latin typeface="Times New Roman" pitchFamily="18" charset="0"/>
                <a:cs typeface="Times New Roman" pitchFamily="18" charset="0"/>
              </a:rPr>
              <a:t>value: </a:t>
            </a:r>
            <a:r>
              <a:rPr lang="en-US" sz="2000" dirty="0" smtClean="0">
                <a:latin typeface="Times New Roman" pitchFamily="18" charset="0"/>
                <a:cs typeface="Times New Roman" pitchFamily="18" charset="0"/>
              </a:rPr>
              <a:t>This is the value of the data item after it has been written.</a:t>
            </a:r>
          </a:p>
          <a:p>
            <a:pPr algn="just"/>
            <a:r>
              <a:rPr lang="en-US" sz="2000" dirty="0" smtClean="0">
                <a:latin typeface="Times New Roman" pitchFamily="18" charset="0"/>
                <a:cs typeface="Times New Roman" pitchFamily="18" charset="0"/>
              </a:rPr>
              <a:t> </a:t>
            </a:r>
          </a:p>
          <a:p>
            <a:pPr algn="just"/>
            <a:r>
              <a:rPr lang="en-US" sz="2000" dirty="0" smtClean="0">
                <a:latin typeface="Times New Roman" pitchFamily="18" charset="0"/>
                <a:cs typeface="Times New Roman" pitchFamily="18" charset="0"/>
              </a:rPr>
              <a:t>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Types of Log Records</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There are various types of log records: </a:t>
            </a: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a:p>
            <a:pPr marL="1200150" lvl="2"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smtClean="0">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Whenever a transaction performs a write, a log record is created before the database is modified.</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smtClean="0">
                <a:latin typeface="Times New Roman" pitchFamily="18" charset="0"/>
                <a:cs typeface="Times New Roman" pitchFamily="18" charset="0"/>
              </a:rPr>
              <a:t>The logs may or may not record the reading of data items. Because reading a data item has no effect on the consistency of the database.</a:t>
            </a:r>
          </a:p>
        </p:txBody>
      </p:sp>
      <p:graphicFrame>
        <p:nvGraphicFramePr>
          <p:cNvPr id="10" name="Table 9"/>
          <p:cNvGraphicFramePr>
            <a:graphicFrameLocks noGrp="1"/>
          </p:cNvGraphicFramePr>
          <p:nvPr/>
        </p:nvGraphicFramePr>
        <p:xfrm>
          <a:off x="1524000" y="2438400"/>
          <a:ext cx="6705600" cy="2434150"/>
        </p:xfrm>
        <a:graphic>
          <a:graphicData uri="http://schemas.openxmlformats.org/drawingml/2006/table">
            <a:tbl>
              <a:tblPr/>
              <a:tblGrid>
                <a:gridCol w="1760890"/>
                <a:gridCol w="4944710"/>
              </a:tblGrid>
              <a:tr h="323359">
                <a:tc>
                  <a:txBody>
                    <a:bodyPr/>
                    <a:lstStyle/>
                    <a:p>
                      <a:pPr marL="0" marR="0" algn="ctr">
                        <a:lnSpc>
                          <a:spcPct val="115000"/>
                        </a:lnSpc>
                        <a:spcBef>
                          <a:spcPts val="0"/>
                        </a:spcBef>
                        <a:spcAft>
                          <a:spcPts val="0"/>
                        </a:spcAft>
                      </a:pPr>
                      <a:r>
                        <a:rPr lang="en-US" sz="1600" b="1" kern="0" spc="5" dirty="0">
                          <a:latin typeface="Times New Roman"/>
                          <a:ea typeface="Times New Roman"/>
                          <a:cs typeface="Times New Roman"/>
                        </a:rPr>
                        <a:t>Log Records</a:t>
                      </a:r>
                      <a:endParaRPr lang="en-US" sz="1600" kern="100" dirty="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marL="0" marR="0" algn="ctr">
                        <a:lnSpc>
                          <a:spcPct val="115000"/>
                        </a:lnSpc>
                        <a:spcBef>
                          <a:spcPts val="0"/>
                        </a:spcBef>
                        <a:spcAft>
                          <a:spcPts val="0"/>
                        </a:spcAft>
                      </a:pPr>
                      <a:r>
                        <a:rPr lang="en-US" sz="1600" b="1" kern="0" spc="5">
                          <a:latin typeface="Times New Roman"/>
                          <a:ea typeface="Times New Roman"/>
                          <a:cs typeface="Times New Roman"/>
                        </a:rPr>
                        <a:t>Description</a:t>
                      </a:r>
                      <a:endParaRPr lang="en-US" sz="1600" kern="10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r>
              <a:tr h="323359">
                <a:tc>
                  <a:txBody>
                    <a:bodyPr/>
                    <a:lstStyle/>
                    <a:p>
                      <a:pPr marL="0" marR="0" algn="ctr">
                        <a:lnSpc>
                          <a:spcPct val="115000"/>
                        </a:lnSpc>
                        <a:spcBef>
                          <a:spcPts val="0"/>
                        </a:spcBef>
                        <a:spcAft>
                          <a:spcPts val="0"/>
                        </a:spcAft>
                      </a:pPr>
                      <a:r>
                        <a:rPr lang="en-US" sz="1600" kern="0" spc="5">
                          <a:latin typeface="Times New Roman"/>
                          <a:ea typeface="Times New Roman"/>
                          <a:cs typeface="Times New Roman"/>
                        </a:rPr>
                        <a:t>&lt;Ti start&gt;</a:t>
                      </a:r>
                      <a:endParaRPr lang="en-US" sz="1600" kern="10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marL="0" marR="0" algn="just">
                        <a:lnSpc>
                          <a:spcPct val="115000"/>
                        </a:lnSpc>
                        <a:spcBef>
                          <a:spcPts val="0"/>
                        </a:spcBef>
                        <a:spcAft>
                          <a:spcPts val="0"/>
                        </a:spcAft>
                      </a:pPr>
                      <a:r>
                        <a:rPr lang="en-US" sz="1600" kern="0" spc="5" dirty="0">
                          <a:latin typeface="Times New Roman"/>
                          <a:ea typeface="Times New Roman"/>
                          <a:cs typeface="Times New Roman"/>
                        </a:rPr>
                        <a:t>Transaction Ti has started.</a:t>
                      </a:r>
                      <a:endParaRPr lang="en-US" sz="1600" kern="100" dirty="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r>
              <a:tr h="916363">
                <a:tc>
                  <a:txBody>
                    <a:bodyPr/>
                    <a:lstStyle/>
                    <a:p>
                      <a:pPr marL="0" marR="0" algn="ctr">
                        <a:lnSpc>
                          <a:spcPct val="115000"/>
                        </a:lnSpc>
                        <a:spcBef>
                          <a:spcPts val="0"/>
                        </a:spcBef>
                        <a:spcAft>
                          <a:spcPts val="0"/>
                        </a:spcAft>
                      </a:pPr>
                      <a:r>
                        <a:rPr lang="en-US" sz="1600" kern="0" spc="5">
                          <a:latin typeface="Times New Roman"/>
                          <a:ea typeface="Times New Roman"/>
                          <a:cs typeface="Times New Roman"/>
                        </a:rPr>
                        <a:t>&lt;Ti, Xj, V1, V2&gt;</a:t>
                      </a:r>
                      <a:endParaRPr lang="en-US" sz="1600" kern="10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marL="0" marR="0" algn="just">
                        <a:lnSpc>
                          <a:spcPct val="115000"/>
                        </a:lnSpc>
                        <a:spcBef>
                          <a:spcPts val="0"/>
                        </a:spcBef>
                        <a:spcAft>
                          <a:spcPts val="0"/>
                        </a:spcAft>
                      </a:pPr>
                      <a:r>
                        <a:rPr lang="en-US" sz="1600" kern="0" spc="5" dirty="0">
                          <a:latin typeface="Times New Roman"/>
                          <a:ea typeface="Times New Roman"/>
                          <a:cs typeface="Times New Roman"/>
                        </a:rPr>
                        <a:t>Transaction Ti has performed a write operation on data item </a:t>
                      </a:r>
                      <a:r>
                        <a:rPr lang="en-US" sz="1600" kern="0" spc="5" dirty="0" err="1">
                          <a:latin typeface="Times New Roman"/>
                          <a:ea typeface="Times New Roman"/>
                          <a:cs typeface="Times New Roman"/>
                        </a:rPr>
                        <a:t>Xj</a:t>
                      </a:r>
                      <a:r>
                        <a:rPr lang="en-US" sz="1600" kern="0" spc="5" dirty="0">
                          <a:latin typeface="Times New Roman"/>
                          <a:ea typeface="Times New Roman"/>
                          <a:cs typeface="Times New Roman"/>
                        </a:rPr>
                        <a: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err="1">
                          <a:latin typeface="Times New Roman"/>
                          <a:ea typeface="Times New Roman"/>
                          <a:cs typeface="Times New Roman"/>
                        </a:rPr>
                        <a:t>Xj</a:t>
                      </a:r>
                      <a:r>
                        <a:rPr lang="en-US" sz="1600" kern="0" spc="5" dirty="0">
                          <a:latin typeface="Times New Roman"/>
                          <a:ea typeface="Times New Roman"/>
                          <a:cs typeface="Times New Roman"/>
                        </a:rPr>
                        <a:t> contains value V1 before the write and will contain value V2 after the write.</a:t>
                      </a:r>
                      <a:endParaRPr lang="en-US" sz="1600" kern="100" dirty="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r>
              <a:tr h="323359">
                <a:tc>
                  <a:txBody>
                    <a:bodyPr/>
                    <a:lstStyle/>
                    <a:p>
                      <a:pPr marL="0" marR="0" algn="ctr">
                        <a:lnSpc>
                          <a:spcPct val="115000"/>
                        </a:lnSpc>
                        <a:spcBef>
                          <a:spcPts val="0"/>
                        </a:spcBef>
                        <a:spcAft>
                          <a:spcPts val="0"/>
                        </a:spcAft>
                      </a:pPr>
                      <a:r>
                        <a:rPr lang="en-US" sz="1600" kern="0" spc="5">
                          <a:latin typeface="Times New Roman"/>
                          <a:ea typeface="Times New Roman"/>
                          <a:cs typeface="Times New Roman"/>
                        </a:rPr>
                        <a:t>&lt;Ti commit&gt;</a:t>
                      </a:r>
                      <a:endParaRPr lang="en-US" sz="1600" kern="10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marL="0" marR="0" algn="just">
                        <a:lnSpc>
                          <a:spcPct val="115000"/>
                        </a:lnSpc>
                        <a:spcBef>
                          <a:spcPts val="0"/>
                        </a:spcBef>
                        <a:spcAft>
                          <a:spcPts val="0"/>
                        </a:spcAft>
                      </a:pPr>
                      <a:r>
                        <a:rPr lang="en-US" sz="1600" kern="0" spc="5">
                          <a:latin typeface="Times New Roman"/>
                          <a:ea typeface="Times New Roman"/>
                          <a:cs typeface="Times New Roman"/>
                        </a:rPr>
                        <a:t>Transaction Ti has committed.</a:t>
                      </a:r>
                      <a:endParaRPr lang="en-US" sz="1600" kern="10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r>
              <a:tr h="323359">
                <a:tc>
                  <a:txBody>
                    <a:bodyPr/>
                    <a:lstStyle/>
                    <a:p>
                      <a:pPr marL="0" marR="0" algn="ctr">
                        <a:lnSpc>
                          <a:spcPct val="115000"/>
                        </a:lnSpc>
                        <a:spcBef>
                          <a:spcPts val="0"/>
                        </a:spcBef>
                        <a:spcAft>
                          <a:spcPts val="0"/>
                        </a:spcAft>
                      </a:pPr>
                      <a:r>
                        <a:rPr lang="en-US" sz="1600" kern="0" spc="5">
                          <a:latin typeface="Times New Roman"/>
                          <a:ea typeface="Times New Roman"/>
                          <a:cs typeface="Times New Roman"/>
                        </a:rPr>
                        <a:t>&lt;Ti abort&gt;</a:t>
                      </a:r>
                      <a:endParaRPr lang="en-US" sz="1600" kern="10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marL="0" marR="0" algn="just">
                        <a:lnSpc>
                          <a:spcPct val="115000"/>
                        </a:lnSpc>
                        <a:spcBef>
                          <a:spcPts val="0"/>
                        </a:spcBef>
                        <a:spcAft>
                          <a:spcPts val="0"/>
                        </a:spcAft>
                      </a:pPr>
                      <a:r>
                        <a:rPr lang="en-US" sz="1600" kern="0" spc="5" dirty="0">
                          <a:latin typeface="Times New Roman"/>
                          <a:ea typeface="Times New Roman"/>
                          <a:cs typeface="Times New Roman"/>
                        </a:rPr>
                        <a:t>Transaction Ti has aborted.</a:t>
                      </a:r>
                      <a:endParaRPr lang="en-US" sz="1600" kern="100" dirty="0">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Two operations during the recovery process</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b="1" dirty="0" smtClean="0">
                <a:latin typeface="Times New Roman" pitchFamily="18" charset="0"/>
                <a:cs typeface="Times New Roman" pitchFamily="18" charset="0"/>
              </a:rPr>
              <a:t>Undo(Ti)</a:t>
            </a:r>
            <a:r>
              <a:rPr lang="en-US" sz="2000" dirty="0" smtClean="0">
                <a:latin typeface="Times New Roman" pitchFamily="18" charset="0"/>
                <a:cs typeface="Times New Roman" pitchFamily="18" charset="0"/>
              </a:rPr>
              <a:t>: Restores the old values of each of the data items in Ti that have been updated by the transaction Ti.</a:t>
            </a:r>
          </a:p>
          <a:p>
            <a:pPr marL="742950" lvl="1" indent="-285750" algn="just">
              <a:spcBef>
                <a:spcPct val="20000"/>
              </a:spcBef>
              <a:buFont typeface="Arial" pitchFamily="34" charset="0"/>
              <a:buChar char="–"/>
              <a:defRPr/>
            </a:pPr>
            <a:r>
              <a:rPr lang="en-US" sz="2000" b="1" dirty="0" smtClean="0">
                <a:latin typeface="Times New Roman" pitchFamily="18" charset="0"/>
                <a:cs typeface="Times New Roman" pitchFamily="18" charset="0"/>
              </a:rPr>
              <a:t>Redo(Ti)</a:t>
            </a:r>
            <a:r>
              <a:rPr lang="en-US" sz="2000" dirty="0" smtClean="0">
                <a:latin typeface="Times New Roman" pitchFamily="18" charset="0"/>
                <a:cs typeface="Times New Roman" pitchFamily="18" charset="0"/>
              </a:rPr>
              <a:t>: Updates all data items updated by transaction Ti with their new values. </a:t>
            </a:r>
          </a:p>
          <a:p>
            <a:pPr algn="just"/>
            <a:endParaRPr lang="en-US" sz="2000" dirty="0" smtClean="0">
              <a:latin typeface="Times New Roman" pitchFamily="18" charset="0"/>
              <a:cs typeface="Times New Roman" pitchFamily="18" charset="0"/>
            </a:endParaRPr>
          </a:p>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Database Modification Techniques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There are two approaches to modify the database:</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Deferred database modification and</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Immediate database modification</a:t>
            </a: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Deferred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 deferred modification technique occurs if the transaction does not modify the database until it has committed.</a:t>
            </a: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In this method, all the logs are created and stored in the stable storage, and the database is updated when a transaction commits.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Deferred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defRPr/>
            </a:pPr>
            <a:r>
              <a:rPr lang="en-US" sz="2000" b="1" dirty="0" smtClean="0">
                <a:latin typeface="Times New Roman" pitchFamily="18" charset="0"/>
                <a:cs typeface="Times New Roman" pitchFamily="18" charset="0"/>
              </a:rPr>
              <a:t>Recovery technique based on deferred update:</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Follow these steps to recover using the deferred update process: </a:t>
            </a:r>
          </a:p>
          <a:p>
            <a:pPr marL="1200150" lvl="2" indent="-285750" algn="just">
              <a:spcBef>
                <a:spcPct val="20000"/>
              </a:spcBef>
              <a:buFont typeface="Arial" pitchFamily="34" charset="0"/>
              <a:buChar char="•"/>
              <a:defRPr/>
            </a:pPr>
            <a:r>
              <a:rPr lang="en-US" dirty="0" smtClean="0">
                <a:latin typeface="Times New Roman" pitchFamily="18" charset="0"/>
                <a:cs typeface="Times New Roman" pitchFamily="18" charset="0"/>
              </a:rPr>
              <a:t>Search the log for the most recent checkpoint record. This is the last time the transaction data was sent to disk. All transactions that were started and committed </a:t>
            </a:r>
            <a:r>
              <a:rPr lang="en-US" b="1" dirty="0" smtClean="0">
                <a:latin typeface="Times New Roman" pitchFamily="18" charset="0"/>
                <a:cs typeface="Times New Roman" pitchFamily="18" charset="0"/>
              </a:rPr>
              <a:t>before the last checkpoint</a:t>
            </a:r>
            <a:r>
              <a:rPr lang="en-US" dirty="0" smtClean="0">
                <a:latin typeface="Times New Roman" pitchFamily="18" charset="0"/>
                <a:cs typeface="Times New Roman" pitchFamily="18" charset="0"/>
              </a:rPr>
              <a:t> do not need to do anything because the data has already been saved.</a:t>
            </a:r>
          </a:p>
          <a:p>
            <a:pPr marL="1200150" lvl="2" indent="-285750" algn="just">
              <a:spcBef>
                <a:spcPct val="20000"/>
              </a:spcBef>
              <a:buFont typeface="Arial" pitchFamily="34" charset="0"/>
              <a:buChar char="•"/>
              <a:defRPr/>
            </a:pPr>
            <a:r>
              <a:rPr lang="en-US" dirty="0" smtClean="0">
                <a:latin typeface="Times New Roman" pitchFamily="18" charset="0"/>
                <a:cs typeface="Times New Roman" pitchFamily="18" charset="0"/>
              </a:rPr>
              <a:t>For any transaction T, if the log contains both a &lt;T start&gt; record and a &lt;T commit&gt; record that appear in the log </a:t>
            </a:r>
            <a:r>
              <a:rPr lang="en-US" b="1" dirty="0" smtClean="0">
                <a:latin typeface="Times New Roman" pitchFamily="18" charset="0"/>
                <a:cs typeface="Times New Roman" pitchFamily="18" charset="0"/>
              </a:rPr>
              <a:t>after the last checkpoint, </a:t>
            </a:r>
            <a:r>
              <a:rPr lang="en-US" dirty="0" smtClean="0">
                <a:latin typeface="Times New Roman" pitchFamily="18" charset="0"/>
                <a:cs typeface="Times New Roman" pitchFamily="18" charset="0"/>
              </a:rPr>
              <a:t>this method uses the log records to redo the transaction and update the database using new value in the log.</a:t>
            </a:r>
          </a:p>
          <a:p>
            <a:pPr marL="1200150" lvl="2" indent="-285750" algn="just">
              <a:spcBef>
                <a:spcPct val="20000"/>
              </a:spcBef>
              <a:buFont typeface="Arial" pitchFamily="34" charset="0"/>
              <a:buChar char="•"/>
              <a:defRPr/>
            </a:pPr>
            <a:r>
              <a:rPr lang="en-US" dirty="0" smtClean="0">
                <a:latin typeface="Times New Roman" pitchFamily="18" charset="0"/>
                <a:cs typeface="Times New Roman" pitchFamily="18" charset="0"/>
              </a:rPr>
              <a:t>For any transaction T, if the log only has a &lt;T start&gt; record but not a &lt;T commit&gt; record </a:t>
            </a:r>
            <a:r>
              <a:rPr lang="en-US" b="1" dirty="0" smtClean="0">
                <a:latin typeface="Times New Roman" pitchFamily="18" charset="0"/>
                <a:cs typeface="Times New Roman" pitchFamily="18" charset="0"/>
              </a:rPr>
              <a:t>after the last checkpoint</a:t>
            </a:r>
            <a:r>
              <a:rPr lang="en-US" dirty="0" smtClean="0">
                <a:latin typeface="Times New Roman" pitchFamily="18" charset="0"/>
                <a:cs typeface="Times New Roman" pitchFamily="18" charset="0"/>
              </a:rPr>
              <a:t>, nothing needs to be done because the database has never been updated.</a:t>
            </a:r>
          </a:p>
          <a:p>
            <a:pPr marL="742950" lvl="1" indent="-285750" algn="just">
              <a:spcBef>
                <a:spcPct val="20000"/>
              </a:spcBef>
              <a:defRP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Deferred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dirty="0" smtClean="0">
                <a:latin typeface="Times New Roman" pitchFamily="18" charset="0"/>
                <a:cs typeface="Times New Roman" pitchFamily="18" charset="0"/>
              </a:rPr>
              <a:t>To illustrate the concept of deferred update process, consider an example involving two transactions T1 and T2. Transaction T1 transfers Tk. 200 from account A to account B and transaction T2 withdraws Tk. 100 from account C. The initial balances of accounts A, B and C are Tk. 1000, Tk. 1500 and Tk. 2000 respectively. Suppose transactions T1 and T2 are executed sequentially with T1 followed by T2. </a:t>
            </a:r>
          </a:p>
        </p:txBody>
      </p:sp>
      <p:graphicFrame>
        <p:nvGraphicFramePr>
          <p:cNvPr id="10" name="Table 9"/>
          <p:cNvGraphicFramePr>
            <a:graphicFrameLocks noGrp="1"/>
          </p:cNvGraphicFramePr>
          <p:nvPr/>
        </p:nvGraphicFramePr>
        <p:xfrm>
          <a:off x="2438400" y="4038600"/>
          <a:ext cx="4572000" cy="2286000"/>
        </p:xfrm>
        <a:graphic>
          <a:graphicData uri="http://schemas.openxmlformats.org/drawingml/2006/table">
            <a:tbl>
              <a:tblPr/>
              <a:tblGrid>
                <a:gridCol w="2239347"/>
                <a:gridCol w="2332653"/>
              </a:tblGrid>
              <a:tr h="326572">
                <a:tc>
                  <a:txBody>
                    <a:bodyPr/>
                    <a:lstStyle/>
                    <a:p>
                      <a:pPr marL="0" marR="0" algn="ctr">
                        <a:lnSpc>
                          <a:spcPct val="115000"/>
                        </a:lnSpc>
                        <a:spcBef>
                          <a:spcPts val="0"/>
                        </a:spcBef>
                        <a:spcAft>
                          <a:spcPts val="0"/>
                        </a:spcAft>
                      </a:pPr>
                      <a:r>
                        <a:rPr lang="en-US" sz="1800" kern="100" dirty="0">
                          <a:latin typeface="Times New Roman"/>
                          <a:ea typeface="Calibri"/>
                          <a:cs typeface="Times New Roman"/>
                        </a:rPr>
                        <a:t>T1</a:t>
                      </a:r>
                      <a:endParaRPr lang="en-US" sz="1800" kern="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kern="100">
                          <a:latin typeface="Times New Roman"/>
                          <a:ea typeface="Calibri"/>
                          <a:cs typeface="Times New Roman"/>
                        </a:rPr>
                        <a:t>T2</a:t>
                      </a:r>
                      <a:endParaRPr lang="en-US" sz="1800" kern="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59428">
                <a:tc>
                  <a:txBody>
                    <a:bodyPr/>
                    <a:lstStyle/>
                    <a:p>
                      <a:pPr marL="0" marR="0" algn="just">
                        <a:lnSpc>
                          <a:spcPct val="115000"/>
                        </a:lnSpc>
                        <a:spcBef>
                          <a:spcPts val="0"/>
                        </a:spcBef>
                        <a:spcAft>
                          <a:spcPts val="0"/>
                        </a:spcAft>
                      </a:pPr>
                      <a:r>
                        <a:rPr lang="en-US" sz="1800" kern="100" dirty="0">
                          <a:latin typeface="Times New Roman"/>
                          <a:ea typeface="Calibri"/>
                          <a:cs typeface="Times New Roman"/>
                        </a:rPr>
                        <a:t>Read (A)</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smtClean="0">
                          <a:latin typeface="Times New Roman"/>
                          <a:ea typeface="Calibri"/>
                          <a:cs typeface="Times New Roman"/>
                        </a:rPr>
                        <a:t>    A </a:t>
                      </a:r>
                      <a:r>
                        <a:rPr lang="en-US" sz="1800" kern="100" dirty="0">
                          <a:latin typeface="Times New Roman"/>
                          <a:ea typeface="Calibri"/>
                          <a:cs typeface="Times New Roman"/>
                        </a:rPr>
                        <a:t>: = A – 200</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a:latin typeface="Times New Roman"/>
                          <a:ea typeface="Calibri"/>
                          <a:cs typeface="Times New Roman"/>
                        </a:rPr>
                        <a:t>Write (A)</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smtClean="0">
                          <a:latin typeface="Times New Roman"/>
                          <a:ea typeface="Calibri"/>
                          <a:cs typeface="Times New Roman"/>
                        </a:rPr>
                        <a:t>    Read </a:t>
                      </a:r>
                      <a:r>
                        <a:rPr lang="en-US" sz="1800" kern="100" dirty="0">
                          <a:latin typeface="Times New Roman"/>
                          <a:ea typeface="Calibri"/>
                          <a:cs typeface="Times New Roman"/>
                        </a:rPr>
                        <a:t>(B)</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smtClean="0">
                          <a:latin typeface="Times New Roman"/>
                          <a:ea typeface="Calibri"/>
                          <a:cs typeface="Times New Roman"/>
                        </a:rPr>
                        <a:t>    B </a:t>
                      </a:r>
                      <a:r>
                        <a:rPr lang="en-US" sz="1800" kern="100" dirty="0">
                          <a:latin typeface="Times New Roman"/>
                          <a:ea typeface="Calibri"/>
                          <a:cs typeface="Times New Roman"/>
                        </a:rPr>
                        <a:t>:= B + 200</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a:latin typeface="Times New Roman"/>
                          <a:ea typeface="Calibri"/>
                          <a:cs typeface="Times New Roman"/>
                        </a:rPr>
                        <a:t>Write (B)</a:t>
                      </a:r>
                      <a:endParaRPr lang="en-US" sz="1800" kern="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kern="100" dirty="0">
                          <a:latin typeface="Times New Roman"/>
                          <a:ea typeface="Calibri"/>
                          <a:cs typeface="Times New Roman"/>
                        </a:rPr>
                        <a:t>Read (C)</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smtClean="0">
                          <a:latin typeface="Times New Roman"/>
                          <a:ea typeface="Calibri"/>
                          <a:cs typeface="Times New Roman"/>
                        </a:rPr>
                        <a:t>    C </a:t>
                      </a:r>
                      <a:r>
                        <a:rPr lang="en-US" sz="1800" kern="100" dirty="0">
                          <a:latin typeface="Times New Roman"/>
                          <a:ea typeface="Calibri"/>
                          <a:cs typeface="Times New Roman"/>
                        </a:rPr>
                        <a:t>: = C – 100</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a:latin typeface="Times New Roman"/>
                          <a:ea typeface="Calibri"/>
                          <a:cs typeface="Times New Roman"/>
                        </a:rPr>
                        <a:t>Write (C)</a:t>
                      </a:r>
                      <a:endParaRPr lang="en-US" sz="1800" kern="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Deferred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b="1" dirty="0" smtClean="0">
                <a:latin typeface="Times New Roman" pitchFamily="18" charset="0"/>
                <a:cs typeface="Times New Roman" pitchFamily="18" charset="0"/>
              </a:rPr>
              <a:t>The order in which these transactions will be stored in log:</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When a transaction starts, a transaction start record is written in the log. Here when transaction T1 starts, a start record &lt;T1 start&gt; is written in the log. Similarly, when a transaction T2 starts, a start record &lt;T2 start&gt; is written in the log.</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When a write operation is performed, a write log record is written. Here when transaction T1 performs a Write (A) operation, a write record &lt;T1, A, 800&gt; is written in the log. Similarly on execution of Write (B) operation by transaction T1 and Write(C) operation by transaction T2, appropriate write log records are written. One should note at this point that updates are not written to disk.</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Deferred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b="1" dirty="0" smtClean="0">
                <a:latin typeface="Times New Roman" pitchFamily="18" charset="0"/>
                <a:cs typeface="Times New Roman" pitchFamily="18" charset="0"/>
              </a:rPr>
              <a:t>The order in which these transactions will be stored in log:</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When the transaction is committed, a commit record is written in the log. Here when transaction T1 commits, a transaction commit record &lt;T1 commit&gt; is written to the log. Similarly, when transaction T2 commits, a transaction commit record &lt;T2 commit&gt; is written to the log.</a:t>
            </a: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Deferred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 full contents of the log and the database when these two transactions (T1 and T2) are executed serially with T1 followed by T2 are shown below:</a:t>
            </a:r>
          </a:p>
        </p:txBody>
      </p:sp>
      <p:graphicFrame>
        <p:nvGraphicFramePr>
          <p:cNvPr id="10" name="Table 9"/>
          <p:cNvGraphicFramePr>
            <a:graphicFrameLocks noGrp="1"/>
          </p:cNvGraphicFramePr>
          <p:nvPr/>
        </p:nvGraphicFramePr>
        <p:xfrm>
          <a:off x="2209800" y="3352800"/>
          <a:ext cx="4924425" cy="3084576"/>
        </p:xfrm>
        <a:graphic>
          <a:graphicData uri="http://schemas.openxmlformats.org/drawingml/2006/table">
            <a:tbl>
              <a:tblPr/>
              <a:tblGrid>
                <a:gridCol w="2493380"/>
                <a:gridCol w="2431045"/>
              </a:tblGrid>
              <a:tr h="249382">
                <a:tc>
                  <a:txBody>
                    <a:bodyPr/>
                    <a:lstStyle/>
                    <a:p>
                      <a:pPr marL="0" marR="0" algn="ctr">
                        <a:lnSpc>
                          <a:spcPct val="115000"/>
                        </a:lnSpc>
                        <a:spcBef>
                          <a:spcPts val="0"/>
                        </a:spcBef>
                        <a:spcAft>
                          <a:spcPts val="0"/>
                        </a:spcAft>
                      </a:pPr>
                      <a:r>
                        <a:rPr lang="en-US" sz="1600" b="1" kern="100" dirty="0">
                          <a:latin typeface="Times New Roman"/>
                          <a:ea typeface="Calibri"/>
                          <a:cs typeface="Times New Roman"/>
                        </a:rPr>
                        <a:t>Log</a:t>
                      </a:r>
                      <a:endParaRPr lang="en-US" sz="1600" kern="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kern="100">
                          <a:latin typeface="Times New Roman"/>
                          <a:ea typeface="Calibri"/>
                          <a:cs typeface="Times New Roman"/>
                        </a:rPr>
                        <a:t>Database</a:t>
                      </a:r>
                      <a:endParaRPr lang="en-US" sz="1600" kern="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97527">
                <a:tc>
                  <a:txBody>
                    <a:bodyPr/>
                    <a:lstStyle/>
                    <a:p>
                      <a:pPr marL="0" marR="0" algn="just">
                        <a:lnSpc>
                          <a:spcPct val="115000"/>
                        </a:lnSpc>
                        <a:spcBef>
                          <a:spcPts val="0"/>
                        </a:spcBef>
                        <a:spcAft>
                          <a:spcPts val="0"/>
                        </a:spcAft>
                      </a:pPr>
                      <a:r>
                        <a:rPr lang="en-US" sz="1600" kern="0" spc="5">
                          <a:latin typeface="Times New Roman"/>
                          <a:ea typeface="Times New Roman"/>
                          <a:cs typeface="Times New Roman"/>
                        </a:rPr>
                        <a:t>&lt;T1 start&gt;</a:t>
                      </a:r>
                      <a:endParaRPr lang="en-US" sz="1600" kern="100">
                        <a:latin typeface="Calibri"/>
                        <a:ea typeface="Calibri"/>
                        <a:cs typeface="Times New Roman"/>
                      </a:endParaRPr>
                    </a:p>
                    <a:p>
                      <a:pPr marL="0" marR="0" algn="just">
                        <a:lnSpc>
                          <a:spcPct val="115000"/>
                        </a:lnSpc>
                        <a:spcBef>
                          <a:spcPts val="0"/>
                        </a:spcBef>
                        <a:spcAft>
                          <a:spcPts val="0"/>
                        </a:spcAft>
                      </a:pPr>
                      <a:r>
                        <a:rPr lang="en-US" sz="1600" kern="0" spc="5">
                          <a:latin typeface="Times New Roman"/>
                          <a:ea typeface="Times New Roman"/>
                          <a:cs typeface="Times New Roman"/>
                        </a:rPr>
                        <a:t>&lt;T1, A, 800&gt;</a:t>
                      </a:r>
                      <a:endParaRPr lang="en-US" sz="1600" kern="100">
                        <a:latin typeface="Calibri"/>
                        <a:ea typeface="Calibri"/>
                        <a:cs typeface="Times New Roman"/>
                      </a:endParaRPr>
                    </a:p>
                    <a:p>
                      <a:pPr marL="0" marR="0" algn="just">
                        <a:lnSpc>
                          <a:spcPct val="115000"/>
                        </a:lnSpc>
                        <a:spcBef>
                          <a:spcPts val="0"/>
                        </a:spcBef>
                        <a:spcAft>
                          <a:spcPts val="0"/>
                        </a:spcAft>
                      </a:pPr>
                      <a:r>
                        <a:rPr lang="en-US" sz="1600" kern="0" spc="5">
                          <a:latin typeface="Times New Roman"/>
                          <a:ea typeface="Times New Roman"/>
                          <a:cs typeface="Times New Roman"/>
                        </a:rPr>
                        <a:t>&lt;T1, B, 1700&gt;</a:t>
                      </a:r>
                      <a:endParaRPr lang="en-US" sz="1600" kern="100">
                        <a:latin typeface="Calibri"/>
                        <a:ea typeface="Calibri"/>
                        <a:cs typeface="Times New Roman"/>
                      </a:endParaRPr>
                    </a:p>
                    <a:p>
                      <a:pPr marL="0" marR="0" algn="just">
                        <a:lnSpc>
                          <a:spcPct val="115000"/>
                        </a:lnSpc>
                        <a:spcBef>
                          <a:spcPts val="0"/>
                        </a:spcBef>
                        <a:spcAft>
                          <a:spcPts val="0"/>
                        </a:spcAft>
                      </a:pPr>
                      <a:r>
                        <a:rPr lang="en-US" sz="1600" kern="0" spc="5">
                          <a:latin typeface="Times New Roman"/>
                          <a:ea typeface="Times New Roman"/>
                          <a:cs typeface="Times New Roman"/>
                        </a:rPr>
                        <a:t>&lt;T1 commit&gt;</a:t>
                      </a:r>
                      <a:endParaRPr lang="en-US" sz="1600" kern="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just">
                        <a:lnSpc>
                          <a:spcPct val="115000"/>
                        </a:lnSpc>
                        <a:spcBef>
                          <a:spcPts val="0"/>
                        </a:spcBef>
                        <a:spcAft>
                          <a:spcPts val="0"/>
                        </a:spcAft>
                      </a:pPr>
                      <a:endParaRPr lang="en-US" sz="1600" kern="1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498764">
                <a:tc>
                  <a:txBody>
                    <a:bodyPr/>
                    <a:lstStyle/>
                    <a:p>
                      <a:pPr marL="0" marR="0" algn="just">
                        <a:lnSpc>
                          <a:spcPct val="115000"/>
                        </a:lnSpc>
                        <a:spcBef>
                          <a:spcPts val="0"/>
                        </a:spcBef>
                        <a:spcAft>
                          <a:spcPts val="0"/>
                        </a:spcAft>
                      </a:pPr>
                      <a:endParaRPr lang="en-US" sz="1600" kern="1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0"/>
                        </a:spcAft>
                      </a:pPr>
                      <a:r>
                        <a:rPr lang="en-US" sz="1600" kern="100">
                          <a:latin typeface="Times New Roman"/>
                          <a:ea typeface="Calibri"/>
                          <a:cs typeface="Times New Roman"/>
                        </a:rPr>
                        <a:t>A=800</a:t>
                      </a:r>
                      <a:endParaRPr lang="en-US" sz="1600" kern="100">
                        <a:latin typeface="Calibri"/>
                        <a:ea typeface="Calibri"/>
                        <a:cs typeface="Times New Roman"/>
                      </a:endParaRPr>
                    </a:p>
                    <a:p>
                      <a:pPr marL="0" marR="0" algn="just">
                        <a:lnSpc>
                          <a:spcPct val="115000"/>
                        </a:lnSpc>
                        <a:spcBef>
                          <a:spcPts val="0"/>
                        </a:spcBef>
                        <a:spcAft>
                          <a:spcPts val="0"/>
                        </a:spcAft>
                      </a:pPr>
                      <a:r>
                        <a:rPr lang="en-US" sz="1600" kern="100">
                          <a:latin typeface="Times New Roman"/>
                          <a:ea typeface="Calibri"/>
                          <a:cs typeface="Times New Roman"/>
                        </a:rPr>
                        <a:t>B=1700</a:t>
                      </a:r>
                      <a:endParaRPr lang="en-US" sz="1600" kern="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748145">
                <a:tc>
                  <a:txBody>
                    <a:bodyPr/>
                    <a:lstStyle/>
                    <a:p>
                      <a:pPr marL="0" marR="0" algn="just">
                        <a:lnSpc>
                          <a:spcPct val="115000"/>
                        </a:lnSpc>
                        <a:spcBef>
                          <a:spcPts val="0"/>
                        </a:spcBef>
                        <a:spcAft>
                          <a:spcPts val="0"/>
                        </a:spcAft>
                      </a:pPr>
                      <a:r>
                        <a:rPr lang="en-US" sz="1600" kern="0" spc="5">
                          <a:latin typeface="Times New Roman"/>
                          <a:ea typeface="Times New Roman"/>
                          <a:cs typeface="Times New Roman"/>
                        </a:rPr>
                        <a:t>&lt;T2 start&gt;</a:t>
                      </a:r>
                      <a:endParaRPr lang="en-US" sz="1600" kern="100">
                        <a:latin typeface="Calibri"/>
                        <a:ea typeface="Calibri"/>
                        <a:cs typeface="Times New Roman"/>
                      </a:endParaRPr>
                    </a:p>
                    <a:p>
                      <a:pPr marL="0" marR="0" algn="just">
                        <a:lnSpc>
                          <a:spcPct val="115000"/>
                        </a:lnSpc>
                        <a:spcBef>
                          <a:spcPts val="0"/>
                        </a:spcBef>
                        <a:spcAft>
                          <a:spcPts val="0"/>
                        </a:spcAft>
                      </a:pPr>
                      <a:r>
                        <a:rPr lang="en-US" sz="1600" kern="0" spc="5">
                          <a:latin typeface="Times New Roman"/>
                          <a:ea typeface="Times New Roman"/>
                          <a:cs typeface="Times New Roman"/>
                        </a:rPr>
                        <a:t>&lt;T2, C, 1900&gt;</a:t>
                      </a:r>
                      <a:endParaRPr lang="en-US" sz="1600" kern="100">
                        <a:latin typeface="Calibri"/>
                        <a:ea typeface="Calibri"/>
                        <a:cs typeface="Times New Roman"/>
                      </a:endParaRPr>
                    </a:p>
                    <a:p>
                      <a:pPr marL="0" marR="0" algn="just">
                        <a:lnSpc>
                          <a:spcPct val="115000"/>
                        </a:lnSpc>
                        <a:spcBef>
                          <a:spcPts val="0"/>
                        </a:spcBef>
                        <a:spcAft>
                          <a:spcPts val="0"/>
                        </a:spcAft>
                      </a:pPr>
                      <a:r>
                        <a:rPr lang="en-US" sz="1600" kern="0" spc="5">
                          <a:latin typeface="Times New Roman"/>
                          <a:ea typeface="Times New Roman"/>
                          <a:cs typeface="Times New Roman"/>
                        </a:rPr>
                        <a:t>&lt;T2 commit&gt;</a:t>
                      </a:r>
                      <a:endParaRPr lang="en-US" sz="1600" kern="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0"/>
                        </a:spcAft>
                      </a:pPr>
                      <a:endParaRPr lang="en-US" sz="1600" kern="1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49382">
                <a:tc>
                  <a:txBody>
                    <a:bodyPr/>
                    <a:lstStyle/>
                    <a:p>
                      <a:pPr marL="0" marR="0" algn="just">
                        <a:lnSpc>
                          <a:spcPct val="115000"/>
                        </a:lnSpc>
                        <a:spcBef>
                          <a:spcPts val="0"/>
                        </a:spcBef>
                        <a:spcAft>
                          <a:spcPts val="0"/>
                        </a:spcAft>
                      </a:pPr>
                      <a:endParaRPr lang="en-US" sz="1600" kern="0" spc="5">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100" dirty="0">
                          <a:latin typeface="Times New Roman"/>
                          <a:ea typeface="Calibri"/>
                          <a:cs typeface="Times New Roman"/>
                        </a:rPr>
                        <a:t>C=1900</a:t>
                      </a:r>
                      <a:endParaRPr lang="en-US" sz="1600" kern="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Deferred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In case of failure, the log files are examined starting with the last entry till the most recent checkpoint. The recovery scheme uses the following operation:</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redo(</a:t>
            </a:r>
            <a:r>
              <a:rPr lang="en-US" sz="2000" i="1" dirty="0" smtClean="0">
                <a:latin typeface="Times New Roman" pitchFamily="18" charset="0"/>
                <a:cs typeface="Times New Roman" pitchFamily="18" charset="0"/>
              </a:rPr>
              <a:t>T</a:t>
            </a:r>
            <a:r>
              <a:rPr lang="en-US" sz="2000" i="1" baseline="-25000" dirty="0"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sets the value of all data items updated by transaction </a:t>
            </a:r>
            <a:r>
              <a:rPr lang="en-US" sz="2000" i="1" dirty="0" smtClean="0">
                <a:latin typeface="Times New Roman" pitchFamily="18" charset="0"/>
                <a:cs typeface="Times New Roman" pitchFamily="18" charset="0"/>
              </a:rPr>
              <a:t>Ti </a:t>
            </a:r>
            <a:r>
              <a:rPr lang="en-US" sz="2000" dirty="0" smtClean="0">
                <a:latin typeface="Times New Roman" pitchFamily="18" charset="0"/>
                <a:cs typeface="Times New Roman" pitchFamily="18" charset="0"/>
              </a:rPr>
              <a:t>to the new values.</a:t>
            </a: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After a failure, the recovery scheme consults the log to determine which transactions need to be redone. Transaction </a:t>
            </a:r>
            <a:r>
              <a:rPr lang="en-US" sz="2000" i="1" dirty="0" smtClean="0">
                <a:latin typeface="Times New Roman" pitchFamily="18" charset="0"/>
                <a:cs typeface="Times New Roman" pitchFamily="18" charset="0"/>
              </a:rPr>
              <a:t>Ti </a:t>
            </a:r>
            <a:r>
              <a:rPr lang="en-US" sz="2000" dirty="0" smtClean="0">
                <a:latin typeface="Times New Roman" pitchFamily="18" charset="0"/>
                <a:cs typeface="Times New Roman" pitchFamily="18" charset="0"/>
              </a:rPr>
              <a:t>needs to be redone if and only if the log contains both the record </a:t>
            </a:r>
            <a:r>
              <a:rPr lang="en-US" sz="2000" i="1" dirty="0" smtClean="0">
                <a:latin typeface="Times New Roman" pitchFamily="18" charset="0"/>
                <a:cs typeface="Times New Roman" pitchFamily="18" charset="0"/>
              </a:rPr>
              <a:t>&lt;T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start</a:t>
            </a:r>
            <a:r>
              <a:rPr lang="en-US" sz="2000" i="1" dirty="0" smtClean="0">
                <a:latin typeface="Times New Roman" pitchFamily="18" charset="0"/>
                <a:cs typeface="Times New Roman" pitchFamily="18" charset="0"/>
              </a:rPr>
              <a:t>&gt; </a:t>
            </a:r>
            <a:r>
              <a:rPr lang="en-US" sz="2000" dirty="0" smtClean="0">
                <a:latin typeface="Times New Roman" pitchFamily="18" charset="0"/>
                <a:cs typeface="Times New Roman" pitchFamily="18" charset="0"/>
              </a:rPr>
              <a:t>and the record </a:t>
            </a:r>
            <a:r>
              <a:rPr lang="en-US" sz="2000" i="1" dirty="0" smtClean="0">
                <a:latin typeface="Times New Roman" pitchFamily="18" charset="0"/>
                <a:cs typeface="Times New Roman" pitchFamily="18" charset="0"/>
              </a:rPr>
              <a:t>&lt;T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commit</a:t>
            </a:r>
            <a:r>
              <a:rPr lang="en-US" sz="2000" i="1" dirty="0" smtClean="0">
                <a:latin typeface="Times New Roman" pitchFamily="18" charset="0"/>
                <a:cs typeface="Times New Roman" pitchFamily="18" charset="0"/>
              </a:rPr>
              <a:t>&gt;</a:t>
            </a:r>
            <a:r>
              <a:rPr lang="en-US" sz="2000" dirty="0" smtClean="0">
                <a:latin typeface="Times New Roman" pitchFamily="18" charset="0"/>
                <a:cs typeface="Times New Roman" pitchFamily="18" charset="0"/>
              </a:rPr>
              <a:t>. If the log contains only the start record </a:t>
            </a:r>
            <a:r>
              <a:rPr lang="en-US" sz="2000" i="1" dirty="0" smtClean="0">
                <a:latin typeface="Times New Roman" pitchFamily="18" charset="0"/>
                <a:cs typeface="Times New Roman" pitchFamily="18" charset="0"/>
              </a:rPr>
              <a:t>&lt;T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start</a:t>
            </a:r>
            <a:r>
              <a:rPr lang="en-US" sz="2000" i="1" dirty="0" smtClean="0">
                <a:latin typeface="Times New Roman" pitchFamily="18" charset="0"/>
                <a:cs typeface="Times New Roman" pitchFamily="18" charset="0"/>
              </a:rPr>
              <a:t>&gt;</a:t>
            </a:r>
            <a:r>
              <a:rPr lang="en-US" sz="2000" dirty="0" smtClean="0">
                <a:latin typeface="Times New Roman" pitchFamily="18" charset="0"/>
                <a:cs typeface="Times New Roman" pitchFamily="18" charset="0"/>
              </a:rPr>
              <a:t> but no commit record </a:t>
            </a:r>
            <a:r>
              <a:rPr lang="en-US" sz="2000" i="1" dirty="0" smtClean="0">
                <a:latin typeface="Times New Roman" pitchFamily="18" charset="0"/>
                <a:cs typeface="Times New Roman" pitchFamily="18" charset="0"/>
              </a:rPr>
              <a:t>&lt;T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commit</a:t>
            </a:r>
            <a:r>
              <a:rPr lang="en-US" sz="2000" i="1" dirty="0" smtClean="0">
                <a:latin typeface="Times New Roman" pitchFamily="18" charset="0"/>
                <a:cs typeface="Times New Roman" pitchFamily="18" charset="0"/>
              </a:rPr>
              <a:t>&gt;</a:t>
            </a:r>
            <a:r>
              <a:rPr lang="en-US" sz="2000" dirty="0" smtClean="0">
                <a:latin typeface="Times New Roman" pitchFamily="18" charset="0"/>
                <a:cs typeface="Times New Roman" pitchFamily="18" charset="0"/>
              </a:rPr>
              <a:t>, Transaction </a:t>
            </a:r>
            <a:r>
              <a:rPr lang="en-US" sz="2000" i="1" dirty="0" smtClean="0">
                <a:latin typeface="Times New Roman" pitchFamily="18" charset="0"/>
                <a:cs typeface="Times New Roman" pitchFamily="18" charset="0"/>
              </a:rPr>
              <a:t>Ti </a:t>
            </a:r>
            <a:r>
              <a:rPr lang="en-US" sz="2000" dirty="0" smtClean="0">
                <a:latin typeface="Times New Roman" pitchFamily="18" charset="0"/>
                <a:cs typeface="Times New Roman" pitchFamily="18" charset="0"/>
              </a:rPr>
              <a:t>needs to be restarted/re-executed.</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Deferred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As an illustration, consider the following log records for transactions T1 and T2 at three different times:</a:t>
            </a: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p:txBody>
      </p:sp>
      <p:graphicFrame>
        <p:nvGraphicFramePr>
          <p:cNvPr id="10" name="Table 9"/>
          <p:cNvGraphicFramePr>
            <a:graphicFrameLocks noGrp="1"/>
          </p:cNvGraphicFramePr>
          <p:nvPr/>
        </p:nvGraphicFramePr>
        <p:xfrm>
          <a:off x="1371600" y="3153726"/>
          <a:ext cx="6553200" cy="3154680"/>
        </p:xfrm>
        <a:graphic>
          <a:graphicData uri="http://schemas.openxmlformats.org/drawingml/2006/table">
            <a:tbl>
              <a:tblPr/>
              <a:tblGrid>
                <a:gridCol w="2137286"/>
                <a:gridCol w="2278628"/>
                <a:gridCol w="2137286"/>
              </a:tblGrid>
              <a:tr h="243840">
                <a:tc>
                  <a:txBody>
                    <a:bodyPr/>
                    <a:lstStyle/>
                    <a:p>
                      <a:pPr marL="0" marR="0" algn="ctr">
                        <a:lnSpc>
                          <a:spcPct val="115000"/>
                        </a:lnSpc>
                        <a:spcBef>
                          <a:spcPts val="0"/>
                        </a:spcBef>
                        <a:spcAft>
                          <a:spcPts val="0"/>
                        </a:spcAft>
                      </a:pPr>
                      <a:r>
                        <a:rPr lang="en-US" sz="1800" b="1" kern="100" dirty="0">
                          <a:latin typeface="Times New Roman"/>
                          <a:ea typeface="Calibri"/>
                          <a:cs typeface="Times New Roman"/>
                        </a:rPr>
                        <a:t>Condition 1</a:t>
                      </a:r>
                      <a:endParaRPr lang="en-US" sz="1800" kern="100" dirty="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b="1" kern="100">
                          <a:latin typeface="Times New Roman"/>
                          <a:ea typeface="Calibri"/>
                          <a:cs typeface="Times New Roman"/>
                        </a:rPr>
                        <a:t>Condition 2</a:t>
                      </a:r>
                      <a:endParaRPr lang="en-US" sz="18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b="1" kern="100" dirty="0">
                          <a:latin typeface="Times New Roman"/>
                          <a:ea typeface="Calibri"/>
                          <a:cs typeface="Times New Roman"/>
                        </a:rPr>
                        <a:t>Condition 3</a:t>
                      </a:r>
                      <a:endParaRPr lang="en-US" sz="1800" kern="100" dirty="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06880">
                <a:tc>
                  <a:txBody>
                    <a:bodyPr/>
                    <a:lstStyle/>
                    <a:p>
                      <a:pPr marL="0" marR="0" algn="just">
                        <a:lnSpc>
                          <a:spcPct val="115000"/>
                        </a:lnSpc>
                        <a:spcBef>
                          <a:spcPts val="0"/>
                        </a:spcBef>
                        <a:spcAft>
                          <a:spcPts val="0"/>
                        </a:spcAft>
                      </a:pPr>
                      <a:r>
                        <a:rPr lang="en-US" sz="1800" kern="0" spc="5">
                          <a:latin typeface="Times New Roman"/>
                          <a:ea typeface="Times New Roman"/>
                          <a:cs typeface="Times New Roman"/>
                        </a:rPr>
                        <a:t>&lt;T1 start&gt;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&lt;T1, A, 800&gt;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&lt;T1, B, 1700&gt;</a:t>
                      </a:r>
                      <a:endParaRPr lang="en-US" sz="18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kern="0" spc="5">
                          <a:latin typeface="Times New Roman"/>
                          <a:ea typeface="Times New Roman"/>
                          <a:cs typeface="Times New Roman"/>
                        </a:rPr>
                        <a:t>&lt;T1 start&gt;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&lt;T1, A, 800&gt;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&lt;T1, B, 1700&gt;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&lt;T1 commit&gt;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&lt;T2 start&gt;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&lt;T2, C, 1900&gt;</a:t>
                      </a:r>
                      <a:endParaRPr lang="en-US" sz="18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kern="0" spc="5">
                          <a:latin typeface="Times New Roman"/>
                          <a:ea typeface="Times New Roman"/>
                          <a:cs typeface="Times New Roman"/>
                        </a:rPr>
                        <a:t>&lt;T1 start&gt;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&lt;T1, A, 800&gt;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&lt;T1, B, 1700&gt;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&lt;T1 commit&gt;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&lt;T2 start&gt;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&lt;T2, C, 1900&gt;</a:t>
                      </a:r>
                      <a:endParaRPr lang="en-US" sz="1800" kern="100">
                        <a:latin typeface="Calibri"/>
                        <a:ea typeface="Calibri"/>
                        <a:cs typeface="Times New Roman"/>
                      </a:endParaRPr>
                    </a:p>
                    <a:p>
                      <a:pPr marL="0" marR="0" algn="just">
                        <a:lnSpc>
                          <a:spcPct val="115000"/>
                        </a:lnSpc>
                        <a:spcBef>
                          <a:spcPts val="0"/>
                        </a:spcBef>
                        <a:spcAft>
                          <a:spcPts val="0"/>
                        </a:spcAft>
                      </a:pPr>
                      <a:r>
                        <a:rPr lang="en-US" sz="1800" kern="0" spc="5">
                          <a:latin typeface="Times New Roman"/>
                          <a:ea typeface="Times New Roman"/>
                          <a:cs typeface="Times New Roman"/>
                        </a:rPr>
                        <a:t>&lt;T2 commit&gt;</a:t>
                      </a:r>
                      <a:endParaRPr lang="en-US" sz="18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840">
                <a:tc>
                  <a:txBody>
                    <a:bodyPr/>
                    <a:lstStyle/>
                    <a:p>
                      <a:pPr marL="0" marR="0" algn="just">
                        <a:lnSpc>
                          <a:spcPct val="115000"/>
                        </a:lnSpc>
                        <a:spcBef>
                          <a:spcPts val="0"/>
                        </a:spcBef>
                        <a:spcAft>
                          <a:spcPts val="0"/>
                        </a:spcAft>
                      </a:pPr>
                      <a:r>
                        <a:rPr lang="en-US" sz="1800" kern="0" spc="5">
                          <a:latin typeface="Times New Roman"/>
                          <a:ea typeface="Times New Roman"/>
                          <a:cs typeface="Times New Roman"/>
                        </a:rPr>
                        <a:t>Crash</a:t>
                      </a:r>
                      <a:endParaRPr lang="en-US" sz="18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kern="0" spc="5">
                          <a:latin typeface="Times New Roman"/>
                          <a:ea typeface="Times New Roman"/>
                          <a:cs typeface="Times New Roman"/>
                        </a:rPr>
                        <a:t>Crash</a:t>
                      </a:r>
                      <a:endParaRPr lang="en-US" sz="18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kern="0" spc="5">
                          <a:latin typeface="Times New Roman"/>
                          <a:ea typeface="Times New Roman"/>
                          <a:cs typeface="Times New Roman"/>
                        </a:rPr>
                        <a:t>Crash</a:t>
                      </a:r>
                      <a:endParaRPr lang="en-US" sz="18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840">
                <a:tc>
                  <a:txBody>
                    <a:bodyPr/>
                    <a:lstStyle/>
                    <a:p>
                      <a:pPr marL="0" marR="0" algn="just">
                        <a:lnSpc>
                          <a:spcPct val="115000"/>
                        </a:lnSpc>
                        <a:spcBef>
                          <a:spcPts val="0"/>
                        </a:spcBef>
                        <a:spcAft>
                          <a:spcPts val="0"/>
                        </a:spcAft>
                      </a:pPr>
                      <a:endParaRPr lang="en-US" sz="1800" kern="0" spc="5">
                        <a:latin typeface="Times New Roman"/>
                        <a:ea typeface="Times New Roman"/>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800" kern="0" spc="5">
                        <a:latin typeface="Times New Roman"/>
                        <a:ea typeface="Times New Roman"/>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800" kern="0" spc="5" dirty="0">
                        <a:latin typeface="Times New Roman"/>
                        <a:ea typeface="Times New Roman"/>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371600"/>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Deferred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p:txBody>
      </p:sp>
      <p:graphicFrame>
        <p:nvGraphicFramePr>
          <p:cNvPr id="10" name="Table 9"/>
          <p:cNvGraphicFramePr>
            <a:graphicFrameLocks noGrp="1"/>
          </p:cNvGraphicFramePr>
          <p:nvPr/>
        </p:nvGraphicFramePr>
        <p:xfrm>
          <a:off x="914399" y="2133600"/>
          <a:ext cx="7391401" cy="4180351"/>
        </p:xfrm>
        <a:graphic>
          <a:graphicData uri="http://schemas.openxmlformats.org/drawingml/2006/table">
            <a:tbl>
              <a:tblPr/>
              <a:tblGrid>
                <a:gridCol w="2410660"/>
                <a:gridCol w="2770941"/>
                <a:gridCol w="2209800"/>
              </a:tblGrid>
              <a:tr h="150599">
                <a:tc>
                  <a:txBody>
                    <a:bodyPr/>
                    <a:lstStyle/>
                    <a:p>
                      <a:pPr marL="0" marR="0" algn="ctr">
                        <a:lnSpc>
                          <a:spcPct val="115000"/>
                        </a:lnSpc>
                        <a:spcBef>
                          <a:spcPts val="0"/>
                        </a:spcBef>
                        <a:spcAft>
                          <a:spcPts val="0"/>
                        </a:spcAft>
                      </a:pPr>
                      <a:r>
                        <a:rPr lang="en-US" sz="1400" b="1" kern="100" dirty="0">
                          <a:latin typeface="Times New Roman"/>
                          <a:ea typeface="Calibri"/>
                          <a:cs typeface="Times New Roman"/>
                        </a:rPr>
                        <a:t>Condition 1</a:t>
                      </a:r>
                      <a:endParaRPr lang="en-US" sz="1400" kern="100" dirty="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kern="100">
                          <a:latin typeface="Times New Roman"/>
                          <a:ea typeface="Calibri"/>
                          <a:cs typeface="Times New Roman"/>
                        </a:rPr>
                        <a:t>Condition 2</a:t>
                      </a:r>
                      <a:endParaRPr lang="en-US" sz="14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kern="100">
                          <a:latin typeface="Times New Roman"/>
                          <a:ea typeface="Calibri"/>
                          <a:cs typeface="Times New Roman"/>
                        </a:rPr>
                        <a:t>Condition 3</a:t>
                      </a:r>
                      <a:endParaRPr lang="en-US" sz="14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07177">
                <a:tc>
                  <a:txBody>
                    <a:bodyPr/>
                    <a:lstStyle/>
                    <a:p>
                      <a:pPr marL="0" marR="0" algn="just">
                        <a:lnSpc>
                          <a:spcPct val="115000"/>
                        </a:lnSpc>
                        <a:spcBef>
                          <a:spcPts val="0"/>
                        </a:spcBef>
                        <a:spcAft>
                          <a:spcPts val="0"/>
                        </a:spcAft>
                      </a:pPr>
                      <a:r>
                        <a:rPr lang="en-US" sz="1400" kern="100" dirty="0">
                          <a:latin typeface="Times New Roman"/>
                          <a:ea typeface="Calibri"/>
                          <a:cs typeface="Times New Roman"/>
                        </a:rPr>
                        <a:t>Whenever the recovery process starts, no redo action needs to be taken because no commit record appears in the log and values of account A, B and C remain same i.e. 1000, 1500 and 2000 respectively.</a:t>
                      </a:r>
                      <a:endParaRPr lang="en-US" sz="1400" kern="100" dirty="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kern="100" dirty="0">
                          <a:latin typeface="Times New Roman"/>
                          <a:ea typeface="Calibri"/>
                          <a:cs typeface="Times New Roman"/>
                        </a:rPr>
                        <a:t>Whenever the recovery process starts, it finds that transaction T1 is already committed in the log. So operation Redo for transaction T1 must be performed and all data items updated by transaction T1 are copied into database (i.e. A = 800 and B = 1700). But the transaction T2 is not yet committed in the log. So there is no need to redo the transaction T2. This transaction T2 is deleted from log and re-executed. So value of data item C = 2000.</a:t>
                      </a:r>
                      <a:endParaRPr lang="en-US" sz="1400" kern="100" dirty="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kern="100" dirty="0">
                          <a:latin typeface="Times New Roman"/>
                          <a:ea typeface="Calibri"/>
                          <a:cs typeface="Times New Roman"/>
                        </a:rPr>
                        <a:t>Whenever the recovery process starts it finds that there are committed records in the log for both transactions T1 and T2. This results in redo operations being performed for both T1 and T2. Hence the value of data items A, B and C is 800, 1700 and 1900 respectively.</a:t>
                      </a:r>
                      <a:endParaRPr lang="en-US" sz="1400" kern="100" dirty="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198">
                <a:tc>
                  <a:txBody>
                    <a:bodyPr/>
                    <a:lstStyle/>
                    <a:p>
                      <a:pPr marL="0" marR="0" algn="just">
                        <a:lnSpc>
                          <a:spcPct val="115000"/>
                        </a:lnSpc>
                        <a:spcBef>
                          <a:spcPts val="0"/>
                        </a:spcBef>
                        <a:spcAft>
                          <a:spcPts val="0"/>
                        </a:spcAft>
                      </a:pPr>
                      <a:r>
                        <a:rPr lang="en-US" sz="1400" kern="100">
                          <a:latin typeface="Times New Roman"/>
                          <a:ea typeface="Calibri"/>
                          <a:cs typeface="Times New Roman"/>
                        </a:rPr>
                        <a:t>No Redo</a:t>
                      </a:r>
                      <a:endParaRPr lang="en-US" sz="14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kern="100">
                          <a:latin typeface="Times New Roman"/>
                          <a:ea typeface="Calibri"/>
                          <a:cs typeface="Times New Roman"/>
                        </a:rPr>
                        <a:t>Redo (T1)</a:t>
                      </a:r>
                      <a:endParaRPr lang="en-US" sz="1400" kern="100">
                        <a:latin typeface="Calibri"/>
                        <a:ea typeface="Calibri"/>
                        <a:cs typeface="Times New Roman"/>
                      </a:endParaRPr>
                    </a:p>
                    <a:p>
                      <a:pPr marL="0" marR="0" algn="just">
                        <a:lnSpc>
                          <a:spcPct val="115000"/>
                        </a:lnSpc>
                        <a:spcBef>
                          <a:spcPts val="0"/>
                        </a:spcBef>
                        <a:spcAft>
                          <a:spcPts val="0"/>
                        </a:spcAft>
                      </a:pPr>
                      <a:r>
                        <a:rPr lang="en-US" sz="1400" kern="100">
                          <a:latin typeface="Times New Roman"/>
                          <a:ea typeface="Calibri"/>
                          <a:cs typeface="Times New Roman"/>
                        </a:rPr>
                        <a:t>T2 must be re-executed</a:t>
                      </a:r>
                      <a:endParaRPr lang="en-US" sz="14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kern="100">
                          <a:latin typeface="Times New Roman"/>
                          <a:ea typeface="Calibri"/>
                          <a:cs typeface="Times New Roman"/>
                        </a:rPr>
                        <a:t>Redo (T1) , Redo (T2)</a:t>
                      </a:r>
                      <a:endParaRPr lang="en-US" sz="14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198">
                <a:tc>
                  <a:txBody>
                    <a:bodyPr/>
                    <a:lstStyle/>
                    <a:p>
                      <a:pPr marL="0" marR="0" algn="just">
                        <a:lnSpc>
                          <a:spcPct val="115000"/>
                        </a:lnSpc>
                        <a:spcBef>
                          <a:spcPts val="0"/>
                        </a:spcBef>
                        <a:spcAft>
                          <a:spcPts val="0"/>
                        </a:spcAft>
                      </a:pPr>
                      <a:r>
                        <a:rPr lang="en-US" sz="1400" kern="100">
                          <a:latin typeface="Times New Roman"/>
                          <a:ea typeface="Calibri"/>
                          <a:cs typeface="Times New Roman"/>
                        </a:rPr>
                        <a:t>A = 1000, B = 1500, C = 2000</a:t>
                      </a:r>
                      <a:endParaRPr lang="en-US" sz="14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kern="100">
                          <a:latin typeface="Times New Roman"/>
                          <a:ea typeface="Calibri"/>
                          <a:cs typeface="Times New Roman"/>
                        </a:rPr>
                        <a:t>A = 800, B = 1700, C = 2000</a:t>
                      </a:r>
                      <a:endParaRPr lang="en-US" sz="1400" kern="10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kern="100" dirty="0">
                          <a:latin typeface="Times New Roman"/>
                          <a:ea typeface="Calibri"/>
                          <a:cs typeface="Times New Roman"/>
                        </a:rPr>
                        <a:t>A = 800, B =1700, C = 1900</a:t>
                      </a:r>
                      <a:endParaRPr lang="en-US" sz="1400" kern="100" dirty="0">
                        <a:latin typeface="Calibri"/>
                        <a:ea typeface="Calibri"/>
                        <a:cs typeface="Times New Roman"/>
                      </a:endParaRPr>
                    </a:p>
                  </a:txBody>
                  <a:tcPr marL="44174" marR="441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76401"/>
            <a:ext cx="76962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 Immediate modification technique applies if database modification occurs while the transaction is still active.</a:t>
            </a: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In this technique, the database is modified immediately after every operation. It follows an actual database modification.</a:t>
            </a:r>
          </a:p>
          <a:p>
            <a:pPr algn="just"/>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1"/>
            <a:ext cx="8229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defRPr/>
            </a:pPr>
            <a:r>
              <a:rPr lang="en-US" sz="2000" b="1" dirty="0" smtClean="0">
                <a:latin typeface="Times New Roman" pitchFamily="18" charset="0"/>
                <a:cs typeface="Times New Roman" pitchFamily="18" charset="0"/>
              </a:rPr>
              <a:t>Recovery based on immediate update: </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In this technique, when a transaction issues an update command, the database can be updated immediately without waiting for the commit record.</a:t>
            </a: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 immediate update technique for recovery is also known as backward recovery because it tracks backward through the log and re-rolls all data items to their previous values. </a:t>
            </a: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In the event of a crash, the system must use the old-value field of the log records to restore the modified data items to the value they had prior to the start of the transaction. The undo operation accomplishes this restoration.</a:t>
            </a: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1"/>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p>
          <a:p>
            <a:pPr marL="342900" indent="-342900" algn="just">
              <a:spcBef>
                <a:spcPct val="20000"/>
              </a:spcBef>
              <a:defRPr/>
            </a:pPr>
            <a:endParaRPr lang="en-US" sz="2000" dirty="0" smtClean="0">
              <a:latin typeface="Times New Roman" pitchFamily="18" charset="0"/>
              <a:cs typeface="Times New Roman" pitchFamily="18" charset="0"/>
            </a:endParaRPr>
          </a:p>
          <a:p>
            <a:pPr marL="742950" lvl="1" indent="-285750" algn="just">
              <a:spcBef>
                <a:spcPct val="20000"/>
              </a:spcBef>
              <a:defRPr/>
            </a:pPr>
            <a:r>
              <a:rPr lang="en-US" sz="2000" b="1" dirty="0" smtClean="0">
                <a:latin typeface="Times New Roman" pitchFamily="18" charset="0"/>
                <a:cs typeface="Times New Roman" pitchFamily="18" charset="0"/>
              </a:rPr>
              <a:t>Undo/Redo recovery technique based on immediate update: </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If a transaction fails after updating some changes in the database but before reaching its commit record, the effect of its operation on the database must be </a:t>
            </a:r>
            <a:r>
              <a:rPr lang="en-US" sz="2000" b="1" dirty="0" smtClean="0">
                <a:latin typeface="Times New Roman" pitchFamily="18" charset="0"/>
                <a:cs typeface="Times New Roman" pitchFamily="18" charset="0"/>
              </a:rPr>
              <a:t>undone</a:t>
            </a:r>
            <a:r>
              <a:rPr lang="en-US" sz="2000" dirty="0" smtClean="0">
                <a:latin typeface="Times New Roman" pitchFamily="18" charset="0"/>
                <a:cs typeface="Times New Roman" pitchFamily="18" charset="0"/>
              </a:rPr>
              <a:t> i.e. transaction must be rolled back. </a:t>
            </a: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If the transaction fails after reaching its commit record, it is necessary to perform the </a:t>
            </a:r>
            <a:r>
              <a:rPr lang="en-US" sz="2000" b="1" dirty="0" smtClean="0">
                <a:latin typeface="Times New Roman" pitchFamily="18" charset="0"/>
                <a:cs typeface="Times New Roman" pitchFamily="18" charset="0"/>
              </a:rPr>
              <a:t>redo</a:t>
            </a:r>
            <a:r>
              <a:rPr lang="en-US" sz="2000" dirty="0" smtClean="0">
                <a:latin typeface="Times New Roman" pitchFamily="18" charset="0"/>
                <a:cs typeface="Times New Roman" pitchFamily="18" charset="0"/>
              </a:rPr>
              <a:t> operation.</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1"/>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p>
          <a:p>
            <a:pPr marL="342900" indent="-342900" algn="just">
              <a:spcBef>
                <a:spcPct val="20000"/>
              </a:spcBef>
              <a:defRPr/>
            </a:pPr>
            <a:r>
              <a:rPr lang="en-US" sz="2000" b="1" dirty="0" smtClean="0">
                <a:latin typeface="Times New Roman" pitchFamily="18" charset="0"/>
                <a:cs typeface="Times New Roman" pitchFamily="18" charset="0"/>
              </a:rPr>
              <a:t>	Recovery steps using the immediate update process:</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dirty="0" smtClean="0">
                <a:latin typeface="Times New Roman" pitchFamily="18" charset="0"/>
                <a:cs typeface="Times New Roman" pitchFamily="18" charset="0"/>
              </a:rPr>
              <a:t>Search the log for the most recent checkpoint record. This is the last time the transaction data was sent to disk. All transactions that were started and committed </a:t>
            </a:r>
            <a:r>
              <a:rPr lang="en-US" b="1" dirty="0" smtClean="0">
                <a:latin typeface="Times New Roman" pitchFamily="18" charset="0"/>
                <a:cs typeface="Times New Roman" pitchFamily="18" charset="0"/>
              </a:rPr>
              <a:t>before the last checkpoint</a:t>
            </a:r>
            <a:r>
              <a:rPr lang="en-US" dirty="0" smtClean="0">
                <a:latin typeface="Times New Roman" pitchFamily="18" charset="0"/>
                <a:cs typeface="Times New Roman" pitchFamily="18" charset="0"/>
              </a:rPr>
              <a:t> do not need to do anything because the data has already been saved.</a:t>
            </a:r>
          </a:p>
          <a:p>
            <a:pPr marL="742950" lvl="1" indent="-285750" algn="just">
              <a:spcBef>
                <a:spcPct val="20000"/>
              </a:spcBef>
              <a:buFont typeface="Arial" pitchFamily="34" charset="0"/>
              <a:buChar char="–"/>
              <a:defRPr/>
            </a:pPr>
            <a:r>
              <a:rPr lang="en-US" dirty="0" smtClean="0">
                <a:latin typeface="Times New Roman" pitchFamily="18" charset="0"/>
                <a:cs typeface="Times New Roman" pitchFamily="18" charset="0"/>
              </a:rPr>
              <a:t>For any transaction T, if the log contains both a &lt;T start&gt; record and a &lt;T commit&gt; record that appear in the log </a:t>
            </a:r>
            <a:r>
              <a:rPr lang="en-US" b="1" dirty="0" smtClean="0">
                <a:latin typeface="Times New Roman" pitchFamily="18" charset="0"/>
                <a:cs typeface="Times New Roman" pitchFamily="18" charset="0"/>
              </a:rPr>
              <a:t>after the last checkpoint,</a:t>
            </a:r>
            <a:r>
              <a:rPr lang="en-US" dirty="0" smtClean="0">
                <a:latin typeface="Times New Roman" pitchFamily="18" charset="0"/>
                <a:cs typeface="Times New Roman" pitchFamily="18" charset="0"/>
              </a:rPr>
              <a:t> this method uses log records to </a:t>
            </a:r>
            <a:r>
              <a:rPr lang="en-US" b="1" dirty="0" smtClean="0">
                <a:latin typeface="Times New Roman" pitchFamily="18" charset="0"/>
                <a:cs typeface="Times New Roman" pitchFamily="18" charset="0"/>
              </a:rPr>
              <a:t>redo</a:t>
            </a:r>
            <a:r>
              <a:rPr lang="en-US" dirty="0" smtClean="0">
                <a:latin typeface="Times New Roman" pitchFamily="18" charset="0"/>
                <a:cs typeface="Times New Roman" pitchFamily="18" charset="0"/>
              </a:rPr>
              <a:t> the transaction and update the database using the new value in the transaction log.</a:t>
            </a:r>
          </a:p>
          <a:p>
            <a:pPr marL="742950" lvl="1" indent="-285750" algn="just">
              <a:spcBef>
                <a:spcPct val="20000"/>
              </a:spcBef>
              <a:buFont typeface="Arial" pitchFamily="34" charset="0"/>
              <a:buChar char="–"/>
              <a:defRPr/>
            </a:pPr>
            <a:r>
              <a:rPr lang="en-US" dirty="0" smtClean="0">
                <a:latin typeface="Times New Roman" pitchFamily="18" charset="0"/>
                <a:cs typeface="Times New Roman" pitchFamily="18" charset="0"/>
              </a:rPr>
              <a:t>For any transaction T, if the log contains only &lt;T start&gt; record but no &lt;T commit&gt; record </a:t>
            </a:r>
            <a:r>
              <a:rPr lang="en-US" b="1" dirty="0" smtClean="0">
                <a:latin typeface="Times New Roman" pitchFamily="18" charset="0"/>
                <a:cs typeface="Times New Roman" pitchFamily="18" charset="0"/>
              </a:rPr>
              <a:t>after the last checkpoint,</a:t>
            </a:r>
            <a:r>
              <a:rPr lang="en-US" dirty="0" smtClean="0">
                <a:latin typeface="Times New Roman" pitchFamily="18" charset="0"/>
                <a:cs typeface="Times New Roman" pitchFamily="18" charset="0"/>
              </a:rPr>
              <a:t> this method uses the log records to </a:t>
            </a:r>
            <a:r>
              <a:rPr lang="en-US" b="1" dirty="0" smtClean="0">
                <a:latin typeface="Times New Roman" pitchFamily="18" charset="0"/>
                <a:cs typeface="Times New Roman" pitchFamily="18" charset="0"/>
              </a:rPr>
              <a:t>undo</a:t>
            </a:r>
            <a:r>
              <a:rPr lang="en-US" dirty="0" smtClean="0">
                <a:latin typeface="Times New Roman" pitchFamily="18" charset="0"/>
                <a:cs typeface="Times New Roman" pitchFamily="18" charset="0"/>
              </a:rPr>
              <a:t> the operations using the old values in the log. To undo multiple write operations from the log we must precede in the reverse order in which they were written.</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1"/>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dirty="0" smtClean="0">
                <a:latin typeface="Times New Roman" pitchFamily="18" charset="0"/>
                <a:cs typeface="Times New Roman" pitchFamily="18" charset="0"/>
              </a:rPr>
              <a:t>To illustrate the concept of immediate update process, consider an example involving two transactions T1 and T2. Transaction T1 transfers Tk. 200 from account A to account B and transaction T2 withdraws Tk. 100 from account C. The initial balances of accounts A, B and C are Tk. 1000, Tk. 1500 and Tk. 2000 respectively. Suppose transactions T1 and T2 are executed sequentially with T1 followed by T2.</a:t>
            </a:r>
          </a:p>
        </p:txBody>
      </p:sp>
      <p:graphicFrame>
        <p:nvGraphicFramePr>
          <p:cNvPr id="10" name="Table 9"/>
          <p:cNvGraphicFramePr>
            <a:graphicFrameLocks noGrp="1"/>
          </p:cNvGraphicFramePr>
          <p:nvPr/>
        </p:nvGraphicFramePr>
        <p:xfrm>
          <a:off x="2286000" y="4114800"/>
          <a:ext cx="4600575" cy="2208276"/>
        </p:xfrm>
        <a:graphic>
          <a:graphicData uri="http://schemas.openxmlformats.org/drawingml/2006/table">
            <a:tbl>
              <a:tblPr/>
              <a:tblGrid>
                <a:gridCol w="2253343"/>
                <a:gridCol w="2347232"/>
              </a:tblGrid>
              <a:tr h="283029">
                <a:tc>
                  <a:txBody>
                    <a:bodyPr/>
                    <a:lstStyle/>
                    <a:p>
                      <a:pPr marL="0" marR="0" algn="ctr">
                        <a:lnSpc>
                          <a:spcPct val="115000"/>
                        </a:lnSpc>
                        <a:spcBef>
                          <a:spcPts val="0"/>
                        </a:spcBef>
                        <a:spcAft>
                          <a:spcPts val="0"/>
                        </a:spcAft>
                      </a:pPr>
                      <a:r>
                        <a:rPr lang="en-US" sz="1800" kern="100" dirty="0">
                          <a:latin typeface="Times New Roman"/>
                          <a:ea typeface="Calibri"/>
                          <a:cs typeface="Times New Roman"/>
                        </a:rPr>
                        <a:t>T1</a:t>
                      </a:r>
                      <a:endParaRPr lang="en-US" sz="1800" kern="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kern="100">
                          <a:latin typeface="Times New Roman"/>
                          <a:ea typeface="Calibri"/>
                          <a:cs typeface="Times New Roman"/>
                        </a:rPr>
                        <a:t>T2</a:t>
                      </a:r>
                      <a:endParaRPr lang="en-US" sz="1800" kern="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98171">
                <a:tc>
                  <a:txBody>
                    <a:bodyPr/>
                    <a:lstStyle/>
                    <a:p>
                      <a:pPr marL="0" marR="0" algn="just">
                        <a:lnSpc>
                          <a:spcPct val="115000"/>
                        </a:lnSpc>
                        <a:spcBef>
                          <a:spcPts val="0"/>
                        </a:spcBef>
                        <a:spcAft>
                          <a:spcPts val="0"/>
                        </a:spcAft>
                      </a:pPr>
                      <a:r>
                        <a:rPr lang="en-US" sz="1800" kern="100" dirty="0">
                          <a:latin typeface="Times New Roman"/>
                          <a:ea typeface="Calibri"/>
                          <a:cs typeface="Times New Roman"/>
                        </a:rPr>
                        <a:t>Read (A)</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smtClean="0">
                          <a:latin typeface="Times New Roman"/>
                          <a:ea typeface="Calibri"/>
                          <a:cs typeface="Times New Roman"/>
                        </a:rPr>
                        <a:t>    A </a:t>
                      </a:r>
                      <a:r>
                        <a:rPr lang="en-US" sz="1800" kern="100" dirty="0">
                          <a:latin typeface="Times New Roman"/>
                          <a:ea typeface="Calibri"/>
                          <a:cs typeface="Times New Roman"/>
                        </a:rPr>
                        <a:t>: = A – 200</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smtClean="0">
                          <a:latin typeface="Times New Roman"/>
                          <a:ea typeface="Calibri"/>
                          <a:cs typeface="Times New Roman"/>
                        </a:rPr>
                        <a:t>    Write </a:t>
                      </a:r>
                      <a:r>
                        <a:rPr lang="en-US" sz="1800" kern="100" dirty="0">
                          <a:latin typeface="Times New Roman"/>
                          <a:ea typeface="Calibri"/>
                          <a:cs typeface="Times New Roman"/>
                        </a:rPr>
                        <a:t>(A)</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a:latin typeface="Times New Roman"/>
                          <a:ea typeface="Calibri"/>
                          <a:cs typeface="Times New Roman"/>
                        </a:rPr>
                        <a:t>Read (B)</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smtClean="0">
                          <a:latin typeface="Times New Roman"/>
                          <a:ea typeface="Calibri"/>
                          <a:cs typeface="Times New Roman"/>
                        </a:rPr>
                        <a:t>    B </a:t>
                      </a:r>
                      <a:r>
                        <a:rPr lang="en-US" sz="1800" kern="100" dirty="0">
                          <a:latin typeface="Times New Roman"/>
                          <a:ea typeface="Calibri"/>
                          <a:cs typeface="Times New Roman"/>
                        </a:rPr>
                        <a:t>:= B + 200</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a:latin typeface="Times New Roman"/>
                          <a:ea typeface="Calibri"/>
                          <a:cs typeface="Times New Roman"/>
                        </a:rPr>
                        <a:t>Write (B)</a:t>
                      </a:r>
                      <a:endParaRPr lang="en-US" sz="1800" kern="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kern="100" dirty="0">
                          <a:latin typeface="Times New Roman"/>
                          <a:ea typeface="Calibri"/>
                          <a:cs typeface="Times New Roman"/>
                        </a:rPr>
                        <a:t>Read (C)</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smtClean="0">
                          <a:latin typeface="Times New Roman"/>
                          <a:ea typeface="Calibri"/>
                          <a:cs typeface="Times New Roman"/>
                        </a:rPr>
                        <a:t>    C </a:t>
                      </a:r>
                      <a:r>
                        <a:rPr lang="en-US" sz="1800" kern="100" dirty="0">
                          <a:latin typeface="Times New Roman"/>
                          <a:ea typeface="Calibri"/>
                          <a:cs typeface="Times New Roman"/>
                        </a:rPr>
                        <a:t>: = C – 100</a:t>
                      </a:r>
                      <a:endParaRPr lang="en-US" sz="1800" kern="100" dirty="0">
                        <a:latin typeface="Calibri"/>
                        <a:ea typeface="Calibri"/>
                        <a:cs typeface="Times New Roman"/>
                      </a:endParaRPr>
                    </a:p>
                    <a:p>
                      <a:pPr marL="0" marR="0" algn="just">
                        <a:lnSpc>
                          <a:spcPct val="115000"/>
                        </a:lnSpc>
                        <a:spcBef>
                          <a:spcPts val="0"/>
                        </a:spcBef>
                        <a:spcAft>
                          <a:spcPts val="0"/>
                        </a:spcAft>
                      </a:pPr>
                      <a:r>
                        <a:rPr lang="en-US" sz="1800" kern="100" dirty="0">
                          <a:latin typeface="Times New Roman"/>
                          <a:ea typeface="Calibri"/>
                          <a:cs typeface="Times New Roman"/>
                        </a:rPr>
                        <a:t>Write (C)</a:t>
                      </a:r>
                      <a:endParaRPr lang="en-US" sz="1800" kern="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1"/>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 full contents of the log and the database when these two transactions (T1 and T2) are executed serially with T1 followed by T2 are shown below:</a:t>
            </a:r>
          </a:p>
        </p:txBody>
      </p:sp>
      <p:graphicFrame>
        <p:nvGraphicFramePr>
          <p:cNvPr id="12" name="Table 11"/>
          <p:cNvGraphicFramePr>
            <a:graphicFrameLocks noGrp="1"/>
          </p:cNvGraphicFramePr>
          <p:nvPr/>
        </p:nvGraphicFramePr>
        <p:xfrm>
          <a:off x="1905000" y="3352800"/>
          <a:ext cx="5638799" cy="3154680"/>
        </p:xfrm>
        <a:graphic>
          <a:graphicData uri="http://schemas.openxmlformats.org/drawingml/2006/table">
            <a:tbl>
              <a:tblPr/>
              <a:tblGrid>
                <a:gridCol w="2855088"/>
                <a:gridCol w="2783711"/>
              </a:tblGrid>
              <a:tr h="297180">
                <a:tc>
                  <a:txBody>
                    <a:bodyPr/>
                    <a:lstStyle/>
                    <a:p>
                      <a:pPr marL="0" marR="0" algn="ctr">
                        <a:lnSpc>
                          <a:spcPct val="115000"/>
                        </a:lnSpc>
                        <a:spcBef>
                          <a:spcPts val="0"/>
                        </a:spcBef>
                        <a:spcAft>
                          <a:spcPts val="0"/>
                        </a:spcAft>
                      </a:pPr>
                      <a:r>
                        <a:rPr lang="en-US" sz="1800" b="1" kern="100" dirty="0">
                          <a:latin typeface="Times New Roman" pitchFamily="18" charset="0"/>
                          <a:ea typeface="Calibri"/>
                          <a:cs typeface="Times New Roman" pitchFamily="18" charset="0"/>
                        </a:rPr>
                        <a:t>Log</a:t>
                      </a:r>
                      <a:endParaRPr lang="en-US" sz="1800" kern="100"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b="1" kern="100">
                          <a:latin typeface="Times New Roman" pitchFamily="18" charset="0"/>
                          <a:ea typeface="Calibri"/>
                          <a:cs typeface="Times New Roman" pitchFamily="18" charset="0"/>
                        </a:rPr>
                        <a:t>Database</a:t>
                      </a:r>
                      <a:endParaRPr lang="en-US" sz="1800" kern="10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88720">
                <a:tc>
                  <a:txBody>
                    <a:bodyPr/>
                    <a:lstStyle/>
                    <a:p>
                      <a:pPr marL="0" marR="0" algn="just">
                        <a:lnSpc>
                          <a:spcPct val="115000"/>
                        </a:lnSpc>
                        <a:spcBef>
                          <a:spcPts val="0"/>
                        </a:spcBef>
                        <a:spcAft>
                          <a:spcPts val="0"/>
                        </a:spcAft>
                      </a:pPr>
                      <a:r>
                        <a:rPr lang="en-US" sz="1800" kern="0" spc="5" dirty="0">
                          <a:latin typeface="Times New Roman" pitchFamily="18" charset="0"/>
                          <a:ea typeface="Times New Roman"/>
                          <a:cs typeface="Times New Roman" pitchFamily="18" charset="0"/>
                        </a:rPr>
                        <a:t>&lt;T1 start&gt;</a:t>
                      </a:r>
                      <a:endParaRPr lang="en-US" sz="1800" kern="100" dirty="0">
                        <a:latin typeface="Times New Roman" pitchFamily="18" charset="0"/>
                        <a:ea typeface="Calibri"/>
                        <a:cs typeface="Times New Roman" pitchFamily="18" charset="0"/>
                      </a:endParaRPr>
                    </a:p>
                    <a:p>
                      <a:pPr marL="0" marR="0" algn="just">
                        <a:lnSpc>
                          <a:spcPct val="115000"/>
                        </a:lnSpc>
                        <a:spcBef>
                          <a:spcPts val="0"/>
                        </a:spcBef>
                        <a:spcAft>
                          <a:spcPts val="0"/>
                        </a:spcAft>
                      </a:pPr>
                      <a:r>
                        <a:rPr lang="en-US" sz="1800" kern="0" spc="5" dirty="0">
                          <a:latin typeface="Times New Roman" pitchFamily="18" charset="0"/>
                          <a:ea typeface="Times New Roman"/>
                          <a:cs typeface="Times New Roman" pitchFamily="18" charset="0"/>
                        </a:rPr>
                        <a:t>&lt;T1, A, 1000, 800&gt;</a:t>
                      </a:r>
                      <a:endParaRPr lang="en-US" sz="1800" kern="100" dirty="0">
                        <a:latin typeface="Times New Roman" pitchFamily="18" charset="0"/>
                        <a:ea typeface="Calibri"/>
                        <a:cs typeface="Times New Roman" pitchFamily="18" charset="0"/>
                      </a:endParaRPr>
                    </a:p>
                    <a:p>
                      <a:pPr marL="0" marR="0" algn="just">
                        <a:lnSpc>
                          <a:spcPct val="115000"/>
                        </a:lnSpc>
                        <a:spcBef>
                          <a:spcPts val="0"/>
                        </a:spcBef>
                        <a:spcAft>
                          <a:spcPts val="0"/>
                        </a:spcAft>
                      </a:pPr>
                      <a:r>
                        <a:rPr lang="en-US" sz="1800" kern="0" spc="5" dirty="0">
                          <a:latin typeface="Times New Roman" pitchFamily="18" charset="0"/>
                          <a:ea typeface="Times New Roman"/>
                          <a:cs typeface="Times New Roman" pitchFamily="18" charset="0"/>
                        </a:rPr>
                        <a:t>&lt;T1, B, 1500, 1700&gt;</a:t>
                      </a:r>
                      <a:endParaRPr lang="en-US" sz="1800" kern="100" dirty="0">
                        <a:latin typeface="Times New Roman" pitchFamily="18" charset="0"/>
                        <a:ea typeface="Calibri"/>
                        <a:cs typeface="Times New Roman" pitchFamily="18" charset="0"/>
                      </a:endParaRPr>
                    </a:p>
                    <a:p>
                      <a:pPr marL="0" marR="0" algn="just">
                        <a:lnSpc>
                          <a:spcPct val="115000"/>
                        </a:lnSpc>
                        <a:spcBef>
                          <a:spcPts val="0"/>
                        </a:spcBef>
                        <a:spcAft>
                          <a:spcPts val="0"/>
                        </a:spcAft>
                      </a:pPr>
                      <a:r>
                        <a:rPr lang="en-US" sz="1800" kern="0" spc="5" dirty="0">
                          <a:latin typeface="Times New Roman" pitchFamily="18" charset="0"/>
                          <a:ea typeface="Times New Roman"/>
                          <a:cs typeface="Times New Roman" pitchFamily="18" charset="0"/>
                        </a:rPr>
                        <a:t>&lt;T1 commit&gt;</a:t>
                      </a:r>
                      <a:endParaRPr lang="en-US" sz="1800" kern="100"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just">
                        <a:lnSpc>
                          <a:spcPct val="115000"/>
                        </a:lnSpc>
                        <a:spcBef>
                          <a:spcPts val="0"/>
                        </a:spcBef>
                        <a:spcAft>
                          <a:spcPts val="0"/>
                        </a:spcAft>
                      </a:pPr>
                      <a:endParaRPr lang="en-US" sz="1800" kern="100">
                        <a:latin typeface="Times New Roman" pitchFamily="18" charset="0"/>
                        <a:ea typeface="Calibri"/>
                        <a:cs typeface="Times New Roman" pitchFamily="18" charset="0"/>
                      </a:endParaRPr>
                    </a:p>
                    <a:p>
                      <a:pPr marL="0" marR="0" algn="just">
                        <a:lnSpc>
                          <a:spcPct val="115000"/>
                        </a:lnSpc>
                        <a:spcBef>
                          <a:spcPts val="0"/>
                        </a:spcBef>
                        <a:spcAft>
                          <a:spcPts val="0"/>
                        </a:spcAft>
                      </a:pPr>
                      <a:r>
                        <a:rPr lang="en-US" sz="1800" kern="100">
                          <a:latin typeface="Times New Roman" pitchFamily="18" charset="0"/>
                          <a:ea typeface="Calibri"/>
                          <a:cs typeface="Times New Roman" pitchFamily="18" charset="0"/>
                        </a:rPr>
                        <a:t>A=800</a:t>
                      </a:r>
                    </a:p>
                    <a:p>
                      <a:pPr marL="0" marR="0" algn="just">
                        <a:lnSpc>
                          <a:spcPct val="115000"/>
                        </a:lnSpc>
                        <a:spcBef>
                          <a:spcPts val="0"/>
                        </a:spcBef>
                        <a:spcAft>
                          <a:spcPts val="0"/>
                        </a:spcAft>
                      </a:pPr>
                      <a:r>
                        <a:rPr lang="en-US" sz="1800" kern="100">
                          <a:latin typeface="Times New Roman" pitchFamily="18" charset="0"/>
                          <a:ea typeface="Calibri"/>
                          <a:cs typeface="Times New Roman" pitchFamily="18" charset="0"/>
                        </a:rPr>
                        <a:t>B=1700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297180">
                <a:tc>
                  <a:txBody>
                    <a:bodyPr/>
                    <a:lstStyle/>
                    <a:p>
                      <a:pPr marL="0" marR="0" algn="just">
                        <a:lnSpc>
                          <a:spcPct val="115000"/>
                        </a:lnSpc>
                        <a:spcBef>
                          <a:spcPts val="0"/>
                        </a:spcBef>
                        <a:spcAft>
                          <a:spcPts val="0"/>
                        </a:spcAft>
                      </a:pPr>
                      <a:endParaRPr lang="en-US" sz="1800" kern="10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0"/>
                        </a:spcAft>
                      </a:pPr>
                      <a:endParaRPr lang="en-US" sz="1800" kern="10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891540">
                <a:tc>
                  <a:txBody>
                    <a:bodyPr/>
                    <a:lstStyle/>
                    <a:p>
                      <a:pPr marL="0" marR="0" algn="just">
                        <a:lnSpc>
                          <a:spcPct val="115000"/>
                        </a:lnSpc>
                        <a:spcBef>
                          <a:spcPts val="0"/>
                        </a:spcBef>
                        <a:spcAft>
                          <a:spcPts val="0"/>
                        </a:spcAft>
                      </a:pPr>
                      <a:r>
                        <a:rPr lang="en-US" sz="1800" kern="0" spc="5">
                          <a:latin typeface="Times New Roman" pitchFamily="18" charset="0"/>
                          <a:ea typeface="Times New Roman"/>
                          <a:cs typeface="Times New Roman" pitchFamily="18" charset="0"/>
                        </a:rPr>
                        <a:t>&lt;T2 start&gt;</a:t>
                      </a:r>
                      <a:endParaRPr lang="en-US" sz="1800" kern="100">
                        <a:latin typeface="Times New Roman" pitchFamily="18" charset="0"/>
                        <a:ea typeface="Calibri"/>
                        <a:cs typeface="Times New Roman" pitchFamily="18" charset="0"/>
                      </a:endParaRPr>
                    </a:p>
                    <a:p>
                      <a:pPr marL="0" marR="0" algn="just">
                        <a:lnSpc>
                          <a:spcPct val="115000"/>
                        </a:lnSpc>
                        <a:spcBef>
                          <a:spcPts val="0"/>
                        </a:spcBef>
                        <a:spcAft>
                          <a:spcPts val="0"/>
                        </a:spcAft>
                      </a:pPr>
                      <a:r>
                        <a:rPr lang="en-US" sz="1800" kern="0" spc="5">
                          <a:latin typeface="Times New Roman" pitchFamily="18" charset="0"/>
                          <a:ea typeface="Times New Roman"/>
                          <a:cs typeface="Times New Roman" pitchFamily="18" charset="0"/>
                        </a:rPr>
                        <a:t>&lt;T2, C, 2000, 1900&gt;</a:t>
                      </a:r>
                      <a:endParaRPr lang="en-US" sz="1800" kern="100">
                        <a:latin typeface="Times New Roman" pitchFamily="18" charset="0"/>
                        <a:ea typeface="Calibri"/>
                        <a:cs typeface="Times New Roman" pitchFamily="18" charset="0"/>
                      </a:endParaRPr>
                    </a:p>
                    <a:p>
                      <a:pPr marL="0" marR="0" algn="just">
                        <a:lnSpc>
                          <a:spcPct val="115000"/>
                        </a:lnSpc>
                        <a:spcBef>
                          <a:spcPts val="0"/>
                        </a:spcBef>
                        <a:spcAft>
                          <a:spcPts val="0"/>
                        </a:spcAft>
                      </a:pPr>
                      <a:r>
                        <a:rPr lang="en-US" sz="1800" kern="0" spc="5">
                          <a:latin typeface="Times New Roman" pitchFamily="18" charset="0"/>
                          <a:ea typeface="Times New Roman"/>
                          <a:cs typeface="Times New Roman" pitchFamily="18" charset="0"/>
                        </a:rPr>
                        <a:t>&lt;T2 commit&gt;</a:t>
                      </a:r>
                      <a:endParaRPr lang="en-US" sz="1800" kern="10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0"/>
                        </a:spcAft>
                      </a:pPr>
                      <a:endParaRPr lang="en-US" sz="1800" kern="100">
                        <a:latin typeface="Times New Roman" pitchFamily="18" charset="0"/>
                        <a:ea typeface="Calibri"/>
                        <a:cs typeface="Times New Roman" pitchFamily="18" charset="0"/>
                      </a:endParaRPr>
                    </a:p>
                    <a:p>
                      <a:pPr marL="0" marR="0" algn="just">
                        <a:lnSpc>
                          <a:spcPct val="115000"/>
                        </a:lnSpc>
                        <a:spcBef>
                          <a:spcPts val="0"/>
                        </a:spcBef>
                        <a:spcAft>
                          <a:spcPts val="0"/>
                        </a:spcAft>
                      </a:pPr>
                      <a:r>
                        <a:rPr lang="en-US" sz="1800" kern="100">
                          <a:latin typeface="Times New Roman" pitchFamily="18" charset="0"/>
                          <a:ea typeface="Calibri"/>
                          <a:cs typeface="Times New Roman" pitchFamily="18" charset="0"/>
                        </a:rPr>
                        <a:t>C=1900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97180">
                <a:tc>
                  <a:txBody>
                    <a:bodyPr/>
                    <a:lstStyle/>
                    <a:p>
                      <a:pPr marL="0" marR="0" algn="just">
                        <a:lnSpc>
                          <a:spcPct val="115000"/>
                        </a:lnSpc>
                        <a:spcBef>
                          <a:spcPts val="0"/>
                        </a:spcBef>
                        <a:spcAft>
                          <a:spcPts val="0"/>
                        </a:spcAft>
                      </a:pPr>
                      <a:endParaRPr lang="en-US" sz="1800" kern="0" spc="5"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800" kern="100"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1"/>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In </a:t>
            </a:r>
            <a:r>
              <a:rPr lang="en-US" sz="2000" dirty="0" smtClean="0">
                <a:latin typeface="Times New Roman" pitchFamily="18" charset="0"/>
                <a:cs typeface="Times New Roman" pitchFamily="18" charset="0"/>
              </a:rPr>
              <a:t>case of failure, the log files are examined starting with the last entry till the most recent checkpoint. The recovery scheme uses the following </a:t>
            </a:r>
            <a:r>
              <a:rPr lang="en-US" sz="2000" dirty="0" smtClean="0">
                <a:latin typeface="Times New Roman" pitchFamily="18" charset="0"/>
                <a:cs typeface="Times New Roman" pitchFamily="18" charset="0"/>
              </a:rPr>
              <a:t>operations:</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undo(</a:t>
            </a:r>
            <a:r>
              <a:rPr lang="en-US" sz="2000" i="1" dirty="0" smtClean="0">
                <a:latin typeface="Times New Roman" pitchFamily="18" charset="0"/>
                <a:cs typeface="Times New Roman" pitchFamily="18" charset="0"/>
              </a:rPr>
              <a:t>T</a:t>
            </a:r>
            <a:r>
              <a:rPr lang="en-US" sz="2000" i="1" baseline="-25000" dirty="0"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restores the value of all data items updated by transaction </a:t>
            </a:r>
            <a:r>
              <a:rPr lang="en-US" sz="2000" i="1" dirty="0" smtClean="0">
                <a:latin typeface="Times New Roman" pitchFamily="18" charset="0"/>
                <a:cs typeface="Times New Roman" pitchFamily="18" charset="0"/>
              </a:rPr>
              <a: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to the old </a:t>
            </a:r>
            <a:r>
              <a:rPr lang="en-US" sz="2000" dirty="0" smtClean="0">
                <a:latin typeface="Times New Roman" pitchFamily="18" charset="0"/>
                <a:cs typeface="Times New Roman" pitchFamily="18" charset="0"/>
              </a:rPr>
              <a:t>values.</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redo(</a:t>
            </a:r>
            <a:r>
              <a:rPr lang="en-US" sz="2000" i="1" dirty="0" smtClean="0">
                <a:latin typeface="Times New Roman" pitchFamily="18" charset="0"/>
                <a:cs typeface="Times New Roman" pitchFamily="18" charset="0"/>
              </a:rPr>
              <a:t>T</a:t>
            </a:r>
            <a:r>
              <a:rPr lang="en-US" sz="2000" i="1" baseline="-25000" dirty="0"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sets the value of all data items updated by transaction </a:t>
            </a:r>
            <a:r>
              <a:rPr lang="en-US" sz="2000" i="1" dirty="0" smtClean="0">
                <a:latin typeface="Times New Roman" pitchFamily="18" charset="0"/>
                <a:cs typeface="Times New Roman" pitchFamily="18" charset="0"/>
              </a:rPr>
              <a:t>Ti </a:t>
            </a:r>
            <a:r>
              <a:rPr lang="en-US" sz="2000" dirty="0" smtClean="0">
                <a:latin typeface="Times New Roman" pitchFamily="18" charset="0"/>
                <a:cs typeface="Times New Roman" pitchFamily="18" charset="0"/>
              </a:rPr>
              <a:t>to the new </a:t>
            </a:r>
            <a:r>
              <a:rPr lang="en-US" sz="2000" dirty="0" smtClean="0">
                <a:latin typeface="Times New Roman" pitchFamily="18" charset="0"/>
                <a:cs typeface="Times New Roman" pitchFamily="18" charset="0"/>
              </a:rPr>
              <a:t>values.</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1"/>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set of data items updated by </a:t>
            </a:r>
            <a:r>
              <a:rPr lang="en-US" sz="2000" i="1" dirty="0" smtClean="0">
                <a:latin typeface="Times New Roman" pitchFamily="18" charset="0"/>
                <a:cs typeface="Times New Roman" pitchFamily="18" charset="0"/>
              </a:rPr>
              <a:t>Ti </a:t>
            </a:r>
            <a:r>
              <a:rPr lang="en-US" sz="2000" dirty="0" smtClean="0">
                <a:latin typeface="Times New Roman" pitchFamily="18" charset="0"/>
                <a:cs typeface="Times New Roman" pitchFamily="18" charset="0"/>
              </a:rPr>
              <a:t>and their respective old values can be found in the log. After a failure has occurred, the recovery scheme consults the log to determine which transactions need to be redone, and which need to be </a:t>
            </a:r>
            <a:r>
              <a:rPr lang="en-US" sz="2000" dirty="0" smtClean="0">
                <a:latin typeface="Times New Roman" pitchFamily="18" charset="0"/>
                <a:cs typeface="Times New Roman" pitchFamily="18" charset="0"/>
              </a:rPr>
              <a:t>undone:</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Transaction </a:t>
            </a:r>
            <a:r>
              <a:rPr lang="en-US" sz="2000" i="1" dirty="0" smtClean="0">
                <a:latin typeface="Times New Roman" pitchFamily="18" charset="0"/>
                <a:cs typeface="Times New Roman" pitchFamily="18" charset="0"/>
              </a:rPr>
              <a: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needs to be undone if the log contains the record </a:t>
            </a:r>
            <a:r>
              <a:rPr lang="en-US" sz="2000" i="1" dirty="0" smtClean="0">
                <a:latin typeface="Times New Roman" pitchFamily="18" charset="0"/>
                <a:cs typeface="Times New Roman" pitchFamily="18" charset="0"/>
              </a:rPr>
              <a:t>&lt;T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start</a:t>
            </a:r>
            <a:r>
              <a:rPr lang="en-US" sz="2000" i="1" dirty="0" smtClean="0">
                <a:latin typeface="Times New Roman" pitchFamily="18" charset="0"/>
                <a:cs typeface="Times New Roman" pitchFamily="18" charset="0"/>
              </a:rPr>
              <a:t>&gt;</a:t>
            </a:r>
            <a:r>
              <a:rPr lang="en-US" sz="2000" dirty="0" smtClean="0">
                <a:latin typeface="Times New Roman" pitchFamily="18" charset="0"/>
                <a:cs typeface="Times New Roman" pitchFamily="18" charset="0"/>
              </a:rPr>
              <a:t>, but does not contain the record </a:t>
            </a:r>
            <a:r>
              <a:rPr lang="en-US" sz="2000" i="1" dirty="0" smtClean="0">
                <a:latin typeface="Times New Roman" pitchFamily="18" charset="0"/>
                <a:cs typeface="Times New Roman" pitchFamily="18" charset="0"/>
              </a:rPr>
              <a:t>&lt;T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commit</a:t>
            </a:r>
            <a:r>
              <a:rPr lang="en-US" sz="2000" i="1" dirty="0" smtClean="0">
                <a:latin typeface="Times New Roman" pitchFamily="18" charset="0"/>
                <a:cs typeface="Times New Roman" pitchFamily="18" charset="0"/>
              </a:rPr>
              <a:t>&gt;</a:t>
            </a:r>
            <a:r>
              <a:rPr lang="en-US" sz="2000" dirty="0" smtClean="0">
                <a:latin typeface="Times New Roman" pitchFamily="18" charset="0"/>
                <a:cs typeface="Times New Roman" pitchFamily="18" charset="0"/>
              </a:rPr>
              <a:t>.</a:t>
            </a:r>
          </a:p>
          <a:p>
            <a:pPr marL="1200150" lvl="2"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Transaction </a:t>
            </a:r>
            <a:r>
              <a:rPr lang="en-US" sz="2000" i="1" dirty="0" smtClean="0">
                <a:latin typeface="Times New Roman" pitchFamily="18" charset="0"/>
                <a:cs typeface="Times New Roman" pitchFamily="18" charset="0"/>
              </a:rPr>
              <a: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needs to be redone if the log contains both the record </a:t>
            </a:r>
            <a:r>
              <a:rPr lang="en-US" sz="2000" i="1" dirty="0" smtClean="0">
                <a:latin typeface="Times New Roman" pitchFamily="18" charset="0"/>
                <a:cs typeface="Times New Roman" pitchFamily="18" charset="0"/>
              </a:rPr>
              <a:t>&lt;T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start</a:t>
            </a:r>
            <a:r>
              <a:rPr lang="en-US" sz="2000" i="1" dirty="0" smtClean="0">
                <a:latin typeface="Times New Roman" pitchFamily="18" charset="0"/>
                <a:cs typeface="Times New Roman" pitchFamily="18" charset="0"/>
              </a:rPr>
              <a:t>&gt; </a:t>
            </a:r>
            <a:r>
              <a:rPr lang="en-US" sz="2000" dirty="0" smtClean="0">
                <a:latin typeface="Times New Roman" pitchFamily="18" charset="0"/>
                <a:cs typeface="Times New Roman" pitchFamily="18" charset="0"/>
              </a:rPr>
              <a:t>and the record </a:t>
            </a:r>
            <a:r>
              <a:rPr lang="en-US" sz="2000" i="1" dirty="0" smtClean="0">
                <a:latin typeface="Times New Roman" pitchFamily="18" charset="0"/>
                <a:cs typeface="Times New Roman" pitchFamily="18" charset="0"/>
              </a:rPr>
              <a:t>&lt;T</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commit</a:t>
            </a:r>
            <a:r>
              <a:rPr lang="en-US" sz="2000" i="1" dirty="0" smtClean="0">
                <a:latin typeface="Times New Roman" pitchFamily="18" charset="0"/>
                <a:cs typeface="Times New Roman" pitchFamily="18" charset="0"/>
              </a:rPr>
              <a:t>&gt;</a:t>
            </a:r>
            <a:r>
              <a:rPr lang="en-US" sz="2000" dirty="0" smtClean="0">
                <a:latin typeface="Times New Roman" pitchFamily="18" charset="0"/>
                <a:cs typeface="Times New Roman" pitchFamily="18" charset="0"/>
              </a:rPr>
              <a:t>.</a:t>
            </a:r>
          </a:p>
          <a:p>
            <a:r>
              <a:rPr lang="en-US" sz="20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1"/>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r>
              <a:rPr lang="en-US" sz="2000" dirty="0" smtClean="0">
                <a:latin typeface="Times New Roman" pitchFamily="18" charset="0"/>
                <a:cs typeface="Times New Roman" pitchFamily="18" charset="0"/>
              </a:rPr>
              <a:t>As </a:t>
            </a:r>
            <a:r>
              <a:rPr lang="en-US" sz="2000" dirty="0" smtClean="0">
                <a:latin typeface="Times New Roman" pitchFamily="18" charset="0"/>
                <a:cs typeface="Times New Roman" pitchFamily="18" charset="0"/>
              </a:rPr>
              <a:t>an illustration, we consider the following three cases. The log records for each of these cases appear in the following Figure.</a:t>
            </a:r>
            <a:endParaRPr lang="en-US" sz="2000" dirty="0" smtClean="0">
              <a:latin typeface="Times New Roman" pitchFamily="18" charset="0"/>
              <a:cs typeface="Times New Roman" pitchFamily="18" charset="0"/>
            </a:endParaRPr>
          </a:p>
        </p:txBody>
      </p:sp>
      <p:graphicFrame>
        <p:nvGraphicFramePr>
          <p:cNvPr id="10" name="Table 9"/>
          <p:cNvGraphicFramePr>
            <a:graphicFrameLocks noGrp="1"/>
          </p:cNvGraphicFramePr>
          <p:nvPr/>
        </p:nvGraphicFramePr>
        <p:xfrm>
          <a:off x="1295400" y="3200400"/>
          <a:ext cx="6781800" cy="2790586"/>
        </p:xfrm>
        <a:graphic>
          <a:graphicData uri="http://schemas.openxmlformats.org/drawingml/2006/table">
            <a:tbl>
              <a:tblPr/>
              <a:tblGrid>
                <a:gridCol w="2211842"/>
                <a:gridCol w="2358116"/>
                <a:gridCol w="2211842"/>
              </a:tblGrid>
              <a:tr h="282519">
                <a:tc>
                  <a:txBody>
                    <a:bodyPr/>
                    <a:lstStyle/>
                    <a:p>
                      <a:pPr marL="0" marR="0" algn="ctr">
                        <a:lnSpc>
                          <a:spcPct val="115000"/>
                        </a:lnSpc>
                        <a:spcBef>
                          <a:spcPts val="0"/>
                        </a:spcBef>
                        <a:spcAft>
                          <a:spcPts val="0"/>
                        </a:spcAft>
                      </a:pPr>
                      <a:r>
                        <a:rPr lang="en-US" sz="1600" b="1" kern="100" dirty="0">
                          <a:latin typeface="Times New Roman"/>
                          <a:ea typeface="Calibri"/>
                          <a:cs typeface="Times New Roman"/>
                        </a:rPr>
                        <a:t>Condition 1</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kern="100">
                          <a:latin typeface="Times New Roman"/>
                          <a:ea typeface="Calibri"/>
                          <a:cs typeface="Times New Roman"/>
                        </a:rPr>
                        <a:t>Condition 2</a:t>
                      </a:r>
                      <a:endParaRPr lang="en-US" sz="1600" kern="10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kern="100">
                          <a:latin typeface="Times New Roman"/>
                          <a:ea typeface="Calibri"/>
                          <a:cs typeface="Times New Roman"/>
                        </a:rPr>
                        <a:t>Condition 3</a:t>
                      </a:r>
                      <a:endParaRPr lang="en-US" sz="1600" kern="10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55879">
                <a:tc>
                  <a:txBody>
                    <a:bodyPr/>
                    <a:lstStyle/>
                    <a:p>
                      <a:pPr marL="0" marR="0" algn="just">
                        <a:lnSpc>
                          <a:spcPct val="115000"/>
                        </a:lnSpc>
                        <a:spcBef>
                          <a:spcPts val="0"/>
                        </a:spcBef>
                        <a:spcAft>
                          <a:spcPts val="0"/>
                        </a:spcAft>
                      </a:pPr>
                      <a:r>
                        <a:rPr lang="en-US" sz="1600" kern="0" spc="5">
                          <a:latin typeface="Times New Roman"/>
                          <a:ea typeface="Times New Roman"/>
                          <a:cs typeface="Times New Roman"/>
                        </a:rPr>
                        <a:t>&lt;T1 start&gt;</a:t>
                      </a:r>
                      <a:endParaRPr lang="en-US" sz="1600" kern="100">
                        <a:latin typeface="Calibri"/>
                        <a:ea typeface="Calibri"/>
                        <a:cs typeface="Times New Roman"/>
                      </a:endParaRPr>
                    </a:p>
                    <a:p>
                      <a:pPr marL="0" marR="0" algn="just">
                        <a:lnSpc>
                          <a:spcPct val="115000"/>
                        </a:lnSpc>
                        <a:spcBef>
                          <a:spcPts val="0"/>
                        </a:spcBef>
                        <a:spcAft>
                          <a:spcPts val="0"/>
                        </a:spcAft>
                      </a:pPr>
                      <a:r>
                        <a:rPr lang="en-US" sz="1600" kern="0" spc="5">
                          <a:latin typeface="Times New Roman"/>
                          <a:ea typeface="Times New Roman"/>
                          <a:cs typeface="Times New Roman"/>
                        </a:rPr>
                        <a:t>&lt;T1, A, 1000, 800&gt;</a:t>
                      </a:r>
                      <a:endParaRPr lang="en-US" sz="1600" kern="100">
                        <a:latin typeface="Calibri"/>
                        <a:ea typeface="Calibri"/>
                        <a:cs typeface="Times New Roman"/>
                      </a:endParaRPr>
                    </a:p>
                    <a:p>
                      <a:pPr marL="0" marR="0" algn="just">
                        <a:lnSpc>
                          <a:spcPct val="115000"/>
                        </a:lnSpc>
                        <a:spcBef>
                          <a:spcPts val="0"/>
                        </a:spcBef>
                        <a:spcAft>
                          <a:spcPts val="0"/>
                        </a:spcAft>
                      </a:pPr>
                      <a:r>
                        <a:rPr lang="en-US" sz="1600" kern="0" spc="5">
                          <a:latin typeface="Times New Roman"/>
                          <a:ea typeface="Times New Roman"/>
                          <a:cs typeface="Times New Roman"/>
                        </a:rPr>
                        <a:t>&lt;T1, B, 1500, 1700&gt;</a:t>
                      </a:r>
                      <a:endParaRPr lang="en-US" sz="1600" kern="10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0" spc="5" dirty="0">
                          <a:latin typeface="Times New Roman"/>
                          <a:ea typeface="Times New Roman"/>
                          <a:cs typeface="Times New Roman"/>
                        </a:rPr>
                        <a:t>&lt;T1 start&gt;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a:latin typeface="Times New Roman"/>
                          <a:ea typeface="Times New Roman"/>
                          <a:cs typeface="Times New Roman"/>
                        </a:rPr>
                        <a:t>&lt;T1, A, 1000, 800&gt;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a:latin typeface="Times New Roman"/>
                          <a:ea typeface="Times New Roman"/>
                          <a:cs typeface="Times New Roman"/>
                        </a:rPr>
                        <a:t>&lt;T1, B, 1500, 1700&gt;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a:latin typeface="Times New Roman"/>
                          <a:ea typeface="Times New Roman"/>
                          <a:cs typeface="Times New Roman"/>
                        </a:rPr>
                        <a:t>&lt;T1 commit&gt;</a:t>
                      </a:r>
                      <a:endParaRPr lang="en-US" sz="1600" kern="100" dirty="0">
                        <a:latin typeface="Calibri"/>
                        <a:ea typeface="Calibri"/>
                        <a:cs typeface="Times New Roman"/>
                      </a:endParaRPr>
                    </a:p>
                    <a:p>
                      <a:pPr marL="0" marR="0" algn="just">
                        <a:lnSpc>
                          <a:spcPct val="115000"/>
                        </a:lnSpc>
                        <a:spcBef>
                          <a:spcPts val="0"/>
                        </a:spcBef>
                        <a:spcAft>
                          <a:spcPts val="0"/>
                        </a:spcAft>
                      </a:pPr>
                      <a:endParaRPr lang="en-US" sz="1600" kern="0" spc="5" dirty="0" smtClean="0">
                        <a:latin typeface="Times New Roman"/>
                        <a:ea typeface="Times New Roman"/>
                        <a:cs typeface="Times New Roman"/>
                      </a:endParaRPr>
                    </a:p>
                    <a:p>
                      <a:pPr marL="0" marR="0" algn="just">
                        <a:lnSpc>
                          <a:spcPct val="115000"/>
                        </a:lnSpc>
                        <a:spcBef>
                          <a:spcPts val="0"/>
                        </a:spcBef>
                        <a:spcAft>
                          <a:spcPts val="0"/>
                        </a:spcAft>
                      </a:pPr>
                      <a:r>
                        <a:rPr lang="en-US" sz="1600" kern="0" spc="5" dirty="0" smtClean="0">
                          <a:latin typeface="Times New Roman"/>
                          <a:ea typeface="Times New Roman"/>
                          <a:cs typeface="Times New Roman"/>
                        </a:rPr>
                        <a:t>&lt;</a:t>
                      </a:r>
                      <a:r>
                        <a:rPr lang="en-US" sz="1600" kern="0" spc="5" dirty="0">
                          <a:latin typeface="Times New Roman"/>
                          <a:ea typeface="Times New Roman"/>
                          <a:cs typeface="Times New Roman"/>
                        </a:rPr>
                        <a:t>T2 start&gt;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a:latin typeface="Times New Roman"/>
                          <a:ea typeface="Times New Roman"/>
                          <a:cs typeface="Times New Roman"/>
                        </a:rPr>
                        <a:t>&lt;T2, C, </a:t>
                      </a:r>
                      <a:r>
                        <a:rPr lang="en-US" sz="1800" kern="0" spc="5" dirty="0">
                          <a:latin typeface="Times New Roman"/>
                          <a:ea typeface="Times New Roman"/>
                          <a:cs typeface="Times New Roman"/>
                        </a:rPr>
                        <a:t>2000</a:t>
                      </a:r>
                      <a:r>
                        <a:rPr lang="en-US" sz="1600" kern="0" spc="5" dirty="0">
                          <a:latin typeface="Times New Roman"/>
                          <a:ea typeface="Times New Roman"/>
                          <a:cs typeface="Times New Roman"/>
                        </a:rPr>
                        <a:t>, 1900&gt;</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0" spc="5" dirty="0">
                          <a:latin typeface="Times New Roman"/>
                          <a:ea typeface="Times New Roman"/>
                          <a:cs typeface="Times New Roman"/>
                        </a:rPr>
                        <a:t>&lt;T1 start&gt;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a:latin typeface="Times New Roman"/>
                          <a:ea typeface="Times New Roman"/>
                          <a:cs typeface="Times New Roman"/>
                        </a:rPr>
                        <a:t>&lt;T1, A, 1000, 800&gt;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a:latin typeface="Times New Roman"/>
                          <a:ea typeface="Times New Roman"/>
                          <a:cs typeface="Times New Roman"/>
                        </a:rPr>
                        <a:t>&lt;T1, B, 1500, 1700&gt;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a:latin typeface="Times New Roman"/>
                          <a:ea typeface="Times New Roman"/>
                          <a:cs typeface="Times New Roman"/>
                        </a:rPr>
                        <a:t>&lt;T1 commit&gt;</a:t>
                      </a:r>
                      <a:endParaRPr lang="en-US" sz="1600" kern="100" dirty="0">
                        <a:latin typeface="Calibri"/>
                        <a:ea typeface="Calibri"/>
                        <a:cs typeface="Times New Roman"/>
                      </a:endParaRPr>
                    </a:p>
                    <a:p>
                      <a:pPr marL="0" marR="0" algn="just">
                        <a:lnSpc>
                          <a:spcPct val="115000"/>
                        </a:lnSpc>
                        <a:spcBef>
                          <a:spcPts val="0"/>
                        </a:spcBef>
                        <a:spcAft>
                          <a:spcPts val="0"/>
                        </a:spcAft>
                      </a:pPr>
                      <a:endParaRPr lang="en-US" sz="1600" kern="0" spc="5" dirty="0" smtClean="0">
                        <a:latin typeface="Times New Roman"/>
                        <a:ea typeface="Times New Roman"/>
                        <a:cs typeface="Times New Roman"/>
                      </a:endParaRPr>
                    </a:p>
                    <a:p>
                      <a:pPr marL="0" marR="0" algn="just">
                        <a:lnSpc>
                          <a:spcPct val="115000"/>
                        </a:lnSpc>
                        <a:spcBef>
                          <a:spcPts val="0"/>
                        </a:spcBef>
                        <a:spcAft>
                          <a:spcPts val="0"/>
                        </a:spcAft>
                      </a:pPr>
                      <a:r>
                        <a:rPr lang="en-US" sz="1600" kern="0" spc="5" dirty="0" smtClean="0">
                          <a:latin typeface="Times New Roman"/>
                          <a:ea typeface="Times New Roman"/>
                          <a:cs typeface="Times New Roman"/>
                        </a:rPr>
                        <a:t>&lt;</a:t>
                      </a:r>
                      <a:r>
                        <a:rPr lang="en-US" sz="1600" kern="0" spc="5" dirty="0">
                          <a:latin typeface="Times New Roman"/>
                          <a:ea typeface="Times New Roman"/>
                          <a:cs typeface="Times New Roman"/>
                        </a:rPr>
                        <a:t>T2 start&gt;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a:latin typeface="Times New Roman"/>
                          <a:ea typeface="Times New Roman"/>
                          <a:cs typeface="Times New Roman"/>
                        </a:rPr>
                        <a:t>&lt;T2, C, 2000, 1900&gt;</a:t>
                      </a:r>
                      <a:endParaRPr lang="en-US" sz="1600" kern="100" dirty="0">
                        <a:latin typeface="Calibri"/>
                        <a:ea typeface="Calibri"/>
                        <a:cs typeface="Times New Roman"/>
                      </a:endParaRPr>
                    </a:p>
                    <a:p>
                      <a:pPr marL="0" marR="0" algn="just">
                        <a:lnSpc>
                          <a:spcPct val="115000"/>
                        </a:lnSpc>
                        <a:spcBef>
                          <a:spcPts val="0"/>
                        </a:spcBef>
                        <a:spcAft>
                          <a:spcPts val="0"/>
                        </a:spcAft>
                      </a:pPr>
                      <a:r>
                        <a:rPr lang="en-US" sz="1600" kern="0" spc="5" dirty="0">
                          <a:latin typeface="Times New Roman"/>
                          <a:ea typeface="Times New Roman"/>
                          <a:cs typeface="Times New Roman"/>
                        </a:rPr>
                        <a:t>&lt;T2 commit&gt;</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2519">
                <a:tc>
                  <a:txBody>
                    <a:bodyPr/>
                    <a:lstStyle/>
                    <a:p>
                      <a:pPr marL="0" marR="0" algn="just">
                        <a:lnSpc>
                          <a:spcPct val="115000"/>
                        </a:lnSpc>
                        <a:spcBef>
                          <a:spcPts val="0"/>
                        </a:spcBef>
                        <a:spcAft>
                          <a:spcPts val="0"/>
                        </a:spcAft>
                      </a:pPr>
                      <a:r>
                        <a:rPr lang="en-US" sz="1600" kern="0" spc="5" dirty="0">
                          <a:latin typeface="Times New Roman"/>
                          <a:ea typeface="Times New Roman"/>
                          <a:cs typeface="Times New Roman"/>
                        </a:rPr>
                        <a:t>Crash</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0" spc="5" dirty="0">
                          <a:latin typeface="Times New Roman"/>
                          <a:ea typeface="Times New Roman"/>
                          <a:cs typeface="Times New Roman"/>
                        </a:rPr>
                        <a:t>Crash</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0" spc="5" dirty="0">
                          <a:latin typeface="Times New Roman"/>
                          <a:ea typeface="Times New Roman"/>
                          <a:cs typeface="Times New Roman"/>
                        </a:rPr>
                        <a:t>Crash</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600201"/>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Immediate Database Modification Technique for ensuring transaction atomicity</a:t>
            </a:r>
            <a:endParaRPr lang="en-US" sz="2000" dirty="0" smtClean="0">
              <a:latin typeface="Times New Roman" pitchFamily="18" charset="0"/>
              <a:cs typeface="Times New Roman" pitchFamily="18" charset="0"/>
            </a:endParaRPr>
          </a:p>
          <a:p>
            <a:pPr marL="742950" lvl="1" indent="-285750" algn="just">
              <a:spcBef>
                <a:spcPct val="20000"/>
              </a:spcBef>
              <a:buFont typeface="Arial" pitchFamily="34" charset="0"/>
              <a:buChar char="–"/>
              <a:defRPr/>
            </a:pPr>
            <a:endParaRPr lang="en-US" sz="2000" dirty="0" smtClean="0">
              <a:latin typeface="Times New Roman" pitchFamily="18" charset="0"/>
              <a:cs typeface="Times New Roman" pitchFamily="18" charset="0"/>
            </a:endParaRPr>
          </a:p>
        </p:txBody>
      </p:sp>
      <p:graphicFrame>
        <p:nvGraphicFramePr>
          <p:cNvPr id="10" name="Table 9"/>
          <p:cNvGraphicFramePr>
            <a:graphicFrameLocks noGrp="1"/>
          </p:cNvGraphicFramePr>
          <p:nvPr/>
        </p:nvGraphicFramePr>
        <p:xfrm>
          <a:off x="914400" y="2381189"/>
          <a:ext cx="7391399" cy="4051250"/>
        </p:xfrm>
        <a:graphic>
          <a:graphicData uri="http://schemas.openxmlformats.org/drawingml/2006/table">
            <a:tbl>
              <a:tblPr/>
              <a:tblGrid>
                <a:gridCol w="2410659"/>
                <a:gridCol w="2570081"/>
                <a:gridCol w="2410659"/>
              </a:tblGrid>
              <a:tr h="282519">
                <a:tc>
                  <a:txBody>
                    <a:bodyPr/>
                    <a:lstStyle/>
                    <a:p>
                      <a:pPr marL="0" marR="0" algn="ctr">
                        <a:lnSpc>
                          <a:spcPct val="115000"/>
                        </a:lnSpc>
                        <a:spcBef>
                          <a:spcPts val="0"/>
                        </a:spcBef>
                        <a:spcAft>
                          <a:spcPts val="0"/>
                        </a:spcAft>
                      </a:pPr>
                      <a:r>
                        <a:rPr lang="en-US" sz="1600" b="1" kern="100" dirty="0">
                          <a:latin typeface="Times New Roman"/>
                          <a:ea typeface="Calibri"/>
                          <a:cs typeface="Times New Roman"/>
                        </a:rPr>
                        <a:t>Condition 1</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kern="100" dirty="0">
                          <a:latin typeface="Times New Roman"/>
                          <a:ea typeface="Calibri"/>
                          <a:cs typeface="Times New Roman"/>
                        </a:rPr>
                        <a:t>Condition 2</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kern="100">
                          <a:latin typeface="Times New Roman"/>
                          <a:ea typeface="Calibri"/>
                          <a:cs typeface="Times New Roman"/>
                        </a:rPr>
                        <a:t>Condition 3</a:t>
                      </a:r>
                      <a:endParaRPr lang="en-US" sz="1600" kern="10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8892">
                <a:tc>
                  <a:txBody>
                    <a:bodyPr/>
                    <a:lstStyle/>
                    <a:p>
                      <a:pPr marL="0" marR="0" algn="just">
                        <a:lnSpc>
                          <a:spcPct val="115000"/>
                        </a:lnSpc>
                        <a:spcBef>
                          <a:spcPts val="0"/>
                        </a:spcBef>
                        <a:spcAft>
                          <a:spcPts val="0"/>
                        </a:spcAft>
                      </a:pPr>
                      <a:r>
                        <a:rPr lang="en-US" sz="1600" kern="100" dirty="0">
                          <a:latin typeface="Times New Roman"/>
                          <a:ea typeface="Calibri"/>
                          <a:cs typeface="Times New Roman"/>
                        </a:rPr>
                        <a:t>Whenever the recovery process starts, Transaction T1 should be undone. Because no commit record appears in the log. So old values are copied to database.</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100" dirty="0">
                          <a:latin typeface="Times New Roman"/>
                          <a:ea typeface="Calibri"/>
                          <a:cs typeface="Times New Roman"/>
                        </a:rPr>
                        <a:t>Whenever the recovery process starts, transaction T1 must be redone and transaction T2 must be undone. Updates made by transaction T1 are copied to database but transaction T2 has not yet committed in the log record, so it must be undone.</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100">
                          <a:latin typeface="Times New Roman"/>
                          <a:ea typeface="Calibri"/>
                          <a:cs typeface="Times New Roman"/>
                        </a:rPr>
                        <a:t>Whenever the recovery process starts, both transactions T1 and T2 should be redone as commit records appear in the log. So updates made by them are copied to database.</a:t>
                      </a:r>
                      <a:endParaRPr lang="en-US" sz="1600" kern="10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800">
                <a:tc>
                  <a:txBody>
                    <a:bodyPr/>
                    <a:lstStyle/>
                    <a:p>
                      <a:pPr marL="0" marR="0" algn="just">
                        <a:lnSpc>
                          <a:spcPct val="115000"/>
                        </a:lnSpc>
                        <a:spcBef>
                          <a:spcPts val="0"/>
                        </a:spcBef>
                        <a:spcAft>
                          <a:spcPts val="0"/>
                        </a:spcAft>
                      </a:pPr>
                      <a:r>
                        <a:rPr lang="en-US" sz="1600" kern="100">
                          <a:latin typeface="Times New Roman"/>
                          <a:ea typeface="Calibri"/>
                          <a:cs typeface="Times New Roman"/>
                        </a:rPr>
                        <a:t>Undo (T1)</a:t>
                      </a:r>
                      <a:endParaRPr lang="en-US" sz="1600" kern="10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100" dirty="0">
                          <a:latin typeface="Times New Roman"/>
                          <a:ea typeface="Calibri"/>
                          <a:cs typeface="Times New Roman"/>
                        </a:rPr>
                        <a:t>Redo (T1</a:t>
                      </a:r>
                      <a:r>
                        <a:rPr lang="en-US" sz="1600" kern="100" dirty="0" smtClean="0">
                          <a:latin typeface="Times New Roman"/>
                          <a:ea typeface="Calibri"/>
                          <a:cs typeface="Times New Roman"/>
                        </a:rPr>
                        <a:t>), Undo </a:t>
                      </a:r>
                      <a:r>
                        <a:rPr lang="en-US" sz="1600" kern="100" dirty="0">
                          <a:latin typeface="Times New Roman"/>
                          <a:ea typeface="Calibri"/>
                          <a:cs typeface="Times New Roman"/>
                        </a:rPr>
                        <a:t>(T2)</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100">
                          <a:latin typeface="Times New Roman"/>
                          <a:ea typeface="Calibri"/>
                          <a:cs typeface="Times New Roman"/>
                        </a:rPr>
                        <a:t>Redo (T1) , Redo (T2)</a:t>
                      </a:r>
                      <a:endParaRPr lang="en-US" sz="1600" kern="10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5039">
                <a:tc>
                  <a:txBody>
                    <a:bodyPr/>
                    <a:lstStyle/>
                    <a:p>
                      <a:pPr marL="0" marR="0" algn="just">
                        <a:lnSpc>
                          <a:spcPct val="115000"/>
                        </a:lnSpc>
                        <a:spcBef>
                          <a:spcPts val="0"/>
                        </a:spcBef>
                        <a:spcAft>
                          <a:spcPts val="0"/>
                        </a:spcAft>
                      </a:pPr>
                      <a:r>
                        <a:rPr lang="en-US" sz="1600" kern="100">
                          <a:latin typeface="Times New Roman"/>
                          <a:ea typeface="Calibri"/>
                          <a:cs typeface="Times New Roman"/>
                        </a:rPr>
                        <a:t>A = 1000, B = 1500, C = 2000</a:t>
                      </a:r>
                      <a:endParaRPr lang="en-US" sz="1600" kern="10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100">
                          <a:latin typeface="Times New Roman"/>
                          <a:ea typeface="Calibri"/>
                          <a:cs typeface="Times New Roman"/>
                        </a:rPr>
                        <a:t>A = 800, B = 1700, C = 2000</a:t>
                      </a:r>
                      <a:endParaRPr lang="en-US" sz="1600" kern="10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kern="100" dirty="0">
                          <a:latin typeface="Times New Roman"/>
                          <a:ea typeface="Calibri"/>
                          <a:cs typeface="Times New Roman"/>
                        </a:rPr>
                        <a:t>A = 800, B =1700, C = 1900</a:t>
                      </a:r>
                      <a:endParaRPr lang="en-US" sz="1600" kern="100" dirty="0">
                        <a:latin typeface="Calibri"/>
                        <a:ea typeface="Calibri"/>
                        <a:cs typeface="Times New Roman"/>
                      </a:endParaRPr>
                    </a:p>
                  </a:txBody>
                  <a:tcPr marL="55217" marR="5521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524000"/>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Difference </a:t>
            </a:r>
            <a:r>
              <a:rPr lang="en-US" sz="2000" b="1" dirty="0" smtClean="0">
                <a:latin typeface="Times New Roman" pitchFamily="18" charset="0"/>
                <a:cs typeface="Times New Roman" pitchFamily="18" charset="0"/>
              </a:rPr>
              <a:t>between Deferred update and Immediate update</a:t>
            </a:r>
            <a:endParaRPr lang="en-US" sz="2000" dirty="0" smtClean="0">
              <a:latin typeface="Times New Roman" pitchFamily="18" charset="0"/>
              <a:cs typeface="Times New Roman" pitchFamily="18" charset="0"/>
            </a:endParaRPr>
          </a:p>
          <a:p>
            <a:pPr algn="just" fontAlgn="base"/>
            <a:r>
              <a:rPr lang="en-US" sz="20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    Deferred </a:t>
            </a:r>
            <a:r>
              <a:rPr lang="en-US" sz="2000" b="1" dirty="0" smtClean="0">
                <a:latin typeface="Times New Roman" pitchFamily="18" charset="0"/>
                <a:cs typeface="Times New Roman" pitchFamily="18" charset="0"/>
              </a:rPr>
              <a:t>Update: </a:t>
            </a:r>
            <a:endParaRPr lang="en-US" sz="2000"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It </a:t>
            </a:r>
            <a:r>
              <a:rPr lang="en-US" dirty="0" smtClean="0">
                <a:latin typeface="Times New Roman" pitchFamily="18" charset="0"/>
                <a:cs typeface="Times New Roman" pitchFamily="18" charset="0"/>
              </a:rPr>
              <a:t>is a technique for the maintenance of the transaction log files of the DBMS.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It </a:t>
            </a:r>
            <a:r>
              <a:rPr lang="en-US" dirty="0" smtClean="0">
                <a:latin typeface="Times New Roman" pitchFamily="18" charset="0"/>
                <a:cs typeface="Times New Roman" pitchFamily="18" charset="0"/>
              </a:rPr>
              <a:t>is also called NO-UNDO/REDO technique.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It </a:t>
            </a:r>
            <a:r>
              <a:rPr lang="en-US" dirty="0" smtClean="0">
                <a:latin typeface="Times New Roman" pitchFamily="18" charset="0"/>
                <a:cs typeface="Times New Roman" pitchFamily="18" charset="0"/>
              </a:rPr>
              <a:t>is used for the recovery of transaction failures that occur due to power, memory, or OS failures.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Whenever </a:t>
            </a:r>
            <a:r>
              <a:rPr lang="en-US" dirty="0" smtClean="0">
                <a:latin typeface="Times New Roman" pitchFamily="18" charset="0"/>
                <a:cs typeface="Times New Roman" pitchFamily="18" charset="0"/>
              </a:rPr>
              <a:t>any transaction is executed, the updates are not made immediately to the database. They are first recorded on the log file and then those changes are applied, once the commit is done. This is called the “Re-doing” process.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Once </a:t>
            </a:r>
            <a:r>
              <a:rPr lang="en-US" dirty="0" smtClean="0">
                <a:latin typeface="Times New Roman" pitchFamily="18" charset="0"/>
                <a:cs typeface="Times New Roman" pitchFamily="18" charset="0"/>
              </a:rPr>
              <a:t>the rollback is done, none of the changes are applied to the database and the changes in the log file are also discarded.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If </a:t>
            </a:r>
            <a:r>
              <a:rPr lang="en-US" dirty="0" smtClean="0">
                <a:latin typeface="Times New Roman" pitchFamily="18" charset="0"/>
                <a:cs typeface="Times New Roman" pitchFamily="18" charset="0"/>
              </a:rPr>
              <a:t>the commit is done before crashing the system, then after restarting the system the changes that have been recorded in the log file are thus applied to the database.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Log-Based Recovery</a:t>
            </a:r>
            <a:endParaRPr kumimoji="0" lang="en-US" sz="48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1" name="Content Placeholder 16"/>
          <p:cNvSpPr txBox="1">
            <a:spLocks/>
          </p:cNvSpPr>
          <p:nvPr/>
        </p:nvSpPr>
        <p:spPr>
          <a:xfrm>
            <a:off x="457200" y="1524000"/>
            <a:ext cx="77724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Difference </a:t>
            </a:r>
            <a:r>
              <a:rPr lang="en-US" sz="2000" b="1" dirty="0" smtClean="0">
                <a:latin typeface="Times New Roman" pitchFamily="18" charset="0"/>
                <a:cs typeface="Times New Roman" pitchFamily="18" charset="0"/>
              </a:rPr>
              <a:t>between Deferred update and Immediate update</a:t>
            </a:r>
            <a:endParaRPr lang="en-US" sz="2000" dirty="0" smtClean="0">
              <a:latin typeface="Times New Roman" pitchFamily="18" charset="0"/>
              <a:cs typeface="Times New Roman" pitchFamily="18" charset="0"/>
            </a:endParaRPr>
          </a:p>
          <a:p>
            <a:pPr algn="just" fontAlgn="base"/>
            <a:r>
              <a:rPr lang="en-US" sz="20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Immediate Update:</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It </a:t>
            </a:r>
            <a:r>
              <a:rPr lang="en-US" dirty="0" smtClean="0">
                <a:latin typeface="Times New Roman" pitchFamily="18" charset="0"/>
                <a:cs typeface="Times New Roman" pitchFamily="18" charset="0"/>
              </a:rPr>
              <a:t>is a technique for the maintenance of the transaction log files of the DBMS.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It </a:t>
            </a:r>
            <a:r>
              <a:rPr lang="en-US" dirty="0" smtClean="0">
                <a:latin typeface="Times New Roman" pitchFamily="18" charset="0"/>
                <a:cs typeface="Times New Roman" pitchFamily="18" charset="0"/>
              </a:rPr>
              <a:t>is also called UNDO/REDO technique.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It </a:t>
            </a:r>
            <a:r>
              <a:rPr lang="en-US" dirty="0" smtClean="0">
                <a:latin typeface="Times New Roman" pitchFamily="18" charset="0"/>
                <a:cs typeface="Times New Roman" pitchFamily="18" charset="0"/>
              </a:rPr>
              <a:t>is used for the recovery of transaction failures that occur due to power, memory, or OS failures.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Whenever </a:t>
            </a:r>
            <a:r>
              <a:rPr lang="en-US" dirty="0" smtClean="0">
                <a:latin typeface="Times New Roman" pitchFamily="18" charset="0"/>
                <a:cs typeface="Times New Roman" pitchFamily="18" charset="0"/>
              </a:rPr>
              <a:t>any transaction is executed, the updates are made directly to the database and the log file is also maintained which contains both old and new values. Once the commit is done, all the changes get stored permanently in the database, and records in the log file are thus discarded.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Once </a:t>
            </a:r>
            <a:r>
              <a:rPr lang="en-US" dirty="0" smtClean="0">
                <a:latin typeface="Times New Roman" pitchFamily="18" charset="0"/>
                <a:cs typeface="Times New Roman" pitchFamily="18" charset="0"/>
              </a:rPr>
              <a:t>rollback is done the old values get restored in the database and all the changes made to the database are also discarded. This is called the “Un-doing” process.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If </a:t>
            </a:r>
            <a:r>
              <a:rPr lang="en-US" dirty="0" smtClean="0">
                <a:latin typeface="Times New Roman" pitchFamily="18" charset="0"/>
                <a:cs typeface="Times New Roman" pitchFamily="18" charset="0"/>
              </a:rPr>
              <a:t>the commit is done before crashing the system, then after restarting the system the changes are stored permanently in the database.</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Checkpoints </a:t>
            </a:r>
            <a:r>
              <a:rPr lang="en-US" sz="4800" dirty="0" smtClean="0">
                <a:latin typeface="Times New Roman" pitchFamily="18" charset="0"/>
                <a:cs typeface="Times New Roman" pitchFamily="18" charset="0"/>
              </a:rPr>
              <a:t>in </a:t>
            </a:r>
            <a:r>
              <a:rPr lang="en-US" sz="4800" dirty="0" smtClean="0">
                <a:latin typeface="Times New Roman" pitchFamily="18" charset="0"/>
                <a:cs typeface="Times New Roman" pitchFamily="18" charset="0"/>
              </a:rPr>
              <a:t>DBMS</a:t>
            </a:r>
            <a:endParaRPr kumimoji="0" lang="en-US" sz="48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1" name="Content Placeholder 16"/>
          <p:cNvSpPr txBox="1">
            <a:spLocks/>
          </p:cNvSpPr>
          <p:nvPr/>
        </p:nvSpPr>
        <p:spPr>
          <a:xfrm>
            <a:off x="914400" y="1524000"/>
            <a:ext cx="68580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What is a Checkpoint in DBMS? </a:t>
            </a:r>
            <a:endParaRPr lang="en-US" sz="2000" dirty="0" smtClean="0">
              <a:latin typeface="Times New Roman" pitchFamily="18" charset="0"/>
              <a:cs typeface="Times New Roman" pitchFamily="18" charset="0"/>
            </a:endParaRPr>
          </a:p>
          <a:p>
            <a:pPr algn="just" fontAlgn="base"/>
            <a:r>
              <a:rPr lang="en-US" sz="20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A </a:t>
            </a:r>
            <a:r>
              <a:rPr lang="en-US" sz="2000" dirty="0" smtClean="0">
                <a:latin typeface="Times New Roman" pitchFamily="18" charset="0"/>
                <a:cs typeface="Times New Roman" pitchFamily="18" charset="0"/>
              </a:rPr>
              <a:t>Checkpoint is used to declare a point before which the DBMS was in a consistent state, and all transactions were committed.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During </a:t>
            </a:r>
            <a:r>
              <a:rPr lang="en-US" sz="2000" dirty="0" smtClean="0">
                <a:latin typeface="Times New Roman" pitchFamily="18" charset="0"/>
                <a:cs typeface="Times New Roman" pitchFamily="18" charset="0"/>
              </a:rPr>
              <a:t>transaction execution, such checkpoints are traced. Upon reaching the checkpoint (</a:t>
            </a:r>
            <a:r>
              <a:rPr lang="en-US" sz="2000" dirty="0" smtClean="0">
                <a:latin typeface="Times New Roman" pitchFamily="18" charset="0"/>
                <a:cs typeface="Times New Roman" pitchFamily="18" charset="0"/>
              </a:rPr>
              <a:t>save point</a:t>
            </a:r>
            <a:r>
              <a:rPr lang="en-US" sz="2000" dirty="0" smtClean="0">
                <a:latin typeface="Times New Roman" pitchFamily="18" charset="0"/>
                <a:cs typeface="Times New Roman" pitchFamily="18" charset="0"/>
              </a:rPr>
              <a:t>), the log file is destroyed by saving its update to the database. Then a new log is created with upcoming execution operations of the transaction and it will be updated until the next checkpoint and the process continues.</a:t>
            </a: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Checkpoints </a:t>
            </a:r>
            <a:r>
              <a:rPr lang="en-US" sz="4800" dirty="0" smtClean="0">
                <a:latin typeface="Times New Roman" pitchFamily="18" charset="0"/>
                <a:cs typeface="Times New Roman" pitchFamily="18" charset="0"/>
              </a:rPr>
              <a:t>in </a:t>
            </a:r>
            <a:r>
              <a:rPr lang="en-US" sz="4800" dirty="0" smtClean="0">
                <a:latin typeface="Times New Roman" pitchFamily="18" charset="0"/>
                <a:cs typeface="Times New Roman" pitchFamily="18" charset="0"/>
              </a:rPr>
              <a:t>DBMS</a:t>
            </a:r>
            <a:endParaRPr kumimoji="0" lang="en-US" sz="48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1" name="Content Placeholder 16"/>
          <p:cNvSpPr txBox="1">
            <a:spLocks/>
          </p:cNvSpPr>
          <p:nvPr/>
        </p:nvSpPr>
        <p:spPr>
          <a:xfrm>
            <a:off x="762000" y="1447800"/>
            <a:ext cx="7467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Why do we need Checkpoints?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In case of system failures, we check the logs to determine which of the transactions need to redone and those which need to be undone. For this, we search the entire log to determine this information which results in two major difficulties:</a:t>
            </a:r>
          </a:p>
          <a:p>
            <a:pPr marL="1371600" lvl="2" indent="-457200" algn="just" fontAlgn="base">
              <a:buFont typeface="Arial" pitchFamily="34" charset="0"/>
              <a:buChar char="•"/>
            </a:pPr>
            <a:r>
              <a:rPr lang="en-US" dirty="0" smtClean="0">
                <a:latin typeface="Times New Roman" pitchFamily="18" charset="0"/>
                <a:cs typeface="Times New Roman" pitchFamily="18" charset="0"/>
              </a:rPr>
              <a:t>It </a:t>
            </a:r>
            <a:r>
              <a:rPr lang="en-US" dirty="0" smtClean="0">
                <a:latin typeface="Times New Roman" pitchFamily="18" charset="0"/>
                <a:cs typeface="Times New Roman" pitchFamily="18" charset="0"/>
              </a:rPr>
              <a:t>is very time consuming as we may have to search all log files. </a:t>
            </a:r>
            <a:endParaRPr lang="en-US" dirty="0" smtClean="0">
              <a:latin typeface="Times New Roman" pitchFamily="18" charset="0"/>
              <a:cs typeface="Times New Roman" pitchFamily="18" charset="0"/>
            </a:endParaRPr>
          </a:p>
          <a:p>
            <a:pPr marL="1371600" lvl="2" indent="-457200" algn="just" fontAlgn="base">
              <a:buFont typeface="Arial" pitchFamily="34" charset="0"/>
              <a:buChar char="•"/>
            </a:pPr>
            <a:r>
              <a:rPr lang="en-US" dirty="0" smtClean="0">
                <a:latin typeface="Times New Roman" pitchFamily="18" charset="0"/>
                <a:cs typeface="Times New Roman" pitchFamily="18" charset="0"/>
              </a:rPr>
              <a:t>Most </a:t>
            </a:r>
            <a:r>
              <a:rPr lang="en-US" dirty="0" smtClean="0">
                <a:latin typeface="Times New Roman" pitchFamily="18" charset="0"/>
                <a:cs typeface="Times New Roman" pitchFamily="18" charset="0"/>
              </a:rPr>
              <a:t>of the transactions which need to be redone have already written their updates to the </a:t>
            </a:r>
            <a:r>
              <a:rPr lang="en-US" dirty="0" smtClean="0">
                <a:latin typeface="Times New Roman" pitchFamily="18" charset="0"/>
                <a:cs typeface="Times New Roman" pitchFamily="18" charset="0"/>
              </a:rPr>
              <a:t>database.</a:t>
            </a:r>
          </a:p>
          <a:p>
            <a:pPr marL="1371600" lvl="2" indent="-457200" algn="just" fontAlgn="base">
              <a:buFont typeface="Arial" pitchFamily="34" charset="0"/>
              <a:buChar char="•"/>
            </a:pPr>
            <a:r>
              <a:rPr lang="en-US" b="1" dirty="0" smtClean="0">
                <a:latin typeface="Times New Roman" pitchFamily="18" charset="0"/>
                <a:cs typeface="Times New Roman" pitchFamily="18" charset="0"/>
              </a:rPr>
              <a:t>For </a:t>
            </a:r>
            <a:r>
              <a:rPr lang="en-US" b="1" dirty="0" smtClean="0">
                <a:latin typeface="Times New Roman" pitchFamily="18" charset="0"/>
                <a:cs typeface="Times New Roman" pitchFamily="18" charset="0"/>
              </a:rPr>
              <a:t>Example:</a:t>
            </a:r>
            <a:r>
              <a:rPr lang="en-US" dirty="0" smtClean="0">
                <a:latin typeface="Times New Roman" pitchFamily="18" charset="0"/>
                <a:cs typeface="Times New Roman" pitchFamily="18" charset="0"/>
              </a:rPr>
              <a:t> In an online database system such as airline reservation system, hundreds of transaction could be handled per minute, so for such type of databases the log contains a large volume of </a:t>
            </a:r>
            <a:r>
              <a:rPr lang="en-US" dirty="0" smtClean="0">
                <a:latin typeface="Times New Roman" pitchFamily="18" charset="0"/>
                <a:cs typeface="Times New Roman" pitchFamily="18" charset="0"/>
              </a:rPr>
              <a:t>information.</a:t>
            </a:r>
          </a:p>
          <a:p>
            <a:pPr marL="1371600" lvl="2" indent="-457200" algn="just" fontAlgn="base">
              <a:buFont typeface="Arial" pitchFamily="34" charset="0"/>
              <a:buChar char="•"/>
            </a:pPr>
            <a:r>
              <a:rPr lang="en-US" dirty="0" smtClean="0">
                <a:latin typeface="Times New Roman" pitchFamily="18" charset="0"/>
                <a:cs typeface="Times New Roman" pitchFamily="18" charset="0"/>
              </a:rPr>
              <a:t>Therefore</a:t>
            </a:r>
            <a:r>
              <a:rPr lang="en-US" dirty="0" smtClean="0">
                <a:latin typeface="Times New Roman" pitchFamily="18" charset="0"/>
                <a:cs typeface="Times New Roman" pitchFamily="18" charset="0"/>
              </a:rPr>
              <a:t>, a scheme called checkpoint is used to limit the value of log information that has to be handled and processed in case of system </a:t>
            </a:r>
            <a:r>
              <a:rPr lang="en-US" dirty="0" smtClean="0">
                <a:latin typeface="Times New Roman" pitchFamily="18" charset="0"/>
                <a:cs typeface="Times New Roman" pitchFamily="18" charset="0"/>
              </a:rPr>
              <a:t>failure.</a:t>
            </a:r>
          </a:p>
          <a:p>
            <a:pPr marL="914400" lvl="1" indent="-457200" algn="just" fontAlgn="base">
              <a:buFontTx/>
              <a:buChar char="-"/>
            </a:pPr>
            <a:r>
              <a:rPr lang="en-US" dirty="0" smtClean="0">
                <a:latin typeface="Times New Roman" pitchFamily="18" charset="0"/>
                <a:cs typeface="Times New Roman" pitchFamily="18" charset="0"/>
              </a:rPr>
              <a:t>Checkpoints </a:t>
            </a:r>
            <a:r>
              <a:rPr lang="en-US" dirty="0" smtClean="0">
                <a:latin typeface="Times New Roman" pitchFamily="18" charset="0"/>
                <a:cs typeface="Times New Roman" pitchFamily="18" charset="0"/>
              </a:rPr>
              <a:t>are utilized for removing all previous transaction logs and storing them in permanent storage. </a:t>
            </a:r>
            <a:endParaRPr lang="en-US" dirty="0" smtClean="0">
              <a:latin typeface="Times New Roman" pitchFamily="18" charset="0"/>
              <a:cs typeface="Times New Roman" pitchFamily="18" charset="0"/>
            </a:endParaRPr>
          </a:p>
          <a:p>
            <a:pPr marL="914400" lvl="1" indent="-457200" algn="just" fontAlgn="base">
              <a:buFontTx/>
              <a:buChar char="-"/>
            </a:pPr>
            <a:r>
              <a:rPr lang="en-US" dirty="0" smtClean="0">
                <a:latin typeface="Times New Roman" pitchFamily="18" charset="0"/>
                <a:cs typeface="Times New Roman" pitchFamily="18" charset="0"/>
              </a:rPr>
              <a:t>When </a:t>
            </a:r>
            <a:r>
              <a:rPr lang="en-US" dirty="0" smtClean="0">
                <a:latin typeface="Times New Roman" pitchFamily="18" charset="0"/>
                <a:cs typeface="Times New Roman" pitchFamily="18" charset="0"/>
              </a:rPr>
              <a:t>a checkpoint occurs, the DBMS will write a copy of the current state of the database to disk.</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Checkpoints </a:t>
            </a:r>
            <a:r>
              <a:rPr lang="en-US" sz="4800" dirty="0" smtClean="0">
                <a:latin typeface="Times New Roman" pitchFamily="18" charset="0"/>
                <a:cs typeface="Times New Roman" pitchFamily="18" charset="0"/>
              </a:rPr>
              <a:t>in </a:t>
            </a:r>
            <a:r>
              <a:rPr lang="en-US" sz="4800" dirty="0" smtClean="0">
                <a:latin typeface="Times New Roman" pitchFamily="18" charset="0"/>
                <a:cs typeface="Times New Roman" pitchFamily="18" charset="0"/>
              </a:rPr>
              <a:t>DBMS</a:t>
            </a:r>
            <a:endParaRPr kumimoji="0" lang="en-US" sz="48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1" name="Content Placeholder 16"/>
          <p:cNvSpPr txBox="1">
            <a:spLocks/>
          </p:cNvSpPr>
          <p:nvPr/>
        </p:nvSpPr>
        <p:spPr>
          <a:xfrm>
            <a:off x="762000" y="1447800"/>
            <a:ext cx="7467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Types of Checkpoints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There are basically two types of Checkpoints:</a:t>
            </a:r>
            <a:r>
              <a:rPr lang="en-US" sz="2000" dirty="0" smtClean="0">
                <a:latin typeface="Times New Roman" pitchFamily="18" charset="0"/>
                <a:cs typeface="Times New Roman" pitchFamily="18" charset="0"/>
              </a:rPr>
              <a:t> </a:t>
            </a:r>
          </a:p>
          <a:p>
            <a:pPr marL="1371600" lvl="2" indent="-457200" algn="just" fontAlgn="base">
              <a:buFont typeface="Arial" pitchFamily="34" charset="0"/>
              <a:buChar char="•"/>
            </a:pPr>
            <a:r>
              <a:rPr lang="en-US" sz="2000" dirty="0" smtClean="0">
                <a:latin typeface="Times New Roman" pitchFamily="18" charset="0"/>
                <a:cs typeface="Times New Roman" pitchFamily="18" charset="0"/>
              </a:rPr>
              <a:t>Automatic Checkpoint</a:t>
            </a:r>
          </a:p>
          <a:p>
            <a:pPr marL="1371600" lvl="2" indent="-457200" algn="just" fontAlgn="base">
              <a:buFont typeface="Arial" pitchFamily="34" charset="0"/>
              <a:buChar char="•"/>
            </a:pPr>
            <a:r>
              <a:rPr lang="en-US" sz="2000" dirty="0" smtClean="0">
                <a:latin typeface="Times New Roman" pitchFamily="18" charset="0"/>
                <a:cs typeface="Times New Roman" pitchFamily="18" charset="0"/>
              </a:rPr>
              <a:t>Manual </a:t>
            </a:r>
            <a:r>
              <a:rPr lang="en-US" sz="2000" dirty="0" smtClean="0">
                <a:latin typeface="Times New Roman" pitchFamily="18" charset="0"/>
                <a:cs typeface="Times New Roman" pitchFamily="18" charset="0"/>
              </a:rPr>
              <a:t>Checkpoint</a:t>
            </a:r>
          </a:p>
          <a:p>
            <a:pPr algn="just"/>
            <a:r>
              <a:rPr lang="en-US" sz="2000" dirty="0" smtClean="0">
                <a:latin typeface="Times New Roman" pitchFamily="18" charset="0"/>
                <a:cs typeface="Times New Roman" pitchFamily="18" charset="0"/>
              </a:rPr>
              <a:t> </a:t>
            </a:r>
          </a:p>
          <a:p>
            <a:pPr algn="just"/>
            <a:r>
              <a:rPr lang="en-US" sz="2000" b="1" dirty="0" smtClean="0">
                <a:latin typeface="Times New Roman" pitchFamily="18" charset="0"/>
                <a:cs typeface="Times New Roman" pitchFamily="18" charset="0"/>
              </a:rPr>
              <a:t>Automatic Checkpoint:</a:t>
            </a:r>
            <a:r>
              <a:rPr lang="en-US"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These checkpoints occur at regular intervals, such as every hour or every day.</a:t>
            </a:r>
          </a:p>
          <a:p>
            <a:pPr marL="914400" lvl="1" indent="-457200" algn="just" fontAlgn="base">
              <a:buFontTx/>
              <a:buChar char="-"/>
            </a:pPr>
            <a:r>
              <a:rPr lang="en-US" sz="2000" dirty="0" smtClean="0">
                <a:latin typeface="Times New Roman" pitchFamily="18" charset="0"/>
                <a:cs typeface="Times New Roman" pitchFamily="18" charset="0"/>
              </a:rPr>
              <a:t>These </a:t>
            </a:r>
            <a:r>
              <a:rPr lang="en-US" sz="2000" dirty="0" smtClean="0">
                <a:latin typeface="Times New Roman" pitchFamily="18" charset="0"/>
                <a:cs typeface="Times New Roman" pitchFamily="18" charset="0"/>
              </a:rPr>
              <a:t>intervals are set by the database administrator.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They </a:t>
            </a:r>
            <a:r>
              <a:rPr lang="en-US" sz="2000" dirty="0" smtClean="0">
                <a:latin typeface="Times New Roman" pitchFamily="18" charset="0"/>
                <a:cs typeface="Times New Roman" pitchFamily="18" charset="0"/>
              </a:rPr>
              <a:t>are generally used by heavy databases as they are frequently updated, and we can recover the data easily in case of </a:t>
            </a:r>
            <a:r>
              <a:rPr lang="en-US" sz="2000" dirty="0" smtClean="0">
                <a:latin typeface="Times New Roman" pitchFamily="18" charset="0"/>
                <a:cs typeface="Times New Roman" pitchFamily="18" charset="0"/>
              </a:rPr>
              <a:t>failure.</a:t>
            </a:r>
          </a:p>
          <a:p>
            <a:pPr marL="914400" lvl="1" indent="-457200" algn="just" fontAlgn="base">
              <a:buFontTx/>
              <a:buChar char="-"/>
            </a:pPr>
            <a:r>
              <a:rPr lang="en-US" sz="2000" dirty="0" smtClean="0">
                <a:latin typeface="Times New Roman" pitchFamily="18" charset="0"/>
                <a:cs typeface="Times New Roman" pitchFamily="18" charset="0"/>
              </a:rPr>
              <a:t>For </a:t>
            </a:r>
            <a:r>
              <a:rPr lang="en-US" sz="2000" dirty="0" smtClean="0">
                <a:latin typeface="Times New Roman" pitchFamily="18" charset="0"/>
                <a:cs typeface="Times New Roman" pitchFamily="18" charset="0"/>
              </a:rPr>
              <a:t>example, in SQL Server, the default interval for automatic checkpoints is every minute, but this can be configured to occur at different intervals.</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Checkpoints </a:t>
            </a:r>
            <a:r>
              <a:rPr lang="en-US" sz="4800" dirty="0" smtClean="0">
                <a:latin typeface="Times New Roman" pitchFamily="18" charset="0"/>
                <a:cs typeface="Times New Roman" pitchFamily="18" charset="0"/>
              </a:rPr>
              <a:t>in </a:t>
            </a:r>
            <a:r>
              <a:rPr lang="en-US" sz="4800" dirty="0" smtClean="0">
                <a:latin typeface="Times New Roman" pitchFamily="18" charset="0"/>
                <a:cs typeface="Times New Roman" pitchFamily="18" charset="0"/>
              </a:rPr>
              <a:t>DBMS</a:t>
            </a:r>
            <a:endParaRPr kumimoji="0" lang="en-US" sz="48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1" name="Content Placeholder 16"/>
          <p:cNvSpPr txBox="1">
            <a:spLocks/>
          </p:cNvSpPr>
          <p:nvPr/>
        </p:nvSpPr>
        <p:spPr>
          <a:xfrm>
            <a:off x="762000" y="1447800"/>
            <a:ext cx="7467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Manual Checkpoint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p>
          <a:p>
            <a:pPr marL="914400" lvl="1" indent="-457200" algn="just" fontAlgn="base">
              <a:buFontTx/>
              <a:buChar char="-"/>
            </a:pPr>
            <a:r>
              <a:rPr lang="en-US" sz="2000" dirty="0" smtClean="0">
                <a:latin typeface="Times New Roman" pitchFamily="18" charset="0"/>
                <a:cs typeface="Times New Roman" pitchFamily="18" charset="0"/>
              </a:rPr>
              <a:t>These </a:t>
            </a:r>
            <a:r>
              <a:rPr lang="en-US" sz="2000" dirty="0" smtClean="0">
                <a:latin typeface="Times New Roman" pitchFamily="18" charset="0"/>
                <a:cs typeface="Times New Roman" pitchFamily="18" charset="0"/>
              </a:rPr>
              <a:t>are the checkpoints that are manually set by the database administrator.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Manual </a:t>
            </a:r>
            <a:r>
              <a:rPr lang="en-US" sz="2000" dirty="0" smtClean="0">
                <a:latin typeface="Times New Roman" pitchFamily="18" charset="0"/>
                <a:cs typeface="Times New Roman" pitchFamily="18" charset="0"/>
              </a:rPr>
              <a:t>checkpoints are generally used for smaller databases.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They </a:t>
            </a:r>
            <a:r>
              <a:rPr lang="en-US" sz="2000" dirty="0" smtClean="0">
                <a:latin typeface="Times New Roman" pitchFamily="18" charset="0"/>
                <a:cs typeface="Times New Roman" pitchFamily="18" charset="0"/>
              </a:rPr>
              <a:t>are updated very less frequently only when they are set by the database administrator.</a:t>
            </a: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Checkpoints </a:t>
            </a:r>
            <a:r>
              <a:rPr lang="en-US" sz="4800" dirty="0" smtClean="0">
                <a:latin typeface="Times New Roman" pitchFamily="18" charset="0"/>
                <a:cs typeface="Times New Roman" pitchFamily="18" charset="0"/>
              </a:rPr>
              <a:t>in </a:t>
            </a:r>
            <a:r>
              <a:rPr lang="en-US" sz="4800" dirty="0" smtClean="0">
                <a:latin typeface="Times New Roman" pitchFamily="18" charset="0"/>
                <a:cs typeface="Times New Roman" pitchFamily="18" charset="0"/>
              </a:rPr>
              <a:t>DBMS</a:t>
            </a:r>
            <a:endParaRPr kumimoji="0" lang="en-US" sz="48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1" name="Content Placeholder 16"/>
          <p:cNvSpPr txBox="1">
            <a:spLocks/>
          </p:cNvSpPr>
          <p:nvPr/>
        </p:nvSpPr>
        <p:spPr>
          <a:xfrm>
            <a:off x="762000" y="1447800"/>
            <a:ext cx="7467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Advantages of Checkpoints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Checkpoints help us in recovering the transaction of the database in case of failure. </a:t>
            </a:r>
          </a:p>
          <a:p>
            <a:pPr marL="914400" lvl="1" indent="-457200" algn="just" fontAlgn="base">
              <a:buFontTx/>
              <a:buChar char="-"/>
            </a:pPr>
            <a:r>
              <a:rPr lang="en-US"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enhances the consistency of the database in case when multiple transactions are executing in the database </a:t>
            </a:r>
            <a:r>
              <a:rPr lang="en-US" sz="2000" dirty="0" smtClean="0">
                <a:latin typeface="Times New Roman" pitchFamily="18" charset="0"/>
                <a:cs typeface="Times New Roman" pitchFamily="18" charset="0"/>
              </a:rPr>
              <a:t>simultaneously.</a:t>
            </a:r>
          </a:p>
          <a:p>
            <a:pPr marL="914400" lvl="1" indent="-457200" algn="just" fontAlgn="base">
              <a:buFontTx/>
              <a:buChar char="-"/>
            </a:pPr>
            <a:r>
              <a:rPr lang="en-US" sz="2000" dirty="0" smtClean="0">
                <a:latin typeface="Times New Roman" pitchFamily="18" charset="0"/>
                <a:cs typeface="Times New Roman" pitchFamily="18" charset="0"/>
              </a:rPr>
              <a:t>Checkpoints </a:t>
            </a:r>
            <a:r>
              <a:rPr lang="en-US" sz="2000" dirty="0" smtClean="0">
                <a:latin typeface="Times New Roman" pitchFamily="18" charset="0"/>
                <a:cs typeface="Times New Roman" pitchFamily="18" charset="0"/>
              </a:rPr>
              <a:t>are used to prevent unnecessary redo </a:t>
            </a:r>
            <a:r>
              <a:rPr lang="en-US" sz="2000" dirty="0" smtClean="0">
                <a:latin typeface="Times New Roman" pitchFamily="18" charset="0"/>
                <a:cs typeface="Times New Roman" pitchFamily="18" charset="0"/>
              </a:rPr>
              <a:t>operations.</a:t>
            </a:r>
          </a:p>
          <a:p>
            <a:pPr marL="914400" lvl="1" indent="-457200" algn="just" fontAlgn="base">
              <a:buFontTx/>
              <a:buChar char="-"/>
            </a:pPr>
            <a:r>
              <a:rPr lang="en-US"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has a very low overhead and can be done frequently.</a:t>
            </a:r>
          </a:p>
          <a:p>
            <a:pPr algn="just"/>
            <a:r>
              <a:rPr lang="en-US"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Disadvantages </a:t>
            </a:r>
            <a:r>
              <a:rPr lang="en-US" sz="2000" b="1" dirty="0" smtClean="0">
                <a:latin typeface="Times New Roman" pitchFamily="18" charset="0"/>
                <a:cs typeface="Times New Roman" pitchFamily="18" charset="0"/>
              </a:rPr>
              <a:t>of Checkpoints</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Checkpoints </a:t>
            </a:r>
            <a:r>
              <a:rPr lang="en-US" sz="2000" dirty="0" smtClean="0">
                <a:latin typeface="Times New Roman" pitchFamily="18" charset="0"/>
                <a:cs typeface="Times New Roman" pitchFamily="18" charset="0"/>
              </a:rPr>
              <a:t>can only be used to restore from logical </a:t>
            </a:r>
            <a:r>
              <a:rPr lang="en-US" sz="2000" dirty="0" smtClean="0">
                <a:latin typeface="Times New Roman" pitchFamily="18" charset="0"/>
                <a:cs typeface="Times New Roman" pitchFamily="18" charset="0"/>
              </a:rPr>
              <a:t>errors.</a:t>
            </a:r>
          </a:p>
          <a:p>
            <a:pPr marL="914400" lvl="1" indent="-457200" algn="just" fontAlgn="base">
              <a:buFontTx/>
              <a:buChar char="-"/>
            </a:pPr>
            <a:r>
              <a:rPr lang="en-US" sz="2000" dirty="0" smtClean="0">
                <a:latin typeface="Times New Roman" pitchFamily="18" charset="0"/>
                <a:cs typeface="Times New Roman" pitchFamily="18" charset="0"/>
              </a:rPr>
              <a:t>Because </a:t>
            </a:r>
            <a:r>
              <a:rPr lang="en-US" sz="2000" dirty="0" smtClean="0">
                <a:latin typeface="Times New Roman" pitchFamily="18" charset="0"/>
                <a:cs typeface="Times New Roman" pitchFamily="18" charset="0"/>
              </a:rPr>
              <a:t>all the data blocks are on the same physical device, checkpoints cannot be used to restore files due to a media failure.</a:t>
            </a:r>
          </a:p>
          <a:p>
            <a:pPr marL="914400" lvl="1" indent="-457200" algn="just" fontAlgn="base">
              <a:buFontTx/>
              <a:buChar cha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Checkpoints </a:t>
            </a:r>
            <a:r>
              <a:rPr lang="en-US" sz="4800" dirty="0" smtClean="0">
                <a:latin typeface="Times New Roman" pitchFamily="18" charset="0"/>
                <a:cs typeface="Times New Roman" pitchFamily="18" charset="0"/>
              </a:rPr>
              <a:t>in </a:t>
            </a:r>
            <a:r>
              <a:rPr lang="en-US" sz="4800" dirty="0" smtClean="0">
                <a:latin typeface="Times New Roman" pitchFamily="18" charset="0"/>
                <a:cs typeface="Times New Roman" pitchFamily="18" charset="0"/>
              </a:rPr>
              <a:t>DBMS</a:t>
            </a:r>
            <a:endParaRPr kumimoji="0" lang="en-US" sz="48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1" name="Content Placeholder 16"/>
          <p:cNvSpPr txBox="1">
            <a:spLocks/>
          </p:cNvSpPr>
          <p:nvPr/>
        </p:nvSpPr>
        <p:spPr>
          <a:xfrm>
            <a:off x="762000" y="1447800"/>
            <a:ext cx="7467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Applications of Checkpoints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914400" lvl="1" indent="-457200" algn="just" fontAlgn="base"/>
            <a:endParaRPr lang="en-US" sz="2000" dirty="0" smtClean="0">
              <a:latin typeface="Times New Roman" pitchFamily="18" charset="0"/>
              <a:cs typeface="Times New Roman" pitchFamily="18" charset="0"/>
            </a:endParaRPr>
          </a:p>
          <a:p>
            <a:pPr marL="914400" lvl="1" indent="-457200" algn="just" fontAlgn="base">
              <a:buFontTx/>
              <a:buChar char="-"/>
            </a:pPr>
            <a:r>
              <a:rPr lang="en-US" sz="2000" b="1" dirty="0" smtClean="0">
                <a:latin typeface="Times New Roman" pitchFamily="18" charset="0"/>
                <a:cs typeface="Times New Roman" pitchFamily="18" charset="0"/>
              </a:rPr>
              <a:t>Backup </a:t>
            </a:r>
            <a:r>
              <a:rPr lang="en-US" sz="2000" b="1" dirty="0" smtClean="0">
                <a:latin typeface="Times New Roman" pitchFamily="18" charset="0"/>
                <a:cs typeface="Times New Roman" pitchFamily="18" charset="0"/>
              </a:rPr>
              <a:t>and Recovery</a:t>
            </a:r>
            <a:r>
              <a:rPr lang="en-US" sz="2000" dirty="0" smtClean="0">
                <a:latin typeface="Times New Roman" pitchFamily="18" charset="0"/>
                <a:cs typeface="Times New Roman" pitchFamily="18" charset="0"/>
              </a:rPr>
              <a:t> − Checkpoints are used to ensure that the database can be recovered quickly in the event of a failure. It ensures that data is not lost in the event of a </a:t>
            </a:r>
            <a:r>
              <a:rPr lang="en-US" sz="2000" dirty="0" smtClean="0">
                <a:latin typeface="Times New Roman" pitchFamily="18" charset="0"/>
                <a:cs typeface="Times New Roman" pitchFamily="18" charset="0"/>
              </a:rPr>
              <a:t>failure.</a:t>
            </a:r>
          </a:p>
          <a:p>
            <a:pPr marL="914400" lvl="1" indent="-457200" algn="just" fontAlgn="base">
              <a:buFontTx/>
              <a:buChar char="-"/>
            </a:pPr>
            <a:r>
              <a:rPr lang="en-US" sz="2000" b="1" dirty="0" smtClean="0">
                <a:latin typeface="Times New Roman" pitchFamily="18" charset="0"/>
                <a:cs typeface="Times New Roman" pitchFamily="18" charset="0"/>
              </a:rPr>
              <a:t>Performance </a:t>
            </a:r>
            <a:r>
              <a:rPr lang="en-US" sz="2000" b="1" dirty="0" smtClean="0">
                <a:latin typeface="Times New Roman" pitchFamily="18" charset="0"/>
                <a:cs typeface="Times New Roman" pitchFamily="18" charset="0"/>
              </a:rPr>
              <a:t>Optimization</a:t>
            </a:r>
            <a:r>
              <a:rPr lang="en-US" sz="2000" dirty="0" smtClean="0">
                <a:latin typeface="Times New Roman" pitchFamily="18" charset="0"/>
                <a:cs typeface="Times New Roman" pitchFamily="18" charset="0"/>
              </a:rPr>
              <a:t> − Checkpoints can also be used to improve performance by reducing the amount of work that needs to be done during </a:t>
            </a:r>
            <a:r>
              <a:rPr lang="en-US" sz="2000" dirty="0" smtClean="0">
                <a:latin typeface="Times New Roman" pitchFamily="18" charset="0"/>
                <a:cs typeface="Times New Roman" pitchFamily="18" charset="0"/>
              </a:rPr>
              <a:t>recovery.</a:t>
            </a:r>
          </a:p>
          <a:p>
            <a:pPr marL="914400" lvl="1" indent="-457200" algn="just" fontAlgn="base">
              <a:buFontTx/>
              <a:buChar char="-"/>
            </a:pPr>
            <a:r>
              <a:rPr lang="en-US" sz="2000" b="1" dirty="0" smtClean="0">
                <a:latin typeface="Times New Roman" pitchFamily="18" charset="0"/>
                <a:cs typeface="Times New Roman" pitchFamily="18" charset="0"/>
              </a:rPr>
              <a:t>Auditing</a:t>
            </a:r>
            <a:r>
              <a:rPr lang="en-US" sz="2000" dirty="0" smtClean="0">
                <a:latin typeface="Times New Roman" pitchFamily="18" charset="0"/>
                <a:cs typeface="Times New Roman" pitchFamily="18" charset="0"/>
              </a:rPr>
              <a:t> − Checkpoints can be used to track changes to the database over time, which is useful for auditing purposes.</a:t>
            </a: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Checkpoints </a:t>
            </a:r>
            <a:r>
              <a:rPr lang="en-US" sz="4800" dirty="0" smtClean="0">
                <a:latin typeface="Times New Roman" pitchFamily="18" charset="0"/>
                <a:cs typeface="Times New Roman" pitchFamily="18" charset="0"/>
              </a:rPr>
              <a:t>in </a:t>
            </a:r>
            <a:r>
              <a:rPr lang="en-US" sz="4800" dirty="0" smtClean="0">
                <a:latin typeface="Times New Roman" pitchFamily="18" charset="0"/>
                <a:cs typeface="Times New Roman" pitchFamily="18" charset="0"/>
              </a:rPr>
              <a:t>DBMS</a:t>
            </a:r>
            <a:endParaRPr kumimoji="0" lang="en-US" sz="48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1" name="Content Placeholder 16"/>
          <p:cNvSpPr txBox="1">
            <a:spLocks/>
          </p:cNvSpPr>
          <p:nvPr/>
        </p:nvSpPr>
        <p:spPr>
          <a:xfrm>
            <a:off x="762000" y="1447800"/>
            <a:ext cx="7467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What are the operations performed, when a system issues a checkpoint?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914400" lvl="1" indent="-457200" algn="just" fontAlgn="base"/>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When </a:t>
            </a:r>
            <a:r>
              <a:rPr lang="en-US" sz="2000" dirty="0" smtClean="0">
                <a:latin typeface="Times New Roman" pitchFamily="18" charset="0"/>
                <a:cs typeface="Times New Roman" pitchFamily="18" charset="0"/>
              </a:rPr>
              <a:t>a system issues a checkpoint, the following operations are </a:t>
            </a:r>
            <a:r>
              <a:rPr lang="en-US" sz="2000" dirty="0" smtClean="0">
                <a:latin typeface="Times New Roman" pitchFamily="18" charset="0"/>
                <a:cs typeface="Times New Roman" pitchFamily="18" charset="0"/>
              </a:rPr>
              <a:t>performed:</a:t>
            </a:r>
          </a:p>
          <a:p>
            <a:pPr marL="1371600" lvl="2" indent="-457200" algn="just" fontAlgn="base">
              <a:buFont typeface="Arial" pitchFamily="34" charset="0"/>
              <a:buChar char="•"/>
            </a:pPr>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log information from the buffers in the volatile storage is copied to log on the stable </a:t>
            </a:r>
            <a:r>
              <a:rPr lang="en-US" sz="2000" dirty="0" smtClean="0">
                <a:latin typeface="Times New Roman" pitchFamily="18" charset="0"/>
                <a:cs typeface="Times New Roman" pitchFamily="18" charset="0"/>
              </a:rPr>
              <a:t>storage.</a:t>
            </a:r>
          </a:p>
          <a:p>
            <a:pPr marL="1371600" lvl="2" indent="-457200" algn="just" fontAlgn="base">
              <a:buFont typeface="Arial" pitchFamily="34" charset="0"/>
              <a:buChar char="•"/>
            </a:pPr>
            <a:r>
              <a:rPr lang="en-US" sz="2000" dirty="0" smtClean="0">
                <a:latin typeface="Times New Roman" pitchFamily="18" charset="0"/>
                <a:cs typeface="Times New Roman" pitchFamily="18" charset="0"/>
              </a:rPr>
              <a:t>All </a:t>
            </a:r>
            <a:r>
              <a:rPr lang="en-US" sz="2000" dirty="0" smtClean="0">
                <a:latin typeface="Times New Roman" pitchFamily="18" charset="0"/>
                <a:cs typeface="Times New Roman" pitchFamily="18" charset="0"/>
              </a:rPr>
              <a:t>database updates from the buffers in the volatile storage are written to the </a:t>
            </a:r>
            <a:r>
              <a:rPr lang="en-US" sz="2000" dirty="0" smtClean="0">
                <a:latin typeface="Times New Roman" pitchFamily="18" charset="0"/>
                <a:cs typeface="Times New Roman" pitchFamily="18" charset="0"/>
              </a:rPr>
              <a:t>disk.</a:t>
            </a:r>
          </a:p>
          <a:p>
            <a:pPr marL="1371600" lvl="2" indent="-457200" algn="just" fontAlgn="base">
              <a:buFont typeface="Arial" pitchFamily="34" charset="0"/>
              <a:buChar char="•"/>
            </a:pPr>
            <a:r>
              <a:rPr lang="en-US" sz="2000" dirty="0" smtClean="0">
                <a:latin typeface="Times New Roman" pitchFamily="18" charset="0"/>
                <a:cs typeface="Times New Roman" pitchFamily="18" charset="0"/>
              </a:rPr>
              <a:t>Write </a:t>
            </a:r>
            <a:r>
              <a:rPr lang="en-US" sz="2000" dirty="0" smtClean="0">
                <a:latin typeface="Times New Roman" pitchFamily="18" charset="0"/>
                <a:cs typeface="Times New Roman" pitchFamily="18" charset="0"/>
              </a:rPr>
              <a:t>a checkpoint record to log on the disk, so subsequent database recovery coordinates with the checkpoint.</a:t>
            </a:r>
          </a:p>
          <a:p>
            <a:pPr marL="914400" lvl="1" indent="-457200" algn="just" fontAlgn="base">
              <a:buFontTx/>
              <a:buChar cha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Checkpoints </a:t>
            </a:r>
            <a:r>
              <a:rPr lang="en-US" sz="4800" dirty="0" smtClean="0">
                <a:latin typeface="Times New Roman" pitchFamily="18" charset="0"/>
                <a:cs typeface="Times New Roman" pitchFamily="18" charset="0"/>
              </a:rPr>
              <a:t>in </a:t>
            </a:r>
            <a:r>
              <a:rPr lang="en-US" sz="4800" dirty="0" smtClean="0">
                <a:latin typeface="Times New Roman" pitchFamily="18" charset="0"/>
                <a:cs typeface="Times New Roman" pitchFamily="18" charset="0"/>
              </a:rPr>
              <a:t>DBMS</a:t>
            </a:r>
            <a:endParaRPr kumimoji="0" lang="en-US" sz="48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1" name="Content Placeholder 16"/>
          <p:cNvSpPr txBox="1">
            <a:spLocks/>
          </p:cNvSpPr>
          <p:nvPr/>
        </p:nvSpPr>
        <p:spPr>
          <a:xfrm>
            <a:off x="762000" y="1447800"/>
            <a:ext cx="7467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Recovery </a:t>
            </a:r>
            <a:r>
              <a:rPr lang="en-US" sz="2000" b="1" dirty="0" smtClean="0">
                <a:latin typeface="Times New Roman" pitchFamily="18" charset="0"/>
                <a:cs typeface="Times New Roman" pitchFamily="18" charset="0"/>
              </a:rPr>
              <a:t>using </a:t>
            </a:r>
            <a:r>
              <a:rPr lang="en-US" sz="2000" b="1" dirty="0" smtClean="0">
                <a:latin typeface="Times New Roman" pitchFamily="18" charset="0"/>
                <a:cs typeface="Times New Roman" pitchFamily="18" charset="0"/>
              </a:rPr>
              <a:t>Checkpoints (Discuss </a:t>
            </a:r>
            <a:r>
              <a:rPr lang="en-US" sz="2000" b="1" dirty="0" smtClean="0">
                <a:latin typeface="Times New Roman" pitchFamily="18" charset="0"/>
                <a:cs typeface="Times New Roman" pitchFamily="18" charset="0"/>
              </a:rPr>
              <a:t>how to recover the database from failure using </a:t>
            </a:r>
            <a:r>
              <a:rPr lang="en-US" sz="2000" b="1" dirty="0" smtClean="0">
                <a:latin typeface="Times New Roman" pitchFamily="18" charset="0"/>
                <a:cs typeface="Times New Roman" pitchFamily="18" charset="0"/>
              </a:rPr>
              <a:t>Checkpoints)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In </a:t>
            </a:r>
            <a:r>
              <a:rPr lang="en-US" sz="2000" dirty="0" smtClean="0">
                <a:latin typeface="Times New Roman" pitchFamily="18" charset="0"/>
                <a:cs typeface="Times New Roman" pitchFamily="18" charset="0"/>
              </a:rPr>
              <a:t>the following manner, a recovery system recovers the database from this failure:</a:t>
            </a: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1828800" lvl="3" indent="-457200" algn="just" fontAlgn="base"/>
            <a:r>
              <a:rPr lang="en-US" sz="2000" dirty="0" smtClean="0">
                <a:latin typeface="Times New Roman" pitchFamily="18" charset="0"/>
                <a:cs typeface="Times New Roman" pitchFamily="18" charset="0"/>
              </a:rPr>
              <a:t>		Fig</a:t>
            </a:r>
            <a:r>
              <a:rPr lang="en-US" sz="2000" dirty="0" smtClean="0">
                <a:latin typeface="Times New Roman" pitchFamily="18" charset="0"/>
                <a:cs typeface="Times New Roman" pitchFamily="18" charset="0"/>
              </a:rPr>
              <a:t>. Checkpoints in DBMS</a:t>
            </a:r>
            <a:endParaRPr lang="en-US" sz="2000" dirty="0" smtClean="0">
              <a:latin typeface="Times New Roman" pitchFamily="18" charset="0"/>
              <a:cs typeface="Times New Roman" pitchFamily="18" charset="0"/>
            </a:endParaRPr>
          </a:p>
        </p:txBody>
      </p:sp>
      <p:pic>
        <p:nvPicPr>
          <p:cNvPr id="10" name="Picture 9" descr="Lightbox"/>
          <p:cNvPicPr/>
          <p:nvPr/>
        </p:nvPicPr>
        <p:blipFill>
          <a:blip r:embed="rId4">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14="http://schemas.microsoft.com/office/word/2010/wordprocessingDrawing" xmlns:v="urn:schemas-microsoft-com:vml"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2216394" y="2819400"/>
            <a:ext cx="5098806" cy="3124201"/>
          </a:xfrm>
          <a:prstGeom prst="rect">
            <a:avLst/>
          </a:prstGeom>
          <a:noFill/>
          <a:ln>
            <a:no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2/3/2025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lvl="0" indent="-342900" algn="ctr">
              <a:spcBef>
                <a:spcPct val="20000"/>
              </a:spcBef>
              <a:defRPr/>
            </a:pPr>
            <a:r>
              <a:rPr lang="en-US" sz="4800" dirty="0" smtClean="0">
                <a:latin typeface="Times New Roman" pitchFamily="18" charset="0"/>
                <a:cs typeface="Times New Roman" pitchFamily="18" charset="0"/>
              </a:rPr>
              <a:t>Checkpoints </a:t>
            </a:r>
            <a:r>
              <a:rPr lang="en-US" sz="4800" dirty="0" smtClean="0">
                <a:latin typeface="Times New Roman" pitchFamily="18" charset="0"/>
                <a:cs typeface="Times New Roman" pitchFamily="18" charset="0"/>
              </a:rPr>
              <a:t>in </a:t>
            </a:r>
            <a:r>
              <a:rPr lang="en-US" sz="4800" dirty="0" smtClean="0">
                <a:latin typeface="Times New Roman" pitchFamily="18" charset="0"/>
                <a:cs typeface="Times New Roman" pitchFamily="18" charset="0"/>
              </a:rPr>
              <a:t>DBMS</a:t>
            </a:r>
            <a:endParaRPr kumimoji="0" lang="en-US" sz="48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1" name="Content Placeholder 16"/>
          <p:cNvSpPr txBox="1">
            <a:spLocks/>
          </p:cNvSpPr>
          <p:nvPr/>
        </p:nvSpPr>
        <p:spPr>
          <a:xfrm>
            <a:off x="762000" y="1447800"/>
            <a:ext cx="7467600" cy="4571999"/>
          </a:xfrm>
          <a:prstGeom prst="rect">
            <a:avLst/>
          </a:prstGeom>
        </p:spPr>
        <p:txBody>
          <a:bodyPr lIns="91440" rIns="91440"/>
          <a:lstStyle/>
          <a:p>
            <a:pPr marL="34290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Recovery </a:t>
            </a:r>
            <a:r>
              <a:rPr lang="en-US" sz="2000" b="1" dirty="0" smtClean="0">
                <a:latin typeface="Times New Roman" pitchFamily="18" charset="0"/>
                <a:cs typeface="Times New Roman" pitchFamily="18" charset="0"/>
              </a:rPr>
              <a:t>using </a:t>
            </a:r>
            <a:r>
              <a:rPr lang="en-US" sz="2000" b="1" dirty="0" smtClean="0">
                <a:latin typeface="Times New Roman" pitchFamily="18" charset="0"/>
                <a:cs typeface="Times New Roman" pitchFamily="18" charset="0"/>
              </a:rPr>
              <a:t>Checkpoints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recovery system reads the logs backward from the end to the last checkpoint i.e. from T4 to </a:t>
            </a:r>
            <a:r>
              <a:rPr lang="en-US" sz="2000" dirty="0" smtClean="0">
                <a:latin typeface="Times New Roman" pitchFamily="18" charset="0"/>
                <a:cs typeface="Times New Roman" pitchFamily="18" charset="0"/>
              </a:rPr>
              <a:t>T1.</a:t>
            </a:r>
          </a:p>
          <a:p>
            <a:pPr marL="914400" lvl="1" indent="-457200" algn="just" fontAlgn="base">
              <a:buFontTx/>
              <a:buChar char="-"/>
            </a:pPr>
            <a:r>
              <a:rPr lang="en-US"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maintains two lists – a undo-list and a </a:t>
            </a:r>
            <a:r>
              <a:rPr lang="en-US" sz="2000" dirty="0" smtClean="0">
                <a:latin typeface="Times New Roman" pitchFamily="18" charset="0"/>
                <a:cs typeface="Times New Roman" pitchFamily="18" charset="0"/>
              </a:rPr>
              <a:t>redo-list.</a:t>
            </a:r>
          </a:p>
          <a:p>
            <a:pPr marL="914400" lvl="1" indent="-457200" algn="just" fontAlgn="base">
              <a:buFontTx/>
              <a:buChar char="-"/>
            </a:pPr>
            <a:r>
              <a:rPr lang="en-US" sz="2000" dirty="0" smtClean="0">
                <a:latin typeface="Times New Roman" pitchFamily="18" charset="0"/>
                <a:cs typeface="Times New Roman" pitchFamily="18" charset="0"/>
              </a:rPr>
              <a:t>Whenever </a:t>
            </a:r>
            <a:r>
              <a:rPr lang="en-US" sz="2000" dirty="0" smtClean="0">
                <a:latin typeface="Times New Roman" pitchFamily="18" charset="0"/>
                <a:cs typeface="Times New Roman" pitchFamily="18" charset="0"/>
              </a:rPr>
              <a:t>the recovery system sees a log with &lt;</a:t>
            </a:r>
            <a:r>
              <a:rPr lang="en-US" sz="2000" dirty="0" err="1" smtClean="0">
                <a:latin typeface="Times New Roman" pitchFamily="18" charset="0"/>
                <a:cs typeface="Times New Roman" pitchFamily="18" charset="0"/>
              </a:rPr>
              <a:t>Tn</a:t>
            </a:r>
            <a:r>
              <a:rPr lang="en-US" sz="2000" dirty="0" smtClean="0">
                <a:latin typeface="Times New Roman" pitchFamily="18" charset="0"/>
                <a:cs typeface="Times New Roman" pitchFamily="18" charset="0"/>
              </a:rPr>
              <a:t>, start&gt; and &lt;</a:t>
            </a:r>
            <a:r>
              <a:rPr lang="en-US" sz="2000" dirty="0" err="1" smtClean="0">
                <a:latin typeface="Times New Roman" pitchFamily="18" charset="0"/>
                <a:cs typeface="Times New Roman" pitchFamily="18" charset="0"/>
              </a:rPr>
              <a:t>Tn</a:t>
            </a:r>
            <a:r>
              <a:rPr lang="en-US" sz="2000" dirty="0" smtClean="0">
                <a:latin typeface="Times New Roman" pitchFamily="18" charset="0"/>
                <a:cs typeface="Times New Roman" pitchFamily="18" charset="0"/>
              </a:rPr>
              <a:t>, commit&gt; or only &lt;</a:t>
            </a:r>
            <a:r>
              <a:rPr lang="en-US" sz="2000" dirty="0" err="1" smtClean="0">
                <a:latin typeface="Times New Roman" pitchFamily="18" charset="0"/>
                <a:cs typeface="Times New Roman" pitchFamily="18" charset="0"/>
              </a:rPr>
              <a:t>Tn</a:t>
            </a:r>
            <a:r>
              <a:rPr lang="en-US" sz="2000" dirty="0" smtClean="0">
                <a:latin typeface="Times New Roman" pitchFamily="18" charset="0"/>
                <a:cs typeface="Times New Roman" pitchFamily="18" charset="0"/>
              </a:rPr>
              <a:t>, commit&gt;, it will put that transaction in redo-list. In the above figure, T2 and T3 contain &lt;</a:t>
            </a:r>
            <a:r>
              <a:rPr lang="en-US" sz="2000" dirty="0" err="1" smtClean="0">
                <a:latin typeface="Times New Roman" pitchFamily="18" charset="0"/>
                <a:cs typeface="Times New Roman" pitchFamily="18" charset="0"/>
              </a:rPr>
              <a:t>Tn</a:t>
            </a:r>
            <a:r>
              <a:rPr lang="en-US" sz="2000" dirty="0" smtClean="0">
                <a:latin typeface="Times New Roman" pitchFamily="18" charset="0"/>
                <a:cs typeface="Times New Roman" pitchFamily="18" charset="0"/>
              </a:rPr>
              <a:t>, start&gt; and &lt;</a:t>
            </a:r>
            <a:r>
              <a:rPr lang="en-US" sz="2000" dirty="0" err="1" smtClean="0">
                <a:latin typeface="Times New Roman" pitchFamily="18" charset="0"/>
                <a:cs typeface="Times New Roman" pitchFamily="18" charset="0"/>
              </a:rPr>
              <a:t>Tn</a:t>
            </a:r>
            <a:r>
              <a:rPr lang="en-US" sz="2000" dirty="0" smtClean="0">
                <a:latin typeface="Times New Roman" pitchFamily="18" charset="0"/>
                <a:cs typeface="Times New Roman" pitchFamily="18" charset="0"/>
              </a:rPr>
              <a:t>, commit&gt; whereas T1 will have only &lt;</a:t>
            </a:r>
            <a:r>
              <a:rPr lang="en-US" sz="2000" dirty="0" err="1" smtClean="0">
                <a:latin typeface="Times New Roman" pitchFamily="18" charset="0"/>
                <a:cs typeface="Times New Roman" pitchFamily="18" charset="0"/>
              </a:rPr>
              <a:t>Tn</a:t>
            </a:r>
            <a:r>
              <a:rPr lang="en-US" sz="2000" dirty="0" smtClean="0">
                <a:latin typeface="Times New Roman" pitchFamily="18" charset="0"/>
                <a:cs typeface="Times New Roman" pitchFamily="18" charset="0"/>
              </a:rPr>
              <a:t>, commit&gt;. Hence, T1, T2, and T3 are in the </a:t>
            </a:r>
            <a:r>
              <a:rPr lang="en-US" sz="2000" dirty="0" smtClean="0">
                <a:latin typeface="Times New Roman" pitchFamily="18" charset="0"/>
                <a:cs typeface="Times New Roman" pitchFamily="18" charset="0"/>
              </a:rPr>
              <a:t>redo-list.</a:t>
            </a:r>
          </a:p>
          <a:p>
            <a:pPr marL="914400" lvl="1" indent="-457200" algn="just" fontAlgn="base">
              <a:buFontTx/>
              <a:buChar char="-"/>
            </a:pPr>
            <a:r>
              <a:rPr lang="en-US" sz="2000" dirty="0" smtClean="0">
                <a:latin typeface="Times New Roman" pitchFamily="18" charset="0"/>
                <a:cs typeface="Times New Roman" pitchFamily="18" charset="0"/>
              </a:rPr>
              <a:t>Whenever </a:t>
            </a:r>
            <a:r>
              <a:rPr lang="en-US" sz="2000" dirty="0" smtClean="0">
                <a:latin typeface="Times New Roman" pitchFamily="18" charset="0"/>
                <a:cs typeface="Times New Roman" pitchFamily="18" charset="0"/>
              </a:rPr>
              <a:t>the recovery system sees a log with &lt;</a:t>
            </a:r>
            <a:r>
              <a:rPr lang="en-US" sz="2000" dirty="0" err="1" smtClean="0">
                <a:latin typeface="Times New Roman" pitchFamily="18" charset="0"/>
                <a:cs typeface="Times New Roman" pitchFamily="18" charset="0"/>
              </a:rPr>
              <a:t>Tn</a:t>
            </a:r>
            <a:r>
              <a:rPr lang="en-US" sz="2000" dirty="0" smtClean="0">
                <a:latin typeface="Times New Roman" pitchFamily="18" charset="0"/>
                <a:cs typeface="Times New Roman" pitchFamily="18" charset="0"/>
              </a:rPr>
              <a:t>, start&gt; but no commit, it will put that transaction in undo-list. In the above figure, T4 has only &lt;</a:t>
            </a:r>
            <a:r>
              <a:rPr lang="en-US" sz="2000" dirty="0" err="1" smtClean="0">
                <a:latin typeface="Times New Roman" pitchFamily="18" charset="0"/>
                <a:cs typeface="Times New Roman" pitchFamily="18" charset="0"/>
              </a:rPr>
              <a:t>Tn</a:t>
            </a:r>
            <a:r>
              <a:rPr lang="en-US" sz="2000" dirty="0" smtClean="0">
                <a:latin typeface="Times New Roman" pitchFamily="18" charset="0"/>
                <a:cs typeface="Times New Roman" pitchFamily="18" charset="0"/>
              </a:rPr>
              <a:t>, start&gt; but no &lt;</a:t>
            </a:r>
            <a:r>
              <a:rPr lang="en-US" sz="2000" dirty="0" err="1" smtClean="0">
                <a:latin typeface="Times New Roman" pitchFamily="18" charset="0"/>
                <a:cs typeface="Times New Roman" pitchFamily="18" charset="0"/>
              </a:rPr>
              <a:t>Tn</a:t>
            </a:r>
            <a:r>
              <a:rPr lang="en-US" sz="2000" dirty="0" smtClean="0">
                <a:latin typeface="Times New Roman" pitchFamily="18" charset="0"/>
                <a:cs typeface="Times New Roman" pitchFamily="18" charset="0"/>
              </a:rPr>
              <a:t>, commit&gt;. Hence, T4 will be put on the </a:t>
            </a:r>
            <a:r>
              <a:rPr lang="en-US" sz="2000" dirty="0" smtClean="0">
                <a:latin typeface="Times New Roman" pitchFamily="18" charset="0"/>
                <a:cs typeface="Times New Roman" pitchFamily="18" charset="0"/>
              </a:rPr>
              <a:t>undo-list.</a:t>
            </a:r>
          </a:p>
          <a:p>
            <a:pPr marL="914400" lvl="1" indent="-457200" algn="just" fontAlgn="base">
              <a:buFontTx/>
              <a:buChar char="-"/>
            </a:pPr>
            <a:r>
              <a:rPr lang="en-US" sz="2000" dirty="0" smtClean="0">
                <a:latin typeface="Times New Roman" pitchFamily="18" charset="0"/>
                <a:cs typeface="Times New Roman" pitchFamily="18" charset="0"/>
              </a:rPr>
              <a:t>All </a:t>
            </a:r>
            <a:r>
              <a:rPr lang="en-US" sz="2000" dirty="0" smtClean="0">
                <a:latin typeface="Times New Roman" pitchFamily="18" charset="0"/>
                <a:cs typeface="Times New Roman" pitchFamily="18" charset="0"/>
              </a:rPr>
              <a:t>the transactions in the redo-list are deleted with their previous logs and then redone before saving their logs. </a:t>
            </a:r>
            <a:endParaRPr lang="en-US" sz="2000" dirty="0" smtClean="0">
              <a:latin typeface="Times New Roman" pitchFamily="18" charset="0"/>
              <a:cs typeface="Times New Roman" pitchFamily="18" charset="0"/>
            </a:endParaRPr>
          </a:p>
          <a:p>
            <a:pPr marL="914400" lvl="1" indent="-457200" algn="just" fontAlgn="base">
              <a:buFontTx/>
              <a:buChar char="-"/>
            </a:pPr>
            <a:r>
              <a:rPr lang="en-US" sz="2000" dirty="0" smtClean="0">
                <a:latin typeface="Times New Roman" pitchFamily="18" charset="0"/>
                <a:cs typeface="Times New Roman" pitchFamily="18" charset="0"/>
              </a:rPr>
              <a:t>All </a:t>
            </a:r>
            <a:r>
              <a:rPr lang="en-US" sz="2000" dirty="0" smtClean="0">
                <a:latin typeface="Times New Roman" pitchFamily="18" charset="0"/>
                <a:cs typeface="Times New Roman" pitchFamily="18" charset="0"/>
              </a:rPr>
              <a:t>the transactions in the undo-list are undone and their logs are deleted. </a:t>
            </a: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914400" lvl="1" indent="-457200" algn="just" fontAlgn="base">
              <a:buFontTx/>
              <a:buChar char="-"/>
            </a:pPr>
            <a:endParaRPr lang="en-US" sz="2000" dirty="0" smtClean="0">
              <a:latin typeface="Times New Roman" pitchFamily="18" charset="0"/>
              <a:cs typeface="Times New Roman" pitchFamily="18" charset="0"/>
            </a:endParaRPr>
          </a:p>
          <a:p>
            <a:pPr marL="1828800" lvl="3" indent="-457200" algn="just" fontAlgn="base"/>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809</TotalTime>
  <Words>4532</Words>
  <Application>Microsoft Office PowerPoint</Application>
  <PresentationFormat>On-screen Show (4:3)</PresentationFormat>
  <Paragraphs>661</Paragraphs>
  <Slides>50</Slides>
  <Notes>50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CSEJU</cp:lastModifiedBy>
  <cp:revision>987</cp:revision>
  <dcterms:created xsi:type="dcterms:W3CDTF">2014-09-22T15:27:45Z</dcterms:created>
  <dcterms:modified xsi:type="dcterms:W3CDTF">2025-02-03T15:53:46Z</dcterms:modified>
</cp:coreProperties>
</file>