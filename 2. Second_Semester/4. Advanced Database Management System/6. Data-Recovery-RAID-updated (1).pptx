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notesSlides/notesSlide27.xml" ContentType="application/vnd.openxmlformats-officedocument.presentationml.notesSlide+xml"/>
  <Override PartName="/ppt/notesSlides/notesSlide45.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32.xml" ContentType="application/vnd.openxmlformats-officedocument.presentationml.notesSlide+xml"/>
  <Override PartName="/ppt/notesSlides/notesSlide41.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5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5.xml" ContentType="application/vnd.openxmlformats-officedocument.presentationml.notesSlide+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notesSlides/notesSlide1.xml" ContentType="application/vnd.openxmlformats-officedocument.presentationml.notesSlide+xml"/>
  <Override PartName="/ppt/notesSlides/notesSlide3.xml" ContentType="application/vnd.openxmlformats-officedocument.presentationml.notesSlide+xml"/>
  <Default Extension="bin" ContentType="application/vnd.openxmlformats-officedocument.oleObject"/>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19.xml" ContentType="application/vnd.openxmlformats-officedocument.presentationml.notesSlide+xml"/>
  <Override PartName="/ppt/notesSlides/notesSlide39.xml" ContentType="application/vnd.openxmlformats-officedocument.presentationml.notesSlide+xml"/>
  <Override PartName="/ppt/notesSlides/notesSlide48.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Default Extension="jpeg" ContentType="image/jpeg"/>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37.xml" ContentType="application/vnd.openxmlformats-officedocument.presentationml.notesSlide+xml"/>
  <Override PartName="/ppt/notesSlides/notesSlide46.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35.xml" ContentType="application/vnd.openxmlformats-officedocument.presentationml.notesSlide+xml"/>
  <Override PartName="/ppt/notesSlides/notesSlide44.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42.xml" ContentType="application/vnd.openxmlformats-officedocument.presentationml.notesSlide+xml"/>
  <Default Extension="tiff" ContentType="image/tiff"/>
  <Override PartName="/ppt/notesSlides/notesSlide8.xml" ContentType="application/vnd.openxmlformats-officedocument.presentationml.notesSlide+xml"/>
  <Override PartName="/ppt/notesSlides/notesSlide11.xml" ContentType="application/vnd.openxmlformats-officedocument.presentationml.notesSlide+xml"/>
  <Default Extension="vml" ContentType="application/vnd.openxmlformats-officedocument.vmlDrawing"/>
  <Override PartName="/ppt/notesSlides/notesSlide20.xml" ContentType="application/vnd.openxmlformats-officedocument.presentationml.notesSlide+xml"/>
  <Override PartName="/ppt/notesSlides/notesSlide3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notesSlides/notesSlide18.xml" ContentType="application/vnd.openxmlformats-officedocument.presentationml.notesSlide+xml"/>
  <Default Extension="wmf" ContentType="image/x-wmf"/>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2"/>
  </p:notesMasterIdLst>
  <p:sldIdLst>
    <p:sldId id="256" r:id="rId2"/>
    <p:sldId id="300" r:id="rId3"/>
    <p:sldId id="257" r:id="rId4"/>
    <p:sldId id="258" r:id="rId5"/>
    <p:sldId id="259" r:id="rId6"/>
    <p:sldId id="260" r:id="rId7"/>
    <p:sldId id="261" r:id="rId8"/>
    <p:sldId id="262" r:id="rId9"/>
    <p:sldId id="263" r:id="rId10"/>
    <p:sldId id="301" r:id="rId11"/>
    <p:sldId id="302" r:id="rId12"/>
    <p:sldId id="303" r:id="rId13"/>
    <p:sldId id="304" r:id="rId14"/>
    <p:sldId id="305" r:id="rId15"/>
    <p:sldId id="306" r:id="rId16"/>
    <p:sldId id="307" r:id="rId17"/>
    <p:sldId id="308" r:id="rId18"/>
    <p:sldId id="309" r:id="rId19"/>
    <p:sldId id="310" r:id="rId20"/>
    <p:sldId id="311" r:id="rId21"/>
    <p:sldId id="312" r:id="rId22"/>
    <p:sldId id="313" r:id="rId23"/>
    <p:sldId id="314" r:id="rId24"/>
    <p:sldId id="315" r:id="rId25"/>
    <p:sldId id="316" r:id="rId26"/>
    <p:sldId id="317" r:id="rId27"/>
    <p:sldId id="318" r:id="rId28"/>
    <p:sldId id="319" r:id="rId29"/>
    <p:sldId id="320" r:id="rId30"/>
    <p:sldId id="321" r:id="rId31"/>
    <p:sldId id="322" r:id="rId32"/>
    <p:sldId id="323" r:id="rId33"/>
    <p:sldId id="324" r:id="rId34"/>
    <p:sldId id="325" r:id="rId35"/>
    <p:sldId id="326" r:id="rId36"/>
    <p:sldId id="327" r:id="rId37"/>
    <p:sldId id="328" r:id="rId38"/>
    <p:sldId id="329" r:id="rId39"/>
    <p:sldId id="330" r:id="rId40"/>
    <p:sldId id="331" r:id="rId41"/>
    <p:sldId id="332" r:id="rId42"/>
    <p:sldId id="333" r:id="rId43"/>
    <p:sldId id="334" r:id="rId44"/>
    <p:sldId id="335" r:id="rId45"/>
    <p:sldId id="336" r:id="rId46"/>
    <p:sldId id="337" r:id="rId47"/>
    <p:sldId id="338" r:id="rId48"/>
    <p:sldId id="339" r:id="rId49"/>
    <p:sldId id="340" r:id="rId50"/>
    <p:sldId id="341" r:id="rId5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9706" autoAdjust="0"/>
    <p:restoredTop sz="97312" autoAdjust="0"/>
  </p:normalViewPr>
  <p:slideViewPr>
    <p:cSldViewPr>
      <p:cViewPr varScale="1">
        <p:scale>
          <a:sx n="85" d="100"/>
          <a:sy n="85" d="100"/>
        </p:scale>
        <p:origin x="-1651" y="-72"/>
      </p:cViewPr>
      <p:guideLst>
        <p:guide orient="horz" pos="2160"/>
        <p:guide pos="2880"/>
      </p:guideLst>
    </p:cSldViewPr>
  </p:slideViewPr>
  <p:outlineViewPr>
    <p:cViewPr>
      <p:scale>
        <a:sx n="33" d="100"/>
        <a:sy n="33" d="100"/>
      </p:scale>
      <p:origin x="21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B109D61-295C-4E7B-896D-258D8C62218F}" type="datetimeFigureOut">
              <a:rPr lang="en-US" smtClean="0"/>
              <a:pPr/>
              <a:t>2/1/2025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405E933-03AE-4F32-8C5B-7DC0967ACB75}"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17</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18</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19</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20</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21</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22</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23</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24</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25</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26</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27</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28</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29</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30</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31</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32</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33</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34</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35</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36</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37</a:t>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38</a:t>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39</a:t>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40</a:t>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41</a:t>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42</a:t>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43</a:t>
            </a:fld>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44</a:t>
            </a:fld>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45</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46</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47</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48</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49</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4405E933-03AE-4F32-8C5B-7DC0967ACB75}" type="slidenum">
              <a:rPr lang="en-US" smtClean="0"/>
              <a:pPr/>
              <a:t>50</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C771D60C-4F28-4B3A-B514-0D39C0EEA5BD}" type="datetime1">
              <a:rPr lang="en-US" smtClean="0"/>
              <a:pPr/>
              <a:t>2/1/2025</a:t>
            </a:fld>
            <a:endParaRPr lang="en-US"/>
          </a:p>
        </p:txBody>
      </p:sp>
      <p:sp>
        <p:nvSpPr>
          <p:cNvPr id="6" name="Footer Placeholder 5"/>
          <p:cNvSpPr>
            <a:spLocks noGrp="1"/>
          </p:cNvSpPr>
          <p:nvPr>
            <p:ph type="ftr" sz="quarter" idx="11"/>
          </p:nvPr>
        </p:nvSpPr>
        <p:spPr/>
        <p:txBody>
          <a:bodyPr/>
          <a:lstStyle/>
          <a:p>
            <a:r>
              <a:rPr lang="en-US" smtClean="0"/>
              <a:t>Md. Golam Moazzam, Dept. of CSE, JU</a:t>
            </a:r>
            <a:endParaRPr lang="en-US"/>
          </a:p>
        </p:txBody>
      </p:sp>
      <p:sp>
        <p:nvSpPr>
          <p:cNvPr id="7" name="Slide Number Placeholder 6"/>
          <p:cNvSpPr>
            <a:spLocks noGrp="1"/>
          </p:cNvSpPr>
          <p:nvPr>
            <p:ph type="sldNum" sz="quarter" idx="12"/>
          </p:nvPr>
        </p:nvSpPr>
        <p:spPr/>
        <p:txBody>
          <a:bodyPr/>
          <a:lstStyle/>
          <a:p>
            <a:fld id="{8C9281A4-4C9D-4645-98E5-DC94BB779CF3}"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tif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1C0BBC-583C-42F1-99F0-A9970C625DE3}" type="datetime1">
              <a:rPr lang="en-US" smtClean="0"/>
              <a:pPr/>
              <a:t>2/1/2025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Md. Golam Moazzam, Dept. of CSE, JU</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9281A4-4C9D-4645-98E5-DC94BB779CF3}" type="slidenum">
              <a:rPr lang="en-US" smtClean="0"/>
              <a:pPr/>
              <a:t>‹#›</a:t>
            </a:fld>
            <a:endParaRPr lang="en-US"/>
          </a:p>
        </p:txBody>
      </p:sp>
      <p:pic>
        <p:nvPicPr>
          <p:cNvPr id="7" name="Picture 6" descr="JU Mon eps.tif"/>
          <p:cNvPicPr>
            <a:picLocks noChangeAspect="1"/>
          </p:cNvPicPr>
          <p:nvPr userDrawn="1"/>
        </p:nvPicPr>
        <p:blipFill>
          <a:blip r:embed="rId4" cstate="print"/>
          <a:stretch>
            <a:fillRect/>
          </a:stretch>
        </p:blipFill>
        <p:spPr>
          <a:xfrm>
            <a:off x="381000" y="228600"/>
            <a:ext cx="917067" cy="1135254"/>
          </a:xfrm>
          <a:prstGeom prst="rect">
            <a:avLst/>
          </a:prstGeom>
        </p:spPr>
      </p:pic>
      <p:sp>
        <p:nvSpPr>
          <p:cNvPr id="8" name="TextBox 7"/>
          <p:cNvSpPr txBox="1"/>
          <p:nvPr userDrawn="1"/>
        </p:nvSpPr>
        <p:spPr>
          <a:xfrm>
            <a:off x="2133600" y="685800"/>
            <a:ext cx="5715000" cy="369332"/>
          </a:xfrm>
          <a:prstGeom prst="rect">
            <a:avLst/>
          </a:prstGeom>
          <a:noFill/>
        </p:spPr>
        <p:txBody>
          <a:bodyPr wrap="square" rtlCol="0">
            <a:spAutoFit/>
          </a:bodyPr>
          <a:lstStyle/>
          <a:p>
            <a:r>
              <a:rPr lang="en-US" dirty="0" smtClean="0"/>
              <a:t>Indexing and Hashing</a:t>
            </a:r>
            <a:endParaRPr lang="en-US" dirty="0"/>
          </a:p>
        </p:txBody>
      </p:sp>
    </p:spTree>
  </p:cSld>
  <p:clrMap bg1="lt1" tx1="dk1" bg2="lt2" tx2="dk2" accent1="accent1" accent2="accent2" accent3="accent3" accent4="accent4" accent5="accent5" accent6="accent6" hlink="hlink" folHlink="folHlink"/>
  <p:sldLayoutIdLst>
    <p:sldLayoutId id="2147483652" r:id="rId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vmlDrawing" Target="../drawings/vmlDrawing1.vml"/><Relationship Id="rId5" Type="http://schemas.openxmlformats.org/officeDocument/2006/relationships/oleObject" Target="../embeddings/oleObject1.bin"/><Relationship Id="rId4" Type="http://schemas.openxmlformats.org/officeDocument/2006/relationships/image" Target="../media/image3.tiff"/></Relationships>
</file>

<file path=ppt/slides/_rels/slide2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jpeg"/></Relationships>
</file>

<file path=ppt/slides/_rels/slide2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10.jpeg"/><Relationship Id="rId5" Type="http://schemas.openxmlformats.org/officeDocument/2006/relationships/image" Target="../media/image9.png"/><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11.jpeg"/></Relationships>
</file>

<file path=ppt/slides/_rels/slide3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8.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3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13.jpeg"/></Relationships>
</file>

<file path=ppt/slides/_rels/slide42.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46.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4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50.xml.rels><?xml version="1.0" encoding="UTF-8" standalone="yes"?>
<Relationships xmlns="http://schemas.openxmlformats.org/package/2006/relationships"><Relationship Id="rId3" Type="http://schemas.openxmlformats.org/officeDocument/2006/relationships/image" Target="../media/image3.tiff"/><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1371600" y="1905000"/>
            <a:ext cx="6781800" cy="3276600"/>
          </a:xfrm>
          <a:prstGeom prst="rect">
            <a:avLst/>
          </a:prstGeom>
        </p:spPr>
        <p:txBody>
          <a:bodyPr/>
          <a:lstStyle/>
          <a:p>
            <a:pPr algn="ctr">
              <a:buNone/>
            </a:pPr>
            <a:r>
              <a:rPr lang="en-US" sz="7200" dirty="0" smtClean="0">
                <a:latin typeface="Times New Roman" pitchFamily="18" charset="0"/>
                <a:cs typeface="Times New Roman" pitchFamily="18" charset="0"/>
              </a:rPr>
              <a:t>Data Recovery System</a:t>
            </a:r>
            <a:endParaRPr lang="en-US" sz="72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dirty="0" smtClean="0">
                <a:solidFill>
                  <a:srgbClr val="00B050"/>
                </a:solidFill>
              </a:rPr>
              <a:t>Md. </a:t>
            </a:r>
            <a:r>
              <a:rPr lang="en-US" dirty="0" err="1" smtClean="0">
                <a:solidFill>
                  <a:srgbClr val="00B050"/>
                </a:solidFill>
              </a:rPr>
              <a:t>Golam</a:t>
            </a:r>
            <a:r>
              <a:rPr lang="en-US" dirty="0" smtClean="0">
                <a:solidFill>
                  <a:srgbClr val="00B050"/>
                </a:solidFill>
              </a:rPr>
              <a:t> </a:t>
            </a:r>
            <a:r>
              <a:rPr lang="en-US" dirty="0" err="1" smtClean="0">
                <a:solidFill>
                  <a:srgbClr val="00B050"/>
                </a:solidFill>
              </a:rPr>
              <a:t>Moazzam</a:t>
            </a:r>
            <a:r>
              <a:rPr lang="en-US" dirty="0" smtClean="0">
                <a:solidFill>
                  <a:srgbClr val="00B050"/>
                </a:solidFill>
              </a:rPr>
              <a:t>, Dept. of CSE, JU</a:t>
            </a:r>
            <a:endParaRPr lang="en-US" dirty="0">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8" name="Content Placeholder 16"/>
          <p:cNvSpPr txBox="1">
            <a:spLocks/>
          </p:cNvSpPr>
          <p:nvPr/>
        </p:nvSpPr>
        <p:spPr>
          <a:xfrm>
            <a:off x="1219200" y="381000"/>
            <a:ext cx="6781800" cy="762000"/>
          </a:xfrm>
          <a:prstGeom prst="rect">
            <a:avLst/>
          </a:prstGeom>
        </p:spPr>
        <p:txBody>
          <a:bodyPr/>
          <a:lstStyle/>
          <a:p>
            <a:pPr marL="342900" marR="0" lvl="0" indent="-34290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en-US" sz="4800" b="0" i="0" u="none" strike="noStrike" kern="1200" cap="none" spc="0" normalizeH="0" baseline="0" noProof="0" dirty="0" smtClean="0">
                <a:ln>
                  <a:noFill/>
                </a:ln>
                <a:solidFill>
                  <a:schemeClr val="tx1"/>
                </a:solidFill>
                <a:effectLst/>
                <a:uLnTx/>
                <a:uFillTx/>
                <a:latin typeface="Times New Roman" pitchFamily="18" charset="0"/>
                <a:ea typeface="+mn-ea"/>
                <a:cs typeface="Times New Roman" pitchFamily="18" charset="0"/>
              </a:rPr>
              <a:t>OUTLINE</a:t>
            </a:r>
            <a:endParaRPr kumimoji="0" lang="en-US" sz="4800" b="0" i="0" u="none" strike="noStrike" kern="1200" cap="none" spc="0" normalizeH="0" baseline="0" noProof="0" dirty="0">
              <a:ln>
                <a:noFill/>
              </a:ln>
              <a:solidFill>
                <a:schemeClr val="tx1"/>
              </a:solidFill>
              <a:effectLst/>
              <a:uLnTx/>
              <a:uFillTx/>
              <a:latin typeface="Times New Roman" pitchFamily="18" charset="0"/>
              <a:ea typeface="+mn-ea"/>
              <a:cs typeface="Times New Roman" pitchFamily="18" charset="0"/>
            </a:endParaRPr>
          </a:p>
        </p:txBody>
      </p:sp>
      <p:sp>
        <p:nvSpPr>
          <p:cNvPr id="10" name="Content Placeholder 16"/>
          <p:cNvSpPr txBox="1">
            <a:spLocks/>
          </p:cNvSpPr>
          <p:nvPr/>
        </p:nvSpPr>
        <p:spPr>
          <a:xfrm>
            <a:off x="2133600" y="1371600"/>
            <a:ext cx="5943600" cy="4648200"/>
          </a:xfrm>
          <a:prstGeom prst="rect">
            <a:avLst/>
          </a:prstGeom>
        </p:spPr>
        <p:txBody>
          <a:bodyPr/>
          <a:lstStyle/>
          <a:p>
            <a:pPr marL="342900" lvl="0" indent="-342900" algn="just">
              <a:lnSpc>
                <a:spcPts val="3000"/>
              </a:lnSpc>
              <a:spcBef>
                <a:spcPct val="20000"/>
              </a:spcBef>
              <a:buFont typeface="Wingdings" pitchFamily="2" charset="2"/>
              <a:buChar char="ü"/>
              <a:defRPr/>
            </a:pPr>
            <a:r>
              <a:rPr lang="en-US" sz="2000" dirty="0" smtClean="0">
                <a:latin typeface="Times New Roman" pitchFamily="18" charset="0"/>
                <a:cs typeface="Times New Roman" pitchFamily="18" charset="0"/>
              </a:rPr>
              <a:t>System Failure </a:t>
            </a:r>
          </a:p>
          <a:p>
            <a:pPr marL="342900" lvl="0" indent="-342900" algn="just">
              <a:lnSpc>
                <a:spcPts val="3000"/>
              </a:lnSpc>
              <a:spcBef>
                <a:spcPct val="20000"/>
              </a:spcBef>
              <a:buFont typeface="Wingdings" pitchFamily="2" charset="2"/>
              <a:buChar char="ü"/>
              <a:defRPr/>
            </a:pPr>
            <a:r>
              <a:rPr lang="en-US" sz="2000" dirty="0" smtClean="0">
                <a:latin typeface="Times New Roman" pitchFamily="18" charset="0"/>
                <a:cs typeface="Times New Roman" pitchFamily="18" charset="0"/>
              </a:rPr>
              <a:t>Classification of Failure</a:t>
            </a:r>
          </a:p>
          <a:p>
            <a:pPr marL="342900" lvl="0" indent="-342900" algn="just">
              <a:lnSpc>
                <a:spcPts val="3000"/>
              </a:lnSpc>
              <a:spcBef>
                <a:spcPct val="20000"/>
              </a:spcBef>
              <a:buFont typeface="Wingdings" pitchFamily="2" charset="2"/>
              <a:buChar char="ü"/>
              <a:defRPr/>
            </a:pPr>
            <a:r>
              <a:rPr lang="en-US" sz="2000" dirty="0" smtClean="0">
                <a:latin typeface="Times New Roman" pitchFamily="18" charset="0"/>
                <a:cs typeface="Times New Roman" pitchFamily="18" charset="0"/>
              </a:rPr>
              <a:t>Storage Types</a:t>
            </a:r>
          </a:p>
          <a:p>
            <a:pPr marL="342900" lvl="0" indent="-342900" algn="just">
              <a:lnSpc>
                <a:spcPts val="3000"/>
              </a:lnSpc>
              <a:spcBef>
                <a:spcPct val="20000"/>
              </a:spcBef>
              <a:buFont typeface="Wingdings" pitchFamily="2" charset="2"/>
              <a:buChar char="ü"/>
              <a:defRPr/>
            </a:pPr>
            <a:r>
              <a:rPr lang="en-US" sz="2000" dirty="0" smtClean="0">
                <a:latin typeface="Times New Roman" pitchFamily="18" charset="0"/>
                <a:cs typeface="Times New Roman" pitchFamily="18" charset="0"/>
              </a:rPr>
              <a:t>Redundant Arrays of Independent Disks (RAID)</a:t>
            </a:r>
          </a:p>
          <a:p>
            <a:pPr marL="342900" lvl="0" indent="-342900" algn="just">
              <a:lnSpc>
                <a:spcPts val="3000"/>
              </a:lnSpc>
              <a:spcBef>
                <a:spcPct val="20000"/>
              </a:spcBef>
              <a:buFont typeface="Wingdings" pitchFamily="2" charset="2"/>
              <a:buChar char="ü"/>
              <a:defRPr/>
            </a:pPr>
            <a:r>
              <a:rPr lang="en-US" sz="2000" dirty="0" smtClean="0">
                <a:latin typeface="Times New Roman" pitchFamily="18" charset="0"/>
                <a:cs typeface="Times New Roman" pitchFamily="18" charset="0"/>
              </a:rPr>
              <a:t>Improvement of Reliability via Redundancy</a:t>
            </a:r>
          </a:p>
          <a:p>
            <a:pPr marL="342900" lvl="0" indent="-342900" algn="just">
              <a:lnSpc>
                <a:spcPts val="3000"/>
              </a:lnSpc>
              <a:spcBef>
                <a:spcPct val="20000"/>
              </a:spcBef>
              <a:buFont typeface="Wingdings" pitchFamily="2" charset="2"/>
              <a:buChar char="ü"/>
              <a:defRPr/>
            </a:pPr>
            <a:r>
              <a:rPr lang="en-US" sz="2000" dirty="0" smtClean="0">
                <a:latin typeface="Times New Roman" pitchFamily="18" charset="0"/>
                <a:cs typeface="Times New Roman" pitchFamily="18" charset="0"/>
              </a:rPr>
              <a:t>Improvement in Performance via Parallelism</a:t>
            </a:r>
          </a:p>
          <a:p>
            <a:pPr marL="342900" lvl="0" indent="-342900" algn="just">
              <a:lnSpc>
                <a:spcPts val="3000"/>
              </a:lnSpc>
              <a:spcBef>
                <a:spcPct val="20000"/>
              </a:spcBef>
              <a:buFont typeface="Wingdings" pitchFamily="2" charset="2"/>
              <a:buChar char="ü"/>
              <a:defRPr/>
            </a:pPr>
            <a:r>
              <a:rPr lang="en-US" sz="2000" dirty="0" smtClean="0">
                <a:latin typeface="Times New Roman" pitchFamily="18" charset="0"/>
                <a:cs typeface="Times New Roman" pitchFamily="18" charset="0"/>
              </a:rPr>
              <a:t>RAID Levels</a:t>
            </a:r>
          </a:p>
          <a:p>
            <a:pPr marL="342900" lvl="0" indent="-342900" algn="just">
              <a:lnSpc>
                <a:spcPts val="3000"/>
              </a:lnSpc>
              <a:spcBef>
                <a:spcPct val="20000"/>
              </a:spcBef>
              <a:buFont typeface="Wingdings" pitchFamily="2" charset="2"/>
              <a:buChar char="ü"/>
              <a:defRPr/>
            </a:pPr>
            <a:r>
              <a:rPr lang="en-US" sz="2000" dirty="0" smtClean="0">
                <a:latin typeface="Times New Roman" pitchFamily="18" charset="0"/>
                <a:cs typeface="Times New Roman" pitchFamily="18" charset="0"/>
              </a:rPr>
              <a:t>Log-Based Recovery</a:t>
            </a:r>
          </a:p>
          <a:p>
            <a:pPr marL="342900" lvl="0" indent="-342900" algn="just">
              <a:lnSpc>
                <a:spcPts val="3000"/>
              </a:lnSpc>
              <a:spcBef>
                <a:spcPct val="20000"/>
              </a:spcBef>
              <a:buFont typeface="Wingdings" pitchFamily="2" charset="2"/>
              <a:buChar char="ü"/>
              <a:defRPr/>
            </a:pPr>
            <a:r>
              <a:rPr lang="en-US" sz="2000" dirty="0" smtClean="0">
                <a:latin typeface="Times New Roman" pitchFamily="18" charset="0"/>
                <a:cs typeface="Times New Roman" pitchFamily="18" charset="0"/>
              </a:rPr>
              <a:t>Deferred Database modification technique</a:t>
            </a:r>
          </a:p>
          <a:p>
            <a:pPr marL="342900" lvl="0" indent="-342900" algn="just">
              <a:lnSpc>
                <a:spcPts val="3000"/>
              </a:lnSpc>
              <a:spcBef>
                <a:spcPct val="20000"/>
              </a:spcBef>
              <a:buFont typeface="Wingdings" pitchFamily="2" charset="2"/>
              <a:buChar char="ü"/>
              <a:defRPr/>
            </a:pPr>
            <a:r>
              <a:rPr lang="en-US" sz="2000" dirty="0" smtClean="0">
                <a:latin typeface="Times New Roman" pitchFamily="18" charset="0"/>
                <a:cs typeface="Times New Roman" pitchFamily="18" charset="0"/>
              </a:rPr>
              <a:t>Immediate Database Modification Technique</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System Failure</a:t>
            </a:r>
            <a:endParaRPr lang="en-US" sz="1800" dirty="0" smtClean="0">
              <a:latin typeface="Times New Roman" pitchFamily="18" charset="0"/>
              <a:cs typeface="Times New Roman" pitchFamily="18" charset="0"/>
            </a:endParaRPr>
          </a:p>
          <a:p>
            <a:pPr lvl="1" algn="just">
              <a:buNone/>
            </a:pPr>
            <a:r>
              <a:rPr lang="en-US" sz="2000" dirty="0" smtClean="0">
                <a:latin typeface="Times New Roman" pitchFamily="18" charset="0"/>
                <a:cs typeface="Times New Roman" pitchFamily="18" charset="0"/>
              </a:rPr>
              <a:t>A computer system, like any other device, is subject to failure from a variety of causes:</a:t>
            </a:r>
          </a:p>
          <a:p>
            <a:pPr lvl="2"/>
            <a:r>
              <a:rPr lang="en-US" sz="2000" dirty="0" smtClean="0">
                <a:latin typeface="Times New Roman" pitchFamily="18" charset="0"/>
                <a:cs typeface="Times New Roman" pitchFamily="18" charset="0"/>
              </a:rPr>
              <a:t>Disk crash</a:t>
            </a:r>
          </a:p>
          <a:p>
            <a:pPr lvl="2"/>
            <a:r>
              <a:rPr lang="en-US" sz="2000" dirty="0" smtClean="0">
                <a:latin typeface="Times New Roman" pitchFamily="18" charset="0"/>
                <a:cs typeface="Times New Roman" pitchFamily="18" charset="0"/>
              </a:rPr>
              <a:t>Power outage</a:t>
            </a:r>
          </a:p>
          <a:p>
            <a:pPr lvl="2"/>
            <a:r>
              <a:rPr lang="en-US" sz="2000" dirty="0" smtClean="0">
                <a:latin typeface="Times New Roman" pitchFamily="18" charset="0"/>
                <a:cs typeface="Times New Roman" pitchFamily="18" charset="0"/>
              </a:rPr>
              <a:t>Software error</a:t>
            </a:r>
          </a:p>
          <a:p>
            <a:pPr lvl="2"/>
            <a:r>
              <a:rPr lang="en-US" sz="2000" dirty="0" smtClean="0">
                <a:latin typeface="Times New Roman" pitchFamily="18" charset="0"/>
                <a:cs typeface="Times New Roman" pitchFamily="18" charset="0"/>
              </a:rPr>
              <a:t>A fire in the machine room</a:t>
            </a:r>
          </a:p>
          <a:p>
            <a:pPr lvl="2"/>
            <a:r>
              <a:rPr lang="en-US" sz="2000" dirty="0" smtClean="0">
                <a:latin typeface="Times New Roman" pitchFamily="18" charset="0"/>
                <a:cs typeface="Times New Roman" pitchFamily="18" charset="0"/>
              </a:rPr>
              <a:t>Sabotage.</a:t>
            </a:r>
          </a:p>
          <a:p>
            <a:pPr lvl="1">
              <a:buNone/>
            </a:pPr>
            <a:endParaRPr lang="en-US" sz="2000" dirty="0" smtClean="0">
              <a:latin typeface="Times New Roman" pitchFamily="18" charset="0"/>
              <a:cs typeface="Times New Roman" pitchFamily="18" charset="0"/>
            </a:endParaRPr>
          </a:p>
          <a:p>
            <a:pPr lvl="1">
              <a:buNone/>
            </a:pPr>
            <a:r>
              <a:rPr lang="en-US" sz="2000" dirty="0" smtClean="0">
                <a:latin typeface="Times New Roman" pitchFamily="18" charset="0"/>
                <a:cs typeface="Times New Roman" pitchFamily="18" charset="0"/>
              </a:rPr>
              <a:t>	In any failure, information may be lost. Therefore, the database system must take actions in advance to ensure that the atomicity and durability properties of transactions are preserved. </a:t>
            </a:r>
            <a:endParaRPr lang="en-US" sz="2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Classification of Failure</a:t>
            </a:r>
            <a:endParaRPr lang="en-US" sz="1800" dirty="0" smtClean="0">
              <a:latin typeface="Times New Roman" pitchFamily="18" charset="0"/>
              <a:cs typeface="Times New Roman" pitchFamily="18" charset="0"/>
            </a:endParaRPr>
          </a:p>
          <a:p>
            <a:pPr>
              <a:buNone/>
            </a:pPr>
            <a:endParaRPr lang="en-US" sz="1800" dirty="0" smtClean="0">
              <a:latin typeface="Times New Roman" pitchFamily="18" charset="0"/>
              <a:cs typeface="Times New Roman" pitchFamily="18" charset="0"/>
            </a:endParaRPr>
          </a:p>
          <a:p>
            <a:pPr lvl="1">
              <a:buNone/>
            </a:pPr>
            <a:r>
              <a:rPr lang="en-US" sz="2000" dirty="0" smtClean="0">
                <a:latin typeface="Times New Roman" pitchFamily="18" charset="0"/>
                <a:cs typeface="Times New Roman" pitchFamily="18" charset="0"/>
              </a:rPr>
              <a:t>There are various types of failure that may occur in a system:</a:t>
            </a:r>
          </a:p>
          <a:p>
            <a:pPr lvl="2">
              <a:buFontTx/>
              <a:buChar char="-"/>
            </a:pPr>
            <a:r>
              <a:rPr lang="en-US" sz="2800" b="1" dirty="0" smtClean="0">
                <a:latin typeface="Times New Roman" pitchFamily="18" charset="0"/>
                <a:cs typeface="Times New Roman" pitchFamily="18" charset="0"/>
              </a:rPr>
              <a:t>Transaction Failure</a:t>
            </a:r>
          </a:p>
          <a:p>
            <a:pPr lvl="2">
              <a:buFontTx/>
              <a:buChar char="-"/>
            </a:pPr>
            <a:r>
              <a:rPr lang="en-US" sz="2800" b="1" dirty="0" smtClean="0">
                <a:latin typeface="Times New Roman" pitchFamily="18" charset="0"/>
                <a:cs typeface="Times New Roman" pitchFamily="18" charset="0"/>
              </a:rPr>
              <a:t>System Crash</a:t>
            </a:r>
          </a:p>
          <a:p>
            <a:pPr lvl="2">
              <a:buFontTx/>
              <a:buChar char="-"/>
            </a:pPr>
            <a:r>
              <a:rPr lang="en-US" sz="2800" b="1" dirty="0" smtClean="0">
                <a:latin typeface="Times New Roman" pitchFamily="18" charset="0"/>
                <a:cs typeface="Times New Roman" pitchFamily="18" charset="0"/>
              </a:rPr>
              <a:t>Disk Failure</a:t>
            </a:r>
            <a:r>
              <a:rPr lang="en-US" sz="2800" dirty="0" smtClean="0">
                <a:latin typeface="Times New Roman" pitchFamily="18" charset="0"/>
                <a:cs typeface="Times New Roman" pitchFamily="18" charset="0"/>
              </a:rPr>
              <a:t>. </a:t>
            </a:r>
            <a:endParaRPr lang="en-US" sz="28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0"/>
            <a:ext cx="8229600" cy="4571999"/>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Classification of Failure</a:t>
            </a:r>
            <a:endParaRPr lang="en-US" sz="1800" dirty="0" smtClean="0">
              <a:latin typeface="Times New Roman" pitchFamily="18" charset="0"/>
              <a:cs typeface="Times New Roman" pitchFamily="18" charset="0"/>
            </a:endParaRPr>
          </a:p>
          <a:p>
            <a:pPr>
              <a:buNone/>
            </a:pPr>
            <a:endParaRPr lang="en-US" sz="1800" b="1" dirty="0" smtClean="0">
              <a:latin typeface="Times New Roman" pitchFamily="18" charset="0"/>
              <a:cs typeface="Times New Roman" pitchFamily="18" charset="0"/>
            </a:endParaRPr>
          </a:p>
          <a:p>
            <a:pPr algn="just">
              <a:buNone/>
            </a:pPr>
            <a:r>
              <a:rPr lang="en-US" sz="1800" b="1"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Transaction Failure. </a:t>
            </a:r>
            <a:r>
              <a:rPr lang="en-US" sz="2000" dirty="0" smtClean="0">
                <a:latin typeface="Times New Roman" pitchFamily="18" charset="0"/>
                <a:cs typeface="Times New Roman" pitchFamily="18" charset="0"/>
              </a:rPr>
              <a:t>There are two types of errors that may cause a transaction to fail:</a:t>
            </a:r>
          </a:p>
          <a:p>
            <a:pPr algn="just">
              <a:buNone/>
            </a:pPr>
            <a:r>
              <a:rPr lang="en-US" sz="2000" b="1" dirty="0" smtClean="0">
                <a:latin typeface="Times New Roman" pitchFamily="18" charset="0"/>
                <a:cs typeface="Times New Roman" pitchFamily="18" charset="0"/>
              </a:rPr>
              <a:t>	</a:t>
            </a:r>
          </a:p>
          <a:p>
            <a:pPr lvl="1" algn="just">
              <a:buNone/>
            </a:pPr>
            <a:r>
              <a:rPr lang="en-US" sz="2000" b="1" dirty="0" smtClean="0">
                <a:latin typeface="Times New Roman" pitchFamily="18" charset="0"/>
                <a:cs typeface="Times New Roman" pitchFamily="18" charset="0"/>
              </a:rPr>
              <a:t>	Logical error</a:t>
            </a:r>
            <a:r>
              <a:rPr lang="en-US" sz="2000" dirty="0" smtClean="0">
                <a:latin typeface="Times New Roman" pitchFamily="18" charset="0"/>
                <a:cs typeface="Times New Roman" pitchFamily="18" charset="0"/>
              </a:rPr>
              <a:t>. The transaction can no longer continue with its normal execution because of some internal condition, such as </a:t>
            </a:r>
            <a:r>
              <a:rPr lang="en-US" sz="2000" b="1" dirty="0" smtClean="0">
                <a:latin typeface="Times New Roman" pitchFamily="18" charset="0"/>
                <a:cs typeface="Times New Roman" pitchFamily="18" charset="0"/>
              </a:rPr>
              <a:t>bad input</a:t>
            </a:r>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data not found, overflow</a:t>
            </a:r>
            <a:r>
              <a:rPr lang="en-US" sz="2000" dirty="0" smtClean="0">
                <a:latin typeface="Times New Roman" pitchFamily="18" charset="0"/>
                <a:cs typeface="Times New Roman" pitchFamily="18" charset="0"/>
              </a:rPr>
              <a:t>, or resource limit exceeded.</a:t>
            </a:r>
          </a:p>
          <a:p>
            <a:pPr lvl="1" algn="just">
              <a:buNone/>
            </a:pPr>
            <a:r>
              <a:rPr lang="en-US" sz="2000" b="1" dirty="0" smtClean="0">
                <a:latin typeface="Times New Roman" pitchFamily="18" charset="0"/>
                <a:cs typeface="Times New Roman" pitchFamily="18" charset="0"/>
              </a:rPr>
              <a:t>	</a:t>
            </a:r>
          </a:p>
          <a:p>
            <a:pPr lvl="1" algn="just">
              <a:buNone/>
            </a:pPr>
            <a:r>
              <a:rPr lang="en-US" sz="2000" b="1" dirty="0" smtClean="0">
                <a:latin typeface="Times New Roman" pitchFamily="18" charset="0"/>
                <a:cs typeface="Times New Roman" pitchFamily="18" charset="0"/>
              </a:rPr>
              <a:t>	System error</a:t>
            </a:r>
            <a:r>
              <a:rPr lang="en-US" sz="2000" dirty="0" smtClean="0">
                <a:latin typeface="Times New Roman" pitchFamily="18" charset="0"/>
                <a:cs typeface="Times New Roman" pitchFamily="18" charset="0"/>
              </a:rPr>
              <a:t>. The system has entered an </a:t>
            </a:r>
            <a:r>
              <a:rPr lang="en-US" sz="2000" b="1" dirty="0" smtClean="0">
                <a:latin typeface="Times New Roman" pitchFamily="18" charset="0"/>
                <a:cs typeface="Times New Roman" pitchFamily="18" charset="0"/>
              </a:rPr>
              <a:t>undesirable state</a:t>
            </a:r>
            <a:r>
              <a:rPr lang="en-US" sz="2000" dirty="0" smtClean="0">
                <a:latin typeface="Times New Roman" pitchFamily="18" charset="0"/>
                <a:cs typeface="Times New Roman" pitchFamily="18" charset="0"/>
              </a:rPr>
              <a:t> (for example, </a:t>
            </a:r>
            <a:r>
              <a:rPr lang="en-US" sz="2000" b="1" dirty="0" smtClean="0">
                <a:latin typeface="Times New Roman" pitchFamily="18" charset="0"/>
                <a:cs typeface="Times New Roman" pitchFamily="18" charset="0"/>
              </a:rPr>
              <a:t>deadlock</a:t>
            </a:r>
            <a:r>
              <a:rPr lang="en-US" sz="2000" dirty="0" smtClean="0">
                <a:latin typeface="Times New Roman" pitchFamily="18" charset="0"/>
                <a:cs typeface="Times New Roman" pitchFamily="18" charset="0"/>
              </a:rPr>
              <a:t>) as a result of which a transaction cannot continue with its normal execution. The transaction, however, can be re-executed at a later time.</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Classification of Failure</a:t>
            </a:r>
            <a:endParaRPr lang="en-US" sz="1800" dirty="0" smtClean="0">
              <a:latin typeface="Times New Roman" pitchFamily="18" charset="0"/>
              <a:cs typeface="Times New Roman" pitchFamily="18" charset="0"/>
            </a:endParaRPr>
          </a:p>
          <a:p>
            <a:pPr>
              <a:buNone/>
            </a:pPr>
            <a:endParaRPr lang="en-US" sz="1800" b="1" dirty="0" smtClean="0">
              <a:latin typeface="Times New Roman" pitchFamily="18" charset="0"/>
              <a:cs typeface="Times New Roman" pitchFamily="18" charset="0"/>
            </a:endParaRPr>
          </a:p>
          <a:p>
            <a:pPr algn="just">
              <a:buNone/>
            </a:pPr>
            <a:r>
              <a:rPr lang="en-US" sz="1800" b="1"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System Crash</a:t>
            </a:r>
            <a:r>
              <a:rPr lang="en-US" sz="2000" dirty="0" smtClean="0">
                <a:latin typeface="Times New Roman" pitchFamily="18" charset="0"/>
                <a:cs typeface="Times New Roman" pitchFamily="18" charset="0"/>
              </a:rPr>
              <a:t>. There is a </a:t>
            </a:r>
            <a:r>
              <a:rPr lang="en-US" sz="2000" b="1" dirty="0" smtClean="0">
                <a:latin typeface="Times New Roman" pitchFamily="18" charset="0"/>
                <a:cs typeface="Times New Roman" pitchFamily="18" charset="0"/>
              </a:rPr>
              <a:t>hardware malfunction</a:t>
            </a:r>
            <a:r>
              <a:rPr lang="en-US" sz="2000" dirty="0" smtClean="0">
                <a:latin typeface="Times New Roman" pitchFamily="18" charset="0"/>
                <a:cs typeface="Times New Roman" pitchFamily="18" charset="0"/>
              </a:rPr>
              <a:t>, or a </a:t>
            </a:r>
            <a:r>
              <a:rPr lang="en-US" sz="2000" b="1" dirty="0" smtClean="0">
                <a:latin typeface="Times New Roman" pitchFamily="18" charset="0"/>
                <a:cs typeface="Times New Roman" pitchFamily="18" charset="0"/>
              </a:rPr>
              <a:t>bug in the database software</a:t>
            </a:r>
            <a:r>
              <a:rPr lang="en-US" sz="2000" dirty="0" smtClean="0">
                <a:latin typeface="Times New Roman" pitchFamily="18" charset="0"/>
                <a:cs typeface="Times New Roman" pitchFamily="18" charset="0"/>
              </a:rPr>
              <a:t> or the </a:t>
            </a:r>
            <a:r>
              <a:rPr lang="en-US" sz="2000" b="1" dirty="0" smtClean="0">
                <a:latin typeface="Times New Roman" pitchFamily="18" charset="0"/>
                <a:cs typeface="Times New Roman" pitchFamily="18" charset="0"/>
              </a:rPr>
              <a:t>operating system</a:t>
            </a:r>
            <a:r>
              <a:rPr lang="en-US" sz="2000" dirty="0" smtClean="0">
                <a:latin typeface="Times New Roman" pitchFamily="18" charset="0"/>
                <a:cs typeface="Times New Roman" pitchFamily="18" charset="0"/>
              </a:rPr>
              <a:t>, that causes the loss of the content of volatile storage, and brings transaction processing to a halt. The content of nonvolatile storage remains intact, and is not corrupted.</a:t>
            </a:r>
          </a:p>
          <a:p>
            <a:pPr algn="just">
              <a:buNone/>
            </a:pPr>
            <a:r>
              <a:rPr lang="en-US" sz="2000" b="1" dirty="0" smtClean="0">
                <a:latin typeface="Times New Roman" pitchFamily="18" charset="0"/>
                <a:cs typeface="Times New Roman" pitchFamily="18" charset="0"/>
              </a:rPr>
              <a:t>	</a:t>
            </a:r>
          </a:p>
          <a:p>
            <a:pPr algn="just">
              <a:buNone/>
            </a:pPr>
            <a:r>
              <a:rPr lang="en-US" sz="2000" b="1" dirty="0" smtClean="0">
                <a:latin typeface="Times New Roman" pitchFamily="18" charset="0"/>
                <a:cs typeface="Times New Roman" pitchFamily="18" charset="0"/>
              </a:rPr>
              <a:t>	Disk Failure</a:t>
            </a:r>
            <a:r>
              <a:rPr lang="en-US" sz="2000" dirty="0" smtClean="0">
                <a:latin typeface="Times New Roman" pitchFamily="18" charset="0"/>
                <a:cs typeface="Times New Roman" pitchFamily="18" charset="0"/>
              </a:rPr>
              <a:t>. A disk block loses its content as a result of either a </a:t>
            </a:r>
            <a:r>
              <a:rPr lang="en-US" sz="2000" b="1" dirty="0" smtClean="0">
                <a:latin typeface="Times New Roman" pitchFamily="18" charset="0"/>
                <a:cs typeface="Times New Roman" pitchFamily="18" charset="0"/>
              </a:rPr>
              <a:t>head crash</a:t>
            </a:r>
            <a:r>
              <a:rPr lang="en-US" sz="2000" dirty="0" smtClean="0">
                <a:latin typeface="Times New Roman" pitchFamily="18" charset="0"/>
                <a:cs typeface="Times New Roman" pitchFamily="18" charset="0"/>
              </a:rPr>
              <a:t> or </a:t>
            </a:r>
            <a:r>
              <a:rPr lang="en-US" sz="2000" b="1" dirty="0" smtClean="0">
                <a:latin typeface="Times New Roman" pitchFamily="18" charset="0"/>
                <a:cs typeface="Times New Roman" pitchFamily="18" charset="0"/>
              </a:rPr>
              <a:t>failure during a data transfer operation</a:t>
            </a:r>
            <a:r>
              <a:rPr lang="en-US" sz="2000" dirty="0" smtClean="0">
                <a:latin typeface="Times New Roman" pitchFamily="18" charset="0"/>
                <a:cs typeface="Times New Roman" pitchFamily="18" charset="0"/>
              </a:rPr>
              <a:t>. Copies of the data on other disks, or archival backups on tertiary media, such as tapes, are used to recover from the failure.</a:t>
            </a:r>
            <a:endParaRPr lang="en-US" sz="2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6</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Storage Types</a:t>
            </a:r>
            <a:endParaRPr lang="en-US" sz="1800" dirty="0" smtClean="0">
              <a:latin typeface="Times New Roman" pitchFamily="18" charset="0"/>
              <a:cs typeface="Times New Roman" pitchFamily="18" charset="0"/>
            </a:endParaRPr>
          </a:p>
          <a:p>
            <a:pPr>
              <a:buNone/>
            </a:pPr>
            <a:endParaRPr lang="en-US" sz="1800" b="1" dirty="0" smtClean="0">
              <a:latin typeface="Times New Roman" pitchFamily="18" charset="0"/>
              <a:cs typeface="Times New Roman" pitchFamily="18" charset="0"/>
            </a:endParaRPr>
          </a:p>
          <a:p>
            <a:pPr algn="just">
              <a:buNone/>
            </a:pPr>
            <a:r>
              <a:rPr lang="en-US" sz="1800" b="1"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Volatile storage</a:t>
            </a:r>
            <a:r>
              <a:rPr lang="en-US" sz="2000" dirty="0" smtClean="0">
                <a:latin typeface="Times New Roman" pitchFamily="18" charset="0"/>
                <a:cs typeface="Times New Roman" pitchFamily="18" charset="0"/>
              </a:rPr>
              <a:t>. Data in volatile storage, such as in </a:t>
            </a:r>
            <a:r>
              <a:rPr lang="en-US" sz="2000" b="1" dirty="0" smtClean="0">
                <a:latin typeface="Times New Roman" pitchFamily="18" charset="0"/>
                <a:cs typeface="Times New Roman" pitchFamily="18" charset="0"/>
              </a:rPr>
              <a:t>RAM</a:t>
            </a:r>
            <a:r>
              <a:rPr lang="en-US" sz="2000" dirty="0" smtClean="0">
                <a:latin typeface="Times New Roman" pitchFamily="18" charset="0"/>
                <a:cs typeface="Times New Roman" pitchFamily="18" charset="0"/>
              </a:rPr>
              <a:t>, are lost when the computer crashes.</a:t>
            </a:r>
          </a:p>
          <a:p>
            <a:pPr algn="just">
              <a:buNone/>
            </a:pPr>
            <a:r>
              <a:rPr lang="en-US" sz="2000" dirty="0" smtClean="0">
                <a:latin typeface="Times New Roman" pitchFamily="18" charset="0"/>
                <a:cs typeface="Times New Roman" pitchFamily="18" charset="0"/>
              </a:rPr>
              <a:t> </a:t>
            </a:r>
          </a:p>
          <a:p>
            <a:pPr algn="just">
              <a:buNone/>
            </a:pPr>
            <a:r>
              <a:rPr lang="en-US" sz="2000" b="1" dirty="0" smtClean="0">
                <a:latin typeface="Times New Roman" pitchFamily="18" charset="0"/>
                <a:cs typeface="Times New Roman" pitchFamily="18" charset="0"/>
              </a:rPr>
              <a:t>	 Nonvolatile storage</a:t>
            </a:r>
            <a:r>
              <a:rPr lang="en-US" sz="2000" dirty="0" smtClean="0">
                <a:latin typeface="Times New Roman" pitchFamily="18" charset="0"/>
                <a:cs typeface="Times New Roman" pitchFamily="18" charset="0"/>
              </a:rPr>
              <a:t>. Data in nonvolatile storage, such as </a:t>
            </a:r>
            <a:r>
              <a:rPr lang="en-US" sz="2000" b="1" dirty="0" smtClean="0">
                <a:latin typeface="Times New Roman" pitchFamily="18" charset="0"/>
                <a:cs typeface="Times New Roman" pitchFamily="18" charset="0"/>
              </a:rPr>
              <a:t>disk</a:t>
            </a:r>
            <a:r>
              <a:rPr lang="en-US" sz="2000" dirty="0" smtClean="0">
                <a:latin typeface="Times New Roman" pitchFamily="18" charset="0"/>
                <a:cs typeface="Times New Roman" pitchFamily="18" charset="0"/>
              </a:rPr>
              <a:t>, are not lost when the computer crashes, but may occasionally be lost because of failures such as disk crashes (for example, </a:t>
            </a:r>
            <a:r>
              <a:rPr lang="en-US" sz="2000" b="1" dirty="0" smtClean="0">
                <a:latin typeface="Times New Roman" pitchFamily="18" charset="0"/>
                <a:cs typeface="Times New Roman" pitchFamily="18" charset="0"/>
              </a:rPr>
              <a:t>head crash</a:t>
            </a:r>
            <a:r>
              <a:rPr lang="en-US" sz="2000" dirty="0" smtClean="0">
                <a:latin typeface="Times New Roman" pitchFamily="18" charset="0"/>
                <a:cs typeface="Times New Roman" pitchFamily="18" charset="0"/>
              </a:rPr>
              <a:t>).</a:t>
            </a:r>
          </a:p>
          <a:p>
            <a:pPr algn="just">
              <a:buNone/>
            </a:pPr>
            <a:r>
              <a:rPr lang="en-US" sz="2000" dirty="0" smtClean="0">
                <a:latin typeface="Times New Roman" pitchFamily="18" charset="0"/>
                <a:cs typeface="Times New Roman" pitchFamily="18" charset="0"/>
              </a:rPr>
              <a:t> </a:t>
            </a:r>
          </a:p>
          <a:p>
            <a:pPr algn="just">
              <a:buNone/>
            </a:pPr>
            <a:r>
              <a:rPr lang="en-US" sz="2000" b="1" dirty="0" smtClean="0">
                <a:latin typeface="Times New Roman" pitchFamily="18" charset="0"/>
                <a:cs typeface="Times New Roman" pitchFamily="18" charset="0"/>
              </a:rPr>
              <a:t>	Stable storage</a:t>
            </a:r>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Data in stable storage are never lost</a:t>
            </a:r>
            <a:r>
              <a:rPr lang="en-US" sz="2000" dirty="0" smtClean="0">
                <a:latin typeface="Times New Roman" pitchFamily="18" charset="0"/>
                <a:cs typeface="Times New Roman" pitchFamily="18" charset="0"/>
              </a:rPr>
              <a:t>. Although stable storage is theoretically impossible to obtain, it can be closely approximated by techniques that make data loss extremely unlikely. </a:t>
            </a:r>
            <a:endParaRPr lang="en-US" sz="2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7</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Stable-Storage Implementation</a:t>
            </a:r>
            <a:endParaRPr lang="en-US" sz="2000" dirty="0" smtClean="0">
              <a:latin typeface="Times New Roman" pitchFamily="18" charset="0"/>
              <a:cs typeface="Times New Roman" pitchFamily="18" charset="0"/>
            </a:endParaRPr>
          </a:p>
          <a:p>
            <a:pPr>
              <a:buNone/>
            </a:pPr>
            <a:r>
              <a:rPr lang="en-US" sz="1800" dirty="0" smtClean="0">
                <a:latin typeface="Times New Roman" pitchFamily="18" charset="0"/>
                <a:cs typeface="Times New Roman" pitchFamily="18" charset="0"/>
              </a:rPr>
              <a:t>	</a:t>
            </a:r>
          </a:p>
          <a:p>
            <a:pPr algn="just">
              <a:buNone/>
            </a:pPr>
            <a:r>
              <a:rPr lang="en-US" sz="18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To implement stable storage, we need to </a:t>
            </a:r>
            <a:r>
              <a:rPr lang="en-US" sz="2000" b="1" dirty="0" smtClean="0">
                <a:latin typeface="Times New Roman" pitchFamily="18" charset="0"/>
                <a:cs typeface="Times New Roman" pitchFamily="18" charset="0"/>
              </a:rPr>
              <a:t>replicate the needed information in several nonvolatile storage media</a:t>
            </a:r>
            <a:r>
              <a:rPr lang="en-US" sz="2000" dirty="0" smtClean="0">
                <a:latin typeface="Times New Roman" pitchFamily="18" charset="0"/>
                <a:cs typeface="Times New Roman" pitchFamily="18" charset="0"/>
              </a:rPr>
              <a:t> (usually disk) with independent failure modes, and to update the information in a controlled manner to ensure that failure during data transfer does not damage the needed information.</a:t>
            </a:r>
          </a:p>
          <a:p>
            <a:pPr algn="just">
              <a:buNone/>
            </a:pPr>
            <a:r>
              <a:rPr lang="en-US" sz="2000" dirty="0" smtClean="0">
                <a:latin typeface="Times New Roman" pitchFamily="18" charset="0"/>
                <a:cs typeface="Times New Roman" pitchFamily="18" charset="0"/>
              </a:rPr>
              <a:t>	</a:t>
            </a:r>
          </a:p>
          <a:p>
            <a:pPr algn="just">
              <a:buNone/>
            </a:pPr>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RAID systems guarantee</a:t>
            </a:r>
            <a:r>
              <a:rPr lang="en-US" sz="2000" dirty="0" smtClean="0">
                <a:latin typeface="Times New Roman" pitchFamily="18" charset="0"/>
                <a:cs typeface="Times New Roman" pitchFamily="18" charset="0"/>
              </a:rPr>
              <a:t> that the failure of a single disk (even during data transfer) will not result in loss of data. The simplest and fastest form of RAID is the mirrored disk, which keeps two copies of each block, on separate disks. Other forms of RAID offer lower costs, but at the expense of lower performance.</a:t>
            </a:r>
            <a:r>
              <a:rPr lang="en-US" sz="2000" b="1" dirty="0" smtClean="0">
                <a:latin typeface="Times New Roman" pitchFamily="18" charset="0"/>
                <a:cs typeface="Times New Roman" pitchFamily="18" charset="0"/>
              </a:rPr>
              <a:t>	</a:t>
            </a:r>
            <a:endParaRPr lang="en-US" sz="2000" dirty="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8</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buFont typeface="Wingdings" pitchFamily="2" charset="2"/>
              <a:buChar char="q"/>
            </a:pPr>
            <a:r>
              <a:rPr lang="en-US" sz="2000" b="1" dirty="0" smtClean="0">
                <a:latin typeface="Times New Roman" pitchFamily="18" charset="0"/>
                <a:cs typeface="Times New Roman" pitchFamily="18" charset="0"/>
              </a:rPr>
              <a:t>Stable-Storage Implementation</a:t>
            </a:r>
            <a:endParaRPr lang="en-US" sz="2000" dirty="0" smtClean="0">
              <a:latin typeface="Times New Roman" pitchFamily="18" charset="0"/>
              <a:cs typeface="Times New Roman" pitchFamily="18" charset="0"/>
            </a:endParaRPr>
          </a:p>
          <a:p>
            <a:pPr>
              <a:buNone/>
            </a:pPr>
            <a:r>
              <a:rPr lang="en-US" sz="1800" dirty="0" smtClean="0">
                <a:latin typeface="Times New Roman" pitchFamily="18" charset="0"/>
                <a:cs typeface="Times New Roman" pitchFamily="18" charset="0"/>
              </a:rPr>
              <a:t>	</a:t>
            </a:r>
          </a:p>
          <a:p>
            <a:pPr algn="just">
              <a:buNone/>
            </a:pPr>
            <a:r>
              <a:rPr lang="en-US" sz="18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RAID systems, however, cannot guard against data loss due to disasters such as fires or flooding. More secure systems keep a copy of each block of stable storage at a remote site, writing it out over a computer network, in addition to storing the block on a local disk system. Since the blocks are output to a remote system as and when they are output to local storage, once an output operation is complete, the output is not lost, even in the event of a disaster such as a fire or flood.</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9</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What is RAID? </a:t>
            </a:r>
            <a:r>
              <a:rPr lang="en-US" sz="2000" dirty="0" smtClean="0">
                <a:latin typeface="Times New Roman" pitchFamily="18" charset="0"/>
                <a:cs typeface="Times New Roman" pitchFamily="18" charset="0"/>
              </a:rPr>
              <a:t>	</a:t>
            </a:r>
          </a:p>
          <a:p>
            <a:pPr lvl="1" algn="just"/>
            <a:r>
              <a:rPr lang="en-US" sz="2000" dirty="0" smtClean="0">
                <a:latin typeface="Times New Roman" pitchFamily="18" charset="0"/>
                <a:cs typeface="Times New Roman" pitchFamily="18" charset="0"/>
              </a:rPr>
              <a:t>RAID stands for Redundant Arrays of Independent Disks.</a:t>
            </a:r>
          </a:p>
          <a:p>
            <a:pPr lvl="1" algn="just"/>
            <a:r>
              <a:rPr lang="en-US" sz="2000" dirty="0" smtClean="0">
                <a:latin typeface="Times New Roman" pitchFamily="18" charset="0"/>
                <a:cs typeface="Times New Roman" pitchFamily="18" charset="0"/>
              </a:rPr>
              <a:t>The term was defined by David Patterson, Garth A. Gibson, and Randy Katz at the University of California in 1987.</a:t>
            </a:r>
          </a:p>
          <a:p>
            <a:pPr lvl="1" algn="just"/>
            <a:r>
              <a:rPr lang="en-US" sz="2000" dirty="0" smtClean="0">
                <a:latin typeface="Times New Roman" pitchFamily="18" charset="0"/>
                <a:cs typeface="Times New Roman" pitchFamily="18" charset="0"/>
              </a:rPr>
              <a:t>It is a technology that makes use of a combination of multiple disks for storing the data instead of using a single disk for increased performance, data redundancy, or to protect data in the case of a drive failure depending on the RAID level used. </a:t>
            </a:r>
          </a:p>
          <a:p>
            <a:pPr lvl="1" algn="just"/>
            <a:r>
              <a:rPr lang="en-US" sz="2000" dirty="0" smtClean="0">
                <a:latin typeface="Times New Roman" pitchFamily="18" charset="0"/>
                <a:cs typeface="Times New Roman" pitchFamily="18" charset="0"/>
              </a:rPr>
              <a:t>If one drive stops working, your data is still safe because you have other copies stored on the other drives.</a:t>
            </a:r>
          </a:p>
          <a:p>
            <a:pPr lvl="1" algn="just"/>
            <a:r>
              <a:rPr lang="en-US" sz="2000" dirty="0" smtClean="0">
                <a:latin typeface="Times New Roman" pitchFamily="18" charset="0"/>
                <a:cs typeface="Times New Roman" pitchFamily="18" charset="0"/>
              </a:rPr>
              <a:t>The main purpose of RAID is to improve data reliability, availability, and performance.</a:t>
            </a:r>
          </a:p>
          <a:p>
            <a:pPr lvl="1" algn="just"/>
            <a:r>
              <a:rPr lang="en-US" sz="2000" dirty="0" smtClean="0">
                <a:latin typeface="Times New Roman" pitchFamily="18" charset="0"/>
                <a:cs typeface="Times New Roman" pitchFamily="18" charset="0"/>
              </a:rPr>
              <a:t>Different RAID levels are used to achieve different goals.</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10</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Advantages of RAID Technology </a:t>
            </a:r>
            <a:r>
              <a:rPr lang="en-US" sz="2000" dirty="0" smtClean="0">
                <a:latin typeface="Times New Roman" pitchFamily="18" charset="0"/>
                <a:cs typeface="Times New Roman" pitchFamily="18" charset="0"/>
              </a:rPr>
              <a:t>	</a:t>
            </a:r>
          </a:p>
          <a:p>
            <a:pPr lvl="1" algn="just" fontAlgn="base"/>
            <a:r>
              <a:rPr lang="en-US" sz="2000" b="1" dirty="0" smtClean="0">
                <a:latin typeface="Times New Roman" pitchFamily="18" charset="0"/>
                <a:cs typeface="Times New Roman" pitchFamily="18" charset="0"/>
              </a:rPr>
              <a:t>Data redundancy:</a:t>
            </a:r>
            <a:r>
              <a:rPr lang="en-US" sz="2000" dirty="0" smtClean="0">
                <a:latin typeface="Times New Roman" pitchFamily="18" charset="0"/>
                <a:cs typeface="Times New Roman" pitchFamily="18" charset="0"/>
              </a:rPr>
              <a:t> By keeping numerous copies of the data on many disks, RAID can shield data from disk failures.</a:t>
            </a:r>
          </a:p>
          <a:p>
            <a:pPr lvl="1" algn="just" fontAlgn="base"/>
            <a:r>
              <a:rPr lang="en-US" sz="2000" b="1" dirty="0" smtClean="0">
                <a:latin typeface="Times New Roman" pitchFamily="18" charset="0"/>
                <a:cs typeface="Times New Roman" pitchFamily="18" charset="0"/>
              </a:rPr>
              <a:t>Performance enhancement:</a:t>
            </a:r>
            <a:r>
              <a:rPr lang="en-US" sz="2000" dirty="0" smtClean="0">
                <a:latin typeface="Times New Roman" pitchFamily="18" charset="0"/>
                <a:cs typeface="Times New Roman" pitchFamily="18" charset="0"/>
              </a:rPr>
              <a:t> RAID can enhance performance by distributing data over several drives, enabling the simultaneous execution of several read / write operations.</a:t>
            </a:r>
          </a:p>
          <a:p>
            <a:pPr lvl="1" algn="just" fontAlgn="base"/>
            <a:r>
              <a:rPr lang="en-US" sz="2000" b="1" dirty="0" smtClean="0">
                <a:latin typeface="Times New Roman" pitchFamily="18" charset="0"/>
                <a:cs typeface="Times New Roman" pitchFamily="18" charset="0"/>
              </a:rPr>
              <a:t>Scalability: </a:t>
            </a:r>
            <a:r>
              <a:rPr lang="en-US" sz="2000" dirty="0" smtClean="0">
                <a:latin typeface="Times New Roman" pitchFamily="18" charset="0"/>
                <a:cs typeface="Times New Roman" pitchFamily="18" charset="0"/>
              </a:rPr>
              <a:t>RAID is scalable, therefore by adding more disks to the array, the storage capacity may be expanded.</a:t>
            </a:r>
          </a:p>
          <a:p>
            <a:pPr lvl="1" algn="just" fontAlgn="base"/>
            <a:r>
              <a:rPr lang="en-US" sz="2000" b="1" dirty="0" smtClean="0">
                <a:latin typeface="Times New Roman" pitchFamily="18" charset="0"/>
                <a:cs typeface="Times New Roman" pitchFamily="18" charset="0"/>
              </a:rPr>
              <a:t>Versatility: </a:t>
            </a:r>
            <a:r>
              <a:rPr lang="en-US" sz="2000" dirty="0" smtClean="0">
                <a:latin typeface="Times New Roman" pitchFamily="18" charset="0"/>
                <a:cs typeface="Times New Roman" pitchFamily="18" charset="0"/>
              </a:rPr>
              <a:t>RAID is applicable to a wide range of devices, such as workstations, servers, and personal PCs</a:t>
            </a:r>
          </a:p>
          <a:p>
            <a:pPr lvl="1" algn="just"/>
            <a:r>
              <a:rPr lang="en-US" sz="2000" b="1" dirty="0" smtClean="0">
                <a:latin typeface="Times New Roman" pitchFamily="18" charset="0"/>
                <a:cs typeface="Times New Roman" pitchFamily="18" charset="0"/>
              </a:rPr>
              <a:t>Fault Tolerance</a:t>
            </a:r>
            <a:r>
              <a:rPr lang="en-US" sz="2000" dirty="0" smtClean="0">
                <a:latin typeface="Times New Roman" pitchFamily="18" charset="0"/>
                <a:cs typeface="Times New Roman" pitchFamily="18" charset="0"/>
              </a:rPr>
              <a:t>: RAID configurations with redundancy can continue to operate even if one or more disks fail, minimizing downtime and data loss.</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11</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Drawbacks of RAID Technology / Downsides of using RAID </a:t>
            </a:r>
            <a:endParaRPr lang="en-US" sz="2000" dirty="0" smtClean="0">
              <a:latin typeface="Times New Roman" pitchFamily="18" charset="0"/>
              <a:cs typeface="Times New Roman" pitchFamily="18" charset="0"/>
            </a:endParaRPr>
          </a:p>
          <a:p>
            <a:pPr lvl="1" algn="just" fontAlgn="base"/>
            <a:r>
              <a:rPr lang="en-US" sz="2000" b="1" dirty="0" smtClean="0">
                <a:latin typeface="Times New Roman" pitchFamily="18" charset="0"/>
                <a:cs typeface="Times New Roman" pitchFamily="18" charset="0"/>
              </a:rPr>
              <a:t>Cost:</a:t>
            </a:r>
            <a:r>
              <a:rPr lang="en-US" sz="2000" dirty="0" smtClean="0">
                <a:latin typeface="Times New Roman" pitchFamily="18" charset="0"/>
                <a:cs typeface="Times New Roman" pitchFamily="18" charset="0"/>
              </a:rPr>
              <a:t> RAID implementation can be costly, particularly for arrays with large capacities.</a:t>
            </a:r>
          </a:p>
          <a:p>
            <a:pPr lvl="1" algn="just" fontAlgn="base"/>
            <a:r>
              <a:rPr lang="en-US" sz="2000" b="1" dirty="0" smtClean="0">
                <a:latin typeface="Times New Roman" pitchFamily="18" charset="0"/>
                <a:cs typeface="Times New Roman" pitchFamily="18" charset="0"/>
              </a:rPr>
              <a:t>Complexity:</a:t>
            </a:r>
            <a:r>
              <a:rPr lang="en-US" sz="2000" dirty="0" smtClean="0">
                <a:latin typeface="Times New Roman" pitchFamily="18" charset="0"/>
                <a:cs typeface="Times New Roman" pitchFamily="18" charset="0"/>
              </a:rPr>
              <a:t> The setup and management of RAID might be challenging.</a:t>
            </a:r>
          </a:p>
          <a:p>
            <a:pPr lvl="1" algn="just" fontAlgn="base"/>
            <a:r>
              <a:rPr lang="en-US" sz="2000" b="1" dirty="0" smtClean="0">
                <a:latin typeface="Times New Roman" pitchFamily="18" charset="0"/>
                <a:cs typeface="Times New Roman" pitchFamily="18" charset="0"/>
              </a:rPr>
              <a:t>Decreased performance:</a:t>
            </a:r>
            <a:r>
              <a:rPr lang="en-US" sz="2000" dirty="0" smtClean="0">
                <a:latin typeface="Times New Roman" pitchFamily="18" charset="0"/>
                <a:cs typeface="Times New Roman" pitchFamily="18" charset="0"/>
              </a:rPr>
              <a:t> The parity calculations necessary for some RAID configurations may result in a decrease in speed.</a:t>
            </a:r>
          </a:p>
          <a:p>
            <a:pPr lvl="1" algn="just" fontAlgn="base"/>
            <a:r>
              <a:rPr lang="en-US" sz="2000" b="1" dirty="0" smtClean="0">
                <a:latin typeface="Times New Roman" pitchFamily="18" charset="0"/>
                <a:cs typeface="Times New Roman" pitchFamily="18" charset="0"/>
              </a:rPr>
              <a:t>Single point of failure:</a:t>
            </a:r>
            <a:r>
              <a:rPr lang="en-US" sz="2000" dirty="0" smtClean="0">
                <a:latin typeface="Times New Roman" pitchFamily="18" charset="0"/>
                <a:cs typeface="Times New Roman" pitchFamily="18" charset="0"/>
              </a:rPr>
              <a:t> The array’s whole contents could be lost if the RAID controller malfunctions.</a:t>
            </a:r>
          </a:p>
          <a:p>
            <a:pPr lvl="1" algn="just" fontAlgn="base"/>
            <a:r>
              <a:rPr lang="en-US" sz="2000" b="1" dirty="0" smtClean="0">
                <a:latin typeface="Times New Roman" pitchFamily="18" charset="0"/>
                <a:cs typeface="Times New Roman" pitchFamily="18" charset="0"/>
              </a:rPr>
              <a:t>Nested RAID levels</a:t>
            </a:r>
            <a:r>
              <a:rPr lang="en-US" sz="2000" dirty="0" smtClean="0">
                <a:latin typeface="Times New Roman" pitchFamily="18" charset="0"/>
                <a:cs typeface="Times New Roman" pitchFamily="18" charset="0"/>
              </a:rPr>
              <a:t> are more expensive to implement than traditional RAID levels because they require many disks.</a:t>
            </a:r>
          </a:p>
          <a:p>
            <a:pPr lvl="1" algn="just"/>
            <a:r>
              <a:rPr lang="en-US" sz="2000" b="1" dirty="0" smtClean="0">
                <a:latin typeface="Times New Roman" pitchFamily="18" charset="0"/>
                <a:cs typeface="Times New Roman" pitchFamily="18" charset="0"/>
              </a:rPr>
              <a:t>RAID arrays</a:t>
            </a:r>
            <a:r>
              <a:rPr lang="en-US" sz="2000" dirty="0" smtClean="0">
                <a:latin typeface="Times New Roman" pitchFamily="18" charset="0"/>
                <a:cs typeface="Times New Roman" pitchFamily="18" charset="0"/>
              </a:rPr>
              <a:t> are in a vulnerable state until a failed drive is replaced and the new disk is populated with data.</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12</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When should you use RAID Technology? </a:t>
            </a:r>
            <a:endParaRPr lang="en-US" sz="2000" dirty="0" smtClean="0">
              <a:latin typeface="Times New Roman" pitchFamily="18" charset="0"/>
              <a:cs typeface="Times New Roman" pitchFamily="18" charset="0"/>
            </a:endParaRPr>
          </a:p>
          <a:p>
            <a:pPr lvl="1" algn="just" fontAlgn="base">
              <a:buNone/>
            </a:pPr>
            <a:r>
              <a:rPr lang="en-US" sz="2000" dirty="0" smtClean="0">
                <a:latin typeface="Times New Roman" pitchFamily="18" charset="0"/>
                <a:cs typeface="Times New Roman" pitchFamily="18" charset="0"/>
              </a:rPr>
              <a:t>Instances where it is useful to have a RAID setup include:</a:t>
            </a:r>
          </a:p>
          <a:p>
            <a:pPr lvl="1" algn="just"/>
            <a:r>
              <a:rPr lang="en-US" sz="1600" b="1" dirty="0" smtClean="0">
                <a:latin typeface="Times New Roman" pitchFamily="18" charset="0"/>
                <a:cs typeface="Times New Roman" pitchFamily="18" charset="0"/>
              </a:rPr>
              <a:t>When a large amount of data needs to be restored.</a:t>
            </a:r>
            <a:r>
              <a:rPr lang="en-US" sz="1600" dirty="0" smtClean="0">
                <a:latin typeface="Times New Roman" pitchFamily="18" charset="0"/>
                <a:cs typeface="Times New Roman" pitchFamily="18" charset="0"/>
              </a:rPr>
              <a:t> If a drive fails and data is lost, that data can be restored quickly, because this data is also stored in other drives.</a:t>
            </a:r>
          </a:p>
          <a:p>
            <a:pPr lvl="1" algn="just"/>
            <a:r>
              <a:rPr lang="en-US" sz="1600" b="1" dirty="0" smtClean="0">
                <a:latin typeface="Times New Roman" pitchFamily="18" charset="0"/>
                <a:cs typeface="Times New Roman" pitchFamily="18" charset="0"/>
              </a:rPr>
              <a:t>When uptime and availability are important business factors.</a:t>
            </a:r>
            <a:r>
              <a:rPr lang="en-US" sz="1600" dirty="0" smtClean="0">
                <a:latin typeface="Times New Roman" pitchFamily="18" charset="0"/>
                <a:cs typeface="Times New Roman" pitchFamily="18" charset="0"/>
              </a:rPr>
              <a:t> If data needs to be restored, it can be done quickly without downtime.</a:t>
            </a:r>
          </a:p>
          <a:p>
            <a:pPr lvl="1" algn="just"/>
            <a:r>
              <a:rPr lang="en-US" sz="1600" b="1" dirty="0" smtClean="0">
                <a:latin typeface="Times New Roman" pitchFamily="18" charset="0"/>
                <a:cs typeface="Times New Roman" pitchFamily="18" charset="0"/>
              </a:rPr>
              <a:t>When working with large files.</a:t>
            </a:r>
            <a:r>
              <a:rPr lang="en-US" sz="1600" dirty="0" smtClean="0">
                <a:latin typeface="Times New Roman" pitchFamily="18" charset="0"/>
                <a:cs typeface="Times New Roman" pitchFamily="18" charset="0"/>
              </a:rPr>
              <a:t> RAID provides speed and reliability when working with large files.</a:t>
            </a:r>
          </a:p>
          <a:p>
            <a:pPr lvl="1" algn="just"/>
            <a:r>
              <a:rPr lang="en-US" sz="1600" b="1" dirty="0" smtClean="0">
                <a:latin typeface="Times New Roman" pitchFamily="18" charset="0"/>
                <a:cs typeface="Times New Roman" pitchFamily="18" charset="0"/>
              </a:rPr>
              <a:t>When an organization needs to reduce strain on physical hardware and increase overall performance.</a:t>
            </a:r>
            <a:r>
              <a:rPr lang="en-US" sz="1600" dirty="0" smtClean="0">
                <a:latin typeface="Times New Roman" pitchFamily="18" charset="0"/>
                <a:cs typeface="Times New Roman" pitchFamily="18" charset="0"/>
              </a:rPr>
              <a:t> As an example, a hardware RAID card can include additional memory to be used as a cache.</a:t>
            </a:r>
          </a:p>
          <a:p>
            <a:pPr lvl="1" algn="just"/>
            <a:r>
              <a:rPr lang="en-US" sz="1600" b="1" dirty="0" smtClean="0">
                <a:latin typeface="Times New Roman" pitchFamily="18" charset="0"/>
                <a:cs typeface="Times New Roman" pitchFamily="18" charset="0"/>
              </a:rPr>
              <a:t>When having I/O disk issues.</a:t>
            </a:r>
            <a:r>
              <a:rPr lang="en-US" sz="1600" dirty="0" smtClean="0">
                <a:latin typeface="Times New Roman" pitchFamily="18" charset="0"/>
                <a:cs typeface="Times New Roman" pitchFamily="18" charset="0"/>
              </a:rPr>
              <a:t> RAID will provide additional throughput by reading and writing data from multiple drives, instead of needing to wait for one drive to perform tasks.</a:t>
            </a:r>
          </a:p>
          <a:p>
            <a:pPr lvl="1" algn="just"/>
            <a:r>
              <a:rPr lang="en-US" sz="1600" b="1" dirty="0" smtClean="0">
                <a:latin typeface="Times New Roman" pitchFamily="18" charset="0"/>
                <a:cs typeface="Times New Roman" pitchFamily="18" charset="0"/>
              </a:rPr>
              <a:t>When cost is a factor.</a:t>
            </a:r>
            <a:r>
              <a:rPr lang="en-US" sz="1600" dirty="0" smtClean="0">
                <a:latin typeface="Times New Roman" pitchFamily="18" charset="0"/>
                <a:cs typeface="Times New Roman" pitchFamily="18" charset="0"/>
              </a:rPr>
              <a:t> The cost of a RAID array is lower than it was in the past, and lower-priced disks are used in large numbers, making it cheaper.</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13</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What is a RAID Controller?  </a:t>
            </a:r>
          </a:p>
          <a:p>
            <a:pPr lvl="1" algn="just" fontAlgn="base"/>
            <a:r>
              <a:rPr lang="en-US" sz="2000" dirty="0" smtClean="0">
                <a:latin typeface="Times New Roman" pitchFamily="18" charset="0"/>
                <a:cs typeface="Times New Roman" pitchFamily="18" charset="0"/>
              </a:rPr>
              <a:t>It is like </a:t>
            </a:r>
            <a:r>
              <a:rPr lang="en-US" sz="2000" smtClean="0">
                <a:latin typeface="Times New Roman" pitchFamily="18" charset="0"/>
                <a:cs typeface="Times New Roman" pitchFamily="18" charset="0"/>
              </a:rPr>
              <a:t>a manager </a:t>
            </a:r>
            <a:r>
              <a:rPr lang="en-US" sz="2000" dirty="0" smtClean="0">
                <a:latin typeface="Times New Roman" pitchFamily="18" charset="0"/>
                <a:cs typeface="Times New Roman" pitchFamily="18" charset="0"/>
              </a:rPr>
              <a:t>for your hard drives in a big storage system. </a:t>
            </a:r>
          </a:p>
          <a:p>
            <a:pPr lvl="1" algn="just" fontAlgn="base"/>
            <a:r>
              <a:rPr lang="en-US" sz="2000" dirty="0" smtClean="0">
                <a:latin typeface="Times New Roman" pitchFamily="18" charset="0"/>
                <a:cs typeface="Times New Roman" pitchFamily="18" charset="0"/>
              </a:rPr>
              <a:t>It works between your computer’s operating system and the actual hard drives, organizing them into groups to make them easier to manage. </a:t>
            </a:r>
          </a:p>
          <a:p>
            <a:pPr lvl="1" algn="just" fontAlgn="base"/>
            <a:r>
              <a:rPr lang="en-US" sz="2000" dirty="0" smtClean="0">
                <a:latin typeface="Times New Roman" pitchFamily="18" charset="0"/>
                <a:cs typeface="Times New Roman" pitchFamily="18" charset="0"/>
              </a:rPr>
              <a:t>This helps speed up how fast your computer can read and write data, and it also adds a layer of protection in case one of your hard drives breaks down. </a:t>
            </a:r>
          </a:p>
          <a:p>
            <a:pPr algn="just"/>
            <a:endParaRPr lang="en-US" sz="2000" dirty="0" smtClean="0">
              <a:latin typeface="Times New Roman" pitchFamily="18" charset="0"/>
              <a:cs typeface="Times New Roman" pitchFamily="18" charset="0"/>
            </a:endParaRPr>
          </a:p>
          <a:p>
            <a:pPr algn="just" fontAlgn="base">
              <a:buFont typeface="Wingdings" pitchFamily="2" charset="2"/>
              <a:buChar char="q"/>
            </a:pPr>
            <a:r>
              <a:rPr lang="en-US" sz="2000" b="1" dirty="0" smtClean="0">
                <a:latin typeface="Times New Roman" pitchFamily="18" charset="0"/>
                <a:cs typeface="Times New Roman" pitchFamily="18" charset="0"/>
              </a:rPr>
              <a:t>Types of RAID controller</a:t>
            </a:r>
            <a:endParaRPr lang="en-US" sz="2000" dirty="0" smtClean="0">
              <a:latin typeface="Times New Roman" pitchFamily="18" charset="0"/>
              <a:cs typeface="Times New Roman" pitchFamily="18" charset="0"/>
            </a:endParaRPr>
          </a:p>
          <a:p>
            <a:pPr lvl="1" algn="just" fontAlgn="base"/>
            <a:r>
              <a:rPr lang="en-US" sz="2000" dirty="0" smtClean="0">
                <a:latin typeface="Times New Roman" pitchFamily="18" charset="0"/>
                <a:cs typeface="Times New Roman" pitchFamily="18" charset="0"/>
              </a:rPr>
              <a:t>Basically two types of RAID controller.</a:t>
            </a:r>
          </a:p>
          <a:p>
            <a:pPr lvl="2" algn="just" fontAlgn="base"/>
            <a:r>
              <a:rPr lang="en-US" sz="2000" b="1" dirty="0" smtClean="0">
                <a:latin typeface="Times New Roman" pitchFamily="18" charset="0"/>
                <a:cs typeface="Times New Roman" pitchFamily="18" charset="0"/>
              </a:rPr>
              <a:t>Hardware Based </a:t>
            </a:r>
            <a:r>
              <a:rPr lang="en-US" sz="2000" dirty="0" smtClean="0">
                <a:latin typeface="Times New Roman" pitchFamily="18" charset="0"/>
                <a:cs typeface="Times New Roman" pitchFamily="18" charset="0"/>
              </a:rPr>
              <a:t>RAID controller and </a:t>
            </a:r>
          </a:p>
          <a:p>
            <a:pPr lvl="2" algn="just" fontAlgn="base"/>
            <a:r>
              <a:rPr lang="en-US" sz="2000" b="1" dirty="0" smtClean="0">
                <a:latin typeface="Times New Roman" pitchFamily="18" charset="0"/>
                <a:cs typeface="Times New Roman" pitchFamily="18" charset="0"/>
              </a:rPr>
              <a:t>Software Based </a:t>
            </a:r>
            <a:r>
              <a:rPr lang="en-US" sz="2000" dirty="0" smtClean="0">
                <a:latin typeface="Times New Roman" pitchFamily="18" charset="0"/>
                <a:cs typeface="Times New Roman" pitchFamily="18" charset="0"/>
              </a:rPr>
              <a:t>RAID controller</a:t>
            </a:r>
          </a:p>
          <a:p>
            <a:pPr lvl="1" algn="just"/>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14</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Hardware Based </a:t>
            </a:r>
            <a:r>
              <a:rPr lang="en-US" sz="2000" b="1" dirty="0" smtClean="0">
                <a:latin typeface="Times New Roman" pitchFamily="18" charset="0"/>
                <a:cs typeface="Times New Roman" pitchFamily="18" charset="0"/>
              </a:rPr>
              <a:t>RAID Controller </a:t>
            </a:r>
            <a:endParaRPr lang="en-US" sz="2000" b="1" dirty="0" smtClean="0">
              <a:latin typeface="Times New Roman" pitchFamily="18" charset="0"/>
              <a:cs typeface="Times New Roman" pitchFamily="18" charset="0"/>
            </a:endParaRPr>
          </a:p>
          <a:p>
            <a:pPr lvl="1" algn="just" fontAlgn="base"/>
            <a:r>
              <a:rPr lang="en-US" sz="2000" dirty="0" smtClean="0">
                <a:latin typeface="Times New Roman" pitchFamily="18" charset="0"/>
                <a:cs typeface="Times New Roman" pitchFamily="18" charset="0"/>
              </a:rPr>
              <a:t>In </a:t>
            </a:r>
            <a:r>
              <a:rPr lang="en-US" sz="2000" dirty="0" smtClean="0">
                <a:latin typeface="Times New Roman" pitchFamily="18" charset="0"/>
                <a:cs typeface="Times New Roman" pitchFamily="18" charset="0"/>
              </a:rPr>
              <a:t>hardware-based RAID, there’s a physical controller that manages the whole </a:t>
            </a:r>
            <a:r>
              <a:rPr lang="en-US" sz="2000" dirty="0" smtClean="0">
                <a:latin typeface="Times New Roman" pitchFamily="18" charset="0"/>
                <a:cs typeface="Times New Roman" pitchFamily="18" charset="0"/>
              </a:rPr>
              <a:t>array.</a:t>
            </a:r>
          </a:p>
          <a:p>
            <a:pPr lvl="1" algn="just" fontAlgn="base"/>
            <a:r>
              <a:rPr lang="en-US" sz="2000" dirty="0" smtClean="0">
                <a:latin typeface="Times New Roman" pitchFamily="18" charset="0"/>
                <a:cs typeface="Times New Roman" pitchFamily="18" charset="0"/>
              </a:rPr>
              <a:t>This </a:t>
            </a:r>
            <a:r>
              <a:rPr lang="en-US" sz="2000" dirty="0" smtClean="0">
                <a:latin typeface="Times New Roman" pitchFamily="18" charset="0"/>
                <a:cs typeface="Times New Roman" pitchFamily="18" charset="0"/>
              </a:rPr>
              <a:t>controller can handle the whole group of hard drives together. It’s designed to work with different types of hard drives, like SATA (Serial Advanced Technology Attachment) or SCSI (Small Computer System Interface). </a:t>
            </a:r>
            <a:endParaRPr lang="en-US" sz="2000" dirty="0" smtClean="0">
              <a:latin typeface="Times New Roman" pitchFamily="18" charset="0"/>
              <a:cs typeface="Times New Roman" pitchFamily="18" charset="0"/>
            </a:endParaRPr>
          </a:p>
          <a:p>
            <a:pPr lvl="1" algn="just" fontAlgn="base"/>
            <a:r>
              <a:rPr lang="en-US" sz="2000" dirty="0" smtClean="0">
                <a:latin typeface="Times New Roman" pitchFamily="18" charset="0"/>
                <a:cs typeface="Times New Roman" pitchFamily="18" charset="0"/>
              </a:rPr>
              <a:t>Sometimes</a:t>
            </a:r>
            <a:r>
              <a:rPr lang="en-US" sz="2000" dirty="0" smtClean="0">
                <a:latin typeface="Times New Roman" pitchFamily="18" charset="0"/>
                <a:cs typeface="Times New Roman" pitchFamily="18" charset="0"/>
              </a:rPr>
              <a:t>, this controller is built right into the computer’s main board, making it easier to set up and manage your RAID system.</a:t>
            </a:r>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15</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Software </a:t>
            </a:r>
            <a:r>
              <a:rPr lang="en-US" sz="2000" b="1" dirty="0" smtClean="0">
                <a:latin typeface="Times New Roman" pitchFamily="18" charset="0"/>
                <a:cs typeface="Times New Roman" pitchFamily="18" charset="0"/>
              </a:rPr>
              <a:t>Based </a:t>
            </a:r>
            <a:r>
              <a:rPr lang="en-US" sz="2000" b="1" dirty="0" smtClean="0">
                <a:latin typeface="Times New Roman" pitchFamily="18" charset="0"/>
                <a:cs typeface="Times New Roman" pitchFamily="18" charset="0"/>
              </a:rPr>
              <a:t>RAID Controller</a:t>
            </a:r>
            <a:endParaRPr lang="en-US" sz="2000" dirty="0" smtClean="0">
              <a:latin typeface="Times New Roman" pitchFamily="18" charset="0"/>
              <a:cs typeface="Times New Roman" pitchFamily="18" charset="0"/>
            </a:endParaRPr>
          </a:p>
          <a:p>
            <a:pPr lvl="1" algn="just" fontAlgn="base"/>
            <a:r>
              <a:rPr lang="en-US" sz="2000" dirty="0" smtClean="0">
                <a:latin typeface="Times New Roman" pitchFamily="18" charset="0"/>
                <a:cs typeface="Times New Roman" pitchFamily="18" charset="0"/>
              </a:rPr>
              <a:t>In </a:t>
            </a:r>
            <a:r>
              <a:rPr lang="en-US" sz="2000" dirty="0" smtClean="0">
                <a:latin typeface="Times New Roman" pitchFamily="18" charset="0"/>
                <a:cs typeface="Times New Roman" pitchFamily="18" charset="0"/>
              </a:rPr>
              <a:t>software-based RAID, the controller doesn’t have its own special hardware. </a:t>
            </a:r>
          </a:p>
          <a:p>
            <a:pPr lvl="1" algn="just" fontAlgn="base"/>
            <a:r>
              <a:rPr lang="en-US" sz="2000" dirty="0" smtClean="0">
                <a:latin typeface="Times New Roman" pitchFamily="18" charset="0"/>
                <a:cs typeface="Times New Roman" pitchFamily="18" charset="0"/>
              </a:rPr>
              <a:t>So, it uses computer’s main processor and memory to do its job. </a:t>
            </a:r>
          </a:p>
          <a:p>
            <a:pPr lvl="1" algn="just" fontAlgn="base"/>
            <a:r>
              <a:rPr lang="en-US" sz="2000" dirty="0" smtClean="0">
                <a:latin typeface="Times New Roman" pitchFamily="18" charset="0"/>
                <a:cs typeface="Times New Roman" pitchFamily="18" charset="0"/>
              </a:rPr>
              <a:t>But because it’s sharing resources with other programs on your computer, it might not make things run as fast. So, while it’s still helpful, it might not give you as big of a speed boost as a hardware-based RAID system</a:t>
            </a:r>
          </a:p>
          <a:p>
            <a:pPr lvl="1" algn="just"/>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16</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Improvement of Reliability via Redundancy of Disks</a:t>
            </a:r>
            <a:endParaRPr lang="en-US" sz="2000" dirty="0" smtClean="0">
              <a:latin typeface="Times New Roman" pitchFamily="18" charset="0"/>
              <a:cs typeface="Times New Roman" pitchFamily="18" charset="0"/>
            </a:endParaRPr>
          </a:p>
          <a:p>
            <a:pPr lvl="1" algn="just" fontAlgn="base"/>
            <a:endParaRPr lang="en-US" sz="2000" dirty="0" smtClean="0">
              <a:latin typeface="Times New Roman" pitchFamily="18" charset="0"/>
              <a:cs typeface="Times New Roman" pitchFamily="18" charset="0"/>
            </a:endParaRPr>
          </a:p>
          <a:p>
            <a:pPr lvl="1" algn="just"/>
            <a:r>
              <a:rPr lang="en-US" sz="2000" dirty="0" smtClean="0">
                <a:latin typeface="Times New Roman" pitchFamily="18" charset="0"/>
                <a:cs typeface="Times New Roman" pitchFamily="18" charset="0"/>
              </a:rPr>
              <a:t>Reliability </a:t>
            </a:r>
            <a:r>
              <a:rPr lang="en-US" sz="2000" dirty="0" smtClean="0">
                <a:latin typeface="Times New Roman" pitchFamily="18" charset="0"/>
                <a:cs typeface="Times New Roman" pitchFamily="18" charset="0"/>
              </a:rPr>
              <a:t>can be improved via </a:t>
            </a:r>
            <a:r>
              <a:rPr lang="en-US" sz="2000" b="1" dirty="0" smtClean="0">
                <a:latin typeface="Times New Roman" pitchFamily="18" charset="0"/>
                <a:cs typeface="Times New Roman" pitchFamily="18" charset="0"/>
              </a:rPr>
              <a:t>redundancy of disks. </a:t>
            </a:r>
            <a:endParaRPr lang="en-US" sz="2000" dirty="0" smtClean="0">
              <a:latin typeface="Times New Roman" pitchFamily="18" charset="0"/>
              <a:cs typeface="Times New Roman" pitchFamily="18" charset="0"/>
            </a:endParaRPr>
          </a:p>
          <a:p>
            <a:pPr lvl="1" algn="just"/>
            <a:r>
              <a:rPr lang="en-US" sz="2000" dirty="0" smtClean="0">
                <a:latin typeface="Times New Roman" pitchFamily="18" charset="0"/>
                <a:cs typeface="Times New Roman" pitchFamily="18" charset="0"/>
              </a:rPr>
              <a:t>The simplest approach is to duplicate every disk. This technique is called </a:t>
            </a:r>
            <a:r>
              <a:rPr lang="en-US" sz="2000" b="1" dirty="0" smtClean="0">
                <a:latin typeface="Times New Roman" pitchFamily="18" charset="0"/>
                <a:cs typeface="Times New Roman" pitchFamily="18" charset="0"/>
              </a:rPr>
              <a:t>mirroring or shadowing</a:t>
            </a:r>
            <a:r>
              <a:rPr lang="en-US" sz="2000" dirty="0" smtClean="0">
                <a:latin typeface="Times New Roman" pitchFamily="18" charset="0"/>
                <a:cs typeface="Times New Roman" pitchFamily="18" charset="0"/>
              </a:rPr>
              <a:t>. </a:t>
            </a:r>
          </a:p>
          <a:p>
            <a:pPr lvl="1" algn="just"/>
            <a:r>
              <a:rPr lang="en-US" sz="2000" dirty="0" smtClean="0">
                <a:latin typeface="Times New Roman" pitchFamily="18" charset="0"/>
                <a:cs typeface="Times New Roman" pitchFamily="18" charset="0"/>
              </a:rPr>
              <a:t>A logical disk consists of two physical disks, and every write is carried out on both disks. If one of the disks fails, the data can be read from the other. </a:t>
            </a:r>
          </a:p>
          <a:p>
            <a:pPr lvl="1" algn="just"/>
            <a:r>
              <a:rPr lang="en-US" sz="2000" dirty="0" smtClean="0">
                <a:latin typeface="Times New Roman" pitchFamily="18" charset="0"/>
                <a:cs typeface="Times New Roman" pitchFamily="18" charset="0"/>
              </a:rPr>
              <a:t>Data will be lost only if the second disk fails before the first failed disk is repaired.</a:t>
            </a:r>
          </a:p>
          <a:p>
            <a:pPr algn="just" fontAlgn="base">
              <a:buNone/>
            </a:pPr>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17</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Improvement in Performance via Parallelism </a:t>
            </a:r>
            <a:endParaRPr lang="en-US" sz="2000" dirty="0" smtClean="0">
              <a:latin typeface="Times New Roman" pitchFamily="18" charset="0"/>
              <a:cs typeface="Times New Roman" pitchFamily="18" charset="0"/>
            </a:endParaRPr>
          </a:p>
          <a:p>
            <a:pPr lvl="1" algn="just"/>
            <a:r>
              <a:rPr lang="en-US" sz="2000" dirty="0" smtClean="0">
                <a:latin typeface="Times New Roman" pitchFamily="18" charset="0"/>
                <a:cs typeface="Times New Roman" pitchFamily="18" charset="0"/>
              </a:rPr>
              <a:t>With </a:t>
            </a:r>
            <a:r>
              <a:rPr lang="en-US" sz="2000" dirty="0" smtClean="0">
                <a:latin typeface="Times New Roman" pitchFamily="18" charset="0"/>
                <a:cs typeface="Times New Roman" pitchFamily="18" charset="0"/>
              </a:rPr>
              <a:t>multiple disks, we can improve the transfer rate by </a:t>
            </a:r>
            <a:r>
              <a:rPr lang="en-US" sz="2000" b="1" dirty="0" smtClean="0">
                <a:latin typeface="Times New Roman" pitchFamily="18" charset="0"/>
                <a:cs typeface="Times New Roman" pitchFamily="18" charset="0"/>
              </a:rPr>
              <a:t>striping data </a:t>
            </a:r>
            <a:r>
              <a:rPr lang="en-US" sz="2000" dirty="0" smtClean="0">
                <a:latin typeface="Times New Roman" pitchFamily="18" charset="0"/>
                <a:cs typeface="Times New Roman" pitchFamily="18" charset="0"/>
              </a:rPr>
              <a:t>across multiple disks. </a:t>
            </a:r>
          </a:p>
          <a:p>
            <a:pPr lvl="1" algn="just"/>
            <a:r>
              <a:rPr lang="en-US" sz="2000" dirty="0" smtClean="0">
                <a:latin typeface="Times New Roman" pitchFamily="18" charset="0"/>
                <a:cs typeface="Times New Roman" pitchFamily="18" charset="0"/>
              </a:rPr>
              <a:t>Two types of Data Striping:</a:t>
            </a:r>
            <a:r>
              <a:rPr lang="en-US" sz="2000" b="1" dirty="0" smtClean="0">
                <a:latin typeface="Times New Roman" pitchFamily="18" charset="0"/>
                <a:cs typeface="Times New Roman" pitchFamily="18" charset="0"/>
              </a:rPr>
              <a:t> Bit-level </a:t>
            </a:r>
            <a:r>
              <a:rPr lang="en-US" sz="2000" b="1" dirty="0" smtClean="0">
                <a:latin typeface="Times New Roman" pitchFamily="18" charset="0"/>
                <a:cs typeface="Times New Roman" pitchFamily="18" charset="0"/>
              </a:rPr>
              <a:t>Striping </a:t>
            </a:r>
            <a:r>
              <a:rPr lang="en-US" sz="2000" b="1" dirty="0" smtClean="0">
                <a:latin typeface="Times New Roman" pitchFamily="18" charset="0"/>
                <a:cs typeface="Times New Roman" pitchFamily="18" charset="0"/>
              </a:rPr>
              <a:t>and Block-level </a:t>
            </a:r>
            <a:r>
              <a:rPr lang="en-US" sz="2000" b="1" dirty="0" smtClean="0">
                <a:latin typeface="Times New Roman" pitchFamily="18" charset="0"/>
                <a:cs typeface="Times New Roman" pitchFamily="18" charset="0"/>
              </a:rPr>
              <a:t>Striping</a:t>
            </a:r>
            <a:endParaRPr lang="en-US" sz="2000" dirty="0" smtClean="0">
              <a:latin typeface="Times New Roman" pitchFamily="18" charset="0"/>
              <a:cs typeface="Times New Roman" pitchFamily="18" charset="0"/>
            </a:endParaRPr>
          </a:p>
          <a:p>
            <a:pPr algn="just">
              <a:buNone/>
            </a:pPr>
            <a:endParaRPr lang="en-US" sz="2000" dirty="0" smtClean="0">
              <a:latin typeface="Times New Roman" pitchFamily="18" charset="0"/>
              <a:cs typeface="Times New Roman" pitchFamily="18" charset="0"/>
            </a:endParaRPr>
          </a:p>
          <a:p>
            <a:pPr algn="just">
              <a:buFont typeface="Wingdings" pitchFamily="2" charset="2"/>
              <a:buChar char="q"/>
            </a:pPr>
            <a:r>
              <a:rPr lang="en-US" sz="2000" b="1" dirty="0" smtClean="0">
                <a:latin typeface="Times New Roman" pitchFamily="18" charset="0"/>
                <a:cs typeface="Times New Roman" pitchFamily="18" charset="0"/>
              </a:rPr>
              <a:t>Bit-level </a:t>
            </a:r>
            <a:r>
              <a:rPr lang="en-US" sz="2000" b="1" dirty="0" smtClean="0">
                <a:latin typeface="Times New Roman" pitchFamily="18" charset="0"/>
                <a:cs typeface="Times New Roman" pitchFamily="18" charset="0"/>
              </a:rPr>
              <a:t>Striping</a:t>
            </a:r>
            <a:endParaRPr lang="en-US" sz="2000" dirty="0" smtClean="0">
              <a:latin typeface="Times New Roman" pitchFamily="18" charset="0"/>
              <a:cs typeface="Times New Roman" pitchFamily="18" charset="0"/>
            </a:endParaRPr>
          </a:p>
          <a:p>
            <a:pPr lvl="1" algn="just"/>
            <a:r>
              <a:rPr lang="en-US" sz="2000" dirty="0" smtClean="0">
                <a:latin typeface="Times New Roman" pitchFamily="18" charset="0"/>
                <a:cs typeface="Times New Roman" pitchFamily="18" charset="0"/>
              </a:rPr>
              <a:t>Simplest form Data Striping.</a:t>
            </a:r>
          </a:p>
          <a:p>
            <a:pPr lvl="1" algn="just"/>
            <a:r>
              <a:rPr lang="en-US" sz="2000" dirty="0" smtClean="0">
                <a:latin typeface="Times New Roman" pitchFamily="18" charset="0"/>
                <a:cs typeface="Times New Roman" pitchFamily="18" charset="0"/>
              </a:rPr>
              <a:t>It consists of splitting the bits of each byte across multiple disks.</a:t>
            </a:r>
          </a:p>
          <a:p>
            <a:pPr lvl="1" algn="just"/>
            <a:r>
              <a:rPr lang="en-US" sz="2000" dirty="0" smtClean="0">
                <a:latin typeface="Times New Roman" pitchFamily="18" charset="0"/>
                <a:cs typeface="Times New Roman" pitchFamily="18" charset="0"/>
              </a:rPr>
              <a:t>For example, if we have an array of eight disks, we write bit </a:t>
            </a:r>
            <a:r>
              <a:rPr lang="en-US" sz="2000" i="1" dirty="0" err="1" smtClean="0">
                <a:latin typeface="Times New Roman" pitchFamily="18" charset="0"/>
                <a:cs typeface="Times New Roman" pitchFamily="18" charset="0"/>
              </a:rPr>
              <a:t>i</a:t>
            </a:r>
            <a:r>
              <a:rPr lang="en-US" sz="2000" i="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of each byte to disk </a:t>
            </a:r>
            <a:r>
              <a:rPr lang="en-US" sz="2000" i="1" dirty="0" err="1" smtClean="0">
                <a:latin typeface="Times New Roman" pitchFamily="18" charset="0"/>
                <a:cs typeface="Times New Roman" pitchFamily="18" charset="0"/>
              </a:rPr>
              <a:t>i</a:t>
            </a:r>
            <a:r>
              <a:rPr lang="en-US" sz="2000" dirty="0" smtClean="0">
                <a:latin typeface="Times New Roman" pitchFamily="18" charset="0"/>
                <a:cs typeface="Times New Roman" pitchFamily="18" charset="0"/>
              </a:rPr>
              <a:t>. The array of eight disks can be treated as a single disk with sectors that are eight times the normal size, and, more important, that has eight times the transfer rate. </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18</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Block-level </a:t>
            </a:r>
            <a:r>
              <a:rPr lang="en-US" sz="2000" b="1" dirty="0" smtClean="0">
                <a:latin typeface="Times New Roman" pitchFamily="18" charset="0"/>
                <a:cs typeface="Times New Roman" pitchFamily="18" charset="0"/>
              </a:rPr>
              <a:t>Striping </a:t>
            </a:r>
            <a:endParaRPr lang="en-US" sz="2000" dirty="0" smtClean="0">
              <a:latin typeface="Times New Roman" pitchFamily="18" charset="0"/>
              <a:cs typeface="Times New Roman" pitchFamily="18" charset="0"/>
            </a:endParaRPr>
          </a:p>
          <a:p>
            <a:pPr lvl="1" algn="just" fontAlgn="base"/>
            <a:r>
              <a:rPr lang="en-US" sz="2000" dirty="0" smtClean="0">
                <a:latin typeface="Times New Roman" pitchFamily="18" charset="0"/>
                <a:cs typeface="Times New Roman" pitchFamily="18" charset="0"/>
              </a:rPr>
              <a:t>It </a:t>
            </a:r>
            <a:r>
              <a:rPr lang="en-US" sz="2000" dirty="0" smtClean="0">
                <a:latin typeface="Times New Roman" pitchFamily="18" charset="0"/>
                <a:cs typeface="Times New Roman" pitchFamily="18" charset="0"/>
              </a:rPr>
              <a:t>stripes blocks across multiple disks. It treats the array of disks as a single large disk, and it gives blocks logical numbers; we assume the block numbers start from 0. With an array of </a:t>
            </a:r>
            <a:r>
              <a:rPr lang="en-US" sz="2000" i="1" dirty="0" smtClean="0">
                <a:latin typeface="Times New Roman" pitchFamily="18" charset="0"/>
                <a:cs typeface="Times New Roman" pitchFamily="18" charset="0"/>
              </a:rPr>
              <a:t>n </a:t>
            </a:r>
            <a:r>
              <a:rPr lang="en-US" sz="2000" dirty="0" smtClean="0">
                <a:latin typeface="Times New Roman" pitchFamily="18" charset="0"/>
                <a:cs typeface="Times New Roman" pitchFamily="18" charset="0"/>
              </a:rPr>
              <a:t>disks, block-level striping assigns logical block </a:t>
            </a:r>
            <a:r>
              <a:rPr lang="en-US" sz="2000" i="1" dirty="0" err="1" smtClean="0">
                <a:latin typeface="Times New Roman" pitchFamily="18" charset="0"/>
                <a:cs typeface="Times New Roman" pitchFamily="18" charset="0"/>
              </a:rPr>
              <a:t>i</a:t>
            </a:r>
            <a:r>
              <a:rPr lang="en-US" sz="2000" i="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of the disk array to disk (</a:t>
            </a:r>
            <a:r>
              <a:rPr lang="en-US" sz="2000" i="1" dirty="0" err="1" smtClean="0">
                <a:latin typeface="Times New Roman" pitchFamily="18" charset="0"/>
                <a:cs typeface="Times New Roman" pitchFamily="18" charset="0"/>
              </a:rPr>
              <a:t>i</a:t>
            </a:r>
            <a:r>
              <a:rPr lang="en-US" sz="2000" i="1"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mod </a:t>
            </a:r>
            <a:r>
              <a:rPr lang="en-US" sz="2000" i="1" dirty="0" smtClean="0">
                <a:latin typeface="Times New Roman" pitchFamily="18" charset="0"/>
                <a:cs typeface="Times New Roman" pitchFamily="18" charset="0"/>
              </a:rPr>
              <a:t>n</a:t>
            </a:r>
            <a:r>
              <a:rPr lang="en-US" sz="2000" dirty="0" smtClean="0">
                <a:latin typeface="Times New Roman" pitchFamily="18" charset="0"/>
                <a:cs typeface="Times New Roman" pitchFamily="18" charset="0"/>
              </a:rPr>
              <a:t>) + 1; it uses the </a:t>
            </a: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th</a:t>
            </a:r>
            <a:r>
              <a:rPr lang="en-US" sz="20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physical block of the disk to store logical block </a:t>
            </a:r>
            <a:r>
              <a:rPr lang="en-US" sz="2000" i="1" dirty="0" err="1" smtClean="0">
                <a:latin typeface="Times New Roman" pitchFamily="18" charset="0"/>
                <a:cs typeface="Times New Roman" pitchFamily="18" charset="0"/>
              </a:rPr>
              <a:t>i</a:t>
            </a:r>
            <a:r>
              <a:rPr lang="en-US" sz="2000" dirty="0" smtClean="0">
                <a:latin typeface="Times New Roman" pitchFamily="18" charset="0"/>
                <a:cs typeface="Times New Roman" pitchFamily="18" charset="0"/>
              </a:rPr>
              <a:t>. For example, with 8 disks, logical block 0 is stored in physical block 0 of disk 1, while logical block 11 is stored in physical block 1 of disk 4. </a:t>
            </a:r>
          </a:p>
          <a:p>
            <a:pPr lvl="1" algn="just" fontAlgn="base"/>
            <a:r>
              <a:rPr lang="en-US" sz="2000" dirty="0" smtClean="0">
                <a:latin typeface="Times New Roman" pitchFamily="18" charset="0"/>
                <a:cs typeface="Times New Roman" pitchFamily="18" charset="0"/>
              </a:rPr>
              <a:t>When reading a large file, block-level striping fetches </a:t>
            </a:r>
            <a:r>
              <a:rPr lang="en-US" sz="2000" i="1" dirty="0" smtClean="0">
                <a:latin typeface="Times New Roman" pitchFamily="18" charset="0"/>
                <a:cs typeface="Times New Roman" pitchFamily="18" charset="0"/>
              </a:rPr>
              <a:t>n </a:t>
            </a:r>
            <a:r>
              <a:rPr lang="en-US" sz="2000" dirty="0" smtClean="0">
                <a:latin typeface="Times New Roman" pitchFamily="18" charset="0"/>
                <a:cs typeface="Times New Roman" pitchFamily="18" charset="0"/>
              </a:rPr>
              <a:t>blocks at a time in parallel from the </a:t>
            </a:r>
            <a:r>
              <a:rPr lang="en-US" sz="2000" i="1" dirty="0" smtClean="0">
                <a:latin typeface="Times New Roman" pitchFamily="18" charset="0"/>
                <a:cs typeface="Times New Roman" pitchFamily="18" charset="0"/>
              </a:rPr>
              <a:t>n </a:t>
            </a:r>
            <a:r>
              <a:rPr lang="en-US" sz="2000" dirty="0" smtClean="0">
                <a:latin typeface="Times New Roman" pitchFamily="18" charset="0"/>
                <a:cs typeface="Times New Roman" pitchFamily="18" charset="0"/>
              </a:rPr>
              <a:t>disks, giving a high data transfer rate for large reads. </a:t>
            </a:r>
          </a:p>
          <a:p>
            <a:pPr lvl="1" algn="just"/>
            <a:r>
              <a:rPr lang="en-US" sz="2000" dirty="0" smtClean="0">
                <a:latin typeface="Times New Roman" pitchFamily="18" charset="0"/>
                <a:cs typeface="Times New Roman" pitchFamily="18" charset="0"/>
              </a:rPr>
              <a:t>Block level striping is the most commonly used form of data striping.</a:t>
            </a:r>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19</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4"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2049" name="Object 1"/>
          <p:cNvGraphicFramePr>
            <a:graphicFrameLocks noChangeAspect="1"/>
          </p:cNvGraphicFramePr>
          <p:nvPr/>
        </p:nvGraphicFramePr>
        <p:xfrm>
          <a:off x="2173777" y="3276600"/>
          <a:ext cx="493223" cy="304801"/>
        </p:xfrm>
        <a:graphic>
          <a:graphicData uri="http://schemas.openxmlformats.org/presentationml/2006/ole">
            <p:oleObj spid="_x0000_s2049" name="Equation" r:id="rId5" imgW="279158" imgH="177646" progId="Equation.3">
              <p:embed/>
            </p:oleObj>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RAID Technology </a:t>
            </a:r>
            <a:r>
              <a:rPr lang="en-US" sz="2000" b="1"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lvl="1" algn="just" fontAlgn="base"/>
            <a:r>
              <a:rPr lang="en-US" sz="2000" dirty="0" smtClean="0">
                <a:latin typeface="Times New Roman" pitchFamily="18" charset="0"/>
                <a:cs typeface="Times New Roman" pitchFamily="18" charset="0"/>
              </a:rPr>
              <a:t>There </a:t>
            </a:r>
            <a:r>
              <a:rPr lang="en-US" sz="2000" dirty="0" smtClean="0">
                <a:latin typeface="Times New Roman" pitchFamily="18" charset="0"/>
                <a:cs typeface="Times New Roman" pitchFamily="18" charset="0"/>
              </a:rPr>
              <a:t>are 7 levels of RAID schemes.</a:t>
            </a:r>
          </a:p>
          <a:p>
            <a:pPr lvl="2" algn="just" fontAlgn="base"/>
            <a:r>
              <a:rPr lang="en-US" sz="2000" dirty="0" smtClean="0">
                <a:latin typeface="Times New Roman" pitchFamily="18" charset="0"/>
                <a:cs typeface="Times New Roman" pitchFamily="18" charset="0"/>
              </a:rPr>
              <a:t>RAID-0 (Non-redundant Stripping</a:t>
            </a:r>
            <a:r>
              <a:rPr lang="en-US" sz="2000" dirty="0" smtClean="0">
                <a:latin typeface="Times New Roman" pitchFamily="18" charset="0"/>
                <a:cs typeface="Times New Roman" pitchFamily="18" charset="0"/>
              </a:rPr>
              <a:t>)</a:t>
            </a:r>
            <a:endParaRPr lang="en-US" sz="2000" dirty="0" smtClean="0">
              <a:latin typeface="Times New Roman" pitchFamily="18" charset="0"/>
              <a:cs typeface="Times New Roman" pitchFamily="18" charset="0"/>
            </a:endParaRPr>
          </a:p>
          <a:p>
            <a:pPr lvl="2" algn="just" fontAlgn="base"/>
            <a:r>
              <a:rPr lang="en-US" sz="2000" dirty="0" smtClean="0">
                <a:latin typeface="Times New Roman" pitchFamily="18" charset="0"/>
                <a:cs typeface="Times New Roman" pitchFamily="18" charset="0"/>
              </a:rPr>
              <a:t>RAID-1 (Mirroring</a:t>
            </a:r>
            <a:r>
              <a:rPr lang="en-US" sz="2000" dirty="0" smtClean="0">
                <a:latin typeface="Times New Roman" pitchFamily="18" charset="0"/>
                <a:cs typeface="Times New Roman" pitchFamily="18" charset="0"/>
              </a:rPr>
              <a:t>)</a:t>
            </a:r>
            <a:endParaRPr lang="en-US" sz="2000" dirty="0" smtClean="0">
              <a:latin typeface="Times New Roman" pitchFamily="18" charset="0"/>
              <a:cs typeface="Times New Roman" pitchFamily="18" charset="0"/>
            </a:endParaRPr>
          </a:p>
          <a:p>
            <a:pPr lvl="2" algn="just" fontAlgn="base"/>
            <a:r>
              <a:rPr lang="en-US" sz="2000" dirty="0" smtClean="0">
                <a:latin typeface="Times New Roman" pitchFamily="18" charset="0"/>
                <a:cs typeface="Times New Roman" pitchFamily="18" charset="0"/>
              </a:rPr>
              <a:t>RAID-2 (Bit-Level Stripping with Dedicated Parity)</a:t>
            </a:r>
          </a:p>
          <a:p>
            <a:pPr lvl="2" algn="just" fontAlgn="base"/>
            <a:r>
              <a:rPr lang="en-US" sz="2000" dirty="0" smtClean="0">
                <a:latin typeface="Times New Roman" pitchFamily="18" charset="0"/>
                <a:cs typeface="Times New Roman" pitchFamily="18" charset="0"/>
              </a:rPr>
              <a:t>RAID-3 (Byte-Level Stripping with Dedicated Parity)</a:t>
            </a:r>
          </a:p>
          <a:p>
            <a:pPr lvl="2" algn="just" fontAlgn="base"/>
            <a:r>
              <a:rPr lang="en-US" sz="2000" dirty="0" smtClean="0">
                <a:latin typeface="Times New Roman" pitchFamily="18" charset="0"/>
                <a:cs typeface="Times New Roman" pitchFamily="18" charset="0"/>
              </a:rPr>
              <a:t>RAID-4 (Block-Level Stripping with Dedicated Parity</a:t>
            </a:r>
            <a:r>
              <a:rPr lang="en-US" sz="2000" dirty="0" smtClean="0">
                <a:latin typeface="Times New Roman" pitchFamily="18" charset="0"/>
                <a:cs typeface="Times New Roman" pitchFamily="18" charset="0"/>
              </a:rPr>
              <a:t>)</a:t>
            </a:r>
            <a:endParaRPr lang="en-US" sz="2000" dirty="0" smtClean="0">
              <a:latin typeface="Times New Roman" pitchFamily="18" charset="0"/>
              <a:cs typeface="Times New Roman" pitchFamily="18" charset="0"/>
            </a:endParaRPr>
          </a:p>
          <a:p>
            <a:pPr lvl="2" algn="just" fontAlgn="base"/>
            <a:r>
              <a:rPr lang="en-US" sz="2000" dirty="0" smtClean="0">
                <a:latin typeface="Times New Roman" pitchFamily="18" charset="0"/>
                <a:cs typeface="Times New Roman" pitchFamily="18" charset="0"/>
              </a:rPr>
              <a:t>RAID-5 (Block-Level Stripping with Distributed Parity) </a:t>
            </a:r>
          </a:p>
          <a:p>
            <a:pPr lvl="2" algn="just" fontAlgn="base"/>
            <a:r>
              <a:rPr lang="en-US" sz="2000" dirty="0" smtClean="0">
                <a:latin typeface="Times New Roman" pitchFamily="18" charset="0"/>
                <a:cs typeface="Times New Roman" pitchFamily="18" charset="0"/>
              </a:rPr>
              <a:t>RAID-6 (Block-Level Stripping with two Parity Bits)</a:t>
            </a:r>
          </a:p>
          <a:p>
            <a:pPr lvl="1" algn="just" fontAlgn="base"/>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20</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Characteristics of RAID Technology </a:t>
            </a:r>
            <a:r>
              <a:rPr lang="en-US" sz="2000" b="1"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algn="just">
              <a:buNone/>
            </a:pPr>
            <a:endParaRPr lang="en-US" sz="2000" dirty="0" smtClean="0">
              <a:latin typeface="Times New Roman" pitchFamily="18" charset="0"/>
              <a:cs typeface="Times New Roman" pitchFamily="18" charset="0"/>
            </a:endParaRPr>
          </a:p>
          <a:p>
            <a:pPr lvl="1" algn="just"/>
            <a:r>
              <a:rPr lang="en-US" sz="2000" dirty="0" smtClean="0">
                <a:latin typeface="Times New Roman" pitchFamily="18" charset="0"/>
                <a:cs typeface="Times New Roman" pitchFamily="18" charset="0"/>
              </a:rPr>
              <a:t>It </a:t>
            </a:r>
            <a:r>
              <a:rPr lang="en-US" sz="2000" dirty="0" smtClean="0">
                <a:latin typeface="Times New Roman" pitchFamily="18" charset="0"/>
                <a:cs typeface="Times New Roman" pitchFamily="18" charset="0"/>
              </a:rPr>
              <a:t>contains a set of physical disk drives.</a:t>
            </a:r>
          </a:p>
          <a:p>
            <a:pPr lvl="1" algn="just"/>
            <a:r>
              <a:rPr lang="en-US" sz="2000" dirty="0" smtClean="0">
                <a:latin typeface="Times New Roman" pitchFamily="18" charset="0"/>
                <a:cs typeface="Times New Roman" pitchFamily="18" charset="0"/>
              </a:rPr>
              <a:t>In this technology, the operating system views these separate disks as a single logical disk.</a:t>
            </a:r>
          </a:p>
          <a:p>
            <a:pPr lvl="1" algn="just"/>
            <a:r>
              <a:rPr lang="en-US" sz="2000" dirty="0" smtClean="0">
                <a:latin typeface="Times New Roman" pitchFamily="18" charset="0"/>
                <a:cs typeface="Times New Roman" pitchFamily="18" charset="0"/>
              </a:rPr>
              <a:t>In this technology, data is distributed across the physical drives of the array.</a:t>
            </a:r>
          </a:p>
          <a:p>
            <a:pPr lvl="1" algn="just"/>
            <a:r>
              <a:rPr lang="en-US" sz="2000" dirty="0" smtClean="0">
                <a:latin typeface="Times New Roman" pitchFamily="18" charset="0"/>
                <a:cs typeface="Times New Roman" pitchFamily="18" charset="0"/>
              </a:rPr>
              <a:t>Redundancy disk capacity is used to store parity information.</a:t>
            </a:r>
          </a:p>
          <a:p>
            <a:pPr lvl="1" algn="just"/>
            <a:r>
              <a:rPr lang="en-US" sz="2000" dirty="0" smtClean="0">
                <a:latin typeface="Times New Roman" pitchFamily="18" charset="0"/>
                <a:cs typeface="Times New Roman" pitchFamily="18" charset="0"/>
              </a:rPr>
              <a:t>In case of disk failure, the parity information can be used to recover the data.</a:t>
            </a:r>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21</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RAID-0 (How does RAID-0 Work?) </a:t>
            </a:r>
            <a:r>
              <a:rPr lang="en-US" sz="2000" b="1" dirty="0" smtClean="0">
                <a:latin typeface="Times New Roman" pitchFamily="18" charset="0"/>
                <a:cs typeface="Times New Roman" pitchFamily="18" charset="0"/>
              </a:rPr>
              <a:t>   </a:t>
            </a:r>
            <a:endParaRPr lang="en-US" sz="2000" b="1" dirty="0" smtClean="0">
              <a:latin typeface="Times New Roman" pitchFamily="18" charset="0"/>
              <a:cs typeface="Times New Roman" pitchFamily="18" charset="0"/>
            </a:endParaRPr>
          </a:p>
          <a:p>
            <a:pPr lvl="1" algn="just" fontAlgn="base"/>
            <a:r>
              <a:rPr lang="en-US" sz="2000" dirty="0" smtClean="0">
                <a:latin typeface="Times New Roman" pitchFamily="18" charset="0"/>
                <a:cs typeface="Times New Roman" pitchFamily="18" charset="0"/>
              </a:rPr>
              <a:t>RAID-0 is also known as </a:t>
            </a:r>
            <a:r>
              <a:rPr lang="en-US" sz="2000" b="1" dirty="0" smtClean="0">
                <a:latin typeface="Times New Roman" pitchFamily="18" charset="0"/>
                <a:cs typeface="Times New Roman" pitchFamily="18" charset="0"/>
              </a:rPr>
              <a:t>disk stripping</a:t>
            </a:r>
            <a:r>
              <a:rPr lang="en-US" sz="2000" b="1" dirty="0" smtClean="0">
                <a:latin typeface="Times New Roman" pitchFamily="18" charset="0"/>
                <a:cs typeface="Times New Roman" pitchFamily="18" charset="0"/>
              </a:rPr>
              <a:t>.</a:t>
            </a:r>
          </a:p>
          <a:p>
            <a:pPr lvl="1" algn="just" fontAlgn="base"/>
            <a:r>
              <a:rPr lang="en-US" sz="2000" dirty="0" smtClean="0">
                <a:latin typeface="Times New Roman" pitchFamily="18" charset="0"/>
                <a:cs typeface="Times New Roman" pitchFamily="18" charset="0"/>
              </a:rPr>
              <a:t>Disk Stripping is the technique of </a:t>
            </a:r>
            <a:r>
              <a:rPr lang="en-US" sz="2000" b="1" dirty="0" smtClean="0">
                <a:latin typeface="Times New Roman" pitchFamily="18" charset="0"/>
                <a:cs typeface="Times New Roman" pitchFamily="18" charset="0"/>
              </a:rPr>
              <a:t>breaking data into multiple blocks</a:t>
            </a:r>
            <a:r>
              <a:rPr lang="en-US" sz="2000" dirty="0" smtClean="0">
                <a:latin typeface="Times New Roman" pitchFamily="18" charset="0"/>
                <a:cs typeface="Times New Roman" pitchFamily="18" charset="0"/>
              </a:rPr>
              <a:t> and storing those blocks on several storage disks. </a:t>
            </a:r>
          </a:p>
          <a:p>
            <a:pPr lvl="1" algn="just" fontAlgn="base"/>
            <a:r>
              <a:rPr lang="en-US" sz="2000" b="1" dirty="0" smtClean="0">
                <a:latin typeface="Times New Roman" pitchFamily="18" charset="0"/>
                <a:cs typeface="Times New Roman" pitchFamily="18" charset="0"/>
              </a:rPr>
              <a:t>A minimum of 2 disks</a:t>
            </a:r>
            <a:r>
              <a:rPr lang="en-US" sz="2000" dirty="0" smtClean="0">
                <a:latin typeface="Times New Roman" pitchFamily="18" charset="0"/>
                <a:cs typeface="Times New Roman" pitchFamily="18" charset="0"/>
              </a:rPr>
              <a:t> are used in RAID-0. </a:t>
            </a:r>
          </a:p>
          <a:p>
            <a:pPr lvl="1" algn="just" fontAlgn="base"/>
            <a:r>
              <a:rPr lang="en-US" sz="2000" b="1" dirty="0" smtClean="0">
                <a:latin typeface="Times New Roman" pitchFamily="18" charset="0"/>
                <a:cs typeface="Times New Roman" pitchFamily="18" charset="0"/>
              </a:rPr>
              <a:t>It does not provide data redundancy. </a:t>
            </a:r>
          </a:p>
          <a:p>
            <a:pPr lvl="1" algn="just"/>
            <a:r>
              <a:rPr lang="en-US" sz="2000" dirty="0" smtClean="0">
                <a:latin typeface="Times New Roman" pitchFamily="18" charset="0"/>
                <a:cs typeface="Times New Roman" pitchFamily="18" charset="0"/>
              </a:rPr>
              <a:t>It provides </a:t>
            </a:r>
            <a:r>
              <a:rPr lang="en-US" sz="2000" b="1" dirty="0" smtClean="0">
                <a:latin typeface="Times New Roman" pitchFamily="18" charset="0"/>
                <a:cs typeface="Times New Roman" pitchFamily="18" charset="0"/>
              </a:rPr>
              <a:t>improved performance</a:t>
            </a:r>
            <a:r>
              <a:rPr lang="en-US" sz="2000" dirty="0" smtClean="0">
                <a:latin typeface="Times New Roman" pitchFamily="18" charset="0"/>
                <a:cs typeface="Times New Roman" pitchFamily="18" charset="0"/>
              </a:rPr>
              <a:t> and additional storage </a:t>
            </a:r>
            <a:r>
              <a:rPr lang="en-US" sz="2000" b="1" dirty="0" smtClean="0">
                <a:latin typeface="Times New Roman" pitchFamily="18" charset="0"/>
                <a:cs typeface="Times New Roman" pitchFamily="18" charset="0"/>
              </a:rPr>
              <a:t>but no fault tolerance</a:t>
            </a:r>
            <a:r>
              <a:rPr lang="en-US" sz="2000" dirty="0" smtClean="0">
                <a:latin typeface="Times New Roman" pitchFamily="18" charset="0"/>
                <a:cs typeface="Times New Roman" pitchFamily="18" charset="0"/>
              </a:rPr>
              <a:t>. Any drive failure destroys the array, and the likelihood of failure increases with more drives in the array. </a:t>
            </a:r>
          </a:p>
          <a:p>
            <a:pPr lvl="1" algn="just"/>
            <a:r>
              <a:rPr lang="en-US" sz="2000" dirty="0" smtClean="0">
                <a:latin typeface="Times New Roman" pitchFamily="18" charset="0"/>
                <a:cs typeface="Times New Roman" pitchFamily="18" charset="0"/>
              </a:rPr>
              <a:t>Suppose we have data named D and we break it into multiple blocks of data namely D1, D2, D3, D4, D5, and D6, and store them into two different disks. Below is a diagram depicting this.</a:t>
            </a:r>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22</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RAID-0 (How does RAID-0 Work?) </a:t>
            </a:r>
            <a:r>
              <a:rPr lang="en-US" sz="2000" b="1" dirty="0" smtClean="0">
                <a:latin typeface="Times New Roman" pitchFamily="18" charset="0"/>
                <a:cs typeface="Times New Roman" pitchFamily="18" charset="0"/>
              </a:rPr>
              <a:t>   </a:t>
            </a:r>
            <a:endParaRPr lang="en-US" sz="2000" b="1" dirty="0" smtClean="0">
              <a:latin typeface="Times New Roman" pitchFamily="18" charset="0"/>
              <a:cs typeface="Times New Roman" pitchFamily="18" charset="0"/>
            </a:endParaRPr>
          </a:p>
          <a:p>
            <a:pPr lvl="1" algn="just" fontAlgn="base"/>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23</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1" name="Picture 10" descr="Lightbox"/>
          <p:cNvPicPr/>
          <p:nvPr/>
        </p:nvPicPr>
        <p:blipFill>
          <a:blip r:embed="rId4"/>
          <a:srcRect/>
          <a:stretch>
            <a:fillRect/>
          </a:stretch>
        </p:blipFill>
        <p:spPr bwMode="auto">
          <a:xfrm>
            <a:off x="685800" y="2133600"/>
            <a:ext cx="4419600" cy="3962400"/>
          </a:xfrm>
          <a:prstGeom prst="rect">
            <a:avLst/>
          </a:prstGeom>
          <a:noFill/>
          <a:ln w="9525">
            <a:noFill/>
            <a:miter lim="800000"/>
            <a:headEnd/>
            <a:tailEnd/>
          </a:ln>
        </p:spPr>
      </p:pic>
      <p:pic>
        <p:nvPicPr>
          <p:cNvPr id="12" name="Picture 11" descr="Lightbox"/>
          <p:cNvPicPr/>
          <p:nvPr/>
        </p:nvPicPr>
        <p:blipFill>
          <a:blip r:embed="rId5"/>
          <a:srcRect/>
          <a:stretch>
            <a:fillRect/>
          </a:stretch>
        </p:blipFill>
        <p:spPr bwMode="auto">
          <a:xfrm>
            <a:off x="5334000" y="2057401"/>
            <a:ext cx="3429000" cy="388619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RAID-0 (How does RAID-0 Work?) </a:t>
            </a:r>
            <a:r>
              <a:rPr lang="en-US" sz="2000" b="1" dirty="0" smtClean="0">
                <a:latin typeface="Times New Roman" pitchFamily="18" charset="0"/>
                <a:cs typeface="Times New Roman" pitchFamily="18" charset="0"/>
              </a:rPr>
              <a:t>   </a:t>
            </a:r>
            <a:endParaRPr lang="en-US" sz="2000" b="1" dirty="0" smtClean="0">
              <a:latin typeface="Times New Roman" pitchFamily="18" charset="0"/>
              <a:cs typeface="Times New Roman" pitchFamily="18" charset="0"/>
            </a:endParaRPr>
          </a:p>
          <a:p>
            <a:pPr lvl="1" algn="just" fontAlgn="base"/>
            <a:r>
              <a:rPr lang="en-US" sz="2000" dirty="0" smtClean="0">
                <a:latin typeface="Times New Roman" pitchFamily="18" charset="0"/>
                <a:cs typeface="Times New Roman" pitchFamily="18" charset="0"/>
              </a:rPr>
              <a:t>Another example for 4 disks</a:t>
            </a:r>
            <a:r>
              <a:rPr lang="en-US" sz="2000" dirty="0" smtClean="0">
                <a:latin typeface="Times New Roman" pitchFamily="18" charset="0"/>
                <a:cs typeface="Times New Roman" pitchFamily="18" charset="0"/>
              </a:rPr>
              <a:t>.</a:t>
            </a:r>
          </a:p>
          <a:p>
            <a:pPr lvl="1" algn="just" fontAlgn="base"/>
            <a:endParaRPr lang="en-US" sz="2000" dirty="0" smtClean="0">
              <a:latin typeface="Times New Roman" pitchFamily="18" charset="0"/>
              <a:cs typeface="Times New Roman" pitchFamily="18" charset="0"/>
            </a:endParaRPr>
          </a:p>
          <a:p>
            <a:pPr lvl="1" algn="just" fontAlgn="base"/>
            <a:endParaRPr lang="en-US" sz="2000" dirty="0" smtClean="0">
              <a:latin typeface="Times New Roman" pitchFamily="18" charset="0"/>
              <a:cs typeface="Times New Roman" pitchFamily="18" charset="0"/>
            </a:endParaRPr>
          </a:p>
          <a:p>
            <a:pPr lvl="1" algn="just" fontAlgn="base"/>
            <a:endParaRPr lang="en-US" sz="2000" dirty="0" smtClean="0">
              <a:latin typeface="Times New Roman" pitchFamily="18" charset="0"/>
              <a:cs typeface="Times New Roman" pitchFamily="18" charset="0"/>
            </a:endParaRPr>
          </a:p>
          <a:p>
            <a:pPr lvl="1" algn="just" fontAlgn="base"/>
            <a:endParaRPr lang="en-US" sz="2000" dirty="0" smtClean="0">
              <a:latin typeface="Times New Roman" pitchFamily="18" charset="0"/>
              <a:cs typeface="Times New Roman" pitchFamily="18" charset="0"/>
            </a:endParaRPr>
          </a:p>
          <a:p>
            <a:pPr lvl="1" algn="just" fontAlgn="base"/>
            <a:endParaRPr lang="en-US" sz="2000" dirty="0" smtClean="0">
              <a:latin typeface="Times New Roman" pitchFamily="18" charset="0"/>
              <a:cs typeface="Times New Roman" pitchFamily="18" charset="0"/>
            </a:endParaRPr>
          </a:p>
          <a:p>
            <a:pPr lvl="1" algn="just" fontAlgn="base"/>
            <a:endParaRPr lang="en-US" sz="2000" dirty="0" smtClean="0">
              <a:latin typeface="Times New Roman" pitchFamily="18" charset="0"/>
              <a:cs typeface="Times New Roman" pitchFamily="18" charset="0"/>
            </a:endParaRPr>
          </a:p>
          <a:p>
            <a:pPr lvl="1" algn="just" fontAlgn="base"/>
            <a:endParaRPr lang="en-US" sz="2000" dirty="0" smtClean="0">
              <a:latin typeface="Times New Roman" pitchFamily="18" charset="0"/>
              <a:cs typeface="Times New Roman" pitchFamily="18" charset="0"/>
            </a:endParaRPr>
          </a:p>
          <a:p>
            <a:pPr lvl="1" algn="just" fontAlgn="base"/>
            <a:endParaRPr lang="en-US" sz="2000" dirty="0" smtClean="0">
              <a:latin typeface="Times New Roman" pitchFamily="18" charset="0"/>
              <a:cs typeface="Times New Roman" pitchFamily="18" charset="0"/>
            </a:endParaRPr>
          </a:p>
          <a:p>
            <a:pPr lvl="1" algn="just" fontAlgn="base"/>
            <a:r>
              <a:rPr lang="en-US" sz="2000" dirty="0" smtClean="0">
                <a:latin typeface="Times New Roman" pitchFamily="18" charset="0"/>
                <a:cs typeface="Times New Roman" pitchFamily="18" charset="0"/>
              </a:rPr>
              <a:t>In the figure, blocks “0, 1, 2, 3” form a stripe. </a:t>
            </a:r>
          </a:p>
          <a:p>
            <a:pPr lvl="1" algn="just"/>
            <a:r>
              <a:rPr lang="en-US" sz="2000" dirty="0" smtClean="0">
                <a:latin typeface="Times New Roman" pitchFamily="18" charset="0"/>
                <a:cs typeface="Times New Roman" pitchFamily="18" charset="0"/>
              </a:rPr>
              <a:t>There is no duplication of data. Hence, a block once lost cannot be recovered.</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24</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3" name="Picture 12" descr="Lightbox"/>
          <p:cNvPicPr/>
          <p:nvPr/>
        </p:nvPicPr>
        <p:blipFill>
          <a:blip r:embed="rId4"/>
          <a:srcRect/>
          <a:stretch>
            <a:fillRect/>
          </a:stretch>
        </p:blipFill>
        <p:spPr bwMode="auto">
          <a:xfrm>
            <a:off x="2362200" y="2514600"/>
            <a:ext cx="3886200" cy="2590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Advantages of RAID-0 </a:t>
            </a:r>
            <a:r>
              <a:rPr lang="en-US" sz="2000" b="1"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lvl="1" algn="just" fontAlgn="base"/>
            <a:r>
              <a:rPr lang="en-US" sz="2000" dirty="0" smtClean="0">
                <a:latin typeface="Times New Roman" pitchFamily="18" charset="0"/>
                <a:cs typeface="Times New Roman" pitchFamily="18" charset="0"/>
              </a:rPr>
              <a:t>RAID-0 </a:t>
            </a:r>
            <a:r>
              <a:rPr lang="en-US" sz="2000" dirty="0" smtClean="0">
                <a:latin typeface="Times New Roman" pitchFamily="18" charset="0"/>
                <a:cs typeface="Times New Roman" pitchFamily="18" charset="0"/>
              </a:rPr>
              <a:t>provides </a:t>
            </a:r>
            <a:r>
              <a:rPr lang="en-US" sz="2000" b="1" dirty="0" smtClean="0">
                <a:latin typeface="Times New Roman" pitchFamily="18" charset="0"/>
                <a:cs typeface="Times New Roman" pitchFamily="18" charset="0"/>
              </a:rPr>
              <a:t>high performance</a:t>
            </a:r>
            <a:r>
              <a:rPr lang="en-US" sz="2000" dirty="0" smtClean="0">
                <a:latin typeface="Times New Roman" pitchFamily="18" charset="0"/>
                <a:cs typeface="Times New Roman" pitchFamily="18" charset="0"/>
              </a:rPr>
              <a:t>. The disks are independent and therefore we can read and write data in different disks in parallel. </a:t>
            </a:r>
          </a:p>
          <a:p>
            <a:pPr lvl="1" algn="just" fontAlgn="base"/>
            <a:r>
              <a:rPr lang="en-US" sz="2000" dirty="0" smtClean="0">
                <a:latin typeface="Times New Roman" pitchFamily="18" charset="0"/>
                <a:cs typeface="Times New Roman" pitchFamily="18" charset="0"/>
              </a:rPr>
              <a:t>The </a:t>
            </a:r>
            <a:r>
              <a:rPr lang="en-US" sz="2000" b="1" dirty="0" smtClean="0">
                <a:latin typeface="Times New Roman" pitchFamily="18" charset="0"/>
                <a:cs typeface="Times New Roman" pitchFamily="18" charset="0"/>
              </a:rPr>
              <a:t>cost</a:t>
            </a:r>
            <a:r>
              <a:rPr lang="en-US" sz="2000" dirty="0" smtClean="0">
                <a:latin typeface="Times New Roman" pitchFamily="18" charset="0"/>
                <a:cs typeface="Times New Roman" pitchFamily="18" charset="0"/>
              </a:rPr>
              <a:t> incurred in RAID-0 is </a:t>
            </a:r>
            <a:r>
              <a:rPr lang="en-US" sz="2000" b="1" dirty="0" smtClean="0">
                <a:latin typeface="Times New Roman" pitchFamily="18" charset="0"/>
                <a:cs typeface="Times New Roman" pitchFamily="18" charset="0"/>
              </a:rPr>
              <a:t>low</a:t>
            </a:r>
            <a:r>
              <a:rPr lang="en-US" sz="2000" dirty="0" smtClean="0">
                <a:latin typeface="Times New Roman" pitchFamily="18" charset="0"/>
                <a:cs typeface="Times New Roman" pitchFamily="18" charset="0"/>
              </a:rPr>
              <a:t>.</a:t>
            </a:r>
          </a:p>
          <a:p>
            <a:pPr lvl="1" algn="just" fontAlgn="base"/>
            <a:r>
              <a:rPr lang="en-US" sz="2000" b="1" dirty="0" smtClean="0">
                <a:latin typeface="Times New Roman" pitchFamily="18" charset="0"/>
                <a:cs typeface="Times New Roman" pitchFamily="18" charset="0"/>
              </a:rPr>
              <a:t>The entire capacity of the disk is used for storing data</a:t>
            </a:r>
            <a:r>
              <a:rPr lang="en-US" sz="2000" dirty="0" smtClean="0">
                <a:latin typeface="Times New Roman" pitchFamily="18" charset="0"/>
                <a:cs typeface="Times New Roman" pitchFamily="18" charset="0"/>
              </a:rPr>
              <a:t> in RAID-0, since there is no duplication of data. </a:t>
            </a:r>
          </a:p>
          <a:p>
            <a:pPr lvl="1" algn="just" fontAlgn="base"/>
            <a:r>
              <a:rPr lang="en-US" sz="2000" dirty="0" smtClean="0">
                <a:latin typeface="Times New Roman" pitchFamily="18" charset="0"/>
                <a:cs typeface="Times New Roman" pitchFamily="18" charset="0"/>
              </a:rPr>
              <a:t>The technology is </a:t>
            </a:r>
            <a:r>
              <a:rPr lang="en-US" sz="2000" b="1" dirty="0" smtClean="0">
                <a:latin typeface="Times New Roman" pitchFamily="18" charset="0"/>
                <a:cs typeface="Times New Roman" pitchFamily="18" charset="0"/>
              </a:rPr>
              <a:t>simple and easy to implement.</a:t>
            </a:r>
          </a:p>
          <a:p>
            <a:pPr algn="just" fontAlgn="base"/>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25</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Disadvantages of RAID-0 </a:t>
            </a:r>
            <a:r>
              <a:rPr lang="en-US" sz="2000" b="1"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lvl="1" algn="just" fontAlgn="base"/>
            <a:endParaRPr lang="en-US" sz="2000" dirty="0" smtClean="0">
              <a:latin typeface="Times New Roman" pitchFamily="18" charset="0"/>
              <a:cs typeface="Times New Roman" pitchFamily="18" charset="0"/>
            </a:endParaRPr>
          </a:p>
          <a:p>
            <a:pPr lvl="1" algn="just" fontAlgn="base"/>
            <a:r>
              <a:rPr lang="en-US" sz="2000" b="1" dirty="0" smtClean="0">
                <a:latin typeface="Times New Roman" pitchFamily="18" charset="0"/>
                <a:cs typeface="Times New Roman" pitchFamily="18" charset="0"/>
              </a:rPr>
              <a:t>It does not provide any fault tolerance</a:t>
            </a:r>
            <a:r>
              <a:rPr lang="en-US" sz="2000" dirty="0" smtClean="0">
                <a:latin typeface="Times New Roman" pitchFamily="18" charset="0"/>
                <a:cs typeface="Times New Roman" pitchFamily="18" charset="0"/>
              </a:rPr>
              <a:t> as there is no duplication of data. Hence, a block once lost cannot be recovered. </a:t>
            </a:r>
          </a:p>
          <a:p>
            <a:pPr lvl="1" algn="just" fontAlgn="base"/>
            <a:r>
              <a:rPr lang="en-US" sz="2000" b="1" dirty="0" smtClean="0">
                <a:latin typeface="Times New Roman" pitchFamily="18" charset="0"/>
                <a:cs typeface="Times New Roman" pitchFamily="18" charset="0"/>
              </a:rPr>
              <a:t>A single drive loss can result in the complete failure of the system.</a:t>
            </a:r>
          </a:p>
          <a:p>
            <a:pPr lvl="1" algn="just" fontAlgn="base"/>
            <a:r>
              <a:rPr lang="en-US" sz="2000" dirty="0" smtClean="0">
                <a:latin typeface="Times New Roman" pitchFamily="18" charset="0"/>
                <a:cs typeface="Times New Roman" pitchFamily="18" charset="0"/>
              </a:rPr>
              <a:t>It’s not a good choice for a critical system.</a:t>
            </a:r>
          </a:p>
          <a:p>
            <a:pPr lvl="1" algn="just" fontAlgn="base"/>
            <a:r>
              <a:rPr lang="en-US" sz="2000" dirty="0" smtClean="0">
                <a:latin typeface="Times New Roman" pitchFamily="18" charset="0"/>
                <a:cs typeface="Times New Roman" pitchFamily="18" charset="0"/>
              </a:rPr>
              <a:t>Therefore, RAID-0 can be mostly used only in cases where maximum performance is required by the applications.</a:t>
            </a:r>
          </a:p>
          <a:p>
            <a:pPr lvl="1" algn="just"/>
            <a:r>
              <a:rPr lang="en-US" sz="2000" dirty="0" smtClean="0">
                <a:latin typeface="Times New Roman" pitchFamily="18" charset="0"/>
                <a:cs typeface="Times New Roman" pitchFamily="18" charset="0"/>
              </a:rPr>
              <a:t>RAID-0 is frequently used for video editing and live broadcasting because of its speed and performance</a:t>
            </a:r>
            <a:r>
              <a:rPr lang="en-US" sz="2000" dirty="0" smtClean="0">
                <a:latin typeface="Times New Roman" pitchFamily="18" charset="0"/>
                <a:cs typeface="Times New Roman" pitchFamily="18" charset="0"/>
              </a:rPr>
              <a:t>.</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26</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RAID-1</a:t>
            </a:r>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(How does RAID-1 Work?) </a:t>
            </a:r>
            <a:r>
              <a:rPr lang="en-US" sz="2000" b="1"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lvl="1" algn="just"/>
            <a:r>
              <a:rPr lang="en-US" sz="2000" dirty="0" smtClean="0">
                <a:latin typeface="Times New Roman" pitchFamily="18" charset="0"/>
                <a:cs typeface="Times New Roman" pitchFamily="18" charset="0"/>
              </a:rPr>
              <a:t>This level is called mirroring of data as it copies the data from drive 1 to drive 2 (mirroring level 2).</a:t>
            </a:r>
          </a:p>
          <a:p>
            <a:pPr lvl="1" algn="just"/>
            <a:r>
              <a:rPr lang="en-US" sz="2000" dirty="0" smtClean="0">
                <a:latin typeface="Times New Roman" pitchFamily="18" charset="0"/>
                <a:cs typeface="Times New Roman" pitchFamily="18" charset="0"/>
              </a:rPr>
              <a:t>It provides 100% redundancy. If one of the drives fails, the data is still available in the other drives.</a:t>
            </a:r>
          </a:p>
          <a:p>
            <a:pPr lvl="1" algn="just"/>
            <a:r>
              <a:rPr lang="en-US" sz="2000" dirty="0" smtClean="0">
                <a:latin typeface="Times New Roman" pitchFamily="18" charset="0"/>
                <a:cs typeface="Times New Roman" pitchFamily="18" charset="0"/>
              </a:rPr>
              <a:t>Example:</a:t>
            </a:r>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27</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RAID-1</a:t>
            </a:r>
            <a:r>
              <a:rPr lang="en-US" sz="2000" dirty="0" smtClean="0">
                <a:latin typeface="Times New Roman" pitchFamily="18" charset="0"/>
                <a:cs typeface="Times New Roman" pitchFamily="18" charset="0"/>
              </a:rPr>
              <a:t> </a:t>
            </a:r>
            <a:r>
              <a:rPr lang="en-US" sz="2000" b="1" dirty="0" smtClean="0">
                <a:latin typeface="Times New Roman" pitchFamily="18" charset="0"/>
                <a:cs typeface="Times New Roman" pitchFamily="18" charset="0"/>
              </a:rPr>
              <a:t>(How does RAID-1 Work?) </a:t>
            </a:r>
            <a:r>
              <a:rPr lang="en-US" sz="2000" b="1"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a:p>
            <a:pPr lvl="1" algn="just"/>
            <a:r>
              <a:rPr lang="en-US" sz="2000" dirty="0" smtClean="0">
                <a:latin typeface="Times New Roman" pitchFamily="18" charset="0"/>
                <a:cs typeface="Times New Roman" pitchFamily="18" charset="0"/>
              </a:rPr>
              <a:t>Only half space of the drive is used to store the data. The other half of drive is just a mirror to the already stored data.</a:t>
            </a:r>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28</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1" name="Picture 10" descr="Lightbox"/>
          <p:cNvPicPr/>
          <p:nvPr/>
        </p:nvPicPr>
        <p:blipFill>
          <a:blip r:embed="rId4"/>
          <a:srcRect/>
          <a:stretch>
            <a:fillRect/>
          </a:stretch>
        </p:blipFill>
        <p:spPr bwMode="auto">
          <a:xfrm>
            <a:off x="5486400" y="1600200"/>
            <a:ext cx="3200400" cy="2590800"/>
          </a:xfrm>
          <a:prstGeom prst="rect">
            <a:avLst/>
          </a:prstGeom>
          <a:noFill/>
          <a:ln w="9525">
            <a:noFill/>
            <a:miter lim="800000"/>
            <a:headEnd/>
            <a:tailEnd/>
          </a:ln>
        </p:spPr>
      </p:pic>
      <p:pic>
        <p:nvPicPr>
          <p:cNvPr id="12" name="Picture 11" descr="Lightbox"/>
          <p:cNvPicPr/>
          <p:nvPr/>
        </p:nvPicPr>
        <p:blipFill>
          <a:blip r:embed="rId5"/>
          <a:srcRect/>
          <a:stretch>
            <a:fillRect/>
          </a:stretch>
        </p:blipFill>
        <p:spPr bwMode="auto">
          <a:xfrm>
            <a:off x="1143000" y="2057400"/>
            <a:ext cx="3429000" cy="1940170"/>
          </a:xfrm>
          <a:prstGeom prst="rect">
            <a:avLst/>
          </a:prstGeom>
          <a:noFill/>
          <a:ln w="9525">
            <a:noFill/>
            <a:miter lim="800000"/>
            <a:headEnd/>
            <a:tailEnd/>
          </a:ln>
        </p:spPr>
      </p:pic>
      <p:pic>
        <p:nvPicPr>
          <p:cNvPr id="13" name="Picture 12" descr="Lightbox"/>
          <p:cNvPicPr/>
          <p:nvPr/>
        </p:nvPicPr>
        <p:blipFill>
          <a:blip r:embed="rId6"/>
          <a:srcRect/>
          <a:stretch>
            <a:fillRect/>
          </a:stretch>
        </p:blipFill>
        <p:spPr bwMode="auto">
          <a:xfrm>
            <a:off x="2667000" y="4267200"/>
            <a:ext cx="3581400" cy="1219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Advantages of RAID-1 </a:t>
            </a:r>
            <a:r>
              <a:rPr lang="en-US" sz="2000" b="1"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a:p>
            <a:pPr lvl="1" algn="just"/>
            <a:r>
              <a:rPr lang="en-US" sz="2000" dirty="0" smtClean="0">
                <a:latin typeface="Times New Roman" pitchFamily="18" charset="0"/>
                <a:cs typeface="Times New Roman" pitchFamily="18" charset="0"/>
              </a:rPr>
              <a:t>The </a:t>
            </a:r>
            <a:r>
              <a:rPr lang="en-US" sz="2000" dirty="0" smtClean="0">
                <a:latin typeface="Times New Roman" pitchFamily="18" charset="0"/>
                <a:cs typeface="Times New Roman" pitchFamily="18" charset="0"/>
              </a:rPr>
              <a:t>main advantage is fault tolerance. If one disk fails, then the other automatically takes over.</a:t>
            </a:r>
          </a:p>
          <a:p>
            <a:pPr lvl="1" algn="just"/>
            <a:r>
              <a:rPr lang="en-US" sz="2000" dirty="0" smtClean="0">
                <a:latin typeface="Times New Roman" pitchFamily="18" charset="0"/>
                <a:cs typeface="Times New Roman" pitchFamily="18" charset="0"/>
              </a:rPr>
              <a:t>Provides Full data backups.</a:t>
            </a:r>
          </a:p>
          <a:p>
            <a:pPr lvl="1" algn="just"/>
            <a:r>
              <a:rPr lang="en-US" sz="2000" dirty="0" smtClean="0">
                <a:latin typeface="Times New Roman" pitchFamily="18" charset="0"/>
                <a:cs typeface="Times New Roman" pitchFamily="18" charset="0"/>
              </a:rPr>
              <a:t>It’s easy to recover data from the mirrored drive.</a:t>
            </a:r>
          </a:p>
          <a:p>
            <a:pPr lvl="1" algn="just"/>
            <a:r>
              <a:rPr lang="en-US" sz="2000" dirty="0" smtClean="0">
                <a:latin typeface="Times New Roman" pitchFamily="18" charset="0"/>
                <a:cs typeface="Times New Roman" pitchFamily="18" charset="0"/>
              </a:rPr>
              <a:t>In this level, the array will function even if any one of the drives fails.</a:t>
            </a:r>
          </a:p>
          <a:p>
            <a:pPr lvl="1" algn="just" fontAlgn="base"/>
            <a:r>
              <a:rPr lang="en-US" sz="2000" dirty="0" smtClean="0">
                <a:latin typeface="Times New Roman" pitchFamily="18" charset="0"/>
                <a:cs typeface="Times New Roman" pitchFamily="18" charset="0"/>
              </a:rPr>
              <a:t>Less complicated to configure and administer as compared to other RAID levels.</a:t>
            </a:r>
          </a:p>
          <a:p>
            <a:pPr algn="just">
              <a:buNone/>
            </a:pPr>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29</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Disadvantages of RAID-1 </a:t>
            </a:r>
            <a:r>
              <a:rPr lang="en-US" sz="2000" b="1"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lvl="1" algn="just"/>
            <a:r>
              <a:rPr lang="en-US" sz="2000" dirty="0" smtClean="0">
                <a:latin typeface="Times New Roman" pitchFamily="18" charset="0"/>
                <a:cs typeface="Times New Roman" pitchFamily="18" charset="0"/>
              </a:rPr>
              <a:t>It </a:t>
            </a:r>
            <a:r>
              <a:rPr lang="en-US" sz="2000" dirty="0" smtClean="0">
                <a:latin typeface="Times New Roman" pitchFamily="18" charset="0"/>
                <a:cs typeface="Times New Roman" pitchFamily="18" charset="0"/>
              </a:rPr>
              <a:t>is highly expensive.</a:t>
            </a:r>
          </a:p>
          <a:p>
            <a:pPr lvl="1" algn="just"/>
            <a:r>
              <a:rPr lang="en-US" sz="2000" dirty="0" smtClean="0">
                <a:latin typeface="Times New Roman" pitchFamily="18" charset="0"/>
                <a:cs typeface="Times New Roman" pitchFamily="18" charset="0"/>
              </a:rPr>
              <a:t>Storage capacity is less. Because in this level, one extra drive is required per drive for mirroring.</a:t>
            </a:r>
          </a:p>
          <a:p>
            <a:pPr lvl="1" algn="just"/>
            <a:r>
              <a:rPr lang="en-US" sz="2000" dirty="0" smtClean="0">
                <a:latin typeface="Times New Roman" pitchFamily="18" charset="0"/>
                <a:cs typeface="Times New Roman" pitchFamily="18" charset="0"/>
              </a:rPr>
              <a:t>It requires at least two </a:t>
            </a:r>
            <a:r>
              <a:rPr lang="en-US" sz="2000" dirty="0" smtClean="0">
                <a:latin typeface="Times New Roman" pitchFamily="18" charset="0"/>
                <a:cs typeface="Times New Roman" pitchFamily="18" charset="0"/>
              </a:rPr>
              <a:t>drives.</a:t>
            </a:r>
          </a:p>
          <a:p>
            <a:pPr algn="just">
              <a:buNone/>
            </a:pPr>
            <a:endParaRPr lang="en-US" sz="2000" b="1" dirty="0" smtClean="0">
              <a:latin typeface="Times New Roman" pitchFamily="18" charset="0"/>
              <a:cs typeface="Times New Roman" pitchFamily="18" charset="0"/>
            </a:endParaRPr>
          </a:p>
          <a:p>
            <a:pPr algn="just">
              <a:buFont typeface="Wingdings" pitchFamily="2" charset="2"/>
              <a:buChar char="q"/>
            </a:pPr>
            <a:r>
              <a:rPr lang="en-US" sz="2000" b="1" dirty="0" smtClean="0">
                <a:latin typeface="Times New Roman" pitchFamily="18" charset="0"/>
                <a:cs typeface="Times New Roman" pitchFamily="18" charset="0"/>
              </a:rPr>
              <a:t>Examples</a:t>
            </a:r>
          </a:p>
          <a:p>
            <a:pPr lvl="1" algn="just" fontAlgn="base"/>
            <a:r>
              <a:rPr lang="en-US" sz="1800" dirty="0" smtClean="0">
                <a:latin typeface="Times New Roman" pitchFamily="18" charset="0"/>
                <a:cs typeface="Times New Roman" pitchFamily="18" charset="0"/>
              </a:rPr>
              <a:t>A </a:t>
            </a:r>
            <a:r>
              <a:rPr lang="en-US" sz="1800" dirty="0" smtClean="0">
                <a:latin typeface="Times New Roman" pitchFamily="18" charset="0"/>
                <a:cs typeface="Times New Roman" pitchFamily="18" charset="0"/>
              </a:rPr>
              <a:t>server that has duplicated drives in order to ensure availability of the data in case that the drives fail.</a:t>
            </a:r>
          </a:p>
          <a:p>
            <a:pPr lvl="1" algn="just" fontAlgn="base"/>
            <a:r>
              <a:rPr lang="en-US" sz="1800" dirty="0" smtClean="0">
                <a:latin typeface="Times New Roman" pitchFamily="18" charset="0"/>
                <a:cs typeface="Times New Roman" pitchFamily="18" charset="0"/>
              </a:rPr>
              <a:t>A home office computer with two SSDs in a mirrored configuration for documents.</a:t>
            </a:r>
          </a:p>
          <a:p>
            <a:pPr lvl="1" algn="just" fontAlgn="base"/>
            <a:r>
              <a:rPr lang="en-US" sz="1800" dirty="0" smtClean="0">
                <a:latin typeface="Times New Roman" pitchFamily="18" charset="0"/>
                <a:cs typeface="Times New Roman" pitchFamily="18" charset="0"/>
              </a:rPr>
              <a:t>An application that requires high availability and maximum data consistency.</a:t>
            </a:r>
          </a:p>
          <a:p>
            <a:pPr lvl="1" algn="just" fontAlgn="base"/>
            <a:r>
              <a:rPr lang="en-US" sz="1800" dirty="0" smtClean="0">
                <a:latin typeface="Times New Roman" pitchFamily="18" charset="0"/>
                <a:cs typeface="Times New Roman" pitchFamily="18" charset="0"/>
              </a:rPr>
              <a:t>A data backup system that provides near-real-time duplicates of the essential data in at least two drives.</a:t>
            </a:r>
          </a:p>
          <a:p>
            <a:pPr algn="just"/>
            <a:r>
              <a:rPr lang="en-US" sz="2000" dirty="0" smtClean="0">
                <a:latin typeface="Times New Roman" pitchFamily="18" charset="0"/>
                <a:cs typeface="Times New Roman" pitchFamily="18" charset="0"/>
              </a:rPr>
              <a:t> </a:t>
            </a:r>
          </a:p>
          <a:p>
            <a:pPr algn="just"/>
            <a:r>
              <a:rPr lang="en-US" sz="2000" dirty="0" smtClean="0">
                <a:latin typeface="Times New Roman" pitchFamily="18" charset="0"/>
                <a:cs typeface="Times New Roman" pitchFamily="18" charset="0"/>
              </a:rPr>
              <a:t> </a:t>
            </a:r>
          </a:p>
          <a:p>
            <a:pPr algn="just" fontAlgn="base"/>
            <a:r>
              <a:rPr lang="en-US" sz="2000" b="1" dirty="0" smtClean="0">
                <a:latin typeface="Times New Roman" pitchFamily="18" charset="0"/>
                <a:cs typeface="Times New Roman" pitchFamily="18" charset="0"/>
              </a:rPr>
              <a:t>Difference between RAID-0 and RAID-1</a:t>
            </a:r>
            <a:endParaRPr lang="en-US" sz="2000" dirty="0" smtClean="0">
              <a:latin typeface="Times New Roman" pitchFamily="18" charset="0"/>
              <a:cs typeface="Times New Roman" pitchFamily="18" charset="0"/>
            </a:endParaRPr>
          </a:p>
          <a:p>
            <a:pPr algn="just"/>
            <a:r>
              <a:rPr lang="en-US" sz="2000" dirty="0" smtClean="0">
                <a:latin typeface="Times New Roman" pitchFamily="18" charset="0"/>
                <a:cs typeface="Times New Roman" pitchFamily="18" charset="0"/>
              </a:rPr>
              <a:t> </a:t>
            </a:r>
          </a:p>
          <a:p>
            <a:pPr lvl="0" algn="just"/>
            <a:r>
              <a:rPr lang="en-US" sz="2000" dirty="0" smtClean="0">
                <a:latin typeface="Times New Roman" pitchFamily="18" charset="0"/>
                <a:cs typeface="Times New Roman" pitchFamily="18" charset="0"/>
              </a:rPr>
              <a:t>In RAID-0 technology, Disk stripping is used. While in RAID-1 technology, Disk mirroring is used.</a:t>
            </a:r>
          </a:p>
          <a:p>
            <a:pPr lvl="0" algn="just"/>
            <a:r>
              <a:rPr lang="en-US" sz="2000" dirty="0" smtClean="0">
                <a:latin typeface="Times New Roman" pitchFamily="18" charset="0"/>
                <a:cs typeface="Times New Roman" pitchFamily="18" charset="0"/>
              </a:rPr>
              <a:t>The cost of RAID-0 technology is low. While RAID-1 is costly or expensive.</a:t>
            </a:r>
          </a:p>
          <a:p>
            <a:pPr lvl="0" algn="just"/>
            <a:r>
              <a:rPr lang="en-US" sz="2000" dirty="0" smtClean="0">
                <a:latin typeface="Times New Roman" pitchFamily="18" charset="0"/>
                <a:cs typeface="Times New Roman" pitchFamily="18" charset="0"/>
              </a:rPr>
              <a:t>In RAID-0, there is no write penalty. While in RAID-1, there is write penalty.</a:t>
            </a:r>
          </a:p>
          <a:p>
            <a:pPr lvl="0" algn="just"/>
            <a:r>
              <a:rPr lang="en-US" sz="2000" dirty="0" smtClean="0">
                <a:latin typeface="Times New Roman" pitchFamily="18" charset="0"/>
                <a:cs typeface="Times New Roman" pitchFamily="18" charset="0"/>
              </a:rPr>
              <a:t>The relative storage efficiency of RAID-0 is 100%. While the relative storage efficiency of RAID-1 is 50%.</a:t>
            </a:r>
          </a:p>
          <a:p>
            <a:pPr lvl="0" algn="just"/>
            <a:r>
              <a:rPr lang="en-US" sz="2000" dirty="0" smtClean="0">
                <a:latin typeface="Times New Roman" pitchFamily="18" charset="0"/>
                <a:cs typeface="Times New Roman" pitchFamily="18" charset="0"/>
              </a:rPr>
              <a:t>The write performance of RAID-0 is better than RAID-1.</a:t>
            </a:r>
          </a:p>
          <a:p>
            <a:pPr lvl="0" algn="just"/>
            <a:r>
              <a:rPr lang="en-US" sz="2000" dirty="0" smtClean="0">
                <a:latin typeface="Times New Roman" pitchFamily="18" charset="0"/>
                <a:cs typeface="Times New Roman" pitchFamily="18" charset="0"/>
              </a:rPr>
              <a:t>RAID-0 emphasis on data accessing speed. While in RAID-1, data availability is emphasized.</a:t>
            </a:r>
          </a:p>
          <a:p>
            <a:pPr lvl="0" algn="just"/>
            <a:r>
              <a:rPr lang="en-US" sz="2000" dirty="0" smtClean="0">
                <a:latin typeface="Times New Roman" pitchFamily="18" charset="0"/>
                <a:cs typeface="Times New Roman" pitchFamily="18" charset="0"/>
              </a:rPr>
              <a:t>RAID-0 is well in read performance. While RAID-1 is moderate in read performance.</a:t>
            </a:r>
          </a:p>
          <a:p>
            <a:pPr lvl="0" algn="just"/>
            <a:r>
              <a:rPr lang="en-US" sz="2000" dirty="0" smtClean="0">
                <a:latin typeface="Times New Roman" pitchFamily="18" charset="0"/>
                <a:cs typeface="Times New Roman" pitchFamily="18" charset="0"/>
              </a:rPr>
              <a:t>In RAID-0, there is no protection available. In RAID-1, mirror protection is provided.</a:t>
            </a:r>
          </a:p>
          <a:p>
            <a:pPr lvl="0" algn="just"/>
            <a:r>
              <a:rPr lang="en-US" sz="2000" dirty="0" smtClean="0">
                <a:latin typeface="Times New Roman" pitchFamily="18" charset="0"/>
                <a:cs typeface="Times New Roman" pitchFamily="18" charset="0"/>
              </a:rPr>
              <a:t>RAID-0 involves the splitting of data into small blocks and spreading it across multiple disks in a way that allows for simultaneous read and write operations. In this configuration, each disk contains a portion of the data, and data is written to and read from the disks in parallel. RAID-0 does not provide fault tolerance, as there is no redundancy or backup copy of the data. If one disk fails, all data on the array is lost.</a:t>
            </a:r>
          </a:p>
          <a:p>
            <a:pPr lvl="0" algn="just"/>
            <a:r>
              <a:rPr lang="en-US" sz="2000" dirty="0" smtClean="0">
                <a:latin typeface="Times New Roman" pitchFamily="18" charset="0"/>
                <a:cs typeface="Times New Roman" pitchFamily="18" charset="0"/>
              </a:rPr>
              <a:t>RAID-1 involves the duplication of data on two or more disks. In this configuration, all data is written to two or more disks simultaneously, so that each disk contains an identical copy of the data. This provides fault tolerance, as if one disk fails, the system can continue to operate with the remaining disk(s) until the failed disk is replaced.</a:t>
            </a:r>
          </a:p>
          <a:p>
            <a:pPr lvl="1" algn="just"/>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30</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Difference between RAID-0 and </a:t>
            </a:r>
            <a:r>
              <a:rPr lang="en-US" sz="2000" b="1" dirty="0" smtClean="0">
                <a:latin typeface="Times New Roman" pitchFamily="18" charset="0"/>
                <a:cs typeface="Times New Roman" pitchFamily="18" charset="0"/>
              </a:rPr>
              <a:t>RAID-1</a:t>
            </a:r>
            <a:endParaRPr lang="en-US" sz="2000" dirty="0" smtClean="0">
              <a:latin typeface="Times New Roman" pitchFamily="18" charset="0"/>
              <a:cs typeface="Times New Roman" pitchFamily="18" charset="0"/>
            </a:endParaRPr>
          </a:p>
          <a:p>
            <a:pPr lvl="1" algn="just"/>
            <a:r>
              <a:rPr lang="en-US" sz="2000" dirty="0" smtClean="0">
                <a:latin typeface="Times New Roman" pitchFamily="18" charset="0"/>
                <a:cs typeface="Times New Roman" pitchFamily="18" charset="0"/>
              </a:rPr>
              <a:t>In RAID-0 technology, </a:t>
            </a:r>
            <a:r>
              <a:rPr lang="en-US" sz="2000" b="1" dirty="0" smtClean="0">
                <a:latin typeface="Times New Roman" pitchFamily="18" charset="0"/>
                <a:cs typeface="Times New Roman" pitchFamily="18" charset="0"/>
              </a:rPr>
              <a:t>Disk stripping</a:t>
            </a:r>
            <a:r>
              <a:rPr lang="en-US" sz="2000" dirty="0" smtClean="0">
                <a:latin typeface="Times New Roman" pitchFamily="18" charset="0"/>
                <a:cs typeface="Times New Roman" pitchFamily="18" charset="0"/>
              </a:rPr>
              <a:t> is used. While in RAID-1 technology, </a:t>
            </a:r>
            <a:r>
              <a:rPr lang="en-US" sz="2000" b="1" dirty="0" smtClean="0">
                <a:latin typeface="Times New Roman" pitchFamily="18" charset="0"/>
                <a:cs typeface="Times New Roman" pitchFamily="18" charset="0"/>
              </a:rPr>
              <a:t>Disk mirroring</a:t>
            </a:r>
            <a:r>
              <a:rPr lang="en-US" sz="2000" dirty="0" smtClean="0">
                <a:latin typeface="Times New Roman" pitchFamily="18" charset="0"/>
                <a:cs typeface="Times New Roman" pitchFamily="18" charset="0"/>
              </a:rPr>
              <a:t> is used.</a:t>
            </a:r>
          </a:p>
          <a:p>
            <a:pPr lvl="1" algn="just"/>
            <a:r>
              <a:rPr lang="en-US" sz="2000" dirty="0" smtClean="0">
                <a:latin typeface="Times New Roman" pitchFamily="18" charset="0"/>
                <a:cs typeface="Times New Roman" pitchFamily="18" charset="0"/>
              </a:rPr>
              <a:t>The cost of RAID-0 technology is </a:t>
            </a:r>
            <a:r>
              <a:rPr lang="en-US" sz="2000" b="1" dirty="0" smtClean="0">
                <a:latin typeface="Times New Roman" pitchFamily="18" charset="0"/>
                <a:cs typeface="Times New Roman" pitchFamily="18" charset="0"/>
              </a:rPr>
              <a:t>low</a:t>
            </a:r>
            <a:r>
              <a:rPr lang="en-US" sz="2000" dirty="0" smtClean="0">
                <a:latin typeface="Times New Roman" pitchFamily="18" charset="0"/>
                <a:cs typeface="Times New Roman" pitchFamily="18" charset="0"/>
              </a:rPr>
              <a:t>. While RAID-1 is </a:t>
            </a:r>
            <a:r>
              <a:rPr lang="en-US" sz="2000" b="1" dirty="0" smtClean="0">
                <a:latin typeface="Times New Roman" pitchFamily="18" charset="0"/>
                <a:cs typeface="Times New Roman" pitchFamily="18" charset="0"/>
              </a:rPr>
              <a:t>expensive</a:t>
            </a:r>
            <a:r>
              <a:rPr lang="en-US" sz="2000" dirty="0" smtClean="0">
                <a:latin typeface="Times New Roman" pitchFamily="18" charset="0"/>
                <a:cs typeface="Times New Roman" pitchFamily="18" charset="0"/>
              </a:rPr>
              <a:t>.</a:t>
            </a:r>
          </a:p>
          <a:p>
            <a:pPr lvl="1" algn="just"/>
            <a:r>
              <a:rPr lang="en-US" sz="2000" dirty="0" smtClean="0">
                <a:latin typeface="Times New Roman" pitchFamily="18" charset="0"/>
                <a:cs typeface="Times New Roman" pitchFamily="18" charset="0"/>
              </a:rPr>
              <a:t>In RAID-0, there is </a:t>
            </a:r>
            <a:r>
              <a:rPr lang="en-US" sz="2000" b="1" dirty="0" smtClean="0">
                <a:latin typeface="Times New Roman" pitchFamily="18" charset="0"/>
                <a:cs typeface="Times New Roman" pitchFamily="18" charset="0"/>
              </a:rPr>
              <a:t>no write penalty</a:t>
            </a:r>
            <a:r>
              <a:rPr lang="en-US" sz="2000" dirty="0" smtClean="0">
                <a:latin typeface="Times New Roman" pitchFamily="18" charset="0"/>
                <a:cs typeface="Times New Roman" pitchFamily="18" charset="0"/>
              </a:rPr>
              <a:t>. While in RAID-1, there is write penalty.</a:t>
            </a:r>
          </a:p>
          <a:p>
            <a:pPr lvl="1" algn="just"/>
            <a:r>
              <a:rPr lang="en-US" sz="2000" dirty="0" smtClean="0">
                <a:latin typeface="Times New Roman" pitchFamily="18" charset="0"/>
                <a:cs typeface="Times New Roman" pitchFamily="18" charset="0"/>
              </a:rPr>
              <a:t>The relative </a:t>
            </a:r>
            <a:r>
              <a:rPr lang="en-US" sz="2000" b="1" dirty="0" smtClean="0">
                <a:latin typeface="Times New Roman" pitchFamily="18" charset="0"/>
                <a:cs typeface="Times New Roman" pitchFamily="18" charset="0"/>
              </a:rPr>
              <a:t>storage efficiency</a:t>
            </a:r>
            <a:r>
              <a:rPr lang="en-US" sz="2000" dirty="0" smtClean="0">
                <a:latin typeface="Times New Roman" pitchFamily="18" charset="0"/>
                <a:cs typeface="Times New Roman" pitchFamily="18" charset="0"/>
              </a:rPr>
              <a:t> of RAID-0 is </a:t>
            </a:r>
            <a:r>
              <a:rPr lang="en-US" sz="2000" b="1" dirty="0" smtClean="0">
                <a:latin typeface="Times New Roman" pitchFamily="18" charset="0"/>
                <a:cs typeface="Times New Roman" pitchFamily="18" charset="0"/>
              </a:rPr>
              <a:t>100%</a:t>
            </a:r>
            <a:r>
              <a:rPr lang="en-US" sz="2000" dirty="0" smtClean="0">
                <a:latin typeface="Times New Roman" pitchFamily="18" charset="0"/>
                <a:cs typeface="Times New Roman" pitchFamily="18" charset="0"/>
              </a:rPr>
              <a:t>. While the relative storage efficiency of RAID-1 is </a:t>
            </a:r>
            <a:r>
              <a:rPr lang="en-US" sz="2000" b="1" dirty="0" smtClean="0">
                <a:latin typeface="Times New Roman" pitchFamily="18" charset="0"/>
                <a:cs typeface="Times New Roman" pitchFamily="18" charset="0"/>
              </a:rPr>
              <a:t>50%</a:t>
            </a:r>
            <a:r>
              <a:rPr lang="en-US" sz="2000" dirty="0" smtClean="0">
                <a:latin typeface="Times New Roman" pitchFamily="18" charset="0"/>
                <a:cs typeface="Times New Roman" pitchFamily="18" charset="0"/>
              </a:rPr>
              <a:t>.</a:t>
            </a:r>
          </a:p>
          <a:p>
            <a:pPr lvl="1" algn="just"/>
            <a:r>
              <a:rPr lang="en-US" sz="2000" dirty="0" smtClean="0">
                <a:latin typeface="Times New Roman" pitchFamily="18" charset="0"/>
                <a:cs typeface="Times New Roman" pitchFamily="18" charset="0"/>
              </a:rPr>
              <a:t>The write performance of RAID-0 is better than RAID-1.</a:t>
            </a:r>
          </a:p>
          <a:p>
            <a:pPr lvl="1" algn="just"/>
            <a:r>
              <a:rPr lang="en-US" sz="2000" dirty="0" smtClean="0">
                <a:latin typeface="Times New Roman" pitchFamily="18" charset="0"/>
                <a:cs typeface="Times New Roman" pitchFamily="18" charset="0"/>
              </a:rPr>
              <a:t>RAID-0 emphasis on data accessing speed. While in RAID-1, data availability is emphasized</a:t>
            </a:r>
            <a:r>
              <a:rPr lang="en-US" sz="2000" dirty="0" smtClean="0">
                <a:latin typeface="Times New Roman" pitchFamily="18" charset="0"/>
                <a:cs typeface="Times New Roman" pitchFamily="18" charset="0"/>
              </a:rPr>
              <a:t>.</a:t>
            </a:r>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31</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Difference between RAID-0 and </a:t>
            </a:r>
            <a:r>
              <a:rPr lang="en-US" sz="2000" b="1" dirty="0" smtClean="0">
                <a:latin typeface="Times New Roman" pitchFamily="18" charset="0"/>
                <a:cs typeface="Times New Roman" pitchFamily="18" charset="0"/>
              </a:rPr>
              <a:t>RAID-1</a:t>
            </a:r>
            <a:endParaRPr lang="en-US" sz="2000" dirty="0" smtClean="0">
              <a:latin typeface="Times New Roman" pitchFamily="18" charset="0"/>
              <a:cs typeface="Times New Roman" pitchFamily="18" charset="0"/>
            </a:endParaRPr>
          </a:p>
          <a:p>
            <a:pPr lvl="1" algn="just"/>
            <a:r>
              <a:rPr lang="en-US" sz="1800" dirty="0" smtClean="0">
                <a:latin typeface="Times New Roman" pitchFamily="18" charset="0"/>
                <a:cs typeface="Times New Roman" pitchFamily="18" charset="0"/>
              </a:rPr>
              <a:t>RAID-0 is well in read performance. While RAID-1 is moderate in read performance.</a:t>
            </a:r>
          </a:p>
          <a:p>
            <a:pPr lvl="1" algn="just"/>
            <a:r>
              <a:rPr lang="en-US" sz="1800" dirty="0" smtClean="0">
                <a:latin typeface="Times New Roman" pitchFamily="18" charset="0"/>
                <a:cs typeface="Times New Roman" pitchFamily="18" charset="0"/>
              </a:rPr>
              <a:t>In RAID-0, there is </a:t>
            </a:r>
            <a:r>
              <a:rPr lang="en-US" sz="1800" b="1" dirty="0" smtClean="0">
                <a:latin typeface="Times New Roman" pitchFamily="18" charset="0"/>
                <a:cs typeface="Times New Roman" pitchFamily="18" charset="0"/>
              </a:rPr>
              <a:t>no protection</a:t>
            </a:r>
            <a:r>
              <a:rPr lang="en-US" sz="1800" dirty="0" smtClean="0">
                <a:latin typeface="Times New Roman" pitchFamily="18" charset="0"/>
                <a:cs typeface="Times New Roman" pitchFamily="18" charset="0"/>
              </a:rPr>
              <a:t> available. In RAID-1, </a:t>
            </a:r>
            <a:r>
              <a:rPr lang="en-US" sz="1800" b="1" dirty="0" smtClean="0">
                <a:latin typeface="Times New Roman" pitchFamily="18" charset="0"/>
                <a:cs typeface="Times New Roman" pitchFamily="18" charset="0"/>
              </a:rPr>
              <a:t>mirror protection is provided</a:t>
            </a:r>
            <a:r>
              <a:rPr lang="en-US" sz="1800" dirty="0" smtClean="0">
                <a:latin typeface="Times New Roman" pitchFamily="18" charset="0"/>
                <a:cs typeface="Times New Roman" pitchFamily="18" charset="0"/>
              </a:rPr>
              <a:t>.</a:t>
            </a:r>
          </a:p>
          <a:p>
            <a:pPr lvl="1" algn="just"/>
            <a:r>
              <a:rPr lang="en-US" sz="1800" dirty="0" smtClean="0">
                <a:latin typeface="Times New Roman" pitchFamily="18" charset="0"/>
                <a:cs typeface="Times New Roman" pitchFamily="18" charset="0"/>
              </a:rPr>
              <a:t>RAID-0 involves the splitting of data into small blocks and spreading it across multiple disks in a way that allows for simultaneous read and write operations. In this configuration, each disk contains a portion of the data, and data is written to and read from the disks in parallel. RAID-0 does not provide fault tolerance, as there is no redundancy or backup copy of the data. If one disk fails, all data on the array is lost.</a:t>
            </a:r>
          </a:p>
          <a:p>
            <a:pPr lvl="1" algn="just"/>
            <a:r>
              <a:rPr lang="en-US" sz="1800" dirty="0" smtClean="0">
                <a:latin typeface="Times New Roman" pitchFamily="18" charset="0"/>
                <a:cs typeface="Times New Roman" pitchFamily="18" charset="0"/>
              </a:rPr>
              <a:t>RAID-1 involves the duplication of data on two or more disks. In this configuration, all data is written to two or more disks simultaneously, so that each disk contains an identical copy of the data. This provides fault tolerance, as if one disk fails, the system can continue to operate with the remaining disk(s) until the failed disk is replaced.</a:t>
            </a:r>
          </a:p>
          <a:p>
            <a:pPr lvl="1" algn="just"/>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32</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RAID-2 (How does RAID-2 Work?) </a:t>
            </a:r>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a:p>
            <a:pPr lvl="1" algn="just"/>
            <a:r>
              <a:rPr lang="en-US" sz="2000" dirty="0" smtClean="0">
                <a:latin typeface="Times New Roman" pitchFamily="18" charset="0"/>
                <a:cs typeface="Times New Roman" pitchFamily="18" charset="0"/>
              </a:rPr>
              <a:t>Known </a:t>
            </a:r>
            <a:r>
              <a:rPr lang="en-US" sz="2000" dirty="0" smtClean="0">
                <a:latin typeface="Times New Roman" pitchFamily="18" charset="0"/>
                <a:cs typeface="Times New Roman" pitchFamily="18" charset="0"/>
              </a:rPr>
              <a:t>as </a:t>
            </a:r>
            <a:r>
              <a:rPr lang="en-US" sz="2000" b="1" dirty="0" smtClean="0">
                <a:latin typeface="Times New Roman" pitchFamily="18" charset="0"/>
                <a:cs typeface="Times New Roman" pitchFamily="18" charset="0"/>
              </a:rPr>
              <a:t>Bit-level stripping</a:t>
            </a:r>
            <a:r>
              <a:rPr lang="en-US" sz="2000" dirty="0" smtClean="0">
                <a:latin typeface="Times New Roman" pitchFamily="18" charset="0"/>
                <a:cs typeface="Times New Roman" pitchFamily="18" charset="0"/>
              </a:rPr>
              <a:t> with dedicated parity.</a:t>
            </a:r>
          </a:p>
          <a:p>
            <a:pPr lvl="1" algn="just"/>
            <a:r>
              <a:rPr lang="en-US" sz="2000" dirty="0" smtClean="0">
                <a:latin typeface="Times New Roman" pitchFamily="18" charset="0"/>
                <a:cs typeface="Times New Roman" pitchFamily="18" charset="0"/>
              </a:rPr>
              <a:t>Also known as Memory-style Error-Correcting-Code.</a:t>
            </a:r>
          </a:p>
          <a:p>
            <a:pPr lvl="1" algn="just"/>
            <a:r>
              <a:rPr lang="en-US" sz="2000" dirty="0" smtClean="0">
                <a:latin typeface="Times New Roman" pitchFamily="18" charset="0"/>
                <a:cs typeface="Times New Roman" pitchFamily="18" charset="0"/>
              </a:rPr>
              <a:t>In RAID-2, data is divided into individual bits and then striped across multiple disks, with a dedicated parity disk that stores the parity information for all the data disks. The parity information is generated using Hamming code, which allows for single-bit error correction and detection. </a:t>
            </a:r>
          </a:p>
          <a:p>
            <a:pPr lvl="1" algn="just"/>
            <a:r>
              <a:rPr lang="en-US" sz="2000" dirty="0" smtClean="0">
                <a:latin typeface="Times New Roman" pitchFamily="18" charset="0"/>
                <a:cs typeface="Times New Roman" pitchFamily="18" charset="0"/>
              </a:rPr>
              <a:t>This provides fault tolerance, as if one disk fails, the system can continue to operate with the remaining disks.</a:t>
            </a:r>
          </a:p>
          <a:p>
            <a:pPr lvl="1" algn="just"/>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33</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RAID-2 (How does RAID-2 Work?) </a:t>
            </a:r>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a:p>
            <a:pPr lvl="1" algn="just"/>
            <a:r>
              <a:rPr lang="en-US" sz="1800" dirty="0" smtClean="0">
                <a:latin typeface="Times New Roman" pitchFamily="18" charset="0"/>
                <a:cs typeface="Times New Roman" pitchFamily="18" charset="0"/>
              </a:rPr>
              <a:t>The number of redundant bits can be calculated using the following formula:</a:t>
            </a:r>
          </a:p>
          <a:p>
            <a:pPr lvl="1" algn="just" fontAlgn="base">
              <a:buNone/>
            </a:pPr>
            <a:r>
              <a:rPr lang="en-US" sz="1800" dirty="0" smtClean="0">
                <a:latin typeface="Times New Roman" pitchFamily="18" charset="0"/>
                <a:cs typeface="Times New Roman" pitchFamily="18" charset="0"/>
              </a:rPr>
              <a:t>			2</a:t>
            </a:r>
            <a:r>
              <a:rPr lang="en-US" sz="1800" baseline="30000" dirty="0" smtClean="0">
                <a:latin typeface="Times New Roman" pitchFamily="18" charset="0"/>
                <a:cs typeface="Times New Roman" pitchFamily="18" charset="0"/>
              </a:rPr>
              <a:t>r</a:t>
            </a:r>
            <a:r>
              <a:rPr lang="en-US" sz="1800" dirty="0" smtClean="0">
                <a:latin typeface="Times New Roman" pitchFamily="18" charset="0"/>
                <a:cs typeface="Times New Roman" pitchFamily="18" charset="0"/>
              </a:rPr>
              <a:t> </a:t>
            </a:r>
            <a:r>
              <a:rPr lang="en-US" sz="1800" dirty="0" smtClean="0">
                <a:latin typeface="Times New Roman" pitchFamily="18" charset="0"/>
                <a:cs typeface="Times New Roman" pitchFamily="18" charset="0"/>
              </a:rPr>
              <a:t>≥ m+r+1</a:t>
            </a:r>
          </a:p>
          <a:p>
            <a:pPr lvl="1" algn="just" fontAlgn="base">
              <a:buNone/>
            </a:pPr>
            <a:r>
              <a:rPr lang="en-US" sz="1800" dirty="0" smtClean="0">
                <a:latin typeface="Times New Roman" pitchFamily="18" charset="0"/>
                <a:cs typeface="Times New Roman" pitchFamily="18" charset="0"/>
              </a:rPr>
              <a:t>	where </a:t>
            </a:r>
            <a:r>
              <a:rPr lang="en-US" sz="1800" dirty="0" smtClean="0">
                <a:latin typeface="Times New Roman" pitchFamily="18" charset="0"/>
                <a:cs typeface="Times New Roman" pitchFamily="18" charset="0"/>
              </a:rPr>
              <a:t>m is the number of bits in input data, and r is the number of redundant bits.</a:t>
            </a:r>
          </a:p>
          <a:p>
            <a:pPr lvl="1" algn="just"/>
            <a:r>
              <a:rPr lang="en-US" sz="1800" dirty="0" smtClean="0">
                <a:latin typeface="Times New Roman" pitchFamily="18" charset="0"/>
                <a:cs typeface="Times New Roman" pitchFamily="18" charset="0"/>
              </a:rPr>
              <a:t>Suppose the number of input data bits is 4 (m), then the number of redundant bits (r) can be calculated using: 2</a:t>
            </a:r>
            <a:r>
              <a:rPr lang="en-US" sz="1800" baseline="30000" dirty="0" smtClean="0">
                <a:latin typeface="Times New Roman" pitchFamily="18" charset="0"/>
                <a:cs typeface="Times New Roman" pitchFamily="18" charset="0"/>
              </a:rPr>
              <a:t>r</a:t>
            </a:r>
            <a:r>
              <a:rPr lang="en-US" sz="1800" dirty="0" smtClean="0">
                <a:latin typeface="Times New Roman" pitchFamily="18" charset="0"/>
                <a:cs typeface="Times New Roman" pitchFamily="18" charset="0"/>
              </a:rPr>
              <a:t> ≥ 4 + r + 1. Thus, the number of redundant bits is 3.</a:t>
            </a:r>
            <a:endParaRPr lang="en-US" sz="18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34</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1" name="Picture 10" descr="RAID-2"/>
          <p:cNvPicPr/>
          <p:nvPr/>
        </p:nvPicPr>
        <p:blipFill>
          <a:blip r:embed="rId4"/>
          <a:srcRect/>
          <a:stretch>
            <a:fillRect/>
          </a:stretch>
        </p:blipFill>
        <p:spPr bwMode="auto">
          <a:xfrm>
            <a:off x="2438400" y="2057400"/>
            <a:ext cx="4419600" cy="161778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Advantages of RAID-2 </a:t>
            </a:r>
            <a:r>
              <a:rPr lang="en-US" sz="2000" b="1"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lvl="1" algn="just"/>
            <a:r>
              <a:rPr lang="en-US" sz="1600" dirty="0" smtClean="0">
                <a:latin typeface="Times New Roman" pitchFamily="18" charset="0"/>
                <a:cs typeface="Times New Roman" pitchFamily="18" charset="0"/>
              </a:rPr>
              <a:t>The </a:t>
            </a:r>
            <a:r>
              <a:rPr lang="en-US" sz="1600" dirty="0" smtClean="0">
                <a:latin typeface="Times New Roman" pitchFamily="18" charset="0"/>
                <a:cs typeface="Times New Roman" pitchFamily="18" charset="0"/>
              </a:rPr>
              <a:t>error of the data is checked at every bit level</a:t>
            </a:r>
          </a:p>
          <a:p>
            <a:pPr lvl="1" algn="just"/>
            <a:r>
              <a:rPr lang="en-US" sz="1600" dirty="0" smtClean="0">
                <a:latin typeface="Times New Roman" pitchFamily="18" charset="0"/>
                <a:cs typeface="Times New Roman" pitchFamily="18" charset="0"/>
              </a:rPr>
              <a:t>For Error Correction, it </a:t>
            </a:r>
            <a:r>
              <a:rPr lang="en-US" sz="1600" b="1" dirty="0" smtClean="0">
                <a:latin typeface="Times New Roman" pitchFamily="18" charset="0"/>
                <a:cs typeface="Times New Roman" pitchFamily="18" charset="0"/>
              </a:rPr>
              <a:t>uses hamming code.</a:t>
            </a:r>
          </a:p>
          <a:p>
            <a:pPr lvl="1" algn="just"/>
            <a:r>
              <a:rPr lang="en-US" sz="1600" dirty="0" smtClean="0">
                <a:latin typeface="Times New Roman" pitchFamily="18" charset="0"/>
                <a:cs typeface="Times New Roman" pitchFamily="18" charset="0"/>
              </a:rPr>
              <a:t>High data integration because of use of hamming code.</a:t>
            </a:r>
          </a:p>
          <a:p>
            <a:pPr lvl="1" algn="just"/>
            <a:r>
              <a:rPr lang="en-US" sz="1600" dirty="0" smtClean="0">
                <a:latin typeface="Times New Roman" pitchFamily="18" charset="0"/>
                <a:cs typeface="Times New Roman" pitchFamily="18" charset="0"/>
              </a:rPr>
              <a:t>It uses designated drives to store parity bits.</a:t>
            </a:r>
          </a:p>
          <a:p>
            <a:pPr lvl="1" algn="just"/>
            <a:r>
              <a:rPr lang="en-US" sz="1600" dirty="0" smtClean="0">
                <a:latin typeface="Times New Roman" pitchFamily="18" charset="0"/>
                <a:cs typeface="Times New Roman" pitchFamily="18" charset="0"/>
              </a:rPr>
              <a:t>Controller design is simpler as compared to RAID-3, RAID-4 and RAID-5.</a:t>
            </a:r>
          </a:p>
          <a:p>
            <a:pPr algn="just"/>
            <a:endParaRPr lang="en-US" sz="2000" dirty="0" smtClean="0">
              <a:latin typeface="Times New Roman" pitchFamily="18" charset="0"/>
              <a:cs typeface="Times New Roman" pitchFamily="18" charset="0"/>
            </a:endParaRPr>
          </a:p>
          <a:p>
            <a:pPr algn="just">
              <a:buFont typeface="Wingdings" pitchFamily="2" charset="2"/>
              <a:buChar char="q"/>
            </a:pPr>
            <a:r>
              <a:rPr lang="en-US" sz="2000" b="1" dirty="0" smtClean="0">
                <a:latin typeface="Times New Roman" pitchFamily="18" charset="0"/>
                <a:cs typeface="Times New Roman" pitchFamily="18" charset="0"/>
              </a:rPr>
              <a:t>Disadvantages of RAID-2</a:t>
            </a:r>
            <a:endParaRPr lang="en-US" sz="2000" dirty="0" smtClean="0">
              <a:latin typeface="Times New Roman" pitchFamily="18" charset="0"/>
              <a:cs typeface="Times New Roman" pitchFamily="18" charset="0"/>
            </a:endParaRPr>
          </a:p>
          <a:p>
            <a:pPr lvl="1" algn="just" fontAlgn="base"/>
            <a:r>
              <a:rPr lang="en-US" sz="1600" dirty="0" smtClean="0">
                <a:latin typeface="Times New Roman" pitchFamily="18" charset="0"/>
                <a:cs typeface="Times New Roman" pitchFamily="18" charset="0"/>
              </a:rPr>
              <a:t>It has a </a:t>
            </a:r>
            <a:r>
              <a:rPr lang="en-US" sz="1600" b="1" dirty="0" smtClean="0">
                <a:latin typeface="Times New Roman" pitchFamily="18" charset="0"/>
                <a:cs typeface="Times New Roman" pitchFamily="18" charset="0"/>
              </a:rPr>
              <a:t>complex structure and high cost</a:t>
            </a:r>
            <a:r>
              <a:rPr lang="en-US" sz="1600" dirty="0" smtClean="0">
                <a:latin typeface="Times New Roman" pitchFamily="18" charset="0"/>
                <a:cs typeface="Times New Roman" pitchFamily="18" charset="0"/>
              </a:rPr>
              <a:t> due to extra drive.</a:t>
            </a:r>
          </a:p>
          <a:p>
            <a:pPr lvl="1" algn="just" fontAlgn="base"/>
            <a:r>
              <a:rPr lang="en-US" sz="1600" dirty="0" smtClean="0">
                <a:latin typeface="Times New Roman" pitchFamily="18" charset="0"/>
                <a:cs typeface="Times New Roman" pitchFamily="18" charset="0"/>
              </a:rPr>
              <a:t>Complex implementation requires specialized hardware. This complexity makes it expensive and difficult to set up and maintain.</a:t>
            </a:r>
          </a:p>
          <a:p>
            <a:pPr lvl="1" algn="just" fontAlgn="base"/>
            <a:r>
              <a:rPr lang="en-US" sz="1600" dirty="0" smtClean="0">
                <a:latin typeface="Times New Roman" pitchFamily="18" charset="0"/>
                <a:cs typeface="Times New Roman" pitchFamily="18" charset="0"/>
              </a:rPr>
              <a:t>The working of </a:t>
            </a:r>
            <a:r>
              <a:rPr lang="en-US" sz="1600" dirty="0" smtClean="0">
                <a:latin typeface="Times New Roman" pitchFamily="18" charset="0"/>
                <a:cs typeface="Times New Roman" pitchFamily="18" charset="0"/>
              </a:rPr>
              <a:t>RAID-2 </a:t>
            </a:r>
            <a:r>
              <a:rPr lang="en-US" sz="1600" dirty="0" smtClean="0">
                <a:latin typeface="Times New Roman" pitchFamily="18" charset="0"/>
                <a:cs typeface="Times New Roman" pitchFamily="18" charset="0"/>
              </a:rPr>
              <a:t>can be </a:t>
            </a:r>
            <a:r>
              <a:rPr lang="en-US" sz="1600" b="1" dirty="0" smtClean="0">
                <a:latin typeface="Times New Roman" pitchFamily="18" charset="0"/>
                <a:cs typeface="Times New Roman" pitchFamily="18" charset="0"/>
              </a:rPr>
              <a:t>hard to understand</a:t>
            </a:r>
            <a:r>
              <a:rPr lang="en-US" sz="1600" dirty="0" smtClean="0">
                <a:latin typeface="Times New Roman" pitchFamily="18" charset="0"/>
                <a:cs typeface="Times New Roman" pitchFamily="18" charset="0"/>
              </a:rPr>
              <a:t>.</a:t>
            </a:r>
          </a:p>
          <a:p>
            <a:pPr lvl="1" algn="just" fontAlgn="base"/>
            <a:r>
              <a:rPr lang="en-US" sz="1600" b="1" dirty="0" smtClean="0">
                <a:latin typeface="Times New Roman" pitchFamily="18" charset="0"/>
                <a:cs typeface="Times New Roman" pitchFamily="18" charset="0"/>
              </a:rPr>
              <a:t>It requires an extra drive for error detection.</a:t>
            </a:r>
          </a:p>
          <a:p>
            <a:pPr lvl="1" algn="just" fontAlgn="base"/>
            <a:r>
              <a:rPr lang="en-US" sz="1600" dirty="0" smtClean="0">
                <a:latin typeface="Times New Roman" pitchFamily="18" charset="0"/>
                <a:cs typeface="Times New Roman" pitchFamily="18" charset="0"/>
              </a:rPr>
              <a:t>Same performance can be achieved by RAID-3 at a lower cost.</a:t>
            </a:r>
          </a:p>
          <a:p>
            <a:pPr lvl="1" algn="just"/>
            <a:r>
              <a:rPr lang="en-US" sz="1600" dirty="0" smtClean="0">
                <a:latin typeface="Times New Roman" pitchFamily="18" charset="0"/>
                <a:cs typeface="Times New Roman" pitchFamily="18" charset="0"/>
              </a:rPr>
              <a:t>It is not commercially used (outdated technology</a:t>
            </a:r>
            <a:r>
              <a:rPr lang="en-US" sz="1600" dirty="0" smtClean="0">
                <a:latin typeface="Times New Roman" pitchFamily="18" charset="0"/>
                <a:cs typeface="Times New Roman" pitchFamily="18" charset="0"/>
              </a:rPr>
              <a:t>).</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35</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Differences between RAID-1 and RAID-2 </a:t>
            </a:r>
            <a:r>
              <a:rPr lang="en-US" sz="2000" b="1"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36</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 name="Table 10"/>
          <p:cNvGraphicFramePr>
            <a:graphicFrameLocks noGrp="1"/>
          </p:cNvGraphicFramePr>
          <p:nvPr/>
        </p:nvGraphicFramePr>
        <p:xfrm>
          <a:off x="1066800" y="2133600"/>
          <a:ext cx="7239000" cy="4262877"/>
        </p:xfrm>
        <a:graphic>
          <a:graphicData uri="http://schemas.openxmlformats.org/drawingml/2006/table">
            <a:tbl>
              <a:tblPr/>
              <a:tblGrid>
                <a:gridCol w="3619500"/>
                <a:gridCol w="3619500"/>
              </a:tblGrid>
              <a:tr h="567120">
                <a:tc>
                  <a:txBody>
                    <a:bodyPr/>
                    <a:lstStyle/>
                    <a:p>
                      <a:pPr marL="0" marR="0" algn="ctr">
                        <a:lnSpc>
                          <a:spcPct val="115000"/>
                        </a:lnSpc>
                        <a:spcBef>
                          <a:spcPts val="0"/>
                        </a:spcBef>
                        <a:spcAft>
                          <a:spcPts val="0"/>
                        </a:spcAft>
                      </a:pPr>
                      <a:r>
                        <a:rPr lang="en-US" sz="1600" b="1" kern="0" spc="5">
                          <a:solidFill>
                            <a:srgbClr val="273239"/>
                          </a:solidFill>
                          <a:latin typeface="Times New Roman"/>
                          <a:ea typeface="Times New Roman"/>
                          <a:cs typeface="Times New Roman"/>
                        </a:rPr>
                        <a:t>RAID-1</a:t>
                      </a:r>
                      <a:endParaRPr lang="en-US" sz="1600" kern="100">
                        <a:latin typeface="Calibri"/>
                        <a:ea typeface="Calibri"/>
                        <a:cs typeface="Times New Roman"/>
                      </a:endParaRPr>
                    </a:p>
                  </a:txBody>
                  <a:tcPr marL="38100" marR="38100" marT="58420" marB="584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0"/>
                        </a:spcBef>
                        <a:spcAft>
                          <a:spcPts val="0"/>
                        </a:spcAft>
                      </a:pPr>
                      <a:r>
                        <a:rPr lang="en-US" sz="1600" b="1" kern="0" spc="5">
                          <a:solidFill>
                            <a:srgbClr val="273239"/>
                          </a:solidFill>
                          <a:latin typeface="Times New Roman"/>
                          <a:ea typeface="Times New Roman"/>
                          <a:cs typeface="Times New Roman"/>
                        </a:rPr>
                        <a:t>RAID-2</a:t>
                      </a:r>
                      <a:endParaRPr lang="en-US" sz="1600" kern="100">
                        <a:latin typeface="Calibri"/>
                        <a:ea typeface="Calibri"/>
                        <a:cs typeface="Times New Roman"/>
                      </a:endParaRPr>
                    </a:p>
                  </a:txBody>
                  <a:tcPr marL="58420" marR="58420" marT="58420" marB="584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587813">
                <a:tc>
                  <a:txBody>
                    <a:bodyPr/>
                    <a:lstStyle/>
                    <a:p>
                      <a:pPr marL="0" marR="0" algn="just">
                        <a:lnSpc>
                          <a:spcPct val="115000"/>
                        </a:lnSpc>
                        <a:spcBef>
                          <a:spcPts val="0"/>
                        </a:spcBef>
                        <a:spcAft>
                          <a:spcPts val="0"/>
                        </a:spcAft>
                      </a:pPr>
                      <a:r>
                        <a:rPr lang="en-US" sz="1600" kern="0" spc="5">
                          <a:solidFill>
                            <a:srgbClr val="273239"/>
                          </a:solidFill>
                          <a:latin typeface="Times New Roman"/>
                          <a:ea typeface="Times New Roman"/>
                          <a:cs typeface="Times New Roman"/>
                        </a:rPr>
                        <a:t>Disk Mirroring is used.</a:t>
                      </a:r>
                      <a:endParaRPr lang="en-US" sz="1600" kern="100">
                        <a:latin typeface="Calibri"/>
                        <a:ea typeface="Calibri"/>
                        <a:cs typeface="Times New Roman"/>
                      </a:endParaRPr>
                    </a:p>
                  </a:txBody>
                  <a:tcPr marL="58420" marR="58420" marT="81915" marB="8191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15000"/>
                        </a:lnSpc>
                        <a:spcBef>
                          <a:spcPts val="0"/>
                        </a:spcBef>
                        <a:spcAft>
                          <a:spcPts val="0"/>
                        </a:spcAft>
                      </a:pPr>
                      <a:r>
                        <a:rPr lang="en-US" sz="1600" kern="0" spc="5">
                          <a:solidFill>
                            <a:srgbClr val="273239"/>
                          </a:solidFill>
                          <a:latin typeface="Times New Roman"/>
                          <a:ea typeface="Times New Roman"/>
                          <a:cs typeface="Times New Roman"/>
                        </a:rPr>
                        <a:t>Bit-Level Striping is used.</a:t>
                      </a:r>
                      <a:endParaRPr lang="en-US" sz="1600" kern="100">
                        <a:latin typeface="Calibri"/>
                        <a:ea typeface="Calibri"/>
                        <a:cs typeface="Times New Roman"/>
                      </a:endParaRPr>
                    </a:p>
                  </a:txBody>
                  <a:tcPr marL="58420" marR="58420" marT="81915" marB="8191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891627">
                <a:tc>
                  <a:txBody>
                    <a:bodyPr/>
                    <a:lstStyle/>
                    <a:p>
                      <a:pPr marL="0" marR="0" algn="just">
                        <a:lnSpc>
                          <a:spcPct val="115000"/>
                        </a:lnSpc>
                        <a:spcBef>
                          <a:spcPts val="0"/>
                        </a:spcBef>
                        <a:spcAft>
                          <a:spcPts val="0"/>
                        </a:spcAft>
                      </a:pPr>
                      <a:r>
                        <a:rPr lang="en-US" sz="1600" kern="0" spc="5">
                          <a:solidFill>
                            <a:srgbClr val="273239"/>
                          </a:solidFill>
                          <a:latin typeface="Times New Roman"/>
                          <a:ea typeface="Times New Roman"/>
                          <a:cs typeface="Times New Roman"/>
                        </a:rPr>
                        <a:t>One half of drive is used for storing data and another half is just a mirror for already store data</a:t>
                      </a:r>
                      <a:endParaRPr lang="en-US" sz="1600" kern="100">
                        <a:latin typeface="Calibri"/>
                        <a:ea typeface="Calibri"/>
                        <a:cs typeface="Times New Roman"/>
                      </a:endParaRPr>
                    </a:p>
                  </a:txBody>
                  <a:tcPr marL="58420" marR="58420" marT="81915" marB="8191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15000"/>
                        </a:lnSpc>
                        <a:spcBef>
                          <a:spcPts val="0"/>
                        </a:spcBef>
                        <a:spcAft>
                          <a:spcPts val="0"/>
                        </a:spcAft>
                      </a:pPr>
                      <a:r>
                        <a:rPr lang="en-US" sz="1600" kern="0" spc="5">
                          <a:solidFill>
                            <a:srgbClr val="273239"/>
                          </a:solidFill>
                          <a:latin typeface="Times New Roman"/>
                          <a:ea typeface="Times New Roman"/>
                          <a:cs typeface="Times New Roman"/>
                        </a:rPr>
                        <a:t>Each data bit in a word recorded on a separate disk and ECC codes are stored on different disk</a:t>
                      </a:r>
                      <a:endParaRPr lang="en-US" sz="1600" kern="100">
                        <a:latin typeface="Calibri"/>
                        <a:ea typeface="Calibri"/>
                        <a:cs typeface="Times New Roman"/>
                      </a:endParaRPr>
                    </a:p>
                  </a:txBody>
                  <a:tcPr marL="58420" marR="58420" marT="81915" marB="8191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587813">
                <a:tc>
                  <a:txBody>
                    <a:bodyPr/>
                    <a:lstStyle/>
                    <a:p>
                      <a:pPr marL="0" marR="0" algn="just">
                        <a:lnSpc>
                          <a:spcPct val="115000"/>
                        </a:lnSpc>
                        <a:spcBef>
                          <a:spcPts val="0"/>
                        </a:spcBef>
                        <a:spcAft>
                          <a:spcPts val="0"/>
                        </a:spcAft>
                      </a:pPr>
                      <a:r>
                        <a:rPr lang="en-US" sz="1600" kern="0" spc="5">
                          <a:solidFill>
                            <a:srgbClr val="273239"/>
                          </a:solidFill>
                          <a:latin typeface="Times New Roman"/>
                          <a:ea typeface="Times New Roman"/>
                          <a:cs typeface="Times New Roman"/>
                        </a:rPr>
                        <a:t>Good Fault tolerance as compared to RAID-2.</a:t>
                      </a:r>
                      <a:endParaRPr lang="en-US" sz="1600" kern="100">
                        <a:latin typeface="Calibri"/>
                        <a:ea typeface="Calibri"/>
                        <a:cs typeface="Times New Roman"/>
                      </a:endParaRPr>
                    </a:p>
                  </a:txBody>
                  <a:tcPr marL="58420" marR="58420" marT="81915" marB="8191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15000"/>
                        </a:lnSpc>
                        <a:spcBef>
                          <a:spcPts val="0"/>
                        </a:spcBef>
                        <a:spcAft>
                          <a:spcPts val="0"/>
                        </a:spcAft>
                      </a:pPr>
                      <a:r>
                        <a:rPr lang="en-US" sz="1600" kern="0" spc="5">
                          <a:solidFill>
                            <a:srgbClr val="273239"/>
                          </a:solidFill>
                          <a:latin typeface="Times New Roman"/>
                          <a:ea typeface="Times New Roman"/>
                          <a:cs typeface="Times New Roman"/>
                        </a:rPr>
                        <a:t>Fault tolerance is not so good.</a:t>
                      </a:r>
                      <a:endParaRPr lang="en-US" sz="1600" kern="100">
                        <a:latin typeface="Calibri"/>
                        <a:ea typeface="Calibri"/>
                        <a:cs typeface="Times New Roman"/>
                      </a:endParaRPr>
                    </a:p>
                  </a:txBody>
                  <a:tcPr marL="58420" marR="58420" marT="81915" marB="8191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587813">
                <a:tc>
                  <a:txBody>
                    <a:bodyPr/>
                    <a:lstStyle/>
                    <a:p>
                      <a:pPr marL="0" marR="0" algn="just">
                        <a:lnSpc>
                          <a:spcPct val="115000"/>
                        </a:lnSpc>
                        <a:spcBef>
                          <a:spcPts val="0"/>
                        </a:spcBef>
                        <a:spcAft>
                          <a:spcPts val="0"/>
                        </a:spcAft>
                      </a:pPr>
                      <a:r>
                        <a:rPr lang="en-US" sz="1600" kern="0" spc="5">
                          <a:solidFill>
                            <a:srgbClr val="273239"/>
                          </a:solidFill>
                          <a:latin typeface="Times New Roman"/>
                          <a:ea typeface="Times New Roman"/>
                          <a:cs typeface="Times New Roman"/>
                        </a:rPr>
                        <a:t>Hamming Codes are not used.</a:t>
                      </a:r>
                      <a:endParaRPr lang="en-US" sz="1600" kern="100">
                        <a:latin typeface="Calibri"/>
                        <a:ea typeface="Calibri"/>
                        <a:cs typeface="Times New Roman"/>
                      </a:endParaRPr>
                    </a:p>
                  </a:txBody>
                  <a:tcPr marL="58420" marR="58420" marT="81915" marB="8191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15000"/>
                        </a:lnSpc>
                        <a:spcBef>
                          <a:spcPts val="0"/>
                        </a:spcBef>
                        <a:spcAft>
                          <a:spcPts val="0"/>
                        </a:spcAft>
                      </a:pPr>
                      <a:r>
                        <a:rPr lang="en-US" sz="1600" kern="0" spc="5">
                          <a:solidFill>
                            <a:srgbClr val="273239"/>
                          </a:solidFill>
                          <a:latin typeface="Times New Roman"/>
                          <a:ea typeface="Times New Roman"/>
                          <a:cs typeface="Times New Roman"/>
                        </a:rPr>
                        <a:t>Hamming Codes are used for Error Correction.</a:t>
                      </a:r>
                      <a:endParaRPr lang="en-US" sz="1600" kern="100">
                        <a:latin typeface="Calibri"/>
                        <a:ea typeface="Calibri"/>
                        <a:cs typeface="Times New Roman"/>
                      </a:endParaRPr>
                    </a:p>
                  </a:txBody>
                  <a:tcPr marL="58420" marR="58420" marT="81915" marB="8191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587813">
                <a:tc>
                  <a:txBody>
                    <a:bodyPr/>
                    <a:lstStyle/>
                    <a:p>
                      <a:pPr marL="0" marR="0" algn="just">
                        <a:lnSpc>
                          <a:spcPct val="115000"/>
                        </a:lnSpc>
                        <a:spcBef>
                          <a:spcPts val="0"/>
                        </a:spcBef>
                        <a:spcAft>
                          <a:spcPts val="0"/>
                        </a:spcAft>
                      </a:pPr>
                      <a:r>
                        <a:rPr lang="en-US" sz="1600" kern="0" spc="5">
                          <a:solidFill>
                            <a:srgbClr val="273239"/>
                          </a:solidFill>
                          <a:latin typeface="Times New Roman"/>
                          <a:ea typeface="Times New Roman"/>
                          <a:cs typeface="Times New Roman"/>
                        </a:rPr>
                        <a:t>Extra Drive is required for mirroring.</a:t>
                      </a:r>
                      <a:endParaRPr lang="en-US" sz="1600" kern="100">
                        <a:latin typeface="Calibri"/>
                        <a:ea typeface="Calibri"/>
                        <a:cs typeface="Times New Roman"/>
                      </a:endParaRPr>
                    </a:p>
                  </a:txBody>
                  <a:tcPr marL="58420" marR="58420" marT="81915" marB="8191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15000"/>
                        </a:lnSpc>
                        <a:spcBef>
                          <a:spcPts val="0"/>
                        </a:spcBef>
                        <a:spcAft>
                          <a:spcPts val="0"/>
                        </a:spcAft>
                      </a:pPr>
                      <a:r>
                        <a:rPr lang="en-US" sz="1600" kern="0" spc="5" dirty="0">
                          <a:solidFill>
                            <a:srgbClr val="273239"/>
                          </a:solidFill>
                          <a:latin typeface="Times New Roman"/>
                          <a:ea typeface="Times New Roman"/>
                          <a:cs typeface="Times New Roman"/>
                        </a:rPr>
                        <a:t>Extra Drive is required for Error Correction.</a:t>
                      </a:r>
                      <a:endParaRPr lang="en-US" sz="1600" kern="100" dirty="0">
                        <a:latin typeface="Calibri"/>
                        <a:ea typeface="Calibri"/>
                        <a:cs typeface="Times New Roman"/>
                      </a:endParaRPr>
                    </a:p>
                  </a:txBody>
                  <a:tcPr marL="58420" marR="58420" marT="81915" marB="8191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bl>
          </a:graphicData>
        </a:graphic>
      </p:graphicFrame>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RAID-3 </a:t>
            </a:r>
            <a:r>
              <a:rPr lang="en-US" sz="2000" b="1" dirty="0" smtClean="0">
                <a:latin typeface="Times New Roman" pitchFamily="18" charset="0"/>
                <a:cs typeface="Times New Roman" pitchFamily="18" charset="0"/>
              </a:rPr>
              <a:t>(How does RAID-3 Work?)</a:t>
            </a:r>
            <a:endParaRPr lang="en-US" sz="2000" dirty="0" smtClean="0">
              <a:latin typeface="Times New Roman" pitchFamily="18" charset="0"/>
              <a:cs typeface="Times New Roman" pitchFamily="18" charset="0"/>
            </a:endParaRPr>
          </a:p>
          <a:p>
            <a:pPr lvl="1" algn="just"/>
            <a:r>
              <a:rPr lang="en-US" sz="2000" dirty="0" smtClean="0">
                <a:latin typeface="Times New Roman" pitchFamily="18" charset="0"/>
                <a:cs typeface="Times New Roman" pitchFamily="18" charset="0"/>
              </a:rPr>
              <a:t>Known as </a:t>
            </a:r>
            <a:r>
              <a:rPr lang="en-US" sz="2000" b="1" dirty="0" smtClean="0">
                <a:latin typeface="Times New Roman" pitchFamily="18" charset="0"/>
                <a:cs typeface="Times New Roman" pitchFamily="18" charset="0"/>
              </a:rPr>
              <a:t>Byte-Level Stripping</a:t>
            </a:r>
            <a:r>
              <a:rPr lang="en-US" sz="2000" dirty="0" smtClean="0">
                <a:latin typeface="Times New Roman" pitchFamily="18" charset="0"/>
                <a:cs typeface="Times New Roman" pitchFamily="18" charset="0"/>
              </a:rPr>
              <a:t> with Dedicated </a:t>
            </a:r>
            <a:r>
              <a:rPr lang="en-US" sz="2000" dirty="0" smtClean="0">
                <a:latin typeface="Times New Roman" pitchFamily="18" charset="0"/>
                <a:cs typeface="Times New Roman" pitchFamily="18" charset="0"/>
              </a:rPr>
              <a:t>Parity.</a:t>
            </a:r>
            <a:endParaRPr lang="en-US" sz="2000" dirty="0" smtClean="0">
              <a:latin typeface="Times New Roman" pitchFamily="18" charset="0"/>
              <a:cs typeface="Times New Roman" pitchFamily="18" charset="0"/>
            </a:endParaRPr>
          </a:p>
          <a:p>
            <a:pPr lvl="1" algn="just"/>
            <a:r>
              <a:rPr lang="en-US" sz="2000" dirty="0" smtClean="0">
                <a:latin typeface="Times New Roman" pitchFamily="18" charset="0"/>
                <a:cs typeface="Times New Roman" pitchFamily="18" charset="0"/>
              </a:rPr>
              <a:t>Data is divided into bytes and distributed across multiple disks. One special disk keeps parity information for all the data disks. If a disk fails, the data can be reconstructed using the parity information from the dedicated parity disk.</a:t>
            </a:r>
          </a:p>
          <a:p>
            <a:pPr lvl="1" algn="just"/>
            <a:r>
              <a:rPr lang="en-US" sz="2000" dirty="0" smtClean="0">
                <a:latin typeface="Times New Roman" pitchFamily="18" charset="0"/>
                <a:cs typeface="Times New Roman" pitchFamily="18" charset="0"/>
              </a:rPr>
              <a:t>RAID-3 improves on RAID-2 by exploiting the fact that disk controllers can detect whether a disk sector has been read correctly, so a single parity bit can be used for error detection and correction. </a:t>
            </a:r>
          </a:p>
          <a:p>
            <a:pPr lvl="1" algn="just"/>
            <a:r>
              <a:rPr lang="en-US" sz="2000" dirty="0" smtClean="0">
                <a:latin typeface="Times New Roman" pitchFamily="18" charset="0"/>
                <a:cs typeface="Times New Roman" pitchFamily="18" charset="0"/>
              </a:rPr>
              <a:t>RAID-3 is as good as RAID-2, but is less expensive in the number of extra disks (it has only a one-disk overhead), so level 2 is not used in practice.</a:t>
            </a:r>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37</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RAID-3 </a:t>
            </a:r>
            <a:r>
              <a:rPr lang="en-US" sz="2000" b="1" dirty="0" smtClean="0">
                <a:latin typeface="Times New Roman" pitchFamily="18" charset="0"/>
                <a:cs typeface="Times New Roman" pitchFamily="18" charset="0"/>
              </a:rPr>
              <a:t>(How does RAID-3 Work?)</a:t>
            </a:r>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lvl="1" algn="just"/>
            <a:r>
              <a:rPr lang="en-US" sz="2000" dirty="0" smtClean="0">
                <a:latin typeface="Times New Roman" pitchFamily="18" charset="0"/>
                <a:cs typeface="Times New Roman" pitchFamily="18" charset="0"/>
              </a:rPr>
              <a:t>Here </a:t>
            </a:r>
            <a:r>
              <a:rPr lang="en-US" sz="2000" dirty="0" smtClean="0">
                <a:latin typeface="Times New Roman" pitchFamily="18" charset="0"/>
                <a:cs typeface="Times New Roman" pitchFamily="18" charset="0"/>
              </a:rPr>
              <a:t>Disk 3 contains the Parity bits for Disk 0, Disk 1, and Disk 2. If data loss occurs, we can construct it with Disk 3</a:t>
            </a:r>
            <a:r>
              <a:rPr lang="en-US" sz="2000" dirty="0" smtClean="0">
                <a:latin typeface="Times New Roman" pitchFamily="18" charset="0"/>
                <a:cs typeface="Times New Roman" pitchFamily="18" charset="0"/>
              </a:rPr>
              <a:t>.</a:t>
            </a:r>
          </a:p>
          <a:p>
            <a:pPr lvl="1" algn="just"/>
            <a:r>
              <a:rPr lang="en-US" sz="2000" dirty="0" smtClean="0">
                <a:solidFill>
                  <a:srgbClr val="FF0000"/>
                </a:solidFill>
                <a:latin typeface="Times New Roman" pitchFamily="18" charset="0"/>
                <a:cs typeface="Times New Roman" pitchFamily="18" charset="0"/>
              </a:rPr>
              <a:t>RAID-2 and RAID-3 are not used anymore because the RAID-5 does what they do but better</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38</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1" name="Picture 10" descr="Raid-3"/>
          <p:cNvPicPr/>
          <p:nvPr/>
        </p:nvPicPr>
        <p:blipFill>
          <a:blip r:embed="rId4" cstate="print"/>
          <a:srcRect/>
          <a:stretch>
            <a:fillRect/>
          </a:stretch>
        </p:blipFill>
        <p:spPr bwMode="auto">
          <a:xfrm>
            <a:off x="2362200" y="2168769"/>
            <a:ext cx="4423532" cy="263183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Advantages of RAID-3 </a:t>
            </a:r>
            <a:endParaRPr lang="en-US" sz="2000" dirty="0" smtClean="0">
              <a:latin typeface="Times New Roman" pitchFamily="18" charset="0"/>
              <a:cs typeface="Times New Roman" pitchFamily="18" charset="0"/>
            </a:endParaRPr>
          </a:p>
          <a:p>
            <a:pPr lvl="1" algn="just"/>
            <a:r>
              <a:rPr lang="en-US" sz="1800" dirty="0" smtClean="0">
                <a:latin typeface="Times New Roman" pitchFamily="18" charset="0"/>
                <a:cs typeface="Times New Roman" pitchFamily="18" charset="0"/>
              </a:rPr>
              <a:t>Good </a:t>
            </a:r>
            <a:r>
              <a:rPr lang="en-US" sz="1800" dirty="0" smtClean="0">
                <a:latin typeface="Times New Roman" pitchFamily="18" charset="0"/>
                <a:cs typeface="Times New Roman" pitchFamily="18" charset="0"/>
              </a:rPr>
              <a:t>performance for large, sequential data transfers.</a:t>
            </a:r>
          </a:p>
          <a:p>
            <a:pPr lvl="1" algn="just"/>
            <a:r>
              <a:rPr lang="en-US" sz="1800" dirty="0" smtClean="0">
                <a:latin typeface="Times New Roman" pitchFamily="18" charset="0"/>
                <a:cs typeface="Times New Roman" pitchFamily="18" charset="0"/>
              </a:rPr>
              <a:t>It can move large amounts of data quickly</a:t>
            </a:r>
          </a:p>
          <a:p>
            <a:pPr lvl="1" algn="just"/>
            <a:r>
              <a:rPr lang="en-US" sz="1800" dirty="0" smtClean="0">
                <a:latin typeface="Times New Roman" pitchFamily="18" charset="0"/>
                <a:cs typeface="Times New Roman" pitchFamily="18" charset="0"/>
              </a:rPr>
              <a:t>Data can be accessed in parallel.</a:t>
            </a:r>
          </a:p>
          <a:p>
            <a:pPr lvl="1" algn="just"/>
            <a:r>
              <a:rPr lang="en-US" sz="1800" dirty="0" smtClean="0">
                <a:latin typeface="Times New Roman" pitchFamily="18" charset="0"/>
                <a:cs typeface="Times New Roman" pitchFamily="18" charset="0"/>
              </a:rPr>
              <a:t>Simpler implementation compared to RAID-2. It uses a single parity disk, making it easier and less expensive to set up.</a:t>
            </a:r>
          </a:p>
          <a:p>
            <a:pPr lvl="1" algn="just"/>
            <a:r>
              <a:rPr lang="en-US" sz="1800" dirty="0" smtClean="0">
                <a:latin typeface="Times New Roman" pitchFamily="18" charset="0"/>
                <a:cs typeface="Times New Roman" pitchFamily="18" charset="0"/>
              </a:rPr>
              <a:t>Efficient use of disk space with only one parity disk.</a:t>
            </a:r>
          </a:p>
          <a:p>
            <a:pPr lvl="1" algn="just"/>
            <a:r>
              <a:rPr lang="en-US" sz="1800" dirty="0" smtClean="0">
                <a:latin typeface="Times New Roman" pitchFamily="18" charset="0"/>
                <a:cs typeface="Times New Roman" pitchFamily="18" charset="0"/>
              </a:rPr>
              <a:t>Good for video editing.</a:t>
            </a:r>
          </a:p>
          <a:p>
            <a:pPr algn="just">
              <a:buNone/>
            </a:pPr>
            <a:endParaRPr lang="en-US" sz="2000" dirty="0" smtClean="0">
              <a:latin typeface="Times New Roman" pitchFamily="18" charset="0"/>
              <a:cs typeface="Times New Roman" pitchFamily="18" charset="0"/>
            </a:endParaRPr>
          </a:p>
          <a:p>
            <a:pPr algn="just">
              <a:buFont typeface="Wingdings" pitchFamily="2" charset="2"/>
              <a:buChar char="q"/>
            </a:pPr>
            <a:r>
              <a:rPr lang="en-US" sz="2000" b="1" dirty="0" smtClean="0">
                <a:latin typeface="Times New Roman" pitchFamily="18" charset="0"/>
                <a:cs typeface="Times New Roman" pitchFamily="18" charset="0"/>
              </a:rPr>
              <a:t>Disadvantages of RAID-3</a:t>
            </a:r>
            <a:endParaRPr lang="en-US" sz="2000" dirty="0" smtClean="0">
              <a:latin typeface="Times New Roman" pitchFamily="18" charset="0"/>
              <a:cs typeface="Times New Roman" pitchFamily="18" charset="0"/>
            </a:endParaRPr>
          </a:p>
          <a:p>
            <a:pPr lvl="1" algn="just" fontAlgn="base"/>
            <a:r>
              <a:rPr lang="en-US" sz="1800" dirty="0" smtClean="0">
                <a:latin typeface="Times New Roman" pitchFamily="18" charset="0"/>
                <a:cs typeface="Times New Roman" pitchFamily="18" charset="0"/>
              </a:rPr>
              <a:t>It requires an additional drive for parity.</a:t>
            </a:r>
          </a:p>
          <a:p>
            <a:pPr lvl="1" algn="just" fontAlgn="base"/>
            <a:r>
              <a:rPr lang="en-US" sz="1800" dirty="0" smtClean="0">
                <a:latin typeface="Times New Roman" pitchFamily="18" charset="0"/>
                <a:cs typeface="Times New Roman" pitchFamily="18" charset="0"/>
              </a:rPr>
              <a:t>It gives a slow performance for operating on small sized files.</a:t>
            </a:r>
          </a:p>
          <a:p>
            <a:pPr lvl="1" algn="just" fontAlgn="base"/>
            <a:r>
              <a:rPr lang="en-US" sz="1800" dirty="0" smtClean="0">
                <a:latin typeface="Times New Roman" pitchFamily="18" charset="0"/>
                <a:cs typeface="Times New Roman" pitchFamily="18" charset="0"/>
              </a:rPr>
              <a:t>RAID-5 does the same job but work better. </a:t>
            </a:r>
          </a:p>
          <a:p>
            <a:pPr lvl="1" algn="just"/>
            <a:r>
              <a:rPr lang="en-US" sz="1800" dirty="0" smtClean="0">
                <a:latin typeface="Times New Roman" pitchFamily="18" charset="0"/>
                <a:cs typeface="Times New Roman" pitchFamily="18" charset="0"/>
              </a:rPr>
              <a:t>RAID-3 is not used much today</a:t>
            </a:r>
          </a:p>
          <a:p>
            <a:pPr algn="just"/>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39</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Difference </a:t>
            </a:r>
            <a:r>
              <a:rPr lang="en-US" sz="2000" b="1" dirty="0" smtClean="0">
                <a:latin typeface="Times New Roman" pitchFamily="18" charset="0"/>
                <a:cs typeface="Times New Roman" pitchFamily="18" charset="0"/>
              </a:rPr>
              <a:t>between RAID-2 and RAID-3</a:t>
            </a:r>
          </a:p>
          <a:p>
            <a:pPr lvl="1" algn="just"/>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40</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 name="Table 10"/>
          <p:cNvGraphicFramePr>
            <a:graphicFrameLocks noGrp="1"/>
          </p:cNvGraphicFramePr>
          <p:nvPr/>
        </p:nvGraphicFramePr>
        <p:xfrm>
          <a:off x="1066800" y="2026423"/>
          <a:ext cx="7010400" cy="4490202"/>
        </p:xfrm>
        <a:graphic>
          <a:graphicData uri="http://schemas.openxmlformats.org/drawingml/2006/table">
            <a:tbl>
              <a:tblPr/>
              <a:tblGrid>
                <a:gridCol w="3505200"/>
                <a:gridCol w="3505200"/>
              </a:tblGrid>
              <a:tr h="287759">
                <a:tc>
                  <a:txBody>
                    <a:bodyPr/>
                    <a:lstStyle/>
                    <a:p>
                      <a:pPr marL="0" marR="0" algn="ctr">
                        <a:lnSpc>
                          <a:spcPct val="115000"/>
                        </a:lnSpc>
                        <a:spcBef>
                          <a:spcPts val="0"/>
                        </a:spcBef>
                        <a:spcAft>
                          <a:spcPts val="0"/>
                        </a:spcAft>
                      </a:pPr>
                      <a:r>
                        <a:rPr lang="en-US" sz="1200" b="1" kern="100" spc="5" dirty="0">
                          <a:latin typeface="Times New Roman"/>
                          <a:ea typeface="Calibri"/>
                          <a:cs typeface="Times New Roman"/>
                        </a:rPr>
                        <a:t>RAID-2</a:t>
                      </a:r>
                      <a:endParaRPr lang="en-US" sz="1200" kern="100" dirty="0">
                        <a:latin typeface="Calibri"/>
                        <a:ea typeface="Calibri"/>
                        <a:cs typeface="Times New Roman"/>
                      </a:endParaRPr>
                    </a:p>
                  </a:txBody>
                  <a:tcPr marL="31694" marR="31694" marT="48597" marB="4859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0"/>
                        </a:spcBef>
                        <a:spcAft>
                          <a:spcPts val="0"/>
                        </a:spcAft>
                      </a:pPr>
                      <a:r>
                        <a:rPr lang="en-US" sz="1200" b="1" kern="100" spc="5">
                          <a:latin typeface="Times New Roman"/>
                          <a:ea typeface="Calibri"/>
                          <a:cs typeface="Times New Roman"/>
                        </a:rPr>
                        <a:t>RAID-3</a:t>
                      </a:r>
                      <a:endParaRPr lang="en-US" sz="1200" kern="100">
                        <a:latin typeface="Calibri"/>
                        <a:ea typeface="Calibri"/>
                        <a:cs typeface="Times New Roman"/>
                      </a:endParaRPr>
                    </a:p>
                  </a:txBody>
                  <a:tcPr marL="48597" marR="48597" marT="48597" marB="48597"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29044">
                <a:tc>
                  <a:txBody>
                    <a:bodyPr/>
                    <a:lstStyle/>
                    <a:p>
                      <a:pPr marL="0" marR="0" algn="just">
                        <a:lnSpc>
                          <a:spcPct val="115000"/>
                        </a:lnSpc>
                        <a:spcBef>
                          <a:spcPts val="0"/>
                        </a:spcBef>
                        <a:spcAft>
                          <a:spcPts val="0"/>
                        </a:spcAft>
                      </a:pPr>
                      <a:r>
                        <a:rPr lang="en-US" sz="1200" kern="100" spc="5">
                          <a:latin typeface="Times New Roman"/>
                          <a:ea typeface="Calibri"/>
                          <a:cs typeface="Times New Roman"/>
                        </a:rPr>
                        <a:t>Bit-level Striping is used.</a:t>
                      </a:r>
                      <a:endParaRPr lang="en-US" sz="1200" kern="100">
                        <a:latin typeface="Calibri"/>
                        <a:ea typeface="Calibri"/>
                        <a:cs typeface="Times New Roman"/>
                      </a:endParaRPr>
                    </a:p>
                  </a:txBody>
                  <a:tcPr marL="48597" marR="48597" marT="68142" marB="6814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15000"/>
                        </a:lnSpc>
                        <a:spcBef>
                          <a:spcPts val="0"/>
                        </a:spcBef>
                        <a:spcAft>
                          <a:spcPts val="0"/>
                        </a:spcAft>
                      </a:pPr>
                      <a:r>
                        <a:rPr lang="en-US" sz="1200" kern="100" spc="5">
                          <a:latin typeface="Times New Roman"/>
                          <a:ea typeface="Calibri"/>
                          <a:cs typeface="Times New Roman"/>
                        </a:rPr>
                        <a:t>Byte-level Striping is used.</a:t>
                      </a:r>
                      <a:endParaRPr lang="en-US" sz="1200" kern="100">
                        <a:latin typeface="Calibri"/>
                        <a:ea typeface="Calibri"/>
                        <a:cs typeface="Times New Roman"/>
                      </a:endParaRPr>
                    </a:p>
                  </a:txBody>
                  <a:tcPr marL="48597" marR="48597" marT="68142" marB="6814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514149">
                <a:tc>
                  <a:txBody>
                    <a:bodyPr/>
                    <a:lstStyle/>
                    <a:p>
                      <a:pPr marL="0" marR="0" algn="just">
                        <a:lnSpc>
                          <a:spcPct val="115000"/>
                        </a:lnSpc>
                        <a:spcBef>
                          <a:spcPts val="0"/>
                        </a:spcBef>
                        <a:spcAft>
                          <a:spcPts val="0"/>
                        </a:spcAft>
                      </a:pPr>
                      <a:r>
                        <a:rPr lang="en-US" sz="1200" kern="100" spc="5">
                          <a:latin typeface="Times New Roman"/>
                          <a:ea typeface="Calibri"/>
                          <a:cs typeface="Times New Roman"/>
                        </a:rPr>
                        <a:t>One group of disk are used to write the data and other group is used to write the ECC.</a:t>
                      </a:r>
                      <a:endParaRPr lang="en-US" sz="1200" kern="100">
                        <a:latin typeface="Calibri"/>
                        <a:ea typeface="Calibri"/>
                        <a:cs typeface="Times New Roman"/>
                      </a:endParaRPr>
                    </a:p>
                  </a:txBody>
                  <a:tcPr marL="48597" marR="48597" marT="68142" marB="6814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15000"/>
                        </a:lnSpc>
                        <a:spcBef>
                          <a:spcPts val="0"/>
                        </a:spcBef>
                        <a:spcAft>
                          <a:spcPts val="0"/>
                        </a:spcAft>
                      </a:pPr>
                      <a:r>
                        <a:rPr lang="en-US" sz="1200" kern="100" spc="5" dirty="0">
                          <a:latin typeface="Times New Roman"/>
                          <a:ea typeface="Calibri"/>
                          <a:cs typeface="Times New Roman"/>
                        </a:rPr>
                        <a:t>Multiple disks are used for storing data and one dedicated disk is used to store parity</a:t>
                      </a:r>
                      <a:endParaRPr lang="en-US" sz="1200" kern="100" dirty="0">
                        <a:latin typeface="Calibri"/>
                        <a:ea typeface="Calibri"/>
                        <a:cs typeface="Times New Roman"/>
                      </a:endParaRPr>
                    </a:p>
                  </a:txBody>
                  <a:tcPr marL="48597" marR="48597" marT="68142" marB="6814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29044">
                <a:tc>
                  <a:txBody>
                    <a:bodyPr/>
                    <a:lstStyle/>
                    <a:p>
                      <a:pPr marL="0" marR="0" algn="just">
                        <a:lnSpc>
                          <a:spcPct val="115000"/>
                        </a:lnSpc>
                        <a:spcBef>
                          <a:spcPts val="0"/>
                        </a:spcBef>
                        <a:spcAft>
                          <a:spcPts val="0"/>
                        </a:spcAft>
                      </a:pPr>
                      <a:r>
                        <a:rPr lang="en-US" sz="1200" kern="100" spc="5" dirty="0">
                          <a:latin typeface="Times New Roman"/>
                          <a:ea typeface="Calibri"/>
                          <a:cs typeface="Times New Roman"/>
                        </a:rPr>
                        <a:t>Hamming code is used for Error detection.</a:t>
                      </a:r>
                      <a:endParaRPr lang="en-US" sz="1200" kern="100" dirty="0">
                        <a:latin typeface="Calibri"/>
                        <a:ea typeface="Calibri"/>
                        <a:cs typeface="Times New Roman"/>
                      </a:endParaRPr>
                    </a:p>
                  </a:txBody>
                  <a:tcPr marL="48597" marR="48597" marT="68142" marB="6814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15000"/>
                        </a:lnSpc>
                        <a:spcBef>
                          <a:spcPts val="0"/>
                        </a:spcBef>
                        <a:spcAft>
                          <a:spcPts val="0"/>
                        </a:spcAft>
                      </a:pPr>
                      <a:r>
                        <a:rPr lang="en-US" sz="1200" kern="100" spc="5">
                          <a:latin typeface="Times New Roman"/>
                          <a:ea typeface="Calibri"/>
                          <a:cs typeface="Times New Roman"/>
                        </a:rPr>
                        <a:t>Hamming code is not used.</a:t>
                      </a:r>
                      <a:endParaRPr lang="en-US" sz="1200" kern="100">
                        <a:latin typeface="Calibri"/>
                        <a:ea typeface="Calibri"/>
                        <a:cs typeface="Times New Roman"/>
                      </a:endParaRPr>
                    </a:p>
                  </a:txBody>
                  <a:tcPr marL="48597" marR="48597" marT="68142" marB="6814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29044">
                <a:tc>
                  <a:txBody>
                    <a:bodyPr/>
                    <a:lstStyle/>
                    <a:p>
                      <a:pPr marL="0" marR="0" algn="just">
                        <a:lnSpc>
                          <a:spcPct val="115000"/>
                        </a:lnSpc>
                        <a:spcBef>
                          <a:spcPts val="0"/>
                        </a:spcBef>
                        <a:spcAft>
                          <a:spcPts val="0"/>
                        </a:spcAft>
                      </a:pPr>
                      <a:r>
                        <a:rPr lang="en-US" sz="1200" kern="100" spc="5">
                          <a:latin typeface="Times New Roman"/>
                          <a:ea typeface="Calibri"/>
                          <a:cs typeface="Times New Roman"/>
                        </a:rPr>
                        <a:t>It requires extra drives for Error Code.</a:t>
                      </a:r>
                      <a:endParaRPr lang="en-US" sz="1200" kern="100">
                        <a:latin typeface="Calibri"/>
                        <a:ea typeface="Calibri"/>
                        <a:cs typeface="Times New Roman"/>
                      </a:endParaRPr>
                    </a:p>
                  </a:txBody>
                  <a:tcPr marL="48597" marR="48597" marT="68142" marB="6814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15000"/>
                        </a:lnSpc>
                        <a:spcBef>
                          <a:spcPts val="0"/>
                        </a:spcBef>
                        <a:spcAft>
                          <a:spcPts val="0"/>
                        </a:spcAft>
                      </a:pPr>
                      <a:r>
                        <a:rPr lang="en-US" sz="1200" kern="100" spc="5">
                          <a:latin typeface="Times New Roman"/>
                          <a:ea typeface="Calibri"/>
                          <a:cs typeface="Times New Roman"/>
                        </a:rPr>
                        <a:t>It requires extra drive for Parity.</a:t>
                      </a:r>
                      <a:endParaRPr lang="en-US" sz="1200" kern="100">
                        <a:latin typeface="Calibri"/>
                        <a:ea typeface="Calibri"/>
                        <a:cs typeface="Times New Roman"/>
                      </a:endParaRPr>
                    </a:p>
                  </a:txBody>
                  <a:tcPr marL="48597" marR="48597" marT="68142" marB="6814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699254">
                <a:tc>
                  <a:txBody>
                    <a:bodyPr/>
                    <a:lstStyle/>
                    <a:p>
                      <a:pPr marL="0" marR="0" algn="just">
                        <a:lnSpc>
                          <a:spcPct val="115000"/>
                        </a:lnSpc>
                        <a:spcBef>
                          <a:spcPts val="0"/>
                        </a:spcBef>
                        <a:spcAft>
                          <a:spcPts val="0"/>
                        </a:spcAft>
                      </a:pPr>
                      <a:r>
                        <a:rPr lang="en-US" sz="1200" kern="100" spc="5">
                          <a:latin typeface="Times New Roman"/>
                          <a:ea typeface="Calibri"/>
                          <a:cs typeface="Times New Roman"/>
                        </a:rPr>
                        <a:t>If one of the disk fails, the remaining bits of the byte and the associated ECC bits can be used to reconstruct the data.</a:t>
                      </a:r>
                      <a:endParaRPr lang="en-US" sz="1200" kern="100">
                        <a:latin typeface="Calibri"/>
                        <a:ea typeface="Calibri"/>
                        <a:cs typeface="Times New Roman"/>
                      </a:endParaRPr>
                    </a:p>
                  </a:txBody>
                  <a:tcPr marL="48597" marR="48597" marT="68142" marB="6814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15000"/>
                        </a:lnSpc>
                        <a:spcBef>
                          <a:spcPts val="0"/>
                        </a:spcBef>
                        <a:spcAft>
                          <a:spcPts val="0"/>
                        </a:spcAft>
                      </a:pPr>
                      <a:r>
                        <a:rPr lang="en-US" sz="1200" kern="100" spc="5" dirty="0">
                          <a:latin typeface="Times New Roman"/>
                          <a:ea typeface="Calibri"/>
                          <a:cs typeface="Times New Roman"/>
                        </a:rPr>
                        <a:t>In case of drive failure the parity bits is accessed and data is reconstructed from the remaining drive.</a:t>
                      </a:r>
                      <a:endParaRPr lang="en-US" sz="1200" kern="100" dirty="0">
                        <a:latin typeface="Calibri"/>
                        <a:ea typeface="Calibri"/>
                        <a:cs typeface="Times New Roman"/>
                      </a:endParaRPr>
                    </a:p>
                  </a:txBody>
                  <a:tcPr marL="48597" marR="48597" marT="68142" marB="6814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1809883">
                <a:tc>
                  <a:txBody>
                    <a:bodyPr/>
                    <a:lstStyle/>
                    <a:p>
                      <a:pPr marL="0" marR="0" algn="just">
                        <a:lnSpc>
                          <a:spcPct val="115000"/>
                        </a:lnSpc>
                        <a:spcBef>
                          <a:spcPts val="0"/>
                        </a:spcBef>
                        <a:spcAft>
                          <a:spcPts val="0"/>
                        </a:spcAft>
                      </a:pPr>
                      <a:r>
                        <a:rPr lang="en-US" sz="1200" kern="100" spc="5">
                          <a:latin typeface="Times New Roman"/>
                          <a:ea typeface="Calibri"/>
                          <a:cs typeface="Times New Roman"/>
                        </a:rPr>
                        <a:t>Data is divided into individual bits and then striped across multiple disks, with a dedicated parity disk that stores the parity information for all the data disks. The parity information is generated using Hamming code, which allows for single-bit error correction and detection. This means that if a disk fails, the data can be reconstructed using the parity information from the dedicated parity disk.</a:t>
                      </a:r>
                      <a:endParaRPr lang="en-US" sz="1200" kern="100">
                        <a:latin typeface="Calibri"/>
                        <a:ea typeface="Calibri"/>
                        <a:cs typeface="Times New Roman"/>
                      </a:endParaRPr>
                    </a:p>
                  </a:txBody>
                  <a:tcPr marL="48597" marR="48597" marT="68142" marB="6814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15000"/>
                        </a:lnSpc>
                        <a:spcBef>
                          <a:spcPts val="0"/>
                        </a:spcBef>
                        <a:spcAft>
                          <a:spcPts val="0"/>
                        </a:spcAft>
                      </a:pPr>
                      <a:r>
                        <a:rPr lang="en-US" sz="1200" kern="100" spc="5" dirty="0">
                          <a:latin typeface="Times New Roman"/>
                          <a:ea typeface="Calibri"/>
                          <a:cs typeface="Times New Roman"/>
                        </a:rPr>
                        <a:t>Data is striped across multiple disks, with one dedicated parity disk that stores the parity information for all the data disks. It splits data into larger data blocks. This means that if a disk fails, the data can be reconstructed using the parity information from the dedicated parity disk.</a:t>
                      </a:r>
                      <a:endParaRPr lang="en-US" sz="1200" kern="100" dirty="0">
                        <a:latin typeface="Calibri"/>
                        <a:ea typeface="Calibri"/>
                        <a:cs typeface="Times New Roman"/>
                      </a:endParaRPr>
                    </a:p>
                  </a:txBody>
                  <a:tcPr marL="48597" marR="48597" marT="68142" marB="6814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bl>
          </a:graphicData>
        </a:graphic>
      </p:graphicFrame>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RAID-4 (How does RAID-4 Work?) </a:t>
            </a:r>
          </a:p>
          <a:p>
            <a:pPr lvl="1" algn="just"/>
            <a:r>
              <a:rPr lang="en-US" sz="2000" dirty="0" smtClean="0">
                <a:latin typeface="Times New Roman" pitchFamily="18" charset="0"/>
                <a:cs typeface="Times New Roman" pitchFamily="18" charset="0"/>
              </a:rPr>
              <a:t>Block-Level </a:t>
            </a:r>
            <a:r>
              <a:rPr lang="en-US" sz="2000" dirty="0" smtClean="0">
                <a:latin typeface="Times New Roman" pitchFamily="18" charset="0"/>
                <a:cs typeface="Times New Roman" pitchFamily="18" charset="0"/>
              </a:rPr>
              <a:t>Striping</a:t>
            </a:r>
          </a:p>
          <a:p>
            <a:pPr lvl="1" algn="just"/>
            <a:r>
              <a:rPr lang="en-US" sz="2000" dirty="0" smtClean="0">
                <a:latin typeface="Times New Roman" pitchFamily="18" charset="0"/>
                <a:cs typeface="Times New Roman" pitchFamily="18" charset="0"/>
              </a:rPr>
              <a:t>Data is divided into blocks and distributed across multiple disks.</a:t>
            </a:r>
          </a:p>
          <a:p>
            <a:pPr lvl="1" algn="just"/>
            <a:r>
              <a:rPr lang="en-US" sz="2000" dirty="0" smtClean="0">
                <a:latin typeface="Times New Roman" pitchFamily="18" charset="0"/>
                <a:cs typeface="Times New Roman" pitchFamily="18" charset="0"/>
              </a:rPr>
              <a:t>All of the data blocks’ parity information is kept on a single disk.</a:t>
            </a:r>
          </a:p>
          <a:p>
            <a:pPr lvl="1" algn="just"/>
            <a:r>
              <a:rPr lang="en-US" sz="2000" dirty="0" smtClean="0">
                <a:latin typeface="Times New Roman" pitchFamily="18" charset="0"/>
                <a:cs typeface="Times New Roman" pitchFamily="18" charset="0"/>
              </a:rPr>
              <a:t>If one of the disks fails, the parity block can be used with the corresponding blocks from the other disks to restore the blocks of the failed disk.</a:t>
            </a:r>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41</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2" name="Picture 11" descr="Lightbox"/>
          <p:cNvPicPr/>
          <p:nvPr/>
        </p:nvPicPr>
        <p:blipFill>
          <a:blip r:embed="rId4"/>
          <a:srcRect/>
          <a:stretch>
            <a:fillRect/>
          </a:stretch>
        </p:blipFill>
        <p:spPr bwMode="auto">
          <a:xfrm>
            <a:off x="1828800" y="4114800"/>
            <a:ext cx="5029200" cy="1981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Advantages of RAID-4 </a:t>
            </a:r>
            <a:r>
              <a:rPr lang="en-US" sz="2000" b="1" dirty="0" smtClean="0">
                <a:latin typeface="Times New Roman" pitchFamily="18" charset="0"/>
                <a:cs typeface="Times New Roman" pitchFamily="18" charset="0"/>
              </a:rPr>
              <a:t> </a:t>
            </a:r>
            <a:endParaRPr lang="en-US" sz="2000" b="1" dirty="0" smtClean="0">
              <a:latin typeface="Times New Roman" pitchFamily="18" charset="0"/>
              <a:cs typeface="Times New Roman" pitchFamily="18" charset="0"/>
            </a:endParaRPr>
          </a:p>
          <a:p>
            <a:pPr lvl="1" algn="just"/>
            <a:r>
              <a:rPr lang="en-US" sz="2000" dirty="0" smtClean="0">
                <a:latin typeface="Times New Roman" pitchFamily="18" charset="0"/>
                <a:cs typeface="Times New Roman" pitchFamily="18" charset="0"/>
              </a:rPr>
              <a:t>RAID-4 </a:t>
            </a:r>
            <a:r>
              <a:rPr lang="en-US" sz="2000" dirty="0" smtClean="0">
                <a:latin typeface="Times New Roman" pitchFamily="18" charset="0"/>
                <a:cs typeface="Times New Roman" pitchFamily="18" charset="0"/>
              </a:rPr>
              <a:t>allows recovery of at most 1 disk failure.</a:t>
            </a:r>
          </a:p>
          <a:p>
            <a:pPr algn="just">
              <a:buNone/>
            </a:pPr>
            <a:endParaRPr lang="en-US" sz="2000" dirty="0" smtClean="0">
              <a:latin typeface="Times New Roman" pitchFamily="18" charset="0"/>
              <a:cs typeface="Times New Roman" pitchFamily="18" charset="0"/>
            </a:endParaRPr>
          </a:p>
          <a:p>
            <a:pPr algn="just">
              <a:buFont typeface="Wingdings" pitchFamily="2" charset="2"/>
              <a:buChar char="q"/>
            </a:pPr>
            <a:r>
              <a:rPr lang="en-US" sz="2000" b="1" dirty="0" smtClean="0">
                <a:latin typeface="Times New Roman" pitchFamily="18" charset="0"/>
                <a:cs typeface="Times New Roman" pitchFamily="18" charset="0"/>
              </a:rPr>
              <a:t>Disadvantages of RAID-4</a:t>
            </a:r>
            <a:endParaRPr lang="en-US" sz="2000" dirty="0" smtClean="0">
              <a:latin typeface="Times New Roman" pitchFamily="18" charset="0"/>
              <a:cs typeface="Times New Roman" pitchFamily="18" charset="0"/>
            </a:endParaRPr>
          </a:p>
          <a:p>
            <a:pPr lvl="1" algn="just"/>
            <a:r>
              <a:rPr lang="en-US" sz="2000" dirty="0" smtClean="0">
                <a:latin typeface="Times New Roman" pitchFamily="18" charset="0"/>
                <a:cs typeface="Times New Roman" pitchFamily="18" charset="0"/>
              </a:rPr>
              <a:t>If more than one disk fails, there is no way to recover the data.</a:t>
            </a:r>
          </a:p>
          <a:p>
            <a:pPr lvl="1" algn="just"/>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42</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Differences between RAID-3 and RAID-4 </a:t>
            </a:r>
            <a:r>
              <a:rPr lang="en-US" sz="2000" b="1" dirty="0" smtClean="0">
                <a:latin typeface="Times New Roman" pitchFamily="18" charset="0"/>
                <a:cs typeface="Times New Roman" pitchFamily="18" charset="0"/>
              </a:rPr>
              <a:t>  </a:t>
            </a:r>
            <a:endParaRPr lang="en-US" sz="2000" b="1" dirty="0" smtClean="0">
              <a:latin typeface="Times New Roman" pitchFamily="18" charset="0"/>
              <a:cs typeface="Times New Roman" pitchFamily="18" charset="0"/>
            </a:endParaRPr>
          </a:p>
          <a:p>
            <a:pPr algn="just">
              <a:buNone/>
            </a:pPr>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43</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 name="Table 10"/>
          <p:cNvGraphicFramePr>
            <a:graphicFrameLocks noGrp="1"/>
          </p:cNvGraphicFramePr>
          <p:nvPr/>
        </p:nvGraphicFramePr>
        <p:xfrm>
          <a:off x="990600" y="2362200"/>
          <a:ext cx="6629400" cy="3483739"/>
        </p:xfrm>
        <a:graphic>
          <a:graphicData uri="http://schemas.openxmlformats.org/drawingml/2006/table">
            <a:tbl>
              <a:tblPr/>
              <a:tblGrid>
                <a:gridCol w="3314700"/>
                <a:gridCol w="3314700"/>
              </a:tblGrid>
              <a:tr h="436699">
                <a:tc>
                  <a:txBody>
                    <a:bodyPr/>
                    <a:lstStyle/>
                    <a:p>
                      <a:pPr marL="0" marR="0" algn="ctr">
                        <a:lnSpc>
                          <a:spcPct val="115000"/>
                        </a:lnSpc>
                        <a:spcBef>
                          <a:spcPts val="0"/>
                        </a:spcBef>
                        <a:spcAft>
                          <a:spcPts val="0"/>
                        </a:spcAft>
                      </a:pPr>
                      <a:r>
                        <a:rPr lang="en-US" sz="1600" b="1" kern="100" spc="5" dirty="0">
                          <a:solidFill>
                            <a:srgbClr val="273239"/>
                          </a:solidFill>
                          <a:latin typeface="Times New Roman"/>
                          <a:ea typeface="Calibri"/>
                          <a:cs typeface="Times New Roman"/>
                        </a:rPr>
                        <a:t>RAID-3</a:t>
                      </a:r>
                      <a:endParaRPr lang="en-US" sz="1600" kern="100" dirty="0">
                        <a:latin typeface="Calibri"/>
                        <a:ea typeface="Calibri"/>
                        <a:cs typeface="Times New Roman"/>
                      </a:endParaRPr>
                    </a:p>
                  </a:txBody>
                  <a:tcPr marL="38100" marR="38100" marT="58420" marB="584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15000"/>
                        </a:lnSpc>
                        <a:spcBef>
                          <a:spcPts val="0"/>
                        </a:spcBef>
                        <a:spcAft>
                          <a:spcPts val="0"/>
                        </a:spcAft>
                      </a:pPr>
                      <a:r>
                        <a:rPr lang="en-US" sz="1600" b="1" kern="100" spc="5">
                          <a:solidFill>
                            <a:srgbClr val="273239"/>
                          </a:solidFill>
                          <a:latin typeface="Times New Roman"/>
                          <a:ea typeface="Calibri"/>
                          <a:cs typeface="Times New Roman"/>
                        </a:rPr>
                        <a:t>RAID-4</a:t>
                      </a:r>
                      <a:endParaRPr lang="en-US" sz="1600" kern="100">
                        <a:latin typeface="Calibri"/>
                        <a:ea typeface="Calibri"/>
                        <a:cs typeface="Times New Roman"/>
                      </a:endParaRPr>
                    </a:p>
                  </a:txBody>
                  <a:tcPr marL="58420" marR="58420" marT="58420" marB="5842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499424">
                <a:tc>
                  <a:txBody>
                    <a:bodyPr/>
                    <a:lstStyle/>
                    <a:p>
                      <a:pPr marL="0" marR="0" algn="just">
                        <a:lnSpc>
                          <a:spcPct val="115000"/>
                        </a:lnSpc>
                        <a:spcBef>
                          <a:spcPts val="0"/>
                        </a:spcBef>
                        <a:spcAft>
                          <a:spcPts val="0"/>
                        </a:spcAft>
                      </a:pPr>
                      <a:r>
                        <a:rPr lang="en-US" sz="1600" kern="100" spc="5" dirty="0">
                          <a:solidFill>
                            <a:srgbClr val="273239"/>
                          </a:solidFill>
                          <a:latin typeface="Times New Roman"/>
                          <a:ea typeface="Calibri"/>
                          <a:cs typeface="Times New Roman"/>
                        </a:rPr>
                        <a:t>Byte-level Striping is used.</a:t>
                      </a:r>
                      <a:endParaRPr lang="en-US" sz="1600" kern="100" dirty="0">
                        <a:latin typeface="Calibri"/>
                        <a:ea typeface="Calibri"/>
                        <a:cs typeface="Times New Roman"/>
                      </a:endParaRPr>
                    </a:p>
                  </a:txBody>
                  <a:tcPr marL="58420" marR="58420" marT="81915" marB="8191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15000"/>
                        </a:lnSpc>
                        <a:spcBef>
                          <a:spcPts val="0"/>
                        </a:spcBef>
                        <a:spcAft>
                          <a:spcPts val="0"/>
                        </a:spcAft>
                      </a:pPr>
                      <a:r>
                        <a:rPr lang="en-US" sz="1600" kern="100" spc="5">
                          <a:solidFill>
                            <a:srgbClr val="273239"/>
                          </a:solidFill>
                          <a:latin typeface="Times New Roman"/>
                          <a:ea typeface="Calibri"/>
                          <a:cs typeface="Times New Roman"/>
                        </a:rPr>
                        <a:t>Block-level Striping is used.</a:t>
                      </a:r>
                      <a:endParaRPr lang="en-US" sz="1600" kern="100">
                        <a:latin typeface="Calibri"/>
                        <a:ea typeface="Calibri"/>
                        <a:cs typeface="Times New Roman"/>
                      </a:endParaRPr>
                    </a:p>
                  </a:txBody>
                  <a:tcPr marL="58420" marR="58420" marT="81915" marB="8191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780159">
                <a:tc>
                  <a:txBody>
                    <a:bodyPr/>
                    <a:lstStyle/>
                    <a:p>
                      <a:pPr marL="0" marR="0" algn="just">
                        <a:lnSpc>
                          <a:spcPct val="115000"/>
                        </a:lnSpc>
                        <a:spcBef>
                          <a:spcPts val="0"/>
                        </a:spcBef>
                        <a:spcAft>
                          <a:spcPts val="0"/>
                        </a:spcAft>
                      </a:pPr>
                      <a:r>
                        <a:rPr lang="en-US" sz="1600" kern="100" spc="5" dirty="0">
                          <a:solidFill>
                            <a:srgbClr val="273239"/>
                          </a:solidFill>
                          <a:latin typeface="Times New Roman"/>
                          <a:ea typeface="Calibri"/>
                          <a:cs typeface="Times New Roman"/>
                        </a:rPr>
                        <a:t>Parity bits are generated for each disk section and stored on a different disk.</a:t>
                      </a:r>
                      <a:endParaRPr lang="en-US" sz="1600" kern="100" dirty="0">
                        <a:latin typeface="Calibri"/>
                        <a:ea typeface="Calibri"/>
                        <a:cs typeface="Times New Roman"/>
                      </a:endParaRPr>
                    </a:p>
                  </a:txBody>
                  <a:tcPr marL="58420" marR="58420" marT="81915" marB="8191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15000"/>
                        </a:lnSpc>
                        <a:spcBef>
                          <a:spcPts val="0"/>
                        </a:spcBef>
                        <a:spcAft>
                          <a:spcPts val="0"/>
                        </a:spcAft>
                      </a:pPr>
                      <a:r>
                        <a:rPr lang="en-US" sz="1600" kern="100" spc="5">
                          <a:solidFill>
                            <a:srgbClr val="273239"/>
                          </a:solidFill>
                          <a:latin typeface="Times New Roman"/>
                          <a:ea typeface="Calibri"/>
                          <a:cs typeface="Times New Roman"/>
                        </a:rPr>
                        <a:t>Parity bits are generated for the entire block of data and stored on a different disk</a:t>
                      </a:r>
                      <a:endParaRPr lang="en-US" sz="1600" kern="100">
                        <a:latin typeface="Calibri"/>
                        <a:ea typeface="Calibri"/>
                        <a:cs typeface="Times New Roman"/>
                      </a:endParaRPr>
                    </a:p>
                  </a:txBody>
                  <a:tcPr marL="58420" marR="58420" marT="81915" marB="8191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780159">
                <a:tc>
                  <a:txBody>
                    <a:bodyPr/>
                    <a:lstStyle/>
                    <a:p>
                      <a:pPr marL="0" marR="0" algn="just">
                        <a:lnSpc>
                          <a:spcPct val="115000"/>
                        </a:lnSpc>
                        <a:spcBef>
                          <a:spcPts val="0"/>
                        </a:spcBef>
                        <a:spcAft>
                          <a:spcPts val="0"/>
                        </a:spcAft>
                      </a:pPr>
                      <a:r>
                        <a:rPr lang="en-US" sz="1600" kern="100" spc="5">
                          <a:solidFill>
                            <a:srgbClr val="273239"/>
                          </a:solidFill>
                          <a:latin typeface="Times New Roman"/>
                          <a:ea typeface="Calibri"/>
                          <a:cs typeface="Times New Roman"/>
                        </a:rPr>
                        <a:t>Random read will have worst performance.</a:t>
                      </a:r>
                      <a:endParaRPr lang="en-US" sz="1600" kern="100">
                        <a:latin typeface="Calibri"/>
                        <a:ea typeface="Calibri"/>
                        <a:cs typeface="Times New Roman"/>
                      </a:endParaRPr>
                    </a:p>
                  </a:txBody>
                  <a:tcPr marL="58420" marR="58420" marT="81915" marB="8191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15000"/>
                        </a:lnSpc>
                        <a:spcBef>
                          <a:spcPts val="0"/>
                        </a:spcBef>
                        <a:spcAft>
                          <a:spcPts val="0"/>
                        </a:spcAft>
                      </a:pPr>
                      <a:r>
                        <a:rPr lang="en-US" sz="1600" kern="100" spc="5">
                          <a:solidFill>
                            <a:srgbClr val="273239"/>
                          </a:solidFill>
                          <a:latin typeface="Times New Roman"/>
                          <a:ea typeface="Calibri"/>
                          <a:cs typeface="Times New Roman"/>
                        </a:rPr>
                        <a:t>Good Random reads, as the data blocks are striped.</a:t>
                      </a:r>
                      <a:endParaRPr lang="en-US" sz="1600" kern="100">
                        <a:latin typeface="Calibri"/>
                        <a:ea typeface="Calibri"/>
                        <a:cs typeface="Times New Roman"/>
                      </a:endParaRPr>
                    </a:p>
                  </a:txBody>
                  <a:tcPr marL="58420" marR="58420" marT="81915" marB="8191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780159">
                <a:tc>
                  <a:txBody>
                    <a:bodyPr/>
                    <a:lstStyle/>
                    <a:p>
                      <a:pPr marL="0" marR="0" algn="just">
                        <a:lnSpc>
                          <a:spcPct val="115000"/>
                        </a:lnSpc>
                        <a:spcBef>
                          <a:spcPts val="0"/>
                        </a:spcBef>
                        <a:spcAft>
                          <a:spcPts val="0"/>
                        </a:spcAft>
                      </a:pPr>
                      <a:r>
                        <a:rPr lang="en-US" sz="1600" kern="100" spc="5">
                          <a:solidFill>
                            <a:srgbClr val="273239"/>
                          </a:solidFill>
                          <a:latin typeface="Times New Roman"/>
                          <a:ea typeface="Calibri"/>
                          <a:cs typeface="Times New Roman"/>
                        </a:rPr>
                        <a:t>Performance is good in case of large sized files.</a:t>
                      </a:r>
                      <a:endParaRPr lang="en-US" sz="1600" kern="100">
                        <a:latin typeface="Calibri"/>
                        <a:ea typeface="Calibri"/>
                        <a:cs typeface="Times New Roman"/>
                      </a:endParaRPr>
                    </a:p>
                  </a:txBody>
                  <a:tcPr marL="58420" marR="58420" marT="81915" marB="8191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just">
                        <a:lnSpc>
                          <a:spcPct val="115000"/>
                        </a:lnSpc>
                        <a:spcBef>
                          <a:spcPts val="0"/>
                        </a:spcBef>
                        <a:spcAft>
                          <a:spcPts val="0"/>
                        </a:spcAft>
                      </a:pPr>
                      <a:r>
                        <a:rPr lang="en-US" sz="1600" kern="100" spc="5" dirty="0">
                          <a:solidFill>
                            <a:srgbClr val="273239"/>
                          </a:solidFill>
                          <a:latin typeface="Times New Roman"/>
                          <a:ea typeface="Calibri"/>
                          <a:cs typeface="Times New Roman"/>
                        </a:rPr>
                        <a:t>Performance is low because only one block is accessed at a time</a:t>
                      </a:r>
                      <a:endParaRPr lang="en-US" sz="1600" kern="100" dirty="0">
                        <a:latin typeface="Calibri"/>
                        <a:ea typeface="Calibri"/>
                        <a:cs typeface="Times New Roman"/>
                      </a:endParaRPr>
                    </a:p>
                  </a:txBody>
                  <a:tcPr marL="58420" marR="58420" marT="81915" marB="81915"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bl>
          </a:graphicData>
        </a:graphic>
      </p:graphicFrame>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RAID-5 (How does RAID-5 Work?) </a:t>
            </a:r>
            <a:r>
              <a:rPr lang="en-US" sz="2000" b="1"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lvl="1" algn="just"/>
            <a:r>
              <a:rPr lang="en-US" sz="2000" dirty="0" smtClean="0">
                <a:latin typeface="Times New Roman" pitchFamily="18" charset="0"/>
                <a:cs typeface="Times New Roman" pitchFamily="18" charset="0"/>
              </a:rPr>
              <a:t>Known as </a:t>
            </a:r>
            <a:r>
              <a:rPr lang="en-US" sz="2000" b="1" dirty="0" smtClean="0">
                <a:latin typeface="Times New Roman" pitchFamily="18" charset="0"/>
                <a:cs typeface="Times New Roman" pitchFamily="18" charset="0"/>
              </a:rPr>
              <a:t>Block-Level Stripping</a:t>
            </a:r>
            <a:r>
              <a:rPr lang="en-US" sz="2000" dirty="0" smtClean="0">
                <a:latin typeface="Times New Roman" pitchFamily="18" charset="0"/>
                <a:cs typeface="Times New Roman" pitchFamily="18" charset="0"/>
              </a:rPr>
              <a:t> with Distributed Parity.</a:t>
            </a:r>
          </a:p>
          <a:p>
            <a:pPr lvl="1" algn="just"/>
            <a:r>
              <a:rPr lang="en-US" sz="2000" dirty="0" smtClean="0">
                <a:latin typeface="Times New Roman" pitchFamily="18" charset="0"/>
                <a:cs typeface="Times New Roman" pitchFamily="18" charset="0"/>
              </a:rPr>
              <a:t>RAID-5 is a slight modification of the RAID-4 system. The only difference is that in RAID-5, the </a:t>
            </a:r>
            <a:r>
              <a:rPr lang="en-US" sz="2000" b="1" dirty="0" smtClean="0">
                <a:latin typeface="Times New Roman" pitchFamily="18" charset="0"/>
                <a:cs typeface="Times New Roman" pitchFamily="18" charset="0"/>
              </a:rPr>
              <a:t>parity rotates</a:t>
            </a:r>
            <a:r>
              <a:rPr lang="en-US" sz="2000" dirty="0" smtClean="0">
                <a:latin typeface="Times New Roman" pitchFamily="18" charset="0"/>
                <a:cs typeface="Times New Roman" pitchFamily="18" charset="0"/>
              </a:rPr>
              <a:t> among the drives.</a:t>
            </a:r>
          </a:p>
          <a:p>
            <a:pPr lvl="1" algn="just"/>
            <a:r>
              <a:rPr lang="en-US" sz="2000" dirty="0" smtClean="0">
                <a:latin typeface="Times New Roman" pitchFamily="18" charset="0"/>
                <a:cs typeface="Times New Roman" pitchFamily="18" charset="0"/>
              </a:rPr>
              <a:t>It allows recovery of </a:t>
            </a:r>
            <a:r>
              <a:rPr lang="en-US" sz="2000" b="1" dirty="0" smtClean="0">
                <a:latin typeface="Times New Roman" pitchFamily="18" charset="0"/>
                <a:cs typeface="Times New Roman" pitchFamily="18" charset="0"/>
              </a:rPr>
              <a:t>at most 1 disk failure</a:t>
            </a:r>
            <a:r>
              <a:rPr lang="en-US" sz="2000" dirty="0" smtClean="0">
                <a:latin typeface="Times New Roman" pitchFamily="18" charset="0"/>
                <a:cs typeface="Times New Roman" pitchFamily="18" charset="0"/>
              </a:rPr>
              <a:t>. If more than one disk fails, there is no way to recover the data. This is identical to RAID-4. </a:t>
            </a:r>
          </a:p>
          <a:p>
            <a:pPr lvl="1" algn="just"/>
            <a:r>
              <a:rPr lang="en-US" sz="2000" dirty="0" smtClean="0">
                <a:latin typeface="Times New Roman" pitchFamily="18" charset="0"/>
                <a:cs typeface="Times New Roman" pitchFamily="18" charset="0"/>
              </a:rPr>
              <a:t>In RAID-5, data is equally divided in all disks and minimum number of physical disks needed is 3. </a:t>
            </a:r>
          </a:p>
          <a:p>
            <a:pPr lvl="1" algn="just"/>
            <a:r>
              <a:rPr lang="en-US" sz="2000" dirty="0" smtClean="0">
                <a:latin typeface="Times New Roman" pitchFamily="18" charset="0"/>
                <a:cs typeface="Times New Roman" pitchFamily="18" charset="0"/>
              </a:rPr>
              <a:t>RAID-5 is generally suited for medium level of applications.</a:t>
            </a:r>
          </a:p>
          <a:p>
            <a:pPr lvl="1" algn="just"/>
            <a:r>
              <a:rPr lang="en-US" sz="2000" dirty="0" smtClean="0">
                <a:latin typeface="Times New Roman" pitchFamily="18" charset="0"/>
                <a:cs typeface="Times New Roman" pitchFamily="18" charset="0"/>
              </a:rPr>
              <a:t>Overall space equivalent to one disk is utilized in storing the parity. Hence, (N-1) disks are made available for data storage. </a:t>
            </a:r>
          </a:p>
          <a:p>
            <a:pPr lvl="1" algn="just"/>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44</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RAID-5 (How does RAID-5 Work?) </a:t>
            </a:r>
            <a:r>
              <a:rPr lang="en-US" sz="2000" b="1"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lvl="1" algn="just"/>
            <a:r>
              <a:rPr lang="en-US" sz="2000" dirty="0" smtClean="0">
                <a:latin typeface="Times New Roman" pitchFamily="18" charset="0"/>
                <a:cs typeface="Times New Roman" pitchFamily="18" charset="0"/>
              </a:rPr>
              <a:t>The </a:t>
            </a:r>
            <a:r>
              <a:rPr lang="en-US" sz="2000" dirty="0" smtClean="0">
                <a:latin typeface="Times New Roman" pitchFamily="18" charset="0"/>
                <a:cs typeface="Times New Roman" pitchFamily="18" charset="0"/>
              </a:rPr>
              <a:t>following figure shows how the parity bit rotates.</a:t>
            </a:r>
          </a:p>
          <a:p>
            <a:pPr lvl="1" algn="just"/>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a:p>
            <a:pPr lvl="1" algn="just"/>
            <a:r>
              <a:rPr lang="en-US" sz="2000" dirty="0" smtClean="0">
                <a:latin typeface="Times New Roman" pitchFamily="18" charset="0"/>
                <a:cs typeface="Times New Roman" pitchFamily="18" charset="0"/>
              </a:rPr>
              <a:t>It shows how the first 20 blocks, numbered 0 to 19, and their parity blocks are laid out.</a:t>
            </a: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45</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1" name="Picture 10" descr="Lightbox"/>
          <p:cNvPicPr/>
          <p:nvPr/>
        </p:nvPicPr>
        <p:blipFill>
          <a:blip r:embed="rId4"/>
          <a:srcRect/>
          <a:stretch>
            <a:fillRect/>
          </a:stretch>
        </p:blipFill>
        <p:spPr bwMode="auto">
          <a:xfrm>
            <a:off x="2242771" y="2438400"/>
            <a:ext cx="4843829" cy="280181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Advantages of RAID-5 </a:t>
            </a:r>
            <a:r>
              <a:rPr lang="en-US" sz="2000" b="1"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lvl="1" algn="just" fontAlgn="base"/>
            <a:r>
              <a:rPr lang="en-US" sz="2000" dirty="0" smtClean="0">
                <a:latin typeface="Times New Roman" pitchFamily="18" charset="0"/>
                <a:cs typeface="Times New Roman" pitchFamily="18" charset="0"/>
              </a:rPr>
              <a:t>Data </a:t>
            </a:r>
            <a:r>
              <a:rPr lang="en-US" sz="2000" dirty="0" smtClean="0">
                <a:latin typeface="Times New Roman" pitchFamily="18" charset="0"/>
                <a:cs typeface="Times New Roman" pitchFamily="18" charset="0"/>
              </a:rPr>
              <a:t>can be reconstructed using parity bits.</a:t>
            </a:r>
            <a:endParaRPr lang="en-US" sz="2000" b="1" i="1" dirty="0" smtClean="0">
              <a:latin typeface="Times New Roman" pitchFamily="18" charset="0"/>
              <a:cs typeface="Times New Roman" pitchFamily="18" charset="0"/>
            </a:endParaRPr>
          </a:p>
          <a:p>
            <a:pPr lvl="1" algn="just" fontAlgn="base"/>
            <a:r>
              <a:rPr lang="en-US" sz="2000" dirty="0" smtClean="0">
                <a:latin typeface="Times New Roman" pitchFamily="18" charset="0"/>
                <a:cs typeface="Times New Roman" pitchFamily="18" charset="0"/>
              </a:rPr>
              <a:t>It makes the random write performance better. </a:t>
            </a:r>
            <a:endParaRPr lang="en-US" sz="2000" b="1" i="1" dirty="0" smtClean="0">
              <a:latin typeface="Times New Roman" pitchFamily="18" charset="0"/>
              <a:cs typeface="Times New Roman" pitchFamily="18" charset="0"/>
            </a:endParaRPr>
          </a:p>
          <a:p>
            <a:pPr algn="just">
              <a:buNone/>
            </a:pPr>
            <a:endParaRPr lang="en-US" sz="2000" dirty="0" smtClean="0">
              <a:latin typeface="Times New Roman" pitchFamily="18" charset="0"/>
              <a:cs typeface="Times New Roman" pitchFamily="18" charset="0"/>
            </a:endParaRPr>
          </a:p>
          <a:p>
            <a:pPr algn="just">
              <a:buFont typeface="Wingdings" pitchFamily="2" charset="2"/>
              <a:buChar char="q"/>
            </a:pPr>
            <a:r>
              <a:rPr lang="en-US" sz="2000" b="1" dirty="0" smtClean="0">
                <a:latin typeface="Times New Roman" pitchFamily="18" charset="0"/>
                <a:cs typeface="Times New Roman" pitchFamily="18" charset="0"/>
              </a:rPr>
              <a:t>Disadvantages of RAID-5</a:t>
            </a:r>
            <a:endParaRPr lang="en-US" sz="2000" dirty="0" smtClean="0">
              <a:latin typeface="Times New Roman" pitchFamily="18" charset="0"/>
              <a:cs typeface="Times New Roman" pitchFamily="18" charset="0"/>
            </a:endParaRPr>
          </a:p>
          <a:p>
            <a:pPr lvl="1" algn="just"/>
            <a:r>
              <a:rPr lang="en-US" sz="2000" dirty="0" smtClean="0">
                <a:latin typeface="Times New Roman" pitchFamily="18" charset="0"/>
                <a:cs typeface="Times New Roman" pitchFamily="18" charset="0"/>
              </a:rPr>
              <a:t>RAID-5 allows recovery of at most 1 disk failure. If more than one disk fails, there is no way to recover the data.</a:t>
            </a:r>
          </a:p>
          <a:p>
            <a:pPr lvl="1" algn="just"/>
            <a:r>
              <a:rPr lang="en-US" sz="2000" dirty="0" smtClean="0">
                <a:latin typeface="Times New Roman" pitchFamily="18" charset="0"/>
                <a:cs typeface="Times New Roman" pitchFamily="18" charset="0"/>
              </a:rPr>
              <a:t>Its technology is complex and extra space is required.</a:t>
            </a:r>
          </a:p>
          <a:p>
            <a:pPr lvl="1" algn="just"/>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46</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RAID-6 (How does RAID-6 Work?) </a:t>
            </a:r>
            <a:r>
              <a:rPr lang="en-US" sz="2000" b="1"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lvl="1" algn="just" fontAlgn="base"/>
            <a:r>
              <a:rPr lang="en-US" sz="2000" dirty="0" smtClean="0">
                <a:latin typeface="Times New Roman" pitchFamily="18" charset="0"/>
                <a:cs typeface="Times New Roman" pitchFamily="18" charset="0"/>
              </a:rPr>
              <a:t>Known as Block-Level Stripping with two Parity Bits.</a:t>
            </a:r>
          </a:p>
          <a:p>
            <a:pPr lvl="1" algn="just"/>
            <a:r>
              <a:rPr lang="en-US" sz="2000" dirty="0" smtClean="0">
                <a:latin typeface="Times New Roman" pitchFamily="18" charset="0"/>
                <a:cs typeface="Times New Roman" pitchFamily="18" charset="0"/>
              </a:rPr>
              <a:t>P + Q redundancy scheme: uses error-correcting codes such as the Reed–Solomon codes.</a:t>
            </a:r>
          </a:p>
          <a:p>
            <a:pPr lvl="1" algn="just"/>
            <a:r>
              <a:rPr lang="en-US" sz="2000" dirty="0" smtClean="0">
                <a:latin typeface="Times New Roman" pitchFamily="18" charset="0"/>
                <a:cs typeface="Times New Roman" pitchFamily="18" charset="0"/>
              </a:rPr>
              <a:t>RAID-6 is an extension of RAID-5. In this level two independent parities are generated and stored in distributed fashion among multiple disks. </a:t>
            </a:r>
          </a:p>
          <a:p>
            <a:pPr lvl="1" algn="just"/>
            <a:r>
              <a:rPr lang="en-US" sz="2000" dirty="0" smtClean="0">
                <a:latin typeface="Times New Roman" pitchFamily="18" charset="0"/>
                <a:cs typeface="Times New Roman" pitchFamily="18" charset="0"/>
              </a:rPr>
              <a:t>The use of additional parity enables the array to continue functioning, even if two disks fail simultaneously.</a:t>
            </a:r>
          </a:p>
          <a:p>
            <a:pPr lvl="1" algn="just"/>
            <a:r>
              <a:rPr lang="en-US" sz="2000" dirty="0" smtClean="0">
                <a:latin typeface="Times New Roman" pitchFamily="18" charset="0"/>
                <a:cs typeface="Times New Roman" pitchFamily="18" charset="0"/>
              </a:rPr>
              <a:t>Two parities provide additional fault tolerance.  </a:t>
            </a:r>
          </a:p>
          <a:p>
            <a:pPr lvl="1" algn="just"/>
            <a:r>
              <a:rPr lang="en-US" sz="2000" dirty="0" smtClean="0">
                <a:latin typeface="Times New Roman" pitchFamily="18" charset="0"/>
                <a:cs typeface="Times New Roman" pitchFamily="18" charset="0"/>
              </a:rPr>
              <a:t>It requires at least 4 disk drives to implement.</a:t>
            </a:r>
            <a:endParaRPr lang="en-US" sz="2000" b="1" i="1" dirty="0" smtClean="0">
              <a:latin typeface="Times New Roman" pitchFamily="18" charset="0"/>
              <a:cs typeface="Times New Roman" pitchFamily="18" charset="0"/>
            </a:endParaRPr>
          </a:p>
          <a:p>
            <a:pPr lvl="1" algn="just" fontAlgn="base"/>
            <a:endParaRPr lang="en-US" sz="2000" b="1" i="1" dirty="0" smtClean="0">
              <a:latin typeface="Times New Roman" pitchFamily="18" charset="0"/>
              <a:cs typeface="Times New Roman" pitchFamily="18" charset="0"/>
            </a:endParaRPr>
          </a:p>
          <a:p>
            <a:pPr algn="just">
              <a:buNone/>
            </a:pPr>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47</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RAID-6 (How does RAID-6 Work?) </a:t>
            </a:r>
            <a:r>
              <a:rPr lang="en-US" sz="2000" b="1"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lvl="1" algn="just" fontAlgn="base"/>
            <a:endParaRPr lang="en-US" sz="2000" dirty="0" smtClean="0">
              <a:latin typeface="Times New Roman" pitchFamily="18" charset="0"/>
              <a:cs typeface="Times New Roman" pitchFamily="18" charset="0"/>
            </a:endParaRPr>
          </a:p>
          <a:p>
            <a:pPr lvl="1" algn="just" fontAlgn="base"/>
            <a:endParaRPr lang="en-US" sz="2000" b="1" i="1" dirty="0" smtClean="0">
              <a:latin typeface="Times New Roman" pitchFamily="18" charset="0"/>
              <a:cs typeface="Times New Roman" pitchFamily="18" charset="0"/>
            </a:endParaRPr>
          </a:p>
          <a:p>
            <a:pPr algn="just">
              <a:buNone/>
            </a:pPr>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48</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11" name="Table 10"/>
          <p:cNvGraphicFramePr>
            <a:graphicFrameLocks noGrp="1"/>
          </p:cNvGraphicFramePr>
          <p:nvPr/>
        </p:nvGraphicFramePr>
        <p:xfrm>
          <a:off x="1295400" y="2438400"/>
          <a:ext cx="6096000" cy="2549019"/>
        </p:xfrm>
        <a:graphic>
          <a:graphicData uri="http://schemas.openxmlformats.org/drawingml/2006/table">
            <a:tbl>
              <a:tblPr/>
              <a:tblGrid>
                <a:gridCol w="1524000"/>
                <a:gridCol w="1524000"/>
                <a:gridCol w="1524000"/>
                <a:gridCol w="1524000"/>
              </a:tblGrid>
              <a:tr h="274320">
                <a:tc>
                  <a:txBody>
                    <a:bodyPr/>
                    <a:lstStyle/>
                    <a:p>
                      <a:pPr marL="0" marR="0" algn="ctr">
                        <a:lnSpc>
                          <a:spcPct val="107000"/>
                        </a:lnSpc>
                        <a:spcBef>
                          <a:spcPts val="0"/>
                        </a:spcBef>
                        <a:spcAft>
                          <a:spcPts val="0"/>
                        </a:spcAft>
                      </a:pPr>
                      <a:r>
                        <a:rPr lang="en-US" sz="1800" b="1" kern="100" dirty="0">
                          <a:latin typeface="Times New Roman"/>
                          <a:ea typeface="Calibri"/>
                          <a:cs typeface="Times New Roman"/>
                        </a:rPr>
                        <a:t>Disk 1</a:t>
                      </a:r>
                      <a:endParaRPr lang="en-US" sz="1800" kern="100" dirty="0">
                        <a:latin typeface="Calibri"/>
                        <a:ea typeface="Calibri"/>
                        <a:cs typeface="Times New Roman"/>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07000"/>
                        </a:lnSpc>
                        <a:spcBef>
                          <a:spcPts val="0"/>
                        </a:spcBef>
                        <a:spcAft>
                          <a:spcPts val="0"/>
                        </a:spcAft>
                      </a:pPr>
                      <a:r>
                        <a:rPr lang="en-US" sz="1800" b="1" kern="100">
                          <a:latin typeface="Times New Roman"/>
                          <a:ea typeface="Calibri"/>
                          <a:cs typeface="Times New Roman"/>
                        </a:rPr>
                        <a:t>Disk 2</a:t>
                      </a:r>
                      <a:endParaRPr lang="en-US" sz="1800" kern="100">
                        <a:latin typeface="Calibri"/>
                        <a:ea typeface="Calibri"/>
                        <a:cs typeface="Times New Roman"/>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07000"/>
                        </a:lnSpc>
                        <a:spcBef>
                          <a:spcPts val="0"/>
                        </a:spcBef>
                        <a:spcAft>
                          <a:spcPts val="0"/>
                        </a:spcAft>
                      </a:pPr>
                      <a:r>
                        <a:rPr lang="en-US" sz="1800" b="1" kern="100">
                          <a:latin typeface="Times New Roman"/>
                          <a:ea typeface="Calibri"/>
                          <a:cs typeface="Times New Roman"/>
                        </a:rPr>
                        <a:t>Disk 3</a:t>
                      </a:r>
                      <a:endParaRPr lang="en-US" sz="1800" kern="100">
                        <a:latin typeface="Calibri"/>
                        <a:ea typeface="Calibri"/>
                        <a:cs typeface="Times New Roman"/>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07000"/>
                        </a:lnSpc>
                        <a:spcBef>
                          <a:spcPts val="0"/>
                        </a:spcBef>
                        <a:spcAft>
                          <a:spcPts val="0"/>
                        </a:spcAft>
                      </a:pPr>
                      <a:r>
                        <a:rPr lang="en-US" sz="1800" b="1" kern="100">
                          <a:latin typeface="Times New Roman"/>
                          <a:ea typeface="Calibri"/>
                          <a:cs typeface="Times New Roman"/>
                        </a:rPr>
                        <a:t>Disk 4</a:t>
                      </a:r>
                      <a:endParaRPr lang="en-US" sz="1800" kern="100">
                        <a:latin typeface="Calibri"/>
                        <a:ea typeface="Calibri"/>
                        <a:cs typeface="Times New Roman"/>
                      </a:endParaRPr>
                    </a:p>
                  </a:txBody>
                  <a:tcPr marL="95250" marR="95250" marT="95250" marB="9525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182880">
                <a:tc>
                  <a:txBody>
                    <a:bodyPr/>
                    <a:lstStyle/>
                    <a:p>
                      <a:pPr marL="0" marR="0" algn="ctr">
                        <a:lnSpc>
                          <a:spcPct val="150000"/>
                        </a:lnSpc>
                        <a:spcBef>
                          <a:spcPts val="0"/>
                        </a:spcBef>
                        <a:spcAft>
                          <a:spcPts val="0"/>
                        </a:spcAft>
                      </a:pPr>
                      <a:r>
                        <a:rPr lang="en-US" sz="1800" kern="100">
                          <a:latin typeface="Times New Roman"/>
                          <a:ea typeface="Calibri"/>
                          <a:cs typeface="Times New Roman"/>
                        </a:rPr>
                        <a:t>A0</a:t>
                      </a:r>
                      <a:endParaRPr lang="en-US" sz="1800" kern="100">
                        <a:latin typeface="Calibri"/>
                        <a:ea typeface="Calibri"/>
                        <a:cs typeface="Times New Roman"/>
                      </a:endParaRPr>
                    </a:p>
                  </a:txBody>
                  <a:tcPr marL="76200" marR="76200" marT="76200" marB="762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50000"/>
                        </a:lnSpc>
                        <a:spcBef>
                          <a:spcPts val="0"/>
                        </a:spcBef>
                        <a:spcAft>
                          <a:spcPts val="0"/>
                        </a:spcAft>
                      </a:pPr>
                      <a:r>
                        <a:rPr lang="en-US" sz="1800" kern="100">
                          <a:latin typeface="Times New Roman"/>
                          <a:ea typeface="Calibri"/>
                          <a:cs typeface="Times New Roman"/>
                        </a:rPr>
                        <a:t>B0</a:t>
                      </a:r>
                      <a:endParaRPr lang="en-US" sz="1800" kern="100">
                        <a:latin typeface="Calibri"/>
                        <a:ea typeface="Calibri"/>
                        <a:cs typeface="Times New Roman"/>
                      </a:endParaRPr>
                    </a:p>
                  </a:txBody>
                  <a:tcPr marL="76200" marR="76200" marT="76200" marB="762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50000"/>
                        </a:lnSpc>
                        <a:spcBef>
                          <a:spcPts val="0"/>
                        </a:spcBef>
                        <a:spcAft>
                          <a:spcPts val="0"/>
                        </a:spcAft>
                      </a:pPr>
                      <a:r>
                        <a:rPr lang="en-US" sz="1800" kern="100">
                          <a:latin typeface="Times New Roman"/>
                          <a:ea typeface="Calibri"/>
                          <a:cs typeface="Times New Roman"/>
                        </a:rPr>
                        <a:t>Q0</a:t>
                      </a:r>
                      <a:endParaRPr lang="en-US" sz="1800" kern="100">
                        <a:latin typeface="Calibri"/>
                        <a:ea typeface="Calibri"/>
                        <a:cs typeface="Times New Roman"/>
                      </a:endParaRPr>
                    </a:p>
                  </a:txBody>
                  <a:tcPr marL="76200" marR="76200" marT="76200" marB="762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50000"/>
                        </a:lnSpc>
                        <a:spcBef>
                          <a:spcPts val="0"/>
                        </a:spcBef>
                        <a:spcAft>
                          <a:spcPts val="0"/>
                        </a:spcAft>
                      </a:pPr>
                      <a:r>
                        <a:rPr lang="en-US" sz="1800" kern="100">
                          <a:latin typeface="Times New Roman"/>
                          <a:ea typeface="Calibri"/>
                          <a:cs typeface="Times New Roman"/>
                        </a:rPr>
                        <a:t>P0</a:t>
                      </a:r>
                      <a:endParaRPr lang="en-US" sz="1800" kern="100">
                        <a:latin typeface="Calibri"/>
                        <a:ea typeface="Calibri"/>
                        <a:cs typeface="Times New Roman"/>
                      </a:endParaRPr>
                    </a:p>
                  </a:txBody>
                  <a:tcPr marL="76200" marR="76200" marT="76200" marB="762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182880">
                <a:tc>
                  <a:txBody>
                    <a:bodyPr/>
                    <a:lstStyle/>
                    <a:p>
                      <a:pPr marL="0" marR="0" algn="ctr">
                        <a:lnSpc>
                          <a:spcPct val="150000"/>
                        </a:lnSpc>
                        <a:spcBef>
                          <a:spcPts val="0"/>
                        </a:spcBef>
                        <a:spcAft>
                          <a:spcPts val="0"/>
                        </a:spcAft>
                      </a:pPr>
                      <a:r>
                        <a:rPr lang="en-US" sz="1800" kern="100">
                          <a:latin typeface="Times New Roman"/>
                          <a:ea typeface="Calibri"/>
                          <a:cs typeface="Times New Roman"/>
                        </a:rPr>
                        <a:t>A1</a:t>
                      </a:r>
                      <a:endParaRPr lang="en-US" sz="1800" kern="100">
                        <a:latin typeface="Calibri"/>
                        <a:ea typeface="Calibri"/>
                        <a:cs typeface="Times New Roman"/>
                      </a:endParaRPr>
                    </a:p>
                  </a:txBody>
                  <a:tcPr marL="76200" marR="76200" marT="76200" marB="762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50000"/>
                        </a:lnSpc>
                        <a:spcBef>
                          <a:spcPts val="0"/>
                        </a:spcBef>
                        <a:spcAft>
                          <a:spcPts val="0"/>
                        </a:spcAft>
                      </a:pPr>
                      <a:r>
                        <a:rPr lang="en-US" sz="1800" kern="100">
                          <a:latin typeface="Times New Roman"/>
                          <a:ea typeface="Calibri"/>
                          <a:cs typeface="Times New Roman"/>
                        </a:rPr>
                        <a:t>Q1</a:t>
                      </a:r>
                      <a:endParaRPr lang="en-US" sz="1800" kern="100">
                        <a:latin typeface="Calibri"/>
                        <a:ea typeface="Calibri"/>
                        <a:cs typeface="Times New Roman"/>
                      </a:endParaRPr>
                    </a:p>
                  </a:txBody>
                  <a:tcPr marL="76200" marR="76200" marT="76200" marB="762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50000"/>
                        </a:lnSpc>
                        <a:spcBef>
                          <a:spcPts val="0"/>
                        </a:spcBef>
                        <a:spcAft>
                          <a:spcPts val="0"/>
                        </a:spcAft>
                      </a:pPr>
                      <a:r>
                        <a:rPr lang="en-US" sz="1800" kern="100">
                          <a:latin typeface="Times New Roman"/>
                          <a:ea typeface="Calibri"/>
                          <a:cs typeface="Times New Roman"/>
                        </a:rPr>
                        <a:t>P1</a:t>
                      </a:r>
                      <a:endParaRPr lang="en-US" sz="1800" kern="100">
                        <a:latin typeface="Calibri"/>
                        <a:ea typeface="Calibri"/>
                        <a:cs typeface="Times New Roman"/>
                      </a:endParaRPr>
                    </a:p>
                  </a:txBody>
                  <a:tcPr marL="76200" marR="76200" marT="76200" marB="762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50000"/>
                        </a:lnSpc>
                        <a:spcBef>
                          <a:spcPts val="0"/>
                        </a:spcBef>
                        <a:spcAft>
                          <a:spcPts val="0"/>
                        </a:spcAft>
                      </a:pPr>
                      <a:r>
                        <a:rPr lang="en-US" sz="1800" kern="100">
                          <a:latin typeface="Times New Roman"/>
                          <a:ea typeface="Calibri"/>
                          <a:cs typeface="Times New Roman"/>
                        </a:rPr>
                        <a:t>D1</a:t>
                      </a:r>
                      <a:endParaRPr lang="en-US" sz="1800" kern="100">
                        <a:latin typeface="Calibri"/>
                        <a:ea typeface="Calibri"/>
                        <a:cs typeface="Times New Roman"/>
                      </a:endParaRPr>
                    </a:p>
                  </a:txBody>
                  <a:tcPr marL="76200" marR="76200" marT="76200" marB="762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182880">
                <a:tc>
                  <a:txBody>
                    <a:bodyPr/>
                    <a:lstStyle/>
                    <a:p>
                      <a:pPr marL="0" marR="0" algn="ctr">
                        <a:lnSpc>
                          <a:spcPct val="150000"/>
                        </a:lnSpc>
                        <a:spcBef>
                          <a:spcPts val="0"/>
                        </a:spcBef>
                        <a:spcAft>
                          <a:spcPts val="0"/>
                        </a:spcAft>
                      </a:pPr>
                      <a:r>
                        <a:rPr lang="en-US" sz="1800" kern="100">
                          <a:latin typeface="Times New Roman"/>
                          <a:ea typeface="Calibri"/>
                          <a:cs typeface="Times New Roman"/>
                        </a:rPr>
                        <a:t>Q2</a:t>
                      </a:r>
                      <a:endParaRPr lang="en-US" sz="1800" kern="100">
                        <a:latin typeface="Calibri"/>
                        <a:ea typeface="Calibri"/>
                        <a:cs typeface="Times New Roman"/>
                      </a:endParaRPr>
                    </a:p>
                  </a:txBody>
                  <a:tcPr marL="76200" marR="76200" marT="76200" marB="762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50000"/>
                        </a:lnSpc>
                        <a:spcBef>
                          <a:spcPts val="0"/>
                        </a:spcBef>
                        <a:spcAft>
                          <a:spcPts val="0"/>
                        </a:spcAft>
                      </a:pPr>
                      <a:r>
                        <a:rPr lang="en-US" sz="1800" kern="100">
                          <a:latin typeface="Times New Roman"/>
                          <a:ea typeface="Calibri"/>
                          <a:cs typeface="Times New Roman"/>
                        </a:rPr>
                        <a:t>P2</a:t>
                      </a:r>
                      <a:endParaRPr lang="en-US" sz="1800" kern="100">
                        <a:latin typeface="Calibri"/>
                        <a:ea typeface="Calibri"/>
                        <a:cs typeface="Times New Roman"/>
                      </a:endParaRPr>
                    </a:p>
                  </a:txBody>
                  <a:tcPr marL="76200" marR="76200" marT="76200" marB="762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50000"/>
                        </a:lnSpc>
                        <a:spcBef>
                          <a:spcPts val="0"/>
                        </a:spcBef>
                        <a:spcAft>
                          <a:spcPts val="0"/>
                        </a:spcAft>
                      </a:pPr>
                      <a:r>
                        <a:rPr lang="en-US" sz="1800" kern="100">
                          <a:latin typeface="Times New Roman"/>
                          <a:ea typeface="Calibri"/>
                          <a:cs typeface="Times New Roman"/>
                        </a:rPr>
                        <a:t>C2</a:t>
                      </a:r>
                      <a:endParaRPr lang="en-US" sz="1800" kern="100">
                        <a:latin typeface="Calibri"/>
                        <a:ea typeface="Calibri"/>
                        <a:cs typeface="Times New Roman"/>
                      </a:endParaRPr>
                    </a:p>
                  </a:txBody>
                  <a:tcPr marL="76200" marR="76200" marT="76200" marB="762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50000"/>
                        </a:lnSpc>
                        <a:spcBef>
                          <a:spcPts val="0"/>
                        </a:spcBef>
                        <a:spcAft>
                          <a:spcPts val="0"/>
                        </a:spcAft>
                      </a:pPr>
                      <a:r>
                        <a:rPr lang="en-US" sz="1800" kern="100">
                          <a:latin typeface="Times New Roman"/>
                          <a:ea typeface="Calibri"/>
                          <a:cs typeface="Times New Roman"/>
                        </a:rPr>
                        <a:t>D2</a:t>
                      </a:r>
                      <a:endParaRPr lang="en-US" sz="1800" kern="100">
                        <a:latin typeface="Calibri"/>
                        <a:ea typeface="Calibri"/>
                        <a:cs typeface="Times New Roman"/>
                      </a:endParaRPr>
                    </a:p>
                  </a:txBody>
                  <a:tcPr marL="76200" marR="76200" marT="76200" marB="762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182880">
                <a:tc>
                  <a:txBody>
                    <a:bodyPr/>
                    <a:lstStyle/>
                    <a:p>
                      <a:pPr marL="0" marR="0" algn="ctr">
                        <a:lnSpc>
                          <a:spcPct val="150000"/>
                        </a:lnSpc>
                        <a:spcBef>
                          <a:spcPts val="0"/>
                        </a:spcBef>
                        <a:spcAft>
                          <a:spcPts val="0"/>
                        </a:spcAft>
                      </a:pPr>
                      <a:r>
                        <a:rPr lang="en-US" sz="1800" kern="100">
                          <a:latin typeface="Times New Roman"/>
                          <a:ea typeface="Calibri"/>
                          <a:cs typeface="Times New Roman"/>
                        </a:rPr>
                        <a:t>P3</a:t>
                      </a:r>
                      <a:endParaRPr lang="en-US" sz="1800" kern="100">
                        <a:latin typeface="Calibri"/>
                        <a:ea typeface="Calibri"/>
                        <a:cs typeface="Times New Roman"/>
                      </a:endParaRPr>
                    </a:p>
                  </a:txBody>
                  <a:tcPr marL="76200" marR="76200" marT="76200" marB="762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50000"/>
                        </a:lnSpc>
                        <a:spcBef>
                          <a:spcPts val="0"/>
                        </a:spcBef>
                        <a:spcAft>
                          <a:spcPts val="0"/>
                        </a:spcAft>
                      </a:pPr>
                      <a:r>
                        <a:rPr lang="en-US" sz="1800" kern="100">
                          <a:latin typeface="Times New Roman"/>
                          <a:ea typeface="Calibri"/>
                          <a:cs typeface="Times New Roman"/>
                        </a:rPr>
                        <a:t>B3</a:t>
                      </a:r>
                      <a:endParaRPr lang="en-US" sz="1800" kern="100">
                        <a:latin typeface="Calibri"/>
                        <a:ea typeface="Calibri"/>
                        <a:cs typeface="Times New Roman"/>
                      </a:endParaRPr>
                    </a:p>
                  </a:txBody>
                  <a:tcPr marL="76200" marR="76200" marT="76200" marB="762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50000"/>
                        </a:lnSpc>
                        <a:spcBef>
                          <a:spcPts val="0"/>
                        </a:spcBef>
                        <a:spcAft>
                          <a:spcPts val="0"/>
                        </a:spcAft>
                      </a:pPr>
                      <a:r>
                        <a:rPr lang="en-US" sz="1800" kern="100">
                          <a:latin typeface="Times New Roman"/>
                          <a:ea typeface="Calibri"/>
                          <a:cs typeface="Times New Roman"/>
                        </a:rPr>
                        <a:t>C3</a:t>
                      </a:r>
                      <a:endParaRPr lang="en-US" sz="1800" kern="100">
                        <a:latin typeface="Calibri"/>
                        <a:ea typeface="Calibri"/>
                        <a:cs typeface="Times New Roman"/>
                      </a:endParaRPr>
                    </a:p>
                  </a:txBody>
                  <a:tcPr marL="76200" marR="76200" marT="76200" marB="762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lnSpc>
                          <a:spcPct val="150000"/>
                        </a:lnSpc>
                        <a:spcBef>
                          <a:spcPts val="0"/>
                        </a:spcBef>
                        <a:spcAft>
                          <a:spcPts val="0"/>
                        </a:spcAft>
                      </a:pPr>
                      <a:r>
                        <a:rPr lang="en-US" sz="1800" kern="100" dirty="0">
                          <a:latin typeface="Times New Roman"/>
                          <a:ea typeface="Calibri"/>
                          <a:cs typeface="Times New Roman"/>
                        </a:rPr>
                        <a:t>Q3</a:t>
                      </a:r>
                      <a:endParaRPr lang="en-US" sz="1800" kern="100" dirty="0">
                        <a:latin typeface="Calibri"/>
                        <a:ea typeface="Calibri"/>
                        <a:cs typeface="Times New Roman"/>
                      </a:endParaRPr>
                    </a:p>
                  </a:txBody>
                  <a:tcPr marL="76200" marR="76200" marT="76200" marB="7620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bl>
          </a:graphicData>
        </a:graphic>
      </p:graphicFrame>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RAID-6 (How does RAID-6 Work?) </a:t>
            </a:r>
            <a:r>
              <a:rPr lang="en-US" sz="2000" b="1"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algn="just"/>
            <a:endParaRPr lang="en-US" sz="2000" dirty="0" smtClean="0">
              <a:latin typeface="Times New Roman" pitchFamily="18" charset="0"/>
              <a:cs typeface="Times New Roman" pitchFamily="18" charset="0"/>
            </a:endParaRPr>
          </a:p>
          <a:p>
            <a:pPr lvl="1" algn="just" fontAlgn="base"/>
            <a:endParaRPr lang="en-US" sz="2000" dirty="0" smtClean="0">
              <a:latin typeface="Times New Roman" pitchFamily="18" charset="0"/>
              <a:cs typeface="Times New Roman" pitchFamily="18" charset="0"/>
            </a:endParaRPr>
          </a:p>
          <a:p>
            <a:pPr lvl="1" algn="just" fontAlgn="base"/>
            <a:endParaRPr lang="en-US" sz="2000" b="1" i="1" dirty="0" smtClean="0">
              <a:latin typeface="Times New Roman" pitchFamily="18" charset="0"/>
              <a:cs typeface="Times New Roman" pitchFamily="18" charset="0"/>
            </a:endParaRPr>
          </a:p>
          <a:p>
            <a:pPr algn="just">
              <a:buNone/>
            </a:pPr>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49</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2" name="Picture 11" descr="https://www.techtarget.com/rms/onlineImages/storage_raid_06.png"/>
          <p:cNvPicPr/>
          <p:nvPr/>
        </p:nvPicPr>
        <p:blipFill>
          <a:blip r:embed="rId4"/>
          <a:srcRect/>
          <a:stretch>
            <a:fillRect/>
          </a:stretch>
        </p:blipFill>
        <p:spPr bwMode="auto">
          <a:xfrm>
            <a:off x="1066800" y="2057400"/>
            <a:ext cx="6934200" cy="41148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Content Placeholder 16"/>
          <p:cNvSpPr>
            <a:spLocks noGrp="1"/>
          </p:cNvSpPr>
          <p:nvPr>
            <p:ph sz="half" idx="4294967295"/>
          </p:nvPr>
        </p:nvSpPr>
        <p:spPr>
          <a:xfrm>
            <a:off x="457200" y="1600201"/>
            <a:ext cx="8229600" cy="4191000"/>
          </a:xfrm>
          <a:prstGeom prst="rect">
            <a:avLst/>
          </a:prstGeom>
        </p:spPr>
        <p:txBody>
          <a:bodyPr/>
          <a:lstStyle/>
          <a:p>
            <a:pPr algn="just">
              <a:buFont typeface="Wingdings" pitchFamily="2" charset="2"/>
              <a:buChar char="q"/>
            </a:pPr>
            <a:r>
              <a:rPr lang="en-US" sz="2000" b="1" dirty="0" smtClean="0">
                <a:latin typeface="Times New Roman" pitchFamily="18" charset="0"/>
                <a:cs typeface="Times New Roman" pitchFamily="18" charset="0"/>
              </a:rPr>
              <a:t>Advantages of RAID-6 </a:t>
            </a:r>
            <a:r>
              <a:rPr lang="en-US" sz="2000" b="1" dirty="0" smtClean="0">
                <a:latin typeface="Times New Roman" pitchFamily="18" charset="0"/>
                <a:cs typeface="Times New Roman" pitchFamily="18" charset="0"/>
              </a:rPr>
              <a:t>    </a:t>
            </a:r>
            <a:endParaRPr lang="en-US" sz="2000" dirty="0" smtClean="0">
              <a:latin typeface="Times New Roman" pitchFamily="18" charset="0"/>
              <a:cs typeface="Times New Roman" pitchFamily="18" charset="0"/>
            </a:endParaRPr>
          </a:p>
          <a:p>
            <a:pPr lvl="1" algn="just" fontAlgn="base"/>
            <a:r>
              <a:rPr lang="en-US" sz="2000" dirty="0" smtClean="0">
                <a:latin typeface="Times New Roman" pitchFamily="18" charset="0"/>
                <a:cs typeface="Times New Roman" pitchFamily="18" charset="0"/>
              </a:rPr>
              <a:t>Very </a:t>
            </a:r>
            <a:r>
              <a:rPr lang="en-US" sz="2000" dirty="0" smtClean="0">
                <a:latin typeface="Times New Roman" pitchFamily="18" charset="0"/>
                <a:cs typeface="Times New Roman" pitchFamily="18" charset="0"/>
              </a:rPr>
              <a:t>high data Accessibility.</a:t>
            </a:r>
          </a:p>
          <a:p>
            <a:pPr lvl="1" algn="just" fontAlgn="base"/>
            <a:r>
              <a:rPr lang="en-US" sz="2000" dirty="0" smtClean="0">
                <a:latin typeface="Times New Roman" pitchFamily="18" charset="0"/>
                <a:cs typeface="Times New Roman" pitchFamily="18" charset="0"/>
              </a:rPr>
              <a:t>Fast read data transactions.</a:t>
            </a:r>
          </a:p>
          <a:p>
            <a:pPr algn="just">
              <a:buNone/>
            </a:pPr>
            <a:endParaRPr lang="en-US" sz="2000" dirty="0" smtClean="0">
              <a:latin typeface="Times New Roman" pitchFamily="18" charset="0"/>
              <a:cs typeface="Times New Roman" pitchFamily="18" charset="0"/>
            </a:endParaRPr>
          </a:p>
          <a:p>
            <a:pPr algn="just">
              <a:buFont typeface="Wingdings" pitchFamily="2" charset="2"/>
              <a:buChar char="q"/>
            </a:pPr>
            <a:r>
              <a:rPr lang="en-US" sz="2000" b="1" dirty="0" smtClean="0">
                <a:latin typeface="Times New Roman" pitchFamily="18" charset="0"/>
                <a:cs typeface="Times New Roman" pitchFamily="18" charset="0"/>
              </a:rPr>
              <a:t>Disadvantages of RAID-6</a:t>
            </a:r>
            <a:endParaRPr lang="en-US" sz="2000" dirty="0" smtClean="0">
              <a:latin typeface="Times New Roman" pitchFamily="18" charset="0"/>
              <a:cs typeface="Times New Roman" pitchFamily="18" charset="0"/>
            </a:endParaRPr>
          </a:p>
          <a:p>
            <a:pPr lvl="1" algn="just" fontAlgn="base"/>
            <a:r>
              <a:rPr lang="en-US" sz="2000" dirty="0" smtClean="0">
                <a:latin typeface="Times New Roman" pitchFamily="18" charset="0"/>
                <a:cs typeface="Times New Roman" pitchFamily="18" charset="0"/>
              </a:rPr>
              <a:t>Due to double parity, it has slow write data transactions.</a:t>
            </a:r>
          </a:p>
          <a:p>
            <a:pPr lvl="1" algn="just" fontAlgn="base"/>
            <a:r>
              <a:rPr lang="en-US" sz="2000" dirty="0" smtClean="0">
                <a:latin typeface="Times New Roman" pitchFamily="18" charset="0"/>
                <a:cs typeface="Times New Roman" pitchFamily="18" charset="0"/>
              </a:rPr>
              <a:t>Extra space is required.</a:t>
            </a:r>
          </a:p>
          <a:p>
            <a:pPr lvl="1" algn="just" fontAlgn="base"/>
            <a:endParaRPr lang="en-US" sz="2000" b="1" i="1" dirty="0" smtClean="0">
              <a:latin typeface="Times New Roman" pitchFamily="18" charset="0"/>
              <a:cs typeface="Times New Roman" pitchFamily="18" charset="0"/>
            </a:endParaRPr>
          </a:p>
          <a:p>
            <a:pPr algn="just">
              <a:buNone/>
            </a:pPr>
            <a:endParaRPr lang="en-US" sz="2000" dirty="0" smtClean="0">
              <a:latin typeface="Times New Roman" pitchFamily="18" charset="0"/>
              <a:cs typeface="Times New Roman" pitchFamily="18" charset="0"/>
            </a:endParaRPr>
          </a:p>
          <a:p>
            <a:pPr lvl="1" algn="just"/>
            <a:endParaRPr lang="en-US" sz="2000" dirty="0" smtClean="0">
              <a:latin typeface="Times New Roman" pitchFamily="18" charset="0"/>
              <a:cs typeface="Times New Roman" pitchFamily="18" charset="0"/>
            </a:endParaRPr>
          </a:p>
        </p:txBody>
      </p:sp>
      <p:sp>
        <p:nvSpPr>
          <p:cNvPr id="18" name="Date Placeholder 17"/>
          <p:cNvSpPr>
            <a:spLocks noGrp="1"/>
          </p:cNvSpPr>
          <p:nvPr>
            <p:ph type="dt" sz="half" idx="10"/>
          </p:nvPr>
        </p:nvSpPr>
        <p:spPr/>
        <p:txBody>
          <a:bodyPr/>
          <a:lstStyle/>
          <a:p>
            <a:fld id="{31336AC4-08FA-43B6-BC1F-4DD4E68448CC}" type="datetime1">
              <a:rPr lang="en-US" smtClean="0">
                <a:solidFill>
                  <a:srgbClr val="00B050"/>
                </a:solidFill>
              </a:rPr>
              <a:pPr/>
              <a:t>2/1/2025</a:t>
            </a:fld>
            <a:endParaRPr lang="en-US" dirty="0">
              <a:solidFill>
                <a:srgbClr val="00B050"/>
              </a:solidFill>
            </a:endParaRPr>
          </a:p>
        </p:txBody>
      </p:sp>
      <p:sp>
        <p:nvSpPr>
          <p:cNvPr id="19" name="Slide Number Placeholder 18"/>
          <p:cNvSpPr>
            <a:spLocks noGrp="1"/>
          </p:cNvSpPr>
          <p:nvPr>
            <p:ph type="sldNum" sz="quarter" idx="12"/>
          </p:nvPr>
        </p:nvSpPr>
        <p:spPr/>
        <p:txBody>
          <a:bodyPr/>
          <a:lstStyle/>
          <a:p>
            <a:fld id="{8C9281A4-4C9D-4645-98E5-DC94BB779CF3}" type="slidenum">
              <a:rPr lang="en-US" smtClean="0">
                <a:solidFill>
                  <a:srgbClr val="00B050"/>
                </a:solidFill>
              </a:rPr>
              <a:pPr/>
              <a:t>50</a:t>
            </a:fld>
            <a:endParaRPr lang="en-US">
              <a:solidFill>
                <a:srgbClr val="00B050"/>
              </a:solidFill>
            </a:endParaRPr>
          </a:p>
        </p:txBody>
      </p:sp>
      <p:sp>
        <p:nvSpPr>
          <p:cNvPr id="20" name="Footer Placeholder 19"/>
          <p:cNvSpPr>
            <a:spLocks noGrp="1"/>
          </p:cNvSpPr>
          <p:nvPr>
            <p:ph type="ftr" sz="quarter" idx="11"/>
          </p:nvPr>
        </p:nvSpPr>
        <p:spPr/>
        <p:txBody>
          <a:bodyPr/>
          <a:lstStyle/>
          <a:p>
            <a:r>
              <a:rPr lang="en-US" smtClean="0">
                <a:solidFill>
                  <a:srgbClr val="00B050"/>
                </a:solidFill>
              </a:rPr>
              <a:t>Md. Golam Moazzam, Dept. of CSE, JU</a:t>
            </a:r>
            <a:endParaRPr lang="en-US">
              <a:solidFill>
                <a:srgbClr val="00B050"/>
              </a:solidFill>
            </a:endParaRPr>
          </a:p>
        </p:txBody>
      </p:sp>
      <p:pic>
        <p:nvPicPr>
          <p:cNvPr id="7" name="Picture 6" descr="JU Mon eps.tif"/>
          <p:cNvPicPr>
            <a:picLocks noChangeAspect="1"/>
          </p:cNvPicPr>
          <p:nvPr/>
        </p:nvPicPr>
        <p:blipFill>
          <a:blip r:embed="rId3" cstate="print"/>
          <a:stretch>
            <a:fillRect/>
          </a:stretch>
        </p:blipFill>
        <p:spPr>
          <a:xfrm>
            <a:off x="182880" y="137162"/>
            <a:ext cx="800213" cy="990598"/>
          </a:xfrm>
          <a:prstGeom prst="rect">
            <a:avLst/>
          </a:prstGeom>
        </p:spPr>
      </p:pic>
      <p:cxnSp>
        <p:nvCxnSpPr>
          <p:cNvPr id="9" name="Straight Connector 8"/>
          <p:cNvCxnSpPr/>
          <p:nvPr/>
        </p:nvCxnSpPr>
        <p:spPr>
          <a:xfrm>
            <a:off x="1143000" y="1143000"/>
            <a:ext cx="7010400" cy="0"/>
          </a:xfrm>
          <a:prstGeom prst="line">
            <a:avLst/>
          </a:prstGeom>
          <a:ln cmpd="sng"/>
        </p:spPr>
        <p:style>
          <a:lnRef idx="1">
            <a:schemeClr val="accent1"/>
          </a:lnRef>
          <a:fillRef idx="0">
            <a:schemeClr val="accent1"/>
          </a:fillRef>
          <a:effectRef idx="0">
            <a:schemeClr val="accent1"/>
          </a:effectRef>
          <a:fontRef idx="minor">
            <a:schemeClr val="tx1"/>
          </a:fontRef>
        </p:style>
      </p:cxnSp>
      <p:sp>
        <p:nvSpPr>
          <p:cNvPr id="10" name="Title 14"/>
          <p:cNvSpPr txBox="1">
            <a:spLocks/>
          </p:cNvSpPr>
          <p:nvPr/>
        </p:nvSpPr>
        <p:spPr>
          <a:xfrm>
            <a:off x="1219200" y="350838"/>
            <a:ext cx="6934200" cy="792162"/>
          </a:xfrm>
          <a:prstGeom prst="rect">
            <a:avLst/>
          </a:prstGeom>
        </p:spPr>
        <p:txBody>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smtClean="0">
                <a:ln>
                  <a:noFill/>
                </a:ln>
                <a:solidFill>
                  <a:schemeClr val="tx1"/>
                </a:solidFill>
                <a:effectLst/>
                <a:uLnTx/>
                <a:uFillTx/>
                <a:latin typeface="Times New Roman" pitchFamily="18" charset="0"/>
                <a:ea typeface="+mj-ea"/>
                <a:cs typeface="Times New Roman" pitchFamily="18" charset="0"/>
              </a:rPr>
              <a:t>Data Recovery System</a:t>
            </a:r>
            <a:endParaRPr kumimoji="0" lang="en-US" sz="4400" b="0" i="0" u="none" strike="noStrike" kern="1200" cap="none" spc="0" normalizeH="0" baseline="0" noProof="0" dirty="0">
              <a:ln>
                <a:noFill/>
              </a:ln>
              <a:solidFill>
                <a:schemeClr val="tx1"/>
              </a:solidFill>
              <a:effectLst/>
              <a:uLnTx/>
              <a:uFillTx/>
              <a:latin typeface="Times New Roman" pitchFamily="18" charset="0"/>
              <a:ea typeface="+mj-ea"/>
              <a:cs typeface="Times New Roman" pitchFamily="18" charset="0"/>
            </a:endParaRPr>
          </a:p>
        </p:txBody>
      </p:sp>
      <p:sp>
        <p:nvSpPr>
          <p:cNvPr id="2050"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585</TotalTime>
  <Words>3693</Words>
  <Application>Microsoft Office PowerPoint</Application>
  <PresentationFormat>On-screen Show (4:3)</PresentationFormat>
  <Paragraphs>665</Paragraphs>
  <Slides>50</Slides>
  <Notes>50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50</vt:i4>
      </vt:variant>
    </vt:vector>
  </HeadingPairs>
  <TitlesOfParts>
    <vt:vector size="52" baseType="lpstr">
      <vt:lpstr>Office Theme</vt:lpstr>
      <vt:lpstr>Microsoft Equation 3.0</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CSEJU</cp:lastModifiedBy>
  <cp:revision>634</cp:revision>
  <dcterms:created xsi:type="dcterms:W3CDTF">2014-09-22T15:27:45Z</dcterms:created>
  <dcterms:modified xsi:type="dcterms:W3CDTF">2025-02-01T16:25:25Z</dcterms:modified>
</cp:coreProperties>
</file>