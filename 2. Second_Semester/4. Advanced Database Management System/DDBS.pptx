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notesSlides/notesSlide78.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67.xml" ContentType="application/vnd.openxmlformats-officedocument.presentationml.notesSlide+xml"/>
  <Override PartName="/ppt/notesSlides/notesSlide85.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notesSlides/notesSlide63.xml" ContentType="application/vnd.openxmlformats-officedocument.presentationml.notesSlide+xml"/>
  <Override PartName="/ppt/notesSlides/notesSlide81.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70.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notesSlides/notesSlide3.xml" ContentType="application/vnd.openxmlformats-officedocument.presentationml.notesSlide+xml"/>
  <Default Extension="png" ContentType="image/png"/>
  <Default Extension="bin" ContentType="application/vnd.openxmlformats-officedocument.oleObject"/>
  <Override PartName="/ppt/notesSlides/notesSlide68.xml" ContentType="application/vnd.openxmlformats-officedocument.presentationml.notesSlide+xml"/>
  <Override PartName="/ppt/notesSlides/notesSlide79.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Default Extension="vml" ContentType="application/vnd.openxmlformats-officedocument.vmlDrawing"/>
  <Override PartName="/ppt/slides/slide49.xml" ContentType="application/vnd.openxmlformats-officedocument.presentationml.slide+xml"/>
  <Override PartName="/ppt/slides/slide7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notesSlides/notesSlide69.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wmf" ContentType="image/x-wmf"/>
  <Override PartName="/ppt/notesSlides/notesSlide65.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notesSlides/notesSlide84.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80.xml" ContentType="application/vnd.openxmlformats-officedocument.presentationml.notesSlide+xml"/>
  <Default Extension="tiff" ContentType="image/tiff"/>
  <Override PartName="/ppt/notesSlides/notesSlide1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7"/>
  </p:notesMasterIdLst>
  <p:sldIdLst>
    <p:sldId id="256" r:id="rId2"/>
    <p:sldId id="309" r:id="rId3"/>
    <p:sldId id="257" r:id="rId4"/>
    <p:sldId id="258" r:id="rId5"/>
    <p:sldId id="259" r:id="rId6"/>
    <p:sldId id="260" r:id="rId7"/>
    <p:sldId id="261" r:id="rId8"/>
    <p:sldId id="262" r:id="rId9"/>
    <p:sldId id="263" r:id="rId10"/>
    <p:sldId id="264" r:id="rId11"/>
    <p:sldId id="308" r:id="rId12"/>
    <p:sldId id="265" r:id="rId13"/>
    <p:sldId id="266" r:id="rId14"/>
    <p:sldId id="267" r:id="rId15"/>
    <p:sldId id="268" r:id="rId16"/>
    <p:sldId id="269" r:id="rId17"/>
    <p:sldId id="270" r:id="rId18"/>
    <p:sldId id="271" r:id="rId19"/>
    <p:sldId id="272" r:id="rId20"/>
    <p:sldId id="311" r:id="rId21"/>
    <p:sldId id="312" r:id="rId22"/>
    <p:sldId id="313" r:id="rId23"/>
    <p:sldId id="310" r:id="rId24"/>
    <p:sldId id="273" r:id="rId25"/>
    <p:sldId id="274" r:id="rId26"/>
    <p:sldId id="275" r:id="rId27"/>
    <p:sldId id="315" r:id="rId28"/>
    <p:sldId id="316" r:id="rId29"/>
    <p:sldId id="317" r:id="rId30"/>
    <p:sldId id="318" r:id="rId31"/>
    <p:sldId id="319" r:id="rId32"/>
    <p:sldId id="277" r:id="rId33"/>
    <p:sldId id="279" r:id="rId34"/>
    <p:sldId id="314"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321" r:id="rId51"/>
    <p:sldId id="322" r:id="rId52"/>
    <p:sldId id="323" r:id="rId53"/>
    <p:sldId id="324" r:id="rId54"/>
    <p:sldId id="325" r:id="rId55"/>
    <p:sldId id="326" r:id="rId56"/>
    <p:sldId id="330" r:id="rId57"/>
    <p:sldId id="327" r:id="rId58"/>
    <p:sldId id="328" r:id="rId59"/>
    <p:sldId id="329" r:id="rId60"/>
    <p:sldId id="295" r:id="rId61"/>
    <p:sldId id="296" r:id="rId62"/>
    <p:sldId id="331" r:id="rId63"/>
    <p:sldId id="332" r:id="rId64"/>
    <p:sldId id="333" r:id="rId65"/>
    <p:sldId id="334" r:id="rId66"/>
    <p:sldId id="297" r:id="rId67"/>
    <p:sldId id="298" r:id="rId68"/>
    <p:sldId id="299" r:id="rId69"/>
    <p:sldId id="300" r:id="rId70"/>
    <p:sldId id="301" r:id="rId71"/>
    <p:sldId id="302" r:id="rId72"/>
    <p:sldId id="303" r:id="rId73"/>
    <p:sldId id="304" r:id="rId74"/>
    <p:sldId id="305" r:id="rId75"/>
    <p:sldId id="306" r:id="rId76"/>
    <p:sldId id="307" r:id="rId77"/>
    <p:sldId id="335" r:id="rId78"/>
    <p:sldId id="336" r:id="rId79"/>
    <p:sldId id="337" r:id="rId80"/>
    <p:sldId id="338" r:id="rId81"/>
    <p:sldId id="339" r:id="rId82"/>
    <p:sldId id="340" r:id="rId83"/>
    <p:sldId id="341" r:id="rId84"/>
    <p:sldId id="342" r:id="rId85"/>
    <p:sldId id="343" r:id="rId8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9706" autoAdjust="0"/>
    <p:restoredTop sz="97312" autoAdjust="0"/>
  </p:normalViewPr>
  <p:slideViewPr>
    <p:cSldViewPr>
      <p:cViewPr varScale="1">
        <p:scale>
          <a:sx n="85" d="100"/>
          <a:sy n="85" d="100"/>
        </p:scale>
        <p:origin x="-1651" y="-72"/>
      </p:cViewPr>
      <p:guideLst>
        <p:guide orient="horz" pos="2160"/>
        <p:guide pos="2880"/>
      </p:guideLst>
    </p:cSldViewPr>
  </p:slideViewPr>
  <p:outlineViewPr>
    <p:cViewPr>
      <p:scale>
        <a:sx n="33" d="100"/>
        <a:sy n="33" d="100"/>
      </p:scale>
      <p:origin x="21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109D61-295C-4E7B-896D-258D8C62218F}" type="datetimeFigureOut">
              <a:rPr lang="en-US" smtClean="0"/>
              <a:pPr/>
              <a:t>4/17/2025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05E933-03AE-4F32-8C5B-7DC0967ACB7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50</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51</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52</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53</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54</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55</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56</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57</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58</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59</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60</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61</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62</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63</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64</a:t>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65</a:t>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66</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67</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68</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69</a:t>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70</a:t>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71</a:t>
            </a:fld>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72</a:t>
            </a:fld>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73</a:t>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74</a:t>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75</a:t>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76</a:t>
            </a:fld>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77</a:t>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78</a:t>
            </a:fld>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79</a:t>
            </a:fld>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80</a:t>
            </a:fld>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81</a:t>
            </a:fld>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82</a:t>
            </a:fld>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83</a:t>
            </a:fld>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84</a:t>
            </a:fld>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85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771D60C-4F28-4B3A-B514-0D39C0EEA5BD}" type="datetime1">
              <a:rPr lang="en-US" smtClean="0"/>
              <a:pPr/>
              <a:t>4/17/2025</a:t>
            </a:fld>
            <a:endParaRPr lang="en-US"/>
          </a:p>
        </p:txBody>
      </p:sp>
      <p:sp>
        <p:nvSpPr>
          <p:cNvPr id="6" name="Footer Placeholder 5"/>
          <p:cNvSpPr>
            <a:spLocks noGrp="1"/>
          </p:cNvSpPr>
          <p:nvPr>
            <p:ph type="ftr" sz="quarter" idx="11"/>
          </p:nvPr>
        </p:nvSpPr>
        <p:spPr/>
        <p:txBody>
          <a:bodyPr/>
          <a:lstStyle/>
          <a:p>
            <a:r>
              <a:rPr lang="en-US" smtClean="0"/>
              <a:t>Md. Golam Moazzam, Dept. of CSE, JU</a:t>
            </a:r>
            <a:endParaRPr lang="en-US"/>
          </a:p>
        </p:txBody>
      </p:sp>
      <p:sp>
        <p:nvSpPr>
          <p:cNvPr id="7" name="Slide Number Placeholder 6"/>
          <p:cNvSpPr>
            <a:spLocks noGrp="1"/>
          </p:cNvSpPr>
          <p:nvPr>
            <p:ph type="sldNum" sz="quarter" idx="12"/>
          </p:nvPr>
        </p:nvSpPr>
        <p:spPr/>
        <p:txBody>
          <a:bodyPr/>
          <a:lstStyle/>
          <a:p>
            <a:fld id="{8C9281A4-4C9D-4645-98E5-DC94BB779C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tif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1C0BBC-583C-42F1-99F0-A9970C625DE3}" type="datetime1">
              <a:rPr lang="en-US" smtClean="0"/>
              <a:pPr/>
              <a:t>4/17/2025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Md. Golam Moazzam, Dept. of CSE, JU</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9281A4-4C9D-4645-98E5-DC94BB779CF3}" type="slidenum">
              <a:rPr lang="en-US" smtClean="0"/>
              <a:pPr/>
              <a:t>‹#›</a:t>
            </a:fld>
            <a:endParaRPr lang="en-US"/>
          </a:p>
        </p:txBody>
      </p:sp>
      <p:pic>
        <p:nvPicPr>
          <p:cNvPr id="7" name="Picture 6" descr="JU Mon eps.tif"/>
          <p:cNvPicPr>
            <a:picLocks noChangeAspect="1"/>
          </p:cNvPicPr>
          <p:nvPr userDrawn="1"/>
        </p:nvPicPr>
        <p:blipFill>
          <a:blip r:embed="rId4" cstate="print"/>
          <a:stretch>
            <a:fillRect/>
          </a:stretch>
        </p:blipFill>
        <p:spPr>
          <a:xfrm>
            <a:off x="381000" y="228600"/>
            <a:ext cx="917067" cy="1135254"/>
          </a:xfrm>
          <a:prstGeom prst="rect">
            <a:avLst/>
          </a:prstGeom>
        </p:spPr>
      </p:pic>
      <p:sp>
        <p:nvSpPr>
          <p:cNvPr id="8" name="TextBox 7"/>
          <p:cNvSpPr txBox="1"/>
          <p:nvPr userDrawn="1"/>
        </p:nvSpPr>
        <p:spPr>
          <a:xfrm>
            <a:off x="2133600" y="685800"/>
            <a:ext cx="5715000" cy="369332"/>
          </a:xfrm>
          <a:prstGeom prst="rect">
            <a:avLst/>
          </a:prstGeom>
          <a:noFill/>
        </p:spPr>
        <p:txBody>
          <a:bodyPr wrap="square" rtlCol="0">
            <a:spAutoFit/>
          </a:bodyPr>
          <a:lstStyle/>
          <a:p>
            <a:r>
              <a:rPr lang="en-US" dirty="0" smtClean="0"/>
              <a:t>Indexing and Hashing</a:t>
            </a:r>
            <a:endParaRPr lang="en-US" dirty="0"/>
          </a:p>
        </p:txBody>
      </p:sp>
    </p:spTree>
  </p:cSld>
  <p:clrMap bg1="lt1" tx1="dk1" bg2="lt2" tx2="dk2" accent1="accent1" accent2="accent2" accent3="accent3" accent4="accent4" accent5="accent5" accent6="accent6" hlink="hlink" folHlink="folHlink"/>
  <p:sldLayoutIdLst>
    <p:sldLayoutId id="2147483652" r:id="rId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oleObject" Target="../embeddings/oleObject1.bin"/><Relationship Id="rId4" Type="http://schemas.openxmlformats.org/officeDocument/2006/relationships/image" Target="../media/image3.tiff"/></Relationships>
</file>

<file path=ppt/slides/_rels/slide4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4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7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295400" y="2057400"/>
            <a:ext cx="6858000" cy="3200400"/>
          </a:xfrm>
          <a:prstGeom prst="rect">
            <a:avLst/>
          </a:prstGeom>
        </p:spPr>
        <p:txBody>
          <a:bodyPr/>
          <a:lstStyle/>
          <a:p>
            <a:pPr algn="ctr">
              <a:buNone/>
            </a:pPr>
            <a:r>
              <a:rPr lang="en-US" sz="6000" dirty="0" smtClean="0">
                <a:latin typeface="Times New Roman" pitchFamily="18" charset="0"/>
                <a:cs typeface="Times New Roman" pitchFamily="18" charset="0"/>
              </a:rPr>
              <a:t>Database System Architectures </a:t>
            </a:r>
            <a:endParaRPr lang="en-US" sz="6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4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OUTLINE</a:t>
            </a:r>
            <a:endPar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0" name="Content Placeholder 16"/>
          <p:cNvSpPr txBox="1">
            <a:spLocks/>
          </p:cNvSpPr>
          <p:nvPr/>
        </p:nvSpPr>
        <p:spPr>
          <a:xfrm>
            <a:off x="1143000" y="1447800"/>
            <a:ext cx="3657600" cy="5105400"/>
          </a:xfrm>
          <a:prstGeom prst="rect">
            <a:avLst/>
          </a:prstGeom>
        </p:spPr>
        <p:txBody>
          <a:bodyPr/>
          <a:lstStyle/>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Centralized Systems</a:t>
            </a:r>
          </a:p>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Client–Server Systems</a:t>
            </a:r>
          </a:p>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Transaction Server System</a:t>
            </a:r>
          </a:p>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Data-server systems</a:t>
            </a:r>
          </a:p>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Computer System Architecture</a:t>
            </a:r>
          </a:p>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Parallel Processing Systems</a:t>
            </a:r>
          </a:p>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Speedup</a:t>
            </a:r>
          </a:p>
          <a:p>
            <a:pPr marL="342900" lvl="0" indent="-342900" algn="just">
              <a:spcBef>
                <a:spcPct val="20000"/>
              </a:spcBef>
              <a:buFont typeface="Wingdings" pitchFamily="2" charset="2"/>
              <a:buChar char="ü"/>
              <a:defRPr/>
            </a:pPr>
            <a:r>
              <a:rPr lang="en-US" dirty="0" err="1" smtClean="0">
                <a:latin typeface="Times New Roman" pitchFamily="18" charset="0"/>
                <a:cs typeface="Times New Roman" pitchFamily="18" charset="0"/>
              </a:rPr>
              <a:t>Scaleup</a:t>
            </a:r>
            <a:endParaRPr lang="en-US" dirty="0" smtClean="0">
              <a:latin typeface="Times New Roman" pitchFamily="18" charset="0"/>
              <a:cs typeface="Times New Roman" pitchFamily="18" charset="0"/>
            </a:endParaRPr>
          </a:p>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Distributed Database System</a:t>
            </a:r>
          </a:p>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Multiprocessor systems </a:t>
            </a:r>
            <a:r>
              <a:rPr lang="en-US" dirty="0" err="1" smtClean="0">
                <a:latin typeface="Times New Roman" pitchFamily="18" charset="0"/>
                <a:cs typeface="Times New Roman" pitchFamily="18" charset="0"/>
              </a:rPr>
              <a:t>vs</a:t>
            </a:r>
            <a:r>
              <a:rPr lang="en-US" dirty="0" smtClean="0">
                <a:latin typeface="Times New Roman" pitchFamily="18" charset="0"/>
                <a:cs typeface="Times New Roman" pitchFamily="18" charset="0"/>
              </a:rPr>
              <a:t> DDBS</a:t>
            </a:r>
          </a:p>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Promises of DDBSs</a:t>
            </a:r>
          </a:p>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Complications Introduced by DDBS</a:t>
            </a:r>
          </a:p>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What is being distributed in DDBS?</a:t>
            </a:r>
          </a:p>
          <a:p>
            <a:endParaRPr lang="en-US" dirty="0" smtClean="0">
              <a:latin typeface="Times New Roman" pitchFamily="18" charset="0"/>
              <a:cs typeface="Times New Roman" pitchFamily="18" charset="0"/>
            </a:endParaRPr>
          </a:p>
        </p:txBody>
      </p:sp>
      <p:sp>
        <p:nvSpPr>
          <p:cNvPr id="11" name="Content Placeholder 16"/>
          <p:cNvSpPr txBox="1">
            <a:spLocks/>
          </p:cNvSpPr>
          <p:nvPr/>
        </p:nvSpPr>
        <p:spPr>
          <a:xfrm>
            <a:off x="5029200" y="1447800"/>
            <a:ext cx="3810000" cy="4953000"/>
          </a:xfrm>
          <a:prstGeom prst="rect">
            <a:avLst/>
          </a:prstGeom>
        </p:spPr>
        <p:txBody>
          <a:bodyPr/>
          <a:lstStyle/>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Classification of DDBMS</a:t>
            </a:r>
          </a:p>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Data Fragmentations</a:t>
            </a:r>
          </a:p>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Correctness Rules for Data Fragmentation</a:t>
            </a:r>
          </a:p>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Distributed Database System Design Issues</a:t>
            </a:r>
          </a:p>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Distributed DBMS Architecture</a:t>
            </a:r>
          </a:p>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ANSI/SPARC Architecture</a:t>
            </a:r>
          </a:p>
          <a:p>
            <a:pPr marL="342900" lvl="0" indent="-342900" algn="just">
              <a:spcBef>
                <a:spcPct val="20000"/>
              </a:spcBef>
              <a:buFont typeface="Wingdings" pitchFamily="2" charset="2"/>
              <a:buChar char="ü"/>
              <a:defRPr/>
            </a:pPr>
            <a:r>
              <a:rPr lang="en-IE" dirty="0" smtClean="0">
                <a:latin typeface="Times New Roman" pitchFamily="18" charset="0"/>
                <a:cs typeface="Times New Roman" pitchFamily="18" charset="0"/>
              </a:rPr>
              <a:t>Peer-to-Peer Distributed Systems</a:t>
            </a:r>
            <a:endParaRPr lang="en-US" dirty="0" smtClean="0">
              <a:latin typeface="Times New Roman" pitchFamily="18" charset="0"/>
              <a:cs typeface="Times New Roman" pitchFamily="18" charset="0"/>
            </a:endParaRPr>
          </a:p>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Components of a </a:t>
            </a:r>
            <a:r>
              <a:rPr lang="en-IE" dirty="0" smtClean="0">
                <a:latin typeface="Times New Roman" pitchFamily="18" charset="0"/>
                <a:cs typeface="Times New Roman" pitchFamily="18" charset="0"/>
              </a:rPr>
              <a:t>Distributed DBMS</a:t>
            </a:r>
            <a:endParaRPr lang="en-US" dirty="0" smtClean="0">
              <a:latin typeface="Times New Roman" pitchFamily="18" charset="0"/>
              <a:cs typeface="Times New Roman" pitchFamily="18" charset="0"/>
            </a:endParaRPr>
          </a:p>
          <a:p>
            <a:pPr marL="342900" lvl="0" indent="-342900" algn="just">
              <a:spcBef>
                <a:spcPct val="20000"/>
              </a:spcBef>
              <a:buFont typeface="Wingdings" pitchFamily="2" charset="2"/>
              <a:buChar char="ü"/>
              <a:defRPr/>
            </a:pPr>
            <a:r>
              <a:rPr lang="en-US" dirty="0" err="1" smtClean="0">
                <a:latin typeface="Times New Roman" pitchFamily="18" charset="0"/>
                <a:cs typeface="Times New Roman" pitchFamily="18" charset="0"/>
              </a:rPr>
              <a:t>Multidatabase</a:t>
            </a:r>
            <a:r>
              <a:rPr lang="en-US" dirty="0" smtClean="0">
                <a:latin typeface="Times New Roman" pitchFamily="18" charset="0"/>
                <a:cs typeface="Times New Roman" pitchFamily="18" charset="0"/>
              </a:rPr>
              <a:t> System (MDBS) Architecture</a:t>
            </a:r>
          </a:p>
          <a:p>
            <a:pPr marL="342900" lvl="0" indent="-342900" algn="just">
              <a:spcBef>
                <a:spcPct val="20000"/>
              </a:spcBef>
              <a:buFont typeface="Wingdings" pitchFamily="2" charset="2"/>
              <a:buChar char="ü"/>
              <a:defRPr/>
            </a:pPr>
            <a:r>
              <a:rPr lang="en-US" dirty="0" smtClean="0">
                <a:latin typeface="Times New Roman" pitchFamily="18" charset="0"/>
                <a:cs typeface="Times New Roman" pitchFamily="18" charset="0"/>
              </a:rPr>
              <a:t>Component-based architectural model of a multi-DBMS</a:t>
            </a:r>
          </a:p>
          <a:p>
            <a:pPr marL="342900" lvl="0" indent="-342900" algn="just">
              <a:spcBef>
                <a:spcPct val="20000"/>
              </a:spcBef>
              <a:buFont typeface="Wingdings" pitchFamily="2" charset="2"/>
              <a:buChar char="ü"/>
              <a:defRPr/>
            </a:pPr>
            <a:endParaRPr lang="en-US"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1066800" y="1676400"/>
            <a:ext cx="6858000" cy="1219200"/>
          </a:xfrm>
          <a:prstGeom prst="rect">
            <a:avLst/>
          </a:prstGeom>
        </p:spPr>
        <p:txBody>
          <a:bodyPr/>
          <a:lstStyle/>
          <a:p>
            <a:pPr>
              <a:buFont typeface="Wingdings" pitchFamily="2" charset="2"/>
              <a:buChar char="q"/>
            </a:pPr>
            <a:r>
              <a:rPr lang="en-US" sz="2400" b="1" dirty="0" smtClean="0">
                <a:latin typeface="Times New Roman" pitchFamily="18" charset="0"/>
                <a:cs typeface="Times New Roman" pitchFamily="18" charset="0"/>
              </a:rPr>
              <a:t>Centralized Systems</a:t>
            </a:r>
            <a:endParaRPr lang="en-US" sz="2400" dirty="0" smtClean="0">
              <a:latin typeface="Times New Roman" pitchFamily="18" charset="0"/>
              <a:cs typeface="Times New Roman" pitchFamily="18" charset="0"/>
            </a:endParaRPr>
          </a:p>
          <a:p>
            <a:pPr>
              <a:buNone/>
            </a:pPr>
            <a:r>
              <a:rPr lang="en-US" sz="1800" dirty="0" smtClean="0">
                <a:latin typeface="Times New Roman" pitchFamily="18" charset="0"/>
                <a:cs typeface="Times New Roman" pitchFamily="18" charset="0"/>
              </a:rPr>
              <a:t>	Centralized database systems are those that run on a single computer system and do not interact with other computer systems. </a:t>
            </a:r>
            <a:endParaRPr lang="en-US" sz="18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69634" name="Picture 9"/>
          <p:cNvPicPr>
            <a:picLocks noChangeAspect="1" noChangeArrowheads="1"/>
          </p:cNvPicPr>
          <p:nvPr/>
        </p:nvPicPr>
        <p:blipFill>
          <a:blip r:embed="rId4"/>
          <a:srcRect/>
          <a:stretch>
            <a:fillRect/>
          </a:stretch>
        </p:blipFill>
        <p:spPr bwMode="auto">
          <a:xfrm>
            <a:off x="1564428" y="3048000"/>
            <a:ext cx="6131772" cy="2819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1066800" y="1676400"/>
            <a:ext cx="6858000" cy="4343400"/>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Centralized Systems</a:t>
            </a:r>
            <a:endParaRPr lang="en-US" sz="2400" dirty="0" smtClean="0">
              <a:latin typeface="Times New Roman" pitchFamily="18" charset="0"/>
              <a:cs typeface="Times New Roman" pitchFamily="18" charset="0"/>
            </a:endParaRPr>
          </a:p>
          <a:p>
            <a:pPr algn="just">
              <a:buNone/>
            </a:pPr>
            <a:r>
              <a:rPr lang="en-US" sz="1800" dirty="0" smtClean="0">
                <a:latin typeface="Times New Roman" pitchFamily="18" charset="0"/>
                <a:cs typeface="Times New Roman" pitchFamily="18" charset="0"/>
              </a:rPr>
              <a:t>	</a:t>
            </a:r>
          </a:p>
          <a:p>
            <a:pPr algn="just">
              <a:buNone/>
            </a:pPr>
            <a:r>
              <a:rPr lang="en-US" sz="1800" b="1"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Single-user system</a:t>
            </a:r>
            <a:r>
              <a:rPr lang="en-US" sz="2000" dirty="0" smtClean="0">
                <a:latin typeface="Times New Roman" pitchFamily="18" charset="0"/>
                <a:cs typeface="Times New Roman" pitchFamily="18" charset="0"/>
              </a:rPr>
              <a:t> is a desktop unit used by a single person, usually with only one processor and one or two hard disks, and usually only one person using the machine at a time. Personal computers and workstations fall into the first category.</a:t>
            </a:r>
          </a:p>
          <a:p>
            <a:pPr algn="just">
              <a:buNone/>
            </a:pPr>
            <a:endParaRPr lang="en-US" sz="2000" b="1" dirty="0" smtClean="0">
              <a:latin typeface="Times New Roman" pitchFamily="18" charset="0"/>
              <a:cs typeface="Times New Roman" pitchFamily="18" charset="0"/>
            </a:endParaRPr>
          </a:p>
          <a:p>
            <a:pPr algn="just">
              <a:buNone/>
            </a:pPr>
            <a:r>
              <a:rPr lang="en-US" sz="2000" b="1" dirty="0" smtClean="0">
                <a:latin typeface="Times New Roman" pitchFamily="18" charset="0"/>
                <a:cs typeface="Times New Roman" pitchFamily="18" charset="0"/>
              </a:rPr>
              <a:t>	Multiuser system</a:t>
            </a:r>
            <a:r>
              <a:rPr lang="en-US" sz="2000" dirty="0" smtClean="0">
                <a:latin typeface="Times New Roman" pitchFamily="18" charset="0"/>
                <a:cs typeface="Times New Roman" pitchFamily="18" charset="0"/>
              </a:rPr>
              <a:t> has more disks and more memory, may have multiple CPUs and has a multiuser operating system. It serves a large number of users who are connected to the system via terminals. </a:t>
            </a: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1066800" y="1600200"/>
            <a:ext cx="6858000" cy="4343400"/>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Centralized Systems</a:t>
            </a:r>
            <a:endParaRPr lang="en-US" sz="2400" dirty="0" smtClean="0">
              <a:latin typeface="Times New Roman" pitchFamily="18" charset="0"/>
              <a:cs typeface="Times New Roman" pitchFamily="18" charset="0"/>
            </a:endParaRPr>
          </a:p>
          <a:p>
            <a:pPr algn="just">
              <a:buNone/>
            </a:pPr>
            <a:r>
              <a:rPr lang="en-US" sz="1800" dirty="0" smtClean="0">
                <a:latin typeface="Times New Roman" pitchFamily="18" charset="0"/>
                <a:cs typeface="Times New Roman" pitchFamily="18" charset="0"/>
              </a:rPr>
              <a:t>	</a:t>
            </a:r>
          </a:p>
          <a:p>
            <a:pPr algn="just">
              <a:buNone/>
            </a:pPr>
            <a:r>
              <a:rPr lang="en-US" sz="1800" b="1"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These systems have </a:t>
            </a:r>
            <a:r>
              <a:rPr lang="en-US" sz="1800" b="1" dirty="0" smtClean="0">
                <a:latin typeface="Times New Roman" pitchFamily="18" charset="0"/>
                <a:cs typeface="Times New Roman" pitchFamily="18" charset="0"/>
              </a:rPr>
              <a:t>coarse-granularity parallelism.</a:t>
            </a:r>
            <a:r>
              <a:rPr lang="en-US" sz="1800" dirty="0" smtClean="0">
                <a:latin typeface="Times New Roman" pitchFamily="18" charset="0"/>
                <a:cs typeface="Times New Roman" pitchFamily="18" charset="0"/>
              </a:rPr>
              <a:t> Databases running on such machines usually do not attempt to partition a single query among the processors; instead, they run each query on a single processor, allowing multiple queries to run concurrently. Thus, such systems support a higher </a:t>
            </a:r>
            <a:r>
              <a:rPr lang="en-US" sz="1800" b="1" dirty="0" smtClean="0">
                <a:latin typeface="Times New Roman" pitchFamily="18" charset="0"/>
                <a:cs typeface="Times New Roman" pitchFamily="18" charset="0"/>
              </a:rPr>
              <a:t>throughput</a:t>
            </a:r>
            <a:r>
              <a:rPr lang="en-US" sz="1800" dirty="0" smtClean="0">
                <a:latin typeface="Times New Roman" pitchFamily="18" charset="0"/>
                <a:cs typeface="Times New Roman" pitchFamily="18" charset="0"/>
              </a:rPr>
              <a:t>; that is, they allow a greater number of transactions to run per second, although individual transactions do not run any faster.</a:t>
            </a:r>
          </a:p>
          <a:p>
            <a:pPr algn="just">
              <a:buNone/>
            </a:pPr>
            <a:endParaRPr lang="en-US" sz="1800" dirty="0" smtClean="0">
              <a:latin typeface="Times New Roman" pitchFamily="18" charset="0"/>
              <a:cs typeface="Times New Roman" pitchFamily="18" charset="0"/>
            </a:endParaRPr>
          </a:p>
          <a:p>
            <a:pPr algn="just">
              <a:buNone/>
            </a:pPr>
            <a:r>
              <a:rPr lang="en-US" sz="1800" dirty="0" smtClean="0">
                <a:latin typeface="Times New Roman" pitchFamily="18" charset="0"/>
                <a:cs typeface="Times New Roman" pitchFamily="18" charset="0"/>
              </a:rPr>
              <a:t>	Machines with </a:t>
            </a:r>
            <a:r>
              <a:rPr lang="en-US" sz="1800" b="1" dirty="0" smtClean="0">
                <a:latin typeface="Times New Roman" pitchFamily="18" charset="0"/>
                <a:cs typeface="Times New Roman" pitchFamily="18" charset="0"/>
              </a:rPr>
              <a:t>fine-granularity parallelism </a:t>
            </a:r>
            <a:r>
              <a:rPr lang="en-US" sz="1800" dirty="0" smtClean="0">
                <a:latin typeface="Times New Roman" pitchFamily="18" charset="0"/>
                <a:cs typeface="Times New Roman" pitchFamily="18" charset="0"/>
              </a:rPr>
              <a:t>have a large number of processors, and database systems running on such machines attempt to parallelize single tasks (queries, for example) submitted by users.</a:t>
            </a:r>
            <a:endParaRPr lang="en-US" sz="18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1066800" y="1600200"/>
            <a:ext cx="6858000" cy="1600200"/>
          </a:xfrm>
          <a:prstGeom prst="rect">
            <a:avLst/>
          </a:prstGeom>
        </p:spPr>
        <p:txBody>
          <a:bodyPr/>
          <a:lstStyle/>
          <a:p>
            <a:pPr>
              <a:buFont typeface="Wingdings" pitchFamily="2" charset="2"/>
              <a:buChar char="q"/>
            </a:pPr>
            <a:r>
              <a:rPr lang="en-US" sz="2400" b="1" dirty="0" smtClean="0">
                <a:latin typeface="Times New Roman" pitchFamily="18" charset="0"/>
                <a:cs typeface="Times New Roman" pitchFamily="18" charset="0"/>
              </a:rPr>
              <a:t>Client–Server Systems</a:t>
            </a:r>
            <a:endParaRPr lang="en-US" sz="2400" dirty="0" smtClean="0">
              <a:latin typeface="Times New Roman" pitchFamily="18" charset="0"/>
              <a:cs typeface="Times New Roman" pitchFamily="18" charset="0"/>
            </a:endParaRPr>
          </a:p>
          <a:p>
            <a:pPr>
              <a:buNone/>
            </a:pPr>
            <a:r>
              <a:rPr lang="en-US" sz="18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Database functionality can be broadly divided into two parts:</a:t>
            </a:r>
            <a:endParaRPr lang="en-US" sz="1800" dirty="0" smtClean="0">
              <a:latin typeface="Times New Roman" pitchFamily="18" charset="0"/>
              <a:cs typeface="Times New Roman" pitchFamily="18" charset="0"/>
            </a:endParaRPr>
          </a:p>
          <a:p>
            <a:pPr lvl="1">
              <a:buFont typeface="Wingdings" pitchFamily="2" charset="2"/>
              <a:buChar char="§"/>
            </a:pPr>
            <a:r>
              <a:rPr lang="en-US" sz="2000" dirty="0" smtClean="0">
                <a:latin typeface="Times New Roman" pitchFamily="18" charset="0"/>
                <a:cs typeface="Times New Roman" pitchFamily="18" charset="0"/>
              </a:rPr>
              <a:t>Front end and</a:t>
            </a:r>
          </a:p>
          <a:p>
            <a:pPr lvl="1">
              <a:buFont typeface="Wingdings" pitchFamily="2" charset="2"/>
              <a:buChar char="§"/>
            </a:pPr>
            <a:r>
              <a:rPr lang="en-US" sz="2000" dirty="0" smtClean="0">
                <a:latin typeface="Times New Roman" pitchFamily="18" charset="0"/>
                <a:cs typeface="Times New Roman" pitchFamily="18" charset="0"/>
              </a:rPr>
              <a:t>Back end.</a:t>
            </a: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70658" name="Picture 10"/>
          <p:cNvPicPr>
            <a:picLocks noChangeAspect="1" noChangeArrowheads="1"/>
          </p:cNvPicPr>
          <p:nvPr/>
        </p:nvPicPr>
        <p:blipFill>
          <a:blip r:embed="rId4"/>
          <a:srcRect/>
          <a:stretch>
            <a:fillRect/>
          </a:stretch>
        </p:blipFill>
        <p:spPr bwMode="auto">
          <a:xfrm>
            <a:off x="1690201" y="3626649"/>
            <a:ext cx="5853599" cy="216455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1066800" y="1600200"/>
            <a:ext cx="6858000" cy="4419600"/>
          </a:xfrm>
          <a:prstGeom prst="rect">
            <a:avLst/>
          </a:prstGeom>
        </p:spPr>
        <p:txBody>
          <a:bodyPr/>
          <a:lstStyle/>
          <a:p>
            <a:pPr>
              <a:buFont typeface="Wingdings" pitchFamily="2" charset="2"/>
              <a:buChar char="q"/>
            </a:pPr>
            <a:r>
              <a:rPr lang="en-US" sz="2400" b="1" dirty="0" smtClean="0">
                <a:latin typeface="Times New Roman" pitchFamily="18" charset="0"/>
                <a:cs typeface="Times New Roman" pitchFamily="18" charset="0"/>
              </a:rPr>
              <a:t>Client–Server Systems</a:t>
            </a:r>
            <a:endParaRPr lang="en-US" sz="2400" dirty="0" smtClean="0">
              <a:latin typeface="Times New Roman" pitchFamily="18" charset="0"/>
              <a:cs typeface="Times New Roman" pitchFamily="18" charset="0"/>
            </a:endParaRPr>
          </a:p>
          <a:p>
            <a:endParaRPr lang="en-US" sz="1800" dirty="0" smtClean="0">
              <a:latin typeface="Times New Roman" pitchFamily="18" charset="0"/>
              <a:cs typeface="Times New Roman" pitchFamily="18" charset="0"/>
            </a:endParaRPr>
          </a:p>
          <a:p>
            <a:pPr>
              <a:buNone/>
            </a:pPr>
            <a:r>
              <a:rPr lang="en-US" sz="18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The back end</a:t>
            </a:r>
            <a:r>
              <a:rPr lang="en-US" sz="2000" dirty="0" smtClean="0">
                <a:latin typeface="Times New Roman" pitchFamily="18" charset="0"/>
                <a:cs typeface="Times New Roman" pitchFamily="18" charset="0"/>
              </a:rPr>
              <a:t> manages access structures, query evaluation and optimization, concurrency control, and recovery.</a:t>
            </a:r>
          </a:p>
          <a:p>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The front end</a:t>
            </a:r>
            <a:r>
              <a:rPr lang="en-US" sz="2000" dirty="0" smtClean="0">
                <a:latin typeface="Times New Roman" pitchFamily="18" charset="0"/>
                <a:cs typeface="Times New Roman" pitchFamily="18" charset="0"/>
              </a:rPr>
              <a:t> consists of tools such as forms, report writers, and graphical user interface facilities. </a:t>
            </a:r>
          </a:p>
          <a:p>
            <a:pPr>
              <a:buNone/>
            </a:pPr>
            <a:r>
              <a:rPr lang="en-US" sz="2000" dirty="0" smtClean="0">
                <a:latin typeface="Times New Roman" pitchFamily="18" charset="0"/>
                <a:cs typeface="Times New Roman" pitchFamily="18" charset="0"/>
              </a:rPr>
              <a:t>	</a:t>
            </a:r>
          </a:p>
          <a:p>
            <a:pPr>
              <a:buNone/>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The interface</a:t>
            </a:r>
            <a:r>
              <a:rPr lang="en-US" sz="2000" dirty="0" smtClean="0">
                <a:latin typeface="Times New Roman" pitchFamily="18" charset="0"/>
                <a:cs typeface="Times New Roman" pitchFamily="18" charset="0"/>
              </a:rPr>
              <a:t> between the front end and the back end is through SQL, or through an application program. Standards such as </a:t>
            </a:r>
            <a:r>
              <a:rPr lang="en-US" sz="2000" i="1" dirty="0" smtClean="0">
                <a:latin typeface="Times New Roman" pitchFamily="18" charset="0"/>
                <a:cs typeface="Times New Roman" pitchFamily="18" charset="0"/>
              </a:rPr>
              <a:t>ODBC </a:t>
            </a:r>
            <a:r>
              <a:rPr lang="en-US" sz="2000" dirty="0" smtClean="0">
                <a:latin typeface="Times New Roman" pitchFamily="18" charset="0"/>
                <a:cs typeface="Times New Roman" pitchFamily="18" charset="0"/>
              </a:rPr>
              <a:t>and </a:t>
            </a:r>
            <a:r>
              <a:rPr lang="en-US" sz="2000" i="1" dirty="0" smtClean="0">
                <a:latin typeface="Times New Roman" pitchFamily="18" charset="0"/>
                <a:cs typeface="Times New Roman" pitchFamily="18" charset="0"/>
              </a:rPr>
              <a:t>JDBC</a:t>
            </a:r>
            <a:r>
              <a:rPr lang="en-US" sz="2000" dirty="0" smtClean="0">
                <a:latin typeface="Times New Roman" pitchFamily="18" charset="0"/>
                <a:cs typeface="Times New Roman" pitchFamily="18" charset="0"/>
              </a:rPr>
              <a:t>, were developed to interface clients with servers. </a:t>
            </a: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1066800" y="1600200"/>
            <a:ext cx="6858000" cy="1676400"/>
          </a:xfrm>
          <a:prstGeom prst="rect">
            <a:avLst/>
          </a:prstGeom>
        </p:spPr>
        <p:txBody>
          <a:bodyPr/>
          <a:lstStyle/>
          <a:p>
            <a:pPr>
              <a:buFont typeface="Wingdings" pitchFamily="2" charset="2"/>
              <a:buChar char="q"/>
            </a:pPr>
            <a:r>
              <a:rPr lang="en-US" sz="2400" b="1" dirty="0" smtClean="0">
                <a:latin typeface="Times New Roman" pitchFamily="18" charset="0"/>
                <a:cs typeface="Times New Roman" pitchFamily="18" charset="0"/>
              </a:rPr>
              <a:t>Server System Architectures</a:t>
            </a: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Server systems can be broadly categorized as:</a:t>
            </a:r>
          </a:p>
          <a:p>
            <a:pPr lvl="1"/>
            <a:r>
              <a:rPr lang="en-US" sz="2000" dirty="0" smtClean="0">
                <a:latin typeface="Times New Roman" pitchFamily="18" charset="0"/>
                <a:cs typeface="Times New Roman" pitchFamily="18" charset="0"/>
              </a:rPr>
              <a:t>Transaction servers and</a:t>
            </a:r>
          </a:p>
          <a:p>
            <a:pPr lvl="1"/>
            <a:r>
              <a:rPr lang="en-US" sz="2000" dirty="0" smtClean="0">
                <a:latin typeface="Times New Roman" pitchFamily="18" charset="0"/>
                <a:cs typeface="Times New Roman" pitchFamily="18" charset="0"/>
              </a:rPr>
              <a:t>Data servers.</a:t>
            </a:r>
          </a:p>
          <a:p>
            <a:pPr lvl="1">
              <a:buFont typeface="Wingdings" pitchFamily="2" charset="2"/>
              <a:buChar char="q"/>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1066800" y="3505200"/>
            <a:ext cx="6858000" cy="2514600"/>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24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Transaction Server System</a:t>
            </a:r>
          </a:p>
          <a:p>
            <a:pPr marL="342900" marR="0" lvl="0" indent="-342900" algn="just" defTabSz="914400" rtl="0" eaLnBrk="1" fontAlgn="auto" latinLnBrk="0" hangingPunct="1">
              <a:lnSpc>
                <a:spcPct val="100000"/>
              </a:lnSpc>
              <a:spcBef>
                <a:spcPct val="20000"/>
              </a:spcBef>
              <a:spcAft>
                <a:spcPts val="0"/>
              </a:spcAft>
              <a:buClrTx/>
              <a:buSzTx/>
              <a:tabLst/>
              <a:defRPr/>
            </a:pPr>
            <a:r>
              <a:rPr lang="en-US" sz="2400"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Also called query-server systems provide an interface to which clients can send requests to perform an action, in response to which they execute the action and send back results to the client. Usually, client machines ship transactions to the server systems, where those transactions are executed, and results are shipped back to clients that are in charge of displaying the data.</a:t>
            </a:r>
            <a:endParaRPr kumimoji="0" lang="en-US"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219200"/>
            <a:ext cx="6858000" cy="11430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24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Transaction Server System</a:t>
            </a:r>
          </a:p>
          <a:p>
            <a:pPr marL="342900" lvl="0" indent="-342900">
              <a:spcBef>
                <a:spcPct val="20000"/>
              </a:spcBef>
            </a:pP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A typical transaction-server system today consists of multiple processes accessing data in shared memory.</a:t>
            </a:r>
            <a:endParaRPr kumimoji="0" lang="en-US" sz="1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pic>
        <p:nvPicPr>
          <p:cNvPr id="1026" name="Picture 12"/>
          <p:cNvPicPr>
            <a:picLocks noChangeAspect="1" noChangeArrowheads="1"/>
          </p:cNvPicPr>
          <p:nvPr/>
        </p:nvPicPr>
        <p:blipFill>
          <a:blip r:embed="rId4"/>
          <a:srcRect/>
          <a:stretch>
            <a:fillRect/>
          </a:stretch>
        </p:blipFill>
        <p:spPr bwMode="auto">
          <a:xfrm>
            <a:off x="1981200" y="2280247"/>
            <a:ext cx="5257800" cy="41564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219200"/>
            <a:ext cx="6858000" cy="4800600"/>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Transaction Server System</a:t>
            </a:r>
          </a:p>
          <a:p>
            <a:pPr marL="342900" lvl="0" indent="-342900" algn="just">
              <a:spcBef>
                <a:spcPct val="20000"/>
              </a:spcBef>
            </a:pPr>
            <a:r>
              <a:rPr lang="en-US" sz="2000" b="1" dirty="0" smtClean="0">
                <a:latin typeface="Times New Roman" pitchFamily="18" charset="0"/>
                <a:cs typeface="Times New Roman" pitchFamily="18" charset="0"/>
              </a:rPr>
              <a:t>	</a:t>
            </a:r>
          </a:p>
          <a:p>
            <a:pPr marL="342900" lvl="0" indent="-342900" algn="just">
              <a:spcBef>
                <a:spcPct val="20000"/>
              </a:spcBef>
            </a:pPr>
            <a:r>
              <a:rPr lang="en-US" sz="2000" b="1" dirty="0" smtClean="0">
                <a:latin typeface="Times New Roman" pitchFamily="18" charset="0"/>
                <a:cs typeface="Times New Roman" pitchFamily="18" charset="0"/>
              </a:rPr>
              <a:t>	Server processes:</a:t>
            </a:r>
            <a:r>
              <a:rPr lang="en-US" sz="2000" dirty="0" smtClean="0">
                <a:latin typeface="Times New Roman" pitchFamily="18" charset="0"/>
                <a:cs typeface="Times New Roman" pitchFamily="18" charset="0"/>
              </a:rPr>
              <a:t> These are processes that receive user queries (transactions), execute them, and send the results back.</a:t>
            </a:r>
          </a:p>
          <a:p>
            <a:pPr marL="342900" lvl="0" indent="-342900" algn="just">
              <a:spcBef>
                <a:spcPct val="20000"/>
              </a:spcBef>
            </a:pPr>
            <a:r>
              <a:rPr lang="en-US" sz="2000" b="1" dirty="0" smtClean="0">
                <a:latin typeface="Times New Roman" pitchFamily="18" charset="0"/>
                <a:cs typeface="Times New Roman" pitchFamily="18" charset="0"/>
              </a:rPr>
              <a:t>	</a:t>
            </a:r>
          </a:p>
          <a:p>
            <a:pPr marL="342900" lvl="0" indent="-342900" algn="just">
              <a:spcBef>
                <a:spcPct val="20000"/>
              </a:spcBef>
            </a:pPr>
            <a:r>
              <a:rPr lang="en-US" sz="2000" b="1" dirty="0" smtClean="0">
                <a:latin typeface="Times New Roman" pitchFamily="18" charset="0"/>
                <a:cs typeface="Times New Roman" pitchFamily="18" charset="0"/>
              </a:rPr>
              <a:t>	Lock manager process:</a:t>
            </a:r>
            <a:r>
              <a:rPr lang="en-US" sz="2000" dirty="0" smtClean="0">
                <a:latin typeface="Times New Roman" pitchFamily="18" charset="0"/>
                <a:cs typeface="Times New Roman" pitchFamily="18" charset="0"/>
              </a:rPr>
              <a:t> This process implements lock manager functionality, which includes lock grant, lock release, and deadlock detection.</a:t>
            </a:r>
          </a:p>
          <a:p>
            <a:pPr marL="342900" lvl="0" indent="-342900" algn="just">
              <a:spcBef>
                <a:spcPct val="20000"/>
              </a:spcBef>
            </a:pPr>
            <a:r>
              <a:rPr lang="en-US" sz="2000" b="1" dirty="0" smtClean="0">
                <a:latin typeface="Times New Roman" pitchFamily="18" charset="0"/>
                <a:cs typeface="Times New Roman" pitchFamily="18" charset="0"/>
              </a:rPr>
              <a:t>	</a:t>
            </a:r>
          </a:p>
          <a:p>
            <a:pPr marL="342900" lvl="0" indent="-342900" algn="just">
              <a:spcBef>
                <a:spcPct val="20000"/>
              </a:spcBef>
            </a:pPr>
            <a:r>
              <a:rPr lang="en-US" sz="2000" b="1" dirty="0" smtClean="0">
                <a:latin typeface="Times New Roman" pitchFamily="18" charset="0"/>
                <a:cs typeface="Times New Roman" pitchFamily="18" charset="0"/>
              </a:rPr>
              <a:t>	Database writer process:</a:t>
            </a:r>
            <a:r>
              <a:rPr lang="en-US" sz="2000" dirty="0" smtClean="0">
                <a:latin typeface="Times New Roman" pitchFamily="18" charset="0"/>
                <a:cs typeface="Times New Roman" pitchFamily="18" charset="0"/>
              </a:rPr>
              <a:t> There are one or more processes that output modified buffer blocks back to disk on a continuous basis.</a:t>
            </a:r>
          </a:p>
          <a:p>
            <a:pPr marL="342900" lvl="0" indent="-342900" algn="just">
              <a:spcBef>
                <a:spcPct val="20000"/>
              </a:spcBef>
            </a:pPr>
            <a:r>
              <a:rPr lang="en-US" sz="2000" b="1" dirty="0" smtClean="0">
                <a:latin typeface="Times New Roman" pitchFamily="18" charset="0"/>
                <a:cs typeface="Times New Roman" pitchFamily="18" charset="0"/>
              </a:rPr>
              <a:t>	</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219200"/>
            <a:ext cx="6858000" cy="4800600"/>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Transaction Server System</a:t>
            </a:r>
          </a:p>
          <a:p>
            <a:pPr marL="342900" lvl="0" indent="-342900" algn="just">
              <a:spcBef>
                <a:spcPct val="20000"/>
              </a:spcBef>
            </a:pP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marL="342900" lvl="0" indent="-342900" algn="just">
              <a:spcBef>
                <a:spcPct val="20000"/>
              </a:spcBef>
            </a:pPr>
            <a:r>
              <a:rPr lang="en-US" sz="2000" b="1" dirty="0" smtClean="0">
                <a:latin typeface="Times New Roman" pitchFamily="18" charset="0"/>
                <a:cs typeface="Times New Roman" pitchFamily="18" charset="0"/>
              </a:rPr>
              <a:t>	Log writer process:</a:t>
            </a:r>
            <a:r>
              <a:rPr lang="en-US" sz="2000" dirty="0" smtClean="0">
                <a:latin typeface="Times New Roman" pitchFamily="18" charset="0"/>
                <a:cs typeface="Times New Roman" pitchFamily="18" charset="0"/>
              </a:rPr>
              <a:t> This process outputs log records from the log record buffer to stable storage.</a:t>
            </a:r>
          </a:p>
          <a:p>
            <a:pPr marL="342900" lvl="0" indent="-342900" algn="just">
              <a:spcBef>
                <a:spcPct val="20000"/>
              </a:spcBef>
            </a:pPr>
            <a:r>
              <a:rPr lang="en-US" sz="2000" b="1" dirty="0" smtClean="0">
                <a:latin typeface="Times New Roman" pitchFamily="18" charset="0"/>
                <a:cs typeface="Times New Roman" pitchFamily="18" charset="0"/>
              </a:rPr>
              <a:t>	</a:t>
            </a:r>
          </a:p>
          <a:p>
            <a:pPr marL="342900" lvl="0" indent="-342900" algn="just">
              <a:spcBef>
                <a:spcPct val="20000"/>
              </a:spcBef>
            </a:pPr>
            <a:r>
              <a:rPr lang="en-US" sz="2000" b="1" dirty="0" smtClean="0">
                <a:latin typeface="Times New Roman" pitchFamily="18" charset="0"/>
                <a:cs typeface="Times New Roman" pitchFamily="18" charset="0"/>
              </a:rPr>
              <a:t>	Checkpoint process:</a:t>
            </a:r>
            <a:r>
              <a:rPr lang="en-US" sz="2000" dirty="0" smtClean="0">
                <a:latin typeface="Times New Roman" pitchFamily="18" charset="0"/>
                <a:cs typeface="Times New Roman" pitchFamily="18" charset="0"/>
              </a:rPr>
              <a:t> This process performs periodic checkpoints. It consults log to determine those transactions that need to redone or undone.</a:t>
            </a:r>
          </a:p>
          <a:p>
            <a:pPr marL="342900" lvl="0" indent="-342900" algn="just">
              <a:spcBef>
                <a:spcPct val="20000"/>
              </a:spcBef>
            </a:pPr>
            <a:r>
              <a:rPr lang="en-US" sz="2000" b="1" dirty="0" smtClean="0">
                <a:latin typeface="Times New Roman" pitchFamily="18" charset="0"/>
                <a:cs typeface="Times New Roman" pitchFamily="18" charset="0"/>
              </a:rPr>
              <a:t>	</a:t>
            </a:r>
          </a:p>
          <a:p>
            <a:pPr marL="342900" lvl="0" indent="-342900" algn="just">
              <a:spcBef>
                <a:spcPct val="20000"/>
              </a:spcBef>
            </a:pPr>
            <a:r>
              <a:rPr lang="en-US" sz="2000" b="1" dirty="0" smtClean="0">
                <a:latin typeface="Times New Roman" pitchFamily="18" charset="0"/>
                <a:cs typeface="Times New Roman" pitchFamily="18" charset="0"/>
              </a:rPr>
              <a:t>	Process monitor process:</a:t>
            </a:r>
            <a:r>
              <a:rPr lang="en-US" sz="2000" dirty="0" smtClean="0">
                <a:latin typeface="Times New Roman" pitchFamily="18" charset="0"/>
                <a:cs typeface="Times New Roman" pitchFamily="18" charset="0"/>
              </a:rPr>
              <a:t> This process monitors other processes, and if any of them fails, it takes recovery actions for the process.</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3962400"/>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400" b="1" dirty="0" smtClean="0">
                <a:latin typeface="Times New Roman" pitchFamily="18" charset="0"/>
                <a:cs typeface="Times New Roman" pitchFamily="18" charset="0"/>
              </a:rPr>
              <a:t>Data-server systems</a:t>
            </a:r>
          </a:p>
          <a:p>
            <a:pPr marL="342900" marR="0" lvl="0" indent="-342900" algn="just" defTabSz="914400" rtl="0" eaLnBrk="1" fontAlgn="auto" latinLnBrk="0" hangingPunct="1">
              <a:lnSpc>
                <a:spcPct val="100000"/>
              </a:lnSpc>
              <a:spcBef>
                <a:spcPct val="20000"/>
              </a:spcBef>
              <a:spcAft>
                <a:spcPts val="0"/>
              </a:spcAft>
              <a:buClrTx/>
              <a:buSzTx/>
              <a:tabLst/>
              <a:defRPr/>
            </a:pPr>
            <a:r>
              <a:rPr lang="en-US" sz="2400"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Allow clients to interact with the servers by making requests to read or update data, in units such as files or pages. Data server systems supply raw data to clients. Such systems strive to minimize communication between clients and servers by caching data and locks at the clients. Data servers for database systems offer much more functionality; they support units of data—such as pages, </a:t>
            </a:r>
            <a:r>
              <a:rPr lang="en-US" dirty="0" err="1" smtClean="0">
                <a:latin typeface="Times New Roman" pitchFamily="18" charset="0"/>
                <a:cs typeface="Times New Roman" pitchFamily="18" charset="0"/>
              </a:rPr>
              <a:t>tuples</a:t>
            </a:r>
            <a:r>
              <a:rPr lang="en-US" dirty="0" smtClean="0">
                <a:latin typeface="Times New Roman" pitchFamily="18" charset="0"/>
                <a:cs typeface="Times New Roman" pitchFamily="18" charset="0"/>
              </a:rPr>
              <a:t>, or objects —that are smaller than a file. They provide indexing facilities for data, and provide transaction facilities so that the data are never left in an inconsistent state if a client machine or process fails. Data-server systems are used in local-area networks, where there is a high-speed connection between the clients and the server.</a:t>
            </a:r>
            <a:endParaRPr kumimoji="0" lang="en-US"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lvl="0" indent="-342900" algn="just">
              <a:spcBef>
                <a:spcPct val="20000"/>
              </a:spcBef>
            </a:pPr>
            <a:r>
              <a:rPr lang="en-US" b="1" dirty="0" smtClean="0">
                <a:latin typeface="Times New Roman" pitchFamily="18" charset="0"/>
                <a:cs typeface="Times New Roman" pitchFamily="18" charset="0"/>
              </a:rPr>
              <a:t>	</a:t>
            </a:r>
            <a:endParaRPr kumimoji="0" lang="en-US"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600200"/>
            <a:ext cx="6858000" cy="3352800"/>
          </a:xfrm>
          <a:prstGeom prst="rect">
            <a:avLst/>
          </a:prstGeom>
        </p:spPr>
        <p:txBody>
          <a:bodyPr/>
          <a:lstStyle/>
          <a:p>
            <a:pPr marL="342900" lvl="0" indent="-342900">
              <a:spcBef>
                <a:spcPct val="20000"/>
              </a:spcBef>
              <a:buFont typeface="Wingdings" pitchFamily="2" charset="2"/>
              <a:buChar char="q"/>
            </a:pPr>
            <a:r>
              <a:rPr lang="en-US" sz="2000" b="1" dirty="0" smtClean="0">
                <a:latin typeface="Times New Roman" pitchFamily="18" charset="0"/>
                <a:cs typeface="Times New Roman" pitchFamily="18" charset="0"/>
              </a:rPr>
              <a:t>Computer System Architecture</a:t>
            </a:r>
          </a:p>
          <a:p>
            <a:pPr marL="342900" lvl="0" indent="-342900">
              <a:spcBef>
                <a:spcPct val="20000"/>
              </a:spcBef>
            </a:pPr>
            <a:r>
              <a:rPr lang="en-US" sz="2000" b="1" dirty="0" smtClean="0">
                <a:latin typeface="Times New Roman" pitchFamily="18" charset="0"/>
                <a:cs typeface="Times New Roman" pitchFamily="18" charset="0"/>
              </a:rPr>
              <a:t>	</a:t>
            </a:r>
          </a:p>
          <a:p>
            <a:pPr marL="342900" lvl="0" indent="-342900">
              <a:spcBef>
                <a:spcPct val="20000"/>
              </a:spcBef>
            </a:pPr>
            <a:r>
              <a:rPr lang="en-US" sz="20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Computer system architectures consisting of interconnected multiple processors are basically classified into two different categories:</a:t>
            </a:r>
          </a:p>
          <a:p>
            <a:pPr marL="342900" lvl="0" indent="-342900">
              <a:spcBef>
                <a:spcPct val="20000"/>
              </a:spcBef>
            </a:pPr>
            <a:endParaRPr lang="en-US" sz="2000" dirty="0" smtClean="0">
              <a:latin typeface="Times New Roman" pitchFamily="18" charset="0"/>
              <a:cs typeface="Times New Roman" pitchFamily="18" charset="0"/>
            </a:endParaRPr>
          </a:p>
          <a:p>
            <a:pPr marL="1257300" lvl="2" indent="-342900">
              <a:spcBef>
                <a:spcPct val="20000"/>
              </a:spcBef>
              <a:buFont typeface="Arial" pitchFamily="34" charset="0"/>
              <a:buChar char="•"/>
            </a:pPr>
            <a:r>
              <a:rPr lang="en-US" sz="2000" dirty="0" smtClean="0">
                <a:latin typeface="Times New Roman" pitchFamily="18" charset="0"/>
                <a:cs typeface="Times New Roman" pitchFamily="18" charset="0"/>
              </a:rPr>
              <a:t>Tightly coupled system and</a:t>
            </a:r>
          </a:p>
          <a:p>
            <a:pPr marL="1257300" lvl="2" indent="-342900">
              <a:spcBef>
                <a:spcPct val="20000"/>
              </a:spcBef>
              <a:buFont typeface="Arial" pitchFamily="34" charset="0"/>
              <a:buChar char="•"/>
            </a:pPr>
            <a:r>
              <a:rPr lang="en-US" sz="2000" dirty="0" smtClean="0">
                <a:latin typeface="Times New Roman" pitchFamily="18" charset="0"/>
                <a:cs typeface="Times New Roman" pitchFamily="18" charset="0"/>
              </a:rPr>
              <a:t>Loosely coupled system.</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371600"/>
            <a:ext cx="6858000" cy="2438400"/>
          </a:xfrm>
          <a:prstGeom prst="rect">
            <a:avLst/>
          </a:prstGeom>
        </p:spPr>
        <p:txBody>
          <a:bodyPr/>
          <a:lstStyle/>
          <a:p>
            <a:pPr marL="342900" lvl="0" indent="-342900" algn="just">
              <a:spcBef>
                <a:spcPct val="20000"/>
              </a:spcBef>
              <a:buFont typeface="Wingdings" pitchFamily="2" charset="2"/>
              <a:buChar char="q"/>
            </a:pPr>
            <a:r>
              <a:rPr lang="en-US" sz="2400" b="1" dirty="0" smtClean="0">
                <a:latin typeface="Times New Roman" pitchFamily="18" charset="0"/>
                <a:cs typeface="Times New Roman" pitchFamily="18" charset="0"/>
              </a:rPr>
              <a:t>Tightly Coupled System</a:t>
            </a:r>
          </a:p>
          <a:p>
            <a:pPr marL="342900" lvl="0" indent="-342900" algn="just">
              <a:spcBef>
                <a:spcPct val="20000"/>
              </a:spcBef>
            </a:pPr>
            <a:r>
              <a:rPr lang="en-US" dirty="0" smtClean="0">
                <a:latin typeface="Times New Roman" pitchFamily="18" charset="0"/>
                <a:cs typeface="Times New Roman" pitchFamily="18" charset="0"/>
              </a:rPr>
              <a:t>	There is a single system wide global primary memory that is shared by processors connected to the system. If any processor writes some information in the global memory, it can be shared by all other processors. For example, if a processor writes the value 200 to a memory location </a:t>
            </a:r>
            <a:r>
              <a:rPr lang="en-US" i="1" dirty="0" smtClean="0">
                <a:latin typeface="Times New Roman" pitchFamily="18" charset="0"/>
                <a:cs typeface="Times New Roman" pitchFamily="18" charset="0"/>
              </a:rPr>
              <a:t>y</a:t>
            </a:r>
            <a:r>
              <a:rPr lang="en-US" dirty="0" smtClean="0">
                <a:latin typeface="Times New Roman" pitchFamily="18" charset="0"/>
                <a:cs typeface="Times New Roman" pitchFamily="18" charset="0"/>
              </a:rPr>
              <a:t>, any other processors reading from the location </a:t>
            </a:r>
            <a:r>
              <a:rPr lang="en-US" i="1" dirty="0" smtClean="0">
                <a:latin typeface="Times New Roman" pitchFamily="18" charset="0"/>
                <a:cs typeface="Times New Roman" pitchFamily="18" charset="0"/>
              </a:rPr>
              <a:t>y</a:t>
            </a:r>
            <a:r>
              <a:rPr lang="en-US" dirty="0" smtClean="0">
                <a:latin typeface="Times New Roman" pitchFamily="18" charset="0"/>
                <a:cs typeface="Times New Roman" pitchFamily="18" charset="0"/>
              </a:rPr>
              <a:t> will get the value 200. In this system, communication takes place through shared memory.</a:t>
            </a:r>
            <a:endParaRPr kumimoji="0" lang="en-US"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pSp>
        <p:nvGrpSpPr>
          <p:cNvPr id="2050" name="Group 2"/>
          <p:cNvGrpSpPr>
            <a:grpSpLocks noChangeAspect="1"/>
          </p:cNvGrpSpPr>
          <p:nvPr/>
        </p:nvGrpSpPr>
        <p:grpSpPr bwMode="auto">
          <a:xfrm>
            <a:off x="1600200" y="3657600"/>
            <a:ext cx="6175935" cy="2225675"/>
            <a:chOff x="2550" y="7236"/>
            <a:chExt cx="7395" cy="2664"/>
          </a:xfrm>
        </p:grpSpPr>
        <p:sp>
          <p:nvSpPr>
            <p:cNvPr id="2051" name="AutoShape 3"/>
            <p:cNvSpPr>
              <a:spLocks noChangeAspect="1" noChangeArrowheads="1"/>
            </p:cNvSpPr>
            <p:nvPr/>
          </p:nvSpPr>
          <p:spPr bwMode="auto">
            <a:xfrm>
              <a:off x="2550" y="7236"/>
              <a:ext cx="7395" cy="26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sz="1600">
                <a:latin typeface="Times New Roman" pitchFamily="18" charset="0"/>
                <a:cs typeface="Times New Roman" pitchFamily="18" charset="0"/>
              </a:endParaRPr>
            </a:p>
          </p:txBody>
        </p:sp>
        <p:grpSp>
          <p:nvGrpSpPr>
            <p:cNvPr id="2052" name="Group 4"/>
            <p:cNvGrpSpPr>
              <a:grpSpLocks/>
            </p:cNvGrpSpPr>
            <p:nvPr/>
          </p:nvGrpSpPr>
          <p:grpSpPr bwMode="auto">
            <a:xfrm>
              <a:off x="3135" y="7418"/>
              <a:ext cx="6256" cy="1717"/>
              <a:chOff x="2760" y="8468"/>
              <a:chExt cx="6256" cy="1717"/>
            </a:xfrm>
          </p:grpSpPr>
          <p:sp>
            <p:nvSpPr>
              <p:cNvPr id="2053" name="Rectangle 5"/>
              <p:cNvSpPr>
                <a:spLocks noChangeArrowheads="1"/>
              </p:cNvSpPr>
              <p:nvPr/>
            </p:nvSpPr>
            <p:spPr bwMode="auto">
              <a:xfrm>
                <a:off x="2760" y="9795"/>
                <a:ext cx="6256" cy="39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Communication Network</a:t>
                </a:r>
              </a:p>
            </p:txBody>
          </p:sp>
          <p:sp>
            <p:nvSpPr>
              <p:cNvPr id="2054" name="Rectangle 6"/>
              <p:cNvSpPr>
                <a:spLocks noChangeArrowheads="1"/>
              </p:cNvSpPr>
              <p:nvPr/>
            </p:nvSpPr>
            <p:spPr bwMode="auto">
              <a:xfrm>
                <a:off x="2760" y="8670"/>
                <a:ext cx="720" cy="46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buClrTx/>
                  <a:buSzTx/>
                  <a:buFontTx/>
                  <a:buNone/>
                  <a:tabLst/>
                </a:pPr>
                <a:endParaRPr kumimoji="0" lang="en-US" sz="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1" fontAlgn="base" latinLnBrk="0" hangingPunct="1">
                  <a:lnSpc>
                    <a:spcPct val="100000"/>
                  </a:lnSpc>
                  <a:spcBef>
                    <a:spcPct val="0"/>
                  </a:spcBef>
                  <a:buClrTx/>
                  <a:buSzTx/>
                  <a:buFontTx/>
                  <a:buNone/>
                  <a:tabLst/>
                </a:pPr>
                <a:r>
                  <a:rPr kumimoji="0" lang="en-US" sz="1100" b="0" i="0" u="none" strike="noStrike" cap="none" normalizeH="0" baseline="0" dirty="0" smtClean="0">
                    <a:ln>
                      <a:noFill/>
                    </a:ln>
                    <a:solidFill>
                      <a:schemeClr val="tx1"/>
                    </a:solidFill>
                    <a:effectLst/>
                    <a:latin typeface="Times New Roman" pitchFamily="18" charset="0"/>
                    <a:cs typeface="Times New Roman" pitchFamily="18" charset="0"/>
                  </a:rPr>
                  <a:t>CPU </a:t>
                </a:r>
                <a:r>
                  <a:rPr kumimoji="0" lang="en-US" sz="1100" b="0" i="0" u="none" strike="noStrike" cap="none" normalizeH="0" baseline="-25000" dirty="0" smtClean="0">
                    <a:ln>
                      <a:noFill/>
                    </a:ln>
                    <a:solidFill>
                      <a:schemeClr val="tx1"/>
                    </a:solidFill>
                    <a:effectLst/>
                    <a:latin typeface="Times New Roman" pitchFamily="18" charset="0"/>
                    <a:cs typeface="Times New Roman" pitchFamily="18" charset="0"/>
                  </a:rPr>
                  <a:t>1</a:t>
                </a:r>
                <a:endParaRPr kumimoji="0" lang="en-US" sz="11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2055" name="Rectangle 7"/>
              <p:cNvSpPr>
                <a:spLocks noChangeArrowheads="1"/>
              </p:cNvSpPr>
              <p:nvPr/>
            </p:nvSpPr>
            <p:spPr bwMode="auto">
              <a:xfrm>
                <a:off x="3721" y="8655"/>
                <a:ext cx="719" cy="46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buClrTx/>
                  <a:buSzTx/>
                  <a:buFontTx/>
                  <a:buNone/>
                  <a:tabLst/>
                </a:pPr>
                <a:endParaRPr kumimoji="0" lang="en-US" sz="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1" fontAlgn="base" latinLnBrk="0" hangingPunct="1">
                  <a:lnSpc>
                    <a:spcPct val="100000"/>
                  </a:lnSpc>
                  <a:spcBef>
                    <a:spcPct val="0"/>
                  </a:spcBef>
                  <a:buClrTx/>
                  <a:buSzTx/>
                  <a:buFontTx/>
                  <a:buNone/>
                  <a:tabLst/>
                </a:pPr>
                <a:r>
                  <a:rPr kumimoji="0" lang="en-US" sz="1100" b="0" i="0" u="none" strike="noStrike" cap="none" normalizeH="0" baseline="0" dirty="0" smtClean="0">
                    <a:ln>
                      <a:noFill/>
                    </a:ln>
                    <a:solidFill>
                      <a:schemeClr val="tx1"/>
                    </a:solidFill>
                    <a:effectLst/>
                    <a:latin typeface="Times New Roman" pitchFamily="18" charset="0"/>
                    <a:cs typeface="Times New Roman" pitchFamily="18" charset="0"/>
                  </a:rPr>
                  <a:t>CPU</a:t>
                </a:r>
                <a:r>
                  <a:rPr kumimoji="0" lang="en-US" sz="1100" b="0" i="0" u="none" strike="noStrike" cap="none" normalizeH="0" baseline="-25000" dirty="0" smtClean="0">
                    <a:ln>
                      <a:noFill/>
                    </a:ln>
                    <a:solidFill>
                      <a:schemeClr val="tx1"/>
                    </a:solidFill>
                    <a:effectLst/>
                    <a:latin typeface="Times New Roman" pitchFamily="18" charset="0"/>
                    <a:cs typeface="Times New Roman" pitchFamily="18" charset="0"/>
                  </a:rPr>
                  <a:t>2</a:t>
                </a:r>
                <a:endParaRPr kumimoji="0" lang="en-US" sz="11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2056" name="Rectangle 8"/>
              <p:cNvSpPr>
                <a:spLocks noChangeArrowheads="1"/>
              </p:cNvSpPr>
              <p:nvPr/>
            </p:nvSpPr>
            <p:spPr bwMode="auto">
              <a:xfrm>
                <a:off x="7245" y="8670"/>
                <a:ext cx="720" cy="46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buClrTx/>
                  <a:buSzTx/>
                  <a:buFontTx/>
                  <a:buNone/>
                  <a:tabLst/>
                </a:pPr>
                <a:endParaRPr kumimoji="0" lang="en-US" sz="5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1" fontAlgn="base" latinLnBrk="0" hangingPunct="1">
                  <a:lnSpc>
                    <a:spcPct val="100000"/>
                  </a:lnSpc>
                  <a:spcBef>
                    <a:spcPct val="0"/>
                  </a:spcBef>
                  <a:buClrTx/>
                  <a:buSzTx/>
                  <a:buFontTx/>
                  <a:buNone/>
                  <a:tabLst/>
                </a:pPr>
                <a:r>
                  <a:rPr kumimoji="0" lang="en-US" sz="1100" b="0" i="0" u="none" strike="noStrike" cap="none" normalizeH="0" baseline="0" dirty="0" smtClean="0">
                    <a:ln>
                      <a:noFill/>
                    </a:ln>
                    <a:solidFill>
                      <a:schemeClr val="tx1"/>
                    </a:solidFill>
                    <a:effectLst/>
                    <a:latin typeface="Times New Roman" pitchFamily="18" charset="0"/>
                    <a:cs typeface="Times New Roman" pitchFamily="18" charset="0"/>
                  </a:rPr>
                  <a:t>CPU</a:t>
                </a:r>
                <a:r>
                  <a:rPr kumimoji="0" lang="en-US" sz="1100" b="0" i="0" u="none" strike="noStrike" cap="none" normalizeH="0" baseline="-25000" dirty="0" smtClean="0">
                    <a:ln>
                      <a:noFill/>
                    </a:ln>
                    <a:solidFill>
                      <a:schemeClr val="tx1"/>
                    </a:solidFill>
                    <a:effectLst/>
                    <a:latin typeface="Times New Roman" pitchFamily="18" charset="0"/>
                    <a:cs typeface="Times New Roman" pitchFamily="18" charset="0"/>
                  </a:rPr>
                  <a:t>3</a:t>
                </a:r>
                <a:endParaRPr kumimoji="0" lang="en-US" sz="11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2057" name="Rectangle 9"/>
              <p:cNvSpPr>
                <a:spLocks noChangeArrowheads="1"/>
              </p:cNvSpPr>
              <p:nvPr/>
            </p:nvSpPr>
            <p:spPr bwMode="auto">
              <a:xfrm>
                <a:off x="8191" y="8655"/>
                <a:ext cx="719" cy="46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buClrTx/>
                  <a:buSzTx/>
                  <a:buFontTx/>
                  <a:buNone/>
                  <a:tabLst/>
                </a:pPr>
                <a:endParaRPr kumimoji="0" lang="en-US" sz="500" b="0"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ctr" defTabSz="914400" rtl="0" eaLnBrk="1" fontAlgn="base" latinLnBrk="0" hangingPunct="1">
                  <a:lnSpc>
                    <a:spcPct val="100000"/>
                  </a:lnSpc>
                  <a:spcBef>
                    <a:spcPct val="0"/>
                  </a:spcBef>
                  <a:buClrTx/>
                  <a:buSzTx/>
                  <a:buFontTx/>
                  <a:buNone/>
                  <a:tabLst/>
                </a:pPr>
                <a:r>
                  <a:rPr kumimoji="0" lang="en-US" sz="1100" b="0" i="0" u="none" strike="noStrike" cap="none" normalizeH="0" baseline="0" dirty="0" smtClean="0">
                    <a:ln>
                      <a:noFill/>
                    </a:ln>
                    <a:solidFill>
                      <a:schemeClr val="tx1"/>
                    </a:solidFill>
                    <a:effectLst/>
                    <a:latin typeface="Times New Roman" pitchFamily="18" charset="0"/>
                    <a:cs typeface="Times New Roman" pitchFamily="18" charset="0"/>
                  </a:rPr>
                  <a:t>CPU</a:t>
                </a:r>
                <a:r>
                  <a:rPr kumimoji="0" lang="en-US" sz="1100" b="0" i="0" u="none" strike="noStrike" cap="none" normalizeH="0" baseline="-25000" dirty="0" smtClean="0">
                    <a:ln>
                      <a:noFill/>
                    </a:ln>
                    <a:solidFill>
                      <a:schemeClr val="tx1"/>
                    </a:solidFill>
                    <a:effectLst/>
                    <a:latin typeface="Times New Roman" pitchFamily="18" charset="0"/>
                    <a:cs typeface="Times New Roman" pitchFamily="18" charset="0"/>
                  </a:rPr>
                  <a:t>4</a:t>
                </a:r>
                <a:endParaRPr kumimoji="0" lang="en-US" sz="11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2058" name="Rectangle 10"/>
              <p:cNvSpPr>
                <a:spLocks noChangeArrowheads="1"/>
              </p:cNvSpPr>
              <p:nvPr/>
            </p:nvSpPr>
            <p:spPr bwMode="auto">
              <a:xfrm>
                <a:off x="4815" y="8468"/>
                <a:ext cx="2055" cy="1042"/>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System wide shared global memory</a:t>
                </a:r>
              </a:p>
            </p:txBody>
          </p:sp>
          <p:cxnSp>
            <p:nvCxnSpPr>
              <p:cNvPr id="2059" name="AutoShape 11"/>
              <p:cNvCxnSpPr>
                <a:cxnSpLocks noChangeShapeType="1"/>
              </p:cNvCxnSpPr>
              <p:nvPr/>
            </p:nvCxnSpPr>
            <p:spPr bwMode="auto">
              <a:xfrm>
                <a:off x="7605" y="9150"/>
                <a:ext cx="1" cy="648"/>
              </a:xfrm>
              <a:prstGeom prst="straightConnector1">
                <a:avLst/>
              </a:prstGeom>
              <a:noFill/>
              <a:ln w="0">
                <a:solidFill>
                  <a:srgbClr val="000000"/>
                </a:solidFill>
                <a:round/>
                <a:headEnd/>
                <a:tailEnd/>
              </a:ln>
            </p:spPr>
          </p:cxnSp>
          <p:cxnSp>
            <p:nvCxnSpPr>
              <p:cNvPr id="2060" name="AutoShape 12"/>
              <p:cNvCxnSpPr>
                <a:cxnSpLocks noChangeShapeType="1"/>
              </p:cNvCxnSpPr>
              <p:nvPr/>
            </p:nvCxnSpPr>
            <p:spPr bwMode="auto">
              <a:xfrm>
                <a:off x="8550" y="9135"/>
                <a:ext cx="1" cy="648"/>
              </a:xfrm>
              <a:prstGeom prst="straightConnector1">
                <a:avLst/>
              </a:prstGeom>
              <a:noFill/>
              <a:ln w="0">
                <a:solidFill>
                  <a:srgbClr val="000000"/>
                </a:solidFill>
                <a:round/>
                <a:headEnd/>
                <a:tailEnd/>
              </a:ln>
            </p:spPr>
          </p:cxnSp>
          <p:cxnSp>
            <p:nvCxnSpPr>
              <p:cNvPr id="2061" name="AutoShape 13"/>
              <p:cNvCxnSpPr>
                <a:cxnSpLocks noChangeShapeType="1"/>
              </p:cNvCxnSpPr>
              <p:nvPr/>
            </p:nvCxnSpPr>
            <p:spPr bwMode="auto">
              <a:xfrm>
                <a:off x="4080" y="9135"/>
                <a:ext cx="1" cy="648"/>
              </a:xfrm>
              <a:prstGeom prst="straightConnector1">
                <a:avLst/>
              </a:prstGeom>
              <a:noFill/>
              <a:ln w="0">
                <a:solidFill>
                  <a:srgbClr val="000000"/>
                </a:solidFill>
                <a:round/>
                <a:headEnd/>
                <a:tailEnd/>
              </a:ln>
            </p:spPr>
          </p:cxnSp>
          <p:cxnSp>
            <p:nvCxnSpPr>
              <p:cNvPr id="2062" name="AutoShape 14"/>
              <p:cNvCxnSpPr>
                <a:cxnSpLocks noChangeShapeType="1"/>
              </p:cNvCxnSpPr>
              <p:nvPr/>
            </p:nvCxnSpPr>
            <p:spPr bwMode="auto">
              <a:xfrm>
                <a:off x="3091" y="9135"/>
                <a:ext cx="1" cy="648"/>
              </a:xfrm>
              <a:prstGeom prst="straightConnector1">
                <a:avLst/>
              </a:prstGeom>
              <a:noFill/>
              <a:ln w="0">
                <a:solidFill>
                  <a:srgbClr val="000000"/>
                </a:solidFill>
                <a:round/>
                <a:headEnd/>
                <a:tailEnd/>
              </a:ln>
            </p:spPr>
          </p:cxnSp>
          <p:cxnSp>
            <p:nvCxnSpPr>
              <p:cNvPr id="2063" name="AutoShape 15"/>
              <p:cNvCxnSpPr>
                <a:cxnSpLocks noChangeShapeType="1"/>
              </p:cNvCxnSpPr>
              <p:nvPr/>
            </p:nvCxnSpPr>
            <p:spPr bwMode="auto">
              <a:xfrm>
                <a:off x="5850" y="9510"/>
                <a:ext cx="1" cy="288"/>
              </a:xfrm>
              <a:prstGeom prst="straightConnector1">
                <a:avLst/>
              </a:prstGeom>
              <a:noFill/>
              <a:ln w="9525">
                <a:solidFill>
                  <a:srgbClr val="000000"/>
                </a:solidFill>
                <a:round/>
                <a:headEnd/>
                <a:tailEnd/>
              </a:ln>
            </p:spPr>
          </p:cxnSp>
        </p:grpSp>
        <p:sp>
          <p:nvSpPr>
            <p:cNvPr id="2064" name="Text Box 16"/>
            <p:cNvSpPr txBox="1">
              <a:spLocks noChangeArrowheads="1"/>
            </p:cNvSpPr>
            <p:nvPr/>
          </p:nvSpPr>
          <p:spPr bwMode="auto">
            <a:xfrm>
              <a:off x="4122" y="9394"/>
              <a:ext cx="4676" cy="369"/>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Fig. A Tightly coupled multiprocessor system</a:t>
              </a:r>
            </a:p>
          </p:txBody>
        </p:sp>
      </p:grpSp>
      <p:sp>
        <p:nvSpPr>
          <p:cNvPr id="24" name="Content Placeholder 16"/>
          <p:cNvSpPr txBox="1">
            <a:spLocks/>
          </p:cNvSpPr>
          <p:nvPr/>
        </p:nvSpPr>
        <p:spPr>
          <a:xfrm>
            <a:off x="1371600" y="5943600"/>
            <a:ext cx="5257800" cy="457200"/>
          </a:xfrm>
          <a:prstGeom prst="rect">
            <a:avLst/>
          </a:prstGeom>
        </p:spPr>
        <p:txBody>
          <a:bodyPr/>
          <a:lstStyle/>
          <a:p>
            <a:pPr marL="342900" lvl="0" indent="-342900">
              <a:spcBef>
                <a:spcPct val="20000"/>
              </a:spcBef>
            </a:pPr>
            <a:r>
              <a:rPr lang="en-US" dirty="0" smtClean="0">
                <a:latin typeface="Times New Roman" pitchFamily="18" charset="0"/>
                <a:cs typeface="Times New Roman" pitchFamily="18" charset="0"/>
              </a:rPr>
              <a:t>Also called parallel processing system.</a:t>
            </a:r>
            <a:endParaRPr kumimoji="0" lang="en-US"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371600"/>
            <a:ext cx="6858000" cy="2286000"/>
          </a:xfrm>
          <a:prstGeom prst="rect">
            <a:avLst/>
          </a:prstGeom>
        </p:spPr>
        <p:txBody>
          <a:bodyPr/>
          <a:lstStyle/>
          <a:p>
            <a:pPr marL="342900" lvl="0" indent="-342900" algn="just">
              <a:spcBef>
                <a:spcPct val="20000"/>
              </a:spcBef>
              <a:buFont typeface="Wingdings" pitchFamily="2" charset="2"/>
              <a:buChar char="q"/>
            </a:pPr>
            <a:r>
              <a:rPr lang="en-US" sz="2400" b="1" dirty="0" smtClean="0">
                <a:latin typeface="Times New Roman" pitchFamily="18" charset="0"/>
                <a:cs typeface="Times New Roman" pitchFamily="18" charset="0"/>
              </a:rPr>
              <a:t>Loosely Coupled System</a:t>
            </a:r>
          </a:p>
          <a:p>
            <a:pPr marL="342900" lvl="0" indent="-342900" algn="just">
              <a:spcBef>
                <a:spcPct val="20000"/>
              </a:spcBef>
            </a:pPr>
            <a:r>
              <a:rPr lang="en-US" dirty="0" smtClean="0">
                <a:latin typeface="Times New Roman" pitchFamily="18" charset="0"/>
                <a:cs typeface="Times New Roman" pitchFamily="18" charset="0"/>
              </a:rPr>
              <a:t>	Processors don’t share memory. Each processor has its own local memory. If a processor writes a value 200 to a memory location </a:t>
            </a:r>
            <a:r>
              <a:rPr lang="en-US" i="1" dirty="0" smtClean="0">
                <a:latin typeface="Times New Roman" pitchFamily="18" charset="0"/>
                <a:cs typeface="Times New Roman" pitchFamily="18" charset="0"/>
              </a:rPr>
              <a:t>y</a:t>
            </a:r>
            <a:r>
              <a:rPr lang="en-US" dirty="0" smtClean="0">
                <a:latin typeface="Times New Roman" pitchFamily="18" charset="0"/>
                <a:cs typeface="Times New Roman" pitchFamily="18" charset="0"/>
              </a:rPr>
              <a:t>, it only changes the content of its own local memory and does not affect the content of the memory of any other processors. In this system, communications are established by passing messages across the network.</a:t>
            </a:r>
            <a:endParaRPr kumimoji="0" lang="en-US"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sp>
        <p:nvSpPr>
          <p:cNvPr id="24" name="Content Placeholder 16"/>
          <p:cNvSpPr txBox="1">
            <a:spLocks/>
          </p:cNvSpPr>
          <p:nvPr/>
        </p:nvSpPr>
        <p:spPr>
          <a:xfrm>
            <a:off x="1371600" y="5867400"/>
            <a:ext cx="5257800" cy="457200"/>
          </a:xfrm>
          <a:prstGeom prst="rect">
            <a:avLst/>
          </a:prstGeom>
        </p:spPr>
        <p:txBody>
          <a:bodyPr/>
          <a:lstStyle/>
          <a:p>
            <a:pPr marL="342900" lvl="0" indent="-342900">
              <a:spcBef>
                <a:spcPct val="20000"/>
              </a:spcBef>
            </a:pPr>
            <a:r>
              <a:rPr lang="en-US" dirty="0" smtClean="0">
                <a:latin typeface="Times New Roman" pitchFamily="18" charset="0"/>
                <a:cs typeface="Times New Roman" pitchFamily="18" charset="0"/>
              </a:rPr>
              <a:t>Also called distributed system.</a:t>
            </a:r>
            <a:endParaRPr kumimoji="0" lang="en-US"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pSp>
        <p:nvGrpSpPr>
          <p:cNvPr id="3074" name="Group 2"/>
          <p:cNvGrpSpPr>
            <a:grpSpLocks noChangeAspect="1"/>
          </p:cNvGrpSpPr>
          <p:nvPr/>
        </p:nvGrpSpPr>
        <p:grpSpPr bwMode="auto">
          <a:xfrm>
            <a:off x="1524000" y="3352800"/>
            <a:ext cx="7229799" cy="2590800"/>
            <a:chOff x="2550" y="6891"/>
            <a:chExt cx="7395" cy="2649"/>
          </a:xfrm>
        </p:grpSpPr>
        <p:sp>
          <p:nvSpPr>
            <p:cNvPr id="3075" name="AutoShape 3"/>
            <p:cNvSpPr>
              <a:spLocks noChangeAspect="1" noChangeArrowheads="1"/>
            </p:cNvSpPr>
            <p:nvPr/>
          </p:nvSpPr>
          <p:spPr bwMode="auto">
            <a:xfrm>
              <a:off x="2550" y="6891"/>
              <a:ext cx="7395" cy="264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sz="1400">
                <a:latin typeface="Times New Roman" pitchFamily="18" charset="0"/>
                <a:cs typeface="Times New Roman" pitchFamily="18" charset="0"/>
              </a:endParaRPr>
            </a:p>
          </p:txBody>
        </p:sp>
        <p:grpSp>
          <p:nvGrpSpPr>
            <p:cNvPr id="3076" name="Group 4"/>
            <p:cNvGrpSpPr>
              <a:grpSpLocks/>
            </p:cNvGrpSpPr>
            <p:nvPr/>
          </p:nvGrpSpPr>
          <p:grpSpPr bwMode="auto">
            <a:xfrm>
              <a:off x="3135" y="7086"/>
              <a:ext cx="6256" cy="2454"/>
              <a:chOff x="3135" y="7266"/>
              <a:chExt cx="6256" cy="2454"/>
            </a:xfrm>
          </p:grpSpPr>
          <p:sp>
            <p:nvSpPr>
              <p:cNvPr id="3077" name="Rectangle 5"/>
              <p:cNvSpPr>
                <a:spLocks noChangeArrowheads="1"/>
              </p:cNvSpPr>
              <p:nvPr/>
            </p:nvSpPr>
            <p:spPr bwMode="auto">
              <a:xfrm>
                <a:off x="3135" y="8745"/>
                <a:ext cx="6256" cy="39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Communication Network</a:t>
                </a:r>
              </a:p>
            </p:txBody>
          </p:sp>
          <p:sp>
            <p:nvSpPr>
              <p:cNvPr id="3078" name="Rectangle 6"/>
              <p:cNvSpPr>
                <a:spLocks noChangeArrowheads="1"/>
              </p:cNvSpPr>
              <p:nvPr/>
            </p:nvSpPr>
            <p:spPr bwMode="auto">
              <a:xfrm>
                <a:off x="3135" y="7620"/>
                <a:ext cx="1335" cy="46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CPU</a:t>
                </a:r>
                <a:r>
                  <a:rPr kumimoji="0" lang="en-US" sz="1400" b="0" i="0" u="none" strike="noStrike" cap="none" normalizeH="0" baseline="-25000" smtClean="0">
                    <a:ln>
                      <a:noFill/>
                    </a:ln>
                    <a:solidFill>
                      <a:schemeClr val="tx1"/>
                    </a:solidFill>
                    <a:effectLst/>
                    <a:latin typeface="Times New Roman" pitchFamily="18" charset="0"/>
                    <a:cs typeface="Times New Roman" pitchFamily="18" charset="0"/>
                  </a:rPr>
                  <a:t>1</a:t>
                </a:r>
                <a:endParaRPr kumimoji="0" lang="en-US" sz="1400" b="0" i="0" u="none" strike="noStrike" cap="none" normalizeH="0" baseline="0" smtClean="0">
                  <a:ln>
                    <a:noFill/>
                  </a:ln>
                  <a:solidFill>
                    <a:schemeClr val="tx1"/>
                  </a:solidFill>
                  <a:effectLst/>
                  <a:latin typeface="Times New Roman" pitchFamily="18" charset="0"/>
                  <a:cs typeface="Times New Roman" pitchFamily="18" charset="0"/>
                </a:endParaRPr>
              </a:p>
            </p:txBody>
          </p:sp>
          <p:cxnSp>
            <p:nvCxnSpPr>
              <p:cNvPr id="3079" name="AutoShape 7"/>
              <p:cNvCxnSpPr>
                <a:cxnSpLocks noChangeShapeType="1"/>
              </p:cNvCxnSpPr>
              <p:nvPr/>
            </p:nvCxnSpPr>
            <p:spPr bwMode="auto">
              <a:xfrm>
                <a:off x="3781" y="8085"/>
                <a:ext cx="1" cy="648"/>
              </a:xfrm>
              <a:prstGeom prst="straightConnector1">
                <a:avLst/>
              </a:prstGeom>
              <a:noFill/>
              <a:ln w="0">
                <a:solidFill>
                  <a:srgbClr val="000000"/>
                </a:solidFill>
                <a:round/>
                <a:headEnd/>
                <a:tailEnd/>
              </a:ln>
            </p:spPr>
          </p:cxnSp>
          <p:sp>
            <p:nvSpPr>
              <p:cNvPr id="3080" name="Text Box 8"/>
              <p:cNvSpPr txBox="1">
                <a:spLocks noChangeArrowheads="1"/>
              </p:cNvSpPr>
              <p:nvPr/>
            </p:nvSpPr>
            <p:spPr bwMode="auto">
              <a:xfrm>
                <a:off x="4170" y="9330"/>
                <a:ext cx="4170" cy="39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Fig. A Loosely coupled multiprocessor system</a:t>
                </a:r>
              </a:p>
            </p:txBody>
          </p:sp>
          <p:sp>
            <p:nvSpPr>
              <p:cNvPr id="3081" name="Rectangle 9"/>
              <p:cNvSpPr>
                <a:spLocks noChangeArrowheads="1"/>
              </p:cNvSpPr>
              <p:nvPr/>
            </p:nvSpPr>
            <p:spPr bwMode="auto">
              <a:xfrm>
                <a:off x="3135" y="7266"/>
                <a:ext cx="1335" cy="34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Local memory</a:t>
                </a:r>
              </a:p>
            </p:txBody>
          </p:sp>
          <p:sp>
            <p:nvSpPr>
              <p:cNvPr id="3082" name="Rectangle 10"/>
              <p:cNvSpPr>
                <a:spLocks noChangeArrowheads="1"/>
              </p:cNvSpPr>
              <p:nvPr/>
            </p:nvSpPr>
            <p:spPr bwMode="auto">
              <a:xfrm>
                <a:off x="4756" y="7620"/>
                <a:ext cx="1335" cy="46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CPU</a:t>
                </a:r>
                <a:r>
                  <a:rPr kumimoji="0" lang="en-US" sz="1400" b="0" i="0" u="none" strike="noStrike" cap="none" normalizeH="0" baseline="-25000" smtClean="0">
                    <a:ln>
                      <a:noFill/>
                    </a:ln>
                    <a:solidFill>
                      <a:schemeClr val="tx1"/>
                    </a:solidFill>
                    <a:effectLst/>
                    <a:latin typeface="Times New Roman" pitchFamily="18" charset="0"/>
                    <a:cs typeface="Times New Roman" pitchFamily="18" charset="0"/>
                  </a:rPr>
                  <a:t>2</a:t>
                </a:r>
                <a:endParaRPr kumimoji="0" lang="en-US" sz="14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083" name="Rectangle 11"/>
              <p:cNvSpPr>
                <a:spLocks noChangeArrowheads="1"/>
              </p:cNvSpPr>
              <p:nvPr/>
            </p:nvSpPr>
            <p:spPr bwMode="auto">
              <a:xfrm>
                <a:off x="4756" y="7266"/>
                <a:ext cx="1335" cy="34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Local memory</a:t>
                </a:r>
              </a:p>
            </p:txBody>
          </p:sp>
          <p:sp>
            <p:nvSpPr>
              <p:cNvPr id="3084" name="Rectangle 12"/>
              <p:cNvSpPr>
                <a:spLocks noChangeArrowheads="1"/>
              </p:cNvSpPr>
              <p:nvPr/>
            </p:nvSpPr>
            <p:spPr bwMode="auto">
              <a:xfrm>
                <a:off x="7906" y="7620"/>
                <a:ext cx="1335" cy="46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CPU</a:t>
                </a:r>
                <a:r>
                  <a:rPr kumimoji="0" lang="en-US" sz="1400" b="0" i="0" u="none" strike="noStrike" cap="none" normalizeH="0" baseline="-25000" smtClean="0">
                    <a:ln>
                      <a:noFill/>
                    </a:ln>
                    <a:solidFill>
                      <a:schemeClr val="tx1"/>
                    </a:solidFill>
                    <a:effectLst/>
                    <a:latin typeface="Times New Roman" pitchFamily="18" charset="0"/>
                    <a:cs typeface="Times New Roman" pitchFamily="18" charset="0"/>
                  </a:rPr>
                  <a:t>n</a:t>
                </a:r>
                <a:endParaRPr kumimoji="0" lang="en-US" sz="14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085" name="Rectangle 13"/>
              <p:cNvSpPr>
                <a:spLocks noChangeArrowheads="1"/>
              </p:cNvSpPr>
              <p:nvPr/>
            </p:nvSpPr>
            <p:spPr bwMode="auto">
              <a:xfrm>
                <a:off x="7906" y="7266"/>
                <a:ext cx="1335" cy="34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Local memory</a:t>
                </a:r>
              </a:p>
            </p:txBody>
          </p:sp>
          <p:sp>
            <p:nvSpPr>
              <p:cNvPr id="3086" name="Oval 14"/>
              <p:cNvSpPr>
                <a:spLocks noChangeArrowheads="1"/>
              </p:cNvSpPr>
              <p:nvPr/>
            </p:nvSpPr>
            <p:spPr bwMode="auto">
              <a:xfrm>
                <a:off x="6796" y="7956"/>
                <a:ext cx="72" cy="72"/>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1400">
                  <a:latin typeface="Times New Roman" pitchFamily="18" charset="0"/>
                  <a:cs typeface="Times New Roman" pitchFamily="18" charset="0"/>
                </a:endParaRPr>
              </a:p>
            </p:txBody>
          </p:sp>
          <p:sp>
            <p:nvSpPr>
              <p:cNvPr id="3087" name="Oval 15"/>
              <p:cNvSpPr>
                <a:spLocks noChangeArrowheads="1"/>
              </p:cNvSpPr>
              <p:nvPr/>
            </p:nvSpPr>
            <p:spPr bwMode="auto">
              <a:xfrm>
                <a:off x="6964" y="7956"/>
                <a:ext cx="72" cy="72"/>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1400">
                  <a:latin typeface="Times New Roman" pitchFamily="18" charset="0"/>
                  <a:cs typeface="Times New Roman" pitchFamily="18" charset="0"/>
                </a:endParaRPr>
              </a:p>
            </p:txBody>
          </p:sp>
          <p:sp>
            <p:nvSpPr>
              <p:cNvPr id="3088" name="Oval 16"/>
              <p:cNvSpPr>
                <a:spLocks noChangeArrowheads="1"/>
              </p:cNvSpPr>
              <p:nvPr/>
            </p:nvSpPr>
            <p:spPr bwMode="auto">
              <a:xfrm>
                <a:off x="7144" y="7953"/>
                <a:ext cx="72" cy="72"/>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1400">
                  <a:latin typeface="Times New Roman" pitchFamily="18" charset="0"/>
                  <a:cs typeface="Times New Roman" pitchFamily="18" charset="0"/>
                </a:endParaRPr>
              </a:p>
            </p:txBody>
          </p:sp>
          <p:cxnSp>
            <p:nvCxnSpPr>
              <p:cNvPr id="3089" name="AutoShape 17"/>
              <p:cNvCxnSpPr>
                <a:cxnSpLocks noChangeShapeType="1"/>
              </p:cNvCxnSpPr>
              <p:nvPr/>
            </p:nvCxnSpPr>
            <p:spPr bwMode="auto">
              <a:xfrm>
                <a:off x="5386" y="8097"/>
                <a:ext cx="1" cy="648"/>
              </a:xfrm>
              <a:prstGeom prst="straightConnector1">
                <a:avLst/>
              </a:prstGeom>
              <a:noFill/>
              <a:ln w="0">
                <a:solidFill>
                  <a:srgbClr val="000000"/>
                </a:solidFill>
                <a:round/>
                <a:headEnd/>
                <a:tailEnd/>
              </a:ln>
            </p:spPr>
          </p:cxnSp>
          <p:cxnSp>
            <p:nvCxnSpPr>
              <p:cNvPr id="3090" name="AutoShape 18"/>
              <p:cNvCxnSpPr>
                <a:cxnSpLocks noChangeShapeType="1"/>
              </p:cNvCxnSpPr>
              <p:nvPr/>
            </p:nvCxnSpPr>
            <p:spPr bwMode="auto">
              <a:xfrm>
                <a:off x="8596" y="8082"/>
                <a:ext cx="1" cy="648"/>
              </a:xfrm>
              <a:prstGeom prst="straightConnector1">
                <a:avLst/>
              </a:prstGeom>
              <a:noFill/>
              <a:ln w="0">
                <a:solidFill>
                  <a:srgbClr val="000000"/>
                </a:solidFill>
                <a:round/>
                <a:headEnd/>
                <a:tailEnd/>
              </a:ln>
            </p:spPr>
          </p:cxnSp>
        </p:gr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371600"/>
            <a:ext cx="6858000" cy="4724400"/>
          </a:xfrm>
          <a:prstGeom prst="rect">
            <a:avLst/>
          </a:prstGeom>
        </p:spPr>
        <p:txBody>
          <a:bodyPr/>
          <a:lstStyle/>
          <a:p>
            <a:pPr marL="342900" lvl="0" indent="-342900">
              <a:spcBef>
                <a:spcPct val="20000"/>
              </a:spcBef>
              <a:buFont typeface="Wingdings" pitchFamily="2" charset="2"/>
              <a:buChar char="q"/>
            </a:pPr>
            <a:r>
              <a:rPr lang="en-US" sz="2400" b="1" dirty="0" smtClean="0">
                <a:latin typeface="Times New Roman" pitchFamily="18" charset="0"/>
                <a:cs typeface="Times New Roman" pitchFamily="18" charset="0"/>
              </a:rPr>
              <a:t>Parallel Processing Systems</a:t>
            </a:r>
            <a:endParaRPr lang="en-US" sz="2400"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A parallel processing system involves multiple processes that are active simultaneously and solving a given problem, generally on multiple processors. It divides a large task into several subtasks and executes these subtasks concurrently on several processors.</a:t>
            </a:r>
          </a:p>
          <a:p>
            <a:r>
              <a:rPr lang="en-US" dirty="0" smtClean="0">
                <a:latin typeface="Times New Roman" pitchFamily="18" charset="0"/>
                <a:cs typeface="Times New Roman" pitchFamily="18" charset="0"/>
              </a:rPr>
              <a:t> </a:t>
            </a:r>
          </a:p>
          <a:p>
            <a:r>
              <a:rPr lang="en-US" b="1" dirty="0" smtClean="0">
                <a:latin typeface="Times New Roman" pitchFamily="18" charset="0"/>
                <a:cs typeface="Times New Roman" pitchFamily="18" charset="0"/>
              </a:rPr>
              <a:t>Characteristics</a:t>
            </a:r>
            <a:endParaRPr lang="en-US" dirty="0" smtClean="0">
              <a:latin typeface="Times New Roman" pitchFamily="18" charset="0"/>
              <a:cs typeface="Times New Roman" pitchFamily="18" charset="0"/>
            </a:endParaRPr>
          </a:p>
          <a:p>
            <a:pPr marL="800100" lvl="1" indent="-342900">
              <a:buFont typeface="Arial" pitchFamily="34" charset="0"/>
              <a:buChar char="•"/>
            </a:pPr>
            <a:r>
              <a:rPr lang="en-US" sz="1600" dirty="0" smtClean="0">
                <a:latin typeface="Times New Roman" pitchFamily="18" charset="0"/>
                <a:cs typeface="Times New Roman" pitchFamily="18" charset="0"/>
              </a:rPr>
              <a:t>Parallel systems improve processing and I/O speeds by using multiple CPUs and disks in parallel.</a:t>
            </a:r>
          </a:p>
          <a:p>
            <a:pPr marL="800100" lvl="1" indent="-342900">
              <a:buFont typeface="Arial" pitchFamily="34" charset="0"/>
              <a:buChar char="•"/>
            </a:pPr>
            <a:r>
              <a:rPr lang="en-US" sz="1600" dirty="0" smtClean="0">
                <a:latin typeface="Times New Roman" pitchFamily="18" charset="0"/>
                <a:cs typeface="Times New Roman" pitchFamily="18" charset="0"/>
              </a:rPr>
              <a:t>All processors in the system can perform their tasks concurrently.</a:t>
            </a:r>
          </a:p>
          <a:p>
            <a:pPr marL="800100" lvl="1" indent="-342900">
              <a:buFont typeface="Arial" pitchFamily="34" charset="0"/>
              <a:buChar char="•"/>
            </a:pPr>
            <a:r>
              <a:rPr lang="en-US" sz="1600" dirty="0" smtClean="0">
                <a:latin typeface="Times New Roman" pitchFamily="18" charset="0"/>
                <a:cs typeface="Times New Roman" pitchFamily="18" charset="0"/>
              </a:rPr>
              <a:t>Tasks need to be synchronized.</a:t>
            </a:r>
          </a:p>
          <a:p>
            <a:pPr marL="800100" lvl="1" indent="-342900">
              <a:buFont typeface="Arial" pitchFamily="34" charset="0"/>
              <a:buChar char="•"/>
            </a:pPr>
            <a:r>
              <a:rPr lang="en-US" sz="1600" dirty="0" smtClean="0">
                <a:latin typeface="Times New Roman" pitchFamily="18" charset="0"/>
                <a:cs typeface="Times New Roman" pitchFamily="18" charset="0"/>
              </a:rPr>
              <a:t>Processors usually share resources such as data, disks, and other devices. </a:t>
            </a:r>
          </a:p>
          <a:p>
            <a:pPr marL="800100" lvl="1" indent="-342900">
              <a:buFont typeface="Arial" pitchFamily="34" charset="0"/>
              <a:buChar char="•"/>
            </a:pPr>
            <a:r>
              <a:rPr lang="en-US" sz="1600" dirty="0" smtClean="0">
                <a:latin typeface="Times New Roman" pitchFamily="18" charset="0"/>
                <a:cs typeface="Times New Roman" pitchFamily="18" charset="0"/>
              </a:rPr>
              <a:t>Parallel computers with hundreds of CPUs and disks are available commercially.</a:t>
            </a:r>
          </a:p>
          <a:p>
            <a:pPr marL="800100" lvl="1" indent="-342900">
              <a:buFont typeface="Arial" pitchFamily="34" charset="0"/>
              <a:buChar char="•"/>
            </a:pPr>
            <a:r>
              <a:rPr lang="en-US" sz="1600" dirty="0" smtClean="0">
                <a:latin typeface="Times New Roman" pitchFamily="18" charset="0"/>
                <a:cs typeface="Times New Roman" pitchFamily="18" charset="0"/>
              </a:rPr>
              <a:t>Parallel system improves the system performance in terms of two important properties: </a:t>
            </a:r>
            <a:r>
              <a:rPr lang="en-US" sz="1600" b="1" dirty="0" smtClean="0">
                <a:latin typeface="Times New Roman" pitchFamily="18" charset="0"/>
                <a:cs typeface="Times New Roman" pitchFamily="18" charset="0"/>
              </a:rPr>
              <a:t>Speedup</a:t>
            </a:r>
            <a:r>
              <a:rPr lang="en-US" sz="1600" dirty="0" smtClean="0">
                <a:latin typeface="Times New Roman" pitchFamily="18" charset="0"/>
                <a:cs typeface="Times New Roman" pitchFamily="18" charset="0"/>
              </a:rPr>
              <a:t> and </a:t>
            </a:r>
            <a:r>
              <a:rPr lang="en-US" sz="1600" b="1" dirty="0" err="1" smtClean="0">
                <a:latin typeface="Times New Roman" pitchFamily="18" charset="0"/>
                <a:cs typeface="Times New Roman" pitchFamily="18" charset="0"/>
              </a:rPr>
              <a:t>Scaleup</a:t>
            </a:r>
            <a:r>
              <a:rPr lang="en-US" sz="1600" dirty="0" smtClean="0">
                <a:latin typeface="Times New Roman" pitchFamily="18" charset="0"/>
                <a:cs typeface="Times New Roman" pitchFamily="18" charset="0"/>
              </a:rPr>
              <a:t>.</a:t>
            </a:r>
            <a:endParaRPr lang="en-US" sz="1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295400"/>
            <a:ext cx="6858000" cy="3200400"/>
          </a:xfrm>
          <a:prstGeom prst="rect">
            <a:avLst/>
          </a:prstGeom>
        </p:spPr>
        <p:txBody>
          <a:bodyPr/>
          <a:lstStyle/>
          <a:p>
            <a:pPr marL="342900" lvl="0" indent="-342900">
              <a:spcBef>
                <a:spcPct val="20000"/>
              </a:spcBef>
              <a:buFont typeface="Wingdings" pitchFamily="2" charset="2"/>
              <a:buChar char="q"/>
            </a:pPr>
            <a:r>
              <a:rPr lang="en-US" sz="2000" b="1" dirty="0" smtClean="0">
                <a:latin typeface="Times New Roman" pitchFamily="18" charset="0"/>
                <a:cs typeface="Times New Roman" pitchFamily="18" charset="0"/>
              </a:rPr>
              <a:t>Speedup</a:t>
            </a:r>
            <a:endParaRPr lang="en-US" sz="2000" dirty="0" smtClean="0">
              <a:latin typeface="Times New Roman" pitchFamily="18" charset="0"/>
              <a:cs typeface="Times New Roman" pitchFamily="18" charset="0"/>
            </a:endParaRPr>
          </a:p>
          <a:p>
            <a:pPr marL="800100" lvl="1" indent="-342900">
              <a:buFont typeface="Arial" pitchFamily="34" charset="0"/>
              <a:buChar char="•"/>
            </a:pPr>
            <a:r>
              <a:rPr lang="en-US" dirty="0" smtClean="0">
                <a:latin typeface="Times New Roman" pitchFamily="18" charset="0"/>
                <a:cs typeface="Times New Roman" pitchFamily="18" charset="0"/>
              </a:rPr>
              <a:t>Running a given task in less time by increasing the degree of parallelism is called speedup. </a:t>
            </a:r>
          </a:p>
          <a:p>
            <a:pPr marL="800100" lvl="1" indent="-342900">
              <a:buFont typeface="Arial" pitchFamily="34" charset="0"/>
              <a:buChar char="•"/>
            </a:pPr>
            <a:r>
              <a:rPr lang="en-US" dirty="0" smtClean="0">
                <a:latin typeface="Times New Roman" pitchFamily="18" charset="0"/>
                <a:cs typeface="Times New Roman" pitchFamily="18" charset="0"/>
              </a:rPr>
              <a:t>Suppose that the execution time of a task on a larger machine is T</a:t>
            </a:r>
            <a:r>
              <a:rPr lang="en-US" baseline="-25000" dirty="0" smtClean="0">
                <a:latin typeface="Times New Roman" pitchFamily="18" charset="0"/>
                <a:cs typeface="Times New Roman" pitchFamily="18" charset="0"/>
              </a:rPr>
              <a:t>L.</a:t>
            </a:r>
            <a:r>
              <a:rPr lang="en-US" dirty="0" smtClean="0">
                <a:latin typeface="Times New Roman" pitchFamily="18" charset="0"/>
                <a:cs typeface="Times New Roman" pitchFamily="18" charset="0"/>
              </a:rPr>
              <a:t> The execution time of the same task on a smaller machine is T</a:t>
            </a:r>
            <a:r>
              <a:rPr lang="en-US" baseline="-25000" dirty="0" smtClean="0">
                <a:latin typeface="Times New Roman" pitchFamily="18" charset="0"/>
                <a:cs typeface="Times New Roman" pitchFamily="18" charset="0"/>
              </a:rPr>
              <a:t>S</a:t>
            </a:r>
            <a:r>
              <a:rPr lang="en-US" dirty="0" smtClean="0">
                <a:latin typeface="Times New Roman" pitchFamily="18" charset="0"/>
                <a:cs typeface="Times New Roman" pitchFamily="18" charset="0"/>
              </a:rPr>
              <a:t>. Thus, </a:t>
            </a:r>
            <a:r>
              <a:rPr lang="en-US" b="1" dirty="0" smtClean="0">
                <a:latin typeface="Times New Roman" pitchFamily="18" charset="0"/>
                <a:cs typeface="Times New Roman" pitchFamily="18" charset="0"/>
              </a:rPr>
              <a:t>Speedup</a:t>
            </a:r>
            <a:r>
              <a:rPr lang="en-US" dirty="0" smtClean="0">
                <a:latin typeface="Times New Roman" pitchFamily="18" charset="0"/>
                <a:cs typeface="Times New Roman" pitchFamily="18" charset="0"/>
              </a:rPr>
              <a:t> = T</a:t>
            </a:r>
            <a:r>
              <a:rPr lang="en-US" baseline="-25000" dirty="0" smtClean="0">
                <a:latin typeface="Times New Roman" pitchFamily="18" charset="0"/>
                <a:cs typeface="Times New Roman" pitchFamily="18" charset="0"/>
              </a:rPr>
              <a:t>S</a:t>
            </a:r>
            <a:r>
              <a:rPr lang="en-US" dirty="0" smtClean="0">
                <a:latin typeface="Times New Roman" pitchFamily="18" charset="0"/>
                <a:cs typeface="Times New Roman" pitchFamily="18" charset="0"/>
              </a:rPr>
              <a:t>/T</a:t>
            </a:r>
            <a:r>
              <a:rPr lang="en-US" baseline="-25000" dirty="0" smtClean="0">
                <a:latin typeface="Times New Roman" pitchFamily="18" charset="0"/>
                <a:cs typeface="Times New Roman" pitchFamily="18" charset="0"/>
              </a:rPr>
              <a:t>L</a:t>
            </a:r>
            <a:r>
              <a:rPr lang="en-US" dirty="0" smtClean="0">
                <a:latin typeface="Times New Roman" pitchFamily="18" charset="0"/>
                <a:cs typeface="Times New Roman" pitchFamily="18" charset="0"/>
              </a:rPr>
              <a:t>.</a:t>
            </a:r>
          </a:p>
          <a:p>
            <a:pPr marL="800100" lvl="1" indent="-342900">
              <a:buFont typeface="Arial" pitchFamily="34" charset="0"/>
              <a:buChar char="•"/>
            </a:pPr>
            <a:r>
              <a:rPr lang="en-US" dirty="0" smtClean="0">
                <a:latin typeface="Times New Roman" pitchFamily="18" charset="0"/>
                <a:cs typeface="Times New Roman" pitchFamily="18" charset="0"/>
              </a:rPr>
              <a:t>If the speedup is N when the larger system has N times the resources (processors, disk, and so on) of the smaller system, the system is said to demonstrate </a:t>
            </a:r>
            <a:r>
              <a:rPr lang="en-US" b="1" dirty="0" smtClean="0">
                <a:latin typeface="Times New Roman" pitchFamily="18" charset="0"/>
                <a:cs typeface="Times New Roman" pitchFamily="18" charset="0"/>
              </a:rPr>
              <a:t>linear speedup</a:t>
            </a:r>
            <a:r>
              <a:rPr lang="en-US" dirty="0" smtClean="0">
                <a:latin typeface="Times New Roman" pitchFamily="18" charset="0"/>
                <a:cs typeface="Times New Roman" pitchFamily="18" charset="0"/>
              </a:rPr>
              <a:t>. If the speedup is less than N, the system is said to demonstrate </a:t>
            </a:r>
            <a:r>
              <a:rPr lang="en-US" b="1" dirty="0" err="1" smtClean="0">
                <a:latin typeface="Times New Roman" pitchFamily="18" charset="0"/>
                <a:cs typeface="Times New Roman" pitchFamily="18" charset="0"/>
              </a:rPr>
              <a:t>sublinear</a:t>
            </a:r>
            <a:r>
              <a:rPr lang="en-US" b="1" dirty="0" smtClean="0">
                <a:latin typeface="Times New Roman" pitchFamily="18" charset="0"/>
                <a:cs typeface="Times New Roman" pitchFamily="18" charset="0"/>
              </a:rPr>
              <a:t> speedup</a:t>
            </a:r>
            <a:r>
              <a:rPr lang="en-US" dirty="0" smtClean="0">
                <a:latin typeface="Times New Roman" pitchFamily="18" charset="0"/>
                <a:cs typeface="Times New Roman" pitchFamily="18" charset="0"/>
              </a:rPr>
              <a:t>. </a:t>
            </a:r>
          </a:p>
          <a:p>
            <a:endParaRPr lang="en-US" dirty="0" smtClean="0">
              <a:latin typeface="Times New Roman" pitchFamily="18" charset="0"/>
              <a:cs typeface="Times New Roman" pitchFamily="18" charset="0"/>
            </a:endParaRPr>
          </a:p>
        </p:txBody>
      </p:sp>
      <p:pic>
        <p:nvPicPr>
          <p:cNvPr id="4098" name="Picture 13"/>
          <p:cNvPicPr>
            <a:picLocks noChangeAspect="1" noChangeArrowheads="1"/>
          </p:cNvPicPr>
          <p:nvPr/>
        </p:nvPicPr>
        <p:blipFill>
          <a:blip r:embed="rId4"/>
          <a:srcRect/>
          <a:stretch>
            <a:fillRect/>
          </a:stretch>
        </p:blipFill>
        <p:spPr bwMode="auto">
          <a:xfrm>
            <a:off x="4108450" y="4191000"/>
            <a:ext cx="3515130" cy="2133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295400"/>
            <a:ext cx="6858000" cy="3200400"/>
          </a:xfrm>
          <a:prstGeom prst="rect">
            <a:avLst/>
          </a:prstGeom>
        </p:spPr>
        <p:txBody>
          <a:bodyPr/>
          <a:lstStyle/>
          <a:p>
            <a:pPr marL="342900" lvl="0" indent="-342900">
              <a:spcBef>
                <a:spcPct val="20000"/>
              </a:spcBef>
              <a:buFont typeface="Wingdings" pitchFamily="2" charset="2"/>
              <a:buChar char="q"/>
            </a:pPr>
            <a:r>
              <a:rPr lang="en-US" sz="2000" b="1" dirty="0" err="1" smtClean="0">
                <a:latin typeface="Times New Roman" pitchFamily="18" charset="0"/>
                <a:cs typeface="Times New Roman" pitchFamily="18" charset="0"/>
              </a:rPr>
              <a:t>Scaleup</a:t>
            </a:r>
            <a:endParaRPr lang="en-US" sz="2000" dirty="0" smtClean="0">
              <a:latin typeface="Times New Roman" pitchFamily="18" charset="0"/>
              <a:cs typeface="Times New Roman" pitchFamily="18" charset="0"/>
            </a:endParaRPr>
          </a:p>
          <a:p>
            <a:pPr marL="800100" lvl="1" indent="-342900">
              <a:buFont typeface="Arial" pitchFamily="34" charset="0"/>
              <a:buChar char="•"/>
            </a:pPr>
            <a:r>
              <a:rPr lang="en-US" dirty="0" smtClean="0">
                <a:latin typeface="Times New Roman" pitchFamily="18" charset="0"/>
                <a:cs typeface="Times New Roman" pitchFamily="18" charset="0"/>
              </a:rPr>
              <a:t>Handling larger tasks by increasing the degree of parallelism is called </a:t>
            </a:r>
            <a:r>
              <a:rPr lang="en-US" dirty="0" err="1" smtClean="0">
                <a:latin typeface="Times New Roman" pitchFamily="18" charset="0"/>
                <a:cs typeface="Times New Roman" pitchFamily="18" charset="0"/>
              </a:rPr>
              <a:t>scaleup</a:t>
            </a:r>
            <a:r>
              <a:rPr lang="en-US" dirty="0" smtClean="0">
                <a:latin typeface="Times New Roman" pitchFamily="18" charset="0"/>
                <a:cs typeface="Times New Roman" pitchFamily="18" charset="0"/>
              </a:rPr>
              <a:t>.</a:t>
            </a:r>
          </a:p>
          <a:p>
            <a:pPr marL="800100" lvl="1" indent="-342900">
              <a:buFont typeface="Arial" pitchFamily="34" charset="0"/>
              <a:buChar char="•"/>
            </a:pPr>
            <a:r>
              <a:rPr lang="en-US" dirty="0" smtClean="0">
                <a:latin typeface="Times New Roman" pitchFamily="18" charset="0"/>
                <a:cs typeface="Times New Roman" pitchFamily="18" charset="0"/>
              </a:rPr>
              <a:t>Let Q be a task, and let Q</a:t>
            </a:r>
            <a:r>
              <a:rPr lang="en-US" baseline="-25000" dirty="0" smtClean="0">
                <a:latin typeface="Times New Roman" pitchFamily="18" charset="0"/>
                <a:cs typeface="Times New Roman" pitchFamily="18" charset="0"/>
              </a:rPr>
              <a:t>N</a:t>
            </a:r>
            <a:r>
              <a:rPr lang="en-US" dirty="0" smtClean="0">
                <a:latin typeface="Times New Roman" pitchFamily="18" charset="0"/>
                <a:cs typeface="Times New Roman" pitchFamily="18" charset="0"/>
              </a:rPr>
              <a:t> be another task that is N times bigger than Q. Suppose the execution time of task Q on a smaller machine M</a:t>
            </a:r>
            <a:r>
              <a:rPr lang="en-US" baseline="-25000" dirty="0" smtClean="0">
                <a:latin typeface="Times New Roman" pitchFamily="18" charset="0"/>
                <a:cs typeface="Times New Roman" pitchFamily="18" charset="0"/>
              </a:rPr>
              <a:t>S</a:t>
            </a:r>
            <a:r>
              <a:rPr lang="en-US" dirty="0" smtClean="0">
                <a:latin typeface="Times New Roman" pitchFamily="18" charset="0"/>
                <a:cs typeface="Times New Roman" pitchFamily="18" charset="0"/>
              </a:rPr>
              <a:t> is T</a:t>
            </a:r>
            <a:r>
              <a:rPr lang="en-US" baseline="-25000" dirty="0" smtClean="0">
                <a:latin typeface="Times New Roman" pitchFamily="18" charset="0"/>
                <a:cs typeface="Times New Roman" pitchFamily="18" charset="0"/>
              </a:rPr>
              <a:t>S</a:t>
            </a:r>
            <a:r>
              <a:rPr lang="en-US" dirty="0" smtClean="0">
                <a:latin typeface="Times New Roman" pitchFamily="18" charset="0"/>
                <a:cs typeface="Times New Roman" pitchFamily="18" charset="0"/>
              </a:rPr>
              <a:t>, and the execution time of task Q</a:t>
            </a:r>
            <a:r>
              <a:rPr lang="en-US" baseline="-25000" dirty="0" smtClean="0">
                <a:latin typeface="Times New Roman" pitchFamily="18" charset="0"/>
                <a:cs typeface="Times New Roman" pitchFamily="18" charset="0"/>
              </a:rPr>
              <a:t>N</a:t>
            </a:r>
            <a:r>
              <a:rPr lang="en-US" dirty="0" smtClean="0">
                <a:latin typeface="Times New Roman" pitchFamily="18" charset="0"/>
                <a:cs typeface="Times New Roman" pitchFamily="18" charset="0"/>
              </a:rPr>
              <a:t> on a parallel machine M</a:t>
            </a:r>
            <a:r>
              <a:rPr lang="en-US" baseline="-25000" dirty="0" smtClean="0">
                <a:latin typeface="Times New Roman" pitchFamily="18" charset="0"/>
                <a:cs typeface="Times New Roman" pitchFamily="18" charset="0"/>
              </a:rPr>
              <a:t>L</a:t>
            </a:r>
            <a:r>
              <a:rPr lang="en-US" dirty="0" smtClean="0">
                <a:latin typeface="Times New Roman" pitchFamily="18" charset="0"/>
                <a:cs typeface="Times New Roman" pitchFamily="18" charset="0"/>
              </a:rPr>
              <a:t> is T</a:t>
            </a:r>
            <a:r>
              <a:rPr lang="en-US" baseline="-25000" dirty="0" smtClean="0">
                <a:latin typeface="Times New Roman" pitchFamily="18" charset="0"/>
                <a:cs typeface="Times New Roman" pitchFamily="18" charset="0"/>
              </a:rPr>
              <a:t>L</a:t>
            </a:r>
            <a:r>
              <a:rPr lang="en-US" dirty="0" smtClean="0">
                <a:latin typeface="Times New Roman" pitchFamily="18" charset="0"/>
                <a:cs typeface="Times New Roman" pitchFamily="18" charset="0"/>
              </a:rPr>
              <a:t>. Thus, </a:t>
            </a:r>
            <a:r>
              <a:rPr lang="en-US" dirty="0" err="1" smtClean="0">
                <a:latin typeface="Times New Roman" pitchFamily="18" charset="0"/>
                <a:cs typeface="Times New Roman" pitchFamily="18" charset="0"/>
              </a:rPr>
              <a:t>scaleup</a:t>
            </a:r>
            <a:r>
              <a:rPr lang="en-US" dirty="0" smtClean="0">
                <a:latin typeface="Times New Roman" pitchFamily="18" charset="0"/>
                <a:cs typeface="Times New Roman" pitchFamily="18" charset="0"/>
              </a:rPr>
              <a:t> = T</a:t>
            </a:r>
            <a:r>
              <a:rPr lang="en-US" baseline="-25000" dirty="0" smtClean="0">
                <a:latin typeface="Times New Roman" pitchFamily="18" charset="0"/>
                <a:cs typeface="Times New Roman" pitchFamily="18" charset="0"/>
              </a:rPr>
              <a:t>S</a:t>
            </a:r>
            <a:r>
              <a:rPr lang="en-US" dirty="0" smtClean="0">
                <a:latin typeface="Times New Roman" pitchFamily="18" charset="0"/>
                <a:cs typeface="Times New Roman" pitchFamily="18" charset="0"/>
              </a:rPr>
              <a:t>/T</a:t>
            </a:r>
            <a:r>
              <a:rPr lang="en-US" baseline="-25000" dirty="0" smtClean="0">
                <a:latin typeface="Times New Roman" pitchFamily="18" charset="0"/>
                <a:cs typeface="Times New Roman" pitchFamily="18" charset="0"/>
              </a:rPr>
              <a:t>L</a:t>
            </a:r>
          </a:p>
          <a:p>
            <a:pPr marL="800100" lvl="1" indent="-342900">
              <a:buFont typeface="Arial" pitchFamily="34" charset="0"/>
              <a:buChar char="•"/>
            </a:pPr>
            <a:r>
              <a:rPr lang="en-US" dirty="0" smtClean="0">
                <a:latin typeface="Times New Roman" pitchFamily="18" charset="0"/>
                <a:cs typeface="Times New Roman" pitchFamily="18" charset="0"/>
              </a:rPr>
              <a:t>The parallel system M</a:t>
            </a:r>
            <a:r>
              <a:rPr lang="en-US" baseline="-25000" dirty="0" smtClean="0">
                <a:latin typeface="Times New Roman" pitchFamily="18" charset="0"/>
                <a:cs typeface="Times New Roman" pitchFamily="18" charset="0"/>
              </a:rPr>
              <a:t>L</a:t>
            </a:r>
            <a:r>
              <a:rPr lang="en-US" dirty="0" smtClean="0">
                <a:latin typeface="Times New Roman" pitchFamily="18" charset="0"/>
                <a:cs typeface="Times New Roman" pitchFamily="18" charset="0"/>
              </a:rPr>
              <a:t> is said to demonstrate linear </a:t>
            </a:r>
            <a:r>
              <a:rPr lang="en-US" dirty="0" err="1" smtClean="0">
                <a:latin typeface="Times New Roman" pitchFamily="18" charset="0"/>
                <a:cs typeface="Times New Roman" pitchFamily="18" charset="0"/>
              </a:rPr>
              <a:t>scaleup</a:t>
            </a:r>
            <a:r>
              <a:rPr lang="en-US" dirty="0" smtClean="0">
                <a:latin typeface="Times New Roman" pitchFamily="18" charset="0"/>
                <a:cs typeface="Times New Roman" pitchFamily="18" charset="0"/>
              </a:rPr>
              <a:t> on task Q if T</a:t>
            </a:r>
            <a:r>
              <a:rPr lang="en-US" baseline="-25000" dirty="0" smtClean="0">
                <a:latin typeface="Times New Roman" pitchFamily="18" charset="0"/>
                <a:cs typeface="Times New Roman" pitchFamily="18" charset="0"/>
              </a:rPr>
              <a:t>L</a:t>
            </a:r>
            <a:r>
              <a:rPr lang="en-US" dirty="0" smtClean="0">
                <a:latin typeface="Times New Roman" pitchFamily="18" charset="0"/>
                <a:cs typeface="Times New Roman" pitchFamily="18" charset="0"/>
              </a:rPr>
              <a:t> = T</a:t>
            </a:r>
            <a:r>
              <a:rPr lang="en-US" baseline="-25000" dirty="0" smtClean="0">
                <a:latin typeface="Times New Roman" pitchFamily="18" charset="0"/>
                <a:cs typeface="Times New Roman" pitchFamily="18" charset="0"/>
              </a:rPr>
              <a:t>S</a:t>
            </a:r>
            <a:r>
              <a:rPr lang="en-US" dirty="0" smtClean="0">
                <a:latin typeface="Times New Roman" pitchFamily="18" charset="0"/>
                <a:cs typeface="Times New Roman" pitchFamily="18" charset="0"/>
              </a:rPr>
              <a:t>. If T</a:t>
            </a:r>
            <a:r>
              <a:rPr lang="en-US" baseline="-25000" dirty="0" smtClean="0">
                <a:latin typeface="Times New Roman" pitchFamily="18" charset="0"/>
                <a:cs typeface="Times New Roman" pitchFamily="18" charset="0"/>
              </a:rPr>
              <a:t>L</a:t>
            </a:r>
            <a:r>
              <a:rPr lang="en-US" dirty="0" smtClean="0">
                <a:latin typeface="Times New Roman" pitchFamily="18" charset="0"/>
                <a:cs typeface="Times New Roman" pitchFamily="18" charset="0"/>
              </a:rPr>
              <a:t> &gt; T</a:t>
            </a:r>
            <a:r>
              <a:rPr lang="en-US" baseline="-25000" dirty="0" smtClean="0">
                <a:latin typeface="Times New Roman" pitchFamily="18" charset="0"/>
                <a:cs typeface="Times New Roman" pitchFamily="18" charset="0"/>
              </a:rPr>
              <a:t>S</a:t>
            </a:r>
            <a:r>
              <a:rPr lang="en-US" dirty="0" smtClean="0">
                <a:latin typeface="Times New Roman" pitchFamily="18" charset="0"/>
                <a:cs typeface="Times New Roman" pitchFamily="18" charset="0"/>
              </a:rPr>
              <a:t>, the system is said to demonstrate </a:t>
            </a:r>
            <a:r>
              <a:rPr lang="en-US" dirty="0" err="1" smtClean="0">
                <a:latin typeface="Times New Roman" pitchFamily="18" charset="0"/>
                <a:cs typeface="Times New Roman" pitchFamily="18" charset="0"/>
              </a:rPr>
              <a:t>sublinear</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scaleup</a:t>
            </a:r>
            <a:endParaRPr lang="en-US" dirty="0" smtClean="0">
              <a:latin typeface="Times New Roman" pitchFamily="18" charset="0"/>
              <a:cs typeface="Times New Roman" pitchFamily="18" charset="0"/>
            </a:endParaRPr>
          </a:p>
        </p:txBody>
      </p:sp>
      <p:pic>
        <p:nvPicPr>
          <p:cNvPr id="5122" name="Picture 14"/>
          <p:cNvPicPr>
            <a:picLocks noChangeAspect="1" noChangeArrowheads="1"/>
          </p:cNvPicPr>
          <p:nvPr/>
        </p:nvPicPr>
        <p:blipFill>
          <a:blip r:embed="rId4"/>
          <a:srcRect/>
          <a:stretch>
            <a:fillRect/>
          </a:stretch>
        </p:blipFill>
        <p:spPr bwMode="auto">
          <a:xfrm>
            <a:off x="3657600" y="3962400"/>
            <a:ext cx="4069957" cy="2286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524000"/>
            <a:ext cx="6858000" cy="4648200"/>
          </a:xfrm>
          <a:prstGeom prst="rect">
            <a:avLst/>
          </a:prstGeom>
        </p:spPr>
        <p:txBody>
          <a:bodyPr/>
          <a:lstStyle/>
          <a:p>
            <a:pPr marL="342900" lvl="0" indent="-342900">
              <a:spcBef>
                <a:spcPct val="20000"/>
              </a:spcBef>
              <a:buFont typeface="Wingdings" pitchFamily="2" charset="2"/>
              <a:buChar char="q"/>
            </a:pPr>
            <a:r>
              <a:rPr lang="en-US" sz="2000" b="1" dirty="0" smtClean="0">
                <a:latin typeface="Times New Roman" pitchFamily="18" charset="0"/>
                <a:cs typeface="Times New Roman" pitchFamily="18" charset="0"/>
              </a:rPr>
              <a:t>What is a Distributed Database System?</a:t>
            </a:r>
          </a:p>
          <a:p>
            <a:pPr marL="342900" lvl="0" indent="-342900">
              <a:spcBef>
                <a:spcPct val="20000"/>
              </a:spcBef>
              <a:buFont typeface="Wingdings" pitchFamily="2" charset="2"/>
              <a:buChar char="Ø"/>
            </a:pPr>
            <a:endParaRPr lang="en-US" sz="2000" dirty="0" smtClean="0">
              <a:latin typeface="Times New Roman" pitchFamily="18" charset="0"/>
              <a:cs typeface="Times New Roman" pitchFamily="18" charset="0"/>
            </a:endParaRPr>
          </a:p>
          <a:p>
            <a:pPr marL="342900" lvl="0" indent="-342900">
              <a:spcBef>
                <a:spcPct val="20000"/>
              </a:spcBef>
              <a:buFont typeface="Wingdings" pitchFamily="2" charset="2"/>
              <a:buChar char="Ø"/>
            </a:pPr>
            <a:r>
              <a:rPr lang="en-US" sz="2000" dirty="0" smtClean="0">
                <a:latin typeface="Times New Roman" pitchFamily="18" charset="0"/>
                <a:cs typeface="Times New Roman" pitchFamily="18" charset="0"/>
              </a:rPr>
              <a:t>We define a distributed database as a collection of multiple, logically interrelated databases distributed over a computer network. A distributed database management system (distributed DBMS) is then defined as the software system that permits the management of the distributed database and makes the distribution transparent to the users.</a:t>
            </a:r>
          </a:p>
          <a:p>
            <a:pPr marL="342900" lvl="0" indent="-342900">
              <a:spcBef>
                <a:spcPct val="20000"/>
              </a:spcBef>
              <a:buFont typeface="Wingdings" pitchFamily="2" charset="2"/>
              <a:buChar char="Ø"/>
            </a:pPr>
            <a:endParaRPr lang="en-US" sz="2000" dirty="0" smtClean="0">
              <a:latin typeface="Times New Roman" pitchFamily="18" charset="0"/>
              <a:cs typeface="Times New Roman" pitchFamily="18" charset="0"/>
            </a:endParaRPr>
          </a:p>
          <a:p>
            <a:pPr marL="342900" lvl="0" indent="-342900">
              <a:spcBef>
                <a:spcPct val="20000"/>
              </a:spcBef>
              <a:buFont typeface="Wingdings" pitchFamily="2" charset="2"/>
              <a:buChar char="Ø"/>
            </a:pPr>
            <a:r>
              <a:rPr lang="en-US" sz="2000" dirty="0" smtClean="0">
                <a:latin typeface="Times New Roman" pitchFamily="18" charset="0"/>
                <a:cs typeface="Times New Roman" pitchFamily="18" charset="0"/>
              </a:rPr>
              <a:t>A DDBS is not a “collection of files” that can be individually stored at each node of a computer network. To form a DDBS, files should not only be logically related, but there should be structured among the files, and access should be via a common interface.</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524000"/>
            <a:ext cx="6858000" cy="4648200"/>
          </a:xfrm>
          <a:prstGeom prst="rect">
            <a:avLst/>
          </a:prstGeom>
        </p:spPr>
        <p:txBody>
          <a:bodyPr/>
          <a:lstStyle/>
          <a:p>
            <a:pPr marL="342900" lvl="0" indent="-342900">
              <a:spcBef>
                <a:spcPct val="20000"/>
              </a:spcBef>
              <a:buFont typeface="Wingdings" pitchFamily="2" charset="2"/>
              <a:buChar char="q"/>
            </a:pPr>
            <a:r>
              <a:rPr lang="en-US" sz="2000" b="1" dirty="0" smtClean="0">
                <a:latin typeface="Times New Roman" pitchFamily="18" charset="0"/>
                <a:cs typeface="Times New Roman" pitchFamily="18" charset="0"/>
              </a:rPr>
              <a:t>Multiprocessor systems VS DDBS   </a:t>
            </a:r>
            <a:r>
              <a:rPr lang="en-US" sz="2800" b="1" dirty="0" smtClean="0">
                <a:latin typeface="Times New Roman" pitchFamily="18" charset="0"/>
                <a:cs typeface="Times New Roman" pitchFamily="18" charset="0"/>
              </a:rPr>
              <a:t>?</a:t>
            </a:r>
            <a:endParaRPr lang="en-US" sz="2000" b="1" dirty="0" smtClean="0">
              <a:latin typeface="Times New Roman" pitchFamily="18" charset="0"/>
              <a:cs typeface="Times New Roman" pitchFamily="18" charset="0"/>
            </a:endParaRPr>
          </a:p>
          <a:p>
            <a:pPr marL="342900" lvl="0" indent="-342900" algn="just">
              <a:spcBef>
                <a:spcPct val="20000"/>
              </a:spcBef>
              <a:buFont typeface="Wingdings" pitchFamily="2" charset="2"/>
              <a:buChar char="Ø"/>
            </a:pPr>
            <a:endParaRPr lang="en-US" sz="2000" dirty="0" smtClean="0">
              <a:latin typeface="Times New Roman" pitchFamily="18" charset="0"/>
              <a:cs typeface="Times New Roman" pitchFamily="18" charset="0"/>
            </a:endParaRPr>
          </a:p>
          <a:p>
            <a:pPr marL="342900" lvl="0" indent="-342900" algn="just">
              <a:spcBef>
                <a:spcPct val="20000"/>
              </a:spcBef>
              <a:buFont typeface="Wingdings" pitchFamily="2" charset="2"/>
              <a:buChar char="Ø"/>
            </a:pPr>
            <a:r>
              <a:rPr lang="en-US" sz="2000" dirty="0" smtClean="0">
                <a:latin typeface="Times New Roman" pitchFamily="18" charset="0"/>
                <a:cs typeface="Times New Roman" pitchFamily="18" charset="0"/>
              </a:rPr>
              <a:t>Multiprocessor systems are not considered as DDBSs.</a:t>
            </a:r>
          </a:p>
          <a:p>
            <a:pPr marL="342900" lvl="0" indent="-342900" algn="just">
              <a:spcBef>
                <a:spcPct val="20000"/>
              </a:spcBef>
              <a:buFont typeface="Wingdings" pitchFamily="2" charset="2"/>
              <a:buChar char="Ø"/>
            </a:pPr>
            <a:r>
              <a:rPr lang="en-US" sz="2000" dirty="0" smtClean="0">
                <a:latin typeface="Times New Roman" pitchFamily="18" charset="0"/>
                <a:cs typeface="Times New Roman" pitchFamily="18" charset="0"/>
              </a:rPr>
              <a:t>In DDBS, the communication between nodes is done over a network instead of through shared memory or shared disk, with the network as the only shared resource.</a:t>
            </a:r>
          </a:p>
          <a:p>
            <a:pPr marL="342900" lvl="0" indent="-342900" algn="just">
              <a:spcBef>
                <a:spcPct val="20000"/>
              </a:spcBef>
              <a:buFont typeface="Wingdings" pitchFamily="2" charset="2"/>
              <a:buChar char="Ø"/>
            </a:pPr>
            <a:r>
              <a:rPr lang="en-US" sz="2000" dirty="0" smtClean="0">
                <a:latin typeface="Times New Roman" pitchFamily="18" charset="0"/>
                <a:cs typeface="Times New Roman" pitchFamily="18" charset="0"/>
              </a:rPr>
              <a:t>Although shared-nothing multiprocessors, where each processor node has its own primary and secondary memory, and may also have its own peripherals, are quite similar to the distributed environment, there are differences.</a:t>
            </a:r>
          </a:p>
          <a:p>
            <a:pPr marL="342900" lvl="0" indent="-342900" algn="just">
              <a:spcBef>
                <a:spcPct val="20000"/>
              </a:spcBef>
            </a:pP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524000"/>
            <a:ext cx="6858000" cy="4648200"/>
          </a:xfrm>
          <a:prstGeom prst="rect">
            <a:avLst/>
          </a:prstGeom>
        </p:spPr>
        <p:txBody>
          <a:bodyPr/>
          <a:lstStyle/>
          <a:p>
            <a:pPr marL="342900" lvl="0" indent="-342900">
              <a:spcBef>
                <a:spcPct val="20000"/>
              </a:spcBef>
              <a:buFont typeface="Wingdings" pitchFamily="2" charset="2"/>
              <a:buChar char="q"/>
            </a:pPr>
            <a:r>
              <a:rPr lang="en-US" sz="2000" b="1" dirty="0" smtClean="0">
                <a:latin typeface="Times New Roman" pitchFamily="18" charset="0"/>
                <a:cs typeface="Times New Roman" pitchFamily="18" charset="0"/>
              </a:rPr>
              <a:t>Multiprocessor systems VS DDBS   </a:t>
            </a:r>
            <a:r>
              <a:rPr lang="en-US" sz="2800" b="1" dirty="0" smtClean="0">
                <a:latin typeface="Times New Roman" pitchFamily="18" charset="0"/>
                <a:cs typeface="Times New Roman" pitchFamily="18" charset="0"/>
              </a:rPr>
              <a:t>?</a:t>
            </a:r>
            <a:endParaRPr lang="en-US" sz="2000" b="1" dirty="0" smtClean="0">
              <a:latin typeface="Times New Roman" pitchFamily="18" charset="0"/>
              <a:cs typeface="Times New Roman" pitchFamily="18" charset="0"/>
            </a:endParaRPr>
          </a:p>
          <a:p>
            <a:pPr marL="342900" lvl="0" indent="-342900" algn="just">
              <a:spcBef>
                <a:spcPct val="20000"/>
              </a:spcBef>
              <a:buFont typeface="Wingdings" pitchFamily="2" charset="2"/>
              <a:buChar char="Ø"/>
            </a:pPr>
            <a:endParaRPr lang="en-US" sz="2000" dirty="0" smtClean="0">
              <a:latin typeface="Times New Roman" pitchFamily="18" charset="0"/>
              <a:cs typeface="Times New Roman" pitchFamily="18" charset="0"/>
            </a:endParaRPr>
          </a:p>
          <a:p>
            <a:pPr marL="342900" lvl="0" indent="-342900" algn="just">
              <a:spcBef>
                <a:spcPct val="20000"/>
              </a:spcBef>
              <a:buFont typeface="Wingdings" pitchFamily="2" charset="2"/>
              <a:buChar char="Ø"/>
            </a:pPr>
            <a:r>
              <a:rPr lang="en-US" sz="2000" dirty="0" smtClean="0">
                <a:latin typeface="Times New Roman" pitchFamily="18" charset="0"/>
                <a:cs typeface="Times New Roman" pitchFamily="18" charset="0"/>
              </a:rPr>
              <a:t>A multiprocessor system design is symmetrical, consisting of a number of </a:t>
            </a:r>
            <a:r>
              <a:rPr lang="en-US" sz="2000" b="1" dirty="0" smtClean="0">
                <a:latin typeface="Times New Roman" pitchFamily="18" charset="0"/>
                <a:cs typeface="Times New Roman" pitchFamily="18" charset="0"/>
              </a:rPr>
              <a:t>identical processor</a:t>
            </a:r>
            <a:r>
              <a:rPr lang="en-US" sz="2000" dirty="0" smtClean="0">
                <a:latin typeface="Times New Roman" pitchFamily="18" charset="0"/>
                <a:cs typeface="Times New Roman" pitchFamily="18" charset="0"/>
              </a:rPr>
              <a:t> and </a:t>
            </a:r>
            <a:r>
              <a:rPr lang="en-US" sz="2000" b="1" dirty="0" smtClean="0">
                <a:latin typeface="Times New Roman" pitchFamily="18" charset="0"/>
                <a:cs typeface="Times New Roman" pitchFamily="18" charset="0"/>
              </a:rPr>
              <a:t>memory components</a:t>
            </a:r>
            <a:r>
              <a:rPr lang="en-US" sz="2000" dirty="0" smtClean="0">
                <a:latin typeface="Times New Roman" pitchFamily="18" charset="0"/>
                <a:cs typeface="Times New Roman" pitchFamily="18" charset="0"/>
              </a:rPr>
              <a:t>, and controlled by one or more copies of the </a:t>
            </a:r>
            <a:r>
              <a:rPr lang="en-US" sz="2000" b="1" dirty="0" smtClean="0">
                <a:latin typeface="Times New Roman" pitchFamily="18" charset="0"/>
                <a:cs typeface="Times New Roman" pitchFamily="18" charset="0"/>
              </a:rPr>
              <a:t>same operating system</a:t>
            </a:r>
            <a:r>
              <a:rPr lang="en-US" sz="2000" dirty="0" smtClean="0">
                <a:latin typeface="Times New Roman" pitchFamily="18" charset="0"/>
                <a:cs typeface="Times New Roman" pitchFamily="18" charset="0"/>
              </a:rPr>
              <a:t> that is responsible for a strict control of the task assignment to each processor. This is not true in distributed computing systems, where heterogeneity of the operating system as well as the hardware is quite common. </a:t>
            </a:r>
          </a:p>
          <a:p>
            <a:pPr marL="342900" lvl="0" indent="-342900" algn="just">
              <a:spcBef>
                <a:spcPct val="20000"/>
              </a:spcBef>
              <a:buFont typeface="Wingdings" pitchFamily="2" charset="2"/>
              <a:buChar char="Ø"/>
            </a:pPr>
            <a:r>
              <a:rPr lang="en-US" sz="2000" dirty="0" smtClean="0">
                <a:latin typeface="Times New Roman" pitchFamily="18" charset="0"/>
                <a:cs typeface="Times New Roman" pitchFamily="18" charset="0"/>
              </a:rPr>
              <a:t>Database systems that run over multiprocessor systems are called </a:t>
            </a:r>
            <a:r>
              <a:rPr lang="en-US" sz="2000" b="1" dirty="0" smtClean="0">
                <a:latin typeface="Times New Roman" pitchFamily="18" charset="0"/>
                <a:cs typeface="Times New Roman" pitchFamily="18" charset="0"/>
              </a:rPr>
              <a:t>parallel database systems.</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524000"/>
            <a:ext cx="6858000" cy="4648200"/>
          </a:xfrm>
          <a:prstGeom prst="rect">
            <a:avLst/>
          </a:prstGeom>
        </p:spPr>
        <p:txBody>
          <a:bodyPr/>
          <a:lstStyle/>
          <a:p>
            <a:pPr marL="342900" lvl="0" indent="-342900">
              <a:spcBef>
                <a:spcPct val="20000"/>
              </a:spcBef>
              <a:buFont typeface="Wingdings" pitchFamily="2" charset="2"/>
              <a:buChar char="q"/>
            </a:pPr>
            <a:r>
              <a:rPr lang="en-US" sz="2000" b="1" dirty="0" smtClean="0">
                <a:latin typeface="Times New Roman" pitchFamily="18" charset="0"/>
                <a:cs typeface="Times New Roman" pitchFamily="18" charset="0"/>
              </a:rPr>
              <a:t>What is Distributed Data Processing or distributed computing system?</a:t>
            </a:r>
          </a:p>
          <a:p>
            <a:pPr marL="342900" lvl="0" indent="-342900">
              <a:spcBef>
                <a:spcPct val="20000"/>
              </a:spcBef>
              <a:buFont typeface="Wingdings" pitchFamily="2" charset="2"/>
              <a:buChar char="Ø"/>
            </a:pPr>
            <a:endParaRPr lang="en-US" sz="2000" b="1" dirty="0" smtClean="0">
              <a:latin typeface="Times New Roman" pitchFamily="18" charset="0"/>
              <a:cs typeface="Times New Roman" pitchFamily="18" charset="0"/>
            </a:endParaRPr>
          </a:p>
          <a:p>
            <a:pPr marL="342900" lvl="0" indent="-342900" algn="just">
              <a:spcBef>
                <a:spcPct val="20000"/>
              </a:spcBef>
              <a:buFont typeface="Wingdings" pitchFamily="2" charset="2"/>
              <a:buChar char="Ø"/>
            </a:pPr>
            <a:r>
              <a:rPr lang="en-US" sz="2000" dirty="0" smtClean="0">
                <a:latin typeface="Times New Roman" pitchFamily="18" charset="0"/>
                <a:cs typeface="Times New Roman" pitchFamily="18" charset="0"/>
              </a:rPr>
              <a:t>A distributed computing system states that it is a number of autonomous processing elements (not necessarily homogeneous) that are interconnected by a computer network and that cooperate in performing their assigned tasks. </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524000"/>
            <a:ext cx="6858000" cy="4648200"/>
          </a:xfrm>
          <a:prstGeom prst="rect">
            <a:avLst/>
          </a:prstGeom>
        </p:spPr>
        <p:txBody>
          <a:bodyPr/>
          <a:lstStyle/>
          <a:p>
            <a:pPr marL="342900" lvl="0" indent="-342900">
              <a:spcBef>
                <a:spcPct val="20000"/>
              </a:spcBef>
              <a:buFont typeface="Wingdings" pitchFamily="2" charset="2"/>
              <a:buChar char="q"/>
            </a:pPr>
            <a:r>
              <a:rPr lang="en-US" sz="2000" b="1" dirty="0" smtClean="0">
                <a:latin typeface="Times New Roman" pitchFamily="18" charset="0"/>
                <a:cs typeface="Times New Roman" pitchFamily="18" charset="0"/>
              </a:rPr>
              <a:t>Distributed Database Management System</a:t>
            </a:r>
            <a:endParaRPr lang="en-US" sz="2000" dirty="0" smtClean="0">
              <a:latin typeface="Times New Roman" pitchFamily="18" charset="0"/>
              <a:cs typeface="Times New Roman" pitchFamily="18" charset="0"/>
            </a:endParaRPr>
          </a:p>
          <a:p>
            <a:pPr marL="800100" lvl="1" indent="-342900">
              <a:buFont typeface="Arial" pitchFamily="34" charset="0"/>
              <a:buChar char="•"/>
            </a:pPr>
            <a:endParaRPr lang="en-US" dirty="0" smtClean="0">
              <a:latin typeface="Times New Roman" pitchFamily="18" charset="0"/>
              <a:cs typeface="Times New Roman" pitchFamily="18" charset="0"/>
            </a:endParaRPr>
          </a:p>
          <a:p>
            <a:pPr marL="800100" lvl="1" indent="-342900">
              <a:buFont typeface="Arial" pitchFamily="34" charset="0"/>
              <a:buChar char="•"/>
            </a:pPr>
            <a:r>
              <a:rPr lang="en-US" dirty="0" smtClean="0">
                <a:latin typeface="Times New Roman" pitchFamily="18" charset="0"/>
                <a:cs typeface="Times New Roman" pitchFamily="18" charset="0"/>
              </a:rPr>
              <a:t>Consists of a single logical database that is split into a number of fragments. Each fragment is stored on one or more computers.</a:t>
            </a:r>
          </a:p>
          <a:p>
            <a:pPr marL="800100" lvl="1" indent="-342900">
              <a:buFont typeface="Arial" pitchFamily="34" charset="0"/>
              <a:buChar char="•"/>
            </a:pPr>
            <a:r>
              <a:rPr lang="en-US" dirty="0" smtClean="0">
                <a:latin typeface="Times New Roman" pitchFamily="18" charset="0"/>
                <a:cs typeface="Times New Roman" pitchFamily="18" charset="0"/>
              </a:rPr>
              <a:t>The computers in a distributed system communicate with one another through various communication media, such as high-speed networks or telephone lines.</a:t>
            </a:r>
          </a:p>
          <a:p>
            <a:pPr marL="800100" lvl="1" indent="-342900">
              <a:buFont typeface="Arial" pitchFamily="34" charset="0"/>
              <a:buChar char="•"/>
            </a:pPr>
            <a:r>
              <a:rPr lang="en-US" dirty="0" smtClean="0">
                <a:latin typeface="Times New Roman" pitchFamily="18" charset="0"/>
                <a:cs typeface="Times New Roman" pitchFamily="18" charset="0"/>
              </a:rPr>
              <a:t>They do not share main memory or disks.</a:t>
            </a:r>
          </a:p>
          <a:p>
            <a:pPr marL="800100" lvl="1" indent="-342900">
              <a:buFont typeface="Arial" pitchFamily="34" charset="0"/>
              <a:buChar char="•"/>
            </a:pPr>
            <a:r>
              <a:rPr lang="en-US" dirty="0" smtClean="0">
                <a:latin typeface="Times New Roman" pitchFamily="18" charset="0"/>
                <a:cs typeface="Times New Roman" pitchFamily="18" charset="0"/>
              </a:rPr>
              <a:t>Each site is capable of independently processing user requests that require access to local data as well as it is capable of processing user requests that require access to remote data stored on other computers in the network.</a:t>
            </a:r>
          </a:p>
          <a:p>
            <a:r>
              <a:rPr lang="en-US" dirty="0" smtClean="0">
                <a:latin typeface="Times New Roman" pitchFamily="18" charset="0"/>
                <a:cs typeface="Times New Roman" pitchFamily="18" charset="0"/>
              </a:rPr>
              <a:t> </a:t>
            </a:r>
          </a:p>
          <a:p>
            <a:pPr lvl="0"/>
            <a:r>
              <a:rPr lang="en-US" dirty="0" smtClean="0">
                <a:latin typeface="Times New Roman" pitchFamily="18" charset="0"/>
                <a:cs typeface="Times New Roman" pitchFamily="18" charset="0"/>
              </a:rPr>
              <a:t>The general structure of a distributed system appears in the following figure.</a:t>
            </a:r>
          </a:p>
          <a:p>
            <a:r>
              <a:rPr lang="en-US" dirty="0" smtClean="0">
                <a:latin typeface="Times New Roman" pitchFamily="18" charset="0"/>
                <a:cs typeface="Times New Roman" pitchFamily="18" charset="0"/>
              </a:rPr>
              <a:t> </a:t>
            </a:r>
          </a:p>
          <a:p>
            <a:endParaRPr lang="en-US"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524000"/>
            <a:ext cx="6858000" cy="838200"/>
          </a:xfrm>
          <a:prstGeom prst="rect">
            <a:avLst/>
          </a:prstGeom>
        </p:spPr>
        <p:txBody>
          <a:bodyPr/>
          <a:lstStyle/>
          <a:p>
            <a:pPr marL="342900" lvl="0" indent="-342900">
              <a:spcBef>
                <a:spcPct val="20000"/>
              </a:spcBef>
              <a:buFont typeface="Wingdings" pitchFamily="2" charset="2"/>
              <a:buChar char="q"/>
            </a:pPr>
            <a:r>
              <a:rPr lang="en-US" sz="2000" b="1" dirty="0" smtClean="0">
                <a:latin typeface="Times New Roman" pitchFamily="18" charset="0"/>
                <a:cs typeface="Times New Roman" pitchFamily="18" charset="0"/>
              </a:rPr>
              <a:t>Distributed Database Management System</a:t>
            </a:r>
            <a:endParaRPr lang="en-US" sz="2000"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The general structure of a distributed system appears in the following figure.</a:t>
            </a:r>
          </a:p>
          <a:p>
            <a:r>
              <a:rPr lang="en-US" sz="1600" dirty="0" smtClean="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p:txBody>
      </p:sp>
      <p:pic>
        <p:nvPicPr>
          <p:cNvPr id="6146" name="Picture 7" descr="Distributed database System"/>
          <p:cNvPicPr>
            <a:picLocks noChangeAspect="1" noChangeArrowheads="1"/>
          </p:cNvPicPr>
          <p:nvPr/>
        </p:nvPicPr>
        <p:blipFill>
          <a:blip r:embed="rId4"/>
          <a:srcRect/>
          <a:stretch>
            <a:fillRect/>
          </a:stretch>
        </p:blipFill>
        <p:spPr bwMode="auto">
          <a:xfrm>
            <a:off x="1676400" y="2362200"/>
            <a:ext cx="5638800" cy="3657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524000"/>
            <a:ext cx="6858000" cy="3657600"/>
          </a:xfrm>
          <a:prstGeom prst="rect">
            <a:avLst/>
          </a:prstGeom>
        </p:spPr>
        <p:txBody>
          <a:bodyPr/>
          <a:lstStyle/>
          <a:p>
            <a:pPr marL="342900" lvl="0" indent="-342900" algn="just">
              <a:spcBef>
                <a:spcPct val="20000"/>
              </a:spcBef>
              <a:buFont typeface="Wingdings" pitchFamily="2" charset="2"/>
              <a:buChar char="q"/>
            </a:pPr>
            <a:r>
              <a:rPr lang="en-US" sz="2000" b="1" dirty="0" smtClean="0">
                <a:latin typeface="Times New Roman" pitchFamily="18" charset="0"/>
                <a:cs typeface="Times New Roman" pitchFamily="18" charset="0"/>
              </a:rPr>
              <a:t>Distributed Database Management System</a:t>
            </a:r>
            <a:endParaRPr lang="en-US" sz="2000" dirty="0" smtClean="0">
              <a:latin typeface="Times New Roman" pitchFamily="18" charset="0"/>
              <a:cs typeface="Times New Roman" pitchFamily="18" charset="0"/>
            </a:endParaRPr>
          </a:p>
          <a:p>
            <a:pPr marL="800100" lvl="1" indent="-342900" algn="just">
              <a:buFont typeface="Arial" pitchFamily="34" charset="0"/>
              <a:buChar char="•"/>
            </a:pPr>
            <a:endParaRPr lang="en-US" sz="2000" dirty="0" smtClean="0">
              <a:latin typeface="Times New Roman" pitchFamily="18" charset="0"/>
              <a:cs typeface="Times New Roman" pitchFamily="18" charset="0"/>
            </a:endParaRPr>
          </a:p>
          <a:p>
            <a:pPr marL="800100" lvl="1" indent="-342900" algn="just">
              <a:buFont typeface="Arial" pitchFamily="34" charset="0"/>
              <a:buChar char="•"/>
            </a:pPr>
            <a:r>
              <a:rPr lang="en-US" sz="2000" dirty="0" smtClean="0">
                <a:latin typeface="Times New Roman" pitchFamily="18" charset="0"/>
                <a:cs typeface="Times New Roman" pitchFamily="18" charset="0"/>
              </a:rPr>
              <a:t>A </a:t>
            </a:r>
            <a:r>
              <a:rPr lang="en-US" sz="2000" b="1" dirty="0" smtClean="0">
                <a:latin typeface="Times New Roman" pitchFamily="18" charset="0"/>
                <a:cs typeface="Times New Roman" pitchFamily="18" charset="0"/>
              </a:rPr>
              <a:t>local transaction </a:t>
            </a:r>
            <a:r>
              <a:rPr lang="en-US" sz="2000" dirty="0" smtClean="0">
                <a:latin typeface="Times New Roman" pitchFamily="18" charset="0"/>
                <a:cs typeface="Times New Roman" pitchFamily="18" charset="0"/>
              </a:rPr>
              <a:t>is one that accesses data only from sites where the transaction was initiated.</a:t>
            </a:r>
          </a:p>
          <a:p>
            <a:pPr marL="800100" lvl="1" indent="-342900" algn="just">
              <a:buFont typeface="Arial" pitchFamily="34" charset="0"/>
              <a:buChar char="•"/>
            </a:pPr>
            <a:endParaRPr lang="en-US" sz="2000" dirty="0" smtClean="0">
              <a:latin typeface="Times New Roman" pitchFamily="18" charset="0"/>
              <a:cs typeface="Times New Roman" pitchFamily="18" charset="0"/>
            </a:endParaRPr>
          </a:p>
          <a:p>
            <a:pPr marL="800100" lvl="1" indent="-342900" algn="just">
              <a:buFont typeface="Arial" pitchFamily="34" charset="0"/>
              <a:buChar char="•"/>
            </a:pPr>
            <a:r>
              <a:rPr lang="en-US" sz="2000" dirty="0" smtClean="0">
                <a:latin typeface="Times New Roman" pitchFamily="18" charset="0"/>
                <a:cs typeface="Times New Roman" pitchFamily="18" charset="0"/>
              </a:rPr>
              <a:t>A </a:t>
            </a:r>
            <a:r>
              <a:rPr lang="en-US" sz="2000" b="1" dirty="0" smtClean="0">
                <a:latin typeface="Times New Roman" pitchFamily="18" charset="0"/>
                <a:cs typeface="Times New Roman" pitchFamily="18" charset="0"/>
              </a:rPr>
              <a:t>global transaction</a:t>
            </a:r>
            <a:r>
              <a:rPr lang="en-US" sz="2000" dirty="0" smtClean="0">
                <a:latin typeface="Times New Roman" pitchFamily="18" charset="0"/>
                <a:cs typeface="Times New Roman" pitchFamily="18" charset="0"/>
              </a:rPr>
              <a:t>, on the other hand, is one that either accesses data in a site different from the one at which the transaction was initiated, or accesses data in several different sites.</a:t>
            </a: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371600"/>
            <a:ext cx="6858000" cy="4648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Promises of DDBSs</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Many advantages of DDBSs have been cited in literature, ranging from sociological reasons for decentralization to better economics. All of these can be distilled to four fundamentals which may also be viewed as promises of DDBS technology: </a:t>
            </a:r>
          </a:p>
          <a:p>
            <a:pPr lvl="0" algn="just"/>
            <a:endParaRPr lang="en-US" sz="2000" dirty="0" smtClean="0">
              <a:latin typeface="Times New Roman" pitchFamily="18" charset="0"/>
              <a:cs typeface="Times New Roman" pitchFamily="18" charset="0"/>
            </a:endParaRPr>
          </a:p>
          <a:p>
            <a:pPr lvl="2" indent="-457200" algn="just">
              <a:buFont typeface="Wingdings" pitchFamily="2" charset="2"/>
              <a:buChar char="Ø"/>
            </a:pPr>
            <a:r>
              <a:rPr lang="en-US" sz="2000" dirty="0" smtClean="0">
                <a:latin typeface="Times New Roman" pitchFamily="18" charset="0"/>
                <a:cs typeface="Times New Roman" pitchFamily="18" charset="0"/>
              </a:rPr>
              <a:t>Transparent management of distributed and replicated data.</a:t>
            </a:r>
          </a:p>
          <a:p>
            <a:pPr lvl="2" indent="-457200" algn="just">
              <a:buFont typeface="Wingdings" pitchFamily="2" charset="2"/>
              <a:buChar char="Ø"/>
            </a:pPr>
            <a:r>
              <a:rPr lang="en-US" sz="2000" dirty="0" smtClean="0">
                <a:latin typeface="Times New Roman" pitchFamily="18" charset="0"/>
                <a:cs typeface="Times New Roman" pitchFamily="18" charset="0"/>
              </a:rPr>
              <a:t>Reliable access to data through distributed transactions</a:t>
            </a:r>
          </a:p>
          <a:p>
            <a:pPr lvl="2" indent="-457200" algn="just">
              <a:buFont typeface="Wingdings" pitchFamily="2" charset="2"/>
              <a:buChar char="Ø"/>
            </a:pPr>
            <a:r>
              <a:rPr lang="en-US" sz="2000" dirty="0" smtClean="0">
                <a:latin typeface="Times New Roman" pitchFamily="18" charset="0"/>
                <a:cs typeface="Times New Roman" pitchFamily="18" charset="0"/>
              </a:rPr>
              <a:t>Improved performance and </a:t>
            </a:r>
          </a:p>
          <a:p>
            <a:pPr lvl="2" indent="-457200" algn="just">
              <a:buFont typeface="Wingdings" pitchFamily="2" charset="2"/>
              <a:buChar char="Ø"/>
            </a:pPr>
            <a:r>
              <a:rPr lang="en-US" sz="2000" dirty="0" smtClean="0">
                <a:latin typeface="Times New Roman" pitchFamily="18" charset="0"/>
                <a:cs typeface="Times New Roman" pitchFamily="18" charset="0"/>
              </a:rPr>
              <a:t>Easier system expansion.</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371600"/>
            <a:ext cx="6858000" cy="4648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Promises of DDBSs</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algn="just"/>
            <a:r>
              <a:rPr lang="en-US" sz="2000" b="1" dirty="0" smtClean="0">
                <a:latin typeface="Times New Roman" pitchFamily="18" charset="0"/>
                <a:cs typeface="Times New Roman" pitchFamily="18" charset="0"/>
              </a:rPr>
              <a:t>Transparent Management of Distributed and Replicated Data</a:t>
            </a:r>
            <a:endParaRPr lang="en-US" sz="2000" dirty="0" smtClean="0">
              <a:latin typeface="Times New Roman" pitchFamily="18" charset="0"/>
              <a:cs typeface="Times New Roman" pitchFamily="18" charset="0"/>
            </a:endParaRP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Transparency refers to separation of the higher-level semantics of a system from lower-level implementation issues. </a:t>
            </a:r>
          </a:p>
          <a:p>
            <a:pPr lvl="1" indent="-457200" algn="just">
              <a:buFont typeface="Wingdings" pitchFamily="2" charset="2"/>
              <a:buChar char="Ø"/>
            </a:pPr>
            <a:r>
              <a:rPr lang="en-US" sz="2000" dirty="0" smtClean="0">
                <a:latin typeface="Times New Roman" pitchFamily="18" charset="0"/>
                <a:cs typeface="Times New Roman" pitchFamily="18" charset="0"/>
              </a:rPr>
              <a:t>In other words, a transparent system “hides” the implementation details from users. </a:t>
            </a:r>
          </a:p>
          <a:p>
            <a:pPr lvl="1" indent="-457200" algn="just">
              <a:buFont typeface="Wingdings" pitchFamily="2" charset="2"/>
              <a:buChar char="Ø"/>
            </a:pPr>
            <a:r>
              <a:rPr lang="en-US" sz="2000" dirty="0" smtClean="0">
                <a:latin typeface="Times New Roman" pitchFamily="18" charset="0"/>
                <a:cs typeface="Times New Roman" pitchFamily="18" charset="0"/>
              </a:rPr>
              <a:t>The advantage of a fully transparent DBMS is the high level of support that it provides for the development of complex applications.</a:t>
            </a:r>
          </a:p>
          <a:p>
            <a:pPr lvl="1" indent="-457200" algn="just"/>
            <a:r>
              <a:rPr lang="en-US" sz="2000" dirty="0" smtClean="0">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371600"/>
            <a:ext cx="6858000" cy="4648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Promises of DDBSs</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algn="just"/>
            <a:r>
              <a:rPr lang="en-US" sz="2000" b="1" dirty="0" smtClean="0">
                <a:latin typeface="Times New Roman" pitchFamily="18" charset="0"/>
                <a:cs typeface="Times New Roman" pitchFamily="18" charset="0"/>
              </a:rPr>
              <a:t>Reliability through Distributed Transactions</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Distributed DBMSs are intended to improve reliability since they have replicated components and, thereby eliminate single points of failure. </a:t>
            </a: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The failure of a single site, or the failure of a communication link which makes one or more sites unreachable, is not sufficient to bring down the entire system.</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371600"/>
            <a:ext cx="6858000" cy="51054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Promises of DDBSs:    Improved Performance</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A distributed DBMS fragments the conceptual database, enabling data to be stored in close proximity to its points of use (also called </a:t>
            </a:r>
            <a:r>
              <a:rPr lang="en-US" sz="2000" b="1" dirty="0" smtClean="0">
                <a:latin typeface="Times New Roman" pitchFamily="18" charset="0"/>
                <a:cs typeface="Times New Roman" pitchFamily="18" charset="0"/>
              </a:rPr>
              <a:t>data localization</a:t>
            </a:r>
            <a:r>
              <a:rPr lang="en-US" sz="2000" dirty="0" smtClean="0">
                <a:latin typeface="Times New Roman" pitchFamily="18" charset="0"/>
                <a:cs typeface="Times New Roman" pitchFamily="18" charset="0"/>
              </a:rPr>
              <a:t>). This has two potential advantages: </a:t>
            </a:r>
          </a:p>
          <a:p>
            <a:pPr lvl="2" indent="-457200" algn="just">
              <a:buFont typeface="+mj-lt"/>
              <a:buAutoNum type="arabicPeriod"/>
            </a:pPr>
            <a:r>
              <a:rPr lang="en-US" sz="2000" dirty="0" smtClean="0">
                <a:latin typeface="Times New Roman" pitchFamily="18" charset="0"/>
                <a:cs typeface="Times New Roman" pitchFamily="18" charset="0"/>
              </a:rPr>
              <a:t>Since each site handles only a portion of the database, contention for CPU and I/O services is not as severe as for centralized databases. </a:t>
            </a:r>
          </a:p>
          <a:p>
            <a:pPr lvl="2" indent="-457200" algn="just">
              <a:buFont typeface="+mj-lt"/>
              <a:buAutoNum type="arabicPeriod"/>
            </a:pPr>
            <a:r>
              <a:rPr lang="en-US" sz="2000" dirty="0" smtClean="0">
                <a:latin typeface="Times New Roman" pitchFamily="18" charset="0"/>
                <a:cs typeface="Times New Roman" pitchFamily="18" charset="0"/>
              </a:rPr>
              <a:t>Localization reduces remote access delays.</a:t>
            </a:r>
          </a:p>
          <a:p>
            <a:pPr algn="just"/>
            <a:r>
              <a:rPr lang="en-US" sz="2000" dirty="0" smtClean="0">
                <a:latin typeface="Times New Roman" pitchFamily="18" charset="0"/>
                <a:cs typeface="Times New Roman" pitchFamily="18" charset="0"/>
              </a:rPr>
              <a:t> </a:t>
            </a:r>
          </a:p>
          <a:p>
            <a:pPr lvl="1" indent="-457200" algn="just">
              <a:buFont typeface="Wingdings" pitchFamily="2" charset="2"/>
              <a:buChar char="Ø"/>
            </a:pPr>
            <a:r>
              <a:rPr lang="en-US" sz="2000" dirty="0" smtClean="0">
                <a:latin typeface="Times New Roman" pitchFamily="18" charset="0"/>
                <a:cs typeface="Times New Roman" pitchFamily="18" charset="0"/>
              </a:rPr>
              <a:t>Inter-query parallelism results from the ability to execute multiple queries at the same time while intra-query parallelism is achieved by breaking up a single query into a number of </a:t>
            </a:r>
            <a:r>
              <a:rPr lang="en-US" sz="2000" dirty="0" err="1" smtClean="0">
                <a:latin typeface="Times New Roman" pitchFamily="18" charset="0"/>
                <a:cs typeface="Times New Roman" pitchFamily="18" charset="0"/>
              </a:rPr>
              <a:t>subqueries</a:t>
            </a:r>
            <a:r>
              <a:rPr lang="en-US" sz="2000" dirty="0" smtClean="0">
                <a:latin typeface="Times New Roman" pitchFamily="18" charset="0"/>
                <a:cs typeface="Times New Roman" pitchFamily="18" charset="0"/>
              </a:rPr>
              <a:t> each of which is executed at a different site, accessing a different part of the distributed database.</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371600"/>
            <a:ext cx="6858000" cy="51054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Promises of DDBSs: </a:t>
            </a:r>
          </a:p>
          <a:p>
            <a:pPr algn="just"/>
            <a:r>
              <a:rPr lang="en-US" sz="2000" b="1" dirty="0" smtClean="0">
                <a:latin typeface="Times New Roman" pitchFamily="18" charset="0"/>
                <a:cs typeface="Times New Roman" pitchFamily="18" charset="0"/>
              </a:rPr>
              <a:t>	</a:t>
            </a:r>
          </a:p>
          <a:p>
            <a:pPr algn="just"/>
            <a:r>
              <a:rPr lang="en-US" sz="2000" b="1" dirty="0" smtClean="0">
                <a:latin typeface="Times New Roman" pitchFamily="18" charset="0"/>
                <a:cs typeface="Times New Roman" pitchFamily="18" charset="0"/>
              </a:rPr>
              <a:t>     Easier System Expansion </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In a distributed environment, it is much easier to accommodate increasing database sizes.</a:t>
            </a: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Expansion can usually be handled by adding processing and storage power to the network. </a:t>
            </a: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Obviously, it may not be possible to obtain a linear increase in “power,” since this also depends on the overhead of distribution.</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524000"/>
            <a:ext cx="6858000" cy="4648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Complications Introduced by DDBS</a:t>
            </a:r>
            <a:endParaRPr lang="en-US" sz="2000" dirty="0" smtClean="0">
              <a:latin typeface="Times New Roman" pitchFamily="18" charset="0"/>
              <a:cs typeface="Times New Roman" pitchFamily="18" charset="0"/>
            </a:endParaRPr>
          </a:p>
          <a:p>
            <a:pPr marL="800100" lvl="1" indent="-342900" algn="just">
              <a:buFont typeface="+mj-lt"/>
              <a:buAutoNum type="arabicPeriod"/>
            </a:pPr>
            <a:endParaRPr lang="en-US" sz="2000" b="1" dirty="0" smtClean="0">
              <a:latin typeface="Times New Roman" pitchFamily="18" charset="0"/>
              <a:cs typeface="Times New Roman" pitchFamily="18" charset="0"/>
            </a:endParaRPr>
          </a:p>
          <a:p>
            <a:pPr marL="800100" lvl="1" indent="-342900" algn="just">
              <a:buFont typeface="+mj-lt"/>
              <a:buAutoNum type="arabicPeriod"/>
            </a:pPr>
            <a:r>
              <a:rPr lang="en-US" sz="2000" dirty="0" smtClean="0">
                <a:latin typeface="Times New Roman" pitchFamily="18" charset="0"/>
                <a:cs typeface="Times New Roman" pitchFamily="18" charset="0"/>
              </a:rPr>
              <a:t>Data may be replicated in a distributed environment. A distributed database can be designed so that the entire database, or portions of it, reside at different sites of a computer network.</a:t>
            </a:r>
            <a:endParaRPr lang="en-US" sz="2000" b="1" dirty="0" smtClean="0">
              <a:latin typeface="Times New Roman" pitchFamily="18" charset="0"/>
              <a:cs typeface="Times New Roman" pitchFamily="18" charset="0"/>
            </a:endParaRPr>
          </a:p>
          <a:p>
            <a:pPr marL="800100" lvl="1" indent="-342900" algn="just">
              <a:buFont typeface="+mj-lt"/>
              <a:buAutoNum type="arabicPeriod"/>
            </a:pPr>
            <a:r>
              <a:rPr lang="en-US" sz="2000" dirty="0" smtClean="0">
                <a:latin typeface="Times New Roman" pitchFamily="18" charset="0"/>
                <a:cs typeface="Times New Roman" pitchFamily="18" charset="0"/>
              </a:rPr>
              <a:t>If some sites fail or if some communication links fail while an update is being executed, the system must make sure that the effects will be reflected on the data residing at the failing or unreachable sites as soon as the system can recover from the failure.</a:t>
            </a:r>
            <a:endParaRPr lang="en-US" sz="2000" b="1" dirty="0" smtClean="0">
              <a:latin typeface="Times New Roman" pitchFamily="18" charset="0"/>
              <a:cs typeface="Times New Roman" pitchFamily="18" charset="0"/>
            </a:endParaRPr>
          </a:p>
          <a:p>
            <a:pPr marL="800100" lvl="1" indent="-342900" algn="just">
              <a:buFont typeface="+mj-lt"/>
              <a:buAutoNum type="arabicPeriod"/>
            </a:pPr>
            <a:r>
              <a:rPr lang="en-US" sz="2000" dirty="0" smtClean="0">
                <a:latin typeface="Times New Roman" pitchFamily="18" charset="0"/>
                <a:cs typeface="Times New Roman" pitchFamily="18" charset="0"/>
              </a:rPr>
              <a:t>The exchange of messages and the additional computation required to achieve inter-site coordination are a form of overhead that does not arise in centralized systems.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524000"/>
            <a:ext cx="6858000" cy="4648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Complications Introduced by DDBS</a:t>
            </a:r>
            <a:endParaRPr lang="en-US" sz="2000" dirty="0" smtClean="0">
              <a:latin typeface="Times New Roman" pitchFamily="18" charset="0"/>
              <a:cs typeface="Times New Roman" pitchFamily="18" charset="0"/>
            </a:endParaRPr>
          </a:p>
          <a:p>
            <a:pPr marL="800100" lvl="1" indent="-342900" algn="just">
              <a:buFont typeface="+mj-lt"/>
              <a:buAutoNum type="arabicPeriod"/>
            </a:pPr>
            <a:endParaRPr lang="en-US" sz="2000" b="1" dirty="0" smtClean="0">
              <a:latin typeface="Times New Roman" pitchFamily="18" charset="0"/>
              <a:cs typeface="Times New Roman" pitchFamily="18" charset="0"/>
            </a:endParaRPr>
          </a:p>
          <a:p>
            <a:pPr marL="800100" lvl="1" indent="-342900" algn="just"/>
            <a:r>
              <a:rPr lang="en-US" sz="2000" dirty="0" smtClean="0">
                <a:latin typeface="Times New Roman" pitchFamily="18" charset="0"/>
                <a:cs typeface="Times New Roman" pitchFamily="18" charset="0"/>
              </a:rPr>
              <a:t>4. As data in a distributed DBMS are located at multiple sites, the probability of security lapses increases. Further, all communications between different sites in a distributed DBMS are conveyed through the network, so the underlying network has to be made secure to maintain system security.</a:t>
            </a:r>
          </a:p>
          <a:p>
            <a:pPr marL="800100" lvl="1" indent="-342900" algn="just"/>
            <a:r>
              <a:rPr lang="en-US" sz="2000" dirty="0" smtClean="0">
                <a:latin typeface="Times New Roman" pitchFamily="18" charset="0"/>
                <a:cs typeface="Times New Roman" pitchFamily="18" charset="0"/>
              </a:rPr>
              <a:t>5.  Since each site cannot have instantaneous information on the actions currently being carried out at the other sites, the synchronization of transactions on multiple sites is considerably harder than for a centralized system.</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524000"/>
            <a:ext cx="6858000" cy="44196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What is being distributed in DDBS? </a:t>
            </a:r>
          </a:p>
          <a:p>
            <a:pPr marL="365760" indent="-457200" algn="just">
              <a:buFont typeface="Wingdings" pitchFamily="2" charset="2"/>
              <a:buChar char="Ø"/>
            </a:pPr>
            <a:endParaRPr lang="en-US" sz="2000" b="1" dirty="0" smtClean="0">
              <a:latin typeface="Times New Roman" pitchFamily="18" charset="0"/>
              <a:cs typeface="Times New Roman" pitchFamily="18" charset="0"/>
            </a:endParaRPr>
          </a:p>
          <a:p>
            <a:pPr marL="365760" indent="-457200" algn="just">
              <a:buFont typeface="Wingdings" pitchFamily="2" charset="2"/>
              <a:buChar char="Ø"/>
            </a:pPr>
            <a:r>
              <a:rPr lang="en-US" sz="2000" b="1" dirty="0" smtClean="0">
                <a:latin typeface="Times New Roman" pitchFamily="18" charset="0"/>
                <a:cs typeface="Times New Roman" pitchFamily="18" charset="0"/>
              </a:rPr>
              <a:t>Processing logic</a:t>
            </a:r>
            <a:r>
              <a:rPr lang="en-US" sz="2000" dirty="0" smtClean="0">
                <a:latin typeface="Times New Roman" pitchFamily="18" charset="0"/>
                <a:cs typeface="Times New Roman" pitchFamily="18" charset="0"/>
              </a:rPr>
              <a:t> or processing elements are distributed. The “processing element” is a computing device that can execute a program on its own.</a:t>
            </a:r>
          </a:p>
          <a:p>
            <a:pPr marL="365760" indent="-457200" algn="just">
              <a:buFont typeface="Wingdings" pitchFamily="2" charset="2"/>
              <a:buChar char="Ø"/>
            </a:pPr>
            <a:r>
              <a:rPr lang="en-US" sz="2000" b="1" dirty="0" smtClean="0">
                <a:latin typeface="Times New Roman" pitchFamily="18" charset="0"/>
                <a:cs typeface="Times New Roman" pitchFamily="18" charset="0"/>
              </a:rPr>
              <a:t>Function.</a:t>
            </a:r>
            <a:r>
              <a:rPr lang="en-US" sz="2000" dirty="0" smtClean="0">
                <a:latin typeface="Times New Roman" pitchFamily="18" charset="0"/>
                <a:cs typeface="Times New Roman" pitchFamily="18" charset="0"/>
              </a:rPr>
              <a:t> Various functions of a computer system could be delegated to various pieces of hardware or software.</a:t>
            </a:r>
          </a:p>
          <a:p>
            <a:pPr marL="365760" indent="-457200" algn="just">
              <a:buFont typeface="Wingdings" pitchFamily="2" charset="2"/>
              <a:buChar char="Ø"/>
            </a:pPr>
            <a:r>
              <a:rPr lang="en-US" sz="2000" b="1" dirty="0" smtClean="0">
                <a:latin typeface="Times New Roman" pitchFamily="18" charset="0"/>
                <a:cs typeface="Times New Roman" pitchFamily="18" charset="0"/>
              </a:rPr>
              <a:t>Data.</a:t>
            </a:r>
            <a:r>
              <a:rPr lang="en-US" sz="2000" dirty="0" smtClean="0">
                <a:latin typeface="Times New Roman" pitchFamily="18" charset="0"/>
                <a:cs typeface="Times New Roman" pitchFamily="18" charset="0"/>
              </a:rPr>
              <a:t>  Data used by a number of applications may be distributed to a number of processing sites. </a:t>
            </a:r>
          </a:p>
          <a:p>
            <a:pPr marL="365760" indent="-457200" algn="just">
              <a:buFont typeface="Wingdings" pitchFamily="2" charset="2"/>
              <a:buChar char="Ø"/>
            </a:pPr>
            <a:r>
              <a:rPr lang="en-US" sz="2000" dirty="0" smtClean="0">
                <a:latin typeface="Times New Roman" pitchFamily="18" charset="0"/>
                <a:cs typeface="Times New Roman" pitchFamily="18" charset="0"/>
              </a:rPr>
              <a:t>Finally, </a:t>
            </a:r>
            <a:r>
              <a:rPr lang="en-US" sz="2000" b="1" dirty="0" smtClean="0">
                <a:latin typeface="Times New Roman" pitchFamily="18" charset="0"/>
                <a:cs typeface="Times New Roman" pitchFamily="18" charset="0"/>
              </a:rPr>
              <a:t>control</a:t>
            </a:r>
            <a:r>
              <a:rPr lang="en-US" sz="2000" dirty="0" smtClean="0">
                <a:latin typeface="Times New Roman" pitchFamily="18" charset="0"/>
                <a:cs typeface="Times New Roman" pitchFamily="18" charset="0"/>
              </a:rPr>
              <a:t> can be distributed. The control of the execution of various tasks might be distributed instead of being performed by one computer system.</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524000"/>
            <a:ext cx="6858000" cy="1143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 Classification of DDBMS</a:t>
            </a:r>
            <a:endParaRPr lang="en-US" sz="2000" dirty="0" smtClean="0">
              <a:latin typeface="Times New Roman" pitchFamily="18" charset="0"/>
              <a:cs typeface="Times New Roman" pitchFamily="18" charset="0"/>
            </a:endParaRPr>
          </a:p>
          <a:p>
            <a:pPr lvl="1">
              <a:buFont typeface="Arial" pitchFamily="34" charset="0"/>
              <a:buChar char="•"/>
            </a:pPr>
            <a:r>
              <a:rPr lang="en-US" sz="2000" dirty="0" smtClean="0">
                <a:latin typeface="Times New Roman" pitchFamily="18" charset="0"/>
                <a:cs typeface="Times New Roman" pitchFamily="18" charset="0"/>
              </a:rPr>
              <a:t> Homogeneous and</a:t>
            </a:r>
          </a:p>
          <a:p>
            <a:pPr lvl="1">
              <a:buFont typeface="Arial" pitchFamily="34" charset="0"/>
              <a:buChar char="•"/>
            </a:pPr>
            <a:r>
              <a:rPr lang="en-US" sz="2000" dirty="0" smtClean="0">
                <a:latin typeface="Times New Roman" pitchFamily="18" charset="0"/>
                <a:cs typeface="Times New Roman" pitchFamily="18" charset="0"/>
              </a:rPr>
              <a:t> Heterogeneous Databases</a:t>
            </a:r>
          </a:p>
        </p:txBody>
      </p:sp>
      <p:sp>
        <p:nvSpPr>
          <p:cNvPr id="11" name="Content Placeholder 16"/>
          <p:cNvSpPr txBox="1">
            <a:spLocks/>
          </p:cNvSpPr>
          <p:nvPr/>
        </p:nvSpPr>
        <p:spPr>
          <a:xfrm>
            <a:off x="990600" y="3048000"/>
            <a:ext cx="6858000" cy="21336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Homogeneous Distributed Database</a:t>
            </a:r>
            <a:endParaRPr lang="en-US" dirty="0" smtClean="0">
              <a:latin typeface="Times New Roman" pitchFamily="18" charset="0"/>
              <a:cs typeface="Times New Roman" pitchFamily="18" charset="0"/>
            </a:endParaRPr>
          </a:p>
          <a:p>
            <a:pPr marL="800100" lvl="1" indent="-342900">
              <a:buFont typeface="Wingdings" pitchFamily="2" charset="2"/>
              <a:buChar char="§"/>
            </a:pPr>
            <a:r>
              <a:rPr lang="en-US" dirty="0" smtClean="0">
                <a:latin typeface="Times New Roman" pitchFamily="18" charset="0"/>
                <a:cs typeface="Times New Roman" pitchFamily="18" charset="0"/>
              </a:rPr>
              <a:t>All sites have identical database management system software, are aware of one another, and agree to cooperate in processing users’ requests. </a:t>
            </a:r>
          </a:p>
          <a:p>
            <a:pPr marL="800100" lvl="1" indent="-342900">
              <a:buFont typeface="Wingdings" pitchFamily="2" charset="2"/>
              <a:buChar char="§"/>
            </a:pPr>
            <a:r>
              <a:rPr lang="en-US" dirty="0" smtClean="0">
                <a:latin typeface="Times New Roman" pitchFamily="18" charset="0"/>
                <a:cs typeface="Times New Roman" pitchFamily="18" charset="0"/>
              </a:rPr>
              <a:t>Use same DB schemas at all sites.</a:t>
            </a:r>
          </a:p>
          <a:p>
            <a:pPr marL="800100" lvl="1" indent="-342900">
              <a:buFont typeface="Wingdings" pitchFamily="2" charset="2"/>
              <a:buChar char="§"/>
            </a:pPr>
            <a:r>
              <a:rPr lang="en-US" dirty="0" smtClean="0">
                <a:latin typeface="Times New Roman" pitchFamily="18" charset="0"/>
                <a:cs typeface="Times New Roman" pitchFamily="18" charset="0"/>
              </a:rPr>
              <a:t>Easier to design and manage</a:t>
            </a:r>
          </a:p>
          <a:p>
            <a:pPr marL="800100" lvl="1" indent="-342900">
              <a:buFont typeface="Wingdings" pitchFamily="2" charset="2"/>
              <a:buChar char="§"/>
            </a:pPr>
            <a:r>
              <a:rPr lang="en-US" dirty="0" smtClean="0">
                <a:latin typeface="Times New Roman" pitchFamily="18" charset="0"/>
                <a:cs typeface="Times New Roman" pitchFamily="18" charset="0"/>
              </a:rPr>
              <a:t>Addition of a new site is much easier.</a:t>
            </a:r>
            <a:endParaRPr lang="en-US" sz="32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524000"/>
            <a:ext cx="6858000" cy="27432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Heterogeneous distributed database</a:t>
            </a:r>
            <a:endParaRPr lang="en-US" dirty="0" smtClean="0">
              <a:latin typeface="Times New Roman" pitchFamily="18" charset="0"/>
              <a:cs typeface="Times New Roman" pitchFamily="18" charset="0"/>
            </a:endParaRPr>
          </a:p>
          <a:p>
            <a:pPr marL="800100" lvl="1" indent="-342900">
              <a:buFont typeface="Arial" pitchFamily="34" charset="0"/>
              <a:buChar char="•"/>
            </a:pPr>
            <a:r>
              <a:rPr lang="en-US" dirty="0" smtClean="0">
                <a:latin typeface="Times New Roman" pitchFamily="18" charset="0"/>
                <a:cs typeface="Times New Roman" pitchFamily="18" charset="0"/>
              </a:rPr>
              <a:t>Usually constructed over a no. of existing sites.</a:t>
            </a:r>
          </a:p>
          <a:p>
            <a:pPr marL="800100" lvl="1" indent="-342900">
              <a:buFont typeface="Arial" pitchFamily="34" charset="0"/>
              <a:buChar char="•"/>
            </a:pPr>
            <a:r>
              <a:rPr lang="en-US" dirty="0" smtClean="0">
                <a:latin typeface="Times New Roman" pitchFamily="18" charset="0"/>
                <a:cs typeface="Times New Roman" pitchFamily="18" charset="0"/>
              </a:rPr>
              <a:t>Each site has its local database. Different sites may use different schemas (relational model, OO model etc.).</a:t>
            </a:r>
          </a:p>
          <a:p>
            <a:pPr marL="800100" lvl="1" indent="-342900">
              <a:buFont typeface="Arial" pitchFamily="34" charset="0"/>
              <a:buChar char="•"/>
            </a:pPr>
            <a:r>
              <a:rPr lang="en-US" dirty="0" smtClean="0">
                <a:latin typeface="Times New Roman" pitchFamily="18" charset="0"/>
                <a:cs typeface="Times New Roman" pitchFamily="18" charset="0"/>
              </a:rPr>
              <a:t>Use different DBMS software.</a:t>
            </a:r>
          </a:p>
          <a:p>
            <a:pPr marL="800100" lvl="1" indent="-342900">
              <a:buFont typeface="Arial" pitchFamily="34" charset="0"/>
              <a:buChar char="•"/>
            </a:pPr>
            <a:r>
              <a:rPr lang="en-US" dirty="0" smtClean="0">
                <a:latin typeface="Times New Roman" pitchFamily="18" charset="0"/>
                <a:cs typeface="Times New Roman" pitchFamily="18" charset="0"/>
              </a:rPr>
              <a:t>Query processing is more difficult.</a:t>
            </a:r>
          </a:p>
          <a:p>
            <a:pPr marL="800100" lvl="1" indent="-342900">
              <a:buFont typeface="Arial" pitchFamily="34" charset="0"/>
              <a:buChar char="•"/>
            </a:pPr>
            <a:r>
              <a:rPr lang="en-US" dirty="0" smtClean="0">
                <a:latin typeface="Times New Roman" pitchFamily="18" charset="0"/>
                <a:cs typeface="Times New Roman" pitchFamily="18" charset="0"/>
              </a:rPr>
              <a:t>Use gateways (as query translator) which convert the language and data model of each different DBMS into the language and data model of the relational system.</a:t>
            </a:r>
            <a:endParaRPr lang="en-US" sz="32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524000"/>
            <a:ext cx="6858000" cy="2286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Data Storage in DDBMS</a:t>
            </a:r>
            <a:endParaRPr lang="en-US" b="1" dirty="0" smtClean="0">
              <a:latin typeface="Times New Roman" pitchFamily="18" charset="0"/>
              <a:cs typeface="Times New Roman" pitchFamily="18" charset="0"/>
            </a:endParaRPr>
          </a:p>
          <a:p>
            <a:pPr marL="800100" lvl="1" indent="-342900">
              <a:buFont typeface="Wingdings" pitchFamily="2" charset="2"/>
              <a:buChar char="ü"/>
            </a:pPr>
            <a:r>
              <a:rPr lang="en-US" b="1" dirty="0" smtClean="0">
                <a:latin typeface="Times New Roman" pitchFamily="18" charset="0"/>
                <a:cs typeface="Times New Roman" pitchFamily="18" charset="0"/>
              </a:rPr>
              <a:t>Replication</a:t>
            </a:r>
            <a:r>
              <a:rPr lang="en-US" dirty="0" smtClean="0">
                <a:latin typeface="Times New Roman" pitchFamily="18" charset="0"/>
                <a:cs typeface="Times New Roman" pitchFamily="18" charset="0"/>
              </a:rPr>
              <a:t>. The system maintains several identical replicas (copies) of the relation, and stores each replica at a different site.</a:t>
            </a:r>
          </a:p>
          <a:p>
            <a:pPr marL="800100" lvl="1" indent="-342900">
              <a:buFont typeface="Wingdings" pitchFamily="2" charset="2"/>
              <a:buChar char="ü"/>
            </a:pPr>
            <a:r>
              <a:rPr lang="en-US" b="1" dirty="0" smtClean="0">
                <a:latin typeface="Times New Roman" pitchFamily="18" charset="0"/>
                <a:cs typeface="Times New Roman" pitchFamily="18" charset="0"/>
              </a:rPr>
              <a:t>Fragmentation</a:t>
            </a:r>
            <a:r>
              <a:rPr lang="en-US" dirty="0" smtClean="0">
                <a:latin typeface="Times New Roman" pitchFamily="18" charset="0"/>
                <a:cs typeface="Times New Roman" pitchFamily="18" charset="0"/>
              </a:rPr>
              <a:t>. The system partitions the relation into several fragments, and stores each fragment at a different site.</a:t>
            </a:r>
          </a:p>
          <a:p>
            <a:pPr marL="800100" lvl="1" indent="-342900">
              <a:buFont typeface="Wingdings" pitchFamily="2" charset="2"/>
              <a:buChar char="ü"/>
            </a:pPr>
            <a:r>
              <a:rPr lang="en-US" b="1" dirty="0" smtClean="0">
                <a:latin typeface="Times New Roman" pitchFamily="18" charset="0"/>
                <a:cs typeface="Times New Roman" pitchFamily="18" charset="0"/>
              </a:rPr>
              <a:t>Fragmentation and replication can be combined.</a:t>
            </a:r>
          </a:p>
        </p:txBody>
      </p:sp>
      <p:sp>
        <p:nvSpPr>
          <p:cNvPr id="11" name="Content Placeholder 16"/>
          <p:cNvSpPr txBox="1">
            <a:spLocks/>
          </p:cNvSpPr>
          <p:nvPr/>
        </p:nvSpPr>
        <p:spPr>
          <a:xfrm>
            <a:off x="1066800" y="3886200"/>
            <a:ext cx="6858000" cy="12954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 Advantages and disadvantages of Replication</a:t>
            </a:r>
          </a:p>
          <a:p>
            <a:pPr marL="800100" lvl="1" indent="-342900">
              <a:buFont typeface="Wingdings" pitchFamily="2" charset="2"/>
              <a:buChar char="ü"/>
            </a:pPr>
            <a:r>
              <a:rPr lang="en-US" b="1" dirty="0" smtClean="0">
                <a:latin typeface="Times New Roman" pitchFamily="18" charset="0"/>
                <a:cs typeface="Times New Roman" pitchFamily="18" charset="0"/>
              </a:rPr>
              <a:t>Availability</a:t>
            </a:r>
            <a:r>
              <a:rPr lang="en-US" dirty="0" smtClean="0">
                <a:latin typeface="Times New Roman" pitchFamily="18" charset="0"/>
                <a:cs typeface="Times New Roman" pitchFamily="18" charset="0"/>
              </a:rPr>
              <a:t>.</a:t>
            </a:r>
          </a:p>
          <a:p>
            <a:pPr marL="800100" lvl="1" indent="-342900">
              <a:buFont typeface="Wingdings" pitchFamily="2" charset="2"/>
              <a:buChar char="ü"/>
            </a:pPr>
            <a:r>
              <a:rPr lang="en-US" b="1" dirty="0" smtClean="0">
                <a:latin typeface="Times New Roman" pitchFamily="18" charset="0"/>
                <a:cs typeface="Times New Roman" pitchFamily="18" charset="0"/>
              </a:rPr>
              <a:t>Increased parallelism</a:t>
            </a:r>
            <a:r>
              <a:rPr lang="en-US" dirty="0" smtClean="0">
                <a:latin typeface="Times New Roman" pitchFamily="18" charset="0"/>
                <a:cs typeface="Times New Roman" pitchFamily="18" charset="0"/>
              </a:rPr>
              <a:t>.</a:t>
            </a:r>
          </a:p>
          <a:p>
            <a:pPr marL="800100" lvl="1" indent="-342900">
              <a:buFont typeface="Wingdings" pitchFamily="2" charset="2"/>
              <a:buChar char="ü"/>
            </a:pPr>
            <a:r>
              <a:rPr lang="en-US" b="1" dirty="0" smtClean="0">
                <a:latin typeface="Times New Roman" pitchFamily="18" charset="0"/>
                <a:cs typeface="Times New Roman" pitchFamily="18" charset="0"/>
              </a:rPr>
              <a:t>Increased overhead on update</a:t>
            </a:r>
            <a:r>
              <a:rPr lang="en-US" dirty="0" smtClean="0">
                <a:latin typeface="Times New Roman" pitchFamily="18" charset="0"/>
                <a:cs typeface="Times New Roman" pitchFamily="18" charset="0"/>
              </a:rPr>
              <a:t>.</a:t>
            </a:r>
            <a:endParaRPr lang="en-US" b="1"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524000"/>
            <a:ext cx="6858000" cy="35052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Data Fragmentation</a:t>
            </a:r>
            <a:endParaRPr lang="en-US" dirty="0" smtClean="0">
              <a:latin typeface="Times New Roman" pitchFamily="18" charset="0"/>
              <a:cs typeface="Times New Roman" pitchFamily="18" charset="0"/>
            </a:endParaRPr>
          </a:p>
          <a:p>
            <a:pPr marL="800100" lvl="1" indent="-342900">
              <a:buFont typeface="Wingdings" pitchFamily="2" charset="2"/>
              <a:buChar char="ü"/>
            </a:pPr>
            <a:r>
              <a:rPr lang="en-US" sz="2000" dirty="0" smtClean="0">
                <a:latin typeface="Times New Roman" pitchFamily="18" charset="0"/>
                <a:cs typeface="Times New Roman" pitchFamily="18" charset="0"/>
              </a:rPr>
              <a:t>If relation </a:t>
            </a:r>
            <a:r>
              <a:rPr lang="en-US" sz="2000" i="1" dirty="0" smtClean="0">
                <a:latin typeface="Times New Roman" pitchFamily="18" charset="0"/>
                <a:cs typeface="Times New Roman" pitchFamily="18" charset="0"/>
              </a:rPr>
              <a:t>r </a:t>
            </a:r>
            <a:r>
              <a:rPr lang="en-US" sz="2000" dirty="0" smtClean="0">
                <a:latin typeface="Times New Roman" pitchFamily="18" charset="0"/>
                <a:cs typeface="Times New Roman" pitchFamily="18" charset="0"/>
              </a:rPr>
              <a:t>is fragmented, </a:t>
            </a:r>
            <a:r>
              <a:rPr lang="en-US" sz="2000" i="1" dirty="0" smtClean="0">
                <a:latin typeface="Times New Roman" pitchFamily="18" charset="0"/>
                <a:cs typeface="Times New Roman" pitchFamily="18" charset="0"/>
              </a:rPr>
              <a:t>r </a:t>
            </a:r>
            <a:r>
              <a:rPr lang="en-US" sz="2000" dirty="0" smtClean="0">
                <a:latin typeface="Times New Roman" pitchFamily="18" charset="0"/>
                <a:cs typeface="Times New Roman" pitchFamily="18" charset="0"/>
              </a:rPr>
              <a:t>is divided into a number of </a:t>
            </a:r>
            <a:r>
              <a:rPr lang="en-US" sz="2000" i="1" dirty="0" smtClean="0">
                <a:latin typeface="Times New Roman" pitchFamily="18" charset="0"/>
                <a:cs typeface="Times New Roman" pitchFamily="18" charset="0"/>
              </a:rPr>
              <a:t>fragments r</a:t>
            </a:r>
            <a:r>
              <a:rPr lang="en-US" sz="2000" baseline="-25000" dirty="0" smtClean="0">
                <a:latin typeface="Times New Roman" pitchFamily="18" charset="0"/>
                <a:cs typeface="Times New Roman" pitchFamily="18" charset="0"/>
              </a:rPr>
              <a:t>1</a:t>
            </a: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r</a:t>
            </a:r>
            <a:r>
              <a:rPr lang="en-US" sz="2000" baseline="-25000" dirty="0" smtClean="0">
                <a:latin typeface="Times New Roman" pitchFamily="18" charset="0"/>
                <a:cs typeface="Times New Roman" pitchFamily="18" charset="0"/>
              </a:rPr>
              <a:t>2</a:t>
            </a:r>
            <a:r>
              <a:rPr lang="en-US" sz="2000" i="1" dirty="0" smtClean="0">
                <a:latin typeface="Times New Roman" pitchFamily="18" charset="0"/>
                <a:cs typeface="Times New Roman" pitchFamily="18" charset="0"/>
              </a:rPr>
              <a:t>, . . . , </a:t>
            </a:r>
            <a:r>
              <a:rPr lang="en-US" sz="2000" i="1" dirty="0" err="1" smtClean="0">
                <a:latin typeface="Times New Roman" pitchFamily="18" charset="0"/>
                <a:cs typeface="Times New Roman" pitchFamily="18" charset="0"/>
              </a:rPr>
              <a:t>r</a:t>
            </a:r>
            <a:r>
              <a:rPr lang="en-US" sz="2000" i="1" baseline="-25000" dirty="0" err="1"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 </a:t>
            </a:r>
          </a:p>
          <a:p>
            <a:pPr marL="800100" lvl="1" indent="-342900">
              <a:buFont typeface="Wingdings" pitchFamily="2" charset="2"/>
              <a:buChar char="ü"/>
            </a:pPr>
            <a:r>
              <a:rPr lang="en-US" sz="2000" dirty="0" smtClean="0">
                <a:latin typeface="Times New Roman" pitchFamily="18" charset="0"/>
                <a:cs typeface="Times New Roman" pitchFamily="18" charset="0"/>
              </a:rPr>
              <a:t>These fragments contain sufficient information to allow reconstruction of the original relation </a:t>
            </a:r>
            <a:r>
              <a:rPr lang="en-US" sz="2000" i="1" dirty="0" smtClean="0">
                <a:latin typeface="Times New Roman" pitchFamily="18" charset="0"/>
                <a:cs typeface="Times New Roman" pitchFamily="18" charset="0"/>
              </a:rPr>
              <a:t>r</a:t>
            </a:r>
            <a:r>
              <a:rPr lang="en-US" sz="2000" dirty="0" smtClean="0">
                <a:latin typeface="Times New Roman" pitchFamily="18" charset="0"/>
                <a:cs typeface="Times New Roman" pitchFamily="18" charset="0"/>
              </a:rPr>
              <a:t>.</a:t>
            </a:r>
          </a:p>
          <a:p>
            <a:pPr marL="800100" lvl="1" indent="-342900">
              <a:buFont typeface="Wingdings" pitchFamily="2" charset="2"/>
              <a:buChar char="ü"/>
            </a:pPr>
            <a:r>
              <a:rPr lang="en-US" sz="2000" dirty="0" smtClean="0">
                <a:latin typeface="Times New Roman" pitchFamily="18" charset="0"/>
                <a:cs typeface="Times New Roman" pitchFamily="18" charset="0"/>
              </a:rPr>
              <a:t>There are two different schemes for fragmenting a relation:</a:t>
            </a:r>
          </a:p>
          <a:p>
            <a:pPr marL="800100" lvl="1" indent="-342900">
              <a:buFont typeface="Wingdings" pitchFamily="2" charset="2"/>
              <a:buChar char="ü"/>
            </a:pPr>
            <a:endParaRPr lang="en-US" sz="2000" dirty="0" smtClean="0">
              <a:latin typeface="Times New Roman" pitchFamily="18" charset="0"/>
              <a:cs typeface="Times New Roman" pitchFamily="18" charset="0"/>
            </a:endParaRPr>
          </a:p>
          <a:p>
            <a:pPr marL="1257300" lvl="2" indent="-342900"/>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H</a:t>
            </a:r>
            <a:r>
              <a:rPr lang="en-US" sz="2000" b="1" i="1" dirty="0" smtClean="0">
                <a:latin typeface="Times New Roman" pitchFamily="18" charset="0"/>
                <a:cs typeface="Times New Roman" pitchFamily="18" charset="0"/>
              </a:rPr>
              <a:t>orizontal </a:t>
            </a:r>
            <a:r>
              <a:rPr lang="en-US" sz="2000" b="1" dirty="0" smtClean="0">
                <a:latin typeface="Times New Roman" pitchFamily="18" charset="0"/>
                <a:cs typeface="Times New Roman" pitchFamily="18" charset="0"/>
              </a:rPr>
              <a:t>fragmentation</a:t>
            </a:r>
            <a:r>
              <a:rPr lang="en-US" sz="2000" dirty="0" smtClean="0">
                <a:latin typeface="Times New Roman" pitchFamily="18" charset="0"/>
                <a:cs typeface="Times New Roman" pitchFamily="18" charset="0"/>
              </a:rPr>
              <a:t> and </a:t>
            </a:r>
          </a:p>
          <a:p>
            <a:pPr marL="1257300" lvl="2" indent="-342900"/>
            <a:r>
              <a:rPr lang="en-US" sz="2000" i="1"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V</a:t>
            </a:r>
            <a:r>
              <a:rPr lang="en-US" sz="2000" b="1" i="1" dirty="0" smtClean="0">
                <a:latin typeface="Times New Roman" pitchFamily="18" charset="0"/>
                <a:cs typeface="Times New Roman" pitchFamily="18" charset="0"/>
              </a:rPr>
              <a:t>ertical </a:t>
            </a:r>
            <a:r>
              <a:rPr lang="en-US" sz="2000" b="1" dirty="0" smtClean="0">
                <a:latin typeface="Times New Roman" pitchFamily="18" charset="0"/>
                <a:cs typeface="Times New Roman" pitchFamily="18" charset="0"/>
              </a:rPr>
              <a:t>fragmentation</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4724400"/>
          </a:xfrm>
          <a:prstGeom prst="rect">
            <a:avLst/>
          </a:prstGeom>
        </p:spPr>
        <p:txBody>
          <a:bodyPr/>
          <a:lstStyle/>
          <a:p>
            <a:pPr>
              <a:buFont typeface="Wingdings" pitchFamily="2" charset="2"/>
              <a:buChar char="q"/>
            </a:pPr>
            <a:r>
              <a:rPr lang="en-US" sz="2400" b="1" dirty="0" smtClean="0">
                <a:latin typeface="Times New Roman" pitchFamily="18" charset="0"/>
                <a:cs typeface="Times New Roman" pitchFamily="18" charset="0"/>
              </a:rPr>
              <a:t> Horizontal  Fragmentation</a:t>
            </a:r>
            <a:endParaRPr lang="en-US" dirty="0" smtClean="0">
              <a:latin typeface="Times New Roman" pitchFamily="18" charset="0"/>
              <a:cs typeface="Times New Roman" pitchFamily="18" charset="0"/>
            </a:endParaRPr>
          </a:p>
          <a:p>
            <a:pPr marL="800100" lvl="1" indent="-342900" algn="just">
              <a:buFont typeface="Wingdings" pitchFamily="2" charset="2"/>
              <a:buChar char="§"/>
            </a:pPr>
            <a:r>
              <a:rPr lang="en-US" dirty="0" smtClean="0">
                <a:latin typeface="Times New Roman" pitchFamily="18" charset="0"/>
                <a:cs typeface="Times New Roman" pitchFamily="18" charset="0"/>
              </a:rPr>
              <a:t>In horizontal fragmentation, a relation </a:t>
            </a:r>
            <a:r>
              <a:rPr lang="en-US" i="1" dirty="0" smtClean="0">
                <a:latin typeface="Times New Roman" pitchFamily="18" charset="0"/>
                <a:cs typeface="Times New Roman" pitchFamily="18" charset="0"/>
              </a:rPr>
              <a:t>r </a:t>
            </a:r>
            <a:r>
              <a:rPr lang="en-US" dirty="0" smtClean="0">
                <a:latin typeface="Times New Roman" pitchFamily="18" charset="0"/>
                <a:cs typeface="Times New Roman" pitchFamily="18" charset="0"/>
              </a:rPr>
              <a:t>is partitioned into a number of subsets, </a:t>
            </a:r>
            <a:r>
              <a:rPr lang="en-US" i="1" dirty="0" smtClean="0">
                <a:latin typeface="Times New Roman" pitchFamily="18" charset="0"/>
                <a:cs typeface="Times New Roman" pitchFamily="18" charset="0"/>
              </a:rPr>
              <a:t>r</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a:t>
            </a:r>
            <a:r>
              <a:rPr lang="en-US" i="1" dirty="0" smtClean="0">
                <a:latin typeface="Times New Roman" pitchFamily="18" charset="0"/>
                <a:cs typeface="Times New Roman" pitchFamily="18" charset="0"/>
              </a:rPr>
              <a:t>r</a:t>
            </a:r>
            <a:r>
              <a:rPr lang="en-US" baseline="-25000" dirty="0" smtClean="0">
                <a:latin typeface="Times New Roman" pitchFamily="18" charset="0"/>
                <a:cs typeface="Times New Roman" pitchFamily="18" charset="0"/>
              </a:rPr>
              <a:t>2</a:t>
            </a:r>
            <a:r>
              <a:rPr lang="en-US" i="1" dirty="0" smtClean="0">
                <a:latin typeface="Times New Roman" pitchFamily="18" charset="0"/>
                <a:cs typeface="Times New Roman" pitchFamily="18" charset="0"/>
              </a:rPr>
              <a:t>, . . . , </a:t>
            </a:r>
            <a:r>
              <a:rPr lang="en-US" i="1" dirty="0" err="1" smtClean="0">
                <a:latin typeface="Times New Roman" pitchFamily="18" charset="0"/>
                <a:cs typeface="Times New Roman" pitchFamily="18" charset="0"/>
              </a:rPr>
              <a:t>r</a:t>
            </a:r>
            <a:r>
              <a:rPr lang="en-US" i="1" baseline="-25000" dirty="0" err="1" smtClean="0">
                <a:latin typeface="Times New Roman" pitchFamily="18" charset="0"/>
                <a:cs typeface="Times New Roman" pitchFamily="18" charset="0"/>
              </a:rPr>
              <a:t>n</a:t>
            </a:r>
            <a:r>
              <a:rPr lang="en-US" dirty="0" smtClean="0">
                <a:latin typeface="Times New Roman" pitchFamily="18" charset="0"/>
                <a:cs typeface="Times New Roman" pitchFamily="18" charset="0"/>
              </a:rPr>
              <a:t>. </a:t>
            </a:r>
          </a:p>
          <a:p>
            <a:pPr marL="800100" lvl="1" indent="-342900" algn="just">
              <a:buFont typeface="Wingdings" pitchFamily="2" charset="2"/>
              <a:buChar char="§"/>
            </a:pPr>
            <a:r>
              <a:rPr lang="en-US" dirty="0" smtClean="0">
                <a:latin typeface="Times New Roman" pitchFamily="18" charset="0"/>
                <a:cs typeface="Times New Roman" pitchFamily="18" charset="0"/>
              </a:rPr>
              <a:t>Each </a:t>
            </a:r>
            <a:r>
              <a:rPr lang="en-US" dirty="0" err="1" smtClean="0">
                <a:latin typeface="Times New Roman" pitchFamily="18" charset="0"/>
                <a:cs typeface="Times New Roman" pitchFamily="18" charset="0"/>
              </a:rPr>
              <a:t>tuple</a:t>
            </a:r>
            <a:r>
              <a:rPr lang="en-US" dirty="0" smtClean="0">
                <a:latin typeface="Times New Roman" pitchFamily="18" charset="0"/>
                <a:cs typeface="Times New Roman" pitchFamily="18" charset="0"/>
              </a:rPr>
              <a:t> of relation </a:t>
            </a:r>
            <a:r>
              <a:rPr lang="en-US" i="1" dirty="0" smtClean="0">
                <a:latin typeface="Times New Roman" pitchFamily="18" charset="0"/>
                <a:cs typeface="Times New Roman" pitchFamily="18" charset="0"/>
              </a:rPr>
              <a:t>r </a:t>
            </a:r>
            <a:r>
              <a:rPr lang="en-US" dirty="0" smtClean="0">
                <a:latin typeface="Times New Roman" pitchFamily="18" charset="0"/>
                <a:cs typeface="Times New Roman" pitchFamily="18" charset="0"/>
              </a:rPr>
              <a:t>must belong to at least one of the fragments, so that the original relation can be reconstructed, if needed.</a:t>
            </a:r>
          </a:p>
          <a:p>
            <a:pPr lvl="0"/>
            <a:endParaRPr lang="en-US"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As an illustration, consider the </a:t>
            </a:r>
            <a:r>
              <a:rPr lang="en-US" i="1" dirty="0" smtClean="0">
                <a:latin typeface="Times New Roman" pitchFamily="18" charset="0"/>
                <a:cs typeface="Times New Roman" pitchFamily="18" charset="0"/>
              </a:rPr>
              <a:t>account </a:t>
            </a:r>
            <a:r>
              <a:rPr lang="en-US" dirty="0" smtClean="0">
                <a:latin typeface="Times New Roman" pitchFamily="18" charset="0"/>
                <a:cs typeface="Times New Roman" pitchFamily="18" charset="0"/>
              </a:rPr>
              <a:t>relation:</a:t>
            </a:r>
          </a:p>
          <a:p>
            <a:r>
              <a:rPr lang="en-US" b="1" i="1" dirty="0" smtClean="0">
                <a:latin typeface="Times New Roman" pitchFamily="18" charset="0"/>
                <a:cs typeface="Times New Roman" pitchFamily="18" charset="0"/>
              </a:rPr>
              <a:t>        Account-schema </a:t>
            </a:r>
            <a:r>
              <a:rPr lang="en-US" b="1" dirty="0" smtClean="0">
                <a:latin typeface="Times New Roman" pitchFamily="18" charset="0"/>
                <a:cs typeface="Times New Roman" pitchFamily="18" charset="0"/>
              </a:rPr>
              <a:t>= (</a:t>
            </a:r>
            <a:r>
              <a:rPr lang="en-US" b="1" i="1" dirty="0" smtClean="0">
                <a:latin typeface="Times New Roman" pitchFamily="18" charset="0"/>
                <a:cs typeface="Times New Roman" pitchFamily="18" charset="0"/>
              </a:rPr>
              <a:t>account-number</a:t>
            </a:r>
            <a:r>
              <a:rPr lang="en-US" b="1" dirty="0" smtClean="0">
                <a:latin typeface="Times New Roman" pitchFamily="18" charset="0"/>
                <a:cs typeface="Times New Roman" pitchFamily="18" charset="0"/>
              </a:rPr>
              <a:t>, </a:t>
            </a:r>
            <a:r>
              <a:rPr lang="en-US" b="1" i="1" dirty="0" smtClean="0">
                <a:latin typeface="Times New Roman" pitchFamily="18" charset="0"/>
                <a:cs typeface="Times New Roman" pitchFamily="18" charset="0"/>
              </a:rPr>
              <a:t>branch-name</a:t>
            </a:r>
            <a:r>
              <a:rPr lang="en-US" b="1" dirty="0" smtClean="0">
                <a:latin typeface="Times New Roman" pitchFamily="18" charset="0"/>
                <a:cs typeface="Times New Roman" pitchFamily="18" charset="0"/>
              </a:rPr>
              <a:t>, </a:t>
            </a:r>
            <a:r>
              <a:rPr lang="en-US" b="1" i="1" dirty="0" smtClean="0">
                <a:latin typeface="Times New Roman" pitchFamily="18" charset="0"/>
                <a:cs typeface="Times New Roman" pitchFamily="18" charset="0"/>
              </a:rPr>
              <a:t>balance</a:t>
            </a:r>
            <a:r>
              <a:rPr lang="en-US" b="1" dirty="0" smtClean="0">
                <a:latin typeface="Times New Roman" pitchFamily="18" charset="0"/>
                <a:cs typeface="Times New Roman" pitchFamily="18" charset="0"/>
              </a:rPr>
              <a:t>)</a:t>
            </a:r>
          </a:p>
          <a:p>
            <a:pPr lvl="0"/>
            <a:r>
              <a:rPr lang="en-US" dirty="0" smtClean="0">
                <a:latin typeface="Times New Roman" pitchFamily="18" charset="0"/>
                <a:cs typeface="Times New Roman" pitchFamily="18" charset="0"/>
              </a:rPr>
              <a:t> </a:t>
            </a:r>
          </a:p>
          <a:p>
            <a:pPr lvl="0"/>
            <a:r>
              <a:rPr lang="en-US" dirty="0" smtClean="0">
                <a:latin typeface="Times New Roman" pitchFamily="18" charset="0"/>
                <a:cs typeface="Times New Roman" pitchFamily="18" charset="0"/>
              </a:rPr>
              <a:t> The relation can be divided into several different fragments. If the banking system has only two branches - </a:t>
            </a:r>
            <a:r>
              <a:rPr lang="en-US" dirty="0" err="1" smtClean="0">
                <a:latin typeface="Times New Roman" pitchFamily="18" charset="0"/>
                <a:cs typeface="Times New Roman" pitchFamily="18" charset="0"/>
              </a:rPr>
              <a:t>Savar</a:t>
            </a:r>
            <a:r>
              <a:rPr lang="en-US" dirty="0" smtClean="0">
                <a:latin typeface="Times New Roman" pitchFamily="18" charset="0"/>
                <a:cs typeface="Times New Roman" pitchFamily="18" charset="0"/>
              </a:rPr>
              <a:t> and </a:t>
            </a:r>
            <a:r>
              <a:rPr lang="en-US" dirty="0" err="1" smtClean="0">
                <a:latin typeface="Times New Roman" pitchFamily="18" charset="0"/>
                <a:cs typeface="Times New Roman" pitchFamily="18" charset="0"/>
              </a:rPr>
              <a:t>Dhanmondi</a:t>
            </a:r>
            <a:r>
              <a:rPr lang="en-US" dirty="0" smtClean="0">
                <a:latin typeface="Times New Roman" pitchFamily="18" charset="0"/>
                <a:cs typeface="Times New Roman" pitchFamily="18" charset="0"/>
              </a:rPr>
              <a:t> - then there are two different fragments:</a:t>
            </a:r>
          </a:p>
          <a:p>
            <a:r>
              <a:rPr lang="en-US" sz="2000" b="1" i="1" dirty="0" smtClean="0">
                <a:latin typeface="Times New Roman" pitchFamily="18" charset="0"/>
                <a:cs typeface="Times New Roman" pitchFamily="18" charset="0"/>
              </a:rPr>
              <a:t>	</a:t>
            </a:r>
          </a:p>
          <a:p>
            <a:r>
              <a:rPr lang="en-US" sz="2000" b="1" i="1" dirty="0" smtClean="0">
                <a:latin typeface="Times New Roman" pitchFamily="18" charset="0"/>
                <a:cs typeface="Times New Roman" pitchFamily="18" charset="0"/>
              </a:rPr>
              <a:t>	account</a:t>
            </a:r>
            <a:r>
              <a:rPr lang="en-US" sz="2000" b="1" baseline="-25000" dirty="0" smtClean="0">
                <a:latin typeface="Times New Roman" pitchFamily="18" charset="0"/>
                <a:cs typeface="Times New Roman" pitchFamily="18" charset="0"/>
              </a:rPr>
              <a:t>1</a:t>
            </a:r>
            <a:r>
              <a:rPr lang="en-US" sz="2000" b="1" dirty="0" smtClean="0">
                <a:latin typeface="Times New Roman" pitchFamily="18" charset="0"/>
                <a:cs typeface="Times New Roman" pitchFamily="18" charset="0"/>
              </a:rPr>
              <a:t> = </a:t>
            </a:r>
            <a:r>
              <a:rPr lang="en-US" sz="2000" b="1" i="1" dirty="0" err="1" smtClean="0">
                <a:latin typeface="Times New Roman" pitchFamily="18" charset="0"/>
                <a:cs typeface="Times New Roman" pitchFamily="18" charset="0"/>
              </a:rPr>
              <a:t>σ</a:t>
            </a:r>
            <a:r>
              <a:rPr lang="en-US" sz="2000" b="1" i="1" baseline="-25000" dirty="0" err="1" smtClean="0">
                <a:latin typeface="Times New Roman" pitchFamily="18" charset="0"/>
                <a:cs typeface="Times New Roman" pitchFamily="18" charset="0"/>
              </a:rPr>
              <a:t>branch</a:t>
            </a:r>
            <a:r>
              <a:rPr lang="en-US" sz="2000" b="1" baseline="-25000" dirty="0" smtClean="0">
                <a:latin typeface="Times New Roman" pitchFamily="18" charset="0"/>
                <a:cs typeface="Times New Roman" pitchFamily="18" charset="0"/>
              </a:rPr>
              <a:t>-</a:t>
            </a:r>
            <a:r>
              <a:rPr lang="en-US" sz="2000" b="1" i="1" baseline="-25000" dirty="0" smtClean="0">
                <a:latin typeface="Times New Roman" pitchFamily="18" charset="0"/>
                <a:cs typeface="Times New Roman" pitchFamily="18" charset="0"/>
              </a:rPr>
              <a:t>name </a:t>
            </a:r>
            <a:r>
              <a:rPr lang="en-US" sz="2000" b="1" baseline="-25000" dirty="0" smtClean="0">
                <a:latin typeface="Times New Roman" pitchFamily="18" charset="0"/>
                <a:cs typeface="Times New Roman" pitchFamily="18" charset="0"/>
              </a:rPr>
              <a:t>= “</a:t>
            </a:r>
            <a:r>
              <a:rPr lang="en-US" sz="2000" b="1" baseline="-25000" dirty="0" err="1" smtClean="0">
                <a:latin typeface="Times New Roman" pitchFamily="18" charset="0"/>
                <a:cs typeface="Times New Roman" pitchFamily="18" charset="0"/>
              </a:rPr>
              <a:t>Savar</a:t>
            </a:r>
            <a:r>
              <a:rPr lang="en-US" sz="2000" b="1" baseline="-25000" dirty="0" smtClean="0">
                <a:latin typeface="Times New Roman" pitchFamily="18" charset="0"/>
                <a:cs typeface="Times New Roman" pitchFamily="18" charset="0"/>
              </a:rPr>
              <a:t>”</a:t>
            </a:r>
            <a:r>
              <a:rPr lang="en-US" sz="2000" b="1" dirty="0" smtClean="0">
                <a:latin typeface="Times New Roman" pitchFamily="18" charset="0"/>
                <a:cs typeface="Times New Roman" pitchFamily="18" charset="0"/>
              </a:rPr>
              <a:t> (</a:t>
            </a:r>
            <a:r>
              <a:rPr lang="en-US" sz="2000" b="1" i="1" dirty="0" smtClean="0">
                <a:latin typeface="Times New Roman" pitchFamily="18" charset="0"/>
                <a:cs typeface="Times New Roman" pitchFamily="18" charset="0"/>
              </a:rPr>
              <a:t>account</a:t>
            </a:r>
            <a:r>
              <a:rPr lang="en-US" sz="2000" b="1" dirty="0" smtClean="0">
                <a:latin typeface="Times New Roman" pitchFamily="18" charset="0"/>
                <a:cs typeface="Times New Roman" pitchFamily="18" charset="0"/>
              </a:rPr>
              <a:t>)</a:t>
            </a:r>
            <a:endParaRPr lang="en-US" b="1" dirty="0" smtClean="0">
              <a:latin typeface="Times New Roman" pitchFamily="18" charset="0"/>
              <a:cs typeface="Times New Roman" pitchFamily="18" charset="0"/>
            </a:endParaRPr>
          </a:p>
          <a:p>
            <a:r>
              <a:rPr lang="en-US" sz="2000" b="1" i="1" dirty="0" smtClean="0">
                <a:latin typeface="Times New Roman" pitchFamily="18" charset="0"/>
                <a:cs typeface="Times New Roman" pitchFamily="18" charset="0"/>
              </a:rPr>
              <a:t>	account</a:t>
            </a:r>
            <a:r>
              <a:rPr lang="en-US" sz="2000" b="1" baseline="-25000" dirty="0" smtClean="0">
                <a:latin typeface="Times New Roman" pitchFamily="18" charset="0"/>
                <a:cs typeface="Times New Roman" pitchFamily="18" charset="0"/>
              </a:rPr>
              <a:t>2</a:t>
            </a:r>
            <a:r>
              <a:rPr lang="en-US" sz="2000" b="1" dirty="0" smtClean="0">
                <a:latin typeface="Times New Roman" pitchFamily="18" charset="0"/>
                <a:cs typeface="Times New Roman" pitchFamily="18" charset="0"/>
              </a:rPr>
              <a:t> = </a:t>
            </a:r>
            <a:r>
              <a:rPr lang="en-US" sz="2000" b="1" i="1" dirty="0" err="1" smtClean="0">
                <a:latin typeface="Times New Roman" pitchFamily="18" charset="0"/>
                <a:cs typeface="Times New Roman" pitchFamily="18" charset="0"/>
              </a:rPr>
              <a:t>σ</a:t>
            </a:r>
            <a:r>
              <a:rPr lang="en-US" sz="2000" b="1" i="1" baseline="-25000" dirty="0" err="1" smtClean="0">
                <a:latin typeface="Times New Roman" pitchFamily="18" charset="0"/>
                <a:cs typeface="Times New Roman" pitchFamily="18" charset="0"/>
              </a:rPr>
              <a:t>branch</a:t>
            </a:r>
            <a:r>
              <a:rPr lang="en-US" sz="2000" b="1" baseline="-25000" dirty="0" smtClean="0">
                <a:latin typeface="Times New Roman" pitchFamily="18" charset="0"/>
                <a:cs typeface="Times New Roman" pitchFamily="18" charset="0"/>
              </a:rPr>
              <a:t>-</a:t>
            </a:r>
            <a:r>
              <a:rPr lang="en-US" sz="2000" b="1" i="1" baseline="-25000" dirty="0" smtClean="0">
                <a:latin typeface="Times New Roman" pitchFamily="18" charset="0"/>
                <a:cs typeface="Times New Roman" pitchFamily="18" charset="0"/>
              </a:rPr>
              <a:t>name </a:t>
            </a:r>
            <a:r>
              <a:rPr lang="en-US" sz="2000" b="1" baseline="-25000" dirty="0" smtClean="0">
                <a:latin typeface="Times New Roman" pitchFamily="18" charset="0"/>
                <a:cs typeface="Times New Roman" pitchFamily="18" charset="0"/>
              </a:rPr>
              <a:t>= “</a:t>
            </a:r>
            <a:r>
              <a:rPr lang="en-US" sz="2000" b="1" baseline="-25000" dirty="0" err="1" smtClean="0">
                <a:latin typeface="Times New Roman" pitchFamily="18" charset="0"/>
                <a:cs typeface="Times New Roman" pitchFamily="18" charset="0"/>
              </a:rPr>
              <a:t>Dhanmondi</a:t>
            </a:r>
            <a:r>
              <a:rPr lang="en-US" sz="2000" b="1" baseline="-25000" dirty="0" smtClean="0">
                <a:latin typeface="Times New Roman" pitchFamily="18" charset="0"/>
                <a:cs typeface="Times New Roman" pitchFamily="18" charset="0"/>
              </a:rPr>
              <a:t>”</a:t>
            </a:r>
            <a:r>
              <a:rPr lang="en-US" sz="2000" b="1" dirty="0" smtClean="0">
                <a:latin typeface="Times New Roman" pitchFamily="18" charset="0"/>
                <a:cs typeface="Times New Roman" pitchFamily="18" charset="0"/>
              </a:rPr>
              <a:t> (</a:t>
            </a:r>
            <a:r>
              <a:rPr lang="en-US" sz="2000" b="1" i="1" dirty="0" smtClean="0">
                <a:latin typeface="Times New Roman" pitchFamily="18" charset="0"/>
                <a:cs typeface="Times New Roman" pitchFamily="18" charset="0"/>
              </a:rPr>
              <a:t>account</a:t>
            </a:r>
            <a:r>
              <a:rPr lang="en-US" sz="2000" b="1" dirty="0" smtClean="0">
                <a:latin typeface="Times New Roman" pitchFamily="18" charset="0"/>
                <a:cs typeface="Times New Roman" pitchFamily="18" charset="0"/>
              </a:rPr>
              <a:t>)</a:t>
            </a:r>
            <a:endParaRPr lang="en-US" b="1" dirty="0" smtClean="0">
              <a:latin typeface="Times New Roman" pitchFamily="18" charset="0"/>
              <a:cs typeface="Times New Roman" pitchFamily="18" charset="0"/>
            </a:endParaRPr>
          </a:p>
          <a:p>
            <a:pPr marL="800100" lvl="1" indent="-342900" algn="just">
              <a:buFont typeface="Wingdings" pitchFamily="2" charset="2"/>
              <a:buChar char="§"/>
            </a:pPr>
            <a:endParaRPr lang="en-US" sz="36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828800"/>
            <a:ext cx="6858000" cy="3276600"/>
          </a:xfrm>
          <a:prstGeom prst="rect">
            <a:avLst/>
          </a:prstGeom>
        </p:spPr>
        <p:txBody>
          <a:bodyPr/>
          <a:lstStyle/>
          <a:p>
            <a:pPr>
              <a:buFont typeface="Wingdings" pitchFamily="2" charset="2"/>
              <a:buChar char="q"/>
            </a:pPr>
            <a:r>
              <a:rPr lang="en-US" sz="2400" b="1" dirty="0" smtClean="0">
                <a:latin typeface="Times New Roman" pitchFamily="18" charset="0"/>
                <a:cs typeface="Times New Roman" pitchFamily="18" charset="0"/>
              </a:rPr>
              <a:t> Horizontal  Fragmentation</a:t>
            </a:r>
            <a:endParaRPr lang="en-US" dirty="0" smtClean="0">
              <a:latin typeface="Times New Roman" pitchFamily="18" charset="0"/>
              <a:cs typeface="Times New Roman" pitchFamily="18" charset="0"/>
            </a:endParaRPr>
          </a:p>
          <a:p>
            <a:pPr lvl="0"/>
            <a:endParaRPr lang="en-US" dirty="0" smtClean="0">
              <a:latin typeface="Times New Roman" pitchFamily="18" charset="0"/>
              <a:cs typeface="Times New Roman" pitchFamily="18" charset="0"/>
            </a:endParaRPr>
          </a:p>
          <a:p>
            <a:pPr marL="914400" lvl="1" indent="-457200">
              <a:buFont typeface="Wingdings" pitchFamily="2" charset="2"/>
              <a:buChar char="§"/>
            </a:pPr>
            <a:r>
              <a:rPr lang="en-US" sz="2000" dirty="0" smtClean="0">
                <a:latin typeface="Times New Roman" pitchFamily="18" charset="0"/>
                <a:cs typeface="Times New Roman" pitchFamily="18" charset="0"/>
              </a:rPr>
              <a:t>Use a predicate </a:t>
            </a:r>
            <a:r>
              <a:rPr lang="en-US" sz="2000" i="1" dirty="0" smtClean="0">
                <a:latin typeface="Times New Roman" pitchFamily="18" charset="0"/>
                <a:cs typeface="Times New Roman" pitchFamily="18" charset="0"/>
              </a:rPr>
              <a:t>P</a:t>
            </a:r>
            <a:r>
              <a:rPr lang="en-US" sz="2000" i="1" baseline="-25000" dirty="0"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to construct fragment </a:t>
            </a:r>
            <a:r>
              <a:rPr lang="en-US" sz="2000" i="1" dirty="0" err="1" smtClean="0">
                <a:latin typeface="Times New Roman" pitchFamily="18" charset="0"/>
                <a:cs typeface="Times New Roman" pitchFamily="18" charset="0"/>
              </a:rPr>
              <a:t>r</a:t>
            </a:r>
            <a:r>
              <a:rPr lang="en-US" sz="2000" i="1" baseline="-25000" dirty="0" err="1"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a:t>
            </a:r>
          </a:p>
          <a:p>
            <a:pPr lvl="1"/>
            <a:r>
              <a:rPr lang="en-US" sz="2000" i="1" dirty="0" smtClean="0">
                <a:latin typeface="Times New Roman" pitchFamily="18" charset="0"/>
                <a:cs typeface="Times New Roman" pitchFamily="18" charset="0"/>
              </a:rPr>
              <a:t>		</a:t>
            </a:r>
            <a:r>
              <a:rPr lang="en-US" sz="2000" i="1" dirty="0" err="1" smtClean="0">
                <a:latin typeface="Times New Roman" pitchFamily="18" charset="0"/>
                <a:cs typeface="Times New Roman" pitchFamily="18" charset="0"/>
              </a:rPr>
              <a:t>r</a:t>
            </a:r>
            <a:r>
              <a:rPr lang="en-US" sz="2000" i="1" baseline="-25000" dirty="0" err="1"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sz="2000" i="1" dirty="0" err="1" smtClean="0">
                <a:latin typeface="Times New Roman" pitchFamily="18" charset="0"/>
                <a:cs typeface="Times New Roman" pitchFamily="18" charset="0"/>
              </a:rPr>
              <a:t>σ</a:t>
            </a:r>
            <a:r>
              <a:rPr lang="en-US" sz="2000" i="1" baseline="-25000" dirty="0" err="1" smtClean="0">
                <a:latin typeface="Times New Roman" pitchFamily="18" charset="0"/>
                <a:cs typeface="Times New Roman" pitchFamily="18" charset="0"/>
              </a:rPr>
              <a:t>Pi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r</a:t>
            </a:r>
            <a:r>
              <a:rPr lang="en-US" sz="2000" dirty="0" smtClean="0">
                <a:latin typeface="Times New Roman" pitchFamily="18" charset="0"/>
                <a:cs typeface="Times New Roman" pitchFamily="18" charset="0"/>
              </a:rPr>
              <a:t>)</a:t>
            </a:r>
          </a:p>
          <a:p>
            <a:pPr marL="914400" lvl="1" indent="-457200">
              <a:buFont typeface="Wingdings" pitchFamily="2" charset="2"/>
              <a:buChar char="§"/>
            </a:pPr>
            <a:endParaRPr lang="en-US" sz="2000" dirty="0" smtClean="0">
              <a:latin typeface="Times New Roman" pitchFamily="18" charset="0"/>
              <a:cs typeface="Times New Roman" pitchFamily="18" charset="0"/>
            </a:endParaRPr>
          </a:p>
          <a:p>
            <a:pPr marL="914400" lvl="1" indent="-457200">
              <a:buFont typeface="Wingdings" pitchFamily="2" charset="2"/>
              <a:buChar char="§"/>
            </a:pPr>
            <a:r>
              <a:rPr lang="en-US" sz="2000" dirty="0" smtClean="0">
                <a:latin typeface="Times New Roman" pitchFamily="18" charset="0"/>
                <a:cs typeface="Times New Roman" pitchFamily="18" charset="0"/>
              </a:rPr>
              <a:t>Reconstruct the relation </a:t>
            </a:r>
            <a:r>
              <a:rPr lang="en-US" sz="2000" i="1" dirty="0" smtClean="0">
                <a:latin typeface="Times New Roman" pitchFamily="18" charset="0"/>
                <a:cs typeface="Times New Roman" pitchFamily="18" charset="0"/>
              </a:rPr>
              <a:t>r </a:t>
            </a:r>
            <a:r>
              <a:rPr lang="en-US" sz="2000" dirty="0" smtClean="0">
                <a:latin typeface="Times New Roman" pitchFamily="18" charset="0"/>
                <a:cs typeface="Times New Roman" pitchFamily="18" charset="0"/>
              </a:rPr>
              <a:t>by taking the union of all fragments. That is,</a:t>
            </a:r>
          </a:p>
          <a:p>
            <a:pPr lvl="1"/>
            <a:r>
              <a:rPr lang="en-US" sz="2000" i="1" dirty="0" smtClean="0">
                <a:latin typeface="Times New Roman" pitchFamily="18" charset="0"/>
                <a:cs typeface="Times New Roman" pitchFamily="18" charset="0"/>
              </a:rPr>
              <a:t>		r </a:t>
            </a: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r</a:t>
            </a:r>
            <a:r>
              <a:rPr lang="en-US" sz="2000" baseline="-25000" dirty="0" smtClean="0">
                <a:latin typeface="Times New Roman" pitchFamily="18" charset="0"/>
                <a:cs typeface="Times New Roman" pitchFamily="18" charset="0"/>
              </a:rPr>
              <a:t>1</a:t>
            </a: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 r</a:t>
            </a:r>
            <a:r>
              <a:rPr lang="en-US" sz="2000" baseline="-25000" dirty="0" smtClean="0">
                <a:latin typeface="Times New Roman" pitchFamily="18" charset="0"/>
                <a:cs typeface="Times New Roman" pitchFamily="18" charset="0"/>
              </a:rPr>
              <a:t>2</a:t>
            </a: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 · · · ∪  </a:t>
            </a:r>
            <a:r>
              <a:rPr lang="en-US" sz="2000" i="1" dirty="0" err="1" smtClean="0">
                <a:latin typeface="Times New Roman" pitchFamily="18" charset="0"/>
                <a:cs typeface="Times New Roman" pitchFamily="18" charset="0"/>
              </a:rPr>
              <a:t>r</a:t>
            </a:r>
            <a:r>
              <a:rPr lang="en-US" sz="2000" i="1" baseline="-25000" dirty="0" err="1" smtClean="0">
                <a:latin typeface="Times New Roman" pitchFamily="18" charset="0"/>
                <a:cs typeface="Times New Roman" pitchFamily="18" charset="0"/>
              </a:rPr>
              <a:t>n</a:t>
            </a:r>
            <a:endParaRPr lang="en-US" sz="2000" dirty="0" smtClean="0">
              <a:latin typeface="Times New Roman" pitchFamily="18" charset="0"/>
              <a:cs typeface="Times New Roman" pitchFamily="18" charset="0"/>
            </a:endParaRPr>
          </a:p>
          <a:p>
            <a:pPr lvl="1"/>
            <a:endParaRPr lang="en-US" sz="2000" dirty="0" smtClean="0">
              <a:latin typeface="Times New Roman" pitchFamily="18" charset="0"/>
              <a:cs typeface="Times New Roman" pitchFamily="18" charset="0"/>
            </a:endParaRPr>
          </a:p>
          <a:p>
            <a:pPr marL="914400" lvl="1" indent="-457200">
              <a:buFont typeface="Wingdings" pitchFamily="2" charset="2"/>
              <a:buChar char="§"/>
            </a:pPr>
            <a:r>
              <a:rPr lang="en-US" sz="2000" dirty="0" smtClean="0">
                <a:latin typeface="Times New Roman" pitchFamily="18" charset="0"/>
                <a:cs typeface="Times New Roman" pitchFamily="18" charset="0"/>
              </a:rPr>
              <a:t>The fragments are disjoint.</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524000"/>
            <a:ext cx="6858000" cy="4191000"/>
          </a:xfrm>
          <a:prstGeom prst="rect">
            <a:avLst/>
          </a:prstGeom>
        </p:spPr>
        <p:txBody>
          <a:bodyPr/>
          <a:lstStyle/>
          <a:p>
            <a:pPr>
              <a:buFont typeface="Wingdings" pitchFamily="2" charset="2"/>
              <a:buChar char="q"/>
            </a:pPr>
            <a:r>
              <a:rPr lang="en-US" sz="2400" b="1" dirty="0" smtClean="0">
                <a:latin typeface="Times New Roman" pitchFamily="18" charset="0"/>
                <a:cs typeface="Times New Roman" pitchFamily="18" charset="0"/>
              </a:rPr>
              <a:t> Vertical Fragmentation</a:t>
            </a:r>
            <a:endParaRPr lang="en-US" dirty="0" smtClean="0">
              <a:latin typeface="Times New Roman" pitchFamily="18" charset="0"/>
              <a:cs typeface="Times New Roman" pitchFamily="18" charset="0"/>
            </a:endParaRPr>
          </a:p>
          <a:p>
            <a:pPr marL="800100" lvl="1" indent="-342900">
              <a:buFont typeface="Wingdings" pitchFamily="2" charset="2"/>
              <a:buChar char="§"/>
            </a:pPr>
            <a:r>
              <a:rPr lang="en-US" dirty="0" smtClean="0">
                <a:latin typeface="Times New Roman" pitchFamily="18" charset="0"/>
                <a:cs typeface="Times New Roman" pitchFamily="18" charset="0"/>
              </a:rPr>
              <a:t>Vertical fragmentation of </a:t>
            </a:r>
            <a:r>
              <a:rPr lang="en-US" i="1" dirty="0" smtClean="0">
                <a:latin typeface="Times New Roman" pitchFamily="18" charset="0"/>
                <a:cs typeface="Times New Roman" pitchFamily="18" charset="0"/>
              </a:rPr>
              <a:t>r</a:t>
            </a:r>
            <a:r>
              <a:rPr lang="en-US" dirty="0" smtClean="0">
                <a:latin typeface="Times New Roman" pitchFamily="18" charset="0"/>
                <a:cs typeface="Times New Roman" pitchFamily="18" charset="0"/>
              </a:rPr>
              <a:t>(</a:t>
            </a:r>
            <a:r>
              <a:rPr lang="en-US" i="1" dirty="0" smtClean="0">
                <a:latin typeface="Times New Roman" pitchFamily="18" charset="0"/>
                <a:cs typeface="Times New Roman" pitchFamily="18" charset="0"/>
              </a:rPr>
              <a:t>R</a:t>
            </a:r>
            <a:r>
              <a:rPr lang="en-US" dirty="0" smtClean="0">
                <a:latin typeface="Times New Roman" pitchFamily="18" charset="0"/>
                <a:cs typeface="Times New Roman" pitchFamily="18" charset="0"/>
              </a:rPr>
              <a:t>) involves the definition of several subsets of attributes </a:t>
            </a:r>
            <a:r>
              <a:rPr lang="en-US" i="1" dirty="0" smtClean="0">
                <a:latin typeface="Times New Roman" pitchFamily="18" charset="0"/>
                <a:cs typeface="Times New Roman" pitchFamily="18" charset="0"/>
              </a:rPr>
              <a:t>R</a:t>
            </a:r>
            <a:r>
              <a:rPr lang="en-US" baseline="-25000" dirty="0" smtClean="0">
                <a:latin typeface="Times New Roman" pitchFamily="18" charset="0"/>
                <a:cs typeface="Times New Roman" pitchFamily="18" charset="0"/>
              </a:rPr>
              <a:t>1</a:t>
            </a:r>
            <a:r>
              <a:rPr lang="en-US" i="1" dirty="0" smtClean="0">
                <a:latin typeface="Times New Roman" pitchFamily="18" charset="0"/>
                <a:cs typeface="Times New Roman" pitchFamily="18" charset="0"/>
              </a:rPr>
              <a:t>, R</a:t>
            </a:r>
            <a:r>
              <a:rPr lang="en-US" baseline="-25000" dirty="0" smtClean="0">
                <a:latin typeface="Times New Roman" pitchFamily="18" charset="0"/>
                <a:cs typeface="Times New Roman" pitchFamily="18" charset="0"/>
              </a:rPr>
              <a:t>2</a:t>
            </a:r>
            <a:r>
              <a:rPr lang="en-US" i="1" dirty="0" smtClean="0">
                <a:latin typeface="Times New Roman" pitchFamily="18" charset="0"/>
                <a:cs typeface="Times New Roman" pitchFamily="18" charset="0"/>
              </a:rPr>
              <a:t>, . . .,</a:t>
            </a:r>
            <a:r>
              <a:rPr lang="en-US" i="1" dirty="0" err="1" smtClean="0">
                <a:latin typeface="Times New Roman" pitchFamily="18" charset="0"/>
                <a:cs typeface="Times New Roman" pitchFamily="18" charset="0"/>
              </a:rPr>
              <a:t>R</a:t>
            </a:r>
            <a:r>
              <a:rPr lang="en-US" i="1" baseline="-25000" dirty="0" err="1" smtClean="0">
                <a:latin typeface="Times New Roman" pitchFamily="18" charset="0"/>
                <a:cs typeface="Times New Roman" pitchFamily="18" charset="0"/>
              </a:rPr>
              <a:t>n</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of the schema </a:t>
            </a:r>
            <a:r>
              <a:rPr lang="en-US" i="1" dirty="0" smtClean="0">
                <a:latin typeface="Times New Roman" pitchFamily="18" charset="0"/>
                <a:cs typeface="Times New Roman" pitchFamily="18" charset="0"/>
              </a:rPr>
              <a:t>R </a:t>
            </a:r>
            <a:r>
              <a:rPr lang="en-US" dirty="0" smtClean="0">
                <a:latin typeface="Times New Roman" pitchFamily="18" charset="0"/>
                <a:cs typeface="Times New Roman" pitchFamily="18" charset="0"/>
              </a:rPr>
              <a:t>so that</a:t>
            </a:r>
          </a:p>
          <a:p>
            <a:pPr lvl="1"/>
            <a:r>
              <a:rPr lang="en-US" i="1" dirty="0" smtClean="0">
                <a:latin typeface="Times New Roman" pitchFamily="18" charset="0"/>
                <a:cs typeface="Times New Roman" pitchFamily="18" charset="0"/>
              </a:rPr>
              <a:t>		R </a:t>
            </a:r>
            <a:r>
              <a:rPr lang="en-US" dirty="0" smtClean="0">
                <a:latin typeface="Times New Roman" pitchFamily="18" charset="0"/>
                <a:cs typeface="Times New Roman" pitchFamily="18" charset="0"/>
              </a:rPr>
              <a:t>= </a:t>
            </a:r>
            <a:r>
              <a:rPr lang="en-US" i="1" dirty="0" smtClean="0">
                <a:latin typeface="Times New Roman" pitchFamily="18" charset="0"/>
                <a:cs typeface="Times New Roman" pitchFamily="18" charset="0"/>
              </a:rPr>
              <a:t>R</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a:t>
            </a:r>
            <a:r>
              <a:rPr lang="en-US" i="1" dirty="0" smtClean="0">
                <a:latin typeface="Times New Roman" pitchFamily="18" charset="0"/>
                <a:cs typeface="Times New Roman" pitchFamily="18" charset="0"/>
              </a:rPr>
              <a:t>∪ R</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a:t>
            </a:r>
            <a:r>
              <a:rPr lang="en-US" i="1" dirty="0" smtClean="0">
                <a:latin typeface="Times New Roman" pitchFamily="18" charset="0"/>
                <a:cs typeface="Times New Roman" pitchFamily="18" charset="0"/>
              </a:rPr>
              <a:t>∪ · · · ∪ </a:t>
            </a:r>
            <a:r>
              <a:rPr lang="en-US" i="1" dirty="0" err="1" smtClean="0">
                <a:latin typeface="Times New Roman" pitchFamily="18" charset="0"/>
                <a:cs typeface="Times New Roman" pitchFamily="18" charset="0"/>
              </a:rPr>
              <a:t>R</a:t>
            </a:r>
            <a:r>
              <a:rPr lang="en-US" i="1" baseline="-25000" dirty="0" err="1" smtClean="0">
                <a:latin typeface="Times New Roman" pitchFamily="18" charset="0"/>
                <a:cs typeface="Times New Roman" pitchFamily="18" charset="0"/>
              </a:rPr>
              <a:t>n</a:t>
            </a:r>
            <a:endParaRPr lang="en-US" dirty="0" smtClean="0">
              <a:latin typeface="Times New Roman" pitchFamily="18" charset="0"/>
              <a:cs typeface="Times New Roman" pitchFamily="18" charset="0"/>
            </a:endParaRPr>
          </a:p>
          <a:p>
            <a:pPr marL="800100" lvl="1" indent="-342900">
              <a:buFont typeface="Wingdings" pitchFamily="2" charset="2"/>
              <a:buChar char="§"/>
            </a:pPr>
            <a:endParaRPr lang="en-US" dirty="0" smtClean="0">
              <a:latin typeface="Times New Roman" pitchFamily="18" charset="0"/>
              <a:cs typeface="Times New Roman" pitchFamily="18" charset="0"/>
            </a:endParaRPr>
          </a:p>
          <a:p>
            <a:pPr marL="800100" lvl="1" indent="-342900">
              <a:buFont typeface="Wingdings" pitchFamily="2" charset="2"/>
              <a:buChar char="§"/>
            </a:pPr>
            <a:r>
              <a:rPr lang="en-US" dirty="0" smtClean="0">
                <a:latin typeface="Times New Roman" pitchFamily="18" charset="0"/>
                <a:cs typeface="Times New Roman" pitchFamily="18" charset="0"/>
              </a:rPr>
              <a:t>Each fragment </a:t>
            </a:r>
            <a:r>
              <a:rPr lang="en-US" i="1" dirty="0" err="1" smtClean="0">
                <a:latin typeface="Times New Roman" pitchFamily="18" charset="0"/>
                <a:cs typeface="Times New Roman" pitchFamily="18" charset="0"/>
              </a:rPr>
              <a:t>r</a:t>
            </a:r>
            <a:r>
              <a:rPr lang="en-US" i="1" baseline="-25000" dirty="0" err="1" smtClean="0">
                <a:latin typeface="Times New Roman" pitchFamily="18" charset="0"/>
                <a:cs typeface="Times New Roman" pitchFamily="18" charset="0"/>
              </a:rPr>
              <a:t>i</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of </a:t>
            </a:r>
            <a:r>
              <a:rPr lang="en-US" i="1" dirty="0" smtClean="0">
                <a:latin typeface="Times New Roman" pitchFamily="18" charset="0"/>
                <a:cs typeface="Times New Roman" pitchFamily="18" charset="0"/>
              </a:rPr>
              <a:t>r </a:t>
            </a:r>
            <a:r>
              <a:rPr lang="en-US" dirty="0" smtClean="0">
                <a:latin typeface="Times New Roman" pitchFamily="18" charset="0"/>
                <a:cs typeface="Times New Roman" pitchFamily="18" charset="0"/>
              </a:rPr>
              <a:t>is defined by</a:t>
            </a:r>
          </a:p>
          <a:p>
            <a:pPr lvl="1"/>
            <a:r>
              <a:rPr lang="en-US" i="1" dirty="0" smtClean="0">
                <a:latin typeface="Times New Roman" pitchFamily="18" charset="0"/>
                <a:cs typeface="Times New Roman" pitchFamily="18" charset="0"/>
              </a:rPr>
              <a:t>		</a:t>
            </a:r>
            <a:r>
              <a:rPr lang="en-US" i="1" dirty="0" err="1" smtClean="0">
                <a:latin typeface="Times New Roman" pitchFamily="18" charset="0"/>
                <a:cs typeface="Times New Roman" pitchFamily="18" charset="0"/>
              </a:rPr>
              <a:t>r</a:t>
            </a:r>
            <a:r>
              <a:rPr lang="en-US" i="1" baseline="-25000" dirty="0" err="1" smtClean="0">
                <a:latin typeface="Times New Roman" pitchFamily="18" charset="0"/>
                <a:cs typeface="Times New Roman" pitchFamily="18" charset="0"/>
              </a:rPr>
              <a:t>i</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Π</a:t>
            </a:r>
            <a:r>
              <a:rPr lang="en-US" i="1" baseline="-25000" dirty="0" err="1" smtClean="0">
                <a:latin typeface="Times New Roman" pitchFamily="18" charset="0"/>
                <a:cs typeface="Times New Roman" pitchFamily="18" charset="0"/>
              </a:rPr>
              <a:t>Ri</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a:t>
            </a:r>
            <a:r>
              <a:rPr lang="en-US" i="1" dirty="0" smtClean="0">
                <a:latin typeface="Times New Roman" pitchFamily="18" charset="0"/>
                <a:cs typeface="Times New Roman" pitchFamily="18" charset="0"/>
              </a:rPr>
              <a:t>r</a:t>
            </a:r>
            <a:r>
              <a:rPr lang="en-US" dirty="0" smtClean="0">
                <a:latin typeface="Times New Roman" pitchFamily="18" charset="0"/>
                <a:cs typeface="Times New Roman" pitchFamily="18" charset="0"/>
              </a:rPr>
              <a:t>)</a:t>
            </a:r>
          </a:p>
          <a:p>
            <a:pPr marL="800100" lvl="1" indent="-342900">
              <a:buFont typeface="Wingdings" pitchFamily="2" charset="2"/>
              <a:buChar char="§"/>
            </a:pPr>
            <a:endParaRPr lang="en-US" dirty="0" smtClean="0">
              <a:latin typeface="Times New Roman" pitchFamily="18" charset="0"/>
              <a:cs typeface="Times New Roman" pitchFamily="18" charset="0"/>
            </a:endParaRPr>
          </a:p>
          <a:p>
            <a:pPr marL="800100" lvl="1" indent="-342900">
              <a:buFont typeface="Wingdings" pitchFamily="2" charset="2"/>
              <a:buChar char="§"/>
            </a:pPr>
            <a:r>
              <a:rPr lang="en-US" dirty="0" smtClean="0">
                <a:latin typeface="Times New Roman" pitchFamily="18" charset="0"/>
                <a:cs typeface="Times New Roman" pitchFamily="18" charset="0"/>
              </a:rPr>
              <a:t>We can reconstruct relation </a:t>
            </a:r>
            <a:r>
              <a:rPr lang="en-US" i="1" dirty="0" smtClean="0">
                <a:latin typeface="Times New Roman" pitchFamily="18" charset="0"/>
                <a:cs typeface="Times New Roman" pitchFamily="18" charset="0"/>
              </a:rPr>
              <a:t>r </a:t>
            </a:r>
            <a:r>
              <a:rPr lang="en-US" dirty="0" smtClean="0">
                <a:latin typeface="Times New Roman" pitchFamily="18" charset="0"/>
                <a:cs typeface="Times New Roman" pitchFamily="18" charset="0"/>
              </a:rPr>
              <a:t>from the fragments by taking the natural join</a:t>
            </a:r>
          </a:p>
          <a:p>
            <a:pPr lvl="1"/>
            <a:r>
              <a:rPr lang="en-US" i="1" dirty="0" smtClean="0">
                <a:latin typeface="Times New Roman" pitchFamily="18" charset="0"/>
                <a:cs typeface="Times New Roman" pitchFamily="18" charset="0"/>
              </a:rPr>
              <a:t>		r </a:t>
            </a:r>
            <a:r>
              <a:rPr lang="en-US" dirty="0" smtClean="0">
                <a:latin typeface="Times New Roman" pitchFamily="18" charset="0"/>
                <a:cs typeface="Times New Roman" pitchFamily="18" charset="0"/>
              </a:rPr>
              <a:t>= </a:t>
            </a:r>
            <a:r>
              <a:rPr lang="en-US" i="1" dirty="0" smtClean="0">
                <a:latin typeface="Times New Roman" pitchFamily="18" charset="0"/>
                <a:cs typeface="Times New Roman" pitchFamily="18" charset="0"/>
              </a:rPr>
              <a:t>r</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 </a:t>
            </a:r>
            <a:r>
              <a:rPr lang="en-US" i="1" dirty="0" smtClean="0">
                <a:latin typeface="Times New Roman" pitchFamily="18" charset="0"/>
                <a:cs typeface="Times New Roman" pitchFamily="18" charset="0"/>
              </a:rPr>
              <a:t>r</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a:t>
            </a:r>
            <a:r>
              <a:rPr lang="en-US" i="1" dirty="0" smtClean="0">
                <a:latin typeface="Times New Roman" pitchFamily="18" charset="0"/>
                <a:cs typeface="Times New Roman" pitchFamily="18" charset="0"/>
              </a:rPr>
              <a:t>r</a:t>
            </a:r>
            <a:r>
              <a:rPr lang="en-US" baseline="-25000" dirty="0" smtClean="0">
                <a:latin typeface="Times New Roman" pitchFamily="18" charset="0"/>
                <a:cs typeface="Times New Roman" pitchFamily="18" charset="0"/>
              </a:rPr>
              <a:t>3</a:t>
            </a:r>
            <a:r>
              <a:rPr lang="en-US" dirty="0" smtClean="0">
                <a:latin typeface="Times New Roman" pitchFamily="18" charset="0"/>
                <a:cs typeface="Times New Roman" pitchFamily="18" charset="0"/>
              </a:rPr>
              <a:t> ⋈ </a:t>
            </a:r>
            <a:r>
              <a:rPr lang="en-US" i="1" dirty="0" smtClean="0">
                <a:latin typeface="Times New Roman" pitchFamily="18" charset="0"/>
                <a:cs typeface="Times New Roman" pitchFamily="18" charset="0"/>
              </a:rPr>
              <a:t>· · · </a:t>
            </a:r>
            <a:r>
              <a:rPr lang="en-US" dirty="0" smtClean="0">
                <a:latin typeface="Times New Roman" pitchFamily="18" charset="0"/>
                <a:cs typeface="Times New Roman" pitchFamily="18" charset="0"/>
              </a:rPr>
              <a:t>⋈ </a:t>
            </a:r>
            <a:r>
              <a:rPr lang="en-US" i="1" dirty="0" err="1" smtClean="0">
                <a:latin typeface="Times New Roman" pitchFamily="18" charset="0"/>
                <a:cs typeface="Times New Roman" pitchFamily="18" charset="0"/>
              </a:rPr>
              <a:t>r</a:t>
            </a:r>
            <a:r>
              <a:rPr lang="en-US" i="1" baseline="-25000" dirty="0" err="1" smtClean="0">
                <a:latin typeface="Times New Roman" pitchFamily="18" charset="0"/>
                <a:cs typeface="Times New Roman" pitchFamily="18" charset="0"/>
              </a:rPr>
              <a:t>n</a:t>
            </a:r>
            <a:endParaRPr lang="en-US" dirty="0" smtClean="0">
              <a:latin typeface="Times New Roman" pitchFamily="18" charset="0"/>
              <a:cs typeface="Times New Roman" pitchFamily="18" charset="0"/>
            </a:endParaRPr>
          </a:p>
          <a:p>
            <a:pPr marL="800100" lvl="1" indent="-342900">
              <a:buFont typeface="Wingdings" pitchFamily="2" charset="2"/>
              <a:buChar char="§"/>
            </a:pPr>
            <a:endParaRPr lang="en-US" dirty="0" smtClean="0">
              <a:latin typeface="Times New Roman" pitchFamily="18" charset="0"/>
              <a:cs typeface="Times New Roman" pitchFamily="18" charset="0"/>
            </a:endParaRPr>
          </a:p>
          <a:p>
            <a:pPr marL="800100" lvl="1" indent="-342900">
              <a:buFont typeface="Wingdings" pitchFamily="2" charset="2"/>
              <a:buChar char="§"/>
            </a:pPr>
            <a:r>
              <a:rPr lang="en-US" dirty="0" smtClean="0">
                <a:latin typeface="Times New Roman" pitchFamily="18" charset="0"/>
                <a:cs typeface="Times New Roman" pitchFamily="18" charset="0"/>
              </a:rPr>
              <a:t>One way of ensuring that the relation </a:t>
            </a:r>
            <a:r>
              <a:rPr lang="en-US" i="1" dirty="0" smtClean="0">
                <a:latin typeface="Times New Roman" pitchFamily="18" charset="0"/>
                <a:cs typeface="Times New Roman" pitchFamily="18" charset="0"/>
              </a:rPr>
              <a:t>r </a:t>
            </a:r>
            <a:r>
              <a:rPr lang="en-US" dirty="0" smtClean="0">
                <a:latin typeface="Times New Roman" pitchFamily="18" charset="0"/>
                <a:cs typeface="Times New Roman" pitchFamily="18" charset="0"/>
              </a:rPr>
              <a:t>can be reconstructed is to include the primary-key attributes of </a:t>
            </a:r>
            <a:r>
              <a:rPr lang="en-US" i="1" dirty="0" smtClean="0">
                <a:latin typeface="Times New Roman" pitchFamily="18" charset="0"/>
                <a:cs typeface="Times New Roman" pitchFamily="18" charset="0"/>
              </a:rPr>
              <a:t>R </a:t>
            </a:r>
            <a:r>
              <a:rPr lang="en-US" dirty="0" smtClean="0">
                <a:latin typeface="Times New Roman" pitchFamily="18" charset="0"/>
                <a:cs typeface="Times New Roman" pitchFamily="18" charset="0"/>
              </a:rPr>
              <a:t>in each of the </a:t>
            </a:r>
            <a:r>
              <a:rPr lang="en-US" i="1" dirty="0" err="1" smtClean="0">
                <a:latin typeface="Times New Roman" pitchFamily="18" charset="0"/>
                <a:cs typeface="Times New Roman" pitchFamily="18" charset="0"/>
              </a:rPr>
              <a:t>R</a:t>
            </a:r>
            <a:r>
              <a:rPr lang="en-US" i="1" baseline="-25000"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a:t>
            </a:r>
          </a:p>
          <a:p>
            <a:pPr marL="914400" lvl="1" indent="-457200">
              <a:buFont typeface="Wingdings" pitchFamily="2" charset="2"/>
              <a:buChar char="§"/>
            </a:pPr>
            <a:endParaRPr lang="en-US" sz="2000" dirty="0" smtClean="0">
              <a:latin typeface="Times New Roman" pitchFamily="18" charset="0"/>
              <a:cs typeface="Times New Roman" pitchFamily="18" charset="0"/>
            </a:endParaRPr>
          </a:p>
          <a:p>
            <a:pPr marL="914400" lvl="1" indent="-457200">
              <a:buFont typeface="Wingdings" pitchFamily="2" charset="2"/>
              <a:buChar char="§"/>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524000"/>
            <a:ext cx="6858000" cy="4267200"/>
          </a:xfrm>
          <a:prstGeom prst="rect">
            <a:avLst/>
          </a:prstGeom>
        </p:spPr>
        <p:txBody>
          <a:bodyPr/>
          <a:lstStyle/>
          <a:p>
            <a:pPr>
              <a:buFont typeface="Wingdings" pitchFamily="2" charset="2"/>
              <a:buChar char="q"/>
            </a:pPr>
            <a:r>
              <a:rPr lang="en-US" sz="2400" b="1" dirty="0" smtClean="0">
                <a:latin typeface="Times New Roman" pitchFamily="18" charset="0"/>
                <a:cs typeface="Times New Roman" pitchFamily="18" charset="0"/>
              </a:rPr>
              <a:t> Vertical Fragmentation</a:t>
            </a:r>
            <a:endParaRPr lang="en-US"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 To illustrate vertical fragmentation, consider the following relation:</a:t>
            </a:r>
          </a:p>
          <a:p>
            <a:r>
              <a:rPr lang="en-US" sz="2000" b="1" i="1" dirty="0" smtClean="0">
                <a:latin typeface="Times New Roman" pitchFamily="18" charset="0"/>
                <a:cs typeface="Times New Roman" pitchFamily="18" charset="0"/>
              </a:rPr>
              <a:t>           employee-info=(employee-id</a:t>
            </a:r>
            <a:r>
              <a:rPr lang="en-US" sz="2000" b="1" dirty="0" smtClean="0">
                <a:latin typeface="Times New Roman" pitchFamily="18" charset="0"/>
                <a:cs typeface="Times New Roman" pitchFamily="18" charset="0"/>
              </a:rPr>
              <a:t>, </a:t>
            </a:r>
            <a:r>
              <a:rPr lang="en-US" sz="2000" b="1" i="1" dirty="0" smtClean="0">
                <a:latin typeface="Times New Roman" pitchFamily="18" charset="0"/>
                <a:cs typeface="Times New Roman" pitchFamily="18" charset="0"/>
              </a:rPr>
              <a:t>name</a:t>
            </a:r>
            <a:r>
              <a:rPr lang="en-US" sz="2000" b="1" dirty="0" smtClean="0">
                <a:latin typeface="Times New Roman" pitchFamily="18" charset="0"/>
                <a:cs typeface="Times New Roman" pitchFamily="18" charset="0"/>
              </a:rPr>
              <a:t>, </a:t>
            </a:r>
            <a:r>
              <a:rPr lang="en-US" sz="2000" b="1" i="1" dirty="0" smtClean="0">
                <a:latin typeface="Times New Roman" pitchFamily="18" charset="0"/>
                <a:cs typeface="Times New Roman" pitchFamily="18" charset="0"/>
              </a:rPr>
              <a:t>designation</a:t>
            </a:r>
            <a:r>
              <a:rPr lang="en-US" sz="2000" b="1" dirty="0" smtClean="0">
                <a:latin typeface="Times New Roman" pitchFamily="18" charset="0"/>
                <a:cs typeface="Times New Roman" pitchFamily="18" charset="0"/>
              </a:rPr>
              <a:t>, </a:t>
            </a:r>
            <a:r>
              <a:rPr lang="en-US" sz="2000" b="1" i="1" dirty="0" smtClean="0">
                <a:latin typeface="Times New Roman" pitchFamily="18" charset="0"/>
                <a:cs typeface="Times New Roman" pitchFamily="18" charset="0"/>
              </a:rPr>
              <a:t>salary</a:t>
            </a:r>
            <a:r>
              <a:rPr lang="en-US" sz="2000" b="1" dirty="0" smtClean="0">
                <a:latin typeface="Times New Roman" pitchFamily="18" charset="0"/>
                <a:cs typeface="Times New Roman" pitchFamily="18" charset="0"/>
              </a:rPr>
              <a:t>)</a:t>
            </a:r>
            <a:endParaRPr lang="en-US" b="1" dirty="0" smtClean="0">
              <a:latin typeface="Times New Roman" pitchFamily="18" charset="0"/>
              <a:cs typeface="Times New Roman" pitchFamily="18" charset="0"/>
            </a:endParaRPr>
          </a:p>
          <a:p>
            <a:pPr lvl="0"/>
            <a:endParaRPr lang="en-US" dirty="0" smtClean="0">
              <a:latin typeface="Times New Roman" pitchFamily="18" charset="0"/>
              <a:cs typeface="Times New Roman" pitchFamily="18" charset="0"/>
            </a:endParaRPr>
          </a:p>
          <a:p>
            <a:pPr lvl="0" algn="just"/>
            <a:r>
              <a:rPr lang="en-US" dirty="0" smtClean="0">
                <a:latin typeface="Times New Roman" pitchFamily="18" charset="0"/>
                <a:cs typeface="Times New Roman" pitchFamily="18" charset="0"/>
              </a:rPr>
              <a:t>- For privacy reasons, the relation may be fragmented into a relation </a:t>
            </a:r>
            <a:r>
              <a:rPr lang="en-US" b="1" i="1" dirty="0" smtClean="0">
                <a:latin typeface="Times New Roman" pitchFamily="18" charset="0"/>
                <a:cs typeface="Times New Roman" pitchFamily="18" charset="0"/>
              </a:rPr>
              <a:t>employee-</a:t>
            </a:r>
            <a:r>
              <a:rPr lang="en-US" b="1" i="1" dirty="0" err="1" smtClean="0">
                <a:latin typeface="Times New Roman" pitchFamily="18" charset="0"/>
                <a:cs typeface="Times New Roman" pitchFamily="18" charset="0"/>
              </a:rPr>
              <a:t>privateinfo</a:t>
            </a:r>
            <a:r>
              <a:rPr lang="en-US" dirty="0" smtClean="0">
                <a:latin typeface="Times New Roman" pitchFamily="18" charset="0"/>
                <a:cs typeface="Times New Roman" pitchFamily="18" charset="0"/>
              </a:rPr>
              <a:t> containing </a:t>
            </a:r>
            <a:r>
              <a:rPr lang="en-US" b="1" i="1" dirty="0" smtClean="0">
                <a:latin typeface="Times New Roman" pitchFamily="18" charset="0"/>
                <a:cs typeface="Times New Roman" pitchFamily="18" charset="0"/>
              </a:rPr>
              <a:t>employee-id</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and </a:t>
            </a:r>
            <a:r>
              <a:rPr lang="en-US" b="1" i="1" dirty="0" smtClean="0">
                <a:latin typeface="Times New Roman" pitchFamily="18" charset="0"/>
                <a:cs typeface="Times New Roman" pitchFamily="18" charset="0"/>
              </a:rPr>
              <a:t>salary</a:t>
            </a:r>
            <a:r>
              <a:rPr lang="en-US" dirty="0" smtClean="0">
                <a:latin typeface="Times New Roman" pitchFamily="18" charset="0"/>
                <a:cs typeface="Times New Roman" pitchFamily="18" charset="0"/>
              </a:rPr>
              <a:t>, and another relation </a:t>
            </a:r>
            <a:r>
              <a:rPr lang="en-US" b="1" i="1" dirty="0" smtClean="0">
                <a:latin typeface="Times New Roman" pitchFamily="18" charset="0"/>
                <a:cs typeface="Times New Roman" pitchFamily="18" charset="0"/>
              </a:rPr>
              <a:t>employee-public-info</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containing attributes </a:t>
            </a:r>
            <a:r>
              <a:rPr lang="en-US" b="1" i="1" dirty="0" smtClean="0">
                <a:latin typeface="Times New Roman" pitchFamily="18" charset="0"/>
                <a:cs typeface="Times New Roman" pitchFamily="18" charset="0"/>
              </a:rPr>
              <a:t>employee-id</a:t>
            </a:r>
            <a:r>
              <a:rPr lang="en-US" dirty="0" smtClean="0">
                <a:latin typeface="Times New Roman" pitchFamily="18" charset="0"/>
                <a:cs typeface="Times New Roman" pitchFamily="18" charset="0"/>
              </a:rPr>
              <a:t>, </a:t>
            </a:r>
            <a:r>
              <a:rPr lang="en-US" b="1" i="1" dirty="0" smtClean="0">
                <a:latin typeface="Times New Roman" pitchFamily="18" charset="0"/>
                <a:cs typeface="Times New Roman" pitchFamily="18" charset="0"/>
              </a:rPr>
              <a:t>name</a:t>
            </a:r>
            <a:r>
              <a:rPr lang="en-US" dirty="0" smtClean="0">
                <a:latin typeface="Times New Roman" pitchFamily="18" charset="0"/>
                <a:cs typeface="Times New Roman" pitchFamily="18" charset="0"/>
              </a:rPr>
              <a:t>, and </a:t>
            </a:r>
            <a:r>
              <a:rPr lang="en-US" b="1" i="1" dirty="0" smtClean="0">
                <a:latin typeface="Times New Roman" pitchFamily="18" charset="0"/>
                <a:cs typeface="Times New Roman" pitchFamily="18" charset="0"/>
              </a:rPr>
              <a:t>designation</a:t>
            </a:r>
            <a:r>
              <a:rPr lang="en-US" dirty="0" smtClean="0">
                <a:latin typeface="Times New Roman" pitchFamily="18" charset="0"/>
                <a:cs typeface="Times New Roman" pitchFamily="18" charset="0"/>
              </a:rPr>
              <a:t>.</a:t>
            </a:r>
          </a:p>
          <a:p>
            <a:r>
              <a:rPr lang="en-US" i="1" dirty="0" smtClean="0">
                <a:latin typeface="Times New Roman" pitchFamily="18" charset="0"/>
                <a:cs typeface="Times New Roman" pitchFamily="18" charset="0"/>
              </a:rPr>
              <a:t>	</a:t>
            </a:r>
          </a:p>
          <a:p>
            <a:r>
              <a:rPr lang="en-US" b="1" i="1" dirty="0" smtClean="0">
                <a:latin typeface="Times New Roman" pitchFamily="18" charset="0"/>
                <a:cs typeface="Times New Roman" pitchFamily="18" charset="0"/>
              </a:rPr>
              <a:t>	</a:t>
            </a:r>
            <a:r>
              <a:rPr lang="en-US" sz="2000" b="1" i="1" dirty="0" smtClean="0">
                <a:latin typeface="Times New Roman" pitchFamily="18" charset="0"/>
                <a:cs typeface="Times New Roman" pitchFamily="18" charset="0"/>
              </a:rPr>
              <a:t>employee-</a:t>
            </a:r>
            <a:r>
              <a:rPr lang="en-US" sz="2000" b="1" i="1" dirty="0" err="1" smtClean="0">
                <a:latin typeface="Times New Roman" pitchFamily="18" charset="0"/>
                <a:cs typeface="Times New Roman" pitchFamily="18" charset="0"/>
              </a:rPr>
              <a:t>privateinfo</a:t>
            </a:r>
            <a:r>
              <a:rPr lang="en-US" sz="2000" b="1" i="1" dirty="0" smtClean="0">
                <a:latin typeface="Times New Roman" pitchFamily="18" charset="0"/>
                <a:cs typeface="Times New Roman" pitchFamily="18" charset="0"/>
              </a:rPr>
              <a:t>=(employee-id</a:t>
            </a:r>
            <a:r>
              <a:rPr lang="en-US" sz="2000" b="1" dirty="0" smtClean="0">
                <a:latin typeface="Times New Roman" pitchFamily="18" charset="0"/>
                <a:cs typeface="Times New Roman" pitchFamily="18" charset="0"/>
              </a:rPr>
              <a:t>, </a:t>
            </a:r>
            <a:r>
              <a:rPr lang="en-US" sz="2000" b="1" i="1" dirty="0" smtClean="0">
                <a:latin typeface="Times New Roman" pitchFamily="18" charset="0"/>
                <a:cs typeface="Times New Roman" pitchFamily="18" charset="0"/>
              </a:rPr>
              <a:t>salary</a:t>
            </a:r>
            <a:r>
              <a:rPr lang="en-US" sz="2000" b="1" dirty="0" smtClean="0">
                <a:latin typeface="Times New Roman" pitchFamily="18" charset="0"/>
                <a:cs typeface="Times New Roman" pitchFamily="18" charset="0"/>
              </a:rPr>
              <a:t>)</a:t>
            </a:r>
          </a:p>
          <a:p>
            <a:r>
              <a:rPr lang="en-US" sz="2000" b="1" i="1" dirty="0" smtClean="0">
                <a:latin typeface="Times New Roman" pitchFamily="18" charset="0"/>
                <a:cs typeface="Times New Roman" pitchFamily="18" charset="0"/>
              </a:rPr>
              <a:t>	employee-</a:t>
            </a:r>
            <a:r>
              <a:rPr lang="en-US" sz="2000" b="1" i="1" dirty="0" err="1" smtClean="0">
                <a:latin typeface="Times New Roman" pitchFamily="18" charset="0"/>
                <a:cs typeface="Times New Roman" pitchFamily="18" charset="0"/>
              </a:rPr>
              <a:t>publicinfo</a:t>
            </a:r>
            <a:r>
              <a:rPr lang="en-US" sz="2000" b="1" i="1" dirty="0" smtClean="0">
                <a:latin typeface="Times New Roman" pitchFamily="18" charset="0"/>
                <a:cs typeface="Times New Roman" pitchFamily="18" charset="0"/>
              </a:rPr>
              <a:t>=(employee-id</a:t>
            </a:r>
            <a:r>
              <a:rPr lang="en-US" sz="2000" b="1" dirty="0" smtClean="0">
                <a:latin typeface="Times New Roman" pitchFamily="18" charset="0"/>
                <a:cs typeface="Times New Roman" pitchFamily="18" charset="0"/>
              </a:rPr>
              <a:t>, </a:t>
            </a:r>
            <a:r>
              <a:rPr lang="en-US" sz="2000" b="1" i="1" dirty="0" smtClean="0">
                <a:latin typeface="Times New Roman" pitchFamily="18" charset="0"/>
                <a:cs typeface="Times New Roman" pitchFamily="18" charset="0"/>
              </a:rPr>
              <a:t>name</a:t>
            </a:r>
            <a:r>
              <a:rPr lang="en-US" sz="2000" b="1" dirty="0" smtClean="0">
                <a:latin typeface="Times New Roman" pitchFamily="18" charset="0"/>
                <a:cs typeface="Times New Roman" pitchFamily="18" charset="0"/>
              </a:rPr>
              <a:t>, </a:t>
            </a:r>
            <a:r>
              <a:rPr lang="en-US" sz="2000" b="1" i="1" dirty="0" smtClean="0">
                <a:latin typeface="Times New Roman" pitchFamily="18" charset="0"/>
                <a:cs typeface="Times New Roman" pitchFamily="18" charset="0"/>
              </a:rPr>
              <a:t>designation</a:t>
            </a:r>
            <a:r>
              <a:rPr lang="en-US" sz="2000" b="1" dirty="0" smtClean="0">
                <a:latin typeface="Times New Roman" pitchFamily="18" charset="0"/>
                <a:cs typeface="Times New Roman" pitchFamily="18" charset="0"/>
              </a:rPr>
              <a:t>)</a:t>
            </a:r>
          </a:p>
          <a:p>
            <a:pPr lvl="0"/>
            <a:endParaRPr lang="en-US" dirty="0" smtClean="0">
              <a:latin typeface="Times New Roman" pitchFamily="18" charset="0"/>
              <a:cs typeface="Times New Roman" pitchFamily="18" charset="0"/>
            </a:endParaRPr>
          </a:p>
          <a:p>
            <a:pPr lvl="0">
              <a:buFontTx/>
              <a:buChar char="-"/>
            </a:pPr>
            <a:r>
              <a:rPr lang="en-US" dirty="0" smtClean="0">
                <a:latin typeface="Times New Roman" pitchFamily="18" charset="0"/>
                <a:cs typeface="Times New Roman" pitchFamily="18" charset="0"/>
              </a:rPr>
              <a:t>These may be stored at different sites, again for security reasons.</a:t>
            </a:r>
          </a:p>
          <a:p>
            <a:pPr lvl="0">
              <a:buFontTx/>
              <a:buChar char="-"/>
            </a:pPr>
            <a:endParaRPr lang="en-US" dirty="0" smtClean="0">
              <a:latin typeface="Times New Roman" pitchFamily="18" charset="0"/>
              <a:cs typeface="Times New Roman" pitchFamily="18" charset="0"/>
            </a:endParaRPr>
          </a:p>
          <a:p>
            <a:pPr marL="914400" lvl="1" indent="-457200"/>
            <a:endParaRPr lang="en-US" sz="2000" dirty="0" smtClean="0">
              <a:latin typeface="Times New Roman" pitchFamily="18" charset="0"/>
              <a:cs typeface="Times New Roman" pitchFamily="18" charset="0"/>
            </a:endParaRPr>
          </a:p>
          <a:p>
            <a:pPr marL="914400" lvl="1" indent="-457200">
              <a:buFont typeface="Wingdings" pitchFamily="2" charset="2"/>
              <a:buChar char="§"/>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4267200"/>
          </a:xfrm>
          <a:prstGeom prst="rect">
            <a:avLst/>
          </a:prstGeom>
        </p:spPr>
        <p:txBody>
          <a:bodyPr/>
          <a:lstStyle/>
          <a:p>
            <a:pPr>
              <a:buFont typeface="Wingdings" pitchFamily="2" charset="2"/>
              <a:buChar char="q"/>
            </a:pPr>
            <a:r>
              <a:rPr lang="en-US" sz="2400" b="1" dirty="0" smtClean="0">
                <a:latin typeface="Times New Roman" pitchFamily="18" charset="0"/>
                <a:cs typeface="Times New Roman" pitchFamily="18" charset="0"/>
              </a:rPr>
              <a:t> Correctness Rules for Data Fragmentation</a:t>
            </a:r>
            <a:endParaRPr lang="en-US" sz="2400"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To ensure no loss of information and no redundancy of data, there are three different rules that must be considered during fragmentation. </a:t>
            </a:r>
          </a:p>
          <a:p>
            <a:pPr lvl="0"/>
            <a:endParaRPr lang="en-US" b="1" dirty="0" smtClean="0">
              <a:latin typeface="Times New Roman" pitchFamily="18" charset="0"/>
              <a:cs typeface="Times New Roman" pitchFamily="18" charset="0"/>
            </a:endParaRPr>
          </a:p>
          <a:p>
            <a:pPr lvl="0"/>
            <a:r>
              <a:rPr lang="en-US" b="1" dirty="0" smtClean="0">
                <a:latin typeface="Times New Roman" pitchFamily="18" charset="0"/>
                <a:cs typeface="Times New Roman" pitchFamily="18" charset="0"/>
              </a:rPr>
              <a:t>Completeness</a:t>
            </a:r>
            <a:r>
              <a:rPr lang="en-US" dirty="0" smtClean="0">
                <a:latin typeface="Times New Roman" pitchFamily="18" charset="0"/>
                <a:cs typeface="Times New Roman" pitchFamily="18" charset="0"/>
              </a:rPr>
              <a:t> </a:t>
            </a:r>
          </a:p>
          <a:p>
            <a:pPr lvl="0"/>
            <a:r>
              <a:rPr lang="en-US" dirty="0" smtClean="0">
                <a:latin typeface="Times New Roman" pitchFamily="18" charset="0"/>
                <a:cs typeface="Times New Roman" pitchFamily="18" charset="0"/>
              </a:rPr>
              <a:t>If a relation instance R is decomposed into fragments R</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R</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 . .</a:t>
            </a:r>
            <a:r>
              <a:rPr lang="en-US" dirty="0" err="1" smtClean="0">
                <a:latin typeface="Times New Roman" pitchFamily="18" charset="0"/>
                <a:cs typeface="Times New Roman" pitchFamily="18" charset="0"/>
              </a:rPr>
              <a:t>R</a:t>
            </a:r>
            <a:r>
              <a:rPr lang="en-US" baseline="-25000" dirty="0" err="1" smtClean="0">
                <a:latin typeface="Times New Roman" pitchFamily="18" charset="0"/>
                <a:cs typeface="Times New Roman" pitchFamily="18" charset="0"/>
              </a:rPr>
              <a:t>n</a:t>
            </a:r>
            <a:r>
              <a:rPr lang="en-US" dirty="0" smtClean="0">
                <a:latin typeface="Times New Roman" pitchFamily="18" charset="0"/>
                <a:cs typeface="Times New Roman" pitchFamily="18" charset="0"/>
              </a:rPr>
              <a:t>, each data item in R must appear in at least one of the fragments. It is necessary in fragmentation to ensure that there is no loss of data during data fragmentation.</a:t>
            </a:r>
          </a:p>
          <a:p>
            <a:pPr lvl="0"/>
            <a:endParaRPr lang="en-US" dirty="0" smtClean="0">
              <a:latin typeface="Times New Roman" pitchFamily="18" charset="0"/>
              <a:cs typeface="Times New Roman" pitchFamily="18" charset="0"/>
            </a:endParaRPr>
          </a:p>
          <a:p>
            <a:pPr lvl="0"/>
            <a:r>
              <a:rPr lang="en-US" b="1" dirty="0" smtClean="0">
                <a:latin typeface="Times New Roman" pitchFamily="18" charset="0"/>
                <a:cs typeface="Times New Roman" pitchFamily="18" charset="0"/>
              </a:rPr>
              <a:t>Reconstruction</a:t>
            </a:r>
            <a:endParaRPr lang="en-US"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If relation R is decomposed into fragments R</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R</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 . .</a:t>
            </a:r>
            <a:r>
              <a:rPr lang="en-US" dirty="0" err="1" smtClean="0">
                <a:latin typeface="Times New Roman" pitchFamily="18" charset="0"/>
                <a:cs typeface="Times New Roman" pitchFamily="18" charset="0"/>
              </a:rPr>
              <a:t>R</a:t>
            </a:r>
            <a:r>
              <a:rPr lang="en-US" baseline="-25000" dirty="0" err="1" smtClean="0">
                <a:latin typeface="Times New Roman" pitchFamily="18" charset="0"/>
                <a:cs typeface="Times New Roman" pitchFamily="18" charset="0"/>
              </a:rPr>
              <a:t>n</a:t>
            </a:r>
            <a:r>
              <a:rPr lang="en-US" dirty="0" smtClean="0">
                <a:latin typeface="Times New Roman" pitchFamily="18" charset="0"/>
                <a:cs typeface="Times New Roman" pitchFamily="18" charset="0"/>
              </a:rPr>
              <a:t>, it must be possible to define a relational operation that will reconstruct the relation R from fragments R</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R</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 . .</a:t>
            </a:r>
            <a:r>
              <a:rPr lang="en-US" dirty="0" err="1" smtClean="0">
                <a:latin typeface="Times New Roman" pitchFamily="18" charset="0"/>
                <a:cs typeface="Times New Roman" pitchFamily="18" charset="0"/>
              </a:rPr>
              <a:t>R</a:t>
            </a:r>
            <a:r>
              <a:rPr lang="en-US" baseline="-25000" dirty="0" err="1" smtClean="0">
                <a:latin typeface="Times New Roman" pitchFamily="18" charset="0"/>
                <a:cs typeface="Times New Roman" pitchFamily="18" charset="0"/>
              </a:rPr>
              <a:t>n</a:t>
            </a:r>
            <a:r>
              <a:rPr lang="en-US" dirty="0" smtClean="0">
                <a:latin typeface="Times New Roman" pitchFamily="18" charset="0"/>
                <a:cs typeface="Times New Roman" pitchFamily="18" charset="0"/>
              </a:rPr>
              <a:t>. This rule ensures that constrains defined on the data are preserved during data fragmentation.</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4267200"/>
          </a:xfrm>
          <a:prstGeom prst="rect">
            <a:avLst/>
          </a:prstGeom>
        </p:spPr>
        <p:txBody>
          <a:bodyPr/>
          <a:lstStyle/>
          <a:p>
            <a:pPr>
              <a:buFont typeface="Wingdings" pitchFamily="2" charset="2"/>
              <a:buChar char="q"/>
            </a:pPr>
            <a:r>
              <a:rPr lang="en-US" sz="2400" b="1" dirty="0" smtClean="0">
                <a:latin typeface="Times New Roman" pitchFamily="18" charset="0"/>
                <a:cs typeface="Times New Roman" pitchFamily="18" charset="0"/>
              </a:rPr>
              <a:t> Correctness Rules for Data Fragmentation</a:t>
            </a:r>
            <a:endParaRPr lang="en-US" sz="2400"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To ensure no loss of information and no redundancy of data, there are three different rules that must be considered during fragmentation. </a:t>
            </a:r>
          </a:p>
          <a:p>
            <a:pPr lvl="0"/>
            <a:endParaRPr lang="en-US" b="1" dirty="0" smtClean="0">
              <a:latin typeface="Times New Roman" pitchFamily="18" charset="0"/>
              <a:cs typeface="Times New Roman" pitchFamily="18" charset="0"/>
            </a:endParaRPr>
          </a:p>
          <a:p>
            <a:r>
              <a:rPr lang="en-US" b="1" dirty="0" err="1" smtClean="0">
                <a:latin typeface="Times New Roman" pitchFamily="18" charset="0"/>
                <a:cs typeface="Times New Roman" pitchFamily="18" charset="0"/>
              </a:rPr>
              <a:t>Disjointness</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If a relation R is decomposed into fragments R</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R</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 . .</a:t>
            </a:r>
            <a:r>
              <a:rPr lang="en-US" dirty="0" err="1" smtClean="0">
                <a:latin typeface="Times New Roman" pitchFamily="18" charset="0"/>
                <a:cs typeface="Times New Roman" pitchFamily="18" charset="0"/>
              </a:rPr>
              <a:t>R</a:t>
            </a:r>
            <a:r>
              <a:rPr lang="en-US" baseline="-25000" dirty="0" err="1" smtClean="0">
                <a:latin typeface="Times New Roman" pitchFamily="18" charset="0"/>
                <a:cs typeface="Times New Roman" pitchFamily="18" charset="0"/>
              </a:rPr>
              <a:t>n</a:t>
            </a:r>
            <a:r>
              <a:rPr lang="en-US" dirty="0" smtClean="0">
                <a:latin typeface="Times New Roman" pitchFamily="18" charset="0"/>
                <a:cs typeface="Times New Roman" pitchFamily="18" charset="0"/>
              </a:rPr>
              <a:t> and if a data item is found in the fragment </a:t>
            </a:r>
            <a:r>
              <a:rPr lang="en-US" dirty="0" err="1" smtClean="0">
                <a:latin typeface="Times New Roman" pitchFamily="18" charset="0"/>
                <a:cs typeface="Times New Roman" pitchFamily="18" charset="0"/>
              </a:rPr>
              <a:t>R</a:t>
            </a:r>
            <a:r>
              <a:rPr lang="en-US" baseline="-25000"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 then it must not appear in any other fragments. </a:t>
            </a:r>
            <a:r>
              <a:rPr lang="en-US" b="1" dirty="0" smtClean="0">
                <a:latin typeface="Times New Roman" pitchFamily="18" charset="0"/>
                <a:cs typeface="Times New Roman" pitchFamily="18" charset="0"/>
              </a:rPr>
              <a:t>This rule ensures minimal data redundancy. </a:t>
            </a:r>
          </a:p>
          <a:p>
            <a:endParaRPr lang="en-US" b="1"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In case of vertical fragmentation, primary key attribute must be repeated to allow reconstruction. Therefore, in case of vertical fragmentation, </a:t>
            </a:r>
            <a:r>
              <a:rPr lang="en-US" dirty="0" err="1" smtClean="0">
                <a:latin typeface="Times New Roman" pitchFamily="18" charset="0"/>
                <a:cs typeface="Times New Roman" pitchFamily="18" charset="0"/>
              </a:rPr>
              <a:t>disjointness</a:t>
            </a:r>
            <a:r>
              <a:rPr lang="en-US" dirty="0" smtClean="0">
                <a:latin typeface="Times New Roman" pitchFamily="18" charset="0"/>
                <a:cs typeface="Times New Roman" pitchFamily="18" charset="0"/>
              </a:rPr>
              <a:t> is defined only on non-primary key attributes of a relation.</a:t>
            </a:r>
          </a:p>
          <a:p>
            <a:pPr marL="914400" lvl="1" indent="-457200"/>
            <a:endParaRPr lang="en-US" sz="2000" dirty="0" smtClean="0">
              <a:latin typeface="Times New Roman" pitchFamily="18" charset="0"/>
              <a:cs typeface="Times New Roman" pitchFamily="18" charset="0"/>
            </a:endParaRPr>
          </a:p>
          <a:p>
            <a:pPr marL="914400" lvl="1" indent="-457200">
              <a:buFont typeface="Wingdings" pitchFamily="2" charset="2"/>
              <a:buChar char="§"/>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1905000"/>
          </a:xfrm>
          <a:prstGeom prst="rect">
            <a:avLst/>
          </a:prstGeom>
        </p:spPr>
        <p:txBody>
          <a:bodyPr/>
          <a:lstStyle/>
          <a:p>
            <a:pPr>
              <a:buFont typeface="Wingdings" pitchFamily="2" charset="2"/>
              <a:buChar char="q"/>
            </a:pPr>
            <a:r>
              <a:rPr lang="en-US" sz="2400" b="1" dirty="0" smtClean="0">
                <a:latin typeface="Times New Roman" pitchFamily="18" charset="0"/>
                <a:cs typeface="Times New Roman" pitchFamily="18" charset="0"/>
              </a:rPr>
              <a:t> Example</a:t>
            </a:r>
            <a:endParaRPr lang="en-US" sz="2400"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Let us consider the relational schema Project where project-type represents whether the project is an </a:t>
            </a:r>
            <a:r>
              <a:rPr lang="en-US" b="1" dirty="0" smtClean="0">
                <a:latin typeface="Times New Roman" pitchFamily="18" charset="0"/>
                <a:cs typeface="Times New Roman" pitchFamily="18" charset="0"/>
              </a:rPr>
              <a:t>inside project</a:t>
            </a:r>
            <a:r>
              <a:rPr lang="en-US" dirty="0" smtClean="0">
                <a:latin typeface="Times New Roman" pitchFamily="18" charset="0"/>
                <a:cs typeface="Times New Roman" pitchFamily="18" charset="0"/>
              </a:rPr>
              <a:t> or </a:t>
            </a:r>
            <a:r>
              <a:rPr lang="en-US" b="1" dirty="0" smtClean="0">
                <a:latin typeface="Times New Roman" pitchFamily="18" charset="0"/>
                <a:cs typeface="Times New Roman" pitchFamily="18" charset="0"/>
              </a:rPr>
              <a:t>abroad project</a:t>
            </a:r>
            <a:r>
              <a:rPr lang="en-US" dirty="0" smtClean="0">
                <a:latin typeface="Times New Roman" pitchFamily="18" charset="0"/>
                <a:cs typeface="Times New Roman" pitchFamily="18" charset="0"/>
              </a:rPr>
              <a:t>. Assume that P1 and P2 are two horizontal fragments of the relation Project, which are obtained by using the predicate “whether the value of project-type attribute is ‘inside’ or ‘abroad’.</a:t>
            </a:r>
            <a:endParaRPr lang="en-US" b="1" dirty="0" smtClean="0">
              <a:latin typeface="Times New Roman" pitchFamily="18" charset="0"/>
              <a:cs typeface="Times New Roman" pitchFamily="18" charset="0"/>
            </a:endParaRPr>
          </a:p>
          <a:p>
            <a:pPr marL="914400" lvl="1" indent="-457200"/>
            <a:endParaRPr lang="en-US" sz="2000" dirty="0" smtClean="0">
              <a:latin typeface="Times New Roman" pitchFamily="18" charset="0"/>
              <a:cs typeface="Times New Roman" pitchFamily="18" charset="0"/>
            </a:endParaRPr>
          </a:p>
          <a:p>
            <a:pPr marL="914400" lvl="1" indent="-457200">
              <a:buFont typeface="Wingdings" pitchFamily="2" charset="2"/>
              <a:buChar char="§"/>
            </a:pPr>
            <a:endParaRPr lang="en-US" sz="2000" dirty="0" smtClean="0">
              <a:latin typeface="Times New Roman" pitchFamily="18" charset="0"/>
              <a:cs typeface="Times New Roman" pitchFamily="18" charset="0"/>
            </a:endParaRPr>
          </a:p>
        </p:txBody>
      </p:sp>
      <p:pic>
        <p:nvPicPr>
          <p:cNvPr id="1026" name="Picture 10"/>
          <p:cNvPicPr>
            <a:picLocks noChangeAspect="1" noChangeArrowheads="1"/>
          </p:cNvPicPr>
          <p:nvPr/>
        </p:nvPicPr>
        <p:blipFill>
          <a:blip r:embed="rId4"/>
          <a:srcRect/>
          <a:stretch>
            <a:fillRect/>
          </a:stretch>
        </p:blipFill>
        <p:spPr bwMode="auto">
          <a:xfrm>
            <a:off x="1066800" y="3581401"/>
            <a:ext cx="6952688" cy="23621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1905000"/>
          </a:xfrm>
          <a:prstGeom prst="rect">
            <a:avLst/>
          </a:prstGeom>
        </p:spPr>
        <p:txBody>
          <a:bodyPr/>
          <a:lstStyle/>
          <a:p>
            <a:pPr>
              <a:buFont typeface="Wingdings" pitchFamily="2" charset="2"/>
              <a:buChar char="q"/>
            </a:pPr>
            <a:r>
              <a:rPr lang="en-US" sz="2400" b="1" dirty="0" smtClean="0">
                <a:latin typeface="Times New Roman" pitchFamily="18" charset="0"/>
                <a:cs typeface="Times New Roman" pitchFamily="18" charset="0"/>
              </a:rPr>
              <a:t> Example (Horizontal Fragmentation)</a:t>
            </a:r>
            <a:endParaRPr lang="en-US" sz="2400" dirty="0" smtClean="0">
              <a:latin typeface="Times New Roman" pitchFamily="18" charset="0"/>
              <a:cs typeface="Times New Roman" pitchFamily="18" charset="0"/>
            </a:endParaRPr>
          </a:p>
          <a:p>
            <a:pPr lvl="2"/>
            <a:r>
              <a:rPr lang="en-US" sz="2000" b="1" dirty="0" smtClean="0">
                <a:latin typeface="Times New Roman" pitchFamily="18" charset="0"/>
                <a:cs typeface="Times New Roman" pitchFamily="18" charset="0"/>
              </a:rPr>
              <a:t>P1: </a:t>
            </a:r>
            <a:r>
              <a:rPr lang="en-US" sz="2000" b="1" i="1" dirty="0" err="1" smtClean="0">
                <a:latin typeface="Times New Roman" pitchFamily="18" charset="0"/>
                <a:cs typeface="Times New Roman" pitchFamily="18" charset="0"/>
              </a:rPr>
              <a:t>σ</a:t>
            </a:r>
            <a:r>
              <a:rPr lang="en-US" sz="2000" b="1" i="1" baseline="-25000" dirty="0" err="1" smtClean="0">
                <a:latin typeface="Times New Roman" pitchFamily="18" charset="0"/>
                <a:cs typeface="Times New Roman" pitchFamily="18" charset="0"/>
              </a:rPr>
              <a:t>project</a:t>
            </a:r>
            <a:r>
              <a:rPr lang="en-US" sz="2000" b="1" i="1" baseline="-25000" dirty="0" smtClean="0">
                <a:latin typeface="Times New Roman" pitchFamily="18" charset="0"/>
                <a:cs typeface="Times New Roman" pitchFamily="18" charset="0"/>
              </a:rPr>
              <a:t>-type </a:t>
            </a:r>
            <a:r>
              <a:rPr lang="en-US" sz="2000" b="1" baseline="-25000" dirty="0" smtClean="0">
                <a:latin typeface="Times New Roman" pitchFamily="18" charset="0"/>
                <a:cs typeface="Times New Roman" pitchFamily="18" charset="0"/>
              </a:rPr>
              <a:t>= “inside”</a:t>
            </a:r>
            <a:r>
              <a:rPr lang="en-US" sz="2000" b="1" dirty="0" smtClean="0">
                <a:latin typeface="Times New Roman" pitchFamily="18" charset="0"/>
                <a:cs typeface="Times New Roman" pitchFamily="18" charset="0"/>
              </a:rPr>
              <a:t> (Project)</a:t>
            </a:r>
          </a:p>
          <a:p>
            <a:pPr lvl="2"/>
            <a:r>
              <a:rPr lang="en-US" sz="2000" b="1" dirty="0" smtClean="0">
                <a:latin typeface="Times New Roman" pitchFamily="18" charset="0"/>
                <a:cs typeface="Times New Roman" pitchFamily="18" charset="0"/>
              </a:rPr>
              <a:t>P2: </a:t>
            </a:r>
            <a:r>
              <a:rPr lang="en-US" sz="2000" b="1" i="1" dirty="0" err="1" smtClean="0">
                <a:latin typeface="Times New Roman" pitchFamily="18" charset="0"/>
                <a:cs typeface="Times New Roman" pitchFamily="18" charset="0"/>
              </a:rPr>
              <a:t>σ</a:t>
            </a:r>
            <a:r>
              <a:rPr lang="en-US" sz="2000" b="1" i="1" baseline="-25000" dirty="0" err="1" smtClean="0">
                <a:latin typeface="Times New Roman" pitchFamily="18" charset="0"/>
                <a:cs typeface="Times New Roman" pitchFamily="18" charset="0"/>
              </a:rPr>
              <a:t>project</a:t>
            </a:r>
            <a:r>
              <a:rPr lang="en-US" sz="2000" b="1" i="1" baseline="-25000" dirty="0" smtClean="0">
                <a:latin typeface="Times New Roman" pitchFamily="18" charset="0"/>
                <a:cs typeface="Times New Roman" pitchFamily="18" charset="0"/>
              </a:rPr>
              <a:t>-type </a:t>
            </a:r>
            <a:r>
              <a:rPr lang="en-US" sz="2000" b="1" baseline="-25000" dirty="0" smtClean="0">
                <a:latin typeface="Times New Roman" pitchFamily="18" charset="0"/>
                <a:cs typeface="Times New Roman" pitchFamily="18" charset="0"/>
              </a:rPr>
              <a:t>= “abroad”</a:t>
            </a:r>
            <a:r>
              <a:rPr lang="en-US" sz="2000" b="1" dirty="0" smtClean="0">
                <a:latin typeface="Times New Roman" pitchFamily="18" charset="0"/>
                <a:cs typeface="Times New Roman" pitchFamily="18" charset="0"/>
              </a:rPr>
              <a:t> (Project)</a:t>
            </a:r>
          </a:p>
          <a:p>
            <a:pPr marL="914400" lvl="1" indent="-457200">
              <a:buFont typeface="Wingdings" pitchFamily="2" charset="2"/>
              <a:buChar char="§"/>
            </a:pPr>
            <a:endParaRPr lang="en-US" sz="2000" b="1" dirty="0" smtClean="0">
              <a:latin typeface="Times New Roman" pitchFamily="18" charset="0"/>
              <a:cs typeface="Times New Roman" pitchFamily="18" charset="0"/>
            </a:endParaRPr>
          </a:p>
        </p:txBody>
      </p:sp>
      <p:pic>
        <p:nvPicPr>
          <p:cNvPr id="2050" name="Picture 11"/>
          <p:cNvPicPr>
            <a:picLocks noChangeAspect="1" noChangeArrowheads="1"/>
          </p:cNvPicPr>
          <p:nvPr/>
        </p:nvPicPr>
        <p:blipFill>
          <a:blip r:embed="rId4"/>
          <a:srcRect/>
          <a:stretch>
            <a:fillRect/>
          </a:stretch>
        </p:blipFill>
        <p:spPr bwMode="auto">
          <a:xfrm>
            <a:off x="1144046" y="2743200"/>
            <a:ext cx="7085554" cy="1511301"/>
          </a:xfrm>
          <a:prstGeom prst="rect">
            <a:avLst/>
          </a:prstGeom>
          <a:noFill/>
          <a:ln w="9525">
            <a:noFill/>
            <a:miter lim="800000"/>
            <a:headEnd/>
            <a:tailEnd/>
          </a:ln>
        </p:spPr>
      </p:pic>
      <p:pic>
        <p:nvPicPr>
          <p:cNvPr id="2051" name="Picture 12"/>
          <p:cNvPicPr>
            <a:picLocks noChangeAspect="1" noChangeArrowheads="1"/>
          </p:cNvPicPr>
          <p:nvPr/>
        </p:nvPicPr>
        <p:blipFill>
          <a:blip r:embed="rId5"/>
          <a:srcRect/>
          <a:stretch>
            <a:fillRect/>
          </a:stretch>
        </p:blipFill>
        <p:spPr bwMode="auto">
          <a:xfrm>
            <a:off x="1133955" y="4495800"/>
            <a:ext cx="7095645" cy="1371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4"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4724400"/>
          </a:xfrm>
          <a:prstGeom prst="rect">
            <a:avLst/>
          </a:prstGeom>
        </p:spPr>
        <p:txBody>
          <a:bodyPr/>
          <a:lstStyle/>
          <a:p>
            <a:pPr>
              <a:buFont typeface="Wingdings" pitchFamily="2" charset="2"/>
              <a:buChar char="q"/>
            </a:pPr>
            <a:r>
              <a:rPr lang="en-US" sz="2400" b="1" dirty="0" smtClean="0">
                <a:latin typeface="Times New Roman" pitchFamily="18" charset="0"/>
                <a:cs typeface="Times New Roman" pitchFamily="18" charset="0"/>
              </a:rPr>
              <a:t> Example (Horizontal Fragmentation)</a:t>
            </a:r>
            <a:endParaRPr lang="en-US" sz="2400"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These horizontal fragments satisfy all the correctness rules of fragmentation as shown below.</a:t>
            </a:r>
          </a:p>
          <a:p>
            <a:pPr lvl="0" algn="just"/>
            <a:endParaRPr lang="en-US" b="1" dirty="0" smtClean="0">
              <a:latin typeface="Times New Roman" pitchFamily="18" charset="0"/>
              <a:cs typeface="Times New Roman" pitchFamily="18" charset="0"/>
            </a:endParaRPr>
          </a:p>
          <a:p>
            <a:pPr lvl="0" algn="just"/>
            <a:r>
              <a:rPr lang="en-US" b="1" dirty="0" smtClean="0">
                <a:latin typeface="Times New Roman" pitchFamily="18" charset="0"/>
                <a:cs typeface="Times New Roman" pitchFamily="18" charset="0"/>
              </a:rPr>
              <a:t>Completeness:</a:t>
            </a:r>
            <a:r>
              <a:rPr lang="en-US" dirty="0" smtClean="0">
                <a:latin typeface="Times New Roman" pitchFamily="18" charset="0"/>
                <a:cs typeface="Times New Roman" pitchFamily="18" charset="0"/>
              </a:rPr>
              <a:t> Each </a:t>
            </a:r>
            <a:r>
              <a:rPr lang="en-US" dirty="0" err="1" smtClean="0">
                <a:latin typeface="Times New Roman" pitchFamily="18" charset="0"/>
                <a:cs typeface="Times New Roman" pitchFamily="18" charset="0"/>
              </a:rPr>
              <a:t>tuple</a:t>
            </a:r>
            <a:r>
              <a:rPr lang="en-US" dirty="0" smtClean="0">
                <a:latin typeface="Times New Roman" pitchFamily="18" charset="0"/>
                <a:cs typeface="Times New Roman" pitchFamily="18" charset="0"/>
              </a:rPr>
              <a:t> in the relation Project appears either in fragment P1 or P2. Thus, it satisfies completeness rule for fragmentation.</a:t>
            </a:r>
          </a:p>
          <a:p>
            <a:pPr lvl="0" algn="just"/>
            <a:endParaRPr lang="en-US" b="1" dirty="0" smtClean="0">
              <a:latin typeface="Times New Roman" pitchFamily="18" charset="0"/>
              <a:cs typeface="Times New Roman" pitchFamily="18" charset="0"/>
            </a:endParaRPr>
          </a:p>
          <a:p>
            <a:pPr lvl="0" algn="just"/>
            <a:r>
              <a:rPr lang="en-US" b="1" dirty="0" smtClean="0">
                <a:latin typeface="Times New Roman" pitchFamily="18" charset="0"/>
                <a:cs typeface="Times New Roman" pitchFamily="18" charset="0"/>
              </a:rPr>
              <a:t>Reconstruction:</a:t>
            </a:r>
            <a:r>
              <a:rPr lang="en-US" dirty="0" smtClean="0">
                <a:latin typeface="Times New Roman" pitchFamily="18" charset="0"/>
                <a:cs typeface="Times New Roman" pitchFamily="18" charset="0"/>
              </a:rPr>
              <a:t> The Project relation can be reconstructed from the horizontal fragments P1 and P2 by using the union operation of relational algebra, which ensures the reconstruction rule.</a:t>
            </a:r>
          </a:p>
          <a:p>
            <a:pPr algn="just"/>
            <a:endParaRPr lang="en-US" b="1" dirty="0" smtClean="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	Thus, P1     P2 = Project.</a:t>
            </a:r>
            <a:endParaRPr lang="en-US" dirty="0" smtClean="0">
              <a:latin typeface="Times New Roman" pitchFamily="18" charset="0"/>
              <a:cs typeface="Times New Roman" pitchFamily="18" charset="0"/>
            </a:endParaRPr>
          </a:p>
          <a:p>
            <a:pPr algn="just"/>
            <a:endParaRPr lang="en-US" b="1" dirty="0" smtClean="0">
              <a:latin typeface="Times New Roman" pitchFamily="18" charset="0"/>
              <a:cs typeface="Times New Roman" pitchFamily="18" charset="0"/>
            </a:endParaRPr>
          </a:p>
          <a:p>
            <a:pPr algn="just"/>
            <a:r>
              <a:rPr lang="en-US" b="1" dirty="0" err="1" smtClean="0">
                <a:latin typeface="Times New Roman" pitchFamily="18" charset="0"/>
                <a:cs typeface="Times New Roman" pitchFamily="18" charset="0"/>
              </a:rPr>
              <a:t>Disjointness</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The fragments P1 and P2 are disjoint, since there can be no such project whose project type is both “inside” and “abroad”.</a:t>
            </a:r>
            <a:endParaRPr lang="en-US" sz="3200" b="1"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7" name="Object 1"/>
          <p:cNvGraphicFramePr>
            <a:graphicFrameLocks noChangeAspect="1"/>
          </p:cNvGraphicFramePr>
          <p:nvPr/>
        </p:nvGraphicFramePr>
        <p:xfrm>
          <a:off x="2789877" y="4891928"/>
          <a:ext cx="361217" cy="276225"/>
        </p:xfrm>
        <a:graphic>
          <a:graphicData uri="http://schemas.openxmlformats.org/presentationml/2006/ole">
            <p:oleObj spid="_x0000_s4097" name="Equation" r:id="rId5" imgW="164814" imgH="126780" progId="Equation.3">
              <p:embed/>
            </p:oleObj>
          </a:graphicData>
        </a:graphic>
      </p:graphicFrame>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533400"/>
          </a:xfrm>
          <a:prstGeom prst="rect">
            <a:avLst/>
          </a:prstGeom>
        </p:spPr>
        <p:txBody>
          <a:bodyPr/>
          <a:lstStyle/>
          <a:p>
            <a:pPr>
              <a:buFont typeface="Wingdings" pitchFamily="2" charset="2"/>
              <a:buChar char="q"/>
            </a:pPr>
            <a:r>
              <a:rPr lang="en-US" sz="2400" b="1" dirty="0" smtClean="0">
                <a:latin typeface="Times New Roman" pitchFamily="18" charset="0"/>
                <a:cs typeface="Times New Roman" pitchFamily="18" charset="0"/>
              </a:rPr>
              <a:t> Example (Vertical Fragmentation)</a:t>
            </a:r>
            <a:endParaRPr lang="en-US" sz="2400" dirty="0" smtClean="0">
              <a:latin typeface="Times New Roman" pitchFamily="18" charset="0"/>
              <a:cs typeface="Times New Roman" pitchFamily="18" charset="0"/>
            </a:endParaRPr>
          </a:p>
          <a:p>
            <a:pPr lvl="0" algn="just"/>
            <a:endParaRPr lang="en-US" b="1"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77827" name="Picture 18"/>
          <p:cNvPicPr>
            <a:picLocks noChangeAspect="1" noChangeArrowheads="1"/>
          </p:cNvPicPr>
          <p:nvPr/>
        </p:nvPicPr>
        <p:blipFill>
          <a:blip r:embed="rId4"/>
          <a:srcRect/>
          <a:stretch>
            <a:fillRect/>
          </a:stretch>
        </p:blipFill>
        <p:spPr bwMode="auto">
          <a:xfrm>
            <a:off x="1155700" y="1981200"/>
            <a:ext cx="7531100" cy="444945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4572000"/>
          </a:xfrm>
          <a:prstGeom prst="rect">
            <a:avLst/>
          </a:prstGeom>
        </p:spPr>
        <p:txBody>
          <a:bodyPr/>
          <a:lstStyle/>
          <a:p>
            <a:pPr>
              <a:buFont typeface="Wingdings" pitchFamily="2" charset="2"/>
              <a:buChar char="q"/>
            </a:pPr>
            <a:r>
              <a:rPr lang="en-US" sz="2400" b="1" dirty="0" smtClean="0">
                <a:latin typeface="Times New Roman" pitchFamily="18" charset="0"/>
                <a:cs typeface="Times New Roman" pitchFamily="18" charset="0"/>
              </a:rPr>
              <a:t> Example (Vertical Fragmentation)</a:t>
            </a:r>
            <a:endParaRPr lang="en-US" sz="2400"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These vertical fragments also ensure the correctness rules of fragmentation as shown below.</a:t>
            </a:r>
          </a:p>
          <a:p>
            <a:pPr algn="just"/>
            <a:endParaRPr lang="en-US" dirty="0" smtClean="0">
              <a:latin typeface="Times New Roman" pitchFamily="18" charset="0"/>
              <a:cs typeface="Times New Roman" pitchFamily="18" charset="0"/>
            </a:endParaRPr>
          </a:p>
          <a:p>
            <a:pPr lvl="0" algn="just"/>
            <a:r>
              <a:rPr lang="en-US" b="1" dirty="0" smtClean="0">
                <a:latin typeface="Times New Roman" pitchFamily="18" charset="0"/>
                <a:cs typeface="Times New Roman" pitchFamily="18" charset="0"/>
              </a:rPr>
              <a:t>Completeness:</a:t>
            </a:r>
            <a:r>
              <a:rPr lang="en-US" dirty="0" smtClean="0">
                <a:latin typeface="Times New Roman" pitchFamily="18" charset="0"/>
                <a:cs typeface="Times New Roman" pitchFamily="18" charset="0"/>
              </a:rPr>
              <a:t> Each </a:t>
            </a:r>
            <a:r>
              <a:rPr lang="en-US" dirty="0" err="1" smtClean="0">
                <a:latin typeface="Times New Roman" pitchFamily="18" charset="0"/>
                <a:cs typeface="Times New Roman" pitchFamily="18" charset="0"/>
              </a:rPr>
              <a:t>tuple</a:t>
            </a:r>
            <a:r>
              <a:rPr lang="en-US" dirty="0" smtClean="0">
                <a:latin typeface="Times New Roman" pitchFamily="18" charset="0"/>
                <a:cs typeface="Times New Roman" pitchFamily="18" charset="0"/>
              </a:rPr>
              <a:t> in the relation Project appears either in fragment V1 or V2 which satisfies completeness rule for fragmentation.</a:t>
            </a:r>
          </a:p>
          <a:p>
            <a:pPr lvl="0" algn="just"/>
            <a:endParaRPr lang="en-US" b="1" dirty="0" smtClean="0">
              <a:latin typeface="Times New Roman" pitchFamily="18" charset="0"/>
              <a:cs typeface="Times New Roman" pitchFamily="18" charset="0"/>
            </a:endParaRPr>
          </a:p>
          <a:p>
            <a:pPr lvl="0" algn="just"/>
            <a:r>
              <a:rPr lang="en-US" b="1" dirty="0" smtClean="0">
                <a:latin typeface="Times New Roman" pitchFamily="18" charset="0"/>
                <a:cs typeface="Times New Roman" pitchFamily="18" charset="0"/>
              </a:rPr>
              <a:t>Reconstruction:</a:t>
            </a:r>
            <a:r>
              <a:rPr lang="en-US" dirty="0" smtClean="0">
                <a:latin typeface="Times New Roman" pitchFamily="18" charset="0"/>
                <a:cs typeface="Times New Roman" pitchFamily="18" charset="0"/>
              </a:rPr>
              <a:t> The Project relation can be reconstructed from the vertical fragments V1 and V2 by using the natural join operation of relational algebra, which ensures the reconstruction rule.</a:t>
            </a:r>
          </a:p>
          <a:p>
            <a:pPr algn="just"/>
            <a:r>
              <a:rPr lang="en-US" b="1" dirty="0" smtClean="0">
                <a:latin typeface="Times New Roman" pitchFamily="18" charset="0"/>
                <a:cs typeface="Times New Roman" pitchFamily="18" charset="0"/>
              </a:rPr>
              <a:t>	Thus, V1 </a:t>
            </a:r>
            <a:r>
              <a:rPr lang="en-US" dirty="0" smtClean="0">
                <a:latin typeface="Times New Roman" pitchFamily="18" charset="0"/>
                <a:cs typeface="Times New Roman" pitchFamily="18" charset="0"/>
              </a:rPr>
              <a:t>⋈</a:t>
            </a:r>
            <a:r>
              <a:rPr lang="en-US" b="1" dirty="0" smtClean="0">
                <a:latin typeface="Times New Roman" pitchFamily="18" charset="0"/>
                <a:cs typeface="Times New Roman" pitchFamily="18" charset="0"/>
              </a:rPr>
              <a:t> V2 = Project.</a:t>
            </a:r>
            <a:endParaRPr lang="en-US" dirty="0" smtClean="0">
              <a:latin typeface="Times New Roman" pitchFamily="18" charset="0"/>
              <a:cs typeface="Times New Roman" pitchFamily="18" charset="0"/>
            </a:endParaRPr>
          </a:p>
          <a:p>
            <a:pPr lvl="0" algn="just"/>
            <a:endParaRPr lang="en-US" b="1" dirty="0" smtClean="0">
              <a:latin typeface="Times New Roman" pitchFamily="18" charset="0"/>
              <a:cs typeface="Times New Roman" pitchFamily="18" charset="0"/>
            </a:endParaRPr>
          </a:p>
          <a:p>
            <a:pPr lvl="0" algn="just"/>
            <a:r>
              <a:rPr lang="en-US" b="1" dirty="0" err="1" smtClean="0">
                <a:latin typeface="Times New Roman" pitchFamily="18" charset="0"/>
                <a:cs typeface="Times New Roman" pitchFamily="18" charset="0"/>
              </a:rPr>
              <a:t>Disjointness</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The fragments V1 and V2 are disjoint, except for the primary key project-id, which is repeated in both fragments and is necessary for reconstruction.</a:t>
            </a:r>
          </a:p>
          <a:p>
            <a:pPr algn="just"/>
            <a:r>
              <a:rPr lang="en-US" dirty="0" smtClean="0">
                <a:latin typeface="Times New Roman" pitchFamily="18" charset="0"/>
                <a:cs typeface="Times New Roman" pitchFamily="18" charset="0"/>
              </a:rPr>
              <a:t> </a:t>
            </a:r>
          </a:p>
          <a:p>
            <a:pPr lvl="0" algn="just"/>
            <a:endParaRPr lang="en-US" b="1"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4572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 Distributed Database System Design Issues</a:t>
            </a:r>
            <a:endParaRPr lang="en-US" sz="2000" dirty="0" smtClean="0">
              <a:latin typeface="Times New Roman" pitchFamily="18" charset="0"/>
              <a:cs typeface="Times New Roman" pitchFamily="18" charset="0"/>
            </a:endParaRPr>
          </a:p>
          <a:p>
            <a:pPr lvl="0"/>
            <a:endParaRPr lang="en-US" sz="2000" dirty="0" smtClean="0">
              <a:latin typeface="Times New Roman" pitchFamily="18" charset="0"/>
              <a:cs typeface="Times New Roman" pitchFamily="18" charset="0"/>
            </a:endParaRPr>
          </a:p>
          <a:p>
            <a:pPr lvl="2" indent="-457200" algn="just">
              <a:buFont typeface="Wingdings" pitchFamily="2" charset="2"/>
              <a:buChar char="Ø"/>
            </a:pPr>
            <a:r>
              <a:rPr lang="en-US" sz="2000" dirty="0" smtClean="0">
                <a:latin typeface="Times New Roman" pitchFamily="18" charset="0"/>
                <a:cs typeface="Times New Roman" pitchFamily="18" charset="0"/>
              </a:rPr>
              <a:t>Distributed Database Design</a:t>
            </a:r>
          </a:p>
          <a:p>
            <a:pPr lvl="2" indent="-457200" algn="just">
              <a:buFont typeface="Wingdings" pitchFamily="2" charset="2"/>
              <a:buChar char="Ø"/>
            </a:pPr>
            <a:r>
              <a:rPr lang="en-US" sz="2000" dirty="0" smtClean="0">
                <a:latin typeface="Times New Roman" pitchFamily="18" charset="0"/>
                <a:cs typeface="Times New Roman" pitchFamily="18" charset="0"/>
              </a:rPr>
              <a:t>Distributed Directory Management</a:t>
            </a:r>
          </a:p>
          <a:p>
            <a:pPr lvl="2" indent="-457200" algn="just">
              <a:buFont typeface="Wingdings" pitchFamily="2" charset="2"/>
              <a:buChar char="Ø"/>
            </a:pPr>
            <a:r>
              <a:rPr lang="en-US" sz="2000" dirty="0" smtClean="0">
                <a:latin typeface="Times New Roman" pitchFamily="18" charset="0"/>
                <a:cs typeface="Times New Roman" pitchFamily="18" charset="0"/>
              </a:rPr>
              <a:t>Distributed Query Processing</a:t>
            </a:r>
          </a:p>
          <a:p>
            <a:pPr lvl="2" indent="-457200" algn="just">
              <a:buFont typeface="Wingdings" pitchFamily="2" charset="2"/>
              <a:buChar char="Ø"/>
            </a:pPr>
            <a:r>
              <a:rPr lang="en-US" sz="2000" dirty="0" smtClean="0">
                <a:latin typeface="Times New Roman" pitchFamily="18" charset="0"/>
                <a:cs typeface="Times New Roman" pitchFamily="18" charset="0"/>
              </a:rPr>
              <a:t>Distributed Concurrency Control</a:t>
            </a:r>
          </a:p>
          <a:p>
            <a:pPr lvl="2" indent="-457200" algn="just">
              <a:buFont typeface="Wingdings" pitchFamily="2" charset="2"/>
              <a:buChar char="Ø"/>
            </a:pPr>
            <a:r>
              <a:rPr lang="en-US" sz="2000" dirty="0" smtClean="0">
                <a:latin typeface="Times New Roman" pitchFamily="18" charset="0"/>
                <a:cs typeface="Times New Roman" pitchFamily="18" charset="0"/>
              </a:rPr>
              <a:t>Distributed Deadlock Management</a:t>
            </a:r>
          </a:p>
          <a:p>
            <a:pPr lvl="2" indent="-457200" algn="just">
              <a:buFont typeface="Wingdings" pitchFamily="2" charset="2"/>
              <a:buChar char="Ø"/>
            </a:pPr>
            <a:r>
              <a:rPr lang="en-US" sz="2000" dirty="0" smtClean="0">
                <a:latin typeface="Times New Roman" pitchFamily="18" charset="0"/>
                <a:cs typeface="Times New Roman" pitchFamily="18" charset="0"/>
              </a:rPr>
              <a:t>Reliability of Distributed DBMS</a:t>
            </a:r>
          </a:p>
          <a:p>
            <a:pPr lvl="2" indent="-457200" algn="just">
              <a:buFont typeface="Wingdings" pitchFamily="2" charset="2"/>
              <a:buChar char="Ø"/>
            </a:pPr>
            <a:r>
              <a:rPr lang="en-US" sz="2000" dirty="0" smtClean="0">
                <a:latin typeface="Times New Roman" pitchFamily="18" charset="0"/>
                <a:cs typeface="Times New Roman" pitchFamily="18" charset="0"/>
              </a:rPr>
              <a:t>Replication</a:t>
            </a:r>
          </a:p>
          <a:p>
            <a:pPr lvl="2" indent="-457200" algn="just">
              <a:buFont typeface="Wingdings" pitchFamily="2" charset="2"/>
              <a:buChar char="Ø"/>
            </a:pPr>
            <a:r>
              <a:rPr lang="en-US" sz="2000" dirty="0" smtClean="0">
                <a:latin typeface="Times New Roman" pitchFamily="18" charset="0"/>
                <a:cs typeface="Times New Roman" pitchFamily="18" charset="0"/>
              </a:rPr>
              <a:t>Relationship among Problems</a:t>
            </a:r>
            <a:endParaRPr lang="en-IE" sz="2000" b="1" dirty="0" smtClean="0">
              <a:latin typeface="Times New Roman" pitchFamily="18" charset="0"/>
              <a:cs typeface="Times New Roman" pitchFamily="18" charset="0"/>
              <a:sym typeface="Symbol" pitchFamily="18" charset="2"/>
            </a:endParaRP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p>
          <a:p>
            <a:pPr lvl="0" algn="just"/>
            <a:endParaRPr lang="en-US" sz="2000" b="1"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4572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Distributed Database Design</a:t>
            </a:r>
          </a:p>
          <a:p>
            <a:pPr algn="just"/>
            <a:endParaRPr lang="en-US" sz="2000" dirty="0" smtClean="0">
              <a:latin typeface="Times New Roman" pitchFamily="18" charset="0"/>
              <a:cs typeface="Times New Roman" pitchFamily="18" charset="0"/>
            </a:endParaRPr>
          </a:p>
          <a:p>
            <a:pPr lvl="0" algn="just"/>
            <a:r>
              <a:rPr lang="en-US" sz="2000" dirty="0" smtClean="0">
                <a:latin typeface="Times New Roman" pitchFamily="18" charset="0"/>
                <a:cs typeface="Times New Roman" pitchFamily="18" charset="0"/>
              </a:rPr>
              <a:t>There are two basic alternatives to placing data: </a:t>
            </a:r>
          </a:p>
          <a:p>
            <a:pPr lvl="2" indent="-457200" algn="just">
              <a:buFont typeface="Wingdings" pitchFamily="2" charset="2"/>
              <a:buChar char="Ø"/>
            </a:pPr>
            <a:r>
              <a:rPr lang="en-US" sz="2000" dirty="0" smtClean="0">
                <a:latin typeface="Times New Roman" pitchFamily="18" charset="0"/>
                <a:cs typeface="Times New Roman" pitchFamily="18" charset="0"/>
              </a:rPr>
              <a:t>Partitioned (or non-replicated) and</a:t>
            </a:r>
          </a:p>
          <a:p>
            <a:pPr lvl="2" indent="-457200" algn="just">
              <a:buFont typeface="Wingdings" pitchFamily="2" charset="2"/>
              <a:buChar char="Ø"/>
            </a:pPr>
            <a:r>
              <a:rPr lang="en-US" sz="2000" dirty="0" smtClean="0">
                <a:latin typeface="Times New Roman" pitchFamily="18" charset="0"/>
                <a:cs typeface="Times New Roman" pitchFamily="18" charset="0"/>
              </a:rPr>
              <a:t>Replicated </a:t>
            </a:r>
          </a:p>
          <a:p>
            <a:pPr algn="just"/>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In the partitioned scheme the database is divided into a number of disjoint partitions each of which is placed at a different site. </a:t>
            </a:r>
          </a:p>
          <a:p>
            <a:pPr lvl="1" indent="-457200" algn="just">
              <a:buFont typeface="Wingdings" pitchFamily="2" charset="2"/>
              <a:buChar char="Ø"/>
            </a:pPr>
            <a:r>
              <a:rPr lang="en-US" sz="2000" dirty="0" smtClean="0">
                <a:latin typeface="Times New Roman" pitchFamily="18" charset="0"/>
                <a:cs typeface="Times New Roman" pitchFamily="18" charset="0"/>
              </a:rPr>
              <a:t>Replicated designs can be either fully replicated (also called fully duplicated) where the entire database is stored at each site, or partially replicated (or partially duplicated) where each partition of the database is stored at more than one site, but not at all the sites.</a:t>
            </a:r>
          </a:p>
          <a:p>
            <a:pPr lvl="1" indent="-457200" algn="just"/>
            <a:r>
              <a:rPr lang="en-US" sz="2000" dirty="0" smtClean="0">
                <a:latin typeface="Times New Roman" pitchFamily="18" charset="0"/>
                <a:cs typeface="Times New Roman" pitchFamily="18" charset="0"/>
              </a:rPr>
              <a:t> </a:t>
            </a:r>
          </a:p>
          <a:p>
            <a:pPr lvl="1" indent="-457200" algn="just"/>
            <a:endParaRPr lang="en-US" sz="2000" b="1"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4572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Distributed Directory Management</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A directory contains information (such as descriptions and locations) about data items in the database. </a:t>
            </a: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A directory may be global to the entire DDBS or local to each site; </a:t>
            </a: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It can be centralized at one site or distributed over several sites; there can be a single copy or multiple copies.</a:t>
            </a:r>
          </a:p>
          <a:p>
            <a:pPr lvl="1" indent="-457200" algn="just"/>
            <a:endParaRPr lang="en-US" sz="2000" b="1"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4572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Distributed Query Processing</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Query processing deals with designing algorithms that analyze queries and convert them into a series of data manipulation operations. </a:t>
            </a: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The problem is how to decide on a strategy for executing each query over the network in the most cost-effective way. </a:t>
            </a: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The factors to be considered are the distribution of data, communication costs, and lack of sufficient locally-available information.</a:t>
            </a:r>
            <a:endParaRPr lang="en-US" sz="2000" b="1"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4648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Distributed Concurrency Control </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Concurrency control involves the synchronization of accesses to the distributed database, such that the integrity of the database is maintained.</a:t>
            </a:r>
          </a:p>
          <a:p>
            <a:pPr algn="just"/>
            <a:endParaRPr lang="en-US" sz="2000" dirty="0" smtClean="0">
              <a:latin typeface="Times New Roman" pitchFamily="18" charset="0"/>
              <a:cs typeface="Times New Roman" pitchFamily="18" charset="0"/>
            </a:endParaRPr>
          </a:p>
          <a:p>
            <a:pPr algn="just">
              <a:buFont typeface="Wingdings" pitchFamily="2" charset="2"/>
              <a:buChar char="q"/>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 Distributed Deadlock Management</a:t>
            </a:r>
            <a:endParaRPr lang="en-US" sz="2000" dirty="0" smtClean="0">
              <a:latin typeface="Times New Roman" pitchFamily="18" charset="0"/>
              <a:cs typeface="Times New Roman" pitchFamily="18" charset="0"/>
            </a:endParaRPr>
          </a:p>
          <a:p>
            <a:pPr lvl="0" algn="just"/>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The competition among users for access to a set of resources (data, in this case) can result in a deadlock if the synchronization mechanism is based on locking. </a:t>
            </a: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The well-known alternatives of prevention, avoidance, and detection/recovery also apply to DDBSs.</a:t>
            </a: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4648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Reliability of Distributed DBMS  </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One of the potential advantages of distributed systems is improved reliability and availability. This, however, is not a feature that comes automatically. </a:t>
            </a: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It is important that mechanisms be provided to ensure the consistency of the database as well as to detect failures and recover from them. </a:t>
            </a: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When a failure occurs and various sites become either inoperable or inaccessible, the databases at the operational sites remain consistent and up to date.</a:t>
            </a: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4648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Replication  </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If the distributed database is (partially or fully) replicated, it is necessary to implement protocols that ensure the consistency of the replicas,</a:t>
            </a:r>
          </a:p>
          <a:p>
            <a:pPr algn="just"/>
            <a:r>
              <a:rPr lang="en-US" sz="2000" dirty="0" smtClean="0">
                <a:latin typeface="Times New Roman" pitchFamily="18" charset="0"/>
                <a:cs typeface="Times New Roman" pitchFamily="18" charset="0"/>
              </a:rPr>
              <a:t> </a:t>
            </a:r>
          </a:p>
          <a:p>
            <a:pPr algn="just">
              <a:buFont typeface="Wingdings" pitchFamily="2" charset="2"/>
              <a:buChar char="q"/>
            </a:pPr>
            <a:r>
              <a:rPr lang="en-US" sz="2000" b="1" dirty="0" smtClean="0">
                <a:latin typeface="Times New Roman" pitchFamily="18" charset="0"/>
                <a:cs typeface="Times New Roman" pitchFamily="18" charset="0"/>
              </a:rPr>
              <a:t> Relationship among Problems</a:t>
            </a: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The problems are not isolated from one another. Each problem is affected by the solutions found for the others.</a:t>
            </a:r>
          </a:p>
          <a:p>
            <a:pPr lvl="1" indent="-457200" algn="just">
              <a:buFont typeface="Wingdings" pitchFamily="2" charset="2"/>
              <a:buChar char="Ø"/>
            </a:pPr>
            <a:r>
              <a:rPr lang="en-US" sz="2000" dirty="0" smtClean="0">
                <a:latin typeface="Times New Roman" pitchFamily="18" charset="0"/>
                <a:cs typeface="Times New Roman" pitchFamily="18" charset="0"/>
              </a:rPr>
              <a:t>The relationship among the components is shown in the following Figure. The design of distributed databases affects many areas. It affects directory management, because the definition of fragments and their placement determine the contents of the directory as well as the strategies that may be employed to manage them.</a:t>
            </a: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4648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Relationship among Problems</a:t>
            </a:r>
            <a:endParaRPr lang="en-US" sz="20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100354" name="Group 2"/>
          <p:cNvGrpSpPr>
            <a:grpSpLocks noChangeAspect="1"/>
          </p:cNvGrpSpPr>
          <p:nvPr/>
        </p:nvGrpSpPr>
        <p:grpSpPr bwMode="auto">
          <a:xfrm>
            <a:off x="1447800" y="1981200"/>
            <a:ext cx="6781800" cy="4267200"/>
            <a:chOff x="2505" y="1695"/>
            <a:chExt cx="7680" cy="6720"/>
          </a:xfrm>
        </p:grpSpPr>
        <p:sp>
          <p:nvSpPr>
            <p:cNvPr id="100355" name="AutoShape 3"/>
            <p:cNvSpPr>
              <a:spLocks noChangeAspect="1" noChangeArrowheads="1"/>
            </p:cNvSpPr>
            <p:nvPr/>
          </p:nvSpPr>
          <p:spPr bwMode="auto">
            <a:xfrm>
              <a:off x="2505" y="1695"/>
              <a:ext cx="7680" cy="6525"/>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pSp>
          <p:nvGrpSpPr>
            <p:cNvPr id="100356" name="Group 4"/>
            <p:cNvGrpSpPr>
              <a:grpSpLocks/>
            </p:cNvGrpSpPr>
            <p:nvPr/>
          </p:nvGrpSpPr>
          <p:grpSpPr bwMode="auto">
            <a:xfrm>
              <a:off x="2764" y="1815"/>
              <a:ext cx="6266" cy="5788"/>
              <a:chOff x="2764" y="1815"/>
              <a:chExt cx="6266" cy="5788"/>
            </a:xfrm>
          </p:grpSpPr>
          <p:sp>
            <p:nvSpPr>
              <p:cNvPr id="100357" name="Text Box 5"/>
              <p:cNvSpPr txBox="1">
                <a:spLocks noChangeArrowheads="1"/>
              </p:cNvSpPr>
              <p:nvPr/>
            </p:nvSpPr>
            <p:spPr bwMode="auto">
              <a:xfrm>
                <a:off x="5180" y="1815"/>
                <a:ext cx="1640" cy="94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Directory Management</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0358" name="Text Box 6"/>
              <p:cNvSpPr txBox="1">
                <a:spLocks noChangeArrowheads="1"/>
              </p:cNvSpPr>
              <p:nvPr/>
            </p:nvSpPr>
            <p:spPr bwMode="auto">
              <a:xfrm>
                <a:off x="5180" y="3135"/>
                <a:ext cx="1640" cy="1080"/>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Distributed DB Design</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0359" name="Text Box 7"/>
              <p:cNvSpPr txBox="1">
                <a:spLocks noChangeArrowheads="1"/>
              </p:cNvSpPr>
              <p:nvPr/>
            </p:nvSpPr>
            <p:spPr bwMode="auto">
              <a:xfrm>
                <a:off x="2764" y="3270"/>
                <a:ext cx="1645" cy="106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Query Processing</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0360" name="Text Box 8"/>
              <p:cNvSpPr txBox="1">
                <a:spLocks noChangeArrowheads="1"/>
              </p:cNvSpPr>
              <p:nvPr/>
            </p:nvSpPr>
            <p:spPr bwMode="auto">
              <a:xfrm>
                <a:off x="7621" y="3319"/>
                <a:ext cx="1409" cy="720"/>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Reliability</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0361" name="Text Box 9"/>
              <p:cNvSpPr txBox="1">
                <a:spLocks noChangeArrowheads="1"/>
              </p:cNvSpPr>
              <p:nvPr/>
            </p:nvSpPr>
            <p:spPr bwMode="auto">
              <a:xfrm>
                <a:off x="7236" y="4575"/>
                <a:ext cx="1536" cy="67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Replication</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0362" name="Text Box 10"/>
              <p:cNvSpPr txBox="1">
                <a:spLocks noChangeArrowheads="1"/>
              </p:cNvSpPr>
              <p:nvPr/>
            </p:nvSpPr>
            <p:spPr bwMode="auto">
              <a:xfrm>
                <a:off x="5180" y="5175"/>
                <a:ext cx="1640" cy="960"/>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Concurrency Control</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0363" name="Text Box 11"/>
              <p:cNvSpPr txBox="1">
                <a:spLocks noChangeArrowheads="1"/>
              </p:cNvSpPr>
              <p:nvPr/>
            </p:nvSpPr>
            <p:spPr bwMode="auto">
              <a:xfrm>
                <a:off x="5193" y="6688"/>
                <a:ext cx="1611" cy="91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Deadlock Management</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cxnSp>
            <p:nvCxnSpPr>
              <p:cNvPr id="100364" name="AutoShape 12"/>
              <p:cNvCxnSpPr>
                <a:cxnSpLocks noChangeShapeType="1"/>
                <a:stCxn id="100358" idx="0"/>
                <a:endCxn id="100357" idx="2"/>
              </p:cNvCxnSpPr>
              <p:nvPr/>
            </p:nvCxnSpPr>
            <p:spPr bwMode="auto">
              <a:xfrm rot="5400000" flipH="1" flipV="1">
                <a:off x="5812" y="2948"/>
                <a:ext cx="375" cy="2"/>
              </a:xfrm>
              <a:prstGeom prst="straightConnector1">
                <a:avLst/>
              </a:prstGeom>
              <a:noFill/>
              <a:ln w="9525">
                <a:solidFill>
                  <a:srgbClr val="000000"/>
                </a:solidFill>
                <a:round/>
                <a:headEnd/>
                <a:tailEnd type="triangle" w="med" len="med"/>
              </a:ln>
            </p:spPr>
          </p:cxnSp>
          <p:cxnSp>
            <p:nvCxnSpPr>
              <p:cNvPr id="100365" name="AutoShape 13"/>
              <p:cNvCxnSpPr>
                <a:cxnSpLocks noChangeShapeType="1"/>
                <a:stCxn id="100358" idx="2"/>
                <a:endCxn id="100362" idx="0"/>
              </p:cNvCxnSpPr>
              <p:nvPr/>
            </p:nvCxnSpPr>
            <p:spPr bwMode="auto">
              <a:xfrm rot="5400000">
                <a:off x="5520" y="4695"/>
                <a:ext cx="960" cy="2"/>
              </a:xfrm>
              <a:prstGeom prst="straightConnector1">
                <a:avLst/>
              </a:prstGeom>
              <a:noFill/>
              <a:ln w="9525">
                <a:solidFill>
                  <a:srgbClr val="000000"/>
                </a:solidFill>
                <a:round/>
                <a:headEnd/>
                <a:tailEnd type="triangle" w="med" len="med"/>
              </a:ln>
            </p:spPr>
          </p:cxnSp>
          <p:cxnSp>
            <p:nvCxnSpPr>
              <p:cNvPr id="100366" name="AutoShape 14"/>
              <p:cNvCxnSpPr>
                <a:cxnSpLocks noChangeShapeType="1"/>
                <a:stCxn id="100358" idx="3"/>
                <a:endCxn id="100360" idx="1"/>
              </p:cNvCxnSpPr>
              <p:nvPr/>
            </p:nvCxnSpPr>
            <p:spPr bwMode="auto">
              <a:xfrm>
                <a:off x="6820" y="3675"/>
                <a:ext cx="801" cy="4"/>
              </a:xfrm>
              <a:prstGeom prst="straightConnector1">
                <a:avLst/>
              </a:prstGeom>
              <a:noFill/>
              <a:ln w="9525">
                <a:solidFill>
                  <a:srgbClr val="000000"/>
                </a:solidFill>
                <a:round/>
                <a:headEnd/>
                <a:tailEnd type="triangle" w="med" len="med"/>
              </a:ln>
            </p:spPr>
          </p:cxnSp>
          <p:cxnSp>
            <p:nvCxnSpPr>
              <p:cNvPr id="100367" name="AutoShape 15"/>
              <p:cNvCxnSpPr>
                <a:cxnSpLocks noChangeAspect="1" noChangeShapeType="1"/>
              </p:cNvCxnSpPr>
              <p:nvPr/>
            </p:nvCxnSpPr>
            <p:spPr bwMode="auto">
              <a:xfrm flipH="1">
                <a:off x="4409" y="3495"/>
                <a:ext cx="756" cy="1"/>
              </a:xfrm>
              <a:prstGeom prst="straightConnector1">
                <a:avLst/>
              </a:prstGeom>
              <a:noFill/>
              <a:ln w="9525">
                <a:solidFill>
                  <a:srgbClr val="000000"/>
                </a:solidFill>
                <a:round/>
                <a:headEnd/>
                <a:tailEnd type="triangle" w="med" len="med"/>
              </a:ln>
            </p:spPr>
          </p:cxnSp>
          <p:cxnSp>
            <p:nvCxnSpPr>
              <p:cNvPr id="100368" name="AutoShape 16"/>
              <p:cNvCxnSpPr>
                <a:cxnSpLocks noChangeAspect="1" noChangeShapeType="1"/>
              </p:cNvCxnSpPr>
              <p:nvPr/>
            </p:nvCxnSpPr>
            <p:spPr bwMode="auto">
              <a:xfrm>
                <a:off x="6452" y="4209"/>
                <a:ext cx="778" cy="444"/>
              </a:xfrm>
              <a:prstGeom prst="straightConnector1">
                <a:avLst/>
              </a:prstGeom>
              <a:noFill/>
              <a:ln w="9525">
                <a:solidFill>
                  <a:srgbClr val="000000"/>
                </a:solidFill>
                <a:round/>
                <a:headEnd/>
                <a:tailEnd type="triangle" w="med" len="med"/>
              </a:ln>
            </p:spPr>
          </p:cxnSp>
          <p:cxnSp>
            <p:nvCxnSpPr>
              <p:cNvPr id="100369" name="AutoShape 17"/>
              <p:cNvCxnSpPr>
                <a:cxnSpLocks noChangeAspect="1" noChangeShapeType="1"/>
              </p:cNvCxnSpPr>
              <p:nvPr/>
            </p:nvCxnSpPr>
            <p:spPr bwMode="auto">
              <a:xfrm flipV="1">
                <a:off x="8175" y="4076"/>
                <a:ext cx="382" cy="504"/>
              </a:xfrm>
              <a:prstGeom prst="straightConnector1">
                <a:avLst/>
              </a:prstGeom>
              <a:noFill/>
              <a:ln w="9525">
                <a:solidFill>
                  <a:srgbClr val="000000"/>
                </a:solidFill>
                <a:round/>
                <a:headEnd/>
                <a:tailEnd type="triangle" w="med" len="med"/>
              </a:ln>
            </p:spPr>
          </p:cxnSp>
          <p:cxnSp>
            <p:nvCxnSpPr>
              <p:cNvPr id="100370" name="AutoShape 18"/>
              <p:cNvCxnSpPr>
                <a:cxnSpLocks noChangeShapeType="1"/>
                <a:stCxn id="100362" idx="2"/>
                <a:endCxn id="100363" idx="0"/>
              </p:cNvCxnSpPr>
              <p:nvPr/>
            </p:nvCxnSpPr>
            <p:spPr bwMode="auto">
              <a:xfrm rot="5400000">
                <a:off x="5723" y="6411"/>
                <a:ext cx="553" cy="1"/>
              </a:xfrm>
              <a:prstGeom prst="straightConnector1">
                <a:avLst/>
              </a:prstGeom>
              <a:noFill/>
              <a:ln w="9525">
                <a:solidFill>
                  <a:srgbClr val="000000"/>
                </a:solidFill>
                <a:round/>
                <a:headEnd/>
                <a:tailEnd type="triangle" w="med" len="med"/>
              </a:ln>
            </p:spPr>
          </p:cxnSp>
          <p:cxnSp>
            <p:nvCxnSpPr>
              <p:cNvPr id="100371" name="AutoShape 19"/>
              <p:cNvCxnSpPr>
                <a:cxnSpLocks noChangeShapeType="1"/>
                <a:stCxn id="100357" idx="1"/>
                <a:endCxn id="100359" idx="0"/>
              </p:cNvCxnSpPr>
              <p:nvPr/>
            </p:nvCxnSpPr>
            <p:spPr bwMode="auto">
              <a:xfrm rot="10800000" flipV="1">
                <a:off x="3586" y="2288"/>
                <a:ext cx="1594" cy="982"/>
              </a:xfrm>
              <a:prstGeom prst="bentConnector2">
                <a:avLst/>
              </a:prstGeom>
              <a:noFill/>
              <a:ln w="9525">
                <a:solidFill>
                  <a:srgbClr val="000000"/>
                </a:solidFill>
                <a:miter lim="800000"/>
                <a:headEnd/>
                <a:tailEnd type="triangle" w="med" len="med"/>
              </a:ln>
            </p:spPr>
          </p:cxnSp>
          <p:cxnSp>
            <p:nvCxnSpPr>
              <p:cNvPr id="100372" name="AutoShape 20"/>
              <p:cNvCxnSpPr>
                <a:cxnSpLocks noChangeShapeType="1"/>
                <a:stCxn id="100357" idx="3"/>
                <a:endCxn id="100360" idx="0"/>
              </p:cNvCxnSpPr>
              <p:nvPr/>
            </p:nvCxnSpPr>
            <p:spPr bwMode="auto">
              <a:xfrm>
                <a:off x="6820" y="2288"/>
                <a:ext cx="1506" cy="1031"/>
              </a:xfrm>
              <a:prstGeom prst="bentConnector2">
                <a:avLst/>
              </a:prstGeom>
              <a:noFill/>
              <a:ln w="9525">
                <a:solidFill>
                  <a:srgbClr val="000000"/>
                </a:solidFill>
                <a:miter lim="800000"/>
                <a:headEnd/>
                <a:tailEnd type="triangle" w="med" len="med"/>
              </a:ln>
            </p:spPr>
          </p:cxnSp>
          <p:cxnSp>
            <p:nvCxnSpPr>
              <p:cNvPr id="100373" name="AutoShape 21"/>
              <p:cNvCxnSpPr>
                <a:cxnSpLocks noChangeShapeType="1"/>
                <a:stCxn id="100359" idx="2"/>
                <a:endCxn id="100362" idx="1"/>
              </p:cNvCxnSpPr>
              <p:nvPr/>
            </p:nvCxnSpPr>
            <p:spPr bwMode="auto">
              <a:xfrm rot="16200000" flipH="1">
                <a:off x="3723" y="4198"/>
                <a:ext cx="1320" cy="1594"/>
              </a:xfrm>
              <a:prstGeom prst="bentConnector2">
                <a:avLst/>
              </a:prstGeom>
              <a:noFill/>
              <a:ln w="9525">
                <a:solidFill>
                  <a:srgbClr val="000000"/>
                </a:solidFill>
                <a:miter lim="800000"/>
                <a:headEnd/>
                <a:tailEnd type="triangle" w="med" len="med"/>
              </a:ln>
            </p:spPr>
          </p:cxnSp>
          <p:cxnSp>
            <p:nvCxnSpPr>
              <p:cNvPr id="100374" name="AutoShape 22"/>
              <p:cNvCxnSpPr>
                <a:cxnSpLocks noChangeShapeType="1"/>
                <a:stCxn id="100360" idx="3"/>
                <a:endCxn id="100362" idx="3"/>
              </p:cNvCxnSpPr>
              <p:nvPr/>
            </p:nvCxnSpPr>
            <p:spPr bwMode="auto">
              <a:xfrm flipH="1">
                <a:off x="6820" y="3679"/>
                <a:ext cx="2210" cy="1976"/>
              </a:xfrm>
              <a:prstGeom prst="bentConnector3">
                <a:avLst>
                  <a:gd name="adj1" fmla="val -11712"/>
                </a:avLst>
              </a:prstGeom>
              <a:noFill/>
              <a:ln w="9525">
                <a:solidFill>
                  <a:srgbClr val="000000"/>
                </a:solidFill>
                <a:miter lim="800000"/>
                <a:headEnd/>
                <a:tailEnd type="triangle" w="med" len="med"/>
              </a:ln>
            </p:spPr>
          </p:cxnSp>
          <p:cxnSp>
            <p:nvCxnSpPr>
              <p:cNvPr id="100375" name="AutoShape 23"/>
              <p:cNvCxnSpPr>
                <a:cxnSpLocks noChangeAspect="1" noChangeShapeType="1"/>
              </p:cNvCxnSpPr>
              <p:nvPr/>
            </p:nvCxnSpPr>
            <p:spPr bwMode="auto">
              <a:xfrm>
                <a:off x="4410" y="3974"/>
                <a:ext cx="756" cy="1"/>
              </a:xfrm>
              <a:prstGeom prst="straightConnector1">
                <a:avLst/>
              </a:prstGeom>
              <a:noFill/>
              <a:ln w="9525">
                <a:solidFill>
                  <a:srgbClr val="000000"/>
                </a:solidFill>
                <a:round/>
                <a:headEnd/>
                <a:tailEnd type="triangle" w="med" len="med"/>
              </a:ln>
            </p:spPr>
          </p:cxnSp>
        </p:grpSp>
        <p:sp>
          <p:nvSpPr>
            <p:cNvPr id="100376" name="Text Box 24"/>
            <p:cNvSpPr txBox="1">
              <a:spLocks noChangeArrowheads="1"/>
            </p:cNvSpPr>
            <p:nvPr/>
          </p:nvSpPr>
          <p:spPr bwMode="auto">
            <a:xfrm>
              <a:off x="3713" y="7815"/>
              <a:ext cx="5081" cy="60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Fig.: Relationship among Research Issues</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gr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4648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Relationship among Problems</a:t>
            </a:r>
            <a:endParaRPr lang="en-US" sz="2000" dirty="0" smtClean="0">
              <a:latin typeface="Times New Roman" pitchFamily="18" charset="0"/>
              <a:cs typeface="Times New Roman" pitchFamily="18" charset="0"/>
            </a:endParaRP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The same information (i.e., fragment structure and placement) is used by the query processor to determine the query evaluation strategy. Similarly, directory placement and contents influence the processing of queries.</a:t>
            </a: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The replication of fragments when they are distributed affects the concurrency control strategies that might be employed. </a:t>
            </a: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Some concurrency control algorithms cannot be easily used with replicated databases.</a:t>
            </a:r>
          </a:p>
          <a:p>
            <a:pPr lvl="1" indent="-457200" algn="just">
              <a:buFont typeface="Wingdings" pitchFamily="2" charset="2"/>
              <a:buChar char="Ø"/>
            </a:pPr>
            <a:endParaRPr lang="en-US" sz="20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4648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Relationship among Problems</a:t>
            </a:r>
            <a:endParaRPr lang="en-US" sz="2000" dirty="0" smtClean="0">
              <a:latin typeface="Times New Roman" pitchFamily="18" charset="0"/>
              <a:cs typeface="Times New Roman" pitchFamily="18" charset="0"/>
            </a:endParaRP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There is a strong relationship among the concurrency control problem, the deadlock management problem, and reliability issues. The concurrency control algorithm that is employed will determine whether or not a separate deadlock management facility is required. If a locking-based algorithm is used, deadlocks will occur, whereas they will not if </a:t>
            </a:r>
            <a:r>
              <a:rPr lang="en-US" sz="2000" dirty="0" err="1" smtClean="0">
                <a:latin typeface="Times New Roman" pitchFamily="18" charset="0"/>
                <a:cs typeface="Times New Roman" pitchFamily="18" charset="0"/>
              </a:rPr>
              <a:t>timestamping</a:t>
            </a:r>
            <a:r>
              <a:rPr lang="en-US" sz="2000" dirty="0" smtClean="0">
                <a:latin typeface="Times New Roman" pitchFamily="18" charset="0"/>
                <a:cs typeface="Times New Roman" pitchFamily="18" charset="0"/>
              </a:rPr>
              <a:t> is the chosen alternative.</a:t>
            </a:r>
          </a:p>
          <a:p>
            <a:pPr lvl="1" indent="-457200" algn="just">
              <a:buFont typeface="Wingdings" pitchFamily="2" charset="2"/>
              <a:buChar char="Ø"/>
            </a:pPr>
            <a:r>
              <a:rPr lang="en-US" sz="2000" dirty="0" smtClean="0">
                <a:latin typeface="Times New Roman" pitchFamily="18" charset="0"/>
                <a:cs typeface="Times New Roman" pitchFamily="18" charset="0"/>
              </a:rPr>
              <a:t>Reliability mechanisms involve both local recovery techniques and distributed reliability protocols. Techniques to provide reliability also make use of data placement information since the existence of duplicate copies of the data serve as a safeguard to maintain reliable operation.</a:t>
            </a: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4648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Relationship among Problems</a:t>
            </a:r>
            <a:endParaRPr lang="en-US" sz="2000" dirty="0" smtClean="0">
              <a:latin typeface="Times New Roman" pitchFamily="18" charset="0"/>
              <a:cs typeface="Times New Roman" pitchFamily="18" charset="0"/>
            </a:endParaRP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Finally, the need for replication protocols arise if data distribution involves replicas.</a:t>
            </a: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6858000" cy="4572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 Distributed Database System</a:t>
            </a:r>
            <a:endParaRPr lang="en-US" sz="2000" dirty="0" smtClean="0">
              <a:latin typeface="Times New Roman" pitchFamily="18" charset="0"/>
              <a:cs typeface="Times New Roman" pitchFamily="18" charset="0"/>
            </a:endParaRPr>
          </a:p>
          <a:p>
            <a:pPr marL="119063" indent="-119063">
              <a:buFontTx/>
              <a:buChar char="•"/>
            </a:pPr>
            <a:endParaRPr lang="en-US" sz="2000" dirty="0" smtClean="0">
              <a:latin typeface="Times New Roman" pitchFamily="18" charset="0"/>
              <a:cs typeface="Times New Roman" pitchFamily="18" charset="0"/>
            </a:endParaRPr>
          </a:p>
          <a:p>
            <a:pPr marL="576263" lvl="1" indent="-119063">
              <a:lnSpc>
                <a:spcPts val="3000"/>
              </a:lnSpc>
              <a:buFont typeface="Wingdings" pitchFamily="2" charset="2"/>
              <a:buChar char="Ø"/>
            </a:pPr>
            <a:r>
              <a:rPr lang="en-US" sz="2000" dirty="0" smtClean="0">
                <a:latin typeface="Times New Roman" pitchFamily="18" charset="0"/>
                <a:cs typeface="Times New Roman" pitchFamily="18" charset="0"/>
              </a:rPr>
              <a:t>Each site has autonomous processing capability and can perform </a:t>
            </a:r>
            <a:r>
              <a:rPr lang="en-US" sz="2000" dirty="0" smtClean="0">
                <a:solidFill>
                  <a:srgbClr val="0000CC"/>
                </a:solidFill>
                <a:latin typeface="Times New Roman" pitchFamily="18" charset="0"/>
                <a:cs typeface="Times New Roman" pitchFamily="18" charset="0"/>
              </a:rPr>
              <a:t>local applications.</a:t>
            </a:r>
          </a:p>
          <a:p>
            <a:pPr marL="576263" lvl="1" indent="-119063">
              <a:lnSpc>
                <a:spcPts val="3000"/>
              </a:lnSpc>
              <a:buFont typeface="Wingdings" pitchFamily="2" charset="2"/>
              <a:buChar char="Ø"/>
            </a:pPr>
            <a:endParaRPr lang="en-US" sz="2000" dirty="0" smtClean="0">
              <a:solidFill>
                <a:srgbClr val="0000CC"/>
              </a:solidFill>
              <a:latin typeface="Times New Roman" pitchFamily="18" charset="0"/>
              <a:cs typeface="Times New Roman" pitchFamily="18" charset="0"/>
            </a:endParaRPr>
          </a:p>
          <a:p>
            <a:pPr marL="576263" lvl="1" indent="-119063">
              <a:lnSpc>
                <a:spcPts val="3000"/>
              </a:lnSpc>
              <a:buFont typeface="Wingdings" pitchFamily="2" charset="2"/>
              <a:buChar char="Ø"/>
            </a:pPr>
            <a:r>
              <a:rPr lang="en-US" sz="2000" dirty="0" smtClean="0">
                <a:latin typeface="Times New Roman" pitchFamily="18" charset="0"/>
                <a:cs typeface="Times New Roman" pitchFamily="18" charset="0"/>
              </a:rPr>
              <a:t> Each site also participates in the execution of at least one </a:t>
            </a:r>
            <a:r>
              <a:rPr lang="en-US" sz="2000" dirty="0" smtClean="0">
                <a:solidFill>
                  <a:srgbClr val="0000CC"/>
                </a:solidFill>
                <a:latin typeface="Times New Roman" pitchFamily="18" charset="0"/>
                <a:cs typeface="Times New Roman" pitchFamily="18" charset="0"/>
              </a:rPr>
              <a:t>global   application</a:t>
            </a:r>
            <a:r>
              <a:rPr lang="en-US" sz="2000" dirty="0" smtClean="0">
                <a:latin typeface="Times New Roman" pitchFamily="18" charset="0"/>
                <a:cs typeface="Times New Roman" pitchFamily="18" charset="0"/>
              </a:rPr>
              <a:t> which requires accessing data at several sites.</a:t>
            </a:r>
            <a:endParaRPr lang="en-IE" sz="2000" b="1" dirty="0" smtClean="0">
              <a:latin typeface="Times New Roman" pitchFamily="18" charset="0"/>
              <a:cs typeface="Times New Roman" pitchFamily="18" charset="0"/>
              <a:sym typeface="Symbol" pitchFamily="18" charset="2"/>
            </a:endParaRPr>
          </a:p>
          <a:p>
            <a:pPr algn="just">
              <a:lnSpc>
                <a:spcPts val="3000"/>
              </a:lnSpc>
            </a:pP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p>
          <a:p>
            <a:pPr lvl="0" algn="just"/>
            <a:endParaRPr lang="en-US" sz="2000" b="1"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162800" cy="4724400"/>
          </a:xfrm>
          <a:prstGeom prst="rect">
            <a:avLst/>
          </a:prstGeom>
        </p:spPr>
        <p:txBody>
          <a:bodyPr/>
          <a:lstStyle/>
          <a:p>
            <a:pPr indent="-457200" algn="just">
              <a:buFont typeface="Wingdings" pitchFamily="2" charset="2"/>
              <a:buChar char="q"/>
            </a:pPr>
            <a:r>
              <a:rPr lang="en-US" sz="2000" b="1" dirty="0" smtClean="0">
                <a:latin typeface="Times New Roman" pitchFamily="18" charset="0"/>
                <a:cs typeface="Times New Roman" pitchFamily="18" charset="0"/>
              </a:rPr>
              <a:t> Distributed DBMS Architecture</a:t>
            </a:r>
            <a:endParaRPr lang="en-US" sz="2000" dirty="0" smtClean="0">
              <a:latin typeface="Times New Roman" pitchFamily="18" charset="0"/>
              <a:cs typeface="Times New Roman" pitchFamily="18" charset="0"/>
            </a:endParaRPr>
          </a:p>
          <a:p>
            <a:pPr indent="-457200" algn="just"/>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The architecture of a system defines its structure. This means that the components of the system are identified, the function of each component is specified, and the interrelationships and interactions among these components are defined.</a:t>
            </a:r>
          </a:p>
          <a:p>
            <a:pPr lvl="1" indent="-457200" algn="just"/>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Three reference architectures for a distributed DBMS:</a:t>
            </a:r>
          </a:p>
          <a:p>
            <a:pPr lvl="3" indent="-457200" algn="just">
              <a:buFont typeface="+mj-lt"/>
              <a:buAutoNum type="arabicPeriod"/>
            </a:pPr>
            <a:r>
              <a:rPr lang="en-US" sz="2000" dirty="0" smtClean="0">
                <a:latin typeface="Times New Roman" pitchFamily="18" charset="0"/>
                <a:cs typeface="Times New Roman" pitchFamily="18" charset="0"/>
              </a:rPr>
              <a:t>Client/Server systems</a:t>
            </a:r>
          </a:p>
          <a:p>
            <a:pPr lvl="3" indent="-457200" algn="just">
              <a:buFont typeface="+mj-lt"/>
              <a:buAutoNum type="arabicPeriod"/>
            </a:pPr>
            <a:r>
              <a:rPr lang="en-US" sz="2000" dirty="0" smtClean="0">
                <a:latin typeface="Times New Roman" pitchFamily="18" charset="0"/>
                <a:cs typeface="Times New Roman" pitchFamily="18" charset="0"/>
              </a:rPr>
              <a:t>Peer-to-Peer distributed DBMS and </a:t>
            </a:r>
          </a:p>
          <a:p>
            <a:pPr lvl="3" indent="-457200" algn="just">
              <a:buFont typeface="+mj-lt"/>
              <a:buAutoNum type="arabicPeriod"/>
            </a:pPr>
            <a:r>
              <a:rPr lang="en-US" sz="2000" dirty="0" err="1" smtClean="0">
                <a:latin typeface="Times New Roman" pitchFamily="18" charset="0"/>
                <a:cs typeface="Times New Roman" pitchFamily="18" charset="0"/>
              </a:rPr>
              <a:t>Multidatabase</a:t>
            </a:r>
            <a:r>
              <a:rPr lang="en-US" sz="2000" dirty="0" smtClean="0">
                <a:latin typeface="Times New Roman" pitchFamily="18" charset="0"/>
                <a:cs typeface="Times New Roman" pitchFamily="18" charset="0"/>
              </a:rPr>
              <a:t> systems.</a:t>
            </a:r>
          </a:p>
          <a:p>
            <a:pPr lvl="3" indent="-457200" algn="just">
              <a:buFont typeface="+mj-lt"/>
              <a:buAutoNum type="arabicPeriod"/>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A reference architecture is commonly created by standards developers to clearly define the interfaces that need to be standardized.</a:t>
            </a:r>
          </a:p>
          <a:p>
            <a:pPr indent="-457200" algn="just"/>
            <a:r>
              <a:rPr lang="en-US" sz="2000" dirty="0" smtClean="0">
                <a:latin typeface="Times New Roman" pitchFamily="18" charset="0"/>
                <a:cs typeface="Times New Roman" pitchFamily="18" charset="0"/>
              </a:rPr>
              <a:t> </a:t>
            </a:r>
          </a:p>
          <a:p>
            <a:pPr lvl="0" indent="-457200" algn="just"/>
            <a:endParaRPr lang="en-US" sz="2000" b="1"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162800" cy="4724400"/>
          </a:xfrm>
          <a:prstGeom prst="rect">
            <a:avLst/>
          </a:prstGeom>
        </p:spPr>
        <p:txBody>
          <a:bodyPr/>
          <a:lstStyle/>
          <a:p>
            <a:pPr indent="-457200" algn="just">
              <a:buFont typeface="Wingdings" pitchFamily="2" charset="2"/>
              <a:buChar char="q"/>
            </a:pPr>
            <a:r>
              <a:rPr lang="en-US" sz="2000" b="1" dirty="0" smtClean="0">
                <a:latin typeface="Times New Roman" pitchFamily="18" charset="0"/>
                <a:cs typeface="Times New Roman" pitchFamily="18" charset="0"/>
              </a:rPr>
              <a:t>ANSI/SPARC Architecture</a:t>
            </a:r>
            <a:endParaRPr lang="en-US" sz="2000" dirty="0" smtClean="0">
              <a:latin typeface="Times New Roman" pitchFamily="18" charset="0"/>
              <a:cs typeface="Times New Roman" pitchFamily="18" charset="0"/>
            </a:endParaRPr>
          </a:p>
          <a:p>
            <a:pPr indent="-457200" algn="just"/>
            <a:endParaRPr lang="en-US" sz="2000" dirty="0" smtClean="0">
              <a:latin typeface="Times New Roman" pitchFamily="18" charset="0"/>
              <a:cs typeface="Times New Roman" pitchFamily="18" charset="0"/>
            </a:endParaRPr>
          </a:p>
          <a:p>
            <a:pPr indent="-457200" algn="just"/>
            <a:r>
              <a:rPr lang="en-US" sz="2000" dirty="0" smtClean="0">
                <a:latin typeface="Times New Roman" pitchFamily="18" charset="0"/>
                <a:cs typeface="Times New Roman" pitchFamily="18" charset="0"/>
              </a:rPr>
              <a:t>A simplified version of the ANSI/SPARC architecture is depicted in the following Figure. </a:t>
            </a:r>
          </a:p>
          <a:p>
            <a:pPr indent="-457200" algn="just"/>
            <a:endParaRPr lang="en-US" sz="2000" dirty="0" smtClean="0">
              <a:latin typeface="Times New Roman" pitchFamily="18" charset="0"/>
              <a:cs typeface="Times New Roman" pitchFamily="18" charset="0"/>
            </a:endParaRPr>
          </a:p>
          <a:p>
            <a:pPr lvl="1" indent="-457200" algn="just"/>
            <a:r>
              <a:rPr lang="en-US" sz="2000" dirty="0" smtClean="0">
                <a:latin typeface="Times New Roman" pitchFamily="18" charset="0"/>
                <a:cs typeface="Times New Roman" pitchFamily="18" charset="0"/>
              </a:rPr>
              <a:t>There are three views of data: </a:t>
            </a:r>
          </a:p>
          <a:p>
            <a:pPr lvl="1" indent="-457200" algn="just"/>
            <a:endParaRPr lang="en-US" sz="2000" dirty="0" smtClean="0">
              <a:latin typeface="Times New Roman" pitchFamily="18" charset="0"/>
              <a:cs typeface="Times New Roman" pitchFamily="18" charset="0"/>
            </a:endParaRPr>
          </a:p>
          <a:p>
            <a:pPr lvl="2" indent="-457200">
              <a:buFont typeface="Wingdings" pitchFamily="2" charset="2"/>
              <a:buChar char="Ø"/>
            </a:pPr>
            <a:r>
              <a:rPr lang="en-US" sz="2000" b="1" dirty="0" smtClean="0">
                <a:latin typeface="Times New Roman" pitchFamily="18" charset="0"/>
                <a:cs typeface="Times New Roman" pitchFamily="18" charset="0"/>
              </a:rPr>
              <a:t>External view</a:t>
            </a:r>
            <a:r>
              <a:rPr lang="en-US" sz="2000" dirty="0" smtClean="0">
                <a:latin typeface="Times New Roman" pitchFamily="18" charset="0"/>
                <a:cs typeface="Times New Roman" pitchFamily="18" charset="0"/>
              </a:rPr>
              <a:t>, which is that of the end user, </a:t>
            </a:r>
          </a:p>
          <a:p>
            <a:pPr lvl="2" indent="-457200">
              <a:buFont typeface="Wingdings" pitchFamily="2" charset="2"/>
              <a:buChar char="Ø"/>
            </a:pPr>
            <a:r>
              <a:rPr lang="en-US" sz="2000" b="1" dirty="0" smtClean="0">
                <a:latin typeface="Times New Roman" pitchFamily="18" charset="0"/>
                <a:cs typeface="Times New Roman" pitchFamily="18" charset="0"/>
              </a:rPr>
              <a:t>Internal view</a:t>
            </a:r>
            <a:r>
              <a:rPr lang="en-US" sz="2000" dirty="0" smtClean="0">
                <a:latin typeface="Times New Roman" pitchFamily="18" charset="0"/>
                <a:cs typeface="Times New Roman" pitchFamily="18" charset="0"/>
              </a:rPr>
              <a:t>, that of the system or machine</a:t>
            </a:r>
          </a:p>
          <a:p>
            <a:pPr lvl="2" indent="-457200">
              <a:buFont typeface="Wingdings" pitchFamily="2" charset="2"/>
              <a:buChar char="Ø"/>
            </a:pPr>
            <a:r>
              <a:rPr lang="en-US" sz="2000" b="1" dirty="0" smtClean="0">
                <a:latin typeface="Times New Roman" pitchFamily="18" charset="0"/>
                <a:cs typeface="Times New Roman" pitchFamily="18" charset="0"/>
              </a:rPr>
              <a:t>Conceptual view</a:t>
            </a:r>
            <a:r>
              <a:rPr lang="en-US" sz="2000" dirty="0" smtClean="0">
                <a:latin typeface="Times New Roman" pitchFamily="18" charset="0"/>
                <a:cs typeface="Times New Roman" pitchFamily="18" charset="0"/>
              </a:rPr>
              <a:t>, that of the enterprise. For each of these views, an appropriate schema definition is required.</a:t>
            </a:r>
            <a:endParaRPr lang="en-US" sz="2000" b="1"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162800" cy="533400"/>
          </a:xfrm>
          <a:prstGeom prst="rect">
            <a:avLst/>
          </a:prstGeom>
        </p:spPr>
        <p:txBody>
          <a:bodyPr/>
          <a:lstStyle/>
          <a:p>
            <a:pPr indent="-457200" algn="just">
              <a:buFont typeface="Wingdings" pitchFamily="2" charset="2"/>
              <a:buChar char="q"/>
            </a:pPr>
            <a:r>
              <a:rPr lang="en-US" sz="2000" b="1" dirty="0" smtClean="0">
                <a:latin typeface="Times New Roman" pitchFamily="18" charset="0"/>
                <a:cs typeface="Times New Roman" pitchFamily="18" charset="0"/>
              </a:rPr>
              <a:t>ANSI/SPARC Architecture</a:t>
            </a:r>
            <a:endParaRPr lang="en-US" sz="2000" dirty="0" smtClean="0">
              <a:latin typeface="Times New Roman" pitchFamily="18" charset="0"/>
              <a:cs typeface="Times New Roman" pitchFamily="18" charset="0"/>
            </a:endParaRPr>
          </a:p>
          <a:p>
            <a:pPr indent="-457200" algn="just"/>
            <a:endParaRPr lang="en-US" sz="20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100354" name="Group 2"/>
          <p:cNvGrpSpPr>
            <a:grpSpLocks noChangeAspect="1"/>
          </p:cNvGrpSpPr>
          <p:nvPr/>
        </p:nvGrpSpPr>
        <p:grpSpPr bwMode="auto">
          <a:xfrm>
            <a:off x="609600" y="1981200"/>
            <a:ext cx="8194263" cy="4343400"/>
            <a:chOff x="1665" y="2460"/>
            <a:chExt cx="9135" cy="3915"/>
          </a:xfrm>
        </p:grpSpPr>
        <p:sp>
          <p:nvSpPr>
            <p:cNvPr id="100355" name="AutoShape 3"/>
            <p:cNvSpPr>
              <a:spLocks noChangeAspect="1" noChangeArrowheads="1"/>
            </p:cNvSpPr>
            <p:nvPr/>
          </p:nvSpPr>
          <p:spPr bwMode="auto">
            <a:xfrm>
              <a:off x="1665" y="2460"/>
              <a:ext cx="9135" cy="3915"/>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pSp>
          <p:nvGrpSpPr>
            <p:cNvPr id="100356" name="Group 4"/>
            <p:cNvGrpSpPr>
              <a:grpSpLocks/>
            </p:cNvGrpSpPr>
            <p:nvPr/>
          </p:nvGrpSpPr>
          <p:grpSpPr bwMode="auto">
            <a:xfrm>
              <a:off x="2514" y="2700"/>
              <a:ext cx="6751" cy="3675"/>
              <a:chOff x="2019" y="2700"/>
              <a:chExt cx="6751" cy="3675"/>
            </a:xfrm>
          </p:grpSpPr>
          <p:sp>
            <p:nvSpPr>
              <p:cNvPr id="100357" name="Text Box 5"/>
              <p:cNvSpPr txBox="1">
                <a:spLocks noChangeArrowheads="1"/>
              </p:cNvSpPr>
              <p:nvPr/>
            </p:nvSpPr>
            <p:spPr bwMode="auto">
              <a:xfrm>
                <a:off x="4313" y="5925"/>
                <a:ext cx="4457" cy="45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Fig.: The ANSI/SPARC Architecture</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0358" name="Text Box 6"/>
              <p:cNvSpPr txBox="1">
                <a:spLocks noChangeArrowheads="1"/>
              </p:cNvSpPr>
              <p:nvPr/>
            </p:nvSpPr>
            <p:spPr bwMode="auto">
              <a:xfrm>
                <a:off x="5730" y="5190"/>
                <a:ext cx="1409" cy="567"/>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Internal View</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0359" name="Text Box 7"/>
              <p:cNvSpPr txBox="1">
                <a:spLocks noChangeArrowheads="1"/>
              </p:cNvSpPr>
              <p:nvPr/>
            </p:nvSpPr>
            <p:spPr bwMode="auto">
              <a:xfrm>
                <a:off x="5550" y="4365"/>
                <a:ext cx="1754" cy="568"/>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Conceptual View</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0360" name="Text Box 8"/>
              <p:cNvSpPr txBox="1">
                <a:spLocks noChangeArrowheads="1"/>
              </p:cNvSpPr>
              <p:nvPr/>
            </p:nvSpPr>
            <p:spPr bwMode="auto">
              <a:xfrm>
                <a:off x="4364" y="3540"/>
                <a:ext cx="1231" cy="500"/>
              </a:xfrm>
              <a:prstGeom prst="rect">
                <a:avLst/>
              </a:prstGeom>
              <a:solidFill>
                <a:srgbClr val="FFFFFF">
                  <a:alpha val="0"/>
                </a:srgbClr>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External View</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cxnSp>
            <p:nvCxnSpPr>
              <p:cNvPr id="100361" name="AutoShape 9"/>
              <p:cNvCxnSpPr>
                <a:cxnSpLocks noChangeShapeType="1"/>
                <a:stCxn id="100359" idx="2"/>
                <a:endCxn id="100358" idx="0"/>
              </p:cNvCxnSpPr>
              <p:nvPr/>
            </p:nvCxnSpPr>
            <p:spPr bwMode="auto">
              <a:xfrm rot="16200000" flipH="1">
                <a:off x="6302" y="5058"/>
                <a:ext cx="257" cy="8"/>
              </a:xfrm>
              <a:prstGeom prst="straightConnector1">
                <a:avLst/>
              </a:prstGeom>
              <a:noFill/>
              <a:ln w="9525">
                <a:solidFill>
                  <a:srgbClr val="000000"/>
                </a:solidFill>
                <a:round/>
                <a:headEnd/>
                <a:tailEnd/>
              </a:ln>
            </p:spPr>
          </p:cxnSp>
          <p:sp>
            <p:nvSpPr>
              <p:cNvPr id="100362" name="Text Box 10"/>
              <p:cNvSpPr txBox="1">
                <a:spLocks noChangeArrowheads="1"/>
              </p:cNvSpPr>
              <p:nvPr/>
            </p:nvSpPr>
            <p:spPr bwMode="auto">
              <a:xfrm>
                <a:off x="5805" y="3540"/>
                <a:ext cx="1231" cy="500"/>
              </a:xfrm>
              <a:prstGeom prst="rect">
                <a:avLst/>
              </a:prstGeom>
              <a:solidFill>
                <a:srgbClr val="FFFFFF">
                  <a:alpha val="0"/>
                </a:srgbClr>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External View</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0363" name="Text Box 11"/>
              <p:cNvSpPr txBox="1">
                <a:spLocks noChangeArrowheads="1"/>
              </p:cNvSpPr>
              <p:nvPr/>
            </p:nvSpPr>
            <p:spPr bwMode="auto">
              <a:xfrm>
                <a:off x="7231" y="3540"/>
                <a:ext cx="1231" cy="500"/>
              </a:xfrm>
              <a:prstGeom prst="rect">
                <a:avLst/>
              </a:prstGeom>
              <a:solidFill>
                <a:srgbClr val="FFFFFF">
                  <a:alpha val="0"/>
                </a:srgbClr>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External View</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0364" name="Text Box 12"/>
              <p:cNvSpPr txBox="1">
                <a:spLocks noChangeArrowheads="1"/>
              </p:cNvSpPr>
              <p:nvPr/>
            </p:nvSpPr>
            <p:spPr bwMode="auto">
              <a:xfrm>
                <a:off x="2274" y="2803"/>
                <a:ext cx="930" cy="28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Users</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0365" name="Text Box 13"/>
              <p:cNvSpPr txBox="1">
                <a:spLocks noChangeArrowheads="1"/>
              </p:cNvSpPr>
              <p:nvPr/>
            </p:nvSpPr>
            <p:spPr bwMode="auto">
              <a:xfrm>
                <a:off x="2104" y="3540"/>
                <a:ext cx="1440" cy="500"/>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External Schema</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0366" name="Text Box 14"/>
              <p:cNvSpPr txBox="1">
                <a:spLocks noChangeArrowheads="1"/>
              </p:cNvSpPr>
              <p:nvPr/>
            </p:nvSpPr>
            <p:spPr bwMode="auto">
              <a:xfrm>
                <a:off x="2019" y="4434"/>
                <a:ext cx="1710" cy="568"/>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Conceptual Schema</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0367" name="Text Box 15"/>
              <p:cNvSpPr txBox="1">
                <a:spLocks noChangeArrowheads="1"/>
              </p:cNvSpPr>
              <p:nvPr/>
            </p:nvSpPr>
            <p:spPr bwMode="auto">
              <a:xfrm>
                <a:off x="2104" y="5345"/>
                <a:ext cx="1710" cy="28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Internal Schema</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grpSp>
            <p:nvGrpSpPr>
              <p:cNvPr id="100368" name="Group 16"/>
              <p:cNvGrpSpPr>
                <a:grpSpLocks/>
              </p:cNvGrpSpPr>
              <p:nvPr/>
            </p:nvGrpSpPr>
            <p:grpSpPr bwMode="auto">
              <a:xfrm>
                <a:off x="4169" y="2700"/>
                <a:ext cx="705" cy="555"/>
                <a:chOff x="3914" y="2880"/>
                <a:chExt cx="705" cy="555"/>
              </a:xfrm>
            </p:grpSpPr>
            <p:sp>
              <p:nvSpPr>
                <p:cNvPr id="100369" name="AutoShape 17"/>
                <p:cNvSpPr>
                  <a:spLocks noChangeArrowheads="1"/>
                </p:cNvSpPr>
                <p:nvPr/>
              </p:nvSpPr>
              <p:spPr bwMode="auto">
                <a:xfrm>
                  <a:off x="4019" y="2880"/>
                  <a:ext cx="600" cy="360"/>
                </a:xfrm>
                <a:prstGeom prst="bevel">
                  <a:avLst>
                    <a:gd name="adj" fmla="val 125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0370" name="AutoShape 18"/>
                <p:cNvSpPr>
                  <a:spLocks noChangeArrowheads="1"/>
                </p:cNvSpPr>
                <p:nvPr/>
              </p:nvSpPr>
              <p:spPr bwMode="auto">
                <a:xfrm>
                  <a:off x="3914" y="3270"/>
                  <a:ext cx="675" cy="165"/>
                </a:xfrm>
                <a:prstGeom prst="flowChartInputOutpu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00371" name="Group 19"/>
              <p:cNvGrpSpPr>
                <a:grpSpLocks/>
              </p:cNvGrpSpPr>
              <p:nvPr/>
            </p:nvGrpSpPr>
            <p:grpSpPr bwMode="auto">
              <a:xfrm>
                <a:off x="5024" y="2700"/>
                <a:ext cx="705" cy="555"/>
                <a:chOff x="3914" y="2880"/>
                <a:chExt cx="705" cy="555"/>
              </a:xfrm>
            </p:grpSpPr>
            <p:sp>
              <p:nvSpPr>
                <p:cNvPr id="100372" name="AutoShape 20"/>
                <p:cNvSpPr>
                  <a:spLocks noChangeArrowheads="1"/>
                </p:cNvSpPr>
                <p:nvPr/>
              </p:nvSpPr>
              <p:spPr bwMode="auto">
                <a:xfrm>
                  <a:off x="4019" y="2880"/>
                  <a:ext cx="600" cy="360"/>
                </a:xfrm>
                <a:prstGeom prst="bevel">
                  <a:avLst>
                    <a:gd name="adj" fmla="val 125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0373" name="AutoShape 21"/>
                <p:cNvSpPr>
                  <a:spLocks noChangeArrowheads="1"/>
                </p:cNvSpPr>
                <p:nvPr/>
              </p:nvSpPr>
              <p:spPr bwMode="auto">
                <a:xfrm>
                  <a:off x="3914" y="3270"/>
                  <a:ext cx="675" cy="165"/>
                </a:xfrm>
                <a:prstGeom prst="flowChartInputOutpu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00374" name="Group 22"/>
              <p:cNvGrpSpPr>
                <a:grpSpLocks/>
              </p:cNvGrpSpPr>
              <p:nvPr/>
            </p:nvGrpSpPr>
            <p:grpSpPr bwMode="auto">
              <a:xfrm>
                <a:off x="6060" y="2700"/>
                <a:ext cx="705" cy="555"/>
                <a:chOff x="3914" y="2880"/>
                <a:chExt cx="705" cy="555"/>
              </a:xfrm>
            </p:grpSpPr>
            <p:sp>
              <p:nvSpPr>
                <p:cNvPr id="100375" name="AutoShape 23"/>
                <p:cNvSpPr>
                  <a:spLocks noChangeArrowheads="1"/>
                </p:cNvSpPr>
                <p:nvPr/>
              </p:nvSpPr>
              <p:spPr bwMode="auto">
                <a:xfrm>
                  <a:off x="4019" y="2880"/>
                  <a:ext cx="600" cy="360"/>
                </a:xfrm>
                <a:prstGeom prst="bevel">
                  <a:avLst>
                    <a:gd name="adj" fmla="val 125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0376" name="AutoShape 24"/>
                <p:cNvSpPr>
                  <a:spLocks noChangeArrowheads="1"/>
                </p:cNvSpPr>
                <p:nvPr/>
              </p:nvSpPr>
              <p:spPr bwMode="auto">
                <a:xfrm>
                  <a:off x="3914" y="3270"/>
                  <a:ext cx="675" cy="165"/>
                </a:xfrm>
                <a:prstGeom prst="flowChartInputOutpu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00377" name="Group 25"/>
              <p:cNvGrpSpPr>
                <a:grpSpLocks/>
              </p:cNvGrpSpPr>
              <p:nvPr/>
            </p:nvGrpSpPr>
            <p:grpSpPr bwMode="auto">
              <a:xfrm>
                <a:off x="6990" y="2700"/>
                <a:ext cx="705" cy="555"/>
                <a:chOff x="3914" y="2880"/>
                <a:chExt cx="705" cy="555"/>
              </a:xfrm>
            </p:grpSpPr>
            <p:sp>
              <p:nvSpPr>
                <p:cNvPr id="100378" name="AutoShape 26"/>
                <p:cNvSpPr>
                  <a:spLocks noChangeArrowheads="1"/>
                </p:cNvSpPr>
                <p:nvPr/>
              </p:nvSpPr>
              <p:spPr bwMode="auto">
                <a:xfrm>
                  <a:off x="4019" y="2880"/>
                  <a:ext cx="600" cy="360"/>
                </a:xfrm>
                <a:prstGeom prst="bevel">
                  <a:avLst>
                    <a:gd name="adj" fmla="val 125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0379" name="AutoShape 27"/>
                <p:cNvSpPr>
                  <a:spLocks noChangeArrowheads="1"/>
                </p:cNvSpPr>
                <p:nvPr/>
              </p:nvSpPr>
              <p:spPr bwMode="auto">
                <a:xfrm>
                  <a:off x="3914" y="3270"/>
                  <a:ext cx="675" cy="165"/>
                </a:xfrm>
                <a:prstGeom prst="flowChartInputOutpu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00380" name="Group 28"/>
              <p:cNvGrpSpPr>
                <a:grpSpLocks/>
              </p:cNvGrpSpPr>
              <p:nvPr/>
            </p:nvGrpSpPr>
            <p:grpSpPr bwMode="auto">
              <a:xfrm>
                <a:off x="7844" y="2700"/>
                <a:ext cx="705" cy="555"/>
                <a:chOff x="3914" y="2880"/>
                <a:chExt cx="705" cy="555"/>
              </a:xfrm>
            </p:grpSpPr>
            <p:sp>
              <p:nvSpPr>
                <p:cNvPr id="100381" name="AutoShape 29"/>
                <p:cNvSpPr>
                  <a:spLocks noChangeArrowheads="1"/>
                </p:cNvSpPr>
                <p:nvPr/>
              </p:nvSpPr>
              <p:spPr bwMode="auto">
                <a:xfrm>
                  <a:off x="4019" y="2880"/>
                  <a:ext cx="600" cy="360"/>
                </a:xfrm>
                <a:prstGeom prst="bevel">
                  <a:avLst>
                    <a:gd name="adj" fmla="val 125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0382" name="AutoShape 30"/>
                <p:cNvSpPr>
                  <a:spLocks noChangeArrowheads="1"/>
                </p:cNvSpPr>
                <p:nvPr/>
              </p:nvSpPr>
              <p:spPr bwMode="auto">
                <a:xfrm>
                  <a:off x="3914" y="3270"/>
                  <a:ext cx="675" cy="165"/>
                </a:xfrm>
                <a:prstGeom prst="flowChartInputOutpu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100383" name="Oval 31"/>
              <p:cNvSpPr>
                <a:spLocks noChangeArrowheads="1"/>
              </p:cNvSpPr>
              <p:nvPr/>
            </p:nvSpPr>
            <p:spPr bwMode="auto">
              <a:xfrm>
                <a:off x="4349" y="2790"/>
                <a:ext cx="435" cy="18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0384" name="Oval 32"/>
              <p:cNvSpPr>
                <a:spLocks noChangeArrowheads="1"/>
              </p:cNvSpPr>
              <p:nvPr/>
            </p:nvSpPr>
            <p:spPr bwMode="auto">
              <a:xfrm>
                <a:off x="5219" y="2790"/>
                <a:ext cx="435" cy="18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0385" name="Oval 33"/>
              <p:cNvSpPr>
                <a:spLocks noChangeArrowheads="1"/>
              </p:cNvSpPr>
              <p:nvPr/>
            </p:nvSpPr>
            <p:spPr bwMode="auto">
              <a:xfrm>
                <a:off x="6254" y="2790"/>
                <a:ext cx="435" cy="18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0386" name="Oval 34"/>
              <p:cNvSpPr>
                <a:spLocks noChangeArrowheads="1"/>
              </p:cNvSpPr>
              <p:nvPr/>
            </p:nvSpPr>
            <p:spPr bwMode="auto">
              <a:xfrm>
                <a:off x="7199" y="2790"/>
                <a:ext cx="435" cy="18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0387" name="Oval 35"/>
              <p:cNvSpPr>
                <a:spLocks noChangeArrowheads="1"/>
              </p:cNvSpPr>
              <p:nvPr/>
            </p:nvSpPr>
            <p:spPr bwMode="auto">
              <a:xfrm>
                <a:off x="8024" y="2790"/>
                <a:ext cx="435" cy="18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100388" name="AutoShape 36"/>
              <p:cNvCxnSpPr>
                <a:cxnSpLocks noChangeShapeType="1"/>
                <a:stCxn id="100370" idx="3"/>
                <a:endCxn id="100360" idx="0"/>
              </p:cNvCxnSpPr>
              <p:nvPr/>
            </p:nvCxnSpPr>
            <p:spPr bwMode="auto">
              <a:xfrm rot="16200000" flipH="1">
                <a:off x="4567" y="3127"/>
                <a:ext cx="285" cy="540"/>
              </a:xfrm>
              <a:prstGeom prst="straightConnector1">
                <a:avLst/>
              </a:prstGeom>
              <a:noFill/>
              <a:ln w="9525">
                <a:solidFill>
                  <a:srgbClr val="000000"/>
                </a:solidFill>
                <a:round/>
                <a:headEnd/>
                <a:tailEnd/>
              </a:ln>
            </p:spPr>
          </p:cxnSp>
          <p:cxnSp>
            <p:nvCxnSpPr>
              <p:cNvPr id="100389" name="AutoShape 37"/>
              <p:cNvCxnSpPr>
                <a:cxnSpLocks noChangeShapeType="1"/>
                <a:stCxn id="100373" idx="4"/>
                <a:endCxn id="100360" idx="0"/>
              </p:cNvCxnSpPr>
              <p:nvPr/>
            </p:nvCxnSpPr>
            <p:spPr bwMode="auto">
              <a:xfrm rot="5400000">
                <a:off x="5028" y="3206"/>
                <a:ext cx="285" cy="382"/>
              </a:xfrm>
              <a:prstGeom prst="straightConnector1">
                <a:avLst/>
              </a:prstGeom>
              <a:noFill/>
              <a:ln w="9525">
                <a:solidFill>
                  <a:srgbClr val="000000"/>
                </a:solidFill>
                <a:round/>
                <a:headEnd/>
                <a:tailEnd/>
              </a:ln>
            </p:spPr>
          </p:cxnSp>
          <p:cxnSp>
            <p:nvCxnSpPr>
              <p:cNvPr id="100390" name="AutoShape 38"/>
              <p:cNvCxnSpPr>
                <a:cxnSpLocks noChangeShapeType="1"/>
                <a:stCxn id="100376" idx="3"/>
                <a:endCxn id="100362" idx="0"/>
              </p:cNvCxnSpPr>
              <p:nvPr/>
            </p:nvCxnSpPr>
            <p:spPr bwMode="auto">
              <a:xfrm rot="16200000" flipH="1">
                <a:off x="6233" y="3352"/>
                <a:ext cx="285" cy="91"/>
              </a:xfrm>
              <a:prstGeom prst="straightConnector1">
                <a:avLst/>
              </a:prstGeom>
              <a:noFill/>
              <a:ln w="9525">
                <a:solidFill>
                  <a:srgbClr val="000000"/>
                </a:solidFill>
                <a:round/>
                <a:headEnd/>
                <a:tailEnd/>
              </a:ln>
            </p:spPr>
          </p:cxnSp>
          <p:cxnSp>
            <p:nvCxnSpPr>
              <p:cNvPr id="100391" name="AutoShape 39"/>
              <p:cNvCxnSpPr>
                <a:cxnSpLocks noChangeShapeType="1"/>
                <a:stCxn id="100379" idx="4"/>
                <a:endCxn id="100363" idx="0"/>
              </p:cNvCxnSpPr>
              <p:nvPr/>
            </p:nvCxnSpPr>
            <p:spPr bwMode="auto">
              <a:xfrm rot="16200000" flipH="1">
                <a:off x="7445" y="3138"/>
                <a:ext cx="285" cy="519"/>
              </a:xfrm>
              <a:prstGeom prst="straightConnector1">
                <a:avLst/>
              </a:prstGeom>
              <a:noFill/>
              <a:ln w="9525">
                <a:solidFill>
                  <a:srgbClr val="000000"/>
                </a:solidFill>
                <a:round/>
                <a:headEnd/>
                <a:tailEnd/>
              </a:ln>
            </p:spPr>
          </p:cxnSp>
          <p:cxnSp>
            <p:nvCxnSpPr>
              <p:cNvPr id="100392" name="AutoShape 40"/>
              <p:cNvCxnSpPr>
                <a:cxnSpLocks noChangeShapeType="1"/>
                <a:stCxn id="100382" idx="4"/>
                <a:endCxn id="100363" idx="0"/>
              </p:cNvCxnSpPr>
              <p:nvPr/>
            </p:nvCxnSpPr>
            <p:spPr bwMode="auto">
              <a:xfrm rot="5400000">
                <a:off x="7872" y="3230"/>
                <a:ext cx="285" cy="335"/>
              </a:xfrm>
              <a:prstGeom prst="straightConnector1">
                <a:avLst/>
              </a:prstGeom>
              <a:noFill/>
              <a:ln w="9525">
                <a:solidFill>
                  <a:srgbClr val="000000"/>
                </a:solidFill>
                <a:round/>
                <a:headEnd/>
                <a:tailEnd/>
              </a:ln>
            </p:spPr>
          </p:cxnSp>
          <p:cxnSp>
            <p:nvCxnSpPr>
              <p:cNvPr id="100393" name="AutoShape 41"/>
              <p:cNvCxnSpPr>
                <a:cxnSpLocks noChangeShapeType="1"/>
                <a:stCxn id="100362" idx="2"/>
                <a:endCxn id="100359" idx="0"/>
              </p:cNvCxnSpPr>
              <p:nvPr/>
            </p:nvCxnSpPr>
            <p:spPr bwMode="auto">
              <a:xfrm rot="16200000" flipH="1">
                <a:off x="6261" y="4199"/>
                <a:ext cx="325" cy="6"/>
              </a:xfrm>
              <a:prstGeom prst="straightConnector1">
                <a:avLst/>
              </a:prstGeom>
              <a:noFill/>
              <a:ln w="9525">
                <a:solidFill>
                  <a:srgbClr val="000000"/>
                </a:solidFill>
                <a:round/>
                <a:headEnd/>
                <a:tailEnd/>
              </a:ln>
            </p:spPr>
          </p:cxnSp>
          <p:cxnSp>
            <p:nvCxnSpPr>
              <p:cNvPr id="100394" name="AutoShape 42"/>
              <p:cNvCxnSpPr>
                <a:cxnSpLocks noChangeShapeType="1"/>
                <a:stCxn id="100360" idx="2"/>
                <a:endCxn id="100359" idx="0"/>
              </p:cNvCxnSpPr>
              <p:nvPr/>
            </p:nvCxnSpPr>
            <p:spPr bwMode="auto">
              <a:xfrm rot="16200000" flipH="1">
                <a:off x="5541" y="3479"/>
                <a:ext cx="325" cy="1447"/>
              </a:xfrm>
              <a:prstGeom prst="straightConnector1">
                <a:avLst/>
              </a:prstGeom>
              <a:noFill/>
              <a:ln w="9525">
                <a:solidFill>
                  <a:srgbClr val="000000"/>
                </a:solidFill>
                <a:round/>
                <a:headEnd/>
                <a:tailEnd/>
              </a:ln>
            </p:spPr>
          </p:cxnSp>
          <p:cxnSp>
            <p:nvCxnSpPr>
              <p:cNvPr id="100395" name="AutoShape 43"/>
              <p:cNvCxnSpPr>
                <a:cxnSpLocks noChangeShapeType="1"/>
                <a:stCxn id="100363" idx="2"/>
                <a:endCxn id="100359" idx="0"/>
              </p:cNvCxnSpPr>
              <p:nvPr/>
            </p:nvCxnSpPr>
            <p:spPr bwMode="auto">
              <a:xfrm rot="5400000">
                <a:off x="6974" y="3492"/>
                <a:ext cx="325" cy="1420"/>
              </a:xfrm>
              <a:prstGeom prst="straightConnector1">
                <a:avLst/>
              </a:prstGeom>
              <a:noFill/>
              <a:ln w="9525">
                <a:solidFill>
                  <a:srgbClr val="000000"/>
                </a:solidFill>
                <a:round/>
                <a:headEnd/>
                <a:tailEnd/>
              </a:ln>
            </p:spPr>
          </p:cxnSp>
        </p:grpSp>
      </p:gr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162800" cy="4724400"/>
          </a:xfrm>
          <a:prstGeom prst="rect">
            <a:avLst/>
          </a:prstGeom>
        </p:spPr>
        <p:txBody>
          <a:bodyPr/>
          <a:lstStyle/>
          <a:p>
            <a:pPr indent="-457200" algn="just">
              <a:buFont typeface="Wingdings" pitchFamily="2" charset="2"/>
              <a:buChar char="q"/>
            </a:pPr>
            <a:r>
              <a:rPr lang="en-US" sz="2000" b="1" dirty="0" smtClean="0">
                <a:latin typeface="Times New Roman" pitchFamily="18" charset="0"/>
                <a:cs typeface="Times New Roman" pitchFamily="18" charset="0"/>
              </a:rPr>
              <a:t>ANSI/SPARC Architecture</a:t>
            </a:r>
            <a:endParaRPr lang="en-US" sz="2000" dirty="0" smtClean="0">
              <a:latin typeface="Times New Roman" pitchFamily="18" charset="0"/>
              <a:cs typeface="Times New Roman" pitchFamily="18" charset="0"/>
            </a:endParaRPr>
          </a:p>
          <a:p>
            <a:pPr indent="-457200" algn="just"/>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At the lowest level of the architecture is the </a:t>
            </a:r>
            <a:r>
              <a:rPr lang="en-US" sz="2000" b="1" dirty="0" smtClean="0">
                <a:latin typeface="Times New Roman" pitchFamily="18" charset="0"/>
                <a:cs typeface="Times New Roman" pitchFamily="18" charset="0"/>
              </a:rPr>
              <a:t>internal view</a:t>
            </a:r>
            <a:r>
              <a:rPr lang="en-US" sz="2000" dirty="0" smtClean="0">
                <a:latin typeface="Times New Roman" pitchFamily="18" charset="0"/>
                <a:cs typeface="Times New Roman" pitchFamily="18" charset="0"/>
              </a:rPr>
              <a:t>, which deals with the physical definition and organization of data. The location of data on different storage devices and the </a:t>
            </a:r>
            <a:r>
              <a:rPr lang="en-US" sz="2000" b="1" dirty="0" smtClean="0">
                <a:latin typeface="Times New Roman" pitchFamily="18" charset="0"/>
                <a:cs typeface="Times New Roman" pitchFamily="18" charset="0"/>
              </a:rPr>
              <a:t>access mechanisms used to reach and manipulate data</a:t>
            </a:r>
            <a:r>
              <a:rPr lang="en-US" sz="2000" dirty="0" smtClean="0">
                <a:latin typeface="Times New Roman" pitchFamily="18" charset="0"/>
                <a:cs typeface="Times New Roman" pitchFamily="18" charset="0"/>
              </a:rPr>
              <a:t> are the issues dealt with at this level. </a:t>
            </a: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At the other extreme is the </a:t>
            </a:r>
            <a:r>
              <a:rPr lang="en-US" sz="2000" b="1" dirty="0" smtClean="0">
                <a:latin typeface="Times New Roman" pitchFamily="18" charset="0"/>
                <a:cs typeface="Times New Roman" pitchFamily="18" charset="0"/>
              </a:rPr>
              <a:t>external view</a:t>
            </a:r>
            <a:r>
              <a:rPr lang="en-US" sz="2000" dirty="0" smtClean="0">
                <a:latin typeface="Times New Roman" pitchFamily="18" charset="0"/>
                <a:cs typeface="Times New Roman" pitchFamily="18" charset="0"/>
              </a:rPr>
              <a:t>, which is concerned with </a:t>
            </a:r>
            <a:r>
              <a:rPr lang="en-US" sz="2000" b="1" dirty="0" smtClean="0">
                <a:latin typeface="Times New Roman" pitchFamily="18" charset="0"/>
                <a:cs typeface="Times New Roman" pitchFamily="18" charset="0"/>
              </a:rPr>
              <a:t>how users view the database</a:t>
            </a:r>
            <a:r>
              <a:rPr lang="en-US" sz="2000" dirty="0" smtClean="0">
                <a:latin typeface="Times New Roman" pitchFamily="18" charset="0"/>
                <a:cs typeface="Times New Roman" pitchFamily="18" charset="0"/>
              </a:rPr>
              <a:t>. An individual user’s view represents the portion of the database that will be accessed by that user. A view can be shared among a number of users, with the collection of user views making up the external schema. </a:t>
            </a: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162800" cy="4724400"/>
          </a:xfrm>
          <a:prstGeom prst="rect">
            <a:avLst/>
          </a:prstGeom>
        </p:spPr>
        <p:txBody>
          <a:bodyPr/>
          <a:lstStyle/>
          <a:p>
            <a:pPr indent="-457200" algn="just">
              <a:buFont typeface="Wingdings" pitchFamily="2" charset="2"/>
              <a:buChar char="q"/>
            </a:pPr>
            <a:r>
              <a:rPr lang="en-US" sz="2000" b="1" dirty="0" smtClean="0">
                <a:latin typeface="Times New Roman" pitchFamily="18" charset="0"/>
                <a:cs typeface="Times New Roman" pitchFamily="18" charset="0"/>
              </a:rPr>
              <a:t>ANSI/SPARC Architecture</a:t>
            </a:r>
            <a:endParaRPr lang="en-US" sz="2000" dirty="0" smtClean="0">
              <a:latin typeface="Times New Roman" pitchFamily="18" charset="0"/>
              <a:cs typeface="Times New Roman" pitchFamily="18" charset="0"/>
            </a:endParaRPr>
          </a:p>
          <a:p>
            <a:pPr indent="-457200" algn="just"/>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In between these two ends is the </a:t>
            </a:r>
            <a:r>
              <a:rPr lang="en-US" sz="2000" b="1" dirty="0" smtClean="0">
                <a:latin typeface="Times New Roman" pitchFamily="18" charset="0"/>
                <a:cs typeface="Times New Roman" pitchFamily="18" charset="0"/>
              </a:rPr>
              <a:t>conceptual schema</a:t>
            </a:r>
            <a:r>
              <a:rPr lang="en-US" sz="2000" dirty="0" smtClean="0">
                <a:latin typeface="Times New Roman" pitchFamily="18" charset="0"/>
                <a:cs typeface="Times New Roman" pitchFamily="18" charset="0"/>
              </a:rPr>
              <a:t>, which is an abstract </a:t>
            </a:r>
            <a:r>
              <a:rPr lang="en-US" sz="2000" b="1" dirty="0" smtClean="0">
                <a:latin typeface="Times New Roman" pitchFamily="18" charset="0"/>
                <a:cs typeface="Times New Roman" pitchFamily="18" charset="0"/>
              </a:rPr>
              <a:t>definition</a:t>
            </a:r>
            <a:r>
              <a:rPr lang="en-US" sz="2000" dirty="0" smtClean="0">
                <a:latin typeface="Times New Roman" pitchFamily="18" charset="0"/>
                <a:cs typeface="Times New Roman" pitchFamily="18" charset="0"/>
              </a:rPr>
              <a:t> of the database.</a:t>
            </a: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American National Standards Institute (ANSI) established a Study Group on Database Management Systems under the auspices of its Standards Planning and Requirements Committee (SPARC).</a:t>
            </a:r>
            <a:endParaRPr lang="en-US" sz="2000" b="1"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162800" cy="4572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 Distributed DBMS Architecture</a:t>
            </a:r>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pPr lvl="1" algn="just">
              <a:buFont typeface="Wingdings" pitchFamily="2" charset="2"/>
              <a:buChar char="Ø"/>
            </a:pPr>
            <a:r>
              <a:rPr lang="en-US" sz="2000" dirty="0" smtClean="0">
                <a:latin typeface="Times New Roman" pitchFamily="18" charset="0"/>
                <a:cs typeface="Times New Roman" pitchFamily="18" charset="0"/>
              </a:rPr>
              <a:t>The client/server distribution concentrates data management duties at servers  while the clients focus on providing the application environment including the user interface. </a:t>
            </a:r>
          </a:p>
          <a:p>
            <a:pPr lvl="1" algn="just"/>
            <a:endParaRPr lang="en-US" sz="2000" dirty="0" smtClean="0">
              <a:latin typeface="Times New Roman" pitchFamily="18" charset="0"/>
              <a:cs typeface="Times New Roman" pitchFamily="18" charset="0"/>
            </a:endParaRPr>
          </a:p>
          <a:p>
            <a:pPr lvl="1" algn="just">
              <a:buFont typeface="Wingdings" pitchFamily="2" charset="2"/>
              <a:buChar char="Ø"/>
            </a:pPr>
            <a:r>
              <a:rPr lang="en-US" sz="2000" dirty="0" smtClean="0">
                <a:latin typeface="Times New Roman" pitchFamily="18" charset="0"/>
                <a:cs typeface="Times New Roman" pitchFamily="18" charset="0"/>
              </a:rPr>
              <a:t>In peer-to-peer distribution, there is no distinction of client machines versus servers. Each machine has full DBMS functionality and can communicate with other machines to execute queries and transactions.</a:t>
            </a:r>
          </a:p>
          <a:p>
            <a:pPr algn="just"/>
            <a:r>
              <a:rPr lang="en-US" sz="2000" dirty="0" smtClean="0">
                <a:latin typeface="Times New Roman" pitchFamily="18" charset="0"/>
                <a:cs typeface="Times New Roman" pitchFamily="18" charset="0"/>
              </a:rPr>
              <a:t> </a:t>
            </a:r>
          </a:p>
          <a:p>
            <a:pPr lvl="0" algn="just"/>
            <a:endParaRPr lang="en-US" sz="2000" b="1"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239000" cy="4572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 </a:t>
            </a:r>
            <a:r>
              <a:rPr lang="en-IE" sz="2000" b="1" dirty="0" smtClean="0">
                <a:latin typeface="Times New Roman" pitchFamily="18" charset="0"/>
                <a:cs typeface="Times New Roman" pitchFamily="18" charset="0"/>
              </a:rPr>
              <a:t>Peer-to-Peer Distributed Systems</a:t>
            </a:r>
          </a:p>
          <a:p>
            <a:pPr algn="just"/>
            <a:endParaRPr lang="en-IE" sz="2000" dirty="0" smtClean="0">
              <a:latin typeface="Times New Roman" pitchFamily="18" charset="0"/>
              <a:cs typeface="Times New Roman" pitchFamily="18" charset="0"/>
            </a:endParaRPr>
          </a:p>
          <a:p>
            <a:pPr lvl="1" algn="just">
              <a:buFont typeface="Wingdings" pitchFamily="2" charset="2"/>
              <a:buChar char="Ø"/>
            </a:pPr>
            <a:r>
              <a:rPr lang="en-IE" sz="2000" dirty="0" smtClean="0">
                <a:latin typeface="Times New Roman" pitchFamily="18" charset="0"/>
                <a:cs typeface="Times New Roman" pitchFamily="18" charset="0"/>
              </a:rPr>
              <a:t>The physical data organization on each machine is different. There needs to be an individual internal schema definition at each site (</a:t>
            </a:r>
            <a:r>
              <a:rPr lang="en-IE" sz="2000" b="1" dirty="0" smtClean="0">
                <a:solidFill>
                  <a:srgbClr val="FF0000"/>
                </a:solidFill>
                <a:latin typeface="Times New Roman" pitchFamily="18" charset="0"/>
                <a:cs typeface="Times New Roman" pitchFamily="18" charset="0"/>
              </a:rPr>
              <a:t>Local Internal Schema (LIS)</a:t>
            </a:r>
            <a:r>
              <a:rPr lang="en-IE" sz="2000" dirty="0" smtClean="0">
                <a:latin typeface="Times New Roman" pitchFamily="18" charset="0"/>
                <a:cs typeface="Times New Roman" pitchFamily="18" charset="0"/>
              </a:rPr>
              <a:t>).</a:t>
            </a:r>
          </a:p>
          <a:p>
            <a:pPr lvl="1" algn="just">
              <a:buFont typeface="Wingdings" pitchFamily="2" charset="2"/>
              <a:buChar char="Ø"/>
            </a:pPr>
            <a:endParaRPr lang="en-IE" sz="2000" dirty="0" smtClean="0">
              <a:latin typeface="Times New Roman" pitchFamily="18" charset="0"/>
              <a:cs typeface="Times New Roman" pitchFamily="18" charset="0"/>
            </a:endParaRPr>
          </a:p>
          <a:p>
            <a:pPr lvl="1" algn="just">
              <a:buFont typeface="Wingdings" pitchFamily="2" charset="2"/>
              <a:buChar char="Ø"/>
            </a:pPr>
            <a:r>
              <a:rPr lang="en-IE" sz="2000" dirty="0" smtClean="0">
                <a:latin typeface="Times New Roman" pitchFamily="18" charset="0"/>
                <a:cs typeface="Times New Roman" pitchFamily="18" charset="0"/>
              </a:rPr>
              <a:t>The enterprise view of the data is described by the </a:t>
            </a:r>
            <a:r>
              <a:rPr lang="en-IE" sz="2000" b="1" dirty="0" smtClean="0">
                <a:solidFill>
                  <a:srgbClr val="FF0000"/>
                </a:solidFill>
                <a:latin typeface="Times New Roman" pitchFamily="18" charset="0"/>
                <a:cs typeface="Times New Roman" pitchFamily="18" charset="0"/>
              </a:rPr>
              <a:t>Global Conceptual Schema (GCS)</a:t>
            </a:r>
            <a:r>
              <a:rPr lang="en-IE" sz="2000" dirty="0" smtClean="0">
                <a:latin typeface="Times New Roman" pitchFamily="18" charset="0"/>
                <a:cs typeface="Times New Roman" pitchFamily="18" charset="0"/>
              </a:rPr>
              <a:t>- it describes the logical structure of the data at all the sites. </a:t>
            </a:r>
          </a:p>
          <a:p>
            <a:pPr lvl="1" algn="just"/>
            <a:endParaRPr lang="en-IE" sz="2000" dirty="0" smtClean="0">
              <a:latin typeface="Times New Roman" pitchFamily="18" charset="0"/>
              <a:cs typeface="Times New Roman" pitchFamily="18" charset="0"/>
            </a:endParaRPr>
          </a:p>
          <a:p>
            <a:pPr lvl="1" algn="just">
              <a:buFont typeface="Wingdings" pitchFamily="2" charset="2"/>
              <a:buChar char="Ø"/>
            </a:pPr>
            <a:r>
              <a:rPr lang="en-IE" sz="2000" dirty="0" smtClean="0">
                <a:latin typeface="Times New Roman" pitchFamily="18" charset="0"/>
                <a:cs typeface="Times New Roman" pitchFamily="18" charset="0"/>
              </a:rPr>
              <a:t>Data  in a distributed database  is usually fragmented and replicated. </a:t>
            </a:r>
            <a:endParaRPr lang="en-US" sz="20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239000" cy="4572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 </a:t>
            </a:r>
            <a:r>
              <a:rPr lang="en-IE" sz="2000" b="1" dirty="0" smtClean="0">
                <a:latin typeface="Times New Roman" pitchFamily="18" charset="0"/>
                <a:cs typeface="Times New Roman" pitchFamily="18" charset="0"/>
              </a:rPr>
              <a:t>Peer-to-Peer Distributed Systems</a:t>
            </a:r>
          </a:p>
          <a:p>
            <a:pPr algn="just"/>
            <a:endParaRPr lang="en-IE" sz="2000" dirty="0" smtClean="0">
              <a:latin typeface="Times New Roman" pitchFamily="18" charset="0"/>
              <a:cs typeface="Times New Roman" pitchFamily="18" charset="0"/>
            </a:endParaRPr>
          </a:p>
          <a:p>
            <a:pPr lvl="1" algn="just">
              <a:buFont typeface="Wingdings" pitchFamily="2" charset="2"/>
              <a:buChar char="Ø"/>
            </a:pPr>
            <a:r>
              <a:rPr lang="en-IE" sz="2000" dirty="0" smtClean="0">
                <a:latin typeface="Times New Roman" pitchFamily="18" charset="0"/>
                <a:cs typeface="Times New Roman" pitchFamily="18" charset="0"/>
              </a:rPr>
              <a:t>To handle fragmentation and replication, the logical organization of data at each site needs to be described. Therefore, there needs to be a third layer in the architecture, the </a:t>
            </a:r>
            <a:r>
              <a:rPr lang="en-IE" sz="2000" b="1" dirty="0" smtClean="0">
                <a:solidFill>
                  <a:srgbClr val="FF0000"/>
                </a:solidFill>
                <a:latin typeface="Times New Roman" pitchFamily="18" charset="0"/>
                <a:cs typeface="Times New Roman" pitchFamily="18" charset="0"/>
              </a:rPr>
              <a:t>Local Conceptual Schema (LCS).</a:t>
            </a:r>
            <a:r>
              <a:rPr lang="en-IE" sz="2000" dirty="0" smtClean="0">
                <a:latin typeface="Times New Roman" pitchFamily="18" charset="0"/>
                <a:cs typeface="Times New Roman" pitchFamily="18" charset="0"/>
              </a:rPr>
              <a:t> </a:t>
            </a:r>
          </a:p>
          <a:p>
            <a:pPr lvl="1" algn="just">
              <a:buFont typeface="Wingdings" pitchFamily="2" charset="2"/>
              <a:buChar char="Ø"/>
            </a:pPr>
            <a:endParaRPr lang="en-IE" sz="2000" dirty="0" smtClean="0">
              <a:latin typeface="Times New Roman" pitchFamily="18" charset="0"/>
              <a:cs typeface="Times New Roman" pitchFamily="18" charset="0"/>
            </a:endParaRPr>
          </a:p>
          <a:p>
            <a:pPr lvl="1" algn="just">
              <a:buFont typeface="Wingdings" pitchFamily="2" charset="2"/>
              <a:buChar char="Ø"/>
            </a:pPr>
            <a:r>
              <a:rPr lang="en-IE" sz="2000" dirty="0" smtClean="0">
                <a:latin typeface="Times New Roman" pitchFamily="18" charset="0"/>
                <a:cs typeface="Times New Roman" pitchFamily="18" charset="0"/>
              </a:rPr>
              <a:t>The GCS is the union of the LCSs. User applications and user access to the database is supported by </a:t>
            </a:r>
            <a:r>
              <a:rPr lang="en-IE" sz="2000" b="1" dirty="0" smtClean="0">
                <a:solidFill>
                  <a:srgbClr val="FF0000"/>
                </a:solidFill>
                <a:latin typeface="Times New Roman" pitchFamily="18" charset="0"/>
                <a:cs typeface="Times New Roman" pitchFamily="18" charset="0"/>
              </a:rPr>
              <a:t>External Schemas (ESs)</a:t>
            </a:r>
            <a:r>
              <a:rPr lang="en-IE" sz="2000"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239000" cy="51054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 </a:t>
            </a:r>
            <a:r>
              <a:rPr lang="en-IE" sz="2000" b="1" dirty="0" smtClean="0">
                <a:latin typeface="Times New Roman" pitchFamily="18" charset="0"/>
                <a:cs typeface="Times New Roman" pitchFamily="18" charset="0"/>
              </a:rPr>
              <a:t>Peer-to-Peer Distributed Systems</a:t>
            </a: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lvl="1" algn="ctr"/>
            <a:endParaRPr lang="en-IE" sz="2000" dirty="0" smtClean="0">
              <a:latin typeface="Times New Roman" pitchFamily="18" charset="0"/>
              <a:cs typeface="Times New Roman" pitchFamily="18" charset="0"/>
            </a:endParaRPr>
          </a:p>
          <a:p>
            <a:pPr lvl="1" algn="ctr"/>
            <a:endParaRPr lang="en-IE" sz="2000" dirty="0" smtClean="0">
              <a:latin typeface="Times New Roman" pitchFamily="18" charset="0"/>
              <a:cs typeface="Times New Roman" pitchFamily="18" charset="0"/>
            </a:endParaRPr>
          </a:p>
          <a:p>
            <a:pPr lvl="1" algn="ctr"/>
            <a:endParaRPr lang="en-IE" sz="1100" dirty="0" smtClean="0">
              <a:latin typeface="Times New Roman" pitchFamily="18" charset="0"/>
              <a:cs typeface="Times New Roman" pitchFamily="18" charset="0"/>
            </a:endParaRPr>
          </a:p>
          <a:p>
            <a:pPr lvl="1" algn="ctr"/>
            <a:r>
              <a:rPr lang="en-IE" sz="2000" dirty="0" smtClean="0">
                <a:latin typeface="Times New Roman" pitchFamily="18" charset="0"/>
                <a:cs typeface="Times New Roman" pitchFamily="18" charset="0"/>
              </a:rPr>
              <a:t>Fig.: Distributed Database Reference Architecture</a:t>
            </a:r>
            <a:endParaRPr lang="en-US" sz="20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1" name="Picture 10" descr="C:\Users\user\Desktop\Picture2.png"/>
          <p:cNvPicPr/>
          <p:nvPr/>
        </p:nvPicPr>
        <p:blipFill>
          <a:blip r:embed="rId4"/>
          <a:srcRect/>
          <a:stretch>
            <a:fillRect/>
          </a:stretch>
        </p:blipFill>
        <p:spPr bwMode="auto">
          <a:xfrm>
            <a:off x="1995487" y="1981200"/>
            <a:ext cx="5853113" cy="3810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239000" cy="23622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 </a:t>
            </a:r>
            <a:r>
              <a:rPr lang="en-IE" sz="2000" b="1" dirty="0" smtClean="0">
                <a:latin typeface="Times New Roman" pitchFamily="18" charset="0"/>
                <a:cs typeface="Times New Roman" pitchFamily="18" charset="0"/>
              </a:rPr>
              <a:t>Peer-to-Peer Distributed Systems</a:t>
            </a:r>
          </a:p>
          <a:p>
            <a:pPr algn="just"/>
            <a:endParaRPr lang="en-IE" sz="2000" dirty="0" smtClean="0">
              <a:latin typeface="Times New Roman" pitchFamily="18" charset="0"/>
              <a:cs typeface="Times New Roman" pitchFamily="18" charset="0"/>
            </a:endParaRPr>
          </a:p>
          <a:p>
            <a:pPr algn="just">
              <a:buFont typeface="Wingdings" pitchFamily="2" charset="2"/>
              <a:buChar char="Ø"/>
            </a:pPr>
            <a:r>
              <a:rPr lang="en-IE" sz="2000" dirty="0" smtClean="0">
                <a:latin typeface="Times New Roman" pitchFamily="18" charset="0"/>
                <a:cs typeface="Times New Roman" pitchFamily="18" charset="0"/>
              </a:rPr>
              <a:t>The distributed DBMS translates global queries into a group of local queries, which are executed by distributed DBMS components at different sites that communicate one another.</a:t>
            </a: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239000" cy="47244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 Components of a </a:t>
            </a:r>
            <a:r>
              <a:rPr lang="en-IE" sz="2000" b="1" dirty="0" smtClean="0">
                <a:latin typeface="Times New Roman" pitchFamily="18" charset="0"/>
                <a:cs typeface="Times New Roman" pitchFamily="18" charset="0"/>
              </a:rPr>
              <a:t>Distributed DBMS</a:t>
            </a:r>
          </a:p>
          <a:p>
            <a:pPr algn="just">
              <a:lnSpc>
                <a:spcPct val="90000"/>
              </a:lnSpc>
            </a:pPr>
            <a:endParaRPr lang="en-IE" sz="2000" dirty="0" smtClean="0">
              <a:latin typeface="Times New Roman" pitchFamily="18" charset="0"/>
              <a:cs typeface="Times New Roman" pitchFamily="18" charset="0"/>
            </a:endParaRPr>
          </a:p>
          <a:p>
            <a:pPr algn="just">
              <a:lnSpc>
                <a:spcPct val="90000"/>
              </a:lnSpc>
            </a:pPr>
            <a:r>
              <a:rPr lang="en-IE" sz="2000" dirty="0" smtClean="0">
                <a:latin typeface="Times New Roman" pitchFamily="18" charset="0"/>
                <a:cs typeface="Times New Roman" pitchFamily="18" charset="0"/>
              </a:rPr>
              <a:t>     Major two components: </a:t>
            </a:r>
          </a:p>
          <a:p>
            <a:pPr lvl="1" algn="just">
              <a:lnSpc>
                <a:spcPct val="90000"/>
              </a:lnSpc>
              <a:buFont typeface="Wingdings" pitchFamily="2" charset="2"/>
              <a:buChar char="Ø"/>
            </a:pPr>
            <a:endParaRPr lang="en-IE" sz="2000" dirty="0" smtClean="0">
              <a:latin typeface="Times New Roman" pitchFamily="18" charset="0"/>
              <a:cs typeface="Times New Roman" pitchFamily="18" charset="0"/>
            </a:endParaRPr>
          </a:p>
          <a:p>
            <a:pPr lvl="1" algn="just">
              <a:lnSpc>
                <a:spcPct val="90000"/>
              </a:lnSpc>
              <a:buFont typeface="Wingdings" pitchFamily="2" charset="2"/>
              <a:buChar char="Ø"/>
            </a:pPr>
            <a:r>
              <a:rPr lang="en-IE" sz="2000" dirty="0" smtClean="0">
                <a:latin typeface="Times New Roman" pitchFamily="18" charset="0"/>
                <a:cs typeface="Times New Roman" pitchFamily="18" charset="0"/>
              </a:rPr>
              <a:t>User Processor: </a:t>
            </a:r>
          </a:p>
          <a:p>
            <a:pPr lvl="1" algn="just">
              <a:lnSpc>
                <a:spcPct val="90000"/>
              </a:lnSpc>
            </a:pPr>
            <a:r>
              <a:rPr lang="en-IE" sz="2000" dirty="0" smtClean="0">
                <a:latin typeface="Times New Roman" pitchFamily="18" charset="0"/>
                <a:cs typeface="Times New Roman" pitchFamily="18" charset="0"/>
              </a:rPr>
              <a:t>	Handles the interaction with users and</a:t>
            </a:r>
          </a:p>
          <a:p>
            <a:pPr lvl="1" algn="just">
              <a:lnSpc>
                <a:spcPct val="90000"/>
              </a:lnSpc>
              <a:buFont typeface="Wingdings" pitchFamily="2" charset="2"/>
              <a:buChar char="Ø"/>
            </a:pPr>
            <a:endParaRPr lang="en-IE" sz="2000" dirty="0" smtClean="0">
              <a:latin typeface="Times New Roman" pitchFamily="18" charset="0"/>
              <a:cs typeface="Times New Roman" pitchFamily="18" charset="0"/>
            </a:endParaRPr>
          </a:p>
          <a:p>
            <a:pPr lvl="1" algn="just">
              <a:lnSpc>
                <a:spcPct val="90000"/>
              </a:lnSpc>
              <a:buFont typeface="Wingdings" pitchFamily="2" charset="2"/>
              <a:buChar char="Ø"/>
            </a:pPr>
            <a:r>
              <a:rPr lang="en-IE" sz="2000" dirty="0" smtClean="0">
                <a:latin typeface="Times New Roman" pitchFamily="18" charset="0"/>
                <a:cs typeface="Times New Roman" pitchFamily="18" charset="0"/>
              </a:rPr>
              <a:t>Data Processor:</a:t>
            </a:r>
          </a:p>
          <a:p>
            <a:pPr lvl="2" algn="just">
              <a:lnSpc>
                <a:spcPct val="90000"/>
              </a:lnSpc>
            </a:pPr>
            <a:r>
              <a:rPr lang="en-IE" sz="2000" dirty="0" smtClean="0">
                <a:latin typeface="Times New Roman" pitchFamily="18" charset="0"/>
                <a:cs typeface="Times New Roman" pitchFamily="18" charset="0"/>
              </a:rPr>
              <a:t>Deals with the storage. </a:t>
            </a:r>
          </a:p>
          <a:p>
            <a:pPr algn="just">
              <a:lnSpc>
                <a:spcPct val="90000"/>
              </a:lnSpc>
            </a:pPr>
            <a:endParaRPr lang="en-IE" sz="2000" dirty="0" smtClean="0">
              <a:latin typeface="Times New Roman" pitchFamily="18" charset="0"/>
              <a:cs typeface="Times New Roman" pitchFamily="18" charset="0"/>
            </a:endParaRPr>
          </a:p>
          <a:p>
            <a:pPr algn="just">
              <a:lnSpc>
                <a:spcPct val="90000"/>
              </a:lnSpc>
            </a:pPr>
            <a:r>
              <a:rPr lang="en-IE" sz="2000" dirty="0" smtClean="0">
                <a:latin typeface="Times New Roman" pitchFamily="18" charset="0"/>
                <a:cs typeface="Times New Roman" pitchFamily="18" charset="0"/>
              </a:rPr>
              <a:t>	</a:t>
            </a: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219200"/>
            <a:ext cx="7239000" cy="5334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 Components of a </a:t>
            </a:r>
            <a:r>
              <a:rPr lang="en-IE" sz="2000" b="1" dirty="0" smtClean="0">
                <a:latin typeface="Times New Roman" pitchFamily="18" charset="0"/>
                <a:cs typeface="Times New Roman" pitchFamily="18" charset="0"/>
              </a:rPr>
              <a:t>Distributed DBMS</a:t>
            </a:r>
          </a:p>
          <a:p>
            <a:pPr algn="just">
              <a:lnSpc>
                <a:spcPct val="90000"/>
              </a:lnSpc>
            </a:pPr>
            <a:endParaRPr lang="en-IE" sz="2000" dirty="0" smtClean="0">
              <a:latin typeface="Times New Roman" pitchFamily="18" charset="0"/>
              <a:cs typeface="Times New Roman" pitchFamily="18" charset="0"/>
            </a:endParaRPr>
          </a:p>
          <a:p>
            <a:pPr algn="just">
              <a:lnSpc>
                <a:spcPct val="90000"/>
              </a:lnSpc>
            </a:pPr>
            <a:r>
              <a:rPr lang="en-IE" sz="2000" dirty="0" smtClean="0">
                <a:latin typeface="Times New Roman" pitchFamily="18" charset="0"/>
                <a:cs typeface="Times New Roman" pitchFamily="18" charset="0"/>
              </a:rPr>
              <a:t>	</a:t>
            </a: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a:p>
            <a:pPr algn="just"/>
            <a:endParaRPr lang="en-IE" sz="20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2" name="Picture 11" descr="C:\Users\user\Desktop\Picture2.png"/>
          <p:cNvPicPr/>
          <p:nvPr/>
        </p:nvPicPr>
        <p:blipFill>
          <a:blip r:embed="rId4"/>
          <a:srcRect/>
          <a:stretch>
            <a:fillRect/>
          </a:stretch>
        </p:blipFill>
        <p:spPr bwMode="auto">
          <a:xfrm>
            <a:off x="2209800" y="1600200"/>
            <a:ext cx="5105400" cy="4876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239000" cy="47244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 Components of a </a:t>
            </a:r>
            <a:r>
              <a:rPr lang="en-IE" sz="2000" b="1" dirty="0" smtClean="0">
                <a:latin typeface="Times New Roman" pitchFamily="18" charset="0"/>
                <a:cs typeface="Times New Roman" pitchFamily="18" charset="0"/>
              </a:rPr>
              <a:t>Distributed DBMS</a:t>
            </a:r>
          </a:p>
          <a:p>
            <a:pPr algn="just">
              <a:lnSpc>
                <a:spcPct val="90000"/>
              </a:lnSpc>
            </a:pPr>
            <a:endParaRPr lang="en-IE" sz="2000" dirty="0" smtClean="0">
              <a:latin typeface="Times New Roman" pitchFamily="18" charset="0"/>
              <a:cs typeface="Times New Roman" pitchFamily="18" charset="0"/>
            </a:endParaRPr>
          </a:p>
          <a:p>
            <a:pPr algn="just">
              <a:lnSpc>
                <a:spcPct val="90000"/>
              </a:lnSpc>
            </a:pPr>
            <a:r>
              <a:rPr lang="en-IE" sz="2000" dirty="0" smtClean="0">
                <a:latin typeface="Times New Roman" pitchFamily="18" charset="0"/>
                <a:cs typeface="Times New Roman" pitchFamily="18" charset="0"/>
              </a:rPr>
              <a:t>     The first component User Processor consists of four elements:</a:t>
            </a:r>
          </a:p>
          <a:p>
            <a:pPr algn="just">
              <a:lnSpc>
                <a:spcPct val="90000"/>
              </a:lnSpc>
            </a:pPr>
            <a:r>
              <a:rPr lang="en-IE" sz="2000" dirty="0" smtClean="0">
                <a:latin typeface="Times New Roman" pitchFamily="18" charset="0"/>
                <a:cs typeface="Times New Roman" pitchFamily="18" charset="0"/>
              </a:rPr>
              <a:t>	</a:t>
            </a:r>
            <a:r>
              <a:rPr lang="en-IE" sz="2000" dirty="0" err="1" smtClean="0">
                <a:latin typeface="Times New Roman" pitchFamily="18" charset="0"/>
                <a:cs typeface="Times New Roman" pitchFamily="18" charset="0"/>
              </a:rPr>
              <a:t>i</a:t>
            </a:r>
            <a:r>
              <a:rPr lang="en-IE" sz="2000" dirty="0" smtClean="0">
                <a:latin typeface="Times New Roman" pitchFamily="18" charset="0"/>
                <a:cs typeface="Times New Roman" pitchFamily="18" charset="0"/>
              </a:rPr>
              <a:t>) User interface handler</a:t>
            </a:r>
          </a:p>
          <a:p>
            <a:pPr algn="just">
              <a:lnSpc>
                <a:spcPct val="90000"/>
              </a:lnSpc>
            </a:pPr>
            <a:r>
              <a:rPr lang="en-IE" sz="2000" dirty="0" smtClean="0">
                <a:latin typeface="Times New Roman" pitchFamily="18" charset="0"/>
                <a:cs typeface="Times New Roman" pitchFamily="18" charset="0"/>
              </a:rPr>
              <a:t>	ii) Semantic data controller</a:t>
            </a:r>
          </a:p>
          <a:p>
            <a:pPr algn="just">
              <a:lnSpc>
                <a:spcPct val="90000"/>
              </a:lnSpc>
            </a:pPr>
            <a:r>
              <a:rPr lang="en-IE" sz="2000" dirty="0" smtClean="0">
                <a:latin typeface="Times New Roman" pitchFamily="18" charset="0"/>
                <a:cs typeface="Times New Roman" pitchFamily="18" charset="0"/>
              </a:rPr>
              <a:t>	iii) Global query optimizer and decomposer</a:t>
            </a:r>
          </a:p>
          <a:p>
            <a:pPr algn="just">
              <a:lnSpc>
                <a:spcPct val="90000"/>
              </a:lnSpc>
            </a:pPr>
            <a:r>
              <a:rPr lang="en-IE" sz="2000" dirty="0" smtClean="0">
                <a:latin typeface="Times New Roman" pitchFamily="18" charset="0"/>
                <a:cs typeface="Times New Roman" pitchFamily="18" charset="0"/>
              </a:rPr>
              <a:t>	iv) Distributed execution monitor</a:t>
            </a:r>
          </a:p>
          <a:p>
            <a:pPr algn="just">
              <a:buFont typeface="Wingdings" pitchFamily="2" charset="2"/>
              <a:buChar char="Ø"/>
            </a:pPr>
            <a:endParaRPr lang="en-IE" sz="2000" dirty="0" smtClean="0">
              <a:latin typeface="Times New Roman" pitchFamily="18" charset="0"/>
              <a:cs typeface="Times New Roman" pitchFamily="18" charset="0"/>
            </a:endParaRPr>
          </a:p>
          <a:p>
            <a:pPr marL="457200" indent="-457200" algn="just">
              <a:buAutoNum type="arabicPeriod"/>
            </a:pPr>
            <a:r>
              <a:rPr lang="en-US" sz="2000" dirty="0" smtClean="0">
                <a:latin typeface="Times New Roman" pitchFamily="18" charset="0"/>
                <a:cs typeface="Times New Roman" pitchFamily="18" charset="0"/>
              </a:rPr>
              <a:t>The user interface handler is responsible for interpreting user commands as they come in, and formatting the result data as it is sent to the user.</a:t>
            </a:r>
          </a:p>
          <a:p>
            <a:pPr marL="457200" indent="-457200" algn="just">
              <a:buAutoNum type="arabicPeriod"/>
            </a:pPr>
            <a:r>
              <a:rPr lang="en-US" sz="2000" dirty="0" smtClean="0">
                <a:latin typeface="Times New Roman" pitchFamily="18" charset="0"/>
                <a:cs typeface="Times New Roman" pitchFamily="18" charset="0"/>
              </a:rPr>
              <a:t>The semantic data controller uses the integrity constraints and authorizations that are defined as part of the global conceptual schema to check if the user query can be processed. </a:t>
            </a:r>
            <a:endParaRPr lang="en-IE" sz="20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239000" cy="47244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 Components of a </a:t>
            </a:r>
            <a:r>
              <a:rPr lang="en-IE" sz="2000" b="1" dirty="0" smtClean="0">
                <a:latin typeface="Times New Roman" pitchFamily="18" charset="0"/>
                <a:cs typeface="Times New Roman" pitchFamily="18" charset="0"/>
              </a:rPr>
              <a:t>Distributed DBMS</a:t>
            </a:r>
          </a:p>
          <a:p>
            <a:pPr algn="just">
              <a:lnSpc>
                <a:spcPct val="90000"/>
              </a:lnSpc>
            </a:pPr>
            <a:endParaRPr lang="en-IE" sz="2000" dirty="0" smtClean="0">
              <a:latin typeface="Times New Roman" pitchFamily="18" charset="0"/>
              <a:cs typeface="Times New Roman" pitchFamily="18" charset="0"/>
            </a:endParaRPr>
          </a:p>
          <a:p>
            <a:pPr marL="457200" indent="-457200" algn="just"/>
            <a:r>
              <a:rPr lang="en-US" sz="2000" dirty="0" smtClean="0">
                <a:latin typeface="Times New Roman" pitchFamily="18" charset="0"/>
                <a:cs typeface="Times New Roman" pitchFamily="18" charset="0"/>
              </a:rPr>
              <a:t>3. The global query optimizer and decomposer determines an execution strategy to minimize a cost function, and translates the global queries into local ones using the global and local conceptual schemas. The global query optimizer is responsible, among other things, for generating the best strategy to execute distributed join operations.</a:t>
            </a:r>
          </a:p>
          <a:p>
            <a:pPr marL="457200" indent="-457200" algn="just"/>
            <a:r>
              <a:rPr lang="en-US" sz="2000" dirty="0" smtClean="0">
                <a:latin typeface="Times New Roman" pitchFamily="18" charset="0"/>
                <a:cs typeface="Times New Roman" pitchFamily="18" charset="0"/>
              </a:rPr>
              <a:t>4. The distributed execution monitor coordinates the distributed execution of the user request. The execution monitor is also called the distributed transaction manager. In executing queries in a distributed fashion, the execution monitors at various sites may, and usually do, communicate with one another.</a:t>
            </a:r>
            <a:endParaRPr lang="en-IE" sz="20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239000" cy="47244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 Components of a </a:t>
            </a:r>
            <a:r>
              <a:rPr lang="en-IE" sz="2000" b="1" dirty="0" smtClean="0">
                <a:latin typeface="Times New Roman" pitchFamily="18" charset="0"/>
                <a:cs typeface="Times New Roman" pitchFamily="18" charset="0"/>
              </a:rPr>
              <a:t>Distributed DBMS</a:t>
            </a:r>
          </a:p>
          <a:p>
            <a:pPr algn="just">
              <a:lnSpc>
                <a:spcPct val="90000"/>
              </a:lnSpc>
            </a:pPr>
            <a:endParaRPr lang="en-IE" sz="2000" dirty="0" smtClean="0">
              <a:latin typeface="Times New Roman" pitchFamily="18" charset="0"/>
              <a:cs typeface="Times New Roman" pitchFamily="18" charset="0"/>
            </a:endParaRPr>
          </a:p>
          <a:p>
            <a:pPr algn="just">
              <a:lnSpc>
                <a:spcPct val="90000"/>
              </a:lnSpc>
            </a:pPr>
            <a:r>
              <a:rPr lang="en-IE" sz="2000" dirty="0" smtClean="0">
                <a:latin typeface="Times New Roman" pitchFamily="18" charset="0"/>
                <a:cs typeface="Times New Roman" pitchFamily="18" charset="0"/>
              </a:rPr>
              <a:t>     The second component Data Processor consists of three elements:</a:t>
            </a:r>
          </a:p>
          <a:p>
            <a:pPr algn="just">
              <a:lnSpc>
                <a:spcPct val="90000"/>
              </a:lnSpc>
            </a:pPr>
            <a:r>
              <a:rPr lang="en-IE" sz="2000" dirty="0" smtClean="0">
                <a:latin typeface="Times New Roman" pitchFamily="18" charset="0"/>
                <a:cs typeface="Times New Roman" pitchFamily="18" charset="0"/>
              </a:rPr>
              <a:t>		</a:t>
            </a:r>
            <a:r>
              <a:rPr lang="en-IE" sz="2000" dirty="0" err="1" smtClean="0">
                <a:latin typeface="Times New Roman" pitchFamily="18" charset="0"/>
                <a:cs typeface="Times New Roman" pitchFamily="18" charset="0"/>
              </a:rPr>
              <a:t>i</a:t>
            </a:r>
            <a:r>
              <a:rPr lang="en-IE" sz="2000" dirty="0" smtClean="0">
                <a:latin typeface="Times New Roman" pitchFamily="18" charset="0"/>
                <a:cs typeface="Times New Roman" pitchFamily="18" charset="0"/>
              </a:rPr>
              <a:t>) Local query optimizer</a:t>
            </a:r>
          </a:p>
          <a:p>
            <a:pPr algn="just">
              <a:lnSpc>
                <a:spcPct val="90000"/>
              </a:lnSpc>
            </a:pPr>
            <a:r>
              <a:rPr lang="en-IE" sz="2000" dirty="0" smtClean="0">
                <a:latin typeface="Times New Roman" pitchFamily="18" charset="0"/>
                <a:cs typeface="Times New Roman" pitchFamily="18" charset="0"/>
              </a:rPr>
              <a:t>		ii) Local recovery manager</a:t>
            </a:r>
          </a:p>
          <a:p>
            <a:pPr algn="just">
              <a:lnSpc>
                <a:spcPct val="90000"/>
              </a:lnSpc>
            </a:pPr>
            <a:r>
              <a:rPr lang="en-IE" sz="2000" dirty="0" smtClean="0">
                <a:latin typeface="Times New Roman" pitchFamily="18" charset="0"/>
                <a:cs typeface="Times New Roman" pitchFamily="18" charset="0"/>
              </a:rPr>
              <a:t>		iii) Run-time support processor</a:t>
            </a:r>
          </a:p>
          <a:p>
            <a:pPr lvl="1" algn="just">
              <a:lnSpc>
                <a:spcPct val="90000"/>
              </a:lnSpc>
            </a:pPr>
            <a:r>
              <a:rPr lang="en-IE" sz="2000" dirty="0" smtClean="0">
                <a:latin typeface="Times New Roman" pitchFamily="18" charset="0"/>
                <a:cs typeface="Times New Roman" pitchFamily="18" charset="0"/>
              </a:rPr>
              <a:t>In peer-to-peer systems, one expects to find both the user processor modules and the data processor modules on each machine.</a:t>
            </a:r>
          </a:p>
          <a:p>
            <a:pPr algn="just">
              <a:lnSpc>
                <a:spcPct val="90000"/>
              </a:lnSpc>
            </a:pPr>
            <a:endParaRPr lang="en-IE" sz="2000" dirty="0" smtClean="0">
              <a:latin typeface="Times New Roman" pitchFamily="18" charset="0"/>
              <a:cs typeface="Times New Roman" pitchFamily="18" charset="0"/>
            </a:endParaRPr>
          </a:p>
          <a:p>
            <a:pPr marL="457200" indent="-457200" algn="just"/>
            <a:r>
              <a:rPr lang="en-US" sz="2000" dirty="0" smtClean="0">
                <a:latin typeface="Times New Roman" pitchFamily="18" charset="0"/>
                <a:cs typeface="Times New Roman" pitchFamily="18" charset="0"/>
              </a:rPr>
              <a:t>1.	The local query optimizer, which actually acts as the access path selector, is responsible for choosing the best access path to access any data item.</a:t>
            </a:r>
            <a:endParaRPr lang="en-IE" sz="20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239000" cy="47244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 Components of a </a:t>
            </a:r>
            <a:r>
              <a:rPr lang="en-IE" sz="2000" b="1" dirty="0" smtClean="0">
                <a:latin typeface="Times New Roman" pitchFamily="18" charset="0"/>
                <a:cs typeface="Times New Roman" pitchFamily="18" charset="0"/>
              </a:rPr>
              <a:t>Distributed DBMS</a:t>
            </a:r>
          </a:p>
          <a:p>
            <a:pPr algn="just">
              <a:lnSpc>
                <a:spcPct val="90000"/>
              </a:lnSpc>
            </a:pPr>
            <a:endParaRPr lang="en-IE" sz="2000" dirty="0" smtClean="0">
              <a:latin typeface="Times New Roman" pitchFamily="18" charset="0"/>
              <a:cs typeface="Times New Roman" pitchFamily="18" charset="0"/>
            </a:endParaRPr>
          </a:p>
          <a:p>
            <a:pPr algn="just">
              <a:lnSpc>
                <a:spcPct val="90000"/>
              </a:lnSpc>
            </a:pPr>
            <a:r>
              <a:rPr lang="en-IE" sz="2000" dirty="0" smtClean="0">
                <a:latin typeface="Times New Roman" pitchFamily="18" charset="0"/>
                <a:cs typeface="Times New Roman" pitchFamily="18" charset="0"/>
              </a:rPr>
              <a:t>     </a:t>
            </a:r>
          </a:p>
          <a:p>
            <a:pPr marL="457200" indent="-457200" algn="just">
              <a:buFont typeface="+mj-lt"/>
              <a:buAutoNum type="arabicPeriod" startAt="2"/>
            </a:pPr>
            <a:r>
              <a:rPr lang="en-US" sz="2000" dirty="0" smtClean="0">
                <a:latin typeface="Times New Roman" pitchFamily="18" charset="0"/>
                <a:cs typeface="Times New Roman" pitchFamily="18" charset="0"/>
              </a:rPr>
              <a:t>The local recovery manager is responsible for making sure that the local database remains consistent even when failures occur.</a:t>
            </a:r>
          </a:p>
          <a:p>
            <a:pPr marL="457200" indent="-457200" algn="just">
              <a:buFont typeface="+mj-lt"/>
              <a:buAutoNum type="arabicPeriod" startAt="2"/>
            </a:pPr>
            <a:endParaRPr lang="en-US" sz="2000" dirty="0" smtClean="0">
              <a:latin typeface="Times New Roman" pitchFamily="18" charset="0"/>
              <a:cs typeface="Times New Roman" pitchFamily="18" charset="0"/>
            </a:endParaRPr>
          </a:p>
          <a:p>
            <a:pPr marL="457200" indent="-457200" algn="just">
              <a:buFont typeface="+mj-lt"/>
              <a:buAutoNum type="arabicPeriod" startAt="2"/>
            </a:pPr>
            <a:r>
              <a:rPr lang="en-US" sz="2000" dirty="0" smtClean="0">
                <a:latin typeface="Times New Roman" pitchFamily="18" charset="0"/>
                <a:cs typeface="Times New Roman" pitchFamily="18" charset="0"/>
              </a:rPr>
              <a:t>The run-time support processor physically accesses the database according to the physical commands in the schedule generated by the query optimizer. The run-time support processor is the interface to the operating system and contains the database buffer (or cache) manager, which is responsible for maintaining the main memory buffers and managing the data accesses.</a:t>
            </a:r>
            <a:endParaRPr lang="en-IE" sz="20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239000" cy="47244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a:t>
            </a:r>
            <a:r>
              <a:rPr lang="en-US" sz="2000" b="1" dirty="0" err="1" smtClean="0">
                <a:latin typeface="Times New Roman" pitchFamily="18" charset="0"/>
                <a:cs typeface="Times New Roman" pitchFamily="18" charset="0"/>
              </a:rPr>
              <a:t>Multidatabase</a:t>
            </a:r>
            <a:r>
              <a:rPr lang="en-US" sz="2000" b="1" dirty="0" smtClean="0">
                <a:latin typeface="Times New Roman" pitchFamily="18" charset="0"/>
                <a:cs typeface="Times New Roman" pitchFamily="18" charset="0"/>
              </a:rPr>
              <a:t> System (MDBS) Architecture</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err="1" smtClean="0">
                <a:latin typeface="Times New Roman" pitchFamily="18" charset="0"/>
                <a:cs typeface="Times New Roman" pitchFamily="18" charset="0"/>
              </a:rPr>
              <a:t>Multidatabase</a:t>
            </a:r>
            <a:r>
              <a:rPr lang="en-US" sz="2000" dirty="0" smtClean="0">
                <a:latin typeface="Times New Roman" pitchFamily="18" charset="0"/>
                <a:cs typeface="Times New Roman" pitchFamily="18" charset="0"/>
              </a:rPr>
              <a:t> systems (MDBS) represent the case where individual DBMSs (whether distributed or not) are fully autonomous and have no concept of cooperation; </a:t>
            </a: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They may not even “know” of each other’s existence or how to talk to each other.</a:t>
            </a:r>
            <a:endParaRPr lang="en-IE" sz="20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239000" cy="47244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Distributed multi-DBMSs VS distributed DBMSs</a:t>
            </a:r>
            <a:endParaRPr lang="en-US" sz="2000" dirty="0" smtClean="0">
              <a:latin typeface="Times New Roman" pitchFamily="18" charset="0"/>
              <a:cs typeface="Times New Roman" pitchFamily="18" charset="0"/>
            </a:endParaRP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The fundamental difference relates to the definition of the global conceptual schema. In the case of logically integrated distributed DBMSs, the global conceptual schema defines the conceptual view of the entire database, while in the case of distributed multi-DBMSs, it represents only the collection of some of the local databases that each local DBMS wants to share. </a:t>
            </a: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The individual DBMSs may choose to make some of their data available for access by others by defining an export schema.</a:t>
            </a:r>
          </a:p>
          <a:p>
            <a:pPr lvl="1" indent="-457200" algn="just">
              <a:buFont typeface="Wingdings" pitchFamily="2" charset="2"/>
              <a:buChar char="Ø"/>
            </a:pPr>
            <a:endParaRPr lang="en-IE" sz="20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239000" cy="47244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Distributed multi-DBMSs VS distributed DBMSs</a:t>
            </a:r>
            <a:endParaRPr lang="en-US" sz="2000" dirty="0" smtClean="0">
              <a:latin typeface="Times New Roman" pitchFamily="18" charset="0"/>
              <a:cs typeface="Times New Roman" pitchFamily="18" charset="0"/>
            </a:endParaRP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In MDBSs, the global database is equal to the union of local databases, whereas in distributed DBMSs it is only a subset of the same union. </a:t>
            </a:r>
          </a:p>
          <a:p>
            <a:pPr lvl="1" indent="-457200" algn="just">
              <a:buFont typeface="Wingdings" pitchFamily="2" charset="2"/>
              <a:buChar char="Ø"/>
            </a:pPr>
            <a:r>
              <a:rPr lang="en-US" sz="2000" dirty="0" smtClean="0">
                <a:latin typeface="Times New Roman" pitchFamily="18" charset="0"/>
                <a:cs typeface="Times New Roman" pitchFamily="18" charset="0"/>
              </a:rPr>
              <a:t>In a MDBS, the GCS is defined by integrating either the external schemas of local autonomous databases or local conceptual schemas.</a:t>
            </a:r>
            <a:endParaRPr lang="en-IE" sz="20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80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239000" cy="6858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MDBS Architecture</a:t>
            </a:r>
            <a:endParaRPr lang="en-US" sz="2000" dirty="0" smtClean="0">
              <a:latin typeface="Times New Roman" pitchFamily="18" charset="0"/>
              <a:cs typeface="Times New Roman" pitchFamily="18" charset="0"/>
            </a:endParaRPr>
          </a:p>
          <a:p>
            <a:pPr lvl="1" indent="-457200" algn="just">
              <a:buFont typeface="Wingdings" pitchFamily="2" charset="2"/>
              <a:buChar char="Ø"/>
            </a:pPr>
            <a:endParaRPr lang="en-US" sz="20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101378" name="Group 2"/>
          <p:cNvGrpSpPr>
            <a:grpSpLocks noChangeAspect="1"/>
          </p:cNvGrpSpPr>
          <p:nvPr/>
        </p:nvGrpSpPr>
        <p:grpSpPr bwMode="auto">
          <a:xfrm>
            <a:off x="415615" y="1905000"/>
            <a:ext cx="8347385" cy="4800600"/>
            <a:chOff x="1665" y="2460"/>
            <a:chExt cx="9135" cy="4920"/>
          </a:xfrm>
        </p:grpSpPr>
        <p:sp>
          <p:nvSpPr>
            <p:cNvPr id="101379" name="AutoShape 3"/>
            <p:cNvSpPr>
              <a:spLocks noChangeAspect="1" noChangeArrowheads="1"/>
            </p:cNvSpPr>
            <p:nvPr/>
          </p:nvSpPr>
          <p:spPr bwMode="auto">
            <a:xfrm>
              <a:off x="1665" y="2460"/>
              <a:ext cx="9135" cy="4920"/>
            </a:xfrm>
            <a:prstGeom prst="rect">
              <a:avLst/>
            </a:prstGeom>
            <a:noFill/>
          </p:spPr>
          <p:txBody>
            <a:bodyPr vert="horz" wrap="square" lIns="91440" tIns="45720" rIns="91440" bIns="45720" numCol="1" anchor="t" anchorCtr="0" compatLnSpc="1">
              <a:prstTxWarp prst="textNoShape">
                <a:avLst/>
              </a:prstTxWarp>
            </a:bodyPr>
            <a:lstStyle/>
            <a:p>
              <a:endParaRPr lang="en-US" sz="1600">
                <a:latin typeface="Times New Roman" pitchFamily="18" charset="0"/>
                <a:cs typeface="Times New Roman" pitchFamily="18" charset="0"/>
              </a:endParaRPr>
            </a:p>
          </p:txBody>
        </p:sp>
        <p:grpSp>
          <p:nvGrpSpPr>
            <p:cNvPr id="101380" name="Group 4"/>
            <p:cNvGrpSpPr>
              <a:grpSpLocks/>
            </p:cNvGrpSpPr>
            <p:nvPr/>
          </p:nvGrpSpPr>
          <p:grpSpPr bwMode="auto">
            <a:xfrm>
              <a:off x="2489" y="2595"/>
              <a:ext cx="6780" cy="4410"/>
              <a:chOff x="2489" y="2595"/>
              <a:chExt cx="6780" cy="4410"/>
            </a:xfrm>
          </p:grpSpPr>
          <p:sp>
            <p:nvSpPr>
              <p:cNvPr id="101381" name="Text Box 5"/>
              <p:cNvSpPr txBox="1">
                <a:spLocks noChangeArrowheads="1"/>
              </p:cNvSpPr>
              <p:nvPr/>
            </p:nvSpPr>
            <p:spPr bwMode="auto">
              <a:xfrm>
                <a:off x="4380" y="6555"/>
                <a:ext cx="3765" cy="45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Fig.: MDBS Architecture with a GCS</a:t>
                </a:r>
              </a:p>
            </p:txBody>
          </p:sp>
          <p:sp>
            <p:nvSpPr>
              <p:cNvPr id="101382" name="Text Box 6"/>
              <p:cNvSpPr txBox="1">
                <a:spLocks noChangeArrowheads="1"/>
              </p:cNvSpPr>
              <p:nvPr/>
            </p:nvSpPr>
            <p:spPr bwMode="auto">
              <a:xfrm>
                <a:off x="3015" y="5685"/>
                <a:ext cx="1409" cy="46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LIS</a:t>
                </a:r>
                <a:r>
                  <a:rPr kumimoji="0" lang="en-US" sz="1600" b="0" i="0" u="none" strike="noStrike" cap="none" normalizeH="0" baseline="-25000" smtClean="0">
                    <a:ln>
                      <a:noFill/>
                    </a:ln>
                    <a:solidFill>
                      <a:schemeClr val="tx1"/>
                    </a:solidFill>
                    <a:effectLst/>
                    <a:latin typeface="Times New Roman" pitchFamily="18" charset="0"/>
                    <a:cs typeface="Times New Roman" pitchFamily="18" charset="0"/>
                  </a:rPr>
                  <a:t>1</a:t>
                </a:r>
                <a:endParaRPr kumimoji="0" lang="en-US" sz="16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1383" name="Text Box 7"/>
              <p:cNvSpPr txBox="1">
                <a:spLocks noChangeArrowheads="1"/>
              </p:cNvSpPr>
              <p:nvPr/>
            </p:nvSpPr>
            <p:spPr bwMode="auto">
              <a:xfrm>
                <a:off x="7395" y="5685"/>
                <a:ext cx="1409" cy="46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LIS</a:t>
                </a:r>
                <a:r>
                  <a:rPr kumimoji="0" lang="en-US" sz="1600" b="0" i="1" u="none" strike="noStrike" cap="none" normalizeH="0" baseline="-25000" smtClean="0">
                    <a:ln>
                      <a:noFill/>
                    </a:ln>
                    <a:solidFill>
                      <a:schemeClr val="tx1"/>
                    </a:solidFill>
                    <a:effectLst/>
                    <a:latin typeface="Times New Roman" pitchFamily="18" charset="0"/>
                    <a:cs typeface="Times New Roman" pitchFamily="18" charset="0"/>
                  </a:rPr>
                  <a:t>n</a:t>
                </a:r>
                <a:endParaRPr kumimoji="0" lang="en-US" sz="16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1384" name="Text Box 8"/>
              <p:cNvSpPr txBox="1">
                <a:spLocks noChangeArrowheads="1"/>
              </p:cNvSpPr>
              <p:nvPr/>
            </p:nvSpPr>
            <p:spPr bwMode="auto">
              <a:xfrm>
                <a:off x="5295" y="5685"/>
                <a:ext cx="1409" cy="46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 . . .</a:t>
                </a:r>
              </a:p>
            </p:txBody>
          </p:sp>
          <p:sp>
            <p:nvSpPr>
              <p:cNvPr id="101385" name="Text Box 9"/>
              <p:cNvSpPr txBox="1">
                <a:spLocks noChangeArrowheads="1"/>
              </p:cNvSpPr>
              <p:nvPr/>
            </p:nvSpPr>
            <p:spPr bwMode="auto">
              <a:xfrm>
                <a:off x="3015" y="4680"/>
                <a:ext cx="1409" cy="46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LCS</a:t>
                </a:r>
                <a:r>
                  <a:rPr kumimoji="0" lang="en-US" sz="1600" b="0" i="0" u="none" strike="noStrike" cap="none" normalizeH="0" baseline="-25000" smtClean="0">
                    <a:ln>
                      <a:noFill/>
                    </a:ln>
                    <a:solidFill>
                      <a:schemeClr val="tx1"/>
                    </a:solidFill>
                    <a:effectLst/>
                    <a:latin typeface="Times New Roman" pitchFamily="18" charset="0"/>
                    <a:cs typeface="Times New Roman" pitchFamily="18" charset="0"/>
                  </a:rPr>
                  <a:t>1</a:t>
                </a:r>
                <a:endParaRPr kumimoji="0" lang="en-US" sz="16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1386" name="Text Box 10"/>
              <p:cNvSpPr txBox="1">
                <a:spLocks noChangeArrowheads="1"/>
              </p:cNvSpPr>
              <p:nvPr/>
            </p:nvSpPr>
            <p:spPr bwMode="auto">
              <a:xfrm>
                <a:off x="7395" y="4680"/>
                <a:ext cx="1409" cy="46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LCS</a:t>
                </a:r>
                <a:r>
                  <a:rPr kumimoji="0" lang="en-US" sz="1600" b="0" i="1" u="none" strike="noStrike" cap="none" normalizeH="0" baseline="-25000" smtClean="0">
                    <a:ln>
                      <a:noFill/>
                    </a:ln>
                    <a:solidFill>
                      <a:schemeClr val="tx1"/>
                    </a:solidFill>
                    <a:effectLst/>
                    <a:latin typeface="Times New Roman" pitchFamily="18" charset="0"/>
                    <a:cs typeface="Times New Roman" pitchFamily="18" charset="0"/>
                  </a:rPr>
                  <a:t>n</a:t>
                </a:r>
                <a:endParaRPr kumimoji="0" lang="en-US" sz="16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1387" name="Text Box 11"/>
              <p:cNvSpPr txBox="1">
                <a:spLocks noChangeArrowheads="1"/>
              </p:cNvSpPr>
              <p:nvPr/>
            </p:nvSpPr>
            <p:spPr bwMode="auto">
              <a:xfrm>
                <a:off x="5295" y="4680"/>
                <a:ext cx="1409" cy="46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 . . .</a:t>
                </a:r>
              </a:p>
            </p:txBody>
          </p:sp>
          <p:sp>
            <p:nvSpPr>
              <p:cNvPr id="101388" name="Text Box 12"/>
              <p:cNvSpPr txBox="1">
                <a:spLocks noChangeArrowheads="1"/>
              </p:cNvSpPr>
              <p:nvPr/>
            </p:nvSpPr>
            <p:spPr bwMode="auto">
              <a:xfrm>
                <a:off x="2489" y="3900"/>
                <a:ext cx="675" cy="375"/>
              </a:xfrm>
              <a:prstGeom prst="rect">
                <a:avLst/>
              </a:prstGeom>
              <a:solidFill>
                <a:srgbClr val="FFFFFF">
                  <a:alpha val="0"/>
                </a:srgbClr>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LES</a:t>
                </a:r>
                <a:r>
                  <a:rPr kumimoji="0" lang="en-US" sz="1600" b="0" i="0" u="none" strike="noStrike" cap="none" normalizeH="0" baseline="-25000" smtClean="0">
                    <a:ln>
                      <a:noFill/>
                    </a:ln>
                    <a:solidFill>
                      <a:schemeClr val="tx1"/>
                    </a:solidFill>
                    <a:effectLst/>
                    <a:latin typeface="Times New Roman" pitchFamily="18" charset="0"/>
                    <a:cs typeface="Times New Roman" pitchFamily="18" charset="0"/>
                  </a:rPr>
                  <a:t>11</a:t>
                </a:r>
                <a:endParaRPr kumimoji="0" lang="en-US" sz="16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1389" name="Text Box 13"/>
              <p:cNvSpPr txBox="1">
                <a:spLocks noChangeArrowheads="1"/>
              </p:cNvSpPr>
              <p:nvPr/>
            </p:nvSpPr>
            <p:spPr bwMode="auto">
              <a:xfrm>
                <a:off x="3374" y="3900"/>
                <a:ext cx="675" cy="375"/>
              </a:xfrm>
              <a:prstGeom prst="rect">
                <a:avLst/>
              </a:prstGeom>
              <a:solidFill>
                <a:srgbClr val="FFFFFF">
                  <a:alpha val="0"/>
                </a:srgbClr>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LES</a:t>
                </a:r>
                <a:r>
                  <a:rPr kumimoji="0" lang="en-US" sz="1600" b="0" i="0" u="none" strike="noStrike" cap="none" normalizeH="0" baseline="-25000" smtClean="0">
                    <a:ln>
                      <a:noFill/>
                    </a:ln>
                    <a:solidFill>
                      <a:schemeClr val="tx1"/>
                    </a:solidFill>
                    <a:effectLst/>
                    <a:latin typeface="Times New Roman" pitchFamily="18" charset="0"/>
                    <a:cs typeface="Times New Roman" pitchFamily="18" charset="0"/>
                  </a:rPr>
                  <a:t>12</a:t>
                </a:r>
                <a:endParaRPr kumimoji="0" lang="en-US" sz="16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1390" name="Text Box 14"/>
              <p:cNvSpPr txBox="1">
                <a:spLocks noChangeArrowheads="1"/>
              </p:cNvSpPr>
              <p:nvPr/>
            </p:nvSpPr>
            <p:spPr bwMode="auto">
              <a:xfrm>
                <a:off x="4229" y="3900"/>
                <a:ext cx="675" cy="375"/>
              </a:xfrm>
              <a:prstGeom prst="rect">
                <a:avLst/>
              </a:prstGeom>
              <a:solidFill>
                <a:srgbClr val="FFFFFF">
                  <a:alpha val="0"/>
                </a:srgbClr>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LES</a:t>
                </a:r>
                <a:r>
                  <a:rPr kumimoji="0" lang="en-US" sz="1600" b="0" i="0" u="none" strike="noStrike" cap="none" normalizeH="0" baseline="-25000" smtClean="0">
                    <a:ln>
                      <a:noFill/>
                    </a:ln>
                    <a:solidFill>
                      <a:schemeClr val="tx1"/>
                    </a:solidFill>
                    <a:effectLst/>
                    <a:latin typeface="Times New Roman" pitchFamily="18" charset="0"/>
                    <a:cs typeface="Times New Roman" pitchFamily="18" charset="0"/>
                  </a:rPr>
                  <a:t>13</a:t>
                </a:r>
                <a:endParaRPr kumimoji="0" lang="en-US" sz="16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1391" name="Text Box 15"/>
              <p:cNvSpPr txBox="1">
                <a:spLocks noChangeArrowheads="1"/>
              </p:cNvSpPr>
              <p:nvPr/>
            </p:nvSpPr>
            <p:spPr bwMode="auto">
              <a:xfrm>
                <a:off x="6854" y="3900"/>
                <a:ext cx="675" cy="375"/>
              </a:xfrm>
              <a:prstGeom prst="rect">
                <a:avLst/>
              </a:prstGeom>
              <a:solidFill>
                <a:srgbClr val="FFFFFF">
                  <a:alpha val="0"/>
                </a:srgbClr>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LES</a:t>
                </a:r>
                <a:r>
                  <a:rPr kumimoji="0" lang="en-US" sz="1600" b="0" i="0" u="none" strike="noStrike" cap="none" normalizeH="0" baseline="-25000" smtClean="0">
                    <a:ln>
                      <a:noFill/>
                    </a:ln>
                    <a:solidFill>
                      <a:schemeClr val="tx1"/>
                    </a:solidFill>
                    <a:effectLst/>
                    <a:latin typeface="Times New Roman" pitchFamily="18" charset="0"/>
                    <a:cs typeface="Times New Roman" pitchFamily="18" charset="0"/>
                  </a:rPr>
                  <a:t>n1</a:t>
                </a:r>
                <a:endParaRPr kumimoji="0" lang="en-US" sz="16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1392" name="Text Box 16"/>
              <p:cNvSpPr txBox="1">
                <a:spLocks noChangeArrowheads="1"/>
              </p:cNvSpPr>
              <p:nvPr/>
            </p:nvSpPr>
            <p:spPr bwMode="auto">
              <a:xfrm>
                <a:off x="7754" y="3900"/>
                <a:ext cx="675" cy="375"/>
              </a:xfrm>
              <a:prstGeom prst="rect">
                <a:avLst/>
              </a:prstGeom>
              <a:solidFill>
                <a:srgbClr val="FFFFFF">
                  <a:alpha val="0"/>
                </a:srgbClr>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LES</a:t>
                </a:r>
                <a:r>
                  <a:rPr kumimoji="0" lang="en-US" sz="1600" b="0" i="0" u="none" strike="noStrike" cap="none" normalizeH="0" baseline="-25000" smtClean="0">
                    <a:ln>
                      <a:noFill/>
                    </a:ln>
                    <a:solidFill>
                      <a:schemeClr val="tx1"/>
                    </a:solidFill>
                    <a:effectLst/>
                    <a:latin typeface="Times New Roman" pitchFamily="18" charset="0"/>
                    <a:cs typeface="Times New Roman" pitchFamily="18" charset="0"/>
                  </a:rPr>
                  <a:t>n2</a:t>
                </a:r>
                <a:endParaRPr kumimoji="0" lang="en-US" sz="16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1393" name="Text Box 17"/>
              <p:cNvSpPr txBox="1">
                <a:spLocks noChangeArrowheads="1"/>
              </p:cNvSpPr>
              <p:nvPr/>
            </p:nvSpPr>
            <p:spPr bwMode="auto">
              <a:xfrm>
                <a:off x="8594" y="3900"/>
                <a:ext cx="675" cy="375"/>
              </a:xfrm>
              <a:prstGeom prst="rect">
                <a:avLst/>
              </a:prstGeom>
              <a:solidFill>
                <a:srgbClr val="FFFFFF">
                  <a:alpha val="0"/>
                </a:srgbClr>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LES</a:t>
                </a:r>
                <a:r>
                  <a:rPr kumimoji="0" lang="en-US" sz="1600" b="0" i="0" u="none" strike="noStrike" cap="none" normalizeH="0" baseline="-25000" smtClean="0">
                    <a:ln>
                      <a:noFill/>
                    </a:ln>
                    <a:solidFill>
                      <a:schemeClr val="tx1"/>
                    </a:solidFill>
                    <a:effectLst/>
                    <a:latin typeface="Times New Roman" pitchFamily="18" charset="0"/>
                    <a:cs typeface="Times New Roman" pitchFamily="18" charset="0"/>
                  </a:rPr>
                  <a:t>n3</a:t>
                </a:r>
                <a:endParaRPr kumimoji="0" lang="en-US" sz="16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1394" name="Text Box 18"/>
              <p:cNvSpPr txBox="1">
                <a:spLocks noChangeArrowheads="1"/>
              </p:cNvSpPr>
              <p:nvPr/>
            </p:nvSpPr>
            <p:spPr bwMode="auto">
              <a:xfrm>
                <a:off x="4678" y="2595"/>
                <a:ext cx="675" cy="375"/>
              </a:xfrm>
              <a:prstGeom prst="rect">
                <a:avLst/>
              </a:prstGeom>
              <a:solidFill>
                <a:srgbClr val="FFFFFF">
                  <a:alpha val="0"/>
                </a:srgbClr>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GES</a:t>
                </a:r>
                <a:r>
                  <a:rPr kumimoji="0" lang="en-US" sz="1600" b="0" i="0" u="none" strike="noStrike" cap="none" normalizeH="0" baseline="-25000" smtClean="0">
                    <a:ln>
                      <a:noFill/>
                    </a:ln>
                    <a:solidFill>
                      <a:schemeClr val="tx1"/>
                    </a:solidFill>
                    <a:effectLst/>
                    <a:latin typeface="Times New Roman" pitchFamily="18" charset="0"/>
                    <a:cs typeface="Times New Roman" pitchFamily="18" charset="0"/>
                  </a:rPr>
                  <a:t>1</a:t>
                </a:r>
                <a:endParaRPr kumimoji="0" lang="en-US" sz="16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1395" name="Text Box 19"/>
              <p:cNvSpPr txBox="1">
                <a:spLocks noChangeArrowheads="1"/>
              </p:cNvSpPr>
              <p:nvPr/>
            </p:nvSpPr>
            <p:spPr bwMode="auto">
              <a:xfrm>
                <a:off x="5503" y="2595"/>
                <a:ext cx="675" cy="375"/>
              </a:xfrm>
              <a:prstGeom prst="rect">
                <a:avLst/>
              </a:prstGeom>
              <a:solidFill>
                <a:srgbClr val="FFFFFF">
                  <a:alpha val="0"/>
                </a:srgbClr>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GES</a:t>
                </a:r>
                <a:r>
                  <a:rPr kumimoji="0" lang="en-US" sz="1600" b="0" i="0" u="none" strike="noStrike" cap="none" normalizeH="0" baseline="-25000" smtClean="0">
                    <a:ln>
                      <a:noFill/>
                    </a:ln>
                    <a:solidFill>
                      <a:schemeClr val="tx1"/>
                    </a:solidFill>
                    <a:effectLst/>
                    <a:latin typeface="Times New Roman" pitchFamily="18" charset="0"/>
                    <a:cs typeface="Times New Roman" pitchFamily="18" charset="0"/>
                  </a:rPr>
                  <a:t>2</a:t>
                </a:r>
                <a:endParaRPr kumimoji="0" lang="en-US" sz="16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1396" name="Text Box 20"/>
              <p:cNvSpPr txBox="1">
                <a:spLocks noChangeArrowheads="1"/>
              </p:cNvSpPr>
              <p:nvPr/>
            </p:nvSpPr>
            <p:spPr bwMode="auto">
              <a:xfrm>
                <a:off x="6313" y="2595"/>
                <a:ext cx="675" cy="375"/>
              </a:xfrm>
              <a:prstGeom prst="rect">
                <a:avLst/>
              </a:prstGeom>
              <a:solidFill>
                <a:srgbClr val="FFFFFF">
                  <a:alpha val="0"/>
                </a:srgbClr>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GES</a:t>
                </a:r>
                <a:r>
                  <a:rPr kumimoji="0" lang="en-US" sz="1600" b="0" i="0" u="none" strike="noStrike" cap="none" normalizeH="0" baseline="-25000" smtClean="0">
                    <a:ln>
                      <a:noFill/>
                    </a:ln>
                    <a:solidFill>
                      <a:schemeClr val="tx1"/>
                    </a:solidFill>
                    <a:effectLst/>
                    <a:latin typeface="Times New Roman" pitchFamily="18" charset="0"/>
                    <a:cs typeface="Times New Roman" pitchFamily="18" charset="0"/>
                  </a:rPr>
                  <a:t>3</a:t>
                </a:r>
                <a:endParaRPr kumimoji="0" lang="en-US" sz="1600" b="0"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1397" name="Text Box 21"/>
              <p:cNvSpPr txBox="1">
                <a:spLocks noChangeArrowheads="1"/>
              </p:cNvSpPr>
              <p:nvPr/>
            </p:nvSpPr>
            <p:spPr bwMode="auto">
              <a:xfrm>
                <a:off x="5354" y="3750"/>
                <a:ext cx="1005" cy="64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9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GCS</a:t>
                </a:r>
              </a:p>
            </p:txBody>
          </p:sp>
          <p:cxnSp>
            <p:nvCxnSpPr>
              <p:cNvPr id="101398" name="AutoShape 22"/>
              <p:cNvCxnSpPr>
                <a:cxnSpLocks noChangeShapeType="1"/>
                <a:stCxn id="101389" idx="2"/>
                <a:endCxn id="101385" idx="0"/>
              </p:cNvCxnSpPr>
              <p:nvPr/>
            </p:nvCxnSpPr>
            <p:spPr bwMode="auto">
              <a:xfrm>
                <a:off x="3712" y="4275"/>
                <a:ext cx="8" cy="405"/>
              </a:xfrm>
              <a:prstGeom prst="straightConnector1">
                <a:avLst/>
              </a:prstGeom>
              <a:noFill/>
              <a:ln w="9525">
                <a:solidFill>
                  <a:srgbClr val="000000"/>
                </a:solidFill>
                <a:round/>
                <a:headEnd/>
                <a:tailEnd/>
              </a:ln>
            </p:spPr>
          </p:cxnSp>
          <p:cxnSp>
            <p:nvCxnSpPr>
              <p:cNvPr id="101399" name="AutoShape 23"/>
              <p:cNvCxnSpPr>
                <a:cxnSpLocks noChangeShapeType="1"/>
                <a:stCxn id="101385" idx="2"/>
                <a:endCxn id="101382" idx="0"/>
              </p:cNvCxnSpPr>
              <p:nvPr/>
            </p:nvCxnSpPr>
            <p:spPr bwMode="auto">
              <a:xfrm>
                <a:off x="3720" y="5145"/>
                <a:ext cx="1" cy="540"/>
              </a:xfrm>
              <a:prstGeom prst="straightConnector1">
                <a:avLst/>
              </a:prstGeom>
              <a:noFill/>
              <a:ln w="9525">
                <a:solidFill>
                  <a:srgbClr val="000000"/>
                </a:solidFill>
                <a:round/>
                <a:headEnd/>
                <a:tailEnd/>
              </a:ln>
            </p:spPr>
          </p:cxnSp>
          <p:cxnSp>
            <p:nvCxnSpPr>
              <p:cNvPr id="101400" name="AutoShape 24"/>
              <p:cNvCxnSpPr>
                <a:cxnSpLocks noChangeShapeType="1"/>
                <a:stCxn id="101386" idx="2"/>
                <a:endCxn id="101383" idx="0"/>
              </p:cNvCxnSpPr>
              <p:nvPr/>
            </p:nvCxnSpPr>
            <p:spPr bwMode="auto">
              <a:xfrm>
                <a:off x="8100" y="5145"/>
                <a:ext cx="1" cy="540"/>
              </a:xfrm>
              <a:prstGeom prst="straightConnector1">
                <a:avLst/>
              </a:prstGeom>
              <a:noFill/>
              <a:ln w="9525">
                <a:solidFill>
                  <a:srgbClr val="000000"/>
                </a:solidFill>
                <a:round/>
                <a:headEnd/>
                <a:tailEnd/>
              </a:ln>
            </p:spPr>
          </p:cxnSp>
          <p:cxnSp>
            <p:nvCxnSpPr>
              <p:cNvPr id="101401" name="AutoShape 25"/>
              <p:cNvCxnSpPr>
                <a:cxnSpLocks noChangeShapeType="1"/>
                <a:stCxn id="101392" idx="2"/>
                <a:endCxn id="101386" idx="0"/>
              </p:cNvCxnSpPr>
              <p:nvPr/>
            </p:nvCxnSpPr>
            <p:spPr bwMode="auto">
              <a:xfrm>
                <a:off x="8092" y="4275"/>
                <a:ext cx="8" cy="405"/>
              </a:xfrm>
              <a:prstGeom prst="straightConnector1">
                <a:avLst/>
              </a:prstGeom>
              <a:noFill/>
              <a:ln w="9525">
                <a:solidFill>
                  <a:srgbClr val="000000"/>
                </a:solidFill>
                <a:round/>
                <a:headEnd/>
                <a:tailEnd/>
              </a:ln>
            </p:spPr>
          </p:cxnSp>
          <p:cxnSp>
            <p:nvCxnSpPr>
              <p:cNvPr id="101402" name="AutoShape 26"/>
              <p:cNvCxnSpPr>
                <a:cxnSpLocks noChangeShapeType="1"/>
                <a:stCxn id="101395" idx="2"/>
                <a:endCxn id="101397" idx="0"/>
              </p:cNvCxnSpPr>
              <p:nvPr/>
            </p:nvCxnSpPr>
            <p:spPr bwMode="auto">
              <a:xfrm>
                <a:off x="5841" y="2970"/>
                <a:ext cx="16" cy="780"/>
              </a:xfrm>
              <a:prstGeom prst="straightConnector1">
                <a:avLst/>
              </a:prstGeom>
              <a:noFill/>
              <a:ln w="9525">
                <a:solidFill>
                  <a:srgbClr val="000000"/>
                </a:solidFill>
                <a:round/>
                <a:headEnd/>
                <a:tailEnd/>
              </a:ln>
            </p:spPr>
          </p:cxnSp>
          <p:cxnSp>
            <p:nvCxnSpPr>
              <p:cNvPr id="101403" name="AutoShape 27"/>
              <p:cNvCxnSpPr>
                <a:cxnSpLocks noChangeShapeType="1"/>
                <a:stCxn id="101397" idx="2"/>
                <a:endCxn id="101385" idx="3"/>
              </p:cNvCxnSpPr>
              <p:nvPr/>
            </p:nvCxnSpPr>
            <p:spPr bwMode="auto">
              <a:xfrm flipH="1">
                <a:off x="4424" y="4395"/>
                <a:ext cx="1433" cy="518"/>
              </a:xfrm>
              <a:prstGeom prst="straightConnector1">
                <a:avLst/>
              </a:prstGeom>
              <a:noFill/>
              <a:ln w="9525">
                <a:solidFill>
                  <a:srgbClr val="000000"/>
                </a:solidFill>
                <a:round/>
                <a:headEnd/>
                <a:tailEnd/>
              </a:ln>
            </p:spPr>
          </p:cxnSp>
          <p:cxnSp>
            <p:nvCxnSpPr>
              <p:cNvPr id="101404" name="AutoShape 28"/>
              <p:cNvCxnSpPr>
                <a:cxnSpLocks noChangeShapeType="1"/>
                <a:stCxn id="101397" idx="2"/>
                <a:endCxn id="101386" idx="1"/>
              </p:cNvCxnSpPr>
              <p:nvPr/>
            </p:nvCxnSpPr>
            <p:spPr bwMode="auto">
              <a:xfrm>
                <a:off x="5857" y="4395"/>
                <a:ext cx="1538" cy="518"/>
              </a:xfrm>
              <a:prstGeom prst="straightConnector1">
                <a:avLst/>
              </a:prstGeom>
              <a:noFill/>
              <a:ln w="9525">
                <a:solidFill>
                  <a:srgbClr val="000000"/>
                </a:solidFill>
                <a:round/>
                <a:headEnd/>
                <a:tailEnd/>
              </a:ln>
            </p:spPr>
          </p:cxnSp>
          <p:cxnSp>
            <p:nvCxnSpPr>
              <p:cNvPr id="101405" name="AutoShape 29"/>
              <p:cNvCxnSpPr>
                <a:cxnSpLocks noChangeAspect="1" noChangeShapeType="1"/>
              </p:cNvCxnSpPr>
              <p:nvPr/>
            </p:nvCxnSpPr>
            <p:spPr bwMode="auto">
              <a:xfrm flipH="1">
                <a:off x="6163" y="2955"/>
                <a:ext cx="418" cy="798"/>
              </a:xfrm>
              <a:prstGeom prst="straightConnector1">
                <a:avLst/>
              </a:prstGeom>
              <a:noFill/>
              <a:ln w="9525">
                <a:solidFill>
                  <a:srgbClr val="000000"/>
                </a:solidFill>
                <a:round/>
                <a:headEnd/>
                <a:tailEnd/>
              </a:ln>
            </p:spPr>
          </p:cxnSp>
          <p:cxnSp>
            <p:nvCxnSpPr>
              <p:cNvPr id="101406" name="AutoShape 30"/>
              <p:cNvCxnSpPr>
                <a:cxnSpLocks noChangeAspect="1" noChangeShapeType="1"/>
              </p:cNvCxnSpPr>
              <p:nvPr/>
            </p:nvCxnSpPr>
            <p:spPr bwMode="auto">
              <a:xfrm>
                <a:off x="5046" y="2970"/>
                <a:ext cx="418" cy="761"/>
              </a:xfrm>
              <a:prstGeom prst="straightConnector1">
                <a:avLst/>
              </a:prstGeom>
              <a:noFill/>
              <a:ln w="9525">
                <a:solidFill>
                  <a:srgbClr val="000000"/>
                </a:solidFill>
                <a:round/>
                <a:headEnd/>
                <a:tailEnd/>
              </a:ln>
            </p:spPr>
          </p:cxnSp>
          <p:cxnSp>
            <p:nvCxnSpPr>
              <p:cNvPr id="101407" name="AutoShape 31"/>
              <p:cNvCxnSpPr>
                <a:cxnSpLocks noChangeAspect="1" noChangeShapeType="1"/>
              </p:cNvCxnSpPr>
              <p:nvPr/>
            </p:nvCxnSpPr>
            <p:spPr bwMode="auto">
              <a:xfrm>
                <a:off x="2842" y="4305"/>
                <a:ext cx="245" cy="372"/>
              </a:xfrm>
              <a:prstGeom prst="straightConnector1">
                <a:avLst/>
              </a:prstGeom>
              <a:noFill/>
              <a:ln w="9525">
                <a:solidFill>
                  <a:srgbClr val="000000"/>
                </a:solidFill>
                <a:round/>
                <a:headEnd/>
                <a:tailEnd/>
              </a:ln>
            </p:spPr>
          </p:cxnSp>
          <p:cxnSp>
            <p:nvCxnSpPr>
              <p:cNvPr id="101408" name="AutoShape 32"/>
              <p:cNvCxnSpPr>
                <a:cxnSpLocks noChangeAspect="1" noChangeShapeType="1"/>
              </p:cNvCxnSpPr>
              <p:nvPr/>
            </p:nvCxnSpPr>
            <p:spPr bwMode="auto">
              <a:xfrm flipH="1">
                <a:off x="4304" y="4305"/>
                <a:ext cx="331" cy="358"/>
              </a:xfrm>
              <a:prstGeom prst="straightConnector1">
                <a:avLst/>
              </a:prstGeom>
              <a:noFill/>
              <a:ln w="9525">
                <a:solidFill>
                  <a:srgbClr val="000000"/>
                </a:solidFill>
                <a:round/>
                <a:headEnd/>
                <a:tailEnd/>
              </a:ln>
            </p:spPr>
          </p:cxnSp>
          <p:cxnSp>
            <p:nvCxnSpPr>
              <p:cNvPr id="101409" name="AutoShape 33"/>
              <p:cNvCxnSpPr>
                <a:cxnSpLocks noChangeAspect="1" noChangeShapeType="1"/>
              </p:cNvCxnSpPr>
              <p:nvPr/>
            </p:nvCxnSpPr>
            <p:spPr bwMode="auto">
              <a:xfrm>
                <a:off x="7273" y="4290"/>
                <a:ext cx="245" cy="372"/>
              </a:xfrm>
              <a:prstGeom prst="straightConnector1">
                <a:avLst/>
              </a:prstGeom>
              <a:noFill/>
              <a:ln w="9525">
                <a:solidFill>
                  <a:srgbClr val="000000"/>
                </a:solidFill>
                <a:round/>
                <a:headEnd/>
                <a:tailEnd/>
              </a:ln>
            </p:spPr>
          </p:cxnSp>
          <p:cxnSp>
            <p:nvCxnSpPr>
              <p:cNvPr id="101410" name="AutoShape 34"/>
              <p:cNvCxnSpPr>
                <a:cxnSpLocks noChangeAspect="1" noChangeShapeType="1"/>
              </p:cNvCxnSpPr>
              <p:nvPr/>
            </p:nvCxnSpPr>
            <p:spPr bwMode="auto">
              <a:xfrm flipH="1">
                <a:off x="8624" y="4290"/>
                <a:ext cx="331" cy="358"/>
              </a:xfrm>
              <a:prstGeom prst="straightConnector1">
                <a:avLst/>
              </a:prstGeom>
              <a:noFill/>
              <a:ln w="9525">
                <a:solidFill>
                  <a:srgbClr val="000000"/>
                </a:solidFill>
                <a:round/>
                <a:headEnd/>
                <a:tailEnd/>
              </a:ln>
            </p:spPr>
          </p:cxnSp>
        </p:grpSp>
      </p:gr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81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239000" cy="48006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MDBS Architecture</a:t>
            </a:r>
            <a:endParaRPr lang="en-US" sz="2000" dirty="0" smtClean="0">
              <a:latin typeface="Times New Roman" pitchFamily="18" charset="0"/>
              <a:cs typeface="Times New Roman" pitchFamily="18" charset="0"/>
            </a:endParaRPr>
          </a:p>
          <a:p>
            <a:pPr lvl="1" indent="-457200" algn="just">
              <a:buFont typeface="Wingdings" pitchFamily="2" charset="2"/>
              <a:buChar char="Ø"/>
            </a:pPr>
            <a:endParaRPr lang="en-US" sz="14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Users of a local DBMS define their own views on the local database and do not need to change their applications if they do not want to access data from another database. This is again an issue of autonomy. </a:t>
            </a:r>
          </a:p>
          <a:p>
            <a:pPr lvl="1" indent="-457200" algn="just">
              <a:buFont typeface="Wingdings" pitchFamily="2" charset="2"/>
              <a:buChar char="Ø"/>
            </a:pPr>
            <a:endParaRPr lang="en-US" sz="14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Designing the global conceptual schema in </a:t>
            </a:r>
            <a:r>
              <a:rPr lang="en-US" sz="2000" dirty="0" err="1" smtClean="0">
                <a:latin typeface="Times New Roman" pitchFamily="18" charset="0"/>
                <a:cs typeface="Times New Roman" pitchFamily="18" charset="0"/>
              </a:rPr>
              <a:t>multidatabase</a:t>
            </a:r>
            <a:r>
              <a:rPr lang="en-US" sz="2000" dirty="0" smtClean="0">
                <a:latin typeface="Times New Roman" pitchFamily="18" charset="0"/>
                <a:cs typeface="Times New Roman" pitchFamily="18" charset="0"/>
              </a:rPr>
              <a:t> systems involves the integration of either the local conceptual schemas or the local external schemas.</a:t>
            </a:r>
          </a:p>
          <a:p>
            <a:pPr lvl="1" indent="-457200" algn="just">
              <a:buFont typeface="Wingdings" pitchFamily="2" charset="2"/>
              <a:buChar char="Ø"/>
            </a:pPr>
            <a:endParaRPr lang="en-US" sz="14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Once the GCS has been designed, views over the global schema can be defined for users who require global access. It is not necessary for the GES and GCS to be defined using the same data model and language; whether they do or not determines whether the system is homogeneous or heterogeneous.</a:t>
            </a: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82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239000" cy="48006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MDBS Architecture</a:t>
            </a:r>
            <a:endParaRPr lang="en-US" sz="2000" dirty="0" smtClean="0">
              <a:latin typeface="Times New Roman" pitchFamily="18" charset="0"/>
              <a:cs typeface="Times New Roman" pitchFamily="18" charset="0"/>
            </a:endParaRP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0" algn="just"/>
            <a:r>
              <a:rPr lang="en-US" sz="2000" b="1" dirty="0" smtClean="0">
                <a:latin typeface="Times New Roman" pitchFamily="18" charset="0"/>
                <a:cs typeface="Times New Roman" pitchFamily="18" charset="0"/>
              </a:rPr>
              <a:t>LIS Local Internal Schema:</a:t>
            </a:r>
            <a:r>
              <a:rPr lang="en-US" sz="2000" dirty="0" smtClean="0">
                <a:latin typeface="Times New Roman" pitchFamily="18" charset="0"/>
                <a:cs typeface="Times New Roman" pitchFamily="18" charset="0"/>
              </a:rPr>
              <a:t> Physical data organization and techniques to manipulate data at different sites.</a:t>
            </a:r>
          </a:p>
          <a:p>
            <a:pPr lvl="0" algn="just"/>
            <a:endParaRPr lang="en-US" sz="2000" b="1" dirty="0" smtClean="0">
              <a:latin typeface="Times New Roman" pitchFamily="18" charset="0"/>
              <a:cs typeface="Times New Roman" pitchFamily="18" charset="0"/>
            </a:endParaRPr>
          </a:p>
          <a:p>
            <a:pPr lvl="0" algn="just"/>
            <a:r>
              <a:rPr lang="en-US" sz="2000" b="1" dirty="0" smtClean="0">
                <a:latin typeface="Times New Roman" pitchFamily="18" charset="0"/>
                <a:cs typeface="Times New Roman" pitchFamily="18" charset="0"/>
              </a:rPr>
              <a:t>LCS Local Conceptual Schema:</a:t>
            </a:r>
            <a:r>
              <a:rPr lang="en-US" sz="2000" dirty="0" smtClean="0">
                <a:latin typeface="Times New Roman" pitchFamily="18" charset="0"/>
                <a:cs typeface="Times New Roman" pitchFamily="18" charset="0"/>
              </a:rPr>
              <a:t> data definition at different sites.</a:t>
            </a:r>
          </a:p>
          <a:p>
            <a:pPr lvl="0" algn="just"/>
            <a:endParaRPr lang="en-US" sz="2000" b="1" dirty="0" smtClean="0">
              <a:latin typeface="Times New Roman" pitchFamily="18" charset="0"/>
              <a:cs typeface="Times New Roman" pitchFamily="18" charset="0"/>
            </a:endParaRPr>
          </a:p>
          <a:p>
            <a:pPr lvl="0" algn="just"/>
            <a:r>
              <a:rPr lang="en-US" sz="2000" b="1" dirty="0" smtClean="0">
                <a:latin typeface="Times New Roman" pitchFamily="18" charset="0"/>
                <a:cs typeface="Times New Roman" pitchFamily="18" charset="0"/>
              </a:rPr>
              <a:t>LES Local External Schema:</a:t>
            </a:r>
            <a:r>
              <a:rPr lang="en-US" sz="2000" dirty="0" smtClean="0">
                <a:latin typeface="Times New Roman" pitchFamily="18" charset="0"/>
                <a:cs typeface="Times New Roman" pitchFamily="18" charset="0"/>
              </a:rPr>
              <a:t> Local user data view.</a:t>
            </a:r>
          </a:p>
          <a:p>
            <a:pPr lvl="0" algn="just"/>
            <a:endParaRPr lang="en-US" sz="2000" b="1" dirty="0" smtClean="0">
              <a:latin typeface="Times New Roman" pitchFamily="18" charset="0"/>
              <a:cs typeface="Times New Roman" pitchFamily="18" charset="0"/>
            </a:endParaRPr>
          </a:p>
          <a:p>
            <a:pPr lvl="0" algn="just"/>
            <a:r>
              <a:rPr lang="en-US" sz="2000" b="1" dirty="0" smtClean="0">
                <a:latin typeface="Times New Roman" pitchFamily="18" charset="0"/>
                <a:cs typeface="Times New Roman" pitchFamily="18" charset="0"/>
              </a:rPr>
              <a:t>GCS Global Conceptual Schema:</a:t>
            </a:r>
            <a:r>
              <a:rPr lang="en-US" sz="2000" dirty="0" smtClean="0">
                <a:latin typeface="Times New Roman" pitchFamily="18" charset="0"/>
                <a:cs typeface="Times New Roman" pitchFamily="18" charset="0"/>
              </a:rPr>
              <a:t> Union of LCSs who want to share data. Data definition for global users.</a:t>
            </a:r>
          </a:p>
          <a:p>
            <a:pPr lvl="0" algn="just"/>
            <a:endParaRPr lang="en-US" sz="2000" b="1" dirty="0" smtClean="0">
              <a:latin typeface="Times New Roman" pitchFamily="18" charset="0"/>
              <a:cs typeface="Times New Roman" pitchFamily="18" charset="0"/>
            </a:endParaRPr>
          </a:p>
          <a:p>
            <a:pPr lvl="0" algn="just"/>
            <a:r>
              <a:rPr lang="en-US" sz="2000" b="1" dirty="0" smtClean="0">
                <a:latin typeface="Times New Roman" pitchFamily="18" charset="0"/>
                <a:cs typeface="Times New Roman" pitchFamily="18" charset="0"/>
              </a:rPr>
              <a:t>GES Global External Schema:</a:t>
            </a:r>
            <a:r>
              <a:rPr lang="en-US" sz="2000" dirty="0" smtClean="0">
                <a:latin typeface="Times New Roman" pitchFamily="18" charset="0"/>
                <a:cs typeface="Times New Roman" pitchFamily="18" charset="0"/>
              </a:rPr>
              <a:t> Global user data view.</a:t>
            </a:r>
          </a:p>
          <a:p>
            <a:pPr lvl="1" indent="-457200" algn="just">
              <a:buFont typeface="Wingdings" pitchFamily="2" charset="2"/>
              <a:buChar char="Ø"/>
            </a:pPr>
            <a:endParaRPr lang="en-US" sz="20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83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239000" cy="457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Component-based architectural model of a multi-DBMS</a:t>
            </a:r>
            <a:endParaRPr lang="en-US" sz="2000" dirty="0" smtClean="0">
              <a:latin typeface="Times New Roman" pitchFamily="18" charset="0"/>
              <a:cs typeface="Times New Roman" pitchFamily="18" charset="0"/>
            </a:endParaRPr>
          </a:p>
          <a:p>
            <a:pPr lvl="0" algn="just"/>
            <a:endParaRPr lang="en-US" sz="20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102402" name="Group 2"/>
          <p:cNvGrpSpPr>
            <a:grpSpLocks noChangeAspect="1"/>
          </p:cNvGrpSpPr>
          <p:nvPr/>
        </p:nvGrpSpPr>
        <p:grpSpPr bwMode="auto">
          <a:xfrm>
            <a:off x="914400" y="2047875"/>
            <a:ext cx="7493338" cy="4048125"/>
            <a:chOff x="1665" y="1695"/>
            <a:chExt cx="9135" cy="4935"/>
          </a:xfrm>
        </p:grpSpPr>
        <p:sp>
          <p:nvSpPr>
            <p:cNvPr id="102403" name="AutoShape 3"/>
            <p:cNvSpPr>
              <a:spLocks noChangeAspect="1" noChangeArrowheads="1"/>
            </p:cNvSpPr>
            <p:nvPr/>
          </p:nvSpPr>
          <p:spPr bwMode="auto">
            <a:xfrm>
              <a:off x="1665" y="1695"/>
              <a:ext cx="9135" cy="4935"/>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pSp>
          <p:nvGrpSpPr>
            <p:cNvPr id="102404" name="Group 4"/>
            <p:cNvGrpSpPr>
              <a:grpSpLocks/>
            </p:cNvGrpSpPr>
            <p:nvPr/>
          </p:nvGrpSpPr>
          <p:grpSpPr bwMode="auto">
            <a:xfrm>
              <a:off x="4005" y="1800"/>
              <a:ext cx="4455" cy="4830"/>
              <a:chOff x="3690" y="3060"/>
              <a:chExt cx="4455" cy="4830"/>
            </a:xfrm>
          </p:grpSpPr>
          <p:sp>
            <p:nvSpPr>
              <p:cNvPr id="102405" name="Text Box 5"/>
              <p:cNvSpPr txBox="1">
                <a:spLocks noChangeArrowheads="1"/>
              </p:cNvSpPr>
              <p:nvPr/>
            </p:nvSpPr>
            <p:spPr bwMode="auto">
              <a:xfrm>
                <a:off x="3690" y="5640"/>
                <a:ext cx="1409" cy="43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smtClean="0">
                    <a:ln>
                      <a:noFill/>
                    </a:ln>
                    <a:solidFill>
                      <a:schemeClr val="tx1"/>
                    </a:solidFill>
                    <a:effectLst/>
                    <a:latin typeface="Times New Roman" pitchFamily="18" charset="0"/>
                    <a:cs typeface="Arial" pitchFamily="34" charset="0"/>
                  </a:rPr>
                  <a:t>DBMS</a:t>
                </a:r>
                <a:endParaRPr kumimoji="0" lang="en-US" b="0" i="0" u="none" strike="noStrike" cap="none" normalizeH="0" baseline="0" smtClean="0">
                  <a:ln>
                    <a:noFill/>
                  </a:ln>
                  <a:solidFill>
                    <a:schemeClr val="tx1"/>
                  </a:solidFill>
                  <a:effectLst/>
                  <a:latin typeface="Arial" pitchFamily="34" charset="0"/>
                  <a:cs typeface="Arial" pitchFamily="34" charset="0"/>
                </a:endParaRPr>
              </a:p>
            </p:txBody>
          </p:sp>
          <p:sp>
            <p:nvSpPr>
              <p:cNvPr id="102406" name="Text Box 6"/>
              <p:cNvSpPr txBox="1">
                <a:spLocks noChangeArrowheads="1"/>
              </p:cNvSpPr>
              <p:nvPr/>
            </p:nvSpPr>
            <p:spPr bwMode="auto">
              <a:xfrm>
                <a:off x="3945" y="7440"/>
                <a:ext cx="3765" cy="45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Fig.: Components of an MDBS</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2407" name="AutoShape 7"/>
              <p:cNvSpPr>
                <a:spLocks noChangeArrowheads="1"/>
              </p:cNvSpPr>
              <p:nvPr/>
            </p:nvSpPr>
            <p:spPr bwMode="auto">
              <a:xfrm>
                <a:off x="4110" y="6555"/>
                <a:ext cx="570" cy="585"/>
              </a:xfrm>
              <a:prstGeom prst="flowChartMagneticDisk">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102408" name="AutoShape 8"/>
              <p:cNvCxnSpPr>
                <a:cxnSpLocks noChangeShapeType="1"/>
                <a:stCxn id="102405" idx="2"/>
                <a:endCxn id="102407" idx="1"/>
              </p:cNvCxnSpPr>
              <p:nvPr/>
            </p:nvCxnSpPr>
            <p:spPr bwMode="auto">
              <a:xfrm>
                <a:off x="4395" y="6075"/>
                <a:ext cx="1" cy="480"/>
              </a:xfrm>
              <a:prstGeom prst="straightConnector1">
                <a:avLst/>
              </a:prstGeom>
              <a:noFill/>
              <a:ln w="9525">
                <a:solidFill>
                  <a:srgbClr val="000000"/>
                </a:solidFill>
                <a:round/>
                <a:headEnd/>
                <a:tailEnd type="triangle" w="med" len="med"/>
              </a:ln>
            </p:spPr>
          </p:cxnSp>
          <p:sp>
            <p:nvSpPr>
              <p:cNvPr id="102409" name="Text Box 9"/>
              <p:cNvSpPr txBox="1">
                <a:spLocks noChangeArrowheads="1"/>
              </p:cNvSpPr>
              <p:nvPr/>
            </p:nvSpPr>
            <p:spPr bwMode="auto">
              <a:xfrm>
                <a:off x="6736" y="5640"/>
                <a:ext cx="1409" cy="435"/>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smtClean="0">
                    <a:ln>
                      <a:noFill/>
                    </a:ln>
                    <a:solidFill>
                      <a:schemeClr val="tx1"/>
                    </a:solidFill>
                    <a:effectLst/>
                    <a:latin typeface="Times New Roman" pitchFamily="18" charset="0"/>
                    <a:cs typeface="Arial" pitchFamily="34" charset="0"/>
                  </a:rPr>
                  <a:t>DBMS</a:t>
                </a:r>
                <a:endParaRPr kumimoji="0" lang="en-US" b="0" i="0" u="none" strike="noStrike" cap="none" normalizeH="0" baseline="0" smtClean="0">
                  <a:ln>
                    <a:noFill/>
                  </a:ln>
                  <a:solidFill>
                    <a:schemeClr val="tx1"/>
                  </a:solidFill>
                  <a:effectLst/>
                  <a:latin typeface="Arial" pitchFamily="34" charset="0"/>
                  <a:cs typeface="Arial" pitchFamily="34" charset="0"/>
                </a:endParaRPr>
              </a:p>
            </p:txBody>
          </p:sp>
          <p:sp>
            <p:nvSpPr>
              <p:cNvPr id="102410" name="AutoShape 10"/>
              <p:cNvSpPr>
                <a:spLocks noChangeArrowheads="1"/>
              </p:cNvSpPr>
              <p:nvPr/>
            </p:nvSpPr>
            <p:spPr bwMode="auto">
              <a:xfrm>
                <a:off x="7156" y="6555"/>
                <a:ext cx="570" cy="585"/>
              </a:xfrm>
              <a:prstGeom prst="flowChartMagneticDisk">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102411" name="AutoShape 11"/>
              <p:cNvCxnSpPr>
                <a:cxnSpLocks noChangeShapeType="1"/>
                <a:stCxn id="102409" idx="2"/>
                <a:endCxn id="102410" idx="1"/>
              </p:cNvCxnSpPr>
              <p:nvPr/>
            </p:nvCxnSpPr>
            <p:spPr bwMode="auto">
              <a:xfrm>
                <a:off x="7441" y="6075"/>
                <a:ext cx="1" cy="480"/>
              </a:xfrm>
              <a:prstGeom prst="straightConnector1">
                <a:avLst/>
              </a:prstGeom>
              <a:noFill/>
              <a:ln w="9525">
                <a:solidFill>
                  <a:srgbClr val="000000"/>
                </a:solidFill>
                <a:round/>
                <a:headEnd/>
                <a:tailEnd type="triangle" w="med" len="med"/>
              </a:ln>
            </p:spPr>
          </p:cxnSp>
          <p:cxnSp>
            <p:nvCxnSpPr>
              <p:cNvPr id="102412" name="AutoShape 12"/>
              <p:cNvCxnSpPr>
                <a:cxnSpLocks noChangeShapeType="1"/>
                <a:stCxn id="102405" idx="2"/>
                <a:endCxn id="102407" idx="1"/>
              </p:cNvCxnSpPr>
              <p:nvPr/>
            </p:nvCxnSpPr>
            <p:spPr bwMode="auto">
              <a:xfrm>
                <a:off x="4395" y="6075"/>
                <a:ext cx="1" cy="480"/>
              </a:xfrm>
              <a:prstGeom prst="straightConnector1">
                <a:avLst/>
              </a:prstGeom>
              <a:noFill/>
              <a:ln w="9525">
                <a:solidFill>
                  <a:srgbClr val="000000"/>
                </a:solidFill>
                <a:round/>
                <a:headEnd type="triangle" w="med" len="med"/>
                <a:tailEnd type="triangle" w="med" len="med"/>
              </a:ln>
            </p:spPr>
          </p:cxnSp>
          <p:cxnSp>
            <p:nvCxnSpPr>
              <p:cNvPr id="102413" name="AutoShape 13"/>
              <p:cNvCxnSpPr>
                <a:cxnSpLocks noChangeShapeType="1"/>
                <a:stCxn id="102409" idx="2"/>
                <a:endCxn id="102410" idx="1"/>
              </p:cNvCxnSpPr>
              <p:nvPr/>
            </p:nvCxnSpPr>
            <p:spPr bwMode="auto">
              <a:xfrm>
                <a:off x="7441" y="6075"/>
                <a:ext cx="1" cy="480"/>
              </a:xfrm>
              <a:prstGeom prst="straightConnector1">
                <a:avLst/>
              </a:prstGeom>
              <a:noFill/>
              <a:ln w="9525">
                <a:solidFill>
                  <a:srgbClr val="000000"/>
                </a:solidFill>
                <a:round/>
                <a:headEnd type="triangle" w="med" len="med"/>
                <a:tailEnd type="triangle" w="med" len="med"/>
              </a:ln>
            </p:spPr>
          </p:cxnSp>
          <p:sp>
            <p:nvSpPr>
              <p:cNvPr id="102414" name="Text Box 14"/>
              <p:cNvSpPr txBox="1">
                <a:spLocks noChangeArrowheads="1"/>
              </p:cNvSpPr>
              <p:nvPr/>
            </p:nvSpPr>
            <p:spPr bwMode="auto">
              <a:xfrm>
                <a:off x="4440" y="4560"/>
                <a:ext cx="3045" cy="420"/>
              </a:xfrm>
              <a:prstGeom prst="rect">
                <a:avLst/>
              </a:prstGeom>
              <a:solidFill>
                <a:srgbClr val="FFFFFF">
                  <a:alpha val="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smtClean="0">
                    <a:ln>
                      <a:noFill/>
                    </a:ln>
                    <a:solidFill>
                      <a:schemeClr val="tx1"/>
                    </a:solidFill>
                    <a:effectLst/>
                    <a:latin typeface="Times New Roman" pitchFamily="18" charset="0"/>
                    <a:cs typeface="Arial" pitchFamily="34" charset="0"/>
                  </a:rPr>
                  <a:t>Multi-DBMS Layer</a:t>
                </a:r>
                <a:endParaRPr kumimoji="0" lang="en-US" b="0" i="0" u="none" strike="noStrike" cap="none" normalizeH="0" baseline="0" smtClean="0">
                  <a:ln>
                    <a:noFill/>
                  </a:ln>
                  <a:solidFill>
                    <a:schemeClr val="tx1"/>
                  </a:solidFill>
                  <a:effectLst/>
                  <a:latin typeface="Arial" pitchFamily="34" charset="0"/>
                  <a:cs typeface="Arial" pitchFamily="34" charset="0"/>
                </a:endParaRPr>
              </a:p>
            </p:txBody>
          </p:sp>
          <p:sp>
            <p:nvSpPr>
              <p:cNvPr id="102415" name="Text Box 15"/>
              <p:cNvSpPr txBox="1">
                <a:spLocks noChangeArrowheads="1"/>
              </p:cNvSpPr>
              <p:nvPr/>
            </p:nvSpPr>
            <p:spPr bwMode="auto">
              <a:xfrm>
                <a:off x="4020" y="5595"/>
                <a:ext cx="3765" cy="96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0" i="0" u="none" strike="noStrike" cap="none" normalizeH="0" baseline="0" smtClean="0">
                    <a:ln>
                      <a:noFill/>
                    </a:ln>
                    <a:solidFill>
                      <a:schemeClr val="tx1"/>
                    </a:solidFill>
                    <a:effectLst/>
                    <a:latin typeface="Times New Roman" pitchFamily="18" charset="0"/>
                    <a:cs typeface="Arial" pitchFamily="34" charset="0"/>
                  </a:rPr>
                  <a:t>. . . . </a:t>
                </a:r>
                <a:endParaRPr kumimoji="0" lang="en-US" b="0" i="0" u="none" strike="noStrike" cap="none" normalizeH="0" baseline="0" smtClean="0">
                  <a:ln>
                    <a:noFill/>
                  </a:ln>
                  <a:solidFill>
                    <a:schemeClr val="tx1"/>
                  </a:solidFill>
                  <a:effectLst/>
                  <a:latin typeface="Arial" pitchFamily="34" charset="0"/>
                  <a:cs typeface="Arial" pitchFamily="34" charset="0"/>
                </a:endParaRPr>
              </a:p>
            </p:txBody>
          </p:sp>
          <p:cxnSp>
            <p:nvCxnSpPr>
              <p:cNvPr id="102416" name="AutoShape 16"/>
              <p:cNvCxnSpPr>
                <a:cxnSpLocks noChangeShapeType="1"/>
              </p:cNvCxnSpPr>
              <p:nvPr/>
            </p:nvCxnSpPr>
            <p:spPr bwMode="auto">
              <a:xfrm flipH="1">
                <a:off x="4245" y="5010"/>
                <a:ext cx="1080" cy="630"/>
              </a:xfrm>
              <a:prstGeom prst="straightConnector1">
                <a:avLst/>
              </a:prstGeom>
              <a:noFill/>
              <a:ln w="9525">
                <a:solidFill>
                  <a:srgbClr val="000000"/>
                </a:solidFill>
                <a:round/>
                <a:headEnd type="triangle" w="med" len="med"/>
                <a:tailEnd type="triangle" w="med" len="med"/>
              </a:ln>
            </p:spPr>
          </p:cxnSp>
          <p:cxnSp>
            <p:nvCxnSpPr>
              <p:cNvPr id="102417" name="AutoShape 17"/>
              <p:cNvCxnSpPr>
                <a:cxnSpLocks noChangeShapeType="1"/>
              </p:cNvCxnSpPr>
              <p:nvPr/>
            </p:nvCxnSpPr>
            <p:spPr bwMode="auto">
              <a:xfrm>
                <a:off x="6855" y="4965"/>
                <a:ext cx="735" cy="675"/>
              </a:xfrm>
              <a:prstGeom prst="straightConnector1">
                <a:avLst/>
              </a:prstGeom>
              <a:noFill/>
              <a:ln w="9525">
                <a:solidFill>
                  <a:srgbClr val="000000"/>
                </a:solidFill>
                <a:round/>
                <a:headEnd type="triangle" w="med" len="med"/>
                <a:tailEnd type="triangle" w="med" len="med"/>
              </a:ln>
            </p:spPr>
          </p:cxnSp>
          <p:sp>
            <p:nvSpPr>
              <p:cNvPr id="102418" name="AutoShape 18"/>
              <p:cNvSpPr>
                <a:spLocks noChangeArrowheads="1"/>
              </p:cNvSpPr>
              <p:nvPr/>
            </p:nvSpPr>
            <p:spPr bwMode="auto">
              <a:xfrm>
                <a:off x="5370" y="3060"/>
                <a:ext cx="1200" cy="855"/>
              </a:xfrm>
              <a:prstGeom prst="hexagon">
                <a:avLst>
                  <a:gd name="adj" fmla="val 35088"/>
                  <a:gd name="vf" fmla="val 11547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Arial" pitchFamily="34" charset="0"/>
                  </a:rPr>
                  <a:t>User</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cxnSp>
            <p:nvCxnSpPr>
              <p:cNvPr id="102419" name="AutoShape 19"/>
              <p:cNvCxnSpPr>
                <a:cxnSpLocks noChangeShapeType="1"/>
              </p:cNvCxnSpPr>
              <p:nvPr/>
            </p:nvCxnSpPr>
            <p:spPr bwMode="auto">
              <a:xfrm flipH="1">
                <a:off x="5858" y="3915"/>
                <a:ext cx="7" cy="645"/>
              </a:xfrm>
              <a:prstGeom prst="straightConnector1">
                <a:avLst/>
              </a:prstGeom>
              <a:noFill/>
              <a:ln w="9525">
                <a:solidFill>
                  <a:srgbClr val="000000"/>
                </a:solidFill>
                <a:round/>
                <a:headEnd type="triangle" w="med" len="med"/>
                <a:tailEnd/>
              </a:ln>
            </p:spPr>
          </p:cxnSp>
          <p:cxnSp>
            <p:nvCxnSpPr>
              <p:cNvPr id="102420" name="AutoShape 20"/>
              <p:cNvCxnSpPr>
                <a:cxnSpLocks noChangeShapeType="1"/>
              </p:cNvCxnSpPr>
              <p:nvPr/>
            </p:nvCxnSpPr>
            <p:spPr bwMode="auto">
              <a:xfrm flipH="1">
                <a:off x="6113" y="3915"/>
                <a:ext cx="7" cy="645"/>
              </a:xfrm>
              <a:prstGeom prst="straightConnector1">
                <a:avLst/>
              </a:prstGeom>
              <a:noFill/>
              <a:ln w="9525">
                <a:solidFill>
                  <a:srgbClr val="000000"/>
                </a:solidFill>
                <a:round/>
                <a:headEnd/>
                <a:tailEnd type="triangle" w="med" len="med"/>
              </a:ln>
            </p:spPr>
          </p:cxnSp>
          <p:sp>
            <p:nvSpPr>
              <p:cNvPr id="102421" name="Text Box 21"/>
              <p:cNvSpPr txBox="1">
                <a:spLocks noChangeArrowheads="1"/>
              </p:cNvSpPr>
              <p:nvPr/>
            </p:nvSpPr>
            <p:spPr bwMode="auto">
              <a:xfrm>
                <a:off x="6072" y="3786"/>
                <a:ext cx="1409" cy="72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Arial" pitchFamily="34" charset="0"/>
                  </a:rPr>
                  <a:t>User</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Arial" pitchFamily="34" charset="0"/>
                  </a:rPr>
                  <a:t>requests</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p:txBody>
          </p:sp>
          <p:sp>
            <p:nvSpPr>
              <p:cNvPr id="102422" name="Text Box 22"/>
              <p:cNvSpPr txBox="1">
                <a:spLocks noChangeArrowheads="1"/>
              </p:cNvSpPr>
              <p:nvPr/>
            </p:nvSpPr>
            <p:spPr bwMode="auto">
              <a:xfrm>
                <a:off x="4416" y="3846"/>
                <a:ext cx="1409" cy="72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Arial" pitchFamily="34" charset="0"/>
                  </a:rPr>
                  <a:t>System responses</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p:txBody>
          </p:sp>
        </p:grpSp>
      </p:gr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84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990600" y="1447800"/>
            <a:ext cx="7239000" cy="48006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 Component-based architectural model of a multi-DBS</a:t>
            </a:r>
            <a:endParaRPr lang="en-US" sz="2000" dirty="0" smtClean="0">
              <a:latin typeface="Times New Roman" pitchFamily="18" charset="0"/>
              <a:cs typeface="Times New Roman" pitchFamily="18" charset="0"/>
            </a:endParaRPr>
          </a:p>
          <a:p>
            <a:pPr lvl="0" algn="just"/>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MDBS provides a layer of software that runs on top of these individual DBMSs and provides users with the facilities of accessing various databases. </a:t>
            </a: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In a distributed MDBS, the multi-DBMS layer may run on multiple sites or there may be central site where those services are offered. </a:t>
            </a:r>
          </a:p>
          <a:p>
            <a:pPr lvl="1" indent="-457200" algn="just">
              <a:buFont typeface="Wingdings" pitchFamily="2" charset="2"/>
              <a:buChar char="Ø"/>
            </a:pPr>
            <a:endParaRPr lang="en-US" sz="2000" dirty="0" smtClean="0">
              <a:latin typeface="Times New Roman" pitchFamily="18" charset="0"/>
              <a:cs typeface="Times New Roman" pitchFamily="18" charset="0"/>
            </a:endParaRPr>
          </a:p>
          <a:p>
            <a:pPr lvl="1" indent="-457200" algn="just">
              <a:buFont typeface="Wingdings" pitchFamily="2" charset="2"/>
              <a:buChar char="Ø"/>
            </a:pPr>
            <a:r>
              <a:rPr lang="en-US" sz="2000" dirty="0" smtClean="0">
                <a:latin typeface="Times New Roman" pitchFamily="18" charset="0"/>
                <a:cs typeface="Times New Roman" pitchFamily="18" charset="0"/>
              </a:rPr>
              <a:t>The MDBS layer is simply another application that submits requests and receives answers.</a:t>
            </a: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Database System Architectures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4/17/2025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85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3124200" y="2743200"/>
            <a:ext cx="2514600" cy="1600200"/>
          </a:xfrm>
          <a:prstGeom prst="rect">
            <a:avLst/>
          </a:prstGeom>
        </p:spPr>
        <p:txBody>
          <a:bodyPr/>
          <a:lstStyle/>
          <a:p>
            <a:pPr algn="just">
              <a:buFont typeface="Wingdings" pitchFamily="2" charset="2"/>
              <a:buChar char="q"/>
            </a:pPr>
            <a:endParaRPr lang="en-US" sz="2000" b="1" dirty="0" smtClean="0">
              <a:latin typeface="Times New Roman" pitchFamily="18" charset="0"/>
              <a:cs typeface="Times New Roman" pitchFamily="18" charset="0"/>
            </a:endParaRPr>
          </a:p>
          <a:p>
            <a:pPr algn="just"/>
            <a:r>
              <a:rPr lang="en-US" sz="4800" b="1" dirty="0" smtClean="0">
                <a:latin typeface="Times New Roman" pitchFamily="18" charset="0"/>
                <a:cs typeface="Times New Roman" pitchFamily="18" charset="0"/>
              </a:rPr>
              <a:t> Thanks</a:t>
            </a:r>
            <a:endParaRPr lang="en-US" sz="4800" dirty="0" smtClean="0">
              <a:latin typeface="Times New Roman" pitchFamily="18" charset="0"/>
              <a:cs typeface="Times New Roman" pitchFamily="18" charset="0"/>
            </a:endParaRPr>
          </a:p>
        </p:txBody>
      </p:sp>
      <p:sp>
        <p:nvSpPr>
          <p:cNvPr id="40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931</TotalTime>
  <Words>5914</Words>
  <Application>Microsoft Office PowerPoint</Application>
  <PresentationFormat>On-screen Show (4:3)</PresentationFormat>
  <Paragraphs>1044</Paragraphs>
  <Slides>85</Slides>
  <Notes>85</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85</vt:i4>
      </vt:variant>
    </vt:vector>
  </HeadingPairs>
  <TitlesOfParts>
    <vt:vector size="87" baseType="lpstr">
      <vt:lpstr>Office Theme</vt:lpstr>
      <vt:lpstr>Equation</vt:lpstr>
      <vt:lpstr>Slide 1</vt:lpstr>
      <vt:lpstr>Slide 2</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lpstr>Database System Architectures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CSEJU</cp:lastModifiedBy>
  <cp:revision>750</cp:revision>
  <dcterms:created xsi:type="dcterms:W3CDTF">2014-09-22T15:27:45Z</dcterms:created>
  <dcterms:modified xsi:type="dcterms:W3CDTF">2025-04-17T13:04:44Z</dcterms:modified>
</cp:coreProperties>
</file>