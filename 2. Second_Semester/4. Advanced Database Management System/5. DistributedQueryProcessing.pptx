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tiff" ContentType="image/tif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309" r:id="rId3"/>
    <p:sldId id="257" r:id="rId4"/>
    <p:sldId id="354" r:id="rId5"/>
    <p:sldId id="310" r:id="rId6"/>
    <p:sldId id="311" r:id="rId7"/>
    <p:sldId id="312" r:id="rId8"/>
    <p:sldId id="313" r:id="rId9"/>
    <p:sldId id="314" r:id="rId10"/>
    <p:sldId id="315" r:id="rId11"/>
    <p:sldId id="316" r:id="rId12"/>
    <p:sldId id="317" r:id="rId13"/>
    <p:sldId id="318" r:id="rId14"/>
    <p:sldId id="319" r:id="rId15"/>
    <p:sldId id="320" r:id="rId16"/>
    <p:sldId id="321" r:id="rId17"/>
    <p:sldId id="322" r:id="rId18"/>
    <p:sldId id="323" r:id="rId19"/>
    <p:sldId id="324" r:id="rId20"/>
    <p:sldId id="325" r:id="rId21"/>
    <p:sldId id="326" r:id="rId22"/>
    <p:sldId id="327" r:id="rId23"/>
    <p:sldId id="328" r:id="rId24"/>
    <p:sldId id="329" r:id="rId25"/>
    <p:sldId id="332" r:id="rId26"/>
    <p:sldId id="330" r:id="rId27"/>
    <p:sldId id="331" r:id="rId28"/>
    <p:sldId id="333" r:id="rId29"/>
    <p:sldId id="334" r:id="rId30"/>
    <p:sldId id="335" r:id="rId31"/>
    <p:sldId id="336" r:id="rId32"/>
    <p:sldId id="337" r:id="rId33"/>
    <p:sldId id="338" r:id="rId34"/>
    <p:sldId id="339" r:id="rId35"/>
    <p:sldId id="340" r:id="rId36"/>
    <p:sldId id="341" r:id="rId37"/>
    <p:sldId id="342" r:id="rId38"/>
    <p:sldId id="343" r:id="rId39"/>
    <p:sldId id="344" r:id="rId40"/>
    <p:sldId id="345" r:id="rId41"/>
    <p:sldId id="346" r:id="rId42"/>
    <p:sldId id="347" r:id="rId43"/>
    <p:sldId id="348" r:id="rId44"/>
    <p:sldId id="349" r:id="rId45"/>
    <p:sldId id="350" r:id="rId46"/>
    <p:sldId id="351" r:id="rId47"/>
    <p:sldId id="352" r:id="rId48"/>
    <p:sldId id="353"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06" autoAdjust="0"/>
    <p:restoredTop sz="97312" autoAdjust="0"/>
  </p:normalViewPr>
  <p:slideViewPr>
    <p:cSldViewPr>
      <p:cViewPr varScale="1">
        <p:scale>
          <a:sx n="69" d="100"/>
          <a:sy n="69" d="100"/>
        </p:scale>
        <p:origin x="1656" y="72"/>
      </p:cViewPr>
      <p:guideLst>
        <p:guide orient="horz" pos="2160"/>
        <p:guide pos="2880"/>
      </p:guideLst>
    </p:cSldViewPr>
  </p:slideViewPr>
  <p:outlineViewPr>
    <p:cViewPr>
      <p:scale>
        <a:sx n="33" d="100"/>
        <a:sy n="33" d="100"/>
      </p:scale>
      <p:origin x="21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109D61-295C-4E7B-896D-258D8C62218F}" type="datetimeFigureOut">
              <a:rPr lang="en-US" smtClean="0"/>
              <a:pPr/>
              <a:t>7/10/2026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05E933-03AE-4F32-8C5B-7DC0967ACB7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771D60C-4F28-4B3A-B514-0D39C0EEA5BD}" type="datetime1">
              <a:rPr lang="en-US" smtClean="0"/>
              <a:pPr/>
              <a:t>7/10/2026</a:t>
            </a:fld>
            <a:endParaRPr lang="en-US"/>
          </a:p>
        </p:txBody>
      </p:sp>
      <p:sp>
        <p:nvSpPr>
          <p:cNvPr id="6" name="Footer Placeholder 5"/>
          <p:cNvSpPr>
            <a:spLocks noGrp="1"/>
          </p:cNvSpPr>
          <p:nvPr>
            <p:ph type="ftr" sz="quarter" idx="11"/>
          </p:nvPr>
        </p:nvSpPr>
        <p:spPr/>
        <p:txBody>
          <a:bodyPr/>
          <a:lstStyle/>
          <a:p>
            <a:r>
              <a:rPr lang="en-US"/>
              <a:t>Md. Golam Moazzam, Dept. of CSE, JU</a:t>
            </a:r>
          </a:p>
        </p:txBody>
      </p:sp>
      <p:sp>
        <p:nvSpPr>
          <p:cNvPr id="7" name="Slide Number Placeholder 6"/>
          <p:cNvSpPr>
            <a:spLocks noGrp="1"/>
          </p:cNvSpPr>
          <p:nvPr>
            <p:ph type="sldNum" sz="quarter" idx="12"/>
          </p:nvPr>
        </p:nvSpPr>
        <p:spPr/>
        <p:txBody>
          <a:bodyPr/>
          <a:lstStyle/>
          <a:p>
            <a:fld id="{8C9281A4-4C9D-4645-98E5-DC94BB779C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tif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1C0BBC-583C-42F1-99F0-A9970C625DE3}" type="datetime1">
              <a:rPr lang="en-US" smtClean="0"/>
              <a:pPr/>
              <a:t>7/10/2026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Md. Golam Moazzam, Dept. of CSE, JU</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9281A4-4C9D-4645-98E5-DC94BB779CF3}" type="slidenum">
              <a:rPr lang="en-US" smtClean="0"/>
              <a:pPr/>
              <a:t>‹#›</a:t>
            </a:fld>
            <a:endParaRPr lang="en-US"/>
          </a:p>
        </p:txBody>
      </p:sp>
      <p:pic>
        <p:nvPicPr>
          <p:cNvPr id="7" name="Picture 6" descr="JU Mon eps.tif"/>
          <p:cNvPicPr>
            <a:picLocks noChangeAspect="1"/>
          </p:cNvPicPr>
          <p:nvPr userDrawn="1"/>
        </p:nvPicPr>
        <p:blipFill>
          <a:blip r:embed="rId4" cstate="print"/>
          <a:stretch>
            <a:fillRect/>
          </a:stretch>
        </p:blipFill>
        <p:spPr>
          <a:xfrm>
            <a:off x="381000" y="228600"/>
            <a:ext cx="917067" cy="1135254"/>
          </a:xfrm>
          <a:prstGeom prst="rect">
            <a:avLst/>
          </a:prstGeom>
        </p:spPr>
      </p:pic>
      <p:sp>
        <p:nvSpPr>
          <p:cNvPr id="8" name="TextBox 7"/>
          <p:cNvSpPr txBox="1"/>
          <p:nvPr userDrawn="1"/>
        </p:nvSpPr>
        <p:spPr>
          <a:xfrm>
            <a:off x="2133600" y="685800"/>
            <a:ext cx="5715000" cy="369332"/>
          </a:xfrm>
          <a:prstGeom prst="rect">
            <a:avLst/>
          </a:prstGeom>
          <a:noFill/>
        </p:spPr>
        <p:txBody>
          <a:bodyPr wrap="square" rtlCol="0">
            <a:spAutoFit/>
          </a:bodyPr>
          <a:lstStyle/>
          <a:p>
            <a:r>
              <a:rPr lang="en-US" dirty="0"/>
              <a:t>Indexing and Hashing</a:t>
            </a:r>
          </a:p>
        </p:txBody>
      </p:sp>
    </p:spTree>
  </p:cSld>
  <p:clrMap bg1="lt1" tx1="dk1" bg2="lt2" tx2="dk2" accent1="accent1" accent2="accent2" accent3="accent3" accent4="accent4" accent5="accent5" accent6="accent6" hlink="hlink" folHlink="folHlink"/>
  <p:sldLayoutIdLst>
    <p:sldLayoutId id="2147483652" r:id="rId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notesSlide" Target="../notesSlides/notesSlide23.xml"/><Relationship Id="rId7"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1.bin"/><Relationship Id="rId4" Type="http://schemas.openxmlformats.org/officeDocument/2006/relationships/image" Target="../media/image3.tif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oleObject" Target="../embeddings/oleObject10.bin"/><Relationship Id="rId3" Type="http://schemas.openxmlformats.org/officeDocument/2006/relationships/notesSlide" Target="../notesSlides/notesSlide24.xml"/><Relationship Id="rId7" Type="http://schemas.openxmlformats.org/officeDocument/2006/relationships/oleObject" Target="../embeddings/oleObject4.bin"/><Relationship Id="rId12" Type="http://schemas.openxmlformats.org/officeDocument/2006/relationships/oleObject" Target="../embeddings/oleObject9.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6.wmf"/><Relationship Id="rId11" Type="http://schemas.openxmlformats.org/officeDocument/2006/relationships/oleObject" Target="../embeddings/oleObject8.bin"/><Relationship Id="rId5" Type="http://schemas.openxmlformats.org/officeDocument/2006/relationships/oleObject" Target="../embeddings/oleObject3.bin"/><Relationship Id="rId10" Type="http://schemas.openxmlformats.org/officeDocument/2006/relationships/oleObject" Target="../embeddings/oleObject7.bin"/><Relationship Id="rId4" Type="http://schemas.openxmlformats.org/officeDocument/2006/relationships/image" Target="../media/image3.tiff"/><Relationship Id="rId9" Type="http://schemas.openxmlformats.org/officeDocument/2006/relationships/oleObject" Target="../embeddings/oleObject6.bin"/><Relationship Id="rId14" Type="http://schemas.openxmlformats.org/officeDocument/2006/relationships/oleObject" Target="../embeddings/oleObject11.bin"/></Relationships>
</file>

<file path=ppt/slides/_rels/slide2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219200" y="1752600"/>
            <a:ext cx="6858000" cy="3048000"/>
          </a:xfrm>
          <a:prstGeom prst="rect">
            <a:avLst/>
          </a:prstGeom>
        </p:spPr>
        <p:txBody>
          <a:bodyPr/>
          <a:lstStyle/>
          <a:p>
            <a:pPr algn="ctr">
              <a:buNone/>
            </a:pPr>
            <a:r>
              <a:rPr lang="en-US" sz="7200" dirty="0">
                <a:latin typeface="Times New Roman" pitchFamily="18" charset="0"/>
                <a:cs typeface="Times New Roman" pitchFamily="18" charset="0"/>
              </a:rPr>
              <a:t>Distributed</a:t>
            </a:r>
          </a:p>
          <a:p>
            <a:pPr algn="ctr">
              <a:buNone/>
            </a:pPr>
            <a:r>
              <a:rPr lang="en-US" sz="7200" dirty="0">
                <a:latin typeface="Times New Roman" pitchFamily="18" charset="0"/>
                <a:cs typeface="Times New Roman" pitchFamily="18" charset="0"/>
              </a:rPr>
              <a:t>Query Processing</a:t>
            </a:r>
            <a:endParaRPr lang="en-US" sz="54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OUTLINE</a:t>
            </a:r>
          </a:p>
        </p:txBody>
      </p:sp>
      <p:sp>
        <p:nvSpPr>
          <p:cNvPr id="10" name="Content Placeholder 16"/>
          <p:cNvSpPr txBox="1">
            <a:spLocks/>
          </p:cNvSpPr>
          <p:nvPr/>
        </p:nvSpPr>
        <p:spPr>
          <a:xfrm>
            <a:off x="1828800" y="1676400"/>
            <a:ext cx="5943600" cy="4343400"/>
          </a:xfrm>
          <a:prstGeom prst="rect">
            <a:avLst/>
          </a:prstGeom>
        </p:spPr>
        <p:txBody>
          <a:bodyPr/>
          <a:lstStyle/>
          <a:p>
            <a:pPr marL="342900" lvl="0" indent="-342900" algn="just">
              <a:spcBef>
                <a:spcPct val="20000"/>
              </a:spcBef>
              <a:buFont typeface="Wingdings" pitchFamily="2" charset="2"/>
              <a:buChar char="ü"/>
              <a:defRPr/>
            </a:pPr>
            <a:r>
              <a:rPr lang="en-US" sz="2000" dirty="0">
                <a:latin typeface="Times New Roman" pitchFamily="18" charset="0"/>
                <a:cs typeface="Times New Roman" pitchFamily="18" charset="0"/>
              </a:rPr>
              <a:t>What is Query ?</a:t>
            </a:r>
          </a:p>
          <a:p>
            <a:pPr marL="342900" lvl="0" indent="-342900" algn="just">
              <a:spcBef>
                <a:spcPct val="20000"/>
              </a:spcBef>
              <a:buFont typeface="Wingdings" pitchFamily="2" charset="2"/>
              <a:buChar char="ü"/>
              <a:defRPr/>
            </a:pPr>
            <a:r>
              <a:rPr lang="en-US" sz="2000" dirty="0">
                <a:latin typeface="Times New Roman" pitchFamily="18" charset="0"/>
                <a:cs typeface="Times New Roman" pitchFamily="18" charset="0"/>
              </a:rPr>
              <a:t>What is Query Processor?</a:t>
            </a:r>
          </a:p>
          <a:p>
            <a:pPr marL="342900" lvl="0" indent="-342900" algn="just">
              <a:spcBef>
                <a:spcPct val="20000"/>
              </a:spcBef>
              <a:buFont typeface="Wingdings" pitchFamily="2" charset="2"/>
              <a:buChar char="ü"/>
              <a:defRPr/>
            </a:pPr>
            <a:r>
              <a:rPr lang="en-US" sz="2000" dirty="0">
                <a:latin typeface="Times New Roman" pitchFamily="18" charset="0"/>
                <a:cs typeface="Times New Roman" pitchFamily="18" charset="0"/>
              </a:rPr>
              <a:t>Main Function of a Query Processor</a:t>
            </a:r>
          </a:p>
          <a:p>
            <a:pPr marL="342900" lvl="0" indent="-342900" algn="just">
              <a:spcBef>
                <a:spcPct val="20000"/>
              </a:spcBef>
              <a:buFont typeface="Wingdings" pitchFamily="2" charset="2"/>
              <a:buChar char="ü"/>
              <a:defRPr/>
            </a:pPr>
            <a:r>
              <a:rPr lang="en-US" sz="2000" dirty="0">
                <a:latin typeface="Times New Roman" pitchFamily="18" charset="0"/>
                <a:cs typeface="Times New Roman" pitchFamily="18" charset="0"/>
              </a:rPr>
              <a:t>Main Problems of Query Processing</a:t>
            </a:r>
          </a:p>
          <a:p>
            <a:pPr marL="342900" lvl="0" indent="-342900" algn="just">
              <a:spcBef>
                <a:spcPct val="20000"/>
              </a:spcBef>
              <a:buFont typeface="Wingdings" pitchFamily="2" charset="2"/>
              <a:buChar char="ü"/>
              <a:defRPr/>
            </a:pPr>
            <a:r>
              <a:rPr lang="en-US" sz="2000" dirty="0">
                <a:latin typeface="Times New Roman" pitchFamily="18" charset="0"/>
                <a:cs typeface="Times New Roman" pitchFamily="18" charset="0"/>
              </a:rPr>
              <a:t>Characteristics of Query Processor</a:t>
            </a:r>
          </a:p>
          <a:p>
            <a:pPr marL="342900" lvl="0" indent="-342900" algn="just">
              <a:spcBef>
                <a:spcPct val="20000"/>
              </a:spcBef>
              <a:buFont typeface="Wingdings" pitchFamily="2" charset="2"/>
              <a:buChar char="ü"/>
              <a:defRPr/>
            </a:pPr>
            <a:r>
              <a:rPr lang="en-US" sz="2000" dirty="0">
                <a:latin typeface="Times New Roman" pitchFamily="18" charset="0"/>
                <a:cs typeface="Times New Roman" pitchFamily="18" charset="0"/>
              </a:rPr>
              <a:t>Main layers of Query Processing </a:t>
            </a:r>
          </a:p>
          <a:p>
            <a:pPr marL="342900" lvl="0" indent="-342900" algn="just">
              <a:spcBef>
                <a:spcPct val="20000"/>
              </a:spcBef>
              <a:buFont typeface="Wingdings" pitchFamily="2" charset="2"/>
              <a:buChar char="ü"/>
              <a:defRPr/>
            </a:pPr>
            <a:r>
              <a:rPr lang="en-US" sz="2000" dirty="0">
                <a:latin typeface="Times New Roman" pitchFamily="18" charset="0"/>
                <a:cs typeface="Times New Roman" pitchFamily="18" charset="0"/>
              </a:rPr>
              <a:t>Query Decomposition </a:t>
            </a:r>
          </a:p>
          <a:p>
            <a:pPr marL="342900" lvl="0" indent="-342900" algn="just">
              <a:spcBef>
                <a:spcPct val="20000"/>
              </a:spcBef>
              <a:buFont typeface="Wingdings" pitchFamily="2" charset="2"/>
              <a:buChar char="ü"/>
              <a:defRPr/>
            </a:pPr>
            <a:r>
              <a:rPr lang="en-US" sz="2000" dirty="0">
                <a:latin typeface="Times New Roman" pitchFamily="18" charset="0"/>
                <a:cs typeface="Times New Roman" pitchFamily="18" charset="0"/>
              </a:rPr>
              <a:t>Data Localization </a:t>
            </a:r>
          </a:p>
          <a:p>
            <a:pPr marL="342900" lvl="0" indent="-342900" algn="just">
              <a:spcBef>
                <a:spcPct val="20000"/>
              </a:spcBef>
              <a:buFont typeface="Wingdings" pitchFamily="2" charset="2"/>
              <a:buChar char="ü"/>
              <a:defRPr/>
            </a:pPr>
            <a:r>
              <a:rPr lang="en-US" sz="2000" dirty="0">
                <a:latin typeface="Times New Roman" pitchFamily="18" charset="0"/>
                <a:cs typeface="Times New Roman" pitchFamily="18" charset="0"/>
              </a:rPr>
              <a:t>Global Query Optimization </a:t>
            </a:r>
          </a:p>
          <a:p>
            <a:pPr marL="342900" lvl="0" indent="-342900" algn="just">
              <a:spcBef>
                <a:spcPct val="20000"/>
              </a:spcBef>
              <a:buFont typeface="Wingdings" pitchFamily="2" charset="2"/>
              <a:buChar char="ü"/>
              <a:defRPr/>
            </a:pPr>
            <a:r>
              <a:rPr lang="en-US" sz="2000" dirty="0">
                <a:latin typeface="Times New Roman" pitchFamily="18" charset="0"/>
                <a:cs typeface="Times New Roman" pitchFamily="18" charset="0"/>
              </a:rPr>
              <a:t>Distributed Execution</a:t>
            </a:r>
          </a:p>
          <a:p>
            <a:pPr marL="342900" lvl="0" indent="-342900" algn="just">
              <a:spcBef>
                <a:spcPct val="20000"/>
              </a:spcBef>
              <a:buFont typeface="Wingdings" pitchFamily="2" charset="2"/>
              <a:buChar char="ü"/>
              <a:defRPr/>
            </a:pPr>
            <a:endParaRPr lang="en-US" sz="2000" dirty="0">
              <a:latin typeface="Times New Roman" pitchFamily="18" charset="0"/>
              <a:cs typeface="Times New Roman" pitchFamily="18" charset="0"/>
            </a:endParaRPr>
          </a:p>
          <a:p>
            <a:pPr marL="342900" lvl="0" indent="-342900" algn="just">
              <a:spcBef>
                <a:spcPct val="20000"/>
              </a:spcBef>
              <a:buFont typeface="Wingdings" pitchFamily="2" charset="2"/>
              <a:buChar char="ü"/>
              <a:defRPr/>
            </a:pPr>
            <a:endParaRPr lang="en-US" sz="20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981200"/>
            <a:ext cx="7086600" cy="31242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What is Query ?</a:t>
            </a:r>
            <a:endParaRPr lang="en-US" sz="24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A </a:t>
            </a:r>
            <a:r>
              <a:rPr lang="en-US" sz="2000" b="1" dirty="0">
                <a:latin typeface="Times New Roman" pitchFamily="18" charset="0"/>
                <a:cs typeface="Times New Roman" pitchFamily="18" charset="0"/>
              </a:rPr>
              <a:t>query </a:t>
            </a:r>
            <a:r>
              <a:rPr lang="en-US" sz="2000" dirty="0">
                <a:latin typeface="Times New Roman" pitchFamily="18" charset="0"/>
                <a:cs typeface="Times New Roman" pitchFamily="18" charset="0"/>
              </a:rPr>
              <a:t>is a statement requesting the retrieval of information. </a:t>
            </a:r>
          </a:p>
          <a:p>
            <a:pPr lvl="1" algn="just">
              <a:buFont typeface="Wingdings" pitchFamily="2" charset="2"/>
              <a:buChar char="Ø"/>
            </a:pPr>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The portion of a DML that involves information retrieval is called a </a:t>
            </a:r>
            <a:r>
              <a:rPr lang="en-US" sz="2000" b="1" dirty="0">
                <a:latin typeface="Times New Roman" pitchFamily="18" charset="0"/>
                <a:cs typeface="Times New Roman" pitchFamily="18" charset="0"/>
              </a:rPr>
              <a:t>query language</a:t>
            </a:r>
            <a:r>
              <a:rPr lang="en-US" sz="2000" dirty="0">
                <a:latin typeface="Times New Roman" pitchFamily="18" charset="0"/>
                <a:cs typeface="Times New Roman" pitchFamily="18" charset="0"/>
              </a:rPr>
              <a:t>.</a:t>
            </a:r>
          </a:p>
          <a:p>
            <a:pPr lvl="1" algn="just">
              <a:buFont typeface="Wingdings" pitchFamily="2" charset="2"/>
              <a:buChar char="Ø"/>
            </a:pP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44958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What is Query Processor?</a:t>
            </a:r>
            <a:endParaRPr lang="en-US" sz="24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In relational database technology, users perform the task of data processing and data manipulation with the help of high-level non-procedural language (e.g. SQL).</a:t>
            </a:r>
          </a:p>
          <a:p>
            <a:pPr lvl="1" algn="just">
              <a:buFont typeface="Wingdings" pitchFamily="2" charset="2"/>
              <a:buChar char="Ø"/>
            </a:pPr>
            <a:r>
              <a:rPr lang="en-US" sz="2000" dirty="0">
                <a:latin typeface="Times New Roman" pitchFamily="18" charset="0"/>
                <a:cs typeface="Times New Roman" pitchFamily="18" charset="0"/>
              </a:rPr>
              <a:t>This </a:t>
            </a:r>
            <a:r>
              <a:rPr lang="en-US" sz="2000" b="1" dirty="0">
                <a:latin typeface="Times New Roman" pitchFamily="18" charset="0"/>
                <a:cs typeface="Times New Roman" pitchFamily="18" charset="0"/>
              </a:rPr>
              <a:t>high-level query hides the low-level details from the user</a:t>
            </a:r>
            <a:r>
              <a:rPr lang="en-US" sz="2000" dirty="0">
                <a:latin typeface="Times New Roman" pitchFamily="18" charset="0"/>
                <a:cs typeface="Times New Roman" pitchFamily="18" charset="0"/>
              </a:rPr>
              <a:t> about the physical organization of the data and presents such an environment so that the user can handle the tasks of even complex queries in an easy, concise and simple fashion.</a:t>
            </a:r>
          </a:p>
          <a:p>
            <a:pPr lvl="1" algn="just">
              <a:buFont typeface="Wingdings" pitchFamily="2" charset="2"/>
              <a:buChar char="Ø"/>
            </a:pPr>
            <a:r>
              <a:rPr lang="en-US" sz="2000" b="1" dirty="0">
                <a:latin typeface="Times New Roman" pitchFamily="18" charset="0"/>
                <a:cs typeface="Times New Roman" pitchFamily="18" charset="0"/>
              </a:rPr>
              <a:t>The inner procedure of query-task is performed by a DBMS module called a Query Processor</a:t>
            </a:r>
            <a:r>
              <a:rPr lang="en-US" sz="2000" dirty="0">
                <a:latin typeface="Times New Roman" pitchFamily="18" charset="0"/>
                <a:cs typeface="Times New Roman" pitchFamily="18" charset="0"/>
              </a:rPr>
              <a:t>. Hence the users are relieved from query optimization which is a time-consuming task that is actually performed by the query processor.</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44958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What is Query Processor?</a:t>
            </a:r>
            <a:endParaRPr lang="en-US" sz="24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Understanding Query processing in distributed database environments is very difficult instead of centralized database, because there are many elements or parameters involved that affect the overall performance of distributed queries. Moreover, in distributed environment, the query processor may have to access in many sites. Thus, query response time may become very high.</a:t>
            </a:r>
          </a:p>
          <a:p>
            <a:pPr lvl="1" algn="just">
              <a:buFont typeface="Wingdings" pitchFamily="2" charset="2"/>
              <a:buChar char="Ø"/>
            </a:pPr>
            <a:r>
              <a:rPr lang="en-US" sz="2000" dirty="0">
                <a:latin typeface="Times New Roman" pitchFamily="18" charset="0"/>
                <a:cs typeface="Times New Roman" pitchFamily="18" charset="0"/>
              </a:rPr>
              <a:t>That is why, Query processing problem is divided into several sub-problems/ steps which are easier to solve individually.</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44958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Main Function/Objective of a Query Processor</a:t>
            </a:r>
            <a:endParaRPr lang="en-US" sz="2400" dirty="0">
              <a:latin typeface="Times New Roman" pitchFamily="18" charset="0"/>
              <a:cs typeface="Times New Roman" pitchFamily="18" charset="0"/>
            </a:endParaRPr>
          </a:p>
          <a:p>
            <a:pPr>
              <a:buNone/>
            </a:pPr>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Main function of a query processor is to </a:t>
            </a:r>
            <a:r>
              <a:rPr lang="en-US" sz="2000" b="1" dirty="0">
                <a:latin typeface="Times New Roman" pitchFamily="18" charset="0"/>
                <a:cs typeface="Times New Roman" pitchFamily="18" charset="0"/>
              </a:rPr>
              <a:t>transform a high-level-query (also called calculus query) into an equivalent lower-level query (also called algebraic query).</a:t>
            </a:r>
          </a:p>
          <a:p>
            <a:pPr lvl="1" algn="just">
              <a:buFont typeface="Wingdings" pitchFamily="2" charset="2"/>
              <a:buChar char="Ø"/>
            </a:pPr>
            <a:endParaRPr lang="en-US" sz="2000" dirty="0">
              <a:latin typeface="Times New Roman" pitchFamily="18" charset="0"/>
              <a:cs typeface="Times New Roman" pitchFamily="18" charset="0"/>
            </a:endParaRPr>
          </a:p>
          <a:p>
            <a:pPr lvl="1" algn="just">
              <a:buFont typeface="Wingdings" pitchFamily="2" charset="2"/>
              <a:buChar char="Ø"/>
            </a:pPr>
            <a:r>
              <a:rPr lang="en-US" sz="2000" b="1" dirty="0">
                <a:latin typeface="Times New Roman" pitchFamily="18" charset="0"/>
                <a:cs typeface="Times New Roman" pitchFamily="18" charset="0"/>
              </a:rPr>
              <a:t>The conversion must be correct and efficient. The conversion will be correct if low-level query has the same semantics as the original query, i.e. if both queries produce the same result.</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44958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Main Problems of Query Processing</a:t>
            </a:r>
            <a:endParaRPr lang="en-US" sz="24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Main problem of query processing is </a:t>
            </a:r>
            <a:r>
              <a:rPr lang="en-US" sz="2000" b="1" dirty="0">
                <a:latin typeface="Times New Roman" pitchFamily="18" charset="0"/>
                <a:cs typeface="Times New Roman" pitchFamily="18" charset="0"/>
              </a:rPr>
              <a:t>query optimization. </a:t>
            </a:r>
          </a:p>
          <a:p>
            <a:pPr lvl="1" algn="just">
              <a:buFont typeface="Wingdings" pitchFamily="2" charset="2"/>
              <a:buChar char="Ø"/>
            </a:pPr>
            <a:r>
              <a:rPr lang="en-US" sz="2000" dirty="0">
                <a:latin typeface="Times New Roman" pitchFamily="18" charset="0"/>
                <a:cs typeface="Times New Roman" pitchFamily="18" charset="0"/>
              </a:rPr>
              <a:t>It is a </a:t>
            </a:r>
            <a:r>
              <a:rPr lang="en-US" sz="2000" b="1" dirty="0">
                <a:latin typeface="Times New Roman" pitchFamily="18" charset="0"/>
                <a:cs typeface="Times New Roman" pitchFamily="18" charset="0"/>
              </a:rPr>
              <a:t>time consuming task, because many execution strategies are involved to minimize (optimize) computer recourse consumption.</a:t>
            </a:r>
            <a:r>
              <a:rPr lang="en-US" sz="2000" dirty="0">
                <a:latin typeface="Times New Roman" pitchFamily="18" charset="0"/>
                <a:cs typeface="Times New Roman" pitchFamily="18" charset="0"/>
              </a:rPr>
              <a:t> </a:t>
            </a:r>
          </a:p>
          <a:p>
            <a:pPr lvl="1" algn="just">
              <a:buFont typeface="Wingdings" pitchFamily="2" charset="2"/>
              <a:buChar char="Ø"/>
            </a:pPr>
            <a:r>
              <a:rPr lang="en-US" sz="2000" dirty="0">
                <a:latin typeface="Times New Roman" pitchFamily="18" charset="0"/>
                <a:cs typeface="Times New Roman" pitchFamily="18" charset="0"/>
              </a:rPr>
              <a:t>Total cost also affects query processing. Cost depends on the time required for processing operations of the query at various sites, utilization of various computer resources etc, time needed for exchanging data between sites participating in the execution of the query etc. </a:t>
            </a:r>
          </a:p>
          <a:p>
            <a:pPr lvl="1" algn="just">
              <a:buFont typeface="Wingdings" pitchFamily="2" charset="2"/>
              <a:buChar char="Ø"/>
            </a:pPr>
            <a:r>
              <a:rPr lang="en-US" sz="2000" b="1" dirty="0">
                <a:latin typeface="Times New Roman" pitchFamily="18" charset="0"/>
                <a:cs typeface="Times New Roman" pitchFamily="18" charset="0"/>
              </a:rPr>
              <a:t>Time and space required to process the query is also an important factor</a:t>
            </a:r>
            <a:r>
              <a:rPr lang="en-US" sz="2000" dirty="0">
                <a:latin typeface="Times New Roman" pitchFamily="18" charset="0"/>
                <a:cs typeface="Times New Roman" pitchFamily="18" charset="0"/>
              </a:rPr>
              <a:t> for the performance of the query processing.</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44958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Important Characteristics of Query Processor</a:t>
            </a:r>
            <a:endParaRPr lang="en-US" sz="2400" dirty="0">
              <a:latin typeface="Times New Roman" pitchFamily="18" charset="0"/>
              <a:cs typeface="Times New Roman" pitchFamily="18" charset="0"/>
            </a:endParaRPr>
          </a:p>
          <a:p>
            <a:pPr algn="just">
              <a:buNone/>
            </a:pPr>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Languages</a:t>
            </a:r>
          </a:p>
          <a:p>
            <a:pPr lvl="1" algn="just">
              <a:buFont typeface="Wingdings" pitchFamily="2" charset="2"/>
              <a:buChar char="Ø"/>
            </a:pPr>
            <a:r>
              <a:rPr lang="en-US" sz="2000" dirty="0">
                <a:latin typeface="Times New Roman" pitchFamily="18" charset="0"/>
                <a:cs typeface="Times New Roman" pitchFamily="18" charset="0"/>
              </a:rPr>
              <a:t>Types of Optimization</a:t>
            </a:r>
          </a:p>
          <a:p>
            <a:pPr lvl="1" algn="just">
              <a:buFont typeface="Wingdings" pitchFamily="2" charset="2"/>
              <a:buChar char="Ø"/>
            </a:pPr>
            <a:r>
              <a:rPr lang="en-US" sz="2000" dirty="0">
                <a:latin typeface="Times New Roman" pitchFamily="18" charset="0"/>
                <a:cs typeface="Times New Roman" pitchFamily="18" charset="0"/>
              </a:rPr>
              <a:t>Optimization Timing</a:t>
            </a:r>
          </a:p>
          <a:p>
            <a:pPr lvl="1" algn="just">
              <a:buFont typeface="Wingdings" pitchFamily="2" charset="2"/>
              <a:buChar char="Ø"/>
            </a:pPr>
            <a:r>
              <a:rPr lang="en-US" sz="2000" dirty="0">
                <a:latin typeface="Times New Roman" pitchFamily="18" charset="0"/>
                <a:cs typeface="Times New Roman" pitchFamily="18" charset="0"/>
              </a:rPr>
              <a:t>Statistics</a:t>
            </a:r>
          </a:p>
          <a:p>
            <a:pPr lvl="1" algn="just">
              <a:buFont typeface="Wingdings" pitchFamily="2" charset="2"/>
              <a:buChar char="Ø"/>
            </a:pPr>
            <a:r>
              <a:rPr lang="en-US" sz="2000" dirty="0">
                <a:latin typeface="Times New Roman" pitchFamily="18" charset="0"/>
                <a:cs typeface="Times New Roman" pitchFamily="18" charset="0"/>
              </a:rPr>
              <a:t>Decision Sites</a:t>
            </a:r>
          </a:p>
          <a:p>
            <a:pPr lvl="1" algn="just">
              <a:buFont typeface="Wingdings" pitchFamily="2" charset="2"/>
              <a:buChar char="Ø"/>
            </a:pPr>
            <a:r>
              <a:rPr lang="en-US" sz="2000" dirty="0">
                <a:latin typeface="Times New Roman" pitchFamily="18" charset="0"/>
                <a:cs typeface="Times New Roman" pitchFamily="18" charset="0"/>
              </a:rPr>
              <a:t>Exploitation of the Network Topology</a:t>
            </a:r>
          </a:p>
          <a:p>
            <a:pPr lvl="1" algn="just">
              <a:buFont typeface="Wingdings" pitchFamily="2" charset="2"/>
              <a:buChar char="Ø"/>
            </a:pPr>
            <a:r>
              <a:rPr lang="en-US" sz="2000" dirty="0">
                <a:latin typeface="Times New Roman" pitchFamily="18" charset="0"/>
                <a:cs typeface="Times New Roman" pitchFamily="18" charset="0"/>
              </a:rPr>
              <a:t>Exploitation of Replicated Fragments</a:t>
            </a:r>
          </a:p>
          <a:p>
            <a:pPr lvl="1" algn="just">
              <a:buFont typeface="Wingdings" pitchFamily="2" charset="2"/>
              <a:buChar char="Ø"/>
            </a:pPr>
            <a:r>
              <a:rPr lang="en-US" sz="2000" dirty="0">
                <a:latin typeface="Times New Roman" pitchFamily="18" charset="0"/>
                <a:cs typeface="Times New Roman" pitchFamily="18" charset="0"/>
              </a:rPr>
              <a:t>Use of Semi-join</a:t>
            </a:r>
          </a:p>
          <a:p>
            <a:pPr lvl="2" algn="just">
              <a:buFont typeface="Wingdings" pitchFamily="2" charset="2"/>
              <a:buChar char="Ø"/>
            </a:pP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44958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Important Characteristics of Query Processor</a:t>
            </a:r>
            <a:endParaRPr lang="en-US" sz="2400"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	Languages:</a:t>
            </a:r>
          </a:p>
          <a:p>
            <a:pPr>
              <a:buNone/>
            </a:pPr>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Input language to the query processor is based on high-level relational DBMS, i.e. </a:t>
            </a:r>
            <a:r>
              <a:rPr lang="en-US" sz="2000" b="1" dirty="0">
                <a:latin typeface="Times New Roman" pitchFamily="18" charset="0"/>
                <a:cs typeface="Times New Roman" pitchFamily="18" charset="0"/>
              </a:rPr>
              <a:t>input is in calculus query</a:t>
            </a:r>
            <a:r>
              <a:rPr lang="en-US" sz="2000" dirty="0">
                <a:latin typeface="Times New Roman" pitchFamily="18" charset="0"/>
                <a:cs typeface="Times New Roman" pitchFamily="18" charset="0"/>
              </a:rPr>
              <a:t>. </a:t>
            </a:r>
          </a:p>
          <a:p>
            <a:pPr lvl="1" algn="just">
              <a:buFont typeface="Wingdings" pitchFamily="2" charset="2"/>
              <a:buChar char="Ø"/>
            </a:pPr>
            <a:r>
              <a:rPr lang="en-US" sz="2000" dirty="0">
                <a:latin typeface="Times New Roman" pitchFamily="18" charset="0"/>
                <a:cs typeface="Times New Roman" pitchFamily="18" charset="0"/>
              </a:rPr>
              <a:t>On the other hand, output language is based on lower-level relational DMBS, i.e. </a:t>
            </a:r>
            <a:r>
              <a:rPr lang="en-US" sz="2000" b="1" dirty="0">
                <a:latin typeface="Times New Roman" pitchFamily="18" charset="0"/>
                <a:cs typeface="Times New Roman" pitchFamily="18" charset="0"/>
              </a:rPr>
              <a:t>output is in algebraic query</a:t>
            </a:r>
            <a:r>
              <a:rPr lang="en-US" sz="2000" dirty="0">
                <a:latin typeface="Times New Roman" pitchFamily="18" charset="0"/>
                <a:cs typeface="Times New Roman" pitchFamily="18" charset="0"/>
              </a:rPr>
              <a:t>.</a:t>
            </a:r>
          </a:p>
          <a:p>
            <a:pPr lvl="1" algn="just">
              <a:buFont typeface="Wingdings" pitchFamily="2" charset="2"/>
              <a:buChar char="Ø"/>
            </a:pPr>
            <a:r>
              <a:rPr lang="en-US" sz="2000" dirty="0">
                <a:latin typeface="Times New Roman" pitchFamily="18" charset="0"/>
                <a:cs typeface="Times New Roman" pitchFamily="18" charset="0"/>
              </a:rPr>
              <a:t>The operations of the output language are implemented directly in the computer system. </a:t>
            </a:r>
          </a:p>
          <a:p>
            <a:pPr lvl="1" algn="just">
              <a:buFont typeface="Wingdings" pitchFamily="2" charset="2"/>
              <a:buChar char="Ø"/>
            </a:pPr>
            <a:r>
              <a:rPr lang="en-US" sz="2000" dirty="0">
                <a:latin typeface="Times New Roman" pitchFamily="18" charset="0"/>
                <a:cs typeface="Times New Roman" pitchFamily="18" charset="0"/>
              </a:rPr>
              <a:t>Query processing must perform efficient mapping from the input language to the output language.</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44958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Important Characteristics of Query Processor</a:t>
            </a:r>
            <a:endParaRPr lang="en-US" sz="2400"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	Types of Optimization:</a:t>
            </a:r>
          </a:p>
          <a:p>
            <a:pPr>
              <a:buNone/>
            </a:pPr>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Among all possible strategies for executing query, the one in which </a:t>
            </a:r>
            <a:r>
              <a:rPr lang="en-US" sz="2000" b="1" dirty="0">
                <a:latin typeface="Times New Roman" pitchFamily="18" charset="0"/>
                <a:cs typeface="Times New Roman" pitchFamily="18" charset="0"/>
              </a:rPr>
              <a:t>less time and space</a:t>
            </a:r>
            <a:r>
              <a:rPr lang="en-US" sz="2000" dirty="0">
                <a:latin typeface="Times New Roman" pitchFamily="18" charset="0"/>
                <a:cs typeface="Times New Roman" pitchFamily="18" charset="0"/>
              </a:rPr>
              <a:t> are required is the best solution for the optimization of query. </a:t>
            </a:r>
          </a:p>
          <a:p>
            <a:pPr lvl="1" algn="just">
              <a:buFont typeface="Wingdings" pitchFamily="2" charset="2"/>
              <a:buChar char="Ø"/>
            </a:pPr>
            <a:r>
              <a:rPr lang="en-US" sz="2000" dirty="0">
                <a:latin typeface="Times New Roman" pitchFamily="18" charset="0"/>
                <a:cs typeface="Times New Roman" pitchFamily="18" charset="0"/>
              </a:rPr>
              <a:t>A comparative study for all the strategies should perform such that how much cost will be required for each solution. That strategy should be chosen in which there will be less cost. But keep in mind that choosing the low-cost strategy may require much space. So care should be taken in this case also.</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44958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Important Characteristics of Query Processor</a:t>
            </a:r>
            <a:endParaRPr lang="en-US" sz="2400"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	Optimization Timing:</a:t>
            </a:r>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The actual time required to optimize the execution of a query is an important factor. </a:t>
            </a:r>
            <a:r>
              <a:rPr lang="en-US" sz="2000" b="1" dirty="0">
                <a:latin typeface="Times New Roman" pitchFamily="18" charset="0"/>
                <a:cs typeface="Times New Roman" pitchFamily="18" charset="0"/>
              </a:rPr>
              <a:t>If less time is required, then it is the best solution for query processing.</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44958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Important Characteristics of Query Processor</a:t>
            </a:r>
            <a:endParaRPr lang="en-US" sz="2400"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	Statistics:</a:t>
            </a:r>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The effectiveness of query optimization relies on statistical information of the database, i.e. </a:t>
            </a:r>
            <a:r>
              <a:rPr lang="en-US" sz="2000" b="1" dirty="0">
                <a:latin typeface="Times New Roman" pitchFamily="18" charset="0"/>
                <a:cs typeface="Times New Roman" pitchFamily="18" charset="0"/>
              </a:rPr>
              <a:t>how many fragments</a:t>
            </a:r>
            <a:r>
              <a:rPr lang="en-US" sz="2000" dirty="0">
                <a:latin typeface="Times New Roman" pitchFamily="18" charset="0"/>
                <a:cs typeface="Times New Roman" pitchFamily="18" charset="0"/>
              </a:rPr>
              <a:t> query will be needed, </a:t>
            </a:r>
            <a:r>
              <a:rPr lang="en-US" sz="2000" b="1" dirty="0">
                <a:latin typeface="Times New Roman" pitchFamily="18" charset="0"/>
                <a:cs typeface="Times New Roman" pitchFamily="18" charset="0"/>
              </a:rPr>
              <a:t>which operation</a:t>
            </a:r>
            <a:r>
              <a:rPr lang="en-US" sz="2000" dirty="0">
                <a:latin typeface="Times New Roman" pitchFamily="18" charset="0"/>
                <a:cs typeface="Times New Roman" pitchFamily="18" charset="0"/>
              </a:rPr>
              <a:t> should be done first, </a:t>
            </a:r>
            <a:r>
              <a:rPr lang="en-US" sz="2000" b="1" dirty="0">
                <a:latin typeface="Times New Roman" pitchFamily="18" charset="0"/>
                <a:cs typeface="Times New Roman" pitchFamily="18" charset="0"/>
              </a:rPr>
              <a:t>size and number of distinct values</a:t>
            </a:r>
            <a:r>
              <a:rPr lang="en-US" sz="2000" dirty="0">
                <a:latin typeface="Times New Roman" pitchFamily="18" charset="0"/>
                <a:cs typeface="Times New Roman" pitchFamily="18" charset="0"/>
              </a:rPr>
              <a:t> of each attribute of the relation, histograms of the attributes for minimizing probability error etc.</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44958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Important Characteristics of Query Processor</a:t>
            </a:r>
            <a:endParaRPr lang="en-US" sz="2400" dirty="0">
              <a:latin typeface="Times New Roman" pitchFamily="18" charset="0"/>
              <a:cs typeface="Times New Roman" pitchFamily="18" charset="0"/>
            </a:endParaRPr>
          </a:p>
          <a:p>
            <a:pPr algn="just">
              <a:buNone/>
            </a:pPr>
            <a:r>
              <a:rPr lang="en-US" sz="2000" b="1" dirty="0">
                <a:latin typeface="Times New Roman" pitchFamily="18" charset="0"/>
                <a:cs typeface="Times New Roman" pitchFamily="18" charset="0"/>
              </a:rPr>
              <a:t>	 Decision Sites: </a:t>
            </a:r>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In a distributed database, several sites may participate for answering the query. Most systems use centralized decision approach, in which a single site generates the strategy. However, the decision process could be distributed among various sites.</a:t>
            </a:r>
          </a:p>
          <a:p>
            <a:pPr algn="just">
              <a:buNone/>
            </a:pPr>
            <a:r>
              <a:rPr lang="en-US" sz="2000" b="1" dirty="0">
                <a:latin typeface="Times New Roman" pitchFamily="18" charset="0"/>
                <a:cs typeface="Times New Roman" pitchFamily="18" charset="0"/>
              </a:rPr>
              <a:t>	Exploitation of Network Topology:</a:t>
            </a:r>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Distributed query processor uses computer network, so its performance depends also on which topology it is using. The cost function, speed, utilization of various network resources are important factors for executing query processor in a distributed environment.</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44958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Important Characteristics of Query Processor</a:t>
            </a:r>
            <a:endParaRPr lang="en-US" sz="2000" dirty="0">
              <a:latin typeface="Times New Roman" pitchFamily="18" charset="0"/>
              <a:cs typeface="Times New Roman" pitchFamily="18" charset="0"/>
            </a:endParaRPr>
          </a:p>
          <a:p>
            <a:pPr algn="just">
              <a:buNone/>
            </a:pPr>
            <a:r>
              <a:rPr lang="en-US" sz="2000" b="1" dirty="0">
                <a:latin typeface="Times New Roman" pitchFamily="18" charset="0"/>
                <a:cs typeface="Times New Roman" pitchFamily="18" charset="0"/>
              </a:rPr>
              <a:t>	 Exploitation of Replicated Fragments: </a:t>
            </a:r>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A distributed relation is usually divided into relation fragments. </a:t>
            </a:r>
          </a:p>
          <a:p>
            <a:pPr lvl="1" algn="just">
              <a:buFont typeface="Wingdings" pitchFamily="2" charset="2"/>
              <a:buChar char="Ø"/>
            </a:pPr>
            <a:r>
              <a:rPr lang="en-US" sz="2000" dirty="0">
                <a:latin typeface="Times New Roman" pitchFamily="18" charset="0"/>
                <a:cs typeface="Times New Roman" pitchFamily="18" charset="0"/>
              </a:rPr>
              <a:t>Distributed queries expressed on global relations are mapped into queries on physical fragments of relations by translating relations into fragments. We call this process localization because its main function is to localize the data involved in the query. </a:t>
            </a:r>
          </a:p>
          <a:p>
            <a:pPr lvl="1" algn="just">
              <a:buFont typeface="Wingdings" pitchFamily="2" charset="2"/>
              <a:buChar char="Ø"/>
            </a:pPr>
            <a:r>
              <a:rPr lang="en-US" sz="2000" dirty="0">
                <a:latin typeface="Times New Roman" pitchFamily="18" charset="0"/>
                <a:cs typeface="Times New Roman" pitchFamily="18" charset="0"/>
              </a:rPr>
              <a:t>For higher reliability and better read performance, it is useful to have fragments replicated at different sites. </a:t>
            </a:r>
          </a:p>
          <a:p>
            <a:pPr lvl="1" algn="just">
              <a:buFont typeface="Wingdings" pitchFamily="2" charset="2"/>
              <a:buChar char="Ø"/>
            </a:pP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44958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Important Characteristics of Query Processor</a:t>
            </a:r>
            <a:endParaRPr lang="en-US" sz="2400" dirty="0">
              <a:latin typeface="Times New Roman" pitchFamily="18" charset="0"/>
              <a:cs typeface="Times New Roman" pitchFamily="18" charset="0"/>
            </a:endParaRPr>
          </a:p>
          <a:p>
            <a:pPr algn="just">
              <a:buNone/>
            </a:pPr>
            <a:r>
              <a:rPr lang="en-US" sz="2000" b="1" dirty="0">
                <a:latin typeface="Times New Roman" pitchFamily="18" charset="0"/>
                <a:cs typeface="Times New Roman" pitchFamily="18" charset="0"/>
              </a:rPr>
              <a:t>	Use of Semi-join operation: </a:t>
            </a:r>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In distributed system, it is better to use semi-join operation instead of join operation </a:t>
            </a:r>
            <a:r>
              <a:rPr lang="en-US" sz="2000" b="1" dirty="0">
                <a:latin typeface="Times New Roman" pitchFamily="18" charset="0"/>
                <a:cs typeface="Times New Roman" pitchFamily="18" charset="0"/>
              </a:rPr>
              <a:t>for minimizing data communication.</a:t>
            </a:r>
          </a:p>
          <a:p>
            <a:pPr lvl="1" algn="just">
              <a:buFont typeface="Wingdings" pitchFamily="2" charset="2"/>
              <a:buChar char="Ø"/>
            </a:pP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44958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Layers of Query Processing</a:t>
            </a:r>
            <a:endParaRPr lang="en-US" sz="2400" dirty="0">
              <a:latin typeface="Times New Roman" pitchFamily="18" charset="0"/>
              <a:cs typeface="Times New Roman" pitchFamily="18" charset="0"/>
            </a:endParaRPr>
          </a:p>
          <a:p>
            <a:pPr lvl="0"/>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Processing of Query in distributed DBMS instead of centralized (Local) DBMS.</a:t>
            </a:r>
          </a:p>
          <a:p>
            <a:pPr lvl="1" algn="just">
              <a:buFont typeface="Wingdings" pitchFamily="2" charset="2"/>
              <a:buChar char="Ø"/>
            </a:pPr>
            <a:r>
              <a:rPr lang="en-US" sz="2000" dirty="0">
                <a:latin typeface="Times New Roman" pitchFamily="18" charset="0"/>
                <a:cs typeface="Times New Roman" pitchFamily="18" charset="0"/>
              </a:rPr>
              <a:t>Understanding Query processing in distributed database environments is very difficult instead of centralized database, because there are many elements involved.</a:t>
            </a:r>
          </a:p>
          <a:p>
            <a:pPr lvl="1" algn="just">
              <a:buFont typeface="Wingdings" pitchFamily="2" charset="2"/>
              <a:buChar char="Ø"/>
            </a:pPr>
            <a:r>
              <a:rPr lang="en-US" sz="2000" dirty="0">
                <a:latin typeface="Times New Roman" pitchFamily="18" charset="0"/>
                <a:cs typeface="Times New Roman" pitchFamily="18" charset="0"/>
              </a:rPr>
              <a:t>So, Query processing problem is divided into several sub-problems/ steps which are easier to solve individually.</a:t>
            </a:r>
          </a:p>
          <a:p>
            <a:pPr lvl="1" algn="just">
              <a:buFont typeface="Wingdings" pitchFamily="2" charset="2"/>
              <a:buChar char="Ø"/>
            </a:pPr>
            <a:r>
              <a:rPr lang="en-US" sz="2000" dirty="0">
                <a:latin typeface="Times New Roman" pitchFamily="18" charset="0"/>
                <a:cs typeface="Times New Roman" pitchFamily="18" charset="0"/>
              </a:rPr>
              <a:t>A general layering scheme for describing distributed query processing is given below:</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44958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Main layers of Query Processing</a:t>
            </a:r>
            <a:endParaRPr lang="en-US" sz="2400" dirty="0">
              <a:latin typeface="Times New Roman" pitchFamily="18" charset="0"/>
              <a:cs typeface="Times New Roman" pitchFamily="18" charset="0"/>
            </a:endParaRPr>
          </a:p>
          <a:p>
            <a:pPr lvl="1" algn="just">
              <a:buNone/>
            </a:pPr>
            <a:r>
              <a:rPr lang="en-US" sz="2000" dirty="0">
                <a:latin typeface="Times New Roman" pitchFamily="18" charset="0"/>
                <a:cs typeface="Times New Roman" pitchFamily="18" charset="0"/>
              </a:rPr>
              <a:t>Query processing involves 4 main layers:</a:t>
            </a:r>
          </a:p>
          <a:p>
            <a:pPr lvl="1" algn="just">
              <a:buFont typeface="Wingdings" pitchFamily="2" charset="2"/>
              <a:buChar char="q"/>
            </a:pPr>
            <a:endParaRPr lang="en-US" sz="2000" dirty="0">
              <a:latin typeface="Times New Roman" pitchFamily="18" charset="0"/>
              <a:cs typeface="Times New Roman" pitchFamily="18" charset="0"/>
            </a:endParaRPr>
          </a:p>
          <a:p>
            <a:pPr lvl="1" algn="just">
              <a:buFont typeface="Arial" pitchFamily="34" charset="0"/>
              <a:buChar char="•"/>
            </a:pPr>
            <a:r>
              <a:rPr lang="en-US" sz="2000" dirty="0">
                <a:latin typeface="Times New Roman" pitchFamily="18" charset="0"/>
                <a:cs typeface="Times New Roman" pitchFamily="18" charset="0"/>
              </a:rPr>
              <a:t>Query Decomposition </a:t>
            </a:r>
          </a:p>
          <a:p>
            <a:pPr lvl="1" algn="just">
              <a:buFont typeface="Arial" pitchFamily="34" charset="0"/>
              <a:buChar char="•"/>
            </a:pPr>
            <a:r>
              <a:rPr lang="en-US" sz="2000" dirty="0">
                <a:latin typeface="Times New Roman" pitchFamily="18" charset="0"/>
                <a:cs typeface="Times New Roman" pitchFamily="18" charset="0"/>
              </a:rPr>
              <a:t>Data Localization </a:t>
            </a:r>
          </a:p>
          <a:p>
            <a:pPr lvl="1" algn="just">
              <a:buFont typeface="Arial" pitchFamily="34" charset="0"/>
              <a:buChar char="•"/>
            </a:pPr>
            <a:r>
              <a:rPr lang="en-US" sz="2000" dirty="0">
                <a:latin typeface="Times New Roman" pitchFamily="18" charset="0"/>
                <a:cs typeface="Times New Roman" pitchFamily="18" charset="0"/>
              </a:rPr>
              <a:t>Global Query Optimization </a:t>
            </a:r>
          </a:p>
          <a:p>
            <a:pPr lvl="1" algn="just">
              <a:buFont typeface="Arial" pitchFamily="34" charset="0"/>
              <a:buChar char="•"/>
            </a:pPr>
            <a:r>
              <a:rPr lang="en-US" sz="2000" dirty="0">
                <a:latin typeface="Times New Roman" pitchFamily="18" charset="0"/>
                <a:cs typeface="Times New Roman" pitchFamily="18" charset="0"/>
              </a:rPr>
              <a:t>Distributed Execution</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143000"/>
            <a:ext cx="7086600" cy="44958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Main layers of Query Processing</a:t>
            </a:r>
            <a:endParaRPr lang="en-US" sz="24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grpSp>
        <p:nvGrpSpPr>
          <p:cNvPr id="1026" name="Group 2"/>
          <p:cNvGrpSpPr>
            <a:grpSpLocks noChangeAspect="1"/>
          </p:cNvGrpSpPr>
          <p:nvPr/>
        </p:nvGrpSpPr>
        <p:grpSpPr bwMode="auto">
          <a:xfrm>
            <a:off x="1219200" y="1524000"/>
            <a:ext cx="6461829" cy="5105400"/>
            <a:chOff x="1440" y="1757"/>
            <a:chExt cx="9027" cy="7132"/>
          </a:xfrm>
        </p:grpSpPr>
        <p:sp>
          <p:nvSpPr>
            <p:cNvPr id="1027" name="AutoShape 3"/>
            <p:cNvSpPr>
              <a:spLocks noChangeAspect="1" noChangeArrowheads="1"/>
            </p:cNvSpPr>
            <p:nvPr/>
          </p:nvSpPr>
          <p:spPr bwMode="auto">
            <a:xfrm>
              <a:off x="1440" y="1757"/>
              <a:ext cx="9027" cy="7132"/>
            </a:xfrm>
            <a:prstGeom prst="rect">
              <a:avLst/>
            </a:prstGeom>
            <a:noFill/>
          </p:spPr>
          <p:txBody>
            <a:bodyPr vert="horz" wrap="square" lIns="91440" tIns="45720" rIns="91440" bIns="45720" numCol="1" anchor="t" anchorCtr="0" compatLnSpc="1">
              <a:prstTxWarp prst="textNoShape">
                <a:avLst/>
              </a:prstTxWarp>
            </a:bodyPr>
            <a:lstStyle/>
            <a:p>
              <a:endParaRPr lang="en-US" sz="1200"/>
            </a:p>
          </p:txBody>
        </p:sp>
        <p:grpSp>
          <p:nvGrpSpPr>
            <p:cNvPr id="1028" name="Group 4"/>
            <p:cNvGrpSpPr>
              <a:grpSpLocks/>
            </p:cNvGrpSpPr>
            <p:nvPr/>
          </p:nvGrpSpPr>
          <p:grpSpPr bwMode="auto">
            <a:xfrm>
              <a:off x="1680" y="2070"/>
              <a:ext cx="8489" cy="6569"/>
              <a:chOff x="1680" y="2325"/>
              <a:chExt cx="8489" cy="6569"/>
            </a:xfrm>
          </p:grpSpPr>
          <p:sp>
            <p:nvSpPr>
              <p:cNvPr id="1029" name="Text Box 5"/>
              <p:cNvSpPr txBox="1">
                <a:spLocks noChangeArrowheads="1"/>
              </p:cNvSpPr>
              <p:nvPr/>
            </p:nvSpPr>
            <p:spPr bwMode="auto">
              <a:xfrm>
                <a:off x="4395" y="3054"/>
                <a:ext cx="3210" cy="49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Arial" pitchFamily="34" charset="0"/>
                  </a:rPr>
                  <a:t>Query Decomposition</a:t>
                </a:r>
                <a:endParaRPr kumimoji="0" lang="en-US" sz="1200" b="0" i="0" u="none" strike="noStrike" cap="none" normalizeH="0" baseline="0">
                  <a:ln>
                    <a:noFill/>
                  </a:ln>
                  <a:solidFill>
                    <a:schemeClr val="tx1"/>
                  </a:solidFill>
                  <a:effectLst/>
                  <a:latin typeface="Arial" pitchFamily="34" charset="0"/>
                  <a:cs typeface="Arial" pitchFamily="34" charset="0"/>
                </a:endParaRPr>
              </a:p>
            </p:txBody>
          </p:sp>
          <p:sp>
            <p:nvSpPr>
              <p:cNvPr id="1030" name="Text Box 6"/>
              <p:cNvSpPr txBox="1">
                <a:spLocks noChangeArrowheads="1"/>
              </p:cNvSpPr>
              <p:nvPr/>
            </p:nvSpPr>
            <p:spPr bwMode="auto">
              <a:xfrm>
                <a:off x="3840" y="2325"/>
                <a:ext cx="4320" cy="49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Arial" pitchFamily="34" charset="0"/>
                  </a:rPr>
                  <a:t>Calculus Query on Global Relations </a:t>
                </a:r>
                <a:endParaRPr kumimoji="0" lang="en-US" sz="1200" b="0" i="0" u="none" strike="noStrike" cap="none" normalizeH="0" baseline="0">
                  <a:ln>
                    <a:noFill/>
                  </a:ln>
                  <a:solidFill>
                    <a:schemeClr val="tx1"/>
                  </a:solidFill>
                  <a:effectLst/>
                  <a:latin typeface="Arial" pitchFamily="34" charset="0"/>
                  <a:cs typeface="Arial" pitchFamily="34" charset="0"/>
                </a:endParaRPr>
              </a:p>
            </p:txBody>
          </p:sp>
          <p:sp>
            <p:nvSpPr>
              <p:cNvPr id="1031" name="Text Box 7"/>
              <p:cNvSpPr txBox="1">
                <a:spLocks noChangeArrowheads="1"/>
              </p:cNvSpPr>
              <p:nvPr/>
            </p:nvSpPr>
            <p:spPr bwMode="auto">
              <a:xfrm>
                <a:off x="3900" y="3825"/>
                <a:ext cx="4170" cy="49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Arial" pitchFamily="34" charset="0"/>
                  </a:rPr>
                  <a:t>Algebraic Query on Global Relations </a:t>
                </a:r>
                <a:endParaRPr kumimoji="0" lang="en-US" sz="1200" b="0" i="0" u="none" strike="noStrike" cap="none" normalizeH="0" baseline="0">
                  <a:ln>
                    <a:noFill/>
                  </a:ln>
                  <a:solidFill>
                    <a:schemeClr val="tx1"/>
                  </a:solidFill>
                  <a:effectLst/>
                  <a:latin typeface="Arial" pitchFamily="34" charset="0"/>
                  <a:cs typeface="Arial" pitchFamily="34" charset="0"/>
                </a:endParaRPr>
              </a:p>
            </p:txBody>
          </p:sp>
          <p:sp>
            <p:nvSpPr>
              <p:cNvPr id="1032" name="Text Box 8"/>
              <p:cNvSpPr txBox="1">
                <a:spLocks noChangeArrowheads="1"/>
              </p:cNvSpPr>
              <p:nvPr/>
            </p:nvSpPr>
            <p:spPr bwMode="auto">
              <a:xfrm>
                <a:off x="4305" y="4545"/>
                <a:ext cx="3390" cy="49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Arial" pitchFamily="34" charset="0"/>
                  </a:rPr>
                  <a:t>Data Localization</a:t>
                </a:r>
                <a:endParaRPr kumimoji="0" lang="en-US" sz="1200" b="0" i="0" u="none" strike="noStrike" cap="none" normalizeH="0" baseline="0">
                  <a:ln>
                    <a:noFill/>
                  </a:ln>
                  <a:solidFill>
                    <a:schemeClr val="tx1"/>
                  </a:solidFill>
                  <a:effectLst/>
                  <a:latin typeface="Arial" pitchFamily="34" charset="0"/>
                  <a:cs typeface="Arial" pitchFamily="34" charset="0"/>
                </a:endParaRPr>
              </a:p>
            </p:txBody>
          </p:sp>
          <p:sp>
            <p:nvSpPr>
              <p:cNvPr id="1033" name="Text Box 9"/>
              <p:cNvSpPr txBox="1">
                <a:spLocks noChangeArrowheads="1"/>
              </p:cNvSpPr>
              <p:nvPr/>
            </p:nvSpPr>
            <p:spPr bwMode="auto">
              <a:xfrm>
                <a:off x="4035" y="5325"/>
                <a:ext cx="4005" cy="49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Arial" pitchFamily="34" charset="0"/>
                  </a:rPr>
                  <a:t>Algebraic Query on Fragments</a:t>
                </a:r>
                <a:endParaRPr kumimoji="0" lang="en-US" sz="1200" b="0" i="0" u="none" strike="noStrike" cap="none" normalizeH="0" baseline="0">
                  <a:ln>
                    <a:noFill/>
                  </a:ln>
                  <a:solidFill>
                    <a:schemeClr val="tx1"/>
                  </a:solidFill>
                  <a:effectLst/>
                  <a:latin typeface="Arial" pitchFamily="34" charset="0"/>
                  <a:cs typeface="Arial" pitchFamily="34" charset="0"/>
                </a:endParaRPr>
              </a:p>
            </p:txBody>
          </p:sp>
          <p:sp>
            <p:nvSpPr>
              <p:cNvPr id="1034" name="Text Box 10"/>
              <p:cNvSpPr txBox="1">
                <a:spLocks noChangeArrowheads="1"/>
              </p:cNvSpPr>
              <p:nvPr/>
            </p:nvSpPr>
            <p:spPr bwMode="auto">
              <a:xfrm>
                <a:off x="4440" y="6028"/>
                <a:ext cx="3105" cy="49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Arial" pitchFamily="34" charset="0"/>
                  </a:rPr>
                  <a:t>Global Optimization</a:t>
                </a:r>
                <a:endParaRPr kumimoji="0" lang="en-US" sz="1200" b="0" i="0" u="none" strike="noStrike" cap="none" normalizeH="0" baseline="0">
                  <a:ln>
                    <a:noFill/>
                  </a:ln>
                  <a:solidFill>
                    <a:schemeClr val="tx1"/>
                  </a:solidFill>
                  <a:effectLst/>
                  <a:latin typeface="Arial" pitchFamily="34" charset="0"/>
                  <a:cs typeface="Arial" pitchFamily="34" charset="0"/>
                </a:endParaRPr>
              </a:p>
            </p:txBody>
          </p:sp>
          <p:sp>
            <p:nvSpPr>
              <p:cNvPr id="1035" name="Text Box 11"/>
              <p:cNvSpPr txBox="1">
                <a:spLocks noChangeArrowheads="1"/>
              </p:cNvSpPr>
              <p:nvPr/>
            </p:nvSpPr>
            <p:spPr bwMode="auto">
              <a:xfrm>
                <a:off x="4080" y="6778"/>
                <a:ext cx="3825" cy="49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Arial" pitchFamily="34" charset="0"/>
                  </a:rPr>
                  <a:t>Distributed Query Execution Plan</a:t>
                </a:r>
                <a:endParaRPr kumimoji="0" lang="en-US" sz="1200" b="0" i="0" u="none" strike="noStrike" cap="none" normalizeH="0" baseline="0">
                  <a:ln>
                    <a:noFill/>
                  </a:ln>
                  <a:solidFill>
                    <a:schemeClr val="tx1"/>
                  </a:solidFill>
                  <a:effectLst/>
                  <a:latin typeface="Arial" pitchFamily="34" charset="0"/>
                  <a:cs typeface="Arial" pitchFamily="34" charset="0"/>
                </a:endParaRPr>
              </a:p>
            </p:txBody>
          </p:sp>
          <p:sp>
            <p:nvSpPr>
              <p:cNvPr id="1036" name="Text Box 12"/>
              <p:cNvSpPr txBox="1">
                <a:spLocks noChangeArrowheads="1"/>
              </p:cNvSpPr>
              <p:nvPr/>
            </p:nvSpPr>
            <p:spPr bwMode="auto">
              <a:xfrm>
                <a:off x="4515" y="7539"/>
                <a:ext cx="2955" cy="49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Arial" pitchFamily="34" charset="0"/>
                  </a:rPr>
                  <a:t>Distributed Execution</a:t>
                </a:r>
                <a:endParaRPr kumimoji="0" lang="en-US" sz="1200" b="0" i="0" u="none" strike="noStrike" cap="none" normalizeH="0" baseline="0">
                  <a:ln>
                    <a:noFill/>
                  </a:ln>
                  <a:solidFill>
                    <a:schemeClr val="tx1"/>
                  </a:solidFill>
                  <a:effectLst/>
                  <a:latin typeface="Arial" pitchFamily="34" charset="0"/>
                  <a:cs typeface="Arial" pitchFamily="34" charset="0"/>
                </a:endParaRPr>
              </a:p>
            </p:txBody>
          </p:sp>
          <p:sp>
            <p:nvSpPr>
              <p:cNvPr id="1037" name="Oval 13"/>
              <p:cNvSpPr>
                <a:spLocks noChangeArrowheads="1"/>
              </p:cNvSpPr>
              <p:nvPr/>
            </p:nvSpPr>
            <p:spPr bwMode="auto">
              <a:xfrm>
                <a:off x="8340" y="2919"/>
                <a:ext cx="1722" cy="729"/>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Arial" pitchFamily="34" charset="0"/>
                  </a:rPr>
                  <a:t>Global</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Arial" pitchFamily="34" charset="0"/>
                  </a:rPr>
                  <a:t>Schema</a:t>
                </a:r>
                <a:endParaRPr kumimoji="0" lang="en-US" sz="1200" b="0" i="0" u="none" strike="noStrike" cap="none" normalizeH="0" baseline="0">
                  <a:ln>
                    <a:noFill/>
                  </a:ln>
                  <a:solidFill>
                    <a:schemeClr val="tx1"/>
                  </a:solidFill>
                  <a:effectLst/>
                  <a:latin typeface="Arial" pitchFamily="34" charset="0"/>
                  <a:cs typeface="Arial" pitchFamily="34" charset="0"/>
                </a:endParaRPr>
              </a:p>
            </p:txBody>
          </p:sp>
          <p:sp>
            <p:nvSpPr>
              <p:cNvPr id="1038" name="Oval 14"/>
              <p:cNvSpPr>
                <a:spLocks noChangeArrowheads="1"/>
              </p:cNvSpPr>
              <p:nvPr/>
            </p:nvSpPr>
            <p:spPr bwMode="auto">
              <a:xfrm>
                <a:off x="8415" y="4365"/>
                <a:ext cx="1754" cy="85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Arial" pitchFamily="34" charset="0"/>
                  </a:rPr>
                  <a:t>Fragment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Arial" pitchFamily="34" charset="0"/>
                  </a:rPr>
                  <a:t>Schema</a:t>
                </a:r>
                <a:endParaRPr kumimoji="0" lang="en-US" sz="1200" b="0" i="0" u="none" strike="noStrike" cap="none" normalizeH="0" baseline="0">
                  <a:ln>
                    <a:noFill/>
                  </a:ln>
                  <a:solidFill>
                    <a:schemeClr val="tx1"/>
                  </a:solidFill>
                  <a:effectLst/>
                  <a:latin typeface="Arial" pitchFamily="34" charset="0"/>
                  <a:cs typeface="Arial" pitchFamily="34" charset="0"/>
                </a:endParaRPr>
              </a:p>
            </p:txBody>
          </p:sp>
          <p:sp>
            <p:nvSpPr>
              <p:cNvPr id="1039" name="Oval 15"/>
              <p:cNvSpPr>
                <a:spLocks noChangeArrowheads="1"/>
              </p:cNvSpPr>
              <p:nvPr/>
            </p:nvSpPr>
            <p:spPr bwMode="auto">
              <a:xfrm>
                <a:off x="8295" y="5829"/>
                <a:ext cx="1874" cy="85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Arial" pitchFamily="34" charset="0"/>
                  </a:rPr>
                  <a:t>Allocation</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Arial" pitchFamily="34" charset="0"/>
                  </a:rPr>
                  <a:t>Schema</a:t>
                </a:r>
                <a:endParaRPr kumimoji="0" lang="en-US" sz="1200" b="0" i="0" u="none" strike="noStrike" cap="none" normalizeH="0" baseline="0">
                  <a:ln>
                    <a:noFill/>
                  </a:ln>
                  <a:solidFill>
                    <a:schemeClr val="tx1"/>
                  </a:solidFill>
                  <a:effectLst/>
                  <a:latin typeface="Arial" pitchFamily="34" charset="0"/>
                  <a:cs typeface="Arial" pitchFamily="34" charset="0"/>
                </a:endParaRPr>
              </a:p>
            </p:txBody>
          </p:sp>
          <p:cxnSp>
            <p:nvCxnSpPr>
              <p:cNvPr id="1040" name="AutoShape 16"/>
              <p:cNvCxnSpPr>
                <a:cxnSpLocks noChangeShapeType="1"/>
              </p:cNvCxnSpPr>
              <p:nvPr/>
            </p:nvCxnSpPr>
            <p:spPr bwMode="auto">
              <a:xfrm>
                <a:off x="6000" y="2679"/>
                <a:ext cx="1" cy="381"/>
              </a:xfrm>
              <a:prstGeom prst="straightConnector1">
                <a:avLst/>
              </a:prstGeom>
              <a:noFill/>
              <a:ln w="9525">
                <a:solidFill>
                  <a:srgbClr val="000000"/>
                </a:solidFill>
                <a:round/>
                <a:headEnd/>
                <a:tailEnd type="triangle" w="med" len="med"/>
              </a:ln>
            </p:spPr>
          </p:cxnSp>
          <p:cxnSp>
            <p:nvCxnSpPr>
              <p:cNvPr id="1041" name="AutoShape 17"/>
              <p:cNvCxnSpPr>
                <a:cxnSpLocks noChangeShapeType="1"/>
              </p:cNvCxnSpPr>
              <p:nvPr/>
            </p:nvCxnSpPr>
            <p:spPr bwMode="auto">
              <a:xfrm>
                <a:off x="6000" y="3564"/>
                <a:ext cx="1" cy="381"/>
              </a:xfrm>
              <a:prstGeom prst="straightConnector1">
                <a:avLst/>
              </a:prstGeom>
              <a:noFill/>
              <a:ln w="9525">
                <a:solidFill>
                  <a:srgbClr val="000000"/>
                </a:solidFill>
                <a:round/>
                <a:headEnd/>
                <a:tailEnd type="triangle" w="med" len="med"/>
              </a:ln>
            </p:spPr>
          </p:cxnSp>
          <p:cxnSp>
            <p:nvCxnSpPr>
              <p:cNvPr id="1042" name="AutoShape 18"/>
              <p:cNvCxnSpPr>
                <a:cxnSpLocks noChangeShapeType="1"/>
              </p:cNvCxnSpPr>
              <p:nvPr/>
            </p:nvCxnSpPr>
            <p:spPr bwMode="auto">
              <a:xfrm>
                <a:off x="6000" y="4179"/>
                <a:ext cx="1" cy="381"/>
              </a:xfrm>
              <a:prstGeom prst="straightConnector1">
                <a:avLst/>
              </a:prstGeom>
              <a:noFill/>
              <a:ln w="9525">
                <a:solidFill>
                  <a:srgbClr val="000000"/>
                </a:solidFill>
                <a:round/>
                <a:headEnd/>
                <a:tailEnd type="triangle" w="med" len="med"/>
              </a:ln>
            </p:spPr>
          </p:cxnSp>
          <p:cxnSp>
            <p:nvCxnSpPr>
              <p:cNvPr id="1043" name="AutoShape 19"/>
              <p:cNvCxnSpPr>
                <a:cxnSpLocks noChangeShapeType="1"/>
              </p:cNvCxnSpPr>
              <p:nvPr/>
            </p:nvCxnSpPr>
            <p:spPr bwMode="auto">
              <a:xfrm>
                <a:off x="6000" y="5034"/>
                <a:ext cx="1" cy="381"/>
              </a:xfrm>
              <a:prstGeom prst="straightConnector1">
                <a:avLst/>
              </a:prstGeom>
              <a:noFill/>
              <a:ln w="9525">
                <a:solidFill>
                  <a:srgbClr val="000000"/>
                </a:solidFill>
                <a:round/>
                <a:headEnd/>
                <a:tailEnd type="triangle" w="med" len="med"/>
              </a:ln>
            </p:spPr>
          </p:cxnSp>
          <p:cxnSp>
            <p:nvCxnSpPr>
              <p:cNvPr id="1044" name="AutoShape 20"/>
              <p:cNvCxnSpPr>
                <a:cxnSpLocks noChangeShapeType="1"/>
              </p:cNvCxnSpPr>
              <p:nvPr/>
            </p:nvCxnSpPr>
            <p:spPr bwMode="auto">
              <a:xfrm>
                <a:off x="6000" y="5664"/>
                <a:ext cx="1" cy="381"/>
              </a:xfrm>
              <a:prstGeom prst="straightConnector1">
                <a:avLst/>
              </a:prstGeom>
              <a:noFill/>
              <a:ln w="9525">
                <a:solidFill>
                  <a:srgbClr val="000000"/>
                </a:solidFill>
                <a:round/>
                <a:headEnd/>
                <a:tailEnd type="triangle" w="med" len="med"/>
              </a:ln>
            </p:spPr>
          </p:cxnSp>
          <p:cxnSp>
            <p:nvCxnSpPr>
              <p:cNvPr id="1045" name="AutoShape 21"/>
              <p:cNvCxnSpPr>
                <a:cxnSpLocks noChangeShapeType="1"/>
              </p:cNvCxnSpPr>
              <p:nvPr/>
            </p:nvCxnSpPr>
            <p:spPr bwMode="auto">
              <a:xfrm>
                <a:off x="6000" y="6519"/>
                <a:ext cx="1" cy="381"/>
              </a:xfrm>
              <a:prstGeom prst="straightConnector1">
                <a:avLst/>
              </a:prstGeom>
              <a:noFill/>
              <a:ln w="9525">
                <a:solidFill>
                  <a:srgbClr val="000000"/>
                </a:solidFill>
                <a:round/>
                <a:headEnd/>
                <a:tailEnd type="triangle" w="med" len="med"/>
              </a:ln>
            </p:spPr>
          </p:cxnSp>
          <p:cxnSp>
            <p:nvCxnSpPr>
              <p:cNvPr id="1046" name="AutoShape 22"/>
              <p:cNvCxnSpPr>
                <a:cxnSpLocks noChangeShapeType="1"/>
              </p:cNvCxnSpPr>
              <p:nvPr/>
            </p:nvCxnSpPr>
            <p:spPr bwMode="auto">
              <a:xfrm>
                <a:off x="6000" y="7164"/>
                <a:ext cx="1" cy="381"/>
              </a:xfrm>
              <a:prstGeom prst="straightConnector1">
                <a:avLst/>
              </a:prstGeom>
              <a:noFill/>
              <a:ln w="9525">
                <a:solidFill>
                  <a:srgbClr val="000000"/>
                </a:solidFill>
                <a:round/>
                <a:headEnd/>
                <a:tailEnd type="triangle" w="med" len="med"/>
              </a:ln>
            </p:spPr>
          </p:cxnSp>
          <p:cxnSp>
            <p:nvCxnSpPr>
              <p:cNvPr id="1047" name="AutoShape 23"/>
              <p:cNvCxnSpPr>
                <a:cxnSpLocks noChangeShapeType="1"/>
              </p:cNvCxnSpPr>
              <p:nvPr/>
            </p:nvCxnSpPr>
            <p:spPr bwMode="auto">
              <a:xfrm flipH="1">
                <a:off x="7620" y="3293"/>
                <a:ext cx="735" cy="1"/>
              </a:xfrm>
              <a:prstGeom prst="straightConnector1">
                <a:avLst/>
              </a:prstGeom>
              <a:noFill/>
              <a:ln w="9525">
                <a:solidFill>
                  <a:srgbClr val="000000"/>
                </a:solidFill>
                <a:round/>
                <a:headEnd/>
                <a:tailEnd type="triangle" w="med" len="med"/>
              </a:ln>
            </p:spPr>
          </p:cxnSp>
          <p:cxnSp>
            <p:nvCxnSpPr>
              <p:cNvPr id="1048" name="AutoShape 24"/>
              <p:cNvCxnSpPr>
                <a:cxnSpLocks noChangeShapeType="1"/>
              </p:cNvCxnSpPr>
              <p:nvPr/>
            </p:nvCxnSpPr>
            <p:spPr bwMode="auto">
              <a:xfrm flipH="1">
                <a:off x="7695" y="4793"/>
                <a:ext cx="735" cy="1"/>
              </a:xfrm>
              <a:prstGeom prst="straightConnector1">
                <a:avLst/>
              </a:prstGeom>
              <a:noFill/>
              <a:ln w="9525">
                <a:solidFill>
                  <a:srgbClr val="000000"/>
                </a:solidFill>
                <a:round/>
                <a:headEnd/>
                <a:tailEnd type="triangle" w="med" len="med"/>
              </a:ln>
            </p:spPr>
          </p:cxnSp>
          <p:cxnSp>
            <p:nvCxnSpPr>
              <p:cNvPr id="1049" name="AutoShape 25"/>
              <p:cNvCxnSpPr>
                <a:cxnSpLocks noChangeShapeType="1"/>
              </p:cNvCxnSpPr>
              <p:nvPr/>
            </p:nvCxnSpPr>
            <p:spPr bwMode="auto">
              <a:xfrm flipH="1">
                <a:off x="7545" y="6263"/>
                <a:ext cx="735" cy="1"/>
              </a:xfrm>
              <a:prstGeom prst="straightConnector1">
                <a:avLst/>
              </a:prstGeom>
              <a:noFill/>
              <a:ln w="9525">
                <a:solidFill>
                  <a:srgbClr val="000000"/>
                </a:solidFill>
                <a:round/>
                <a:headEnd/>
                <a:tailEnd type="triangle" w="med" len="med"/>
              </a:ln>
            </p:spPr>
          </p:cxnSp>
          <p:sp>
            <p:nvSpPr>
              <p:cNvPr id="1050" name="AutoShape 26"/>
              <p:cNvSpPr>
                <a:spLocks/>
              </p:cNvSpPr>
              <p:nvPr/>
            </p:nvSpPr>
            <p:spPr bwMode="auto">
              <a:xfrm>
                <a:off x="3210" y="2994"/>
                <a:ext cx="765" cy="3555"/>
              </a:xfrm>
              <a:prstGeom prst="leftBrace">
                <a:avLst>
                  <a:gd name="adj1" fmla="val 38725"/>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1200"/>
              </a:p>
            </p:txBody>
          </p:sp>
          <p:sp>
            <p:nvSpPr>
              <p:cNvPr id="1051" name="AutoShape 27"/>
              <p:cNvSpPr>
                <a:spLocks/>
              </p:cNvSpPr>
              <p:nvPr/>
            </p:nvSpPr>
            <p:spPr bwMode="auto">
              <a:xfrm>
                <a:off x="3375" y="7479"/>
                <a:ext cx="465" cy="645"/>
              </a:xfrm>
              <a:prstGeom prst="leftBrace">
                <a:avLst>
                  <a:gd name="adj1" fmla="val 11559"/>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1200"/>
              </a:p>
            </p:txBody>
          </p:sp>
          <p:sp>
            <p:nvSpPr>
              <p:cNvPr id="1052" name="Text Box 28"/>
              <p:cNvSpPr txBox="1">
                <a:spLocks noChangeArrowheads="1"/>
              </p:cNvSpPr>
              <p:nvPr/>
            </p:nvSpPr>
            <p:spPr bwMode="auto">
              <a:xfrm>
                <a:off x="1680" y="4530"/>
                <a:ext cx="1620"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dirty="0">
                    <a:ln>
                      <a:noFill/>
                    </a:ln>
                    <a:solidFill>
                      <a:schemeClr val="tx1"/>
                    </a:solidFill>
                    <a:effectLst/>
                    <a:latin typeface="Times New Roman" pitchFamily="18" charset="0"/>
                    <a:cs typeface="Arial" pitchFamily="34" charset="0"/>
                  </a:rPr>
                  <a:t>Control Site</a:t>
                </a:r>
                <a:endParaRPr kumimoji="0" lang="en-US" sz="1400" b="0" i="0" u="none" strike="noStrike" cap="none" normalizeH="0" baseline="0" dirty="0">
                  <a:ln>
                    <a:noFill/>
                  </a:ln>
                  <a:solidFill>
                    <a:schemeClr val="tx1"/>
                  </a:solidFill>
                  <a:effectLst/>
                  <a:latin typeface="Arial" pitchFamily="34" charset="0"/>
                  <a:cs typeface="Arial" pitchFamily="34" charset="0"/>
                </a:endParaRPr>
              </a:p>
            </p:txBody>
          </p:sp>
          <p:sp>
            <p:nvSpPr>
              <p:cNvPr id="1053" name="Text Box 29"/>
              <p:cNvSpPr txBox="1">
                <a:spLocks noChangeArrowheads="1"/>
              </p:cNvSpPr>
              <p:nvPr/>
            </p:nvSpPr>
            <p:spPr bwMode="auto">
              <a:xfrm>
                <a:off x="1860" y="7569"/>
                <a:ext cx="1620"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dirty="0">
                    <a:ln>
                      <a:noFill/>
                    </a:ln>
                    <a:solidFill>
                      <a:schemeClr val="tx1"/>
                    </a:solidFill>
                    <a:effectLst/>
                    <a:latin typeface="Times New Roman" pitchFamily="18" charset="0"/>
                    <a:cs typeface="Arial" pitchFamily="34" charset="0"/>
                  </a:rPr>
                  <a:t>Local Sites</a:t>
                </a:r>
                <a:endParaRPr kumimoji="0" lang="en-US" sz="1400" b="0" i="0" u="none" strike="noStrike" cap="none" normalizeH="0" baseline="0" dirty="0">
                  <a:ln>
                    <a:noFill/>
                  </a:ln>
                  <a:solidFill>
                    <a:schemeClr val="tx1"/>
                  </a:solidFill>
                  <a:effectLst/>
                  <a:latin typeface="Arial" pitchFamily="34" charset="0"/>
                  <a:cs typeface="Arial" pitchFamily="34" charset="0"/>
                </a:endParaRPr>
              </a:p>
            </p:txBody>
          </p:sp>
          <p:sp>
            <p:nvSpPr>
              <p:cNvPr id="1054" name="Text Box 30"/>
              <p:cNvSpPr txBox="1">
                <a:spLocks noChangeArrowheads="1"/>
              </p:cNvSpPr>
              <p:nvPr/>
            </p:nvSpPr>
            <p:spPr bwMode="auto">
              <a:xfrm>
                <a:off x="2504" y="8399"/>
                <a:ext cx="7558"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Arial" pitchFamily="34" charset="0"/>
                  </a:rPr>
                  <a:t>Fig. Generic Layering Scheme for Distributed Query Processing</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gr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Main layers of Query Processing</a:t>
            </a:r>
          </a:p>
          <a:p>
            <a:pPr lvl="1" algn="just">
              <a:buFont typeface="Wingdings" pitchFamily="2" charset="2"/>
              <a:buChar char="Ø"/>
            </a:pPr>
            <a:r>
              <a:rPr lang="en-US" sz="2000" dirty="0">
                <a:latin typeface="Times New Roman" pitchFamily="18" charset="0"/>
                <a:cs typeface="Times New Roman" pitchFamily="18" charset="0"/>
              </a:rPr>
              <a:t>The input is a query on global data expressed in relational calculus. This query is posed on global (distributed) relations, meaning that data distribution is hidden. </a:t>
            </a:r>
          </a:p>
          <a:p>
            <a:pPr lvl="1" algn="just">
              <a:buFont typeface="Wingdings" pitchFamily="2" charset="2"/>
              <a:buChar char="Ø"/>
            </a:pPr>
            <a:r>
              <a:rPr lang="en-US" sz="2000" dirty="0">
                <a:latin typeface="Times New Roman" pitchFamily="18" charset="0"/>
                <a:cs typeface="Times New Roman" pitchFamily="18" charset="0"/>
              </a:rPr>
              <a:t>The first three layers map the input query into an optimized distributed query execution plan. They perform the functions of query decomposition, data localization, and global query optimization. </a:t>
            </a:r>
          </a:p>
          <a:p>
            <a:pPr lvl="1" algn="just">
              <a:buFont typeface="Wingdings" pitchFamily="2" charset="2"/>
              <a:buChar char="Ø"/>
            </a:pPr>
            <a:r>
              <a:rPr lang="en-US" sz="2000" dirty="0">
                <a:latin typeface="Times New Roman" pitchFamily="18" charset="0"/>
                <a:cs typeface="Times New Roman" pitchFamily="18" charset="0"/>
              </a:rPr>
              <a:t>Query decomposition and data localization correspond to query rewriting. </a:t>
            </a:r>
          </a:p>
          <a:p>
            <a:pPr lvl="1" algn="just">
              <a:buFont typeface="Wingdings" pitchFamily="2" charset="2"/>
              <a:buChar char="Ø"/>
            </a:pPr>
            <a:r>
              <a:rPr lang="en-US" sz="2000" dirty="0">
                <a:latin typeface="Times New Roman" pitchFamily="18" charset="0"/>
                <a:cs typeface="Times New Roman" pitchFamily="18" charset="0"/>
              </a:rPr>
              <a:t>The first three layers are performed by a central control site and use schema information stored in the global directory. </a:t>
            </a:r>
          </a:p>
          <a:p>
            <a:pPr lvl="1" algn="just">
              <a:buFont typeface="Wingdings" pitchFamily="2" charset="2"/>
              <a:buChar char="Ø"/>
            </a:pPr>
            <a:r>
              <a:rPr lang="en-US" sz="2000" dirty="0">
                <a:latin typeface="Times New Roman" pitchFamily="18" charset="0"/>
                <a:cs typeface="Times New Roman" pitchFamily="18" charset="0"/>
              </a:rPr>
              <a:t>The fourth layer performs distributed query execution by executing the plan and returns the answer to the query. It is done by the local sites and the control site.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Query Decomposition</a:t>
            </a:r>
            <a:endParaRPr lang="en-US" sz="2400" dirty="0">
              <a:latin typeface="Times New Roman" pitchFamily="18" charset="0"/>
              <a:cs typeface="Times New Roman" pitchFamily="18" charset="0"/>
            </a:endParaRPr>
          </a:p>
          <a:p>
            <a:pPr lvl="0" algn="just"/>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The first layer decomposes the calculus query into an algebraic query on global relations. The information needed for this transformation is found in the global conceptual schema describing the global relations. </a:t>
            </a:r>
          </a:p>
          <a:p>
            <a:pPr lvl="1" algn="just">
              <a:buFont typeface="Wingdings" pitchFamily="2" charset="2"/>
              <a:buChar char="Ø"/>
            </a:pPr>
            <a:r>
              <a:rPr lang="en-US" sz="2000" dirty="0">
                <a:latin typeface="Times New Roman" pitchFamily="18" charset="0"/>
                <a:cs typeface="Times New Roman" pitchFamily="18" charset="0"/>
              </a:rPr>
              <a:t>Both input and output queries refer to global relations, without knowledge of the distribution of data. Therefore, query decomposition is the same for centralized and distributed systems.</a:t>
            </a:r>
          </a:p>
          <a:p>
            <a:pPr lvl="1" algn="just">
              <a:buFont typeface="Wingdings" pitchFamily="2" charset="2"/>
              <a:buChar char="Ø"/>
            </a:pPr>
            <a:r>
              <a:rPr lang="en-US" sz="2000" dirty="0">
                <a:latin typeface="Times New Roman" pitchFamily="18" charset="0"/>
                <a:cs typeface="Times New Roman" pitchFamily="18" charset="0"/>
              </a:rPr>
              <a:t>Query decomposition can be viewed as four successive steps:</a:t>
            </a:r>
          </a:p>
          <a:p>
            <a:pPr lvl="1" algn="just">
              <a:buFont typeface="Wingdings" pitchFamily="2" charset="2"/>
              <a:buChar char="Ø"/>
            </a:pPr>
            <a:r>
              <a:rPr lang="en-US" sz="2000" b="1" dirty="0">
                <a:latin typeface="Times New Roman" pitchFamily="18" charset="0"/>
                <a:cs typeface="Times New Roman" pitchFamily="18" charset="0"/>
              </a:rPr>
              <a:t>1) Normalization,                               2) Analysis,</a:t>
            </a:r>
          </a:p>
          <a:p>
            <a:pPr lvl="1" algn="just">
              <a:buNone/>
            </a:pPr>
            <a:r>
              <a:rPr lang="en-US" sz="2000" b="1" dirty="0">
                <a:latin typeface="Times New Roman" pitchFamily="18" charset="0"/>
                <a:cs typeface="Times New Roman" pitchFamily="18" charset="0"/>
              </a:rPr>
              <a:t>	3) Elimination of redundancy, and  4) Rewriting.</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Query Decomposition</a:t>
            </a:r>
            <a:endParaRPr lang="en-US" sz="2400" dirty="0">
              <a:latin typeface="Times New Roman" pitchFamily="18" charset="0"/>
              <a:cs typeface="Times New Roman" pitchFamily="18" charset="0"/>
            </a:endParaRPr>
          </a:p>
          <a:p>
            <a:pPr lvl="1" algn="just">
              <a:buFont typeface="Wingdings" pitchFamily="2" charset="2"/>
              <a:buChar char="Ø"/>
            </a:pPr>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First, the calculus query is rewritten in a normalized form that is suitable for subsequent manipulation. Normalization of a query generally involves the manipulation of the query quantifiers and of the query qualification by applying logical operator priority.</a:t>
            </a:r>
          </a:p>
          <a:p>
            <a:pPr lvl="1" algn="just">
              <a:buFont typeface="Wingdings" pitchFamily="2" charset="2"/>
              <a:buChar char="Ø"/>
            </a:pPr>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Second, the normalized query is analyzed semantically so that incorrect queries are detected and rejected as early as possible. Typically, they use some sort of graph that captures the semantics of the query.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Query Decomposition</a:t>
            </a:r>
            <a:endParaRPr lang="en-US" sz="2400" dirty="0">
              <a:latin typeface="Times New Roman" pitchFamily="18" charset="0"/>
              <a:cs typeface="Times New Roman" pitchFamily="18" charset="0"/>
            </a:endParaRPr>
          </a:p>
          <a:p>
            <a:pPr lvl="1" algn="just">
              <a:buFont typeface="Wingdings" pitchFamily="2" charset="2"/>
              <a:buChar char="Ø"/>
            </a:pPr>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Third, the correct query is simplified. One way to simplify a query is to eliminate redundant predicates.</a:t>
            </a:r>
          </a:p>
          <a:p>
            <a:pPr lvl="1" algn="just">
              <a:buFont typeface="Wingdings" pitchFamily="2" charset="2"/>
              <a:buChar char="Ø"/>
            </a:pPr>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Fourth, the calculus query is restructured as an algebraic query. Several algebraic queries can be derived from the same calculus query, and that some algebraic queries are “better” than others. The quality of an algebraic query is defined in terms of expected performance.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Normalization</a:t>
            </a:r>
            <a:endParaRPr lang="en-US" sz="24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The input query may be arbitrarily complex. </a:t>
            </a:r>
          </a:p>
          <a:p>
            <a:pPr lvl="1" algn="just">
              <a:buFont typeface="Wingdings" pitchFamily="2" charset="2"/>
              <a:buChar char="Ø"/>
            </a:pPr>
            <a:r>
              <a:rPr lang="en-US" sz="2000" dirty="0">
                <a:latin typeface="Times New Roman" pitchFamily="18" charset="0"/>
                <a:cs typeface="Times New Roman" pitchFamily="18" charset="0"/>
              </a:rPr>
              <a:t>It is the goal of normalization to transform the query to a normalized form to facilitate further processing. </a:t>
            </a:r>
          </a:p>
          <a:p>
            <a:pPr lvl="1" algn="just">
              <a:buFont typeface="Wingdings" pitchFamily="2" charset="2"/>
              <a:buChar char="Ø"/>
            </a:pPr>
            <a:r>
              <a:rPr lang="en-US" sz="2000" dirty="0">
                <a:latin typeface="Times New Roman" pitchFamily="18" charset="0"/>
                <a:cs typeface="Times New Roman" pitchFamily="18" charset="0"/>
              </a:rPr>
              <a:t>With relational languages such as SQL, the most important transformation is that of the query qualification (the WHERE clause), which may be an arbitrarily complex, quantifier-free predicate, preceded by all necessary quantifiers (    or    ). </a:t>
            </a:r>
          </a:p>
          <a:p>
            <a:pPr lvl="1" algn="just">
              <a:buFont typeface="Wingdings" pitchFamily="2" charset="2"/>
              <a:buChar char="Ø"/>
            </a:pPr>
            <a:r>
              <a:rPr lang="en-US" sz="2000" dirty="0">
                <a:latin typeface="Times New Roman" pitchFamily="18" charset="0"/>
                <a:cs typeface="Times New Roman" pitchFamily="18" charset="0"/>
              </a:rPr>
              <a:t>There are two possible normal forms for the predicate, one giving precedence to the AND (^) and the other to the OR (˅). The </a:t>
            </a:r>
            <a:r>
              <a:rPr lang="en-US" sz="2000" b="1" dirty="0">
                <a:latin typeface="Times New Roman" pitchFamily="18" charset="0"/>
                <a:cs typeface="Times New Roman" pitchFamily="18" charset="0"/>
              </a:rPr>
              <a:t>conjunctive normal form</a:t>
            </a:r>
            <a:r>
              <a:rPr lang="en-US" sz="2000" dirty="0">
                <a:latin typeface="Times New Roman" pitchFamily="18" charset="0"/>
                <a:cs typeface="Times New Roman" pitchFamily="18" charset="0"/>
              </a:rPr>
              <a:t> is a conjunction (^ predicate) of disjunctions (˅ predicates) as follows:</a:t>
            </a:r>
          </a:p>
          <a:p>
            <a:pPr lvl="1" algn="just">
              <a:buNone/>
            </a:pP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(p</a:t>
            </a:r>
            <a:r>
              <a:rPr lang="en-US" sz="2000" b="1" baseline="-25000" dirty="0">
                <a:latin typeface="Times New Roman" pitchFamily="18" charset="0"/>
                <a:cs typeface="Times New Roman" pitchFamily="18" charset="0"/>
              </a:rPr>
              <a:t>11</a:t>
            </a:r>
            <a:r>
              <a:rPr lang="en-US" sz="2000" b="1" dirty="0">
                <a:latin typeface="Times New Roman" pitchFamily="18" charset="0"/>
                <a:cs typeface="Times New Roman" pitchFamily="18" charset="0"/>
              </a:rPr>
              <a:t> ˅ p</a:t>
            </a:r>
            <a:r>
              <a:rPr lang="en-US" sz="2000" b="1" baseline="-25000" dirty="0">
                <a:latin typeface="Times New Roman" pitchFamily="18" charset="0"/>
                <a:cs typeface="Times New Roman" pitchFamily="18" charset="0"/>
              </a:rPr>
              <a:t>12 </a:t>
            </a:r>
            <a:r>
              <a:rPr lang="en-US" sz="2000" b="1" dirty="0">
                <a:latin typeface="Times New Roman" pitchFamily="18" charset="0"/>
                <a:cs typeface="Times New Roman" pitchFamily="18" charset="0"/>
              </a:rPr>
              <a:t>˅ . . . ˅ p</a:t>
            </a:r>
            <a:r>
              <a:rPr lang="en-US" sz="2000" b="1" baseline="-25000" dirty="0">
                <a:latin typeface="Times New Roman" pitchFamily="18" charset="0"/>
                <a:cs typeface="Times New Roman" pitchFamily="18" charset="0"/>
              </a:rPr>
              <a:t>1n</a:t>
            </a:r>
            <a:r>
              <a:rPr lang="en-US" sz="2000" b="1" dirty="0">
                <a:latin typeface="Times New Roman" pitchFamily="18" charset="0"/>
                <a:cs typeface="Times New Roman" pitchFamily="18" charset="0"/>
              </a:rPr>
              <a:t>) ^ . . . . ^ (p</a:t>
            </a:r>
            <a:r>
              <a:rPr lang="en-US" sz="2000" b="1" baseline="-25000" dirty="0">
                <a:latin typeface="Times New Roman" pitchFamily="18" charset="0"/>
                <a:cs typeface="Times New Roman" pitchFamily="18" charset="0"/>
              </a:rPr>
              <a:t>m1</a:t>
            </a:r>
            <a:r>
              <a:rPr lang="en-US" sz="2000" b="1" dirty="0">
                <a:latin typeface="Times New Roman" pitchFamily="18" charset="0"/>
                <a:cs typeface="Times New Roman" pitchFamily="18" charset="0"/>
              </a:rPr>
              <a:t> ˅ p</a:t>
            </a:r>
            <a:r>
              <a:rPr lang="en-US" sz="2000" b="1" baseline="-25000" dirty="0">
                <a:latin typeface="Times New Roman" pitchFamily="18" charset="0"/>
                <a:cs typeface="Times New Roman" pitchFamily="18" charset="0"/>
              </a:rPr>
              <a:t>m2</a:t>
            </a:r>
            <a:r>
              <a:rPr lang="en-US" sz="2000" b="1" dirty="0">
                <a:latin typeface="Times New Roman" pitchFamily="18" charset="0"/>
                <a:cs typeface="Times New Roman" pitchFamily="18" charset="0"/>
              </a:rPr>
              <a:t> ˅ . . . ˅ </a:t>
            </a:r>
            <a:r>
              <a:rPr lang="en-US" sz="2000" b="1" dirty="0" err="1">
                <a:latin typeface="Times New Roman" pitchFamily="18" charset="0"/>
                <a:cs typeface="Times New Roman" pitchFamily="18" charset="0"/>
              </a:rPr>
              <a:t>p</a:t>
            </a:r>
            <a:r>
              <a:rPr lang="en-US" sz="2000" b="1" baseline="-25000" dirty="0" err="1">
                <a:latin typeface="Times New Roman" pitchFamily="18" charset="0"/>
                <a:cs typeface="Times New Roman" pitchFamily="18" charset="0"/>
              </a:rPr>
              <a:t>mn</a:t>
            </a:r>
            <a:r>
              <a:rPr lang="en-US" sz="2000" b="1" dirty="0">
                <a:latin typeface="Times New Roman" pitchFamily="18" charset="0"/>
                <a:cs typeface="Times New Roman" pitchFamily="18" charset="0"/>
              </a:rPr>
              <a:t>)</a:t>
            </a:r>
          </a:p>
          <a:p>
            <a:pPr lvl="1" algn="just">
              <a:buNone/>
            </a:pPr>
            <a:r>
              <a:rPr lang="en-US" sz="2000" dirty="0">
                <a:latin typeface="Times New Roman" pitchFamily="18" charset="0"/>
                <a:cs typeface="Times New Roman" pitchFamily="18" charset="0"/>
              </a:rPr>
              <a:t>	where pi j is a simple predicate.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4"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graphicFrame>
        <p:nvGraphicFramePr>
          <p:cNvPr id="3074" name="Object 2"/>
          <p:cNvGraphicFramePr>
            <a:graphicFrameLocks noChangeAspect="1"/>
          </p:cNvGraphicFramePr>
          <p:nvPr/>
        </p:nvGraphicFramePr>
        <p:xfrm>
          <a:off x="3128683" y="4177553"/>
          <a:ext cx="336176" cy="238125"/>
        </p:xfrm>
        <a:graphic>
          <a:graphicData uri="http://schemas.openxmlformats.org/presentationml/2006/ole">
            <mc:AlternateContent xmlns:mc="http://schemas.openxmlformats.org/markup-compatibility/2006">
              <mc:Choice xmlns:v="urn:schemas-microsoft-com:vml" Requires="v">
                <p:oleObj spid="_x0000_s3085" name="Equation" r:id="rId5" imgW="3657600" imgH="3962400" progId="Equation.3">
                  <p:embed/>
                </p:oleObj>
              </mc:Choice>
              <mc:Fallback>
                <p:oleObj name="Equation" r:id="rId5" imgW="3657600" imgH="3962400" progId="Equation.3">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8683" y="4177553"/>
                        <a:ext cx="336176" cy="238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3" name="Object 1"/>
          <p:cNvGraphicFramePr>
            <a:graphicFrameLocks noChangeAspect="1"/>
          </p:cNvGraphicFramePr>
          <p:nvPr/>
        </p:nvGraphicFramePr>
        <p:xfrm>
          <a:off x="3663763" y="4159969"/>
          <a:ext cx="200025" cy="246184"/>
        </p:xfrm>
        <a:graphic>
          <a:graphicData uri="http://schemas.openxmlformats.org/presentationml/2006/ole">
            <mc:AlternateContent xmlns:mc="http://schemas.openxmlformats.org/markup-compatibility/2006">
              <mc:Choice xmlns:v="urn:schemas-microsoft-com:vml" Requires="v">
                <p:oleObj spid="_x0000_s3086" name="Equation" r:id="rId7" imgW="3048000" imgH="3657600" progId="Equation.3">
                  <p:embed/>
                </p:oleObj>
              </mc:Choice>
              <mc:Fallback>
                <p:oleObj name="Equation" r:id="rId7" imgW="3048000" imgH="3657600" progId="Equation.3">
                  <p:embed/>
                  <p:pic>
                    <p:nvPicPr>
                      <p:cNvPr id="0"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63763" y="4159969"/>
                        <a:ext cx="200025" cy="2461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Normalization</a:t>
            </a:r>
            <a:endParaRPr lang="en-US" sz="24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A qualification in </a:t>
            </a:r>
            <a:r>
              <a:rPr lang="en-US" sz="2000" b="1" dirty="0">
                <a:latin typeface="Times New Roman" pitchFamily="18" charset="0"/>
                <a:cs typeface="Times New Roman" pitchFamily="18" charset="0"/>
              </a:rPr>
              <a:t>disjunctive normal form</a:t>
            </a:r>
            <a:r>
              <a:rPr lang="en-US" sz="2000" dirty="0">
                <a:latin typeface="Times New Roman" pitchFamily="18" charset="0"/>
                <a:cs typeface="Times New Roman" pitchFamily="18" charset="0"/>
              </a:rPr>
              <a:t>, on the other hand, is as follows:</a:t>
            </a:r>
          </a:p>
          <a:p>
            <a:pPr algn="just">
              <a:buNone/>
            </a:pP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(p</a:t>
            </a:r>
            <a:r>
              <a:rPr lang="en-US" sz="2000" b="1" baseline="-25000" dirty="0">
                <a:latin typeface="Times New Roman" pitchFamily="18" charset="0"/>
                <a:cs typeface="Times New Roman" pitchFamily="18" charset="0"/>
              </a:rPr>
              <a:t>11</a:t>
            </a:r>
            <a:r>
              <a:rPr lang="en-US" sz="2000" b="1" dirty="0">
                <a:latin typeface="Times New Roman" pitchFamily="18" charset="0"/>
                <a:cs typeface="Times New Roman" pitchFamily="18" charset="0"/>
              </a:rPr>
              <a:t> ^ p</a:t>
            </a:r>
            <a:r>
              <a:rPr lang="en-US" sz="2000" b="1" baseline="-25000" dirty="0">
                <a:latin typeface="Times New Roman" pitchFamily="18" charset="0"/>
                <a:cs typeface="Times New Roman" pitchFamily="18" charset="0"/>
              </a:rPr>
              <a:t>12</a:t>
            </a:r>
            <a:r>
              <a:rPr lang="en-US" sz="2000" b="1" dirty="0">
                <a:latin typeface="Times New Roman" pitchFamily="18" charset="0"/>
                <a:cs typeface="Times New Roman" pitchFamily="18" charset="0"/>
              </a:rPr>
              <a:t> ^ . . . ^ p</a:t>
            </a:r>
            <a:r>
              <a:rPr lang="en-US" sz="2000" b="1" baseline="-25000" dirty="0">
                <a:latin typeface="Times New Roman" pitchFamily="18" charset="0"/>
                <a:cs typeface="Times New Roman" pitchFamily="18" charset="0"/>
              </a:rPr>
              <a:t>1n</a:t>
            </a:r>
            <a:r>
              <a:rPr lang="en-US" sz="2000" b="1" dirty="0">
                <a:latin typeface="Times New Roman" pitchFamily="18" charset="0"/>
                <a:cs typeface="Times New Roman" pitchFamily="18" charset="0"/>
              </a:rPr>
              <a:t>) ˅ . . . . ˅ (p</a:t>
            </a:r>
            <a:r>
              <a:rPr lang="en-US" sz="2000" b="1" baseline="-25000" dirty="0">
                <a:latin typeface="Times New Roman" pitchFamily="18" charset="0"/>
                <a:cs typeface="Times New Roman" pitchFamily="18" charset="0"/>
              </a:rPr>
              <a:t>m1</a:t>
            </a:r>
            <a:r>
              <a:rPr lang="en-US" sz="2000" b="1" dirty="0">
                <a:latin typeface="Times New Roman" pitchFamily="18" charset="0"/>
                <a:cs typeface="Times New Roman" pitchFamily="18" charset="0"/>
              </a:rPr>
              <a:t> ^ p</a:t>
            </a:r>
            <a:r>
              <a:rPr lang="en-US" sz="2000" b="1" baseline="-25000" dirty="0">
                <a:latin typeface="Times New Roman" pitchFamily="18" charset="0"/>
                <a:cs typeface="Times New Roman" pitchFamily="18" charset="0"/>
              </a:rPr>
              <a:t>m2</a:t>
            </a:r>
            <a:r>
              <a:rPr lang="en-US" sz="2000" b="1" dirty="0">
                <a:latin typeface="Times New Roman" pitchFamily="18" charset="0"/>
                <a:cs typeface="Times New Roman" pitchFamily="18" charset="0"/>
              </a:rPr>
              <a:t> ^ . . . ^ </a:t>
            </a:r>
            <a:r>
              <a:rPr lang="en-US" sz="2000" b="1" dirty="0" err="1">
                <a:latin typeface="Times New Roman" pitchFamily="18" charset="0"/>
                <a:cs typeface="Times New Roman" pitchFamily="18" charset="0"/>
              </a:rPr>
              <a:t>p</a:t>
            </a:r>
            <a:r>
              <a:rPr lang="en-US" sz="2000" b="1" baseline="-25000" dirty="0" err="1">
                <a:latin typeface="Times New Roman" pitchFamily="18" charset="0"/>
                <a:cs typeface="Times New Roman" pitchFamily="18" charset="0"/>
              </a:rPr>
              <a:t>mn</a:t>
            </a:r>
            <a:r>
              <a:rPr lang="en-US" sz="2000" b="1" dirty="0">
                <a:latin typeface="Times New Roman" pitchFamily="18" charset="0"/>
                <a:cs typeface="Times New Roman" pitchFamily="18" charset="0"/>
              </a:rPr>
              <a:t>)</a:t>
            </a:r>
          </a:p>
          <a:p>
            <a:pPr lvl="1" algn="just">
              <a:buFont typeface="Wingdings" pitchFamily="2" charset="2"/>
              <a:buChar char="Ø"/>
            </a:pPr>
            <a:r>
              <a:rPr lang="en-US" sz="2000" dirty="0">
                <a:latin typeface="Times New Roman" pitchFamily="18" charset="0"/>
                <a:cs typeface="Times New Roman" pitchFamily="18" charset="0"/>
              </a:rPr>
              <a:t>The transformation is straightforward using the well-known equivalence rules for logical operations (^, ˅ and ¬):</a:t>
            </a:r>
          </a:p>
          <a:p>
            <a:pPr lvl="2" algn="just">
              <a:buNone/>
            </a:pPr>
            <a:r>
              <a:rPr lang="en-US" sz="1800" dirty="0">
                <a:latin typeface="Times New Roman" pitchFamily="18" charset="0"/>
                <a:cs typeface="Times New Roman" pitchFamily="18" charset="0"/>
              </a:rPr>
              <a:t>1. p</a:t>
            </a:r>
            <a:r>
              <a:rPr lang="en-US" sz="1800" baseline="-25000" dirty="0">
                <a:latin typeface="Times New Roman" pitchFamily="18" charset="0"/>
                <a:cs typeface="Times New Roman" pitchFamily="18" charset="0"/>
              </a:rPr>
              <a:t>1</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2</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p</a:t>
            </a:r>
            <a:r>
              <a:rPr lang="en-US" sz="1800" baseline="-25000" dirty="0" err="1">
                <a:latin typeface="Times New Roman" pitchFamily="18" charset="0"/>
                <a:cs typeface="Times New Roman" pitchFamily="18" charset="0"/>
              </a:rPr>
              <a:t>2</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1</a:t>
            </a:r>
            <a:endParaRPr lang="en-US" sz="1800" dirty="0">
              <a:latin typeface="Times New Roman" pitchFamily="18" charset="0"/>
              <a:cs typeface="Times New Roman" pitchFamily="18" charset="0"/>
            </a:endParaRPr>
          </a:p>
          <a:p>
            <a:pPr lvl="2" algn="just">
              <a:buNone/>
            </a:pPr>
            <a:r>
              <a:rPr lang="en-US" sz="1800" dirty="0">
                <a:latin typeface="Times New Roman" pitchFamily="18" charset="0"/>
                <a:cs typeface="Times New Roman" pitchFamily="18" charset="0"/>
              </a:rPr>
              <a:t>2. p</a:t>
            </a:r>
            <a:r>
              <a:rPr lang="en-US" sz="1800" baseline="-25000" dirty="0">
                <a:latin typeface="Times New Roman" pitchFamily="18" charset="0"/>
                <a:cs typeface="Times New Roman" pitchFamily="18" charset="0"/>
              </a:rPr>
              <a:t>1</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2</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p</a:t>
            </a:r>
            <a:r>
              <a:rPr lang="en-US" sz="1800" baseline="-25000" dirty="0" err="1">
                <a:latin typeface="Times New Roman" pitchFamily="18" charset="0"/>
                <a:cs typeface="Times New Roman" pitchFamily="18" charset="0"/>
              </a:rPr>
              <a:t>2</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1</a:t>
            </a:r>
            <a:endParaRPr lang="en-US" sz="1800" dirty="0">
              <a:latin typeface="Times New Roman" pitchFamily="18" charset="0"/>
              <a:cs typeface="Times New Roman" pitchFamily="18" charset="0"/>
            </a:endParaRPr>
          </a:p>
          <a:p>
            <a:pPr lvl="2" algn="just">
              <a:buNone/>
            </a:pPr>
            <a:r>
              <a:rPr lang="en-US" sz="1800" dirty="0">
                <a:latin typeface="Times New Roman" pitchFamily="18" charset="0"/>
                <a:cs typeface="Times New Roman" pitchFamily="18" charset="0"/>
              </a:rPr>
              <a:t>3. p</a:t>
            </a:r>
            <a:r>
              <a:rPr lang="en-US" sz="1800" baseline="-25000" dirty="0">
                <a:latin typeface="Times New Roman" pitchFamily="18" charset="0"/>
                <a:cs typeface="Times New Roman" pitchFamily="18" charset="0"/>
              </a:rPr>
              <a:t>1</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2</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3</a:t>
            </a:r>
            <a:r>
              <a:rPr lang="en-US" sz="1800" dirty="0">
                <a:latin typeface="Times New Roman" pitchFamily="18" charset="0"/>
                <a:cs typeface="Times New Roman" pitchFamily="18" charset="0"/>
              </a:rPr>
              <a:t>)         (p</a:t>
            </a:r>
            <a:r>
              <a:rPr lang="en-US" sz="1800" baseline="-25000" dirty="0">
                <a:latin typeface="Times New Roman" pitchFamily="18" charset="0"/>
                <a:cs typeface="Times New Roman" pitchFamily="18" charset="0"/>
              </a:rPr>
              <a:t>1</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2</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3</a:t>
            </a:r>
            <a:endParaRPr lang="en-US" sz="1800" dirty="0">
              <a:latin typeface="Times New Roman" pitchFamily="18" charset="0"/>
              <a:cs typeface="Times New Roman" pitchFamily="18" charset="0"/>
            </a:endParaRPr>
          </a:p>
          <a:p>
            <a:pPr lvl="2" algn="just">
              <a:buNone/>
            </a:pPr>
            <a:r>
              <a:rPr lang="en-US" sz="1800" dirty="0">
                <a:latin typeface="Times New Roman" pitchFamily="18" charset="0"/>
                <a:cs typeface="Times New Roman" pitchFamily="18" charset="0"/>
              </a:rPr>
              <a:t>4. p</a:t>
            </a:r>
            <a:r>
              <a:rPr lang="en-US" sz="1800" baseline="-25000" dirty="0">
                <a:latin typeface="Times New Roman" pitchFamily="18" charset="0"/>
                <a:cs typeface="Times New Roman" pitchFamily="18" charset="0"/>
              </a:rPr>
              <a:t>1</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2</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3</a:t>
            </a:r>
            <a:r>
              <a:rPr lang="en-US" sz="1800" dirty="0">
                <a:latin typeface="Times New Roman" pitchFamily="18" charset="0"/>
                <a:cs typeface="Times New Roman" pitchFamily="18" charset="0"/>
              </a:rPr>
              <a:t>)        (p</a:t>
            </a:r>
            <a:r>
              <a:rPr lang="en-US" sz="1800" baseline="-25000" dirty="0">
                <a:latin typeface="Times New Roman" pitchFamily="18" charset="0"/>
                <a:cs typeface="Times New Roman" pitchFamily="18" charset="0"/>
              </a:rPr>
              <a:t>1</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2</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3</a:t>
            </a:r>
            <a:endParaRPr lang="en-US" sz="1800" dirty="0">
              <a:latin typeface="Times New Roman" pitchFamily="18" charset="0"/>
              <a:cs typeface="Times New Roman" pitchFamily="18" charset="0"/>
            </a:endParaRPr>
          </a:p>
          <a:p>
            <a:pPr lvl="2" algn="just">
              <a:buNone/>
            </a:pPr>
            <a:r>
              <a:rPr lang="en-US" sz="1800" dirty="0">
                <a:latin typeface="Times New Roman" pitchFamily="18" charset="0"/>
                <a:cs typeface="Times New Roman" pitchFamily="18" charset="0"/>
              </a:rPr>
              <a:t>5. p</a:t>
            </a:r>
            <a:r>
              <a:rPr lang="en-US" sz="1800" baseline="-25000" dirty="0">
                <a:latin typeface="Times New Roman" pitchFamily="18" charset="0"/>
                <a:cs typeface="Times New Roman" pitchFamily="18" charset="0"/>
              </a:rPr>
              <a:t>1</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2</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3</a:t>
            </a:r>
            <a:r>
              <a:rPr lang="en-US" sz="1800" dirty="0">
                <a:latin typeface="Times New Roman" pitchFamily="18" charset="0"/>
                <a:cs typeface="Times New Roman" pitchFamily="18" charset="0"/>
              </a:rPr>
              <a:t>)         (p</a:t>
            </a:r>
            <a:r>
              <a:rPr lang="en-US" sz="1800" baseline="-25000" dirty="0">
                <a:latin typeface="Times New Roman" pitchFamily="18" charset="0"/>
                <a:cs typeface="Times New Roman" pitchFamily="18" charset="0"/>
              </a:rPr>
              <a:t>1</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2</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1</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3</a:t>
            </a:r>
            <a:r>
              <a:rPr lang="en-US" sz="1800" dirty="0">
                <a:latin typeface="Times New Roman" pitchFamily="18" charset="0"/>
                <a:cs typeface="Times New Roman" pitchFamily="18" charset="0"/>
              </a:rPr>
              <a:t>)</a:t>
            </a:r>
          </a:p>
          <a:p>
            <a:pPr lvl="2" algn="just">
              <a:buNone/>
            </a:pPr>
            <a:r>
              <a:rPr lang="en-US" sz="1800" dirty="0">
                <a:latin typeface="Times New Roman" pitchFamily="18" charset="0"/>
                <a:cs typeface="Times New Roman" pitchFamily="18" charset="0"/>
              </a:rPr>
              <a:t>6. p</a:t>
            </a:r>
            <a:r>
              <a:rPr lang="en-US" sz="1800" baseline="-25000" dirty="0">
                <a:latin typeface="Times New Roman" pitchFamily="18" charset="0"/>
                <a:cs typeface="Times New Roman" pitchFamily="18" charset="0"/>
              </a:rPr>
              <a:t>1</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2</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3</a:t>
            </a:r>
            <a:r>
              <a:rPr lang="en-US" sz="1800" dirty="0">
                <a:latin typeface="Times New Roman" pitchFamily="18" charset="0"/>
                <a:cs typeface="Times New Roman" pitchFamily="18" charset="0"/>
              </a:rPr>
              <a:t>)         (p</a:t>
            </a:r>
            <a:r>
              <a:rPr lang="en-US" sz="1800" baseline="-25000" dirty="0">
                <a:latin typeface="Times New Roman" pitchFamily="18" charset="0"/>
                <a:cs typeface="Times New Roman" pitchFamily="18" charset="0"/>
              </a:rPr>
              <a:t>1</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2</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1</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3</a:t>
            </a:r>
            <a:r>
              <a:rPr lang="en-US" sz="1800" dirty="0">
                <a:latin typeface="Times New Roman" pitchFamily="18" charset="0"/>
                <a:cs typeface="Times New Roman" pitchFamily="18" charset="0"/>
              </a:rPr>
              <a:t>)</a:t>
            </a:r>
          </a:p>
          <a:p>
            <a:pPr lvl="2" algn="just">
              <a:buNone/>
            </a:pPr>
            <a:r>
              <a:rPr lang="en-US" sz="1800" dirty="0">
                <a:latin typeface="Times New Roman" pitchFamily="18" charset="0"/>
                <a:cs typeface="Times New Roman" pitchFamily="18" charset="0"/>
              </a:rPr>
              <a:t>7. ¬ (p</a:t>
            </a:r>
            <a:r>
              <a:rPr lang="en-US" sz="1800" baseline="-25000" dirty="0">
                <a:latin typeface="Times New Roman" pitchFamily="18" charset="0"/>
                <a:cs typeface="Times New Roman" pitchFamily="18" charset="0"/>
              </a:rPr>
              <a:t>1</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2</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1</a:t>
            </a:r>
            <a:r>
              <a:rPr lang="en-US" sz="1800" dirty="0">
                <a:latin typeface="Times New Roman" pitchFamily="18" charset="0"/>
                <a:cs typeface="Times New Roman" pitchFamily="18" charset="0"/>
              </a:rPr>
              <a:t> ˅ ¬ p</a:t>
            </a:r>
            <a:r>
              <a:rPr lang="en-US" sz="1800" baseline="-25000" dirty="0">
                <a:latin typeface="Times New Roman" pitchFamily="18" charset="0"/>
                <a:cs typeface="Times New Roman" pitchFamily="18" charset="0"/>
              </a:rPr>
              <a:t>2</a:t>
            </a:r>
            <a:endParaRPr lang="en-US" sz="1800" dirty="0">
              <a:latin typeface="Times New Roman" pitchFamily="18" charset="0"/>
              <a:cs typeface="Times New Roman" pitchFamily="18" charset="0"/>
            </a:endParaRPr>
          </a:p>
          <a:p>
            <a:pPr lvl="2" algn="just">
              <a:buNone/>
            </a:pPr>
            <a:r>
              <a:rPr lang="en-US" sz="1800" dirty="0">
                <a:latin typeface="Times New Roman" pitchFamily="18" charset="0"/>
                <a:cs typeface="Times New Roman" pitchFamily="18" charset="0"/>
              </a:rPr>
              <a:t>8. ¬ (p</a:t>
            </a:r>
            <a:r>
              <a:rPr lang="en-US" sz="1800" baseline="-25000" dirty="0">
                <a:latin typeface="Times New Roman" pitchFamily="18" charset="0"/>
                <a:cs typeface="Times New Roman" pitchFamily="18" charset="0"/>
              </a:rPr>
              <a:t>1</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2</a:t>
            </a:r>
            <a:r>
              <a:rPr lang="en-US" sz="1800" dirty="0">
                <a:latin typeface="Times New Roman" pitchFamily="18" charset="0"/>
                <a:cs typeface="Times New Roman" pitchFamily="18" charset="0"/>
              </a:rPr>
              <a:t>)          ¬ p</a:t>
            </a:r>
            <a:r>
              <a:rPr lang="en-US" sz="1800" baseline="-25000" dirty="0">
                <a:latin typeface="Times New Roman" pitchFamily="18" charset="0"/>
                <a:cs typeface="Times New Roman" pitchFamily="18" charset="0"/>
              </a:rPr>
              <a:t>1</a:t>
            </a:r>
            <a:r>
              <a:rPr lang="en-US" sz="1800" dirty="0">
                <a:latin typeface="Times New Roman" pitchFamily="18" charset="0"/>
                <a:cs typeface="Times New Roman" pitchFamily="18" charset="0"/>
              </a:rPr>
              <a:t> ^ ¬ p</a:t>
            </a:r>
            <a:r>
              <a:rPr lang="en-US" sz="1800" baseline="-25000" dirty="0">
                <a:latin typeface="Times New Roman" pitchFamily="18" charset="0"/>
                <a:cs typeface="Times New Roman" pitchFamily="18" charset="0"/>
              </a:rPr>
              <a:t>2</a:t>
            </a:r>
            <a:endParaRPr lang="en-US" sz="1800" dirty="0">
              <a:latin typeface="Times New Roman" pitchFamily="18" charset="0"/>
              <a:cs typeface="Times New Roman" pitchFamily="18" charset="0"/>
            </a:endParaRPr>
          </a:p>
          <a:p>
            <a:pPr lvl="2" algn="just">
              <a:buNone/>
            </a:pPr>
            <a:r>
              <a:rPr lang="en-US" sz="1800" dirty="0">
                <a:latin typeface="Times New Roman" pitchFamily="18" charset="0"/>
                <a:cs typeface="Times New Roman" pitchFamily="18" charset="0"/>
              </a:rPr>
              <a:t>9. ¬ (¬ p)         p</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4"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0180" name="Object 4"/>
          <p:cNvGraphicFramePr>
            <a:graphicFrameLocks noChangeAspect="1"/>
          </p:cNvGraphicFramePr>
          <p:nvPr/>
        </p:nvGraphicFramePr>
        <p:xfrm>
          <a:off x="2901203" y="3567954"/>
          <a:ext cx="635174" cy="380999"/>
        </p:xfrm>
        <a:graphic>
          <a:graphicData uri="http://schemas.openxmlformats.org/presentationml/2006/ole">
            <mc:AlternateContent xmlns:mc="http://schemas.openxmlformats.org/markup-compatibility/2006">
              <mc:Choice xmlns:v="urn:schemas-microsoft-com:vml" Requires="v">
                <p:oleObj spid="_x0000_s50235" name="Equation" r:id="rId5" imgW="5181600" imgH="3657600" progId="Equation.3">
                  <p:embed/>
                </p:oleObj>
              </mc:Choice>
              <mc:Fallback>
                <p:oleObj name="Equation" r:id="rId5" imgW="5181600" imgH="3657600" progId="Equation.3">
                  <p:embed/>
                  <p:pic>
                    <p:nvPicPr>
                      <p:cNvPr id="0" name="Picture 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1203" y="3567954"/>
                        <a:ext cx="635174" cy="3809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2" name="Object 6"/>
          <p:cNvGraphicFramePr>
            <a:graphicFrameLocks noChangeAspect="1"/>
          </p:cNvGraphicFramePr>
          <p:nvPr/>
        </p:nvGraphicFramePr>
        <p:xfrm>
          <a:off x="2909047" y="3899647"/>
          <a:ext cx="635000" cy="381000"/>
        </p:xfrm>
        <a:graphic>
          <a:graphicData uri="http://schemas.openxmlformats.org/presentationml/2006/ole">
            <mc:AlternateContent xmlns:mc="http://schemas.openxmlformats.org/markup-compatibility/2006">
              <mc:Choice xmlns:v="urn:schemas-microsoft-com:vml" Requires="v">
                <p:oleObj spid="_x0000_s50236" name="Equation" r:id="rId7" imgW="5181600" imgH="3657600" progId="Equation.3">
                  <p:embed/>
                </p:oleObj>
              </mc:Choice>
              <mc:Fallback>
                <p:oleObj name="Equation" r:id="rId7" imgW="5181600" imgH="3657600" progId="Equation.3">
                  <p:embed/>
                  <p:pic>
                    <p:nvPicPr>
                      <p:cNvPr id="0" name="Picture 5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9047" y="3899647"/>
                        <a:ext cx="635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3" name="Object 7"/>
          <p:cNvGraphicFramePr>
            <a:graphicFrameLocks noChangeAspect="1"/>
          </p:cNvGraphicFramePr>
          <p:nvPr/>
        </p:nvGraphicFramePr>
        <p:xfrm>
          <a:off x="3442447" y="4199965"/>
          <a:ext cx="635000" cy="381000"/>
        </p:xfrm>
        <a:graphic>
          <a:graphicData uri="http://schemas.openxmlformats.org/presentationml/2006/ole">
            <mc:AlternateContent xmlns:mc="http://schemas.openxmlformats.org/markup-compatibility/2006">
              <mc:Choice xmlns:v="urn:schemas-microsoft-com:vml" Requires="v">
                <p:oleObj spid="_x0000_s50237" name="Equation" r:id="rId8" imgW="5181600" imgH="3657600" progId="Equation.3">
                  <p:embed/>
                </p:oleObj>
              </mc:Choice>
              <mc:Fallback>
                <p:oleObj name="Equation" r:id="rId8" imgW="5181600" imgH="3657600" progId="Equation.3">
                  <p:embed/>
                  <p:pic>
                    <p:nvPicPr>
                      <p:cNvPr id="0" name="Picture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42447" y="4199965"/>
                        <a:ext cx="635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4" name="Object 8"/>
          <p:cNvGraphicFramePr>
            <a:graphicFrameLocks noChangeAspect="1"/>
          </p:cNvGraphicFramePr>
          <p:nvPr/>
        </p:nvGraphicFramePr>
        <p:xfrm>
          <a:off x="3464859" y="4531659"/>
          <a:ext cx="635000" cy="381000"/>
        </p:xfrm>
        <a:graphic>
          <a:graphicData uri="http://schemas.openxmlformats.org/presentationml/2006/ole">
            <mc:AlternateContent xmlns:mc="http://schemas.openxmlformats.org/markup-compatibility/2006">
              <mc:Choice xmlns:v="urn:schemas-microsoft-com:vml" Requires="v">
                <p:oleObj spid="_x0000_s50238" name="Equation" r:id="rId9" imgW="5181600" imgH="3657600" progId="Equation.3">
                  <p:embed/>
                </p:oleObj>
              </mc:Choice>
              <mc:Fallback>
                <p:oleObj name="Equation" r:id="rId9" imgW="5181600" imgH="3657600" progId="Equation.3">
                  <p:embed/>
                  <p:pic>
                    <p:nvPicPr>
                      <p:cNvPr id="0" name="Picture 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64859" y="4531659"/>
                        <a:ext cx="635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5" name="Object 9"/>
          <p:cNvGraphicFramePr>
            <a:graphicFrameLocks noChangeAspect="1"/>
          </p:cNvGraphicFramePr>
          <p:nvPr/>
        </p:nvGraphicFramePr>
        <p:xfrm>
          <a:off x="3478306" y="4881282"/>
          <a:ext cx="635000" cy="381000"/>
        </p:xfrm>
        <a:graphic>
          <a:graphicData uri="http://schemas.openxmlformats.org/presentationml/2006/ole">
            <mc:AlternateContent xmlns:mc="http://schemas.openxmlformats.org/markup-compatibility/2006">
              <mc:Choice xmlns:v="urn:schemas-microsoft-com:vml" Requires="v">
                <p:oleObj spid="_x0000_s50239" name="Equation" r:id="rId10" imgW="5181600" imgH="3657600" progId="Equation.3">
                  <p:embed/>
                </p:oleObj>
              </mc:Choice>
              <mc:Fallback>
                <p:oleObj name="Equation" r:id="rId10" imgW="5181600" imgH="3657600" progId="Equation.3">
                  <p:embed/>
                  <p:pic>
                    <p:nvPicPr>
                      <p:cNvPr id="0" name="Picture 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78306" y="4881282"/>
                        <a:ext cx="635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6" name="Object 10"/>
          <p:cNvGraphicFramePr>
            <a:graphicFrameLocks noChangeAspect="1"/>
          </p:cNvGraphicFramePr>
          <p:nvPr/>
        </p:nvGraphicFramePr>
        <p:xfrm>
          <a:off x="3479800" y="5199529"/>
          <a:ext cx="635000" cy="381000"/>
        </p:xfrm>
        <a:graphic>
          <a:graphicData uri="http://schemas.openxmlformats.org/presentationml/2006/ole">
            <mc:AlternateContent xmlns:mc="http://schemas.openxmlformats.org/markup-compatibility/2006">
              <mc:Choice xmlns:v="urn:schemas-microsoft-com:vml" Requires="v">
                <p:oleObj spid="_x0000_s50240" name="Equation" r:id="rId11" imgW="5181600" imgH="3657600" progId="Equation.3">
                  <p:embed/>
                </p:oleObj>
              </mc:Choice>
              <mc:Fallback>
                <p:oleObj name="Equation" r:id="rId11" imgW="5181600" imgH="3657600" progId="Equation.3">
                  <p:embed/>
                  <p:pic>
                    <p:nvPicPr>
                      <p:cNvPr id="0" name="Picture 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79800" y="5199529"/>
                        <a:ext cx="635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7" name="Object 11"/>
          <p:cNvGraphicFramePr>
            <a:graphicFrameLocks noChangeAspect="1"/>
          </p:cNvGraphicFramePr>
          <p:nvPr/>
        </p:nvGraphicFramePr>
        <p:xfrm>
          <a:off x="3267635" y="5513294"/>
          <a:ext cx="635000" cy="381000"/>
        </p:xfrm>
        <a:graphic>
          <a:graphicData uri="http://schemas.openxmlformats.org/presentationml/2006/ole">
            <mc:AlternateContent xmlns:mc="http://schemas.openxmlformats.org/markup-compatibility/2006">
              <mc:Choice xmlns:v="urn:schemas-microsoft-com:vml" Requires="v">
                <p:oleObj spid="_x0000_s50241" name="Equation" r:id="rId12" imgW="5181600" imgH="3657600" progId="Equation.3">
                  <p:embed/>
                </p:oleObj>
              </mc:Choice>
              <mc:Fallback>
                <p:oleObj name="Equation" r:id="rId12" imgW="5181600" imgH="3657600" progId="Equation.3">
                  <p:embed/>
                  <p:pic>
                    <p:nvPicPr>
                      <p:cNvPr id="0" name="Picture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7635" y="5513294"/>
                        <a:ext cx="635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8" name="Object 12"/>
          <p:cNvGraphicFramePr>
            <a:graphicFrameLocks noChangeAspect="1"/>
          </p:cNvGraphicFramePr>
          <p:nvPr/>
        </p:nvGraphicFramePr>
        <p:xfrm>
          <a:off x="3276600" y="5858435"/>
          <a:ext cx="635000" cy="381000"/>
        </p:xfrm>
        <a:graphic>
          <a:graphicData uri="http://schemas.openxmlformats.org/presentationml/2006/ole">
            <mc:AlternateContent xmlns:mc="http://schemas.openxmlformats.org/markup-compatibility/2006">
              <mc:Choice xmlns:v="urn:schemas-microsoft-com:vml" Requires="v">
                <p:oleObj spid="_x0000_s50242" name="Equation" r:id="rId13" imgW="5181600" imgH="3657600" progId="Equation.3">
                  <p:embed/>
                </p:oleObj>
              </mc:Choice>
              <mc:Fallback>
                <p:oleObj name="Equation" r:id="rId13" imgW="5181600" imgH="3657600" progId="Equation.3">
                  <p:embed/>
                  <p:pic>
                    <p:nvPicPr>
                      <p:cNvPr id="0" name="Picture 5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5858435"/>
                        <a:ext cx="635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9" name="Object 13"/>
          <p:cNvGraphicFramePr>
            <a:graphicFrameLocks noChangeAspect="1"/>
          </p:cNvGraphicFramePr>
          <p:nvPr/>
        </p:nvGraphicFramePr>
        <p:xfrm>
          <a:off x="2922494" y="6172200"/>
          <a:ext cx="635000" cy="381000"/>
        </p:xfrm>
        <a:graphic>
          <a:graphicData uri="http://schemas.openxmlformats.org/presentationml/2006/ole">
            <mc:AlternateContent xmlns:mc="http://schemas.openxmlformats.org/markup-compatibility/2006">
              <mc:Choice xmlns:v="urn:schemas-microsoft-com:vml" Requires="v">
                <p:oleObj spid="_x0000_s50243" name="Equation" r:id="rId14" imgW="5181600" imgH="3657600" progId="Equation.3">
                  <p:embed/>
                </p:oleObj>
              </mc:Choice>
              <mc:Fallback>
                <p:oleObj name="Equation" r:id="rId14" imgW="5181600" imgH="3657600" progId="Equation.3">
                  <p:embed/>
                  <p:pic>
                    <p:nvPicPr>
                      <p:cNvPr id="0" name="Picture 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2494" y="6172200"/>
                        <a:ext cx="635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Example:</a:t>
            </a:r>
            <a:r>
              <a:rPr lang="en-US" sz="2000" dirty="0">
                <a:latin typeface="Times New Roman" pitchFamily="18" charset="0"/>
                <a:cs typeface="Times New Roman" pitchFamily="18" charset="0"/>
              </a:rPr>
              <a:t> Let us consider the following query on the engineering database that we have been referring to:</a:t>
            </a:r>
          </a:p>
          <a:p>
            <a:pPr algn="just">
              <a:buNone/>
            </a:pPr>
            <a:endParaRPr lang="en-US" sz="1200" dirty="0">
              <a:latin typeface="Times New Roman" pitchFamily="18" charset="0"/>
              <a:cs typeface="Times New Roman" pitchFamily="18" charset="0"/>
            </a:endParaRPr>
          </a:p>
          <a:p>
            <a:pPr lvl="1" algn="just">
              <a:buNone/>
            </a:pPr>
            <a:r>
              <a:rPr lang="en-US" sz="2000" dirty="0">
                <a:latin typeface="Times New Roman" pitchFamily="18" charset="0"/>
                <a:cs typeface="Times New Roman" pitchFamily="18" charset="0"/>
              </a:rPr>
              <a:t>	“Find the names of employees who have been working on project P1 for 12 or 24 months”</a:t>
            </a:r>
          </a:p>
          <a:p>
            <a:pPr lvl="1" algn="just">
              <a:buNone/>
            </a:pPr>
            <a:endParaRPr lang="en-US" sz="1200" dirty="0">
              <a:latin typeface="Times New Roman" pitchFamily="18" charset="0"/>
              <a:cs typeface="Times New Roman" pitchFamily="18" charset="0"/>
            </a:endParaRPr>
          </a:p>
          <a:p>
            <a:pPr lvl="1" algn="just">
              <a:buNone/>
            </a:pPr>
            <a:r>
              <a:rPr lang="en-US" sz="2000" b="1" dirty="0">
                <a:latin typeface="Times New Roman" pitchFamily="18" charset="0"/>
                <a:cs typeface="Times New Roman" pitchFamily="18" charset="0"/>
              </a:rPr>
              <a:t>Engineering Database:</a:t>
            </a:r>
            <a:endParaRPr lang="en-US" sz="2000" dirty="0">
              <a:latin typeface="Times New Roman" pitchFamily="18" charset="0"/>
              <a:cs typeface="Times New Roman" pitchFamily="18" charset="0"/>
            </a:endParaRPr>
          </a:p>
          <a:p>
            <a:pPr lvl="2" algn="just">
              <a:buNone/>
            </a:pPr>
            <a:r>
              <a:rPr lang="en-US" sz="2000" dirty="0">
                <a:latin typeface="Times New Roman" pitchFamily="18" charset="0"/>
                <a:cs typeface="Times New Roman" pitchFamily="18" charset="0"/>
              </a:rPr>
              <a:t>EMP(</a:t>
            </a:r>
            <a:r>
              <a:rPr lang="en-US" sz="2000" u="sng" dirty="0">
                <a:latin typeface="Times New Roman" pitchFamily="18" charset="0"/>
                <a:cs typeface="Times New Roman" pitchFamily="18" charset="0"/>
              </a:rPr>
              <a:t>ENO</a:t>
            </a:r>
            <a:r>
              <a:rPr lang="en-US" sz="2000" dirty="0">
                <a:latin typeface="Times New Roman" pitchFamily="18" charset="0"/>
                <a:cs typeface="Times New Roman" pitchFamily="18" charset="0"/>
              </a:rPr>
              <a:t>, ENAME, TITLE)</a:t>
            </a:r>
          </a:p>
          <a:p>
            <a:pPr lvl="2" algn="just">
              <a:buNone/>
            </a:pPr>
            <a:r>
              <a:rPr lang="en-US" sz="2000" dirty="0">
                <a:latin typeface="Times New Roman" pitchFamily="18" charset="0"/>
                <a:cs typeface="Times New Roman" pitchFamily="18" charset="0"/>
              </a:rPr>
              <a:t>PROJ(</a:t>
            </a:r>
            <a:r>
              <a:rPr lang="en-US" sz="2000" u="sng" dirty="0">
                <a:latin typeface="Times New Roman" pitchFamily="18" charset="0"/>
                <a:cs typeface="Times New Roman" pitchFamily="18" charset="0"/>
              </a:rPr>
              <a:t>PNO</a:t>
            </a:r>
            <a:r>
              <a:rPr lang="en-US" sz="2000" dirty="0">
                <a:latin typeface="Times New Roman" pitchFamily="18" charset="0"/>
                <a:cs typeface="Times New Roman" pitchFamily="18" charset="0"/>
              </a:rPr>
              <a:t>, PNAME, BUDGET).</a:t>
            </a:r>
          </a:p>
          <a:p>
            <a:pPr lvl="2" algn="just">
              <a:buNone/>
            </a:pPr>
            <a:r>
              <a:rPr lang="en-US" sz="2000" dirty="0">
                <a:latin typeface="Times New Roman" pitchFamily="18" charset="0"/>
                <a:cs typeface="Times New Roman" pitchFamily="18" charset="0"/>
              </a:rPr>
              <a:t>SAL(</a:t>
            </a:r>
            <a:r>
              <a:rPr lang="en-US" sz="2000" u="sng" dirty="0">
                <a:latin typeface="Times New Roman" pitchFamily="18" charset="0"/>
                <a:cs typeface="Times New Roman" pitchFamily="18" charset="0"/>
              </a:rPr>
              <a:t>TITLE, AMT</a:t>
            </a:r>
            <a:r>
              <a:rPr lang="en-US" sz="2000" dirty="0">
                <a:latin typeface="Times New Roman" pitchFamily="18" charset="0"/>
                <a:cs typeface="Times New Roman" pitchFamily="18" charset="0"/>
              </a:rPr>
              <a:t>) 		</a:t>
            </a:r>
          </a:p>
          <a:p>
            <a:pPr lvl="2" algn="just">
              <a:buNone/>
            </a:pPr>
            <a:r>
              <a:rPr lang="en-US" sz="2000" dirty="0">
                <a:latin typeface="Times New Roman" pitchFamily="18" charset="0"/>
                <a:cs typeface="Times New Roman" pitchFamily="18" charset="0"/>
              </a:rPr>
              <a:t>ASG(</a:t>
            </a:r>
            <a:r>
              <a:rPr lang="en-US" sz="2000" u="sng" dirty="0">
                <a:latin typeface="Times New Roman" pitchFamily="18" charset="0"/>
                <a:cs typeface="Times New Roman" pitchFamily="18" charset="0"/>
              </a:rPr>
              <a:t>ENO, PNO</a:t>
            </a:r>
            <a:r>
              <a:rPr lang="en-US" sz="2000" dirty="0">
                <a:latin typeface="Times New Roman" pitchFamily="18" charset="0"/>
                <a:cs typeface="Times New Roman" pitchFamily="18" charset="0"/>
              </a:rPr>
              <a:t>, RESP, DUR)</a:t>
            </a:r>
          </a:p>
          <a:p>
            <a:pPr lvl="1" algn="just">
              <a:buNone/>
            </a:pPr>
            <a:endParaRPr lang="en-US" sz="1400" dirty="0">
              <a:latin typeface="Times New Roman" pitchFamily="18" charset="0"/>
              <a:cs typeface="Times New Roman" pitchFamily="18" charset="0"/>
            </a:endParaRPr>
          </a:p>
          <a:p>
            <a:pPr lvl="2" algn="just">
              <a:buNone/>
            </a:pPr>
            <a:r>
              <a:rPr lang="en-US" sz="1600" dirty="0">
                <a:latin typeface="Times New Roman" pitchFamily="18" charset="0"/>
                <a:cs typeface="Times New Roman" pitchFamily="18" charset="0"/>
              </a:rPr>
              <a:t>;SAL=Salary,   AMT=Amount</a:t>
            </a:r>
          </a:p>
          <a:p>
            <a:pPr lvl="2" algn="just">
              <a:buNone/>
            </a:pPr>
            <a:r>
              <a:rPr lang="en-US" sz="1600" dirty="0">
                <a:latin typeface="Times New Roman" pitchFamily="18" charset="0"/>
                <a:cs typeface="Times New Roman" pitchFamily="18" charset="0"/>
              </a:rPr>
              <a:t>; Employees assigned to projects</a:t>
            </a:r>
          </a:p>
          <a:p>
            <a:pPr lvl="2" algn="just">
              <a:buNone/>
            </a:pPr>
            <a:r>
              <a:rPr lang="en-US" sz="1600" dirty="0">
                <a:latin typeface="Times New Roman" pitchFamily="18" charset="0"/>
                <a:cs typeface="Times New Roman" pitchFamily="18" charset="0"/>
              </a:rPr>
              <a:t>; RESP=Responsibility, DUR=Duration</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Example:</a:t>
            </a:r>
            <a:r>
              <a:rPr lang="en-US" sz="2000" dirty="0">
                <a:latin typeface="Times New Roman" pitchFamily="18" charset="0"/>
                <a:cs typeface="Times New Roman" pitchFamily="18" charset="0"/>
              </a:rPr>
              <a:t> Let us consider the following query on the engineering database that we have been referring to:</a:t>
            </a:r>
          </a:p>
          <a:p>
            <a:pPr algn="just">
              <a:buFont typeface="Wingdings" pitchFamily="2" charset="2"/>
              <a:buChar char="q"/>
            </a:pPr>
            <a:endParaRPr lang="en-US" sz="1400" dirty="0">
              <a:latin typeface="Times New Roman" pitchFamily="18" charset="0"/>
              <a:cs typeface="Times New Roman" pitchFamily="18" charset="0"/>
            </a:endParaRPr>
          </a:p>
          <a:p>
            <a:pPr lvl="1" algn="just">
              <a:buNone/>
            </a:pPr>
            <a:r>
              <a:rPr lang="en-US" sz="1600" dirty="0">
                <a:latin typeface="Times New Roman" pitchFamily="18" charset="0"/>
                <a:cs typeface="Times New Roman" pitchFamily="18" charset="0"/>
              </a:rPr>
              <a:t>	</a:t>
            </a:r>
            <a:r>
              <a:rPr lang="en-US" sz="2000" dirty="0">
                <a:latin typeface="Times New Roman" pitchFamily="18" charset="0"/>
                <a:cs typeface="Times New Roman" pitchFamily="18" charset="0"/>
              </a:rPr>
              <a:t>“Find the names of employees who have been working on project P1 for 12 or 24 months”</a:t>
            </a:r>
          </a:p>
          <a:p>
            <a:pPr algn="just"/>
            <a:endParaRPr lang="en-US" sz="14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The query expressed in SQL is</a:t>
            </a:r>
          </a:p>
          <a:p>
            <a:pPr algn="just">
              <a:buNone/>
            </a:pPr>
            <a:endParaRPr lang="en-US" sz="1200" dirty="0">
              <a:latin typeface="Times New Roman" pitchFamily="18" charset="0"/>
              <a:cs typeface="Times New Roman" pitchFamily="18" charset="0"/>
            </a:endParaRPr>
          </a:p>
          <a:p>
            <a:pPr lvl="2" algn="just">
              <a:buNone/>
            </a:pPr>
            <a:r>
              <a:rPr lang="en-US" sz="2000" dirty="0">
                <a:latin typeface="Times New Roman" pitchFamily="18" charset="0"/>
                <a:cs typeface="Times New Roman" pitchFamily="18" charset="0"/>
              </a:rPr>
              <a:t>SELECT    ENAME</a:t>
            </a:r>
          </a:p>
          <a:p>
            <a:pPr lvl="2" algn="just">
              <a:buNone/>
            </a:pPr>
            <a:r>
              <a:rPr lang="en-US" sz="2000" dirty="0">
                <a:latin typeface="Times New Roman" pitchFamily="18" charset="0"/>
                <a:cs typeface="Times New Roman" pitchFamily="18" charset="0"/>
              </a:rPr>
              <a:t>FROM       EMP,   ASG</a:t>
            </a:r>
          </a:p>
          <a:p>
            <a:pPr lvl="2" algn="just">
              <a:buNone/>
            </a:pPr>
            <a:r>
              <a:rPr lang="en-US" sz="2000" dirty="0">
                <a:latin typeface="Times New Roman" pitchFamily="18" charset="0"/>
                <a:cs typeface="Times New Roman" pitchFamily="18" charset="0"/>
              </a:rPr>
              <a:t>WHERE    	EMP.ENO = ASG.ENO</a:t>
            </a:r>
          </a:p>
          <a:p>
            <a:pPr lvl="2" algn="just">
              <a:buNone/>
            </a:pPr>
            <a:r>
              <a:rPr lang="en-US" sz="2000" dirty="0">
                <a:latin typeface="Times New Roman" pitchFamily="18" charset="0"/>
                <a:cs typeface="Times New Roman" pitchFamily="18" charset="0"/>
              </a:rPr>
              <a:t>			AND ASG.PNO = "P1"</a:t>
            </a:r>
          </a:p>
          <a:p>
            <a:pPr lvl="2" algn="just">
              <a:buNone/>
            </a:pPr>
            <a:r>
              <a:rPr lang="en-US" sz="2000" dirty="0">
                <a:latin typeface="Times New Roman" pitchFamily="18" charset="0"/>
                <a:cs typeface="Times New Roman" pitchFamily="18" charset="0"/>
              </a:rPr>
              <a:t>			AND DUR = 12 OR DUR = 24</a:t>
            </a:r>
          </a:p>
          <a:p>
            <a:pPr algn="just">
              <a:buNone/>
            </a:pPr>
            <a:r>
              <a:rPr lang="en-US" sz="2000" dirty="0">
                <a:latin typeface="Times New Roman" pitchFamily="18" charset="0"/>
                <a:cs typeface="Times New Roman" pitchFamily="18" charset="0"/>
              </a:rPr>
              <a:t>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Example:</a:t>
            </a:r>
            <a:r>
              <a:rPr lang="en-US" sz="2000" dirty="0">
                <a:latin typeface="Times New Roman" pitchFamily="18" charset="0"/>
                <a:cs typeface="Times New Roman" pitchFamily="18" charset="0"/>
              </a:rPr>
              <a:t> Let us consider the following query on the engineering database that we have been referring to:</a:t>
            </a:r>
          </a:p>
          <a:p>
            <a:pPr algn="just">
              <a:buFont typeface="Wingdings" pitchFamily="2" charset="2"/>
              <a:buChar char="q"/>
            </a:pPr>
            <a:endParaRPr lang="en-US" sz="1200" dirty="0">
              <a:latin typeface="Times New Roman" pitchFamily="18" charset="0"/>
              <a:cs typeface="Times New Roman" pitchFamily="18" charset="0"/>
            </a:endParaRPr>
          </a:p>
          <a:p>
            <a:pPr lvl="1" algn="just">
              <a:buNone/>
            </a:pPr>
            <a:r>
              <a:rPr lang="en-US" sz="2000" dirty="0">
                <a:latin typeface="Times New Roman" pitchFamily="18" charset="0"/>
                <a:cs typeface="Times New Roman" pitchFamily="18" charset="0"/>
              </a:rPr>
              <a:t>	“Find the names of employees who have been working on project P1 for 12 or 24 months”</a:t>
            </a:r>
          </a:p>
          <a:p>
            <a:pPr algn="just"/>
            <a:endParaRPr lang="en-US" sz="1400" dirty="0">
              <a:latin typeface="Times New Roman" pitchFamily="18" charset="0"/>
              <a:cs typeface="Times New Roman" pitchFamily="18" charset="0"/>
            </a:endParaRPr>
          </a:p>
          <a:p>
            <a:pPr lvl="1" algn="just">
              <a:buNone/>
            </a:pPr>
            <a:r>
              <a:rPr lang="en-US" sz="2000" dirty="0">
                <a:latin typeface="Times New Roman" pitchFamily="18" charset="0"/>
                <a:cs typeface="Times New Roman" pitchFamily="18" charset="0"/>
              </a:rPr>
              <a:t>The qualification in </a:t>
            </a:r>
            <a:r>
              <a:rPr lang="en-US" sz="2000" b="1" dirty="0">
                <a:latin typeface="Times New Roman" pitchFamily="18" charset="0"/>
                <a:cs typeface="Times New Roman" pitchFamily="18" charset="0"/>
              </a:rPr>
              <a:t>conjunctive normal form</a:t>
            </a:r>
            <a:r>
              <a:rPr lang="en-US" sz="2000" dirty="0">
                <a:latin typeface="Times New Roman" pitchFamily="18" charset="0"/>
                <a:cs typeface="Times New Roman" pitchFamily="18" charset="0"/>
              </a:rPr>
              <a:t> is</a:t>
            </a:r>
          </a:p>
          <a:p>
            <a:pPr lvl="1" algn="just">
              <a:buNone/>
            </a:pPr>
            <a:r>
              <a:rPr lang="en-US" sz="2000" dirty="0">
                <a:latin typeface="Times New Roman" pitchFamily="18" charset="0"/>
                <a:cs typeface="Times New Roman" pitchFamily="18" charset="0"/>
              </a:rPr>
              <a:t>	EMP.ENO = ASG.ENO ^ ASG.PNO = “P1” ^ (DUR = 12 ˅ DUR = 24)</a:t>
            </a:r>
          </a:p>
          <a:p>
            <a:pPr lvl="1" algn="just">
              <a:buNone/>
            </a:pPr>
            <a:endParaRPr lang="en-US" sz="1400" dirty="0">
              <a:latin typeface="Times New Roman" pitchFamily="18" charset="0"/>
              <a:cs typeface="Times New Roman" pitchFamily="18" charset="0"/>
            </a:endParaRPr>
          </a:p>
          <a:p>
            <a:pPr lvl="1" algn="just">
              <a:buNone/>
            </a:pPr>
            <a:r>
              <a:rPr lang="en-US" sz="2000" dirty="0">
                <a:latin typeface="Times New Roman" pitchFamily="18" charset="0"/>
                <a:cs typeface="Times New Roman" pitchFamily="18" charset="0"/>
              </a:rPr>
              <a:t>The qualification in </a:t>
            </a:r>
            <a:r>
              <a:rPr lang="en-US" sz="2000" b="1" dirty="0">
                <a:latin typeface="Times New Roman" pitchFamily="18" charset="0"/>
                <a:cs typeface="Times New Roman" pitchFamily="18" charset="0"/>
              </a:rPr>
              <a:t>disjunctive normal form</a:t>
            </a:r>
            <a:r>
              <a:rPr lang="en-US" sz="2000" dirty="0">
                <a:latin typeface="Times New Roman" pitchFamily="18" charset="0"/>
                <a:cs typeface="Times New Roman" pitchFamily="18" charset="0"/>
              </a:rPr>
              <a:t> is</a:t>
            </a:r>
          </a:p>
          <a:p>
            <a:pPr lvl="1" algn="just">
              <a:buNone/>
            </a:pPr>
            <a:r>
              <a:rPr lang="en-US" sz="2000" dirty="0">
                <a:latin typeface="Times New Roman" pitchFamily="18" charset="0"/>
                <a:cs typeface="Times New Roman" pitchFamily="18" charset="0"/>
              </a:rPr>
              <a:t>(EMP.ENO = ASG.ENO ^ ASG.PNO = “P1” ^ DUR = 12)  ˅</a:t>
            </a:r>
          </a:p>
          <a:p>
            <a:pPr lvl="1" algn="just">
              <a:buNone/>
            </a:pPr>
            <a:r>
              <a:rPr lang="en-US" sz="2000" dirty="0">
                <a:latin typeface="Times New Roman" pitchFamily="18" charset="0"/>
                <a:cs typeface="Times New Roman" pitchFamily="18" charset="0"/>
              </a:rPr>
              <a:t>(EMP.ENO = ASG.ENO ^ ASG.PNO = “P1” ^ DUR = 24)</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Analysis</a:t>
            </a:r>
            <a:endParaRPr lang="en-US" sz="2400" dirty="0">
              <a:latin typeface="Times New Roman" pitchFamily="18" charset="0"/>
              <a:cs typeface="Times New Roman" pitchFamily="18" charset="0"/>
            </a:endParaRPr>
          </a:p>
          <a:p>
            <a:pPr lvl="0" algn="just"/>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Query analysis enables rejection of normalized queries for which further processing is either impossible or unnecessary. </a:t>
            </a:r>
          </a:p>
          <a:p>
            <a:pPr lvl="1" algn="just">
              <a:buFont typeface="Wingdings" pitchFamily="2" charset="2"/>
              <a:buChar char="Ø"/>
            </a:pPr>
            <a:r>
              <a:rPr lang="en-US" sz="2000" dirty="0">
                <a:latin typeface="Times New Roman" pitchFamily="18" charset="0"/>
                <a:cs typeface="Times New Roman" pitchFamily="18" charset="0"/>
              </a:rPr>
              <a:t>The main reasons for rejection are that the query is </a:t>
            </a:r>
            <a:r>
              <a:rPr lang="en-US" sz="2000" b="1" dirty="0">
                <a:latin typeface="Times New Roman" pitchFamily="18" charset="0"/>
                <a:cs typeface="Times New Roman" pitchFamily="18" charset="0"/>
              </a:rPr>
              <a:t>type incorrect</a:t>
            </a:r>
            <a:r>
              <a:rPr lang="en-US" sz="2000" dirty="0">
                <a:latin typeface="Times New Roman" pitchFamily="18" charset="0"/>
                <a:cs typeface="Times New Roman" pitchFamily="18" charset="0"/>
              </a:rPr>
              <a:t> or </a:t>
            </a:r>
            <a:r>
              <a:rPr lang="en-US" sz="2000" b="1" dirty="0">
                <a:latin typeface="Times New Roman" pitchFamily="18" charset="0"/>
                <a:cs typeface="Times New Roman" pitchFamily="18" charset="0"/>
              </a:rPr>
              <a:t>semantically incorrect</a:t>
            </a:r>
            <a:r>
              <a:rPr lang="en-US" sz="2000" dirty="0">
                <a:latin typeface="Times New Roman" pitchFamily="18" charset="0"/>
                <a:cs typeface="Times New Roman" pitchFamily="18" charset="0"/>
              </a:rPr>
              <a:t>. </a:t>
            </a:r>
          </a:p>
          <a:p>
            <a:pPr lvl="1" algn="just">
              <a:buFont typeface="Wingdings" pitchFamily="2" charset="2"/>
              <a:buChar char="Ø"/>
            </a:pPr>
            <a:r>
              <a:rPr lang="en-US" sz="2000" dirty="0">
                <a:latin typeface="Times New Roman" pitchFamily="18" charset="0"/>
                <a:cs typeface="Times New Roman" pitchFamily="18" charset="0"/>
              </a:rPr>
              <a:t>A query is type incorrect if any of its attribute or relation names are not defined in the global schema, or if operations are being applied to attributes of the wrong type. </a:t>
            </a:r>
          </a:p>
          <a:p>
            <a:pPr lvl="1" algn="just">
              <a:buFont typeface="Wingdings" pitchFamily="2" charset="2"/>
              <a:buChar char="Ø"/>
            </a:pPr>
            <a:r>
              <a:rPr lang="en-US" sz="2000" dirty="0">
                <a:latin typeface="Times New Roman" pitchFamily="18" charset="0"/>
                <a:cs typeface="Times New Roman" pitchFamily="18" charset="0"/>
              </a:rPr>
              <a:t>The technique used to detect type incorrect queries is similar to type checking for programming languages.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Analysis</a:t>
            </a:r>
            <a:endParaRPr lang="en-US" sz="2400" dirty="0">
              <a:latin typeface="Times New Roman" pitchFamily="18" charset="0"/>
              <a:cs typeface="Times New Roman" pitchFamily="18" charset="0"/>
            </a:endParaRPr>
          </a:p>
          <a:p>
            <a:pPr algn="just">
              <a:buNone/>
            </a:pPr>
            <a:r>
              <a:rPr lang="en-US" sz="2000" b="1" dirty="0">
                <a:latin typeface="Times New Roman" pitchFamily="18" charset="0"/>
                <a:cs typeface="Times New Roman" pitchFamily="18" charset="0"/>
              </a:rPr>
              <a:t>	Example</a:t>
            </a:r>
            <a:r>
              <a:rPr lang="en-US" sz="2000" dirty="0">
                <a:latin typeface="Times New Roman" pitchFamily="18" charset="0"/>
                <a:cs typeface="Times New Roman" pitchFamily="18" charset="0"/>
              </a:rPr>
              <a:t>: The following SQL query on the engineering database is type incorrect for two reasons. First, </a:t>
            </a:r>
            <a:r>
              <a:rPr lang="en-US" sz="2000" b="1" dirty="0">
                <a:latin typeface="Times New Roman" pitchFamily="18" charset="0"/>
                <a:cs typeface="Times New Roman" pitchFamily="18" charset="0"/>
              </a:rPr>
              <a:t>attribute E# is not declared</a:t>
            </a:r>
            <a:r>
              <a:rPr lang="en-US" sz="2000" dirty="0">
                <a:latin typeface="Times New Roman" pitchFamily="18" charset="0"/>
                <a:cs typeface="Times New Roman" pitchFamily="18" charset="0"/>
              </a:rPr>
              <a:t> in the schema. Second, the operation </a:t>
            </a:r>
            <a:r>
              <a:rPr lang="en-US" sz="2000" b="1" dirty="0">
                <a:latin typeface="Times New Roman" pitchFamily="18" charset="0"/>
                <a:cs typeface="Times New Roman" pitchFamily="18" charset="0"/>
              </a:rPr>
              <a:t>“&gt;200” is incompatible with the type string of ENAME</a:t>
            </a:r>
            <a:r>
              <a:rPr lang="en-US" sz="2000" dirty="0">
                <a:latin typeface="Times New Roman" pitchFamily="18" charset="0"/>
                <a:cs typeface="Times New Roman" pitchFamily="18" charset="0"/>
              </a:rPr>
              <a:t>.</a:t>
            </a:r>
          </a:p>
          <a:p>
            <a:pPr algn="just">
              <a:buNone/>
            </a:pPr>
            <a:r>
              <a:rPr lang="en-US" sz="2000" dirty="0">
                <a:latin typeface="Times New Roman" pitchFamily="18" charset="0"/>
                <a:cs typeface="Times New Roman" pitchFamily="18" charset="0"/>
              </a:rPr>
              <a:t> </a:t>
            </a:r>
          </a:p>
          <a:p>
            <a:pPr lvl="2" algn="just">
              <a:buNone/>
            </a:pPr>
            <a:r>
              <a:rPr lang="en-US" sz="2000" dirty="0">
                <a:latin typeface="Times New Roman" pitchFamily="18" charset="0"/>
                <a:cs typeface="Times New Roman" pitchFamily="18" charset="0"/>
              </a:rPr>
              <a:t> SELECT E#</a:t>
            </a:r>
          </a:p>
          <a:p>
            <a:pPr lvl="2" algn="just">
              <a:buNone/>
            </a:pPr>
            <a:r>
              <a:rPr lang="en-US" sz="2000" dirty="0">
                <a:latin typeface="Times New Roman" pitchFamily="18" charset="0"/>
                <a:cs typeface="Times New Roman" pitchFamily="18" charset="0"/>
              </a:rPr>
              <a:t>FROM EMP</a:t>
            </a:r>
          </a:p>
          <a:p>
            <a:pPr lvl="2" algn="just">
              <a:buNone/>
            </a:pPr>
            <a:r>
              <a:rPr lang="en-US" sz="2000" dirty="0">
                <a:latin typeface="Times New Roman" pitchFamily="18" charset="0"/>
                <a:cs typeface="Times New Roman" pitchFamily="18" charset="0"/>
              </a:rPr>
              <a:t>WHERE ENAME &gt; 200</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Analysis</a:t>
            </a:r>
            <a:endParaRPr lang="en-US" sz="2400" dirty="0">
              <a:latin typeface="Times New Roman" pitchFamily="18" charset="0"/>
              <a:cs typeface="Times New Roman" pitchFamily="18" charset="0"/>
            </a:endParaRPr>
          </a:p>
          <a:p>
            <a:pPr algn="just">
              <a:buNone/>
            </a:pPr>
            <a:r>
              <a:rPr lang="en-US" sz="2000" b="1" dirty="0">
                <a:latin typeface="Times New Roman" pitchFamily="18" charset="0"/>
                <a:cs typeface="Times New Roman" pitchFamily="18" charset="0"/>
              </a:rPr>
              <a:t>	</a:t>
            </a:r>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A query is semantically incorrect if </a:t>
            </a:r>
            <a:r>
              <a:rPr lang="en-US" sz="2000" b="1" dirty="0">
                <a:latin typeface="Times New Roman" pitchFamily="18" charset="0"/>
                <a:cs typeface="Times New Roman" pitchFamily="18" charset="0"/>
              </a:rPr>
              <a:t>its components do not contribute in any way to the generation of the result.</a:t>
            </a:r>
            <a:r>
              <a:rPr lang="en-US" sz="2000" dirty="0">
                <a:latin typeface="Times New Roman" pitchFamily="18" charset="0"/>
                <a:cs typeface="Times New Roman" pitchFamily="18" charset="0"/>
              </a:rPr>
              <a:t> </a:t>
            </a:r>
          </a:p>
          <a:p>
            <a:pPr lvl="1" algn="just">
              <a:buFont typeface="Wingdings" pitchFamily="2" charset="2"/>
              <a:buChar char="Ø"/>
            </a:pPr>
            <a:r>
              <a:rPr lang="en-US" sz="2000" dirty="0">
                <a:latin typeface="Times New Roman" pitchFamily="18" charset="0"/>
                <a:cs typeface="Times New Roman" pitchFamily="18" charset="0"/>
              </a:rPr>
              <a:t>This is based on the representation of the query as a graph, called a </a:t>
            </a:r>
            <a:r>
              <a:rPr lang="en-US" sz="2000" b="1" dirty="0">
                <a:latin typeface="Times New Roman" pitchFamily="18" charset="0"/>
                <a:cs typeface="Times New Roman" pitchFamily="18" charset="0"/>
              </a:rPr>
              <a:t>query graph</a:t>
            </a:r>
            <a:r>
              <a:rPr lang="en-US" sz="2000" dirty="0">
                <a:latin typeface="Times New Roman" pitchFamily="18" charset="0"/>
                <a:cs typeface="Times New Roman" pitchFamily="18" charset="0"/>
              </a:rPr>
              <a:t> or </a:t>
            </a:r>
            <a:r>
              <a:rPr lang="en-US" sz="2000" b="1" dirty="0">
                <a:latin typeface="Times New Roman" pitchFamily="18" charset="0"/>
                <a:cs typeface="Times New Roman" pitchFamily="18" charset="0"/>
              </a:rPr>
              <a:t>connection graph</a:t>
            </a:r>
            <a:r>
              <a:rPr lang="en-US" sz="2000" dirty="0">
                <a:latin typeface="Times New Roman" pitchFamily="18" charset="0"/>
                <a:cs typeface="Times New Roman" pitchFamily="18" charset="0"/>
              </a:rPr>
              <a:t>. </a:t>
            </a:r>
          </a:p>
          <a:p>
            <a:pPr lvl="1" algn="just">
              <a:buFont typeface="Wingdings" pitchFamily="2" charset="2"/>
              <a:buChar char="Ø"/>
            </a:pPr>
            <a:r>
              <a:rPr lang="en-US" sz="2000" dirty="0">
                <a:latin typeface="Times New Roman" pitchFamily="18" charset="0"/>
                <a:cs typeface="Times New Roman" pitchFamily="18" charset="0"/>
              </a:rPr>
              <a:t>In a query graph, one node indicates the result relation, and any other node indicates an operand relation. An edge between two nodes one of which does not correspond to the result represents a join, whereas an edge whose destination node is the result represents a project. </a:t>
            </a:r>
          </a:p>
          <a:p>
            <a:pPr lvl="1" algn="just">
              <a:buFont typeface="Wingdings" pitchFamily="2" charset="2"/>
              <a:buChar char="Ø"/>
            </a:pPr>
            <a:r>
              <a:rPr lang="en-US" sz="2000" dirty="0">
                <a:latin typeface="Times New Roman" pitchFamily="18" charset="0"/>
                <a:cs typeface="Times New Roman" pitchFamily="18" charset="0"/>
              </a:rPr>
              <a:t>An important </a:t>
            </a:r>
            <a:r>
              <a:rPr lang="en-US" sz="2000" dirty="0" err="1">
                <a:latin typeface="Times New Roman" pitchFamily="18" charset="0"/>
                <a:cs typeface="Times New Roman" pitchFamily="18" charset="0"/>
              </a:rPr>
              <a:t>subgraph</a:t>
            </a:r>
            <a:r>
              <a:rPr lang="en-US" sz="2000" dirty="0">
                <a:latin typeface="Times New Roman" pitchFamily="18" charset="0"/>
                <a:cs typeface="Times New Roman" pitchFamily="18" charset="0"/>
              </a:rPr>
              <a:t> of the query graph is the join graph, in which only the joins are considered.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Analysis</a:t>
            </a:r>
            <a:endParaRPr lang="en-US" sz="2400" dirty="0">
              <a:latin typeface="Times New Roman" pitchFamily="18" charset="0"/>
              <a:cs typeface="Times New Roman" pitchFamily="18" charset="0"/>
            </a:endParaRPr>
          </a:p>
          <a:p>
            <a:pPr algn="just">
              <a:buNone/>
            </a:pPr>
            <a:r>
              <a:rPr lang="en-US" sz="2000" b="1" dirty="0">
                <a:latin typeface="Times New Roman" pitchFamily="18" charset="0"/>
                <a:cs typeface="Times New Roman" pitchFamily="18" charset="0"/>
              </a:rPr>
              <a:t>	Example:</a:t>
            </a:r>
            <a:r>
              <a:rPr lang="en-US" sz="2000" dirty="0">
                <a:latin typeface="Times New Roman" pitchFamily="18" charset="0"/>
                <a:cs typeface="Times New Roman" pitchFamily="18" charset="0"/>
              </a:rPr>
              <a:t> Let us consider the following query: </a:t>
            </a:r>
          </a:p>
          <a:p>
            <a:pPr algn="just">
              <a:buNone/>
            </a:pPr>
            <a:r>
              <a:rPr lang="en-US" sz="2000" dirty="0">
                <a:latin typeface="Times New Roman" pitchFamily="18" charset="0"/>
                <a:cs typeface="Times New Roman" pitchFamily="18" charset="0"/>
              </a:rPr>
              <a:t>	“Find the names and responsibilities of programmers who have been working on the CAD/CAM project for more than 3 years.”</a:t>
            </a:r>
          </a:p>
          <a:p>
            <a:pPr algn="just">
              <a:buNone/>
            </a:pPr>
            <a:r>
              <a:rPr lang="en-US" sz="2000" dirty="0">
                <a:latin typeface="Times New Roman" pitchFamily="18" charset="0"/>
                <a:cs typeface="Times New Roman" pitchFamily="18" charset="0"/>
              </a:rPr>
              <a:t> </a:t>
            </a:r>
          </a:p>
          <a:p>
            <a:pPr lvl="1" algn="just">
              <a:buNone/>
            </a:pPr>
            <a:r>
              <a:rPr lang="en-US" sz="2000" dirty="0">
                <a:latin typeface="Times New Roman" pitchFamily="18" charset="0"/>
                <a:cs typeface="Times New Roman" pitchFamily="18" charset="0"/>
              </a:rPr>
              <a:t>The query expressed in SQL is</a:t>
            </a:r>
          </a:p>
          <a:p>
            <a:pPr lvl="2" algn="just">
              <a:buNone/>
            </a:pPr>
            <a:r>
              <a:rPr lang="en-US" sz="1800" dirty="0">
                <a:latin typeface="Times New Roman" pitchFamily="18" charset="0"/>
                <a:cs typeface="Times New Roman" pitchFamily="18" charset="0"/>
              </a:rPr>
              <a:t>SELECT 	       ENAME,   RESP</a:t>
            </a:r>
          </a:p>
          <a:p>
            <a:pPr lvl="2" algn="just">
              <a:buNone/>
            </a:pPr>
            <a:r>
              <a:rPr lang="en-US" sz="1800" dirty="0">
                <a:latin typeface="Times New Roman" pitchFamily="18" charset="0"/>
                <a:cs typeface="Times New Roman" pitchFamily="18" charset="0"/>
              </a:rPr>
              <a:t>FROM            EMP,   ASG,  PROJ</a:t>
            </a:r>
          </a:p>
          <a:p>
            <a:pPr lvl="2" algn="just">
              <a:buNone/>
            </a:pPr>
            <a:r>
              <a:rPr lang="en-US" sz="1800" dirty="0">
                <a:latin typeface="Times New Roman" pitchFamily="18" charset="0"/>
                <a:cs typeface="Times New Roman" pitchFamily="18" charset="0"/>
              </a:rPr>
              <a:t>WHERE         EMP.ENO = ASG.ENO</a:t>
            </a:r>
          </a:p>
          <a:p>
            <a:pPr lvl="2" algn="just">
              <a:buNone/>
            </a:pPr>
            <a:r>
              <a:rPr lang="en-US" sz="1800" dirty="0">
                <a:latin typeface="Times New Roman" pitchFamily="18" charset="0"/>
                <a:cs typeface="Times New Roman" pitchFamily="18" charset="0"/>
              </a:rPr>
              <a:t>             AND ASG.PNO = PROJ.PNO</a:t>
            </a:r>
          </a:p>
          <a:p>
            <a:pPr lvl="2" algn="just">
              <a:buNone/>
            </a:pPr>
            <a:r>
              <a:rPr lang="en-US" sz="1800" dirty="0">
                <a:latin typeface="Times New Roman" pitchFamily="18" charset="0"/>
                <a:cs typeface="Times New Roman" pitchFamily="18" charset="0"/>
              </a:rPr>
              <a:t>             AND PNAME = "CAD/CAM"</a:t>
            </a:r>
          </a:p>
          <a:p>
            <a:pPr lvl="2" algn="just">
              <a:buNone/>
            </a:pPr>
            <a:r>
              <a:rPr lang="en-US" sz="1800" dirty="0">
                <a:latin typeface="Times New Roman" pitchFamily="18" charset="0"/>
                <a:cs typeface="Times New Roman" pitchFamily="18" charset="0"/>
              </a:rPr>
              <a:t>             AND DUR ≥ 36</a:t>
            </a:r>
          </a:p>
          <a:p>
            <a:pPr lvl="2" algn="just">
              <a:buNone/>
            </a:pPr>
            <a:r>
              <a:rPr lang="en-US" sz="1800" dirty="0">
                <a:latin typeface="Times New Roman" pitchFamily="18" charset="0"/>
                <a:cs typeface="Times New Roman" pitchFamily="18" charset="0"/>
              </a:rPr>
              <a:t>             AND TITLE = "Programmer“</a:t>
            </a:r>
          </a:p>
          <a:p>
            <a:pPr lvl="1" algn="just">
              <a:buNone/>
            </a:pP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Analysis</a:t>
            </a:r>
            <a:endParaRPr lang="en-US" sz="24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Query Graph: </a:t>
            </a:r>
          </a:p>
          <a:p>
            <a:pPr algn="just">
              <a:buNone/>
            </a:pPr>
            <a:r>
              <a:rPr lang="en-US" sz="2000" dirty="0">
                <a:latin typeface="Times New Roman" pitchFamily="18" charset="0"/>
                <a:cs typeface="Times New Roman" pitchFamily="18" charset="0"/>
              </a:rPr>
              <a:t>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54274" name="Group 2"/>
          <p:cNvGrpSpPr>
            <a:grpSpLocks/>
          </p:cNvGrpSpPr>
          <p:nvPr/>
        </p:nvGrpSpPr>
        <p:grpSpPr bwMode="auto">
          <a:xfrm>
            <a:off x="1752600" y="2209800"/>
            <a:ext cx="5715305" cy="3732911"/>
            <a:chOff x="3345" y="1576"/>
            <a:chExt cx="6509" cy="3438"/>
          </a:xfrm>
        </p:grpSpPr>
        <p:sp>
          <p:nvSpPr>
            <p:cNvPr id="54275" name="Oval 3"/>
            <p:cNvSpPr>
              <a:spLocks noChangeArrowheads="1"/>
            </p:cNvSpPr>
            <p:nvPr/>
          </p:nvSpPr>
          <p:spPr bwMode="auto">
            <a:xfrm>
              <a:off x="6121" y="2310"/>
              <a:ext cx="899" cy="526"/>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Arial" pitchFamily="34" charset="0"/>
                </a:rPr>
                <a:t>ASG</a:t>
              </a:r>
              <a:endParaRPr kumimoji="0" lang="en-US" sz="1400" b="0" i="0" u="none" strike="noStrike" cap="none" normalizeH="0" baseline="0">
                <a:ln>
                  <a:noFill/>
                </a:ln>
                <a:solidFill>
                  <a:schemeClr val="tx1"/>
                </a:solidFill>
                <a:effectLst/>
                <a:latin typeface="Arial" pitchFamily="34" charset="0"/>
                <a:cs typeface="Arial" pitchFamily="34" charset="0"/>
              </a:endParaRPr>
            </a:p>
          </p:txBody>
        </p:sp>
        <p:sp>
          <p:nvSpPr>
            <p:cNvPr id="54276" name="Oval 4"/>
            <p:cNvSpPr>
              <a:spLocks noChangeArrowheads="1"/>
            </p:cNvSpPr>
            <p:nvPr/>
          </p:nvSpPr>
          <p:spPr bwMode="auto">
            <a:xfrm>
              <a:off x="7546" y="2984"/>
              <a:ext cx="899" cy="526"/>
            </a:xfrm>
            <a:prstGeom prst="ellipse">
              <a:avLst/>
            </a:prstGeom>
            <a:solidFill>
              <a:srgbClr val="FFFFFF">
                <a:alpha val="0"/>
              </a:srgbClr>
            </a:solidFill>
            <a:ln w="9525">
              <a:solidFill>
                <a:srgbClr val="000000"/>
              </a:solidFill>
              <a:round/>
              <a:headEnd/>
              <a:tailEnd/>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Arial" pitchFamily="34" charset="0"/>
                </a:rPr>
                <a:t>PROJ</a:t>
              </a:r>
              <a:endParaRPr kumimoji="0" lang="en-US" sz="1400" b="0" i="0" u="none" strike="noStrike" cap="none" normalizeH="0" baseline="0">
                <a:ln>
                  <a:noFill/>
                </a:ln>
                <a:solidFill>
                  <a:schemeClr val="tx1"/>
                </a:solidFill>
                <a:effectLst/>
                <a:latin typeface="Arial" pitchFamily="34" charset="0"/>
                <a:cs typeface="Arial" pitchFamily="34" charset="0"/>
              </a:endParaRPr>
            </a:p>
          </p:txBody>
        </p:sp>
        <p:sp>
          <p:nvSpPr>
            <p:cNvPr id="54277" name="Oval 5"/>
            <p:cNvSpPr>
              <a:spLocks noChangeArrowheads="1"/>
            </p:cNvSpPr>
            <p:nvPr/>
          </p:nvSpPr>
          <p:spPr bwMode="auto">
            <a:xfrm>
              <a:off x="4726" y="3224"/>
              <a:ext cx="899" cy="526"/>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Arial" pitchFamily="34" charset="0"/>
                </a:rPr>
                <a:t>EMP</a:t>
              </a:r>
              <a:endParaRPr kumimoji="0" lang="en-US" sz="1400" b="0" i="0" u="none" strike="noStrike" cap="none" normalizeH="0" baseline="0">
                <a:ln>
                  <a:noFill/>
                </a:ln>
                <a:solidFill>
                  <a:schemeClr val="tx1"/>
                </a:solidFill>
                <a:effectLst/>
                <a:latin typeface="Arial" pitchFamily="34" charset="0"/>
                <a:cs typeface="Arial" pitchFamily="34" charset="0"/>
              </a:endParaRPr>
            </a:p>
          </p:txBody>
        </p:sp>
        <p:sp>
          <p:nvSpPr>
            <p:cNvPr id="54278" name="Oval 6"/>
            <p:cNvSpPr>
              <a:spLocks noChangeArrowheads="1"/>
            </p:cNvSpPr>
            <p:nvPr/>
          </p:nvSpPr>
          <p:spPr bwMode="auto">
            <a:xfrm>
              <a:off x="5956" y="3929"/>
              <a:ext cx="1289" cy="526"/>
            </a:xfrm>
            <a:prstGeom prst="ellipse">
              <a:avLst/>
            </a:prstGeom>
            <a:solidFill>
              <a:srgbClr val="FFFFFF">
                <a:alpha val="0"/>
              </a:srgbClr>
            </a:solidFill>
            <a:ln w="9525">
              <a:solidFill>
                <a:srgbClr val="000000"/>
              </a:solidFill>
              <a:round/>
              <a:headEnd/>
              <a:tailEnd/>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Arial" pitchFamily="34" charset="0"/>
                </a:rPr>
                <a:t>RESULT</a:t>
              </a:r>
              <a:endParaRPr kumimoji="0" lang="en-US" sz="1400" b="0" i="0" u="none" strike="noStrike" cap="none" normalizeH="0" baseline="0">
                <a:ln>
                  <a:noFill/>
                </a:ln>
                <a:solidFill>
                  <a:schemeClr val="tx1"/>
                </a:solidFill>
                <a:effectLst/>
                <a:latin typeface="Arial" pitchFamily="34" charset="0"/>
                <a:cs typeface="Arial" pitchFamily="34" charset="0"/>
              </a:endParaRPr>
            </a:p>
          </p:txBody>
        </p:sp>
        <p:cxnSp>
          <p:nvCxnSpPr>
            <p:cNvPr id="54279" name="AutoShape 7"/>
            <p:cNvCxnSpPr>
              <a:cxnSpLocks noChangeShapeType="1"/>
              <a:stCxn id="54275" idx="3"/>
              <a:endCxn id="54277" idx="7"/>
            </p:cNvCxnSpPr>
            <p:nvPr/>
          </p:nvCxnSpPr>
          <p:spPr bwMode="auto">
            <a:xfrm flipH="1">
              <a:off x="5493" y="2759"/>
              <a:ext cx="760" cy="542"/>
            </a:xfrm>
            <a:prstGeom prst="straightConnector1">
              <a:avLst/>
            </a:prstGeom>
            <a:noFill/>
            <a:ln w="9525">
              <a:solidFill>
                <a:srgbClr val="000000"/>
              </a:solidFill>
              <a:round/>
              <a:headEnd/>
              <a:tailEnd/>
            </a:ln>
          </p:spPr>
        </p:cxnSp>
        <p:cxnSp>
          <p:nvCxnSpPr>
            <p:cNvPr id="54280" name="AutoShape 8"/>
            <p:cNvCxnSpPr>
              <a:cxnSpLocks noChangeShapeType="1"/>
              <a:stCxn id="54275" idx="5"/>
              <a:endCxn id="54276" idx="1"/>
            </p:cNvCxnSpPr>
            <p:nvPr/>
          </p:nvCxnSpPr>
          <p:spPr bwMode="auto">
            <a:xfrm>
              <a:off x="6888" y="2759"/>
              <a:ext cx="790" cy="302"/>
            </a:xfrm>
            <a:prstGeom prst="straightConnector1">
              <a:avLst/>
            </a:prstGeom>
            <a:noFill/>
            <a:ln w="9525">
              <a:solidFill>
                <a:srgbClr val="000000"/>
              </a:solidFill>
              <a:round/>
              <a:headEnd/>
              <a:tailEnd/>
            </a:ln>
          </p:spPr>
        </p:cxnSp>
        <p:cxnSp>
          <p:nvCxnSpPr>
            <p:cNvPr id="54281" name="AutoShape 9"/>
            <p:cNvCxnSpPr>
              <a:cxnSpLocks noChangeShapeType="1"/>
              <a:stCxn id="54275" idx="4"/>
              <a:endCxn id="54278" idx="0"/>
            </p:cNvCxnSpPr>
            <p:nvPr/>
          </p:nvCxnSpPr>
          <p:spPr bwMode="auto">
            <a:xfrm>
              <a:off x="6571" y="2836"/>
              <a:ext cx="30" cy="1093"/>
            </a:xfrm>
            <a:prstGeom prst="straightConnector1">
              <a:avLst/>
            </a:prstGeom>
            <a:noFill/>
            <a:ln w="9525">
              <a:solidFill>
                <a:srgbClr val="000000"/>
              </a:solidFill>
              <a:round/>
              <a:headEnd/>
              <a:tailEnd/>
            </a:ln>
          </p:spPr>
        </p:cxnSp>
        <p:cxnSp>
          <p:nvCxnSpPr>
            <p:cNvPr id="54282" name="AutoShape 10"/>
            <p:cNvCxnSpPr>
              <a:cxnSpLocks noChangeShapeType="1"/>
              <a:stCxn id="54277" idx="5"/>
              <a:endCxn id="54278" idx="2"/>
            </p:cNvCxnSpPr>
            <p:nvPr/>
          </p:nvCxnSpPr>
          <p:spPr bwMode="auto">
            <a:xfrm>
              <a:off x="5493" y="3673"/>
              <a:ext cx="463" cy="519"/>
            </a:xfrm>
            <a:prstGeom prst="straightConnector1">
              <a:avLst/>
            </a:prstGeom>
            <a:noFill/>
            <a:ln w="9525">
              <a:solidFill>
                <a:srgbClr val="000000"/>
              </a:solidFill>
              <a:round/>
              <a:headEnd/>
              <a:tailEnd/>
            </a:ln>
          </p:spPr>
        </p:cxnSp>
        <p:cxnSp>
          <p:nvCxnSpPr>
            <p:cNvPr id="54283" name="AutoShape 11"/>
            <p:cNvCxnSpPr>
              <a:cxnSpLocks noChangeShapeType="1"/>
              <a:stCxn id="54276" idx="5"/>
              <a:endCxn id="54276" idx="3"/>
            </p:cNvCxnSpPr>
            <p:nvPr/>
          </p:nvCxnSpPr>
          <p:spPr bwMode="auto">
            <a:xfrm rot="5400000">
              <a:off x="7995" y="3116"/>
              <a:ext cx="1" cy="635"/>
            </a:xfrm>
            <a:prstGeom prst="curvedConnector3">
              <a:avLst>
                <a:gd name="adj1" fmla="val 43700000"/>
              </a:avLst>
            </a:prstGeom>
            <a:noFill/>
            <a:ln w="9525">
              <a:solidFill>
                <a:srgbClr val="000000"/>
              </a:solidFill>
              <a:round/>
              <a:headEnd/>
              <a:tailEnd/>
            </a:ln>
          </p:spPr>
        </p:cxnSp>
        <p:cxnSp>
          <p:nvCxnSpPr>
            <p:cNvPr id="54284" name="AutoShape 12"/>
            <p:cNvCxnSpPr>
              <a:cxnSpLocks noChangeShapeType="1"/>
              <a:stCxn id="54277" idx="3"/>
              <a:endCxn id="54277" idx="1"/>
            </p:cNvCxnSpPr>
            <p:nvPr/>
          </p:nvCxnSpPr>
          <p:spPr bwMode="auto">
            <a:xfrm rot="5400000" flipH="1" flipV="1">
              <a:off x="4673" y="3486"/>
              <a:ext cx="372" cy="1"/>
            </a:xfrm>
            <a:prstGeom prst="curvedConnector5">
              <a:avLst>
                <a:gd name="adj1" fmla="val -36829"/>
                <a:gd name="adj2" fmla="val -59900000"/>
                <a:gd name="adj3" fmla="val 120426"/>
              </a:avLst>
            </a:prstGeom>
            <a:noFill/>
            <a:ln w="9525">
              <a:solidFill>
                <a:srgbClr val="000000"/>
              </a:solidFill>
              <a:round/>
              <a:headEnd/>
              <a:tailEnd/>
            </a:ln>
          </p:spPr>
        </p:cxnSp>
        <p:cxnSp>
          <p:nvCxnSpPr>
            <p:cNvPr id="54285" name="AutoShape 13"/>
            <p:cNvCxnSpPr>
              <a:cxnSpLocks noChangeShapeType="1"/>
              <a:stCxn id="54275" idx="1"/>
              <a:endCxn id="54275" idx="7"/>
            </p:cNvCxnSpPr>
            <p:nvPr/>
          </p:nvCxnSpPr>
          <p:spPr bwMode="auto">
            <a:xfrm rot="5400000" flipV="1">
              <a:off x="6570" y="2070"/>
              <a:ext cx="1" cy="635"/>
            </a:xfrm>
            <a:prstGeom prst="curvedConnector3">
              <a:avLst>
                <a:gd name="adj1" fmla="val -43700000"/>
              </a:avLst>
            </a:prstGeom>
            <a:noFill/>
            <a:ln w="9525">
              <a:solidFill>
                <a:srgbClr val="000000"/>
              </a:solidFill>
              <a:round/>
              <a:headEnd/>
              <a:tailEnd/>
            </a:ln>
          </p:spPr>
        </p:cxnSp>
        <p:sp>
          <p:nvSpPr>
            <p:cNvPr id="54286" name="Text Box 14"/>
            <p:cNvSpPr txBox="1">
              <a:spLocks noChangeArrowheads="1"/>
            </p:cNvSpPr>
            <p:nvPr/>
          </p:nvSpPr>
          <p:spPr bwMode="auto">
            <a:xfrm>
              <a:off x="7137" y="2595"/>
              <a:ext cx="2328"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Arial" pitchFamily="34" charset="0"/>
                </a:rPr>
                <a:t>ASG.PNO = PROJ.PNO</a:t>
              </a:r>
              <a:endParaRPr kumimoji="0" lang="en-US" sz="1400" b="0" i="0" u="none" strike="noStrike" cap="none" normalizeH="0" baseline="0">
                <a:ln>
                  <a:noFill/>
                </a:ln>
                <a:solidFill>
                  <a:schemeClr val="tx1"/>
                </a:solidFill>
                <a:effectLst/>
                <a:latin typeface="Arial" pitchFamily="34" charset="0"/>
                <a:cs typeface="Arial" pitchFamily="34" charset="0"/>
              </a:endParaRPr>
            </a:p>
          </p:txBody>
        </p:sp>
        <p:sp>
          <p:nvSpPr>
            <p:cNvPr id="54287" name="Text Box 15"/>
            <p:cNvSpPr txBox="1">
              <a:spLocks noChangeArrowheads="1"/>
            </p:cNvSpPr>
            <p:nvPr/>
          </p:nvSpPr>
          <p:spPr bwMode="auto">
            <a:xfrm>
              <a:off x="3926" y="2745"/>
              <a:ext cx="2328"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8" charset="0"/>
                  <a:cs typeface="Arial" pitchFamily="34" charset="0"/>
                </a:rPr>
                <a:t>EMP.ENO = ASG.ENO</a:t>
              </a:r>
              <a:endParaRPr kumimoji="0" lang="en-US" sz="1400" b="0" i="0" u="none" strike="noStrike" cap="none" normalizeH="0" baseline="0" dirty="0">
                <a:ln>
                  <a:noFill/>
                </a:ln>
                <a:solidFill>
                  <a:schemeClr val="tx1"/>
                </a:solidFill>
                <a:effectLst/>
                <a:latin typeface="Arial" pitchFamily="34" charset="0"/>
                <a:cs typeface="Arial" pitchFamily="34" charset="0"/>
              </a:endParaRPr>
            </a:p>
          </p:txBody>
        </p:sp>
        <p:sp>
          <p:nvSpPr>
            <p:cNvPr id="54288" name="Text Box 16"/>
            <p:cNvSpPr txBox="1">
              <a:spLocks noChangeArrowheads="1"/>
            </p:cNvSpPr>
            <p:nvPr/>
          </p:nvSpPr>
          <p:spPr bwMode="auto">
            <a:xfrm>
              <a:off x="3345" y="3678"/>
              <a:ext cx="1562"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8" charset="0"/>
                  <a:cs typeface="Arial" pitchFamily="34" charset="0"/>
                </a:rPr>
                <a:t>TITLE= “Programmer”</a:t>
              </a:r>
              <a:endParaRPr kumimoji="0" lang="en-US" sz="1400" b="0" i="0" u="none" strike="noStrike" cap="none" normalizeH="0" baseline="0" dirty="0">
                <a:ln>
                  <a:noFill/>
                </a:ln>
                <a:solidFill>
                  <a:schemeClr val="tx1"/>
                </a:solidFill>
                <a:effectLst/>
                <a:latin typeface="Arial" pitchFamily="34" charset="0"/>
                <a:cs typeface="Arial" pitchFamily="34" charset="0"/>
              </a:endParaRPr>
            </a:p>
          </p:txBody>
        </p:sp>
        <p:sp>
          <p:nvSpPr>
            <p:cNvPr id="54289" name="Text Box 17"/>
            <p:cNvSpPr txBox="1">
              <a:spLocks noChangeArrowheads="1"/>
            </p:cNvSpPr>
            <p:nvPr/>
          </p:nvSpPr>
          <p:spPr bwMode="auto">
            <a:xfrm>
              <a:off x="7526" y="3870"/>
              <a:ext cx="2328"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Arial" pitchFamily="34" charset="0"/>
                </a:rPr>
                <a:t>PNAME = “CAD/CAM”</a:t>
              </a:r>
              <a:endParaRPr kumimoji="0" lang="en-US" sz="1400" b="0" i="0" u="none" strike="noStrike" cap="none" normalizeH="0" baseline="0">
                <a:ln>
                  <a:noFill/>
                </a:ln>
                <a:solidFill>
                  <a:schemeClr val="tx1"/>
                </a:solidFill>
                <a:effectLst/>
                <a:latin typeface="Arial" pitchFamily="34" charset="0"/>
                <a:cs typeface="Arial" pitchFamily="34" charset="0"/>
              </a:endParaRPr>
            </a:p>
          </p:txBody>
        </p:sp>
        <p:sp>
          <p:nvSpPr>
            <p:cNvPr id="54290" name="Text Box 18"/>
            <p:cNvSpPr txBox="1">
              <a:spLocks noChangeArrowheads="1"/>
            </p:cNvSpPr>
            <p:nvPr/>
          </p:nvSpPr>
          <p:spPr bwMode="auto">
            <a:xfrm>
              <a:off x="4964" y="3900"/>
              <a:ext cx="964"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Arial" pitchFamily="34" charset="0"/>
                </a:rPr>
                <a:t>ENAME</a:t>
              </a:r>
              <a:endParaRPr kumimoji="0" lang="en-US" sz="1400" b="0" i="0" u="none" strike="noStrike" cap="none" normalizeH="0" baseline="0">
                <a:ln>
                  <a:noFill/>
                </a:ln>
                <a:solidFill>
                  <a:schemeClr val="tx1"/>
                </a:solidFill>
                <a:effectLst/>
                <a:latin typeface="Arial" pitchFamily="34" charset="0"/>
                <a:cs typeface="Arial" pitchFamily="34" charset="0"/>
              </a:endParaRPr>
            </a:p>
          </p:txBody>
        </p:sp>
        <p:sp>
          <p:nvSpPr>
            <p:cNvPr id="54291" name="Text Box 19"/>
            <p:cNvSpPr txBox="1">
              <a:spLocks noChangeArrowheads="1"/>
            </p:cNvSpPr>
            <p:nvPr/>
          </p:nvSpPr>
          <p:spPr bwMode="auto">
            <a:xfrm>
              <a:off x="6492" y="3135"/>
              <a:ext cx="964"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Arial" pitchFamily="34" charset="0"/>
                </a:rPr>
                <a:t>RESP</a:t>
              </a:r>
              <a:endParaRPr kumimoji="0" lang="en-US" sz="1400" b="0" i="0" u="none" strike="noStrike" cap="none" normalizeH="0" baseline="0">
                <a:ln>
                  <a:noFill/>
                </a:ln>
                <a:solidFill>
                  <a:schemeClr val="tx1"/>
                </a:solidFill>
                <a:effectLst/>
                <a:latin typeface="Arial" pitchFamily="34" charset="0"/>
                <a:cs typeface="Arial" pitchFamily="34" charset="0"/>
              </a:endParaRPr>
            </a:p>
          </p:txBody>
        </p:sp>
        <p:sp>
          <p:nvSpPr>
            <p:cNvPr id="54292" name="Text Box 20"/>
            <p:cNvSpPr txBox="1">
              <a:spLocks noChangeArrowheads="1"/>
            </p:cNvSpPr>
            <p:nvPr/>
          </p:nvSpPr>
          <p:spPr bwMode="auto">
            <a:xfrm>
              <a:off x="5601" y="4730"/>
              <a:ext cx="2231" cy="28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Arial" pitchFamily="34" charset="0"/>
                </a:rPr>
                <a:t>Fig.: Query Graph</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54293" name="Text Box 21"/>
            <p:cNvSpPr txBox="1">
              <a:spLocks noChangeArrowheads="1"/>
            </p:cNvSpPr>
            <p:nvPr/>
          </p:nvSpPr>
          <p:spPr bwMode="auto">
            <a:xfrm>
              <a:off x="6058" y="1576"/>
              <a:ext cx="1127"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Arial" pitchFamily="34" charset="0"/>
                </a:rPr>
                <a:t>DUR ≥ 36</a:t>
              </a:r>
              <a:endParaRPr kumimoji="0" lang="en-US" sz="1400" b="0" i="0" u="none" strike="noStrike" cap="none" normalizeH="0" baseline="0">
                <a:ln>
                  <a:noFill/>
                </a:ln>
                <a:solidFill>
                  <a:schemeClr val="tx1"/>
                </a:solidFill>
                <a:effectLst/>
                <a:latin typeface="Arial" pitchFamily="34" charset="0"/>
                <a:cs typeface="Arial" pitchFamily="34" charset="0"/>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Analysis</a:t>
            </a:r>
            <a:endParaRPr lang="en-US" sz="24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Join Graph: </a:t>
            </a:r>
          </a:p>
          <a:p>
            <a:pPr algn="just">
              <a:buNone/>
            </a:pPr>
            <a:r>
              <a:rPr lang="en-US" sz="2000" dirty="0">
                <a:latin typeface="Times New Roman" pitchFamily="18" charset="0"/>
                <a:cs typeface="Times New Roman" pitchFamily="18" charset="0"/>
              </a:rPr>
              <a:t>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55298" name="Group 2"/>
          <p:cNvGrpSpPr>
            <a:grpSpLocks noChangeAspect="1"/>
          </p:cNvGrpSpPr>
          <p:nvPr/>
        </p:nvGrpSpPr>
        <p:grpSpPr bwMode="auto">
          <a:xfrm>
            <a:off x="1066800" y="2609850"/>
            <a:ext cx="6934200" cy="2724150"/>
            <a:chOff x="2896" y="2310"/>
            <a:chExt cx="7215" cy="2130"/>
          </a:xfrm>
        </p:grpSpPr>
        <p:sp>
          <p:nvSpPr>
            <p:cNvPr id="55299" name="AutoShape 3"/>
            <p:cNvSpPr>
              <a:spLocks noChangeAspect="1" noChangeArrowheads="1"/>
            </p:cNvSpPr>
            <p:nvPr/>
          </p:nvSpPr>
          <p:spPr bwMode="auto">
            <a:xfrm>
              <a:off x="2896" y="2310"/>
              <a:ext cx="7215" cy="2130"/>
            </a:xfrm>
            <a:prstGeom prst="rect">
              <a:avLst/>
            </a:prstGeom>
            <a:noFill/>
          </p:spPr>
          <p:txBody>
            <a:bodyPr vert="horz" wrap="square" lIns="91440" tIns="45720" rIns="91440" bIns="45720" numCol="1" anchor="t" anchorCtr="0" compatLnSpc="1">
              <a:prstTxWarp prst="textNoShape">
                <a:avLst/>
              </a:prstTxWarp>
            </a:bodyPr>
            <a:lstStyle/>
            <a:p>
              <a:endParaRPr lang="en-US" sz="1600"/>
            </a:p>
          </p:txBody>
        </p:sp>
        <p:grpSp>
          <p:nvGrpSpPr>
            <p:cNvPr id="55300" name="Group 4"/>
            <p:cNvGrpSpPr>
              <a:grpSpLocks/>
            </p:cNvGrpSpPr>
            <p:nvPr/>
          </p:nvGrpSpPr>
          <p:grpSpPr bwMode="auto">
            <a:xfrm>
              <a:off x="3926" y="2310"/>
              <a:ext cx="5539" cy="2130"/>
              <a:chOff x="3926" y="2310"/>
              <a:chExt cx="5539" cy="2130"/>
            </a:xfrm>
          </p:grpSpPr>
          <p:sp>
            <p:nvSpPr>
              <p:cNvPr id="55301" name="Oval 5"/>
              <p:cNvSpPr>
                <a:spLocks noChangeArrowheads="1"/>
              </p:cNvSpPr>
              <p:nvPr/>
            </p:nvSpPr>
            <p:spPr bwMode="auto">
              <a:xfrm>
                <a:off x="6121" y="2310"/>
                <a:ext cx="899" cy="526"/>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Arial" pitchFamily="34" charset="0"/>
                  </a:rPr>
                  <a:t>ASG</a:t>
                </a:r>
                <a:endParaRPr kumimoji="0" lang="en-US" sz="1600" b="0" i="0" u="none" strike="noStrike" cap="none" normalizeH="0" baseline="0">
                  <a:ln>
                    <a:noFill/>
                  </a:ln>
                  <a:solidFill>
                    <a:schemeClr val="tx1"/>
                  </a:solidFill>
                  <a:effectLst/>
                  <a:latin typeface="Arial" pitchFamily="34" charset="0"/>
                  <a:cs typeface="Arial" pitchFamily="34" charset="0"/>
                </a:endParaRPr>
              </a:p>
            </p:txBody>
          </p:sp>
          <p:sp>
            <p:nvSpPr>
              <p:cNvPr id="55302" name="Oval 6"/>
              <p:cNvSpPr>
                <a:spLocks noChangeArrowheads="1"/>
              </p:cNvSpPr>
              <p:nvPr/>
            </p:nvSpPr>
            <p:spPr bwMode="auto">
              <a:xfrm>
                <a:off x="7546" y="2984"/>
                <a:ext cx="899" cy="526"/>
              </a:xfrm>
              <a:prstGeom prst="ellipse">
                <a:avLst/>
              </a:prstGeom>
              <a:solidFill>
                <a:srgbClr val="FFFFFF">
                  <a:alpha val="0"/>
                </a:srgbClr>
              </a:solidFill>
              <a:ln w="9525">
                <a:solidFill>
                  <a:srgbClr val="000000"/>
                </a:solidFill>
                <a:round/>
                <a:headEnd/>
                <a:tailEnd/>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Arial" pitchFamily="34" charset="0"/>
                  </a:rPr>
                  <a:t>PROJ</a:t>
                </a:r>
                <a:endParaRPr kumimoji="0" lang="en-US" sz="1600" b="0" i="0" u="none" strike="noStrike" cap="none" normalizeH="0" baseline="0">
                  <a:ln>
                    <a:noFill/>
                  </a:ln>
                  <a:solidFill>
                    <a:schemeClr val="tx1"/>
                  </a:solidFill>
                  <a:effectLst/>
                  <a:latin typeface="Arial" pitchFamily="34" charset="0"/>
                  <a:cs typeface="Arial" pitchFamily="34" charset="0"/>
                </a:endParaRPr>
              </a:p>
            </p:txBody>
          </p:sp>
          <p:sp>
            <p:nvSpPr>
              <p:cNvPr id="55303" name="Oval 7"/>
              <p:cNvSpPr>
                <a:spLocks noChangeArrowheads="1"/>
              </p:cNvSpPr>
              <p:nvPr/>
            </p:nvSpPr>
            <p:spPr bwMode="auto">
              <a:xfrm>
                <a:off x="4726" y="3224"/>
                <a:ext cx="899" cy="526"/>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Arial" pitchFamily="34" charset="0"/>
                  </a:rPr>
                  <a:t>EMP</a:t>
                </a:r>
                <a:endParaRPr kumimoji="0" lang="en-US" sz="1600" b="0" i="0" u="none" strike="noStrike" cap="none" normalizeH="0" baseline="0">
                  <a:ln>
                    <a:noFill/>
                  </a:ln>
                  <a:solidFill>
                    <a:schemeClr val="tx1"/>
                  </a:solidFill>
                  <a:effectLst/>
                  <a:latin typeface="Arial" pitchFamily="34" charset="0"/>
                  <a:cs typeface="Arial" pitchFamily="34" charset="0"/>
                </a:endParaRPr>
              </a:p>
            </p:txBody>
          </p:sp>
          <p:cxnSp>
            <p:nvCxnSpPr>
              <p:cNvPr id="55304" name="AutoShape 8"/>
              <p:cNvCxnSpPr>
                <a:cxnSpLocks noChangeShapeType="1"/>
                <a:stCxn id="55301" idx="3"/>
                <a:endCxn id="55303" idx="7"/>
              </p:cNvCxnSpPr>
              <p:nvPr/>
            </p:nvCxnSpPr>
            <p:spPr bwMode="auto">
              <a:xfrm flipH="1">
                <a:off x="5493" y="2759"/>
                <a:ext cx="760" cy="542"/>
              </a:xfrm>
              <a:prstGeom prst="straightConnector1">
                <a:avLst/>
              </a:prstGeom>
              <a:noFill/>
              <a:ln w="9525">
                <a:solidFill>
                  <a:srgbClr val="000000"/>
                </a:solidFill>
                <a:round/>
                <a:headEnd/>
                <a:tailEnd/>
              </a:ln>
            </p:spPr>
          </p:cxnSp>
          <p:cxnSp>
            <p:nvCxnSpPr>
              <p:cNvPr id="55305" name="AutoShape 9"/>
              <p:cNvCxnSpPr>
                <a:cxnSpLocks noChangeShapeType="1"/>
                <a:stCxn id="55301" idx="5"/>
                <a:endCxn id="55302" idx="1"/>
              </p:cNvCxnSpPr>
              <p:nvPr/>
            </p:nvCxnSpPr>
            <p:spPr bwMode="auto">
              <a:xfrm>
                <a:off x="6888" y="2759"/>
                <a:ext cx="790" cy="302"/>
              </a:xfrm>
              <a:prstGeom prst="straightConnector1">
                <a:avLst/>
              </a:prstGeom>
              <a:noFill/>
              <a:ln w="9525">
                <a:solidFill>
                  <a:srgbClr val="000000"/>
                </a:solidFill>
                <a:round/>
                <a:headEnd/>
                <a:tailEnd/>
              </a:ln>
            </p:spPr>
          </p:cxnSp>
          <p:sp>
            <p:nvSpPr>
              <p:cNvPr id="55306" name="Text Box 10"/>
              <p:cNvSpPr txBox="1">
                <a:spLocks noChangeArrowheads="1"/>
              </p:cNvSpPr>
              <p:nvPr/>
            </p:nvSpPr>
            <p:spPr bwMode="auto">
              <a:xfrm>
                <a:off x="7137" y="2595"/>
                <a:ext cx="2328"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Arial" pitchFamily="34" charset="0"/>
                  </a:rPr>
                  <a:t>ASG.PNO = PROJ.PNO</a:t>
                </a:r>
                <a:endParaRPr kumimoji="0" lang="en-US" sz="1600" b="0" i="0" u="none" strike="noStrike" cap="none" normalizeH="0" baseline="0">
                  <a:ln>
                    <a:noFill/>
                  </a:ln>
                  <a:solidFill>
                    <a:schemeClr val="tx1"/>
                  </a:solidFill>
                  <a:effectLst/>
                  <a:latin typeface="Arial" pitchFamily="34" charset="0"/>
                  <a:cs typeface="Arial" pitchFamily="34" charset="0"/>
                </a:endParaRPr>
              </a:p>
            </p:txBody>
          </p:sp>
          <p:sp>
            <p:nvSpPr>
              <p:cNvPr id="55307" name="Text Box 11"/>
              <p:cNvSpPr txBox="1">
                <a:spLocks noChangeArrowheads="1"/>
              </p:cNvSpPr>
              <p:nvPr/>
            </p:nvSpPr>
            <p:spPr bwMode="auto">
              <a:xfrm>
                <a:off x="3926" y="2745"/>
                <a:ext cx="2328"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Arial" pitchFamily="34" charset="0"/>
                  </a:rPr>
                  <a:t>EMP.ENO = ASG.ENO</a:t>
                </a:r>
                <a:endParaRPr kumimoji="0" lang="en-US" sz="1600" b="0" i="0" u="none" strike="noStrike" cap="none" normalizeH="0" baseline="0">
                  <a:ln>
                    <a:noFill/>
                  </a:ln>
                  <a:solidFill>
                    <a:schemeClr val="tx1"/>
                  </a:solidFill>
                  <a:effectLst/>
                  <a:latin typeface="Arial" pitchFamily="34" charset="0"/>
                  <a:cs typeface="Arial" pitchFamily="34" charset="0"/>
                </a:endParaRPr>
              </a:p>
            </p:txBody>
          </p:sp>
          <p:sp>
            <p:nvSpPr>
              <p:cNvPr id="55308" name="Text Box 12"/>
              <p:cNvSpPr txBox="1">
                <a:spLocks noChangeArrowheads="1"/>
              </p:cNvSpPr>
              <p:nvPr/>
            </p:nvSpPr>
            <p:spPr bwMode="auto">
              <a:xfrm>
                <a:off x="5116" y="4064"/>
                <a:ext cx="3504" cy="376"/>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Arial" pitchFamily="34" charset="0"/>
                  </a:rPr>
                  <a:t>Fig.: Corresponding Join Graph</a:t>
                </a:r>
                <a:endParaRPr kumimoji="0" lang="en-US" sz="1600" b="1" i="0" u="none" strike="noStrike" cap="none" normalizeH="0" baseline="0" dirty="0">
                  <a:ln>
                    <a:noFill/>
                  </a:ln>
                  <a:solidFill>
                    <a:schemeClr val="tx1"/>
                  </a:solidFill>
                  <a:effectLst/>
                  <a:latin typeface="Arial" pitchFamily="34" charset="0"/>
                  <a:cs typeface="Arial" pitchFamily="34" charset="0"/>
                </a:endParaRPr>
              </a:p>
            </p:txBody>
          </p:sp>
        </p:gr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Analysis</a:t>
            </a:r>
            <a:endParaRPr lang="en-US" sz="24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A query is semantically incorrect if its query graph is not connected. </a:t>
            </a:r>
          </a:p>
          <a:p>
            <a:pPr>
              <a:buNone/>
            </a:pPr>
            <a:r>
              <a:rPr lang="en-US" sz="2000" dirty="0">
                <a:latin typeface="Times New Roman" pitchFamily="18" charset="0"/>
                <a:cs typeface="Times New Roman" pitchFamily="18" charset="0"/>
              </a:rPr>
              <a:t> </a:t>
            </a:r>
          </a:p>
          <a:p>
            <a:pPr lvl="1">
              <a:buNone/>
            </a:pPr>
            <a:r>
              <a:rPr lang="en-US" sz="2000" b="1" dirty="0">
                <a:latin typeface="Times New Roman" pitchFamily="18" charset="0"/>
                <a:cs typeface="Times New Roman" pitchFamily="18" charset="0"/>
              </a:rPr>
              <a:t>Example:</a:t>
            </a:r>
            <a:r>
              <a:rPr lang="en-US" sz="2000" dirty="0">
                <a:latin typeface="Times New Roman" pitchFamily="18" charset="0"/>
                <a:cs typeface="Times New Roman" pitchFamily="18" charset="0"/>
              </a:rPr>
              <a:t> Let us consider the following SQL query:</a:t>
            </a:r>
          </a:p>
          <a:p>
            <a:pPr lvl="2">
              <a:buNone/>
            </a:pPr>
            <a:endParaRPr lang="en-US" sz="1800" dirty="0">
              <a:latin typeface="Times New Roman" pitchFamily="18" charset="0"/>
              <a:cs typeface="Times New Roman" pitchFamily="18" charset="0"/>
            </a:endParaRPr>
          </a:p>
          <a:p>
            <a:pPr lvl="2">
              <a:buNone/>
            </a:pPr>
            <a:r>
              <a:rPr lang="en-US" sz="1800" dirty="0">
                <a:latin typeface="Times New Roman" pitchFamily="18" charset="0"/>
                <a:cs typeface="Times New Roman" pitchFamily="18" charset="0"/>
              </a:rPr>
              <a:t>SELECT         ENAME,   RESP</a:t>
            </a:r>
          </a:p>
          <a:p>
            <a:pPr lvl="2">
              <a:buNone/>
            </a:pPr>
            <a:r>
              <a:rPr lang="en-US" sz="1800" dirty="0">
                <a:latin typeface="Times New Roman" pitchFamily="18" charset="0"/>
                <a:cs typeface="Times New Roman" pitchFamily="18" charset="0"/>
              </a:rPr>
              <a:t>FROM            EMP,   ASG,   PROJ</a:t>
            </a:r>
          </a:p>
          <a:p>
            <a:pPr lvl="2">
              <a:buNone/>
            </a:pPr>
            <a:r>
              <a:rPr lang="en-US" sz="1800" dirty="0">
                <a:latin typeface="Times New Roman" pitchFamily="18" charset="0"/>
                <a:cs typeface="Times New Roman" pitchFamily="18" charset="0"/>
              </a:rPr>
              <a:t>WHERE         EMP.ENO = ASG.ENO</a:t>
            </a:r>
          </a:p>
          <a:p>
            <a:pPr lvl="2">
              <a:buNone/>
            </a:pPr>
            <a:r>
              <a:rPr lang="en-US" sz="1800" dirty="0">
                <a:latin typeface="Times New Roman" pitchFamily="18" charset="0"/>
                <a:cs typeface="Times New Roman" pitchFamily="18" charset="0"/>
              </a:rPr>
              <a:t>            AND   PNAME = "CAD/CAM"</a:t>
            </a:r>
          </a:p>
          <a:p>
            <a:pPr lvl="2">
              <a:buNone/>
            </a:pPr>
            <a:r>
              <a:rPr lang="en-US" sz="1800" dirty="0">
                <a:latin typeface="Times New Roman" pitchFamily="18" charset="0"/>
                <a:cs typeface="Times New Roman" pitchFamily="18" charset="0"/>
              </a:rPr>
              <a:t>            AND   DUR _ 36</a:t>
            </a:r>
          </a:p>
          <a:p>
            <a:pPr lvl="2">
              <a:buNone/>
            </a:pPr>
            <a:r>
              <a:rPr lang="en-US" sz="1800" dirty="0">
                <a:latin typeface="Times New Roman" pitchFamily="18" charset="0"/>
                <a:cs typeface="Times New Roman" pitchFamily="18" charset="0"/>
              </a:rPr>
              <a:t>           AND    TITLE = "Programmer"</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Analysis</a:t>
            </a:r>
            <a:endParaRPr lang="en-US" sz="24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It’s query graph, shown below is disconnected, which tells us that the query is semantically incorrect.</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56322" name="Group 2"/>
          <p:cNvGrpSpPr>
            <a:grpSpLocks noChangeAspect="1"/>
          </p:cNvGrpSpPr>
          <p:nvPr/>
        </p:nvGrpSpPr>
        <p:grpSpPr bwMode="auto">
          <a:xfrm>
            <a:off x="1219200" y="2667000"/>
            <a:ext cx="6775450" cy="3542160"/>
            <a:chOff x="2896" y="1576"/>
            <a:chExt cx="7215" cy="3546"/>
          </a:xfrm>
        </p:grpSpPr>
        <p:sp>
          <p:nvSpPr>
            <p:cNvPr id="56323" name="AutoShape 3"/>
            <p:cNvSpPr>
              <a:spLocks noChangeAspect="1" noChangeArrowheads="1"/>
            </p:cNvSpPr>
            <p:nvPr/>
          </p:nvSpPr>
          <p:spPr bwMode="auto">
            <a:xfrm>
              <a:off x="2896" y="1576"/>
              <a:ext cx="7215" cy="3509"/>
            </a:xfrm>
            <a:prstGeom prst="rect">
              <a:avLst/>
            </a:prstGeom>
            <a:noFill/>
          </p:spPr>
          <p:txBody>
            <a:bodyPr vert="horz" wrap="square" lIns="91440" tIns="45720" rIns="91440" bIns="45720" numCol="1" anchor="t" anchorCtr="0" compatLnSpc="1">
              <a:prstTxWarp prst="textNoShape">
                <a:avLst/>
              </a:prstTxWarp>
            </a:bodyPr>
            <a:lstStyle/>
            <a:p>
              <a:endParaRPr lang="en-US" sz="1400"/>
            </a:p>
          </p:txBody>
        </p:sp>
        <p:sp>
          <p:nvSpPr>
            <p:cNvPr id="56324" name="Text Box 4"/>
            <p:cNvSpPr txBox="1">
              <a:spLocks noChangeArrowheads="1"/>
            </p:cNvSpPr>
            <p:nvPr/>
          </p:nvSpPr>
          <p:spPr bwMode="auto">
            <a:xfrm>
              <a:off x="7526" y="3870"/>
              <a:ext cx="2328"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Arial" pitchFamily="34" charset="0"/>
                </a:rPr>
                <a:t>PNAME = “CAD/CAM”</a:t>
              </a:r>
              <a:endParaRPr kumimoji="0" lang="en-US" sz="1400" b="0" i="0" u="none" strike="noStrike" cap="none" normalizeH="0" baseline="0">
                <a:ln>
                  <a:noFill/>
                </a:ln>
                <a:solidFill>
                  <a:schemeClr val="tx1"/>
                </a:solidFill>
                <a:effectLst/>
                <a:latin typeface="Arial" pitchFamily="34" charset="0"/>
                <a:cs typeface="Arial" pitchFamily="34" charset="0"/>
              </a:endParaRPr>
            </a:p>
          </p:txBody>
        </p:sp>
        <p:grpSp>
          <p:nvGrpSpPr>
            <p:cNvPr id="56325" name="Group 5"/>
            <p:cNvGrpSpPr>
              <a:grpSpLocks/>
            </p:cNvGrpSpPr>
            <p:nvPr/>
          </p:nvGrpSpPr>
          <p:grpSpPr bwMode="auto">
            <a:xfrm>
              <a:off x="3085" y="1576"/>
              <a:ext cx="5360" cy="3546"/>
              <a:chOff x="3085" y="1576"/>
              <a:chExt cx="5360" cy="3546"/>
            </a:xfrm>
          </p:grpSpPr>
          <p:sp>
            <p:nvSpPr>
              <p:cNvPr id="56326" name="Oval 6"/>
              <p:cNvSpPr>
                <a:spLocks noChangeArrowheads="1"/>
              </p:cNvSpPr>
              <p:nvPr/>
            </p:nvSpPr>
            <p:spPr bwMode="auto">
              <a:xfrm>
                <a:off x="6121" y="2310"/>
                <a:ext cx="899" cy="526"/>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Arial" pitchFamily="34" charset="0"/>
                  </a:rPr>
                  <a:t>ASG</a:t>
                </a:r>
                <a:endParaRPr kumimoji="0" lang="en-US" sz="1400" b="0" i="0" u="none" strike="noStrike" cap="none" normalizeH="0" baseline="0">
                  <a:ln>
                    <a:noFill/>
                  </a:ln>
                  <a:solidFill>
                    <a:schemeClr val="tx1"/>
                  </a:solidFill>
                  <a:effectLst/>
                  <a:latin typeface="Arial" pitchFamily="34" charset="0"/>
                  <a:cs typeface="Arial" pitchFamily="34" charset="0"/>
                </a:endParaRPr>
              </a:p>
            </p:txBody>
          </p:sp>
          <p:sp>
            <p:nvSpPr>
              <p:cNvPr id="56327" name="Oval 7"/>
              <p:cNvSpPr>
                <a:spLocks noChangeArrowheads="1"/>
              </p:cNvSpPr>
              <p:nvPr/>
            </p:nvSpPr>
            <p:spPr bwMode="auto">
              <a:xfrm>
                <a:off x="7546" y="2984"/>
                <a:ext cx="899" cy="526"/>
              </a:xfrm>
              <a:prstGeom prst="ellipse">
                <a:avLst/>
              </a:prstGeom>
              <a:solidFill>
                <a:srgbClr val="FFFFFF">
                  <a:alpha val="0"/>
                </a:srgbClr>
              </a:solidFill>
              <a:ln w="9525">
                <a:solidFill>
                  <a:srgbClr val="000000"/>
                </a:solidFill>
                <a:round/>
                <a:headEnd/>
                <a:tailEnd/>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Arial" pitchFamily="34" charset="0"/>
                  </a:rPr>
                  <a:t>PROJ</a:t>
                </a:r>
                <a:endParaRPr kumimoji="0" lang="en-US" sz="1400" b="0" i="0" u="none" strike="noStrike" cap="none" normalizeH="0" baseline="0">
                  <a:ln>
                    <a:noFill/>
                  </a:ln>
                  <a:solidFill>
                    <a:schemeClr val="tx1"/>
                  </a:solidFill>
                  <a:effectLst/>
                  <a:latin typeface="Arial" pitchFamily="34" charset="0"/>
                  <a:cs typeface="Arial" pitchFamily="34" charset="0"/>
                </a:endParaRPr>
              </a:p>
            </p:txBody>
          </p:sp>
          <p:sp>
            <p:nvSpPr>
              <p:cNvPr id="56328" name="Oval 8"/>
              <p:cNvSpPr>
                <a:spLocks noChangeArrowheads="1"/>
              </p:cNvSpPr>
              <p:nvPr/>
            </p:nvSpPr>
            <p:spPr bwMode="auto">
              <a:xfrm>
                <a:off x="4726" y="3224"/>
                <a:ext cx="899" cy="526"/>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Arial" pitchFamily="34" charset="0"/>
                  </a:rPr>
                  <a:t>EMP</a:t>
                </a:r>
                <a:endParaRPr kumimoji="0" lang="en-US" sz="1400" b="0" i="0" u="none" strike="noStrike" cap="none" normalizeH="0" baseline="0">
                  <a:ln>
                    <a:noFill/>
                  </a:ln>
                  <a:solidFill>
                    <a:schemeClr val="tx1"/>
                  </a:solidFill>
                  <a:effectLst/>
                  <a:latin typeface="Arial" pitchFamily="34" charset="0"/>
                  <a:cs typeface="Arial" pitchFamily="34" charset="0"/>
                </a:endParaRPr>
              </a:p>
            </p:txBody>
          </p:sp>
          <p:sp>
            <p:nvSpPr>
              <p:cNvPr id="56329" name="Oval 9"/>
              <p:cNvSpPr>
                <a:spLocks noChangeArrowheads="1"/>
              </p:cNvSpPr>
              <p:nvPr/>
            </p:nvSpPr>
            <p:spPr bwMode="auto">
              <a:xfrm>
                <a:off x="5956" y="3929"/>
                <a:ext cx="1289" cy="526"/>
              </a:xfrm>
              <a:prstGeom prst="ellipse">
                <a:avLst/>
              </a:prstGeom>
              <a:solidFill>
                <a:srgbClr val="FFFFFF">
                  <a:alpha val="0"/>
                </a:srgbClr>
              </a:solidFill>
              <a:ln w="9525">
                <a:solidFill>
                  <a:srgbClr val="000000"/>
                </a:solidFill>
                <a:round/>
                <a:headEnd/>
                <a:tailEnd/>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Arial" pitchFamily="34" charset="0"/>
                  </a:rPr>
                  <a:t>RESULT</a:t>
                </a:r>
                <a:endParaRPr kumimoji="0" lang="en-US" sz="1400" b="0" i="0" u="none" strike="noStrike" cap="none" normalizeH="0" baseline="0">
                  <a:ln>
                    <a:noFill/>
                  </a:ln>
                  <a:solidFill>
                    <a:schemeClr val="tx1"/>
                  </a:solidFill>
                  <a:effectLst/>
                  <a:latin typeface="Arial" pitchFamily="34" charset="0"/>
                  <a:cs typeface="Arial" pitchFamily="34" charset="0"/>
                </a:endParaRPr>
              </a:p>
            </p:txBody>
          </p:sp>
          <p:cxnSp>
            <p:nvCxnSpPr>
              <p:cNvPr id="56330" name="AutoShape 10"/>
              <p:cNvCxnSpPr>
                <a:cxnSpLocks noChangeShapeType="1"/>
                <a:stCxn id="56326" idx="3"/>
                <a:endCxn id="56328" idx="7"/>
              </p:cNvCxnSpPr>
              <p:nvPr/>
            </p:nvCxnSpPr>
            <p:spPr bwMode="auto">
              <a:xfrm flipH="1">
                <a:off x="5493" y="2759"/>
                <a:ext cx="760" cy="542"/>
              </a:xfrm>
              <a:prstGeom prst="straightConnector1">
                <a:avLst/>
              </a:prstGeom>
              <a:noFill/>
              <a:ln w="9525">
                <a:solidFill>
                  <a:srgbClr val="000000"/>
                </a:solidFill>
                <a:round/>
                <a:headEnd/>
                <a:tailEnd/>
              </a:ln>
            </p:spPr>
          </p:cxnSp>
          <p:cxnSp>
            <p:nvCxnSpPr>
              <p:cNvPr id="56331" name="AutoShape 11"/>
              <p:cNvCxnSpPr>
                <a:cxnSpLocks noChangeShapeType="1"/>
                <a:stCxn id="56326" idx="4"/>
                <a:endCxn id="56329" idx="0"/>
              </p:cNvCxnSpPr>
              <p:nvPr/>
            </p:nvCxnSpPr>
            <p:spPr bwMode="auto">
              <a:xfrm>
                <a:off x="6571" y="2836"/>
                <a:ext cx="30" cy="1093"/>
              </a:xfrm>
              <a:prstGeom prst="straightConnector1">
                <a:avLst/>
              </a:prstGeom>
              <a:noFill/>
              <a:ln w="9525">
                <a:solidFill>
                  <a:srgbClr val="000000"/>
                </a:solidFill>
                <a:round/>
                <a:headEnd/>
                <a:tailEnd/>
              </a:ln>
            </p:spPr>
          </p:cxnSp>
          <p:cxnSp>
            <p:nvCxnSpPr>
              <p:cNvPr id="56332" name="AutoShape 12"/>
              <p:cNvCxnSpPr>
                <a:cxnSpLocks noChangeShapeType="1"/>
                <a:stCxn id="56328" idx="5"/>
                <a:endCxn id="56329" idx="2"/>
              </p:cNvCxnSpPr>
              <p:nvPr/>
            </p:nvCxnSpPr>
            <p:spPr bwMode="auto">
              <a:xfrm>
                <a:off x="5493" y="3673"/>
                <a:ext cx="463" cy="519"/>
              </a:xfrm>
              <a:prstGeom prst="straightConnector1">
                <a:avLst/>
              </a:prstGeom>
              <a:noFill/>
              <a:ln w="9525">
                <a:solidFill>
                  <a:srgbClr val="000000"/>
                </a:solidFill>
                <a:round/>
                <a:headEnd/>
                <a:tailEnd/>
              </a:ln>
            </p:spPr>
          </p:cxnSp>
          <p:cxnSp>
            <p:nvCxnSpPr>
              <p:cNvPr id="56333" name="AutoShape 13"/>
              <p:cNvCxnSpPr>
                <a:cxnSpLocks noChangeShapeType="1"/>
                <a:stCxn id="56327" idx="5"/>
                <a:endCxn id="56327" idx="3"/>
              </p:cNvCxnSpPr>
              <p:nvPr/>
            </p:nvCxnSpPr>
            <p:spPr bwMode="auto">
              <a:xfrm rot="5400000">
                <a:off x="7995" y="3116"/>
                <a:ext cx="1" cy="635"/>
              </a:xfrm>
              <a:prstGeom prst="curvedConnector3">
                <a:avLst>
                  <a:gd name="adj1" fmla="val 43700000"/>
                </a:avLst>
              </a:prstGeom>
              <a:noFill/>
              <a:ln w="9525">
                <a:solidFill>
                  <a:srgbClr val="000000"/>
                </a:solidFill>
                <a:round/>
                <a:headEnd/>
                <a:tailEnd/>
              </a:ln>
            </p:spPr>
          </p:cxnSp>
          <p:cxnSp>
            <p:nvCxnSpPr>
              <p:cNvPr id="56334" name="AutoShape 14"/>
              <p:cNvCxnSpPr>
                <a:cxnSpLocks noChangeShapeType="1"/>
                <a:stCxn id="56328" idx="3"/>
                <a:endCxn id="56328" idx="1"/>
              </p:cNvCxnSpPr>
              <p:nvPr/>
            </p:nvCxnSpPr>
            <p:spPr bwMode="auto">
              <a:xfrm rot="5400000" flipH="1" flipV="1">
                <a:off x="4673" y="3486"/>
                <a:ext cx="372" cy="1"/>
              </a:xfrm>
              <a:prstGeom prst="curvedConnector5">
                <a:avLst>
                  <a:gd name="adj1" fmla="val -36829"/>
                  <a:gd name="adj2" fmla="val -59900000"/>
                  <a:gd name="adj3" fmla="val 120426"/>
                </a:avLst>
              </a:prstGeom>
              <a:noFill/>
              <a:ln w="9525">
                <a:solidFill>
                  <a:srgbClr val="000000"/>
                </a:solidFill>
                <a:round/>
                <a:headEnd/>
                <a:tailEnd/>
              </a:ln>
            </p:spPr>
          </p:cxnSp>
          <p:cxnSp>
            <p:nvCxnSpPr>
              <p:cNvPr id="56335" name="AutoShape 15"/>
              <p:cNvCxnSpPr>
                <a:cxnSpLocks noChangeShapeType="1"/>
                <a:stCxn id="56326" idx="1"/>
                <a:endCxn id="56326" idx="7"/>
              </p:cNvCxnSpPr>
              <p:nvPr/>
            </p:nvCxnSpPr>
            <p:spPr bwMode="auto">
              <a:xfrm rot="5400000" flipV="1">
                <a:off x="6570" y="2070"/>
                <a:ext cx="1" cy="635"/>
              </a:xfrm>
              <a:prstGeom prst="curvedConnector3">
                <a:avLst>
                  <a:gd name="adj1" fmla="val -43700000"/>
                </a:avLst>
              </a:prstGeom>
              <a:noFill/>
              <a:ln w="9525">
                <a:solidFill>
                  <a:srgbClr val="000000"/>
                </a:solidFill>
                <a:round/>
                <a:headEnd/>
                <a:tailEnd/>
              </a:ln>
            </p:spPr>
          </p:cxnSp>
          <p:sp>
            <p:nvSpPr>
              <p:cNvPr id="56336" name="Text Box 16"/>
              <p:cNvSpPr txBox="1">
                <a:spLocks noChangeArrowheads="1"/>
              </p:cNvSpPr>
              <p:nvPr/>
            </p:nvSpPr>
            <p:spPr bwMode="auto">
              <a:xfrm>
                <a:off x="3926" y="2745"/>
                <a:ext cx="2328"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Arial" pitchFamily="34" charset="0"/>
                  </a:rPr>
                  <a:t>EMP.ENO = ASG.ENO</a:t>
                </a:r>
                <a:endParaRPr kumimoji="0" lang="en-US" sz="1400" b="0" i="0" u="none" strike="noStrike" cap="none" normalizeH="0" baseline="0">
                  <a:ln>
                    <a:noFill/>
                  </a:ln>
                  <a:solidFill>
                    <a:schemeClr val="tx1"/>
                  </a:solidFill>
                  <a:effectLst/>
                  <a:latin typeface="Arial" pitchFamily="34" charset="0"/>
                  <a:cs typeface="Arial" pitchFamily="34" charset="0"/>
                </a:endParaRPr>
              </a:p>
            </p:txBody>
          </p:sp>
          <p:sp>
            <p:nvSpPr>
              <p:cNvPr id="56337" name="Text Box 17"/>
              <p:cNvSpPr txBox="1">
                <a:spLocks noChangeArrowheads="1"/>
              </p:cNvSpPr>
              <p:nvPr/>
            </p:nvSpPr>
            <p:spPr bwMode="auto">
              <a:xfrm>
                <a:off x="3085" y="3780"/>
                <a:ext cx="2076"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Arial" pitchFamily="34" charset="0"/>
                  </a:rPr>
                  <a:t>TITLE = “Programmer”</a:t>
                </a:r>
                <a:endParaRPr kumimoji="0" lang="en-US" sz="1400" b="0" i="0" u="none" strike="noStrike" cap="none" normalizeH="0" baseline="0">
                  <a:ln>
                    <a:noFill/>
                  </a:ln>
                  <a:solidFill>
                    <a:schemeClr val="tx1"/>
                  </a:solidFill>
                  <a:effectLst/>
                  <a:latin typeface="Arial" pitchFamily="34" charset="0"/>
                  <a:cs typeface="Arial" pitchFamily="34" charset="0"/>
                </a:endParaRPr>
              </a:p>
            </p:txBody>
          </p:sp>
          <p:sp>
            <p:nvSpPr>
              <p:cNvPr id="56338" name="Text Box 18"/>
              <p:cNvSpPr txBox="1">
                <a:spLocks noChangeArrowheads="1"/>
              </p:cNvSpPr>
              <p:nvPr/>
            </p:nvSpPr>
            <p:spPr bwMode="auto">
              <a:xfrm>
                <a:off x="4964" y="3900"/>
                <a:ext cx="964"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Arial" pitchFamily="34" charset="0"/>
                  </a:rPr>
                  <a:t>ENAME</a:t>
                </a:r>
                <a:endParaRPr kumimoji="0" lang="en-US" sz="1400" b="0" i="0" u="none" strike="noStrike" cap="none" normalizeH="0" baseline="0">
                  <a:ln>
                    <a:noFill/>
                  </a:ln>
                  <a:solidFill>
                    <a:schemeClr val="tx1"/>
                  </a:solidFill>
                  <a:effectLst/>
                  <a:latin typeface="Arial" pitchFamily="34" charset="0"/>
                  <a:cs typeface="Arial" pitchFamily="34" charset="0"/>
                </a:endParaRPr>
              </a:p>
            </p:txBody>
          </p:sp>
          <p:sp>
            <p:nvSpPr>
              <p:cNvPr id="56339" name="Text Box 19"/>
              <p:cNvSpPr txBox="1">
                <a:spLocks noChangeArrowheads="1"/>
              </p:cNvSpPr>
              <p:nvPr/>
            </p:nvSpPr>
            <p:spPr bwMode="auto">
              <a:xfrm>
                <a:off x="6600" y="3202"/>
                <a:ext cx="964"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8" charset="0"/>
                    <a:cs typeface="Arial" pitchFamily="34" charset="0"/>
                  </a:rPr>
                  <a:t>RESP</a:t>
                </a:r>
                <a:endParaRPr kumimoji="0" lang="en-US" sz="1400" b="0" i="0" u="none" strike="noStrike" cap="none" normalizeH="0" baseline="0" dirty="0">
                  <a:ln>
                    <a:noFill/>
                  </a:ln>
                  <a:solidFill>
                    <a:schemeClr val="tx1"/>
                  </a:solidFill>
                  <a:effectLst/>
                  <a:latin typeface="Arial" pitchFamily="34" charset="0"/>
                  <a:cs typeface="Arial" pitchFamily="34" charset="0"/>
                </a:endParaRPr>
              </a:p>
            </p:txBody>
          </p:sp>
          <p:sp>
            <p:nvSpPr>
              <p:cNvPr id="56340" name="Text Box 20"/>
              <p:cNvSpPr txBox="1">
                <a:spLocks noChangeArrowheads="1"/>
              </p:cNvSpPr>
              <p:nvPr/>
            </p:nvSpPr>
            <p:spPr bwMode="auto">
              <a:xfrm>
                <a:off x="5655" y="4627"/>
                <a:ext cx="1785"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Arial" pitchFamily="34" charset="0"/>
                  </a:rPr>
                  <a:t>Fig.: Query Graph</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56341" name="Text Box 21"/>
              <p:cNvSpPr txBox="1">
                <a:spLocks noChangeArrowheads="1"/>
              </p:cNvSpPr>
              <p:nvPr/>
            </p:nvSpPr>
            <p:spPr bwMode="auto">
              <a:xfrm>
                <a:off x="6058" y="1576"/>
                <a:ext cx="1127" cy="49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8" charset="0"/>
                    <a:cs typeface="Arial" pitchFamily="34" charset="0"/>
                  </a:rPr>
                  <a:t>DUR ≥ 36</a:t>
                </a:r>
                <a:endParaRPr kumimoji="0" lang="en-US" sz="1400" b="0" i="0" u="none" strike="noStrike" cap="none" normalizeH="0" baseline="0">
                  <a:ln>
                    <a:noFill/>
                  </a:ln>
                  <a:solidFill>
                    <a:schemeClr val="tx1"/>
                  </a:solidFill>
                  <a:effectLst/>
                  <a:latin typeface="Arial" pitchFamily="34" charset="0"/>
                  <a:cs typeface="Arial" pitchFamily="34" charset="0"/>
                </a:endParaRPr>
              </a:p>
            </p:txBody>
          </p:sp>
        </p:gr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Elimination of Redundancy</a:t>
            </a:r>
            <a:endParaRPr lang="en-US" sz="24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Simplify the query by eliminating redundancies, e.g., redundant predicates.</a:t>
            </a:r>
          </a:p>
          <a:p>
            <a:pPr lvl="1" algn="just">
              <a:buFont typeface="Wingdings" pitchFamily="2" charset="2"/>
              <a:buChar char="Ø"/>
            </a:pPr>
            <a:r>
              <a:rPr lang="en-US" sz="2000" dirty="0">
                <a:latin typeface="Times New Roman" pitchFamily="18" charset="0"/>
                <a:cs typeface="Times New Roman" pitchFamily="18" charset="0"/>
              </a:rPr>
              <a:t>Redundancies are often due to semantic integrity constraints expressed in the query language.</a:t>
            </a:r>
          </a:p>
          <a:p>
            <a:pPr lvl="1" algn="just">
              <a:buFont typeface="Wingdings" pitchFamily="2" charset="2"/>
              <a:buChar char="Ø"/>
            </a:pPr>
            <a:r>
              <a:rPr lang="en-US" sz="2000" dirty="0">
                <a:latin typeface="Times New Roman" pitchFamily="18" charset="0"/>
                <a:cs typeface="Times New Roman" pitchFamily="18" charset="0"/>
              </a:rPr>
              <a:t>Transformation rules are used:</a:t>
            </a:r>
          </a:p>
          <a:p>
            <a:pPr algn="just">
              <a:buNone/>
            </a:pPr>
            <a:r>
              <a:rPr lang="en-US" sz="2000" dirty="0">
                <a:latin typeface="Times New Roman" pitchFamily="18" charset="0"/>
                <a:cs typeface="Times New Roman" pitchFamily="18" charset="0"/>
              </a:rPr>
              <a:t>	</a:t>
            </a:r>
          </a:p>
          <a:p>
            <a:pPr algn="just">
              <a:buNone/>
            </a:pP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83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8369" name="Picture 1"/>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2438400" y="3581399"/>
            <a:ext cx="2681301" cy="2743201"/>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Elimination of Redundancy</a:t>
            </a:r>
            <a:endParaRPr lang="en-US" sz="2400" dirty="0">
              <a:latin typeface="Times New Roman" pitchFamily="18" charset="0"/>
              <a:cs typeface="Times New Roman" pitchFamily="18" charset="0"/>
            </a:endParaRPr>
          </a:p>
          <a:p>
            <a:pPr algn="just">
              <a:buNone/>
            </a:pPr>
            <a:r>
              <a:rPr lang="en-US" sz="2000" b="1" dirty="0">
                <a:latin typeface="Times New Roman" pitchFamily="18" charset="0"/>
                <a:cs typeface="Times New Roman" pitchFamily="18" charset="0"/>
              </a:rPr>
              <a:t>	Example: </a:t>
            </a:r>
            <a:endParaRPr lang="en-US" sz="2000" dirty="0">
              <a:latin typeface="Times New Roman" pitchFamily="18" charset="0"/>
              <a:cs typeface="Times New Roman" pitchFamily="18" charset="0"/>
            </a:endParaRPr>
          </a:p>
          <a:p>
            <a:pPr lvl="1" algn="just">
              <a:buNone/>
            </a:pPr>
            <a:endParaRPr lang="en-US" sz="1600" dirty="0">
              <a:latin typeface="Times New Roman" pitchFamily="18" charset="0"/>
              <a:cs typeface="Times New Roman" pitchFamily="18" charset="0"/>
            </a:endParaRPr>
          </a:p>
          <a:p>
            <a:pPr lvl="1" algn="just">
              <a:buNone/>
            </a:pPr>
            <a:r>
              <a:rPr lang="en-US" sz="2000" dirty="0">
                <a:latin typeface="Times New Roman" pitchFamily="18" charset="0"/>
                <a:cs typeface="Times New Roman" pitchFamily="18" charset="0"/>
              </a:rPr>
              <a:t>SELECT      TITLE</a:t>
            </a:r>
          </a:p>
          <a:p>
            <a:pPr lvl="1" algn="just">
              <a:buNone/>
            </a:pPr>
            <a:r>
              <a:rPr lang="en-US" sz="2000" dirty="0">
                <a:latin typeface="Times New Roman" pitchFamily="18" charset="0"/>
                <a:cs typeface="Times New Roman" pitchFamily="18" charset="0"/>
              </a:rPr>
              <a:t>FROM         EMP</a:t>
            </a:r>
          </a:p>
          <a:p>
            <a:pPr lvl="1" algn="just">
              <a:buNone/>
            </a:pPr>
            <a:r>
              <a:rPr lang="en-US" sz="2000" dirty="0">
                <a:latin typeface="Times New Roman" pitchFamily="18" charset="0"/>
                <a:cs typeface="Times New Roman" pitchFamily="18" charset="0"/>
              </a:rPr>
              <a:t>WHERE         (NOT (TITLE = "Programmer")</a:t>
            </a:r>
          </a:p>
          <a:p>
            <a:pPr lvl="1" algn="just">
              <a:buNone/>
            </a:pPr>
            <a:r>
              <a:rPr lang="en-US" sz="2000" dirty="0">
                <a:latin typeface="Times New Roman" pitchFamily="18" charset="0"/>
                <a:cs typeface="Times New Roman" pitchFamily="18" charset="0"/>
              </a:rPr>
              <a:t>            AND   (TITLE = "Programmer"</a:t>
            </a:r>
          </a:p>
          <a:p>
            <a:pPr lvl="1" algn="just">
              <a:buNone/>
            </a:pPr>
            <a:r>
              <a:rPr lang="en-US" sz="2000" dirty="0">
                <a:latin typeface="Times New Roman" pitchFamily="18" charset="0"/>
                <a:cs typeface="Times New Roman" pitchFamily="18" charset="0"/>
              </a:rPr>
              <a:t>            OR      TITLE = "Elect. Eng.")</a:t>
            </a:r>
          </a:p>
          <a:p>
            <a:pPr lvl="1" algn="just">
              <a:buNone/>
            </a:pPr>
            <a:r>
              <a:rPr lang="en-US" sz="2000" dirty="0">
                <a:latin typeface="Times New Roman" pitchFamily="18" charset="0"/>
                <a:cs typeface="Times New Roman" pitchFamily="18" charset="0"/>
              </a:rPr>
              <a:t>            AND   NOT (TITLE = "Elect. Eng."))</a:t>
            </a:r>
          </a:p>
          <a:p>
            <a:pPr lvl="1" algn="just">
              <a:buNone/>
            </a:pPr>
            <a:r>
              <a:rPr lang="en-US" sz="2000" dirty="0">
                <a:latin typeface="Times New Roman" pitchFamily="18" charset="0"/>
                <a:cs typeface="Times New Roman" pitchFamily="18" charset="0"/>
              </a:rPr>
              <a:t>            OR      ENAME = “Mr. X"</a:t>
            </a:r>
          </a:p>
          <a:p>
            <a:pPr algn="just">
              <a:buNone/>
            </a:pP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83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88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Elimination of Redundancy</a:t>
            </a:r>
            <a:endParaRPr lang="en-US" sz="2400" dirty="0">
              <a:latin typeface="Times New Roman" pitchFamily="18" charset="0"/>
              <a:cs typeface="Times New Roman" pitchFamily="18" charset="0"/>
            </a:endParaRPr>
          </a:p>
          <a:p>
            <a:pPr algn="just">
              <a:buNone/>
            </a:pPr>
            <a:r>
              <a:rPr lang="en-US" sz="2000" b="1" dirty="0">
                <a:latin typeface="Times New Roman" pitchFamily="18" charset="0"/>
                <a:cs typeface="Times New Roman" pitchFamily="18" charset="0"/>
              </a:rPr>
              <a:t>	Example: </a:t>
            </a:r>
            <a:endParaRPr lang="en-US" sz="2000" dirty="0">
              <a:latin typeface="Times New Roman" pitchFamily="18" charset="0"/>
              <a:cs typeface="Times New Roman" pitchFamily="18" charset="0"/>
            </a:endParaRPr>
          </a:p>
          <a:p>
            <a:pPr lvl="1" algn="just">
              <a:buNone/>
            </a:pPr>
            <a:r>
              <a:rPr lang="en-US" sz="2000" dirty="0">
                <a:latin typeface="Times New Roman" pitchFamily="18" charset="0"/>
                <a:cs typeface="Times New Roman" pitchFamily="18" charset="0"/>
              </a:rPr>
              <a:t>Can be simplified using the previous rules to become</a:t>
            </a:r>
          </a:p>
          <a:p>
            <a:pPr lvl="2" algn="just">
              <a:buNone/>
            </a:pPr>
            <a:r>
              <a:rPr lang="en-US" sz="2000" dirty="0">
                <a:latin typeface="Times New Roman" pitchFamily="18" charset="0"/>
                <a:cs typeface="Times New Roman" pitchFamily="18" charset="0"/>
              </a:rPr>
              <a:t>SELECT    TITLE</a:t>
            </a:r>
          </a:p>
          <a:p>
            <a:pPr lvl="2" algn="just">
              <a:buNone/>
            </a:pPr>
            <a:r>
              <a:rPr lang="en-US" sz="2000" dirty="0">
                <a:latin typeface="Times New Roman" pitchFamily="18" charset="0"/>
                <a:cs typeface="Times New Roman" pitchFamily="18" charset="0"/>
              </a:rPr>
              <a:t>FROM        EMP</a:t>
            </a:r>
          </a:p>
          <a:p>
            <a:pPr lvl="2" algn="just">
              <a:buNone/>
            </a:pPr>
            <a:r>
              <a:rPr lang="en-US" sz="2000" dirty="0">
                <a:latin typeface="Times New Roman" pitchFamily="18" charset="0"/>
                <a:cs typeface="Times New Roman" pitchFamily="18" charset="0"/>
              </a:rPr>
              <a:t>WHERE     ENAME = " Mr. X“</a:t>
            </a:r>
          </a:p>
          <a:p>
            <a:pPr lvl="1" algn="just">
              <a:buNone/>
            </a:pPr>
            <a:endParaRPr lang="en-US" sz="1200" dirty="0">
              <a:latin typeface="Times New Roman" pitchFamily="18" charset="0"/>
              <a:cs typeface="Times New Roman" pitchFamily="18" charset="0"/>
            </a:endParaRPr>
          </a:p>
          <a:p>
            <a:pPr lvl="1" algn="just">
              <a:buNone/>
            </a:pPr>
            <a:r>
              <a:rPr lang="en-US" sz="2000" dirty="0">
                <a:latin typeface="Times New Roman" pitchFamily="18" charset="0"/>
                <a:cs typeface="Times New Roman" pitchFamily="18" charset="0"/>
              </a:rPr>
              <a:t>The simplification proceeds as follows:</a:t>
            </a:r>
          </a:p>
          <a:p>
            <a:pPr lvl="2" algn="just">
              <a:buNone/>
            </a:pPr>
            <a:r>
              <a:rPr lang="en-US" sz="2000" dirty="0">
                <a:latin typeface="Times New Roman" pitchFamily="18" charset="0"/>
                <a:cs typeface="Times New Roman" pitchFamily="18" charset="0"/>
              </a:rPr>
              <a:t>Let p</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 be TITLE = “Programmer”, </a:t>
            </a:r>
          </a:p>
          <a:p>
            <a:pPr lvl="2" algn="just">
              <a:buNone/>
            </a:pPr>
            <a:r>
              <a:rPr lang="en-US" sz="2000" dirty="0">
                <a:latin typeface="Times New Roman" pitchFamily="18" charset="0"/>
                <a:cs typeface="Times New Roman" pitchFamily="18" charset="0"/>
              </a:rPr>
              <a:t>      p</a:t>
            </a:r>
            <a:r>
              <a:rPr lang="en-US" sz="2000" baseline="-25000" dirty="0">
                <a:latin typeface="Times New Roman" pitchFamily="18" charset="0"/>
                <a:cs typeface="Times New Roman" pitchFamily="18" charset="0"/>
              </a:rPr>
              <a:t>2</a:t>
            </a:r>
            <a:r>
              <a:rPr lang="en-US" sz="2000" dirty="0">
                <a:latin typeface="Times New Roman" pitchFamily="18" charset="0"/>
                <a:cs typeface="Times New Roman" pitchFamily="18" charset="0"/>
              </a:rPr>
              <a:t> be TITLE = “Elect. Eng.”, and </a:t>
            </a:r>
          </a:p>
          <a:p>
            <a:pPr lvl="2" algn="just">
              <a:buNone/>
            </a:pPr>
            <a:r>
              <a:rPr lang="en-US" sz="2000" dirty="0">
                <a:latin typeface="Times New Roman" pitchFamily="18" charset="0"/>
                <a:cs typeface="Times New Roman" pitchFamily="18" charset="0"/>
              </a:rPr>
              <a:t>      p</a:t>
            </a:r>
            <a:r>
              <a:rPr lang="en-US" sz="2000" baseline="-25000" dirty="0">
                <a:latin typeface="Times New Roman" pitchFamily="18" charset="0"/>
                <a:cs typeface="Times New Roman" pitchFamily="18" charset="0"/>
              </a:rPr>
              <a:t>3</a:t>
            </a:r>
            <a:r>
              <a:rPr lang="en-US" sz="2000" dirty="0">
                <a:latin typeface="Times New Roman" pitchFamily="18" charset="0"/>
                <a:cs typeface="Times New Roman" pitchFamily="18" charset="0"/>
              </a:rPr>
              <a:t> be ENAME = “Mr. X”. </a:t>
            </a:r>
          </a:p>
          <a:p>
            <a:pPr lvl="1" algn="just">
              <a:buNone/>
            </a:pPr>
            <a:endParaRPr lang="en-US" sz="1200" dirty="0">
              <a:latin typeface="Times New Roman" pitchFamily="18" charset="0"/>
              <a:cs typeface="Times New Roman" pitchFamily="18" charset="0"/>
            </a:endParaRPr>
          </a:p>
          <a:p>
            <a:pPr lvl="1" algn="just">
              <a:buNone/>
            </a:pPr>
            <a:r>
              <a:rPr lang="en-US" sz="2000" dirty="0">
                <a:latin typeface="Times New Roman" pitchFamily="18" charset="0"/>
                <a:cs typeface="Times New Roman" pitchFamily="18" charset="0"/>
              </a:rPr>
              <a:t>The query qualification is:</a:t>
            </a:r>
          </a:p>
          <a:p>
            <a:pPr lvl="1" algn="just">
              <a:buNone/>
            </a:pPr>
            <a:r>
              <a:rPr lang="en-US" sz="2000" dirty="0">
                <a:latin typeface="Times New Roman" pitchFamily="18" charset="0"/>
                <a:cs typeface="Times New Roman" pitchFamily="18" charset="0"/>
              </a:rPr>
              <a:t>      (¬ p</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 ^ (p</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 ˅ p</a:t>
            </a:r>
            <a:r>
              <a:rPr lang="en-US" sz="2000" baseline="-25000" dirty="0">
                <a:latin typeface="Times New Roman" pitchFamily="18" charset="0"/>
                <a:cs typeface="Times New Roman" pitchFamily="18" charset="0"/>
              </a:rPr>
              <a:t>2</a:t>
            </a:r>
            <a:r>
              <a:rPr lang="en-US" sz="2000" dirty="0">
                <a:latin typeface="Times New Roman" pitchFamily="18" charset="0"/>
                <a:cs typeface="Times New Roman" pitchFamily="18" charset="0"/>
              </a:rPr>
              <a:t>) ^ ¬ p</a:t>
            </a:r>
            <a:r>
              <a:rPr lang="en-US" sz="2000" baseline="-25000" dirty="0">
                <a:latin typeface="Times New Roman" pitchFamily="18" charset="0"/>
                <a:cs typeface="Times New Roman" pitchFamily="18" charset="0"/>
              </a:rPr>
              <a:t>2</a:t>
            </a:r>
            <a:r>
              <a:rPr lang="en-US" sz="2000" dirty="0">
                <a:latin typeface="Times New Roman" pitchFamily="18" charset="0"/>
                <a:cs typeface="Times New Roman" pitchFamily="18" charset="0"/>
              </a:rPr>
              <a:t>) ˅ p</a:t>
            </a:r>
            <a:r>
              <a:rPr lang="en-US" sz="2000" baseline="-25000" dirty="0">
                <a:latin typeface="Times New Roman" pitchFamily="18" charset="0"/>
                <a:cs typeface="Times New Roman" pitchFamily="18" charset="0"/>
              </a:rPr>
              <a:t>3</a:t>
            </a: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83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88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Elimination of Redundancy</a:t>
            </a:r>
            <a:endParaRPr lang="en-US" sz="2400" dirty="0">
              <a:latin typeface="Times New Roman" pitchFamily="18" charset="0"/>
              <a:cs typeface="Times New Roman" pitchFamily="18" charset="0"/>
            </a:endParaRPr>
          </a:p>
          <a:p>
            <a:pPr algn="just">
              <a:buNone/>
            </a:pP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The disjunctive normal form for this qualification is obtained by applying rule 5 which yields:</a:t>
            </a:r>
          </a:p>
          <a:p>
            <a:pPr algn="just">
              <a:buNone/>
            </a:pPr>
            <a:r>
              <a:rPr lang="en-US" sz="2000" dirty="0">
                <a:latin typeface="Times New Roman" pitchFamily="18" charset="0"/>
                <a:cs typeface="Times New Roman" pitchFamily="18" charset="0"/>
              </a:rPr>
              <a:t>     		(¬ p</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 ^ ((p</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 ^ ¬ p</a:t>
            </a:r>
            <a:r>
              <a:rPr lang="en-US" sz="2000" baseline="-25000" dirty="0">
                <a:latin typeface="Times New Roman" pitchFamily="18" charset="0"/>
                <a:cs typeface="Times New Roman" pitchFamily="18" charset="0"/>
              </a:rPr>
              <a:t>2</a:t>
            </a:r>
            <a:r>
              <a:rPr lang="en-US" sz="2000" dirty="0">
                <a:latin typeface="Times New Roman" pitchFamily="18" charset="0"/>
                <a:cs typeface="Times New Roman" pitchFamily="18" charset="0"/>
              </a:rPr>
              <a:t>) ˅ (p</a:t>
            </a:r>
            <a:r>
              <a:rPr lang="en-US" sz="2000" baseline="-25000" dirty="0">
                <a:latin typeface="Times New Roman" pitchFamily="18" charset="0"/>
                <a:cs typeface="Times New Roman" pitchFamily="18" charset="0"/>
              </a:rPr>
              <a:t>2</a:t>
            </a:r>
            <a:r>
              <a:rPr lang="en-US" sz="2000" dirty="0">
                <a:latin typeface="Times New Roman" pitchFamily="18" charset="0"/>
                <a:cs typeface="Times New Roman" pitchFamily="18" charset="0"/>
              </a:rPr>
              <a:t> ^ ¬ p</a:t>
            </a:r>
            <a:r>
              <a:rPr lang="en-US" sz="2000" baseline="-25000" dirty="0">
                <a:latin typeface="Times New Roman" pitchFamily="18" charset="0"/>
                <a:cs typeface="Times New Roman" pitchFamily="18" charset="0"/>
              </a:rPr>
              <a:t>2</a:t>
            </a:r>
            <a:r>
              <a:rPr lang="en-US" sz="2000" dirty="0">
                <a:latin typeface="Times New Roman" pitchFamily="18" charset="0"/>
                <a:cs typeface="Times New Roman" pitchFamily="18" charset="0"/>
              </a:rPr>
              <a:t>))) ˅ p</a:t>
            </a:r>
            <a:r>
              <a:rPr lang="en-US" sz="2000" baseline="-25000" dirty="0">
                <a:latin typeface="Times New Roman" pitchFamily="18" charset="0"/>
                <a:cs typeface="Times New Roman" pitchFamily="18" charset="0"/>
              </a:rPr>
              <a:t>3</a:t>
            </a:r>
            <a:endParaRPr lang="en-US" sz="20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and then rule 3 yields:</a:t>
            </a:r>
          </a:p>
          <a:p>
            <a:pPr algn="just">
              <a:buNone/>
            </a:pPr>
            <a:r>
              <a:rPr lang="en-US" sz="2000" dirty="0">
                <a:latin typeface="Times New Roman" pitchFamily="18" charset="0"/>
                <a:cs typeface="Times New Roman" pitchFamily="18" charset="0"/>
              </a:rPr>
              <a:t>     		(¬ p</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 ^ p</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 ^ ¬ p</a:t>
            </a:r>
            <a:r>
              <a:rPr lang="en-US" sz="2000" baseline="-25000" dirty="0">
                <a:latin typeface="Times New Roman" pitchFamily="18" charset="0"/>
                <a:cs typeface="Times New Roman" pitchFamily="18" charset="0"/>
              </a:rPr>
              <a:t>2</a:t>
            </a:r>
            <a:r>
              <a:rPr lang="en-US" sz="2000" dirty="0">
                <a:latin typeface="Times New Roman" pitchFamily="18" charset="0"/>
                <a:cs typeface="Times New Roman" pitchFamily="18" charset="0"/>
              </a:rPr>
              <a:t>) ˅ (¬ p</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 ^ p</a:t>
            </a:r>
            <a:r>
              <a:rPr lang="en-US" sz="2000" baseline="-25000" dirty="0">
                <a:latin typeface="Times New Roman" pitchFamily="18" charset="0"/>
                <a:cs typeface="Times New Roman" pitchFamily="18" charset="0"/>
              </a:rPr>
              <a:t>2</a:t>
            </a:r>
            <a:r>
              <a:rPr lang="en-US" sz="2000" dirty="0">
                <a:latin typeface="Times New Roman" pitchFamily="18" charset="0"/>
                <a:cs typeface="Times New Roman" pitchFamily="18" charset="0"/>
              </a:rPr>
              <a:t> ^ ¬ p</a:t>
            </a:r>
            <a:r>
              <a:rPr lang="en-US" sz="2000" baseline="-25000" dirty="0">
                <a:latin typeface="Times New Roman" pitchFamily="18" charset="0"/>
                <a:cs typeface="Times New Roman" pitchFamily="18" charset="0"/>
              </a:rPr>
              <a:t>2</a:t>
            </a:r>
            <a:r>
              <a:rPr lang="en-US" sz="2000" dirty="0">
                <a:latin typeface="Times New Roman" pitchFamily="18" charset="0"/>
                <a:cs typeface="Times New Roman" pitchFamily="18" charset="0"/>
              </a:rPr>
              <a:t>) ˅ p</a:t>
            </a:r>
            <a:r>
              <a:rPr lang="en-US" sz="2000" baseline="-25000" dirty="0">
                <a:latin typeface="Times New Roman" pitchFamily="18" charset="0"/>
                <a:cs typeface="Times New Roman" pitchFamily="18" charset="0"/>
              </a:rPr>
              <a:t>3</a:t>
            </a:r>
            <a:endParaRPr lang="en-US" sz="2000" dirty="0">
              <a:latin typeface="Times New Roman" pitchFamily="18" charset="0"/>
              <a:cs typeface="Times New Roman" pitchFamily="18" charset="0"/>
            </a:endParaRPr>
          </a:p>
          <a:p>
            <a:pPr algn="just">
              <a:buNone/>
            </a:pPr>
            <a:r>
              <a:rPr lang="en-US" sz="1400" dirty="0">
                <a:latin typeface="Times New Roman" pitchFamily="18" charset="0"/>
                <a:cs typeface="Times New Roman" pitchFamily="18" charset="0"/>
              </a:rPr>
              <a:t> </a:t>
            </a:r>
          </a:p>
          <a:p>
            <a:pPr algn="just">
              <a:buNone/>
            </a:pPr>
            <a:r>
              <a:rPr lang="en-US" sz="2000" dirty="0">
                <a:latin typeface="Times New Roman" pitchFamily="18" charset="0"/>
                <a:cs typeface="Times New Roman" pitchFamily="18" charset="0"/>
              </a:rPr>
              <a:t>	By applying rule 7, we obtain</a:t>
            </a:r>
          </a:p>
          <a:p>
            <a:pPr algn="just">
              <a:buNone/>
            </a:pPr>
            <a:r>
              <a:rPr lang="en-US" sz="2000" dirty="0">
                <a:latin typeface="Times New Roman" pitchFamily="18" charset="0"/>
                <a:cs typeface="Times New Roman" pitchFamily="18" charset="0"/>
              </a:rPr>
              <a:t>     		(false ^ ¬ p</a:t>
            </a:r>
            <a:r>
              <a:rPr lang="en-US" sz="2000" baseline="-25000" dirty="0">
                <a:latin typeface="Times New Roman" pitchFamily="18" charset="0"/>
                <a:cs typeface="Times New Roman" pitchFamily="18" charset="0"/>
              </a:rPr>
              <a:t>2</a:t>
            </a:r>
            <a:r>
              <a:rPr lang="en-US" sz="2000" dirty="0">
                <a:latin typeface="Times New Roman" pitchFamily="18" charset="0"/>
                <a:cs typeface="Times New Roman" pitchFamily="18" charset="0"/>
              </a:rPr>
              <a:t>) ˅ (¬ p</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 ^ false) ˅ p</a:t>
            </a:r>
            <a:r>
              <a:rPr lang="en-US" sz="2000" baseline="-25000" dirty="0">
                <a:latin typeface="Times New Roman" pitchFamily="18" charset="0"/>
                <a:cs typeface="Times New Roman" pitchFamily="18" charset="0"/>
              </a:rPr>
              <a:t>3</a:t>
            </a:r>
            <a:endParaRPr lang="en-US" sz="2000" dirty="0">
              <a:latin typeface="Times New Roman" pitchFamily="18" charset="0"/>
              <a:cs typeface="Times New Roman" pitchFamily="18" charset="0"/>
            </a:endParaRPr>
          </a:p>
          <a:p>
            <a:pPr algn="just">
              <a:buNone/>
            </a:pPr>
            <a:r>
              <a:rPr lang="en-US" sz="1400" dirty="0">
                <a:latin typeface="Times New Roman" pitchFamily="18" charset="0"/>
                <a:cs typeface="Times New Roman" pitchFamily="18" charset="0"/>
              </a:rPr>
              <a:t> </a:t>
            </a:r>
          </a:p>
          <a:p>
            <a:pPr algn="just">
              <a:buNone/>
            </a:pPr>
            <a:r>
              <a:rPr lang="en-US" sz="2000" dirty="0">
                <a:latin typeface="Times New Roman" pitchFamily="18" charset="0"/>
                <a:cs typeface="Times New Roman" pitchFamily="18" charset="0"/>
              </a:rPr>
              <a:t>	By applying the same rule, we get</a:t>
            </a:r>
          </a:p>
          <a:p>
            <a:pPr algn="just">
              <a:buNone/>
            </a:pPr>
            <a:r>
              <a:rPr lang="en-US" sz="2000" dirty="0">
                <a:latin typeface="Times New Roman" pitchFamily="18" charset="0"/>
                <a:cs typeface="Times New Roman" pitchFamily="18" charset="0"/>
              </a:rPr>
              <a:t>     		(false ˅ false) ˅ p</a:t>
            </a:r>
            <a:r>
              <a:rPr lang="en-US" sz="2000" baseline="-25000" dirty="0">
                <a:latin typeface="Times New Roman" pitchFamily="18" charset="0"/>
                <a:cs typeface="Times New Roman" pitchFamily="18" charset="0"/>
              </a:rPr>
              <a:t>3</a:t>
            </a:r>
            <a:endParaRPr lang="en-US" sz="2000" dirty="0">
              <a:latin typeface="Times New Roman" pitchFamily="18" charset="0"/>
              <a:cs typeface="Times New Roman" pitchFamily="18" charset="0"/>
            </a:endParaRPr>
          </a:p>
          <a:p>
            <a:pPr algn="just">
              <a:buNone/>
            </a:pPr>
            <a:endParaRPr lang="en-US" sz="12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which is equivalent to p</a:t>
            </a:r>
            <a:r>
              <a:rPr lang="en-US" sz="2000" b="1" baseline="-25000" dirty="0">
                <a:latin typeface="Times New Roman" pitchFamily="18" charset="0"/>
                <a:cs typeface="Times New Roman" pitchFamily="18" charset="0"/>
              </a:rPr>
              <a:t>3</a:t>
            </a:r>
            <a:r>
              <a:rPr lang="en-US" sz="2000" b="1" dirty="0">
                <a:latin typeface="Times New Roman" pitchFamily="18" charset="0"/>
                <a:cs typeface="Times New Roman" pitchFamily="18" charset="0"/>
              </a:rPr>
              <a:t> by rule 4.</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83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88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Rewriting</a:t>
            </a:r>
            <a:endParaRPr lang="en-US" sz="2400" dirty="0">
              <a:latin typeface="Times New Roman" pitchFamily="18" charset="0"/>
              <a:cs typeface="Times New Roman" pitchFamily="18" charset="0"/>
            </a:endParaRPr>
          </a:p>
          <a:p>
            <a:pPr lvl="0">
              <a:buNone/>
            </a:pPr>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The last step of query decomposition rewrites the query in </a:t>
            </a:r>
            <a:r>
              <a:rPr lang="en-US" sz="2000" b="1" dirty="0">
                <a:latin typeface="Times New Roman" pitchFamily="18" charset="0"/>
                <a:cs typeface="Times New Roman" pitchFamily="18" charset="0"/>
              </a:rPr>
              <a:t>relational algebra. </a:t>
            </a:r>
          </a:p>
          <a:p>
            <a:pPr lvl="1" algn="just">
              <a:buFont typeface="Wingdings" pitchFamily="2" charset="2"/>
              <a:buChar char="Ø"/>
            </a:pPr>
            <a:r>
              <a:rPr lang="en-US" sz="2000" dirty="0">
                <a:latin typeface="Times New Roman" pitchFamily="18" charset="0"/>
                <a:cs typeface="Times New Roman" pitchFamily="18" charset="0"/>
              </a:rPr>
              <a:t>For the sake of clarity it is customary to represent the relational algebra query graphically by an </a:t>
            </a:r>
            <a:r>
              <a:rPr lang="en-US" sz="2000" b="1" dirty="0">
                <a:latin typeface="Times New Roman" pitchFamily="18" charset="0"/>
                <a:cs typeface="Times New Roman" pitchFamily="18" charset="0"/>
              </a:rPr>
              <a:t>operator tree</a:t>
            </a:r>
            <a:r>
              <a:rPr lang="en-US" sz="2000" dirty="0">
                <a:latin typeface="Times New Roman" pitchFamily="18" charset="0"/>
                <a:cs typeface="Times New Roman" pitchFamily="18" charset="0"/>
              </a:rPr>
              <a:t>. </a:t>
            </a:r>
          </a:p>
          <a:p>
            <a:pPr lvl="1" algn="just">
              <a:buFont typeface="Wingdings" pitchFamily="2" charset="2"/>
              <a:buChar char="Ø"/>
            </a:pPr>
            <a:r>
              <a:rPr lang="en-US" sz="2000" dirty="0">
                <a:latin typeface="Times New Roman" pitchFamily="18" charset="0"/>
                <a:cs typeface="Times New Roman" pitchFamily="18" charset="0"/>
              </a:rPr>
              <a:t>An operator tree is a tree in which a leaf node is a relation stored in the database, and a non-leaf node is an intermediate relation produced by a relational algebra operator. The sequence of operations is directed from the leaves to the root, which represents the answer to the query.</a:t>
            </a:r>
          </a:p>
          <a:p>
            <a:pPr lvl="1" algn="just">
              <a:buFont typeface="Wingdings" pitchFamily="2" charset="2"/>
              <a:buChar char="Ø"/>
            </a:pPr>
            <a:endParaRPr lang="en-US" sz="2000" b="1"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83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88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Rewriting</a:t>
            </a:r>
          </a:p>
          <a:p>
            <a:pPr algn="just">
              <a:buNone/>
            </a:pP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The transformation of a </a:t>
            </a:r>
            <a:r>
              <a:rPr lang="en-US" sz="2000" dirty="0" err="1">
                <a:latin typeface="Times New Roman" pitchFamily="18" charset="0"/>
                <a:cs typeface="Times New Roman" pitchFamily="18" charset="0"/>
              </a:rPr>
              <a:t>tuple</a:t>
            </a:r>
            <a:r>
              <a:rPr lang="en-US" sz="2000" dirty="0">
                <a:latin typeface="Times New Roman" pitchFamily="18" charset="0"/>
                <a:cs typeface="Times New Roman" pitchFamily="18" charset="0"/>
              </a:rPr>
              <a:t> relational calculus query into an operator tree can easily be achieved as follows:</a:t>
            </a:r>
          </a:p>
          <a:p>
            <a:pPr algn="just">
              <a:buNone/>
            </a:pPr>
            <a:endParaRPr lang="en-US" sz="12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First, a different leaf is created for each different </a:t>
            </a:r>
            <a:r>
              <a:rPr lang="en-US" sz="2000" dirty="0" err="1">
                <a:latin typeface="Times New Roman" pitchFamily="18" charset="0"/>
                <a:cs typeface="Times New Roman" pitchFamily="18" charset="0"/>
              </a:rPr>
              <a:t>tuple</a:t>
            </a:r>
            <a:r>
              <a:rPr lang="en-US" sz="2000" dirty="0">
                <a:latin typeface="Times New Roman" pitchFamily="18" charset="0"/>
                <a:cs typeface="Times New Roman" pitchFamily="18" charset="0"/>
              </a:rPr>
              <a:t> variable (corresponding to a relation). In SQL, the leaves are immediately available in the </a:t>
            </a:r>
            <a:r>
              <a:rPr lang="en-US" sz="2000" b="1" dirty="0">
                <a:latin typeface="Times New Roman" pitchFamily="18" charset="0"/>
                <a:cs typeface="Times New Roman" pitchFamily="18" charset="0"/>
              </a:rPr>
              <a:t>FROM clause</a:t>
            </a:r>
            <a:r>
              <a:rPr lang="en-US" sz="2000" dirty="0">
                <a:latin typeface="Times New Roman" pitchFamily="18" charset="0"/>
                <a:cs typeface="Times New Roman" pitchFamily="18" charset="0"/>
              </a:rPr>
              <a:t>. </a:t>
            </a:r>
          </a:p>
          <a:p>
            <a:pPr lvl="1" algn="just">
              <a:buFont typeface="Wingdings" pitchFamily="2" charset="2"/>
              <a:buChar char="Ø"/>
            </a:pPr>
            <a:r>
              <a:rPr lang="en-US" sz="2000" dirty="0">
                <a:latin typeface="Times New Roman" pitchFamily="18" charset="0"/>
                <a:cs typeface="Times New Roman" pitchFamily="18" charset="0"/>
              </a:rPr>
              <a:t>Second, </a:t>
            </a:r>
            <a:r>
              <a:rPr lang="en-US" sz="2000" b="1" dirty="0">
                <a:latin typeface="Times New Roman" pitchFamily="18" charset="0"/>
                <a:cs typeface="Times New Roman" pitchFamily="18" charset="0"/>
              </a:rPr>
              <a:t>the root node is created as a project operation</a:t>
            </a:r>
            <a:r>
              <a:rPr lang="en-US" sz="2000" dirty="0">
                <a:latin typeface="Times New Roman" pitchFamily="18" charset="0"/>
                <a:cs typeface="Times New Roman" pitchFamily="18" charset="0"/>
              </a:rPr>
              <a:t> involving the result attributes. These are found in the </a:t>
            </a:r>
            <a:r>
              <a:rPr lang="en-US" sz="2000" b="1" dirty="0">
                <a:latin typeface="Times New Roman" pitchFamily="18" charset="0"/>
                <a:cs typeface="Times New Roman" pitchFamily="18" charset="0"/>
              </a:rPr>
              <a:t>SELECT clause in SQL. </a:t>
            </a:r>
          </a:p>
          <a:p>
            <a:pPr lvl="1" algn="just">
              <a:buFont typeface="Wingdings" pitchFamily="2" charset="2"/>
              <a:buChar char="Ø"/>
            </a:pPr>
            <a:r>
              <a:rPr lang="en-US" sz="2000" dirty="0">
                <a:latin typeface="Times New Roman" pitchFamily="18" charset="0"/>
                <a:cs typeface="Times New Roman" pitchFamily="18" charset="0"/>
              </a:rPr>
              <a:t>Third, the qualification (SQL </a:t>
            </a:r>
            <a:r>
              <a:rPr lang="en-US" sz="2000" b="1" dirty="0">
                <a:latin typeface="Times New Roman" pitchFamily="18" charset="0"/>
                <a:cs typeface="Times New Roman" pitchFamily="18" charset="0"/>
              </a:rPr>
              <a:t>WHERE clause</a:t>
            </a:r>
            <a:r>
              <a:rPr lang="en-US" sz="2000" dirty="0">
                <a:latin typeface="Times New Roman" pitchFamily="18" charset="0"/>
                <a:cs typeface="Times New Roman" pitchFamily="18" charset="0"/>
              </a:rPr>
              <a:t>) is translated into the appropriate sequence of relational operations (select, join, union, etc.) going from the leaves to the root. The sequence can be given directly by the order of appearance of the predicates and operators.</a:t>
            </a:r>
            <a:endParaRPr lang="en-US" sz="2000" b="1"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83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88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Rewriting</a:t>
            </a:r>
          </a:p>
          <a:p>
            <a:pPr algn="just">
              <a:buNone/>
            </a:pPr>
            <a:r>
              <a:rPr lang="en-US" sz="2000" b="1" dirty="0">
                <a:latin typeface="Times New Roman" pitchFamily="18" charset="0"/>
                <a:cs typeface="Times New Roman" pitchFamily="18" charset="0"/>
              </a:rPr>
              <a:t>	Example</a:t>
            </a:r>
            <a:r>
              <a:rPr lang="en-US" sz="2000" dirty="0">
                <a:latin typeface="Times New Roman" pitchFamily="18" charset="0"/>
                <a:cs typeface="Times New Roman" pitchFamily="18" charset="0"/>
              </a:rPr>
              <a:t>:</a:t>
            </a:r>
          </a:p>
          <a:p>
            <a:pPr algn="just">
              <a:buNone/>
            </a:pPr>
            <a:r>
              <a:rPr lang="en-US" sz="2000" dirty="0">
                <a:latin typeface="Times New Roman" pitchFamily="18" charset="0"/>
                <a:cs typeface="Times New Roman" pitchFamily="18" charset="0"/>
              </a:rPr>
              <a:t>	“Find the names of employees other than Mr. X who worked on the CAD/CAM project for either one or two years” whose SQL expression is:</a:t>
            </a:r>
          </a:p>
          <a:p>
            <a:pPr algn="just">
              <a:buNone/>
            </a:pPr>
            <a:endParaRPr lang="en-US" sz="2000" dirty="0">
              <a:latin typeface="Times New Roman" pitchFamily="18" charset="0"/>
              <a:cs typeface="Times New Roman" pitchFamily="18" charset="0"/>
            </a:endParaRPr>
          </a:p>
          <a:p>
            <a:pPr lvl="2" algn="just">
              <a:buNone/>
            </a:pPr>
            <a:r>
              <a:rPr lang="en-US" sz="2000" dirty="0">
                <a:latin typeface="Times New Roman" pitchFamily="18" charset="0"/>
                <a:cs typeface="Times New Roman" pitchFamily="18" charset="0"/>
              </a:rPr>
              <a:t>SELECT      ENAME</a:t>
            </a:r>
          </a:p>
          <a:p>
            <a:pPr lvl="2" algn="just">
              <a:buNone/>
            </a:pPr>
            <a:r>
              <a:rPr lang="en-US" sz="2000" dirty="0">
                <a:latin typeface="Times New Roman" pitchFamily="18" charset="0"/>
                <a:cs typeface="Times New Roman" pitchFamily="18" charset="0"/>
              </a:rPr>
              <a:t>FROM         PROJ, ASG, EMP</a:t>
            </a:r>
          </a:p>
          <a:p>
            <a:pPr lvl="2" algn="just">
              <a:buNone/>
            </a:pPr>
            <a:r>
              <a:rPr lang="en-US" sz="2000" dirty="0">
                <a:latin typeface="Times New Roman" pitchFamily="18" charset="0"/>
                <a:cs typeface="Times New Roman" pitchFamily="18" charset="0"/>
              </a:rPr>
              <a:t>WHERE      ASG.ENO = EMP.ENO</a:t>
            </a:r>
          </a:p>
          <a:p>
            <a:pPr lvl="2" algn="just">
              <a:buNone/>
            </a:pPr>
            <a:r>
              <a:rPr lang="en-US" sz="2000" dirty="0">
                <a:latin typeface="Times New Roman" pitchFamily="18" charset="0"/>
                <a:cs typeface="Times New Roman" pitchFamily="18" charset="0"/>
              </a:rPr>
              <a:t>	     AND    ASG.PNO = PROJ.PNO</a:t>
            </a:r>
          </a:p>
          <a:p>
            <a:pPr lvl="2" algn="just">
              <a:buNone/>
            </a:pPr>
            <a:r>
              <a:rPr lang="en-US" sz="2000" dirty="0">
                <a:latin typeface="Times New Roman" pitchFamily="18" charset="0"/>
                <a:cs typeface="Times New Roman" pitchFamily="18" charset="0"/>
              </a:rPr>
              <a:t>	     AND    ENAME != “Mr. X"</a:t>
            </a:r>
          </a:p>
          <a:p>
            <a:pPr lvl="2" algn="just">
              <a:buNone/>
            </a:pPr>
            <a:r>
              <a:rPr lang="en-US" sz="2000" dirty="0">
                <a:latin typeface="Times New Roman" pitchFamily="18" charset="0"/>
                <a:cs typeface="Times New Roman" pitchFamily="18" charset="0"/>
              </a:rPr>
              <a:t>        AND     PROJ.PNAME = "CAD/CAM"</a:t>
            </a:r>
          </a:p>
          <a:p>
            <a:pPr lvl="2" algn="just">
              <a:buNone/>
            </a:pPr>
            <a:r>
              <a:rPr lang="en-US" sz="2000" dirty="0">
                <a:latin typeface="Times New Roman" pitchFamily="18" charset="0"/>
                <a:cs typeface="Times New Roman" pitchFamily="18" charset="0"/>
              </a:rPr>
              <a:t>        AND    (DUR = 12 OR DUR = 24)</a:t>
            </a:r>
          </a:p>
          <a:p>
            <a:pPr algn="just">
              <a:buNone/>
            </a:pP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83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88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Rewriting</a:t>
            </a:r>
          </a:p>
          <a:p>
            <a:pPr algn="just">
              <a:buNone/>
            </a:pPr>
            <a:r>
              <a:rPr lang="en-US" sz="2000" dirty="0">
                <a:latin typeface="Times New Roman" pitchFamily="18" charset="0"/>
                <a:cs typeface="Times New Roman" pitchFamily="18" charset="0"/>
              </a:rPr>
              <a:t>	Operator Tree:</a:t>
            </a:r>
          </a:p>
          <a:p>
            <a:pPr algn="just">
              <a:buNone/>
            </a:pP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83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88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79874" name="Group 2"/>
          <p:cNvGrpSpPr>
            <a:grpSpLocks noChangeAspect="1"/>
          </p:cNvGrpSpPr>
          <p:nvPr/>
        </p:nvGrpSpPr>
        <p:grpSpPr bwMode="auto">
          <a:xfrm>
            <a:off x="914400" y="1905066"/>
            <a:ext cx="7404431" cy="4724400"/>
            <a:chOff x="1440" y="1533"/>
            <a:chExt cx="9027" cy="5761"/>
          </a:xfrm>
        </p:grpSpPr>
        <p:sp>
          <p:nvSpPr>
            <p:cNvPr id="79875" name="AutoShape 3"/>
            <p:cNvSpPr>
              <a:spLocks noChangeAspect="1" noChangeArrowheads="1"/>
            </p:cNvSpPr>
            <p:nvPr/>
          </p:nvSpPr>
          <p:spPr bwMode="auto">
            <a:xfrm>
              <a:off x="1440" y="1533"/>
              <a:ext cx="9027" cy="576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pSp>
          <p:nvGrpSpPr>
            <p:cNvPr id="79876" name="Group 4"/>
            <p:cNvGrpSpPr>
              <a:grpSpLocks/>
            </p:cNvGrpSpPr>
            <p:nvPr/>
          </p:nvGrpSpPr>
          <p:grpSpPr bwMode="auto">
            <a:xfrm>
              <a:off x="3484" y="1560"/>
              <a:ext cx="5921" cy="5362"/>
              <a:chOff x="3484" y="1560"/>
              <a:chExt cx="5921" cy="5362"/>
            </a:xfrm>
          </p:grpSpPr>
          <p:grpSp>
            <p:nvGrpSpPr>
              <p:cNvPr id="79877" name="Group 5"/>
              <p:cNvGrpSpPr>
                <a:grpSpLocks/>
              </p:cNvGrpSpPr>
              <p:nvPr/>
            </p:nvGrpSpPr>
            <p:grpSpPr bwMode="auto">
              <a:xfrm>
                <a:off x="3484" y="1560"/>
                <a:ext cx="4509" cy="5362"/>
                <a:chOff x="3484" y="1560"/>
                <a:chExt cx="4509" cy="5362"/>
              </a:xfrm>
            </p:grpSpPr>
            <p:sp>
              <p:nvSpPr>
                <p:cNvPr id="79878" name="Text Box 6"/>
                <p:cNvSpPr txBox="1">
                  <a:spLocks noChangeArrowheads="1"/>
                </p:cNvSpPr>
                <p:nvPr/>
              </p:nvSpPr>
              <p:spPr bwMode="auto">
                <a:xfrm>
                  <a:off x="5146" y="1560"/>
                  <a:ext cx="1682" cy="631"/>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Times New Roman" pitchFamily="18" charset="0"/>
                      <a:cs typeface="Arial" pitchFamily="34" charset="0"/>
                    </a:rPr>
                    <a:t>Π</a:t>
                  </a:r>
                  <a:r>
                    <a:rPr kumimoji="0" lang="en-US" b="0" i="0" u="none" strike="noStrike" cap="none" normalizeH="0" baseline="-25000" dirty="0">
                      <a:ln>
                        <a:noFill/>
                      </a:ln>
                      <a:solidFill>
                        <a:schemeClr val="tx1"/>
                      </a:solidFill>
                      <a:effectLst/>
                      <a:latin typeface="Times New Roman" pitchFamily="18" charset="0"/>
                      <a:cs typeface="Arial" pitchFamily="34" charset="0"/>
                    </a:rPr>
                    <a:t>ENAME</a:t>
                  </a:r>
                  <a:endParaRPr kumimoji="0" lang="en-US" b="0" i="0" u="none" strike="noStrike" cap="none" normalizeH="0" baseline="0" dirty="0">
                    <a:ln>
                      <a:noFill/>
                    </a:ln>
                    <a:solidFill>
                      <a:schemeClr val="tx1"/>
                    </a:solidFill>
                    <a:effectLst/>
                    <a:latin typeface="Arial" pitchFamily="34" charset="0"/>
                    <a:cs typeface="Arial" pitchFamily="34" charset="0"/>
                  </a:endParaRPr>
                </a:p>
              </p:txBody>
            </p:sp>
            <p:sp>
              <p:nvSpPr>
                <p:cNvPr id="79879" name="Text Box 7"/>
                <p:cNvSpPr txBox="1">
                  <a:spLocks noChangeArrowheads="1"/>
                </p:cNvSpPr>
                <p:nvPr/>
              </p:nvSpPr>
              <p:spPr bwMode="auto">
                <a:xfrm>
                  <a:off x="4621" y="2938"/>
                  <a:ext cx="2159" cy="63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err="1">
                      <a:ln>
                        <a:noFill/>
                      </a:ln>
                      <a:solidFill>
                        <a:schemeClr val="tx1"/>
                      </a:solidFill>
                      <a:effectLst/>
                      <a:latin typeface="Times New Roman" pitchFamily="18" charset="0"/>
                      <a:cs typeface="Arial" pitchFamily="34" charset="0"/>
                    </a:rPr>
                    <a:t>σ</a:t>
                  </a:r>
                  <a:r>
                    <a:rPr kumimoji="0" lang="en-US" b="0" i="0" u="none" strike="noStrike" cap="none" normalizeH="0" baseline="-25000" dirty="0" err="1">
                      <a:ln>
                        <a:noFill/>
                      </a:ln>
                      <a:solidFill>
                        <a:schemeClr val="tx1"/>
                      </a:solidFill>
                      <a:effectLst/>
                      <a:latin typeface="Times New Roman" pitchFamily="18" charset="0"/>
                      <a:cs typeface="Arial" pitchFamily="34" charset="0"/>
                    </a:rPr>
                    <a:t>PNAME</a:t>
                  </a:r>
                  <a:r>
                    <a:rPr kumimoji="0" lang="en-US" b="0" i="0" u="none" strike="noStrike" cap="none" normalizeH="0" baseline="-25000" dirty="0">
                      <a:ln>
                        <a:noFill/>
                      </a:ln>
                      <a:solidFill>
                        <a:schemeClr val="tx1"/>
                      </a:solidFill>
                      <a:effectLst/>
                      <a:latin typeface="Times New Roman" pitchFamily="18" charset="0"/>
                      <a:cs typeface="Arial" pitchFamily="34" charset="0"/>
                    </a:rPr>
                    <a:t>=”CAD/CAM”</a:t>
                  </a:r>
                  <a:endParaRPr kumimoji="0" lang="en-US" b="0" i="0" u="none" strike="noStrike" cap="none" normalizeH="0" baseline="0" dirty="0">
                    <a:ln>
                      <a:noFill/>
                    </a:ln>
                    <a:solidFill>
                      <a:schemeClr val="tx1"/>
                    </a:solidFill>
                    <a:effectLst/>
                    <a:latin typeface="Arial" pitchFamily="34" charset="0"/>
                    <a:cs typeface="Arial" pitchFamily="34" charset="0"/>
                  </a:endParaRPr>
                </a:p>
              </p:txBody>
            </p:sp>
            <p:sp>
              <p:nvSpPr>
                <p:cNvPr id="79880" name="Text Box 8"/>
                <p:cNvSpPr txBox="1">
                  <a:spLocks noChangeArrowheads="1"/>
                </p:cNvSpPr>
                <p:nvPr/>
              </p:nvSpPr>
              <p:spPr bwMode="auto">
                <a:xfrm>
                  <a:off x="4741" y="2231"/>
                  <a:ext cx="1963" cy="63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err="1">
                      <a:ln>
                        <a:noFill/>
                      </a:ln>
                      <a:solidFill>
                        <a:schemeClr val="tx1"/>
                      </a:solidFill>
                      <a:effectLst/>
                      <a:latin typeface="Times New Roman" pitchFamily="18" charset="0"/>
                      <a:cs typeface="Arial" pitchFamily="34" charset="0"/>
                    </a:rPr>
                    <a:t>σ</a:t>
                  </a:r>
                  <a:r>
                    <a:rPr kumimoji="0" lang="en-US" b="0" i="0" u="none" strike="noStrike" cap="none" normalizeH="0" baseline="-25000" dirty="0" err="1">
                      <a:ln>
                        <a:noFill/>
                      </a:ln>
                      <a:solidFill>
                        <a:schemeClr val="tx1"/>
                      </a:solidFill>
                      <a:effectLst/>
                      <a:latin typeface="Times New Roman" pitchFamily="18" charset="0"/>
                      <a:cs typeface="Arial" pitchFamily="34" charset="0"/>
                    </a:rPr>
                    <a:t>DUR</a:t>
                  </a:r>
                  <a:r>
                    <a:rPr kumimoji="0" lang="en-US" b="0" i="0" u="none" strike="noStrike" cap="none" normalizeH="0" baseline="-25000" dirty="0">
                      <a:ln>
                        <a:noFill/>
                      </a:ln>
                      <a:solidFill>
                        <a:schemeClr val="tx1"/>
                      </a:solidFill>
                      <a:effectLst/>
                      <a:latin typeface="Times New Roman" pitchFamily="18" charset="0"/>
                      <a:cs typeface="Arial" pitchFamily="34" charset="0"/>
                    </a:rPr>
                    <a:t>=12 ˅ DUR=24</a:t>
                  </a:r>
                  <a:endParaRPr kumimoji="0" lang="en-US" b="0" i="0" u="none" strike="noStrike" cap="none" normalizeH="0" baseline="0" dirty="0">
                    <a:ln>
                      <a:noFill/>
                    </a:ln>
                    <a:solidFill>
                      <a:schemeClr val="tx1"/>
                    </a:solidFill>
                    <a:effectLst/>
                    <a:latin typeface="Arial" pitchFamily="34" charset="0"/>
                    <a:cs typeface="Arial" pitchFamily="34" charset="0"/>
                  </a:endParaRPr>
                </a:p>
              </p:txBody>
            </p:sp>
            <p:sp>
              <p:nvSpPr>
                <p:cNvPr id="79881" name="Text Box 9"/>
                <p:cNvSpPr txBox="1">
                  <a:spLocks noChangeArrowheads="1"/>
                </p:cNvSpPr>
                <p:nvPr/>
              </p:nvSpPr>
              <p:spPr bwMode="auto">
                <a:xfrm>
                  <a:off x="4889" y="3647"/>
                  <a:ext cx="1904" cy="63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err="1">
                      <a:ln>
                        <a:noFill/>
                      </a:ln>
                      <a:solidFill>
                        <a:schemeClr val="tx1"/>
                      </a:solidFill>
                      <a:effectLst/>
                      <a:latin typeface="Times New Roman" pitchFamily="18" charset="0"/>
                      <a:cs typeface="Arial" pitchFamily="34" charset="0"/>
                    </a:rPr>
                    <a:t>σ</a:t>
                  </a:r>
                  <a:r>
                    <a:rPr kumimoji="0" lang="en-US" b="0" i="0" u="none" strike="noStrike" cap="none" normalizeH="0" baseline="-25000" dirty="0" err="1">
                      <a:ln>
                        <a:noFill/>
                      </a:ln>
                      <a:solidFill>
                        <a:schemeClr val="tx1"/>
                      </a:solidFill>
                      <a:effectLst/>
                      <a:latin typeface="Times New Roman" pitchFamily="18" charset="0"/>
                      <a:cs typeface="Arial" pitchFamily="34" charset="0"/>
                    </a:rPr>
                    <a:t>ENAME</a:t>
                  </a:r>
                  <a:r>
                    <a:rPr kumimoji="0" lang="en-US" b="0" i="0" u="none" strike="noStrike" cap="none" normalizeH="0" baseline="-25000" dirty="0">
                      <a:ln>
                        <a:noFill/>
                      </a:ln>
                      <a:solidFill>
                        <a:schemeClr val="tx1"/>
                      </a:solidFill>
                      <a:effectLst/>
                      <a:latin typeface="Times New Roman" pitchFamily="18" charset="0"/>
                      <a:cs typeface="Arial" pitchFamily="34" charset="0"/>
                    </a:rPr>
                    <a:t>≠”Mr. </a:t>
                  </a:r>
                  <a:r>
                    <a:rPr kumimoji="0" lang="en-US" b="0" i="0" u="none" strike="noStrike" cap="none" normalizeH="0" baseline="-25000">
                      <a:ln>
                        <a:noFill/>
                      </a:ln>
                      <a:solidFill>
                        <a:schemeClr val="tx1"/>
                      </a:solidFill>
                      <a:effectLst/>
                      <a:latin typeface="Times New Roman" pitchFamily="18" charset="0"/>
                      <a:cs typeface="Arial" pitchFamily="34" charset="0"/>
                    </a:rPr>
                    <a:t>X”</a:t>
                  </a:r>
                  <a:endParaRPr kumimoji="0" lang="en-US" b="0" i="0" u="none" strike="noStrike" cap="none" normalizeH="0" baseline="0" dirty="0">
                    <a:ln>
                      <a:noFill/>
                    </a:ln>
                    <a:solidFill>
                      <a:schemeClr val="tx1"/>
                    </a:solidFill>
                    <a:effectLst/>
                    <a:latin typeface="Arial" pitchFamily="34" charset="0"/>
                    <a:cs typeface="Arial" pitchFamily="34" charset="0"/>
                  </a:endParaRPr>
                </a:p>
              </p:txBody>
            </p:sp>
            <p:grpSp>
              <p:nvGrpSpPr>
                <p:cNvPr id="79882" name="Group 10"/>
                <p:cNvGrpSpPr>
                  <a:grpSpLocks/>
                </p:cNvGrpSpPr>
                <p:nvPr/>
              </p:nvGrpSpPr>
              <p:grpSpPr bwMode="auto">
                <a:xfrm>
                  <a:off x="5240" y="4425"/>
                  <a:ext cx="865" cy="630"/>
                  <a:chOff x="5480" y="4695"/>
                  <a:chExt cx="865" cy="630"/>
                </a:xfrm>
              </p:grpSpPr>
              <p:sp>
                <p:nvSpPr>
                  <p:cNvPr id="79883" name="Text Box 11"/>
                  <p:cNvSpPr txBox="1">
                    <a:spLocks noChangeArrowheads="1"/>
                  </p:cNvSpPr>
                  <p:nvPr/>
                </p:nvSpPr>
                <p:spPr bwMode="auto">
                  <a:xfrm>
                    <a:off x="5596" y="4695"/>
                    <a:ext cx="749" cy="63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a:ln>
                          <a:noFill/>
                        </a:ln>
                        <a:solidFill>
                          <a:schemeClr val="tx1"/>
                        </a:solidFill>
                        <a:effectLst/>
                        <a:latin typeface="Times New Roman" pitchFamily="18" charset="0"/>
                        <a:cs typeface="Arial" pitchFamily="34" charset="0"/>
                      </a:rPr>
                      <a:t> </a:t>
                    </a:r>
                    <a:r>
                      <a:rPr kumimoji="0" lang="en-US" b="0" i="0" u="none" strike="noStrike" cap="none" normalizeH="0" baseline="-25000">
                        <a:ln>
                          <a:noFill/>
                        </a:ln>
                        <a:solidFill>
                          <a:schemeClr val="tx1"/>
                        </a:solidFill>
                        <a:effectLst/>
                        <a:latin typeface="Times New Roman" pitchFamily="18" charset="0"/>
                        <a:cs typeface="Arial" pitchFamily="34" charset="0"/>
                      </a:rPr>
                      <a:t>PNO</a:t>
                    </a:r>
                    <a:endParaRPr kumimoji="0" lang="en-US" b="0" i="0" u="none" strike="noStrike" cap="none" normalizeH="0" baseline="0">
                      <a:ln>
                        <a:noFill/>
                      </a:ln>
                      <a:solidFill>
                        <a:schemeClr val="tx1"/>
                      </a:solidFill>
                      <a:effectLst/>
                      <a:latin typeface="Arial" pitchFamily="34" charset="0"/>
                      <a:cs typeface="Arial" pitchFamily="34" charset="0"/>
                    </a:endParaRPr>
                  </a:p>
                </p:txBody>
              </p:sp>
              <p:sp>
                <p:nvSpPr>
                  <p:cNvPr id="79884" name="AutoShape 12"/>
                  <p:cNvSpPr>
                    <a:spLocks noChangeAspect="1" noChangeArrowheads="1"/>
                  </p:cNvSpPr>
                  <p:nvPr/>
                </p:nvSpPr>
                <p:spPr bwMode="auto">
                  <a:xfrm rot="5400000">
                    <a:off x="5499" y="4796"/>
                    <a:ext cx="173" cy="211"/>
                  </a:xfrm>
                  <a:prstGeom prst="flowChartCollate">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79885" name="Group 13"/>
                <p:cNvGrpSpPr>
                  <a:grpSpLocks/>
                </p:cNvGrpSpPr>
                <p:nvPr/>
              </p:nvGrpSpPr>
              <p:grpSpPr bwMode="auto">
                <a:xfrm>
                  <a:off x="6318" y="5055"/>
                  <a:ext cx="882" cy="630"/>
                  <a:chOff x="5463" y="4695"/>
                  <a:chExt cx="882" cy="630"/>
                </a:xfrm>
              </p:grpSpPr>
              <p:sp>
                <p:nvSpPr>
                  <p:cNvPr id="79886" name="Text Box 14"/>
                  <p:cNvSpPr txBox="1">
                    <a:spLocks noChangeArrowheads="1"/>
                  </p:cNvSpPr>
                  <p:nvPr/>
                </p:nvSpPr>
                <p:spPr bwMode="auto">
                  <a:xfrm>
                    <a:off x="5596" y="4695"/>
                    <a:ext cx="749" cy="63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a:ln>
                          <a:noFill/>
                        </a:ln>
                        <a:solidFill>
                          <a:schemeClr val="tx1"/>
                        </a:solidFill>
                        <a:effectLst/>
                        <a:latin typeface="Times New Roman" pitchFamily="18" charset="0"/>
                        <a:cs typeface="Arial" pitchFamily="34" charset="0"/>
                      </a:rPr>
                      <a:t> </a:t>
                    </a:r>
                    <a:r>
                      <a:rPr kumimoji="0" lang="en-US" b="0" i="0" u="none" strike="noStrike" cap="none" normalizeH="0" baseline="-25000">
                        <a:ln>
                          <a:noFill/>
                        </a:ln>
                        <a:solidFill>
                          <a:schemeClr val="tx1"/>
                        </a:solidFill>
                        <a:effectLst/>
                        <a:latin typeface="Times New Roman" pitchFamily="18" charset="0"/>
                        <a:cs typeface="Arial" pitchFamily="34" charset="0"/>
                      </a:rPr>
                      <a:t>ENO</a:t>
                    </a:r>
                    <a:endParaRPr kumimoji="0" lang="en-US" b="0" i="0" u="none" strike="noStrike" cap="none" normalizeH="0" baseline="0">
                      <a:ln>
                        <a:noFill/>
                      </a:ln>
                      <a:solidFill>
                        <a:schemeClr val="tx1"/>
                      </a:solidFill>
                      <a:effectLst/>
                      <a:latin typeface="Arial" pitchFamily="34" charset="0"/>
                      <a:cs typeface="Arial" pitchFamily="34" charset="0"/>
                    </a:endParaRPr>
                  </a:p>
                </p:txBody>
              </p:sp>
              <p:sp>
                <p:nvSpPr>
                  <p:cNvPr id="79887" name="AutoShape 15"/>
                  <p:cNvSpPr>
                    <a:spLocks noChangeAspect="1" noChangeArrowheads="1"/>
                  </p:cNvSpPr>
                  <p:nvPr/>
                </p:nvSpPr>
                <p:spPr bwMode="auto">
                  <a:xfrm rot="5400000">
                    <a:off x="5482" y="4812"/>
                    <a:ext cx="173" cy="211"/>
                  </a:xfrm>
                  <a:prstGeom prst="flowChartCollate">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cxnSp>
              <p:nvCxnSpPr>
                <p:cNvPr id="79888" name="AutoShape 16"/>
                <p:cNvCxnSpPr>
                  <a:cxnSpLocks noChangeShapeType="1"/>
                </p:cNvCxnSpPr>
                <p:nvPr/>
              </p:nvCxnSpPr>
              <p:spPr bwMode="auto">
                <a:xfrm flipV="1">
                  <a:off x="5700" y="2009"/>
                  <a:ext cx="1" cy="317"/>
                </a:xfrm>
                <a:prstGeom prst="straightConnector1">
                  <a:avLst/>
                </a:prstGeom>
                <a:noFill/>
                <a:ln w="9525">
                  <a:solidFill>
                    <a:srgbClr val="000000"/>
                  </a:solidFill>
                  <a:round/>
                  <a:headEnd/>
                  <a:tailEnd type="triangle" w="med" len="med"/>
                </a:ln>
              </p:spPr>
            </p:cxnSp>
            <p:cxnSp>
              <p:nvCxnSpPr>
                <p:cNvPr id="79889" name="AutoShape 17"/>
                <p:cNvCxnSpPr>
                  <a:cxnSpLocks noChangeShapeType="1"/>
                </p:cNvCxnSpPr>
                <p:nvPr/>
              </p:nvCxnSpPr>
              <p:spPr bwMode="auto">
                <a:xfrm flipV="1">
                  <a:off x="5700" y="2729"/>
                  <a:ext cx="1" cy="317"/>
                </a:xfrm>
                <a:prstGeom prst="straightConnector1">
                  <a:avLst/>
                </a:prstGeom>
                <a:noFill/>
                <a:ln w="9525">
                  <a:solidFill>
                    <a:srgbClr val="000000"/>
                  </a:solidFill>
                  <a:round/>
                  <a:headEnd/>
                  <a:tailEnd type="triangle" w="med" len="med"/>
                </a:ln>
              </p:spPr>
            </p:cxnSp>
            <p:cxnSp>
              <p:nvCxnSpPr>
                <p:cNvPr id="79890" name="AutoShape 18"/>
                <p:cNvCxnSpPr>
                  <a:cxnSpLocks noChangeShapeType="1"/>
                </p:cNvCxnSpPr>
                <p:nvPr/>
              </p:nvCxnSpPr>
              <p:spPr bwMode="auto">
                <a:xfrm flipV="1">
                  <a:off x="5700" y="3419"/>
                  <a:ext cx="1" cy="317"/>
                </a:xfrm>
                <a:prstGeom prst="straightConnector1">
                  <a:avLst/>
                </a:prstGeom>
                <a:noFill/>
                <a:ln w="9525">
                  <a:solidFill>
                    <a:srgbClr val="000000"/>
                  </a:solidFill>
                  <a:round/>
                  <a:headEnd/>
                  <a:tailEnd type="triangle" w="med" len="med"/>
                </a:ln>
              </p:spPr>
            </p:cxnSp>
            <p:cxnSp>
              <p:nvCxnSpPr>
                <p:cNvPr id="79891" name="AutoShape 19"/>
                <p:cNvCxnSpPr>
                  <a:cxnSpLocks noChangeShapeType="1"/>
                </p:cNvCxnSpPr>
                <p:nvPr/>
              </p:nvCxnSpPr>
              <p:spPr bwMode="auto">
                <a:xfrm flipV="1">
                  <a:off x="5700" y="4124"/>
                  <a:ext cx="1" cy="317"/>
                </a:xfrm>
                <a:prstGeom prst="straightConnector1">
                  <a:avLst/>
                </a:prstGeom>
                <a:noFill/>
                <a:ln w="9525">
                  <a:solidFill>
                    <a:srgbClr val="000000"/>
                  </a:solidFill>
                  <a:round/>
                  <a:headEnd/>
                  <a:tailEnd type="triangle" w="med" len="med"/>
                </a:ln>
              </p:spPr>
            </p:cxnSp>
            <p:cxnSp>
              <p:nvCxnSpPr>
                <p:cNvPr id="79892" name="AutoShape 20"/>
                <p:cNvCxnSpPr>
                  <a:cxnSpLocks noChangeShapeType="1"/>
                </p:cNvCxnSpPr>
                <p:nvPr/>
              </p:nvCxnSpPr>
              <p:spPr bwMode="auto">
                <a:xfrm flipH="1" flipV="1">
                  <a:off x="5985" y="4786"/>
                  <a:ext cx="479" cy="285"/>
                </a:xfrm>
                <a:prstGeom prst="straightConnector1">
                  <a:avLst/>
                </a:prstGeom>
                <a:noFill/>
                <a:ln w="9525">
                  <a:solidFill>
                    <a:srgbClr val="000000"/>
                  </a:solidFill>
                  <a:round/>
                  <a:headEnd/>
                  <a:tailEnd type="triangle" w="med" len="med"/>
                </a:ln>
              </p:spPr>
            </p:cxnSp>
            <p:sp>
              <p:nvSpPr>
                <p:cNvPr id="79893" name="Text Box 21"/>
                <p:cNvSpPr txBox="1">
                  <a:spLocks noChangeArrowheads="1"/>
                </p:cNvSpPr>
                <p:nvPr/>
              </p:nvSpPr>
              <p:spPr bwMode="auto">
                <a:xfrm>
                  <a:off x="3484" y="5685"/>
                  <a:ext cx="1046" cy="308"/>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Times New Roman" pitchFamily="18" charset="0"/>
                      <a:cs typeface="Arial" pitchFamily="34" charset="0"/>
                    </a:rPr>
                    <a:t>PROJ</a:t>
                  </a:r>
                  <a:endParaRPr kumimoji="0" lang="en-US" b="0" i="0" u="none" strike="noStrike" cap="none" normalizeH="0" baseline="0" dirty="0">
                    <a:ln>
                      <a:noFill/>
                    </a:ln>
                    <a:solidFill>
                      <a:schemeClr val="tx1"/>
                    </a:solidFill>
                    <a:effectLst/>
                    <a:latin typeface="Arial" pitchFamily="34" charset="0"/>
                    <a:cs typeface="Arial" pitchFamily="34" charset="0"/>
                  </a:endParaRPr>
                </a:p>
              </p:txBody>
            </p:sp>
            <p:sp>
              <p:nvSpPr>
                <p:cNvPr id="79894" name="Text Box 22"/>
                <p:cNvSpPr txBox="1">
                  <a:spLocks noChangeArrowheads="1"/>
                </p:cNvSpPr>
                <p:nvPr/>
              </p:nvSpPr>
              <p:spPr bwMode="auto">
                <a:xfrm>
                  <a:off x="5549" y="5784"/>
                  <a:ext cx="825" cy="337"/>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a:ln>
                        <a:noFill/>
                      </a:ln>
                      <a:solidFill>
                        <a:schemeClr val="tx1"/>
                      </a:solidFill>
                      <a:effectLst/>
                      <a:latin typeface="Times New Roman" pitchFamily="18" charset="0"/>
                      <a:cs typeface="Arial" pitchFamily="34" charset="0"/>
                    </a:rPr>
                    <a:t>ASG</a:t>
                  </a:r>
                  <a:endParaRPr kumimoji="0" lang="en-US" b="0" i="0" u="none" strike="noStrike" cap="none" normalizeH="0" baseline="0">
                    <a:ln>
                      <a:noFill/>
                    </a:ln>
                    <a:solidFill>
                      <a:schemeClr val="tx1"/>
                    </a:solidFill>
                    <a:effectLst/>
                    <a:latin typeface="Arial" pitchFamily="34" charset="0"/>
                    <a:cs typeface="Arial" pitchFamily="34" charset="0"/>
                  </a:endParaRPr>
                </a:p>
              </p:txBody>
            </p:sp>
            <p:sp>
              <p:nvSpPr>
                <p:cNvPr id="79895" name="Text Box 23"/>
                <p:cNvSpPr txBox="1">
                  <a:spLocks noChangeArrowheads="1"/>
                </p:cNvSpPr>
                <p:nvPr/>
              </p:nvSpPr>
              <p:spPr bwMode="auto">
                <a:xfrm>
                  <a:off x="7168" y="5777"/>
                  <a:ext cx="825" cy="337"/>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a:ln>
                        <a:noFill/>
                      </a:ln>
                      <a:solidFill>
                        <a:schemeClr val="tx1"/>
                      </a:solidFill>
                      <a:effectLst/>
                      <a:latin typeface="Times New Roman" pitchFamily="18" charset="0"/>
                      <a:cs typeface="Arial" pitchFamily="34" charset="0"/>
                    </a:rPr>
                    <a:t>EMP</a:t>
                  </a:r>
                  <a:endParaRPr kumimoji="0" lang="en-US" b="0" i="0" u="none" strike="noStrike" cap="none" normalizeH="0" baseline="0">
                    <a:ln>
                      <a:noFill/>
                    </a:ln>
                    <a:solidFill>
                      <a:schemeClr val="tx1"/>
                    </a:solidFill>
                    <a:effectLst/>
                    <a:latin typeface="Arial" pitchFamily="34" charset="0"/>
                    <a:cs typeface="Arial" pitchFamily="34" charset="0"/>
                  </a:endParaRPr>
                </a:p>
              </p:txBody>
            </p:sp>
            <p:cxnSp>
              <p:nvCxnSpPr>
                <p:cNvPr id="79896" name="AutoShape 24"/>
                <p:cNvCxnSpPr>
                  <a:cxnSpLocks noChangeShapeType="1"/>
                </p:cNvCxnSpPr>
                <p:nvPr/>
              </p:nvCxnSpPr>
              <p:spPr bwMode="auto">
                <a:xfrm flipV="1">
                  <a:off x="5939" y="5438"/>
                  <a:ext cx="435" cy="361"/>
                </a:xfrm>
                <a:prstGeom prst="straightConnector1">
                  <a:avLst/>
                </a:prstGeom>
                <a:noFill/>
                <a:ln w="9525">
                  <a:solidFill>
                    <a:srgbClr val="000000"/>
                  </a:solidFill>
                  <a:round/>
                  <a:headEnd/>
                  <a:tailEnd type="triangle" w="med" len="med"/>
                </a:ln>
              </p:spPr>
            </p:cxnSp>
            <p:cxnSp>
              <p:nvCxnSpPr>
                <p:cNvPr id="79897" name="AutoShape 25"/>
                <p:cNvCxnSpPr>
                  <a:cxnSpLocks noChangeShapeType="1"/>
                </p:cNvCxnSpPr>
                <p:nvPr/>
              </p:nvCxnSpPr>
              <p:spPr bwMode="auto">
                <a:xfrm flipH="1" flipV="1">
                  <a:off x="7035" y="5439"/>
                  <a:ext cx="390" cy="360"/>
                </a:xfrm>
                <a:prstGeom prst="straightConnector1">
                  <a:avLst/>
                </a:prstGeom>
                <a:noFill/>
                <a:ln w="9525">
                  <a:solidFill>
                    <a:srgbClr val="000000"/>
                  </a:solidFill>
                  <a:round/>
                  <a:headEnd/>
                  <a:tailEnd type="triangle" w="med" len="med"/>
                </a:ln>
              </p:spPr>
            </p:cxnSp>
            <p:cxnSp>
              <p:nvCxnSpPr>
                <p:cNvPr id="79898" name="AutoShape 26"/>
                <p:cNvCxnSpPr>
                  <a:cxnSpLocks noChangeShapeType="1"/>
                </p:cNvCxnSpPr>
                <p:nvPr/>
              </p:nvCxnSpPr>
              <p:spPr bwMode="auto">
                <a:xfrm flipV="1">
                  <a:off x="4275" y="4876"/>
                  <a:ext cx="871" cy="675"/>
                </a:xfrm>
                <a:prstGeom prst="straightConnector1">
                  <a:avLst/>
                </a:prstGeom>
                <a:noFill/>
                <a:ln w="9525">
                  <a:solidFill>
                    <a:srgbClr val="000000"/>
                  </a:solidFill>
                  <a:round/>
                  <a:headEnd/>
                  <a:tailEnd type="triangle" w="med" len="med"/>
                </a:ln>
              </p:spPr>
            </p:cxnSp>
            <p:sp>
              <p:nvSpPr>
                <p:cNvPr id="79899" name="Text Box 27"/>
                <p:cNvSpPr txBox="1">
                  <a:spLocks noChangeArrowheads="1"/>
                </p:cNvSpPr>
                <p:nvPr/>
              </p:nvSpPr>
              <p:spPr bwMode="auto">
                <a:xfrm>
                  <a:off x="4599" y="6444"/>
                  <a:ext cx="2279" cy="478"/>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Times New Roman" pitchFamily="18" charset="0"/>
                      <a:cs typeface="Arial" pitchFamily="34" charset="0"/>
                    </a:rPr>
                    <a:t>Fig: Operator tree</a:t>
                  </a:r>
                  <a:endParaRPr kumimoji="0" lang="en-US" b="0" i="0" u="none" strike="noStrike" cap="none" normalizeH="0" baseline="0" dirty="0">
                    <a:ln>
                      <a:noFill/>
                    </a:ln>
                    <a:solidFill>
                      <a:schemeClr val="tx1"/>
                    </a:solidFill>
                    <a:effectLst/>
                    <a:latin typeface="Arial" pitchFamily="34" charset="0"/>
                    <a:cs typeface="Arial" pitchFamily="34" charset="0"/>
                  </a:endParaRPr>
                </a:p>
              </p:txBody>
            </p:sp>
          </p:grpSp>
          <p:sp>
            <p:nvSpPr>
              <p:cNvPr id="79900" name="AutoShape 28"/>
              <p:cNvSpPr>
                <a:spLocks/>
              </p:cNvSpPr>
              <p:nvPr/>
            </p:nvSpPr>
            <p:spPr bwMode="auto">
              <a:xfrm>
                <a:off x="7933" y="4500"/>
                <a:ext cx="392" cy="1726"/>
              </a:xfrm>
              <a:prstGeom prst="rightBrace">
                <a:avLst>
                  <a:gd name="adj1" fmla="val 36692"/>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9901" name="AutoShape 29"/>
              <p:cNvSpPr>
                <a:spLocks/>
              </p:cNvSpPr>
              <p:nvPr/>
            </p:nvSpPr>
            <p:spPr bwMode="auto">
              <a:xfrm>
                <a:off x="7935" y="2446"/>
                <a:ext cx="330" cy="1680"/>
              </a:xfrm>
              <a:prstGeom prst="rightBrace">
                <a:avLst>
                  <a:gd name="adj1" fmla="val 42424"/>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9902" name="AutoShape 30"/>
              <p:cNvSpPr>
                <a:spLocks/>
              </p:cNvSpPr>
              <p:nvPr/>
            </p:nvSpPr>
            <p:spPr bwMode="auto">
              <a:xfrm>
                <a:off x="7918" y="1621"/>
                <a:ext cx="272" cy="555"/>
              </a:xfrm>
              <a:prstGeom prst="rightBrace">
                <a:avLst>
                  <a:gd name="adj1" fmla="val 17004"/>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9903" name="Text Box 31"/>
              <p:cNvSpPr txBox="1">
                <a:spLocks noChangeArrowheads="1"/>
              </p:cNvSpPr>
              <p:nvPr/>
            </p:nvSpPr>
            <p:spPr bwMode="auto">
              <a:xfrm>
                <a:off x="8280" y="1651"/>
                <a:ext cx="1020" cy="51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a:ln>
                      <a:noFill/>
                    </a:ln>
                    <a:solidFill>
                      <a:schemeClr val="tx1"/>
                    </a:solidFill>
                    <a:effectLst/>
                    <a:latin typeface="Times New Roman" pitchFamily="18" charset="0"/>
                    <a:cs typeface="Arial" pitchFamily="34" charset="0"/>
                  </a:rPr>
                  <a:t>Project</a:t>
                </a:r>
                <a:endParaRPr kumimoji="0" lang="en-US" b="0" i="0" u="none" strike="noStrike" cap="none" normalizeH="0" baseline="0">
                  <a:ln>
                    <a:noFill/>
                  </a:ln>
                  <a:solidFill>
                    <a:schemeClr val="tx1"/>
                  </a:solidFill>
                  <a:effectLst/>
                  <a:latin typeface="Arial" pitchFamily="34" charset="0"/>
                  <a:cs typeface="Arial" pitchFamily="34" charset="0"/>
                </a:endParaRPr>
              </a:p>
            </p:txBody>
          </p:sp>
          <p:sp>
            <p:nvSpPr>
              <p:cNvPr id="79904" name="Text Box 32"/>
              <p:cNvSpPr txBox="1">
                <a:spLocks noChangeArrowheads="1"/>
              </p:cNvSpPr>
              <p:nvPr/>
            </p:nvSpPr>
            <p:spPr bwMode="auto">
              <a:xfrm>
                <a:off x="8325" y="3059"/>
                <a:ext cx="1020" cy="51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a:ln>
                      <a:noFill/>
                    </a:ln>
                    <a:solidFill>
                      <a:schemeClr val="tx1"/>
                    </a:solidFill>
                    <a:effectLst/>
                    <a:latin typeface="Times New Roman" pitchFamily="18" charset="0"/>
                    <a:cs typeface="Arial" pitchFamily="34" charset="0"/>
                  </a:rPr>
                  <a:t>Select</a:t>
                </a:r>
                <a:endParaRPr kumimoji="0" lang="en-US" b="0" i="0" u="none" strike="noStrike" cap="none" normalizeH="0" baseline="0">
                  <a:ln>
                    <a:noFill/>
                  </a:ln>
                  <a:solidFill>
                    <a:schemeClr val="tx1"/>
                  </a:solidFill>
                  <a:effectLst/>
                  <a:latin typeface="Arial" pitchFamily="34" charset="0"/>
                  <a:cs typeface="Arial" pitchFamily="34" charset="0"/>
                </a:endParaRPr>
              </a:p>
            </p:txBody>
          </p:sp>
          <p:sp>
            <p:nvSpPr>
              <p:cNvPr id="79905" name="Text Box 33"/>
              <p:cNvSpPr txBox="1">
                <a:spLocks noChangeArrowheads="1"/>
              </p:cNvSpPr>
              <p:nvPr/>
            </p:nvSpPr>
            <p:spPr bwMode="auto">
              <a:xfrm>
                <a:off x="8385" y="5116"/>
                <a:ext cx="1020" cy="51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a:ln>
                      <a:noFill/>
                    </a:ln>
                    <a:solidFill>
                      <a:schemeClr val="tx1"/>
                    </a:solidFill>
                    <a:effectLst/>
                    <a:latin typeface="Times New Roman" pitchFamily="18" charset="0"/>
                    <a:cs typeface="Arial" pitchFamily="34" charset="0"/>
                  </a:rPr>
                  <a:t>Join</a:t>
                </a:r>
                <a:endParaRPr kumimoji="0" lang="en-US" b="0" i="0" u="none" strike="noStrike" cap="none" normalizeH="0" baseline="0">
                  <a:ln>
                    <a:noFill/>
                  </a:ln>
                  <a:solidFill>
                    <a:schemeClr val="tx1"/>
                  </a:solidFill>
                  <a:effectLst/>
                  <a:latin typeface="Arial" pitchFamily="34" charset="0"/>
                  <a:cs typeface="Arial" pitchFamily="34" charset="0"/>
                </a:endParaRPr>
              </a:p>
            </p:txBody>
          </p:sp>
        </p:gr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Localization of Distributed Data</a:t>
            </a:r>
            <a:endParaRPr lang="en-US" sz="2000" dirty="0">
              <a:latin typeface="Times New Roman" pitchFamily="18" charset="0"/>
              <a:cs typeface="Times New Roman" pitchFamily="18" charset="0"/>
            </a:endParaRPr>
          </a:p>
          <a:p>
            <a:pPr lvl="0" algn="just"/>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Output of the first layer is an </a:t>
            </a:r>
            <a:r>
              <a:rPr lang="en-US" sz="2000" b="1" dirty="0">
                <a:latin typeface="Times New Roman" pitchFamily="18" charset="0"/>
                <a:cs typeface="Times New Roman" pitchFamily="18" charset="0"/>
              </a:rPr>
              <a:t>algebraic query</a:t>
            </a:r>
            <a:r>
              <a:rPr lang="en-US" sz="2000" dirty="0">
                <a:latin typeface="Times New Roman" pitchFamily="18" charset="0"/>
                <a:cs typeface="Times New Roman" pitchFamily="18" charset="0"/>
              </a:rPr>
              <a:t> on distributed relations which is input to the second layer. </a:t>
            </a:r>
          </a:p>
          <a:p>
            <a:pPr lvl="1" algn="just">
              <a:buFont typeface="Wingdings" pitchFamily="2" charset="2"/>
              <a:buChar char="Ø"/>
            </a:pPr>
            <a:r>
              <a:rPr lang="en-US" sz="2000" dirty="0">
                <a:latin typeface="Times New Roman" pitchFamily="18" charset="0"/>
                <a:cs typeface="Times New Roman" pitchFamily="18" charset="0"/>
              </a:rPr>
              <a:t>The main role of this layer is to </a:t>
            </a:r>
            <a:r>
              <a:rPr lang="en-US" sz="2000" b="1" dirty="0">
                <a:latin typeface="Times New Roman" pitchFamily="18" charset="0"/>
                <a:cs typeface="Times New Roman" pitchFamily="18" charset="0"/>
              </a:rPr>
              <a:t>localize the query’s data</a:t>
            </a:r>
            <a:r>
              <a:rPr lang="en-US" sz="2000" dirty="0">
                <a:latin typeface="Times New Roman" pitchFamily="18" charset="0"/>
                <a:cs typeface="Times New Roman" pitchFamily="18" charset="0"/>
              </a:rPr>
              <a:t> using data distribution information. </a:t>
            </a:r>
          </a:p>
          <a:p>
            <a:pPr lvl="1" algn="just">
              <a:buFont typeface="Wingdings" pitchFamily="2" charset="2"/>
              <a:buChar char="Ø"/>
            </a:pPr>
            <a:r>
              <a:rPr lang="en-US" sz="2000" dirty="0">
                <a:latin typeface="Times New Roman" pitchFamily="18" charset="0"/>
                <a:cs typeface="Times New Roman" pitchFamily="18" charset="0"/>
              </a:rPr>
              <a:t>We know that relations are fragmented and stored in disjoint subsets, called fragments where each fragment is stored at different site.</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83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88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Localization of Distributed Data</a:t>
            </a:r>
            <a:endParaRPr lang="en-US" sz="2400" dirty="0">
              <a:latin typeface="Times New Roman" pitchFamily="18" charset="0"/>
              <a:cs typeface="Times New Roman" pitchFamily="18" charset="0"/>
            </a:endParaRPr>
          </a:p>
          <a:p>
            <a:pPr lvl="0" algn="just"/>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This layer </a:t>
            </a:r>
            <a:r>
              <a:rPr lang="en-US" sz="2000" b="1" dirty="0">
                <a:latin typeface="Times New Roman" pitchFamily="18" charset="0"/>
                <a:cs typeface="Times New Roman" pitchFamily="18" charset="0"/>
              </a:rPr>
              <a:t>determines which fragments are involved in the query and transforms the distributed query into a fragment query</a:t>
            </a:r>
            <a:r>
              <a:rPr lang="en-US" sz="2000" dirty="0">
                <a:latin typeface="Times New Roman" pitchFamily="18" charset="0"/>
                <a:cs typeface="Times New Roman" pitchFamily="18" charset="0"/>
              </a:rPr>
              <a:t>.</a:t>
            </a:r>
          </a:p>
          <a:p>
            <a:pPr lvl="1" algn="just">
              <a:buFont typeface="Wingdings" pitchFamily="2" charset="2"/>
              <a:buChar char="Ø"/>
            </a:pPr>
            <a:r>
              <a:rPr lang="en-US" sz="2000" dirty="0">
                <a:latin typeface="Times New Roman" pitchFamily="18" charset="0"/>
                <a:cs typeface="Times New Roman" pitchFamily="18" charset="0"/>
              </a:rPr>
              <a:t>A naive way to localize a distributed query is to generate a query where each global relation is substituted by its localization program. This can be viewed as replacing the leaves of the operator tree of the distributed query with </a:t>
            </a:r>
            <a:r>
              <a:rPr lang="en-US" sz="2000" dirty="0" err="1">
                <a:latin typeface="Times New Roman" pitchFamily="18" charset="0"/>
                <a:cs typeface="Times New Roman" pitchFamily="18" charset="0"/>
              </a:rPr>
              <a:t>subtrees</a:t>
            </a:r>
            <a:r>
              <a:rPr lang="en-US" sz="2000" dirty="0">
                <a:latin typeface="Times New Roman" pitchFamily="18" charset="0"/>
                <a:cs typeface="Times New Roman" pitchFamily="18" charset="0"/>
              </a:rPr>
              <a:t> corresponding to the localization programs. We call the query obtained this way the localized query.</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83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88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Global Query Optimization</a:t>
            </a:r>
            <a:endParaRPr lang="en-US" sz="2400" dirty="0">
              <a:latin typeface="Times New Roman" pitchFamily="18" charset="0"/>
              <a:cs typeface="Times New Roman" pitchFamily="18" charset="0"/>
            </a:endParaRPr>
          </a:p>
          <a:p>
            <a:pPr lvl="0" algn="just"/>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The input to the third layer is a </a:t>
            </a:r>
            <a:r>
              <a:rPr lang="en-US" sz="2000" b="1" dirty="0">
                <a:latin typeface="Times New Roman" pitchFamily="18" charset="0"/>
                <a:cs typeface="Times New Roman" pitchFamily="18" charset="0"/>
              </a:rPr>
              <a:t>fragment algebraic query</a:t>
            </a:r>
            <a:r>
              <a:rPr lang="en-US" sz="2000" dirty="0">
                <a:latin typeface="Times New Roman" pitchFamily="18" charset="0"/>
                <a:cs typeface="Times New Roman" pitchFamily="18" charset="0"/>
              </a:rPr>
              <a:t>. </a:t>
            </a:r>
          </a:p>
          <a:p>
            <a:pPr lvl="1" algn="just">
              <a:buFont typeface="Wingdings" pitchFamily="2" charset="2"/>
              <a:buChar char="Ø"/>
            </a:pPr>
            <a:r>
              <a:rPr lang="en-US" sz="2000" dirty="0">
                <a:latin typeface="Times New Roman" pitchFamily="18" charset="0"/>
                <a:cs typeface="Times New Roman" pitchFamily="18" charset="0"/>
              </a:rPr>
              <a:t>The goal of this layer is to </a:t>
            </a:r>
            <a:r>
              <a:rPr lang="en-US" sz="2000" b="1" dirty="0">
                <a:latin typeface="Times New Roman" pitchFamily="18" charset="0"/>
                <a:cs typeface="Times New Roman" pitchFamily="18" charset="0"/>
              </a:rPr>
              <a:t>find an execution strategy</a:t>
            </a:r>
            <a:r>
              <a:rPr lang="en-US" sz="2000" dirty="0">
                <a:latin typeface="Times New Roman" pitchFamily="18" charset="0"/>
                <a:cs typeface="Times New Roman" pitchFamily="18" charset="0"/>
              </a:rPr>
              <a:t> for the algebraic fragment query which is </a:t>
            </a:r>
            <a:r>
              <a:rPr lang="en-US" sz="2000" b="1" dirty="0">
                <a:latin typeface="Times New Roman" pitchFamily="18" charset="0"/>
                <a:cs typeface="Times New Roman" pitchFamily="18" charset="0"/>
              </a:rPr>
              <a:t>close to optimal</a:t>
            </a:r>
            <a:r>
              <a:rPr lang="en-US" sz="2000" dirty="0">
                <a:latin typeface="Times New Roman" pitchFamily="18" charset="0"/>
                <a:cs typeface="Times New Roman" pitchFamily="18" charset="0"/>
              </a:rPr>
              <a:t>.  </a:t>
            </a:r>
          </a:p>
          <a:p>
            <a:pPr lvl="1" algn="just">
              <a:buFont typeface="Wingdings" pitchFamily="2" charset="2"/>
              <a:buChar char="Ø"/>
            </a:pPr>
            <a:r>
              <a:rPr lang="en-US" sz="2000" dirty="0">
                <a:latin typeface="Times New Roman" pitchFamily="18" charset="0"/>
                <a:cs typeface="Times New Roman" pitchFamily="18" charset="0"/>
              </a:rPr>
              <a:t>Query optimization consists of </a:t>
            </a:r>
          </a:p>
          <a:p>
            <a:pPr lvl="1" algn="just">
              <a:buNone/>
            </a:pPr>
            <a:r>
              <a:rPr lang="en-US" sz="1200" dirty="0">
                <a:latin typeface="Times New Roman" pitchFamily="18" charset="0"/>
                <a:cs typeface="Times New Roman" pitchFamily="18" charset="0"/>
              </a:rPr>
              <a:t>	</a:t>
            </a:r>
          </a:p>
          <a:p>
            <a:pPr lvl="1" algn="just">
              <a:buNone/>
            </a:pP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a:t>
            </a:r>
            <a:r>
              <a:rPr lang="en-US" sz="2000" dirty="0">
                <a:latin typeface="Times New Roman" pitchFamily="18" charset="0"/>
                <a:cs typeface="Times New Roman" pitchFamily="18" charset="0"/>
              </a:rPr>
              <a:t>) Finding the best </a:t>
            </a:r>
            <a:r>
              <a:rPr lang="en-US" sz="2000" b="1" dirty="0">
                <a:latin typeface="Times New Roman" pitchFamily="18" charset="0"/>
                <a:cs typeface="Times New Roman" pitchFamily="18" charset="0"/>
              </a:rPr>
              <a:t>ordering of operations</a:t>
            </a:r>
            <a:r>
              <a:rPr lang="en-US" sz="2000" dirty="0">
                <a:latin typeface="Times New Roman" pitchFamily="18" charset="0"/>
                <a:cs typeface="Times New Roman" pitchFamily="18" charset="0"/>
              </a:rPr>
              <a:t> in the fragment query, </a:t>
            </a:r>
          </a:p>
          <a:p>
            <a:pPr lvl="1" algn="just">
              <a:buNone/>
            </a:pPr>
            <a:r>
              <a:rPr lang="en-US" sz="1200" dirty="0">
                <a:latin typeface="Times New Roman" pitchFamily="18" charset="0"/>
                <a:cs typeface="Times New Roman" pitchFamily="18" charset="0"/>
              </a:rPr>
              <a:t>	</a:t>
            </a:r>
          </a:p>
          <a:p>
            <a:pPr lvl="1" algn="just">
              <a:buNone/>
            </a:pPr>
            <a:r>
              <a:rPr lang="en-US" sz="2000" dirty="0">
                <a:latin typeface="Times New Roman" pitchFamily="18" charset="0"/>
                <a:cs typeface="Times New Roman" pitchFamily="18" charset="0"/>
              </a:rPr>
              <a:t>	ii) Finding the </a:t>
            </a:r>
            <a:r>
              <a:rPr lang="en-US" sz="2000" b="1" dirty="0">
                <a:latin typeface="Times New Roman" pitchFamily="18" charset="0"/>
                <a:cs typeface="Times New Roman" pitchFamily="18" charset="0"/>
              </a:rPr>
              <a:t>communication operations</a:t>
            </a:r>
            <a:r>
              <a:rPr lang="en-US" sz="2000" dirty="0">
                <a:latin typeface="Times New Roman" pitchFamily="18" charset="0"/>
                <a:cs typeface="Times New Roman" pitchFamily="18" charset="0"/>
              </a:rPr>
              <a:t> which minimize a cost function.</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83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88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5181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Global Query Optimization</a:t>
            </a:r>
            <a:endParaRPr lang="en-US" sz="2400" dirty="0">
              <a:latin typeface="Times New Roman" pitchFamily="18" charset="0"/>
              <a:cs typeface="Times New Roman" pitchFamily="18" charset="0"/>
            </a:endParaRPr>
          </a:p>
          <a:p>
            <a:pPr lvl="0" algn="just"/>
            <a:endParaRPr lang="en-US" sz="2000" dirty="0">
              <a:latin typeface="Times New Roman" pitchFamily="18" charset="0"/>
              <a:cs typeface="Times New Roman" pitchFamily="18" charset="0"/>
            </a:endParaRPr>
          </a:p>
          <a:p>
            <a:pPr lvl="1" algn="just">
              <a:buFont typeface="Wingdings" pitchFamily="2" charset="2"/>
              <a:buChar char="Ø"/>
            </a:pPr>
            <a:r>
              <a:rPr lang="en-US" sz="2000" dirty="0">
                <a:latin typeface="Times New Roman" pitchFamily="18" charset="0"/>
                <a:cs typeface="Times New Roman" pitchFamily="18" charset="0"/>
              </a:rPr>
              <a:t>The cost function refers to computing resources such as </a:t>
            </a:r>
            <a:r>
              <a:rPr lang="en-US" sz="2000" b="1" dirty="0">
                <a:latin typeface="Times New Roman" pitchFamily="18" charset="0"/>
                <a:cs typeface="Times New Roman" pitchFamily="18" charset="0"/>
              </a:rPr>
              <a:t>disk space, disk I/Os, buffer space, CPU cost, communication cost,</a:t>
            </a:r>
            <a:r>
              <a:rPr lang="en-US" sz="2000" dirty="0">
                <a:latin typeface="Times New Roman" pitchFamily="18" charset="0"/>
                <a:cs typeface="Times New Roman" pitchFamily="18" charset="0"/>
              </a:rPr>
              <a:t> and so on.</a:t>
            </a:r>
          </a:p>
          <a:p>
            <a:pPr lvl="1" algn="just">
              <a:buFont typeface="Wingdings" pitchFamily="2" charset="2"/>
              <a:buChar char="Ø"/>
            </a:pPr>
            <a:r>
              <a:rPr lang="en-US" sz="2000" dirty="0">
                <a:latin typeface="Times New Roman" pitchFamily="18" charset="0"/>
                <a:cs typeface="Times New Roman" pitchFamily="18" charset="0"/>
              </a:rPr>
              <a:t>Query optimization is achieved through the </a:t>
            </a:r>
            <a:r>
              <a:rPr lang="en-US" sz="2000" b="1" dirty="0">
                <a:latin typeface="Times New Roman" pitchFamily="18" charset="0"/>
                <a:cs typeface="Times New Roman" pitchFamily="18" charset="0"/>
              </a:rPr>
              <a:t>semi-join</a:t>
            </a:r>
            <a:r>
              <a:rPr lang="en-US" sz="2000" dirty="0">
                <a:latin typeface="Times New Roman" pitchFamily="18" charset="0"/>
                <a:cs typeface="Times New Roman" pitchFamily="18" charset="0"/>
              </a:rPr>
              <a:t> operator instead of join operators.</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83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88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33528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Distributed Execution</a:t>
            </a:r>
            <a:endParaRPr lang="en-US" sz="2400" dirty="0">
              <a:latin typeface="Times New Roman" pitchFamily="18" charset="0"/>
              <a:cs typeface="Times New Roman" pitchFamily="18" charset="0"/>
            </a:endParaRPr>
          </a:p>
          <a:p>
            <a:pPr lvl="0" algn="just"/>
            <a:endParaRPr lang="en-US" sz="2000" dirty="0">
              <a:latin typeface="Times New Roman" pitchFamily="18" charset="0"/>
              <a:cs typeface="Times New Roman" pitchFamily="18" charset="0"/>
            </a:endParaRPr>
          </a:p>
          <a:p>
            <a:pPr lvl="1" algn="just">
              <a:buFont typeface="Wingdings" pitchFamily="2" charset="2"/>
              <a:buChar char="Ø"/>
            </a:pPr>
            <a:r>
              <a:rPr lang="en-US" sz="2000" b="1" dirty="0">
                <a:latin typeface="Times New Roman" pitchFamily="18" charset="0"/>
                <a:cs typeface="Times New Roman" pitchFamily="18" charset="0"/>
              </a:rPr>
              <a:t>The last layer is performed by all the sites having fragments involved in the query.</a:t>
            </a:r>
          </a:p>
          <a:p>
            <a:pPr lvl="1" algn="just">
              <a:buFont typeface="Wingdings" pitchFamily="2" charset="2"/>
              <a:buChar char="Ø"/>
            </a:pPr>
            <a:endParaRPr lang="en-US" sz="2000" dirty="0">
              <a:latin typeface="Times New Roman" pitchFamily="18" charset="0"/>
              <a:cs typeface="Times New Roman" pitchFamily="18" charset="0"/>
            </a:endParaRPr>
          </a:p>
          <a:p>
            <a:pPr lvl="1" algn="just">
              <a:buFont typeface="Wingdings" pitchFamily="2" charset="2"/>
              <a:buChar char="Ø"/>
            </a:pPr>
            <a:r>
              <a:rPr lang="en-US" sz="2000" b="1" dirty="0">
                <a:latin typeface="Times New Roman" pitchFamily="18" charset="0"/>
                <a:cs typeface="Times New Roman" pitchFamily="18" charset="0"/>
              </a:rPr>
              <a:t>Each </a:t>
            </a:r>
            <a:r>
              <a:rPr lang="en-US" sz="2000" b="1" dirty="0" err="1">
                <a:latin typeface="Times New Roman" pitchFamily="18" charset="0"/>
                <a:cs typeface="Times New Roman" pitchFamily="18" charset="0"/>
              </a:rPr>
              <a:t>subquery</a:t>
            </a:r>
            <a:r>
              <a:rPr lang="en-US" sz="2000" b="1" dirty="0">
                <a:latin typeface="Times New Roman" pitchFamily="18" charset="0"/>
                <a:cs typeface="Times New Roman" pitchFamily="18" charset="0"/>
              </a:rPr>
              <a:t>, called a local query, is executing at one site. It is then optimized using the local schema of the site.</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7/10/2026</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Query Processing</a:t>
            </a:r>
          </a:p>
        </p:txBody>
      </p:sp>
      <p:sp>
        <p:nvSpPr>
          <p:cNvPr id="307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83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88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1220</TotalTime>
  <Words>2610</Words>
  <Application>Microsoft Office PowerPoint</Application>
  <PresentationFormat>On-screen Show (4:3)</PresentationFormat>
  <Paragraphs>611</Paragraphs>
  <Slides>48</Slides>
  <Notes>48</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4" baseType="lpstr">
      <vt:lpstr>Arial</vt:lpstr>
      <vt:lpstr>Calibri</vt:lpstr>
      <vt:lpstr>Times New Roman</vt:lpstr>
      <vt:lpstr>Wingdings</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HP</cp:lastModifiedBy>
  <cp:revision>900</cp:revision>
  <dcterms:created xsi:type="dcterms:W3CDTF">2014-09-22T15:27:45Z</dcterms:created>
  <dcterms:modified xsi:type="dcterms:W3CDTF">2026-07-10T14:09:50Z</dcterms:modified>
</cp:coreProperties>
</file>