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1"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12/29/2024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12/29/2024</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12/29/2024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19200" y="1905000"/>
            <a:ext cx="6781800" cy="3276600"/>
          </a:xfrm>
          <a:prstGeom prst="rect">
            <a:avLst/>
          </a:prstGeom>
        </p:spPr>
        <p:txBody>
          <a:bodyPr/>
          <a:lstStyle/>
          <a:p>
            <a:pPr algn="ctr">
              <a:buNone/>
            </a:pPr>
            <a:r>
              <a:rPr lang="en-US" sz="6000" dirty="0" smtClean="0">
                <a:latin typeface="Times New Roman" pitchFamily="18" charset="0"/>
                <a:cs typeface="Times New Roman" pitchFamily="18" charset="0"/>
              </a:rPr>
              <a:t>Dynamic </a:t>
            </a:r>
          </a:p>
          <a:p>
            <a:pPr algn="ctr">
              <a:buNone/>
            </a:pPr>
            <a:r>
              <a:rPr lang="en-US" sz="6000" dirty="0" smtClean="0">
                <a:latin typeface="Times New Roman" pitchFamily="18" charset="0"/>
                <a:cs typeface="Times New Roman" pitchFamily="18" charset="0"/>
              </a:rPr>
              <a:t>Hashing </a:t>
            </a:r>
            <a:endParaRPr lang="en-US" sz="6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Hashing in DBMS</a:t>
            </a:r>
          </a:p>
          <a:p>
            <a:pPr lvl="1"/>
            <a:r>
              <a:rPr lang="en-US" sz="2400" dirty="0" smtClean="0">
                <a:latin typeface="Times New Roman" pitchFamily="18" charset="0"/>
                <a:cs typeface="Times New Roman" pitchFamily="18" charset="0"/>
              </a:rPr>
              <a:t>Hashing is a DBMS technique for searching for needed data on the disc without utilizing an index structure. </a:t>
            </a:r>
          </a:p>
          <a:p>
            <a:pPr lvl="1"/>
            <a:r>
              <a:rPr lang="en-US" sz="2400" dirty="0" smtClean="0">
                <a:latin typeface="Times New Roman" pitchFamily="18" charset="0"/>
                <a:cs typeface="Times New Roman" pitchFamily="18" charset="0"/>
              </a:rPr>
              <a:t>The hashing method is basically used to index items and retrieve them in a DB</a:t>
            </a:r>
          </a:p>
          <a:p>
            <a:pPr lvl="1"/>
            <a:r>
              <a:rPr lang="en-US" sz="2400" dirty="0" smtClean="0">
                <a:latin typeface="Times New Roman" pitchFamily="18" charset="0"/>
                <a:cs typeface="Times New Roman" pitchFamily="18" charset="0"/>
              </a:rPr>
              <a:t>It is a method for calculating the direct position of an information record on the disk without the use of an index structure.</a:t>
            </a:r>
          </a:p>
          <a:p>
            <a:pPr lvl="1"/>
            <a:r>
              <a:rPr lang="en-US" sz="2400" dirty="0" smtClean="0">
                <a:latin typeface="Times New Roman" pitchFamily="18" charset="0"/>
                <a:cs typeface="Times New Roman" pitchFamily="18" charset="0"/>
              </a:rPr>
              <a:t>To generate the actual address of a data record, hash functions containing search keys as parameters are used.</a:t>
            </a:r>
          </a:p>
          <a:p>
            <a:pPr lvl="0">
              <a:buNone/>
            </a:pPr>
            <a:endParaRPr lang="en-US" sz="2400" dirty="0" smtClean="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Main Components of Hashing</a:t>
            </a:r>
          </a:p>
          <a:p>
            <a:pPr lvl="1"/>
            <a:r>
              <a:rPr lang="en-US" sz="2400" b="1" dirty="0" smtClean="0">
                <a:latin typeface="Times New Roman" pitchFamily="18" charset="0"/>
                <a:cs typeface="Times New Roman" pitchFamily="18" charset="0"/>
              </a:rPr>
              <a:t>Bucket – A</a:t>
            </a:r>
            <a:r>
              <a:rPr lang="en-US" sz="2400" dirty="0" smtClean="0">
                <a:latin typeface="Times New Roman" pitchFamily="18" charset="0"/>
                <a:cs typeface="Times New Roman" pitchFamily="18" charset="0"/>
              </a:rPr>
              <a:t> bucket stores one entire disc block, which can store one or more records.</a:t>
            </a:r>
          </a:p>
          <a:p>
            <a:pPr lvl="1"/>
            <a:r>
              <a:rPr lang="en-US" sz="2400" b="1" dirty="0" smtClean="0">
                <a:latin typeface="Times New Roman" pitchFamily="18" charset="0"/>
                <a:cs typeface="Times New Roman" pitchFamily="18" charset="0"/>
              </a:rPr>
              <a:t>Hash Function – </a:t>
            </a:r>
            <a:r>
              <a:rPr lang="en-US" sz="2400" dirty="0" smtClean="0">
                <a:latin typeface="Times New Roman" pitchFamily="18" charset="0"/>
                <a:cs typeface="Times New Roman" pitchFamily="18" charset="0"/>
              </a:rPr>
              <a:t>A hash function, abbreviated as </a:t>
            </a:r>
            <a:r>
              <a:rPr lang="en-US" sz="2400" i="1" dirty="0" smtClean="0">
                <a:latin typeface="Times New Roman" pitchFamily="18" charset="0"/>
                <a:cs typeface="Times New Roman" pitchFamily="18" charset="0"/>
              </a:rPr>
              <a:t>h</a:t>
            </a:r>
            <a:r>
              <a:rPr lang="en-US" sz="2400" dirty="0" smtClean="0">
                <a:latin typeface="Times New Roman" pitchFamily="18" charset="0"/>
                <a:cs typeface="Times New Roman" pitchFamily="18" charset="0"/>
              </a:rPr>
              <a:t>, refers to a mapping function that connects all of the search-keys K to that address in which the actual records are stored. </a:t>
            </a:r>
          </a:p>
          <a:p>
            <a:pPr lvl="1"/>
            <a:r>
              <a:rPr lang="en-US" sz="2400" dirty="0" smtClean="0">
                <a:latin typeface="Times New Roman" pitchFamily="18" charset="0"/>
                <a:cs typeface="Times New Roman" pitchFamily="18" charset="0"/>
              </a:rPr>
              <a:t>From the search keys to the bucket addresses, it’s a function.</a:t>
            </a:r>
          </a:p>
          <a:p>
            <a:pPr>
              <a:buNone/>
            </a:pPr>
            <a:endParaRPr lang="en-US" sz="2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600200"/>
            <a:ext cx="8229600" cy="4525963"/>
          </a:xfrm>
          <a:prstGeom prst="rect">
            <a:avLst/>
          </a:prstGeom>
        </p:spPr>
        <p:txBody>
          <a:bodyPr/>
          <a:lstStyle/>
          <a:p>
            <a:pPr>
              <a:buFont typeface="Wingdings" pitchFamily="2" charset="2"/>
              <a:buChar char="q"/>
            </a:pPr>
            <a:r>
              <a:rPr lang="en-US" sz="2400" b="1" dirty="0" smtClean="0">
                <a:latin typeface="Times New Roman" pitchFamily="18" charset="0"/>
                <a:cs typeface="Times New Roman" pitchFamily="18" charset="0"/>
              </a:rPr>
              <a:t>Types of Hashing</a:t>
            </a:r>
          </a:p>
          <a:p>
            <a:pPr lvl="1"/>
            <a:r>
              <a:rPr lang="en-US" sz="2400" dirty="0" smtClean="0">
                <a:latin typeface="Times New Roman" pitchFamily="18" charset="0"/>
                <a:cs typeface="Times New Roman" pitchFamily="18" charset="0"/>
              </a:rPr>
              <a:t>Hashing is of the following types:</a:t>
            </a:r>
          </a:p>
          <a:p>
            <a:pPr lvl="1"/>
            <a:endParaRPr lang="en-US" sz="2400" dirty="0" smtClean="0">
              <a:latin typeface="Times New Roman" pitchFamily="18" charset="0"/>
              <a:cs typeface="Times New Roman" pitchFamily="18" charset="0"/>
            </a:endParaRPr>
          </a:p>
          <a:p>
            <a:pPr lvl="1"/>
            <a:endParaRPr lang="en-US" sz="2400" dirty="0" smtClean="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 name="Picture 9"/>
          <p:cNvPicPr/>
          <p:nvPr/>
        </p:nvPicPr>
        <p:blipFill>
          <a:blip r:embed="rId4"/>
          <a:srcRect/>
          <a:stretch>
            <a:fillRect/>
          </a:stretch>
        </p:blipFill>
        <p:spPr bwMode="auto">
          <a:xfrm>
            <a:off x="1905000" y="2667000"/>
            <a:ext cx="4997450" cy="2514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Static Hashing in DBMS</a:t>
            </a:r>
          </a:p>
          <a:p>
            <a:pPr lvl="1" algn="just"/>
            <a:r>
              <a:rPr lang="en-US" sz="2400" dirty="0" smtClean="0">
                <a:latin typeface="Times New Roman" pitchFamily="18" charset="0"/>
                <a:cs typeface="Times New Roman" pitchFamily="18" charset="0"/>
              </a:rPr>
              <a:t>Whenever a search-key value is specified in static hashing, the hash algorithm always returns the same address. For example, the mod-5 hash function will generate only 5 values. For this function, the output address must always be the same. </a:t>
            </a:r>
          </a:p>
          <a:p>
            <a:pPr lvl="1" algn="just"/>
            <a:r>
              <a:rPr lang="en-US" sz="2400" dirty="0" smtClean="0">
                <a:latin typeface="Times New Roman" pitchFamily="18" charset="0"/>
                <a:cs typeface="Times New Roman" pitchFamily="18" charset="0"/>
              </a:rPr>
              <a:t>At all times, the number of buckets available remains constant throughout the process of static hashing</a:t>
            </a:r>
          </a:p>
          <a:p>
            <a:pPr lvl="1" algn="just"/>
            <a:r>
              <a:rPr lang="en-US" sz="2400" dirty="0" smtClean="0">
                <a:latin typeface="Times New Roman" pitchFamily="18" charset="0"/>
                <a:cs typeface="Times New Roman" pitchFamily="18" charset="0"/>
              </a:rPr>
              <a:t>The resultant data bucket address with static hashing will always be the same. That is, if we use the hash function mod-5 to obtain an address for EMP ID =103, we will always get the same bucket address 3. The bucket address will not change in this case.</a:t>
            </a:r>
          </a:p>
          <a:p>
            <a:pPr algn="just">
              <a:buNone/>
            </a:pPr>
            <a:endParaRPr lang="en-US" sz="24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Static Hashing Operations</a:t>
            </a:r>
          </a:p>
          <a:p>
            <a:pPr lvl="1" algn="just"/>
            <a:r>
              <a:rPr lang="en-US" sz="2400" b="1" dirty="0" smtClean="0">
                <a:latin typeface="Times New Roman" pitchFamily="18" charset="0"/>
                <a:cs typeface="Times New Roman" pitchFamily="18" charset="0"/>
              </a:rPr>
              <a:t>Search a Record: </a:t>
            </a:r>
            <a:r>
              <a:rPr lang="en-US" sz="2400" dirty="0" smtClean="0">
                <a:latin typeface="Times New Roman" pitchFamily="18" charset="0"/>
                <a:cs typeface="Times New Roman" pitchFamily="18" charset="0"/>
              </a:rPr>
              <a:t>When a record is needed, the very same hash function is used in order to get the address of that bucket in which the data is kept.</a:t>
            </a:r>
            <a:endParaRPr lang="en-US" sz="2400" b="1"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Insert a Record: </a:t>
            </a:r>
            <a:r>
              <a:rPr lang="en-US" sz="2400" dirty="0" smtClean="0">
                <a:latin typeface="Times New Roman" pitchFamily="18" charset="0"/>
                <a:cs typeface="Times New Roman" pitchFamily="18" charset="0"/>
              </a:rPr>
              <a:t>When a new record is entered into the table, the hash key is used to construct an address for the new record, and the record is placed there.</a:t>
            </a:r>
            <a:endParaRPr lang="en-US" sz="2400" b="1"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Delete a Record: </a:t>
            </a:r>
            <a:r>
              <a:rPr lang="en-US" sz="2400" dirty="0" smtClean="0">
                <a:latin typeface="Times New Roman" pitchFamily="18" charset="0"/>
                <a:cs typeface="Times New Roman" pitchFamily="18" charset="0"/>
              </a:rPr>
              <a:t>To delete a record, we must first retrieve the record that will be destroyed. The records for this address will then be deleted from memory.</a:t>
            </a:r>
            <a:endParaRPr lang="en-US" sz="2400" b="1"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Update a Record: </a:t>
            </a:r>
            <a:r>
              <a:rPr lang="en-US" sz="2400" dirty="0" smtClean="0">
                <a:latin typeface="Times New Roman" pitchFamily="18" charset="0"/>
                <a:cs typeface="Times New Roman" pitchFamily="18" charset="0"/>
              </a:rPr>
              <a:t>To edit a record, we’ll use a hash function to find it first, then change the data record.</a:t>
            </a:r>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Static Hashing Operations</a:t>
            </a:r>
          </a:p>
          <a:p>
            <a:pPr lvl="1" algn="just"/>
            <a:r>
              <a:rPr lang="en-US" sz="2400" dirty="0" smtClean="0">
                <a:latin typeface="Times New Roman" pitchFamily="18" charset="0"/>
                <a:cs typeface="Times New Roman" pitchFamily="18" charset="0"/>
              </a:rPr>
              <a:t>If we wish to add a new record to the file, but the address of the data bucket formed by the hash function isn’t empty, or information already exists in that address, we can’t add the record. Bucket overflow is a term used in static hashing to describe this occurrence. This is a critical condition in this strategy.</a:t>
            </a:r>
          </a:p>
          <a:p>
            <a:pPr lvl="1" algn="just"/>
            <a:r>
              <a:rPr lang="en-US" sz="2400" dirty="0" smtClean="0">
                <a:latin typeface="Times New Roman" pitchFamily="18" charset="0"/>
                <a:cs typeface="Times New Roman" pitchFamily="18" charset="0"/>
              </a:rPr>
              <a:t>To deal with this scenario, the most widely utilized methods are :</a:t>
            </a:r>
          </a:p>
          <a:p>
            <a:pPr lvl="1" algn="just">
              <a:buNone/>
            </a:pPr>
            <a:r>
              <a:rPr lang="en-US" sz="2400" dirty="0" smtClean="0">
                <a:latin typeface="Times New Roman" pitchFamily="18" charset="0"/>
                <a:cs typeface="Times New Roman" pitchFamily="18" charset="0"/>
              </a:rPr>
              <a:t>			Open hashing and </a:t>
            </a:r>
          </a:p>
          <a:p>
            <a:pPr lvl="1" algn="just">
              <a:buNone/>
            </a:pPr>
            <a:r>
              <a:rPr lang="en-US" sz="2400" dirty="0" smtClean="0">
                <a:latin typeface="Times New Roman" pitchFamily="18" charset="0"/>
                <a:cs typeface="Times New Roman" pitchFamily="18" charset="0"/>
              </a:rPr>
              <a:t>			Closed hashing</a:t>
            </a:r>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Open Hashing</a:t>
            </a:r>
          </a:p>
          <a:p>
            <a:pPr lvl="1" algn="just"/>
            <a:r>
              <a:rPr lang="en-US" sz="2000" dirty="0" smtClean="0">
                <a:latin typeface="Times New Roman" pitchFamily="18" charset="0"/>
                <a:cs typeface="Times New Roman" pitchFamily="18" charset="0"/>
              </a:rPr>
              <a:t>Whenever a hash function generates any address that already contains data, the next bucket is assigned to it, and this process is called </a:t>
            </a:r>
            <a:r>
              <a:rPr lang="en-US" sz="2000" b="1" i="1" dirty="0" smtClean="0">
                <a:latin typeface="Times New Roman" pitchFamily="18" charset="0"/>
                <a:cs typeface="Times New Roman" pitchFamily="18" charset="0"/>
              </a:rPr>
              <a:t>Linear probing</a:t>
            </a:r>
            <a:r>
              <a:rPr lang="en-US" sz="2000" dirty="0" smtClean="0">
                <a:latin typeface="Times New Roman" pitchFamily="18" charset="0"/>
                <a:cs typeface="Times New Roman" pitchFamily="18" charset="0"/>
              </a:rPr>
              <a:t>.</a:t>
            </a:r>
          </a:p>
          <a:p>
            <a:pPr lvl="1" algn="just"/>
            <a:r>
              <a:rPr lang="en-US" sz="2000" dirty="0" smtClean="0">
                <a:latin typeface="Times New Roman" pitchFamily="18" charset="0"/>
                <a:cs typeface="Times New Roman" pitchFamily="18" charset="0"/>
              </a:rPr>
              <a:t>For instance, if the record R3 needs to be entered, the hash function will generate 110 as R3’s address. However, the address is already full; as a result, the system selects 113 as the next available data bucket and assigns R3 to it.</a:t>
            </a:r>
            <a:endParaRPr lang="en-US" sz="20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 name="Picture 9"/>
          <p:cNvPicPr/>
          <p:nvPr/>
        </p:nvPicPr>
        <p:blipFill>
          <a:blip r:embed="rId4"/>
          <a:srcRect/>
          <a:stretch>
            <a:fillRect/>
          </a:stretch>
        </p:blipFill>
        <p:spPr bwMode="auto">
          <a:xfrm>
            <a:off x="3162300" y="4038600"/>
            <a:ext cx="4838700"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Closed Hashing</a:t>
            </a:r>
          </a:p>
          <a:p>
            <a:pPr lvl="1" algn="just"/>
            <a:r>
              <a:rPr lang="en-US" sz="2000" dirty="0" smtClean="0">
                <a:latin typeface="Times New Roman" pitchFamily="18" charset="0"/>
                <a:cs typeface="Times New Roman" pitchFamily="18" charset="0"/>
              </a:rPr>
              <a:t>When a data bucket is full, a new one is created and connected after the old one, and this method is called </a:t>
            </a:r>
            <a:r>
              <a:rPr lang="en-US" sz="2000" b="1" i="1" dirty="0" smtClean="0">
                <a:latin typeface="Times New Roman" pitchFamily="18" charset="0"/>
                <a:cs typeface="Times New Roman" pitchFamily="18" charset="0"/>
              </a:rPr>
              <a:t>Overflow chaining</a:t>
            </a:r>
            <a:r>
              <a:rPr lang="en-US" sz="2000" dirty="0" smtClean="0">
                <a:latin typeface="Times New Roman" pitchFamily="18" charset="0"/>
                <a:cs typeface="Times New Roman" pitchFamily="18" charset="0"/>
              </a:rPr>
              <a:t>.</a:t>
            </a:r>
          </a:p>
          <a:p>
            <a:pPr lvl="1" algn="just"/>
            <a:r>
              <a:rPr lang="en-US" sz="2000" dirty="0" smtClean="0">
                <a:latin typeface="Times New Roman" pitchFamily="18" charset="0"/>
                <a:cs typeface="Times New Roman" pitchFamily="18" charset="0"/>
              </a:rPr>
              <a:t>For example, if the record R3 needs to be added to the database, the hash function will assign it with the address 110. However, this bucket is too full to accommodate the additional data. In this scenario, a new bucket is placed and linked to the end of 110 buckets.</a:t>
            </a:r>
          </a:p>
          <a:p>
            <a:pPr lvl="1" algn="just"/>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1" name="Picture 10"/>
          <p:cNvPicPr/>
          <p:nvPr/>
        </p:nvPicPr>
        <p:blipFill>
          <a:blip r:embed="rId4"/>
          <a:srcRect/>
          <a:stretch>
            <a:fillRect/>
          </a:stretch>
        </p:blipFill>
        <p:spPr bwMode="auto">
          <a:xfrm>
            <a:off x="2209800" y="3962400"/>
            <a:ext cx="5105400"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Dynamic Hashing in DBMS</a:t>
            </a:r>
          </a:p>
          <a:p>
            <a:pPr lvl="1" algn="just"/>
            <a:r>
              <a:rPr lang="en-US" sz="2400" dirty="0" smtClean="0">
                <a:latin typeface="Times New Roman" pitchFamily="18" charset="0"/>
                <a:cs typeface="Times New Roman" pitchFamily="18" charset="0"/>
              </a:rPr>
              <a:t>The disadvantage of static hashing is that it doesn’t expand or contract dynamically as the database size grows or diminishes. </a:t>
            </a:r>
          </a:p>
          <a:p>
            <a:pPr lvl="1" algn="just"/>
            <a:r>
              <a:rPr lang="en-US" sz="2400" dirty="0" smtClean="0">
                <a:latin typeface="Times New Roman" pitchFamily="18" charset="0"/>
                <a:cs typeface="Times New Roman" pitchFamily="18" charset="0"/>
              </a:rPr>
              <a:t>Dynamic hashing is a technology that allows data buckets to be created and withdrawn on the fly. It is also known as </a:t>
            </a:r>
            <a:r>
              <a:rPr lang="en-US" sz="2400" b="1" i="1" dirty="0" smtClean="0">
                <a:latin typeface="Times New Roman" pitchFamily="18" charset="0"/>
                <a:cs typeface="Times New Roman" pitchFamily="18" charset="0"/>
              </a:rPr>
              <a:t>Extendible hashing</a:t>
            </a:r>
            <a:r>
              <a:rPr lang="en-US" sz="2400" dirty="0" smtClean="0">
                <a:latin typeface="Times New Roman" pitchFamily="18" charset="0"/>
                <a:cs typeface="Times New Roman" pitchFamily="18" charset="0"/>
              </a:rPr>
              <a:t>.</a:t>
            </a:r>
          </a:p>
          <a:p>
            <a:pPr lvl="1" algn="just"/>
            <a:r>
              <a:rPr lang="en-US" sz="2400" dirty="0" smtClean="0">
                <a:latin typeface="Times New Roman" pitchFamily="18" charset="0"/>
                <a:cs typeface="Times New Roman" pitchFamily="18" charset="0"/>
              </a:rPr>
              <a:t>In dynamic hashing, the hash function is designed to output a huge number of values, but only a few are used at first.</a:t>
            </a:r>
          </a:p>
          <a:p>
            <a:pPr lvl="1" algn="just"/>
            <a:r>
              <a:rPr lang="en-US" sz="2400" smtClean="0">
                <a:latin typeface="Times New Roman" pitchFamily="18" charset="0"/>
                <a:cs typeface="Times New Roman" pitchFamily="18" charset="0"/>
              </a:rPr>
              <a:t>Dynamic </a:t>
            </a:r>
            <a:r>
              <a:rPr lang="en-US" sz="2400" dirty="0" smtClean="0">
                <a:latin typeface="Times New Roman" pitchFamily="18" charset="0"/>
                <a:cs typeface="Times New Roman" pitchFamily="18" charset="0"/>
              </a:rPr>
              <a:t>hashing is a mechanism for dynamically adding and removing data buckets on demand</a:t>
            </a:r>
            <a:r>
              <a:rPr lang="en-US" sz="240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Structure of Extendible Hashing </a:t>
            </a:r>
          </a:p>
          <a:p>
            <a:pPr lvl="1" algn="just"/>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 name="Picture 9" descr="Lightbox"/>
          <p:cNvPicPr/>
          <p:nvPr/>
        </p:nvPicPr>
        <p:blipFill>
          <a:blip r:embed="rId4"/>
          <a:srcRect/>
          <a:stretch>
            <a:fillRect/>
          </a:stretch>
        </p:blipFill>
        <p:spPr bwMode="auto">
          <a:xfrm>
            <a:off x="1752600" y="2286000"/>
            <a:ext cx="5410200" cy="3581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Structure of Extendible Hashing</a:t>
            </a:r>
          </a:p>
          <a:p>
            <a:pPr lvl="1" algn="just"/>
            <a:r>
              <a:rPr lang="en-US" sz="2400" b="1" dirty="0" smtClean="0">
                <a:latin typeface="Times New Roman" pitchFamily="18" charset="0"/>
                <a:cs typeface="Times New Roman" pitchFamily="18" charset="0"/>
              </a:rPr>
              <a:t>Directories:</a:t>
            </a:r>
            <a:r>
              <a:rPr lang="en-US" sz="2400" dirty="0" smtClean="0">
                <a:latin typeface="Times New Roman" pitchFamily="18" charset="0"/>
                <a:cs typeface="Times New Roman" pitchFamily="18" charset="0"/>
              </a:rPr>
              <a:t> These containers store pointers to buckets. Each directory is given a unique </a:t>
            </a:r>
            <a:r>
              <a:rPr lang="en-US" sz="2400" i="1" dirty="0" smtClean="0">
                <a:latin typeface="Times New Roman" pitchFamily="18" charset="0"/>
                <a:cs typeface="Times New Roman" pitchFamily="18" charset="0"/>
              </a:rPr>
              <a:t>id</a:t>
            </a:r>
            <a:r>
              <a:rPr lang="en-US" sz="2400" dirty="0" smtClean="0">
                <a:latin typeface="Times New Roman" pitchFamily="18" charset="0"/>
                <a:cs typeface="Times New Roman" pitchFamily="18" charset="0"/>
              </a:rPr>
              <a:t> which may change each time when expansion takes place. The hash function returns this directory </a:t>
            </a:r>
            <a:r>
              <a:rPr lang="en-US" sz="2400" i="1" dirty="0" smtClean="0">
                <a:latin typeface="Times New Roman" pitchFamily="18" charset="0"/>
                <a:cs typeface="Times New Roman" pitchFamily="18" charset="0"/>
              </a:rPr>
              <a:t>id</a:t>
            </a:r>
            <a:r>
              <a:rPr lang="en-US" sz="2400" dirty="0" smtClean="0">
                <a:latin typeface="Times New Roman" pitchFamily="18" charset="0"/>
                <a:cs typeface="Times New Roman" pitchFamily="18" charset="0"/>
              </a:rPr>
              <a:t> which is used to navigate to the appropriate bucket. Number of Directories = 2^Global Depth.</a:t>
            </a:r>
          </a:p>
          <a:p>
            <a:pPr lvl="1" algn="just"/>
            <a:r>
              <a:rPr lang="en-US" sz="2400" b="1" dirty="0" smtClean="0">
                <a:latin typeface="Times New Roman" pitchFamily="18" charset="0"/>
                <a:cs typeface="Times New Roman" pitchFamily="18" charset="0"/>
              </a:rPr>
              <a:t>Buckets:</a:t>
            </a:r>
            <a:r>
              <a:rPr lang="en-US" sz="2400" dirty="0" smtClean="0">
                <a:latin typeface="Times New Roman" pitchFamily="18" charset="0"/>
                <a:cs typeface="Times New Roman" pitchFamily="18" charset="0"/>
              </a:rPr>
              <a:t> They store the hashed keys. Directories point to buckets. A bucket may contain more than one pointers to it if its local depth is less than the global depth.</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Structure of Extendible Hashing</a:t>
            </a:r>
          </a:p>
          <a:p>
            <a:pPr lvl="1" algn="just"/>
            <a:r>
              <a:rPr lang="en-US" sz="2400" b="1" dirty="0" smtClean="0">
                <a:latin typeface="Times New Roman" pitchFamily="18" charset="0"/>
                <a:cs typeface="Times New Roman" pitchFamily="18" charset="0"/>
              </a:rPr>
              <a:t>Global Depth:</a:t>
            </a:r>
            <a:r>
              <a:rPr lang="en-US" sz="2400" dirty="0" smtClean="0">
                <a:latin typeface="Times New Roman" pitchFamily="18" charset="0"/>
                <a:cs typeface="Times New Roman" pitchFamily="18" charset="0"/>
              </a:rPr>
              <a:t> It is associated with the Directories. They denote the number of bits which are used by the hash function to categorize the keys. Global Depth = Number of bits in directory </a:t>
            </a:r>
            <a:r>
              <a:rPr lang="en-US" sz="2400" i="1" dirty="0" smtClean="0">
                <a:latin typeface="Times New Roman" pitchFamily="18" charset="0"/>
                <a:cs typeface="Times New Roman" pitchFamily="18" charset="0"/>
              </a:rPr>
              <a:t>id</a:t>
            </a:r>
            <a:r>
              <a:rPr lang="en-US" sz="2400" dirty="0" smtClean="0">
                <a:latin typeface="Times New Roman" pitchFamily="18" charset="0"/>
                <a:cs typeface="Times New Roman" pitchFamily="18" charset="0"/>
              </a:rPr>
              <a:t>.</a:t>
            </a:r>
          </a:p>
          <a:p>
            <a:pPr lvl="1" algn="just"/>
            <a:r>
              <a:rPr lang="en-US" sz="2400" b="1" dirty="0" smtClean="0">
                <a:latin typeface="Times New Roman" pitchFamily="18" charset="0"/>
                <a:cs typeface="Times New Roman" pitchFamily="18" charset="0"/>
              </a:rPr>
              <a:t>Local Depth:</a:t>
            </a:r>
            <a:r>
              <a:rPr lang="en-US" sz="2400" dirty="0" smtClean="0">
                <a:latin typeface="Times New Roman" pitchFamily="18" charset="0"/>
                <a:cs typeface="Times New Roman" pitchFamily="18" charset="0"/>
              </a:rPr>
              <a:t> It is the same as that of Global Depth except for the fact that Local Depth is associated with the buckets and not the directories. Local depth in accordance with the global depth is used to decide the action that to be performed in case an overflow occurs. Local Depth is always less than or equal to the Global Depth.</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Structure of Extendible Hashing</a:t>
            </a:r>
          </a:p>
          <a:p>
            <a:pPr lvl="1" algn="just"/>
            <a:r>
              <a:rPr lang="en-US" sz="2400" b="1" dirty="0" smtClean="0">
                <a:latin typeface="Times New Roman" pitchFamily="18" charset="0"/>
                <a:cs typeface="Times New Roman" pitchFamily="18" charset="0"/>
              </a:rPr>
              <a:t>Bucket Splitting:</a:t>
            </a:r>
            <a:r>
              <a:rPr lang="en-US" sz="2400" dirty="0" smtClean="0">
                <a:latin typeface="Times New Roman" pitchFamily="18" charset="0"/>
                <a:cs typeface="Times New Roman" pitchFamily="18" charset="0"/>
              </a:rPr>
              <a:t> When the number of elements in a bucket exceeds a particular size, then the bucket is split into two parts.</a:t>
            </a:r>
          </a:p>
          <a:p>
            <a:pPr lvl="1" algn="just"/>
            <a:r>
              <a:rPr lang="en-US" sz="2400" b="1" dirty="0" smtClean="0">
                <a:latin typeface="Times New Roman" pitchFamily="18" charset="0"/>
                <a:cs typeface="Times New Roman" pitchFamily="18" charset="0"/>
              </a:rPr>
              <a:t>Directory Expansion:</a:t>
            </a:r>
            <a:r>
              <a:rPr lang="en-US" sz="2400" dirty="0" smtClean="0">
                <a:latin typeface="Times New Roman" pitchFamily="18" charset="0"/>
                <a:cs typeface="Times New Roman" pitchFamily="18" charset="0"/>
              </a:rPr>
              <a:t> Directory Expansion Takes place when a bucket overflows. Directory Expansion is performed when the local depth of the overflowing bucket is equal to the global depth.</a:t>
            </a:r>
            <a:endParaRPr lang="en-US" sz="2400" b="1"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 name="Picture 9" descr="Lightbox"/>
          <p:cNvPicPr/>
          <p:nvPr/>
        </p:nvPicPr>
        <p:blipFill>
          <a:blip r:embed="rId4"/>
          <a:srcRect/>
          <a:stretch>
            <a:fillRect/>
          </a:stretch>
        </p:blipFill>
        <p:spPr bwMode="auto">
          <a:xfrm>
            <a:off x="2057400" y="2133600"/>
            <a:ext cx="5181600" cy="3962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r>
              <a:rPr lang="en-US" sz="2400" b="1" dirty="0" smtClean="0">
                <a:latin typeface="Times New Roman" pitchFamily="18" charset="0"/>
                <a:cs typeface="Times New Roman" pitchFamily="18" charset="0"/>
              </a:rPr>
              <a:t>Step 1 – Analyze Data Elements: </a:t>
            </a:r>
          </a:p>
          <a:p>
            <a:pPr lvl="1"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Data elements may exist in various forms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Integer, String, Float, etc. Currently, let us consider data elements of type integer. </a:t>
            </a:r>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49.</a:t>
            </a:r>
          </a:p>
          <a:p>
            <a:pPr lvl="1" algn="just">
              <a:buNone/>
            </a:pPr>
            <a:endParaRPr lang="en-US" sz="2400"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Step 2 – Convert into binary format: </a:t>
            </a:r>
          </a:p>
          <a:p>
            <a:pPr lvl="1"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Convert the data element in Binary form. For string elements, consider the ASCII equivalent integer of the starting character and then convert the integer into binary form. Since we have 49 as our data element, its binary form is 110001.</a:t>
            </a: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r>
              <a:rPr lang="en-US" sz="2400" b="1" dirty="0" smtClean="0">
                <a:latin typeface="Times New Roman" pitchFamily="18" charset="0"/>
                <a:cs typeface="Times New Roman" pitchFamily="18" charset="0"/>
              </a:rPr>
              <a:t>Step 3 – Check Global Depth of the directory.</a:t>
            </a:r>
            <a:r>
              <a:rPr lang="en-US" sz="2400" dirty="0" smtClean="0">
                <a:latin typeface="Times New Roman" pitchFamily="18" charset="0"/>
                <a:cs typeface="Times New Roman" pitchFamily="18" charset="0"/>
              </a:rPr>
              <a:t> </a:t>
            </a:r>
          </a:p>
          <a:p>
            <a:pPr lvl="1" algn="just">
              <a:buNone/>
            </a:pPr>
            <a:r>
              <a:rPr lang="en-US" sz="2400" dirty="0" smtClean="0">
                <a:latin typeface="Times New Roman" pitchFamily="18" charset="0"/>
                <a:cs typeface="Times New Roman" pitchFamily="18" charset="0"/>
              </a:rPr>
              <a:t>	Suppose the global depth of the Hash-directory is 3.</a:t>
            </a:r>
          </a:p>
          <a:p>
            <a:pPr lvl="1" algn="just">
              <a:buNone/>
            </a:pPr>
            <a:endParaRPr lang="en-US" sz="2400"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Step 4 – Identify the Directory: </a:t>
            </a:r>
          </a:p>
          <a:p>
            <a:pPr lvl="1"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Consider the ‘Global-Depth’ number of LSBs in the binary number and match it to the directory </a:t>
            </a:r>
            <a:r>
              <a:rPr lang="en-US" sz="2400" i="1" dirty="0" smtClean="0">
                <a:latin typeface="Times New Roman" pitchFamily="18" charset="0"/>
                <a:cs typeface="Times New Roman" pitchFamily="18" charset="0"/>
              </a:rPr>
              <a:t>id</a:t>
            </a:r>
            <a:r>
              <a:rPr lang="en-US" sz="2400" dirty="0" smtClean="0">
                <a:latin typeface="Times New Roman" pitchFamily="18" charset="0"/>
                <a:cs typeface="Times New Roman" pitchFamily="18" charset="0"/>
              </a:rPr>
              <a:t>. For Example, the binary value of 49 is 110001 and the global-depth is 3. So, the hash function will return 3 LSBs of 110</a:t>
            </a:r>
            <a:r>
              <a:rPr lang="en-US" sz="2400" b="1" dirty="0" smtClean="0">
                <a:latin typeface="Times New Roman" pitchFamily="18" charset="0"/>
                <a:cs typeface="Times New Roman" pitchFamily="18" charset="0"/>
              </a:rPr>
              <a:t>001</a:t>
            </a:r>
            <a:r>
              <a:rPr lang="en-US" sz="2400" dirty="0" smtClean="0">
                <a:latin typeface="Times New Roman" pitchFamily="18" charset="0"/>
                <a:cs typeface="Times New Roman" pitchFamily="18" charset="0"/>
              </a:rPr>
              <a:t> that is, 001.</a:t>
            </a:r>
          </a:p>
          <a:p>
            <a:pPr lvl="1" algn="just">
              <a:buNone/>
            </a:pPr>
            <a:endParaRPr lang="en-US" sz="2400" dirty="0" smtClean="0">
              <a:latin typeface="Times New Roman" pitchFamily="18" charset="0"/>
              <a:cs typeface="Times New Roman" pitchFamily="18" charset="0"/>
            </a:endParaRPr>
          </a:p>
          <a:p>
            <a:pPr lvl="1" algn="just"/>
            <a:r>
              <a:rPr lang="en-US" sz="2400" b="1" dirty="0" smtClean="0">
                <a:latin typeface="Times New Roman" pitchFamily="18" charset="0"/>
                <a:cs typeface="Times New Roman" pitchFamily="18" charset="0"/>
              </a:rPr>
              <a:t>Step 5 – Navigation: </a:t>
            </a:r>
            <a:r>
              <a:rPr lang="en-US" sz="2400" dirty="0" smtClean="0">
                <a:latin typeface="Times New Roman" pitchFamily="18" charset="0"/>
                <a:cs typeface="Times New Roman" pitchFamily="18" charset="0"/>
              </a:rPr>
              <a:t>Now, navigate to the bucket pointed by the directory with directory-</a:t>
            </a:r>
            <a:r>
              <a:rPr lang="en-US" sz="2400" i="1" dirty="0" smtClean="0">
                <a:latin typeface="Times New Roman" pitchFamily="18" charset="0"/>
                <a:cs typeface="Times New Roman" pitchFamily="18" charset="0"/>
              </a:rPr>
              <a:t>id</a:t>
            </a:r>
            <a:r>
              <a:rPr lang="en-US" sz="2400" dirty="0" smtClean="0">
                <a:latin typeface="Times New Roman" pitchFamily="18" charset="0"/>
                <a:cs typeface="Times New Roman" pitchFamily="18" charset="0"/>
              </a:rPr>
              <a:t> 001.</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r>
              <a:rPr lang="en-US" sz="2400" b="1" dirty="0" smtClean="0">
                <a:latin typeface="Times New Roman" pitchFamily="18" charset="0"/>
                <a:cs typeface="Times New Roman" pitchFamily="18" charset="0"/>
              </a:rPr>
              <a:t>Step 6 – Insertion and Overflow Check: </a:t>
            </a:r>
          </a:p>
          <a:p>
            <a:pPr lvl="1"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Insert the element and check if the bucket overflows. If an overflow is encountered, go to </a:t>
            </a:r>
            <a:r>
              <a:rPr lang="en-US" sz="2400" b="1" dirty="0" smtClean="0">
                <a:latin typeface="Times New Roman" pitchFamily="18" charset="0"/>
                <a:cs typeface="Times New Roman" pitchFamily="18" charset="0"/>
              </a:rPr>
              <a:t>step 7</a:t>
            </a:r>
            <a:r>
              <a:rPr lang="en-US" sz="2400" dirty="0" smtClean="0">
                <a:latin typeface="Times New Roman" pitchFamily="18" charset="0"/>
                <a:cs typeface="Times New Roman" pitchFamily="18" charset="0"/>
              </a:rPr>
              <a:t> followed by </a:t>
            </a:r>
            <a:r>
              <a:rPr lang="en-US" sz="2400" b="1" dirty="0" smtClean="0">
                <a:latin typeface="Times New Roman" pitchFamily="18" charset="0"/>
                <a:cs typeface="Times New Roman" pitchFamily="18" charset="0"/>
              </a:rPr>
              <a:t>Step 8</a:t>
            </a:r>
            <a:r>
              <a:rPr lang="en-US" sz="2400" dirty="0" smtClean="0">
                <a:latin typeface="Times New Roman" pitchFamily="18" charset="0"/>
                <a:cs typeface="Times New Roman" pitchFamily="18" charset="0"/>
              </a:rPr>
              <a:t>, otherwise, go to </a:t>
            </a:r>
            <a:r>
              <a:rPr lang="en-US" sz="2400" b="1" dirty="0" smtClean="0">
                <a:latin typeface="Times New Roman" pitchFamily="18" charset="0"/>
                <a:cs typeface="Times New Roman" pitchFamily="18" charset="0"/>
              </a:rPr>
              <a:t>step 9</a:t>
            </a:r>
            <a:r>
              <a:rPr lang="en-US" sz="2400" dirty="0" smtClean="0">
                <a:latin typeface="Times New Roman" pitchFamily="18" charset="0"/>
                <a:cs typeface="Times New Roman" pitchFamily="18" charset="0"/>
              </a:rPr>
              <a:t>.</a:t>
            </a:r>
          </a:p>
          <a:p>
            <a:pPr lvl="1" algn="just"/>
            <a:r>
              <a:rPr lang="en-US" sz="2400" b="1" dirty="0" smtClean="0">
                <a:latin typeface="Times New Roman" pitchFamily="18" charset="0"/>
                <a:cs typeface="Times New Roman" pitchFamily="18" charset="0"/>
              </a:rPr>
              <a:t>Step 7 – Tackling Overflow Condition during Data Insertion: </a:t>
            </a:r>
          </a:p>
          <a:p>
            <a:pPr lvl="1" algn="just">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Many times, while inserting data in the buckets, it might happen that the Bucket overflows. In such cases, we need to follow an appropriate procedure to avoid mishandling of data.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buNone/>
            </a:pPr>
            <a:r>
              <a:rPr lang="en-US" sz="2400" dirty="0" smtClean="0">
                <a:latin typeface="Times New Roman" pitchFamily="18" charset="0"/>
                <a:cs typeface="Times New Roman" pitchFamily="18" charset="0"/>
              </a:rPr>
              <a:t>	First, Check if the local depth is less than or equal to the global depth. Then choose one of the cases below. </a:t>
            </a:r>
          </a:p>
          <a:p>
            <a:pPr lvl="1" algn="just">
              <a:buNone/>
            </a:pPr>
            <a:r>
              <a:rPr lang="en-US" sz="2400" b="1" dirty="0" smtClean="0">
                <a:latin typeface="Times New Roman" pitchFamily="18" charset="0"/>
                <a:cs typeface="Times New Roman" pitchFamily="18" charset="0"/>
              </a:rPr>
              <a:t>	Case-1:</a:t>
            </a:r>
            <a:r>
              <a:rPr lang="en-US" sz="2400" dirty="0" smtClean="0">
                <a:latin typeface="Times New Roman" pitchFamily="18" charset="0"/>
                <a:cs typeface="Times New Roman" pitchFamily="18" charset="0"/>
              </a:rPr>
              <a:t> If the local depth of the overflowing Bucket is equal to the global depth, then Directory Expansion, as well as Bucket Split, needs to be performed. Then increment the global depth and the local depth value by 1. And, assign appropriate pointers. Directory expansion will double the number of directories present in the hash structure.</a:t>
            </a:r>
          </a:p>
          <a:p>
            <a:pPr lvl="1" algn="just">
              <a:buNone/>
            </a:pPr>
            <a:r>
              <a:rPr lang="en-US" sz="2400" b="1" dirty="0" smtClean="0">
                <a:latin typeface="Times New Roman" pitchFamily="18" charset="0"/>
                <a:cs typeface="Times New Roman" pitchFamily="18" charset="0"/>
              </a:rPr>
              <a:t>	Case-2:</a:t>
            </a:r>
            <a:r>
              <a:rPr lang="en-US" sz="2400" dirty="0" smtClean="0">
                <a:latin typeface="Times New Roman" pitchFamily="18" charset="0"/>
                <a:cs typeface="Times New Roman" pitchFamily="18" charset="0"/>
              </a:rPr>
              <a:t> In case the local depth is less than the global depth, then only Bucket Split takes place. Then increment only the local depth value by 1. And, assign appropriate pointers.</a:t>
            </a: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Basic Working of Extendible Hashing</a:t>
            </a:r>
          </a:p>
          <a:p>
            <a:pPr lvl="1" algn="just"/>
            <a:endParaRPr lang="en-US" sz="2400" b="1" dirty="0" smtClean="0">
              <a:latin typeface="Times New Roman" pitchFamily="18" charset="0"/>
              <a:cs typeface="Times New Roman" pitchFamily="18" charset="0"/>
            </a:endParaRPr>
          </a:p>
          <a:p>
            <a:pPr lvl="1" algn="just"/>
            <a:endParaRPr lang="en-US" sz="2400" b="1" dirty="0" smtClean="0">
              <a:latin typeface="Times New Roman" pitchFamily="18" charset="0"/>
              <a:cs typeface="Times New Roman" pitchFamily="18" charset="0"/>
            </a:endParaRPr>
          </a:p>
          <a:p>
            <a:pPr lvl="1" algn="just"/>
            <a:endParaRPr lang="en-US" sz="2400" b="1" dirty="0" smtClean="0">
              <a:latin typeface="Times New Roman" pitchFamily="18" charset="0"/>
              <a:cs typeface="Times New Roman" pitchFamily="18" charset="0"/>
            </a:endParaRPr>
          </a:p>
          <a:p>
            <a:pPr lvl="1" algn="just"/>
            <a:endParaRPr lang="en-US" sz="2400" b="1" dirty="0" smtClean="0">
              <a:latin typeface="Times New Roman" pitchFamily="18" charset="0"/>
              <a:cs typeface="Times New Roman" pitchFamily="18" charset="0"/>
            </a:endParaRPr>
          </a:p>
          <a:p>
            <a:pPr lvl="1" algn="just"/>
            <a:endParaRPr lang="en-US" sz="2400" b="1" dirty="0" smtClean="0">
              <a:latin typeface="Times New Roman" pitchFamily="18" charset="0"/>
              <a:cs typeface="Times New Roman" pitchFamily="18" charset="0"/>
            </a:endParaRPr>
          </a:p>
          <a:p>
            <a:pPr lvl="1" algn="just"/>
            <a:endParaRPr lang="en-US" sz="2400" b="1" dirty="0" smtClean="0">
              <a:latin typeface="Times New Roman" pitchFamily="18" charset="0"/>
              <a:cs typeface="Times New Roman" pitchFamily="18" charset="0"/>
            </a:endParaRPr>
          </a:p>
          <a:p>
            <a:pPr lvl="1" algn="just"/>
            <a:endParaRPr lang="en-US" sz="2000" b="1" dirty="0" smtClean="0">
              <a:latin typeface="Times New Roman" pitchFamily="18" charset="0"/>
              <a:cs typeface="Times New Roman" pitchFamily="18" charset="0"/>
            </a:endParaRPr>
          </a:p>
          <a:p>
            <a:pPr lvl="1" algn="just"/>
            <a:r>
              <a:rPr lang="en-US" sz="2000" b="1" dirty="0" smtClean="0">
                <a:latin typeface="Times New Roman" pitchFamily="18" charset="0"/>
                <a:cs typeface="Times New Roman" pitchFamily="18" charset="0"/>
              </a:rPr>
              <a:t>Step 8 – Rehashing of Split Bucket Elements: </a:t>
            </a:r>
            <a:r>
              <a:rPr lang="en-US" sz="2000" dirty="0" smtClean="0">
                <a:latin typeface="Times New Roman" pitchFamily="18" charset="0"/>
                <a:cs typeface="Times New Roman" pitchFamily="18" charset="0"/>
              </a:rPr>
              <a:t>The Elements present in the overflowing bucket that is split are rehashed </a:t>
            </a:r>
            <a:r>
              <a:rPr lang="en-US" sz="2000" dirty="0" err="1" smtClean="0">
                <a:latin typeface="Times New Roman" pitchFamily="18" charset="0"/>
                <a:cs typeface="Times New Roman" pitchFamily="18" charset="0"/>
              </a:rPr>
              <a:t>w.r.t</a:t>
            </a:r>
            <a:r>
              <a:rPr lang="en-US" sz="2000" dirty="0" smtClean="0">
                <a:latin typeface="Times New Roman" pitchFamily="18" charset="0"/>
                <a:cs typeface="Times New Roman" pitchFamily="18" charset="0"/>
              </a:rPr>
              <a:t> the new global depth of the directory.</a:t>
            </a:r>
          </a:p>
          <a:p>
            <a:pPr lvl="1" algn="just"/>
            <a:r>
              <a:rPr lang="en-US" sz="2000" b="1" dirty="0" smtClean="0">
                <a:latin typeface="Times New Roman" pitchFamily="18" charset="0"/>
                <a:cs typeface="Times New Roman" pitchFamily="18" charset="0"/>
              </a:rPr>
              <a:t>Step 9 –</a:t>
            </a:r>
            <a:r>
              <a:rPr lang="en-US" sz="2000" dirty="0" smtClean="0">
                <a:latin typeface="Times New Roman" pitchFamily="18" charset="0"/>
                <a:cs typeface="Times New Roman" pitchFamily="18" charset="0"/>
              </a:rPr>
              <a:t> The element is successfully hashed.</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0" name="Picture 9" descr="Lightbox"/>
          <p:cNvPicPr/>
          <p:nvPr/>
        </p:nvPicPr>
        <p:blipFill>
          <a:blip r:embed="rId4"/>
          <a:srcRect/>
          <a:stretch>
            <a:fillRect/>
          </a:stretch>
        </p:blipFill>
        <p:spPr bwMode="auto">
          <a:xfrm>
            <a:off x="2209800" y="2057400"/>
            <a:ext cx="4953000"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Algorithm for Inserting New Record into the Dynamic/Extendible Hash Structure</a:t>
            </a:r>
          </a:p>
          <a:p>
            <a:pPr lvl="1" algn="just"/>
            <a:r>
              <a:rPr lang="en-US" sz="2400" dirty="0" smtClean="0">
                <a:latin typeface="Times New Roman" pitchFamily="18" charset="0"/>
                <a:cs typeface="Times New Roman" pitchFamily="18" charset="0"/>
              </a:rPr>
              <a:t>The following steps explain how the algorithm works:</a:t>
            </a:r>
          </a:p>
          <a:p>
            <a:pPr lvl="0">
              <a:buNone/>
            </a:pPr>
            <a:r>
              <a:rPr lang="en-US" sz="2400" dirty="0" smtClean="0">
                <a:latin typeface="Times New Roman" pitchFamily="18" charset="0"/>
                <a:cs typeface="Times New Roman" pitchFamily="18" charset="0"/>
              </a:rPr>
              <a:t>	</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Step-1:</a:t>
            </a:r>
            <a:r>
              <a:rPr lang="en-US" sz="2400" dirty="0" smtClean="0">
                <a:latin typeface="Times New Roman" pitchFamily="18" charset="0"/>
                <a:cs typeface="Times New Roman" pitchFamily="18" charset="0"/>
              </a:rPr>
              <a:t> Initialize the bucket depths and the global depth of the 	     directories.</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Step-2:</a:t>
            </a:r>
            <a:r>
              <a:rPr lang="en-US" sz="2400" dirty="0" smtClean="0">
                <a:latin typeface="Times New Roman" pitchFamily="18" charset="0"/>
                <a:cs typeface="Times New Roman" pitchFamily="18" charset="0"/>
              </a:rPr>
              <a:t> Convert data into a binary representation.</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Step-3:</a:t>
            </a:r>
            <a:r>
              <a:rPr lang="en-US" sz="2400" dirty="0" smtClean="0">
                <a:latin typeface="Times New Roman" pitchFamily="18" charset="0"/>
                <a:cs typeface="Times New Roman" pitchFamily="18" charset="0"/>
              </a:rPr>
              <a:t> Consider the "global depth" number of the least 		     significant bits (LSBs) of data.</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Step-4:</a:t>
            </a:r>
            <a:r>
              <a:rPr lang="en-US" sz="2400" dirty="0" smtClean="0">
                <a:latin typeface="Times New Roman" pitchFamily="18" charset="0"/>
                <a:cs typeface="Times New Roman" pitchFamily="18" charset="0"/>
              </a:rPr>
              <a:t> Map the data according to the ID of a directory.</a:t>
            </a:r>
          </a:p>
          <a:p>
            <a:pPr lvl="0">
              <a:buNone/>
            </a:pPr>
            <a:r>
              <a:rPr lang="en-US" sz="2400" dirty="0" smtClean="0">
                <a:latin typeface="Times New Roman" pitchFamily="18" charset="0"/>
                <a:cs typeface="Times New Roman" pitchFamily="18" charset="0"/>
              </a:rPr>
              <a:t>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Algorithm for Inserting New Record into the Dynamic/Extendible Hash Structure</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Step-5:</a:t>
            </a:r>
            <a:r>
              <a:rPr lang="en-US" sz="2400" dirty="0" smtClean="0">
                <a:latin typeface="Times New Roman" pitchFamily="18" charset="0"/>
                <a:cs typeface="Times New Roman" pitchFamily="18" charset="0"/>
              </a:rPr>
              <a:t> Check for the following conditions if a bucket overflows (if the number of elements in a bucket exceeds the set limit):</a:t>
            </a:r>
            <a:endParaRPr lang="en-US" sz="2000" dirty="0" smtClean="0">
              <a:latin typeface="Times New Roman" pitchFamily="18" charset="0"/>
              <a:cs typeface="Times New Roman" pitchFamily="18" charset="0"/>
            </a:endParaRPr>
          </a:p>
          <a:p>
            <a:pPr lvl="1">
              <a:buNone/>
            </a:pPr>
            <a:r>
              <a:rPr lang="en-US" sz="2000" b="1" dirty="0" err="1" smtClean="0">
                <a:latin typeface="Times New Roman" pitchFamily="18" charset="0"/>
                <a:cs typeface="Times New Roman" pitchFamily="18" charset="0"/>
              </a:rPr>
              <a:t>i</a:t>
            </a:r>
            <a:r>
              <a:rPr lang="en-US" sz="2000" b="1" dirty="0" smtClean="0">
                <a:latin typeface="Times New Roman" pitchFamily="18" charset="0"/>
                <a:cs typeface="Times New Roman" pitchFamily="18" charset="0"/>
              </a:rPr>
              <a:t>. If Global depth = bucket depth</a:t>
            </a:r>
            <a:r>
              <a:rPr lang="en-US" sz="2000" dirty="0" smtClean="0">
                <a:latin typeface="Times New Roman" pitchFamily="18" charset="0"/>
                <a:cs typeface="Times New Roman" pitchFamily="18" charset="0"/>
              </a:rPr>
              <a:t>: Split the bucket into two and increment the global depth and the buckets' depth. Re-hash the elements that were present in the split bucket.</a:t>
            </a:r>
          </a:p>
          <a:p>
            <a:pPr lvl="1">
              <a:buNone/>
            </a:pPr>
            <a:r>
              <a:rPr lang="en-US" sz="2000" b="1" dirty="0" smtClean="0">
                <a:latin typeface="Times New Roman" pitchFamily="18" charset="0"/>
                <a:cs typeface="Times New Roman" pitchFamily="18" charset="0"/>
              </a:rPr>
              <a:t>ii. Global depth &gt; bucket depth</a:t>
            </a:r>
            <a:r>
              <a:rPr lang="en-US" sz="2000" dirty="0" smtClean="0">
                <a:latin typeface="Times New Roman" pitchFamily="18" charset="0"/>
                <a:cs typeface="Times New Roman" pitchFamily="18" charset="0"/>
              </a:rPr>
              <a:t>: Split the bucket into two and increment the bucket depth only. Re-hash the elements that were present in the split bucket.</a:t>
            </a:r>
          </a:p>
          <a:p>
            <a:pPr lvl="0">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Step-6: </a:t>
            </a:r>
            <a:r>
              <a:rPr lang="en-US" sz="2400" dirty="0" smtClean="0">
                <a:latin typeface="Times New Roman" pitchFamily="18" charset="0"/>
                <a:cs typeface="Times New Roman" pitchFamily="18" charset="0"/>
              </a:rPr>
              <a:t>Repeat the steps above for each element.</a:t>
            </a: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 Searching Algorithm</a:t>
            </a:r>
          </a:p>
          <a:p>
            <a:pPr lvl="0">
              <a:buNone/>
            </a:pPr>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When searching for a key, the hash function computes the key's hash value, and the resulting index is used to quickly locate the key's value in the table.</a:t>
            </a:r>
          </a:p>
          <a:p>
            <a:pPr lvl="1"/>
            <a:r>
              <a:rPr lang="en-US" sz="2000" b="1" dirty="0" smtClean="0">
                <a:latin typeface="Times New Roman" pitchFamily="18" charset="0"/>
                <a:cs typeface="Times New Roman" pitchFamily="18" charset="0"/>
              </a:rPr>
              <a:t>Input:</a:t>
            </a:r>
            <a:r>
              <a:rPr lang="en-US" sz="2000" dirty="0" smtClean="0">
                <a:latin typeface="Times New Roman" pitchFamily="18" charset="0"/>
                <a:cs typeface="Times New Roman" pitchFamily="18" charset="0"/>
              </a:rPr>
              <a:t> Key </a:t>
            </a:r>
            <a:r>
              <a:rPr lang="en-US" sz="2000" i="1" dirty="0" smtClean="0">
                <a:latin typeface="Times New Roman" pitchFamily="18" charset="0"/>
                <a:cs typeface="Times New Roman" pitchFamily="18" charset="0"/>
              </a:rPr>
              <a:t>k</a:t>
            </a:r>
            <a:r>
              <a:rPr lang="en-US" sz="2000" dirty="0" smtClean="0">
                <a:latin typeface="Times New Roman" pitchFamily="18" charset="0"/>
                <a:cs typeface="Times New Roman" pitchFamily="18" charset="0"/>
              </a:rPr>
              <a:t> and hash table.</a:t>
            </a:r>
          </a:p>
          <a:p>
            <a:pPr lvl="1"/>
            <a:r>
              <a:rPr lang="en-US" sz="2000" b="1" dirty="0" smtClean="0">
                <a:latin typeface="Times New Roman" pitchFamily="18" charset="0"/>
                <a:cs typeface="Times New Roman" pitchFamily="18" charset="0"/>
              </a:rPr>
              <a:t>Compute Hash:</a:t>
            </a:r>
            <a:r>
              <a:rPr lang="en-US" sz="2000" dirty="0" smtClean="0">
                <a:latin typeface="Times New Roman" pitchFamily="18" charset="0"/>
                <a:cs typeface="Times New Roman" pitchFamily="18" charset="0"/>
              </a:rPr>
              <a:t> Compute the hash value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 for the key.</a:t>
            </a:r>
          </a:p>
          <a:p>
            <a:pPr lvl="1">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 = </a:t>
            </a:r>
            <a:r>
              <a:rPr lang="en-US" sz="2000" dirty="0" err="1" smtClean="0">
                <a:latin typeface="Times New Roman" pitchFamily="18" charset="0"/>
                <a:cs typeface="Times New Roman" pitchFamily="18" charset="0"/>
              </a:rPr>
              <a:t>hash_function</a:t>
            </a:r>
            <a:r>
              <a:rPr lang="en-US" sz="2000" dirty="0" smtClean="0">
                <a:latin typeface="Times New Roman" pitchFamily="18" charset="0"/>
                <a:cs typeface="Times New Roman" pitchFamily="18" charset="0"/>
              </a:rPr>
              <a:t>(</a:t>
            </a:r>
            <a:r>
              <a:rPr lang="en-US" sz="2000" i="1" dirty="0" smtClean="0">
                <a:latin typeface="Times New Roman" pitchFamily="18" charset="0"/>
                <a:cs typeface="Times New Roman" pitchFamily="18" charset="0"/>
              </a:rPr>
              <a:t>k</a:t>
            </a:r>
            <a:r>
              <a:rPr lang="en-US" sz="2000" dirty="0" smtClean="0">
                <a:latin typeface="Times New Roman" pitchFamily="18" charset="0"/>
                <a:cs typeface="Times New Roman" pitchFamily="18" charset="0"/>
              </a:rPr>
              <a:t>)</a:t>
            </a:r>
          </a:p>
          <a:p>
            <a:pPr lvl="1"/>
            <a:r>
              <a:rPr lang="en-US" sz="2000" b="1" dirty="0" smtClean="0">
                <a:latin typeface="Times New Roman" pitchFamily="18" charset="0"/>
                <a:cs typeface="Times New Roman" pitchFamily="18" charset="0"/>
              </a:rPr>
              <a:t>Determine Index:</a:t>
            </a:r>
            <a:r>
              <a:rPr lang="en-US" sz="2000" dirty="0" smtClean="0">
                <a:latin typeface="Times New Roman" pitchFamily="18" charset="0"/>
                <a:cs typeface="Times New Roman" pitchFamily="18" charset="0"/>
              </a:rPr>
              <a:t> Use the first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bits of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 to find the directory index.</a:t>
            </a:r>
          </a:p>
          <a:p>
            <a:pPr lvl="1">
              <a:buNone/>
            </a:pPr>
            <a:r>
              <a:rPr lang="en-US" sz="2000" dirty="0" smtClean="0">
                <a:latin typeface="Times New Roman" pitchFamily="18" charset="0"/>
                <a:cs typeface="Times New Roman" pitchFamily="18" charset="0"/>
              </a:rPr>
              <a:t>			index =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[0:</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a:t>
            </a:r>
          </a:p>
          <a:p>
            <a:pPr lvl="1"/>
            <a:r>
              <a:rPr lang="en-US" sz="2000" b="1" dirty="0" smtClean="0">
                <a:latin typeface="Times New Roman" pitchFamily="18" charset="0"/>
                <a:cs typeface="Times New Roman" pitchFamily="18" charset="0"/>
              </a:rPr>
              <a:t>Locate Bucket:</a:t>
            </a:r>
            <a:r>
              <a:rPr lang="en-US" sz="2000" dirty="0" smtClean="0">
                <a:latin typeface="Times New Roman" pitchFamily="18" charset="0"/>
                <a:cs typeface="Times New Roman" pitchFamily="18" charset="0"/>
              </a:rPr>
              <a:t> Access the bucket at the computed index.</a:t>
            </a:r>
          </a:p>
          <a:p>
            <a:pPr lvl="1"/>
            <a:r>
              <a:rPr lang="en-US" sz="2000" b="1" dirty="0" smtClean="0">
                <a:latin typeface="Times New Roman" pitchFamily="18" charset="0"/>
                <a:cs typeface="Times New Roman" pitchFamily="18" charset="0"/>
              </a:rPr>
              <a:t>Search in Bucket:</a:t>
            </a:r>
            <a:endParaRPr lang="en-US" sz="2000" dirty="0" smtClean="0">
              <a:latin typeface="Times New Roman" pitchFamily="18" charset="0"/>
              <a:cs typeface="Times New Roman" pitchFamily="18" charset="0"/>
            </a:endParaRPr>
          </a:p>
          <a:p>
            <a:pPr lvl="2"/>
            <a:r>
              <a:rPr lang="en-US" sz="2000" dirty="0" smtClean="0">
                <a:latin typeface="Times New Roman" pitchFamily="18" charset="0"/>
                <a:cs typeface="Times New Roman" pitchFamily="18" charset="0"/>
              </a:rPr>
              <a:t>Check if the key </a:t>
            </a:r>
            <a:r>
              <a:rPr lang="en-US" sz="2000" i="1" dirty="0" smtClean="0">
                <a:latin typeface="Times New Roman" pitchFamily="18" charset="0"/>
                <a:cs typeface="Times New Roman" pitchFamily="18" charset="0"/>
              </a:rPr>
              <a:t>k</a:t>
            </a:r>
            <a:r>
              <a:rPr lang="en-US" sz="2000" dirty="0" smtClean="0">
                <a:latin typeface="Times New Roman" pitchFamily="18" charset="0"/>
                <a:cs typeface="Times New Roman" pitchFamily="18" charset="0"/>
              </a:rPr>
              <a:t> exists in the bucket.</a:t>
            </a:r>
          </a:p>
          <a:p>
            <a:pPr lvl="2"/>
            <a:r>
              <a:rPr lang="en-US" sz="2000" dirty="0" smtClean="0">
                <a:latin typeface="Times New Roman" pitchFamily="18" charset="0"/>
                <a:cs typeface="Times New Roman" pitchFamily="18" charset="0"/>
              </a:rPr>
              <a:t>If found, return the corresponding value.</a:t>
            </a:r>
          </a:p>
          <a:p>
            <a:pPr lvl="2"/>
            <a:r>
              <a:rPr lang="en-US" sz="2000" dirty="0" smtClean="0">
                <a:latin typeface="Times New Roman" pitchFamily="18" charset="0"/>
                <a:cs typeface="Times New Roman" pitchFamily="18" charset="0"/>
              </a:rPr>
              <a:t>If not found, return an error message (key does not exist).</a:t>
            </a:r>
          </a:p>
          <a:p>
            <a:pPr lvl="1"/>
            <a:r>
              <a:rPr lang="en-US" sz="2000" b="1" dirty="0" smtClean="0">
                <a:latin typeface="Times New Roman" pitchFamily="18" charset="0"/>
                <a:cs typeface="Times New Roman" pitchFamily="18" charset="0"/>
              </a:rPr>
              <a:t>End.</a:t>
            </a:r>
            <a:endParaRPr lang="en-US" sz="2000" dirty="0" smtClean="0">
              <a:latin typeface="Times New Roman" pitchFamily="18" charset="0"/>
              <a:cs typeface="Times New Roman" pitchFamily="18" charset="0"/>
            </a:endParaRP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p>
          <a:p>
            <a:pPr lvl="1">
              <a:buNone/>
            </a:pPr>
            <a:r>
              <a:rPr lang="en-US" sz="2400" dirty="0" smtClean="0">
                <a:latin typeface="Times New Roman" pitchFamily="18" charset="0"/>
                <a:cs typeface="Times New Roman" pitchFamily="18" charset="0"/>
              </a:rPr>
              <a:t>Consider the following elements:</a:t>
            </a:r>
          </a:p>
          <a:p>
            <a:pPr fontAlgn="base">
              <a:buNone/>
            </a:pPr>
            <a:r>
              <a:rPr lang="en-US" sz="2400" dirty="0" smtClean="0">
                <a:latin typeface="Times New Roman" pitchFamily="18" charset="0"/>
                <a:cs typeface="Times New Roman" pitchFamily="18" charset="0"/>
              </a:rPr>
              <a:t>		16, 4, 6, 22, 24, 10, 31, 7, 9, 20, 26</a:t>
            </a:r>
          </a:p>
          <a:p>
            <a:pPr fontAlgn="base">
              <a:buNone/>
            </a:pPr>
            <a:r>
              <a:rPr lang="en-US" sz="2400" dirty="0" smtClean="0">
                <a:latin typeface="Times New Roman" pitchFamily="18" charset="0"/>
                <a:cs typeface="Times New Roman" pitchFamily="18" charset="0"/>
              </a:rPr>
              <a:t>	Construct the extendible hash structure for Bucket Size=3. </a:t>
            </a:r>
          </a:p>
          <a:p>
            <a:pPr fontAlgn="base">
              <a:buNone/>
            </a:pPr>
            <a:endParaRPr lang="en-US" sz="2400" b="1" dirty="0" smtClean="0">
              <a:latin typeface="Times New Roman" pitchFamily="18" charset="0"/>
              <a:cs typeface="Times New Roman" pitchFamily="18" charset="0"/>
            </a:endParaRPr>
          </a:p>
          <a:p>
            <a:pPr fontAlgn="base">
              <a:buNone/>
            </a:pPr>
            <a:r>
              <a:rPr lang="en-US" sz="2400" b="1" dirty="0" smtClean="0">
                <a:latin typeface="Times New Roman" pitchFamily="18" charset="0"/>
                <a:cs typeface="Times New Roman" pitchFamily="18" charset="0"/>
              </a:rPr>
              <a:t>Solution:</a:t>
            </a:r>
            <a:r>
              <a:rPr lang="en-US" sz="2400" dirty="0" smtClean="0">
                <a:latin typeface="Times New Roman" pitchFamily="18" charset="0"/>
                <a:cs typeface="Times New Roman" pitchFamily="18" charset="0"/>
              </a:rPr>
              <a:t>   </a:t>
            </a: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fontAlgn="base">
              <a:buNone/>
            </a:pPr>
            <a:r>
              <a:rPr lang="en-US" sz="2400" b="1" dirty="0" smtClean="0">
                <a:latin typeface="Times New Roman" pitchFamily="18" charset="0"/>
                <a:cs typeface="Times New Roman" pitchFamily="18" charset="0"/>
              </a:rPr>
              <a:t>	Solution:</a:t>
            </a:r>
            <a:r>
              <a:rPr lang="en-US" sz="2400" dirty="0" smtClean="0">
                <a:latin typeface="Times New Roman" pitchFamily="18" charset="0"/>
                <a:cs typeface="Times New Roman" pitchFamily="18" charset="0"/>
              </a:rPr>
              <a:t>  Calculate the binary forms of each of the given key elements.</a:t>
            </a: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2438400" y="2655576"/>
          <a:ext cx="4648200" cy="3785616"/>
        </p:xfrm>
        <a:graphic>
          <a:graphicData uri="http://schemas.openxmlformats.org/drawingml/2006/table">
            <a:tbl>
              <a:tblPr/>
              <a:tblGrid>
                <a:gridCol w="2260427"/>
                <a:gridCol w="2387773"/>
              </a:tblGrid>
              <a:tr h="305752">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Key element</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Binary form</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10000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4</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22</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24</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11000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31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7</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9</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01001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20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5752">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fontAlgn="base">
              <a:buNone/>
            </a:pPr>
            <a:r>
              <a:rPr lang="en-US" sz="2400" b="1" dirty="0" smtClean="0">
                <a:latin typeface="Times New Roman" pitchFamily="18" charset="0"/>
                <a:cs typeface="Times New Roman" pitchFamily="18" charset="0"/>
              </a:rPr>
              <a:t>	Solution:</a:t>
            </a:r>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Initially, the global-depth and local-depth is always 1. Thus, the hashing frame looks like this: </a:t>
            </a: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066800" y="2767584"/>
          <a:ext cx="3048000" cy="3785616"/>
        </p:xfrm>
        <a:graphic>
          <a:graphicData uri="http://schemas.openxmlformats.org/drawingml/2006/table">
            <a:tbl>
              <a:tblPr/>
              <a:tblGrid>
                <a:gridCol w="1486829"/>
                <a:gridCol w="1561171"/>
              </a:tblGrid>
              <a:tr h="296418">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Key element</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Binary form</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10000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4</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22</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24</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11000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31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7</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9</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01001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20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418">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4"/>
          <a:srcRect/>
          <a:stretch>
            <a:fillRect/>
          </a:stretch>
        </p:blipFill>
        <p:spPr bwMode="auto">
          <a:xfrm>
            <a:off x="4572000" y="3048000"/>
            <a:ext cx="37338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fontAlgn="base">
              <a:buNone/>
            </a:pPr>
            <a:r>
              <a:rPr lang="en-US" sz="24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Inserting 16: </a:t>
            </a:r>
            <a:r>
              <a:rPr lang="en-US" sz="2000" dirty="0" smtClean="0">
                <a:latin typeface="Times New Roman" pitchFamily="18" charset="0"/>
                <a:cs typeface="Times New Roman" pitchFamily="18" charset="0"/>
              </a:rPr>
              <a:t>The binary format of 16 is 10000 and global-depth is 1. The hash function returns 1 LSB of 1000</a:t>
            </a:r>
            <a:r>
              <a:rPr lang="en-US" sz="2000" b="1"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which is 0. Hence, 16 is mapped to the directory with id=0.  </a:t>
            </a: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219200" y="3007608"/>
          <a:ext cx="2819400" cy="3364992"/>
        </p:xfrm>
        <a:graphic>
          <a:graphicData uri="http://schemas.openxmlformats.org/drawingml/2006/table">
            <a:tbl>
              <a:tblPr/>
              <a:tblGrid>
                <a:gridCol w="1375317"/>
                <a:gridCol w="1444083"/>
              </a:tblGrid>
              <a:tr h="270066">
                <a:tc>
                  <a:txBody>
                    <a:bodyPr/>
                    <a:lstStyle/>
                    <a:p>
                      <a:pPr marL="0" marR="0" algn="ctr" fontAlgn="base">
                        <a:lnSpc>
                          <a:spcPct val="115000"/>
                        </a:lnSpc>
                        <a:spcBef>
                          <a:spcPts val="0"/>
                        </a:spcBef>
                        <a:spcAft>
                          <a:spcPts val="0"/>
                        </a:spcAft>
                      </a:pPr>
                      <a:r>
                        <a:rPr lang="en-US" sz="1600" b="1" spc="10" dirty="0">
                          <a:solidFill>
                            <a:srgbClr val="273239"/>
                          </a:solidFill>
                          <a:latin typeface="Times New Roman"/>
                          <a:ea typeface="Times New Roman"/>
                          <a:cs typeface="Times New Roman"/>
                        </a:rPr>
                        <a:t>Key element</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b="1" spc="10" dirty="0">
                          <a:solidFill>
                            <a:srgbClr val="273239"/>
                          </a:solidFill>
                          <a:latin typeface="Times New Roman"/>
                          <a:ea typeface="Times New Roman"/>
                          <a:cs typeface="Times New Roman"/>
                        </a:rPr>
                        <a:t>Binary form</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dirty="0">
                          <a:solidFill>
                            <a:srgbClr val="FF0000"/>
                          </a:solidFill>
                          <a:latin typeface="Times New Roman"/>
                          <a:ea typeface="Times New Roman"/>
                          <a:cs typeface="Times New Roman"/>
                        </a:rPr>
                        <a:t>16</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dirty="0">
                          <a:solidFill>
                            <a:schemeClr val="tx1"/>
                          </a:solidFill>
                          <a:latin typeface="Times New Roman"/>
                          <a:ea typeface="Times New Roman"/>
                          <a:cs typeface="Times New Roman"/>
                        </a:rPr>
                        <a:t>1000</a:t>
                      </a:r>
                      <a:r>
                        <a:rPr lang="en-US" sz="1600" spc="1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4</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00100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6</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00110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22</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10110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24</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11000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10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01010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31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11111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7</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00111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9</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01001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20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10100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66">
                <a:tc>
                  <a:txBody>
                    <a:bodyPr/>
                    <a:lstStyle/>
                    <a:p>
                      <a:pPr marL="0" marR="0" algn="ctr" fontAlgn="base">
                        <a:lnSpc>
                          <a:spcPct val="115000"/>
                        </a:lnSpc>
                        <a:spcBef>
                          <a:spcPts val="0"/>
                        </a:spcBef>
                        <a:spcAft>
                          <a:spcPts val="0"/>
                        </a:spcAft>
                      </a:pPr>
                      <a:r>
                        <a:rPr lang="en-US" sz="1600" spc="10">
                          <a:solidFill>
                            <a:srgbClr val="273239"/>
                          </a:solidFill>
                          <a:latin typeface="Times New Roman"/>
                          <a:ea typeface="Times New Roman"/>
                          <a:cs typeface="Times New Roman"/>
                        </a:rPr>
                        <a:t>26</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600" spc="10" dirty="0">
                          <a:solidFill>
                            <a:srgbClr val="273239"/>
                          </a:solidFill>
                          <a:latin typeface="Times New Roman"/>
                          <a:ea typeface="Times New Roman"/>
                          <a:cs typeface="Times New Roman"/>
                        </a:rPr>
                        <a:t>11010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4"/>
          <a:srcRect/>
          <a:stretch>
            <a:fillRect/>
          </a:stretch>
        </p:blipFill>
        <p:spPr bwMode="auto">
          <a:xfrm>
            <a:off x="4724400" y="3048000"/>
            <a:ext cx="3429000" cy="32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Inserting 4 and 6: </a:t>
            </a:r>
            <a:r>
              <a:rPr lang="en-US" sz="2000" dirty="0" smtClean="0">
                <a:latin typeface="Times New Roman" pitchFamily="18" charset="0"/>
                <a:cs typeface="Times New Roman" pitchFamily="18" charset="0"/>
              </a:rPr>
              <a:t>Both 4(0010</a:t>
            </a:r>
            <a:r>
              <a:rPr lang="en-US" sz="2000" b="1"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and 6(0011</a:t>
            </a:r>
            <a:r>
              <a:rPr lang="en-US" sz="2000" b="1"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have 0 in their LSB. Hence, they are hashed as follows:    </a:t>
            </a:r>
          </a:p>
          <a:p>
            <a:pPr lvl="1"/>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219200" y="2779008"/>
          <a:ext cx="2819400" cy="3785616"/>
        </p:xfrm>
        <a:graphic>
          <a:graphicData uri="http://schemas.openxmlformats.org/drawingml/2006/table">
            <a:tbl>
              <a:tblPr/>
              <a:tblGrid>
                <a:gridCol w="1375317"/>
                <a:gridCol w="1444083"/>
              </a:tblGrid>
              <a:tr h="295466">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Key element</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Binary form</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16</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10000</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dirty="0">
                          <a:solidFill>
                            <a:srgbClr val="FF0000"/>
                          </a:solidFill>
                          <a:latin typeface="Times New Roman"/>
                          <a:ea typeface="Times New Roman"/>
                          <a:cs typeface="Times New Roman"/>
                        </a:rPr>
                        <a:t>4</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0010</a:t>
                      </a:r>
                      <a:r>
                        <a:rPr lang="en-US" sz="1800" spc="10" dirty="0">
                          <a:solidFill>
                            <a:srgbClr val="FF0000"/>
                          </a:solidFill>
                          <a:latin typeface="Times New Roman"/>
                          <a:ea typeface="Times New Roman"/>
                          <a:cs typeface="Times New Roman"/>
                        </a:rPr>
                        <a:t>0</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dirty="0">
                          <a:solidFill>
                            <a:srgbClr val="FF0000"/>
                          </a:solidFill>
                          <a:latin typeface="Times New Roman"/>
                          <a:ea typeface="Times New Roman"/>
                          <a:cs typeface="Times New Roman"/>
                        </a:rPr>
                        <a:t>6</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0011</a:t>
                      </a:r>
                      <a:r>
                        <a:rPr lang="en-US" sz="1800" spc="10" dirty="0">
                          <a:solidFill>
                            <a:srgbClr val="FF0000"/>
                          </a:solidFill>
                          <a:latin typeface="Times New Roman"/>
                          <a:ea typeface="Times New Roman"/>
                          <a:cs typeface="Times New Roman"/>
                        </a:rPr>
                        <a:t>0</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22</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10110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24</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11000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01010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31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7</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9</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01001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20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5466">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26</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4648200" y="2743200"/>
            <a:ext cx="34290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Inserting 22:</a:t>
            </a:r>
            <a:r>
              <a:rPr lang="en-US" sz="2000" dirty="0" smtClean="0">
                <a:latin typeface="Times New Roman" pitchFamily="18" charset="0"/>
                <a:cs typeface="Times New Roman" pitchFamily="18" charset="0"/>
              </a:rPr>
              <a:t> The binary form of 22 is 1011</a:t>
            </a:r>
            <a:r>
              <a:rPr lang="en-US" sz="2000" b="1"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Its LSB is 0. The bucket pointed by directory 0 is already full. Hence, </a:t>
            </a:r>
            <a:r>
              <a:rPr lang="en-US" sz="2000" dirty="0" smtClean="0">
                <a:solidFill>
                  <a:srgbClr val="FF0000"/>
                </a:solidFill>
                <a:latin typeface="Times New Roman" pitchFamily="18" charset="0"/>
                <a:cs typeface="Times New Roman" pitchFamily="18" charset="0"/>
              </a:rPr>
              <a:t>Overflow occurs.</a:t>
            </a:r>
            <a:r>
              <a:rPr lang="en-US" sz="2000" dirty="0" smtClean="0">
                <a:latin typeface="Times New Roman" pitchFamily="18" charset="0"/>
                <a:cs typeface="Times New Roman" pitchFamily="18" charset="0"/>
              </a:rPr>
              <a:t> </a:t>
            </a:r>
          </a:p>
          <a:p>
            <a:pPr lvl="1" algn="just"/>
            <a:endParaRPr lang="en-US" sz="2400" dirty="0" smtClean="0">
              <a:latin typeface="Times New Roman" pitchFamily="18" charset="0"/>
              <a:cs typeface="Times New Roman" pitchFamily="18" charset="0"/>
            </a:endParaRPr>
          </a:p>
          <a:p>
            <a:pPr lvl="1" algn="just"/>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143000" y="2702808"/>
          <a:ext cx="2819400" cy="3785616"/>
        </p:xfrm>
        <a:graphic>
          <a:graphicData uri="http://schemas.openxmlformats.org/drawingml/2006/table">
            <a:tbl>
              <a:tblPr/>
              <a:tblGrid>
                <a:gridCol w="1375317"/>
                <a:gridCol w="1444083"/>
              </a:tblGrid>
              <a:tr h="289116">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Key element</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b="1" spc="10" dirty="0">
                          <a:solidFill>
                            <a:srgbClr val="273239"/>
                          </a:solidFill>
                          <a:latin typeface="Times New Roman"/>
                          <a:ea typeface="Times New Roman"/>
                          <a:cs typeface="Times New Roman"/>
                        </a:rPr>
                        <a:t>Binary form</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16</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10000</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4</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00100</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6</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00110</a:t>
                      </a:r>
                      <a:endParaRPr lang="en-US" sz="18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dirty="0">
                          <a:solidFill>
                            <a:srgbClr val="FF0000"/>
                          </a:solidFill>
                          <a:latin typeface="Times New Roman"/>
                          <a:ea typeface="Times New Roman"/>
                          <a:cs typeface="Times New Roman"/>
                        </a:rPr>
                        <a:t>22</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chemeClr val="tx1"/>
                          </a:solidFill>
                          <a:latin typeface="Times New Roman"/>
                          <a:ea typeface="Times New Roman"/>
                          <a:cs typeface="Times New Roman"/>
                        </a:rPr>
                        <a:t>1011</a:t>
                      </a:r>
                      <a:r>
                        <a:rPr lang="en-US" sz="1800" spc="10" dirty="0">
                          <a:solidFill>
                            <a:srgbClr val="FF0000"/>
                          </a:solidFill>
                          <a:latin typeface="Times New Roman"/>
                          <a:ea typeface="Times New Roman"/>
                          <a:cs typeface="Times New Roman"/>
                        </a:rPr>
                        <a:t>0</a:t>
                      </a:r>
                      <a:endParaRPr lang="en-US" sz="18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24</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11000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01010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31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11111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7</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00111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9</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01001</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20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10100</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116">
                <a:tc>
                  <a:txBody>
                    <a:bodyPr/>
                    <a:lstStyle/>
                    <a:p>
                      <a:pPr marL="0" marR="0" algn="ctr" fontAlgn="base">
                        <a:lnSpc>
                          <a:spcPct val="115000"/>
                        </a:lnSpc>
                        <a:spcBef>
                          <a:spcPts val="0"/>
                        </a:spcBef>
                        <a:spcAft>
                          <a:spcPts val="0"/>
                        </a:spcAft>
                      </a:pPr>
                      <a:r>
                        <a:rPr lang="en-US" sz="1800" spc="10">
                          <a:solidFill>
                            <a:srgbClr val="273239"/>
                          </a:solidFill>
                          <a:latin typeface="Times New Roman"/>
                          <a:ea typeface="Times New Roman"/>
                          <a:cs typeface="Times New Roman"/>
                        </a:rPr>
                        <a:t>26</a:t>
                      </a:r>
                      <a:endParaRPr lang="en-US" sz="18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800" spc="10" dirty="0">
                          <a:solidFill>
                            <a:srgbClr val="273239"/>
                          </a:solidFill>
                          <a:latin typeface="Times New Roman"/>
                          <a:ea typeface="Times New Roman"/>
                          <a:cs typeface="Times New Roman"/>
                        </a:rPr>
                        <a:t>11010</a:t>
                      </a:r>
                      <a:endParaRPr lang="en-US" sz="18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4"/>
          <a:srcRect/>
          <a:stretch>
            <a:fillRect/>
          </a:stretch>
        </p:blipFill>
        <p:spPr bwMode="auto">
          <a:xfrm>
            <a:off x="4397375" y="2730500"/>
            <a:ext cx="3984625" cy="3517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As directed by </a:t>
            </a:r>
            <a:r>
              <a:rPr lang="en-US" sz="2000" b="1" dirty="0" smtClean="0">
                <a:latin typeface="Times New Roman" pitchFamily="18" charset="0"/>
                <a:cs typeface="Times New Roman" pitchFamily="18" charset="0"/>
              </a:rPr>
              <a:t>Step 7-Case 1</a:t>
            </a:r>
            <a:r>
              <a:rPr lang="en-US" sz="2000" dirty="0" smtClean="0">
                <a:latin typeface="Times New Roman" pitchFamily="18" charset="0"/>
                <a:cs typeface="Times New Roman" pitchFamily="18" charset="0"/>
              </a:rPr>
              <a:t>, Since Local Depth = Global Depth, the bucket splits and directory expansion takes place. Also, rehashing of numbers present in the overflowing bucket takes place after the split. And, since the global depth is incremented by 1, now, the global depth is 2. Hence, 16, 4, 6, 22 are now rehashed w. r. t 2 LSBs. [16(100</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4(001</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6(001</a:t>
            </a:r>
            <a:r>
              <a:rPr lang="en-US" sz="2000" b="1" dirty="0" smtClean="0">
                <a:solidFill>
                  <a:srgbClr val="FF0000"/>
                </a:solidFill>
                <a:latin typeface="Times New Roman" pitchFamily="18" charset="0"/>
                <a:cs typeface="Times New Roman" pitchFamily="18" charset="0"/>
              </a:rPr>
              <a:t>10</a:t>
            </a:r>
            <a:r>
              <a:rPr lang="en-US" sz="2000" dirty="0" smtClean="0">
                <a:latin typeface="Times New Roman" pitchFamily="18" charset="0"/>
                <a:cs typeface="Times New Roman" pitchFamily="18" charset="0"/>
              </a:rPr>
              <a:t>), 22(101</a:t>
            </a:r>
            <a:r>
              <a:rPr lang="en-US" sz="2000" b="1" dirty="0" smtClean="0">
                <a:solidFill>
                  <a:srgbClr val="FF0000"/>
                </a:solidFill>
                <a:latin typeface="Times New Roman" pitchFamily="18" charset="0"/>
                <a:cs typeface="Times New Roman" pitchFamily="18" charset="0"/>
              </a:rPr>
              <a:t>10</a:t>
            </a:r>
            <a:r>
              <a:rPr lang="en-US" sz="2000" dirty="0" smtClean="0">
                <a:latin typeface="Times New Roman" pitchFamily="18" charset="0"/>
                <a:cs typeface="Times New Roman" pitchFamily="18" charset="0"/>
              </a:rPr>
              <a:t>)].</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1" name="Picture 10" descr="Lightbox"/>
          <p:cNvPicPr/>
          <p:nvPr/>
        </p:nvPicPr>
        <p:blipFill>
          <a:blip r:embed="rId4"/>
          <a:srcRect/>
          <a:stretch>
            <a:fillRect/>
          </a:stretch>
        </p:blipFill>
        <p:spPr bwMode="auto">
          <a:xfrm>
            <a:off x="4267200" y="3733800"/>
            <a:ext cx="4038600" cy="2667000"/>
          </a:xfrm>
          <a:prstGeom prst="rect">
            <a:avLst/>
          </a:prstGeom>
          <a:noFill/>
          <a:ln w="9525">
            <a:noFill/>
            <a:miter lim="800000"/>
            <a:headEnd/>
            <a:tailEnd/>
          </a:ln>
        </p:spPr>
      </p:pic>
      <p:graphicFrame>
        <p:nvGraphicFramePr>
          <p:cNvPr id="13" name="Table 12"/>
          <p:cNvGraphicFramePr>
            <a:graphicFrameLocks noGrp="1"/>
          </p:cNvGraphicFramePr>
          <p:nvPr/>
        </p:nvGraphicFramePr>
        <p:xfrm>
          <a:off x="914400" y="3769608"/>
          <a:ext cx="2819400" cy="2631192"/>
        </p:xfrm>
        <a:graphic>
          <a:graphicData uri="http://schemas.openxmlformats.org/drawingml/2006/table">
            <a:tbl>
              <a:tblPr/>
              <a:tblGrid>
                <a:gridCol w="1375317"/>
                <a:gridCol w="1444083"/>
              </a:tblGrid>
              <a:tr h="219266">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22</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24</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11000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01010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31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11111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7</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00111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9</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01001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10100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pic>
        <p:nvPicPr>
          <p:cNvPr id="11" name="Picture 10" descr="Lightbox"/>
          <p:cNvPicPr/>
          <p:nvPr/>
        </p:nvPicPr>
        <p:blipFill>
          <a:blip r:embed="rId4"/>
          <a:srcRect/>
          <a:stretch>
            <a:fillRect/>
          </a:stretch>
        </p:blipFill>
        <p:spPr bwMode="auto">
          <a:xfrm>
            <a:off x="4419600" y="1295400"/>
            <a:ext cx="3276600" cy="2362200"/>
          </a:xfrm>
          <a:prstGeom prst="rect">
            <a:avLst/>
          </a:prstGeom>
          <a:noFill/>
          <a:ln w="9525">
            <a:noFill/>
            <a:miter lim="800000"/>
            <a:headEnd/>
            <a:tailEnd/>
          </a:ln>
        </p:spPr>
      </p:pic>
      <p:graphicFrame>
        <p:nvGraphicFramePr>
          <p:cNvPr id="13" name="Table 12"/>
          <p:cNvGraphicFramePr>
            <a:graphicFrameLocks noGrp="1"/>
          </p:cNvGraphicFramePr>
          <p:nvPr/>
        </p:nvGraphicFramePr>
        <p:xfrm>
          <a:off x="1143000" y="2514600"/>
          <a:ext cx="2286000" cy="2971800"/>
        </p:xfrm>
        <a:graphic>
          <a:graphicData uri="http://schemas.openxmlformats.org/drawingml/2006/table">
            <a:tbl>
              <a:tblPr/>
              <a:tblGrid>
                <a:gridCol w="1115122"/>
                <a:gridCol w="1170878"/>
              </a:tblGrid>
              <a:tr h="24765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22</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24</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11000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01010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31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11111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7</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00111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9</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01001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10100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5"/>
          <a:srcRect/>
          <a:stretch>
            <a:fillRect/>
          </a:stretch>
        </p:blipFill>
        <p:spPr bwMode="auto">
          <a:xfrm>
            <a:off x="4419600" y="3797300"/>
            <a:ext cx="3267075" cy="2679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The bucket which was underflow has remained untouched. The number of directories has doubled, we now have 2 directories 01 and 11 pointing to the same bucket. This is because the local-depth of the bucket has remained 1. Any bucket having a local depth less than the global depth is pointed-to by more than one directories.</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1143000" y="1905000"/>
          <a:ext cx="2286000" cy="2631192"/>
        </p:xfrm>
        <a:graphic>
          <a:graphicData uri="http://schemas.openxmlformats.org/drawingml/2006/table">
            <a:tbl>
              <a:tblPr/>
              <a:tblGrid>
                <a:gridCol w="1115122"/>
                <a:gridCol w="1170878"/>
              </a:tblGrid>
              <a:tr h="219266">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22</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24</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11000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01010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31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11111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7</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00111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9</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01001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10100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9266">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4"/>
          <a:srcRect/>
          <a:stretch>
            <a:fillRect/>
          </a:stretch>
        </p:blipFill>
        <p:spPr bwMode="auto">
          <a:xfrm>
            <a:off x="4572000" y="1905000"/>
            <a:ext cx="3267075" cy="2679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Inserting 24 and 10:</a:t>
            </a:r>
            <a:r>
              <a:rPr lang="en-US" sz="2000" dirty="0" smtClean="0">
                <a:latin typeface="Times New Roman" pitchFamily="18" charset="0"/>
                <a:cs typeface="Times New Roman" pitchFamily="18" charset="0"/>
              </a:rPr>
              <a:t> 24(110</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and 10 (010</a:t>
            </a:r>
            <a:r>
              <a:rPr lang="en-US" sz="2000" b="1" dirty="0" smtClean="0">
                <a:solidFill>
                  <a:srgbClr val="FF0000"/>
                </a:solidFill>
                <a:latin typeface="Times New Roman" pitchFamily="18" charset="0"/>
                <a:cs typeface="Times New Roman" pitchFamily="18" charset="0"/>
              </a:rPr>
              <a:t>10</a:t>
            </a:r>
            <a:r>
              <a:rPr lang="en-US" sz="2000" dirty="0" smtClean="0">
                <a:latin typeface="Times New Roman" pitchFamily="18" charset="0"/>
                <a:cs typeface="Times New Roman" pitchFamily="18" charset="0"/>
              </a:rPr>
              <a:t>) can be hashed based on directories with id 00 and 10. Here, we encounter no overflow condition.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914400" y="3048000"/>
          <a:ext cx="2514600" cy="2971800"/>
        </p:xfrm>
        <a:graphic>
          <a:graphicData uri="http://schemas.openxmlformats.org/drawingml/2006/table">
            <a:tbl>
              <a:tblPr/>
              <a:tblGrid>
                <a:gridCol w="1226634"/>
                <a:gridCol w="1287966"/>
              </a:tblGrid>
              <a:tr h="24765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a:t>
                      </a: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31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11111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7</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00111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9</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01001</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10100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3810000" y="2895600"/>
            <a:ext cx="4343400" cy="3276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Inserting 31, 7, 9:</a:t>
            </a:r>
            <a:r>
              <a:rPr lang="en-US" sz="2000" dirty="0" smtClean="0">
                <a:latin typeface="Times New Roman" pitchFamily="18" charset="0"/>
                <a:cs typeface="Times New Roman" pitchFamily="18" charset="0"/>
              </a:rPr>
              <a:t> All of these elements [31(111</a:t>
            </a:r>
            <a:r>
              <a:rPr lang="en-US" sz="2000" b="1" dirty="0" smtClean="0">
                <a:solidFill>
                  <a:srgbClr val="FF0000"/>
                </a:solidFill>
                <a:latin typeface="Times New Roman" pitchFamily="18" charset="0"/>
                <a:cs typeface="Times New Roman" pitchFamily="18" charset="0"/>
              </a:rPr>
              <a:t>11</a:t>
            </a:r>
            <a:r>
              <a:rPr lang="en-US" sz="2000" dirty="0" smtClean="0">
                <a:latin typeface="Times New Roman" pitchFamily="18" charset="0"/>
                <a:cs typeface="Times New Roman" pitchFamily="18" charset="0"/>
              </a:rPr>
              <a:t>), 7(001</a:t>
            </a:r>
            <a:r>
              <a:rPr lang="en-US" sz="2000" b="1" dirty="0" smtClean="0">
                <a:solidFill>
                  <a:srgbClr val="FF0000"/>
                </a:solidFill>
                <a:latin typeface="Times New Roman" pitchFamily="18" charset="0"/>
                <a:cs typeface="Times New Roman" pitchFamily="18" charset="0"/>
              </a:rPr>
              <a:t>11</a:t>
            </a:r>
            <a:r>
              <a:rPr lang="en-US" sz="2000" dirty="0" smtClean="0">
                <a:latin typeface="Times New Roman" pitchFamily="18" charset="0"/>
                <a:cs typeface="Times New Roman" pitchFamily="18" charset="0"/>
              </a:rPr>
              <a:t>), 9(010</a:t>
            </a:r>
            <a:r>
              <a:rPr lang="en-US" sz="2000" b="1" dirty="0" smtClean="0">
                <a:solidFill>
                  <a:srgbClr val="FF0000"/>
                </a:solidFill>
                <a:latin typeface="Times New Roman" pitchFamily="18" charset="0"/>
                <a:cs typeface="Times New Roman" pitchFamily="18" charset="0"/>
              </a:rPr>
              <a:t>01</a:t>
            </a:r>
            <a:r>
              <a:rPr lang="en-US" sz="2000" dirty="0" smtClean="0">
                <a:latin typeface="Times New Roman" pitchFamily="18" charset="0"/>
                <a:cs typeface="Times New Roman" pitchFamily="18" charset="0"/>
              </a:rPr>
              <a:t>)] have either 01 or 11 in their LSBs. Hence, they are mapped on the bucket pointed out by 01 and 11. We do not encounter any overflow condition here.</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1066800" y="3200400"/>
          <a:ext cx="2514600" cy="2971800"/>
        </p:xfrm>
        <a:graphic>
          <a:graphicData uri="http://schemas.openxmlformats.org/drawingml/2006/table">
            <a:tbl>
              <a:tblPr/>
              <a:tblGrid>
                <a:gridCol w="1226634"/>
                <a:gridCol w="1287966"/>
              </a:tblGrid>
              <a:tr h="24765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31</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a:t>
                      </a:r>
                      <a:r>
                        <a:rPr lang="en-US" sz="1200" spc="10" dirty="0">
                          <a:solidFill>
                            <a:srgbClr val="FF0000"/>
                          </a:solidFill>
                          <a:latin typeface="Times New Roman"/>
                          <a:ea typeface="Times New Roman"/>
                          <a:cs typeface="Times New Roman"/>
                        </a:rPr>
                        <a:t>11</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7</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a:t>
                      </a:r>
                      <a:r>
                        <a:rPr lang="en-US" sz="1200" spc="10" dirty="0">
                          <a:solidFill>
                            <a:srgbClr val="FF0000"/>
                          </a:solidFill>
                          <a:latin typeface="Times New Roman"/>
                          <a:ea typeface="Times New Roman"/>
                          <a:cs typeface="Times New Roman"/>
                        </a:rPr>
                        <a:t>11</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9</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a:t>
                      </a:r>
                      <a:r>
                        <a:rPr lang="en-US" sz="1200" spc="10" dirty="0">
                          <a:solidFill>
                            <a:srgbClr val="FF0000"/>
                          </a:solidFill>
                          <a:latin typeface="Times New Roman"/>
                          <a:ea typeface="Times New Roman"/>
                          <a:cs typeface="Times New Roman"/>
                        </a:rPr>
                        <a:t>01</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10100</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2" name="Picture 11" descr="Lightbox"/>
          <p:cNvPicPr/>
          <p:nvPr/>
        </p:nvPicPr>
        <p:blipFill>
          <a:blip r:embed="rId4"/>
          <a:srcRect/>
          <a:stretch>
            <a:fillRect/>
          </a:stretch>
        </p:blipFill>
        <p:spPr bwMode="auto">
          <a:xfrm>
            <a:off x="4014470" y="2981325"/>
            <a:ext cx="4519930" cy="3267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Inserting 20:</a:t>
            </a:r>
            <a:r>
              <a:rPr lang="en-US" sz="2000" dirty="0" smtClean="0">
                <a:latin typeface="Times New Roman" pitchFamily="18" charset="0"/>
                <a:cs typeface="Times New Roman" pitchFamily="18" charset="0"/>
              </a:rPr>
              <a:t> Insertion of data element 20 (101</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will again cause the overflow problem.</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1066800" y="2819400"/>
          <a:ext cx="2514600" cy="2971800"/>
        </p:xfrm>
        <a:graphic>
          <a:graphicData uri="http://schemas.openxmlformats.org/drawingml/2006/table">
            <a:tbl>
              <a:tblPr/>
              <a:tblGrid>
                <a:gridCol w="1226634"/>
                <a:gridCol w="1287966"/>
              </a:tblGrid>
              <a:tr h="24765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765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3952875" y="2590800"/>
            <a:ext cx="4505325" cy="3540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4525963"/>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20 is inserted in bucket pointed out by 00. As directed by </a:t>
            </a:r>
            <a:r>
              <a:rPr lang="en-US" sz="2000" b="1" dirty="0" smtClean="0">
                <a:latin typeface="Times New Roman" pitchFamily="18" charset="0"/>
                <a:cs typeface="Times New Roman" pitchFamily="18" charset="0"/>
              </a:rPr>
              <a:t>Step 7-Case 1</a:t>
            </a:r>
            <a:r>
              <a:rPr lang="en-US" sz="2000" dirty="0" smtClean="0">
                <a:latin typeface="Times New Roman" pitchFamily="18" charset="0"/>
                <a:cs typeface="Times New Roman" pitchFamily="18" charset="0"/>
              </a:rPr>
              <a:t>, since the </a:t>
            </a:r>
            <a:r>
              <a:rPr lang="en-US" sz="2000" b="1" dirty="0" smtClean="0">
                <a:latin typeface="Times New Roman" pitchFamily="18" charset="0"/>
                <a:cs typeface="Times New Roman" pitchFamily="18" charset="0"/>
              </a:rPr>
              <a:t>local depth of the bucket = global-depth</a:t>
            </a:r>
            <a:r>
              <a:rPr lang="en-US" sz="2000" dirty="0" smtClean="0">
                <a:latin typeface="Times New Roman" pitchFamily="18" charset="0"/>
                <a:cs typeface="Times New Roman" pitchFamily="18" charset="0"/>
              </a:rPr>
              <a:t>, directory expansion (doubling) takes place along with bucket splitting. Elements present in overflowing bucket are rehashed with the new global depth.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1066800" y="3581400"/>
          <a:ext cx="2514600" cy="2743200"/>
        </p:xfrm>
        <a:graphic>
          <a:graphicData uri="http://schemas.openxmlformats.org/drawingml/2006/table">
            <a:tbl>
              <a:tblPr/>
              <a:tblGrid>
                <a:gridCol w="1226634"/>
                <a:gridCol w="1287966"/>
              </a:tblGrid>
              <a:tr h="22860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a:t>
                      </a:r>
                      <a:r>
                        <a:rPr lang="en-US" sz="1200" spc="10" dirty="0">
                          <a:solidFill>
                            <a:srgbClr val="FF0000"/>
                          </a:solidFill>
                          <a:latin typeface="Times New Roman"/>
                          <a:ea typeface="Times New Roman"/>
                          <a:cs typeface="Times New Roman"/>
                        </a:rPr>
                        <a:t>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a:solidFill>
                            <a:srgbClr val="273239"/>
                          </a:solidFill>
                          <a:latin typeface="Times New Roman"/>
                          <a:ea typeface="Times New Roman"/>
                          <a:cs typeface="Times New Roman"/>
                        </a:rPr>
                        <a:t>26</a:t>
                      </a:r>
                      <a:endParaRPr lang="en-US" sz="12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4191000" y="3505200"/>
            <a:ext cx="3971925" cy="2549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r>
              <a:rPr lang="en-US" sz="1800" dirty="0" smtClean="0">
                <a:latin typeface="Times New Roman" pitchFamily="18" charset="0"/>
                <a:cs typeface="Times New Roman" pitchFamily="18" charset="0"/>
              </a:rPr>
              <a:t>Now, the new Hash table looks </a:t>
            </a:r>
          </a:p>
          <a:p>
            <a:pPr algn="just">
              <a:buNone/>
            </a:pPr>
            <a:r>
              <a:rPr lang="en-US" sz="1800" dirty="0" smtClean="0">
                <a:latin typeface="Times New Roman" pitchFamily="18" charset="0"/>
                <a:cs typeface="Times New Roman" pitchFamily="18" charset="0"/>
              </a:rPr>
              <a:t>like this.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990600" y="2057400"/>
          <a:ext cx="2514600" cy="2743200"/>
        </p:xfrm>
        <a:graphic>
          <a:graphicData uri="http://schemas.openxmlformats.org/drawingml/2006/table">
            <a:tbl>
              <a:tblPr/>
              <a:tblGrid>
                <a:gridCol w="1226634"/>
                <a:gridCol w="1287966"/>
              </a:tblGrid>
              <a:tr h="22860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r>
                        <a:rPr lang="en-US" sz="1200" spc="10" dirty="0">
                          <a:solidFill>
                            <a:srgbClr val="FF0000"/>
                          </a:solidFill>
                          <a:latin typeface="Times New Roman"/>
                          <a:ea typeface="Times New Roman"/>
                          <a:cs typeface="Times New Roman"/>
                        </a:rPr>
                        <a:t>000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a:t>
                      </a:r>
                      <a:r>
                        <a:rPr lang="en-US" sz="1200" spc="10" dirty="0">
                          <a:solidFill>
                            <a:srgbClr val="FF0000"/>
                          </a:solidFill>
                          <a:latin typeface="Times New Roman"/>
                          <a:ea typeface="Times New Roman"/>
                          <a:cs typeface="Times New Roman"/>
                        </a:rPr>
                        <a:t>100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24</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a:t>
                      </a:r>
                      <a:r>
                        <a:rPr lang="en-US" sz="1200" spc="10" dirty="0">
                          <a:solidFill>
                            <a:srgbClr val="FF0000"/>
                          </a:solidFill>
                          <a:latin typeface="Times New Roman"/>
                          <a:ea typeface="Times New Roman"/>
                          <a:cs typeface="Times New Roman"/>
                        </a:rPr>
                        <a:t>000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r>
                        <a:rPr lang="en-US" sz="1200" spc="10" dirty="0">
                          <a:solidFill>
                            <a:srgbClr val="FF0000"/>
                          </a:solidFill>
                          <a:latin typeface="Times New Roman"/>
                          <a:ea typeface="Times New Roman"/>
                          <a:cs typeface="Times New Roman"/>
                        </a:rPr>
                        <a:t>100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26</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rgbClr val="273239"/>
                          </a:solidFill>
                          <a:latin typeface="Times New Roman"/>
                          <a:ea typeface="Times New Roman"/>
                          <a:cs typeface="Times New Roman"/>
                        </a:rPr>
                        <a:t>11010</a:t>
                      </a:r>
                      <a:endParaRPr lang="en-US" sz="12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4572000" y="1295400"/>
            <a:ext cx="3352800" cy="2092325"/>
          </a:xfrm>
          <a:prstGeom prst="rect">
            <a:avLst/>
          </a:prstGeom>
          <a:noFill/>
          <a:ln w="9525">
            <a:noFill/>
            <a:miter lim="800000"/>
            <a:headEnd/>
            <a:tailEnd/>
          </a:ln>
        </p:spPr>
      </p:pic>
      <p:pic>
        <p:nvPicPr>
          <p:cNvPr id="12" name="Picture 11" descr="Lightbox"/>
          <p:cNvPicPr/>
          <p:nvPr/>
        </p:nvPicPr>
        <p:blipFill>
          <a:blip r:embed="rId5"/>
          <a:srcRect/>
          <a:stretch>
            <a:fillRect/>
          </a:stretch>
        </p:blipFill>
        <p:spPr bwMode="auto">
          <a:xfrm>
            <a:off x="4038600" y="3505200"/>
            <a:ext cx="42672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Inserting 26:</a:t>
            </a:r>
            <a:r>
              <a:rPr lang="en-US" sz="2000" dirty="0" smtClean="0">
                <a:latin typeface="Times New Roman" pitchFamily="18" charset="0"/>
                <a:cs typeface="Times New Roman" pitchFamily="18" charset="0"/>
              </a:rPr>
              <a:t> Global depth is 3. Hence, 3 LSBs of 26(11</a:t>
            </a:r>
            <a:r>
              <a:rPr lang="en-US" sz="2000" dirty="0" smtClean="0">
                <a:solidFill>
                  <a:srgbClr val="FF0000"/>
                </a:solidFill>
                <a:latin typeface="Times New Roman" pitchFamily="18" charset="0"/>
                <a:cs typeface="Times New Roman" pitchFamily="18" charset="0"/>
              </a:rPr>
              <a:t>010</a:t>
            </a:r>
            <a:r>
              <a:rPr lang="en-US" sz="2000" dirty="0" smtClean="0">
                <a:latin typeface="Times New Roman" pitchFamily="18" charset="0"/>
                <a:cs typeface="Times New Roman" pitchFamily="18" charset="0"/>
              </a:rPr>
              <a:t>) are considered. Therefore 26 best fits in the bucket pointed out by directory 010. </a:t>
            </a:r>
            <a:r>
              <a:rPr lang="en-US" sz="2000" dirty="0" smtClean="0">
                <a:solidFill>
                  <a:srgbClr val="FF0000"/>
                </a:solidFill>
                <a:latin typeface="Times New Roman" pitchFamily="18" charset="0"/>
                <a:cs typeface="Times New Roman" pitchFamily="18" charset="0"/>
              </a:rPr>
              <a:t>Overflow occurs.</a:t>
            </a:r>
            <a:endParaRPr lang="en-US" sz="2000" b="1" dirty="0" smtClean="0">
              <a:solidFill>
                <a:srgbClr val="FF0000"/>
              </a:solidFill>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990600" y="3200400"/>
          <a:ext cx="2514600" cy="2743200"/>
        </p:xfrm>
        <a:graphic>
          <a:graphicData uri="http://schemas.openxmlformats.org/drawingml/2006/table">
            <a:tbl>
              <a:tblPr/>
              <a:tblGrid>
                <a:gridCol w="1226634"/>
                <a:gridCol w="1287966"/>
              </a:tblGrid>
              <a:tr h="22860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22</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01010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a:t>
                      </a:r>
                      <a:r>
                        <a:rPr lang="en-US" sz="1200" spc="10" dirty="0">
                          <a:solidFill>
                            <a:srgbClr val="FF0000"/>
                          </a:solidFill>
                          <a:latin typeface="Times New Roman"/>
                          <a:ea typeface="Times New Roman"/>
                          <a:cs typeface="Times New Roman"/>
                        </a:rPr>
                        <a:t>010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4" name="Picture 13" descr="Lightbox"/>
          <p:cNvPicPr/>
          <p:nvPr/>
        </p:nvPicPr>
        <p:blipFill>
          <a:blip r:embed="rId4"/>
          <a:srcRect/>
          <a:stretch>
            <a:fillRect/>
          </a:stretch>
        </p:blipFill>
        <p:spPr bwMode="auto">
          <a:xfrm>
            <a:off x="3657600" y="2895600"/>
            <a:ext cx="4616450" cy="3238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As directed by </a:t>
            </a:r>
            <a:r>
              <a:rPr lang="en-US" sz="2000" b="1" dirty="0" smtClean="0">
                <a:latin typeface="Times New Roman" pitchFamily="18" charset="0"/>
                <a:cs typeface="Times New Roman" pitchFamily="18" charset="0"/>
              </a:rPr>
              <a:t>Step 7-Case 2,</a:t>
            </a:r>
            <a:r>
              <a:rPr lang="en-US" sz="2000" dirty="0" smtClean="0">
                <a:latin typeface="Times New Roman" pitchFamily="18" charset="0"/>
                <a:cs typeface="Times New Roman" pitchFamily="18" charset="0"/>
              </a:rPr>
              <a:t> since the </a:t>
            </a:r>
            <a:r>
              <a:rPr lang="en-US" sz="2000" b="1" dirty="0" smtClean="0">
                <a:latin typeface="Times New Roman" pitchFamily="18" charset="0"/>
                <a:cs typeface="Times New Roman" pitchFamily="18" charset="0"/>
              </a:rPr>
              <a:t>local depth of bucket &lt; Global depth (2&lt;3)</a:t>
            </a:r>
            <a:r>
              <a:rPr lang="en-US" sz="2000" dirty="0" smtClean="0">
                <a:latin typeface="Times New Roman" pitchFamily="18" charset="0"/>
                <a:cs typeface="Times New Roman" pitchFamily="18" charset="0"/>
              </a:rPr>
              <a:t>, directories are not doubled but, only the bucket is split and elements are rehashed.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990600" y="3200400"/>
          <a:ext cx="2514600" cy="2743200"/>
        </p:xfrm>
        <a:graphic>
          <a:graphicData uri="http://schemas.openxmlformats.org/drawingml/2006/table">
            <a:tbl>
              <a:tblPr/>
              <a:tblGrid>
                <a:gridCol w="1226634"/>
                <a:gridCol w="1287966"/>
              </a:tblGrid>
              <a:tr h="22860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a:t>
                      </a:r>
                      <a:r>
                        <a:rPr lang="en-US" sz="1200" spc="10" dirty="0">
                          <a:solidFill>
                            <a:srgbClr val="FF0000"/>
                          </a:solidFill>
                          <a:latin typeface="Times New Roman"/>
                          <a:ea typeface="Times New Roman"/>
                          <a:cs typeface="Times New Roman"/>
                        </a:rPr>
                        <a:t>110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22</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r>
                        <a:rPr lang="en-US" sz="1200" spc="10" dirty="0">
                          <a:solidFill>
                            <a:srgbClr val="FF0000"/>
                          </a:solidFill>
                          <a:latin typeface="Times New Roman"/>
                          <a:ea typeface="Times New Roman"/>
                          <a:cs typeface="Times New Roman"/>
                        </a:rPr>
                        <a:t>110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a:t>
                      </a:r>
                      <a:r>
                        <a:rPr lang="en-US" sz="1200" spc="10" dirty="0">
                          <a:solidFill>
                            <a:srgbClr val="FF0000"/>
                          </a:solidFill>
                          <a:latin typeface="Times New Roman"/>
                          <a:ea typeface="Times New Roman"/>
                          <a:cs typeface="Times New Roman"/>
                        </a:rPr>
                        <a:t>010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a:t>
                      </a:r>
                      <a:r>
                        <a:rPr lang="en-US" sz="1200" spc="10" dirty="0">
                          <a:solidFill>
                            <a:srgbClr val="FF0000"/>
                          </a:solidFill>
                          <a:latin typeface="Times New Roman"/>
                          <a:ea typeface="Times New Roman"/>
                          <a:cs typeface="Times New Roman"/>
                        </a:rPr>
                        <a:t>010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4038600" y="2724150"/>
            <a:ext cx="4343400" cy="3524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Finally, the output of hashing the given list of numbers is obtained.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990600" y="2819400"/>
          <a:ext cx="2514600" cy="2743200"/>
        </p:xfrm>
        <a:graphic>
          <a:graphicData uri="http://schemas.openxmlformats.org/drawingml/2006/table">
            <a:tbl>
              <a:tblPr/>
              <a:tblGrid>
                <a:gridCol w="1226634"/>
                <a:gridCol w="1287966"/>
              </a:tblGrid>
              <a:tr h="228600">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Key element</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b="1" spc="10" dirty="0">
                          <a:solidFill>
                            <a:srgbClr val="273239"/>
                          </a:solidFill>
                          <a:latin typeface="Times New Roman"/>
                          <a:ea typeface="Times New Roman"/>
                          <a:cs typeface="Times New Roman"/>
                        </a:rPr>
                        <a:t>Binary form</a:t>
                      </a:r>
                      <a:endParaRPr lang="en-US" sz="12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16</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a:t>
                      </a:r>
                      <a:r>
                        <a:rPr lang="en-US" sz="1200" spc="10" dirty="0">
                          <a:solidFill>
                            <a:srgbClr val="FF0000"/>
                          </a:solidFill>
                          <a:latin typeface="Times New Roman"/>
                          <a:ea typeface="Times New Roman"/>
                          <a:cs typeface="Times New Roman"/>
                        </a:rPr>
                        <a:t>110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22</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a:t>
                      </a:r>
                      <a:r>
                        <a:rPr lang="en-US" sz="1200" spc="10" dirty="0">
                          <a:solidFill>
                            <a:srgbClr val="FF0000"/>
                          </a:solidFill>
                          <a:latin typeface="Times New Roman"/>
                          <a:ea typeface="Times New Roman"/>
                          <a:cs typeface="Times New Roman"/>
                        </a:rPr>
                        <a:t>110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24</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11000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a:t>
                      </a:r>
                      <a:r>
                        <a:rPr lang="en-US" sz="1200" spc="10" dirty="0">
                          <a:solidFill>
                            <a:srgbClr val="FF0000"/>
                          </a:solidFill>
                          <a:latin typeface="Times New Roman"/>
                          <a:ea typeface="Times New Roman"/>
                          <a:cs typeface="Times New Roman"/>
                        </a:rPr>
                        <a:t>010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31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7</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00111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9</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01001</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20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10100</a:t>
                      </a:r>
                      <a:endParaRPr lang="en-US" sz="12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lgn="ctr" fontAlgn="base">
                        <a:lnSpc>
                          <a:spcPct val="115000"/>
                        </a:lnSpc>
                        <a:spcBef>
                          <a:spcPts val="0"/>
                        </a:spcBef>
                        <a:spcAft>
                          <a:spcPts val="0"/>
                        </a:spcAft>
                      </a:pPr>
                      <a:r>
                        <a:rPr lang="en-US" sz="1200" spc="10" dirty="0">
                          <a:solidFill>
                            <a:srgbClr val="FF0000"/>
                          </a:solidFill>
                          <a:latin typeface="Times New Roman"/>
                          <a:ea typeface="Times New Roman"/>
                          <a:cs typeface="Times New Roman"/>
                        </a:rPr>
                        <a:t>26</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base">
                        <a:lnSpc>
                          <a:spcPct val="115000"/>
                        </a:lnSpc>
                        <a:spcBef>
                          <a:spcPts val="0"/>
                        </a:spcBef>
                        <a:spcAft>
                          <a:spcPts val="0"/>
                        </a:spcAft>
                      </a:pPr>
                      <a:r>
                        <a:rPr lang="en-US" sz="1200" spc="10" dirty="0">
                          <a:solidFill>
                            <a:schemeClr val="tx1"/>
                          </a:solidFill>
                          <a:latin typeface="Times New Roman"/>
                          <a:ea typeface="Times New Roman"/>
                          <a:cs typeface="Times New Roman"/>
                        </a:rPr>
                        <a:t>11</a:t>
                      </a:r>
                      <a:r>
                        <a:rPr lang="en-US" sz="1200" spc="10" dirty="0">
                          <a:solidFill>
                            <a:srgbClr val="FF0000"/>
                          </a:solidFill>
                          <a:latin typeface="Times New Roman"/>
                          <a:ea typeface="Times New Roman"/>
                          <a:cs typeface="Times New Roman"/>
                        </a:rPr>
                        <a:t>010</a:t>
                      </a:r>
                      <a:endParaRPr lang="en-US" sz="12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0" descr="Lightbox"/>
          <p:cNvPicPr/>
          <p:nvPr/>
        </p:nvPicPr>
        <p:blipFill>
          <a:blip r:embed="rId4"/>
          <a:srcRect/>
          <a:stretch>
            <a:fillRect/>
          </a:stretch>
        </p:blipFill>
        <p:spPr bwMode="auto">
          <a:xfrm>
            <a:off x="4038600" y="2438400"/>
            <a:ext cx="4343400" cy="3524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400" b="1" smtClean="0">
                <a:latin typeface="Times New Roman" pitchFamily="18" charset="0"/>
                <a:cs typeface="Times New Roman" pitchFamily="18" charset="0"/>
              </a:rPr>
              <a:t>Key Observations</a:t>
            </a:r>
            <a:r>
              <a:rPr lang="en-US" sz="2400" dirty="0" smtClean="0">
                <a:latin typeface="Times New Roman" pitchFamily="18" charset="0"/>
                <a:cs typeface="Times New Roman" pitchFamily="18" charset="0"/>
              </a:rPr>
              <a:t> </a:t>
            </a:r>
          </a:p>
          <a:p>
            <a:pPr lvl="1" fontAlgn="base"/>
            <a:endParaRPr lang="en-US" sz="2400" smtClean="0">
              <a:latin typeface="Times New Roman" pitchFamily="18" charset="0"/>
              <a:cs typeface="Times New Roman" pitchFamily="18" charset="0"/>
            </a:endParaRPr>
          </a:p>
          <a:p>
            <a:pPr lvl="1" fontAlgn="base"/>
            <a:r>
              <a:rPr lang="en-US" sz="2400" smtClean="0">
                <a:latin typeface="Times New Roman" pitchFamily="18" charset="0"/>
                <a:cs typeface="Times New Roman" pitchFamily="18" charset="0"/>
              </a:rPr>
              <a:t>A </a:t>
            </a:r>
            <a:r>
              <a:rPr lang="en-US" sz="2400" dirty="0" smtClean="0">
                <a:latin typeface="Times New Roman" pitchFamily="18" charset="0"/>
                <a:cs typeface="Times New Roman" pitchFamily="18" charset="0"/>
              </a:rPr>
              <a:t>Bucket will have more than one pointers pointing to it if its local depth is less than the global depth.</a:t>
            </a:r>
          </a:p>
          <a:p>
            <a:pPr lvl="1" fontAlgn="base"/>
            <a:r>
              <a:rPr lang="en-US" sz="2400" dirty="0" smtClean="0">
                <a:latin typeface="Times New Roman" pitchFamily="18" charset="0"/>
                <a:cs typeface="Times New Roman" pitchFamily="18" charset="0"/>
              </a:rPr>
              <a:t>When overflow condition occurs in a bucket, all the entries in the bucket are rehashed with a new local depth.</a:t>
            </a:r>
          </a:p>
          <a:p>
            <a:pPr lvl="1" fontAlgn="base"/>
            <a:r>
              <a:rPr lang="en-US" sz="2400" dirty="0" smtClean="0">
                <a:latin typeface="Times New Roman" pitchFamily="18" charset="0"/>
                <a:cs typeface="Times New Roman" pitchFamily="18" charset="0"/>
              </a:rPr>
              <a:t>The size of a bucket cannot be changed after the data insertion process begins.</a:t>
            </a:r>
          </a:p>
          <a:p>
            <a:pPr fontAlgn="base">
              <a:buNone/>
            </a:pPr>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Pros and Cons of Dynamic Hashing </a:t>
            </a:r>
            <a:r>
              <a:rPr lang="en-US" sz="2400" dirty="0" smtClean="0">
                <a:latin typeface="Times New Roman" pitchFamily="18" charset="0"/>
                <a:cs typeface="Times New Roman" pitchFamily="18" charset="0"/>
              </a:rPr>
              <a:t> </a:t>
            </a:r>
          </a:p>
          <a:p>
            <a:pPr fontAlgn="base">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Advantages: </a:t>
            </a:r>
            <a:r>
              <a:rPr lang="en-US" sz="2400" b="1" dirty="0" smtClean="0">
                <a:latin typeface="Times New Roman" pitchFamily="18" charset="0"/>
                <a:cs typeface="Times New Roman" pitchFamily="18" charset="0"/>
              </a:rPr>
              <a:t>Dynamic Hashing Pros</a:t>
            </a:r>
          </a:p>
          <a:p>
            <a:pPr lvl="1" fontAlgn="base"/>
            <a:r>
              <a:rPr lang="en-US" sz="2000" dirty="0" smtClean="0">
                <a:latin typeface="Times New Roman" pitchFamily="18" charset="0"/>
                <a:cs typeface="Times New Roman" pitchFamily="18" charset="0"/>
              </a:rPr>
              <a:t>Data retrieval is less expensive (in terms of computing).</a:t>
            </a:r>
          </a:p>
          <a:p>
            <a:pPr lvl="1" fontAlgn="base"/>
            <a:r>
              <a:rPr lang="en-US" sz="2000" dirty="0" smtClean="0">
                <a:latin typeface="Times New Roman" pitchFamily="18" charset="0"/>
                <a:cs typeface="Times New Roman" pitchFamily="18" charset="0"/>
              </a:rPr>
              <a:t>No problem of Data-loss since the storage capacity increases dynamically.</a:t>
            </a:r>
          </a:p>
          <a:p>
            <a:pPr lvl="1" fontAlgn="base"/>
            <a:r>
              <a:rPr lang="en-US" sz="2000" dirty="0" smtClean="0">
                <a:latin typeface="Times New Roman" pitchFamily="18" charset="0"/>
                <a:cs typeface="Times New Roman" pitchFamily="18" charset="0"/>
              </a:rPr>
              <a:t>With dynamic changes in hashing function, associated old values are rehashed </a:t>
            </a:r>
            <a:r>
              <a:rPr lang="en-US" sz="2000" dirty="0" err="1" smtClean="0">
                <a:latin typeface="Times New Roman" pitchFamily="18" charset="0"/>
                <a:cs typeface="Times New Roman" pitchFamily="18" charset="0"/>
              </a:rPr>
              <a:t>w.r.t</a:t>
            </a:r>
            <a:r>
              <a:rPr lang="en-US" sz="2000" dirty="0" smtClean="0">
                <a:latin typeface="Times New Roman" pitchFamily="18" charset="0"/>
                <a:cs typeface="Times New Roman" pitchFamily="18" charset="0"/>
              </a:rPr>
              <a:t> the new hash function. </a:t>
            </a:r>
          </a:p>
          <a:p>
            <a:pPr lvl="1" fontAlgn="base"/>
            <a:r>
              <a:rPr lang="en-US" sz="2000" dirty="0" smtClean="0">
                <a:latin typeface="Times New Roman" pitchFamily="18" charset="0"/>
                <a:cs typeface="Times New Roman" pitchFamily="18" charset="0"/>
              </a:rPr>
              <a:t>Performance will not get affected as the amount of data grows in the system. To accommodate the data, size of memory will be increased.</a:t>
            </a:r>
          </a:p>
          <a:p>
            <a:pPr lvl="1" fontAlgn="base"/>
            <a:r>
              <a:rPr lang="en-US" sz="2000" dirty="0" smtClean="0">
                <a:latin typeface="Times New Roman" pitchFamily="18" charset="0"/>
                <a:cs typeface="Times New Roman" pitchFamily="18" charset="0"/>
              </a:rPr>
              <a:t>Dynamic hashing improves the utilization of the memory.</a:t>
            </a:r>
          </a:p>
          <a:p>
            <a:pPr lvl="1" fontAlgn="base"/>
            <a:r>
              <a:rPr lang="en-US" sz="2000" dirty="0" smtClean="0">
                <a:latin typeface="Times New Roman" pitchFamily="18" charset="0"/>
                <a:cs typeface="Times New Roman" pitchFamily="18" charset="0"/>
              </a:rPr>
              <a:t>This method is efficient to handle the dynamic database where size of data changes frequently.</a:t>
            </a:r>
          </a:p>
          <a:p>
            <a:pPr lvl="0" fontAlgn="base">
              <a:buNone/>
            </a:pPr>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400" b="1" dirty="0" smtClean="0">
                <a:latin typeface="Times New Roman" pitchFamily="18" charset="0"/>
                <a:cs typeface="Times New Roman" pitchFamily="18" charset="0"/>
              </a:rPr>
              <a:t>Pros and Cons of Dynamic Hashing </a:t>
            </a:r>
            <a:r>
              <a:rPr lang="en-US" sz="2400" dirty="0" smtClean="0">
                <a:latin typeface="Times New Roman" pitchFamily="18" charset="0"/>
                <a:cs typeface="Times New Roman" pitchFamily="18" charset="0"/>
              </a:rPr>
              <a:t> </a:t>
            </a:r>
          </a:p>
          <a:p>
            <a:pPr fontAlgn="base">
              <a:buNone/>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Limitations:</a:t>
            </a:r>
            <a:r>
              <a:rPr lang="en-US" sz="2400" b="1" dirty="0" smtClean="0">
                <a:latin typeface="Times New Roman" pitchFamily="18" charset="0"/>
                <a:cs typeface="Times New Roman" pitchFamily="18" charset="0"/>
              </a:rPr>
              <a:t> Dynamic Hashing Cons</a:t>
            </a:r>
          </a:p>
          <a:p>
            <a:pPr lvl="1" fontAlgn="base"/>
            <a:r>
              <a:rPr lang="en-US" sz="2400" dirty="0" smtClean="0">
                <a:latin typeface="Times New Roman" pitchFamily="18" charset="0"/>
                <a:cs typeface="Times New Roman" pitchFamily="18" charset="0"/>
              </a:rPr>
              <a:t>The directory size may increase significantly if several records are hashed on the same directory while keeping the record distribution non-uniform.</a:t>
            </a:r>
          </a:p>
          <a:p>
            <a:pPr lvl="1" fontAlgn="base"/>
            <a:r>
              <a:rPr lang="en-US" sz="2400" dirty="0" smtClean="0">
                <a:latin typeface="Times New Roman" pitchFamily="18" charset="0"/>
                <a:cs typeface="Times New Roman" pitchFamily="18" charset="0"/>
              </a:rPr>
              <a:t>Size of every bucket is fixed.</a:t>
            </a:r>
          </a:p>
          <a:p>
            <a:pPr lvl="1" fontAlgn="base"/>
            <a:r>
              <a:rPr lang="en-US" sz="2400" dirty="0" smtClean="0">
                <a:latin typeface="Times New Roman" pitchFamily="18" charset="0"/>
                <a:cs typeface="Times New Roman" pitchFamily="18" charset="0"/>
              </a:rPr>
              <a:t>Memory is wasted in pointers when the global depth and local depth difference becomes drastic.</a:t>
            </a:r>
          </a:p>
          <a:p>
            <a:pPr lvl="1" fontAlgn="base"/>
            <a:r>
              <a:rPr lang="en-US" sz="2400" dirty="0" smtClean="0">
                <a:latin typeface="Times New Roman" pitchFamily="18" charset="0"/>
                <a:cs typeface="Times New Roman" pitchFamily="18" charset="0"/>
              </a:rPr>
              <a:t>In dynamic hashing, bucket overflow can happen.</a:t>
            </a:r>
          </a:p>
          <a:p>
            <a:pPr lvl="1" fontAlgn="base"/>
            <a:r>
              <a:rPr lang="en-US" sz="2400" dirty="0" smtClean="0">
                <a:latin typeface="Times New Roman" pitchFamily="18" charset="0"/>
                <a:cs typeface="Times New Roman" pitchFamily="18" charset="0"/>
              </a:rPr>
              <a:t>This method is complicated to code.</a:t>
            </a:r>
          </a:p>
          <a:p>
            <a:pPr algn="just">
              <a:buNone/>
            </a:pPr>
            <a:endParaRPr lang="en-US" sz="2400" b="1"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lgn="just">
              <a:buNone/>
            </a:pPr>
            <a:endParaRPr lang="en-US" sz="2400" b="1"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a:p>
            <a:pPr algn="just">
              <a:buNone/>
            </a:pPr>
            <a:endParaRPr lang="en-US" sz="24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Indexing VS Hashing in DBMS</a:t>
            </a:r>
          </a:p>
          <a:p>
            <a:pPr>
              <a:buNone/>
            </a:pPr>
            <a:r>
              <a:rPr lang="en-US" sz="2000" b="1" dirty="0" smtClean="0">
                <a:latin typeface="Times New Roman" pitchFamily="18" charset="0"/>
                <a:cs typeface="Times New Roman" pitchFamily="18" charset="0"/>
              </a:rPr>
              <a:t>	Data Retrieval Speed:</a:t>
            </a:r>
          </a:p>
          <a:p>
            <a:pPr lvl="1"/>
            <a:r>
              <a:rPr lang="en-US" sz="2000" b="1" dirty="0" smtClean="0">
                <a:latin typeface="Times New Roman" pitchFamily="18" charset="0"/>
                <a:cs typeface="Times New Roman" pitchFamily="18" charset="0"/>
              </a:rPr>
              <a:t>Indexing:</a:t>
            </a:r>
            <a:r>
              <a:rPr lang="en-US" sz="2000" dirty="0" smtClean="0">
                <a:latin typeface="Times New Roman" pitchFamily="18" charset="0"/>
                <a:cs typeface="Times New Roman" pitchFamily="18" charset="0"/>
              </a:rPr>
              <a:t> With its pre-organized data structures, Indexing offers faster data retrieval, especially for range queries and ordered records.</a:t>
            </a:r>
          </a:p>
          <a:p>
            <a:pPr lvl="1"/>
            <a:r>
              <a:rPr lang="en-US" sz="2000" b="1" dirty="0" smtClean="0">
                <a:latin typeface="Times New Roman" pitchFamily="18" charset="0"/>
                <a:cs typeface="Times New Roman" pitchFamily="18" charset="0"/>
              </a:rPr>
              <a:t>Hashing:</a:t>
            </a:r>
            <a:r>
              <a:rPr lang="en-US" sz="2000" dirty="0" smtClean="0">
                <a:latin typeface="Times New Roman" pitchFamily="18" charset="0"/>
                <a:cs typeface="Times New Roman" pitchFamily="18" charset="0"/>
              </a:rPr>
              <a:t> Hashing outperforms Indexing when searching for specific items, especially in large databases.</a:t>
            </a:r>
          </a:p>
          <a:p>
            <a:pPr>
              <a:buNone/>
            </a:pP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	Storage Efficiency:</a:t>
            </a:r>
          </a:p>
          <a:p>
            <a:pPr lvl="1"/>
            <a:r>
              <a:rPr lang="en-US" sz="2000" b="1" dirty="0" smtClean="0">
                <a:latin typeface="Times New Roman" pitchFamily="18" charset="0"/>
                <a:cs typeface="Times New Roman" pitchFamily="18" charset="0"/>
              </a:rPr>
              <a:t>Indexing:</a:t>
            </a:r>
            <a:r>
              <a:rPr lang="en-US" sz="2000" dirty="0" smtClean="0">
                <a:latin typeface="Times New Roman" pitchFamily="18" charset="0"/>
                <a:cs typeface="Times New Roman" pitchFamily="18" charset="0"/>
              </a:rPr>
              <a:t> While Indexes provide optimized search, they come with the cost of additional storage space.</a:t>
            </a:r>
          </a:p>
          <a:p>
            <a:pPr lvl="1"/>
            <a:r>
              <a:rPr lang="en-US" sz="2000" b="1" dirty="0" smtClean="0">
                <a:latin typeface="Times New Roman" pitchFamily="18" charset="0"/>
                <a:cs typeface="Times New Roman" pitchFamily="18" charset="0"/>
              </a:rPr>
              <a:t>Hashing:</a:t>
            </a:r>
            <a:r>
              <a:rPr lang="en-US" sz="2000" dirty="0" smtClean="0">
                <a:latin typeface="Times New Roman" pitchFamily="18" charset="0"/>
                <a:cs typeface="Times New Roman" pitchFamily="18" charset="0"/>
              </a:rPr>
              <a:t> Hashing uses a dynamic allocation of buckets, ensuring better storage efficiency, particularly for databases with varying data sizes.</a:t>
            </a:r>
          </a:p>
          <a:p>
            <a:pPr fontAlgn="base">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Indexing VS Hashing in DBMS</a:t>
            </a:r>
          </a:p>
          <a:p>
            <a:pPr>
              <a:buNone/>
            </a:pPr>
            <a:r>
              <a:rPr lang="en-US" sz="2000" b="1" dirty="0" smtClean="0">
                <a:latin typeface="Times New Roman" pitchFamily="18" charset="0"/>
                <a:cs typeface="Times New Roman" pitchFamily="18" charset="0"/>
              </a:rPr>
              <a:t>	Database Size:</a:t>
            </a:r>
          </a:p>
          <a:p>
            <a:pPr lvl="1"/>
            <a:r>
              <a:rPr lang="en-US" sz="2000" b="1" dirty="0" smtClean="0">
                <a:latin typeface="Times New Roman" pitchFamily="18" charset="0"/>
                <a:cs typeface="Times New Roman" pitchFamily="18" charset="0"/>
              </a:rPr>
              <a:t>Indexing:</a:t>
            </a:r>
            <a:r>
              <a:rPr lang="en-US" sz="2000" dirty="0" smtClean="0">
                <a:latin typeface="Times New Roman" pitchFamily="18" charset="0"/>
                <a:cs typeface="Times New Roman" pitchFamily="18" charset="0"/>
              </a:rPr>
              <a:t> Indexing works well for small to medium-sized databases where the additional storage overhead is manageable.</a:t>
            </a:r>
          </a:p>
          <a:p>
            <a:pPr lvl="1"/>
            <a:r>
              <a:rPr lang="en-US" sz="2000" b="1" dirty="0" smtClean="0">
                <a:latin typeface="Times New Roman" pitchFamily="18" charset="0"/>
                <a:cs typeface="Times New Roman" pitchFamily="18" charset="0"/>
              </a:rPr>
              <a:t>Hashing:</a:t>
            </a:r>
            <a:r>
              <a:rPr lang="en-US" sz="2000" dirty="0" smtClean="0">
                <a:latin typeface="Times New Roman" pitchFamily="18" charset="0"/>
                <a:cs typeface="Times New Roman" pitchFamily="18" charset="0"/>
              </a:rPr>
              <a:t> Hashing shines in large databases, where it scales efficiently and maintains performance even with massive datasets.</a:t>
            </a:r>
          </a:p>
          <a:p>
            <a:pPr>
              <a:buNone/>
            </a:pP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	Complexity:</a:t>
            </a:r>
          </a:p>
          <a:p>
            <a:pPr lvl="1"/>
            <a:r>
              <a:rPr lang="en-US" sz="2000" b="1" dirty="0" smtClean="0">
                <a:latin typeface="Times New Roman" pitchFamily="18" charset="0"/>
                <a:cs typeface="Times New Roman" pitchFamily="18" charset="0"/>
              </a:rPr>
              <a:t>Indexing:</a:t>
            </a:r>
            <a:r>
              <a:rPr lang="en-US" sz="2000" dirty="0" smtClean="0">
                <a:latin typeface="Times New Roman" pitchFamily="18" charset="0"/>
                <a:cs typeface="Times New Roman" pitchFamily="18" charset="0"/>
              </a:rPr>
              <a:t> The complexity of Indexing increases with the number of indexes and their size, potentially affecting performance.</a:t>
            </a:r>
          </a:p>
          <a:p>
            <a:pPr lvl="1"/>
            <a:r>
              <a:rPr lang="en-US" sz="2000" b="1" dirty="0" smtClean="0">
                <a:latin typeface="Times New Roman" pitchFamily="18" charset="0"/>
                <a:cs typeface="Times New Roman" pitchFamily="18" charset="0"/>
              </a:rPr>
              <a:t>Hashing:</a:t>
            </a:r>
            <a:r>
              <a:rPr lang="en-US" sz="2000" dirty="0" smtClean="0">
                <a:latin typeface="Times New Roman" pitchFamily="18" charset="0"/>
                <a:cs typeface="Times New Roman" pitchFamily="18" charset="0"/>
              </a:rPr>
              <a:t> Hashing offers a simpler and more straightforward method for data retrieval, reducing complexity for certain scenarios.</a:t>
            </a:r>
          </a:p>
          <a:p>
            <a:pPr>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457200" y="1447800"/>
            <a:ext cx="8229600" cy="50292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Indexing VS Hashing in DBMS</a:t>
            </a:r>
          </a:p>
          <a:p>
            <a:pPr algn="just">
              <a:buNone/>
            </a:pPr>
            <a:r>
              <a:rPr lang="en-US" sz="2000" b="1" dirty="0" smtClean="0">
                <a:latin typeface="Times New Roman" pitchFamily="18" charset="0"/>
                <a:cs typeface="Times New Roman" pitchFamily="18" charset="0"/>
              </a:rPr>
              <a:t>	Applications: Indexing</a:t>
            </a:r>
          </a:p>
          <a:p>
            <a:pPr lvl="1" algn="just"/>
            <a:r>
              <a:rPr lang="en-US" sz="2000" b="1" dirty="0" smtClean="0">
                <a:latin typeface="Times New Roman" pitchFamily="18" charset="0"/>
                <a:cs typeface="Times New Roman" pitchFamily="18" charset="0"/>
              </a:rPr>
              <a:t>Online Transaction Processing (OLTP) Systems:</a:t>
            </a:r>
            <a:r>
              <a:rPr lang="en-US" sz="2000" dirty="0" smtClean="0">
                <a:latin typeface="Times New Roman" pitchFamily="18" charset="0"/>
                <a:cs typeface="Times New Roman" pitchFamily="18" charset="0"/>
              </a:rPr>
              <a:t> Indexing is well-suited for OLTP systems, where rapid data retrieval is essential for handling numerous concurrent user requests.</a:t>
            </a:r>
          </a:p>
          <a:p>
            <a:pPr lvl="1" algn="just"/>
            <a:r>
              <a:rPr lang="en-US" sz="2000" b="1" dirty="0" smtClean="0">
                <a:latin typeface="Times New Roman" pitchFamily="18" charset="0"/>
                <a:cs typeface="Times New Roman" pitchFamily="18" charset="0"/>
              </a:rPr>
              <a:t>Range Queries:</a:t>
            </a:r>
            <a:r>
              <a:rPr lang="en-US" sz="2000" dirty="0" smtClean="0">
                <a:latin typeface="Times New Roman" pitchFamily="18" charset="0"/>
                <a:cs typeface="Times New Roman" pitchFamily="18" charset="0"/>
              </a:rPr>
              <a:t> When dealing with queries involving a range of values, ordered indexing can significantly speed up search times.</a:t>
            </a:r>
          </a:p>
          <a:p>
            <a:pPr algn="just">
              <a:buNone/>
            </a:pPr>
            <a:r>
              <a:rPr lang="en-US" sz="2000" dirty="0" smtClean="0">
                <a:latin typeface="Times New Roman" pitchFamily="18" charset="0"/>
                <a:cs typeface="Times New Roman" pitchFamily="18" charset="0"/>
              </a:rPr>
              <a:t> </a:t>
            </a:r>
          </a:p>
          <a:p>
            <a:pPr algn="just">
              <a:buNone/>
            </a:pPr>
            <a:r>
              <a:rPr lang="en-US" sz="2000" b="1" dirty="0" smtClean="0">
                <a:latin typeface="Times New Roman" pitchFamily="18" charset="0"/>
                <a:cs typeface="Times New Roman" pitchFamily="18" charset="0"/>
              </a:rPr>
              <a:t>	Applications: Hashing</a:t>
            </a:r>
          </a:p>
          <a:p>
            <a:pPr lvl="1" algn="just"/>
            <a:r>
              <a:rPr lang="en-US" sz="2000" b="1" dirty="0" smtClean="0">
                <a:latin typeface="Times New Roman" pitchFamily="18" charset="0"/>
                <a:cs typeface="Times New Roman" pitchFamily="18" charset="0"/>
              </a:rPr>
              <a:t>Large Databases:</a:t>
            </a:r>
            <a:r>
              <a:rPr lang="en-US" sz="2000" dirty="0" smtClean="0">
                <a:latin typeface="Times New Roman" pitchFamily="18" charset="0"/>
                <a:cs typeface="Times New Roman" pitchFamily="18" charset="0"/>
              </a:rPr>
              <a:t> Hashing excels in large databases, where its direct location calculation ensures fast access to records without the need for complex index structures.</a:t>
            </a:r>
          </a:p>
          <a:p>
            <a:pPr lvl="1" algn="just"/>
            <a:r>
              <a:rPr lang="en-US" sz="2000" b="1" dirty="0" smtClean="0">
                <a:latin typeface="Times New Roman" pitchFamily="18" charset="0"/>
                <a:cs typeface="Times New Roman" pitchFamily="18" charset="0"/>
              </a:rPr>
              <a:t>Searching Unsorted Data:</a:t>
            </a:r>
            <a:r>
              <a:rPr lang="en-US" sz="2000" dirty="0" smtClean="0">
                <a:latin typeface="Times New Roman" pitchFamily="18" charset="0"/>
                <a:cs typeface="Times New Roman" pitchFamily="18" charset="0"/>
              </a:rPr>
              <a:t> When data is unsorted, Hashing can still efficiently retrieve desired items, whereas Indexing may require additional sorting operations.</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400" b="1" dirty="0" smtClean="0">
                <a:latin typeface="Times New Roman" pitchFamily="18" charset="0"/>
                <a:cs typeface="Times New Roman" pitchFamily="18" charset="0"/>
              </a:rPr>
              <a:t>Example</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Consider the following data to construct the dynamic/extendible hash structure:</a:t>
            </a:r>
          </a:p>
          <a:p>
            <a:pPr algn="just"/>
            <a:r>
              <a:rPr lang="en-US" sz="2400" dirty="0" smtClean="0">
                <a:latin typeface="Times New Roman" pitchFamily="18" charset="0"/>
                <a:cs typeface="Times New Roman" pitchFamily="18" charset="0"/>
              </a:rPr>
              <a:t>	Data = {28, 4, 19, 1, 22, 16, 12, 0, 5, 7}</a:t>
            </a:r>
          </a:p>
          <a:p>
            <a:pPr algn="just"/>
            <a:r>
              <a:rPr lang="en-US" sz="2400" dirty="0" smtClean="0">
                <a:latin typeface="Times New Roman" pitchFamily="18" charset="0"/>
                <a:cs typeface="Times New Roman" pitchFamily="18" charset="0"/>
              </a:rPr>
              <a:t>	Bucket limit = 3</a:t>
            </a:r>
            <a:endPar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base" latinLnBrk="0" hangingPunct="1">
              <a:lnSpc>
                <a:spcPct val="100000"/>
              </a:lnSpc>
              <a:spcBef>
                <a:spcPct val="20000"/>
              </a:spcBef>
              <a:spcAft>
                <a:spcPts val="0"/>
              </a:spcAft>
              <a:buClrTx/>
              <a:buSzTx/>
              <a:buFont typeface="Arial" pitchFamily="34" charset="0"/>
              <a:buNone/>
              <a:tabLst/>
              <a:defRPr/>
            </a:pPr>
            <a:endPar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base"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Solution:</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p>
          <a:p>
            <a:pPr marL="742950" marR="0" lvl="1" indent="-285750" algn="just" defTabSz="914400" rtl="0" eaLnBrk="1" fontAlgn="base" latinLnBrk="0" hangingPunct="1">
              <a:lnSpc>
                <a:spcPct val="100000"/>
              </a:lnSpc>
              <a:spcBef>
                <a:spcPct val="20000"/>
              </a:spcBef>
              <a:spcAft>
                <a:spcPts val="0"/>
              </a:spcAft>
              <a:buClrTx/>
              <a:buSzTx/>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400" b="1" dirty="0" smtClean="0">
                <a:latin typeface="Times New Roman" pitchFamily="18" charset="0"/>
                <a:cs typeface="Times New Roman" pitchFamily="18" charset="0"/>
              </a:rPr>
              <a:t>Example</a:t>
            </a:r>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400" dirty="0" smtClean="0">
                <a:latin typeface="Times New Roman" pitchFamily="18" charset="0"/>
                <a:cs typeface="Times New Roman" pitchFamily="18" charset="0"/>
              </a:rPr>
              <a:t>Convert the data into binary representation:</a:t>
            </a: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2362200" y="2590800"/>
          <a:ext cx="3705226" cy="3470148"/>
        </p:xfrm>
        <a:graphic>
          <a:graphicData uri="http://schemas.openxmlformats.org/drawingml/2006/table">
            <a:tbl>
              <a:tblPr/>
              <a:tblGrid>
                <a:gridCol w="1800226"/>
                <a:gridCol w="1905000"/>
              </a:tblGrid>
              <a:tr h="311727">
                <a:tc>
                  <a:txBody>
                    <a:bodyPr/>
                    <a:lstStyle/>
                    <a:p>
                      <a:pPr marL="0" marR="0" algn="ctr">
                        <a:lnSpc>
                          <a:spcPct val="115000"/>
                        </a:lnSpc>
                        <a:spcBef>
                          <a:spcPts val="0"/>
                        </a:spcBef>
                        <a:spcAft>
                          <a:spcPts val="0"/>
                        </a:spcAft>
                      </a:pPr>
                      <a:r>
                        <a:rPr lang="en-US" sz="1800" b="1" dirty="0">
                          <a:latin typeface="Times New Roman"/>
                          <a:ea typeface="Times New Roman"/>
                          <a:cs typeface="Times New Roman"/>
                        </a:rPr>
                        <a:t>Data</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dirty="0">
                          <a:latin typeface="Times New Roman"/>
                          <a:ea typeface="Times New Roman"/>
                          <a:cs typeface="Times New Roman"/>
                        </a:rPr>
                        <a:t>Binary </a:t>
                      </a:r>
                      <a:r>
                        <a:rPr lang="en-US" sz="1800" b="1" dirty="0" smtClean="0">
                          <a:latin typeface="Times New Roman"/>
                          <a:ea typeface="Times New Roman"/>
                          <a:cs typeface="Times New Roman"/>
                        </a:rPr>
                        <a:t>Form</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28</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11100</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4</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a:ea typeface="Times New Roman"/>
                          <a:cs typeface="Times New Roman"/>
                        </a:rPr>
                        <a:t>00100</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19</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10011</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1</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00001</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22</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10110</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16</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10000</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12</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01100</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0</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00000</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5</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a:ea typeface="Times New Roman"/>
                          <a:cs typeface="Times New Roman"/>
                        </a:rPr>
                        <a:t>00101</a:t>
                      </a:r>
                      <a:endParaRPr lang="en-US" sz="18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1727">
                <a:tc>
                  <a:txBody>
                    <a:bodyPr/>
                    <a:lstStyle/>
                    <a:p>
                      <a:pPr marL="0" marR="0" algn="ctr">
                        <a:lnSpc>
                          <a:spcPct val="115000"/>
                        </a:lnSpc>
                        <a:spcBef>
                          <a:spcPts val="0"/>
                        </a:spcBef>
                        <a:spcAft>
                          <a:spcPts val="0"/>
                        </a:spcAft>
                      </a:pPr>
                      <a:r>
                        <a:rPr lang="en-US" sz="1800" dirty="0">
                          <a:latin typeface="Times New Roman"/>
                          <a:ea typeface="Times New Roman"/>
                          <a:cs typeface="Times New Roman"/>
                        </a:rPr>
                        <a:t>7</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a:ea typeface="Times New Roman"/>
                          <a:cs typeface="Times New Roman"/>
                        </a:rPr>
                        <a:t>00111</a:t>
                      </a:r>
                      <a:endParaRPr lang="en-US" sz="18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Initialize the hash table with two initial directories and buckets. Set the global depth and bucket depth to 1</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066800" y="2850388"/>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28</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4</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00100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19</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10011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10110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464300" y="3048000"/>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477000" y="4191000"/>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19600" y="3733800"/>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267200" y="28956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267200" y="46482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477000" y="5178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05600" y="243840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05600" y="27432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28565" y="3439468"/>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572000" y="3276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334000" y="3657600"/>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334000" y="4267200"/>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648200" y="5715000"/>
            <a:ext cx="31242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Initial Hash structure</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28 (1110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Global-depth is 1. The hash function returns 1 LSB of 1110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which is 0. Hence, 28 is mapped to the directory with id=0.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066800" y="2850388"/>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a:t>
                      </a: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4</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00100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19</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10011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10110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4 (0010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The hash function returns 1 LSB of 0010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which is 0. Hence, 4 is mapped to the directory with id=0.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667000"/>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4</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a:t>
                      </a: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19</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10110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28, 4</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19 (1001</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Add it to the "1" ID bucket as the hash function returns 1 LSB of 1001</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which is 1.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667000"/>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19</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a:t>
                      </a: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10110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28, 4</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1 (0000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Add it to the "1" ID bucket as the hash function returns 1 LSB of 0000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which is 1.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667000"/>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a:t>
                      </a: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22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10110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28, 4</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19, 1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22 (1011</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Add it to the "0" ID bucket as the hash function returns 1 LSB of 1011</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which is 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667000"/>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a:t>
                      </a: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16</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28, 4, 22</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19, 1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a:t>
            </a:r>
            <a:r>
              <a:rPr lang="en-US" sz="2000" dirty="0" smtClean="0">
                <a:latin typeface="Times New Roman" pitchFamily="18" charset="0"/>
                <a:cs typeface="Times New Roman" pitchFamily="18" charset="0"/>
              </a:rPr>
              <a:t>16 (1000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Adding it to the "0" ID bucket makes it overflow.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667000"/>
          <a:ext cx="2362200" cy="3364992"/>
        </p:xfrm>
        <a:graphic>
          <a:graphicData uri="http://schemas.openxmlformats.org/drawingml/2006/table">
            <a:tbl>
              <a:tblPr/>
              <a:tblGrid>
                <a:gridCol w="1147702"/>
                <a:gridCol w="1214498"/>
              </a:tblGrid>
              <a:tr h="509778">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16</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a:t>
                      </a: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4889">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28, 4, 22, </a:t>
                      </a:r>
                      <a:r>
                        <a:rPr lang="en-US" sz="1800" b="0" i="0" u="none" strike="noStrike" dirty="0" smtClean="0">
                          <a:solidFill>
                            <a:srgbClr val="FF0000"/>
                          </a:solidFill>
                          <a:latin typeface="Times New Roman" pitchFamily="18" charset="0"/>
                          <a:cs typeface="Times New Roman" pitchFamily="18" charset="0"/>
                        </a:rPr>
                        <a:t>16</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19, 1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620000" y="2971800"/>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26" name="Straight Arrow Connector 25"/>
          <p:cNvCxnSpPr/>
          <p:nvPr/>
        </p:nvCxnSpPr>
        <p:spPr>
          <a:xfrm rot="5400000">
            <a:off x="7696200" y="32766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1600" b="1" dirty="0" smtClean="0">
                <a:latin typeface="Times New Roman" pitchFamily="18" charset="0"/>
                <a:cs typeface="Times New Roman" pitchFamily="18" charset="0"/>
              </a:rPr>
              <a:t>Example</a:t>
            </a:r>
          </a:p>
          <a:p>
            <a:pPr marL="342900" lvl="0" indent="-342900" algn="just">
              <a:spcBef>
                <a:spcPct val="20000"/>
              </a:spcBef>
            </a:pPr>
            <a:r>
              <a:rPr kumimoji="0" lang="en-US" sz="16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600" dirty="0" smtClean="0">
                <a:latin typeface="Times New Roman" pitchFamily="18" charset="0"/>
                <a:cs typeface="Times New Roman" pitchFamily="18" charset="0"/>
              </a:rPr>
              <a:t>Since Local Depth = Global Depth, the bucket splits and directory expansion takes place. Rehash the numbers present in the overflowing bucket after splitting the bucket. Global depth is incremented by 1. Now, the global depth is 2. Hence, 28, 4, 22, and 16 are now rehashed w. r. t 2 LSBs.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a:t>
                      </a:r>
                      <a:r>
                        <a:rPr lang="en-US" sz="1600" dirty="0">
                          <a:solidFill>
                            <a:srgbClr val="FF0000"/>
                          </a:solidFill>
                          <a:latin typeface="Times New Roman"/>
                          <a:ea typeface="Times New Roman"/>
                          <a:cs typeface="Times New Roman"/>
                        </a:rPr>
                        <a:t>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4</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r>
                        <a:rPr lang="en-US" sz="1600" dirty="0">
                          <a:solidFill>
                            <a:srgbClr val="FF0000"/>
                          </a:solidFill>
                          <a:latin typeface="Times New Roman"/>
                          <a:ea typeface="Times New Roman"/>
                          <a:cs typeface="Times New Roman"/>
                        </a:rPr>
                        <a:t>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r>
                        <a:rPr lang="en-US" sz="1600" dirty="0">
                          <a:solidFill>
                            <a:srgbClr val="FF0000"/>
                          </a:solidFill>
                          <a:latin typeface="Times New Roman"/>
                          <a:ea typeface="Times New Roman"/>
                          <a:cs typeface="Times New Roman"/>
                        </a:rPr>
                        <a:t>10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16</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r>
                        <a:rPr lang="en-US" sz="1600" dirty="0">
                          <a:solidFill>
                            <a:srgbClr val="FF0000"/>
                          </a:solidFill>
                          <a:latin typeface="Times New Roman"/>
                          <a:ea typeface="Times New Roman"/>
                          <a:cs typeface="Times New Roman"/>
                        </a:rPr>
                        <a:t>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12</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50520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rgbClr val="FF0000"/>
                          </a:solidFill>
                          <a:latin typeface="Times New Roman" pitchFamily="18" charset="0"/>
                          <a:cs typeface="Times New Roman" pitchFamily="18" charset="0"/>
                        </a:rPr>
                        <a:t>28, 4, 16</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181600"/>
          <a:ext cx="1371600" cy="609600"/>
        </p:xfrm>
        <a:graphic>
          <a:graphicData uri="http://schemas.openxmlformats.org/drawingml/2006/table">
            <a:tbl>
              <a:tblPr/>
              <a:tblGrid>
                <a:gridCol w="424308"/>
                <a:gridCol w="473646"/>
                <a:gridCol w="473646"/>
              </a:tblGrid>
              <a:tr h="3048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3048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19, 1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146304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00</a:t>
                      </a:r>
                      <a:endParaRPr lang="en-US" dirty="0"/>
                    </a:p>
                  </a:txBody>
                  <a:tcPr/>
                </a:tc>
              </a:tr>
              <a:tr h="209550">
                <a:tc>
                  <a:txBody>
                    <a:bodyPr/>
                    <a:lstStyle/>
                    <a:p>
                      <a:pPr algn="ctr"/>
                      <a:r>
                        <a:rPr lang="en-US" dirty="0" smtClean="0"/>
                        <a:t>01</a:t>
                      </a:r>
                      <a:endParaRPr lang="en-US" dirty="0"/>
                    </a:p>
                  </a:txBody>
                  <a:tcPr/>
                </a:tc>
              </a:tr>
              <a:tr h="209550">
                <a:tc>
                  <a:txBody>
                    <a:bodyPr/>
                    <a:lstStyle/>
                    <a:p>
                      <a:pPr algn="ctr"/>
                      <a:r>
                        <a:rPr lang="en-US" dirty="0" smtClean="0"/>
                        <a:t>10</a:t>
                      </a:r>
                      <a:endParaRPr lang="en-US" dirty="0"/>
                    </a:p>
                  </a:txBody>
                  <a:tcPr/>
                </a:tc>
              </a:tr>
              <a:tr h="209550">
                <a:tc>
                  <a:txBody>
                    <a:bodyPr/>
                    <a:lstStyle/>
                    <a:p>
                      <a:pPr algn="ctr"/>
                      <a:r>
                        <a:rPr lang="en-US" dirty="0" smtClean="0"/>
                        <a:t>11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559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818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91055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3200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01235" y="3962400"/>
            <a:ext cx="1295400" cy="73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01235" y="5172635"/>
            <a:ext cx="1295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32816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rgbClr val="FF0000"/>
                          </a:solidFill>
                          <a:latin typeface="Times New Roman" pitchFamily="18" charset="0"/>
                          <a:cs typeface="Times New Roman" pitchFamily="18" charset="0"/>
                        </a:rPr>
                        <a:t>22</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01235" y="4486835"/>
            <a:ext cx="12954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01235" y="4800600"/>
            <a:ext cx="1295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Inserting 12 (011</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Adding it to the "00" ID bucket makes it overflow.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16</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r>
                        <a:rPr lang="en-US" sz="1600" dirty="0">
                          <a:solidFill>
                            <a:srgbClr val="FF0000"/>
                          </a:solidFill>
                          <a:latin typeface="Times New Roman"/>
                          <a:ea typeface="Times New Roman"/>
                          <a:cs typeface="Times New Roman"/>
                        </a:rPr>
                        <a:t>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50520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28, 4, 16,</a:t>
                      </a:r>
                      <a:r>
                        <a:rPr lang="en-US" sz="1800" b="0" i="0" u="none" strike="noStrike" dirty="0" smtClean="0">
                          <a:solidFill>
                            <a:srgbClr val="FF0000"/>
                          </a:solidFill>
                          <a:latin typeface="Times New Roman" pitchFamily="18" charset="0"/>
                          <a:cs typeface="Times New Roman" pitchFamily="18" charset="0"/>
                        </a:rPr>
                        <a:t> 12</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181600"/>
          <a:ext cx="1371600" cy="609600"/>
        </p:xfrm>
        <a:graphic>
          <a:graphicData uri="http://schemas.openxmlformats.org/drawingml/2006/table">
            <a:tbl>
              <a:tblPr/>
              <a:tblGrid>
                <a:gridCol w="424308"/>
                <a:gridCol w="473646"/>
                <a:gridCol w="473646"/>
              </a:tblGrid>
              <a:tr h="3048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3048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19, 1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146304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00</a:t>
                      </a:r>
                      <a:endParaRPr lang="en-US" dirty="0"/>
                    </a:p>
                  </a:txBody>
                  <a:tcPr/>
                </a:tc>
              </a:tr>
              <a:tr h="209550">
                <a:tc>
                  <a:txBody>
                    <a:bodyPr/>
                    <a:lstStyle/>
                    <a:p>
                      <a:pPr algn="ctr"/>
                      <a:r>
                        <a:rPr lang="en-US" dirty="0" smtClean="0"/>
                        <a:t>01</a:t>
                      </a:r>
                      <a:endParaRPr lang="en-US" dirty="0"/>
                    </a:p>
                  </a:txBody>
                  <a:tcPr/>
                </a:tc>
              </a:tr>
              <a:tr h="209550">
                <a:tc>
                  <a:txBody>
                    <a:bodyPr/>
                    <a:lstStyle/>
                    <a:p>
                      <a:pPr algn="ctr"/>
                      <a:r>
                        <a:rPr lang="en-US" dirty="0" smtClean="0"/>
                        <a:t>10</a:t>
                      </a:r>
                      <a:endParaRPr lang="en-US" dirty="0"/>
                    </a:p>
                  </a:txBody>
                  <a:tcPr/>
                </a:tc>
              </a:tr>
              <a:tr h="209550">
                <a:tc>
                  <a:txBody>
                    <a:bodyPr/>
                    <a:lstStyle/>
                    <a:p>
                      <a:pPr algn="ctr"/>
                      <a:r>
                        <a:rPr lang="en-US" dirty="0" smtClean="0"/>
                        <a:t>11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559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818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91055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3200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01235" y="3962400"/>
            <a:ext cx="1295400" cy="73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01235" y="5172635"/>
            <a:ext cx="1295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32816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22</a:t>
                      </a:r>
                      <a:endParaRPr lang="en-US" sz="18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01235" y="4486835"/>
            <a:ext cx="12954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01235" y="4800600"/>
            <a:ext cx="1295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620000" y="3160060"/>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30" name="Straight Arrow Connector 29"/>
          <p:cNvCxnSpPr/>
          <p:nvPr/>
        </p:nvCxnSpPr>
        <p:spPr>
          <a:xfrm rot="5400000">
            <a:off x="7696200" y="346486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Since Local Depth = Global Depth, the bucket splits and directory expansion takes place. Rehash the numbers present in the overflowing bucket after splitting the bucket. Global depth is incremented by 1. Now, the global depth is 3. Hence, 28, 4, 16 and 12 are now rehashed w. r. t 3 LSBs.</a:t>
            </a:r>
            <a:r>
              <a:rPr kumimoji="0" lang="en-US" sz="1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400" dirty="0" smtClean="0">
                <a:latin typeface="Times New Roman" pitchFamily="18" charset="0"/>
                <a:cs typeface="Times New Roman" pitchFamily="18" charset="0"/>
              </a:rPr>
              <a:t>   </a:t>
            </a:r>
            <a:endParaRPr kumimoji="0" lang="en-US" sz="1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a:t>
                      </a: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4</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16</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a:t>
                      </a:r>
                      <a:r>
                        <a:rPr lang="en-US" sz="1600" dirty="0">
                          <a:solidFill>
                            <a:srgbClr val="FF0000"/>
                          </a:solidFill>
                          <a:latin typeface="Times New Roman"/>
                          <a:ea typeface="Times New Roman"/>
                          <a:cs typeface="Times New Roman"/>
                        </a:rPr>
                        <a:t>000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a:t>
                      </a: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00000</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00101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16</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1</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19, 1</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rot="16200000" flipH="1">
            <a:off x="5181600" y="4038599"/>
            <a:ext cx="1743635" cy="12864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10200" y="5105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28, 4, 12</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401235" y="4119280"/>
            <a:ext cx="1304365" cy="833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4343400"/>
            <a:ext cx="1295400" cy="3810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Inserting 0 (00</a:t>
            </a:r>
            <a:r>
              <a:rPr lang="en-US" sz="1600" dirty="0" smtClean="0">
                <a:solidFill>
                  <a:srgbClr val="FF0000"/>
                </a:solidFill>
                <a:latin typeface="Times New Roman" pitchFamily="18" charset="0"/>
                <a:cs typeface="Times New Roman" pitchFamily="18" charset="0"/>
              </a:rPr>
              <a:t>000</a:t>
            </a:r>
            <a:r>
              <a:rPr lang="en-US" sz="1600" dirty="0" smtClean="0">
                <a:latin typeface="Times New Roman" pitchFamily="18" charset="0"/>
                <a:cs typeface="Times New Roman" pitchFamily="18" charset="0"/>
              </a:rPr>
              <a:t>). Add it to the "000" ID bucket as the hash function returns 3 LSB of 00</a:t>
            </a:r>
            <a:r>
              <a:rPr lang="en-US" sz="1600" b="1" dirty="0" smtClean="0">
                <a:solidFill>
                  <a:srgbClr val="FF0000"/>
                </a:solidFill>
                <a:latin typeface="Times New Roman" pitchFamily="18" charset="0"/>
                <a:cs typeface="Times New Roman" pitchFamily="18" charset="0"/>
              </a:rPr>
              <a:t>000</a:t>
            </a:r>
            <a:r>
              <a:rPr lang="en-US" sz="1600" dirty="0" smtClean="0">
                <a:latin typeface="Times New Roman" pitchFamily="18" charset="0"/>
                <a:cs typeface="Times New Roman" pitchFamily="18" charset="0"/>
              </a:rPr>
              <a:t> which is 000.</a:t>
            </a:r>
            <a:r>
              <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16</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000</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5</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00101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16,</a:t>
                      </a:r>
                      <a:r>
                        <a:rPr lang="en-US" sz="1400" b="0" i="0" u="none" strike="noStrike" baseline="0" dirty="0" smtClean="0">
                          <a:solidFill>
                            <a:srgbClr val="FF0000"/>
                          </a:solidFill>
                          <a:latin typeface="Times New Roman" pitchFamily="18" charset="0"/>
                          <a:cs typeface="Times New Roman" pitchFamily="18" charset="0"/>
                        </a:rPr>
                        <a:t> 0</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1</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19, 1</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rot="16200000" flipH="1">
            <a:off x="5181600" y="4038599"/>
            <a:ext cx="1743635" cy="12864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10200" y="5105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28, 4, 12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401235" y="4119280"/>
            <a:ext cx="1304365" cy="833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4343400"/>
            <a:ext cx="1295400" cy="3810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Inserting 5 (00</a:t>
            </a:r>
            <a:r>
              <a:rPr lang="en-US" sz="1600" dirty="0" smtClean="0">
                <a:solidFill>
                  <a:srgbClr val="FF0000"/>
                </a:solidFill>
                <a:latin typeface="Times New Roman" pitchFamily="18" charset="0"/>
                <a:cs typeface="Times New Roman" pitchFamily="18" charset="0"/>
              </a:rPr>
              <a:t>101</a:t>
            </a:r>
            <a:r>
              <a:rPr lang="en-US" sz="1600" dirty="0" smtClean="0">
                <a:latin typeface="Times New Roman" pitchFamily="18" charset="0"/>
                <a:cs typeface="Times New Roman" pitchFamily="18" charset="0"/>
              </a:rPr>
              <a:t>). Add it to the “101" ID bucket as the hash function returns 3 LSB of 00</a:t>
            </a:r>
            <a:r>
              <a:rPr lang="en-US" sz="1600" b="1" dirty="0" smtClean="0">
                <a:solidFill>
                  <a:srgbClr val="FF0000"/>
                </a:solidFill>
                <a:latin typeface="Times New Roman" pitchFamily="18" charset="0"/>
                <a:cs typeface="Times New Roman" pitchFamily="18" charset="0"/>
              </a:rPr>
              <a:t>101</a:t>
            </a:r>
            <a:r>
              <a:rPr lang="en-US" sz="1600" dirty="0" smtClean="0">
                <a:latin typeface="Times New Roman" pitchFamily="18" charset="0"/>
                <a:cs typeface="Times New Roman" pitchFamily="18" charset="0"/>
              </a:rPr>
              <a:t> which is 101.</a:t>
            </a:r>
            <a:r>
              <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600" dirty="0" smtClean="0">
                <a:latin typeface="Times New Roman" pitchFamily="18" charset="0"/>
                <a:cs typeface="Times New Roman" pitchFamily="18" charset="0"/>
              </a:rPr>
              <a:t>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16</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5</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101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latin typeface="Times New Roman"/>
                          <a:ea typeface="Times New Roman"/>
                          <a:cs typeface="Times New Roman"/>
                        </a:rPr>
                        <a:t>7</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00111</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16,</a:t>
                      </a:r>
                      <a:r>
                        <a:rPr lang="en-US" sz="1400" b="0" i="0" u="none" strike="noStrike" baseline="0" dirty="0" smtClean="0">
                          <a:solidFill>
                            <a:schemeClr val="tx1"/>
                          </a:solidFill>
                          <a:latin typeface="Times New Roman" pitchFamily="18" charset="0"/>
                          <a:cs typeface="Times New Roman" pitchFamily="18" charset="0"/>
                        </a:rPr>
                        <a:t> 0</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1</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19, 1, </a:t>
                      </a:r>
                      <a:r>
                        <a:rPr lang="en-US" sz="1400" b="0" i="0" u="none" strike="noStrike" dirty="0" smtClean="0">
                          <a:solidFill>
                            <a:srgbClr val="FF0000"/>
                          </a:solidFill>
                          <a:latin typeface="Times New Roman" pitchFamily="18" charset="0"/>
                          <a:cs typeface="Times New Roman" pitchFamily="18" charset="0"/>
                        </a:rPr>
                        <a:t>5</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rot="16200000" flipH="1">
            <a:off x="5181600" y="4038599"/>
            <a:ext cx="1743635" cy="12864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10200" y="5105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28, 4, 12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401235" y="4119280"/>
            <a:ext cx="1304365" cy="833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4343400"/>
            <a:ext cx="1295400" cy="3810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Inserting 7 (00</a:t>
            </a:r>
            <a:r>
              <a:rPr lang="en-US" sz="1600" b="1" dirty="0" smtClean="0">
                <a:solidFill>
                  <a:srgbClr val="FF0000"/>
                </a:solidFill>
                <a:latin typeface="Times New Roman" pitchFamily="18" charset="0"/>
                <a:cs typeface="Times New Roman" pitchFamily="18" charset="0"/>
              </a:rPr>
              <a:t>111</a:t>
            </a:r>
            <a:r>
              <a:rPr lang="en-US" sz="1600" dirty="0" smtClean="0">
                <a:latin typeface="Times New Roman" pitchFamily="18" charset="0"/>
                <a:cs typeface="Times New Roman" pitchFamily="18" charset="0"/>
              </a:rPr>
              <a:t>). Adding it to the “111" ID bucket makes it overflow.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10011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16</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7</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111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16,</a:t>
                      </a:r>
                      <a:r>
                        <a:rPr lang="en-US" sz="1400" b="0" i="0" u="none" strike="noStrike" baseline="0" dirty="0" smtClean="0">
                          <a:solidFill>
                            <a:schemeClr val="tx1"/>
                          </a:solidFill>
                          <a:latin typeface="Times New Roman" pitchFamily="18" charset="0"/>
                          <a:cs typeface="Times New Roman" pitchFamily="18" charset="0"/>
                        </a:rPr>
                        <a:t> 0</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1</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chemeClr val="tx1"/>
                          </a:solidFill>
                          <a:latin typeface="Times New Roman" pitchFamily="18" charset="0"/>
                          <a:cs typeface="Times New Roman" pitchFamily="18" charset="0"/>
                        </a:rPr>
                        <a:t>19, 1, 5, </a:t>
                      </a:r>
                      <a:r>
                        <a:rPr lang="en-US" sz="1400" b="0" i="0" u="none" strike="noStrike" dirty="0" smtClean="0">
                          <a:solidFill>
                            <a:srgbClr val="FF0000"/>
                          </a:solidFill>
                          <a:latin typeface="Times New Roman" pitchFamily="18" charset="0"/>
                          <a:cs typeface="Times New Roman" pitchFamily="18" charset="0"/>
                        </a:rPr>
                        <a:t>7</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rot="16200000" flipH="1">
            <a:off x="5181600" y="4038599"/>
            <a:ext cx="1743635" cy="12864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10200" y="5105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28, 4, 12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401235" y="4119280"/>
            <a:ext cx="1304365" cy="833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4343400"/>
            <a:ext cx="1295400" cy="3810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620000" y="5331023"/>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35" name="Straight Arrow Connector 34"/>
          <p:cNvCxnSpPr/>
          <p:nvPr/>
        </p:nvCxnSpPr>
        <p:spPr>
          <a:xfrm rot="10800000" flipV="1">
            <a:off x="7543800" y="5562600"/>
            <a:ext cx="304800" cy="1882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12/29/2024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600" dirty="0" smtClean="0">
                <a:latin typeface="Times New Roman" pitchFamily="18" charset="0"/>
                <a:cs typeface="Times New Roman" pitchFamily="18" charset="0"/>
              </a:rPr>
              <a:t>Here Bucket depth is less than global depth. So, only the bucket split is executed. Elements (19, 1, 5, 7) are re-hashed according to the global depth, which is still 3.</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1" name="Table 10"/>
          <p:cNvGraphicFramePr>
            <a:graphicFrameLocks noGrp="1"/>
          </p:cNvGraphicFramePr>
          <p:nvPr/>
        </p:nvGraphicFramePr>
        <p:xfrm>
          <a:off x="1219200" y="2862580"/>
          <a:ext cx="2362200" cy="3364992"/>
        </p:xfrm>
        <a:graphic>
          <a:graphicData uri="http://schemas.openxmlformats.org/drawingml/2006/table">
            <a:tbl>
              <a:tblPr/>
              <a:tblGrid>
                <a:gridCol w="1147702"/>
                <a:gridCol w="1214498"/>
              </a:tblGrid>
              <a:tr h="484632">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Binary </a:t>
                      </a:r>
                      <a:r>
                        <a:rPr lang="en-US" sz="1600" b="1" dirty="0" smtClean="0">
                          <a:latin typeface="Times New Roman"/>
                          <a:ea typeface="Times New Roman"/>
                          <a:cs typeface="Times New Roman"/>
                        </a:rPr>
                        <a:t>Form</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4</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19</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a:t>
                      </a:r>
                      <a:r>
                        <a:rPr lang="en-US" sz="1600" dirty="0">
                          <a:solidFill>
                            <a:srgbClr val="FF0000"/>
                          </a:solidFill>
                          <a:latin typeface="Times New Roman"/>
                          <a:ea typeface="Times New Roman"/>
                          <a:cs typeface="Times New Roman"/>
                        </a:rPr>
                        <a:t>011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001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10110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16</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00000</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5</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101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2316">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7</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111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16,</a:t>
                      </a:r>
                      <a:r>
                        <a:rPr lang="en-US" sz="1400" b="0" i="0" u="none" strike="noStrike" baseline="0" dirty="0" smtClean="0">
                          <a:solidFill>
                            <a:schemeClr val="tx1"/>
                          </a:solidFill>
                          <a:latin typeface="Times New Roman" pitchFamily="18" charset="0"/>
                          <a:cs typeface="Times New Roman" pitchFamily="18" charset="0"/>
                        </a:rPr>
                        <a:t> 0</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FF0000"/>
                          </a:solidFill>
                          <a:latin typeface="Times New Roman" pitchFamily="18" charset="0"/>
                          <a:cs typeface="Times New Roman" pitchFamily="18" charset="0"/>
                        </a:rPr>
                        <a:t>1, 5</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2133600" y="6248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rot="16200000" flipH="1">
            <a:off x="5181600" y="4038599"/>
            <a:ext cx="1743635" cy="12864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10200" y="5105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28, 4, 12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16200000" flipH="1">
            <a:off x="5067300" y="4762500"/>
            <a:ext cx="19812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5401235" y="4119280"/>
            <a:ext cx="1304365" cy="8337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4343400"/>
            <a:ext cx="1295400" cy="3810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705600" y="61722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FF0000"/>
                          </a:solidFill>
                          <a:latin typeface="Times New Roman" pitchFamily="18" charset="0"/>
                          <a:cs typeface="Times New Roman" pitchFamily="18" charset="0"/>
                        </a:rPr>
                        <a:t>19, 7</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823</TotalTime>
  <Words>2936</Words>
  <Application>Microsoft Office PowerPoint</Application>
  <PresentationFormat>On-screen Show (4:3)</PresentationFormat>
  <Paragraphs>1548</Paragraphs>
  <Slides>62</Slides>
  <Notes>62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Slide 1</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720</cp:revision>
  <dcterms:created xsi:type="dcterms:W3CDTF">2014-09-22T15:27:45Z</dcterms:created>
  <dcterms:modified xsi:type="dcterms:W3CDTF">2024-12-29T11:01:06Z</dcterms:modified>
</cp:coreProperties>
</file>