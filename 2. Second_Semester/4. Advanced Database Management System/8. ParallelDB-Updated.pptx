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notesSlides/notesSlide17.xml" ContentType="application/vnd.openxmlformats-officedocument.presentationml.notesSlide+xml"/>
  <Default Extension="emf" ContentType="image/x-emf"/>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Default Extension="tiff" ContentType="image/tiff"/>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78" r:id="rId3"/>
    <p:sldId id="257" r:id="rId4"/>
    <p:sldId id="279" r:id="rId5"/>
    <p:sldId id="280" r:id="rId6"/>
    <p:sldId id="281" r:id="rId7"/>
    <p:sldId id="282" r:id="rId8"/>
    <p:sldId id="283" r:id="rId9"/>
    <p:sldId id="284" r:id="rId10"/>
    <p:sldId id="285" r:id="rId11"/>
    <p:sldId id="286" r:id="rId12"/>
    <p:sldId id="287" r:id="rId13"/>
    <p:sldId id="288" r:id="rId14"/>
    <p:sldId id="289" r:id="rId15"/>
    <p:sldId id="290" r:id="rId16"/>
    <p:sldId id="258" r:id="rId17"/>
    <p:sldId id="259" r:id="rId18"/>
    <p:sldId id="291" r:id="rId19"/>
    <p:sldId id="260" r:id="rId20"/>
    <p:sldId id="292" r:id="rId21"/>
    <p:sldId id="293" r:id="rId22"/>
    <p:sldId id="294" r:id="rId23"/>
    <p:sldId id="295" r:id="rId24"/>
    <p:sldId id="296" r:id="rId25"/>
    <p:sldId id="261" r:id="rId26"/>
    <p:sldId id="298" r:id="rId27"/>
    <p:sldId id="299" r:id="rId28"/>
    <p:sldId id="300" r:id="rId29"/>
    <p:sldId id="301" r:id="rId30"/>
    <p:sldId id="302" r:id="rId31"/>
    <p:sldId id="303" r:id="rId32"/>
    <p:sldId id="267" r:id="rId33"/>
    <p:sldId id="305" r:id="rId34"/>
    <p:sldId id="269" r:id="rId35"/>
    <p:sldId id="270" r:id="rId36"/>
    <p:sldId id="271" r:id="rId37"/>
    <p:sldId id="307" r:id="rId38"/>
    <p:sldId id="308" r:id="rId39"/>
    <p:sldId id="309" r:id="rId40"/>
    <p:sldId id="310" r:id="rId41"/>
    <p:sldId id="311" r:id="rId42"/>
    <p:sldId id="312" r:id="rId43"/>
    <p:sldId id="313" r:id="rId44"/>
    <p:sldId id="314" r:id="rId45"/>
    <p:sldId id="315" r:id="rId46"/>
    <p:sldId id="306" r:id="rId47"/>
    <p:sldId id="316" r:id="rId48"/>
    <p:sldId id="317" r:id="rId49"/>
    <p:sldId id="318" r:id="rId50"/>
    <p:sldId id="319" r:id="rId51"/>
    <p:sldId id="320" r:id="rId52"/>
    <p:sldId id="321" r:id="rId53"/>
    <p:sldId id="322" r:id="rId54"/>
    <p:sldId id="323" r:id="rId55"/>
    <p:sldId id="324" r:id="rId56"/>
    <p:sldId id="273" r:id="rId57"/>
    <p:sldId id="325" r:id="rId58"/>
    <p:sldId id="326" r:id="rId59"/>
    <p:sldId id="274" r:id="rId60"/>
    <p:sldId id="275" r:id="rId61"/>
    <p:sldId id="276" r:id="rId62"/>
    <p:sldId id="277"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9706" autoAdjust="0"/>
    <p:restoredTop sz="97312" autoAdjust="0"/>
  </p:normalViewPr>
  <p:slideViewPr>
    <p:cSldViewPr>
      <p:cViewPr varScale="1">
        <p:scale>
          <a:sx n="85" d="100"/>
          <a:sy n="85" d="100"/>
        </p:scale>
        <p:origin x="-1651" y="-72"/>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6/22/2024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6/22/2024</a:t>
            </a:fld>
            <a:endParaRPr lang="en-US"/>
          </a:p>
        </p:txBody>
      </p:sp>
      <p:sp>
        <p:nvSpPr>
          <p:cNvPr id="6" name="Footer Placeholder 5"/>
          <p:cNvSpPr>
            <a:spLocks noGrp="1"/>
          </p:cNvSpPr>
          <p:nvPr>
            <p:ph type="ftr" sz="quarter" idx="11"/>
          </p:nvPr>
        </p:nvSpPr>
        <p:spPr/>
        <p:txBody>
          <a:bodyPr/>
          <a:lstStyle/>
          <a:p>
            <a:r>
              <a:rPr lang="en-US" smtClean="0"/>
              <a:t>Md. Golam Moazzam, Dept. of CSE, JU</a:t>
            </a:r>
            <a:endParaRPr lang="en-US"/>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6/22/2024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Md. Golam Moazzam, Dept. of CSE, JU</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smtClean="0"/>
              <a:t>Indexing and Hashing</a:t>
            </a:r>
            <a:endParaRPr lang="en-US" dirty="0"/>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gif"/><Relationship Id="rId4" Type="http://schemas.openxmlformats.org/officeDocument/2006/relationships/image" Target="../media/image4.gif"/></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1.emf"/></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emf"/></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5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0.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6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143000" y="2438400"/>
            <a:ext cx="6858000" cy="1600200"/>
          </a:xfrm>
          <a:prstGeom prst="rect">
            <a:avLst/>
          </a:prstGeom>
        </p:spPr>
        <p:txBody>
          <a:bodyPr/>
          <a:lstStyle/>
          <a:p>
            <a:pPr algn="ctr">
              <a:buNone/>
            </a:pPr>
            <a:r>
              <a:rPr lang="en-US" sz="7200" dirty="0" smtClean="0">
                <a:latin typeface="Times New Roman" pitchFamily="18" charset="0"/>
                <a:cs typeface="Times New Roman" pitchFamily="18" charset="0"/>
              </a:rPr>
              <a:t>Parallel DBMS</a:t>
            </a:r>
            <a:endParaRPr lang="en-US" sz="72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OUTLINE</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0" name="Content Placeholder 16"/>
          <p:cNvSpPr txBox="1">
            <a:spLocks/>
          </p:cNvSpPr>
          <p:nvPr/>
        </p:nvSpPr>
        <p:spPr>
          <a:xfrm>
            <a:off x="2133600" y="1676400"/>
            <a:ext cx="5943600" cy="4191000"/>
          </a:xfrm>
          <a:prstGeom prst="rect">
            <a:avLst/>
          </a:prstGeom>
        </p:spPr>
        <p:txBody>
          <a:bodyPr/>
          <a:lstStyle/>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Parallel Computer and Parallel Database System</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Functional Aspects Provided by Parallel Database Systems</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Parallel Architectures</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Hierarchical Architecture</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Components of Parallel DBM Architecture.</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Data Partitioning Techniques</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Parallel Query Optimization</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Database Integration Process</a:t>
            </a:r>
          </a:p>
          <a:p>
            <a:pPr marL="342900" lvl="0" indent="-342900" algn="just">
              <a:lnSpc>
                <a:spcPts val="3000"/>
              </a:lnSpc>
              <a:spcBef>
                <a:spcPct val="20000"/>
              </a:spcBef>
              <a:buFont typeface="Wingdings" pitchFamily="2" charset="2"/>
              <a:buChar char="ü"/>
              <a:defRPr/>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Parallel Computer </a:t>
            </a:r>
            <a:endParaRPr kumimoji="0" lang="en-US" altLang="zh-CN"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pPr>
            <a:r>
              <a:rPr lang="en-US" altLang="zh-CN" sz="2000" dirty="0" smtClean="0">
                <a:latin typeface="Times New Roman" pitchFamily="18" charset="0"/>
                <a:ea typeface="SimSun" pitchFamily="2" charset="-122"/>
                <a:cs typeface="Times New Roman" pitchFamily="18" charset="0"/>
              </a:rPr>
              <a:t> </a:t>
            </a:r>
            <a:r>
              <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A parallel computer, or </a:t>
            </a: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multiprocessor</a:t>
            </a:r>
            <a:r>
              <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is itself a distributed system made of a number of nodes (processors and memories) </a:t>
            </a: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connected by a fast network within a cabinet</a:t>
            </a:r>
            <a:r>
              <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a:t>
            </a: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pPr>
            <a:endPar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lvl="0" algn="just" eaLnBrk="0" fontAlgn="base" hangingPunct="0">
              <a:spcBef>
                <a:spcPct val="0"/>
              </a:spcBef>
              <a:spcAft>
                <a:spcPct val="0"/>
              </a:spcAft>
              <a:buFont typeface="Wingdings" pitchFamily="2" charset="2"/>
              <a:buChar char="q"/>
            </a:pPr>
            <a:r>
              <a:rPr lang="en-US" altLang="zh-CN" sz="2000" b="1" dirty="0" smtClean="0">
                <a:latin typeface="Times New Roman" pitchFamily="18" charset="0"/>
                <a:ea typeface="SimSun" pitchFamily="2" charset="-122"/>
                <a:cs typeface="Times New Roman" pitchFamily="18" charset="0"/>
              </a:rPr>
              <a:t> </a:t>
            </a:r>
            <a:r>
              <a:rPr lang="en-US" altLang="zh-CN" sz="2400" b="1" dirty="0" smtClean="0">
                <a:latin typeface="Times New Roman" pitchFamily="18" charset="0"/>
                <a:ea typeface="SimSun" pitchFamily="2" charset="-122"/>
                <a:cs typeface="Times New Roman" pitchFamily="18" charset="0"/>
              </a:rPr>
              <a:t>Parallel Database System</a:t>
            </a:r>
          </a:p>
          <a:p>
            <a:pPr lvl="0" algn="just" eaLnBrk="0" fontAlgn="base" hangingPunct="0">
              <a:spcBef>
                <a:spcPct val="0"/>
              </a:spcBef>
              <a:spcAft>
                <a:spcPct val="0"/>
              </a:spcAft>
            </a:pPr>
            <a:endPar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Parallel database systems combine </a:t>
            </a: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database management</a:t>
            </a:r>
            <a:r>
              <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and </a:t>
            </a: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parallel processing</a:t>
            </a:r>
            <a:r>
              <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in order to deliver high-performance and high-availability database servers at a much lower price than equivalent mainframe computers.</a:t>
            </a:r>
            <a:r>
              <a:rPr kumimoji="0" lang="en-US" altLang="zh-CN" sz="2000" b="0" i="0" u="none" strike="noStrike" cap="none" normalizeH="0" baseline="0" dirty="0" smtClean="0">
                <a:ln>
                  <a:noFill/>
                </a:ln>
                <a:solidFill>
                  <a:schemeClr val="tx1"/>
                </a:solidFill>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4627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Parallel Processing</a:t>
            </a:r>
            <a:endParaRPr kumimoji="0" lang="en-US" altLang="zh-CN"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Parallel processing divides a large task into many smaller tasks, and executes the smaller tasks concurrently on several nodes. As a result, the larger task completes more quickly.</a:t>
            </a: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A </a:t>
            </a:r>
            <a:r>
              <a:rPr lang="en-US" sz="2000" i="1" dirty="0" smtClean="0">
                <a:latin typeface="Times New Roman" pitchFamily="18" charset="0"/>
                <a:cs typeface="Times New Roman" pitchFamily="18" charset="0"/>
              </a:rPr>
              <a:t>node</a:t>
            </a:r>
            <a:r>
              <a:rPr lang="en-US" sz="2000" dirty="0" smtClean="0">
                <a:latin typeface="Times New Roman" pitchFamily="18" charset="0"/>
                <a:cs typeface="Times New Roman" pitchFamily="18" charset="0"/>
              </a:rPr>
              <a:t> is a separate processor, often on a separate machine. Multiple processors, however, can reside on a single machine.</a:t>
            </a: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Some tasks can be effectively divided, and thus are good candidates for parallel processing. Other tasks, however, do not lend themselves to this approach.</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zh-CN" sz="2000" dirty="0" smtClean="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77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Parallel Processing</a:t>
            </a:r>
            <a:endParaRPr kumimoji="0" lang="en-US" altLang="zh-CN"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For example, in a bank with only one teller, all customers must form a single queue to be served. With two tellers, the task can be effectively split so that customers form two queues and are served twice as fast-or they can form a single queue to provide fairness. This is an instance in which parallel processing is an effective solution.</a:t>
            </a: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By contrast, if the bank manager must approve all loan requests, parallel processing will not necessarily speed up the flow of loans. No matter how many tellers are available to process loans, all the requests must form a single queue for bank manager approval. No amount of parallel processing can overcome this built-in bottleneck to the system.</a:t>
            </a:r>
            <a:endParaRPr kumimoji="0" lang="en-US" altLang="zh-CN" sz="2000" b="0"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32316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Parallel Processing</a:t>
            </a:r>
            <a:endParaRPr kumimoji="0" lang="en-US" altLang="zh-CN"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2000" b="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Sequential Processing of a Large Task</a:t>
            </a: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Parallel Processing (Executing Component Tasks in Parallel)</a:t>
            </a:r>
          </a:p>
          <a:p>
            <a:pPr lvl="0" algn="just">
              <a:buFont typeface="Wingdings" pitchFamily="2" charset="2"/>
              <a:buChar char="Ø"/>
            </a:pPr>
            <a:endParaRPr lang="en-US" sz="2000" dirty="0" smtClean="0">
              <a:latin typeface="Times New Roman" pitchFamily="18" charset="0"/>
              <a:cs typeface="Times New Roman" pitchFamily="18" charset="0"/>
            </a:endParaRPr>
          </a:p>
        </p:txBody>
      </p:sp>
      <p:pic>
        <p:nvPicPr>
          <p:cNvPr id="10" name="Picture 9" descr="https://docs.oracle.com/cd/A58617_01/server.804/a58238/ch1_unda.gif"/>
          <p:cNvPicPr/>
          <p:nvPr/>
        </p:nvPicPr>
        <p:blipFill>
          <a:blip r:embed="rId4"/>
          <a:srcRect/>
          <a:stretch>
            <a:fillRect/>
          </a:stretch>
        </p:blipFill>
        <p:spPr bwMode="auto">
          <a:xfrm>
            <a:off x="2057400" y="2694709"/>
            <a:ext cx="4518313" cy="1191491"/>
          </a:xfrm>
          <a:prstGeom prst="rect">
            <a:avLst/>
          </a:prstGeom>
          <a:noFill/>
          <a:ln w="9525">
            <a:noFill/>
            <a:miter lim="800000"/>
            <a:headEnd/>
            <a:tailEnd/>
          </a:ln>
        </p:spPr>
      </p:pic>
      <p:pic>
        <p:nvPicPr>
          <p:cNvPr id="12" name="Picture 11" descr="https://docs.oracle.com/cd/A58617_01/server.804/a58238/ch1_una1.gif"/>
          <p:cNvPicPr/>
          <p:nvPr/>
        </p:nvPicPr>
        <p:blipFill>
          <a:blip r:embed="rId5"/>
          <a:srcRect/>
          <a:stretch>
            <a:fillRect/>
          </a:stretch>
        </p:blipFill>
        <p:spPr bwMode="auto">
          <a:xfrm>
            <a:off x="2634961" y="4433454"/>
            <a:ext cx="3874078" cy="196734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29238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Parallel Processing</a:t>
            </a:r>
            <a:endParaRPr kumimoji="0" lang="en-US" altLang="zh-CN"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2000" b="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In sequential processing, the query is executed as a single large task. </a:t>
            </a: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In parallel processing, the query is divided into multiple smaller tasks, and each component task is executed on a separate node.</a:t>
            </a: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8320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400" b="1" dirty="0" smtClean="0">
                <a:latin typeface="Times New Roman" pitchFamily="18" charset="0"/>
                <a:cs typeface="Times New Roman" pitchFamily="18" charset="0"/>
              </a:rPr>
              <a:t>Problems of Parallel Processing</a:t>
            </a:r>
            <a:endParaRPr kumimoji="0" lang="en-US" altLang="zh-CN"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2000" b="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Effective implementation of parallel processing involves two challenges:</a:t>
            </a:r>
          </a:p>
          <a:p>
            <a:pPr lvl="1" algn="just">
              <a:buFont typeface="Wingdings" pitchFamily="2" charset="2"/>
              <a:buChar char="ü"/>
            </a:pPr>
            <a:r>
              <a:rPr lang="en-US" sz="2000" dirty="0" smtClean="0">
                <a:latin typeface="Times New Roman" pitchFamily="18" charset="0"/>
                <a:cs typeface="Times New Roman" pitchFamily="18" charset="0"/>
              </a:rPr>
              <a:t> Structuring tasks so that certain tasks can execute at the same time (in parallel)</a:t>
            </a:r>
          </a:p>
          <a:p>
            <a:pPr lvl="1" algn="just">
              <a:buFont typeface="Wingdings" pitchFamily="2" charset="2"/>
              <a:buChar char="ü"/>
            </a:pPr>
            <a:r>
              <a:rPr lang="en-US" sz="2000" dirty="0" smtClean="0">
                <a:latin typeface="Times New Roman" pitchFamily="18" charset="0"/>
                <a:cs typeface="Times New Roman" pitchFamily="18" charset="0"/>
              </a:rPr>
              <a:t> Preserving the sequencing of tasks which must be executed serially</a:t>
            </a:r>
          </a:p>
          <a:p>
            <a:pPr algn="just"/>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buFont typeface="Wingdings" pitchFamily="2" charset="2"/>
              <a:buChar char="q"/>
            </a:pPr>
            <a:r>
              <a:rPr lang="en-US" sz="2000" b="1" dirty="0" smtClean="0">
                <a:latin typeface="Times New Roman" pitchFamily="18" charset="0"/>
                <a:cs typeface="Times New Roman" pitchFamily="18" charset="0"/>
              </a:rPr>
              <a:t> </a:t>
            </a:r>
            <a:r>
              <a:rPr lang="en-US" sz="2400" b="1" dirty="0" smtClean="0">
                <a:latin typeface="Times New Roman" pitchFamily="18" charset="0"/>
                <a:cs typeface="Times New Roman" pitchFamily="18" charset="0"/>
              </a:rPr>
              <a:t>Characteristics of a Parallel System</a:t>
            </a:r>
            <a:endParaRPr lang="en-US" sz="2400" dirty="0" smtClean="0">
              <a:latin typeface="Times New Roman" pitchFamily="18" charset="0"/>
              <a:cs typeface="Times New Roman" pitchFamily="18" charset="0"/>
            </a:endParaRPr>
          </a:p>
          <a:p>
            <a:pPr algn="just">
              <a:buFont typeface="Wingdings" pitchFamily="2" charset="2"/>
              <a:buChar char="Ø"/>
            </a:pPr>
            <a:r>
              <a:rPr lang="en-US" sz="2000" dirty="0" smtClean="0">
                <a:latin typeface="Times New Roman" pitchFamily="18" charset="0"/>
                <a:cs typeface="Times New Roman" pitchFamily="18" charset="0"/>
              </a:rPr>
              <a:t> A parallel processing system has the following characteristics:</a:t>
            </a:r>
          </a:p>
          <a:p>
            <a:pPr lvl="1" algn="just">
              <a:buFont typeface="Wingdings" pitchFamily="2" charset="2"/>
              <a:buChar char="ü"/>
            </a:pPr>
            <a:r>
              <a:rPr lang="en-US" sz="2000" dirty="0" smtClean="0">
                <a:latin typeface="Times New Roman" pitchFamily="18" charset="0"/>
                <a:cs typeface="Times New Roman" pitchFamily="18" charset="0"/>
              </a:rPr>
              <a:t> Each processor can perform tasks concurrently.</a:t>
            </a:r>
          </a:p>
          <a:p>
            <a:pPr lvl="1" algn="just">
              <a:buFont typeface="Wingdings" pitchFamily="2" charset="2"/>
              <a:buChar char="ü"/>
            </a:pPr>
            <a:r>
              <a:rPr lang="en-US" sz="2000" dirty="0" smtClean="0">
                <a:latin typeface="Times New Roman" pitchFamily="18" charset="0"/>
                <a:cs typeface="Times New Roman" pitchFamily="18" charset="0"/>
              </a:rPr>
              <a:t> Tasks may need to be synchronized.</a:t>
            </a:r>
          </a:p>
          <a:p>
            <a:pPr lvl="1" algn="just">
              <a:buFont typeface="Wingdings" pitchFamily="2" charset="2"/>
              <a:buChar char="ü"/>
            </a:pPr>
            <a:r>
              <a:rPr lang="en-US" sz="2000" dirty="0" smtClean="0">
                <a:latin typeface="Times New Roman" pitchFamily="18" charset="0"/>
                <a:cs typeface="Times New Roman" pitchFamily="18" charset="0"/>
              </a:rPr>
              <a:t> Nodes usually share resources, such as data, disks, and other devices.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4627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400" b="1" dirty="0" smtClean="0">
                <a:latin typeface="Times New Roman" pitchFamily="18" charset="0"/>
                <a:cs typeface="Times New Roman" pitchFamily="18" charset="0"/>
              </a:rPr>
              <a:t>Key Elements of Parallel Processing</a:t>
            </a:r>
            <a:endParaRPr kumimoji="0" lang="en-US" altLang="zh-CN"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2000" b="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 Speedup</a:t>
            </a:r>
          </a:p>
          <a:p>
            <a:pPr lvl="1" algn="just">
              <a:buFont typeface="Wingdings" pitchFamily="2" charset="2"/>
              <a:buChar char="Ø"/>
            </a:pP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Scaleup</a:t>
            </a:r>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 Synchronization</a:t>
            </a:r>
          </a:p>
          <a:p>
            <a:pPr lvl="1" algn="just">
              <a:buFont typeface="Wingdings" pitchFamily="2" charset="2"/>
              <a:buChar char="Ø"/>
            </a:pPr>
            <a:r>
              <a:rPr lang="en-US" sz="2000" dirty="0" smtClean="0">
                <a:latin typeface="Times New Roman" pitchFamily="18" charset="0"/>
                <a:cs typeface="Times New Roman" pitchFamily="18" charset="0"/>
              </a:rPr>
              <a:t> Locking </a:t>
            </a:r>
          </a:p>
          <a:p>
            <a:pPr lvl="1" algn="just">
              <a:buFont typeface="Wingdings" pitchFamily="2" charset="2"/>
              <a:buChar char="Ø"/>
            </a:pPr>
            <a:r>
              <a:rPr lang="en-US" sz="2000" dirty="0" smtClean="0">
                <a:latin typeface="Times New Roman" pitchFamily="18" charset="0"/>
                <a:cs typeface="Times New Roman" pitchFamily="18" charset="0"/>
              </a:rPr>
              <a:t> Messaging</a:t>
            </a:r>
          </a:p>
          <a:p>
            <a:pPr algn="just"/>
            <a:r>
              <a:rPr lang="en-US" sz="2000" dirty="0" smtClean="0">
                <a:latin typeface="Times New Roman" pitchFamily="18" charset="0"/>
                <a:cs typeface="Times New Roman" pitchFamily="18" charset="0"/>
              </a:rPr>
              <a:t> </a:t>
            </a:r>
          </a:p>
          <a:p>
            <a:pPr algn="just">
              <a:buFont typeface="Wingdings" pitchFamily="2" charset="2"/>
              <a:buChar char="q"/>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Speedup</a:t>
            </a:r>
          </a:p>
          <a:p>
            <a:pPr algn="just">
              <a:buFont typeface="Wingdings" pitchFamily="2" charset="2"/>
              <a:buChar char="q"/>
            </a:pPr>
            <a:endParaRPr lang="en-US" sz="2000" dirty="0" smtClean="0">
              <a:latin typeface="Times New Roman" pitchFamily="18" charset="0"/>
              <a:cs typeface="Times New Roman" pitchFamily="18" charset="0"/>
            </a:endParaRPr>
          </a:p>
          <a:p>
            <a:pPr algn="just">
              <a:buFont typeface="Wingdings" pitchFamily="2" charset="2"/>
              <a:buChar char="q"/>
            </a:pPr>
            <a:endParaRPr lang="en-US" sz="2000" dirty="0" smtClean="0">
              <a:latin typeface="Times New Roman" pitchFamily="18" charset="0"/>
              <a:cs typeface="Times New Roman" pitchFamily="18" charset="0"/>
            </a:endParaRPr>
          </a:p>
          <a:p>
            <a:pPr algn="just">
              <a:buFont typeface="Wingdings" pitchFamily="2" charset="2"/>
              <a:buChar char="q"/>
            </a:pPr>
            <a:r>
              <a:rPr lang="en-US" sz="2000"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Scaleup</a:t>
            </a:r>
            <a:endParaRPr lang="en-US" sz="2000" b="1"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p>
          <a:p>
            <a:pPr algn="just"/>
            <a:r>
              <a:rPr lang="en-US" sz="20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4012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buFont typeface="Wingdings" pitchFamily="2" charset="2"/>
              <a:buChar char="q"/>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Synchronization: A Critical Success Factor</a:t>
            </a:r>
          </a:p>
          <a:p>
            <a:pPr lvl="1" algn="just">
              <a:buFont typeface="Wingdings" pitchFamily="2" charset="2"/>
              <a:buChar char="ü"/>
            </a:pPr>
            <a:r>
              <a:rPr lang="en-US" sz="2000" dirty="0" smtClean="0">
                <a:latin typeface="Times New Roman" pitchFamily="18" charset="0"/>
                <a:cs typeface="Times New Roman" pitchFamily="18" charset="0"/>
              </a:rPr>
              <a:t> Coordination of concurrent tasks is called </a:t>
            </a:r>
            <a:r>
              <a:rPr lang="en-US" sz="2000" i="1" dirty="0" smtClean="0">
                <a:latin typeface="Times New Roman" pitchFamily="18" charset="0"/>
                <a:cs typeface="Times New Roman" pitchFamily="18" charset="0"/>
              </a:rPr>
              <a:t>synchronization</a:t>
            </a:r>
            <a:r>
              <a:rPr lang="en-US" sz="2000" dirty="0" smtClean="0">
                <a:latin typeface="Times New Roman" pitchFamily="18" charset="0"/>
                <a:cs typeface="Times New Roman" pitchFamily="18" charset="0"/>
              </a:rPr>
              <a:t>. It is necessary for correctness.</a:t>
            </a:r>
          </a:p>
          <a:p>
            <a:pPr lvl="1" algn="just">
              <a:buFont typeface="Wingdings" pitchFamily="2" charset="2"/>
              <a:buChar char="ü"/>
            </a:pPr>
            <a:r>
              <a:rPr lang="en-US" sz="2000" dirty="0" smtClean="0">
                <a:latin typeface="Times New Roman" pitchFamily="18" charset="0"/>
                <a:cs typeface="Times New Roman" pitchFamily="18" charset="0"/>
              </a:rPr>
              <a:t> The key to successful parallel processing is to divide up tasks so that very little synchronization is necessary.</a:t>
            </a:r>
          </a:p>
          <a:p>
            <a:pPr lvl="1" algn="just">
              <a:buFont typeface="Wingdings" pitchFamily="2" charset="2"/>
              <a:buChar char="ü"/>
            </a:pPr>
            <a:r>
              <a:rPr lang="en-US" sz="2000" dirty="0" smtClean="0">
                <a:latin typeface="Times New Roman" pitchFamily="18" charset="0"/>
                <a:cs typeface="Times New Roman" pitchFamily="18" charset="0"/>
              </a:rPr>
              <a:t> In parallel processing between nodes, a high-speed interconnect is required among the parallel processors. </a:t>
            </a:r>
          </a:p>
          <a:p>
            <a:pPr lvl="1" algn="just">
              <a:buFont typeface="Wingdings" pitchFamily="2" charset="2"/>
              <a:buChar char="ü"/>
            </a:pPr>
            <a:r>
              <a:rPr lang="en-US" sz="2000" dirty="0" smtClean="0">
                <a:latin typeface="Times New Roman" pitchFamily="18" charset="0"/>
                <a:cs typeface="Times New Roman" pitchFamily="18" charset="0"/>
              </a:rPr>
              <a:t> The overhead of this synchronization can be very expensive if a great deal of inter-node communication is necessary. </a:t>
            </a:r>
          </a:p>
          <a:p>
            <a:pPr lvl="1" algn="just">
              <a:buFont typeface="Wingdings" pitchFamily="2" charset="2"/>
              <a:buChar char="ü"/>
            </a:pPr>
            <a:r>
              <a:rPr lang="en-US" sz="2000" dirty="0" smtClean="0">
                <a:latin typeface="Times New Roman" pitchFamily="18" charset="0"/>
                <a:cs typeface="Times New Roman" pitchFamily="18" charset="0"/>
              </a:rPr>
              <a:t> The amount of synchronization depends on the amount of resources and the number of users and tasks working on the resources. Little synchronization may be needed to coordinate a small number of concurrent tasks, but lots of synchronization may be necessary to coordinate many concurrent tasks.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28623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buFont typeface="Wingdings" pitchFamily="2" charset="2"/>
              <a:buChar char="q"/>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Synchronization: A Critical Success Factor</a:t>
            </a:r>
          </a:p>
          <a:p>
            <a:pPr lvl="1" algn="just"/>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dirty="0" smtClean="0">
                <a:latin typeface="Times New Roman" pitchFamily="18" charset="0"/>
                <a:cs typeface="Times New Roman" pitchFamily="18" charset="0"/>
              </a:rPr>
              <a:t> A great deal of time spent in synchronization indicates high contention for resources.</a:t>
            </a:r>
          </a:p>
          <a:p>
            <a:pPr lvl="1" algn="just">
              <a:buFont typeface="Wingdings" pitchFamily="2" charset="2"/>
              <a:buChar char="ü"/>
            </a:pPr>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dirty="0" smtClean="0">
                <a:latin typeface="Times New Roman" pitchFamily="18" charset="0"/>
                <a:cs typeface="Times New Roman" pitchFamily="18" charset="0"/>
              </a:rPr>
              <a:t> Too much time spent in synchronization can diminish the benefits of parallel processing. With less time spent in synchronization, better speedup and </a:t>
            </a:r>
            <a:r>
              <a:rPr lang="en-US" sz="2000" dirty="0" err="1" smtClean="0">
                <a:latin typeface="Times New Roman" pitchFamily="18" charset="0"/>
                <a:cs typeface="Times New Roman" pitchFamily="18" charset="0"/>
              </a:rPr>
              <a:t>scaleup</a:t>
            </a:r>
            <a:r>
              <a:rPr lang="en-US" sz="2000" dirty="0" smtClean="0">
                <a:latin typeface="Times New Roman" pitchFamily="18" charset="0"/>
                <a:cs typeface="Times New Roman" pitchFamily="18" charset="0"/>
              </a:rPr>
              <a:t> can be achieved.</a:t>
            </a:r>
          </a:p>
          <a:p>
            <a:pPr lvl="0" algn="just">
              <a:buFont typeface="Wingdings" pitchFamily="2" charset="2"/>
              <a:buChar char="Ø"/>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371600"/>
            <a:ext cx="7239000" cy="50167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buFont typeface="Wingdings" pitchFamily="2" charset="2"/>
              <a:buChar char="q"/>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Locking</a:t>
            </a:r>
          </a:p>
          <a:p>
            <a:pPr lvl="1" algn="just">
              <a:buFont typeface="Wingdings" pitchFamily="2" charset="2"/>
              <a:buChar char="ü"/>
            </a:pPr>
            <a:r>
              <a:rPr lang="en-US" sz="2000" dirty="0" smtClean="0">
                <a:latin typeface="Times New Roman" pitchFamily="18" charset="0"/>
                <a:cs typeface="Times New Roman" pitchFamily="18" charset="0"/>
              </a:rPr>
              <a:t> Locks are fundamentally a way of synchronizing tasks. Many different locking mechanisms are necessary to enable the synchronization of tasks required by parallel processing.</a:t>
            </a:r>
          </a:p>
          <a:p>
            <a:pPr lvl="1" algn="just">
              <a:buFont typeface="Wingdings" pitchFamily="2" charset="2"/>
              <a:buChar char="ü"/>
            </a:pPr>
            <a:r>
              <a:rPr lang="en-US" sz="2000" dirty="0" smtClean="0">
                <a:latin typeface="Times New Roman" pitchFamily="18" charset="0"/>
                <a:cs typeface="Times New Roman" pitchFamily="18" charset="0"/>
              </a:rPr>
              <a:t> The Integrated Distributed Lock Manager (Integrated DLM, or IDLM) is the internal locking facility used with Oracle Parallel Server. It coordinates resource sharing between nodes running a parallel server. Each node operates independently of other nodes, except when contending for the same resource.</a:t>
            </a:r>
          </a:p>
          <a:p>
            <a:pPr lvl="1" algn="just">
              <a:buFont typeface="Wingdings" pitchFamily="2" charset="2"/>
              <a:buChar char="ü"/>
            </a:pPr>
            <a:r>
              <a:rPr lang="en-US" sz="2000" dirty="0" smtClean="0">
                <a:latin typeface="Times New Roman" pitchFamily="18" charset="0"/>
                <a:cs typeface="Times New Roman" pitchFamily="18" charset="0"/>
              </a:rPr>
              <a:t> The IDLM performs the following services for applications:</a:t>
            </a:r>
          </a:p>
          <a:p>
            <a:pPr lvl="2" algn="just">
              <a:buFont typeface="Arial" pitchFamily="34" charset="0"/>
              <a:buChar char="•"/>
            </a:pPr>
            <a:r>
              <a:rPr lang="en-US" sz="2000" dirty="0" smtClean="0">
                <a:latin typeface="Times New Roman" pitchFamily="18" charset="0"/>
                <a:cs typeface="Times New Roman" pitchFamily="18" charset="0"/>
              </a:rPr>
              <a:t> Keeps track of the current "ownership" of a resource</a:t>
            </a:r>
          </a:p>
          <a:p>
            <a:pPr lvl="2" algn="just">
              <a:buFont typeface="Arial" pitchFamily="34" charset="0"/>
              <a:buChar char="•"/>
            </a:pPr>
            <a:r>
              <a:rPr lang="en-US" sz="2000" dirty="0" smtClean="0">
                <a:latin typeface="Times New Roman" pitchFamily="18" charset="0"/>
                <a:cs typeface="Times New Roman" pitchFamily="18" charset="0"/>
              </a:rPr>
              <a:t> Accepts lock requests for resources from application processes</a:t>
            </a:r>
          </a:p>
          <a:p>
            <a:pPr lvl="2" algn="just">
              <a:buFont typeface="Arial" pitchFamily="34" charset="0"/>
              <a:buChar char="•"/>
            </a:pPr>
            <a:r>
              <a:rPr lang="en-US" sz="2000" dirty="0" smtClean="0">
                <a:latin typeface="Times New Roman" pitchFamily="18" charset="0"/>
                <a:cs typeface="Times New Roman" pitchFamily="18" charset="0"/>
              </a:rPr>
              <a:t> Notifies the requesting process when a lock on a resource is available</a:t>
            </a:r>
          </a:p>
          <a:p>
            <a:pPr lvl="2" algn="just">
              <a:buFont typeface="Arial" pitchFamily="34" charset="0"/>
              <a:buChar char="•"/>
            </a:pPr>
            <a:r>
              <a:rPr lang="en-US" sz="2000" dirty="0" smtClean="0">
                <a:latin typeface="Times New Roman" pitchFamily="18" charset="0"/>
                <a:cs typeface="Times New Roman" pitchFamily="18" charset="0"/>
              </a:rPr>
              <a:t> Gets access to a resource for a process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28623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buFont typeface="Wingdings" pitchFamily="2" charset="2"/>
              <a:buChar char="q"/>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Messaging</a:t>
            </a:r>
          </a:p>
          <a:p>
            <a:pPr lvl="1" algn="just"/>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dirty="0" smtClean="0">
                <a:latin typeface="Times New Roman" pitchFamily="18" charset="0"/>
                <a:cs typeface="Times New Roman" pitchFamily="18" charset="0"/>
              </a:rPr>
              <a:t> Parallel processing requires fast and efficient communication between nodes: a system with high bandwidth and low latency which efficiently communicates with the IDLM.</a:t>
            </a:r>
          </a:p>
          <a:p>
            <a:pPr lvl="1" algn="just">
              <a:buFont typeface="Wingdings" pitchFamily="2" charset="2"/>
              <a:buChar char="ü"/>
            </a:pPr>
            <a:r>
              <a:rPr lang="en-US" sz="2000" i="1" dirty="0" smtClean="0">
                <a:latin typeface="Times New Roman" pitchFamily="18" charset="0"/>
                <a:cs typeface="Times New Roman" pitchFamily="18" charset="0"/>
              </a:rPr>
              <a:t> Bandwidth</a:t>
            </a:r>
            <a:r>
              <a:rPr lang="en-US" sz="2000" dirty="0" smtClean="0">
                <a:latin typeface="Times New Roman" pitchFamily="18" charset="0"/>
                <a:cs typeface="Times New Roman" pitchFamily="18" charset="0"/>
              </a:rPr>
              <a:t> is the total size of messages which can be sent per second. </a:t>
            </a:r>
          </a:p>
          <a:p>
            <a:pPr lvl="1" algn="just">
              <a:buFont typeface="Wingdings" pitchFamily="2" charset="2"/>
              <a:buChar char="ü"/>
            </a:pPr>
            <a:r>
              <a:rPr lang="en-US" sz="2000" i="1" dirty="0" smtClean="0">
                <a:latin typeface="Times New Roman" pitchFamily="18" charset="0"/>
                <a:cs typeface="Times New Roman" pitchFamily="18" charset="0"/>
              </a:rPr>
              <a:t> Latency</a:t>
            </a:r>
            <a:r>
              <a:rPr lang="en-US" sz="2000" dirty="0" smtClean="0">
                <a:latin typeface="Times New Roman" pitchFamily="18" charset="0"/>
                <a:cs typeface="Times New Roman" pitchFamily="18" charset="0"/>
              </a:rPr>
              <a:t> is the time (in seconds) it takes to place a message on the interconnect.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4012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buFont typeface="Wingdings" pitchFamily="2" charset="2"/>
              <a:buChar char="q"/>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Parallel DBMS: Definition</a:t>
            </a:r>
          </a:p>
          <a:p>
            <a:pPr lvl="1" algn="just"/>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dirty="0" smtClean="0">
                <a:latin typeface="Times New Roman" pitchFamily="18" charset="0"/>
                <a:cs typeface="Times New Roman" pitchFamily="18" charset="0"/>
              </a:rPr>
              <a:t> Parallel DBMS is a Database Management System that runs through multiple processors and disks. </a:t>
            </a:r>
          </a:p>
          <a:p>
            <a:pPr lvl="1" algn="just">
              <a:buFont typeface="Wingdings" pitchFamily="2" charset="2"/>
              <a:buChar char="ü"/>
            </a:pPr>
            <a:r>
              <a:rPr lang="en-US" sz="2000" dirty="0" smtClean="0">
                <a:latin typeface="Times New Roman" pitchFamily="18" charset="0"/>
                <a:cs typeface="Times New Roman" pitchFamily="18" charset="0"/>
              </a:rPr>
              <a:t> They combine two or more processors and also disk storage that helps make operations and executions easier and faster. </a:t>
            </a:r>
          </a:p>
          <a:p>
            <a:pPr lvl="1" algn="just">
              <a:buFont typeface="Wingdings" pitchFamily="2" charset="2"/>
              <a:buChar char="ü"/>
            </a:pPr>
            <a:r>
              <a:rPr lang="en-US" sz="2000" dirty="0" smtClean="0">
                <a:latin typeface="Times New Roman" pitchFamily="18" charset="0"/>
                <a:cs typeface="Times New Roman" pitchFamily="18" charset="0"/>
              </a:rPr>
              <a:t> They are designed to execute concurrent operations.</a:t>
            </a:r>
          </a:p>
          <a:p>
            <a:pPr algn="just"/>
            <a:r>
              <a:rPr lang="en-US" sz="2000" dirty="0" smtClean="0">
                <a:latin typeface="Times New Roman" pitchFamily="18" charset="0"/>
                <a:cs typeface="Times New Roman" pitchFamily="18" charset="0"/>
              </a:rPr>
              <a:t> </a:t>
            </a:r>
          </a:p>
          <a:p>
            <a:pPr algn="just">
              <a:buFont typeface="Wingdings" pitchFamily="2" charset="2"/>
              <a:buChar char="q"/>
            </a:pPr>
            <a:r>
              <a:rPr lang="en-US" sz="2000" b="1" dirty="0" smtClean="0">
                <a:latin typeface="Times New Roman" pitchFamily="18" charset="0"/>
                <a:cs typeface="Times New Roman" pitchFamily="18" charset="0"/>
              </a:rPr>
              <a:t> Why Parallel DB? (Motivation for Parallel DB)</a:t>
            </a:r>
            <a:endParaRPr lang="en-US" sz="2000" dirty="0" smtClean="0">
              <a:latin typeface="Times New Roman" pitchFamily="18" charset="0"/>
              <a:cs typeface="Times New Roman" pitchFamily="18" charset="0"/>
            </a:endParaRPr>
          </a:p>
          <a:p>
            <a:pPr lvl="1" algn="just" fontAlgn="base">
              <a:buFont typeface="Wingdings" pitchFamily="2" charset="2"/>
              <a:buChar char="ü"/>
            </a:pPr>
            <a:r>
              <a:rPr lang="en-US" sz="2000" dirty="0" smtClean="0">
                <a:latin typeface="Times New Roman" pitchFamily="18" charset="0"/>
                <a:cs typeface="Times New Roman" pitchFamily="18" charset="0"/>
              </a:rPr>
              <a:t> Nowadays organizations need to handle a huge amount of data with a high transfer rate. For such requirements, the client-server or centralized system is not efficient. With the need to improve the efficiency of the system, the concept of the parallel database comes in picture.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27809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buFont typeface="Wingdings" pitchFamily="2" charset="2"/>
              <a:buChar char="q"/>
            </a:pPr>
            <a:r>
              <a:rPr lang="en-US" sz="2000" b="1" dirty="0" smtClean="0">
                <a:latin typeface="Times New Roman" pitchFamily="18" charset="0"/>
                <a:cs typeface="Times New Roman" pitchFamily="18" charset="0"/>
              </a:rPr>
              <a:t> Why Parallel DB? (Motivation for Parallel DB)</a:t>
            </a:r>
            <a:endParaRPr lang="en-US" sz="2000" dirty="0" smtClean="0">
              <a:latin typeface="Times New Roman" pitchFamily="18" charset="0"/>
              <a:cs typeface="Times New Roman" pitchFamily="18" charset="0"/>
            </a:endParaRPr>
          </a:p>
          <a:p>
            <a:pPr lvl="1" algn="just" fontAlgn="base"/>
            <a:r>
              <a:rPr lang="en-US" dirty="0" smtClean="0">
                <a:latin typeface="Times New Roman" pitchFamily="18" charset="0"/>
                <a:cs typeface="Times New Roman" pitchFamily="18" charset="0"/>
              </a:rPr>
              <a:t> </a:t>
            </a:r>
          </a:p>
          <a:p>
            <a:pPr lvl="1" algn="just" fontAlgn="base">
              <a:buFont typeface="Wingdings" pitchFamily="2" charset="2"/>
              <a:buChar char="ü"/>
            </a:pPr>
            <a:r>
              <a:rPr lang="en-US" dirty="0" smtClean="0">
                <a:latin typeface="Times New Roman" pitchFamily="18" charset="0"/>
                <a:cs typeface="Times New Roman" pitchFamily="18" charset="0"/>
              </a:rPr>
              <a:t>Parallel machines are becoming quite common and affordable. Prices of microprocessors, memory and disks have dropped sharply.</a:t>
            </a:r>
          </a:p>
          <a:p>
            <a:pPr lvl="1" algn="just" fontAlgn="base">
              <a:buFont typeface="Wingdings" pitchFamily="2" charset="2"/>
              <a:buChar char="ü"/>
            </a:pPr>
            <a:r>
              <a:rPr lang="en-US" dirty="0" smtClean="0">
                <a:latin typeface="Times New Roman" pitchFamily="18" charset="0"/>
                <a:cs typeface="Times New Roman" pitchFamily="18" charset="0"/>
              </a:rPr>
              <a:t> Databases are growing increasingly large. </a:t>
            </a:r>
          </a:p>
          <a:p>
            <a:pPr lvl="1" algn="just" fontAlgn="base">
              <a:buFont typeface="Wingdings" pitchFamily="2" charset="2"/>
              <a:buChar char="ü"/>
            </a:pPr>
            <a:r>
              <a:rPr lang="en-US" dirty="0" smtClean="0">
                <a:latin typeface="Times New Roman" pitchFamily="18" charset="0"/>
                <a:cs typeface="Times New Roman" pitchFamily="18" charset="0"/>
              </a:rPr>
              <a:t> Large volumes of transaction data are collected and stored for later analysis. </a:t>
            </a:r>
          </a:p>
          <a:p>
            <a:pPr lvl="1" algn="just" fontAlgn="base">
              <a:buFont typeface="Wingdings" pitchFamily="2" charset="2"/>
              <a:buChar char="ü"/>
            </a:pPr>
            <a:r>
              <a:rPr lang="en-US" dirty="0" smtClean="0">
                <a:latin typeface="Times New Roman" pitchFamily="18" charset="0"/>
                <a:cs typeface="Times New Roman" pitchFamily="18" charset="0"/>
              </a:rPr>
              <a:t> Multimedia objects like images are increasingly stored in databases</a:t>
            </a:r>
          </a:p>
          <a:p>
            <a:pPr lvl="1" algn="just" fontAlgn="base">
              <a:buFont typeface="Wingdings" pitchFamily="2" charset="2"/>
              <a:buChar char="ü"/>
            </a:pPr>
            <a:r>
              <a:rPr lang="en-US" dirty="0" smtClean="0">
                <a:latin typeface="Times New Roman" pitchFamily="18" charset="0"/>
                <a:cs typeface="Times New Roman" pitchFamily="18" charset="0"/>
              </a:rPr>
              <a:t> A parallel database system seeks to improve the performance of the system through parallelizing concept.</a:t>
            </a:r>
          </a:p>
          <a:p>
            <a:pPr lvl="1" algn="just" fontAlgn="base">
              <a:buFont typeface="Wingdings" pitchFamily="2" charset="2"/>
              <a:buChar char="ü"/>
            </a:pPr>
            <a:r>
              <a:rPr lang="en-US" dirty="0" smtClean="0">
                <a:latin typeface="Times New Roman" pitchFamily="18" charset="0"/>
                <a:cs typeface="Times New Roman" pitchFamily="18" charset="0"/>
              </a:rPr>
              <a:t> Multiple resources like CPUs and Disks are used in parallel. </a:t>
            </a:r>
          </a:p>
          <a:p>
            <a:pPr lvl="1" algn="just" fontAlgn="base">
              <a:buFont typeface="Wingdings" pitchFamily="2" charset="2"/>
              <a:buChar char="ü"/>
            </a:pPr>
            <a:r>
              <a:rPr lang="en-US" dirty="0" smtClean="0">
                <a:latin typeface="Times New Roman" pitchFamily="18" charset="0"/>
                <a:cs typeface="Times New Roman" pitchFamily="18" charset="0"/>
              </a:rPr>
              <a:t> The operations are performed simultaneously, as opposed to serial processing. </a:t>
            </a:r>
          </a:p>
          <a:p>
            <a:pPr lvl="1" algn="just" fontAlgn="base">
              <a:buFont typeface="Wingdings" pitchFamily="2" charset="2"/>
              <a:buChar char="ü"/>
            </a:pPr>
            <a:r>
              <a:rPr lang="en-US" dirty="0" smtClean="0">
                <a:latin typeface="Times New Roman" pitchFamily="18" charset="0"/>
                <a:cs typeface="Times New Roman" pitchFamily="18" charset="0"/>
              </a:rPr>
              <a:t> It performs many parallelization operations like data loading, query processing, building indices, and evaluating queries.</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15498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altLang="zh-CN" sz="2400" b="1" dirty="0" smtClean="0">
                <a:latin typeface="Times New Roman" pitchFamily="18" charset="0"/>
                <a:ea typeface="SimSun" pitchFamily="2" charset="-122"/>
                <a:cs typeface="Times New Roman" pitchFamily="18" charset="0"/>
              </a:rPr>
              <a:t>F</a:t>
            </a:r>
            <a:r>
              <a:rPr lang="en-US" sz="2000" b="1" dirty="0" smtClean="0">
                <a:latin typeface="Times New Roman" pitchFamily="18" charset="0"/>
                <a:cs typeface="Times New Roman" pitchFamily="18" charset="0"/>
              </a:rPr>
              <a:t>unctional Aspects Provided by Parallel Database Systems</a:t>
            </a: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Ideally, a parallel database system should have the following functional aspects.</a:t>
            </a:r>
          </a:p>
          <a:p>
            <a:pPr algn="just"/>
            <a:r>
              <a:rPr lang="en-US" sz="2000" dirty="0" smtClean="0">
                <a:latin typeface="Times New Roman" pitchFamily="18" charset="0"/>
                <a:cs typeface="Times New Roman" pitchFamily="18" charset="0"/>
              </a:rPr>
              <a:t> </a:t>
            </a:r>
          </a:p>
          <a:p>
            <a:pPr lvl="0" algn="just">
              <a:buFont typeface="Wingdings" pitchFamily="2" charset="2"/>
              <a:buChar char="Ø"/>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Performance Improvement:</a:t>
            </a:r>
            <a:r>
              <a:rPr lang="en-US" sz="2000" dirty="0" smtClean="0">
                <a:latin typeface="Times New Roman" pitchFamily="18" charset="0"/>
                <a:cs typeface="Times New Roman" pitchFamily="18" charset="0"/>
              </a:rPr>
              <a:t> By connecting multiple resources like CPU and disks in parallel we can significantly increase the performance of the system.</a:t>
            </a:r>
          </a:p>
          <a:p>
            <a:pPr lvl="0" algn="just">
              <a:buFont typeface="Wingdings" pitchFamily="2" charset="2"/>
              <a:buChar char="Ø"/>
            </a:pPr>
            <a:endParaRPr lang="en-US" sz="2000" dirty="0" smtClean="0">
              <a:latin typeface="Times New Roman" pitchFamily="18" charset="0"/>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High-availability:</a:t>
            </a:r>
            <a:r>
              <a:rPr lang="en-US" sz="2000" dirty="0" smtClean="0">
                <a:latin typeface="Times New Roman" pitchFamily="18" charset="0"/>
                <a:cs typeface="Times New Roman" pitchFamily="18" charset="0"/>
              </a:rPr>
              <a:t> In the parallel database, nodes have less contact with each other, so the failure of one node in the cluster doesn’t cause for failure of the entire system. This amounts to significantly higher database availability.</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371600"/>
            <a:ext cx="7239000" cy="50783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altLang="zh-CN" sz="2400" b="1" dirty="0" smtClean="0">
                <a:latin typeface="Times New Roman" pitchFamily="18" charset="0"/>
                <a:ea typeface="SimSun" pitchFamily="2" charset="-122"/>
                <a:cs typeface="Times New Roman" pitchFamily="18" charset="0"/>
              </a:rPr>
              <a:t>F</a:t>
            </a:r>
            <a:r>
              <a:rPr lang="en-US" sz="2000" b="1" dirty="0" smtClean="0">
                <a:latin typeface="Times New Roman" pitchFamily="18" charset="0"/>
                <a:cs typeface="Times New Roman" pitchFamily="18" charset="0"/>
              </a:rPr>
              <a:t>unctional Aspects Provided by Parallel Database Systems</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buFont typeface="Wingdings" pitchFamily="2" charset="2"/>
              <a:buChar char="Ø"/>
            </a:pPr>
            <a:r>
              <a:rPr lang="en-US" sz="2000" b="1" dirty="0" smtClean="0">
                <a:latin typeface="Times New Roman" pitchFamily="18" charset="0"/>
                <a:cs typeface="Times New Roman" pitchFamily="18" charset="0"/>
              </a:rPr>
              <a:t> Proper resource utilization:</a:t>
            </a:r>
            <a:r>
              <a:rPr lang="en-US" sz="2000" dirty="0" smtClean="0">
                <a:latin typeface="Times New Roman" pitchFamily="18" charset="0"/>
                <a:cs typeface="Times New Roman" pitchFamily="18" charset="0"/>
              </a:rPr>
              <a:t> Due to parallel execution, the CPU will never be idle. Thus, proper utilization of resources is there. </a:t>
            </a:r>
          </a:p>
          <a:p>
            <a:pPr algn="just">
              <a:buFont typeface="Wingdings" pitchFamily="2" charset="2"/>
              <a:buChar char="Ø"/>
            </a:pPr>
            <a:endParaRPr lang="en-US" sz="2000" dirty="0" smtClean="0">
              <a:latin typeface="Times New Roman" pitchFamily="18" charset="0"/>
              <a:cs typeface="Times New Roman" pitchFamily="18" charset="0"/>
            </a:endParaRPr>
          </a:p>
          <a:p>
            <a:pPr algn="just">
              <a:buFont typeface="Wingdings" pitchFamily="2" charset="2"/>
              <a:buChar char="Ø"/>
            </a:pPr>
            <a:r>
              <a:rPr lang="en-US" sz="2000" b="1" dirty="0" smtClean="0">
                <a:latin typeface="Times New Roman" pitchFamily="18" charset="0"/>
                <a:cs typeface="Times New Roman" pitchFamily="18" charset="0"/>
              </a:rPr>
              <a:t> Increase Reliability: </a:t>
            </a:r>
            <a:r>
              <a:rPr lang="en-US" sz="2000" dirty="0" smtClean="0">
                <a:latin typeface="Times New Roman" pitchFamily="18" charset="0"/>
                <a:cs typeface="Times New Roman" pitchFamily="18" charset="0"/>
              </a:rPr>
              <a:t>When one site fails, the execution can continue with another available site in the cluster which is having a copy of data. Making the system more reliable.</a:t>
            </a:r>
          </a:p>
          <a:p>
            <a:pPr algn="just">
              <a:buFont typeface="Wingdings" pitchFamily="2" charset="2"/>
              <a:buChar char="Ø"/>
            </a:pPr>
            <a:endParaRPr kumimoji="0" lang="en-US" altLang="zh-CN" sz="2000" b="0" i="0" u="none" strike="noStrike" cap="none" normalizeH="0" baseline="0" dirty="0" smtClean="0">
              <a:ln>
                <a:noFill/>
              </a:ln>
              <a:solidFill>
                <a:schemeClr val="tx1"/>
              </a:solidFill>
              <a:effectLst/>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fontAlgn="base"/>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smtClean="0">
              <a:latin typeface="Times New Roman" pitchFamily="18" charset="0"/>
              <a:cs typeface="Times New Roman" pitchFamily="18" charset="0"/>
            </a:endParaRPr>
          </a:p>
          <a:p>
            <a:pPr algn="just" fontAlgn="base"/>
            <a:endParaRPr lang="en-US" sz="2000" dirty="0" smtClean="0">
              <a:latin typeface="Times New Roman" pitchFamily="18" charset="0"/>
              <a:cs typeface="Times New Roman" pitchFamily="18" charset="0"/>
            </a:endParaRPr>
          </a:p>
          <a:p>
            <a:pPr algn="just">
              <a:buFont typeface="Wingdings" pitchFamily="2" charset="2"/>
              <a:buChar char="Ø"/>
            </a:pPr>
            <a:endParaRPr lang="en-US" altLang="zh-CN" sz="2000" dirty="0" smtClean="0">
              <a:latin typeface="Times New Roman" pitchFamily="18" charset="0"/>
              <a:cs typeface="Times New Roman" pitchFamily="18" charset="0"/>
            </a:endParaRPr>
          </a:p>
          <a:p>
            <a:pPr algn="just">
              <a:buFont typeface="Wingdings" pitchFamily="2" charset="2"/>
              <a:buChar char="Ø"/>
            </a:pPr>
            <a:endParaRPr kumimoji="0" lang="en-US" altLang="zh-CN"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371600"/>
            <a:ext cx="7239000" cy="4470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altLang="zh-CN" sz="2400" b="1" dirty="0" smtClean="0">
                <a:latin typeface="Times New Roman" pitchFamily="18" charset="0"/>
                <a:ea typeface="SimSun" pitchFamily="2" charset="-122"/>
                <a:cs typeface="Times New Roman" pitchFamily="18" charset="0"/>
              </a:rPr>
              <a:t>F</a:t>
            </a:r>
            <a:r>
              <a:rPr lang="en-US" sz="2000" b="1" dirty="0" smtClean="0">
                <a:latin typeface="Times New Roman" pitchFamily="18" charset="0"/>
                <a:cs typeface="Times New Roman" pitchFamily="18" charset="0"/>
              </a:rPr>
              <a:t>unctional Aspects Provided by Parallel Database Systems</a:t>
            </a: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a:buFont typeface="Wingdings" pitchFamily="2" charset="2"/>
              <a:buChar char="Ø"/>
            </a:pPr>
            <a:r>
              <a:rPr lang="en-US" sz="2000" b="1" dirty="0" smtClean="0">
                <a:latin typeface="Times New Roman" pitchFamily="18" charset="0"/>
                <a:cs typeface="Times New Roman" pitchFamily="18" charset="0"/>
              </a:rPr>
              <a:t>Extensibility:</a:t>
            </a:r>
            <a:r>
              <a:rPr lang="en-US" sz="2000" dirty="0" smtClean="0">
                <a:latin typeface="Times New Roman" pitchFamily="18" charset="0"/>
                <a:cs typeface="Times New Roman" pitchFamily="18" charset="0"/>
              </a:rPr>
              <a:t> It is the ability of smooth expansion of the system by adding processing and storage power to the system. Ideally, the parallel database system should provide two extensibility advantages: </a:t>
            </a:r>
          </a:p>
          <a:p>
            <a:pPr lvl="0" algn="just">
              <a:buFont typeface="Wingdings" pitchFamily="2" charset="2"/>
              <a:buChar char="Ø"/>
            </a:pPr>
            <a:endParaRPr lang="en-US" sz="1000" dirty="0" smtClean="0">
              <a:latin typeface="Times New Roman" pitchFamily="18" charset="0"/>
              <a:cs typeface="Times New Roman" pitchFamily="18" charset="0"/>
            </a:endParaRPr>
          </a:p>
          <a:p>
            <a:pPr lvl="1" algn="just">
              <a:buFont typeface="Wingdings" pitchFamily="2" charset="2"/>
              <a:buChar char="§"/>
            </a:pPr>
            <a:r>
              <a:rPr lang="en-US" sz="2000" b="1" dirty="0" smtClean="0">
                <a:latin typeface="Times New Roman" pitchFamily="18" charset="0"/>
                <a:cs typeface="Times New Roman" pitchFamily="18" charset="0"/>
              </a:rPr>
              <a:t> Linear Speedup</a:t>
            </a:r>
            <a:r>
              <a:rPr lang="en-US" sz="2000" dirty="0" smtClean="0">
                <a:latin typeface="Times New Roman" pitchFamily="18" charset="0"/>
                <a:cs typeface="Times New Roman" pitchFamily="18" charset="0"/>
              </a:rPr>
              <a:t> and</a:t>
            </a:r>
          </a:p>
          <a:p>
            <a:pPr lvl="1" algn="just">
              <a:buFont typeface="Wingdings" pitchFamily="2" charset="2"/>
              <a:buChar char="§"/>
            </a:pPr>
            <a:r>
              <a:rPr lang="en-US" sz="2000" b="1" dirty="0" smtClean="0">
                <a:latin typeface="Times New Roman" pitchFamily="18" charset="0"/>
                <a:cs typeface="Times New Roman" pitchFamily="18" charset="0"/>
              </a:rPr>
              <a:t> Linear </a:t>
            </a:r>
            <a:r>
              <a:rPr lang="en-US" sz="2000" b="1" dirty="0" err="1" smtClean="0">
                <a:latin typeface="Times New Roman" pitchFamily="18" charset="0"/>
                <a:cs typeface="Times New Roman" pitchFamily="18" charset="0"/>
              </a:rPr>
              <a:t>Scaleup</a:t>
            </a:r>
            <a:r>
              <a:rPr lang="en-US" sz="2000" dirty="0" smtClean="0">
                <a:latin typeface="Times New Roman" pitchFamily="18" charset="0"/>
                <a:cs typeface="Times New Roman" pitchFamily="18" charset="0"/>
              </a:rPr>
              <a:t>.</a:t>
            </a:r>
          </a:p>
          <a:p>
            <a:pPr lvl="1" algn="just"/>
            <a:endParaRPr lang="en-US" sz="105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Linear Speedup</a:t>
            </a:r>
            <a:r>
              <a:rPr lang="en-US" sz="2000" dirty="0" smtClean="0">
                <a:latin typeface="Times New Roman" pitchFamily="18" charset="0"/>
                <a:cs typeface="Times New Roman" pitchFamily="18" charset="0"/>
              </a:rPr>
              <a:t> refers to a linear increase in performance for a constant database size and linear increase in processing and storage power. </a:t>
            </a:r>
          </a:p>
          <a:p>
            <a:pPr algn="just"/>
            <a:r>
              <a:rPr lang="en-US" sz="2000" b="1" dirty="0" smtClean="0">
                <a:latin typeface="Times New Roman" pitchFamily="18" charset="0"/>
                <a:cs typeface="Times New Roman" pitchFamily="18" charset="0"/>
              </a:rPr>
              <a:t>Linear </a:t>
            </a:r>
            <a:r>
              <a:rPr lang="en-US" sz="2000" b="1" dirty="0" err="1" smtClean="0">
                <a:latin typeface="Times New Roman" pitchFamily="18" charset="0"/>
                <a:cs typeface="Times New Roman" pitchFamily="18" charset="0"/>
              </a:rPr>
              <a:t>Scaleup</a:t>
            </a:r>
            <a:r>
              <a:rPr lang="en-US" sz="2000" dirty="0" smtClean="0">
                <a:latin typeface="Times New Roman" pitchFamily="18" charset="0"/>
                <a:cs typeface="Times New Roman" pitchFamily="18" charset="0"/>
              </a:rPr>
              <a:t> refers to a sustained performance for a linear increase in both database size and processing and storage power.</a:t>
            </a:r>
            <a:endParaRPr kumimoji="0" lang="en-US" altLang="zh-CN"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altLang="zh-CN" sz="2400" b="1" dirty="0" smtClean="0">
                <a:latin typeface="Times New Roman" pitchFamily="18" charset="0"/>
                <a:ea typeface="SimSun" pitchFamily="2" charset="-122"/>
                <a:cs typeface="Times New Roman" pitchFamily="18" charset="0"/>
              </a:rPr>
              <a:t>F</a:t>
            </a:r>
            <a:r>
              <a:rPr lang="en-US" sz="2000" b="1" dirty="0" smtClean="0">
                <a:latin typeface="Times New Roman" pitchFamily="18" charset="0"/>
                <a:cs typeface="Times New Roman" pitchFamily="18" charset="0"/>
              </a:rPr>
              <a:t>unctional Aspects provided by parallel database systems</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t>
            </a:r>
          </a:p>
          <a:p>
            <a:pPr lvl="0" algn="just">
              <a:buFont typeface="Wingdings" pitchFamily="2" charset="2"/>
              <a:buChar char="Ø"/>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Linear speedup</a:t>
            </a:r>
            <a:r>
              <a:rPr lang="en-US" sz="2000" dirty="0" smtClean="0">
                <a:latin typeface="Times New Roman" pitchFamily="18" charset="0"/>
                <a:cs typeface="Times New Roman" pitchFamily="18" charset="0"/>
              </a:rPr>
              <a:t> and </a:t>
            </a:r>
            <a:r>
              <a:rPr lang="en-US" sz="2000" b="1" dirty="0" smtClean="0">
                <a:latin typeface="Times New Roman" pitchFamily="18" charset="0"/>
                <a:cs typeface="Times New Roman" pitchFamily="18" charset="0"/>
              </a:rPr>
              <a:t>Linear </a:t>
            </a:r>
            <a:r>
              <a:rPr lang="en-US" sz="2000" b="1" dirty="0" err="1" smtClean="0">
                <a:latin typeface="Times New Roman" pitchFamily="18" charset="0"/>
                <a:cs typeface="Times New Roman" pitchFamily="18" charset="0"/>
              </a:rPr>
              <a:t>scaleup</a:t>
            </a:r>
            <a:r>
              <a:rPr lang="en-US" sz="2000" dirty="0" smtClean="0">
                <a:latin typeface="Times New Roman" pitchFamily="18" charset="0"/>
                <a:cs typeface="Times New Roman" pitchFamily="18" charset="0"/>
              </a:rPr>
              <a:t>. </a:t>
            </a:r>
            <a:endParaRPr lang="en-US" altLang="zh-CN" sz="2000" dirty="0" smtClean="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20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4"/>
          <a:srcRect/>
          <a:stretch>
            <a:fillRect/>
          </a:stretch>
        </p:blipFill>
        <p:spPr bwMode="auto">
          <a:xfrm>
            <a:off x="1447800" y="2925127"/>
            <a:ext cx="6609735" cy="25612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30887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Complications of Parallel DBMS</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lvl="0" algn="just">
              <a:buFont typeface="Wingdings" pitchFamily="2" charset="2"/>
              <a:buChar char="Ø"/>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Cost:</a:t>
            </a:r>
            <a:r>
              <a:rPr lang="en-US" dirty="0" smtClean="0">
                <a:latin typeface="Times New Roman" pitchFamily="18" charset="0"/>
                <a:cs typeface="Times New Roman" pitchFamily="18" charset="0"/>
              </a:rPr>
              <a:t> </a:t>
            </a:r>
          </a:p>
          <a:p>
            <a:pPr lvl="1" algn="just">
              <a:buFont typeface="Wingdings" pitchFamily="2" charset="2"/>
              <a:buChar char="ü"/>
            </a:pPr>
            <a:r>
              <a:rPr lang="en-US" dirty="0" smtClean="0">
                <a:latin typeface="Times New Roman" pitchFamily="18" charset="0"/>
                <a:cs typeface="Times New Roman" pitchFamily="18" charset="0"/>
              </a:rPr>
              <a:t> Parallel DBMS needs lots of processors and disks</a:t>
            </a:r>
          </a:p>
          <a:p>
            <a:pPr lvl="1" algn="just">
              <a:buFont typeface="Wingdings" pitchFamily="2" charset="2"/>
              <a:buChar char="ü"/>
            </a:pPr>
            <a:r>
              <a:rPr lang="en-US" dirty="0" smtClean="0">
                <a:latin typeface="Times New Roman" pitchFamily="18" charset="0"/>
                <a:cs typeface="Times New Roman" pitchFamily="18" charset="0"/>
              </a:rPr>
              <a:t> It is not easy to implement parallel DBMSs.</a:t>
            </a:r>
          </a:p>
          <a:p>
            <a:pPr lvl="0" algn="just">
              <a:buFont typeface="Wingdings" pitchFamily="2" charset="2"/>
              <a:buChar char="Ø"/>
            </a:pPr>
            <a:r>
              <a:rPr lang="en-US" b="1" dirty="0" smtClean="0">
                <a:latin typeface="Times New Roman" pitchFamily="18" charset="0"/>
                <a:cs typeface="Times New Roman" pitchFamily="18" charset="0"/>
              </a:rPr>
              <a:t> Resources:</a:t>
            </a:r>
            <a:r>
              <a:rPr lang="en-US" dirty="0" smtClean="0">
                <a:latin typeface="Times New Roman" pitchFamily="18" charset="0"/>
                <a:cs typeface="Times New Roman" pitchFamily="18" charset="0"/>
              </a:rPr>
              <a:t> </a:t>
            </a:r>
          </a:p>
          <a:p>
            <a:pPr lvl="1" algn="just">
              <a:buFont typeface="Wingdings" pitchFamily="2" charset="2"/>
              <a:buChar char="ü"/>
            </a:pPr>
            <a:r>
              <a:rPr lang="en-US" dirty="0" smtClean="0">
                <a:latin typeface="Times New Roman" pitchFamily="18" charset="0"/>
                <a:cs typeface="Times New Roman" pitchFamily="18" charset="0"/>
              </a:rPr>
              <a:t> It is not easy to keep up with modern, cheap, and efficient resources. Implementing DBMS requires the users or the company to have renewal of resources, changing or maintaining resources, or even replacement of resources.</a:t>
            </a:r>
          </a:p>
          <a:p>
            <a:pPr lvl="0" algn="just" fontAlgn="base">
              <a:buFont typeface="Wingdings" pitchFamily="2" charset="2"/>
              <a:buChar char="Ø"/>
            </a:pPr>
            <a:r>
              <a:rPr lang="en-US"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Difficulty of Managing Systems:</a:t>
            </a:r>
          </a:p>
          <a:p>
            <a:pPr lvl="1" algn="just" fontAlgn="base">
              <a:buFont typeface="Wingdings" pitchFamily="2" charset="2"/>
              <a:buChar char="ü"/>
            </a:pPr>
            <a:r>
              <a:rPr lang="en-US" dirty="0" smtClean="0">
                <a:latin typeface="Times New Roman" pitchFamily="18" charset="0"/>
                <a:cs typeface="Times New Roman" pitchFamily="18" charset="0"/>
              </a:rPr>
              <a:t> It is not easy to manage the system.</a:t>
            </a:r>
          </a:p>
          <a:p>
            <a:pPr lvl="1" algn="just">
              <a:buFont typeface="Wingdings" pitchFamily="2" charset="2"/>
              <a:buChar char="ü"/>
            </a:pPr>
            <a:r>
              <a:rPr lang="en-US" dirty="0" smtClean="0">
                <a:latin typeface="Times New Roman" pitchFamily="18" charset="0"/>
                <a:cs typeface="Times New Roman" pitchFamily="18" charset="0"/>
              </a:rPr>
              <a:t> When there needs to be a software update, a replacement, or maintenance that all of the system needs to do, it will be time consuming and resource consuming.</a:t>
            </a:r>
            <a:endParaRPr kumimoji="0" lang="en-US" altLang="zh-CN"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70898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Difference between Parallel and Distributed databases</a:t>
            </a:r>
          </a:p>
          <a:p>
            <a:pPr algn="just"/>
            <a:r>
              <a:rPr lang="en-US" sz="2000" dirty="0" smtClean="0">
                <a:latin typeface="Times New Roman" pitchFamily="18" charset="0"/>
                <a:cs typeface="Times New Roman" pitchFamily="18" charset="0"/>
              </a:rPr>
              <a:t> </a:t>
            </a:r>
          </a:p>
          <a:p>
            <a:pPr algn="just">
              <a:buFont typeface="Wingdings" pitchFamily="2" charset="2"/>
              <a:buChar char="q"/>
            </a:pPr>
            <a:r>
              <a:rPr lang="en-US" sz="2000" b="1" dirty="0" smtClean="0">
                <a:latin typeface="Times New Roman" pitchFamily="18" charset="0"/>
                <a:cs typeface="Times New Roman" pitchFamily="18" charset="0"/>
              </a:rPr>
              <a:t> Parallel DBMS: Features </a:t>
            </a:r>
          </a:p>
          <a:p>
            <a:pPr lvl="1" algn="just">
              <a:buFont typeface="Wingdings" pitchFamily="2" charset="2"/>
              <a:buChar char="ü"/>
            </a:pPr>
            <a:r>
              <a:rPr lang="en-US" sz="2000" dirty="0" smtClean="0">
                <a:latin typeface="Times New Roman" pitchFamily="18" charset="0"/>
                <a:cs typeface="Times New Roman" pitchFamily="18" charset="0"/>
              </a:rPr>
              <a:t> A parallel DBMS is a DBMS that runs across multiple processors and is designed to execute operations in parallel,</a:t>
            </a:r>
          </a:p>
          <a:p>
            <a:pPr lvl="1" algn="just">
              <a:buFont typeface="Wingdings" pitchFamily="2" charset="2"/>
              <a:buChar char="ü"/>
            </a:pPr>
            <a:r>
              <a:rPr lang="en-US" sz="2000" dirty="0" smtClean="0">
                <a:latin typeface="Times New Roman" pitchFamily="18" charset="0"/>
                <a:cs typeface="Times New Roman" pitchFamily="18" charset="0"/>
              </a:rPr>
              <a:t> There are parallel working of CPUs.</a:t>
            </a:r>
          </a:p>
          <a:p>
            <a:pPr lvl="1" algn="just">
              <a:buFont typeface="Wingdings" pitchFamily="2" charset="2"/>
              <a:buChar char="ü"/>
            </a:pPr>
            <a:r>
              <a:rPr lang="en-US" sz="2000" dirty="0" smtClean="0">
                <a:latin typeface="Times New Roman" pitchFamily="18" charset="0"/>
                <a:cs typeface="Times New Roman" pitchFamily="18" charset="0"/>
              </a:rPr>
              <a:t> It improves performance. </a:t>
            </a:r>
          </a:p>
          <a:p>
            <a:pPr lvl="1" algn="just">
              <a:buFont typeface="Wingdings" pitchFamily="2" charset="2"/>
              <a:buChar char="ü"/>
            </a:pPr>
            <a:r>
              <a:rPr lang="en-US" sz="2000" dirty="0" smtClean="0">
                <a:latin typeface="Times New Roman" pitchFamily="18" charset="0"/>
                <a:cs typeface="Times New Roman" pitchFamily="18" charset="0"/>
              </a:rPr>
              <a:t>It divides large tasks into various other tasks.</a:t>
            </a:r>
          </a:p>
          <a:p>
            <a:pPr lvl="1" algn="just">
              <a:buFont typeface="Wingdings" pitchFamily="2" charset="2"/>
              <a:buChar char="ü"/>
            </a:pPr>
            <a:r>
              <a:rPr lang="en-US" sz="2000" dirty="0" smtClean="0">
                <a:latin typeface="Times New Roman" pitchFamily="18" charset="0"/>
                <a:cs typeface="Times New Roman" pitchFamily="18" charset="0"/>
              </a:rPr>
              <a:t> Completes works very quickly.</a:t>
            </a:r>
          </a:p>
          <a:p>
            <a:pPr lvl="1" algn="just">
              <a:buFont typeface="Wingdings" pitchFamily="2" charset="2"/>
              <a:buChar char="ü"/>
            </a:pPr>
            <a:r>
              <a:rPr lang="en-US" sz="2000" dirty="0" smtClean="0">
                <a:latin typeface="Times New Roman" pitchFamily="18" charset="0"/>
                <a:cs typeface="Times New Roman" pitchFamily="18" charset="0"/>
              </a:rPr>
              <a:t> Processes are tightly coupled and constitutes a single database system  i.e., the parallel database is a centralized database and data reside in a single location.</a:t>
            </a:r>
          </a:p>
          <a:p>
            <a:pPr lvl="1" algn="just">
              <a:buFont typeface="Wingdings" pitchFamily="2" charset="2"/>
              <a:buChar char="ü"/>
            </a:pPr>
            <a:r>
              <a:rPr lang="en-US" sz="2000" dirty="0" smtClean="0">
                <a:latin typeface="Times New Roman" pitchFamily="18" charset="0"/>
                <a:cs typeface="Times New Roman" pitchFamily="18" charset="0"/>
              </a:rPr>
              <a:t> Query processing and transaction is complicated..</a:t>
            </a:r>
          </a:p>
          <a:p>
            <a:pPr lvl="1" algn="just">
              <a:buFont typeface="Wingdings" pitchFamily="2" charset="2"/>
              <a:buChar char="ü"/>
            </a:pPr>
            <a:r>
              <a:rPr lang="en-US" sz="2000" dirty="0" smtClean="0">
                <a:latin typeface="Times New Roman" pitchFamily="18" charset="0"/>
                <a:cs typeface="Times New Roman" pitchFamily="18" charset="0"/>
              </a:rPr>
              <a:t> Data is partitioned among various disks so that it can be retrieved faster.</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3477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Difference between Parallel and Distributed databases</a:t>
            </a:r>
          </a:p>
          <a:p>
            <a:pPr algn="just"/>
            <a:r>
              <a:rPr lang="en-US" sz="2000" dirty="0" smtClean="0">
                <a:latin typeface="Times New Roman" pitchFamily="18" charset="0"/>
                <a:cs typeface="Times New Roman" pitchFamily="18" charset="0"/>
              </a:rPr>
              <a:t> </a:t>
            </a:r>
          </a:p>
          <a:p>
            <a:pPr algn="just">
              <a:buFont typeface="Wingdings" pitchFamily="2" charset="2"/>
              <a:buChar char="q"/>
            </a:pPr>
            <a:r>
              <a:rPr lang="en-US" sz="2000" b="1" dirty="0" smtClean="0">
                <a:latin typeface="Times New Roman" pitchFamily="18" charset="0"/>
                <a:cs typeface="Times New Roman" pitchFamily="18" charset="0"/>
              </a:rPr>
              <a:t> Parallel DBMS: Features </a:t>
            </a:r>
          </a:p>
          <a:p>
            <a:pPr lvl="1" algn="just">
              <a:buFont typeface="Wingdings" pitchFamily="2" charset="2"/>
              <a:buChar char="ü"/>
            </a:pPr>
            <a:r>
              <a:rPr lang="en-US" sz="2000" dirty="0" smtClean="0">
                <a:latin typeface="Times New Roman" pitchFamily="18" charset="0"/>
                <a:cs typeface="Times New Roman" pitchFamily="18" charset="0"/>
              </a:rPr>
              <a:t> There are 3 types of architecture: shared memory, shared disk, and shared </a:t>
            </a:r>
            <a:r>
              <a:rPr lang="en-US" sz="2000" dirty="0" err="1" smtClean="0">
                <a:latin typeface="Times New Roman" pitchFamily="18" charset="0"/>
                <a:cs typeface="Times New Roman" pitchFamily="18" charset="0"/>
              </a:rPr>
              <a:t>shared</a:t>
            </a:r>
            <a:r>
              <a:rPr lang="en-US" sz="2000" dirty="0" smtClean="0">
                <a:latin typeface="Times New Roman" pitchFamily="18" charset="0"/>
                <a:cs typeface="Times New Roman" pitchFamily="18" charset="0"/>
              </a:rPr>
              <a:t>-nothing. </a:t>
            </a:r>
          </a:p>
          <a:p>
            <a:pPr lvl="1" algn="just">
              <a:buFont typeface="Wingdings" pitchFamily="2" charset="2"/>
              <a:buChar char="ü"/>
            </a:pPr>
            <a:r>
              <a:rPr lang="en-US" sz="2000" dirty="0" smtClean="0">
                <a:latin typeface="Times New Roman" pitchFamily="18" charset="0"/>
                <a:cs typeface="Times New Roman" pitchFamily="18" charset="0"/>
              </a:rPr>
              <a:t> Query optimization is more complicated. </a:t>
            </a:r>
          </a:p>
          <a:p>
            <a:pPr lvl="1" algn="just">
              <a:buFont typeface="Wingdings" pitchFamily="2" charset="2"/>
              <a:buChar char="ü"/>
            </a:pPr>
            <a:r>
              <a:rPr lang="en-US" sz="2000" dirty="0" smtClean="0">
                <a:latin typeface="Times New Roman" pitchFamily="18" charset="0"/>
                <a:cs typeface="Times New Roman" pitchFamily="18" charset="0"/>
              </a:rPr>
              <a:t>Data is generally not copied. </a:t>
            </a:r>
          </a:p>
          <a:p>
            <a:pPr lvl="1" algn="just">
              <a:buFont typeface="Wingdings" pitchFamily="2" charset="2"/>
              <a:buChar char="ü"/>
            </a:pPr>
            <a:r>
              <a:rPr lang="en-US" sz="2000" dirty="0" smtClean="0">
                <a:latin typeface="Times New Roman" pitchFamily="18" charset="0"/>
                <a:cs typeface="Times New Roman" pitchFamily="18" charset="0"/>
              </a:rPr>
              <a:t> Parallel databases are generally homogeneous in nature. </a:t>
            </a:r>
          </a:p>
          <a:p>
            <a:pPr lvl="1" algn="just">
              <a:buFont typeface="Wingdings" pitchFamily="2" charset="2"/>
              <a:buChar char="ü"/>
            </a:pPr>
            <a:r>
              <a:rPr lang="en-US" sz="2000" dirty="0" smtClean="0">
                <a:latin typeface="Times New Roman" pitchFamily="18" charset="0"/>
                <a:cs typeface="Times New Roman" pitchFamily="18" charset="0"/>
              </a:rPr>
              <a:t> Skew is the major issue with the increasing degree of parallelism in parallel databases.</a:t>
            </a:r>
          </a:p>
          <a:p>
            <a:pPr algn="just"/>
            <a:r>
              <a:rPr lang="en-US" sz="20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Difference between Parallel and Distributed databases</a:t>
            </a:r>
          </a:p>
          <a:p>
            <a:pPr algn="just"/>
            <a:r>
              <a:rPr lang="en-US" sz="2000" dirty="0" smtClean="0">
                <a:latin typeface="Times New Roman" pitchFamily="18" charset="0"/>
                <a:cs typeface="Times New Roman" pitchFamily="18" charset="0"/>
              </a:rPr>
              <a:t> </a:t>
            </a:r>
          </a:p>
          <a:p>
            <a:pPr algn="just">
              <a:buFont typeface="Wingdings" pitchFamily="2" charset="2"/>
              <a:buChar char="q"/>
            </a:pPr>
            <a:r>
              <a:rPr lang="en-US" sz="2000" b="1" dirty="0" smtClean="0">
                <a:latin typeface="Times New Roman" pitchFamily="18" charset="0"/>
                <a:cs typeface="Times New Roman" pitchFamily="18" charset="0"/>
              </a:rPr>
              <a:t> Distributed DBMS: Features</a:t>
            </a:r>
          </a:p>
          <a:p>
            <a:pPr lvl="1" algn="just">
              <a:buFont typeface="Wingdings" pitchFamily="2" charset="2"/>
              <a:buChar char="ü"/>
            </a:pPr>
            <a:r>
              <a:rPr lang="en-US" sz="2000" dirty="0" smtClean="0">
                <a:latin typeface="Times New Roman" pitchFamily="18" charset="0"/>
                <a:cs typeface="Times New Roman" pitchFamily="18" charset="0"/>
              </a:rPr>
              <a:t> A Distributed database is defined as a logically related collection of data that is shared which is physically distributed over a computer network on different sites.</a:t>
            </a:r>
          </a:p>
          <a:p>
            <a:pPr lvl="1" algn="just">
              <a:buFont typeface="Wingdings" pitchFamily="2" charset="2"/>
              <a:buChar char="ü"/>
            </a:pPr>
            <a:r>
              <a:rPr lang="en-US" sz="2000" dirty="0" smtClean="0">
                <a:latin typeface="Times New Roman" pitchFamily="18" charset="0"/>
                <a:cs typeface="Times New Roman" pitchFamily="18" charset="0"/>
              </a:rPr>
              <a:t> It is a group of logically related shared data</a:t>
            </a:r>
          </a:p>
          <a:p>
            <a:pPr lvl="1" algn="just">
              <a:buFont typeface="Wingdings" pitchFamily="2" charset="2"/>
              <a:buChar char="ü"/>
            </a:pPr>
            <a:r>
              <a:rPr lang="en-US" sz="2000" dirty="0" smtClean="0">
                <a:latin typeface="Times New Roman" pitchFamily="18" charset="0"/>
                <a:cs typeface="Times New Roman" pitchFamily="18" charset="0"/>
              </a:rPr>
              <a:t> The data gets split into various fragments</a:t>
            </a:r>
          </a:p>
          <a:p>
            <a:pPr lvl="1" algn="just">
              <a:buFont typeface="Wingdings" pitchFamily="2" charset="2"/>
              <a:buChar char="ü"/>
            </a:pPr>
            <a:r>
              <a:rPr lang="en-US" sz="2000" dirty="0" smtClean="0">
                <a:latin typeface="Times New Roman" pitchFamily="18" charset="0"/>
                <a:cs typeface="Times New Roman" pitchFamily="18" charset="0"/>
              </a:rPr>
              <a:t> There may be a replication of fragments</a:t>
            </a:r>
          </a:p>
          <a:p>
            <a:pPr lvl="1" algn="just">
              <a:buFont typeface="Wingdings" pitchFamily="2" charset="2"/>
              <a:buChar char="ü"/>
            </a:pPr>
            <a:r>
              <a:rPr lang="en-US" sz="2000" dirty="0" smtClean="0">
                <a:latin typeface="Times New Roman" pitchFamily="18" charset="0"/>
                <a:cs typeface="Times New Roman" pitchFamily="18" charset="0"/>
              </a:rPr>
              <a:t> The sites are linked by a communication network</a:t>
            </a:r>
          </a:p>
          <a:p>
            <a:pPr lvl="1" algn="just">
              <a:buFont typeface="Wingdings" pitchFamily="2" charset="2"/>
              <a:buChar char="ü"/>
            </a:pPr>
            <a:r>
              <a:rPr lang="en-US" sz="2000" dirty="0" smtClean="0">
                <a:latin typeface="Times New Roman" pitchFamily="18" charset="0"/>
                <a:cs typeface="Times New Roman" pitchFamily="18" charset="0"/>
              </a:rPr>
              <a:t> The sites are loosely coupled and share no physical components. </a:t>
            </a:r>
          </a:p>
          <a:p>
            <a:pPr lvl="1" algn="just">
              <a:buFont typeface="Wingdings" pitchFamily="2" charset="2"/>
              <a:buChar char="ü"/>
            </a:pPr>
            <a:r>
              <a:rPr lang="en-US" sz="2000" dirty="0" smtClean="0">
                <a:latin typeface="Times New Roman" pitchFamily="18" charset="0"/>
                <a:cs typeface="Times New Roman" pitchFamily="18" charset="0"/>
              </a:rPr>
              <a:t> Query processing and transaction is more complicated.</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70898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Difference between Parallel and Distributed databases</a:t>
            </a:r>
          </a:p>
          <a:p>
            <a:pPr algn="just"/>
            <a:r>
              <a:rPr lang="en-US" sz="2000" dirty="0" smtClean="0">
                <a:latin typeface="Times New Roman" pitchFamily="18" charset="0"/>
                <a:cs typeface="Times New Roman" pitchFamily="18" charset="0"/>
              </a:rPr>
              <a:t> </a:t>
            </a:r>
          </a:p>
          <a:p>
            <a:pPr algn="just">
              <a:buFont typeface="Wingdings" pitchFamily="2" charset="2"/>
              <a:buChar char="q"/>
            </a:pPr>
            <a:r>
              <a:rPr lang="en-US" sz="2000" b="1" dirty="0" smtClean="0">
                <a:latin typeface="Times New Roman" pitchFamily="18" charset="0"/>
                <a:cs typeface="Times New Roman" pitchFamily="18" charset="0"/>
              </a:rPr>
              <a:t> Distributed DBMS: Features</a:t>
            </a:r>
          </a:p>
          <a:p>
            <a:pPr lvl="1" algn="just">
              <a:buFont typeface="Wingdings" pitchFamily="2" charset="2"/>
              <a:buChar char="ü"/>
            </a:pPr>
            <a:r>
              <a:rPr lang="en-US" sz="2000" dirty="0" smtClean="0">
                <a:latin typeface="Times New Roman" pitchFamily="18" charset="0"/>
                <a:cs typeface="Times New Roman" pitchFamily="18" charset="0"/>
              </a:rPr>
              <a:t> Each site preserve a local database system for faster processing due to the slow interconnection between sites</a:t>
            </a:r>
          </a:p>
          <a:p>
            <a:pPr lvl="1" algn="just">
              <a:buFont typeface="Wingdings" pitchFamily="2" charset="2"/>
              <a:buChar char="ü"/>
            </a:pPr>
            <a:r>
              <a:rPr lang="en-US" sz="2000" dirty="0" smtClean="0">
                <a:latin typeface="Times New Roman" pitchFamily="18" charset="0"/>
                <a:cs typeface="Times New Roman" pitchFamily="18" charset="0"/>
              </a:rPr>
              <a:t> Distributed databases are generally a kind of shared-nothing architecture</a:t>
            </a:r>
          </a:p>
          <a:p>
            <a:pPr lvl="1" algn="just">
              <a:buFont typeface="Wingdings" pitchFamily="2" charset="2"/>
              <a:buChar char="ü"/>
            </a:pPr>
            <a:r>
              <a:rPr lang="en-US" sz="2000" dirty="0" smtClean="0">
                <a:latin typeface="Times New Roman" pitchFamily="18" charset="0"/>
                <a:cs typeface="Times New Roman" pitchFamily="18" charset="0"/>
              </a:rPr>
              <a:t> In distributed databases, query Optimization techniques may be different at different sites and are easy to maintain</a:t>
            </a:r>
          </a:p>
          <a:p>
            <a:pPr lvl="1" algn="just">
              <a:buFont typeface="Wingdings" pitchFamily="2" charset="2"/>
              <a:buChar char="ü"/>
            </a:pPr>
            <a:r>
              <a:rPr lang="en-US" sz="2000" dirty="0" smtClean="0">
                <a:latin typeface="Times New Roman" pitchFamily="18" charset="0"/>
                <a:cs typeface="Times New Roman" pitchFamily="18" charset="0"/>
              </a:rPr>
              <a:t> Data is replicated at any number of sites to improve the performance of systems</a:t>
            </a:r>
          </a:p>
          <a:p>
            <a:pPr lvl="1" algn="just">
              <a:buFont typeface="Wingdings" pitchFamily="2" charset="2"/>
              <a:buChar char="ü"/>
            </a:pPr>
            <a:r>
              <a:rPr lang="en-US" sz="2000" dirty="0" smtClean="0">
                <a:latin typeface="Times New Roman" pitchFamily="18" charset="0"/>
                <a:cs typeface="Times New Roman" pitchFamily="18" charset="0"/>
              </a:rPr>
              <a:t> Distributed databases may be homogeneous or heterogeneous in nature</a:t>
            </a:r>
          </a:p>
          <a:p>
            <a:pPr lvl="1" algn="just">
              <a:buFont typeface="Wingdings" pitchFamily="2" charset="2"/>
              <a:buChar char="ü"/>
            </a:pPr>
            <a:r>
              <a:rPr lang="en-US" sz="2000" dirty="0" smtClean="0">
                <a:latin typeface="Times New Roman" pitchFamily="18" charset="0"/>
                <a:cs typeface="Times New Roman" pitchFamily="18" charset="0"/>
              </a:rPr>
              <a:t> Blocking due to site failure and transparency are the major issues in distributed databases.</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38472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400" b="1" dirty="0" smtClean="0">
                <a:latin typeface="Times New Roman" pitchFamily="18" charset="0"/>
                <a:cs typeface="Times New Roman" pitchFamily="18" charset="0"/>
              </a:rPr>
              <a:t>Design of Parallel Databases</a:t>
            </a:r>
          </a:p>
          <a:p>
            <a:pPr lvl="0" algn="just"/>
            <a:r>
              <a:rPr lang="en-US" sz="2000" dirty="0" smtClean="0">
                <a:latin typeface="Times New Roman" pitchFamily="18" charset="0"/>
                <a:cs typeface="Times New Roman" pitchFamily="18" charset="0"/>
              </a:rPr>
              <a:t> </a:t>
            </a:r>
            <a:endParaRPr lang="en-US" altLang="zh-CN" sz="2000" dirty="0" smtClean="0">
              <a:latin typeface="Times New Roman" pitchFamily="18" charset="0"/>
              <a:cs typeface="Times New Roman" pitchFamily="18" charset="0"/>
            </a:endParaRPr>
          </a:p>
          <a:p>
            <a:pPr lvl="0" algn="just" fontAlgn="base">
              <a:buFont typeface="Wingdings" pitchFamily="2" charset="2"/>
              <a:buChar char="Ø"/>
            </a:pPr>
            <a:r>
              <a:rPr lang="en-US" sz="2000" dirty="0" smtClean="0">
                <a:latin typeface="Times New Roman" pitchFamily="18" charset="0"/>
                <a:cs typeface="Times New Roman" pitchFamily="18" charset="0"/>
              </a:rPr>
              <a:t> A parallel DBMS is a DBMS that runs across multiple processors or CPUs and is mainly designed to execute query operations in parallel. </a:t>
            </a:r>
          </a:p>
          <a:p>
            <a:pPr lvl="0" algn="just" fontAlgn="base">
              <a:buFont typeface="Wingdings" pitchFamily="2" charset="2"/>
              <a:buChar char="Ø"/>
            </a:pPr>
            <a:r>
              <a:rPr lang="en-US" sz="2000" dirty="0" smtClean="0">
                <a:latin typeface="Times New Roman" pitchFamily="18" charset="0"/>
                <a:cs typeface="Times New Roman" pitchFamily="18" charset="0"/>
              </a:rPr>
              <a:t> In Parallel Databases, mainly there are three architectural designs for parallel DBMS. They are as follows:</a:t>
            </a:r>
          </a:p>
          <a:p>
            <a:pPr algn="just" fontAlgn="base"/>
            <a:r>
              <a:rPr lang="en-US" sz="2000" dirty="0" smtClean="0">
                <a:latin typeface="Times New Roman" pitchFamily="18" charset="0"/>
                <a:cs typeface="Times New Roman" pitchFamily="18" charset="0"/>
              </a:rPr>
              <a:t> </a:t>
            </a:r>
          </a:p>
          <a:p>
            <a:pPr marL="971550" lvl="1" indent="-514350" algn="just" fontAlgn="base">
              <a:buFont typeface="+mj-lt"/>
              <a:buAutoNum type="romanUcPeriod"/>
            </a:pPr>
            <a:r>
              <a:rPr lang="en-US" sz="2000" b="1" dirty="0" smtClean="0">
                <a:latin typeface="Times New Roman" pitchFamily="18" charset="0"/>
                <a:cs typeface="Times New Roman" pitchFamily="18" charset="0"/>
              </a:rPr>
              <a:t>Shared Memory Architecture</a:t>
            </a:r>
          </a:p>
          <a:p>
            <a:pPr marL="971550" lvl="1" indent="-514350" algn="just" fontAlgn="base">
              <a:buFont typeface="+mj-lt"/>
              <a:buAutoNum type="romanUcPeriod"/>
            </a:pPr>
            <a:r>
              <a:rPr lang="en-US" sz="2000" b="1" dirty="0" smtClean="0">
                <a:latin typeface="Times New Roman" pitchFamily="18" charset="0"/>
                <a:cs typeface="Times New Roman" pitchFamily="18" charset="0"/>
              </a:rPr>
              <a:t>Shared Disk Architecture</a:t>
            </a:r>
          </a:p>
          <a:p>
            <a:pPr marL="971550" lvl="1" indent="-514350" algn="just" fontAlgn="base">
              <a:buFont typeface="+mj-lt"/>
              <a:buAutoNum type="romanUcPeriod"/>
            </a:pPr>
            <a:r>
              <a:rPr lang="en-US" sz="2000" b="1" dirty="0" smtClean="0">
                <a:latin typeface="Times New Roman" pitchFamily="18" charset="0"/>
                <a:cs typeface="Times New Roman" pitchFamily="18" charset="0"/>
              </a:rPr>
              <a:t>Shared Nothing Architecture</a:t>
            </a:r>
            <a:endParaRPr lang="en-US" sz="2000" dirty="0" smtClean="0">
              <a:latin typeface="Times New Roman" pitchFamily="18" charset="0"/>
              <a:cs typeface="Times New Roman" pitchFamily="18" charset="0"/>
            </a:endParaRPr>
          </a:p>
          <a:p>
            <a:pPr marL="971550" lvl="1" indent="-514350" algn="just"/>
            <a:endParaRPr lang="en-US" sz="20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29238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Shared Memory Architecture</a:t>
            </a:r>
          </a:p>
          <a:p>
            <a:pPr lvl="0" algn="just"/>
            <a:r>
              <a:rPr lang="en-US" sz="2000" dirty="0" smtClean="0">
                <a:latin typeface="Times New Roman" pitchFamily="18" charset="0"/>
                <a:cs typeface="Times New Roman" pitchFamily="18" charset="0"/>
              </a:rPr>
              <a:t> </a:t>
            </a:r>
            <a:endParaRPr lang="en-US" altLang="zh-CN" dirty="0" smtClean="0">
              <a:latin typeface="Times New Roman" pitchFamily="18" charset="0"/>
              <a:cs typeface="Times New Roman" pitchFamily="18" charset="0"/>
            </a:endParaRPr>
          </a:p>
          <a:p>
            <a:pPr lvl="0" algn="just">
              <a:buFont typeface="Wingdings" pitchFamily="2" charset="2"/>
              <a:buChar char="Ø"/>
            </a:pPr>
            <a:r>
              <a:rPr lang="en-US" dirty="0" smtClean="0">
                <a:latin typeface="Times New Roman" pitchFamily="18" charset="0"/>
                <a:cs typeface="Times New Roman" pitchFamily="18" charset="0"/>
              </a:rPr>
              <a:t> There are multiple CPUs that are attached to an interconnection network. </a:t>
            </a:r>
          </a:p>
          <a:p>
            <a:pPr lvl="0" algn="just">
              <a:buFont typeface="Wingdings" pitchFamily="2" charset="2"/>
              <a:buChar char="Ø"/>
            </a:pPr>
            <a:r>
              <a:rPr lang="en-US" dirty="0" smtClean="0">
                <a:latin typeface="Times New Roman" pitchFamily="18" charset="0"/>
                <a:cs typeface="Times New Roman" pitchFamily="18" charset="0"/>
              </a:rPr>
              <a:t> They are able to share a single or global main memory and common disk arrays.</a:t>
            </a:r>
          </a:p>
          <a:p>
            <a:pPr lvl="0" algn="just">
              <a:buFont typeface="Wingdings" pitchFamily="2" charset="2"/>
              <a:buChar char="Ø"/>
            </a:pPr>
            <a:r>
              <a:rPr lang="en-US" dirty="0" smtClean="0">
                <a:latin typeface="Times New Roman" pitchFamily="18" charset="0"/>
                <a:cs typeface="Times New Roman" pitchFamily="18" charset="0"/>
              </a:rPr>
              <a:t> Any processor has access to any memory module or disk unit through a fast interconnect.</a:t>
            </a:r>
          </a:p>
          <a:p>
            <a:pPr lvl="0" algn="just">
              <a:buFont typeface="Wingdings" pitchFamily="2" charset="2"/>
              <a:buChar char="Ø"/>
            </a:pPr>
            <a:r>
              <a:rPr lang="en-US" dirty="0" smtClean="0">
                <a:latin typeface="Times New Roman" pitchFamily="18" charset="0"/>
                <a:cs typeface="Times New Roman" pitchFamily="18" charset="0"/>
              </a:rPr>
              <a:t> All the processors are under the control of a single operating system.</a:t>
            </a:r>
          </a:p>
          <a:p>
            <a:pPr lvl="0" algn="just" fontAlgn="base"/>
            <a:endParaRPr lang="en-US" dirty="0" smtClean="0">
              <a:latin typeface="Times New Roman" pitchFamily="18" charset="0"/>
              <a:cs typeface="Times New Roman" pitchFamily="18" charset="0"/>
            </a:endParaRPr>
          </a:p>
          <a:p>
            <a:pPr marL="971550" lvl="1" indent="-514350" algn="just"/>
            <a:endParaRPr lang="en-US" b="1" dirty="0" smtClean="0">
              <a:latin typeface="Times New Roman" pitchFamily="18" charset="0"/>
              <a:cs typeface="Times New Roman" pitchFamily="18" charset="0"/>
            </a:endParaRPr>
          </a:p>
        </p:txBody>
      </p:sp>
      <p:pic>
        <p:nvPicPr>
          <p:cNvPr id="10" name="Picture 9" descr="https://media.geeksforgeeks.org/wp-content/uploads/20210615201341/12.PNG"/>
          <p:cNvPicPr/>
          <p:nvPr/>
        </p:nvPicPr>
        <p:blipFill>
          <a:blip r:embed="rId4"/>
          <a:srcRect/>
          <a:stretch>
            <a:fillRect/>
          </a:stretch>
        </p:blipFill>
        <p:spPr bwMode="auto">
          <a:xfrm>
            <a:off x="2340552" y="3886200"/>
            <a:ext cx="4212648"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03187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Shared Memory Architecture</a:t>
            </a:r>
          </a:p>
          <a:p>
            <a:pPr lvl="0" algn="just"/>
            <a:r>
              <a:rPr lang="en-US" sz="2000" dirty="0" smtClean="0">
                <a:latin typeface="Times New Roman" pitchFamily="18" charset="0"/>
                <a:cs typeface="Times New Roman" pitchFamily="18" charset="0"/>
              </a:rPr>
              <a:t> </a:t>
            </a:r>
            <a:endParaRPr lang="en-US" altLang="zh-CN"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Advantages:</a:t>
            </a:r>
            <a:endParaRPr lang="en-US" dirty="0" smtClean="0">
              <a:latin typeface="Times New Roman" pitchFamily="18" charset="0"/>
              <a:cs typeface="Times New Roman" pitchFamily="18" charset="0"/>
            </a:endParaRPr>
          </a:p>
          <a:p>
            <a:pPr lvl="1" algn="just" fontAlgn="base">
              <a:buFont typeface="Wingdings" pitchFamily="2" charset="2"/>
              <a:buChar char="ü"/>
            </a:pPr>
            <a:r>
              <a:rPr lang="en-US" dirty="0" smtClean="0">
                <a:latin typeface="Times New Roman" pitchFamily="18" charset="0"/>
                <a:cs typeface="Times New Roman" pitchFamily="18" charset="0"/>
              </a:rPr>
              <a:t> Simplicity and easier load balancing</a:t>
            </a:r>
          </a:p>
          <a:p>
            <a:pPr lvl="1" algn="just" fontAlgn="base">
              <a:buFont typeface="Wingdings" pitchFamily="2" charset="2"/>
              <a:buChar char="ü"/>
            </a:pPr>
            <a:r>
              <a:rPr lang="en-US" dirty="0" smtClean="0">
                <a:latin typeface="Times New Roman" pitchFamily="18" charset="0"/>
                <a:cs typeface="Times New Roman" pitchFamily="18" charset="0"/>
              </a:rPr>
              <a:t> It has high-speed data access for a limited number of processors.</a:t>
            </a:r>
          </a:p>
          <a:p>
            <a:pPr lvl="1" algn="just" fontAlgn="base">
              <a:buFont typeface="Wingdings" pitchFamily="2" charset="2"/>
              <a:buChar char="ü"/>
            </a:pPr>
            <a:r>
              <a:rPr lang="en-US" dirty="0" smtClean="0">
                <a:latin typeface="Times New Roman" pitchFamily="18" charset="0"/>
                <a:cs typeface="Times New Roman" pitchFamily="18" charset="0"/>
              </a:rPr>
              <a:t> The communication is efficient.</a:t>
            </a:r>
          </a:p>
          <a:p>
            <a:pPr algn="just" fontAlgn="base"/>
            <a:r>
              <a:rPr lang="en-US" dirty="0" smtClean="0">
                <a:latin typeface="Times New Roman" pitchFamily="18" charset="0"/>
                <a:cs typeface="Times New Roman" pitchFamily="18" charset="0"/>
              </a:rPr>
              <a:t> </a:t>
            </a:r>
          </a:p>
          <a:p>
            <a:pPr algn="just" fontAlgn="base"/>
            <a:r>
              <a:rPr lang="en-US" b="1" dirty="0" smtClean="0">
                <a:latin typeface="Times New Roman" pitchFamily="18" charset="0"/>
                <a:cs typeface="Times New Roman" pitchFamily="18" charset="0"/>
              </a:rPr>
              <a:t>Disadvantages:</a:t>
            </a:r>
            <a:endParaRPr lang="en-US" dirty="0" smtClean="0">
              <a:latin typeface="Times New Roman" pitchFamily="18" charset="0"/>
              <a:cs typeface="Times New Roman" pitchFamily="18" charset="0"/>
            </a:endParaRPr>
          </a:p>
          <a:p>
            <a:pPr lvl="1" algn="just" fontAlgn="base">
              <a:buFont typeface="Wingdings" pitchFamily="2" charset="2"/>
              <a:buChar char="ü"/>
            </a:pPr>
            <a:r>
              <a:rPr lang="en-US" dirty="0" smtClean="0">
                <a:latin typeface="Times New Roman" pitchFamily="18" charset="0"/>
                <a:cs typeface="Times New Roman" pitchFamily="18" charset="0"/>
              </a:rPr>
              <a:t> It cannot use beyond 80 or 100 CPUs in parallel.</a:t>
            </a:r>
          </a:p>
          <a:p>
            <a:pPr lvl="1" algn="just" fontAlgn="base">
              <a:buFont typeface="Wingdings" pitchFamily="2" charset="2"/>
              <a:buChar char="ü"/>
            </a:pPr>
            <a:r>
              <a:rPr lang="en-US" dirty="0" smtClean="0">
                <a:latin typeface="Times New Roman" pitchFamily="18" charset="0"/>
                <a:cs typeface="Times New Roman" pitchFamily="18" charset="0"/>
              </a:rPr>
              <a:t> The bus or the interconnection network gets block due to the increment of the large number of CPUs.</a:t>
            </a:r>
          </a:p>
          <a:p>
            <a:pPr lvl="1" algn="just" fontAlgn="base">
              <a:buFont typeface="Wingdings" pitchFamily="2" charset="2"/>
              <a:buChar char="ü"/>
            </a:pPr>
            <a:r>
              <a:rPr lang="en-US" dirty="0" smtClean="0">
                <a:latin typeface="Times New Roman" pitchFamily="18" charset="0"/>
                <a:cs typeface="Times New Roman" pitchFamily="18" charset="0"/>
              </a:rPr>
              <a:t> High cost, limited extensibility and low availability.</a:t>
            </a:r>
          </a:p>
          <a:p>
            <a:pPr algn="just"/>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Example:</a:t>
            </a:r>
            <a:r>
              <a:rPr lang="en-US" dirty="0" smtClean="0">
                <a:latin typeface="Times New Roman" pitchFamily="18" charset="0"/>
                <a:cs typeface="Times New Roman" pitchFamily="18" charset="0"/>
              </a:rPr>
              <a:t> XPRS, DBS3, and Volcano.</a:t>
            </a:r>
            <a:endParaRPr lang="en-US"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23698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Shared Disk Architecture</a:t>
            </a:r>
          </a:p>
          <a:p>
            <a:pPr lvl="0" algn="just">
              <a:buFont typeface="Wingdings" pitchFamily="2" charset="2"/>
              <a:buChar char="Ø"/>
            </a:pPr>
            <a:r>
              <a:rPr lang="en-US" dirty="0" smtClean="0">
                <a:latin typeface="Times New Roman" pitchFamily="18" charset="0"/>
                <a:cs typeface="Times New Roman" pitchFamily="18" charset="0"/>
              </a:rPr>
              <a:t> Various CPUs are attached to an interconnection network. </a:t>
            </a:r>
          </a:p>
          <a:p>
            <a:pPr lvl="0" algn="just">
              <a:buFont typeface="Wingdings" pitchFamily="2" charset="2"/>
              <a:buChar char="Ø"/>
            </a:pPr>
            <a:r>
              <a:rPr lang="en-US" dirty="0" smtClean="0">
                <a:latin typeface="Times New Roman" pitchFamily="18" charset="0"/>
                <a:cs typeface="Times New Roman" pitchFamily="18" charset="0"/>
              </a:rPr>
              <a:t> Each CPU has its own memory and all of them have access to the same disk. </a:t>
            </a:r>
          </a:p>
          <a:p>
            <a:pPr lvl="0" algn="just">
              <a:buFont typeface="Wingdings" pitchFamily="2" charset="2"/>
              <a:buChar char="Ø"/>
            </a:pPr>
            <a:r>
              <a:rPr lang="en-US" dirty="0" smtClean="0">
                <a:latin typeface="Times New Roman" pitchFamily="18" charset="0"/>
                <a:cs typeface="Times New Roman" pitchFamily="18" charset="0"/>
              </a:rPr>
              <a:t> The memory is not shared among CPUs, therefore each node has its own copy of the operating system and DBMS. </a:t>
            </a:r>
          </a:p>
          <a:p>
            <a:pPr lvl="0" algn="just">
              <a:buFont typeface="Wingdings" pitchFamily="2" charset="2"/>
              <a:buChar char="Ø"/>
            </a:pPr>
            <a:r>
              <a:rPr lang="en-US" dirty="0" smtClean="0">
                <a:latin typeface="Times New Roman" pitchFamily="18" charset="0"/>
                <a:cs typeface="Times New Roman" pitchFamily="18" charset="0"/>
              </a:rPr>
              <a:t> Shared disk architecture is a loosely coupled architecture optimized for applications that are inherently centralized. </a:t>
            </a:r>
            <a:endParaRPr lang="en-US" b="1" dirty="0" smtClean="0">
              <a:latin typeface="Times New Roman" pitchFamily="18" charset="0"/>
              <a:cs typeface="Times New Roman" pitchFamily="18" charset="0"/>
            </a:endParaRPr>
          </a:p>
        </p:txBody>
      </p:sp>
      <p:pic>
        <p:nvPicPr>
          <p:cNvPr id="10" name="Picture 9" descr="Lightbox"/>
          <p:cNvPicPr/>
          <p:nvPr/>
        </p:nvPicPr>
        <p:blipFill>
          <a:blip r:embed="rId4"/>
          <a:srcRect/>
          <a:stretch>
            <a:fillRect/>
          </a:stretch>
        </p:blipFill>
        <p:spPr bwMode="auto">
          <a:xfrm>
            <a:off x="2743200" y="3630705"/>
            <a:ext cx="4419600" cy="2819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86287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Shared Disk Architecture</a:t>
            </a:r>
          </a:p>
          <a:p>
            <a:pPr lvl="0" algn="just"/>
            <a:r>
              <a:rPr lang="en-US" sz="2000" dirty="0" smtClean="0">
                <a:latin typeface="Times New Roman" pitchFamily="18" charset="0"/>
                <a:cs typeface="Times New Roman" pitchFamily="18" charset="0"/>
              </a:rPr>
              <a:t> </a:t>
            </a:r>
            <a:endParaRPr lang="en-US" altLang="zh-CN"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Advantages:</a:t>
            </a:r>
            <a:endParaRPr lang="en-US" dirty="0" smtClean="0">
              <a:latin typeface="Times New Roman" pitchFamily="18" charset="0"/>
              <a:cs typeface="Times New Roman" pitchFamily="18" charset="0"/>
            </a:endParaRPr>
          </a:p>
          <a:p>
            <a:pPr lvl="1" algn="just" fontAlgn="base">
              <a:buFont typeface="Wingdings" pitchFamily="2" charset="2"/>
              <a:buChar char="ü"/>
            </a:pPr>
            <a:r>
              <a:rPr lang="en-US" dirty="0" smtClean="0">
                <a:latin typeface="Times New Roman" pitchFamily="18" charset="0"/>
                <a:cs typeface="Times New Roman" pitchFamily="18" charset="0"/>
              </a:rPr>
              <a:t> The interconnection network is no longer a bottleneck each CPU has its own memory.</a:t>
            </a:r>
          </a:p>
          <a:p>
            <a:pPr lvl="1" algn="just" fontAlgn="base">
              <a:buFont typeface="Wingdings" pitchFamily="2" charset="2"/>
              <a:buChar char="ü"/>
            </a:pPr>
            <a:r>
              <a:rPr lang="en-US" dirty="0" smtClean="0">
                <a:latin typeface="Times New Roman" pitchFamily="18" charset="0"/>
                <a:cs typeface="Times New Roman" pitchFamily="18" charset="0"/>
              </a:rPr>
              <a:t> Load-balancing is easier in shared disk architecture.</a:t>
            </a:r>
          </a:p>
          <a:p>
            <a:pPr lvl="1" algn="just" fontAlgn="base">
              <a:buFont typeface="Wingdings" pitchFamily="2" charset="2"/>
              <a:buChar char="ü"/>
            </a:pPr>
            <a:r>
              <a:rPr lang="en-US" dirty="0" smtClean="0">
                <a:latin typeface="Times New Roman" pitchFamily="18" charset="0"/>
                <a:cs typeface="Times New Roman" pitchFamily="18" charset="0"/>
              </a:rPr>
              <a:t> There is better fault tolerance.</a:t>
            </a:r>
          </a:p>
          <a:p>
            <a:pPr lvl="1" algn="just" fontAlgn="base">
              <a:buFont typeface="Wingdings" pitchFamily="2" charset="2"/>
              <a:buChar char="ü"/>
            </a:pPr>
            <a:r>
              <a:rPr lang="en-US" dirty="0" smtClean="0">
                <a:latin typeface="Times New Roman" pitchFamily="18" charset="0"/>
                <a:cs typeface="Times New Roman" pitchFamily="18" charset="0"/>
              </a:rPr>
              <a:t> High extensibility and easy migration from centralized systems.</a:t>
            </a:r>
          </a:p>
          <a:p>
            <a:pPr algn="just" fontAlgn="base"/>
            <a:r>
              <a:rPr lang="en-US" dirty="0" smtClean="0">
                <a:latin typeface="Times New Roman" pitchFamily="18" charset="0"/>
                <a:cs typeface="Times New Roman" pitchFamily="18" charset="0"/>
              </a:rPr>
              <a:t> </a:t>
            </a:r>
          </a:p>
          <a:p>
            <a:pPr algn="just" fontAlgn="base"/>
            <a:r>
              <a:rPr lang="en-US" b="1" dirty="0" smtClean="0">
                <a:latin typeface="Times New Roman" pitchFamily="18" charset="0"/>
                <a:cs typeface="Times New Roman" pitchFamily="18" charset="0"/>
              </a:rPr>
              <a:t>Disadvantages:</a:t>
            </a:r>
            <a:endParaRPr lang="en-US" dirty="0" smtClean="0">
              <a:latin typeface="Times New Roman" pitchFamily="18" charset="0"/>
              <a:cs typeface="Times New Roman" pitchFamily="18" charset="0"/>
            </a:endParaRPr>
          </a:p>
          <a:p>
            <a:pPr lvl="1" algn="just" fontAlgn="base">
              <a:buFont typeface="Wingdings" pitchFamily="2" charset="2"/>
              <a:buChar char="ü"/>
            </a:pPr>
            <a:r>
              <a:rPr lang="en-US" dirty="0" smtClean="0">
                <a:latin typeface="Times New Roman" pitchFamily="18" charset="0"/>
                <a:cs typeface="Times New Roman" pitchFamily="18" charset="0"/>
              </a:rPr>
              <a:t> If the number of CPUs increases, the problems of interference and memory contentions also increase.</a:t>
            </a:r>
          </a:p>
          <a:p>
            <a:pPr lvl="1" algn="just" fontAlgn="base">
              <a:buFont typeface="Wingdings" pitchFamily="2" charset="2"/>
              <a:buChar char="ü"/>
            </a:pPr>
            <a:r>
              <a:rPr lang="en-US" dirty="0" smtClean="0">
                <a:latin typeface="Times New Roman" pitchFamily="18" charset="0"/>
                <a:cs typeface="Times New Roman" pitchFamily="18" charset="0"/>
              </a:rPr>
              <a:t> There’s also exists a scalability problem.</a:t>
            </a:r>
          </a:p>
          <a:p>
            <a:pPr lvl="1" algn="just" fontAlgn="base">
              <a:buFont typeface="Wingdings" pitchFamily="2" charset="2"/>
              <a:buChar char="ü"/>
            </a:pPr>
            <a:r>
              <a:rPr lang="en-US" dirty="0" smtClean="0">
                <a:latin typeface="Times New Roman" pitchFamily="18" charset="0"/>
                <a:cs typeface="Times New Roman" pitchFamily="18" charset="0"/>
              </a:rPr>
              <a:t> Higher complexity</a:t>
            </a:r>
          </a:p>
          <a:p>
            <a:pPr algn="just"/>
            <a:r>
              <a:rPr lang="en-US" b="1"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Example: </a:t>
            </a:r>
            <a:r>
              <a:rPr lang="en-US" dirty="0" smtClean="0">
                <a:latin typeface="Times New Roman" pitchFamily="18" charset="0"/>
                <a:cs typeface="Times New Roman" pitchFamily="18" charset="0"/>
              </a:rPr>
              <a:t>IBM’s IMS/VS and DEC’s VAX DBMS.</a:t>
            </a:r>
          </a:p>
          <a:p>
            <a:pPr lvl="0" algn="just">
              <a:buFont typeface="Wingdings" pitchFamily="2" charset="2"/>
              <a:buChar char="Ø"/>
            </a:pPr>
            <a:endParaRPr lang="en-US"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264687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Shared Nothing Architecture</a:t>
            </a:r>
          </a:p>
          <a:p>
            <a:pPr lvl="0" algn="just">
              <a:buFont typeface="Wingdings" pitchFamily="2" charset="2"/>
              <a:buChar char="Ø"/>
            </a:pPr>
            <a:r>
              <a:rPr lang="en-US" sz="2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Multiple processor architecture in which each processor has its own memory and disk storage. </a:t>
            </a:r>
          </a:p>
          <a:p>
            <a:pPr lvl="0" algn="just">
              <a:buFont typeface="Wingdings" pitchFamily="2" charset="2"/>
              <a:buChar char="Ø"/>
            </a:pPr>
            <a:r>
              <a:rPr lang="en-US" dirty="0" smtClean="0">
                <a:latin typeface="Times New Roman" pitchFamily="18" charset="0"/>
                <a:cs typeface="Times New Roman" pitchFamily="18" charset="0"/>
              </a:rPr>
              <a:t> No two CPUs can access the same disk area. In this architecture, no sharing of memory or disk resources is done. It is also known as </a:t>
            </a:r>
            <a:r>
              <a:rPr lang="en-US" b="1" dirty="0" smtClean="0">
                <a:latin typeface="Times New Roman" pitchFamily="18" charset="0"/>
                <a:cs typeface="Times New Roman" pitchFamily="18" charset="0"/>
              </a:rPr>
              <a:t>Massively parallel processing (MPP).</a:t>
            </a:r>
          </a:p>
          <a:p>
            <a:pPr lvl="0" algn="just">
              <a:buFont typeface="Wingdings" pitchFamily="2" charset="2"/>
              <a:buChar char="Ø"/>
            </a:pP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Similar to shared-disk, each processor is under the control of its own copy of the operating system. Then, each node can be viewed as a local site in a distributed database system</a:t>
            </a:r>
          </a:p>
        </p:txBody>
      </p:sp>
      <p:pic>
        <p:nvPicPr>
          <p:cNvPr id="10" name="Picture 9" descr="https://media.geeksforgeeks.org/wp-content/uploads/20210615201343/14.PNG"/>
          <p:cNvPicPr/>
          <p:nvPr/>
        </p:nvPicPr>
        <p:blipFill>
          <a:blip r:embed="rId4"/>
          <a:srcRect/>
          <a:stretch>
            <a:fillRect/>
          </a:stretch>
        </p:blipFill>
        <p:spPr bwMode="auto">
          <a:xfrm>
            <a:off x="3810000" y="3733800"/>
            <a:ext cx="4288848" cy="253191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427809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Shared Nothing Architecture</a:t>
            </a:r>
          </a:p>
          <a:p>
            <a:pPr lvl="0" algn="just"/>
            <a:endParaRPr lang="en-US" dirty="0" smtClean="0">
              <a:latin typeface="Times New Roman" pitchFamily="18" charset="0"/>
              <a:cs typeface="Times New Roman" pitchFamily="18" charset="0"/>
            </a:endParaRPr>
          </a:p>
          <a:p>
            <a:pPr algn="just" fontAlgn="base"/>
            <a:r>
              <a:rPr lang="en-US" b="1" dirty="0" smtClean="0">
                <a:latin typeface="Times New Roman" pitchFamily="18" charset="0"/>
                <a:cs typeface="Times New Roman" pitchFamily="18" charset="0"/>
              </a:rPr>
              <a:t>Advantages:</a:t>
            </a:r>
            <a:endParaRPr lang="en-US" dirty="0" smtClean="0">
              <a:latin typeface="Times New Roman" pitchFamily="18" charset="0"/>
              <a:cs typeface="Times New Roman" pitchFamily="18" charset="0"/>
            </a:endParaRPr>
          </a:p>
          <a:p>
            <a:pPr lvl="1" algn="just" fontAlgn="base">
              <a:buFont typeface="Wingdings" pitchFamily="2" charset="2"/>
              <a:buChar char="ü"/>
            </a:pPr>
            <a:r>
              <a:rPr lang="en-US" dirty="0" smtClean="0">
                <a:latin typeface="Times New Roman" pitchFamily="18" charset="0"/>
                <a:cs typeface="Times New Roman" pitchFamily="18" charset="0"/>
              </a:rPr>
              <a:t> It has better scalability as no sharing of resources is done</a:t>
            </a:r>
          </a:p>
          <a:p>
            <a:pPr lvl="1" algn="just" fontAlgn="base">
              <a:buFont typeface="Wingdings" pitchFamily="2" charset="2"/>
              <a:buChar char="ü"/>
            </a:pPr>
            <a:r>
              <a:rPr lang="en-US" dirty="0" smtClean="0">
                <a:latin typeface="Times New Roman" pitchFamily="18" charset="0"/>
                <a:cs typeface="Times New Roman" pitchFamily="18" charset="0"/>
              </a:rPr>
              <a:t> Multiple CPUs can be added</a:t>
            </a:r>
          </a:p>
          <a:p>
            <a:pPr lvl="1" algn="just" fontAlgn="base">
              <a:buFont typeface="Wingdings" pitchFamily="2" charset="2"/>
              <a:buChar char="ü"/>
            </a:pPr>
            <a:r>
              <a:rPr lang="en-US" dirty="0" smtClean="0">
                <a:latin typeface="Times New Roman" pitchFamily="18" charset="0"/>
                <a:cs typeface="Times New Roman" pitchFamily="18" charset="0"/>
              </a:rPr>
              <a:t> Lower cost, high extensibility, and high availability.</a:t>
            </a:r>
          </a:p>
          <a:p>
            <a:pPr algn="just" fontAlgn="base"/>
            <a:r>
              <a:rPr lang="en-US" dirty="0" smtClean="0">
                <a:latin typeface="Times New Roman" pitchFamily="18" charset="0"/>
                <a:cs typeface="Times New Roman" pitchFamily="18" charset="0"/>
              </a:rPr>
              <a:t> </a:t>
            </a:r>
          </a:p>
          <a:p>
            <a:pPr algn="just" fontAlgn="base"/>
            <a:r>
              <a:rPr lang="en-US" b="1" dirty="0" smtClean="0">
                <a:latin typeface="Times New Roman" pitchFamily="18" charset="0"/>
                <a:cs typeface="Times New Roman" pitchFamily="18" charset="0"/>
              </a:rPr>
              <a:t>Disadvantages:</a:t>
            </a:r>
            <a:endParaRPr lang="en-US" dirty="0" smtClean="0">
              <a:latin typeface="Times New Roman" pitchFamily="18" charset="0"/>
              <a:cs typeface="Times New Roman" pitchFamily="18" charset="0"/>
            </a:endParaRPr>
          </a:p>
          <a:p>
            <a:pPr lvl="1" algn="just" fontAlgn="base">
              <a:buFont typeface="Wingdings" pitchFamily="2" charset="2"/>
              <a:buChar char="ü"/>
            </a:pPr>
            <a:r>
              <a:rPr lang="en-US" dirty="0" smtClean="0">
                <a:latin typeface="Times New Roman" pitchFamily="18" charset="0"/>
                <a:cs typeface="Times New Roman" pitchFamily="18" charset="0"/>
              </a:rPr>
              <a:t> Much more complex to manage</a:t>
            </a:r>
          </a:p>
          <a:p>
            <a:pPr lvl="1" algn="just" fontAlgn="base">
              <a:buFont typeface="Wingdings" pitchFamily="2" charset="2"/>
              <a:buChar char="ü"/>
            </a:pPr>
            <a:r>
              <a:rPr lang="en-US" dirty="0" smtClean="0">
                <a:latin typeface="Times New Roman" pitchFamily="18" charset="0"/>
                <a:cs typeface="Times New Roman" pitchFamily="18" charset="0"/>
              </a:rPr>
              <a:t> The cost of communications is higher as it involves sending of data and software interaction at both ends</a:t>
            </a:r>
          </a:p>
          <a:p>
            <a:pPr lvl="1" algn="just" fontAlgn="base">
              <a:buFont typeface="Wingdings" pitchFamily="2" charset="2"/>
              <a:buChar char="ü"/>
            </a:pPr>
            <a:r>
              <a:rPr lang="en-US" dirty="0" smtClean="0">
                <a:latin typeface="Times New Roman" pitchFamily="18" charset="0"/>
                <a:cs typeface="Times New Roman" pitchFamily="18" charset="0"/>
              </a:rPr>
              <a:t> The cost of non-local disk access is higher than the cost of shared disk architectures.</a:t>
            </a:r>
          </a:p>
          <a:p>
            <a:pPr algn="just"/>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Example:</a:t>
            </a:r>
            <a:r>
              <a:rPr lang="en-US" dirty="0" smtClean="0">
                <a:latin typeface="Times New Roman" pitchFamily="18" charset="0"/>
                <a:cs typeface="Times New Roman" pitchFamily="18" charset="0"/>
              </a:rPr>
              <a:t> BUBBA, EDS, GAMMA, GRACE, and PRISMA.</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19200"/>
            <a:ext cx="7239000" cy="200054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Hierarchical Architecture (Hybrid architecture)</a:t>
            </a:r>
            <a:endParaRPr lang="en-US" sz="2000" dirty="0" smtClean="0">
              <a:latin typeface="Times New Roman" pitchFamily="18" charset="0"/>
              <a:cs typeface="Times New Roman" pitchFamily="18" charset="0"/>
            </a:endParaRPr>
          </a:p>
          <a:p>
            <a:pPr lvl="0" algn="just" fontAlgn="base"/>
            <a:endParaRPr lang="en-US" sz="2000" dirty="0" smtClean="0">
              <a:latin typeface="Times New Roman" pitchFamily="18" charset="0"/>
              <a:cs typeface="Times New Roman" pitchFamily="18" charset="0"/>
            </a:endParaRPr>
          </a:p>
          <a:p>
            <a:pPr lvl="0" algn="just" fontAlgn="base">
              <a:buFont typeface="Wingdings" pitchFamily="2" charset="2"/>
              <a:buChar char="Ø"/>
            </a:pPr>
            <a:r>
              <a:rPr lang="en-US" sz="2000" dirty="0" smtClean="0">
                <a:latin typeface="Times New Roman" pitchFamily="18" charset="0"/>
                <a:cs typeface="Times New Roman" pitchFamily="18" charset="0"/>
              </a:rPr>
              <a:t> This architecture is a combination of shared disk, shared memory and shared nothing architectures. </a:t>
            </a:r>
          </a:p>
          <a:p>
            <a:pPr lvl="0" algn="just" fontAlgn="base">
              <a:buFont typeface="Wingdings" pitchFamily="2" charset="2"/>
              <a:buChar char="Ø"/>
            </a:pPr>
            <a:r>
              <a:rPr lang="en-US" sz="2000" dirty="0" smtClean="0">
                <a:latin typeface="Times New Roman" pitchFamily="18" charset="0"/>
                <a:cs typeface="Times New Roman" pitchFamily="18" charset="0"/>
              </a:rPr>
              <a:t> This architecture is scalable due to availability of more memory and many processors.</a:t>
            </a:r>
          </a:p>
        </p:txBody>
      </p:sp>
      <p:pic>
        <p:nvPicPr>
          <p:cNvPr id="10" name="Picture 9" descr="IMAGE0003"/>
          <p:cNvPicPr/>
          <p:nvPr/>
        </p:nvPicPr>
        <p:blipFill>
          <a:blip r:embed="rId4" cstate="print"/>
          <a:srcRect/>
          <a:stretch>
            <a:fillRect/>
          </a:stretch>
        </p:blipFill>
        <p:spPr bwMode="auto">
          <a:xfrm>
            <a:off x="1981200" y="3352800"/>
            <a:ext cx="5562600" cy="27362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19200"/>
            <a:ext cx="7239000" cy="44627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Hierarchical Architecture (Hybrid architecture)</a:t>
            </a:r>
            <a:endParaRPr lang="en-US" sz="2000" dirty="0" smtClean="0">
              <a:latin typeface="Times New Roman" pitchFamily="18" charset="0"/>
              <a:cs typeface="Times New Roman" pitchFamily="18" charset="0"/>
            </a:endParaRPr>
          </a:p>
          <a:p>
            <a:pPr lvl="0" algn="just" fontAlgn="base"/>
            <a:endParaRPr lang="en-US" sz="2000" dirty="0" smtClean="0">
              <a:latin typeface="Times New Roman" pitchFamily="18" charset="0"/>
              <a:cs typeface="Times New Roman" pitchFamily="18" charset="0"/>
            </a:endParaRPr>
          </a:p>
          <a:p>
            <a:pPr lvl="0" algn="just" fontAlgn="base"/>
            <a:r>
              <a:rPr lang="en-US" sz="2000" b="1" dirty="0" smtClean="0">
                <a:latin typeface="Times New Roman" pitchFamily="18" charset="0"/>
                <a:cs typeface="Times New Roman" pitchFamily="18" charset="0"/>
              </a:rPr>
              <a:t>Advantages:</a:t>
            </a:r>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dirty="0" smtClean="0">
                <a:latin typeface="Times New Roman" pitchFamily="18" charset="0"/>
                <a:cs typeface="Times New Roman" pitchFamily="18" charset="0"/>
              </a:rPr>
              <a:t> Load balancing is easy</a:t>
            </a:r>
          </a:p>
          <a:p>
            <a:pPr lvl="1" algn="just">
              <a:buFont typeface="Wingdings" pitchFamily="2" charset="2"/>
              <a:buChar char="ü"/>
            </a:pPr>
            <a:r>
              <a:rPr lang="en-US" sz="2000" dirty="0" smtClean="0">
                <a:latin typeface="Times New Roman" pitchFamily="18" charset="0"/>
                <a:cs typeface="Times New Roman" pitchFamily="18" charset="0"/>
              </a:rPr>
              <a:t> Increases performance</a:t>
            </a:r>
          </a:p>
          <a:p>
            <a:pPr algn="just"/>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Disadvantages:</a:t>
            </a:r>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dirty="0" smtClean="0">
                <a:latin typeface="Times New Roman" pitchFamily="18" charset="0"/>
                <a:cs typeface="Times New Roman" pitchFamily="18" charset="0"/>
              </a:rPr>
              <a:t> Costly compared to other architectures. </a:t>
            </a:r>
          </a:p>
          <a:p>
            <a:pPr lvl="1" algn="just">
              <a:buFont typeface="Wingdings" pitchFamily="2" charset="2"/>
              <a:buChar char="ü"/>
            </a:pPr>
            <a:r>
              <a:rPr lang="en-US" sz="2000" dirty="0" smtClean="0">
                <a:latin typeface="Times New Roman" pitchFamily="18" charset="0"/>
                <a:cs typeface="Times New Roman" pitchFamily="18" charset="0"/>
              </a:rPr>
              <a:t> Limited number of large nodes, e.g., 4 x 16 processor nodes</a:t>
            </a:r>
          </a:p>
          <a:p>
            <a:pPr lvl="1" algn="just">
              <a:buFont typeface="Wingdings" pitchFamily="2" charset="2"/>
              <a:buChar char="ü"/>
            </a:pPr>
            <a:r>
              <a:rPr lang="en-US" sz="2000" dirty="0" smtClean="0">
                <a:latin typeface="Times New Roman" pitchFamily="18" charset="0"/>
                <a:cs typeface="Times New Roman" pitchFamily="18" charset="0"/>
              </a:rPr>
              <a:t> High number of small nodes, e.g., 16 x 4 processor nodes.</a:t>
            </a:r>
          </a:p>
          <a:p>
            <a:pPr algn="just"/>
            <a:r>
              <a:rPr lang="en-US" sz="2000" dirty="0" smtClean="0">
                <a:latin typeface="Times New Roman" pitchFamily="18" charset="0"/>
                <a:cs typeface="Times New Roman" pitchFamily="18" charset="0"/>
              </a:rPr>
              <a:t> </a:t>
            </a:r>
          </a:p>
          <a:p>
            <a:pPr algn="just"/>
            <a:r>
              <a:rPr lang="en-US" sz="2000" b="1" dirty="0" smtClean="0">
                <a:latin typeface="Times New Roman" pitchFamily="18" charset="0"/>
                <a:cs typeface="Times New Roman" pitchFamily="18" charset="0"/>
              </a:rPr>
              <a:t>Example: NCR’s </a:t>
            </a:r>
            <a:r>
              <a:rPr lang="en-US" sz="2000" b="1" dirty="0" err="1" smtClean="0">
                <a:latin typeface="Times New Roman" pitchFamily="18" charset="0"/>
                <a:cs typeface="Times New Roman" pitchFamily="18" charset="0"/>
              </a:rPr>
              <a:t>Teradata</a:t>
            </a:r>
            <a:endParaRPr lang="en-US" sz="2000" dirty="0" smtClean="0">
              <a:latin typeface="Times New Roman" pitchFamily="18" charset="0"/>
              <a:cs typeface="Times New Roman" pitchFamily="18" charset="0"/>
            </a:endParaRPr>
          </a:p>
          <a:p>
            <a:pPr lvl="0" algn="just" fontAlgn="base">
              <a:buFont typeface="Wingdings" pitchFamily="2" charset="2"/>
              <a:buChar char="Ø"/>
            </a:pPr>
            <a:endParaRPr lang="en-US" sz="2000" dirty="0" smtClean="0">
              <a:latin typeface="Times New Roman" pitchFamily="18" charset="0"/>
              <a:cs typeface="Times New Roman" pitchFamily="18" charset="0"/>
            </a:endParaRPr>
          </a:p>
          <a:p>
            <a:pPr lvl="0" algn="just" fontAlgn="base">
              <a:buFont typeface="Wingdings" pitchFamily="2" charset="2"/>
              <a:buChar char="Ø"/>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4627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C</a:t>
            </a:r>
            <a:r>
              <a:rPr lang="en-US" sz="2000" b="1" dirty="0" smtClean="0">
                <a:latin typeface="Times New Roman" pitchFamily="18" charset="0"/>
                <a:cs typeface="Times New Roman" pitchFamily="18" charset="0"/>
              </a:rPr>
              <a:t>omponents of Parallel DBM Architecture</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 has three major components or subsystems.</a:t>
            </a:r>
          </a:p>
          <a:p>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Session Manager:</a:t>
            </a:r>
            <a:r>
              <a:rPr lang="en-US" sz="2000" dirty="0" smtClean="0">
                <a:latin typeface="Times New Roman" pitchFamily="18" charset="0"/>
                <a:cs typeface="Times New Roman" pitchFamily="18" charset="0"/>
              </a:rPr>
              <a:t> It performs the connections and disconnections between the client processes and the two other subsystems.</a:t>
            </a:r>
          </a:p>
          <a:p>
            <a:pPr algn="just"/>
            <a:r>
              <a:rPr lang="en-US" sz="2000" dirty="0" smtClean="0">
                <a:latin typeface="Times New Roman" pitchFamily="18" charset="0"/>
                <a:cs typeface="Times New Roman" pitchFamily="18" charset="0"/>
              </a:rPr>
              <a:t> </a:t>
            </a:r>
          </a:p>
          <a:p>
            <a:pPr algn="just"/>
            <a:r>
              <a:rPr lang="en-US" sz="2000" b="1" dirty="0" smtClean="0">
                <a:latin typeface="Times New Roman" pitchFamily="18" charset="0"/>
                <a:cs typeface="Times New Roman" pitchFamily="18" charset="0"/>
              </a:rPr>
              <a:t>Transaction Manager:</a:t>
            </a:r>
            <a:r>
              <a:rPr lang="en-US" sz="2000" dirty="0" smtClean="0">
                <a:latin typeface="Times New Roman" pitchFamily="18" charset="0"/>
                <a:cs typeface="Times New Roman" pitchFamily="18" charset="0"/>
              </a:rPr>
              <a:t> It receives client transactions related to query compilation and execution. It can access the database directory that holds all meta-information about data and programs. Depending on the transaction, it activates the various compilation phases, triggers query execution, and returns the results as well as error codes to the client application.</a:t>
            </a: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16927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C</a:t>
            </a:r>
            <a:r>
              <a:rPr lang="en-US" sz="2000" b="1" dirty="0" smtClean="0">
                <a:latin typeface="Times New Roman" pitchFamily="18" charset="0"/>
                <a:cs typeface="Times New Roman" pitchFamily="18" charset="0"/>
              </a:rPr>
              <a:t>omponents of Parallel DBM Architecture</a:t>
            </a: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Data Manager: </a:t>
            </a:r>
            <a:r>
              <a:rPr lang="en-US" sz="2000" dirty="0" smtClean="0">
                <a:latin typeface="Times New Roman" pitchFamily="18" charset="0"/>
                <a:cs typeface="Times New Roman" pitchFamily="18" charset="0"/>
              </a:rPr>
              <a:t>It provides all the low-level functions needed to run compiled queries in parallel.</a:t>
            </a:r>
          </a:p>
          <a:p>
            <a:r>
              <a:rPr lang="en-US" sz="2000" dirty="0" smtClean="0">
                <a:latin typeface="Times New Roman" pitchFamily="18" charset="0"/>
                <a:cs typeface="Times New Roman" pitchFamily="18" charset="0"/>
              </a:rPr>
              <a:t> </a:t>
            </a:r>
          </a:p>
        </p:txBody>
      </p:sp>
      <p:pic>
        <p:nvPicPr>
          <p:cNvPr id="1026" name="Picture 2"/>
          <p:cNvPicPr>
            <a:picLocks noChangeAspect="1" noChangeArrowheads="1"/>
          </p:cNvPicPr>
          <p:nvPr/>
        </p:nvPicPr>
        <p:blipFill>
          <a:blip r:embed="rId4"/>
          <a:srcRect/>
          <a:stretch>
            <a:fillRect/>
          </a:stretch>
        </p:blipFill>
        <p:spPr bwMode="auto">
          <a:xfrm>
            <a:off x="1828800" y="2971800"/>
            <a:ext cx="5410200" cy="331989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77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Types of Database Parallelism</a:t>
            </a:r>
            <a:endParaRPr lang="en-US" sz="2000"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Parallelism is used to support speedup, where queries are executed faster because more resources, such as processors and disks, are provided. </a:t>
            </a:r>
          </a:p>
          <a:p>
            <a:pPr lvl="0" algn="just">
              <a:buFont typeface="Wingdings" pitchFamily="2" charset="2"/>
              <a:buChar char="Ø"/>
            </a:pPr>
            <a:r>
              <a:rPr lang="en-US" sz="2000" dirty="0" smtClean="0">
                <a:latin typeface="Times New Roman" pitchFamily="18" charset="0"/>
                <a:cs typeface="Times New Roman" pitchFamily="18" charset="0"/>
              </a:rPr>
              <a:t> Parallelism is also used to provide scale-up, where increasing workloads are managed without increase response-time, via an increase in the degree of parallelism.</a:t>
            </a:r>
          </a:p>
          <a:p>
            <a:pPr lvl="0" algn="just">
              <a:buFont typeface="Wingdings" pitchFamily="2" charset="2"/>
              <a:buChar char="Ø"/>
            </a:pPr>
            <a:r>
              <a:rPr lang="en-US" sz="2000" dirty="0" smtClean="0">
                <a:latin typeface="Times New Roman" pitchFamily="18" charset="0"/>
                <a:cs typeface="Times New Roman" pitchFamily="18" charset="0"/>
              </a:rPr>
              <a:t> We can achieve parallelism in a query by the following methods :</a:t>
            </a:r>
          </a:p>
          <a:p>
            <a:pPr algn="just" fontAlgn="base"/>
            <a:r>
              <a:rPr lang="en-US" sz="2000" dirty="0" smtClean="0">
                <a:latin typeface="Times New Roman" pitchFamily="18" charset="0"/>
                <a:cs typeface="Times New Roman" pitchFamily="18" charset="0"/>
              </a:rPr>
              <a:t> </a:t>
            </a:r>
          </a:p>
          <a:p>
            <a:pPr lvl="1" algn="just" fontAlgn="base"/>
            <a:r>
              <a:rPr lang="en-US" sz="2000" b="1" dirty="0" smtClean="0">
                <a:latin typeface="Times New Roman" pitchFamily="18" charset="0"/>
                <a:cs typeface="Times New Roman" pitchFamily="18" charset="0"/>
              </a:rPr>
              <a:t>I/O parallelism</a:t>
            </a:r>
          </a:p>
          <a:p>
            <a:pPr lvl="1" algn="just" fontAlgn="base"/>
            <a:r>
              <a:rPr lang="en-US" sz="2000" b="1" dirty="0" smtClean="0">
                <a:latin typeface="Times New Roman" pitchFamily="18" charset="0"/>
                <a:cs typeface="Times New Roman" pitchFamily="18" charset="0"/>
              </a:rPr>
              <a:t>Intra-query parallelism</a:t>
            </a:r>
          </a:p>
          <a:p>
            <a:pPr lvl="1" algn="just" fontAlgn="base"/>
            <a:r>
              <a:rPr lang="en-US" sz="2000" b="1" dirty="0" smtClean="0">
                <a:latin typeface="Times New Roman" pitchFamily="18" charset="0"/>
                <a:cs typeface="Times New Roman" pitchFamily="18" charset="0"/>
              </a:rPr>
              <a:t>Inter-query parallelism</a:t>
            </a:r>
          </a:p>
          <a:p>
            <a:pPr lvl="1" algn="just" fontAlgn="base"/>
            <a:r>
              <a:rPr lang="en-US" sz="2000" b="1" dirty="0" smtClean="0">
                <a:latin typeface="Times New Roman" pitchFamily="18" charset="0"/>
                <a:cs typeface="Times New Roman" pitchFamily="18" charset="0"/>
              </a:rPr>
              <a:t>Intra-operation parallelism</a:t>
            </a:r>
          </a:p>
          <a:p>
            <a:pPr lvl="1" algn="just" fontAlgn="base"/>
            <a:r>
              <a:rPr lang="en-US" sz="2000" b="1" dirty="0" smtClean="0">
                <a:latin typeface="Times New Roman" pitchFamily="18" charset="0"/>
                <a:cs typeface="Times New Roman" pitchFamily="18" charset="0"/>
              </a:rPr>
              <a:t>Inter-operation parallelism</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3396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I/O Parallelism (Data Partitioning)</a:t>
            </a:r>
            <a:endParaRPr lang="en-US" sz="2000"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lvl="0" algn="just">
              <a:buFont typeface="Wingdings" pitchFamily="2" charset="2"/>
              <a:buChar char="Ø"/>
            </a:pPr>
            <a:r>
              <a:rPr lang="en-US" sz="2000" dirty="0" smtClean="0">
                <a:latin typeface="Times New Roman" pitchFamily="18" charset="0"/>
                <a:cs typeface="Times New Roman" pitchFamily="18" charset="0"/>
              </a:rPr>
              <a:t> It is a form of parallelism in which the relations are partitioned on multiple disks to reduce the retrieval time of relations from the disk. </a:t>
            </a:r>
          </a:p>
          <a:p>
            <a:pPr lvl="0" algn="just">
              <a:buFont typeface="Wingdings" pitchFamily="2" charset="2"/>
              <a:buChar char="Ø"/>
            </a:pPr>
            <a:r>
              <a:rPr lang="en-US" sz="2000" dirty="0" smtClean="0">
                <a:latin typeface="Times New Roman" pitchFamily="18" charset="0"/>
                <a:cs typeface="Times New Roman" pitchFamily="18" charset="0"/>
              </a:rPr>
              <a:t> The data inputted is partitioned and then processing is done in parallel with each partition. </a:t>
            </a:r>
          </a:p>
          <a:p>
            <a:pPr lvl="0" algn="just">
              <a:buFont typeface="Wingdings" pitchFamily="2" charset="2"/>
              <a:buChar char="Ø"/>
            </a:pPr>
            <a:r>
              <a:rPr lang="en-US" sz="2000" dirty="0" smtClean="0">
                <a:latin typeface="Times New Roman" pitchFamily="18" charset="0"/>
                <a:cs typeface="Times New Roman" pitchFamily="18" charset="0"/>
              </a:rPr>
              <a:t> The results are merged after processing all the partitioned data. </a:t>
            </a:r>
          </a:p>
          <a:p>
            <a:pPr lvl="0" algn="just">
              <a:buFont typeface="Wingdings" pitchFamily="2" charset="2"/>
              <a:buChar char="Ø"/>
            </a:pPr>
            <a:r>
              <a:rPr lang="en-US" sz="2000" dirty="0" smtClean="0">
                <a:latin typeface="Times New Roman" pitchFamily="18" charset="0"/>
                <a:cs typeface="Times New Roman" pitchFamily="18" charset="0"/>
              </a:rPr>
              <a:t> It is also known as </a:t>
            </a:r>
            <a:r>
              <a:rPr lang="en-US" sz="2000" b="1" dirty="0" smtClean="0">
                <a:latin typeface="Times New Roman" pitchFamily="18" charset="0"/>
                <a:cs typeface="Times New Roman" pitchFamily="18" charset="0"/>
              </a:rPr>
              <a:t>Data-Partitioning</a:t>
            </a:r>
            <a:r>
              <a:rPr lang="en-US" sz="2000" dirty="0" smtClean="0">
                <a:latin typeface="Times New Roman" pitchFamily="18" charset="0"/>
                <a:cs typeface="Times New Roman" pitchFamily="18" charset="0"/>
              </a:rPr>
              <a:t>. </a:t>
            </a:r>
          </a:p>
          <a:p>
            <a:pPr lvl="0" algn="just">
              <a:buFont typeface="Wingdings" pitchFamily="2" charset="2"/>
              <a:buChar char="Ø"/>
            </a:pPr>
            <a:r>
              <a:rPr lang="en-US" sz="2000" dirty="0" smtClean="0">
                <a:latin typeface="Times New Roman" pitchFamily="18" charset="0"/>
                <a:cs typeface="Times New Roman" pitchFamily="18" charset="0"/>
              </a:rPr>
              <a:t> We have four types of data partitioning in I/O parallelism:</a:t>
            </a:r>
          </a:p>
          <a:p>
            <a:pPr marL="1314450" lvl="2" indent="-400050" algn="just">
              <a:buFont typeface="+mj-lt"/>
              <a:buAutoNum type="romanLcPeriod"/>
            </a:pPr>
            <a:r>
              <a:rPr lang="en-US" b="1" dirty="0" smtClean="0">
                <a:latin typeface="Times New Roman" pitchFamily="18" charset="0"/>
                <a:cs typeface="Times New Roman" pitchFamily="18" charset="0"/>
              </a:rPr>
              <a:t>Round-robin</a:t>
            </a:r>
          </a:p>
          <a:p>
            <a:pPr marL="1314450" lvl="2" indent="-400050" algn="just">
              <a:buFont typeface="+mj-lt"/>
              <a:buAutoNum type="romanLcPeriod"/>
            </a:pPr>
            <a:r>
              <a:rPr lang="en-US" b="1" dirty="0" smtClean="0">
                <a:latin typeface="Times New Roman" pitchFamily="18" charset="0"/>
                <a:cs typeface="Times New Roman" pitchFamily="18" charset="0"/>
              </a:rPr>
              <a:t>Hash </a:t>
            </a:r>
          </a:p>
          <a:p>
            <a:pPr marL="1314450" lvl="2" indent="-400050" algn="just">
              <a:buFont typeface="+mj-lt"/>
              <a:buAutoNum type="romanLcPeriod"/>
            </a:pPr>
            <a:r>
              <a:rPr lang="en-US" b="1" dirty="0" smtClean="0">
                <a:latin typeface="Times New Roman" pitchFamily="18" charset="0"/>
                <a:cs typeface="Times New Roman" pitchFamily="18" charset="0"/>
              </a:rPr>
              <a:t>Range partitioning and</a:t>
            </a:r>
          </a:p>
          <a:p>
            <a:pPr marL="1314450" lvl="2" indent="-400050" algn="just">
              <a:buFont typeface="+mj-lt"/>
              <a:buAutoNum type="romanLcPeriod"/>
            </a:pPr>
            <a:r>
              <a:rPr lang="en-US" b="1" dirty="0" smtClean="0">
                <a:latin typeface="Times New Roman" pitchFamily="18" charset="0"/>
                <a:cs typeface="Times New Roman" pitchFamily="18" charset="0"/>
              </a:rPr>
              <a:t>Schema partitioning</a:t>
            </a:r>
          </a:p>
          <a:p>
            <a:pPr lvl="0" algn="just">
              <a:buFont typeface="Wingdings" pitchFamily="2" charset="2"/>
              <a:buChar char="Ø"/>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52014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I/O Parallelism (Data Partitioning)</a:t>
            </a:r>
            <a:endParaRPr lang="en-US" sz="2000"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lvl="0" algn="just"/>
            <a:r>
              <a:rPr lang="en-US" b="1" dirty="0" smtClean="0">
                <a:latin typeface="Times New Roman" pitchFamily="18" charset="0"/>
                <a:cs typeface="Times New Roman" pitchFamily="18" charset="0"/>
              </a:rPr>
              <a:t>Round-robin:</a:t>
            </a:r>
          </a:p>
          <a:p>
            <a:pPr lvl="1" algn="just">
              <a:buFont typeface="Wingdings" pitchFamily="2" charset="2"/>
              <a:buChar char="ü"/>
            </a:pPr>
            <a:r>
              <a:rPr lang="en-US" dirty="0" smtClean="0">
                <a:latin typeface="Times New Roman" pitchFamily="18" charset="0"/>
                <a:cs typeface="Times New Roman" pitchFamily="18" charset="0"/>
              </a:rPr>
              <a:t> Round-robin partitioning is the simplest strategy. </a:t>
            </a:r>
          </a:p>
          <a:p>
            <a:pPr lvl="1" algn="just">
              <a:buFont typeface="Wingdings" pitchFamily="2" charset="2"/>
              <a:buChar char="ü"/>
            </a:pPr>
            <a:r>
              <a:rPr lang="en-US" dirty="0" smtClean="0">
                <a:latin typeface="Times New Roman" pitchFamily="18" charset="0"/>
                <a:cs typeface="Times New Roman" pitchFamily="18" charset="0"/>
              </a:rPr>
              <a:t> It ensures uniform data distribution. </a:t>
            </a:r>
          </a:p>
          <a:p>
            <a:pPr lvl="1" algn="just">
              <a:buFont typeface="Wingdings" pitchFamily="2" charset="2"/>
              <a:buChar char="ü"/>
            </a:pPr>
            <a:r>
              <a:rPr lang="en-US" dirty="0" smtClean="0">
                <a:latin typeface="Times New Roman" pitchFamily="18" charset="0"/>
                <a:cs typeface="Times New Roman" pitchFamily="18" charset="0"/>
              </a:rPr>
              <a:t> With </a:t>
            </a:r>
            <a:r>
              <a:rPr lang="en-US" i="1"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 partitions, the </a:t>
            </a:r>
            <a:r>
              <a:rPr lang="en-US" dirty="0" err="1" smtClean="0">
                <a:latin typeface="Times New Roman" pitchFamily="18" charset="0"/>
                <a:cs typeface="Times New Roman" pitchFamily="18" charset="0"/>
              </a:rPr>
              <a:t>i</a:t>
            </a:r>
            <a:r>
              <a:rPr lang="en-US" i="1" dirty="0" err="1" smtClean="0">
                <a:latin typeface="Times New Roman" pitchFamily="18" charset="0"/>
                <a:cs typeface="Times New Roman" pitchFamily="18" charset="0"/>
              </a:rPr>
              <a:t>th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tuple</a:t>
            </a:r>
            <a:r>
              <a:rPr lang="en-US" dirty="0" smtClean="0">
                <a:latin typeface="Times New Roman" pitchFamily="18" charset="0"/>
                <a:cs typeface="Times New Roman" pitchFamily="18" charset="0"/>
              </a:rPr>
              <a:t> in insertion order is assigned to partition (</a:t>
            </a:r>
            <a:r>
              <a:rPr lang="en-US" i="1" dirty="0" err="1" smtClean="0">
                <a:latin typeface="Times New Roman" pitchFamily="18" charset="0"/>
                <a:cs typeface="Times New Roman" pitchFamily="18" charset="0"/>
              </a:rPr>
              <a:t>i</a:t>
            </a:r>
            <a:r>
              <a:rPr lang="en-US" dirty="0" smtClean="0">
                <a:latin typeface="Times New Roman" pitchFamily="18" charset="0"/>
                <a:cs typeface="Times New Roman" pitchFamily="18" charset="0"/>
              </a:rPr>
              <a:t> mod </a:t>
            </a:r>
            <a:r>
              <a:rPr lang="en-US" i="1" dirty="0" smtClean="0">
                <a:latin typeface="Times New Roman" pitchFamily="18" charset="0"/>
                <a:cs typeface="Times New Roman" pitchFamily="18" charset="0"/>
              </a:rPr>
              <a:t>n</a:t>
            </a:r>
            <a:r>
              <a:rPr lang="en-US" dirty="0" smtClean="0">
                <a:latin typeface="Times New Roman" pitchFamily="18" charset="0"/>
                <a:cs typeface="Times New Roman" pitchFamily="18" charset="0"/>
              </a:rPr>
              <a:t>).</a:t>
            </a:r>
          </a:p>
          <a:p>
            <a:pPr algn="just"/>
            <a:endParaRPr lang="en-US"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Hash: </a:t>
            </a:r>
          </a:p>
          <a:p>
            <a:pPr lvl="1" algn="just">
              <a:buFont typeface="Wingdings" pitchFamily="2" charset="2"/>
              <a:buChar char="ü"/>
            </a:pPr>
            <a:r>
              <a:rPr lang="en-US" b="1" dirty="0" smtClean="0">
                <a:latin typeface="Times New Roman" pitchFamily="18" charset="0"/>
                <a:cs typeface="Times New Roman" pitchFamily="18" charset="0"/>
              </a:rPr>
              <a:t> Hash partitioning</a:t>
            </a:r>
            <a:r>
              <a:rPr lang="en-US" dirty="0" smtClean="0">
                <a:latin typeface="Times New Roman" pitchFamily="18" charset="0"/>
                <a:cs typeface="Times New Roman" pitchFamily="18" charset="0"/>
              </a:rPr>
              <a:t> applies a hash function to some attribute that yields the partition number. </a:t>
            </a:r>
          </a:p>
          <a:p>
            <a:pPr lvl="1" algn="just">
              <a:buFont typeface="Wingdings" pitchFamily="2" charset="2"/>
              <a:buChar char="ü"/>
            </a:pPr>
            <a:r>
              <a:rPr lang="en-US" dirty="0" smtClean="0">
                <a:latin typeface="Times New Roman" pitchFamily="18" charset="0"/>
                <a:cs typeface="Times New Roman" pitchFamily="18" charset="0"/>
              </a:rPr>
              <a:t> This strategy allows exact-match queries on the selection attribute to be processed by exactly one node and all other queries to be processed by all the nodes in parallel.</a:t>
            </a:r>
          </a:p>
          <a:p>
            <a:pPr lvl="1" algn="just">
              <a:buFont typeface="Wingdings" pitchFamily="2" charset="2"/>
              <a:buChar char="ü"/>
            </a:pPr>
            <a:r>
              <a:rPr lang="en-US" dirty="0" smtClean="0">
                <a:latin typeface="Times New Roman" pitchFamily="18" charset="0"/>
                <a:cs typeface="Times New Roman" pitchFamily="18" charset="0"/>
              </a:rPr>
              <a:t> For example, there are 4 disks </a:t>
            </a:r>
            <a:r>
              <a:rPr lang="en-US" i="1" dirty="0" smtClean="0">
                <a:latin typeface="Times New Roman" pitchFamily="18" charset="0"/>
                <a:cs typeface="Times New Roman" pitchFamily="18" charset="0"/>
              </a:rPr>
              <a:t>disk1, disk2, disk3,</a:t>
            </a:r>
            <a:r>
              <a:rPr lang="en-US" dirty="0" smtClean="0">
                <a:latin typeface="Times New Roman" pitchFamily="18" charset="0"/>
                <a:cs typeface="Times New Roman" pitchFamily="18" charset="0"/>
              </a:rPr>
              <a:t> and </a:t>
            </a:r>
            <a:r>
              <a:rPr lang="en-US" i="1" dirty="0" smtClean="0">
                <a:latin typeface="Times New Roman" pitchFamily="18" charset="0"/>
                <a:cs typeface="Times New Roman" pitchFamily="18" charset="0"/>
              </a:rPr>
              <a:t>disk4</a:t>
            </a:r>
            <a:r>
              <a:rPr lang="en-US" dirty="0" smtClean="0">
                <a:latin typeface="Times New Roman" pitchFamily="18" charset="0"/>
                <a:cs typeface="Times New Roman" pitchFamily="18" charset="0"/>
              </a:rPr>
              <a:t> through which the data is to be partitioned. Now if the hash function returns 3, then the row is placed on </a:t>
            </a:r>
            <a:r>
              <a:rPr lang="en-US" i="1" dirty="0" smtClean="0">
                <a:latin typeface="Times New Roman" pitchFamily="18" charset="0"/>
                <a:cs typeface="Times New Roman" pitchFamily="18" charset="0"/>
              </a:rPr>
              <a:t>disk3</a:t>
            </a:r>
            <a:r>
              <a:rPr lang="en-US" dirty="0" smtClean="0">
                <a:latin typeface="Times New Roman" pitchFamily="18" charset="0"/>
                <a:cs typeface="Times New Roman" pitchFamily="18" charset="0"/>
              </a:rPr>
              <a:t>.</a:t>
            </a:r>
          </a:p>
          <a:p>
            <a:pPr lvl="0" algn="just">
              <a:buFont typeface="Wingdings" pitchFamily="2" charset="2"/>
              <a:buChar char="Ø"/>
            </a:pPr>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38164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I/O Parallelism (Data Partitioning)</a:t>
            </a:r>
          </a:p>
          <a:p>
            <a:pPr lvl="0" algn="just" fontAlgn="base">
              <a:spcBef>
                <a:spcPct val="0"/>
              </a:spcBef>
              <a:spcAft>
                <a:spcPct val="0"/>
              </a:spcAft>
            </a:pPr>
            <a:endParaRPr lang="en-US" sz="2000" b="1" dirty="0" smtClean="0">
              <a:latin typeface="Times New Roman" pitchFamily="18" charset="0"/>
              <a:cs typeface="Times New Roman" pitchFamily="18" charset="0"/>
            </a:endParaRPr>
          </a:p>
          <a:p>
            <a:pPr lvl="0" algn="just" fontAlgn="base">
              <a:spcBef>
                <a:spcPct val="0"/>
              </a:spcBef>
              <a:spcAft>
                <a:spcPct val="0"/>
              </a:spcAft>
            </a:pPr>
            <a:r>
              <a:rPr lang="en-US" b="1" dirty="0" smtClean="0">
                <a:latin typeface="Times New Roman" pitchFamily="18" charset="0"/>
                <a:cs typeface="Times New Roman" pitchFamily="18" charset="0"/>
              </a:rPr>
              <a:t>Range partitioning:</a:t>
            </a:r>
          </a:p>
          <a:p>
            <a:pPr lvl="1" algn="just">
              <a:buFont typeface="Wingdings" pitchFamily="2" charset="2"/>
              <a:buChar char="ü"/>
            </a:pPr>
            <a:r>
              <a:rPr lang="en-US" b="1" dirty="0" smtClean="0">
                <a:latin typeface="Times New Roman" pitchFamily="18" charset="0"/>
                <a:cs typeface="Times New Roman" pitchFamily="18" charset="0"/>
              </a:rPr>
              <a:t> Range partitioning</a:t>
            </a:r>
            <a:r>
              <a:rPr lang="en-US" dirty="0" smtClean="0">
                <a:latin typeface="Times New Roman" pitchFamily="18" charset="0"/>
                <a:cs typeface="Times New Roman" pitchFamily="18" charset="0"/>
              </a:rPr>
              <a:t> distributes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 based on the value intervals of some attribute. </a:t>
            </a:r>
          </a:p>
          <a:p>
            <a:pPr lvl="1" algn="just">
              <a:buFont typeface="Wingdings" pitchFamily="2" charset="2"/>
              <a:buChar char="ü"/>
            </a:pPr>
            <a:r>
              <a:rPr lang="en-US" dirty="0" smtClean="0">
                <a:latin typeface="Times New Roman" pitchFamily="18" charset="0"/>
                <a:cs typeface="Times New Roman" pitchFamily="18" charset="0"/>
              </a:rPr>
              <a:t> It is well-suited for range queries. </a:t>
            </a:r>
          </a:p>
          <a:p>
            <a:pPr lvl="1" algn="just">
              <a:buFont typeface="Wingdings" pitchFamily="2" charset="2"/>
              <a:buChar char="ü"/>
            </a:pPr>
            <a:r>
              <a:rPr lang="en-US" dirty="0" smtClean="0">
                <a:latin typeface="Times New Roman" pitchFamily="18" charset="0"/>
                <a:cs typeface="Times New Roman" pitchFamily="18" charset="0"/>
              </a:rPr>
              <a:t> However, range partitioning can result in high variation in partition size.</a:t>
            </a:r>
          </a:p>
          <a:p>
            <a:pPr lvl="1" algn="just">
              <a:buFont typeface="Wingdings" pitchFamily="2" charset="2"/>
              <a:buChar char="ü"/>
            </a:pPr>
            <a:r>
              <a:rPr lang="en-US" dirty="0" smtClean="0">
                <a:latin typeface="Times New Roman" pitchFamily="18" charset="0"/>
                <a:cs typeface="Times New Roman" pitchFamily="18" charset="0"/>
              </a:rPr>
              <a:t> For example, we have 3 disks numbered 0, 1, and 2 in range partitioning, and may assign relation with a value that is less than 5 to disk0, values between 5-40 to disk1, and values that are greater than 40 to disk2.</a:t>
            </a:r>
            <a:endParaRPr lang="en-US"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387798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I/O Parallelism (Data Partitioning)</a:t>
            </a:r>
          </a:p>
          <a:p>
            <a:pPr lvl="0" algn="just" fontAlgn="base">
              <a:spcBef>
                <a:spcPct val="0"/>
              </a:spcBef>
              <a:spcAft>
                <a:spcPct val="0"/>
              </a:spcAft>
            </a:pPr>
            <a:endParaRPr lang="en-US" sz="2000"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a:p>
            <a:pPr lvl="0" algn="just" fontAlgn="base">
              <a:spcBef>
                <a:spcPct val="0"/>
              </a:spcBef>
              <a:spcAft>
                <a:spcPct val="0"/>
              </a:spcAft>
            </a:pPr>
            <a:endParaRPr lang="en-US" b="1" dirty="0" smtClean="0">
              <a:latin typeface="Times New Roman" pitchFamily="18" charset="0"/>
              <a:cs typeface="Times New Roman" pitchFamily="18" charset="0"/>
            </a:endParaRPr>
          </a:p>
          <a:p>
            <a:pPr lvl="0" algn="just" fontAlgn="base">
              <a:spcBef>
                <a:spcPct val="0"/>
              </a:spcBef>
              <a:spcAft>
                <a:spcPct val="0"/>
              </a:spcAft>
            </a:pPr>
            <a:r>
              <a:rPr lang="en-US" b="1" dirty="0" smtClean="0">
                <a:latin typeface="Times New Roman" pitchFamily="18" charset="0"/>
                <a:cs typeface="Times New Roman" pitchFamily="18" charset="0"/>
              </a:rPr>
              <a:t>Schema partitioning:</a:t>
            </a:r>
          </a:p>
          <a:p>
            <a:pPr lvl="1" algn="just">
              <a:buFont typeface="Wingdings" pitchFamily="2" charset="2"/>
              <a:buChar char="Ø"/>
            </a:pPr>
            <a:r>
              <a:rPr lang="en-US" sz="2000"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In schema partitioning, different tables within a database are placed on different disks. As shown in the following figure:</a:t>
            </a:r>
          </a:p>
        </p:txBody>
      </p:sp>
      <p:pic>
        <p:nvPicPr>
          <p:cNvPr id="10" name="Picture 2"/>
          <p:cNvPicPr>
            <a:picLocks noChangeAspect="1" noChangeArrowheads="1"/>
          </p:cNvPicPr>
          <p:nvPr/>
        </p:nvPicPr>
        <p:blipFill>
          <a:blip r:embed="rId4"/>
          <a:srcRect/>
          <a:stretch>
            <a:fillRect/>
          </a:stretch>
        </p:blipFill>
        <p:spPr bwMode="auto">
          <a:xfrm>
            <a:off x="1828800" y="1828800"/>
            <a:ext cx="5638800" cy="2242989"/>
          </a:xfrm>
          <a:prstGeom prst="rect">
            <a:avLst/>
          </a:prstGeom>
          <a:noFill/>
          <a:ln w="9525">
            <a:noFill/>
            <a:miter lim="800000"/>
            <a:headEnd/>
            <a:tailEnd/>
          </a:ln>
        </p:spPr>
      </p:pic>
      <p:pic>
        <p:nvPicPr>
          <p:cNvPr id="11" name="Picture 10" descr="Lightbox"/>
          <p:cNvPicPr/>
          <p:nvPr/>
        </p:nvPicPr>
        <p:blipFill>
          <a:blip r:embed="rId5"/>
          <a:srcRect/>
          <a:stretch>
            <a:fillRect/>
          </a:stretch>
        </p:blipFill>
        <p:spPr bwMode="auto">
          <a:xfrm>
            <a:off x="3505200" y="5123330"/>
            <a:ext cx="2862695" cy="13646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298543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I/O Parallelism (Data Partitioning)</a:t>
            </a:r>
          </a:p>
          <a:p>
            <a:pPr lvl="0" algn="just" fontAlgn="base">
              <a:spcBef>
                <a:spcPct val="0"/>
              </a:spcBef>
              <a:spcAft>
                <a:spcPct val="0"/>
              </a:spcAft>
            </a:pPr>
            <a:endParaRPr lang="en-US" sz="2000" b="1"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Horizontal Parallelism:</a:t>
            </a:r>
            <a:r>
              <a:rPr lang="en-US" dirty="0" smtClean="0">
                <a:latin typeface="Times New Roman" pitchFamily="18" charset="0"/>
                <a:cs typeface="Times New Roman" pitchFamily="18" charset="0"/>
              </a:rPr>
              <a:t> </a:t>
            </a:r>
          </a:p>
          <a:p>
            <a:pPr lvl="1" algn="just"/>
            <a:r>
              <a:rPr lang="en-US" dirty="0" smtClean="0">
                <a:latin typeface="Times New Roman" pitchFamily="18" charset="0"/>
                <a:cs typeface="Times New Roman" pitchFamily="18" charset="0"/>
              </a:rPr>
              <a:t>It means that the database is partitioned across multiple disks, and parallel processing occurs within a specific task that is performed concurrently on different processors against different sets of data.</a:t>
            </a:r>
          </a:p>
          <a:p>
            <a:pPr algn="just"/>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Vertical Parallelism:</a:t>
            </a:r>
            <a:r>
              <a:rPr lang="en-US" dirty="0" smtClean="0">
                <a:latin typeface="Times New Roman" pitchFamily="18" charset="0"/>
                <a:cs typeface="Times New Roman" pitchFamily="18" charset="0"/>
              </a:rPr>
              <a:t> </a:t>
            </a:r>
          </a:p>
          <a:p>
            <a:pPr lvl="1" algn="just"/>
            <a:r>
              <a:rPr lang="en-US" dirty="0" smtClean="0">
                <a:latin typeface="Times New Roman" pitchFamily="18" charset="0"/>
                <a:cs typeface="Times New Roman" pitchFamily="18" charset="0"/>
              </a:rPr>
              <a:t>It occurs among various tasks. All component query operations (i.e., scan, join, and sort) are executed in parallel in a pipelined fashion. </a:t>
            </a:r>
            <a:endParaRPr lang="en-US"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473975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b="1" dirty="0" smtClean="0">
                <a:latin typeface="Times New Roman" pitchFamily="18" charset="0"/>
                <a:cs typeface="Times New Roman" pitchFamily="18" charset="0"/>
              </a:rPr>
              <a:t>Parallelism in Query</a:t>
            </a:r>
            <a:endParaRPr lang="en-US" dirty="0" smtClean="0">
              <a:latin typeface="Times New Roman" pitchFamily="18" charset="0"/>
              <a:cs typeface="Times New Roman" pitchFamily="18" charset="0"/>
            </a:endParaRPr>
          </a:p>
          <a:p>
            <a:pPr algn="just"/>
            <a:endParaRPr lang="en-US" b="1" dirty="0" smtClean="0">
              <a:latin typeface="Times New Roman" pitchFamily="18" charset="0"/>
              <a:cs typeface="Times New Roman" pitchFamily="18" charset="0"/>
            </a:endParaRPr>
          </a:p>
          <a:p>
            <a:pPr lvl="0" algn="just"/>
            <a:r>
              <a:rPr lang="en-US" dirty="0" smtClean="0">
                <a:latin typeface="Times New Roman" pitchFamily="18" charset="0"/>
                <a:cs typeface="Times New Roman" pitchFamily="18" charset="0"/>
              </a:rPr>
              <a:t>There are two types of parallelism in query execution in DBMS: </a:t>
            </a:r>
            <a:endParaRPr lang="en-US" b="1" dirty="0" smtClean="0">
              <a:latin typeface="Times New Roman" pitchFamily="18" charset="0"/>
              <a:cs typeface="Times New Roman" pitchFamily="18" charset="0"/>
            </a:endParaRPr>
          </a:p>
          <a:p>
            <a:pPr lvl="1" algn="just">
              <a:buFont typeface="Wingdings" pitchFamily="2" charset="2"/>
              <a:buChar char="Ø"/>
            </a:pPr>
            <a:r>
              <a:rPr lang="en-US" dirty="0" smtClean="0">
                <a:latin typeface="Times New Roman" pitchFamily="18" charset="0"/>
                <a:cs typeface="Times New Roman" pitchFamily="18" charset="0"/>
              </a:rPr>
              <a:t> Intra-query parallelism and </a:t>
            </a:r>
            <a:endParaRPr lang="en-US" b="1" dirty="0" smtClean="0">
              <a:latin typeface="Times New Roman" pitchFamily="18" charset="0"/>
              <a:cs typeface="Times New Roman" pitchFamily="18" charset="0"/>
            </a:endParaRPr>
          </a:p>
          <a:p>
            <a:pPr lvl="1" algn="just">
              <a:buFont typeface="Wingdings" pitchFamily="2" charset="2"/>
              <a:buChar char="Ø"/>
            </a:pPr>
            <a:r>
              <a:rPr lang="en-US"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Inter-query parallelism.</a:t>
            </a:r>
            <a:endParaRPr lang="en-US" b="1"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Intra-query Parallelism</a:t>
            </a:r>
          </a:p>
          <a:p>
            <a:pPr lvl="1" algn="just">
              <a:buFont typeface="Wingdings" pitchFamily="2" charset="2"/>
              <a:buChar char="ü"/>
            </a:pPr>
            <a:r>
              <a:rPr lang="en-US" sz="1600" dirty="0" smtClean="0">
                <a:latin typeface="Times New Roman" pitchFamily="18" charset="0"/>
                <a:cs typeface="Times New Roman" pitchFamily="18" charset="0"/>
              </a:rPr>
              <a:t> This is an efficient and powerful technique that breaks down a single query into multiple smaller tasks, which are then executed simultaneously on multiple processors and disks.</a:t>
            </a:r>
          </a:p>
          <a:p>
            <a:pPr lvl="1" algn="just">
              <a:buFont typeface="Wingdings" pitchFamily="2" charset="2"/>
              <a:buChar char="ü"/>
            </a:pPr>
            <a:r>
              <a:rPr lang="en-US" sz="1600" dirty="0" smtClean="0">
                <a:latin typeface="Times New Roman" pitchFamily="18" charset="0"/>
                <a:cs typeface="Times New Roman" pitchFamily="18" charset="0"/>
              </a:rPr>
              <a:t> A simple example– a voluminous database requiring sorting data based on certain parameters. Instead of executing this as one big task (which could be time-consuming), intra-query parallelism divides it into manageable sub-tasks implemented concurrently.</a:t>
            </a:r>
          </a:p>
          <a:p>
            <a:pPr lvl="1" algn="just">
              <a:buFont typeface="Wingdings" pitchFamily="2" charset="2"/>
              <a:buChar char="ü"/>
            </a:pPr>
            <a:r>
              <a:rPr lang="en-US" sz="1600" dirty="0" smtClean="0">
                <a:latin typeface="Times New Roman" pitchFamily="18" charset="0"/>
                <a:cs typeface="Times New Roman" pitchFamily="18" charset="0"/>
              </a:rPr>
              <a:t> The results from these individual operations are then combined to produce the final output.</a:t>
            </a:r>
          </a:p>
          <a:p>
            <a:pPr lvl="1" algn="just">
              <a:buFont typeface="Wingdings" pitchFamily="2" charset="2"/>
              <a:buChar char="ü"/>
            </a:pPr>
            <a:r>
              <a:rPr lang="en-US" sz="1600" dirty="0" smtClean="0">
                <a:latin typeface="Times New Roman" pitchFamily="18" charset="0"/>
                <a:cs typeface="Times New Roman" pitchFamily="18" charset="0"/>
              </a:rPr>
              <a:t> This method significantly boosts the speed of query execution by distributing processing power across different CPUs.</a:t>
            </a:r>
            <a:endParaRPr lang="en-US" sz="16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Parallelism in Query</a:t>
            </a:r>
            <a:endParaRPr lang="en-US" sz="2000" dirty="0" smtClean="0">
              <a:latin typeface="Times New Roman" pitchFamily="18" charset="0"/>
              <a:cs typeface="Times New Roman" pitchFamily="18" charset="0"/>
            </a:endParaRPr>
          </a:p>
          <a:p>
            <a:pPr lvl="0"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Inter-query Parallelism</a:t>
            </a:r>
          </a:p>
          <a:p>
            <a:pPr lvl="1" algn="just">
              <a:buFont typeface="Wingdings" pitchFamily="2" charset="2"/>
              <a:buChar char="ü"/>
            </a:pPr>
            <a:r>
              <a:rPr lang="en-US" sz="2000" dirty="0" smtClean="0">
                <a:latin typeface="Times New Roman" pitchFamily="18" charset="0"/>
                <a:cs typeface="Times New Roman" pitchFamily="18" charset="0"/>
              </a:rPr>
              <a:t> Different queries or transactions are executed in parallel.</a:t>
            </a:r>
          </a:p>
          <a:p>
            <a:pPr lvl="1" algn="just">
              <a:buFont typeface="Wingdings" pitchFamily="2" charset="2"/>
              <a:buChar char="ü"/>
            </a:pPr>
            <a:r>
              <a:rPr lang="en-US" sz="2000" dirty="0" smtClean="0">
                <a:latin typeface="Times New Roman" pitchFamily="18" charset="0"/>
                <a:cs typeface="Times New Roman" pitchFamily="18" charset="0"/>
              </a:rPr>
              <a:t> It increases overall system throughput and reduces query response time.</a:t>
            </a:r>
          </a:p>
          <a:p>
            <a:pPr lvl="1" algn="just">
              <a:buFont typeface="Wingdings" pitchFamily="2" charset="2"/>
              <a:buChar char="ü"/>
            </a:pPr>
            <a:r>
              <a:rPr lang="en-US" sz="2000" dirty="0" smtClean="0">
                <a:latin typeface="Times New Roman" pitchFamily="18" charset="0"/>
                <a:cs typeface="Times New Roman" pitchFamily="18" charset="0"/>
              </a:rPr>
              <a:t> It makes more efficient use of system resources.</a:t>
            </a:r>
          </a:p>
          <a:p>
            <a:pPr lvl="1" algn="just">
              <a:buFont typeface="Wingdings" pitchFamily="2" charset="2"/>
              <a:buChar char="ü"/>
            </a:pPr>
            <a:r>
              <a:rPr lang="en-US" sz="2000" dirty="0" smtClean="0">
                <a:latin typeface="Times New Roman" pitchFamily="18" charset="0"/>
                <a:cs typeface="Times New Roman" pitchFamily="18" charset="0"/>
              </a:rPr>
              <a:t> Thus, the primary use of inter-query parallelism is to scale up a transaction processing system to support a more significant number of transactions per second.</a:t>
            </a:r>
          </a:p>
          <a:p>
            <a:pPr lvl="1" algn="just">
              <a:buFont typeface="Wingdings" pitchFamily="2" charset="2"/>
              <a:buChar char="ü"/>
            </a:pPr>
            <a:r>
              <a:rPr lang="en-US" sz="2000" dirty="0" smtClean="0">
                <a:latin typeface="Times New Roman" pitchFamily="18" charset="0"/>
                <a:cs typeface="Times New Roman" pitchFamily="18" charset="0"/>
              </a:rPr>
              <a:t> For example, if one query is performing a long-running operation, such as a complex join, other queries can still be processed independently without being blocked.</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Parallelism in Query</a:t>
            </a:r>
            <a:endParaRPr lang="en-US" sz="2000" dirty="0" smtClean="0">
              <a:latin typeface="Times New Roman" pitchFamily="18" charset="0"/>
              <a:cs typeface="Times New Roman" pitchFamily="18" charset="0"/>
            </a:endParaRPr>
          </a:p>
          <a:p>
            <a:pPr lvl="0" algn="just"/>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Inter-query Parallelism</a:t>
            </a:r>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b="1" dirty="0" smtClean="0">
                <a:latin typeface="Times New Roman" pitchFamily="18" charset="0"/>
                <a:cs typeface="Times New Roman" pitchFamily="18" charset="0"/>
              </a:rPr>
              <a:t> For example:</a:t>
            </a:r>
            <a:r>
              <a:rPr lang="en-US" sz="2000" dirty="0" smtClean="0">
                <a:latin typeface="Times New Roman" pitchFamily="18" charset="0"/>
                <a:cs typeface="Times New Roman" pitchFamily="18" charset="0"/>
              </a:rPr>
              <a:t> If there are 6 queries, each query will take 3 seconds for evaluation. Thus, the total time taken to complete evaluation process is 18 seconds. Inter query parallelism achieves this task only in 3 seconds.</a:t>
            </a:r>
          </a:p>
          <a:p>
            <a:pPr lvl="1" algn="just">
              <a:buFont typeface="Wingdings" pitchFamily="2" charset="2"/>
              <a:buChar char="ü"/>
            </a:pPr>
            <a:r>
              <a:rPr lang="en-US" sz="2000" dirty="0" smtClean="0">
                <a:latin typeface="Times New Roman" pitchFamily="18" charset="0"/>
                <a:cs typeface="Times New Roman" pitchFamily="18" charset="0"/>
              </a:rPr>
              <a:t> Implementing </a:t>
            </a:r>
            <a:r>
              <a:rPr lang="en-US" sz="2000" dirty="0" err="1" smtClean="0">
                <a:latin typeface="Times New Roman" pitchFamily="18" charset="0"/>
                <a:cs typeface="Times New Roman" pitchFamily="18" charset="0"/>
              </a:rPr>
              <a:t>interquery</a:t>
            </a:r>
            <a:r>
              <a:rPr lang="en-US" sz="2000" dirty="0" smtClean="0">
                <a:latin typeface="Times New Roman" pitchFamily="18" charset="0"/>
                <a:cs typeface="Times New Roman" pitchFamily="18" charset="0"/>
              </a:rPr>
              <a:t> parallelism involves various techniques, such as dividing the workload into smaller tasks that can be executed simultaneously across different processors. </a:t>
            </a:r>
          </a:p>
          <a:p>
            <a:pPr lvl="1" algn="just">
              <a:buFont typeface="Wingdings" pitchFamily="2" charset="2"/>
              <a:buChar char="ü"/>
            </a:pPr>
            <a:r>
              <a:rPr lang="en-US" sz="2000" dirty="0" smtClean="0">
                <a:latin typeface="Times New Roman" pitchFamily="18" charset="0"/>
                <a:cs typeface="Times New Roman" pitchFamily="18" charset="0"/>
              </a:rPr>
              <a:t> Parallel database systems employ sophisticated algorithms for distributing workloads effectively.</a:t>
            </a:r>
          </a:p>
          <a:p>
            <a:pPr algn="just"/>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295400"/>
            <a:ext cx="7239000" cy="489364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Intra-operation Parallelism</a:t>
            </a:r>
            <a:endParaRPr lang="en-US" sz="2000" dirty="0" smtClean="0">
              <a:latin typeface="Times New Roman" pitchFamily="18" charset="0"/>
              <a:cs typeface="Times New Roman" pitchFamily="18" charset="0"/>
            </a:endParaRPr>
          </a:p>
          <a:p>
            <a:pPr lvl="0" algn="just"/>
            <a:endParaRPr lang="en-US" sz="2000" dirty="0" smtClean="0">
              <a:latin typeface="Times New Roman" pitchFamily="18" charset="0"/>
              <a:cs typeface="Times New Roman" pitchFamily="18" charset="0"/>
            </a:endParaRPr>
          </a:p>
          <a:p>
            <a:pPr lvl="1" algn="just" fontAlgn="base">
              <a:buFont typeface="Wingdings" pitchFamily="2" charset="2"/>
              <a:buChar char="ü"/>
            </a:pPr>
            <a:r>
              <a:rPr lang="en-US" dirty="0" smtClean="0">
                <a:latin typeface="Times New Roman" pitchFamily="18" charset="0"/>
                <a:cs typeface="Times New Roman" pitchFamily="18" charset="0"/>
              </a:rPr>
              <a:t> Intra-operation parallelism is a sort of parallelism in which we parallelize the execution of each individual operation of a task like sorting, joins, projections, and so on. </a:t>
            </a:r>
          </a:p>
          <a:p>
            <a:pPr lvl="1" algn="just" fontAlgn="base">
              <a:buFont typeface="Wingdings" pitchFamily="2" charset="2"/>
              <a:buChar char="ü"/>
            </a:pPr>
            <a:r>
              <a:rPr lang="en-US" dirty="0" smtClean="0">
                <a:latin typeface="Times New Roman" pitchFamily="18" charset="0"/>
                <a:cs typeface="Times New Roman" pitchFamily="18" charset="0"/>
              </a:rPr>
              <a:t> Let’s take an SQL query example: </a:t>
            </a:r>
          </a:p>
          <a:p>
            <a:pPr lvl="2" algn="just" fontAlgn="base"/>
            <a:r>
              <a:rPr lang="en-US" i="1" dirty="0" smtClean="0">
                <a:latin typeface="Times New Roman" pitchFamily="18" charset="0"/>
                <a:cs typeface="Times New Roman" pitchFamily="18" charset="0"/>
              </a:rPr>
              <a:t>SELECT * FROM Vehicles ORDER BY </a:t>
            </a:r>
            <a:r>
              <a:rPr lang="en-US" i="1" dirty="0" err="1" smtClean="0">
                <a:latin typeface="Times New Roman" pitchFamily="18" charset="0"/>
                <a:cs typeface="Times New Roman" pitchFamily="18" charset="0"/>
              </a:rPr>
              <a:t>Model_Number</a:t>
            </a:r>
            <a:r>
              <a:rPr lang="en-US" i="1"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p>
          <a:p>
            <a:pPr lvl="1" algn="just">
              <a:buFont typeface="Wingdings" pitchFamily="2" charset="2"/>
              <a:buChar char="ü"/>
            </a:pPr>
            <a:r>
              <a:rPr lang="en-US" dirty="0" smtClean="0">
                <a:latin typeface="Times New Roman" pitchFamily="18" charset="0"/>
                <a:cs typeface="Times New Roman" pitchFamily="18" charset="0"/>
              </a:rPr>
              <a:t> In the above query, the relational operation is sorting and since a relation can have a large number of records in it, the operation can be performed on different subsets of the relation in multiple processors, which reduces the time required to sort the data.</a:t>
            </a:r>
          </a:p>
          <a:p>
            <a:pPr algn="just"/>
            <a:r>
              <a:rPr lang="en-US" dirty="0" smtClean="0">
                <a:latin typeface="Times New Roman" pitchFamily="18" charset="0"/>
                <a:cs typeface="Times New Roman" pitchFamily="18" charset="0"/>
              </a:rPr>
              <a:t> </a:t>
            </a:r>
          </a:p>
          <a:p>
            <a:pPr algn="just">
              <a:buFont typeface="Wingdings" pitchFamily="2" charset="2"/>
              <a:buChar char="q"/>
            </a:pPr>
            <a:r>
              <a:rPr lang="en-US"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Inter-operation Parallelism</a:t>
            </a:r>
            <a:endParaRPr lang="en-US" dirty="0" smtClean="0">
              <a:latin typeface="Times New Roman" pitchFamily="18" charset="0"/>
              <a:cs typeface="Times New Roman" pitchFamily="18" charset="0"/>
            </a:endParaRPr>
          </a:p>
          <a:p>
            <a:pPr lvl="1" algn="just">
              <a:buFont typeface="Wingdings" pitchFamily="2" charset="2"/>
              <a:buChar char="ü"/>
            </a:pPr>
            <a:r>
              <a:rPr lang="en-US" dirty="0" smtClean="0">
                <a:latin typeface="Times New Roman" pitchFamily="18" charset="0"/>
                <a:cs typeface="Times New Roman" pitchFamily="18" charset="0"/>
              </a:rPr>
              <a:t> When different operations in a query expression are executed in parallel, then it is called inter-operation parallelism. </a:t>
            </a:r>
          </a:p>
          <a:p>
            <a:pPr lvl="1" algn="just">
              <a:buFont typeface="Wingdings" pitchFamily="2" charset="2"/>
              <a:buChar char="ü"/>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67820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Skew in Parallel DB</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buFont typeface="Wingdings" pitchFamily="2" charset="2"/>
              <a:buChar char="Ø"/>
            </a:pPr>
            <a:r>
              <a:rPr lang="en-US" dirty="0" smtClean="0">
                <a:latin typeface="Times New Roman" pitchFamily="18" charset="0"/>
                <a:cs typeface="Times New Roman" pitchFamily="18" charset="0"/>
              </a:rPr>
              <a:t> The distribution of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 onto disks may be uneven or skewed.</a:t>
            </a:r>
          </a:p>
          <a:p>
            <a:pPr lvl="1" algn="just">
              <a:buFont typeface="Wingdings" pitchFamily="2" charset="2"/>
              <a:buChar char="Ø"/>
            </a:pPr>
            <a:r>
              <a:rPr lang="en-US" dirty="0" smtClean="0">
                <a:latin typeface="Times New Roman" pitchFamily="18" charset="0"/>
                <a:cs typeface="Times New Roman" pitchFamily="18" charset="0"/>
              </a:rPr>
              <a:t> Some disks may have few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 while others may have many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 </a:t>
            </a:r>
          </a:p>
          <a:p>
            <a:pPr algn="just">
              <a:buFont typeface="Wingdings" pitchFamily="2" charset="2"/>
              <a:buChar char="q"/>
            </a:pPr>
            <a:r>
              <a:rPr lang="en-US"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Types of Skew</a:t>
            </a:r>
            <a:endParaRPr lang="en-US" dirty="0" smtClean="0">
              <a:latin typeface="Times New Roman" pitchFamily="18" charset="0"/>
              <a:cs typeface="Times New Roman" pitchFamily="18" charset="0"/>
            </a:endParaRPr>
          </a:p>
          <a:p>
            <a:pPr lvl="1" algn="just"/>
            <a:endParaRPr lang="en-US" b="1" dirty="0" smtClean="0">
              <a:latin typeface="Times New Roman" pitchFamily="18" charset="0"/>
              <a:cs typeface="Times New Roman" pitchFamily="18" charset="0"/>
            </a:endParaRPr>
          </a:p>
          <a:p>
            <a:pPr lvl="1" algn="just"/>
            <a:r>
              <a:rPr lang="en-US" b="1" dirty="0" smtClean="0">
                <a:latin typeface="Times New Roman" pitchFamily="18" charset="0"/>
                <a:cs typeface="Times New Roman" pitchFamily="18" charset="0"/>
              </a:rPr>
              <a:t>Attribute-value Skew:</a:t>
            </a:r>
            <a:endParaRPr lang="en-US" dirty="0" smtClean="0">
              <a:latin typeface="Times New Roman" pitchFamily="18" charset="0"/>
              <a:cs typeface="Times New Roman" pitchFamily="18" charset="0"/>
            </a:endParaRPr>
          </a:p>
          <a:p>
            <a:pPr lvl="1" algn="just">
              <a:buFont typeface="Wingdings" pitchFamily="2" charset="2"/>
              <a:buChar char="ü"/>
            </a:pPr>
            <a:r>
              <a:rPr lang="en-US" dirty="0" smtClean="0">
                <a:latin typeface="Times New Roman" pitchFamily="18" charset="0"/>
                <a:cs typeface="Times New Roman" pitchFamily="18" charset="0"/>
              </a:rPr>
              <a:t> Some values may have appeared in the partitioning attributes of many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a:t>
            </a:r>
          </a:p>
          <a:p>
            <a:pPr lvl="1" algn="just">
              <a:buFont typeface="Wingdings" pitchFamily="2" charset="2"/>
              <a:buChar char="ü"/>
            </a:pPr>
            <a:r>
              <a:rPr lang="en-US" dirty="0" smtClean="0">
                <a:latin typeface="Times New Roman" pitchFamily="18" charset="0"/>
                <a:cs typeface="Times New Roman" pitchFamily="18" charset="0"/>
              </a:rPr>
              <a:t> All those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 that have the same value for the partitioning attribute are placed in the same partition.</a:t>
            </a:r>
          </a:p>
          <a:p>
            <a:pPr lvl="1" algn="just">
              <a:buFont typeface="Wingdings" pitchFamily="2" charset="2"/>
              <a:buChar char="ü"/>
            </a:pPr>
            <a:r>
              <a:rPr lang="en-US" dirty="0" smtClean="0">
                <a:latin typeface="Times New Roman" pitchFamily="18" charset="0"/>
                <a:cs typeface="Times New Roman" pitchFamily="18" charset="0"/>
              </a:rPr>
              <a:t> Such situation can occur with range-partitioning and hash-partitioning.</a:t>
            </a:r>
          </a:p>
          <a:p>
            <a:pPr algn="just"/>
            <a:r>
              <a:rPr lang="en-US" b="1" dirty="0" smtClean="0">
                <a:latin typeface="Times New Roman" pitchFamily="18" charset="0"/>
                <a:cs typeface="Times New Roman" pitchFamily="18" charset="0"/>
              </a:rPr>
              <a:t> </a:t>
            </a:r>
            <a:endParaRPr lang="en-US" sz="36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24006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Types of Skew</a:t>
            </a:r>
            <a:endParaRPr lang="en-US"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lvl="1" algn="just"/>
            <a:r>
              <a:rPr lang="en-US" b="1" dirty="0" smtClean="0">
                <a:latin typeface="Times New Roman" pitchFamily="18" charset="0"/>
                <a:cs typeface="Times New Roman" pitchFamily="18" charset="0"/>
              </a:rPr>
              <a:t>Partition Skew:</a:t>
            </a:r>
            <a:endParaRPr lang="en-US" dirty="0" smtClean="0">
              <a:latin typeface="Times New Roman" pitchFamily="18" charset="0"/>
              <a:cs typeface="Times New Roman" pitchFamily="18" charset="0"/>
            </a:endParaRPr>
          </a:p>
          <a:p>
            <a:pPr lvl="1" algn="just">
              <a:buFont typeface="Wingdings" pitchFamily="2" charset="2"/>
              <a:buChar char="ü"/>
            </a:pPr>
            <a:r>
              <a:rPr lang="en-US" dirty="0" smtClean="0">
                <a:latin typeface="Times New Roman" pitchFamily="18" charset="0"/>
                <a:cs typeface="Times New Roman" pitchFamily="18" charset="0"/>
              </a:rPr>
              <a:t> With the range-partitioning technique, a badly chosen partition vector may assign too many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 to some partitions and too few </a:t>
            </a:r>
            <a:r>
              <a:rPr lang="en-US" dirty="0" err="1" smtClean="0">
                <a:latin typeface="Times New Roman" pitchFamily="18" charset="0"/>
                <a:cs typeface="Times New Roman" pitchFamily="18" charset="0"/>
              </a:rPr>
              <a:t>tuples</a:t>
            </a:r>
            <a:r>
              <a:rPr lang="en-US" dirty="0" smtClean="0">
                <a:latin typeface="Times New Roman" pitchFamily="18" charset="0"/>
                <a:cs typeface="Times New Roman" pitchFamily="18" charset="0"/>
              </a:rPr>
              <a:t> to the other partitions.</a:t>
            </a:r>
          </a:p>
          <a:p>
            <a:pPr lvl="1" algn="just">
              <a:buFont typeface="Wingdings" pitchFamily="2" charset="2"/>
              <a:buChar char="ü"/>
            </a:pPr>
            <a:r>
              <a:rPr lang="en-US" dirty="0" smtClean="0">
                <a:latin typeface="Times New Roman" pitchFamily="18" charset="0"/>
                <a:cs typeface="Times New Roman" pitchFamily="18" charset="0"/>
              </a:rPr>
              <a:t> This is less likely with hash-partitioning technique if a good hash-function is chosen.</a:t>
            </a:r>
            <a:endParaRPr lang="en-US" sz="36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40120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Handling Skew in Range-Partitioning</a:t>
            </a: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Assume that the partitioning attribute forms a key of the relation. For creating a </a:t>
            </a:r>
            <a:r>
              <a:rPr lang="en-US" sz="2000" b="1" dirty="0" smtClean="0">
                <a:latin typeface="Times New Roman" pitchFamily="18" charset="0"/>
                <a:cs typeface="Times New Roman" pitchFamily="18" charset="0"/>
              </a:rPr>
              <a:t>balanced partitioning vector</a:t>
            </a:r>
            <a:r>
              <a:rPr lang="en-US" sz="2000" dirty="0" smtClean="0">
                <a:latin typeface="Times New Roman" pitchFamily="18" charset="0"/>
                <a:cs typeface="Times New Roman" pitchFamily="18" charset="0"/>
              </a:rPr>
              <a:t>:</a:t>
            </a:r>
          </a:p>
          <a:p>
            <a:pPr lvl="1" algn="just">
              <a:buFont typeface="Wingdings" pitchFamily="2" charset="2"/>
              <a:buChar char="ü"/>
            </a:pPr>
            <a:r>
              <a:rPr lang="en-US" sz="2000" dirty="0" smtClean="0">
                <a:latin typeface="Times New Roman" pitchFamily="18" charset="0"/>
                <a:cs typeface="Times New Roman" pitchFamily="18" charset="0"/>
              </a:rPr>
              <a:t> Sort the entire relation on the partitioning attribute field.</a:t>
            </a:r>
          </a:p>
          <a:p>
            <a:pPr lvl="1" algn="just">
              <a:buFont typeface="Wingdings" pitchFamily="2" charset="2"/>
              <a:buChar char="ü"/>
            </a:pPr>
            <a:r>
              <a:rPr lang="en-US" sz="2000" dirty="0" smtClean="0">
                <a:latin typeface="Times New Roman" pitchFamily="18" charset="0"/>
                <a:cs typeface="Times New Roman" pitchFamily="18" charset="0"/>
              </a:rPr>
              <a:t> Construct the partition vector by scanning the relation in sorted order as follows:</a:t>
            </a:r>
          </a:p>
          <a:p>
            <a:pPr lvl="1" algn="just"/>
            <a:r>
              <a:rPr lang="en-US" sz="2000" dirty="0" smtClean="0">
                <a:latin typeface="Times New Roman" pitchFamily="18" charset="0"/>
                <a:cs typeface="Times New Roman" pitchFamily="18" charset="0"/>
              </a:rPr>
              <a:t>After every 1/</a:t>
            </a:r>
            <a:r>
              <a:rPr lang="en-US" sz="2000" i="1" dirty="0" smtClean="0">
                <a:latin typeface="Times New Roman" pitchFamily="18" charset="0"/>
                <a:cs typeface="Times New Roman" pitchFamily="18" charset="0"/>
              </a:rPr>
              <a:t>n</a:t>
            </a:r>
            <a:r>
              <a:rPr lang="en-US" sz="2000" i="1" baseline="30000" dirty="0" smtClean="0">
                <a:latin typeface="Times New Roman" pitchFamily="18" charset="0"/>
                <a:cs typeface="Times New Roman" pitchFamily="18" charset="0"/>
              </a:rPr>
              <a:t>th</a:t>
            </a:r>
            <a:r>
              <a:rPr lang="en-US" sz="2000" dirty="0" smtClean="0">
                <a:latin typeface="Times New Roman" pitchFamily="18" charset="0"/>
                <a:cs typeface="Times New Roman" pitchFamily="18" charset="0"/>
              </a:rPr>
              <a:t> of the relation has been read, the value of the partitioning attribute of the next </a:t>
            </a:r>
            <a:r>
              <a:rPr lang="en-US" sz="2000" dirty="0" err="1" smtClean="0">
                <a:latin typeface="Times New Roman" pitchFamily="18" charset="0"/>
                <a:cs typeface="Times New Roman" pitchFamily="18" charset="0"/>
              </a:rPr>
              <a:t>tuple</a:t>
            </a:r>
            <a:r>
              <a:rPr lang="en-US" sz="2000" dirty="0" smtClean="0">
                <a:latin typeface="Times New Roman" pitchFamily="18" charset="0"/>
                <a:cs typeface="Times New Roman" pitchFamily="18" charset="0"/>
              </a:rPr>
              <a:t> is added to the partition vector.</a:t>
            </a:r>
          </a:p>
          <a:p>
            <a:pPr lvl="1" algn="just"/>
            <a:r>
              <a:rPr lang="en-US" sz="2000" i="1" dirty="0" smtClean="0">
                <a:latin typeface="Times New Roman" pitchFamily="18" charset="0"/>
                <a:cs typeface="Times New Roman" pitchFamily="18" charset="0"/>
              </a:rPr>
              <a:t>Here, n</a:t>
            </a:r>
            <a:r>
              <a:rPr lang="en-US" sz="2000" dirty="0" smtClean="0">
                <a:latin typeface="Times New Roman" pitchFamily="18" charset="0"/>
                <a:cs typeface="Times New Roman" pitchFamily="18" charset="0"/>
              </a:rPr>
              <a:t> denotes the number of partitions to be constructed.</a:t>
            </a:r>
          </a:p>
          <a:p>
            <a:pPr lvl="1" algn="just"/>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dirty="0" smtClean="0">
                <a:latin typeface="Times New Roman" pitchFamily="18" charset="0"/>
                <a:cs typeface="Times New Roman" pitchFamily="18" charset="0"/>
              </a:rPr>
              <a:t> Duplicate entries or imbalances can result if duplicates are present in partitioning attributes.</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Handling Skew using Histograms</a:t>
            </a: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 Balanced partitioning vector can be constructed from histogram in a relatively straightforward fashion.</a:t>
            </a:r>
          </a:p>
          <a:p>
            <a:pPr lvl="1" algn="just"/>
            <a:r>
              <a:rPr lang="en-US" sz="2000" dirty="0" smtClean="0">
                <a:latin typeface="Times New Roman" pitchFamily="18" charset="0"/>
                <a:cs typeface="Times New Roman" pitchFamily="18" charset="0"/>
              </a:rPr>
              <a:t>Assume uniform distribution within each range of the histogram</a:t>
            </a:r>
          </a:p>
          <a:p>
            <a:pPr lvl="1" algn="just">
              <a:buFont typeface="Wingdings" pitchFamily="2" charset="2"/>
              <a:buChar char="Ø"/>
            </a:pPr>
            <a:r>
              <a:rPr lang="en-US" sz="2000" dirty="0" smtClean="0">
                <a:latin typeface="Times New Roman" pitchFamily="18" charset="0"/>
                <a:cs typeface="Times New Roman" pitchFamily="18" charset="0"/>
              </a:rPr>
              <a:t> Histogram can be constructed by scanning relation.</a:t>
            </a:r>
          </a:p>
        </p:txBody>
      </p:sp>
      <p:pic>
        <p:nvPicPr>
          <p:cNvPr id="10" name="Picture 9"/>
          <p:cNvPicPr/>
          <p:nvPr/>
        </p:nvPicPr>
        <p:blipFill>
          <a:blip r:embed="rId4"/>
          <a:srcRect/>
          <a:stretch>
            <a:fillRect/>
          </a:stretch>
        </p:blipFill>
        <p:spPr bwMode="auto">
          <a:xfrm>
            <a:off x="1981200" y="3733800"/>
            <a:ext cx="5576339" cy="2362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32316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400" b="1" dirty="0" smtClean="0">
                <a:latin typeface="Times New Roman" pitchFamily="18" charset="0"/>
                <a:cs typeface="Times New Roman" pitchFamily="18" charset="0"/>
              </a:rPr>
              <a:t>Query </a:t>
            </a:r>
            <a:r>
              <a:rPr lang="en-US" sz="2400" b="1" dirty="0" smtClean="0">
                <a:latin typeface="Times New Roman" pitchFamily="18" charset="0"/>
                <a:cs typeface="Times New Roman" pitchFamily="18" charset="0"/>
              </a:rPr>
              <a:t>Processing</a:t>
            </a:r>
            <a:endParaRPr lang="en-US" sz="24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Query </a:t>
            </a:r>
            <a:r>
              <a:rPr lang="en-US" sz="2000" b="1" dirty="0" smtClean="0">
                <a:latin typeface="Times New Roman" pitchFamily="18" charset="0"/>
                <a:cs typeface="Times New Roman" pitchFamily="18" charset="0"/>
              </a:rPr>
              <a:t>Processing includes:</a:t>
            </a:r>
          </a:p>
          <a:p>
            <a:pPr lvl="1" algn="just">
              <a:buFont typeface="Wingdings" pitchFamily="2" charset="2"/>
              <a:buChar char="Ø"/>
            </a:pPr>
            <a:r>
              <a:rPr lang="en-US" sz="2000" dirty="0" smtClean="0">
                <a:latin typeface="Times New Roman" pitchFamily="18" charset="0"/>
                <a:cs typeface="Times New Roman" pitchFamily="18" charset="0"/>
              </a:rPr>
              <a:t> Conversion </a:t>
            </a:r>
            <a:r>
              <a:rPr lang="en-US" sz="2000" dirty="0" smtClean="0">
                <a:latin typeface="Times New Roman" pitchFamily="18" charset="0"/>
                <a:cs typeface="Times New Roman" pitchFamily="18" charset="0"/>
              </a:rPr>
              <a:t>of queries written in a high-level language such as SQL into a form that can be understood by the physical level implementation of the database, </a:t>
            </a:r>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Query </a:t>
            </a:r>
            <a:r>
              <a:rPr lang="en-US" sz="2000" dirty="0" smtClean="0">
                <a:latin typeface="Times New Roman" pitchFamily="18" charset="0"/>
                <a:cs typeface="Times New Roman" pitchFamily="18" charset="0"/>
              </a:rPr>
              <a:t>optimization techniques, and </a:t>
            </a:r>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Evaluation </a:t>
            </a:r>
            <a:r>
              <a:rPr lang="en-US" sz="2000" dirty="0" smtClean="0">
                <a:latin typeface="Times New Roman" pitchFamily="18" charset="0"/>
                <a:cs typeface="Times New Roman" pitchFamily="18" charset="0"/>
              </a:rPr>
              <a:t>of the query.</a:t>
            </a:r>
          </a:p>
          <a:p>
            <a:pPr lvl="1" algn="just">
              <a:buFont typeface="Wingdings" pitchFamily="2" charset="2"/>
              <a:buChar char="Ø"/>
            </a:pPr>
            <a:endParaRPr lang="en-US" sz="2000" dirty="0" smtClean="0">
              <a:latin typeface="Times New Roman" pitchFamily="18" charset="0"/>
              <a:cs typeface="Times New Roman" pitchFamily="18" charset="0"/>
            </a:endParaRPr>
          </a:p>
          <a:p>
            <a:pPr lvl="1" algn="just">
              <a:buFont typeface="Wingdings" pitchFamily="2" charset="2"/>
              <a:buChar char="Ø"/>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400" b="1" dirty="0" smtClean="0">
                <a:latin typeface="Times New Roman" pitchFamily="18" charset="0"/>
                <a:cs typeface="Times New Roman" pitchFamily="18" charset="0"/>
              </a:rPr>
              <a:t>Query </a:t>
            </a:r>
            <a:r>
              <a:rPr lang="en-US" sz="2400" b="1" dirty="0" smtClean="0">
                <a:latin typeface="Times New Roman" pitchFamily="18" charset="0"/>
                <a:cs typeface="Times New Roman" pitchFamily="18" charset="0"/>
              </a:rPr>
              <a:t>Processing</a:t>
            </a:r>
            <a:endParaRPr lang="en-US" sz="24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Steps </a:t>
            </a:r>
            <a:r>
              <a:rPr lang="en-US" sz="2000" b="1" dirty="0" smtClean="0">
                <a:latin typeface="Times New Roman" pitchFamily="18" charset="0"/>
                <a:cs typeface="Times New Roman" pitchFamily="18" charset="0"/>
              </a:rPr>
              <a:t>involved in query processing</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buFont typeface="Wingdings" pitchFamily="2" charset="2"/>
              <a:buChar char="Ø"/>
            </a:pPr>
            <a:endParaRPr lang="en-US" sz="2000" dirty="0" smtClean="0">
              <a:latin typeface="Times New Roman" pitchFamily="18" charset="0"/>
              <a:cs typeface="Times New Roman" pitchFamily="18" charset="0"/>
            </a:endParaRPr>
          </a:p>
        </p:txBody>
      </p:sp>
      <p:pic>
        <p:nvPicPr>
          <p:cNvPr id="10" name="Picture 9" descr="Query Processing | SQL Query Optimization"/>
          <p:cNvPicPr/>
          <p:nvPr/>
        </p:nvPicPr>
        <p:blipFill>
          <a:blip r:embed="rId4" cstate="print"/>
          <a:srcRect/>
          <a:stretch>
            <a:fillRect/>
          </a:stretch>
        </p:blipFill>
        <p:spPr bwMode="auto">
          <a:xfrm>
            <a:off x="1828800" y="2466109"/>
            <a:ext cx="5486400" cy="362989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4627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400" b="1" dirty="0" smtClean="0">
                <a:latin typeface="Times New Roman" pitchFamily="18" charset="0"/>
                <a:cs typeface="Times New Roman" pitchFamily="18" charset="0"/>
              </a:rPr>
              <a:t>Query </a:t>
            </a:r>
            <a:r>
              <a:rPr lang="en-US" sz="2400" b="1" dirty="0" smtClean="0">
                <a:latin typeface="Times New Roman" pitchFamily="18" charset="0"/>
                <a:cs typeface="Times New Roman" pitchFamily="18" charset="0"/>
              </a:rPr>
              <a:t>Processing</a:t>
            </a:r>
            <a:endParaRPr lang="en-US" sz="24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Parser </a:t>
            </a:r>
            <a:r>
              <a:rPr lang="en-US" b="1" dirty="0" smtClean="0">
                <a:latin typeface="Times New Roman" pitchFamily="18" charset="0"/>
                <a:cs typeface="Times New Roman" pitchFamily="18" charset="0"/>
              </a:rPr>
              <a:t>and </a:t>
            </a:r>
            <a:r>
              <a:rPr lang="en-US" b="1" dirty="0" smtClean="0">
                <a:latin typeface="Times New Roman" pitchFamily="18" charset="0"/>
                <a:cs typeface="Times New Roman" pitchFamily="18" charset="0"/>
              </a:rPr>
              <a:t>Translator</a:t>
            </a:r>
            <a:r>
              <a:rPr lang="en-US" b="1" dirty="0" smtClean="0">
                <a:latin typeface="Times New Roman" pitchFamily="18" charset="0"/>
                <a:cs typeface="Times New Roman" pitchFamily="18" charset="0"/>
              </a:rPr>
              <a:t>: </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The </a:t>
            </a:r>
            <a:r>
              <a:rPr lang="en-US" sz="1600" dirty="0" smtClean="0">
                <a:latin typeface="Times New Roman" pitchFamily="18" charset="0"/>
                <a:cs typeface="Times New Roman" pitchFamily="18" charset="0"/>
              </a:rPr>
              <a:t>first step in query processing is parsing and translation. Parser checks the syntax of the query whether the relations mentioned are present in the database or not. </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 </a:t>
            </a:r>
            <a:r>
              <a:rPr lang="en-US" sz="1600" dirty="0" smtClean="0">
                <a:latin typeface="Times New Roman" pitchFamily="18" charset="0"/>
                <a:cs typeface="Times New Roman" pitchFamily="18" charset="0"/>
              </a:rPr>
              <a:t>high-level query language such as SQL is suitable for human use. But, it is totally unsuitable to system internal representation. Therefore, translation is required. The internal representation can be extended form of relational </a:t>
            </a:r>
            <a:r>
              <a:rPr lang="en-US" sz="1600" dirty="0" smtClean="0">
                <a:latin typeface="Times New Roman" pitchFamily="18" charset="0"/>
                <a:cs typeface="Times New Roman" pitchFamily="18" charset="0"/>
              </a:rPr>
              <a:t>algebra.</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 </a:t>
            </a:r>
            <a:r>
              <a:rPr lang="en-US" sz="1600" dirty="0" smtClean="0">
                <a:latin typeface="Times New Roman" pitchFamily="18" charset="0"/>
                <a:cs typeface="Times New Roman" pitchFamily="18" charset="0"/>
              </a:rPr>
              <a:t>parse tree of the query is constructed and then translated into relational algebraic expression.</a:t>
            </a:r>
          </a:p>
          <a:p>
            <a:pPr algn="just"/>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	Example</a:t>
            </a:r>
            <a:r>
              <a:rPr lang="en-US" sz="1600" dirty="0" smtClean="0">
                <a:latin typeface="Times New Roman" pitchFamily="18" charset="0"/>
                <a:cs typeface="Times New Roman" pitchFamily="18" charset="0"/>
              </a:rPr>
              <a:t>: consider the following SQL query:</a:t>
            </a:r>
          </a:p>
          <a:p>
            <a:pPr algn="just"/>
            <a:r>
              <a:rPr lang="en-US" sz="1600" dirty="0" smtClean="0">
                <a:latin typeface="Times New Roman" pitchFamily="18" charset="0"/>
                <a:cs typeface="Times New Roman" pitchFamily="18" charset="0"/>
              </a:rPr>
              <a:t>		SELECT </a:t>
            </a:r>
            <a:r>
              <a:rPr lang="en-US" sz="1600" dirty="0" smtClean="0">
                <a:latin typeface="Times New Roman" pitchFamily="18" charset="0"/>
                <a:cs typeface="Times New Roman" pitchFamily="18" charset="0"/>
              </a:rPr>
              <a:t>s.name</a:t>
            </a:r>
          </a:p>
          <a:p>
            <a:pPr algn="just"/>
            <a:r>
              <a:rPr lang="en-US" sz="1600" dirty="0" smtClean="0">
                <a:latin typeface="Times New Roman" pitchFamily="18" charset="0"/>
                <a:cs typeface="Times New Roman" pitchFamily="18" charset="0"/>
              </a:rPr>
              <a:t>		FROM </a:t>
            </a:r>
            <a:r>
              <a:rPr lang="en-US" sz="1600" dirty="0" smtClean="0">
                <a:latin typeface="Times New Roman" pitchFamily="18" charset="0"/>
                <a:cs typeface="Times New Roman" pitchFamily="18" charset="0"/>
              </a:rPr>
              <a:t>reserves R, sailors S</a:t>
            </a:r>
          </a:p>
          <a:p>
            <a:pPr algn="just"/>
            <a:r>
              <a:rPr lang="en-US" sz="1600" dirty="0" smtClean="0">
                <a:latin typeface="Times New Roman" pitchFamily="18" charset="0"/>
                <a:cs typeface="Times New Roman" pitchFamily="18" charset="0"/>
              </a:rPr>
              <a:t>		Where </a:t>
            </a:r>
            <a:r>
              <a:rPr lang="en-US" sz="1600" dirty="0" smtClean="0">
                <a:latin typeface="Times New Roman" pitchFamily="18" charset="0"/>
                <a:cs typeface="Times New Roman" pitchFamily="18" charset="0"/>
              </a:rPr>
              <a:t>R.sid=S.sid</a:t>
            </a:r>
          </a:p>
          <a:p>
            <a:pPr algn="just"/>
            <a:r>
              <a:rPr lang="en-US" sz="1600" dirty="0" smtClean="0">
                <a:latin typeface="Times New Roman" pitchFamily="18" charset="0"/>
                <a:cs typeface="Times New Roman" pitchFamily="18" charset="0"/>
              </a:rPr>
              <a:t>		            AND </a:t>
            </a:r>
            <a:r>
              <a:rPr lang="en-US" sz="1600" dirty="0" smtClean="0">
                <a:latin typeface="Times New Roman" pitchFamily="18" charset="0"/>
                <a:cs typeface="Times New Roman" pitchFamily="18" charset="0"/>
              </a:rPr>
              <a:t>R.bid=100 And </a:t>
            </a:r>
            <a:r>
              <a:rPr lang="en-US" sz="1600" dirty="0" err="1" smtClean="0">
                <a:latin typeface="Times New Roman" pitchFamily="18" charset="0"/>
                <a:cs typeface="Times New Roman" pitchFamily="18" charset="0"/>
              </a:rPr>
              <a:t>S.rating</a:t>
            </a:r>
            <a:r>
              <a:rPr lang="en-US" sz="1600" dirty="0" smtClean="0">
                <a:latin typeface="Times New Roman" pitchFamily="18" charset="0"/>
                <a:cs typeface="Times New Roman" pitchFamily="18" charset="0"/>
              </a:rPr>
              <a:t>&gt;5</a:t>
            </a:r>
          </a:p>
          <a:p>
            <a:pPr algn="just"/>
            <a:r>
              <a:rPr lang="en-US" sz="1600" dirty="0" smtClean="0">
                <a:latin typeface="Times New Roman" pitchFamily="18" charset="0"/>
                <a:cs typeface="Times New Roman" pitchFamily="18" charset="0"/>
              </a:rPr>
              <a:t>	Its </a:t>
            </a:r>
            <a:r>
              <a:rPr lang="en-US" sz="1600" dirty="0" smtClean="0">
                <a:latin typeface="Times New Roman" pitchFamily="18" charset="0"/>
                <a:cs typeface="Times New Roman" pitchFamily="18" charset="0"/>
              </a:rPr>
              <a:t>corresponding relational algebraic expression</a:t>
            </a:r>
            <a:r>
              <a:rPr lang="en-US" sz="1600" dirty="0" smtClean="0">
                <a:latin typeface="Times New Roman" pitchFamily="18" charset="0"/>
                <a:cs typeface="Times New Roman" pitchFamily="18" charset="0"/>
              </a:rPr>
              <a:t>:</a:t>
            </a:r>
          </a:p>
          <a:p>
            <a:pPr algn="just"/>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Π</a:t>
            </a:r>
            <a:r>
              <a:rPr lang="en-US" sz="1600" baseline="-25000" dirty="0" err="1" smtClean="0">
                <a:latin typeface="Times New Roman" pitchFamily="18" charset="0"/>
                <a:cs typeface="Times New Roman" pitchFamily="18" charset="0"/>
              </a:rPr>
              <a:t>s.name</a:t>
            </a:r>
            <a:r>
              <a:rPr lang="en-US" sz="1600" baseline="-250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(σ</a:t>
            </a:r>
            <a:r>
              <a:rPr lang="en-US" sz="1600" baseline="-25000" dirty="0" smtClean="0">
                <a:latin typeface="Times New Roman" pitchFamily="18" charset="0"/>
                <a:cs typeface="Times New Roman" pitchFamily="18" charset="0"/>
              </a:rPr>
              <a:t>R.bid=100 ˄ </a:t>
            </a:r>
            <a:r>
              <a:rPr lang="en-US" sz="1600" baseline="-25000" dirty="0" err="1" smtClean="0">
                <a:latin typeface="Times New Roman" pitchFamily="18" charset="0"/>
                <a:cs typeface="Times New Roman" pitchFamily="18" charset="0"/>
              </a:rPr>
              <a:t>S.rating</a:t>
            </a:r>
            <a:r>
              <a:rPr lang="en-US" sz="1600" baseline="-25000" dirty="0" smtClean="0">
                <a:latin typeface="Times New Roman" pitchFamily="18" charset="0"/>
                <a:cs typeface="Times New Roman" pitchFamily="18" charset="0"/>
              </a:rPr>
              <a:t> &gt; 5</a:t>
            </a: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R⨝</a:t>
            </a:r>
            <a:r>
              <a:rPr lang="en-US" sz="1600" baseline="-25000" dirty="0" err="1" smtClean="0">
                <a:latin typeface="Times New Roman" pitchFamily="18" charset="0"/>
                <a:cs typeface="Times New Roman" pitchFamily="18" charset="0"/>
              </a:rPr>
              <a:t>R.sid</a:t>
            </a:r>
            <a:r>
              <a:rPr lang="en-US" sz="1600" baseline="-25000" dirty="0" smtClean="0">
                <a:latin typeface="Times New Roman" pitchFamily="18" charset="0"/>
                <a:cs typeface="Times New Roman" pitchFamily="18" charset="0"/>
              </a:rPr>
              <a:t>=S.sid</a:t>
            </a:r>
            <a:r>
              <a:rPr lang="en-US" sz="1600" dirty="0" smtClean="0">
                <a:latin typeface="Times New Roman" pitchFamily="18" charset="0"/>
                <a:cs typeface="Times New Roman" pitchFamily="18" charset="0"/>
              </a:rPr>
              <a:t> 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53</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5858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Query </a:t>
            </a:r>
            <a:r>
              <a:rPr lang="en-US" sz="2000" b="1" dirty="0" smtClean="0">
                <a:latin typeface="Times New Roman" pitchFamily="18" charset="0"/>
                <a:cs typeface="Times New Roman" pitchFamily="18" charset="0"/>
              </a:rPr>
              <a:t>Processing</a:t>
            </a: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Optimizer</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buFont typeface="Wingdings" pitchFamily="2" charset="2"/>
              <a:buChar char="ü"/>
            </a:pPr>
            <a:r>
              <a:rPr lang="en-US" dirty="0" smtClean="0">
                <a:latin typeface="Times New Roman" pitchFamily="18" charset="0"/>
                <a:cs typeface="Times New Roman" pitchFamily="18" charset="0"/>
              </a:rPr>
              <a:t> A </a:t>
            </a:r>
            <a:r>
              <a:rPr lang="en-US" dirty="0" smtClean="0">
                <a:latin typeface="Times New Roman" pitchFamily="18" charset="0"/>
                <a:cs typeface="Times New Roman" pitchFamily="18" charset="0"/>
              </a:rPr>
              <a:t>SQL query can be written in many different ways. A Query can also have different corresponding relational algebra </a:t>
            </a:r>
            <a:r>
              <a:rPr lang="en-US" dirty="0" smtClean="0">
                <a:latin typeface="Times New Roman" pitchFamily="18" charset="0"/>
                <a:cs typeface="Times New Roman" pitchFamily="18" charset="0"/>
              </a:rPr>
              <a:t>expressions</a:t>
            </a:r>
          </a:p>
          <a:p>
            <a:pPr lvl="1" algn="just">
              <a:buFont typeface="Wingdings" pitchFamily="2" charset="2"/>
              <a:buChar char="ü"/>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task of the query optimizer is to assess all possible ways to execute a query and choose the most effective one. This is done during the optimization </a:t>
            </a:r>
            <a:r>
              <a:rPr lang="en-US" dirty="0" smtClean="0">
                <a:latin typeface="Times New Roman" pitchFamily="18" charset="0"/>
                <a:cs typeface="Times New Roman" pitchFamily="18" charset="0"/>
              </a:rPr>
              <a:t>process.</a:t>
            </a:r>
          </a:p>
          <a:p>
            <a:pPr lvl="1" algn="just">
              <a:buFont typeface="Wingdings" pitchFamily="2" charset="2"/>
              <a:buChar char="ü"/>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An </a:t>
            </a:r>
            <a:r>
              <a:rPr lang="en-US" dirty="0" smtClean="0">
                <a:latin typeface="Times New Roman" pitchFamily="18" charset="0"/>
                <a:cs typeface="Times New Roman" pitchFamily="18" charset="0"/>
              </a:rPr>
              <a:t>optimized query also depends on how the data is stored in the file organization. </a:t>
            </a:r>
            <a:endParaRPr lang="en-US" dirty="0" smtClean="0">
              <a:latin typeface="Times New Roman" pitchFamily="18" charset="0"/>
              <a:cs typeface="Times New Roman" pitchFamily="18" charset="0"/>
            </a:endParaRPr>
          </a:p>
          <a:p>
            <a:pPr lvl="1" algn="just">
              <a:buFont typeface="Wingdings" pitchFamily="2" charset="2"/>
              <a:buChar char="ü"/>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Query </a:t>
            </a:r>
            <a:r>
              <a:rPr lang="en-US" dirty="0" smtClean="0">
                <a:latin typeface="Times New Roman" pitchFamily="18" charset="0"/>
                <a:cs typeface="Times New Roman" pitchFamily="18" charset="0"/>
              </a:rPr>
              <a:t>optimization is the process of selecting an efficient execution plan for evaluating the </a:t>
            </a:r>
            <a:r>
              <a:rPr lang="en-US" dirty="0" smtClean="0">
                <a:latin typeface="Times New Roman" pitchFamily="18" charset="0"/>
                <a:cs typeface="Times New Roman" pitchFamily="18" charset="0"/>
              </a:rPr>
              <a:t>query.</a:t>
            </a:r>
          </a:p>
          <a:p>
            <a:pPr lvl="1" algn="just">
              <a:buFont typeface="Wingdings" pitchFamily="2" charset="2"/>
              <a:buChar char="ü"/>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After </a:t>
            </a:r>
            <a:r>
              <a:rPr lang="en-US" dirty="0" smtClean="0">
                <a:latin typeface="Times New Roman" pitchFamily="18" charset="0"/>
                <a:cs typeface="Times New Roman" pitchFamily="18" charset="0"/>
              </a:rPr>
              <a:t>parsing of the query, parsed query is passed to query optimizer, which generates different execution plans to evaluate parsed query and select the plan with least </a:t>
            </a:r>
            <a:r>
              <a:rPr lang="en-US" dirty="0" smtClean="0">
                <a:latin typeface="Times New Roman" pitchFamily="18" charset="0"/>
                <a:cs typeface="Times New Roman" pitchFamily="18" charset="0"/>
              </a:rPr>
              <a:t>estimated cost.</a:t>
            </a:r>
          </a:p>
          <a:p>
            <a:pPr lvl="1" algn="just">
              <a:buFont typeface="Wingdings" pitchFamily="2" charset="2"/>
              <a:buChar char="ü"/>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Catalog </a:t>
            </a:r>
            <a:r>
              <a:rPr lang="en-US" dirty="0" smtClean="0">
                <a:latin typeface="Times New Roman" pitchFamily="18" charset="0"/>
                <a:cs typeface="Times New Roman" pitchFamily="18" charset="0"/>
              </a:rPr>
              <a:t>manager helps optimizer to choose best plan to execute query generating cost of each plan.</a:t>
            </a:r>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54</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255454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Query </a:t>
            </a:r>
            <a:r>
              <a:rPr lang="en-US" sz="2000" b="1" dirty="0" smtClean="0">
                <a:latin typeface="Times New Roman" pitchFamily="18" charset="0"/>
                <a:cs typeface="Times New Roman" pitchFamily="18" charset="0"/>
              </a:rPr>
              <a:t>Processing</a:t>
            </a:r>
            <a:endParaRPr lang="en-US" sz="2000"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Execution </a:t>
            </a:r>
            <a:r>
              <a:rPr lang="en-US" sz="2000" b="1" dirty="0" smtClean="0">
                <a:latin typeface="Times New Roman" pitchFamily="18" charset="0"/>
                <a:cs typeface="Times New Roman" pitchFamily="18" charset="0"/>
              </a:rPr>
              <a:t>plan: </a:t>
            </a:r>
            <a:r>
              <a:rPr lang="en-US" sz="2000" dirty="0" smtClean="0">
                <a:latin typeface="Times New Roman" pitchFamily="18" charset="0"/>
                <a:cs typeface="Times New Roman" pitchFamily="18" charset="0"/>
              </a:rPr>
              <a:t> </a:t>
            </a:r>
          </a:p>
          <a:p>
            <a:pPr lvl="1" algn="just">
              <a:buFont typeface="Wingdings" pitchFamily="2" charset="2"/>
              <a:buChar char="ü"/>
            </a:pPr>
            <a:r>
              <a:rPr lang="en-US" sz="2000" dirty="0" smtClean="0">
                <a:latin typeface="Times New Roman" pitchFamily="18" charset="0"/>
                <a:cs typeface="Times New Roman" pitchFamily="18" charset="0"/>
              </a:rPr>
              <a:t> Different </a:t>
            </a:r>
            <a:r>
              <a:rPr lang="en-US" sz="2000" dirty="0" smtClean="0">
                <a:latin typeface="Times New Roman" pitchFamily="18" charset="0"/>
                <a:cs typeface="Times New Roman" pitchFamily="18" charset="0"/>
              </a:rPr>
              <a:t>evaluation plans for a particular query have different query costs. </a:t>
            </a:r>
            <a:endParaRPr lang="en-US" sz="2000" dirty="0" smtClean="0">
              <a:latin typeface="Times New Roman" pitchFamily="18" charset="0"/>
              <a:cs typeface="Times New Roman" pitchFamily="18" charset="0"/>
            </a:endParaRPr>
          </a:p>
          <a:p>
            <a:pPr lvl="1" algn="just">
              <a:buFont typeface="Wingdings" pitchFamily="2" charset="2"/>
              <a:buChar char="ü"/>
            </a:pP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cost may include the number of disk accesses, CPU time for execution of the query, time of communication in the case of distributed databases.</a:t>
            </a: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55</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53553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Query </a:t>
            </a:r>
            <a:r>
              <a:rPr lang="en-US" sz="2000" b="1" dirty="0" smtClean="0">
                <a:latin typeface="Times New Roman" pitchFamily="18" charset="0"/>
                <a:cs typeface="Times New Roman" pitchFamily="18" charset="0"/>
              </a:rPr>
              <a:t>Processing</a:t>
            </a:r>
            <a:endParaRPr lang="en-US" sz="2000" dirty="0" smtClean="0">
              <a:latin typeface="Times New Roman" pitchFamily="18" charset="0"/>
              <a:cs typeface="Times New Roman" pitchFamily="18" charset="0"/>
            </a:endParaRPr>
          </a:p>
          <a:p>
            <a:pPr algn="just"/>
            <a:r>
              <a:rPr lang="en-US" b="1" dirty="0" smtClean="0">
                <a:latin typeface="Times New Roman" pitchFamily="18" charset="0"/>
                <a:cs typeface="Times New Roman" pitchFamily="18" charset="0"/>
              </a:rPr>
              <a:t>Basic Operation:</a:t>
            </a:r>
            <a:endParaRPr lang="en-US" sz="1600" dirty="0" smtClean="0">
              <a:latin typeface="Times New Roman" pitchFamily="18" charset="0"/>
              <a:cs typeface="Times New Roman" pitchFamily="18" charset="0"/>
            </a:endParaRPr>
          </a:p>
          <a:p>
            <a:pPr algn="just"/>
            <a:r>
              <a:rPr lang="en-US" sz="1600" dirty="0" smtClean="0">
                <a:latin typeface="Times New Roman" pitchFamily="18" charset="0"/>
                <a:cs typeface="Times New Roman" pitchFamily="18" charset="0"/>
              </a:rPr>
              <a:t>Usually, user queries are submitted to DBMS as SQL queries. During the parsing and translation phase, the given query is translated into its internal form. In generating the internal form of the query, the parser checks the syntax of the user's query, verifies that the relation names appearing in the query are names of the relations in the database and so on. The system constructs a parse tree representation of the query, which it then translates into a relational algebra expression.</a:t>
            </a:r>
          </a:p>
          <a:p>
            <a:pPr algn="just"/>
            <a:r>
              <a:rPr lang="en-US" sz="1600" dirty="0" smtClean="0">
                <a:latin typeface="Times New Roman" pitchFamily="18" charset="0"/>
                <a:cs typeface="Times New Roman" pitchFamily="18" charset="0"/>
              </a:rPr>
              <a:t> </a:t>
            </a:r>
          </a:p>
          <a:p>
            <a:pPr algn="just"/>
            <a:r>
              <a:rPr lang="en-US" sz="1600" dirty="0" smtClean="0">
                <a:latin typeface="Times New Roman" pitchFamily="18" charset="0"/>
                <a:cs typeface="Times New Roman" pitchFamily="18" charset="0"/>
              </a:rPr>
              <a:t>After parsing and translation into relational algebra expression, the query is then transformed into a form which is usually query tree or graph that can be handled by the optimization engine. Query representation during the optimization phase, the optimization engine performs various analyses on the query data. It applies various rules to the internal data structures of the query to transform these structures into equivalent and efficient representation. It then generates valid evaluation plans based upon the rules applied. From the generated evaluation plans, the best evaluation plan to be executed is determined and passed onto the query execution engine. The final phase in processing a query is the evaluation phase. During the evaluation phase, the best evaluation plan generated by the optimization engine is selected and then executed.</a:t>
            </a:r>
            <a:endParaRPr lang="en-US" sz="1600" dirty="0" smtClean="0">
              <a:latin typeface="Times New Roman" pitchFamily="18" charset="0"/>
              <a:cs typeface="Times New Roman" pitchFamily="18" charset="0"/>
            </a:endParaRPr>
          </a:p>
          <a:p>
            <a:pPr lvl="1" algn="just">
              <a:buFont typeface="Wingdings" pitchFamily="2" charset="2"/>
              <a:buChar char="ü"/>
            </a:pPr>
            <a:endParaRPr lang="en-US" sz="16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56</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61664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P</a:t>
            </a:r>
            <a:r>
              <a:rPr lang="en-US" sz="2000" b="1" dirty="0" smtClean="0">
                <a:latin typeface="Times New Roman" pitchFamily="18" charset="0"/>
                <a:cs typeface="Times New Roman" pitchFamily="18" charset="0"/>
              </a:rPr>
              <a:t>arallel Query Optimization</a:t>
            </a:r>
            <a:endParaRPr lang="en-US" sz="2000" dirty="0" smtClean="0">
              <a:latin typeface="Times New Roman" pitchFamily="18" charset="0"/>
              <a:cs typeface="Times New Roman" pitchFamily="18" charset="0"/>
            </a:endParaRPr>
          </a:p>
          <a:p>
            <a:pPr lvl="1" algn="just">
              <a:buFont typeface="Wingdings" pitchFamily="2" charset="2"/>
              <a:buChar char="Ø"/>
            </a:pPr>
            <a:r>
              <a:rPr lang="en-US" dirty="0" smtClean="0">
                <a:latin typeface="Times New Roman" pitchFamily="18" charset="0"/>
                <a:cs typeface="Times New Roman" pitchFamily="18" charset="0"/>
              </a:rPr>
              <a:t> Parallel </a:t>
            </a:r>
            <a:r>
              <a:rPr lang="en-US" dirty="0" smtClean="0">
                <a:latin typeface="Times New Roman" pitchFamily="18" charset="0"/>
                <a:cs typeface="Times New Roman" pitchFamily="18" charset="0"/>
              </a:rPr>
              <a:t>query optimization refers to the process of producing an </a:t>
            </a:r>
            <a:r>
              <a:rPr lang="en-US" b="1" dirty="0" smtClean="0">
                <a:latin typeface="Times New Roman" pitchFamily="18" charset="0"/>
                <a:cs typeface="Times New Roman" pitchFamily="18" charset="0"/>
              </a:rPr>
              <a:t>execution plan</a:t>
            </a:r>
            <a:r>
              <a:rPr lang="en-US" dirty="0" smtClean="0">
                <a:latin typeface="Times New Roman" pitchFamily="18" charset="0"/>
                <a:cs typeface="Times New Roman" pitchFamily="18" charset="0"/>
              </a:rPr>
              <a:t> for a given query that minimizes an objective cost function. The selected plan is the best one within a set of candidate plans examined by the </a:t>
            </a:r>
            <a:r>
              <a:rPr lang="en-US" b="1" dirty="0" smtClean="0">
                <a:latin typeface="Times New Roman" pitchFamily="18" charset="0"/>
                <a:cs typeface="Times New Roman" pitchFamily="18" charset="0"/>
              </a:rPr>
              <a:t>optimizer</a:t>
            </a:r>
            <a:r>
              <a:rPr lang="en-US" dirty="0" smtClean="0">
                <a:latin typeface="Times New Roman" pitchFamily="18" charset="0"/>
                <a:cs typeface="Times New Roman" pitchFamily="18" charset="0"/>
              </a:rPr>
              <a:t>.</a:t>
            </a:r>
          </a:p>
          <a:p>
            <a:pPr lvl="1" algn="just">
              <a:buFont typeface="Wingdings" pitchFamily="2" charset="2"/>
              <a:buChar char="Ø"/>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Parallel </a:t>
            </a:r>
            <a:r>
              <a:rPr lang="en-US" dirty="0" smtClean="0">
                <a:latin typeface="Times New Roman" pitchFamily="18" charset="0"/>
                <a:cs typeface="Times New Roman" pitchFamily="18" charset="0"/>
              </a:rPr>
              <a:t>query optimization exhibits similarities with distributed query processing. However, it takes advantage of both intra-operator parallelism and inter-operator parallelism. </a:t>
            </a:r>
            <a:endParaRPr lang="en-US" dirty="0" smtClean="0">
              <a:latin typeface="Times New Roman" pitchFamily="18" charset="0"/>
              <a:cs typeface="Times New Roman" pitchFamily="18" charset="0"/>
            </a:endParaRPr>
          </a:p>
          <a:p>
            <a:pPr lvl="1" algn="just">
              <a:buFont typeface="Wingdings" pitchFamily="2" charset="2"/>
              <a:buChar char="Ø"/>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A </a:t>
            </a:r>
            <a:r>
              <a:rPr lang="en-US" dirty="0" smtClean="0">
                <a:latin typeface="Times New Roman" pitchFamily="18" charset="0"/>
                <a:cs typeface="Times New Roman" pitchFamily="18" charset="0"/>
              </a:rPr>
              <a:t>parallel query optimizer can be seen as three components: </a:t>
            </a:r>
            <a:r>
              <a:rPr lang="en-US" b="1" dirty="0" smtClean="0">
                <a:latin typeface="Times New Roman" pitchFamily="18" charset="0"/>
                <a:cs typeface="Times New Roman" pitchFamily="18" charset="0"/>
              </a:rPr>
              <a:t>a search space, a cost model, and a search strategy</a:t>
            </a:r>
            <a:r>
              <a:rPr lang="en-US" dirty="0" smtClean="0">
                <a:latin typeface="Times New Roman" pitchFamily="18" charset="0"/>
                <a:cs typeface="Times New Roman" pitchFamily="18" charset="0"/>
              </a:rPr>
              <a:t>.</a:t>
            </a:r>
          </a:p>
          <a:p>
            <a:pPr lvl="1" algn="just"/>
            <a:endParaRPr lang="en-US" dirty="0" smtClean="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search space is the set of alternative execution plans to represent the input query. </a:t>
            </a:r>
            <a:endParaRPr lang="en-US" dirty="0" smtClean="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cost model predicts the cost of the given execution plan. </a:t>
            </a:r>
            <a:endParaRPr lang="en-US" dirty="0" smtClean="0">
              <a:latin typeface="Times New Roman" pitchFamily="18" charset="0"/>
              <a:cs typeface="Times New Roman" pitchFamily="18" charset="0"/>
            </a:endParaRPr>
          </a:p>
          <a:p>
            <a:pPr lvl="1" algn="just"/>
            <a:r>
              <a:rPr lang="en-US" dirty="0" smtClean="0">
                <a:latin typeface="Times New Roman" pitchFamily="18" charset="0"/>
                <a:cs typeface="Times New Roman" pitchFamily="18" charset="0"/>
              </a:rPr>
              <a:t>The </a:t>
            </a:r>
            <a:r>
              <a:rPr lang="en-US" dirty="0" smtClean="0">
                <a:latin typeface="Times New Roman" pitchFamily="18" charset="0"/>
                <a:cs typeface="Times New Roman" pitchFamily="18" charset="0"/>
              </a:rPr>
              <a:t>search strategy explores the search space and selects the best plan. </a:t>
            </a:r>
          </a:p>
          <a:p>
            <a:pPr algn="just"/>
            <a:endParaRPr lang="en-US"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57</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143000"/>
            <a:ext cx="7239000" cy="53860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How can we optimize a SQL </a:t>
            </a:r>
            <a:r>
              <a:rPr lang="en-US" sz="2000" b="1" dirty="0" smtClean="0">
                <a:latin typeface="Times New Roman" pitchFamily="18" charset="0"/>
                <a:cs typeface="Times New Roman" pitchFamily="18" charset="0"/>
              </a:rPr>
              <a:t>query?</a:t>
            </a:r>
            <a:endParaRPr lang="en-US" sz="2000" b="1" dirty="0" smtClean="0">
              <a:latin typeface="Times New Roman" pitchFamily="18" charset="0"/>
              <a:cs typeface="Times New Roman" pitchFamily="18" charset="0"/>
            </a:endParaRPr>
          </a:p>
          <a:p>
            <a:pPr lvl="0" algn="just" fontAlgn="base">
              <a:spcBef>
                <a:spcPct val="0"/>
              </a:spcBef>
              <a:spcAft>
                <a:spcPct val="0"/>
              </a:spcAft>
            </a:pPr>
            <a:r>
              <a:rPr lang="en-US" sz="1600" dirty="0" smtClean="0">
                <a:latin typeface="Times New Roman" pitchFamily="18" charset="0"/>
                <a:cs typeface="Times New Roman" pitchFamily="18" charset="0"/>
              </a:rPr>
              <a:t>Optimizing </a:t>
            </a:r>
            <a:r>
              <a:rPr lang="en-US" sz="1600" dirty="0" smtClean="0">
                <a:latin typeface="Times New Roman" pitchFamily="18" charset="0"/>
                <a:cs typeface="Times New Roman" pitchFamily="18" charset="0"/>
              </a:rPr>
              <a:t>an SQL query involves various techniques to improve its performance and efficiency. Some common strategies include:</a:t>
            </a:r>
          </a:p>
          <a:p>
            <a:pPr lvl="1" algn="just">
              <a:buFont typeface="Wingdings" pitchFamily="2" charset="2"/>
              <a:buChar char="ü"/>
            </a:pPr>
            <a:r>
              <a:rPr lang="en-US" sz="1600" dirty="0" smtClean="0">
                <a:latin typeface="Times New Roman" pitchFamily="18" charset="0"/>
                <a:cs typeface="Times New Roman" pitchFamily="18" charset="0"/>
              </a:rPr>
              <a:t> Indexing</a:t>
            </a:r>
            <a:r>
              <a:rPr lang="en-US" sz="1600" dirty="0" smtClean="0">
                <a:latin typeface="Times New Roman" pitchFamily="18" charset="0"/>
                <a:cs typeface="Times New Roman" pitchFamily="18" charset="0"/>
              </a:rPr>
              <a:t>: Create appropriate indexes on columns used in WHERE, JOIN, and ORDER BY clauses to speed up data </a:t>
            </a:r>
            <a:r>
              <a:rPr lang="en-US" sz="1600" dirty="0" smtClean="0">
                <a:latin typeface="Times New Roman" pitchFamily="18" charset="0"/>
                <a:cs typeface="Times New Roman" pitchFamily="18" charset="0"/>
              </a:rPr>
              <a:t>retrieval.</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Filtering</a:t>
            </a:r>
            <a:r>
              <a:rPr lang="en-US" sz="1600" dirty="0" smtClean="0">
                <a:latin typeface="Times New Roman" pitchFamily="18" charset="0"/>
                <a:cs typeface="Times New Roman" pitchFamily="18" charset="0"/>
              </a:rPr>
              <a:t>: Use efficient WHERE clauses to minimize the number of rows </a:t>
            </a:r>
            <a:r>
              <a:rPr lang="en-US" sz="1600" dirty="0" smtClean="0">
                <a:latin typeface="Times New Roman" pitchFamily="18" charset="0"/>
                <a:cs typeface="Times New Roman" pitchFamily="18" charset="0"/>
              </a:rPr>
              <a:t>processed.</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Avoid </a:t>
            </a:r>
            <a:r>
              <a:rPr lang="en-US" sz="1600" dirty="0" smtClean="0">
                <a:latin typeface="Times New Roman" pitchFamily="18" charset="0"/>
                <a:cs typeface="Times New Roman" pitchFamily="18" charset="0"/>
              </a:rPr>
              <a:t>SELECT *: Retrieve only the necessary columns to reduce data </a:t>
            </a:r>
            <a:r>
              <a:rPr lang="en-US" sz="1600" dirty="0" smtClean="0">
                <a:latin typeface="Times New Roman" pitchFamily="18" charset="0"/>
                <a:cs typeface="Times New Roman" pitchFamily="18" charset="0"/>
              </a:rPr>
              <a:t>transfer.</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JOIN </a:t>
            </a:r>
            <a:r>
              <a:rPr lang="en-US" sz="1600" dirty="0" smtClean="0">
                <a:latin typeface="Times New Roman" pitchFamily="18" charset="0"/>
                <a:cs typeface="Times New Roman" pitchFamily="18" charset="0"/>
              </a:rPr>
              <a:t>Optimization: Choose the most efficient JOIN type (INNER JOIN, LEFT JOIN, etc.) and ensure relevant columns are </a:t>
            </a:r>
            <a:r>
              <a:rPr lang="en-US" sz="1600" dirty="0" smtClean="0">
                <a:latin typeface="Times New Roman" pitchFamily="18" charset="0"/>
                <a:cs typeface="Times New Roman" pitchFamily="18" charset="0"/>
              </a:rPr>
              <a:t>indexed.</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err="1" smtClean="0">
                <a:latin typeface="Times New Roman" pitchFamily="18" charset="0"/>
                <a:cs typeface="Times New Roman" pitchFamily="18" charset="0"/>
              </a:rPr>
              <a:t>Subqueries</a:t>
            </a:r>
            <a:r>
              <a:rPr lang="en-US" sz="1600" dirty="0" smtClean="0">
                <a:latin typeface="Times New Roman" pitchFamily="18" charset="0"/>
                <a:cs typeface="Times New Roman" pitchFamily="18" charset="0"/>
              </a:rPr>
              <a:t>: Optimize </a:t>
            </a:r>
            <a:r>
              <a:rPr lang="en-US" sz="1600" dirty="0" err="1" smtClean="0">
                <a:latin typeface="Times New Roman" pitchFamily="18" charset="0"/>
                <a:cs typeface="Times New Roman" pitchFamily="18" charset="0"/>
              </a:rPr>
              <a:t>subqueries</a:t>
            </a:r>
            <a:r>
              <a:rPr lang="en-US" sz="1600" dirty="0" smtClean="0">
                <a:latin typeface="Times New Roman" pitchFamily="18" charset="0"/>
                <a:cs typeface="Times New Roman" pitchFamily="18" charset="0"/>
              </a:rPr>
              <a:t> to avoid excessive data </a:t>
            </a:r>
            <a:r>
              <a:rPr lang="en-US" sz="1600" dirty="0" smtClean="0">
                <a:latin typeface="Times New Roman" pitchFamily="18" charset="0"/>
                <a:cs typeface="Times New Roman" pitchFamily="18" charset="0"/>
              </a:rPr>
              <a:t>processing.</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Use </a:t>
            </a:r>
            <a:r>
              <a:rPr lang="en-US" sz="1600" dirty="0" smtClean="0">
                <a:latin typeface="Times New Roman" pitchFamily="18" charset="0"/>
                <a:cs typeface="Times New Roman" pitchFamily="18" charset="0"/>
              </a:rPr>
              <a:t>EXISTS instead of IN: Replace IN clauses with EXISTS for better </a:t>
            </a:r>
            <a:r>
              <a:rPr lang="en-US" sz="1600" dirty="0" smtClean="0">
                <a:latin typeface="Times New Roman" pitchFamily="18" charset="0"/>
                <a:cs typeface="Times New Roman" pitchFamily="18" charset="0"/>
              </a:rPr>
              <a:t>performance.</a:t>
            </a:r>
            <a:endParaRPr lang="en-US" sz="1600" dirty="0" smtClean="0">
              <a:latin typeface="Times New Roman" pitchFamily="18" charset="0"/>
              <a:cs typeface="Times New Roman" pitchFamily="18" charset="0"/>
            </a:endParaRP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Limit </a:t>
            </a:r>
            <a:r>
              <a:rPr lang="en-US" sz="1600" dirty="0" smtClean="0">
                <a:latin typeface="Times New Roman" pitchFamily="18" charset="0"/>
                <a:cs typeface="Times New Roman" pitchFamily="18" charset="0"/>
              </a:rPr>
              <a:t>Data: Use LIMIT or TOP to restrict the number of returned rows, especially for large result </a:t>
            </a:r>
            <a:r>
              <a:rPr lang="en-US" sz="1600" dirty="0" smtClean="0">
                <a:latin typeface="Times New Roman" pitchFamily="18" charset="0"/>
                <a:cs typeface="Times New Roman" pitchFamily="18" charset="0"/>
              </a:rPr>
              <a:t>sets.</a:t>
            </a: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Caching</a:t>
            </a:r>
            <a:r>
              <a:rPr lang="en-US" sz="1600" dirty="0" smtClean="0">
                <a:latin typeface="Times New Roman" pitchFamily="18" charset="0"/>
                <a:cs typeface="Times New Roman" pitchFamily="18" charset="0"/>
              </a:rPr>
              <a:t>: Utilize query caching mechanisms provided by the database </a:t>
            </a:r>
            <a:r>
              <a:rPr lang="en-US" sz="1600" dirty="0" smtClean="0">
                <a:latin typeface="Times New Roman" pitchFamily="18" charset="0"/>
                <a:cs typeface="Times New Roman" pitchFamily="18" charset="0"/>
              </a:rPr>
              <a:t>system.</a:t>
            </a: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Review </a:t>
            </a:r>
            <a:r>
              <a:rPr lang="en-US" sz="1600" dirty="0" smtClean="0">
                <a:latin typeface="Times New Roman" pitchFamily="18" charset="0"/>
                <a:cs typeface="Times New Roman" pitchFamily="18" charset="0"/>
              </a:rPr>
              <a:t>Execution Plan: Analyze the query execution plan and optimize it if necessary using query </a:t>
            </a:r>
            <a:r>
              <a:rPr lang="en-US" sz="1600" dirty="0" smtClean="0">
                <a:latin typeface="Times New Roman" pitchFamily="18" charset="0"/>
                <a:cs typeface="Times New Roman" pitchFamily="18" charset="0"/>
              </a:rPr>
              <a:t>hints.</a:t>
            </a:r>
          </a:p>
          <a:p>
            <a:pPr lvl="1" algn="just">
              <a:buFont typeface="Wingdings" pitchFamily="2" charset="2"/>
              <a:buChar char="ü"/>
            </a:pPr>
            <a:r>
              <a:rPr lang="en-US"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Partitioning</a:t>
            </a:r>
            <a:r>
              <a:rPr lang="en-US" sz="1600" dirty="0" smtClean="0">
                <a:latin typeface="Times New Roman" pitchFamily="18" charset="0"/>
                <a:cs typeface="Times New Roman" pitchFamily="18" charset="0"/>
              </a:rPr>
              <a:t>: If applicable, partition large tables to improve data retrieval for </a:t>
            </a:r>
            <a:r>
              <a:rPr lang="en-US" sz="1600" dirty="0" smtClean="0">
                <a:latin typeface="Times New Roman" pitchFamily="18" charset="0"/>
                <a:cs typeface="Times New Roman" pitchFamily="18" charset="0"/>
              </a:rPr>
              <a:t>specific ranges.</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58</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387019"/>
            <a:ext cx="7239000" cy="40934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buFont typeface="Wingdings" pitchFamily="2" charset="2"/>
              <a:buChar char="q"/>
            </a:pPr>
            <a:r>
              <a:rPr kumimoji="0" lang="en-US" altLang="zh-CN" sz="20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a:t>
            </a:r>
            <a:r>
              <a:rPr lang="en-US" sz="2000" b="1" dirty="0" smtClean="0">
                <a:latin typeface="Times New Roman" pitchFamily="18" charset="0"/>
                <a:cs typeface="Times New Roman" pitchFamily="18" charset="0"/>
              </a:rPr>
              <a:t>What is query optimization process?</a:t>
            </a:r>
            <a:endParaRPr lang="en-US" sz="2000" b="1"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 The </a:t>
            </a:r>
            <a:r>
              <a:rPr lang="en-US" sz="2000" dirty="0" smtClean="0">
                <a:latin typeface="Times New Roman" pitchFamily="18" charset="0"/>
                <a:cs typeface="Times New Roman" pitchFamily="18" charset="0"/>
              </a:rPr>
              <a:t>query optimization process involves analyzing SQL queries to improve their execution efficiency. </a:t>
            </a:r>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includes steps such as parsing the query, generating candidate execution plans, estimating costs for each plan, and selecting the most optimal plan based on cost estimations. </a:t>
            </a:r>
            <a:endParaRPr lang="en-US" sz="2000" dirty="0" smtClean="0">
              <a:latin typeface="Times New Roman" pitchFamily="18" charset="0"/>
              <a:cs typeface="Times New Roman" pitchFamily="18" charset="0"/>
            </a:endParaRPr>
          </a:p>
          <a:p>
            <a:pPr lvl="1" algn="just">
              <a:buFont typeface="Wingdings" pitchFamily="2" charset="2"/>
              <a:buChar char="Ø"/>
            </a:pP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Indexing</a:t>
            </a:r>
            <a:r>
              <a:rPr lang="en-US" sz="2000" dirty="0" smtClean="0">
                <a:latin typeface="Times New Roman" pitchFamily="18" charset="0"/>
                <a:cs typeface="Times New Roman" pitchFamily="18" charset="0"/>
              </a:rPr>
              <a:t>, query rewriting, and other techniques are applied to reduce query execution time and improve overall database performance.</a:t>
            </a:r>
          </a:p>
          <a:p>
            <a:pPr lvl="1" algn="just">
              <a:buFont typeface="Wingdings" pitchFamily="2" charset="2"/>
              <a:buChar char="ü"/>
            </a:pPr>
            <a:endParaRPr lang="en-US" sz="2000" dirty="0" smtClean="0">
              <a:latin typeface="Times New Roman" pitchFamily="18" charset="0"/>
              <a:cs typeface="Times New Roman" pitchFamily="18" charset="0"/>
            </a:endParaRPr>
          </a:p>
          <a:p>
            <a:pPr lvl="1" algn="just">
              <a:buFont typeface="Wingdings" pitchFamily="2" charset="2"/>
              <a:buChar char="ü"/>
            </a:pPr>
            <a:endParaRPr lang="en-US" sz="2000" dirty="0" smtClean="0">
              <a:latin typeface="Times New Roman" pitchFamily="18" charset="0"/>
              <a:cs typeface="Times New Roman" pitchFamily="18" charset="0"/>
            </a:endParaRPr>
          </a:p>
          <a:p>
            <a:pPr lvl="1" algn="just">
              <a:buFont typeface="Wingdings" pitchFamily="2" charset="2"/>
              <a:buChar char="ü"/>
            </a:pPr>
            <a:endParaRPr lang="en-US" sz="20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59</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15498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D</a:t>
            </a:r>
            <a:r>
              <a:rPr lang="en-US" sz="2000" b="1" dirty="0" smtClean="0">
                <a:latin typeface="Times New Roman" pitchFamily="18" charset="0"/>
                <a:cs typeface="Times New Roman" pitchFamily="18" charset="0"/>
              </a:rPr>
              <a:t>atabase Integration Process</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Database Integration involves the process by which information from participating database can be conceptually integrated to form a single cohesive definition of a multi-database. In other words, it is the process of designing the Global Conceptual Schema (GCS). Database Integration occurs in two general steps: schema translation and schema integration.</a:t>
            </a:r>
          </a:p>
          <a:p>
            <a:pPr algn="just"/>
            <a:r>
              <a:rPr lang="en-US" sz="2000" dirty="0" smtClean="0">
                <a:latin typeface="Times New Roman" pitchFamily="18" charset="0"/>
                <a:cs typeface="Times New Roman" pitchFamily="18" charset="0"/>
              </a:rPr>
              <a:t> </a:t>
            </a:r>
          </a:p>
          <a:p>
            <a:pPr algn="just"/>
            <a:r>
              <a:rPr lang="en-US" sz="2000" dirty="0" smtClean="0">
                <a:latin typeface="Times New Roman" pitchFamily="18" charset="0"/>
                <a:cs typeface="Times New Roman" pitchFamily="18" charset="0"/>
              </a:rPr>
              <a:t>In the first step, the component database schemas are translated to a common intermediate canonical representation (InS</a:t>
            </a:r>
            <a:r>
              <a:rPr lang="en-US" sz="2000" baseline="-25000" dirty="0" smtClean="0">
                <a:latin typeface="Times New Roman" pitchFamily="18" charset="0"/>
                <a:cs typeface="Times New Roman" pitchFamily="18" charset="0"/>
              </a:rPr>
              <a:t>1</a:t>
            </a:r>
            <a:r>
              <a:rPr lang="en-US" sz="2000" dirty="0" smtClean="0">
                <a:latin typeface="Times New Roman" pitchFamily="18" charset="0"/>
                <a:cs typeface="Times New Roman" pitchFamily="18" charset="0"/>
              </a:rPr>
              <a:t>; InS</a:t>
            </a:r>
            <a:r>
              <a:rPr lang="en-US" sz="2000" baseline="-25000" dirty="0" smtClean="0">
                <a:latin typeface="Times New Roman" pitchFamily="18" charset="0"/>
                <a:cs typeface="Times New Roman" pitchFamily="18" charset="0"/>
              </a:rPr>
              <a:t>2</a:t>
            </a:r>
            <a:r>
              <a:rPr lang="en-US" sz="2000" dirty="0" smtClean="0">
                <a:latin typeface="Times New Roman" pitchFamily="18" charset="0"/>
                <a:cs typeface="Times New Roman" pitchFamily="18" charset="0"/>
              </a:rPr>
              <a:t>; : : : ; </a:t>
            </a:r>
            <a:r>
              <a:rPr lang="en-US" sz="2000" dirty="0" err="1" smtClean="0">
                <a:latin typeface="Times New Roman" pitchFamily="18" charset="0"/>
                <a:cs typeface="Times New Roman" pitchFamily="18" charset="0"/>
              </a:rPr>
              <a:t>InS</a:t>
            </a:r>
            <a:r>
              <a:rPr lang="en-US" sz="2000" baseline="-25000" dirty="0" err="1"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Clearly, the translation step is necessary only if the component databases are heterogeneous and local schemas are defined using different data models.</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60</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D</a:t>
            </a:r>
            <a:r>
              <a:rPr lang="en-US" sz="2000" b="1" dirty="0" smtClean="0">
                <a:latin typeface="Times New Roman" pitchFamily="18" charset="0"/>
                <a:cs typeface="Times New Roman" pitchFamily="18" charset="0"/>
              </a:rPr>
              <a:t>atabase Integration Process</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In the second step, the intermediate schemas are used to generate a GCS. In some methodologies, local external schemas are considered for integration rather than full database schemas.</a:t>
            </a:r>
            <a:endParaRPr lang="en-US" sz="2000" b="1" dirty="0" smtClean="0">
              <a:latin typeface="Times New Roman" pitchFamily="18" charset="0"/>
              <a:cs typeface="Times New Roman" pitchFamily="18" charset="0"/>
            </a:endParaRPr>
          </a:p>
        </p:txBody>
      </p:sp>
      <p:pic>
        <p:nvPicPr>
          <p:cNvPr id="3074" name="Picture 2" descr="IMAGE0001"/>
          <p:cNvPicPr>
            <a:picLocks noChangeAspect="1" noChangeArrowheads="1"/>
          </p:cNvPicPr>
          <p:nvPr/>
        </p:nvPicPr>
        <p:blipFill>
          <a:blip r:embed="rId4">
            <a:lum bright="10000"/>
            <a:grayscl/>
          </a:blip>
          <a:srcRect/>
          <a:stretch>
            <a:fillRect/>
          </a:stretch>
        </p:blipFill>
        <p:spPr bwMode="auto">
          <a:xfrm>
            <a:off x="1905000" y="2895600"/>
            <a:ext cx="5263701" cy="3505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61</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32316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D</a:t>
            </a:r>
            <a:r>
              <a:rPr lang="en-US" sz="2000" b="1" dirty="0" smtClean="0">
                <a:latin typeface="Times New Roman" pitchFamily="18" charset="0"/>
                <a:cs typeface="Times New Roman" pitchFamily="18" charset="0"/>
              </a:rPr>
              <a:t>atabase Integration Process</a:t>
            </a:r>
            <a:endParaRPr lang="en-US" sz="2000" dirty="0" smtClean="0">
              <a:latin typeface="Times New Roman" pitchFamily="18" charset="0"/>
              <a:cs typeface="Times New Roman" pitchFamily="18" charset="0"/>
            </a:endParaRPr>
          </a:p>
          <a:p>
            <a:pPr algn="just"/>
            <a:endParaRPr lang="en-US" sz="2000" b="1"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Schema Translation</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Schema Translation is the task of mapping from one schema to another. This requires the specification of a target data model for the global conceptual schema definition. Schema translation may not be necessary in a heterogeneous database if it can be accomplished during integration stage. Combining the translation and integration steps provides the integrator with all the information about the entire global database at one time.</a:t>
            </a:r>
            <a:endParaRPr lang="en-US" sz="20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990600" y="350838"/>
            <a:ext cx="7315200" cy="792162"/>
          </a:xfrm>
          <a:prstGeom prst="rect">
            <a:avLst/>
          </a:prstGeom>
        </p:spPr>
        <p:txBody>
          <a:bodyPr/>
          <a:lstStyle/>
          <a:p>
            <a:r>
              <a:rPr lang="en-US" dirty="0" smtClean="0">
                <a:latin typeface="Times New Roman" pitchFamily="18" charset="0"/>
                <a:cs typeface="Times New Roman" pitchFamily="18" charset="0"/>
              </a:rPr>
              <a:t>Parallel DBMS</a:t>
            </a:r>
            <a:endParaRPr lang="en-US"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6/22/2024</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62</a:t>
            </a:fld>
            <a:endParaRPr lang="en-US" dirty="0">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a:solidFill>
            <a:srgbClr val="FF0000"/>
          </a:solidFill>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2049" name="Rectangle 1"/>
          <p:cNvSpPr>
            <a:spLocks noChangeArrowheads="1"/>
          </p:cNvSpPr>
          <p:nvPr/>
        </p:nvSpPr>
        <p:spPr bwMode="auto">
          <a:xfrm>
            <a:off x="990600" y="1524000"/>
            <a:ext cx="7239000" cy="477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kumimoji="0" lang="en-US" altLang="zh-CN" sz="2400" b="1" i="0" u="none" strike="noStrike" cap="none" normalizeH="0" baseline="0" dirty="0" smtClean="0">
                <a:ln>
                  <a:noFill/>
                </a:ln>
                <a:solidFill>
                  <a:schemeClr val="tx1"/>
                </a:solidFill>
                <a:effectLst/>
                <a:latin typeface="Times New Roman" pitchFamily="18" charset="0"/>
                <a:ea typeface="SimSun" pitchFamily="2" charset="-122"/>
                <a:cs typeface="Times New Roman" pitchFamily="18" charset="0"/>
              </a:rPr>
              <a:t> D</a:t>
            </a:r>
            <a:r>
              <a:rPr lang="en-US" sz="2000" b="1" dirty="0" smtClean="0">
                <a:latin typeface="Times New Roman" pitchFamily="18" charset="0"/>
                <a:cs typeface="Times New Roman" pitchFamily="18" charset="0"/>
              </a:rPr>
              <a:t>atabase Integration Process</a:t>
            </a: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Schema Integration</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Schema Integration is the process of identifying the components of a database which are related to one another, selecting the best representation for the global conceptual schema and finally, integrating the components of each intermediate schema.</a:t>
            </a:r>
          </a:p>
          <a:p>
            <a:pPr algn="just"/>
            <a:r>
              <a:rPr lang="en-US" sz="2000" dirty="0" smtClean="0">
                <a:latin typeface="Times New Roman" pitchFamily="18" charset="0"/>
                <a:cs typeface="Times New Roman" pitchFamily="18" charset="0"/>
              </a:rPr>
              <a:t>Integration methodologies can be classified as binary or n-</a:t>
            </a:r>
            <a:r>
              <a:rPr lang="en-US" sz="2000" dirty="0" err="1" smtClean="0">
                <a:latin typeface="Times New Roman" pitchFamily="18" charset="0"/>
                <a:cs typeface="Times New Roman" pitchFamily="18" charset="0"/>
              </a:rPr>
              <a:t>ary</a:t>
            </a:r>
            <a:r>
              <a:rPr lang="en-US" sz="2000" dirty="0" smtClean="0">
                <a:latin typeface="Times New Roman" pitchFamily="18" charset="0"/>
                <a:cs typeface="Times New Roman" pitchFamily="18" charset="0"/>
              </a:rPr>
              <a:t> mechanisms</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Binary integration methodologies involve the manipulation of two schemas at a time. These can occur in a stepwise (ladder) fashion where intermediate schemas are created for integration with subsequent schemas  or in a purely binary fashion, where each schema is integrated with one other, creating an intermediate schema for integration with other intermediate schemas  and N-</a:t>
            </a:r>
            <a:r>
              <a:rPr lang="en-US" sz="2000" dirty="0" err="1" smtClean="0">
                <a:latin typeface="Times New Roman" pitchFamily="18" charset="0"/>
                <a:cs typeface="Times New Roman" pitchFamily="18" charset="0"/>
              </a:rPr>
              <a:t>ary</a:t>
            </a:r>
            <a:r>
              <a:rPr lang="en-US" sz="2000" dirty="0" smtClean="0">
                <a:latin typeface="Times New Roman" pitchFamily="18" charset="0"/>
                <a:cs typeface="Times New Roman" pitchFamily="18" charset="0"/>
              </a:rPr>
              <a:t> integration mechanisms integrate more than two schemas at each iteration.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1351</TotalTime>
  <Words>3876</Words>
  <Application>Microsoft Office PowerPoint</Application>
  <PresentationFormat>On-screen Show (4:3)</PresentationFormat>
  <Paragraphs>791</Paragraphs>
  <Slides>62</Slides>
  <Notes>62</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Slide 1</vt:lpstr>
      <vt:lpstr>Slide 2</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lpstr>Parallel DBMS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CSEJU</cp:lastModifiedBy>
  <cp:revision>1239</cp:revision>
  <dcterms:created xsi:type="dcterms:W3CDTF">2014-09-22T15:27:45Z</dcterms:created>
  <dcterms:modified xsi:type="dcterms:W3CDTF">2024-06-22T06:57:23Z</dcterms:modified>
</cp:coreProperties>
</file>