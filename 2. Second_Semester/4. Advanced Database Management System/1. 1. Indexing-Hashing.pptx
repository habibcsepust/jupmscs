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notesSlides/notesSlide3.xml" ContentType="application/vnd.openxmlformats-officedocument.presentationml.notesSlide+xml"/>
  <Default Extension="png" ContentType="image/png"/>
  <Override PartName="/ppt/notesSlides/notesSlide68.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Default Extension="tiff" ContentType="image/tif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6" r:id="rId2"/>
    <p:sldId id="309" r:id="rId3"/>
    <p:sldId id="257" r:id="rId4"/>
    <p:sldId id="258" r:id="rId5"/>
    <p:sldId id="259" r:id="rId6"/>
    <p:sldId id="281" r:id="rId7"/>
    <p:sldId id="260" r:id="rId8"/>
    <p:sldId id="282" r:id="rId9"/>
    <p:sldId id="261" r:id="rId10"/>
    <p:sldId id="283" r:id="rId11"/>
    <p:sldId id="262" r:id="rId12"/>
    <p:sldId id="284" r:id="rId13"/>
    <p:sldId id="263" r:id="rId14"/>
    <p:sldId id="285" r:id="rId15"/>
    <p:sldId id="264" r:id="rId16"/>
    <p:sldId id="286" r:id="rId17"/>
    <p:sldId id="265" r:id="rId18"/>
    <p:sldId id="287" r:id="rId19"/>
    <p:sldId id="266" r:id="rId20"/>
    <p:sldId id="267" r:id="rId21"/>
    <p:sldId id="288" r:id="rId22"/>
    <p:sldId id="268" r:id="rId23"/>
    <p:sldId id="289" r:id="rId24"/>
    <p:sldId id="269" r:id="rId25"/>
    <p:sldId id="291" r:id="rId26"/>
    <p:sldId id="292" r:id="rId27"/>
    <p:sldId id="293" r:id="rId28"/>
    <p:sldId id="294" r:id="rId29"/>
    <p:sldId id="295" r:id="rId30"/>
    <p:sldId id="270"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271" r:id="rId50"/>
    <p:sldId id="296" r:id="rId51"/>
    <p:sldId id="272" r:id="rId52"/>
    <p:sldId id="297" r:id="rId53"/>
    <p:sldId id="273" r:id="rId54"/>
    <p:sldId id="299" r:id="rId55"/>
    <p:sldId id="300" r:id="rId56"/>
    <p:sldId id="301" r:id="rId57"/>
    <p:sldId id="302" r:id="rId58"/>
    <p:sldId id="298" r:id="rId59"/>
    <p:sldId id="274" r:id="rId60"/>
    <p:sldId id="275" r:id="rId61"/>
    <p:sldId id="303" r:id="rId62"/>
    <p:sldId id="276" r:id="rId63"/>
    <p:sldId id="304" r:id="rId64"/>
    <p:sldId id="305" r:id="rId65"/>
    <p:sldId id="277" r:id="rId66"/>
    <p:sldId id="306" r:id="rId67"/>
    <p:sldId id="278" r:id="rId68"/>
    <p:sldId id="279" r:id="rId69"/>
    <p:sldId id="307" r:id="rId70"/>
    <p:sldId id="280" r:id="rId71"/>
    <p:sldId id="308"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1/4/2025</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219200" y="1905000"/>
            <a:ext cx="6781800" cy="3276600"/>
          </a:xfrm>
          <a:prstGeom prst="rect">
            <a:avLst/>
          </a:prstGeom>
        </p:spPr>
        <p:txBody>
          <a:bodyPr/>
          <a:lstStyle/>
          <a:p>
            <a:pPr algn="ctr">
              <a:buNone/>
            </a:pPr>
            <a:r>
              <a:rPr lang="en-US" sz="6000" dirty="0" smtClean="0">
                <a:latin typeface="Times New Roman" pitchFamily="18" charset="0"/>
                <a:cs typeface="Times New Roman" pitchFamily="18" charset="0"/>
              </a:rPr>
              <a:t>Indexing</a:t>
            </a:r>
          </a:p>
          <a:p>
            <a:pPr algn="ctr">
              <a:buNone/>
            </a:pPr>
            <a:r>
              <a:rPr lang="en-US" sz="6000" dirty="0" smtClean="0">
                <a:latin typeface="Times New Roman" pitchFamily="18" charset="0"/>
                <a:cs typeface="Times New Roman" pitchFamily="18" charset="0"/>
              </a:rPr>
              <a:t>and</a:t>
            </a:r>
          </a:p>
          <a:p>
            <a:pPr algn="ctr">
              <a:buNone/>
            </a:pPr>
            <a:r>
              <a:rPr lang="en-US" sz="6000" dirty="0" smtClean="0">
                <a:latin typeface="Times New Roman" pitchFamily="18" charset="0"/>
                <a:cs typeface="Times New Roman" pitchFamily="18" charset="0"/>
              </a:rPr>
              <a:t>Hashing </a:t>
            </a:r>
            <a:endParaRPr lang="en-US" sz="6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2286000" y="1524000"/>
            <a:ext cx="4953000" cy="4495800"/>
          </a:xfrm>
          <a:prstGeom prst="rect">
            <a:avLst/>
          </a:prstGeom>
        </p:spPr>
        <p:txBody>
          <a:bodyPr/>
          <a:lstStyle/>
          <a:p>
            <a:pPr algn="just">
              <a:buFont typeface="Wingdings" pitchFamily="2" charset="2"/>
              <a:buChar char="ü"/>
            </a:pPr>
            <a:r>
              <a:rPr lang="en-US" sz="2000" dirty="0" smtClean="0">
                <a:latin typeface="Times New Roman" pitchFamily="18" charset="0"/>
                <a:cs typeface="Times New Roman" pitchFamily="18" charset="0"/>
              </a:rPr>
              <a:t>Indexing: Basic Concepts</a:t>
            </a:r>
          </a:p>
          <a:p>
            <a:pPr algn="just">
              <a:buFont typeface="Wingdings" pitchFamily="2" charset="2"/>
              <a:buChar char="ü"/>
            </a:pPr>
            <a:r>
              <a:rPr lang="en-US" sz="2000" dirty="0" smtClean="0">
                <a:latin typeface="Times New Roman" pitchFamily="18" charset="0"/>
                <a:cs typeface="Times New Roman" pitchFamily="18" charset="0"/>
              </a:rPr>
              <a:t>Evaluation Factors</a:t>
            </a:r>
          </a:p>
          <a:p>
            <a:pPr algn="just">
              <a:buFont typeface="Wingdings" pitchFamily="2" charset="2"/>
              <a:buChar char="ü"/>
            </a:pPr>
            <a:r>
              <a:rPr lang="en-US" sz="2000" dirty="0" smtClean="0">
                <a:latin typeface="Times New Roman" pitchFamily="18" charset="0"/>
                <a:cs typeface="Times New Roman" pitchFamily="18" charset="0"/>
              </a:rPr>
              <a:t>Ordered Indices: Primary and Secondary</a:t>
            </a:r>
          </a:p>
          <a:p>
            <a:pPr algn="just">
              <a:buFont typeface="Wingdings" pitchFamily="2" charset="2"/>
              <a:buChar char="ü"/>
            </a:pPr>
            <a:r>
              <a:rPr lang="en-US" sz="2000" dirty="0" smtClean="0">
                <a:latin typeface="Times New Roman" pitchFamily="18" charset="0"/>
                <a:cs typeface="Times New Roman" pitchFamily="18" charset="0"/>
              </a:rPr>
              <a:t>Dense and Sparse indices</a:t>
            </a:r>
          </a:p>
          <a:p>
            <a:pPr algn="just">
              <a:buFont typeface="Wingdings" pitchFamily="2" charset="2"/>
              <a:buChar char="ü"/>
            </a:pPr>
            <a:r>
              <a:rPr lang="en-US" sz="2000" dirty="0" smtClean="0">
                <a:latin typeface="Times New Roman" pitchFamily="18" charset="0"/>
                <a:cs typeface="Times New Roman" pitchFamily="18" charset="0"/>
              </a:rPr>
              <a:t>Multilevel Indexing</a:t>
            </a:r>
          </a:p>
          <a:p>
            <a:pPr algn="just">
              <a:buFont typeface="Wingdings" pitchFamily="2" charset="2"/>
              <a:buChar char="ü"/>
            </a:pPr>
            <a:r>
              <a:rPr lang="en-US" sz="2000" dirty="0" smtClean="0">
                <a:latin typeface="Times New Roman" pitchFamily="18" charset="0"/>
                <a:cs typeface="Times New Roman" pitchFamily="18" charset="0"/>
              </a:rPr>
              <a:t>B+ Tree Index Files</a:t>
            </a:r>
          </a:p>
          <a:p>
            <a:pPr algn="just">
              <a:buFont typeface="Wingdings" pitchFamily="2" charset="2"/>
              <a:buChar char="ü"/>
            </a:pPr>
            <a:r>
              <a:rPr lang="en-US" sz="2000" dirty="0" smtClean="0">
                <a:latin typeface="Times New Roman" pitchFamily="18" charset="0"/>
                <a:cs typeface="Times New Roman" pitchFamily="18" charset="0"/>
              </a:rPr>
              <a:t>B-Tree Index Files</a:t>
            </a:r>
          </a:p>
          <a:p>
            <a:pPr algn="just">
              <a:buFont typeface="Wingdings" pitchFamily="2" charset="2"/>
              <a:buChar char="ü"/>
            </a:pPr>
            <a:r>
              <a:rPr lang="en-US" sz="2000" dirty="0" smtClean="0">
                <a:latin typeface="Times New Roman" pitchFamily="18" charset="0"/>
                <a:cs typeface="Times New Roman" pitchFamily="18" charset="0"/>
              </a:rPr>
              <a:t>Hashing</a:t>
            </a:r>
          </a:p>
          <a:p>
            <a:pPr algn="just">
              <a:buFont typeface="Wingdings" pitchFamily="2" charset="2"/>
              <a:buChar char="ü"/>
            </a:pPr>
            <a:r>
              <a:rPr lang="en-US" sz="2000" dirty="0" smtClean="0">
                <a:latin typeface="Times New Roman" pitchFamily="18" charset="0"/>
                <a:cs typeface="Times New Roman" pitchFamily="18" charset="0"/>
              </a:rPr>
              <a:t>Hash File Organization</a:t>
            </a:r>
          </a:p>
          <a:p>
            <a:pPr algn="just">
              <a:buFont typeface="Wingdings" pitchFamily="2" charset="2"/>
              <a:buChar char="ü"/>
            </a:pPr>
            <a:r>
              <a:rPr lang="en-US" sz="2000" dirty="0" smtClean="0">
                <a:latin typeface="Times New Roman" pitchFamily="18" charset="0"/>
                <a:cs typeface="Times New Roman" pitchFamily="18" charset="0"/>
              </a:rPr>
              <a:t>Handling of Bucket Overflows</a:t>
            </a:r>
          </a:p>
          <a:p>
            <a:pPr algn="just">
              <a:buFont typeface="Wingdings" pitchFamily="2" charset="2"/>
              <a:buChar char="ü"/>
            </a:pPr>
            <a:r>
              <a:rPr lang="en-US" sz="2000" dirty="0" smtClean="0">
                <a:latin typeface="Times New Roman" pitchFamily="18" charset="0"/>
                <a:cs typeface="Times New Roman" pitchFamily="18" charset="0"/>
              </a:rPr>
              <a:t>Open and Closed hashing</a:t>
            </a:r>
          </a:p>
          <a:p>
            <a:pPr algn="just">
              <a:buFont typeface="Wingdings" pitchFamily="2" charset="2"/>
              <a:buChar char="ü"/>
            </a:pPr>
            <a:r>
              <a:rPr lang="en-US" sz="2000" dirty="0" smtClean="0">
                <a:latin typeface="Times New Roman" pitchFamily="18" charset="0"/>
                <a:cs typeface="Times New Roman" pitchFamily="18" charset="0"/>
              </a:rPr>
              <a:t>Hash Indices</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OUTLINE</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Database Index</a:t>
            </a:r>
          </a:p>
          <a:p>
            <a:pPr>
              <a:buNone/>
            </a:pPr>
            <a:r>
              <a:rPr lang="en-US" sz="2000" dirty="0" smtClean="0">
                <a:latin typeface="Times New Roman" pitchFamily="18" charset="0"/>
                <a:cs typeface="Times New Roman" pitchFamily="18" charset="0"/>
              </a:rPr>
              <a:t>	A data structure that improves the speed of data retrieval operations on a database table at the cost of slower writes and the use of more storage space.</a:t>
            </a:r>
          </a:p>
          <a:p>
            <a:pPr>
              <a:buNone/>
            </a:pPr>
            <a:endParaRPr lang="en-US" sz="2000" dirty="0" smtClean="0">
              <a:latin typeface="Times New Roman" pitchFamily="18" charset="0"/>
              <a:cs typeface="Times New Roman" pitchFamily="18" charset="0"/>
            </a:endParaRPr>
          </a:p>
          <a:p>
            <a:pPr>
              <a:buFont typeface="Wingdings" pitchFamily="2" charset="2"/>
              <a:buChar char="q"/>
            </a:pPr>
            <a:r>
              <a:rPr lang="en-US" sz="2000" b="1" dirty="0" smtClean="0">
                <a:latin typeface="Times New Roman" pitchFamily="18" charset="0"/>
                <a:cs typeface="Times New Roman" pitchFamily="18" charset="0"/>
              </a:rPr>
              <a:t>Basic Concept</a:t>
            </a:r>
          </a:p>
          <a:p>
            <a:pPr>
              <a:buNone/>
            </a:pPr>
            <a:r>
              <a:rPr lang="en-US" sz="2000" dirty="0" smtClean="0">
                <a:latin typeface="Times New Roman" pitchFamily="18" charset="0"/>
                <a:cs typeface="Times New Roman" pitchFamily="18" charset="0"/>
              </a:rPr>
              <a:t>	An index for a file in a database system works in much the same way as the index in this textbook. If we want to learn about a particular topic, we can search for the topic in the index at the back of the book, find the pages where it occurs, and then read the pages to find the information we are looking for. The words in the index are in sorted order, making it easy to find the word we are looking for. Moreover, the index is much smaller than the book, further reducing the effort needed to find the words we are looking for.</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Types of Indices</a:t>
            </a:r>
          </a:p>
          <a:p>
            <a:pPr>
              <a:buNone/>
            </a:pPr>
            <a:r>
              <a:rPr lang="en-US" sz="1800" dirty="0" smtClean="0">
                <a:latin typeface="Times New Roman" pitchFamily="18" charset="0"/>
                <a:cs typeface="Times New Roman" pitchFamily="18" charset="0"/>
              </a:rPr>
              <a:t>	There are two basic types of indices:</a:t>
            </a:r>
          </a:p>
          <a:p>
            <a:pPr lvl="1"/>
            <a:r>
              <a:rPr lang="en-US" sz="1400" b="1" dirty="0" smtClean="0">
                <a:latin typeface="Times New Roman" pitchFamily="18" charset="0"/>
                <a:cs typeface="Times New Roman" pitchFamily="18" charset="0"/>
              </a:rPr>
              <a:t>	</a:t>
            </a:r>
            <a:r>
              <a:rPr lang="en-US" sz="1800" b="1" dirty="0" smtClean="0">
                <a:latin typeface="Times New Roman" pitchFamily="18" charset="0"/>
                <a:cs typeface="Times New Roman" pitchFamily="18" charset="0"/>
              </a:rPr>
              <a:t>Ordered Indices</a:t>
            </a:r>
          </a:p>
          <a:p>
            <a:pPr lvl="1"/>
            <a:r>
              <a:rPr lang="en-US" sz="1800" b="1" dirty="0" smtClean="0">
                <a:latin typeface="Times New Roman" pitchFamily="18" charset="0"/>
                <a:cs typeface="Times New Roman" pitchFamily="18" charset="0"/>
              </a:rPr>
              <a:t>	Hash Indices</a:t>
            </a:r>
          </a:p>
          <a:p>
            <a:pPr lvl="0">
              <a:buNone/>
            </a:pPr>
            <a:endParaRPr lang="en-US" sz="1000" b="1" dirty="0" smtClean="0">
              <a:latin typeface="Times New Roman" pitchFamily="18" charset="0"/>
              <a:cs typeface="Times New Roman" pitchFamily="18" charset="0"/>
            </a:endParaRPr>
          </a:p>
          <a:p>
            <a:pPr lvl="0">
              <a:buNone/>
            </a:pPr>
            <a:r>
              <a:rPr lang="en-US" sz="1800" b="1" dirty="0" smtClean="0">
                <a:latin typeface="Times New Roman" pitchFamily="18" charset="0"/>
                <a:cs typeface="Times New Roman" pitchFamily="18" charset="0"/>
              </a:rPr>
              <a:t>	Ordered Indices:</a:t>
            </a:r>
            <a:r>
              <a:rPr lang="en-US" sz="1800" dirty="0" smtClean="0">
                <a:latin typeface="Times New Roman" pitchFamily="18" charset="0"/>
                <a:cs typeface="Times New Roman" pitchFamily="18" charset="0"/>
              </a:rPr>
              <a:t> Based on a sorted ordering of the values.</a:t>
            </a:r>
          </a:p>
          <a:p>
            <a:pPr lvl="0">
              <a:buNone/>
            </a:pPr>
            <a:r>
              <a:rPr lang="en-US" sz="1800" b="1" dirty="0" smtClean="0">
                <a:latin typeface="Times New Roman" pitchFamily="18" charset="0"/>
                <a:cs typeface="Times New Roman" pitchFamily="18" charset="0"/>
              </a:rPr>
              <a:t>	Hash Indices</a:t>
            </a:r>
            <a:r>
              <a:rPr lang="en-US" sz="1800" dirty="0" smtClean="0">
                <a:latin typeface="Times New Roman" pitchFamily="18" charset="0"/>
                <a:cs typeface="Times New Roman" pitchFamily="18" charset="0"/>
              </a:rPr>
              <a:t>. Based on a uniform distribution of values across a range of buckets. The bucket to which a value is assigned is determined by a function, called a </a:t>
            </a:r>
            <a:r>
              <a:rPr lang="en-US" sz="1800" i="1" dirty="0" smtClean="0">
                <a:latin typeface="Times New Roman" pitchFamily="18" charset="0"/>
                <a:cs typeface="Times New Roman" pitchFamily="18" charset="0"/>
              </a:rPr>
              <a:t>hash function</a:t>
            </a:r>
            <a:r>
              <a:rPr lang="en-US" sz="1800" dirty="0" smtClean="0">
                <a:latin typeface="Times New Roman" pitchFamily="18" charset="0"/>
                <a:cs typeface="Times New Roman" pitchFamily="18" charset="0"/>
              </a:rPr>
              <a:t>.</a:t>
            </a:r>
          </a:p>
          <a:p>
            <a:pPr>
              <a:buNone/>
            </a:pPr>
            <a:endParaRPr lang="en-US" sz="1800" b="1" dirty="0" smtClean="0">
              <a:latin typeface="Times New Roman" pitchFamily="18" charset="0"/>
              <a:cs typeface="Times New Roman" pitchFamily="18" charset="0"/>
            </a:endParaRPr>
          </a:p>
          <a:p>
            <a:pPr>
              <a:buFont typeface="Wingdings" pitchFamily="2" charset="2"/>
              <a:buChar char="q"/>
            </a:pPr>
            <a:r>
              <a:rPr lang="en-US" sz="2000" b="1" dirty="0" smtClean="0">
                <a:latin typeface="Times New Roman" pitchFamily="18" charset="0"/>
                <a:cs typeface="Times New Roman" pitchFamily="18" charset="0"/>
              </a:rPr>
              <a:t>Evaluation Factors</a:t>
            </a:r>
            <a:endParaRPr lang="en-US" sz="20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There are several techniques for both ordered indexing and hashing. No one technique is the best. Rather, each technique is best suited to particular database applications. Each technique must be evaluated on the basis of the following factors: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Evaluation Factors</a:t>
            </a:r>
            <a:endParaRPr lang="en-US" sz="20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p>
          <a:p>
            <a:pPr lvl="1">
              <a:buFont typeface="Wingdings" pitchFamily="2" charset="2"/>
              <a:buChar char="Ø"/>
            </a:pPr>
            <a:r>
              <a:rPr lang="en-US" sz="2000" b="1" dirty="0" smtClean="0">
                <a:latin typeface="Times New Roman" pitchFamily="18" charset="0"/>
                <a:cs typeface="Times New Roman" pitchFamily="18" charset="0"/>
              </a:rPr>
              <a:t>Access Types</a:t>
            </a:r>
            <a:r>
              <a:rPr lang="en-US" sz="2000" dirty="0" smtClean="0">
                <a:latin typeface="Times New Roman" pitchFamily="18" charset="0"/>
                <a:cs typeface="Times New Roman" pitchFamily="18" charset="0"/>
              </a:rPr>
              <a:t>: Access types can include finding records with a specified attribute value and finding records whose attribute values fall in a specified range.</a:t>
            </a:r>
          </a:p>
          <a:p>
            <a:pPr lvl="1">
              <a:buFont typeface="Wingdings" pitchFamily="2" charset="2"/>
              <a:buChar char="Ø"/>
            </a:pPr>
            <a:endParaRPr lang="en-US" sz="2000" dirty="0" smtClean="0">
              <a:latin typeface="Times New Roman" pitchFamily="18" charset="0"/>
              <a:cs typeface="Times New Roman" pitchFamily="18" charset="0"/>
            </a:endParaRPr>
          </a:p>
          <a:p>
            <a:pPr lvl="1">
              <a:buFont typeface="Wingdings" pitchFamily="2" charset="2"/>
              <a:buChar char="Ø"/>
            </a:pPr>
            <a:r>
              <a:rPr lang="en-US" sz="2000" b="1" dirty="0" smtClean="0">
                <a:latin typeface="Times New Roman" pitchFamily="18" charset="0"/>
                <a:cs typeface="Times New Roman" pitchFamily="18" charset="0"/>
              </a:rPr>
              <a:t>Access Time</a:t>
            </a:r>
            <a:r>
              <a:rPr lang="en-US" sz="2000" dirty="0" smtClean="0">
                <a:latin typeface="Times New Roman" pitchFamily="18" charset="0"/>
                <a:cs typeface="Times New Roman" pitchFamily="18" charset="0"/>
              </a:rPr>
              <a:t>: The time it takes to find a particular data item, or set of items, using the technique in question.</a:t>
            </a:r>
          </a:p>
          <a:p>
            <a:pPr lvl="1">
              <a:buNone/>
            </a:pPr>
            <a:endParaRPr lang="en-US" sz="2000" dirty="0" smtClean="0">
              <a:latin typeface="Times New Roman" pitchFamily="18" charset="0"/>
              <a:cs typeface="Times New Roman" pitchFamily="18" charset="0"/>
            </a:endParaRPr>
          </a:p>
          <a:p>
            <a:pPr lvl="1">
              <a:buFont typeface="Wingdings" pitchFamily="2" charset="2"/>
              <a:buChar char="Ø"/>
            </a:pPr>
            <a:r>
              <a:rPr lang="en-US" sz="2000" b="1" dirty="0" smtClean="0">
                <a:latin typeface="Times New Roman" pitchFamily="18" charset="0"/>
                <a:cs typeface="Times New Roman" pitchFamily="18" charset="0"/>
              </a:rPr>
              <a:t>Insertion Time</a:t>
            </a:r>
            <a:r>
              <a:rPr lang="en-US" sz="2000" dirty="0" smtClean="0">
                <a:latin typeface="Times New Roman" pitchFamily="18" charset="0"/>
                <a:cs typeface="Times New Roman" pitchFamily="18" charset="0"/>
              </a:rPr>
              <a:t>: The time it takes to insert a new data item. This value includes the time it takes to find the correct place to insert the new data item, as well as the time it takes to update the index structure.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Evaluation Factors</a:t>
            </a:r>
            <a:endParaRPr lang="en-US" sz="20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p>
          <a:p>
            <a:pPr lvl="1">
              <a:buFont typeface="Wingdings" pitchFamily="2" charset="2"/>
              <a:buChar char="Ø"/>
            </a:pPr>
            <a:r>
              <a:rPr lang="en-US" sz="2000" b="1" dirty="0" smtClean="0">
                <a:latin typeface="Times New Roman" pitchFamily="18" charset="0"/>
                <a:cs typeface="Times New Roman" pitchFamily="18" charset="0"/>
              </a:rPr>
              <a:t>Deletion time</a:t>
            </a:r>
            <a:r>
              <a:rPr lang="en-US" sz="2000" dirty="0" smtClean="0">
                <a:latin typeface="Times New Roman" pitchFamily="18" charset="0"/>
                <a:cs typeface="Times New Roman" pitchFamily="18" charset="0"/>
              </a:rPr>
              <a:t>: The time it takes to delete a data item. This value includes the time it takes to find the item to be deleted, as well as the time it takes to update the index structure.</a:t>
            </a:r>
          </a:p>
          <a:p>
            <a:pPr lvl="1">
              <a:buNone/>
            </a:pPr>
            <a:endParaRPr lang="en-US" sz="2000" dirty="0" smtClean="0">
              <a:latin typeface="Times New Roman" pitchFamily="18" charset="0"/>
              <a:cs typeface="Times New Roman" pitchFamily="18" charset="0"/>
            </a:endParaRPr>
          </a:p>
          <a:p>
            <a:pPr lvl="1">
              <a:buFont typeface="Wingdings" pitchFamily="2" charset="2"/>
              <a:buChar char="Ø"/>
            </a:pPr>
            <a:r>
              <a:rPr lang="en-US" sz="2000" b="1" dirty="0" smtClean="0">
                <a:latin typeface="Times New Roman" pitchFamily="18" charset="0"/>
                <a:cs typeface="Times New Roman" pitchFamily="18" charset="0"/>
              </a:rPr>
              <a:t>Space overhead</a:t>
            </a:r>
            <a:r>
              <a:rPr lang="en-US" sz="2000" dirty="0" smtClean="0">
                <a:latin typeface="Times New Roman" pitchFamily="18" charset="0"/>
                <a:cs typeface="Times New Roman" pitchFamily="18" charset="0"/>
              </a:rPr>
              <a:t>: The additional space occupied by an index structure. Provided that the amount of additional space is moderate, it is usually worthwhile to sacrifice the space to achieve improved performance.</a:t>
            </a:r>
          </a:p>
          <a:p>
            <a:pPr lvl="1">
              <a:buFont typeface="Wingdings" pitchFamily="2" charset="2"/>
              <a:buChar char="Ø"/>
            </a:pP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Search Key</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An attribute or set of attributes used to look up records in a file is called a </a:t>
            </a:r>
            <a:r>
              <a:rPr lang="en-US" sz="2000" b="1" dirty="0" smtClean="0">
                <a:solidFill>
                  <a:srgbClr val="FF0000"/>
                </a:solidFill>
                <a:latin typeface="Times New Roman" pitchFamily="18" charset="0"/>
                <a:cs typeface="Times New Roman" pitchFamily="18" charset="0"/>
              </a:rPr>
              <a:t>search key</a:t>
            </a:r>
            <a:r>
              <a:rPr lang="en-US" sz="2000" dirty="0" smtClean="0">
                <a:latin typeface="Times New Roman" pitchFamily="18" charset="0"/>
                <a:cs typeface="Times New Roman" pitchFamily="18" charset="0"/>
              </a:rPr>
              <a:t>.</a:t>
            </a:r>
          </a:p>
          <a:p>
            <a:pPr>
              <a:buNone/>
            </a:pPr>
            <a:r>
              <a:rPr lang="en-US" sz="2000" dirty="0" smtClean="0">
                <a:latin typeface="Times New Roman" pitchFamily="18" charset="0"/>
                <a:cs typeface="Times New Roman" pitchFamily="18" charset="0"/>
              </a:rPr>
              <a:t> </a:t>
            </a:r>
          </a:p>
          <a:p>
            <a:pPr>
              <a:buFont typeface="Wingdings" pitchFamily="2" charset="2"/>
              <a:buChar char="q"/>
            </a:pPr>
            <a:r>
              <a:rPr lang="en-US" sz="2000" b="1" dirty="0" smtClean="0">
                <a:latin typeface="Times New Roman" pitchFamily="18" charset="0"/>
                <a:cs typeface="Times New Roman" pitchFamily="18" charset="0"/>
              </a:rPr>
              <a:t>Ordered Indices</a:t>
            </a:r>
            <a:endParaRPr lang="en-US" sz="2000" dirty="0" smtClean="0">
              <a:latin typeface="Times New Roman" pitchFamily="18" charset="0"/>
              <a:cs typeface="Times New Roman" pitchFamily="18" charset="0"/>
            </a:endParaRPr>
          </a:p>
          <a:p>
            <a:pPr lvl="1">
              <a:buFont typeface="Wingdings" pitchFamily="2" charset="2"/>
              <a:buChar char="Ø"/>
            </a:pPr>
            <a:r>
              <a:rPr lang="en-US" sz="2000" dirty="0" smtClean="0">
                <a:latin typeface="Times New Roman" pitchFamily="18" charset="0"/>
                <a:cs typeface="Times New Roman" pitchFamily="18" charset="0"/>
              </a:rPr>
              <a:t>To gain fast random access to records in a file, we can use an index structure.</a:t>
            </a:r>
          </a:p>
          <a:p>
            <a:pPr lvl="1">
              <a:buFont typeface="Wingdings" pitchFamily="2" charset="2"/>
              <a:buChar char="Ø"/>
            </a:pPr>
            <a:r>
              <a:rPr lang="en-US" sz="2000" dirty="0" smtClean="0">
                <a:latin typeface="Times New Roman" pitchFamily="18" charset="0"/>
                <a:cs typeface="Times New Roman" pitchFamily="18" charset="0"/>
              </a:rPr>
              <a:t>Each index structure is associated with a particular search key. </a:t>
            </a:r>
          </a:p>
          <a:p>
            <a:pPr lvl="1">
              <a:buFont typeface="Wingdings" pitchFamily="2" charset="2"/>
              <a:buChar char="Ø"/>
            </a:pPr>
            <a:r>
              <a:rPr lang="en-US" sz="2000" dirty="0" smtClean="0">
                <a:latin typeface="Times New Roman" pitchFamily="18" charset="0"/>
                <a:cs typeface="Times New Roman" pitchFamily="18" charset="0"/>
              </a:rPr>
              <a:t>An ordered index stores the values of the search keys in sorted order, and associates with each search key the records that contain it.</a:t>
            </a:r>
          </a:p>
          <a:p>
            <a:pPr lvl="1">
              <a:buFont typeface="Wingdings" pitchFamily="2" charset="2"/>
              <a:buChar char="Ø"/>
            </a:pPr>
            <a:r>
              <a:rPr lang="en-US" sz="2000" dirty="0" smtClean="0">
                <a:latin typeface="Times New Roman" pitchFamily="18" charset="0"/>
                <a:cs typeface="Times New Roman" pitchFamily="18" charset="0"/>
              </a:rPr>
              <a:t>A file may have several indices, on different search keys.</a:t>
            </a: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Ordered Indices</a:t>
            </a:r>
            <a:endParaRPr lang="en-US" sz="2000" dirty="0" smtClean="0">
              <a:latin typeface="Times New Roman" pitchFamily="18" charset="0"/>
              <a:cs typeface="Times New Roman" pitchFamily="18" charset="0"/>
            </a:endParaRPr>
          </a:p>
          <a:p>
            <a:pPr lvl="2">
              <a:buFont typeface="Wingdings" pitchFamily="2" charset="2"/>
              <a:buChar char="§"/>
            </a:pPr>
            <a:r>
              <a:rPr lang="en-US" sz="2000" b="1" dirty="0" smtClean="0">
                <a:latin typeface="Times New Roman" pitchFamily="18" charset="0"/>
                <a:cs typeface="Times New Roman" pitchFamily="18" charset="0"/>
              </a:rPr>
              <a:t>Primary Index</a:t>
            </a:r>
          </a:p>
          <a:p>
            <a:pPr lvl="2">
              <a:buFont typeface="Wingdings" pitchFamily="2" charset="2"/>
              <a:buChar char="§"/>
            </a:pPr>
            <a:r>
              <a:rPr lang="en-US" sz="2000" b="1" dirty="0" smtClean="0">
                <a:latin typeface="Times New Roman" pitchFamily="18" charset="0"/>
                <a:cs typeface="Times New Roman" pitchFamily="18" charset="0"/>
              </a:rPr>
              <a:t>Secondary Index</a:t>
            </a:r>
            <a:endParaRPr lang="en-US" sz="2000" dirty="0" smtClean="0">
              <a:latin typeface="Times New Roman" pitchFamily="18" charset="0"/>
              <a:cs typeface="Times New Roman" pitchFamily="18" charset="0"/>
            </a:endParaRPr>
          </a:p>
          <a:p>
            <a:pPr lvl="1">
              <a:buNone/>
            </a:pPr>
            <a:endParaRPr lang="en-US" sz="2000" b="1" dirty="0" smtClean="0">
              <a:latin typeface="Times New Roman" pitchFamily="18" charset="0"/>
              <a:cs typeface="Times New Roman" pitchFamily="18" charset="0"/>
            </a:endParaRPr>
          </a:p>
          <a:p>
            <a:pPr lvl="1">
              <a:buFont typeface="Wingdings" pitchFamily="2" charset="2"/>
              <a:buChar char="Ø"/>
            </a:pPr>
            <a:r>
              <a:rPr lang="en-US" sz="2000" b="1" dirty="0" smtClean="0">
                <a:latin typeface="Times New Roman" pitchFamily="18" charset="0"/>
                <a:cs typeface="Times New Roman" pitchFamily="18" charset="0"/>
              </a:rPr>
              <a:t>Primary Index: </a:t>
            </a:r>
            <a:r>
              <a:rPr lang="en-US" sz="2000" dirty="0" smtClean="0">
                <a:latin typeface="Times New Roman" pitchFamily="18" charset="0"/>
                <a:cs typeface="Times New Roman" pitchFamily="18" charset="0"/>
              </a:rPr>
              <a:t>If the file containing the records is sequentially ordered, a primary index is an index whose search key also defines the sequential order of the file.</a:t>
            </a:r>
          </a:p>
          <a:p>
            <a:pPr lvl="1">
              <a:buFont typeface="Wingdings" pitchFamily="2" charset="2"/>
              <a:buChar char="Ø"/>
            </a:pPr>
            <a:r>
              <a:rPr lang="en-US" sz="2000" dirty="0" smtClean="0">
                <a:latin typeface="Times New Roman" pitchFamily="18" charset="0"/>
                <a:cs typeface="Times New Roman" pitchFamily="18" charset="0"/>
              </a:rPr>
              <a:t>Primary indices are also called </a:t>
            </a:r>
            <a:r>
              <a:rPr lang="en-US" sz="2000" dirty="0" smtClean="0">
                <a:solidFill>
                  <a:srgbClr val="FF0000"/>
                </a:solidFill>
                <a:latin typeface="Times New Roman" pitchFamily="18" charset="0"/>
                <a:cs typeface="Times New Roman" pitchFamily="18" charset="0"/>
              </a:rPr>
              <a:t>clustering indices</a:t>
            </a:r>
            <a:r>
              <a:rPr lang="en-US" sz="2000" dirty="0" smtClean="0">
                <a:latin typeface="Times New Roman" pitchFamily="18" charset="0"/>
                <a:cs typeface="Times New Roman" pitchFamily="18" charset="0"/>
              </a:rPr>
              <a:t>. </a:t>
            </a:r>
          </a:p>
          <a:p>
            <a:pPr lvl="1">
              <a:buFont typeface="Wingdings" pitchFamily="2" charset="2"/>
              <a:buChar char="Ø"/>
            </a:pPr>
            <a:endParaRPr lang="en-US" sz="2000" b="1" dirty="0" smtClean="0">
              <a:latin typeface="Times New Roman" pitchFamily="18" charset="0"/>
              <a:cs typeface="Times New Roman" pitchFamily="18" charset="0"/>
            </a:endParaRPr>
          </a:p>
          <a:p>
            <a:pPr lvl="1">
              <a:buFont typeface="Wingdings" pitchFamily="2" charset="2"/>
              <a:buChar char="Ø"/>
            </a:pPr>
            <a:r>
              <a:rPr lang="en-US" sz="2000" b="1" dirty="0" smtClean="0">
                <a:latin typeface="Times New Roman" pitchFamily="18" charset="0"/>
                <a:cs typeface="Times New Roman" pitchFamily="18" charset="0"/>
              </a:rPr>
              <a:t>Types: </a:t>
            </a:r>
            <a:r>
              <a:rPr lang="en-US" sz="2000" dirty="0" smtClean="0">
                <a:solidFill>
                  <a:srgbClr val="FF0000"/>
                </a:solidFill>
                <a:latin typeface="Times New Roman" pitchFamily="18" charset="0"/>
                <a:cs typeface="Times New Roman" pitchFamily="18" charset="0"/>
              </a:rPr>
              <a:t>Dense</a:t>
            </a:r>
            <a:r>
              <a:rPr lang="en-US" sz="2000" dirty="0" smtClean="0">
                <a:latin typeface="Times New Roman" pitchFamily="18" charset="0"/>
                <a:cs typeface="Times New Roman" pitchFamily="18" charset="0"/>
              </a:rPr>
              <a:t> and </a:t>
            </a:r>
            <a:r>
              <a:rPr lang="en-US" sz="2000" dirty="0" smtClean="0">
                <a:solidFill>
                  <a:srgbClr val="FF0000"/>
                </a:solidFill>
                <a:latin typeface="Times New Roman" pitchFamily="18" charset="0"/>
                <a:cs typeface="Times New Roman" pitchFamily="18" charset="0"/>
              </a:rPr>
              <a:t>Sparse</a:t>
            </a:r>
            <a:endParaRPr lang="en-US" sz="2000" dirty="0">
              <a:solidFill>
                <a:srgbClr val="FF0000"/>
              </a:solidFill>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3809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Dense Index</a:t>
            </a:r>
            <a:endParaRPr lang="en-US" sz="2000" dirty="0" smtClean="0">
              <a:latin typeface="Times New Roman" pitchFamily="18" charset="0"/>
              <a:cs typeface="Times New Roman" pitchFamily="18" charset="0"/>
            </a:endParaRPr>
          </a:p>
          <a:p>
            <a:pPr lvl="1">
              <a:spcAft>
                <a:spcPts val="600"/>
              </a:spcAft>
              <a:buNone/>
            </a:pP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An index record appears for every search-key value in the file. </a:t>
            </a:r>
          </a:p>
          <a:p>
            <a:pPr lvl="1">
              <a:spcAft>
                <a:spcPts val="600"/>
              </a:spcAft>
              <a:buFont typeface="Wingdings" pitchFamily="2" charset="2"/>
              <a:buChar char="Ø"/>
            </a:pPr>
            <a:r>
              <a:rPr lang="en-US" sz="2000" dirty="0" smtClean="0">
                <a:latin typeface="Times New Roman" pitchFamily="18" charset="0"/>
                <a:cs typeface="Times New Roman" pitchFamily="18" charset="0"/>
              </a:rPr>
              <a:t> In a dense primary index, the index record contains the search-key value and a pointer to the first data record with that search-key value. </a:t>
            </a:r>
          </a:p>
          <a:p>
            <a:pPr lvl="1">
              <a:spcAft>
                <a:spcPts val="600"/>
              </a:spcAft>
              <a:buFont typeface="Wingdings" pitchFamily="2" charset="2"/>
              <a:buChar char="Ø"/>
            </a:pPr>
            <a:r>
              <a:rPr lang="en-US" sz="2000" dirty="0" smtClean="0">
                <a:latin typeface="Times New Roman" pitchFamily="18" charset="0"/>
                <a:cs typeface="Times New Roman" pitchFamily="18" charset="0"/>
              </a:rPr>
              <a:t>The rest of the records with the same search key-value would be stored sequentially after the first record, because the index is a primary one, records are sorted on the same search key.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1"/>
            <a:ext cx="8229600" cy="5333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Dense Index</a:t>
            </a:r>
            <a:endParaRPr lang="en-US" sz="20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4"/>
          <a:srcRect l="563" t="25754" r="563" b="26003"/>
          <a:stretch>
            <a:fillRect/>
          </a:stretch>
        </p:blipFill>
        <p:spPr bwMode="auto">
          <a:xfrm>
            <a:off x="990600" y="2209800"/>
            <a:ext cx="7228175" cy="3657601"/>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190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Sparse Index</a:t>
            </a:r>
            <a:endParaRPr lang="en-US" sz="2000" dirty="0" smtClean="0">
              <a:latin typeface="Times New Roman" pitchFamily="18" charset="0"/>
              <a:cs typeface="Times New Roman" pitchFamily="18" charset="0"/>
            </a:endParaRPr>
          </a:p>
          <a:p>
            <a:pPr lvl="1">
              <a:spcAft>
                <a:spcPts val="600"/>
              </a:spcAft>
              <a:buNone/>
            </a:pP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An index record appears for only some of the search-key values.</a:t>
            </a:r>
          </a:p>
          <a:p>
            <a:pPr lvl="1">
              <a:spcAft>
                <a:spcPts val="600"/>
              </a:spcAft>
              <a:buFont typeface="Wingdings" pitchFamily="2" charset="2"/>
              <a:buChar char="Ø"/>
            </a:pPr>
            <a:r>
              <a:rPr lang="en-US" sz="2000" dirty="0" smtClean="0">
                <a:latin typeface="Times New Roman" pitchFamily="18" charset="0"/>
                <a:cs typeface="Times New Roman" pitchFamily="18" charset="0"/>
              </a:rPr>
              <a:t>Each index record contains a search-key value and a pointer to the first data record with that search-key value. </a:t>
            </a:r>
          </a:p>
          <a:p>
            <a:pPr lvl="1">
              <a:spcAft>
                <a:spcPts val="600"/>
              </a:spcAft>
              <a:buFont typeface="Wingdings" pitchFamily="2" charset="2"/>
              <a:buChar char="Ø"/>
            </a:pPr>
            <a:r>
              <a:rPr lang="en-US" sz="2000" dirty="0" smtClean="0">
                <a:latin typeface="Times New Roman" pitchFamily="18" charset="0"/>
                <a:cs typeface="Times New Roman" pitchFamily="18" charset="0"/>
              </a:rPr>
              <a:t>To locate a record, we find the index entry with the largest search-key value that is less than or equal to the search-key value for which we are looking.</a:t>
            </a:r>
          </a:p>
          <a:p>
            <a:pPr lvl="1">
              <a:spcAft>
                <a:spcPts val="600"/>
              </a:spcAft>
              <a:buFont typeface="Wingdings" pitchFamily="2" charset="2"/>
              <a:buChar char="Ø"/>
            </a:pPr>
            <a:r>
              <a:rPr lang="en-US" sz="2000" dirty="0" smtClean="0">
                <a:latin typeface="Times New Roman" pitchFamily="18" charset="0"/>
                <a:cs typeface="Times New Roman" pitchFamily="18" charset="0"/>
              </a:rPr>
              <a:t>We start at the record pointed to by that index entry, and follow the pointers in the file until we find the desired record.</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1"/>
            <a:ext cx="8229600" cy="5333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Sparse Index</a:t>
            </a:r>
            <a:endParaRPr lang="en-US" sz="20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2050" name="Picture 3"/>
          <p:cNvPicPr>
            <a:picLocks noChangeAspect="1" noChangeArrowheads="1"/>
          </p:cNvPicPr>
          <p:nvPr/>
        </p:nvPicPr>
        <p:blipFill>
          <a:blip r:embed="rId4"/>
          <a:srcRect l="468" t="22627" r="468" b="22627"/>
          <a:stretch>
            <a:fillRect/>
          </a:stretch>
        </p:blipFill>
        <p:spPr bwMode="auto">
          <a:xfrm>
            <a:off x="949023" y="2133600"/>
            <a:ext cx="7204377" cy="3966711"/>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32003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Dense VS Sparse Indices</a:t>
            </a:r>
            <a:endParaRPr lang="en-US" sz="2000" dirty="0" smtClean="0">
              <a:latin typeface="Times New Roman" pitchFamily="18" charset="0"/>
              <a:cs typeface="Times New Roman" pitchFamily="18" charset="0"/>
            </a:endParaRPr>
          </a:p>
          <a:p>
            <a:pPr lvl="1">
              <a:spcAft>
                <a:spcPts val="600"/>
              </a:spcAft>
              <a:buFont typeface="Wingdings" pitchFamily="2" charset="2"/>
              <a:buChar char="§"/>
            </a:pPr>
            <a:r>
              <a:rPr lang="en-US" sz="2000" dirty="0" smtClean="0">
                <a:latin typeface="Times New Roman" pitchFamily="18" charset="0"/>
                <a:cs typeface="Times New Roman" pitchFamily="18" charset="0"/>
              </a:rPr>
              <a:t>It is generally faster to locate a record if we have a dense index rather than a sparse index.</a:t>
            </a:r>
          </a:p>
          <a:p>
            <a:pPr lvl="1">
              <a:spcAft>
                <a:spcPts val="600"/>
              </a:spcAft>
              <a:buFont typeface="Wingdings" pitchFamily="2" charset="2"/>
              <a:buChar char="§"/>
            </a:pPr>
            <a:r>
              <a:rPr lang="en-US" sz="2000" dirty="0" smtClean="0">
                <a:latin typeface="Times New Roman" pitchFamily="18" charset="0"/>
                <a:cs typeface="Times New Roman" pitchFamily="18" charset="0"/>
              </a:rPr>
              <a:t>However, sparse indices have advantages over dense indices in that they require less space and they impose less maintenance overhead for insertions and deletions.</a:t>
            </a:r>
          </a:p>
          <a:p>
            <a:pPr lvl="1">
              <a:spcAft>
                <a:spcPts val="600"/>
              </a:spcAft>
              <a:buFont typeface="Wingdings" pitchFamily="2" charset="2"/>
              <a:buChar char="§"/>
            </a:pPr>
            <a:r>
              <a:rPr lang="en-US" sz="2000" dirty="0" smtClean="0">
                <a:latin typeface="Times New Roman" pitchFamily="18" charset="0"/>
                <a:cs typeface="Times New Roman" pitchFamily="18" charset="0"/>
              </a:rPr>
              <a:t>There is a trade-off that the system designer must make between access time and space overhead.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767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Multi-Level Indices</a:t>
            </a:r>
            <a:endParaRPr lang="en-US" sz="2000" dirty="0" smtClean="0">
              <a:latin typeface="Times New Roman" pitchFamily="18" charset="0"/>
              <a:cs typeface="Times New Roman" pitchFamily="18" charset="0"/>
            </a:endParaRPr>
          </a:p>
          <a:p>
            <a:pPr lvl="1">
              <a:spcAft>
                <a:spcPts val="600"/>
              </a:spcAft>
              <a:buFont typeface="Wingdings" pitchFamily="2" charset="2"/>
              <a:buChar char="§"/>
            </a:pPr>
            <a:r>
              <a:rPr lang="en-US" sz="2000" dirty="0" smtClean="0">
                <a:latin typeface="Times New Roman" pitchFamily="18" charset="0"/>
                <a:cs typeface="Times New Roman" pitchFamily="18" charset="0"/>
              </a:rPr>
              <a:t>If primary index does not fit in memory, access becomes expensive.</a:t>
            </a:r>
          </a:p>
          <a:p>
            <a:pPr lvl="1">
              <a:spcAft>
                <a:spcPts val="600"/>
              </a:spcAft>
              <a:buFont typeface="Wingdings" pitchFamily="2" charset="2"/>
              <a:buChar char="§"/>
            </a:pPr>
            <a:r>
              <a:rPr lang="en-US" sz="2000" dirty="0" smtClean="0">
                <a:latin typeface="Times New Roman" pitchFamily="18" charset="0"/>
                <a:cs typeface="Times New Roman" pitchFamily="18" charset="0"/>
              </a:rPr>
              <a:t>Solution: treat primary index kept on disk as a sequential file and construct a sparse index on it.</a:t>
            </a:r>
          </a:p>
          <a:p>
            <a:pPr lvl="1">
              <a:spcAft>
                <a:spcPts val="600"/>
              </a:spcAft>
              <a:buNone/>
            </a:pPr>
            <a:r>
              <a:rPr lang="en-US" sz="2000" dirty="0" smtClean="0">
                <a:latin typeface="Times New Roman" pitchFamily="18" charset="0"/>
                <a:cs typeface="Times New Roman" pitchFamily="18" charset="0"/>
              </a:rPr>
              <a:t>		- Outer index – a sparse index of primary index</a:t>
            </a:r>
          </a:p>
          <a:p>
            <a:pPr lvl="1">
              <a:spcAft>
                <a:spcPts val="600"/>
              </a:spcAft>
              <a:buNone/>
            </a:pPr>
            <a:r>
              <a:rPr lang="en-US" sz="2000" dirty="0" smtClean="0">
                <a:latin typeface="Times New Roman" pitchFamily="18" charset="0"/>
                <a:cs typeface="Times New Roman" pitchFamily="18" charset="0"/>
              </a:rPr>
              <a:t>		- Inner index – the primary index file</a:t>
            </a:r>
          </a:p>
          <a:p>
            <a:pPr lvl="1">
              <a:spcAft>
                <a:spcPts val="600"/>
              </a:spcAft>
              <a:buFont typeface="Wingdings" pitchFamily="2" charset="2"/>
              <a:buChar char="§"/>
            </a:pPr>
            <a:r>
              <a:rPr lang="en-US" sz="2000" dirty="0" smtClean="0">
                <a:latin typeface="Times New Roman" pitchFamily="18" charset="0"/>
                <a:cs typeface="Times New Roman" pitchFamily="18" charset="0"/>
              </a:rPr>
              <a:t>If even outer index is too large to fit in main memory, yet another level of index can be created, and so on.</a:t>
            </a:r>
          </a:p>
          <a:p>
            <a:pPr lvl="1">
              <a:spcAft>
                <a:spcPts val="600"/>
              </a:spcAft>
              <a:buFont typeface="Wingdings" pitchFamily="2" charset="2"/>
              <a:buChar char="§"/>
            </a:pPr>
            <a:r>
              <a:rPr lang="en-US" sz="2000" dirty="0" smtClean="0">
                <a:latin typeface="Times New Roman" pitchFamily="18" charset="0"/>
                <a:cs typeface="Times New Roman" pitchFamily="18" charset="0"/>
              </a:rPr>
              <a:t>Indices at all levels must be updated on insertion or deletion from the file.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4957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Multi-Level Indices: An Example</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Consider 100,000 records, 10 per block, at one index record per block, that's 10,000 index records. Even if we can fit 100 index records per block, this is 100 blocks. If index is too large to be kept in main memory, a search results in several disk reads.</a:t>
            </a:r>
          </a:p>
          <a:p>
            <a:pPr lvl="1">
              <a:spcAft>
                <a:spcPts val="600"/>
              </a:spcAft>
              <a:buFont typeface="Wingdings" pitchFamily="2" charset="2"/>
              <a:buChar char="Ø"/>
            </a:pPr>
            <a:r>
              <a:rPr lang="en-US" sz="2000" dirty="0" smtClean="0">
                <a:latin typeface="Times New Roman" pitchFamily="18" charset="0"/>
                <a:cs typeface="Times New Roman" pitchFamily="18" charset="0"/>
              </a:rPr>
              <a:t>For very large files, additional levels of indexing may be required.</a:t>
            </a:r>
          </a:p>
          <a:p>
            <a:pPr lvl="1">
              <a:spcAft>
                <a:spcPts val="600"/>
              </a:spcAft>
              <a:buFont typeface="Wingdings" pitchFamily="2" charset="2"/>
              <a:buChar char="Ø"/>
            </a:pPr>
            <a:r>
              <a:rPr lang="en-US" sz="2000" dirty="0" smtClean="0">
                <a:latin typeface="Times New Roman" pitchFamily="18" charset="0"/>
                <a:cs typeface="Times New Roman" pitchFamily="18" charset="0"/>
              </a:rPr>
              <a:t>Indices must be updated at all levels when insertions or deletions require it.</a:t>
            </a:r>
          </a:p>
          <a:p>
            <a:pPr lvl="1">
              <a:spcAft>
                <a:spcPts val="600"/>
              </a:spcAft>
              <a:buFont typeface="Wingdings" pitchFamily="2" charset="2"/>
              <a:buChar char="Ø"/>
            </a:pPr>
            <a:r>
              <a:rPr lang="en-US" sz="2000" dirty="0" smtClean="0">
                <a:latin typeface="Times New Roman" pitchFamily="18" charset="0"/>
                <a:cs typeface="Times New Roman" pitchFamily="18" charset="0"/>
              </a:rPr>
              <a:t>Frequently, each level of index corresponds to a unit of physical storage.</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5333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Multi-Level Indices: An Example</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3074" name="Picture 4"/>
          <p:cNvPicPr>
            <a:picLocks noChangeAspect="1" noChangeArrowheads="1"/>
          </p:cNvPicPr>
          <p:nvPr/>
        </p:nvPicPr>
        <p:blipFill>
          <a:blip r:embed="rId4"/>
          <a:srcRect l="17722" t="626" r="17722" b="876"/>
          <a:stretch>
            <a:fillRect/>
          </a:stretch>
        </p:blipFill>
        <p:spPr bwMode="auto">
          <a:xfrm>
            <a:off x="990600" y="1981200"/>
            <a:ext cx="7197587" cy="4191000"/>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4957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Secondary Index</a:t>
            </a:r>
            <a:endParaRPr lang="en-US" sz="1400" dirty="0" smtClean="0">
              <a:latin typeface="Times New Roman" pitchFamily="18" charset="0"/>
              <a:cs typeface="Times New Roman" pitchFamily="18" charset="0"/>
            </a:endParaRPr>
          </a:p>
          <a:p>
            <a:pPr lvl="1">
              <a:spcAft>
                <a:spcPts val="600"/>
              </a:spcAft>
              <a:buNone/>
            </a:pPr>
            <a:endParaRPr lang="en-US" sz="2000" dirty="0" smtClean="0">
              <a:latin typeface="Times New Roman" pitchFamily="18" charset="0"/>
              <a:cs typeface="Times New Roman" pitchFamily="18" charset="0"/>
            </a:endParaRPr>
          </a:p>
          <a:p>
            <a:pPr lvl="1">
              <a:spcAft>
                <a:spcPts val="600"/>
              </a:spcAft>
            </a:pPr>
            <a:r>
              <a:rPr lang="en-US" sz="2000" dirty="0" smtClean="0">
                <a:latin typeface="Times New Roman" pitchFamily="18" charset="0"/>
                <a:cs typeface="Times New Roman" pitchFamily="18" charset="0"/>
              </a:rPr>
              <a:t>Indices whose search key specifies an order different from the sequential order of the file are called </a:t>
            </a:r>
            <a:r>
              <a:rPr lang="en-US" sz="2000" b="1" dirty="0" smtClean="0">
                <a:latin typeface="Times New Roman" pitchFamily="18" charset="0"/>
                <a:cs typeface="Times New Roman" pitchFamily="18" charset="0"/>
              </a:rPr>
              <a:t>secondary indices, or non-clustering indices</a:t>
            </a:r>
            <a:r>
              <a:rPr lang="en-US" sz="2000" dirty="0" smtClean="0">
                <a:latin typeface="Times New Roman" pitchFamily="18" charset="0"/>
                <a:cs typeface="Times New Roman" pitchFamily="18" charset="0"/>
              </a:rPr>
              <a:t>.</a:t>
            </a:r>
          </a:p>
          <a:p>
            <a:pPr lvl="1">
              <a:spcAft>
                <a:spcPts val="600"/>
              </a:spcAft>
            </a:pPr>
            <a:r>
              <a:rPr lang="en-US" sz="2000" dirty="0" smtClean="0">
                <a:latin typeface="Times New Roman" pitchFamily="18" charset="0"/>
                <a:cs typeface="Times New Roman" pitchFamily="18" charset="0"/>
              </a:rPr>
              <a:t>Secondary indices must be </a:t>
            </a:r>
            <a:r>
              <a:rPr lang="en-US" sz="2000" b="1" dirty="0" smtClean="0">
                <a:latin typeface="Times New Roman" pitchFamily="18" charset="0"/>
                <a:cs typeface="Times New Roman" pitchFamily="18" charset="0"/>
              </a:rPr>
              <a:t>dense</a:t>
            </a:r>
            <a:r>
              <a:rPr lang="en-US" sz="2000" dirty="0" smtClean="0">
                <a:latin typeface="Times New Roman" pitchFamily="18" charset="0"/>
                <a:cs typeface="Times New Roman" pitchFamily="18" charset="0"/>
              </a:rPr>
              <a:t> with an index entry for every search-key value, and a pointer to every record in the file.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6095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Secondary Index</a:t>
            </a:r>
            <a:endParaRPr lang="en-US" sz="1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4098" name="Picture 5"/>
          <p:cNvPicPr>
            <a:picLocks noChangeAspect="1" noChangeArrowheads="1"/>
          </p:cNvPicPr>
          <p:nvPr/>
        </p:nvPicPr>
        <p:blipFill>
          <a:blip r:embed="rId4"/>
          <a:srcRect l="468" t="21127" r="656" b="20627"/>
          <a:stretch>
            <a:fillRect/>
          </a:stretch>
        </p:blipFill>
        <p:spPr bwMode="auto">
          <a:xfrm>
            <a:off x="1004461" y="2057400"/>
            <a:ext cx="7301339" cy="3775075"/>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767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Primary VS Secondary Indices</a:t>
            </a:r>
            <a:endParaRPr lang="en-US" sz="2000" dirty="0" smtClean="0">
              <a:latin typeface="Times New Roman" pitchFamily="18" charset="0"/>
              <a:cs typeface="Times New Roman" pitchFamily="18" charset="0"/>
            </a:endParaRPr>
          </a:p>
          <a:p>
            <a:pPr lvl="1">
              <a:buFont typeface="Wingdings" pitchFamily="2" charset="2"/>
              <a:buChar char="Ø"/>
            </a:pPr>
            <a:endParaRPr lang="en-US" sz="2000" dirty="0" smtClean="0">
              <a:latin typeface="Times New Roman" pitchFamily="18" charset="0"/>
              <a:cs typeface="Times New Roman" pitchFamily="18" charset="0"/>
            </a:endParaRPr>
          </a:p>
          <a:p>
            <a:pPr lvl="1">
              <a:buFont typeface="Wingdings" pitchFamily="2" charset="2"/>
              <a:buChar char="Ø"/>
            </a:pPr>
            <a:r>
              <a:rPr lang="en-US" sz="2000" dirty="0" smtClean="0">
                <a:latin typeface="Times New Roman" pitchFamily="18" charset="0"/>
                <a:cs typeface="Times New Roman" pitchFamily="18" charset="0"/>
              </a:rPr>
              <a:t>A sequential scan in primary index order is efficient because records in the file are stored physically in the same order as the index order.</a:t>
            </a:r>
          </a:p>
          <a:p>
            <a:pPr lvl="1">
              <a:buFont typeface="Wingdings" pitchFamily="2" charset="2"/>
              <a:buChar char="Ø"/>
            </a:pPr>
            <a:r>
              <a:rPr lang="en-US" sz="2000" dirty="0" smtClean="0">
                <a:latin typeface="Times New Roman" pitchFamily="18" charset="0"/>
                <a:cs typeface="Times New Roman" pitchFamily="18" charset="0"/>
              </a:rPr>
              <a:t>Secondary indices improve the performance of queries that use keys other than the search key of the primary index. However, they impose a significant overhead on modification of the database. The designer of a database decides which secondary indices are desirable on the basis of an estimate of the relative frequency of queries and modifications.</a:t>
            </a:r>
          </a:p>
          <a:p>
            <a:pPr lvl="1">
              <a:buFont typeface="Wingdings" pitchFamily="2" charset="2"/>
              <a:buChar char="Ø"/>
            </a:pPr>
            <a:r>
              <a:rPr lang="en-US" sz="2000" dirty="0" smtClean="0">
                <a:latin typeface="Times New Roman" pitchFamily="18" charset="0"/>
                <a:cs typeface="Times New Roman" pitchFamily="18" charset="0"/>
              </a:rPr>
              <a:t>The primary index is on the field which specifies the sequential order of the data file.</a:t>
            </a:r>
          </a:p>
          <a:p>
            <a:pPr lvl="1">
              <a:buFont typeface="Wingdings" pitchFamily="2" charset="2"/>
              <a:buChar char="Ø"/>
            </a:pPr>
            <a:r>
              <a:rPr lang="en-US" sz="2000" dirty="0" smtClean="0">
                <a:latin typeface="Times New Roman" pitchFamily="18" charset="0"/>
                <a:cs typeface="Times New Roman" pitchFamily="18" charset="0"/>
              </a:rPr>
              <a:t>There can be only one primary index while there can be many secondary indices.</a:t>
            </a:r>
          </a:p>
          <a:p>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767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Tree Index Files</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The main disadvantage of the index-sequential file organization is that performance degrades as the file grows, both for index lookups and for sequential scans through the data. To over come this deficiency, we use a B</a:t>
            </a:r>
            <a:r>
              <a:rPr lang="en-US" sz="2000" baseline="30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tree index.</a:t>
            </a:r>
          </a:p>
          <a:p>
            <a:pPr lvl="1">
              <a:spcAft>
                <a:spcPts val="600"/>
              </a:spcAft>
              <a:buFont typeface="Wingdings" pitchFamily="2" charset="2"/>
              <a:buChar char="Ø"/>
            </a:pPr>
            <a:r>
              <a:rPr lang="en-US" sz="2000" dirty="0" smtClean="0">
                <a:latin typeface="Times New Roman" pitchFamily="18" charset="0"/>
                <a:cs typeface="Times New Roman" pitchFamily="18" charset="0"/>
              </a:rPr>
              <a:t>The </a:t>
            </a:r>
            <a:r>
              <a:rPr lang="en-US" sz="2000" b="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tree </a:t>
            </a:r>
            <a:r>
              <a:rPr lang="en-US" sz="2000" dirty="0" smtClean="0">
                <a:latin typeface="Times New Roman" pitchFamily="18" charset="0"/>
                <a:cs typeface="Times New Roman" pitchFamily="18" charset="0"/>
              </a:rPr>
              <a:t>index structure is the most widely used of several index structures that maintain their efficiency despite insertion and deletion of data.</a:t>
            </a:r>
          </a:p>
          <a:p>
            <a:pPr lvl="1">
              <a:spcAft>
                <a:spcPts val="600"/>
              </a:spcAft>
              <a:buFont typeface="Wingdings" pitchFamily="2" charset="2"/>
              <a:buChar char="Ø"/>
            </a:pPr>
            <a:r>
              <a:rPr lang="en-US" sz="2000" dirty="0" smtClean="0">
                <a:latin typeface="Times New Roman" pitchFamily="18" charset="0"/>
                <a:cs typeface="Times New Roman" pitchFamily="18" charset="0"/>
              </a:rPr>
              <a:t>This is a </a:t>
            </a:r>
            <a:r>
              <a:rPr lang="en-US" sz="2000" b="1" dirty="0" smtClean="0">
                <a:latin typeface="Times New Roman" pitchFamily="18" charset="0"/>
                <a:cs typeface="Times New Roman" pitchFamily="18" charset="0"/>
              </a:rPr>
              <a:t>balanced tree </a:t>
            </a:r>
            <a:r>
              <a:rPr lang="en-US" sz="2000" dirty="0" smtClean="0">
                <a:latin typeface="Times New Roman" pitchFamily="18" charset="0"/>
                <a:cs typeface="Times New Roman" pitchFamily="18" charset="0"/>
              </a:rPr>
              <a:t>in which every path from the root of the tree to a leaf of the tree is of the same length.</a:t>
            </a:r>
          </a:p>
          <a:p>
            <a:pPr lvl="1">
              <a:spcAft>
                <a:spcPts val="600"/>
              </a:spcAft>
              <a:buFont typeface="Wingdings" pitchFamily="2" charset="2"/>
              <a:buChar char="Ø"/>
            </a:pPr>
            <a:r>
              <a:rPr lang="en-US" sz="2000" dirty="0" smtClean="0">
                <a:latin typeface="Times New Roman" pitchFamily="18" charset="0"/>
                <a:cs typeface="Times New Roman" pitchFamily="18" charset="0"/>
              </a:rPr>
              <a:t>A B+ tree index is a multilevel index. A typical node of a </a:t>
            </a:r>
            <a:r>
              <a:rPr lang="en-US" sz="2000" dirty="0" err="1" smtClean="0">
                <a:latin typeface="Times New Roman" pitchFamily="18" charset="0"/>
                <a:cs typeface="Times New Roman" pitchFamily="18" charset="0"/>
              </a:rPr>
              <a:t>B+tree</a:t>
            </a:r>
            <a:r>
              <a:rPr lang="en-US" sz="2000" dirty="0" smtClean="0">
                <a:latin typeface="Times New Roman" pitchFamily="18" charset="0"/>
                <a:cs typeface="Times New Roman" pitchFamily="18" charset="0"/>
              </a:rPr>
              <a:t> is shown below.</a:t>
            </a:r>
          </a:p>
          <a:p>
            <a:pPr lvl="1">
              <a:spcAft>
                <a:spcPts val="600"/>
              </a:spcAft>
              <a:buFont typeface="Wingdings" pitchFamily="2" charset="2"/>
              <a:buChar char="Ø"/>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767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Tree Index Files</a:t>
            </a:r>
            <a:endParaRPr lang="en-US" sz="2000" dirty="0" smtClean="0">
              <a:latin typeface="Times New Roman" pitchFamily="18" charset="0"/>
              <a:cs typeface="Times New Roman" pitchFamily="18" charset="0"/>
            </a:endParaRPr>
          </a:p>
          <a:p>
            <a:pPr lvl="1">
              <a:buFont typeface="Wingdings" pitchFamily="2" charset="2"/>
              <a:buChar char="Ø"/>
            </a:pPr>
            <a:r>
              <a:rPr lang="en-US" sz="2000" dirty="0" smtClean="0">
                <a:latin typeface="Times New Roman" pitchFamily="18" charset="0"/>
                <a:cs typeface="Times New Roman" pitchFamily="18" charset="0"/>
              </a:rPr>
              <a:t>A B+ tree index is a multilevel index. A typical node of a B+-tree is shown below.</a:t>
            </a:r>
          </a:p>
          <a:p>
            <a:pPr lvl="1">
              <a:buFont typeface="Wingdings" pitchFamily="2" charset="2"/>
              <a:buChar char="Ø"/>
            </a:pPr>
            <a:endParaRPr lang="en-US" sz="2000" dirty="0" smtClean="0">
              <a:latin typeface="Times New Roman" pitchFamily="18" charset="0"/>
              <a:cs typeface="Times New Roman" pitchFamily="18" charset="0"/>
            </a:endParaRPr>
          </a:p>
          <a:p>
            <a:pPr lvl="1">
              <a:buFont typeface="Wingdings" pitchFamily="2" charset="2"/>
              <a:buChar char="Ø"/>
            </a:pPr>
            <a:endParaRPr lang="en-US" sz="2000" dirty="0" smtClean="0">
              <a:latin typeface="Times New Roman" pitchFamily="18" charset="0"/>
              <a:cs typeface="Times New Roman" pitchFamily="18" charset="0"/>
            </a:endParaRPr>
          </a:p>
          <a:p>
            <a:pPr lvl="1">
              <a:buFont typeface="Wingdings" pitchFamily="2" charset="2"/>
              <a:buChar char="Ø"/>
            </a:pPr>
            <a:endParaRPr lang="en-US" sz="2000" dirty="0" smtClean="0">
              <a:latin typeface="Times New Roman" pitchFamily="18" charset="0"/>
              <a:cs typeface="Times New Roman" pitchFamily="18" charset="0"/>
            </a:endParaRPr>
          </a:p>
          <a:p>
            <a:pPr lvl="1">
              <a:buFont typeface="Wingdings" pitchFamily="2" charset="2"/>
              <a:buChar char="Ø"/>
            </a:pPr>
            <a:r>
              <a:rPr lang="en-US" sz="2000" dirty="0" smtClean="0">
                <a:latin typeface="Times New Roman" pitchFamily="18" charset="0"/>
                <a:cs typeface="Times New Roman" pitchFamily="18" charset="0"/>
              </a:rPr>
              <a:t>Each node that is not a root or a leaf has between </a:t>
            </a:r>
            <a:r>
              <a:rPr lang="en-US" sz="2000" dirty="0" smtClean="0">
                <a:latin typeface="Times New Roman" pitchFamily="18" charset="0"/>
                <a:cs typeface="Times New Roman" pitchFamily="18" charset="0"/>
                <a:sym typeface="Symbol"/>
              </a:rPr>
              <a:t></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sym typeface="Symbol"/>
              </a:rPr>
              <a:t></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children.</a:t>
            </a:r>
          </a:p>
          <a:p>
            <a:pPr lvl="1">
              <a:buFont typeface="Wingdings" pitchFamily="2" charset="2"/>
              <a:buChar char="Ø"/>
            </a:pPr>
            <a:r>
              <a:rPr lang="en-US" sz="2000" dirty="0" smtClean="0">
                <a:latin typeface="Times New Roman" pitchFamily="18" charset="0"/>
                <a:cs typeface="Times New Roman" pitchFamily="18" charset="0"/>
              </a:rPr>
              <a:t>A leaf node has between </a:t>
            </a:r>
            <a:r>
              <a:rPr lang="en-US" sz="2000" dirty="0" smtClean="0">
                <a:latin typeface="Times New Roman" pitchFamily="18" charset="0"/>
                <a:cs typeface="Times New Roman" pitchFamily="18" charset="0"/>
                <a:sym typeface="Symbol"/>
              </a:rPr>
              <a:t></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–1)/2</a:t>
            </a:r>
            <a:r>
              <a:rPr lang="en-US" sz="2000" dirty="0" smtClean="0">
                <a:latin typeface="Times New Roman" pitchFamily="18" charset="0"/>
                <a:cs typeface="Times New Roman" pitchFamily="18" charset="0"/>
                <a:sym typeface="Symbol"/>
              </a:rPr>
              <a:t></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–1 values</a:t>
            </a:r>
          </a:p>
          <a:p>
            <a:pPr lvl="1">
              <a:buFont typeface="Wingdings" pitchFamily="2" charset="2"/>
              <a:buChar char="Ø"/>
            </a:pPr>
            <a:r>
              <a:rPr lang="en-US" sz="2000" dirty="0" smtClean="0">
                <a:latin typeface="Times New Roman" pitchFamily="18" charset="0"/>
                <a:cs typeface="Times New Roman" pitchFamily="18" charset="0"/>
              </a:rPr>
              <a:t>Special cases: </a:t>
            </a:r>
          </a:p>
          <a:p>
            <a:pPr lvl="0">
              <a:buNone/>
            </a:pPr>
            <a:r>
              <a:rPr lang="en-US" sz="2000" dirty="0" smtClean="0">
                <a:latin typeface="Times New Roman" pitchFamily="18" charset="0"/>
                <a:cs typeface="Times New Roman" pitchFamily="18" charset="0"/>
              </a:rPr>
              <a:t>		- If the root is not a leaf, it has at least 2 children.</a:t>
            </a:r>
          </a:p>
          <a:p>
            <a:pPr lvl="0">
              <a:buNone/>
            </a:pPr>
            <a:r>
              <a:rPr lang="en-US" sz="2000" dirty="0" smtClean="0">
                <a:latin typeface="Times New Roman" pitchFamily="18" charset="0"/>
                <a:cs typeface="Times New Roman" pitchFamily="18" charset="0"/>
              </a:rPr>
              <a:t>		- If the root is a leaf (that is, there are no other nodes in the tree),</a:t>
            </a:r>
          </a:p>
          <a:p>
            <a:pPr lvl="0">
              <a:buNone/>
            </a:pPr>
            <a:r>
              <a:rPr lang="en-US" sz="2000" dirty="0" smtClean="0">
                <a:latin typeface="Times New Roman" pitchFamily="18" charset="0"/>
                <a:cs typeface="Times New Roman" pitchFamily="18" charset="0"/>
              </a:rPr>
              <a:t>                       it can have between 0 and (n–1) values.</a:t>
            </a:r>
          </a:p>
          <a:p>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5122" name="Picture 1"/>
          <p:cNvPicPr>
            <a:picLocks noChangeAspect="1" noChangeArrowheads="1"/>
          </p:cNvPicPr>
          <p:nvPr/>
        </p:nvPicPr>
        <p:blipFill>
          <a:blip r:embed="rId4"/>
          <a:srcRect l="375" t="44881" r="563" b="45131"/>
          <a:stretch>
            <a:fillRect/>
          </a:stretch>
        </p:blipFill>
        <p:spPr bwMode="auto">
          <a:xfrm>
            <a:off x="1676400" y="2743200"/>
            <a:ext cx="6096000" cy="457200"/>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9529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Tree Index Files</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It contains up to </a:t>
            </a:r>
            <a:r>
              <a:rPr lang="en-US" sz="2000" i="1" dirty="0" smtClean="0">
                <a:latin typeface="Times New Roman" pitchFamily="18" charset="0"/>
                <a:cs typeface="Times New Roman" pitchFamily="18" charset="0"/>
              </a:rPr>
              <a:t>n − </a:t>
            </a:r>
            <a:r>
              <a:rPr lang="en-US" sz="2000" dirty="0" smtClean="0">
                <a:latin typeface="Times New Roman" pitchFamily="18" charset="0"/>
                <a:cs typeface="Times New Roman" pitchFamily="18" charset="0"/>
              </a:rPr>
              <a:t>1 search-key values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1</a:t>
            </a:r>
            <a:r>
              <a:rPr lang="en-US" sz="2000" i="1" dirty="0" smtClean="0">
                <a:latin typeface="Times New Roman" pitchFamily="18" charset="0"/>
                <a:cs typeface="Times New Roman" pitchFamily="18" charset="0"/>
              </a:rPr>
              <a:t>, K</a:t>
            </a:r>
            <a:r>
              <a:rPr lang="en-US" sz="2000" baseline="-25000" dirty="0" smtClean="0">
                <a:latin typeface="Times New Roman" pitchFamily="18" charset="0"/>
                <a:cs typeface="Times New Roman" pitchFamily="18" charset="0"/>
              </a:rPr>
              <a:t>2</a:t>
            </a:r>
            <a:r>
              <a:rPr lang="en-US" sz="2000" i="1" dirty="0" smtClean="0">
                <a:latin typeface="Times New Roman" pitchFamily="18" charset="0"/>
                <a:cs typeface="Times New Roman" pitchFamily="18" charset="0"/>
              </a:rPr>
              <a:t>, . . .,K</a:t>
            </a:r>
            <a:r>
              <a:rPr lang="en-US" sz="2000" i="1" baseline="-25000"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n </a:t>
            </a:r>
            <a:r>
              <a:rPr lang="en-US" sz="2000" dirty="0" smtClean="0">
                <a:latin typeface="Times New Roman" pitchFamily="18" charset="0"/>
                <a:cs typeface="Times New Roman" pitchFamily="18" charset="0"/>
              </a:rPr>
              <a:t>pointers </a:t>
            </a:r>
            <a:r>
              <a:rPr lang="en-US" sz="2000" i="1" dirty="0" smtClean="0">
                <a:latin typeface="Times New Roman" pitchFamily="18" charset="0"/>
                <a:cs typeface="Times New Roman" pitchFamily="18" charset="0"/>
              </a:rPr>
              <a:t>P</a:t>
            </a:r>
            <a:r>
              <a:rPr lang="en-US" sz="2000" baseline="-25000" dirty="0" smtClean="0">
                <a:latin typeface="Times New Roman" pitchFamily="18" charset="0"/>
                <a:cs typeface="Times New Roman" pitchFamily="18" charset="0"/>
              </a:rPr>
              <a:t>1</a:t>
            </a:r>
            <a:r>
              <a:rPr lang="en-US" sz="2000" i="1" dirty="0" smtClean="0">
                <a:latin typeface="Times New Roman" pitchFamily="18" charset="0"/>
                <a:cs typeface="Times New Roman" pitchFamily="18" charset="0"/>
              </a:rPr>
              <a:t>, P</a:t>
            </a:r>
            <a:r>
              <a:rPr lang="en-US" sz="2000" baseline="-25000" dirty="0" smtClean="0">
                <a:latin typeface="Times New Roman" pitchFamily="18" charset="0"/>
                <a:cs typeface="Times New Roman" pitchFamily="18" charset="0"/>
              </a:rPr>
              <a:t>2</a:t>
            </a:r>
            <a:r>
              <a:rPr lang="en-US" sz="2000" i="1" dirty="0" smtClean="0">
                <a:latin typeface="Times New Roman" pitchFamily="18" charset="0"/>
                <a:cs typeface="Times New Roman" pitchFamily="18" charset="0"/>
              </a:rPr>
              <a:t>, . . . ,</a:t>
            </a:r>
            <a:r>
              <a:rPr lang="en-US" sz="2000" i="1" dirty="0" err="1" smtClean="0">
                <a:latin typeface="Times New Roman" pitchFamily="18" charset="0"/>
                <a:cs typeface="Times New Roman" pitchFamily="18" charset="0"/>
              </a:rPr>
              <a:t>P</a:t>
            </a:r>
            <a:r>
              <a:rPr lang="en-US" sz="2000" i="1" baseline="-25000" dirty="0" err="1" smtClean="0">
                <a:latin typeface="Times New Roman" pitchFamily="18" charset="0"/>
                <a:cs typeface="Times New Roman" pitchFamily="18" charset="0"/>
              </a:rPr>
              <a:t>n</a:t>
            </a:r>
            <a:r>
              <a:rPr lang="en-US" sz="2000" i="1" baseline="-25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The search-keys in a node are ordered: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1 </a:t>
            </a:r>
            <a:r>
              <a:rPr lang="en-US" sz="2000" dirty="0" smtClean="0">
                <a:latin typeface="Times New Roman" pitchFamily="18" charset="0"/>
                <a:cs typeface="Times New Roman" pitchFamily="18" charset="0"/>
              </a:rPr>
              <a:t>&lt;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2 </a:t>
            </a:r>
            <a:r>
              <a:rPr lang="en-US" sz="2000" dirty="0" smtClean="0">
                <a:latin typeface="Times New Roman" pitchFamily="18" charset="0"/>
                <a:cs typeface="Times New Roman" pitchFamily="18" charset="0"/>
              </a:rPr>
              <a:t>&lt;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3 </a:t>
            </a:r>
            <a:r>
              <a:rPr lang="en-US" sz="2000" dirty="0" smtClean="0">
                <a:latin typeface="Times New Roman" pitchFamily="18" charset="0"/>
                <a:cs typeface="Times New Roman" pitchFamily="18" charset="0"/>
              </a:rPr>
              <a:t>&lt; </a:t>
            </a:r>
            <a:r>
              <a:rPr lang="en-US" sz="2000" i="1" dirty="0" smtClean="0">
                <a:latin typeface="Times New Roman" pitchFamily="18" charset="0"/>
                <a:cs typeface="Times New Roman" pitchFamily="18" charset="0"/>
              </a:rPr>
              <a:t>. . .</a:t>
            </a:r>
            <a:r>
              <a:rPr lang="en-US" sz="2000" baseline="-25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&lt; </a:t>
            </a:r>
            <a:r>
              <a:rPr lang="en-US" sz="2000" i="1" dirty="0" smtClean="0">
                <a:latin typeface="Times New Roman" pitchFamily="18" charset="0"/>
                <a:cs typeface="Times New Roman" pitchFamily="18" charset="0"/>
              </a:rPr>
              <a:t>K</a:t>
            </a:r>
            <a:r>
              <a:rPr lang="en-US" sz="2000" i="1" baseline="-25000"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a:t>
            </a:r>
          </a:p>
          <a:p>
            <a:pPr lvl="1">
              <a:spcAft>
                <a:spcPts val="600"/>
              </a:spcAft>
              <a:buFont typeface="Wingdings" pitchFamily="2" charset="2"/>
              <a:buChar char="Ø"/>
            </a:pPr>
            <a:r>
              <a:rPr lang="en-US" sz="2000" dirty="0" smtClean="0">
                <a:latin typeface="Times New Roman" pitchFamily="18" charset="0"/>
                <a:cs typeface="Times New Roman" pitchFamily="18" charset="0"/>
              </a:rPr>
              <a:t>For leaf nodes, for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1</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2</a:t>
            </a:r>
            <a:r>
              <a:rPr lang="en-US" sz="2000" i="1" dirty="0" smtClean="0">
                <a:latin typeface="Times New Roman" pitchFamily="18" charset="0"/>
                <a:cs typeface="Times New Roman" pitchFamily="18" charset="0"/>
              </a:rPr>
              <a:t>, . . . , n − </a:t>
            </a:r>
            <a:r>
              <a:rPr lang="en-US" sz="2000" dirty="0" smtClean="0">
                <a:latin typeface="Times New Roman" pitchFamily="18" charset="0"/>
                <a:cs typeface="Times New Roman" pitchFamily="18" charset="0"/>
              </a:rPr>
              <a:t>1, pointer </a:t>
            </a:r>
            <a:r>
              <a:rPr lang="en-US" sz="2000" i="1" dirty="0" smtClean="0">
                <a:latin typeface="Times New Roman" pitchFamily="18" charset="0"/>
                <a:cs typeface="Times New Roman" pitchFamily="18" charset="0"/>
              </a:rPr>
              <a:t>P</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points to either a file record with search-key value </a:t>
            </a:r>
            <a:r>
              <a:rPr lang="en-US" sz="2000" i="1" dirty="0" err="1" smtClean="0">
                <a:latin typeface="Times New Roman" pitchFamily="18" charset="0"/>
                <a:cs typeface="Times New Roman" pitchFamily="18" charset="0"/>
              </a:rPr>
              <a:t>K</a:t>
            </a:r>
            <a:r>
              <a:rPr lang="en-US" sz="2000" i="1" baseline="-25000"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or to a bucket of pointers, each of which points to a file record with search-key value </a:t>
            </a:r>
            <a:r>
              <a:rPr lang="en-US" sz="2000" i="1" dirty="0" err="1" smtClean="0">
                <a:latin typeface="Times New Roman" pitchFamily="18" charset="0"/>
                <a:cs typeface="Times New Roman" pitchFamily="18" charset="0"/>
              </a:rPr>
              <a:t>K</a:t>
            </a:r>
            <a:r>
              <a:rPr lang="en-US" sz="2000" i="1" baseline="-25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a:t>
            </a:r>
          </a:p>
          <a:p>
            <a:pPr>
              <a:spcAft>
                <a:spcPts val="600"/>
              </a:spcAft>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9529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 Tree Index Files</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A non-leaf node may hold up to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pointers, and must hold at least </a:t>
            </a:r>
            <a:r>
              <a:rPr lang="en-US" sz="2000" dirty="0" smtClean="0">
                <a:latin typeface="Times New Roman" pitchFamily="18" charset="0"/>
                <a:cs typeface="Times New Roman" pitchFamily="18" charset="0"/>
                <a:sym typeface="Symbol"/>
              </a:rPr>
              <a:t></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sym typeface="Symbol"/>
              </a:rPr>
              <a:t></a:t>
            </a:r>
            <a:r>
              <a:rPr lang="en-US" sz="2000" dirty="0" smtClean="0">
                <a:latin typeface="Times New Roman" pitchFamily="18" charset="0"/>
                <a:cs typeface="Times New Roman" pitchFamily="18" charset="0"/>
              </a:rPr>
              <a:t> pointers.</a:t>
            </a:r>
          </a:p>
          <a:p>
            <a:pPr lvl="1">
              <a:spcAft>
                <a:spcPts val="600"/>
              </a:spcAft>
              <a:buFont typeface="Wingdings" pitchFamily="2" charset="2"/>
              <a:buChar char="Ø"/>
            </a:pPr>
            <a:r>
              <a:rPr lang="en-US" sz="2000" dirty="0" smtClean="0">
                <a:latin typeface="Times New Roman" pitchFamily="18" charset="0"/>
                <a:cs typeface="Times New Roman" pitchFamily="18" charset="0"/>
              </a:rPr>
              <a:t>The number of pointers in a node is called the </a:t>
            </a:r>
            <a:r>
              <a:rPr lang="en-US" sz="2000" i="1" dirty="0" err="1" smtClean="0">
                <a:latin typeface="Times New Roman" pitchFamily="18" charset="0"/>
                <a:cs typeface="Times New Roman" pitchFamily="18" charset="0"/>
              </a:rPr>
              <a:t>fanout</a:t>
            </a:r>
            <a:r>
              <a:rPr lang="en-US" sz="2000" dirty="0" smtClean="0">
                <a:latin typeface="Times New Roman" pitchFamily="18" charset="0"/>
                <a:cs typeface="Times New Roman" pitchFamily="18" charset="0"/>
              </a:rPr>
              <a:t> of the node.</a:t>
            </a:r>
          </a:p>
          <a:p>
            <a:pPr lvl="1">
              <a:spcAft>
                <a:spcPts val="600"/>
              </a:spcAft>
              <a:buFont typeface="Wingdings" pitchFamily="2" charset="2"/>
              <a:buChar char="Ø"/>
            </a:pPr>
            <a:r>
              <a:rPr lang="en-US" sz="2000" dirty="0" smtClean="0">
                <a:latin typeface="Times New Roman" pitchFamily="18" charset="0"/>
                <a:cs typeface="Times New Roman" pitchFamily="18" charset="0"/>
              </a:rPr>
              <a:t>The root node can hold fewer than </a:t>
            </a:r>
            <a:r>
              <a:rPr lang="en-US" sz="2000" dirty="0" smtClean="0">
                <a:latin typeface="Times New Roman" pitchFamily="18" charset="0"/>
                <a:cs typeface="Times New Roman" pitchFamily="18" charset="0"/>
                <a:sym typeface="Symbol"/>
              </a:rPr>
              <a:t></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sym typeface="Symbol"/>
              </a:rPr>
              <a:t></a:t>
            </a:r>
            <a:r>
              <a:rPr lang="en-US" sz="2000" dirty="0" smtClean="0">
                <a:latin typeface="Times New Roman" pitchFamily="18" charset="0"/>
                <a:cs typeface="Times New Roman" pitchFamily="18" charset="0"/>
              </a:rPr>
              <a:t> pointers. However, it must hold at least two pointers.</a:t>
            </a:r>
          </a:p>
          <a:p>
            <a:pPr lvl="1">
              <a:spcAft>
                <a:spcPts val="600"/>
              </a:spcAft>
              <a:buFont typeface="Wingdings" pitchFamily="2" charset="2"/>
              <a:buChar char="Ø"/>
            </a:pPr>
            <a:endParaRPr lang="en-US" sz="2000" dirty="0" smtClean="0">
              <a:latin typeface="Times New Roman" pitchFamily="18" charset="0"/>
              <a:cs typeface="Times New Roman" pitchFamily="18" charset="0"/>
            </a:endParaRPr>
          </a:p>
          <a:p>
            <a:pPr>
              <a:spcAft>
                <a:spcPts val="600"/>
              </a:spcAft>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4"/>
          <a:srcRect l="375" t="26253" r="375" b="26753"/>
          <a:stretch>
            <a:fillRect/>
          </a:stretch>
        </p:blipFill>
        <p:spPr bwMode="auto">
          <a:xfrm>
            <a:off x="1862137" y="3962400"/>
            <a:ext cx="6215063" cy="2209800"/>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7243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 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Solution:</a:t>
            </a:r>
            <a:r>
              <a:rPr lang="en-US" sz="2000" dirty="0" smtClean="0">
                <a:latin typeface="Times New Roman" pitchFamily="18" charset="0"/>
                <a:cs typeface="Times New Roman" pitchFamily="18" charset="0"/>
              </a:rPr>
              <a:t> Construction of B+ tree for order n=4.</a:t>
            </a:r>
          </a:p>
          <a:p>
            <a:pPr>
              <a:buNone/>
            </a:pPr>
            <a:r>
              <a:rPr lang="en-US" sz="2000" dirty="0" smtClean="0">
                <a:latin typeface="Times New Roman" pitchFamily="18" charset="0"/>
                <a:cs typeface="Times New Roman" pitchFamily="18" charset="0"/>
              </a:rPr>
              <a:t>		   Search key values =3, Pointers= 4.</a:t>
            </a:r>
          </a:p>
          <a:p>
            <a:pPr>
              <a:buNone/>
            </a:pPr>
            <a:endParaRPr lang="en-US" sz="2000"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2</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3</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28" name="Table 127"/>
          <p:cNvGraphicFramePr>
            <a:graphicFrameLocks noGrp="1"/>
          </p:cNvGraphicFramePr>
          <p:nvPr/>
        </p:nvGraphicFramePr>
        <p:xfrm>
          <a:off x="2971800" y="40081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solidFill>
                            <a:srgbClr val="FF0000"/>
                          </a:solidFill>
                          <a:latin typeface="Times New Roman"/>
                          <a:ea typeface="Times New Roman"/>
                          <a:cs typeface="Times New Roman"/>
                        </a:rPr>
                        <a:t>2</a:t>
                      </a:r>
                      <a:endParaRPr lang="en-US" sz="18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9" name="Table 128"/>
          <p:cNvGraphicFramePr>
            <a:graphicFrameLocks noGrp="1"/>
          </p:cNvGraphicFramePr>
          <p:nvPr/>
        </p:nvGraphicFramePr>
        <p:xfrm>
          <a:off x="2971799" y="51816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a:ea typeface="Times New Roman"/>
                          <a:cs typeface="Times New Roman"/>
                        </a:rPr>
                        <a:t>3</a:t>
                      </a:r>
                      <a:endParaRPr lang="en-US" sz="1800" dirty="0">
                        <a:solidFill>
                          <a:srgbClr val="FF0000"/>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7243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 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5</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7</a:t>
            </a:r>
            <a:r>
              <a:rPr lang="en-US" sz="2000" u="sng"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Split the node.</a:t>
            </a: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28" name="Table 127"/>
          <p:cNvGraphicFramePr>
            <a:graphicFrameLocks noGrp="1"/>
          </p:cNvGraphicFramePr>
          <p:nvPr/>
        </p:nvGraphicFramePr>
        <p:xfrm>
          <a:off x="3200399" y="30480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a:ea typeface="Times New Roman"/>
                          <a:cs typeface="Times New Roman"/>
                        </a:rPr>
                        <a:t>5</a:t>
                      </a:r>
                      <a:endParaRPr lang="en-US" sz="1800" dirty="0">
                        <a:solidFill>
                          <a:srgbClr val="FF0000"/>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9" name="Table 128"/>
          <p:cNvGraphicFramePr>
            <a:graphicFrameLocks noGrp="1"/>
          </p:cNvGraphicFramePr>
          <p:nvPr/>
        </p:nvGraphicFramePr>
        <p:xfrm>
          <a:off x="2743199" y="5375237"/>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5029199" y="5375237"/>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7</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4267199" y="4613237"/>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4" name="Straight Arrow Connector 13"/>
          <p:cNvCxnSpPr/>
          <p:nvPr/>
        </p:nvCxnSpPr>
        <p:spPr>
          <a:xfrm rot="5400000">
            <a:off x="3758453" y="4776842"/>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939553" y="4814943"/>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724400" y="55626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7243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 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11</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1050"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17</a:t>
            </a:r>
            <a:r>
              <a:rPr lang="en-US" sz="2000" u="sng"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Split the node.</a:t>
            </a: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29" name="Table 128"/>
          <p:cNvGraphicFramePr>
            <a:graphicFrameLocks noGrp="1"/>
          </p:cNvGraphicFramePr>
          <p:nvPr/>
        </p:nvGraphicFramePr>
        <p:xfrm>
          <a:off x="1447800" y="56083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3733800" y="56083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2971800" y="48463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11</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4" name="Straight Arrow Connector 13"/>
          <p:cNvCxnSpPr/>
          <p:nvPr/>
        </p:nvCxnSpPr>
        <p:spPr>
          <a:xfrm rot="5400000">
            <a:off x="2463054" y="5009925"/>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644154" y="5048026"/>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429000" y="5780647"/>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6" name="Table 15"/>
          <p:cNvGraphicFramePr>
            <a:graphicFrameLocks noGrp="1"/>
          </p:cNvGraphicFramePr>
          <p:nvPr/>
        </p:nvGraphicFramePr>
        <p:xfrm>
          <a:off x="2895599" y="36576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2" name="Table 21"/>
          <p:cNvGraphicFramePr>
            <a:graphicFrameLocks noGrp="1"/>
          </p:cNvGraphicFramePr>
          <p:nvPr/>
        </p:nvGraphicFramePr>
        <p:xfrm>
          <a:off x="5181599" y="36576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11</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3" name="Table 22"/>
          <p:cNvGraphicFramePr>
            <a:graphicFrameLocks noGrp="1"/>
          </p:cNvGraphicFramePr>
          <p:nvPr/>
        </p:nvGraphicFramePr>
        <p:xfrm>
          <a:off x="4419599" y="28956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 name="Straight Arrow Connector 24"/>
          <p:cNvCxnSpPr/>
          <p:nvPr/>
        </p:nvCxnSpPr>
        <p:spPr>
          <a:xfrm rot="5400000">
            <a:off x="3910853" y="3059205"/>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5091953" y="3097306"/>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876800" y="3830824"/>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6019799" y="5616388"/>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11</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17</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9" name="Straight Arrow Connector 28"/>
          <p:cNvCxnSpPr/>
          <p:nvPr/>
        </p:nvCxnSpPr>
        <p:spPr>
          <a:xfrm>
            <a:off x="5715000" y="5777753"/>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267200" y="5029200"/>
            <a:ext cx="2743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952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 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19</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1050"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23</a:t>
            </a:r>
            <a:r>
              <a:rPr lang="en-US" sz="2000" u="sng"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Split the node.</a:t>
            </a: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29" name="Table 128"/>
          <p:cNvGraphicFramePr>
            <a:graphicFrameLocks noGrp="1"/>
          </p:cNvGraphicFramePr>
          <p:nvPr/>
        </p:nvGraphicFramePr>
        <p:xfrm>
          <a:off x="152400" y="56083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2438400" y="56083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3581399" y="47244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11</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19</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4" name="Straight Arrow Connector 23"/>
          <p:cNvCxnSpPr/>
          <p:nvPr/>
        </p:nvCxnSpPr>
        <p:spPr>
          <a:xfrm>
            <a:off x="2133600" y="5780647"/>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4724400" y="5616388"/>
          <a:ext cx="1981200" cy="335280"/>
        </p:xfrm>
        <a:graphic>
          <a:graphicData uri="http://schemas.openxmlformats.org/drawingml/2006/table">
            <a:tbl>
              <a:tblPr/>
              <a:tblGrid>
                <a:gridCol w="196888"/>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11</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9" name="Straight Arrow Connector 28"/>
          <p:cNvCxnSpPr/>
          <p:nvPr/>
        </p:nvCxnSpPr>
        <p:spPr>
          <a:xfrm>
            <a:off x="4419600" y="5777753"/>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0" name="Table 29"/>
          <p:cNvGraphicFramePr>
            <a:graphicFrameLocks noGrp="1"/>
          </p:cNvGraphicFramePr>
          <p:nvPr/>
        </p:nvGraphicFramePr>
        <p:xfrm>
          <a:off x="1752600" y="3695252"/>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2" name="Table 31"/>
          <p:cNvGraphicFramePr>
            <a:graphicFrameLocks noGrp="1"/>
          </p:cNvGraphicFramePr>
          <p:nvPr/>
        </p:nvGraphicFramePr>
        <p:xfrm>
          <a:off x="4038600" y="3695252"/>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3" name="Table 32"/>
          <p:cNvGraphicFramePr>
            <a:graphicFrameLocks noGrp="1"/>
          </p:cNvGraphicFramePr>
          <p:nvPr/>
        </p:nvGraphicFramePr>
        <p:xfrm>
          <a:off x="3276600" y="2933252"/>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11</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4" name="Straight Arrow Connector 33"/>
          <p:cNvCxnSpPr/>
          <p:nvPr/>
        </p:nvCxnSpPr>
        <p:spPr>
          <a:xfrm rot="5400000">
            <a:off x="2767854" y="3096857"/>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948954" y="3134958"/>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3733800" y="3867579"/>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7" name="Table 36"/>
          <p:cNvGraphicFramePr>
            <a:graphicFrameLocks noGrp="1"/>
          </p:cNvGraphicFramePr>
          <p:nvPr/>
        </p:nvGraphicFramePr>
        <p:xfrm>
          <a:off x="6324599" y="37033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11</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19</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8" name="Straight Arrow Connector 37"/>
          <p:cNvCxnSpPr/>
          <p:nvPr/>
        </p:nvCxnSpPr>
        <p:spPr>
          <a:xfrm>
            <a:off x="6019800" y="386468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4572000" y="3116132"/>
            <a:ext cx="2743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0" name="Table 39"/>
          <p:cNvGraphicFramePr>
            <a:graphicFrameLocks noGrp="1"/>
          </p:cNvGraphicFramePr>
          <p:nvPr/>
        </p:nvGraphicFramePr>
        <p:xfrm>
          <a:off x="6996953" y="5616388"/>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19</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23</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1" name="Straight Arrow Connector 40"/>
          <p:cNvCxnSpPr/>
          <p:nvPr/>
        </p:nvCxnSpPr>
        <p:spPr>
          <a:xfrm>
            <a:off x="6705600" y="5777753"/>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10800000" flipV="1">
            <a:off x="1676400" y="4953000"/>
            <a:ext cx="1981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a:off x="3810000" y="5105400"/>
            <a:ext cx="609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16200000" flipH="1">
            <a:off x="4724400" y="5029200"/>
            <a:ext cx="6858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5486400" y="4953000"/>
            <a:ext cx="1905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952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 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29</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105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nvGraphicFramePr>
        <p:xfrm>
          <a:off x="152400" y="4228652"/>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4" name="Table 43"/>
          <p:cNvGraphicFramePr>
            <a:graphicFrameLocks noGrp="1"/>
          </p:cNvGraphicFramePr>
          <p:nvPr/>
        </p:nvGraphicFramePr>
        <p:xfrm>
          <a:off x="2438400" y="4228652"/>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5" name="Table 44"/>
          <p:cNvGraphicFramePr>
            <a:graphicFrameLocks noGrp="1"/>
          </p:cNvGraphicFramePr>
          <p:nvPr/>
        </p:nvGraphicFramePr>
        <p:xfrm>
          <a:off x="3581399" y="3344732"/>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11</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19</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6" name="Straight Arrow Connector 45"/>
          <p:cNvCxnSpPr/>
          <p:nvPr/>
        </p:nvCxnSpPr>
        <p:spPr>
          <a:xfrm>
            <a:off x="2133600" y="4400979"/>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7" name="Table 46"/>
          <p:cNvGraphicFramePr>
            <a:graphicFrameLocks noGrp="1"/>
          </p:cNvGraphicFramePr>
          <p:nvPr/>
        </p:nvGraphicFramePr>
        <p:xfrm>
          <a:off x="4724400" y="4236720"/>
          <a:ext cx="1981200" cy="335280"/>
        </p:xfrm>
        <a:graphic>
          <a:graphicData uri="http://schemas.openxmlformats.org/drawingml/2006/table">
            <a:tbl>
              <a:tblPr/>
              <a:tblGrid>
                <a:gridCol w="196888"/>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11</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8" name="Straight Arrow Connector 47"/>
          <p:cNvCxnSpPr/>
          <p:nvPr/>
        </p:nvCxnSpPr>
        <p:spPr>
          <a:xfrm>
            <a:off x="4419600" y="439808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9" name="Table 48"/>
          <p:cNvGraphicFramePr>
            <a:graphicFrameLocks noGrp="1"/>
          </p:cNvGraphicFramePr>
          <p:nvPr/>
        </p:nvGraphicFramePr>
        <p:xfrm>
          <a:off x="6996953" y="42367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19</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23</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29</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50" name="Straight Arrow Connector 49"/>
          <p:cNvCxnSpPr/>
          <p:nvPr/>
        </p:nvCxnSpPr>
        <p:spPr>
          <a:xfrm>
            <a:off x="6705600" y="439808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rot="10800000" flipV="1">
            <a:off x="1676400" y="3573332"/>
            <a:ext cx="1981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5400000">
            <a:off x="3810000" y="3725732"/>
            <a:ext cx="609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16200000" flipH="1">
            <a:off x="4724400" y="3649532"/>
            <a:ext cx="6858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5486400" y="3573332"/>
            <a:ext cx="1905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952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 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31</a:t>
            </a:r>
            <a:r>
              <a:rPr lang="en-US" sz="2000" u="sng"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105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45" name="Table 44"/>
          <p:cNvGraphicFramePr>
            <a:graphicFrameLocks noGrp="1"/>
          </p:cNvGraphicFramePr>
          <p:nvPr/>
        </p:nvGraphicFramePr>
        <p:xfrm>
          <a:off x="3581400" y="3124200"/>
          <a:ext cx="2133603" cy="403412"/>
        </p:xfrm>
        <a:graphic>
          <a:graphicData uri="http://schemas.openxmlformats.org/drawingml/2006/table">
            <a:tbl>
              <a:tblPr/>
              <a:tblGrid>
                <a:gridCol w="220703"/>
                <a:gridCol w="375237"/>
                <a:gridCol w="220703"/>
                <a:gridCol w="437777"/>
                <a:gridCol w="220703"/>
                <a:gridCol w="437777"/>
                <a:gridCol w="220703"/>
              </a:tblGrid>
              <a:tr h="4034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latin typeface="Times New Roman" pitchFamily="18" charset="0"/>
                          <a:ea typeface="Times New Roman"/>
                          <a:cs typeface="Times New Roman" pitchFamily="18" charset="0"/>
                        </a:rPr>
                        <a:t>19</a:t>
                      </a:r>
                      <a:endParaRPr lang="en-US" sz="2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457200" y="5257800"/>
          <a:ext cx="1571520" cy="327212"/>
        </p:xfrm>
        <a:graphic>
          <a:graphicData uri="http://schemas.openxmlformats.org/drawingml/2006/table">
            <a:tbl>
              <a:tblPr/>
              <a:tblGrid>
                <a:gridCol w="162560"/>
                <a:gridCol w="276384"/>
                <a:gridCol w="162560"/>
                <a:gridCol w="322448"/>
                <a:gridCol w="162560"/>
                <a:gridCol w="322448"/>
                <a:gridCol w="162560"/>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2</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3</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6" name="Table 25"/>
          <p:cNvGraphicFramePr>
            <a:graphicFrameLocks noGrp="1"/>
          </p:cNvGraphicFramePr>
          <p:nvPr/>
        </p:nvGraphicFramePr>
        <p:xfrm>
          <a:off x="2238480" y="5257800"/>
          <a:ext cx="1571520" cy="327212"/>
        </p:xfrm>
        <a:graphic>
          <a:graphicData uri="http://schemas.openxmlformats.org/drawingml/2006/table">
            <a:tbl>
              <a:tblPr/>
              <a:tblGrid>
                <a:gridCol w="162560"/>
                <a:gridCol w="276384"/>
                <a:gridCol w="162560"/>
                <a:gridCol w="322448"/>
                <a:gridCol w="162560"/>
                <a:gridCol w="322448"/>
                <a:gridCol w="162560"/>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5</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7</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7" name="Table 26"/>
          <p:cNvGraphicFramePr>
            <a:graphicFrameLocks noGrp="1"/>
          </p:cNvGraphicFramePr>
          <p:nvPr/>
        </p:nvGraphicFramePr>
        <p:xfrm>
          <a:off x="3962400" y="5257800"/>
          <a:ext cx="1571520" cy="327212"/>
        </p:xfrm>
        <a:graphic>
          <a:graphicData uri="http://schemas.openxmlformats.org/drawingml/2006/table">
            <a:tbl>
              <a:tblPr/>
              <a:tblGrid>
                <a:gridCol w="162560"/>
                <a:gridCol w="276384"/>
                <a:gridCol w="162560"/>
                <a:gridCol w="322448"/>
                <a:gridCol w="162560"/>
                <a:gridCol w="322448"/>
                <a:gridCol w="162560"/>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dirty="0" smtClean="0">
                          <a:latin typeface="Times New Roman" pitchFamily="18" charset="0"/>
                          <a:ea typeface="Times New Roman"/>
                          <a:cs typeface="Times New Roman" pitchFamily="18" charset="0"/>
                        </a:rPr>
                        <a:t>11</a:t>
                      </a:r>
                      <a:endParaRPr lang="en-US" sz="105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17</a:t>
                      </a:r>
                      <a:endParaRPr lang="en-US" sz="12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8" name="Table 27"/>
          <p:cNvGraphicFramePr>
            <a:graphicFrameLocks noGrp="1"/>
          </p:cNvGraphicFramePr>
          <p:nvPr/>
        </p:nvGraphicFramePr>
        <p:xfrm>
          <a:off x="5667480" y="5257800"/>
          <a:ext cx="1571520" cy="327212"/>
        </p:xfrm>
        <a:graphic>
          <a:graphicData uri="http://schemas.openxmlformats.org/drawingml/2006/table">
            <a:tbl>
              <a:tblPr/>
              <a:tblGrid>
                <a:gridCol w="162560"/>
                <a:gridCol w="276384"/>
                <a:gridCol w="162560"/>
                <a:gridCol w="322448"/>
                <a:gridCol w="162560"/>
                <a:gridCol w="322448"/>
                <a:gridCol w="162560"/>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dirty="0" smtClean="0">
                          <a:latin typeface="Times New Roman" pitchFamily="18" charset="0"/>
                          <a:ea typeface="Times New Roman"/>
                          <a:cs typeface="Times New Roman" pitchFamily="18" charset="0"/>
                        </a:rPr>
                        <a:t>19</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23</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7440706" y="5257800"/>
          <a:ext cx="1571520" cy="327212"/>
        </p:xfrm>
        <a:graphic>
          <a:graphicData uri="http://schemas.openxmlformats.org/drawingml/2006/table">
            <a:tbl>
              <a:tblPr/>
              <a:tblGrid>
                <a:gridCol w="162560"/>
                <a:gridCol w="276384"/>
                <a:gridCol w="162560"/>
                <a:gridCol w="322448"/>
                <a:gridCol w="162560"/>
                <a:gridCol w="322448"/>
                <a:gridCol w="162560"/>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dirty="0" smtClean="0">
                          <a:latin typeface="Times New Roman" pitchFamily="18" charset="0"/>
                          <a:ea typeface="Times New Roman"/>
                          <a:cs typeface="Times New Roman" pitchFamily="18" charset="0"/>
                        </a:rPr>
                        <a:t>29</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solidFill>
                            <a:srgbClr val="FF0000"/>
                          </a:solidFill>
                          <a:latin typeface="Times New Roman" pitchFamily="18" charset="0"/>
                          <a:ea typeface="Times New Roman"/>
                          <a:cs typeface="Times New Roman" pitchFamily="18" charset="0"/>
                        </a:rPr>
                        <a:t>31</a:t>
                      </a:r>
                      <a:endParaRPr lang="en-US" sz="14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2743200" y="4191000"/>
          <a:ext cx="1571520" cy="327212"/>
        </p:xfrm>
        <a:graphic>
          <a:graphicData uri="http://schemas.openxmlformats.org/drawingml/2006/table">
            <a:tbl>
              <a:tblPr/>
              <a:tblGrid>
                <a:gridCol w="162560"/>
                <a:gridCol w="276384"/>
                <a:gridCol w="162560"/>
                <a:gridCol w="322448"/>
                <a:gridCol w="162560"/>
                <a:gridCol w="322448"/>
                <a:gridCol w="162560"/>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5</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11</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1" name="Table 30"/>
          <p:cNvGraphicFramePr>
            <a:graphicFrameLocks noGrp="1"/>
          </p:cNvGraphicFramePr>
          <p:nvPr/>
        </p:nvGraphicFramePr>
        <p:xfrm>
          <a:off x="6048481" y="4191000"/>
          <a:ext cx="1952519" cy="327212"/>
        </p:xfrm>
        <a:graphic>
          <a:graphicData uri="http://schemas.openxmlformats.org/drawingml/2006/table">
            <a:tbl>
              <a:tblPr/>
              <a:tblGrid>
                <a:gridCol w="201971"/>
                <a:gridCol w="343391"/>
                <a:gridCol w="201971"/>
                <a:gridCol w="400622"/>
                <a:gridCol w="201971"/>
                <a:gridCol w="400622"/>
                <a:gridCol w="201971"/>
              </a:tblGrid>
              <a:tr h="327212">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Times New Roman" pitchFamily="18" charset="0"/>
                          <a:ea typeface="Times New Roman"/>
                          <a:cs typeface="Times New Roman" pitchFamily="18" charset="0"/>
                        </a:rPr>
                        <a:t>29</a:t>
                      </a: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4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295400" y="4419600"/>
            <a:ext cx="15240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16200000" flipH="1">
            <a:off x="2933700" y="4762500"/>
            <a:ext cx="8382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3733800" y="4419600"/>
            <a:ext cx="9906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a:off x="5676900" y="4762500"/>
            <a:ext cx="914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705600" y="4419600"/>
            <a:ext cx="13716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5400000">
            <a:off x="3086100" y="3543300"/>
            <a:ext cx="838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4267200" y="3352800"/>
            <a:ext cx="24384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2043953" y="5431024"/>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3819861" y="5437094"/>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5518673" y="5437094"/>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7265894" y="5437094"/>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a:off x="342900" y="56769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799306" y="5662659"/>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5400000">
            <a:off x="2136635" y="5667141"/>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a:off x="2578800" y="5662659"/>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a:off x="3860753" y="5649212"/>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a:off x="4304506" y="5676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5400000">
            <a:off x="5559565" y="5662659"/>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a:off x="6009388" y="5649212"/>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a:off x="7339058" y="5649212"/>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a:off x="7769364" y="5649212"/>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17525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2000" b="1" dirty="0" smtClean="0">
              <a:latin typeface="Times New Roman" pitchFamily="18" charset="0"/>
              <a:cs typeface="Times New Roman" pitchFamily="18" charset="0"/>
            </a:endParaRPr>
          </a:p>
          <a:p>
            <a:pPr>
              <a:buNone/>
            </a:pPr>
            <a:r>
              <a:rPr lang="en-US" sz="2000" b="1" u="sng" dirty="0" smtClean="0">
                <a:latin typeface="Times New Roman" pitchFamily="18" charset="0"/>
                <a:cs typeface="Times New Roman" pitchFamily="18" charset="0"/>
              </a:rPr>
              <a:t>For n=6:</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pSp>
        <p:nvGrpSpPr>
          <p:cNvPr id="2050" name="Group 2"/>
          <p:cNvGrpSpPr>
            <a:grpSpLocks noChangeAspect="1"/>
          </p:cNvGrpSpPr>
          <p:nvPr/>
        </p:nvGrpSpPr>
        <p:grpSpPr bwMode="auto">
          <a:xfrm>
            <a:off x="692962" y="3124200"/>
            <a:ext cx="8070038" cy="1876425"/>
            <a:chOff x="1956" y="2419"/>
            <a:chExt cx="8580" cy="1995"/>
          </a:xfrm>
        </p:grpSpPr>
        <p:sp>
          <p:nvSpPr>
            <p:cNvPr id="2051" name="AutoShape 3"/>
            <p:cNvSpPr>
              <a:spLocks noChangeAspect="1" noChangeArrowheads="1"/>
            </p:cNvSpPr>
            <p:nvPr/>
          </p:nvSpPr>
          <p:spPr bwMode="auto">
            <a:xfrm>
              <a:off x="1956" y="2419"/>
              <a:ext cx="8580" cy="19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nvGrpSpPr>
            <p:cNvPr id="2052" name="Group 4"/>
            <p:cNvGrpSpPr>
              <a:grpSpLocks/>
            </p:cNvGrpSpPr>
            <p:nvPr/>
          </p:nvGrpSpPr>
          <p:grpSpPr bwMode="auto">
            <a:xfrm>
              <a:off x="2113" y="2657"/>
              <a:ext cx="8273" cy="1484"/>
              <a:chOff x="2113" y="2657"/>
              <a:chExt cx="8273" cy="1484"/>
            </a:xfrm>
          </p:grpSpPr>
          <p:grpSp>
            <p:nvGrpSpPr>
              <p:cNvPr id="2053" name="Group 5"/>
              <p:cNvGrpSpPr>
                <a:grpSpLocks/>
              </p:cNvGrpSpPr>
              <p:nvPr/>
            </p:nvGrpSpPr>
            <p:grpSpPr bwMode="auto">
              <a:xfrm>
                <a:off x="4853" y="2657"/>
                <a:ext cx="2203" cy="403"/>
                <a:chOff x="4740" y="9135"/>
                <a:chExt cx="2203" cy="405"/>
              </a:xfrm>
            </p:grpSpPr>
            <p:cxnSp>
              <p:nvCxnSpPr>
                <p:cNvPr id="2054" name="AutoShape 6"/>
                <p:cNvCxnSpPr>
                  <a:cxnSpLocks noChangeShapeType="1"/>
                </p:cNvCxnSpPr>
                <p:nvPr/>
              </p:nvCxnSpPr>
              <p:spPr bwMode="auto">
                <a:xfrm>
                  <a:off x="4740" y="9135"/>
                  <a:ext cx="2203" cy="0"/>
                </a:xfrm>
                <a:prstGeom prst="straightConnector1">
                  <a:avLst/>
                </a:prstGeom>
                <a:noFill/>
                <a:ln w="9525">
                  <a:solidFill>
                    <a:srgbClr val="000000"/>
                  </a:solidFill>
                  <a:round/>
                  <a:headEnd/>
                  <a:tailEnd/>
                </a:ln>
              </p:spPr>
            </p:cxnSp>
            <p:cxnSp>
              <p:nvCxnSpPr>
                <p:cNvPr id="2055" name="AutoShape 7"/>
                <p:cNvCxnSpPr>
                  <a:cxnSpLocks noChangeShapeType="1"/>
                </p:cNvCxnSpPr>
                <p:nvPr/>
              </p:nvCxnSpPr>
              <p:spPr bwMode="auto">
                <a:xfrm>
                  <a:off x="4740" y="9540"/>
                  <a:ext cx="2203" cy="0"/>
                </a:xfrm>
                <a:prstGeom prst="straightConnector1">
                  <a:avLst/>
                </a:prstGeom>
                <a:noFill/>
                <a:ln w="9525">
                  <a:solidFill>
                    <a:srgbClr val="000000"/>
                  </a:solidFill>
                  <a:round/>
                  <a:headEnd/>
                  <a:tailEnd/>
                </a:ln>
              </p:spPr>
            </p:cxnSp>
            <p:cxnSp>
              <p:nvCxnSpPr>
                <p:cNvPr id="2056" name="AutoShape 8"/>
                <p:cNvCxnSpPr>
                  <a:cxnSpLocks noChangeShapeType="1"/>
                </p:cNvCxnSpPr>
                <p:nvPr/>
              </p:nvCxnSpPr>
              <p:spPr bwMode="auto">
                <a:xfrm>
                  <a:off x="4740" y="9135"/>
                  <a:ext cx="0" cy="405"/>
                </a:xfrm>
                <a:prstGeom prst="straightConnector1">
                  <a:avLst/>
                </a:prstGeom>
                <a:noFill/>
                <a:ln w="9525">
                  <a:solidFill>
                    <a:srgbClr val="000000"/>
                  </a:solidFill>
                  <a:round/>
                  <a:headEnd/>
                  <a:tailEnd/>
                </a:ln>
              </p:spPr>
            </p:cxnSp>
            <p:cxnSp>
              <p:nvCxnSpPr>
                <p:cNvPr id="2057" name="AutoShape 9"/>
                <p:cNvCxnSpPr>
                  <a:cxnSpLocks noChangeShapeType="1"/>
                </p:cNvCxnSpPr>
                <p:nvPr/>
              </p:nvCxnSpPr>
              <p:spPr bwMode="auto">
                <a:xfrm>
                  <a:off x="6943" y="9135"/>
                  <a:ext cx="0" cy="405"/>
                </a:xfrm>
                <a:prstGeom prst="straightConnector1">
                  <a:avLst/>
                </a:prstGeom>
                <a:noFill/>
                <a:ln w="9525">
                  <a:solidFill>
                    <a:srgbClr val="000000"/>
                  </a:solidFill>
                  <a:round/>
                  <a:headEnd/>
                  <a:tailEnd/>
                </a:ln>
              </p:spPr>
            </p:cxnSp>
            <p:cxnSp>
              <p:nvCxnSpPr>
                <p:cNvPr id="2058" name="AutoShape 10"/>
                <p:cNvCxnSpPr>
                  <a:cxnSpLocks noChangeShapeType="1"/>
                </p:cNvCxnSpPr>
                <p:nvPr/>
              </p:nvCxnSpPr>
              <p:spPr bwMode="auto">
                <a:xfrm>
                  <a:off x="4860" y="9135"/>
                  <a:ext cx="0" cy="405"/>
                </a:xfrm>
                <a:prstGeom prst="straightConnector1">
                  <a:avLst/>
                </a:prstGeom>
                <a:noFill/>
                <a:ln w="9525">
                  <a:solidFill>
                    <a:srgbClr val="000000"/>
                  </a:solidFill>
                  <a:round/>
                  <a:headEnd/>
                  <a:tailEnd/>
                </a:ln>
              </p:spPr>
            </p:cxnSp>
            <p:cxnSp>
              <p:nvCxnSpPr>
                <p:cNvPr id="2059" name="AutoShape 11"/>
                <p:cNvCxnSpPr>
                  <a:cxnSpLocks noChangeShapeType="1"/>
                </p:cNvCxnSpPr>
                <p:nvPr/>
              </p:nvCxnSpPr>
              <p:spPr bwMode="auto">
                <a:xfrm>
                  <a:off x="5820" y="9135"/>
                  <a:ext cx="0" cy="405"/>
                </a:xfrm>
                <a:prstGeom prst="straightConnector1">
                  <a:avLst/>
                </a:prstGeom>
                <a:noFill/>
                <a:ln w="9525">
                  <a:solidFill>
                    <a:srgbClr val="000000"/>
                  </a:solidFill>
                  <a:round/>
                  <a:headEnd/>
                  <a:tailEnd/>
                </a:ln>
              </p:spPr>
            </p:cxnSp>
            <p:cxnSp>
              <p:nvCxnSpPr>
                <p:cNvPr id="2060" name="AutoShape 12"/>
                <p:cNvCxnSpPr>
                  <a:cxnSpLocks noChangeShapeType="1"/>
                </p:cNvCxnSpPr>
                <p:nvPr/>
              </p:nvCxnSpPr>
              <p:spPr bwMode="auto">
                <a:xfrm>
                  <a:off x="5940" y="9135"/>
                  <a:ext cx="0" cy="405"/>
                </a:xfrm>
                <a:prstGeom prst="straightConnector1">
                  <a:avLst/>
                </a:prstGeom>
                <a:noFill/>
                <a:ln w="9525">
                  <a:solidFill>
                    <a:srgbClr val="000000"/>
                  </a:solidFill>
                  <a:round/>
                  <a:headEnd/>
                  <a:tailEnd/>
                </a:ln>
              </p:spPr>
            </p:cxnSp>
            <p:cxnSp>
              <p:nvCxnSpPr>
                <p:cNvPr id="2061" name="AutoShape 13"/>
                <p:cNvCxnSpPr>
                  <a:cxnSpLocks noChangeShapeType="1"/>
                </p:cNvCxnSpPr>
                <p:nvPr/>
              </p:nvCxnSpPr>
              <p:spPr bwMode="auto">
                <a:xfrm>
                  <a:off x="6813" y="9135"/>
                  <a:ext cx="0" cy="405"/>
                </a:xfrm>
                <a:prstGeom prst="straightConnector1">
                  <a:avLst/>
                </a:prstGeom>
                <a:noFill/>
                <a:ln w="9525">
                  <a:solidFill>
                    <a:srgbClr val="000000"/>
                  </a:solidFill>
                  <a:round/>
                  <a:headEnd/>
                  <a:tailEnd/>
                </a:ln>
              </p:spPr>
            </p:cxnSp>
          </p:grpSp>
          <p:grpSp>
            <p:nvGrpSpPr>
              <p:cNvPr id="2062" name="Group 14"/>
              <p:cNvGrpSpPr>
                <a:grpSpLocks/>
              </p:cNvGrpSpPr>
              <p:nvPr/>
            </p:nvGrpSpPr>
            <p:grpSpPr bwMode="auto">
              <a:xfrm>
                <a:off x="5009" y="3736"/>
                <a:ext cx="2491" cy="405"/>
                <a:chOff x="4830" y="9810"/>
                <a:chExt cx="2491" cy="405"/>
              </a:xfrm>
            </p:grpSpPr>
            <p:cxnSp>
              <p:nvCxnSpPr>
                <p:cNvPr id="2063" name="AutoShape 15"/>
                <p:cNvCxnSpPr>
                  <a:cxnSpLocks noChangeShapeType="1"/>
                </p:cNvCxnSpPr>
                <p:nvPr/>
              </p:nvCxnSpPr>
              <p:spPr bwMode="auto">
                <a:xfrm>
                  <a:off x="4830" y="9810"/>
                  <a:ext cx="2491" cy="0"/>
                </a:xfrm>
                <a:prstGeom prst="straightConnector1">
                  <a:avLst/>
                </a:prstGeom>
                <a:noFill/>
                <a:ln w="9525">
                  <a:solidFill>
                    <a:srgbClr val="000000"/>
                  </a:solidFill>
                  <a:round/>
                  <a:headEnd/>
                  <a:tailEnd/>
                </a:ln>
              </p:spPr>
            </p:cxnSp>
            <p:cxnSp>
              <p:nvCxnSpPr>
                <p:cNvPr id="2064" name="AutoShape 16"/>
                <p:cNvCxnSpPr>
                  <a:cxnSpLocks noChangeShapeType="1"/>
                </p:cNvCxnSpPr>
                <p:nvPr/>
              </p:nvCxnSpPr>
              <p:spPr bwMode="auto">
                <a:xfrm>
                  <a:off x="4830" y="10215"/>
                  <a:ext cx="2491" cy="0"/>
                </a:xfrm>
                <a:prstGeom prst="straightConnector1">
                  <a:avLst/>
                </a:prstGeom>
                <a:noFill/>
                <a:ln w="9525">
                  <a:solidFill>
                    <a:srgbClr val="000000"/>
                  </a:solidFill>
                  <a:round/>
                  <a:headEnd/>
                  <a:tailEnd/>
                </a:ln>
              </p:spPr>
            </p:cxnSp>
            <p:cxnSp>
              <p:nvCxnSpPr>
                <p:cNvPr id="2065" name="AutoShape 17"/>
                <p:cNvCxnSpPr>
                  <a:cxnSpLocks noChangeShapeType="1"/>
                </p:cNvCxnSpPr>
                <p:nvPr/>
              </p:nvCxnSpPr>
              <p:spPr bwMode="auto">
                <a:xfrm>
                  <a:off x="4830" y="9810"/>
                  <a:ext cx="0" cy="405"/>
                </a:xfrm>
                <a:prstGeom prst="straightConnector1">
                  <a:avLst/>
                </a:prstGeom>
                <a:noFill/>
                <a:ln w="9525">
                  <a:solidFill>
                    <a:srgbClr val="000000"/>
                  </a:solidFill>
                  <a:round/>
                  <a:headEnd/>
                  <a:tailEnd/>
                </a:ln>
              </p:spPr>
            </p:cxnSp>
            <p:cxnSp>
              <p:nvCxnSpPr>
                <p:cNvPr id="2066" name="AutoShape 18"/>
                <p:cNvCxnSpPr>
                  <a:cxnSpLocks noChangeShapeType="1"/>
                </p:cNvCxnSpPr>
                <p:nvPr/>
              </p:nvCxnSpPr>
              <p:spPr bwMode="auto">
                <a:xfrm>
                  <a:off x="6853" y="9810"/>
                  <a:ext cx="0" cy="405"/>
                </a:xfrm>
                <a:prstGeom prst="straightConnector1">
                  <a:avLst/>
                </a:prstGeom>
                <a:noFill/>
                <a:ln w="9525">
                  <a:solidFill>
                    <a:srgbClr val="000000"/>
                  </a:solidFill>
                  <a:round/>
                  <a:headEnd/>
                  <a:tailEnd/>
                </a:ln>
              </p:spPr>
            </p:cxnSp>
            <p:cxnSp>
              <p:nvCxnSpPr>
                <p:cNvPr id="2067" name="AutoShape 19"/>
                <p:cNvCxnSpPr>
                  <a:cxnSpLocks noChangeShapeType="1"/>
                </p:cNvCxnSpPr>
                <p:nvPr/>
              </p:nvCxnSpPr>
              <p:spPr bwMode="auto">
                <a:xfrm>
                  <a:off x="4950" y="9810"/>
                  <a:ext cx="0" cy="405"/>
                </a:xfrm>
                <a:prstGeom prst="straightConnector1">
                  <a:avLst/>
                </a:prstGeom>
                <a:noFill/>
                <a:ln w="9525">
                  <a:solidFill>
                    <a:srgbClr val="000000"/>
                  </a:solidFill>
                  <a:round/>
                  <a:headEnd/>
                  <a:tailEnd/>
                </a:ln>
              </p:spPr>
            </p:cxnSp>
            <p:cxnSp>
              <p:nvCxnSpPr>
                <p:cNvPr id="2068" name="AutoShape 20"/>
                <p:cNvCxnSpPr>
                  <a:cxnSpLocks noChangeShapeType="1"/>
                </p:cNvCxnSpPr>
                <p:nvPr/>
              </p:nvCxnSpPr>
              <p:spPr bwMode="auto">
                <a:xfrm>
                  <a:off x="5295" y="9810"/>
                  <a:ext cx="0" cy="405"/>
                </a:xfrm>
                <a:prstGeom prst="straightConnector1">
                  <a:avLst/>
                </a:prstGeom>
                <a:noFill/>
                <a:ln w="9525">
                  <a:solidFill>
                    <a:srgbClr val="000000"/>
                  </a:solidFill>
                  <a:round/>
                  <a:headEnd/>
                  <a:tailEnd/>
                </a:ln>
              </p:spPr>
            </p:cxnSp>
            <p:cxnSp>
              <p:nvCxnSpPr>
                <p:cNvPr id="2069" name="AutoShape 21"/>
                <p:cNvCxnSpPr>
                  <a:cxnSpLocks noChangeShapeType="1"/>
                </p:cNvCxnSpPr>
                <p:nvPr/>
              </p:nvCxnSpPr>
              <p:spPr bwMode="auto">
                <a:xfrm>
                  <a:off x="5415" y="9810"/>
                  <a:ext cx="0" cy="405"/>
                </a:xfrm>
                <a:prstGeom prst="straightConnector1">
                  <a:avLst/>
                </a:prstGeom>
                <a:noFill/>
                <a:ln w="9525">
                  <a:solidFill>
                    <a:srgbClr val="000000"/>
                  </a:solidFill>
                  <a:round/>
                  <a:headEnd/>
                  <a:tailEnd/>
                </a:ln>
              </p:spPr>
            </p:cxnSp>
            <p:cxnSp>
              <p:nvCxnSpPr>
                <p:cNvPr id="2070" name="AutoShape 22"/>
                <p:cNvCxnSpPr>
                  <a:cxnSpLocks noChangeShapeType="1"/>
                </p:cNvCxnSpPr>
                <p:nvPr/>
              </p:nvCxnSpPr>
              <p:spPr bwMode="auto">
                <a:xfrm>
                  <a:off x="6723" y="9810"/>
                  <a:ext cx="0" cy="405"/>
                </a:xfrm>
                <a:prstGeom prst="straightConnector1">
                  <a:avLst/>
                </a:prstGeom>
                <a:noFill/>
                <a:ln w="9525">
                  <a:solidFill>
                    <a:srgbClr val="000000"/>
                  </a:solidFill>
                  <a:round/>
                  <a:headEnd/>
                  <a:tailEnd/>
                </a:ln>
              </p:spPr>
            </p:cxnSp>
            <p:cxnSp>
              <p:nvCxnSpPr>
                <p:cNvPr id="2071" name="AutoShape 23"/>
                <p:cNvCxnSpPr>
                  <a:cxnSpLocks noChangeShapeType="1"/>
                </p:cNvCxnSpPr>
                <p:nvPr/>
              </p:nvCxnSpPr>
              <p:spPr bwMode="auto">
                <a:xfrm>
                  <a:off x="5760" y="9810"/>
                  <a:ext cx="0" cy="405"/>
                </a:xfrm>
                <a:prstGeom prst="straightConnector1">
                  <a:avLst/>
                </a:prstGeom>
                <a:noFill/>
                <a:ln w="9525">
                  <a:solidFill>
                    <a:srgbClr val="000000"/>
                  </a:solidFill>
                  <a:round/>
                  <a:headEnd/>
                  <a:tailEnd/>
                </a:ln>
              </p:spPr>
            </p:cxnSp>
            <p:cxnSp>
              <p:nvCxnSpPr>
                <p:cNvPr id="2072" name="AutoShape 24"/>
                <p:cNvCxnSpPr>
                  <a:cxnSpLocks noChangeShapeType="1"/>
                </p:cNvCxnSpPr>
                <p:nvPr/>
              </p:nvCxnSpPr>
              <p:spPr bwMode="auto">
                <a:xfrm>
                  <a:off x="5880" y="9810"/>
                  <a:ext cx="0" cy="405"/>
                </a:xfrm>
                <a:prstGeom prst="straightConnector1">
                  <a:avLst/>
                </a:prstGeom>
                <a:noFill/>
                <a:ln w="9525">
                  <a:solidFill>
                    <a:srgbClr val="000000"/>
                  </a:solidFill>
                  <a:round/>
                  <a:headEnd/>
                  <a:tailEnd/>
                </a:ln>
              </p:spPr>
            </p:cxnSp>
            <p:cxnSp>
              <p:nvCxnSpPr>
                <p:cNvPr id="2073" name="AutoShape 25"/>
                <p:cNvCxnSpPr>
                  <a:cxnSpLocks noChangeShapeType="1"/>
                </p:cNvCxnSpPr>
                <p:nvPr/>
              </p:nvCxnSpPr>
              <p:spPr bwMode="auto">
                <a:xfrm>
                  <a:off x="6225" y="9810"/>
                  <a:ext cx="0" cy="405"/>
                </a:xfrm>
                <a:prstGeom prst="straightConnector1">
                  <a:avLst/>
                </a:prstGeom>
                <a:noFill/>
                <a:ln w="9525">
                  <a:solidFill>
                    <a:srgbClr val="000000"/>
                  </a:solidFill>
                  <a:round/>
                  <a:headEnd/>
                  <a:tailEnd/>
                </a:ln>
              </p:spPr>
            </p:cxnSp>
            <p:cxnSp>
              <p:nvCxnSpPr>
                <p:cNvPr id="2074" name="AutoShape 26"/>
                <p:cNvCxnSpPr>
                  <a:cxnSpLocks noChangeShapeType="1"/>
                </p:cNvCxnSpPr>
                <p:nvPr/>
              </p:nvCxnSpPr>
              <p:spPr bwMode="auto">
                <a:xfrm>
                  <a:off x="6345" y="9810"/>
                  <a:ext cx="0" cy="405"/>
                </a:xfrm>
                <a:prstGeom prst="straightConnector1">
                  <a:avLst/>
                </a:prstGeom>
                <a:noFill/>
                <a:ln w="9525">
                  <a:solidFill>
                    <a:srgbClr val="000000"/>
                  </a:solidFill>
                  <a:round/>
                  <a:headEnd/>
                  <a:tailEnd/>
                </a:ln>
              </p:spPr>
            </p:cxnSp>
            <p:cxnSp>
              <p:nvCxnSpPr>
                <p:cNvPr id="2075" name="AutoShape 27"/>
                <p:cNvCxnSpPr>
                  <a:cxnSpLocks noChangeShapeType="1"/>
                </p:cNvCxnSpPr>
                <p:nvPr/>
              </p:nvCxnSpPr>
              <p:spPr bwMode="auto">
                <a:xfrm>
                  <a:off x="7320" y="9810"/>
                  <a:ext cx="0" cy="405"/>
                </a:xfrm>
                <a:prstGeom prst="straightConnector1">
                  <a:avLst/>
                </a:prstGeom>
                <a:noFill/>
                <a:ln w="9525">
                  <a:solidFill>
                    <a:srgbClr val="000000"/>
                  </a:solidFill>
                  <a:round/>
                  <a:headEnd/>
                  <a:tailEnd/>
                </a:ln>
              </p:spPr>
            </p:cxnSp>
            <p:cxnSp>
              <p:nvCxnSpPr>
                <p:cNvPr id="2076" name="AutoShape 28"/>
                <p:cNvCxnSpPr>
                  <a:cxnSpLocks noChangeShapeType="1"/>
                </p:cNvCxnSpPr>
                <p:nvPr/>
              </p:nvCxnSpPr>
              <p:spPr bwMode="auto">
                <a:xfrm>
                  <a:off x="7190" y="9810"/>
                  <a:ext cx="0" cy="405"/>
                </a:xfrm>
                <a:prstGeom prst="straightConnector1">
                  <a:avLst/>
                </a:prstGeom>
                <a:noFill/>
                <a:ln w="9525">
                  <a:solidFill>
                    <a:srgbClr val="000000"/>
                  </a:solidFill>
                  <a:round/>
                  <a:headEnd/>
                  <a:tailEnd/>
                </a:ln>
              </p:spPr>
            </p:cxnSp>
          </p:grpSp>
          <p:grpSp>
            <p:nvGrpSpPr>
              <p:cNvPr id="2077" name="Group 29"/>
              <p:cNvGrpSpPr>
                <a:grpSpLocks/>
              </p:cNvGrpSpPr>
              <p:nvPr/>
            </p:nvGrpSpPr>
            <p:grpSpPr bwMode="auto">
              <a:xfrm>
                <a:off x="2113" y="3736"/>
                <a:ext cx="2491" cy="405"/>
                <a:chOff x="4830" y="9810"/>
                <a:chExt cx="2491" cy="405"/>
              </a:xfrm>
            </p:grpSpPr>
            <p:cxnSp>
              <p:nvCxnSpPr>
                <p:cNvPr id="2078" name="AutoShape 30"/>
                <p:cNvCxnSpPr>
                  <a:cxnSpLocks noChangeShapeType="1"/>
                </p:cNvCxnSpPr>
                <p:nvPr/>
              </p:nvCxnSpPr>
              <p:spPr bwMode="auto">
                <a:xfrm>
                  <a:off x="4830" y="9810"/>
                  <a:ext cx="2491" cy="0"/>
                </a:xfrm>
                <a:prstGeom prst="straightConnector1">
                  <a:avLst/>
                </a:prstGeom>
                <a:noFill/>
                <a:ln w="9525">
                  <a:solidFill>
                    <a:srgbClr val="000000"/>
                  </a:solidFill>
                  <a:round/>
                  <a:headEnd/>
                  <a:tailEnd/>
                </a:ln>
              </p:spPr>
            </p:cxnSp>
            <p:cxnSp>
              <p:nvCxnSpPr>
                <p:cNvPr id="2079" name="AutoShape 31"/>
                <p:cNvCxnSpPr>
                  <a:cxnSpLocks noChangeShapeType="1"/>
                </p:cNvCxnSpPr>
                <p:nvPr/>
              </p:nvCxnSpPr>
              <p:spPr bwMode="auto">
                <a:xfrm>
                  <a:off x="4830" y="10215"/>
                  <a:ext cx="2491" cy="0"/>
                </a:xfrm>
                <a:prstGeom prst="straightConnector1">
                  <a:avLst/>
                </a:prstGeom>
                <a:noFill/>
                <a:ln w="9525">
                  <a:solidFill>
                    <a:srgbClr val="000000"/>
                  </a:solidFill>
                  <a:round/>
                  <a:headEnd/>
                  <a:tailEnd/>
                </a:ln>
              </p:spPr>
            </p:cxnSp>
            <p:cxnSp>
              <p:nvCxnSpPr>
                <p:cNvPr id="2080" name="AutoShape 32"/>
                <p:cNvCxnSpPr>
                  <a:cxnSpLocks noChangeShapeType="1"/>
                </p:cNvCxnSpPr>
                <p:nvPr/>
              </p:nvCxnSpPr>
              <p:spPr bwMode="auto">
                <a:xfrm>
                  <a:off x="4830" y="9810"/>
                  <a:ext cx="0" cy="405"/>
                </a:xfrm>
                <a:prstGeom prst="straightConnector1">
                  <a:avLst/>
                </a:prstGeom>
                <a:noFill/>
                <a:ln w="9525">
                  <a:solidFill>
                    <a:srgbClr val="000000"/>
                  </a:solidFill>
                  <a:round/>
                  <a:headEnd/>
                  <a:tailEnd/>
                </a:ln>
              </p:spPr>
            </p:cxnSp>
            <p:cxnSp>
              <p:nvCxnSpPr>
                <p:cNvPr id="2081" name="AutoShape 33"/>
                <p:cNvCxnSpPr>
                  <a:cxnSpLocks noChangeShapeType="1"/>
                </p:cNvCxnSpPr>
                <p:nvPr/>
              </p:nvCxnSpPr>
              <p:spPr bwMode="auto">
                <a:xfrm>
                  <a:off x="6853" y="9810"/>
                  <a:ext cx="0" cy="405"/>
                </a:xfrm>
                <a:prstGeom prst="straightConnector1">
                  <a:avLst/>
                </a:prstGeom>
                <a:noFill/>
                <a:ln w="9525">
                  <a:solidFill>
                    <a:srgbClr val="000000"/>
                  </a:solidFill>
                  <a:round/>
                  <a:headEnd/>
                  <a:tailEnd/>
                </a:ln>
              </p:spPr>
            </p:cxnSp>
            <p:cxnSp>
              <p:nvCxnSpPr>
                <p:cNvPr id="2082" name="AutoShape 34"/>
                <p:cNvCxnSpPr>
                  <a:cxnSpLocks noChangeShapeType="1"/>
                </p:cNvCxnSpPr>
                <p:nvPr/>
              </p:nvCxnSpPr>
              <p:spPr bwMode="auto">
                <a:xfrm>
                  <a:off x="4950" y="9810"/>
                  <a:ext cx="0" cy="405"/>
                </a:xfrm>
                <a:prstGeom prst="straightConnector1">
                  <a:avLst/>
                </a:prstGeom>
                <a:noFill/>
                <a:ln w="9525">
                  <a:solidFill>
                    <a:srgbClr val="000000"/>
                  </a:solidFill>
                  <a:round/>
                  <a:headEnd/>
                  <a:tailEnd/>
                </a:ln>
              </p:spPr>
            </p:cxnSp>
            <p:cxnSp>
              <p:nvCxnSpPr>
                <p:cNvPr id="2083" name="AutoShape 35"/>
                <p:cNvCxnSpPr>
                  <a:cxnSpLocks noChangeShapeType="1"/>
                </p:cNvCxnSpPr>
                <p:nvPr/>
              </p:nvCxnSpPr>
              <p:spPr bwMode="auto">
                <a:xfrm>
                  <a:off x="5295" y="9810"/>
                  <a:ext cx="0" cy="405"/>
                </a:xfrm>
                <a:prstGeom prst="straightConnector1">
                  <a:avLst/>
                </a:prstGeom>
                <a:noFill/>
                <a:ln w="9525">
                  <a:solidFill>
                    <a:srgbClr val="000000"/>
                  </a:solidFill>
                  <a:round/>
                  <a:headEnd/>
                  <a:tailEnd/>
                </a:ln>
              </p:spPr>
            </p:cxnSp>
            <p:cxnSp>
              <p:nvCxnSpPr>
                <p:cNvPr id="2084" name="AutoShape 36"/>
                <p:cNvCxnSpPr>
                  <a:cxnSpLocks noChangeShapeType="1"/>
                </p:cNvCxnSpPr>
                <p:nvPr/>
              </p:nvCxnSpPr>
              <p:spPr bwMode="auto">
                <a:xfrm>
                  <a:off x="5415" y="9810"/>
                  <a:ext cx="0" cy="405"/>
                </a:xfrm>
                <a:prstGeom prst="straightConnector1">
                  <a:avLst/>
                </a:prstGeom>
                <a:noFill/>
                <a:ln w="9525">
                  <a:solidFill>
                    <a:srgbClr val="000000"/>
                  </a:solidFill>
                  <a:round/>
                  <a:headEnd/>
                  <a:tailEnd/>
                </a:ln>
              </p:spPr>
            </p:cxnSp>
            <p:cxnSp>
              <p:nvCxnSpPr>
                <p:cNvPr id="2085" name="AutoShape 37"/>
                <p:cNvCxnSpPr>
                  <a:cxnSpLocks noChangeShapeType="1"/>
                </p:cNvCxnSpPr>
                <p:nvPr/>
              </p:nvCxnSpPr>
              <p:spPr bwMode="auto">
                <a:xfrm>
                  <a:off x="6723" y="9810"/>
                  <a:ext cx="0" cy="405"/>
                </a:xfrm>
                <a:prstGeom prst="straightConnector1">
                  <a:avLst/>
                </a:prstGeom>
                <a:noFill/>
                <a:ln w="9525">
                  <a:solidFill>
                    <a:srgbClr val="000000"/>
                  </a:solidFill>
                  <a:round/>
                  <a:headEnd/>
                  <a:tailEnd/>
                </a:ln>
              </p:spPr>
            </p:cxnSp>
            <p:cxnSp>
              <p:nvCxnSpPr>
                <p:cNvPr id="2086" name="AutoShape 38"/>
                <p:cNvCxnSpPr>
                  <a:cxnSpLocks noChangeShapeType="1"/>
                </p:cNvCxnSpPr>
                <p:nvPr/>
              </p:nvCxnSpPr>
              <p:spPr bwMode="auto">
                <a:xfrm>
                  <a:off x="5760" y="9810"/>
                  <a:ext cx="0" cy="405"/>
                </a:xfrm>
                <a:prstGeom prst="straightConnector1">
                  <a:avLst/>
                </a:prstGeom>
                <a:noFill/>
                <a:ln w="9525">
                  <a:solidFill>
                    <a:srgbClr val="000000"/>
                  </a:solidFill>
                  <a:round/>
                  <a:headEnd/>
                  <a:tailEnd/>
                </a:ln>
              </p:spPr>
            </p:cxnSp>
            <p:cxnSp>
              <p:nvCxnSpPr>
                <p:cNvPr id="2087" name="AutoShape 39"/>
                <p:cNvCxnSpPr>
                  <a:cxnSpLocks noChangeShapeType="1"/>
                </p:cNvCxnSpPr>
                <p:nvPr/>
              </p:nvCxnSpPr>
              <p:spPr bwMode="auto">
                <a:xfrm>
                  <a:off x="5880" y="9810"/>
                  <a:ext cx="0" cy="405"/>
                </a:xfrm>
                <a:prstGeom prst="straightConnector1">
                  <a:avLst/>
                </a:prstGeom>
                <a:noFill/>
                <a:ln w="9525">
                  <a:solidFill>
                    <a:srgbClr val="000000"/>
                  </a:solidFill>
                  <a:round/>
                  <a:headEnd/>
                  <a:tailEnd/>
                </a:ln>
              </p:spPr>
            </p:cxnSp>
            <p:cxnSp>
              <p:nvCxnSpPr>
                <p:cNvPr id="2088" name="AutoShape 40"/>
                <p:cNvCxnSpPr>
                  <a:cxnSpLocks noChangeShapeType="1"/>
                </p:cNvCxnSpPr>
                <p:nvPr/>
              </p:nvCxnSpPr>
              <p:spPr bwMode="auto">
                <a:xfrm>
                  <a:off x="6225" y="9810"/>
                  <a:ext cx="0" cy="405"/>
                </a:xfrm>
                <a:prstGeom prst="straightConnector1">
                  <a:avLst/>
                </a:prstGeom>
                <a:noFill/>
                <a:ln w="9525">
                  <a:solidFill>
                    <a:srgbClr val="000000"/>
                  </a:solidFill>
                  <a:round/>
                  <a:headEnd/>
                  <a:tailEnd/>
                </a:ln>
              </p:spPr>
            </p:cxnSp>
            <p:cxnSp>
              <p:nvCxnSpPr>
                <p:cNvPr id="2089" name="AutoShape 41"/>
                <p:cNvCxnSpPr>
                  <a:cxnSpLocks noChangeShapeType="1"/>
                </p:cNvCxnSpPr>
                <p:nvPr/>
              </p:nvCxnSpPr>
              <p:spPr bwMode="auto">
                <a:xfrm>
                  <a:off x="6345" y="9810"/>
                  <a:ext cx="0" cy="405"/>
                </a:xfrm>
                <a:prstGeom prst="straightConnector1">
                  <a:avLst/>
                </a:prstGeom>
                <a:noFill/>
                <a:ln w="9525">
                  <a:solidFill>
                    <a:srgbClr val="000000"/>
                  </a:solidFill>
                  <a:round/>
                  <a:headEnd/>
                  <a:tailEnd/>
                </a:ln>
              </p:spPr>
            </p:cxnSp>
            <p:cxnSp>
              <p:nvCxnSpPr>
                <p:cNvPr id="2090" name="AutoShape 42"/>
                <p:cNvCxnSpPr>
                  <a:cxnSpLocks noChangeShapeType="1"/>
                </p:cNvCxnSpPr>
                <p:nvPr/>
              </p:nvCxnSpPr>
              <p:spPr bwMode="auto">
                <a:xfrm>
                  <a:off x="7320" y="9810"/>
                  <a:ext cx="0" cy="405"/>
                </a:xfrm>
                <a:prstGeom prst="straightConnector1">
                  <a:avLst/>
                </a:prstGeom>
                <a:noFill/>
                <a:ln w="9525">
                  <a:solidFill>
                    <a:srgbClr val="000000"/>
                  </a:solidFill>
                  <a:round/>
                  <a:headEnd/>
                  <a:tailEnd/>
                </a:ln>
              </p:spPr>
            </p:cxnSp>
            <p:cxnSp>
              <p:nvCxnSpPr>
                <p:cNvPr id="2091" name="AutoShape 43"/>
                <p:cNvCxnSpPr>
                  <a:cxnSpLocks noChangeShapeType="1"/>
                </p:cNvCxnSpPr>
                <p:nvPr/>
              </p:nvCxnSpPr>
              <p:spPr bwMode="auto">
                <a:xfrm>
                  <a:off x="7190" y="9810"/>
                  <a:ext cx="0" cy="405"/>
                </a:xfrm>
                <a:prstGeom prst="straightConnector1">
                  <a:avLst/>
                </a:prstGeom>
                <a:noFill/>
                <a:ln w="9525">
                  <a:solidFill>
                    <a:srgbClr val="000000"/>
                  </a:solidFill>
                  <a:round/>
                  <a:headEnd/>
                  <a:tailEnd/>
                </a:ln>
              </p:spPr>
            </p:cxnSp>
          </p:grpSp>
          <p:grpSp>
            <p:nvGrpSpPr>
              <p:cNvPr id="2092" name="Group 44"/>
              <p:cNvGrpSpPr>
                <a:grpSpLocks/>
              </p:cNvGrpSpPr>
              <p:nvPr/>
            </p:nvGrpSpPr>
            <p:grpSpPr bwMode="auto">
              <a:xfrm>
                <a:off x="7895" y="3736"/>
                <a:ext cx="2491" cy="405"/>
                <a:chOff x="4830" y="9810"/>
                <a:chExt cx="2491" cy="405"/>
              </a:xfrm>
            </p:grpSpPr>
            <p:cxnSp>
              <p:nvCxnSpPr>
                <p:cNvPr id="2093" name="AutoShape 45"/>
                <p:cNvCxnSpPr>
                  <a:cxnSpLocks noChangeShapeType="1"/>
                </p:cNvCxnSpPr>
                <p:nvPr/>
              </p:nvCxnSpPr>
              <p:spPr bwMode="auto">
                <a:xfrm>
                  <a:off x="4830" y="9810"/>
                  <a:ext cx="2491" cy="0"/>
                </a:xfrm>
                <a:prstGeom prst="straightConnector1">
                  <a:avLst/>
                </a:prstGeom>
                <a:noFill/>
                <a:ln w="9525">
                  <a:solidFill>
                    <a:srgbClr val="000000"/>
                  </a:solidFill>
                  <a:round/>
                  <a:headEnd/>
                  <a:tailEnd/>
                </a:ln>
              </p:spPr>
            </p:cxnSp>
            <p:cxnSp>
              <p:nvCxnSpPr>
                <p:cNvPr id="2094" name="AutoShape 46"/>
                <p:cNvCxnSpPr>
                  <a:cxnSpLocks noChangeShapeType="1"/>
                </p:cNvCxnSpPr>
                <p:nvPr/>
              </p:nvCxnSpPr>
              <p:spPr bwMode="auto">
                <a:xfrm>
                  <a:off x="4830" y="10215"/>
                  <a:ext cx="2491" cy="0"/>
                </a:xfrm>
                <a:prstGeom prst="straightConnector1">
                  <a:avLst/>
                </a:prstGeom>
                <a:noFill/>
                <a:ln w="9525">
                  <a:solidFill>
                    <a:srgbClr val="000000"/>
                  </a:solidFill>
                  <a:round/>
                  <a:headEnd/>
                  <a:tailEnd/>
                </a:ln>
              </p:spPr>
            </p:cxnSp>
            <p:cxnSp>
              <p:nvCxnSpPr>
                <p:cNvPr id="2095" name="AutoShape 47"/>
                <p:cNvCxnSpPr>
                  <a:cxnSpLocks noChangeShapeType="1"/>
                </p:cNvCxnSpPr>
                <p:nvPr/>
              </p:nvCxnSpPr>
              <p:spPr bwMode="auto">
                <a:xfrm>
                  <a:off x="4830" y="9810"/>
                  <a:ext cx="0" cy="405"/>
                </a:xfrm>
                <a:prstGeom prst="straightConnector1">
                  <a:avLst/>
                </a:prstGeom>
                <a:noFill/>
                <a:ln w="9525">
                  <a:solidFill>
                    <a:srgbClr val="000000"/>
                  </a:solidFill>
                  <a:round/>
                  <a:headEnd/>
                  <a:tailEnd/>
                </a:ln>
              </p:spPr>
            </p:cxnSp>
            <p:cxnSp>
              <p:nvCxnSpPr>
                <p:cNvPr id="2096" name="AutoShape 48"/>
                <p:cNvCxnSpPr>
                  <a:cxnSpLocks noChangeShapeType="1"/>
                </p:cNvCxnSpPr>
                <p:nvPr/>
              </p:nvCxnSpPr>
              <p:spPr bwMode="auto">
                <a:xfrm>
                  <a:off x="6853" y="9810"/>
                  <a:ext cx="0" cy="405"/>
                </a:xfrm>
                <a:prstGeom prst="straightConnector1">
                  <a:avLst/>
                </a:prstGeom>
                <a:noFill/>
                <a:ln w="9525">
                  <a:solidFill>
                    <a:srgbClr val="000000"/>
                  </a:solidFill>
                  <a:round/>
                  <a:headEnd/>
                  <a:tailEnd/>
                </a:ln>
              </p:spPr>
            </p:cxnSp>
            <p:cxnSp>
              <p:nvCxnSpPr>
                <p:cNvPr id="2097" name="AutoShape 49"/>
                <p:cNvCxnSpPr>
                  <a:cxnSpLocks noChangeShapeType="1"/>
                </p:cNvCxnSpPr>
                <p:nvPr/>
              </p:nvCxnSpPr>
              <p:spPr bwMode="auto">
                <a:xfrm>
                  <a:off x="4950" y="9810"/>
                  <a:ext cx="0" cy="405"/>
                </a:xfrm>
                <a:prstGeom prst="straightConnector1">
                  <a:avLst/>
                </a:prstGeom>
                <a:noFill/>
                <a:ln w="9525">
                  <a:solidFill>
                    <a:srgbClr val="000000"/>
                  </a:solidFill>
                  <a:round/>
                  <a:headEnd/>
                  <a:tailEnd/>
                </a:ln>
              </p:spPr>
            </p:cxnSp>
            <p:cxnSp>
              <p:nvCxnSpPr>
                <p:cNvPr id="2098" name="AutoShape 50"/>
                <p:cNvCxnSpPr>
                  <a:cxnSpLocks noChangeShapeType="1"/>
                </p:cNvCxnSpPr>
                <p:nvPr/>
              </p:nvCxnSpPr>
              <p:spPr bwMode="auto">
                <a:xfrm>
                  <a:off x="5295" y="9810"/>
                  <a:ext cx="0" cy="405"/>
                </a:xfrm>
                <a:prstGeom prst="straightConnector1">
                  <a:avLst/>
                </a:prstGeom>
                <a:noFill/>
                <a:ln w="9525">
                  <a:solidFill>
                    <a:srgbClr val="000000"/>
                  </a:solidFill>
                  <a:round/>
                  <a:headEnd/>
                  <a:tailEnd/>
                </a:ln>
              </p:spPr>
            </p:cxnSp>
            <p:cxnSp>
              <p:nvCxnSpPr>
                <p:cNvPr id="2099" name="AutoShape 51"/>
                <p:cNvCxnSpPr>
                  <a:cxnSpLocks noChangeShapeType="1"/>
                </p:cNvCxnSpPr>
                <p:nvPr/>
              </p:nvCxnSpPr>
              <p:spPr bwMode="auto">
                <a:xfrm>
                  <a:off x="5415" y="9810"/>
                  <a:ext cx="0" cy="405"/>
                </a:xfrm>
                <a:prstGeom prst="straightConnector1">
                  <a:avLst/>
                </a:prstGeom>
                <a:noFill/>
                <a:ln w="9525">
                  <a:solidFill>
                    <a:srgbClr val="000000"/>
                  </a:solidFill>
                  <a:round/>
                  <a:headEnd/>
                  <a:tailEnd/>
                </a:ln>
              </p:spPr>
            </p:cxnSp>
            <p:cxnSp>
              <p:nvCxnSpPr>
                <p:cNvPr id="2100" name="AutoShape 52"/>
                <p:cNvCxnSpPr>
                  <a:cxnSpLocks noChangeShapeType="1"/>
                </p:cNvCxnSpPr>
                <p:nvPr/>
              </p:nvCxnSpPr>
              <p:spPr bwMode="auto">
                <a:xfrm>
                  <a:off x="6723" y="9810"/>
                  <a:ext cx="0" cy="405"/>
                </a:xfrm>
                <a:prstGeom prst="straightConnector1">
                  <a:avLst/>
                </a:prstGeom>
                <a:noFill/>
                <a:ln w="9525">
                  <a:solidFill>
                    <a:srgbClr val="000000"/>
                  </a:solidFill>
                  <a:round/>
                  <a:headEnd/>
                  <a:tailEnd/>
                </a:ln>
              </p:spPr>
            </p:cxnSp>
            <p:cxnSp>
              <p:nvCxnSpPr>
                <p:cNvPr id="2101" name="AutoShape 53"/>
                <p:cNvCxnSpPr>
                  <a:cxnSpLocks noChangeShapeType="1"/>
                </p:cNvCxnSpPr>
                <p:nvPr/>
              </p:nvCxnSpPr>
              <p:spPr bwMode="auto">
                <a:xfrm>
                  <a:off x="5760" y="9810"/>
                  <a:ext cx="0" cy="405"/>
                </a:xfrm>
                <a:prstGeom prst="straightConnector1">
                  <a:avLst/>
                </a:prstGeom>
                <a:noFill/>
                <a:ln w="9525">
                  <a:solidFill>
                    <a:srgbClr val="000000"/>
                  </a:solidFill>
                  <a:round/>
                  <a:headEnd/>
                  <a:tailEnd/>
                </a:ln>
              </p:spPr>
            </p:cxnSp>
            <p:cxnSp>
              <p:nvCxnSpPr>
                <p:cNvPr id="2102" name="AutoShape 54"/>
                <p:cNvCxnSpPr>
                  <a:cxnSpLocks noChangeShapeType="1"/>
                </p:cNvCxnSpPr>
                <p:nvPr/>
              </p:nvCxnSpPr>
              <p:spPr bwMode="auto">
                <a:xfrm>
                  <a:off x="5880" y="9810"/>
                  <a:ext cx="0" cy="405"/>
                </a:xfrm>
                <a:prstGeom prst="straightConnector1">
                  <a:avLst/>
                </a:prstGeom>
                <a:noFill/>
                <a:ln w="9525">
                  <a:solidFill>
                    <a:srgbClr val="000000"/>
                  </a:solidFill>
                  <a:round/>
                  <a:headEnd/>
                  <a:tailEnd/>
                </a:ln>
              </p:spPr>
            </p:cxnSp>
            <p:cxnSp>
              <p:nvCxnSpPr>
                <p:cNvPr id="2103" name="AutoShape 55"/>
                <p:cNvCxnSpPr>
                  <a:cxnSpLocks noChangeShapeType="1"/>
                </p:cNvCxnSpPr>
                <p:nvPr/>
              </p:nvCxnSpPr>
              <p:spPr bwMode="auto">
                <a:xfrm>
                  <a:off x="6225" y="9810"/>
                  <a:ext cx="0" cy="405"/>
                </a:xfrm>
                <a:prstGeom prst="straightConnector1">
                  <a:avLst/>
                </a:prstGeom>
                <a:noFill/>
                <a:ln w="9525">
                  <a:solidFill>
                    <a:srgbClr val="000000"/>
                  </a:solidFill>
                  <a:round/>
                  <a:headEnd/>
                  <a:tailEnd/>
                </a:ln>
              </p:spPr>
            </p:cxnSp>
            <p:cxnSp>
              <p:nvCxnSpPr>
                <p:cNvPr id="2104" name="AutoShape 56"/>
                <p:cNvCxnSpPr>
                  <a:cxnSpLocks noChangeShapeType="1"/>
                </p:cNvCxnSpPr>
                <p:nvPr/>
              </p:nvCxnSpPr>
              <p:spPr bwMode="auto">
                <a:xfrm>
                  <a:off x="6345" y="9810"/>
                  <a:ext cx="0" cy="405"/>
                </a:xfrm>
                <a:prstGeom prst="straightConnector1">
                  <a:avLst/>
                </a:prstGeom>
                <a:noFill/>
                <a:ln w="9525">
                  <a:solidFill>
                    <a:srgbClr val="000000"/>
                  </a:solidFill>
                  <a:round/>
                  <a:headEnd/>
                  <a:tailEnd/>
                </a:ln>
              </p:spPr>
            </p:cxnSp>
            <p:cxnSp>
              <p:nvCxnSpPr>
                <p:cNvPr id="2105" name="AutoShape 57"/>
                <p:cNvCxnSpPr>
                  <a:cxnSpLocks noChangeShapeType="1"/>
                </p:cNvCxnSpPr>
                <p:nvPr/>
              </p:nvCxnSpPr>
              <p:spPr bwMode="auto">
                <a:xfrm>
                  <a:off x="7320" y="9810"/>
                  <a:ext cx="0" cy="405"/>
                </a:xfrm>
                <a:prstGeom prst="straightConnector1">
                  <a:avLst/>
                </a:prstGeom>
                <a:noFill/>
                <a:ln w="9525">
                  <a:solidFill>
                    <a:srgbClr val="000000"/>
                  </a:solidFill>
                  <a:round/>
                  <a:headEnd/>
                  <a:tailEnd/>
                </a:ln>
              </p:spPr>
            </p:cxnSp>
            <p:cxnSp>
              <p:nvCxnSpPr>
                <p:cNvPr id="2106" name="AutoShape 58"/>
                <p:cNvCxnSpPr>
                  <a:cxnSpLocks noChangeShapeType="1"/>
                </p:cNvCxnSpPr>
                <p:nvPr/>
              </p:nvCxnSpPr>
              <p:spPr bwMode="auto">
                <a:xfrm>
                  <a:off x="7190" y="9810"/>
                  <a:ext cx="0" cy="405"/>
                </a:xfrm>
                <a:prstGeom prst="straightConnector1">
                  <a:avLst/>
                </a:prstGeom>
                <a:noFill/>
                <a:ln w="9525">
                  <a:solidFill>
                    <a:srgbClr val="000000"/>
                  </a:solidFill>
                  <a:round/>
                  <a:headEnd/>
                  <a:tailEnd/>
                </a:ln>
              </p:spPr>
            </p:cxnSp>
          </p:grpSp>
          <p:cxnSp>
            <p:nvCxnSpPr>
              <p:cNvPr id="2107" name="AutoShape 59"/>
              <p:cNvCxnSpPr>
                <a:cxnSpLocks noChangeShapeType="1"/>
              </p:cNvCxnSpPr>
              <p:nvPr/>
            </p:nvCxnSpPr>
            <p:spPr bwMode="auto">
              <a:xfrm>
                <a:off x="4918" y="2974"/>
                <a:ext cx="1" cy="144"/>
              </a:xfrm>
              <a:prstGeom prst="straightConnector1">
                <a:avLst/>
              </a:prstGeom>
              <a:noFill/>
              <a:ln w="9525">
                <a:solidFill>
                  <a:srgbClr val="000000"/>
                </a:solidFill>
                <a:round/>
                <a:headEnd/>
                <a:tailEnd/>
              </a:ln>
            </p:spPr>
          </p:cxnSp>
          <p:cxnSp>
            <p:nvCxnSpPr>
              <p:cNvPr id="2108" name="AutoShape 60"/>
              <p:cNvCxnSpPr>
                <a:cxnSpLocks noChangeShapeType="1"/>
              </p:cNvCxnSpPr>
              <p:nvPr/>
            </p:nvCxnSpPr>
            <p:spPr bwMode="auto">
              <a:xfrm>
                <a:off x="5998" y="2974"/>
                <a:ext cx="1" cy="144"/>
              </a:xfrm>
              <a:prstGeom prst="straightConnector1">
                <a:avLst/>
              </a:prstGeom>
              <a:noFill/>
              <a:ln w="9525">
                <a:solidFill>
                  <a:srgbClr val="000000"/>
                </a:solidFill>
                <a:round/>
                <a:headEnd/>
                <a:tailEnd/>
              </a:ln>
            </p:spPr>
          </p:cxnSp>
          <p:cxnSp>
            <p:nvCxnSpPr>
              <p:cNvPr id="2109" name="AutoShape 61"/>
              <p:cNvCxnSpPr>
                <a:cxnSpLocks noChangeShapeType="1"/>
              </p:cNvCxnSpPr>
              <p:nvPr/>
            </p:nvCxnSpPr>
            <p:spPr bwMode="auto">
              <a:xfrm flipH="1">
                <a:off x="3043" y="3118"/>
                <a:ext cx="1876" cy="618"/>
              </a:xfrm>
              <a:prstGeom prst="straightConnector1">
                <a:avLst/>
              </a:prstGeom>
              <a:noFill/>
              <a:ln w="9525">
                <a:solidFill>
                  <a:srgbClr val="000000"/>
                </a:solidFill>
                <a:round/>
                <a:headEnd/>
                <a:tailEnd type="triangle" w="med" len="med"/>
              </a:ln>
            </p:spPr>
          </p:cxnSp>
          <p:cxnSp>
            <p:nvCxnSpPr>
              <p:cNvPr id="2110" name="AutoShape 62"/>
              <p:cNvCxnSpPr>
                <a:cxnSpLocks noChangeShapeType="1"/>
              </p:cNvCxnSpPr>
              <p:nvPr/>
            </p:nvCxnSpPr>
            <p:spPr bwMode="auto">
              <a:xfrm>
                <a:off x="7003" y="3118"/>
                <a:ext cx="1477" cy="618"/>
              </a:xfrm>
              <a:prstGeom prst="straightConnector1">
                <a:avLst/>
              </a:prstGeom>
              <a:noFill/>
              <a:ln w="9525">
                <a:solidFill>
                  <a:srgbClr val="000000"/>
                </a:solidFill>
                <a:round/>
                <a:headEnd/>
                <a:tailEnd type="triangle" w="med" len="med"/>
              </a:ln>
            </p:spPr>
          </p:cxnSp>
          <p:cxnSp>
            <p:nvCxnSpPr>
              <p:cNvPr id="2111" name="AutoShape 63"/>
              <p:cNvCxnSpPr>
                <a:cxnSpLocks noChangeShapeType="1"/>
              </p:cNvCxnSpPr>
              <p:nvPr/>
            </p:nvCxnSpPr>
            <p:spPr bwMode="auto">
              <a:xfrm>
                <a:off x="7003" y="2974"/>
                <a:ext cx="1" cy="144"/>
              </a:xfrm>
              <a:prstGeom prst="straightConnector1">
                <a:avLst/>
              </a:prstGeom>
              <a:noFill/>
              <a:ln w="9525">
                <a:solidFill>
                  <a:srgbClr val="000000"/>
                </a:solidFill>
                <a:round/>
                <a:headEnd/>
                <a:tailEnd/>
              </a:ln>
            </p:spPr>
          </p:cxnSp>
          <p:cxnSp>
            <p:nvCxnSpPr>
              <p:cNvPr id="2112" name="AutoShape 64"/>
              <p:cNvCxnSpPr>
                <a:cxnSpLocks noChangeShapeType="1"/>
              </p:cNvCxnSpPr>
              <p:nvPr/>
            </p:nvCxnSpPr>
            <p:spPr bwMode="auto">
              <a:xfrm>
                <a:off x="5999" y="3118"/>
                <a:ext cx="1" cy="618"/>
              </a:xfrm>
              <a:prstGeom prst="straightConnector1">
                <a:avLst/>
              </a:prstGeom>
              <a:noFill/>
              <a:ln w="9525">
                <a:solidFill>
                  <a:srgbClr val="000000"/>
                </a:solidFill>
                <a:round/>
                <a:headEnd/>
                <a:tailEnd type="triangle" w="med" len="med"/>
              </a:ln>
            </p:spPr>
          </p:cxnSp>
          <p:cxnSp>
            <p:nvCxnSpPr>
              <p:cNvPr id="2113" name="AutoShape 65"/>
              <p:cNvCxnSpPr>
                <a:cxnSpLocks noChangeShapeType="1"/>
              </p:cNvCxnSpPr>
              <p:nvPr/>
            </p:nvCxnSpPr>
            <p:spPr bwMode="auto">
              <a:xfrm>
                <a:off x="4604" y="3949"/>
                <a:ext cx="405" cy="0"/>
              </a:xfrm>
              <a:prstGeom prst="straightConnector1">
                <a:avLst/>
              </a:prstGeom>
              <a:noFill/>
              <a:ln w="9525">
                <a:solidFill>
                  <a:srgbClr val="000000"/>
                </a:solidFill>
                <a:round/>
                <a:headEnd/>
                <a:tailEnd type="triangle" w="med" len="med"/>
              </a:ln>
            </p:spPr>
          </p:cxnSp>
          <p:cxnSp>
            <p:nvCxnSpPr>
              <p:cNvPr id="2114" name="AutoShape 66"/>
              <p:cNvCxnSpPr>
                <a:cxnSpLocks noChangeShapeType="1"/>
              </p:cNvCxnSpPr>
              <p:nvPr/>
            </p:nvCxnSpPr>
            <p:spPr bwMode="auto">
              <a:xfrm>
                <a:off x="7500" y="3949"/>
                <a:ext cx="395" cy="0"/>
              </a:xfrm>
              <a:prstGeom prst="straightConnector1">
                <a:avLst/>
              </a:prstGeom>
              <a:noFill/>
              <a:ln w="9525">
                <a:solidFill>
                  <a:srgbClr val="000000"/>
                </a:solidFill>
                <a:round/>
                <a:headEnd/>
                <a:tailEnd type="triangle" w="med" len="med"/>
              </a:ln>
            </p:spPr>
          </p:cxnSp>
        </p:grpSp>
        <p:sp>
          <p:nvSpPr>
            <p:cNvPr id="2115" name="Text Box 67"/>
            <p:cNvSpPr txBox="1">
              <a:spLocks noChangeArrowheads="1"/>
            </p:cNvSpPr>
            <p:nvPr/>
          </p:nvSpPr>
          <p:spPr bwMode="auto">
            <a:xfrm>
              <a:off x="5276" y="2704"/>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7</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16" name="Text Box 68"/>
            <p:cNvSpPr txBox="1">
              <a:spLocks noChangeArrowheads="1"/>
            </p:cNvSpPr>
            <p:nvPr/>
          </p:nvSpPr>
          <p:spPr bwMode="auto">
            <a:xfrm>
              <a:off x="6359" y="2704"/>
              <a:ext cx="34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19</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17" name="Text Box 69"/>
            <p:cNvSpPr txBox="1">
              <a:spLocks noChangeArrowheads="1"/>
            </p:cNvSpPr>
            <p:nvPr/>
          </p:nvSpPr>
          <p:spPr bwMode="auto">
            <a:xfrm>
              <a:off x="2233" y="3769"/>
              <a:ext cx="35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2</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18" name="Text Box 70"/>
            <p:cNvSpPr txBox="1">
              <a:spLocks noChangeArrowheads="1"/>
            </p:cNvSpPr>
            <p:nvPr/>
          </p:nvSpPr>
          <p:spPr bwMode="auto">
            <a:xfrm>
              <a:off x="2706" y="3784"/>
              <a:ext cx="35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3</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19" name="Text Box 71"/>
            <p:cNvSpPr txBox="1">
              <a:spLocks noChangeArrowheads="1"/>
            </p:cNvSpPr>
            <p:nvPr/>
          </p:nvSpPr>
          <p:spPr bwMode="auto">
            <a:xfrm>
              <a:off x="3041" y="3780"/>
              <a:ext cx="60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5</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0" name="Text Box 72"/>
            <p:cNvSpPr txBox="1">
              <a:spLocks noChangeArrowheads="1"/>
            </p:cNvSpPr>
            <p:nvPr/>
          </p:nvSpPr>
          <p:spPr bwMode="auto">
            <a:xfrm>
              <a:off x="5193" y="3788"/>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7</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1" name="Text Box 73"/>
            <p:cNvSpPr txBox="1">
              <a:spLocks noChangeArrowheads="1"/>
            </p:cNvSpPr>
            <p:nvPr/>
          </p:nvSpPr>
          <p:spPr bwMode="auto">
            <a:xfrm>
              <a:off x="5666" y="3788"/>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11</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2" name="Text Box 74"/>
            <p:cNvSpPr txBox="1">
              <a:spLocks noChangeArrowheads="1"/>
            </p:cNvSpPr>
            <p:nvPr/>
          </p:nvSpPr>
          <p:spPr bwMode="auto">
            <a:xfrm>
              <a:off x="6097" y="3781"/>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17</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3" name="Text Box 75"/>
            <p:cNvSpPr txBox="1">
              <a:spLocks noChangeArrowheads="1"/>
            </p:cNvSpPr>
            <p:nvPr/>
          </p:nvSpPr>
          <p:spPr bwMode="auto">
            <a:xfrm>
              <a:off x="8000" y="3796"/>
              <a:ext cx="34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19</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4" name="Text Box 76"/>
            <p:cNvSpPr txBox="1">
              <a:spLocks noChangeArrowheads="1"/>
            </p:cNvSpPr>
            <p:nvPr/>
          </p:nvSpPr>
          <p:spPr bwMode="auto">
            <a:xfrm>
              <a:off x="8356" y="3796"/>
              <a:ext cx="60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23</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5" name="Text Box 77"/>
            <p:cNvSpPr txBox="1">
              <a:spLocks noChangeArrowheads="1"/>
            </p:cNvSpPr>
            <p:nvPr/>
          </p:nvSpPr>
          <p:spPr bwMode="auto">
            <a:xfrm>
              <a:off x="9293" y="3811"/>
              <a:ext cx="60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31</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26" name="Text Box 78"/>
            <p:cNvSpPr txBox="1">
              <a:spLocks noChangeArrowheads="1"/>
            </p:cNvSpPr>
            <p:nvPr/>
          </p:nvSpPr>
          <p:spPr bwMode="auto">
            <a:xfrm>
              <a:off x="8825" y="3796"/>
              <a:ext cx="60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29</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3276599"/>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 Construct a B+ tree for the following set of key values for n=5:</a:t>
            </a:r>
          </a:p>
          <a:p>
            <a:pPr>
              <a:buNone/>
            </a:pPr>
            <a:r>
              <a:rPr lang="en-US" sz="2400" dirty="0" smtClean="0">
                <a:latin typeface="Times New Roman" pitchFamily="18" charset="0"/>
                <a:cs typeface="Times New Roman" pitchFamily="18" charset="0"/>
              </a:rPr>
              <a:t>		5, 10, 15, 20, 25, 30, 35, 40, 50, 55, 65, 70, 75, 80, 90, 95</a:t>
            </a:r>
          </a:p>
          <a:p>
            <a:pPr lvl="0">
              <a:buNone/>
            </a:pPr>
            <a:r>
              <a:rPr lang="en-US" sz="2400" dirty="0" smtClean="0">
                <a:latin typeface="Times New Roman" pitchFamily="18" charset="0"/>
                <a:cs typeface="Times New Roman" pitchFamily="18" charset="0"/>
              </a:rPr>
              <a:t>	b) Show how the B+ tree changes as the result of each of the following operations:</a:t>
            </a:r>
          </a:p>
          <a:p>
            <a:pPr>
              <a:buNone/>
            </a:pP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Insert 60</a:t>
            </a:r>
          </a:p>
          <a:p>
            <a:pPr>
              <a:buNone/>
            </a:pPr>
            <a:r>
              <a:rPr lang="en-US" sz="2400" dirty="0" smtClean="0">
                <a:latin typeface="Times New Roman" pitchFamily="18" charset="0"/>
                <a:cs typeface="Times New Roman" pitchFamily="18" charset="0"/>
              </a:rPr>
              <a:t>		ii. Delete </a:t>
            </a:r>
            <a:r>
              <a:rPr lang="en-US" sz="2400" dirty="0" smtClean="0">
                <a:latin typeface="Times New Roman" pitchFamily="18" charset="0"/>
                <a:cs typeface="Times New Roman" pitchFamily="18" charset="0"/>
              </a:rPr>
              <a:t>65</a:t>
            </a: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3276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 Construction of B+ tree for order n=5.</a:t>
            </a:r>
          </a:p>
          <a:p>
            <a:pPr>
              <a:buNone/>
            </a:pPr>
            <a:r>
              <a:rPr lang="en-US" sz="1600" dirty="0" smtClean="0">
                <a:latin typeface="Times New Roman" pitchFamily="18" charset="0"/>
                <a:cs typeface="Times New Roman" pitchFamily="18" charset="0"/>
              </a:rPr>
              <a:t>		   Search key values =4, Pointers= 5.</a:t>
            </a:r>
          </a:p>
          <a:p>
            <a:pPr>
              <a:buNone/>
            </a:pPr>
            <a:endParaRPr lang="en-US" sz="1600" b="1"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Insert key value </a:t>
            </a:r>
            <a:r>
              <a:rPr lang="en-US" sz="1600" dirty="0" smtClean="0">
                <a:solidFill>
                  <a:srgbClr val="FF0000"/>
                </a:solidFill>
                <a:latin typeface="Times New Roman" pitchFamily="18" charset="0"/>
                <a:cs typeface="Times New Roman" pitchFamily="18" charset="0"/>
              </a:rPr>
              <a:t>5, 10, 15, 20</a:t>
            </a:r>
            <a:r>
              <a:rPr lang="en-US" sz="1600" u="sng" dirty="0" smtClean="0">
                <a:latin typeface="Times New Roman" pitchFamily="18" charset="0"/>
                <a:cs typeface="Times New Roman" pitchFamily="18" charset="0"/>
              </a:rPr>
              <a:t>:</a:t>
            </a:r>
            <a:endParaRPr lang="en-US" sz="16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4571999" y="44653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25</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Split the node and insert.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Ceil ((n-1)/2) = 2</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Insert key value </a:t>
            </a:r>
            <a:r>
              <a:rPr lang="en-US" sz="1600" dirty="0" smtClean="0">
                <a:solidFill>
                  <a:srgbClr val="FF0000"/>
                </a:solidFill>
                <a:latin typeface="Times New Roman" pitchFamily="18" charset="0"/>
                <a:cs typeface="Times New Roman" pitchFamily="18" charset="0"/>
              </a:rPr>
              <a:t>30</a:t>
            </a:r>
            <a:r>
              <a:rPr lang="en-US" sz="1600" dirty="0" smtClean="0">
                <a:latin typeface="Times New Roman" pitchFamily="18" charset="0"/>
                <a:cs typeface="Times New Roman" pitchFamily="18" charset="0"/>
              </a:rPr>
              <a:t>:</a:t>
            </a: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6172199" y="41560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4953000" y="3317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3276599" y="4160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3" name="Straight Arrow Connector 12"/>
          <p:cNvCxnSpPr/>
          <p:nvPr/>
        </p:nvCxnSpPr>
        <p:spPr>
          <a:xfrm rot="5400000">
            <a:off x="4484595" y="3557646"/>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674660" y="3595745"/>
            <a:ext cx="802340" cy="5602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867400" y="433981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5791200" y="59086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4572001" y="50704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2895600" y="5913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6" name="Straight Arrow Connector 25"/>
          <p:cNvCxnSpPr/>
          <p:nvPr/>
        </p:nvCxnSpPr>
        <p:spPr>
          <a:xfrm rot="5400000">
            <a:off x="4103596" y="5310246"/>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5293661" y="5348345"/>
            <a:ext cx="802340" cy="5602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486401" y="609241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35</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Split the node and insert.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After re-arranging nodes.</a:t>
            </a: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3657599" y="4724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2438400" y="38862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5" name="Table 24"/>
          <p:cNvGraphicFramePr>
            <a:graphicFrameLocks noGrp="1"/>
          </p:cNvGraphicFramePr>
          <p:nvPr/>
        </p:nvGraphicFramePr>
        <p:xfrm>
          <a:off x="761999" y="47288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6" name="Straight Arrow Connector 25"/>
          <p:cNvCxnSpPr/>
          <p:nvPr/>
        </p:nvCxnSpPr>
        <p:spPr>
          <a:xfrm rot="5400000">
            <a:off x="1969995" y="4126006"/>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733800" y="4146175"/>
            <a:ext cx="2971800" cy="536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352800" y="490817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6400799" y="4732465"/>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9" name="Straight Arrow Connector 28"/>
          <p:cNvCxnSpPr/>
          <p:nvPr/>
        </p:nvCxnSpPr>
        <p:spPr>
          <a:xfrm>
            <a:off x="6212540" y="491176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169025" y="4091490"/>
            <a:ext cx="640975" cy="5916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5414684" y="6105865"/>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4" name="Table 33"/>
          <p:cNvGraphicFramePr>
            <a:graphicFrameLocks noGrp="1"/>
          </p:cNvGraphicFramePr>
          <p:nvPr/>
        </p:nvGraphicFramePr>
        <p:xfrm>
          <a:off x="4195485" y="5267665"/>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2519084" y="6110345"/>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6" name="Straight Arrow Connector 35"/>
          <p:cNvCxnSpPr/>
          <p:nvPr/>
        </p:nvCxnSpPr>
        <p:spPr>
          <a:xfrm rot="5400000">
            <a:off x="3727080" y="5507471"/>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917145" y="5545570"/>
            <a:ext cx="802340" cy="5602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109885" y="628964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Bent Arrow 38"/>
          <p:cNvSpPr/>
          <p:nvPr/>
        </p:nvSpPr>
        <p:spPr>
          <a:xfrm flipV="1">
            <a:off x="3200400" y="5257800"/>
            <a:ext cx="5334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40</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Insert key value </a:t>
            </a:r>
            <a:r>
              <a:rPr lang="en-US" sz="1600" dirty="0" smtClean="0">
                <a:solidFill>
                  <a:srgbClr val="FF0000"/>
                </a:solidFill>
                <a:latin typeface="Times New Roman" pitchFamily="18" charset="0"/>
                <a:cs typeface="Times New Roman" pitchFamily="18" charset="0"/>
              </a:rPr>
              <a:t>50</a:t>
            </a:r>
            <a:r>
              <a:rPr lang="en-US" sz="1600" dirty="0" smtClean="0">
                <a:latin typeface="Times New Roman" pitchFamily="18" charset="0"/>
                <a:cs typeface="Times New Roman" pitchFamily="18" charset="0"/>
              </a:rPr>
              <a:t>:</a:t>
            </a: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Split the node and insert.</a:t>
            </a: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nvGraphicFramePr>
        <p:xfrm>
          <a:off x="5414684" y="41560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4" name="Table 33"/>
          <p:cNvGraphicFramePr>
            <a:graphicFrameLocks noGrp="1"/>
          </p:cNvGraphicFramePr>
          <p:nvPr/>
        </p:nvGraphicFramePr>
        <p:xfrm>
          <a:off x="4195485" y="3317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2519084" y="4160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6" name="Straight Arrow Connector 35"/>
          <p:cNvCxnSpPr/>
          <p:nvPr/>
        </p:nvCxnSpPr>
        <p:spPr>
          <a:xfrm rot="5400000">
            <a:off x="3727080" y="3557646"/>
            <a:ext cx="596153" cy="5737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917145" y="3595745"/>
            <a:ext cx="802340" cy="5602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5109885" y="433981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nvGraphicFramePr>
        <p:xfrm>
          <a:off x="3810000" y="5558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2" name="Table 31"/>
          <p:cNvGraphicFramePr>
            <a:graphicFrameLocks noGrp="1"/>
          </p:cNvGraphicFramePr>
          <p:nvPr/>
        </p:nvGraphicFramePr>
        <p:xfrm>
          <a:off x="3352799" y="47199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914400" y="55626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1" name="Straight Arrow Connector 40"/>
          <p:cNvCxnSpPr/>
          <p:nvPr/>
        </p:nvCxnSpPr>
        <p:spPr>
          <a:xfrm rot="10800000" flipV="1">
            <a:off x="2133602" y="495300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3505201" y="574189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4" name="Table 43"/>
          <p:cNvGraphicFramePr>
            <a:graphicFrameLocks noGrp="1"/>
          </p:cNvGraphicFramePr>
          <p:nvPr/>
        </p:nvGraphicFramePr>
        <p:xfrm>
          <a:off x="6629399" y="55626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6" name="Straight Arrow Connector 45"/>
          <p:cNvCxnSpPr/>
          <p:nvPr/>
        </p:nvCxnSpPr>
        <p:spPr>
          <a:xfrm rot="16200000" flipH="1">
            <a:off x="3780865" y="5228665"/>
            <a:ext cx="627530" cy="40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648200" y="4953000"/>
            <a:ext cx="2133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6400800" y="574189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55</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nvGraphicFramePr>
        <p:xfrm>
          <a:off x="3657600" y="40386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2" name="Table 31"/>
          <p:cNvGraphicFramePr>
            <a:graphicFrameLocks noGrp="1"/>
          </p:cNvGraphicFramePr>
          <p:nvPr/>
        </p:nvGraphicFramePr>
        <p:xfrm>
          <a:off x="3200399" y="3200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762000"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1" name="Straight Arrow Connector 40"/>
          <p:cNvCxnSpPr/>
          <p:nvPr/>
        </p:nvCxnSpPr>
        <p:spPr>
          <a:xfrm rot="10800000" flipV="1">
            <a:off x="1981202" y="34334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3352801" y="422237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4" name="Table 43"/>
          <p:cNvGraphicFramePr>
            <a:graphicFrameLocks noGrp="1"/>
          </p:cNvGraphicFramePr>
          <p:nvPr/>
        </p:nvGraphicFramePr>
        <p:xfrm>
          <a:off x="6476999"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6" name="Straight Arrow Connector 45"/>
          <p:cNvCxnSpPr/>
          <p:nvPr/>
        </p:nvCxnSpPr>
        <p:spPr>
          <a:xfrm rot="16200000" flipH="1">
            <a:off x="3628465" y="3709145"/>
            <a:ext cx="627530" cy="40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495800" y="3433480"/>
            <a:ext cx="2133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6248400" y="422237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65</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Split </a:t>
            </a:r>
            <a:r>
              <a:rPr lang="en-US" sz="1600" dirty="0" smtClean="0">
                <a:latin typeface="Times New Roman" pitchFamily="18" charset="0"/>
                <a:cs typeface="Times New Roman" pitchFamily="18" charset="0"/>
              </a:rPr>
              <a:t>the node and insert.</a:t>
            </a: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nvGraphicFramePr>
        <p:xfrm>
          <a:off x="2133599" y="5532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2" name="Table 31"/>
          <p:cNvGraphicFramePr>
            <a:graphicFrameLocks noGrp="1"/>
          </p:cNvGraphicFramePr>
          <p:nvPr/>
        </p:nvGraphicFramePr>
        <p:xfrm>
          <a:off x="2819399" y="37338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381000" y="45764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1" name="Straight Arrow Connector 40"/>
          <p:cNvCxnSpPr/>
          <p:nvPr/>
        </p:nvCxnSpPr>
        <p:spPr>
          <a:xfrm rot="10800000" flipV="1">
            <a:off x="1600202" y="39668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4" name="Table 43"/>
          <p:cNvGraphicFramePr>
            <a:graphicFrameLocks noGrp="1"/>
          </p:cNvGraphicFramePr>
          <p:nvPr/>
        </p:nvGraphicFramePr>
        <p:xfrm>
          <a:off x="6095999" y="45764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6" name="Straight Arrow Connector 45"/>
          <p:cNvCxnSpPr/>
          <p:nvPr/>
        </p:nvCxnSpPr>
        <p:spPr>
          <a:xfrm rot="5400000">
            <a:off x="2678205" y="4699745"/>
            <a:ext cx="1613650" cy="1120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16200000" flipH="1">
            <a:off x="3621740" y="4459940"/>
            <a:ext cx="106232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4038600" y="50749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4" name="Straight Arrow Connector 23"/>
          <p:cNvCxnSpPr/>
          <p:nvPr/>
        </p:nvCxnSpPr>
        <p:spPr>
          <a:xfrm>
            <a:off x="4733365" y="3926541"/>
            <a:ext cx="1362635" cy="7978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After re-arranging nodes:</a:t>
            </a: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Insert key value </a:t>
            </a:r>
            <a:r>
              <a:rPr lang="en-US" sz="1600" dirty="0" smtClean="0">
                <a:solidFill>
                  <a:srgbClr val="FF0000"/>
                </a:solidFill>
                <a:latin typeface="Times New Roman" pitchFamily="18" charset="0"/>
                <a:cs typeface="Times New Roman" pitchFamily="18" charset="0"/>
              </a:rPr>
              <a:t>70</a:t>
            </a:r>
            <a:r>
              <a:rPr lang="en-US" sz="1600" dirty="0" smtClean="0">
                <a:latin typeface="Times New Roman" pitchFamily="18" charset="0"/>
                <a:cs typeface="Times New Roman" pitchFamily="18" charset="0"/>
              </a:rPr>
              <a:t>:</a:t>
            </a: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nvGraphicFramePr>
        <p:xfrm>
          <a:off x="3581399" y="43846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2" name="Table 31"/>
          <p:cNvGraphicFramePr>
            <a:graphicFrameLocks noGrp="1"/>
          </p:cNvGraphicFramePr>
          <p:nvPr/>
        </p:nvGraphicFramePr>
        <p:xfrm>
          <a:off x="3200399" y="35464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0" name="Table 39"/>
          <p:cNvGraphicFramePr>
            <a:graphicFrameLocks noGrp="1"/>
          </p:cNvGraphicFramePr>
          <p:nvPr/>
        </p:nvGraphicFramePr>
        <p:xfrm>
          <a:off x="762000" y="4389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1" name="Straight Arrow Connector 40"/>
          <p:cNvCxnSpPr/>
          <p:nvPr/>
        </p:nvCxnSpPr>
        <p:spPr>
          <a:xfrm rot="10800000" flipV="1">
            <a:off x="1981202" y="377952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4" name="Table 43"/>
          <p:cNvGraphicFramePr>
            <a:graphicFrameLocks noGrp="1"/>
          </p:cNvGraphicFramePr>
          <p:nvPr/>
        </p:nvGraphicFramePr>
        <p:xfrm>
          <a:off x="6476999" y="4389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6" name="Straight Arrow Connector 45"/>
          <p:cNvCxnSpPr/>
          <p:nvPr/>
        </p:nvCxnSpPr>
        <p:spPr>
          <a:xfrm rot="16200000" flipH="1">
            <a:off x="3630705" y="4052945"/>
            <a:ext cx="623050" cy="40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495800" y="3775040"/>
            <a:ext cx="2133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456393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953870" y="4740742"/>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3505199" y="5867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50292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58718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52622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6400799" y="58718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16200000" flipH="1">
            <a:off x="3554505" y="5535705"/>
            <a:ext cx="623050" cy="40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419600" y="5257800"/>
            <a:ext cx="2133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6096000" y="6046695"/>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key value </a:t>
            </a:r>
            <a:r>
              <a:rPr lang="en-US" sz="1600" dirty="0" smtClean="0">
                <a:solidFill>
                  <a:srgbClr val="FF0000"/>
                </a:solidFill>
                <a:latin typeface="Times New Roman" pitchFamily="18" charset="0"/>
                <a:cs typeface="Times New Roman" pitchFamily="18" charset="0"/>
              </a:rPr>
              <a:t>75</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Split the node and insert.</a:t>
            </a: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2286000" y="53797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698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93192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6400799"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3003625" y="4567965"/>
            <a:ext cx="1496210" cy="1882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038165" y="3909510"/>
            <a:ext cx="2133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267200" y="4922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16200000" flipH="1">
            <a:off x="4229100" y="40767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key value </a:t>
            </a:r>
            <a:r>
              <a:rPr lang="en-US" sz="1600" dirty="0" smtClean="0">
                <a:solidFill>
                  <a:srgbClr val="FF0000"/>
                </a:solidFill>
                <a:latin typeface="Times New Roman" pitchFamily="18" charset="0"/>
                <a:cs typeface="Times New Roman" pitchFamily="18" charset="0"/>
              </a:rPr>
              <a:t>80</a:t>
            </a:r>
            <a:r>
              <a:rPr lang="en-US" sz="1600" dirty="0" smtClean="0">
                <a:latin typeface="Times New Roman" pitchFamily="18" charset="0"/>
                <a:cs typeface="Times New Roman" pitchFamily="18" charset="0"/>
              </a:rPr>
              <a:t>: </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2286000" y="53797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698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93192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6400799"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3003625" y="4567965"/>
            <a:ext cx="1496210" cy="1882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038165" y="3909510"/>
            <a:ext cx="2133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267200" y="4922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16200000" flipH="1">
            <a:off x="4229100" y="4076700"/>
            <a:ext cx="990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key value </a:t>
            </a:r>
            <a:r>
              <a:rPr lang="en-US" sz="1600" dirty="0" smtClean="0">
                <a:solidFill>
                  <a:srgbClr val="FF0000"/>
                </a:solidFill>
                <a:latin typeface="Times New Roman" pitchFamily="18" charset="0"/>
                <a:cs typeface="Times New Roman" pitchFamily="18" charset="0"/>
              </a:rPr>
              <a:t>90</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Split the node and insert.</a:t>
            </a: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2057400" y="5913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698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93192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6324599" y="4389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56796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6200000" flipH="1">
            <a:off x="4702437" y="4245237"/>
            <a:ext cx="967290" cy="2958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559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619500" y="4610100"/>
            <a:ext cx="1524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5181600" y="4922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 name="Straight Arrow Connector 24"/>
          <p:cNvCxnSpPr/>
          <p:nvPr/>
        </p:nvCxnSpPr>
        <p:spPr>
          <a:xfrm>
            <a:off x="5638800" y="3886201"/>
            <a:ext cx="685802" cy="6858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After re-arranging nodes</a:t>
            </a:r>
            <a:r>
              <a:rPr lang="en-US" sz="1600" dirty="0" smtClean="0">
                <a:latin typeface="Times New Roman" pitchFamily="18" charset="0"/>
                <a:cs typeface="Times New Roman" pitchFamily="18" charset="0"/>
              </a:rPr>
              <a:t>: </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2057400" y="5913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698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93192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791200" y="46177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56796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038164" y="3909510"/>
            <a:ext cx="753036" cy="7386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559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619500" y="4610100"/>
            <a:ext cx="1524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 Construct a B+ tree for the following set of key values for n=5:</a:t>
            </a:r>
          </a:p>
          <a:p>
            <a:pPr>
              <a:buNone/>
            </a:pPr>
            <a:r>
              <a:rPr lang="en-US" sz="1600" dirty="0" smtClean="0">
                <a:latin typeface="Times New Roman" pitchFamily="18" charset="0"/>
                <a:cs typeface="Times New Roman" pitchFamily="18" charset="0"/>
              </a:rPr>
              <a:t>		5, 10, 15, 20, 25, 30, 35, 40, 50, 55, 65, 70, 75, 80, 90, 95</a:t>
            </a:r>
          </a:p>
          <a:p>
            <a:pPr lvl="0">
              <a:buNone/>
            </a:pPr>
            <a:r>
              <a:rPr lang="en-US" sz="1600" dirty="0" smtClean="0">
                <a:latin typeface="Times New Roman" pitchFamily="18" charset="0"/>
                <a:cs typeface="Times New Roman" pitchFamily="18" charset="0"/>
              </a:rPr>
              <a:t>	b)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60</a:t>
            </a:r>
          </a:p>
          <a:p>
            <a:pPr>
              <a:buNone/>
            </a:pPr>
            <a:r>
              <a:rPr lang="en-US" sz="1600" dirty="0" smtClean="0">
                <a:latin typeface="Times New Roman" pitchFamily="18" charset="0"/>
                <a:cs typeface="Times New Roman" pitchFamily="18" charset="0"/>
              </a:rPr>
              <a:t>		ii.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95</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Final B+ tree.</a:t>
            </a: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2057400" y="5913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69884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5415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93192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791200" y="46177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56796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038164" y="3909510"/>
            <a:ext cx="753036" cy="7386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559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619500" y="4610100"/>
            <a:ext cx="1524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b</a:t>
            </a:r>
            <a:r>
              <a:rPr lang="en-US" sz="1600" dirty="0" smtClean="0">
                <a:latin typeface="Times New Roman" pitchFamily="18" charset="0"/>
                <a:cs typeface="Times New Roman" pitchFamily="18" charset="0"/>
              </a:rPr>
              <a:t>)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a:t>
            </a:r>
            <a:r>
              <a:rPr lang="en-US" sz="1600" dirty="0" smtClean="0">
                <a:latin typeface="Times New Roman" pitchFamily="18" charset="0"/>
                <a:cs typeface="Times New Roman" pitchFamily="18" charset="0"/>
              </a:rPr>
              <a:t>60           ii</a:t>
            </a:r>
            <a:r>
              <a:rPr lang="en-US" sz="1600" dirty="0" smtClean="0">
                <a:latin typeface="Times New Roman" pitchFamily="18" charset="0"/>
                <a:cs typeface="Times New Roman" pitchFamily="18" charset="0"/>
              </a:rPr>
              <a:t>.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 </a:t>
            </a:r>
            <a:r>
              <a:rPr lang="en-US" sz="1600" dirty="0" smtClean="0">
                <a:latin typeface="Times New Roman" pitchFamily="18" charset="0"/>
                <a:cs typeface="Times New Roman" pitchFamily="18" charset="0"/>
              </a:rPr>
              <a:t>key value </a:t>
            </a:r>
            <a:r>
              <a:rPr lang="en-US" sz="1600" dirty="0" smtClean="0">
                <a:solidFill>
                  <a:srgbClr val="FF0000"/>
                </a:solidFill>
                <a:latin typeface="Times New Roman" pitchFamily="18" charset="0"/>
                <a:cs typeface="Times New Roman" pitchFamily="18" charset="0"/>
              </a:rPr>
              <a:t>60</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60 </a:t>
            </a:r>
            <a:r>
              <a:rPr lang="en-US" sz="1600" dirty="0" smtClean="0">
                <a:latin typeface="Times New Roman" pitchFamily="18" charset="0"/>
                <a:cs typeface="Times New Roman" pitchFamily="18" charset="0"/>
              </a:rPr>
              <a:t>will go to the 3</a:t>
            </a:r>
            <a:r>
              <a:rPr lang="en-US" sz="1600" baseline="30000" dirty="0" smtClean="0">
                <a:latin typeface="Times New Roman" pitchFamily="18" charset="0"/>
                <a:cs typeface="Times New Roman" pitchFamily="18" charset="0"/>
              </a:rPr>
              <a:t>rd</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node </a:t>
            </a:r>
            <a:r>
              <a:rPr lang="en-US" sz="1600" dirty="0" smtClean="0">
                <a:latin typeface="Times New Roman" pitchFamily="18" charset="0"/>
                <a:cs typeface="Times New Roman" pitchFamily="18" charset="0"/>
              </a:rPr>
              <a:t>after 55. </a:t>
            </a:r>
            <a:r>
              <a:rPr lang="en-US" sz="1600" dirty="0" smtClean="0">
                <a:latin typeface="Times New Roman" pitchFamily="18" charset="0"/>
                <a:cs typeface="Times New Roman" pitchFamily="18" charset="0"/>
              </a:rPr>
              <a:t>The node </a:t>
            </a:r>
            <a:r>
              <a:rPr lang="en-US" sz="1600" dirty="0" smtClean="0">
                <a:latin typeface="Times New Roman" pitchFamily="18" charset="0"/>
                <a:cs typeface="Times New Roman" pitchFamily="18" charset="0"/>
              </a:rPr>
              <a:t>of </a:t>
            </a:r>
            <a:r>
              <a:rPr lang="en-US" sz="1600" dirty="0" smtClean="0">
                <a:latin typeface="Times New Roman" pitchFamily="18" charset="0"/>
                <a:cs typeface="Times New Roman" pitchFamily="18" charset="0"/>
              </a:rPr>
              <a:t>is </a:t>
            </a:r>
            <a:r>
              <a:rPr lang="en-US" sz="1600" dirty="0" smtClean="0">
                <a:latin typeface="Times New Roman" pitchFamily="18" charset="0"/>
                <a:cs typeface="Times New Roman" pitchFamily="18" charset="0"/>
              </a:rPr>
              <a:t>already </a:t>
            </a:r>
            <a:r>
              <a:rPr lang="en-US" sz="1600" dirty="0" smtClean="0">
                <a:latin typeface="Times New Roman" pitchFamily="18" charset="0"/>
                <a:cs typeface="Times New Roman" pitchFamily="18" charset="0"/>
              </a:rPr>
              <a:t>full. So, split the node and insert 60.</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2057400" y="54146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200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4334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791200" y="41192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06952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038164" y="3411070"/>
            <a:ext cx="753036" cy="7386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49574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619500" y="4111660"/>
            <a:ext cx="1524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5432610" y="5773270"/>
          <a:ext cx="381000" cy="335280"/>
        </p:xfrm>
        <a:graphic>
          <a:graphicData uri="http://schemas.openxmlformats.org/drawingml/2006/table">
            <a:tbl>
              <a:tblPr/>
              <a:tblGrid>
                <a:gridCol w="381000"/>
              </a:tblGrid>
              <a:tr h="335280">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60</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alpha val="85000"/>
                      </a:schemeClr>
                    </a:solidFill>
                  </a:tcPr>
                </a:tc>
              </a:tr>
            </a:tbl>
          </a:graphicData>
        </a:graphic>
      </p:graphicFrame>
      <p:cxnSp>
        <p:nvCxnSpPr>
          <p:cNvPr id="22" name="Straight Arrow Connector 21"/>
          <p:cNvCxnSpPr/>
          <p:nvPr/>
        </p:nvCxnSpPr>
        <p:spPr>
          <a:xfrm rot="16200000" flipV="1">
            <a:off x="5362738" y="5515138"/>
            <a:ext cx="322730" cy="769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b</a:t>
            </a:r>
            <a:r>
              <a:rPr lang="en-US" sz="1600" dirty="0" smtClean="0">
                <a:latin typeface="Times New Roman" pitchFamily="18" charset="0"/>
                <a:cs typeface="Times New Roman" pitchFamily="18" charset="0"/>
              </a:rPr>
              <a:t>)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a:t>
            </a:r>
            <a:r>
              <a:rPr lang="en-US" sz="1600" dirty="0" smtClean="0">
                <a:latin typeface="Times New Roman" pitchFamily="18" charset="0"/>
                <a:cs typeface="Times New Roman" pitchFamily="18" charset="0"/>
              </a:rPr>
              <a:t>60           ii</a:t>
            </a:r>
            <a:r>
              <a:rPr lang="en-US" sz="1600" dirty="0" smtClean="0">
                <a:latin typeface="Times New Roman" pitchFamily="18" charset="0"/>
                <a:cs typeface="Times New Roman" pitchFamily="18" charset="0"/>
              </a:rPr>
              <a:t>.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S</a:t>
            </a:r>
            <a:r>
              <a:rPr lang="en-US" sz="1600" dirty="0" smtClean="0">
                <a:latin typeface="Times New Roman" pitchFamily="18" charset="0"/>
                <a:cs typeface="Times New Roman" pitchFamily="18" charset="0"/>
              </a:rPr>
              <a:t>plit the 3</a:t>
            </a:r>
            <a:r>
              <a:rPr lang="en-US" sz="1600" baseline="30000" dirty="0" smtClean="0">
                <a:latin typeface="Times New Roman" pitchFamily="18" charset="0"/>
                <a:cs typeface="Times New Roman" pitchFamily="18" charset="0"/>
              </a:rPr>
              <a:t>rd</a:t>
            </a:r>
            <a:r>
              <a:rPr lang="en-US" sz="1600" dirty="0" smtClean="0">
                <a:latin typeface="Times New Roman" pitchFamily="18" charset="0"/>
                <a:cs typeface="Times New Roman" pitchFamily="18" charset="0"/>
              </a:rPr>
              <a:t> node and insert 60.</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1295400" y="54146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200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4334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791200" y="41192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06952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6200000" flipH="1">
            <a:off x="5354620" y="3713180"/>
            <a:ext cx="72076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102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408380" y="4322780"/>
            <a:ext cx="194624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5029199" y="48768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 name="Straight Arrow Connector 24"/>
          <p:cNvCxnSpPr/>
          <p:nvPr/>
        </p:nvCxnSpPr>
        <p:spPr>
          <a:xfrm rot="16200000" flipH="1">
            <a:off x="4533900" y="39243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b</a:t>
            </a:r>
            <a:r>
              <a:rPr lang="en-US" sz="1600" dirty="0" smtClean="0">
                <a:latin typeface="Times New Roman" pitchFamily="18" charset="0"/>
                <a:cs typeface="Times New Roman" pitchFamily="18" charset="0"/>
              </a:rPr>
              <a:t>)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a:t>
            </a:r>
            <a:r>
              <a:rPr lang="en-US" sz="1600" dirty="0" smtClean="0">
                <a:latin typeface="Times New Roman" pitchFamily="18" charset="0"/>
                <a:cs typeface="Times New Roman" pitchFamily="18" charset="0"/>
              </a:rPr>
              <a:t>60           ii</a:t>
            </a:r>
            <a:r>
              <a:rPr lang="en-US" sz="1600" dirty="0" smtClean="0">
                <a:latin typeface="Times New Roman" pitchFamily="18" charset="0"/>
                <a:cs typeface="Times New Roman" pitchFamily="18" charset="0"/>
              </a:rPr>
              <a:t>.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Delete 65</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from 4</a:t>
            </a:r>
            <a:r>
              <a:rPr lang="en-US" sz="1600" baseline="30000" dirty="0" smtClean="0">
                <a:latin typeface="Times New Roman" pitchFamily="18" charset="0"/>
                <a:cs typeface="Times New Roman" pitchFamily="18" charset="0"/>
              </a:rPr>
              <a:t>th</a:t>
            </a:r>
            <a:r>
              <a:rPr lang="en-US" sz="1600" dirty="0" smtClean="0">
                <a:latin typeface="Times New Roman" pitchFamily="18" charset="0"/>
                <a:cs typeface="Times New Roman" pitchFamily="18" charset="0"/>
              </a:rPr>
              <a:t> node.</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1295400" y="54146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200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4334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791200" y="41192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06952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6200000" flipH="1">
            <a:off x="5354620" y="3713180"/>
            <a:ext cx="72076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102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408380" y="4322780"/>
            <a:ext cx="194624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5029199" y="48768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 name="Straight Arrow Connector 24"/>
          <p:cNvCxnSpPr/>
          <p:nvPr/>
        </p:nvCxnSpPr>
        <p:spPr>
          <a:xfrm rot="16200000" flipH="1">
            <a:off x="4533900" y="39243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b</a:t>
            </a:r>
            <a:r>
              <a:rPr lang="en-US" sz="1600" dirty="0" smtClean="0">
                <a:latin typeface="Times New Roman" pitchFamily="18" charset="0"/>
                <a:cs typeface="Times New Roman" pitchFamily="18" charset="0"/>
              </a:rPr>
              <a:t>)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a:t>
            </a:r>
            <a:r>
              <a:rPr lang="en-US" sz="1600" dirty="0" smtClean="0">
                <a:latin typeface="Times New Roman" pitchFamily="18" charset="0"/>
                <a:cs typeface="Times New Roman" pitchFamily="18" charset="0"/>
              </a:rPr>
              <a:t>60           ii</a:t>
            </a:r>
            <a:r>
              <a:rPr lang="en-US" sz="1600" dirty="0" smtClean="0">
                <a:latin typeface="Times New Roman" pitchFamily="18" charset="0"/>
                <a:cs typeface="Times New Roman" pitchFamily="18" charset="0"/>
              </a:rPr>
              <a:t>.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Delete 65</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from 4</a:t>
            </a:r>
            <a:r>
              <a:rPr lang="en-US" sz="1600" baseline="30000" dirty="0" smtClean="0">
                <a:latin typeface="Times New Roman" pitchFamily="18" charset="0"/>
                <a:cs typeface="Times New Roman" pitchFamily="18" charset="0"/>
              </a:rPr>
              <a:t>th</a:t>
            </a:r>
            <a:r>
              <a:rPr lang="en-US" sz="1600" dirty="0" smtClean="0">
                <a:latin typeface="Times New Roman" pitchFamily="18" charset="0"/>
                <a:cs typeface="Times New Roman" pitchFamily="18" charset="0"/>
              </a:rPr>
              <a:t> node.</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1295400" y="54146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200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4334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791200" y="41192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06952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6200000" flipH="1">
            <a:off x="5354620" y="3713180"/>
            <a:ext cx="72076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102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408380" y="4322780"/>
            <a:ext cx="194624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5029199" y="48768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 name="Straight Arrow Connector 24"/>
          <p:cNvCxnSpPr/>
          <p:nvPr/>
        </p:nvCxnSpPr>
        <p:spPr>
          <a:xfrm rot="16200000" flipH="1">
            <a:off x="4533900" y="3924300"/>
            <a:ext cx="1447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Example:</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b</a:t>
            </a:r>
            <a:r>
              <a:rPr lang="en-US" sz="1600" dirty="0" smtClean="0">
                <a:latin typeface="Times New Roman" pitchFamily="18" charset="0"/>
                <a:cs typeface="Times New Roman" pitchFamily="18" charset="0"/>
              </a:rPr>
              <a:t>) Show how the B+ tree changes as the result of each of the following operations:</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Insert </a:t>
            </a:r>
            <a:r>
              <a:rPr lang="en-US" sz="1600" dirty="0" smtClean="0">
                <a:latin typeface="Times New Roman" pitchFamily="18" charset="0"/>
                <a:cs typeface="Times New Roman" pitchFamily="18" charset="0"/>
              </a:rPr>
              <a:t>60           ii</a:t>
            </a:r>
            <a:r>
              <a:rPr lang="en-US" sz="1600" dirty="0" smtClean="0">
                <a:latin typeface="Times New Roman" pitchFamily="18" charset="0"/>
                <a:cs typeface="Times New Roman" pitchFamily="18" charset="0"/>
              </a:rPr>
              <a:t>. Delete </a:t>
            </a:r>
            <a:r>
              <a:rPr lang="en-US" sz="1600" dirty="0" smtClean="0">
                <a:latin typeface="Times New Roman" pitchFamily="18" charset="0"/>
                <a:cs typeface="Times New Roman" pitchFamily="18" charset="0"/>
              </a:rPr>
              <a:t>65</a:t>
            </a:r>
            <a:endParaRPr lang="en-US" sz="1600"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Solution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After re-arranging nodes.</a:t>
            </a: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1295400" y="54146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35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40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9" name="Table 28"/>
          <p:cNvGraphicFramePr>
            <a:graphicFrameLocks noGrp="1"/>
          </p:cNvGraphicFramePr>
          <p:nvPr/>
        </p:nvGraphicFramePr>
        <p:xfrm>
          <a:off x="3124199" y="32004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0" name="Table 29"/>
          <p:cNvGraphicFramePr>
            <a:graphicFrameLocks noGrp="1"/>
          </p:cNvGraphicFramePr>
          <p:nvPr/>
        </p:nvGraphicFramePr>
        <p:xfrm>
          <a:off x="685800" y="404308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15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20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3" name="Straight Arrow Connector 32"/>
          <p:cNvCxnSpPr/>
          <p:nvPr/>
        </p:nvCxnSpPr>
        <p:spPr>
          <a:xfrm rot="10800000" flipV="1">
            <a:off x="1905002" y="3433481"/>
            <a:ext cx="1295398" cy="591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nvGraphicFramePr>
        <p:xfrm>
          <a:off x="5410200" y="477012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80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95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5" name="Straight Arrow Connector 34"/>
          <p:cNvCxnSpPr/>
          <p:nvPr/>
        </p:nvCxnSpPr>
        <p:spPr>
          <a:xfrm rot="5400000">
            <a:off x="2546425" y="4069525"/>
            <a:ext cx="1953410" cy="645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6200000" flipH="1">
            <a:off x="4648200" y="3810000"/>
            <a:ext cx="1295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8" name="Table 37"/>
          <p:cNvGraphicFramePr>
            <a:graphicFrameLocks noGrp="1"/>
          </p:cNvGraphicFramePr>
          <p:nvPr/>
        </p:nvGraphicFramePr>
        <p:xfrm>
          <a:off x="4191000" y="5410200"/>
          <a:ext cx="2590801" cy="335280"/>
        </p:xfrm>
        <a:graphic>
          <a:graphicData uri="http://schemas.openxmlformats.org/drawingml/2006/table">
            <a:tbl>
              <a:tblPr/>
              <a:tblGrid>
                <a:gridCol w="215495"/>
                <a:gridCol w="418870"/>
                <a:gridCol w="183720"/>
                <a:gridCol w="380160"/>
                <a:gridCol w="162560"/>
                <a:gridCol w="483997"/>
                <a:gridCol w="162560"/>
                <a:gridCol w="413512"/>
                <a:gridCol w="169927"/>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55</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60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smtClean="0">
                          <a:solidFill>
                            <a:srgbClr val="FF0000"/>
                          </a:solidFill>
                          <a:latin typeface="Times New Roman" pitchFamily="18" charset="0"/>
                          <a:ea typeface="Times New Roman"/>
                          <a:cs typeface="Times New Roman" pitchFamily="18" charset="0"/>
                        </a:rPr>
                        <a:t>70</a:t>
                      </a:r>
                      <a:endParaRPr lang="en-US" sz="16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2" name="Straight Arrow Connector 41"/>
          <p:cNvCxnSpPr/>
          <p:nvPr/>
        </p:nvCxnSpPr>
        <p:spPr>
          <a:xfrm rot="5400000">
            <a:off x="3408380" y="4322780"/>
            <a:ext cx="194624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343399"/>
          </a:xfrm>
          <a:prstGeom prst="rect">
            <a:avLst/>
          </a:prstGeom>
        </p:spPr>
        <p:txBody>
          <a:bodyPr/>
          <a:lstStyle/>
          <a:p>
            <a:pPr>
              <a:lnSpc>
                <a:spcPct val="150000"/>
              </a:lnSpc>
              <a:spcAft>
                <a:spcPts val="600"/>
              </a:spcAft>
              <a:buFont typeface="Wingdings" pitchFamily="2" charset="2"/>
              <a:buChar char="q"/>
            </a:pPr>
            <a:r>
              <a:rPr lang="en-US" sz="2000" b="1" dirty="0" smtClean="0">
                <a:latin typeface="Times New Roman" pitchFamily="18" charset="0"/>
                <a:cs typeface="Times New Roman" pitchFamily="18" charset="0"/>
              </a:rPr>
              <a:t>B-Tree Index Files</a:t>
            </a:r>
            <a:endParaRPr lang="en-US" sz="2000" dirty="0" smtClean="0">
              <a:latin typeface="Times New Roman" pitchFamily="18" charset="0"/>
              <a:cs typeface="Times New Roman" pitchFamily="18" charset="0"/>
            </a:endParaRPr>
          </a:p>
          <a:p>
            <a:pPr lvl="1">
              <a:lnSpc>
                <a:spcPct val="150000"/>
              </a:lnSpc>
              <a:spcAft>
                <a:spcPts val="600"/>
              </a:spcAft>
            </a:pPr>
            <a:r>
              <a:rPr lang="en-US" sz="2000" dirty="0" smtClean="0">
                <a:latin typeface="Times New Roman" pitchFamily="18" charset="0"/>
                <a:cs typeface="Times New Roman" pitchFamily="18" charset="0"/>
              </a:rPr>
              <a:t>B-tree indices are similar to B+ tree indices. The primary distinction between the two approaches is that a B-tree eliminates the redundant storage of search-key values.</a:t>
            </a:r>
          </a:p>
          <a:p>
            <a:pPr lvl="1">
              <a:lnSpc>
                <a:spcPct val="150000"/>
              </a:lnSpc>
              <a:spcAft>
                <a:spcPts val="600"/>
              </a:spcAft>
            </a:pPr>
            <a:r>
              <a:rPr lang="en-US" sz="2000" dirty="0" smtClean="0">
                <a:latin typeface="Times New Roman" pitchFamily="18" charset="0"/>
                <a:cs typeface="Times New Roman" pitchFamily="18" charset="0"/>
              </a:rPr>
              <a:t>A B-tree allows search-key values to appear only once. Thus, it is necessary to include an additional pointer field for each search key in a </a:t>
            </a:r>
            <a:r>
              <a:rPr lang="en-US" sz="2000" dirty="0" err="1" smtClean="0">
                <a:latin typeface="Times New Roman" pitchFamily="18" charset="0"/>
                <a:cs typeface="Times New Roman" pitchFamily="18" charset="0"/>
              </a:rPr>
              <a:t>nonleaf</a:t>
            </a:r>
            <a:r>
              <a:rPr lang="en-US" sz="2000" dirty="0" smtClean="0">
                <a:latin typeface="Times New Roman" pitchFamily="18" charset="0"/>
                <a:cs typeface="Times New Roman" pitchFamily="18" charset="0"/>
              </a:rPr>
              <a:t> node. These additional pointers point to either file records or buckets for the associated search key</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20573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B-Tree Index Files</a:t>
            </a:r>
            <a:endParaRPr lang="en-US" sz="2000" dirty="0" smtClean="0">
              <a:latin typeface="Times New Roman" pitchFamily="18" charset="0"/>
              <a:cs typeface="Times New Roman" pitchFamily="18" charset="0"/>
            </a:endParaRPr>
          </a:p>
          <a:p>
            <a:pPr lvl="1">
              <a:spcAft>
                <a:spcPts val="600"/>
              </a:spcAft>
            </a:pPr>
            <a:r>
              <a:rPr lang="en-US" sz="2000" dirty="0" smtClean="0">
                <a:latin typeface="Times New Roman" pitchFamily="18" charset="0"/>
                <a:cs typeface="Times New Roman" pitchFamily="18" charset="0"/>
              </a:rPr>
              <a:t>A generalized B-tree leaf node and a non-leaf node appear in Fig. (a) and Fig. (b) respectively.</a:t>
            </a: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3074" name="Picture 3"/>
          <p:cNvPicPr>
            <a:picLocks noChangeAspect="1" noChangeArrowheads="1"/>
          </p:cNvPicPr>
          <p:nvPr/>
        </p:nvPicPr>
        <p:blipFill>
          <a:blip r:embed="rId4"/>
          <a:srcRect l="563" t="32504" r="563" b="32504"/>
          <a:stretch>
            <a:fillRect/>
          </a:stretch>
        </p:blipFill>
        <p:spPr bwMode="auto">
          <a:xfrm>
            <a:off x="1154407" y="2895600"/>
            <a:ext cx="7379993" cy="2590800"/>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767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B-Tree Index Files</a:t>
            </a:r>
          </a:p>
          <a:p>
            <a:pPr lvl="1">
              <a:buFont typeface="Wingdings" pitchFamily="2" charset="2"/>
              <a:buChar char="Ø"/>
            </a:pPr>
            <a:r>
              <a:rPr lang="en-US" sz="2000" dirty="0" smtClean="0">
                <a:latin typeface="Times New Roman" pitchFamily="18" charset="0"/>
                <a:cs typeface="Times New Roman" pitchFamily="18" charset="0"/>
              </a:rPr>
              <a:t>Leaf nodes are the same as in B+ trees. In </a:t>
            </a:r>
            <a:r>
              <a:rPr lang="en-US" sz="2000" dirty="0" err="1" smtClean="0">
                <a:latin typeface="Times New Roman" pitchFamily="18" charset="0"/>
                <a:cs typeface="Times New Roman" pitchFamily="18" charset="0"/>
              </a:rPr>
              <a:t>nonleaf</a:t>
            </a:r>
            <a:r>
              <a:rPr lang="en-US" sz="2000" dirty="0" smtClean="0">
                <a:latin typeface="Times New Roman" pitchFamily="18" charset="0"/>
                <a:cs typeface="Times New Roman" pitchFamily="18" charset="0"/>
              </a:rPr>
              <a:t> nodes, the pointers P</a:t>
            </a:r>
            <a:r>
              <a:rPr lang="en-US" sz="2000" baseline="-25000" dirty="0"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are the tree pointers that we used also for B+ trees, while the pointers B</a:t>
            </a:r>
            <a:r>
              <a:rPr lang="en-US" sz="2000" baseline="-25000" dirty="0"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are bucket or file-record pointers. In the generalized B-tree in the figure, there are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 1 keys in the leaf node, but there are </a:t>
            </a:r>
            <a:r>
              <a:rPr lang="en-US" sz="2000" i="1" dirty="0" smtClean="0">
                <a:latin typeface="Times New Roman" pitchFamily="18" charset="0"/>
                <a:cs typeface="Times New Roman" pitchFamily="18" charset="0"/>
              </a:rPr>
              <a:t>m</a:t>
            </a:r>
            <a:r>
              <a:rPr lang="en-US" sz="2000" dirty="0" smtClean="0">
                <a:latin typeface="Times New Roman" pitchFamily="18" charset="0"/>
                <a:cs typeface="Times New Roman" pitchFamily="18" charset="0"/>
              </a:rPr>
              <a:t> − 1 keys in the </a:t>
            </a:r>
            <a:r>
              <a:rPr lang="en-US" sz="2000" dirty="0" err="1" smtClean="0">
                <a:latin typeface="Times New Roman" pitchFamily="18" charset="0"/>
                <a:cs typeface="Times New Roman" pitchFamily="18" charset="0"/>
              </a:rPr>
              <a:t>nonleaf</a:t>
            </a:r>
            <a:r>
              <a:rPr lang="en-US" sz="2000" dirty="0" smtClean="0">
                <a:latin typeface="Times New Roman" pitchFamily="18" charset="0"/>
                <a:cs typeface="Times New Roman" pitchFamily="18" charset="0"/>
              </a:rPr>
              <a:t> node. This discrepancy occurs because </a:t>
            </a:r>
            <a:r>
              <a:rPr lang="en-US" sz="2000" dirty="0" err="1" smtClean="0">
                <a:latin typeface="Times New Roman" pitchFamily="18" charset="0"/>
                <a:cs typeface="Times New Roman" pitchFamily="18" charset="0"/>
              </a:rPr>
              <a:t>nonleaf</a:t>
            </a:r>
            <a:r>
              <a:rPr lang="en-US" sz="2000" dirty="0" smtClean="0">
                <a:latin typeface="Times New Roman" pitchFamily="18" charset="0"/>
                <a:cs typeface="Times New Roman" pitchFamily="18" charset="0"/>
              </a:rPr>
              <a:t> nodes must include pointers B</a:t>
            </a:r>
            <a:r>
              <a:rPr lang="en-US" sz="2000" baseline="-25000" dirty="0"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thus reducing the number of search keys that can be held in these nodes. </a:t>
            </a:r>
          </a:p>
          <a:p>
            <a:pPr>
              <a:buNone/>
            </a:pPr>
            <a:endParaRPr lang="en-US" sz="2000" b="1" dirty="0" smtClean="0">
              <a:latin typeface="Times New Roman" pitchFamily="18" charset="0"/>
              <a:cs typeface="Times New Roman" pitchFamily="18" charset="0"/>
            </a:endParaRPr>
          </a:p>
          <a:p>
            <a:pPr>
              <a:buFont typeface="Wingdings" pitchFamily="2" charset="2"/>
              <a:buChar char="q"/>
            </a:pPr>
            <a:r>
              <a:rPr lang="en-US" sz="2000" b="1" dirty="0" smtClean="0">
                <a:latin typeface="Times New Roman" pitchFamily="18" charset="0"/>
                <a:cs typeface="Times New Roman" pitchFamily="18" charset="0"/>
              </a:rPr>
              <a:t>Advantages of B-Tree indices</a:t>
            </a:r>
            <a:endParaRPr lang="en-US" sz="2000" dirty="0" smtClean="0">
              <a:latin typeface="Times New Roman" pitchFamily="18" charset="0"/>
              <a:cs typeface="Times New Roman" pitchFamily="18" charset="0"/>
            </a:endParaRPr>
          </a:p>
          <a:p>
            <a:pPr lvl="1">
              <a:buFont typeface="Wingdings" pitchFamily="2" charset="2"/>
              <a:buChar char="Ø"/>
            </a:pPr>
            <a:r>
              <a:rPr lang="en-US" sz="2000" dirty="0" smtClean="0">
                <a:latin typeface="Times New Roman" pitchFamily="18" charset="0"/>
                <a:cs typeface="Times New Roman" pitchFamily="18" charset="0"/>
              </a:rPr>
              <a:t>May use less tree nodes than a corresponding B</a:t>
            </a:r>
            <a:r>
              <a:rPr lang="en-US" sz="2000" baseline="30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Tree.</a:t>
            </a:r>
          </a:p>
          <a:p>
            <a:pPr lvl="1">
              <a:buFont typeface="Wingdings" pitchFamily="2" charset="2"/>
              <a:buChar char="Ø"/>
            </a:pPr>
            <a:r>
              <a:rPr lang="en-US" sz="2000" dirty="0" smtClean="0">
                <a:latin typeface="Times New Roman" pitchFamily="18" charset="0"/>
                <a:cs typeface="Times New Roman" pitchFamily="18" charset="0"/>
              </a:rPr>
              <a:t>Sometimes possible to find search-key value before reaching leaf node.</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767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Disadvantages of B-Tree indices</a:t>
            </a:r>
            <a:endParaRPr lang="en-US" sz="2000" dirty="0" smtClean="0">
              <a:latin typeface="Times New Roman" pitchFamily="18" charset="0"/>
              <a:cs typeface="Times New Roman" pitchFamily="18" charset="0"/>
            </a:endParaRPr>
          </a:p>
          <a:p>
            <a:pPr lvl="1">
              <a:spcAft>
                <a:spcPts val="600"/>
              </a:spcAft>
              <a:buNone/>
            </a:pP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Only small fraction of all search-key values are found early.</a:t>
            </a:r>
          </a:p>
          <a:p>
            <a:pPr lvl="1">
              <a:spcAft>
                <a:spcPts val="600"/>
              </a:spcAft>
              <a:buFont typeface="Wingdings" pitchFamily="2" charset="2"/>
              <a:buChar char="Ø"/>
            </a:pPr>
            <a:r>
              <a:rPr lang="en-US" sz="2000" dirty="0" smtClean="0">
                <a:latin typeface="Times New Roman" pitchFamily="18" charset="0"/>
                <a:cs typeface="Times New Roman" pitchFamily="18" charset="0"/>
              </a:rPr>
              <a:t>Non-leaf nodes are larger, so fan-out is reduced.  Thus, B-Trees typically have greater depth than corresponding B</a:t>
            </a:r>
            <a:r>
              <a:rPr lang="en-US" sz="2000" baseline="30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Tree</a:t>
            </a:r>
          </a:p>
          <a:p>
            <a:pPr lvl="1">
              <a:spcAft>
                <a:spcPts val="600"/>
              </a:spcAft>
              <a:buFont typeface="Wingdings" pitchFamily="2" charset="2"/>
              <a:buChar char="Ø"/>
            </a:pPr>
            <a:r>
              <a:rPr lang="en-US" sz="2000" dirty="0" smtClean="0">
                <a:latin typeface="Times New Roman" pitchFamily="18" charset="0"/>
                <a:cs typeface="Times New Roman" pitchFamily="18" charset="0"/>
              </a:rPr>
              <a:t>Insertion and deletion more complicated than in B</a:t>
            </a:r>
            <a:r>
              <a:rPr lang="en-US" sz="2000" baseline="30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Trees.</a:t>
            </a:r>
          </a:p>
          <a:p>
            <a:pPr lvl="1">
              <a:spcAft>
                <a:spcPts val="600"/>
              </a:spcAft>
              <a:buFont typeface="Wingdings" pitchFamily="2" charset="2"/>
              <a:buChar char="Ø"/>
            </a:pPr>
            <a:r>
              <a:rPr lang="en-US" sz="2000" dirty="0" smtClean="0">
                <a:latin typeface="Times New Roman" pitchFamily="18" charset="0"/>
                <a:cs typeface="Times New Roman" pitchFamily="18" charset="0"/>
              </a:rPr>
              <a:t>Implementation is harder than B</a:t>
            </a:r>
            <a:r>
              <a:rPr lang="en-US" sz="2000" baseline="30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Trees.</a:t>
            </a:r>
          </a:p>
          <a:p>
            <a:pPr>
              <a:spcAft>
                <a:spcPts val="600"/>
              </a:spcAft>
              <a:buFont typeface="Wingdings" pitchFamily="2" charset="2"/>
              <a:buChar char="q"/>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1" name="Content Placeholder 16"/>
          <p:cNvSpPr txBox="1">
            <a:spLocks/>
          </p:cNvSpPr>
          <p:nvPr/>
        </p:nvSpPr>
        <p:spPr>
          <a:xfrm>
            <a:off x="762000" y="1371600"/>
            <a:ext cx="8229600" cy="4724399"/>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Construct a B- tree for the following set of key values: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(2, 3, 5, 7, 11, 17, 19, 23, 29, 31) for n=4 and n=6.</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Construction of B- tree for order n=4.</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Search key values =3, Pointers= 4.</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2</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3</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graphicFrame>
        <p:nvGraphicFramePr>
          <p:cNvPr id="102" name="Table 101"/>
          <p:cNvGraphicFramePr>
            <a:graphicFrameLocks noGrp="1"/>
          </p:cNvGraphicFramePr>
          <p:nvPr/>
        </p:nvGraphicFramePr>
        <p:xfrm>
          <a:off x="2971800" y="400812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solidFill>
                            <a:srgbClr val="FF0000"/>
                          </a:solidFill>
                          <a:latin typeface="Times New Roman"/>
                          <a:ea typeface="Times New Roman"/>
                          <a:cs typeface="Times New Roman"/>
                        </a:rPr>
                        <a:t>2</a:t>
                      </a:r>
                      <a:endParaRPr lang="en-US" sz="18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3" name="Table 102"/>
          <p:cNvGraphicFramePr>
            <a:graphicFrameLocks noGrp="1"/>
          </p:cNvGraphicFramePr>
          <p:nvPr/>
        </p:nvGraphicFramePr>
        <p:xfrm>
          <a:off x="2971799" y="51816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2</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a:ea typeface="Times New Roman"/>
                          <a:cs typeface="Times New Roman"/>
                        </a:rPr>
                        <a:t>3</a:t>
                      </a:r>
                      <a:endParaRPr lang="en-US" sz="1800" dirty="0">
                        <a:solidFill>
                          <a:srgbClr val="FF0000"/>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05" name="Straight Arrow Connector 104"/>
          <p:cNvCxnSpPr/>
          <p:nvPr/>
        </p:nvCxnSpPr>
        <p:spPr>
          <a:xfrm rot="5400000">
            <a:off x="2819400" y="44196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rot="5400000">
            <a:off x="2847088" y="55618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rot="5400000">
            <a:off x="3401312" y="55618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1" name="Content Placeholder 16"/>
          <p:cNvSpPr txBox="1">
            <a:spLocks/>
          </p:cNvSpPr>
          <p:nvPr/>
        </p:nvSpPr>
        <p:spPr>
          <a:xfrm>
            <a:off x="762000" y="1371600"/>
            <a:ext cx="8229600" cy="5105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Construct a B- tree for the following set of key values: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(2, 3, 5, 7, 11, 17, 19, 23, 29, 31) for n=4 and n=6.</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Solution:</a:t>
            </a: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5</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7</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graphicFrame>
        <p:nvGraphicFramePr>
          <p:cNvPr id="102" name="Table 101"/>
          <p:cNvGraphicFramePr>
            <a:graphicFrameLocks noGrp="1"/>
          </p:cNvGraphicFramePr>
          <p:nvPr/>
        </p:nvGraphicFramePr>
        <p:xfrm>
          <a:off x="3733799" y="32766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solidFill>
                            <a:schemeClr val="tx1"/>
                          </a:solidFill>
                          <a:latin typeface="Times New Roman"/>
                          <a:ea typeface="Times New Roman"/>
                          <a:cs typeface="Times New Roman"/>
                        </a:rPr>
                        <a:t>2</a:t>
                      </a:r>
                      <a:endParaRPr lang="en-US" sz="18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a:ea typeface="Times New Roman"/>
                          <a:cs typeface="Times New Roman"/>
                        </a:rPr>
                        <a:t>3</a:t>
                      </a: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a:ea typeface="Times New Roman"/>
                          <a:cs typeface="Times New Roman"/>
                        </a:rPr>
                        <a:t>5</a:t>
                      </a:r>
                      <a:endParaRPr lang="en-US" sz="1800" dirty="0">
                        <a:solidFill>
                          <a:srgbClr val="FF0000"/>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3" name="Table 102"/>
          <p:cNvGraphicFramePr>
            <a:graphicFrameLocks noGrp="1"/>
          </p:cNvGraphicFramePr>
          <p:nvPr/>
        </p:nvGraphicFramePr>
        <p:xfrm>
          <a:off x="2286000" y="53340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solidFill>
                            <a:schemeClr val="tx1"/>
                          </a:solidFill>
                          <a:latin typeface="Times New Roman"/>
                          <a:ea typeface="Times New Roman"/>
                          <a:cs typeface="Times New Roman"/>
                        </a:rPr>
                        <a:t>2</a:t>
                      </a:r>
                      <a:endParaRPr lang="en-US" sz="180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a:ea typeface="Times New Roman"/>
                          <a:cs typeface="Times New Roman"/>
                        </a:rPr>
                        <a:t>3</a:t>
                      </a: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05" name="Straight Arrow Connector 104"/>
          <p:cNvCxnSpPr/>
          <p:nvPr/>
        </p:nvCxnSpPr>
        <p:spPr>
          <a:xfrm rot="5400000">
            <a:off x="3581399" y="368808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rot="5400000">
            <a:off x="2161289" y="5714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rot="5400000">
            <a:off x="2715513" y="5714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4176758" y="368728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4799805" y="368728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7" name="Table 16"/>
          <p:cNvGraphicFramePr>
            <a:graphicFrameLocks noGrp="1"/>
          </p:cNvGraphicFramePr>
          <p:nvPr/>
        </p:nvGraphicFramePr>
        <p:xfrm>
          <a:off x="5410200" y="53340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7</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3684271" y="4572000"/>
          <a:ext cx="2564131" cy="315468"/>
        </p:xfrm>
        <a:graphic>
          <a:graphicData uri="http://schemas.openxmlformats.org/drawingml/2006/table">
            <a:tbl>
              <a:tblPr/>
              <a:tblGrid>
                <a:gridCol w="194437"/>
                <a:gridCol w="182284"/>
                <a:gridCol w="425330"/>
                <a:gridCol w="182284"/>
                <a:gridCol w="182284"/>
                <a:gridCol w="425330"/>
                <a:gridCol w="182284"/>
                <a:gridCol w="182284"/>
                <a:gridCol w="425330"/>
                <a:gridCol w="182284"/>
              </a:tblGrid>
              <a:tr h="30480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6" name="Straight Arrow Connector 25"/>
          <p:cNvCxnSpPr/>
          <p:nvPr/>
        </p:nvCxnSpPr>
        <p:spPr>
          <a:xfrm rot="5400000">
            <a:off x="3200401" y="4800600"/>
            <a:ext cx="609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572001" y="4800600"/>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191001" y="54864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3734595" y="4952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a:off x="5283901" y="5714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1" name="Content Placeholder 16"/>
          <p:cNvSpPr txBox="1">
            <a:spLocks/>
          </p:cNvSpPr>
          <p:nvPr/>
        </p:nvSpPr>
        <p:spPr>
          <a:xfrm>
            <a:off x="762000" y="1371600"/>
            <a:ext cx="8229600" cy="5105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Construct a B- tree for the following set of key values: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(2, 3, 5, 7, 11, 17, 19, 23, 29, 31) for n=4 and n=6.</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Solution:</a:t>
            </a: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11</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17</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graphicFrame>
        <p:nvGraphicFramePr>
          <p:cNvPr id="103" name="Table 102"/>
          <p:cNvGraphicFramePr>
            <a:graphicFrameLocks noGrp="1"/>
          </p:cNvGraphicFramePr>
          <p:nvPr/>
        </p:nvGraphicFramePr>
        <p:xfrm>
          <a:off x="2971799" y="57150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solidFill>
                            <a:schemeClr val="tx1"/>
                          </a:solidFill>
                          <a:latin typeface="Times New Roman"/>
                          <a:ea typeface="Times New Roman"/>
                          <a:cs typeface="Times New Roman"/>
                        </a:rPr>
                        <a:t>2</a:t>
                      </a:r>
                      <a:endParaRPr lang="en-US" sz="180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a:ea typeface="Times New Roman"/>
                          <a:cs typeface="Times New Roman"/>
                        </a:rPr>
                        <a:t>3</a:t>
                      </a: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106" name="Straight Arrow Connector 105"/>
          <p:cNvCxnSpPr/>
          <p:nvPr/>
        </p:nvCxnSpPr>
        <p:spPr>
          <a:xfrm rot="5400000">
            <a:off x="2847088" y="6095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rot="5400000">
            <a:off x="3401312" y="6095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7" name="Table 16"/>
          <p:cNvGraphicFramePr>
            <a:graphicFrameLocks noGrp="1"/>
          </p:cNvGraphicFramePr>
          <p:nvPr/>
        </p:nvGraphicFramePr>
        <p:xfrm>
          <a:off x="6095999" y="57150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11</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17</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nvGraphicFramePr>
        <p:xfrm>
          <a:off x="4370070" y="4953000"/>
          <a:ext cx="2564131" cy="315468"/>
        </p:xfrm>
        <a:graphic>
          <a:graphicData uri="http://schemas.openxmlformats.org/drawingml/2006/table">
            <a:tbl>
              <a:tblPr/>
              <a:tblGrid>
                <a:gridCol w="194437"/>
                <a:gridCol w="182284"/>
                <a:gridCol w="425330"/>
                <a:gridCol w="182284"/>
                <a:gridCol w="182284"/>
                <a:gridCol w="425330"/>
                <a:gridCol w="182284"/>
                <a:gridCol w="182284"/>
                <a:gridCol w="425330"/>
                <a:gridCol w="182284"/>
              </a:tblGrid>
              <a:tr h="304800">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6" name="Straight Arrow Connector 25"/>
          <p:cNvCxnSpPr/>
          <p:nvPr/>
        </p:nvCxnSpPr>
        <p:spPr>
          <a:xfrm rot="5400000">
            <a:off x="3886200" y="5181600"/>
            <a:ext cx="609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257800" y="5181600"/>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876800" y="58674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4420394" y="5333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a:off x="5969700" y="6095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2514600" y="39624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solidFill>
                            <a:schemeClr val="tx1"/>
                          </a:solidFill>
                          <a:latin typeface="Times New Roman"/>
                          <a:ea typeface="Times New Roman"/>
                          <a:cs typeface="Times New Roman"/>
                        </a:rPr>
                        <a:t>2</a:t>
                      </a:r>
                      <a:endParaRPr lang="en-US" sz="180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a:ea typeface="Times New Roman"/>
                          <a:cs typeface="Times New Roman"/>
                        </a:rPr>
                        <a:t>3</a:t>
                      </a: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25" name="Straight Arrow Connector 24"/>
          <p:cNvCxnSpPr/>
          <p:nvPr/>
        </p:nvCxnSpPr>
        <p:spPr>
          <a:xfrm rot="5400000">
            <a:off x="2389889" y="4342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2944113" y="4342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9" name="Table 28"/>
          <p:cNvGraphicFramePr>
            <a:graphicFrameLocks noGrp="1"/>
          </p:cNvGraphicFramePr>
          <p:nvPr/>
        </p:nvGraphicFramePr>
        <p:xfrm>
          <a:off x="5638800" y="39624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11</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3" name="Table 32"/>
          <p:cNvGraphicFramePr>
            <a:graphicFrameLocks noGrp="1"/>
          </p:cNvGraphicFramePr>
          <p:nvPr/>
        </p:nvGraphicFramePr>
        <p:xfrm>
          <a:off x="3912871" y="3200400"/>
          <a:ext cx="2564131" cy="315468"/>
        </p:xfrm>
        <a:graphic>
          <a:graphicData uri="http://schemas.openxmlformats.org/drawingml/2006/table">
            <a:tbl>
              <a:tblPr/>
              <a:tblGrid>
                <a:gridCol w="194437"/>
                <a:gridCol w="182284"/>
                <a:gridCol w="425330"/>
                <a:gridCol w="182284"/>
                <a:gridCol w="182284"/>
                <a:gridCol w="425330"/>
                <a:gridCol w="182284"/>
                <a:gridCol w="182284"/>
                <a:gridCol w="425330"/>
                <a:gridCol w="182284"/>
              </a:tblGrid>
              <a:tr h="304800">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4" name="Straight Arrow Connector 33"/>
          <p:cNvCxnSpPr/>
          <p:nvPr/>
        </p:nvCxnSpPr>
        <p:spPr>
          <a:xfrm rot="5400000">
            <a:off x="3429001" y="3429000"/>
            <a:ext cx="609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800601" y="3429000"/>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419601" y="41148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a:off x="3963195" y="3580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5400000">
            <a:off x="5512501" y="4342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a:off x="6081759" y="4342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a:off x="6538959" y="6095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7148559" y="6095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1" name="Content Placeholder 16"/>
          <p:cNvSpPr txBox="1">
            <a:spLocks/>
          </p:cNvSpPr>
          <p:nvPr/>
        </p:nvSpPr>
        <p:spPr>
          <a:xfrm>
            <a:off x="762000" y="1371600"/>
            <a:ext cx="8229600" cy="5105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Construct a B- tree for the following set of key values: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(2, 3, 5, 7, 11, 17, 19, 23, 29, 31) for n=4 and n=6.</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Solution:</a:t>
            </a: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19</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23</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graphicFrame>
        <p:nvGraphicFramePr>
          <p:cNvPr id="39" name="Table 38"/>
          <p:cNvGraphicFramePr>
            <a:graphicFrameLocks noGrp="1"/>
          </p:cNvGraphicFramePr>
          <p:nvPr/>
        </p:nvGraphicFramePr>
        <p:xfrm>
          <a:off x="2209800" y="38862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solidFill>
                            <a:schemeClr val="tx1"/>
                          </a:solidFill>
                          <a:latin typeface="Times New Roman"/>
                          <a:ea typeface="Times New Roman"/>
                          <a:cs typeface="Times New Roman"/>
                        </a:rPr>
                        <a:t>2</a:t>
                      </a:r>
                      <a:endParaRPr lang="en-US" sz="180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a:ea typeface="Times New Roman"/>
                          <a:cs typeface="Times New Roman"/>
                        </a:rPr>
                        <a:t>3</a:t>
                      </a: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0" name="Straight Arrow Connector 39"/>
          <p:cNvCxnSpPr/>
          <p:nvPr/>
        </p:nvCxnSpPr>
        <p:spPr>
          <a:xfrm rot="5400000">
            <a:off x="2085089" y="4266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2639313" y="4266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nvGraphicFramePr>
        <p:xfrm>
          <a:off x="4572000" y="38862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11</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3" name="Table 42"/>
          <p:cNvGraphicFramePr>
            <a:graphicFrameLocks noGrp="1"/>
          </p:cNvGraphicFramePr>
          <p:nvPr/>
        </p:nvGraphicFramePr>
        <p:xfrm>
          <a:off x="3608071" y="3124200"/>
          <a:ext cx="2564131" cy="315468"/>
        </p:xfrm>
        <a:graphic>
          <a:graphicData uri="http://schemas.openxmlformats.org/drawingml/2006/table">
            <a:tbl>
              <a:tblPr/>
              <a:tblGrid>
                <a:gridCol w="194437"/>
                <a:gridCol w="182284"/>
                <a:gridCol w="425330"/>
                <a:gridCol w="182284"/>
                <a:gridCol w="182284"/>
                <a:gridCol w="425330"/>
                <a:gridCol w="182284"/>
                <a:gridCol w="182284"/>
                <a:gridCol w="425330"/>
                <a:gridCol w="182284"/>
              </a:tblGrid>
              <a:tr h="30480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4" name="Straight Arrow Connector 43"/>
          <p:cNvCxnSpPr/>
          <p:nvPr/>
        </p:nvCxnSpPr>
        <p:spPr>
          <a:xfrm rot="5400000">
            <a:off x="3124201" y="3352800"/>
            <a:ext cx="609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495801" y="3352800"/>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4114801" y="4052047"/>
            <a:ext cx="45719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a:off x="3658395" y="3504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a:off x="4447288" y="4266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9" name="Table 48"/>
          <p:cNvGraphicFramePr>
            <a:graphicFrameLocks noGrp="1"/>
          </p:cNvGraphicFramePr>
          <p:nvPr/>
        </p:nvGraphicFramePr>
        <p:xfrm>
          <a:off x="6934199" y="38862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19</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51" name="Straight Arrow Connector 50"/>
          <p:cNvCxnSpPr/>
          <p:nvPr/>
        </p:nvCxnSpPr>
        <p:spPr>
          <a:xfrm>
            <a:off x="6477001" y="4052047"/>
            <a:ext cx="45719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5400000">
            <a:off x="5014959" y="4266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a:off x="6822935" y="4266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rot="5400000">
            <a:off x="4468112" y="35044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5257800" y="3276600"/>
            <a:ext cx="2209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57" name="Table 56"/>
          <p:cNvGraphicFramePr>
            <a:graphicFrameLocks noGrp="1"/>
          </p:cNvGraphicFramePr>
          <p:nvPr/>
        </p:nvGraphicFramePr>
        <p:xfrm>
          <a:off x="1905000" y="56388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solidFill>
                            <a:schemeClr val="tx1"/>
                          </a:solidFill>
                          <a:latin typeface="Times New Roman"/>
                          <a:ea typeface="Times New Roman"/>
                          <a:cs typeface="Times New Roman"/>
                        </a:rPr>
                        <a:t>2</a:t>
                      </a:r>
                      <a:endParaRPr lang="en-US" sz="180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a:ea typeface="Times New Roman"/>
                          <a:cs typeface="Times New Roman"/>
                        </a:rPr>
                        <a:t>3</a:t>
                      </a: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58" name="Straight Arrow Connector 57"/>
          <p:cNvCxnSpPr/>
          <p:nvPr/>
        </p:nvCxnSpPr>
        <p:spPr>
          <a:xfrm rot="5400000">
            <a:off x="1780289" y="6019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5400000">
            <a:off x="2334513" y="6019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60" name="Table 59"/>
          <p:cNvGraphicFramePr>
            <a:graphicFrameLocks noGrp="1"/>
          </p:cNvGraphicFramePr>
          <p:nvPr/>
        </p:nvGraphicFramePr>
        <p:xfrm>
          <a:off x="4267200" y="56388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11</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1" name="Table 60"/>
          <p:cNvGraphicFramePr>
            <a:graphicFrameLocks noGrp="1"/>
          </p:cNvGraphicFramePr>
          <p:nvPr/>
        </p:nvGraphicFramePr>
        <p:xfrm>
          <a:off x="3303271" y="4876800"/>
          <a:ext cx="2564131" cy="315468"/>
        </p:xfrm>
        <a:graphic>
          <a:graphicData uri="http://schemas.openxmlformats.org/drawingml/2006/table">
            <a:tbl>
              <a:tblPr/>
              <a:tblGrid>
                <a:gridCol w="194437"/>
                <a:gridCol w="182284"/>
                <a:gridCol w="425330"/>
                <a:gridCol w="182284"/>
                <a:gridCol w="182284"/>
                <a:gridCol w="425330"/>
                <a:gridCol w="182284"/>
                <a:gridCol w="182284"/>
                <a:gridCol w="425330"/>
                <a:gridCol w="182284"/>
              </a:tblGrid>
              <a:tr h="30480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62" name="Straight Arrow Connector 61"/>
          <p:cNvCxnSpPr/>
          <p:nvPr/>
        </p:nvCxnSpPr>
        <p:spPr>
          <a:xfrm rot="5400000">
            <a:off x="2819401" y="5105400"/>
            <a:ext cx="609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4191001" y="5105400"/>
            <a:ext cx="1066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3810001" y="5804647"/>
            <a:ext cx="45719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a:off x="3353595" y="5257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rot="5400000">
            <a:off x="4142488" y="6019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67" name="Table 66"/>
          <p:cNvGraphicFramePr>
            <a:graphicFrameLocks noGrp="1"/>
          </p:cNvGraphicFramePr>
          <p:nvPr/>
        </p:nvGraphicFramePr>
        <p:xfrm>
          <a:off x="6629399" y="56388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19</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23</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68" name="Straight Arrow Connector 67"/>
          <p:cNvCxnSpPr/>
          <p:nvPr/>
        </p:nvCxnSpPr>
        <p:spPr>
          <a:xfrm>
            <a:off x="6172201" y="5804647"/>
            <a:ext cx="45719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rot="5400000">
            <a:off x="4710159" y="6019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rot="5400000">
            <a:off x="6518135" y="6019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rot="5400000">
            <a:off x="4163312" y="5257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4953000" y="5029200"/>
            <a:ext cx="22098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rot="5400000">
            <a:off x="7058912" y="6019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1" name="Content Placeholder 16"/>
          <p:cNvSpPr txBox="1">
            <a:spLocks/>
          </p:cNvSpPr>
          <p:nvPr/>
        </p:nvSpPr>
        <p:spPr>
          <a:xfrm>
            <a:off x="762000" y="1371600"/>
            <a:ext cx="8229600" cy="4724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Construct a B- tree for the following set of key values: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(2, 3, 5, 7, 11, 17, 19, 23, 29, 31) for n=4 and n=6.</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Solution:</a:t>
            </a: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Insert key value </a:t>
            </a:r>
            <a:r>
              <a:rPr kumimoji="0" lang="en-US" sz="2000" b="0" i="0" u="sng"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29</a:t>
            </a:r>
            <a:r>
              <a:rPr kumimoji="0" lang="en-US" sz="2000" b="0" i="0" u="sng"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graphicFrame>
        <p:nvGraphicFramePr>
          <p:cNvPr id="39" name="Table 38"/>
          <p:cNvGraphicFramePr>
            <a:graphicFrameLocks noGrp="1"/>
          </p:cNvGraphicFramePr>
          <p:nvPr/>
        </p:nvGraphicFramePr>
        <p:xfrm>
          <a:off x="1676400" y="37338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solidFill>
                            <a:schemeClr val="tx1"/>
                          </a:solidFill>
                          <a:latin typeface="Times New Roman"/>
                          <a:ea typeface="Times New Roman"/>
                          <a:cs typeface="Times New Roman"/>
                        </a:rPr>
                        <a:t>2</a:t>
                      </a:r>
                      <a:endParaRPr lang="en-US" sz="180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a:ea typeface="Times New Roman"/>
                          <a:cs typeface="Times New Roman"/>
                        </a:rPr>
                        <a:t>3</a:t>
                      </a: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0" name="Straight Arrow Connector 39"/>
          <p:cNvCxnSpPr/>
          <p:nvPr/>
        </p:nvCxnSpPr>
        <p:spPr>
          <a:xfrm rot="5400000">
            <a:off x="1551689"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2105913"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nvGraphicFramePr>
        <p:xfrm>
          <a:off x="4038600" y="37338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7</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11</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3" name="Table 42"/>
          <p:cNvGraphicFramePr>
            <a:graphicFrameLocks noGrp="1"/>
          </p:cNvGraphicFramePr>
          <p:nvPr/>
        </p:nvGraphicFramePr>
        <p:xfrm>
          <a:off x="3760469" y="2971800"/>
          <a:ext cx="2564131" cy="315468"/>
        </p:xfrm>
        <a:graphic>
          <a:graphicData uri="http://schemas.openxmlformats.org/drawingml/2006/table">
            <a:tbl>
              <a:tblPr/>
              <a:tblGrid>
                <a:gridCol w="194437"/>
                <a:gridCol w="182284"/>
                <a:gridCol w="425330"/>
                <a:gridCol w="182284"/>
                <a:gridCol w="182284"/>
                <a:gridCol w="425330"/>
                <a:gridCol w="182284"/>
                <a:gridCol w="182284"/>
                <a:gridCol w="425330"/>
                <a:gridCol w="182284"/>
              </a:tblGrid>
              <a:tr h="304800">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5</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latin typeface="Times New Roman" pitchFamily="18" charset="0"/>
                          <a:ea typeface="Times New Roman"/>
                          <a:cs typeface="Times New Roman" pitchFamily="18" charset="0"/>
                        </a:rPr>
                        <a:t>17</a:t>
                      </a: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44" name="Straight Arrow Connector 43"/>
          <p:cNvCxnSpPr/>
          <p:nvPr/>
        </p:nvCxnSpPr>
        <p:spPr>
          <a:xfrm rot="10800000" flipV="1">
            <a:off x="2667002" y="3124200"/>
            <a:ext cx="1219199"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16200000" flipH="1">
            <a:off x="4343399" y="3428999"/>
            <a:ext cx="609602" cy="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3581401" y="3899647"/>
            <a:ext cx="45719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a:off x="3809206" y="3352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a:off x="3913888"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9" name="Table 48"/>
          <p:cNvGraphicFramePr>
            <a:graphicFrameLocks noGrp="1"/>
          </p:cNvGraphicFramePr>
          <p:nvPr/>
        </p:nvGraphicFramePr>
        <p:xfrm>
          <a:off x="6400799" y="3733800"/>
          <a:ext cx="1981201" cy="335280"/>
        </p:xfrm>
        <a:graphic>
          <a:graphicData uri="http://schemas.openxmlformats.org/drawingml/2006/table">
            <a:tbl>
              <a:tblPr/>
              <a:tblGrid>
                <a:gridCol w="196889"/>
                <a:gridCol w="369168"/>
                <a:gridCol w="184584"/>
                <a:gridCol w="430696"/>
                <a:gridCol w="184584"/>
                <a:gridCol w="430696"/>
                <a:gridCol w="184584"/>
              </a:tblGrid>
              <a:tr h="335280">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19</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chemeClr val="tx1"/>
                          </a:solidFill>
                          <a:latin typeface="Times New Roman" pitchFamily="18" charset="0"/>
                          <a:ea typeface="Times New Roman"/>
                          <a:cs typeface="Times New Roman" pitchFamily="18" charset="0"/>
                        </a:rPr>
                        <a:t>23</a:t>
                      </a: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smtClean="0">
                          <a:solidFill>
                            <a:srgbClr val="FF0000"/>
                          </a:solidFill>
                          <a:latin typeface="Times New Roman" pitchFamily="18" charset="0"/>
                          <a:ea typeface="Times New Roman"/>
                          <a:cs typeface="Times New Roman" pitchFamily="18" charset="0"/>
                        </a:rPr>
                        <a:t>29</a:t>
                      </a:r>
                      <a:endParaRPr lang="en-US" sz="1800" dirty="0">
                        <a:solidFill>
                          <a:srgbClr val="FF0000"/>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800" dirty="0">
                        <a:solidFill>
                          <a:schemeClr val="tx1"/>
                        </a:solidFill>
                        <a:latin typeface="Times New Roman" pitchFamily="18" charset="0"/>
                        <a:ea typeface="Times New Roman"/>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51" name="Straight Arrow Connector 50"/>
          <p:cNvCxnSpPr/>
          <p:nvPr/>
        </p:nvCxnSpPr>
        <p:spPr>
          <a:xfrm>
            <a:off x="5943601" y="3899647"/>
            <a:ext cx="45719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5400000">
            <a:off x="4481559"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a:off x="6289535"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rot="5400000">
            <a:off x="4599688" y="3352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5410200" y="3124200"/>
            <a:ext cx="1524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a:off x="6830311"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5400000">
            <a:off x="7453358" y="4114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6481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Construct a B-tree for the following set of key values:</a:t>
            </a:r>
          </a:p>
          <a:p>
            <a:pPr>
              <a:buNone/>
            </a:pPr>
            <a:r>
              <a:rPr lang="en-US" sz="2000" b="1" dirty="0" smtClean="0">
                <a:latin typeface="Times New Roman" pitchFamily="18" charset="0"/>
                <a:cs typeface="Times New Roman" pitchFamily="18" charset="0"/>
              </a:rPr>
              <a:t>	  (2, 3, 5, 7, 11, 17, 19, 23, 29, 31) for n=4 and n=6.</a:t>
            </a:r>
          </a:p>
          <a:p>
            <a:pPr>
              <a:buNone/>
            </a:pPr>
            <a:endParaRPr lang="en-US" sz="1600" dirty="0" smtClean="0">
              <a:latin typeface="Times New Roman" pitchFamily="18" charset="0"/>
              <a:cs typeface="Times New Roman" pitchFamily="18" charset="0"/>
            </a:endParaRPr>
          </a:p>
          <a:p>
            <a:pPr lvl="0">
              <a:buNone/>
              <a:defRPr/>
            </a:pPr>
            <a:r>
              <a:rPr lang="en-US" sz="2000" b="1" dirty="0" smtClean="0">
                <a:latin typeface="Times New Roman" pitchFamily="18" charset="0"/>
                <a:cs typeface="Times New Roman" pitchFamily="18" charset="0"/>
              </a:rPr>
              <a:t>Solution:</a:t>
            </a:r>
            <a:endParaRPr lang="en-US" sz="2000" dirty="0" smtClean="0">
              <a:latin typeface="Times New Roman" pitchFamily="18" charset="0"/>
              <a:cs typeface="Times New Roman" pitchFamily="18" charset="0"/>
            </a:endParaRPr>
          </a:p>
          <a:p>
            <a:pPr lvl="0">
              <a:buNone/>
              <a:defRPr/>
            </a:pPr>
            <a:r>
              <a:rPr lang="en-US" sz="2000" u="sng" dirty="0" smtClean="0">
                <a:latin typeface="Times New Roman" pitchFamily="18" charset="0"/>
                <a:cs typeface="Times New Roman" pitchFamily="18" charset="0"/>
              </a:rPr>
              <a:t>Insert key value </a:t>
            </a:r>
            <a:r>
              <a:rPr lang="en-US" sz="2000" u="sng" dirty="0" smtClean="0">
                <a:solidFill>
                  <a:srgbClr val="FF0000"/>
                </a:solidFill>
                <a:latin typeface="Times New Roman" pitchFamily="18" charset="0"/>
                <a:cs typeface="Times New Roman" pitchFamily="18" charset="0"/>
              </a:rPr>
              <a:t>31</a:t>
            </a:r>
            <a:r>
              <a:rPr lang="en-US" sz="2000" u="sng" dirty="0" smtClean="0">
                <a:latin typeface="Times New Roman" pitchFamily="18" charset="0"/>
                <a:cs typeface="Times New Roman" pitchFamily="18" charset="0"/>
              </a:rPr>
              <a:t>:</a:t>
            </a: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pSp>
        <p:nvGrpSpPr>
          <p:cNvPr id="2" name="Group 2"/>
          <p:cNvGrpSpPr>
            <a:grpSpLocks noChangeAspect="1"/>
          </p:cNvGrpSpPr>
          <p:nvPr/>
        </p:nvGrpSpPr>
        <p:grpSpPr bwMode="auto">
          <a:xfrm>
            <a:off x="1028699" y="3124200"/>
            <a:ext cx="7277101" cy="1958060"/>
            <a:chOff x="1622" y="2209"/>
            <a:chExt cx="9360" cy="2055"/>
          </a:xfrm>
        </p:grpSpPr>
        <p:sp>
          <p:nvSpPr>
            <p:cNvPr id="4099" name="AutoShape 3"/>
            <p:cNvSpPr>
              <a:spLocks noChangeAspect="1" noChangeArrowheads="1"/>
            </p:cNvSpPr>
            <p:nvPr/>
          </p:nvSpPr>
          <p:spPr bwMode="auto">
            <a:xfrm>
              <a:off x="1622" y="2209"/>
              <a:ext cx="9360" cy="20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nvGrpSpPr>
            <p:cNvPr id="3" name="Group 4"/>
            <p:cNvGrpSpPr>
              <a:grpSpLocks/>
            </p:cNvGrpSpPr>
            <p:nvPr/>
          </p:nvGrpSpPr>
          <p:grpSpPr bwMode="auto">
            <a:xfrm>
              <a:off x="2038" y="2330"/>
              <a:ext cx="8792" cy="1731"/>
              <a:chOff x="2038" y="2330"/>
              <a:chExt cx="8792" cy="1731"/>
            </a:xfrm>
          </p:grpSpPr>
          <p:grpSp>
            <p:nvGrpSpPr>
              <p:cNvPr id="4" name="Group 5"/>
              <p:cNvGrpSpPr>
                <a:grpSpLocks/>
              </p:cNvGrpSpPr>
              <p:nvPr/>
            </p:nvGrpSpPr>
            <p:grpSpPr bwMode="auto">
              <a:xfrm>
                <a:off x="2038" y="2330"/>
                <a:ext cx="8792" cy="1593"/>
                <a:chOff x="2113" y="2645"/>
                <a:chExt cx="8792" cy="1593"/>
              </a:xfrm>
            </p:grpSpPr>
            <p:cxnSp>
              <p:nvCxnSpPr>
                <p:cNvPr id="4102" name="AutoShape 6"/>
                <p:cNvCxnSpPr>
                  <a:cxnSpLocks noChangeShapeType="1"/>
                </p:cNvCxnSpPr>
                <p:nvPr/>
              </p:nvCxnSpPr>
              <p:spPr bwMode="auto">
                <a:xfrm>
                  <a:off x="4853" y="2657"/>
                  <a:ext cx="2203" cy="0"/>
                </a:xfrm>
                <a:prstGeom prst="straightConnector1">
                  <a:avLst/>
                </a:prstGeom>
                <a:noFill/>
                <a:ln w="9525">
                  <a:solidFill>
                    <a:srgbClr val="000000"/>
                  </a:solidFill>
                  <a:round/>
                  <a:headEnd/>
                  <a:tailEnd/>
                </a:ln>
              </p:spPr>
            </p:cxnSp>
            <p:cxnSp>
              <p:nvCxnSpPr>
                <p:cNvPr id="4103" name="AutoShape 7"/>
                <p:cNvCxnSpPr>
                  <a:cxnSpLocks noChangeShapeType="1"/>
                </p:cNvCxnSpPr>
                <p:nvPr/>
              </p:nvCxnSpPr>
              <p:spPr bwMode="auto">
                <a:xfrm>
                  <a:off x="4853" y="3060"/>
                  <a:ext cx="2203" cy="0"/>
                </a:xfrm>
                <a:prstGeom prst="straightConnector1">
                  <a:avLst/>
                </a:prstGeom>
                <a:noFill/>
                <a:ln w="9525">
                  <a:solidFill>
                    <a:srgbClr val="000000"/>
                  </a:solidFill>
                  <a:round/>
                  <a:headEnd/>
                  <a:tailEnd/>
                </a:ln>
              </p:spPr>
            </p:cxnSp>
            <p:cxnSp>
              <p:nvCxnSpPr>
                <p:cNvPr id="4104" name="AutoShape 8"/>
                <p:cNvCxnSpPr>
                  <a:cxnSpLocks noChangeShapeType="1"/>
                </p:cNvCxnSpPr>
                <p:nvPr/>
              </p:nvCxnSpPr>
              <p:spPr bwMode="auto">
                <a:xfrm>
                  <a:off x="4853" y="2657"/>
                  <a:ext cx="0" cy="403"/>
                </a:xfrm>
                <a:prstGeom prst="straightConnector1">
                  <a:avLst/>
                </a:prstGeom>
                <a:noFill/>
                <a:ln w="9525">
                  <a:solidFill>
                    <a:srgbClr val="000000"/>
                  </a:solidFill>
                  <a:round/>
                  <a:headEnd/>
                  <a:tailEnd/>
                </a:ln>
              </p:spPr>
            </p:cxnSp>
            <p:cxnSp>
              <p:nvCxnSpPr>
                <p:cNvPr id="4105" name="AutoShape 9"/>
                <p:cNvCxnSpPr>
                  <a:cxnSpLocks noChangeShapeType="1"/>
                </p:cNvCxnSpPr>
                <p:nvPr/>
              </p:nvCxnSpPr>
              <p:spPr bwMode="auto">
                <a:xfrm>
                  <a:off x="7056" y="2657"/>
                  <a:ext cx="0" cy="403"/>
                </a:xfrm>
                <a:prstGeom prst="straightConnector1">
                  <a:avLst/>
                </a:prstGeom>
                <a:noFill/>
                <a:ln w="9525">
                  <a:solidFill>
                    <a:srgbClr val="000000"/>
                  </a:solidFill>
                  <a:round/>
                  <a:headEnd/>
                  <a:tailEnd/>
                </a:ln>
              </p:spPr>
            </p:cxnSp>
            <p:cxnSp>
              <p:nvCxnSpPr>
                <p:cNvPr id="4106" name="AutoShape 10"/>
                <p:cNvCxnSpPr>
                  <a:cxnSpLocks noChangeShapeType="1"/>
                </p:cNvCxnSpPr>
                <p:nvPr/>
              </p:nvCxnSpPr>
              <p:spPr bwMode="auto">
                <a:xfrm>
                  <a:off x="4973" y="2657"/>
                  <a:ext cx="0" cy="403"/>
                </a:xfrm>
                <a:prstGeom prst="straightConnector1">
                  <a:avLst/>
                </a:prstGeom>
                <a:noFill/>
                <a:ln w="9525">
                  <a:solidFill>
                    <a:srgbClr val="000000"/>
                  </a:solidFill>
                  <a:round/>
                  <a:headEnd/>
                  <a:tailEnd/>
                </a:ln>
              </p:spPr>
            </p:cxnSp>
            <p:cxnSp>
              <p:nvCxnSpPr>
                <p:cNvPr id="4107" name="AutoShape 11"/>
                <p:cNvCxnSpPr>
                  <a:cxnSpLocks noChangeShapeType="1"/>
                </p:cNvCxnSpPr>
                <p:nvPr/>
              </p:nvCxnSpPr>
              <p:spPr bwMode="auto">
                <a:xfrm>
                  <a:off x="6926" y="2657"/>
                  <a:ext cx="0" cy="403"/>
                </a:xfrm>
                <a:prstGeom prst="straightConnector1">
                  <a:avLst/>
                </a:prstGeom>
                <a:noFill/>
                <a:ln w="9525">
                  <a:solidFill>
                    <a:srgbClr val="000000"/>
                  </a:solidFill>
                  <a:round/>
                  <a:headEnd/>
                  <a:tailEnd/>
                </a:ln>
              </p:spPr>
            </p:cxnSp>
            <p:cxnSp>
              <p:nvCxnSpPr>
                <p:cNvPr id="4108" name="AutoShape 12"/>
                <p:cNvCxnSpPr>
                  <a:cxnSpLocks noChangeShapeType="1"/>
                </p:cNvCxnSpPr>
                <p:nvPr/>
              </p:nvCxnSpPr>
              <p:spPr bwMode="auto">
                <a:xfrm>
                  <a:off x="4918" y="2974"/>
                  <a:ext cx="1" cy="144"/>
                </a:xfrm>
                <a:prstGeom prst="straightConnector1">
                  <a:avLst/>
                </a:prstGeom>
                <a:noFill/>
                <a:ln w="9525">
                  <a:solidFill>
                    <a:srgbClr val="000000"/>
                  </a:solidFill>
                  <a:round/>
                  <a:headEnd/>
                  <a:tailEnd/>
                </a:ln>
              </p:spPr>
            </p:cxnSp>
            <p:cxnSp>
              <p:nvCxnSpPr>
                <p:cNvPr id="4109" name="AutoShape 13"/>
                <p:cNvCxnSpPr>
                  <a:cxnSpLocks noChangeShapeType="1"/>
                </p:cNvCxnSpPr>
                <p:nvPr/>
              </p:nvCxnSpPr>
              <p:spPr bwMode="auto">
                <a:xfrm flipH="1">
                  <a:off x="3043" y="3118"/>
                  <a:ext cx="1876" cy="618"/>
                </a:xfrm>
                <a:prstGeom prst="straightConnector1">
                  <a:avLst/>
                </a:prstGeom>
                <a:noFill/>
                <a:ln w="9525">
                  <a:solidFill>
                    <a:srgbClr val="000000"/>
                  </a:solidFill>
                  <a:round/>
                  <a:headEnd/>
                  <a:tailEnd type="triangle" w="med" len="med"/>
                </a:ln>
              </p:spPr>
            </p:cxnSp>
            <p:cxnSp>
              <p:nvCxnSpPr>
                <p:cNvPr id="4110" name="AutoShape 14"/>
                <p:cNvCxnSpPr>
                  <a:cxnSpLocks noChangeShapeType="1"/>
                </p:cNvCxnSpPr>
                <p:nvPr/>
              </p:nvCxnSpPr>
              <p:spPr bwMode="auto">
                <a:xfrm>
                  <a:off x="7003" y="3118"/>
                  <a:ext cx="2590" cy="618"/>
                </a:xfrm>
                <a:prstGeom prst="straightConnector1">
                  <a:avLst/>
                </a:prstGeom>
                <a:noFill/>
                <a:ln w="9525">
                  <a:solidFill>
                    <a:srgbClr val="000000"/>
                  </a:solidFill>
                  <a:round/>
                  <a:headEnd/>
                  <a:tailEnd type="triangle" w="med" len="med"/>
                </a:ln>
              </p:spPr>
            </p:cxnSp>
            <p:cxnSp>
              <p:nvCxnSpPr>
                <p:cNvPr id="4111" name="AutoShape 15"/>
                <p:cNvCxnSpPr>
                  <a:cxnSpLocks noChangeShapeType="1"/>
                </p:cNvCxnSpPr>
                <p:nvPr/>
              </p:nvCxnSpPr>
              <p:spPr bwMode="auto">
                <a:xfrm>
                  <a:off x="7003" y="2974"/>
                  <a:ext cx="1" cy="144"/>
                </a:xfrm>
                <a:prstGeom prst="straightConnector1">
                  <a:avLst/>
                </a:prstGeom>
                <a:noFill/>
                <a:ln w="9525">
                  <a:solidFill>
                    <a:srgbClr val="000000"/>
                  </a:solidFill>
                  <a:round/>
                  <a:headEnd/>
                  <a:tailEnd/>
                </a:ln>
              </p:spPr>
            </p:cxnSp>
            <p:cxnSp>
              <p:nvCxnSpPr>
                <p:cNvPr id="4112" name="AutoShape 16"/>
                <p:cNvCxnSpPr>
                  <a:cxnSpLocks noChangeShapeType="1"/>
                </p:cNvCxnSpPr>
                <p:nvPr/>
              </p:nvCxnSpPr>
              <p:spPr bwMode="auto">
                <a:xfrm>
                  <a:off x="5459" y="3118"/>
                  <a:ext cx="1" cy="618"/>
                </a:xfrm>
                <a:prstGeom prst="straightConnector1">
                  <a:avLst/>
                </a:prstGeom>
                <a:noFill/>
                <a:ln w="9525">
                  <a:solidFill>
                    <a:srgbClr val="000000"/>
                  </a:solidFill>
                  <a:round/>
                  <a:headEnd/>
                  <a:tailEnd type="triangle" w="med" len="med"/>
                </a:ln>
              </p:spPr>
            </p:cxnSp>
            <p:cxnSp>
              <p:nvCxnSpPr>
                <p:cNvPr id="4113" name="AutoShape 17"/>
                <p:cNvCxnSpPr>
                  <a:cxnSpLocks noChangeShapeType="1"/>
                </p:cNvCxnSpPr>
                <p:nvPr/>
              </p:nvCxnSpPr>
              <p:spPr bwMode="auto">
                <a:xfrm>
                  <a:off x="4019" y="3949"/>
                  <a:ext cx="405" cy="1"/>
                </a:xfrm>
                <a:prstGeom prst="straightConnector1">
                  <a:avLst/>
                </a:prstGeom>
                <a:noFill/>
                <a:ln w="9525">
                  <a:solidFill>
                    <a:srgbClr val="000000"/>
                  </a:solidFill>
                  <a:round/>
                  <a:headEnd/>
                  <a:tailEnd type="triangle" w="med" len="med"/>
                </a:ln>
              </p:spPr>
            </p:cxnSp>
            <p:cxnSp>
              <p:nvCxnSpPr>
                <p:cNvPr id="4114" name="AutoShape 18"/>
                <p:cNvCxnSpPr>
                  <a:cxnSpLocks noChangeShapeType="1"/>
                </p:cNvCxnSpPr>
                <p:nvPr/>
              </p:nvCxnSpPr>
              <p:spPr bwMode="auto">
                <a:xfrm>
                  <a:off x="6315" y="3949"/>
                  <a:ext cx="395" cy="1"/>
                </a:xfrm>
                <a:prstGeom prst="straightConnector1">
                  <a:avLst/>
                </a:prstGeom>
                <a:noFill/>
                <a:ln w="9525">
                  <a:solidFill>
                    <a:srgbClr val="000000"/>
                  </a:solidFill>
                  <a:round/>
                  <a:headEnd/>
                  <a:tailEnd type="triangle" w="med" len="med"/>
                </a:ln>
              </p:spPr>
            </p:cxnSp>
            <p:sp>
              <p:nvSpPr>
                <p:cNvPr id="4115" name="Text Box 19"/>
                <p:cNvSpPr txBox="1">
                  <a:spLocks noChangeArrowheads="1"/>
                </p:cNvSpPr>
                <p:nvPr/>
              </p:nvSpPr>
              <p:spPr bwMode="auto">
                <a:xfrm>
                  <a:off x="5126" y="2704"/>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5</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16" name="Text Box 20"/>
                <p:cNvSpPr txBox="1">
                  <a:spLocks noChangeArrowheads="1"/>
                </p:cNvSpPr>
                <p:nvPr/>
              </p:nvSpPr>
              <p:spPr bwMode="auto">
                <a:xfrm>
                  <a:off x="6359" y="2704"/>
                  <a:ext cx="34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29</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5" name="Group 21"/>
                <p:cNvGrpSpPr>
                  <a:grpSpLocks/>
                </p:cNvGrpSpPr>
                <p:nvPr/>
              </p:nvGrpSpPr>
              <p:grpSpPr bwMode="auto">
                <a:xfrm>
                  <a:off x="2113" y="3736"/>
                  <a:ext cx="1915" cy="483"/>
                  <a:chOff x="2113" y="3736"/>
                  <a:chExt cx="1915" cy="483"/>
                </a:xfrm>
              </p:grpSpPr>
              <p:cxnSp>
                <p:nvCxnSpPr>
                  <p:cNvPr id="4118" name="AutoShape 22"/>
                  <p:cNvCxnSpPr>
                    <a:cxnSpLocks noChangeShapeType="1"/>
                  </p:cNvCxnSpPr>
                  <p:nvPr/>
                </p:nvCxnSpPr>
                <p:spPr bwMode="auto">
                  <a:xfrm>
                    <a:off x="2113" y="3736"/>
                    <a:ext cx="1915" cy="1"/>
                  </a:xfrm>
                  <a:prstGeom prst="straightConnector1">
                    <a:avLst/>
                  </a:prstGeom>
                  <a:noFill/>
                  <a:ln w="9525">
                    <a:solidFill>
                      <a:srgbClr val="000000"/>
                    </a:solidFill>
                    <a:round/>
                    <a:headEnd/>
                    <a:tailEnd/>
                  </a:ln>
                </p:spPr>
              </p:cxnSp>
              <p:cxnSp>
                <p:nvCxnSpPr>
                  <p:cNvPr id="4119" name="AutoShape 23"/>
                  <p:cNvCxnSpPr>
                    <a:cxnSpLocks noChangeShapeType="1"/>
                  </p:cNvCxnSpPr>
                  <p:nvPr/>
                </p:nvCxnSpPr>
                <p:spPr bwMode="auto">
                  <a:xfrm>
                    <a:off x="2113" y="4141"/>
                    <a:ext cx="1915" cy="1"/>
                  </a:xfrm>
                  <a:prstGeom prst="straightConnector1">
                    <a:avLst/>
                  </a:prstGeom>
                  <a:noFill/>
                  <a:ln w="9525">
                    <a:solidFill>
                      <a:srgbClr val="000000"/>
                    </a:solidFill>
                    <a:round/>
                    <a:headEnd/>
                    <a:tailEnd/>
                  </a:ln>
                </p:spPr>
              </p:cxnSp>
              <p:cxnSp>
                <p:nvCxnSpPr>
                  <p:cNvPr id="4120" name="AutoShape 24"/>
                  <p:cNvCxnSpPr>
                    <a:cxnSpLocks noChangeShapeType="1"/>
                  </p:cNvCxnSpPr>
                  <p:nvPr/>
                </p:nvCxnSpPr>
                <p:spPr bwMode="auto">
                  <a:xfrm>
                    <a:off x="2113" y="3736"/>
                    <a:ext cx="0" cy="405"/>
                  </a:xfrm>
                  <a:prstGeom prst="straightConnector1">
                    <a:avLst/>
                  </a:prstGeom>
                  <a:noFill/>
                  <a:ln w="9525">
                    <a:solidFill>
                      <a:srgbClr val="000000"/>
                    </a:solidFill>
                    <a:round/>
                    <a:headEnd/>
                    <a:tailEnd/>
                  </a:ln>
                </p:spPr>
              </p:cxnSp>
              <p:cxnSp>
                <p:nvCxnSpPr>
                  <p:cNvPr id="4121" name="AutoShape 25"/>
                  <p:cNvCxnSpPr>
                    <a:cxnSpLocks noChangeShapeType="1"/>
                  </p:cNvCxnSpPr>
                  <p:nvPr/>
                </p:nvCxnSpPr>
                <p:spPr bwMode="auto">
                  <a:xfrm>
                    <a:off x="2233" y="3736"/>
                    <a:ext cx="0" cy="405"/>
                  </a:xfrm>
                  <a:prstGeom prst="straightConnector1">
                    <a:avLst/>
                  </a:prstGeom>
                  <a:noFill/>
                  <a:ln w="9525">
                    <a:solidFill>
                      <a:srgbClr val="000000"/>
                    </a:solidFill>
                    <a:round/>
                    <a:headEnd/>
                    <a:tailEnd/>
                  </a:ln>
                </p:spPr>
              </p:cxnSp>
              <p:cxnSp>
                <p:nvCxnSpPr>
                  <p:cNvPr id="4122" name="AutoShape 26"/>
                  <p:cNvCxnSpPr>
                    <a:cxnSpLocks noChangeShapeType="1"/>
                  </p:cNvCxnSpPr>
                  <p:nvPr/>
                </p:nvCxnSpPr>
                <p:spPr bwMode="auto">
                  <a:xfrm>
                    <a:off x="2578" y="3736"/>
                    <a:ext cx="0" cy="405"/>
                  </a:xfrm>
                  <a:prstGeom prst="straightConnector1">
                    <a:avLst/>
                  </a:prstGeom>
                  <a:noFill/>
                  <a:ln w="9525">
                    <a:solidFill>
                      <a:srgbClr val="000000"/>
                    </a:solidFill>
                    <a:round/>
                    <a:headEnd/>
                    <a:tailEnd/>
                  </a:ln>
                </p:spPr>
              </p:cxnSp>
              <p:cxnSp>
                <p:nvCxnSpPr>
                  <p:cNvPr id="4123" name="AutoShape 27"/>
                  <p:cNvCxnSpPr>
                    <a:cxnSpLocks noChangeShapeType="1"/>
                  </p:cNvCxnSpPr>
                  <p:nvPr/>
                </p:nvCxnSpPr>
                <p:spPr bwMode="auto">
                  <a:xfrm>
                    <a:off x="2698" y="3736"/>
                    <a:ext cx="0" cy="405"/>
                  </a:xfrm>
                  <a:prstGeom prst="straightConnector1">
                    <a:avLst/>
                  </a:prstGeom>
                  <a:noFill/>
                  <a:ln w="9525">
                    <a:solidFill>
                      <a:srgbClr val="000000"/>
                    </a:solidFill>
                    <a:round/>
                    <a:headEnd/>
                    <a:tailEnd/>
                  </a:ln>
                </p:spPr>
              </p:cxnSp>
              <p:cxnSp>
                <p:nvCxnSpPr>
                  <p:cNvPr id="4124" name="AutoShape 28"/>
                  <p:cNvCxnSpPr>
                    <a:cxnSpLocks noChangeShapeType="1"/>
                  </p:cNvCxnSpPr>
                  <p:nvPr/>
                </p:nvCxnSpPr>
                <p:spPr bwMode="auto">
                  <a:xfrm>
                    <a:off x="3043" y="3736"/>
                    <a:ext cx="0" cy="405"/>
                  </a:xfrm>
                  <a:prstGeom prst="straightConnector1">
                    <a:avLst/>
                  </a:prstGeom>
                  <a:noFill/>
                  <a:ln w="9525">
                    <a:solidFill>
                      <a:srgbClr val="000000"/>
                    </a:solidFill>
                    <a:round/>
                    <a:headEnd/>
                    <a:tailEnd/>
                  </a:ln>
                </p:spPr>
              </p:cxnSp>
              <p:cxnSp>
                <p:nvCxnSpPr>
                  <p:cNvPr id="4125" name="AutoShape 29"/>
                  <p:cNvCxnSpPr>
                    <a:cxnSpLocks noChangeShapeType="1"/>
                  </p:cNvCxnSpPr>
                  <p:nvPr/>
                </p:nvCxnSpPr>
                <p:spPr bwMode="auto">
                  <a:xfrm>
                    <a:off x="3163" y="3736"/>
                    <a:ext cx="0" cy="405"/>
                  </a:xfrm>
                  <a:prstGeom prst="straightConnector1">
                    <a:avLst/>
                  </a:prstGeom>
                  <a:noFill/>
                  <a:ln w="9525">
                    <a:solidFill>
                      <a:srgbClr val="000000"/>
                    </a:solidFill>
                    <a:round/>
                    <a:headEnd/>
                    <a:tailEnd/>
                  </a:ln>
                </p:spPr>
              </p:cxnSp>
              <p:cxnSp>
                <p:nvCxnSpPr>
                  <p:cNvPr id="4126" name="AutoShape 30"/>
                  <p:cNvCxnSpPr>
                    <a:cxnSpLocks noChangeShapeType="1"/>
                  </p:cNvCxnSpPr>
                  <p:nvPr/>
                </p:nvCxnSpPr>
                <p:spPr bwMode="auto">
                  <a:xfrm>
                    <a:off x="3898" y="3736"/>
                    <a:ext cx="1" cy="405"/>
                  </a:xfrm>
                  <a:prstGeom prst="straightConnector1">
                    <a:avLst/>
                  </a:prstGeom>
                  <a:noFill/>
                  <a:ln w="9525">
                    <a:solidFill>
                      <a:srgbClr val="000000"/>
                    </a:solidFill>
                    <a:round/>
                    <a:headEnd/>
                    <a:tailEnd/>
                  </a:ln>
                </p:spPr>
              </p:cxnSp>
              <p:cxnSp>
                <p:nvCxnSpPr>
                  <p:cNvPr id="4127" name="AutoShape 31"/>
                  <p:cNvCxnSpPr>
                    <a:cxnSpLocks noChangeShapeType="1"/>
                  </p:cNvCxnSpPr>
                  <p:nvPr/>
                </p:nvCxnSpPr>
                <p:spPr bwMode="auto">
                  <a:xfrm>
                    <a:off x="4018" y="3736"/>
                    <a:ext cx="1" cy="405"/>
                  </a:xfrm>
                  <a:prstGeom prst="straightConnector1">
                    <a:avLst/>
                  </a:prstGeom>
                  <a:noFill/>
                  <a:ln w="9525">
                    <a:solidFill>
                      <a:srgbClr val="000000"/>
                    </a:solidFill>
                    <a:round/>
                    <a:headEnd/>
                    <a:tailEnd/>
                  </a:ln>
                </p:spPr>
              </p:cxnSp>
              <p:sp>
                <p:nvSpPr>
                  <p:cNvPr id="4128" name="Text Box 32"/>
                  <p:cNvSpPr txBox="1">
                    <a:spLocks noChangeArrowheads="1"/>
                  </p:cNvSpPr>
                  <p:nvPr/>
                </p:nvSpPr>
                <p:spPr bwMode="auto">
                  <a:xfrm>
                    <a:off x="2233" y="3769"/>
                    <a:ext cx="35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2</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29" name="Text Box 33"/>
                  <p:cNvSpPr txBox="1">
                    <a:spLocks noChangeArrowheads="1"/>
                  </p:cNvSpPr>
                  <p:nvPr/>
                </p:nvSpPr>
                <p:spPr bwMode="auto">
                  <a:xfrm>
                    <a:off x="2706" y="3784"/>
                    <a:ext cx="35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3</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
              <p:nvSpPr>
                <p:cNvPr id="4130" name="Text Box 34"/>
                <p:cNvSpPr txBox="1">
                  <a:spLocks noChangeArrowheads="1"/>
                </p:cNvSpPr>
                <p:nvPr/>
              </p:nvSpPr>
              <p:spPr bwMode="auto">
                <a:xfrm>
                  <a:off x="4593" y="3803"/>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7</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31" name="Text Box 35"/>
                <p:cNvSpPr txBox="1">
                  <a:spLocks noChangeArrowheads="1"/>
                </p:cNvSpPr>
                <p:nvPr/>
              </p:nvSpPr>
              <p:spPr bwMode="auto">
                <a:xfrm>
                  <a:off x="5066" y="3803"/>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11</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32" name="Text Box 36"/>
                <p:cNvSpPr txBox="1">
                  <a:spLocks noChangeArrowheads="1"/>
                </p:cNvSpPr>
                <p:nvPr/>
              </p:nvSpPr>
              <p:spPr bwMode="auto">
                <a:xfrm>
                  <a:off x="5653" y="2704"/>
                  <a:ext cx="25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17</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33" name="Text Box 37"/>
                <p:cNvSpPr txBox="1">
                  <a:spLocks noChangeArrowheads="1"/>
                </p:cNvSpPr>
                <p:nvPr/>
              </p:nvSpPr>
              <p:spPr bwMode="auto">
                <a:xfrm>
                  <a:off x="6815" y="3796"/>
                  <a:ext cx="341"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19</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34" name="Text Box 38"/>
                <p:cNvSpPr txBox="1">
                  <a:spLocks noChangeArrowheads="1"/>
                </p:cNvSpPr>
                <p:nvPr/>
              </p:nvSpPr>
              <p:spPr bwMode="auto">
                <a:xfrm>
                  <a:off x="7171" y="3796"/>
                  <a:ext cx="60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23</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135" name="Text Box 39"/>
                <p:cNvSpPr txBox="1">
                  <a:spLocks noChangeArrowheads="1"/>
                </p:cNvSpPr>
                <p:nvPr/>
              </p:nvSpPr>
              <p:spPr bwMode="auto">
                <a:xfrm>
                  <a:off x="8993" y="3796"/>
                  <a:ext cx="600" cy="435"/>
                </a:xfrm>
                <a:prstGeom prst="rect">
                  <a:avLst/>
                </a:prstGeom>
                <a:solidFill>
                  <a:srgbClr val="FFFFFF">
                    <a:alpha val="0"/>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cs typeface="Arial" pitchFamily="34" charset="0"/>
                    </a:rPr>
                    <a:t>31</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6" name="Group 40"/>
                <p:cNvGrpSpPr>
                  <a:grpSpLocks/>
                </p:cNvGrpSpPr>
                <p:nvPr/>
              </p:nvGrpSpPr>
              <p:grpSpPr bwMode="auto">
                <a:xfrm>
                  <a:off x="4411" y="3745"/>
                  <a:ext cx="1915" cy="406"/>
                  <a:chOff x="2103" y="2635"/>
                  <a:chExt cx="1915" cy="406"/>
                </a:xfrm>
              </p:grpSpPr>
              <p:cxnSp>
                <p:nvCxnSpPr>
                  <p:cNvPr id="4137" name="AutoShape 41"/>
                  <p:cNvCxnSpPr>
                    <a:cxnSpLocks noChangeShapeType="1"/>
                  </p:cNvCxnSpPr>
                  <p:nvPr/>
                </p:nvCxnSpPr>
                <p:spPr bwMode="auto">
                  <a:xfrm>
                    <a:off x="2103" y="2635"/>
                    <a:ext cx="1915" cy="1"/>
                  </a:xfrm>
                  <a:prstGeom prst="straightConnector1">
                    <a:avLst/>
                  </a:prstGeom>
                  <a:noFill/>
                  <a:ln w="9525">
                    <a:solidFill>
                      <a:srgbClr val="000000"/>
                    </a:solidFill>
                    <a:round/>
                    <a:headEnd/>
                    <a:tailEnd/>
                  </a:ln>
                </p:spPr>
              </p:cxnSp>
              <p:cxnSp>
                <p:nvCxnSpPr>
                  <p:cNvPr id="4138" name="AutoShape 42"/>
                  <p:cNvCxnSpPr>
                    <a:cxnSpLocks noChangeShapeType="1"/>
                  </p:cNvCxnSpPr>
                  <p:nvPr/>
                </p:nvCxnSpPr>
                <p:spPr bwMode="auto">
                  <a:xfrm>
                    <a:off x="2103" y="3040"/>
                    <a:ext cx="1915" cy="1"/>
                  </a:xfrm>
                  <a:prstGeom prst="straightConnector1">
                    <a:avLst/>
                  </a:prstGeom>
                  <a:noFill/>
                  <a:ln w="9525">
                    <a:solidFill>
                      <a:srgbClr val="000000"/>
                    </a:solidFill>
                    <a:round/>
                    <a:headEnd/>
                    <a:tailEnd/>
                  </a:ln>
                </p:spPr>
              </p:cxnSp>
              <p:cxnSp>
                <p:nvCxnSpPr>
                  <p:cNvPr id="4139" name="AutoShape 43"/>
                  <p:cNvCxnSpPr>
                    <a:cxnSpLocks noChangeShapeType="1"/>
                  </p:cNvCxnSpPr>
                  <p:nvPr/>
                </p:nvCxnSpPr>
                <p:spPr bwMode="auto">
                  <a:xfrm>
                    <a:off x="2103" y="2635"/>
                    <a:ext cx="1" cy="405"/>
                  </a:xfrm>
                  <a:prstGeom prst="straightConnector1">
                    <a:avLst/>
                  </a:prstGeom>
                  <a:noFill/>
                  <a:ln w="9525">
                    <a:solidFill>
                      <a:srgbClr val="000000"/>
                    </a:solidFill>
                    <a:round/>
                    <a:headEnd/>
                    <a:tailEnd/>
                  </a:ln>
                </p:spPr>
              </p:cxnSp>
              <p:cxnSp>
                <p:nvCxnSpPr>
                  <p:cNvPr id="4140" name="AutoShape 44"/>
                  <p:cNvCxnSpPr>
                    <a:cxnSpLocks noChangeShapeType="1"/>
                  </p:cNvCxnSpPr>
                  <p:nvPr/>
                </p:nvCxnSpPr>
                <p:spPr bwMode="auto">
                  <a:xfrm>
                    <a:off x="2223" y="2635"/>
                    <a:ext cx="1" cy="405"/>
                  </a:xfrm>
                  <a:prstGeom prst="straightConnector1">
                    <a:avLst/>
                  </a:prstGeom>
                  <a:noFill/>
                  <a:ln w="9525">
                    <a:solidFill>
                      <a:srgbClr val="000000"/>
                    </a:solidFill>
                    <a:round/>
                    <a:headEnd/>
                    <a:tailEnd/>
                  </a:ln>
                </p:spPr>
              </p:cxnSp>
              <p:cxnSp>
                <p:nvCxnSpPr>
                  <p:cNvPr id="4141" name="AutoShape 45"/>
                  <p:cNvCxnSpPr>
                    <a:cxnSpLocks noChangeShapeType="1"/>
                  </p:cNvCxnSpPr>
                  <p:nvPr/>
                </p:nvCxnSpPr>
                <p:spPr bwMode="auto">
                  <a:xfrm>
                    <a:off x="2568" y="2635"/>
                    <a:ext cx="1" cy="405"/>
                  </a:xfrm>
                  <a:prstGeom prst="straightConnector1">
                    <a:avLst/>
                  </a:prstGeom>
                  <a:noFill/>
                  <a:ln w="9525">
                    <a:solidFill>
                      <a:srgbClr val="000000"/>
                    </a:solidFill>
                    <a:round/>
                    <a:headEnd/>
                    <a:tailEnd/>
                  </a:ln>
                </p:spPr>
              </p:cxnSp>
              <p:cxnSp>
                <p:nvCxnSpPr>
                  <p:cNvPr id="4142" name="AutoShape 46"/>
                  <p:cNvCxnSpPr>
                    <a:cxnSpLocks noChangeShapeType="1"/>
                  </p:cNvCxnSpPr>
                  <p:nvPr/>
                </p:nvCxnSpPr>
                <p:spPr bwMode="auto">
                  <a:xfrm>
                    <a:off x="2688" y="2635"/>
                    <a:ext cx="1" cy="405"/>
                  </a:xfrm>
                  <a:prstGeom prst="straightConnector1">
                    <a:avLst/>
                  </a:prstGeom>
                  <a:noFill/>
                  <a:ln w="9525">
                    <a:solidFill>
                      <a:srgbClr val="000000"/>
                    </a:solidFill>
                    <a:round/>
                    <a:headEnd/>
                    <a:tailEnd/>
                  </a:ln>
                </p:spPr>
              </p:cxnSp>
              <p:cxnSp>
                <p:nvCxnSpPr>
                  <p:cNvPr id="4143" name="AutoShape 47"/>
                  <p:cNvCxnSpPr>
                    <a:cxnSpLocks noChangeShapeType="1"/>
                  </p:cNvCxnSpPr>
                  <p:nvPr/>
                </p:nvCxnSpPr>
                <p:spPr bwMode="auto">
                  <a:xfrm>
                    <a:off x="3033" y="2635"/>
                    <a:ext cx="1" cy="405"/>
                  </a:xfrm>
                  <a:prstGeom prst="straightConnector1">
                    <a:avLst/>
                  </a:prstGeom>
                  <a:noFill/>
                  <a:ln w="9525">
                    <a:solidFill>
                      <a:srgbClr val="000000"/>
                    </a:solidFill>
                    <a:round/>
                    <a:headEnd/>
                    <a:tailEnd/>
                  </a:ln>
                </p:spPr>
              </p:cxnSp>
              <p:cxnSp>
                <p:nvCxnSpPr>
                  <p:cNvPr id="4144" name="AutoShape 48"/>
                  <p:cNvCxnSpPr>
                    <a:cxnSpLocks noChangeShapeType="1"/>
                  </p:cNvCxnSpPr>
                  <p:nvPr/>
                </p:nvCxnSpPr>
                <p:spPr bwMode="auto">
                  <a:xfrm>
                    <a:off x="3153" y="2635"/>
                    <a:ext cx="1" cy="405"/>
                  </a:xfrm>
                  <a:prstGeom prst="straightConnector1">
                    <a:avLst/>
                  </a:prstGeom>
                  <a:noFill/>
                  <a:ln w="9525">
                    <a:solidFill>
                      <a:srgbClr val="000000"/>
                    </a:solidFill>
                    <a:round/>
                    <a:headEnd/>
                    <a:tailEnd/>
                  </a:ln>
                </p:spPr>
              </p:cxnSp>
              <p:cxnSp>
                <p:nvCxnSpPr>
                  <p:cNvPr id="4145" name="AutoShape 49"/>
                  <p:cNvCxnSpPr>
                    <a:cxnSpLocks noChangeShapeType="1"/>
                  </p:cNvCxnSpPr>
                  <p:nvPr/>
                </p:nvCxnSpPr>
                <p:spPr bwMode="auto">
                  <a:xfrm>
                    <a:off x="3888" y="2635"/>
                    <a:ext cx="1" cy="405"/>
                  </a:xfrm>
                  <a:prstGeom prst="straightConnector1">
                    <a:avLst/>
                  </a:prstGeom>
                  <a:noFill/>
                  <a:ln w="9525">
                    <a:solidFill>
                      <a:srgbClr val="000000"/>
                    </a:solidFill>
                    <a:round/>
                    <a:headEnd/>
                    <a:tailEnd/>
                  </a:ln>
                </p:spPr>
              </p:cxnSp>
              <p:cxnSp>
                <p:nvCxnSpPr>
                  <p:cNvPr id="4146" name="AutoShape 50"/>
                  <p:cNvCxnSpPr>
                    <a:cxnSpLocks noChangeShapeType="1"/>
                  </p:cNvCxnSpPr>
                  <p:nvPr/>
                </p:nvCxnSpPr>
                <p:spPr bwMode="auto">
                  <a:xfrm>
                    <a:off x="4008" y="2635"/>
                    <a:ext cx="1" cy="405"/>
                  </a:xfrm>
                  <a:prstGeom prst="straightConnector1">
                    <a:avLst/>
                  </a:prstGeom>
                  <a:noFill/>
                  <a:ln w="9525">
                    <a:solidFill>
                      <a:srgbClr val="000000"/>
                    </a:solidFill>
                    <a:round/>
                    <a:headEnd/>
                    <a:tailEnd/>
                  </a:ln>
                </p:spPr>
              </p:cxnSp>
            </p:grpSp>
            <p:grpSp>
              <p:nvGrpSpPr>
                <p:cNvPr id="8" name="Group 51"/>
                <p:cNvGrpSpPr>
                  <a:grpSpLocks/>
                </p:cNvGrpSpPr>
                <p:nvPr/>
              </p:nvGrpSpPr>
              <p:grpSpPr bwMode="auto">
                <a:xfrm>
                  <a:off x="6694" y="3739"/>
                  <a:ext cx="1915" cy="406"/>
                  <a:chOff x="2103" y="2635"/>
                  <a:chExt cx="1915" cy="406"/>
                </a:xfrm>
              </p:grpSpPr>
              <p:cxnSp>
                <p:nvCxnSpPr>
                  <p:cNvPr id="4148" name="AutoShape 52"/>
                  <p:cNvCxnSpPr>
                    <a:cxnSpLocks noChangeShapeType="1"/>
                  </p:cNvCxnSpPr>
                  <p:nvPr/>
                </p:nvCxnSpPr>
                <p:spPr bwMode="auto">
                  <a:xfrm>
                    <a:off x="2103" y="2635"/>
                    <a:ext cx="1915" cy="1"/>
                  </a:xfrm>
                  <a:prstGeom prst="straightConnector1">
                    <a:avLst/>
                  </a:prstGeom>
                  <a:noFill/>
                  <a:ln w="9525">
                    <a:solidFill>
                      <a:srgbClr val="000000"/>
                    </a:solidFill>
                    <a:round/>
                    <a:headEnd/>
                    <a:tailEnd/>
                  </a:ln>
                </p:spPr>
              </p:cxnSp>
              <p:cxnSp>
                <p:nvCxnSpPr>
                  <p:cNvPr id="4149" name="AutoShape 53"/>
                  <p:cNvCxnSpPr>
                    <a:cxnSpLocks noChangeShapeType="1"/>
                  </p:cNvCxnSpPr>
                  <p:nvPr/>
                </p:nvCxnSpPr>
                <p:spPr bwMode="auto">
                  <a:xfrm>
                    <a:off x="2103" y="3040"/>
                    <a:ext cx="1915" cy="1"/>
                  </a:xfrm>
                  <a:prstGeom prst="straightConnector1">
                    <a:avLst/>
                  </a:prstGeom>
                  <a:noFill/>
                  <a:ln w="9525">
                    <a:solidFill>
                      <a:srgbClr val="000000"/>
                    </a:solidFill>
                    <a:round/>
                    <a:headEnd/>
                    <a:tailEnd/>
                  </a:ln>
                </p:spPr>
              </p:cxnSp>
              <p:cxnSp>
                <p:nvCxnSpPr>
                  <p:cNvPr id="4150" name="AutoShape 54"/>
                  <p:cNvCxnSpPr>
                    <a:cxnSpLocks noChangeShapeType="1"/>
                  </p:cNvCxnSpPr>
                  <p:nvPr/>
                </p:nvCxnSpPr>
                <p:spPr bwMode="auto">
                  <a:xfrm>
                    <a:off x="2103" y="2635"/>
                    <a:ext cx="1" cy="405"/>
                  </a:xfrm>
                  <a:prstGeom prst="straightConnector1">
                    <a:avLst/>
                  </a:prstGeom>
                  <a:noFill/>
                  <a:ln w="9525">
                    <a:solidFill>
                      <a:srgbClr val="000000"/>
                    </a:solidFill>
                    <a:round/>
                    <a:headEnd/>
                    <a:tailEnd/>
                  </a:ln>
                </p:spPr>
              </p:cxnSp>
              <p:cxnSp>
                <p:nvCxnSpPr>
                  <p:cNvPr id="4151" name="AutoShape 55"/>
                  <p:cNvCxnSpPr>
                    <a:cxnSpLocks noChangeShapeType="1"/>
                  </p:cNvCxnSpPr>
                  <p:nvPr/>
                </p:nvCxnSpPr>
                <p:spPr bwMode="auto">
                  <a:xfrm>
                    <a:off x="2223" y="2635"/>
                    <a:ext cx="1" cy="405"/>
                  </a:xfrm>
                  <a:prstGeom prst="straightConnector1">
                    <a:avLst/>
                  </a:prstGeom>
                  <a:noFill/>
                  <a:ln w="9525">
                    <a:solidFill>
                      <a:srgbClr val="000000"/>
                    </a:solidFill>
                    <a:round/>
                    <a:headEnd/>
                    <a:tailEnd/>
                  </a:ln>
                </p:spPr>
              </p:cxnSp>
              <p:cxnSp>
                <p:nvCxnSpPr>
                  <p:cNvPr id="4152" name="AutoShape 56"/>
                  <p:cNvCxnSpPr>
                    <a:cxnSpLocks noChangeShapeType="1"/>
                  </p:cNvCxnSpPr>
                  <p:nvPr/>
                </p:nvCxnSpPr>
                <p:spPr bwMode="auto">
                  <a:xfrm>
                    <a:off x="2568" y="2635"/>
                    <a:ext cx="1" cy="405"/>
                  </a:xfrm>
                  <a:prstGeom prst="straightConnector1">
                    <a:avLst/>
                  </a:prstGeom>
                  <a:noFill/>
                  <a:ln w="9525">
                    <a:solidFill>
                      <a:srgbClr val="000000"/>
                    </a:solidFill>
                    <a:round/>
                    <a:headEnd/>
                    <a:tailEnd/>
                  </a:ln>
                </p:spPr>
              </p:cxnSp>
              <p:cxnSp>
                <p:nvCxnSpPr>
                  <p:cNvPr id="4153" name="AutoShape 57"/>
                  <p:cNvCxnSpPr>
                    <a:cxnSpLocks noChangeShapeType="1"/>
                  </p:cNvCxnSpPr>
                  <p:nvPr/>
                </p:nvCxnSpPr>
                <p:spPr bwMode="auto">
                  <a:xfrm>
                    <a:off x="2688" y="2635"/>
                    <a:ext cx="1" cy="405"/>
                  </a:xfrm>
                  <a:prstGeom prst="straightConnector1">
                    <a:avLst/>
                  </a:prstGeom>
                  <a:noFill/>
                  <a:ln w="9525">
                    <a:solidFill>
                      <a:srgbClr val="000000"/>
                    </a:solidFill>
                    <a:round/>
                    <a:headEnd/>
                    <a:tailEnd/>
                  </a:ln>
                </p:spPr>
              </p:cxnSp>
              <p:cxnSp>
                <p:nvCxnSpPr>
                  <p:cNvPr id="4154" name="AutoShape 58"/>
                  <p:cNvCxnSpPr>
                    <a:cxnSpLocks noChangeShapeType="1"/>
                  </p:cNvCxnSpPr>
                  <p:nvPr/>
                </p:nvCxnSpPr>
                <p:spPr bwMode="auto">
                  <a:xfrm>
                    <a:off x="3033" y="2635"/>
                    <a:ext cx="1" cy="405"/>
                  </a:xfrm>
                  <a:prstGeom prst="straightConnector1">
                    <a:avLst/>
                  </a:prstGeom>
                  <a:noFill/>
                  <a:ln w="9525">
                    <a:solidFill>
                      <a:srgbClr val="000000"/>
                    </a:solidFill>
                    <a:round/>
                    <a:headEnd/>
                    <a:tailEnd/>
                  </a:ln>
                </p:spPr>
              </p:cxnSp>
              <p:cxnSp>
                <p:nvCxnSpPr>
                  <p:cNvPr id="4155" name="AutoShape 59"/>
                  <p:cNvCxnSpPr>
                    <a:cxnSpLocks noChangeShapeType="1"/>
                  </p:cNvCxnSpPr>
                  <p:nvPr/>
                </p:nvCxnSpPr>
                <p:spPr bwMode="auto">
                  <a:xfrm>
                    <a:off x="3153" y="2635"/>
                    <a:ext cx="1" cy="405"/>
                  </a:xfrm>
                  <a:prstGeom prst="straightConnector1">
                    <a:avLst/>
                  </a:prstGeom>
                  <a:noFill/>
                  <a:ln w="9525">
                    <a:solidFill>
                      <a:srgbClr val="000000"/>
                    </a:solidFill>
                    <a:round/>
                    <a:headEnd/>
                    <a:tailEnd/>
                  </a:ln>
                </p:spPr>
              </p:cxnSp>
              <p:cxnSp>
                <p:nvCxnSpPr>
                  <p:cNvPr id="4156" name="AutoShape 60"/>
                  <p:cNvCxnSpPr>
                    <a:cxnSpLocks noChangeShapeType="1"/>
                  </p:cNvCxnSpPr>
                  <p:nvPr/>
                </p:nvCxnSpPr>
                <p:spPr bwMode="auto">
                  <a:xfrm>
                    <a:off x="3888" y="2635"/>
                    <a:ext cx="1" cy="405"/>
                  </a:xfrm>
                  <a:prstGeom prst="straightConnector1">
                    <a:avLst/>
                  </a:prstGeom>
                  <a:noFill/>
                  <a:ln w="9525">
                    <a:solidFill>
                      <a:srgbClr val="000000"/>
                    </a:solidFill>
                    <a:round/>
                    <a:headEnd/>
                    <a:tailEnd/>
                  </a:ln>
                </p:spPr>
              </p:cxnSp>
              <p:cxnSp>
                <p:nvCxnSpPr>
                  <p:cNvPr id="4157" name="AutoShape 61"/>
                  <p:cNvCxnSpPr>
                    <a:cxnSpLocks noChangeShapeType="1"/>
                  </p:cNvCxnSpPr>
                  <p:nvPr/>
                </p:nvCxnSpPr>
                <p:spPr bwMode="auto">
                  <a:xfrm>
                    <a:off x="4008" y="2635"/>
                    <a:ext cx="1" cy="405"/>
                  </a:xfrm>
                  <a:prstGeom prst="straightConnector1">
                    <a:avLst/>
                  </a:prstGeom>
                  <a:noFill/>
                  <a:ln w="9525">
                    <a:solidFill>
                      <a:srgbClr val="000000"/>
                    </a:solidFill>
                    <a:round/>
                    <a:headEnd/>
                    <a:tailEnd/>
                  </a:ln>
                </p:spPr>
              </p:cxnSp>
            </p:grpSp>
            <p:grpSp>
              <p:nvGrpSpPr>
                <p:cNvPr id="10" name="Group 62"/>
                <p:cNvGrpSpPr>
                  <a:grpSpLocks/>
                </p:cNvGrpSpPr>
                <p:nvPr/>
              </p:nvGrpSpPr>
              <p:grpSpPr bwMode="auto">
                <a:xfrm>
                  <a:off x="8990" y="3739"/>
                  <a:ext cx="1915" cy="406"/>
                  <a:chOff x="2103" y="2635"/>
                  <a:chExt cx="1915" cy="406"/>
                </a:xfrm>
              </p:grpSpPr>
              <p:cxnSp>
                <p:nvCxnSpPr>
                  <p:cNvPr id="4159" name="AutoShape 63"/>
                  <p:cNvCxnSpPr>
                    <a:cxnSpLocks noChangeShapeType="1"/>
                  </p:cNvCxnSpPr>
                  <p:nvPr/>
                </p:nvCxnSpPr>
                <p:spPr bwMode="auto">
                  <a:xfrm>
                    <a:off x="2103" y="2635"/>
                    <a:ext cx="1915" cy="1"/>
                  </a:xfrm>
                  <a:prstGeom prst="straightConnector1">
                    <a:avLst/>
                  </a:prstGeom>
                  <a:noFill/>
                  <a:ln w="9525">
                    <a:solidFill>
                      <a:srgbClr val="000000"/>
                    </a:solidFill>
                    <a:round/>
                    <a:headEnd/>
                    <a:tailEnd/>
                  </a:ln>
                </p:spPr>
              </p:cxnSp>
              <p:cxnSp>
                <p:nvCxnSpPr>
                  <p:cNvPr id="4160" name="AutoShape 64"/>
                  <p:cNvCxnSpPr>
                    <a:cxnSpLocks noChangeShapeType="1"/>
                  </p:cNvCxnSpPr>
                  <p:nvPr/>
                </p:nvCxnSpPr>
                <p:spPr bwMode="auto">
                  <a:xfrm>
                    <a:off x="2103" y="3040"/>
                    <a:ext cx="1915" cy="1"/>
                  </a:xfrm>
                  <a:prstGeom prst="straightConnector1">
                    <a:avLst/>
                  </a:prstGeom>
                  <a:noFill/>
                  <a:ln w="9525">
                    <a:solidFill>
                      <a:srgbClr val="000000"/>
                    </a:solidFill>
                    <a:round/>
                    <a:headEnd/>
                    <a:tailEnd/>
                  </a:ln>
                </p:spPr>
              </p:cxnSp>
              <p:cxnSp>
                <p:nvCxnSpPr>
                  <p:cNvPr id="4161" name="AutoShape 65"/>
                  <p:cNvCxnSpPr>
                    <a:cxnSpLocks noChangeShapeType="1"/>
                  </p:cNvCxnSpPr>
                  <p:nvPr/>
                </p:nvCxnSpPr>
                <p:spPr bwMode="auto">
                  <a:xfrm>
                    <a:off x="2103" y="2635"/>
                    <a:ext cx="1" cy="405"/>
                  </a:xfrm>
                  <a:prstGeom prst="straightConnector1">
                    <a:avLst/>
                  </a:prstGeom>
                  <a:noFill/>
                  <a:ln w="9525">
                    <a:solidFill>
                      <a:srgbClr val="000000"/>
                    </a:solidFill>
                    <a:round/>
                    <a:headEnd/>
                    <a:tailEnd/>
                  </a:ln>
                </p:spPr>
              </p:cxnSp>
              <p:cxnSp>
                <p:nvCxnSpPr>
                  <p:cNvPr id="4162" name="AutoShape 66"/>
                  <p:cNvCxnSpPr>
                    <a:cxnSpLocks noChangeShapeType="1"/>
                  </p:cNvCxnSpPr>
                  <p:nvPr/>
                </p:nvCxnSpPr>
                <p:spPr bwMode="auto">
                  <a:xfrm>
                    <a:off x="2223" y="2635"/>
                    <a:ext cx="1" cy="405"/>
                  </a:xfrm>
                  <a:prstGeom prst="straightConnector1">
                    <a:avLst/>
                  </a:prstGeom>
                  <a:noFill/>
                  <a:ln w="9525">
                    <a:solidFill>
                      <a:srgbClr val="000000"/>
                    </a:solidFill>
                    <a:round/>
                    <a:headEnd/>
                    <a:tailEnd/>
                  </a:ln>
                </p:spPr>
              </p:cxnSp>
              <p:cxnSp>
                <p:nvCxnSpPr>
                  <p:cNvPr id="4163" name="AutoShape 67"/>
                  <p:cNvCxnSpPr>
                    <a:cxnSpLocks noChangeShapeType="1"/>
                  </p:cNvCxnSpPr>
                  <p:nvPr/>
                </p:nvCxnSpPr>
                <p:spPr bwMode="auto">
                  <a:xfrm>
                    <a:off x="2568" y="2635"/>
                    <a:ext cx="1" cy="405"/>
                  </a:xfrm>
                  <a:prstGeom prst="straightConnector1">
                    <a:avLst/>
                  </a:prstGeom>
                  <a:noFill/>
                  <a:ln w="9525">
                    <a:solidFill>
                      <a:srgbClr val="000000"/>
                    </a:solidFill>
                    <a:round/>
                    <a:headEnd/>
                    <a:tailEnd/>
                  </a:ln>
                </p:spPr>
              </p:cxnSp>
              <p:cxnSp>
                <p:nvCxnSpPr>
                  <p:cNvPr id="4164" name="AutoShape 68"/>
                  <p:cNvCxnSpPr>
                    <a:cxnSpLocks noChangeShapeType="1"/>
                  </p:cNvCxnSpPr>
                  <p:nvPr/>
                </p:nvCxnSpPr>
                <p:spPr bwMode="auto">
                  <a:xfrm>
                    <a:off x="2688" y="2635"/>
                    <a:ext cx="1" cy="405"/>
                  </a:xfrm>
                  <a:prstGeom prst="straightConnector1">
                    <a:avLst/>
                  </a:prstGeom>
                  <a:noFill/>
                  <a:ln w="9525">
                    <a:solidFill>
                      <a:srgbClr val="000000"/>
                    </a:solidFill>
                    <a:round/>
                    <a:headEnd/>
                    <a:tailEnd/>
                  </a:ln>
                </p:spPr>
              </p:cxnSp>
              <p:cxnSp>
                <p:nvCxnSpPr>
                  <p:cNvPr id="4165" name="AutoShape 69"/>
                  <p:cNvCxnSpPr>
                    <a:cxnSpLocks noChangeShapeType="1"/>
                  </p:cNvCxnSpPr>
                  <p:nvPr/>
                </p:nvCxnSpPr>
                <p:spPr bwMode="auto">
                  <a:xfrm>
                    <a:off x="3033" y="2635"/>
                    <a:ext cx="1" cy="405"/>
                  </a:xfrm>
                  <a:prstGeom prst="straightConnector1">
                    <a:avLst/>
                  </a:prstGeom>
                  <a:noFill/>
                  <a:ln w="9525">
                    <a:solidFill>
                      <a:srgbClr val="000000"/>
                    </a:solidFill>
                    <a:round/>
                    <a:headEnd/>
                    <a:tailEnd/>
                  </a:ln>
                </p:spPr>
              </p:cxnSp>
              <p:cxnSp>
                <p:nvCxnSpPr>
                  <p:cNvPr id="4166" name="AutoShape 70"/>
                  <p:cNvCxnSpPr>
                    <a:cxnSpLocks noChangeShapeType="1"/>
                  </p:cNvCxnSpPr>
                  <p:nvPr/>
                </p:nvCxnSpPr>
                <p:spPr bwMode="auto">
                  <a:xfrm>
                    <a:off x="3153" y="2635"/>
                    <a:ext cx="1" cy="405"/>
                  </a:xfrm>
                  <a:prstGeom prst="straightConnector1">
                    <a:avLst/>
                  </a:prstGeom>
                  <a:noFill/>
                  <a:ln w="9525">
                    <a:solidFill>
                      <a:srgbClr val="000000"/>
                    </a:solidFill>
                    <a:round/>
                    <a:headEnd/>
                    <a:tailEnd/>
                  </a:ln>
                </p:spPr>
              </p:cxnSp>
              <p:cxnSp>
                <p:nvCxnSpPr>
                  <p:cNvPr id="4167" name="AutoShape 71"/>
                  <p:cNvCxnSpPr>
                    <a:cxnSpLocks noChangeShapeType="1"/>
                  </p:cNvCxnSpPr>
                  <p:nvPr/>
                </p:nvCxnSpPr>
                <p:spPr bwMode="auto">
                  <a:xfrm>
                    <a:off x="3888" y="2635"/>
                    <a:ext cx="1" cy="405"/>
                  </a:xfrm>
                  <a:prstGeom prst="straightConnector1">
                    <a:avLst/>
                  </a:prstGeom>
                  <a:noFill/>
                  <a:ln w="9525">
                    <a:solidFill>
                      <a:srgbClr val="000000"/>
                    </a:solidFill>
                    <a:round/>
                    <a:headEnd/>
                    <a:tailEnd/>
                  </a:ln>
                </p:spPr>
              </p:cxnSp>
              <p:cxnSp>
                <p:nvCxnSpPr>
                  <p:cNvPr id="4168" name="AutoShape 72"/>
                  <p:cNvCxnSpPr>
                    <a:cxnSpLocks noChangeShapeType="1"/>
                  </p:cNvCxnSpPr>
                  <p:nvPr/>
                </p:nvCxnSpPr>
                <p:spPr bwMode="auto">
                  <a:xfrm>
                    <a:off x="4008" y="2635"/>
                    <a:ext cx="1" cy="405"/>
                  </a:xfrm>
                  <a:prstGeom prst="straightConnector1">
                    <a:avLst/>
                  </a:prstGeom>
                  <a:noFill/>
                  <a:ln w="9525">
                    <a:solidFill>
                      <a:srgbClr val="000000"/>
                    </a:solidFill>
                    <a:round/>
                    <a:headEnd/>
                    <a:tailEnd/>
                  </a:ln>
                </p:spPr>
              </p:cxnSp>
            </p:grpSp>
            <p:cxnSp>
              <p:nvCxnSpPr>
                <p:cNvPr id="4169" name="AutoShape 73"/>
                <p:cNvCxnSpPr>
                  <a:cxnSpLocks noChangeShapeType="1"/>
                </p:cNvCxnSpPr>
                <p:nvPr/>
              </p:nvCxnSpPr>
              <p:spPr bwMode="auto">
                <a:xfrm>
                  <a:off x="8594" y="3950"/>
                  <a:ext cx="395" cy="1"/>
                </a:xfrm>
                <a:prstGeom prst="straightConnector1">
                  <a:avLst/>
                </a:prstGeom>
                <a:noFill/>
                <a:ln w="9525">
                  <a:solidFill>
                    <a:srgbClr val="000000"/>
                  </a:solidFill>
                  <a:round/>
                  <a:headEnd/>
                  <a:tailEnd type="triangle" w="med" len="med"/>
                </a:ln>
              </p:spPr>
            </p:cxnSp>
            <p:cxnSp>
              <p:nvCxnSpPr>
                <p:cNvPr id="4170" name="AutoShape 74"/>
                <p:cNvCxnSpPr>
                  <a:cxnSpLocks noChangeShapeType="1"/>
                </p:cNvCxnSpPr>
                <p:nvPr/>
              </p:nvCxnSpPr>
              <p:spPr bwMode="auto">
                <a:xfrm>
                  <a:off x="6024" y="2957"/>
                  <a:ext cx="1" cy="403"/>
                </a:xfrm>
                <a:prstGeom prst="straightConnector1">
                  <a:avLst/>
                </a:prstGeom>
                <a:noFill/>
                <a:ln w="9525">
                  <a:solidFill>
                    <a:srgbClr val="000000"/>
                  </a:solidFill>
                  <a:round/>
                  <a:headEnd/>
                  <a:tailEnd/>
                </a:ln>
              </p:spPr>
            </p:cxnSp>
            <p:cxnSp>
              <p:nvCxnSpPr>
                <p:cNvPr id="4171" name="AutoShape 75"/>
                <p:cNvCxnSpPr>
                  <a:cxnSpLocks noChangeShapeType="1"/>
                </p:cNvCxnSpPr>
                <p:nvPr/>
              </p:nvCxnSpPr>
              <p:spPr bwMode="auto">
                <a:xfrm>
                  <a:off x="5087" y="2659"/>
                  <a:ext cx="1" cy="403"/>
                </a:xfrm>
                <a:prstGeom prst="straightConnector1">
                  <a:avLst/>
                </a:prstGeom>
                <a:noFill/>
                <a:ln w="9525">
                  <a:solidFill>
                    <a:srgbClr val="000000"/>
                  </a:solidFill>
                  <a:round/>
                  <a:headEnd/>
                  <a:tailEnd/>
                </a:ln>
              </p:spPr>
            </p:cxnSp>
            <p:cxnSp>
              <p:nvCxnSpPr>
                <p:cNvPr id="4172" name="AutoShape 76"/>
                <p:cNvCxnSpPr>
                  <a:cxnSpLocks noChangeShapeType="1"/>
                </p:cNvCxnSpPr>
                <p:nvPr/>
              </p:nvCxnSpPr>
              <p:spPr bwMode="auto">
                <a:xfrm>
                  <a:off x="5398" y="2654"/>
                  <a:ext cx="1" cy="403"/>
                </a:xfrm>
                <a:prstGeom prst="straightConnector1">
                  <a:avLst/>
                </a:prstGeom>
                <a:noFill/>
                <a:ln w="9525">
                  <a:solidFill>
                    <a:srgbClr val="000000"/>
                  </a:solidFill>
                  <a:round/>
                  <a:headEnd/>
                  <a:tailEnd/>
                </a:ln>
              </p:spPr>
            </p:cxnSp>
            <p:cxnSp>
              <p:nvCxnSpPr>
                <p:cNvPr id="4173" name="AutoShape 77"/>
                <p:cNvCxnSpPr>
                  <a:cxnSpLocks noChangeShapeType="1"/>
                </p:cNvCxnSpPr>
                <p:nvPr/>
              </p:nvCxnSpPr>
              <p:spPr bwMode="auto">
                <a:xfrm>
                  <a:off x="5518" y="2654"/>
                  <a:ext cx="1" cy="403"/>
                </a:xfrm>
                <a:prstGeom prst="straightConnector1">
                  <a:avLst/>
                </a:prstGeom>
                <a:noFill/>
                <a:ln w="9525">
                  <a:solidFill>
                    <a:srgbClr val="000000"/>
                  </a:solidFill>
                  <a:round/>
                  <a:headEnd/>
                  <a:tailEnd/>
                </a:ln>
              </p:spPr>
            </p:cxnSp>
            <p:cxnSp>
              <p:nvCxnSpPr>
                <p:cNvPr id="4174" name="AutoShape 78"/>
                <p:cNvCxnSpPr>
                  <a:cxnSpLocks noChangeShapeType="1"/>
                </p:cNvCxnSpPr>
                <p:nvPr/>
              </p:nvCxnSpPr>
              <p:spPr bwMode="auto">
                <a:xfrm>
                  <a:off x="5463" y="2971"/>
                  <a:ext cx="1" cy="144"/>
                </a:xfrm>
                <a:prstGeom prst="straightConnector1">
                  <a:avLst/>
                </a:prstGeom>
                <a:noFill/>
                <a:ln w="9525">
                  <a:solidFill>
                    <a:srgbClr val="000000"/>
                  </a:solidFill>
                  <a:round/>
                  <a:headEnd/>
                  <a:tailEnd/>
                </a:ln>
              </p:spPr>
            </p:cxnSp>
            <p:cxnSp>
              <p:nvCxnSpPr>
                <p:cNvPr id="4175" name="AutoShape 79"/>
                <p:cNvCxnSpPr>
                  <a:cxnSpLocks noChangeShapeType="1"/>
                </p:cNvCxnSpPr>
                <p:nvPr/>
              </p:nvCxnSpPr>
              <p:spPr bwMode="auto">
                <a:xfrm>
                  <a:off x="5632" y="2656"/>
                  <a:ext cx="1" cy="403"/>
                </a:xfrm>
                <a:prstGeom prst="straightConnector1">
                  <a:avLst/>
                </a:prstGeom>
                <a:noFill/>
                <a:ln w="9525">
                  <a:solidFill>
                    <a:srgbClr val="000000"/>
                  </a:solidFill>
                  <a:round/>
                  <a:headEnd/>
                  <a:tailEnd/>
                </a:ln>
              </p:spPr>
            </p:cxnSp>
            <p:cxnSp>
              <p:nvCxnSpPr>
                <p:cNvPr id="4176" name="AutoShape 80"/>
                <p:cNvCxnSpPr>
                  <a:cxnSpLocks noChangeShapeType="1"/>
                </p:cNvCxnSpPr>
                <p:nvPr/>
              </p:nvCxnSpPr>
              <p:spPr bwMode="auto">
                <a:xfrm>
                  <a:off x="5969" y="2645"/>
                  <a:ext cx="1" cy="403"/>
                </a:xfrm>
                <a:prstGeom prst="straightConnector1">
                  <a:avLst/>
                </a:prstGeom>
                <a:noFill/>
                <a:ln w="9525">
                  <a:solidFill>
                    <a:srgbClr val="000000"/>
                  </a:solidFill>
                  <a:round/>
                  <a:headEnd/>
                  <a:tailEnd/>
                </a:ln>
              </p:spPr>
            </p:cxnSp>
            <p:cxnSp>
              <p:nvCxnSpPr>
                <p:cNvPr id="4177" name="AutoShape 81"/>
                <p:cNvCxnSpPr>
                  <a:cxnSpLocks noChangeShapeType="1"/>
                </p:cNvCxnSpPr>
                <p:nvPr/>
              </p:nvCxnSpPr>
              <p:spPr bwMode="auto">
                <a:xfrm>
                  <a:off x="6089" y="2645"/>
                  <a:ext cx="1" cy="403"/>
                </a:xfrm>
                <a:prstGeom prst="straightConnector1">
                  <a:avLst/>
                </a:prstGeom>
                <a:noFill/>
                <a:ln w="9525">
                  <a:solidFill>
                    <a:srgbClr val="000000"/>
                  </a:solidFill>
                  <a:round/>
                  <a:headEnd/>
                  <a:tailEnd/>
                </a:ln>
              </p:spPr>
            </p:cxnSp>
            <p:cxnSp>
              <p:nvCxnSpPr>
                <p:cNvPr id="4178" name="AutoShape 82"/>
                <p:cNvCxnSpPr>
                  <a:cxnSpLocks noChangeShapeType="1"/>
                </p:cNvCxnSpPr>
                <p:nvPr/>
              </p:nvCxnSpPr>
              <p:spPr bwMode="auto">
                <a:xfrm>
                  <a:off x="6203" y="2647"/>
                  <a:ext cx="1" cy="403"/>
                </a:xfrm>
                <a:prstGeom prst="straightConnector1">
                  <a:avLst/>
                </a:prstGeom>
                <a:noFill/>
                <a:ln w="9525">
                  <a:solidFill>
                    <a:srgbClr val="000000"/>
                  </a:solidFill>
                  <a:round/>
                  <a:headEnd/>
                  <a:tailEnd/>
                </a:ln>
              </p:spPr>
            </p:cxnSp>
            <p:cxnSp>
              <p:nvCxnSpPr>
                <p:cNvPr id="4179" name="AutoShape 83"/>
                <p:cNvCxnSpPr>
                  <a:cxnSpLocks noChangeShapeType="1"/>
                </p:cNvCxnSpPr>
                <p:nvPr/>
              </p:nvCxnSpPr>
              <p:spPr bwMode="auto">
                <a:xfrm>
                  <a:off x="5028" y="2959"/>
                  <a:ext cx="1" cy="285"/>
                </a:xfrm>
                <a:prstGeom prst="straightConnector1">
                  <a:avLst/>
                </a:prstGeom>
                <a:noFill/>
                <a:ln w="9525">
                  <a:solidFill>
                    <a:srgbClr val="000000"/>
                  </a:solidFill>
                  <a:round/>
                  <a:headEnd/>
                  <a:tailEnd type="triangle" w="med" len="med"/>
                </a:ln>
              </p:spPr>
            </p:cxnSp>
            <p:cxnSp>
              <p:nvCxnSpPr>
                <p:cNvPr id="4180" name="AutoShape 84"/>
                <p:cNvCxnSpPr>
                  <a:cxnSpLocks noChangeShapeType="1"/>
                </p:cNvCxnSpPr>
                <p:nvPr/>
              </p:nvCxnSpPr>
              <p:spPr bwMode="auto">
                <a:xfrm>
                  <a:off x="6153" y="2974"/>
                  <a:ext cx="1" cy="285"/>
                </a:xfrm>
                <a:prstGeom prst="straightConnector1">
                  <a:avLst/>
                </a:prstGeom>
                <a:noFill/>
                <a:ln w="9525">
                  <a:solidFill>
                    <a:srgbClr val="000000"/>
                  </a:solidFill>
                  <a:round/>
                  <a:headEnd/>
                  <a:tailEnd type="triangle" w="med" len="med"/>
                </a:ln>
              </p:spPr>
            </p:cxnSp>
            <p:cxnSp>
              <p:nvCxnSpPr>
                <p:cNvPr id="4181" name="AutoShape 85"/>
                <p:cNvCxnSpPr>
                  <a:cxnSpLocks noChangeShapeType="1"/>
                </p:cNvCxnSpPr>
                <p:nvPr/>
              </p:nvCxnSpPr>
              <p:spPr bwMode="auto">
                <a:xfrm>
                  <a:off x="5583" y="2959"/>
                  <a:ext cx="1" cy="285"/>
                </a:xfrm>
                <a:prstGeom prst="straightConnector1">
                  <a:avLst/>
                </a:prstGeom>
                <a:noFill/>
                <a:ln w="9525">
                  <a:solidFill>
                    <a:srgbClr val="000000"/>
                  </a:solidFill>
                  <a:round/>
                  <a:headEnd/>
                  <a:tailEnd type="triangle" w="med" len="med"/>
                </a:ln>
              </p:spPr>
            </p:cxnSp>
            <p:cxnSp>
              <p:nvCxnSpPr>
                <p:cNvPr id="4182" name="AutoShape 86"/>
                <p:cNvCxnSpPr>
                  <a:cxnSpLocks noChangeShapeType="1"/>
                </p:cNvCxnSpPr>
                <p:nvPr/>
              </p:nvCxnSpPr>
              <p:spPr bwMode="auto">
                <a:xfrm>
                  <a:off x="6025" y="3360"/>
                  <a:ext cx="1131" cy="376"/>
                </a:xfrm>
                <a:prstGeom prst="straightConnector1">
                  <a:avLst/>
                </a:prstGeom>
                <a:noFill/>
                <a:ln w="9525">
                  <a:solidFill>
                    <a:srgbClr val="000000"/>
                  </a:solidFill>
                  <a:round/>
                  <a:headEnd/>
                  <a:tailEnd type="triangle" w="med" len="med"/>
                </a:ln>
              </p:spPr>
            </p:cxnSp>
          </p:grpSp>
          <p:cxnSp>
            <p:nvCxnSpPr>
              <p:cNvPr id="4183" name="AutoShape 87"/>
              <p:cNvCxnSpPr>
                <a:cxnSpLocks noChangeShapeType="1"/>
              </p:cNvCxnSpPr>
              <p:nvPr/>
            </p:nvCxnSpPr>
            <p:spPr bwMode="auto">
              <a:xfrm>
                <a:off x="2102" y="3758"/>
                <a:ext cx="1" cy="288"/>
              </a:xfrm>
              <a:prstGeom prst="straightConnector1">
                <a:avLst/>
              </a:prstGeom>
              <a:noFill/>
              <a:ln w="9525">
                <a:solidFill>
                  <a:srgbClr val="000000"/>
                </a:solidFill>
                <a:round/>
                <a:headEnd/>
                <a:tailEnd type="triangle" w="med" len="med"/>
              </a:ln>
            </p:spPr>
          </p:cxnSp>
          <p:cxnSp>
            <p:nvCxnSpPr>
              <p:cNvPr id="4184" name="AutoShape 88"/>
              <p:cNvCxnSpPr>
                <a:cxnSpLocks noChangeShapeType="1"/>
              </p:cNvCxnSpPr>
              <p:nvPr/>
            </p:nvCxnSpPr>
            <p:spPr bwMode="auto">
              <a:xfrm>
                <a:off x="4397" y="3758"/>
                <a:ext cx="1" cy="288"/>
              </a:xfrm>
              <a:prstGeom prst="straightConnector1">
                <a:avLst/>
              </a:prstGeom>
              <a:noFill/>
              <a:ln w="9525">
                <a:solidFill>
                  <a:srgbClr val="000000"/>
                </a:solidFill>
                <a:round/>
                <a:headEnd/>
                <a:tailEnd type="triangle" w="med" len="med"/>
              </a:ln>
            </p:spPr>
          </p:cxnSp>
          <p:cxnSp>
            <p:nvCxnSpPr>
              <p:cNvPr id="4185" name="AutoShape 89"/>
              <p:cNvCxnSpPr>
                <a:cxnSpLocks noChangeShapeType="1"/>
              </p:cNvCxnSpPr>
              <p:nvPr/>
            </p:nvCxnSpPr>
            <p:spPr bwMode="auto">
              <a:xfrm>
                <a:off x="2552" y="3758"/>
                <a:ext cx="1" cy="288"/>
              </a:xfrm>
              <a:prstGeom prst="straightConnector1">
                <a:avLst/>
              </a:prstGeom>
              <a:noFill/>
              <a:ln w="9525">
                <a:solidFill>
                  <a:srgbClr val="000000"/>
                </a:solidFill>
                <a:round/>
                <a:headEnd/>
                <a:tailEnd type="triangle" w="med" len="med"/>
              </a:ln>
            </p:spPr>
          </p:cxnSp>
          <p:cxnSp>
            <p:nvCxnSpPr>
              <p:cNvPr id="4186" name="AutoShape 90"/>
              <p:cNvCxnSpPr>
                <a:cxnSpLocks noChangeShapeType="1"/>
              </p:cNvCxnSpPr>
              <p:nvPr/>
            </p:nvCxnSpPr>
            <p:spPr bwMode="auto">
              <a:xfrm>
                <a:off x="4862" y="3773"/>
                <a:ext cx="1" cy="288"/>
              </a:xfrm>
              <a:prstGeom prst="straightConnector1">
                <a:avLst/>
              </a:prstGeom>
              <a:noFill/>
              <a:ln w="9525">
                <a:solidFill>
                  <a:srgbClr val="000000"/>
                </a:solidFill>
                <a:round/>
                <a:headEnd/>
                <a:tailEnd type="triangle" w="med" len="med"/>
              </a:ln>
            </p:spPr>
          </p:cxnSp>
          <p:cxnSp>
            <p:nvCxnSpPr>
              <p:cNvPr id="4187" name="AutoShape 91"/>
              <p:cNvCxnSpPr>
                <a:cxnSpLocks noChangeShapeType="1"/>
              </p:cNvCxnSpPr>
              <p:nvPr/>
            </p:nvCxnSpPr>
            <p:spPr bwMode="auto">
              <a:xfrm>
                <a:off x="6670" y="3755"/>
                <a:ext cx="1" cy="288"/>
              </a:xfrm>
              <a:prstGeom prst="straightConnector1">
                <a:avLst/>
              </a:prstGeom>
              <a:noFill/>
              <a:ln w="9525">
                <a:solidFill>
                  <a:srgbClr val="000000"/>
                </a:solidFill>
                <a:round/>
                <a:headEnd/>
                <a:tailEnd type="triangle" w="med" len="med"/>
              </a:ln>
            </p:spPr>
          </p:cxnSp>
          <p:cxnSp>
            <p:nvCxnSpPr>
              <p:cNvPr id="4188" name="AutoShape 92"/>
              <p:cNvCxnSpPr>
                <a:cxnSpLocks noChangeShapeType="1"/>
              </p:cNvCxnSpPr>
              <p:nvPr/>
            </p:nvCxnSpPr>
            <p:spPr bwMode="auto">
              <a:xfrm>
                <a:off x="7143" y="3751"/>
                <a:ext cx="1" cy="288"/>
              </a:xfrm>
              <a:prstGeom prst="straightConnector1">
                <a:avLst/>
              </a:prstGeom>
              <a:noFill/>
              <a:ln w="9525">
                <a:solidFill>
                  <a:srgbClr val="000000"/>
                </a:solidFill>
                <a:round/>
                <a:headEnd/>
                <a:tailEnd type="triangle" w="med" len="med"/>
              </a:ln>
            </p:spPr>
          </p:cxnSp>
          <p:cxnSp>
            <p:nvCxnSpPr>
              <p:cNvPr id="4189" name="AutoShape 93"/>
              <p:cNvCxnSpPr>
                <a:cxnSpLocks noChangeShapeType="1"/>
              </p:cNvCxnSpPr>
              <p:nvPr/>
            </p:nvCxnSpPr>
            <p:spPr bwMode="auto">
              <a:xfrm>
                <a:off x="8989" y="3758"/>
                <a:ext cx="1" cy="288"/>
              </a:xfrm>
              <a:prstGeom prst="straightConnector1">
                <a:avLst/>
              </a:prstGeom>
              <a:noFill/>
              <a:ln w="9525">
                <a:solidFill>
                  <a:srgbClr val="000000"/>
                </a:solidFill>
                <a:round/>
                <a:headEnd/>
                <a:tailEnd type="triangle" w="med" len="med"/>
              </a:ln>
            </p:spPr>
          </p:cxnSp>
        </p:gr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343399"/>
          </a:xfrm>
          <a:prstGeom prst="rect">
            <a:avLst/>
          </a:prstGeom>
        </p:spPr>
        <p:txBody>
          <a:bodyPr/>
          <a:lstStyle/>
          <a:p>
            <a:pPr>
              <a:lnSpc>
                <a:spcPct val="150000"/>
              </a:lnSpc>
              <a:spcAft>
                <a:spcPts val="600"/>
              </a:spcAft>
              <a:buFont typeface="Wingdings" pitchFamily="2" charset="2"/>
              <a:buChar char="q"/>
            </a:pPr>
            <a:r>
              <a:rPr lang="en-US" sz="2000" b="1" dirty="0" smtClean="0">
                <a:latin typeface="Times New Roman" pitchFamily="18" charset="0"/>
                <a:cs typeface="Times New Roman" pitchFamily="18" charset="0"/>
              </a:rPr>
              <a:t>Hashing</a:t>
            </a: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One disadvantage of sequential file organization is that we must use an index structure to locate data. File organizations based on the technique of hashing allow us to avoid accessing an index structure. Hashing also provides a way of constructing indices.</a:t>
            </a: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File organizations based on hashing allow us to find the address of a data item directly by computing a function on the search-key value of the desired record.</a:t>
            </a:r>
          </a:p>
          <a:p>
            <a:pPr>
              <a:lnSpc>
                <a:spcPct val="150000"/>
              </a:lnSpc>
              <a:spcAft>
                <a:spcPts val="600"/>
              </a:spcAft>
              <a:buNone/>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5719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Hash File Organization</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In a hash file organization, we obtain the address of the disk block, also called the bucket containing a desired record directly by computing a function on the search-key value of the record.</a:t>
            </a:r>
          </a:p>
          <a:p>
            <a:pPr lvl="1">
              <a:spcAft>
                <a:spcPts val="600"/>
              </a:spcAft>
              <a:buFont typeface="Wingdings" pitchFamily="2" charset="2"/>
              <a:buChar char="Ø"/>
            </a:pPr>
            <a:r>
              <a:rPr lang="en-US" sz="2000" dirty="0" smtClean="0">
                <a:latin typeface="Times New Roman" pitchFamily="18" charset="0"/>
                <a:cs typeface="Times New Roman" pitchFamily="18" charset="0"/>
              </a:rPr>
              <a:t>Let </a:t>
            </a:r>
            <a:r>
              <a:rPr lang="en-US" sz="2000" i="1" dirty="0" smtClean="0">
                <a:latin typeface="Times New Roman" pitchFamily="18" charset="0"/>
                <a:cs typeface="Times New Roman" pitchFamily="18" charset="0"/>
              </a:rPr>
              <a:t>K </a:t>
            </a:r>
            <a:r>
              <a:rPr lang="en-US" sz="2000" dirty="0" smtClean="0">
                <a:latin typeface="Times New Roman" pitchFamily="18" charset="0"/>
                <a:cs typeface="Times New Roman" pitchFamily="18" charset="0"/>
              </a:rPr>
              <a:t>denote the set of all search-key values, and let </a:t>
            </a:r>
            <a:r>
              <a:rPr lang="en-US" sz="2000" i="1" dirty="0" smtClean="0">
                <a:latin typeface="Times New Roman" pitchFamily="18" charset="0"/>
                <a:cs typeface="Times New Roman" pitchFamily="18" charset="0"/>
              </a:rPr>
              <a:t>B </a:t>
            </a:r>
            <a:r>
              <a:rPr lang="en-US" sz="2000" dirty="0" smtClean="0">
                <a:latin typeface="Times New Roman" pitchFamily="18" charset="0"/>
                <a:cs typeface="Times New Roman" pitchFamily="18" charset="0"/>
              </a:rPr>
              <a:t>denote the set of all bucket addresses. A hash function </a:t>
            </a:r>
            <a:r>
              <a:rPr lang="en-US" sz="2000" i="1" dirty="0" smtClean="0">
                <a:latin typeface="Times New Roman" pitchFamily="18" charset="0"/>
                <a:cs typeface="Times New Roman" pitchFamily="18" charset="0"/>
              </a:rPr>
              <a:t>h </a:t>
            </a:r>
            <a:r>
              <a:rPr lang="en-US" sz="2000" dirty="0" smtClean="0">
                <a:latin typeface="Times New Roman" pitchFamily="18" charset="0"/>
                <a:cs typeface="Times New Roman" pitchFamily="18" charset="0"/>
              </a:rPr>
              <a:t>is a function from </a:t>
            </a:r>
            <a:r>
              <a:rPr lang="en-US" sz="2000" i="1" dirty="0" smtClean="0">
                <a:latin typeface="Times New Roman" pitchFamily="18" charset="0"/>
                <a:cs typeface="Times New Roman" pitchFamily="18" charset="0"/>
              </a:rPr>
              <a:t>K </a:t>
            </a:r>
            <a:r>
              <a:rPr lang="en-US" sz="2000" dirty="0" smtClean="0">
                <a:latin typeface="Times New Roman" pitchFamily="18" charset="0"/>
                <a:cs typeface="Times New Roman" pitchFamily="18" charset="0"/>
              </a:rPr>
              <a:t>to </a:t>
            </a:r>
            <a:r>
              <a:rPr lang="en-US" sz="2000" i="1" dirty="0"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 Let </a:t>
            </a:r>
            <a:r>
              <a:rPr lang="en-US" sz="2000" i="1" dirty="0" smtClean="0">
                <a:latin typeface="Times New Roman" pitchFamily="18" charset="0"/>
                <a:cs typeface="Times New Roman" pitchFamily="18" charset="0"/>
              </a:rPr>
              <a:t>h </a:t>
            </a:r>
            <a:r>
              <a:rPr lang="en-US" sz="2000" dirty="0" smtClean="0">
                <a:latin typeface="Times New Roman" pitchFamily="18" charset="0"/>
                <a:cs typeface="Times New Roman" pitchFamily="18" charset="0"/>
              </a:rPr>
              <a:t>denote a hash function.</a:t>
            </a:r>
          </a:p>
          <a:p>
            <a:pPr lvl="1">
              <a:spcAft>
                <a:spcPts val="600"/>
              </a:spcAft>
              <a:buFont typeface="Wingdings" pitchFamily="2" charset="2"/>
              <a:buChar char="Ø"/>
            </a:pPr>
            <a:r>
              <a:rPr lang="en-US" sz="2000" dirty="0" smtClean="0">
                <a:latin typeface="Times New Roman" pitchFamily="18" charset="0"/>
                <a:cs typeface="Times New Roman" pitchFamily="18" charset="0"/>
              </a:rPr>
              <a:t>To insert a record with search key </a:t>
            </a:r>
            <a:r>
              <a:rPr lang="en-US" sz="2000" i="1" dirty="0" err="1" smtClean="0">
                <a:latin typeface="Times New Roman" pitchFamily="18" charset="0"/>
                <a:cs typeface="Times New Roman" pitchFamily="18" charset="0"/>
              </a:rPr>
              <a:t>K</a:t>
            </a:r>
            <a:r>
              <a:rPr lang="en-US" sz="2000" i="1" baseline="-25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we compute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err="1" smtClean="0">
                <a:latin typeface="Times New Roman" pitchFamily="18" charset="0"/>
                <a:cs typeface="Times New Roman" pitchFamily="18" charset="0"/>
              </a:rPr>
              <a:t>K</a:t>
            </a:r>
            <a:r>
              <a:rPr lang="en-US" sz="2000" i="1" baseline="-25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which gives the address of the bucket for that record. Assume for now that there is space in the bucket to store the record. Then, the record is stored in that bucket.</a:t>
            </a:r>
          </a:p>
          <a:p>
            <a:pPr>
              <a:spcAft>
                <a:spcPts val="600"/>
              </a:spcAft>
              <a:buNone/>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571999"/>
          </a:xfrm>
          <a:prstGeom prst="rect">
            <a:avLst/>
          </a:prstGeom>
        </p:spPr>
        <p:txBody>
          <a:bodyPr/>
          <a:lstStyle/>
          <a:p>
            <a:pPr>
              <a:lnSpc>
                <a:spcPct val="150000"/>
              </a:lnSpc>
              <a:spcAft>
                <a:spcPts val="600"/>
              </a:spcAft>
              <a:buFont typeface="Wingdings" pitchFamily="2" charset="2"/>
              <a:buChar char="q"/>
            </a:pPr>
            <a:r>
              <a:rPr lang="en-US" sz="2000" b="1" dirty="0" smtClean="0">
                <a:latin typeface="Times New Roman" pitchFamily="18" charset="0"/>
                <a:cs typeface="Times New Roman" pitchFamily="18" charset="0"/>
              </a:rPr>
              <a:t>Hash File Organization</a:t>
            </a:r>
            <a:endParaRPr lang="en-US" sz="2000" dirty="0" smtClean="0">
              <a:latin typeface="Times New Roman" pitchFamily="18" charset="0"/>
              <a:cs typeface="Times New Roman" pitchFamily="18" charset="0"/>
            </a:endParaRP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To perform a lookup on a search-key value </a:t>
            </a:r>
            <a:r>
              <a:rPr lang="en-US" sz="2000" i="1" dirty="0" err="1" smtClean="0">
                <a:latin typeface="Times New Roman" pitchFamily="18" charset="0"/>
                <a:cs typeface="Times New Roman" pitchFamily="18" charset="0"/>
              </a:rPr>
              <a:t>K</a:t>
            </a:r>
            <a:r>
              <a:rPr lang="en-US" sz="2000" i="1" baseline="-25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we simply compute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err="1" smtClean="0">
                <a:latin typeface="Times New Roman" pitchFamily="18" charset="0"/>
                <a:cs typeface="Times New Roman" pitchFamily="18" charset="0"/>
              </a:rPr>
              <a:t>K</a:t>
            </a:r>
            <a:r>
              <a:rPr lang="en-US" sz="2000" i="1" baseline="-25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then search the bucket with that address. Suppose that two search keys,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5</a:t>
            </a:r>
            <a:r>
              <a:rPr lang="en-US" sz="2000" dirty="0" smtClean="0">
                <a:latin typeface="Times New Roman" pitchFamily="18" charset="0"/>
                <a:cs typeface="Times New Roman" pitchFamily="18" charset="0"/>
              </a:rPr>
              <a:t> and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7</a:t>
            </a:r>
            <a:r>
              <a:rPr lang="en-US" sz="2000" dirty="0" smtClean="0">
                <a:latin typeface="Times New Roman" pitchFamily="18" charset="0"/>
                <a:cs typeface="Times New Roman" pitchFamily="18" charset="0"/>
              </a:rPr>
              <a:t>, have the same hash value; that is,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5</a:t>
            </a:r>
            <a:r>
              <a:rPr lang="en-US" sz="2000" dirty="0" smtClean="0">
                <a:latin typeface="Times New Roman" pitchFamily="18" charset="0"/>
                <a:cs typeface="Times New Roman" pitchFamily="18" charset="0"/>
              </a:rPr>
              <a:t>) =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7</a:t>
            </a:r>
            <a:r>
              <a:rPr lang="en-US" sz="2000" dirty="0" smtClean="0">
                <a:latin typeface="Times New Roman" pitchFamily="18" charset="0"/>
                <a:cs typeface="Times New Roman" pitchFamily="18" charset="0"/>
              </a:rPr>
              <a:t>). If we perform a lookup on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5</a:t>
            </a:r>
            <a:r>
              <a:rPr lang="en-US" sz="2000" dirty="0" smtClean="0">
                <a:latin typeface="Times New Roman" pitchFamily="18" charset="0"/>
                <a:cs typeface="Times New Roman" pitchFamily="18" charset="0"/>
              </a:rPr>
              <a:t>, the bucket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5</a:t>
            </a:r>
            <a:r>
              <a:rPr lang="en-US" sz="2000" dirty="0" smtClean="0">
                <a:latin typeface="Times New Roman" pitchFamily="18" charset="0"/>
                <a:cs typeface="Times New Roman" pitchFamily="18" charset="0"/>
              </a:rPr>
              <a:t>) contains records with search-key values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5</a:t>
            </a:r>
            <a:r>
              <a:rPr lang="en-US" sz="2000" dirty="0" smtClean="0">
                <a:latin typeface="Times New Roman" pitchFamily="18" charset="0"/>
                <a:cs typeface="Times New Roman" pitchFamily="18" charset="0"/>
              </a:rPr>
              <a:t> and records with search key values </a:t>
            </a:r>
            <a:r>
              <a:rPr lang="en-US" sz="2000" i="1" dirty="0" smtClean="0">
                <a:latin typeface="Times New Roman" pitchFamily="18" charset="0"/>
                <a:cs typeface="Times New Roman" pitchFamily="18" charset="0"/>
              </a:rPr>
              <a:t>K</a:t>
            </a:r>
            <a:r>
              <a:rPr lang="en-US" sz="2000" baseline="-25000" dirty="0" smtClean="0">
                <a:latin typeface="Times New Roman" pitchFamily="18" charset="0"/>
                <a:cs typeface="Times New Roman" pitchFamily="18" charset="0"/>
              </a:rPr>
              <a:t>7</a:t>
            </a:r>
            <a:r>
              <a:rPr lang="en-US" sz="2000" dirty="0" smtClean="0">
                <a:latin typeface="Times New Roman" pitchFamily="18" charset="0"/>
                <a:cs typeface="Times New Roman" pitchFamily="18" charset="0"/>
              </a:rPr>
              <a:t>. Thus, we have to check the search-key value of every record in the bucket to verify that the record is one that we want.</a:t>
            </a:r>
          </a:p>
          <a:p>
            <a:pPr>
              <a:lnSpc>
                <a:spcPct val="150000"/>
              </a:lnSpc>
              <a:spcAft>
                <a:spcPts val="600"/>
              </a:spcAft>
              <a:buNone/>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6481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Hash File Organization: An Example</a:t>
            </a:r>
            <a:endParaRPr lang="en-US" sz="2000" dirty="0" smtClean="0">
              <a:latin typeface="Times New Roman" pitchFamily="18" charset="0"/>
              <a:cs typeface="Times New Roman" pitchFamily="18" charset="0"/>
            </a:endParaRPr>
          </a:p>
          <a:p>
            <a:pPr lvl="1">
              <a:spcAft>
                <a:spcPts val="600"/>
              </a:spcAft>
            </a:pPr>
            <a:endParaRPr lang="en-US" sz="2000" dirty="0" smtClean="0">
              <a:latin typeface="Times New Roman" pitchFamily="18" charset="0"/>
              <a:cs typeface="Times New Roman" pitchFamily="18" charset="0"/>
            </a:endParaRPr>
          </a:p>
          <a:p>
            <a:pPr lvl="1">
              <a:spcAft>
                <a:spcPts val="600"/>
              </a:spcAft>
            </a:pPr>
            <a:r>
              <a:rPr lang="en-US" sz="2000" dirty="0" smtClean="0">
                <a:latin typeface="Times New Roman" pitchFamily="18" charset="0"/>
                <a:cs typeface="Times New Roman" pitchFamily="18" charset="0"/>
              </a:rPr>
              <a:t>Let us choose a hash function for the account file using the search key </a:t>
            </a:r>
            <a:r>
              <a:rPr lang="en-US" sz="2000" b="1" dirty="0" err="1" smtClean="0">
                <a:latin typeface="Times New Roman" pitchFamily="18" charset="0"/>
                <a:cs typeface="Times New Roman" pitchFamily="18" charset="0"/>
              </a:rPr>
              <a:t>branch_name</a:t>
            </a:r>
            <a:r>
              <a:rPr lang="en-US" sz="2000" dirty="0" smtClean="0">
                <a:latin typeface="Times New Roman" pitchFamily="18" charset="0"/>
                <a:cs typeface="Times New Roman" pitchFamily="18" charset="0"/>
              </a:rPr>
              <a:t>.</a:t>
            </a:r>
          </a:p>
          <a:p>
            <a:pPr lvl="1">
              <a:spcAft>
                <a:spcPts val="600"/>
              </a:spcAft>
            </a:pPr>
            <a:r>
              <a:rPr lang="en-US" sz="2000" dirty="0" smtClean="0">
                <a:latin typeface="Times New Roman" pitchFamily="18" charset="0"/>
                <a:cs typeface="Times New Roman" pitchFamily="18" charset="0"/>
              </a:rPr>
              <a:t>Suppose we have </a:t>
            </a:r>
            <a:r>
              <a:rPr lang="en-US" sz="2000" dirty="0" smtClean="0">
                <a:solidFill>
                  <a:srgbClr val="FF0000"/>
                </a:solidFill>
                <a:latin typeface="Times New Roman" pitchFamily="18" charset="0"/>
                <a:cs typeface="Times New Roman" pitchFamily="18" charset="0"/>
              </a:rPr>
              <a:t>26 buckets</a:t>
            </a:r>
            <a:r>
              <a:rPr lang="en-US" sz="2000" dirty="0" smtClean="0">
                <a:latin typeface="Times New Roman" pitchFamily="18" charset="0"/>
                <a:cs typeface="Times New Roman" pitchFamily="18" charset="0"/>
              </a:rPr>
              <a:t> and we define a hash function that maps names beginning with the </a:t>
            </a:r>
            <a:r>
              <a:rPr lang="en-US" sz="2000" dirty="0" err="1" smtClean="0">
                <a:latin typeface="Times New Roman" pitchFamily="18" charset="0"/>
                <a:cs typeface="Times New Roman" pitchFamily="18" charset="0"/>
              </a:rPr>
              <a:t>ith</a:t>
            </a:r>
            <a:r>
              <a:rPr lang="en-US" sz="2000" dirty="0" smtClean="0">
                <a:latin typeface="Times New Roman" pitchFamily="18" charset="0"/>
                <a:cs typeface="Times New Roman" pitchFamily="18" charset="0"/>
              </a:rPr>
              <a:t> letter of the alphabet to the </a:t>
            </a:r>
            <a:r>
              <a:rPr lang="en-US" sz="2000" dirty="0" err="1" smtClean="0">
                <a:latin typeface="Times New Roman" pitchFamily="18" charset="0"/>
                <a:cs typeface="Times New Roman" pitchFamily="18" charset="0"/>
              </a:rPr>
              <a:t>ith</a:t>
            </a:r>
            <a:r>
              <a:rPr lang="en-US" sz="2000" dirty="0" smtClean="0">
                <a:latin typeface="Times New Roman" pitchFamily="18" charset="0"/>
                <a:cs typeface="Times New Roman" pitchFamily="18" charset="0"/>
              </a:rPr>
              <a:t> bucket.</a:t>
            </a:r>
          </a:p>
          <a:p>
            <a:pPr lvl="1">
              <a:spcAft>
                <a:spcPts val="600"/>
              </a:spcAft>
            </a:pPr>
            <a:r>
              <a:rPr lang="en-US" sz="2000" dirty="0" smtClean="0">
                <a:latin typeface="Times New Roman" pitchFamily="18" charset="0"/>
                <a:cs typeface="Times New Roman" pitchFamily="18" charset="0"/>
              </a:rPr>
              <a:t>This hash function has the virtue of simplicity, but it fails to provide a uniform distribution, since we expect more branch names to begin with such letters as B and R than Q and X.</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6481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Hash File Organization: An Example</a:t>
            </a:r>
            <a:endParaRPr lang="en-US" sz="2000" dirty="0" smtClean="0">
              <a:latin typeface="Times New Roman" pitchFamily="18" charset="0"/>
              <a:cs typeface="Times New Roman" pitchFamily="18" charset="0"/>
            </a:endParaRPr>
          </a:p>
          <a:p>
            <a:pPr lvl="1">
              <a:spcAft>
                <a:spcPts val="600"/>
              </a:spcAft>
            </a:pPr>
            <a:r>
              <a:rPr lang="en-US" sz="2000" dirty="0" smtClean="0">
                <a:latin typeface="Times New Roman" pitchFamily="18" charset="0"/>
                <a:cs typeface="Times New Roman" pitchFamily="18" charset="0"/>
              </a:rPr>
              <a:t>Instead, we consider </a:t>
            </a:r>
            <a:r>
              <a:rPr lang="en-US" sz="2000" dirty="0" smtClean="0">
                <a:solidFill>
                  <a:srgbClr val="FF0000"/>
                </a:solidFill>
                <a:latin typeface="Times New Roman" pitchFamily="18" charset="0"/>
                <a:cs typeface="Times New Roman" pitchFamily="18" charset="0"/>
              </a:rPr>
              <a:t>10 buckets</a:t>
            </a:r>
            <a:r>
              <a:rPr lang="en-US" sz="2000" dirty="0" smtClean="0">
                <a:latin typeface="Times New Roman" pitchFamily="18" charset="0"/>
                <a:cs typeface="Times New Roman" pitchFamily="18" charset="0"/>
              </a:rPr>
              <a:t> and a hash function that computes the sum of the binary representations of the characters of a key, then returns the sum modulo the number of buckets.</a:t>
            </a:r>
          </a:p>
          <a:p>
            <a:pPr lvl="1">
              <a:spcAft>
                <a:spcPts val="600"/>
              </a:spcAft>
            </a:pPr>
            <a:r>
              <a:rPr lang="en-US" sz="2000" dirty="0" smtClean="0">
                <a:latin typeface="Times New Roman" pitchFamily="18" charset="0"/>
                <a:cs typeface="Times New Roman" pitchFamily="18" charset="0"/>
              </a:rPr>
              <a:t>For branch name ‘</a:t>
            </a:r>
            <a:r>
              <a:rPr lang="en-US" sz="2000" dirty="0" err="1" smtClean="0">
                <a:latin typeface="Times New Roman" pitchFamily="18" charset="0"/>
                <a:cs typeface="Times New Roman" pitchFamily="18" charset="0"/>
              </a:rPr>
              <a:t>Perryridge</a:t>
            </a:r>
            <a:r>
              <a:rPr lang="en-US" sz="2000" dirty="0" smtClean="0">
                <a:latin typeface="Times New Roman" pitchFamily="18" charset="0"/>
                <a:cs typeface="Times New Roman" pitchFamily="18" charset="0"/>
              </a:rPr>
              <a:t>’</a:t>
            </a:r>
          </a:p>
          <a:p>
            <a:pPr lvl="1">
              <a:spcAft>
                <a:spcPts val="600"/>
              </a:spcAft>
              <a:buNone/>
            </a:pPr>
            <a:r>
              <a:rPr lang="en-US" sz="2000" dirty="0" smtClean="0">
                <a:latin typeface="Times New Roman" pitchFamily="18" charset="0"/>
                <a:cs typeface="Times New Roman" pitchFamily="18" charset="0"/>
              </a:rPr>
              <a:t>			Bucket no=</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Perryridge</a:t>
            </a:r>
            <a:r>
              <a:rPr lang="en-US" sz="2000" dirty="0" smtClean="0">
                <a:latin typeface="Times New Roman" pitchFamily="18" charset="0"/>
                <a:cs typeface="Times New Roman" pitchFamily="18" charset="0"/>
              </a:rPr>
              <a:t>) = 5 </a:t>
            </a:r>
          </a:p>
          <a:p>
            <a:pPr lvl="1">
              <a:spcAft>
                <a:spcPts val="600"/>
              </a:spcAft>
            </a:pPr>
            <a:r>
              <a:rPr lang="en-US" sz="2000" dirty="0" smtClean="0">
                <a:latin typeface="Times New Roman" pitchFamily="18" charset="0"/>
                <a:cs typeface="Times New Roman" pitchFamily="18" charset="0"/>
              </a:rPr>
              <a:t>For branch name ‘Round Hill’</a:t>
            </a:r>
          </a:p>
          <a:p>
            <a:pPr lvl="1">
              <a:spcAft>
                <a:spcPts val="600"/>
              </a:spcAft>
              <a:buNone/>
            </a:pPr>
            <a:r>
              <a:rPr lang="en-US" sz="2000" dirty="0" smtClean="0">
                <a:latin typeface="Times New Roman" pitchFamily="18" charset="0"/>
                <a:cs typeface="Times New Roman" pitchFamily="18" charset="0"/>
              </a:rPr>
              <a:t>			Bucket no=</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(Round Hill) = 3 </a:t>
            </a:r>
          </a:p>
          <a:p>
            <a:pPr lvl="1">
              <a:spcAft>
                <a:spcPts val="600"/>
              </a:spcAft>
            </a:pPr>
            <a:r>
              <a:rPr lang="en-US" sz="2000" dirty="0" smtClean="0">
                <a:latin typeface="Times New Roman" pitchFamily="18" charset="0"/>
                <a:cs typeface="Times New Roman" pitchFamily="18" charset="0"/>
              </a:rPr>
              <a:t>For branch name ‘Brighton’</a:t>
            </a:r>
          </a:p>
          <a:p>
            <a:pPr lvl="1">
              <a:spcAft>
                <a:spcPts val="600"/>
              </a:spcAft>
              <a:buNone/>
            </a:pPr>
            <a:r>
              <a:rPr lang="en-US" sz="2000" dirty="0" smtClean="0">
                <a:latin typeface="Times New Roman" pitchFamily="18" charset="0"/>
                <a:cs typeface="Times New Roman" pitchFamily="18" charset="0"/>
              </a:rPr>
              <a:t>			Bucket no=</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(Brighton) = 3 </a:t>
            </a:r>
          </a:p>
          <a:p>
            <a:pPr>
              <a:buNone/>
            </a:pPr>
            <a:endParaRPr lang="en-US" sz="16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6095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Hash File Organization: An Example</a:t>
            </a:r>
            <a:endParaRPr lang="en-US" sz="2000" dirty="0" smtClean="0">
              <a:latin typeface="Times New Roman" pitchFamily="18" charset="0"/>
              <a:cs typeface="Times New Roman" pitchFamily="18" charset="0"/>
            </a:endParaRPr>
          </a:p>
          <a:p>
            <a:pPr>
              <a:buNone/>
            </a:pPr>
            <a:endParaRPr lang="en-US" sz="16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5122" name="Picture 3"/>
          <p:cNvPicPr>
            <a:picLocks noChangeAspect="1" noChangeArrowheads="1"/>
          </p:cNvPicPr>
          <p:nvPr/>
        </p:nvPicPr>
        <p:blipFill>
          <a:blip r:embed="rId4"/>
          <a:srcRect/>
          <a:stretch>
            <a:fillRect/>
          </a:stretch>
        </p:blipFill>
        <p:spPr bwMode="auto">
          <a:xfrm>
            <a:off x="1295400" y="1889760"/>
            <a:ext cx="6324600" cy="45110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Handling of Bucket Overflows</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In case of insertion, if the bucket does not have enough space, a </a:t>
            </a:r>
            <a:r>
              <a:rPr lang="en-US" sz="2000" b="1" dirty="0" smtClean="0">
                <a:latin typeface="Times New Roman" pitchFamily="18" charset="0"/>
                <a:cs typeface="Times New Roman" pitchFamily="18" charset="0"/>
              </a:rPr>
              <a:t>bucket overflow </a:t>
            </a:r>
            <a:r>
              <a:rPr lang="en-US" sz="2000" dirty="0" smtClean="0">
                <a:latin typeface="Times New Roman" pitchFamily="18" charset="0"/>
                <a:cs typeface="Times New Roman" pitchFamily="18" charset="0"/>
              </a:rPr>
              <a:t>is said to occur. Bucket overflow can occur mainly for two reasons:</a:t>
            </a:r>
          </a:p>
          <a:p>
            <a:pPr lvl="1">
              <a:spcAft>
                <a:spcPts val="600"/>
              </a:spcAft>
              <a:buFont typeface="Wingdings" pitchFamily="2" charset="2"/>
              <a:buChar char="Ø"/>
            </a:pPr>
            <a:r>
              <a:rPr lang="en-US" sz="2000" b="1" dirty="0" smtClean="0">
                <a:latin typeface="Times New Roman" pitchFamily="18" charset="0"/>
                <a:cs typeface="Times New Roman" pitchFamily="18" charset="0"/>
              </a:rPr>
              <a:t>Insufficient buckets</a:t>
            </a:r>
            <a:r>
              <a:rPr lang="en-US" sz="2000" dirty="0" smtClean="0">
                <a:latin typeface="Times New Roman" pitchFamily="18" charset="0"/>
                <a:cs typeface="Times New Roman" pitchFamily="18" charset="0"/>
              </a:rPr>
              <a:t>. The number of buckets </a:t>
            </a:r>
            <a:r>
              <a:rPr lang="en-US" sz="2000" i="1" dirty="0" err="1" smtClean="0">
                <a:latin typeface="Times New Roman" pitchFamily="18" charset="0"/>
                <a:cs typeface="Times New Roman" pitchFamily="18" charset="0"/>
              </a:rPr>
              <a:t>n</a:t>
            </a:r>
            <a:r>
              <a:rPr lang="en-US" sz="2000" i="1" baseline="-25000" dirty="0" err="1" smtClean="0">
                <a:latin typeface="Times New Roman" pitchFamily="18" charset="0"/>
                <a:cs typeface="Times New Roman" pitchFamily="18" charset="0"/>
              </a:rPr>
              <a:t>B</a:t>
            </a:r>
            <a:r>
              <a:rPr lang="en-US" sz="2000" dirty="0" smtClean="0">
                <a:latin typeface="Times New Roman" pitchFamily="18" charset="0"/>
                <a:cs typeface="Times New Roman" pitchFamily="18" charset="0"/>
              </a:rPr>
              <a:t> must be chosen such that </a:t>
            </a:r>
            <a:r>
              <a:rPr lang="en-US" sz="2000" i="1" dirty="0" err="1" smtClean="0">
                <a:latin typeface="Times New Roman" pitchFamily="18" charset="0"/>
                <a:cs typeface="Times New Roman" pitchFamily="18" charset="0"/>
              </a:rPr>
              <a:t>n</a:t>
            </a:r>
            <a:r>
              <a:rPr lang="en-US" sz="2000" i="1" baseline="-25000" dirty="0" err="1" smtClean="0">
                <a:latin typeface="Times New Roman" pitchFamily="18" charset="0"/>
                <a:cs typeface="Times New Roman" pitchFamily="18" charset="0"/>
              </a:rPr>
              <a:t>B</a:t>
            </a:r>
            <a:r>
              <a:rPr lang="en-US" sz="2000" i="1" dirty="0" smtClean="0">
                <a:latin typeface="Times New Roman" pitchFamily="18" charset="0"/>
                <a:cs typeface="Times New Roman" pitchFamily="18" charset="0"/>
              </a:rPr>
              <a:t> &gt; n</a:t>
            </a:r>
            <a:r>
              <a:rPr lang="en-US" sz="2000" i="1" baseline="-25000" dirty="0" smtClean="0">
                <a:latin typeface="Times New Roman" pitchFamily="18" charset="0"/>
                <a:cs typeface="Times New Roman" pitchFamily="18" charset="0"/>
              </a:rPr>
              <a:t>r</a:t>
            </a:r>
            <a:r>
              <a:rPr lang="en-US" sz="2000" i="1" dirty="0" smtClean="0">
                <a:latin typeface="Times New Roman" pitchFamily="18" charset="0"/>
                <a:cs typeface="Times New Roman" pitchFamily="18" charset="0"/>
              </a:rPr>
              <a:t>/</a:t>
            </a:r>
            <a:r>
              <a:rPr lang="en-US" sz="2000" i="1" dirty="0" err="1" smtClean="0">
                <a:latin typeface="Times New Roman" pitchFamily="18" charset="0"/>
                <a:cs typeface="Times New Roman" pitchFamily="18" charset="0"/>
              </a:rPr>
              <a:t>f</a:t>
            </a:r>
            <a:r>
              <a:rPr lang="en-US" sz="2000" i="1" baseline="-25000" dirty="0" err="1" smtClean="0">
                <a:latin typeface="Times New Roman" pitchFamily="18" charset="0"/>
                <a:cs typeface="Times New Roman" pitchFamily="18" charset="0"/>
              </a:rPr>
              <a:t>r</a:t>
            </a:r>
            <a:r>
              <a:rPr lang="en-US" sz="2000" dirty="0" smtClean="0">
                <a:latin typeface="Times New Roman" pitchFamily="18" charset="0"/>
                <a:cs typeface="Times New Roman" pitchFamily="18" charset="0"/>
              </a:rPr>
              <a:t>, where </a:t>
            </a:r>
            <a:r>
              <a:rPr lang="en-US" sz="2000" i="1" dirty="0" smtClean="0">
                <a:latin typeface="Times New Roman" pitchFamily="18" charset="0"/>
                <a:cs typeface="Times New Roman" pitchFamily="18" charset="0"/>
              </a:rPr>
              <a:t>n</a:t>
            </a:r>
            <a:r>
              <a:rPr lang="en-US" sz="2000" i="1" baseline="-25000" dirty="0" smtClean="0">
                <a:latin typeface="Times New Roman" pitchFamily="18" charset="0"/>
                <a:cs typeface="Times New Roman" pitchFamily="18" charset="0"/>
              </a:rPr>
              <a:t>r</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denotes the total number of records that will be stored and </a:t>
            </a:r>
            <a:r>
              <a:rPr lang="en-US" sz="2000" i="1" dirty="0" err="1" smtClean="0">
                <a:latin typeface="Times New Roman" pitchFamily="18" charset="0"/>
                <a:cs typeface="Times New Roman" pitchFamily="18" charset="0"/>
              </a:rPr>
              <a:t>f</a:t>
            </a:r>
            <a:r>
              <a:rPr lang="en-US" sz="2000" i="1" baseline="-25000" dirty="0" err="1" smtClean="0">
                <a:latin typeface="Times New Roman" pitchFamily="18" charset="0"/>
                <a:cs typeface="Times New Roman" pitchFamily="18" charset="0"/>
              </a:rPr>
              <a:t>r</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denotes the number of records that will fit in a bucket.</a:t>
            </a:r>
          </a:p>
          <a:p>
            <a:pPr lvl="1">
              <a:spcAft>
                <a:spcPts val="600"/>
              </a:spcAft>
              <a:buFont typeface="Wingdings" pitchFamily="2" charset="2"/>
              <a:buChar char="Ø"/>
            </a:pPr>
            <a:r>
              <a:rPr lang="en-US" sz="2000" b="1" dirty="0" smtClean="0">
                <a:latin typeface="Times New Roman" pitchFamily="18" charset="0"/>
                <a:cs typeface="Times New Roman" pitchFamily="18" charset="0"/>
              </a:rPr>
              <a:t>Skew</a:t>
            </a:r>
            <a:r>
              <a:rPr lang="en-US" sz="2000" dirty="0" smtClean="0">
                <a:latin typeface="Times New Roman" pitchFamily="18" charset="0"/>
                <a:cs typeface="Times New Roman" pitchFamily="18" charset="0"/>
              </a:rPr>
              <a:t>. Some buckets are assigned more records than are others, so a bucket may overflow even when other buckets still have space. This situation is called bucket </a:t>
            </a:r>
            <a:r>
              <a:rPr lang="en-US" sz="2000" b="1" dirty="0" smtClean="0">
                <a:latin typeface="Times New Roman" pitchFamily="18" charset="0"/>
                <a:cs typeface="Times New Roman" pitchFamily="18" charset="0"/>
              </a:rPr>
              <a:t>skew</a:t>
            </a:r>
            <a:r>
              <a:rPr lang="en-US" sz="2000" dirty="0" smtClean="0">
                <a:latin typeface="Times New Roman" pitchFamily="18" charset="0"/>
                <a:cs typeface="Times New Roman" pitchFamily="18" charset="0"/>
              </a:rPr>
              <a:t>. Skew can occur for two reasons:</a:t>
            </a:r>
          </a:p>
          <a:p>
            <a:pPr lvl="3">
              <a:spcAft>
                <a:spcPts val="600"/>
              </a:spcAft>
            </a:pPr>
            <a:r>
              <a:rPr lang="en-US" sz="1800" dirty="0" smtClean="0">
                <a:latin typeface="Times New Roman" pitchFamily="18" charset="0"/>
                <a:cs typeface="Times New Roman" pitchFamily="18" charset="0"/>
              </a:rPr>
              <a:t>Multiple records may have the same search key.</a:t>
            </a:r>
          </a:p>
          <a:p>
            <a:pPr lvl="3">
              <a:spcAft>
                <a:spcPts val="600"/>
              </a:spcAft>
            </a:pPr>
            <a:r>
              <a:rPr lang="en-US" sz="1800" dirty="0" smtClean="0">
                <a:latin typeface="Times New Roman" pitchFamily="18" charset="0"/>
                <a:cs typeface="Times New Roman" pitchFamily="18" charset="0"/>
              </a:rPr>
              <a:t>The chosen hash function may result in non-uniform distribution of search keys.</a:t>
            </a:r>
          </a:p>
          <a:p>
            <a:pPr>
              <a:spcAft>
                <a:spcPts val="600"/>
              </a:spcAft>
              <a:buNone/>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800599"/>
          </a:xfrm>
          <a:prstGeom prst="rect">
            <a:avLst/>
          </a:prstGeom>
        </p:spPr>
        <p:txBody>
          <a:bodyPr/>
          <a:lstStyle/>
          <a:p>
            <a:pPr>
              <a:lnSpc>
                <a:spcPct val="150000"/>
              </a:lnSpc>
              <a:spcAft>
                <a:spcPts val="600"/>
              </a:spcAft>
              <a:buFont typeface="Wingdings" pitchFamily="2" charset="2"/>
              <a:buChar char="q"/>
            </a:pPr>
            <a:r>
              <a:rPr lang="en-US" sz="2000" b="1" dirty="0" smtClean="0">
                <a:latin typeface="Times New Roman" pitchFamily="18" charset="0"/>
                <a:cs typeface="Times New Roman" pitchFamily="18" charset="0"/>
              </a:rPr>
              <a:t>Handling of Bucket Overflows</a:t>
            </a:r>
            <a:endParaRPr lang="en-US" sz="2000" dirty="0" smtClean="0">
              <a:latin typeface="Times New Roman" pitchFamily="18" charset="0"/>
              <a:cs typeface="Times New Roman" pitchFamily="18" charset="0"/>
            </a:endParaRPr>
          </a:p>
          <a:p>
            <a:pPr>
              <a:lnSpc>
                <a:spcPct val="150000"/>
              </a:lnSpc>
              <a:spcAft>
                <a:spcPts val="600"/>
              </a:spcAft>
              <a:buNone/>
            </a:pPr>
            <a:r>
              <a:rPr lang="en-US" sz="2000" b="1" dirty="0" smtClean="0">
                <a:latin typeface="Times New Roman" pitchFamily="18" charset="0"/>
                <a:cs typeface="Times New Roman" pitchFamily="18" charset="0"/>
              </a:rPr>
              <a:t>	Solution:</a:t>
            </a: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If a record must be inserted into a bucket b, and b is already full, the system provides an overflow bucket for b, and inserts the record into the overflow bucket. If the overflow bucket is also full, the system provides another overflow bucket, and so on. All the overflow buckets of a given bucket are chained together in a linked list.</a:t>
            </a:r>
          </a:p>
          <a:p>
            <a:pPr>
              <a:lnSpc>
                <a:spcPct val="150000"/>
              </a:lnSpc>
              <a:spcAft>
                <a:spcPts val="600"/>
              </a:spcAft>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6857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Handling of Bucket Overflows</a:t>
            </a:r>
            <a:endParaRPr lang="en-US" sz="2000" dirty="0" smtClean="0">
              <a:latin typeface="Times New Roman" pitchFamily="18" charset="0"/>
              <a:cs typeface="Times New Roman" pitchFamily="18" charset="0"/>
            </a:endParaRPr>
          </a:p>
          <a:p>
            <a:endParaRPr lang="en-US" sz="16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6146" name="Picture 1"/>
          <p:cNvPicPr>
            <a:picLocks noChangeAspect="1" noChangeArrowheads="1"/>
          </p:cNvPicPr>
          <p:nvPr/>
        </p:nvPicPr>
        <p:blipFill>
          <a:blip r:embed="rId4"/>
          <a:srcRect/>
          <a:stretch>
            <a:fillRect/>
          </a:stretch>
        </p:blipFill>
        <p:spPr bwMode="auto">
          <a:xfrm>
            <a:off x="1600200" y="2222958"/>
            <a:ext cx="6324600" cy="34920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419599"/>
          </a:xfrm>
          <a:prstGeom prst="rect">
            <a:avLst/>
          </a:prstGeom>
        </p:spPr>
        <p:txBody>
          <a:bodyPr/>
          <a:lstStyle/>
          <a:p>
            <a:pPr>
              <a:spcAft>
                <a:spcPts val="600"/>
              </a:spcAft>
              <a:buFont typeface="Wingdings" pitchFamily="2" charset="2"/>
              <a:buChar char="q"/>
            </a:pPr>
            <a:r>
              <a:rPr lang="en-US" sz="2000" b="1" dirty="0" smtClean="0">
                <a:latin typeface="Times New Roman" pitchFamily="18" charset="0"/>
                <a:cs typeface="Times New Roman" pitchFamily="18" charset="0"/>
              </a:rPr>
              <a:t>Difference between open and closed hashing</a:t>
            </a:r>
            <a:endParaRPr lang="en-US" sz="2000" dirty="0" smtClean="0">
              <a:latin typeface="Times New Roman" pitchFamily="18" charset="0"/>
              <a:cs typeface="Times New Roman" pitchFamily="18" charset="0"/>
            </a:endParaRPr>
          </a:p>
          <a:p>
            <a:pPr>
              <a:spcAft>
                <a:spcPts val="600"/>
              </a:spcAft>
              <a:buNone/>
            </a:pPr>
            <a:r>
              <a:rPr lang="en-US" sz="2000" b="1" dirty="0" smtClean="0">
                <a:latin typeface="Times New Roman" pitchFamily="18" charset="0"/>
                <a:cs typeface="Times New Roman" pitchFamily="18" charset="0"/>
              </a:rPr>
              <a:t>	</a:t>
            </a:r>
          </a:p>
          <a:p>
            <a:pPr>
              <a:spcAft>
                <a:spcPts val="600"/>
              </a:spcAft>
              <a:buNone/>
            </a:pPr>
            <a:r>
              <a:rPr lang="en-US" sz="2000" b="1" dirty="0" smtClean="0">
                <a:latin typeface="Times New Roman" pitchFamily="18" charset="0"/>
                <a:cs typeface="Times New Roman" pitchFamily="18" charset="0"/>
              </a:rPr>
              <a:t>	Closed Hashing:</a:t>
            </a:r>
            <a:endParaRPr lang="en-US" sz="2000" dirty="0" smtClean="0">
              <a:latin typeface="Times New Roman" pitchFamily="18" charset="0"/>
              <a:cs typeface="Times New Roman" pitchFamily="18" charset="0"/>
            </a:endParaRPr>
          </a:p>
          <a:p>
            <a:pPr lvl="1">
              <a:spcAft>
                <a:spcPts val="600"/>
              </a:spcAft>
              <a:buFont typeface="Wingdings" pitchFamily="2" charset="2"/>
              <a:buChar char="Ø"/>
            </a:pPr>
            <a:r>
              <a:rPr lang="en-US" sz="2000" dirty="0" smtClean="0">
                <a:latin typeface="Times New Roman" pitchFamily="18" charset="0"/>
                <a:cs typeface="Times New Roman" pitchFamily="18" charset="0"/>
              </a:rPr>
              <a:t>Closed hashing always places keys with same hash function values in same bucket (in overflow buckets also).</a:t>
            </a:r>
          </a:p>
          <a:p>
            <a:pPr lvl="1">
              <a:spcAft>
                <a:spcPts val="600"/>
              </a:spcAft>
              <a:buFont typeface="Wingdings" pitchFamily="2" charset="2"/>
              <a:buChar char="Ø"/>
            </a:pPr>
            <a:r>
              <a:rPr lang="en-US" sz="2000" dirty="0" smtClean="0">
                <a:latin typeface="Times New Roman" pitchFamily="18" charset="0"/>
                <a:cs typeface="Times New Roman" pitchFamily="18" charset="0"/>
              </a:rPr>
              <a:t>If bucket is full, the system inserts records in overflow buckets.</a:t>
            </a:r>
          </a:p>
          <a:p>
            <a:pPr lvl="1">
              <a:spcAft>
                <a:spcPts val="600"/>
              </a:spcAft>
              <a:buFont typeface="Wingdings" pitchFamily="2" charset="2"/>
              <a:buChar char="Ø"/>
            </a:pPr>
            <a:r>
              <a:rPr lang="en-US" sz="2000" dirty="0" smtClean="0">
                <a:latin typeface="Times New Roman" pitchFamily="18" charset="0"/>
                <a:cs typeface="Times New Roman" pitchFamily="18" charset="0"/>
              </a:rPr>
              <a:t>Different buckets can be of different sizes.</a:t>
            </a:r>
          </a:p>
          <a:p>
            <a:pPr lvl="1">
              <a:spcAft>
                <a:spcPts val="600"/>
              </a:spcAft>
              <a:buFont typeface="Wingdings" pitchFamily="2" charset="2"/>
              <a:buChar char="Ø"/>
            </a:pPr>
            <a:r>
              <a:rPr lang="en-US" sz="2000" dirty="0" smtClean="0">
                <a:latin typeface="Times New Roman" pitchFamily="18" charset="0"/>
                <a:cs typeface="Times New Roman" pitchFamily="18" charset="0"/>
              </a:rPr>
              <a:t>Overflow buckets are linked together.</a:t>
            </a:r>
          </a:p>
          <a:p>
            <a:pPr>
              <a:spcAft>
                <a:spcPts val="600"/>
              </a:spcAft>
              <a:buNone/>
            </a:pPr>
            <a:endParaRPr lang="en-US" sz="2000" dirty="0" smtClean="0">
              <a:latin typeface="Times New Roman" pitchFamily="18" charset="0"/>
              <a:cs typeface="Times New Roman" pitchFamily="18" charset="0"/>
            </a:endParaRPr>
          </a:p>
          <a:p>
            <a:pPr>
              <a:spcAft>
                <a:spcPts val="600"/>
              </a:spcAft>
              <a:buNone/>
            </a:pPr>
            <a:r>
              <a:rPr lang="en-US" sz="2000" b="1" dirty="0" smtClean="0">
                <a:latin typeface="Times New Roman" pitchFamily="18" charset="0"/>
                <a:cs typeface="Times New Roman" pitchFamily="18" charset="0"/>
              </a:rPr>
              <a:t>	</a:t>
            </a: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419599"/>
          </a:xfrm>
          <a:prstGeom prst="rect">
            <a:avLst/>
          </a:prstGeom>
        </p:spPr>
        <p:txBody>
          <a:bodyPr/>
          <a:lstStyle/>
          <a:p>
            <a:pPr>
              <a:lnSpc>
                <a:spcPct val="150000"/>
              </a:lnSpc>
              <a:spcAft>
                <a:spcPts val="600"/>
              </a:spcAft>
              <a:buFont typeface="Wingdings" pitchFamily="2" charset="2"/>
              <a:buChar char="q"/>
            </a:pPr>
            <a:r>
              <a:rPr lang="en-US" sz="2000" b="1" dirty="0" smtClean="0">
                <a:latin typeface="Times New Roman" pitchFamily="18" charset="0"/>
                <a:cs typeface="Times New Roman" pitchFamily="18" charset="0"/>
              </a:rPr>
              <a:t>Difference between open and closed hashing</a:t>
            </a:r>
            <a:endParaRPr lang="en-US" sz="2000" dirty="0" smtClean="0">
              <a:latin typeface="Times New Roman" pitchFamily="18" charset="0"/>
              <a:cs typeface="Times New Roman" pitchFamily="18" charset="0"/>
            </a:endParaRPr>
          </a:p>
          <a:p>
            <a:pPr>
              <a:lnSpc>
                <a:spcPct val="150000"/>
              </a:lnSpc>
              <a:spcAft>
                <a:spcPts val="600"/>
              </a:spcAft>
              <a:buNone/>
            </a:pPr>
            <a:r>
              <a:rPr lang="en-US" sz="2000" b="1" dirty="0" smtClean="0">
                <a:latin typeface="Times New Roman" pitchFamily="18" charset="0"/>
                <a:cs typeface="Times New Roman" pitchFamily="18" charset="0"/>
              </a:rPr>
              <a:t>	Open Hashing:</a:t>
            </a:r>
            <a:endParaRPr lang="en-US" sz="2000" dirty="0" smtClean="0">
              <a:latin typeface="Times New Roman" pitchFamily="18" charset="0"/>
              <a:cs typeface="Times New Roman" pitchFamily="18" charset="0"/>
            </a:endParaRP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Open hashing places keys with same hash function values in different bucket if a bucket is full.</a:t>
            </a: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Set of buckets is fixed there is no overflow chain</a:t>
            </a: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Deletion is difficult in open hashing.</a:t>
            </a:r>
          </a:p>
          <a:p>
            <a:pPr>
              <a:lnSpc>
                <a:spcPct val="150000"/>
              </a:lnSpc>
              <a:spcAft>
                <a:spcPts val="600"/>
              </a:spcAft>
              <a:buNone/>
            </a:pPr>
            <a:endParaRPr lang="en-US" sz="2000" dirty="0" smtClean="0">
              <a:latin typeface="Times New Roman" pitchFamily="18" charset="0"/>
              <a:cs typeface="Times New Roman" pitchFamily="18" charset="0"/>
            </a:endParaRPr>
          </a:p>
          <a:p>
            <a:pPr>
              <a:lnSpc>
                <a:spcPct val="150000"/>
              </a:lnSpc>
              <a:spcAft>
                <a:spcPts val="600"/>
              </a:spcAft>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4495799"/>
          </a:xfrm>
          <a:prstGeom prst="rect">
            <a:avLst/>
          </a:prstGeom>
        </p:spPr>
        <p:txBody>
          <a:bodyPr/>
          <a:lstStyle/>
          <a:p>
            <a:pPr>
              <a:lnSpc>
                <a:spcPct val="150000"/>
              </a:lnSpc>
              <a:spcAft>
                <a:spcPts val="600"/>
              </a:spcAft>
              <a:buFont typeface="Wingdings" pitchFamily="2" charset="2"/>
              <a:buChar char="q"/>
            </a:pPr>
            <a:r>
              <a:rPr lang="en-US" sz="2000" b="1" dirty="0" smtClean="0">
                <a:latin typeface="Times New Roman" pitchFamily="18" charset="0"/>
                <a:cs typeface="Times New Roman" pitchFamily="18" charset="0"/>
              </a:rPr>
              <a:t>Hash Indices</a:t>
            </a:r>
            <a:endParaRPr lang="en-US" sz="2000" dirty="0" smtClean="0">
              <a:latin typeface="Times New Roman" pitchFamily="18" charset="0"/>
              <a:cs typeface="Times New Roman" pitchFamily="18" charset="0"/>
            </a:endParaRP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Hashing can be used not only for file organization, but also for index-structure creation. </a:t>
            </a:r>
          </a:p>
          <a:p>
            <a:pPr lvl="1">
              <a:lnSpc>
                <a:spcPct val="150000"/>
              </a:lnSpc>
              <a:spcAft>
                <a:spcPts val="600"/>
              </a:spcAft>
              <a:buFont typeface="Wingdings" pitchFamily="2" charset="2"/>
              <a:buChar char="Ø"/>
            </a:pPr>
            <a:r>
              <a:rPr lang="en-US" sz="2000" dirty="0" smtClean="0">
                <a:latin typeface="Times New Roman" pitchFamily="18" charset="0"/>
                <a:cs typeface="Times New Roman" pitchFamily="18" charset="0"/>
              </a:rPr>
              <a:t>We construct a hash index as follows. We apply a hash function on a search key to identify a bucket, and store the key and its associated pointers in the bucket.</a:t>
            </a:r>
          </a:p>
          <a:p>
            <a:pPr>
              <a:lnSpc>
                <a:spcPct val="150000"/>
              </a:lnSpc>
              <a:spcAft>
                <a:spcPts val="600"/>
              </a:spcAft>
            </a:pPr>
            <a:endParaRPr lang="en-US" sz="20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Indexing and Hashing</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1"/>
            <a:ext cx="8229600" cy="761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Hash Indices</a:t>
            </a:r>
            <a:endParaRPr lang="en-US" sz="2000" dirty="0" smtClean="0">
              <a:latin typeface="Times New Roman" pitchFamily="18" charset="0"/>
              <a:cs typeface="Times New Roman" pitchFamily="18" charset="0"/>
            </a:endParaRPr>
          </a:p>
          <a:p>
            <a:endParaRPr lang="en-US" sz="1600" b="1" u="sng"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7170" name="Picture 5"/>
          <p:cNvPicPr>
            <a:picLocks noChangeAspect="1" noChangeArrowheads="1"/>
          </p:cNvPicPr>
          <p:nvPr/>
        </p:nvPicPr>
        <p:blipFill>
          <a:blip r:embed="rId4"/>
          <a:srcRect l="11345" t="626" r="11720" b="626"/>
          <a:stretch>
            <a:fillRect/>
          </a:stretch>
        </p:blipFill>
        <p:spPr bwMode="auto">
          <a:xfrm>
            <a:off x="1103671" y="1981201"/>
            <a:ext cx="6821129" cy="4191000"/>
          </a:xfrm>
          <a:prstGeom prst="rect">
            <a:avLst/>
          </a:prstGeom>
          <a:noFill/>
          <a:ln w="38100" cmpd="dbl">
            <a:solidFill>
              <a:srgbClr val="1F497D"/>
            </a:solid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615</TotalTime>
  <Words>4108</Words>
  <Application>Microsoft Office PowerPoint</Application>
  <PresentationFormat>On-screen Show (4:3)</PresentationFormat>
  <Paragraphs>1277</Paragraphs>
  <Slides>71</Slides>
  <Notes>71</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Slide 1</vt:lpstr>
      <vt:lpstr>Slide 2</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lpstr>Indexing and Hashing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471</cp:revision>
  <dcterms:created xsi:type="dcterms:W3CDTF">2014-09-22T15:27:45Z</dcterms:created>
  <dcterms:modified xsi:type="dcterms:W3CDTF">2025-01-04T16:02:45Z</dcterms:modified>
</cp:coreProperties>
</file>